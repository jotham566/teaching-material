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62357545c154bb2" /><Relationship Type="http://schemas.openxmlformats.org/officeDocument/2006/relationships/extended-properties" Target="/docProps/app.xml" Id="R34e72bf1d06f4e96" /><Relationship Type="http://schemas.openxmlformats.org/officeDocument/2006/relationships/officeDocument" Target="/ppt/presentation.xml" Id="Rd1497b0501fc4b83" /></Relationships>
</file>

<file path=ppt/presentation.xml><?xml version="1.0" encoding="utf-8"?>
<p:presentation xmlns:p="http://schemas.openxmlformats.org/presentationml/2006/main">
  <p:sldMasterIdLst>
    <p:sldMasterId xmlns:r="http://schemas.openxmlformats.org/officeDocument/2006/relationships" id="2147483648" r:id="R5b5d4f523f584b6f"/>
  </p:sldMasterIdLst>
  <p:notesMasterIdLst>
    <p:notesMasterId xmlns:r="http://schemas.openxmlformats.org/officeDocument/2006/relationships" r:id="Rbeef68510e3c4ae2"/>
  </p:notesMasterIdLst>
  <p:sldIdLst>
    <p:sldId xmlns:r="http://schemas.openxmlformats.org/officeDocument/2006/relationships" id="256" r:id="R47a3f947eaa94405"/>
    <p:sldId xmlns:r="http://schemas.openxmlformats.org/officeDocument/2006/relationships" id="257" r:id="R363f009776af40ba"/>
    <p:sldId xmlns:r="http://schemas.openxmlformats.org/officeDocument/2006/relationships" id="258" r:id="Rb5a6c28bc7aa45f0"/>
    <p:sldId xmlns:r="http://schemas.openxmlformats.org/officeDocument/2006/relationships" id="259" r:id="Rda743cc3dda0436b"/>
    <p:sldId xmlns:r="http://schemas.openxmlformats.org/officeDocument/2006/relationships" id="260" r:id="Rcccbc6fc1b894a9d"/>
    <p:sldId xmlns:r="http://schemas.openxmlformats.org/officeDocument/2006/relationships" id="261" r:id="R3dc8b61a3cf74bf7"/>
    <p:sldId xmlns:r="http://schemas.openxmlformats.org/officeDocument/2006/relationships" id="262" r:id="R5e67221a286d41ad"/>
    <p:sldId xmlns:r="http://schemas.openxmlformats.org/officeDocument/2006/relationships" id="263" r:id="R00b89696c32b4044"/>
    <p:sldId xmlns:r="http://schemas.openxmlformats.org/officeDocument/2006/relationships" id="264" r:id="R54ffaec5a33448f9"/>
    <p:sldId xmlns:r="http://schemas.openxmlformats.org/officeDocument/2006/relationships" id="265" r:id="Rfb0ebae11df34d6a"/>
    <p:sldId xmlns:r="http://schemas.openxmlformats.org/officeDocument/2006/relationships" id="266" r:id="R72807b9a59f845a1"/>
    <p:sldId xmlns:r="http://schemas.openxmlformats.org/officeDocument/2006/relationships" id="267" r:id="R0834d3a1d6704592"/>
    <p:sldId xmlns:r="http://schemas.openxmlformats.org/officeDocument/2006/relationships" id="268" r:id="R98bd38b3057c4915"/>
    <p:sldId xmlns:r="http://schemas.openxmlformats.org/officeDocument/2006/relationships" id="269" r:id="Rdeeb321966304fd9"/>
    <p:sldId xmlns:r="http://schemas.openxmlformats.org/officeDocument/2006/relationships" id="270" r:id="R6b7bacd41cc34c5f"/>
    <p:sldId xmlns:r="http://schemas.openxmlformats.org/officeDocument/2006/relationships" id="271" r:id="R991c1679be4b4799"/>
    <p:sldId xmlns:r="http://schemas.openxmlformats.org/officeDocument/2006/relationships" id="272" r:id="R9a87806fbbef4378"/>
    <p:sldId xmlns:r="http://schemas.openxmlformats.org/officeDocument/2006/relationships" id="273" r:id="Rb301a7195da84b7d"/>
    <p:sldId xmlns:r="http://schemas.openxmlformats.org/officeDocument/2006/relationships" id="274" r:id="Rb99b2237dc3b4338"/>
    <p:sldId xmlns:r="http://schemas.openxmlformats.org/officeDocument/2006/relationships" id="275" r:id="Rf598aeba66e3439d"/>
    <p:sldId xmlns:r="http://schemas.openxmlformats.org/officeDocument/2006/relationships" id="276" r:id="R23a2c995fe454507"/>
    <p:sldId xmlns:r="http://schemas.openxmlformats.org/officeDocument/2006/relationships" id="277" r:id="Rd8e790237d2145bd"/>
    <p:sldId xmlns:r="http://schemas.openxmlformats.org/officeDocument/2006/relationships" id="278" r:id="R242bf1ca9d3d4d3f"/>
    <p:sldId xmlns:r="http://schemas.openxmlformats.org/officeDocument/2006/relationships" id="279" r:id="R3528c2647ed6441c"/>
    <p:sldId xmlns:r="http://schemas.openxmlformats.org/officeDocument/2006/relationships" id="280" r:id="Raaab15d1a0534018"/>
    <p:sldId xmlns:r="http://schemas.openxmlformats.org/officeDocument/2006/relationships" id="281" r:id="Rbf3f84639d314331"/>
    <p:sldId xmlns:r="http://schemas.openxmlformats.org/officeDocument/2006/relationships" id="282" r:id="R501e2155ace546d4"/>
    <p:sldId xmlns:r="http://schemas.openxmlformats.org/officeDocument/2006/relationships" id="283" r:id="Rde94bbe4357d4c63"/>
    <p:sldId xmlns:r="http://schemas.openxmlformats.org/officeDocument/2006/relationships" id="284" r:id="R18c4cfcf0a574702"/>
    <p:sldId xmlns:r="http://schemas.openxmlformats.org/officeDocument/2006/relationships" id="285" r:id="R4c528f6ceecb4d12"/>
    <p:sldId xmlns:r="http://schemas.openxmlformats.org/officeDocument/2006/relationships" id="286" r:id="R052427997b9e4c56"/>
    <p:sldId xmlns:r="http://schemas.openxmlformats.org/officeDocument/2006/relationships" id="287" r:id="Rc3d8a414a327481c"/>
    <p:sldId xmlns:r="http://schemas.openxmlformats.org/officeDocument/2006/relationships" id="288" r:id="Rd7fed94bec2f44cc"/>
    <p:sldId xmlns:r="http://schemas.openxmlformats.org/officeDocument/2006/relationships" id="289" r:id="R10bcf20e0081431c"/>
    <p:sldId xmlns:r="http://schemas.openxmlformats.org/officeDocument/2006/relationships" id="290" r:id="R6f14282a72c648b8"/>
    <p:sldId xmlns:r="http://schemas.openxmlformats.org/officeDocument/2006/relationships" id="291" r:id="R3262bdece79342a1"/>
    <p:sldId xmlns:r="http://schemas.openxmlformats.org/officeDocument/2006/relationships" id="292" r:id="Re5ebe254bb0a4cb2"/>
    <p:sldId xmlns:r="http://schemas.openxmlformats.org/officeDocument/2006/relationships" id="293" r:id="R475459166556443b"/>
    <p:sldId xmlns:r="http://schemas.openxmlformats.org/officeDocument/2006/relationships" id="294" r:id="Rfd5333e9fd1b4e03"/>
    <p:sldId xmlns:r="http://schemas.openxmlformats.org/officeDocument/2006/relationships" id="295" r:id="R2e56c7db09d642b2"/>
    <p:sldId xmlns:r="http://schemas.openxmlformats.org/officeDocument/2006/relationships" id="296" r:id="R9c336806e2524346"/>
    <p:sldId xmlns:r="http://schemas.openxmlformats.org/officeDocument/2006/relationships" id="297" r:id="Rd175d1ce44d84533"/>
    <p:sldId xmlns:r="http://schemas.openxmlformats.org/officeDocument/2006/relationships" id="298" r:id="R87451c0a77414c0b"/>
    <p:sldId xmlns:r="http://schemas.openxmlformats.org/officeDocument/2006/relationships" id="299" r:id="Ra57f53058f594682"/>
    <p:sldId xmlns:r="http://schemas.openxmlformats.org/officeDocument/2006/relationships" id="300" r:id="Rcaa4f0597c7b464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0b4fe783be24dfa" /><Relationship Type="http://schemas.openxmlformats.org/officeDocument/2006/relationships/slideMaster" Target="/ppt/slideMasters/slideMaster1.xml" Id="R5b5d4f523f584b6f" /><Relationship Type="http://schemas.openxmlformats.org/officeDocument/2006/relationships/notesMaster" Target="/ppt/notesMasters/notesMaster1.xml" Id="Rbeef68510e3c4ae2" /><Relationship Type="http://schemas.openxmlformats.org/officeDocument/2006/relationships/presProps" Target="/ppt/presProps.xml" Id="R04157ea358e842e0" /><Relationship Type="http://schemas.openxmlformats.org/officeDocument/2006/relationships/tableStyles" Target="/ppt/tableStyles.xml" Id="Rcbe881db093042f4" /><Relationship Type="http://schemas.openxmlformats.org/officeDocument/2006/relationships/slide" Target="/ppt/slides/slide1.xml" Id="R47a3f947eaa94405" /><Relationship Type="http://schemas.openxmlformats.org/officeDocument/2006/relationships/slide" Target="/ppt/slides/slide2.xml" Id="R363f009776af40ba" /><Relationship Type="http://schemas.openxmlformats.org/officeDocument/2006/relationships/slide" Target="/ppt/slides/slide3.xml" Id="Rb5a6c28bc7aa45f0" /><Relationship Type="http://schemas.openxmlformats.org/officeDocument/2006/relationships/slide" Target="/ppt/slides/slide4.xml" Id="Rda743cc3dda0436b" /><Relationship Type="http://schemas.openxmlformats.org/officeDocument/2006/relationships/slide" Target="/ppt/slides/slide5.xml" Id="Rcccbc6fc1b894a9d" /><Relationship Type="http://schemas.openxmlformats.org/officeDocument/2006/relationships/slide" Target="/ppt/slides/slide6.xml" Id="R3dc8b61a3cf74bf7" /><Relationship Type="http://schemas.openxmlformats.org/officeDocument/2006/relationships/slide" Target="/ppt/slides/slide7.xml" Id="R5e67221a286d41ad" /><Relationship Type="http://schemas.openxmlformats.org/officeDocument/2006/relationships/slide" Target="/ppt/slides/slide8.xml" Id="R00b89696c32b4044" /><Relationship Type="http://schemas.openxmlformats.org/officeDocument/2006/relationships/slide" Target="/ppt/slides/slide9.xml" Id="R54ffaec5a33448f9" /><Relationship Type="http://schemas.openxmlformats.org/officeDocument/2006/relationships/slide" Target="/ppt/slides/slide10.xml" Id="Rfb0ebae11df34d6a" /><Relationship Type="http://schemas.openxmlformats.org/officeDocument/2006/relationships/slide" Target="/ppt/slides/slide11.xml" Id="R72807b9a59f845a1" /><Relationship Type="http://schemas.openxmlformats.org/officeDocument/2006/relationships/slide" Target="/ppt/slides/slide12.xml" Id="R0834d3a1d6704592" /><Relationship Type="http://schemas.openxmlformats.org/officeDocument/2006/relationships/slide" Target="/ppt/slides/slide13.xml" Id="R98bd38b3057c4915" /><Relationship Type="http://schemas.openxmlformats.org/officeDocument/2006/relationships/slide" Target="/ppt/slides/slide14.xml" Id="Rdeeb321966304fd9" /><Relationship Type="http://schemas.openxmlformats.org/officeDocument/2006/relationships/slide" Target="/ppt/slides/slide15.xml" Id="R6b7bacd41cc34c5f" /><Relationship Type="http://schemas.openxmlformats.org/officeDocument/2006/relationships/slide" Target="/ppt/slides/slide16.xml" Id="R991c1679be4b4799" /><Relationship Type="http://schemas.openxmlformats.org/officeDocument/2006/relationships/slide" Target="/ppt/slides/slide17.xml" Id="R9a87806fbbef4378" /><Relationship Type="http://schemas.openxmlformats.org/officeDocument/2006/relationships/slide" Target="/ppt/slides/slide18.xml" Id="Rb301a7195da84b7d" /><Relationship Type="http://schemas.openxmlformats.org/officeDocument/2006/relationships/slide" Target="/ppt/slides/slide19.xml" Id="Rb99b2237dc3b4338" /><Relationship Type="http://schemas.openxmlformats.org/officeDocument/2006/relationships/slide" Target="/ppt/slides/slide20.xml" Id="Rf598aeba66e3439d" /><Relationship Type="http://schemas.openxmlformats.org/officeDocument/2006/relationships/slide" Target="/ppt/slides/slide21.xml" Id="R23a2c995fe454507" /><Relationship Type="http://schemas.openxmlformats.org/officeDocument/2006/relationships/slide" Target="/ppt/slides/slide22.xml" Id="Rd8e790237d2145bd" /><Relationship Type="http://schemas.openxmlformats.org/officeDocument/2006/relationships/slide" Target="/ppt/slides/slide23.xml" Id="R242bf1ca9d3d4d3f" /><Relationship Type="http://schemas.openxmlformats.org/officeDocument/2006/relationships/slide" Target="/ppt/slides/slide24.xml" Id="R3528c2647ed6441c" /><Relationship Type="http://schemas.openxmlformats.org/officeDocument/2006/relationships/slide" Target="/ppt/slides/slide25.xml" Id="Raaab15d1a0534018" /><Relationship Type="http://schemas.openxmlformats.org/officeDocument/2006/relationships/slide" Target="/ppt/slides/slide26.xml" Id="Rbf3f84639d314331" /><Relationship Type="http://schemas.openxmlformats.org/officeDocument/2006/relationships/slide" Target="/ppt/slides/slide27.xml" Id="R501e2155ace546d4" /><Relationship Type="http://schemas.openxmlformats.org/officeDocument/2006/relationships/slide" Target="/ppt/slides/slide28.xml" Id="Rde94bbe4357d4c63" /><Relationship Type="http://schemas.openxmlformats.org/officeDocument/2006/relationships/slide" Target="/ppt/slides/slide29.xml" Id="R18c4cfcf0a574702" /><Relationship Type="http://schemas.openxmlformats.org/officeDocument/2006/relationships/slide" Target="/ppt/slides/slide30.xml" Id="R4c528f6ceecb4d12" /><Relationship Type="http://schemas.openxmlformats.org/officeDocument/2006/relationships/slide" Target="/ppt/slides/slide31.xml" Id="R052427997b9e4c56" /><Relationship Type="http://schemas.openxmlformats.org/officeDocument/2006/relationships/slide" Target="/ppt/slides/slide32.xml" Id="Rc3d8a414a327481c" /><Relationship Type="http://schemas.openxmlformats.org/officeDocument/2006/relationships/slide" Target="/ppt/slides/slide33.xml" Id="Rd7fed94bec2f44cc" /><Relationship Type="http://schemas.openxmlformats.org/officeDocument/2006/relationships/slide" Target="/ppt/slides/slide34.xml" Id="R10bcf20e0081431c" /><Relationship Type="http://schemas.openxmlformats.org/officeDocument/2006/relationships/slide" Target="/ppt/slides/slide35.xml" Id="R6f14282a72c648b8" /><Relationship Type="http://schemas.openxmlformats.org/officeDocument/2006/relationships/slide" Target="/ppt/slides/slide36.xml" Id="R3262bdece79342a1" /><Relationship Type="http://schemas.openxmlformats.org/officeDocument/2006/relationships/slide" Target="/ppt/slides/slide37.xml" Id="Re5ebe254bb0a4cb2" /><Relationship Type="http://schemas.openxmlformats.org/officeDocument/2006/relationships/slide" Target="/ppt/slides/slide38.xml" Id="R475459166556443b" /><Relationship Type="http://schemas.openxmlformats.org/officeDocument/2006/relationships/slide" Target="/ppt/slides/slide39.xml" Id="Rfd5333e9fd1b4e03" /><Relationship Type="http://schemas.openxmlformats.org/officeDocument/2006/relationships/slide" Target="/ppt/slides/slide40.xml" Id="R2e56c7db09d642b2" /><Relationship Type="http://schemas.openxmlformats.org/officeDocument/2006/relationships/slide" Target="/ppt/slides/slide41.xml" Id="R9c336806e2524346" /><Relationship Type="http://schemas.openxmlformats.org/officeDocument/2006/relationships/slide" Target="/ppt/slides/slide42.xml" Id="Rd175d1ce44d84533" /><Relationship Type="http://schemas.openxmlformats.org/officeDocument/2006/relationships/slide" Target="/ppt/slides/slide43.xml" Id="R87451c0a77414c0b" /><Relationship Type="http://schemas.openxmlformats.org/officeDocument/2006/relationships/slide" Target="/ppt/slides/slide44.xml" Id="Ra57f53058f594682" /><Relationship Type="http://schemas.openxmlformats.org/officeDocument/2006/relationships/slide" Target="/ppt/slides/slide45.xml" Id="Rcaa4f0597c7b464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98f3372efb403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ce32c8ef62846eb" /><Relationship Type="http://schemas.openxmlformats.org/officeDocument/2006/relationships/notesMaster" Target="/ppt/notesMasters/notesMaster1.xml" Id="R6e48a6c4b56b4ee5" /></Relationships>
</file>

<file path=ppt/notesSlides/_rels/notesSlide2.xml.rels>&#65279;<?xml version="1.0" encoding="utf-8"?><Relationships xmlns="http://schemas.openxmlformats.org/package/2006/relationships"><Relationship Type="http://schemas.openxmlformats.org/officeDocument/2006/relationships/slide" Target="/ppt/slides/slide2.xml" Id="R10ddb9b17c6444bd" /><Relationship Type="http://schemas.openxmlformats.org/officeDocument/2006/relationships/notesMaster" Target="/ppt/notesMasters/notesMaster1.xml" Id="R29ba92adc0ab49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cdb831a5ce0d4d71" /><Relationship Type="http://schemas.openxmlformats.org/officeDocument/2006/relationships/notesMaster" Target="/ppt/notesMasters/notesMaster1.xml" Id="R34048add5ea542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507b9bf87cfc4e21" /><Relationship Type="http://schemas.openxmlformats.org/officeDocument/2006/relationships/notesMaster" Target="/ppt/notesMasters/notesMaster1.xml" Id="Ra0538fbb939846e7" /></Relationships>
</file>

<file path=ppt/notesSlides/_rels/notesSlide5.xml.rels>&#65279;<?xml version="1.0" encoding="utf-8"?><Relationships xmlns="http://schemas.openxmlformats.org/package/2006/relationships"><Relationship Type="http://schemas.openxmlformats.org/officeDocument/2006/relationships/slide" Target="/ppt/slides/slide5.xml" Id="R69790eea56bd4725" /><Relationship Type="http://schemas.openxmlformats.org/officeDocument/2006/relationships/notesMaster" Target="/ppt/notesMasters/notesMaster1.xml" Id="R19498bfd4eb94671" /></Relationships>
</file>

<file path=ppt/notesSlides/_rels/notesSlide6.xml.rels>&#65279;<?xml version="1.0" encoding="utf-8"?><Relationships xmlns="http://schemas.openxmlformats.org/package/2006/relationships"><Relationship Type="http://schemas.openxmlformats.org/officeDocument/2006/relationships/slide" Target="/ppt/slides/slide6.xml" Id="Reb5db29067bc4c21" /><Relationship Type="http://schemas.openxmlformats.org/officeDocument/2006/relationships/notesMaster" Target="/ppt/notesMasters/notesMaster1.xml" Id="R0a1eb5ab35c6484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19e6217b11e4920" /><Relationship Type="http://schemas.openxmlformats.org/officeDocument/2006/relationships/notesMaster" Target="/ppt/notesMasters/notesMaster1.xml" Id="R23e5f263368a4d86" /></Relationships>
</file>

<file path=ppt/notesSlides/_rels/notesSlide8.xml.rels>&#65279;<?xml version="1.0" encoding="utf-8"?><Relationships xmlns="http://schemas.openxmlformats.org/package/2006/relationships"><Relationship Type="http://schemas.openxmlformats.org/officeDocument/2006/relationships/slide" Target="/ppt/slides/slide8.xml" Id="R516995f214934730" /><Relationship Type="http://schemas.openxmlformats.org/officeDocument/2006/relationships/notesMaster" Target="/ppt/notesMasters/notesMaster1.xml" Id="R7625f5638cee40a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9b766be4b14d8d" /><Relationship Type="http://schemas.openxmlformats.org/officeDocument/2006/relationships/notesMaster" Target="/ppt/notesMasters/notesMaster1.xml" Id="Ra8c76b2068d04e0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7c4d69a89f4938" /><Relationship Type="http://schemas.openxmlformats.org/officeDocument/2006/relationships/notesMaster" Target="/ppt/notesMasters/notesMaster1.xml" Id="Ra875b58c68a745b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a901a144bd840b6" /><Relationship Type="http://schemas.openxmlformats.org/officeDocument/2006/relationships/notesMaster" Target="/ppt/notesMasters/notesMaster1.xml" Id="R37dbd8acf2d3449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f0a2704ef7f4404" /><Relationship Type="http://schemas.openxmlformats.org/officeDocument/2006/relationships/notesMaster" Target="/ppt/notesMasters/notesMaster1.xml" Id="R67dbaa0814e5478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9cfa34aa49440f1" /><Relationship Type="http://schemas.openxmlformats.org/officeDocument/2006/relationships/notesMaster" Target="/ppt/notesMasters/notesMaster1.xml" Id="R1cac5a8c0c6640c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f5780f9f7cd4c45" /><Relationship Type="http://schemas.openxmlformats.org/officeDocument/2006/relationships/notesMaster" Target="/ppt/notesMasters/notesMaster1.xml" Id="Re76a088c0742446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5643945634a49ab" /><Relationship Type="http://schemas.openxmlformats.org/officeDocument/2006/relationships/notesMaster" Target="/ppt/notesMasters/notesMaster1.xml" Id="R169db546cef443a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c81b9728c884964" /><Relationship Type="http://schemas.openxmlformats.org/officeDocument/2006/relationships/notesMaster" Target="/ppt/notesMasters/notesMaster1.xml" Id="R6d74034528a44fa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6da4d9bbddc47d6" /><Relationship Type="http://schemas.openxmlformats.org/officeDocument/2006/relationships/notesMaster" Target="/ppt/notesMasters/notesMaster1.xml" Id="R97623c2a26e04f2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89138c1bf764717" /><Relationship Type="http://schemas.openxmlformats.org/officeDocument/2006/relationships/notesMaster" Target="/ppt/notesMasters/notesMaster1.xml" Id="Rc05b7246f480459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940209957ba4646" /><Relationship Type="http://schemas.openxmlformats.org/officeDocument/2006/relationships/notesMaster" Target="/ppt/notesMasters/notesMaster1.xml" Id="R578c1472a5bd405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ce2fe26d61a4c90" /><Relationship Type="http://schemas.openxmlformats.org/officeDocument/2006/relationships/notesMaster" Target="/ppt/notesMasters/notesMaster1.xml" Id="Racf957551f474a2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7a45a4eacbf4c8d" /><Relationship Type="http://schemas.openxmlformats.org/officeDocument/2006/relationships/notesMaster" Target="/ppt/notesMasters/notesMaster1.xml" Id="R5282aae42a5b41b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216f35527124029" /><Relationship Type="http://schemas.openxmlformats.org/officeDocument/2006/relationships/notesMaster" Target="/ppt/notesMasters/notesMaster1.xml" Id="Rf424d5dc953f4ce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d0c258e08854555" /><Relationship Type="http://schemas.openxmlformats.org/officeDocument/2006/relationships/notesMaster" Target="/ppt/notesMasters/notesMaster1.xml" Id="Rf69b80d914104c2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4a3fa593eaf4cbc" /><Relationship Type="http://schemas.openxmlformats.org/officeDocument/2006/relationships/notesMaster" Target="/ppt/notesMasters/notesMaster1.xml" Id="R79ec43a63f194ad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8f4855feffb40be" /><Relationship Type="http://schemas.openxmlformats.org/officeDocument/2006/relationships/notesMaster" Target="/ppt/notesMasters/notesMaster1.xml" Id="Rc908a69508254c7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b349e62ba3d4f12" /><Relationship Type="http://schemas.openxmlformats.org/officeDocument/2006/relationships/notesMaster" Target="/ppt/notesMasters/notesMaster1.xml" Id="Rdef2099da0bc4b0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f63602fbc53488b" /><Relationship Type="http://schemas.openxmlformats.org/officeDocument/2006/relationships/notesMaster" Target="/ppt/notesMasters/notesMaster1.xml" Id="Rac1a3deb5eb349b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4ad8b0063ff4698" /><Relationship Type="http://schemas.openxmlformats.org/officeDocument/2006/relationships/notesMaster" Target="/ppt/notesMasters/notesMaster1.xml" Id="Rc91a0e717d29445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06fc2e682ed4503" /><Relationship Type="http://schemas.openxmlformats.org/officeDocument/2006/relationships/notesMaster" Target="/ppt/notesMasters/notesMaster1.xml" Id="Rae5798cf1ce6444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a401f80e1944edf" /><Relationship Type="http://schemas.openxmlformats.org/officeDocument/2006/relationships/notesMaster" Target="/ppt/notesMasters/notesMaster1.xml" Id="R86a9ed1d63474e8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ac0d0775e454aa2" /><Relationship Type="http://schemas.openxmlformats.org/officeDocument/2006/relationships/notesMaster" Target="/ppt/notesMasters/notesMaster1.xml" Id="R9df3659984904fd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59a723de33c48ba" /><Relationship Type="http://schemas.openxmlformats.org/officeDocument/2006/relationships/notesMaster" Target="/ppt/notesMasters/notesMaster1.xml" Id="R2c9c136267d3464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f368a5af06f497a" /><Relationship Type="http://schemas.openxmlformats.org/officeDocument/2006/relationships/notesMaster" Target="/ppt/notesMasters/notesMaster1.xml" Id="Refe4f7bf414149b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22eaede4df04e5a" /><Relationship Type="http://schemas.openxmlformats.org/officeDocument/2006/relationships/notesMaster" Target="/ppt/notesMasters/notesMaster1.xml" Id="R573a0d0363c24b3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e971f39d5424730" /><Relationship Type="http://schemas.openxmlformats.org/officeDocument/2006/relationships/notesMaster" Target="/ppt/notesMasters/notesMaster1.xml" Id="Rf180150ca51542b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92a47b4663f4365" /><Relationship Type="http://schemas.openxmlformats.org/officeDocument/2006/relationships/notesMaster" Target="/ppt/notesMasters/notesMaster1.xml" Id="Rbfa5bde8c5c9451a"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71b6e30e5184470" /><Relationship Type="http://schemas.openxmlformats.org/officeDocument/2006/relationships/notesMaster" Target="/ppt/notesMasters/notesMaster1.xml" Id="R27802db3d5024b1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1481bf765594e55" /><Relationship Type="http://schemas.openxmlformats.org/officeDocument/2006/relationships/notesMaster" Target="/ppt/notesMasters/notesMaster1.xml" Id="R4e433158de084fe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3a360a3feb24512" /><Relationship Type="http://schemas.openxmlformats.org/officeDocument/2006/relationships/notesMaster" Target="/ppt/notesMasters/notesMaster1.xml" Id="Rea361c173e82495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64e72f569734f7d" /><Relationship Type="http://schemas.openxmlformats.org/officeDocument/2006/relationships/notesMaster" Target="/ppt/notesMasters/notesMaster1.xml" Id="Rc4c03186a51e4e0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11c4a0a0011408b" /><Relationship Type="http://schemas.openxmlformats.org/officeDocument/2006/relationships/notesMaster" Target="/ppt/notesMasters/notesMaster1.xml" Id="Rf4804fe13d2c496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aefbb3c6dbf4dd6" /><Relationship Type="http://schemas.openxmlformats.org/officeDocument/2006/relationships/notesMaster" Target="/ppt/notesMasters/notesMaster1.xml" Id="R89c93eb040824b3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5de51fef7fc4f0c" /><Relationship Type="http://schemas.openxmlformats.org/officeDocument/2006/relationships/notesMaster" Target="/ppt/notesMasters/notesMaster1.xml" Id="Ra1063441f5e140b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56f76d5a9564fb1" /><Relationship Type="http://schemas.openxmlformats.org/officeDocument/2006/relationships/notesMaster" Target="/ppt/notesMasters/notesMaster1.xml" Id="R5407e2305756422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a17cc0ea2c54102" /><Relationship Type="http://schemas.openxmlformats.org/officeDocument/2006/relationships/notesMaster" Target="/ppt/notesMasters/notesMaster1.xml" Id="R66e33e9a290943b4"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Classification and the cost of mistakes</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Classification and the cost of mistakes.</a:t>
            </a:r>
          </a:p>
          <a:p>
            <a:r>
              <a:t/>
            </a:r>
          </a:p>
          <a:p>
            <a:r>
              <a:t>LECTURER CUE</a:t>
            </a:r>
          </a:p>
          <a:p>
            <a:r>
              <a:t>Ask learners to explain this goal in ordinary language. The first successful attempt matters more than covering optional extensions. Defer: Three independently built classifiers, ROC/AUC and full threshold curves are extension after the basic matrix is secure.</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Ask students to explain a false negative in their own programme and identify the denominator of recall.</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pump team records temperature to investigate operation. Mining students can relate this to a dewatering pump; petroleum students to a transfer pump. These are teaching examples, not operating limits.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The positive class.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positive class</a:t>
            </a:r>
          </a:p>
          <a:p>
            <a:r>
              <a:t/>
            </a:r>
          </a:p>
          <a:p>
            <a:r>
              <a:t>CONNECT</a:t>
            </a:r>
          </a:p>
          <a:p>
            <a:r>
              <a:t>Build on the preceding slide: The engineering context.</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Class and positive label / TP and TN.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Class and positive label / TP and TN</a:t>
            </a:r>
          </a:p>
          <a:p>
            <a:r>
              <a:t/>
            </a:r>
          </a:p>
          <a:p>
            <a:r>
              <a:t>CONNECT</a:t>
            </a:r>
          </a:p>
          <a:p>
            <a:r>
              <a:t>Build on the preceding slide: The positive class.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POINT TO THE DEFINITION</a:t>
            </a:r>
          </a:p>
          <a:p>
            <a:r>
              <a:t>Class and positive label: A class is a category. Here 1 means warning and 0 means no warning. Positive means the named class, not good news.</a:t>
            </a:r>
          </a:p>
          <a:p>
            <a:r>
              <a:t>TP and TN: True positive is a correctly flagged warning. True negative is a correctly unflagged non-warning.</a:t>
            </a:r>
          </a:p>
          <a:p>
            <a:r>
              <a:t/>
            </a:r>
          </a:p>
          <a:p>
            <a:r>
              <a:t>NEXT</a:t>
            </a:r>
          </a:p>
          <a:p>
            <a:r>
              <a:t>FP and FN.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FP and FN</a:t>
            </a:r>
          </a:p>
          <a:p>
            <a:r>
              <a:t/>
            </a:r>
          </a:p>
          <a:p>
            <a:r>
              <a:t>CONNECT</a:t>
            </a:r>
          </a:p>
          <a:p>
            <a:r>
              <a:t>Build on the preceding slide: Class and positive label / TP and TN.</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POINT TO THE DEFINITION</a:t>
            </a:r>
          </a:p>
          <a:p>
            <a:r>
              <a:t>FP and FN: False positive is a false alarm. False negative is a missed warning.</a:t>
            </a:r>
          </a:p>
          <a:p>
            <a:r>
              <a:t/>
            </a:r>
          </a:p>
          <a:p>
            <a:r>
              <a:t>NEXT</a:t>
            </a:r>
          </a:p>
          <a:p>
            <a:r>
              <a:t>Actual and predicted describe different things.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Actual and predicted describe different things</a:t>
            </a:r>
          </a:p>
          <a:p>
            <a:r>
              <a:t/>
            </a:r>
          </a:p>
          <a:p>
            <a:r>
              <a:t>CONNECT</a:t>
            </a:r>
          </a:p>
          <a:p>
            <a:r>
              <a:t>Build on the preceding slide: FP and FN.</a:t>
            </a:r>
          </a:p>
          <a:p>
            <a:r>
              <a:t/>
            </a:r>
          </a:p>
          <a:p>
            <a:r>
              <a:t>LECTURER CUE</a:t>
            </a:r>
          </a:p>
          <a:p>
            <a:r>
              <a:t>Place four paper observations in a table of actual label and predicted label. Classify each before showing the four-cell matrix. State which axis is actual and which is predicted.</a:t>
            </a:r>
          </a:p>
          <a:p>
            <a:r>
              <a:t/>
            </a:r>
          </a:p>
          <a:p>
            <a:r>
              <a:t>NEXT</a:t>
            </a:r>
          </a:p>
          <a:p>
            <a:r>
              <a:t>Every paired result belongs in one cell.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Every paired result belongs in one cell</a:t>
            </a:r>
          </a:p>
          <a:p>
            <a:r>
              <a:t/>
            </a:r>
          </a:p>
          <a:p>
            <a:r>
              <a:t>CONNECT</a:t>
            </a:r>
          </a:p>
          <a:p>
            <a:r>
              <a:t>Build on the preceding slide: Actual and predicted describe different things.</a:t>
            </a:r>
          </a:p>
          <a:p>
            <a:r>
              <a:t/>
            </a:r>
          </a:p>
          <a:p>
            <a:r>
              <a:t>LECTURER CUE</a:t>
            </a:r>
          </a:p>
          <a:p>
            <a:r>
              <a:t>Ask students to describe what they see before introducing terminology. Generated conceptual teaching illustration.  Source: figs/experiential/ASSET_SOURCES.md.</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The four kinds of result.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four kinds of result</a:t>
            </a:r>
          </a:p>
          <a:p>
            <a:r>
              <a:t/>
            </a:r>
          </a:p>
          <a:p>
            <a:r>
              <a:t>CONNECT</a:t>
            </a:r>
          </a:p>
          <a:p>
            <a:r>
              <a:t>Build on the preceding slide: Every paired result belongs in one cell.</a:t>
            </a:r>
          </a:p>
          <a:p>
            <a:r>
              <a:t/>
            </a:r>
          </a:p>
          <a:p>
            <a:r>
              <a:t>LECTURER CUE</a:t>
            </a:r>
          </a:p>
          <a:p>
            <a:r>
              <a:t>Rows are actual and columns are predicted. Read each paired observation into exactly one cell. Precision = 1/2. Recall = 1/2. Cost = 5 × FN + FP = 6 under this invented cost rule.</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Precision / Recall.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Precision / Recall</a:t>
            </a:r>
          </a:p>
          <a:p>
            <a:r>
              <a:t/>
            </a:r>
          </a:p>
          <a:p>
            <a:r>
              <a:t>CONNECT</a:t>
            </a:r>
          </a:p>
          <a:p>
            <a:r>
              <a:t>Build on the preceding slide: The four kinds of result.</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POINT TO THE DEFINITION</a:t>
            </a:r>
          </a:p>
          <a:p>
            <a:r>
              <a:t>Precision: Of all predicted warnings, the fraction that were actual warnings: TP / (TP + FP).</a:t>
            </a:r>
          </a:p>
          <a:p>
            <a:r>
              <a:t>Recall: Of all actual warnings, the fraction detected: TP / (TP + FN).</a:t>
            </a:r>
          </a:p>
          <a:p>
            <a:r>
              <a:t/>
            </a:r>
          </a:p>
          <a:p>
            <a:r>
              <a:t>NEXT</a:t>
            </a:r>
          </a:p>
          <a:p>
            <a:r>
              <a:t>Precision and recall.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Precision and recall</a:t>
            </a:r>
          </a:p>
          <a:p>
            <a:r>
              <a:t/>
            </a:r>
          </a:p>
          <a:p>
            <a:r>
              <a:t>CONNECT</a:t>
            </a:r>
          </a:p>
          <a:p>
            <a:r>
              <a:t>Build on the preceding slide: Precision / Recall.</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Two fractions ask different questions.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fractions ask different questions</a:t>
            </a:r>
          </a:p>
          <a:p>
            <a:r>
              <a:t/>
            </a:r>
          </a:p>
          <a:p>
            <a:r>
              <a:t>CONNECT</a:t>
            </a:r>
          </a:p>
          <a:p>
            <a:r>
              <a:t>Build on the preceding slide: Precision and recall.</a:t>
            </a:r>
          </a:p>
          <a:p>
            <a:r>
              <a:t/>
            </a:r>
          </a:p>
          <a:p>
            <a:r>
              <a:t>LECTURER CUE</a:t>
            </a:r>
          </a:p>
          <a:p>
            <a:r>
              <a:t>Use counts before fractions. The denominator of precision is predicted positives; the denominator of recall is actual positives. Explain what happens if either denominator is zero.</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Threshold and cost.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Threshold and cost</a:t>
            </a:r>
          </a:p>
          <a:p>
            <a:r>
              <a:t/>
            </a:r>
          </a:p>
          <a:p>
            <a:r>
              <a:t>CONNECT</a:t>
            </a:r>
          </a:p>
          <a:p>
            <a:r>
              <a:t>Build on the preceding slide: Two fractions ask different questions.</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POINT TO THE DEFINITION</a:t>
            </a:r>
          </a:p>
          <a:p>
            <a:r>
              <a:t>Threshold and cost: A threshold converts a score to a decision. A cost rule states how much each type of mistake matters. Lower thresholds usually increase recall; precision need not decrease at every step.</a:t>
            </a:r>
          </a:p>
          <a:p>
            <a:r>
              <a:t/>
            </a:r>
          </a:p>
          <a:p>
            <a:r>
              <a:t>NEXT</a:t>
            </a:r>
          </a:p>
          <a:p>
            <a:r>
              <a:t>State the cost rule before calculating.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State the cost rule before calculating</a:t>
            </a:r>
          </a:p>
          <a:p>
            <a:r>
              <a:t/>
            </a:r>
          </a:p>
          <a:p>
            <a:r>
              <a:t>CONNECT</a:t>
            </a:r>
          </a:p>
          <a:p>
            <a:r>
              <a:t>Build on the preceding slide: Threshold and cost.</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Counting syntax in the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syntax in the example</a:t>
            </a:r>
          </a:p>
          <a:p>
            <a:r>
              <a:t/>
            </a:r>
          </a:p>
          <a:p>
            <a:r>
              <a:t>CONNECT</a:t>
            </a:r>
          </a:p>
          <a:p>
            <a:r>
              <a:t>Build on the preceding slide: State the cost rule before calculating.</a:t>
            </a:r>
          </a:p>
          <a:p>
            <a:r>
              <a:t/>
            </a:r>
          </a:p>
          <a:p>
            <a:r>
              <a:t>LECTURER CUE</a:t>
            </a:r>
          </a:p>
          <a:p>
            <a:r>
              <a:t>Read one row at a time and use a changed value. This is a syntax reference for the worked examples.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Counting syntax in the example.</a:t>
            </a:r>
          </a:p>
          <a:p>
            <a:r>
              <a:t/>
            </a:r>
          </a:p>
          <a:p>
            <a:r>
              <a:t>LECTURER CUE</a:t>
            </a:r>
          </a:p>
          <a:p>
            <a:r>
              <a:t>Place four paper observations in a table of actual label and predicted label. Classify each before showing the four-cell matrix. State which axis is actual and which is predicted. Use counts before fractions. The denominator of precision is predicted positives; the denominator of recall is actual positives. Explain what happens if either denominator is zero. Only after the count exercise, show a classifier fit/predict demonstration. Logistic regression predicts a category despite its name. Probability estimates need not be well calibrated.</a:t>
            </a:r>
          </a:p>
          <a:p>
            <a:r>
              <a:t/>
            </a:r>
          </a:p>
          <a:p>
            <a:r>
              <a:t>Complete practice code:</a:t>
            </a:r>
          </a:p>
          <a:p>
            <a:r>
              <a:t>actual = [1, 1, 0, 0]</a:t>
            </a:r>
          </a:p>
          <a:p>
            <a:r>
              <a:t>predicted = [1, 0, 1, 0]</a:t>
            </a:r>
          </a:p>
          <a:p>
            <a:r>
              <a:t>for truth, guess in zip(actual, predicted):</a:t>
            </a:r>
          </a:p>
          <a:p>
            <a:r>
              <a:t>    print(truth, guess)</a:t>
            </a:r>
          </a:p>
          <a:p>
            <a:r>
              <a:t># Count the four categories on paper before calculating.</a:t>
            </a:r>
          </a:p>
          <a:p>
            <a:r>
              <a:t>tp, fn, fp, tn = 1, 1, 1, 1</a:t>
            </a:r>
          </a:p>
          <a:p>
            <a:r>
              <a:t>print(tp / (tp + fp))</a:t>
            </a:r>
          </a:p>
          <a:p>
            <a:r>
              <a:t>print(tp / (tp + fn))</a:t>
            </a:r>
          </a:p>
          <a:p>
            <a:r>
              <a:t>print(5 * fn + fp)</a:t>
            </a:r>
          </a:p>
          <a:p>
            <a:r>
              <a:t/>
            </a:r>
          </a:p>
          <a:p>
            <a:r>
              <a:t>WALK THROUGH THIS CODE</a:t>
            </a:r>
          </a:p>
          <a:p>
            <a:r>
              <a:t>for takes the next item. The indented block repeats.</a:t>
            </a:r>
          </a:p>
          <a:p>
            <a:r>
              <a:t>zip pairs items at matching positions in these equal-length lists.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Counting arbitrary paired observations.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arbitrary paired observations</a:t>
            </a:r>
          </a:p>
          <a:p>
            <a:r>
              <a:t/>
            </a:r>
          </a:p>
          <a:p>
            <a:r>
              <a:t>CONNECT</a:t>
            </a:r>
          </a:p>
          <a:p>
            <a:r>
              <a:t>Build on the preceding slide: Expected output.</a:t>
            </a:r>
          </a:p>
          <a:p>
            <a:r>
              <a:t/>
            </a:r>
          </a:p>
          <a:p>
            <a:r>
              <a:t>LECTURER CUE</a:t>
            </a:r>
          </a:p>
          <a:p>
            <a:r>
              <a:t>Start every counter at zero before the loop. == compares labels. and means both comparisons must be true. elif checks another condition only when earlier ones were false.</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Counting arbitrary paired observations in Python (1/3).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arbitrary paired observations in Python (1/3)</a:t>
            </a:r>
          </a:p>
          <a:p>
            <a:r>
              <a:t/>
            </a:r>
          </a:p>
          <a:p>
            <a:r>
              <a:t>CONNECT</a:t>
            </a:r>
          </a:p>
          <a:p>
            <a:r>
              <a:t>Build on the preceding slide: Counting arbitrary paired observations.</a:t>
            </a:r>
          </a:p>
          <a:p>
            <a:r>
              <a:t/>
            </a:r>
          </a:p>
          <a:p>
            <a:r>
              <a:t>LECTURER CUE</a:t>
            </a:r>
          </a:p>
          <a:p>
            <a:r>
              <a:t>Start every counter at zero before the loop. == compares labels. and means both comparisons must be true. elif checks another condition only when earlier ones were false.</a:t>
            </a:r>
          </a:p>
          <a:p>
            <a:r>
              <a:t/>
            </a:r>
          </a:p>
          <a:p>
            <a:r>
              <a:t>Complete practice code:</a:t>
            </a:r>
          </a:p>
          <a:p>
            <a:r>
              <a:t>tp = tn = fp = fn = 0</a:t>
            </a:r>
          </a:p>
          <a:p>
            <a:r>
              <a:t>for truth, guess in zip(actual, predicted):</a:t>
            </a:r>
          </a:p>
          <a:p>
            <a:r>
              <a:t>    if truth == 1 and guess == 1:</a:t>
            </a:r>
          </a:p>
          <a:p>
            <a:r>
              <a:t>        tp += 1</a:t>
            </a:r>
          </a:p>
          <a:p>
            <a:r>
              <a:t>    elif truth == 0 and guess == 0:</a:t>
            </a:r>
          </a:p>
          <a:p>
            <a:r>
              <a:t>        tn += 1</a:t>
            </a:r>
          </a:p>
          <a:p>
            <a:r>
              <a:t>    elif truth == 0 and guess == 1:</a:t>
            </a:r>
          </a:p>
          <a:p>
            <a:r>
              <a:t>        fp += 1</a:t>
            </a:r>
          </a:p>
          <a:p>
            <a:r>
              <a:t>    else:</a:t>
            </a:r>
          </a:p>
          <a:p>
            <a:r>
              <a:t>        fn += 1</a:t>
            </a:r>
          </a:p>
          <a:p>
            <a:r>
              <a:t>print(tp, tn, fp, fn)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WALK THROUGH THIS CODE</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Counting arbitrary paired observations in Python (2/3).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arbitrary paired observations in Python (2/3)</a:t>
            </a:r>
          </a:p>
          <a:p>
            <a:r>
              <a:t/>
            </a:r>
          </a:p>
          <a:p>
            <a:r>
              <a:t>CONNECT</a:t>
            </a:r>
          </a:p>
          <a:p>
            <a:r>
              <a:t>Build on the preceding slide: Counting arbitrary paired observations in Python (1/3).</a:t>
            </a:r>
          </a:p>
          <a:p>
            <a:r>
              <a:t/>
            </a:r>
          </a:p>
          <a:p>
            <a:r>
              <a:t>LECTURER CUE</a:t>
            </a:r>
          </a:p>
          <a:p>
            <a:r>
              <a:t>Start every counter at zero before the loop. == compares labels. and means both comparisons must be true. elif checks another condition only when earlier ones were false.</a:t>
            </a:r>
          </a:p>
          <a:p>
            <a:r>
              <a:t/>
            </a:r>
          </a:p>
          <a:p>
            <a:r>
              <a:t>Complete practice code:</a:t>
            </a:r>
          </a:p>
          <a:p>
            <a:r>
              <a:t>tp = tn = fp = fn = 0</a:t>
            </a:r>
          </a:p>
          <a:p>
            <a:r>
              <a:t>for truth, guess in zip(actual, predicted):</a:t>
            </a:r>
          </a:p>
          <a:p>
            <a:r>
              <a:t>    if truth == 1 and guess == 1:</a:t>
            </a:r>
          </a:p>
          <a:p>
            <a:r>
              <a:t>        tp += 1</a:t>
            </a:r>
          </a:p>
          <a:p>
            <a:r>
              <a:t>    elif truth == 0 and guess == 0:</a:t>
            </a:r>
          </a:p>
          <a:p>
            <a:r>
              <a:t>        tn += 1</a:t>
            </a:r>
          </a:p>
          <a:p>
            <a:r>
              <a:t>    elif truth == 0 and guess == 1:</a:t>
            </a:r>
          </a:p>
          <a:p>
            <a:r>
              <a:t>        fp += 1</a:t>
            </a:r>
          </a:p>
          <a:p>
            <a:r>
              <a:t>    else:</a:t>
            </a:r>
          </a:p>
          <a:p>
            <a:r>
              <a:t>        fn += 1</a:t>
            </a:r>
          </a:p>
          <a:p>
            <a:r>
              <a:t>print(tp, tn, fp, fn)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WALK THROUGH THIS CODE</a:t>
            </a:r>
          </a:p>
          <a:p>
            <a:r>
              <a:t>for takes the next item. The indented block repeats.</a:t>
            </a:r>
          </a:p>
          <a:p>
            <a:r>
              <a:t>if tests a condition. The chosen indented block runs.</a:t>
            </a:r>
          </a:p>
          <a:p>
            <a:r>
              <a:t>zip pairs items at matching positions in these equal-length lists.</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Counting arbitrary paired observations in Python (3/3).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arbitrary paired observations in Python (3/3)</a:t>
            </a:r>
          </a:p>
          <a:p>
            <a:r>
              <a:t/>
            </a:r>
          </a:p>
          <a:p>
            <a:r>
              <a:t>CONNECT</a:t>
            </a:r>
          </a:p>
          <a:p>
            <a:r>
              <a:t>Build on the preceding slide: Counting arbitrary paired observations in Python (2/3).</a:t>
            </a:r>
          </a:p>
          <a:p>
            <a:r>
              <a:t/>
            </a:r>
          </a:p>
          <a:p>
            <a:r>
              <a:t>LECTURER CUE</a:t>
            </a:r>
          </a:p>
          <a:p>
            <a:r>
              <a:t>Start every counter at zero before the loop. == compares labels. and means both comparisons must be true. elif checks another condition only when earlier ones were false.</a:t>
            </a:r>
          </a:p>
          <a:p>
            <a:r>
              <a:t/>
            </a:r>
          </a:p>
          <a:p>
            <a:r>
              <a:t>Complete practice code:</a:t>
            </a:r>
          </a:p>
          <a:p>
            <a:r>
              <a:t>tp = tn = fp = fn = 0</a:t>
            </a:r>
          </a:p>
          <a:p>
            <a:r>
              <a:t>for truth, guess in zip(actual, predicted):</a:t>
            </a:r>
          </a:p>
          <a:p>
            <a:r>
              <a:t>    if truth == 1 and guess == 1:</a:t>
            </a:r>
          </a:p>
          <a:p>
            <a:r>
              <a:t>        tp += 1</a:t>
            </a:r>
          </a:p>
          <a:p>
            <a:r>
              <a:t>    elif truth == 0 and guess == 0:</a:t>
            </a:r>
          </a:p>
          <a:p>
            <a:r>
              <a:t>        tn += 1</a:t>
            </a:r>
          </a:p>
          <a:p>
            <a:r>
              <a:t>    elif truth == 0 and guess == 1:</a:t>
            </a:r>
          </a:p>
          <a:p>
            <a:r>
              <a:t>        fp += 1</a:t>
            </a:r>
          </a:p>
          <a:p>
            <a:r>
              <a:t>    else:</a:t>
            </a:r>
          </a:p>
          <a:p>
            <a:r>
              <a:t>        fn += 1</a:t>
            </a:r>
          </a:p>
          <a:p>
            <a:r>
              <a:t>print(tp, tn, fp, fn)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You are the confusion matrix.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confusion matrix</a:t>
            </a:r>
          </a:p>
          <a:p>
            <a:r>
              <a:t/>
            </a:r>
          </a:p>
          <a:p>
            <a:r>
              <a:t>CONNECT</a:t>
            </a:r>
          </a:p>
          <a:p>
            <a:r>
              <a:t>Build on the preceding slide: Counting arbitrary paired observations in Python (3/3).</a:t>
            </a:r>
          </a:p>
          <a:p>
            <a:r>
              <a:t/>
            </a:r>
          </a:p>
          <a:p>
            <a:r>
              <a:t>LECTURER CUE</a:t>
            </a:r>
          </a:p>
          <a:p>
            <a:r>
              <a:t>Do this before revealing the discussion slide. One learner moves or writes the items, the other checks. Swap roles. Every student explains one step. Expected: Each cell contains one card. Precision = 1 / 2 and recall = 1 / 2. The denominators count different sets of warnings.</a:t>
            </a:r>
          </a:p>
          <a:p>
            <a:r>
              <a:t>Wait for an individual prediction before inviting pair discussion. Give a first-step hint if needed.</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confusion matrix.</a:t>
            </a:r>
          </a:p>
          <a:p>
            <a:r>
              <a:t/>
            </a:r>
          </a:p>
          <a:p>
            <a:r>
              <a:t>LECTURER CUE</a:t>
            </a:r>
          </a:p>
          <a:p>
            <a:r>
              <a:t>Ask which step produced this answer. Return to the concrete action if a learner cannot explain it. This is practice feedback, never a quiz key.</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Probability and a decision threshold.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Probability and a decision threshold</a:t>
            </a:r>
          </a:p>
          <a:p>
            <a:r>
              <a:t/>
            </a:r>
          </a:p>
          <a:p>
            <a:r>
              <a:t>CONNECT</a:t>
            </a:r>
          </a:p>
          <a:p>
            <a:r>
              <a:t>Build on the preceding slide: What the activity shows.</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POINT TO THE DEFINITION</a:t>
            </a:r>
          </a:p>
          <a:p>
            <a:r>
              <a:t>Probability: A probability is between 0 and 1. Multiply by 100 for percent: 0.7 is 70%. A model’s probability is an estimate that needs checking.</a:t>
            </a:r>
          </a:p>
          <a:p>
            <a:r>
              <a:t>Threshold: A threshold turns a score into a decision. For a rule score &gt;= 0.5, a score of 0.7 gives class 1. Use validation data to choose the threshold.</a:t>
            </a:r>
          </a:p>
          <a:p>
            <a:r>
              <a:t/>
            </a:r>
          </a:p>
          <a:p>
            <a:r>
              <a:t>NEXT</a:t>
            </a:r>
          </a:p>
          <a:p>
            <a:r>
              <a:t>A category decision can use a probability.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category decision can use a probability</a:t>
            </a:r>
          </a:p>
          <a:p>
            <a:r>
              <a:t/>
            </a:r>
          </a:p>
          <a:p>
            <a:r>
              <a:t>CONNECT</a:t>
            </a:r>
          </a:p>
          <a:p>
            <a:r>
              <a:t>Build on the preceding slide: Probability and a decision threshold.</a:t>
            </a:r>
          </a:p>
          <a:p>
            <a:r>
              <a:t/>
            </a:r>
          </a:p>
          <a:p>
            <a:r>
              <a:t>LECTURER CUE</a:t>
            </a:r>
          </a:p>
          <a:p>
            <a:r>
              <a:t>Only after the count exercise, show a classifier fit/predict demonstration. Logistic regression predicts a category despite its name. Probability estimates need not be well calibrated.</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Probability and a warning decision.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Probability and a warning decision</a:t>
            </a:r>
          </a:p>
          <a:p>
            <a:r>
              <a:t/>
            </a:r>
          </a:p>
          <a:p>
            <a:r>
              <a:t>CONNECT</a:t>
            </a:r>
          </a:p>
          <a:p>
            <a:r>
              <a:t>Build on the preceding slide: A category decision can use a probability.</a:t>
            </a:r>
          </a:p>
          <a:p>
            <a:r>
              <a:t/>
            </a:r>
          </a:p>
          <a:p>
            <a:r>
              <a:t>LECTURER CUE</a:t>
            </a:r>
          </a:p>
          <a:p>
            <a:r>
              <a:t>Lowering a threshold on fixed predictions cannot reduce the number flagged. Precision may rise or fall. Evaluate costs using validation data.</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Represent a category with indicators.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Represent a category with indicators</a:t>
            </a:r>
          </a:p>
          <a:p>
            <a:r>
              <a:t/>
            </a:r>
          </a:p>
          <a:p>
            <a:r>
              <a:t>CONNECT</a:t>
            </a:r>
          </a:p>
          <a:p>
            <a:r>
              <a:t>Build on the preceding slide: Probability and a warning decision.</a:t>
            </a:r>
          </a:p>
          <a:p>
            <a:r>
              <a:t/>
            </a:r>
          </a:p>
          <a:p>
            <a:r>
              <a:t>EXPLAIN IN ORDINARY WORDS</a:t>
            </a:r>
          </a:p>
          <a:p>
            <a:r>
              <a:t>A category is a label, not an amount. Indicator columns record whether a row belongs to each category, usually with 0 or 1. Fit the encoding on training data and reuse it.</a:t>
            </a:r>
          </a:p>
          <a:p>
            <a:r>
              <a:t/>
            </a:r>
          </a:p>
          <a:p>
            <a:r>
              <a:t>CHECK AND EXPECTED ANSWER</a:t>
            </a:r>
          </a:p>
          <a:p>
            <a:r>
              <a:t>Does assigning red=1 and blue=2 mean blue is twice red? No, those are labels.</a:t>
            </a:r>
          </a:p>
          <a:p>
            <a:r>
              <a:t/>
            </a:r>
          </a:p>
          <a:p>
            <a:r>
              <a:t>IF LEARNERS ARE STUCK</a:t>
            </a:r>
          </a:p>
          <a:p>
            <a:r>
              <a:t>Make two rows and two category columns by hand before showing the encoder.</a:t>
            </a:r>
          </a:p>
          <a:p>
            <a:r>
              <a:t/>
            </a:r>
          </a:p>
          <a:p>
            <a:r>
              <a:t>POINT TO THE DEFINITION</a:t>
            </a:r>
          </a:p>
          <a:p>
            <a:r>
              <a:t>Category: A category is a label such as steel or timber. Its name does not imply a numerical size or rank.</a:t>
            </a:r>
          </a:p>
          <a:p>
            <a:r>
              <a:t>One-hot indicator: Create a column for each category. Its entry is 1 when the row has that category and 0 otherwise. Learn the allowed categories from training data.</a:t>
            </a:r>
          </a:p>
          <a:p>
            <a:r>
              <a:t/>
            </a:r>
          </a:p>
          <a:p>
            <a:r>
              <a:t>NEXT</a:t>
            </a:r>
          </a:p>
          <a:p>
            <a:r>
              <a:t>A category can become indicator columns.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category can become indicator columns</a:t>
            </a:r>
          </a:p>
          <a:p>
            <a:r>
              <a:t/>
            </a:r>
          </a:p>
          <a:p>
            <a:r>
              <a:t>CONNECT</a:t>
            </a:r>
          </a:p>
          <a:p>
            <a:r>
              <a:t>Build on the preceding slide: Represent a category with indicators.</a:t>
            </a:r>
          </a:p>
          <a:p>
            <a:r>
              <a:t/>
            </a:r>
          </a:p>
          <a:p>
            <a:r>
              <a:t>LECTURER CUE</a:t>
            </a:r>
          </a:p>
          <a:p>
            <a:r>
              <a:t>An indicator is 1 when its category applies and 0 otherwise. Fit the encoder on training data.</a:t>
            </a:r>
          </a:p>
          <a:p>
            <a:r>
              <a:t/>
            </a:r>
          </a:p>
          <a:p>
            <a:r>
              <a:t>EXPLAIN IN ORDINARY WORDS</a:t>
            </a:r>
          </a:p>
          <a:p>
            <a:r>
              <a:t>A category is a label, not an amount. Indicator columns record whether a row belongs to each category, usually with 0 or 1. Fit the encoding on training data and reuse it.</a:t>
            </a:r>
          </a:p>
          <a:p>
            <a:r>
              <a:t/>
            </a:r>
          </a:p>
          <a:p>
            <a:r>
              <a:t>CHECK AND EXPECTED ANSWER</a:t>
            </a:r>
          </a:p>
          <a:p>
            <a:r>
              <a:t>Does assigning red=1 and blue=2 mean blue is twice red? No, those are labels.</a:t>
            </a:r>
          </a:p>
          <a:p>
            <a:r>
              <a:t/>
            </a:r>
          </a:p>
          <a:p>
            <a:r>
              <a:t>IF LEARNERS ARE STUCK</a:t>
            </a:r>
          </a:p>
          <a:p>
            <a:r>
              <a:t>Make two rows and two category columns by hand before showing the encoder.</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Accuracy can hide missed warnings.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Accuracy can hide missed warnings</a:t>
            </a:r>
          </a:p>
          <a:p>
            <a:r>
              <a:t/>
            </a:r>
          </a:p>
          <a:p>
            <a:r>
              <a:t>CONNECT</a:t>
            </a:r>
          </a:p>
          <a:p>
            <a:r>
              <a:t>Build on the preceding slide: A category can become indicator columns.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Accuracy can hide missed warnings.</a:t>
            </a:r>
          </a:p>
          <a:p>
            <a:r>
              <a:t/>
            </a:r>
          </a:p>
          <a:p>
            <a:r>
              <a:t>LECTURER CUE</a:t>
            </a:r>
          </a:p>
          <a:p>
            <a:r>
              <a:t>Give silent thinking time, then let pairs discuss. Rotate who types. This is practice, not a graded quiz. Expected response: TP=2, FN=0, FP=1, TN=1. Precision 2/3, recall 1, cost 1. This particular change improves recall and cost.</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DISCUSSION KEY FOR THIS SLIDE</a:t>
            </a:r>
          </a:p>
          <a:p>
            <a:r>
              <a:t>DISCUSS THE REASONING</a:t>
            </a:r>
          </a:p>
          <a:p>
            <a:r>
              <a:t>Practice discussion</a:t>
            </a:r>
          </a:p>
          <a:p>
            <a:r>
              <a:t>TP=2, FN=0, FP=1, TN=1. Precision 2/3, recall 1, cost 1. This particular change improves recall and cost.</a:t>
            </a:r>
          </a:p>
          <a:p>
            <a:r>
              <a:t>Which step produced this result? What changes if one input changes?</a:t>
            </a:r>
          </a:p>
          <a:p>
            <a:r>
              <a:t>CML3113   Week 9   32</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Practice discussion.</a:t>
            </a:r>
          </a:p>
          <a:p>
            <a:r>
              <a:t/>
            </a:r>
          </a:p>
          <a:p>
            <a:r>
              <a:t>LECTURER CUE</a:t>
            </a:r>
          </a:p>
          <a:p>
            <a:r>
              <a:t>Linked by the official StatQuest video index. Full audiovisual preview and excerpt timing still required.</a:t>
            </a:r>
          </a:p>
          <a:p>
            <a:r>
              <a:t>After viewing: Translate the medical example to warning/no-warning and label the axes.</a:t>
            </a:r>
          </a:p>
          <a:p>
            <a:r>
              <a:t>Preview before class and stop after the selected short excerpt. If playback fails, teach the worked example. Video is optional. Source: https://www.youtube.com/watch?v=Kdsp6soqA7o</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Implement classification_metrics on arbitrary paired binary labels, not only the example. Use the published zero-denominator convention. Read the supplied W09 comparison separately. Teacher-written cost assumptions are not approved operating limits. All claimed benefits require real-world evaluation.</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Implement classification_metrics on arbitrary paired binary labels, not only the example. Use the published zero-denominator convention. Read the supplied W09 comparison separately. Teacher-written cost assumptions are not approved operating limits. All claimed benefits require real-world evaluation.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Category predictions and operating thresholds.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Category predictions and operating thresholds</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Category predictions and operating thresholds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Category predictions and operating thresholds continued</a:t>
            </a:r>
          </a:p>
          <a:p>
            <a:r>
              <a:t/>
            </a:r>
          </a:p>
          <a:p>
            <a:r>
              <a:t>CONNECT</a:t>
            </a:r>
          </a:p>
          <a:p>
            <a:r>
              <a:t>Build on the preceding slide: Category predictions and operating thresholds.</a:t>
            </a:r>
          </a:p>
          <a:p>
            <a:r>
              <a:t/>
            </a:r>
          </a:p>
          <a:p>
            <a:r>
              <a:t>LECTURER CUE</a:t>
            </a:r>
          </a:p>
          <a:p>
            <a:r>
              <a:t>Teach these concepts before the weekly quiz. Use changed numbers for practice. This slide supplies concepts, not the quiz key.</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Category predictions and operating thresholds continued.</a:t>
            </a:r>
          </a:p>
          <a:p>
            <a:r>
              <a:t/>
            </a:r>
          </a:p>
          <a:p>
            <a:r>
              <a:t>LECTURER CUE</a:t>
            </a:r>
          </a:p>
          <a:p>
            <a:r>
              <a:t>Use classification_case.csv. Positive means a synthetic warning condition. Compute the confusion matrix, precision, recall and cost. Explain the 5:1 missed-warning/false-alarm cost assumption and why accuracy alone is insufficient. These costs are teaching assumptions, not approved operating limits.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Your issued task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 continued</a:t>
            </a:r>
          </a:p>
          <a:p>
            <a:r>
              <a:t/>
            </a:r>
          </a:p>
          <a:p>
            <a:r>
              <a:t>CONNECT</a:t>
            </a:r>
          </a:p>
          <a:p>
            <a:r>
              <a:t>Build on the preceding slide: Your issued task.</a:t>
            </a:r>
          </a:p>
          <a:p>
            <a:r>
              <a:t/>
            </a:r>
          </a:p>
          <a:p>
            <a:r>
              <a:t>LECTURER CUE</a:t>
            </a:r>
          </a:p>
          <a:p>
            <a:r>
              <a:t>Use classification_case.csv. Positive means a synthetic warning condition. Compute the confusion matrix, precision, recall and cost. Explain the 5:1 missed-warning/false-alarm cost assumption and why accuracy alone is insufficient. These costs are teaching assumptions, not approved operating limits.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classification_metrics(actual, predicted).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classification_metrics(actual, predicted)</a:t>
            </a:r>
          </a:p>
          <a:p>
            <a:r>
              <a:t/>
            </a:r>
          </a:p>
          <a:p>
            <a:r>
              <a:t>CONNECT</a:t>
            </a:r>
          </a:p>
          <a:p>
            <a:r>
              <a:t>Build on the preceding slide: Your issued task continued.</a:t>
            </a:r>
          </a:p>
          <a:p>
            <a:r>
              <a:t/>
            </a:r>
          </a:p>
          <a:p>
            <a:r>
              <a:t>LECTURER CUE</a:t>
            </a:r>
          </a:p>
          <a:p>
            <a:r>
              <a:t>Public task contract. Explain input and output types before independent work. Source: IUEA_Teaching_Plan/assessment_banks/W09/CML3113/A/TASKS.md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classification_metrics(actual, predicted).</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Classification and cost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Classification and cost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9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9 quiz</a:t>
            </a:r>
          </a:p>
          <a:p>
            <a:r>
              <a:t/>
            </a:r>
          </a:p>
          <a:p>
            <a:r>
              <a:t>CONNECT</a:t>
            </a:r>
          </a:p>
          <a:p>
            <a:r>
              <a:t>Build on the preceding slide: Classification and cost submission.</a:t>
            </a:r>
          </a:p>
          <a:p>
            <a:r>
              <a:t/>
            </a:r>
          </a:p>
          <a:p>
            <a:r>
              <a:t>LECTURER CUE</a:t>
            </a:r>
          </a:p>
          <a:p>
            <a:r>
              <a:t>Activate the matching open_W9_CML3113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9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03fbc890022430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b65a1b4ef584ca4" /><Relationship Type="http://schemas.openxmlformats.org/officeDocument/2006/relationships/slideLayout" Target="/ppt/slideLayouts/slideLayout1.xml" Id="R220a50530e87431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0a50530e87431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965d89f57ec4a0a" /><Relationship Type="http://schemas.openxmlformats.org/officeDocument/2006/relationships/image" Target="/ppt/media/image.png" Id="Re2b39d09ce76424f" /><Relationship Type="http://schemas.openxmlformats.org/officeDocument/2006/relationships/notesSlide" Target="/ppt/notesSlides/notesSlide1.xml" Id="R640dace4c28b4bb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385b92be0634565" /><Relationship Type="http://schemas.openxmlformats.org/officeDocument/2006/relationships/notesSlide" Target="/ppt/notesSlides/notesSlide2.xml" Id="R7fda1741a2b2485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1ed5b5c839d4938" /><Relationship Type="http://schemas.openxmlformats.org/officeDocument/2006/relationships/notesSlide" Target="/ppt/notesSlides/notesSlide3.xml" Id="R2a92cc1275cb473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206db2197fb492b" /><Relationship Type="http://schemas.openxmlformats.org/officeDocument/2006/relationships/notesSlide" Target="/ppt/notesSlides/notesSlide4.xml" Id="Rd5099b3ef8054fd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249fc4cb8c44aef" /><Relationship Type="http://schemas.openxmlformats.org/officeDocument/2006/relationships/notesSlide" Target="/ppt/notesSlides/notesSlide5.xml" Id="Rd2cba542af2f450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b6df1cc4e2c427f" /><Relationship Type="http://schemas.openxmlformats.org/officeDocument/2006/relationships/notesSlide" Target="/ppt/notesSlides/notesSlide6.xml" Id="Rb92c7fd4a14d471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123d2d64a7e4a90" /><Relationship Type="http://schemas.openxmlformats.org/officeDocument/2006/relationships/notesSlide" Target="/ppt/notesSlides/notesSlide7.xml" Id="R15d01dc83aac453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6c4249777374b83" /><Relationship Type="http://schemas.openxmlformats.org/officeDocument/2006/relationships/notesSlide" Target="/ppt/notesSlides/notesSlide8.xml" Id="R0d059c77804e4db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99e518d9fc94304" /><Relationship Type="http://schemas.openxmlformats.org/officeDocument/2006/relationships/image" Target="/ppt/media/image2.png" Id="Rdc67936361ad48f7" /><Relationship Type="http://schemas.openxmlformats.org/officeDocument/2006/relationships/notesSlide" Target="/ppt/notesSlides/notesSlide9.xml" Id="Ra3a6c914604e44f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8de70f2bfa8499e" /><Relationship Type="http://schemas.openxmlformats.org/officeDocument/2006/relationships/notesSlide" Target="/ppt/notesSlides/notesSlide10.xml" Id="Rebf72526544c410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2e1eb511aba480b" /><Relationship Type="http://schemas.openxmlformats.org/officeDocument/2006/relationships/notesSlide" Target="/ppt/notesSlides/notesSlide11.xml" Id="R766daa0384b848e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49090240f34475d" /><Relationship Type="http://schemas.openxmlformats.org/officeDocument/2006/relationships/notesSlide" Target="/ppt/notesSlides/notesSlide12.xml" Id="Ree3dc315a79c497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97e157fe2e14c57" /><Relationship Type="http://schemas.openxmlformats.org/officeDocument/2006/relationships/notesSlide" Target="/ppt/notesSlides/notesSlide13.xml" Id="R63f4244ee0be4e0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6599655e52f4fb1" /><Relationship Type="http://schemas.openxmlformats.org/officeDocument/2006/relationships/notesSlide" Target="/ppt/notesSlides/notesSlide14.xml" Id="Rc3f13fad853e410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5599808a4a24602" /><Relationship Type="http://schemas.openxmlformats.org/officeDocument/2006/relationships/notesSlide" Target="/ppt/notesSlides/notesSlide15.xml" Id="R56f37ae568434e3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ed1548699794c3d" /><Relationship Type="http://schemas.openxmlformats.org/officeDocument/2006/relationships/notesSlide" Target="/ppt/notesSlides/notesSlide16.xml" Id="R4cca97a4694047e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3a227ffc1f54861" /><Relationship Type="http://schemas.openxmlformats.org/officeDocument/2006/relationships/notesSlide" Target="/ppt/notesSlides/notesSlide17.xml" Id="Re0cb6046505f4a7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7ee65174b184c46" /><Relationship Type="http://schemas.openxmlformats.org/officeDocument/2006/relationships/notesSlide" Target="/ppt/notesSlides/notesSlide18.xml" Id="R4e63823e96a44da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d00c315b63e4a3e" /><Relationship Type="http://schemas.openxmlformats.org/officeDocument/2006/relationships/notesSlide" Target="/ppt/notesSlides/notesSlide19.xml" Id="R03ef04cc1e264ed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1b37ba106dc4939" /><Relationship Type="http://schemas.openxmlformats.org/officeDocument/2006/relationships/notesSlide" Target="/ppt/notesSlides/notesSlide20.xml" Id="R164836399c7f408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9aff08b3c7743f8" /><Relationship Type="http://schemas.openxmlformats.org/officeDocument/2006/relationships/notesSlide" Target="/ppt/notesSlides/notesSlide21.xml" Id="Rb1f1545e5a5c4b0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7e38c038258474e" /><Relationship Type="http://schemas.openxmlformats.org/officeDocument/2006/relationships/notesSlide" Target="/ppt/notesSlides/notesSlide22.xml" Id="R60b146de33c747c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58bd31372b341bf" /><Relationship Type="http://schemas.openxmlformats.org/officeDocument/2006/relationships/notesSlide" Target="/ppt/notesSlides/notesSlide23.xml" Id="Rab7b4985026b44a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93ff56c09be4df9" /><Relationship Type="http://schemas.openxmlformats.org/officeDocument/2006/relationships/notesSlide" Target="/ppt/notesSlides/notesSlide24.xml" Id="R6cd2a1bc166a422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888b64091e0436e" /><Relationship Type="http://schemas.openxmlformats.org/officeDocument/2006/relationships/notesSlide" Target="/ppt/notesSlides/notesSlide25.xml" Id="R9e9b10a3dd394b8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31e0acc5b514160" /><Relationship Type="http://schemas.openxmlformats.org/officeDocument/2006/relationships/notesSlide" Target="/ppt/notesSlides/notesSlide26.xml" Id="R7b1d2ac92631425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bff21d308404bf0" /><Relationship Type="http://schemas.openxmlformats.org/officeDocument/2006/relationships/notesSlide" Target="/ppt/notesSlides/notesSlide27.xml" Id="Re251d4d54d584a7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d0c8fa8484c34bf6" /><Relationship Type="http://schemas.openxmlformats.org/officeDocument/2006/relationships/notesSlide" Target="/ppt/notesSlides/notesSlide28.xml" Id="Rea3fa4f723d2426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b12098eaf3f4f09" /><Relationship Type="http://schemas.openxmlformats.org/officeDocument/2006/relationships/notesSlide" Target="/ppt/notesSlides/notesSlide29.xml" Id="R27f6ca304304429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1a2bf0ab2ba4020" /><Relationship Type="http://schemas.openxmlformats.org/officeDocument/2006/relationships/notesSlide" Target="/ppt/notesSlides/notesSlide30.xml" Id="Rdea7d318e17a465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a6e6b34bfd3b48a4" /><Relationship Type="http://schemas.openxmlformats.org/officeDocument/2006/relationships/notesSlide" Target="/ppt/notesSlides/notesSlide31.xml" Id="Rb6614fa6c60c421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8242c3f4213482a" /><Relationship Type="http://schemas.openxmlformats.org/officeDocument/2006/relationships/notesSlide" Target="/ppt/notesSlides/notesSlide32.xml" Id="R33b23ee5c649447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78463aef9d3c4268" /><Relationship Type="http://schemas.openxmlformats.org/officeDocument/2006/relationships/hyperlink" Target="https://www.youtube.com/watch?v=Kdsp6soqA7o" TargetMode="External" Id="Rbecb6eee37c046e6" /><Relationship Type="http://schemas.openxmlformats.org/officeDocument/2006/relationships/notesSlide" Target="/ppt/notesSlides/notesSlide33.xml" Id="Rc2551a071834432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9c7902904694356" /><Relationship Type="http://schemas.openxmlformats.org/officeDocument/2006/relationships/notesSlide" Target="/ppt/notesSlides/notesSlide34.xml" Id="R8b20759768f04cd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1cad594122b465c" /><Relationship Type="http://schemas.openxmlformats.org/officeDocument/2006/relationships/notesSlide" Target="/ppt/notesSlides/notesSlide35.xml" Id="R78f566c4267745d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56d6e0d9660c4b04" /><Relationship Type="http://schemas.openxmlformats.org/officeDocument/2006/relationships/notesSlide" Target="/ppt/notesSlides/notesSlide36.xml" Id="Rd1af7e18df9e411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c182e4928264dc9" /><Relationship Type="http://schemas.openxmlformats.org/officeDocument/2006/relationships/notesSlide" Target="/ppt/notesSlides/notesSlide37.xml" Id="Rd2daa88c0230435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efc2d1aeb11b4323" /><Relationship Type="http://schemas.openxmlformats.org/officeDocument/2006/relationships/notesSlide" Target="/ppt/notesSlides/notesSlide38.xml" Id="R5dbe18921329416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38c23ea02b774986" /><Relationship Type="http://schemas.openxmlformats.org/officeDocument/2006/relationships/notesSlide" Target="/ppt/notesSlides/notesSlide39.xml" Id="R7ad2866546f94b0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526459ff9c794be2" /><Relationship Type="http://schemas.openxmlformats.org/officeDocument/2006/relationships/notesSlide" Target="/ppt/notesSlides/notesSlide40.xml" Id="Rfa1108cd2b5f40c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6362fa86c8a0417e" /><Relationship Type="http://schemas.openxmlformats.org/officeDocument/2006/relationships/notesSlide" Target="/ppt/notesSlides/notesSlide41.xml" Id="R88e11e74ec354685"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3dbe493d4cc4257" /><Relationship Type="http://schemas.openxmlformats.org/officeDocument/2006/relationships/notesSlide" Target="/ppt/notesSlides/notesSlide42.xml" Id="R04b353c80195413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8633785992df4cea" /><Relationship Type="http://schemas.openxmlformats.org/officeDocument/2006/relationships/hyperlink" Target="https://docs.google.com/forms/d/e/1FAIpQLSfckaplMvJ6zeqbURyQrkDOSTS0MhGV3jY3tIY4EhnHLMm1tw/viewform" TargetMode="External" Id="R1f40f7c4fbcc4271" /><Relationship Type="http://schemas.openxmlformats.org/officeDocument/2006/relationships/notesSlide" Target="/ppt/notesSlides/notesSlide43.xml" Id="R948ba05495634aea"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eb06b8b683cf47bb" /><Relationship Type="http://schemas.openxmlformats.org/officeDocument/2006/relationships/image" Target="/ppt/media/image3.png" Id="R00f4a4fe0d614cee" /><Relationship Type="http://schemas.openxmlformats.org/officeDocument/2006/relationships/hyperlink" Target="https://forms.gle/biJnEga9118gnz9X9" TargetMode="External" Id="R733b39435bce4628" /><Relationship Type="http://schemas.openxmlformats.org/officeDocument/2006/relationships/notesSlide" Target="/ppt/notesSlides/notesSlide44.xml" Id="R14952588b68c4d01"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1eeebe0f300f436c" /><Relationship Type="http://schemas.openxmlformats.org/officeDocument/2006/relationships/notesSlide" Target="/ppt/notesSlides/notesSlide45.xml" Id="Rc6e29036dfab49b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e2b39d09ce76424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06753F-3513-46BE-BC28-0F538D4867B2}"/>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C5104AA-6F99-46A1-B82C-630286B196F0}"/>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9</a:t>
            </a:r>
          </a:p>
        </p:txBody>
      </p:sp>
      <p:sp>
        <p:nvSpPr>
          <p:cNvPr id="4" name="">
            <a:extLst xmlns:a="http://schemas.openxmlformats.org/drawingml/2006/main">
              <a:ext uri="{FF2B5EF4-FFF2-40B4-BE49-F238E27FC236}">
                <a16:creationId xmlns:a16="http://schemas.microsoft.com/office/drawing/2014/main" id="{5FCD5786-BD39-41E6-86D8-F99167C0D4F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5544768A-A261-4450-9FB0-77AA8AC1CDFC}"/>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2D24EA7F-8C69-4BF8-AE90-7139A5607EC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06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91373719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D40B3E7-9435-426A-B6FA-12473E0E47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6C7371-893D-43FC-9E7C-32B971CEF8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11DFC1CE-CEE5-4D59-9177-EF6404E656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C5F6EB2-78F1-4C33-AD16-5721C89B6875}"/>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960869-F5ED-4F24-A6F0-424E4B06F76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2524E65B-01CA-4DA4-B9A4-6835C7C65439}"/>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an actual label from a predicted label.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prediction outcomes and explain their costs.</a:t>
            </a:r>
          </a:p>
        </p:txBody>
      </p:sp>
      <p:sp>
        <p:nvSpPr>
          <p:cNvPr id="7" name="">
            <a:extLst xmlns:a="http://schemas.openxmlformats.org/drawingml/2006/main">
              <a:ext uri="{FF2B5EF4-FFF2-40B4-BE49-F238E27FC236}">
                <a16:creationId xmlns:a16="http://schemas.microsoft.com/office/drawing/2014/main" id="{66FCA433-C9F4-433D-87E5-881DC3D8F2C0}"/>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612E9E2F-AC58-45F2-8316-C7468A3940B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a false negative and explain precision and recall with counts.</a:t>
            </a:r>
          </a:p>
        </p:txBody>
      </p:sp>
      <p:sp>
        <p:nvSpPr>
          <p:cNvPr id="9" name="">
            <a:extLst xmlns:a="http://schemas.openxmlformats.org/drawingml/2006/main">
              <a:ext uri="{FF2B5EF4-FFF2-40B4-BE49-F238E27FC236}">
                <a16:creationId xmlns:a16="http://schemas.microsoft.com/office/drawing/2014/main" id="{DD6ABEDD-4656-4BAC-B312-05E8694CCA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a:t>
            </a:r>
          </a:p>
        </p:txBody>
      </p:sp>
    </p:spTree>
    <p:extLst>
      <p:ext uri="{BB962C8B-B14F-4D97-AF65-F5344CB8AC3E}">
        <p14:creationId xmlns:p14="http://schemas.microsoft.com/office/powerpoint/2010/main" val="2095151517"/>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C2C182-82BB-47CD-ACC9-23DA3233B6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2D47E0A9-5183-457A-98E9-3278A8C32A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C198D97C-5EB9-4091-BDDB-3AB07EB0AD93}"/>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0935F221-2418-4EB0-92D7-8BF261DA677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What distinguishes predicting a temperature from predicting warning or no warning?</a:t>
            </a:r>
          </a:p>
        </p:txBody>
      </p:sp>
      <p:sp>
        <p:nvSpPr>
          <p:cNvPr id="5" name="">
            <a:extLst xmlns:a="http://schemas.openxmlformats.org/drawingml/2006/main">
              <a:ext uri="{FF2B5EF4-FFF2-40B4-BE49-F238E27FC236}">
                <a16:creationId xmlns:a16="http://schemas.microsoft.com/office/drawing/2014/main" id="{F826D85F-FEB9-4699-A276-A7FF0CF1605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F7A62821-0950-40E5-AC5E-04A3BBC5E7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9   3</a:t>
            </a:r>
          </a:p>
        </p:txBody>
      </p:sp>
    </p:spTree>
    <p:extLst>
      <p:ext uri="{BB962C8B-B14F-4D97-AF65-F5344CB8AC3E}">
        <p14:creationId xmlns:p14="http://schemas.microsoft.com/office/powerpoint/2010/main" val="157475907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F11194B-9766-402F-9FCC-891C4AD715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C7B156-C8B2-47FC-BC4B-B6EE7EEB55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F8BAEDF9-DD5A-4190-B3EC-FEBEEBD6B6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59994974-0107-4AEB-86F9-BC470C8792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6977A5-9FE0-46F4-A000-B51D2553470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EEBF4DEF-25B0-478E-BF6A-BD496E29CC0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D8172E-8A6B-408E-99FF-D91B1526D5E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E1B6B59B-04D3-4345-BAD9-8188A9D3D9B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0AF65B-AC4D-4AE9-87A3-7CF1DC9B5E8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B3E724B9-A154-4C24-8D74-68857EB7A2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a:t>
            </a:r>
          </a:p>
        </p:txBody>
      </p:sp>
    </p:spTree>
    <p:extLst>
      <p:ext uri="{BB962C8B-B14F-4D97-AF65-F5344CB8AC3E}">
        <p14:creationId xmlns:p14="http://schemas.microsoft.com/office/powerpoint/2010/main" val="11605972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FEF4F8-D1F8-4445-B29F-45BC7624FD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403754-F4D4-4FB2-9829-7A94CF939D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ACED08-5996-40F7-88F9-A343E3A9D7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positive class</a:t>
            </a:r>
          </a:p>
        </p:txBody>
      </p:sp>
      <p:sp>
        <p:nvSpPr>
          <p:cNvPr id="4" name="">
            <a:extLst xmlns:a="http://schemas.openxmlformats.org/drawingml/2006/main">
              <a:ext uri="{FF2B5EF4-FFF2-40B4-BE49-F238E27FC236}">
                <a16:creationId xmlns:a16="http://schemas.microsoft.com/office/drawing/2014/main" id="{04FC8BF3-49EA-4F1F-A1EF-D6A9D06476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3FF467-B6AC-4DB2-9CE9-2B60046E209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this example, 1 means a warning is needed.</a:t>
            </a:r>
          </a:p>
        </p:txBody>
      </p:sp>
      <p:sp>
        <p:nvSpPr>
          <p:cNvPr id="6" name="">
            <a:extLst xmlns:a="http://schemas.openxmlformats.org/drawingml/2006/main">
              <a:ext uri="{FF2B5EF4-FFF2-40B4-BE49-F238E27FC236}">
                <a16:creationId xmlns:a16="http://schemas.microsoft.com/office/drawing/2014/main" id="{679660CE-B100-4527-8AAF-8D8C68D4155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A9A30A-A479-456D-BBCD-1A2A1584829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 means a warning is not needed.</a:t>
            </a:r>
          </a:p>
        </p:txBody>
      </p:sp>
      <p:sp>
        <p:nvSpPr>
          <p:cNvPr id="8" name="">
            <a:extLst xmlns:a="http://schemas.openxmlformats.org/drawingml/2006/main">
              <a:ext uri="{FF2B5EF4-FFF2-40B4-BE49-F238E27FC236}">
                <a16:creationId xmlns:a16="http://schemas.microsoft.com/office/drawing/2014/main" id="{28FFCAF7-287C-4F04-B4D8-F0221A0ECE9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811055-15A1-4C08-B4AD-6A7F22869F0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reference label. Predicted is the model’s label.</a:t>
            </a:r>
          </a:p>
        </p:txBody>
      </p:sp>
      <p:sp>
        <p:nvSpPr>
          <p:cNvPr id="10" name="">
            <a:extLst xmlns:a="http://schemas.openxmlformats.org/drawingml/2006/main">
              <a:ext uri="{FF2B5EF4-FFF2-40B4-BE49-F238E27FC236}">
                <a16:creationId xmlns:a16="http://schemas.microsoft.com/office/drawing/2014/main" id="{82D53C4A-1E75-4F6C-A773-D5DF19A6651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DF4CFC3-97DD-4353-9255-DC2B675D6D3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false negative misses a real warning.</a:t>
            </a:r>
          </a:p>
        </p:txBody>
      </p:sp>
      <p:sp>
        <p:nvSpPr>
          <p:cNvPr id="12" name="">
            <a:extLst xmlns:a="http://schemas.openxmlformats.org/drawingml/2006/main">
              <a:ext uri="{FF2B5EF4-FFF2-40B4-BE49-F238E27FC236}">
                <a16:creationId xmlns:a16="http://schemas.microsoft.com/office/drawing/2014/main" id="{89FF4669-996A-423A-9315-D8B3742243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5</a:t>
            </a:r>
          </a:p>
        </p:txBody>
      </p:sp>
    </p:spTree>
    <p:extLst>
      <p:ext uri="{BB962C8B-B14F-4D97-AF65-F5344CB8AC3E}">
        <p14:creationId xmlns:p14="http://schemas.microsoft.com/office/powerpoint/2010/main" val="123330512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BD7083-CDDB-4E57-9375-B1781BBFB1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84F025-DB51-4998-B53A-911A37462D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988A9BF-6143-4F6B-83CC-52C836BBBC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 and positive label / TP and TN</a:t>
            </a:r>
          </a:p>
        </p:txBody>
      </p:sp>
      <p:sp>
        <p:nvSpPr>
          <p:cNvPr id="4" name="">
            <a:extLst xmlns:a="http://schemas.openxmlformats.org/drawingml/2006/main">
              <a:ext uri="{FF2B5EF4-FFF2-40B4-BE49-F238E27FC236}">
                <a16:creationId xmlns:a16="http://schemas.microsoft.com/office/drawing/2014/main" id="{870DBEA7-8C47-4968-9C9C-B1586E279E4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46BD02-99A0-4D77-974C-359DF5777E0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Class and positive label</a:t>
            </a:r>
          </a:p>
        </p:txBody>
      </p:sp>
      <p:sp>
        <p:nvSpPr>
          <p:cNvPr id="6" name="">
            <a:extLst xmlns:a="http://schemas.openxmlformats.org/drawingml/2006/main">
              <a:ext uri="{FF2B5EF4-FFF2-40B4-BE49-F238E27FC236}">
                <a16:creationId xmlns:a16="http://schemas.microsoft.com/office/drawing/2014/main" id="{113186AC-0E86-42F6-B518-344597E2BFD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class is a category. Here 1 means warning and 0 means no warning. Positive means the named class, not good news.</a:t>
            </a:r>
          </a:p>
        </p:txBody>
      </p:sp>
      <p:sp>
        <p:nvSpPr>
          <p:cNvPr id="7" name="">
            <a:extLst xmlns:a="http://schemas.openxmlformats.org/drawingml/2006/main">
              <a:ext uri="{FF2B5EF4-FFF2-40B4-BE49-F238E27FC236}">
                <a16:creationId xmlns:a16="http://schemas.microsoft.com/office/drawing/2014/main" id="{18F14FC4-DFD0-459C-ADA3-6E6096A81B5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0A9F51F-3AB3-47B7-912E-C7784D42649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TP and TN</a:t>
            </a:r>
          </a:p>
        </p:txBody>
      </p:sp>
      <p:sp>
        <p:nvSpPr>
          <p:cNvPr id="9" name="">
            <a:extLst xmlns:a="http://schemas.openxmlformats.org/drawingml/2006/main">
              <a:ext uri="{FF2B5EF4-FFF2-40B4-BE49-F238E27FC236}">
                <a16:creationId xmlns:a16="http://schemas.microsoft.com/office/drawing/2014/main" id="{B97983B1-EC64-4395-AADB-2B541999878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True positive is a correctly flagged warning. True negative is a correctly unflagged non-warning.</a:t>
            </a:r>
          </a:p>
        </p:txBody>
      </p:sp>
      <p:sp>
        <p:nvSpPr>
          <p:cNvPr id="10" name="">
            <a:extLst xmlns:a="http://schemas.openxmlformats.org/drawingml/2006/main">
              <a:ext uri="{FF2B5EF4-FFF2-40B4-BE49-F238E27FC236}">
                <a16:creationId xmlns:a16="http://schemas.microsoft.com/office/drawing/2014/main" id="{8E237642-F71B-4629-9131-C2820C0F3B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6</a:t>
            </a:r>
          </a:p>
        </p:txBody>
      </p:sp>
    </p:spTree>
    <p:extLst>
      <p:ext uri="{BB962C8B-B14F-4D97-AF65-F5344CB8AC3E}">
        <p14:creationId xmlns:p14="http://schemas.microsoft.com/office/powerpoint/2010/main" val="21044672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DFCCB7A-B308-4E83-BA58-C3004A5D85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6144A8-2FC4-4BAC-9EC2-D64F884C82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AF433EC-D69F-4D3C-B55A-0C2F2E038A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FP and FN</a:t>
            </a:r>
          </a:p>
        </p:txBody>
      </p:sp>
      <p:sp>
        <p:nvSpPr>
          <p:cNvPr id="4" name="">
            <a:extLst xmlns:a="http://schemas.openxmlformats.org/drawingml/2006/main">
              <a:ext uri="{FF2B5EF4-FFF2-40B4-BE49-F238E27FC236}">
                <a16:creationId xmlns:a16="http://schemas.microsoft.com/office/drawing/2014/main" id="{3674B86E-A91D-415B-A246-7FED1358E51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8907A5-4BC6-49B2-8322-40F2087DE27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FP and FN</a:t>
            </a:r>
          </a:p>
        </p:txBody>
      </p:sp>
      <p:sp>
        <p:nvSpPr>
          <p:cNvPr id="6" name="">
            <a:extLst xmlns:a="http://schemas.openxmlformats.org/drawingml/2006/main">
              <a:ext uri="{FF2B5EF4-FFF2-40B4-BE49-F238E27FC236}">
                <a16:creationId xmlns:a16="http://schemas.microsoft.com/office/drawing/2014/main" id="{AC8FE07C-C766-4085-8309-7F85D380370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False positive is a false alarm. False negative is a missed warning.</a:t>
            </a:r>
          </a:p>
        </p:txBody>
      </p:sp>
      <p:sp>
        <p:nvSpPr>
          <p:cNvPr id="7" name="">
            <a:extLst xmlns:a="http://schemas.openxmlformats.org/drawingml/2006/main">
              <a:ext uri="{FF2B5EF4-FFF2-40B4-BE49-F238E27FC236}">
                <a16:creationId xmlns:a16="http://schemas.microsoft.com/office/drawing/2014/main" id="{169AC86D-6832-4487-B74F-006C046CFB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7</a:t>
            </a:r>
          </a:p>
        </p:txBody>
      </p:sp>
    </p:spTree>
    <p:extLst>
      <p:ext uri="{BB962C8B-B14F-4D97-AF65-F5344CB8AC3E}">
        <p14:creationId xmlns:p14="http://schemas.microsoft.com/office/powerpoint/2010/main" val="18047509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A6AB29C-80D2-4553-B8E1-E007759F65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5C7258-2721-4377-8A4E-CDAB05B322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AD1BBC-A4D2-42E8-AA07-431E8C85EB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Actual and predicted describe different things</a:t>
            </a:r>
          </a:p>
        </p:txBody>
      </p:sp>
      <p:sp>
        <p:nvSpPr>
          <p:cNvPr id="4" name="">
            <a:extLst xmlns:a="http://schemas.openxmlformats.org/drawingml/2006/main">
              <a:ext uri="{FF2B5EF4-FFF2-40B4-BE49-F238E27FC236}">
                <a16:creationId xmlns:a16="http://schemas.microsoft.com/office/drawing/2014/main" id="{97582A5E-65CB-45C3-87D8-D5C195D5F6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D28A28-C94F-4840-8211-D4AE0DDA84A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recorded reference answer.</a:t>
            </a:r>
          </a:p>
        </p:txBody>
      </p:sp>
      <p:sp>
        <p:nvSpPr>
          <p:cNvPr id="6" name="">
            <a:extLst xmlns:a="http://schemas.openxmlformats.org/drawingml/2006/main">
              <a:ext uri="{FF2B5EF4-FFF2-40B4-BE49-F238E27FC236}">
                <a16:creationId xmlns:a16="http://schemas.microsoft.com/office/drawing/2014/main" id="{974BDA02-3B60-405A-8E62-9718010FBB5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1510BB4-C701-4BB8-AC50-881CFFBCF19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Predicted is the answer produced by our model.</a:t>
            </a:r>
          </a:p>
        </p:txBody>
      </p:sp>
      <p:sp>
        <p:nvSpPr>
          <p:cNvPr id="8" name="">
            <a:extLst xmlns:a="http://schemas.openxmlformats.org/drawingml/2006/main">
              <a:ext uri="{FF2B5EF4-FFF2-40B4-BE49-F238E27FC236}">
                <a16:creationId xmlns:a16="http://schemas.microsoft.com/office/drawing/2014/main" id="{5D22D083-E666-4447-8815-E97A37594A6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00F327-8965-46CF-BB7B-E7C7B0E0C09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correct prediction matches the reference. Class 1 means warning in this example.</a:t>
            </a:r>
          </a:p>
        </p:txBody>
      </p:sp>
      <p:sp>
        <p:nvSpPr>
          <p:cNvPr id="10" name="">
            <a:extLst xmlns:a="http://schemas.openxmlformats.org/drawingml/2006/main">
              <a:ext uri="{FF2B5EF4-FFF2-40B4-BE49-F238E27FC236}">
                <a16:creationId xmlns:a16="http://schemas.microsoft.com/office/drawing/2014/main" id="{B3B80934-F1F0-4720-95DC-D0E5733911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8</a:t>
            </a:r>
          </a:p>
        </p:txBody>
      </p:sp>
    </p:spTree>
    <p:extLst>
      <p:ext uri="{BB962C8B-B14F-4D97-AF65-F5344CB8AC3E}">
        <p14:creationId xmlns:p14="http://schemas.microsoft.com/office/powerpoint/2010/main" val="125984981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F2A2F7-D78A-43D3-9C07-4BA3483B97F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CF5566-1038-4CCA-AC64-C90A681B857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c67936361ad48f7"/>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F80D6CB-419D-486E-91D9-23369A012E03}"/>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F04A27-2C01-493E-B6A4-0C4F2B244E3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 Explain the missed warning.</a:t>
            </a:r>
          </a:p>
        </p:txBody>
      </p:sp>
      <p:sp>
        <p:nvSpPr>
          <p:cNvPr id="6" name="">
            <a:extLst xmlns:a="http://schemas.openxmlformats.org/drawingml/2006/main">
              <a:ext uri="{FF2B5EF4-FFF2-40B4-BE49-F238E27FC236}">
                <a16:creationId xmlns:a16="http://schemas.microsoft.com/office/drawing/2014/main" id="{9FC45A19-3AD9-4264-A231-310DAC3B47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9</a:t>
            </a:r>
          </a:p>
        </p:txBody>
      </p:sp>
    </p:spTree>
    <p:extLst>
      <p:ext uri="{BB962C8B-B14F-4D97-AF65-F5344CB8AC3E}">
        <p14:creationId xmlns:p14="http://schemas.microsoft.com/office/powerpoint/2010/main" val="47958514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E9A7F84-8534-4CAD-85AD-D04A194D67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087E5E-2F2C-4C05-9ED9-3759F169C9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8BEBE41-F3A8-438D-929D-6C7741B74B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kinds of result</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 /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Warning 1</a:t>
                      </a:r>
                    </a:p>
                  </a:txBody>
                  <a:tcPr marL="91440" marR="91440" marT="45720" marB="45720">
                    <a:solidFill>
                      <a:srgbClr val="2E7D6F"/>
                    </a:solidFill>
                  </a:tcPr>
                </a:tc>
                <a:tc>
                  <a:txBody>
                    <a:bodyPr/>
                    <a:lstStyle/>
                    <a:p>
                      <a:r>
                        <a:rPr sz="2025" b="1">
                          <a:solidFill>
                            <a:srgbClr val="FFFFFF"/>
                          </a:solidFill>
                          <a:latin typeface="Calibri"/>
                          <a:ea typeface="Calibri"/>
                          <a:cs typeface="Calibri"/>
                        </a:rPr>
                        <a:t>No warning 0</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Warning 1</a:t>
                      </a:r>
                    </a:p>
                  </a:txBody>
                  <a:tcPr marL="91440" marR="91440" marT="45720" marB="45720">
                    <a:solidFill>
                      <a:srgbClr val="EEF3F6"/>
                    </a:solidFill>
                  </a:tcPr>
                </a:tc>
                <a:tc>
                  <a:txBody>
                    <a:bodyPr/>
                    <a:lstStyle/>
                    <a:p>
                      <a:r>
                        <a:rPr sz="2025" b="0">
                          <a:solidFill>
                            <a:srgbClr val="1C3144"/>
                          </a:solidFill>
                          <a:latin typeface="Calibri"/>
                          <a:ea typeface="Calibri"/>
                          <a:cs typeface="Calibri"/>
                        </a:rPr>
                        <a:t>TP = 1</a:t>
                      </a:r>
                    </a:p>
                  </a:txBody>
                  <a:tcPr marL="91440" marR="91440" marT="45720" marB="45720">
                    <a:solidFill>
                      <a:srgbClr val="EEF3F6"/>
                    </a:solidFill>
                  </a:tcPr>
                </a:tc>
                <a:tc>
                  <a:txBody>
                    <a:bodyPr/>
                    <a:lstStyle/>
                    <a:p>
                      <a:r>
                        <a:rPr sz="2025" b="0">
                          <a:solidFill>
                            <a:srgbClr val="1C3144"/>
                          </a:solidFill>
                          <a:latin typeface="Calibri"/>
                          <a:ea typeface="Calibri"/>
                          <a:cs typeface="Calibri"/>
                        </a:rPr>
                        <a:t>FN = 1</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No warning 0</a:t>
                      </a:r>
                    </a:p>
                  </a:txBody>
                  <a:tcPr marL="91440" marR="91440" marT="45720" marB="45720">
                    <a:solidFill>
                      <a:srgbClr val="FFFFFF"/>
                    </a:solidFill>
                  </a:tcPr>
                </a:tc>
                <a:tc>
                  <a:txBody>
                    <a:bodyPr/>
                    <a:lstStyle/>
                    <a:p>
                      <a:r>
                        <a:rPr sz="2025" b="0">
                          <a:solidFill>
                            <a:srgbClr val="1C3144"/>
                          </a:solidFill>
                          <a:latin typeface="Calibri"/>
                          <a:ea typeface="Calibri"/>
                          <a:cs typeface="Calibri"/>
                        </a:rPr>
                        <a:t>FP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TN =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FBE4C36-1F68-4F34-A679-9EF533E1D014}"/>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Rows are actual and columns are predicted.</a:t>
            </a:r>
          </a:p>
        </p:txBody>
      </p:sp>
      <p:sp>
        <p:nvSpPr>
          <p:cNvPr id="6" name="">
            <a:extLst xmlns:a="http://schemas.openxmlformats.org/drawingml/2006/main">
              <a:ext uri="{FF2B5EF4-FFF2-40B4-BE49-F238E27FC236}">
                <a16:creationId xmlns:a16="http://schemas.microsoft.com/office/drawing/2014/main" id="{BC08C425-A268-4C6C-9AE2-5F90BBFB9F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10</a:t>
            </a:r>
          </a:p>
        </p:txBody>
      </p:sp>
    </p:spTree>
    <p:extLst>
      <p:ext uri="{BB962C8B-B14F-4D97-AF65-F5344CB8AC3E}">
        <p14:creationId xmlns:p14="http://schemas.microsoft.com/office/powerpoint/2010/main" val="128793298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67D176-138D-404C-87FB-0713705744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B329DF-7F19-4564-BA0C-D4B1AA4E72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7EB6053-26B5-4154-B216-C61712D443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 Recall</a:t>
            </a:r>
          </a:p>
        </p:txBody>
      </p:sp>
      <p:sp>
        <p:nvSpPr>
          <p:cNvPr id="4" name="">
            <a:extLst xmlns:a="http://schemas.openxmlformats.org/drawingml/2006/main">
              <a:ext uri="{FF2B5EF4-FFF2-40B4-BE49-F238E27FC236}">
                <a16:creationId xmlns:a16="http://schemas.microsoft.com/office/drawing/2014/main" id="{80FB4F2C-17A2-4C77-82CE-A94B0C15D36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0CC7D8-67A4-43E1-8362-2E3123A4755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Precision</a:t>
            </a:r>
          </a:p>
        </p:txBody>
      </p:sp>
      <p:sp>
        <p:nvSpPr>
          <p:cNvPr id="6" name="">
            <a:extLst xmlns:a="http://schemas.openxmlformats.org/drawingml/2006/main">
              <a:ext uri="{FF2B5EF4-FFF2-40B4-BE49-F238E27FC236}">
                <a16:creationId xmlns:a16="http://schemas.microsoft.com/office/drawing/2014/main" id="{81D662A8-E50E-4747-839C-06B04654E73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predicted warnings, the fraction that were actual warnings: TP / (TP + FP).</a:t>
            </a:r>
          </a:p>
        </p:txBody>
      </p:sp>
      <p:sp>
        <p:nvSpPr>
          <p:cNvPr id="7" name="">
            <a:extLst xmlns:a="http://schemas.openxmlformats.org/drawingml/2006/main">
              <a:ext uri="{FF2B5EF4-FFF2-40B4-BE49-F238E27FC236}">
                <a16:creationId xmlns:a16="http://schemas.microsoft.com/office/drawing/2014/main" id="{48F15B47-C189-4510-A8A1-CB6A824B48F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1828F38-6508-4BEC-93B0-CCE6CE5D656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Recall</a:t>
            </a:r>
          </a:p>
        </p:txBody>
      </p:sp>
      <p:sp>
        <p:nvSpPr>
          <p:cNvPr id="9" name="">
            <a:extLst xmlns:a="http://schemas.openxmlformats.org/drawingml/2006/main">
              <a:ext uri="{FF2B5EF4-FFF2-40B4-BE49-F238E27FC236}">
                <a16:creationId xmlns:a16="http://schemas.microsoft.com/office/drawing/2014/main" id="{E6E06791-3D5B-4B27-95A3-E16038C744C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actual warnings, the fraction detected: TP / (TP + FN).</a:t>
            </a:r>
          </a:p>
        </p:txBody>
      </p:sp>
      <p:sp>
        <p:nvSpPr>
          <p:cNvPr id="10" name="">
            <a:extLst xmlns:a="http://schemas.openxmlformats.org/drawingml/2006/main">
              <a:ext uri="{FF2B5EF4-FFF2-40B4-BE49-F238E27FC236}">
                <a16:creationId xmlns:a16="http://schemas.microsoft.com/office/drawing/2014/main" id="{0657FF04-DB2C-4661-8D42-26D71ADECA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11</a:t>
            </a:r>
          </a:p>
        </p:txBody>
      </p:sp>
    </p:spTree>
    <p:extLst>
      <p:ext uri="{BB962C8B-B14F-4D97-AF65-F5344CB8AC3E}">
        <p14:creationId xmlns:p14="http://schemas.microsoft.com/office/powerpoint/2010/main" val="208910447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2FBE7F-6614-4BCC-8066-26C3AB2972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9E1490-D4E7-4BC3-8BFE-B47E8CBB58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2302DEB-BBED-4F11-99F7-93B0885CCF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and recall</a:t>
            </a:r>
          </a:p>
        </p:txBody>
      </p:sp>
      <p:sp>
        <p:nvSpPr>
          <p:cNvPr id="4" name="">
            <a:extLst xmlns:a="http://schemas.openxmlformats.org/drawingml/2006/main">
              <a:ext uri="{FF2B5EF4-FFF2-40B4-BE49-F238E27FC236}">
                <a16:creationId xmlns:a16="http://schemas.microsoft.com/office/drawing/2014/main" id="{11FE1A7B-26CA-4F3A-9160-3F4D1919DA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9673BD9-5DFA-4E95-B64B-2DFAD3322F1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asks: of the warnings raised, how many were correct?</a:t>
            </a:r>
          </a:p>
        </p:txBody>
      </p:sp>
      <p:sp>
        <p:nvSpPr>
          <p:cNvPr id="6" name="">
            <a:extLst xmlns:a="http://schemas.openxmlformats.org/drawingml/2006/main">
              <a:ext uri="{FF2B5EF4-FFF2-40B4-BE49-F238E27FC236}">
                <a16:creationId xmlns:a16="http://schemas.microsoft.com/office/drawing/2014/main" id="{81E3FB2D-CFC7-490F-9331-2B7460E9557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8EDFEC-F82C-40BC-BE97-F5A657F1246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Recall asks: of the real warnings, how many did we detect?</a:t>
            </a:r>
          </a:p>
        </p:txBody>
      </p:sp>
      <p:sp>
        <p:nvSpPr>
          <p:cNvPr id="8" name="">
            <a:extLst xmlns:a="http://schemas.openxmlformats.org/drawingml/2006/main">
              <a:ext uri="{FF2B5EF4-FFF2-40B4-BE49-F238E27FC236}">
                <a16:creationId xmlns:a16="http://schemas.microsoft.com/office/drawing/2014/main" id="{F722D02A-F3F9-4D74-9023-1B6A8BE2E7A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8A30EE-1565-4CF8-81E2-90F3DFC4E86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zero denominator needs an explicit rule.</a:t>
            </a:r>
          </a:p>
        </p:txBody>
      </p:sp>
      <p:sp>
        <p:nvSpPr>
          <p:cNvPr id="10" name="">
            <a:extLst xmlns:a="http://schemas.openxmlformats.org/drawingml/2006/main">
              <a:ext uri="{FF2B5EF4-FFF2-40B4-BE49-F238E27FC236}">
                <a16:creationId xmlns:a16="http://schemas.microsoft.com/office/drawing/2014/main" id="{7A615EFD-44BC-4F76-B2F9-05F93D881C5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51F7C4F-2584-478D-A8E6-7114802E4C4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rule in your task brief when implementing the function.</a:t>
            </a:r>
          </a:p>
        </p:txBody>
      </p:sp>
      <p:sp>
        <p:nvSpPr>
          <p:cNvPr id="12" name="">
            <a:extLst xmlns:a="http://schemas.openxmlformats.org/drawingml/2006/main">
              <a:ext uri="{FF2B5EF4-FFF2-40B4-BE49-F238E27FC236}">
                <a16:creationId xmlns:a16="http://schemas.microsoft.com/office/drawing/2014/main" id="{954976E7-F3C0-4C12-984A-16BE6EED38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12</a:t>
            </a:r>
          </a:p>
        </p:txBody>
      </p:sp>
    </p:spTree>
    <p:extLst>
      <p:ext uri="{BB962C8B-B14F-4D97-AF65-F5344CB8AC3E}">
        <p14:creationId xmlns:p14="http://schemas.microsoft.com/office/powerpoint/2010/main" val="89148954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939AD3D-6AB6-4E24-BC0A-B7E0B91264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B4C6BC-E911-46FD-ADA8-F883EE2AED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4C259A-DE53-42B9-910B-B451B31C8B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fractions ask different questions</a:t>
            </a:r>
          </a:p>
        </p:txBody>
      </p:sp>
      <p:sp>
        <p:nvSpPr>
          <p:cNvPr id="4" name="">
            <a:extLst xmlns:a="http://schemas.openxmlformats.org/drawingml/2006/main">
              <a:ext uri="{FF2B5EF4-FFF2-40B4-BE49-F238E27FC236}">
                <a16:creationId xmlns:a16="http://schemas.microsoft.com/office/drawing/2014/main" id="{E7A2E177-FB27-4D91-894D-3B5BAE98A91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3F3819-DF70-484D-B676-2C3DC3B69EC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divides correct warnings by all predicted warnings.</a:t>
            </a:r>
          </a:p>
        </p:txBody>
      </p:sp>
      <p:sp>
        <p:nvSpPr>
          <p:cNvPr id="6" name="">
            <a:extLst xmlns:a="http://schemas.openxmlformats.org/drawingml/2006/main">
              <a:ext uri="{FF2B5EF4-FFF2-40B4-BE49-F238E27FC236}">
                <a16:creationId xmlns:a16="http://schemas.microsoft.com/office/drawing/2014/main" id="{744DA8A6-EE83-4C37-8AE6-D72617C25EA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2E56CDF-39A8-4299-A74F-876F67A06BA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Recall divides correct warnings by all actual warnings.</a:t>
            </a:r>
          </a:p>
        </p:txBody>
      </p:sp>
      <p:sp>
        <p:nvSpPr>
          <p:cNvPr id="8" name="">
            <a:extLst xmlns:a="http://schemas.openxmlformats.org/drawingml/2006/main">
              <a:ext uri="{FF2B5EF4-FFF2-40B4-BE49-F238E27FC236}">
                <a16:creationId xmlns:a16="http://schemas.microsoft.com/office/drawing/2014/main" id="{B2823A82-D393-4F7D-ACCA-F2FD89F544A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29947B7-B16D-41E1-ACE2-37E293D5158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denominator is zero, apply the explicit convention in the issued brief.</a:t>
            </a:r>
          </a:p>
        </p:txBody>
      </p:sp>
      <p:sp>
        <p:nvSpPr>
          <p:cNvPr id="10" name="">
            <a:extLst xmlns:a="http://schemas.openxmlformats.org/drawingml/2006/main">
              <a:ext uri="{FF2B5EF4-FFF2-40B4-BE49-F238E27FC236}">
                <a16:creationId xmlns:a16="http://schemas.microsoft.com/office/drawing/2014/main" id="{FDD466A8-4610-4C22-84CB-FCDEF81BDB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13</a:t>
            </a:r>
          </a:p>
        </p:txBody>
      </p:sp>
    </p:spTree>
    <p:extLst>
      <p:ext uri="{BB962C8B-B14F-4D97-AF65-F5344CB8AC3E}">
        <p14:creationId xmlns:p14="http://schemas.microsoft.com/office/powerpoint/2010/main" val="110174235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05B0E7-6697-4C32-8698-83683B1A0A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9F92AC-5E80-4DA0-A896-6062E1AE4B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E46E086-7243-4E4C-A00B-0C646AB1B9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Threshold and cost</a:t>
            </a:r>
          </a:p>
        </p:txBody>
      </p:sp>
      <p:sp>
        <p:nvSpPr>
          <p:cNvPr id="4" name="">
            <a:extLst xmlns:a="http://schemas.openxmlformats.org/drawingml/2006/main">
              <a:ext uri="{FF2B5EF4-FFF2-40B4-BE49-F238E27FC236}">
                <a16:creationId xmlns:a16="http://schemas.microsoft.com/office/drawing/2014/main" id="{45989863-4F72-412C-9028-FDC9DBFC182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50A5EB-57C6-4667-8656-7249F748733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Threshold and cost</a:t>
            </a:r>
          </a:p>
        </p:txBody>
      </p:sp>
      <p:sp>
        <p:nvSpPr>
          <p:cNvPr id="6" name="">
            <a:extLst xmlns:a="http://schemas.openxmlformats.org/drawingml/2006/main">
              <a:ext uri="{FF2B5EF4-FFF2-40B4-BE49-F238E27FC236}">
                <a16:creationId xmlns:a16="http://schemas.microsoft.com/office/drawing/2014/main" id="{42C68F14-B85B-47D7-B1F9-196E0CEC381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threshold converts a score to a decision. A cost rule states how much each type of mistake matters. Lower thresholds usually increase recall; precision need not decrease at every step.</a:t>
            </a:r>
          </a:p>
        </p:txBody>
      </p:sp>
      <p:sp>
        <p:nvSpPr>
          <p:cNvPr id="7" name="">
            <a:extLst xmlns:a="http://schemas.openxmlformats.org/drawingml/2006/main">
              <a:ext uri="{FF2B5EF4-FFF2-40B4-BE49-F238E27FC236}">
                <a16:creationId xmlns:a16="http://schemas.microsoft.com/office/drawing/2014/main" id="{6F489E77-6186-4A5D-A04B-66302433C0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14</a:t>
            </a:r>
          </a:p>
        </p:txBody>
      </p:sp>
    </p:spTree>
    <p:extLst>
      <p:ext uri="{BB962C8B-B14F-4D97-AF65-F5344CB8AC3E}">
        <p14:creationId xmlns:p14="http://schemas.microsoft.com/office/powerpoint/2010/main" val="188928717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920F00-0BD6-41CF-BFAC-BB42F96173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992664-3597-43B9-85A1-7A2E229BEB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C12363-EDBC-4EE4-AA6A-6B961B0DE3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State the cost rule before calculating</a:t>
            </a:r>
          </a:p>
        </p:txBody>
      </p:sp>
      <p:sp>
        <p:nvSpPr>
          <p:cNvPr id="4" name="">
            <a:extLst xmlns:a="http://schemas.openxmlformats.org/drawingml/2006/main">
              <a:ext uri="{FF2B5EF4-FFF2-40B4-BE49-F238E27FC236}">
                <a16:creationId xmlns:a16="http://schemas.microsoft.com/office/drawing/2014/main" id="{651E2B72-E481-431E-B87F-BED84EB1947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92BD4E5-870D-4594-BD4C-CAB91154CC4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cost rule assigns a penalty to each kind of mistake. In this teaching example, a missed warning costs 5 units and a false alarm costs 1 unit.</a:t>
            </a:r>
          </a:p>
        </p:txBody>
      </p:sp>
      <p:sp>
        <p:nvSpPr>
          <p:cNvPr id="6" name="">
            <a:extLst xmlns:a="http://schemas.openxmlformats.org/drawingml/2006/main">
              <a:ext uri="{FF2B5EF4-FFF2-40B4-BE49-F238E27FC236}">
                <a16:creationId xmlns:a16="http://schemas.microsoft.com/office/drawing/2014/main" id="{C01EE26B-9B92-4953-8C49-32B5D858F3D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A17E32-B463-4118-A840-59325F1DF9D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 5 × FN + FP. One missed warning and one false alarm therefore cost 6 units.</a:t>
            </a:r>
          </a:p>
        </p:txBody>
      </p:sp>
      <p:sp>
        <p:nvSpPr>
          <p:cNvPr id="8" name="">
            <a:extLst xmlns:a="http://schemas.openxmlformats.org/drawingml/2006/main">
              <a:ext uri="{FF2B5EF4-FFF2-40B4-BE49-F238E27FC236}">
                <a16:creationId xmlns:a16="http://schemas.microsoft.com/office/drawing/2014/main" id="{BC398773-2B58-4AFD-ADF2-EADED5D2012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D2C1BC9-D654-4EFF-A997-32519878D0F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invented teaching penalties. Use the published assignment cost rule and explain whose consequences it represents.</a:t>
            </a:r>
          </a:p>
        </p:txBody>
      </p:sp>
      <p:sp>
        <p:nvSpPr>
          <p:cNvPr id="10" name="">
            <a:extLst xmlns:a="http://schemas.openxmlformats.org/drawingml/2006/main">
              <a:ext uri="{FF2B5EF4-FFF2-40B4-BE49-F238E27FC236}">
                <a16:creationId xmlns:a16="http://schemas.microsoft.com/office/drawing/2014/main" id="{F61EAEAA-68CF-4B30-BC10-172ED669FD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15</a:t>
            </a:r>
          </a:p>
        </p:txBody>
      </p:sp>
    </p:spTree>
    <p:extLst>
      <p:ext uri="{BB962C8B-B14F-4D97-AF65-F5344CB8AC3E}">
        <p14:creationId xmlns:p14="http://schemas.microsoft.com/office/powerpoint/2010/main" val="65960017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1D4811-C9F4-4553-988C-3ECB4999D6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D2F6E9-1B8B-4E78-9513-1511609D03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360D2BC4-194D-4F8D-982E-FCF2F9FC97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syntax in the example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Code</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Equivalent idea</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tp = tn = fp = fn = 0</a:t>
                      </a:r>
                    </a:p>
                  </a:txBody>
                  <a:tcPr marL="91440" marR="91440" marT="45720" marB="45720">
                    <a:solidFill>
                      <a:srgbClr val="EEF3F6"/>
                    </a:solidFill>
                  </a:tcPr>
                </a:tc>
                <a:tc>
                  <a:txBody>
                    <a:bodyPr/>
                    <a:lstStyle/>
                    <a:p>
                      <a:r>
                        <a:rPr sz="2025" b="0">
                          <a:solidFill>
                            <a:srgbClr val="1C3144"/>
                          </a:solidFill>
                          <a:latin typeface="Calibri"/>
                          <a:ea typeface="Calibri"/>
                          <a:cs typeface="Calibri"/>
                        </a:rPr>
                        <a:t>Set each of four counts to zero</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tp = tp + 1</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zip(actual, predicted)</a:t>
                      </a:r>
                    </a:p>
                  </a:txBody>
                  <a:tcPr marL="91440" marR="91440" marT="45720" marB="45720">
                    <a:solidFill>
                      <a:srgbClr val="EEF3F6"/>
                    </a:solidFill>
                  </a:tcPr>
                </a:tc>
                <a:tc>
                  <a:txBody>
                    <a:bodyPr/>
                    <a:lstStyle/>
                    <a:p>
                      <a:r>
                        <a:rPr sz="2025" b="0">
                          <a:solidFill>
                            <a:srgbClr val="1C3144"/>
                          </a:solidFill>
                          <a:latin typeface="Calibri"/>
                          <a:ea typeface="Calibri"/>
                          <a:cs typeface="Calibri"/>
                        </a:rPr>
                        <a:t>Pair items in the same positions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elif condition:</a:t>
                      </a:r>
                    </a:p>
                  </a:txBody>
                  <a:tcPr marL="91440" marR="91440" marT="45720" marB="45720">
                    <a:solidFill>
                      <a:srgbClr val="FFFFFF"/>
                    </a:solidFill>
                  </a:tcPr>
                </a:tc>
                <a:tc>
                  <a:txBody>
                    <a:bodyPr/>
                    <a:lstStyle/>
                    <a:p>
                      <a:r>
                        <a:rPr sz="2025" b="0">
                          <a:solidFill>
                            <a:srgbClr val="1C3144"/>
                          </a:solidFill>
                          <a:latin typeface="Calibri"/>
                          <a:ea typeface="Calibri"/>
                          <a:cs typeface="Calibri"/>
                        </a:rPr>
                        <a:t>Try this branch if earlier ones failed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BDFAAB2-2A95-4418-9822-BA44A7E4D82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Our paired lists must have matching lengths. zip alone stops at the shorter list.</a:t>
            </a:r>
          </a:p>
        </p:txBody>
      </p:sp>
      <p:sp>
        <p:nvSpPr>
          <p:cNvPr id="6" name="">
            <a:extLst xmlns:a="http://schemas.openxmlformats.org/drawingml/2006/main">
              <a:ext uri="{FF2B5EF4-FFF2-40B4-BE49-F238E27FC236}">
                <a16:creationId xmlns:a16="http://schemas.microsoft.com/office/drawing/2014/main" id="{81D21F07-3B87-472F-8EEB-84CA88D54F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16</a:t>
            </a:r>
          </a:p>
        </p:txBody>
      </p:sp>
    </p:spTree>
    <p:extLst>
      <p:ext uri="{BB962C8B-B14F-4D97-AF65-F5344CB8AC3E}">
        <p14:creationId xmlns:p14="http://schemas.microsoft.com/office/powerpoint/2010/main" val="37705229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C1286B-190B-46F1-B019-8962B30397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065D19-9E14-4DA3-85DD-E513E9FA91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17E5D7D-4614-451B-B38F-9C749DCCBE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1B772941-9051-4EAB-A5F0-74BE1D9E47B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9D79D2-0984-499D-B705-8A80AAA6073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[1, 1, 0,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[1, 0, 1,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print(truth,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the four categories on paper before calculating.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fn, fp, tn = 1, 1, 1,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print(5 * fn + fp)</a:t>
            </a:r>
          </a:p>
        </p:txBody>
      </p:sp>
      <p:sp>
        <p:nvSpPr>
          <p:cNvPr id="6" name="">
            <a:extLst xmlns:a="http://schemas.openxmlformats.org/drawingml/2006/main">
              <a:ext uri="{FF2B5EF4-FFF2-40B4-BE49-F238E27FC236}">
                <a16:creationId xmlns:a16="http://schemas.microsoft.com/office/drawing/2014/main" id="{9212AC48-2A10-485B-A179-96A12AEAB5B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CF2DAB10-0BEE-4E73-B8BE-0522221A157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C938A030-0A9D-4F3E-BB75-4754FE0020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17</a:t>
            </a:r>
          </a:p>
        </p:txBody>
      </p:sp>
    </p:spTree>
    <p:extLst>
      <p:ext uri="{BB962C8B-B14F-4D97-AF65-F5344CB8AC3E}">
        <p14:creationId xmlns:p14="http://schemas.microsoft.com/office/powerpoint/2010/main" val="114061258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ADF7D13-5385-4158-A106-E360B84D9F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1A2C87-4C09-45CB-88B1-B248ED27EA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76932D0A-B3A9-4312-B1EC-7793B1DC43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1288F20E-E935-4496-9467-83BEBE72927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A21AD6-CB12-4D60-804D-1EF44C081A3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Four paired rows, then precision 0.5, recall 0.5 and teaching cost 6.</a:t>
            </a:r>
          </a:p>
        </p:txBody>
      </p:sp>
      <p:sp>
        <p:nvSpPr>
          <p:cNvPr id="6" name="">
            <a:extLst xmlns:a="http://schemas.openxmlformats.org/drawingml/2006/main">
              <a:ext uri="{FF2B5EF4-FFF2-40B4-BE49-F238E27FC236}">
                <a16:creationId xmlns:a16="http://schemas.microsoft.com/office/drawing/2014/main" id="{8801F7DB-E4D7-4856-AE29-515606665A54}"/>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7A8F56EE-BA31-43F0-9E1C-E546F4E246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18</a:t>
            </a:r>
          </a:p>
        </p:txBody>
      </p:sp>
    </p:spTree>
    <p:extLst>
      <p:ext uri="{BB962C8B-B14F-4D97-AF65-F5344CB8AC3E}">
        <p14:creationId xmlns:p14="http://schemas.microsoft.com/office/powerpoint/2010/main" val="22594347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A49A2A6-0026-40C9-B202-9D01E65766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44CA1D-7F24-4782-9D29-A06AA1D688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ADE3C6-D8CD-46AF-A6AC-EA3C694BBA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arbitrary paired observations</a:t>
            </a:r>
          </a:p>
        </p:txBody>
      </p:sp>
      <p:sp>
        <p:nvSpPr>
          <p:cNvPr id="4" name="">
            <a:extLst xmlns:a="http://schemas.openxmlformats.org/drawingml/2006/main">
              <a:ext uri="{FF2B5EF4-FFF2-40B4-BE49-F238E27FC236}">
                <a16:creationId xmlns:a16="http://schemas.microsoft.com/office/drawing/2014/main" id="{366E0AE8-62B6-4AB7-BF2C-BFF5FA2BAF5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B4C1C6-2A35-4128-A26F-DC1555B25CD1}"/>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Start every counter at zero before the loop. == compares labels. and means both comparisons must be true. elif checks another condition only when earlier ones were false.</a:t>
            </a:r>
          </a:p>
        </p:txBody>
      </p:sp>
      <p:sp>
        <p:nvSpPr>
          <p:cNvPr id="6" name="">
            <a:extLst xmlns:a="http://schemas.openxmlformats.org/drawingml/2006/main">
              <a:ext uri="{FF2B5EF4-FFF2-40B4-BE49-F238E27FC236}">
                <a16:creationId xmlns:a16="http://schemas.microsoft.com/office/drawing/2014/main" id="{B3986321-B1A9-4370-A03F-4A0230D98E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19</a:t>
            </a:r>
          </a:p>
        </p:txBody>
      </p:sp>
    </p:spTree>
    <p:extLst>
      <p:ext uri="{BB962C8B-B14F-4D97-AF65-F5344CB8AC3E}">
        <p14:creationId xmlns:p14="http://schemas.microsoft.com/office/powerpoint/2010/main" val="26617766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3804BAA-6E38-473A-A661-D12F74B837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5E888C-91A3-4017-A6A6-002012DBD1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46F4BF0-49C7-41C9-9C84-2112B6AB8E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(1/3)</a:t>
            </a:r>
          </a:p>
        </p:txBody>
      </p:sp>
      <p:sp>
        <p:nvSpPr>
          <p:cNvPr id="4" name="">
            <a:extLst xmlns:a="http://schemas.openxmlformats.org/drawingml/2006/main">
              <a:ext uri="{FF2B5EF4-FFF2-40B4-BE49-F238E27FC236}">
                <a16:creationId xmlns:a16="http://schemas.microsoft.com/office/drawing/2014/main" id="{8373A06E-F836-48D7-82B6-61D1DEACBAF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1EDF69-7A29-41DB-BCDC-1B444F78419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 tn = fp = fn = 0</a:t>
            </a:r>
          </a:p>
        </p:txBody>
      </p:sp>
      <p:sp>
        <p:nvSpPr>
          <p:cNvPr id="6" name="">
            <a:extLst xmlns:a="http://schemas.openxmlformats.org/drawingml/2006/main">
              <a:ext uri="{FF2B5EF4-FFF2-40B4-BE49-F238E27FC236}">
                <a16:creationId xmlns:a16="http://schemas.microsoft.com/office/drawing/2014/main" id="{2093C20C-D9BB-4385-B277-62356552393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71E6CC6-635A-49C6-97A2-0065F01204F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8" name="">
            <a:extLst xmlns:a="http://schemas.openxmlformats.org/drawingml/2006/main">
              <a:ext uri="{FF2B5EF4-FFF2-40B4-BE49-F238E27FC236}">
                <a16:creationId xmlns:a16="http://schemas.microsoft.com/office/drawing/2014/main" id="{6288EACA-3FB9-48BA-9396-81351869E89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9" name="">
            <a:extLst xmlns:a="http://schemas.openxmlformats.org/drawingml/2006/main">
              <a:ext uri="{FF2B5EF4-FFF2-40B4-BE49-F238E27FC236}">
                <a16:creationId xmlns:a16="http://schemas.microsoft.com/office/drawing/2014/main" id="{2A0F507D-04F1-4E66-8978-FFBB8E9569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20</a:t>
            </a:r>
          </a:p>
        </p:txBody>
      </p:sp>
    </p:spTree>
    <p:extLst>
      <p:ext uri="{BB962C8B-B14F-4D97-AF65-F5344CB8AC3E}">
        <p14:creationId xmlns:p14="http://schemas.microsoft.com/office/powerpoint/2010/main" val="49914634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8116854-D7F1-4FFD-99FB-628968085F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A43692-C226-49DD-8108-44D5FBA2F9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6570E2B-F812-4B3B-8488-2C79D4B981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(2/3)</a:t>
            </a:r>
          </a:p>
        </p:txBody>
      </p:sp>
      <p:sp>
        <p:nvSpPr>
          <p:cNvPr id="4" name="">
            <a:extLst xmlns:a="http://schemas.openxmlformats.org/drawingml/2006/main">
              <a:ext uri="{FF2B5EF4-FFF2-40B4-BE49-F238E27FC236}">
                <a16:creationId xmlns:a16="http://schemas.microsoft.com/office/drawing/2014/main" id="{EFAB4D04-B16B-4DE0-AEEF-2A1F5CCADA3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78E9DE-A016-4B0A-92B7-1BB3A91A7F8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if</a:t>
            </a:r>
            <a:r>
              <a:rPr sz="1944" b="0">
                <a:solidFill>
                  <a:srgbClr val="F4F7FA"/>
                </a:solidFill>
                <a:latin typeface="Courier New"/>
                <a:ea typeface="Courier New"/>
                <a:cs typeface="Courier New"/>
              </a:rPr>
              <a:t> truth == 1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elif</a:t>
            </a:r>
            <a:r>
              <a:rPr sz="1944" b="0">
                <a:solidFill>
                  <a:srgbClr val="F4F7FA"/>
                </a:solidFill>
                <a:latin typeface="Courier New"/>
                <a:ea typeface="Courier New"/>
                <a:cs typeface="Courier New"/>
              </a:rPr>
              <a:t> truth == 0 and guess == 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tn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elif truth == 0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else</a:t>
            </a:r>
            <a:r>
              <a:rPr sz="1944" b="0">
                <a:solidFill>
                  <a:srgbClr val="F4F7FA"/>
                </a:solidFill>
                <a:latin typeface="Courier New"/>
                <a:ea typeface="Courier New"/>
                <a:cs typeface="Courier New"/>
              </a:rPr>
              <a:t>:</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fn += 1</a:t>
            </a:r>
          </a:p>
        </p:txBody>
      </p:sp>
      <p:sp>
        <p:nvSpPr>
          <p:cNvPr id="6" name="">
            <a:extLst xmlns:a="http://schemas.openxmlformats.org/drawingml/2006/main">
              <a:ext uri="{FF2B5EF4-FFF2-40B4-BE49-F238E27FC236}">
                <a16:creationId xmlns:a16="http://schemas.microsoft.com/office/drawing/2014/main" id="{EFB687EE-BE8B-4B4C-B652-BC85877F3DF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960DD6A-73AE-4ED2-8959-240826F2C4C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F5405E03-5DF7-43C8-A829-486D422D3A2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76442C90-0753-4587-9C8C-46F6D943442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4B45D34D-C4C6-497D-A46E-4E29F242C29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52DA109E-C577-4BAC-B521-A1FCF607C2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21</a:t>
            </a:r>
          </a:p>
        </p:txBody>
      </p:sp>
    </p:spTree>
    <p:extLst>
      <p:ext uri="{BB962C8B-B14F-4D97-AF65-F5344CB8AC3E}">
        <p14:creationId xmlns:p14="http://schemas.microsoft.com/office/powerpoint/2010/main" val="107241691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626D306-8B27-4A0D-B77D-28EFEB039C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10FFDD-46E7-47F3-91CE-7F2BAEA8D3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CD9612C-ECA8-44C2-9308-292B7D38C1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(3/3)</a:t>
            </a:r>
          </a:p>
        </p:txBody>
      </p:sp>
      <p:sp>
        <p:nvSpPr>
          <p:cNvPr id="4" name="">
            <a:extLst xmlns:a="http://schemas.openxmlformats.org/drawingml/2006/main">
              <a:ext uri="{FF2B5EF4-FFF2-40B4-BE49-F238E27FC236}">
                <a16:creationId xmlns:a16="http://schemas.microsoft.com/office/drawing/2014/main" id="{72AD4A04-A9B9-42A2-B385-1E9BD0808FB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CBFA8B-2FE0-4709-8147-CDAB584E28C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tn, fp, fn)</a:t>
            </a:r>
          </a:p>
        </p:txBody>
      </p:sp>
      <p:sp>
        <p:nvSpPr>
          <p:cNvPr id="6" name="">
            <a:extLst xmlns:a="http://schemas.openxmlformats.org/drawingml/2006/main">
              <a:ext uri="{FF2B5EF4-FFF2-40B4-BE49-F238E27FC236}">
                <a16:creationId xmlns:a16="http://schemas.microsoft.com/office/drawing/2014/main" id="{2D35F9E0-14F4-41AD-BEAB-AED6FB212F8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08CE098-C49A-452E-9967-3678392470D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DFC6D7C9-A13B-4869-AE30-356B257594A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FDD1665B-036F-40D4-8D89-4E42D382D3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22</a:t>
            </a:r>
          </a:p>
        </p:txBody>
      </p:sp>
    </p:spTree>
    <p:extLst>
      <p:ext uri="{BB962C8B-B14F-4D97-AF65-F5344CB8AC3E}">
        <p14:creationId xmlns:p14="http://schemas.microsoft.com/office/powerpoint/2010/main" val="162524659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D07A82D-5E62-4210-8E6D-190BE293AB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868FD3-4916-42E9-A77C-F0C1F60AA1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AAE0B6A7-DCB6-411E-9E4C-F5892D7676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confusion matrix</a:t>
            </a:r>
          </a:p>
        </p:txBody>
      </p:sp>
      <p:sp>
        <p:nvSpPr>
          <p:cNvPr id="4" name="">
            <a:extLst xmlns:a="http://schemas.openxmlformats.org/drawingml/2006/main">
              <a:ext uri="{FF2B5EF4-FFF2-40B4-BE49-F238E27FC236}">
                <a16:creationId xmlns:a16="http://schemas.microsoft.com/office/drawing/2014/main" id="{48629257-C16E-4947-B04D-EC3EF276DB86}"/>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39D5A25-D8CF-4DC0-8B42-400E806F281F}"/>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four paired cards: (actual 1, predicted 1), (1,0), (0,1), (0,0).</a:t>
            </a:r>
          </a:p>
        </p:txBody>
      </p:sp>
      <p:sp>
        <p:nvSpPr>
          <p:cNvPr id="6" name="">
            <a:extLst xmlns:a="http://schemas.openxmlformats.org/drawingml/2006/main">
              <a:ext uri="{FF2B5EF4-FFF2-40B4-BE49-F238E27FC236}">
                <a16:creationId xmlns:a16="http://schemas.microsoft.com/office/drawing/2014/main" id="{1810B0C2-2DB2-4C89-839D-992AA7518D33}"/>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10E4B9-A079-4420-9657-005F81890630}"/>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each into TP, FN, FP or TN. Read the actual label first.</a:t>
            </a:r>
          </a:p>
        </p:txBody>
      </p:sp>
      <p:sp>
        <p:nvSpPr>
          <p:cNvPr id="8" name="">
            <a:extLst xmlns:a="http://schemas.openxmlformats.org/drawingml/2006/main">
              <a:ext uri="{FF2B5EF4-FFF2-40B4-BE49-F238E27FC236}">
                <a16:creationId xmlns:a16="http://schemas.microsoft.com/office/drawing/2014/main" id="{3C87CE41-5B59-4681-BCF1-C4D5193CC3B9}"/>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33BE17-63B1-4B34-B30C-5E381A6CC940}"/>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the four cells. Then calculate precision and recall.</a:t>
            </a:r>
          </a:p>
        </p:txBody>
      </p:sp>
      <p:sp>
        <p:nvSpPr>
          <p:cNvPr id="10" name="">
            <a:extLst xmlns:a="http://schemas.openxmlformats.org/drawingml/2006/main">
              <a:ext uri="{FF2B5EF4-FFF2-40B4-BE49-F238E27FC236}">
                <a16:creationId xmlns:a16="http://schemas.microsoft.com/office/drawing/2014/main" id="{5879DC0B-C2E2-48B2-85AD-517802A477A8}"/>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7F8CE44-3583-4596-A96B-89B9DF87BFB2}"/>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4653F6DE-A001-41DA-819C-92A9F8D7AC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23</a:t>
            </a:r>
          </a:p>
        </p:txBody>
      </p:sp>
    </p:spTree>
    <p:extLst>
      <p:ext uri="{BB962C8B-B14F-4D97-AF65-F5344CB8AC3E}">
        <p14:creationId xmlns:p14="http://schemas.microsoft.com/office/powerpoint/2010/main" val="44632769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AD6320-8917-43E4-8E77-F755E252C9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C14D05-529B-438D-A82C-A61C6D3D0B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21D02328-E550-470E-9895-DD76DD1369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AAE0F10E-FD7D-48CB-99BB-E5271E590416}"/>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66F955-432B-4243-98C1-607CD4CF6BE9}"/>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Each cell contains one card. Precision = 1 / 2 and recall = 1 / 2. The denominators count different sets of warnings.</a:t>
            </a:r>
          </a:p>
        </p:txBody>
      </p:sp>
      <p:sp>
        <p:nvSpPr>
          <p:cNvPr id="6" name="">
            <a:extLst xmlns:a="http://schemas.openxmlformats.org/drawingml/2006/main">
              <a:ext uri="{FF2B5EF4-FFF2-40B4-BE49-F238E27FC236}">
                <a16:creationId xmlns:a16="http://schemas.microsoft.com/office/drawing/2014/main" id="{10FFD979-911E-425B-883C-8A95B494EBF4}"/>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C25BCC8-C0B5-4047-87F7-33C91D986D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24</a:t>
            </a:r>
          </a:p>
        </p:txBody>
      </p:sp>
    </p:spTree>
    <p:extLst>
      <p:ext uri="{BB962C8B-B14F-4D97-AF65-F5344CB8AC3E}">
        <p14:creationId xmlns:p14="http://schemas.microsoft.com/office/powerpoint/2010/main" val="107168193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BDF41B7-D935-403F-9970-B1A22B5385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AB7203-7F7C-494B-8DF1-2F6510486A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C591C5D-7418-40FE-B569-4C80D130EA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Probability and a decision threshold</a:t>
            </a:r>
          </a:p>
        </p:txBody>
      </p:sp>
      <p:sp>
        <p:nvSpPr>
          <p:cNvPr id="4" name="">
            <a:extLst xmlns:a="http://schemas.openxmlformats.org/drawingml/2006/main">
              <a:ext uri="{FF2B5EF4-FFF2-40B4-BE49-F238E27FC236}">
                <a16:creationId xmlns:a16="http://schemas.microsoft.com/office/drawing/2014/main" id="{7D3EB2CD-8A9D-4C7D-815C-E3CBCC3B902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997B51-5F21-4E30-904B-9B9785ECFB0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Probability</a:t>
            </a:r>
          </a:p>
        </p:txBody>
      </p:sp>
      <p:sp>
        <p:nvSpPr>
          <p:cNvPr id="6" name="">
            <a:extLst xmlns:a="http://schemas.openxmlformats.org/drawingml/2006/main">
              <a:ext uri="{FF2B5EF4-FFF2-40B4-BE49-F238E27FC236}">
                <a16:creationId xmlns:a16="http://schemas.microsoft.com/office/drawing/2014/main" id="{C3FA2222-D4A5-4F7E-9657-E75785CAA1C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probability is between 0 and 1. Multiply by 100 for percent: 0.7 is 70%. A model’s probability is an estimate that needs checking.</a:t>
            </a:r>
          </a:p>
        </p:txBody>
      </p:sp>
      <p:sp>
        <p:nvSpPr>
          <p:cNvPr id="7" name="">
            <a:extLst xmlns:a="http://schemas.openxmlformats.org/drawingml/2006/main">
              <a:ext uri="{FF2B5EF4-FFF2-40B4-BE49-F238E27FC236}">
                <a16:creationId xmlns:a16="http://schemas.microsoft.com/office/drawing/2014/main" id="{7FAE0C95-2243-4BC4-9CE1-C89A30DD8A61}"/>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0C8B9A7-63B2-4806-B4CF-AE55AC50658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Threshold</a:t>
            </a:r>
          </a:p>
        </p:txBody>
      </p:sp>
      <p:sp>
        <p:nvSpPr>
          <p:cNvPr id="9" name="">
            <a:extLst xmlns:a="http://schemas.openxmlformats.org/drawingml/2006/main">
              <a:ext uri="{FF2B5EF4-FFF2-40B4-BE49-F238E27FC236}">
                <a16:creationId xmlns:a16="http://schemas.microsoft.com/office/drawing/2014/main" id="{09141640-A85A-4B1C-9DD3-E90B584F0E1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threshold turns a score into a decision. For a rule score &gt;= 0.5, a score of 0.7 gives class 1. Use validation data to choose the threshold.</a:t>
            </a:r>
          </a:p>
        </p:txBody>
      </p:sp>
      <p:sp>
        <p:nvSpPr>
          <p:cNvPr id="10" name="">
            <a:extLst xmlns:a="http://schemas.openxmlformats.org/drawingml/2006/main">
              <a:ext uri="{FF2B5EF4-FFF2-40B4-BE49-F238E27FC236}">
                <a16:creationId xmlns:a16="http://schemas.microsoft.com/office/drawing/2014/main" id="{26183C2E-0597-44C3-8917-220E14F7AE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25</a:t>
            </a:r>
          </a:p>
        </p:txBody>
      </p:sp>
    </p:spTree>
    <p:extLst>
      <p:ext uri="{BB962C8B-B14F-4D97-AF65-F5344CB8AC3E}">
        <p14:creationId xmlns:p14="http://schemas.microsoft.com/office/powerpoint/2010/main" val="178274242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EC9CFE-4C7B-4269-971D-70BE1CAE81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CCF799-9222-4065-8436-F7909BCEEC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62D4BE-4C0B-4D2D-B01A-94830040D0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decision can use a probability</a:t>
            </a:r>
          </a:p>
        </p:txBody>
      </p:sp>
      <p:sp>
        <p:nvSpPr>
          <p:cNvPr id="4" name="">
            <a:extLst xmlns:a="http://schemas.openxmlformats.org/drawingml/2006/main">
              <a:ext uri="{FF2B5EF4-FFF2-40B4-BE49-F238E27FC236}">
                <a16:creationId xmlns:a16="http://schemas.microsoft.com/office/drawing/2014/main" id="{CC9AC01F-7F53-4DC1-8C28-C9F93228415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4FBE9B-9C59-484B-A04E-A77A09E8922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classifier may estimate the probability of class 1.</a:t>
            </a:r>
          </a:p>
        </p:txBody>
      </p:sp>
      <p:sp>
        <p:nvSpPr>
          <p:cNvPr id="6" name="">
            <a:extLst xmlns:a="http://schemas.openxmlformats.org/drawingml/2006/main">
              <a:ext uri="{FF2B5EF4-FFF2-40B4-BE49-F238E27FC236}">
                <a16:creationId xmlns:a16="http://schemas.microsoft.com/office/drawing/2014/main" id="{19A1DECB-120F-48CB-9254-856DFCD240C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8E8FD9-6580-48FA-8D50-4655D4B82D7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threshold converts that estimate into warning or no warning.</a:t>
            </a:r>
          </a:p>
        </p:txBody>
      </p:sp>
      <p:sp>
        <p:nvSpPr>
          <p:cNvPr id="8" name="">
            <a:extLst xmlns:a="http://schemas.openxmlformats.org/drawingml/2006/main">
              <a:ext uri="{FF2B5EF4-FFF2-40B4-BE49-F238E27FC236}">
                <a16:creationId xmlns:a16="http://schemas.microsoft.com/office/drawing/2014/main" id="{78F190BD-359A-4326-9130-79D4B42D901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2AA39F6-AF91-40F1-A08F-545A80FFA84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Logistic regression is a classification model. Its probability estimates still need evaluation.</a:t>
            </a:r>
          </a:p>
        </p:txBody>
      </p:sp>
      <p:sp>
        <p:nvSpPr>
          <p:cNvPr id="10" name="">
            <a:extLst xmlns:a="http://schemas.openxmlformats.org/drawingml/2006/main">
              <a:ext uri="{FF2B5EF4-FFF2-40B4-BE49-F238E27FC236}">
                <a16:creationId xmlns:a16="http://schemas.microsoft.com/office/drawing/2014/main" id="{C06664D2-8586-457D-B71B-4B1E8CD108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26</a:t>
            </a:r>
          </a:p>
        </p:txBody>
      </p:sp>
    </p:spTree>
    <p:extLst>
      <p:ext uri="{BB962C8B-B14F-4D97-AF65-F5344CB8AC3E}">
        <p14:creationId xmlns:p14="http://schemas.microsoft.com/office/powerpoint/2010/main" val="208923220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E9859D-76BD-4D01-BCDE-55CAFB4D74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613FAA8-FA2E-4472-9299-DA1B8D791E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23709D-6D6E-4EEF-9662-286A521B4F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Probability and a warning decision</a:t>
            </a:r>
          </a:p>
        </p:txBody>
      </p:sp>
      <p:sp>
        <p:nvSpPr>
          <p:cNvPr id="4" name="">
            <a:extLst xmlns:a="http://schemas.openxmlformats.org/drawingml/2006/main">
              <a:ext uri="{FF2B5EF4-FFF2-40B4-BE49-F238E27FC236}">
                <a16:creationId xmlns:a16="http://schemas.microsoft.com/office/drawing/2014/main" id="{17F85FE2-8C7B-4077-B095-01E48C8489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00EC148-E244-49CE-A5B7-7D05C07D7F1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predicted probability of 0.7 means an estimated 70% chance of class 1.</a:t>
            </a:r>
          </a:p>
        </p:txBody>
      </p:sp>
      <p:sp>
        <p:nvSpPr>
          <p:cNvPr id="6" name="">
            <a:extLst xmlns:a="http://schemas.openxmlformats.org/drawingml/2006/main">
              <a:ext uri="{FF2B5EF4-FFF2-40B4-BE49-F238E27FC236}">
                <a16:creationId xmlns:a16="http://schemas.microsoft.com/office/drawing/2014/main" id="{83F55A03-4EC3-480D-B564-974F52BF510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24A8C9-26FF-4360-BB2E-01496ABBA15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a threshold of 0.5, 0.7 produces warning 1.</a:t>
            </a:r>
          </a:p>
        </p:txBody>
      </p:sp>
      <p:sp>
        <p:nvSpPr>
          <p:cNvPr id="8" name="">
            <a:extLst xmlns:a="http://schemas.openxmlformats.org/drawingml/2006/main">
              <a:ext uri="{FF2B5EF4-FFF2-40B4-BE49-F238E27FC236}">
                <a16:creationId xmlns:a16="http://schemas.microsoft.com/office/drawing/2014/main" id="{811A8E70-3ECE-4F8C-A054-00DD93B9C96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55E5643-C439-4C03-8E2F-A592E920F83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probability is an estimate. It needs evaluation and may be poorly calibrated.</a:t>
            </a:r>
          </a:p>
        </p:txBody>
      </p:sp>
      <p:sp>
        <p:nvSpPr>
          <p:cNvPr id="10" name="">
            <a:extLst xmlns:a="http://schemas.openxmlformats.org/drawingml/2006/main">
              <a:ext uri="{FF2B5EF4-FFF2-40B4-BE49-F238E27FC236}">
                <a16:creationId xmlns:a16="http://schemas.microsoft.com/office/drawing/2014/main" id="{9E341AA0-C60A-4371-A5BC-A2EFF67704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27</a:t>
            </a:r>
          </a:p>
        </p:txBody>
      </p:sp>
    </p:spTree>
    <p:extLst>
      <p:ext uri="{BB962C8B-B14F-4D97-AF65-F5344CB8AC3E}">
        <p14:creationId xmlns:p14="http://schemas.microsoft.com/office/powerpoint/2010/main" val="156787855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95C2737-47FB-4422-B929-47F5BAB776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D188F7-25B1-485F-9C7D-FA0D07A115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AF33909-E964-49CF-A171-C2DED91CF9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Represent a category with indicators</a:t>
            </a:r>
          </a:p>
        </p:txBody>
      </p:sp>
      <p:sp>
        <p:nvSpPr>
          <p:cNvPr id="4" name="">
            <a:extLst xmlns:a="http://schemas.openxmlformats.org/drawingml/2006/main">
              <a:ext uri="{FF2B5EF4-FFF2-40B4-BE49-F238E27FC236}">
                <a16:creationId xmlns:a16="http://schemas.microsoft.com/office/drawing/2014/main" id="{7CBA3E87-4AB6-4B9F-AAEF-0957EE973AA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FF026F-263C-44CF-A588-584C8548450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Category</a:t>
            </a:r>
          </a:p>
        </p:txBody>
      </p:sp>
      <p:sp>
        <p:nvSpPr>
          <p:cNvPr id="6" name="">
            <a:extLst xmlns:a="http://schemas.openxmlformats.org/drawingml/2006/main">
              <a:ext uri="{FF2B5EF4-FFF2-40B4-BE49-F238E27FC236}">
                <a16:creationId xmlns:a16="http://schemas.microsoft.com/office/drawing/2014/main" id="{DF937A4C-4F56-4EC9-9547-F72979BBE1C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category is a label such as steel or timber. Its name does not imply a numerical size or rank.</a:t>
            </a:r>
          </a:p>
        </p:txBody>
      </p:sp>
      <p:sp>
        <p:nvSpPr>
          <p:cNvPr id="7" name="">
            <a:extLst xmlns:a="http://schemas.openxmlformats.org/drawingml/2006/main">
              <a:ext uri="{FF2B5EF4-FFF2-40B4-BE49-F238E27FC236}">
                <a16:creationId xmlns:a16="http://schemas.microsoft.com/office/drawing/2014/main" id="{F5777541-6083-420A-99D1-BFAFA0C47C7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76BDE62-A0B0-432B-BE90-47B4F6CCBB7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One-hot indicator</a:t>
            </a:r>
          </a:p>
        </p:txBody>
      </p:sp>
      <p:sp>
        <p:nvSpPr>
          <p:cNvPr id="9" name="">
            <a:extLst xmlns:a="http://schemas.openxmlformats.org/drawingml/2006/main">
              <a:ext uri="{FF2B5EF4-FFF2-40B4-BE49-F238E27FC236}">
                <a16:creationId xmlns:a16="http://schemas.microsoft.com/office/drawing/2014/main" id="{B3DCAE8D-64C6-453A-AF94-236C8E7DE72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Create a column for each category. Its entry is 1 when the row has that category and 0 otherwise. Learn the allowed categories from training data.</a:t>
            </a:r>
          </a:p>
        </p:txBody>
      </p:sp>
      <p:sp>
        <p:nvSpPr>
          <p:cNvPr id="10" name="">
            <a:extLst xmlns:a="http://schemas.openxmlformats.org/drawingml/2006/main">
              <a:ext uri="{FF2B5EF4-FFF2-40B4-BE49-F238E27FC236}">
                <a16:creationId xmlns:a16="http://schemas.microsoft.com/office/drawing/2014/main" id="{ADC20A15-10D3-4DE5-9468-3637AA96B5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28</a:t>
            </a:r>
          </a:p>
        </p:txBody>
      </p:sp>
    </p:spTree>
    <p:extLst>
      <p:ext uri="{BB962C8B-B14F-4D97-AF65-F5344CB8AC3E}">
        <p14:creationId xmlns:p14="http://schemas.microsoft.com/office/powerpoint/2010/main" val="99493074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6254BB4-72CC-4133-9BA5-595E697539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8966BE-9671-4DD9-BE17-4FDF8B6898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BF23350-0CA1-4481-91CE-B4C52A48DA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can become indicator columns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Material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is_steel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is_timber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steel</a:t>
                      </a:r>
                    </a:p>
                  </a:txBody>
                  <a:tcPr marL="91440" marR="91440" marT="45720" marB="45720">
                    <a:solidFill>
                      <a:srgbClr val="EEF3F6"/>
                    </a:solidFill>
                  </a:tcPr>
                </a:tc>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timber</a:t>
                      </a:r>
                    </a:p>
                  </a:txBody>
                  <a:tcPr marL="91440" marR="91440" marT="45720" marB="45720">
                    <a:solidFill>
                      <a:srgbClr val="FFFFFF"/>
                    </a:solidFill>
                  </a:tcPr>
                </a:tc>
                <a:tc>
                  <a:txBody>
                    <a:bodyPr/>
                    <a:lstStyle/>
                    <a:p>
                      <a:r>
                        <a:rPr sz="2025" b="0">
                          <a:solidFill>
                            <a:srgbClr val="1C3144"/>
                          </a:solidFill>
                          <a:latin typeface="Calibri"/>
                          <a:ea typeface="Calibri"/>
                          <a:cs typeface="Calibri"/>
                        </a:rPr>
                        <a:t>0</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9EBF4CA-AA05-456B-8A63-FE66F6264856}"/>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indicator is 1 when its category applies and 0 otherwise. Fit the encoder on training data.</a:t>
            </a:r>
          </a:p>
        </p:txBody>
      </p:sp>
      <p:sp>
        <p:nvSpPr>
          <p:cNvPr id="6" name="">
            <a:extLst xmlns:a="http://schemas.openxmlformats.org/drawingml/2006/main">
              <a:ext uri="{FF2B5EF4-FFF2-40B4-BE49-F238E27FC236}">
                <a16:creationId xmlns:a16="http://schemas.microsoft.com/office/drawing/2014/main" id="{65137EF3-D6CD-46BA-A335-BB47069071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29</a:t>
            </a:r>
          </a:p>
        </p:txBody>
      </p:sp>
    </p:spTree>
    <p:extLst>
      <p:ext uri="{BB962C8B-B14F-4D97-AF65-F5344CB8AC3E}">
        <p14:creationId xmlns:p14="http://schemas.microsoft.com/office/powerpoint/2010/main" val="137972797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7C6E5C-CD7A-48D5-A30E-DDB24574B0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7F2B95-F8EE-40B7-ADF1-E5C9D1CAA6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3AA74E2-7686-4A74-9304-58E11EB907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Accuracy can hide missed warnings</a:t>
            </a:r>
          </a:p>
        </p:txBody>
      </p:sp>
      <p:sp>
        <p:nvSpPr>
          <p:cNvPr id="4" name="">
            <a:extLst xmlns:a="http://schemas.openxmlformats.org/drawingml/2006/main">
              <a:ext uri="{FF2B5EF4-FFF2-40B4-BE49-F238E27FC236}">
                <a16:creationId xmlns:a16="http://schemas.microsoft.com/office/drawing/2014/main" id="{37630C7E-F69D-4B5C-B9AA-FD694A1D9E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5CF91B-3876-441A-BBB3-58E0D3B5933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Accuracy = number of correct labels / number of labels. It counts correct warnings and correct non-warnings together.</a:t>
            </a:r>
          </a:p>
        </p:txBody>
      </p:sp>
      <p:sp>
        <p:nvSpPr>
          <p:cNvPr id="6" name="">
            <a:extLst xmlns:a="http://schemas.openxmlformats.org/drawingml/2006/main">
              <a:ext uri="{FF2B5EF4-FFF2-40B4-BE49-F238E27FC236}">
                <a16:creationId xmlns:a16="http://schemas.microsoft.com/office/drawing/2014/main" id="{B6D31881-4633-40B0-821B-5444DC3EC42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1BBD27A-D3DB-44DD-A1A1-6EB6FC2A145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90 of 100 cases need no warning, predicting no warning every time gives 90% accuracy. It detects none of the 10 real warnings: recall is 0.</a:t>
            </a:r>
          </a:p>
        </p:txBody>
      </p:sp>
      <p:sp>
        <p:nvSpPr>
          <p:cNvPr id="8" name="">
            <a:extLst xmlns:a="http://schemas.openxmlformats.org/drawingml/2006/main">
              <a:ext uri="{FF2B5EF4-FFF2-40B4-BE49-F238E27FC236}">
                <a16:creationId xmlns:a16="http://schemas.microsoft.com/office/drawing/2014/main" id="{696476F2-A053-454F-9B67-6978B48BB31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3A6D02-69BE-4743-86BB-CD3A7C73296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Always inspect the actual/predicted counts and relevant costs before calling a classifier useful.</a:t>
            </a:r>
          </a:p>
        </p:txBody>
      </p:sp>
      <p:sp>
        <p:nvSpPr>
          <p:cNvPr id="10" name="">
            <a:extLst xmlns:a="http://schemas.openxmlformats.org/drawingml/2006/main">
              <a:ext uri="{FF2B5EF4-FFF2-40B4-BE49-F238E27FC236}">
                <a16:creationId xmlns:a16="http://schemas.microsoft.com/office/drawing/2014/main" id="{DCB31825-BC31-45DE-810F-8B3C2B254C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30</a:t>
            </a:r>
          </a:p>
        </p:txBody>
      </p:sp>
    </p:spTree>
    <p:extLst>
      <p:ext uri="{BB962C8B-B14F-4D97-AF65-F5344CB8AC3E}">
        <p14:creationId xmlns:p14="http://schemas.microsoft.com/office/powerpoint/2010/main" val="1894253362"/>
      </p:ext>
    </p:extLst>
  </p:cSld>
</p:sld>
</file>

<file path=ppt/slides/slide3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AC426D7-83E1-44B9-8F35-E4F5041789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D8CCD104-C5FA-454F-9394-265DBFD488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67301031-F4AF-47BF-A1E8-CCB579E3602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D19B091C-BCA9-49D1-B0A7-60ACD91C784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Change the second prediction to 1. Count again. Does this improve both recall and the assumed cost?</a:t>
            </a:r>
          </a:p>
        </p:txBody>
      </p:sp>
      <p:sp>
        <p:nvSpPr>
          <p:cNvPr id="5" name="">
            <a:extLst xmlns:a="http://schemas.openxmlformats.org/drawingml/2006/main">
              <a:ext uri="{FF2B5EF4-FFF2-40B4-BE49-F238E27FC236}">
                <a16:creationId xmlns:a16="http://schemas.microsoft.com/office/drawing/2014/main" id="{8FA8A6F9-C907-4162-B05B-E4C88A6E0BE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BDB7CA89-FE1A-49F6-AF4E-71F907B384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9   31</a:t>
            </a:r>
          </a:p>
        </p:txBody>
      </p:sp>
    </p:spTree>
    <p:extLst>
      <p:ext uri="{BB962C8B-B14F-4D97-AF65-F5344CB8AC3E}">
        <p14:creationId xmlns:p14="http://schemas.microsoft.com/office/powerpoint/2010/main" val="61489409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A726DB9-CEC4-4244-8796-6265641B4C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0027DA-41EF-4D6D-8D0A-26BE82BB6A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D974C103-99BC-42E5-8BFA-1BAB8E2634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FB5D4692-BD69-4171-8C66-4155B5226E36}"/>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A2DDB9-2C3C-4161-9152-29C483CB8FF7}"/>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TP=2, FN=0, FP=1, TN=1. Precision 2/3, recall 1, cost 1. This particular change improves recall and cost.</a:t>
            </a:r>
          </a:p>
        </p:txBody>
      </p:sp>
      <p:sp>
        <p:nvSpPr>
          <p:cNvPr id="6" name="">
            <a:extLst xmlns:a="http://schemas.openxmlformats.org/drawingml/2006/main">
              <a:ext uri="{FF2B5EF4-FFF2-40B4-BE49-F238E27FC236}">
                <a16:creationId xmlns:a16="http://schemas.microsoft.com/office/drawing/2014/main" id="{C523DBC8-971C-4BCB-9C71-5BA1821C9D51}"/>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31EC2BB1-EAC8-4508-BA25-561F2058D2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32</a:t>
            </a:r>
          </a:p>
        </p:txBody>
      </p:sp>
    </p:spTree>
    <p:extLst>
      <p:ext uri="{BB962C8B-B14F-4D97-AF65-F5344CB8AC3E}">
        <p14:creationId xmlns:p14="http://schemas.microsoft.com/office/powerpoint/2010/main" val="94590818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F1D44CE-9068-4E17-8603-4E6F5450A4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901D5E-9C43-48B2-B63A-475CF2447A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B3EECE23-B05E-4586-8D04-AA3BA2427F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41DC4956-409C-4E24-839A-7F86F6DA4E3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027908-1C98-4054-A73A-C51738C64D9D}"/>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6" name="">
            <a:extLst xmlns:a="http://schemas.openxmlformats.org/drawingml/2006/main">
              <a:ext uri="{FF2B5EF4-FFF2-40B4-BE49-F238E27FC236}">
                <a16:creationId xmlns:a16="http://schemas.microsoft.com/office/drawing/2014/main" id="{DD28DA64-3970-4193-B8E2-45EB29F2A4F1}"/>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524384-E0B4-41E1-8E65-8234C9A67CCF}"/>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8" name="">
            <a:extLst xmlns:a="http://schemas.openxmlformats.org/drawingml/2006/main">
              <a:ext uri="{FF2B5EF4-FFF2-40B4-BE49-F238E27FC236}">
                <a16:creationId xmlns:a16="http://schemas.microsoft.com/office/drawing/2014/main" id="{B24F0CC7-D461-4581-8A73-B0C94F42D681}"/>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2D08BF5-46B5-404F-A808-30E2589B1A1E}"/>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0" name="">
            <a:extLst xmlns:a="http://schemas.openxmlformats.org/drawingml/2006/main">
              <a:ext uri="{FF2B5EF4-FFF2-40B4-BE49-F238E27FC236}">
                <a16:creationId xmlns:a16="http://schemas.microsoft.com/office/drawing/2014/main" id="{0DAA09D8-2955-493F-8E51-CE81580EDEE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2F9B934-C94D-45A0-BC15-5C42BD90BE3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ecb6eee37c046e6"/>
              </a:rPr>
              <a:t>Open explainer video</a:t>
            </a:r>
          </a:p>
        </p:txBody>
      </p:sp>
      <p:sp>
        <p:nvSpPr>
          <p:cNvPr id="12" name="">
            <a:extLst xmlns:a="http://schemas.openxmlformats.org/drawingml/2006/main">
              <a:ext uri="{FF2B5EF4-FFF2-40B4-BE49-F238E27FC236}">
                <a16:creationId xmlns:a16="http://schemas.microsoft.com/office/drawing/2014/main" id="{1ADA2EC1-32AC-47A6-B2A7-B2CF1636BA9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3" name="">
            <a:extLst xmlns:a="http://schemas.openxmlformats.org/drawingml/2006/main">
              <a:ext uri="{FF2B5EF4-FFF2-40B4-BE49-F238E27FC236}">
                <a16:creationId xmlns:a16="http://schemas.microsoft.com/office/drawing/2014/main" id="{3C2CAAA4-60D0-4373-9637-A5AA2C7434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33</a:t>
            </a:r>
          </a:p>
        </p:txBody>
      </p:sp>
    </p:spTree>
    <p:extLst>
      <p:ext uri="{BB962C8B-B14F-4D97-AF65-F5344CB8AC3E}">
        <p14:creationId xmlns:p14="http://schemas.microsoft.com/office/powerpoint/2010/main" val="56919615"/>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75050A2-32D0-4605-AA6A-C603C3A1A4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FFDA238F-ED85-4E67-8B44-377B2F27D2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7B97CF47-0059-43B1-B8C2-2AF0EE071A9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90D50C7E-6A25-4C92-82E8-2E1D64CF8DA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Translate the medical example to warning/no-warning and label the axes.</a:t>
            </a:r>
          </a:p>
        </p:txBody>
      </p:sp>
      <p:sp>
        <p:nvSpPr>
          <p:cNvPr id="5" name="">
            <a:extLst xmlns:a="http://schemas.openxmlformats.org/drawingml/2006/main">
              <a:ext uri="{FF2B5EF4-FFF2-40B4-BE49-F238E27FC236}">
                <a16:creationId xmlns:a16="http://schemas.microsoft.com/office/drawing/2014/main" id="{C9E52CF0-BA82-405D-AE3D-1E9BDE203706}"/>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05DBBC71-055F-4D35-8D18-9BA98877F8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9   34</a:t>
            </a:r>
          </a:p>
        </p:txBody>
      </p:sp>
    </p:spTree>
    <p:extLst>
      <p:ext uri="{BB962C8B-B14F-4D97-AF65-F5344CB8AC3E}">
        <p14:creationId xmlns:p14="http://schemas.microsoft.com/office/powerpoint/2010/main" val="179035203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FAB857D-BFAE-46DA-9406-324F87472D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23D056-C452-41F9-9F0B-2C7227EE75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53F0D76-BFCA-4AA3-931D-214913158E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C452E01F-FB18-445A-A13C-18B645F091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20AA58-4DEA-46AD-AE8B-34BBC8E5CA8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Implement classification_metrics on arbitrary paired binary labels, not only the example.</a:t>
            </a:r>
          </a:p>
        </p:txBody>
      </p:sp>
      <p:sp>
        <p:nvSpPr>
          <p:cNvPr id="6" name="">
            <a:extLst xmlns:a="http://schemas.openxmlformats.org/drawingml/2006/main">
              <a:ext uri="{FF2B5EF4-FFF2-40B4-BE49-F238E27FC236}">
                <a16:creationId xmlns:a16="http://schemas.microsoft.com/office/drawing/2014/main" id="{629E0BA6-585A-48CF-99C9-430DF7E31B4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C954CF-526B-4D19-AE4B-3AA411A367B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zero-denominator convention.</a:t>
            </a:r>
          </a:p>
        </p:txBody>
      </p:sp>
      <p:sp>
        <p:nvSpPr>
          <p:cNvPr id="8" name="">
            <a:extLst xmlns:a="http://schemas.openxmlformats.org/drawingml/2006/main">
              <a:ext uri="{FF2B5EF4-FFF2-40B4-BE49-F238E27FC236}">
                <a16:creationId xmlns:a16="http://schemas.microsoft.com/office/drawing/2014/main" id="{94EB795E-95C6-4233-BA7C-952E42789CA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24891E-F15C-4263-B10A-4B3620B1118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supplied W09 comparison separately.</a:t>
            </a:r>
          </a:p>
        </p:txBody>
      </p:sp>
      <p:sp>
        <p:nvSpPr>
          <p:cNvPr id="10" name="">
            <a:extLst xmlns:a="http://schemas.openxmlformats.org/drawingml/2006/main">
              <a:ext uri="{FF2B5EF4-FFF2-40B4-BE49-F238E27FC236}">
                <a16:creationId xmlns:a16="http://schemas.microsoft.com/office/drawing/2014/main" id="{6B72A7A4-3DC7-4EBC-A1B4-4E1A48B08C5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1FCDFA6-64C1-4051-BC1A-EC6BF830DF0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Teacher-written cost assumptions are not approved operating limits.</a:t>
            </a:r>
          </a:p>
        </p:txBody>
      </p:sp>
      <p:sp>
        <p:nvSpPr>
          <p:cNvPr id="12" name="">
            <a:extLst xmlns:a="http://schemas.openxmlformats.org/drawingml/2006/main">
              <a:ext uri="{FF2B5EF4-FFF2-40B4-BE49-F238E27FC236}">
                <a16:creationId xmlns:a16="http://schemas.microsoft.com/office/drawing/2014/main" id="{8C3086DB-9768-4B84-987D-E9B168346E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35</a:t>
            </a:r>
          </a:p>
        </p:txBody>
      </p:sp>
    </p:spTree>
    <p:extLst>
      <p:ext uri="{BB962C8B-B14F-4D97-AF65-F5344CB8AC3E}">
        <p14:creationId xmlns:p14="http://schemas.microsoft.com/office/powerpoint/2010/main" val="65825270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2DA7FF-175B-4A58-A111-3548BC07E9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CA571F-40F3-4A23-93BF-D1E52B3181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0A4A800-184E-4E6F-BCB1-B74FEB7E8F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5CB45640-979A-4C9E-8A65-C50B452381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4B1A7DF-3647-4F86-A45D-8E940FE8FF36}"/>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claimed benefits require real-world evaluation.</a:t>
            </a:r>
          </a:p>
        </p:txBody>
      </p:sp>
      <p:sp>
        <p:nvSpPr>
          <p:cNvPr id="6" name="">
            <a:extLst xmlns:a="http://schemas.openxmlformats.org/drawingml/2006/main">
              <a:ext uri="{FF2B5EF4-FFF2-40B4-BE49-F238E27FC236}">
                <a16:creationId xmlns:a16="http://schemas.microsoft.com/office/drawing/2014/main" id="{FAB8E277-76CB-4B4B-9B02-50FEC111A2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36</a:t>
            </a:r>
          </a:p>
        </p:txBody>
      </p:sp>
    </p:spTree>
    <p:extLst>
      <p:ext uri="{BB962C8B-B14F-4D97-AF65-F5344CB8AC3E}">
        <p14:creationId xmlns:p14="http://schemas.microsoft.com/office/powerpoint/2010/main" val="134228485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5CEF1ED-364E-4FBA-A321-B1CFA9BC3E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2B23F8B-4F7F-42CB-A48B-5F1F07C2EC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6A4452-F539-4B2A-BF5F-B1C2F2BFA7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Category predictions and operating thresholds</a:t>
            </a:r>
          </a:p>
        </p:txBody>
      </p:sp>
      <p:sp>
        <p:nvSpPr>
          <p:cNvPr id="4" name="">
            <a:extLst xmlns:a="http://schemas.openxmlformats.org/drawingml/2006/main">
              <a:ext uri="{FF2B5EF4-FFF2-40B4-BE49-F238E27FC236}">
                <a16:creationId xmlns:a16="http://schemas.microsoft.com/office/drawing/2014/main" id="{C4E4109A-088B-44BE-B41E-5147FC81B6C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2E27E56-8FD0-4F7B-80CB-5D9487F18C7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majority-only classifier can achieve high accuracy while missing the rare class.</a:t>
            </a:r>
          </a:p>
        </p:txBody>
      </p:sp>
      <p:sp>
        <p:nvSpPr>
          <p:cNvPr id="6" name="">
            <a:extLst xmlns:a="http://schemas.openxmlformats.org/drawingml/2006/main">
              <a:ext uri="{FF2B5EF4-FFF2-40B4-BE49-F238E27FC236}">
                <a16:creationId xmlns:a16="http://schemas.microsoft.com/office/drawing/2014/main" id="{73F8DE8E-44BC-481C-B654-F3CFCF3C8F7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4CDAC0-813C-4C78-91AD-B7C8FC159D8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positive class and both confusion-matrix axes.</a:t>
            </a:r>
          </a:p>
        </p:txBody>
      </p:sp>
      <p:sp>
        <p:nvSpPr>
          <p:cNvPr id="8" name="">
            <a:extLst xmlns:a="http://schemas.openxmlformats.org/drawingml/2006/main">
              <a:ext uri="{FF2B5EF4-FFF2-40B4-BE49-F238E27FC236}">
                <a16:creationId xmlns:a16="http://schemas.microsoft.com/office/drawing/2014/main" id="{AD99CD77-9B4C-4FA2-8178-C12889C9E3B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1632FD-65C0-42C4-A076-A32EBE18AB6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model expecting numeric features cannot directly use raw category strings; use numeric indicator columns for categories.</a:t>
            </a:r>
          </a:p>
        </p:txBody>
      </p:sp>
      <p:sp>
        <p:nvSpPr>
          <p:cNvPr id="10" name="">
            <a:extLst xmlns:a="http://schemas.openxmlformats.org/drawingml/2006/main">
              <a:ext uri="{FF2B5EF4-FFF2-40B4-BE49-F238E27FC236}">
                <a16:creationId xmlns:a16="http://schemas.microsoft.com/office/drawing/2014/main" id="{B25F511D-F424-44A7-92C6-EFB6C355ACA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6B83F66-7142-4A28-BB7E-9CF5FDCEFEC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threshold choices on validation data.</a:t>
            </a:r>
          </a:p>
        </p:txBody>
      </p:sp>
      <p:sp>
        <p:nvSpPr>
          <p:cNvPr id="12" name="">
            <a:extLst xmlns:a="http://schemas.openxmlformats.org/drawingml/2006/main">
              <a:ext uri="{FF2B5EF4-FFF2-40B4-BE49-F238E27FC236}">
                <a16:creationId xmlns:a16="http://schemas.microsoft.com/office/drawing/2014/main" id="{DB62D350-394E-4824-98EA-7D87D72DBC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37</a:t>
            </a:r>
          </a:p>
        </p:txBody>
      </p:sp>
    </p:spTree>
    <p:extLst>
      <p:ext uri="{BB962C8B-B14F-4D97-AF65-F5344CB8AC3E}">
        <p14:creationId xmlns:p14="http://schemas.microsoft.com/office/powerpoint/2010/main" val="103506421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05FF0B9-F0B7-4404-8C4B-5AF66DCA7B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48CC43-1745-45D0-BB7A-3B925C8D0B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6BE972A-3B7C-4B5C-9359-45B61C97A4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Category predictions and operating thresholds continued</a:t>
            </a:r>
          </a:p>
        </p:txBody>
      </p:sp>
      <p:sp>
        <p:nvSpPr>
          <p:cNvPr id="4" name="">
            <a:extLst xmlns:a="http://schemas.openxmlformats.org/drawingml/2006/main">
              <a:ext uri="{FF2B5EF4-FFF2-40B4-BE49-F238E27FC236}">
                <a16:creationId xmlns:a16="http://schemas.microsoft.com/office/drawing/2014/main" id="{43066EF6-1E07-41CD-8259-75D02853712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9FC98A-FBB9-49EE-B3AD-BDBCC90E1D3C}"/>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Reducing the threshold adds flagged cases and cannot reduce recall on fixed scored observations, but precision can move either way.</a:t>
            </a:r>
          </a:p>
        </p:txBody>
      </p:sp>
      <p:sp>
        <p:nvSpPr>
          <p:cNvPr id="6" name="">
            <a:extLst xmlns:a="http://schemas.openxmlformats.org/drawingml/2006/main">
              <a:ext uri="{FF2B5EF4-FFF2-40B4-BE49-F238E27FC236}">
                <a16:creationId xmlns:a16="http://schemas.microsoft.com/office/drawing/2014/main" id="{F3263028-5224-4CB8-81CB-C1028E8F6B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38</a:t>
            </a:r>
          </a:p>
        </p:txBody>
      </p:sp>
    </p:spTree>
    <p:extLst>
      <p:ext uri="{BB962C8B-B14F-4D97-AF65-F5344CB8AC3E}">
        <p14:creationId xmlns:p14="http://schemas.microsoft.com/office/powerpoint/2010/main" val="201514628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7341B39-1375-4EB8-BB71-FF9269F46C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C93FFA-8E14-47CD-8A93-D8A47DDDBE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C7262D2-9E61-4E65-99F4-0077E41A1A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B355CB29-1346-4C5C-9549-8FD938A431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E052FB-C5B1-414B-98DB-76D341CE146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15529F76-557F-47DD-8EED-D3708B5131E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2EF6AAC-D3A2-4D3F-BB65-5E9913DACD6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5C19DE2F-C0AD-41D1-B340-E1206DADAE2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AAD12C2-A848-4536-AB58-7C370C228D8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cost.</a:t>
            </a:r>
          </a:p>
        </p:txBody>
      </p:sp>
      <p:sp>
        <p:nvSpPr>
          <p:cNvPr id="10" name="">
            <a:extLst xmlns:a="http://schemas.openxmlformats.org/drawingml/2006/main">
              <a:ext uri="{FF2B5EF4-FFF2-40B4-BE49-F238E27FC236}">
                <a16:creationId xmlns:a16="http://schemas.microsoft.com/office/drawing/2014/main" id="{707F25FB-7D84-478A-AE55-0845A622276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C7CD90C-897F-4A91-ACA5-DED2E3E5A74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6DBB3DBC-1F1C-4510-A37C-307664E358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39</a:t>
            </a:r>
          </a:p>
        </p:txBody>
      </p:sp>
    </p:spTree>
    <p:extLst>
      <p:ext uri="{BB962C8B-B14F-4D97-AF65-F5344CB8AC3E}">
        <p14:creationId xmlns:p14="http://schemas.microsoft.com/office/powerpoint/2010/main" val="116008243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DA864C7-D42F-49CC-848C-A2A636D296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361E7A-97E8-4257-8AF4-DAB0396FF7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E6E30EC-1467-4F4B-B470-949DEFCD52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C441BF7B-AC00-4E03-A777-7316609DFCC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A322A95-AC30-4C4A-AE1B-8E9CE252E58F}"/>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not approved operating limits.</a:t>
            </a:r>
          </a:p>
        </p:txBody>
      </p:sp>
      <p:sp>
        <p:nvSpPr>
          <p:cNvPr id="6" name="">
            <a:extLst xmlns:a="http://schemas.openxmlformats.org/drawingml/2006/main">
              <a:ext uri="{FF2B5EF4-FFF2-40B4-BE49-F238E27FC236}">
                <a16:creationId xmlns:a16="http://schemas.microsoft.com/office/drawing/2014/main" id="{8B753C53-008D-4121-9F1F-67260207E9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40</a:t>
            </a:r>
          </a:p>
        </p:txBody>
      </p:sp>
    </p:spTree>
    <p:extLst>
      <p:ext uri="{BB962C8B-B14F-4D97-AF65-F5344CB8AC3E}">
        <p14:creationId xmlns:p14="http://schemas.microsoft.com/office/powerpoint/2010/main" val="109946290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01B3D5-F50A-4591-ABEC-3D7991120B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EE63BF-2893-4611-AA35-647E4042CA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0B60A0A-527A-4F65-A7BC-45F1E2AFBA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8DCCF92A-D6E8-46A3-A604-761D568B5BD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691F0C-482E-4D4D-93FA-AACC010248D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For binary labels return tp, tn, fp, fn, precision, recall and cost=5*fn+fp; use zero for an undefined precision/recall denominator.</a:t>
            </a:r>
          </a:p>
        </p:txBody>
      </p:sp>
      <p:sp>
        <p:nvSpPr>
          <p:cNvPr id="6" name="">
            <a:extLst xmlns:a="http://schemas.openxmlformats.org/drawingml/2006/main">
              <a:ext uri="{FF2B5EF4-FFF2-40B4-BE49-F238E27FC236}">
                <a16:creationId xmlns:a16="http://schemas.microsoft.com/office/drawing/2014/main" id="{07E335B6-01BE-42AE-990D-B5159A3E9A3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3ECFC47-EED2-4789-B88E-4EEC28E1609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00A4521-D1AC-49B0-991E-D16173C63C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41</a:t>
            </a:r>
          </a:p>
        </p:txBody>
      </p:sp>
    </p:spTree>
    <p:extLst>
      <p:ext uri="{BB962C8B-B14F-4D97-AF65-F5344CB8AC3E}">
        <p14:creationId xmlns:p14="http://schemas.microsoft.com/office/powerpoint/2010/main" val="30211921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871FDE9-D2A1-4567-AF2F-76EAAD3E7B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7AAF3C-84D6-4043-826E-2BF3CFE7AA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3118AA2-D9B2-4C22-8A46-F65AFFC51A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F52CD601-E59E-415F-B2D4-A0D1E65EA66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3C1C9DA-8845-4457-8850-4C50CC97241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59125D93-939B-4478-A2DA-3C9055EB700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394F9C9-16E6-45D2-914A-0C2D29E71C2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3A7D0F2F-0F0D-4EAF-9488-06A2BDCFE4C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5F110E-72C6-429C-80F2-9A2B3808429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FF89D817-29E3-46BC-8DA4-89E7D9465FB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2216889-ABE5-45C8-B18A-BBFB36F9EB6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1FE33B5B-B350-4317-8BA8-2A767EB074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42</a:t>
            </a:r>
          </a:p>
        </p:txBody>
      </p:sp>
    </p:spTree>
    <p:extLst>
      <p:ext uri="{BB962C8B-B14F-4D97-AF65-F5344CB8AC3E}">
        <p14:creationId xmlns:p14="http://schemas.microsoft.com/office/powerpoint/2010/main" val="53792125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5C4B944-3291-44B6-9A09-DC9DAAFAD3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AC2458-ED53-4C4B-94FC-43FEFEA330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60D7C52E-D369-4D45-822C-DAC5A8C965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F918CAD0-64EA-482F-929F-A88A5AC0CBF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4CA0B6-F363-4C37-BE50-7317C2163E3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Nov 2026, 08:00 Kampala</a:t>
            </a:r>
          </a:p>
        </p:txBody>
      </p:sp>
      <p:sp>
        <p:nvSpPr>
          <p:cNvPr id="6" name="">
            <a:extLst xmlns:a="http://schemas.openxmlformats.org/drawingml/2006/main">
              <a:ext uri="{FF2B5EF4-FFF2-40B4-BE49-F238E27FC236}">
                <a16:creationId xmlns:a16="http://schemas.microsoft.com/office/drawing/2014/main" id="{65F8A1B2-F0BE-45E5-AB4A-5B2B0420355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F198DC-37FA-40C8-8DC4-6AC341B99685}"/>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Nov 2026, 08:00 Kampala</a:t>
            </a:r>
          </a:p>
        </p:txBody>
      </p:sp>
      <p:sp>
        <p:nvSpPr>
          <p:cNvPr id="8" name="">
            <a:extLst xmlns:a="http://schemas.openxmlformats.org/drawingml/2006/main">
              <a:ext uri="{FF2B5EF4-FFF2-40B4-BE49-F238E27FC236}">
                <a16:creationId xmlns:a16="http://schemas.microsoft.com/office/drawing/2014/main" id="{8EEA9B3D-BB26-4563-9050-EEA52BCE960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65C3DA2-C54C-4D24-8176-15E82CDA553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C24CF1A4-F88B-4258-ADBC-2CB042771E5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45D5216-AFB8-426B-917A-DA95250335E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ECF3D7A1-2F17-4D60-BAF2-29781C9F957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B88BEAC-B6FB-4429-9BEB-D6568AE547B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f40f7c4fbcc4271"/>
              </a:rPr>
              <a:t>Open W09 assignment form</a:t>
            </a:r>
          </a:p>
        </p:txBody>
      </p:sp>
      <p:sp>
        <p:nvSpPr>
          <p:cNvPr id="14" name="">
            <a:extLst xmlns:a="http://schemas.openxmlformats.org/drawingml/2006/main">
              <a:ext uri="{FF2B5EF4-FFF2-40B4-BE49-F238E27FC236}">
                <a16:creationId xmlns:a16="http://schemas.microsoft.com/office/drawing/2014/main" id="{5250D5EE-0CDE-4FD3-BAA9-847CE8E4BC1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https://docs.google.com/forms/d/e/1FAIpQLSfckaplMvJ6zeqbURyQrkDOSTS0MhGV3jY3tIY4EhnHLMm1tw/viewform</a:t>
            </a:r>
          </a:p>
        </p:txBody>
      </p:sp>
      <p:sp>
        <p:nvSpPr>
          <p:cNvPr id="15" name="">
            <a:extLst xmlns:a="http://schemas.openxmlformats.org/drawingml/2006/main">
              <a:ext uri="{FF2B5EF4-FFF2-40B4-BE49-F238E27FC236}">
                <a16:creationId xmlns:a16="http://schemas.microsoft.com/office/drawing/2014/main" id="{B19F53C8-AED3-4F55-8223-CA9460C236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43</a:t>
            </a:r>
          </a:p>
        </p:txBody>
      </p:sp>
    </p:spTree>
    <p:extLst>
      <p:ext uri="{BB962C8B-B14F-4D97-AF65-F5344CB8AC3E}">
        <p14:creationId xmlns:p14="http://schemas.microsoft.com/office/powerpoint/2010/main" val="152462484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01507F3-B496-4383-953B-26FF013A91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66C47F-AD86-4DC0-A5DC-08B49B80C3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96162FFE-2BB1-4034-8174-511208367F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xmlns:a="http://schemas.openxmlformats.org/drawingml/2006/main">
              <a:ext uri="{FF2B5EF4-FFF2-40B4-BE49-F238E27FC236}">
                <a16:creationId xmlns:a16="http://schemas.microsoft.com/office/drawing/2014/main" id="{4EA81C8E-1EA3-445E-B38D-C77B5F051F3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39D152-C84D-44AC-8D02-2FFA027441E9}"/>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1F10C992-B38C-4CB6-B6CB-9EE3AB6C60B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89413A-71F0-4B3B-B204-7122D54DBF6E}"/>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8414B499-83BE-4C7B-94A7-30063721AF6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6DD845-E639-4F10-AF02-C6FD07BDF1F7}"/>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90921A59-C676-4C17-AE44-BE65847BD07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9A71E5C-A656-49AC-A13C-BF4F9D1EF0D2}"/>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00f4a4fe0d614cee"/>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646AF8FA-AF65-4F11-8288-D37CA83CC011}"/>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48DA877F-E8C0-4C6C-A90D-82F283FB29F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4BB0577-293E-493D-B2E1-77CDAFB8D76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33b39435bce4628"/>
              </a:rPr>
              <a:t>Open this week’s quiz</a:t>
            </a:r>
          </a:p>
        </p:txBody>
      </p:sp>
      <p:sp>
        <p:nvSpPr>
          <p:cNvPr id="16" name="">
            <a:extLst xmlns:a="http://schemas.openxmlformats.org/drawingml/2006/main">
              <a:ext uri="{FF2B5EF4-FFF2-40B4-BE49-F238E27FC236}">
                <a16:creationId xmlns:a16="http://schemas.microsoft.com/office/drawing/2014/main" id="{24FC5E46-E894-4F01-A1CF-A355347CB20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https://forms.gle/biJnEga9118gnz9X9</a:t>
            </a:r>
          </a:p>
        </p:txBody>
      </p:sp>
      <p:sp>
        <p:nvSpPr>
          <p:cNvPr id="17" name="">
            <a:extLst xmlns:a="http://schemas.openxmlformats.org/drawingml/2006/main">
              <a:ext uri="{FF2B5EF4-FFF2-40B4-BE49-F238E27FC236}">
                <a16:creationId xmlns:a16="http://schemas.microsoft.com/office/drawing/2014/main" id="{FDDC28D0-CA27-4E46-99A7-9C8176B3ED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44</a:t>
            </a:r>
          </a:p>
        </p:txBody>
      </p:sp>
    </p:spTree>
    <p:extLst>
      <p:ext uri="{BB962C8B-B14F-4D97-AF65-F5344CB8AC3E}">
        <p14:creationId xmlns:p14="http://schemas.microsoft.com/office/powerpoint/2010/main" val="242458601"/>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29A6D80-70D4-47A5-B7DC-D5B307A0DB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4A23AF0C-50FA-406E-8EB1-8C7FE88691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7C91BC27-29C8-44F5-B9CA-8A1A0AAB3B6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05DC108-E81D-4761-8A43-1E79858F1ECE}"/>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a false negative and explain precision and recall with counts.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9317BAB9-B1C4-4D64-A43A-F280EABEB87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AD160EE2-8978-4115-85D6-6AA1439D0A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9   45</a:t>
            </a:r>
          </a:p>
        </p:txBody>
      </p:sp>
    </p:spTree>
    <p:extLst>
      <p:ext uri="{BB962C8B-B14F-4D97-AF65-F5344CB8AC3E}">
        <p14:creationId xmlns:p14="http://schemas.microsoft.com/office/powerpoint/2010/main" val="18264930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2026-09-16T11:09:56.0090000Z</dcterms:created>
  <dcterms:modified xsi:type="dcterms:W3CDTF">2026-09-16T11:09:56.0090000Z</dcterms:modified>
</coreProperties>
</file>