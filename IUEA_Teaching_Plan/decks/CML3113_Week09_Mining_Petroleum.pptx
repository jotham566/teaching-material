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ee27e03315451d" /><Relationship Type="http://schemas.openxmlformats.org/officeDocument/2006/relationships/extended-properties" Target="/docProps/app.xml" Id="Rcc4dd790b8984a07" /><Relationship Type="http://schemas.openxmlformats.org/officeDocument/2006/relationships/officeDocument" Target="/ppt/presentation.xml" Id="R89eac3882ffc45fb" /></Relationships>
</file>

<file path=ppt/presentation.xml><?xml version="1.0" encoding="utf-8"?>
<p:presentation xmlns:p="http://schemas.openxmlformats.org/presentationml/2006/main">
  <p:sldMasterIdLst>
    <p:sldMasterId xmlns:r="http://schemas.openxmlformats.org/officeDocument/2006/relationships" id="2147483648" r:id="Re488253c271d4167"/>
  </p:sldMasterIdLst>
  <p:notesMasterIdLst>
    <p:notesMasterId xmlns:r="http://schemas.openxmlformats.org/officeDocument/2006/relationships" r:id="R1129a26552d04fe0"/>
  </p:notesMasterIdLst>
  <p:sldIdLst>
    <p:sldId xmlns:r="http://schemas.openxmlformats.org/officeDocument/2006/relationships" id="256" r:id="Re495b0c795284bc6"/>
    <p:sldId xmlns:r="http://schemas.openxmlformats.org/officeDocument/2006/relationships" id="257" r:id="R32849a351ec24dee"/>
    <p:sldId xmlns:r="http://schemas.openxmlformats.org/officeDocument/2006/relationships" id="258" r:id="R26e44d4b4d3d434e"/>
    <p:sldId xmlns:r="http://schemas.openxmlformats.org/officeDocument/2006/relationships" id="259" r:id="R204097935fd14897"/>
    <p:sldId xmlns:r="http://schemas.openxmlformats.org/officeDocument/2006/relationships" id="260" r:id="R894c1379a6b3489f"/>
    <p:sldId xmlns:r="http://schemas.openxmlformats.org/officeDocument/2006/relationships" id="261" r:id="R31f47aa150864571"/>
    <p:sldId xmlns:r="http://schemas.openxmlformats.org/officeDocument/2006/relationships" id="262" r:id="R8f90ac1bcf24419f"/>
    <p:sldId xmlns:r="http://schemas.openxmlformats.org/officeDocument/2006/relationships" id="263" r:id="R429deb61a4b3426f"/>
    <p:sldId xmlns:r="http://schemas.openxmlformats.org/officeDocument/2006/relationships" id="264" r:id="Rea86be98f1fa4247"/>
    <p:sldId xmlns:r="http://schemas.openxmlformats.org/officeDocument/2006/relationships" id="265" r:id="R58f41ce5a3df4826"/>
    <p:sldId xmlns:r="http://schemas.openxmlformats.org/officeDocument/2006/relationships" id="266" r:id="R12bf330a03de4f00"/>
    <p:sldId xmlns:r="http://schemas.openxmlformats.org/officeDocument/2006/relationships" id="267" r:id="R13530a8660a74459"/>
    <p:sldId xmlns:r="http://schemas.openxmlformats.org/officeDocument/2006/relationships" id="268" r:id="Re33e76d2b9d845b8"/>
    <p:sldId xmlns:r="http://schemas.openxmlformats.org/officeDocument/2006/relationships" id="269" r:id="Rbd8b65b8505f494b"/>
    <p:sldId xmlns:r="http://schemas.openxmlformats.org/officeDocument/2006/relationships" id="270" r:id="Rdeae612e6d9d4ee2"/>
    <p:sldId xmlns:r="http://schemas.openxmlformats.org/officeDocument/2006/relationships" id="271" r:id="R26e801f36edd4677"/>
    <p:sldId xmlns:r="http://schemas.openxmlformats.org/officeDocument/2006/relationships" id="272" r:id="R65e62e617944446d"/>
    <p:sldId xmlns:r="http://schemas.openxmlformats.org/officeDocument/2006/relationships" id="273" r:id="Re7f370921d734d3d"/>
    <p:sldId xmlns:r="http://schemas.openxmlformats.org/officeDocument/2006/relationships" id="274" r:id="R5e701df76dbc466a"/>
    <p:sldId xmlns:r="http://schemas.openxmlformats.org/officeDocument/2006/relationships" id="275" r:id="Rda5e7fa6cd244d84"/>
    <p:sldId xmlns:r="http://schemas.openxmlformats.org/officeDocument/2006/relationships" id="276" r:id="R7436570d2bdd4e37"/>
    <p:sldId xmlns:r="http://schemas.openxmlformats.org/officeDocument/2006/relationships" id="277" r:id="R11900b1e788c48f8"/>
    <p:sldId xmlns:r="http://schemas.openxmlformats.org/officeDocument/2006/relationships" id="278" r:id="R014fe5bb8e8744e1"/>
    <p:sldId xmlns:r="http://schemas.openxmlformats.org/officeDocument/2006/relationships" id="279" r:id="R13ea8033ac7549be"/>
    <p:sldId xmlns:r="http://schemas.openxmlformats.org/officeDocument/2006/relationships" id="280" r:id="R8349cd9f47dd4c31"/>
    <p:sldId xmlns:r="http://schemas.openxmlformats.org/officeDocument/2006/relationships" id="281" r:id="R88a9a15245fb41e7"/>
    <p:sldId xmlns:r="http://schemas.openxmlformats.org/officeDocument/2006/relationships" id="282" r:id="R2a4552d5e1384ecd"/>
    <p:sldId xmlns:r="http://schemas.openxmlformats.org/officeDocument/2006/relationships" id="283" r:id="R00e4abd8c7484574"/>
    <p:sldId xmlns:r="http://schemas.openxmlformats.org/officeDocument/2006/relationships" id="284" r:id="Rce92a9367cec4d7f"/>
    <p:sldId xmlns:r="http://schemas.openxmlformats.org/officeDocument/2006/relationships" id="285" r:id="R11911bcab8984460"/>
    <p:sldId xmlns:r="http://schemas.openxmlformats.org/officeDocument/2006/relationships" id="286" r:id="R34f4a58b6ab44ec8"/>
    <p:sldId xmlns:r="http://schemas.openxmlformats.org/officeDocument/2006/relationships" id="287" r:id="Rab24f481752f4937"/>
    <p:sldId xmlns:r="http://schemas.openxmlformats.org/officeDocument/2006/relationships" id="288" r:id="Rf7f5cda4601f4741"/>
    <p:sldId xmlns:r="http://schemas.openxmlformats.org/officeDocument/2006/relationships" id="289" r:id="Ra4cec544cc264bf9"/>
    <p:sldId xmlns:r="http://schemas.openxmlformats.org/officeDocument/2006/relationships" id="290" r:id="R72e52ed0ed5b42a5"/>
    <p:sldId xmlns:r="http://schemas.openxmlformats.org/officeDocument/2006/relationships" id="291" r:id="R5eeda3b47bd34925"/>
    <p:sldId xmlns:r="http://schemas.openxmlformats.org/officeDocument/2006/relationships" id="292" r:id="R15acc459321f4ecc"/>
    <p:sldId xmlns:r="http://schemas.openxmlformats.org/officeDocument/2006/relationships" id="293" r:id="Rd5f1e5fdde154893"/>
    <p:sldId xmlns:r="http://schemas.openxmlformats.org/officeDocument/2006/relationships" id="294" r:id="R5b9866fe887f47c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8b18437e9f4291" /><Relationship Type="http://schemas.openxmlformats.org/officeDocument/2006/relationships/slideMaster" Target="/ppt/slideMasters/slideMaster1.xml" Id="Re488253c271d4167" /><Relationship Type="http://schemas.openxmlformats.org/officeDocument/2006/relationships/notesMaster" Target="/ppt/notesMasters/notesMaster1.xml" Id="R1129a26552d04fe0" /><Relationship Type="http://schemas.openxmlformats.org/officeDocument/2006/relationships/presProps" Target="/ppt/presProps.xml" Id="R6c9d291120814e8a" /><Relationship Type="http://schemas.openxmlformats.org/officeDocument/2006/relationships/tableStyles" Target="/ppt/tableStyles.xml" Id="Rcd0f4bf391e14184" /><Relationship Type="http://schemas.openxmlformats.org/officeDocument/2006/relationships/slide" Target="/ppt/slides/slide1.xml" Id="Re495b0c795284bc6" /><Relationship Type="http://schemas.openxmlformats.org/officeDocument/2006/relationships/slide" Target="/ppt/slides/slide2.xml" Id="R32849a351ec24dee" /><Relationship Type="http://schemas.openxmlformats.org/officeDocument/2006/relationships/slide" Target="/ppt/slides/slide3.xml" Id="R26e44d4b4d3d434e" /><Relationship Type="http://schemas.openxmlformats.org/officeDocument/2006/relationships/slide" Target="/ppt/slides/slide4.xml" Id="R204097935fd14897" /><Relationship Type="http://schemas.openxmlformats.org/officeDocument/2006/relationships/slide" Target="/ppt/slides/slide5.xml" Id="R894c1379a6b3489f" /><Relationship Type="http://schemas.openxmlformats.org/officeDocument/2006/relationships/slide" Target="/ppt/slides/slide6.xml" Id="R31f47aa150864571" /><Relationship Type="http://schemas.openxmlformats.org/officeDocument/2006/relationships/slide" Target="/ppt/slides/slide7.xml" Id="R8f90ac1bcf24419f" /><Relationship Type="http://schemas.openxmlformats.org/officeDocument/2006/relationships/slide" Target="/ppt/slides/slide8.xml" Id="R429deb61a4b3426f" /><Relationship Type="http://schemas.openxmlformats.org/officeDocument/2006/relationships/slide" Target="/ppt/slides/slide9.xml" Id="Rea86be98f1fa4247" /><Relationship Type="http://schemas.openxmlformats.org/officeDocument/2006/relationships/slide" Target="/ppt/slides/slide10.xml" Id="R58f41ce5a3df4826" /><Relationship Type="http://schemas.openxmlformats.org/officeDocument/2006/relationships/slide" Target="/ppt/slides/slide11.xml" Id="R12bf330a03de4f00" /><Relationship Type="http://schemas.openxmlformats.org/officeDocument/2006/relationships/slide" Target="/ppt/slides/slide12.xml" Id="R13530a8660a74459" /><Relationship Type="http://schemas.openxmlformats.org/officeDocument/2006/relationships/slide" Target="/ppt/slides/slide13.xml" Id="Re33e76d2b9d845b8" /><Relationship Type="http://schemas.openxmlformats.org/officeDocument/2006/relationships/slide" Target="/ppt/slides/slide14.xml" Id="Rbd8b65b8505f494b" /><Relationship Type="http://schemas.openxmlformats.org/officeDocument/2006/relationships/slide" Target="/ppt/slides/slide15.xml" Id="Rdeae612e6d9d4ee2" /><Relationship Type="http://schemas.openxmlformats.org/officeDocument/2006/relationships/slide" Target="/ppt/slides/slide16.xml" Id="R26e801f36edd4677" /><Relationship Type="http://schemas.openxmlformats.org/officeDocument/2006/relationships/slide" Target="/ppt/slides/slide17.xml" Id="R65e62e617944446d" /><Relationship Type="http://schemas.openxmlformats.org/officeDocument/2006/relationships/slide" Target="/ppt/slides/slide18.xml" Id="Re7f370921d734d3d" /><Relationship Type="http://schemas.openxmlformats.org/officeDocument/2006/relationships/slide" Target="/ppt/slides/slide19.xml" Id="R5e701df76dbc466a" /><Relationship Type="http://schemas.openxmlformats.org/officeDocument/2006/relationships/slide" Target="/ppt/slides/slide20.xml" Id="Rda5e7fa6cd244d84" /><Relationship Type="http://schemas.openxmlformats.org/officeDocument/2006/relationships/slide" Target="/ppt/slides/slide21.xml" Id="R7436570d2bdd4e37" /><Relationship Type="http://schemas.openxmlformats.org/officeDocument/2006/relationships/slide" Target="/ppt/slides/slide22.xml" Id="R11900b1e788c48f8" /><Relationship Type="http://schemas.openxmlformats.org/officeDocument/2006/relationships/slide" Target="/ppt/slides/slide23.xml" Id="R014fe5bb8e8744e1" /><Relationship Type="http://schemas.openxmlformats.org/officeDocument/2006/relationships/slide" Target="/ppt/slides/slide24.xml" Id="R13ea8033ac7549be" /><Relationship Type="http://schemas.openxmlformats.org/officeDocument/2006/relationships/slide" Target="/ppt/slides/slide25.xml" Id="R8349cd9f47dd4c31" /><Relationship Type="http://schemas.openxmlformats.org/officeDocument/2006/relationships/slide" Target="/ppt/slides/slide26.xml" Id="R88a9a15245fb41e7" /><Relationship Type="http://schemas.openxmlformats.org/officeDocument/2006/relationships/slide" Target="/ppt/slides/slide27.xml" Id="R2a4552d5e1384ecd" /><Relationship Type="http://schemas.openxmlformats.org/officeDocument/2006/relationships/slide" Target="/ppt/slides/slide28.xml" Id="R00e4abd8c7484574" /><Relationship Type="http://schemas.openxmlformats.org/officeDocument/2006/relationships/slide" Target="/ppt/slides/slide29.xml" Id="Rce92a9367cec4d7f" /><Relationship Type="http://schemas.openxmlformats.org/officeDocument/2006/relationships/slide" Target="/ppt/slides/slide30.xml" Id="R11911bcab8984460" /><Relationship Type="http://schemas.openxmlformats.org/officeDocument/2006/relationships/slide" Target="/ppt/slides/slide31.xml" Id="R34f4a58b6ab44ec8" /><Relationship Type="http://schemas.openxmlformats.org/officeDocument/2006/relationships/slide" Target="/ppt/slides/slide32.xml" Id="Rab24f481752f4937" /><Relationship Type="http://schemas.openxmlformats.org/officeDocument/2006/relationships/slide" Target="/ppt/slides/slide33.xml" Id="Rf7f5cda4601f4741" /><Relationship Type="http://schemas.openxmlformats.org/officeDocument/2006/relationships/slide" Target="/ppt/slides/slide34.xml" Id="Ra4cec544cc264bf9" /><Relationship Type="http://schemas.openxmlformats.org/officeDocument/2006/relationships/slide" Target="/ppt/slides/slide35.xml" Id="R72e52ed0ed5b42a5" /><Relationship Type="http://schemas.openxmlformats.org/officeDocument/2006/relationships/slide" Target="/ppt/slides/slide36.xml" Id="R5eeda3b47bd34925" /><Relationship Type="http://schemas.openxmlformats.org/officeDocument/2006/relationships/slide" Target="/ppt/slides/slide37.xml" Id="R15acc459321f4ecc" /><Relationship Type="http://schemas.openxmlformats.org/officeDocument/2006/relationships/slide" Target="/ppt/slides/slide38.xml" Id="Rd5f1e5fdde154893" /><Relationship Type="http://schemas.openxmlformats.org/officeDocument/2006/relationships/slide" Target="/ppt/slides/slide39.xml" Id="R5b9866fe887f47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8ff5d0bf7a43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e348b75b4d49be" /><Relationship Type="http://schemas.openxmlformats.org/officeDocument/2006/relationships/notesMaster" Target="/ppt/notesMasters/notesMaster1.xml" Id="Rc2003ccaa3ab47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001b83d2a64029" /><Relationship Type="http://schemas.openxmlformats.org/officeDocument/2006/relationships/notesMaster" Target="/ppt/notesMasters/notesMaster1.xml" Id="R896265d598344f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0d2877a7a946a2" /><Relationship Type="http://schemas.openxmlformats.org/officeDocument/2006/relationships/notesMaster" Target="/ppt/notesMasters/notesMaster1.xml" Id="R9eb1f906557a4a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871b96184f488b" /><Relationship Type="http://schemas.openxmlformats.org/officeDocument/2006/relationships/notesMaster" Target="/ppt/notesMasters/notesMaster1.xml" Id="Rd7b50f41aa9446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8eab6f9c1843f4" /><Relationship Type="http://schemas.openxmlformats.org/officeDocument/2006/relationships/notesMaster" Target="/ppt/notesMasters/notesMaster1.xml" Id="R3dea8fbe3a3c45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49f253650674a11" /><Relationship Type="http://schemas.openxmlformats.org/officeDocument/2006/relationships/notesMaster" Target="/ppt/notesMasters/notesMaster1.xml" Id="Rcb4400586a704b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2bd277eccd40be" /><Relationship Type="http://schemas.openxmlformats.org/officeDocument/2006/relationships/notesMaster" Target="/ppt/notesMasters/notesMaster1.xml" Id="R2b3897029c6440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944677f9ce94e3e" /><Relationship Type="http://schemas.openxmlformats.org/officeDocument/2006/relationships/notesMaster" Target="/ppt/notesMasters/notesMaster1.xml" Id="R163088fec1cb47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346cb9e4f1f4f54" /><Relationship Type="http://schemas.openxmlformats.org/officeDocument/2006/relationships/notesMaster" Target="/ppt/notesMasters/notesMaster1.xml" Id="R5c4c6bdf02dd47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f8e8af5a8174540" /><Relationship Type="http://schemas.openxmlformats.org/officeDocument/2006/relationships/notesMaster" Target="/ppt/notesMasters/notesMaster1.xml" Id="Rd441576f0db04f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d830f66c384394" /><Relationship Type="http://schemas.openxmlformats.org/officeDocument/2006/relationships/notesMaster" Target="/ppt/notesMasters/notesMaster1.xml" Id="Rbdcb9a36124540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975a9a4d164038" /><Relationship Type="http://schemas.openxmlformats.org/officeDocument/2006/relationships/notesMaster" Target="/ppt/notesMasters/notesMaster1.xml" Id="R2080b1e707f04a0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cf7097098d41c8" /><Relationship Type="http://schemas.openxmlformats.org/officeDocument/2006/relationships/notesMaster" Target="/ppt/notesMasters/notesMaster1.xml" Id="R9e1a7d4c1877403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d21b0d952b432b" /><Relationship Type="http://schemas.openxmlformats.org/officeDocument/2006/relationships/notesMaster" Target="/ppt/notesMasters/notesMaster1.xml" Id="R286ed0d455c340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c39cb8e73014cfa" /><Relationship Type="http://schemas.openxmlformats.org/officeDocument/2006/relationships/notesMaster" Target="/ppt/notesMasters/notesMaster1.xml" Id="R206b638847474d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57238bdbc94dbd" /><Relationship Type="http://schemas.openxmlformats.org/officeDocument/2006/relationships/notesMaster" Target="/ppt/notesMasters/notesMaster1.xml" Id="R7b8dd74fb56f44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038035da7f4641" /><Relationship Type="http://schemas.openxmlformats.org/officeDocument/2006/relationships/notesMaster" Target="/ppt/notesMasters/notesMaster1.xml" Id="Re2615790bc7d4dd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c4e2ada699498c" /><Relationship Type="http://schemas.openxmlformats.org/officeDocument/2006/relationships/notesMaster" Target="/ppt/notesMasters/notesMaster1.xml" Id="R272169f03aef45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a2da7f531374931" /><Relationship Type="http://schemas.openxmlformats.org/officeDocument/2006/relationships/notesMaster" Target="/ppt/notesMasters/notesMaster1.xml" Id="Ra3ce15f11180498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a9c9cbd99ef455f" /><Relationship Type="http://schemas.openxmlformats.org/officeDocument/2006/relationships/notesMaster" Target="/ppt/notesMasters/notesMaster1.xml" Id="Rdcdb4d7a839f471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7906e18e34d404f" /><Relationship Type="http://schemas.openxmlformats.org/officeDocument/2006/relationships/notesMaster" Target="/ppt/notesMasters/notesMaster1.xml" Id="R5beab9d3202a417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27fcadba2454ec5" /><Relationship Type="http://schemas.openxmlformats.org/officeDocument/2006/relationships/notesMaster" Target="/ppt/notesMasters/notesMaster1.xml" Id="Rb58fe4cfd7e3444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a350aff2f5b49ce" /><Relationship Type="http://schemas.openxmlformats.org/officeDocument/2006/relationships/notesMaster" Target="/ppt/notesMasters/notesMaster1.xml" Id="Rdc595e81908e4b7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99a2d4f332e4a12" /><Relationship Type="http://schemas.openxmlformats.org/officeDocument/2006/relationships/notesMaster" Target="/ppt/notesMasters/notesMaster1.xml" Id="R3bf7553343cd4e8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b95ed84d9a4457" /><Relationship Type="http://schemas.openxmlformats.org/officeDocument/2006/relationships/notesMaster" Target="/ppt/notesMasters/notesMaster1.xml" Id="R04ea06a7a0af483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b637ed069124160" /><Relationship Type="http://schemas.openxmlformats.org/officeDocument/2006/relationships/notesMaster" Target="/ppt/notesMasters/notesMaster1.xml" Id="R047a070ad1bc4d8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56b20e192f64b73" /><Relationship Type="http://schemas.openxmlformats.org/officeDocument/2006/relationships/notesMaster" Target="/ppt/notesMasters/notesMaster1.xml" Id="R77130e5a76a040a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88fd861ac984e48" /><Relationship Type="http://schemas.openxmlformats.org/officeDocument/2006/relationships/notesMaster" Target="/ppt/notesMasters/notesMaster1.xml" Id="R1fc373e88e06498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95faed1d2d04953" /><Relationship Type="http://schemas.openxmlformats.org/officeDocument/2006/relationships/notesMaster" Target="/ppt/notesMasters/notesMaster1.xml" Id="R9780d7f87b12462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1ddbf63bd3942d4" /><Relationship Type="http://schemas.openxmlformats.org/officeDocument/2006/relationships/notesMaster" Target="/ppt/notesMasters/notesMaster1.xml" Id="R87805dc68707483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c57083d14ee4cfa" /><Relationship Type="http://schemas.openxmlformats.org/officeDocument/2006/relationships/notesMaster" Target="/ppt/notesMasters/notesMaster1.xml" Id="Rd6ec63dccc3141a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1db4ac01f0f43a9" /><Relationship Type="http://schemas.openxmlformats.org/officeDocument/2006/relationships/notesMaster" Target="/ppt/notesMasters/notesMaster1.xml" Id="R33dc75f3720f402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b366a2e39ec4ae9" /><Relationship Type="http://schemas.openxmlformats.org/officeDocument/2006/relationships/notesMaster" Target="/ppt/notesMasters/notesMaster1.xml" Id="R833b9077ebb34b0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8e8d113eb264ab1" /><Relationship Type="http://schemas.openxmlformats.org/officeDocument/2006/relationships/notesMaster" Target="/ppt/notesMasters/notesMaster1.xml" Id="R89b120c0b01e46d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b467f52e8734e31" /><Relationship Type="http://schemas.openxmlformats.org/officeDocument/2006/relationships/notesMaster" Target="/ppt/notesMasters/notesMaster1.xml" Id="R2ea83b4073b946d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88431b77fee4b71" /><Relationship Type="http://schemas.openxmlformats.org/officeDocument/2006/relationships/notesMaster" Target="/ppt/notesMasters/notesMaster1.xml" Id="Rfb32771da610419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8e15d371791483a" /><Relationship Type="http://schemas.openxmlformats.org/officeDocument/2006/relationships/notesMaster" Target="/ppt/notesMasters/notesMaster1.xml" Id="R578af9dc6668458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0ad90e6d31446ea" /><Relationship Type="http://schemas.openxmlformats.org/officeDocument/2006/relationships/notesMaster" Target="/ppt/notesMasters/notesMaster1.xml" Id="R84c279a659e0482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02c56bf480b4b4d" /><Relationship Type="http://schemas.openxmlformats.org/officeDocument/2006/relationships/notesMaster" Target="/ppt/notesMasters/notesMaster1.xml" Id="Ra2c5b32249684b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the cost of mistakes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the cost of mistakes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Classification and the cost of mistakes. Explain why this example is needed before running it.</a:t>
            </a:r>
          </a:p>
          <a:p xmlns:a="http://schemas.openxmlformats.org/drawingml/2006/main">
            <a:r>
              <a:t/>
            </a:r>
          </a:p>
          <a:p xmlns:a="http://schemas.openxmlformats.org/drawingml/2006/main">
            <a:r>
              <a:t>EXPLAIN</a:t>
            </a:r>
          </a:p>
          <a:p xmlns:a="http://schemas.openxmlformats.org/drawingml/2006/main">
            <a:r>
              <a:t>Distinguish an actual label from a predicted label.</a:t>
            </a:r>
          </a:p>
          <a:p xmlns:a="http://schemas.openxmlformats.org/drawingml/2006/main">
            <a:r>
              <a:t/>
            </a:r>
          </a:p>
          <a:p xmlns:a="http://schemas.openxmlformats.org/drawingml/2006/main">
            <a:r>
              <a:t>Count prediction outcomes and explain their costs.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Classification and the cost of mistakes.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Three independently built classifiers, ROC/AUC and full threshold curves are extension after the basic matrix is secure.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8 predicted a number. This week predicts a category and counts the different kinds of correct and incorrect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warning system predicts a category. We compare each prediction with its recorded answer, then count false alarms and missed warnings using an explicit cost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The positive class.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positive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In this example, 1 means a warning is needed.</a:t>
            </a:r>
          </a:p>
          <a:p xmlns:a="http://schemas.openxmlformats.org/drawingml/2006/main">
            <a:r>
              <a:t/>
            </a:r>
          </a:p>
          <a:p xmlns:a="http://schemas.openxmlformats.org/drawingml/2006/main">
            <a:r>
              <a:t>0 means a warning is not needed.</a:t>
            </a:r>
          </a:p>
          <a:p xmlns:a="http://schemas.openxmlformats.org/drawingml/2006/main">
            <a:r>
              <a:t/>
            </a:r>
          </a:p>
          <a:p xmlns:a="http://schemas.openxmlformats.org/drawingml/2006/main">
            <a:r>
              <a:t>Actual is the reference label. Predicted is the model’s label.</a:t>
            </a:r>
          </a:p>
          <a:p xmlns:a="http://schemas.openxmlformats.org/drawingml/2006/main">
            <a:r>
              <a:t/>
            </a:r>
          </a:p>
          <a:p xmlns:a="http://schemas.openxmlformats.org/drawingml/2006/main">
            <a:r>
              <a:t>A false negative misses a real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Class and positive label / TP and TN.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 and positive label / TP and TN.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positive class. Explain why this example is needed before running it.</a:t>
            </a:r>
          </a:p>
          <a:p xmlns:a="http://schemas.openxmlformats.org/drawingml/2006/main">
            <a:r>
              <a:t/>
            </a:r>
          </a:p>
          <a:p xmlns:a="http://schemas.openxmlformats.org/drawingml/2006/main">
            <a:r>
              <a:t>EXPLAIN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preceding slide: The positive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NEXT</a:t>
            </a:r>
          </a:p>
          <a:p xmlns:a="http://schemas.openxmlformats.org/drawingml/2006/main">
            <a:r>
              <a:t>FP and FN.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FP and FN.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Class and positive label / TP and TN. Explain why this example is needed before running it.</a:t>
            </a:r>
          </a:p>
          <a:p xmlns:a="http://schemas.openxmlformats.org/drawingml/2006/main">
            <a:r>
              <a:t/>
            </a:r>
          </a:p>
          <a:p xmlns:a="http://schemas.openxmlformats.org/drawingml/2006/main">
            <a:r>
              <a:t>EXPLAIN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the preceding slide: Class and positive label / TP and TN.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NEXT</a:t>
            </a:r>
          </a:p>
          <a:p xmlns:a="http://schemas.openxmlformats.org/drawingml/2006/main">
            <a:r>
              <a:t>Actual and predicted describe different things.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Actual and predicted describe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FP and FN. Explain why this example is needed before running it.</a:t>
            </a:r>
          </a:p>
          <a:p xmlns:a="http://schemas.openxmlformats.org/drawingml/2006/main">
            <a:r>
              <a:t/>
            </a:r>
          </a:p>
          <a:p xmlns:a="http://schemas.openxmlformats.org/drawingml/2006/main">
            <a:r>
              <a:t>EXPLAIN</a:t>
            </a:r>
          </a:p>
          <a:p xmlns:a="http://schemas.openxmlformats.org/drawingml/2006/main">
            <a:r>
              <a:t>Actual is the recorded reference answer.</a:t>
            </a:r>
          </a:p>
          <a:p xmlns:a="http://schemas.openxmlformats.org/drawingml/2006/main">
            <a:r>
              <a:t/>
            </a:r>
          </a:p>
          <a:p xmlns:a="http://schemas.openxmlformats.org/drawingml/2006/main">
            <a:r>
              <a:t>Predicted is the answer produced by our model.</a:t>
            </a:r>
          </a:p>
          <a:p xmlns:a="http://schemas.openxmlformats.org/drawingml/2006/main">
            <a:r>
              <a:t/>
            </a:r>
          </a:p>
          <a:p xmlns:a="http://schemas.openxmlformats.org/drawingml/2006/main">
            <a:r>
              <a:t>A correct prediction matches the reference. Class 1 means warning in this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the preceding slide: FP and FN.</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a:t>
            </a:r>
          </a:p>
          <a:p xmlns:a="http://schemas.openxmlformats.org/drawingml/2006/main">
            <a:r>
              <a:t/>
            </a:r>
          </a:p>
          <a:p xmlns:a="http://schemas.openxmlformats.org/drawingml/2006/main">
            <a:r>
              <a:t>NEXT</a:t>
            </a:r>
          </a:p>
          <a:p xmlns:a="http://schemas.openxmlformats.org/drawingml/2006/main">
            <a:r>
              <a:t>Every paired result belongs in one cell.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paired result belongs in one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Actual and predicted describe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Read actual first, then predicted. Explain the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the preceding slide: Actual and predicted describe different things.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The four kinds of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four kinds of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Every paired result belongs in one cell. Explain why this example is needed before running it.</a:t>
            </a:r>
          </a:p>
          <a:p xmlns:a="http://schemas.openxmlformats.org/drawingml/2006/main">
            <a:r>
              <a:t/>
            </a:r>
          </a:p>
          <a:p xmlns:a="http://schemas.openxmlformats.org/drawingml/2006/main">
            <a:r>
              <a:t>EXPLAIN</a:t>
            </a:r>
          </a:p>
          <a:p xmlns:a="http://schemas.openxmlformats.org/drawingml/2006/main">
            <a:r>
              <a:t>Rows are actual and columns are predicted.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the preceding slide: Every paired result belongs in one cell.</a:t>
            </a:r>
          </a:p>
          <a:p xmlns:a="http://schemas.openxmlformats.org/drawingml/2006/main">
            <a:r>
              <a:t/>
            </a:r>
          </a:p>
          <a:p xmlns:a="http://schemas.openxmlformats.org/drawingml/2006/main">
            <a:r>
              <a:t>LECTURER CUE</a:t>
            </a:r>
          </a:p>
          <a:p xmlns:a="http://schemas.openxmlformats.org/drawingml/2006/main">
            <a:r>
              <a:t>Rows are actual and columns are predicted. Read each paired observation into exactly one cell. Precision = 1/2. Recall = 1/2. Cost = 5 × FN + FP = 6 under this invented cost rule.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Precision /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four kinds of result. Explain why this example is needed before running it.</a:t>
            </a:r>
          </a:p>
          <a:p xmlns:a="http://schemas.openxmlformats.org/drawingml/2006/main">
            <a:r>
              <a:t/>
            </a:r>
          </a:p>
          <a:p xmlns:a="http://schemas.openxmlformats.org/drawingml/2006/main">
            <a:r>
              <a:t>EXPLAIN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preceding slide: The four kinds of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NEXT</a:t>
            </a:r>
          </a:p>
          <a:p xmlns:a="http://schemas.openxmlformats.org/drawingml/2006/main">
            <a:r>
              <a:t>Precision and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and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Precision / Recall. Explain why this example is needed before running it.</a:t>
            </a:r>
          </a:p>
          <a:p xmlns:a="http://schemas.openxmlformats.org/drawingml/2006/main">
            <a:r>
              <a:t/>
            </a:r>
          </a:p>
          <a:p xmlns:a="http://schemas.openxmlformats.org/drawingml/2006/main">
            <a:r>
              <a:t>EXPLAIN</a:t>
            </a:r>
          </a:p>
          <a:p xmlns:a="http://schemas.openxmlformats.org/drawingml/2006/main">
            <a:r>
              <a:t>Precision asks: of the warnings raised, how many were correct?</a:t>
            </a:r>
          </a:p>
          <a:p xmlns:a="http://schemas.openxmlformats.org/drawingml/2006/main">
            <a:r>
              <a:t/>
            </a:r>
          </a:p>
          <a:p xmlns:a="http://schemas.openxmlformats.org/drawingml/2006/main">
            <a:r>
              <a:t>Recall asks: of the real warnings, how many did we detect?</a:t>
            </a:r>
          </a:p>
          <a:p xmlns:a="http://schemas.openxmlformats.org/drawingml/2006/main">
            <a:r>
              <a:t/>
            </a:r>
          </a:p>
          <a:p xmlns:a="http://schemas.openxmlformats.org/drawingml/2006/main">
            <a:r>
              <a:t>A zero denominator needs an explicit rule.</a:t>
            </a:r>
          </a:p>
          <a:p xmlns:a="http://schemas.openxmlformats.org/drawingml/2006/main">
            <a:r>
              <a:t/>
            </a:r>
          </a:p>
          <a:p xmlns:a="http://schemas.openxmlformats.org/drawingml/2006/main">
            <a:r>
              <a:t>Use the rule in your task brief when implementing the function.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the preceding slide: Precision / Recall.</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Two fractions ask different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Probability and a decision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Precision and recall. Explain why this example is needed before running it.</a:t>
            </a:r>
          </a:p>
          <a:p xmlns:a="http://schemas.openxmlformats.org/drawingml/2006/main">
            <a:r>
              <a:t/>
            </a:r>
          </a:p>
          <a:p xmlns:a="http://schemas.openxmlformats.org/drawingml/2006/main">
            <a:r>
              <a:t>EXPLAIN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NEXT</a:t>
            </a:r>
          </a:p>
          <a:p xmlns:a="http://schemas.openxmlformats.org/drawingml/2006/main">
            <a:r>
              <a:t>A category decision can use a probability.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decision can use a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Probability and a decision threshold. Explain why this example is needed before running it.</a:t>
            </a:r>
          </a:p>
          <a:p xmlns:a="http://schemas.openxmlformats.org/drawingml/2006/main">
            <a:r>
              <a:t/>
            </a:r>
          </a:p>
          <a:p xmlns:a="http://schemas.openxmlformats.org/drawingml/2006/main">
            <a:r>
              <a:t>EXPLAIN</a:t>
            </a:r>
          </a:p>
          <a:p xmlns:a="http://schemas.openxmlformats.org/drawingml/2006/main">
            <a:r>
              <a:t>A classifier may estimate the probability of class 1.</a:t>
            </a:r>
          </a:p>
          <a:p xmlns:a="http://schemas.openxmlformats.org/drawingml/2006/main">
            <a:r>
              <a:t/>
            </a:r>
          </a:p>
          <a:p xmlns:a="http://schemas.openxmlformats.org/drawingml/2006/main">
            <a:r>
              <a:t>A threshold converts that estimate into warning or no warning.</a:t>
            </a:r>
          </a:p>
          <a:p xmlns:a="http://schemas.openxmlformats.org/drawingml/2006/main">
            <a:r>
              <a:t/>
            </a:r>
          </a:p>
          <a:p xmlns:a="http://schemas.openxmlformats.org/drawingml/2006/main">
            <a:r>
              <a:t>Logistic regression is a classification model. Its probability estimates still need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the preceding slide: Probability and a decision threshold.</a:t>
            </a:r>
          </a:p>
          <a:p xmlns:a="http://schemas.openxmlformats.org/drawingml/2006/main">
            <a:r>
              <a:t/>
            </a:r>
          </a:p>
          <a:p xmlns:a="http://schemas.openxmlformats.org/drawingml/2006/main">
            <a:r>
              <a:t>LECTURER CUE</a:t>
            </a:r>
          </a:p>
          <a:p xmlns:a="http://schemas.openxmlformats.org/drawingml/2006/main">
            <a:r>
              <a:t>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Probability and a warning decision.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Threshold and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A category decision can use a probability. Explain why this example is needed before running it.</a:t>
            </a:r>
          </a:p>
          <a:p xmlns:a="http://schemas.openxmlformats.org/drawingml/2006/main">
            <a:r>
              <a:t/>
            </a:r>
          </a:p>
          <a:p xmlns:a="http://schemas.openxmlformats.org/drawingml/2006/main">
            <a:r>
              <a:t>EXPLAIN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the preceding slide: Two fractions ask different questions.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NEXT</a:t>
            </a:r>
          </a:p>
          <a:p xmlns:a="http://schemas.openxmlformats.org/drawingml/2006/main">
            <a:r>
              <a:t>State the cost rule before calculating.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State the cost rule before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Threshold and cost. Explain why this example is needed before running it.</a:t>
            </a:r>
          </a:p>
          <a:p xmlns:a="http://schemas.openxmlformats.org/drawingml/2006/main">
            <a:r>
              <a:t/>
            </a:r>
          </a:p>
          <a:p xmlns:a="http://schemas.openxmlformats.org/drawingml/2006/main">
            <a:r>
              <a:t>EXPLAIN</a:t>
            </a:r>
          </a:p>
          <a:p xmlns:a="http://schemas.openxmlformats.org/drawingml/2006/main">
            <a:r>
              <a:t>A cost rule assigns a penalty to each kind of mistake. In this teaching example, a missed warning costs 5 units and a false alarm costs 1 unit.</a:t>
            </a:r>
          </a:p>
          <a:p xmlns:a="http://schemas.openxmlformats.org/drawingml/2006/main">
            <a:r>
              <a:t/>
            </a:r>
          </a:p>
          <a:p xmlns:a="http://schemas.openxmlformats.org/drawingml/2006/main">
            <a:r>
              <a:t>Total cost = 5 × FN + FP. One missed warning and one false alarm therefore cost 6 units.</a:t>
            </a:r>
          </a:p>
          <a:p xmlns:a="http://schemas.openxmlformats.org/drawingml/2006/main">
            <a:r>
              <a:t/>
            </a:r>
          </a:p>
          <a:p xmlns:a="http://schemas.openxmlformats.org/drawingml/2006/main">
            <a:r>
              <a:t>These are invented teaching penalties. Use the published assignment cost rule and explain whose consequences it represents.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the preceding slide: Threshold and cost.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Counting syntax in the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syntax in the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State the cost rule before calculating. Explain why this example is needed before running it.</a:t>
            </a:r>
          </a:p>
          <a:p xmlns:a="http://schemas.openxmlformats.org/drawingml/2006/main">
            <a:r>
              <a:t/>
            </a:r>
          </a:p>
          <a:p xmlns:a="http://schemas.openxmlformats.org/drawingml/2006/main">
            <a:r>
              <a:t>EXPLAIN</a:t>
            </a:r>
          </a:p>
          <a:p xmlns:a="http://schemas.openxmlformats.org/drawingml/2006/main">
            <a:r>
              <a:t>Our paired lists must have matching lengths. zip alone stops at the shorter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the preceding slide: State the cost rule before calculating.</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in Python</a:t>
            </a:r>
          </a:p>
          <a:p xmlns:a="http://schemas.openxmlformats.org/drawingml/2006/main">
            <a:r>
              <a:t/>
            </a:r>
          </a:p>
          <a:p xmlns:a="http://schemas.openxmlformats.org/drawingml/2006/main">
            <a:r>
              <a:t>CONNECT</a:t>
            </a:r>
          </a:p>
          <a:p xmlns:a="http://schemas.openxmlformats.org/drawingml/2006/main">
            <a:r>
              <a:t>Build on Counting syntax in the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Counting syntax in the example.</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Complete practice code:</a:t>
            </a:r>
          </a:p>
          <a:p xmlns:a="http://schemas.openxmlformats.org/drawingml/2006/main">
            <a:r>
              <a:t>actual = [1, 1, 0, 0]</a:t>
            </a:r>
          </a:p>
          <a:p xmlns:a="http://schemas.openxmlformats.org/drawingml/2006/main">
            <a:r>
              <a:t>predicted = [1, 0, 1, 0]</a:t>
            </a:r>
          </a:p>
          <a:p xmlns:a="http://schemas.openxmlformats.org/drawingml/2006/main">
            <a:r>
              <a:t>for truth, guess in zip(actual, predicted):</a:t>
            </a:r>
          </a:p>
          <a:p xmlns:a="http://schemas.openxmlformats.org/drawingml/2006/main">
            <a:r>
              <a:t>    print(truth, guess)</a:t>
            </a:r>
          </a:p>
          <a:p xmlns:a="http://schemas.openxmlformats.org/drawingml/2006/main">
            <a:r>
              <a:t># Count the four categories on paper before calculating.</a:t>
            </a:r>
          </a:p>
          <a:p xmlns:a="http://schemas.openxmlformats.org/drawingml/2006/main">
            <a:r>
              <a:t>tp, fn, fp, tn = 1, 1, 1, 1</a:t>
            </a:r>
          </a:p>
          <a:p xmlns:a="http://schemas.openxmlformats.org/drawingml/2006/main">
            <a:r>
              <a:t>print(tp / (tp + fp))</a:t>
            </a:r>
          </a:p>
          <a:p xmlns:a="http://schemas.openxmlformats.org/drawingml/2006/main">
            <a:r>
              <a:t>print(tp / (tp + fn))</a:t>
            </a:r>
          </a:p>
          <a:p xmlns:a="http://schemas.openxmlformats.org/drawingml/2006/main">
            <a:r>
              <a:t>print(5 * fn + fp)</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results</a:t>
            </a:r>
          </a:p>
          <a:p xmlns:a="http://schemas.openxmlformats.org/drawingml/2006/main">
            <a:r>
              <a:t/>
            </a:r>
          </a:p>
          <a:p xmlns:a="http://schemas.openxmlformats.org/drawingml/2006/main">
            <a:r>
              <a:t>CONNECT</a:t>
            </a:r>
          </a:p>
          <a:p xmlns:a="http://schemas.openxmlformats.org/drawingml/2006/main">
            <a:r>
              <a:t>Build on Classification outcomes in Python. Explain why this example is needed before running it.</a:t>
            </a:r>
          </a:p>
          <a:p xmlns:a="http://schemas.openxmlformats.org/drawingml/2006/main">
            <a:r>
              <a:t/>
            </a:r>
          </a:p>
          <a:p xmlns:a="http://schemas.openxmlformats.org/drawingml/2006/main">
            <a:r>
              <a:t>EXPLAIN</a:t>
            </a:r>
          </a:p>
          <a:p xmlns:a="http://schemas.openxmlformats.org/drawingml/2006/main">
            <a:r>
              <a:t>Four paired rows, then precision 0.5, recall 0.5 and teaching cost 6.</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Counting arbitrary paired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Classification outcomes results. Explain why this example is needed before running it.</a:t>
            </a:r>
          </a:p>
          <a:p xmlns:a="http://schemas.openxmlformats.org/drawingml/2006/main">
            <a:r>
              <a:t/>
            </a:r>
          </a:p>
          <a:p xmlns:a="http://schemas.openxmlformats.org/drawingml/2006/main">
            <a:r>
              <a:t>EXPLAIN</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tp = tn = fp = fn = 0 sets all four counters to zero. tp += 1 is shorthand for tp = tp + 1.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Counting arbitrary paired observations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Counting arbitrary paired observations.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Counting arbitrary paired observations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(1/3).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Counting arbitrary paired observations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(2/3).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confusion matrix.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Represent a category with indicators.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Counting arbitrary paired observations in Python (3/3). Explain why this example is needed before running it.</a:t>
            </a:r>
          </a:p>
          <a:p xmlns:a="http://schemas.openxmlformats.org/drawingml/2006/main">
            <a:r>
              <a:t/>
            </a:r>
          </a:p>
          <a:p xmlns:a="http://schemas.openxmlformats.org/drawingml/2006/main">
            <a:r>
              <a:t>EXPLAIN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the preceding slide: Probability and a warning decision.</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NEXT</a:t>
            </a:r>
          </a:p>
          <a:p xmlns:a="http://schemas.openxmlformats.org/drawingml/2006/main">
            <a:r>
              <a:t>A category can become indicator columns.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can become indicator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Represent a category with indicators. Explain why this example is needed before running it.</a:t>
            </a:r>
          </a:p>
          <a:p xmlns:a="http://schemas.openxmlformats.org/drawingml/2006/main">
            <a:r>
              <a:t/>
            </a:r>
          </a:p>
          <a:p xmlns:a="http://schemas.openxmlformats.org/drawingml/2006/main">
            <a:r>
              <a:t>EXPLAIN</a:t>
            </a:r>
          </a:p>
          <a:p xmlns:a="http://schemas.openxmlformats.org/drawingml/2006/main">
            <a:r>
              <a:t>An encoder converts category labels to numeric columns. Fit it on training data. Each indicator is 1 when that category applies, otherwise 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the preceding slide: Represent a category with indicators.</a:t>
            </a:r>
          </a:p>
          <a:p xmlns:a="http://schemas.openxmlformats.org/drawingml/2006/main">
            <a:r>
              <a:t/>
            </a:r>
          </a:p>
          <a:p xmlns:a="http://schemas.openxmlformats.org/drawingml/2006/main">
            <a:r>
              <a:t>LECTURER CUE</a:t>
            </a:r>
          </a:p>
          <a:p xmlns:a="http://schemas.openxmlformats.org/drawingml/2006/main">
            <a:r>
              <a:t>An indicator is 1 when its category applies and 0 otherwise. Fit the encoder on training data.</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Accuracy can hide missed warnings.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Accuracy can hide missed warnings.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A category can become indicator columns. Explain why this example is needed before running it.</a:t>
            </a:r>
          </a:p>
          <a:p xmlns:a="http://schemas.openxmlformats.org/drawingml/2006/main">
            <a:r>
              <a:t/>
            </a:r>
          </a:p>
          <a:p xmlns:a="http://schemas.openxmlformats.org/drawingml/2006/main">
            <a:r>
              <a:t>EXPLAIN</a:t>
            </a:r>
          </a:p>
          <a:p xmlns:a="http://schemas.openxmlformats.org/drawingml/2006/main">
            <a:r>
              <a:t>Accuracy = number of correct labels / number of labels. It counts correct warnings and correct non-warnings together.</a:t>
            </a:r>
          </a:p>
          <a:p xmlns:a="http://schemas.openxmlformats.org/drawingml/2006/main">
            <a:r>
              <a:t/>
            </a:r>
          </a:p>
          <a:p xmlns:a="http://schemas.openxmlformats.org/drawingml/2006/main">
            <a:r>
              <a:t>If 90 of 100 cases need no warning, predicting no warning every time gives 90% accuracy. It detects none of the 10 real warnings: recall is 0.</a:t>
            </a:r>
          </a:p>
          <a:p xmlns:a="http://schemas.openxmlformats.org/drawingml/2006/main">
            <a:r>
              <a:t/>
            </a:r>
          </a:p>
          <a:p xmlns:a="http://schemas.openxmlformats.org/drawingml/2006/main">
            <a:r>
              <a:t>Always inspect the actual/predicted counts and relevant costs before calling a classifier useful.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the preceding slide: A category can become indicator columns.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Accuracy can hide missed warnings. Explain why this example is needed before running it.</a:t>
            </a:r>
          </a:p>
          <a:p xmlns:a="http://schemas.openxmlformats.org/drawingml/2006/main">
            <a:r>
              <a:t/>
            </a:r>
          </a:p>
          <a:p xmlns:a="http://schemas.openxmlformats.org/drawingml/2006/main">
            <a:r>
              <a:t>EXPLAIN</a:t>
            </a:r>
          </a:p>
          <a:p xmlns:a="http://schemas.openxmlformats.org/drawingml/2006/main">
            <a:r>
              <a:t>Example: Change the second prediction to 1. Count again. Does this improve both recall and the assumed cost?</a:t>
            </a:r>
          </a:p>
          <a:p xmlns:a="http://schemas.openxmlformats.org/drawingml/2006/main">
            <a:r>
              <a:t/>
            </a:r>
          </a:p>
          <a:p xmlns:a="http://schemas.openxmlformats.org/drawingml/2006/main">
            <a:r>
              <a:t>Answer: TP=2, FN=0, FP=1, TN=1. Precision 2/3, recall 1, cost 1. This particular change improves recall and cost.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Accuracy can hide missed warnings.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TP=2, FN=0, FP=1, TN=1. Precision 2/3, recall 1, cost 1. This particular change improves recall and cost.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TP=2, FN=0, FP=1, TN=1. Precision 2/3, recall 1, cost 1. This particular change improves recall and cost.</a:t>
            </a:r>
          </a:p>
          <a:p xmlns:a="http://schemas.openxmlformats.org/drawingml/2006/main">
            <a:r>
              <a:t>Which step produced this result? What changes if one input changes?</a:t>
            </a:r>
          </a:p>
          <a:p xmlns:a="http://schemas.openxmlformats.org/drawingml/2006/main">
            <a:r>
              <a:t>CML3113   Week 9   32</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Implement classification_metrics on arbitrary paired binary labels, not only the example.</a:t>
            </a:r>
          </a:p>
          <a:p xmlns:a="http://schemas.openxmlformats.org/drawingml/2006/main">
            <a:r>
              <a:t/>
            </a:r>
          </a:p>
          <a:p xmlns:a="http://schemas.openxmlformats.org/drawingml/2006/main">
            <a:r>
              <a:t>Use the published zero-denominator convention.</a:t>
            </a:r>
          </a:p>
          <a:p xmlns:a="http://schemas.openxmlformats.org/drawingml/2006/main">
            <a:r>
              <a:t/>
            </a:r>
          </a:p>
          <a:p xmlns:a="http://schemas.openxmlformats.org/drawingml/2006/main">
            <a:r>
              <a:t>Read the supplied W09 comparison separately.</a:t>
            </a:r>
          </a:p>
          <a:p xmlns:a="http://schemas.openxmlformats.org/drawingml/2006/main">
            <a:r>
              <a:t/>
            </a:r>
          </a:p>
          <a:p xmlns:a="http://schemas.openxmlformats.org/drawingml/2006/main">
            <a:r>
              <a:t>Teacher-written cost assumptions are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All claimed benefits require real-world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Category predictions and operating thresholds.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majority-only classifier can achieve high accuracy while missing the rare class.</a:t>
            </a:r>
          </a:p>
          <a:p xmlns:a="http://schemas.openxmlformats.org/drawingml/2006/main">
            <a:r>
              <a:t/>
            </a:r>
          </a:p>
          <a:p xmlns:a="http://schemas.openxmlformats.org/drawingml/2006/main">
            <a:r>
              <a:t>Name the positive class and both confusion-matrix axes.</a:t>
            </a:r>
          </a:p>
          <a:p xmlns:a="http://schemas.openxmlformats.org/drawingml/2006/main">
            <a:r>
              <a:t/>
            </a:r>
          </a:p>
          <a:p xmlns:a="http://schemas.openxmlformats.org/drawingml/2006/main">
            <a:r>
              <a:t>A model expecting numeric features cannot directly use raw category strings; use numeric indicator columns for categories.</a:t>
            </a:r>
          </a:p>
          <a:p xmlns:a="http://schemas.openxmlformats.org/drawingml/2006/main">
            <a:r>
              <a:t/>
            </a:r>
          </a:p>
          <a:p xmlns:a="http://schemas.openxmlformats.org/drawingml/2006/main">
            <a:r>
              <a:t>Compare threshold choices on validation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Category predictions and operating thresholds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Category predictions and operating thresholds. Explain why this example is needed before running it.</a:t>
            </a:r>
          </a:p>
          <a:p xmlns:a="http://schemas.openxmlformats.org/drawingml/2006/main">
            <a:r>
              <a:t/>
            </a:r>
          </a:p>
          <a:p xmlns:a="http://schemas.openxmlformats.org/drawingml/2006/main">
            <a:r>
              <a:t>EXPLAIN</a:t>
            </a:r>
          </a:p>
          <a:p xmlns:a="http://schemas.openxmlformats.org/drawingml/2006/main">
            <a:r>
              <a:t>Reducing the threshold adds flagged cases and cannot reduce recall on fixed scored observations, but precision can move either way.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Category predictions and operating thresholds continued. Explain why this example is needed before running it.</a:t>
            </a:r>
          </a:p>
          <a:p xmlns:a="http://schemas.openxmlformats.org/drawingml/2006/main">
            <a:r>
              <a:t/>
            </a:r>
          </a:p>
          <a:p xmlns:a="http://schemas.openxmlformats.org/drawingml/2006/main">
            <a:r>
              <a:t>EXPLAIN</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cost.</a:t>
            </a:r>
          </a:p>
          <a:p xmlns:a="http://schemas.openxmlformats.org/drawingml/2006/main">
            <a:r>
              <a:t/>
            </a:r>
          </a:p>
          <a:p xmlns:a="http://schemas.openxmlformats.org/drawingml/2006/main">
            <a:r>
              <a:t>Explain the 5:1 missed-warning/false-alarm cost assumption and why accuracy alone is insufficient.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 continued.</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Your issued task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These costs are teaching assumptions,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classification_metrics(actual,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classification_metrics(actual,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Your issued task continued. Explain why this example is needed before running it.</a:t>
            </a:r>
          </a:p>
          <a:p xmlns:a="http://schemas.openxmlformats.org/drawingml/2006/main">
            <a:r>
              <a:t/>
            </a:r>
          </a:p>
          <a:p xmlns:a="http://schemas.openxmlformats.org/drawingml/2006/main">
            <a:r>
              <a:t>EXPLAIN</a:t>
            </a:r>
          </a:p>
          <a:p xmlns:a="http://schemas.openxmlformats.org/drawingml/2006/main">
            <a:r>
              <a:t>For binary labels return tp, tn, fp, fn, precision, recall and cost=5*fn+fp; use zero for an undefined precision/recall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the preceding slide: Your issued task continued.</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IUEA_Teaching_Plan/assessment_banks/W09/CML3113/A/TASKS.md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classification_metrics(actual,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classification_metrics(actual,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 and cost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 and cost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06 Nov 2026, 08:00 Kampala</a:t>
            </a:r>
          </a:p>
          <a:p xmlns:a="http://schemas.openxmlformats.org/drawingml/2006/main">
            <a:r>
              <a:t/>
            </a:r>
          </a:p>
          <a:p xmlns:a="http://schemas.openxmlformats.org/drawingml/2006/main">
            <a:r>
              <a:t>Deadline: 13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9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9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Classification and cost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the preceding slide: Classification and cost submission.</a:t>
            </a:r>
          </a:p>
          <a:p xmlns:a="http://schemas.openxmlformats.org/drawingml/2006/main">
            <a:r>
              <a:t/>
            </a:r>
          </a:p>
          <a:p xmlns:a="http://schemas.openxmlformats.org/drawingml/2006/main">
            <a:r>
              <a:t>LECTURER CUE</a:t>
            </a:r>
          </a:p>
          <a:p xmlns:a="http://schemas.openxmlformats.org/drawingml/2006/main">
            <a:r>
              <a:t>Activate the matching open_W9_CML3113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9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9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Translate the medical example to warning/no-warning and label the axes.</a:t>
            </a:r>
          </a:p>
          <a:p xmlns:a="http://schemas.openxmlformats.org/drawingml/2006/main">
            <a:r>
              <a:t>Preview before class and stop after the selected short excerpt. If playback fails, teach the worked example. Video is optional. Source: https://www.youtube.com/watch?v=Kdsp6soqA7o</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cbf2d506ed41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6d2725821474c2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36bf9a9cf442f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773e93bd2440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03f0c85d0b46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c1a721b2b2d48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900CA08-F3D7-44A7-883F-71D826117EA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8A46-65D1-41F2-99EE-2DDC1D3CDD3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D5590EC-51B3-4525-820F-8B903E154C9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B01EF65-44D6-434E-AC4A-8819EC69A91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D68BC1B7-5A45-4A2C-9298-42E1F216142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B28D5A6-1161-43DE-A771-3DE700C01FA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6F993AD-9045-4234-B83C-A9C980F96A7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06459772-5A3B-46D2-9EC4-357E2B5E03A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BA98BB8-35ED-43E8-97A1-D446F33F0F0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1C291BF-DC1A-481A-9D34-9A62125623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EC7449D-F2C7-4535-8A66-8EAC44C3DA4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0997BCD-377D-4821-9C85-B4FBDBE22AE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D1A5E29-A794-485A-816B-B9C6F1E8524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61B9E6B-ACA6-45FB-B53D-B10B64858AE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0C7FBC4-D3CC-41C4-AD78-588DC2828CE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ade4219e844e65" /><Relationship Type="http://schemas.openxmlformats.org/officeDocument/2006/relationships/slideLayout" Target="/ppt/slideLayouts/slideLayout1.xml" Id="Ra12e07baa6294320" /><Relationship Type="http://schemas.openxmlformats.org/officeDocument/2006/relationships/slideLayout" Target="/ppt/slideLayouts/slideLayout2.xml" Id="R0cde4fdf7a7a4cef" /><Relationship Type="http://schemas.openxmlformats.org/officeDocument/2006/relationships/slideLayout" Target="/ppt/slideLayouts/slideLayout3.xml" Id="Rc1f09045bf7b4127" /><Relationship Type="http://schemas.openxmlformats.org/officeDocument/2006/relationships/slideLayout" Target="/ppt/slideLayouts/slideLayout4.xml" Id="R565d5ca274cd4e4a" /><Relationship Type="http://schemas.openxmlformats.org/officeDocument/2006/relationships/slideLayout" Target="/ppt/slideLayouts/slideLayout5.xml" Id="R2882d2de34d2443d" /><Relationship Type="http://schemas.openxmlformats.org/officeDocument/2006/relationships/slideLayout" Target="/ppt/slideLayouts/slideLayout6.xml" Id="Rc57fac73d59449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2e07baa6294320"/>
    <p:sldLayoutId xmlns:r="http://schemas.openxmlformats.org/officeDocument/2006/relationships" id="2147483650" r:id="R0cde4fdf7a7a4cef"/>
    <p:sldLayoutId xmlns:r="http://schemas.openxmlformats.org/officeDocument/2006/relationships" id="2147483651" r:id="Rc1f09045bf7b4127"/>
    <p:sldLayoutId xmlns:r="http://schemas.openxmlformats.org/officeDocument/2006/relationships" id="2147483652" r:id="R565d5ca274cd4e4a"/>
    <p:sldLayoutId xmlns:r="http://schemas.openxmlformats.org/officeDocument/2006/relationships" id="2147483653" r:id="R2882d2de34d2443d"/>
    <p:sldLayoutId xmlns:r="http://schemas.openxmlformats.org/officeDocument/2006/relationships" id="2147483654" r:id="Rc57fac73d59449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710844c4d54a61" /><Relationship Type="http://schemas.openxmlformats.org/officeDocument/2006/relationships/image" Target="/ppt/media/image.png" Id="Rc15aa2152a5b4905" /><Relationship Type="http://schemas.openxmlformats.org/officeDocument/2006/relationships/notesSlide" Target="/ppt/notesSlides/notesSlide1.xml" Id="R62a705a498c349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ff0c9622a8547fa" /><Relationship Type="http://schemas.openxmlformats.org/officeDocument/2006/relationships/notesSlide" Target="/ppt/notesSlides/notesSlide2.xml" Id="R600b5e1314f9408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30da2e13ac4ef5" /><Relationship Type="http://schemas.openxmlformats.org/officeDocument/2006/relationships/notesSlide" Target="/ppt/notesSlides/notesSlide3.xml" Id="R248a8688875d40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4458dcec2b541c2" /><Relationship Type="http://schemas.openxmlformats.org/officeDocument/2006/relationships/notesSlide" Target="/ppt/notesSlides/notesSlide4.xml" Id="R284fb643b6054c4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f8e3cd630654e9c" /><Relationship Type="http://schemas.openxmlformats.org/officeDocument/2006/relationships/notesSlide" Target="/ppt/notesSlides/notesSlide5.xml" Id="R641d9496842f4f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b61b317931149a8" /><Relationship Type="http://schemas.openxmlformats.org/officeDocument/2006/relationships/notesSlide" Target="/ppt/notesSlides/notesSlide6.xml" Id="Re65dd25e1cbb45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2861e53ae349df" /><Relationship Type="http://schemas.openxmlformats.org/officeDocument/2006/relationships/notesSlide" Target="/ppt/notesSlides/notesSlide7.xml" Id="R2b2fc651684b45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9d06ab0f0af4520" /><Relationship Type="http://schemas.openxmlformats.org/officeDocument/2006/relationships/notesSlide" Target="/ppt/notesSlides/notesSlide8.xml" Id="R80487928162440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0153d7e83584d12" /><Relationship Type="http://schemas.openxmlformats.org/officeDocument/2006/relationships/image" Target="/ppt/media/image2.png" Id="Rf484b367f140483f" /><Relationship Type="http://schemas.openxmlformats.org/officeDocument/2006/relationships/notesSlide" Target="/ppt/notesSlides/notesSlide9.xml" Id="R8e8271d8683c46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2169d6e66c464d" /><Relationship Type="http://schemas.openxmlformats.org/officeDocument/2006/relationships/notesSlide" Target="/ppt/notesSlides/notesSlide10.xml" Id="R0985a751aa5946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8564e3db7014f9e" /><Relationship Type="http://schemas.openxmlformats.org/officeDocument/2006/relationships/notesSlide" Target="/ppt/notesSlides/notesSlide11.xml" Id="R9729685d848d4f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31a0db0d8704750" /><Relationship Type="http://schemas.openxmlformats.org/officeDocument/2006/relationships/notesSlide" Target="/ppt/notesSlides/notesSlide12.xml" Id="Rf0ced594da3f46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74d8bdf01244ae8" /><Relationship Type="http://schemas.openxmlformats.org/officeDocument/2006/relationships/notesSlide" Target="/ppt/notesSlides/notesSlide13.xml" Id="R0b99af6fb8e049a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7ea2da6f15040ef" /><Relationship Type="http://schemas.openxmlformats.org/officeDocument/2006/relationships/notesSlide" Target="/ppt/notesSlides/notesSlide14.xml" Id="R9515f37c48f446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7d44b395a8e4cd7" /><Relationship Type="http://schemas.openxmlformats.org/officeDocument/2006/relationships/notesSlide" Target="/ppt/notesSlides/notesSlide15.xml" Id="Rf5c17be181074b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ec0840528d742a3" /><Relationship Type="http://schemas.openxmlformats.org/officeDocument/2006/relationships/notesSlide" Target="/ppt/notesSlides/notesSlide16.xml" Id="R8e391f56d1a14ec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d457942c6ab4a2c" /><Relationship Type="http://schemas.openxmlformats.org/officeDocument/2006/relationships/notesSlide" Target="/ppt/notesSlides/notesSlide17.xml" Id="R85a62ec62de3497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f94bb8e057f41bc" /><Relationship Type="http://schemas.openxmlformats.org/officeDocument/2006/relationships/notesSlide" Target="/ppt/notesSlides/notesSlide18.xml" Id="Rc70e0141b63d44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05bdf53dca64030" /><Relationship Type="http://schemas.openxmlformats.org/officeDocument/2006/relationships/notesSlide" Target="/ppt/notesSlides/notesSlide19.xml" Id="R5eb85205a33844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5de7f526f124a7f" /><Relationship Type="http://schemas.openxmlformats.org/officeDocument/2006/relationships/notesSlide" Target="/ppt/notesSlides/notesSlide20.xml" Id="R12594b7a3a6a4b2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8a26013f7354cd8" /><Relationship Type="http://schemas.openxmlformats.org/officeDocument/2006/relationships/notesSlide" Target="/ppt/notesSlides/notesSlide21.xml" Id="R42ac6f76877c4b1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5b8acfac8e745af" /><Relationship Type="http://schemas.openxmlformats.org/officeDocument/2006/relationships/notesSlide" Target="/ppt/notesSlides/notesSlide22.xml" Id="Rc2401ca3e05244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2e873a1e0ba4416" /><Relationship Type="http://schemas.openxmlformats.org/officeDocument/2006/relationships/notesSlide" Target="/ppt/notesSlides/notesSlide23.xml" Id="R9e0894be3811446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c60a715851e41f5" /><Relationship Type="http://schemas.openxmlformats.org/officeDocument/2006/relationships/notesSlide" Target="/ppt/notesSlides/notesSlide24.xml" Id="Rdde707a6f3e14dc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dc045d239f44c2b" /><Relationship Type="http://schemas.openxmlformats.org/officeDocument/2006/relationships/notesSlide" Target="/ppt/notesSlides/notesSlide25.xml" Id="Rfa48d15be20d40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86f19c68c2b451b" /><Relationship Type="http://schemas.openxmlformats.org/officeDocument/2006/relationships/notesSlide" Target="/ppt/notesSlides/notesSlide26.xml" Id="Re80cc043ae904d0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e7a4a6befb240b2" /><Relationship Type="http://schemas.openxmlformats.org/officeDocument/2006/relationships/notesSlide" Target="/ppt/notesSlides/notesSlide27.xml" Id="Ra8aba989e4614d4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9c191fcc5ac4e00" /><Relationship Type="http://schemas.openxmlformats.org/officeDocument/2006/relationships/notesSlide" Target="/ppt/notesSlides/notesSlide28.xml" Id="R28e7b0d824aa4c5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e669b81890849e1" /><Relationship Type="http://schemas.openxmlformats.org/officeDocument/2006/relationships/notesSlide" Target="/ppt/notesSlides/notesSlide29.xml" Id="R257bc45375a140f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f5db439386c42c2" /><Relationship Type="http://schemas.openxmlformats.org/officeDocument/2006/relationships/notesSlide" Target="/ppt/notesSlides/notesSlide30.xml" Id="R41d646d9886e4c7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972e26168324ef5" /><Relationship Type="http://schemas.openxmlformats.org/officeDocument/2006/relationships/notesSlide" Target="/ppt/notesSlides/notesSlide31.xml" Id="R1fc4d455892a4c2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ee9aa42f34f49c5" /><Relationship Type="http://schemas.openxmlformats.org/officeDocument/2006/relationships/notesSlide" Target="/ppt/notesSlides/notesSlide32.xml" Id="R4a5947946902469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c917947b1ac4bf0" /><Relationship Type="http://schemas.openxmlformats.org/officeDocument/2006/relationships/notesSlide" Target="/ppt/notesSlides/notesSlide33.xml" Id="R5b6f8c15962e403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8290b5c89534d0f" /><Relationship Type="http://schemas.openxmlformats.org/officeDocument/2006/relationships/notesSlide" Target="/ppt/notesSlides/notesSlide34.xml" Id="R72ea611556fc40e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31b4d5704bd493c" /><Relationship Type="http://schemas.openxmlformats.org/officeDocument/2006/relationships/notesSlide" Target="/ppt/notesSlides/notesSlide35.xml" Id="R0d6ef6ed45ef4e3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5d3f4c00cbf43cf" /><Relationship Type="http://schemas.openxmlformats.org/officeDocument/2006/relationships/hyperlink" Target="https://docs.google.com/forms/d/e/1FAIpQLSfckaplMvJ6zeqbURyQrkDOSTS0MhGV3jY3tIY4EhnHLMm1tw/viewform" TargetMode="External" Id="R96cb92afc89c4493" /><Relationship Type="http://schemas.openxmlformats.org/officeDocument/2006/relationships/notesSlide" Target="/ppt/notesSlides/notesSlide36.xml" Id="R093ec8eaee0e452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3b7fb5767c04a2a" /><Relationship Type="http://schemas.openxmlformats.org/officeDocument/2006/relationships/image" Target="/ppt/media/image3.png" Id="Rab454d89be4b4b3f" /><Relationship Type="http://schemas.openxmlformats.org/officeDocument/2006/relationships/hyperlink" Target="https://forms.gle/biJnEga9118gnz9X9" TargetMode="External" Id="R0e489218c7c741db" /><Relationship Type="http://schemas.openxmlformats.org/officeDocument/2006/relationships/notesSlide" Target="/ppt/notesSlides/notesSlide37.xml" Id="R11faf7f9d8bc42b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de28af08e01494f" /><Relationship Type="http://schemas.openxmlformats.org/officeDocument/2006/relationships/notesSlide" Target="/ppt/notesSlides/notesSlide38.xml" Id="Rd1109e07959d445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5181de2076043c5" /><Relationship Type="http://schemas.openxmlformats.org/officeDocument/2006/relationships/hyperlink" Target="https://www.youtube.com/watch?v=Kdsp6soqA7o" TargetMode="External" Id="R90db38c45efd4090" /><Relationship Type="http://schemas.openxmlformats.org/officeDocument/2006/relationships/notesSlide" Target="/ppt/notesSlides/notesSlide39.xml" Id="R32ceae3f5d354f6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15aa2152a5b490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4DFB7B9-FBBE-4D92-90C2-32B2D3C0977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3E5BEE-391A-4A32-AE46-20B8FD5C570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661ACEF9-8D0F-44FB-8F78-DAF2EED992C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A06ECD6A-D505-4618-8E8E-9FC7270E0E1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9293DF3-5123-4A16-AC6C-0E7B1279436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10341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37181BF-79B7-4712-82E2-FC81E67C4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3516C3-C286-42E9-A5A6-057D2176BF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36E7385-3507-47CE-BFF0-8F8F0C9A2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DA2994A-A184-47F8-8FD0-5C0E6E5F3B8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932A0B-6EF2-482D-80C9-7F60E1AF437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8E7631A-B535-4026-B034-76D03F62A9F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FA01941D-4D62-43F7-A894-AB89FD18FA7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302B6E0-0668-4220-89CA-CE96A8FD440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3BDA1AF4-8302-4DCE-9282-0BDAEEB7AA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14988691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EF328-1461-486A-A4E5-03B5FF39F6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E4FE25-4361-454B-9977-F1AE683C71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627569-430D-4F78-B79F-D92F9F69B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475EB62-A20D-405F-BB6C-6A3036B38DD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9405B4-0956-42FC-B0A3-E93CD6210AF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963D9A86-30EF-4B7E-8C86-37FCC8B48D3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E5736AE1-2A33-4979-A08D-69E1C7EFF9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a:t>
            </a:r>
          </a:p>
        </p:txBody>
      </p:sp>
    </p:spTree>
    <p:extLst>
      <p:ext uri="{BB962C8B-B14F-4D97-AF65-F5344CB8AC3E}">
        <p14:creationId xmlns:p14="http://schemas.microsoft.com/office/powerpoint/2010/main" val="13557148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F84289-4C4C-4844-B1D1-F1F8CA8E9D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DF060E-D418-4B44-9CBC-DDCF2D0E3E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9EA6C6-31C1-4FE9-83F6-057A450B85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22303662-F3E5-4B5E-8BB1-B0826A4AF50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5239F1-9D9B-41AA-B09C-2129F23B7A9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9F220E22-84DC-45F8-BA4B-7FC746F10AD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7DF62682-9D80-4B97-B823-F8BE9BF3D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16356028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EA64922-BD66-4782-8327-EBF820499B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41CD8-A2D7-4256-932C-F32778BA71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7BCEB0-71D1-43A0-9783-D6F596CBB2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39047584-2881-4155-8DB6-8F88471409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6C39C4-A1AC-46F5-B537-4FBAE54F67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5B4A0151-7291-4CD8-8907-A0F47D4B91A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0A473F-8829-4CC8-ADFD-4852D448A9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F6209275-8340-4E09-A1DC-7D78CA0E334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005215-8960-4A9F-9FE8-9C7E948D34C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7A428BA9-3F06-41F2-8193-9D69458F09E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F06F322-28D2-42DE-844F-48D4E58CA80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F6B81EA5-02F4-4E74-BE88-9F9E1AC7C1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a:t>
            </a:r>
          </a:p>
        </p:txBody>
      </p:sp>
    </p:spTree>
    <p:extLst>
      <p:ext uri="{BB962C8B-B14F-4D97-AF65-F5344CB8AC3E}">
        <p14:creationId xmlns:p14="http://schemas.microsoft.com/office/powerpoint/2010/main" val="12351303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EF3311-3716-4CB3-B630-EB69960820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B3E51-1C23-4BE1-9B02-246EC5BCB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4E6449-EBF8-4267-AC77-B58434AD1A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EAE60A8D-5F03-4C42-806B-5BAC4FD29A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BA8B5E-D748-4FFA-A190-55E78362427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6155EE4B-CA36-4011-90DC-23CF83ACE92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BA97632F-455E-4A10-BEFD-9D0D4C01DFD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CDF148E-85D7-475F-861C-75F82E1E762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FA641874-DF64-469D-AC13-59EAEDE7EF5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CEA6D1A8-E574-484E-A422-2E4486AED0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6</a:t>
            </a:r>
          </a:p>
        </p:txBody>
      </p:sp>
    </p:spTree>
    <p:extLst>
      <p:ext uri="{BB962C8B-B14F-4D97-AF65-F5344CB8AC3E}">
        <p14:creationId xmlns:p14="http://schemas.microsoft.com/office/powerpoint/2010/main" val="1658363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C9935-D47F-4859-9855-F1E59F1475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A1F357-0E6E-4D54-87A9-8C399DA492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D0D3EB7-0DE3-447B-B3CE-D18865AA75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49D0BD62-2471-4A6C-A9BB-A56EFFA15BC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22936D-5D7D-49D8-BB82-30AFE1C5CBA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77AC5A85-F347-4019-BB83-AA5B746FFD2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4F8675D0-A707-4AE1-802A-66B47033F7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7</a:t>
            </a:r>
          </a:p>
        </p:txBody>
      </p:sp>
    </p:spTree>
    <p:extLst>
      <p:ext uri="{BB962C8B-B14F-4D97-AF65-F5344CB8AC3E}">
        <p14:creationId xmlns:p14="http://schemas.microsoft.com/office/powerpoint/2010/main" val="14764460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445787-623C-478C-A131-A4CE877E10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8832CE-59EB-4891-9497-870F099DF6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3D54DD-714E-42DB-BC25-518C111EAF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5542FAA1-9BAA-4716-B5CD-53BE12D070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11A7F2-7037-4F36-A556-098D51BF03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1D7507F6-A609-49B9-B28C-4C9AB26BFC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25168A-FC99-42C8-902F-C6DACC1C88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866EC605-50B5-43F7-9DF2-FBC007DFDD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069850-1BB3-44D4-A040-990625FD3A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772F088F-C0FB-4BEA-88A2-EF5AFCB14F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8</a:t>
            </a:r>
          </a:p>
        </p:txBody>
      </p:sp>
    </p:spTree>
    <p:extLst>
      <p:ext uri="{BB962C8B-B14F-4D97-AF65-F5344CB8AC3E}">
        <p14:creationId xmlns:p14="http://schemas.microsoft.com/office/powerpoint/2010/main" val="264290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7DF340-1265-41E1-80A1-D92513DD410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229A42-DC85-4036-8E58-8E01DE7901F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484b367f140483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37A3535-88AC-4FD2-AD6F-6284D1ABD30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239594-9934-48B1-ABC8-295546C43D3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50DD776A-14E5-4B90-B185-5B73F12E9C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9</a:t>
            </a:r>
          </a:p>
        </p:txBody>
      </p:sp>
    </p:spTree>
    <p:extLst>
      <p:ext uri="{BB962C8B-B14F-4D97-AF65-F5344CB8AC3E}">
        <p14:creationId xmlns:p14="http://schemas.microsoft.com/office/powerpoint/2010/main" val="18710800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8A6758-C676-4343-BDD4-D9944B48B5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5F3F51-069D-44C3-9ACB-D5958E0BEC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0526078-381A-4425-9E0D-9737AC3C2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29B382A-F264-4005-A08B-F398C9BD49A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69B65B49-A650-429C-A988-78047E26D0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10</a:t>
            </a:r>
          </a:p>
        </p:txBody>
      </p:sp>
    </p:spTree>
    <p:extLst>
      <p:ext uri="{BB962C8B-B14F-4D97-AF65-F5344CB8AC3E}">
        <p14:creationId xmlns:p14="http://schemas.microsoft.com/office/powerpoint/2010/main" val="31707800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CBDE2C-1620-4F17-AEB0-2A4221F9E4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04CDE5-B2BE-400D-90B4-8A58C30BC0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BEB66C0-3EB1-4077-8CCF-3698EF81BB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2D22D3B9-4B2A-4E5D-A08B-3F8E2BB798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34E227-9F51-4CBA-90FD-96B19CD7A72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30C728CE-C54F-41AB-A26F-487D95B2166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4213903F-C475-4FC6-AD2D-37CF89ECA60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9A175E-1E42-4C46-ACB2-0BB8D53A4F0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33B3AAD0-CBA5-41AE-A131-88F5E7AF15D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49524847-A79B-4FE4-9CCC-B368521D3F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11</a:t>
            </a:r>
          </a:p>
        </p:txBody>
      </p:sp>
    </p:spTree>
    <p:extLst>
      <p:ext uri="{BB962C8B-B14F-4D97-AF65-F5344CB8AC3E}">
        <p14:creationId xmlns:p14="http://schemas.microsoft.com/office/powerpoint/2010/main" val="139079049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3210D7-45ED-4711-9349-70861B2619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4AA73E-5669-430B-850A-E98DF4625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4AAA5A-791C-4D7A-9B1B-1A4456E34D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6100DAB3-998E-4D2A-9B20-5F10529CDE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7FB754-3C50-4EB6-9839-8D78CF57605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DD29CEC3-93D7-4864-A127-0120FDD2416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6A44B7-BCD3-4EC8-B615-CE890ADFDE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AA472E76-87CF-4A29-AAA5-10B129845AD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A31B0F-2A5E-485C-9721-9F1683D18A5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D7BB8280-73C4-4A4A-85D0-F27576B6B3A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410789-BC93-4E62-AABB-80D305D5C21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D81817C0-5ED3-4BFD-B703-436D3F7C45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12</a:t>
            </a:r>
          </a:p>
        </p:txBody>
      </p:sp>
    </p:spTree>
    <p:extLst>
      <p:ext uri="{BB962C8B-B14F-4D97-AF65-F5344CB8AC3E}">
        <p14:creationId xmlns:p14="http://schemas.microsoft.com/office/powerpoint/2010/main" val="91095934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1C89E0-CFC7-4091-A1F2-C78EA2F65A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573F0B-76A3-4904-A5E7-B8E7C64595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76BF41C-851D-470C-97BE-0E7DE65E09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E57F6FEF-ADF5-460F-A1BF-9F97DE6F7D0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37FCE9-41FE-42F6-B637-1BE83E9576F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E67E9461-1920-4A3C-962F-59DBC62CC8D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97FC71A2-EC7D-4D19-842D-74A10F49FC1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E4E2D1-FD0A-4990-B6A8-CFEDACC3E3E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86663C37-E936-4790-8AD0-F6F6722566E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3A04B428-FA2E-4689-A2DB-D6FB533DAF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13</a:t>
            </a:r>
          </a:p>
        </p:txBody>
      </p:sp>
    </p:spTree>
    <p:extLst>
      <p:ext uri="{BB962C8B-B14F-4D97-AF65-F5344CB8AC3E}">
        <p14:creationId xmlns:p14="http://schemas.microsoft.com/office/powerpoint/2010/main" val="19153958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CD5399-DDE1-4BA8-A453-9AF25D0C98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CEE0B9-4674-4024-9A2A-2A5B5508B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D8E5AD-1DC2-403D-8101-F2C96A61B8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EB3ED486-A690-4C7B-864B-37FC8542C1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3D5185-A1C2-4C70-9943-EC984A546D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6567C8E6-6C05-48F0-9C19-993A328E431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9DCCA3-558D-4998-947E-BFCDB4AAC0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20FE06CA-334E-47FF-A987-FD445A02AA2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3F93D9-0C65-424E-BC8A-587D5EBFDA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C22956A9-86BC-4844-9CF9-A69B72DFF3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18231936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F3559E-079A-4C59-9058-31A2D6B58F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1FBE19-A396-4427-844A-61DD5BD664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377154-A29F-4CB4-BC8B-85C68A5BA0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B30BABAE-742E-46F4-ABDF-7C421EF9699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A2C0F3-3B83-4120-841E-359E75D728D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454B0803-DE42-4EE2-AD70-8FFD86B8722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0223B304-4E06-4C61-87C0-74FDC6E8BC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7207112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82D2E9-7ECF-4F15-9F9C-7A9DB19445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91DAA-63EC-4B35-BFEA-051A7C6550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6B376B-8EA5-4FB7-A90A-CE8438BC8C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906F32D3-B33C-40BB-B51E-15FF09CBA7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12205D-EEC7-4B62-822E-D7590174B4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2CAD879D-1958-4C67-9C50-B97BCEDF74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8D779D-4D85-426F-811F-F894C69F1E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A194AC57-85EB-4D54-A80D-74E8EA26C1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9AE3E6-E0B7-44F7-82CD-1EA764A1C99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84DC88D7-F30D-450E-B21A-8B1F3A9D7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192622367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634495-6E98-4836-8985-C539377CDB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3367B7-852C-4F72-B14D-0DB732563D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AD50898-E755-4C9E-A1C1-5073CD16F9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C23D2A7-AD27-431C-B4BB-444DBC9EF1D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DF67E694-C855-4ED1-BF4E-F5518E4322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45687078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1D00A7-529E-497B-892E-27AF6DA9E1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DEF259-F0FC-42FA-B6C6-AA090A4B15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4505F5-CE2A-4858-A1CE-4044647877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F9D92BE5-FD6B-44F9-BC27-20182B7F44D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2EA8CD-9F42-4CE0-9865-BE072709AA2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CC41A9C9-F551-4673-A502-C9EC52CDBA7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1399BBDA-B092-4C75-A492-4FF2C2733A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1CAEE8F-A396-4748-9ACB-1E906B7E2C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14593480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0FAF25-E582-43E6-820A-9341F6DACF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612CBE-3105-4F59-9933-494F79284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0048A92-A29D-4586-B1FE-3FD50E7955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CB05103A-C502-4F7B-BE2D-21DE3CE4871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72ADB6-CDB0-4B7C-B4B7-6B0E687B30B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E4DB44CB-31E0-4FCD-9611-2ECA0FE56B0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F99FE16-7B0D-4530-9627-D3349F69F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25585370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CFCE25-67BF-450E-98DF-680C2ADD02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A264C8-4936-407D-B96A-825397ED0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ABC155-362F-43CA-8F0E-878CC18574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DE0F9E26-FD53-4891-A0B5-F537EB173F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6C75E3-578F-47E2-900F-70B1F943BB4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02E47A-39A7-4DC0-9239-7C0F26B3C59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E6F934A8-14B1-4F4A-A51A-AEAC4DAC988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28D78352-E545-4809-9C96-CC0A14B14C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21202048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C8D016-859C-41D9-880C-1B96790B63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C71D7-87A4-4CDD-9AE5-DF18531BD0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2EC338-1542-4F59-B85F-D6C61D4AA0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1F78D814-F3B1-4FB4-BCD1-21E2362384E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5BCC8D-77EB-4703-97F9-3820A3AE54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BD305E23-AEA7-4541-808F-BF5CEF88CA1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7C6A2C7-0BA9-4090-8432-7CE29FC6DD7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118EF909-576D-4BE1-A705-2199CCFE83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0E85F4F1-E668-48AD-805F-1F5B700F9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56942012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CDC4BF2-68D9-4519-928B-EA0FC7B0AE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634646-CCA7-4963-8051-E4A1532BA1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B7C29A-597F-4D3B-9F9A-87D16A6D34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07426772-BA8C-4FED-A007-9450632ACDD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67F42E-1B75-46A5-9809-81BF8F25FF0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3655102D-8207-4690-9F86-8AAF1323F8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7F62FAF-E01F-4B99-B070-946879A095E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5BF584F-5B12-4D1E-857C-91249DC35A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36A6D81-B4B9-49D9-BAB4-278E10AB1D4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1917BF71-4F5B-4E5A-8EB0-D2E7FC6F28F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C90248AE-7498-4605-9F68-9060419C1A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7622290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3338794-3186-48C1-95A0-58FC31620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BBC73A-D356-4C5D-8130-7ED959ECD9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EF5D35-FFDA-4D36-A957-AAF455FBD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BD7D28D3-EE31-4C69-9097-B251B776404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BC66F9-1788-4055-9AF1-8B7ADF7F338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E7DB9830-F0FC-4B55-8ABD-58FE49B739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8EA31A-17D2-46BC-AC40-084561542A2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4428E11-771F-4FB6-B24F-088FB6E055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EC7E04D8-523F-4357-AC11-CA4F806B52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97581454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9637B0-7109-4EDE-84EB-415A2700C3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4FA14-558E-40F1-8A01-4666A35AA9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F7D7793-2F6E-410C-A31A-46EDBD7774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16B49F96-9B90-4C1F-8133-863A20E98FD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4FD3F1-82D1-438A-AE52-E0C10118BE1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92BF6757-12F0-47FC-9B7E-55B6FDBBAB2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7E8B309D-968D-4340-B9C1-3988C2FCC27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BE6DCD3-FD90-4528-8739-DA72B0940C4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A9647BE4-853B-4825-8806-3FEC55B810D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8B92852B-B217-4376-8CE9-8FBC07AE8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186255358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2686B3-008F-48A6-9CCE-984F141337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8D34F1-5578-44AD-92BC-F669C201A4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3BAF11F-7E3F-4B99-8200-2A08726E61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00FCCD7-1205-4396-99A6-0EDC4641CD0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676E8506-23CD-493F-8428-C382E6E1D7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172721930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2056C2-6375-4E03-912F-BFB9E5EBB5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A4DD51-B06C-484A-AA0D-5F02CA84DA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1C408B-F3F9-4397-A197-3B238C4070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B7FADEF2-63EE-420B-8E31-358FD7708B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CEB85-52B4-4B17-ACA9-EFFE6B8CD7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1478E1A3-D1D7-4BBE-B702-5363512B69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97B743-93BE-449B-AFD5-4F978D4ED6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25037967-E767-47B2-891C-DFBDC0307B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55EDB6-DB44-4B0A-A41D-6A614ECF171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F1212935-C643-4B5C-BAE5-A387ADA152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14807241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CD0A0D-A0CF-4802-BC72-6A463FE6B7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672C40-F3AD-454B-A8DA-FC0848ECE9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52A43B-39A1-41EE-A732-AAE569A22C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B889724-8BAC-4BD8-B416-5D4E4B72CC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945F1F-ACFD-4213-B61A-4A707F2BD52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CFAFE4-9E2C-4FCD-93F4-8CC3227059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7F50B0B6-DB6E-4F79-957A-5674CB0D739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9C660ADE-C744-4B4F-B048-A6455E20EA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18924532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274984-2B3A-47B7-9834-FF3D66B3C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2B0EFA-B83D-4C2A-98FB-19838650D6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CD5E4B-D90C-4F6D-9E69-30E72C0DE1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B75B9398-BE8E-462F-9080-B635C67DF0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B488EF-4548-4730-9BDD-2297121F83B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48C876F6-6E35-4CDA-BA1E-0BF9903EB89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49B13E-1B9B-4D26-A6EB-5BA4D62BD8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F7A86A9B-2808-4B24-902A-4EC5C3C20F2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5520DB-5DCB-45D3-A3CF-56BF3FF752C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94716A53-FFCD-47CF-8AD1-D60322C82D3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AA1095E-3C1E-4715-B0CD-0229F680726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C4513CC8-6F06-4D1A-8BCA-FE4F12415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15780922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0AAFA0-DB26-4F19-91FC-43807C1970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55E9F9-58FD-446C-A294-B0709A7725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D942A6-6E08-4BDA-B233-C478B266C2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E8E4265-602A-4F93-A091-478A191E53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A1374C-6AFA-4732-A480-187DBAB2F532}"/>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B70C5E5F-B7D2-4977-A296-52B48FD34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19920017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0CC8F1-0B5A-4807-957D-01854FBDD0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E7C653-4D24-4679-8E78-85475FCC0E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FA4592-D3C3-47E1-9893-1B5ABC3CC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1782C0F0-35C2-45DA-9C53-BA0AC914AB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007BE8-99E0-4797-9ACD-B5CE064021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F459492B-10A4-4BC5-91C2-EE0EC01D07E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70E5B9-954D-4FD7-94DA-879B05744F9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C772C932-097F-4288-B4B5-74204C5E29C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251655-E131-4657-B9EA-B58FE6B7DA6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F4FA13FB-58DB-4496-B6FE-788DECB62A0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C2F62BA-011D-4EE0-B198-2175D1F6F8F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3FBD1062-1E55-485A-BFFE-172F83609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214701892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5C928B-CC75-4F86-9F8C-07C0381DB2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AFD7DE-941C-4ABF-B580-209668A9F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E61744-FC4F-41D0-B9C6-2BC65C7BA0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22DCD940-FB91-4CA8-8D72-072F1132837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3472FA-DEBD-49C6-B8C3-0394815ABBA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A4C19C70-456E-44F0-A99A-CFEE7097CA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145608339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B63D34-F8ED-43B4-A44F-A9AF1BB067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3A00B1-9CE6-42DF-8832-797E29FDA2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4FFD46-721D-4C80-9ABF-1F70245F69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93D2E65-4369-405E-B8EB-0C5A751611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2139E7-DA32-43B7-94A7-24134B52AB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379E1C3E-EF88-44DF-8A17-3EF8B36144F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85DF1A-7A22-41F8-82D1-0D82F17D480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4CDF7FF5-DDEB-4161-9580-3C35DE86E87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92E8E4-CBB5-4075-9A3E-D091DEC9BC4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214B9409-8840-4445-9FCD-36DC1DCDF1A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447A3EF-B6BF-48CE-8E6A-4A1425FDE0A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3B8456ED-71B5-4141-89D1-8355E3543B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756513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B64E7A-3E10-4919-BDC9-D7E9C9AF67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F1C37A-B7AA-4A81-9EE6-714532C740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1F0F1B-88B2-48CB-B340-426FEBC0FA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2D4F7477-232D-4F4E-AF55-B036179EBA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6FC348-8516-4008-ACBF-9C85C8D7F1B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2F87CF3F-02A3-497E-9114-FA4E64B0D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93128390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EF8CB5-4871-405B-9A00-F9EDFFCF3A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7D45FC-E54C-4173-91E5-0DA321DF8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7152210-9A7E-45C4-96EE-4B21063BE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EFBFD2F-8B41-4E0F-8646-B26016136A4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D81FA7-3B94-4B4B-9193-F99E0A19A00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C141DC36-ED8E-425D-A63A-740512FBBA7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2330208-1E62-497F-92A4-9D382462BDE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F8367B-90C2-43D2-9F7F-18EE2C4FCE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4532410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1C01F8-27F4-440E-9A8D-CBFAF61D4F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7B43EB-9382-43C4-80D2-FF3416C85D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E345498-82B5-4161-B409-7541202704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7B80055-781E-41A8-93F5-01C340D7EF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77B828-AED7-41E4-9AD9-A41CCC9C8F0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4036F80-50E1-4931-A0E4-035C9BEEA23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B44102-C69D-4C80-A5E3-B1E49DAB0CE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94E3844-918C-4AEF-8FC2-09E0C96C8F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EF7750-D119-4DC5-B43A-EF3C283F598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8607457-7D43-4C86-86A0-DF7CD440A65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A27C44-2118-4833-A87D-4CD1EC12F8A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8D09CA6E-5D54-4CD7-9D68-D67DBFDAFD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12259399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56F3218-E0C3-4887-A3C1-D3F7E62B44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99D7D5-9676-469D-8F42-2C754A1F64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2F9F54C-3BD2-4EF8-9087-9842F74AA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BC76C25C-DD79-4477-9BCE-B3D81703EF9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9110B6-554F-4697-9DEC-D1BF51A2EEB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F59D32DC-61C6-4806-879B-9D05963D765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663481-FD8D-49C5-9B6E-A11A54C0317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A2BBB027-8491-40BA-84FB-C5B81944C15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8A417C-4E18-48DF-9D6F-CC4252CFBCF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9804F92-57E8-4FF1-9AD3-0A3C8AAF451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A66376-56CE-4EC6-B5E7-EF59844E893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6342F20-0B76-4B7D-81AF-42B05CFF9F8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CAAF96-6027-47C1-8A4A-CC546BAF024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6cb92afc89c4493"/>
              </a:rPr>
              <a:t>Open W09 assignment form</a:t>
            </a:r>
          </a:p>
        </p:txBody>
      </p:sp>
      <p:sp>
        <p:nvSpPr>
          <p:cNvPr id="14" name="">
            <a:extLst xmlns:a="http://schemas.openxmlformats.org/drawingml/2006/main">
              <a:ext uri="{FF2B5EF4-FFF2-40B4-BE49-F238E27FC236}">
                <a16:creationId xmlns:a16="http://schemas.microsoft.com/office/drawing/2014/main" id="{0DD39BCC-3F05-46A9-8785-1CDB0497F26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28B3A7F4-DA31-4CE2-9A53-6C5A6105AE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101264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2302B9B-CA81-460E-A824-896556FDC3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04DB77-2DE2-4910-9A02-102A77B670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92A2A9C-D40E-4185-ACA6-0C29F1E8E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1E7A99C4-5025-4163-BB50-8381DE49679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CFDC80-1437-4FCC-8D32-CE45CCD09B93}"/>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7E1A83C-4338-4ED8-A316-C394057B1F8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524D98-79EB-4010-97EA-B6B7AB11076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59B5065-F105-415D-9B1C-39727EBF068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F82670-D17B-4A57-93C4-667EC4C0BAF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42333DE-A245-428A-A40B-600F169AC83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8AC65C-B4FE-4B61-9E07-2A22802D746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b454d89be4b4b3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47FE93D-85A9-4EBE-A793-4B95D8AE8AE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8854055-B455-474D-BCFB-13BF77335D6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D0334A-7D98-4113-8684-C15802C512B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e489218c7c741db"/>
              </a:rPr>
              <a:t>Open this week’s quiz</a:t>
            </a:r>
          </a:p>
        </p:txBody>
      </p:sp>
      <p:sp>
        <p:nvSpPr>
          <p:cNvPr id="16" name="">
            <a:extLst xmlns:a="http://schemas.openxmlformats.org/drawingml/2006/main">
              <a:ext uri="{FF2B5EF4-FFF2-40B4-BE49-F238E27FC236}">
                <a16:creationId xmlns:a16="http://schemas.microsoft.com/office/drawing/2014/main" id="{A9F7DCF8-185F-482F-AF37-C9073C0BC0E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xmlns:a="http://schemas.openxmlformats.org/drawingml/2006/main">
              <a:ext uri="{FF2B5EF4-FFF2-40B4-BE49-F238E27FC236}">
                <a16:creationId xmlns:a16="http://schemas.microsoft.com/office/drawing/2014/main" id="{1170A6C5-9469-47AE-9692-BEE24AEBE5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763307860"/>
      </p:ext>
    </p:extLst>
  </p:cSld>
</p:sld>
</file>

<file path=ppt/slides/slide3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DBB1AA-01FA-4E7E-A0FA-407FAAD589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A38B52F-5BFC-436D-80C7-821447F909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0264596-EF93-41AD-A02A-31E62EBB5AD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9DE9EAF-EBB5-4FF5-8AD0-7FFB88B9A44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71B33BC-58C8-4696-9082-6F101DC30BC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C85873E-02DF-4136-BAE9-57C862D1BF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38</a:t>
            </a:r>
          </a:p>
        </p:txBody>
      </p:sp>
    </p:spTree>
    <p:extLst>
      <p:ext uri="{BB962C8B-B14F-4D97-AF65-F5344CB8AC3E}">
        <p14:creationId xmlns:p14="http://schemas.microsoft.com/office/powerpoint/2010/main" val="3514607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24ACF68-0BB4-4BC1-81E9-D2ABE1AC35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2C9248-572A-44C0-8C31-D4707DC14F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3D7BCB66-EF1E-4ECB-B004-E7E12A2588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6BF13CF-3817-49A3-A6C1-ADCC3275CDF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B23881-1D7F-4112-A1E9-6D00BA265C8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3AB65D0D-8BCF-4C95-A623-161399E382B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A74236-3F02-4C0E-836F-15E7C3DE84E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149FE22F-D2AF-45C4-8AFC-263D7BF11A8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BCCC56-4B9D-4EFF-9D65-9E75E7C6965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B310043C-9C65-48C3-BAF1-8043AE7C3BC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102912-6845-4BB1-9464-2F0514A65A6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0CEA53F9-3D85-4AAD-91F1-B8A27290487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72D394B-1F1F-46E4-A53C-4718228D69E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0db38c45efd4090"/>
              </a:rPr>
              <a:t>Open explainer video</a:t>
            </a:r>
          </a:p>
        </p:txBody>
      </p:sp>
      <p:sp>
        <p:nvSpPr>
          <p:cNvPr id="14" name="">
            <a:extLst xmlns:a="http://schemas.openxmlformats.org/drawingml/2006/main">
              <a:ext uri="{FF2B5EF4-FFF2-40B4-BE49-F238E27FC236}">
                <a16:creationId xmlns:a16="http://schemas.microsoft.com/office/drawing/2014/main" id="{6C2C03AF-D9A0-449F-AA68-FB5096229BC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66C46538-AED5-413C-8826-1D41DFE0B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39</a:t>
            </a:r>
          </a:p>
        </p:txBody>
      </p:sp>
    </p:spTree>
    <p:extLst>
      <p:ext uri="{BB962C8B-B14F-4D97-AF65-F5344CB8AC3E}">
        <p14:creationId xmlns:p14="http://schemas.microsoft.com/office/powerpoint/2010/main" val="341295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2026-09-28T21:15:11.5710000Z</dcterms:created>
  <dcterms:modified xsi:type="dcterms:W3CDTF">2026-09-28T21:15:11.5710000Z</dcterms:modified>
</coreProperties>
</file>