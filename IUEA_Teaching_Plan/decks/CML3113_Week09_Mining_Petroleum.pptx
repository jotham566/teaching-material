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28180e2378384aa4" Type="http://schemas.openxmlformats.org/package/2006/relationships/metadata/core-properties" Target="docProps/core.xml"/><Relationship Id="R41b708156a754993" Type="http://schemas.openxmlformats.org/officeDocument/2006/relationships/officeDocument" Target="ppt/presentation.xml"/><Relationship Id="Rab2b56914bf041f6"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cb7134380ec04878"/>
  </p:sldMasterIdLst>
  <p:notesMasterIdLst>
    <p:notesMasterId xmlns:r="http://schemas.openxmlformats.org/officeDocument/2006/relationships" r:id="R5852a6b81973479c"/>
  </p:notesMasterIdLst>
  <p:sldIdLst>
    <p:sldId xmlns:r="http://schemas.openxmlformats.org/officeDocument/2006/relationships" id="256" r:id="R0a7301df54d54ba5"/>
    <p:sldId xmlns:r="http://schemas.openxmlformats.org/officeDocument/2006/relationships" id="257" r:id="R9164f4a9e7944018"/>
    <p:sldId xmlns:ns0="http://schemas.openxmlformats.org/officeDocument/2006/relationships" id="298" ns0:id="rId48"/>
    <p:sldId xmlns:r="http://schemas.openxmlformats.org/officeDocument/2006/relationships" id="258" r:id="R003cce453f07489f"/>
    <p:sldId xmlns:ns0="http://schemas.openxmlformats.org/officeDocument/2006/relationships" id="299" ns0:id="rId49"/>
    <p:sldId xmlns:ns0="http://schemas.openxmlformats.org/officeDocument/2006/relationships" id="300" ns0:id="rId50"/>
    <p:sldId xmlns:ns0="http://schemas.openxmlformats.org/officeDocument/2006/relationships" id="301" ns0:id="rId51"/>
    <p:sldId xmlns:ns0="http://schemas.openxmlformats.org/officeDocument/2006/relationships" id="302" ns0:id="rId52"/>
    <p:sldId xmlns:ns0="http://schemas.openxmlformats.org/officeDocument/2006/relationships" id="303" ns0:id="rId53"/>
    <p:sldId xmlns:ns0="http://schemas.openxmlformats.org/officeDocument/2006/relationships" id="304" ns0:id="rId54"/>
    <p:sldId xmlns:ns0="http://schemas.openxmlformats.org/officeDocument/2006/relationships" id="305" ns0:id="rId55"/>
    <p:sldId xmlns:ns0="http://schemas.openxmlformats.org/officeDocument/2006/relationships" id="306" ns0:id="rId56"/>
    <p:sldId xmlns:ns0="http://schemas.openxmlformats.org/officeDocument/2006/relationships" id="307" ns0:id="rId57"/>
    <p:sldId xmlns:r="http://schemas.openxmlformats.org/officeDocument/2006/relationships" id="262" r:id="R38ecbf7c5d584558"/>
    <p:sldId xmlns:r="http://schemas.openxmlformats.org/officeDocument/2006/relationships" id="263" r:id="Rf9acf90eb262488e"/>
    <p:sldId xmlns:r="http://schemas.openxmlformats.org/officeDocument/2006/relationships" id="264" r:id="R4202c4f82a804734"/>
    <p:sldId xmlns:r="http://schemas.openxmlformats.org/officeDocument/2006/relationships" id="265" r:id="R5c7cc7f38b79481b"/>
    <p:sldId xmlns:r="http://schemas.openxmlformats.org/officeDocument/2006/relationships" id="266" r:id="Re73fa6348ac9486c"/>
    <p:sldId xmlns:r="http://schemas.openxmlformats.org/officeDocument/2006/relationships" id="267" r:id="R61f1d0b1070d4bd2"/>
    <p:sldId xmlns:r="http://schemas.openxmlformats.org/officeDocument/2006/relationships" id="268" r:id="R977b06bf061c462a"/>
    <p:sldId xmlns:r="http://schemas.openxmlformats.org/officeDocument/2006/relationships" id="269" r:id="Rb0a1e855589844d2"/>
    <p:sldId xmlns:r="http://schemas.openxmlformats.org/officeDocument/2006/relationships" id="270" r:id="R5317b97651cb4904"/>
    <p:sldId xmlns:r="http://schemas.openxmlformats.org/officeDocument/2006/relationships" id="271" r:id="Rebf6c397f2774156"/>
    <p:sldId xmlns:r="http://schemas.openxmlformats.org/officeDocument/2006/relationships" id="272" r:id="R1c105c3f954a48b8"/>
    <p:sldId xmlns:r="http://schemas.openxmlformats.org/officeDocument/2006/relationships" id="273" r:id="R3f6f2e63e3364ed3"/>
    <p:sldId xmlns:r="http://schemas.openxmlformats.org/officeDocument/2006/relationships" id="274" r:id="R9f21fe98ebba4009"/>
    <p:sldId xmlns:r="http://schemas.openxmlformats.org/officeDocument/2006/relationships" id="275" r:id="R55d662b3c142456b"/>
    <p:sldId xmlns:r="http://schemas.openxmlformats.org/officeDocument/2006/relationships" id="276" r:id="R83455b93a2bf40c3"/>
    <p:sldId xmlns:r="http://schemas.openxmlformats.org/officeDocument/2006/relationships" id="277" r:id="R67d22faa02bd4b09"/>
    <p:sldId xmlns:r="http://schemas.openxmlformats.org/officeDocument/2006/relationships" id="278" r:id="R0a953f9595db4c65"/>
    <p:sldId xmlns:r="http://schemas.openxmlformats.org/officeDocument/2006/relationships" id="279" r:id="R49e23f6a47f94cc7"/>
    <p:sldId xmlns:r="http://schemas.openxmlformats.org/officeDocument/2006/relationships" id="280" r:id="Rd46ca2c65afa4ed1"/>
    <p:sldId xmlns:r="http://schemas.openxmlformats.org/officeDocument/2006/relationships" id="281" r:id="R2805f55ea1934302"/>
    <p:sldId xmlns:r="http://schemas.openxmlformats.org/officeDocument/2006/relationships" id="282" r:id="R341e5734e49549a5"/>
    <p:sldId xmlns:r="http://schemas.openxmlformats.org/officeDocument/2006/relationships" id="283" r:id="Rfda962bde1d04dbe"/>
    <p:sldId xmlns:r="http://schemas.openxmlformats.org/officeDocument/2006/relationships" id="284" r:id="R4d45c6de9ecb4c61"/>
    <p:sldId xmlns:r="http://schemas.openxmlformats.org/officeDocument/2006/relationships" id="285" r:id="R3ad4dcfe2d3047bc"/>
    <p:sldId xmlns:ns0="http://schemas.openxmlformats.org/officeDocument/2006/relationships" id="308" ns0:id="rId58"/>
    <p:sldId xmlns:ns0="http://schemas.openxmlformats.org/officeDocument/2006/relationships" id="309" ns0:id="rId59"/>
    <p:sldId xmlns:ns0="http://schemas.openxmlformats.org/officeDocument/2006/relationships" id="310" ns0:id="rId60"/>
    <p:sldId xmlns:ns0="http://schemas.openxmlformats.org/officeDocument/2006/relationships" id="311" ns0:id="rId61"/>
    <p:sldId xmlns:ns0="http://schemas.openxmlformats.org/officeDocument/2006/relationships" id="312" ns0:id="rId62"/>
    <p:sldId xmlns:ns0="http://schemas.openxmlformats.org/officeDocument/2006/relationships" id="313" ns0:id="rId63"/>
    <p:sldId xmlns:ns0="http://schemas.openxmlformats.org/officeDocument/2006/relationships" id="314" ns0:id="rId47"/>
    <p:sldId xmlns:r="http://schemas.openxmlformats.org/officeDocument/2006/relationships" id="290" r:id="R901557f65b2c4acf"/>
    <p:sldId xmlns:r="http://schemas.openxmlformats.org/officeDocument/2006/relationships" id="291" r:id="R7a5851470df84c7b"/>
    <p:sldId xmlns:r="http://schemas.openxmlformats.org/officeDocument/2006/relationships" id="292" r:id="Rcf1ebd99ef1541cd"/>
    <p:sldId xmlns:r="http://schemas.openxmlformats.org/officeDocument/2006/relationships" id="293" r:id="Ra0056f874235495f"/>
    <p:sldId xmlns:r="http://schemas.openxmlformats.org/officeDocument/2006/relationships" id="296" r:id="R1079a6a033584e25"/>
    <p:sldId xmlns:r="http://schemas.openxmlformats.org/officeDocument/2006/relationships" id="297" r:id="Rcd145dbc6a1847aa"/>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03cce453f07489f" Type="http://schemas.openxmlformats.org/officeDocument/2006/relationships/slide" Target="slides/slide4.xml"/><Relationship Id="R0a7301df54d54ba5" Type="http://schemas.openxmlformats.org/officeDocument/2006/relationships/slide" Target="slides/slide1.xml"/><Relationship Id="R0a953f9595db4c65" Type="http://schemas.openxmlformats.org/officeDocument/2006/relationships/slide" Target="slides/slide30.xml"/><Relationship Id="R1079a6a033584e25" Type="http://schemas.openxmlformats.org/officeDocument/2006/relationships/slide" Target="slides/slide49.xml"/><Relationship Id="R1c105c3f954a48b8" Type="http://schemas.openxmlformats.org/officeDocument/2006/relationships/slide" Target="slides/slide24.xml"/><Relationship Id="R2805f55ea1934302" Type="http://schemas.openxmlformats.org/officeDocument/2006/relationships/slide" Target="slides/slide33.xml"/><Relationship Id="R341e5734e49549a5" Type="http://schemas.openxmlformats.org/officeDocument/2006/relationships/slide" Target="slides/slide34.xml"/><Relationship Id="R38ecbf7c5d584558" Type="http://schemas.openxmlformats.org/officeDocument/2006/relationships/slide" Target="slides/slide14.xml"/><Relationship Id="R3ad4dcfe2d3047bc" Type="http://schemas.openxmlformats.org/officeDocument/2006/relationships/slide" Target="slides/slide37.xml"/><Relationship Id="R3f6f2e63e3364ed3" Type="http://schemas.openxmlformats.org/officeDocument/2006/relationships/slide" Target="slides/slide25.xml"/><Relationship Id="R4202c4f82a804734" Type="http://schemas.openxmlformats.org/officeDocument/2006/relationships/slide" Target="slides/slide16.xml"/><Relationship Id="R49e23f6a47f94cc7" Type="http://schemas.openxmlformats.org/officeDocument/2006/relationships/slide" Target="slides/slide31.xml"/><Relationship Id="R4d45c6de9ecb4c61" Type="http://schemas.openxmlformats.org/officeDocument/2006/relationships/slide" Target="slides/slide36.xml"/><Relationship Id="R5317b97651cb4904" Type="http://schemas.openxmlformats.org/officeDocument/2006/relationships/slide" Target="slides/slide22.xml"/><Relationship Id="R55d662b3c142456b" Type="http://schemas.openxmlformats.org/officeDocument/2006/relationships/slide" Target="slides/slide27.xml"/><Relationship Id="R5852a6b81973479c" Type="http://schemas.openxmlformats.org/officeDocument/2006/relationships/notesMaster" Target="notesMasters/notesMaster1.xml"/><Relationship Id="R5c7cc7f38b79481b" Type="http://schemas.openxmlformats.org/officeDocument/2006/relationships/slide" Target="slides/slide17.xml"/><Relationship Id="R61f1d0b1070d4bd2" Type="http://schemas.openxmlformats.org/officeDocument/2006/relationships/slide" Target="slides/slide19.xml"/><Relationship Id="R65c2ce47d9254d17" Type="http://schemas.openxmlformats.org/officeDocument/2006/relationships/theme" Target="theme/theme1.xml"/><Relationship Id="R67d22faa02bd4b09" Type="http://schemas.openxmlformats.org/officeDocument/2006/relationships/slide" Target="slides/slide29.xml"/><Relationship Id="R7a5851470df84c7b" Type="http://schemas.openxmlformats.org/officeDocument/2006/relationships/slide" Target="slides/slide46.xml"/><Relationship Id="R83455b93a2bf40c3" Type="http://schemas.openxmlformats.org/officeDocument/2006/relationships/slide" Target="slides/slide28.xml"/><Relationship Id="R901557f65b2c4acf" Type="http://schemas.openxmlformats.org/officeDocument/2006/relationships/slide" Target="slides/slide45.xml"/><Relationship Id="R9164f4a9e7944018" Type="http://schemas.openxmlformats.org/officeDocument/2006/relationships/slide" Target="slides/slide2.xml"/><Relationship Id="R977b06bf061c462a" Type="http://schemas.openxmlformats.org/officeDocument/2006/relationships/slide" Target="slides/slide20.xml"/><Relationship Id="R9f21fe98ebba4009" Type="http://schemas.openxmlformats.org/officeDocument/2006/relationships/slide" Target="slides/slide26.xml"/><Relationship Id="Ra0056f874235495f" Type="http://schemas.openxmlformats.org/officeDocument/2006/relationships/slide" Target="slides/slide48.xml"/><Relationship Id="Rb0a1e855589844d2" Type="http://schemas.openxmlformats.org/officeDocument/2006/relationships/slide" Target="slides/slide21.xml"/><Relationship Id="Rcb7134380ec04878" Type="http://schemas.openxmlformats.org/officeDocument/2006/relationships/slideMaster" Target="slideMasters/slideMaster1.xml"/><Relationship Id="Rcd145dbc6a1847aa" Type="http://schemas.openxmlformats.org/officeDocument/2006/relationships/slide" Target="slides/slide50.xml"/><Relationship Id="Rcf1ebd99ef1541cd" Type="http://schemas.openxmlformats.org/officeDocument/2006/relationships/slide" Target="slides/slide47.xml"/><Relationship Id="Rd216f6f57a8f469d" Type="http://schemas.openxmlformats.org/officeDocument/2006/relationships/presProps" Target="presProps.xml"/><Relationship Id="Rd46ca2c65afa4ed1" Type="http://schemas.openxmlformats.org/officeDocument/2006/relationships/slide" Target="slides/slide32.xml"/><Relationship Id="Re73fa6348ac9486c" Type="http://schemas.openxmlformats.org/officeDocument/2006/relationships/slide" Target="slides/slide18.xml"/><Relationship Id="Rebf6c397f2774156" Type="http://schemas.openxmlformats.org/officeDocument/2006/relationships/slide" Target="slides/slide23.xml"/><Relationship Id="Rf7ecad261b544f86" Type="http://schemas.openxmlformats.org/officeDocument/2006/relationships/tableStyles" Target="tableStyles.xml"/><Relationship Id="Rf9acf90eb262488e" Type="http://schemas.openxmlformats.org/officeDocument/2006/relationships/slide" Target="slides/slide15.xml"/><Relationship Id="Rfda962bde1d04dbe" Type="http://schemas.openxmlformats.org/officeDocument/2006/relationships/slide" Target="slides/slide35.xml"/><Relationship Id="rId47" Type="http://schemas.openxmlformats.org/officeDocument/2006/relationships/slide" Target="slides/slide44.xml"/><Relationship Id="rId48" Type="http://schemas.openxmlformats.org/officeDocument/2006/relationships/slide" Target="slides/slide3.xml"/><Relationship Id="rId49" Type="http://schemas.openxmlformats.org/officeDocument/2006/relationships/slide" Target="slides/slide5.xml"/><Relationship Id="rId50" Type="http://schemas.openxmlformats.org/officeDocument/2006/relationships/slide" Target="slides/slide6.xml"/><Relationship Id="rId51" Type="http://schemas.openxmlformats.org/officeDocument/2006/relationships/slide" Target="slides/slide7.xml"/><Relationship Id="rId52" Type="http://schemas.openxmlformats.org/officeDocument/2006/relationships/slide" Target="slides/slide8.xml"/><Relationship Id="rId53" Type="http://schemas.openxmlformats.org/officeDocument/2006/relationships/slide" Target="slides/slide9.xml"/><Relationship Id="rId54" Type="http://schemas.openxmlformats.org/officeDocument/2006/relationships/slide" Target="slides/slide10.xml"/><Relationship Id="rId55" Type="http://schemas.openxmlformats.org/officeDocument/2006/relationships/slide" Target="slides/slide11.xml"/><Relationship Id="rId56" Type="http://schemas.openxmlformats.org/officeDocument/2006/relationships/slide" Target="slides/slide12.xml"/><Relationship Id="rId57" Type="http://schemas.openxmlformats.org/officeDocument/2006/relationships/slide" Target="slides/slide13.xml"/><Relationship Id="rId58" Type="http://schemas.openxmlformats.org/officeDocument/2006/relationships/slide" Target="slides/slide38.xml"/><Relationship Id="rId59" Type="http://schemas.openxmlformats.org/officeDocument/2006/relationships/slide" Target="slides/slide39.xml"/><Relationship Id="rId60" Type="http://schemas.openxmlformats.org/officeDocument/2006/relationships/slide" Target="slides/slide40.xml"/><Relationship Id="rId61" Type="http://schemas.openxmlformats.org/officeDocument/2006/relationships/slide" Target="slides/slide41.xml"/><Relationship Id="rId62" Type="http://schemas.openxmlformats.org/officeDocument/2006/relationships/slide" Target="slides/slide42.xml"/><Relationship Id="rId63"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6e5b526b14cf4df9"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5206a31438804be1" Type="http://schemas.openxmlformats.org/officeDocument/2006/relationships/slide" Target="../slides/slide1.xml"/><Relationship Id="Rb1fd2f6bf0574a4f"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18699f26860a455a" Type="http://schemas.openxmlformats.org/officeDocument/2006/relationships/slide" Target="../slides/slide2.xml"/><Relationship Id="Rfa279b2d221e4450"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53d769621bd44116" Type="http://schemas.openxmlformats.org/officeDocument/2006/relationships/notesMaster" Target="../notesMasters/notesMaster1.xml"/><Relationship Id="Rd1310bdcfc51486a"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57c818c206d14429" Type="http://schemas.openxmlformats.org/officeDocument/2006/relationships/notesMaster" Target="../notesMasters/notesMaster1.xml"/><Relationship Id="R872613ac2ad740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5b23811ac3d84b7d" Type="http://schemas.openxmlformats.org/officeDocument/2006/relationships/slide" Target="../slides/slide15.xml"/><Relationship Id="R7fab037870eb4859"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06fc88d8400744bf" Type="http://schemas.openxmlformats.org/officeDocument/2006/relationships/slide" Target="../slides/slide16.xml"/><Relationship Id="Ra98a63bc7bb44ede"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5261b491e96840ba" Type="http://schemas.openxmlformats.org/officeDocument/2006/relationships/slide" Target="../slides/slide17.xml"/><Relationship Id="Rf783e08607cd4e6d"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8e99f2854f8042c6" Type="http://schemas.openxmlformats.org/officeDocument/2006/relationships/notesMaster" Target="../notesMasters/notesMaster1.xml"/><Relationship Id="Rf33c7eb2052b4644"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962386a6519249c4" Type="http://schemas.openxmlformats.org/officeDocument/2006/relationships/notesMaster" Target="../notesMasters/notesMaster1.xml"/><Relationship Id="Rb03da5d32b754d23"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74ff8c40c4a04e5a" Type="http://schemas.openxmlformats.org/officeDocument/2006/relationships/slide" Target="../slides/slide20.xml"/><Relationship Id="Rd3ed64b86fc8476b"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f10f6ec51fbc4f1f" Type="http://schemas.openxmlformats.org/officeDocument/2006/relationships/slide" Target="../slides/slide21.xml"/><Relationship Id="Rf505eb08c9b84e25"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76ca21453a8f4e29" Type="http://schemas.openxmlformats.org/officeDocument/2006/relationships/slide" Target="../slides/slide22.xml"/><Relationship Id="Rc0860459996644ad"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5dd34159015f4ff6" Type="http://schemas.openxmlformats.org/officeDocument/2006/relationships/slide" Target="../slides/slide23.xml"/><Relationship Id="Rc554e8a47fb843f8"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77fc3418e4a54f5d" Type="http://schemas.openxmlformats.org/officeDocument/2006/relationships/notesMaster" Target="../notesMasters/notesMaster1.xml"/><Relationship Id="Rfda42d055605436f"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784ec0a3e85041bc" Type="http://schemas.openxmlformats.org/officeDocument/2006/relationships/slide" Target="../slides/slide25.xml"/><Relationship Id="Rf92b51b5dc7e4b43"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420444a59d914c14" Type="http://schemas.openxmlformats.org/officeDocument/2006/relationships/slide" Target="../slides/slide26.xml"/><Relationship Id="Rb501c42c28c04533"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0dd7c84396b94e29" Type="http://schemas.openxmlformats.org/officeDocument/2006/relationships/slide" Target="../slides/slide27.xml"/><Relationship Id="R71dbece331c24c28"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a5d3ecd4418b467f" Type="http://schemas.openxmlformats.org/officeDocument/2006/relationships/notesMaster" Target="../notesMasters/notesMaster1.xml"/><Relationship Id="Rc2307bacf7bd47b6"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cab8f72e132a45c7" Type="http://schemas.openxmlformats.org/officeDocument/2006/relationships/notesMaster" Target="../notesMasters/notesMaster1.xml"/><Relationship Id="Rce3d2d9d38c54f95"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448b3ac2e49946fb" Type="http://schemas.openxmlformats.org/officeDocument/2006/relationships/slide" Target="../slides/slide30.xml"/><Relationship Id="R53c133a82b80469c"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5c52cb50cb1d4341" Type="http://schemas.openxmlformats.org/officeDocument/2006/relationships/slide" Target="../slides/slide31.xml"/><Relationship Id="R8f4371eb2a574aaa"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479d06b0b78d4efa" Type="http://schemas.openxmlformats.org/officeDocument/2006/relationships/notesMaster" Target="../notesMasters/notesMaster1.xml"/><Relationship Id="R69dd122247e64590"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19aa13340f864f2a" Type="http://schemas.openxmlformats.org/officeDocument/2006/relationships/slide" Target="../slides/slide33.xml"/><Relationship Id="R83798296eb7d4c25"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84feb8197e2b466b" Type="http://schemas.openxmlformats.org/officeDocument/2006/relationships/slide" Target="../slides/slide34.xml"/><Relationship Id="Ra9969ba3c8994f26"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2730d02f9aa74899" Type="http://schemas.openxmlformats.org/officeDocument/2006/relationships/notesMaster" Target="../notesMasters/notesMaster1.xml"/><Relationship Id="Ra0e72e99a960425f"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1c5b451476684a45" Type="http://schemas.openxmlformats.org/officeDocument/2006/relationships/slide" Target="../slides/slide36.xml"/><Relationship Id="R6db09d8522244b07"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a2014366bab94474" Type="http://schemas.openxmlformats.org/officeDocument/2006/relationships/notesMaster" Target="../notesMasters/notesMaster1.xml"/><Relationship Id="Re5072227ff8d460f"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5de37b1b20494c4a" Type="http://schemas.openxmlformats.org/officeDocument/2006/relationships/slide" Target="../slides/slide45.xml"/><Relationship Id="Rcb1a98ed4c4d4645"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4436421abb234e8a" Type="http://schemas.openxmlformats.org/officeDocument/2006/relationships/notesMaster" Target="../notesMasters/notesMaster1.xml"/><Relationship Id="Rf347fba667064754"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080be004b0c74baa" Type="http://schemas.openxmlformats.org/officeDocument/2006/relationships/slide" Target="../slides/slide47.xml"/><Relationship Id="R2b127d620d164a4e"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38a86927c9794ace" Type="http://schemas.openxmlformats.org/officeDocument/2006/relationships/notesMaster" Target="../notesMasters/notesMaster1.xml"/><Relationship Id="R95100812fb9b49e0"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5f944f145abe4808" Type="http://schemas.openxmlformats.org/officeDocument/2006/relationships/slide" Target="../slides/slide49.xml"/><Relationship Id="R815c1ec45eb54193"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5b9f3abe1ee54c7d" Type="http://schemas.openxmlformats.org/officeDocument/2006/relationships/notesMaster" Target="../notesMasters/notesMaster1.xml"/><Relationship Id="Raa2aa1b69986415e" Type="http://schemas.openxmlformats.org/officeDocument/2006/relationships/slide" Target="../slides/slide50.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Week 9. Until now our models predicted a number. This week we predict a yes or no answer, such as whether a machine should raise an alert.</a:t>
            </a:r>
          </a:p>
          <a:p xmlns:a="http://schemas.openxmlformats.org/drawingml/2006/main"/>
          <a:p xmlns:a="http://schemas.openxmlformats.org/drawingml/2006/main">
            <a:r>
              <a:t>We also learn how to count the mistakes such a model makes and how to put a price on them. We will build a confusion matrix by hand from a small file of true answers and model answers, then calculate precision, recall and a cost.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the question changes from how much to yes or no. We will turn the {c['short']} number into an alert, teach a model to answer it, and score its answers honestly. Along the way we learn the words class, probability, threshold, confusion matrix, precision, recall and F1. By the end you can explain why a model that never raises an alert can still score high on accuracy, and why that makes accuracy a poor judge by itself.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words for the question we ask today. A class is one of the possible answers, such as alert or no alert. A label is the correct class that has been recorded for a row. When there are exactly two classes we call the job binary classification. A probability is a number from zero to one that says how likely a class is. Zero point four seven means forty-seven percent. A threshold is the probability at or above which the model says yes. We will start with zero point five and then move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Everything today reads from files in this week's student ZIP. We start by extracting the ZIP on our computer. Inside are two CSV files, classification_case dot csv and engineering_data dot csv.</a:t>
            </a:r>
          </a:p>
          <a:p xmlns:a="http://schemas.openxmlformats.org/drawingml/2006/main"/>
          <a:p xmlns:a="http://schemas.openxmlformats.org/drawingml/2006/main">
            <a:r>
              <a:t>In Colab we open the Files panel and upload both files there. If we work on our own computer, we keep them in the same folder as the notebook. A notebook does not carry its data with it, so the filename and the column headings must match what the code expects, letter for letter.</a:t>
            </a:r>
          </a:p>
          <a:p xmlns:a="http://schemas.openxmlformats.org/drawingml/2006/main"/>
          <a:p xmlns:a="http://schemas.openxmlformats.org/drawingml/2006/main">
            <a:r>
              <a:t>The examples on the next slides read these files, so we run the cells in the order the slides show them. We never edit the original CSV. If we need a changed table, we make a copy in code and the original stays available for checking. Each cohort has its own data, so numerical results can differ between cohorts.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Week 8 we predicted a number, the crusher energy demand. Today the question changes. Engineers often care about a decision. Do we raise an alert or not?</a:t>
            </a:r>
          </a:p>
          <a:p/>
          <a:p>
            <a:r>
              <a:t>So we draw a limit line. Here it is 13.5 kWh/t. A row at or above the line gets the label alert, written as one. A row below the line gets no alert, written as zero. The dots are the same dots. Only the question changed.</a:t>
            </a:r>
          </a:p>
          <a:p/>
          <a:p>
            <a:r>
              <a:t>When the answer is one of a few classes, the job is called classification. With exactly two classes it is binary classification. The limit of 13.5 kWh/t is a teaching assumption for this course. It is a convenient line to practise on and is not a real safe operating limit.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label in code. The first six lines repeat what we did in Week 8: read the file, drop repeated record IDs, and keep the rows that have a recorded target and a valid load.</a:t>
            </a:r>
          </a:p>
          <a:p/>
          <a:p>
            <a:r>
              <a:t>The next line builds the column. It compares each target with the limit and gets True or False for every row. As type int turns True into one and False into zero. That new column is the label. Then we pick out the training rows, the equipment groups E1 to E4, and we count only those. The last test group stays sealed.</a:t>
            </a:r>
          </a:p>
          <a:p/>
          <a:p>
            <a:r>
              <a:t>The last two lines count. We have 58 training rows and 24 of them are alerts. Value counts shows the same thing as a dictionary: 34 rows with no alert and 24 with an alert.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the two bars. Most rows are no alert. Now picture a model that does nothing except say no alert for every row.</a:t>
            </a:r>
          </a:p>
          <a:p/>
          <a:p>
            <a:r>
              <a:t>Its accuracy is the share of rows it answers correctly. On our 58 training rows it would be right on 34 of them. That is 59 percent. It has found zero alerts, and the alerts were the whole point of building the model.</a:t>
            </a:r>
          </a:p>
          <a:p/>
          <a:p>
            <a:r>
              <a:t>This is the accuracy trap. When one class is much more common than the other, accuracy looks good for a model that has learned nothing. The rest of today gives us better scores: precision, recall and F1. First we need a model that produces probabilities.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answer yes or no, a model first produces a probability. Logistic regression does this. It starts from the same kind of straight line you already know, then bends it into an S shape so the answer always stays between zero and one.</a:t>
            </a:r>
          </a:p>
          <a:p/>
          <a:p>
            <a:r>
              <a:t>Read the picture. At twenty percent load the curve sits near zero, so an alert is very unlikely. The curve crosses one half at a load of about 68 percent. At ninety percent load the probability of an alert is about 0.9. The dots are the 58 training rows.</a:t>
            </a:r>
          </a:p>
          <a:p/>
          <a:p>
            <a:r>
              <a:t>The name has regression in it for historical reasons. The job is classification, because the answer is a class. This curve uses load alone so that we can draw it. The model on the next slides uses load and ambient temperature together.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training rows, load runs from about 21 to 93, and ambient temperature runs from about 18 to 34. Some models, logistic regression among them, work better when the inputs share a common scale.</a:t>
            </a:r>
          </a:p>
          <a:p/>
          <a:p>
            <a:r>
              <a:t>Scaling gives every feature the same ruler. For each value we subtract the training mean and divide by the training standard deviation. The standard deviation is the typical distance from the mean. After scaling, zero means average and one means one standard deviation above average.</a:t>
            </a:r>
          </a:p>
          <a:p/>
          <a:p>
            <a:r>
              <a:t>Look at the first row. Its load is 59.15. The training mean is 59.9, so the scaled load is -0.03, almost exactly average. Its ambient temperature of 31.71 is above the mean of 26.3, so it scales to 1.18.</a:t>
            </a:r>
          </a:p>
          <a:p/>
          <a:p>
            <a:r>
              <a:t>The tool is called StandardScaler. It learns the mean and the spread from the training rows during fit, the same way the imputer learned the median. Decision trees do not need scaling, because they only ask whether a value is above or below a cut.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split is the one from Week 8. Equipment E1 to E4 are the training rows, which we picked out on the last slide. Here we add E5, the validation group. E6 stays sealed for the final test.</a:t>
            </a:r>
          </a:p>
          <a:p/>
          <a:p>
            <a:r>
              <a:t>X holds the input columns, load and ambient temperature. y holds the answers. The difference from Week 8 is that the answer column is now alert, zero or one, instead of a temperature.</a:t>
            </a:r>
          </a:p>
          <a:p/>
          <a:p>
            <a:r>
              <a:t>The print shows 58 training rows and 15 validation rows.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model itself. We list three steps in a pipeline: fill blanks with the median, scale the features, then fit logistic regression. The pipeline learns everything it needs from the training rows when we call fit.</a:t>
            </a:r>
          </a:p>
          <a:p/>
          <a:p>
            <a:r>
              <a:t>Then we call predict underscore proba. It returns two columns for every row. The first is the chance of class zero. The second is the chance of class one, an alert. The square brackets with a colon and a one keep the second column.</a:t>
            </a:r>
          </a:p>
          <a:p/>
          <a:p>
            <a:r>
              <a:t>We print the probabilities for the first five validation rows, and below them the true labels. Look at row 3. It really was an alert, and the model gave it a probability of 0.53. That is the model's honest uncertainty.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probability is not yet a decision. To decide we pick a threshold. If the probability is at or above the threshold, the model says alert. Otherwise it says no alert. We start with a threshold of zero point five.</a:t>
            </a:r>
          </a:p>
          <a:p/>
          <a:p>
            <a:r>
              <a:t>Read the table row by row. The first column is the probability. The second is the decision that follows from the threshold. The third is what really happened. The last column checks the decision.</a:t>
            </a:r>
          </a:p>
          <a:p/>
          <a:p>
            <a:r>
              <a:t>A threshold is a choice, and we are free to move it. We will do that in a few minutes and watch what changes.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score anything, six words. In a yes or no problem, positive means the class we are looking for. Here, positive is an alert. Negative is the other class.</a:t>
            </a:r>
          </a:p>
          <a:p/>
          <a:p>
            <a:r>
              <a:t>Now the four outcomes. A true positive means the model said alert and it was an alert. A false positive means the model said alert but nothing was wrong. That is a false alarm. A false negative means the model said no alert but the limit really was passed. That is a missed alert, and in engineering it is often the costly one. A true negative means the model said no alert and all was well.</a:t>
            </a:r>
          </a:p>
          <a:p/>
          <a:p>
            <a:r>
              <a:t>Put the four counts in a two by two table and you have a confusion matrix. We will build one by hand from a small file first, and then read the matrix for our own model.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loads the small file we use for the by-hand drill.</a:t>
            </a:r>
          </a:p>
          <a:p xmlns:a="http://schemas.openxmlformats.org/drawingml/2006/main"/>
          <a:p xmlns:a="http://schemas.openxmlformats.org/drawingml/2006/main">
            <a:r>
              <a:t>Line one imports pandas and gives it the short name pd, as we have done every week. Line two calls read_csv on classification_case dot csv and stores the table in a variable called raw_data. We keep the name raw_data for the untouched original, so we can always check our work against it.</a:t>
            </a:r>
          </a:p>
          <a:p xmlns:a="http://schemas.openxmlformats.org/drawingml/2006/main"/>
          <a:p xmlns:a="http://schemas.openxmlformats.org/drawingml/2006/main">
            <a:r>
              <a:t>Line three prints head, which shows the first rows of the table. Line four prints shape, which gives the number of rows and then the number of columns. Line five prints dtypes, which lists the data type of each column.</a:t>
            </a:r>
          </a:p>
          <a:p xmlns:a="http://schemas.openxmlformats.org/drawingml/2006/main"/>
          <a:p xmlns:a="http://schemas.openxmlformats.org/drawingml/2006/main">
            <a:r>
              <a:t>We look for two columns, actual and predicted, and we expect both to hold whole numbers, shown as int64. Each row is one case. Actual is the true answer for that case. Predicted is what a model said for the same case. What prints matches the explanation in the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row in this file is one pair of answers, side by side. Actual is the truth that was recorded. Predicted is what the model said for the same case. We always read actual first, then predicted.</a:t>
            </a:r>
          </a:p>
          <a:p xmlns:a="http://schemas.openxmlformats.org/drawingml/2006/main"/>
          <a:p xmlns:a="http://schemas.openxmlformats.org/drawingml/2006/main">
            <a:r>
              <a:t>In this file one means warning. We call that the positive class, because it is the class we are looking for. Zero means no warning, the negative class.</a:t>
            </a:r>
          </a:p>
          <a:p xmlns:a="http://schemas.openxmlformats.org/drawingml/2006/main"/>
          <a:p xmlns:a="http://schemas.openxmlformats.org/drawingml/2006/main">
            <a:r>
              <a:t>That gives four possible pairs. Actual one with predicted one is a true positive, a warning that was right. Actual zero with predicted zero is a true negative, a quiet case correctly left quiet. Actual zero with predicted one is a false positive, a false alarm. Actual one with predicted zero is a false negative, a missed warning.</a:t>
            </a:r>
          </a:p>
          <a:p xmlns:a="http://schemas.openxmlformats.org/drawingml/2006/main"/>
          <a:p xmlns:a="http://schemas.openxmlformats.org/drawingml/2006/main">
            <a:r>
              <a:t>The word true or false tells us whether the model was right. The word positive or negative tells us what the model predicted. The missed warning is the costly one, because a real problem passed with no alert at 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count each of the four pairs. The actual column holds the reference label, the true class. The predicted column holds the model's decision. In this file one means warning and zero means no warning.</a:t>
            </a:r>
          </a:p>
          <a:p xmlns:a="http://schemas.openxmlformats.org/drawingml/2006/main"/>
          <a:p xmlns:a="http://schemas.openxmlformats.org/drawingml/2006/main">
            <a:r>
              <a:t>To count a pair we need two checks on the same row at the same time. The double equals sign compares two values and gives True or False. The ampersand joins two checks, and a row passes only when both are True. We put each comparison inside its own parentheses, so Python reads them in the right order.</a:t>
            </a:r>
          </a:p>
          <a:p xmlns:a="http://schemas.openxmlformats.org/drawingml/2006/main"/>
          <a:p xmlns:a="http://schemas.openxmlformats.org/drawingml/2006/main">
            <a:r>
              <a:t>Then sum adds up the True entries. True counts as one and False counts as zero, so the sum is the number of rows that meet both conditions.</a:t>
            </a:r>
          </a:p>
          <a:p xmlns:a="http://schemas.openxmlformats.org/drawingml/2006/main"/>
          <a:p xmlns:a="http://schemas.openxmlformats.org/drawingml/2006/main">
            <a:r>
              <a:t>We repeat this with a different pair of conditions for each of the four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next example we remind ourselves of three pandas tools.</a:t>
            </a:r>
          </a:p>
          <a:p xmlns:a="http://schemas.openxmlformats.org/drawingml/2006/main"/>
          <a:p xmlns:a="http://schemas.openxmlformats.org/drawingml/2006/main">
            <a:r>
              <a:t>First, selecting columns. Square brackets with one name in quotes give one column, which is a Series. Square brackets holding a list of names give a smaller table with just those columns, in the order we wrote them.</a:t>
            </a:r>
          </a:p>
          <a:p xmlns:a="http://schemas.openxmlformats.org/drawingml/2006/main"/>
          <a:p xmlns:a="http://schemas.openxmlformats.org/drawingml/2006/main">
            <a:r>
              <a:t>Second, column arithmetic. When we do arithmetic on columns, pandas works on every row at once and gives one result per row. Rows are matched by their labels, so the actual and predicted values must stay paired row for row. If we divide, we first make sure the bottom of the fraction is valid.</a:t>
            </a:r>
          </a:p>
          <a:p xmlns:a="http://schemas.openxmlformats.org/drawingml/2006/main"/>
          <a:p xmlns:a="http://schemas.openxmlformats.org/drawingml/2006/main">
            <a:r>
              <a:t>Third, adding and counting True. The sum method adds up the values of a column. In a column of True and False, True counts as one and False counts as zero, so sum counts the Trues. If we write isna before sum, we count the missing cells in each column.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mask is a column of True and False answers, one for each row. We make one by comparing a column with a value, for example asking whether each entry equals one.</a:t>
            </a:r>
          </a:p>
          <a:p xmlns:a="http://schemas.openxmlformats.org/drawingml/2006/main"/>
          <a:p xmlns:a="http://schemas.openxmlformats.org/drawingml/2006/main">
            <a:r>
              <a:t>Then we place the mask inside square brackets after the table name. Pandas keeps the rows where the mask is True and drops the rest.</a:t>
            </a:r>
          </a:p>
          <a:p xmlns:a="http://schemas.openxmlformats.org/drawingml/2006/main"/>
          <a:p xmlns:a="http://schemas.openxmlformats.org/drawingml/2006/main">
            <a:r>
              <a:t>We can combine two masks with the ampersand. Then a row stays only when both conditions hold. Each comparison goes inside its own parentheses.</a:t>
            </a:r>
          </a:p>
          <a:p xmlns:a="http://schemas.openxmlformats.org/drawingml/2006/main"/>
          <a:p xmlns:a="http://schemas.openxmlformats.org/drawingml/2006/main">
            <a:r>
              <a:t>This is the same filtering we practised in earlier weeks. Today we use the same idea to pick out the rows whose actual and predicted labels match a pattern we care about, so we can count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this drill the model has already made its decisions. We are not training a classifier today. We only score decisions that exist in the file.</a:t>
            </a:r>
          </a:p>
          <a:p xmlns:a="http://schemas.openxmlformats.org/drawingml/2006/main"/>
          <a:p xmlns:a="http://schemas.openxmlformats.org/drawingml/2006/main">
            <a:r>
              <a:t>The actual column holds the recorded class. The predicted column holds the model's decision for the same row. A row in one column must line up with the same row in the other, so we never sort or shuffle one column without the other.</a:t>
            </a:r>
          </a:p>
          <a:p xmlns:a="http://schemas.openxmlformats.org/drawingml/2006/main"/>
          <a:p xmlns:a="http://schemas.openxmlformats.org/drawingml/2006/main">
            <a:r>
              <a:t>Here one means positive and zero means negative. Positive is the class we are watching for, which is the warning.</a:t>
            </a:r>
          </a:p>
          <a:p xmlns:a="http://schemas.openxmlformats.org/drawingml/2006/main"/>
          <a:p xmlns:a="http://schemas.openxmlformats.org/drawingml/2006/main">
            <a:r>
              <a:t>Everything we count next depends on these two columns staying in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step gives the two columns short, clear names.</a:t>
            </a:r>
          </a:p>
          <a:p xmlns:a="http://schemas.openxmlformats.org/drawingml/2006/main"/>
          <a:p xmlns:a="http://schemas.openxmlformats.org/drawingml/2006/main">
            <a:r>
              <a:t>actual_labels takes the actual column from raw_data. predicted_labels takes the predicted column. Each one is a Series with one value per row, and the rows stay in their original order, so the pairing is kept.</a:t>
            </a:r>
          </a:p>
          <a:p xmlns:a="http://schemas.openxmlformats.org/drawingml/2006/main"/>
          <a:p xmlns:a="http://schemas.openxmlformats.org/drawingml/2006/main">
            <a:r>
              <a:t>In actual_labels, one means a positive case and zero means a negative case. In predicted_labels, the same numbers describe what the model decided.</a:t>
            </a:r>
          </a:p>
          <a:p xmlns:a="http://schemas.openxmlformats.org/drawingml/2006/main"/>
          <a:p xmlns:a="http://schemas.openxmlformats.org/drawingml/2006/main">
            <a:r>
              <a:t>This cell prints nothing, because it only stores values for the next steps. We still run it, since the cells that follow depend on these two 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class label is a number, but counting is easier with yes or no questions. So we turn each label into a question.</a:t>
            </a:r>
          </a:p>
          <a:p xmlns:a="http://schemas.openxmlformats.org/drawingml/2006/main"/>
          <a:p xmlns:a="http://schemas.openxmlformats.org/drawingml/2006/main">
            <a:r>
              <a:t>actual double equals one asks, for every row, whether the real class is positive. predicted double equals one asks whether the model said positive. Each question gives one True or False for every row.</a:t>
            </a:r>
          </a:p>
          <a:p xmlns:a="http://schemas.openxmlformats.org/drawingml/2006/main"/>
          <a:p xmlns:a="http://schemas.openxmlformats.org/drawingml/2006/main">
            <a:r>
              <a:t>A single equals sign stores a value under a name. A double equals sign asks a question and gives back True or False. In this step we use the double equals sign, because we want the answers.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builds four columns of True and False answers.</a:t>
            </a:r>
          </a:p>
          <a:p xmlns:a="http://schemas.openxmlformats.org/drawingml/2006/main"/>
          <a:p xmlns:a="http://schemas.openxmlformats.org/drawingml/2006/main">
            <a:r>
              <a:t>actual_is_positive asks whether each real class is one. prediction_is_positive asks whether each model decision is one. actual_is_negative and prediction_is_negative ask the same questions with zero. We need the negative versions later for false alarms and true negatives.</a:t>
            </a:r>
          </a:p>
          <a:p xmlns:a="http://schemas.openxmlformats.org/drawingml/2006/main"/>
          <a:p xmlns:a="http://schemas.openxmlformats.org/drawingml/2006/main">
            <a:r>
              <a:t>Then we print the first few entries of the first two columns, using head, to check them.</a:t>
            </a:r>
          </a:p>
          <a:p xmlns:a="http://schemas.openxmlformats.org/drawingml/2006/main"/>
          <a:p xmlns:a="http://schemas.openxmlformats.org/drawingml/2006/main">
            <a:r>
              <a:t>In the output, each line shows a row number on the left and True or False beside it. At the bottom we see the column name and the type bool, which means True and False values. We compare the two printouts row by row. Where both say True, the model caught a real warning. Where they differ, the model made a mistake.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count one outcome we ask two questions about the same row.</a:t>
            </a:r>
          </a:p>
          <a:p xmlns:a="http://schemas.openxmlformats.org/drawingml/2006/main"/>
          <a:p xmlns:a="http://schemas.openxmlformats.org/drawingml/2006/main">
            <a:r>
              <a:t>A true positive is a row where actual is one and predicted is one. We combine the two columns of answers with the ampersand, which gives True only where both are True. Then we sum the True entries to get the count.</a:t>
            </a:r>
          </a:p>
          <a:p xmlns:a="http://schemas.openxmlformats.org/drawingml/2006/main"/>
          <a:p xmlns:a="http://schemas.openxmlformats.org/drawingml/2006/main">
            <a:r>
              <a:t>The other three outcomes follow the same pattern with their own pair of labels. A false negative has actual one and predicted zero. A false positive has actual zero and predicted one. A true negative has actual zero and predicted zero.</a:t>
            </a:r>
          </a:p>
          <a:p xmlns:a="http://schemas.openxmlformats.org/drawingml/2006/main"/>
          <a:p xmlns:a="http://schemas.openxmlformats.org/drawingml/2006/main">
            <a:r>
              <a:t>One pair of conditions, one count, four times 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counts the true positives.</a:t>
            </a:r>
          </a:p>
          <a:p xmlns:a="http://schemas.openxmlformats.org/drawingml/2006/main"/>
          <a:p xmlns:a="http://schemas.openxmlformats.org/drawingml/2006/main">
            <a:r>
              <a:t>The first line joins actual_is_positive and prediction_is_positive with the ampersand. The result is True for each row where the case was a real warning and the model also said warning.</a:t>
            </a:r>
          </a:p>
          <a:p xmlns:a="http://schemas.openxmlformats.org/drawingml/2006/main"/>
          <a:p xmlns:a="http://schemas.openxmlformats.org/drawingml/2006/main">
            <a:r>
              <a:t>The second line sums that column, which adds up the Trues. We wrap the result in int to turn it into a plain whole number.</a:t>
            </a:r>
          </a:p>
          <a:p xmlns:a="http://schemas.openxmlformats.org/drawingml/2006/main"/>
          <a:p xmlns:a="http://schemas.openxmlformats.org/drawingml/2006/main">
            <a:r>
              <a:t>The third line prints a label, True positives, followed by the count. We read the output as the number of real warnings the model caught. We can check it by looking in the file for the rows where both columns show 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more counts remain.</a:t>
            </a:r>
          </a:p>
          <a:p xmlns:a="http://schemas.openxmlformats.org/drawingml/2006/main"/>
          <a:p xmlns:a="http://schemas.openxmlformats.org/drawingml/2006/main">
            <a:r>
              <a:t>A false negative is a missed positive. The actual class is one, but the model predicted zero. This is the missed warning.</a:t>
            </a:r>
          </a:p>
          <a:p xmlns:a="http://schemas.openxmlformats.org/drawingml/2006/main"/>
          <a:p xmlns:a="http://schemas.openxmlformats.org/drawingml/2006/main">
            <a:r>
              <a:t>A false positive is a false alarm. The actual class is zero, but the model predicted one.</a:t>
            </a:r>
          </a:p>
          <a:p xmlns:a="http://schemas.openxmlformats.org/drawingml/2006/main"/>
          <a:p xmlns:a="http://schemas.openxmlformats.org/drawingml/2006/main">
            <a:r>
              <a:t>We store them in variables called false_negative_count and false_positive_count, so we can read them clearly later.</a:t>
            </a:r>
          </a:p>
          <a:p xmlns:a="http://schemas.openxmlformats.org/drawingml/2006/main"/>
          <a:p xmlns:a="http://schemas.openxmlformats.org/drawingml/2006/main">
            <a:r>
              <a:t>To tell them apart, we read the actual value first. If a real problem exists and the model stayed silent, we have a false negative. If no problem exists and the model raised an alert anyway, we have a false positive.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code is long, so it is split over three slides, but it is one cell.</a:t>
            </a:r>
          </a:p>
          <a:p xmlns:a="http://schemas.openxmlformats.org/drawingml/2006/main"/>
          <a:p xmlns:a="http://schemas.openxmlformats.org/drawingml/2006/main">
            <a:r>
              <a:t>false_negative_count takes the rows where actual_is_positive and prediction_is_negative are both True. Those are real warnings where the model said no. We join the two columns with the ampersand, sum the Trues, and convert the result with int.</a:t>
            </a:r>
          </a:p>
          <a:p xmlns:a="http://schemas.openxmlformats.org/drawingml/2006/main"/>
          <a:p xmlns:a="http://schemas.openxmlformats.org/drawingml/2006/main">
            <a:r>
              <a:t>The code is written over several lines. Python allows this inside parentheses.</a:t>
            </a:r>
          </a:p>
          <a:p xmlns:a="http://schemas.openxmlformats.org/drawingml/2006/main"/>
          <a:p xmlns:a="http://schemas.openxmlformats.org/drawingml/2006/main">
            <a:r>
              <a:t>false_positive_count works the same way, using actual_is_negative and prediction_is_positive. Those are quiet cases where the model raised an alert.</a:t>
            </a:r>
          </a:p>
          <a:p xmlns:a="http://schemas.openxmlformats.org/drawingml/2006/main"/>
          <a:p xmlns:a="http://schemas.openxmlformats.org/drawingml/2006/main">
            <a:r>
              <a:t>Nothing prints yet. We continue in the same cell on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cell continues with the third count.</a:t>
            </a:r>
          </a:p>
          <a:p xmlns:a="http://schemas.openxmlformats.org/drawingml/2006/main"/>
          <a:p xmlns:a="http://schemas.openxmlformats.org/drawingml/2006/main">
            <a:r>
              <a:t>true_negative_count takes the rows where actual_is_negative and prediction_is_negative are both True. Those are quiet cases that the model correctly left quiet.</a:t>
            </a:r>
          </a:p>
          <a:p xmlns:a="http://schemas.openxmlformats.org/drawingml/2006/main"/>
          <a:p xmlns:a="http://schemas.openxmlformats.org/drawingml/2006/main">
            <a:r>
              <a:t>Then print shows three counts in the order we wrote them: false negatives, then false positives, then true negatives. We read the output from left to right in that order.</a:t>
            </a:r>
          </a:p>
          <a:p xmlns:a="http://schemas.openxmlformats.org/drawingml/2006/main"/>
          <a:p xmlns:a="http://schemas.openxmlformats.org/drawingml/2006/main">
            <a:r>
              <a:t>Together with the true positives from the earlier cell, we now have all four counts of the confusion matrix. Each one answers a separate question about how the model behaved.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last lines of this cell are a check.</a:t>
            </a:r>
          </a:p>
          <a:p xmlns:a="http://schemas.openxmlformats.org/drawingml/2006/main"/>
          <a:p xmlns:a="http://schemas.openxmlformats.org/drawingml/2006/main">
            <a:r>
              <a:t>We add the four counts together and print that total next to len of raw_data, which is the number of rows in the file. Every row falls into exactly one of the four outcomes, so the two numbers must be equal.</a:t>
            </a:r>
          </a:p>
          <a:p xmlns:a="http://schemas.openxmlformats.org/drawingml/2006/main"/>
          <a:p xmlns:a="http://schemas.openxmlformats.org/drawingml/2006/main">
            <a:r>
              <a:t>If they differ, we have miscounted somewhere, perhaps with a missing parenthesis or a wrong pair of labels. A print with two items separated by a comma shows them on one line.</a:t>
            </a:r>
          </a:p>
          <a:p xmlns:a="http://schemas.openxmlformats.org/drawingml/2006/main"/>
          <a:p xmlns:a="http://schemas.openxmlformats.org/drawingml/2006/main">
            <a:r>
              <a:t>We always run this check before calculating anything from the counts. It costs a second and catches mistakes early.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score the counts.</a:t>
            </a:r>
          </a:p>
          <a:p xmlns:a="http://schemas.openxmlformats.org/drawingml/2006/main"/>
          <a:p xmlns:a="http://schemas.openxmlformats.org/drawingml/2006/main">
            <a:r>
              <a:t>Precision asks, of all the alerts the model raised, how many were right. It is true positives divided by true positives plus false positives. Recall asks, of all the real warnings, how many the model found. It is true positives divided by true positives plus false negatives. If a denominator is zero, the issued policy returns zero, so we never divide by zero.</a:t>
            </a:r>
          </a:p>
          <a:p xmlns:a="http://schemas.openxmlformats.org/drawingml/2006/main"/>
          <a:p xmlns:a="http://schemas.openxmlformats.org/drawingml/2006/main">
            <a:r>
              <a:t>Cost puts a price on mistakes. In our teaching rule, each missed warning costs five units and each false alarm costs one unit. So the cost is five times the false negatives plus the false positives.</a:t>
            </a:r>
          </a:p>
          <a:p xmlns:a="http://schemas.openxmlformats.org/drawingml/2006/main"/>
          <a:p xmlns:a="http://schemas.openxmlformats.org/drawingml/2006/main">
            <a:r>
              <a:t>These prices are an assumption made for teaching. Whenever we quote a cost, we say this assumption alongside it. A different plant could choose different prices.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short reminder about rounding.</a:t>
            </a:r>
          </a:p>
          <a:p xmlns:a="http://schemas.openxmlformats.org/drawingml/2006/main"/>
          <a:p xmlns:a="http://schemas.openxmlformats.org/drawingml/2006/main">
            <a:r>
              <a:t>On a Series, the round method with three inside the brackets gives every value to three decimal places. For a single number, Python's round function takes the number first and then the count of decimal places.</a:t>
            </a:r>
          </a:p>
          <a:p xmlns:a="http://schemas.openxmlformats.org/drawingml/2006/main"/>
          <a:p xmlns:a="http://schemas.openxmlformats.org/drawingml/2006/main">
            <a:r>
              <a:t>We round to make printed output easy to read. For answers that we return in an assessment, we keep the full unrounded value. Rounding early can shift later calculations, and a grader may compare exact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Dividing by zero breaks a calculation, so we check first.</a:t>
            </a:r>
          </a:p>
          <a:p xmlns:a="http://schemas.openxmlformats.org/drawingml/2006/main"/>
          <a:p xmlns:a="http://schemas.openxmlformats.org/drawingml/2006/main">
            <a:r>
              <a:t>The word if, followed by a condition and a colon, starts a block. The indented lines below it run only when the condition is True. The word else handles every other case.</a:t>
            </a:r>
          </a:p>
          <a:p xmlns:a="http://schemas.openxmlformats.org/drawingml/2006/main"/>
          <a:p xmlns:a="http://schemas.openxmlformats.org/drawingml/2006/main">
            <a:r>
              <a:t>For precision, the condition is that the number of predicted positives is more than zero. If it is, we divide. If it is not, the value keeps its safe starting value.</a:t>
            </a:r>
          </a:p>
          <a:p xmlns:a="http://schemas.openxmlformats.org/drawingml/2006/main"/>
          <a:p xmlns:a="http://schemas.openxmlformats.org/drawingml/2006/main">
            <a:r>
              <a:t>The same idea protects any step that needs something to exist. For example, we can check that a table is nonempty before we select its first row.</a:t>
            </a:r>
          </a:p>
          <a:p xmlns:a="http://schemas.openxmlformats.org/drawingml/2006/main"/>
          <a:p xmlns:a="http://schemas.openxmlformats.org/drawingml/2006/main">
            <a:r>
              <a:t>The indentation matters. It tells Python which lines belong to the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Precision tells us how much we can trust the model when it says positive.</a:t>
            </a:r>
          </a:p>
          <a:p xmlns:a="http://schemas.openxmlformats.org/drawingml/2006/main"/>
          <a:p xmlns:a="http://schemas.openxmlformats.org/drawingml/2006/main">
            <a:r>
              <a:t>The bottom of the fraction is every case the model called positive, which is true positives plus false positives. The top is the correct ones, the true positives. So we divide the correct positive predictions by all positive predictions.</a:t>
            </a:r>
          </a:p>
          <a:p xmlns:a="http://schemas.openxmlformats.org/drawingml/2006/main"/>
          <a:p xmlns:a="http://schemas.openxmlformats.org/drawingml/2006/main">
            <a:r>
              <a:t>A high precision means few false alarms.</a:t>
            </a:r>
          </a:p>
          <a:p xmlns:a="http://schemas.openxmlformats.org/drawingml/2006/main"/>
          <a:p xmlns:a="http://schemas.openxmlformats.org/drawingml/2006/main">
            <a:r>
              <a:t>Before dividing, we check that the bottom is above zero. A model that never raises an alert has no positive predictions to divide by, and in this example we then use zero.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start by setting precision to zero. That is the answer if the model never predicted positive.</a:t>
            </a:r>
          </a:p>
          <a:p xmlns:a="http://schemas.openxmlformats.org/drawingml/2006/main"/>
          <a:p xmlns:a="http://schemas.openxmlformats.org/drawingml/2006/main">
            <a:r>
              <a:t>The if line asks whether true positives plus false positives is more than zero. When it is, the indented line runs. It replaces precision with true positives divided by true positives plus false positives.</a:t>
            </a:r>
          </a:p>
          <a:p xmlns:a="http://schemas.openxmlformats.org/drawingml/2006/main"/>
          <a:p xmlns:a="http://schemas.openxmlformats.org/drawingml/2006/main">
            <a:r>
              <a:t>The parentheses stretch over several lines. They keep the sum together, so the division applies to the whole total.</a:t>
            </a:r>
          </a:p>
          <a:p xmlns:a="http://schemas.openxmlformats.org/drawingml/2006/main"/>
          <a:p xmlns:a="http://schemas.openxmlformats.org/drawingml/2006/main">
            <a:r>
              <a:t>Nothing prints here. The variable precision is stored for the final step, where we print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tells us how many of the real positives the model found.</a:t>
            </a:r>
          </a:p>
          <a:p xmlns:a="http://schemas.openxmlformats.org/drawingml/2006/main"/>
          <a:p xmlns:a="http://schemas.openxmlformats.org/drawingml/2006/main">
            <a:r>
              <a:t>The bottom of the fraction is every actual positive, which is true positives plus false negatives. The top is the ones the model caught, the true positives. So we divide the detected positives by all actual positives.</a:t>
            </a:r>
          </a:p>
          <a:p xmlns:a="http://schemas.openxmlformats.org/drawingml/2006/main"/>
          <a:p xmlns:a="http://schemas.openxmlformats.org/drawingml/2006/main">
            <a:r>
              <a:t>A high recall means few missed warnings.</a:t>
            </a:r>
          </a:p>
          <a:p xmlns:a="http://schemas.openxmlformats.org/drawingml/2006/main"/>
          <a:p xmlns:a="http://schemas.openxmlformats.org/drawingml/2006/main">
            <a:r>
              <a:t>Precision and recall answer different questions. Precision looks at the model's alerts. Recall looks at the real events. They can happen to share the same value, yet they still mean different things. A model that alerts only when it is very sure can have good precision and miss many events.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follows the same pattern as precision.</a:t>
            </a:r>
          </a:p>
          <a:p xmlns:a="http://schemas.openxmlformats.org/drawingml/2006/main"/>
          <a:p xmlns:a="http://schemas.openxmlformats.org/drawingml/2006/main">
            <a:r>
              <a:t>We set recall to zero first. Then the if line asks whether true positives plus false negatives is more than zero. That sum is the number of real positives in the file.</a:t>
            </a:r>
          </a:p>
          <a:p xmlns:a="http://schemas.openxmlformats.org/drawingml/2006/main"/>
          <a:p xmlns:a="http://schemas.openxmlformats.org/drawingml/2006/main">
            <a:r>
              <a:t>When it is, the indented line replaces recall with true positives divided by that sum.</a:t>
            </a:r>
          </a:p>
          <a:p xmlns:a="http://schemas.openxmlformats.org/drawingml/2006/main"/>
          <a:p xmlns:a="http://schemas.openxmlformats.org/drawingml/2006/main">
            <a:r>
              <a:t>The only difference from the precision cell is the bottom of the fraction. For precision we used the predicted positives. For recall we use the actual positives.</a:t>
            </a:r>
          </a:p>
          <a:p xmlns:a="http://schemas.openxmlformats.org/drawingml/2006/main"/>
          <a:p xmlns:a="http://schemas.openxmlformats.org/drawingml/2006/main">
            <a:r>
              <a:t>Nothing prints here. Both values are stored for the next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total_error_cost turns the mistakes into one number.</a:t>
            </a:r>
          </a:p>
          <a:p xmlns:a="http://schemas.openxmlformats.org/drawingml/2006/main"/>
          <a:p xmlns:a="http://schemas.openxmlformats.org/drawingml/2006/main">
            <a:r>
              <a:t>In this scenario each missed positive costs five penalty units and each false alarm costs one. We multiply the false negatives by five and add the false positives. Correct answers cost nothing.</a:t>
            </a:r>
          </a:p>
          <a:p xmlns:a="http://schemas.openxmlformats.org/drawingml/2006/main"/>
          <a:p xmlns:a="http://schemas.openxmlformats.org/drawingml/2006/main">
            <a:r>
              <a:t>The five to one ratio says that a missed warning is five times as bad as a false alarm. That is a teaching assumption for this scenario.</a:t>
            </a:r>
          </a:p>
          <a:p xmlns:a="http://schemas.openxmlformats.org/drawingml/2006/main"/>
          <a:p xmlns:a="http://schemas.openxmlformats.org/drawingml/2006/main">
            <a:r>
              <a:t>A lower cost is better, and a cost of zero means the model made no mistakes.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line calculates total_error_cost. It is five times false_negative_count plus false_positive_count. The star is the multiplication sign in Python.</a:t>
            </a:r>
          </a:p>
          <a:p xmlns:a="http://schemas.openxmlformats.org/drawingml/2006/main"/>
          <a:p xmlns:a="http://schemas.openxmlformats.org/drawingml/2006/main">
            <a:r>
              <a:t>The print line shows three values: precision rounded to four decimal places, recall rounded to four decimal places, and the cost. The round function only tidies the printout, and the stored values stay in full.</a:t>
            </a:r>
          </a:p>
          <a:p xmlns:a="http://schemas.openxmlformats.org/drawingml/2006/main"/>
          <a:p xmlns:a="http://schemas.openxmlformats.org/drawingml/2006/main">
            <a:r>
              <a:t>We read the output from left to right. Precision tells us how trustworthy the alerts are. Recall tells us how many real warnings we caught. The cost adds up the damage under our five to one rule.</a:t>
            </a:r>
          </a:p>
          <a:p xmlns:a="http://schemas.openxmlformats.org/drawingml/2006/main"/>
          <a:p xmlns:a="http://schemas.openxmlformats.org/drawingml/2006/main">
            <a:r>
              <a:t>We can check all three by hand from our own counts with a calculator.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confusion matrix for our model. The rows are what really happened. The columns are what the model said.</a:t>
            </a:r>
          </a:p>
          <a:p/>
          <a:p>
            <a:r>
              <a:t>Of the 3 real alerts in the validation rows, the model caught 3 and missed 0. Of the 12 quiet rows, it raised 1 false alarms and answered 11 correctly.</a:t>
            </a:r>
          </a:p>
          <a:p/>
          <a:p>
            <a:r>
              <a:t>That gives an accuracy of 93 percent, a precision of 0.75 and a recall of 1.00. One caution. There are only 3 real alerts in the validation rows, so a single missed alert moves recall a long way. Treat these numbers as an illustration and judge the model on more data in later weeks.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Precision and recall pull in different directions, so people often want one number that reflects both. That number is F1. It is a kind of average that is high only when precision and recall are both high.</a:t>
            </a:r>
          </a:p>
          <a:p/>
          <a:p>
            <a:r>
              <a:t>For our model, precision is 0.75 and recall is 1.00. The formula gives an F1 of 0.86.</a:t>
            </a:r>
          </a:p>
          <a:p/>
          <a:p>
            <a:r>
              <a:t>Remember the model that always says no alert. Its recall is zero because it finds none of the real alerts. So its F1 is zero, even though its accuracy was high. F1 exposes what accuracy hid.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move the threshold and watch the counts. A low threshold makes the model say alert more often, so we can catch more of the real alerts, and in most data we also pay with more false alarms. A high threshold does the opposite.</a:t>
            </a:r>
          </a:p>
          <a:p/>
          <a:p>
            <a:r>
              <a:t>Here is what our small sample shows. At a threshold of 0.3 the model catches 3 of the 3 real alerts and raises 2 false alarms. At 0.5 it catches 3 and raises 1. At 0.7 it catches 2 and raises 0. The trade is easy to see in the TP and FP columns, and in the precision and recall columns built from them.</a:t>
            </a:r>
          </a:p>
          <a:p/>
          <a:p>
            <a:r>
              <a:t>There is no threshold that is best for everybody. The right setting depends on the cost of each mistake. In this week's assignment a missed alert costs five units and a false alarm costs one, so a low threshold is attractive. For a different machine the costs could reverse. Only 3 real alerts sit in the validation rows, so the exact numbers will move with more data.</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if we want to judge the model without choosing one threshold? The ROC curve does that. Every point on the curve is one threshold. The horizontal axis is the false alarm rate, which is the share of quiet rows that raised an alert: false positives divided by false positives plus true negatives. The vertical axis is the detection rate, which is recall.</a:t>
            </a:r>
          </a:p>
          <a:p/>
          <a:p>
            <a:r>
              <a:t>A model that is only guessing follows the dashed diagonal. A good model climbs quickly toward the top left corner. The area under the curve is called AUC. It has a friendly meaning: pick one real alert and one quiet row at random, and AUC is the chance that the model gives the alert the higher probability.</a:t>
            </a:r>
          </a:p>
          <a:p/>
          <a:p>
            <a:r>
              <a:t>Our AUC is 0.97. With only 3 real alerts in the validation rows, a very high AUC is easy to reach, so treat it lightly. We introduce the curve now because you will meet it in every machine learning report.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tree you met in Week 8 can answer yes or no questions as well. It asks the same kind of questions about the inputs. In a classifier each leaf holds the share of alerts among the training rows that end there, and the tree answers with the majority.</a:t>
            </a:r>
          </a:p>
          <a:p/>
          <a:p>
            <a:r>
              <a:t>On the right are the scores for a tree of depth three on the same rows, beside the scores for logistic regression. The tree has 3 true positives, 1 false positive and 0 false negatives. The two blocks have the same four counts in the same order, so we read the counts first and then the three scores.</a:t>
            </a:r>
          </a:p>
          <a:p/>
          <a:p>
            <a:r>
              <a:t>With fifteen validation rows the two models are hard to separate. In Week 10 we learn how to compare models more fairly, using several splits.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words to take away. Accuracy is the share of rows answered correctly, and it can mislead when one class dominates. Precision asks, of the alerts we raised, how many were real. Recall asks, of the real alerts, how many did we find. F1 combines the two. The ROC curve shows performance at every threshold, and AUC is the area under it. Class imbalance means one class is much more common than the other.</a:t>
            </a:r>
          </a:p>
          <a:p/>
          <a:p>
            <a:r>
              <a:t>In the assignment you will compute the four counts, precision, recall and the cost. You now know what each of those words means.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week's tasks are part B of the Block 1 assignment pack, worth twenty marks. They are built around classification_metrics.</a:t>
            </a:r>
          </a:p>
          <a:p/>
          <a:p>
            <a:r>
              <a:t>The earlier part is already in your folder, and the next part comes next week. All parts are handed in together by Friday 20 November at 08:00 Kampala time.</a:t>
            </a:r>
          </a:p>
          <a:p/>
          <a:p>
            <a:r>
              <a:t>There is no quiz today. The Block 1 quiz opens after the Week 10 class.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task uses classification_case dot csv, the same small file we worked through together. Positive means a synthetic warning condition, an invented condition built for teaching.</a:t>
            </a:r>
          </a:p>
          <a:p xmlns:a="http://schemas.openxmlformats.org/drawingml/2006/main"/>
          <a:p xmlns:a="http://schemas.openxmlformats.org/drawingml/2006/main">
            <a:r>
              <a:t>First, compute the confusion matrix, which is the four counts. Then compute precision, recall and total_error_cost.</a:t>
            </a:r>
          </a:p>
          <a:p xmlns:a="http://schemas.openxmlformats.org/drawingml/2006/main"/>
          <a:p xmlns:a="http://schemas.openxmlformats.org/drawingml/2006/main">
            <a:r>
              <a:t>Finally, explain in your own words the five to one cost assumption, which says a missed warning costs five and a false alarm costs one. Also explain why accuracy alone is insufficient. A model that never raises an alert can still look accurate when most rows are no alert, yet it misses every real warning.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reminder goes with the task. The costs we use are teaching assumptions. They are chosen to show how pricing mistakes changes which model looks best.</a:t>
            </a:r>
          </a:p>
          <a:p xmlns:a="http://schemas.openxmlformats.org/drawingml/2006/main"/>
          <a:p xmlns:a="http://schemas.openxmlformats.org/drawingml/2006/main">
            <a:r>
              <a:t>Real operating limits have to come from the people responsible for the equipment and its safety, after testing on real observations. In your explanation, say this clearly.</a:t>
            </a:r>
          </a:p>
          <a:p xmlns:a="http://schemas.openxmlformats.org/drawingml/2006/main"/>
          <a:p xmlns:a="http://schemas.openxmlformats.org/drawingml/2006/main">
            <a:r>
              <a:t>Also say what positive means in this file. Costs and benefits only make sense once the positive class has a name.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required function is called classification_metrics. It takes two inputs, actual and predicted, which are the two columns of labels.</a:t>
            </a:r>
          </a:p>
          <a:p xmlns:a="http://schemas.openxmlformats.org/drawingml/2006/main"/>
          <a:p xmlns:a="http://schemas.openxmlformats.org/drawingml/2006/main">
            <a:r>
              <a:t>It returns a dictionary with seven keys: tp, tn, fp, fn, precision, recall and cost. Here tp is true positives, tn is true negatives, fp is false positives and fn is false negatives.</a:t>
            </a:r>
          </a:p>
          <a:p xmlns:a="http://schemas.openxmlformats.org/drawingml/2006/main"/>
          <a:p xmlns:a="http://schemas.openxmlformats.org/drawingml/2006/main">
            <a:r>
              <a:t>Precision and recall are calculated as we did in the notebook. The cost is five times fn plus fp. If the bottom of the precision or recall fraction is zero, that value is returned as zero.</a:t>
            </a:r>
          </a:p>
          <a:p xmlns:a="http://schemas.openxmlformats.org/drawingml/2006/main"/>
          <a:p xmlns:a="http://schemas.openxmlformats.org/drawingml/2006/main">
            <a:r>
              <a:t>The function name and the key names must match exactly, because the grader looks them up by name. Inside the function you may use longer local names such as true_positive_count, but the dictionary keys must be the short ones. Check the types of your values and the issued brief before you submit.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Besides the code, we write our own explanation. Find the cell headed My written evidence and use it.</a:t>
            </a:r>
          </a:p>
          <a:p xmlns:a="http://schemas.openxmlformats.org/drawingml/2006/main"/>
          <a:p xmlns:a="http://schemas.openxmlformats.org/drawingml/2006/main">
            <a:r>
              <a:t>In that cell, explain the supplied scenario in your own words. State the units of any quantity you mention, for example crusher energy demand in kWh/t. Give your reasons for the choices you made, and state the limitations of your result.</a:t>
            </a:r>
          </a:p>
          <a:p xmlns:a="http://schemas.openxmlformats.org/drawingml/2006/main"/>
          <a:p xmlns:a="http://schemas.openxmlformats.org/drawingml/2006/main">
            <a:r>
              <a:t>The code and the written evidence for this part go in one complete notebook, and that notebook goes into the Block 1 pack. The explanation shows how you reason, so it must be written by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exit check for this week.</a:t>
            </a:r>
          </a:p>
          <a:p xmlns:a="http://schemas.openxmlformats.org/drawingml/2006/main"/>
          <a:p xmlns:a="http://schemas.openxmlformats.org/drawingml/2006/main">
            <a:r>
              <a:t>Explain to a classmate why a model that never raises an alert can still score a high accuracy, and what a missed alert costs in your own engineering field. If you can say it in plain words, you understand it.</a:t>
            </a:r>
          </a:p>
          <a:p xmlns:a="http://schemas.openxmlformats.org/drawingml/2006/main"/>
          <a:p xmlns:a="http://schemas.openxmlformats.org/drawingml/2006/main">
            <a:r>
              <a:t>Before you hand in your notebooks, keep your raw data unchanged. Restart the notebook and run all cells from the top, so we know it works from start to end.</a:t>
            </a:r>
          </a:p>
          <a:p xmlns:a="http://schemas.openxmlformats.org/drawingml/2006/main"/>
          <a:p xmlns:a="http://schemas.openxmlformats.org/drawingml/2006/main">
            <a:r>
              <a:t>Then point to your evidence in the notebook and save your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video is optional and is for revision after class. It is from StatQuest with Josh Starmer, and it is called Machine Learning Fundamentals, The Confusion Matrix.</a:t>
            </a:r>
          </a:p>
          <a:p xmlns:a="http://schemas.openxmlformats.org/drawingml/2006/main"/>
          <a:p xmlns:a="http://schemas.openxmlformats.org/drawingml/2006/main">
            <a:r>
              <a:t>Watch the opening, up to the four minute mark. As you watch, keep one question in mind: which observations are correctly classified, and which are incorrectly classified?</a:t>
            </a:r>
          </a:p>
          <a:p xmlns:a="http://schemas.openxmlformats.org/drawingml/2006/main"/>
          <a:p xmlns:a="http://schemas.openxmlformats.org/drawingml/2006/main">
            <a:r>
              <a:t>Then try to explain the answer in your own words, using the terms we met today. The link is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6c81cfc075954fbd"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40355fe4ceaa425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9e6499c491b34ddd"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01c522b6fa624bf6"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94123b41bc1e4c1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86329344e3bf43bc"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8BE0C5-C7CC-4DED-B662-741DCE92DC52}"/>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6FF6C13-3495-4C1B-897E-3F944F49EB77}"/>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392D1C2-3B9A-44C1-A592-7DF8DE1B5C7D}"/>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03531CB-97E3-42F3-A0CB-F9723CD0C4F6}"/>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4527856-98D7-416D-B030-5EE210757AD2}"/>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BA00E79-898E-415F-B5CA-38C88DDD0DDA}"/>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028A77-C92E-4878-9902-E78ACBE56473}"/>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6C7644A-0482-4DA5-8F57-40FFCBBFA0A9}"/>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C426ED-4EE9-4FC1-9A8D-3A77C59571CD}"/>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8AA3E7-71BA-4A95-A01E-57208948CD47}"/>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0371c9e5c5d4775" Type="http://schemas.openxmlformats.org/officeDocument/2006/relationships/theme" Target="theme/theme2.xml"/><Relationship Id="R2762ff0943de41cf" Type="http://schemas.openxmlformats.org/officeDocument/2006/relationships/slideLayout" Target="../slideLayouts/slideLayout3.xml"/><Relationship Id="R292a791edd744fa6" Type="http://schemas.openxmlformats.org/officeDocument/2006/relationships/slideLayout" Target="../slideLayouts/slideLayout2.xml"/><Relationship Id="R74ca77a1f993418d" Type="http://schemas.openxmlformats.org/officeDocument/2006/relationships/slideLayout" Target="../slideLayouts/slideLayout5.xml"/><Relationship Id="R880d8e2ea76d45b3" Type="http://schemas.openxmlformats.org/officeDocument/2006/relationships/slideLayout" Target="../slideLayouts/slideLayout4.xml"/><Relationship Id="Rb6b052f7991d49bf" Type="http://schemas.openxmlformats.org/officeDocument/2006/relationships/slideLayout" Target="../slideLayouts/slideLayout6.xml"/><Relationship Id="Re130d73fa37642d6"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30d73fa37642d6"/>
    <p:sldLayoutId xmlns:r="http://schemas.openxmlformats.org/officeDocument/2006/relationships" id="2147483650" r:id="R292a791edd744fa6"/>
    <p:sldLayoutId xmlns:r="http://schemas.openxmlformats.org/officeDocument/2006/relationships" id="2147483651" r:id="R2762ff0943de41cf"/>
    <p:sldLayoutId xmlns:r="http://schemas.openxmlformats.org/officeDocument/2006/relationships" id="2147483652" r:id="R880d8e2ea76d45b3"/>
    <p:sldLayoutId xmlns:r="http://schemas.openxmlformats.org/officeDocument/2006/relationships" id="2147483653" r:id="R74ca77a1f993418d"/>
    <p:sldLayoutId xmlns:r="http://schemas.openxmlformats.org/officeDocument/2006/relationships" id="2147483654" r:id="Rb6b052f7991d49b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06fe4481acd14d5b" Type="http://schemas.openxmlformats.org/officeDocument/2006/relationships/notesSlide" Target="../notesSlides/notesSlide1.xml"/><Relationship Id="R078dbbc088464dea" Type="http://schemas.openxmlformats.org/officeDocument/2006/relationships/image" Target="../media/image.png"/><Relationship Id="R21f2c655a3c2442e"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58131ff5dbdb464e" Type="http://schemas.openxmlformats.org/officeDocument/2006/relationships/notesSlide" Target="../notesSlides/notesSlide2.xml"/><Relationship Id="R670694aec72f4722"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1d708147e3414146" Type="http://schemas.openxmlformats.org/officeDocument/2006/relationships/notesSlide" Target="../notesSlides/notesSlide4.xml"/><Relationship Id="Rfb48c3e1c80f4e82"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e2a7e40af2394246" Type="http://schemas.openxmlformats.org/officeDocument/2006/relationships/notesSlide" Target="../notesSlides/notesSlide14.xml"/><Relationship Id="Rf035b464e2334988"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3af2af6238f5470e" Type="http://schemas.openxmlformats.org/officeDocument/2006/relationships/notesSlide" Target="../notesSlides/notesSlide15.xml"/><Relationship Id="Rf492cc74a1014333" Type="http://schemas.openxmlformats.org/officeDocument/2006/relationships/image" Target="../media/image2.png"/><Relationship Id="Rfd8c44d4b7f04bc0"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250c25f95cd447c9" Type="http://schemas.openxmlformats.org/officeDocument/2006/relationships/notesSlide" Target="../notesSlides/notesSlide16.xml"/><Relationship Id="R6b6856f403ea4b94"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673de2b515a84180" Type="http://schemas.openxmlformats.org/officeDocument/2006/relationships/notesSlide" Target="../notesSlides/notesSlide17.xml"/><Relationship Id="R6e2bf6721c04496b"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4c524c969c064eae" Type="http://schemas.openxmlformats.org/officeDocument/2006/relationships/notesSlide" Target="../notesSlides/notesSlide18.xml"/><Relationship Id="Rdf5851206eb24ea8"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4017c7c9db0b4fa3" Type="http://schemas.openxmlformats.org/officeDocument/2006/relationships/slideLayout" Target="../slideLayouts/slideLayout6.xml"/><Relationship Id="Rd3341453b7134ff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4865293c1ded4910" Type="http://schemas.openxmlformats.org/officeDocument/2006/relationships/notesSlide" Target="../notesSlides/notesSlide20.xml"/><Relationship Id="R6a24b1b439bb4f46"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996a02589b86415f" Type="http://schemas.openxmlformats.org/officeDocument/2006/relationships/slideLayout" Target="../slideLayouts/slideLayout6.xml"/><Relationship Id="Ra3167902576e43ca"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495bb978dab74634" Type="http://schemas.openxmlformats.org/officeDocument/2006/relationships/slideLayout" Target="../slideLayouts/slideLayout6.xml"/><Relationship Id="Rf00ca47caf164fdc"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307dddd4623240c1" Type="http://schemas.openxmlformats.org/officeDocument/2006/relationships/notesSlide" Target="../notesSlides/notesSlide23.xml"/><Relationship Id="Ra503b584665144de"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35b64169042e4969" Type="http://schemas.openxmlformats.org/officeDocument/2006/relationships/notesSlide" Target="../notesSlides/notesSlide24.xml"/><Relationship Id="Rdf9a31161842413d"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73be97761c264424" Type="http://schemas.openxmlformats.org/officeDocument/2006/relationships/notesSlide" Target="../notesSlides/notesSlide25.xml"/><Relationship Id="Rb90bf91e50554400"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7e864cbeb136439e" Type="http://schemas.openxmlformats.org/officeDocument/2006/relationships/slideLayout" Target="../slideLayouts/slideLayout6.xml"/><Relationship Id="R9c0e8a05d6f04edd"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1477804c37ec40ec" Type="http://schemas.openxmlformats.org/officeDocument/2006/relationships/slideLayout" Target="../slideLayouts/slideLayout6.xml"/><Relationship Id="R1f08a426530447cd"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0b6cb57509ea4090" Type="http://schemas.openxmlformats.org/officeDocument/2006/relationships/notesSlide" Target="../notesSlides/notesSlide28.xml"/><Relationship Id="Rfd9ab58b1bc44b1a"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4086812999004499" Type="http://schemas.openxmlformats.org/officeDocument/2006/relationships/slideLayout" Target="../slideLayouts/slideLayout6.xml"/><Relationship Id="Raea3112d9e93459e"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83e770e8e6434eef" Type="http://schemas.openxmlformats.org/officeDocument/2006/relationships/notesSlide" Target="../notesSlides/notesSlide30.xml"/><Relationship Id="Rc63ac9a2421640ac"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a504d68d2bfc4a18" Type="http://schemas.openxmlformats.org/officeDocument/2006/relationships/notesSlide" Target="../notesSlides/notesSlide31.xml"/><Relationship Id="Rb8ae676d382f4c4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492469059308406c" Type="http://schemas.openxmlformats.org/officeDocument/2006/relationships/slideLayout" Target="../slideLayouts/slideLayout6.xml"/><Relationship Id="Re1d9d6d9a3ac41bd"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0a7d93d37ada42b1" Type="http://schemas.openxmlformats.org/officeDocument/2006/relationships/notesSlide" Target="../notesSlides/notesSlide33.xml"/><Relationship Id="Rc2fac727baad4990"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763273b1185947e2" Type="http://schemas.openxmlformats.org/officeDocument/2006/relationships/slideLayout" Target="../slideLayouts/slideLayout6.xml"/><Relationship Id="Rcee230352be349ad"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0a3e4c0ec06c4b43" Type="http://schemas.openxmlformats.org/officeDocument/2006/relationships/slideLayout" Target="../slideLayouts/slideLayout6.xml"/><Relationship Id="R1ccd3cf55f07444f"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74afe9e6c4304139" Type="http://schemas.openxmlformats.org/officeDocument/2006/relationships/slideLayout" Target="../slideLayouts/slideLayout6.xml"/><Relationship Id="Rad975337e6624078"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5fdd74c383734e1d" Type="http://schemas.openxmlformats.org/officeDocument/2006/relationships/slideLayout" Target="../slideLayouts/slideLayout6.xml"/><Relationship Id="R7ec21f1ea616482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1a8af675af4845b9" Type="http://schemas.openxmlformats.org/officeDocument/2006/relationships/slideLayout" Target="../slideLayouts/slideLayout6.xml"/><Relationship Id="R7eedcff4d5644636"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27987d0e947c42dd" Type="http://schemas.openxmlformats.org/officeDocument/2006/relationships/slideLayout" Target="../slideLayouts/slideLayout6.xml"/><Relationship Id="R5651c24913fd43cf"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12357b5939e34030" Type="http://schemas.openxmlformats.org/officeDocument/2006/relationships/notesSlide" Target="../notesSlides/notesSlide47.xml"/><Relationship Id="Ra2dc88185de44470"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371959a8bec94249" Type="http://schemas.openxmlformats.org/officeDocument/2006/relationships/slideLayout" Target="../slideLayouts/slideLayout6.xml"/><Relationship Id="R7cc216f3b8054a9f"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4a2a671315704fbb" Type="http://schemas.openxmlformats.org/officeDocument/2006/relationships/slideLayout" Target="../slideLayouts/slideLayout6.xml"/><Relationship Id="Rbac49cd6f210466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17a1c6cfeb534b57" Type="http://schemas.openxmlformats.org/officeDocument/2006/relationships/slideLayout" Target="../slideLayouts/slideLayout6.xml"/><Relationship Id="R1f373ebef0a349ac" Type="http://schemas.openxmlformats.org/officeDocument/2006/relationships/hyperlink" Target="https://www.youtube.com/watch?v=Kdsp6soqA7o" TargetMode="External"/><Relationship Id="Ra828cbba6fbb4f89" Type="http://schemas.openxmlformats.org/officeDocument/2006/relationships/notesSlide" Target="../notesSlides/notesSlide50.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1E9BA00C-2B75-447E-9A01-6B1ABF5EE8E4}"/>
              </a:ext>
            </a:extLst>
          </p:cNvPr>
          <p:cNvPicPr>
            <a:picLocks xmlns:a="http://schemas.openxmlformats.org/drawingml/2006/main" noChangeAspect="1"/>
          </p:cNvPicPr>
          <p:nvPr/>
        </p:nvPicPr>
        <p:blipFill>
          <a:blip xmlns:r="http://schemas.openxmlformats.org/officeDocument/2006/relationships" xmlns:a="http://schemas.openxmlformats.org/drawingml/2006/main" r:embed="R078dbbc088464dea"/>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547E23B-E463-447A-9B33-47C76C69E144}"/>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CDB1746C-92AF-4887-8B2B-42ABD30C9D19}"/>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CML3113   WEEK 9</a:t>
            </a:r>
          </a:p>
        </p:txBody>
      </p:sp>
      <p:sp>
        <p:nvSpPr>
          <p:cNvPr id="4" name="">
            <a:extLst xmlns:a="http://schemas.openxmlformats.org/drawingml/2006/main">
              <a:ext uri="{FF2B5EF4-FFF2-40B4-BE49-F238E27FC236}">
                <a16:creationId xmlns:a16="http://schemas.microsoft.com/office/drawing/2014/main" id="{BAE5BEAF-A04A-4631-A159-F7043728511D}"/>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825" b="1">
                <a:solidFill>
                  <a:srgbClr val="FFFFFF"/>
                </a:solidFill>
                <a:latin typeface="Calibri"/>
                <a:ea typeface="Calibri"/>
                <a:cs typeface="Calibri"/>
              </a:defRPr>
            </a:defPPr>
            <a:lvl1pPr>
              <a:defRPr sz="3825" b="1">
                <a:solidFill>
                  <a:srgbClr val="FFFFFF"/>
                </a:solidFill>
                <a:latin typeface="Calibri"/>
                <a:ea typeface="Calibri"/>
                <a:cs typeface="Calibri"/>
              </a:defRPr>
            </a:lvl1pPr>
            <a:lvl2pPr>
              <a:defRPr sz="3825" b="1">
                <a:solidFill>
                  <a:srgbClr val="FFFFFF"/>
                </a:solidFill>
                <a:latin typeface="Calibri"/>
                <a:ea typeface="Calibri"/>
                <a:cs typeface="Calibri"/>
              </a:defRPr>
            </a:lvl2pPr>
            <a:lvl3pPr>
              <a:defRPr sz="3825" b="1">
                <a:solidFill>
                  <a:srgbClr val="FFFFFF"/>
                </a:solidFill>
                <a:latin typeface="Calibri"/>
                <a:ea typeface="Calibri"/>
                <a:cs typeface="Calibri"/>
              </a:defRPr>
            </a:lvl3pPr>
            <a:lvl4pPr>
              <a:defRPr sz="3825" b="1">
                <a:solidFill>
                  <a:srgbClr val="FFFFFF"/>
                </a:solidFill>
                <a:latin typeface="Calibri"/>
                <a:ea typeface="Calibri"/>
                <a:cs typeface="Calibri"/>
              </a:defRPr>
            </a:lvl4pPr>
            <a:lvl5pPr>
              <a:defRPr sz="3825" b="1">
                <a:solidFill>
                  <a:srgbClr val="FFFFFF"/>
                </a:solidFill>
                <a:latin typeface="Calibri"/>
                <a:ea typeface="Calibri"/>
                <a:cs typeface="Calibri"/>
              </a:defRPr>
            </a:lvl5pPr>
            <a:lvl6pPr>
              <a:defRPr sz="3825" b="1">
                <a:solidFill>
                  <a:srgbClr val="FFFFFF"/>
                </a:solidFill>
                <a:latin typeface="Calibri"/>
                <a:ea typeface="Calibri"/>
                <a:cs typeface="Calibri"/>
              </a:defRPr>
            </a:lvl6pPr>
            <a:lvl7pPr>
              <a:defRPr sz="3825" b="1">
                <a:solidFill>
                  <a:srgbClr val="FFFFFF"/>
                </a:solidFill>
                <a:latin typeface="Calibri"/>
                <a:ea typeface="Calibri"/>
                <a:cs typeface="Calibri"/>
              </a:defRPr>
            </a:lvl7pPr>
            <a:lvl8pPr>
              <a:defRPr sz="3825" b="1">
                <a:solidFill>
                  <a:srgbClr val="FFFFFF"/>
                </a:solidFill>
                <a:latin typeface="Calibri"/>
                <a:ea typeface="Calibri"/>
                <a:cs typeface="Calibri"/>
              </a:defRPr>
            </a:lvl8pPr>
            <a:lvl9pPr>
              <a:defRPr sz="3825" b="1">
                <a:solidFill>
                  <a:srgbClr val="FFFFFF"/>
                </a:solidFill>
                <a:latin typeface="Calibri"/>
                <a:ea typeface="Calibri"/>
                <a:cs typeface="Calibri"/>
              </a:defRPr>
            </a:lvl9pPr>
          </a:lstStyle>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Classification and the cost of mistakes</a:t>
            </a:r>
          </a:p>
        </p:txBody>
      </p:sp>
      <p:sp>
        <p:nvSpPr>
          <p:cNvPr id="5" name="">
            <a:extLst xmlns:a="http://schemas.openxmlformats.org/drawingml/2006/main">
              <a:ext uri="{FF2B5EF4-FFF2-40B4-BE49-F238E27FC236}">
                <a16:creationId xmlns:a16="http://schemas.microsoft.com/office/drawing/2014/main" id="{50C448E0-DD37-4C0A-8D6F-4AD039E34930}"/>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D8E3EC"/>
                </a:solidFill>
                <a:latin typeface="Calibri"/>
                <a:ea typeface="Calibri"/>
                <a:cs typeface="Calibri"/>
              </a:defRPr>
            </a:defPPr>
            <a:lvl1pPr>
              <a:defRPr sz="2100" b="0">
                <a:solidFill>
                  <a:srgbClr val="D8E3EC"/>
                </a:solidFill>
                <a:latin typeface="Calibri"/>
                <a:ea typeface="Calibri"/>
                <a:cs typeface="Calibri"/>
              </a:defRPr>
            </a:lvl1pPr>
            <a:lvl2pPr>
              <a:defRPr sz="2100" b="0">
                <a:solidFill>
                  <a:srgbClr val="D8E3EC"/>
                </a:solidFill>
                <a:latin typeface="Calibri"/>
                <a:ea typeface="Calibri"/>
                <a:cs typeface="Calibri"/>
              </a:defRPr>
            </a:lvl2pPr>
            <a:lvl3pPr>
              <a:defRPr sz="2100" b="0">
                <a:solidFill>
                  <a:srgbClr val="D8E3EC"/>
                </a:solidFill>
                <a:latin typeface="Calibri"/>
                <a:ea typeface="Calibri"/>
                <a:cs typeface="Calibri"/>
              </a:defRPr>
            </a:lvl3pPr>
            <a:lvl4pPr>
              <a:defRPr sz="2100" b="0">
                <a:solidFill>
                  <a:srgbClr val="D8E3EC"/>
                </a:solidFill>
                <a:latin typeface="Calibri"/>
                <a:ea typeface="Calibri"/>
                <a:cs typeface="Calibri"/>
              </a:defRPr>
            </a:lvl4pPr>
            <a:lvl5pPr>
              <a:defRPr sz="2100" b="0">
                <a:solidFill>
                  <a:srgbClr val="D8E3EC"/>
                </a:solidFill>
                <a:latin typeface="Calibri"/>
                <a:ea typeface="Calibri"/>
                <a:cs typeface="Calibri"/>
              </a:defRPr>
            </a:lvl5pPr>
            <a:lvl6pPr>
              <a:defRPr sz="2100" b="0">
                <a:solidFill>
                  <a:srgbClr val="D8E3EC"/>
                </a:solidFill>
                <a:latin typeface="Calibri"/>
                <a:ea typeface="Calibri"/>
                <a:cs typeface="Calibri"/>
              </a:defRPr>
            </a:lvl6pPr>
            <a:lvl7pPr>
              <a:defRPr sz="2100" b="0">
                <a:solidFill>
                  <a:srgbClr val="D8E3EC"/>
                </a:solidFill>
                <a:latin typeface="Calibri"/>
                <a:ea typeface="Calibri"/>
                <a:cs typeface="Calibri"/>
              </a:defRPr>
            </a:lvl7pPr>
            <a:lvl8pPr>
              <a:defRPr sz="2100" b="0">
                <a:solidFill>
                  <a:srgbClr val="D8E3EC"/>
                </a:solidFill>
                <a:latin typeface="Calibri"/>
                <a:ea typeface="Calibri"/>
                <a:cs typeface="Calibri"/>
              </a:defRPr>
            </a:lvl8pPr>
            <a:lvl9pPr>
              <a:defRPr sz="2100" b="0">
                <a:solidFill>
                  <a:srgbClr val="D8E3EC"/>
                </a:solidFill>
                <a:latin typeface="Calibri"/>
                <a:ea typeface="Calibri"/>
                <a:cs typeface="Calibri"/>
              </a:defRPr>
            </a:lvl9pPr>
          </a:lstStyle>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Mining and Petroleum Engineering</a:t>
            </a:r>
          </a:p>
        </p:txBody>
      </p:sp>
      <p:sp>
        <p:nvSpPr>
          <p:cNvPr id="6" name="">
            <a:extLst xmlns:a="http://schemas.openxmlformats.org/drawingml/2006/main">
              <a:ext uri="{FF2B5EF4-FFF2-40B4-BE49-F238E27FC236}">
                <a16:creationId xmlns:a16="http://schemas.microsoft.com/office/drawing/2014/main" id="{FC6F60BF-8798-484D-8603-264BCFA45160}"/>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D8E3EC"/>
                </a:solidFill>
                <a:latin typeface="Calibri"/>
                <a:ea typeface="Calibri"/>
                <a:cs typeface="Calibri"/>
              </a:defRPr>
            </a:defPPr>
            <a:lvl1pPr>
              <a:defRPr sz="1725" b="0">
                <a:solidFill>
                  <a:srgbClr val="D8E3EC"/>
                </a:solidFill>
                <a:latin typeface="Calibri"/>
                <a:ea typeface="Calibri"/>
                <a:cs typeface="Calibri"/>
              </a:defRPr>
            </a:lvl1pPr>
            <a:lvl2pPr>
              <a:defRPr sz="1725" b="0">
                <a:solidFill>
                  <a:srgbClr val="D8E3EC"/>
                </a:solidFill>
                <a:latin typeface="Calibri"/>
                <a:ea typeface="Calibri"/>
                <a:cs typeface="Calibri"/>
              </a:defRPr>
            </a:lvl2pPr>
            <a:lvl3pPr>
              <a:defRPr sz="1725" b="0">
                <a:solidFill>
                  <a:srgbClr val="D8E3EC"/>
                </a:solidFill>
                <a:latin typeface="Calibri"/>
                <a:ea typeface="Calibri"/>
                <a:cs typeface="Calibri"/>
              </a:defRPr>
            </a:lvl3pPr>
            <a:lvl4pPr>
              <a:defRPr sz="1725" b="0">
                <a:solidFill>
                  <a:srgbClr val="D8E3EC"/>
                </a:solidFill>
                <a:latin typeface="Calibri"/>
                <a:ea typeface="Calibri"/>
                <a:cs typeface="Calibri"/>
              </a:defRPr>
            </a:lvl4pPr>
            <a:lvl5pPr>
              <a:defRPr sz="1725" b="0">
                <a:solidFill>
                  <a:srgbClr val="D8E3EC"/>
                </a:solidFill>
                <a:latin typeface="Calibri"/>
                <a:ea typeface="Calibri"/>
                <a:cs typeface="Calibri"/>
              </a:defRPr>
            </a:lvl5pPr>
            <a:lvl6pPr>
              <a:defRPr sz="1725" b="0">
                <a:solidFill>
                  <a:srgbClr val="D8E3EC"/>
                </a:solidFill>
                <a:latin typeface="Calibri"/>
                <a:ea typeface="Calibri"/>
                <a:cs typeface="Calibri"/>
              </a:defRPr>
            </a:lvl6pPr>
            <a:lvl7pPr>
              <a:defRPr sz="1725" b="0">
                <a:solidFill>
                  <a:srgbClr val="D8E3EC"/>
                </a:solidFill>
                <a:latin typeface="Calibri"/>
                <a:ea typeface="Calibri"/>
                <a:cs typeface="Calibri"/>
              </a:defRPr>
            </a:lvl7pPr>
            <a:lvl8pPr>
              <a:defRPr sz="1725" b="0">
                <a:solidFill>
                  <a:srgbClr val="D8E3EC"/>
                </a:solidFill>
                <a:latin typeface="Calibri"/>
                <a:ea typeface="Calibri"/>
                <a:cs typeface="Calibri"/>
              </a:defRPr>
            </a:lvl8pPr>
            <a:lvl9pPr>
              <a:defRPr sz="1725" b="0">
                <a:solidFill>
                  <a:srgbClr val="D8E3EC"/>
                </a:solidFill>
                <a:latin typeface="Calibri"/>
                <a:ea typeface="Calibri"/>
                <a:cs typeface="Calibri"/>
              </a:defRPr>
            </a:lvl9pPr>
          </a:lstStyle>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06 November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08:00–11:00, Room 105</a:t>
            </a:r>
          </a:p>
        </p:txBody>
      </p:sp>
    </p:spTree>
    <p:extLst>
      <p:ext uri="{BB962C8B-B14F-4D97-AF65-F5344CB8AC3E}">
        <p14:creationId xmlns:p14="http://schemas.microsoft.com/office/powerpoint/2010/main" val="88137300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3E85405-F0D6-4C43-84FE-8BCFE278E80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02C46D4-5433-494A-B6C0-F0AA0502C76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38AC75A-A3FF-4DFB-9BD3-A00E02E78AB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C63BAA7B-5A55-4F38-96EA-EA1A66BEF49E}"/>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E4097843-21D1-4A77-8BBB-2391B95A42DF}"/>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C0F90353-2BE3-47C7-85EB-1B0089994A84}"/>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1900" b="1">
                <a:solidFill>
                  <a:srgbClr val="2E7D6F"/>
                </a:solidFill>
                <a:latin typeface="Calibri"/>
                <a:ea typeface="Calibri"/>
                <a:cs typeface="Calibri"/>
              </a:rPr>
              <a:t>WHAT WE WILL DO</a:t>
            </a:r>
          </a:p>
          <a:p xmlns:a="http://schemas.openxmlformats.org/drawingml/2006/main">
            <a:pPr>
              <a:spcBef>
                <a:spcPts val="800"/>
              </a:spcBef>
            </a:pPr>
            <a:r>
              <a:rPr sz="2200" b="0">
                <a:solidFill>
                  <a:srgbClr val="1C3144"/>
                </a:solidFill>
                <a:latin typeface="Calibri"/>
              </a:rPr>
              <a:t>Turn a number into a yes or no question, teach a model to answer it, and score its answers. Learn the words class, probability, threshold, confusion matrix, precision, recall and F1.</a:t>
            </a:r>
          </a:p>
        </p:txBody>
      </p:sp>
      <p:sp>
        <p:nvSpPr>
          <p:cNvPr id="7" name="">
            <a:extLst xmlns:a="http://schemas.openxmlformats.org/drawingml/2006/main">
              <a:ext uri="{FF2B5EF4-FFF2-40B4-BE49-F238E27FC236}">
                <a16:creationId xmlns:a16="http://schemas.microsoft.com/office/drawing/2014/main" id="{4EAEAAFC-BDAB-426F-A853-B1DD673BE969}"/>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1900" b="1">
                <a:solidFill>
                  <a:srgbClr val="2E7D6F"/>
                </a:solidFill>
                <a:latin typeface="Calibri"/>
                <a:ea typeface="Calibri"/>
                <a:cs typeface="Calibri"/>
              </a:rPr>
              <a:t>HOW YOU WILL SHOW IT</a:t>
            </a:r>
          </a:p>
          <a:p xmlns:a="http://schemas.openxmlformats.org/drawingml/2006/main">
            <a:pPr>
              <a:spcBef>
                <a:spcPts val="800"/>
              </a:spcBef>
            </a:pPr>
            <a:r>
              <a:rPr sz="2200" b="0">
                <a:solidFill>
                  <a:srgbClr val="1C3144"/>
                </a:solidFill>
                <a:latin typeface="Calibri"/>
              </a:rPr>
              <a:t>You can explain why a model that never raises an alert can score 59 percent, and say what a missed alert costs. You can read a confusion matrix and the scores built from it.</a:t>
            </a:r>
          </a:p>
        </p:txBody>
      </p:sp>
      <p:sp>
        <p:nvSpPr>
          <p:cNvPr id="8" name="">
            <a:extLst xmlns:a="http://schemas.openxmlformats.org/drawingml/2006/main">
              <a:ext uri="{FF2B5EF4-FFF2-40B4-BE49-F238E27FC236}">
                <a16:creationId xmlns:a16="http://schemas.microsoft.com/office/drawing/2014/main" id="{D72BB9BD-EA68-4FF9-8251-470F22CC8B6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9   2</a:t>
            </a:r>
          </a:p>
        </p:txBody>
      </p:sp>
    </p:spTree>
    <p:extLst>
      <p:ext uri="{BB962C8B-B14F-4D97-AF65-F5344CB8AC3E}">
        <p14:creationId xmlns:p14="http://schemas.microsoft.com/office/powerpoint/2010/main" val="2135597397"/>
      </p:ext>
    </p:extLst>
  </p:cSld>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WORDS WE USE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Words for today: the question</a:t>
            </a:r>
          </a:p>
        </p:txBody>
      </p:sp>
      <p:graphicFrame>
        <p:nvGraphicFramePr>
          <p:cNvPr id="5" name="Table 4"/>
          <p:cNvGraphicFramePr>
            <a:graphicFrameLocks noGrp="1"/>
          </p:cNvGraphicFramePr>
          <p:nvPr/>
        </p:nvGraphicFramePr>
        <p:xfrm>
          <a:off x="584200" y="1625600"/>
          <a:ext cx="11023600" cy="4724400"/>
        </p:xfrm>
        <a:graphic>
          <a:graphicData uri="http://schemas.openxmlformats.org/drawingml/2006/table">
            <a:tbl>
              <a:tblPr firstRow="0" bandRow="0">
                <a:tableStyleId>{5C22544A-7EE6-4342-B048-85BDC9FD1C3A}</a:tableStyleId>
              </a:tblPr>
              <a:tblGrid>
                <a:gridCol w="2667000"/>
                <a:gridCol w="5334000"/>
                <a:gridCol w="3022600"/>
              </a:tblGrid>
              <a:tr h="787400">
                <a:tc>
                  <a:txBody>
                    <a:bodyPr wrap="square"/>
                    <a:lstStyle/>
                    <a:p>
                      <a:r>
                        <a:rPr sz="1700" b="1">
                          <a:solidFill>
                            <a:srgbClr val="FFFFFF"/>
                          </a:solidFill>
                          <a:latin typeface="Calibri"/>
                        </a:rPr>
                        <a:t>Word</a:t>
                      </a:r>
                    </a:p>
                  </a:txBody>
                  <a:tcPr marL="101600" marR="101600" marT="38100" marB="38100" anchor="ctr">
                    <a:solidFill>
                      <a:srgbClr val="2E7D6F"/>
                    </a:solidFill>
                  </a:tcPr>
                </a:tc>
                <a:tc>
                  <a:txBody>
                    <a:bodyPr wrap="square"/>
                    <a:lstStyle/>
                    <a:p>
                      <a:r>
                        <a:rPr sz="1700" b="1">
                          <a:solidFill>
                            <a:srgbClr val="FFFFFF"/>
                          </a:solidFill>
                          <a:latin typeface="Calibri"/>
                        </a:rPr>
                        <a:t>Plain meaning</a:t>
                      </a:r>
                    </a:p>
                  </a:txBody>
                  <a:tcPr marL="101600" marR="101600" marT="38100" marB="38100" anchor="ctr">
                    <a:solidFill>
                      <a:srgbClr val="2E7D6F"/>
                    </a:solidFill>
                  </a:tcPr>
                </a:tc>
                <a:tc>
                  <a:txBody>
                    <a:bodyPr wrap="square"/>
                    <a:lstStyle/>
                    <a:p>
                      <a:r>
                        <a:rPr sz="1700" b="1">
                          <a:solidFill>
                            <a:srgbClr val="FFFFFF"/>
                          </a:solidFill>
                          <a:latin typeface="Calibri"/>
                        </a:rPr>
                        <a:t>Example from today</a:t>
                      </a:r>
                    </a:p>
                  </a:txBody>
                  <a:tcPr marL="101600" marR="101600" marT="38100" marB="38100" anchor="ctr">
                    <a:solidFill>
                      <a:srgbClr val="2E7D6F"/>
                    </a:solidFill>
                  </a:tcPr>
                </a:tc>
              </a:tr>
              <a:tr h="787400">
                <a:tc>
                  <a:txBody>
                    <a:bodyPr wrap="square"/>
                    <a:lstStyle/>
                    <a:p>
                      <a:r>
                        <a:rPr sz="1700" b="1">
                          <a:solidFill>
                            <a:srgbClr val="1C3144"/>
                          </a:solidFill>
                          <a:latin typeface="Calibri"/>
                        </a:rPr>
                        <a:t>Class</a:t>
                      </a:r>
                    </a:p>
                  </a:txBody>
                  <a:tcPr marL="101600" marR="101600" marT="38100" marB="38100" anchor="ctr">
                    <a:solidFill>
                      <a:srgbClr val="EEF3F6"/>
                    </a:solidFill>
                  </a:tcPr>
                </a:tc>
                <a:tc>
                  <a:txBody>
                    <a:bodyPr wrap="square"/>
                    <a:lstStyle/>
                    <a:p>
                      <a:r>
                        <a:rPr sz="1700" b="0">
                          <a:solidFill>
                            <a:srgbClr val="1C3144"/>
                          </a:solidFill>
                          <a:latin typeface="Calibri"/>
                        </a:rPr>
                        <a:t>One of the possible answers.</a:t>
                      </a:r>
                    </a:p>
                  </a:txBody>
                  <a:tcPr marL="101600" marR="101600" marT="38100" marB="38100" anchor="ctr">
                    <a:solidFill>
                      <a:srgbClr val="EEF3F6"/>
                    </a:solidFill>
                  </a:tcPr>
                </a:tc>
                <a:tc>
                  <a:txBody>
                    <a:bodyPr wrap="square"/>
                    <a:lstStyle/>
                    <a:p>
                      <a:r>
                        <a:rPr sz="1700" b="0">
                          <a:solidFill>
                            <a:srgbClr val="1C3144"/>
                          </a:solidFill>
                          <a:latin typeface="Calibri"/>
                        </a:rPr>
                        <a:t>alert or no alert</a:t>
                      </a:r>
                    </a:p>
                  </a:txBody>
                  <a:tcPr marL="101600" marR="101600" marT="38100" marB="38100" anchor="ctr">
                    <a:solidFill>
                      <a:srgbClr val="EEF3F6"/>
                    </a:solidFill>
                  </a:tcPr>
                </a:tc>
              </a:tr>
              <a:tr h="787400">
                <a:tc>
                  <a:txBody>
                    <a:bodyPr wrap="square"/>
                    <a:lstStyle/>
                    <a:p>
                      <a:r>
                        <a:rPr sz="1700" b="1">
                          <a:solidFill>
                            <a:srgbClr val="1C3144"/>
                          </a:solidFill>
                          <a:latin typeface="Calibri"/>
                        </a:rPr>
                        <a:t>Label</a:t>
                      </a:r>
                    </a:p>
                  </a:txBody>
                  <a:tcPr marL="101600" marR="101600" marT="38100" marB="38100" anchor="ctr">
                    <a:solidFill>
                      <a:srgbClr val="FFFFFF"/>
                    </a:solidFill>
                  </a:tcPr>
                </a:tc>
                <a:tc>
                  <a:txBody>
                    <a:bodyPr wrap="square"/>
                    <a:lstStyle/>
                    <a:p>
                      <a:r>
                        <a:rPr sz="1700" b="0">
                          <a:solidFill>
                            <a:srgbClr val="1C3144"/>
                          </a:solidFill>
                          <a:latin typeface="Calibri"/>
                        </a:rPr>
                        <a:t>The correct class recorded for a row.</a:t>
                      </a:r>
                    </a:p>
                  </a:txBody>
                  <a:tcPr marL="101600" marR="101600" marT="38100" marB="38100" anchor="ctr">
                    <a:solidFill>
                      <a:srgbClr val="FFFFFF"/>
                    </a:solidFill>
                  </a:tcPr>
                </a:tc>
                <a:tc>
                  <a:txBody>
                    <a:bodyPr wrap="square"/>
                    <a:lstStyle/>
                    <a:p>
                      <a:r>
                        <a:rPr sz="1700" b="0">
                          <a:solidFill>
                            <a:srgbClr val="1C3144"/>
                          </a:solidFill>
                          <a:latin typeface="Calibri"/>
                        </a:rPr>
                        <a:t>The alert column we build</a:t>
                      </a:r>
                    </a:p>
                  </a:txBody>
                  <a:tcPr marL="101600" marR="101600" marT="38100" marB="38100" anchor="ctr">
                    <a:solidFill>
                      <a:srgbClr val="FFFFFF"/>
                    </a:solidFill>
                  </a:tcPr>
                </a:tc>
              </a:tr>
              <a:tr h="787400">
                <a:tc>
                  <a:txBody>
                    <a:bodyPr wrap="square"/>
                    <a:lstStyle/>
                    <a:p>
                      <a:r>
                        <a:rPr sz="1700" b="1">
                          <a:solidFill>
                            <a:srgbClr val="1C3144"/>
                          </a:solidFill>
                          <a:latin typeface="Calibri"/>
                        </a:rPr>
                        <a:t>Binary classification</a:t>
                      </a:r>
                    </a:p>
                  </a:txBody>
                  <a:tcPr marL="101600" marR="101600" marT="38100" marB="38100" anchor="ctr">
                    <a:solidFill>
                      <a:srgbClr val="EEF3F6"/>
                    </a:solidFill>
                  </a:tcPr>
                </a:tc>
                <a:tc>
                  <a:txBody>
                    <a:bodyPr wrap="square"/>
                    <a:lstStyle/>
                    <a:p>
                      <a:r>
                        <a:rPr sz="1700" b="0">
                          <a:solidFill>
                            <a:srgbClr val="1C3144"/>
                          </a:solidFill>
                          <a:latin typeface="Calibri"/>
                        </a:rPr>
                        <a:t>A classification with exactly two classes.</a:t>
                      </a:r>
                    </a:p>
                  </a:txBody>
                  <a:tcPr marL="101600" marR="101600" marT="38100" marB="38100" anchor="ctr">
                    <a:solidFill>
                      <a:srgbClr val="EEF3F6"/>
                    </a:solidFill>
                  </a:tcPr>
                </a:tc>
                <a:tc>
                  <a:txBody>
                    <a:bodyPr wrap="square"/>
                    <a:lstStyle/>
                    <a:p>
                      <a:r>
                        <a:rPr sz="1700" b="0">
                          <a:solidFill>
                            <a:srgbClr val="1C3144"/>
                          </a:solidFill>
                          <a:latin typeface="Calibri"/>
                        </a:rPr>
                        <a:t>alert (1) or no alert (0)</a:t>
                      </a:r>
                    </a:p>
                  </a:txBody>
                  <a:tcPr marL="101600" marR="101600" marT="38100" marB="38100" anchor="ctr">
                    <a:solidFill>
                      <a:srgbClr val="EEF3F6"/>
                    </a:solidFill>
                  </a:tcPr>
                </a:tc>
              </a:tr>
              <a:tr h="787400">
                <a:tc>
                  <a:txBody>
                    <a:bodyPr wrap="square"/>
                    <a:lstStyle/>
                    <a:p>
                      <a:r>
                        <a:rPr sz="1700" b="1">
                          <a:solidFill>
                            <a:srgbClr val="1C3144"/>
                          </a:solidFill>
                          <a:latin typeface="Calibri"/>
                        </a:rPr>
                        <a:t>Probability</a:t>
                      </a:r>
                    </a:p>
                  </a:txBody>
                  <a:tcPr marL="101600" marR="101600" marT="38100" marB="38100" anchor="ctr">
                    <a:solidFill>
                      <a:srgbClr val="FFFFFF"/>
                    </a:solidFill>
                  </a:tcPr>
                </a:tc>
                <a:tc>
                  <a:txBody>
                    <a:bodyPr wrap="square"/>
                    <a:lstStyle/>
                    <a:p>
                      <a:r>
                        <a:rPr sz="1700" b="0">
                          <a:solidFill>
                            <a:srgbClr val="1C3144"/>
                          </a:solidFill>
                          <a:latin typeface="Calibri"/>
                        </a:rPr>
                        <a:t>A number from 0 to 1 for how likely a class is.</a:t>
                      </a:r>
                    </a:p>
                  </a:txBody>
                  <a:tcPr marL="101600" marR="101600" marT="38100" marB="38100" anchor="ctr">
                    <a:solidFill>
                      <a:srgbClr val="FFFFFF"/>
                    </a:solidFill>
                  </a:tcPr>
                </a:tc>
                <a:tc>
                  <a:txBody>
                    <a:bodyPr wrap="square"/>
                    <a:lstStyle/>
                    <a:p>
                      <a:r>
                        <a:rPr sz="1700" b="0">
                          <a:solidFill>
                            <a:srgbClr val="1C3144"/>
                          </a:solidFill>
                          <a:latin typeface="Calibri"/>
                        </a:rPr>
                        <a:t>0.47 means 47 percent</a:t>
                      </a:r>
                    </a:p>
                  </a:txBody>
                  <a:tcPr marL="101600" marR="101600" marT="38100" marB="38100" anchor="ctr">
                    <a:solidFill>
                      <a:srgbClr val="FFFFFF"/>
                    </a:solidFill>
                  </a:tcPr>
                </a:tc>
              </a:tr>
              <a:tr h="787400">
                <a:tc>
                  <a:txBody>
                    <a:bodyPr wrap="square"/>
                    <a:lstStyle/>
                    <a:p>
                      <a:r>
                        <a:rPr sz="1700" b="1">
                          <a:solidFill>
                            <a:srgbClr val="1C3144"/>
                          </a:solidFill>
                          <a:latin typeface="Calibri"/>
                        </a:rPr>
                        <a:t>Threshold</a:t>
                      </a:r>
                    </a:p>
                  </a:txBody>
                  <a:tcPr marL="101600" marR="101600" marT="38100" marB="38100" anchor="ctr">
                    <a:solidFill>
                      <a:srgbClr val="EEF3F6"/>
                    </a:solidFill>
                  </a:tcPr>
                </a:tc>
                <a:tc>
                  <a:txBody>
                    <a:bodyPr wrap="square"/>
                    <a:lstStyle/>
                    <a:p>
                      <a:r>
                        <a:rPr sz="1700" b="0">
                          <a:solidFill>
                            <a:srgbClr val="1C3144"/>
                          </a:solidFill>
                          <a:latin typeface="Calibri"/>
                        </a:rPr>
                        <a:t>The probability at or above which the model says yes.</a:t>
                      </a:r>
                    </a:p>
                  </a:txBody>
                  <a:tcPr marL="101600" marR="101600" marT="38100" marB="38100" anchor="ctr">
                    <a:solidFill>
                      <a:srgbClr val="EEF3F6"/>
                    </a:solidFill>
                  </a:tcPr>
                </a:tc>
                <a:tc>
                  <a:txBody>
                    <a:bodyPr wrap="square"/>
                    <a:lstStyle/>
                    <a:p>
                      <a:r>
                        <a:rPr sz="1700" b="0">
                          <a:solidFill>
                            <a:srgbClr val="1C3144"/>
                          </a:solidFill>
                          <a:latin typeface="Calibri"/>
                        </a:rPr>
                        <a:t>0.5</a:t>
                      </a:r>
                    </a:p>
                  </a:txBody>
                  <a:tcPr marL="101600" marR="101600" marT="38100" marB="38100" anchor="ctr">
                    <a:solidFill>
                      <a:srgbClr val="EEF3F6"/>
                    </a:solidFill>
                  </a:tcPr>
                </a:tc>
              </a:tr>
            </a:tbl>
          </a:graphicData>
        </a:graphic>
      </p:graphicFrame>
      <p:sp>
        <p:nvSpPr>
          <p:cNvPr id="6" name="TextBox 5"/>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9   3</a:t>
            </a:r>
          </a:p>
        </p:txBody>
      </p:sp>
    </p:spTree>
  </p:cSld>
  <p:clrMapOvr>
    <a:masterClrMapping/>
  </p:clrMapOvr>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8F27406-DF5B-44B4-8693-AECC25E0B15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6BC06B4-9097-49B1-A2FB-97515D40B7C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DE7A7C5-FD4B-4D44-8957-C5FE756E23B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supplied file</a:t>
            </a:r>
          </a:p>
        </p:txBody>
      </p:sp>
      <p:sp>
        <p:nvSpPr>
          <p:cNvPr id="4" name="">
            <a:extLst xmlns:a="http://schemas.openxmlformats.org/drawingml/2006/main">
              <a:ext uri="{FF2B5EF4-FFF2-40B4-BE49-F238E27FC236}">
                <a16:creationId xmlns:a16="http://schemas.microsoft.com/office/drawing/2014/main" id="{EC63000E-2D8C-4DFA-910F-104EAD78CBB9}"/>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9F2E41E4-083F-4121-87B4-E1CB915721AB}"/>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C219307E-6878-4DC4-A10C-020603C64E2F}"/>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Extract this week’s student ZIP. Upload classification_case.csv and engineering_data.csv into Colab using the Files panel, or keep them beside the notebook locally.</a:t>
            </a:r>
          </a:p>
        </p:txBody>
      </p:sp>
      <p:sp>
        <p:nvSpPr>
          <p:cNvPr id="7" name="">
            <a:extLst xmlns:a="http://schemas.openxmlformats.org/drawingml/2006/main">
              <a:ext uri="{FF2B5EF4-FFF2-40B4-BE49-F238E27FC236}">
                <a16:creationId xmlns:a16="http://schemas.microsoft.com/office/drawing/2014/main" id="{41CCA973-AB81-4A47-B2CE-23201674E348}"/>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examples below read this file. Run the cells in slide order. Keep the original CSV unchanged.</a:t>
            </a:r>
          </a:p>
        </p:txBody>
      </p:sp>
      <p:sp>
        <p:nvSpPr>
          <p:cNvPr id="8" name="">
            <a:extLst xmlns:a="http://schemas.openxmlformats.org/drawingml/2006/main">
              <a:ext uri="{FF2B5EF4-FFF2-40B4-BE49-F238E27FC236}">
                <a16:creationId xmlns:a16="http://schemas.microsoft.com/office/drawing/2014/main" id="{4CA6D013-FA83-4302-A5B8-781FC88DF67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9   4</a:t>
            </a:r>
          </a:p>
        </p:txBody>
      </p:sp>
    </p:spTree>
    <p:extLst>
      <p:ext uri="{BB962C8B-B14F-4D97-AF65-F5344CB8AC3E}">
        <p14:creationId xmlns:p14="http://schemas.microsoft.com/office/powerpoint/2010/main" val="224093837"/>
      </p:ext>
    </p:extLst>
  </p:cSld>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525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2600" y="190500"/>
            <a:ext cx="11239500" cy="647700"/>
          </a:xfrm>
          <a:prstGeom prst="rect">
            <a:avLst/>
          </a:prstGeom>
          <a:noFill/>
        </p:spPr>
        <p:txBody>
          <a:bodyPr wrap="square">
            <a:spAutoFit/>
          </a:bodyPr>
          <a:lstStyle/>
          <a:p>
            <a:pPr>
              <a:spcAft>
                <a:spcPts val="0"/>
              </a:spcAft>
            </a:pPr>
            <a:r>
              <a:rPr sz="2925" b="1">
                <a:solidFill>
                  <a:srgbClr val="FFFFFF"/>
                </a:solidFill>
                <a:latin typeface="Calibri"/>
              </a:rPr>
              <a:t>Classification turns a number into a yes or no</a:t>
            </a:r>
          </a:p>
        </p:txBody>
      </p:sp>
      <p:pic>
        <p:nvPicPr>
          <p:cNvPr id="4" name="Picture 3" descr="cls_vs_reg.png"/>
          <p:cNvPicPr>
            <a:picLocks noChangeAspect="1"/>
          </p:cNvPicPr>
          <p:nvPr/>
        </p:nvPicPr>
        <p:blipFill>
          <a:blip r:embed="rId2"/>
          <a:stretch>
            <a:fillRect/>
          </a:stretch>
        </p:blipFill>
        <p:spPr>
          <a:xfrm>
            <a:off x="381000" y="1312781"/>
            <a:ext cx="11430000" cy="4207037"/>
          </a:xfrm>
          <a:prstGeom prst="rect">
            <a:avLst/>
          </a:prstGeom>
        </p:spPr>
      </p:pic>
      <p:sp>
        <p:nvSpPr>
          <p:cNvPr id="5" name="Rectangle 4"/>
          <p:cNvSpPr/>
          <p:nvPr/>
        </p:nvSpPr>
        <p:spPr>
          <a:xfrm>
            <a:off x="0" y="5816600"/>
            <a:ext cx="12192000" cy="5842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8800" y="5892800"/>
            <a:ext cx="11074400" cy="482600"/>
          </a:xfrm>
          <a:prstGeom prst="rect">
            <a:avLst/>
          </a:prstGeom>
          <a:noFill/>
        </p:spPr>
        <p:txBody>
          <a:bodyPr wrap="square">
            <a:spAutoFit/>
          </a:bodyPr>
          <a:lstStyle/>
          <a:p>
            <a:pPr>
              <a:spcAft>
                <a:spcPts val="0"/>
              </a:spcAft>
            </a:pPr>
            <a:r>
              <a:rPr sz="1800" b="1">
                <a:solidFill>
                  <a:srgbClr val="2E7D6F"/>
                </a:solidFill>
                <a:latin typeface="Calibri"/>
              </a:rPr>
              <a:t>Same dots. On the left we predict the number. On the right we predict which side of the limit it falls on.</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9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WORKED EXAMPLE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Building the alert label</a:t>
            </a:r>
          </a:p>
        </p:txBody>
      </p:sp>
      <p:sp>
        <p:nvSpPr>
          <p:cNvPr id="5" name="Rectangle 4"/>
          <p:cNvSpPr/>
          <p:nvPr/>
        </p:nvSpPr>
        <p:spPr>
          <a:xfrm>
            <a:off x="520700" y="1600200"/>
            <a:ext cx="7112000" cy="280035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1727200"/>
            <a:ext cx="6858000" cy="2571750"/>
          </a:xfrm>
          <a:prstGeom prst="rect">
            <a:avLst/>
          </a:prstGeom>
          <a:noFill/>
        </p:spPr>
        <p:txBody>
          <a:bodyPr wrap="square">
            <a:spAutoFit/>
          </a:bodyPr>
          <a:lstStyle/>
          <a:p>
            <a:pPr>
              <a:lnSpc>
                <a:spcPts val="1750"/>
              </a:lnSpc>
            </a:pPr>
            <a:r>
              <a:rPr sz="1400">
                <a:solidFill>
                  <a:srgbClr val="FFB080"/>
                </a:solidFill>
                <a:latin typeface="Courier New"/>
              </a:rPr>
              <a:t>import</a:t>
            </a:r>
            <a:r>
              <a:rPr sz="1400">
                <a:solidFill>
                  <a:srgbClr val="F4F7FA"/>
                </a:solidFill>
                <a:latin typeface="Courier New"/>
              </a:rPr>
              <a:t> </a:t>
            </a:r>
            <a:r>
              <a:rPr sz="1400">
                <a:solidFill>
                  <a:srgbClr val="F4F7FA"/>
                </a:solidFill>
                <a:latin typeface="Courier New"/>
              </a:rPr>
              <a:t>pandas</a:t>
            </a:r>
            <a:r>
              <a:rPr sz="1400">
                <a:solidFill>
                  <a:srgbClr val="F4F7FA"/>
                </a:solidFill>
                <a:latin typeface="Courier New"/>
              </a:rPr>
              <a:t> </a:t>
            </a:r>
            <a:r>
              <a:rPr sz="1400">
                <a:solidFill>
                  <a:srgbClr val="FFB080"/>
                </a:solidFill>
                <a:latin typeface="Courier New"/>
              </a:rPr>
              <a:t>as</a:t>
            </a:r>
            <a:r>
              <a:rPr sz="1400">
                <a:solidFill>
                  <a:srgbClr val="F4F7FA"/>
                </a:solidFill>
                <a:latin typeface="Courier New"/>
              </a:rPr>
              <a:t> </a:t>
            </a:r>
            <a:r>
              <a:rPr sz="1400">
                <a:solidFill>
                  <a:srgbClr val="F4F7FA"/>
                </a:solidFill>
                <a:latin typeface="Courier New"/>
              </a:rPr>
              <a:t>pd</a:t>
            </a:r>
          </a:p>
          <a:p>
            <a:pPr>
              <a:lnSpc>
                <a:spcPts val="1750"/>
              </a:lnSpc>
            </a:pPr>
            <a:r>
              <a:rPr sz="1400">
                <a:solidFill>
                  <a:srgbClr val="F4F7FA"/>
                </a:solidFill>
                <a:latin typeface="Courier New"/>
              </a:rPr>
              <a:t>raw</a:t>
            </a:r>
            <a:r>
              <a:rPr sz="1400">
                <a:solidFill>
                  <a:srgbClr val="F4F7FA"/>
                </a:solidFill>
                <a:latin typeface="Courier New"/>
              </a:rPr>
              <a:t> = </a:t>
            </a:r>
            <a:r>
              <a:rPr sz="1400">
                <a:solidFill>
                  <a:srgbClr val="F4F7FA"/>
                </a:solidFill>
                <a:latin typeface="Courier New"/>
              </a:rPr>
              <a:t>pd</a:t>
            </a:r>
            <a:r>
              <a:rPr sz="1400">
                <a:solidFill>
                  <a:srgbClr val="F4F7FA"/>
                </a:solidFill>
                <a:latin typeface="Courier New"/>
              </a:rPr>
              <a:t>.</a:t>
            </a:r>
            <a:r>
              <a:rPr sz="1400">
                <a:solidFill>
                  <a:srgbClr val="F4F7FA"/>
                </a:solidFill>
                <a:latin typeface="Courier New"/>
              </a:rPr>
              <a:t>read_csv</a:t>
            </a:r>
            <a:r>
              <a:rPr sz="1400">
                <a:solidFill>
                  <a:srgbClr val="F4F7FA"/>
                </a:solidFill>
                <a:latin typeface="Courier New"/>
              </a:rPr>
              <a:t>("</a:t>
            </a:r>
            <a:r>
              <a:rPr sz="1400">
                <a:solidFill>
                  <a:srgbClr val="F4F7FA"/>
                </a:solidFill>
                <a:latin typeface="Courier New"/>
              </a:rPr>
              <a:t>engineering_data</a:t>
            </a:r>
            <a:r>
              <a:rPr sz="1400">
                <a:solidFill>
                  <a:srgbClr val="F4F7FA"/>
                </a:solidFill>
                <a:latin typeface="Courier New"/>
              </a:rPr>
              <a:t>.</a:t>
            </a:r>
            <a:r>
              <a:rPr sz="1400">
                <a:solidFill>
                  <a:srgbClr val="F4F7FA"/>
                </a:solidFill>
                <a:latin typeface="Courier New"/>
              </a:rPr>
              <a:t>csv</a:t>
            </a:r>
            <a:r>
              <a:rPr sz="1400">
                <a:solidFill>
                  <a:srgbClr val="F4F7FA"/>
                </a:solidFill>
                <a:latin typeface="Courier New"/>
              </a:rPr>
              <a:t>")</a:t>
            </a:r>
          </a:p>
          <a:p>
            <a:pPr>
              <a:lnSpc>
                <a:spcPts val="1750"/>
              </a:lnSpc>
            </a:pPr>
            <a:r>
              <a:rPr sz="1400">
                <a:solidFill>
                  <a:srgbClr val="F4F7FA"/>
                </a:solidFill>
                <a:latin typeface="Courier New"/>
              </a:rPr>
              <a:t>data</a:t>
            </a:r>
            <a:r>
              <a:rPr sz="1400">
                <a:solidFill>
                  <a:srgbClr val="F4F7FA"/>
                </a:solidFill>
                <a:latin typeface="Courier New"/>
              </a:rPr>
              <a:t> = </a:t>
            </a:r>
            <a:r>
              <a:rPr sz="1400">
                <a:solidFill>
                  <a:srgbClr val="F4F7FA"/>
                </a:solidFill>
                <a:latin typeface="Courier New"/>
              </a:rPr>
              <a:t>raw</a:t>
            </a:r>
            <a:r>
              <a:rPr sz="1400">
                <a:solidFill>
                  <a:srgbClr val="F4F7FA"/>
                </a:solidFill>
                <a:latin typeface="Courier New"/>
              </a:rPr>
              <a:t>.</a:t>
            </a:r>
            <a:r>
              <a:rPr sz="1400">
                <a:solidFill>
                  <a:srgbClr val="F4F7FA"/>
                </a:solidFill>
                <a:latin typeface="Courier New"/>
              </a:rPr>
              <a:t>drop_duplicates</a:t>
            </a:r>
            <a:r>
              <a:rPr sz="1400">
                <a:solidFill>
                  <a:srgbClr val="F4F7FA"/>
                </a:solidFill>
                <a:latin typeface="Courier New"/>
              </a:rPr>
              <a:t>("</a:t>
            </a:r>
            <a:r>
              <a:rPr sz="1400">
                <a:solidFill>
                  <a:srgbClr val="F4F7FA"/>
                </a:solidFill>
                <a:latin typeface="Courier New"/>
              </a:rPr>
              <a:t>record_id</a:t>
            </a:r>
            <a:r>
              <a:rPr sz="1400">
                <a:solidFill>
                  <a:srgbClr val="F4F7FA"/>
                </a:solidFill>
                <a:latin typeface="Courier New"/>
              </a:rPr>
              <a:t>")</a:t>
            </a:r>
          </a:p>
          <a:p>
            <a:pPr>
              <a:lnSpc>
                <a:spcPts val="1750"/>
              </a:lnSpc>
            </a:pPr>
            <a:r>
              <a:rPr sz="1400">
                <a:solidFill>
                  <a:srgbClr val="F4F7FA"/>
                </a:solidFill>
                <a:latin typeface="Courier New"/>
              </a:rPr>
              <a:t>has_target</a:t>
            </a:r>
            <a:r>
              <a:rPr sz="1400">
                <a:solidFill>
                  <a:srgbClr val="F4F7FA"/>
                </a:solidFill>
                <a:latin typeface="Courier New"/>
              </a:rPr>
              <a:t> = </a:t>
            </a:r>
            <a:r>
              <a:rPr sz="1400">
                <a:solidFill>
                  <a:srgbClr val="F4F7FA"/>
                </a:solidFill>
                <a:latin typeface="Courier New"/>
              </a:rPr>
              <a:t>data</a:t>
            </a:r>
            <a:r>
              <a:rPr sz="1400">
                <a:solidFill>
                  <a:srgbClr val="F4F7FA"/>
                </a:solidFill>
                <a:latin typeface="Courier New"/>
              </a:rPr>
              <a:t>["</a:t>
            </a:r>
            <a:r>
              <a:rPr sz="1400">
                <a:solidFill>
                  <a:srgbClr val="F4F7FA"/>
                </a:solidFill>
                <a:latin typeface="Courier New"/>
              </a:rPr>
              <a:t>target</a:t>
            </a:r>
            <a:r>
              <a:rPr sz="1400">
                <a:solidFill>
                  <a:srgbClr val="F4F7FA"/>
                </a:solidFill>
                <a:latin typeface="Courier New"/>
              </a:rPr>
              <a:t>"].</a:t>
            </a:r>
            <a:r>
              <a:rPr sz="1400">
                <a:solidFill>
                  <a:srgbClr val="F4F7FA"/>
                </a:solidFill>
                <a:latin typeface="Courier New"/>
              </a:rPr>
              <a:t>notna</a:t>
            </a:r>
            <a:r>
              <a:rPr sz="1400">
                <a:solidFill>
                  <a:srgbClr val="F4F7FA"/>
                </a:solidFill>
                <a:latin typeface="Courier New"/>
              </a:rPr>
              <a:t>()</a:t>
            </a:r>
          </a:p>
          <a:p>
            <a:pPr>
              <a:lnSpc>
                <a:spcPts val="1750"/>
              </a:lnSpc>
            </a:pPr>
            <a:r>
              <a:rPr sz="1400">
                <a:solidFill>
                  <a:srgbClr val="F4F7FA"/>
                </a:solidFill>
                <a:latin typeface="Courier New"/>
              </a:rPr>
              <a:t>valid_load</a:t>
            </a:r>
            <a:r>
              <a:rPr sz="1400">
                <a:solidFill>
                  <a:srgbClr val="F4F7FA"/>
                </a:solidFill>
                <a:latin typeface="Courier New"/>
              </a:rPr>
              <a:t> = </a:t>
            </a:r>
            <a:r>
              <a:rPr sz="1400">
                <a:solidFill>
                  <a:srgbClr val="F4F7FA"/>
                </a:solidFill>
                <a:latin typeface="Courier New"/>
              </a:rPr>
              <a:t>data</a:t>
            </a:r>
            <a:r>
              <a:rPr sz="1400">
                <a:solidFill>
                  <a:srgbClr val="F4F7FA"/>
                </a:solidFill>
                <a:latin typeface="Courier New"/>
              </a:rPr>
              <a:t>["</a:t>
            </a:r>
            <a:r>
              <a:rPr sz="1400">
                <a:solidFill>
                  <a:srgbClr val="F4F7FA"/>
                </a:solidFill>
                <a:latin typeface="Courier New"/>
              </a:rPr>
              <a:t>load_pct</a:t>
            </a:r>
            <a:r>
              <a:rPr sz="1400">
                <a:solidFill>
                  <a:srgbClr val="F4F7FA"/>
                </a:solidFill>
                <a:latin typeface="Courier New"/>
              </a:rPr>
              <a:t>"].</a:t>
            </a:r>
            <a:r>
              <a:rPr sz="1400">
                <a:solidFill>
                  <a:srgbClr val="F4F7FA"/>
                </a:solidFill>
                <a:latin typeface="Courier New"/>
              </a:rPr>
              <a:t>between</a:t>
            </a:r>
            <a:r>
              <a:rPr sz="1400">
                <a:solidFill>
                  <a:srgbClr val="F4F7FA"/>
                </a:solidFill>
                <a:latin typeface="Courier New"/>
              </a:rPr>
              <a:t>(</a:t>
            </a:r>
            <a:r>
              <a:rPr sz="1400">
                <a:solidFill>
                  <a:srgbClr val="F4F7FA"/>
                </a:solidFill>
                <a:latin typeface="Courier New"/>
              </a:rPr>
              <a:t>0</a:t>
            </a:r>
            <a:r>
              <a:rPr sz="1400">
                <a:solidFill>
                  <a:srgbClr val="F4F7FA"/>
                </a:solidFill>
                <a:latin typeface="Courier New"/>
              </a:rPr>
              <a:t>, </a:t>
            </a:r>
            <a:r>
              <a:rPr sz="1400">
                <a:solidFill>
                  <a:srgbClr val="F4F7FA"/>
                </a:solidFill>
                <a:latin typeface="Courier New"/>
              </a:rPr>
              <a:t>100</a:t>
            </a:r>
            <a:r>
              <a:rPr sz="1400">
                <a:solidFill>
                  <a:srgbClr val="F4F7FA"/>
                </a:solidFill>
                <a:latin typeface="Courier New"/>
              </a:rPr>
              <a:t>)</a:t>
            </a:r>
          </a:p>
          <a:p>
            <a:pPr>
              <a:lnSpc>
                <a:spcPts val="1750"/>
              </a:lnSpc>
            </a:pPr>
            <a:r>
              <a:rPr sz="1400">
                <a:solidFill>
                  <a:srgbClr val="F4F7FA"/>
                </a:solidFill>
                <a:latin typeface="Courier New"/>
              </a:rPr>
              <a:t>data</a:t>
            </a:r>
            <a:r>
              <a:rPr sz="1400">
                <a:solidFill>
                  <a:srgbClr val="F4F7FA"/>
                </a:solidFill>
                <a:latin typeface="Courier New"/>
              </a:rPr>
              <a:t> = </a:t>
            </a:r>
            <a:r>
              <a:rPr sz="1400">
                <a:solidFill>
                  <a:srgbClr val="F4F7FA"/>
                </a:solidFill>
                <a:latin typeface="Courier New"/>
              </a:rPr>
              <a:t>data</a:t>
            </a:r>
            <a:r>
              <a:rPr sz="1400">
                <a:solidFill>
                  <a:srgbClr val="F4F7FA"/>
                </a:solidFill>
                <a:latin typeface="Courier New"/>
              </a:rPr>
              <a:t>[</a:t>
            </a:r>
            <a:r>
              <a:rPr sz="1400">
                <a:solidFill>
                  <a:srgbClr val="F4F7FA"/>
                </a:solidFill>
                <a:latin typeface="Courier New"/>
              </a:rPr>
              <a:t>has_target</a:t>
            </a:r>
            <a:r>
              <a:rPr sz="1400">
                <a:solidFill>
                  <a:srgbClr val="F4F7FA"/>
                </a:solidFill>
                <a:latin typeface="Courier New"/>
              </a:rPr>
              <a:t> &amp; </a:t>
            </a:r>
            <a:r>
              <a:rPr sz="1400">
                <a:solidFill>
                  <a:srgbClr val="F4F7FA"/>
                </a:solidFill>
                <a:latin typeface="Courier New"/>
              </a:rPr>
              <a:t>valid_load</a:t>
            </a:r>
            <a:r>
              <a:rPr sz="1400">
                <a:solidFill>
                  <a:srgbClr val="F4F7FA"/>
                </a:solidFill>
                <a:latin typeface="Courier New"/>
              </a:rPr>
              <a:t>].</a:t>
            </a:r>
            <a:r>
              <a:rPr sz="1400">
                <a:solidFill>
                  <a:srgbClr val="F4F7FA"/>
                </a:solidFill>
                <a:latin typeface="Courier New"/>
              </a:rPr>
              <a:t>copy</a:t>
            </a:r>
            <a:r>
              <a:rPr sz="1400">
                <a:solidFill>
                  <a:srgbClr val="F4F7FA"/>
                </a:solidFill>
                <a:latin typeface="Courier New"/>
              </a:rPr>
              <a:t>()</a:t>
            </a:r>
          </a:p>
          <a:p>
            <a:pPr>
              <a:lnSpc>
                <a:spcPts val="1750"/>
              </a:lnSpc>
            </a:pPr>
            <a:r>
              <a:rPr sz="1400">
                <a:solidFill>
                  <a:srgbClr val="F4F7FA"/>
                </a:solidFill>
                <a:latin typeface="Courier New"/>
              </a:rPr>
              <a:t>data</a:t>
            </a:r>
            <a:r>
              <a:rPr sz="1400">
                <a:solidFill>
                  <a:srgbClr val="F4F7FA"/>
                </a:solidFill>
                <a:latin typeface="Courier New"/>
              </a:rPr>
              <a:t>["</a:t>
            </a:r>
            <a:r>
              <a:rPr sz="1400">
                <a:solidFill>
                  <a:srgbClr val="F4F7FA"/>
                </a:solidFill>
                <a:latin typeface="Courier New"/>
              </a:rPr>
              <a:t>alert</a:t>
            </a:r>
            <a:r>
              <a:rPr sz="1400">
                <a:solidFill>
                  <a:srgbClr val="F4F7FA"/>
                </a:solidFill>
                <a:latin typeface="Courier New"/>
              </a:rPr>
              <a:t>"] = (</a:t>
            </a:r>
            <a:r>
              <a:rPr sz="1400">
                <a:solidFill>
                  <a:srgbClr val="F4F7FA"/>
                </a:solidFill>
                <a:latin typeface="Courier New"/>
              </a:rPr>
              <a:t>data</a:t>
            </a:r>
            <a:r>
              <a:rPr sz="1400">
                <a:solidFill>
                  <a:srgbClr val="F4F7FA"/>
                </a:solidFill>
                <a:latin typeface="Courier New"/>
              </a:rPr>
              <a:t>["</a:t>
            </a:r>
            <a:r>
              <a:rPr sz="1400">
                <a:solidFill>
                  <a:srgbClr val="F4F7FA"/>
                </a:solidFill>
                <a:latin typeface="Courier New"/>
              </a:rPr>
              <a:t>target</a:t>
            </a:r>
            <a:r>
              <a:rPr sz="1400">
                <a:solidFill>
                  <a:srgbClr val="F4F7FA"/>
                </a:solidFill>
                <a:latin typeface="Courier New"/>
              </a:rPr>
              <a:t>"] &gt;= </a:t>
            </a:r>
            <a:r>
              <a:rPr sz="1400">
                <a:solidFill>
                  <a:srgbClr val="F4F7FA"/>
                </a:solidFill>
                <a:latin typeface="Courier New"/>
              </a:rPr>
              <a:t>13</a:t>
            </a:r>
            <a:r>
              <a:rPr sz="1400">
                <a:solidFill>
                  <a:srgbClr val="F4F7FA"/>
                </a:solidFill>
                <a:latin typeface="Courier New"/>
              </a:rPr>
              <a:t>.</a:t>
            </a:r>
            <a:r>
              <a:rPr sz="1400">
                <a:solidFill>
                  <a:srgbClr val="F4F7FA"/>
                </a:solidFill>
                <a:latin typeface="Courier New"/>
              </a:rPr>
              <a:t>5</a:t>
            </a:r>
            <a:r>
              <a:rPr sz="1400">
                <a:solidFill>
                  <a:srgbClr val="F4F7FA"/>
                </a:solidFill>
                <a:latin typeface="Courier New"/>
              </a:rPr>
              <a:t>).</a:t>
            </a:r>
            <a:r>
              <a:rPr sz="1400">
                <a:solidFill>
                  <a:srgbClr val="F4F7FA"/>
                </a:solidFill>
                <a:latin typeface="Courier New"/>
              </a:rPr>
              <a:t>astype</a:t>
            </a:r>
            <a:r>
              <a:rPr sz="1400">
                <a:solidFill>
                  <a:srgbClr val="F4F7FA"/>
                </a:solidFill>
                <a:latin typeface="Courier New"/>
              </a:rPr>
              <a:t>(</a:t>
            </a:r>
            <a:r>
              <a:rPr sz="1400">
                <a:solidFill>
                  <a:srgbClr val="F4F7FA"/>
                </a:solidFill>
                <a:latin typeface="Courier New"/>
              </a:rPr>
              <a:t>int</a:t>
            </a:r>
            <a:r>
              <a:rPr sz="1400">
                <a:solidFill>
                  <a:srgbClr val="F4F7FA"/>
                </a:solidFill>
                <a:latin typeface="Courier New"/>
              </a:rPr>
              <a:t>)</a:t>
            </a:r>
          </a:p>
          <a:p>
            <a:pPr>
              <a:lnSpc>
                <a:spcPts val="1750"/>
              </a:lnSpc>
            </a:pPr>
            <a:r>
              <a:rPr sz="1400">
                <a:solidFill>
                  <a:srgbClr val="F4F7FA"/>
                </a:solidFill>
                <a:latin typeface="Courier New"/>
              </a:rPr>
              <a:t>groups</a:t>
            </a:r>
            <a:r>
              <a:rPr sz="1400">
                <a:solidFill>
                  <a:srgbClr val="F4F7FA"/>
                </a:solidFill>
                <a:latin typeface="Courier New"/>
              </a:rPr>
              <a:t> = ["</a:t>
            </a:r>
            <a:r>
              <a:rPr sz="1400">
                <a:solidFill>
                  <a:srgbClr val="F4F7FA"/>
                </a:solidFill>
                <a:latin typeface="Courier New"/>
              </a:rPr>
              <a:t>E1</a:t>
            </a:r>
            <a:r>
              <a:rPr sz="1400">
                <a:solidFill>
                  <a:srgbClr val="F4F7FA"/>
                </a:solidFill>
                <a:latin typeface="Courier New"/>
              </a:rPr>
              <a:t>", "</a:t>
            </a:r>
            <a:r>
              <a:rPr sz="1400">
                <a:solidFill>
                  <a:srgbClr val="F4F7FA"/>
                </a:solidFill>
                <a:latin typeface="Courier New"/>
              </a:rPr>
              <a:t>E2</a:t>
            </a:r>
            <a:r>
              <a:rPr sz="1400">
                <a:solidFill>
                  <a:srgbClr val="F4F7FA"/>
                </a:solidFill>
                <a:latin typeface="Courier New"/>
              </a:rPr>
              <a:t>", "</a:t>
            </a:r>
            <a:r>
              <a:rPr sz="1400">
                <a:solidFill>
                  <a:srgbClr val="F4F7FA"/>
                </a:solidFill>
                <a:latin typeface="Courier New"/>
              </a:rPr>
              <a:t>E3</a:t>
            </a:r>
            <a:r>
              <a:rPr sz="1400">
                <a:solidFill>
                  <a:srgbClr val="F4F7FA"/>
                </a:solidFill>
                <a:latin typeface="Courier New"/>
              </a:rPr>
              <a:t>", "</a:t>
            </a:r>
            <a:r>
              <a:rPr sz="1400">
                <a:solidFill>
                  <a:srgbClr val="F4F7FA"/>
                </a:solidFill>
                <a:latin typeface="Courier New"/>
              </a:rPr>
              <a:t>E4</a:t>
            </a:r>
            <a:r>
              <a:rPr sz="1400">
                <a:solidFill>
                  <a:srgbClr val="F4F7FA"/>
                </a:solidFill>
                <a:latin typeface="Courier New"/>
              </a:rPr>
              <a:t>"]</a:t>
            </a:r>
          </a:p>
          <a:p>
            <a:pPr>
              <a:lnSpc>
                <a:spcPts val="1750"/>
              </a:lnSpc>
            </a:pPr>
            <a:r>
              <a:rPr sz="1400">
                <a:solidFill>
                  <a:srgbClr val="F4F7FA"/>
                </a:solidFill>
                <a:latin typeface="Courier New"/>
              </a:rPr>
              <a:t>train</a:t>
            </a:r>
            <a:r>
              <a:rPr sz="1400">
                <a:solidFill>
                  <a:srgbClr val="F4F7FA"/>
                </a:solidFill>
                <a:latin typeface="Courier New"/>
              </a:rPr>
              <a:t> = </a:t>
            </a:r>
            <a:r>
              <a:rPr sz="1400">
                <a:solidFill>
                  <a:srgbClr val="F4F7FA"/>
                </a:solidFill>
                <a:latin typeface="Courier New"/>
              </a:rPr>
              <a:t>data</a:t>
            </a:r>
            <a:r>
              <a:rPr sz="1400">
                <a:solidFill>
                  <a:srgbClr val="F4F7FA"/>
                </a:solidFill>
                <a:latin typeface="Courier New"/>
              </a:rPr>
              <a:t>[</a:t>
            </a:r>
            <a:r>
              <a:rPr sz="1400">
                <a:solidFill>
                  <a:srgbClr val="F4F7FA"/>
                </a:solidFill>
                <a:latin typeface="Courier New"/>
              </a:rPr>
              <a:t>data</a:t>
            </a:r>
            <a:r>
              <a:rPr sz="1400">
                <a:solidFill>
                  <a:srgbClr val="F4F7FA"/>
                </a:solidFill>
                <a:latin typeface="Courier New"/>
              </a:rPr>
              <a:t>["</a:t>
            </a:r>
            <a:r>
              <a:rPr sz="1400">
                <a:solidFill>
                  <a:srgbClr val="F4F7FA"/>
                </a:solidFill>
                <a:latin typeface="Courier New"/>
              </a:rPr>
              <a:t>equipment_id</a:t>
            </a:r>
            <a:r>
              <a:rPr sz="1400">
                <a:solidFill>
                  <a:srgbClr val="F4F7FA"/>
                </a:solidFill>
                <a:latin typeface="Courier New"/>
              </a:rPr>
              <a:t>"].</a:t>
            </a:r>
            <a:r>
              <a:rPr sz="1400">
                <a:solidFill>
                  <a:srgbClr val="F4F7FA"/>
                </a:solidFill>
                <a:latin typeface="Courier New"/>
              </a:rPr>
              <a:t>isin</a:t>
            </a:r>
            <a:r>
              <a:rPr sz="1400">
                <a:solidFill>
                  <a:srgbClr val="F4F7FA"/>
                </a:solidFill>
                <a:latin typeface="Courier New"/>
              </a:rPr>
              <a:t>(</a:t>
            </a:r>
            <a:r>
              <a:rPr sz="1400">
                <a:solidFill>
                  <a:srgbClr val="F4F7FA"/>
                </a:solidFill>
                <a:latin typeface="Courier New"/>
              </a:rPr>
              <a:t>groups</a:t>
            </a:r>
            <a:r>
              <a:rPr sz="1400">
                <a:solidFill>
                  <a:srgbClr val="F4F7FA"/>
                </a:solidFill>
                <a:latin typeface="Courier New"/>
              </a:rPr>
              <a:t>)]</a:t>
            </a:r>
          </a:p>
          <a:p>
            <a:pPr>
              <a:lnSpc>
                <a:spcPts val="1750"/>
              </a:lnSpc>
            </a:pPr>
            <a:r>
              <a:rPr sz="1400">
                <a:solidFill>
                  <a:srgbClr val="FFB080"/>
                </a:solidFill>
                <a:latin typeface="Courier New"/>
              </a:rPr>
              <a:t>print</a:t>
            </a:r>
            <a:r>
              <a:rPr sz="1400">
                <a:solidFill>
                  <a:srgbClr val="F4F7FA"/>
                </a:solidFill>
                <a:latin typeface="Courier New"/>
              </a:rPr>
              <a:t>(</a:t>
            </a:r>
            <a:r>
              <a:rPr sz="1400">
                <a:solidFill>
                  <a:srgbClr val="F4F7FA"/>
                </a:solidFill>
                <a:latin typeface="Courier New"/>
              </a:rPr>
              <a:t>len</a:t>
            </a:r>
            <a:r>
              <a:rPr sz="1400">
                <a:solidFill>
                  <a:srgbClr val="F4F7FA"/>
                </a:solidFill>
                <a:latin typeface="Courier New"/>
              </a:rPr>
              <a:t>(</a:t>
            </a:r>
            <a:r>
              <a:rPr sz="1400">
                <a:solidFill>
                  <a:srgbClr val="F4F7FA"/>
                </a:solidFill>
                <a:latin typeface="Courier New"/>
              </a:rPr>
              <a:t>train</a:t>
            </a:r>
            <a:r>
              <a:rPr sz="1400">
                <a:solidFill>
                  <a:srgbClr val="F4F7FA"/>
                </a:solidFill>
                <a:latin typeface="Courier New"/>
              </a:rPr>
              <a:t>), </a:t>
            </a:r>
            <a:r>
              <a:rPr sz="1400">
                <a:solidFill>
                  <a:srgbClr val="F4F7FA"/>
                </a:solidFill>
                <a:latin typeface="Courier New"/>
              </a:rPr>
              <a:t>train</a:t>
            </a:r>
            <a:r>
              <a:rPr sz="1400">
                <a:solidFill>
                  <a:srgbClr val="F4F7FA"/>
                </a:solidFill>
                <a:latin typeface="Courier New"/>
              </a:rPr>
              <a:t>["</a:t>
            </a:r>
            <a:r>
              <a:rPr sz="1400">
                <a:solidFill>
                  <a:srgbClr val="F4F7FA"/>
                </a:solidFill>
                <a:latin typeface="Courier New"/>
              </a:rPr>
              <a:t>alert</a:t>
            </a:r>
            <a:r>
              <a:rPr sz="1400">
                <a:solidFill>
                  <a:srgbClr val="F4F7FA"/>
                </a:solidFill>
                <a:latin typeface="Courier New"/>
              </a:rPr>
              <a:t>"].</a:t>
            </a:r>
            <a:r>
              <a:rPr sz="1400">
                <a:solidFill>
                  <a:srgbClr val="F4F7FA"/>
                </a:solidFill>
                <a:latin typeface="Courier New"/>
              </a:rPr>
              <a:t>sum</a:t>
            </a:r>
            <a:r>
              <a:rPr sz="1400">
                <a:solidFill>
                  <a:srgbClr val="F4F7FA"/>
                </a:solidFill>
                <a:latin typeface="Courier New"/>
              </a:rPr>
              <a:t>())</a:t>
            </a:r>
          </a:p>
          <a:p>
            <a:pPr>
              <a:lnSpc>
                <a:spcPts val="1750"/>
              </a:lnSpc>
            </a:pPr>
            <a:r>
              <a:rPr sz="1400">
                <a:solidFill>
                  <a:srgbClr val="FFB080"/>
                </a:solidFill>
                <a:latin typeface="Courier New"/>
              </a:rPr>
              <a:t>print</a:t>
            </a:r>
            <a:r>
              <a:rPr sz="1400">
                <a:solidFill>
                  <a:srgbClr val="F4F7FA"/>
                </a:solidFill>
                <a:latin typeface="Courier New"/>
              </a:rPr>
              <a:t>(</a:t>
            </a:r>
            <a:r>
              <a:rPr sz="1400">
                <a:solidFill>
                  <a:srgbClr val="F4F7FA"/>
                </a:solidFill>
                <a:latin typeface="Courier New"/>
              </a:rPr>
              <a:t>train</a:t>
            </a:r>
            <a:r>
              <a:rPr sz="1400">
                <a:solidFill>
                  <a:srgbClr val="F4F7FA"/>
                </a:solidFill>
                <a:latin typeface="Courier New"/>
              </a:rPr>
              <a:t>["</a:t>
            </a:r>
            <a:r>
              <a:rPr sz="1400">
                <a:solidFill>
                  <a:srgbClr val="F4F7FA"/>
                </a:solidFill>
                <a:latin typeface="Courier New"/>
              </a:rPr>
              <a:t>alert</a:t>
            </a:r>
            <a:r>
              <a:rPr sz="1400">
                <a:solidFill>
                  <a:srgbClr val="F4F7FA"/>
                </a:solidFill>
                <a:latin typeface="Courier New"/>
              </a:rPr>
              <a:t>"].</a:t>
            </a:r>
            <a:r>
              <a:rPr sz="1400">
                <a:solidFill>
                  <a:srgbClr val="F4F7FA"/>
                </a:solidFill>
                <a:latin typeface="Courier New"/>
              </a:rPr>
              <a:t>value_counts</a:t>
            </a:r>
            <a:r>
              <a:rPr sz="1400">
                <a:solidFill>
                  <a:srgbClr val="F4F7FA"/>
                </a:solidFill>
                <a:latin typeface="Courier New"/>
              </a:rPr>
              <a:t>().</a:t>
            </a:r>
            <a:r>
              <a:rPr sz="1400">
                <a:solidFill>
                  <a:srgbClr val="F4F7FA"/>
                </a:solidFill>
                <a:latin typeface="Courier New"/>
              </a:rPr>
              <a:t>to_dict</a:t>
            </a:r>
            <a:r>
              <a:rPr sz="1400">
                <a:solidFill>
                  <a:srgbClr val="F4F7FA"/>
                </a:solidFill>
                <a:latin typeface="Courier New"/>
              </a:rPr>
              <a:t>())</a:t>
            </a:r>
          </a:p>
        </p:txBody>
      </p:sp>
      <p:sp>
        <p:nvSpPr>
          <p:cNvPr id="7" name="Rectangle 6"/>
          <p:cNvSpPr/>
          <p:nvPr/>
        </p:nvSpPr>
        <p:spPr>
          <a:xfrm>
            <a:off x="520700" y="4527550"/>
            <a:ext cx="7112000" cy="71755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4629150"/>
            <a:ext cx="6858000" cy="565150"/>
          </a:xfrm>
          <a:prstGeom prst="rect">
            <a:avLst/>
          </a:prstGeom>
          <a:noFill/>
        </p:spPr>
        <p:txBody>
          <a:bodyPr wrap="square">
            <a:spAutoFit/>
          </a:bodyPr>
          <a:lstStyle/>
          <a:p>
            <a:r>
              <a:rPr sz="1500">
                <a:solidFill>
                  <a:srgbClr val="1C3144"/>
                </a:solidFill>
                <a:latin typeface="Courier New"/>
              </a:rPr>
              <a:t>58 24</a:t>
            </a:r>
          </a:p>
          <a:p>
            <a:r>
              <a:rPr sz="1500">
                <a:solidFill>
                  <a:srgbClr val="1C3144"/>
                </a:solidFill>
                <a:latin typeface="Courier New"/>
              </a:rPr>
              <a:t>{0: 34, 1: 24}</a:t>
            </a:r>
          </a:p>
        </p:txBody>
      </p:sp>
      <p:sp>
        <p:nvSpPr>
          <p:cNvPr id="9" name="TextBox 8"/>
          <p:cNvSpPr txBox="1"/>
          <p:nvPr/>
        </p:nvSpPr>
        <p:spPr>
          <a:xfrm>
            <a:off x="7937500" y="1600200"/>
            <a:ext cx="3810000" cy="330200"/>
          </a:xfrm>
          <a:prstGeom prst="rect">
            <a:avLst/>
          </a:prstGeom>
          <a:noFill/>
        </p:spPr>
        <p:txBody>
          <a:bodyPr wrap="square">
            <a:spAutoFit/>
          </a:bodyPr>
          <a:lstStyle/>
          <a:p>
            <a:pPr>
              <a:spcAft>
                <a:spcPts val="0"/>
              </a:spcAft>
            </a:pPr>
            <a:r>
              <a:rPr sz="1500" b="1">
                <a:solidFill>
                  <a:srgbClr val="2E7D6F"/>
                </a:solidFill>
                <a:latin typeface="Calibri"/>
              </a:rPr>
              <a:t>HOW TO READ IT</a:t>
            </a:r>
          </a:p>
        </p:txBody>
      </p:sp>
      <p:sp>
        <p:nvSpPr>
          <p:cNvPr id="10" name="TextBox 9"/>
          <p:cNvSpPr txBox="1"/>
          <p:nvPr/>
        </p:nvSpPr>
        <p:spPr>
          <a:xfrm>
            <a:off x="7937500" y="1981200"/>
            <a:ext cx="3810000" cy="3810000"/>
          </a:xfrm>
          <a:prstGeom prst="rect">
            <a:avLst/>
          </a:prstGeom>
          <a:noFill/>
        </p:spPr>
        <p:txBody>
          <a:bodyPr wrap="square">
            <a:spAutoFit/>
          </a:bodyPr>
          <a:lstStyle/>
          <a:p>
            <a:pPr>
              <a:spcAft>
                <a:spcPts val="900"/>
              </a:spcAft>
            </a:pPr>
            <a:r>
              <a:rPr sz="1750" b="0">
                <a:solidFill>
                  <a:srgbClr val="1C3144"/>
                </a:solidFill>
                <a:latin typeface="Calibri"/>
              </a:rPr>
              <a:t>The first six lines repeat Week 8: read, drop copies, keep valid rows.</a:t>
            </a:r>
          </a:p>
          <a:p>
            <a:pPr>
              <a:spcAft>
                <a:spcPts val="900"/>
              </a:spcAft>
            </a:pPr>
            <a:r>
              <a:rPr sz="1750" b="0">
                <a:solidFill>
                  <a:srgbClr val="1C3144"/>
                </a:solidFill>
                <a:latin typeface="Calibri"/>
              </a:rPr>
              <a:t>&gt;= compares each target with the limit, 13.5 kWh/t. The answer is True or False.</a:t>
            </a:r>
          </a:p>
          <a:p>
            <a:pPr>
              <a:spcAft>
                <a:spcPts val="900"/>
              </a:spcAft>
            </a:pPr>
            <a:r>
              <a:rPr sz="1750" b="0">
                <a:solidFill>
                  <a:srgbClr val="1C3144"/>
                </a:solidFill>
                <a:latin typeface="Calibri"/>
              </a:rPr>
              <a:t>.astype(int) turns True and False into 1 and 0. The training rows are E1 to E4.</a:t>
            </a:r>
          </a:p>
          <a:p>
            <a:pPr>
              <a:spcAft>
                <a:spcPts val="900"/>
              </a:spcAft>
            </a:pPr>
            <a:r>
              <a:rPr sz="1750" b="0">
                <a:solidFill>
                  <a:srgbClr val="1C3144"/>
                </a:solidFill>
                <a:latin typeface="Calibri"/>
              </a:rPr>
              <a:t>sum() adds the ones, so it counts the alerts in the training rows.</a:t>
            </a:r>
          </a:p>
        </p:txBody>
      </p:sp>
      <p:sp>
        <p:nvSpPr>
          <p:cNvPr id="11" name="TextBox 10"/>
          <p:cNvSpPr txBox="1"/>
          <p:nvPr/>
        </p:nvSpPr>
        <p:spPr>
          <a:xfrm>
            <a:off x="584200" y="5867400"/>
            <a:ext cx="11023600" cy="508000"/>
          </a:xfrm>
          <a:prstGeom prst="rect">
            <a:avLst/>
          </a:prstGeom>
          <a:noFill/>
        </p:spPr>
        <p:txBody>
          <a:bodyPr wrap="square">
            <a:spAutoFit/>
          </a:bodyPr>
          <a:lstStyle/>
          <a:p>
            <a:pPr>
              <a:spcAft>
                <a:spcPts val="0"/>
              </a:spcAft>
            </a:pPr>
            <a:r>
              <a:rPr sz="1750" b="1">
                <a:solidFill>
                  <a:srgbClr val="2E7D6F"/>
                </a:solidFill>
                <a:latin typeface="Calibri"/>
              </a:rPr>
              <a:t>The limit is 13.5 kWh/t, a teaching assumption. The counts use the training rows only.</a:t>
            </a:r>
          </a:p>
        </p:txBody>
      </p:sp>
      <p:sp>
        <p:nvSpPr>
          <p:cNvPr id="12" name="TextBox 11"/>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9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525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2600" y="190500"/>
            <a:ext cx="11239500" cy="647700"/>
          </a:xfrm>
          <a:prstGeom prst="rect">
            <a:avLst/>
          </a:prstGeom>
          <a:noFill/>
        </p:spPr>
        <p:txBody>
          <a:bodyPr wrap="square">
            <a:spAutoFit/>
          </a:bodyPr>
          <a:lstStyle/>
          <a:p>
            <a:pPr>
              <a:spcAft>
                <a:spcPts val="0"/>
              </a:spcAft>
            </a:pPr>
            <a:r>
              <a:rPr sz="2925" b="1">
                <a:solidFill>
                  <a:srgbClr val="FFFFFF"/>
                </a:solidFill>
                <a:latin typeface="Calibri"/>
              </a:rPr>
              <a:t>A model that always says no scores 59 percent</a:t>
            </a:r>
          </a:p>
        </p:txBody>
      </p:sp>
      <p:pic>
        <p:nvPicPr>
          <p:cNvPr id="4" name="Picture 3" descr="counts.png"/>
          <p:cNvPicPr>
            <a:picLocks noChangeAspect="1"/>
          </p:cNvPicPr>
          <p:nvPr/>
        </p:nvPicPr>
        <p:blipFill>
          <a:blip r:embed="rId2"/>
          <a:stretch>
            <a:fillRect/>
          </a:stretch>
        </p:blipFill>
        <p:spPr>
          <a:xfrm>
            <a:off x="2042117" y="1117600"/>
            <a:ext cx="8107764" cy="4597400"/>
          </a:xfrm>
          <a:prstGeom prst="rect">
            <a:avLst/>
          </a:prstGeom>
        </p:spPr>
      </p:pic>
      <p:sp>
        <p:nvSpPr>
          <p:cNvPr id="5" name="Rectangle 4"/>
          <p:cNvSpPr/>
          <p:nvPr/>
        </p:nvSpPr>
        <p:spPr>
          <a:xfrm>
            <a:off x="0" y="5816600"/>
            <a:ext cx="12192000" cy="5842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8800" y="5892800"/>
            <a:ext cx="11074400" cy="482600"/>
          </a:xfrm>
          <a:prstGeom prst="rect">
            <a:avLst/>
          </a:prstGeom>
          <a:noFill/>
        </p:spPr>
        <p:txBody>
          <a:bodyPr wrap="square">
            <a:spAutoFit/>
          </a:bodyPr>
          <a:lstStyle/>
          <a:p>
            <a:pPr>
              <a:spcAft>
                <a:spcPts val="0"/>
              </a:spcAft>
            </a:pPr>
            <a:r>
              <a:rPr sz="1800" b="1">
                <a:solidFill>
                  <a:srgbClr val="2E7D6F"/>
                </a:solidFill>
                <a:latin typeface="Calibri"/>
              </a:rPr>
              <a:t>Most rows are no alert, so a model that never raises an alert still looks accurate.</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9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525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2600" y="190500"/>
            <a:ext cx="11239500" cy="647700"/>
          </a:xfrm>
          <a:prstGeom prst="rect">
            <a:avLst/>
          </a:prstGeom>
          <a:noFill/>
        </p:spPr>
        <p:txBody>
          <a:bodyPr wrap="square">
            <a:spAutoFit/>
          </a:bodyPr>
          <a:lstStyle/>
          <a:p>
            <a:pPr>
              <a:spcAft>
                <a:spcPts val="0"/>
              </a:spcAft>
            </a:pPr>
            <a:r>
              <a:rPr sz="2925" b="1">
                <a:solidFill>
                  <a:srgbClr val="FFFFFF"/>
                </a:solidFill>
                <a:latin typeface="Calibri"/>
              </a:rPr>
              <a:t>Logistic regression turns a line into a probability</a:t>
            </a:r>
          </a:p>
        </p:txBody>
      </p:sp>
      <p:pic>
        <p:nvPicPr>
          <p:cNvPr id="4" name="Picture 3" descr="sigmoid.png"/>
          <p:cNvPicPr>
            <a:picLocks noChangeAspect="1"/>
          </p:cNvPicPr>
          <p:nvPr/>
        </p:nvPicPr>
        <p:blipFill>
          <a:blip r:embed="rId2"/>
          <a:stretch>
            <a:fillRect/>
          </a:stretch>
        </p:blipFill>
        <p:spPr>
          <a:xfrm>
            <a:off x="554374" y="1117600"/>
            <a:ext cx="11083250" cy="4597399"/>
          </a:xfrm>
          <a:prstGeom prst="rect">
            <a:avLst/>
          </a:prstGeom>
        </p:spPr>
      </p:pic>
      <p:sp>
        <p:nvSpPr>
          <p:cNvPr id="5" name="Rectangle 4"/>
          <p:cNvSpPr/>
          <p:nvPr/>
        </p:nvSpPr>
        <p:spPr>
          <a:xfrm>
            <a:off x="0" y="5816600"/>
            <a:ext cx="12192000" cy="5842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8800" y="5892800"/>
            <a:ext cx="11074400" cy="482600"/>
          </a:xfrm>
          <a:prstGeom prst="rect">
            <a:avLst/>
          </a:prstGeom>
          <a:noFill/>
        </p:spPr>
        <p:txBody>
          <a:bodyPr wrap="square">
            <a:spAutoFit/>
          </a:bodyPr>
          <a:lstStyle/>
          <a:p>
            <a:pPr>
              <a:spcAft>
                <a:spcPts val="0"/>
              </a:spcAft>
            </a:pPr>
            <a:r>
              <a:rPr sz="1800" b="1">
                <a:solidFill>
                  <a:srgbClr val="2E7D6F"/>
                </a:solidFill>
                <a:latin typeface="Calibri"/>
              </a:rPr>
              <a:t>The curve gives a probability between 0 and 1 for every load. Higher load, higher probability of an alert.</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9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ONE IDEA AT A TIME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Features on different scales need a common ruler</a:t>
            </a:r>
          </a:p>
        </p:txBody>
      </p:sp>
      <p:graphicFrame>
        <p:nvGraphicFramePr>
          <p:cNvPr id="5" name="Table 4"/>
          <p:cNvGraphicFramePr>
            <a:graphicFrameLocks noGrp="1"/>
          </p:cNvGraphicFramePr>
          <p:nvPr/>
        </p:nvGraphicFramePr>
        <p:xfrm>
          <a:off x="584200" y="1625600"/>
          <a:ext cx="11023600" cy="2641600"/>
        </p:xfrm>
        <a:graphic>
          <a:graphicData uri="http://schemas.openxmlformats.org/drawingml/2006/table">
            <a:tbl>
              <a:tblPr firstRow="0" bandRow="0">
                <a:tableStyleId>{5C22544A-7EE6-4342-B048-85BDC9FD1C3A}</a:tableStyleId>
              </a:tblPr>
              <a:tblGrid>
                <a:gridCol w="1143000"/>
                <a:gridCol w="2032000"/>
                <a:gridCol w="2032000"/>
                <a:gridCol w="2921000"/>
                <a:gridCol w="2895600"/>
              </a:tblGrid>
              <a:tr h="660400">
                <a:tc>
                  <a:txBody>
                    <a:bodyPr wrap="square"/>
                    <a:lstStyle/>
                    <a:p>
                      <a:r>
                        <a:rPr sz="2000" b="1">
                          <a:solidFill>
                            <a:srgbClr val="FFFFFF"/>
                          </a:solidFill>
                          <a:latin typeface="Calibri"/>
                        </a:rPr>
                        <a:t>Row</a:t>
                      </a:r>
                    </a:p>
                  </a:txBody>
                  <a:tcPr marL="101600" marR="101600" marT="38100" marB="38100" anchor="ctr">
                    <a:solidFill>
                      <a:srgbClr val="2E7D6F"/>
                    </a:solidFill>
                  </a:tcPr>
                </a:tc>
                <a:tc>
                  <a:txBody>
                    <a:bodyPr wrap="square"/>
                    <a:lstStyle/>
                    <a:p>
                      <a:r>
                        <a:rPr sz="2000" b="1">
                          <a:solidFill>
                            <a:srgbClr val="FFFFFF"/>
                          </a:solidFill>
                          <a:latin typeface="Calibri"/>
                        </a:rPr>
                        <a:t>load_pct</a:t>
                      </a:r>
                    </a:p>
                  </a:txBody>
                  <a:tcPr marL="101600" marR="101600" marT="38100" marB="38100" anchor="ctr">
                    <a:solidFill>
                      <a:srgbClr val="2E7D6F"/>
                    </a:solidFill>
                  </a:tcPr>
                </a:tc>
                <a:tc>
                  <a:txBody>
                    <a:bodyPr wrap="square"/>
                    <a:lstStyle/>
                    <a:p>
                      <a:r>
                        <a:rPr sz="2000" b="1">
                          <a:solidFill>
                            <a:srgbClr val="FFFFFF"/>
                          </a:solidFill>
                          <a:latin typeface="Calibri"/>
                        </a:rPr>
                        <a:t>ambient_c</a:t>
                      </a:r>
                    </a:p>
                  </a:txBody>
                  <a:tcPr marL="101600" marR="101600" marT="38100" marB="38100" anchor="ctr">
                    <a:solidFill>
                      <a:srgbClr val="2E7D6F"/>
                    </a:solidFill>
                  </a:tcPr>
                </a:tc>
                <a:tc>
                  <a:txBody>
                    <a:bodyPr wrap="square"/>
                    <a:lstStyle/>
                    <a:p>
                      <a:r>
                        <a:rPr sz="2000" b="1">
                          <a:solidFill>
                            <a:srgbClr val="FFFFFF"/>
                          </a:solidFill>
                          <a:latin typeface="Calibri"/>
                        </a:rPr>
                        <a:t>load_pct scaled</a:t>
                      </a:r>
                    </a:p>
                  </a:txBody>
                  <a:tcPr marL="101600" marR="101600" marT="38100" marB="38100" anchor="ctr">
                    <a:solidFill>
                      <a:srgbClr val="2E7D6F"/>
                    </a:solidFill>
                  </a:tcPr>
                </a:tc>
                <a:tc>
                  <a:txBody>
                    <a:bodyPr wrap="square"/>
                    <a:lstStyle/>
                    <a:p>
                      <a:r>
                        <a:rPr sz="2000" b="1">
                          <a:solidFill>
                            <a:srgbClr val="FFFFFF"/>
                          </a:solidFill>
                          <a:latin typeface="Calibri"/>
                        </a:rPr>
                        <a:t>ambient_c scaled</a:t>
                      </a:r>
                    </a:p>
                  </a:txBody>
                  <a:tcPr marL="101600" marR="101600" marT="38100" marB="38100" anchor="ctr">
                    <a:solidFill>
                      <a:srgbClr val="2E7D6F"/>
                    </a:solidFill>
                  </a:tcPr>
                </a:tc>
              </a:tr>
              <a:tr h="660400">
                <a:tc>
                  <a:txBody>
                    <a:bodyPr wrap="square"/>
                    <a:lstStyle/>
                    <a:p>
                      <a:r>
                        <a:rPr sz="2000" b="1">
                          <a:solidFill>
                            <a:srgbClr val="1C3144"/>
                          </a:solidFill>
                          <a:latin typeface="Calibri"/>
                        </a:rPr>
                        <a:t>1</a:t>
                      </a:r>
                    </a:p>
                  </a:txBody>
                  <a:tcPr marL="101600" marR="101600" marT="38100" marB="38100" anchor="ctr">
                    <a:solidFill>
                      <a:srgbClr val="EEF3F6"/>
                    </a:solidFill>
                  </a:tcPr>
                </a:tc>
                <a:tc>
                  <a:txBody>
                    <a:bodyPr wrap="square"/>
                    <a:lstStyle/>
                    <a:p>
                      <a:r>
                        <a:rPr sz="2000" b="0">
                          <a:solidFill>
                            <a:srgbClr val="1C3144"/>
                          </a:solidFill>
                          <a:latin typeface="Calibri"/>
                        </a:rPr>
                        <a:t>59.15</a:t>
                      </a:r>
                    </a:p>
                  </a:txBody>
                  <a:tcPr marL="101600" marR="101600" marT="38100" marB="38100" anchor="ctr">
                    <a:solidFill>
                      <a:srgbClr val="EEF3F6"/>
                    </a:solidFill>
                  </a:tcPr>
                </a:tc>
                <a:tc>
                  <a:txBody>
                    <a:bodyPr wrap="square"/>
                    <a:lstStyle/>
                    <a:p>
                      <a:r>
                        <a:rPr sz="2000" b="0">
                          <a:solidFill>
                            <a:srgbClr val="1C3144"/>
                          </a:solidFill>
                          <a:latin typeface="Calibri"/>
                        </a:rPr>
                        <a:t>31.71</a:t>
                      </a:r>
                    </a:p>
                  </a:txBody>
                  <a:tcPr marL="101600" marR="101600" marT="38100" marB="38100" anchor="ctr">
                    <a:solidFill>
                      <a:srgbClr val="EEF3F6"/>
                    </a:solidFill>
                  </a:tcPr>
                </a:tc>
                <a:tc>
                  <a:txBody>
                    <a:bodyPr wrap="square"/>
                    <a:lstStyle/>
                    <a:p>
                      <a:r>
                        <a:rPr sz="2000" b="0">
                          <a:solidFill>
                            <a:srgbClr val="1C3144"/>
                          </a:solidFill>
                          <a:latin typeface="Calibri"/>
                        </a:rPr>
                        <a:t>-0.03</a:t>
                      </a:r>
                    </a:p>
                  </a:txBody>
                  <a:tcPr marL="101600" marR="101600" marT="38100" marB="38100" anchor="ctr">
                    <a:solidFill>
                      <a:srgbClr val="EEF3F6"/>
                    </a:solidFill>
                  </a:tcPr>
                </a:tc>
                <a:tc>
                  <a:txBody>
                    <a:bodyPr wrap="square"/>
                    <a:lstStyle/>
                    <a:p>
                      <a:r>
                        <a:rPr sz="2000" b="0">
                          <a:solidFill>
                            <a:srgbClr val="1C3144"/>
                          </a:solidFill>
                          <a:latin typeface="Calibri"/>
                        </a:rPr>
                        <a:t>1.18</a:t>
                      </a:r>
                    </a:p>
                  </a:txBody>
                  <a:tcPr marL="101600" marR="101600" marT="38100" marB="38100" anchor="ctr">
                    <a:solidFill>
                      <a:srgbClr val="EEF3F6"/>
                    </a:solidFill>
                  </a:tcPr>
                </a:tc>
              </a:tr>
              <a:tr h="660400">
                <a:tc>
                  <a:txBody>
                    <a:bodyPr wrap="square"/>
                    <a:lstStyle/>
                    <a:p>
                      <a:r>
                        <a:rPr sz="2000" b="1">
                          <a:solidFill>
                            <a:srgbClr val="1C3144"/>
                          </a:solidFill>
                          <a:latin typeface="Calibri"/>
                        </a:rPr>
                        <a:t>2</a:t>
                      </a:r>
                    </a:p>
                  </a:txBody>
                  <a:tcPr marL="101600" marR="101600" marT="38100" marB="38100" anchor="ctr">
                    <a:solidFill>
                      <a:srgbClr val="FFFFFF"/>
                    </a:solidFill>
                  </a:tcPr>
                </a:tc>
                <a:tc>
                  <a:txBody>
                    <a:bodyPr wrap="square"/>
                    <a:lstStyle/>
                    <a:p>
                      <a:r>
                        <a:rPr sz="2000" b="0">
                          <a:solidFill>
                            <a:srgbClr val="1C3144"/>
                          </a:solidFill>
                          <a:latin typeface="Calibri"/>
                        </a:rPr>
                        <a:t>77.46</a:t>
                      </a:r>
                    </a:p>
                  </a:txBody>
                  <a:tcPr marL="101600" marR="101600" marT="38100" marB="38100" anchor="ctr">
                    <a:solidFill>
                      <a:srgbClr val="FFFFFF"/>
                    </a:solidFill>
                  </a:tcPr>
                </a:tc>
                <a:tc>
                  <a:txBody>
                    <a:bodyPr wrap="square"/>
                    <a:lstStyle/>
                    <a:p>
                      <a:r>
                        <a:rPr sz="2000" b="0">
                          <a:solidFill>
                            <a:srgbClr val="1C3144"/>
                          </a:solidFill>
                          <a:latin typeface="Calibri"/>
                        </a:rPr>
                        <a:t>29.97</a:t>
                      </a:r>
                    </a:p>
                  </a:txBody>
                  <a:tcPr marL="101600" marR="101600" marT="38100" marB="38100" anchor="ctr">
                    <a:solidFill>
                      <a:srgbClr val="FFFFFF"/>
                    </a:solidFill>
                  </a:tcPr>
                </a:tc>
                <a:tc>
                  <a:txBody>
                    <a:bodyPr wrap="square"/>
                    <a:lstStyle/>
                    <a:p>
                      <a:r>
                        <a:rPr sz="2000" b="0">
                          <a:solidFill>
                            <a:srgbClr val="1C3144"/>
                          </a:solidFill>
                          <a:latin typeface="Calibri"/>
                        </a:rPr>
                        <a:t>0.77</a:t>
                      </a:r>
                    </a:p>
                  </a:txBody>
                  <a:tcPr marL="101600" marR="101600" marT="38100" marB="38100" anchor="ctr">
                    <a:solidFill>
                      <a:srgbClr val="FFFFFF"/>
                    </a:solidFill>
                  </a:tcPr>
                </a:tc>
                <a:tc>
                  <a:txBody>
                    <a:bodyPr wrap="square"/>
                    <a:lstStyle/>
                    <a:p>
                      <a:r>
                        <a:rPr sz="2000" b="0">
                          <a:solidFill>
                            <a:srgbClr val="1C3144"/>
                          </a:solidFill>
                          <a:latin typeface="Calibri"/>
                        </a:rPr>
                        <a:t>0.80</a:t>
                      </a:r>
                    </a:p>
                  </a:txBody>
                  <a:tcPr marL="101600" marR="101600" marT="38100" marB="38100" anchor="ctr">
                    <a:solidFill>
                      <a:srgbClr val="FFFFFF"/>
                    </a:solidFill>
                  </a:tcPr>
                </a:tc>
              </a:tr>
              <a:tr h="660400">
                <a:tc>
                  <a:txBody>
                    <a:bodyPr wrap="square"/>
                    <a:lstStyle/>
                    <a:p>
                      <a:r>
                        <a:rPr sz="2000" b="1">
                          <a:solidFill>
                            <a:srgbClr val="1C3144"/>
                          </a:solidFill>
                          <a:latin typeface="Calibri"/>
                        </a:rPr>
                        <a:t>3</a:t>
                      </a:r>
                    </a:p>
                  </a:txBody>
                  <a:tcPr marL="101600" marR="101600" marT="38100" marB="38100" anchor="ctr">
                    <a:solidFill>
                      <a:srgbClr val="EEF3F6"/>
                    </a:solidFill>
                  </a:tcPr>
                </a:tc>
                <a:tc>
                  <a:txBody>
                    <a:bodyPr wrap="square"/>
                    <a:lstStyle/>
                    <a:p>
                      <a:r>
                        <a:rPr sz="2000" b="0">
                          <a:solidFill>
                            <a:srgbClr val="1C3144"/>
                          </a:solidFill>
                          <a:latin typeface="Calibri"/>
                        </a:rPr>
                        <a:t>69.6</a:t>
                      </a:r>
                    </a:p>
                  </a:txBody>
                  <a:tcPr marL="101600" marR="101600" marT="38100" marB="38100" anchor="ctr">
                    <a:solidFill>
                      <a:srgbClr val="EEF3F6"/>
                    </a:solidFill>
                  </a:tcPr>
                </a:tc>
                <a:tc>
                  <a:txBody>
                    <a:bodyPr wrap="square"/>
                    <a:lstStyle/>
                    <a:p>
                      <a:r>
                        <a:rPr sz="2000" b="0">
                          <a:solidFill>
                            <a:srgbClr val="1C3144"/>
                          </a:solidFill>
                          <a:latin typeface="Calibri"/>
                        </a:rPr>
                        <a:t>19.87</a:t>
                      </a:r>
                    </a:p>
                  </a:txBody>
                  <a:tcPr marL="101600" marR="101600" marT="38100" marB="38100" anchor="ctr">
                    <a:solidFill>
                      <a:srgbClr val="EEF3F6"/>
                    </a:solidFill>
                  </a:tcPr>
                </a:tc>
                <a:tc>
                  <a:txBody>
                    <a:bodyPr wrap="square"/>
                    <a:lstStyle/>
                    <a:p>
                      <a:r>
                        <a:rPr sz="2000" b="0">
                          <a:solidFill>
                            <a:srgbClr val="1C3144"/>
                          </a:solidFill>
                          <a:latin typeface="Calibri"/>
                        </a:rPr>
                        <a:t>0.43</a:t>
                      </a:r>
                    </a:p>
                  </a:txBody>
                  <a:tcPr marL="101600" marR="101600" marT="38100" marB="38100" anchor="ctr">
                    <a:solidFill>
                      <a:srgbClr val="EEF3F6"/>
                    </a:solidFill>
                  </a:tcPr>
                </a:tc>
                <a:tc>
                  <a:txBody>
                    <a:bodyPr wrap="square"/>
                    <a:lstStyle/>
                    <a:p>
                      <a:r>
                        <a:rPr sz="2000" b="0">
                          <a:solidFill>
                            <a:srgbClr val="1C3144"/>
                          </a:solidFill>
                          <a:latin typeface="Calibri"/>
                        </a:rPr>
                        <a:t>-1.42</a:t>
                      </a:r>
                    </a:p>
                  </a:txBody>
                  <a:tcPr marL="101600" marR="101600" marT="38100" marB="38100" anchor="ctr">
                    <a:solidFill>
                      <a:srgbClr val="EEF3F6"/>
                    </a:solidFill>
                  </a:tcPr>
                </a:tc>
              </a:tr>
            </a:tbl>
          </a:graphicData>
        </a:graphic>
      </p:graphicFrame>
      <p:sp>
        <p:nvSpPr>
          <p:cNvPr id="6" name="TextBox 5"/>
          <p:cNvSpPr txBox="1"/>
          <p:nvPr/>
        </p:nvSpPr>
        <p:spPr>
          <a:xfrm>
            <a:off x="584200" y="4445000"/>
            <a:ext cx="11023600" cy="1981200"/>
          </a:xfrm>
          <a:prstGeom prst="rect">
            <a:avLst/>
          </a:prstGeom>
          <a:noFill/>
        </p:spPr>
        <p:txBody>
          <a:bodyPr wrap="square">
            <a:spAutoFit/>
          </a:bodyPr>
          <a:lstStyle/>
          <a:p>
            <a:pPr>
              <a:spcAft>
                <a:spcPts val="400"/>
              </a:spcAft>
            </a:pPr>
            <a:r>
              <a:rPr sz="1900" b="1">
                <a:solidFill>
                  <a:srgbClr val="1C3144"/>
                </a:solidFill>
                <a:latin typeface="Calibri"/>
              </a:rPr>
              <a:t>scaled value = (value − mean) ÷ standard deviation</a:t>
            </a:r>
          </a:p>
          <a:p>
            <a:pPr>
              <a:spcAft>
                <a:spcPts val="400"/>
              </a:spcAft>
            </a:pPr>
            <a:r>
              <a:rPr sz="1900" b="0">
                <a:solidFill>
                  <a:srgbClr val="1C3144"/>
                </a:solidFill>
                <a:latin typeface="Calibri"/>
              </a:rPr>
              <a:t>Training mean and standard deviation: load_pct 59.9 and 22.7; ambient_c 26.3 and 4.6.</a:t>
            </a:r>
          </a:p>
          <a:p>
            <a:pPr>
              <a:spcAft>
                <a:spcPts val="400"/>
              </a:spcAft>
            </a:pPr>
            <a:r>
              <a:rPr sz="1900" b="0">
                <a:solidFill>
                  <a:srgbClr val="1C3144"/>
                </a:solidFill>
                <a:latin typeface="Calibri"/>
              </a:rPr>
              <a:t>StandardScaler learns these from the training rows only.</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9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WORKED EXAMPLE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Splitting the rows and choosing features</a:t>
            </a:r>
          </a:p>
        </p:txBody>
      </p:sp>
      <p:sp>
        <p:nvSpPr>
          <p:cNvPr id="5" name="Rectangle 4"/>
          <p:cNvSpPr/>
          <p:nvPr/>
        </p:nvSpPr>
        <p:spPr>
          <a:xfrm>
            <a:off x="520700" y="1600200"/>
            <a:ext cx="7112000" cy="1546225"/>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1727200"/>
            <a:ext cx="6858000" cy="1317625"/>
          </a:xfrm>
          <a:prstGeom prst="rect">
            <a:avLst/>
          </a:prstGeom>
          <a:noFill/>
        </p:spPr>
        <p:txBody>
          <a:bodyPr wrap="square">
            <a:spAutoFit/>
          </a:bodyPr>
          <a:lstStyle/>
          <a:p>
            <a:pPr>
              <a:lnSpc>
                <a:spcPts val="1875"/>
              </a:lnSpc>
            </a:pPr>
            <a:r>
              <a:rPr sz="1500">
                <a:solidFill>
                  <a:srgbClr val="F4F7FA"/>
                </a:solidFill>
                <a:latin typeface="Courier New"/>
              </a:rPr>
              <a:t>valid</a:t>
            </a:r>
            <a:r>
              <a:rPr sz="1500">
                <a:solidFill>
                  <a:srgbClr val="F4F7FA"/>
                </a:solidFill>
                <a:latin typeface="Courier New"/>
              </a:rPr>
              <a:t> = </a:t>
            </a:r>
            <a:r>
              <a:rPr sz="1500">
                <a:solidFill>
                  <a:srgbClr val="F4F7FA"/>
                </a:solidFill>
                <a:latin typeface="Courier New"/>
              </a:rPr>
              <a:t>data</a:t>
            </a:r>
            <a:r>
              <a:rPr sz="1500">
                <a:solidFill>
                  <a:srgbClr val="F4F7FA"/>
                </a:solidFill>
                <a:latin typeface="Courier New"/>
              </a:rPr>
              <a:t>[</a:t>
            </a:r>
            <a:r>
              <a:rPr sz="1500">
                <a:solidFill>
                  <a:srgbClr val="F4F7FA"/>
                </a:solidFill>
                <a:latin typeface="Courier New"/>
              </a:rPr>
              <a:t>data</a:t>
            </a:r>
            <a:r>
              <a:rPr sz="1500">
                <a:solidFill>
                  <a:srgbClr val="F4F7FA"/>
                </a:solidFill>
                <a:latin typeface="Courier New"/>
              </a:rPr>
              <a:t>["</a:t>
            </a:r>
            <a:r>
              <a:rPr sz="1500">
                <a:solidFill>
                  <a:srgbClr val="F4F7FA"/>
                </a:solidFill>
                <a:latin typeface="Courier New"/>
              </a:rPr>
              <a:t>equipment_id</a:t>
            </a:r>
            <a:r>
              <a:rPr sz="1500">
                <a:solidFill>
                  <a:srgbClr val="F4F7FA"/>
                </a:solidFill>
                <a:latin typeface="Courier New"/>
              </a:rPr>
              <a:t>"] == "</a:t>
            </a:r>
            <a:r>
              <a:rPr sz="1500">
                <a:solidFill>
                  <a:srgbClr val="F4F7FA"/>
                </a:solidFill>
                <a:latin typeface="Courier New"/>
              </a:rPr>
              <a:t>E5</a:t>
            </a:r>
            <a:r>
              <a:rPr sz="1500">
                <a:solidFill>
                  <a:srgbClr val="F4F7FA"/>
                </a:solidFill>
                <a:latin typeface="Courier New"/>
              </a:rPr>
              <a:t>"]</a:t>
            </a:r>
          </a:p>
          <a:p>
            <a:pPr>
              <a:lnSpc>
                <a:spcPts val="1875"/>
              </a:lnSpc>
            </a:pPr>
            <a:r>
              <a:rPr sz="1500">
                <a:solidFill>
                  <a:srgbClr val="F4F7FA"/>
                </a:solidFill>
                <a:latin typeface="Courier New"/>
              </a:rPr>
              <a:t>features</a:t>
            </a:r>
            <a:r>
              <a:rPr sz="1500">
                <a:solidFill>
                  <a:srgbClr val="F4F7FA"/>
                </a:solidFill>
                <a:latin typeface="Courier New"/>
              </a:rPr>
              <a:t> = ["</a:t>
            </a:r>
            <a:r>
              <a:rPr sz="1500">
                <a:solidFill>
                  <a:srgbClr val="F4F7FA"/>
                </a:solidFill>
                <a:latin typeface="Courier New"/>
              </a:rPr>
              <a:t>load_pct</a:t>
            </a:r>
            <a:r>
              <a:rPr sz="1500">
                <a:solidFill>
                  <a:srgbClr val="F4F7FA"/>
                </a:solidFill>
                <a:latin typeface="Courier New"/>
              </a:rPr>
              <a:t>", "</a:t>
            </a:r>
            <a:r>
              <a:rPr sz="1500">
                <a:solidFill>
                  <a:srgbClr val="F4F7FA"/>
                </a:solidFill>
                <a:latin typeface="Courier New"/>
              </a:rPr>
              <a:t>ambient_c</a:t>
            </a:r>
            <a:r>
              <a:rPr sz="1500">
                <a:solidFill>
                  <a:srgbClr val="F4F7FA"/>
                </a:solidFill>
                <a:latin typeface="Courier New"/>
              </a:rPr>
              <a:t>"]</a:t>
            </a:r>
          </a:p>
          <a:p>
            <a:pPr>
              <a:lnSpc>
                <a:spcPts val="1875"/>
              </a:lnSpc>
            </a:pPr>
            <a:r>
              <a:rPr sz="1500">
                <a:solidFill>
                  <a:srgbClr val="F4F7FA"/>
                </a:solidFill>
                <a:latin typeface="Courier New"/>
              </a:rPr>
              <a:t>X_train</a:t>
            </a:r>
            <a:r>
              <a:rPr sz="1500">
                <a:solidFill>
                  <a:srgbClr val="F4F7FA"/>
                </a:solidFill>
                <a:latin typeface="Courier New"/>
              </a:rPr>
              <a:t>, </a:t>
            </a:r>
            <a:r>
              <a:rPr sz="1500">
                <a:solidFill>
                  <a:srgbClr val="F4F7FA"/>
                </a:solidFill>
                <a:latin typeface="Courier New"/>
              </a:rPr>
              <a:t>y_train</a:t>
            </a:r>
            <a:r>
              <a:rPr sz="1500">
                <a:solidFill>
                  <a:srgbClr val="F4F7FA"/>
                </a:solidFill>
                <a:latin typeface="Courier New"/>
              </a:rPr>
              <a:t> = </a:t>
            </a:r>
            <a:r>
              <a:rPr sz="1500">
                <a:solidFill>
                  <a:srgbClr val="F4F7FA"/>
                </a:solidFill>
                <a:latin typeface="Courier New"/>
              </a:rPr>
              <a:t>train</a:t>
            </a:r>
            <a:r>
              <a:rPr sz="1500">
                <a:solidFill>
                  <a:srgbClr val="F4F7FA"/>
                </a:solidFill>
                <a:latin typeface="Courier New"/>
              </a:rPr>
              <a:t>[</a:t>
            </a:r>
            <a:r>
              <a:rPr sz="1500">
                <a:solidFill>
                  <a:srgbClr val="F4F7FA"/>
                </a:solidFill>
                <a:latin typeface="Courier New"/>
              </a:rPr>
              <a:t>features</a:t>
            </a:r>
            <a:r>
              <a:rPr sz="1500">
                <a:solidFill>
                  <a:srgbClr val="F4F7FA"/>
                </a:solidFill>
                <a:latin typeface="Courier New"/>
              </a:rPr>
              <a:t>], </a:t>
            </a:r>
            <a:r>
              <a:rPr sz="1500">
                <a:solidFill>
                  <a:srgbClr val="F4F7FA"/>
                </a:solidFill>
                <a:latin typeface="Courier New"/>
              </a:rPr>
              <a:t>train</a:t>
            </a:r>
            <a:r>
              <a:rPr sz="1500">
                <a:solidFill>
                  <a:srgbClr val="F4F7FA"/>
                </a:solidFill>
                <a:latin typeface="Courier New"/>
              </a:rPr>
              <a:t>["</a:t>
            </a:r>
            <a:r>
              <a:rPr sz="1500">
                <a:solidFill>
                  <a:srgbClr val="F4F7FA"/>
                </a:solidFill>
                <a:latin typeface="Courier New"/>
              </a:rPr>
              <a:t>alert</a:t>
            </a:r>
            <a:r>
              <a:rPr sz="1500">
                <a:solidFill>
                  <a:srgbClr val="F4F7FA"/>
                </a:solidFill>
                <a:latin typeface="Courier New"/>
              </a:rPr>
              <a:t>"]</a:t>
            </a:r>
          </a:p>
          <a:p>
            <a:pPr>
              <a:lnSpc>
                <a:spcPts val="1875"/>
              </a:lnSpc>
            </a:pPr>
            <a:r>
              <a:rPr sz="1500">
                <a:solidFill>
                  <a:srgbClr val="F4F7FA"/>
                </a:solidFill>
                <a:latin typeface="Courier New"/>
              </a:rPr>
              <a:t>X_valid</a:t>
            </a:r>
            <a:r>
              <a:rPr sz="1500">
                <a:solidFill>
                  <a:srgbClr val="F4F7FA"/>
                </a:solidFill>
                <a:latin typeface="Courier New"/>
              </a:rPr>
              <a:t>, </a:t>
            </a:r>
            <a:r>
              <a:rPr sz="1500">
                <a:solidFill>
                  <a:srgbClr val="F4F7FA"/>
                </a:solidFill>
                <a:latin typeface="Courier New"/>
              </a:rPr>
              <a:t>y_valid</a:t>
            </a:r>
            <a:r>
              <a:rPr sz="1500">
                <a:solidFill>
                  <a:srgbClr val="F4F7FA"/>
                </a:solidFill>
                <a:latin typeface="Courier New"/>
              </a:rPr>
              <a:t> = </a:t>
            </a:r>
            <a:r>
              <a:rPr sz="1500">
                <a:solidFill>
                  <a:srgbClr val="F4F7FA"/>
                </a:solidFill>
                <a:latin typeface="Courier New"/>
              </a:rPr>
              <a:t>valid</a:t>
            </a:r>
            <a:r>
              <a:rPr sz="1500">
                <a:solidFill>
                  <a:srgbClr val="F4F7FA"/>
                </a:solidFill>
                <a:latin typeface="Courier New"/>
              </a:rPr>
              <a:t>[</a:t>
            </a:r>
            <a:r>
              <a:rPr sz="1500">
                <a:solidFill>
                  <a:srgbClr val="F4F7FA"/>
                </a:solidFill>
                <a:latin typeface="Courier New"/>
              </a:rPr>
              <a:t>features</a:t>
            </a:r>
            <a:r>
              <a:rPr sz="1500">
                <a:solidFill>
                  <a:srgbClr val="F4F7FA"/>
                </a:solidFill>
                <a:latin typeface="Courier New"/>
              </a:rPr>
              <a:t>], </a:t>
            </a:r>
            <a:r>
              <a:rPr sz="1500">
                <a:solidFill>
                  <a:srgbClr val="F4F7FA"/>
                </a:solidFill>
                <a:latin typeface="Courier New"/>
              </a:rPr>
              <a:t>valid</a:t>
            </a:r>
            <a:r>
              <a:rPr sz="1500">
                <a:solidFill>
                  <a:srgbClr val="F4F7FA"/>
                </a:solidFill>
                <a:latin typeface="Courier New"/>
              </a:rPr>
              <a:t>["</a:t>
            </a:r>
            <a:r>
              <a:rPr sz="1500">
                <a:solidFill>
                  <a:srgbClr val="F4F7FA"/>
                </a:solidFill>
                <a:latin typeface="Courier New"/>
              </a:rPr>
              <a:t>alert</a:t>
            </a:r>
            <a:r>
              <a:rPr sz="1500">
                <a:solidFill>
                  <a:srgbClr val="F4F7FA"/>
                </a:solidFill>
                <a:latin typeface="Courier New"/>
              </a:rPr>
              <a:t>"]</a:t>
            </a:r>
          </a:p>
          <a:p>
            <a:pPr>
              <a:lnSpc>
                <a:spcPts val="1875"/>
              </a:lnSpc>
            </a:pPr>
            <a:r>
              <a:rPr sz="1500">
                <a:solidFill>
                  <a:srgbClr val="FFB080"/>
                </a:solidFill>
                <a:latin typeface="Courier New"/>
              </a:rPr>
              <a:t>print</a:t>
            </a:r>
            <a:r>
              <a:rPr sz="1500">
                <a:solidFill>
                  <a:srgbClr val="F4F7FA"/>
                </a:solidFill>
                <a:latin typeface="Courier New"/>
              </a:rPr>
              <a:t>(</a:t>
            </a:r>
            <a:r>
              <a:rPr sz="1500">
                <a:solidFill>
                  <a:srgbClr val="F4F7FA"/>
                </a:solidFill>
                <a:latin typeface="Courier New"/>
              </a:rPr>
              <a:t>len</a:t>
            </a:r>
            <a:r>
              <a:rPr sz="1500">
                <a:solidFill>
                  <a:srgbClr val="F4F7FA"/>
                </a:solidFill>
                <a:latin typeface="Courier New"/>
              </a:rPr>
              <a:t>(</a:t>
            </a:r>
            <a:r>
              <a:rPr sz="1500">
                <a:solidFill>
                  <a:srgbClr val="F4F7FA"/>
                </a:solidFill>
                <a:latin typeface="Courier New"/>
              </a:rPr>
              <a:t>train</a:t>
            </a:r>
            <a:r>
              <a:rPr sz="1500">
                <a:solidFill>
                  <a:srgbClr val="F4F7FA"/>
                </a:solidFill>
                <a:latin typeface="Courier New"/>
              </a:rPr>
              <a:t>), </a:t>
            </a:r>
            <a:r>
              <a:rPr sz="1500">
                <a:solidFill>
                  <a:srgbClr val="F4F7FA"/>
                </a:solidFill>
                <a:latin typeface="Courier New"/>
              </a:rPr>
              <a:t>len</a:t>
            </a:r>
            <a:r>
              <a:rPr sz="1500">
                <a:solidFill>
                  <a:srgbClr val="F4F7FA"/>
                </a:solidFill>
                <a:latin typeface="Courier New"/>
              </a:rPr>
              <a:t>(</a:t>
            </a:r>
            <a:r>
              <a:rPr sz="1500">
                <a:solidFill>
                  <a:srgbClr val="F4F7FA"/>
                </a:solidFill>
                <a:latin typeface="Courier New"/>
              </a:rPr>
              <a:t>valid</a:t>
            </a:r>
            <a:r>
              <a:rPr sz="1500">
                <a:solidFill>
                  <a:srgbClr val="F4F7FA"/>
                </a:solidFill>
                <a:latin typeface="Courier New"/>
              </a:rPr>
              <a:t>))</a:t>
            </a:r>
          </a:p>
        </p:txBody>
      </p:sp>
      <p:sp>
        <p:nvSpPr>
          <p:cNvPr id="7" name="Rectangle 6"/>
          <p:cNvSpPr/>
          <p:nvPr/>
        </p:nvSpPr>
        <p:spPr>
          <a:xfrm>
            <a:off x="520700" y="3273425"/>
            <a:ext cx="7112000" cy="460375"/>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375025"/>
            <a:ext cx="6858000" cy="307975"/>
          </a:xfrm>
          <a:prstGeom prst="rect">
            <a:avLst/>
          </a:prstGeom>
          <a:noFill/>
        </p:spPr>
        <p:txBody>
          <a:bodyPr wrap="square">
            <a:spAutoFit/>
          </a:bodyPr>
          <a:lstStyle/>
          <a:p>
            <a:r>
              <a:rPr sz="1500">
                <a:solidFill>
                  <a:srgbClr val="1C3144"/>
                </a:solidFill>
                <a:latin typeface="Courier New"/>
              </a:rPr>
              <a:t>58 15</a:t>
            </a:r>
          </a:p>
        </p:txBody>
      </p:sp>
      <p:sp>
        <p:nvSpPr>
          <p:cNvPr id="9" name="TextBox 8"/>
          <p:cNvSpPr txBox="1"/>
          <p:nvPr/>
        </p:nvSpPr>
        <p:spPr>
          <a:xfrm>
            <a:off x="7937500" y="1600200"/>
            <a:ext cx="3810000" cy="330200"/>
          </a:xfrm>
          <a:prstGeom prst="rect">
            <a:avLst/>
          </a:prstGeom>
          <a:noFill/>
        </p:spPr>
        <p:txBody>
          <a:bodyPr wrap="square">
            <a:spAutoFit/>
          </a:bodyPr>
          <a:lstStyle/>
          <a:p>
            <a:pPr>
              <a:spcAft>
                <a:spcPts val="0"/>
              </a:spcAft>
            </a:pPr>
            <a:r>
              <a:rPr sz="1500" b="1">
                <a:solidFill>
                  <a:srgbClr val="2E7D6F"/>
                </a:solidFill>
                <a:latin typeface="Calibri"/>
              </a:rPr>
              <a:t>HOW TO READ IT</a:t>
            </a:r>
          </a:p>
        </p:txBody>
      </p:sp>
      <p:sp>
        <p:nvSpPr>
          <p:cNvPr id="10" name="TextBox 9"/>
          <p:cNvSpPr txBox="1"/>
          <p:nvPr/>
        </p:nvSpPr>
        <p:spPr>
          <a:xfrm>
            <a:off x="7937500" y="1981200"/>
            <a:ext cx="3810000" cy="3810000"/>
          </a:xfrm>
          <a:prstGeom prst="rect">
            <a:avLst/>
          </a:prstGeom>
          <a:noFill/>
        </p:spPr>
        <p:txBody>
          <a:bodyPr wrap="square">
            <a:spAutoFit/>
          </a:bodyPr>
          <a:lstStyle/>
          <a:p>
            <a:pPr>
              <a:spcAft>
                <a:spcPts val="900"/>
              </a:spcAft>
            </a:pPr>
            <a:r>
              <a:rPr sz="1750" b="0">
                <a:solidFill>
                  <a:srgbClr val="1C3144"/>
                </a:solidFill>
                <a:latin typeface="Calibri"/>
              </a:rPr>
              <a:t>train was built on the last slide from groups E1 to E4. E5 validates. E6 stays sealed.</a:t>
            </a:r>
          </a:p>
          <a:p>
            <a:pPr>
              <a:spcAft>
                <a:spcPts val="900"/>
              </a:spcAft>
            </a:pPr>
            <a:r>
              <a:rPr sz="1750" b="0">
                <a:solidFill>
                  <a:srgbClr val="1C3144"/>
                </a:solidFill>
                <a:latin typeface="Calibri"/>
              </a:rPr>
              <a:t>X holds the input columns. y holds the answers.</a:t>
            </a:r>
          </a:p>
          <a:p>
            <a:pPr>
              <a:spcAft>
                <a:spcPts val="900"/>
              </a:spcAft>
            </a:pPr>
            <a:r>
              <a:rPr sz="1750" b="0">
                <a:solidFill>
                  <a:srgbClr val="1C3144"/>
                </a:solidFill>
                <a:latin typeface="Calibri"/>
              </a:rPr>
              <a:t>This time the answer column is alert.</a:t>
            </a:r>
          </a:p>
        </p:txBody>
      </p:sp>
      <p:sp>
        <p:nvSpPr>
          <p:cNvPr id="11" name="TextBox 10"/>
          <p:cNvSpPr txBox="1"/>
          <p:nvPr/>
        </p:nvSpPr>
        <p:spPr>
          <a:xfrm>
            <a:off x="584200" y="5867400"/>
            <a:ext cx="11023600" cy="508000"/>
          </a:xfrm>
          <a:prstGeom prst="rect">
            <a:avLst/>
          </a:prstGeom>
          <a:noFill/>
        </p:spPr>
        <p:txBody>
          <a:bodyPr wrap="square">
            <a:spAutoFit/>
          </a:bodyPr>
          <a:lstStyle/>
          <a:p>
            <a:pPr>
              <a:spcAft>
                <a:spcPts val="0"/>
              </a:spcAft>
            </a:pPr>
            <a:r>
              <a:rPr sz="1750" b="1">
                <a:solidFill>
                  <a:srgbClr val="2E7D6F"/>
                </a:solidFill>
                <a:latin typeface="Calibri"/>
              </a:rPr>
              <a:t>X is a table of features. y is the column of answers.</a:t>
            </a:r>
          </a:p>
        </p:txBody>
      </p:sp>
      <p:sp>
        <p:nvSpPr>
          <p:cNvPr id="12" name="TextBox 11"/>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9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WORKED EXAMPLE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Fitting a classifier and reading its probabilities</a:t>
            </a:r>
          </a:p>
        </p:txBody>
      </p:sp>
      <p:sp>
        <p:nvSpPr>
          <p:cNvPr id="5" name="Rectangle 4"/>
          <p:cNvSpPr/>
          <p:nvPr/>
        </p:nvSpPr>
        <p:spPr>
          <a:xfrm>
            <a:off x="520700" y="1600200"/>
            <a:ext cx="7112000" cy="3038475"/>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1727200"/>
            <a:ext cx="6858000" cy="2809875"/>
          </a:xfrm>
          <a:prstGeom prst="rect">
            <a:avLst/>
          </a:prstGeom>
          <a:noFill/>
        </p:spPr>
        <p:txBody>
          <a:bodyPr wrap="square">
            <a:spAutoFit/>
          </a:bodyPr>
          <a:lstStyle/>
          <a:p>
            <a:pPr>
              <a:lnSpc>
                <a:spcPts val="1625"/>
              </a:lnSpc>
            </a:pPr>
            <a:r>
              <a:rPr sz="1300">
                <a:solidFill>
                  <a:srgbClr val="F4F7FA"/>
                </a:solidFill>
                <a:latin typeface="Courier New"/>
              </a:rPr>
              <a:t>from</a:t>
            </a:r>
            <a:r>
              <a:rPr sz="1300">
                <a:solidFill>
                  <a:srgbClr val="F4F7FA"/>
                </a:solidFill>
                <a:latin typeface="Courier New"/>
              </a:rPr>
              <a:t> </a:t>
            </a:r>
            <a:r>
              <a:rPr sz="1300">
                <a:solidFill>
                  <a:srgbClr val="F4F7FA"/>
                </a:solidFill>
                <a:latin typeface="Courier New"/>
              </a:rPr>
              <a:t>sklearn</a:t>
            </a:r>
            <a:r>
              <a:rPr sz="1300">
                <a:solidFill>
                  <a:srgbClr val="F4F7FA"/>
                </a:solidFill>
                <a:latin typeface="Courier New"/>
              </a:rPr>
              <a:t>.</a:t>
            </a:r>
            <a:r>
              <a:rPr sz="1300">
                <a:solidFill>
                  <a:srgbClr val="F4F7FA"/>
                </a:solidFill>
                <a:latin typeface="Courier New"/>
              </a:rPr>
              <a:t>pipeline</a:t>
            </a:r>
            <a:r>
              <a:rPr sz="1300">
                <a:solidFill>
                  <a:srgbClr val="F4F7FA"/>
                </a:solidFill>
                <a:latin typeface="Courier New"/>
              </a:rPr>
              <a:t> </a:t>
            </a:r>
            <a:r>
              <a:rPr sz="1300">
                <a:solidFill>
                  <a:srgbClr val="FFB080"/>
                </a:solidFill>
                <a:latin typeface="Courier New"/>
              </a:rPr>
              <a:t>import</a:t>
            </a:r>
            <a:r>
              <a:rPr sz="1300">
                <a:solidFill>
                  <a:srgbClr val="F4F7FA"/>
                </a:solidFill>
                <a:latin typeface="Courier New"/>
              </a:rPr>
              <a:t> </a:t>
            </a:r>
            <a:r>
              <a:rPr sz="1300">
                <a:solidFill>
                  <a:srgbClr val="F4F7FA"/>
                </a:solidFill>
                <a:latin typeface="Courier New"/>
              </a:rPr>
              <a:t>make_pipeline</a:t>
            </a:r>
          </a:p>
          <a:p>
            <a:pPr>
              <a:lnSpc>
                <a:spcPts val="1625"/>
              </a:lnSpc>
            </a:pPr>
            <a:r>
              <a:rPr sz="1300">
                <a:solidFill>
                  <a:srgbClr val="F4F7FA"/>
                </a:solidFill>
                <a:latin typeface="Courier New"/>
              </a:rPr>
              <a:t>from</a:t>
            </a:r>
            <a:r>
              <a:rPr sz="1300">
                <a:solidFill>
                  <a:srgbClr val="F4F7FA"/>
                </a:solidFill>
                <a:latin typeface="Courier New"/>
              </a:rPr>
              <a:t> </a:t>
            </a:r>
            <a:r>
              <a:rPr sz="1300">
                <a:solidFill>
                  <a:srgbClr val="F4F7FA"/>
                </a:solidFill>
                <a:latin typeface="Courier New"/>
              </a:rPr>
              <a:t>sklearn</a:t>
            </a:r>
            <a:r>
              <a:rPr sz="1300">
                <a:solidFill>
                  <a:srgbClr val="F4F7FA"/>
                </a:solidFill>
                <a:latin typeface="Courier New"/>
              </a:rPr>
              <a:t>.</a:t>
            </a:r>
            <a:r>
              <a:rPr sz="1300">
                <a:solidFill>
                  <a:srgbClr val="F4F7FA"/>
                </a:solidFill>
                <a:latin typeface="Courier New"/>
              </a:rPr>
              <a:t>impute</a:t>
            </a:r>
            <a:r>
              <a:rPr sz="1300">
                <a:solidFill>
                  <a:srgbClr val="F4F7FA"/>
                </a:solidFill>
                <a:latin typeface="Courier New"/>
              </a:rPr>
              <a:t> </a:t>
            </a:r>
            <a:r>
              <a:rPr sz="1300">
                <a:solidFill>
                  <a:srgbClr val="FFB080"/>
                </a:solidFill>
                <a:latin typeface="Courier New"/>
              </a:rPr>
              <a:t>import</a:t>
            </a:r>
            <a:r>
              <a:rPr sz="1300">
                <a:solidFill>
                  <a:srgbClr val="F4F7FA"/>
                </a:solidFill>
                <a:latin typeface="Courier New"/>
              </a:rPr>
              <a:t> </a:t>
            </a:r>
            <a:r>
              <a:rPr sz="1300">
                <a:solidFill>
                  <a:srgbClr val="F4F7FA"/>
                </a:solidFill>
                <a:latin typeface="Courier New"/>
              </a:rPr>
              <a:t>SimpleImputer</a:t>
            </a:r>
          </a:p>
          <a:p>
            <a:pPr>
              <a:lnSpc>
                <a:spcPts val="1625"/>
              </a:lnSpc>
            </a:pPr>
            <a:r>
              <a:rPr sz="1300">
                <a:solidFill>
                  <a:srgbClr val="F4F7FA"/>
                </a:solidFill>
                <a:latin typeface="Courier New"/>
              </a:rPr>
              <a:t>from</a:t>
            </a:r>
            <a:r>
              <a:rPr sz="1300">
                <a:solidFill>
                  <a:srgbClr val="F4F7FA"/>
                </a:solidFill>
                <a:latin typeface="Courier New"/>
              </a:rPr>
              <a:t> </a:t>
            </a:r>
            <a:r>
              <a:rPr sz="1300">
                <a:solidFill>
                  <a:srgbClr val="F4F7FA"/>
                </a:solidFill>
                <a:latin typeface="Courier New"/>
              </a:rPr>
              <a:t>sklearn</a:t>
            </a:r>
            <a:r>
              <a:rPr sz="1300">
                <a:solidFill>
                  <a:srgbClr val="F4F7FA"/>
                </a:solidFill>
                <a:latin typeface="Courier New"/>
              </a:rPr>
              <a:t>.</a:t>
            </a:r>
            <a:r>
              <a:rPr sz="1300">
                <a:solidFill>
                  <a:srgbClr val="F4F7FA"/>
                </a:solidFill>
                <a:latin typeface="Courier New"/>
              </a:rPr>
              <a:t>preprocessing</a:t>
            </a:r>
            <a:r>
              <a:rPr sz="1300">
                <a:solidFill>
                  <a:srgbClr val="F4F7FA"/>
                </a:solidFill>
                <a:latin typeface="Courier New"/>
              </a:rPr>
              <a:t> </a:t>
            </a:r>
            <a:r>
              <a:rPr sz="1300">
                <a:solidFill>
                  <a:srgbClr val="FFB080"/>
                </a:solidFill>
                <a:latin typeface="Courier New"/>
              </a:rPr>
              <a:t>import</a:t>
            </a:r>
            <a:r>
              <a:rPr sz="1300">
                <a:solidFill>
                  <a:srgbClr val="F4F7FA"/>
                </a:solidFill>
                <a:latin typeface="Courier New"/>
              </a:rPr>
              <a:t> </a:t>
            </a:r>
            <a:r>
              <a:rPr sz="1300">
                <a:solidFill>
                  <a:srgbClr val="F4F7FA"/>
                </a:solidFill>
                <a:latin typeface="Courier New"/>
              </a:rPr>
              <a:t>StandardScaler</a:t>
            </a:r>
          </a:p>
          <a:p>
            <a:pPr>
              <a:lnSpc>
                <a:spcPts val="1625"/>
              </a:lnSpc>
            </a:pPr>
            <a:r>
              <a:rPr sz="1300">
                <a:solidFill>
                  <a:srgbClr val="F4F7FA"/>
                </a:solidFill>
                <a:latin typeface="Courier New"/>
              </a:rPr>
              <a:t>from</a:t>
            </a:r>
            <a:r>
              <a:rPr sz="1300">
                <a:solidFill>
                  <a:srgbClr val="F4F7FA"/>
                </a:solidFill>
                <a:latin typeface="Courier New"/>
              </a:rPr>
              <a:t> </a:t>
            </a:r>
            <a:r>
              <a:rPr sz="1300">
                <a:solidFill>
                  <a:srgbClr val="F4F7FA"/>
                </a:solidFill>
                <a:latin typeface="Courier New"/>
              </a:rPr>
              <a:t>sklearn</a:t>
            </a:r>
            <a:r>
              <a:rPr sz="1300">
                <a:solidFill>
                  <a:srgbClr val="F4F7FA"/>
                </a:solidFill>
                <a:latin typeface="Courier New"/>
              </a:rPr>
              <a:t>.</a:t>
            </a:r>
            <a:r>
              <a:rPr sz="1300">
                <a:solidFill>
                  <a:srgbClr val="F4F7FA"/>
                </a:solidFill>
                <a:latin typeface="Courier New"/>
              </a:rPr>
              <a:t>linear_model</a:t>
            </a:r>
            <a:r>
              <a:rPr sz="1300">
                <a:solidFill>
                  <a:srgbClr val="F4F7FA"/>
                </a:solidFill>
                <a:latin typeface="Courier New"/>
              </a:rPr>
              <a:t> </a:t>
            </a:r>
            <a:r>
              <a:rPr sz="1300">
                <a:solidFill>
                  <a:srgbClr val="FFB080"/>
                </a:solidFill>
                <a:latin typeface="Courier New"/>
              </a:rPr>
              <a:t>import</a:t>
            </a:r>
            <a:r>
              <a:rPr sz="1300">
                <a:solidFill>
                  <a:srgbClr val="F4F7FA"/>
                </a:solidFill>
                <a:latin typeface="Courier New"/>
              </a:rPr>
              <a:t> </a:t>
            </a:r>
            <a:r>
              <a:rPr sz="1300">
                <a:solidFill>
                  <a:srgbClr val="F4F7FA"/>
                </a:solidFill>
                <a:latin typeface="Courier New"/>
              </a:rPr>
              <a:t>LogisticRegression</a:t>
            </a:r>
          </a:p>
          <a:p>
            <a:pPr>
              <a:lnSpc>
                <a:spcPts val="1625"/>
              </a:lnSpc>
            </a:pPr>
            <a:r>
              <a:rPr sz="1300">
                <a:solidFill>
                  <a:srgbClr val="F4F7FA"/>
                </a:solidFill>
                <a:latin typeface="Courier New"/>
              </a:rPr>
              <a:t>model</a:t>
            </a:r>
            <a:r>
              <a:rPr sz="1300">
                <a:solidFill>
                  <a:srgbClr val="F4F7FA"/>
                </a:solidFill>
                <a:latin typeface="Courier New"/>
              </a:rPr>
              <a:t> = </a:t>
            </a:r>
            <a:r>
              <a:rPr sz="1300">
                <a:solidFill>
                  <a:srgbClr val="F4F7FA"/>
                </a:solidFill>
                <a:latin typeface="Courier New"/>
              </a:rPr>
              <a:t>make_pipeline</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SimpleImputer</a:t>
            </a:r>
            <a:r>
              <a:rPr sz="1300">
                <a:solidFill>
                  <a:srgbClr val="F4F7FA"/>
                </a:solidFill>
                <a:latin typeface="Courier New"/>
              </a:rPr>
              <a:t>(</a:t>
            </a:r>
            <a:r>
              <a:rPr sz="1300">
                <a:solidFill>
                  <a:srgbClr val="F4F7FA"/>
                </a:solidFill>
                <a:latin typeface="Courier New"/>
              </a:rPr>
              <a:t>strategy</a:t>
            </a:r>
            <a:r>
              <a:rPr sz="1300">
                <a:solidFill>
                  <a:srgbClr val="F4F7FA"/>
                </a:solidFill>
                <a:latin typeface="Courier New"/>
              </a:rPr>
              <a:t>="</a:t>
            </a:r>
            <a:r>
              <a:rPr sz="1300">
                <a:solidFill>
                  <a:srgbClr val="F4F7FA"/>
                </a:solidFill>
                <a:latin typeface="Courier New"/>
              </a:rPr>
              <a:t>median</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StandardScaler</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LogisticRegression</a:t>
            </a:r>
            <a:r>
              <a:rPr sz="1300">
                <a:solidFill>
                  <a:srgbClr val="F4F7FA"/>
                </a:solidFill>
                <a:latin typeface="Courier New"/>
              </a:rPr>
              <a:t>(),</a:t>
            </a:r>
          </a:p>
          <a:p>
            <a:pPr>
              <a:lnSpc>
                <a:spcPts val="1625"/>
              </a:lnSpc>
            </a:pPr>
            <a:r>
              <a:rPr sz="1300">
                <a:solidFill>
                  <a:srgbClr val="F4F7FA"/>
                </a:solidFill>
                <a:latin typeface="Courier New"/>
              </a:rPr>
              <a:t>)</a:t>
            </a:r>
          </a:p>
          <a:p>
            <a:pPr>
              <a:lnSpc>
                <a:spcPts val="1625"/>
              </a:lnSpc>
            </a:pPr>
            <a:r>
              <a:rPr sz="1300">
                <a:solidFill>
                  <a:srgbClr val="F4F7FA"/>
                </a:solidFill>
                <a:latin typeface="Courier New"/>
              </a:rPr>
              <a:t>model</a:t>
            </a:r>
            <a:r>
              <a:rPr sz="1300">
                <a:solidFill>
                  <a:srgbClr val="F4F7FA"/>
                </a:solidFill>
                <a:latin typeface="Courier New"/>
              </a:rPr>
              <a:t>.</a:t>
            </a:r>
            <a:r>
              <a:rPr sz="1300">
                <a:solidFill>
                  <a:srgbClr val="F4F7FA"/>
                </a:solidFill>
                <a:latin typeface="Courier New"/>
              </a:rPr>
              <a:t>fit</a:t>
            </a:r>
            <a:r>
              <a:rPr sz="1300">
                <a:solidFill>
                  <a:srgbClr val="F4F7FA"/>
                </a:solidFill>
                <a:latin typeface="Courier New"/>
              </a:rPr>
              <a:t>(</a:t>
            </a:r>
            <a:r>
              <a:rPr sz="1300">
                <a:solidFill>
                  <a:srgbClr val="F4F7FA"/>
                </a:solidFill>
                <a:latin typeface="Courier New"/>
              </a:rPr>
              <a:t>X_train</a:t>
            </a:r>
            <a:r>
              <a:rPr sz="1300">
                <a:solidFill>
                  <a:srgbClr val="F4F7FA"/>
                </a:solidFill>
                <a:latin typeface="Courier New"/>
              </a:rPr>
              <a:t>, </a:t>
            </a:r>
            <a:r>
              <a:rPr sz="1300">
                <a:solidFill>
                  <a:srgbClr val="F4F7FA"/>
                </a:solidFill>
                <a:latin typeface="Courier New"/>
              </a:rPr>
              <a:t>y_train</a:t>
            </a:r>
            <a:r>
              <a:rPr sz="1300">
                <a:solidFill>
                  <a:srgbClr val="F4F7FA"/>
                </a:solidFill>
                <a:latin typeface="Courier New"/>
              </a:rPr>
              <a:t>)</a:t>
            </a:r>
          </a:p>
          <a:p>
            <a:pPr>
              <a:lnSpc>
                <a:spcPts val="1625"/>
              </a:lnSpc>
            </a:pPr>
            <a:r>
              <a:rPr sz="1300">
                <a:solidFill>
                  <a:srgbClr val="F4F7FA"/>
                </a:solidFill>
                <a:latin typeface="Courier New"/>
              </a:rPr>
              <a:t>probability</a:t>
            </a:r>
            <a:r>
              <a:rPr sz="1300">
                <a:solidFill>
                  <a:srgbClr val="F4F7FA"/>
                </a:solidFill>
                <a:latin typeface="Courier New"/>
              </a:rPr>
              <a:t> = </a:t>
            </a:r>
            <a:r>
              <a:rPr sz="1300">
                <a:solidFill>
                  <a:srgbClr val="F4F7FA"/>
                </a:solidFill>
                <a:latin typeface="Courier New"/>
              </a:rPr>
              <a:t>model</a:t>
            </a:r>
            <a:r>
              <a:rPr sz="1300">
                <a:solidFill>
                  <a:srgbClr val="F4F7FA"/>
                </a:solidFill>
                <a:latin typeface="Courier New"/>
              </a:rPr>
              <a:t>.</a:t>
            </a:r>
            <a:r>
              <a:rPr sz="1300">
                <a:solidFill>
                  <a:srgbClr val="F4F7FA"/>
                </a:solidFill>
                <a:latin typeface="Courier New"/>
              </a:rPr>
              <a:t>predict_proba</a:t>
            </a:r>
            <a:r>
              <a:rPr sz="1300">
                <a:solidFill>
                  <a:srgbClr val="F4F7FA"/>
                </a:solidFill>
                <a:latin typeface="Courier New"/>
              </a:rPr>
              <a:t>(</a:t>
            </a:r>
            <a:r>
              <a:rPr sz="1300">
                <a:solidFill>
                  <a:srgbClr val="F4F7FA"/>
                </a:solidFill>
                <a:latin typeface="Courier New"/>
              </a:rPr>
              <a:t>X_valid</a:t>
            </a:r>
            <a:r>
              <a:rPr sz="1300">
                <a:solidFill>
                  <a:srgbClr val="F4F7FA"/>
                </a:solidFill>
                <a:latin typeface="Courier New"/>
              </a:rPr>
              <a:t>)[:, </a:t>
            </a:r>
            <a:r>
              <a:rPr sz="1300">
                <a:solidFill>
                  <a:srgbClr val="F4F7FA"/>
                </a:solidFill>
                <a:latin typeface="Courier New"/>
              </a:rPr>
              <a:t>1</a:t>
            </a:r>
            <a:r>
              <a:rPr sz="1300">
                <a:solidFill>
                  <a:srgbClr val="F4F7FA"/>
                </a:solidFill>
                <a:latin typeface="Courier New"/>
              </a:rPr>
              <a:t>]</a:t>
            </a:r>
          </a:p>
          <a:p>
            <a:pPr>
              <a:lnSpc>
                <a:spcPts val="1625"/>
              </a:lnSpc>
            </a:pPr>
            <a:r>
              <a:rPr sz="1300">
                <a:solidFill>
                  <a:srgbClr val="FFB080"/>
                </a:solidFill>
                <a:latin typeface="Courier New"/>
              </a:rPr>
              <a:t>print</a:t>
            </a:r>
            <a:r>
              <a:rPr sz="1300">
                <a:solidFill>
                  <a:srgbClr val="F4F7FA"/>
                </a:solidFill>
                <a:latin typeface="Courier New"/>
              </a:rPr>
              <a:t>(</a:t>
            </a:r>
            <a:r>
              <a:rPr sz="1300">
                <a:solidFill>
                  <a:srgbClr val="F4F7FA"/>
                </a:solidFill>
                <a:latin typeface="Courier New"/>
              </a:rPr>
              <a:t>probability</a:t>
            </a:r>
            <a:r>
              <a:rPr sz="1300">
                <a:solidFill>
                  <a:srgbClr val="F4F7FA"/>
                </a:solidFill>
                <a:latin typeface="Courier New"/>
              </a:rPr>
              <a:t>[:</a:t>
            </a:r>
            <a:r>
              <a:rPr sz="1300">
                <a:solidFill>
                  <a:srgbClr val="F4F7FA"/>
                </a:solidFill>
                <a:latin typeface="Courier New"/>
              </a:rPr>
              <a:t>5</a:t>
            </a:r>
            <a:r>
              <a:rPr sz="1300">
                <a:solidFill>
                  <a:srgbClr val="F4F7FA"/>
                </a:solidFill>
                <a:latin typeface="Courier New"/>
              </a:rPr>
              <a:t>].</a:t>
            </a:r>
            <a:r>
              <a:rPr sz="1300">
                <a:solidFill>
                  <a:srgbClr val="F4F7FA"/>
                </a:solidFill>
                <a:latin typeface="Courier New"/>
              </a:rPr>
              <a:t>round</a:t>
            </a:r>
            <a:r>
              <a:rPr sz="1300">
                <a:solidFill>
                  <a:srgbClr val="F4F7FA"/>
                </a:solidFill>
                <a:latin typeface="Courier New"/>
              </a:rPr>
              <a:t>(</a:t>
            </a:r>
            <a:r>
              <a:rPr sz="1300">
                <a:solidFill>
                  <a:srgbClr val="F4F7FA"/>
                </a:solidFill>
                <a:latin typeface="Courier New"/>
              </a:rPr>
              <a:t>3</a:t>
            </a:r>
            <a:r>
              <a:rPr sz="1300">
                <a:solidFill>
                  <a:srgbClr val="F4F7FA"/>
                </a:solidFill>
                <a:latin typeface="Courier New"/>
              </a:rPr>
              <a:t>))</a:t>
            </a:r>
          </a:p>
          <a:p>
            <a:pPr>
              <a:lnSpc>
                <a:spcPts val="1625"/>
              </a:lnSpc>
            </a:pPr>
            <a:r>
              <a:rPr sz="1300">
                <a:solidFill>
                  <a:srgbClr val="FFB080"/>
                </a:solidFill>
                <a:latin typeface="Courier New"/>
              </a:rPr>
              <a:t>print</a:t>
            </a:r>
            <a:r>
              <a:rPr sz="1300">
                <a:solidFill>
                  <a:srgbClr val="F4F7FA"/>
                </a:solidFill>
                <a:latin typeface="Courier New"/>
              </a:rPr>
              <a:t>(</a:t>
            </a:r>
            <a:r>
              <a:rPr sz="1300">
                <a:solidFill>
                  <a:srgbClr val="F4F7FA"/>
                </a:solidFill>
                <a:latin typeface="Courier New"/>
              </a:rPr>
              <a:t>y_valid</a:t>
            </a:r>
            <a:r>
              <a:rPr sz="1300">
                <a:solidFill>
                  <a:srgbClr val="F4F7FA"/>
                </a:solidFill>
                <a:latin typeface="Courier New"/>
              </a:rPr>
              <a:t>.</a:t>
            </a:r>
            <a:r>
              <a:rPr sz="1300">
                <a:solidFill>
                  <a:srgbClr val="F4F7FA"/>
                </a:solidFill>
                <a:latin typeface="Courier New"/>
              </a:rPr>
              <a:t>to_list</a:t>
            </a:r>
            <a:r>
              <a:rPr sz="1300">
                <a:solidFill>
                  <a:srgbClr val="F4F7FA"/>
                </a:solidFill>
                <a:latin typeface="Courier New"/>
              </a:rPr>
              <a:t>()[:</a:t>
            </a:r>
            <a:r>
              <a:rPr sz="1300">
                <a:solidFill>
                  <a:srgbClr val="F4F7FA"/>
                </a:solidFill>
                <a:latin typeface="Courier New"/>
              </a:rPr>
              <a:t>5</a:t>
            </a:r>
            <a:r>
              <a:rPr sz="1300">
                <a:solidFill>
                  <a:srgbClr val="F4F7FA"/>
                </a:solidFill>
                <a:latin typeface="Courier New"/>
              </a:rPr>
              <a:t>])</a:t>
            </a:r>
          </a:p>
        </p:txBody>
      </p:sp>
      <p:sp>
        <p:nvSpPr>
          <p:cNvPr id="7" name="Rectangle 6"/>
          <p:cNvSpPr/>
          <p:nvPr/>
        </p:nvSpPr>
        <p:spPr>
          <a:xfrm>
            <a:off x="520700" y="4765675"/>
            <a:ext cx="7112000" cy="68326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4867275"/>
            <a:ext cx="6858000" cy="530860"/>
          </a:xfrm>
          <a:prstGeom prst="rect">
            <a:avLst/>
          </a:prstGeom>
          <a:noFill/>
        </p:spPr>
        <p:txBody>
          <a:bodyPr wrap="square">
            <a:spAutoFit/>
          </a:bodyPr>
          <a:lstStyle/>
          <a:p>
            <a:r>
              <a:rPr sz="1400">
                <a:solidFill>
                  <a:srgbClr val="1C3144"/>
                </a:solidFill>
                <a:latin typeface="Courier New"/>
              </a:rPr>
              <a:t>[0.177 0.017 0.53  0.007 0.062]</a:t>
            </a:r>
          </a:p>
          <a:p>
            <a:r>
              <a:rPr sz="1400">
                <a:solidFill>
                  <a:srgbClr val="1C3144"/>
                </a:solidFill>
                <a:latin typeface="Courier New"/>
              </a:rPr>
              <a:t>[0, 0, 1, 0, 0]</a:t>
            </a:r>
          </a:p>
        </p:txBody>
      </p:sp>
      <p:sp>
        <p:nvSpPr>
          <p:cNvPr id="9" name="TextBox 8"/>
          <p:cNvSpPr txBox="1"/>
          <p:nvPr/>
        </p:nvSpPr>
        <p:spPr>
          <a:xfrm>
            <a:off x="7937500" y="1600200"/>
            <a:ext cx="3810000" cy="330200"/>
          </a:xfrm>
          <a:prstGeom prst="rect">
            <a:avLst/>
          </a:prstGeom>
          <a:noFill/>
        </p:spPr>
        <p:txBody>
          <a:bodyPr wrap="square">
            <a:spAutoFit/>
          </a:bodyPr>
          <a:lstStyle/>
          <a:p>
            <a:pPr>
              <a:spcAft>
                <a:spcPts val="0"/>
              </a:spcAft>
            </a:pPr>
            <a:r>
              <a:rPr sz="1500" b="1">
                <a:solidFill>
                  <a:srgbClr val="2E7D6F"/>
                </a:solidFill>
                <a:latin typeface="Calibri"/>
              </a:rPr>
              <a:t>HOW TO READ IT</a:t>
            </a:r>
          </a:p>
        </p:txBody>
      </p:sp>
      <p:sp>
        <p:nvSpPr>
          <p:cNvPr id="10" name="TextBox 9"/>
          <p:cNvSpPr txBox="1"/>
          <p:nvPr/>
        </p:nvSpPr>
        <p:spPr>
          <a:xfrm>
            <a:off x="7937500" y="1981200"/>
            <a:ext cx="3810000" cy="3810000"/>
          </a:xfrm>
          <a:prstGeom prst="rect">
            <a:avLst/>
          </a:prstGeom>
          <a:noFill/>
        </p:spPr>
        <p:txBody>
          <a:bodyPr wrap="square">
            <a:spAutoFit/>
          </a:bodyPr>
          <a:lstStyle/>
          <a:p>
            <a:pPr>
              <a:spcAft>
                <a:spcPts val="900"/>
              </a:spcAft>
            </a:pPr>
            <a:r>
              <a:rPr sz="1750" b="0">
                <a:solidFill>
                  <a:srgbClr val="1C3144"/>
                </a:solidFill>
                <a:latin typeface="Calibri"/>
              </a:rPr>
              <a:t>make_pipeline lists the steps in order: fill blanks, scale, classify.</a:t>
            </a:r>
          </a:p>
          <a:p>
            <a:pPr>
              <a:spcAft>
                <a:spcPts val="900"/>
              </a:spcAft>
            </a:pPr>
            <a:r>
              <a:rPr sz="1750" b="0">
                <a:solidFill>
                  <a:srgbClr val="1C3144"/>
                </a:solidFill>
                <a:latin typeface="Calibri"/>
              </a:rPr>
              <a:t>predict_proba returns two columns: the chance of class 0 and of class 1.</a:t>
            </a:r>
          </a:p>
          <a:p>
            <a:pPr>
              <a:spcAft>
                <a:spcPts val="900"/>
              </a:spcAft>
            </a:pPr>
            <a:r>
              <a:rPr sz="1750" b="0">
                <a:solidFill>
                  <a:srgbClr val="1C3144"/>
                </a:solidFill>
                <a:latin typeface="Calibri"/>
              </a:rPr>
              <a:t>[:, 1] keeps the second column, the probability of an alert.</a:t>
            </a:r>
          </a:p>
          <a:p>
            <a:pPr>
              <a:spcAft>
                <a:spcPts val="900"/>
              </a:spcAft>
            </a:pPr>
            <a:r>
              <a:rPr sz="1750" b="0">
                <a:solidFill>
                  <a:srgbClr val="1C3144"/>
                </a:solidFill>
                <a:latin typeface="Calibri"/>
              </a:rPr>
              <a:t>[:5] shows the first five validation rows.</a:t>
            </a:r>
          </a:p>
        </p:txBody>
      </p:sp>
      <p:sp>
        <p:nvSpPr>
          <p:cNvPr id="11" name="TextBox 10"/>
          <p:cNvSpPr txBox="1"/>
          <p:nvPr/>
        </p:nvSpPr>
        <p:spPr>
          <a:xfrm>
            <a:off x="584200" y="5867400"/>
            <a:ext cx="11023600" cy="508000"/>
          </a:xfrm>
          <a:prstGeom prst="rect">
            <a:avLst/>
          </a:prstGeom>
          <a:noFill/>
        </p:spPr>
        <p:txBody>
          <a:bodyPr wrap="square">
            <a:spAutoFit/>
          </a:bodyPr>
          <a:lstStyle/>
          <a:p>
            <a:pPr>
              <a:spcAft>
                <a:spcPts val="0"/>
              </a:spcAft>
            </a:pPr>
            <a:r>
              <a:rPr sz="1750" b="1">
                <a:solidFill>
                  <a:srgbClr val="2E7D6F"/>
                </a:solidFill>
                <a:latin typeface="Calibri"/>
              </a:rPr>
              <a:t>fit learns from the training rows. predict_proba answers for rows the model has not seen.</a:t>
            </a:r>
          </a:p>
        </p:txBody>
      </p:sp>
      <p:sp>
        <p:nvSpPr>
          <p:cNvPr id="12" name="TextBox 11"/>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9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ONE IDEA AT A TIME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A threshold turns a probability into a decision</a:t>
            </a:r>
          </a:p>
        </p:txBody>
      </p:sp>
      <p:graphicFrame>
        <p:nvGraphicFramePr>
          <p:cNvPr id="5" name="Table 4"/>
          <p:cNvGraphicFramePr>
            <a:graphicFrameLocks noGrp="1"/>
          </p:cNvGraphicFramePr>
          <p:nvPr/>
        </p:nvGraphicFramePr>
        <p:xfrm>
          <a:off x="584200" y="1625600"/>
          <a:ext cx="11023600" cy="3810000"/>
        </p:xfrm>
        <a:graphic>
          <a:graphicData uri="http://schemas.openxmlformats.org/drawingml/2006/table">
            <a:tbl>
              <a:tblPr firstRow="0" bandRow="0">
                <a:tableStyleId>{5C22544A-7EE6-4342-B048-85BDC9FD1C3A}</a:tableStyleId>
              </a:tblPr>
              <a:tblGrid>
                <a:gridCol w="1778000"/>
                <a:gridCol w="2667000"/>
                <a:gridCol w="2540000"/>
                <a:gridCol w="2159000"/>
                <a:gridCol w="1879600"/>
              </a:tblGrid>
              <a:tr h="635000">
                <a:tc>
                  <a:txBody>
                    <a:bodyPr wrap="square"/>
                    <a:lstStyle/>
                    <a:p>
                      <a:r>
                        <a:rPr sz="1900" b="1">
                          <a:solidFill>
                            <a:srgbClr val="FFFFFF"/>
                          </a:solidFill>
                          <a:latin typeface="Calibri"/>
                        </a:rPr>
                        <a:t>Validation row</a:t>
                      </a:r>
                    </a:p>
                  </a:txBody>
                  <a:tcPr marL="101600" marR="101600" marT="38100" marB="38100" anchor="ctr">
                    <a:solidFill>
                      <a:srgbClr val="2E7D6F"/>
                    </a:solidFill>
                  </a:tcPr>
                </a:tc>
                <a:tc>
                  <a:txBody>
                    <a:bodyPr wrap="square"/>
                    <a:lstStyle/>
                    <a:p>
                      <a:r>
                        <a:rPr sz="1900" b="1">
                          <a:solidFill>
                            <a:srgbClr val="FFFFFF"/>
                          </a:solidFill>
                          <a:latin typeface="Calibri"/>
                        </a:rPr>
                        <a:t>Probability of alert</a:t>
                      </a:r>
                    </a:p>
                  </a:txBody>
                  <a:tcPr marL="101600" marR="101600" marT="38100" marB="38100" anchor="ctr">
                    <a:solidFill>
                      <a:srgbClr val="2E7D6F"/>
                    </a:solidFill>
                  </a:tcPr>
                </a:tc>
                <a:tc>
                  <a:txBody>
                    <a:bodyPr wrap="square"/>
                    <a:lstStyle/>
                    <a:p>
                      <a:r>
                        <a:rPr sz="1900" b="1">
                          <a:solidFill>
                            <a:srgbClr val="FFFFFF"/>
                          </a:solidFill>
                          <a:latin typeface="Calibri"/>
                        </a:rPr>
                        <a:t>Decision at 0.5</a:t>
                      </a:r>
                    </a:p>
                  </a:txBody>
                  <a:tcPr marL="101600" marR="101600" marT="38100" marB="38100" anchor="ctr">
                    <a:solidFill>
                      <a:srgbClr val="2E7D6F"/>
                    </a:solidFill>
                  </a:tcPr>
                </a:tc>
                <a:tc>
                  <a:txBody>
                    <a:bodyPr wrap="square"/>
                    <a:lstStyle/>
                    <a:p>
                      <a:r>
                        <a:rPr sz="1900" b="1">
                          <a:solidFill>
                            <a:srgbClr val="FFFFFF"/>
                          </a:solidFill>
                          <a:latin typeface="Calibri"/>
                        </a:rPr>
                        <a:t>Actual alert</a:t>
                      </a:r>
                    </a:p>
                  </a:txBody>
                  <a:tcPr marL="101600" marR="101600" marT="38100" marB="38100" anchor="ctr">
                    <a:solidFill>
                      <a:srgbClr val="2E7D6F"/>
                    </a:solidFill>
                  </a:tcPr>
                </a:tc>
                <a:tc>
                  <a:txBody>
                    <a:bodyPr wrap="square"/>
                    <a:lstStyle/>
                    <a:p>
                      <a:r>
                        <a:rPr sz="1900" b="1">
                          <a:solidFill>
                            <a:srgbClr val="FFFFFF"/>
                          </a:solidFill>
                          <a:latin typeface="Calibri"/>
                        </a:rPr>
                        <a:t>Correct?</a:t>
                      </a:r>
                    </a:p>
                  </a:txBody>
                  <a:tcPr marL="101600" marR="101600" marT="38100" marB="38100" anchor="ctr">
                    <a:solidFill>
                      <a:srgbClr val="2E7D6F"/>
                    </a:solidFill>
                  </a:tcPr>
                </a:tc>
              </a:tr>
              <a:tr h="635000">
                <a:tc>
                  <a:txBody>
                    <a:bodyPr wrap="square"/>
                    <a:lstStyle/>
                    <a:p>
                      <a:r>
                        <a:rPr sz="1900" b="1">
                          <a:solidFill>
                            <a:srgbClr val="1C3144"/>
                          </a:solidFill>
                          <a:latin typeface="Calibri"/>
                        </a:rPr>
                        <a:t>1</a:t>
                      </a:r>
                    </a:p>
                  </a:txBody>
                  <a:tcPr marL="101600" marR="101600" marT="38100" marB="38100" anchor="ctr">
                    <a:solidFill>
                      <a:srgbClr val="EEF3F6"/>
                    </a:solidFill>
                  </a:tcPr>
                </a:tc>
                <a:tc>
                  <a:txBody>
                    <a:bodyPr wrap="square"/>
                    <a:lstStyle/>
                    <a:p>
                      <a:r>
                        <a:rPr sz="1900" b="0">
                          <a:solidFill>
                            <a:srgbClr val="1C3144"/>
                          </a:solidFill>
                          <a:latin typeface="Calibri"/>
                        </a:rPr>
                        <a:t>0.177</a:t>
                      </a:r>
                    </a:p>
                  </a:txBody>
                  <a:tcPr marL="101600" marR="101600" marT="38100" marB="38100" anchor="ctr">
                    <a:solidFill>
                      <a:srgbClr val="EEF3F6"/>
                    </a:solidFill>
                  </a:tcPr>
                </a:tc>
                <a:tc>
                  <a:txBody>
                    <a:bodyPr wrap="square"/>
                    <a:lstStyle/>
                    <a:p>
                      <a:r>
                        <a:rPr sz="1900" b="0">
                          <a:solidFill>
                            <a:srgbClr val="1C3144"/>
                          </a:solidFill>
                          <a:latin typeface="Calibri"/>
                        </a:rPr>
                        <a:t>no alert</a:t>
                      </a:r>
                    </a:p>
                  </a:txBody>
                  <a:tcPr marL="101600" marR="101600" marT="38100" marB="38100" anchor="ctr">
                    <a:solidFill>
                      <a:srgbClr val="EEF3F6"/>
                    </a:solidFill>
                  </a:tcPr>
                </a:tc>
                <a:tc>
                  <a:txBody>
                    <a:bodyPr wrap="square"/>
                    <a:lstStyle/>
                    <a:p>
                      <a:r>
                        <a:rPr sz="1900" b="0">
                          <a:solidFill>
                            <a:srgbClr val="1C3144"/>
                          </a:solidFill>
                          <a:latin typeface="Calibri"/>
                        </a:rPr>
                        <a:t>no alert</a:t>
                      </a:r>
                    </a:p>
                  </a:txBody>
                  <a:tcPr marL="101600" marR="101600" marT="38100" marB="38100" anchor="ctr">
                    <a:solidFill>
                      <a:srgbClr val="EEF3F6"/>
                    </a:solidFill>
                  </a:tcPr>
                </a:tc>
                <a:tc>
                  <a:txBody>
                    <a:bodyPr wrap="square"/>
                    <a:lstStyle/>
                    <a:p>
                      <a:r>
                        <a:rPr sz="1900" b="0">
                          <a:solidFill>
                            <a:srgbClr val="1C3144"/>
                          </a:solidFill>
                          <a:latin typeface="Calibri"/>
                        </a:rPr>
                        <a:t>yes</a:t>
                      </a:r>
                    </a:p>
                  </a:txBody>
                  <a:tcPr marL="101600" marR="101600" marT="38100" marB="38100" anchor="ctr">
                    <a:solidFill>
                      <a:srgbClr val="EEF3F6"/>
                    </a:solidFill>
                  </a:tcPr>
                </a:tc>
              </a:tr>
              <a:tr h="635000">
                <a:tc>
                  <a:txBody>
                    <a:bodyPr wrap="square"/>
                    <a:lstStyle/>
                    <a:p>
                      <a:r>
                        <a:rPr sz="1900" b="1">
                          <a:solidFill>
                            <a:srgbClr val="1C3144"/>
                          </a:solidFill>
                          <a:latin typeface="Calibri"/>
                        </a:rPr>
                        <a:t>2</a:t>
                      </a:r>
                    </a:p>
                  </a:txBody>
                  <a:tcPr marL="101600" marR="101600" marT="38100" marB="38100" anchor="ctr">
                    <a:solidFill>
                      <a:srgbClr val="FFFFFF"/>
                    </a:solidFill>
                  </a:tcPr>
                </a:tc>
                <a:tc>
                  <a:txBody>
                    <a:bodyPr wrap="square"/>
                    <a:lstStyle/>
                    <a:p>
                      <a:r>
                        <a:rPr sz="1900" b="0">
                          <a:solidFill>
                            <a:srgbClr val="1C3144"/>
                          </a:solidFill>
                          <a:latin typeface="Calibri"/>
                        </a:rPr>
                        <a:t>0.017</a:t>
                      </a:r>
                    </a:p>
                  </a:txBody>
                  <a:tcPr marL="101600" marR="101600" marT="38100" marB="38100" anchor="ctr">
                    <a:solidFill>
                      <a:srgbClr val="FFFFFF"/>
                    </a:solidFill>
                  </a:tcPr>
                </a:tc>
                <a:tc>
                  <a:txBody>
                    <a:bodyPr wrap="square"/>
                    <a:lstStyle/>
                    <a:p>
                      <a:r>
                        <a:rPr sz="1900" b="0">
                          <a:solidFill>
                            <a:srgbClr val="1C3144"/>
                          </a:solidFill>
                          <a:latin typeface="Calibri"/>
                        </a:rPr>
                        <a:t>no alert</a:t>
                      </a:r>
                    </a:p>
                  </a:txBody>
                  <a:tcPr marL="101600" marR="101600" marT="38100" marB="38100" anchor="ctr">
                    <a:solidFill>
                      <a:srgbClr val="FFFFFF"/>
                    </a:solidFill>
                  </a:tcPr>
                </a:tc>
                <a:tc>
                  <a:txBody>
                    <a:bodyPr wrap="square"/>
                    <a:lstStyle/>
                    <a:p>
                      <a:r>
                        <a:rPr sz="1900" b="0">
                          <a:solidFill>
                            <a:srgbClr val="1C3144"/>
                          </a:solidFill>
                          <a:latin typeface="Calibri"/>
                        </a:rPr>
                        <a:t>no alert</a:t>
                      </a:r>
                    </a:p>
                  </a:txBody>
                  <a:tcPr marL="101600" marR="101600" marT="38100" marB="38100" anchor="ctr">
                    <a:solidFill>
                      <a:srgbClr val="FFFFFF"/>
                    </a:solidFill>
                  </a:tcPr>
                </a:tc>
                <a:tc>
                  <a:txBody>
                    <a:bodyPr wrap="square"/>
                    <a:lstStyle/>
                    <a:p>
                      <a:r>
                        <a:rPr sz="1900" b="0">
                          <a:solidFill>
                            <a:srgbClr val="1C3144"/>
                          </a:solidFill>
                          <a:latin typeface="Calibri"/>
                        </a:rPr>
                        <a:t>yes</a:t>
                      </a:r>
                    </a:p>
                  </a:txBody>
                  <a:tcPr marL="101600" marR="101600" marT="38100" marB="38100" anchor="ctr">
                    <a:solidFill>
                      <a:srgbClr val="FFFFFF"/>
                    </a:solidFill>
                  </a:tcPr>
                </a:tc>
              </a:tr>
              <a:tr h="635000">
                <a:tc>
                  <a:txBody>
                    <a:bodyPr wrap="square"/>
                    <a:lstStyle/>
                    <a:p>
                      <a:r>
                        <a:rPr sz="1900" b="1">
                          <a:solidFill>
                            <a:srgbClr val="1C3144"/>
                          </a:solidFill>
                          <a:latin typeface="Calibri"/>
                        </a:rPr>
                        <a:t>3</a:t>
                      </a:r>
                    </a:p>
                  </a:txBody>
                  <a:tcPr marL="101600" marR="101600" marT="38100" marB="38100" anchor="ctr">
                    <a:solidFill>
                      <a:srgbClr val="EEF3F6"/>
                    </a:solidFill>
                  </a:tcPr>
                </a:tc>
                <a:tc>
                  <a:txBody>
                    <a:bodyPr wrap="square"/>
                    <a:lstStyle/>
                    <a:p>
                      <a:r>
                        <a:rPr sz="1900" b="0">
                          <a:solidFill>
                            <a:srgbClr val="1C3144"/>
                          </a:solidFill>
                          <a:latin typeface="Calibri"/>
                        </a:rPr>
                        <a:t>0.530</a:t>
                      </a:r>
                    </a:p>
                  </a:txBody>
                  <a:tcPr marL="101600" marR="101600" marT="38100" marB="38100" anchor="ctr">
                    <a:solidFill>
                      <a:srgbClr val="EEF3F6"/>
                    </a:solidFill>
                  </a:tcPr>
                </a:tc>
                <a:tc>
                  <a:txBody>
                    <a:bodyPr wrap="square"/>
                    <a:lstStyle/>
                    <a:p>
                      <a:r>
                        <a:rPr sz="1900" b="0">
                          <a:solidFill>
                            <a:srgbClr val="1C3144"/>
                          </a:solidFill>
                          <a:latin typeface="Calibri"/>
                        </a:rPr>
                        <a:t>alert</a:t>
                      </a:r>
                    </a:p>
                  </a:txBody>
                  <a:tcPr marL="101600" marR="101600" marT="38100" marB="38100" anchor="ctr">
                    <a:solidFill>
                      <a:srgbClr val="EEF3F6"/>
                    </a:solidFill>
                  </a:tcPr>
                </a:tc>
                <a:tc>
                  <a:txBody>
                    <a:bodyPr wrap="square"/>
                    <a:lstStyle/>
                    <a:p>
                      <a:r>
                        <a:rPr sz="1900" b="0">
                          <a:solidFill>
                            <a:srgbClr val="1C3144"/>
                          </a:solidFill>
                          <a:latin typeface="Calibri"/>
                        </a:rPr>
                        <a:t>alert</a:t>
                      </a:r>
                    </a:p>
                  </a:txBody>
                  <a:tcPr marL="101600" marR="101600" marT="38100" marB="38100" anchor="ctr">
                    <a:solidFill>
                      <a:srgbClr val="EEF3F6"/>
                    </a:solidFill>
                  </a:tcPr>
                </a:tc>
                <a:tc>
                  <a:txBody>
                    <a:bodyPr wrap="square"/>
                    <a:lstStyle/>
                    <a:p>
                      <a:r>
                        <a:rPr sz="1900" b="0">
                          <a:solidFill>
                            <a:srgbClr val="1C3144"/>
                          </a:solidFill>
                          <a:latin typeface="Calibri"/>
                        </a:rPr>
                        <a:t>yes</a:t>
                      </a:r>
                    </a:p>
                  </a:txBody>
                  <a:tcPr marL="101600" marR="101600" marT="38100" marB="38100" anchor="ctr">
                    <a:solidFill>
                      <a:srgbClr val="EEF3F6"/>
                    </a:solidFill>
                  </a:tcPr>
                </a:tc>
              </a:tr>
              <a:tr h="635000">
                <a:tc>
                  <a:txBody>
                    <a:bodyPr wrap="square"/>
                    <a:lstStyle/>
                    <a:p>
                      <a:r>
                        <a:rPr sz="1900" b="1">
                          <a:solidFill>
                            <a:srgbClr val="1C3144"/>
                          </a:solidFill>
                          <a:latin typeface="Calibri"/>
                        </a:rPr>
                        <a:t>4</a:t>
                      </a:r>
                    </a:p>
                  </a:txBody>
                  <a:tcPr marL="101600" marR="101600" marT="38100" marB="38100" anchor="ctr">
                    <a:solidFill>
                      <a:srgbClr val="FFFFFF"/>
                    </a:solidFill>
                  </a:tcPr>
                </a:tc>
                <a:tc>
                  <a:txBody>
                    <a:bodyPr wrap="square"/>
                    <a:lstStyle/>
                    <a:p>
                      <a:r>
                        <a:rPr sz="1900" b="0">
                          <a:solidFill>
                            <a:srgbClr val="1C3144"/>
                          </a:solidFill>
                          <a:latin typeface="Calibri"/>
                        </a:rPr>
                        <a:t>0.007</a:t>
                      </a:r>
                    </a:p>
                  </a:txBody>
                  <a:tcPr marL="101600" marR="101600" marT="38100" marB="38100" anchor="ctr">
                    <a:solidFill>
                      <a:srgbClr val="FFFFFF"/>
                    </a:solidFill>
                  </a:tcPr>
                </a:tc>
                <a:tc>
                  <a:txBody>
                    <a:bodyPr wrap="square"/>
                    <a:lstStyle/>
                    <a:p>
                      <a:r>
                        <a:rPr sz="1900" b="0">
                          <a:solidFill>
                            <a:srgbClr val="1C3144"/>
                          </a:solidFill>
                          <a:latin typeface="Calibri"/>
                        </a:rPr>
                        <a:t>no alert</a:t>
                      </a:r>
                    </a:p>
                  </a:txBody>
                  <a:tcPr marL="101600" marR="101600" marT="38100" marB="38100" anchor="ctr">
                    <a:solidFill>
                      <a:srgbClr val="FFFFFF"/>
                    </a:solidFill>
                  </a:tcPr>
                </a:tc>
                <a:tc>
                  <a:txBody>
                    <a:bodyPr wrap="square"/>
                    <a:lstStyle/>
                    <a:p>
                      <a:r>
                        <a:rPr sz="1900" b="0">
                          <a:solidFill>
                            <a:srgbClr val="1C3144"/>
                          </a:solidFill>
                          <a:latin typeface="Calibri"/>
                        </a:rPr>
                        <a:t>no alert</a:t>
                      </a:r>
                    </a:p>
                  </a:txBody>
                  <a:tcPr marL="101600" marR="101600" marT="38100" marB="38100" anchor="ctr">
                    <a:solidFill>
                      <a:srgbClr val="FFFFFF"/>
                    </a:solidFill>
                  </a:tcPr>
                </a:tc>
                <a:tc>
                  <a:txBody>
                    <a:bodyPr wrap="square"/>
                    <a:lstStyle/>
                    <a:p>
                      <a:r>
                        <a:rPr sz="1900" b="0">
                          <a:solidFill>
                            <a:srgbClr val="1C3144"/>
                          </a:solidFill>
                          <a:latin typeface="Calibri"/>
                        </a:rPr>
                        <a:t>yes</a:t>
                      </a:r>
                    </a:p>
                  </a:txBody>
                  <a:tcPr marL="101600" marR="101600" marT="38100" marB="38100" anchor="ctr">
                    <a:solidFill>
                      <a:srgbClr val="FFFFFF"/>
                    </a:solidFill>
                  </a:tcPr>
                </a:tc>
              </a:tr>
              <a:tr h="635000">
                <a:tc>
                  <a:txBody>
                    <a:bodyPr wrap="square"/>
                    <a:lstStyle/>
                    <a:p>
                      <a:r>
                        <a:rPr sz="1900" b="1">
                          <a:solidFill>
                            <a:srgbClr val="1C3144"/>
                          </a:solidFill>
                          <a:latin typeface="Calibri"/>
                        </a:rPr>
                        <a:t>5</a:t>
                      </a:r>
                    </a:p>
                  </a:txBody>
                  <a:tcPr marL="101600" marR="101600" marT="38100" marB="38100" anchor="ctr">
                    <a:solidFill>
                      <a:srgbClr val="EEF3F6"/>
                    </a:solidFill>
                  </a:tcPr>
                </a:tc>
                <a:tc>
                  <a:txBody>
                    <a:bodyPr wrap="square"/>
                    <a:lstStyle/>
                    <a:p>
                      <a:r>
                        <a:rPr sz="1900" b="0">
                          <a:solidFill>
                            <a:srgbClr val="1C3144"/>
                          </a:solidFill>
                          <a:latin typeface="Calibri"/>
                        </a:rPr>
                        <a:t>0.062</a:t>
                      </a:r>
                    </a:p>
                  </a:txBody>
                  <a:tcPr marL="101600" marR="101600" marT="38100" marB="38100" anchor="ctr">
                    <a:solidFill>
                      <a:srgbClr val="EEF3F6"/>
                    </a:solidFill>
                  </a:tcPr>
                </a:tc>
                <a:tc>
                  <a:txBody>
                    <a:bodyPr wrap="square"/>
                    <a:lstStyle/>
                    <a:p>
                      <a:r>
                        <a:rPr sz="1900" b="0">
                          <a:solidFill>
                            <a:srgbClr val="1C3144"/>
                          </a:solidFill>
                          <a:latin typeface="Calibri"/>
                        </a:rPr>
                        <a:t>no alert</a:t>
                      </a:r>
                    </a:p>
                  </a:txBody>
                  <a:tcPr marL="101600" marR="101600" marT="38100" marB="38100" anchor="ctr">
                    <a:solidFill>
                      <a:srgbClr val="EEF3F6"/>
                    </a:solidFill>
                  </a:tcPr>
                </a:tc>
                <a:tc>
                  <a:txBody>
                    <a:bodyPr wrap="square"/>
                    <a:lstStyle/>
                    <a:p>
                      <a:r>
                        <a:rPr sz="1900" b="0">
                          <a:solidFill>
                            <a:srgbClr val="1C3144"/>
                          </a:solidFill>
                          <a:latin typeface="Calibri"/>
                        </a:rPr>
                        <a:t>no alert</a:t>
                      </a:r>
                    </a:p>
                  </a:txBody>
                  <a:tcPr marL="101600" marR="101600" marT="38100" marB="38100" anchor="ctr">
                    <a:solidFill>
                      <a:srgbClr val="EEF3F6"/>
                    </a:solidFill>
                  </a:tcPr>
                </a:tc>
                <a:tc>
                  <a:txBody>
                    <a:bodyPr wrap="square"/>
                    <a:lstStyle/>
                    <a:p>
                      <a:r>
                        <a:rPr sz="1900" b="0">
                          <a:solidFill>
                            <a:srgbClr val="1C3144"/>
                          </a:solidFill>
                          <a:latin typeface="Calibri"/>
                        </a:rPr>
                        <a:t>yes</a:t>
                      </a:r>
                    </a:p>
                  </a:txBody>
                  <a:tcPr marL="101600" marR="101600" marT="38100" marB="38100" anchor="ctr">
                    <a:solidFill>
                      <a:srgbClr val="EEF3F6"/>
                    </a:solidFill>
                  </a:tcPr>
                </a:tc>
              </a:tr>
            </a:tbl>
          </a:graphicData>
        </a:graphic>
      </p:graphicFrame>
      <p:sp>
        <p:nvSpPr>
          <p:cNvPr id="6" name="TextBox 5"/>
          <p:cNvSpPr txBox="1"/>
          <p:nvPr/>
        </p:nvSpPr>
        <p:spPr>
          <a:xfrm>
            <a:off x="584200" y="5613400"/>
            <a:ext cx="11023600" cy="812800"/>
          </a:xfrm>
          <a:prstGeom prst="rect">
            <a:avLst/>
          </a:prstGeom>
          <a:noFill/>
        </p:spPr>
        <p:txBody>
          <a:bodyPr wrap="square">
            <a:spAutoFit/>
          </a:bodyPr>
          <a:lstStyle/>
          <a:p>
            <a:pPr>
              <a:spcAft>
                <a:spcPts val="400"/>
              </a:spcAft>
            </a:pPr>
            <a:r>
              <a:rPr sz="1900" b="1">
                <a:solidFill>
                  <a:srgbClr val="1C3144"/>
                </a:solidFill>
                <a:latin typeface="Calibri"/>
              </a:rPr>
              <a:t>decision = alert when probability ≥ 0.5, otherwise no alert</a:t>
            </a:r>
          </a:p>
          <a:p>
            <a:pPr>
              <a:spcAft>
                <a:spcPts val="400"/>
              </a:spcAft>
            </a:pPr>
            <a:r>
              <a:rPr sz="1900" b="0">
                <a:solidFill>
                  <a:srgbClr val="1C3144"/>
                </a:solidFill>
                <a:latin typeface="Calibri"/>
              </a:rPr>
              <a:t>Lowering the threshold raises more alerts. Raising it raises fewer.</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9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WORDS WE USE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Words for scoring the answers</a:t>
            </a:r>
          </a:p>
        </p:txBody>
      </p:sp>
      <p:graphicFrame>
        <p:nvGraphicFramePr>
          <p:cNvPr id="5" name="Table 4"/>
          <p:cNvGraphicFramePr>
            <a:graphicFrameLocks noGrp="1"/>
          </p:cNvGraphicFramePr>
          <p:nvPr/>
        </p:nvGraphicFramePr>
        <p:xfrm>
          <a:off x="584200" y="1625600"/>
          <a:ext cx="11023600" cy="4622800"/>
        </p:xfrm>
        <a:graphic>
          <a:graphicData uri="http://schemas.openxmlformats.org/drawingml/2006/table">
            <a:tbl>
              <a:tblPr firstRow="0" bandRow="0">
                <a:tableStyleId>{5C22544A-7EE6-4342-B048-85BDC9FD1C3A}</a:tableStyleId>
              </a:tblPr>
              <a:tblGrid>
                <a:gridCol w="2794000"/>
                <a:gridCol w="5334000"/>
                <a:gridCol w="2895600"/>
              </a:tblGrid>
              <a:tr h="660400">
                <a:tc>
                  <a:txBody>
                    <a:bodyPr wrap="square"/>
                    <a:lstStyle/>
                    <a:p>
                      <a:r>
                        <a:rPr sz="1700" b="1">
                          <a:solidFill>
                            <a:srgbClr val="FFFFFF"/>
                          </a:solidFill>
                          <a:latin typeface="Calibri"/>
                        </a:rPr>
                        <a:t>Word</a:t>
                      </a:r>
                    </a:p>
                  </a:txBody>
                  <a:tcPr marL="101600" marR="101600" marT="38100" marB="38100" anchor="ctr">
                    <a:solidFill>
                      <a:srgbClr val="2E7D6F"/>
                    </a:solidFill>
                  </a:tcPr>
                </a:tc>
                <a:tc>
                  <a:txBody>
                    <a:bodyPr wrap="square"/>
                    <a:lstStyle/>
                    <a:p>
                      <a:r>
                        <a:rPr sz="1700" b="1">
                          <a:solidFill>
                            <a:srgbClr val="FFFFFF"/>
                          </a:solidFill>
                          <a:latin typeface="Calibri"/>
                        </a:rPr>
                        <a:t>Plain meaning</a:t>
                      </a:r>
                    </a:p>
                  </a:txBody>
                  <a:tcPr marL="101600" marR="101600" marT="38100" marB="38100" anchor="ctr">
                    <a:solidFill>
                      <a:srgbClr val="2E7D6F"/>
                    </a:solidFill>
                  </a:tcPr>
                </a:tc>
                <a:tc>
                  <a:txBody>
                    <a:bodyPr wrap="square"/>
                    <a:lstStyle/>
                    <a:p>
                      <a:r>
                        <a:rPr sz="1700" b="1">
                          <a:solidFill>
                            <a:srgbClr val="FFFFFF"/>
                          </a:solidFill>
                          <a:latin typeface="Calibri"/>
                        </a:rPr>
                        <a:t>Example from today</a:t>
                      </a:r>
                    </a:p>
                  </a:txBody>
                  <a:tcPr marL="101600" marR="101600" marT="38100" marB="38100" anchor="ctr">
                    <a:solidFill>
                      <a:srgbClr val="2E7D6F"/>
                    </a:solidFill>
                  </a:tcPr>
                </a:tc>
              </a:tr>
              <a:tr h="660400">
                <a:tc>
                  <a:txBody>
                    <a:bodyPr wrap="square"/>
                    <a:lstStyle/>
                    <a:p>
                      <a:r>
                        <a:rPr sz="1700" b="1">
                          <a:solidFill>
                            <a:srgbClr val="1C3144"/>
                          </a:solidFill>
                          <a:latin typeface="Calibri"/>
                        </a:rPr>
                        <a:t>Positive and negative</a:t>
                      </a:r>
                    </a:p>
                  </a:txBody>
                  <a:tcPr marL="101600" marR="101600" marT="38100" marB="38100" anchor="ctr">
                    <a:solidFill>
                      <a:srgbClr val="EEF3F6"/>
                    </a:solidFill>
                  </a:tcPr>
                </a:tc>
                <a:tc>
                  <a:txBody>
                    <a:bodyPr wrap="square"/>
                    <a:lstStyle/>
                    <a:p>
                      <a:r>
                        <a:rPr sz="1700" b="0">
                          <a:solidFill>
                            <a:srgbClr val="1C3144"/>
                          </a:solidFill>
                          <a:latin typeface="Calibri"/>
                        </a:rPr>
                        <a:t>Positive is the class we look for. Negative is the other class.</a:t>
                      </a:r>
                    </a:p>
                  </a:txBody>
                  <a:tcPr marL="101600" marR="101600" marT="38100" marB="38100" anchor="ctr">
                    <a:solidFill>
                      <a:srgbClr val="EEF3F6"/>
                    </a:solidFill>
                  </a:tcPr>
                </a:tc>
                <a:tc>
                  <a:txBody>
                    <a:bodyPr wrap="square"/>
                    <a:lstStyle/>
                    <a:p>
                      <a:r>
                        <a:rPr sz="1700" b="0">
                          <a:solidFill>
                            <a:srgbClr val="1C3144"/>
                          </a:solidFill>
                          <a:latin typeface="Calibri"/>
                        </a:rPr>
                        <a:t>Positive = alert</a:t>
                      </a:r>
                    </a:p>
                  </a:txBody>
                  <a:tcPr marL="101600" marR="101600" marT="38100" marB="38100" anchor="ctr">
                    <a:solidFill>
                      <a:srgbClr val="EEF3F6"/>
                    </a:solidFill>
                  </a:tcPr>
                </a:tc>
              </a:tr>
              <a:tr h="660400">
                <a:tc>
                  <a:txBody>
                    <a:bodyPr wrap="square"/>
                    <a:lstStyle/>
                    <a:p>
                      <a:r>
                        <a:rPr sz="1700" b="1">
                          <a:solidFill>
                            <a:srgbClr val="1C3144"/>
                          </a:solidFill>
                          <a:latin typeface="Calibri"/>
                        </a:rPr>
                        <a:t>True positive (TP)</a:t>
                      </a:r>
                    </a:p>
                  </a:txBody>
                  <a:tcPr marL="101600" marR="101600" marT="38100" marB="38100" anchor="ctr">
                    <a:solidFill>
                      <a:srgbClr val="FFFFFF"/>
                    </a:solidFill>
                  </a:tcPr>
                </a:tc>
                <a:tc>
                  <a:txBody>
                    <a:bodyPr wrap="square"/>
                    <a:lstStyle/>
                    <a:p>
                      <a:r>
                        <a:rPr sz="1700" b="0">
                          <a:solidFill>
                            <a:srgbClr val="1C3144"/>
                          </a:solidFill>
                          <a:latin typeface="Calibri"/>
                        </a:rPr>
                        <a:t>The model said alert, and it was an alert.</a:t>
                      </a:r>
                    </a:p>
                  </a:txBody>
                  <a:tcPr marL="101600" marR="101600" marT="38100" marB="38100" anchor="ctr">
                    <a:solidFill>
                      <a:srgbClr val="FFFFFF"/>
                    </a:solidFill>
                  </a:tcPr>
                </a:tc>
                <a:tc>
                  <a:txBody>
                    <a:bodyPr wrap="square"/>
                    <a:lstStyle/>
                    <a:p>
                      <a:r>
                        <a:rPr sz="1700" b="0">
                          <a:solidFill>
                            <a:srgbClr val="1C3144"/>
                          </a:solidFill>
                          <a:latin typeface="Calibri"/>
                        </a:rPr>
                        <a:t>Alert raised, limit really passed</a:t>
                      </a:r>
                    </a:p>
                  </a:txBody>
                  <a:tcPr marL="101600" marR="101600" marT="38100" marB="38100" anchor="ctr">
                    <a:solidFill>
                      <a:srgbClr val="FFFFFF"/>
                    </a:solidFill>
                  </a:tcPr>
                </a:tc>
              </a:tr>
              <a:tr h="660400">
                <a:tc>
                  <a:txBody>
                    <a:bodyPr wrap="square"/>
                    <a:lstStyle/>
                    <a:p>
                      <a:r>
                        <a:rPr sz="1700" b="1">
                          <a:solidFill>
                            <a:srgbClr val="1C3144"/>
                          </a:solidFill>
                          <a:latin typeface="Calibri"/>
                        </a:rPr>
                        <a:t>False positive (FP)</a:t>
                      </a:r>
                    </a:p>
                  </a:txBody>
                  <a:tcPr marL="101600" marR="101600" marT="38100" marB="38100" anchor="ctr">
                    <a:solidFill>
                      <a:srgbClr val="EEF3F6"/>
                    </a:solidFill>
                  </a:tcPr>
                </a:tc>
                <a:tc>
                  <a:txBody>
                    <a:bodyPr wrap="square"/>
                    <a:lstStyle/>
                    <a:p>
                      <a:r>
                        <a:rPr sz="1700" b="0">
                          <a:solidFill>
                            <a:srgbClr val="1C3144"/>
                          </a:solidFill>
                          <a:latin typeface="Calibri"/>
                        </a:rPr>
                        <a:t>The model said alert, but it was not. A false alarm.</a:t>
                      </a:r>
                    </a:p>
                  </a:txBody>
                  <a:tcPr marL="101600" marR="101600" marT="38100" marB="38100" anchor="ctr">
                    <a:solidFill>
                      <a:srgbClr val="EEF3F6"/>
                    </a:solidFill>
                  </a:tcPr>
                </a:tc>
                <a:tc>
                  <a:txBody>
                    <a:bodyPr wrap="square"/>
                    <a:lstStyle/>
                    <a:p>
                      <a:r>
                        <a:rPr sz="1700" b="0">
                          <a:solidFill>
                            <a:srgbClr val="1C3144"/>
                          </a:solidFill>
                          <a:latin typeface="Calibri"/>
                        </a:rPr>
                        <a:t>Alert raised, nothing wrong</a:t>
                      </a:r>
                    </a:p>
                  </a:txBody>
                  <a:tcPr marL="101600" marR="101600" marT="38100" marB="38100" anchor="ctr">
                    <a:solidFill>
                      <a:srgbClr val="EEF3F6"/>
                    </a:solidFill>
                  </a:tcPr>
                </a:tc>
              </a:tr>
              <a:tr h="660400">
                <a:tc>
                  <a:txBody>
                    <a:bodyPr wrap="square"/>
                    <a:lstStyle/>
                    <a:p>
                      <a:r>
                        <a:rPr sz="1700" b="1">
                          <a:solidFill>
                            <a:srgbClr val="1C3144"/>
                          </a:solidFill>
                          <a:latin typeface="Calibri"/>
                        </a:rPr>
                        <a:t>False negative (FN)</a:t>
                      </a:r>
                    </a:p>
                  </a:txBody>
                  <a:tcPr marL="101600" marR="101600" marT="38100" marB="38100" anchor="ctr">
                    <a:solidFill>
                      <a:srgbClr val="FFFFFF"/>
                    </a:solidFill>
                  </a:tcPr>
                </a:tc>
                <a:tc>
                  <a:txBody>
                    <a:bodyPr wrap="square"/>
                    <a:lstStyle/>
                    <a:p>
                      <a:r>
                        <a:rPr sz="1700" b="0">
                          <a:solidFill>
                            <a:srgbClr val="1C3144"/>
                          </a:solidFill>
                          <a:latin typeface="Calibri"/>
                        </a:rPr>
                        <a:t>The model said no alert, but it was one. A missed alert.</a:t>
                      </a:r>
                    </a:p>
                  </a:txBody>
                  <a:tcPr marL="101600" marR="101600" marT="38100" marB="38100" anchor="ctr">
                    <a:solidFill>
                      <a:srgbClr val="FFFFFF"/>
                    </a:solidFill>
                  </a:tcPr>
                </a:tc>
                <a:tc>
                  <a:txBody>
                    <a:bodyPr wrap="square"/>
                    <a:lstStyle/>
                    <a:p>
                      <a:r>
                        <a:rPr sz="1700" b="0">
                          <a:solidFill>
                            <a:srgbClr val="1C3144"/>
                          </a:solidFill>
                          <a:latin typeface="Calibri"/>
                        </a:rPr>
                        <a:t>Limit passed, no alert raised</a:t>
                      </a:r>
                    </a:p>
                  </a:txBody>
                  <a:tcPr marL="101600" marR="101600" marT="38100" marB="38100" anchor="ctr">
                    <a:solidFill>
                      <a:srgbClr val="FFFFFF"/>
                    </a:solidFill>
                  </a:tcPr>
                </a:tc>
              </a:tr>
              <a:tr h="660400">
                <a:tc>
                  <a:txBody>
                    <a:bodyPr wrap="square"/>
                    <a:lstStyle/>
                    <a:p>
                      <a:r>
                        <a:rPr sz="1700" b="1">
                          <a:solidFill>
                            <a:srgbClr val="1C3144"/>
                          </a:solidFill>
                          <a:latin typeface="Calibri"/>
                        </a:rPr>
                        <a:t>True negative (TN)</a:t>
                      </a:r>
                    </a:p>
                  </a:txBody>
                  <a:tcPr marL="101600" marR="101600" marT="38100" marB="38100" anchor="ctr">
                    <a:solidFill>
                      <a:srgbClr val="EEF3F6"/>
                    </a:solidFill>
                  </a:tcPr>
                </a:tc>
                <a:tc>
                  <a:txBody>
                    <a:bodyPr wrap="square"/>
                    <a:lstStyle/>
                    <a:p>
                      <a:r>
                        <a:rPr sz="1700" b="0">
                          <a:solidFill>
                            <a:srgbClr val="1C3144"/>
                          </a:solidFill>
                          <a:latin typeface="Calibri"/>
                        </a:rPr>
                        <a:t>The model said no alert, and it was no alert.</a:t>
                      </a:r>
                    </a:p>
                  </a:txBody>
                  <a:tcPr marL="101600" marR="101600" marT="38100" marB="38100" anchor="ctr">
                    <a:solidFill>
                      <a:srgbClr val="EEF3F6"/>
                    </a:solidFill>
                  </a:tcPr>
                </a:tc>
                <a:tc>
                  <a:txBody>
                    <a:bodyPr wrap="square"/>
                    <a:lstStyle/>
                    <a:p>
                      <a:r>
                        <a:rPr sz="1700" b="0">
                          <a:solidFill>
                            <a:srgbClr val="1C3144"/>
                          </a:solidFill>
                          <a:latin typeface="Calibri"/>
                        </a:rPr>
                        <a:t>Quiet and correct</a:t>
                      </a:r>
                    </a:p>
                  </a:txBody>
                  <a:tcPr marL="101600" marR="101600" marT="38100" marB="38100" anchor="ctr">
                    <a:solidFill>
                      <a:srgbClr val="EEF3F6"/>
                    </a:solidFill>
                  </a:tcPr>
                </a:tc>
              </a:tr>
              <a:tr h="660400">
                <a:tc>
                  <a:txBody>
                    <a:bodyPr wrap="square"/>
                    <a:lstStyle/>
                    <a:p>
                      <a:r>
                        <a:rPr sz="1700" b="1">
                          <a:solidFill>
                            <a:srgbClr val="1C3144"/>
                          </a:solidFill>
                          <a:latin typeface="Calibri"/>
                        </a:rPr>
                        <a:t>Confusion matrix</a:t>
                      </a:r>
                    </a:p>
                  </a:txBody>
                  <a:tcPr marL="101600" marR="101600" marT="38100" marB="38100" anchor="ctr">
                    <a:solidFill>
                      <a:srgbClr val="FFFFFF"/>
                    </a:solidFill>
                  </a:tcPr>
                </a:tc>
                <a:tc>
                  <a:txBody>
                    <a:bodyPr wrap="square"/>
                    <a:lstStyle/>
                    <a:p>
                      <a:r>
                        <a:rPr sz="1700" b="0">
                          <a:solidFill>
                            <a:srgbClr val="1C3144"/>
                          </a:solidFill>
                          <a:latin typeface="Calibri"/>
                        </a:rPr>
                        <a:t>A 2 by 2 table of the four counts.</a:t>
                      </a:r>
                    </a:p>
                  </a:txBody>
                  <a:tcPr marL="101600" marR="101600" marT="38100" marB="38100" anchor="ctr">
                    <a:solidFill>
                      <a:srgbClr val="FFFFFF"/>
                    </a:solidFill>
                  </a:tcPr>
                </a:tc>
                <a:tc>
                  <a:txBody>
                    <a:bodyPr wrap="square"/>
                    <a:lstStyle/>
                    <a:p>
                      <a:r>
                        <a:rPr sz="1700" b="0">
                          <a:solidFill>
                            <a:srgbClr val="1C3144"/>
                          </a:solidFill>
                          <a:latin typeface="Calibri"/>
                        </a:rPr>
                        <a:t>Next slides</a:t>
                      </a:r>
                    </a:p>
                  </a:txBody>
                  <a:tcPr marL="101600" marR="101600" marT="38100" marB="38100" anchor="ctr">
                    <a:solidFill>
                      <a:srgbClr val="FFFFFF"/>
                    </a:solidFill>
                  </a:tcPr>
                </a:tc>
              </a:tr>
            </a:tbl>
          </a:graphicData>
        </a:graphic>
      </p:graphicFrame>
      <p:sp>
        <p:nvSpPr>
          <p:cNvPr id="6" name="TextBox 5"/>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9   13</a:t>
            </a:r>
          </a:p>
        </p:txBody>
      </p:sp>
    </p:spTree>
  </p:cSld>
  <p:clrMapOvr>
    <a:masterClrMapping/>
  </p:clrMapOvr>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C44CE36-F17E-4727-837D-6C2A0E275B6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158355C-504A-4E6C-8D1D-FA3C522B03B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8AFDB8E5-965D-4F39-A12C-3DDDE2D4EF5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Loading the supplied observations</a:t>
            </a:r>
          </a:p>
        </p:txBody>
      </p:sp>
      <p:sp>
        <p:nvSpPr>
          <p:cNvPr id="4" name="">
            <a:extLst xmlns:a="http://schemas.openxmlformats.org/drawingml/2006/main">
              <a:ext uri="{FF2B5EF4-FFF2-40B4-BE49-F238E27FC236}">
                <a16:creationId xmlns:a16="http://schemas.microsoft.com/office/drawing/2014/main" id="{32E9E888-D6C3-44BC-9CD7-C8AC730B881C}"/>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83A44F1F-B34A-4650-8B8F-2A56D91D9E7E}"/>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pandas as pd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raw_data = pd.read_csv("class</a:t>
            </a:r>
            <a:r>
              <a:rPr sz="1875" b="0">
                <a:solidFill>
                  <a:srgbClr val="FFB080"/>
                </a:solidFill>
                <a:latin typeface="Courier New"/>
                <a:ea typeface="Courier New"/>
                <a:cs typeface="Courier New"/>
              </a:rPr>
              <a:t>if</a:t>
            </a:r>
            <a:r>
              <a:rPr sz="1875" b="0">
                <a:solidFill>
                  <a:srgbClr val="F4F7FA"/>
                </a:solidFill>
                <a:latin typeface="Courier New"/>
                <a:ea typeface="Courier New"/>
                <a:cs typeface="Courier New"/>
              </a:rPr>
              <a:t>ication_case.csv")</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print(raw_data.shape)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print(raw_data.dtypes)</a:t>
            </a:r>
          </a:p>
        </p:txBody>
      </p:sp>
      <p:sp>
        <p:nvSpPr>
          <p:cNvPr id="6" name="">
            <a:extLst xmlns:a="http://schemas.openxmlformats.org/drawingml/2006/main">
              <a:ext uri="{FF2B5EF4-FFF2-40B4-BE49-F238E27FC236}">
                <a16:creationId xmlns:a16="http://schemas.microsoft.com/office/drawing/2014/main" id="{7FD4E809-6F33-46D7-AD34-720BD256DDBF}"/>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raw_data: original CSV table; keep it unchanged so the analysis can be checked.</a:t>
            </a:r>
          </a:p>
        </p:txBody>
      </p:sp>
      <p:sp>
        <p:nvSpPr>
          <p:cNvPr id="7" name="">
            <a:extLst xmlns:a="http://schemas.openxmlformats.org/drawingml/2006/main">
              <a:ext uri="{FF2B5EF4-FFF2-40B4-BE49-F238E27FC236}">
                <a16:creationId xmlns:a16="http://schemas.microsoft.com/office/drawing/2014/main" id="{0496A3EE-03D5-4E04-BFF5-593B98EBC12E}"/>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1FBFFD3A-817F-4969-BE3A-E08BC8C6201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9   14</a:t>
            </a:r>
          </a:p>
        </p:txBody>
      </p:sp>
    </p:spTree>
    <p:extLst>
      <p:ext uri="{BB962C8B-B14F-4D97-AF65-F5344CB8AC3E}">
        <p14:creationId xmlns:p14="http://schemas.microsoft.com/office/powerpoint/2010/main" val="115061673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843EFE1-BF8B-451F-92B3-F454E3DC0AAB}"/>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38387F8-3690-4739-83B6-A931EF4A3A1E}"/>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FFFFFF"/>
                </a:solidFill>
                <a:latin typeface="Calibri"/>
                <a:ea typeface="Calibri"/>
                <a:cs typeface="Calibri"/>
              </a:defRPr>
            </a:defPPr>
            <a:lvl1pPr>
              <a:defRPr sz="2925" b="1">
                <a:solidFill>
                  <a:srgbClr val="FFFFFF"/>
                </a:solidFill>
                <a:latin typeface="Calibri"/>
                <a:ea typeface="Calibri"/>
                <a:cs typeface="Calibri"/>
              </a:defRPr>
            </a:lvl1pPr>
            <a:lvl2pPr>
              <a:defRPr sz="2925" b="1">
                <a:solidFill>
                  <a:srgbClr val="FFFFFF"/>
                </a:solidFill>
                <a:latin typeface="Calibri"/>
                <a:ea typeface="Calibri"/>
                <a:cs typeface="Calibri"/>
              </a:defRPr>
            </a:lvl2pPr>
            <a:lvl3pPr>
              <a:defRPr sz="2925" b="1">
                <a:solidFill>
                  <a:srgbClr val="FFFFFF"/>
                </a:solidFill>
                <a:latin typeface="Calibri"/>
                <a:ea typeface="Calibri"/>
                <a:cs typeface="Calibri"/>
              </a:defRPr>
            </a:lvl3pPr>
            <a:lvl4pPr>
              <a:defRPr sz="2925" b="1">
                <a:solidFill>
                  <a:srgbClr val="FFFFFF"/>
                </a:solidFill>
                <a:latin typeface="Calibri"/>
                <a:ea typeface="Calibri"/>
                <a:cs typeface="Calibri"/>
              </a:defRPr>
            </a:lvl4pPr>
            <a:lvl5pPr>
              <a:defRPr sz="2925" b="1">
                <a:solidFill>
                  <a:srgbClr val="FFFFFF"/>
                </a:solidFill>
                <a:latin typeface="Calibri"/>
                <a:ea typeface="Calibri"/>
                <a:cs typeface="Calibri"/>
              </a:defRPr>
            </a:lvl5pPr>
            <a:lvl6pPr>
              <a:defRPr sz="2925" b="1">
                <a:solidFill>
                  <a:srgbClr val="FFFFFF"/>
                </a:solidFill>
                <a:latin typeface="Calibri"/>
                <a:ea typeface="Calibri"/>
                <a:cs typeface="Calibri"/>
              </a:defRPr>
            </a:lvl6pPr>
            <a:lvl7pPr>
              <a:defRPr sz="2925" b="1">
                <a:solidFill>
                  <a:srgbClr val="FFFFFF"/>
                </a:solidFill>
                <a:latin typeface="Calibri"/>
                <a:ea typeface="Calibri"/>
                <a:cs typeface="Calibri"/>
              </a:defRPr>
            </a:lvl7pPr>
            <a:lvl8pPr>
              <a:defRPr sz="2925" b="1">
                <a:solidFill>
                  <a:srgbClr val="FFFFFF"/>
                </a:solidFill>
                <a:latin typeface="Calibri"/>
                <a:ea typeface="Calibri"/>
                <a:cs typeface="Calibri"/>
              </a:defRPr>
            </a:lvl8pPr>
            <a:lvl9pPr>
              <a:defRPr sz="2925" b="1">
                <a:solidFill>
                  <a:srgbClr val="FFFFFF"/>
                </a:solidFill>
                <a:latin typeface="Calibri"/>
                <a:ea typeface="Calibri"/>
                <a:cs typeface="Calibri"/>
              </a:defRPr>
            </a:lvl9pPr>
          </a:lstStyle>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Every paired result belongs in one cell</a:t>
            </a:r>
          </a:p>
        </p:txBody>
      </p:sp>
      <p:pic>
        <p:nvPicPr>
          <p:cNvPr id="3" name="">
            <a:extLst xmlns:a="http://schemas.openxmlformats.org/drawingml/2006/main">
              <a:ext uri="{FF2B5EF4-FFF2-40B4-BE49-F238E27FC236}">
                <a16:creationId xmlns:a16="http://schemas.microsoft.com/office/drawing/2014/main" id="{FD74F57D-BA01-48D4-A69B-12ED01740B0C}"/>
              </a:ext>
            </a:extLst>
          </p:cNvPr>
          <p:cNvPicPr>
            <a:picLocks xmlns:a="http://schemas.openxmlformats.org/drawingml/2006/main" noChangeAspect="1"/>
          </p:cNvPicPr>
          <p:nvPr/>
        </p:nvPicPr>
        <p:blipFill>
          <a:blip xmlns:r="http://schemas.openxmlformats.org/officeDocument/2006/relationships" xmlns:a="http://schemas.openxmlformats.org/drawingml/2006/main" r:embed="Rf492cc74a1014333"/>
          <a:stretch xmlns:a="http://schemas.openxmlformats.org/drawingml/2006/main"/>
        </p:blipFill>
        <p:spPr>
          <a:xfrm xmlns:a="http://schemas.openxmlformats.org/drawingml/2006/main">
            <a:off x="1991849" y="1057275"/>
            <a:ext cx="8208303"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632659A-C92B-4B91-BD4A-B3A44E390850}"/>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DCA1DA03-3191-4459-9527-E110E7BE09BD}"/>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Read actual first, then predicted_values. Explain the missed warning.</a:t>
            </a:r>
          </a:p>
        </p:txBody>
      </p:sp>
      <p:sp>
        <p:nvSpPr>
          <p:cNvPr id="6" name="">
            <a:extLst xmlns:a="http://schemas.openxmlformats.org/drawingml/2006/main">
              <a:ext uri="{FF2B5EF4-FFF2-40B4-BE49-F238E27FC236}">
                <a16:creationId xmlns:a16="http://schemas.microsoft.com/office/drawing/2014/main" id="{22F641CD-4C00-405B-BC06-034C54D5334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9   15</a:t>
            </a:r>
          </a:p>
        </p:txBody>
      </p:sp>
    </p:spTree>
    <p:extLst>
      <p:ext uri="{BB962C8B-B14F-4D97-AF65-F5344CB8AC3E}">
        <p14:creationId xmlns:p14="http://schemas.microsoft.com/office/powerpoint/2010/main" val="83658445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359A097-5EDD-4DB6-9BF6-F052BD85850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1CF63FD-153E-42CA-B139-9AF69128A14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DBC84C2-9A1A-4AB9-A2E5-DC1F90868AA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Counting the supplied paired labels</a:t>
            </a:r>
          </a:p>
        </p:txBody>
      </p:sp>
      <p:sp>
        <p:nvSpPr>
          <p:cNvPr id="4" name="">
            <a:extLst xmlns:a="http://schemas.openxmlformats.org/drawingml/2006/main">
              <a:ext uri="{FF2B5EF4-FFF2-40B4-BE49-F238E27FC236}">
                <a16:creationId xmlns:a16="http://schemas.microsoft.com/office/drawing/2014/main" id="{66DE5D38-50B3-4943-9FE4-868EA53B2FBF}"/>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D59B1731-FFDE-46B7-863A-7E0A072BD766}"/>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8EB4C6F3-8211-4E4B-8E01-ADB32453D1D7}"/>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actual holds the reference label. predicted holds the model decision. In this file, 1 means warning and 0 means no warning.</a:t>
            </a:r>
          </a:p>
        </p:txBody>
      </p:sp>
      <p:sp>
        <p:nvSpPr>
          <p:cNvPr id="7" name="">
            <a:extLst xmlns:a="http://schemas.openxmlformats.org/drawingml/2006/main">
              <a:ext uri="{FF2B5EF4-FFF2-40B4-BE49-F238E27FC236}">
                <a16:creationId xmlns:a16="http://schemas.microsoft.com/office/drawing/2014/main" id="{41026534-AD5B-4A61-A03A-B8D7B2499DEF}"/>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 compares values. &amp; requires both conditions for each row. Parenthesise each comparison. sum counts the True entries.</a:t>
            </a:r>
          </a:p>
        </p:txBody>
      </p:sp>
      <p:sp>
        <p:nvSpPr>
          <p:cNvPr id="8" name="">
            <a:extLst xmlns:a="http://schemas.openxmlformats.org/drawingml/2006/main">
              <a:ext uri="{FF2B5EF4-FFF2-40B4-BE49-F238E27FC236}">
                <a16:creationId xmlns:a16="http://schemas.microsoft.com/office/drawing/2014/main" id="{55C57C06-42D4-43B0-BAF9-CD594BDA5D6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9   16</a:t>
            </a:r>
          </a:p>
        </p:txBody>
      </p:sp>
    </p:spTree>
    <p:extLst>
      <p:ext uri="{BB962C8B-B14F-4D97-AF65-F5344CB8AC3E}">
        <p14:creationId xmlns:p14="http://schemas.microsoft.com/office/powerpoint/2010/main" val="146195462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F8788C7-3433-4A02-9FA0-9FC3CD9FA50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C10BFBF-F215-4E48-8CE3-B321E041B59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6D05F84-0F23-4354-ADB8-F9FDD3A7951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E17B5856-5845-47FC-ABEC-0242AEF1A29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C178A53-8BDA-47DF-A347-9335CF8F1855}"/>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Selecting columns: equipment_data["column"] returns one labelled column, a Series. equipment_data[["a", "b"]] returns a DataFrame containing those named columns in that order.</a:t>
            </a:r>
          </a:p>
        </p:txBody>
      </p:sp>
      <p:sp>
        <p:nvSpPr>
          <p:cNvPr id="6" name="">
            <a:extLst xmlns:a="http://schemas.openxmlformats.org/drawingml/2006/main">
              <a:ext uri="{FF2B5EF4-FFF2-40B4-BE49-F238E27FC236}">
                <a16:creationId xmlns:a16="http://schemas.microsoft.com/office/drawing/2014/main" id="{49433082-F6E9-41BA-AE97-56AA4ACDF209}"/>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4687A44-72E0-497B-8E7D-07A5D37EF944}"/>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Column arithmetic: Arithmetic on columns calculates one result per row. Series align by row label. Divide only where the denominator is valid and keep actual and predicted observations paired.</a:t>
            </a:r>
          </a:p>
        </p:txBody>
      </p:sp>
      <p:sp>
        <p:nvSpPr>
          <p:cNvPr id="8" name="">
            <a:extLst xmlns:a="http://schemas.openxmlformats.org/drawingml/2006/main">
              <a:ext uri="{FF2B5EF4-FFF2-40B4-BE49-F238E27FC236}">
                <a16:creationId xmlns:a16="http://schemas.microsoft.com/office/drawing/2014/main" id="{AA1F4EC2-883E-4FC1-AB4B-09A497D6218E}"/>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054E33E-5AE6-4769-A2D9-0EDBE7030F3B}"/>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Adding values and counting True: series.sum() adds its values. For a Boolean mask, True counts as 1 and False as 0. equipment_data.isna().sum() therefore counts missing cells separately for each column.</a:t>
            </a:r>
          </a:p>
        </p:txBody>
      </p:sp>
      <p:sp>
        <p:nvSpPr>
          <p:cNvPr id="10" name="">
            <a:extLst xmlns:a="http://schemas.openxmlformats.org/drawingml/2006/main">
              <a:ext uri="{FF2B5EF4-FFF2-40B4-BE49-F238E27FC236}">
                <a16:creationId xmlns:a16="http://schemas.microsoft.com/office/drawing/2014/main" id="{33B76AFC-B8DC-4CDC-A79B-F4C9F39C9F6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9   17</a:t>
            </a:r>
          </a:p>
        </p:txBody>
      </p:sp>
    </p:spTree>
    <p:extLst>
      <p:ext uri="{BB962C8B-B14F-4D97-AF65-F5344CB8AC3E}">
        <p14:creationId xmlns:p14="http://schemas.microsoft.com/office/powerpoint/2010/main" val="184555240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B76471-AC35-4F12-9C1D-CF7A4F48CC7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FC2D95C-0CE9-41BF-8216-904927BC425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50D1212-FFDF-4CC8-B781-303AB25CDA9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Selecting rows with a mask</a:t>
            </a:r>
          </a:p>
        </p:txBody>
      </p:sp>
      <p:sp>
        <p:nvSpPr>
          <p:cNvPr id="4" name="">
            <a:extLst xmlns:a="http://schemas.openxmlformats.org/drawingml/2006/main">
              <a:ext uri="{FF2B5EF4-FFF2-40B4-BE49-F238E27FC236}">
                <a16:creationId xmlns:a16="http://schemas.microsoft.com/office/drawing/2014/main" id="{4E2A3D0E-8A06-458D-B34C-3150CCAC1B08}"/>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87863925-5983-429B-B81E-7DC2D3A4471B}"/>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A column comparison produces one True or False per row. table[mask] keeps the True rows. &amp; combines masks: both conditions must hold. Parenthesise each comparison.</a:t>
            </a:r>
          </a:p>
        </p:txBody>
      </p:sp>
      <p:sp>
        <p:nvSpPr>
          <p:cNvPr id="6" name="">
            <a:extLst xmlns:a="http://schemas.openxmlformats.org/drawingml/2006/main">
              <a:ext uri="{FF2B5EF4-FFF2-40B4-BE49-F238E27FC236}">
                <a16:creationId xmlns:a16="http://schemas.microsoft.com/office/drawing/2014/main" id="{BCC76D5E-88AF-40DE-84C0-8A2028AD8A7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9   18</a:t>
            </a:r>
          </a:p>
        </p:txBody>
      </p:sp>
    </p:spTree>
    <p:extLst>
      <p:ext uri="{BB962C8B-B14F-4D97-AF65-F5344CB8AC3E}">
        <p14:creationId xmlns:p14="http://schemas.microsoft.com/office/powerpoint/2010/main" val="109832267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A3E97C8-F258-4CAD-8A55-13556DE9F22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F70F1A0-AF14-456E-85C5-1C91EBBDB14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EA0E2A3-0C46-458D-BAB1-C780472EAA8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Keep observations and decisions paired</a:t>
            </a:r>
          </a:p>
        </p:txBody>
      </p:sp>
      <p:sp>
        <p:nvSpPr>
          <p:cNvPr id="4" name="">
            <a:extLst xmlns:a="http://schemas.openxmlformats.org/drawingml/2006/main">
              <a:ext uri="{FF2B5EF4-FFF2-40B4-BE49-F238E27FC236}">
                <a16:creationId xmlns:a16="http://schemas.microsoft.com/office/drawing/2014/main" id="{69F75AFF-F569-4927-8B85-2359B8056848}"/>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48812866-7C1A-4555-B7D5-A5EB49A4FEEC}"/>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actual contains the recorded class; predicted contains the model’s decision for the same row.</a:t>
            </a:r>
          </a:p>
        </p:txBody>
      </p:sp>
      <p:sp>
        <p:nvSpPr>
          <p:cNvPr id="6" name="">
            <a:extLst xmlns:a="http://schemas.openxmlformats.org/drawingml/2006/main">
              <a:ext uri="{FF2B5EF4-FFF2-40B4-BE49-F238E27FC236}">
                <a16:creationId xmlns:a16="http://schemas.microsoft.com/office/drawing/2014/main" id="{694CD368-09B8-4400-A62C-343376E7AD47}"/>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Here 1 means positive and 0 negative.</a:t>
            </a:r>
          </a:p>
          <a:p xmlns:a="http://schemas.openxmlformats.org/drawingml/2006/main">
            <a:r>
              <a:rP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These are already-issued decisions; this exercise does not train a classifier.</a:t>
            </a:r>
          </a:p>
        </p:txBody>
      </p:sp>
      <p:sp>
        <p:nvSpPr>
          <p:cNvPr id="7" name="">
            <a:extLst xmlns:a="http://schemas.openxmlformats.org/drawingml/2006/main">
              <a:ext uri="{FF2B5EF4-FFF2-40B4-BE49-F238E27FC236}">
                <a16:creationId xmlns:a16="http://schemas.microsoft.com/office/drawing/2014/main" id="{C4559118-2807-4565-8889-72BBB0B8EAE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9   19</a:t>
            </a:r>
          </a:p>
        </p:txBody>
      </p:sp>
    </p:spTree>
    <p:extLst>
      <p:ext uri="{BB962C8B-B14F-4D97-AF65-F5344CB8AC3E}">
        <p14:creationId xmlns:p14="http://schemas.microsoft.com/office/powerpoint/2010/main" val="187935379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6AD0406-F0F8-4965-8D81-5D197B3C99B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7AF2439-5CB4-40CF-81AE-603BBBD0126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4041C23-AFCE-476C-A1F5-5E0C3C29CB3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Confusion counts from classification_case.csv: step 1</a:t>
            </a:r>
          </a:p>
        </p:txBody>
      </p:sp>
      <p:sp>
        <p:nvSpPr>
          <p:cNvPr id="4" name="">
            <a:extLst xmlns:a="http://schemas.openxmlformats.org/drawingml/2006/main">
              <a:ext uri="{FF2B5EF4-FFF2-40B4-BE49-F238E27FC236}">
                <a16:creationId xmlns:a16="http://schemas.microsoft.com/office/drawing/2014/main" id="{CA149DFD-881F-4AE1-9095-6223071DAC5D}"/>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41695892-694D-4D29-9A45-99379284E7E3}"/>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actual_labels = raw_data["actual"]</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predicted_labels = raw_data["predicted"]</a:t>
            </a:r>
          </a:p>
        </p:txBody>
      </p:sp>
      <p:sp>
        <p:nvSpPr>
          <p:cNvPr id="6" name="">
            <a:extLst xmlns:a="http://schemas.openxmlformats.org/drawingml/2006/main">
              <a:ext uri="{FF2B5EF4-FFF2-40B4-BE49-F238E27FC236}">
                <a16:creationId xmlns:a16="http://schemas.microsoft.com/office/drawing/2014/main" id="{1897D884-F36B-472F-A3C4-CD1DCBE2210F}"/>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11B9A3F3-C618-4A5C-AC58-7BA372033012}"/>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actual_labels: the recorded class of each observation: 1 means positive and 0 means negative.</a:t>
            </a:r>
          </a:p>
        </p:txBody>
      </p:sp>
      <p:sp>
        <p:nvSpPr>
          <p:cNvPr id="8" name="">
            <a:extLst xmlns:a="http://schemas.openxmlformats.org/drawingml/2006/main">
              <a:ext uri="{FF2B5EF4-FFF2-40B4-BE49-F238E27FC236}">
                <a16:creationId xmlns:a16="http://schemas.microsoft.com/office/drawing/2014/main" id="{C7658F11-30E0-429C-97BB-691539CCB9EB}"/>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9" name="">
            <a:extLst xmlns:a="http://schemas.openxmlformats.org/drawingml/2006/main">
              <a:ext uri="{FF2B5EF4-FFF2-40B4-BE49-F238E27FC236}">
                <a16:creationId xmlns:a16="http://schemas.microsoft.com/office/drawing/2014/main" id="{99232E8F-3CA9-48A0-957A-346A79C4282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9   20</a:t>
            </a:r>
          </a:p>
        </p:txBody>
      </p:sp>
    </p:spTree>
    <p:extLst>
      <p:ext uri="{BB962C8B-B14F-4D97-AF65-F5344CB8AC3E}">
        <p14:creationId xmlns:p14="http://schemas.microsoft.com/office/powerpoint/2010/main" val="109588655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79BB5FD-41B6-4E27-8175-F202E8C6439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80E651C-3915-4CCA-8C39-8ED4526C4A5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B89F0C0-DD87-4F00-BCFD-170D9B428E8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Turn each class label into a question</a:t>
            </a:r>
          </a:p>
        </p:txBody>
      </p:sp>
      <p:sp>
        <p:nvSpPr>
          <p:cNvPr id="4" name="">
            <a:extLst xmlns:a="http://schemas.openxmlformats.org/drawingml/2006/main">
              <a:ext uri="{FF2B5EF4-FFF2-40B4-BE49-F238E27FC236}">
                <a16:creationId xmlns:a16="http://schemas.microsoft.com/office/drawing/2014/main" id="{154C4C7F-C9DC-4BE8-A398-9BE15EABE9CD}"/>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F2AA23B1-4EB4-47D7-AD7B-47DDA0C5D68A}"/>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actual == 1 asks whether the real class is positive; predicted == 1 asks whether the model predicted positive.</a:t>
            </a:r>
          </a:p>
        </p:txBody>
      </p:sp>
      <p:sp>
        <p:nvSpPr>
          <p:cNvPr id="6" name="">
            <a:extLst xmlns:a="http://schemas.openxmlformats.org/drawingml/2006/main">
              <a:ext uri="{FF2B5EF4-FFF2-40B4-BE49-F238E27FC236}">
                <a16:creationId xmlns:a16="http://schemas.microsoft.com/office/drawing/2014/main" id="{A74B9B7A-3DFA-4495-A6B2-66DC7995E076}"/>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comparison returns one True/False answer per row.</a:t>
            </a:r>
          </a:p>
          <a:p xmlns:a="http://schemas.openxmlformats.org/drawingml/2006/main">
            <a:r>
              <a:rP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Equality uses ==; assignment uses =.</a:t>
            </a:r>
          </a:p>
        </p:txBody>
      </p:sp>
      <p:sp>
        <p:nvSpPr>
          <p:cNvPr id="7" name="">
            <a:extLst xmlns:a="http://schemas.openxmlformats.org/drawingml/2006/main">
              <a:ext uri="{FF2B5EF4-FFF2-40B4-BE49-F238E27FC236}">
                <a16:creationId xmlns:a16="http://schemas.microsoft.com/office/drawing/2014/main" id="{72F9A654-AD2A-41B7-8EBB-73537123B47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9   21</a:t>
            </a:r>
          </a:p>
        </p:txBody>
      </p:sp>
    </p:spTree>
    <p:extLst>
      <p:ext uri="{BB962C8B-B14F-4D97-AF65-F5344CB8AC3E}">
        <p14:creationId xmlns:p14="http://schemas.microsoft.com/office/powerpoint/2010/main" val="149628488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EC86FD2-AA3E-4814-965E-CAE9F64CD11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73B4833-966E-49B1-930D-D9986A8C674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2EED8D75-40E7-4097-8230-633FC74F2DC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Confusion counts from classification_case.csv: step 2</a:t>
            </a:r>
          </a:p>
        </p:txBody>
      </p:sp>
      <p:sp>
        <p:nvSpPr>
          <p:cNvPr id="4" name="">
            <a:extLst xmlns:a="http://schemas.openxmlformats.org/drawingml/2006/main">
              <a:ext uri="{FF2B5EF4-FFF2-40B4-BE49-F238E27FC236}">
                <a16:creationId xmlns:a16="http://schemas.microsoft.com/office/drawing/2014/main" id="{5AB4F99F-6D43-48EF-BE25-40E434D50CD7}"/>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865AB061-4C76-4939-B64B-819E79706664}"/>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actual_is_positive = actual_labels == 1</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prediction_is_positive = predicted_labels == 1</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actual_is_negative = actual_labels == 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prediction_is_negative = predicted_labels == 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print(actual_is_positive.head())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print(prediction_is_positive.head())</a:t>
            </a:r>
          </a:p>
        </p:txBody>
      </p:sp>
      <p:sp>
        <p:nvSpPr>
          <p:cNvPr id="6" name="">
            <a:extLst xmlns:a="http://schemas.openxmlformats.org/drawingml/2006/main">
              <a:ext uri="{FF2B5EF4-FFF2-40B4-BE49-F238E27FC236}">
                <a16:creationId xmlns:a16="http://schemas.microsoft.com/office/drawing/2014/main" id="{A0032569-B517-4426-925E-1F34397B2A82}"/>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actual_labels: the recorded class of each observation: 1 means positive and 0 means negative.</a:t>
            </a:r>
          </a:p>
        </p:txBody>
      </p:sp>
      <p:sp>
        <p:nvSpPr>
          <p:cNvPr id="7" name="">
            <a:extLst xmlns:a="http://schemas.openxmlformats.org/drawingml/2006/main">
              <a:ext uri="{FF2B5EF4-FFF2-40B4-BE49-F238E27FC236}">
                <a16:creationId xmlns:a16="http://schemas.microsoft.com/office/drawing/2014/main" id="{02BCE691-3484-42FE-87F1-9756043E9878}"/>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C7E056C7-E0C5-41ED-8FE4-59F2B8FB839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9   22</a:t>
            </a:r>
          </a:p>
        </p:txBody>
      </p:sp>
    </p:spTree>
    <p:extLst>
      <p:ext uri="{BB962C8B-B14F-4D97-AF65-F5344CB8AC3E}">
        <p14:creationId xmlns:p14="http://schemas.microsoft.com/office/powerpoint/2010/main" val="134545038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872CB81-51DE-4CF1-954B-28C7102C399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78E2F60-ACD9-4A04-960F-A84A8BD96CF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EF315C5-69D2-47D2-8B46-6409D32DC4E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Count one outcome at a time</a:t>
            </a:r>
          </a:p>
        </p:txBody>
      </p:sp>
      <p:sp>
        <p:nvSpPr>
          <p:cNvPr id="4" name="">
            <a:extLst xmlns:a="http://schemas.openxmlformats.org/drawingml/2006/main">
              <a:ext uri="{FF2B5EF4-FFF2-40B4-BE49-F238E27FC236}">
                <a16:creationId xmlns:a16="http://schemas.microsoft.com/office/drawing/2014/main" id="{A41A7DD3-376D-4CD7-BBF1-6427B85E4362}"/>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6CF44E60-1E14-4A9F-A09B-8127644AA8E7}"/>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 true positive has actual 1 AND predicted 1.</a:t>
            </a:r>
          </a:p>
        </p:txBody>
      </p:sp>
      <p:sp>
        <p:nvSpPr>
          <p:cNvPr id="6" name="">
            <a:extLst xmlns:a="http://schemas.openxmlformats.org/drawingml/2006/main">
              <a:ext uri="{FF2B5EF4-FFF2-40B4-BE49-F238E27FC236}">
                <a16:creationId xmlns:a16="http://schemas.microsoft.com/office/drawing/2014/main" id="{5C0EE59E-BD56-4C33-AC70-CFEA550620C3}"/>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Combine the two answer columns with &amp;, then sum the True entries.</a:t>
            </a:r>
          </a:p>
          <a:p xmlns:a="http://schemas.openxmlformats.org/drawingml/2006/main">
            <a:r>
              <a:rP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other three outcomes use their own pairs of actual and predicted labels.</a:t>
            </a:r>
          </a:p>
        </p:txBody>
      </p:sp>
      <p:sp>
        <p:nvSpPr>
          <p:cNvPr id="7" name="">
            <a:extLst xmlns:a="http://schemas.openxmlformats.org/drawingml/2006/main">
              <a:ext uri="{FF2B5EF4-FFF2-40B4-BE49-F238E27FC236}">
                <a16:creationId xmlns:a16="http://schemas.microsoft.com/office/drawing/2014/main" id="{A42D7BDC-70DA-4F19-9B7F-FE29B81DE79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9   23</a:t>
            </a:r>
          </a:p>
        </p:txBody>
      </p:sp>
    </p:spTree>
    <p:extLst>
      <p:ext uri="{BB962C8B-B14F-4D97-AF65-F5344CB8AC3E}">
        <p14:creationId xmlns:p14="http://schemas.microsoft.com/office/powerpoint/2010/main" val="119360297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0087674-67C8-4EAC-A2F6-059FBC7695D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7D38674-0C1A-429F-930F-DDB78249C69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32928053-33F5-4160-AD70-56A5F53D2CA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Confusion counts from classification_case.csv: step 3</a:t>
            </a:r>
          </a:p>
        </p:txBody>
      </p:sp>
      <p:sp>
        <p:nvSpPr>
          <p:cNvPr id="4" name="">
            <a:extLst xmlns:a="http://schemas.openxmlformats.org/drawingml/2006/main">
              <a:ext uri="{FF2B5EF4-FFF2-40B4-BE49-F238E27FC236}">
                <a16:creationId xmlns:a16="http://schemas.microsoft.com/office/drawing/2014/main" id="{EA4A523C-9435-4951-8E13-C9602F865C38}"/>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AA293909-0F9F-4459-88C9-68B393A9810E}"/>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is_true_positive = actual_is_positive &amp; prediction_is_positive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true_positive_count = int(is_true_positive.sum())</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a:t>
            </a:r>
            <a:r>
              <a:rPr sz="1875" b="0">
                <a:solidFill>
                  <a:srgbClr val="FFB080"/>
                </a:solidFill>
                <a:latin typeface="Courier New"/>
                <a:ea typeface="Courier New"/>
                <a:cs typeface="Courier New"/>
              </a:rPr>
              <a:t>True</a:t>
            </a:r>
            <a:r>
              <a:rPr sz="1875" b="0">
                <a:solidFill>
                  <a:srgbClr val="F4F7FA"/>
                </a:solidFill>
                <a:latin typeface="Courier New"/>
                <a:ea typeface="Courier New"/>
                <a:cs typeface="Courier New"/>
              </a:rPr>
              <a:t> positives:", true_positive_count)</a:t>
            </a:r>
          </a:p>
        </p:txBody>
      </p:sp>
      <p:sp>
        <p:nvSpPr>
          <p:cNvPr id="6" name="">
            <a:extLst xmlns:a="http://schemas.openxmlformats.org/drawingml/2006/main">
              <a:ext uri="{FF2B5EF4-FFF2-40B4-BE49-F238E27FC236}">
                <a16:creationId xmlns:a16="http://schemas.microsoft.com/office/drawing/2014/main" id="{89F5C547-F590-462E-8B46-27524F38064D}"/>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Run the cell and read the output below it.</a:t>
            </a:r>
          </a:p>
        </p:txBody>
      </p:sp>
      <p:sp>
        <p:nvSpPr>
          <p:cNvPr id="7" name="">
            <a:extLst xmlns:a="http://schemas.openxmlformats.org/drawingml/2006/main">
              <a:ext uri="{FF2B5EF4-FFF2-40B4-BE49-F238E27FC236}">
                <a16:creationId xmlns:a16="http://schemas.microsoft.com/office/drawing/2014/main" id="{C3635FA6-77E0-4FC5-951A-EF215BFED7C8}"/>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CDE8D4AD-62B4-4884-9F9A-3CA404E0CF7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9   24</a:t>
            </a:r>
          </a:p>
        </p:txBody>
      </p:sp>
    </p:spTree>
    <p:extLst>
      <p:ext uri="{BB962C8B-B14F-4D97-AF65-F5344CB8AC3E}">
        <p14:creationId xmlns:p14="http://schemas.microsoft.com/office/powerpoint/2010/main" val="92306131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150904E-70ED-46EC-89E6-6DD8E66D476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B308C9C-E0A0-4A4A-9EB4-915C31EFA8B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D23A6B4-C044-41AD-873E-771BCE6F63A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Confusion counts from classification_case.csv: step 4</a:t>
            </a:r>
          </a:p>
        </p:txBody>
      </p:sp>
      <p:sp>
        <p:nvSpPr>
          <p:cNvPr id="4" name="">
            <a:extLst xmlns:a="http://schemas.openxmlformats.org/drawingml/2006/main">
              <a:ext uri="{FF2B5EF4-FFF2-40B4-BE49-F238E27FC236}">
                <a16:creationId xmlns:a16="http://schemas.microsoft.com/office/drawing/2014/main" id="{7BA47842-6FDB-4092-8165-E24FC0F78838}"/>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E7398278-FFAA-4BDF-BAC4-A64C7D673004}"/>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EDDFEA21-B5C1-4DDB-8D06-7C30E1CA7EB7}"/>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false_negative_count: number of missed positives: actual 1 but predicted 0.</a:t>
            </a:r>
          </a:p>
        </p:txBody>
      </p:sp>
      <p:sp>
        <p:nvSpPr>
          <p:cNvPr id="7" name="">
            <a:extLst xmlns:a="http://schemas.openxmlformats.org/drawingml/2006/main">
              <a:ext uri="{FF2B5EF4-FFF2-40B4-BE49-F238E27FC236}">
                <a16:creationId xmlns:a16="http://schemas.microsoft.com/office/drawing/2014/main" id="{B0255ABF-D2B1-45FC-AF17-643945BC1122}"/>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false_positive_count: number of false alarms: actual 0 but predicted 1.</a:t>
            </a:r>
          </a:p>
        </p:txBody>
      </p:sp>
      <p:sp>
        <p:nvSpPr>
          <p:cNvPr id="8" name="">
            <a:extLst xmlns:a="http://schemas.openxmlformats.org/drawingml/2006/main">
              <a:ext uri="{FF2B5EF4-FFF2-40B4-BE49-F238E27FC236}">
                <a16:creationId xmlns:a16="http://schemas.microsoft.com/office/drawing/2014/main" id="{EBFF805F-E7FE-47E3-88FE-730B547C843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9   25</a:t>
            </a:r>
          </a:p>
        </p:txBody>
      </p:sp>
    </p:spTree>
    <p:extLst>
      <p:ext uri="{BB962C8B-B14F-4D97-AF65-F5344CB8AC3E}">
        <p14:creationId xmlns:p14="http://schemas.microsoft.com/office/powerpoint/2010/main" val="80453215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1C69C19-8206-446E-9E02-782AC085C6B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1FE0FA4-2A3E-453B-911B-3DF4C213C7A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B812726-C84F-4D6C-8F40-0946CDA5209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Confusion counts from classification_case.csv: step 4 (1/3)</a:t>
            </a:r>
          </a:p>
        </p:txBody>
      </p:sp>
      <p:sp>
        <p:nvSpPr>
          <p:cNvPr id="4" name="">
            <a:extLst xmlns:a="http://schemas.openxmlformats.org/drawingml/2006/main">
              <a:ext uri="{FF2B5EF4-FFF2-40B4-BE49-F238E27FC236}">
                <a16:creationId xmlns:a16="http://schemas.microsoft.com/office/drawing/2014/main" id="{176D2063-FAE1-4BDF-BEF1-81F6EACBC72C}"/>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35A6FA6B-52B9-48FD-8020-31E81BB866CE}"/>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false_negative_count = int(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(actual_is_positive &amp; prediction_is_negative).sum()</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false_positive_count = int(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(actual_is_negative &amp; prediction_is_positive).sum()</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p:txBody>
      </p:sp>
      <p:sp>
        <p:nvSpPr>
          <p:cNvPr id="6" name="">
            <a:extLst xmlns:a="http://schemas.openxmlformats.org/drawingml/2006/main">
              <a:ext uri="{FF2B5EF4-FFF2-40B4-BE49-F238E27FC236}">
                <a16:creationId xmlns:a16="http://schemas.microsoft.com/office/drawing/2014/main" id="{262766B5-4CBA-4D30-9135-E007B60322BC}"/>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Run the cell and read the output below it.</a:t>
            </a:r>
          </a:p>
        </p:txBody>
      </p:sp>
      <p:sp>
        <p:nvSpPr>
          <p:cNvPr id="7" name="">
            <a:extLst xmlns:a="http://schemas.openxmlformats.org/drawingml/2006/main">
              <a:ext uri="{FF2B5EF4-FFF2-40B4-BE49-F238E27FC236}">
                <a16:creationId xmlns:a16="http://schemas.microsoft.com/office/drawing/2014/main" id="{0014ACC6-A5BA-437E-B0B4-A9A8F09B6871}"/>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Continue in the same code cell.</a:t>
            </a:r>
          </a:p>
        </p:txBody>
      </p:sp>
      <p:sp>
        <p:nvSpPr>
          <p:cNvPr id="8" name="">
            <a:extLst xmlns:a="http://schemas.openxmlformats.org/drawingml/2006/main">
              <a:ext uri="{FF2B5EF4-FFF2-40B4-BE49-F238E27FC236}">
                <a16:creationId xmlns:a16="http://schemas.microsoft.com/office/drawing/2014/main" id="{FB7C9CA5-42F3-4B67-93E5-2DE173310A6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9   26</a:t>
            </a:r>
          </a:p>
        </p:txBody>
      </p:sp>
    </p:spTree>
    <p:extLst>
      <p:ext uri="{BB962C8B-B14F-4D97-AF65-F5344CB8AC3E}">
        <p14:creationId xmlns:p14="http://schemas.microsoft.com/office/powerpoint/2010/main" val="191187476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9E9A545-BBE8-4CAA-98E2-5815E444201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F10CCF1-671B-492A-8AC4-377298B665F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DD6B4C2B-2F60-4901-B5AB-7813D2DF590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Confusion counts from classification_case.csv: step 4 (2/3)</a:t>
            </a:r>
          </a:p>
        </p:txBody>
      </p:sp>
      <p:sp>
        <p:nvSpPr>
          <p:cNvPr id="4" name="">
            <a:extLst xmlns:a="http://schemas.openxmlformats.org/drawingml/2006/main">
              <a:ext uri="{FF2B5EF4-FFF2-40B4-BE49-F238E27FC236}">
                <a16:creationId xmlns:a16="http://schemas.microsoft.com/office/drawing/2014/main" id="{140CC880-692D-4695-8088-F7EEF80F6887}"/>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0AEA010C-D115-40EB-B0A6-3EC0155BD69F}"/>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true_negative_count = int(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(actual_is_negative &amp; prediction_is_negative).sum()</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false_negative_count,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false_positive_count,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true_negative_count,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p:txBody>
      </p:sp>
      <p:sp>
        <p:nvSpPr>
          <p:cNvPr id="6" name="">
            <a:extLst xmlns:a="http://schemas.openxmlformats.org/drawingml/2006/main">
              <a:ext uri="{FF2B5EF4-FFF2-40B4-BE49-F238E27FC236}">
                <a16:creationId xmlns:a16="http://schemas.microsoft.com/office/drawing/2014/main" id="{991C2FB0-9B88-4F76-870A-16214435C757}"/>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Run the cell and read the output below it.</a:t>
            </a:r>
          </a:p>
        </p:txBody>
      </p:sp>
      <p:sp>
        <p:nvSpPr>
          <p:cNvPr id="7" name="">
            <a:extLst xmlns:a="http://schemas.openxmlformats.org/drawingml/2006/main">
              <a:ext uri="{FF2B5EF4-FFF2-40B4-BE49-F238E27FC236}">
                <a16:creationId xmlns:a16="http://schemas.microsoft.com/office/drawing/2014/main" id="{5D2F4316-513D-4073-B29B-A10F9F7E3AD2}"/>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Continue in the same code cell.</a:t>
            </a:r>
          </a:p>
        </p:txBody>
      </p:sp>
      <p:sp>
        <p:nvSpPr>
          <p:cNvPr id="8" name="">
            <a:extLst xmlns:a="http://schemas.openxmlformats.org/drawingml/2006/main">
              <a:ext uri="{FF2B5EF4-FFF2-40B4-BE49-F238E27FC236}">
                <a16:creationId xmlns:a16="http://schemas.microsoft.com/office/drawing/2014/main" id="{D543059D-155A-427E-973F-1B03DF78622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9   27</a:t>
            </a:r>
          </a:p>
        </p:txBody>
      </p:sp>
    </p:spTree>
    <p:extLst>
      <p:ext uri="{BB962C8B-B14F-4D97-AF65-F5344CB8AC3E}">
        <p14:creationId xmlns:p14="http://schemas.microsoft.com/office/powerpoint/2010/main" val="23523215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CDB7DB5-C6A1-4909-A024-C67CC79F71A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B76509B-F9A6-4BD5-B467-27239D7FB4B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1AB2F15C-3D41-4145-A65B-9FCBA001AD6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Confusion counts from classification_case.csv: step 4 (3/3)</a:t>
            </a:r>
          </a:p>
        </p:txBody>
      </p:sp>
      <p:sp>
        <p:nvSpPr>
          <p:cNvPr id="4" name="">
            <a:extLst xmlns:a="http://schemas.openxmlformats.org/drawingml/2006/main">
              <a:ext uri="{FF2B5EF4-FFF2-40B4-BE49-F238E27FC236}">
                <a16:creationId xmlns:a16="http://schemas.microsoft.com/office/drawing/2014/main" id="{C0E0069F-D6F7-4394-90A3-F7FA16DC0EBB}"/>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C40F53BC-0434-4351-80B9-7CBB525A29AC}"/>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true_positive_count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 false_negative_count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 false_positive_count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 true_negative_count,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len(raw_data),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p:txBody>
      </p:sp>
      <p:sp>
        <p:nvSpPr>
          <p:cNvPr id="6" name="">
            <a:extLst xmlns:a="http://schemas.openxmlformats.org/drawingml/2006/main">
              <a:ext uri="{FF2B5EF4-FFF2-40B4-BE49-F238E27FC236}">
                <a16:creationId xmlns:a16="http://schemas.microsoft.com/office/drawing/2014/main" id="{907668A3-F2E2-4D4B-BADD-43CA93A4C496}"/>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482447B9-CDA3-4B7D-9EE2-6EC456155345}"/>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2C597FD4-572A-4D2E-A9CA-E5B46630176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9" name="">
            <a:extLst xmlns:a="http://schemas.openxmlformats.org/drawingml/2006/main">
              <a:ext uri="{FF2B5EF4-FFF2-40B4-BE49-F238E27FC236}">
                <a16:creationId xmlns:a16="http://schemas.microsoft.com/office/drawing/2014/main" id="{E15EAFCD-F07C-438B-95A2-930260C140C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9   28</a:t>
            </a:r>
          </a:p>
        </p:txBody>
      </p:sp>
    </p:spTree>
    <p:extLst>
      <p:ext uri="{BB962C8B-B14F-4D97-AF65-F5344CB8AC3E}">
        <p14:creationId xmlns:p14="http://schemas.microsoft.com/office/powerpoint/2010/main" val="185873129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0D38599-1AA6-4771-9C7D-AE97AF27AAD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0D60280-A92F-42CB-B271-089C25F38EB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6A92E61-3D7B-4F42-89E1-D68CB37412B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Precision, recall and cost</a:t>
            </a:r>
          </a:p>
        </p:txBody>
      </p:sp>
      <p:sp>
        <p:nvSpPr>
          <p:cNvPr id="4" name="">
            <a:extLst xmlns:a="http://schemas.openxmlformats.org/drawingml/2006/main">
              <a:ext uri="{FF2B5EF4-FFF2-40B4-BE49-F238E27FC236}">
                <a16:creationId xmlns:a16="http://schemas.microsoft.com/office/drawing/2014/main" id="{D0D7B77E-DCEC-4ADE-9D47-B274159A5F3B}"/>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B42175C1-0C0B-41FC-BD01-13FD5253CBD6}"/>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A1F21A6-4A03-49F2-8810-C28D1D242AD1}"/>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Precision is TP divided by TP + FP. Recall is TP divided by TP + FN. The issued policy returns zero when a denominator is zero.</a:t>
            </a:r>
          </a:p>
        </p:txBody>
      </p:sp>
      <p:sp>
        <p:nvSpPr>
          <p:cNvPr id="7" name="">
            <a:extLst xmlns:a="http://schemas.openxmlformats.org/drawingml/2006/main">
              <a:ext uri="{FF2B5EF4-FFF2-40B4-BE49-F238E27FC236}">
                <a16:creationId xmlns:a16="http://schemas.microsoft.com/office/drawing/2014/main" id="{BB3B8A45-F0C8-4661-9090-83428DE5ECD3}"/>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teaching cost is five units per missed warning plus one per false alarm. Explain the assumption when interpreting the result.</a:t>
            </a:r>
          </a:p>
        </p:txBody>
      </p:sp>
      <p:sp>
        <p:nvSpPr>
          <p:cNvPr id="8" name="">
            <a:extLst xmlns:a="http://schemas.openxmlformats.org/drawingml/2006/main">
              <a:ext uri="{FF2B5EF4-FFF2-40B4-BE49-F238E27FC236}">
                <a16:creationId xmlns:a16="http://schemas.microsoft.com/office/drawing/2014/main" id="{E65D50B8-A6DB-4607-A9C9-4C53E5C3405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9   29</a:t>
            </a:r>
          </a:p>
        </p:txBody>
      </p:sp>
    </p:spTree>
    <p:extLst>
      <p:ext uri="{BB962C8B-B14F-4D97-AF65-F5344CB8AC3E}">
        <p14:creationId xmlns:p14="http://schemas.microsoft.com/office/powerpoint/2010/main" val="321657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4C466C4-F720-4016-A970-2A841341357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2698CA1-D103-430D-BF02-83D48304EE0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84E7889-CBE3-4EA0-AEA8-602A26D92B2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B7041C21-FDE9-4114-BA0B-AB8402EF35B0}"/>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9D09D3F4-842D-45FE-BF2C-983ED42498C0}"/>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Rounded display: series.round(3) returns values rounded to three decimal places. Python round(number, 3) rounds one number. Keep unrounded calculations for returned assessment answers.</a:t>
            </a:r>
          </a:p>
        </p:txBody>
      </p:sp>
      <p:sp>
        <p:nvSpPr>
          <p:cNvPr id="6" name="">
            <a:extLst xmlns:a="http://schemas.openxmlformats.org/drawingml/2006/main">
              <a:ext uri="{FF2B5EF4-FFF2-40B4-BE49-F238E27FC236}">
                <a16:creationId xmlns:a16="http://schemas.microsoft.com/office/drawing/2014/main" id="{6FBC5669-1D37-4390-9C5B-8C10F42921B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9   30</a:t>
            </a:r>
          </a:p>
        </p:txBody>
      </p:sp>
    </p:spTree>
    <p:extLst>
      <p:ext uri="{BB962C8B-B14F-4D97-AF65-F5344CB8AC3E}">
        <p14:creationId xmlns:p14="http://schemas.microsoft.com/office/powerpoint/2010/main" val="152096880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11EEA62-67EF-479F-B273-84741994C57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DF1BFD6-E82F-4F8D-9707-C96C674F5DC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2F7DB55-1AEA-4BB9-8294-AC978AB63E3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Checking a condition before calculating</a:t>
            </a:r>
          </a:p>
        </p:txBody>
      </p:sp>
      <p:sp>
        <p:nvSpPr>
          <p:cNvPr id="4" name="">
            <a:extLst xmlns:a="http://schemas.openxmlformats.org/drawingml/2006/main">
              <a:ext uri="{FF2B5EF4-FFF2-40B4-BE49-F238E27FC236}">
                <a16:creationId xmlns:a16="http://schemas.microsoft.com/office/drawing/2014/main" id="{BA7B8D9B-70DC-4236-8783-0821D6F61810}"/>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FB5BD603-CA6F-48EA-9278-BA389564FCB9}"/>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if condition: runs its indented statements only when the condition is True. else: handles the other case. Check for a nonzero denominator before division, and for a nonempty table before selecting its first row.</a:t>
            </a:r>
          </a:p>
        </p:txBody>
      </p:sp>
      <p:sp>
        <p:nvSpPr>
          <p:cNvPr id="6" name="">
            <a:extLst xmlns:a="http://schemas.openxmlformats.org/drawingml/2006/main">
              <a:ext uri="{FF2B5EF4-FFF2-40B4-BE49-F238E27FC236}">
                <a16:creationId xmlns:a16="http://schemas.microsoft.com/office/drawing/2014/main" id="{A1B5931F-1A28-4C97-84F3-0F019567404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9   31</a:t>
            </a:r>
          </a:p>
        </p:txBody>
      </p:sp>
    </p:spTree>
    <p:extLst>
      <p:ext uri="{BB962C8B-B14F-4D97-AF65-F5344CB8AC3E}">
        <p14:creationId xmlns:p14="http://schemas.microsoft.com/office/powerpoint/2010/main" val="186151664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745BCC6-79E4-4B85-9310-2A4DAF80EED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4BB1FA3-8878-49E6-9167-F2771AE3BE0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3D0285E-1803-4B91-A1F9-C2B6C496ED3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Precision: how trustworthy are positive predictions?</a:t>
            </a:r>
          </a:p>
        </p:txBody>
      </p:sp>
      <p:sp>
        <p:nvSpPr>
          <p:cNvPr id="4" name="">
            <a:extLst xmlns:a="http://schemas.openxmlformats.org/drawingml/2006/main">
              <a:ext uri="{FF2B5EF4-FFF2-40B4-BE49-F238E27FC236}">
                <a16:creationId xmlns:a16="http://schemas.microsoft.com/office/drawing/2014/main" id="{DBEF3635-0409-4DE1-9895-EE3A60BC8AB3}"/>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09409A39-D37C-4FF2-965A-7012C08CA51A}"/>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The denominator is all predicted positives: true positives plus false positives.</a:t>
            </a:r>
          </a:p>
        </p:txBody>
      </p:sp>
      <p:sp>
        <p:nvSpPr>
          <p:cNvPr id="6" name="">
            <a:extLst xmlns:a="http://schemas.openxmlformats.org/drawingml/2006/main">
              <a:ext uri="{FF2B5EF4-FFF2-40B4-BE49-F238E27FC236}">
                <a16:creationId xmlns:a16="http://schemas.microsoft.com/office/drawing/2014/main" id="{C0A44BBD-7D36-41E4-B536-433EA8940A66}"/>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Divide correct positive predictions by that total.</a:t>
            </a:r>
          </a:p>
          <a:p xmlns:a="http://schemas.openxmlformats.org/drawingml/2006/main">
            <a:r>
              <a:rP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Check the denominator before dividing; this teaching example uses 0 when it is zero.</a:t>
            </a:r>
          </a:p>
        </p:txBody>
      </p:sp>
      <p:sp>
        <p:nvSpPr>
          <p:cNvPr id="7" name="">
            <a:extLst xmlns:a="http://schemas.openxmlformats.org/drawingml/2006/main">
              <a:ext uri="{FF2B5EF4-FFF2-40B4-BE49-F238E27FC236}">
                <a16:creationId xmlns:a16="http://schemas.microsoft.com/office/drawing/2014/main" id="{9A9EE604-3D46-408B-9CD9-80CFB9C1315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9   32</a:t>
            </a:r>
          </a:p>
        </p:txBody>
      </p:sp>
    </p:spTree>
    <p:extLst>
      <p:ext uri="{BB962C8B-B14F-4D97-AF65-F5344CB8AC3E}">
        <p14:creationId xmlns:p14="http://schemas.microsoft.com/office/powerpoint/2010/main" val="1923283853"/>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32972E6-E81B-4A30-83BE-E8EA1763EE5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751A7B0-DD0F-487B-AAD1-6FFDF77B0FD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DFC2847-5080-4FE7-B8FA-4D01DBC4FE6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Metrics from the supplied outcomes: step 1</a:t>
            </a:r>
          </a:p>
        </p:txBody>
      </p:sp>
      <p:sp>
        <p:nvSpPr>
          <p:cNvPr id="4" name="">
            <a:extLst xmlns:a="http://schemas.openxmlformats.org/drawingml/2006/main">
              <a:ext uri="{FF2B5EF4-FFF2-40B4-BE49-F238E27FC236}">
                <a16:creationId xmlns:a16="http://schemas.microsoft.com/office/drawing/2014/main" id="{940FDCCE-E033-4AC6-AE66-B9431182158B}"/>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94774DF9-A9EA-42E2-956B-EB12722EF925}"/>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precision = 0.0</a:t>
            </a:r>
          </a:p>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if</a:t>
            </a:r>
            <a:r>
              <a:rPr sz="1875" b="0">
                <a:solidFill>
                  <a:srgbClr val="F4F7FA"/>
                </a:solidFill>
                <a:latin typeface="Courier New"/>
                <a:ea typeface="Courier New"/>
                <a:cs typeface="Courier New"/>
              </a:rPr>
              <a:t> true_positive_count + false_positive_count &gt; 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precision = true_positive_count /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true_positive_count + false_positive_count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p>
        </p:txBody>
      </p:sp>
      <p:sp>
        <p:nvSpPr>
          <p:cNvPr id="6" name="">
            <a:extLst xmlns:a="http://schemas.openxmlformats.org/drawingml/2006/main">
              <a:ext uri="{FF2B5EF4-FFF2-40B4-BE49-F238E27FC236}">
                <a16:creationId xmlns:a16="http://schemas.microsoft.com/office/drawing/2014/main" id="{33C4EACE-3850-4195-84F1-DC29E9601213}"/>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precision: fraction of positive predictions that are correct.</a:t>
            </a:r>
          </a:p>
        </p:txBody>
      </p:sp>
      <p:sp>
        <p:nvSpPr>
          <p:cNvPr id="7" name="">
            <a:extLst xmlns:a="http://schemas.openxmlformats.org/drawingml/2006/main">
              <a:ext uri="{FF2B5EF4-FFF2-40B4-BE49-F238E27FC236}">
                <a16:creationId xmlns:a16="http://schemas.microsoft.com/office/drawing/2014/main" id="{C4ADBB0E-B532-4604-96BA-EEC16A004A4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BDB18B26-035A-49A1-A4CE-08D65865069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9   33</a:t>
            </a:r>
          </a:p>
        </p:txBody>
      </p:sp>
    </p:spTree>
    <p:extLst>
      <p:ext uri="{BB962C8B-B14F-4D97-AF65-F5344CB8AC3E}">
        <p14:creationId xmlns:p14="http://schemas.microsoft.com/office/powerpoint/2010/main" val="9011896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464AE10-BABA-451D-B1FD-CF05B6B28EB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7D039C3-8ECE-4EE7-A403-8680AAD3B2F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BEDF2CA-030B-405F-9B6B-1112A3DB753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Recall: how many real positives were found?</a:t>
            </a:r>
          </a:p>
        </p:txBody>
      </p:sp>
      <p:sp>
        <p:nvSpPr>
          <p:cNvPr id="4" name="">
            <a:extLst xmlns:a="http://schemas.openxmlformats.org/drawingml/2006/main">
              <a:ext uri="{FF2B5EF4-FFF2-40B4-BE49-F238E27FC236}">
                <a16:creationId xmlns:a16="http://schemas.microsoft.com/office/drawing/2014/main" id="{AAA1304E-9EF5-4280-A66D-036E2F1B88D8}"/>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E6480CB7-816C-4B3A-A111-9894CC373236}"/>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The denominator is all actual positives: true positives plus false negatives.</a:t>
            </a:r>
          </a:p>
        </p:txBody>
      </p:sp>
      <p:sp>
        <p:nvSpPr>
          <p:cNvPr id="6" name="">
            <a:extLst xmlns:a="http://schemas.openxmlformats.org/drawingml/2006/main">
              <a:ext uri="{FF2B5EF4-FFF2-40B4-BE49-F238E27FC236}">
                <a16:creationId xmlns:a16="http://schemas.microsoft.com/office/drawing/2014/main" id="{568FF2DE-5437-4B4F-A2DA-7AEECB232780}"/>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Divide detected positives by that total.</a:t>
            </a:r>
          </a:p>
          <a:p xmlns:a="http://schemas.openxmlformats.org/drawingml/2006/main">
            <a:r>
              <a:rP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Precision and recall answer different questions even when they happen to have the same value.</a:t>
            </a:r>
          </a:p>
        </p:txBody>
      </p:sp>
      <p:sp>
        <p:nvSpPr>
          <p:cNvPr id="7" name="">
            <a:extLst xmlns:a="http://schemas.openxmlformats.org/drawingml/2006/main">
              <a:ext uri="{FF2B5EF4-FFF2-40B4-BE49-F238E27FC236}">
                <a16:creationId xmlns:a16="http://schemas.microsoft.com/office/drawing/2014/main" id="{BF913A3D-D34F-4CE5-875C-F9BE9A0E056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9   34</a:t>
            </a:r>
          </a:p>
        </p:txBody>
      </p:sp>
    </p:spTree>
    <p:extLst>
      <p:ext uri="{BB962C8B-B14F-4D97-AF65-F5344CB8AC3E}">
        <p14:creationId xmlns:p14="http://schemas.microsoft.com/office/powerpoint/2010/main" val="1108452203"/>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2BC96DE-59BE-464A-8A95-B5BE1B79F8E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32FBEC0-CC52-4F2B-AA46-0B599BE611B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5FDF6589-101F-4A37-8ECD-C718B0CB7D2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Metrics from the supplied outcomes: step 2</a:t>
            </a:r>
          </a:p>
        </p:txBody>
      </p:sp>
      <p:sp>
        <p:nvSpPr>
          <p:cNvPr id="4" name="">
            <a:extLst xmlns:a="http://schemas.openxmlformats.org/drawingml/2006/main">
              <a:ext uri="{FF2B5EF4-FFF2-40B4-BE49-F238E27FC236}">
                <a16:creationId xmlns:a16="http://schemas.microsoft.com/office/drawing/2014/main" id="{9D3B4A76-2593-47FA-BEEB-1B63C4C90E94}"/>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1555D8C5-4B4D-4062-B2A1-9264A8A2B9AE}"/>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recall = 0.0</a:t>
            </a:r>
          </a:p>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if</a:t>
            </a:r>
            <a:r>
              <a:rPr sz="1875" b="0">
                <a:solidFill>
                  <a:srgbClr val="F4F7FA"/>
                </a:solidFill>
                <a:latin typeface="Courier New"/>
                <a:ea typeface="Courier New"/>
                <a:cs typeface="Courier New"/>
              </a:rPr>
              <a:t> true_positive_count + false_negative_count &gt; 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recall = true_positive_count /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true_positive_count + false_negative_count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p>
        </p:txBody>
      </p:sp>
      <p:sp>
        <p:nvSpPr>
          <p:cNvPr id="6" name="">
            <a:extLst xmlns:a="http://schemas.openxmlformats.org/drawingml/2006/main">
              <a:ext uri="{FF2B5EF4-FFF2-40B4-BE49-F238E27FC236}">
                <a16:creationId xmlns:a16="http://schemas.microsoft.com/office/drawing/2014/main" id="{C356FDA1-F637-454D-99FE-D547862BC4CC}"/>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recall: fraction of real positives that the model found.</a:t>
            </a:r>
          </a:p>
        </p:txBody>
      </p:sp>
      <p:sp>
        <p:nvSpPr>
          <p:cNvPr id="7" name="">
            <a:extLst xmlns:a="http://schemas.openxmlformats.org/drawingml/2006/main">
              <a:ext uri="{FF2B5EF4-FFF2-40B4-BE49-F238E27FC236}">
                <a16:creationId xmlns:a16="http://schemas.microsoft.com/office/drawing/2014/main" id="{7CD4820E-8F4B-44F9-8805-2CD8E6A7969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D216008A-3FD2-4C7E-9865-8D3A105EB39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9   35</a:t>
            </a:r>
          </a:p>
        </p:txBody>
      </p:sp>
    </p:spTree>
    <p:extLst>
      <p:ext uri="{BB962C8B-B14F-4D97-AF65-F5344CB8AC3E}">
        <p14:creationId xmlns:p14="http://schemas.microsoft.com/office/powerpoint/2010/main" val="588349384"/>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52DFA12-4EF6-4F22-96C1-5E9BE0F613F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5514960-9AEC-4ADA-9E4F-359975B3AAF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3B55FB9-5EEA-44F8-80D0-838DDFE5EBB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Metrics from the supplied outcomes: step 3</a:t>
            </a:r>
          </a:p>
        </p:txBody>
      </p:sp>
      <p:sp>
        <p:nvSpPr>
          <p:cNvPr id="4" name="">
            <a:extLst xmlns:a="http://schemas.openxmlformats.org/drawingml/2006/main">
              <a:ext uri="{FF2B5EF4-FFF2-40B4-BE49-F238E27FC236}">
                <a16:creationId xmlns:a16="http://schemas.microsoft.com/office/drawing/2014/main" id="{17C52635-520E-4BB4-A61C-BB20379E3E1D}"/>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81EAE73C-3038-4C43-8F7A-AF973DCA758F}"/>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C3144"/>
                </a:solidFill>
                <a:latin typeface="Calibri"/>
                <a:ea typeface="Calibri"/>
                <a:cs typeface="Calibri"/>
              </a:defRPr>
            </a:defPPr>
            <a:lvl1pPr>
              <a:defRPr sz="3000" b="1">
                <a:solidFill>
                  <a:srgbClr val="1C3144"/>
                </a:solidFill>
                <a:latin typeface="Calibri"/>
                <a:ea typeface="Calibri"/>
                <a:cs typeface="Calibri"/>
              </a:defRPr>
            </a:lvl1pPr>
            <a:lvl2pPr>
              <a:defRPr sz="3000" b="1">
                <a:solidFill>
                  <a:srgbClr val="1C3144"/>
                </a:solidFill>
                <a:latin typeface="Calibri"/>
                <a:ea typeface="Calibri"/>
                <a:cs typeface="Calibri"/>
              </a:defRPr>
            </a:lvl2pPr>
            <a:lvl3pPr>
              <a:defRPr sz="3000" b="1">
                <a:solidFill>
                  <a:srgbClr val="1C3144"/>
                </a:solidFill>
                <a:latin typeface="Calibri"/>
                <a:ea typeface="Calibri"/>
                <a:cs typeface="Calibri"/>
              </a:defRPr>
            </a:lvl3pPr>
            <a:lvl4pPr>
              <a:defRPr sz="3000" b="1">
                <a:solidFill>
                  <a:srgbClr val="1C3144"/>
                </a:solidFill>
                <a:latin typeface="Calibri"/>
                <a:ea typeface="Calibri"/>
                <a:cs typeface="Calibri"/>
              </a:defRPr>
            </a:lvl4pPr>
            <a:lvl5pPr>
              <a:defRPr sz="3000" b="1">
                <a:solidFill>
                  <a:srgbClr val="1C3144"/>
                </a:solidFill>
                <a:latin typeface="Calibri"/>
                <a:ea typeface="Calibri"/>
                <a:cs typeface="Calibri"/>
              </a:defRPr>
            </a:lvl5pPr>
            <a:lvl6pPr>
              <a:defRPr sz="3000" b="1">
                <a:solidFill>
                  <a:srgbClr val="1C3144"/>
                </a:solidFill>
                <a:latin typeface="Calibri"/>
                <a:ea typeface="Calibri"/>
                <a:cs typeface="Calibri"/>
              </a:defRPr>
            </a:lvl6pPr>
            <a:lvl7pPr>
              <a:defRPr sz="3000" b="1">
                <a:solidFill>
                  <a:srgbClr val="1C3144"/>
                </a:solidFill>
                <a:latin typeface="Calibri"/>
                <a:ea typeface="Calibri"/>
                <a:cs typeface="Calibri"/>
              </a:defRPr>
            </a:lvl7pPr>
            <a:lvl8pPr>
              <a:defRPr sz="3000" b="1">
                <a:solidFill>
                  <a:srgbClr val="1C3144"/>
                </a:solidFill>
                <a:latin typeface="Calibri"/>
                <a:ea typeface="Calibri"/>
                <a:cs typeface="Calibri"/>
              </a:defRPr>
            </a:lvl8pPr>
            <a:lvl9pPr>
              <a:defRPr sz="3000" b="1">
                <a:solidFill>
                  <a:srgbClr val="1C3144"/>
                </a:solidFill>
                <a:latin typeface="Calibri"/>
                <a:ea typeface="Calibri"/>
                <a:cs typeface="Calibri"/>
              </a:defRPr>
            </a:lvl9pPr>
          </a:lstStyle>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total_error_cost: five penalty units per missed positive plus one per false alarm in this scenario.</a:t>
            </a:r>
          </a:p>
        </p:txBody>
      </p:sp>
      <p:sp>
        <p:nvSpPr>
          <p:cNvPr id="6" name="">
            <a:extLst xmlns:a="http://schemas.openxmlformats.org/drawingml/2006/main">
              <a:ext uri="{FF2B5EF4-FFF2-40B4-BE49-F238E27FC236}">
                <a16:creationId xmlns:a16="http://schemas.microsoft.com/office/drawing/2014/main" id="{EE4704E0-8C12-4C39-B07C-DE83351581D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9   36</a:t>
            </a:r>
          </a:p>
        </p:txBody>
      </p:sp>
    </p:spTree>
    <p:extLst>
      <p:ext uri="{BB962C8B-B14F-4D97-AF65-F5344CB8AC3E}">
        <p14:creationId xmlns:p14="http://schemas.microsoft.com/office/powerpoint/2010/main" val="1951880489"/>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13BB109-E1EA-45E5-90C0-216CCC1FA55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6BB8760-FD68-41F1-BEC2-D831867C869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8BA359BE-0124-489E-8ABA-32573ED442D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Metrics from the supplied outcomes: step 3</a:t>
            </a:r>
          </a:p>
        </p:txBody>
      </p:sp>
      <p:sp>
        <p:nvSpPr>
          <p:cNvPr id="4" name="">
            <a:extLst xmlns:a="http://schemas.openxmlformats.org/drawingml/2006/main">
              <a:ext uri="{FF2B5EF4-FFF2-40B4-BE49-F238E27FC236}">
                <a16:creationId xmlns:a16="http://schemas.microsoft.com/office/drawing/2014/main" id="{382E3D23-CB43-424A-B7A6-CB928D483714}"/>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685C203A-7DA2-4266-BD72-68E7090DF26F}"/>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total_error_cost = 5 * false_negative_count + false_positive_count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print(round(precision, 4), round(recall, 4), total_error_cost)</a:t>
            </a:r>
          </a:p>
        </p:txBody>
      </p:sp>
      <p:sp>
        <p:nvSpPr>
          <p:cNvPr id="6" name="">
            <a:extLst xmlns:a="http://schemas.openxmlformats.org/drawingml/2006/main">
              <a:ext uri="{FF2B5EF4-FFF2-40B4-BE49-F238E27FC236}">
                <a16:creationId xmlns:a16="http://schemas.microsoft.com/office/drawing/2014/main" id="{8E36994D-5329-423A-A9F5-7C909BB16D2E}"/>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total_error_cost: five units per missed alert plus one per false alarm.</a:t>
            </a:r>
          </a:p>
        </p:txBody>
      </p:sp>
      <p:sp>
        <p:nvSpPr>
          <p:cNvPr id="7" name="">
            <a:extLst xmlns:a="http://schemas.openxmlformats.org/drawingml/2006/main">
              <a:ext uri="{FF2B5EF4-FFF2-40B4-BE49-F238E27FC236}">
                <a16:creationId xmlns:a16="http://schemas.microsoft.com/office/drawing/2014/main" id="{50B73F6E-22B0-45C0-9444-86E6F9A6878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B5E1E71F-6345-4BD5-A297-1A221FB7860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9   37</a:t>
            </a:r>
          </a:p>
        </p:txBody>
      </p:sp>
    </p:spTree>
    <p:extLst>
      <p:ext uri="{BB962C8B-B14F-4D97-AF65-F5344CB8AC3E}">
        <p14:creationId xmlns:p14="http://schemas.microsoft.com/office/powerpoint/2010/main" val="951443935"/>
      </p:ext>
    </p:extLst>
  </p:cSld>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525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2600" y="190500"/>
            <a:ext cx="11239500" cy="647700"/>
          </a:xfrm>
          <a:prstGeom prst="rect">
            <a:avLst/>
          </a:prstGeom>
          <a:noFill/>
        </p:spPr>
        <p:txBody>
          <a:bodyPr wrap="square">
            <a:spAutoFit/>
          </a:bodyPr>
          <a:lstStyle/>
          <a:p>
            <a:pPr>
              <a:spcAft>
                <a:spcPts val="0"/>
              </a:spcAft>
            </a:pPr>
            <a:r>
              <a:rPr sz="2925" b="1">
                <a:solidFill>
                  <a:srgbClr val="FFFFFF"/>
                </a:solidFill>
                <a:latin typeface="Calibri"/>
              </a:rPr>
              <a:t>The confusion matrix of our model on the validation rows</a:t>
            </a:r>
          </a:p>
        </p:txBody>
      </p:sp>
      <p:pic>
        <p:nvPicPr>
          <p:cNvPr id="4" name="Picture 3" descr="confusion.png"/>
          <p:cNvPicPr>
            <a:picLocks noChangeAspect="1"/>
          </p:cNvPicPr>
          <p:nvPr/>
        </p:nvPicPr>
        <p:blipFill>
          <a:blip r:embed="rId2"/>
          <a:stretch>
            <a:fillRect/>
          </a:stretch>
        </p:blipFill>
        <p:spPr>
          <a:xfrm>
            <a:off x="2364387" y="1117600"/>
            <a:ext cx="7463224" cy="4597400"/>
          </a:xfrm>
          <a:prstGeom prst="rect">
            <a:avLst/>
          </a:prstGeom>
        </p:spPr>
      </p:pic>
      <p:sp>
        <p:nvSpPr>
          <p:cNvPr id="5" name="Rectangle 4"/>
          <p:cNvSpPr/>
          <p:nvPr/>
        </p:nvSpPr>
        <p:spPr>
          <a:xfrm>
            <a:off x="0" y="5816600"/>
            <a:ext cx="12192000" cy="5842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8800" y="5892800"/>
            <a:ext cx="11074400" cy="482600"/>
          </a:xfrm>
          <a:prstGeom prst="rect">
            <a:avLst/>
          </a:prstGeom>
          <a:noFill/>
        </p:spPr>
        <p:txBody>
          <a:bodyPr wrap="square">
            <a:spAutoFit/>
          </a:bodyPr>
          <a:lstStyle/>
          <a:p>
            <a:pPr>
              <a:spcAft>
                <a:spcPts val="0"/>
              </a:spcAft>
            </a:pPr>
            <a:r>
              <a:rPr sz="1800" b="1">
                <a:solidFill>
                  <a:srgbClr val="2E7D6F"/>
                </a:solidFill>
                <a:latin typeface="Calibri"/>
              </a:rPr>
              <a:t>15 validation rows. Accuracy 93 percent, precision 0.75, recall 1.00.</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9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ONE IDEA AT A TIME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F1 combines precision and recall in one number</a:t>
            </a:r>
          </a:p>
        </p:txBody>
      </p:sp>
      <p:sp>
        <p:nvSpPr>
          <p:cNvPr id="5" name="Rectangle 4"/>
          <p:cNvSpPr/>
          <p:nvPr/>
        </p:nvSpPr>
        <p:spPr>
          <a:xfrm>
            <a:off x="584200" y="1752600"/>
            <a:ext cx="4470400" cy="4203700"/>
          </a:xfrm>
          <a:prstGeom prst="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3600" y="2032000"/>
            <a:ext cx="3911600" cy="3683000"/>
          </a:xfrm>
          <a:prstGeom prst="rect">
            <a:avLst/>
          </a:prstGeom>
          <a:noFill/>
        </p:spPr>
        <p:txBody>
          <a:bodyPr wrap="square">
            <a:spAutoFit/>
          </a:bodyPr>
          <a:lstStyle/>
          <a:p>
            <a:pPr>
              <a:spcAft>
                <a:spcPts val="0"/>
              </a:spcAft>
            </a:pPr>
            <a:r>
              <a:rPr sz="2600" b="1">
                <a:solidFill>
                  <a:srgbClr val="FFFFFF"/>
                </a:solidFill>
                <a:latin typeface="Calibri"/>
              </a:rPr>
              <a:t>F1 = 2 × precision × recall ÷ (precision + recall)</a:t>
            </a:r>
          </a:p>
        </p:txBody>
      </p:sp>
      <p:sp>
        <p:nvSpPr>
          <p:cNvPr id="7" name="TextBox 6"/>
          <p:cNvSpPr txBox="1"/>
          <p:nvPr/>
        </p:nvSpPr>
        <p:spPr>
          <a:xfrm>
            <a:off x="5435600" y="1905000"/>
            <a:ext cx="5969000" cy="3937000"/>
          </a:xfrm>
          <a:prstGeom prst="rect">
            <a:avLst/>
          </a:prstGeom>
          <a:noFill/>
        </p:spPr>
        <p:txBody>
          <a:bodyPr wrap="square">
            <a:spAutoFit/>
          </a:bodyPr>
          <a:lstStyle/>
          <a:p>
            <a:pPr>
              <a:spcAft>
                <a:spcPts val="900"/>
              </a:spcAft>
            </a:pPr>
            <a:r>
              <a:rPr sz="2200" b="0">
                <a:solidFill>
                  <a:srgbClr val="1C3144"/>
                </a:solidFill>
                <a:latin typeface="Calibri"/>
              </a:rPr>
              <a:t>F1 is high only when precision and recall are both high.</a:t>
            </a:r>
          </a:p>
          <a:p>
            <a:pPr>
              <a:spcAft>
                <a:spcPts val="900"/>
              </a:spcAft>
            </a:pPr>
            <a:r>
              <a:rPr sz="2200" b="0">
                <a:solidFill>
                  <a:srgbClr val="1C3144"/>
                </a:solidFill>
                <a:latin typeface="Calibri"/>
              </a:rPr>
              <a:t>Our model: precision 0.75, recall 1.00, F1 0.86.</a:t>
            </a:r>
          </a:p>
          <a:p>
            <a:pPr>
              <a:spcAft>
                <a:spcPts val="900"/>
              </a:spcAft>
            </a:pPr>
            <a:r>
              <a:rPr sz="2200" b="0">
                <a:solidFill>
                  <a:srgbClr val="1C3144"/>
                </a:solidFill>
                <a:latin typeface="Calibri"/>
              </a:rPr>
              <a:t>A model that never raises an alert has recall 0, so its F1 is 0, even though its accuracy looked high.</a:t>
            </a:r>
          </a:p>
        </p:txBody>
      </p:sp>
      <p:sp>
        <p:nvSpPr>
          <p:cNvPr id="8" name="TextBox 7"/>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9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ONE IDEA AT A TIME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Moving the threshold trades false alarms for missed alerts</a:t>
            </a:r>
          </a:p>
        </p:txBody>
      </p:sp>
      <p:graphicFrame>
        <p:nvGraphicFramePr>
          <p:cNvPr id="5" name="Table 4"/>
          <p:cNvGraphicFramePr>
            <a:graphicFrameLocks noGrp="1"/>
          </p:cNvGraphicFramePr>
          <p:nvPr/>
        </p:nvGraphicFramePr>
        <p:xfrm>
          <a:off x="584200" y="1625600"/>
          <a:ext cx="11023600" cy="2641600"/>
        </p:xfrm>
        <a:graphic>
          <a:graphicData uri="http://schemas.openxmlformats.org/drawingml/2006/table">
            <a:tbl>
              <a:tblPr firstRow="0" bandRow="0">
                <a:tableStyleId>{5C22544A-7EE6-4342-B048-85BDC9FD1C3A}</a:tableStyleId>
              </a:tblPr>
              <a:tblGrid>
                <a:gridCol w="2286000"/>
                <a:gridCol w="1524000"/>
                <a:gridCol w="1524000"/>
                <a:gridCol w="1524000"/>
                <a:gridCol w="2082800"/>
                <a:gridCol w="2082800"/>
              </a:tblGrid>
              <a:tr h="660400">
                <a:tc>
                  <a:txBody>
                    <a:bodyPr wrap="square"/>
                    <a:lstStyle/>
                    <a:p>
                      <a:r>
                        <a:rPr sz="2000" b="1">
                          <a:solidFill>
                            <a:srgbClr val="FFFFFF"/>
                          </a:solidFill>
                          <a:latin typeface="Calibri"/>
                        </a:rPr>
                        <a:t>Threshold</a:t>
                      </a:r>
                    </a:p>
                  </a:txBody>
                  <a:tcPr marL="101600" marR="101600" marT="38100" marB="38100" anchor="ctr">
                    <a:solidFill>
                      <a:srgbClr val="2E7D6F"/>
                    </a:solidFill>
                  </a:tcPr>
                </a:tc>
                <a:tc>
                  <a:txBody>
                    <a:bodyPr wrap="square"/>
                    <a:lstStyle/>
                    <a:p>
                      <a:r>
                        <a:rPr sz="2000" b="1">
                          <a:solidFill>
                            <a:srgbClr val="FFFFFF"/>
                          </a:solidFill>
                          <a:latin typeface="Calibri"/>
                        </a:rPr>
                        <a:t>TP</a:t>
                      </a:r>
                    </a:p>
                  </a:txBody>
                  <a:tcPr marL="101600" marR="101600" marT="38100" marB="38100" anchor="ctr">
                    <a:solidFill>
                      <a:srgbClr val="2E7D6F"/>
                    </a:solidFill>
                  </a:tcPr>
                </a:tc>
                <a:tc>
                  <a:txBody>
                    <a:bodyPr wrap="square"/>
                    <a:lstStyle/>
                    <a:p>
                      <a:r>
                        <a:rPr sz="2000" b="1">
                          <a:solidFill>
                            <a:srgbClr val="FFFFFF"/>
                          </a:solidFill>
                          <a:latin typeface="Calibri"/>
                        </a:rPr>
                        <a:t>FP</a:t>
                      </a:r>
                    </a:p>
                  </a:txBody>
                  <a:tcPr marL="101600" marR="101600" marT="38100" marB="38100" anchor="ctr">
                    <a:solidFill>
                      <a:srgbClr val="2E7D6F"/>
                    </a:solidFill>
                  </a:tcPr>
                </a:tc>
                <a:tc>
                  <a:txBody>
                    <a:bodyPr wrap="square"/>
                    <a:lstStyle/>
                    <a:p>
                      <a:r>
                        <a:rPr sz="2000" b="1">
                          <a:solidFill>
                            <a:srgbClr val="FFFFFF"/>
                          </a:solidFill>
                          <a:latin typeface="Calibri"/>
                        </a:rPr>
                        <a:t>FN</a:t>
                      </a:r>
                    </a:p>
                  </a:txBody>
                  <a:tcPr marL="101600" marR="101600" marT="38100" marB="38100" anchor="ctr">
                    <a:solidFill>
                      <a:srgbClr val="2E7D6F"/>
                    </a:solidFill>
                  </a:tcPr>
                </a:tc>
                <a:tc>
                  <a:txBody>
                    <a:bodyPr wrap="square"/>
                    <a:lstStyle/>
                    <a:p>
                      <a:r>
                        <a:rPr sz="2000" b="1">
                          <a:solidFill>
                            <a:srgbClr val="FFFFFF"/>
                          </a:solidFill>
                          <a:latin typeface="Calibri"/>
                        </a:rPr>
                        <a:t>Precision</a:t>
                      </a:r>
                    </a:p>
                  </a:txBody>
                  <a:tcPr marL="101600" marR="101600" marT="38100" marB="38100" anchor="ctr">
                    <a:solidFill>
                      <a:srgbClr val="2E7D6F"/>
                    </a:solidFill>
                  </a:tcPr>
                </a:tc>
                <a:tc>
                  <a:txBody>
                    <a:bodyPr wrap="square"/>
                    <a:lstStyle/>
                    <a:p>
                      <a:r>
                        <a:rPr sz="2000" b="1">
                          <a:solidFill>
                            <a:srgbClr val="FFFFFF"/>
                          </a:solidFill>
                          <a:latin typeface="Calibri"/>
                        </a:rPr>
                        <a:t>Recall</a:t>
                      </a:r>
                    </a:p>
                  </a:txBody>
                  <a:tcPr marL="101600" marR="101600" marT="38100" marB="38100" anchor="ctr">
                    <a:solidFill>
                      <a:srgbClr val="2E7D6F"/>
                    </a:solidFill>
                  </a:tcPr>
                </a:tc>
              </a:tr>
              <a:tr h="660400">
                <a:tc>
                  <a:txBody>
                    <a:bodyPr wrap="square"/>
                    <a:lstStyle/>
                    <a:p>
                      <a:r>
                        <a:rPr sz="2000" b="1">
                          <a:solidFill>
                            <a:srgbClr val="1C3144"/>
                          </a:solidFill>
                          <a:latin typeface="Calibri"/>
                        </a:rPr>
                        <a:t>0.3</a:t>
                      </a:r>
                    </a:p>
                  </a:txBody>
                  <a:tcPr marL="101600" marR="101600" marT="38100" marB="38100" anchor="ctr">
                    <a:solidFill>
                      <a:srgbClr val="EEF3F6"/>
                    </a:solidFill>
                  </a:tcPr>
                </a:tc>
                <a:tc>
                  <a:txBody>
                    <a:bodyPr wrap="square"/>
                    <a:lstStyle/>
                    <a:p>
                      <a:r>
                        <a:rPr sz="2000" b="0">
                          <a:solidFill>
                            <a:srgbClr val="1C3144"/>
                          </a:solidFill>
                          <a:latin typeface="Calibri"/>
                        </a:rPr>
                        <a:t>3</a:t>
                      </a:r>
                    </a:p>
                  </a:txBody>
                  <a:tcPr marL="101600" marR="101600" marT="38100" marB="38100" anchor="ctr">
                    <a:solidFill>
                      <a:srgbClr val="EEF3F6"/>
                    </a:solidFill>
                  </a:tcPr>
                </a:tc>
                <a:tc>
                  <a:txBody>
                    <a:bodyPr wrap="square"/>
                    <a:lstStyle/>
                    <a:p>
                      <a:r>
                        <a:rPr sz="2000" b="0">
                          <a:solidFill>
                            <a:srgbClr val="1C3144"/>
                          </a:solidFill>
                          <a:latin typeface="Calibri"/>
                        </a:rPr>
                        <a:t>2</a:t>
                      </a:r>
                    </a:p>
                  </a:txBody>
                  <a:tcPr marL="101600" marR="101600" marT="38100" marB="38100" anchor="ctr">
                    <a:solidFill>
                      <a:srgbClr val="EEF3F6"/>
                    </a:solidFill>
                  </a:tcPr>
                </a:tc>
                <a:tc>
                  <a:txBody>
                    <a:bodyPr wrap="square"/>
                    <a:lstStyle/>
                    <a:p>
                      <a:r>
                        <a:rPr sz="2000" b="0">
                          <a:solidFill>
                            <a:srgbClr val="1C3144"/>
                          </a:solidFill>
                          <a:latin typeface="Calibri"/>
                        </a:rPr>
                        <a:t>0</a:t>
                      </a:r>
                    </a:p>
                  </a:txBody>
                  <a:tcPr marL="101600" marR="101600" marT="38100" marB="38100" anchor="ctr">
                    <a:solidFill>
                      <a:srgbClr val="EEF3F6"/>
                    </a:solidFill>
                  </a:tcPr>
                </a:tc>
                <a:tc>
                  <a:txBody>
                    <a:bodyPr wrap="square"/>
                    <a:lstStyle/>
                    <a:p>
                      <a:r>
                        <a:rPr sz="2000" b="0">
                          <a:solidFill>
                            <a:srgbClr val="1C3144"/>
                          </a:solidFill>
                          <a:latin typeface="Calibri"/>
                        </a:rPr>
                        <a:t>0.60</a:t>
                      </a:r>
                    </a:p>
                  </a:txBody>
                  <a:tcPr marL="101600" marR="101600" marT="38100" marB="38100" anchor="ctr">
                    <a:solidFill>
                      <a:srgbClr val="EEF3F6"/>
                    </a:solidFill>
                  </a:tcPr>
                </a:tc>
                <a:tc>
                  <a:txBody>
                    <a:bodyPr wrap="square"/>
                    <a:lstStyle/>
                    <a:p>
                      <a:r>
                        <a:rPr sz="2000" b="0">
                          <a:solidFill>
                            <a:srgbClr val="1C3144"/>
                          </a:solidFill>
                          <a:latin typeface="Calibri"/>
                        </a:rPr>
                        <a:t>1.00</a:t>
                      </a:r>
                    </a:p>
                  </a:txBody>
                  <a:tcPr marL="101600" marR="101600" marT="38100" marB="38100" anchor="ctr">
                    <a:solidFill>
                      <a:srgbClr val="EEF3F6"/>
                    </a:solidFill>
                  </a:tcPr>
                </a:tc>
              </a:tr>
              <a:tr h="660400">
                <a:tc>
                  <a:txBody>
                    <a:bodyPr wrap="square"/>
                    <a:lstStyle/>
                    <a:p>
                      <a:r>
                        <a:rPr sz="2000" b="1">
                          <a:solidFill>
                            <a:srgbClr val="1C3144"/>
                          </a:solidFill>
                          <a:latin typeface="Calibri"/>
                        </a:rPr>
                        <a:t>0.5</a:t>
                      </a:r>
                    </a:p>
                  </a:txBody>
                  <a:tcPr marL="101600" marR="101600" marT="38100" marB="38100" anchor="ctr">
                    <a:solidFill>
                      <a:srgbClr val="FFFFFF"/>
                    </a:solidFill>
                  </a:tcPr>
                </a:tc>
                <a:tc>
                  <a:txBody>
                    <a:bodyPr wrap="square"/>
                    <a:lstStyle/>
                    <a:p>
                      <a:r>
                        <a:rPr sz="2000" b="0">
                          <a:solidFill>
                            <a:srgbClr val="1C3144"/>
                          </a:solidFill>
                          <a:latin typeface="Calibri"/>
                        </a:rPr>
                        <a:t>3</a:t>
                      </a:r>
                    </a:p>
                  </a:txBody>
                  <a:tcPr marL="101600" marR="101600" marT="38100" marB="38100" anchor="ctr">
                    <a:solidFill>
                      <a:srgbClr val="FFFFFF"/>
                    </a:solidFill>
                  </a:tcPr>
                </a:tc>
                <a:tc>
                  <a:txBody>
                    <a:bodyPr wrap="square"/>
                    <a:lstStyle/>
                    <a:p>
                      <a:r>
                        <a:rPr sz="2000" b="0">
                          <a:solidFill>
                            <a:srgbClr val="1C3144"/>
                          </a:solidFill>
                          <a:latin typeface="Calibri"/>
                        </a:rPr>
                        <a:t>1</a:t>
                      </a:r>
                    </a:p>
                  </a:txBody>
                  <a:tcPr marL="101600" marR="101600" marT="38100" marB="38100" anchor="ctr">
                    <a:solidFill>
                      <a:srgbClr val="FFFFFF"/>
                    </a:solidFill>
                  </a:tcPr>
                </a:tc>
                <a:tc>
                  <a:txBody>
                    <a:bodyPr wrap="square"/>
                    <a:lstStyle/>
                    <a:p>
                      <a:r>
                        <a:rPr sz="2000" b="0">
                          <a:solidFill>
                            <a:srgbClr val="1C3144"/>
                          </a:solidFill>
                          <a:latin typeface="Calibri"/>
                        </a:rPr>
                        <a:t>0</a:t>
                      </a:r>
                    </a:p>
                  </a:txBody>
                  <a:tcPr marL="101600" marR="101600" marT="38100" marB="38100" anchor="ctr">
                    <a:solidFill>
                      <a:srgbClr val="FFFFFF"/>
                    </a:solidFill>
                  </a:tcPr>
                </a:tc>
                <a:tc>
                  <a:txBody>
                    <a:bodyPr wrap="square"/>
                    <a:lstStyle/>
                    <a:p>
                      <a:r>
                        <a:rPr sz="2000" b="0">
                          <a:solidFill>
                            <a:srgbClr val="1C3144"/>
                          </a:solidFill>
                          <a:latin typeface="Calibri"/>
                        </a:rPr>
                        <a:t>0.75</a:t>
                      </a:r>
                    </a:p>
                  </a:txBody>
                  <a:tcPr marL="101600" marR="101600" marT="38100" marB="38100" anchor="ctr">
                    <a:solidFill>
                      <a:srgbClr val="FFFFFF"/>
                    </a:solidFill>
                  </a:tcPr>
                </a:tc>
                <a:tc>
                  <a:txBody>
                    <a:bodyPr wrap="square"/>
                    <a:lstStyle/>
                    <a:p>
                      <a:r>
                        <a:rPr sz="2000" b="0">
                          <a:solidFill>
                            <a:srgbClr val="1C3144"/>
                          </a:solidFill>
                          <a:latin typeface="Calibri"/>
                        </a:rPr>
                        <a:t>1.00</a:t>
                      </a:r>
                    </a:p>
                  </a:txBody>
                  <a:tcPr marL="101600" marR="101600" marT="38100" marB="38100" anchor="ctr">
                    <a:solidFill>
                      <a:srgbClr val="FFFFFF"/>
                    </a:solidFill>
                  </a:tcPr>
                </a:tc>
              </a:tr>
              <a:tr h="660400">
                <a:tc>
                  <a:txBody>
                    <a:bodyPr wrap="square"/>
                    <a:lstStyle/>
                    <a:p>
                      <a:r>
                        <a:rPr sz="2000" b="1">
                          <a:solidFill>
                            <a:srgbClr val="1C3144"/>
                          </a:solidFill>
                          <a:latin typeface="Calibri"/>
                        </a:rPr>
                        <a:t>0.7</a:t>
                      </a:r>
                    </a:p>
                  </a:txBody>
                  <a:tcPr marL="101600" marR="101600" marT="38100" marB="38100" anchor="ctr">
                    <a:solidFill>
                      <a:srgbClr val="EEF3F6"/>
                    </a:solidFill>
                  </a:tcPr>
                </a:tc>
                <a:tc>
                  <a:txBody>
                    <a:bodyPr wrap="square"/>
                    <a:lstStyle/>
                    <a:p>
                      <a:r>
                        <a:rPr sz="2000" b="0">
                          <a:solidFill>
                            <a:srgbClr val="1C3144"/>
                          </a:solidFill>
                          <a:latin typeface="Calibri"/>
                        </a:rPr>
                        <a:t>2</a:t>
                      </a:r>
                    </a:p>
                  </a:txBody>
                  <a:tcPr marL="101600" marR="101600" marT="38100" marB="38100" anchor="ctr">
                    <a:solidFill>
                      <a:srgbClr val="EEF3F6"/>
                    </a:solidFill>
                  </a:tcPr>
                </a:tc>
                <a:tc>
                  <a:txBody>
                    <a:bodyPr wrap="square"/>
                    <a:lstStyle/>
                    <a:p>
                      <a:r>
                        <a:rPr sz="2000" b="0">
                          <a:solidFill>
                            <a:srgbClr val="1C3144"/>
                          </a:solidFill>
                          <a:latin typeface="Calibri"/>
                        </a:rPr>
                        <a:t>0</a:t>
                      </a:r>
                    </a:p>
                  </a:txBody>
                  <a:tcPr marL="101600" marR="101600" marT="38100" marB="38100" anchor="ctr">
                    <a:solidFill>
                      <a:srgbClr val="EEF3F6"/>
                    </a:solidFill>
                  </a:tcPr>
                </a:tc>
                <a:tc>
                  <a:txBody>
                    <a:bodyPr wrap="square"/>
                    <a:lstStyle/>
                    <a:p>
                      <a:r>
                        <a:rPr sz="2000" b="0">
                          <a:solidFill>
                            <a:srgbClr val="1C3144"/>
                          </a:solidFill>
                          <a:latin typeface="Calibri"/>
                        </a:rPr>
                        <a:t>1</a:t>
                      </a:r>
                    </a:p>
                  </a:txBody>
                  <a:tcPr marL="101600" marR="101600" marT="38100" marB="38100" anchor="ctr">
                    <a:solidFill>
                      <a:srgbClr val="EEF3F6"/>
                    </a:solidFill>
                  </a:tcPr>
                </a:tc>
                <a:tc>
                  <a:txBody>
                    <a:bodyPr wrap="square"/>
                    <a:lstStyle/>
                    <a:p>
                      <a:r>
                        <a:rPr sz="2000" b="0">
                          <a:solidFill>
                            <a:srgbClr val="1C3144"/>
                          </a:solidFill>
                          <a:latin typeface="Calibri"/>
                        </a:rPr>
                        <a:t>1.00</a:t>
                      </a:r>
                    </a:p>
                  </a:txBody>
                  <a:tcPr marL="101600" marR="101600" marT="38100" marB="38100" anchor="ctr">
                    <a:solidFill>
                      <a:srgbClr val="EEF3F6"/>
                    </a:solidFill>
                  </a:tcPr>
                </a:tc>
                <a:tc>
                  <a:txBody>
                    <a:bodyPr wrap="square"/>
                    <a:lstStyle/>
                    <a:p>
                      <a:r>
                        <a:rPr sz="2000" b="0">
                          <a:solidFill>
                            <a:srgbClr val="1C3144"/>
                          </a:solidFill>
                          <a:latin typeface="Calibri"/>
                        </a:rPr>
                        <a:t>0.67</a:t>
                      </a:r>
                    </a:p>
                  </a:txBody>
                  <a:tcPr marL="101600" marR="101600" marT="38100" marB="38100" anchor="ctr">
                    <a:solidFill>
                      <a:srgbClr val="EEF3F6"/>
                    </a:solidFill>
                  </a:tcPr>
                </a:tc>
              </a:tr>
            </a:tbl>
          </a:graphicData>
        </a:graphic>
      </p:graphicFrame>
      <p:sp>
        <p:nvSpPr>
          <p:cNvPr id="6" name="TextBox 5"/>
          <p:cNvSpPr txBox="1"/>
          <p:nvPr/>
        </p:nvSpPr>
        <p:spPr>
          <a:xfrm>
            <a:off x="584200" y="4445000"/>
            <a:ext cx="11023600" cy="1981200"/>
          </a:xfrm>
          <a:prstGeom prst="rect">
            <a:avLst/>
          </a:prstGeom>
          <a:noFill/>
        </p:spPr>
        <p:txBody>
          <a:bodyPr wrap="square">
            <a:spAutoFit/>
          </a:bodyPr>
          <a:lstStyle/>
          <a:p>
            <a:pPr>
              <a:spcAft>
                <a:spcPts val="400"/>
              </a:spcAft>
            </a:pPr>
            <a:r>
              <a:rPr sz="1900" b="0">
                <a:solidFill>
                  <a:srgbClr val="1C3144"/>
                </a:solidFill>
                <a:latin typeface="Calibri"/>
              </a:rPr>
              <a:t>Lower threshold: more alerts, more false alarms, fewer misses.</a:t>
            </a:r>
          </a:p>
          <a:p>
            <a:pPr>
              <a:spcAft>
                <a:spcPts val="400"/>
              </a:spcAft>
            </a:pPr>
            <a:r>
              <a:rPr sz="1900" b="0">
                <a:solidFill>
                  <a:srgbClr val="1C3144"/>
                </a:solidFill>
                <a:latin typeface="Calibri"/>
              </a:rPr>
              <a:t>Higher threshold: fewer alerts, fewer false alarms, more misses.</a:t>
            </a:r>
          </a:p>
          <a:p>
            <a:pPr>
              <a:spcAft>
                <a:spcPts val="400"/>
              </a:spcAft>
            </a:pPr>
            <a:r>
              <a:rPr sz="1900" b="0">
                <a:solidFill>
                  <a:srgbClr val="1C3144"/>
                </a:solidFill>
                <a:latin typeface="Calibri"/>
              </a:rPr>
              <a:t>Choose the threshold from the cost of each mistake.</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9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525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2600" y="190500"/>
            <a:ext cx="11239500" cy="647700"/>
          </a:xfrm>
          <a:prstGeom prst="rect">
            <a:avLst/>
          </a:prstGeom>
          <a:noFill/>
        </p:spPr>
        <p:txBody>
          <a:bodyPr wrap="square">
            <a:spAutoFit/>
          </a:bodyPr>
          <a:lstStyle/>
          <a:p>
            <a:pPr>
              <a:spcAft>
                <a:spcPts val="0"/>
              </a:spcAft>
            </a:pPr>
            <a:r>
              <a:rPr sz="2925" b="1">
                <a:solidFill>
                  <a:srgbClr val="FFFFFF"/>
                </a:solidFill>
                <a:latin typeface="Calibri"/>
              </a:rPr>
              <a:t>The ROC curve shows every threshold at once</a:t>
            </a:r>
          </a:p>
        </p:txBody>
      </p:sp>
      <p:pic>
        <p:nvPicPr>
          <p:cNvPr id="4" name="Picture 3" descr="roc.png"/>
          <p:cNvPicPr>
            <a:picLocks noChangeAspect="1"/>
          </p:cNvPicPr>
          <p:nvPr/>
        </p:nvPicPr>
        <p:blipFill>
          <a:blip r:embed="rId2"/>
          <a:stretch>
            <a:fillRect/>
          </a:stretch>
        </p:blipFill>
        <p:spPr>
          <a:xfrm>
            <a:off x="3249390" y="1117600"/>
            <a:ext cx="5693218" cy="4597400"/>
          </a:xfrm>
          <a:prstGeom prst="rect">
            <a:avLst/>
          </a:prstGeom>
        </p:spPr>
      </p:pic>
      <p:sp>
        <p:nvSpPr>
          <p:cNvPr id="5" name="Rectangle 4"/>
          <p:cNvSpPr/>
          <p:nvPr/>
        </p:nvSpPr>
        <p:spPr>
          <a:xfrm>
            <a:off x="0" y="5816600"/>
            <a:ext cx="12192000" cy="5842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8800" y="5892800"/>
            <a:ext cx="11074400" cy="482600"/>
          </a:xfrm>
          <a:prstGeom prst="rect">
            <a:avLst/>
          </a:prstGeom>
          <a:noFill/>
        </p:spPr>
        <p:txBody>
          <a:bodyPr wrap="square">
            <a:spAutoFit/>
          </a:bodyPr>
          <a:lstStyle/>
          <a:p>
            <a:pPr>
              <a:spcAft>
                <a:spcPts val="0"/>
              </a:spcAft>
            </a:pPr>
            <a:r>
              <a:rPr sz="1800" b="1">
                <a:solidFill>
                  <a:srgbClr val="2E7D6F"/>
                </a:solidFill>
                <a:latin typeface="Calibri"/>
              </a:rPr>
              <a:t>Each point is one threshold. AUC is 0.97 here. 1.00 is a perfect ranking and 0.50 is guessing.</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9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ONE IDEA AT A TIME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A decision tree can answer yes or no too</a:t>
            </a:r>
          </a:p>
        </p:txBody>
      </p:sp>
      <p:sp>
        <p:nvSpPr>
          <p:cNvPr id="5" name="Rectangle 4"/>
          <p:cNvSpPr/>
          <p:nvPr/>
        </p:nvSpPr>
        <p:spPr>
          <a:xfrm>
            <a:off x="584200" y="1752600"/>
            <a:ext cx="5308600" cy="416560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197600" y="1752600"/>
            <a:ext cx="5397500" cy="41656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900" y="1981200"/>
            <a:ext cx="4749800" cy="3810000"/>
          </a:xfrm>
          <a:prstGeom prst="rect">
            <a:avLst/>
          </a:prstGeom>
          <a:noFill/>
        </p:spPr>
        <p:txBody>
          <a:bodyPr wrap="square">
            <a:spAutoFit/>
          </a:bodyPr>
          <a:lstStyle/>
          <a:p>
            <a:pPr>
              <a:spcAft>
                <a:spcPts val="800"/>
              </a:spcAft>
            </a:pPr>
            <a:r>
              <a:rPr sz="2200" b="1">
                <a:solidFill>
                  <a:srgbClr val="1C3144"/>
                </a:solidFill>
                <a:latin typeface="Calibri"/>
              </a:rPr>
              <a:t>SAME IDEA AS WEEK 8</a:t>
            </a:r>
          </a:p>
          <a:p>
            <a:pPr>
              <a:spcAft>
                <a:spcPts val="800"/>
              </a:spcAft>
            </a:pPr>
            <a:r>
              <a:rPr sz="2200" b="0">
                <a:solidFill>
                  <a:srgbClr val="1C3144"/>
                </a:solidFill>
                <a:latin typeface="Calibri"/>
              </a:rPr>
              <a:t>A tree asks yes or no questions about the inputs. For a classifier, each leaf holds the share of alerts among the training rows that end there, and the tree answers with the majority.</a:t>
            </a:r>
          </a:p>
          <a:p>
            <a:pPr>
              <a:spcAft>
                <a:spcPts val="800"/>
              </a:spcAft>
            </a:pPr>
            <a:r>
              <a:rPr sz="2200" b="0">
                <a:solidFill>
                  <a:srgbClr val="1C3144"/>
                </a:solidFill>
                <a:latin typeface="Calibri"/>
              </a:rPr>
              <a:t>In scikit-learn: DecisionTreeClassifier(max_depth=3, random_state=17).</a:t>
            </a:r>
          </a:p>
        </p:txBody>
      </p:sp>
      <p:sp>
        <p:nvSpPr>
          <p:cNvPr id="8" name="TextBox 7"/>
          <p:cNvSpPr txBox="1"/>
          <p:nvPr/>
        </p:nvSpPr>
        <p:spPr>
          <a:xfrm>
            <a:off x="6451600" y="1981200"/>
            <a:ext cx="4851400" cy="3810000"/>
          </a:xfrm>
          <a:prstGeom prst="rect">
            <a:avLst/>
          </a:prstGeom>
          <a:noFill/>
        </p:spPr>
        <p:txBody>
          <a:bodyPr wrap="square">
            <a:spAutoFit/>
          </a:bodyPr>
          <a:lstStyle/>
          <a:p>
            <a:pPr>
              <a:spcAft>
                <a:spcPts val="800"/>
              </a:spcAft>
            </a:pPr>
            <a:r>
              <a:rPr sz="2200" b="1">
                <a:solidFill>
                  <a:srgbClr val="1C3144"/>
                </a:solidFill>
                <a:latin typeface="Calibri"/>
              </a:rPr>
              <a:t>ON THE VALIDATION ROWS</a:t>
            </a:r>
          </a:p>
          <a:p>
            <a:pPr>
              <a:spcAft>
                <a:spcPts val="800"/>
              </a:spcAft>
            </a:pPr>
            <a:r>
              <a:rPr sz="2200" b="0">
                <a:solidFill>
                  <a:srgbClr val="1C3144"/>
                </a:solidFill>
                <a:latin typeface="Calibri"/>
              </a:rPr>
              <a:t>Tree: TP 3, FP 1, FN 0, TN 11. Precision 0.75, recall 1.00, F1 0.86.</a:t>
            </a:r>
          </a:p>
          <a:p>
            <a:pPr>
              <a:spcAft>
                <a:spcPts val="800"/>
              </a:spcAft>
            </a:pPr>
            <a:r>
              <a:rPr sz="2200" b="0">
                <a:solidFill>
                  <a:srgbClr val="1C3144"/>
                </a:solidFill>
                <a:latin typeface="Calibri"/>
              </a:rPr>
              <a:t>Logistic regression: TP 3, FP 1, FN 0, TN 11. Precision 0.75, recall 1.00, F1 0.86.</a:t>
            </a:r>
          </a:p>
        </p:txBody>
      </p:sp>
      <p:sp>
        <p:nvSpPr>
          <p:cNvPr id="9" name="TextBox 8"/>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9   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WORDS WE USED</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Words from today</a:t>
            </a:r>
          </a:p>
        </p:txBody>
      </p:sp>
      <p:graphicFrame>
        <p:nvGraphicFramePr>
          <p:cNvPr id="5" name="Table 4"/>
          <p:cNvGraphicFramePr>
            <a:graphicFrameLocks noGrp="1"/>
          </p:cNvGraphicFramePr>
          <p:nvPr/>
        </p:nvGraphicFramePr>
        <p:xfrm>
          <a:off x="584200" y="1625600"/>
          <a:ext cx="11023600" cy="4622800"/>
        </p:xfrm>
        <a:graphic>
          <a:graphicData uri="http://schemas.openxmlformats.org/drawingml/2006/table">
            <a:tbl>
              <a:tblPr firstRow="0" bandRow="0">
                <a:tableStyleId>{5C22544A-7EE6-4342-B048-85BDC9FD1C3A}</a:tableStyleId>
              </a:tblPr>
              <a:tblGrid>
                <a:gridCol w="2921000"/>
                <a:gridCol w="5080000"/>
                <a:gridCol w="3022600"/>
              </a:tblGrid>
              <a:tr h="660400">
                <a:tc>
                  <a:txBody>
                    <a:bodyPr wrap="square"/>
                    <a:lstStyle/>
                    <a:p>
                      <a:r>
                        <a:rPr sz="1700" b="1">
                          <a:solidFill>
                            <a:srgbClr val="FFFFFF"/>
                          </a:solidFill>
                          <a:latin typeface="Calibri"/>
                        </a:rPr>
                        <a:t>Word</a:t>
                      </a:r>
                    </a:p>
                  </a:txBody>
                  <a:tcPr marL="101600" marR="101600" marT="38100" marB="38100" anchor="ctr">
                    <a:solidFill>
                      <a:srgbClr val="2E7D6F"/>
                    </a:solidFill>
                  </a:tcPr>
                </a:tc>
                <a:tc>
                  <a:txBody>
                    <a:bodyPr wrap="square"/>
                    <a:lstStyle/>
                    <a:p>
                      <a:r>
                        <a:rPr sz="1700" b="1">
                          <a:solidFill>
                            <a:srgbClr val="FFFFFF"/>
                          </a:solidFill>
                          <a:latin typeface="Calibri"/>
                        </a:rPr>
                        <a:t>Plain meaning</a:t>
                      </a:r>
                    </a:p>
                  </a:txBody>
                  <a:tcPr marL="101600" marR="101600" marT="38100" marB="38100" anchor="ctr">
                    <a:solidFill>
                      <a:srgbClr val="2E7D6F"/>
                    </a:solidFill>
                  </a:tcPr>
                </a:tc>
                <a:tc>
                  <a:txBody>
                    <a:bodyPr wrap="square"/>
                    <a:lstStyle/>
                    <a:p>
                      <a:r>
                        <a:rPr sz="1700" b="1">
                          <a:solidFill>
                            <a:srgbClr val="FFFFFF"/>
                          </a:solidFill>
                          <a:latin typeface="Calibri"/>
                        </a:rPr>
                        <a:t>Where we met it</a:t>
                      </a:r>
                    </a:p>
                  </a:txBody>
                  <a:tcPr marL="101600" marR="101600" marT="38100" marB="38100" anchor="ctr">
                    <a:solidFill>
                      <a:srgbClr val="2E7D6F"/>
                    </a:solidFill>
                  </a:tcPr>
                </a:tc>
              </a:tr>
              <a:tr h="660400">
                <a:tc>
                  <a:txBody>
                    <a:bodyPr wrap="square"/>
                    <a:lstStyle/>
                    <a:p>
                      <a:r>
                        <a:rPr sz="1700" b="1">
                          <a:solidFill>
                            <a:srgbClr val="1C3144"/>
                          </a:solidFill>
                          <a:latin typeface="Calibri"/>
                        </a:rPr>
                        <a:t>Accuracy</a:t>
                      </a:r>
                    </a:p>
                  </a:txBody>
                  <a:tcPr marL="101600" marR="101600" marT="38100" marB="38100" anchor="ctr">
                    <a:solidFill>
                      <a:srgbClr val="EEF3F6"/>
                    </a:solidFill>
                  </a:tcPr>
                </a:tc>
                <a:tc>
                  <a:txBody>
                    <a:bodyPr wrap="square"/>
                    <a:lstStyle/>
                    <a:p>
                      <a:r>
                        <a:rPr sz="1700" b="0">
                          <a:solidFill>
                            <a:srgbClr val="1C3144"/>
                          </a:solidFill>
                          <a:latin typeface="Calibri"/>
                        </a:rPr>
                        <a:t>Share of rows answered correctly.</a:t>
                      </a:r>
                    </a:p>
                  </a:txBody>
                  <a:tcPr marL="101600" marR="101600" marT="38100" marB="38100" anchor="ctr">
                    <a:solidFill>
                      <a:srgbClr val="EEF3F6"/>
                    </a:solidFill>
                  </a:tcPr>
                </a:tc>
                <a:tc>
                  <a:txBody>
                    <a:bodyPr wrap="square"/>
                    <a:lstStyle/>
                    <a:p>
                      <a:r>
                        <a:rPr sz="1700" b="0">
                          <a:solidFill>
                            <a:srgbClr val="1C3144"/>
                          </a:solidFill>
                          <a:latin typeface="Calibri"/>
                        </a:rPr>
                        <a:t>59 percent for a model that never alerts</a:t>
                      </a:r>
                    </a:p>
                  </a:txBody>
                  <a:tcPr marL="101600" marR="101600" marT="38100" marB="38100" anchor="ctr">
                    <a:solidFill>
                      <a:srgbClr val="EEF3F6"/>
                    </a:solidFill>
                  </a:tcPr>
                </a:tc>
              </a:tr>
              <a:tr h="660400">
                <a:tc>
                  <a:txBody>
                    <a:bodyPr wrap="square"/>
                    <a:lstStyle/>
                    <a:p>
                      <a:r>
                        <a:rPr sz="1700" b="1">
                          <a:solidFill>
                            <a:srgbClr val="1C3144"/>
                          </a:solidFill>
                          <a:latin typeface="Calibri"/>
                        </a:rPr>
                        <a:t>Precision</a:t>
                      </a:r>
                    </a:p>
                  </a:txBody>
                  <a:tcPr marL="101600" marR="101600" marT="38100" marB="38100" anchor="ctr">
                    <a:solidFill>
                      <a:srgbClr val="FFFFFF"/>
                    </a:solidFill>
                  </a:tcPr>
                </a:tc>
                <a:tc>
                  <a:txBody>
                    <a:bodyPr wrap="square"/>
                    <a:lstStyle/>
                    <a:p>
                      <a:r>
                        <a:rPr sz="1700" b="0">
                          <a:solidFill>
                            <a:srgbClr val="1C3144"/>
                          </a:solidFill>
                          <a:latin typeface="Calibri"/>
                        </a:rPr>
                        <a:t>Of the alerts raised, the share that were real.</a:t>
                      </a:r>
                    </a:p>
                  </a:txBody>
                  <a:tcPr marL="101600" marR="101600" marT="38100" marB="38100" anchor="ctr">
                    <a:solidFill>
                      <a:srgbClr val="FFFFFF"/>
                    </a:solidFill>
                  </a:tcPr>
                </a:tc>
                <a:tc>
                  <a:txBody>
                    <a:bodyPr wrap="square"/>
                    <a:lstStyle/>
                    <a:p>
                      <a:r>
                        <a:rPr sz="1700" b="0">
                          <a:solidFill>
                            <a:srgbClr val="1C3144"/>
                          </a:solidFill>
                          <a:latin typeface="Calibri"/>
                        </a:rPr>
                        <a:t>TP ÷ (TP + FP)</a:t>
                      </a:r>
                    </a:p>
                  </a:txBody>
                  <a:tcPr marL="101600" marR="101600" marT="38100" marB="38100" anchor="ctr">
                    <a:solidFill>
                      <a:srgbClr val="FFFFFF"/>
                    </a:solidFill>
                  </a:tcPr>
                </a:tc>
              </a:tr>
              <a:tr h="660400">
                <a:tc>
                  <a:txBody>
                    <a:bodyPr wrap="square"/>
                    <a:lstStyle/>
                    <a:p>
                      <a:r>
                        <a:rPr sz="1700" b="1">
                          <a:solidFill>
                            <a:srgbClr val="1C3144"/>
                          </a:solidFill>
                          <a:latin typeface="Calibri"/>
                        </a:rPr>
                        <a:t>Recall</a:t>
                      </a:r>
                    </a:p>
                  </a:txBody>
                  <a:tcPr marL="101600" marR="101600" marT="38100" marB="38100" anchor="ctr">
                    <a:solidFill>
                      <a:srgbClr val="EEF3F6"/>
                    </a:solidFill>
                  </a:tcPr>
                </a:tc>
                <a:tc>
                  <a:txBody>
                    <a:bodyPr wrap="square"/>
                    <a:lstStyle/>
                    <a:p>
                      <a:r>
                        <a:rPr sz="1700" b="0">
                          <a:solidFill>
                            <a:srgbClr val="1C3144"/>
                          </a:solidFill>
                          <a:latin typeface="Calibri"/>
                        </a:rPr>
                        <a:t>Of the real alerts, the share that were found.</a:t>
                      </a:r>
                    </a:p>
                  </a:txBody>
                  <a:tcPr marL="101600" marR="101600" marT="38100" marB="38100" anchor="ctr">
                    <a:solidFill>
                      <a:srgbClr val="EEF3F6"/>
                    </a:solidFill>
                  </a:tcPr>
                </a:tc>
                <a:tc>
                  <a:txBody>
                    <a:bodyPr wrap="square"/>
                    <a:lstStyle/>
                    <a:p>
                      <a:r>
                        <a:rPr sz="1700" b="0">
                          <a:solidFill>
                            <a:srgbClr val="1C3144"/>
                          </a:solidFill>
                          <a:latin typeface="Calibri"/>
                        </a:rPr>
                        <a:t>TP ÷ (TP + FN)</a:t>
                      </a:r>
                    </a:p>
                  </a:txBody>
                  <a:tcPr marL="101600" marR="101600" marT="38100" marB="38100" anchor="ctr">
                    <a:solidFill>
                      <a:srgbClr val="EEF3F6"/>
                    </a:solidFill>
                  </a:tcPr>
                </a:tc>
              </a:tr>
              <a:tr h="660400">
                <a:tc>
                  <a:txBody>
                    <a:bodyPr wrap="square"/>
                    <a:lstStyle/>
                    <a:p>
                      <a:r>
                        <a:rPr sz="1700" b="1">
                          <a:solidFill>
                            <a:srgbClr val="1C3144"/>
                          </a:solidFill>
                          <a:latin typeface="Calibri"/>
                        </a:rPr>
                        <a:t>F1</a:t>
                      </a:r>
                    </a:p>
                  </a:txBody>
                  <a:tcPr marL="101600" marR="101600" marT="38100" marB="38100" anchor="ctr">
                    <a:solidFill>
                      <a:srgbClr val="FFFFFF"/>
                    </a:solidFill>
                  </a:tcPr>
                </a:tc>
                <a:tc>
                  <a:txBody>
                    <a:bodyPr wrap="square"/>
                    <a:lstStyle/>
                    <a:p>
                      <a:r>
                        <a:rPr sz="1700" b="0">
                          <a:solidFill>
                            <a:srgbClr val="1C3144"/>
                          </a:solidFill>
                          <a:latin typeface="Calibri"/>
                        </a:rPr>
                        <a:t>One number that is high only when both are high.</a:t>
                      </a:r>
                    </a:p>
                  </a:txBody>
                  <a:tcPr marL="101600" marR="101600" marT="38100" marB="38100" anchor="ctr">
                    <a:solidFill>
                      <a:srgbClr val="FFFFFF"/>
                    </a:solidFill>
                  </a:tcPr>
                </a:tc>
                <a:tc>
                  <a:txBody>
                    <a:bodyPr wrap="square"/>
                    <a:lstStyle/>
                    <a:p>
                      <a:r>
                        <a:rPr sz="1700" b="0">
                          <a:solidFill>
                            <a:srgbClr val="1C3144"/>
                          </a:solidFill>
                          <a:latin typeface="Calibri"/>
                        </a:rPr>
                        <a:t>0.86 for our model</a:t>
                      </a:r>
                    </a:p>
                  </a:txBody>
                  <a:tcPr marL="101600" marR="101600" marT="38100" marB="38100" anchor="ctr">
                    <a:solidFill>
                      <a:srgbClr val="FFFFFF"/>
                    </a:solidFill>
                  </a:tcPr>
                </a:tc>
              </a:tr>
              <a:tr h="660400">
                <a:tc>
                  <a:txBody>
                    <a:bodyPr wrap="square"/>
                    <a:lstStyle/>
                    <a:p>
                      <a:r>
                        <a:rPr sz="1700" b="1">
                          <a:solidFill>
                            <a:srgbClr val="1C3144"/>
                          </a:solidFill>
                          <a:latin typeface="Calibri"/>
                        </a:rPr>
                        <a:t>ROC curve and AUC</a:t>
                      </a:r>
                    </a:p>
                  </a:txBody>
                  <a:tcPr marL="101600" marR="101600" marT="38100" marB="38100" anchor="ctr">
                    <a:solidFill>
                      <a:srgbClr val="EEF3F6"/>
                    </a:solidFill>
                  </a:tcPr>
                </a:tc>
                <a:tc>
                  <a:txBody>
                    <a:bodyPr wrap="square"/>
                    <a:lstStyle/>
                    <a:p>
                      <a:r>
                        <a:rPr sz="1700" b="0">
                          <a:solidFill>
                            <a:srgbClr val="1C3144"/>
                          </a:solidFill>
                          <a:latin typeface="Calibri"/>
                        </a:rPr>
                        <a:t>Performance at every threshold, and the area under it.</a:t>
                      </a:r>
                    </a:p>
                  </a:txBody>
                  <a:tcPr marL="101600" marR="101600" marT="38100" marB="38100" anchor="ctr">
                    <a:solidFill>
                      <a:srgbClr val="EEF3F6"/>
                    </a:solidFill>
                  </a:tcPr>
                </a:tc>
                <a:tc>
                  <a:txBody>
                    <a:bodyPr wrap="square"/>
                    <a:lstStyle/>
                    <a:p>
                      <a:r>
                        <a:rPr sz="1700" b="0">
                          <a:solidFill>
                            <a:srgbClr val="1C3144"/>
                          </a:solidFill>
                          <a:latin typeface="Calibri"/>
                        </a:rPr>
                        <a:t>AUC 0.97</a:t>
                      </a:r>
                    </a:p>
                  </a:txBody>
                  <a:tcPr marL="101600" marR="101600" marT="38100" marB="38100" anchor="ctr">
                    <a:solidFill>
                      <a:srgbClr val="EEF3F6"/>
                    </a:solidFill>
                  </a:tcPr>
                </a:tc>
              </a:tr>
              <a:tr h="660400">
                <a:tc>
                  <a:txBody>
                    <a:bodyPr wrap="square"/>
                    <a:lstStyle/>
                    <a:p>
                      <a:r>
                        <a:rPr sz="1700" b="1">
                          <a:solidFill>
                            <a:srgbClr val="1C3144"/>
                          </a:solidFill>
                          <a:latin typeface="Calibri"/>
                        </a:rPr>
                        <a:t>Class imbalance</a:t>
                      </a:r>
                    </a:p>
                  </a:txBody>
                  <a:tcPr marL="101600" marR="101600" marT="38100" marB="38100" anchor="ctr">
                    <a:solidFill>
                      <a:srgbClr val="FFFFFF"/>
                    </a:solidFill>
                  </a:tcPr>
                </a:tc>
                <a:tc>
                  <a:txBody>
                    <a:bodyPr wrap="square"/>
                    <a:lstStyle/>
                    <a:p>
                      <a:r>
                        <a:rPr sz="1700" b="0">
                          <a:solidFill>
                            <a:srgbClr val="1C3144"/>
                          </a:solidFill>
                          <a:latin typeface="Calibri"/>
                        </a:rPr>
                        <a:t>One class is much more common than the other.</a:t>
                      </a:r>
                    </a:p>
                  </a:txBody>
                  <a:tcPr marL="101600" marR="101600" marT="38100" marB="38100" anchor="ctr">
                    <a:solidFill>
                      <a:srgbClr val="FFFFFF"/>
                    </a:solidFill>
                  </a:tcPr>
                </a:tc>
                <a:tc>
                  <a:txBody>
                    <a:bodyPr wrap="square"/>
                    <a:lstStyle/>
                    <a:p>
                      <a:r>
                        <a:rPr sz="1700" b="0">
                          <a:solidFill>
                            <a:srgbClr val="1C3144"/>
                          </a:solidFill>
                          <a:latin typeface="Calibri"/>
                        </a:rPr>
                        <a:t>34 no alert, 24 alert (training rows)</a:t>
                      </a:r>
                    </a:p>
                  </a:txBody>
                  <a:tcPr marL="101600" marR="101600" marT="38100" marB="38100" anchor="ctr">
                    <a:solidFill>
                      <a:srgbClr val="FFFFFF"/>
                    </a:solidFill>
                  </a:tcPr>
                </a:tc>
              </a:tr>
            </a:tbl>
          </a:graphicData>
        </a:graphic>
      </p:graphicFrame>
      <p:sp>
        <p:nvSpPr>
          <p:cNvPr id="6" name="TextBox 5"/>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9   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ASSESSMENT</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Block 1, part B: this week's tasks</a:t>
            </a:r>
          </a:p>
        </p:txBody>
      </p:sp>
      <p:sp>
        <p:nvSpPr>
          <p:cNvPr id="5" name="Rectangle 4"/>
          <p:cNvSpPr/>
          <p:nvPr/>
        </p:nvSpPr>
        <p:spPr>
          <a:xfrm>
            <a:off x="584200" y="1752600"/>
            <a:ext cx="4470400" cy="4203700"/>
          </a:xfrm>
          <a:prstGeom prst="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3600" y="2032000"/>
            <a:ext cx="3911600" cy="3683000"/>
          </a:xfrm>
          <a:prstGeom prst="rect">
            <a:avLst/>
          </a:prstGeom>
          <a:noFill/>
        </p:spPr>
        <p:txBody>
          <a:bodyPr wrap="square">
            <a:spAutoFit/>
          </a:bodyPr>
          <a:lstStyle/>
          <a:p>
            <a:pPr>
              <a:spcAft>
                <a:spcPts val="0"/>
              </a:spcAft>
            </a:pPr>
            <a:r>
              <a:rPr sz="2600" b="1">
                <a:solidFill>
                  <a:srgbClr val="FFFFFF"/>
                </a:solidFill>
                <a:latin typeface="Calibri"/>
              </a:rPr>
              <a:t>Part B of 3. 20 marks.</a:t>
            </a:r>
          </a:p>
        </p:txBody>
      </p:sp>
      <p:sp>
        <p:nvSpPr>
          <p:cNvPr id="7" name="TextBox 6"/>
          <p:cNvSpPr txBox="1"/>
          <p:nvPr/>
        </p:nvSpPr>
        <p:spPr>
          <a:xfrm>
            <a:off x="5435600" y="1905000"/>
            <a:ext cx="5969000" cy="3937000"/>
          </a:xfrm>
          <a:prstGeom prst="rect">
            <a:avLst/>
          </a:prstGeom>
          <a:noFill/>
        </p:spPr>
        <p:txBody>
          <a:bodyPr wrap="square">
            <a:spAutoFit/>
          </a:bodyPr>
          <a:lstStyle/>
          <a:p>
            <a:pPr>
              <a:spcAft>
                <a:spcPts val="900"/>
              </a:spcAft>
            </a:pPr>
            <a:r>
              <a:rPr sz="2200" b="0">
                <a:solidFill>
                  <a:srgbClr val="1C3144"/>
                </a:solidFill>
                <a:latin typeface="Calibri"/>
              </a:rPr>
              <a:t>Today's tasks are part B of the Block 1 pack, worth 20 of its 60 marks. They use classification_metrics.</a:t>
            </a:r>
          </a:p>
          <a:p>
            <a:pPr>
              <a:spcAft>
                <a:spcPts val="900"/>
              </a:spcAft>
            </a:pPr>
            <a:r>
              <a:rPr sz="2200" b="0">
                <a:solidFill>
                  <a:srgbClr val="1C3144"/>
                </a:solidFill>
                <a:latin typeface="Calibri"/>
              </a:rPr>
              <a:t>Part C follows next week. All parts are handed in together by Friday 20 November 2026, 08:00 Kampala time.</a:t>
            </a:r>
          </a:p>
          <a:p>
            <a:pPr>
              <a:spcAft>
                <a:spcPts val="900"/>
              </a:spcAft>
            </a:pPr>
            <a:r>
              <a:rPr sz="2200" b="0">
                <a:solidFill>
                  <a:srgbClr val="1C3144"/>
                </a:solidFill>
                <a:latin typeface="Calibri"/>
              </a:rPr>
              <a:t>There is no quiz after today's class. The Block 1 quiz comes after the Week 10 class.</a:t>
            </a:r>
          </a:p>
        </p:txBody>
      </p:sp>
      <p:sp>
        <p:nvSpPr>
          <p:cNvPr id="8" name="TextBox 7"/>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9   44</a:t>
            </a:r>
          </a:p>
        </p:txBody>
      </p:sp>
    </p:spTree>
  </p:cSld>
  <p:clrMapOvr>
    <a:masterClrMapping/>
  </p:clrMapOvr>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65523AB-22D1-4086-A124-36B36003491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BE074FD-8B29-42E7-A9C5-53CECB586CC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BLOCK 1, PART B</a:t>
            </a:r>
          </a:p>
        </p:txBody>
      </p:sp>
      <p:sp>
        <p:nvSpPr>
          <p:cNvPr id="3" name="">
            <a:extLst xmlns:a="http://schemas.openxmlformats.org/drawingml/2006/main">
              <a:ext uri="{FF2B5EF4-FFF2-40B4-BE49-F238E27FC236}">
                <a16:creationId xmlns:a16="http://schemas.microsoft.com/office/drawing/2014/main" id="{C7E72E63-4CCE-4A02-A30A-81DF9D51F31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task</a:t>
            </a:r>
          </a:p>
        </p:txBody>
      </p:sp>
      <p:sp>
        <p:nvSpPr>
          <p:cNvPr id="4" name="">
            <a:extLst xmlns:a="http://schemas.openxmlformats.org/drawingml/2006/main">
              <a:ext uri="{FF2B5EF4-FFF2-40B4-BE49-F238E27FC236}">
                <a16:creationId xmlns:a16="http://schemas.microsoft.com/office/drawing/2014/main" id="{26989DB9-7A05-403F-95F0-49A7EA7EE3B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AB3CB5F-DA6E-4BDA-81EF-90C6DECD43C7}"/>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classification_case.csv.</a:t>
            </a:r>
          </a:p>
        </p:txBody>
      </p:sp>
      <p:sp>
        <p:nvSpPr>
          <p:cNvPr id="6" name="">
            <a:extLst xmlns:a="http://schemas.openxmlformats.org/drawingml/2006/main">
              <a:ext uri="{FF2B5EF4-FFF2-40B4-BE49-F238E27FC236}">
                <a16:creationId xmlns:a16="http://schemas.microsoft.com/office/drawing/2014/main" id="{4FB76F84-6A35-4ECB-8D59-AF8126AB79A7}"/>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A962DE6-E3DB-4A25-82C9-84A97F2D092D}"/>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Positive means a synthetic warning condition.</a:t>
            </a:r>
          </a:p>
        </p:txBody>
      </p:sp>
      <p:sp>
        <p:nvSpPr>
          <p:cNvPr id="8" name="">
            <a:extLst xmlns:a="http://schemas.openxmlformats.org/drawingml/2006/main">
              <a:ext uri="{FF2B5EF4-FFF2-40B4-BE49-F238E27FC236}">
                <a16:creationId xmlns:a16="http://schemas.microsoft.com/office/drawing/2014/main" id="{37F8E258-6E3F-41D9-BCAC-7543723F956C}"/>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CE72B42-4586-4635-BCD0-0D1DD4FA927D}"/>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Compute the confusion matrix, precision, recall and total_error_cost.</a:t>
            </a:r>
          </a:p>
        </p:txBody>
      </p:sp>
      <p:sp>
        <p:nvSpPr>
          <p:cNvPr id="10" name="">
            <a:extLst xmlns:a="http://schemas.openxmlformats.org/drawingml/2006/main">
              <a:ext uri="{FF2B5EF4-FFF2-40B4-BE49-F238E27FC236}">
                <a16:creationId xmlns:a16="http://schemas.microsoft.com/office/drawing/2014/main" id="{BDB64888-0732-419B-9B96-502DC26409AB}"/>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706E0647-7D37-47DE-8E5A-E2D457346D3E}"/>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the 5:1 missed-warning/false-alarm cost assumption and why accuracy alone is insufficient.</a:t>
            </a:r>
          </a:p>
        </p:txBody>
      </p:sp>
      <p:sp>
        <p:nvSpPr>
          <p:cNvPr id="12" name="">
            <a:extLst xmlns:a="http://schemas.openxmlformats.org/drawingml/2006/main">
              <a:ext uri="{FF2B5EF4-FFF2-40B4-BE49-F238E27FC236}">
                <a16:creationId xmlns:a16="http://schemas.microsoft.com/office/drawing/2014/main" id="{8C69DEA5-F912-443F-8F09-94226855529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9   45</a:t>
            </a:r>
          </a:p>
        </p:txBody>
      </p:sp>
    </p:spTree>
    <p:extLst>
      <p:ext uri="{BB962C8B-B14F-4D97-AF65-F5344CB8AC3E}">
        <p14:creationId xmlns:p14="http://schemas.microsoft.com/office/powerpoint/2010/main" val="1543118693"/>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F1EF953-0400-4366-8181-7880E35D83B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038B900-FCBA-4FFE-9B31-EC90524A8E9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BLOCK 1, PART B</a:t>
            </a:r>
          </a:p>
        </p:txBody>
      </p:sp>
      <p:sp>
        <p:nvSpPr>
          <p:cNvPr id="3" name="">
            <a:extLst xmlns:a="http://schemas.openxmlformats.org/drawingml/2006/main">
              <a:ext uri="{FF2B5EF4-FFF2-40B4-BE49-F238E27FC236}">
                <a16:creationId xmlns:a16="http://schemas.microsoft.com/office/drawing/2014/main" id="{071CB2A2-D769-4B53-A98E-5BEED6E2FAE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task continued</a:t>
            </a:r>
          </a:p>
        </p:txBody>
      </p:sp>
      <p:sp>
        <p:nvSpPr>
          <p:cNvPr id="4" name="">
            <a:extLst xmlns:a="http://schemas.openxmlformats.org/drawingml/2006/main">
              <a:ext uri="{FF2B5EF4-FFF2-40B4-BE49-F238E27FC236}">
                <a16:creationId xmlns:a16="http://schemas.microsoft.com/office/drawing/2014/main" id="{0B195B40-956D-4E98-894A-3C755B3C0AF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F4CE9FA-D376-4540-B344-DF2A37B8408E}"/>
              </a:ext>
            </a:extLst>
          </p:cNvPr>
          <p:cNvSpPr>
            <a:spLocks xmlns:a="http://schemas.openxmlformats.org/drawingml/2006/main" noGrp="1"/>
          </p:cNvSpPr>
          <p:nvPr/>
        </p:nvSpPr>
        <p:spPr>
          <a:xfrm xmlns:a="http://schemas.openxmlformats.org/drawingml/2006/main">
            <a:off x="1381125" y="1781175"/>
            <a:ext cx="10096500" cy="420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These costs are teaching assumptions for practice.</a:t>
            </a:r>
          </a:p>
        </p:txBody>
      </p:sp>
      <p:sp>
        <p:nvSpPr>
          <p:cNvPr id="6" name="">
            <a:extLst xmlns:a="http://schemas.openxmlformats.org/drawingml/2006/main">
              <a:ext uri="{FF2B5EF4-FFF2-40B4-BE49-F238E27FC236}">
                <a16:creationId xmlns:a16="http://schemas.microsoft.com/office/drawing/2014/main" id="{7AF00E25-77EA-429E-B5BC-BD70DB6088E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9   46</a:t>
            </a:r>
          </a:p>
        </p:txBody>
      </p:sp>
    </p:spTree>
    <p:extLst>
      <p:ext uri="{BB962C8B-B14F-4D97-AF65-F5344CB8AC3E}">
        <p14:creationId xmlns:p14="http://schemas.microsoft.com/office/powerpoint/2010/main" val="1233098431"/>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F828A39-4AD9-4B44-B002-B02D9E14C3A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0A1CF64-F0AD-4718-8B59-1F49DE3FE6C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BLOCK 1, PART B</a:t>
            </a:r>
          </a:p>
        </p:txBody>
      </p:sp>
      <p:sp>
        <p:nvSpPr>
          <p:cNvPr id="3" name="">
            <a:extLst xmlns:a="http://schemas.openxmlformats.org/drawingml/2006/main">
              <a:ext uri="{FF2B5EF4-FFF2-40B4-BE49-F238E27FC236}">
                <a16:creationId xmlns:a16="http://schemas.microsoft.com/office/drawing/2014/main" id="{0A821DF3-6738-4F11-92AA-C369A81B9E8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classification_metrics(actual, predicted)</a:t>
            </a:r>
          </a:p>
        </p:txBody>
      </p:sp>
      <p:sp>
        <p:nvSpPr>
          <p:cNvPr id="4" name="">
            <a:extLst xmlns:a="http://schemas.openxmlformats.org/drawingml/2006/main">
              <a:ext uri="{FF2B5EF4-FFF2-40B4-BE49-F238E27FC236}">
                <a16:creationId xmlns:a16="http://schemas.microsoft.com/office/drawing/2014/main" id="{9C684825-BDBF-4B37-8D51-E67B8F17D01A}"/>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910DA157-5502-4932-8A22-D828920960EF}"/>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Return dictionary keys tp, tn, fp, fn, precision, recall and cost.</a:t>
            </a:r>
          </a:p>
          <a:p xmlns:a="http://schemas.openxmlformats.org/drawingml/2006/main">
            <a:r>
              <a:rP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tp = true positives; tn = true negatives; fp = false positives; fn = false negatives.</a:t>
            </a:r>
          </a:p>
          <a:p xmlns:a="http://schemas.openxmlformats.org/drawingml/2006/main">
            <a:r>
              <a:rP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cost = 5 * fn + fp. Return zero when a precision or recall denominator is zero.</a:t>
            </a:r>
          </a:p>
        </p:txBody>
      </p:sp>
      <p:sp>
        <p:nvSpPr>
          <p:cNvPr id="6" name="">
            <a:extLst xmlns:a="http://schemas.openxmlformats.org/drawingml/2006/main">
              <a:ext uri="{FF2B5EF4-FFF2-40B4-BE49-F238E27FC236}">
                <a16:creationId xmlns:a16="http://schemas.microsoft.com/office/drawing/2014/main" id="{7C993C9D-A9B4-452D-B578-6E90591DF836}"/>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B044C011-04D7-406E-B4B2-34AE8C7007BC}"/>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B110E612-19A2-48E8-90B8-488E8EB936A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9   47</a:t>
            </a:r>
          </a:p>
        </p:txBody>
      </p:sp>
    </p:spTree>
    <p:extLst>
      <p:ext uri="{BB962C8B-B14F-4D97-AF65-F5344CB8AC3E}">
        <p14:creationId xmlns:p14="http://schemas.microsoft.com/office/powerpoint/2010/main" val="96381742"/>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594945E-531D-4CB7-9A99-ECE6EEC050F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372C132-00B5-4F1A-8A99-557AE90ACD2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BLOCK 1, PART B</a:t>
            </a:r>
          </a:p>
        </p:txBody>
      </p:sp>
      <p:sp>
        <p:nvSpPr>
          <p:cNvPr id="3" name="">
            <a:extLst xmlns:a="http://schemas.openxmlformats.org/drawingml/2006/main">
              <a:ext uri="{FF2B5EF4-FFF2-40B4-BE49-F238E27FC236}">
                <a16:creationId xmlns:a16="http://schemas.microsoft.com/office/drawing/2014/main" id="{366186BE-A8E8-48A8-ABED-BCD85C721A1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Written evidence</a:t>
            </a:r>
          </a:p>
        </p:txBody>
      </p:sp>
      <p:sp>
        <p:nvSpPr>
          <p:cNvPr id="4" name="">
            <a:extLst xmlns:a="http://schemas.openxmlformats.org/drawingml/2006/main">
              <a:ext uri="{FF2B5EF4-FFF2-40B4-BE49-F238E27FC236}">
                <a16:creationId xmlns:a16="http://schemas.microsoft.com/office/drawing/2014/main" id="{15B07205-7379-4B58-8997-D388CB9E106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72F02DF-2649-4099-982D-2C61E5C83FA7}"/>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cell headed “My written evidence”.</a:t>
            </a:r>
          </a:p>
        </p:txBody>
      </p:sp>
      <p:sp>
        <p:nvSpPr>
          <p:cNvPr id="6" name="">
            <a:extLst xmlns:a="http://schemas.openxmlformats.org/drawingml/2006/main">
              <a:ext uri="{FF2B5EF4-FFF2-40B4-BE49-F238E27FC236}">
                <a16:creationId xmlns:a16="http://schemas.microsoft.com/office/drawing/2014/main" id="{607F0429-9BCA-46EA-8044-26215CD9C3D7}"/>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4DD26DA-C7B6-4D4B-AAB5-20372732DA71}"/>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the supplied scenario in your own words.</a:t>
            </a:r>
          </a:p>
        </p:txBody>
      </p:sp>
      <p:sp>
        <p:nvSpPr>
          <p:cNvPr id="8" name="">
            <a:extLst xmlns:a="http://schemas.openxmlformats.org/drawingml/2006/main">
              <a:ext uri="{FF2B5EF4-FFF2-40B4-BE49-F238E27FC236}">
                <a16:creationId xmlns:a16="http://schemas.microsoft.com/office/drawing/2014/main" id="{A10E4F13-2FAE-4C0F-A908-E6E8ABC71F7E}"/>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55E0405-B5CB-4742-B24F-275551FB46BA}"/>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target units, reasons and limitations.</a:t>
            </a:r>
          </a:p>
        </p:txBody>
      </p:sp>
      <p:sp>
        <p:nvSpPr>
          <p:cNvPr id="10" name="">
            <a:extLst xmlns:a="http://schemas.openxmlformats.org/drawingml/2006/main">
              <a:ext uri="{FF2B5EF4-FFF2-40B4-BE49-F238E27FC236}">
                <a16:creationId xmlns:a16="http://schemas.microsoft.com/office/drawing/2014/main" id="{4B81342B-9B45-4A1E-91FE-760817B3EE70}"/>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25CDB135-7248-43DB-BDE9-F24886FD1088}"/>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one complete notebook containing code and written evidence.</a:t>
            </a:r>
          </a:p>
        </p:txBody>
      </p:sp>
      <p:sp>
        <p:nvSpPr>
          <p:cNvPr id="12" name="">
            <a:extLst xmlns:a="http://schemas.openxmlformats.org/drawingml/2006/main">
              <a:ext uri="{FF2B5EF4-FFF2-40B4-BE49-F238E27FC236}">
                <a16:creationId xmlns:a16="http://schemas.microsoft.com/office/drawing/2014/main" id="{E661DE34-CC43-4A70-9EFE-6A5F5D48B37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9   48</a:t>
            </a:r>
          </a:p>
        </p:txBody>
      </p:sp>
    </p:spTree>
    <p:extLst>
      <p:ext uri="{BB962C8B-B14F-4D97-AF65-F5344CB8AC3E}">
        <p14:creationId xmlns:p14="http://schemas.microsoft.com/office/powerpoint/2010/main" val="352164784"/>
      </p:ext>
    </p:extLst>
  </p:cSld>
</p:sld>
</file>

<file path=ppt/slides/slide49.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6FA56BE-CDC1-45AB-822F-70091CB2AD7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81719CAB-F449-43E6-8EFB-F4DF7EBEBFC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xmlns:a="http://schemas.openxmlformats.org/drawingml/2006/main">
              <a:ext uri="{FF2B5EF4-FFF2-40B4-BE49-F238E27FC236}">
                <a16:creationId xmlns:a16="http://schemas.microsoft.com/office/drawing/2014/main" id="{2A22E5E7-51DC-43B3-BBFF-6D1487ADAA9C}"/>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C20BA6C3-DF3E-47AB-9B6E-D1C866A7FE38}"/>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0">
                <a:solidFill>
                  <a:srgbClr val="FFFFFF"/>
                </a:solidFill>
                <a:latin typeface="Calibri"/>
                <a:ea typeface="Calibri"/>
                <a:cs typeface="Calibri"/>
              </a:defRPr>
            </a:defPPr>
            <a:lvl1pPr>
              <a:defRPr sz="2850" b="0">
                <a:solidFill>
                  <a:srgbClr val="FFFFFF"/>
                </a:solidFill>
                <a:latin typeface="Calibri"/>
                <a:ea typeface="Calibri"/>
                <a:cs typeface="Calibri"/>
              </a:defRPr>
            </a:lvl1pPr>
            <a:lvl2pPr>
              <a:defRPr sz="2850" b="0">
                <a:solidFill>
                  <a:srgbClr val="FFFFFF"/>
                </a:solidFill>
                <a:latin typeface="Calibri"/>
                <a:ea typeface="Calibri"/>
                <a:cs typeface="Calibri"/>
              </a:defRPr>
            </a:lvl2pPr>
            <a:lvl3pPr>
              <a:defRPr sz="2850" b="0">
                <a:solidFill>
                  <a:srgbClr val="FFFFFF"/>
                </a:solidFill>
                <a:latin typeface="Calibri"/>
                <a:ea typeface="Calibri"/>
                <a:cs typeface="Calibri"/>
              </a:defRPr>
            </a:lvl3pPr>
            <a:lvl4pPr>
              <a:defRPr sz="2850" b="0">
                <a:solidFill>
                  <a:srgbClr val="FFFFFF"/>
                </a:solidFill>
                <a:latin typeface="Calibri"/>
                <a:ea typeface="Calibri"/>
                <a:cs typeface="Calibri"/>
              </a:defRPr>
            </a:lvl4pPr>
            <a:lvl5pPr>
              <a:defRPr sz="2850" b="0">
                <a:solidFill>
                  <a:srgbClr val="FFFFFF"/>
                </a:solidFill>
                <a:latin typeface="Calibri"/>
                <a:ea typeface="Calibri"/>
                <a:cs typeface="Calibri"/>
              </a:defRPr>
            </a:lvl5pPr>
            <a:lvl6pPr>
              <a:defRPr sz="2850" b="0">
                <a:solidFill>
                  <a:srgbClr val="FFFFFF"/>
                </a:solidFill>
                <a:latin typeface="Calibri"/>
                <a:ea typeface="Calibri"/>
                <a:cs typeface="Calibri"/>
              </a:defRPr>
            </a:lvl6pPr>
            <a:lvl7pPr>
              <a:defRPr sz="2850" b="0">
                <a:solidFill>
                  <a:srgbClr val="FFFFFF"/>
                </a:solidFill>
                <a:latin typeface="Calibri"/>
                <a:ea typeface="Calibri"/>
                <a:cs typeface="Calibri"/>
              </a:defRPr>
            </a:lvl7pPr>
            <a:lvl8pPr>
              <a:defRPr sz="2850" b="0">
                <a:solidFill>
                  <a:srgbClr val="FFFFFF"/>
                </a:solidFill>
                <a:latin typeface="Calibri"/>
                <a:ea typeface="Calibri"/>
                <a:cs typeface="Calibri"/>
              </a:defRPr>
            </a:lvl8pPr>
            <a:lvl9pPr>
              <a:defRPr sz="2850" b="0">
                <a:solidFill>
                  <a:srgbClr val="FFFFFF"/>
                </a:solidFill>
                <a:latin typeface="Calibri"/>
                <a:ea typeface="Calibri"/>
                <a:cs typeface="Calibri"/>
              </a:defRPr>
            </a:lvl9pPr>
          </a:lstStyle>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Explain to a classmate why a model that never raises an alert can score 59 percent, and what a missed alert costs in your engineering field.</a:t>
            </a:r>
          </a:p>
          <a:p xmlns:a="http://schemas.openxmlformats.org/drawingml/2006/main">
            <a:r>
              <a:rP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Keep raw data unchanged. Restart and run all cells before you hand in your Block 1 notebooks.</a:t>
            </a:r>
          </a:p>
        </p:txBody>
      </p:sp>
      <p:sp>
        <p:nvSpPr>
          <p:cNvPr id="5" name="">
            <a:extLst xmlns:a="http://schemas.openxmlformats.org/drawingml/2006/main">
              <a:ext uri="{FF2B5EF4-FFF2-40B4-BE49-F238E27FC236}">
                <a16:creationId xmlns:a16="http://schemas.microsoft.com/office/drawing/2014/main" id="{DC6D4FD5-7E7F-4006-987B-9FCF527B3A89}"/>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BBCDD9"/>
                </a:solidFill>
                <a:latin typeface="Calibri"/>
                <a:ea typeface="Calibri"/>
                <a:cs typeface="Calibri"/>
              </a:defRPr>
            </a:defPPr>
            <a:lvl1pPr>
              <a:defRPr sz="1800" b="0">
                <a:solidFill>
                  <a:srgbClr val="BBCDD9"/>
                </a:solidFill>
                <a:latin typeface="Calibri"/>
                <a:ea typeface="Calibri"/>
                <a:cs typeface="Calibri"/>
              </a:defRPr>
            </a:lvl1pPr>
            <a:lvl2pPr>
              <a:defRPr sz="1800" b="0">
                <a:solidFill>
                  <a:srgbClr val="BBCDD9"/>
                </a:solidFill>
                <a:latin typeface="Calibri"/>
                <a:ea typeface="Calibri"/>
                <a:cs typeface="Calibri"/>
              </a:defRPr>
            </a:lvl2pPr>
            <a:lvl3pPr>
              <a:defRPr sz="1800" b="0">
                <a:solidFill>
                  <a:srgbClr val="BBCDD9"/>
                </a:solidFill>
                <a:latin typeface="Calibri"/>
                <a:ea typeface="Calibri"/>
                <a:cs typeface="Calibri"/>
              </a:defRPr>
            </a:lvl3pPr>
            <a:lvl4pPr>
              <a:defRPr sz="1800" b="0">
                <a:solidFill>
                  <a:srgbClr val="BBCDD9"/>
                </a:solidFill>
                <a:latin typeface="Calibri"/>
                <a:ea typeface="Calibri"/>
                <a:cs typeface="Calibri"/>
              </a:defRPr>
            </a:lvl4pPr>
            <a:lvl5pPr>
              <a:defRPr sz="1800" b="0">
                <a:solidFill>
                  <a:srgbClr val="BBCDD9"/>
                </a:solidFill>
                <a:latin typeface="Calibri"/>
                <a:ea typeface="Calibri"/>
                <a:cs typeface="Calibri"/>
              </a:defRPr>
            </a:lvl5pPr>
            <a:lvl6pPr>
              <a:defRPr sz="1800" b="0">
                <a:solidFill>
                  <a:srgbClr val="BBCDD9"/>
                </a:solidFill>
                <a:latin typeface="Calibri"/>
                <a:ea typeface="Calibri"/>
                <a:cs typeface="Calibri"/>
              </a:defRPr>
            </a:lvl6pPr>
            <a:lvl7pPr>
              <a:defRPr sz="1800" b="0">
                <a:solidFill>
                  <a:srgbClr val="BBCDD9"/>
                </a:solidFill>
                <a:latin typeface="Calibri"/>
                <a:ea typeface="Calibri"/>
                <a:cs typeface="Calibri"/>
              </a:defRPr>
            </a:lvl7pPr>
            <a:lvl8pPr>
              <a:defRPr sz="1800" b="0">
                <a:solidFill>
                  <a:srgbClr val="BBCDD9"/>
                </a:solidFill>
                <a:latin typeface="Calibri"/>
                <a:ea typeface="Calibri"/>
                <a:cs typeface="Calibri"/>
              </a:defRPr>
            </a:lvl8pPr>
            <a:lvl9pPr>
              <a:defRPr sz="1800" b="0">
                <a:solidFill>
                  <a:srgbClr val="BBCDD9"/>
                </a:solidFill>
                <a:latin typeface="Calibri"/>
                <a:ea typeface="Calibri"/>
                <a:cs typeface="Calibri"/>
              </a:defRPr>
            </a:lvl9pPr>
          </a:lstStyle>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8536A4BD-CA44-46DC-8498-86461EB6B3D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BCDD9"/>
                </a:solidFill>
                <a:latin typeface="Calibri"/>
                <a:ea typeface="Calibri"/>
                <a:cs typeface="Calibri"/>
              </a:defRPr>
            </a:defPPr>
            <a:lvl1pPr>
              <a:defRPr sz="1200" b="0">
                <a:solidFill>
                  <a:srgbClr val="BBCDD9"/>
                </a:solidFill>
                <a:latin typeface="Calibri"/>
                <a:ea typeface="Calibri"/>
                <a:cs typeface="Calibri"/>
              </a:defRPr>
            </a:lvl1pPr>
            <a:lvl2pPr>
              <a:defRPr sz="1200" b="0">
                <a:solidFill>
                  <a:srgbClr val="BBCDD9"/>
                </a:solidFill>
                <a:latin typeface="Calibri"/>
                <a:ea typeface="Calibri"/>
                <a:cs typeface="Calibri"/>
              </a:defRPr>
            </a:lvl2pPr>
            <a:lvl3pPr>
              <a:defRPr sz="1200" b="0">
                <a:solidFill>
                  <a:srgbClr val="BBCDD9"/>
                </a:solidFill>
                <a:latin typeface="Calibri"/>
                <a:ea typeface="Calibri"/>
                <a:cs typeface="Calibri"/>
              </a:defRPr>
            </a:lvl3pPr>
            <a:lvl4pPr>
              <a:defRPr sz="1200" b="0">
                <a:solidFill>
                  <a:srgbClr val="BBCDD9"/>
                </a:solidFill>
                <a:latin typeface="Calibri"/>
                <a:ea typeface="Calibri"/>
                <a:cs typeface="Calibri"/>
              </a:defRPr>
            </a:lvl4pPr>
            <a:lvl5pPr>
              <a:defRPr sz="1200" b="0">
                <a:solidFill>
                  <a:srgbClr val="BBCDD9"/>
                </a:solidFill>
                <a:latin typeface="Calibri"/>
                <a:ea typeface="Calibri"/>
                <a:cs typeface="Calibri"/>
              </a:defRPr>
            </a:lvl5pPr>
            <a:lvl6pPr>
              <a:defRPr sz="1200" b="0">
                <a:solidFill>
                  <a:srgbClr val="BBCDD9"/>
                </a:solidFill>
                <a:latin typeface="Calibri"/>
                <a:ea typeface="Calibri"/>
                <a:cs typeface="Calibri"/>
              </a:defRPr>
            </a:lvl6pPr>
            <a:lvl7pPr>
              <a:defRPr sz="1200" b="0">
                <a:solidFill>
                  <a:srgbClr val="BBCDD9"/>
                </a:solidFill>
                <a:latin typeface="Calibri"/>
                <a:ea typeface="Calibri"/>
                <a:cs typeface="Calibri"/>
              </a:defRPr>
            </a:lvl7pPr>
            <a:lvl8pPr>
              <a:defRPr sz="1200" b="0">
                <a:solidFill>
                  <a:srgbClr val="BBCDD9"/>
                </a:solidFill>
                <a:latin typeface="Calibri"/>
                <a:ea typeface="Calibri"/>
                <a:cs typeface="Calibri"/>
              </a:defRPr>
            </a:lvl8pPr>
            <a:lvl9pPr>
              <a:defRPr sz="1200" b="0">
                <a:solidFill>
                  <a:srgbClr val="BBCDD9"/>
                </a:solidFill>
                <a:latin typeface="Calibri"/>
                <a:ea typeface="Calibri"/>
                <a:cs typeface="Calibri"/>
              </a:defRPr>
            </a:lvl9pPr>
          </a:lstStyle>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CML3113   Week 9   49</a:t>
            </a:r>
          </a:p>
        </p:txBody>
      </p:sp>
    </p:spTree>
    <p:extLst>
      <p:ext uri="{BB962C8B-B14F-4D97-AF65-F5344CB8AC3E}">
        <p14:creationId xmlns:p14="http://schemas.microsoft.com/office/powerpoint/2010/main" val="690947256"/>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2588B9B-F8F9-4D1E-B494-F6F7E55FE89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10BBFFC-1FB0-408D-9BE7-1954518EF4B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WATCH, THEN EXPLAIN</a:t>
            </a:r>
          </a:p>
        </p:txBody>
      </p:sp>
      <p:sp>
        <p:nvSpPr>
          <p:cNvPr id="3" name="">
            <a:extLst xmlns:a="http://schemas.openxmlformats.org/drawingml/2006/main">
              <a:ext uri="{FF2B5EF4-FFF2-40B4-BE49-F238E27FC236}">
                <a16:creationId xmlns:a16="http://schemas.microsoft.com/office/drawing/2014/main" id="{EB60CAC7-C4C5-4919-8ED4-6F4E457B919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Optional revision video</a:t>
            </a:r>
          </a:p>
        </p:txBody>
      </p:sp>
      <p:sp>
        <p:nvSpPr>
          <p:cNvPr id="4" name="">
            <a:extLst xmlns:a="http://schemas.openxmlformats.org/drawingml/2006/main">
              <a:ext uri="{FF2B5EF4-FFF2-40B4-BE49-F238E27FC236}">
                <a16:creationId xmlns:a16="http://schemas.microsoft.com/office/drawing/2014/main" id="{486159B5-B5C9-401C-922A-7142E181ACA3}"/>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0D2B09A-9990-4A43-8048-5FF03E6C7704}"/>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revision after class.</a:t>
            </a:r>
          </a:p>
        </p:txBody>
      </p:sp>
      <p:sp>
        <p:nvSpPr>
          <p:cNvPr id="6" name="">
            <a:extLst xmlns:a="http://schemas.openxmlformats.org/drawingml/2006/main">
              <a:ext uri="{FF2B5EF4-FFF2-40B4-BE49-F238E27FC236}">
                <a16:creationId xmlns:a16="http://schemas.microsoft.com/office/drawing/2014/main" id="{5E3B5A12-2B15-4D72-B2D2-F3FFB3A6E0DD}"/>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EC7257F-FCB1-4D87-84F5-193E07EA6F1D}"/>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StatQuest with Josh Starmer</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Machine Learning Fundamentals The Confusion Matrix</a:t>
            </a:r>
          </a:p>
        </p:txBody>
      </p:sp>
      <p:sp>
        <p:nvSpPr>
          <p:cNvPr id="8" name="">
            <a:extLst xmlns:a="http://schemas.openxmlformats.org/drawingml/2006/main">
              <a:ext uri="{FF2B5EF4-FFF2-40B4-BE49-F238E27FC236}">
                <a16:creationId xmlns:a16="http://schemas.microsoft.com/office/drawing/2014/main" id="{12F5767A-FC5A-4698-BA61-9EBCF8761F8F}"/>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0622194-A32E-4DEE-A35F-E0C213E35FD3}"/>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Opening up to 04:00, optional preview-selected excerpt</a:t>
            </a:r>
          </a:p>
        </p:txBody>
      </p:sp>
      <p:sp>
        <p:nvSpPr>
          <p:cNvPr id="10" name="">
            <a:extLst xmlns:a="http://schemas.openxmlformats.org/drawingml/2006/main">
              <a:ext uri="{FF2B5EF4-FFF2-40B4-BE49-F238E27FC236}">
                <a16:creationId xmlns:a16="http://schemas.microsoft.com/office/drawing/2014/main" id="{05D2E49D-B13E-4690-A418-6493C0D79F0C}"/>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47BE7987-6BCE-4869-BD2A-65D9490115A6}"/>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Listening question: Which observations are correctly or incorrectly classified?</a:t>
            </a:r>
          </a:p>
        </p:txBody>
      </p:sp>
      <p:sp>
        <p:nvSpPr>
          <p:cNvPr id="12" name="">
            <a:extLst xmlns:a="http://schemas.openxmlformats.org/drawingml/2006/main">
              <a:ext uri="{FF2B5EF4-FFF2-40B4-BE49-F238E27FC236}">
                <a16:creationId xmlns:a16="http://schemas.microsoft.com/office/drawing/2014/main" id="{DFB824FD-CEC9-4695-81FB-4C2DF0409818}"/>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1FE25D36-D273-42B2-8450-51AD4F78427C}"/>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1f373ebef0a349ac"/>
              </a:rPr>
              <a:t>Open explainer video</a:t>
            </a:r>
          </a:p>
        </p:txBody>
      </p:sp>
      <p:sp>
        <p:nvSpPr>
          <p:cNvPr id="14" name="">
            <a:extLst xmlns:a="http://schemas.openxmlformats.org/drawingml/2006/main">
              <a:ext uri="{FF2B5EF4-FFF2-40B4-BE49-F238E27FC236}">
                <a16:creationId xmlns:a16="http://schemas.microsoft.com/office/drawing/2014/main" id="{4B1CC529-14E2-4D13-8752-C8FFA8054A01}"/>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https://www.youtube.com/watch?v=Kdsp6soqA7o</a:t>
            </a:r>
          </a:p>
        </p:txBody>
      </p:sp>
      <p:sp>
        <p:nvSpPr>
          <p:cNvPr id="15" name="">
            <a:extLst xmlns:a="http://schemas.openxmlformats.org/drawingml/2006/main">
              <a:ext uri="{FF2B5EF4-FFF2-40B4-BE49-F238E27FC236}">
                <a16:creationId xmlns:a16="http://schemas.microsoft.com/office/drawing/2014/main" id="{55837EED-E4E0-4711-BC44-0D706235FDA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9   50</a:t>
            </a:r>
          </a:p>
        </p:txBody>
      </p:sp>
    </p:spTree>
    <p:extLst>
      <p:ext uri="{BB962C8B-B14F-4D97-AF65-F5344CB8AC3E}">
        <p14:creationId xmlns:p14="http://schemas.microsoft.com/office/powerpoint/2010/main" val="6496593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2026-10-20T18:01:06.3200000Z</dcterms:created>
  <dcterms:modified xsi:type="dcterms:W3CDTF">2026-10-20T18:01:06.3200000Z</dcterms:modified>
  <keywords>BLOCK-PATCHED</keywords>
</coreProperties>
</file>