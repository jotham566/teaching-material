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08a850da6524eb9" /><Relationship Type="http://schemas.openxmlformats.org/officeDocument/2006/relationships/extended-properties" Target="/docProps/app.xml" Id="R31c9dd4de2d340c3" /><Relationship Type="http://schemas.openxmlformats.org/officeDocument/2006/relationships/officeDocument" Target="/ppt/presentation.xml" Id="R5d8fd5c78da244c8" /></Relationships>
</file>

<file path=ppt/presentation.xml><?xml version="1.0" encoding="utf-8"?>
<p:presentation xmlns:p="http://schemas.openxmlformats.org/presentationml/2006/main">
  <p:sldMasterIdLst>
    <p:sldMasterId xmlns:r="http://schemas.openxmlformats.org/officeDocument/2006/relationships" id="2147483648" r:id="R99d6f7a8a3d94446"/>
  </p:sldMasterIdLst>
  <p:notesMasterIdLst>
    <p:notesMasterId xmlns:r="http://schemas.openxmlformats.org/officeDocument/2006/relationships" r:id="Rc03e420dbcd84354"/>
  </p:notesMasterIdLst>
  <p:sldIdLst>
    <p:sldId xmlns:r="http://schemas.openxmlformats.org/officeDocument/2006/relationships" id="256" r:id="Rbeed1244b4c243ba"/>
    <p:sldId xmlns:r="http://schemas.openxmlformats.org/officeDocument/2006/relationships" id="257" r:id="R5270c53573fe4266"/>
    <p:sldId xmlns:r="http://schemas.openxmlformats.org/officeDocument/2006/relationships" id="258" r:id="R1bf8a55c956b4b5c"/>
    <p:sldId xmlns:r="http://schemas.openxmlformats.org/officeDocument/2006/relationships" id="259" r:id="R6ff988d952f64fee"/>
    <p:sldId xmlns:r="http://schemas.openxmlformats.org/officeDocument/2006/relationships" id="260" r:id="R6bbe948f7e5b40c0"/>
    <p:sldId xmlns:r="http://schemas.openxmlformats.org/officeDocument/2006/relationships" id="261" r:id="Rd216b8e56ca5401a"/>
    <p:sldId xmlns:r="http://schemas.openxmlformats.org/officeDocument/2006/relationships" id="262" r:id="Rfa8847c976644c45"/>
    <p:sldId xmlns:r="http://schemas.openxmlformats.org/officeDocument/2006/relationships" id="263" r:id="R5ff3b69a97af4825"/>
    <p:sldId xmlns:r="http://schemas.openxmlformats.org/officeDocument/2006/relationships" id="264" r:id="R3ebdeb25c6c341e6"/>
    <p:sldId xmlns:r="http://schemas.openxmlformats.org/officeDocument/2006/relationships" id="265" r:id="Rd7a7b2098e404bf8"/>
    <p:sldId xmlns:r="http://schemas.openxmlformats.org/officeDocument/2006/relationships" id="266" r:id="Rb50e5237c6134c71"/>
    <p:sldId xmlns:r="http://schemas.openxmlformats.org/officeDocument/2006/relationships" id="267" r:id="Re34f14b2304b4d52"/>
    <p:sldId xmlns:r="http://schemas.openxmlformats.org/officeDocument/2006/relationships" id="268" r:id="R3be29fb793734519"/>
    <p:sldId xmlns:r="http://schemas.openxmlformats.org/officeDocument/2006/relationships" id="269" r:id="Rc6e2785d0faf49da"/>
    <p:sldId xmlns:r="http://schemas.openxmlformats.org/officeDocument/2006/relationships" id="270" r:id="Rc09d095f0d7f4b42"/>
    <p:sldId xmlns:r="http://schemas.openxmlformats.org/officeDocument/2006/relationships" id="271" r:id="R241e2a003f214205"/>
    <p:sldId xmlns:r="http://schemas.openxmlformats.org/officeDocument/2006/relationships" id="272" r:id="Rcc1ee7ad55d3433e"/>
    <p:sldId xmlns:r="http://schemas.openxmlformats.org/officeDocument/2006/relationships" id="273" r:id="R7fd0d0e56ab14d15"/>
    <p:sldId xmlns:r="http://schemas.openxmlformats.org/officeDocument/2006/relationships" id="274" r:id="R988fb92ae0a14e03"/>
    <p:sldId xmlns:r="http://schemas.openxmlformats.org/officeDocument/2006/relationships" id="275" r:id="Rcb64e534176f47f1"/>
    <p:sldId xmlns:r="http://schemas.openxmlformats.org/officeDocument/2006/relationships" id="276" r:id="R1e47ae062f9d4266"/>
    <p:sldId xmlns:r="http://schemas.openxmlformats.org/officeDocument/2006/relationships" id="277" r:id="R5206486faa4a4520"/>
    <p:sldId xmlns:r="http://schemas.openxmlformats.org/officeDocument/2006/relationships" id="278" r:id="Rfcc9cce6df25428d"/>
    <p:sldId xmlns:r="http://schemas.openxmlformats.org/officeDocument/2006/relationships" id="279" r:id="R3cc66c1415404dd2"/>
    <p:sldId xmlns:r="http://schemas.openxmlformats.org/officeDocument/2006/relationships" id="280" r:id="Rc7fb6c4c9d064145"/>
    <p:sldId xmlns:r="http://schemas.openxmlformats.org/officeDocument/2006/relationships" id="281" r:id="R31aeeca37c544b4a"/>
    <p:sldId xmlns:r="http://schemas.openxmlformats.org/officeDocument/2006/relationships" id="282" r:id="Ra7a4bab404ae4d17"/>
    <p:sldId xmlns:r="http://schemas.openxmlformats.org/officeDocument/2006/relationships" id="283" r:id="Rccf9f76c8f3a4e89"/>
    <p:sldId xmlns:r="http://schemas.openxmlformats.org/officeDocument/2006/relationships" id="284" r:id="R777c5abfd02948c3"/>
    <p:sldId xmlns:r="http://schemas.openxmlformats.org/officeDocument/2006/relationships" id="285" r:id="R9ceaf051b8ad4b86"/>
    <p:sldId xmlns:r="http://schemas.openxmlformats.org/officeDocument/2006/relationships" id="286" r:id="Re79083106dd4422a"/>
    <p:sldId xmlns:r="http://schemas.openxmlformats.org/officeDocument/2006/relationships" id="287" r:id="Rb2ec8fb2b56f4beb"/>
    <p:sldId xmlns:r="http://schemas.openxmlformats.org/officeDocument/2006/relationships" id="288" r:id="Rbf94785f248b4db5"/>
    <p:sldId xmlns:r="http://schemas.openxmlformats.org/officeDocument/2006/relationships" id="289" r:id="R122dd5aa5b3f433a"/>
    <p:sldId xmlns:r="http://schemas.openxmlformats.org/officeDocument/2006/relationships" id="290" r:id="Re7b49bba634b40a4"/>
    <p:sldId xmlns:r="http://schemas.openxmlformats.org/officeDocument/2006/relationships" id="291" r:id="R3de9417f1d7a4895"/>
    <p:sldId xmlns:r="http://schemas.openxmlformats.org/officeDocument/2006/relationships" id="292" r:id="R195b67a87adb44bd"/>
    <p:sldId xmlns:r="http://schemas.openxmlformats.org/officeDocument/2006/relationships" id="293" r:id="R909022ad210f4cb0"/>
    <p:sldId xmlns:r="http://schemas.openxmlformats.org/officeDocument/2006/relationships" id="294" r:id="R9e896b96abbc484a"/>
    <p:sldId xmlns:r="http://schemas.openxmlformats.org/officeDocument/2006/relationships" id="295" r:id="Rb759c93abc5549f8"/>
    <p:sldId xmlns:r="http://schemas.openxmlformats.org/officeDocument/2006/relationships" id="296" r:id="Rac92f04fabb54df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a64021aaa314bb4" /><Relationship Type="http://schemas.openxmlformats.org/officeDocument/2006/relationships/slideMaster" Target="/ppt/slideMasters/slideMaster1.xml" Id="R99d6f7a8a3d94446" /><Relationship Type="http://schemas.openxmlformats.org/officeDocument/2006/relationships/notesMaster" Target="/ppt/notesMasters/notesMaster1.xml" Id="Rc03e420dbcd84354" /><Relationship Type="http://schemas.openxmlformats.org/officeDocument/2006/relationships/presProps" Target="/ppt/presProps.xml" Id="Re8f585b1afe14c5e" /><Relationship Type="http://schemas.openxmlformats.org/officeDocument/2006/relationships/tableStyles" Target="/ppt/tableStyles.xml" Id="R5ffb798b88064b7d" /><Relationship Type="http://schemas.openxmlformats.org/officeDocument/2006/relationships/slide" Target="/ppt/slides/slide1.xml" Id="Rbeed1244b4c243ba" /><Relationship Type="http://schemas.openxmlformats.org/officeDocument/2006/relationships/slide" Target="/ppt/slides/slide2.xml" Id="R5270c53573fe4266" /><Relationship Type="http://schemas.openxmlformats.org/officeDocument/2006/relationships/slide" Target="/ppt/slides/slide3.xml" Id="R1bf8a55c956b4b5c" /><Relationship Type="http://schemas.openxmlformats.org/officeDocument/2006/relationships/slide" Target="/ppt/slides/slide4.xml" Id="R6ff988d952f64fee" /><Relationship Type="http://schemas.openxmlformats.org/officeDocument/2006/relationships/slide" Target="/ppt/slides/slide5.xml" Id="R6bbe948f7e5b40c0" /><Relationship Type="http://schemas.openxmlformats.org/officeDocument/2006/relationships/slide" Target="/ppt/slides/slide6.xml" Id="Rd216b8e56ca5401a" /><Relationship Type="http://schemas.openxmlformats.org/officeDocument/2006/relationships/slide" Target="/ppt/slides/slide7.xml" Id="Rfa8847c976644c45" /><Relationship Type="http://schemas.openxmlformats.org/officeDocument/2006/relationships/slide" Target="/ppt/slides/slide8.xml" Id="R5ff3b69a97af4825" /><Relationship Type="http://schemas.openxmlformats.org/officeDocument/2006/relationships/slide" Target="/ppt/slides/slide9.xml" Id="R3ebdeb25c6c341e6" /><Relationship Type="http://schemas.openxmlformats.org/officeDocument/2006/relationships/slide" Target="/ppt/slides/slide10.xml" Id="Rd7a7b2098e404bf8" /><Relationship Type="http://schemas.openxmlformats.org/officeDocument/2006/relationships/slide" Target="/ppt/slides/slide11.xml" Id="Rb50e5237c6134c71" /><Relationship Type="http://schemas.openxmlformats.org/officeDocument/2006/relationships/slide" Target="/ppt/slides/slide12.xml" Id="Re34f14b2304b4d52" /><Relationship Type="http://schemas.openxmlformats.org/officeDocument/2006/relationships/slide" Target="/ppt/slides/slide13.xml" Id="R3be29fb793734519" /><Relationship Type="http://schemas.openxmlformats.org/officeDocument/2006/relationships/slide" Target="/ppt/slides/slide14.xml" Id="Rc6e2785d0faf49da" /><Relationship Type="http://schemas.openxmlformats.org/officeDocument/2006/relationships/slide" Target="/ppt/slides/slide15.xml" Id="Rc09d095f0d7f4b42" /><Relationship Type="http://schemas.openxmlformats.org/officeDocument/2006/relationships/slide" Target="/ppt/slides/slide16.xml" Id="R241e2a003f214205" /><Relationship Type="http://schemas.openxmlformats.org/officeDocument/2006/relationships/slide" Target="/ppt/slides/slide17.xml" Id="Rcc1ee7ad55d3433e" /><Relationship Type="http://schemas.openxmlformats.org/officeDocument/2006/relationships/slide" Target="/ppt/slides/slide18.xml" Id="R7fd0d0e56ab14d15" /><Relationship Type="http://schemas.openxmlformats.org/officeDocument/2006/relationships/slide" Target="/ppt/slides/slide19.xml" Id="R988fb92ae0a14e03" /><Relationship Type="http://schemas.openxmlformats.org/officeDocument/2006/relationships/slide" Target="/ppt/slides/slide20.xml" Id="Rcb64e534176f47f1" /><Relationship Type="http://schemas.openxmlformats.org/officeDocument/2006/relationships/slide" Target="/ppt/slides/slide21.xml" Id="R1e47ae062f9d4266" /><Relationship Type="http://schemas.openxmlformats.org/officeDocument/2006/relationships/slide" Target="/ppt/slides/slide22.xml" Id="R5206486faa4a4520" /><Relationship Type="http://schemas.openxmlformats.org/officeDocument/2006/relationships/slide" Target="/ppt/slides/slide23.xml" Id="Rfcc9cce6df25428d" /><Relationship Type="http://schemas.openxmlformats.org/officeDocument/2006/relationships/slide" Target="/ppt/slides/slide24.xml" Id="R3cc66c1415404dd2" /><Relationship Type="http://schemas.openxmlformats.org/officeDocument/2006/relationships/slide" Target="/ppt/slides/slide25.xml" Id="Rc7fb6c4c9d064145" /><Relationship Type="http://schemas.openxmlformats.org/officeDocument/2006/relationships/slide" Target="/ppt/slides/slide26.xml" Id="R31aeeca37c544b4a" /><Relationship Type="http://schemas.openxmlformats.org/officeDocument/2006/relationships/slide" Target="/ppt/slides/slide27.xml" Id="Ra7a4bab404ae4d17" /><Relationship Type="http://schemas.openxmlformats.org/officeDocument/2006/relationships/slide" Target="/ppt/slides/slide28.xml" Id="Rccf9f76c8f3a4e89" /><Relationship Type="http://schemas.openxmlformats.org/officeDocument/2006/relationships/slide" Target="/ppt/slides/slide29.xml" Id="R777c5abfd02948c3" /><Relationship Type="http://schemas.openxmlformats.org/officeDocument/2006/relationships/slide" Target="/ppt/slides/slide30.xml" Id="R9ceaf051b8ad4b86" /><Relationship Type="http://schemas.openxmlformats.org/officeDocument/2006/relationships/slide" Target="/ppt/slides/slide31.xml" Id="Re79083106dd4422a" /><Relationship Type="http://schemas.openxmlformats.org/officeDocument/2006/relationships/slide" Target="/ppt/slides/slide32.xml" Id="Rb2ec8fb2b56f4beb" /><Relationship Type="http://schemas.openxmlformats.org/officeDocument/2006/relationships/slide" Target="/ppt/slides/slide33.xml" Id="Rbf94785f248b4db5" /><Relationship Type="http://schemas.openxmlformats.org/officeDocument/2006/relationships/slide" Target="/ppt/slides/slide34.xml" Id="R122dd5aa5b3f433a" /><Relationship Type="http://schemas.openxmlformats.org/officeDocument/2006/relationships/slide" Target="/ppt/slides/slide35.xml" Id="Re7b49bba634b40a4" /><Relationship Type="http://schemas.openxmlformats.org/officeDocument/2006/relationships/slide" Target="/ppt/slides/slide36.xml" Id="R3de9417f1d7a4895" /><Relationship Type="http://schemas.openxmlformats.org/officeDocument/2006/relationships/slide" Target="/ppt/slides/slide37.xml" Id="R195b67a87adb44bd" /><Relationship Type="http://schemas.openxmlformats.org/officeDocument/2006/relationships/slide" Target="/ppt/slides/slide38.xml" Id="R909022ad210f4cb0" /><Relationship Type="http://schemas.openxmlformats.org/officeDocument/2006/relationships/slide" Target="/ppt/slides/slide39.xml" Id="R9e896b96abbc484a" /><Relationship Type="http://schemas.openxmlformats.org/officeDocument/2006/relationships/slide" Target="/ppt/slides/slide40.xml" Id="Rb759c93abc5549f8" /><Relationship Type="http://schemas.openxmlformats.org/officeDocument/2006/relationships/slide" Target="/ppt/slides/slide41.xml" Id="Rac92f04fabb54d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6078eac19b47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3e07df18aa149db" /><Relationship Type="http://schemas.openxmlformats.org/officeDocument/2006/relationships/notesMaster" Target="/ppt/notesMasters/notesMaster1.xml" Id="Rc808594db54a484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ca231fb2bfc429e" /><Relationship Type="http://schemas.openxmlformats.org/officeDocument/2006/relationships/notesMaster" Target="/ppt/notesMasters/notesMaster1.xml" Id="R0449c5eb8d8e4ae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051fefaf9ac43f4" /><Relationship Type="http://schemas.openxmlformats.org/officeDocument/2006/relationships/notesMaster" Target="/ppt/notesMasters/notesMaster1.xml" Id="R9470036dbe1c49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7009f268f894b97" /><Relationship Type="http://schemas.openxmlformats.org/officeDocument/2006/relationships/notesMaster" Target="/ppt/notesMasters/notesMaster1.xml" Id="R925d91c3fd8a4a3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613890be8c0481f" /><Relationship Type="http://schemas.openxmlformats.org/officeDocument/2006/relationships/notesMaster" Target="/ppt/notesMasters/notesMaster1.xml" Id="R7347644448b14a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bb163b4fef48ba" /><Relationship Type="http://schemas.openxmlformats.org/officeDocument/2006/relationships/notesMaster" Target="/ppt/notesMasters/notesMaster1.xml" Id="R314244cc6b414a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a82aaffd3eb4821" /><Relationship Type="http://schemas.openxmlformats.org/officeDocument/2006/relationships/notesMaster" Target="/ppt/notesMasters/notesMaster1.xml" Id="R92fd1638351445a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947d3c0a664491" /><Relationship Type="http://schemas.openxmlformats.org/officeDocument/2006/relationships/notesMaster" Target="/ppt/notesMasters/notesMaster1.xml" Id="R991a043f342349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f91587e0d84ca2" /><Relationship Type="http://schemas.openxmlformats.org/officeDocument/2006/relationships/notesMaster" Target="/ppt/notesMasters/notesMaster1.xml" Id="R496c80eb012e42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eade2eb3cb465d" /><Relationship Type="http://schemas.openxmlformats.org/officeDocument/2006/relationships/notesMaster" Target="/ppt/notesMasters/notesMaster1.xml" Id="R70965d743a0b41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a04e0deab242d9" /><Relationship Type="http://schemas.openxmlformats.org/officeDocument/2006/relationships/notesMaster" Target="/ppt/notesMasters/notesMaster1.xml" Id="R9873070276fb4d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66ca6dfa2534498" /><Relationship Type="http://schemas.openxmlformats.org/officeDocument/2006/relationships/notesMaster" Target="/ppt/notesMasters/notesMaster1.xml" Id="Rf31ada499c7b43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3b44e1f07d049ae" /><Relationship Type="http://schemas.openxmlformats.org/officeDocument/2006/relationships/notesMaster" Target="/ppt/notesMasters/notesMaster1.xml" Id="Ra558e9bc46bf4d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1417d6582dd42b7" /><Relationship Type="http://schemas.openxmlformats.org/officeDocument/2006/relationships/notesMaster" Target="/ppt/notesMasters/notesMaster1.xml" Id="R627453673c6f422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36dddb058d45f2" /><Relationship Type="http://schemas.openxmlformats.org/officeDocument/2006/relationships/notesMaster" Target="/ppt/notesMasters/notesMaster1.xml" Id="R117a5cd6cd3540d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666a22f4b3a451f" /><Relationship Type="http://schemas.openxmlformats.org/officeDocument/2006/relationships/notesMaster" Target="/ppt/notesMasters/notesMaster1.xml" Id="R997c3524ea2a41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61166ef156458f" /><Relationship Type="http://schemas.openxmlformats.org/officeDocument/2006/relationships/notesMaster" Target="/ppt/notesMasters/notesMaster1.xml" Id="Ra9ff0c7c0c444a1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a60ae6d5484bf6" /><Relationship Type="http://schemas.openxmlformats.org/officeDocument/2006/relationships/notesMaster" Target="/ppt/notesMasters/notesMaster1.xml" Id="R9c911c793d8742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5dfb1a52f94de5" /><Relationship Type="http://schemas.openxmlformats.org/officeDocument/2006/relationships/notesMaster" Target="/ppt/notesMasters/notesMaster1.xml" Id="R2488c75f7fe845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9ef140ceba44566" /><Relationship Type="http://schemas.openxmlformats.org/officeDocument/2006/relationships/notesMaster" Target="/ppt/notesMasters/notesMaster1.xml" Id="R7ed2c7f13589420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93b86b01f5e4e28" /><Relationship Type="http://schemas.openxmlformats.org/officeDocument/2006/relationships/notesMaster" Target="/ppt/notesMasters/notesMaster1.xml" Id="Raf9ba4250cb84ff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6dd0573fe9b45ba" /><Relationship Type="http://schemas.openxmlformats.org/officeDocument/2006/relationships/notesMaster" Target="/ppt/notesMasters/notesMaster1.xml" Id="R075de73552ea4af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1bd05a2627f4faa" /><Relationship Type="http://schemas.openxmlformats.org/officeDocument/2006/relationships/notesMaster" Target="/ppt/notesMasters/notesMaster1.xml" Id="Rcf295f422fdf476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dc2d9a144044f10" /><Relationship Type="http://schemas.openxmlformats.org/officeDocument/2006/relationships/notesMaster" Target="/ppt/notesMasters/notesMaster1.xml" Id="R4f6ef2e6df63408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fa5328f01044de5" /><Relationship Type="http://schemas.openxmlformats.org/officeDocument/2006/relationships/notesMaster" Target="/ppt/notesMasters/notesMaster1.xml" Id="R9d9aad40481c46c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c65693d8a1a455a" /><Relationship Type="http://schemas.openxmlformats.org/officeDocument/2006/relationships/notesMaster" Target="/ppt/notesMasters/notesMaster1.xml" Id="R70f2dae9876d497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e300e6b2ce54d04" /><Relationship Type="http://schemas.openxmlformats.org/officeDocument/2006/relationships/notesMaster" Target="/ppt/notesMasters/notesMaster1.xml" Id="R1b7ad980b64c4b6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b6e5ed151054f07" /><Relationship Type="http://schemas.openxmlformats.org/officeDocument/2006/relationships/notesMaster" Target="/ppt/notesMasters/notesMaster1.xml" Id="R15f93da7a2df415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e095f8046f747ec" /><Relationship Type="http://schemas.openxmlformats.org/officeDocument/2006/relationships/notesMaster" Target="/ppt/notesMasters/notesMaster1.xml" Id="R3ad81c2f1de84c1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3cd2b806a1e4890" /><Relationship Type="http://schemas.openxmlformats.org/officeDocument/2006/relationships/notesMaster" Target="/ppt/notesMasters/notesMaster1.xml" Id="Rf8e9e1ec2d7441e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637cd6d90fd495e" /><Relationship Type="http://schemas.openxmlformats.org/officeDocument/2006/relationships/notesMaster" Target="/ppt/notesMasters/notesMaster1.xml" Id="R6dad2a4fecf6450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c527886752645c8" /><Relationship Type="http://schemas.openxmlformats.org/officeDocument/2006/relationships/notesMaster" Target="/ppt/notesMasters/notesMaster1.xml" Id="R2927739854eb456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7285871fe344c80" /><Relationship Type="http://schemas.openxmlformats.org/officeDocument/2006/relationships/notesMaster" Target="/ppt/notesMasters/notesMaster1.xml" Id="Rcc2673e21ffa4f3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c40733589354ac7" /><Relationship Type="http://schemas.openxmlformats.org/officeDocument/2006/relationships/notesMaster" Target="/ppt/notesMasters/notesMaster1.xml" Id="Rffb247efa5b3448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39f9c3685f34ffe" /><Relationship Type="http://schemas.openxmlformats.org/officeDocument/2006/relationships/notesMaster" Target="/ppt/notesMasters/notesMaster1.xml" Id="R50685850d82a4e5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eb8d40b52974dc3" /><Relationship Type="http://schemas.openxmlformats.org/officeDocument/2006/relationships/notesMaster" Target="/ppt/notesMasters/notesMaster1.xml" Id="R867710fcdbbc4d0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85943b5b1b64bc7" /><Relationship Type="http://schemas.openxmlformats.org/officeDocument/2006/relationships/notesMaster" Target="/ppt/notesMasters/notesMaster1.xml" Id="Rf71033181e944b9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539df49979d4587" /><Relationship Type="http://schemas.openxmlformats.org/officeDocument/2006/relationships/notesMaster" Target="/ppt/notesMasters/notesMaster1.xml" Id="Rdcca7be6ea064df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fdb81fd189e41a6" /><Relationship Type="http://schemas.openxmlformats.org/officeDocument/2006/relationships/notesMaster" Target="/ppt/notesMasters/notesMaster1.xml" Id="R85fe8addee4f41e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fbc24a7aa134f98" /><Relationship Type="http://schemas.openxmlformats.org/officeDocument/2006/relationships/notesMaster" Target="/ppt/notesMasters/notesMaster1.xml" Id="R221d777a48a942e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1f2d1c374a14797" /><Relationship Type="http://schemas.openxmlformats.org/officeDocument/2006/relationships/notesMaster" Target="/ppt/notesMasters/notesMaster1.xml" Id="Re3b833eab09c4293"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and the cost of mistakes</a:t>
            </a:r>
          </a:p>
          <a:p>
            <a:r>
              <a:t>CML3113, Week 9, slide 1</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9, slide 2</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Distinguish an actual label from a predicted label.</a:t>
            </a:r>
          </a:p>
          <a:p>
            <a:r>
              <a:t/>
            </a:r>
          </a:p>
          <a:p>
            <a:r>
              <a:t>Count prediction outcomes and explain their costs.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9, slide 3</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 8 predicted a number. This week predicts a category and counts the different kinds of correct and incorrect result.</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9, slide 4</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warning system predicts a category. We compare each prediction with its recorded answer, then count false alarms and missed warnings using an explicit cost rule.</a:t>
            </a:r>
          </a:p>
          <a:p>
            <a:r>
              <a:t/>
            </a:r>
          </a:p>
          <a:p>
            <a:r>
              <a:t>Continue to</a:t>
            </a:r>
          </a:p>
          <a:p>
            <a:r>
              <a:t>The positive class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positive class</a:t>
            </a:r>
          </a:p>
          <a:p>
            <a:r>
              <a:t>CML3113, Week 9, slide 5</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In this example, 1 means a warning is needed.</a:t>
            </a:r>
          </a:p>
          <a:p>
            <a:r>
              <a:t/>
            </a:r>
          </a:p>
          <a:p>
            <a:r>
              <a:t>0 means a warning is not needed.</a:t>
            </a:r>
          </a:p>
          <a:p>
            <a:r>
              <a:t/>
            </a:r>
          </a:p>
          <a:p>
            <a:r>
              <a:t>Actual is the reference label. Predicted is the model’s label.</a:t>
            </a:r>
          </a:p>
          <a:p>
            <a:r>
              <a:t/>
            </a:r>
          </a:p>
          <a:p>
            <a:r>
              <a:t>A false negative misses a real warning.</a:t>
            </a:r>
          </a:p>
          <a:p>
            <a:r>
              <a:t/>
            </a:r>
          </a:p>
          <a:p>
            <a:r>
              <a:t>Continue to</a:t>
            </a:r>
          </a:p>
          <a:p>
            <a:r>
              <a:t>Class and positive label / TP and TN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 and positive label / TP and TN</a:t>
            </a:r>
          </a:p>
          <a:p>
            <a:r>
              <a:t>CML3113, Week 9, slide 6</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Class and positive label: A class is a category. Here 1 means warning and 0 means no warning. Positive means the named class, not good news.</a:t>
            </a:r>
          </a:p>
          <a:p>
            <a:r>
              <a:t>TP and TN: True positive is a correctly flagged warning. True negative is a correctly unflagged non-warning.</a:t>
            </a:r>
          </a:p>
          <a:p>
            <a:r>
              <a:t/>
            </a:r>
          </a:p>
          <a:p>
            <a:r>
              <a:t>Continue to</a:t>
            </a:r>
          </a:p>
          <a:p>
            <a:r>
              <a:t>FP and FN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FP and FN</a:t>
            </a:r>
          </a:p>
          <a:p>
            <a:r>
              <a:t>CML3113, Week 9, slide 7</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FP and FN: False positive is a false alarm. False negative is a missed warning.</a:t>
            </a:r>
          </a:p>
          <a:p>
            <a:r>
              <a:t/>
            </a:r>
          </a:p>
          <a:p>
            <a:r>
              <a:t>Continue to</a:t>
            </a:r>
          </a:p>
          <a:p>
            <a:r>
              <a:t>Actual and predicted describe different things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Actual and predicted describe different things</a:t>
            </a:r>
          </a:p>
          <a:p>
            <a:r>
              <a:t>CML3113, Week 9, slide 8</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Actual is the recorded reference answer.</a:t>
            </a:r>
          </a:p>
          <a:p>
            <a:r>
              <a:t/>
            </a:r>
          </a:p>
          <a:p>
            <a:r>
              <a:t>Predicted is the answer produced by our model.</a:t>
            </a:r>
          </a:p>
          <a:p>
            <a:r>
              <a:t/>
            </a:r>
          </a:p>
          <a:p>
            <a:r>
              <a:t>A correct prediction matches the reference. Class 1 means warning in this example.</a:t>
            </a:r>
          </a:p>
          <a:p>
            <a:r>
              <a:t/>
            </a:r>
          </a:p>
          <a:p>
            <a:r>
              <a:t>Continue to</a:t>
            </a:r>
          </a:p>
          <a:p>
            <a:r>
              <a:t>Every paired result belongs in one cell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paired result belongs in one cell</a:t>
            </a:r>
          </a:p>
          <a:p>
            <a:r>
              <a:t>CML3113, Week 9, slide 9</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Read actual first, then predicted. Explain the missed warning.</a:t>
            </a:r>
          </a:p>
          <a:p>
            <a:r>
              <a:t/>
            </a:r>
          </a:p>
          <a:p>
            <a:r>
              <a:t>Continue to</a:t>
            </a:r>
          </a:p>
          <a:p>
            <a:r>
              <a:t>The four kinds of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four kinds of result</a:t>
            </a:r>
          </a:p>
          <a:p>
            <a:r>
              <a:t>CML3113, Week 9, slide 10</a:t>
            </a:r>
          </a:p>
          <a:p>
            <a:r>
              <a:t/>
            </a:r>
          </a:p>
          <a:p>
            <a:r>
              <a:t>Explanation to give</a:t>
            </a:r>
          </a:p>
          <a:p>
            <a:r>
              <a:t>First name what 1 means. Read the actual label before the prediction. True/false refers to whether the prediction is correct; positive/negative refers to the predicted class.</a:t>
            </a:r>
          </a:p>
          <a:p>
            <a:r>
              <a:t/>
            </a:r>
          </a:p>
          <a:p>
            <a:r>
              <a:t>Worked illustration / lecturer answer</a:t>
            </a:r>
          </a:p>
          <a:p>
            <a:r>
              <a:t>With 1 meaning warning: actual 1, predicted 0 is a false negative, a missed warning. Actual 0, predicted 1 is a false positive, an unnecessary warning.</a:t>
            </a:r>
          </a:p>
          <a:p>
            <a:r>
              <a:t/>
            </a:r>
          </a:p>
          <a:p>
            <a:r>
              <a:t>Misconception to address</a:t>
            </a:r>
          </a:p>
          <a:p>
            <a:r>
              <a:t>Positive does not mean good. A high count of correct normal cases can hide a dangerous number of missed warnings.</a:t>
            </a:r>
          </a:p>
          <a:p>
            <a:r>
              <a:t/>
            </a:r>
          </a:p>
          <a:p>
            <a:r>
              <a:t>On this slide</a:t>
            </a:r>
          </a:p>
          <a:p>
            <a:r>
              <a:t>Actual / Predicted | Warning 1 | No warning 0</a:t>
            </a:r>
          </a:p>
          <a:p>
            <a:r>
              <a:t>Warning 1 | TP = 1 | FN = 1</a:t>
            </a:r>
          </a:p>
          <a:p>
            <a:r>
              <a:t>No warning 0 | FP = 1 | TN = 1</a:t>
            </a:r>
          </a:p>
          <a:p>
            <a:r>
              <a:t>Rows are actual and columns are predicted.</a:t>
            </a:r>
          </a:p>
          <a:p>
            <a:r>
              <a:t/>
            </a:r>
          </a:p>
          <a:p>
            <a:r>
              <a:t>Continue to</a:t>
            </a:r>
          </a:p>
          <a:p>
            <a:r>
              <a:t>Precision / Recall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Precision / Recall</a:t>
            </a:r>
          </a:p>
          <a:p>
            <a:r>
              <a:t>CML3113, Week 9, slide 11</a:t>
            </a:r>
          </a:p>
          <a:p>
            <a:r>
              <a:t/>
            </a:r>
          </a:p>
          <a:p>
            <a:r>
              <a:t>Explanation to give</a:t>
            </a:r>
          </a:p>
          <a:p>
            <a:r>
              <a:t>Use two different denominators. Precision looks only at issued warnings. Recall looks only at real cases that needed a warning. Say the population in the denominator before calculating.</a:t>
            </a:r>
          </a:p>
          <a:p>
            <a:r>
              <a:t/>
            </a:r>
          </a:p>
          <a:p>
            <a:r>
              <a:t>Worked illustration / lecturer answer</a:t>
            </a:r>
          </a:p>
          <a:p>
            <a:r>
              <a:t>If TP=3, FP=1 and FN=2, precision is 3/(3+1)=0.75 and recall is 3/(3+2)=0.60. One asks whether warnings are reliable; the other asks whether true problems were found.</a:t>
            </a:r>
          </a:p>
          <a:p>
            <a:r>
              <a:t/>
            </a:r>
          </a:p>
          <a:p>
            <a:r>
              <a:t>Misconception to address</a:t>
            </a:r>
          </a:p>
          <a:p>
            <a:r>
              <a:t>The denominators are not interchangeable. Follow the published convention when a denominator is zero and explain why that case arises.</a:t>
            </a:r>
          </a:p>
          <a:p>
            <a:r>
              <a:t/>
            </a:r>
          </a:p>
          <a:p>
            <a:r>
              <a:t>On this slide</a:t>
            </a:r>
          </a:p>
          <a:p>
            <a:r>
              <a:t>Precision: Of all predicted warnings, the fraction that were actual warnings: TP / (TP + FP).</a:t>
            </a:r>
          </a:p>
          <a:p>
            <a:r>
              <a:t>Recall: Of all actual warnings, the fraction detected: TP / (TP + FN).</a:t>
            </a:r>
          </a:p>
          <a:p>
            <a:r>
              <a:t/>
            </a:r>
          </a:p>
          <a:p>
            <a:r>
              <a:t>Continue to</a:t>
            </a:r>
          </a:p>
          <a:p>
            <a:r>
              <a:t>Precision and recall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Precision and recall</a:t>
            </a:r>
          </a:p>
          <a:p>
            <a:r>
              <a:t>CML3113, Week 9, slide 12</a:t>
            </a:r>
          </a:p>
          <a:p>
            <a:r>
              <a:t/>
            </a:r>
          </a:p>
          <a:p>
            <a:r>
              <a:t>Explanation to give</a:t>
            </a:r>
          </a:p>
          <a:p>
            <a:r>
              <a:t>Use two different denominators. Precision looks only at issued warnings. Recall looks only at real cases that needed a warning. Say the population in the denominator before calculating.</a:t>
            </a:r>
          </a:p>
          <a:p>
            <a:r>
              <a:t/>
            </a:r>
          </a:p>
          <a:p>
            <a:r>
              <a:t>Worked illustration / lecturer answer</a:t>
            </a:r>
          </a:p>
          <a:p>
            <a:r>
              <a:t>If TP=3, FP=1 and FN=2, precision is 3/(3+1)=0.75 and recall is 3/(3+2)=0.60. One asks whether warnings are reliable; the other asks whether true problems were found.</a:t>
            </a:r>
          </a:p>
          <a:p>
            <a:r>
              <a:t/>
            </a:r>
          </a:p>
          <a:p>
            <a:r>
              <a:t>Misconception to address</a:t>
            </a:r>
          </a:p>
          <a:p>
            <a:r>
              <a:t>The denominators are not interchangeable. Follow the published convention when a denominator is zero and explain why that case arises.</a:t>
            </a:r>
          </a:p>
          <a:p>
            <a:r>
              <a:t/>
            </a:r>
          </a:p>
          <a:p>
            <a:r>
              <a:t>On this slide</a:t>
            </a:r>
          </a:p>
          <a:p>
            <a:r>
              <a:t>Precision asks: of the warnings raised, how many were correct?</a:t>
            </a:r>
          </a:p>
          <a:p>
            <a:r>
              <a:t/>
            </a:r>
          </a:p>
          <a:p>
            <a:r>
              <a:t>Recall asks: of the real warnings, how many did we detect?</a:t>
            </a:r>
          </a:p>
          <a:p>
            <a:r>
              <a:t/>
            </a:r>
          </a:p>
          <a:p>
            <a:r>
              <a:t>A zero denominator needs an explicit rule.</a:t>
            </a:r>
          </a:p>
          <a:p>
            <a:r>
              <a:t/>
            </a:r>
          </a:p>
          <a:p>
            <a:r>
              <a:t>Use the rule in your task brief when implementing the function.</a:t>
            </a:r>
          </a:p>
          <a:p>
            <a:r>
              <a:t/>
            </a:r>
          </a:p>
          <a:p>
            <a:r>
              <a:t>Continue to</a:t>
            </a:r>
          </a:p>
          <a:p>
            <a:r>
              <a:t>Probability and a decision threshold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Probability and a decision threshold</a:t>
            </a:r>
          </a:p>
          <a:p>
            <a:r>
              <a:t>CML3113, Week 9, slide 13</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Probability: A probability is between 0 and 1. Multiply by 100 for percent: 0.7 is 70%. A model’s probability is an estimate that needs checking.</a:t>
            </a:r>
          </a:p>
          <a:p>
            <a:r>
              <a:t>Threshold: A threshold turns a score into a decision. For a rule score &gt;= 0.5, a score of 0.7 gives class 1. Use validation data to choose the threshold.</a:t>
            </a:r>
          </a:p>
          <a:p>
            <a:r>
              <a:t/>
            </a:r>
          </a:p>
          <a:p>
            <a:r>
              <a:t>Continue to</a:t>
            </a:r>
          </a:p>
          <a:p>
            <a:r>
              <a:t>Apply one stated decision threshold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Apply one stated decision threshold</a:t>
            </a:r>
          </a:p>
          <a:p>
            <a:r>
              <a:t>CML3113, Week 9, slide 14</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Estimated positive probability | At least 0.5? | Decision</a:t>
            </a:r>
          </a:p>
          <a:p>
            <a:r>
              <a:t>0.20 | No | Class 0</a:t>
            </a:r>
          </a:p>
          <a:p>
            <a:r>
              <a:t>0.50 | Yes | Class 1</a:t>
            </a:r>
          </a:p>
          <a:p>
            <a:r>
              <a:t>0.80 | Yes | Class 1</a:t>
            </a:r>
          </a:p>
          <a:p>
            <a:r>
              <a:t>0.5 means 50%. This rule includes equality. A probability is an estimate, not a promise that one case is correct.</a:t>
            </a:r>
          </a:p>
          <a:p>
            <a:r>
              <a:t/>
            </a:r>
          </a:p>
          <a:p>
            <a:r>
              <a:t>Reference / existing resource</a:t>
            </a:r>
          </a:p>
          <a:p>
            <a:r>
              <a:t>https://docs.python.org/3/tutorial/introduction.html</a:t>
            </a:r>
          </a:p>
          <a:p>
            <a:r>
              <a:t>https://docs.python.org/3/tutorial/controlflow.html;</a:t>
            </a:r>
          </a:p>
          <a:p>
            <a:r>
              <a:t/>
            </a:r>
          </a:p>
          <a:p>
            <a:r>
              <a:t>Continue to</a:t>
            </a:r>
          </a:p>
          <a:p>
            <a:r>
              <a:t>A category decision can use a probability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category decision can use a probability</a:t>
            </a:r>
          </a:p>
          <a:p>
            <a:r>
              <a:t>CML3113, Week 9, slide 15</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classifier may estimate the probability of class 1.</a:t>
            </a:r>
          </a:p>
          <a:p>
            <a:r>
              <a:t/>
            </a:r>
          </a:p>
          <a:p>
            <a:r>
              <a:t>A threshold converts that estimate into warning or no warning.</a:t>
            </a:r>
          </a:p>
          <a:p>
            <a:r>
              <a:t/>
            </a:r>
          </a:p>
          <a:p>
            <a:r>
              <a:t>Logistic regression is a classification model. Its probability estimates still need evaluation.</a:t>
            </a:r>
          </a:p>
          <a:p>
            <a:r>
              <a:t/>
            </a:r>
          </a:p>
          <a:p>
            <a:r>
              <a:t>Continue to</a:t>
            </a:r>
          </a:p>
          <a:p>
            <a:r>
              <a:t>Threshold and cost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Threshold and cost</a:t>
            </a:r>
          </a:p>
          <a:p>
            <a:r>
              <a:t>CML3113, Week 9, slide 16</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Threshold and cost: A threshold converts a score to a decision. A cost rule states how much each type of mistake matters. Lower thresholds usually increase recall; precision need not decrease at every step.</a:t>
            </a:r>
          </a:p>
          <a:p>
            <a:r>
              <a:t/>
            </a:r>
          </a:p>
          <a:p>
            <a:r>
              <a:t>Continue to</a:t>
            </a:r>
          </a:p>
          <a:p>
            <a:r>
              <a:t>State the cost rule before calculating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State the cost rule before calculating</a:t>
            </a:r>
          </a:p>
          <a:p>
            <a:r>
              <a:t>CML3113, Week 9, slide 17</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cost rule assigns a penalty to each kind of mistake. In this teaching example, a missed warning costs 5 units and a false alarm costs 1 unit.</a:t>
            </a:r>
          </a:p>
          <a:p>
            <a:r>
              <a:t/>
            </a:r>
          </a:p>
          <a:p>
            <a:r>
              <a:t>Total cost = 5 × FN + FP. One missed warning and one false alarm therefore cost 6 units.</a:t>
            </a:r>
          </a:p>
          <a:p>
            <a:r>
              <a:t/>
            </a:r>
          </a:p>
          <a:p>
            <a:r>
              <a:t>These are invented teaching penalties. Use the published assignment cost rule and explain whose consequences it represents.</a:t>
            </a:r>
          </a:p>
          <a:p>
            <a:r>
              <a:t/>
            </a:r>
          </a:p>
          <a:p>
            <a:r>
              <a:t>Continue to</a:t>
            </a:r>
          </a:p>
          <a:p>
            <a:r>
              <a:t>Counting syntax in the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syntax in the example</a:t>
            </a:r>
          </a:p>
          <a:p>
            <a:r>
              <a:t>CML3113, Week 9, slide 18</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Code | Equivalent idea</a:t>
            </a:r>
          </a:p>
          <a:p>
            <a:r>
              <a:t>tp = tn = fp = fn = 0 | Set each of four counts to zero</a:t>
            </a:r>
          </a:p>
          <a:p>
            <a:r>
              <a:t>tp += 1 | tp = tp + 1</a:t>
            </a:r>
          </a:p>
          <a:p>
            <a:r>
              <a:t>zip(actual, predicted) | Pair items in the same positions</a:t>
            </a:r>
          </a:p>
          <a:p>
            <a:r>
              <a:t>elif condition: | Try this branch if earlier ones failed</a:t>
            </a:r>
          </a:p>
          <a:p>
            <a:r>
              <a:t>Our paired lists must have matching lengths. zip alone stops at the shorter list.</a:t>
            </a:r>
          </a:p>
          <a:p>
            <a:r>
              <a:t/>
            </a:r>
          </a:p>
          <a:p>
            <a:r>
              <a:t>Continue to</a:t>
            </a:r>
          </a:p>
          <a:p>
            <a:r>
              <a:t>Classification outcomes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outcomes in Python</a:t>
            </a:r>
          </a:p>
          <a:p>
            <a:r>
              <a:t>CML3113, Week 9, slide 19</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actual = [1, 1, 0, 0]</a:t>
            </a:r>
          </a:p>
          <a:p>
            <a:r>
              <a:t>Evaluate the complete right-hand expression first, then assign its result to the name or selected field on the left.</a:t>
            </a:r>
          </a:p>
          <a:p>
            <a:r>
              <a:t/>
            </a:r>
          </a:p>
          <a:p>
            <a:r>
              <a:t>predicted = [1, 0, 1, 0]</a:t>
            </a:r>
          </a:p>
          <a:p>
            <a:r>
              <a:t>Evaluate the complete right-hand expression first, then assign its result to the name or selected field on the left.</a:t>
            </a:r>
          </a:p>
          <a:p>
            <a:r>
              <a:t/>
            </a:r>
          </a:p>
          <a:p>
            <a:r>
              <a:t>for truth, guess in zip(actual, predicted):</a:t>
            </a:r>
          </a:p>
          <a:p>
            <a:r>
              <a:t>Take each item or pair in turn, assign the loop name(s), and repeat the indented body.</a:t>
            </a:r>
          </a:p>
          <a:p>
            <a:r>
              <a:t/>
            </a:r>
          </a:p>
          <a:p>
            <a:r>
              <a:t>print(truth, guess)</a:t>
            </a:r>
          </a:p>
          <a:p>
            <a:r>
              <a:t>Evaluate the expression inside the parentheses and display it. Displaying is separate from returning a function result.</a:t>
            </a:r>
          </a:p>
          <a:p>
            <a:r>
              <a:t/>
            </a:r>
          </a:p>
          <a:p>
            <a:r>
              <a:t>tp, fn, fp, tn = 1, 1, 1, 1</a:t>
            </a:r>
          </a:p>
          <a:p>
            <a:r>
              <a:t>Evaluate the complete right-hand expression first, then assign its result to the name or selected field on the left.</a:t>
            </a:r>
          </a:p>
          <a:p>
            <a:r>
              <a:t/>
            </a:r>
          </a:p>
          <a:p>
            <a:r>
              <a:t>print(tp / (tp + fp))</a:t>
            </a:r>
          </a:p>
          <a:p>
            <a:r>
              <a:t>Evaluate the expression inside the parentheses and display it. Displaying is separate from returning a function result.</a:t>
            </a:r>
          </a:p>
          <a:p>
            <a:r>
              <a:t/>
            </a:r>
          </a:p>
          <a:p>
            <a:r>
              <a:t>print(tp / (tp + fn))</a:t>
            </a:r>
          </a:p>
          <a:p>
            <a:r>
              <a:t>Evaluate the expression inside the parentheses and display it. Displaying is separate from returning a function result.</a:t>
            </a:r>
          </a:p>
          <a:p>
            <a:r>
              <a:t/>
            </a:r>
          </a:p>
          <a:p>
            <a:r>
              <a:t>print(5 * fn + fp)</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Classification outcomes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outcomes results</a:t>
            </a:r>
          </a:p>
          <a:p>
            <a:r>
              <a:t>CML3113, Week 9, slide 20</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Four paired rows, then precision 0.5, recall 0.5 and teaching cost 6.</a:t>
            </a:r>
          </a:p>
          <a:p>
            <a:r>
              <a:t/>
            </a:r>
          </a:p>
          <a:p>
            <a:r>
              <a:t>Continue to</a:t>
            </a:r>
          </a:p>
          <a:p>
            <a:r>
              <a:t>Trace the four counters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four counters</a:t>
            </a:r>
          </a:p>
          <a:p>
            <a:r>
              <a:t>CML3113, Week 9, slide 21</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Actual, predicted | Chosen counter | Counts: TP TN FP FN</a:t>
            </a:r>
          </a:p>
          <a:p>
            <a:r>
              <a:t>1, 1 | TP increases | 1 0 0 0</a:t>
            </a:r>
          </a:p>
          <a:p>
            <a:r>
              <a:t>1, 0 | FN increases | 1 0 0 1</a:t>
            </a:r>
          </a:p>
          <a:p>
            <a:r>
              <a:t>0, 1 | FP increases | 1 0 1 1</a:t>
            </a:r>
          </a:p>
          <a:p>
            <a:r>
              <a:t>0, 0 | TN increases | 1 1 1 1</a:t>
            </a:r>
          </a:p>
          <a:p>
            <a:r>
              <a:t>All counts start at zero. Each observation follows exactly one if/elif/else branch.</a:t>
            </a:r>
          </a:p>
          <a:p>
            <a:r>
              <a:t/>
            </a:r>
          </a:p>
          <a:p>
            <a:r>
              <a:t>Reference / existing resource</a:t>
            </a:r>
          </a:p>
          <a:p>
            <a:r>
              <a:t>https://docs.python.org/3/tutorial/introduction.html</a:t>
            </a:r>
          </a:p>
          <a:p>
            <a:r>
              <a:t>https://docs.python.org/3/tutorial/controlflow.html;</a:t>
            </a:r>
          </a:p>
          <a:p>
            <a:r>
              <a:t/>
            </a:r>
          </a:p>
          <a:p>
            <a:r>
              <a:t>Continue to</a:t>
            </a:r>
          </a:p>
          <a:p>
            <a:r>
              <a:t>Counting arbitrary paired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a:t>
            </a:r>
          </a:p>
          <a:p>
            <a:r>
              <a:t>CML3113, Week 9, slide 22</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On this slide</a:t>
            </a:r>
          </a:p>
          <a:p>
            <a:r>
              <a:t>Start every counter at zero before the loop. == compares labels. and means both comparisons must be true. elif checks another condition only when earlier ones were false.</a:t>
            </a:r>
          </a:p>
          <a:p>
            <a:r>
              <a:t/>
            </a:r>
          </a:p>
          <a:p>
            <a:r>
              <a:t>tp = tn = fp = fn = 0 sets all four counters to zero. tp += 1 is shorthand for tp = tp + 1.</a:t>
            </a:r>
          </a:p>
          <a:p>
            <a:r>
              <a:t/>
            </a:r>
          </a:p>
          <a:p>
            <a:r>
              <a:t>Continue to</a:t>
            </a:r>
          </a:p>
          <a:p>
            <a:r>
              <a:t>Counting arbitrary paired observations in Python (1/3)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(1/3)</a:t>
            </a:r>
          </a:p>
          <a:p>
            <a:r>
              <a:t>CML3113, Week 9, slide 23</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tp = tn = fp = fn = 0</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Counting arbitrary paired observations in Python (2/3)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(2/3)</a:t>
            </a:r>
          </a:p>
          <a:p>
            <a:r>
              <a:t>CML3113, Week 9, slide 24</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for truth, guess in zip(actual, predicted):</a:t>
            </a:r>
          </a:p>
          <a:p>
            <a:r>
              <a:t>Take each item or pair in turn, assign the loop name(s), and repeat the indented body.</a:t>
            </a:r>
          </a:p>
          <a:p>
            <a:r>
              <a:t/>
            </a:r>
          </a:p>
          <a:p>
            <a:r>
              <a:t>if truth == 1 and guess == 1:</a:t>
            </a:r>
          </a:p>
          <a:p>
            <a:r>
              <a:t>Evaluate this yes/no condition. Execute its indented body only on the matching path.</a:t>
            </a:r>
          </a:p>
          <a:p>
            <a:r>
              <a:t/>
            </a:r>
          </a:p>
          <a:p>
            <a:r>
              <a:t>tp += 1</a:t>
            </a:r>
          </a:p>
          <a:p>
            <a:r>
              <a:t>Add the right-hand amount to the current stored value, then keep the updated value.</a:t>
            </a:r>
          </a:p>
          <a:p>
            <a:r>
              <a:t/>
            </a:r>
          </a:p>
          <a:p>
            <a:r>
              <a:t>elif truth == 0 and guess == 0:</a:t>
            </a:r>
          </a:p>
          <a:p>
            <a:r>
              <a:t>Evaluate this yes/no condition. Execute its indented body only on the matching path.</a:t>
            </a:r>
          </a:p>
          <a:p>
            <a:r>
              <a:t/>
            </a:r>
          </a:p>
          <a:p>
            <a:r>
              <a:t>tn += 1</a:t>
            </a:r>
          </a:p>
          <a:p>
            <a:r>
              <a:t>Add the right-hand amount to the current stored value, then keep the updated value.</a:t>
            </a:r>
          </a:p>
          <a:p>
            <a:r>
              <a:t/>
            </a:r>
          </a:p>
          <a:p>
            <a:r>
              <a:t>elif truth == 0 and guess == 1:</a:t>
            </a:r>
          </a:p>
          <a:p>
            <a:r>
              <a:t>Evaluate this yes/no condition. Execute its indented body only on the matching path.</a:t>
            </a:r>
          </a:p>
          <a:p>
            <a:r>
              <a:t/>
            </a:r>
          </a:p>
          <a:p>
            <a:r>
              <a:t>fp += 1</a:t>
            </a:r>
          </a:p>
          <a:p>
            <a:r>
              <a:t>Add the right-hand amount to the current stored value, then keep the updated value.</a:t>
            </a:r>
          </a:p>
          <a:p>
            <a:r>
              <a:t/>
            </a:r>
          </a:p>
          <a:p>
            <a:r>
              <a:t>else:</a:t>
            </a:r>
          </a:p>
          <a:p>
            <a:r>
              <a:t>Use this remaining path when the matching earlier condition did not succeed.</a:t>
            </a:r>
          </a:p>
          <a:p>
            <a:r>
              <a:t/>
            </a:r>
          </a:p>
          <a:p>
            <a:r>
              <a:t>fn += 1</a:t>
            </a:r>
          </a:p>
          <a:p>
            <a:r>
              <a:t>Add the right-hand amount to the current stored value, then keep the updated value.</a:t>
            </a:r>
          </a:p>
          <a:p>
            <a:r>
              <a:t/>
            </a:r>
          </a:p>
          <a:p>
            <a:r>
              <a:t>Result / continuity</a:t>
            </a:r>
          </a:p>
          <a:p>
            <a:r>
              <a:t>Continue the SAME cell; keep indentation. Run after all parts are entered.</a:t>
            </a:r>
          </a:p>
          <a:p>
            <a:r>
              <a:t/>
            </a:r>
          </a:p>
          <a:p>
            <a:r>
              <a:t>Continue to</a:t>
            </a:r>
          </a:p>
          <a:p>
            <a:r>
              <a:t>Counting arbitrary paired observations in Python (3/3)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Counting arbitrary paired observations in Python (3/3)</a:t>
            </a:r>
          </a:p>
          <a:p>
            <a:r>
              <a:t>CML3113, Week 9, slide 25</a:t>
            </a:r>
          </a:p>
          <a:p>
            <a:r>
              <a:t/>
            </a:r>
          </a:p>
          <a:p>
            <a:r>
              <a:t>Explanation to give</a:t>
            </a:r>
          </a:p>
          <a:p>
            <a:r>
              <a:t>Work through each actual/predicted pair once and increment exactly one counter. Initialising all four counters to zero makes the later counts auditable.</a:t>
            </a:r>
          </a:p>
          <a:p>
            <a:r>
              <a:t/>
            </a:r>
          </a:p>
          <a:p>
            <a:r>
              <a:t>Worked illustration / lecturer answer</a:t>
            </a:r>
          </a:p>
          <a:p>
            <a:r>
              <a:t>A pair (1,0) adds one to FN. A pair (0,1) adds one to FP. After processing n pairs, TP + TN + FP + FN must equal n.</a:t>
            </a:r>
          </a:p>
          <a:p>
            <a:r>
              <a:t/>
            </a:r>
          </a:p>
          <a:p>
            <a:r>
              <a:t>Misconception to address</a:t>
            </a:r>
          </a:p>
          <a:p>
            <a:r>
              <a:t>If separate overlapping conditions increment two counters for one observation, the total exceeds n. Use mutually exclusive cases and verify the total.</a:t>
            </a:r>
          </a:p>
          <a:p>
            <a:r>
              <a:t/>
            </a:r>
          </a:p>
          <a:p>
            <a:r>
              <a:t>Read the displayed code line by line</a:t>
            </a:r>
          </a:p>
          <a:p>
            <a:r>
              <a:t>print(tp, tn, fp, fn)</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Represent a category with indicators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Represent a category with indicators</a:t>
            </a:r>
          </a:p>
          <a:p>
            <a:r>
              <a:t>CML3113, Week 9, slide 26</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Category: A category is a label such as steel or timber. Its name does not imply a numerical size or rank.</a:t>
            </a:r>
          </a:p>
          <a:p>
            <a:r>
              <a:t>One-hot indicator: Create a column for each category. Its entry is 1 when the row has that category and 0 otherwise. Learn the allowed categories from training data.</a:t>
            </a:r>
          </a:p>
          <a:p>
            <a:r>
              <a:t/>
            </a:r>
          </a:p>
          <a:p>
            <a:r>
              <a:t>Continue to</a:t>
            </a:r>
          </a:p>
          <a:p>
            <a:r>
              <a:t>A category can become indicator columns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category can become indicator columns</a:t>
            </a:r>
          </a:p>
          <a:p>
            <a:r>
              <a:t>CML3113, Week 9, slide 27</a:t>
            </a:r>
          </a:p>
          <a:p>
            <a:r>
              <a:t/>
            </a:r>
          </a:p>
          <a:p>
            <a:r>
              <a:t>Explanation to give</a:t>
            </a:r>
          </a:p>
          <a:p>
            <a:r>
              <a:t>One-hot encoding gives each category its own indicator column. A row has a 1 in the column matching its category and 0 in the others.</a:t>
            </a:r>
          </a:p>
          <a:p>
            <a:r>
              <a:t/>
            </a:r>
          </a:p>
          <a:p>
            <a:r>
              <a:t>Worked illustration / lecturer answer</a:t>
            </a:r>
          </a:p>
          <a:p>
            <a:r>
              <a:t>For categories A and B, an A row becomes [1,0] and a B row becomes [0,1]. Assigning A=1 and B=2 could accidentally suggest a meaningful numerical distance or order.</a:t>
            </a:r>
          </a:p>
          <a:p>
            <a:r>
              <a:t/>
            </a:r>
          </a:p>
          <a:p>
            <a:r>
              <a:t>Misconception to address</a:t>
            </a:r>
          </a:p>
          <a:p>
            <a:r>
              <a:t>Fit the encoder on training data and define how to handle categories not seen during training. Do not invent an ordinal meaning for names.</a:t>
            </a:r>
          </a:p>
          <a:p>
            <a:r>
              <a:t/>
            </a:r>
          </a:p>
          <a:p>
            <a:r>
              <a:t>On this slide</a:t>
            </a:r>
          </a:p>
          <a:p>
            <a:r>
              <a:t>Material | is_steel | is_timber</a:t>
            </a:r>
          </a:p>
          <a:p>
            <a:r>
              <a:t>steel | 1 | 0</a:t>
            </a:r>
          </a:p>
          <a:p>
            <a:r>
              <a:t>timber | 0 | 1</a:t>
            </a:r>
          </a:p>
          <a:p>
            <a:r>
              <a:t>An encoder converts category labels to numeric columns. Fit it on training data. Each indicator is 1 when that category applies, otherwise 0.</a:t>
            </a:r>
          </a:p>
          <a:p>
            <a:r>
              <a:t/>
            </a:r>
          </a:p>
          <a:p>
            <a:r>
              <a:t>Continue to</a:t>
            </a:r>
          </a:p>
          <a:p>
            <a:r>
              <a:t>Accuracy can hide missed warnings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Accuracy can hide missed warnings</a:t>
            </a:r>
          </a:p>
          <a:p>
            <a:r>
              <a:t>CML3113, Week 9, slide 28</a:t>
            </a:r>
          </a:p>
          <a:p>
            <a:r>
              <a:t/>
            </a:r>
          </a:p>
          <a:p>
            <a:r>
              <a:t>Explanation to give</a:t>
            </a:r>
          </a:p>
          <a:p>
            <a:r>
              <a:t>Accuracy counts all correct classifications together. In an imbalanced dataset, correct majority-class answers can dominate the score while the minority class is consistently missed.</a:t>
            </a:r>
          </a:p>
          <a:p>
            <a:r>
              <a:t/>
            </a:r>
          </a:p>
          <a:p>
            <a:r>
              <a:t>Worked illustration / lecturer answer</a:t>
            </a:r>
          </a:p>
          <a:p>
            <a:r>
              <a:t>With 95 normal cases and 5 genuine faults, always predicting normal gives 95% accuracy but detects zero faults. Fault recall is zero.</a:t>
            </a:r>
          </a:p>
          <a:p>
            <a:r>
              <a:t/>
            </a:r>
          </a:p>
          <a:p>
            <a:r>
              <a:t>Misconception to address</a:t>
            </a:r>
          </a:p>
          <a:p>
            <a:r>
              <a:t>A high headline accuracy alone is insufficient for a warning system. Report the confusion counts and the relevant costs.</a:t>
            </a:r>
          </a:p>
          <a:p>
            <a:r>
              <a:t/>
            </a:r>
          </a:p>
          <a:p>
            <a:r>
              <a:t>On this slide</a:t>
            </a:r>
          </a:p>
          <a:p>
            <a:r>
              <a:t>Accuracy = number of correct labels / number of labels. It counts correct warnings and correct non-warnings together.</a:t>
            </a:r>
          </a:p>
          <a:p>
            <a:r>
              <a:t/>
            </a:r>
          </a:p>
          <a:p>
            <a:r>
              <a:t>If 90 of 100 cases need no warning, predicting no warning every time gives 90% accuracy. It detects none of the 10 real warnings: recall is 0.</a:t>
            </a:r>
          </a:p>
          <a:p>
            <a:r>
              <a:t/>
            </a:r>
          </a:p>
          <a:p>
            <a:r>
              <a:t>Always inspect the actual/predicted counts and relevant costs before calling a classifier useful.</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9, slide 29</a:t>
            </a:r>
          </a:p>
          <a:p>
            <a:r>
              <a:t/>
            </a:r>
          </a:p>
          <a:p>
            <a:r>
              <a:t>Explanation to give</a:t>
            </a:r>
          </a:p>
          <a:p>
            <a:r>
              <a:t>Use the displayed example as a short individual revision question, then explain the reasoning behind its answer.</a:t>
            </a:r>
          </a:p>
          <a:p>
            <a:r>
              <a:t/>
            </a:r>
          </a:p>
          <a:p>
            <a:r>
              <a:t>Worked illustration / lecturer answer</a:t>
            </a:r>
          </a:p>
          <a:p>
            <a:r>
              <a:t>Example: Change the second prediction to 1. Count again. Does this improve both recall and the assumed cost?</a:t>
            </a:r>
          </a:p>
          <a:p>
            <a:r>
              <a:t/>
            </a:r>
          </a:p>
          <a:p>
            <a:r>
              <a:t>Answer: TP=2, FN=0, FP=1, TN=1. Precision 2/3, recall 1, cost 1. This particular change improves recall and cost.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9, slide 30</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Implement classification_metrics on arbitrary paired binary labels, not only the example.</a:t>
            </a:r>
          </a:p>
          <a:p>
            <a:r>
              <a:t/>
            </a:r>
          </a:p>
          <a:p>
            <a:r>
              <a:t>Use the published zero-denominator convention.</a:t>
            </a:r>
          </a:p>
          <a:p>
            <a:r>
              <a:t/>
            </a:r>
          </a:p>
          <a:p>
            <a:r>
              <a:t>Read the supplied W09 comparison separately.</a:t>
            </a:r>
          </a:p>
          <a:p>
            <a:r>
              <a:t/>
            </a:r>
          </a:p>
          <a:p>
            <a:r>
              <a:t>Teacher-written cost assumptions are not approved operating limits.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CML3113, Week 9, slide 31</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All claimed benefits require real-world evaluation.</a:t>
            </a:r>
          </a:p>
          <a:p>
            <a:r>
              <a:t/>
            </a:r>
          </a:p>
          <a:p>
            <a:r>
              <a:t>Continue to</a:t>
            </a:r>
          </a:p>
          <a:p>
            <a:r>
              <a:t>Category predictions and operating thresholds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Category predictions and operating thresholds</a:t>
            </a:r>
          </a:p>
          <a:p>
            <a:r>
              <a:t>CML3113, Week 9, slide 32</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A majority-only classifier can achieve high accuracy while missing the rare class.</a:t>
            </a:r>
          </a:p>
          <a:p>
            <a:r>
              <a:t/>
            </a:r>
          </a:p>
          <a:p>
            <a:r>
              <a:t>Name the positive class and both confusion-matrix axes.</a:t>
            </a:r>
          </a:p>
          <a:p>
            <a:r>
              <a:t/>
            </a:r>
          </a:p>
          <a:p>
            <a:r>
              <a:t>A model expecting numeric features cannot directly use raw category strings; use numeric indicator columns for categories.</a:t>
            </a:r>
          </a:p>
          <a:p>
            <a:r>
              <a:t/>
            </a:r>
          </a:p>
          <a:p>
            <a:r>
              <a:t>Compare threshold choices on validation data.</a:t>
            </a:r>
          </a:p>
          <a:p>
            <a:r>
              <a:t/>
            </a:r>
          </a:p>
          <a:p>
            <a:r>
              <a:t>Continue to</a:t>
            </a:r>
          </a:p>
          <a:p>
            <a:r>
              <a:t>Category predictions and operating thresholds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Category predictions and operating thresholds continued</a:t>
            </a:r>
          </a:p>
          <a:p>
            <a:r>
              <a:t>CML3113, Week 9, slide 33</a:t>
            </a:r>
          </a:p>
          <a:p>
            <a:r>
              <a:t/>
            </a:r>
          </a:p>
          <a:p>
            <a:r>
              <a:t>Explanation to give</a:t>
            </a:r>
          </a:p>
          <a:p>
            <a:r>
              <a:t>A probability-like score becomes a class decision only after choosing a threshold. The threshold expresses an operating trade-off; an error-cost rule states which mistakes matter more for this task.</a:t>
            </a:r>
          </a:p>
          <a:p>
            <a:r>
              <a:t/>
            </a:r>
          </a:p>
          <a:p>
            <a:r>
              <a:t>Worked illustration / lecturer answer</a:t>
            </a:r>
          </a:p>
          <a:p>
            <a:r>
              <a:t>At threshold &gt;= 0.6, scores 0.59 and 0.60 give 0 and 1. Lowering the threshold usually raises more warnings, potentially reducing misses while increasing false alarms.</a:t>
            </a:r>
          </a:p>
          <a:p>
            <a:r>
              <a:t/>
            </a:r>
          </a:p>
          <a:p>
            <a:r>
              <a:t>Misconception to address</a:t>
            </a:r>
          </a:p>
          <a:p>
            <a:r>
              <a:t>A score of 0.8 is not a guarantee that this particular prediction is right. Evaluate calibration if probabilities will be interpreted literally. Costs must come from the stated scenario.</a:t>
            </a:r>
          </a:p>
          <a:p>
            <a:r>
              <a:t/>
            </a:r>
          </a:p>
          <a:p>
            <a:r>
              <a:t>On this slide</a:t>
            </a:r>
          </a:p>
          <a:p>
            <a:r>
              <a:t>Reducing the threshold adds flagged cases and cannot reduce recall on fixed scored observations, but precision can move either way.</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CML3113, Week 9, slide 34</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Use classification_case.csv.</a:t>
            </a:r>
          </a:p>
          <a:p>
            <a:r>
              <a:t/>
            </a:r>
          </a:p>
          <a:p>
            <a:r>
              <a:t>Positive means a synthetic warning condition.</a:t>
            </a:r>
          </a:p>
          <a:p>
            <a:r>
              <a:t/>
            </a:r>
          </a:p>
          <a:p>
            <a:r>
              <a:t>Compute the confusion matrix, precision, recall and cost.</a:t>
            </a:r>
          </a:p>
          <a:p>
            <a:r>
              <a:t/>
            </a:r>
          </a:p>
          <a:p>
            <a:r>
              <a:t>Explain the 5:1 missed-warning/false-alarm cost assumption and why accuracy alone is insufficient.</a:t>
            </a:r>
          </a:p>
          <a:p>
            <a:r>
              <a:t/>
            </a:r>
          </a:p>
          <a:p>
            <a:r>
              <a:t>Continue to</a:t>
            </a:r>
          </a:p>
          <a:p>
            <a:r>
              <a:t>Your issued task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 continued</a:t>
            </a:r>
          </a:p>
          <a:p>
            <a:r>
              <a:t>CML3113, Week 9, slide 35</a:t>
            </a:r>
          </a:p>
          <a:p>
            <a:r>
              <a:t/>
            </a:r>
          </a:p>
          <a:p>
            <a:r>
              <a:t>Explanation to give</a:t>
            </a:r>
          </a:p>
          <a:p>
            <a:r>
              <a:t>The warning labels and costs belong to this teaching scenario. Name what positive means before discussing benefit or harm.</a:t>
            </a:r>
          </a:p>
          <a:p>
            <a:r>
              <a:t/>
            </a:r>
          </a:p>
          <a:p>
            <a:r>
              <a:t>Worked illustration / lecturer answer</a:t>
            </a:r>
          </a:p>
          <a:p>
            <a:r>
              <a:t>Compute the confusion counts from aligned actual/predicted labels, then apply the published cost weights. A false alarm and a missed warning can have different costs.</a:t>
            </a:r>
          </a:p>
          <a:p>
            <a:r>
              <a:t/>
            </a:r>
          </a:p>
          <a:p>
            <a:r>
              <a:t>Misconception to address</a:t>
            </a:r>
          </a:p>
          <a:p>
            <a:r>
              <a:t>These illustrative costs are not approved operational thresholds. Claimed benefits need evaluation on relevant real observations before use in engineering decisions.</a:t>
            </a:r>
          </a:p>
          <a:p>
            <a:r>
              <a:t/>
            </a:r>
          </a:p>
          <a:p>
            <a:r>
              <a:t>On this slide</a:t>
            </a:r>
          </a:p>
          <a:p>
            <a:r>
              <a:t>These costs are teaching assumptions, not approved operating limits.</a:t>
            </a:r>
          </a:p>
          <a:p>
            <a:r>
              <a:t/>
            </a:r>
          </a:p>
          <a:p>
            <a:r>
              <a:t>Continue to</a:t>
            </a:r>
          </a:p>
          <a:p>
            <a:r>
              <a:t>classification_metrics(actual,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classification_metrics(actual, predicted)</a:t>
            </a:r>
          </a:p>
          <a:p>
            <a:r>
              <a:t>CML3113, Week 9, slide 36</a:t>
            </a:r>
          </a:p>
          <a:p>
            <a:r>
              <a:t/>
            </a:r>
          </a:p>
          <a:p>
            <a:r>
              <a:t>Explanation to give</a:t>
            </a:r>
          </a:p>
          <a:p>
            <a:r>
              <a:t>Count the four mutually exclusive actual/predicted cases, then calculate the specified fractions and cost from those counts.</a:t>
            </a:r>
          </a:p>
          <a:p>
            <a:r>
              <a:t/>
            </a:r>
          </a:p>
          <a:p>
            <a:r>
              <a:t>Worked illustration / lecturer answer</a:t>
            </a:r>
          </a:p>
          <a:p>
            <a:r>
              <a:t>Verify TP+TN+FP+FN equals the number of paired observations. Read the cost weights and zero-denominator convention from the issued brief.</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For binary labels return tp, tn, fp, fn, precision, recall and cost=5*fn+fp; use zero for an undefined precision/recall denominator.</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CML3113, Week 9, slide 37</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Classification and cost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Classification and cost submission</a:t>
            </a:r>
          </a:p>
          <a:p>
            <a:r>
              <a:t>CML3113, Week 9, slide 38</a:t>
            </a:r>
          </a:p>
          <a:p>
            <a:r>
              <a:t/>
            </a:r>
          </a:p>
          <a:p>
            <a:r>
              <a:t>Explanation to give</a:t>
            </a:r>
          </a:p>
          <a:p>
            <a:r>
              <a:t>This slide hands over CML3113 W09. Show the exact form title before uploading. The required packet is one completed .ipynb notebook.</a:t>
            </a:r>
          </a:p>
          <a:p>
            <a:r>
              <a:t/>
            </a:r>
          </a:p>
          <a:p>
            <a:r>
              <a:t>Worked illustration / lecturer answer</a:t>
            </a:r>
          </a:p>
          <a:p>
            <a:r>
              <a:t>The recorded cutoff for this form is 2026-11-13T08:00:00+03:00.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06 Nov 2026, 08:00 Kampala</a:t>
            </a:r>
          </a:p>
          <a:p>
            <a:r>
              <a:t/>
            </a:r>
          </a:p>
          <a:p>
            <a:r>
              <a:t>Deadline: 13 Nov 2026, 08:00 Kampala</a:t>
            </a:r>
          </a:p>
          <a:p>
            <a:r>
              <a:t/>
            </a:r>
          </a:p>
          <a:p>
            <a:r>
              <a:t>Use your full Student Registration Number in the form.</a:t>
            </a:r>
          </a:p>
          <a:p>
            <a:r>
              <a:t/>
            </a:r>
          </a:p>
          <a:p>
            <a:r>
              <a:t>Keep the submitted files and confirmation.</a:t>
            </a:r>
          </a:p>
          <a:p>
            <a:r>
              <a:t/>
            </a:r>
          </a:p>
          <a:p>
            <a:r>
              <a:t>Continue to</a:t>
            </a:r>
          </a:p>
          <a:p>
            <a:r>
              <a:t>Week 9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9 quiz</a:t>
            </a:r>
          </a:p>
          <a:p>
            <a:r>
              <a:t>CML3113, Week 9, slide 39</a:t>
            </a:r>
          </a:p>
          <a:p>
            <a:r>
              <a:t/>
            </a:r>
          </a:p>
          <a:p>
            <a:r>
              <a:t>Explanation to give</a:t>
            </a:r>
          </a:p>
          <a:p>
            <a:r>
              <a:t>This is the CML3113 Week 9 quiz. The student link opens the response form; it does not activate its window. In Quiz Controls use open_W9_CML3113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9, slide 40</a:t>
            </a:r>
          </a:p>
          <a:p>
            <a:r>
              <a:t/>
            </a:r>
          </a:p>
          <a:p>
            <a:r>
              <a:t>Explanation to give</a:t>
            </a:r>
          </a:p>
          <a:p>
            <a:r>
              <a:t>Move from a numerical prediction to a category decision. Name the positive class before counting correct warnings, false alarms and missed warnings.</a:t>
            </a:r>
          </a:p>
          <a:p>
            <a:r>
              <a:t/>
            </a:r>
          </a:p>
          <a:p>
            <a:r>
              <a:t>Worked illustration / lecturer answer</a:t>
            </a:r>
          </a:p>
          <a:p>
            <a:r>
              <a:t>Actual 1 with predicted 0 is a false negative. If 1 means warning, this is a missed warning, not merely a wrong number.</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identify a false negative and explain precision and recall with counts.</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CML3113, Week 9, slide 41</a:t>
            </a:r>
          </a:p>
          <a:p>
            <a:r>
              <a:t/>
            </a:r>
          </a:p>
          <a:p>
            <a:r>
              <a:t>Explanation to give</a:t>
            </a:r>
          </a:p>
          <a:p>
            <a:r>
              <a:t>Give the viewing question before playing the excerpt: Which observations are correctly or incorrectly classified?</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Machine Learning Fundamentals The Confusion Matrix</a:t>
            </a:r>
          </a:p>
          <a:p>
            <a:r>
              <a:t/>
            </a:r>
          </a:p>
          <a:p>
            <a:r>
              <a:t>Opening up to 04:00, optional preview-selected excerpt</a:t>
            </a:r>
          </a:p>
          <a:p>
            <a:r>
              <a:t/>
            </a:r>
          </a:p>
          <a:p>
            <a:r>
              <a:t>Listening question: Which observations are correctly or incorrectly classified?</a:t>
            </a:r>
          </a:p>
          <a:p>
            <a:r>
              <a:t/>
            </a:r>
          </a:p>
          <a:p>
            <a:r>
              <a:t>Reference / existing resource</a:t>
            </a:r>
          </a:p>
          <a:p>
            <a:r>
              <a:t>https://www.youtube.com/watch?v=Kdsp6soqA7o</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57782ff63d4d1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a8bc753107a467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6aadb4c25014ec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60aa3a42fc84a0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e954dbed42443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89fe841515e48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C640800-A1B6-4F7B-A3E4-9B1C6905E9B7}"/>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2DD24F1-9721-44CE-ACD2-8907A419008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FAAA01A-CB30-42EF-B3E7-7F03A353DDA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8DD8686-7502-4A1C-8978-54C4878305A4}"/>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6062F263-A955-4128-8637-03799BF94289}"/>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192E5EC-C52B-4F29-A72C-525C3E0C857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ED3EBC8-58B6-4E6F-A894-83E0B248380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64BE3BC-17F1-4FD0-9416-D4544AC2F0C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E233D1F6-52DB-44FD-8A5A-0902FB41507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CD98F3E-36B6-477D-97A3-0D228A2CAC4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9CC505D-AB86-4FE8-BA7C-1E61BC91B86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3983B9FF-2CBB-497E-B2A8-62F03B8840F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96B2590-B169-4E1D-9685-DB48BA8D08A3}"/>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094EF85-DD84-463B-A997-8C39B74AC05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ABDD29D-6DFA-4CE5-826B-0057856E50B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a188c380d61424b" /><Relationship Type="http://schemas.openxmlformats.org/officeDocument/2006/relationships/slideLayout" Target="/ppt/slideLayouts/slideLayout1.xml" Id="R9d5157f6ab774df9" /><Relationship Type="http://schemas.openxmlformats.org/officeDocument/2006/relationships/slideLayout" Target="/ppt/slideLayouts/slideLayout2.xml" Id="Rb57c7d35fb824dae" /><Relationship Type="http://schemas.openxmlformats.org/officeDocument/2006/relationships/slideLayout" Target="/ppt/slideLayouts/slideLayout3.xml" Id="R548ffe1ec81242df" /><Relationship Type="http://schemas.openxmlformats.org/officeDocument/2006/relationships/slideLayout" Target="/ppt/slideLayouts/slideLayout4.xml" Id="R2c9811f056ad406b" /><Relationship Type="http://schemas.openxmlformats.org/officeDocument/2006/relationships/slideLayout" Target="/ppt/slideLayouts/slideLayout5.xml" Id="Rc8cb60462e0c4928" /><Relationship Type="http://schemas.openxmlformats.org/officeDocument/2006/relationships/slideLayout" Target="/ppt/slideLayouts/slideLayout6.xml" Id="Re23bb176bb8b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d5157f6ab774df9"/>
    <p:sldLayoutId xmlns:r="http://schemas.openxmlformats.org/officeDocument/2006/relationships" id="2147483650" r:id="Rb57c7d35fb824dae"/>
    <p:sldLayoutId xmlns:r="http://schemas.openxmlformats.org/officeDocument/2006/relationships" id="2147483651" r:id="R548ffe1ec81242df"/>
    <p:sldLayoutId xmlns:r="http://schemas.openxmlformats.org/officeDocument/2006/relationships" id="2147483652" r:id="R2c9811f056ad406b"/>
    <p:sldLayoutId xmlns:r="http://schemas.openxmlformats.org/officeDocument/2006/relationships" id="2147483653" r:id="Rc8cb60462e0c4928"/>
    <p:sldLayoutId xmlns:r="http://schemas.openxmlformats.org/officeDocument/2006/relationships" id="2147483654" r:id="Re23bb176bb8b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5d38d06edc84361" /><Relationship Type="http://schemas.openxmlformats.org/officeDocument/2006/relationships/image" Target="/ppt/media/image.png" Id="R382617c755024fe9" /><Relationship Type="http://schemas.openxmlformats.org/officeDocument/2006/relationships/notesSlide" Target="/ppt/notesSlides/notesSlide1.xml" Id="Rb662c5ca804e40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29294ef768e4d0c" /><Relationship Type="http://schemas.openxmlformats.org/officeDocument/2006/relationships/notesSlide" Target="/ppt/notesSlides/notesSlide2.xml" Id="Ree2f09996aa442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7a007a3ba14557" /><Relationship Type="http://schemas.openxmlformats.org/officeDocument/2006/relationships/notesSlide" Target="/ppt/notesSlides/notesSlide3.xml" Id="R3555ae01f86747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4086772734a4208" /><Relationship Type="http://schemas.openxmlformats.org/officeDocument/2006/relationships/notesSlide" Target="/ppt/notesSlides/notesSlide4.xml" Id="R96236f60ff1145e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46b767fb3bf4a5f" /><Relationship Type="http://schemas.openxmlformats.org/officeDocument/2006/relationships/notesSlide" Target="/ppt/notesSlides/notesSlide5.xml" Id="R930cab5341b740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940fe5f63c44651" /><Relationship Type="http://schemas.openxmlformats.org/officeDocument/2006/relationships/notesSlide" Target="/ppt/notesSlides/notesSlide6.xml" Id="R08e3722b62614c4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5ec7f83c3141d8" /><Relationship Type="http://schemas.openxmlformats.org/officeDocument/2006/relationships/notesSlide" Target="/ppt/notesSlides/notesSlide7.xml" Id="R0f66054cf0eb440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752af38ea534926" /><Relationship Type="http://schemas.openxmlformats.org/officeDocument/2006/relationships/notesSlide" Target="/ppt/notesSlides/notesSlide8.xml" Id="R6e190e2d56824d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aa48930e6364dc4" /><Relationship Type="http://schemas.openxmlformats.org/officeDocument/2006/relationships/image" Target="/ppt/media/image2.png" Id="R5dea979d799a44d8" /><Relationship Type="http://schemas.openxmlformats.org/officeDocument/2006/relationships/notesSlide" Target="/ppt/notesSlides/notesSlide9.xml" Id="Rb26070c627e045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cda4e07272241b2" /><Relationship Type="http://schemas.openxmlformats.org/officeDocument/2006/relationships/notesSlide" Target="/ppt/notesSlides/notesSlide10.xml" Id="Rcb4f9de7b2734a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995667b511b4bd9" /><Relationship Type="http://schemas.openxmlformats.org/officeDocument/2006/relationships/notesSlide" Target="/ppt/notesSlides/notesSlide11.xml" Id="R88435db147444b9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97d614f7c546fc" /><Relationship Type="http://schemas.openxmlformats.org/officeDocument/2006/relationships/notesSlide" Target="/ppt/notesSlides/notesSlide12.xml" Id="Rebc698d6b50b4a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82e620a936543fc" /><Relationship Type="http://schemas.openxmlformats.org/officeDocument/2006/relationships/notesSlide" Target="/ppt/notesSlides/notesSlide13.xml" Id="R52fa78e4c47546e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8a967b6bcfb408d" /><Relationship Type="http://schemas.openxmlformats.org/officeDocument/2006/relationships/notesSlide" Target="/ppt/notesSlides/notesSlide14.xml" Id="Rd7fb29b6d0dd4d0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44d21634bd44e40" /><Relationship Type="http://schemas.openxmlformats.org/officeDocument/2006/relationships/notesSlide" Target="/ppt/notesSlides/notesSlide15.xml" Id="R535042c13adc428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9754caee9154b23" /><Relationship Type="http://schemas.openxmlformats.org/officeDocument/2006/relationships/notesSlide" Target="/ppt/notesSlides/notesSlide16.xml" Id="R8bad9fce66ec414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34ce78067d847fc" /><Relationship Type="http://schemas.openxmlformats.org/officeDocument/2006/relationships/notesSlide" Target="/ppt/notesSlides/notesSlide17.xml" Id="R14c997a0b4f243d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8394c925e214a42" /><Relationship Type="http://schemas.openxmlformats.org/officeDocument/2006/relationships/notesSlide" Target="/ppt/notesSlides/notesSlide18.xml" Id="Rb75da2cb7416424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327d6045c0c4768" /><Relationship Type="http://schemas.openxmlformats.org/officeDocument/2006/relationships/notesSlide" Target="/ppt/notesSlides/notesSlide19.xml" Id="R4be471e0193f4bb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9102a7acc6345ce" /><Relationship Type="http://schemas.openxmlformats.org/officeDocument/2006/relationships/notesSlide" Target="/ppt/notesSlides/notesSlide20.xml" Id="Rcee684c9183f4b2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fb75a4d5f3040b6" /><Relationship Type="http://schemas.openxmlformats.org/officeDocument/2006/relationships/notesSlide" Target="/ppt/notesSlides/notesSlide21.xml" Id="R59b60368b5ba43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d773947e54c489d" /><Relationship Type="http://schemas.openxmlformats.org/officeDocument/2006/relationships/notesSlide" Target="/ppt/notesSlides/notesSlide22.xml" Id="Rff0b80495be44df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ebec2092760490a" /><Relationship Type="http://schemas.openxmlformats.org/officeDocument/2006/relationships/notesSlide" Target="/ppt/notesSlides/notesSlide23.xml" Id="R724c93574fec45a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4402f6c7591415a" /><Relationship Type="http://schemas.openxmlformats.org/officeDocument/2006/relationships/notesSlide" Target="/ppt/notesSlides/notesSlide24.xml" Id="R174d09904bab44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4071c2d03f64a80" /><Relationship Type="http://schemas.openxmlformats.org/officeDocument/2006/relationships/notesSlide" Target="/ppt/notesSlides/notesSlide25.xml" Id="Rdb2226e8e4f946e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4ef711ecb6d44c0" /><Relationship Type="http://schemas.openxmlformats.org/officeDocument/2006/relationships/notesSlide" Target="/ppt/notesSlides/notesSlide26.xml" Id="R5e0f80503a9b478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c2b001a4e504617" /><Relationship Type="http://schemas.openxmlformats.org/officeDocument/2006/relationships/notesSlide" Target="/ppt/notesSlides/notesSlide27.xml" Id="R6479a72cd6bd4b4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b0722b9d3874a50" /><Relationship Type="http://schemas.openxmlformats.org/officeDocument/2006/relationships/notesSlide" Target="/ppt/notesSlides/notesSlide28.xml" Id="Re5cc09243f7f42c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4cf8eeb7f8d424e" /><Relationship Type="http://schemas.openxmlformats.org/officeDocument/2006/relationships/notesSlide" Target="/ppt/notesSlides/notesSlide29.xml" Id="R36f53cf0d13e402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d38432e6ffd4b1c" /><Relationship Type="http://schemas.openxmlformats.org/officeDocument/2006/relationships/notesSlide" Target="/ppt/notesSlides/notesSlide30.xml" Id="R02b8066313c2439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8fc7ac796664f1b" /><Relationship Type="http://schemas.openxmlformats.org/officeDocument/2006/relationships/notesSlide" Target="/ppt/notesSlides/notesSlide31.xml" Id="R3e2f87dd8a464b4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cae5a562c134423" /><Relationship Type="http://schemas.openxmlformats.org/officeDocument/2006/relationships/notesSlide" Target="/ppt/notesSlides/notesSlide32.xml" Id="Rd51b225d9a2c4a0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a2fffd82bcc40c4" /><Relationship Type="http://schemas.openxmlformats.org/officeDocument/2006/relationships/notesSlide" Target="/ppt/notesSlides/notesSlide33.xml" Id="R804371b9e0ae4e8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03e9e0af9f74833" /><Relationship Type="http://schemas.openxmlformats.org/officeDocument/2006/relationships/notesSlide" Target="/ppt/notesSlides/notesSlide34.xml" Id="Ra9ffe69d4ffd47e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d68ce62ed204372" /><Relationship Type="http://schemas.openxmlformats.org/officeDocument/2006/relationships/notesSlide" Target="/ppt/notesSlides/notesSlide35.xml" Id="R20dbbaa933644a5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cd5ba332ac14107" /><Relationship Type="http://schemas.openxmlformats.org/officeDocument/2006/relationships/notesSlide" Target="/ppt/notesSlides/notesSlide36.xml" Id="R94f4144769644e1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e4181ace257402d" /><Relationship Type="http://schemas.openxmlformats.org/officeDocument/2006/relationships/notesSlide" Target="/ppt/notesSlides/notesSlide37.xml" Id="R3c9f42889e9044e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64c11c99d11b4bf5" /><Relationship Type="http://schemas.openxmlformats.org/officeDocument/2006/relationships/hyperlink" Target="https://docs.google.com/forms/d/e/1FAIpQLSfckaplMvJ6zeqbURyQrkDOSTS0MhGV3jY3tIY4EhnHLMm1tw/viewform" TargetMode="External" Id="Rb7856c1b2f214017" /><Relationship Type="http://schemas.openxmlformats.org/officeDocument/2006/relationships/notesSlide" Target="/ppt/notesSlides/notesSlide38.xml" Id="R0ba5f5b66af844f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2ddebc2cc8b84ecb" /><Relationship Type="http://schemas.openxmlformats.org/officeDocument/2006/relationships/image" Target="/ppt/media/image3.png" Id="R6a646f1a98d94c04" /><Relationship Type="http://schemas.openxmlformats.org/officeDocument/2006/relationships/hyperlink" Target="https://forms.gle/biJnEga9118gnz9X9" TargetMode="External" Id="Rb08e139eefd247cf" /><Relationship Type="http://schemas.openxmlformats.org/officeDocument/2006/relationships/notesSlide" Target="/ppt/notesSlides/notesSlide39.xml" Id="R2515a0ee38304c9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3741e522e8544ba" /><Relationship Type="http://schemas.openxmlformats.org/officeDocument/2006/relationships/notesSlide" Target="/ppt/notesSlides/notesSlide40.xml" Id="R7a08984a84f544e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0ec47447ed348fe" /><Relationship Type="http://schemas.openxmlformats.org/officeDocument/2006/relationships/hyperlink" Target="https://www.youtube.com/watch?v=Kdsp6soqA7o" TargetMode="External" Id="R428a7fc3a9114133" /><Relationship Type="http://schemas.openxmlformats.org/officeDocument/2006/relationships/notesSlide" Target="/ppt/notesSlides/notesSlide41.xml" Id="R082ab86b33d3438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82617c755024fe9"/>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CCA7A5-A121-4FA3-B55A-3F4B356439E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029E751-99F1-4294-83EB-DC25F1ECA50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9</a:t>
            </a:r>
          </a:p>
        </p:txBody>
      </p:sp>
      <p:sp>
        <p:nvSpPr>
          <p:cNvPr id="4" name="">
            <a:extLst xmlns:a="http://schemas.openxmlformats.org/drawingml/2006/main">
              <a:ext uri="{FF2B5EF4-FFF2-40B4-BE49-F238E27FC236}">
                <a16:creationId xmlns:a16="http://schemas.microsoft.com/office/drawing/2014/main" id="{806F1128-FFFE-4034-9104-EE58BB4587D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376F3F70-58FA-4261-A364-1C7C6E9F3D9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EC5BA30C-1D83-4290-B9DD-6AB39F531C9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3046607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710D62-B8B0-4D09-A347-1EEB850524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9DD1D2-4189-4355-B23E-193834890B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D06291B-0BF8-4AB0-88A0-39FDE6E87A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CAD62BEF-7C31-4E3B-9C3F-312D7D4BCB8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341902-00A8-49AD-AA4E-6800DB536A9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82B080E-5395-4CC4-86CA-7F5C458039B5}"/>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595735C9-477C-43D0-8E91-9426714E9C51}"/>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0300C14-B8C5-4B2E-BFD7-349566FC038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04AA1FC9-D052-4F9F-9D29-794BCA7B6D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a:t>
            </a:r>
          </a:p>
        </p:txBody>
      </p:sp>
    </p:spTree>
    <p:extLst>
      <p:ext uri="{BB962C8B-B14F-4D97-AF65-F5344CB8AC3E}">
        <p14:creationId xmlns:p14="http://schemas.microsoft.com/office/powerpoint/2010/main" val="5533530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C735F1-FE28-45D7-BFB9-762F7122D2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6026F7-054F-49A3-BADB-5D6700D12A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EC8515-BA49-4B96-9C4C-262B28D48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B8494E1-4EF7-4543-82E8-CB8824FC5B2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A3A0D2-B405-4089-963F-A2CF750A3BB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8C60A31A-4C93-4904-9A97-A3CE482382C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776FCC8D-BC9F-4C77-B5AF-4EE7957EB6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a:t>
            </a:r>
          </a:p>
        </p:txBody>
      </p:sp>
    </p:spTree>
    <p:extLst>
      <p:ext uri="{BB962C8B-B14F-4D97-AF65-F5344CB8AC3E}">
        <p14:creationId xmlns:p14="http://schemas.microsoft.com/office/powerpoint/2010/main" val="90122488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DF174E-54EB-438B-8494-7CF2E8024B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42E951-6093-417D-9D09-2B1F19490A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CA4865-5C27-41CA-988F-73D6E41395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9844F44-5927-4FEA-878D-76B51CE35A1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532234-7488-4AA2-A2B3-B7E03C7D913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AD0F612C-B0D5-4ED5-9394-FE1010C2F56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B7C1D7D0-AEA0-4406-A42A-161FB5631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a:t>
            </a:r>
          </a:p>
        </p:txBody>
      </p:sp>
    </p:spTree>
    <p:extLst>
      <p:ext uri="{BB962C8B-B14F-4D97-AF65-F5344CB8AC3E}">
        <p14:creationId xmlns:p14="http://schemas.microsoft.com/office/powerpoint/2010/main" val="17201633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824A69-89E0-49FE-961D-92A1C742A0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FB2DE8-09C0-42BF-ACF3-697A93C19B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0BDA0D-04C6-462E-A650-EE74D05129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E0F621D9-22E5-4A46-B3E3-1F9426D9ED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FBF798-2F0A-4687-A1AE-40648E2742E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1D35C4C4-F585-422A-8BEF-11A7E8B1B8C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5B7D4E-43A2-4228-8609-02F5DDB0531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95DA795C-89AA-40EB-AA09-192A5FA8580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A7A389-B235-436B-BAB7-19CF8141D2E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2BA8F882-1BDC-4EEA-BFDD-BF84B8F82ED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70DC768-E063-4DA8-AC2D-CFDA450400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200120D4-67D3-414B-9CBA-72E2A79204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5</a:t>
            </a:r>
          </a:p>
        </p:txBody>
      </p:sp>
    </p:spTree>
    <p:extLst>
      <p:ext uri="{BB962C8B-B14F-4D97-AF65-F5344CB8AC3E}">
        <p14:creationId xmlns:p14="http://schemas.microsoft.com/office/powerpoint/2010/main" val="20172227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FED6AD-9D1D-4BDD-90A7-48F3DB5358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37E3A2-8154-479E-ACC8-F45283A033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BE93083-2CD1-49E2-95F1-18327D129D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CF5AEB2C-A93A-473F-AEDD-70F2A5DCB0C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B0308C-A62A-4CDF-95BF-EF482659A14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1C7B3575-F059-455D-8731-8AB1A56D342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EFFCEB95-F2BD-4EF5-AC2C-B55969E4C5E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CEA427D-5ABA-4CFC-BC70-A7A26863184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93E491AB-2620-492B-985C-28EB2C589F1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5AF2ACD7-E3B6-43D3-9A3C-7B3B04B88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6</a:t>
            </a:r>
          </a:p>
        </p:txBody>
      </p:sp>
    </p:spTree>
    <p:extLst>
      <p:ext uri="{BB962C8B-B14F-4D97-AF65-F5344CB8AC3E}">
        <p14:creationId xmlns:p14="http://schemas.microsoft.com/office/powerpoint/2010/main" val="7605187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0F6552-BC7C-4AA7-B41A-E6CFF719AB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59F1C-AD1E-4256-85F9-F52FBE688F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EB939EA-25F0-4C57-810E-55FC508AB0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C85D08DE-4B66-44E5-A26C-9526C8CA231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9810E0-C725-4281-A41B-BCB861803597}"/>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A1A81B74-1D57-4927-B139-87DA1847717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9C6BF726-C436-41D3-B75B-B900853694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7</a:t>
            </a:r>
          </a:p>
        </p:txBody>
      </p:sp>
    </p:spTree>
    <p:extLst>
      <p:ext uri="{BB962C8B-B14F-4D97-AF65-F5344CB8AC3E}">
        <p14:creationId xmlns:p14="http://schemas.microsoft.com/office/powerpoint/2010/main" val="109768016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6E43A4-B645-4586-94CB-ED74F43420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8E6A4B-EB75-4AE8-A1B1-3CB9389AFD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3A5528-21C1-46AB-B4C9-4892C71195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165CEADE-4A91-45CF-B4ED-EB43F5F724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FCD13D-2AD5-4E1C-9711-AC684B39E5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19DF2646-F8C7-47BF-B843-73BE78A022C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C6848C-7AC1-4C05-8B2E-EEE9379A03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255617EB-3B27-41E7-AEDF-E8A91F5E0F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AD6778-28DF-46B4-A3F4-ACE90254894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56A2A7FE-EEE1-413B-B5E9-CF533F783C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8</a:t>
            </a:r>
          </a:p>
        </p:txBody>
      </p:sp>
    </p:spTree>
    <p:extLst>
      <p:ext uri="{BB962C8B-B14F-4D97-AF65-F5344CB8AC3E}">
        <p14:creationId xmlns:p14="http://schemas.microsoft.com/office/powerpoint/2010/main" val="17751347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653BBB-4796-480A-B9C8-97CF8E94EC2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C024B1-2DED-4E16-BE18-D35BB8ABE18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dea979d799a44d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F37C666-4F31-4A23-8130-0C01B6794D9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E5D543-29CD-43D8-9DBE-13B54105C71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4633C9C0-1781-4978-B01A-27E1585C2F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9</a:t>
            </a:r>
          </a:p>
        </p:txBody>
      </p:sp>
    </p:spTree>
    <p:extLst>
      <p:ext uri="{BB962C8B-B14F-4D97-AF65-F5344CB8AC3E}">
        <p14:creationId xmlns:p14="http://schemas.microsoft.com/office/powerpoint/2010/main" val="17832495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CFC997-9A28-4B56-AD4D-78593AD9A5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708716-50A8-4A3D-8D4A-331F1DA472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E1732BF-76BC-4950-8BFE-1E8C384399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E9D4A8E-65CA-4ADD-823A-D3AED8825C8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6793D226-9F33-4836-AFE1-5A69FEC290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10</a:t>
            </a:r>
          </a:p>
        </p:txBody>
      </p:sp>
    </p:spTree>
    <p:extLst>
      <p:ext uri="{BB962C8B-B14F-4D97-AF65-F5344CB8AC3E}">
        <p14:creationId xmlns:p14="http://schemas.microsoft.com/office/powerpoint/2010/main" val="498321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73AEB92-80E3-43A4-AE9C-ADB41C7F9F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5186C4-2056-4AC1-AC40-CF1835385A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282845-0651-4962-9D55-8873C316FB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73A0768B-1B2A-4552-A23C-6A04D72B07A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8731E3-5ECE-4B60-AE23-EAE4F51F35D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47613568-1C58-4B3D-A72C-550863B4E4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AC4D5B6D-6348-46D3-81A3-2D6DB656715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7A40643-67FA-41F0-9348-3923872001C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3B5B0515-13BB-402A-82EF-381FF126A90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A253D732-7CC2-4B52-B09D-F025F5DCBB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11</a:t>
            </a:r>
          </a:p>
        </p:txBody>
      </p:sp>
    </p:spTree>
    <p:extLst>
      <p:ext uri="{BB962C8B-B14F-4D97-AF65-F5344CB8AC3E}">
        <p14:creationId xmlns:p14="http://schemas.microsoft.com/office/powerpoint/2010/main" val="52723863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8972EC-5F67-44EB-B8BF-85BF55970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655DEA-E7E3-47F9-BDE4-A0941D2913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116A09E-6701-482E-8B0E-F5F3F771A3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3F82BF45-D674-4CF9-AB56-3DC784CD60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19092F-461D-4AC5-90E6-C18E65B77FF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4C478355-7256-4307-83BB-4F26132E0D4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082FC8-E676-4729-9A89-7AAFD595767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B3B7452F-A35C-4130-B59C-58227EAA1E0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452CE6C-29F9-4460-936B-4799DE6CF3F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7180FF8F-C1A7-4367-B4AC-F2BEC715ED7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51CC29-6268-4C84-AAC3-A5776939380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EEF90E6C-4415-4CE9-85E4-A84C879EBD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12</a:t>
            </a:r>
          </a:p>
        </p:txBody>
      </p:sp>
    </p:spTree>
    <p:extLst>
      <p:ext uri="{BB962C8B-B14F-4D97-AF65-F5344CB8AC3E}">
        <p14:creationId xmlns:p14="http://schemas.microsoft.com/office/powerpoint/2010/main" val="169183512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E24670-E339-466C-B93B-D5CA8D12F1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F7494E-C3A3-4C65-8C03-DE80C23195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0476012-0FD4-40E3-9226-7E0D8D2166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B975949A-0D1B-4638-B533-C5CA7EF7FD8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C5E372-C48B-4D10-A800-C7F04C31B8D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C473276C-9BC9-4C73-9D27-32C3F47BE2E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7CFDE0FA-5446-42C2-83A0-25D994DCFA9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0C2CCF9-F2D9-45CF-B1FD-CB2FE5511C0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225B0DA2-159C-4CB4-82A2-37EF16178BB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6A429CFB-1ED1-4B8E-9FE1-3072426A5B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13</a:t>
            </a:r>
          </a:p>
        </p:txBody>
      </p:sp>
    </p:spTree>
    <p:extLst>
      <p:ext uri="{BB962C8B-B14F-4D97-AF65-F5344CB8AC3E}">
        <p14:creationId xmlns:p14="http://schemas.microsoft.com/office/powerpoint/2010/main" val="18468139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CAEFAA-ED20-41C0-A74D-D936FBD201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2B597D-2388-4058-B8F8-012F55A9F0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5D33A7B-49A5-414B-9398-89B7A7AD98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one stated decision threshold</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Estimated positive probability</a:t>
                      </a:r>
                    </a:p>
                  </a:txBody>
                  <a:tcPr marL="91440" marR="91440" marT="45720" marB="45720">
                    <a:solidFill>
                      <a:srgbClr val="2E7D6F"/>
                    </a:solidFill>
                  </a:tcPr>
                </a:tc>
                <a:tc>
                  <a:txBody>
                    <a:bodyPr/>
                    <a:lstStyle/>
                    <a:p>
                      <a:r>
                        <a:rPr sz="2025" b="1">
                          <a:solidFill>
                            <a:srgbClr val="FFFFFF"/>
                          </a:solidFill>
                          <a:latin typeface="Calibri"/>
                          <a:ea typeface="Calibri"/>
                          <a:cs typeface="Calibri"/>
                        </a:rPr>
                        <a:t>At least 0.5?</a:t>
                      </a:r>
                    </a:p>
                  </a:txBody>
                  <a:tcPr marL="91440" marR="91440" marT="45720" marB="45720">
                    <a:solidFill>
                      <a:srgbClr val="2E7D6F"/>
                    </a:solidFill>
                  </a:tcPr>
                </a:tc>
                <a:tc>
                  <a:txBody>
                    <a:bodyPr/>
                    <a:lstStyle/>
                    <a:p>
                      <a:r>
                        <a:rPr sz="2025" b="1">
                          <a:solidFill>
                            <a:srgbClr val="FFFFFF"/>
                          </a:solidFill>
                          <a:latin typeface="Calibri"/>
                          <a:ea typeface="Calibri"/>
                          <a:cs typeface="Calibri"/>
                        </a:rPr>
                        <a:t>Decision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0.20</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0.50</a:t>
                      </a:r>
                    </a:p>
                  </a:txBody>
                  <a:tcPr marL="91440" marR="91440" marT="45720" marB="45720">
                    <a:solidFill>
                      <a:srgbClr val="FFFFFF"/>
                    </a:solidFill>
                  </a:tcPr>
                </a:tc>
                <a:tc>
                  <a:txBody>
                    <a:bodyPr/>
                    <a:lstStyle/>
                    <a:p>
                      <a:r>
                        <a:rPr sz="2025" b="0">
                          <a:solidFill>
                            <a:srgbClr val="1C3144"/>
                          </a:solidFill>
                          <a:latin typeface="Calibri"/>
                          <a:ea typeface="Calibri"/>
                          <a:cs typeface="Calibri"/>
                        </a:rPr>
                        <a:t>Yes</a:t>
                      </a:r>
                    </a:p>
                  </a:txBody>
                  <a:tcPr marL="91440" marR="91440" marT="45720" marB="45720">
                    <a:solidFill>
                      <a:srgbClr val="FFFFFF"/>
                    </a:solidFill>
                  </a:tcPr>
                </a:tc>
                <a:tc>
                  <a:txBody>
                    <a:bodyPr/>
                    <a:lstStyle/>
                    <a:p>
                      <a:r>
                        <a:rPr sz="2025" b="0">
                          <a:solidFill>
                            <a:srgbClr val="1C3144"/>
                          </a:solidFill>
                          <a:latin typeface="Calibri"/>
                          <a:ea typeface="Calibri"/>
                          <a:cs typeface="Calibri"/>
                        </a:rPr>
                        <a:t>Class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0.80</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c>
                  <a:txBody>
                    <a:bodyPr/>
                    <a:lstStyle/>
                    <a:p>
                      <a:r>
                        <a:rPr sz="2025" b="0">
                          <a:solidFill>
                            <a:srgbClr val="1C3144"/>
                          </a:solidFill>
                          <a:latin typeface="Calibri"/>
                          <a:ea typeface="Calibri"/>
                          <a:cs typeface="Calibri"/>
                        </a:rPr>
                        <a:t>Class 1</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1DB9C0F-491E-4A0C-BD18-011D4D6F545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0.5 means 50%. This rule includes equality. A probability is an estimate, not a promise that one case is correct.</a:t>
            </a:r>
          </a:p>
        </p:txBody>
      </p:sp>
      <p:sp>
        <p:nvSpPr>
          <p:cNvPr id="6" name="">
            <a:extLst xmlns:a="http://schemas.openxmlformats.org/drawingml/2006/main">
              <a:ext uri="{FF2B5EF4-FFF2-40B4-BE49-F238E27FC236}">
                <a16:creationId xmlns:a16="http://schemas.microsoft.com/office/drawing/2014/main" id="{790DA42C-552C-49E7-B838-EA5DBC4F4C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14</a:t>
            </a:r>
          </a:p>
        </p:txBody>
      </p:sp>
    </p:spTree>
    <p:extLst>
      <p:ext uri="{BB962C8B-B14F-4D97-AF65-F5344CB8AC3E}">
        <p14:creationId xmlns:p14="http://schemas.microsoft.com/office/powerpoint/2010/main" val="171069487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184B6C-C247-4C96-87F8-D78972B069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2C55E1-CD7B-4192-A6E5-0E415CCD71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50CB8E-19FF-4501-AE18-C1F1FB93A2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6A6B6209-7A00-4722-BFC6-89D6017B68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922D3C-24D6-40B0-AF55-F3F5FAF71C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569FCF74-189B-45C2-95D2-96F98450D51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805528-EDA5-4160-ACC8-FDB3EDA9393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78E5021F-67CA-443F-89AE-12FFF6C531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08A975-2A13-4272-B0D4-690C1B5BA58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EE87AD79-D80F-4BD6-9E97-5D9F7E9DC9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15</a:t>
            </a:r>
          </a:p>
        </p:txBody>
      </p:sp>
    </p:spTree>
    <p:extLst>
      <p:ext uri="{BB962C8B-B14F-4D97-AF65-F5344CB8AC3E}">
        <p14:creationId xmlns:p14="http://schemas.microsoft.com/office/powerpoint/2010/main" val="17151833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DF13BF-533C-4E23-A38B-AF1D37CE00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C70317-6BAC-46A9-B61C-94EFCDFB9C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6F1EDB9-EE87-4109-83B9-E0935726F9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50B3A3FF-08BC-48EA-84B1-73704BC3CDD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13AF72-E739-4BAF-9595-26734FFFFB1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E80F529F-4421-4B85-A6D0-B64B201670D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FFC51AC7-38A3-4788-86E8-19261B28EE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16</a:t>
            </a:r>
          </a:p>
        </p:txBody>
      </p:sp>
    </p:spTree>
    <p:extLst>
      <p:ext uri="{BB962C8B-B14F-4D97-AF65-F5344CB8AC3E}">
        <p14:creationId xmlns:p14="http://schemas.microsoft.com/office/powerpoint/2010/main" val="2606999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9AC773-BFA6-406C-B063-DA7C2D372F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3E4EB9-8C97-4AB9-BF81-2FD8360B10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75D522-8A5C-40FE-BA90-76F2461961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8AED48CB-CBD8-46B8-8CC3-D53813E77E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5A2793-CFCB-42AE-A997-54607D0D321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69756833-38B3-49A9-A4E4-D703293577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356CAA-7F8C-4DA6-A7A2-446BADD5324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8420907B-D18E-47B7-BF28-FF94DB9B9F0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169B7A-E55A-4E56-B4B0-70680840EF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1B635D55-475E-4FC9-BC59-B6A4DBA887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17</a:t>
            </a:r>
          </a:p>
        </p:txBody>
      </p:sp>
    </p:spTree>
    <p:extLst>
      <p:ext uri="{BB962C8B-B14F-4D97-AF65-F5344CB8AC3E}">
        <p14:creationId xmlns:p14="http://schemas.microsoft.com/office/powerpoint/2010/main" val="94526352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3D43E8-ECFB-4D29-B117-5CB14AB23D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377A4A-EA09-42BB-8047-540C4214D6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D0840D-AEDC-480E-BA86-D65908DC93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E85087A-91DE-4533-84A9-E58C85AEE5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48FD1783-A9E0-4033-894C-A81687B2F0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18</a:t>
            </a:r>
          </a:p>
        </p:txBody>
      </p:sp>
    </p:spTree>
    <p:extLst>
      <p:ext uri="{BB962C8B-B14F-4D97-AF65-F5344CB8AC3E}">
        <p14:creationId xmlns:p14="http://schemas.microsoft.com/office/powerpoint/2010/main" val="11052474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9230A5-024A-4AA2-AAB2-F380E2DFF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3185FE-8831-42B9-83B3-519B310979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AB40CD-F78B-4894-B703-C40249AA15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6E040937-2604-4FE6-AE4F-E0D1C56379A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6A0717-2951-4ED6-AC47-15C938C0C69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91917A26-BD1D-4C86-8AD2-11E5636897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1C25FD65-2DB0-4F8A-8EA0-7DA287BDDD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2804A454-0AB5-4486-94F1-35D3CD07F9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19</a:t>
            </a:r>
          </a:p>
        </p:txBody>
      </p:sp>
    </p:spTree>
    <p:extLst>
      <p:ext uri="{BB962C8B-B14F-4D97-AF65-F5344CB8AC3E}">
        <p14:creationId xmlns:p14="http://schemas.microsoft.com/office/powerpoint/2010/main" val="207570739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5A46D9-3F20-4223-B15A-95C8CC65BC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DFE987-6CC8-47E7-9F74-EA84226A8B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AA99BFF6-597D-4797-845F-2E3A41E420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0BE05047-5653-41AE-8082-72EADB6C588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92C52D-1670-4AE1-AE1A-2B424C7BE02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B4DA157F-5A19-4549-A8A9-79BEE78832B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CAA8B20E-CA21-4347-9FC8-9F795046F7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20</a:t>
            </a:r>
          </a:p>
        </p:txBody>
      </p:sp>
    </p:spTree>
    <p:extLst>
      <p:ext uri="{BB962C8B-B14F-4D97-AF65-F5344CB8AC3E}">
        <p14:creationId xmlns:p14="http://schemas.microsoft.com/office/powerpoint/2010/main" val="46133203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3C7031-A7C7-43D1-92D9-325921E480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B557C7-9518-46F7-A99C-9B0D6BCA1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34B8767-4091-4ADB-A2AE-BC3B6A1C8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four counters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Actual,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Chosen counter</a:t>
                      </a:r>
                    </a:p>
                  </a:txBody>
                  <a:tcPr marL="91440" marR="91440" marT="45720" marB="45720">
                    <a:solidFill>
                      <a:srgbClr val="2E7D6F"/>
                    </a:solidFill>
                  </a:tcPr>
                </a:tc>
                <a:tc>
                  <a:txBody>
                    <a:bodyPr/>
                    <a:lstStyle/>
                    <a:p>
                      <a:r>
                        <a:rPr sz="2025" b="1">
                          <a:solidFill>
                            <a:srgbClr val="FFFFFF"/>
                          </a:solidFill>
                          <a:latin typeface="Calibri"/>
                          <a:ea typeface="Calibri"/>
                          <a:cs typeface="Calibri"/>
                        </a:rPr>
                        <a:t>Counts: TP TN FP FN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1 0 0 0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1, 0</a:t>
                      </a:r>
                    </a:p>
                  </a:txBody>
                  <a:tcPr marL="91440" marR="91440" marT="45720" marB="45720">
                    <a:solidFill>
                      <a:srgbClr val="FFFFFF"/>
                    </a:solidFill>
                  </a:tcPr>
                </a:tc>
                <a:tc>
                  <a:txBody>
                    <a:bodyPr/>
                    <a:lstStyle/>
                    <a:p>
                      <a:r>
                        <a:rPr sz="2025" b="0">
                          <a:solidFill>
                            <a:srgbClr val="1C3144"/>
                          </a:solidFill>
                          <a:latin typeface="Calibri"/>
                          <a:ea typeface="Calibri"/>
                          <a:cs typeface="Calibri"/>
                        </a:rPr>
                        <a:t>FN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1 0 0 1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0, 1</a:t>
                      </a:r>
                    </a:p>
                  </a:txBody>
                  <a:tcPr marL="91440" marR="91440" marT="45720" marB="45720">
                    <a:solidFill>
                      <a:srgbClr val="EEF3F6"/>
                    </a:solidFill>
                  </a:tcPr>
                </a:tc>
                <a:tc>
                  <a:txBody>
                    <a:bodyPr/>
                    <a:lstStyle/>
                    <a:p>
                      <a:r>
                        <a:rPr sz="2025" b="0">
                          <a:solidFill>
                            <a:srgbClr val="1C3144"/>
                          </a:solidFill>
                          <a:latin typeface="Calibri"/>
                          <a:ea typeface="Calibri"/>
                          <a:cs typeface="Calibri"/>
                        </a:rPr>
                        <a:t>FP increases</a:t>
                      </a:r>
                    </a:p>
                  </a:txBody>
                  <a:tcPr marL="91440" marR="91440" marT="45720" marB="45720">
                    <a:solidFill>
                      <a:srgbClr val="EEF3F6"/>
                    </a:solidFill>
                  </a:tcPr>
                </a:tc>
                <a:tc>
                  <a:txBody>
                    <a:bodyPr/>
                    <a:lstStyle/>
                    <a:p>
                      <a:r>
                        <a:rPr sz="2025" b="0">
                          <a:solidFill>
                            <a:srgbClr val="1C3144"/>
                          </a:solidFill>
                          <a:latin typeface="Calibri"/>
                          <a:ea typeface="Calibri"/>
                          <a:cs typeface="Calibri"/>
                        </a:rPr>
                        <a:t>1 0 1 1</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0, 0</a:t>
                      </a:r>
                    </a:p>
                  </a:txBody>
                  <a:tcPr marL="91440" marR="91440" marT="45720" marB="45720">
                    <a:solidFill>
                      <a:srgbClr val="FFFFFF"/>
                    </a:solidFill>
                  </a:tcPr>
                </a:tc>
                <a:tc>
                  <a:txBody>
                    <a:bodyPr/>
                    <a:lstStyle/>
                    <a:p>
                      <a:r>
                        <a:rPr sz="2025" b="0">
                          <a:solidFill>
                            <a:srgbClr val="1C3144"/>
                          </a:solidFill>
                          <a:latin typeface="Calibri"/>
                          <a:ea typeface="Calibri"/>
                          <a:cs typeface="Calibri"/>
                        </a:rPr>
                        <a:t>TN increases</a:t>
                      </a:r>
                    </a:p>
                  </a:txBody>
                  <a:tcPr marL="91440" marR="91440" marT="45720" marB="45720">
                    <a:solidFill>
                      <a:srgbClr val="FFFFFF"/>
                    </a:solidFill>
                  </a:tcPr>
                </a:tc>
                <a:tc>
                  <a:txBody>
                    <a:bodyPr/>
                    <a:lstStyle/>
                    <a:p>
                      <a:r>
                        <a:rPr sz="2025" b="0">
                          <a:solidFill>
                            <a:srgbClr val="1C3144"/>
                          </a:solidFill>
                          <a:latin typeface="Calibri"/>
                          <a:ea typeface="Calibri"/>
                          <a:cs typeface="Calibri"/>
                        </a:rPr>
                        <a:t>1 1 1 1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3D50E4B-E342-442A-9E39-192B429702B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All counts start at zero. Each observation follows exactly one if/elif/else branch.</a:t>
            </a:r>
          </a:p>
        </p:txBody>
      </p:sp>
      <p:sp>
        <p:nvSpPr>
          <p:cNvPr id="6" name="">
            <a:extLst xmlns:a="http://schemas.openxmlformats.org/drawingml/2006/main">
              <a:ext uri="{FF2B5EF4-FFF2-40B4-BE49-F238E27FC236}">
                <a16:creationId xmlns:a16="http://schemas.microsoft.com/office/drawing/2014/main" id="{C8307AB7-8E14-443C-A74C-A42A5D43C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21</a:t>
            </a:r>
          </a:p>
        </p:txBody>
      </p:sp>
    </p:spTree>
    <p:extLst>
      <p:ext uri="{BB962C8B-B14F-4D97-AF65-F5344CB8AC3E}">
        <p14:creationId xmlns:p14="http://schemas.microsoft.com/office/powerpoint/2010/main" val="192475370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B0DAE4-DBC7-49B5-91F5-C386E8C0B6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E46CD9-36F3-42D1-A3DB-50EE1D0891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5D9A9B-E3BE-4C9F-AC25-1959FE62F8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DCA225B3-85FD-466D-BDFD-765B2F9601D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D9E283-3500-4EEE-AB59-C88439FA59C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C8288EC-58F8-417B-9B58-0ADC3AFF89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228239D1-1BA7-4000-9A9D-BBE1C41ACE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65B23AD5-232B-4B1A-8426-8634CF74B1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22</a:t>
            </a:r>
          </a:p>
        </p:txBody>
      </p:sp>
    </p:spTree>
    <p:extLst>
      <p:ext uri="{BB962C8B-B14F-4D97-AF65-F5344CB8AC3E}">
        <p14:creationId xmlns:p14="http://schemas.microsoft.com/office/powerpoint/2010/main" val="15288280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2D2BA3-E424-4AA9-B6A7-36A2C807F5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EA364A-2AFB-471F-BE88-216547F86D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64FE46-2B92-4F69-82FF-F4C438501B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BC55A864-2DDC-4476-AC7D-0DEE86A2BB2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C9EF3E-1210-4922-BA05-64EF78E09E4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C24BE89A-D4CA-4931-85A0-8236D9E28A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798933-8002-4688-927C-9D673171BEF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3EC01769-3905-4E99-9248-9A2573E5B71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42FAE5FB-9810-4116-9206-9BEE89F586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23</a:t>
            </a:r>
          </a:p>
        </p:txBody>
      </p:sp>
    </p:spTree>
    <p:extLst>
      <p:ext uri="{BB962C8B-B14F-4D97-AF65-F5344CB8AC3E}">
        <p14:creationId xmlns:p14="http://schemas.microsoft.com/office/powerpoint/2010/main" val="198314950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3AB7627-ACAD-4E83-8586-0960F716CE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57C112-4A07-47E7-9F32-82A2F7C37A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9D5F1C-D161-4236-A010-511D436D01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FDC26FF6-B7E4-4970-8BCF-7C048365446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8ACA9E-FA81-45AC-A155-1EF05FF9AA6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4076B379-F832-4D42-88A6-F3ECDDE3F7E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B4443F8-3E5A-49D1-8E21-C7F63D500E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4FDAA7A5-02C1-4024-A373-664E354FE8DC}"/>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0E61D13-FC50-42A6-9296-D2D86C27CC04}"/>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01C7150F-CD06-4FC2-8525-B3960BFD233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7C94404C-190A-49A1-B9B9-3230687DBA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24</a:t>
            </a:r>
          </a:p>
        </p:txBody>
      </p:sp>
    </p:spTree>
    <p:extLst>
      <p:ext uri="{BB962C8B-B14F-4D97-AF65-F5344CB8AC3E}">
        <p14:creationId xmlns:p14="http://schemas.microsoft.com/office/powerpoint/2010/main" val="40734039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8D874F5-00BD-4675-96EE-5C7F6F554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A1891C-67DF-4F7A-8789-5759A57464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CDF06E9-9782-4F2F-83AD-3DDD6226D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D68AD8A1-E54B-4509-BD5E-D3816BCE811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D4BE19-C75B-4DA9-8673-53D01EE25D2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812EB1E7-C9B0-40A7-A550-2B743C085DB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F54CF5-8440-4480-B25A-33D2DAEE1D5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E644203-CFE3-4224-A38E-CD6847D3034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B50A51CE-BC16-4455-BAD3-F5FBEF6034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25</a:t>
            </a:r>
          </a:p>
        </p:txBody>
      </p:sp>
    </p:spTree>
    <p:extLst>
      <p:ext uri="{BB962C8B-B14F-4D97-AF65-F5344CB8AC3E}">
        <p14:creationId xmlns:p14="http://schemas.microsoft.com/office/powerpoint/2010/main" val="23378426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64BD77-2FF1-4D94-94A7-A3D9A8D12F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3BD24E-B52D-40C2-8CE5-8B12C11310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57BD20-4D39-4084-8608-E6F9B17D1F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0D93D596-98C8-41D0-953B-3DD415AAB93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507FD5-F12D-4866-A4BA-4B2A7F0BE00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AF2CC17B-E13B-4C4D-ACC1-FE04E9368E8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2959018F-058D-4671-B443-90EFDFE9A8F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D35B75C-4965-4DF1-9358-BE689707627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304EE90E-A4AB-467D-A3A5-31CA65E24BC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254124F1-55F6-4452-B505-CB47E0D2E9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26</a:t>
            </a:r>
          </a:p>
        </p:txBody>
      </p:sp>
    </p:spTree>
    <p:extLst>
      <p:ext uri="{BB962C8B-B14F-4D97-AF65-F5344CB8AC3E}">
        <p14:creationId xmlns:p14="http://schemas.microsoft.com/office/powerpoint/2010/main" val="110114627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94608A-C8D2-435A-8958-54588914B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635B31-C154-4F06-9A94-0DFBF8614F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F85EFD-A7BD-4250-99EA-5EA5FA6B9E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9B0A13A-9AD0-413E-9932-1600982A264E}"/>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BCE55BF8-B52A-4597-8796-263F1FE7D1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27</a:t>
            </a:r>
          </a:p>
        </p:txBody>
      </p:sp>
    </p:spTree>
    <p:extLst>
      <p:ext uri="{BB962C8B-B14F-4D97-AF65-F5344CB8AC3E}">
        <p14:creationId xmlns:p14="http://schemas.microsoft.com/office/powerpoint/2010/main" val="69950637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19FE19-E66C-4EE9-8FDD-8B5D34955E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85391C-257A-4CB6-BEA3-593670DB2A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B2C868-09D3-4102-829D-732917BAC9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BC4C3AE5-D5D7-4B64-9F52-14D75D49B5F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4770270-02E0-4A6C-85D6-4F6BD038AA7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06EF4A7F-2BBC-4F12-BDBD-F2EA17E9160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63DBED7-F0F2-49F5-9F5C-F7E0B8317F9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889259D2-221E-414E-A322-7B27DAA18F8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DFAF07-8999-428F-8A83-AB00184C8B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F60CCAB2-CBEA-4065-8C06-A91477110F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28</a:t>
            </a:r>
          </a:p>
        </p:txBody>
      </p:sp>
    </p:spTree>
    <p:extLst>
      <p:ext uri="{BB962C8B-B14F-4D97-AF65-F5344CB8AC3E}">
        <p14:creationId xmlns:p14="http://schemas.microsoft.com/office/powerpoint/2010/main" val="48532656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20C3F9-222A-4D0E-ACD8-905992823B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FAD462-7A1D-4BBF-9BBE-EA381B32DA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59141F-CB8A-4179-A4ED-246CDE84BE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8765FD0A-CEC6-429C-8C23-AC15CA6B3D9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A58B09-CED7-4380-A399-81450D78E2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02C1525-7AC0-4C99-8C96-053DD3BECD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8DFD199A-D7E7-4F55-93B7-D5FC4FF277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0E17808F-BA39-40B2-936E-5A0CF50F09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29</a:t>
            </a:r>
          </a:p>
        </p:txBody>
      </p:sp>
    </p:spTree>
    <p:extLst>
      <p:ext uri="{BB962C8B-B14F-4D97-AF65-F5344CB8AC3E}">
        <p14:creationId xmlns:p14="http://schemas.microsoft.com/office/powerpoint/2010/main" val="207993871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FCF9EE-1F0F-4B6F-BE6E-D5A880F8FB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2A5800-C43A-4F0A-9A70-0F1E378C03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DF7FA5-0D90-44EB-A240-0E22EE4EF9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5B02CA6-3BCF-41E5-A3BE-823014E7B0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547F41-D7CF-4F08-92DA-F6DFD9A3CC5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5180D029-369F-4AC1-8B8B-537794DAF51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7E42CA-E5BE-43C7-A05C-04A3ABD70AF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E30D0D37-9EDA-454A-82C5-98C9CC37E8A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30285B-1EE8-4EE6-94EA-980F77B3911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34EA8318-7CE6-4875-8025-7E9CDC67D53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C14E6D-017A-4F09-BE32-4A06BC04E48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D129D63C-0941-4FC6-B2D6-E70401804F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30</a:t>
            </a:r>
          </a:p>
        </p:txBody>
      </p:sp>
    </p:spTree>
    <p:extLst>
      <p:ext uri="{BB962C8B-B14F-4D97-AF65-F5344CB8AC3E}">
        <p14:creationId xmlns:p14="http://schemas.microsoft.com/office/powerpoint/2010/main" val="15010510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66C9CC-A3EC-4D0C-AF5B-A98074D5F6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27A8E-67A9-4BCA-8A3E-4625BABB6D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49968D1-BF8A-4893-8C24-D04AF9B5DD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6179BE14-8B0B-4E34-AD17-16D1460E9A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48EAA1-850E-49CF-8B8C-C95C056A4444}"/>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EC96C299-C8F6-433A-9125-92F1FE58E0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31</a:t>
            </a:r>
          </a:p>
        </p:txBody>
      </p:sp>
    </p:spTree>
    <p:extLst>
      <p:ext uri="{BB962C8B-B14F-4D97-AF65-F5344CB8AC3E}">
        <p14:creationId xmlns:p14="http://schemas.microsoft.com/office/powerpoint/2010/main" val="142651927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005F2D-12F0-47AF-8DF4-F43B3094B4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E266AB-6399-4ABF-B98F-3296E7F841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65A22F9-2E29-482C-BE9E-03BE0A160B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B16841B2-6B7A-4DAA-98B1-8EA7B5D012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B0067D-C63F-46E1-8F60-ED21AB9CB7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7758EADC-2CAC-47B4-856B-2CB383A7CF1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94BEEA-BE79-4A00-9D9A-B47FC1DE72A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F0388DFE-1B36-4766-9ED1-B34E641927F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44484EA-E5FC-47FA-A02C-AC900C2D34F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53462B73-6EAB-4D74-9262-ADD14A5BC58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DBECE9-E8C5-447C-9E49-7E12B3DE54F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B70F4704-63E3-4B80-BA8F-AD552BB85A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32</a:t>
            </a:r>
          </a:p>
        </p:txBody>
      </p:sp>
    </p:spTree>
    <p:extLst>
      <p:ext uri="{BB962C8B-B14F-4D97-AF65-F5344CB8AC3E}">
        <p14:creationId xmlns:p14="http://schemas.microsoft.com/office/powerpoint/2010/main" val="111474754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D8A0C5-8783-4B95-BBBB-915AB5BE24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E6065F-E022-4E1B-8E5D-0F0DAC12AF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3932F1-B7B3-4B3C-9C96-48839CBD9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83F960A8-E89C-40F0-9E0E-8B20713BFEB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59E9FC-DE8D-439C-8E16-136CD56C60E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636D6F5A-A8D3-48E5-A110-68D05CDDC1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33</a:t>
            </a:r>
          </a:p>
        </p:txBody>
      </p:sp>
    </p:spTree>
    <p:extLst>
      <p:ext uri="{BB962C8B-B14F-4D97-AF65-F5344CB8AC3E}">
        <p14:creationId xmlns:p14="http://schemas.microsoft.com/office/powerpoint/2010/main" val="176210354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EC9D93-5C54-4340-B755-CC8881869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D0C501-8D65-4AA4-93E8-148AE5A56A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192982-BD4E-4C76-8E9F-CD68E2B7B8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F5BAFE1-3233-451A-B18E-ABE405B917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09D36C-7091-4247-8B82-5C8E5A90ABF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70844591-C983-4B43-A24F-E0BBA55D6BA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9C7F67-93A9-4379-8419-1100C3E67BC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8DFEA85F-CA79-4E63-9599-DE1D0426576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32631B-C84B-4B30-B2FA-3EBE48B9DD9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973DA96C-A4A0-4771-90FE-A509588B072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4E7E3CB-3751-4A08-8779-4ABFAABA61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1EBD8067-4C1F-4DF9-B6E0-056F6DCAF6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34</a:t>
            </a:r>
          </a:p>
        </p:txBody>
      </p:sp>
    </p:spTree>
    <p:extLst>
      <p:ext uri="{BB962C8B-B14F-4D97-AF65-F5344CB8AC3E}">
        <p14:creationId xmlns:p14="http://schemas.microsoft.com/office/powerpoint/2010/main" val="188432811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0D8098-EFD8-4B40-A815-D9DABED6D1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87F9EB-EFC0-49C2-B20A-EFB2108AB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DBBB7A0-BA0F-4735-BDC5-597162619F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0AB36CC2-AF75-43BA-BAB5-0A0C76B8A9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7291FB-1EBE-42C8-A946-32DEBCDD4A8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16A39348-E910-4EC8-ABBA-00354A0A1B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35</a:t>
            </a:r>
          </a:p>
        </p:txBody>
      </p:sp>
    </p:spTree>
    <p:extLst>
      <p:ext uri="{BB962C8B-B14F-4D97-AF65-F5344CB8AC3E}">
        <p14:creationId xmlns:p14="http://schemas.microsoft.com/office/powerpoint/2010/main" val="165938687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F6BF56-B648-46E3-9EE1-C1C2113ADD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3AA150-5DEF-4CF7-873E-5FC89C4347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D284203-4DD0-43AB-BF2C-A5F3EDA46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2A102924-F93F-49DA-B3CC-7DA9F829CD8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2C8AC0-7B69-48AD-857E-2C4EA6B394F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F79A8B23-AC4D-4272-A070-D05359CDF10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16A59F-1AE9-4A59-ACCF-4F34244DA21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503C8BE-041B-4B80-8CAC-A3E5077771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36</a:t>
            </a:r>
          </a:p>
        </p:txBody>
      </p:sp>
    </p:spTree>
    <p:extLst>
      <p:ext uri="{BB962C8B-B14F-4D97-AF65-F5344CB8AC3E}">
        <p14:creationId xmlns:p14="http://schemas.microsoft.com/office/powerpoint/2010/main" val="72054897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40CB44-CA26-416C-A57C-7F9FB95E54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7CBD7A-3852-401C-9671-B3985B42A3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5C41459-7C48-49EF-9939-28949CABB1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B6F5525-FBE1-4F04-9A74-BDB7288A1E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0AFA99-DFA3-4361-973F-11ED3FCB0F8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ECDF261-0F07-41A3-BF49-2844B1C166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CE040D-2B3B-4CEF-B148-3AA43413D1D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330ABED-B0C2-45BB-97D5-9DDBDFA1613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6A4C76-C7B6-4030-90A4-109B7480343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0D37597A-66AE-4BB1-9CFC-8B2A5AF56F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A1488A-79E7-4914-93C9-970B285F388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8BD8466C-DD82-4E34-9DD8-B02A78B1C8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37</a:t>
            </a:r>
          </a:p>
        </p:txBody>
      </p:sp>
    </p:spTree>
    <p:extLst>
      <p:ext uri="{BB962C8B-B14F-4D97-AF65-F5344CB8AC3E}">
        <p14:creationId xmlns:p14="http://schemas.microsoft.com/office/powerpoint/2010/main" val="18949069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B8DED7-4E1F-4870-B601-F41D97BE09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7D5B0E-75DC-4E5D-803B-304C1FB1B5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F5198DC-3E1B-4943-9980-9437CA464F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6EC4E756-9BBE-4EFB-A28C-2F3AC7342AC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74D1EC-5B52-4325-8182-7343CCA6876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08:00 Kampala</a:t>
            </a:r>
          </a:p>
        </p:txBody>
      </p:sp>
      <p:sp>
        <p:nvSpPr>
          <p:cNvPr id="6" name="">
            <a:extLst xmlns:a="http://schemas.openxmlformats.org/drawingml/2006/main">
              <a:ext uri="{FF2B5EF4-FFF2-40B4-BE49-F238E27FC236}">
                <a16:creationId xmlns:a16="http://schemas.microsoft.com/office/drawing/2014/main" id="{41296840-A0F9-4C47-913A-F47CA6DA33B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79CE41-2D2C-4572-851B-BB39DFE92AD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08:00 Kampala</a:t>
            </a:r>
          </a:p>
        </p:txBody>
      </p:sp>
      <p:sp>
        <p:nvSpPr>
          <p:cNvPr id="8" name="">
            <a:extLst xmlns:a="http://schemas.openxmlformats.org/drawingml/2006/main">
              <a:ext uri="{FF2B5EF4-FFF2-40B4-BE49-F238E27FC236}">
                <a16:creationId xmlns:a16="http://schemas.microsoft.com/office/drawing/2014/main" id="{46B1A4DC-A841-4F7E-8EA8-B9C0A6EB405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025A99-525A-4560-BE6B-11344400CAE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F8AE0AC-2AAC-4323-96DA-C7231BA51A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35A191-F3A6-4F01-AF9F-E612495A6C2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43CE410-20A5-47B0-BBAE-1E47E2E722E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BBBAF5-EC73-40AE-87B5-75901D2C2A2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7856c1b2f214017"/>
              </a:rPr>
              <a:t>Open W09 assignment form</a:t>
            </a:r>
          </a:p>
        </p:txBody>
      </p:sp>
      <p:sp>
        <p:nvSpPr>
          <p:cNvPr id="14" name="">
            <a:extLst xmlns:a="http://schemas.openxmlformats.org/drawingml/2006/main">
              <a:ext uri="{FF2B5EF4-FFF2-40B4-BE49-F238E27FC236}">
                <a16:creationId xmlns:a16="http://schemas.microsoft.com/office/drawing/2014/main" id="{88F7C515-495F-4662-91DB-F7D688AD128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https://docs.google.com/forms/d/e/1FAIpQLSfckaplMvJ6zeqbURyQrkDOSTS0MhGV3jY3tIY4EhnHLMm1tw/viewform</a:t>
            </a:r>
          </a:p>
        </p:txBody>
      </p:sp>
      <p:sp>
        <p:nvSpPr>
          <p:cNvPr id="15" name="">
            <a:extLst xmlns:a="http://schemas.openxmlformats.org/drawingml/2006/main">
              <a:ext uri="{FF2B5EF4-FFF2-40B4-BE49-F238E27FC236}">
                <a16:creationId xmlns:a16="http://schemas.microsoft.com/office/drawing/2014/main" id="{85E089E8-4B5F-46CC-AFA4-AACB0C08E7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38</a:t>
            </a:r>
          </a:p>
        </p:txBody>
      </p:sp>
    </p:spTree>
    <p:extLst>
      <p:ext uri="{BB962C8B-B14F-4D97-AF65-F5344CB8AC3E}">
        <p14:creationId xmlns:p14="http://schemas.microsoft.com/office/powerpoint/2010/main" val="1220197412"/>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03E7C280-7D91-4018-9701-CE112B1A51BF}"/>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57DF5BCC-E746-4D98-A66F-40702A200442}"/>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427B6AF3-A7CA-4703-A83E-5F3A165836FF}"/>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a:ext uri="{FF2B5EF4-FFF2-40B4-BE49-F238E27FC236}">
                <ns2:creationId id="{8E803560-B270-4317-9DCF-628AF42605CA}"/>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C5F57901-9B1D-41EA-9494-755B7C080AEB}"/>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8B7525E8-0C20-477C-A713-91C0136D2097}"/>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1B8F870-26F2-4230-B43D-0443D17F8B82}"/>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8682270A-3D01-478A-935E-93AF16716F62}"/>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C60EF4ED-7050-42ED-BB1A-501782C4C4BE}"/>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A93A7B85-C4F5-4A89-A6EA-9DB87152E9C4}"/>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5DF451F8-14CA-4699-A587-3EE47B10AEB6}"/>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6a646f1a98d94c04"/>
          <a:stretch/>
        </p:blipFill>
        <p:spPr>
          <a:xfrm>
            <a:off x="9134475" y="2095500"/>
            <a:ext cx="2190750" cy="2190750"/>
          </a:xfrm>
          <a:prstGeom prst="rect">
            <a:avLst/>
          </a:prstGeom>
        </p:spPr>
      </p:pic>
      <p:sp>
        <p:nvSpPr>
          <p:cNvPr id="13" name="">
            <a:extLst>
              <a:ext uri="{FF2B5EF4-FFF2-40B4-BE49-F238E27FC236}">
                <ns2:creationId id="{4EFC1193-1350-45B6-8136-9CAFC81C43D8}"/>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6EC04CA7-5B13-47FD-B8C3-999BAFEE9FD2}"/>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DA608A62-BB0A-42E7-9E02-CD7C26B9EB6C}"/>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b08e139eefd247cf"/>
              </a:rPr>
              <a:t>Open this week’s quiz</a:t>
            </a:r>
          </a:p>
        </p:txBody>
      </p:sp>
      <p:sp>
        <p:nvSpPr>
          <p:cNvPr id="16" name="">
            <a:extLst>
              <a:ext uri="{FF2B5EF4-FFF2-40B4-BE49-F238E27FC236}">
                <ns2:creationId id="{3FC5150E-9543-4B85-A603-AC28B5637748}"/>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https://forms.gle/biJnEga9118gnz9X9</a:t>
            </a:r>
          </a:p>
        </p:txBody>
      </p:sp>
      <p:sp>
        <p:nvSpPr>
          <p:cNvPr id="17" name="">
            <a:extLst>
              <a:ext uri="{FF2B5EF4-FFF2-40B4-BE49-F238E27FC236}">
                <ns2:creationId id="{2DB26B57-DDA7-4F69-9114-D9A6E0637D4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39</a:t>
            </a:r>
          </a:p>
        </p:txBody>
      </p:sp>
    </p:spTree>
    <p:extLst>
      <p:ext uri="{BB962C8B-B14F-4D97-AF65-F5344CB8AC3E}">
        <ns4:creationId val="1259077093"/>
      </p:ext>
    </p:extLst>
  </p:cSld>
</p:sld>
</file>

<file path=ppt/slides/slide4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45123595-9F27-4567-9EDF-17AF851DABA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8FA01A0C-242C-450F-A7E5-88A443CD39FD}"/>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061ED5D4-13EF-4A4D-B0CE-BAE31328BA95}"/>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85BCE7C0-C9F4-47ED-8536-6A8E80AB3A74}"/>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2C726EDC-23B7-4044-92D6-80D118CBEDA1}"/>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116C2F40-A659-4F86-9EEF-FD0C526DDD2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9   40</a:t>
            </a:r>
          </a:p>
        </p:txBody>
      </p:sp>
    </p:spTree>
    <p:extLst>
      <p:ext uri="{BB962C8B-B14F-4D97-AF65-F5344CB8AC3E}">
        <ns3:creationId val="89112714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9BE1842-F8C5-473A-8372-B91D938F01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A976EA-2229-46AF-A5EC-14D65072AB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F734FB1-EE0F-4222-97A6-57CDA860C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D4F25004-F5B2-471D-A6A4-AD28F587BAE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F8BD9C-3D15-4A8C-9886-6E1A72FEF6C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CD636D06-0797-4670-9A01-65F87DD503D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A83DD4-022C-4559-B15C-83C5DDD2A1F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0AF5D52D-7C87-4AB1-BDA3-FBD7F1004ED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D4371F-2896-4910-B445-BBD2AEB45A7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B803CBF9-B956-4F6F-B6FD-CE1044AE88F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3B43BBC-C98B-48A4-BE1A-4240A1E74B8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85F6929B-CCCC-407C-861A-982713A25E9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2EF45C4-298E-470B-99A5-8E49117F8A4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28a7fc3a9114133"/>
              </a:rPr>
              <a:t>Open explainer video</a:t>
            </a:r>
          </a:p>
        </p:txBody>
      </p:sp>
      <p:sp>
        <p:nvSpPr>
          <p:cNvPr id="14" name="">
            <a:extLst xmlns:a="http://schemas.openxmlformats.org/drawingml/2006/main">
              <a:ext uri="{FF2B5EF4-FFF2-40B4-BE49-F238E27FC236}">
                <a16:creationId xmlns:a16="http://schemas.microsoft.com/office/drawing/2014/main" id="{3713858A-5984-4328-862F-00829ACF7F2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29D56B2C-F459-4633-9117-02DC5E5A1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9   41</a:t>
            </a:r>
          </a:p>
        </p:txBody>
      </p:sp>
    </p:spTree>
    <p:extLst>
      <p:ext uri="{BB962C8B-B14F-4D97-AF65-F5344CB8AC3E}">
        <p14:creationId xmlns:p14="http://schemas.microsoft.com/office/powerpoint/2010/main" val="6903932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2026-09-28T21:46:02.4210000Z</dcterms:created>
  <dcterms:modified xsi:type="dcterms:W3CDTF">2026-09-28T21:46:02.4210000Z</dcterms:modified>
</coreProperties>
</file>