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ac4e865138a4791" /><Relationship Type="http://schemas.openxmlformats.org/officeDocument/2006/relationships/extended-properties" Target="/docProps/app.xml" Id="Ra91cacc61ea1451e" /><Relationship Type="http://schemas.openxmlformats.org/officeDocument/2006/relationships/officeDocument" Target="/ppt/presentation.xml" Id="R1f762fbf84314d7e" /></Relationships>
</file>

<file path=ppt/presentation.xml><?xml version="1.0" encoding="utf-8"?>
<p:presentation xmlns:p="http://schemas.openxmlformats.org/presentationml/2006/main">
  <p:sldMasterIdLst>
    <p:sldMasterId xmlns:r="http://schemas.openxmlformats.org/officeDocument/2006/relationships" id="2147483648" r:id="R016ef223e7944f3d"/>
  </p:sldMasterIdLst>
  <p:notesMasterIdLst>
    <p:notesMasterId xmlns:r="http://schemas.openxmlformats.org/officeDocument/2006/relationships" r:id="R34e76bd3c6724b66"/>
  </p:notesMasterIdLst>
  <p:sldIdLst>
    <p:sldId xmlns:r="http://schemas.openxmlformats.org/officeDocument/2006/relationships" id="256" r:id="R98782065e79d40d1"/>
    <p:sldId xmlns:r="http://schemas.openxmlformats.org/officeDocument/2006/relationships" id="257" r:id="R18544877d5e448fa"/>
    <p:sldId xmlns:r="http://schemas.openxmlformats.org/officeDocument/2006/relationships" id="258" r:id="R599ff1f7eda24278"/>
    <p:sldId xmlns:r="http://schemas.openxmlformats.org/officeDocument/2006/relationships" id="259" r:id="R559e39b1499c4ccf"/>
    <p:sldId xmlns:r="http://schemas.openxmlformats.org/officeDocument/2006/relationships" id="260" r:id="Ree7dd9bcef4348a4"/>
    <p:sldId xmlns:r="http://schemas.openxmlformats.org/officeDocument/2006/relationships" id="261" r:id="Rea55cde8062e481c"/>
    <p:sldId xmlns:r="http://schemas.openxmlformats.org/officeDocument/2006/relationships" id="262" r:id="R07e32e09765c4ba4"/>
    <p:sldId xmlns:r="http://schemas.openxmlformats.org/officeDocument/2006/relationships" id="263" r:id="R0f444acbe014400a"/>
    <p:sldId xmlns:r="http://schemas.openxmlformats.org/officeDocument/2006/relationships" id="264" r:id="R65bcb53bd8ce414f"/>
    <p:sldId xmlns:r="http://schemas.openxmlformats.org/officeDocument/2006/relationships" id="265" r:id="Rd1e6444262e34cc0"/>
    <p:sldId xmlns:r="http://schemas.openxmlformats.org/officeDocument/2006/relationships" id="266" r:id="R9b2cbfcad58c42ce"/>
    <p:sldId xmlns:r="http://schemas.openxmlformats.org/officeDocument/2006/relationships" id="267" r:id="Rc9d8bfbe802f49ce"/>
    <p:sldId xmlns:r="http://schemas.openxmlformats.org/officeDocument/2006/relationships" id="268" r:id="R1c001a3c27874c26"/>
    <p:sldId xmlns:r="http://schemas.openxmlformats.org/officeDocument/2006/relationships" id="269" r:id="Rd9b9266d1e3241aa"/>
    <p:sldId xmlns:r="http://schemas.openxmlformats.org/officeDocument/2006/relationships" id="270" r:id="Rc3aa9640e1634e52"/>
    <p:sldId xmlns:r="http://schemas.openxmlformats.org/officeDocument/2006/relationships" id="271" r:id="Ree77162edcc642b6"/>
    <p:sldId xmlns:r="http://schemas.openxmlformats.org/officeDocument/2006/relationships" id="272" r:id="R16973554d1e44530"/>
    <p:sldId xmlns:r="http://schemas.openxmlformats.org/officeDocument/2006/relationships" id="273" r:id="R825a5ffa2b154214"/>
    <p:sldId xmlns:r="http://schemas.openxmlformats.org/officeDocument/2006/relationships" id="274" r:id="R08e33323ef54486d"/>
    <p:sldId xmlns:r="http://schemas.openxmlformats.org/officeDocument/2006/relationships" id="275" r:id="Re50f0c515c964b4d"/>
    <p:sldId xmlns:r="http://schemas.openxmlformats.org/officeDocument/2006/relationships" id="276" r:id="Rda93db183ec54797"/>
    <p:sldId xmlns:r="http://schemas.openxmlformats.org/officeDocument/2006/relationships" id="277" r:id="R08f5d8642e3b4185"/>
    <p:sldId xmlns:r="http://schemas.openxmlformats.org/officeDocument/2006/relationships" id="278" r:id="R25b2b391a22342cb"/>
    <p:sldId xmlns:r="http://schemas.openxmlformats.org/officeDocument/2006/relationships" id="279" r:id="Rd87c8afeea1d48a5"/>
    <p:sldId xmlns:r="http://schemas.openxmlformats.org/officeDocument/2006/relationships" id="280" r:id="Rb8983ca8ca8b4414"/>
    <p:sldId xmlns:r="http://schemas.openxmlformats.org/officeDocument/2006/relationships" id="281" r:id="Rcff9b6d140fa4440"/>
    <p:sldId xmlns:r="http://schemas.openxmlformats.org/officeDocument/2006/relationships" id="282" r:id="R89fbec3083d445ff"/>
    <p:sldId xmlns:r="http://schemas.openxmlformats.org/officeDocument/2006/relationships" id="283" r:id="R622d35bd9e024a4f"/>
    <p:sldId xmlns:r="http://schemas.openxmlformats.org/officeDocument/2006/relationships" id="284" r:id="R58cbf5b6dd804bb1"/>
    <p:sldId xmlns:r="http://schemas.openxmlformats.org/officeDocument/2006/relationships" id="285" r:id="R517ce027cf9341df"/>
    <p:sldId xmlns:r="http://schemas.openxmlformats.org/officeDocument/2006/relationships" id="286" r:id="R6c74169155f7475a"/>
    <p:sldId xmlns:r="http://schemas.openxmlformats.org/officeDocument/2006/relationships" id="287" r:id="R33774bc909bc4ba1"/>
    <p:sldId xmlns:r="http://schemas.openxmlformats.org/officeDocument/2006/relationships" id="288" r:id="R49d22a53452f4be6"/>
    <p:sldId xmlns:r="http://schemas.openxmlformats.org/officeDocument/2006/relationships" id="289" r:id="Refa9b44b32474c0f"/>
    <p:sldId xmlns:r="http://schemas.openxmlformats.org/officeDocument/2006/relationships" id="290" r:id="Rfefc0583d364408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08ece01d4b34f92" /><Relationship Type="http://schemas.openxmlformats.org/officeDocument/2006/relationships/slideMaster" Target="/ppt/slideMasters/slideMaster1.xml" Id="R016ef223e7944f3d" /><Relationship Type="http://schemas.openxmlformats.org/officeDocument/2006/relationships/notesMaster" Target="/ppt/notesMasters/notesMaster1.xml" Id="R34e76bd3c6724b66" /><Relationship Type="http://schemas.openxmlformats.org/officeDocument/2006/relationships/presProps" Target="/ppt/presProps.xml" Id="R5beaf0fcd62b4a65" /><Relationship Type="http://schemas.openxmlformats.org/officeDocument/2006/relationships/tableStyles" Target="/ppt/tableStyles.xml" Id="R9e79cf912ef843e0" /><Relationship Type="http://schemas.openxmlformats.org/officeDocument/2006/relationships/slide" Target="/ppt/slides/slide1.xml" Id="R98782065e79d40d1" /><Relationship Type="http://schemas.openxmlformats.org/officeDocument/2006/relationships/slide" Target="/ppt/slides/slide2.xml" Id="R18544877d5e448fa" /><Relationship Type="http://schemas.openxmlformats.org/officeDocument/2006/relationships/slide" Target="/ppt/slides/slide3.xml" Id="R599ff1f7eda24278" /><Relationship Type="http://schemas.openxmlformats.org/officeDocument/2006/relationships/slide" Target="/ppt/slides/slide4.xml" Id="R559e39b1499c4ccf" /><Relationship Type="http://schemas.openxmlformats.org/officeDocument/2006/relationships/slide" Target="/ppt/slides/slide5.xml" Id="Ree7dd9bcef4348a4" /><Relationship Type="http://schemas.openxmlformats.org/officeDocument/2006/relationships/slide" Target="/ppt/slides/slide6.xml" Id="Rea55cde8062e481c" /><Relationship Type="http://schemas.openxmlformats.org/officeDocument/2006/relationships/slide" Target="/ppt/slides/slide7.xml" Id="R07e32e09765c4ba4" /><Relationship Type="http://schemas.openxmlformats.org/officeDocument/2006/relationships/slide" Target="/ppt/slides/slide8.xml" Id="R0f444acbe014400a" /><Relationship Type="http://schemas.openxmlformats.org/officeDocument/2006/relationships/slide" Target="/ppt/slides/slide9.xml" Id="R65bcb53bd8ce414f" /><Relationship Type="http://schemas.openxmlformats.org/officeDocument/2006/relationships/slide" Target="/ppt/slides/slide10.xml" Id="Rd1e6444262e34cc0" /><Relationship Type="http://schemas.openxmlformats.org/officeDocument/2006/relationships/slide" Target="/ppt/slides/slide11.xml" Id="R9b2cbfcad58c42ce" /><Relationship Type="http://schemas.openxmlformats.org/officeDocument/2006/relationships/slide" Target="/ppt/slides/slide12.xml" Id="Rc9d8bfbe802f49ce" /><Relationship Type="http://schemas.openxmlformats.org/officeDocument/2006/relationships/slide" Target="/ppt/slides/slide13.xml" Id="R1c001a3c27874c26" /><Relationship Type="http://schemas.openxmlformats.org/officeDocument/2006/relationships/slide" Target="/ppt/slides/slide14.xml" Id="Rd9b9266d1e3241aa" /><Relationship Type="http://schemas.openxmlformats.org/officeDocument/2006/relationships/slide" Target="/ppt/slides/slide15.xml" Id="Rc3aa9640e1634e52" /><Relationship Type="http://schemas.openxmlformats.org/officeDocument/2006/relationships/slide" Target="/ppt/slides/slide16.xml" Id="Ree77162edcc642b6" /><Relationship Type="http://schemas.openxmlformats.org/officeDocument/2006/relationships/slide" Target="/ppt/slides/slide17.xml" Id="R16973554d1e44530" /><Relationship Type="http://schemas.openxmlformats.org/officeDocument/2006/relationships/slide" Target="/ppt/slides/slide18.xml" Id="R825a5ffa2b154214" /><Relationship Type="http://schemas.openxmlformats.org/officeDocument/2006/relationships/slide" Target="/ppt/slides/slide19.xml" Id="R08e33323ef54486d" /><Relationship Type="http://schemas.openxmlformats.org/officeDocument/2006/relationships/slide" Target="/ppt/slides/slide20.xml" Id="Re50f0c515c964b4d" /><Relationship Type="http://schemas.openxmlformats.org/officeDocument/2006/relationships/slide" Target="/ppt/slides/slide21.xml" Id="Rda93db183ec54797" /><Relationship Type="http://schemas.openxmlformats.org/officeDocument/2006/relationships/slide" Target="/ppt/slides/slide22.xml" Id="R08f5d8642e3b4185" /><Relationship Type="http://schemas.openxmlformats.org/officeDocument/2006/relationships/slide" Target="/ppt/slides/slide23.xml" Id="R25b2b391a22342cb" /><Relationship Type="http://schemas.openxmlformats.org/officeDocument/2006/relationships/slide" Target="/ppt/slides/slide24.xml" Id="Rd87c8afeea1d48a5" /><Relationship Type="http://schemas.openxmlformats.org/officeDocument/2006/relationships/slide" Target="/ppt/slides/slide25.xml" Id="Rb8983ca8ca8b4414" /><Relationship Type="http://schemas.openxmlformats.org/officeDocument/2006/relationships/slide" Target="/ppt/slides/slide26.xml" Id="Rcff9b6d140fa4440" /><Relationship Type="http://schemas.openxmlformats.org/officeDocument/2006/relationships/slide" Target="/ppt/slides/slide27.xml" Id="R89fbec3083d445ff" /><Relationship Type="http://schemas.openxmlformats.org/officeDocument/2006/relationships/slide" Target="/ppt/slides/slide28.xml" Id="R622d35bd9e024a4f" /><Relationship Type="http://schemas.openxmlformats.org/officeDocument/2006/relationships/slide" Target="/ppt/slides/slide29.xml" Id="R58cbf5b6dd804bb1" /><Relationship Type="http://schemas.openxmlformats.org/officeDocument/2006/relationships/slide" Target="/ppt/slides/slide30.xml" Id="R517ce027cf9341df" /><Relationship Type="http://schemas.openxmlformats.org/officeDocument/2006/relationships/slide" Target="/ppt/slides/slide31.xml" Id="R6c74169155f7475a" /><Relationship Type="http://schemas.openxmlformats.org/officeDocument/2006/relationships/slide" Target="/ppt/slides/slide32.xml" Id="R33774bc909bc4ba1" /><Relationship Type="http://schemas.openxmlformats.org/officeDocument/2006/relationships/slide" Target="/ppt/slides/slide33.xml" Id="R49d22a53452f4be6" /><Relationship Type="http://schemas.openxmlformats.org/officeDocument/2006/relationships/slide" Target="/ppt/slides/slide34.xml" Id="Refa9b44b32474c0f" /><Relationship Type="http://schemas.openxmlformats.org/officeDocument/2006/relationships/slide" Target="/ppt/slides/slide35.xml" Id="Rfefc0583d36440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8379d5a354a4e2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41802f3e59432b" /><Relationship Type="http://schemas.openxmlformats.org/officeDocument/2006/relationships/notesMaster" Target="/ppt/notesMasters/notesMaster1.xml" Id="Rc2564f612f5a43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81c6ff4cdf84e8d" /><Relationship Type="http://schemas.openxmlformats.org/officeDocument/2006/relationships/notesMaster" Target="/ppt/notesMasters/notesMaster1.xml" Id="R552b4ce5a3b645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81ef5d5a8614b70" /><Relationship Type="http://schemas.openxmlformats.org/officeDocument/2006/relationships/notesMaster" Target="/ppt/notesMasters/notesMaster1.xml" Id="R17258313d80941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2aa2632e0e46a6" /><Relationship Type="http://schemas.openxmlformats.org/officeDocument/2006/relationships/notesMaster" Target="/ppt/notesMasters/notesMaster1.xml" Id="Ra5f7ca1a8f3340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ee32399dcf8949e8" /><Relationship Type="http://schemas.openxmlformats.org/officeDocument/2006/relationships/notesMaster" Target="/ppt/notesMasters/notesMaster1.xml" Id="R3e82f0904cbc4d8e" /></Relationships>
</file>

<file path=ppt/notesSlides/_rels/notesSlide6.xml.rels>&#65279;<?xml version="1.0" encoding="utf-8"?><Relationships xmlns="http://schemas.openxmlformats.org/package/2006/relationships"><Relationship Type="http://schemas.openxmlformats.org/officeDocument/2006/relationships/slide" Target="/ppt/slides/slide6.xml" Id="Rf67b9abcaad343aa" /><Relationship Type="http://schemas.openxmlformats.org/officeDocument/2006/relationships/notesMaster" Target="/ppt/notesMasters/notesMaster1.xml" Id="R70851d9669fc47a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7e3e458ee774c9e" /><Relationship Type="http://schemas.openxmlformats.org/officeDocument/2006/relationships/notesMaster" Target="/ppt/notesMasters/notesMaster1.xml" Id="R67df424efc1447e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f440872afde4d02" /><Relationship Type="http://schemas.openxmlformats.org/officeDocument/2006/relationships/notesMaster" Target="/ppt/notesMasters/notesMaster1.xml" Id="R2c9d6d57bdfc495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a799bd2d90c4171" /><Relationship Type="http://schemas.openxmlformats.org/officeDocument/2006/relationships/notesMaster" Target="/ppt/notesMasters/notesMaster1.xml" Id="Rf8164c7eea4a429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60f6c8d3584f88" /><Relationship Type="http://schemas.openxmlformats.org/officeDocument/2006/relationships/notesMaster" Target="/ppt/notesMasters/notesMaster1.xml" Id="R4c06606ce225438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4e6d1506d34175" /><Relationship Type="http://schemas.openxmlformats.org/officeDocument/2006/relationships/notesMaster" Target="/ppt/notesMasters/notesMaster1.xml" Id="Refa2ef658747478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ba0b7eeadf9478d" /><Relationship Type="http://schemas.openxmlformats.org/officeDocument/2006/relationships/notesMaster" Target="/ppt/notesMasters/notesMaster1.xml" Id="Re2da775f2436413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6b4e9cca0644e93" /><Relationship Type="http://schemas.openxmlformats.org/officeDocument/2006/relationships/notesMaster" Target="/ppt/notesMasters/notesMaster1.xml" Id="Rfe8d8e9e704a4ad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b902a89cff14d6c" /><Relationship Type="http://schemas.openxmlformats.org/officeDocument/2006/relationships/notesMaster" Target="/ppt/notesMasters/notesMaster1.xml" Id="Rfdf70a0cecce46e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0f1f27a2eb444cb" /><Relationship Type="http://schemas.openxmlformats.org/officeDocument/2006/relationships/notesMaster" Target="/ppt/notesMasters/notesMaster1.xml" Id="R87d654f2bf6240c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d2afaa51172493e" /><Relationship Type="http://schemas.openxmlformats.org/officeDocument/2006/relationships/notesMaster" Target="/ppt/notesMasters/notesMaster1.xml" Id="R2e386489d62d40a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671bb14c73840c2" /><Relationship Type="http://schemas.openxmlformats.org/officeDocument/2006/relationships/notesMaster" Target="/ppt/notesMasters/notesMaster1.xml" Id="Rd792dbccf39f4f9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4e3dce7991b4d28" /><Relationship Type="http://schemas.openxmlformats.org/officeDocument/2006/relationships/notesMaster" Target="/ppt/notesMasters/notesMaster1.xml" Id="R043f219acd4945c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cd0867f583d4a9e" /><Relationship Type="http://schemas.openxmlformats.org/officeDocument/2006/relationships/notesMaster" Target="/ppt/notesMasters/notesMaster1.xml" Id="R4194c21f80504e2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eff95016df84afb" /><Relationship Type="http://schemas.openxmlformats.org/officeDocument/2006/relationships/notesMaster" Target="/ppt/notesMasters/notesMaster1.xml" Id="R9dc3fd5f4fa84c6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e59583f251649cc" /><Relationship Type="http://schemas.openxmlformats.org/officeDocument/2006/relationships/notesMaster" Target="/ppt/notesMasters/notesMaster1.xml" Id="R6afcc6c7a83d4d6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d8250c8301c484a" /><Relationship Type="http://schemas.openxmlformats.org/officeDocument/2006/relationships/notesMaster" Target="/ppt/notesMasters/notesMaster1.xml" Id="R550c0920a752488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b4ec1766fec469c" /><Relationship Type="http://schemas.openxmlformats.org/officeDocument/2006/relationships/notesMaster" Target="/ppt/notesMasters/notesMaster1.xml" Id="R03544b3c7450411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4b6e7631f0e465c" /><Relationship Type="http://schemas.openxmlformats.org/officeDocument/2006/relationships/notesMaster" Target="/ppt/notesMasters/notesMaster1.xml" Id="Rf61bb889c6e649a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2ff7f8d130b4c19" /><Relationship Type="http://schemas.openxmlformats.org/officeDocument/2006/relationships/notesMaster" Target="/ppt/notesMasters/notesMaster1.xml" Id="R70ca38c66d5940e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f220ac8e3f44127" /><Relationship Type="http://schemas.openxmlformats.org/officeDocument/2006/relationships/notesMaster" Target="/ppt/notesMasters/notesMaster1.xml" Id="Rf9e306d43376437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930731c1d9241a3" /><Relationship Type="http://schemas.openxmlformats.org/officeDocument/2006/relationships/notesMaster" Target="/ppt/notesMasters/notesMaster1.xml" Id="R0bb4369bd6c54cc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bbe84078dc94903" /><Relationship Type="http://schemas.openxmlformats.org/officeDocument/2006/relationships/notesMaster" Target="/ppt/notesMasters/notesMaster1.xml" Id="R6404bc7f289b430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49ce9be06e0450e" /><Relationship Type="http://schemas.openxmlformats.org/officeDocument/2006/relationships/notesMaster" Target="/ppt/notesMasters/notesMaster1.xml" Id="Rde1ffa56ded34fd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c00e5b1a7f94cbb" /><Relationship Type="http://schemas.openxmlformats.org/officeDocument/2006/relationships/notesMaster" Target="/ppt/notesMasters/notesMaster1.xml" Id="Rf068bdd713a240e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4046bf899a04a4a" /><Relationship Type="http://schemas.openxmlformats.org/officeDocument/2006/relationships/notesMaster" Target="/ppt/notesMasters/notesMaster1.xml" Id="Rdda2d6cbacfa407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a4d115694664d36" /><Relationship Type="http://schemas.openxmlformats.org/officeDocument/2006/relationships/notesMaster" Target="/ppt/notesMasters/notesMaster1.xml" Id="Rad1ce19952e041a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df82ffcdcaa451e" /><Relationship Type="http://schemas.openxmlformats.org/officeDocument/2006/relationships/notesMaster" Target="/ppt/notesMasters/notesMaster1.xml" Id="R12ad2316c87242c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7b6c4cc3c534d9d" /><Relationship Type="http://schemas.openxmlformats.org/officeDocument/2006/relationships/notesMaster" Target="/ppt/notesMasters/notesMaster1.xml" Id="Rae552a33d5234a0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fdbb1ba1d5946ce" /><Relationship Type="http://schemas.openxmlformats.org/officeDocument/2006/relationships/notesMaster" Target="/ppt/notesMasters/notesMaster1.xml" Id="R526a3aab195d4f0e"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Creating and testing a useful feature</a:t>
            </a:r>
          </a:p>
          <a:p>
            <a:r>
              <a:t>CML3112, Week 11, slide 1</a:t>
            </a:r>
          </a:p>
          <a:p>
            <a:r>
              <a:t/>
            </a:r>
          </a:p>
          <a:p>
            <a:r>
              <a:t>Explanation to give</a:t>
            </a:r>
          </a:p>
          <a:p>
            <a:r>
              <a:t>Explain why a calculated input may help and test the idea under an unchanged validation protocol.</a:t>
            </a:r>
          </a:p>
          <a:p>
            <a:r>
              <a:t/>
            </a:r>
          </a:p>
          <a:p>
            <a:r>
              <a:t>Worked illustration / lecturer answer</a:t>
            </a:r>
          </a:p>
          <a:p>
            <a:r>
              <a:t>If validation MAE falls from 5 to 4 after adding one feature, the reduction is 1 target unit, or 20%. A comparison on a different split cannot isolate that change.</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11, slide 2</a:t>
            </a:r>
          </a:p>
          <a:p>
            <a:r>
              <a:t/>
            </a:r>
          </a:p>
          <a:p>
            <a:r>
              <a:t>Explanation to give</a:t>
            </a:r>
          </a:p>
          <a:p>
            <a:r>
              <a:t>Explain why a calculated input may help and test the idea under an unchanged validation protocol.</a:t>
            </a:r>
          </a:p>
          <a:p>
            <a:r>
              <a:t/>
            </a:r>
          </a:p>
          <a:p>
            <a:r>
              <a:t>Worked illustration / lecturer answer</a:t>
            </a:r>
          </a:p>
          <a:p>
            <a:r>
              <a:t>If validation MAE falls from 5 to 4 after adding one feature, the reduction is 1 target unit, or 20%. A comparison on a different split cannot isolate that change.</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Create a feature from available measurements.</a:t>
            </a:r>
          </a:p>
          <a:p>
            <a:r>
              <a:t/>
            </a:r>
          </a:p>
          <a:p>
            <a:r>
              <a:t>Compare models with one controlled change.</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11, slide 3</a:t>
            </a:r>
          </a:p>
          <a:p>
            <a:r>
              <a:t/>
            </a:r>
          </a:p>
          <a:p>
            <a:r>
              <a:t>Explanation to give</a:t>
            </a:r>
          </a:p>
          <a:p>
            <a:r>
              <a:t>Explain why a calculated input may help and test the idea under an unchanged validation protocol.</a:t>
            </a:r>
          </a:p>
          <a:p>
            <a:r>
              <a:t/>
            </a:r>
          </a:p>
          <a:p>
            <a:r>
              <a:t>Worked illustration / lecturer answer</a:t>
            </a:r>
          </a:p>
          <a:p>
            <a:r>
              <a:t>If validation MAE falls from 5 to 4 after adding one feature, the reduction is 1 target unit, or 20%. A comparison on a different split cannot isolate that change.</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already keep evaluation data separate. Now we change one input representation while keeping the comparison protocol fixed.</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CML3112, Week 11, slide 4</a:t>
            </a:r>
          </a:p>
          <a:p>
            <a:r>
              <a:t/>
            </a:r>
          </a:p>
          <a:p>
            <a:r>
              <a:t>Explanation to give</a:t>
            </a:r>
          </a:p>
          <a:p>
            <a:r>
              <a:t>Explain why a calculated input may help and test the idea under an unchanged validation protocol.</a:t>
            </a:r>
          </a:p>
          <a:p>
            <a:r>
              <a:t/>
            </a:r>
          </a:p>
          <a:p>
            <a:r>
              <a:t>Worked illustration / lecturer answer</a:t>
            </a:r>
          </a:p>
          <a:p>
            <a:r>
              <a:t>If validation MAE falls from 5 to 4 after adding one feature, the reduction is 1 target unit, or 20%. A comparison on a different split cannot isolate that change.</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calculated input may help a model. We compare the original and extended inputs on the same observations, then decide whether the evidence supports the extra feature.</a:t>
            </a:r>
          </a:p>
          <a:p>
            <a:r>
              <a:t/>
            </a:r>
          </a:p>
          <a:p>
            <a:r>
              <a:t>Continue to</a:t>
            </a:r>
          </a:p>
          <a:p>
            <a:r>
              <a:t>A feature has a meaning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feature has a meaning</a:t>
            </a:r>
          </a:p>
          <a:p>
            <a:r>
              <a:t>CML3112, Week 11, slide 5</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A feature is an input available at prediction time.</a:t>
            </a:r>
          </a:p>
          <a:p>
            <a:r>
              <a:t/>
            </a:r>
          </a:p>
          <a:p>
            <a:r>
              <a:t>An interaction multiplies two inputs to express a joint pattern.</a:t>
            </a:r>
          </a:p>
          <a:p>
            <a:r>
              <a:t/>
            </a:r>
          </a:p>
          <a:p>
            <a:r>
              <a:t>A better validation score can still reflect leakage.</a:t>
            </a:r>
          </a:p>
          <a:p>
            <a:r>
              <a:t/>
            </a:r>
          </a:p>
          <a:p>
            <a:r>
              <a:t>Compare the same observations and explain the physical meaning.</a:t>
            </a:r>
          </a:p>
          <a:p>
            <a:r>
              <a:t/>
            </a:r>
          </a:p>
          <a:p>
            <a:r>
              <a:t>Continue to</a:t>
            </a:r>
          </a:p>
          <a:p>
            <a:r>
              <a:t>Derived feature and Ratio and interaction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Derived feature and Ratio and interaction</a:t>
            </a:r>
          </a:p>
          <a:p>
            <a:r>
              <a:t>CML3112, Week 11, slide 6</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Derived feature: A new input calculated from existing inputs. Its definition and unit must be stated.</a:t>
            </a:r>
          </a:p>
          <a:p>
            <a:r>
              <a:t>Ratio and interaction: A ratio divides quantities; an interaction multiplies them. Both need a domain explanation and a unit check.</a:t>
            </a:r>
          </a:p>
          <a:p>
            <a:r>
              <a:t/>
            </a:r>
          </a:p>
          <a:p>
            <a:r>
              <a:t>Continue to</a:t>
            </a:r>
          </a:p>
          <a:p>
            <a:r>
              <a:t>Read the physical example across programmes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physical example across programmes</a:t>
            </a:r>
          </a:p>
          <a:p>
            <a:r>
              <a:t>CML3112, Week 11, slide 7</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Current I is the flow of electric charge, measured in amperes (A). Resistance R opposes that flow, measured in ohms.</a:t>
            </a:r>
          </a:p>
          <a:p>
            <a:r>
              <a:t/>
            </a:r>
          </a:p>
          <a:p>
            <a:r>
              <a:t>Power P is energy transferred per second, measured in watts (W). Resistive heating follows P = I²R in this example.</a:t>
            </a:r>
          </a:p>
          <a:p>
            <a:r>
              <a:t/>
            </a:r>
          </a:p>
          <a:p>
            <a:r>
              <a:t>I² means I × I. With I = 2 A and R = 3 ohms, P = 2 × 2 × 3 = 12 W. This relationship motivates a feature; evaluation still tests whether it helps.</a:t>
            </a:r>
          </a:p>
          <a:p>
            <a:r>
              <a:t/>
            </a:r>
          </a:p>
          <a:p>
            <a:r>
              <a:t>Continue to</a:t>
            </a:r>
          </a:p>
          <a:p>
            <a:r>
              <a:t>A physical relationship can form a feature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physical relationship can form a feature</a:t>
            </a:r>
          </a:p>
          <a:p>
            <a:r>
              <a:t>CML3112, Week 11, slide 8</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Explain each quantity and the unit of the result.</a:t>
            </a:r>
          </a:p>
          <a:p>
            <a:r>
              <a:t/>
            </a:r>
          </a:p>
          <a:p>
            <a:r>
              <a:t>Continue to</a:t>
            </a:r>
          </a:p>
          <a:p>
            <a:r>
              <a:t>An interaction uses two known inputs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interaction uses two known inputs</a:t>
            </a:r>
          </a:p>
          <a:p>
            <a:r>
              <a:t>CML3112, Week 11, slide 9</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Current A | Resistance ohm | I squared × R W</a:t>
            </a:r>
          </a:p>
          <a:p>
            <a:r>
              <a:t>2 | 3 | 12</a:t>
            </a:r>
          </a:p>
          <a:p>
            <a:r>
              <a:t>4 | 3 | 48</a:t>
            </a:r>
          </a:p>
          <a:p>
            <a:r>
              <a:t>A derived input must be available when predicting. A useful physical relationship still needs validation.</a:t>
            </a:r>
          </a:p>
          <a:p>
            <a:r>
              <a:t/>
            </a:r>
          </a:p>
          <a:p>
            <a:r>
              <a:t>Continue to</a:t>
            </a:r>
          </a:p>
          <a:p>
            <a:r>
              <a:t>A percentage and its fraction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percentage and its fraction</a:t>
            </a:r>
          </a:p>
          <a:p>
            <a:r>
              <a:t>CML3112, Week 11, slide 10</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40% means 40 out of 100.</a:t>
            </a:r>
          </a:p>
          <a:p>
            <a:r>
              <a:t/>
            </a:r>
          </a:p>
          <a:p>
            <a:r>
              <a:t>40 / 100 gives 0.4.</a:t>
            </a:r>
          </a:p>
          <a:p>
            <a:r>
              <a:t/>
            </a:r>
          </a:p>
          <a:p>
            <a:r>
              <a:t>This changes the representation. It adds no new observation.</a:t>
            </a:r>
          </a:p>
          <a:p>
            <a:r>
              <a:t/>
            </a:r>
          </a:p>
          <a:p>
            <a:r>
              <a:t>Continue to</a:t>
            </a:r>
          </a:p>
          <a:p>
            <a:r>
              <a:t>A combined input needs a reason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combined input needs a reason</a:t>
            </a:r>
          </a:p>
          <a:p>
            <a:r>
              <a:t>CML3112, Week 11, slide 11</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An interaction multiplies two inputs.</a:t>
            </a:r>
          </a:p>
          <a:p>
            <a:r>
              <a:t/>
            </a:r>
          </a:p>
          <a:p>
            <a:r>
              <a:t>It may help a simple model represent a joint pattern.</a:t>
            </a:r>
          </a:p>
          <a:p>
            <a:r>
              <a:t/>
            </a:r>
          </a:p>
          <a:p>
            <a:r>
              <a:t>An interaction with degrees Celsius is an empirical feature, not automatically a physical law.</a:t>
            </a:r>
          </a:p>
          <a:p>
            <a:r>
              <a:t/>
            </a:r>
          </a:p>
          <a:p>
            <a:r>
              <a:t>Continue to</a:t>
            </a:r>
          </a:p>
          <a:p>
            <a:r>
              <a:t>Ablation and Improvement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Ablation and Improvement</a:t>
            </a:r>
          </a:p>
          <a:p>
            <a:r>
              <a:t>CML3112, Week 11, slide 12</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Ablation: Compare a model with and without a feature while keeping the data partitions, model family and metric fixed.</a:t>
            </a:r>
          </a:p>
          <a:p>
            <a:r>
              <a:t>Improvement: For an error metric, baseline error minus new error. A negative result means the added feature worsened validation error in that comparison.</a:t>
            </a:r>
          </a:p>
          <a:p>
            <a:r>
              <a:t/>
            </a:r>
          </a:p>
          <a:p>
            <a:r>
              <a:t>Continue to</a:t>
            </a:r>
          </a:p>
          <a:p>
            <a:r>
              <a:t>One change makes a comparison interpretable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One change makes a comparison interpretable</a:t>
            </a:r>
          </a:p>
          <a:p>
            <a:r>
              <a:t>CML3112, Week 11, slide 13</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Base MAE is 3.0. Extended MAE is 2.5.</a:t>
            </a:r>
          </a:p>
          <a:p>
            <a:r>
              <a:t/>
            </a:r>
          </a:p>
          <a:p>
            <a:r>
              <a:t>Improvement = base error minus extended error = 0.5.</a:t>
            </a:r>
          </a:p>
          <a:p>
            <a:r>
              <a:t/>
            </a:r>
          </a:p>
          <a:p>
            <a:r>
              <a:t>Keep the training rows, validation rows, model family and metric fixed.</a:t>
            </a:r>
          </a:p>
          <a:p>
            <a:r>
              <a:t/>
            </a:r>
          </a:p>
          <a:p>
            <a:r>
              <a:t>Continue to</a:t>
            </a:r>
          </a:p>
          <a:p>
            <a:r>
              <a:t>Feature comparisons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 comparisons in Python</a:t>
            </a:r>
          </a:p>
          <a:p>
            <a:r>
              <a:t>CML3112, Week 11, slide 14</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Read the displayed code line by line</a:t>
            </a:r>
          </a:p>
          <a:p>
            <a:r>
              <a:t>load_pct = 40</a:t>
            </a:r>
          </a:p>
          <a:p>
            <a:r>
              <a:t>Evaluate the complete right-hand expression first, then assign its result to the name or selected field on the left.</a:t>
            </a:r>
          </a:p>
          <a:p>
            <a:r>
              <a:t/>
            </a:r>
          </a:p>
          <a:p>
            <a:r>
              <a:t>ambient_c = 25</a:t>
            </a:r>
          </a:p>
          <a:p>
            <a:r>
              <a:t>Evaluate the complete right-hand expression first, then assign its result to the name or selected field on the left.</a:t>
            </a:r>
          </a:p>
          <a:p>
            <a:r>
              <a:t/>
            </a:r>
          </a:p>
          <a:p>
            <a:r>
              <a:t>load_fraction = load_pct / 100</a:t>
            </a:r>
          </a:p>
          <a:p>
            <a:r>
              <a:t>Evaluate the complete right-hand expression first, then assign its result to the name or selected field on the left.</a:t>
            </a:r>
          </a:p>
          <a:p>
            <a:r>
              <a:t/>
            </a:r>
          </a:p>
          <a:p>
            <a:r>
              <a:t>interaction = load_pct * ambient_c</a:t>
            </a:r>
          </a:p>
          <a:p>
            <a:r>
              <a:t>Evaluate the complete right-hand expression first, then assign its result to the name or selected field on the left.</a:t>
            </a:r>
          </a:p>
          <a:p>
            <a:r>
              <a:t/>
            </a:r>
          </a:p>
          <a:p>
            <a:r>
              <a:t>print(load_fraction, interaction)</a:t>
            </a:r>
          </a:p>
          <a:p>
            <a:r>
              <a:t>Evaluate the expression inside the parentheses and display it. Displaying is separate from returning a function result.</a:t>
            </a:r>
          </a:p>
          <a:p>
            <a:r>
              <a:t/>
            </a:r>
          </a:p>
          <a:p>
            <a:r>
              <a:t>base_mae = 3.0</a:t>
            </a:r>
          </a:p>
          <a:p>
            <a:r>
              <a:t>Evaluate the complete right-hand expression first, then assign its result to the name or selected field on the left.</a:t>
            </a:r>
          </a:p>
          <a:p>
            <a:r>
              <a:t/>
            </a:r>
          </a:p>
          <a:p>
            <a:r>
              <a:t>extended_mae = 2.5</a:t>
            </a:r>
          </a:p>
          <a:p>
            <a:r>
              <a:t>Evaluate the complete right-hand expression first, then assign its result to the name or selected field on the left.</a:t>
            </a:r>
          </a:p>
          <a:p>
            <a:r>
              <a:t/>
            </a:r>
          </a:p>
          <a:p>
            <a:r>
              <a:t>print(base_mae - extended_mae)</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Feature comparisons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 comparisons results</a:t>
            </a:r>
          </a:p>
          <a:p>
            <a:r>
              <a:t>CML3112, Week 11, slide 15</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0.4 1000</a:t>
            </a:r>
          </a:p>
          <a:p>
            <a:r>
              <a:t>0.5</a:t>
            </a:r>
          </a:p>
          <a:p>
            <a:r>
              <a:t/>
            </a:r>
          </a:p>
          <a:p>
            <a:r>
              <a:t>Continue to</a:t>
            </a:r>
          </a:p>
          <a:p>
            <a:r>
              <a:t>Read the two-model experiment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two-model experiment</a:t>
            </a:r>
          </a:p>
          <a:p>
            <a:r>
              <a:t>CML3112, Week 11, slide 16</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Each row contains a pair of inputs. for a, b in rows assigns the first entry to a and the second to b, then repeats the block.</a:t>
            </a:r>
          </a:p>
          <a:p>
            <a:r>
              <a:t/>
            </a:r>
          </a:p>
          <a:p>
            <a:r>
              <a:t>with_interaction returns a new table containing a, b and a × b. Both models keep the same training and validation rows.</a:t>
            </a:r>
          </a:p>
          <a:p>
            <a:r>
              <a:t/>
            </a:r>
          </a:p>
          <a:p>
            <a:r>
              <a:t>Create the model first, then call fit on the next line. round(value, 6) rounds a displayed number to six decimal places; retain full precision for calculations.</a:t>
            </a:r>
          </a:p>
          <a:p>
            <a:r>
              <a:t/>
            </a:r>
          </a:p>
          <a:p>
            <a:r>
              <a:t>Continue to</a:t>
            </a:r>
          </a:p>
          <a:p>
            <a:r>
              <a:t>Trace the interaction-building function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interaction-building function</a:t>
            </a:r>
          </a:p>
          <a:p>
            <a:r>
              <a:t>CML3112, Week 11, slide 17</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Each row contains two inputs. for a, b in rows: assigns them to a and b. [a, b, a * b] builds a new row with their product as a third input.</a:t>
            </a:r>
          </a:p>
          <a:p>
            <a:r>
              <a:t/>
            </a:r>
          </a:p>
          <a:p>
            <a:r>
              <a:t>For row [2, 3], append [2, 3, 6]. For row [4, 5], append [4, 5, 20]. The function returns the newly built list of rows.</a:t>
            </a:r>
          </a:p>
          <a:p>
            <a:r>
              <a:t/>
            </a:r>
          </a:p>
          <a:p>
            <a:r>
              <a:t>The same function must transform both training and validation inputs. It uses no target values to construct the new feature.</a:t>
            </a:r>
          </a:p>
          <a:p>
            <a:r>
              <a:t/>
            </a:r>
          </a:p>
          <a:p>
            <a:r>
              <a:t>Reference / existing resource</a:t>
            </a:r>
          </a:p>
          <a:p>
            <a:r>
              <a:t>https://docs.python.org/3/tutorial/introduction.html</a:t>
            </a:r>
          </a:p>
          <a:p>
            <a:r>
              <a:t>https://docs.python.org/3/tutorial/controlflow.html;</a:t>
            </a:r>
          </a:p>
          <a:p>
            <a:r>
              <a:t/>
            </a:r>
          </a:p>
          <a:p>
            <a:r>
              <a:t>Continue to</a:t>
            </a:r>
          </a:p>
          <a:p>
            <a:r>
              <a:t>Two models under one protocol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models under one protocol</a:t>
            </a:r>
          </a:p>
          <a:p>
            <a:r>
              <a:t>CML3112, Week 11, slide 18</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Run this complete practice experiment in a fresh session.</a:t>
            </a:r>
          </a:p>
          <a:p>
            <a:r>
              <a:t/>
            </a:r>
          </a:p>
          <a:p>
            <a:r>
              <a:t>Both models use the same rows and targets; the second receives one additional input.</a:t>
            </a:r>
          </a:p>
          <a:p>
            <a:r>
              <a:t/>
            </a:r>
          </a:p>
          <a:p>
            <a:r>
              <a:t>Read every column before fitting.</a:t>
            </a:r>
          </a:p>
          <a:p>
            <a:r>
              <a:t/>
            </a:r>
          </a:p>
          <a:p>
            <a:r>
              <a:t>This invented experiment illustrates procedure, not a measured engineering benefit.</a:t>
            </a:r>
          </a:p>
          <a:p>
            <a:r>
              <a:t/>
            </a:r>
          </a:p>
          <a:p>
            <a:r>
              <a:t>Continue to</a:t>
            </a:r>
          </a:p>
          <a:p>
            <a:r>
              <a:t>Two models under one protocol in Python (1/3)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models under one protocol in Python (1/3)</a:t>
            </a:r>
          </a:p>
          <a:p>
            <a:r>
              <a:t>CML3112, Week 11, slide 19</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Read the displayed code line by line</a:t>
            </a:r>
          </a:p>
          <a:p>
            <a:r>
              <a:t>from sklearn.linear_model import LinearRegression</a:t>
            </a:r>
          </a:p>
          <a:p>
            <a:r>
              <a:t>Bring the named tool from this library into the current Python session.</a:t>
            </a:r>
          </a:p>
          <a:p>
            <a:r>
              <a:t/>
            </a:r>
          </a:p>
          <a:p>
            <a:r>
              <a:t>from sklearn.metrics import mean_absolute_error</a:t>
            </a:r>
          </a:p>
          <a:p>
            <a:r>
              <a:t>Bring the named tool from this library into the current Python session.</a:t>
            </a:r>
          </a:p>
          <a:p>
            <a:r>
              <a:t/>
            </a:r>
          </a:p>
          <a:p>
            <a:r>
              <a:t>train = [[1, 2], [2, 3], [3, 2], [4, 4], [5, 3]]</a:t>
            </a:r>
          </a:p>
          <a:p>
            <a:r>
              <a:t>Evaluate the complete right-hand expression first, then assign its result to the name or selected field on the left.</a:t>
            </a:r>
          </a:p>
          <a:p>
            <a:r>
              <a:t/>
            </a:r>
          </a:p>
          <a:p>
            <a:r>
              <a:t>y = [3, 5, 5, 8, 8]</a:t>
            </a:r>
          </a:p>
          <a:p>
            <a:r>
              <a:t>Evaluate the complete right-hand expression first, then assign its result to the name or selected field on the left.</a:t>
            </a:r>
          </a:p>
          <a:p>
            <a:r>
              <a:t/>
            </a:r>
          </a:p>
          <a:p>
            <a:r>
              <a:t>validation = [[2, 2], [3, 3]]</a:t>
            </a:r>
          </a:p>
          <a:p>
            <a:r>
              <a:t>Evaluate the complete right-hand expression first, then assign its result to the name or selected field on the left.</a:t>
            </a:r>
          </a:p>
          <a:p>
            <a:r>
              <a:t/>
            </a:r>
          </a:p>
          <a:p>
            <a:r>
              <a:t>truth = [4, 6]</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Two models under one protocol in Python (2/3)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models under one protocol in Python (2/3)</a:t>
            </a:r>
          </a:p>
          <a:p>
            <a:r>
              <a:t>CML3112, Week 11, slide 20</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Read the displayed code line by line</a:t>
            </a:r>
          </a:p>
          <a:p>
            <a:r>
              <a:t>def with_interaction(rows):</a:t>
            </a:r>
          </a:p>
          <a:p>
            <a:r>
              <a:t>Store these instructions under this function name. Names in parentheses are its inputs; the body waits until a call.</a:t>
            </a:r>
          </a:p>
          <a:p>
            <a:r>
              <a:t/>
            </a:r>
          </a:p>
          <a:p>
            <a:r>
              <a:t>result = []</a:t>
            </a:r>
          </a:p>
          <a:p>
            <a:r>
              <a:t>Evaluate the complete right-hand expression first, then assign its result to the name or selected field on the left.</a:t>
            </a:r>
          </a:p>
          <a:p>
            <a:r>
              <a:t/>
            </a:r>
          </a:p>
          <a:p>
            <a:r>
              <a:t>for a, b in rows:</a:t>
            </a:r>
          </a:p>
          <a:p>
            <a:r>
              <a:t>Take each item or pair in turn, assign the loop name(s), and repeat the indented body.</a:t>
            </a:r>
          </a:p>
          <a:p>
            <a:r>
              <a:t/>
            </a:r>
          </a:p>
          <a:p>
            <a:r>
              <a:t>result.append([a, b, a * b])</a:t>
            </a:r>
          </a:p>
          <a:p>
            <a:r>
              <a:t>Evaluate the argument and add it as one new item at the end of this list.</a:t>
            </a:r>
          </a:p>
          <a:p>
            <a:r>
              <a:t/>
            </a:r>
          </a:p>
          <a:p>
            <a:r>
              <a:t>return result</a:t>
            </a:r>
          </a:p>
          <a:p>
            <a:r>
              <a:t>Evaluate this result and send it to the caller, ending this function call.</a:t>
            </a:r>
          </a:p>
          <a:p>
            <a:r>
              <a:t/>
            </a:r>
          </a:p>
          <a:p>
            <a:r>
              <a:t>base = LinearRegression()</a:t>
            </a:r>
          </a:p>
          <a:p>
            <a:r>
              <a:t>Evaluate the complete right-hand expression first, then assign its result to the name or selected field on the left.</a:t>
            </a:r>
          </a:p>
          <a:p>
            <a:r>
              <a:t/>
            </a:r>
          </a:p>
          <a:p>
            <a:r>
              <a:t>base.fit(train, y)</a:t>
            </a:r>
          </a:p>
          <a:p>
            <a:r>
              <a:t>Learn from the supplied training rows and their aligned targets. This changes the fitted object’s state.</a:t>
            </a:r>
          </a:p>
          <a:p>
            <a:r>
              <a:t/>
            </a:r>
          </a:p>
          <a:p>
            <a:r>
              <a:t>extended = LinearRegression()</a:t>
            </a:r>
          </a:p>
          <a:p>
            <a:r>
              <a:t>Evaluate the complete right-hand expression first, then assign its result to the name or selected field on the left.</a:t>
            </a:r>
          </a:p>
          <a:p>
            <a:r>
              <a:t/>
            </a:r>
          </a:p>
          <a:p>
            <a:r>
              <a:t>extended.fit(with_interaction(train), y)</a:t>
            </a:r>
          </a:p>
          <a:p>
            <a:r>
              <a:t>Learn from the supplied training rows and their aligned targets. This changes the fitted object’s state.</a:t>
            </a:r>
          </a:p>
          <a:p>
            <a:r>
              <a:t/>
            </a:r>
          </a:p>
          <a:p>
            <a:r>
              <a:t>base_predictions = base.predict(validation)</a:t>
            </a:r>
          </a:p>
          <a:p>
            <a:r>
              <a:t>Apply the already fitted rule to these input rows without passing their true targets.</a:t>
            </a:r>
          </a:p>
          <a:p>
            <a:r>
              <a:t/>
            </a:r>
          </a:p>
          <a:p>
            <a:r>
              <a:t>base_error = mean_absolute_error(truth, base_predictions)</a:t>
            </a:r>
          </a:p>
          <a:p>
            <a:r>
              <a:t>Evaluate the complete right-hand expression first, then assign its result to the name or selected field on the left.</a:t>
            </a:r>
          </a:p>
          <a:p>
            <a:r>
              <a:t/>
            </a:r>
          </a:p>
          <a:p>
            <a:r>
              <a:t>Result / continuity</a:t>
            </a:r>
          </a:p>
          <a:p>
            <a:r>
              <a:t>Continue the SAME cell; keep indentation. Run after all parts are entered.</a:t>
            </a:r>
          </a:p>
          <a:p>
            <a:r>
              <a:t/>
            </a:r>
          </a:p>
          <a:p>
            <a:r>
              <a:t>Continue to</a:t>
            </a:r>
          </a:p>
          <a:p>
            <a:r>
              <a:t>Two models under one protocol in Python (3/3)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models under one protocol in Python (3/3)</a:t>
            </a:r>
          </a:p>
          <a:p>
            <a:r>
              <a:t>CML3112, Week 11, slide 21</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Read the displayed code line by line</a:t>
            </a:r>
          </a:p>
          <a:p>
            <a:r>
              <a:t>print(round(base_error, 6))</a:t>
            </a:r>
          </a:p>
          <a:p>
            <a:r>
              <a:t>Evaluate the expression inside the parentheses and display it. Displaying is separate from returning a function result.</a:t>
            </a:r>
          </a:p>
          <a:p>
            <a:r>
              <a:t/>
            </a:r>
          </a:p>
          <a:p>
            <a:r>
              <a:t>validation_features = with_interaction(validation)</a:t>
            </a:r>
          </a:p>
          <a:p>
            <a:r>
              <a:t>Evaluate the complete right-hand expression first, then assign its result to the name or selected field on the left.</a:t>
            </a:r>
          </a:p>
          <a:p>
            <a:r>
              <a:t/>
            </a:r>
          </a:p>
          <a:p>
            <a:r>
              <a:t>extended_predictions = extended.predict(validation_features)</a:t>
            </a:r>
          </a:p>
          <a:p>
            <a:r>
              <a:t>Apply the already fitted rule to these input rows without passing their true targets.</a:t>
            </a:r>
          </a:p>
          <a:p>
            <a:r>
              <a:t/>
            </a:r>
          </a:p>
          <a:p>
            <a:r>
              <a:t>error = mean_absolute_error(truth, extended_predictions)</a:t>
            </a:r>
          </a:p>
          <a:p>
            <a:r>
              <a:t>Evaluate the complete right-hand expression first, then assign its result to the name or selected field on the left.</a:t>
            </a:r>
          </a:p>
          <a:p>
            <a:r>
              <a:t/>
            </a:r>
          </a:p>
          <a:p>
            <a:r>
              <a:t>print(round(error, 6))</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Scaling changes units of comparison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Scaling changes units of comparison</a:t>
            </a:r>
          </a:p>
          <a:p>
            <a:r>
              <a:t>CML3112, Week 11, slide 22</a:t>
            </a:r>
          </a:p>
          <a:p>
            <a:r>
              <a:t/>
            </a:r>
          </a:p>
          <a:p>
            <a:r>
              <a:t>Explanation to give</a:t>
            </a:r>
          </a:p>
          <a:p>
            <a:r>
              <a:t>Scaling changes numerical ranges to make inputs comparable for algorithms that are sensitive to magnitude. Learn the scaling values from the training subset and apply the same transformation later.</a:t>
            </a:r>
          </a:p>
          <a:p>
            <a:r>
              <a:t/>
            </a:r>
          </a:p>
          <a:p>
            <a:r>
              <a:t>Worked illustration / lecturer answer</a:t>
            </a:r>
          </a:p>
          <a:p>
            <a:r>
              <a:t>Converting a length from metres to millimetres multiplies its numeric value by 1000 without changing the physical length. Standardisation uses training mean and standard deviation to express relative position.</a:t>
            </a:r>
          </a:p>
          <a:p>
            <a:r>
              <a:t/>
            </a:r>
          </a:p>
          <a:p>
            <a:r>
              <a:t>Misconception to address</a:t>
            </a:r>
          </a:p>
          <a:p>
            <a:r>
              <a:t>Scaling is not evidence that all features are equally useful. Never learn the scaler separately on validation or test observations.</a:t>
            </a:r>
          </a:p>
          <a:p>
            <a:r>
              <a:t/>
            </a:r>
          </a:p>
          <a:p>
            <a:r>
              <a:t>On this slide</a:t>
            </a:r>
          </a:p>
          <a:p>
            <a:r>
              <a:t>A distance calculation can be dominated by a feature with larger numerical values. Scaling puts feature values on a chosen numerical scale.</a:t>
            </a:r>
          </a:p>
          <a:p>
            <a:r>
              <a:t/>
            </a:r>
          </a:p>
          <a:p>
            <a:r>
              <a:t>One example is (value - training_min) / (training_max - training_min). With training limits 10 and 30, value 20 becomes 10 / 20 = 0.5.</a:t>
            </a:r>
          </a:p>
          <a:p>
            <a:r>
              <a:t/>
            </a:r>
          </a:p>
          <a:p>
            <a:r>
              <a:t>Use the same learned limits for new observations. A zero training range needs a defined handling rule. New values outside the training range may scale outside 0 to 1.</a:t>
            </a:r>
          </a:p>
          <a:p>
            <a:r>
              <a:t/>
            </a:r>
          </a:p>
          <a:p>
            <a:r>
              <a:t>Reference / existing resource</a:t>
            </a:r>
          </a:p>
          <a:p>
            <a:r>
              <a:t>https://docs.python.org/3/tutorial/introduction.html</a:t>
            </a:r>
          </a:p>
          <a:p>
            <a:r>
              <a:t>https://docs.python.org/3/tutorial/controlflow.html;</a:t>
            </a:r>
          </a:p>
          <a:p>
            <a:r>
              <a:t/>
            </a:r>
          </a:p>
          <a:p>
            <a:r>
              <a:t>Continue to</a:t>
            </a:r>
          </a:p>
          <a:p>
            <a:r>
              <a:t>Encoding and Scaling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Encoding and Scaling</a:t>
            </a:r>
          </a:p>
          <a:p>
            <a:r>
              <a:t>CML3112, Week 11, slide 23</a:t>
            </a:r>
          </a:p>
          <a:p>
            <a:r>
              <a:t/>
            </a:r>
          </a:p>
          <a:p>
            <a:r>
              <a:t>Explanation to give</a:t>
            </a:r>
          </a:p>
          <a:p>
            <a:r>
              <a:t>One-hot encoding gives each category its own indicator column. A row has a 1 in the column matching its category and 0 in the others.</a:t>
            </a:r>
          </a:p>
          <a:p>
            <a:r>
              <a:t/>
            </a:r>
          </a:p>
          <a:p>
            <a:r>
              <a:t>Worked illustration / lecturer answer</a:t>
            </a:r>
          </a:p>
          <a:p>
            <a:r>
              <a:t>For categories A and B, an A row becomes [1,0] and a B row becomes [0,1]. Assigning A=1 and B=2 could accidentally suggest a meaningful numerical distance or order.</a:t>
            </a:r>
          </a:p>
          <a:p>
            <a:r>
              <a:t/>
            </a:r>
          </a:p>
          <a:p>
            <a:r>
              <a:t>Misconception to address</a:t>
            </a:r>
          </a:p>
          <a:p>
            <a:r>
              <a:t>Fit the encoder on training data and define how to handle categories not seen during training. Do not invent an ordinal meaning for names.</a:t>
            </a:r>
          </a:p>
          <a:p>
            <a:r>
              <a:t/>
            </a:r>
          </a:p>
          <a:p>
            <a:r>
              <a:t>On this slide</a:t>
            </a:r>
          </a:p>
          <a:p>
            <a:r>
              <a:t>Encoding: Representing a category numerically. One-hot uses separate indicator columns. Arbitrary integer labels can falsely suggest an order.</a:t>
            </a:r>
          </a:p>
          <a:p>
            <a:r>
              <a:t>Scaling: Changing the numerical scale of features. Fit learned scaling on training data only. It matters for distance-based models but is not required by ordinary decision trees.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CML3112, Week 11, slide 24</a:t>
            </a:r>
          </a:p>
          <a:p>
            <a:r>
              <a:t/>
            </a:r>
          </a:p>
          <a:p>
            <a:r>
              <a:t>Explanation to give</a:t>
            </a:r>
          </a:p>
          <a:p>
            <a:r>
              <a:t>Use the displayed example as a short individual revision question, then explain the reasoning behind its answer.</a:t>
            </a:r>
          </a:p>
          <a:p>
            <a:r>
              <a:t/>
            </a:r>
          </a:p>
          <a:p>
            <a:r>
              <a:t>Worked illustration / lecturer answer</a:t>
            </a:r>
          </a:p>
          <a:p>
            <a:r>
              <a:t>Example: If the extended error becomes 3.4, calculate improvement and decide whether this evidence supports retaining the feature.</a:t>
            </a:r>
          </a:p>
          <a:p>
            <a:r>
              <a:t/>
            </a:r>
          </a:p>
          <a:p>
            <a:r>
              <a:t>Answer: Improvement is -0.4. This validation comparison does not support retaining it. One split is limited evidence; the final test remains untouched.</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CML3112, Week 11, slide 25</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W11 names four output features and a two-model ablation.</a:t>
            </a:r>
          </a:p>
          <a:p>
            <a:r>
              <a:t/>
            </a:r>
          </a:p>
          <a:p>
            <a:r>
              <a:t>Keep the original row order and full precision. Fit preprocessing on the training rows only.</a:t>
            </a:r>
          </a:p>
          <a:p>
            <a:r>
              <a:t/>
            </a:r>
          </a:p>
          <a:p>
            <a:r>
              <a:t>Use the supplied written scenario for the interpretation requested there.</a:t>
            </a:r>
          </a:p>
          <a:p>
            <a:r>
              <a:t/>
            </a:r>
          </a:p>
          <a:p>
            <a:r>
              <a:t>Do not substitute this practice example’s result.</a:t>
            </a:r>
          </a:p>
          <a:p>
            <a:r>
              <a:t/>
            </a:r>
          </a:p>
          <a:p>
            <a:r>
              <a:t>Continue to</a:t>
            </a:r>
          </a:p>
          <a:p>
            <a:r>
              <a:t>Features without misleading evaluation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Features without misleading evaluation</a:t>
            </a:r>
          </a:p>
          <a:p>
            <a:r>
              <a:t>CML3112, Week 11, slide 26</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Rescaling an input usually does not change the partitions available to an ordinary decision tree.</a:t>
            </a:r>
          </a:p>
          <a:p>
            <a:r>
              <a:t/>
            </a:r>
          </a:p>
          <a:p>
            <a:r>
              <a:t>An identifier or a future-known field can create an apparent improvement without useful predictive information.</a:t>
            </a:r>
          </a:p>
          <a:p>
            <a:r>
              <a:t/>
            </a:r>
          </a:p>
          <a:p>
            <a:r>
              <a:t>Dividing by zero can produce infinity or an error; decide what the denominator means before replacing it.</a:t>
            </a:r>
          </a:p>
          <a:p>
            <a:r>
              <a:t/>
            </a:r>
          </a:p>
          <a:p>
            <a:r>
              <a:t>Continue to</a:t>
            </a:r>
          </a:p>
          <a:p>
            <a:r>
              <a:t>Features without misleading evaluation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Features without misleading evaluation continued</a:t>
            </a:r>
          </a:p>
          <a:p>
            <a:r>
              <a:t>CML3112, Week 11, slide 27</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Read ablation differences using the same error definition, and explain features using domain knowledge.</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CML3112, Week 11, slide 28</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building cooling load.</a:t>
            </a:r>
          </a:p>
          <a:p>
            <a:r>
              <a:t/>
            </a:r>
          </a:p>
          <a:p>
            <a:r>
              <a:t>Target units: kW.</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make_features(feature_records)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make_features(feature_records)</a:t>
            </a:r>
          </a:p>
          <a:p>
            <a:r>
              <a:t>CML3112, Week 11, slide 29</a:t>
            </a:r>
          </a:p>
          <a:p>
            <a:r>
              <a:t/>
            </a:r>
          </a:p>
          <a:p>
            <a:r>
              <a:t>Explanation to give</a:t>
            </a:r>
          </a:p>
          <a:p>
            <a:r>
              <a:t>Create the requested numeric feature rows in the same order as the input records. Use only information available at prediction time.</a:t>
            </a:r>
          </a:p>
          <a:p>
            <a:r>
              <a:t/>
            </a:r>
          </a:p>
          <a:p>
            <a:r>
              <a:t>Worked illustration / lecturer answer</a:t>
            </a:r>
          </a:p>
          <a:p>
            <a:r>
              <a:t>Distinguish load_pct from load_pct/100. The task’s named interaction uses its exact published formula; a mathematically related alternative would still violate the interface.</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one feature row per input, in order: [load_pct, ambient_c, load_pct/100, load_pct*ambient_c].</a:t>
            </a:r>
          </a:p>
          <a:p>
            <a:r>
              <a:t/>
            </a:r>
          </a:p>
          <a:p>
            <a:r>
              <a:t>Use inputs available at prediction time only.</a:t>
            </a:r>
          </a:p>
          <a:p>
            <a:r>
              <a:t/>
            </a:r>
          </a:p>
          <a:p>
            <a:r>
              <a:t>Continue to</a:t>
            </a:r>
          </a:p>
          <a:p>
            <a:r>
              <a:t>ablation_metrics(training_records, validation_records)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ablation_metrics(training_records, validation_records)</a:t>
            </a:r>
          </a:p>
          <a:p>
            <a:r>
              <a:t>CML3112, Week 11, slide 30</a:t>
            </a:r>
          </a:p>
          <a:p>
            <a:r>
              <a:t/>
            </a:r>
          </a:p>
          <a:p>
            <a:r>
              <a:t>Explanation to give</a:t>
            </a:r>
          </a:p>
          <a:p>
            <a:r>
              <a:t>Compare the original and extended feature sets with the same training and validation observations and the same model protocol.</a:t>
            </a:r>
          </a:p>
          <a:p>
            <a:r>
              <a:t/>
            </a:r>
          </a:p>
          <a:p>
            <a:r>
              <a:t>Worked illustration / lecturer answer</a:t>
            </a:r>
          </a:p>
          <a:p>
            <a:r>
              <a:t>Return the specified metrics and improvement calculation. A reduction from MAE 5 to 4 is improvement 1, not -1, when the contract defines before minus after.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Fit two sklearn LinearRegression models on the same training records: base features [load_pct, ambient_c] and extended features adding load_pct*ambient_c.</a:t>
            </a:r>
          </a:p>
          <a:p>
            <a:r>
              <a:t/>
            </a:r>
          </a:p>
          <a:p>
            <a:r>
              <a:t>Evaluate both on the same validation records.</a:t>
            </a:r>
          </a:p>
          <a:p>
            <a:r>
              <a:t/>
            </a:r>
          </a:p>
          <a:p>
            <a:r>
              <a:t>Return base_mae, extended_mae and improvement=base_mae-extended_mae, without rounding.</a:t>
            </a:r>
          </a:p>
          <a:p>
            <a:r>
              <a:t/>
            </a:r>
          </a:p>
          <a:p>
            <a:r>
              <a:t>Inputs are complete; never fit on validation targets.</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CML3112, Week 11, slide 31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Features and ablation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Features and ablation submission</a:t>
            </a:r>
          </a:p>
          <a:p>
            <a:r>
              <a:t>CML3112, Week 11, slide 32</a:t>
            </a:r>
          </a:p>
          <a:p>
            <a:r>
              <a:t/>
            </a:r>
          </a:p>
          <a:p>
            <a:r>
              <a:t>Explanation to give</a:t>
            </a:r>
          </a:p>
          <a:p>
            <a:r>
              <a:t>This slide hands over CML3112 W11. Show the exact form title before uploading. The required packet is one completed .ipynb notebook.</a:t>
            </a:r>
          </a:p>
          <a:p>
            <a:r>
              <a:t/>
            </a:r>
          </a:p>
          <a:p>
            <a:r>
              <a:t>Worked illustration / lecturer answer</a:t>
            </a:r>
          </a:p>
          <a:p>
            <a:r>
              <a:t>The recorded cutoff for this form is 2026-11-24T11:00:00+03:00.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17 Nov 2026, 11:00 Kampala</a:t>
            </a:r>
          </a:p>
          <a:p>
            <a:r>
              <a:t/>
            </a:r>
          </a:p>
          <a:p>
            <a:r>
              <a:t>Deadline: 24 Nov 2026, 11:00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CML3112, Week 11, slide 33</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machine learning project brief.</a:t>
            </a:r>
          </a:p>
          <a:p>
            <a:r>
              <a:t/>
            </a:r>
          </a:p>
          <a:p>
            <a:r>
              <a:t>Build the evidence gradually in your project notebook.</a:t>
            </a:r>
          </a:p>
          <a:p>
            <a:r>
              <a:t/>
            </a:r>
          </a:p>
          <a:p>
            <a:r>
              <a:t>Keep raw data, labelled charts, run instructions and individual contributions.</a:t>
            </a:r>
          </a:p>
          <a:p>
            <a:r>
              <a:t/>
            </a:r>
          </a:p>
          <a:p>
            <a:r>
              <a:t>Published deadline: 15 Dec 2026, 11:00 Kampala</a:t>
            </a:r>
          </a:p>
          <a:p>
            <a:r>
              <a:t/>
            </a:r>
          </a:p>
          <a:p>
            <a:r>
              <a:t>Continue to</a:t>
            </a:r>
          </a:p>
          <a:p>
            <a:r>
              <a:t>Week 11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11 quiz</a:t>
            </a:r>
          </a:p>
          <a:p>
            <a:r>
              <a:t>CML3112, Week 11, slide 34</a:t>
            </a:r>
          </a:p>
          <a:p>
            <a:r>
              <a:t/>
            </a:r>
          </a:p>
          <a:p>
            <a:r>
              <a:t>Explanation to give</a:t>
            </a:r>
          </a:p>
          <a:p>
            <a:r>
              <a:t>This is the CML3112 Week 1 quiz. The student link opens the response form; it does not activate its window. In Quiz Controls use open_W1_CML3112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11, slide 35</a:t>
            </a:r>
          </a:p>
          <a:p>
            <a:r>
              <a:t/>
            </a:r>
          </a:p>
          <a:p>
            <a:r>
              <a:t>Explanation to give</a:t>
            </a:r>
          </a:p>
          <a:p>
            <a:r>
              <a:t>Explain why a calculated input may help and test the idea under an unchanged validation protocol.</a:t>
            </a:r>
          </a:p>
          <a:p>
            <a:r>
              <a:t/>
            </a:r>
          </a:p>
          <a:p>
            <a:r>
              <a:t>Worked illustration / lecturer answer</a:t>
            </a:r>
          </a:p>
          <a:p>
            <a:r>
              <a:t>If validation MAE falls from 5 to 4 after adding one feature, the reduction is 1 target unit, or 20%. A comparison on a different split cannot isolate that change.</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state the new feature’s meaning and calculate an improvement correctly.</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d3d8c658794bc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d7cd16b2c33400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0e64aa42d7a47c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e431358156441f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5c4c3032fc4d7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09e7af8d11a432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A0D1426-ED1E-42AE-8CD2-661F582881F0}"/>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ACB8233-12DF-4583-A166-3B54B059520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7BF8BEE9-A44D-4328-86D8-8DBF0A16D6F9}"/>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8AE76AE-3759-4420-B499-0D173F2DEA34}"/>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5546169D-4883-43CF-A842-A40D3C51809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CCE2876-00E9-4770-98A1-FA4CBC10E9B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7280AE3-7FA9-4CFA-A5D6-112A9B60D71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7BA2690E-E8DF-41FE-BCB8-ED319D2FFEA3}"/>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5DF7E0C-5165-4C21-9774-19A4DF0CE09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CB16614-C9A2-4A22-B720-F4360D70BE1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9E13DF5-14BE-479A-9DCA-73EA0483E4A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4B92670-190C-4896-8708-85DDEF99CC6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3023FB8-A8BD-4734-9E11-A4A3F1BB3C6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91B1A93-BFED-4A74-ABBF-A7B5EA04656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521E043-E0E0-4D2F-A6D1-09015B3E397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bdddfebc07140c2" /><Relationship Type="http://schemas.openxmlformats.org/officeDocument/2006/relationships/slideLayout" Target="/ppt/slideLayouts/slideLayout1.xml" Id="Rc602f8f45e7c4fa7" /><Relationship Type="http://schemas.openxmlformats.org/officeDocument/2006/relationships/slideLayout" Target="/ppt/slideLayouts/slideLayout2.xml" Id="R79d7e93093cc447a" /><Relationship Type="http://schemas.openxmlformats.org/officeDocument/2006/relationships/slideLayout" Target="/ppt/slideLayouts/slideLayout3.xml" Id="Ra646cdaa36e841ea" /><Relationship Type="http://schemas.openxmlformats.org/officeDocument/2006/relationships/slideLayout" Target="/ppt/slideLayouts/slideLayout4.xml" Id="R171783e7b1004d01" /><Relationship Type="http://schemas.openxmlformats.org/officeDocument/2006/relationships/slideLayout" Target="/ppt/slideLayouts/slideLayout5.xml" Id="R2a27c25a4d204850" /><Relationship Type="http://schemas.openxmlformats.org/officeDocument/2006/relationships/slideLayout" Target="/ppt/slideLayouts/slideLayout6.xml" Id="R59638b5411a044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602f8f45e7c4fa7"/>
    <p:sldLayoutId xmlns:r="http://schemas.openxmlformats.org/officeDocument/2006/relationships" id="2147483650" r:id="R79d7e93093cc447a"/>
    <p:sldLayoutId xmlns:r="http://schemas.openxmlformats.org/officeDocument/2006/relationships" id="2147483651" r:id="Ra646cdaa36e841ea"/>
    <p:sldLayoutId xmlns:r="http://schemas.openxmlformats.org/officeDocument/2006/relationships" id="2147483652" r:id="R171783e7b1004d01"/>
    <p:sldLayoutId xmlns:r="http://schemas.openxmlformats.org/officeDocument/2006/relationships" id="2147483653" r:id="R2a27c25a4d204850"/>
    <p:sldLayoutId xmlns:r="http://schemas.openxmlformats.org/officeDocument/2006/relationships" id="2147483654" r:id="R59638b5411a044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223735aecac42e1" /><Relationship Type="http://schemas.openxmlformats.org/officeDocument/2006/relationships/image" Target="/ppt/media/image.png" Id="Rc1f67f13ac8b4145" /><Relationship Type="http://schemas.openxmlformats.org/officeDocument/2006/relationships/notesSlide" Target="/ppt/notesSlides/notesSlide1.xml" Id="Ra43407763556413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7658a32e9a4464d" /><Relationship Type="http://schemas.openxmlformats.org/officeDocument/2006/relationships/notesSlide" Target="/ppt/notesSlides/notesSlide2.xml" Id="R2cf2c569b3d7466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7b23a5e8c204c2d" /><Relationship Type="http://schemas.openxmlformats.org/officeDocument/2006/relationships/notesSlide" Target="/ppt/notesSlides/notesSlide3.xml" Id="Rc017318105c04b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4287c55cace4018" /><Relationship Type="http://schemas.openxmlformats.org/officeDocument/2006/relationships/notesSlide" Target="/ppt/notesSlides/notesSlide4.xml" Id="Rcb0ddf9ae8f0418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dc8fa33c2354eed" /><Relationship Type="http://schemas.openxmlformats.org/officeDocument/2006/relationships/notesSlide" Target="/ppt/notesSlides/notesSlide5.xml" Id="Rd9d8901d214d4fc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dcc797ae91e4297" /><Relationship Type="http://schemas.openxmlformats.org/officeDocument/2006/relationships/notesSlide" Target="/ppt/notesSlides/notesSlide6.xml" Id="R5d77a6c20fc04e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ed7346f75f04c97" /><Relationship Type="http://schemas.openxmlformats.org/officeDocument/2006/relationships/notesSlide" Target="/ppt/notesSlides/notesSlide7.xml" Id="Rc02eb43e459e40b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9a6804e70834810" /><Relationship Type="http://schemas.openxmlformats.org/officeDocument/2006/relationships/image" Target="/ppt/media/image2.png" Id="Rabe167b7855646e0" /><Relationship Type="http://schemas.openxmlformats.org/officeDocument/2006/relationships/notesSlide" Target="/ppt/notesSlides/notesSlide8.xml" Id="Rcfb878d91ccf472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73e461f0d804834" /><Relationship Type="http://schemas.openxmlformats.org/officeDocument/2006/relationships/notesSlide" Target="/ppt/notesSlides/notesSlide9.xml" Id="R54579ef53fbc4cb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13bdc77468d42b8" /><Relationship Type="http://schemas.openxmlformats.org/officeDocument/2006/relationships/notesSlide" Target="/ppt/notesSlides/notesSlide10.xml" Id="R7dd427f0a24a489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e48fa75b14947e9" /><Relationship Type="http://schemas.openxmlformats.org/officeDocument/2006/relationships/notesSlide" Target="/ppt/notesSlides/notesSlide11.xml" Id="R05b36582ee47472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d8171dc43134415" /><Relationship Type="http://schemas.openxmlformats.org/officeDocument/2006/relationships/notesSlide" Target="/ppt/notesSlides/notesSlide12.xml" Id="R3e230127b82c458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1ca000ea7a34c46" /><Relationship Type="http://schemas.openxmlformats.org/officeDocument/2006/relationships/notesSlide" Target="/ppt/notesSlides/notesSlide13.xml" Id="R6c9e83a9281b4c9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23f543cc7de4352" /><Relationship Type="http://schemas.openxmlformats.org/officeDocument/2006/relationships/notesSlide" Target="/ppt/notesSlides/notesSlide14.xml" Id="Rb64b0209243740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452ac102cf54fc6" /><Relationship Type="http://schemas.openxmlformats.org/officeDocument/2006/relationships/notesSlide" Target="/ppt/notesSlides/notesSlide15.xml" Id="R4e8344a3b85a488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40bf731d1714b4d" /><Relationship Type="http://schemas.openxmlformats.org/officeDocument/2006/relationships/notesSlide" Target="/ppt/notesSlides/notesSlide16.xml" Id="Rf05d0016dfab4c4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76c193cf16f465a" /><Relationship Type="http://schemas.openxmlformats.org/officeDocument/2006/relationships/notesSlide" Target="/ppt/notesSlides/notesSlide17.xml" Id="Rac4bb16c72ff497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0885b3a19cb4de9" /><Relationship Type="http://schemas.openxmlformats.org/officeDocument/2006/relationships/notesSlide" Target="/ppt/notesSlides/notesSlide18.xml" Id="Rdde95cffccd44c3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5a58b21a8f44ba5" /><Relationship Type="http://schemas.openxmlformats.org/officeDocument/2006/relationships/notesSlide" Target="/ppt/notesSlides/notesSlide19.xml" Id="Ra4786ad08de843d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b55003276514e10" /><Relationship Type="http://schemas.openxmlformats.org/officeDocument/2006/relationships/notesSlide" Target="/ppt/notesSlides/notesSlide20.xml" Id="Rcaba3d050e354fa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bd4ec3d5aa14149" /><Relationship Type="http://schemas.openxmlformats.org/officeDocument/2006/relationships/notesSlide" Target="/ppt/notesSlides/notesSlide21.xml" Id="R3d19085172ff4d1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e75155bc24e49c1" /><Relationship Type="http://schemas.openxmlformats.org/officeDocument/2006/relationships/notesSlide" Target="/ppt/notesSlides/notesSlide22.xml" Id="R383c0f4ef7bc431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ce3e956d97b415d" /><Relationship Type="http://schemas.openxmlformats.org/officeDocument/2006/relationships/notesSlide" Target="/ppt/notesSlides/notesSlide23.xml" Id="R6dcf51835734470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ad0d80acb1543e5" /><Relationship Type="http://schemas.openxmlformats.org/officeDocument/2006/relationships/notesSlide" Target="/ppt/notesSlides/notesSlide24.xml" Id="Re7a9dede9a774cf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66060d263c640eb" /><Relationship Type="http://schemas.openxmlformats.org/officeDocument/2006/relationships/notesSlide" Target="/ppt/notesSlides/notesSlide25.xml" Id="R5cd51e9876a84fb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88dd4ac8b254d79" /><Relationship Type="http://schemas.openxmlformats.org/officeDocument/2006/relationships/notesSlide" Target="/ppt/notesSlides/notesSlide26.xml" Id="R191569c61b35459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629ae4752d7474c" /><Relationship Type="http://schemas.openxmlformats.org/officeDocument/2006/relationships/notesSlide" Target="/ppt/notesSlides/notesSlide27.xml" Id="R3f7186aecc42459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db7e8d0500b4947" /><Relationship Type="http://schemas.openxmlformats.org/officeDocument/2006/relationships/notesSlide" Target="/ppt/notesSlides/notesSlide28.xml" Id="R92ef5dc53215430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1ee74b1979746e4" /><Relationship Type="http://schemas.openxmlformats.org/officeDocument/2006/relationships/notesSlide" Target="/ppt/notesSlides/notesSlide29.xml" Id="R613e5f2da0974c0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bccab2d124a446a" /><Relationship Type="http://schemas.openxmlformats.org/officeDocument/2006/relationships/notesSlide" Target="/ppt/notesSlides/notesSlide30.xml" Id="R2337e87ee1be43d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d08f93fffa4d4b71" /><Relationship Type="http://schemas.openxmlformats.org/officeDocument/2006/relationships/notesSlide" Target="/ppt/notesSlides/notesSlide31.xml" Id="Ra141c577caac4a5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df744bbba544f96" /><Relationship Type="http://schemas.openxmlformats.org/officeDocument/2006/relationships/hyperlink" Target="https://docs.google.com/forms/d/e/1FAIpQLSfSqUcR9TgY7f1c7HXO9KGM3C2yXm1r7V2rQl2WEubwZir8iw/viewform" TargetMode="External" Id="R9c39d5436efb4b3b" /><Relationship Type="http://schemas.openxmlformats.org/officeDocument/2006/relationships/notesSlide" Target="/ppt/notesSlides/notesSlide32.xml" Id="R14813d4a11b94aa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02ed42ab994417a" /><Relationship Type="http://schemas.openxmlformats.org/officeDocument/2006/relationships/notesSlide" Target="/ppt/notesSlides/notesSlide33.xml" Id="Rc1b7f1af990c4d3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4c6806a48b114d60" /><Relationship Type="http://schemas.openxmlformats.org/officeDocument/2006/relationships/image" Target="/ppt/media/image3.png" Id="R6e89e552448c420e" /><Relationship Type="http://schemas.openxmlformats.org/officeDocument/2006/relationships/hyperlink" Target="https://forms.gle/FTSCoDUMmcwSYPc78" TargetMode="External" Id="Refeb714cd8b944c6" /><Relationship Type="http://schemas.openxmlformats.org/officeDocument/2006/relationships/notesSlide" Target="/ppt/notesSlides/notesSlide34.xml" Id="Rb00fffd5c1d4448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a81c11893c44391" /><Relationship Type="http://schemas.openxmlformats.org/officeDocument/2006/relationships/notesSlide" Target="/ppt/notesSlides/notesSlide35.xml" Id="R822d2f1dfa76497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1f67f13ac8b414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CEB5DFD-8367-4730-96EB-A1CBB607E33E}"/>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5C38D7E-E3EF-437C-A722-8B3A8034EC1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11</a:t>
            </a:r>
          </a:p>
        </p:txBody>
      </p:sp>
      <p:sp>
        <p:nvSpPr>
          <p:cNvPr id="4" name="">
            <a:extLst xmlns:a="http://schemas.openxmlformats.org/drawingml/2006/main">
              <a:ext uri="{FF2B5EF4-FFF2-40B4-BE49-F238E27FC236}">
                <a16:creationId xmlns:a16="http://schemas.microsoft.com/office/drawing/2014/main" id="{C0D18858-8879-45DC-A320-361458939DF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0EB69EAC-94A3-4548-99B7-D4C42661786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88986B13-FBB1-45C0-A0E6-E1F43F00334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778369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1D2A66A-FBB0-4F81-870F-67D50318A3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1BEC7F-65BD-4835-A9C7-CE0BE39879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034570C8-CA58-49E7-80DF-017BA0BC7F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063E85A-0BF8-4432-9CEC-F7D18579CB51}"/>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843FFC-E2AF-4E88-BC7C-4773567029D1}"/>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6670D41-3891-4282-84EA-70D7B661900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a feature from available measurements.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models with one controlled change.</a:t>
            </a:r>
          </a:p>
        </p:txBody>
      </p:sp>
      <p:sp>
        <p:nvSpPr>
          <p:cNvPr id="7" name="">
            <a:extLst xmlns:a="http://schemas.openxmlformats.org/drawingml/2006/main">
              <a:ext uri="{FF2B5EF4-FFF2-40B4-BE49-F238E27FC236}">
                <a16:creationId xmlns:a16="http://schemas.microsoft.com/office/drawing/2014/main" id="{FC637D89-4948-4047-BF4F-FA85DE5B44A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3CDD75A5-7FBD-4467-A69D-2B600063F49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state the new feature’s meaning and calculate an improvement correctly.</a:t>
            </a:r>
          </a:p>
        </p:txBody>
      </p:sp>
      <p:sp>
        <p:nvSpPr>
          <p:cNvPr id="9" name="">
            <a:extLst xmlns:a="http://schemas.openxmlformats.org/drawingml/2006/main">
              <a:ext uri="{FF2B5EF4-FFF2-40B4-BE49-F238E27FC236}">
                <a16:creationId xmlns:a16="http://schemas.microsoft.com/office/drawing/2014/main" id="{9CA61F2A-934C-4383-A548-20C5A4AD4C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a:t>
            </a:r>
          </a:p>
        </p:txBody>
      </p:sp>
    </p:spTree>
    <p:extLst>
      <p:ext uri="{BB962C8B-B14F-4D97-AF65-F5344CB8AC3E}">
        <p14:creationId xmlns:p14="http://schemas.microsoft.com/office/powerpoint/2010/main" val="40300438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9808F7-447E-4D56-A871-C490830673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E9A844-E8A6-4FDB-91B2-ECA8DE4E1F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638DFC-F995-4D79-B89A-FD80FAD9F1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DDDC0576-3734-49C4-AEFC-FD96C7F2859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194490-32AE-4308-84BF-AAB3447A307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keep evaluation data separate.</a:t>
            </a:r>
          </a:p>
        </p:txBody>
      </p:sp>
      <p:sp>
        <p:nvSpPr>
          <p:cNvPr id="6" name="">
            <a:extLst xmlns:a="http://schemas.openxmlformats.org/drawingml/2006/main">
              <a:ext uri="{FF2B5EF4-FFF2-40B4-BE49-F238E27FC236}">
                <a16:creationId xmlns:a16="http://schemas.microsoft.com/office/drawing/2014/main" id="{EAFBAAAE-117A-422F-8453-06BC5FFBE42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change one input representation while keeping the comparison protocol fixed.</a:t>
            </a:r>
          </a:p>
        </p:txBody>
      </p:sp>
      <p:sp>
        <p:nvSpPr>
          <p:cNvPr id="7" name="">
            <a:extLst xmlns:a="http://schemas.openxmlformats.org/drawingml/2006/main">
              <a:ext uri="{FF2B5EF4-FFF2-40B4-BE49-F238E27FC236}">
                <a16:creationId xmlns:a16="http://schemas.microsoft.com/office/drawing/2014/main" id="{B41E9305-84DD-4C04-92D9-1787A4BE3A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a:t>
            </a:r>
          </a:p>
        </p:txBody>
      </p:sp>
    </p:spTree>
    <p:extLst>
      <p:ext uri="{BB962C8B-B14F-4D97-AF65-F5344CB8AC3E}">
        <p14:creationId xmlns:p14="http://schemas.microsoft.com/office/powerpoint/2010/main" val="10788082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5CBCBC9-6774-4F5B-8074-4C87832FEE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34AB74-C8B4-4BEB-B41D-D76E7131E4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C8489F-AB42-433A-ACA4-FCBCBF32DC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9E344107-268E-4F7B-804B-D5EE0E0B600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28B533-6CFA-4666-A424-6D1DCBE5C69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calculated input may help a model.</a:t>
            </a:r>
          </a:p>
        </p:txBody>
      </p:sp>
      <p:sp>
        <p:nvSpPr>
          <p:cNvPr id="6" name="">
            <a:extLst xmlns:a="http://schemas.openxmlformats.org/drawingml/2006/main">
              <a:ext uri="{FF2B5EF4-FFF2-40B4-BE49-F238E27FC236}">
                <a16:creationId xmlns:a16="http://schemas.microsoft.com/office/drawing/2014/main" id="{165135FE-A738-4630-9EBE-B24CF73C70E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the original and extended inputs on the same observations, then decide whether the evidence supports the extra feature.</a:t>
            </a:r>
          </a:p>
        </p:txBody>
      </p:sp>
      <p:sp>
        <p:nvSpPr>
          <p:cNvPr id="7" name="">
            <a:extLst xmlns:a="http://schemas.openxmlformats.org/drawingml/2006/main">
              <a:ext uri="{FF2B5EF4-FFF2-40B4-BE49-F238E27FC236}">
                <a16:creationId xmlns:a16="http://schemas.microsoft.com/office/drawing/2014/main" id="{3BA3FD5A-D9DF-4D21-8741-028DCC64AE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4</a:t>
            </a:r>
          </a:p>
        </p:txBody>
      </p:sp>
    </p:spTree>
    <p:extLst>
      <p:ext uri="{BB962C8B-B14F-4D97-AF65-F5344CB8AC3E}">
        <p14:creationId xmlns:p14="http://schemas.microsoft.com/office/powerpoint/2010/main" val="12527593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A8DD28-91D2-4FDE-B6FF-C528C10BE6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EAA34C-0CE9-4284-AF88-194B63370D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8A9A89-BC68-4BC5-BA89-562D91A024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feature has a meaning</a:t>
            </a:r>
          </a:p>
        </p:txBody>
      </p:sp>
      <p:sp>
        <p:nvSpPr>
          <p:cNvPr id="4" name="">
            <a:extLst xmlns:a="http://schemas.openxmlformats.org/drawingml/2006/main">
              <a:ext uri="{FF2B5EF4-FFF2-40B4-BE49-F238E27FC236}">
                <a16:creationId xmlns:a16="http://schemas.microsoft.com/office/drawing/2014/main" id="{51D75338-CAF4-4DC3-B81F-97B19A4441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F8AB16-773B-4D84-B3C1-9431A428D34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an input available at prediction time.</a:t>
            </a:r>
          </a:p>
        </p:txBody>
      </p:sp>
      <p:sp>
        <p:nvSpPr>
          <p:cNvPr id="6" name="">
            <a:extLst xmlns:a="http://schemas.openxmlformats.org/drawingml/2006/main">
              <a:ext uri="{FF2B5EF4-FFF2-40B4-BE49-F238E27FC236}">
                <a16:creationId xmlns:a16="http://schemas.microsoft.com/office/drawing/2014/main" id="{A34A4C9B-F5E7-4B67-90AA-5E417CADFAB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732E1E8-3D83-4842-B9B5-671A26E3730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 to express a joint pattern.</a:t>
            </a:r>
          </a:p>
        </p:txBody>
      </p:sp>
      <p:sp>
        <p:nvSpPr>
          <p:cNvPr id="8" name="">
            <a:extLst xmlns:a="http://schemas.openxmlformats.org/drawingml/2006/main">
              <a:ext uri="{FF2B5EF4-FFF2-40B4-BE49-F238E27FC236}">
                <a16:creationId xmlns:a16="http://schemas.microsoft.com/office/drawing/2014/main" id="{BF7F81C6-89DF-45CF-8F82-648095BE173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7105A6-0061-49B2-A227-E93A7F716CA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better validation score can still reflect leakage.</a:t>
            </a:r>
          </a:p>
        </p:txBody>
      </p:sp>
      <p:sp>
        <p:nvSpPr>
          <p:cNvPr id="10" name="">
            <a:extLst xmlns:a="http://schemas.openxmlformats.org/drawingml/2006/main">
              <a:ext uri="{FF2B5EF4-FFF2-40B4-BE49-F238E27FC236}">
                <a16:creationId xmlns:a16="http://schemas.microsoft.com/office/drawing/2014/main" id="{CB12DE3D-6539-4772-9912-21A53FA7433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0300C2-CCE2-4211-9011-B5DBD9E25D9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observations and explain the physical meaning.</a:t>
            </a:r>
          </a:p>
        </p:txBody>
      </p:sp>
      <p:sp>
        <p:nvSpPr>
          <p:cNvPr id="12" name="">
            <a:extLst xmlns:a="http://schemas.openxmlformats.org/drawingml/2006/main">
              <a:ext uri="{FF2B5EF4-FFF2-40B4-BE49-F238E27FC236}">
                <a16:creationId xmlns:a16="http://schemas.microsoft.com/office/drawing/2014/main" id="{4184125D-D7B7-4A51-9E54-AD6DF9939C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5</a:t>
            </a:r>
          </a:p>
        </p:txBody>
      </p:sp>
    </p:spTree>
    <p:extLst>
      <p:ext uri="{BB962C8B-B14F-4D97-AF65-F5344CB8AC3E}">
        <p14:creationId xmlns:p14="http://schemas.microsoft.com/office/powerpoint/2010/main" val="9016270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2E28A2-B96A-45A8-A113-9B1BE7BE2B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01E278-8F2B-4035-BC1C-ED3A490AB7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EAC6CE6-9894-488D-8D9F-B6E46D9564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 and Ratio and interaction</a:t>
            </a:r>
          </a:p>
        </p:txBody>
      </p:sp>
      <p:sp>
        <p:nvSpPr>
          <p:cNvPr id="4" name="">
            <a:extLst xmlns:a="http://schemas.openxmlformats.org/drawingml/2006/main">
              <a:ext uri="{FF2B5EF4-FFF2-40B4-BE49-F238E27FC236}">
                <a16:creationId xmlns:a16="http://schemas.microsoft.com/office/drawing/2014/main" id="{95A2FD09-85FB-413F-9633-073FF6C4A4F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B948D1-5312-49AF-92D3-31903C05A1B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Derived feature</a:t>
            </a:r>
          </a:p>
        </p:txBody>
      </p:sp>
      <p:sp>
        <p:nvSpPr>
          <p:cNvPr id="6" name="">
            <a:extLst xmlns:a="http://schemas.openxmlformats.org/drawingml/2006/main">
              <a:ext uri="{FF2B5EF4-FFF2-40B4-BE49-F238E27FC236}">
                <a16:creationId xmlns:a16="http://schemas.microsoft.com/office/drawing/2014/main" id="{FDF419CB-E7D2-4D22-8F10-B72FE92FAD9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new input calculated from existing inputs. Its definition and unit must be stated.</a:t>
            </a:r>
          </a:p>
        </p:txBody>
      </p:sp>
      <p:sp>
        <p:nvSpPr>
          <p:cNvPr id="7" name="">
            <a:extLst xmlns:a="http://schemas.openxmlformats.org/drawingml/2006/main">
              <a:ext uri="{FF2B5EF4-FFF2-40B4-BE49-F238E27FC236}">
                <a16:creationId xmlns:a16="http://schemas.microsoft.com/office/drawing/2014/main" id="{9DD6315C-7382-4381-BA50-0D7AFC8235C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23FE5A7-0CC1-49AB-A366-68FF615952A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Ratio and interaction</a:t>
            </a:r>
          </a:p>
        </p:txBody>
      </p:sp>
      <p:sp>
        <p:nvSpPr>
          <p:cNvPr id="9" name="">
            <a:extLst xmlns:a="http://schemas.openxmlformats.org/drawingml/2006/main">
              <a:ext uri="{FF2B5EF4-FFF2-40B4-BE49-F238E27FC236}">
                <a16:creationId xmlns:a16="http://schemas.microsoft.com/office/drawing/2014/main" id="{BC22DAAD-DD7F-452C-9DA5-617B00298C7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ratio divides quantities; an interaction multiplies them. Both need a domain explanation and a unit check.</a:t>
            </a:r>
          </a:p>
        </p:txBody>
      </p:sp>
      <p:sp>
        <p:nvSpPr>
          <p:cNvPr id="10" name="">
            <a:extLst xmlns:a="http://schemas.openxmlformats.org/drawingml/2006/main">
              <a:ext uri="{FF2B5EF4-FFF2-40B4-BE49-F238E27FC236}">
                <a16:creationId xmlns:a16="http://schemas.microsoft.com/office/drawing/2014/main" id="{0E3C9E31-3CB3-4914-AE01-823394498A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6</a:t>
            </a:r>
          </a:p>
        </p:txBody>
      </p:sp>
    </p:spTree>
    <p:extLst>
      <p:ext uri="{BB962C8B-B14F-4D97-AF65-F5344CB8AC3E}">
        <p14:creationId xmlns:p14="http://schemas.microsoft.com/office/powerpoint/2010/main" val="24158077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3354AC-3C59-4F7F-9B19-F2C9F0CD55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90DD20-5346-4C0C-A6D5-19D0B3EB91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5120900-7E69-4CA5-A83E-184A552899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physical example across programmes</a:t>
            </a:r>
          </a:p>
        </p:txBody>
      </p:sp>
      <p:sp>
        <p:nvSpPr>
          <p:cNvPr id="4" name="">
            <a:extLst xmlns:a="http://schemas.openxmlformats.org/drawingml/2006/main">
              <a:ext uri="{FF2B5EF4-FFF2-40B4-BE49-F238E27FC236}">
                <a16:creationId xmlns:a16="http://schemas.microsoft.com/office/drawing/2014/main" id="{62B3A81E-8442-49AA-B3BC-B0018F0215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AC1B2D-C207-4726-A926-3B7CCDEA7FE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Current I is the flow of electric charge, measured in amperes (A). Resistance R opposes that flow, measured in ohms.</a:t>
            </a:r>
          </a:p>
        </p:txBody>
      </p:sp>
      <p:sp>
        <p:nvSpPr>
          <p:cNvPr id="6" name="">
            <a:extLst xmlns:a="http://schemas.openxmlformats.org/drawingml/2006/main">
              <a:ext uri="{FF2B5EF4-FFF2-40B4-BE49-F238E27FC236}">
                <a16:creationId xmlns:a16="http://schemas.microsoft.com/office/drawing/2014/main" id="{A95B1F7F-A96D-4F79-954D-A5B2E22107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C01244-FE06-4EFF-937D-E50FDFDD2F5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P is energy transferred per second, measured in watts (W). Resistive heating follows P = I²R in this example.</a:t>
            </a:r>
          </a:p>
        </p:txBody>
      </p:sp>
      <p:sp>
        <p:nvSpPr>
          <p:cNvPr id="8" name="">
            <a:extLst xmlns:a="http://schemas.openxmlformats.org/drawingml/2006/main">
              <a:ext uri="{FF2B5EF4-FFF2-40B4-BE49-F238E27FC236}">
                <a16:creationId xmlns:a16="http://schemas.microsoft.com/office/drawing/2014/main" id="{812715B2-C624-46CD-918C-31923D8F950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18D751-9B7E-4B1A-B7F6-D0E3E2BD23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I² means I × I. With I = 2 A and R = 3 ohms, P = 2 × 2 × 3 = 12 W. This relationship motivates a feature; evaluation still tests whether it helps.</a:t>
            </a:r>
          </a:p>
        </p:txBody>
      </p:sp>
      <p:sp>
        <p:nvSpPr>
          <p:cNvPr id="10" name="">
            <a:extLst xmlns:a="http://schemas.openxmlformats.org/drawingml/2006/main">
              <a:ext uri="{FF2B5EF4-FFF2-40B4-BE49-F238E27FC236}">
                <a16:creationId xmlns:a16="http://schemas.microsoft.com/office/drawing/2014/main" id="{8A9EC14A-E43F-4B39-9A1F-29129529AE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7</a:t>
            </a:r>
          </a:p>
        </p:txBody>
      </p:sp>
    </p:spTree>
    <p:extLst>
      <p:ext uri="{BB962C8B-B14F-4D97-AF65-F5344CB8AC3E}">
        <p14:creationId xmlns:p14="http://schemas.microsoft.com/office/powerpoint/2010/main" val="4056387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05A1C00-EA73-44F7-8379-78844C20435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943EA4-34FD-4C3B-BAA7-B6E80480C5D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be167b7855646e0"/>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B815DAC-1A91-46B2-B864-897B9DC5EB1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4C39BB-4BED-4082-AC6C-03E9E340754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result.</a:t>
            </a:r>
          </a:p>
        </p:txBody>
      </p:sp>
      <p:sp>
        <p:nvSpPr>
          <p:cNvPr id="6" name="">
            <a:extLst xmlns:a="http://schemas.openxmlformats.org/drawingml/2006/main">
              <a:ext uri="{FF2B5EF4-FFF2-40B4-BE49-F238E27FC236}">
                <a16:creationId xmlns:a16="http://schemas.microsoft.com/office/drawing/2014/main" id="{988011ED-8D46-4821-B3E4-4B33BDB2A1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8</a:t>
            </a:r>
          </a:p>
        </p:txBody>
      </p:sp>
    </p:spTree>
    <p:extLst>
      <p:ext uri="{BB962C8B-B14F-4D97-AF65-F5344CB8AC3E}">
        <p14:creationId xmlns:p14="http://schemas.microsoft.com/office/powerpoint/2010/main" val="186744548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F4ACF5-E7C4-4271-B3F3-DFA31102CD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C865D5-1DF3-41B8-B839-C40FAEDEE9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094A8F0-F03D-44CB-923C-AF7EC713D3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interaction uses two known inputs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Current A</a:t>
                      </a:r>
                    </a:p>
                  </a:txBody>
                  <a:tcPr marL="91440" marR="91440" marT="45720" marB="45720">
                    <a:solidFill>
                      <a:srgbClr val="2E7D6F"/>
                    </a:solidFill>
                  </a:tcPr>
                </a:tc>
                <a:tc>
                  <a:txBody>
                    <a:bodyPr/>
                    <a:lstStyle/>
                    <a:p>
                      <a:r>
                        <a:rPr sz="2025" b="1">
                          <a:solidFill>
                            <a:srgbClr val="FFFFFF"/>
                          </a:solidFill>
                          <a:latin typeface="Calibri"/>
                          <a:ea typeface="Calibri"/>
                          <a:cs typeface="Calibri"/>
                        </a:rPr>
                        <a:t>Resistance ohm</a:t>
                      </a:r>
                    </a:p>
                  </a:txBody>
                  <a:tcPr marL="91440" marR="91440" marT="45720" marB="45720">
                    <a:solidFill>
                      <a:srgbClr val="2E7D6F"/>
                    </a:solidFill>
                  </a:tcPr>
                </a:tc>
                <a:tc>
                  <a:txBody>
                    <a:bodyPr/>
                    <a:lstStyle/>
                    <a:p>
                      <a:r>
                        <a:rPr sz="2025" b="1">
                          <a:solidFill>
                            <a:srgbClr val="FFFFFF"/>
                          </a:solidFill>
                          <a:latin typeface="Calibri"/>
                          <a:ea typeface="Calibri"/>
                          <a:cs typeface="Calibri"/>
                        </a:rPr>
                        <a:t>I squared × R W</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C1A77D8-841B-41DF-8FBA-32A98022CBA0}"/>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derived input must be available when predicting. A useful physical relationship still needs validation.</a:t>
            </a:r>
          </a:p>
        </p:txBody>
      </p:sp>
      <p:sp>
        <p:nvSpPr>
          <p:cNvPr id="6" name="">
            <a:extLst xmlns:a="http://schemas.openxmlformats.org/drawingml/2006/main">
              <a:ext uri="{FF2B5EF4-FFF2-40B4-BE49-F238E27FC236}">
                <a16:creationId xmlns:a16="http://schemas.microsoft.com/office/drawing/2014/main" id="{ED0204F1-C649-4192-81CA-EDBA981856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9</a:t>
            </a:r>
          </a:p>
        </p:txBody>
      </p:sp>
    </p:spTree>
    <p:extLst>
      <p:ext uri="{BB962C8B-B14F-4D97-AF65-F5344CB8AC3E}">
        <p14:creationId xmlns:p14="http://schemas.microsoft.com/office/powerpoint/2010/main" val="170541213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A1E820-FE1A-4FD2-B24A-2945537E15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BFAC78-42F4-4A27-A614-FA079B4DAC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2DEEC9-DA15-485F-8E8D-0DDA6C3B8E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percentage and its fraction</a:t>
            </a:r>
          </a:p>
        </p:txBody>
      </p:sp>
      <p:sp>
        <p:nvSpPr>
          <p:cNvPr id="4" name="">
            <a:extLst xmlns:a="http://schemas.openxmlformats.org/drawingml/2006/main">
              <a:ext uri="{FF2B5EF4-FFF2-40B4-BE49-F238E27FC236}">
                <a16:creationId xmlns:a16="http://schemas.microsoft.com/office/drawing/2014/main" id="{46FCAF31-AF40-450D-BC7C-D8A0429B96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54EBD5-1E75-4BFD-A935-17581F3203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means 40 out of 100.</a:t>
            </a:r>
          </a:p>
        </p:txBody>
      </p:sp>
      <p:sp>
        <p:nvSpPr>
          <p:cNvPr id="6" name="">
            <a:extLst xmlns:a="http://schemas.openxmlformats.org/drawingml/2006/main">
              <a:ext uri="{FF2B5EF4-FFF2-40B4-BE49-F238E27FC236}">
                <a16:creationId xmlns:a16="http://schemas.microsoft.com/office/drawing/2014/main" id="{9777DCAE-4E53-494D-996D-2698BEBADCC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895D5D-6E09-41E3-8BAD-4ACFDC7F19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 100 gives 0.4.</a:t>
            </a:r>
          </a:p>
        </p:txBody>
      </p:sp>
      <p:sp>
        <p:nvSpPr>
          <p:cNvPr id="8" name="">
            <a:extLst xmlns:a="http://schemas.openxmlformats.org/drawingml/2006/main">
              <a:ext uri="{FF2B5EF4-FFF2-40B4-BE49-F238E27FC236}">
                <a16:creationId xmlns:a16="http://schemas.microsoft.com/office/drawing/2014/main" id="{791376FD-9F5F-40CC-BCFC-0CCE2F19439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2F6370-B14E-4AC2-A233-37ADD00B928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changes the representation. It adds no new observation.</a:t>
            </a:r>
          </a:p>
        </p:txBody>
      </p:sp>
      <p:sp>
        <p:nvSpPr>
          <p:cNvPr id="10" name="">
            <a:extLst xmlns:a="http://schemas.openxmlformats.org/drawingml/2006/main">
              <a:ext uri="{FF2B5EF4-FFF2-40B4-BE49-F238E27FC236}">
                <a16:creationId xmlns:a16="http://schemas.microsoft.com/office/drawing/2014/main" id="{CA4AC861-14E9-410A-AD67-60AC95C240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10</a:t>
            </a:r>
          </a:p>
        </p:txBody>
      </p:sp>
    </p:spTree>
    <p:extLst>
      <p:ext uri="{BB962C8B-B14F-4D97-AF65-F5344CB8AC3E}">
        <p14:creationId xmlns:p14="http://schemas.microsoft.com/office/powerpoint/2010/main" val="122183821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18ECD3-04CE-4DF7-B5DF-CC28FF4362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31DBE2-0D78-44B0-921D-C698775003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A49883-5F54-4B14-8ED4-F520C5B046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combined input needs a reason</a:t>
            </a:r>
          </a:p>
        </p:txBody>
      </p:sp>
      <p:sp>
        <p:nvSpPr>
          <p:cNvPr id="4" name="">
            <a:extLst xmlns:a="http://schemas.openxmlformats.org/drawingml/2006/main">
              <a:ext uri="{FF2B5EF4-FFF2-40B4-BE49-F238E27FC236}">
                <a16:creationId xmlns:a16="http://schemas.microsoft.com/office/drawing/2014/main" id="{52CD1501-91DB-42FD-8E66-89B67FD2CB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091562-D065-4D39-827F-BD138D49E65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a:t>
            </a:r>
          </a:p>
        </p:txBody>
      </p:sp>
      <p:sp>
        <p:nvSpPr>
          <p:cNvPr id="6" name="">
            <a:extLst xmlns:a="http://schemas.openxmlformats.org/drawingml/2006/main">
              <a:ext uri="{FF2B5EF4-FFF2-40B4-BE49-F238E27FC236}">
                <a16:creationId xmlns:a16="http://schemas.microsoft.com/office/drawing/2014/main" id="{6E5E5F99-79E2-4CA1-8FA1-8DC817D24EB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4CE132-431A-4088-B3FF-C8CA3323C65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may help a simple model represent a joint pattern.</a:t>
            </a:r>
          </a:p>
        </p:txBody>
      </p:sp>
      <p:sp>
        <p:nvSpPr>
          <p:cNvPr id="8" name="">
            <a:extLst xmlns:a="http://schemas.openxmlformats.org/drawingml/2006/main">
              <a:ext uri="{FF2B5EF4-FFF2-40B4-BE49-F238E27FC236}">
                <a16:creationId xmlns:a16="http://schemas.microsoft.com/office/drawing/2014/main" id="{6DA0EDD1-A6B9-48FE-968B-759DE0ECE4D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891C9B-553B-4DC1-8F8F-1D05A0B7579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with degrees Celsius is an empirical feature, not automatically a physical law.</a:t>
            </a:r>
          </a:p>
        </p:txBody>
      </p:sp>
      <p:sp>
        <p:nvSpPr>
          <p:cNvPr id="10" name="">
            <a:extLst xmlns:a="http://schemas.openxmlformats.org/drawingml/2006/main">
              <a:ext uri="{FF2B5EF4-FFF2-40B4-BE49-F238E27FC236}">
                <a16:creationId xmlns:a16="http://schemas.microsoft.com/office/drawing/2014/main" id="{504DDF58-9BD1-4FFC-AD24-EEB38C4981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11</a:t>
            </a:r>
          </a:p>
        </p:txBody>
      </p:sp>
    </p:spTree>
    <p:extLst>
      <p:ext uri="{BB962C8B-B14F-4D97-AF65-F5344CB8AC3E}">
        <p14:creationId xmlns:p14="http://schemas.microsoft.com/office/powerpoint/2010/main" val="16031157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BAA277-E21C-4B41-8DF0-166EA5AC92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9B4101-A24F-4E12-9FDE-036CD4AC6A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BA14F54-0837-4E81-8DEE-5CE5105EF8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and Improvement</a:t>
            </a:r>
          </a:p>
        </p:txBody>
      </p:sp>
      <p:sp>
        <p:nvSpPr>
          <p:cNvPr id="4" name="">
            <a:extLst xmlns:a="http://schemas.openxmlformats.org/drawingml/2006/main">
              <a:ext uri="{FF2B5EF4-FFF2-40B4-BE49-F238E27FC236}">
                <a16:creationId xmlns:a16="http://schemas.microsoft.com/office/drawing/2014/main" id="{49834B1B-8BDB-4D84-9D5A-1C586F6ACE0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657F66-33D4-46C5-8A8C-01D712F26D1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Ablation</a:t>
            </a:r>
          </a:p>
        </p:txBody>
      </p:sp>
      <p:sp>
        <p:nvSpPr>
          <p:cNvPr id="6" name="">
            <a:extLst xmlns:a="http://schemas.openxmlformats.org/drawingml/2006/main">
              <a:ext uri="{FF2B5EF4-FFF2-40B4-BE49-F238E27FC236}">
                <a16:creationId xmlns:a16="http://schemas.microsoft.com/office/drawing/2014/main" id="{0E02A246-C74F-48BA-A595-5D583BADF1C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Compare a model with and without a feature while keeping the data partitions, model family and metric fixed.</a:t>
            </a:r>
          </a:p>
        </p:txBody>
      </p:sp>
      <p:sp>
        <p:nvSpPr>
          <p:cNvPr id="7" name="">
            <a:extLst xmlns:a="http://schemas.openxmlformats.org/drawingml/2006/main">
              <a:ext uri="{FF2B5EF4-FFF2-40B4-BE49-F238E27FC236}">
                <a16:creationId xmlns:a16="http://schemas.microsoft.com/office/drawing/2014/main" id="{D358FD28-CAC7-46E0-A789-59A83FD2ED3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FEB4B66-C910-4D0B-8141-4355EB129D1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Improvement</a:t>
            </a:r>
          </a:p>
        </p:txBody>
      </p:sp>
      <p:sp>
        <p:nvSpPr>
          <p:cNvPr id="9" name="">
            <a:extLst xmlns:a="http://schemas.openxmlformats.org/drawingml/2006/main">
              <a:ext uri="{FF2B5EF4-FFF2-40B4-BE49-F238E27FC236}">
                <a16:creationId xmlns:a16="http://schemas.microsoft.com/office/drawing/2014/main" id="{8FE3FDA4-D053-44B7-9F20-FBE55286C5B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an error metric, baseline error minus new error. A negative result means the added feature worsened validation error in that comparison.</a:t>
            </a:r>
          </a:p>
        </p:txBody>
      </p:sp>
      <p:sp>
        <p:nvSpPr>
          <p:cNvPr id="10" name="">
            <a:extLst xmlns:a="http://schemas.openxmlformats.org/drawingml/2006/main">
              <a:ext uri="{FF2B5EF4-FFF2-40B4-BE49-F238E27FC236}">
                <a16:creationId xmlns:a16="http://schemas.microsoft.com/office/drawing/2014/main" id="{C82BCE9F-E9A0-49FC-A5B2-72135B02C3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12</a:t>
            </a:r>
          </a:p>
        </p:txBody>
      </p:sp>
    </p:spTree>
    <p:extLst>
      <p:ext uri="{BB962C8B-B14F-4D97-AF65-F5344CB8AC3E}">
        <p14:creationId xmlns:p14="http://schemas.microsoft.com/office/powerpoint/2010/main" val="3567155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EAE2CE8-BBFE-4B57-BC20-C3AC1D6E86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100E8D-F03A-48FF-A743-99CF94823B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43EDD03-0306-4009-827D-A87ECA7529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change makes a comparison interpretable</a:t>
            </a:r>
          </a:p>
        </p:txBody>
      </p:sp>
      <p:sp>
        <p:nvSpPr>
          <p:cNvPr id="4" name="">
            <a:extLst xmlns:a="http://schemas.openxmlformats.org/drawingml/2006/main">
              <a:ext uri="{FF2B5EF4-FFF2-40B4-BE49-F238E27FC236}">
                <a16:creationId xmlns:a16="http://schemas.microsoft.com/office/drawing/2014/main" id="{7B6DCF1C-FA79-42AE-911A-7E5F6DEF66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BACA95B-6BFF-4984-B98E-87D9F617595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is 3.0. Extended MAE is 2.5.</a:t>
            </a:r>
          </a:p>
        </p:txBody>
      </p:sp>
      <p:sp>
        <p:nvSpPr>
          <p:cNvPr id="6" name="">
            <a:extLst xmlns:a="http://schemas.openxmlformats.org/drawingml/2006/main">
              <a:ext uri="{FF2B5EF4-FFF2-40B4-BE49-F238E27FC236}">
                <a16:creationId xmlns:a16="http://schemas.microsoft.com/office/drawing/2014/main" id="{953B5920-63BA-4C06-85E5-F822A93294E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708D4F-3D2A-418C-B039-A624E8E0068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Improvement = base error minus extended error = 0.5.</a:t>
            </a:r>
          </a:p>
        </p:txBody>
      </p:sp>
      <p:sp>
        <p:nvSpPr>
          <p:cNvPr id="8" name="">
            <a:extLst xmlns:a="http://schemas.openxmlformats.org/drawingml/2006/main">
              <a:ext uri="{FF2B5EF4-FFF2-40B4-BE49-F238E27FC236}">
                <a16:creationId xmlns:a16="http://schemas.microsoft.com/office/drawing/2014/main" id="{899D2DE3-A855-4FC2-96CB-8DABF6FA8FD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6FF539-3EA8-4A78-B91F-7449669B3B3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training rows, validation rows, model family and metric fixed.</a:t>
            </a:r>
          </a:p>
        </p:txBody>
      </p:sp>
      <p:sp>
        <p:nvSpPr>
          <p:cNvPr id="10" name="">
            <a:extLst xmlns:a="http://schemas.openxmlformats.org/drawingml/2006/main">
              <a:ext uri="{FF2B5EF4-FFF2-40B4-BE49-F238E27FC236}">
                <a16:creationId xmlns:a16="http://schemas.microsoft.com/office/drawing/2014/main" id="{DA7733BE-208A-4CB5-A103-6D83D0C0CF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13</a:t>
            </a:r>
          </a:p>
        </p:txBody>
      </p:sp>
    </p:spTree>
    <p:extLst>
      <p:ext uri="{BB962C8B-B14F-4D97-AF65-F5344CB8AC3E}">
        <p14:creationId xmlns:p14="http://schemas.microsoft.com/office/powerpoint/2010/main" val="73574956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0A63B4-7804-4EF6-B8DC-AF1D71BE0D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A3AC6D-2CB5-4107-A3EA-473CCF925E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2126560-DB14-43EB-9E3E-7099783E08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in Python</a:t>
            </a:r>
          </a:p>
        </p:txBody>
      </p:sp>
      <p:sp>
        <p:nvSpPr>
          <p:cNvPr id="4" name="">
            <a:extLst xmlns:a="http://schemas.openxmlformats.org/drawingml/2006/main">
              <a:ext uri="{FF2B5EF4-FFF2-40B4-BE49-F238E27FC236}">
                <a16:creationId xmlns:a16="http://schemas.microsoft.com/office/drawing/2014/main" id="{8EC23C0F-EDFF-4848-BB6C-898F0CA6E32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8D0855-0628-482F-B587-2BB84A2E306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load_pct = 40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ambient_c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load_fraction = load_pct /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interaction = load_pct * ambient_c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print(load_fraction, interaction)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base_mae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extended_mae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print(base_mae - extended_mae)</a:t>
            </a:r>
          </a:p>
        </p:txBody>
      </p:sp>
      <p:sp>
        <p:nvSpPr>
          <p:cNvPr id="6" name="">
            <a:extLst xmlns:a="http://schemas.openxmlformats.org/drawingml/2006/main">
              <a:ext uri="{FF2B5EF4-FFF2-40B4-BE49-F238E27FC236}">
                <a16:creationId xmlns:a16="http://schemas.microsoft.com/office/drawing/2014/main" id="{1AC84D5E-A240-426B-9FF9-B5A7EA658F6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9EC88DA-6AF8-42BD-928C-68674163C4B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E8E66019-6A30-4075-B9A7-52A6AB4466E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4A5D0A64-0B62-4EEC-8AF1-69B3CC16E9E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06B25B60-14B9-40B6-88E7-126C9B68B5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14</a:t>
            </a:r>
          </a:p>
        </p:txBody>
      </p:sp>
    </p:spTree>
    <p:extLst>
      <p:ext uri="{BB962C8B-B14F-4D97-AF65-F5344CB8AC3E}">
        <p14:creationId xmlns:p14="http://schemas.microsoft.com/office/powerpoint/2010/main" val="179553399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105404-A5D2-46E5-9FE2-1A4970D8F5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9221F4-C0EC-4975-96E2-C6915AA0A5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20B40B4A-82DE-4A77-B8E7-C6A6AD5E63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results</a:t>
            </a:r>
          </a:p>
        </p:txBody>
      </p:sp>
      <p:sp>
        <p:nvSpPr>
          <p:cNvPr id="4" name="">
            <a:extLst xmlns:a="http://schemas.openxmlformats.org/drawingml/2006/main">
              <a:ext uri="{FF2B5EF4-FFF2-40B4-BE49-F238E27FC236}">
                <a16:creationId xmlns:a16="http://schemas.microsoft.com/office/drawing/2014/main" id="{28BB4C9F-49C9-48EA-A85B-70D2F9FD412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7314F2-1432-446A-848D-F098E1102B6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0.4 1000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0.5</a:t>
            </a:r>
          </a:p>
        </p:txBody>
      </p:sp>
      <p:sp>
        <p:nvSpPr>
          <p:cNvPr id="6" name="">
            <a:extLst xmlns:a="http://schemas.openxmlformats.org/drawingml/2006/main">
              <a:ext uri="{FF2B5EF4-FFF2-40B4-BE49-F238E27FC236}">
                <a16:creationId xmlns:a16="http://schemas.microsoft.com/office/drawing/2014/main" id="{9ED1D4D9-7271-4D21-80E9-C9D7C31E62B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F8314017-D8A5-4EDC-BA1F-0DE33EA835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15</a:t>
            </a:r>
          </a:p>
        </p:txBody>
      </p:sp>
    </p:spTree>
    <p:extLst>
      <p:ext uri="{BB962C8B-B14F-4D97-AF65-F5344CB8AC3E}">
        <p14:creationId xmlns:p14="http://schemas.microsoft.com/office/powerpoint/2010/main" val="96517118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CF1EDD-2D48-46F2-B633-3CAECB1A9A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724F6C-FCA3-4157-82F8-FCA2B7A4A6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86EACF-8CF6-4660-9E06-DEA1922672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two-model experiment</a:t>
            </a:r>
          </a:p>
        </p:txBody>
      </p:sp>
      <p:sp>
        <p:nvSpPr>
          <p:cNvPr id="4" name="">
            <a:extLst xmlns:a="http://schemas.openxmlformats.org/drawingml/2006/main">
              <a:ext uri="{FF2B5EF4-FFF2-40B4-BE49-F238E27FC236}">
                <a16:creationId xmlns:a16="http://schemas.microsoft.com/office/drawing/2014/main" id="{23F2E732-30A6-42B4-A4E3-D385B42BFDE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9A49D6-2760-4387-B84F-1067E80F5B5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a pair of inputs. for a, b in rows assigns the first entry to a and the second to b, then repeats the block.</a:t>
            </a:r>
          </a:p>
        </p:txBody>
      </p:sp>
      <p:sp>
        <p:nvSpPr>
          <p:cNvPr id="6" name="">
            <a:extLst xmlns:a="http://schemas.openxmlformats.org/drawingml/2006/main">
              <a:ext uri="{FF2B5EF4-FFF2-40B4-BE49-F238E27FC236}">
                <a16:creationId xmlns:a16="http://schemas.microsoft.com/office/drawing/2014/main" id="{4FD17E52-285B-4501-BB38-83CEF7C7EB9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780A76-5DA9-45FD-9CA5-130FBA73C05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with_interaction returns a new table containing a, b and a × b. Both models keep the same training and validation rows.</a:t>
            </a:r>
          </a:p>
        </p:txBody>
      </p:sp>
      <p:sp>
        <p:nvSpPr>
          <p:cNvPr id="8" name="">
            <a:extLst xmlns:a="http://schemas.openxmlformats.org/drawingml/2006/main">
              <a:ext uri="{FF2B5EF4-FFF2-40B4-BE49-F238E27FC236}">
                <a16:creationId xmlns:a16="http://schemas.microsoft.com/office/drawing/2014/main" id="{CD74B070-62F5-4ED3-B490-B8F0B960CD8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26B3E2-539B-471E-A0AF-4E5AF46A12D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the model first, then call fit on the next line. round(value, 6) rounds a displayed number to six decimal places; retain full precision for calculations.</a:t>
            </a:r>
          </a:p>
        </p:txBody>
      </p:sp>
      <p:sp>
        <p:nvSpPr>
          <p:cNvPr id="10" name="">
            <a:extLst xmlns:a="http://schemas.openxmlformats.org/drawingml/2006/main">
              <a:ext uri="{FF2B5EF4-FFF2-40B4-BE49-F238E27FC236}">
                <a16:creationId xmlns:a16="http://schemas.microsoft.com/office/drawing/2014/main" id="{19D4012D-6006-4898-90E3-452F7A6727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16</a:t>
            </a:r>
          </a:p>
        </p:txBody>
      </p:sp>
    </p:spTree>
    <p:extLst>
      <p:ext uri="{BB962C8B-B14F-4D97-AF65-F5344CB8AC3E}">
        <p14:creationId xmlns:p14="http://schemas.microsoft.com/office/powerpoint/2010/main" val="3367305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6AB967-3C1B-49EF-86C8-D7E67DE593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068E91-4D17-4E61-A2C2-336306E3B4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F9D598-E497-4725-9656-DBF58AAB67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interaction-building function</a:t>
            </a:r>
          </a:p>
        </p:txBody>
      </p:sp>
      <p:sp>
        <p:nvSpPr>
          <p:cNvPr id="4" name="">
            <a:extLst xmlns:a="http://schemas.openxmlformats.org/drawingml/2006/main">
              <a:ext uri="{FF2B5EF4-FFF2-40B4-BE49-F238E27FC236}">
                <a16:creationId xmlns:a16="http://schemas.microsoft.com/office/drawing/2014/main" id="{B1B74D4C-70EB-4CD6-825F-BA6C236E79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8602E0-E53D-47BE-A703-DC25BF4290A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two inputs. for a, b in rows: assigns them to a and b. [a, b, a * b] builds a new row with their product as a third input.</a:t>
            </a:r>
          </a:p>
        </p:txBody>
      </p:sp>
      <p:sp>
        <p:nvSpPr>
          <p:cNvPr id="6" name="">
            <a:extLst xmlns:a="http://schemas.openxmlformats.org/drawingml/2006/main">
              <a:ext uri="{FF2B5EF4-FFF2-40B4-BE49-F238E27FC236}">
                <a16:creationId xmlns:a16="http://schemas.microsoft.com/office/drawing/2014/main" id="{7236DFA1-690E-4BCF-B5E8-3CAAF97CC45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C3EA97-0DB1-4FD4-9A2E-AFEACDA75D1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[2, 3], append [2, 3, 6]. For row [4, 5], append [4, 5, 20]. The function returns the newly built list of rows.</a:t>
            </a:r>
          </a:p>
        </p:txBody>
      </p:sp>
      <p:sp>
        <p:nvSpPr>
          <p:cNvPr id="8" name="">
            <a:extLst xmlns:a="http://schemas.openxmlformats.org/drawingml/2006/main">
              <a:ext uri="{FF2B5EF4-FFF2-40B4-BE49-F238E27FC236}">
                <a16:creationId xmlns:a16="http://schemas.microsoft.com/office/drawing/2014/main" id="{8D635E15-F681-4280-9C2B-91BA873E9CD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DD04AA-8C92-4BD9-ABAB-1F20923C11A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same function must transform both training and validation inputs. It uses no target values to construct the new feature.</a:t>
            </a:r>
          </a:p>
        </p:txBody>
      </p:sp>
      <p:sp>
        <p:nvSpPr>
          <p:cNvPr id="10" name="">
            <a:extLst xmlns:a="http://schemas.openxmlformats.org/drawingml/2006/main">
              <a:ext uri="{FF2B5EF4-FFF2-40B4-BE49-F238E27FC236}">
                <a16:creationId xmlns:a16="http://schemas.microsoft.com/office/drawing/2014/main" id="{9EBD4E13-B26D-44D8-8CFA-E5876BE6B8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17</a:t>
            </a:r>
          </a:p>
        </p:txBody>
      </p:sp>
    </p:spTree>
    <p:extLst>
      <p:ext uri="{BB962C8B-B14F-4D97-AF65-F5344CB8AC3E}">
        <p14:creationId xmlns:p14="http://schemas.microsoft.com/office/powerpoint/2010/main" val="135523609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F19738-7DB3-4586-8E8B-E49D50692A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555012-AAE7-44E8-8DB1-E71270623A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B19A88-8CBE-44F6-8852-A6A46FAD01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a:t>
            </a:r>
          </a:p>
        </p:txBody>
      </p:sp>
      <p:sp>
        <p:nvSpPr>
          <p:cNvPr id="4" name="">
            <a:extLst xmlns:a="http://schemas.openxmlformats.org/drawingml/2006/main">
              <a:ext uri="{FF2B5EF4-FFF2-40B4-BE49-F238E27FC236}">
                <a16:creationId xmlns:a16="http://schemas.microsoft.com/office/drawing/2014/main" id="{B1FF1B80-C736-4909-9405-0E086E8615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CD17BD-E568-4C15-9FED-38833420007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this complete practice experiment in a fresh session.</a:t>
            </a:r>
          </a:p>
        </p:txBody>
      </p:sp>
      <p:sp>
        <p:nvSpPr>
          <p:cNvPr id="6" name="">
            <a:extLst xmlns:a="http://schemas.openxmlformats.org/drawingml/2006/main">
              <a:ext uri="{FF2B5EF4-FFF2-40B4-BE49-F238E27FC236}">
                <a16:creationId xmlns:a16="http://schemas.microsoft.com/office/drawing/2014/main" id="{386B6158-00E8-4CB9-BE32-5D9DBFBDB65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1F3FC7-40A0-44A7-A99A-3BD725D3E0F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models use the same rows and targets; the second receives one additional input.</a:t>
            </a:r>
          </a:p>
        </p:txBody>
      </p:sp>
      <p:sp>
        <p:nvSpPr>
          <p:cNvPr id="8" name="">
            <a:extLst xmlns:a="http://schemas.openxmlformats.org/drawingml/2006/main">
              <a:ext uri="{FF2B5EF4-FFF2-40B4-BE49-F238E27FC236}">
                <a16:creationId xmlns:a16="http://schemas.microsoft.com/office/drawing/2014/main" id="{0D699D89-4B23-46B9-80F4-AE8C2944359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3F0E8A0-FB09-4469-AD84-CADD325BAAE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column before fitting.</a:t>
            </a:r>
          </a:p>
        </p:txBody>
      </p:sp>
      <p:sp>
        <p:nvSpPr>
          <p:cNvPr id="10" name="">
            <a:extLst xmlns:a="http://schemas.openxmlformats.org/drawingml/2006/main">
              <a:ext uri="{FF2B5EF4-FFF2-40B4-BE49-F238E27FC236}">
                <a16:creationId xmlns:a16="http://schemas.microsoft.com/office/drawing/2014/main" id="{429E8974-B9C3-423A-950A-851D83595D0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6EEBF4-B4FF-4162-9D00-BF547C48F01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invented experiment illustrates procedure, not a measured engineering benefit.</a:t>
            </a:r>
          </a:p>
        </p:txBody>
      </p:sp>
      <p:sp>
        <p:nvSpPr>
          <p:cNvPr id="12" name="">
            <a:extLst xmlns:a="http://schemas.openxmlformats.org/drawingml/2006/main">
              <a:ext uri="{FF2B5EF4-FFF2-40B4-BE49-F238E27FC236}">
                <a16:creationId xmlns:a16="http://schemas.microsoft.com/office/drawing/2014/main" id="{5D87A706-703C-448D-9AC3-013A92E46B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18</a:t>
            </a:r>
          </a:p>
        </p:txBody>
      </p:sp>
    </p:spTree>
    <p:extLst>
      <p:ext uri="{BB962C8B-B14F-4D97-AF65-F5344CB8AC3E}">
        <p14:creationId xmlns:p14="http://schemas.microsoft.com/office/powerpoint/2010/main" val="6456368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596570-273F-48B2-8CD8-7494BF8679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D3BD77-4C6B-4D44-9014-6057909082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5146433-CAAE-4A57-9A0D-5AA3872059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(1/3)</a:t>
            </a:r>
          </a:p>
        </p:txBody>
      </p:sp>
      <p:sp>
        <p:nvSpPr>
          <p:cNvPr id="4" name="">
            <a:extLst xmlns:a="http://schemas.openxmlformats.org/drawingml/2006/main">
              <a:ext uri="{FF2B5EF4-FFF2-40B4-BE49-F238E27FC236}">
                <a16:creationId xmlns:a16="http://schemas.microsoft.com/office/drawing/2014/main" id="{9E6D5963-B6F2-43A5-937D-424802BB13E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1EF8FC-BBF5-42B2-8297-55172C1FCC7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sklearn.metrics import mean_absolute_error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 = [[1, 2], [2, 3], [3, 2], [4, 4], [5,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[3, 5, 5, 8,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validation = [[2, 2], [3,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truth = [4, 6]</a:t>
            </a:r>
          </a:p>
        </p:txBody>
      </p:sp>
      <p:sp>
        <p:nvSpPr>
          <p:cNvPr id="6" name="">
            <a:extLst xmlns:a="http://schemas.openxmlformats.org/drawingml/2006/main">
              <a:ext uri="{FF2B5EF4-FFF2-40B4-BE49-F238E27FC236}">
                <a16:creationId xmlns:a16="http://schemas.microsoft.com/office/drawing/2014/main" id="{B52BCF83-57CF-427A-BABF-DB21222471E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512FFD8C-2296-4DE1-ADAD-18790DBF264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D700C34D-C0C5-4876-BB4A-65210B6647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19</a:t>
            </a:r>
          </a:p>
        </p:txBody>
      </p:sp>
    </p:spTree>
    <p:extLst>
      <p:ext uri="{BB962C8B-B14F-4D97-AF65-F5344CB8AC3E}">
        <p14:creationId xmlns:p14="http://schemas.microsoft.com/office/powerpoint/2010/main" val="75208824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614846B-2B03-4553-B824-B23B9EA97A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6E1DFC-4E4B-4574-BDDC-A27667371C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3DFE32-0B11-41A9-A4EA-DE55BFB66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(2/3)</a:t>
            </a:r>
          </a:p>
        </p:txBody>
      </p:sp>
      <p:sp>
        <p:nvSpPr>
          <p:cNvPr id="4" name="">
            <a:extLst xmlns:a="http://schemas.openxmlformats.org/drawingml/2006/main">
              <a:ext uri="{FF2B5EF4-FFF2-40B4-BE49-F238E27FC236}">
                <a16:creationId xmlns:a16="http://schemas.microsoft.com/office/drawing/2014/main" id="{0DD8BA78-3D6B-452B-BC31-6E726A5B5E2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7E3888-22B7-454C-AA6C-F90F1C2B411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with_interaction(rows):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result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b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result.append([a, b, a *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result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base.fit(train, 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extended.fit(with_interaction(train), 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base_predictions = base.predict(validation)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base_error = mean_absolute_error(truth, base_predictions)</a:t>
            </a:r>
          </a:p>
        </p:txBody>
      </p:sp>
      <p:sp>
        <p:nvSpPr>
          <p:cNvPr id="6" name="">
            <a:extLst xmlns:a="http://schemas.openxmlformats.org/drawingml/2006/main">
              <a:ext uri="{FF2B5EF4-FFF2-40B4-BE49-F238E27FC236}">
                <a16:creationId xmlns:a16="http://schemas.microsoft.com/office/drawing/2014/main" id="{2948DB9E-1CB3-41E1-81DA-55DAA2205A0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44A8776D-106F-4CB7-870B-0BE407CF7CB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EDCF1157-1848-4385-94F1-E5D3340756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20</a:t>
            </a:r>
          </a:p>
        </p:txBody>
      </p:sp>
    </p:spTree>
    <p:extLst>
      <p:ext uri="{BB962C8B-B14F-4D97-AF65-F5344CB8AC3E}">
        <p14:creationId xmlns:p14="http://schemas.microsoft.com/office/powerpoint/2010/main" val="22192590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2DDE01-271F-43AA-8032-93407955BC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D8E230-734A-4866-8C76-8DB7F96105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04EC4E4-4BCA-4FB8-9518-E134369462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(3/3)</a:t>
            </a:r>
          </a:p>
        </p:txBody>
      </p:sp>
      <p:sp>
        <p:nvSpPr>
          <p:cNvPr id="4" name="">
            <a:extLst xmlns:a="http://schemas.openxmlformats.org/drawingml/2006/main">
              <a:ext uri="{FF2B5EF4-FFF2-40B4-BE49-F238E27FC236}">
                <a16:creationId xmlns:a16="http://schemas.microsoft.com/office/drawing/2014/main" id="{66DF67C0-F229-476A-B6C7-4532AFB412B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95CBD5-68D0-430C-A330-3B3FE247C2B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print(round(base_error, 6))</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validation_features = with_interaction(validation)</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extended_predictions = extended.predict(validation_features)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error = mean_absolute_error(truth, extended_predictions)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print(round(error, 6))</a:t>
            </a:r>
          </a:p>
        </p:txBody>
      </p:sp>
      <p:sp>
        <p:nvSpPr>
          <p:cNvPr id="6" name="">
            <a:extLst xmlns:a="http://schemas.openxmlformats.org/drawingml/2006/main">
              <a:ext uri="{FF2B5EF4-FFF2-40B4-BE49-F238E27FC236}">
                <a16:creationId xmlns:a16="http://schemas.microsoft.com/office/drawing/2014/main" id="{053A0CC3-D3CB-4E30-9A22-C1E2A4C4574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3BD2CF0B-FE95-4CC5-800D-84FDCE46916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B61D24F4-EC99-40E4-B200-40060256A5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21</a:t>
            </a:r>
          </a:p>
        </p:txBody>
      </p:sp>
    </p:spTree>
    <p:extLst>
      <p:ext uri="{BB962C8B-B14F-4D97-AF65-F5344CB8AC3E}">
        <p14:creationId xmlns:p14="http://schemas.microsoft.com/office/powerpoint/2010/main" val="141602865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522FEB2-A327-402C-BCBC-840B17D27C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8546FC-30A4-4A78-8408-33303BEE57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D72BBF-2984-4D40-AB6E-2AE1F3BC78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Scaling changes units of comparison</a:t>
            </a:r>
          </a:p>
        </p:txBody>
      </p:sp>
      <p:sp>
        <p:nvSpPr>
          <p:cNvPr id="4" name="">
            <a:extLst xmlns:a="http://schemas.openxmlformats.org/drawingml/2006/main">
              <a:ext uri="{FF2B5EF4-FFF2-40B4-BE49-F238E27FC236}">
                <a16:creationId xmlns:a16="http://schemas.microsoft.com/office/drawing/2014/main" id="{A165A95E-3E92-48AB-9696-C2ABF42597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ED7193-BE58-4D26-A520-34E7F6B3E71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distance calculation can be dominated by a feature with larger numerical values. Scaling puts feature values on a chosen numerical scale.</a:t>
            </a:r>
          </a:p>
        </p:txBody>
      </p:sp>
      <p:sp>
        <p:nvSpPr>
          <p:cNvPr id="6" name="">
            <a:extLst xmlns:a="http://schemas.openxmlformats.org/drawingml/2006/main">
              <a:ext uri="{FF2B5EF4-FFF2-40B4-BE49-F238E27FC236}">
                <a16:creationId xmlns:a16="http://schemas.microsoft.com/office/drawing/2014/main" id="{206313DE-C5FB-4BB2-88A9-BAD47E8744D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738D90-5479-4103-8478-0F54BAEC5CE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example is (value - training_min) / (training_max - training_min). With training limits 10 and 30, value 20 becomes 10 / 20 = 0.5.</a:t>
            </a:r>
          </a:p>
        </p:txBody>
      </p:sp>
      <p:sp>
        <p:nvSpPr>
          <p:cNvPr id="8" name="">
            <a:extLst xmlns:a="http://schemas.openxmlformats.org/drawingml/2006/main">
              <a:ext uri="{FF2B5EF4-FFF2-40B4-BE49-F238E27FC236}">
                <a16:creationId xmlns:a16="http://schemas.microsoft.com/office/drawing/2014/main" id="{EE6B13C6-6507-4894-B4B4-56877A0DC8C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F846D4-0F41-4E6F-A1B6-07B83A0DD93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learned limits for new observations. A zero training range needs a defined handling rule. New values outside the training range may scale outside 0 to 1.</a:t>
            </a:r>
          </a:p>
        </p:txBody>
      </p:sp>
      <p:sp>
        <p:nvSpPr>
          <p:cNvPr id="10" name="">
            <a:extLst xmlns:a="http://schemas.openxmlformats.org/drawingml/2006/main">
              <a:ext uri="{FF2B5EF4-FFF2-40B4-BE49-F238E27FC236}">
                <a16:creationId xmlns:a16="http://schemas.microsoft.com/office/drawing/2014/main" id="{2909E708-57F5-4787-828E-5B327C6FC2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22</a:t>
            </a:r>
          </a:p>
        </p:txBody>
      </p:sp>
    </p:spTree>
    <p:extLst>
      <p:ext uri="{BB962C8B-B14F-4D97-AF65-F5344CB8AC3E}">
        <p14:creationId xmlns:p14="http://schemas.microsoft.com/office/powerpoint/2010/main" val="118551404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21286C-8CB8-43E2-92B5-E2A46CF2B9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20199D-EDFD-4D8B-853D-389C203D1D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88E3F71-BDD1-437A-AE0A-18829A25F6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Encoding and Scaling</a:t>
            </a:r>
          </a:p>
        </p:txBody>
      </p:sp>
      <p:sp>
        <p:nvSpPr>
          <p:cNvPr id="4" name="">
            <a:extLst xmlns:a="http://schemas.openxmlformats.org/drawingml/2006/main">
              <a:ext uri="{FF2B5EF4-FFF2-40B4-BE49-F238E27FC236}">
                <a16:creationId xmlns:a16="http://schemas.microsoft.com/office/drawing/2014/main" id="{8E0DA213-5469-459D-A534-C9269DF978F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A38779-BC66-44F0-AAF9-6BF625FB2B3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Encoding</a:t>
            </a:r>
          </a:p>
        </p:txBody>
      </p:sp>
      <p:sp>
        <p:nvSpPr>
          <p:cNvPr id="6" name="">
            <a:extLst xmlns:a="http://schemas.openxmlformats.org/drawingml/2006/main">
              <a:ext uri="{FF2B5EF4-FFF2-40B4-BE49-F238E27FC236}">
                <a16:creationId xmlns:a16="http://schemas.microsoft.com/office/drawing/2014/main" id="{47D13855-FF36-48BA-9C0E-8902E5A9873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Representing a category numerically. One-hot uses separate indicator columns. Arbitrary integer labels can falsely suggest an order.</a:t>
            </a:r>
          </a:p>
        </p:txBody>
      </p:sp>
      <p:sp>
        <p:nvSpPr>
          <p:cNvPr id="7" name="">
            <a:extLst xmlns:a="http://schemas.openxmlformats.org/drawingml/2006/main">
              <a:ext uri="{FF2B5EF4-FFF2-40B4-BE49-F238E27FC236}">
                <a16:creationId xmlns:a16="http://schemas.microsoft.com/office/drawing/2014/main" id="{72D10236-D9EF-45D0-9CD6-A28F840E513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DE384F7-FB31-4EBC-A7BF-A4582033BF3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Scaling</a:t>
            </a:r>
          </a:p>
        </p:txBody>
      </p:sp>
      <p:sp>
        <p:nvSpPr>
          <p:cNvPr id="9" name="">
            <a:extLst xmlns:a="http://schemas.openxmlformats.org/drawingml/2006/main">
              <a:ext uri="{FF2B5EF4-FFF2-40B4-BE49-F238E27FC236}">
                <a16:creationId xmlns:a16="http://schemas.microsoft.com/office/drawing/2014/main" id="{5C4202E7-AE9A-46AA-939B-84B6F097378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Changing the numerical scale of features. Fit learned scaling on training data only. It matters for distance-based models but is not required by ordinary decision trees.</a:t>
            </a:r>
          </a:p>
        </p:txBody>
      </p:sp>
      <p:sp>
        <p:nvSpPr>
          <p:cNvPr id="10" name="">
            <a:extLst xmlns:a="http://schemas.openxmlformats.org/drawingml/2006/main">
              <a:ext uri="{FF2B5EF4-FFF2-40B4-BE49-F238E27FC236}">
                <a16:creationId xmlns:a16="http://schemas.microsoft.com/office/drawing/2014/main" id="{B99925A6-C0DA-41DD-AF85-F1D40826C1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23</a:t>
            </a:r>
          </a:p>
        </p:txBody>
      </p:sp>
    </p:spTree>
    <p:extLst>
      <p:ext uri="{BB962C8B-B14F-4D97-AF65-F5344CB8AC3E}">
        <p14:creationId xmlns:p14="http://schemas.microsoft.com/office/powerpoint/2010/main" val="15903929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532145-4286-4702-B176-3A149E5AEE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67C29C-8A2D-4CBA-97F7-D9DAAC60C2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ECDE0A-414D-4B5A-8375-69425D581D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7AC28EC7-B8BC-4132-B842-A53DA8EAFF7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13CD23-2912-4294-BF7D-2772F069B00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A7389A-662C-4B5F-BDFF-915B3ADD540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If the extended error becomes 3.4, calculate improvement and decide whether this evidence supports retaining the feature.</a:t>
            </a:r>
          </a:p>
        </p:txBody>
      </p:sp>
      <p:sp>
        <p:nvSpPr>
          <p:cNvPr id="7" name="">
            <a:extLst xmlns:a="http://schemas.openxmlformats.org/drawingml/2006/main">
              <a:ext uri="{FF2B5EF4-FFF2-40B4-BE49-F238E27FC236}">
                <a16:creationId xmlns:a16="http://schemas.microsoft.com/office/drawing/2014/main" id="{A7A92B8A-0B5A-4443-9E52-6CB4FD6E732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Improvement is -0.4. This validation comparison does not support retaining it. One split is limited evidence; the final test remains untouched.</a:t>
            </a:r>
          </a:p>
        </p:txBody>
      </p:sp>
      <p:sp>
        <p:nvSpPr>
          <p:cNvPr id="8" name="">
            <a:extLst xmlns:a="http://schemas.openxmlformats.org/drawingml/2006/main">
              <a:ext uri="{FF2B5EF4-FFF2-40B4-BE49-F238E27FC236}">
                <a16:creationId xmlns:a16="http://schemas.microsoft.com/office/drawing/2014/main" id="{CD9E1359-D968-43CA-B58A-6170E029D9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24</a:t>
            </a:r>
          </a:p>
        </p:txBody>
      </p:sp>
    </p:spTree>
    <p:extLst>
      <p:ext uri="{BB962C8B-B14F-4D97-AF65-F5344CB8AC3E}">
        <p14:creationId xmlns:p14="http://schemas.microsoft.com/office/powerpoint/2010/main" val="1496659585"/>
      </p:ext>
    </p:extLst>
  </p:cSld>
</p:sld>
</file>

<file path=ppt/slides/slide2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EAC101F5-3C47-4E22-AD99-63B99C524726}"/>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08166188-0F38-4320-AB67-01CFD173EFC9}"/>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218D9D3F-B57B-4139-AB59-EB5D6B74323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a:ext uri="{FF2B5EF4-FFF2-40B4-BE49-F238E27FC236}">
                <ns2:creationId id="{263635CF-9BA9-42CA-9CFC-1F24C06D5CBA}"/>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5577EA11-2E38-49DA-AD0B-D62F1AF5A2A2}"/>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W11 names four output features and a two-model ablation.</a:t>
            </a:r>
          </a:p>
        </p:txBody>
      </p:sp>
      <p:sp>
        <p:nvSpPr>
          <p:cNvPr id="6" name="">
            <a:extLst>
              <a:ext uri="{FF2B5EF4-FFF2-40B4-BE49-F238E27FC236}">
                <ns2:creationId id="{22014D24-BA55-4FB1-A1B4-6FED7B748EA9}"/>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4B8641C9-97D2-409C-9EAB-BF3E4EBA2DFF}"/>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row order and full precision. Fit preprocessing on the training rows only.</a:t>
            </a:r>
          </a:p>
        </p:txBody>
      </p:sp>
      <p:sp>
        <p:nvSpPr>
          <p:cNvPr id="8" name="">
            <a:extLst>
              <a:ext uri="{FF2B5EF4-FFF2-40B4-BE49-F238E27FC236}">
                <ns2:creationId id="{DE4912F2-C504-44E3-9DF5-97EABF220CE9}"/>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67213639-4670-4D15-9D64-8918DB107490}"/>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the supplied written scenario for the interpretation requested there.</a:t>
            </a:r>
          </a:p>
        </p:txBody>
      </p:sp>
      <p:sp>
        <p:nvSpPr>
          <p:cNvPr id="10" name="">
            <a:extLst>
              <a:ext uri="{FF2B5EF4-FFF2-40B4-BE49-F238E27FC236}">
                <ns2:creationId id="{C0664EEC-BEEF-42B5-AC61-B58A1B733783}"/>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4E1BEEC1-CC5E-481A-BA70-115DA1F575FB}"/>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Do not substitute this practice example’s result.</a:t>
            </a:r>
          </a:p>
        </p:txBody>
      </p:sp>
      <p:sp>
        <p:nvSpPr>
          <p:cNvPr id="12" name="">
            <a:extLst>
              <a:ext uri="{FF2B5EF4-FFF2-40B4-BE49-F238E27FC236}">
                <ns2:creationId id="{316F67A1-A908-463D-8EF9-384596D54ADD}"/>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25</a:t>
            </a:r>
          </a:p>
        </p:txBody>
      </p:sp>
    </p:spTree>
    <p:extLst>
      <p:ext uri="{BB962C8B-B14F-4D97-AF65-F5344CB8AC3E}">
        <ns3:creationId val="192960253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35E7E9-7AFD-48E0-BB69-E01EAE513A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31B611-6A11-46EA-99D1-547B7AE346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790FAB-8F9C-450D-BEC9-33C3B17F73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a:t>
            </a:r>
          </a:p>
        </p:txBody>
      </p:sp>
      <p:sp>
        <p:nvSpPr>
          <p:cNvPr id="4" name="">
            <a:extLst xmlns:a="http://schemas.openxmlformats.org/drawingml/2006/main">
              <a:ext uri="{FF2B5EF4-FFF2-40B4-BE49-F238E27FC236}">
                <a16:creationId xmlns:a16="http://schemas.microsoft.com/office/drawing/2014/main" id="{E1BA54D0-B31E-41B6-A9E1-69138E594B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95295D-D28B-432F-9207-39F23A2E7EA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Rescaling an input usually does not change the partitions available to an ordinary decision tree.</a:t>
            </a:r>
          </a:p>
        </p:txBody>
      </p:sp>
      <p:sp>
        <p:nvSpPr>
          <p:cNvPr id="6" name="">
            <a:extLst xmlns:a="http://schemas.openxmlformats.org/drawingml/2006/main">
              <a:ext uri="{FF2B5EF4-FFF2-40B4-BE49-F238E27FC236}">
                <a16:creationId xmlns:a16="http://schemas.microsoft.com/office/drawing/2014/main" id="{4EE1A3E6-14AE-4271-9258-11BE16AD679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1BD017-C00A-468A-AF01-F44BDECE25C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identifier or a future-known field can create an apparent improvement without useful predictive information.</a:t>
            </a:r>
          </a:p>
        </p:txBody>
      </p:sp>
      <p:sp>
        <p:nvSpPr>
          <p:cNvPr id="8" name="">
            <a:extLst xmlns:a="http://schemas.openxmlformats.org/drawingml/2006/main">
              <a:ext uri="{FF2B5EF4-FFF2-40B4-BE49-F238E27FC236}">
                <a16:creationId xmlns:a16="http://schemas.microsoft.com/office/drawing/2014/main" id="{37F79AC3-EAAC-4B6C-9677-2313AEF1BB5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0A7D58-51B6-43EB-94BA-A632C562E59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Dividing by zero can produce infinity or an error; decide what the denominator means before replacing it.</a:t>
            </a:r>
          </a:p>
        </p:txBody>
      </p:sp>
      <p:sp>
        <p:nvSpPr>
          <p:cNvPr id="10" name="">
            <a:extLst xmlns:a="http://schemas.openxmlformats.org/drawingml/2006/main">
              <a:ext uri="{FF2B5EF4-FFF2-40B4-BE49-F238E27FC236}">
                <a16:creationId xmlns:a16="http://schemas.microsoft.com/office/drawing/2014/main" id="{FC686D76-D98D-4DFF-B52F-5779BBDBAA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26</a:t>
            </a:r>
          </a:p>
        </p:txBody>
      </p:sp>
    </p:spTree>
    <p:extLst>
      <p:ext uri="{BB962C8B-B14F-4D97-AF65-F5344CB8AC3E}">
        <p14:creationId xmlns:p14="http://schemas.microsoft.com/office/powerpoint/2010/main" val="149187632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27F6B5-4F24-4797-9F3C-29785E2AEE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A55376-10BF-40AA-9FD6-B93F7FB5FD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301B17-5FED-4B38-87DB-D915E3C6D2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 continued</a:t>
            </a:r>
          </a:p>
        </p:txBody>
      </p:sp>
      <p:sp>
        <p:nvSpPr>
          <p:cNvPr id="4" name="">
            <a:extLst xmlns:a="http://schemas.openxmlformats.org/drawingml/2006/main">
              <a:ext uri="{FF2B5EF4-FFF2-40B4-BE49-F238E27FC236}">
                <a16:creationId xmlns:a16="http://schemas.microsoft.com/office/drawing/2014/main" id="{9ED9E997-FE20-43B2-831A-016D16642FB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FC25B8-77B4-4551-9FB1-741EE8A223E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ablation differences using the same error definition, and explain features using domain knowledge.</a:t>
            </a:r>
          </a:p>
        </p:txBody>
      </p:sp>
      <p:sp>
        <p:nvSpPr>
          <p:cNvPr id="6" name="">
            <a:extLst xmlns:a="http://schemas.openxmlformats.org/drawingml/2006/main">
              <a:ext uri="{FF2B5EF4-FFF2-40B4-BE49-F238E27FC236}">
                <a16:creationId xmlns:a16="http://schemas.microsoft.com/office/drawing/2014/main" id="{BBAE4280-37BD-4F54-94B8-789487ADB9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27</a:t>
            </a:r>
          </a:p>
        </p:txBody>
      </p:sp>
    </p:spTree>
    <p:extLst>
      <p:ext uri="{BB962C8B-B14F-4D97-AF65-F5344CB8AC3E}">
        <p14:creationId xmlns:p14="http://schemas.microsoft.com/office/powerpoint/2010/main" val="82077342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28F2B53-A6B2-44DA-9543-25EF19B80A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21F5C6-F1B9-4252-8045-8A429A30E7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2F0EAF4-F352-4B11-BBDA-96EAF5D7E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D7257BE0-3B02-4BCC-BD57-0F2B47EDF90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85A6366-6C97-4B04-B128-95C6FFBDF5F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28FAB37C-C8D9-4C3D-83B6-058A3DB14B9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DF27EF-C6B9-499F-883B-54DA3405AAE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397DB4C3-0B06-4D61-B98F-4DB24D4A56C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8473B3-5E19-40A8-8E28-BAD7865AABF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D1EB0376-1B95-4BB1-9D45-0FA20E72AE5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9C4E406-DA27-44D5-95CD-261B64BD825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23037C7-7A76-4C49-8D8F-9317E02AFE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28</a:t>
            </a:r>
          </a:p>
        </p:txBody>
      </p:sp>
    </p:spTree>
    <p:extLst>
      <p:ext uri="{BB962C8B-B14F-4D97-AF65-F5344CB8AC3E}">
        <p14:creationId xmlns:p14="http://schemas.microsoft.com/office/powerpoint/2010/main" val="208229482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373066-6149-4B59-AB09-84B5D123D5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539FC9-2D2F-420A-B892-7FBA38DA23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E46DECC-CF4A-4DDB-B16B-E24EFE6BF0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22AD078C-B7A6-478A-91DE-297412DF1DB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6A9108-6C31-476A-BC2F-4ADF2FFF378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7328EFED-55DD-41B9-AB1F-1AEED2AF6CE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F36F24C-090F-443F-8EAB-C5BC6E7E458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62C93AF-D790-4EFE-8172-8BFB9302B8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29</a:t>
            </a:r>
          </a:p>
        </p:txBody>
      </p:sp>
    </p:spTree>
    <p:extLst>
      <p:ext uri="{BB962C8B-B14F-4D97-AF65-F5344CB8AC3E}">
        <p14:creationId xmlns:p14="http://schemas.microsoft.com/office/powerpoint/2010/main" val="35936453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11DB45D-346E-4763-ABEE-33F4ECB612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C3AF01-449B-43B8-A6B8-3BF1D44ABE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9F2E28A-0D1E-4B68-9108-DA15E4EABA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ABDF29C6-91A2-43B9-B594-4F6FC04954A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37C925-AD6C-4E7F-8ABA-5387A060DE5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3C439C34-4212-4CC1-9089-40C9BB3789C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11760EE-F898-4489-A890-9A9AEFED5A0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CDACE57-F741-4887-837C-FCD6FDFA28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30</a:t>
            </a:r>
          </a:p>
        </p:txBody>
      </p:sp>
    </p:spTree>
    <p:extLst>
      <p:ext uri="{BB962C8B-B14F-4D97-AF65-F5344CB8AC3E}">
        <p14:creationId xmlns:p14="http://schemas.microsoft.com/office/powerpoint/2010/main" val="87385413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B50B3F-22FD-493A-A464-B980E375D0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C4FA49-37C8-4F73-839C-EE598D450B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1BDE78E-0F23-4B43-A89A-2292A7C05D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38E91594-D461-443C-BD4A-996DE81149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0D4BE4-FA9C-42E9-B249-60A9F3B2833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57B8429-BBCF-452E-870C-111A554CF45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256D551-2714-4938-A25E-7BC1DF4E9F8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581A8877-4A05-48A1-A5EE-2DFA1F6BADE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DD57ED-0DA3-4F00-8B68-68E7078897F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9EFD291-F0E9-4C16-87B8-F7A27F40D7B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1853CF-8BFB-4CCD-AD8C-C87584A9EFC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25B7435-003A-40C3-AF86-C4BFEE75D9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31</a:t>
            </a:r>
          </a:p>
        </p:txBody>
      </p:sp>
    </p:spTree>
    <p:extLst>
      <p:ext uri="{BB962C8B-B14F-4D97-AF65-F5344CB8AC3E}">
        <p14:creationId xmlns:p14="http://schemas.microsoft.com/office/powerpoint/2010/main" val="178624296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4598C5C-1B4E-4EC8-8589-077E08728A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9FF712-2A2C-4839-8108-98EE95CACD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7C82264-12A2-4CAD-9DDE-E7A60E8A0B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60C5CCCD-6E0E-4A84-8F65-8ABA79E066F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BAEA60-5F47-4D6E-8BB2-C1B154D7FFF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17 Nov 2026, 11:00 Kampala</a:t>
            </a:r>
          </a:p>
        </p:txBody>
      </p:sp>
      <p:sp>
        <p:nvSpPr>
          <p:cNvPr id="6" name="">
            <a:extLst xmlns:a="http://schemas.openxmlformats.org/drawingml/2006/main">
              <a:ext uri="{FF2B5EF4-FFF2-40B4-BE49-F238E27FC236}">
                <a16:creationId xmlns:a16="http://schemas.microsoft.com/office/drawing/2014/main" id="{AB792D30-A8DB-4BA9-A8D4-91560F4694F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021DF1-7CC1-4433-B41B-C15D91FB6D1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24 Nov 2026, 11:00 Kampala</a:t>
            </a:r>
          </a:p>
        </p:txBody>
      </p:sp>
      <p:sp>
        <p:nvSpPr>
          <p:cNvPr id="8" name="">
            <a:extLst xmlns:a="http://schemas.openxmlformats.org/drawingml/2006/main">
              <a:ext uri="{FF2B5EF4-FFF2-40B4-BE49-F238E27FC236}">
                <a16:creationId xmlns:a16="http://schemas.microsoft.com/office/drawing/2014/main" id="{87838DB5-349E-42AC-83EF-FFEE5392452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73FBF1-6E3B-4275-8DAA-7D1AAB67FE6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0C3DF25-A350-4569-A9EE-E182EC1C33E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C71467E-6651-48D5-A658-0B4DB381C58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8E85DC72-EBAE-42E6-B88B-FB474E37008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2384779-D837-4893-BC1D-2744C31F294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c39d5436efb4b3b"/>
              </a:rPr>
              <a:t>Open W11 assignment form</a:t>
            </a:r>
          </a:p>
        </p:txBody>
      </p:sp>
      <p:sp>
        <p:nvSpPr>
          <p:cNvPr id="14" name="">
            <a:extLst xmlns:a="http://schemas.openxmlformats.org/drawingml/2006/main">
              <a:ext uri="{FF2B5EF4-FFF2-40B4-BE49-F238E27FC236}">
                <a16:creationId xmlns:a16="http://schemas.microsoft.com/office/drawing/2014/main" id="{666F9900-0A1F-42EB-88D0-2AFF94E397C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https://docs.google.com/forms/d/e/1FAIpQLSfSqUcR9TgY7f1c7HXO9KGM3C2yXm1r7V2rQl2WEubwZir8iw/viewform</a:t>
            </a:r>
          </a:p>
        </p:txBody>
      </p:sp>
      <p:sp>
        <p:nvSpPr>
          <p:cNvPr id="15" name="">
            <a:extLst xmlns:a="http://schemas.openxmlformats.org/drawingml/2006/main">
              <a:ext uri="{FF2B5EF4-FFF2-40B4-BE49-F238E27FC236}">
                <a16:creationId xmlns:a16="http://schemas.microsoft.com/office/drawing/2014/main" id="{BFEFC45C-27BE-4CC7-8804-6AD755D17A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32</a:t>
            </a:r>
          </a:p>
        </p:txBody>
      </p:sp>
    </p:spTree>
    <p:extLst>
      <p:ext uri="{BB962C8B-B14F-4D97-AF65-F5344CB8AC3E}">
        <p14:creationId xmlns:p14="http://schemas.microsoft.com/office/powerpoint/2010/main" val="39269544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DE1168A-88C1-46CA-93A1-6FA58A29EE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945352-1CAB-42F0-B8BC-CE9E69883C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F855322-9BFA-460F-93B6-CD2F378D4F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EA698E2-805B-449B-B320-9DDF2AAD93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99C377-CAC3-4C73-B526-E3DCA1BA220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75B9CEE3-BC5F-4900-BC8D-AEDF34D7E2A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455D00-9F39-4FAE-A18C-A35F4F46744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19B71C67-B7B4-409D-A6F2-110D4A37E4E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B1012C-8E1D-4BE1-9B71-D79638EA91E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5EB658E1-4B7E-4D2C-AA4A-8F3DD3CD45B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9DAA914-6199-4C54-B8FE-33616B0ABD5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3FEA78DD-2B75-42F8-9567-E340B43E37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33</a:t>
            </a:r>
          </a:p>
        </p:txBody>
      </p:sp>
    </p:spTree>
    <p:extLst>
      <p:ext uri="{BB962C8B-B14F-4D97-AF65-F5344CB8AC3E}">
        <p14:creationId xmlns:p14="http://schemas.microsoft.com/office/powerpoint/2010/main" val="1237029736"/>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2AD356B1-BB03-4D2F-B0C7-C81A479DF2DE}"/>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EE3927CB-30AB-463C-8603-A620D42A5D1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01975BC1-7D0B-423B-84F2-06B0D38BB05A}"/>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a:ext uri="{FF2B5EF4-FFF2-40B4-BE49-F238E27FC236}">
                <ns2:creationId id="{33B9AA4D-979F-43A1-B375-C37B0273A9B2}"/>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87F2C983-FBC0-4696-9D92-5FD07E876A83}"/>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C298BDEF-0EBA-4DE9-9EF2-E8AEDD3BA15B}"/>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D27A72D-5318-4422-8203-C32DE19E6AB2}"/>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346794CD-74AC-4D64-AC5A-2B5ABF43F2B1}"/>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853FAEA9-7045-4960-877C-B31FA1B493D3}"/>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48DCF5A5-972E-4112-BF66-744BA6B87AB5}"/>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D71A82A-96C4-4CE1-A046-3A87C88B0486}"/>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6e89e552448c420e"/>
          <a:stretch/>
        </p:blipFill>
        <p:spPr>
          <a:xfrm>
            <a:off x="9134475" y="2095500"/>
            <a:ext cx="2190750" cy="2190750"/>
          </a:xfrm>
          <a:prstGeom prst="rect">
            <a:avLst/>
          </a:prstGeom>
        </p:spPr>
      </p:pic>
      <p:sp>
        <p:nvSpPr>
          <p:cNvPr id="13" name="">
            <a:extLst>
              <a:ext uri="{FF2B5EF4-FFF2-40B4-BE49-F238E27FC236}">
                <ns2:creationId id="{01AFE2F1-634C-4E2B-A382-7B4DD3FC5E41}"/>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A009E851-DB23-433D-9404-13976752E96E}"/>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37C9EF8F-606E-4CAE-9B61-38C707E6CD1B}"/>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efeb714cd8b944c6"/>
              </a:rPr>
              <a:t>Open this week’s quiz</a:t>
            </a:r>
          </a:p>
        </p:txBody>
      </p:sp>
      <p:sp>
        <p:nvSpPr>
          <p:cNvPr id="16" name="">
            <a:extLst>
              <a:ext uri="{FF2B5EF4-FFF2-40B4-BE49-F238E27FC236}">
                <ns2:creationId id="{6850AC9D-F12B-45FE-AC39-5FF7675374EF}"/>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https://forms.gle/FTSCoDUMmcwSYPc78</a:t>
            </a:r>
          </a:p>
        </p:txBody>
      </p:sp>
      <p:sp>
        <p:nvSpPr>
          <p:cNvPr id="17" name="">
            <a:extLst>
              <a:ext uri="{FF2B5EF4-FFF2-40B4-BE49-F238E27FC236}">
                <ns2:creationId id="{52A9FF06-D875-4DCA-9FB9-2EDB4247380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34</a:t>
            </a:r>
          </a:p>
        </p:txBody>
      </p:sp>
    </p:spTree>
    <p:extLst>
      <p:ext uri="{BB962C8B-B14F-4D97-AF65-F5344CB8AC3E}">
        <ns4:creationId val="205862565"/>
      </p:ext>
    </p:extLst>
  </p:cSld>
</p:sld>
</file>

<file path=ppt/slides/slide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EE5C15F0-2E5F-44EA-A1BD-1DD958214E2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0CDDCAFA-F066-4DF6-B929-A290B0EBA9B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FD2A14C1-5D10-4755-8478-A48977A4DFCE}"/>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6AC46679-CC90-49AD-9591-54ECFD3FF481}"/>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state the new feature’s meaning and calculate an improvement correctly.</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C09B5E2C-7C26-4378-9450-BAC341D9857F}"/>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8EA47B49-25B7-40CC-A23C-2136AAFC6F8D}"/>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11   35</a:t>
            </a:r>
          </a:p>
        </p:txBody>
      </p:sp>
    </p:spTree>
    <p:extLst>
      <p:ext uri="{BB962C8B-B14F-4D97-AF65-F5344CB8AC3E}">
        <ns3:creationId val="13422871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2026-09-28T21:45:25.8820000Z</dcterms:created>
  <dcterms:modified xsi:type="dcterms:W3CDTF">2026-09-28T21:45:25.8820000Z</dcterms:modified>
</coreProperties>
</file>