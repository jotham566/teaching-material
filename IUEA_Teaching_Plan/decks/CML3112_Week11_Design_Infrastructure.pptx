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c4e865138a4791" /><Relationship Type="http://schemas.openxmlformats.org/officeDocument/2006/relationships/extended-properties" Target="/docProps/app.xml" Id="Ra91cacc61ea1451e" /><Relationship Type="http://schemas.openxmlformats.org/officeDocument/2006/relationships/officeDocument" Target="/ppt/presentation.xml" Id="R1f762fbf84314d7e" /></Relationships>
</file>

<file path=ppt/presentation.xml><?xml version="1.0" encoding="utf-8"?>
<p:presentation xmlns:p="http://schemas.openxmlformats.org/presentationml/2006/main">
  <p:sldMasterIdLst>
    <p:sldMasterId xmlns:r="http://schemas.openxmlformats.org/officeDocument/2006/relationships" id="2147483648" r:id="R016ef223e7944f3d"/>
  </p:sldMasterIdLst>
  <p:notesMasterIdLst>
    <p:notesMasterId xmlns:r="http://schemas.openxmlformats.org/officeDocument/2006/relationships" r:id="R34e76bd3c6724b66"/>
  </p:notesMasterIdLst>
  <p:sldIdLst>
    <p:sldId xmlns:r="http://schemas.openxmlformats.org/officeDocument/2006/relationships" id="256" r:id="R98782065e79d40d1"/>
    <p:sldId xmlns:r="http://schemas.openxmlformats.org/officeDocument/2006/relationships" id="257" r:id="R18544877d5e448fa"/>
    <p:sldId xmlns:r="http://schemas.openxmlformats.org/officeDocument/2006/relationships" id="258" r:id="R599ff1f7eda24278"/>
    <p:sldId xmlns:r="http://schemas.openxmlformats.org/officeDocument/2006/relationships" id="259" r:id="R559e39b1499c4ccf"/>
    <p:sldId xmlns:r="http://schemas.openxmlformats.org/officeDocument/2006/relationships" id="260" r:id="Ree7dd9bcef4348a4"/>
    <p:sldId xmlns:r="http://schemas.openxmlformats.org/officeDocument/2006/relationships" id="261" r:id="Rea55cde8062e481c"/>
    <p:sldId xmlns:r="http://schemas.openxmlformats.org/officeDocument/2006/relationships" id="262" r:id="R07e32e09765c4ba4"/>
    <p:sldId xmlns:r="http://schemas.openxmlformats.org/officeDocument/2006/relationships" id="263" r:id="R0f444acbe014400a"/>
    <p:sldId xmlns:r="http://schemas.openxmlformats.org/officeDocument/2006/relationships" id="264" r:id="R65bcb53bd8ce414f"/>
    <p:sldId xmlns:r="http://schemas.openxmlformats.org/officeDocument/2006/relationships" id="265" r:id="Rd1e6444262e34cc0"/>
    <p:sldId xmlns:r="http://schemas.openxmlformats.org/officeDocument/2006/relationships" id="266" r:id="R9b2cbfcad58c42ce"/>
    <p:sldId xmlns:r="http://schemas.openxmlformats.org/officeDocument/2006/relationships" id="267" r:id="Rc9d8bfbe802f49ce"/>
    <p:sldId xmlns:r="http://schemas.openxmlformats.org/officeDocument/2006/relationships" id="268" r:id="R1c001a3c27874c26"/>
    <p:sldId xmlns:r="http://schemas.openxmlformats.org/officeDocument/2006/relationships" id="269" r:id="Rd9b9266d1e3241aa"/>
    <p:sldId xmlns:r="http://schemas.openxmlformats.org/officeDocument/2006/relationships" id="270" r:id="Rc3aa9640e1634e52"/>
    <p:sldId xmlns:r="http://schemas.openxmlformats.org/officeDocument/2006/relationships" id="271" r:id="Ree77162edcc642b6"/>
    <p:sldId xmlns:r="http://schemas.openxmlformats.org/officeDocument/2006/relationships" id="272" r:id="R16973554d1e44530"/>
    <p:sldId xmlns:r="http://schemas.openxmlformats.org/officeDocument/2006/relationships" id="273" r:id="R825a5ffa2b154214"/>
    <p:sldId xmlns:r="http://schemas.openxmlformats.org/officeDocument/2006/relationships" id="274" r:id="R08e33323ef54486d"/>
    <p:sldId xmlns:r="http://schemas.openxmlformats.org/officeDocument/2006/relationships" id="275" r:id="Re50f0c515c964b4d"/>
    <p:sldId xmlns:r="http://schemas.openxmlformats.org/officeDocument/2006/relationships" id="276" r:id="Rda93db183ec54797"/>
    <p:sldId xmlns:r="http://schemas.openxmlformats.org/officeDocument/2006/relationships" id="277" r:id="R08f5d8642e3b4185"/>
    <p:sldId xmlns:r="http://schemas.openxmlformats.org/officeDocument/2006/relationships" id="278" r:id="R25b2b391a22342cb"/>
    <p:sldId xmlns:r="http://schemas.openxmlformats.org/officeDocument/2006/relationships" id="279" r:id="Rd87c8afeea1d48a5"/>
    <p:sldId xmlns:r="http://schemas.openxmlformats.org/officeDocument/2006/relationships" id="280" r:id="Rb8983ca8ca8b4414"/>
    <p:sldId xmlns:r="http://schemas.openxmlformats.org/officeDocument/2006/relationships" id="281" r:id="Rcff9b6d140fa4440"/>
    <p:sldId xmlns:r="http://schemas.openxmlformats.org/officeDocument/2006/relationships" id="282" r:id="R89fbec3083d445ff"/>
    <p:sldId xmlns:r="http://schemas.openxmlformats.org/officeDocument/2006/relationships" id="283" r:id="R622d35bd9e024a4f"/>
    <p:sldId xmlns:r="http://schemas.openxmlformats.org/officeDocument/2006/relationships" id="284" r:id="R58cbf5b6dd804bb1"/>
    <p:sldId xmlns:r="http://schemas.openxmlformats.org/officeDocument/2006/relationships" id="285" r:id="R517ce027cf9341df"/>
    <p:sldId xmlns:r="http://schemas.openxmlformats.org/officeDocument/2006/relationships" id="286" r:id="R6c74169155f7475a"/>
    <p:sldId xmlns:r="http://schemas.openxmlformats.org/officeDocument/2006/relationships" id="287" r:id="R33774bc909bc4ba1"/>
    <p:sldId xmlns:r="http://schemas.openxmlformats.org/officeDocument/2006/relationships" id="288" r:id="R49d22a53452f4be6"/>
    <p:sldId xmlns:r="http://schemas.openxmlformats.org/officeDocument/2006/relationships" id="289" r:id="Refa9b44b32474c0f"/>
    <p:sldId xmlns:r="http://schemas.openxmlformats.org/officeDocument/2006/relationships" id="290" r:id="Rfefc0583d364408d"/>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8ece01d4b34f92" /><Relationship Type="http://schemas.openxmlformats.org/officeDocument/2006/relationships/slideMaster" Target="/ppt/slideMasters/slideMaster1.xml" Id="R016ef223e7944f3d" /><Relationship Type="http://schemas.openxmlformats.org/officeDocument/2006/relationships/notesMaster" Target="/ppt/notesMasters/notesMaster1.xml" Id="R34e76bd3c6724b66" /><Relationship Type="http://schemas.openxmlformats.org/officeDocument/2006/relationships/presProps" Target="/ppt/presProps.xml" Id="R5beaf0fcd62b4a65" /><Relationship Type="http://schemas.openxmlformats.org/officeDocument/2006/relationships/tableStyles" Target="/ppt/tableStyles.xml" Id="R9e79cf912ef843e0" /><Relationship Type="http://schemas.openxmlformats.org/officeDocument/2006/relationships/slide" Target="/ppt/slides/slide1.xml" Id="R98782065e79d40d1" /><Relationship Type="http://schemas.openxmlformats.org/officeDocument/2006/relationships/slide" Target="/ppt/slides/slide2.xml" Id="R18544877d5e448fa" /><Relationship Type="http://schemas.openxmlformats.org/officeDocument/2006/relationships/slide" Target="/ppt/slides/slide3.xml" Id="R599ff1f7eda24278" /><Relationship Type="http://schemas.openxmlformats.org/officeDocument/2006/relationships/slide" Target="/ppt/slides/slide4.xml" Id="R559e39b1499c4ccf" /><Relationship Type="http://schemas.openxmlformats.org/officeDocument/2006/relationships/slide" Target="/ppt/slides/slide5.xml" Id="Ree7dd9bcef4348a4" /><Relationship Type="http://schemas.openxmlformats.org/officeDocument/2006/relationships/slide" Target="/ppt/slides/slide6.xml" Id="Rea55cde8062e481c" /><Relationship Type="http://schemas.openxmlformats.org/officeDocument/2006/relationships/slide" Target="/ppt/slides/slide7.xml" Id="R07e32e09765c4ba4" /><Relationship Type="http://schemas.openxmlformats.org/officeDocument/2006/relationships/slide" Target="/ppt/slides/slide8.xml" Id="R0f444acbe014400a" /><Relationship Type="http://schemas.openxmlformats.org/officeDocument/2006/relationships/slide" Target="/ppt/slides/slide9.xml" Id="R65bcb53bd8ce414f" /><Relationship Type="http://schemas.openxmlformats.org/officeDocument/2006/relationships/slide" Target="/ppt/slides/slide10.xml" Id="Rd1e6444262e34cc0" /><Relationship Type="http://schemas.openxmlformats.org/officeDocument/2006/relationships/slide" Target="/ppt/slides/slide11.xml" Id="R9b2cbfcad58c42ce" /><Relationship Type="http://schemas.openxmlformats.org/officeDocument/2006/relationships/slide" Target="/ppt/slides/slide12.xml" Id="Rc9d8bfbe802f49ce" /><Relationship Type="http://schemas.openxmlformats.org/officeDocument/2006/relationships/slide" Target="/ppt/slides/slide13.xml" Id="R1c001a3c27874c26" /><Relationship Type="http://schemas.openxmlformats.org/officeDocument/2006/relationships/slide" Target="/ppt/slides/slide14.xml" Id="Rd9b9266d1e3241aa" /><Relationship Type="http://schemas.openxmlformats.org/officeDocument/2006/relationships/slide" Target="/ppt/slides/slide15.xml" Id="Rc3aa9640e1634e52" /><Relationship Type="http://schemas.openxmlformats.org/officeDocument/2006/relationships/slide" Target="/ppt/slides/slide16.xml" Id="Ree77162edcc642b6" /><Relationship Type="http://schemas.openxmlformats.org/officeDocument/2006/relationships/slide" Target="/ppt/slides/slide17.xml" Id="R16973554d1e44530" /><Relationship Type="http://schemas.openxmlformats.org/officeDocument/2006/relationships/slide" Target="/ppt/slides/slide18.xml" Id="R825a5ffa2b154214" /><Relationship Type="http://schemas.openxmlformats.org/officeDocument/2006/relationships/slide" Target="/ppt/slides/slide19.xml" Id="R08e33323ef54486d" /><Relationship Type="http://schemas.openxmlformats.org/officeDocument/2006/relationships/slide" Target="/ppt/slides/slide20.xml" Id="Re50f0c515c964b4d" /><Relationship Type="http://schemas.openxmlformats.org/officeDocument/2006/relationships/slide" Target="/ppt/slides/slide21.xml" Id="Rda93db183ec54797" /><Relationship Type="http://schemas.openxmlformats.org/officeDocument/2006/relationships/slide" Target="/ppt/slides/slide22.xml" Id="R08f5d8642e3b4185" /><Relationship Type="http://schemas.openxmlformats.org/officeDocument/2006/relationships/slide" Target="/ppt/slides/slide23.xml" Id="R25b2b391a22342cb" /><Relationship Type="http://schemas.openxmlformats.org/officeDocument/2006/relationships/slide" Target="/ppt/slides/slide24.xml" Id="Rd87c8afeea1d48a5" /><Relationship Type="http://schemas.openxmlformats.org/officeDocument/2006/relationships/slide" Target="/ppt/slides/slide25.xml" Id="Rb8983ca8ca8b4414" /><Relationship Type="http://schemas.openxmlformats.org/officeDocument/2006/relationships/slide" Target="/ppt/slides/slide26.xml" Id="Rcff9b6d140fa4440" /><Relationship Type="http://schemas.openxmlformats.org/officeDocument/2006/relationships/slide" Target="/ppt/slides/slide27.xml" Id="R89fbec3083d445ff" /><Relationship Type="http://schemas.openxmlformats.org/officeDocument/2006/relationships/slide" Target="/ppt/slides/slide28.xml" Id="R622d35bd9e024a4f" /><Relationship Type="http://schemas.openxmlformats.org/officeDocument/2006/relationships/slide" Target="/ppt/slides/slide29.xml" Id="R58cbf5b6dd804bb1" /><Relationship Type="http://schemas.openxmlformats.org/officeDocument/2006/relationships/slide" Target="/ppt/slides/slide30.xml" Id="R517ce027cf9341df" /><Relationship Type="http://schemas.openxmlformats.org/officeDocument/2006/relationships/slide" Target="/ppt/slides/slide31.xml" Id="R6c74169155f7475a" /><Relationship Type="http://schemas.openxmlformats.org/officeDocument/2006/relationships/slide" Target="/ppt/slides/slide32.xml" Id="R33774bc909bc4ba1" /><Relationship Type="http://schemas.openxmlformats.org/officeDocument/2006/relationships/slide" Target="/ppt/slides/slide33.xml" Id="R49d22a53452f4be6" /><Relationship Type="http://schemas.openxmlformats.org/officeDocument/2006/relationships/slide" Target="/ppt/slides/slide34.xml" Id="Refa9b44b32474c0f" /><Relationship Type="http://schemas.openxmlformats.org/officeDocument/2006/relationships/slide" Target="/ppt/slides/slide35.xml" Id="Rfefc0583d36440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379d5a354a4e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41802f3e59432b" /><Relationship Type="http://schemas.openxmlformats.org/officeDocument/2006/relationships/notesMaster" Target="/ppt/notesMasters/notesMaster1.xml" Id="Rc2564f612f5a43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1c6ff4cdf84e8d" /><Relationship Type="http://schemas.openxmlformats.org/officeDocument/2006/relationships/notesMaster" Target="/ppt/notesMasters/notesMaster1.xml" Id="R552b4ce5a3b645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1ef5d5a8614b70" /><Relationship Type="http://schemas.openxmlformats.org/officeDocument/2006/relationships/notesMaster" Target="/ppt/notesMasters/notesMaster1.xml" Id="R17258313d80941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2aa2632e0e46a6" /><Relationship Type="http://schemas.openxmlformats.org/officeDocument/2006/relationships/notesMaster" Target="/ppt/notesMasters/notesMaster1.xml" Id="Ra5f7ca1a8f3340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32399dcf8949e8" /><Relationship Type="http://schemas.openxmlformats.org/officeDocument/2006/relationships/notesMaster" Target="/ppt/notesMasters/notesMaster1.xml" Id="R3e82f0904cbc4d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7b9abcaad343aa" /><Relationship Type="http://schemas.openxmlformats.org/officeDocument/2006/relationships/notesMaster" Target="/ppt/notesMasters/notesMaster1.xml" Id="R70851d9669fc47a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e3e458ee774c9e" /><Relationship Type="http://schemas.openxmlformats.org/officeDocument/2006/relationships/notesMaster" Target="/ppt/notesMasters/notesMaster1.xml" Id="R67df424efc1447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440872afde4d02" /><Relationship Type="http://schemas.openxmlformats.org/officeDocument/2006/relationships/notesMaster" Target="/ppt/notesMasters/notesMaster1.xml" Id="R2c9d6d57bdfc49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a799bd2d90c4171" /><Relationship Type="http://schemas.openxmlformats.org/officeDocument/2006/relationships/notesMaster" Target="/ppt/notesMasters/notesMaster1.xml" Id="Rf8164c7eea4a42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560f6c8d3584f88" /><Relationship Type="http://schemas.openxmlformats.org/officeDocument/2006/relationships/notesMaster" Target="/ppt/notesMasters/notesMaster1.xml" Id="R4c06606ce225438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b4e6d1506d34175" /><Relationship Type="http://schemas.openxmlformats.org/officeDocument/2006/relationships/notesMaster" Target="/ppt/notesMasters/notesMaster1.xml" Id="Refa2ef65874747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ba0b7eeadf9478d" /><Relationship Type="http://schemas.openxmlformats.org/officeDocument/2006/relationships/notesMaster" Target="/ppt/notesMasters/notesMaster1.xml" Id="Re2da775f2436413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6b4e9cca0644e93" /><Relationship Type="http://schemas.openxmlformats.org/officeDocument/2006/relationships/notesMaster" Target="/ppt/notesMasters/notesMaster1.xml" Id="Rfe8d8e9e704a4ad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b902a89cff14d6c" /><Relationship Type="http://schemas.openxmlformats.org/officeDocument/2006/relationships/notesMaster" Target="/ppt/notesMasters/notesMaster1.xml" Id="Rfdf70a0cecce46e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0f1f27a2eb444cb" /><Relationship Type="http://schemas.openxmlformats.org/officeDocument/2006/relationships/notesMaster" Target="/ppt/notesMasters/notesMaster1.xml" Id="R87d654f2bf6240c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d2afaa51172493e" /><Relationship Type="http://schemas.openxmlformats.org/officeDocument/2006/relationships/notesMaster" Target="/ppt/notesMasters/notesMaster1.xml" Id="R2e386489d62d40a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671bb14c73840c2" /><Relationship Type="http://schemas.openxmlformats.org/officeDocument/2006/relationships/notesMaster" Target="/ppt/notesMasters/notesMaster1.xml" Id="Rd792dbccf39f4f9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4e3dce7991b4d28" /><Relationship Type="http://schemas.openxmlformats.org/officeDocument/2006/relationships/notesMaster" Target="/ppt/notesMasters/notesMaster1.xml" Id="R043f219acd4945c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cd0867f583d4a9e" /><Relationship Type="http://schemas.openxmlformats.org/officeDocument/2006/relationships/notesMaster" Target="/ppt/notesMasters/notesMaster1.xml" Id="R4194c21f80504e2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eff95016df84afb" /><Relationship Type="http://schemas.openxmlformats.org/officeDocument/2006/relationships/notesMaster" Target="/ppt/notesMasters/notesMaster1.xml" Id="R9dc3fd5f4fa84c6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e59583f251649cc" /><Relationship Type="http://schemas.openxmlformats.org/officeDocument/2006/relationships/notesMaster" Target="/ppt/notesMasters/notesMaster1.xml" Id="R6afcc6c7a83d4d6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d8250c8301c484a" /><Relationship Type="http://schemas.openxmlformats.org/officeDocument/2006/relationships/notesMaster" Target="/ppt/notesMasters/notesMaster1.xml" Id="R550c0920a752488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b4ec1766fec469c" /><Relationship Type="http://schemas.openxmlformats.org/officeDocument/2006/relationships/notesMaster" Target="/ppt/notesMasters/notesMaster1.xml" Id="R03544b3c7450411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4b6e7631f0e465c" /><Relationship Type="http://schemas.openxmlformats.org/officeDocument/2006/relationships/notesMaster" Target="/ppt/notesMasters/notesMaster1.xml" Id="Rf61bb889c6e649a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2ff7f8d130b4c19" /><Relationship Type="http://schemas.openxmlformats.org/officeDocument/2006/relationships/notesMaster" Target="/ppt/notesMasters/notesMaster1.xml" Id="R70ca38c66d5940e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f220ac8e3f44127" /><Relationship Type="http://schemas.openxmlformats.org/officeDocument/2006/relationships/notesMaster" Target="/ppt/notesMasters/notesMaster1.xml" Id="Rf9e306d43376437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930731c1d9241a3" /><Relationship Type="http://schemas.openxmlformats.org/officeDocument/2006/relationships/notesMaster" Target="/ppt/notesMasters/notesMaster1.xml" Id="R0bb4369bd6c54cc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bbe84078dc94903" /><Relationship Type="http://schemas.openxmlformats.org/officeDocument/2006/relationships/notesMaster" Target="/ppt/notesMasters/notesMaster1.xml" Id="R6404bc7f289b430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49ce9be06e0450e" /><Relationship Type="http://schemas.openxmlformats.org/officeDocument/2006/relationships/notesMaster" Target="/ppt/notesMasters/notesMaster1.xml" Id="Rde1ffa56ded34fd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c00e5b1a7f94cbb" /><Relationship Type="http://schemas.openxmlformats.org/officeDocument/2006/relationships/notesMaster" Target="/ppt/notesMasters/notesMaster1.xml" Id="Rf068bdd713a240e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4046bf899a04a4a" /><Relationship Type="http://schemas.openxmlformats.org/officeDocument/2006/relationships/notesMaster" Target="/ppt/notesMasters/notesMaster1.xml" Id="Rdda2d6cbacfa407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a4d115694664d36" /><Relationship Type="http://schemas.openxmlformats.org/officeDocument/2006/relationships/notesMaster" Target="/ppt/notesMasters/notesMaster1.xml" Id="Rad1ce19952e041a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df82ffcdcaa451e" /><Relationship Type="http://schemas.openxmlformats.org/officeDocument/2006/relationships/notesMaster" Target="/ppt/notesMasters/notesMaster1.xml" Id="R12ad2316c87242c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7b6c4cc3c534d9d" /><Relationship Type="http://schemas.openxmlformats.org/officeDocument/2006/relationships/notesMaster" Target="/ppt/notesMasters/notesMaster1.xml" Id="Rae552a33d5234a0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fdbb1ba1d5946ce" /><Relationship Type="http://schemas.openxmlformats.org/officeDocument/2006/relationships/notesMaster" Target="/ppt/notesMasters/notesMaster1.xml" Id="R526a3aab195d4f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Creating and testing a useful feature</a:t>
            </a:r>
          </a:p>
          <a:p xmlns:a="http://schemas.openxmlformats.org/drawingml/2006/main">
            <a:r>
              <a:t/>
            </a:r>
          </a:p>
          <a:p xmlns:a="http://schemas.openxmlformats.org/drawingml/2006/main">
            <a:r>
              <a:t>CONNECT</a:t>
            </a:r>
          </a:p>
          <a:p xmlns:a="http://schemas.openxmlformats.org/drawingml/2006/main">
            <a:r>
              <a:t>Previous slide: the preceding week.</a:t>
            </a:r>
          </a:p>
          <a:p xmlns:a="http://schemas.openxmlformats.org/drawingml/2006/main">
            <a:r>
              <a:t/>
            </a:r>
          </a:p>
          <a:p xmlns:a="http://schemas.openxmlformats.org/drawingml/2006/main">
            <a:r>
              <a:t>EXPLAIN</a:t>
            </a:r>
          </a:p>
          <a:p xmlns:a="http://schemas.openxmlformats.org/drawingml/2006/main">
            <a:r>
              <a:t>Civil Engineering and Architecture</a:t>
            </a:r>
          </a:p>
          <a:p xmlns:a="http://schemas.openxmlformats.org/drawingml/2006/main">
            <a:r>
              <a:t/>
            </a:r>
          </a:p>
          <a:p xmlns:a="http://schemas.openxmlformats.org/drawingml/2006/main">
            <a:r>
              <a:t>LECTURER CUE</a:t>
            </a:r>
          </a:p>
          <a:p xmlns:a="http://schemas.openxmlformats.org/drawingml/2006/main">
            <a:r>
              <a:t>Use PowerPoint Presenter View for these notes. Teach one example, pause for every learner to predict, then work an analogous example together. The practice notebook is a learning aid, not an extra graded upload.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Today’s learning.</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Today’s learning</a:t>
            </a:r>
          </a:p>
          <a:p xmlns:a="http://schemas.openxmlformats.org/drawingml/2006/main">
            <a:r>
              <a:t/>
            </a:r>
          </a:p>
          <a:p xmlns:a="http://schemas.openxmlformats.org/drawingml/2006/main">
            <a:r>
              <a:t>CONNECT</a:t>
            </a:r>
          </a:p>
          <a:p xmlns:a="http://schemas.openxmlformats.org/drawingml/2006/main">
            <a:r>
              <a:t>Previous slide: Creating and testing a useful feature.</a:t>
            </a:r>
          </a:p>
          <a:p xmlns:a="http://schemas.openxmlformats.org/drawingml/2006/main">
            <a:r>
              <a:t/>
            </a:r>
          </a:p>
          <a:p xmlns:a="http://schemas.openxmlformats.org/drawingml/2006/main">
            <a:r>
              <a:t>EXPLAIN</a:t>
            </a:r>
          </a:p>
          <a:p xmlns:a="http://schemas.openxmlformats.org/drawingml/2006/main">
            <a:r>
              <a:t>Create a feature from available measurements.</a:t>
            </a:r>
          </a:p>
          <a:p xmlns:a="http://schemas.openxmlformats.org/drawingml/2006/main">
            <a:r>
              <a:t/>
            </a:r>
          </a:p>
          <a:p xmlns:a="http://schemas.openxmlformats.org/drawingml/2006/main">
            <a:r>
              <a:t>Compare models with one controlled change.</a:t>
            </a:r>
          </a:p>
          <a:p xmlns:a="http://schemas.openxmlformats.org/drawingml/2006/main">
            <a:r>
              <a:t/>
            </a:r>
          </a:p>
          <a:p xmlns:a="http://schemas.openxmlformats.org/drawingml/2006/main">
            <a:r>
              <a:t>LECTURER CUE</a:t>
            </a:r>
          </a:p>
          <a:p xmlns:a="http://schemas.openxmlformats.org/drawingml/2006/main">
            <a:r>
              <a:t>Ask learners to explain this goal in ordinary language. The first successful attempt matters more than covering optional extensions. Defer: Five independent features, a full ColumnTransformer construction and domain-code features are extension. Never invent engineering limits.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Connection to the previous lesson.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Connection to the previous lesson</a:t>
            </a:r>
          </a:p>
          <a:p xmlns:a="http://schemas.openxmlformats.org/drawingml/2006/main">
            <a:r>
              <a:t/>
            </a:r>
          </a:p>
          <a:p xmlns:a="http://schemas.openxmlformats.org/drawingml/2006/main">
            <a:r>
              <a:t>CONNECT</a:t>
            </a:r>
          </a:p>
          <a:p xmlns:a="http://schemas.openxmlformats.org/drawingml/2006/main">
            <a:r>
              <a:t>Previous slide: Today’s learning.</a:t>
            </a:r>
          </a:p>
          <a:p xmlns:a="http://schemas.openxmlformats.org/drawingml/2006/main">
            <a:r>
              <a:t/>
            </a:r>
          </a:p>
          <a:p xmlns:a="http://schemas.openxmlformats.org/drawingml/2006/main">
            <a:r>
              <a:t>EXPLAIN</a:t>
            </a:r>
          </a:p>
          <a:p xmlns:a="http://schemas.openxmlformats.org/drawingml/2006/main">
            <a:r>
              <a:t>We already keep evaluation data separate. Now we change one input representation while keeping the comparison protocol fixed.</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Why this week’s tools are needed.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Why this week’s tools are needed</a:t>
            </a:r>
          </a:p>
          <a:p xmlns:a="http://schemas.openxmlformats.org/drawingml/2006/main">
            <a:r>
              <a:t/>
            </a:r>
          </a:p>
          <a:p xmlns:a="http://schemas.openxmlformats.org/drawingml/2006/main">
            <a:r>
              <a:t>CONNECT</a:t>
            </a:r>
          </a:p>
          <a:p xmlns:a="http://schemas.openxmlformats.org/drawingml/2006/main">
            <a:r>
              <a:t>Previous slide: Connection to the previous lesson.</a:t>
            </a:r>
          </a:p>
          <a:p xmlns:a="http://schemas.openxmlformats.org/drawingml/2006/main">
            <a:r>
              <a:t/>
            </a:r>
          </a:p>
          <a:p xmlns:a="http://schemas.openxmlformats.org/drawingml/2006/main">
            <a:r>
              <a:t>EXPLAIN</a:t>
            </a:r>
          </a:p>
          <a:p xmlns:a="http://schemas.openxmlformats.org/drawingml/2006/main">
            <a:r>
              <a:t>A calculated input may help a model. We compare the original and extended inputs on the same observations, then decide whether the evidence supports the extra feature.</a:t>
            </a:r>
          </a:p>
          <a:p xmlns:a="http://schemas.openxmlformats.org/drawingml/2006/main">
            <a:r>
              <a:t/>
            </a:r>
          </a:p>
          <a:p xmlns:a="http://schemas.openxmlformats.org/drawingml/2006/main">
            <a:r>
              <a:t>LECTURER CUE</a:t>
            </a:r>
          </a:p>
          <a:p xmlns:a="http://schemas.openxmlformats.org/drawingml/2006/main">
            <a:r>
              <a:t>A building team records indoor temperature to investigate comfort. Civil students can discuss construction and inspection; architecture students can discuss shading and ventilation. Explain the quantities before using them.</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feature has a meaning.</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feature has a meaning</a:t>
            </a:r>
          </a:p>
          <a:p xmlns:a="http://schemas.openxmlformats.org/drawingml/2006/main">
            <a:r>
              <a:t/>
            </a:r>
          </a:p>
          <a:p xmlns:a="http://schemas.openxmlformats.org/drawingml/2006/main">
            <a:r>
              <a:t>CONNECT</a:t>
            </a:r>
          </a:p>
          <a:p xmlns:a="http://schemas.openxmlformats.org/drawingml/2006/main">
            <a:r>
              <a:t>Previous slide: Why this week’s tools are needed.</a:t>
            </a:r>
          </a:p>
          <a:p xmlns:a="http://schemas.openxmlformats.org/drawingml/2006/main">
            <a:r>
              <a:t/>
            </a:r>
          </a:p>
          <a:p xmlns:a="http://schemas.openxmlformats.org/drawingml/2006/main">
            <a:r>
              <a:t>EXPLAIN</a:t>
            </a:r>
          </a:p>
          <a:p xmlns:a="http://schemas.openxmlformats.org/drawingml/2006/main">
            <a:r>
              <a:t>A feature is an input available at prediction time.</a:t>
            </a:r>
          </a:p>
          <a:p xmlns:a="http://schemas.openxmlformats.org/drawingml/2006/main">
            <a:r>
              <a:t/>
            </a:r>
          </a:p>
          <a:p xmlns:a="http://schemas.openxmlformats.org/drawingml/2006/main">
            <a:r>
              <a:t>An interaction multiplies two inputs to express a joint pattern.</a:t>
            </a:r>
          </a:p>
          <a:p xmlns:a="http://schemas.openxmlformats.org/drawingml/2006/main">
            <a:r>
              <a:t/>
            </a:r>
          </a:p>
          <a:p xmlns:a="http://schemas.openxmlformats.org/drawingml/2006/main">
            <a:r>
              <a:t>A better validation score can still reflect leakage.</a:t>
            </a:r>
          </a:p>
          <a:p xmlns:a="http://schemas.openxmlformats.org/drawingml/2006/main">
            <a:r>
              <a:t/>
            </a:r>
          </a:p>
          <a:p xmlns:a="http://schemas.openxmlformats.org/drawingml/2006/main">
            <a:r>
              <a:t>Compare the same observations and explain the physical meaning.</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Derived feature and Ratio and interaction.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Derived feature and Ratio and interaction</a:t>
            </a:r>
          </a:p>
          <a:p xmlns:a="http://schemas.openxmlformats.org/drawingml/2006/main">
            <a:r>
              <a:t/>
            </a:r>
          </a:p>
          <a:p xmlns:a="http://schemas.openxmlformats.org/drawingml/2006/main">
            <a:r>
              <a:t>CONNECT</a:t>
            </a:r>
          </a:p>
          <a:p xmlns:a="http://schemas.openxmlformats.org/drawingml/2006/main">
            <a:r>
              <a:t>Previous slide: A feature has a meaning.</a:t>
            </a:r>
          </a:p>
          <a:p xmlns:a="http://schemas.openxmlformats.org/drawingml/2006/main">
            <a:r>
              <a:t/>
            </a:r>
          </a:p>
          <a:p xmlns:a="http://schemas.openxmlformats.org/drawingml/2006/main">
            <a:r>
              <a:t>EXPLAIN</a:t>
            </a:r>
          </a:p>
          <a:p xmlns:a="http://schemas.openxmlformats.org/drawingml/2006/main">
            <a:r>
              <a:t>Derived feature: A new input calculated from existing inputs. Its definition and unit must be stated.</a:t>
            </a:r>
          </a:p>
          <a:p xmlns:a="http://schemas.openxmlformats.org/drawingml/2006/main">
            <a:r>
              <a:t/>
            </a:r>
          </a:p>
          <a:p xmlns:a="http://schemas.openxmlformats.org/drawingml/2006/main">
            <a:r>
              <a:t>Ratio and interaction: A ratio divides quantities; an interaction multiplies them. Both need a domain explanation and a unit check.</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Read the physical example across programmes.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Read the physical example across programmes</a:t>
            </a:r>
          </a:p>
          <a:p xmlns:a="http://schemas.openxmlformats.org/drawingml/2006/main">
            <a:r>
              <a:t/>
            </a:r>
          </a:p>
          <a:p xmlns:a="http://schemas.openxmlformats.org/drawingml/2006/main">
            <a:r>
              <a:t>CONNECT</a:t>
            </a:r>
          </a:p>
          <a:p xmlns:a="http://schemas.openxmlformats.org/drawingml/2006/main">
            <a:r>
              <a:t>Previous slide: Derived feature and Ratio and interaction.</a:t>
            </a:r>
          </a:p>
          <a:p xmlns:a="http://schemas.openxmlformats.org/drawingml/2006/main">
            <a:r>
              <a:t/>
            </a:r>
          </a:p>
          <a:p xmlns:a="http://schemas.openxmlformats.org/drawingml/2006/main">
            <a:r>
              <a:t>EXPLAIN</a:t>
            </a:r>
          </a:p>
          <a:p xmlns:a="http://schemas.openxmlformats.org/drawingml/2006/main">
            <a:r>
              <a:t>Current I is the flow of electric charge, measured in amperes (A). Resistance R opposes that flow, measured in ohms.</a:t>
            </a:r>
          </a:p>
          <a:p xmlns:a="http://schemas.openxmlformats.org/drawingml/2006/main">
            <a:r>
              <a:t/>
            </a:r>
          </a:p>
          <a:p xmlns:a="http://schemas.openxmlformats.org/drawingml/2006/main">
            <a:r>
              <a:t>Power P is energy transferred per second, measured in watts (W). Resistive heating follows P = I²R in this example.</a:t>
            </a:r>
          </a:p>
          <a:p xmlns:a="http://schemas.openxmlformats.org/drawingml/2006/main">
            <a:r>
              <a:t/>
            </a:r>
          </a:p>
          <a:p xmlns:a="http://schemas.openxmlformats.org/drawingml/2006/main">
            <a:r>
              <a:t>I² means I × I. With I = 2 A and R = 3 ohms, P = 2 × 2 × 3 = 12 W. This relationship motivates a feature; evaluation still tests whether it helps.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physical relationship can form a feature.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physical relationship can form a feature</a:t>
            </a:r>
          </a:p>
          <a:p xmlns:a="http://schemas.openxmlformats.org/drawingml/2006/main">
            <a:r>
              <a:t/>
            </a:r>
          </a:p>
          <a:p xmlns:a="http://schemas.openxmlformats.org/drawingml/2006/main">
            <a:r>
              <a:t>CONNECT</a:t>
            </a:r>
          </a:p>
          <a:p xmlns:a="http://schemas.openxmlformats.org/drawingml/2006/main">
            <a:r>
              <a:t>Previous slide: Read the physical example across programmes.</a:t>
            </a:r>
          </a:p>
          <a:p xmlns:a="http://schemas.openxmlformats.org/drawingml/2006/main">
            <a:r>
              <a:t/>
            </a:r>
          </a:p>
          <a:p xmlns:a="http://schemas.openxmlformats.org/drawingml/2006/main">
            <a:r>
              <a:t>EXPLAIN</a:t>
            </a:r>
          </a:p>
          <a:p xmlns:a="http://schemas.openxmlformats.org/drawingml/2006/main">
            <a:r>
              <a:t>Explain each quantity and the unit of the result.</a:t>
            </a:r>
          </a:p>
          <a:p xmlns:a="http://schemas.openxmlformats.org/drawingml/2006/main">
            <a:r>
              <a:t/>
            </a:r>
          </a:p>
          <a:p xmlns:a="http://schemas.openxmlformats.org/drawingml/2006/main">
            <a:r>
              <a:t>LECTURER CUE</a:t>
            </a:r>
          </a:p>
          <a:p xmlns:a="http://schemas.openxmlformats.org/drawingml/2006/main">
            <a:r>
              <a:t>Ask students to describe what they see before introducing terminology. Generated conceptual teaching illustration.  Source: figs/experiential/ASSET_SOURCES.md.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An interaction uses two known inputs.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An interaction uses two known inputs</a:t>
            </a:r>
          </a:p>
          <a:p xmlns:a="http://schemas.openxmlformats.org/drawingml/2006/main">
            <a:r>
              <a:t/>
            </a:r>
          </a:p>
          <a:p xmlns:a="http://schemas.openxmlformats.org/drawingml/2006/main">
            <a:r>
              <a:t>CONNECT</a:t>
            </a:r>
          </a:p>
          <a:p xmlns:a="http://schemas.openxmlformats.org/drawingml/2006/main">
            <a:r>
              <a:t>Previous slide: A physical relationship can form a feature.</a:t>
            </a:r>
          </a:p>
          <a:p xmlns:a="http://schemas.openxmlformats.org/drawingml/2006/main">
            <a:r>
              <a:t/>
            </a:r>
          </a:p>
          <a:p xmlns:a="http://schemas.openxmlformats.org/drawingml/2006/main">
            <a:r>
              <a:t>EXPLAIN</a:t>
            </a:r>
          </a:p>
          <a:p xmlns:a="http://schemas.openxmlformats.org/drawingml/2006/main">
            <a:r>
              <a:t>Current A | Resistance ohm | I squared × R W</a:t>
            </a:r>
          </a:p>
          <a:p xmlns:a="http://schemas.openxmlformats.org/drawingml/2006/main">
            <a:r>
              <a:t/>
            </a:r>
          </a:p>
          <a:p xmlns:a="http://schemas.openxmlformats.org/drawingml/2006/main">
            <a:r>
              <a:t>2 | 3 | 12</a:t>
            </a:r>
          </a:p>
          <a:p xmlns:a="http://schemas.openxmlformats.org/drawingml/2006/main">
            <a:r>
              <a:t/>
            </a:r>
          </a:p>
          <a:p xmlns:a="http://schemas.openxmlformats.org/drawingml/2006/main">
            <a:r>
              <a:t>4 | 3 | 48</a:t>
            </a:r>
          </a:p>
          <a:p xmlns:a="http://schemas.openxmlformats.org/drawingml/2006/main">
            <a:r>
              <a:t/>
            </a:r>
          </a:p>
          <a:p xmlns:a="http://schemas.openxmlformats.org/drawingml/2006/main">
            <a:r>
              <a:t>A derived input must be available when predicting. A useful physical relationship still needs validation.</a:t>
            </a:r>
          </a:p>
          <a:p xmlns:a="http://schemas.openxmlformats.org/drawingml/2006/main">
            <a:r>
              <a:t/>
            </a:r>
          </a:p>
          <a:p xmlns:a="http://schemas.openxmlformats.org/drawingml/2006/main">
            <a:r>
              <a:t>LECTURER CUE</a:t>
            </a:r>
          </a:p>
          <a:p xmlns:a="http://schemas.openxmlformats.org/drawingml/2006/main">
            <a:r>
              <a:t>A derived input must be available when predicting. A useful physical relationship still needs validation.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percentage and its fraction.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percentage and its fraction</a:t>
            </a:r>
          </a:p>
          <a:p xmlns:a="http://schemas.openxmlformats.org/drawingml/2006/main">
            <a:r>
              <a:t/>
            </a:r>
          </a:p>
          <a:p xmlns:a="http://schemas.openxmlformats.org/drawingml/2006/main">
            <a:r>
              <a:t>CONNECT</a:t>
            </a:r>
          </a:p>
          <a:p xmlns:a="http://schemas.openxmlformats.org/drawingml/2006/main">
            <a:r>
              <a:t>Previous slide: An interaction uses two known inputs.</a:t>
            </a:r>
          </a:p>
          <a:p xmlns:a="http://schemas.openxmlformats.org/drawingml/2006/main">
            <a:r>
              <a:t/>
            </a:r>
          </a:p>
          <a:p xmlns:a="http://schemas.openxmlformats.org/drawingml/2006/main">
            <a:r>
              <a:t>EXPLAIN</a:t>
            </a:r>
          </a:p>
          <a:p xmlns:a="http://schemas.openxmlformats.org/drawingml/2006/main">
            <a:r>
              <a:t>40% means 40 out of 100.</a:t>
            </a:r>
          </a:p>
          <a:p xmlns:a="http://schemas.openxmlformats.org/drawingml/2006/main">
            <a:r>
              <a:t/>
            </a:r>
          </a:p>
          <a:p xmlns:a="http://schemas.openxmlformats.org/drawingml/2006/main">
            <a:r>
              <a:t>40 / 100 gives 0.4.</a:t>
            </a:r>
          </a:p>
          <a:p xmlns:a="http://schemas.openxmlformats.org/drawingml/2006/main">
            <a:r>
              <a:t/>
            </a:r>
          </a:p>
          <a:p xmlns:a="http://schemas.openxmlformats.org/drawingml/2006/main">
            <a:r>
              <a:t>This changes the representation. It adds no new observation.</a:t>
            </a:r>
          </a:p>
          <a:p xmlns:a="http://schemas.openxmlformats.org/drawingml/2006/main">
            <a:r>
              <a:t/>
            </a:r>
          </a:p>
          <a:p xmlns:a="http://schemas.openxmlformats.org/drawingml/2006/main">
            <a:r>
              <a:t>LECTURER CUE</a:t>
            </a:r>
          </a:p>
          <a:p xmlns:a="http://schemas.openxmlformats.org/drawingml/2006/main">
            <a:r>
              <a:t>Begin with a percentage: 40% means 40 / 100 = 0.4. Converting percentage to fraction changes units but adds no new information.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 combined input needs a reason.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 combined input needs a reason</a:t>
            </a:r>
          </a:p>
          <a:p xmlns:a="http://schemas.openxmlformats.org/drawingml/2006/main">
            <a:r>
              <a:t/>
            </a:r>
          </a:p>
          <a:p xmlns:a="http://schemas.openxmlformats.org/drawingml/2006/main">
            <a:r>
              <a:t>CONNECT</a:t>
            </a:r>
          </a:p>
          <a:p xmlns:a="http://schemas.openxmlformats.org/drawingml/2006/main">
            <a:r>
              <a:t>Previous slide: A percentage and its fraction.</a:t>
            </a:r>
          </a:p>
          <a:p xmlns:a="http://schemas.openxmlformats.org/drawingml/2006/main">
            <a:r>
              <a:t/>
            </a:r>
          </a:p>
          <a:p xmlns:a="http://schemas.openxmlformats.org/drawingml/2006/main">
            <a:r>
              <a:t>EXPLAIN</a:t>
            </a:r>
          </a:p>
          <a:p xmlns:a="http://schemas.openxmlformats.org/drawingml/2006/main">
            <a:r>
              <a:t>An interaction multiplies two inputs.</a:t>
            </a:r>
          </a:p>
          <a:p xmlns:a="http://schemas.openxmlformats.org/drawingml/2006/main">
            <a:r>
              <a:t/>
            </a:r>
          </a:p>
          <a:p xmlns:a="http://schemas.openxmlformats.org/drawingml/2006/main">
            <a:r>
              <a:t>It may help a simple model represent a joint pattern.</a:t>
            </a:r>
          </a:p>
          <a:p xmlns:a="http://schemas.openxmlformats.org/drawingml/2006/main">
            <a:r>
              <a:t/>
            </a:r>
          </a:p>
          <a:p xmlns:a="http://schemas.openxmlformats.org/drawingml/2006/main">
            <a:r>
              <a:t>An interaction with degrees Celsius is an empirical feature, not automatically a physical law.</a:t>
            </a:r>
          </a:p>
          <a:p xmlns:a="http://schemas.openxmlformats.org/drawingml/2006/main">
            <a:r>
              <a:t/>
            </a:r>
          </a:p>
          <a:p xmlns:a="http://schemas.openxmlformats.org/drawingml/2006/main">
            <a:r>
              <a:t>LECTURER CUE</a:t>
            </a:r>
          </a:p>
          <a:p xmlns:a="http://schemas.openxmlformats.org/drawingml/2006/main">
            <a:r>
              <a:t>An interaction may help a simple model express a relationship, but usefulness is tested rather than assumed. An interaction involving Celsius is an empirical feature, not automatically a physical law.</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Ablation and Improvement.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Ablation and Improvement</a:t>
            </a:r>
          </a:p>
          <a:p xmlns:a="http://schemas.openxmlformats.org/drawingml/2006/main">
            <a:r>
              <a:t/>
            </a:r>
          </a:p>
          <a:p xmlns:a="http://schemas.openxmlformats.org/drawingml/2006/main">
            <a:r>
              <a:t>CONNECT</a:t>
            </a:r>
          </a:p>
          <a:p xmlns:a="http://schemas.openxmlformats.org/drawingml/2006/main">
            <a:r>
              <a:t>Previous slide: A combined input needs a reason.</a:t>
            </a:r>
          </a:p>
          <a:p xmlns:a="http://schemas.openxmlformats.org/drawingml/2006/main">
            <a:r>
              <a:t/>
            </a:r>
          </a:p>
          <a:p xmlns:a="http://schemas.openxmlformats.org/drawingml/2006/main">
            <a:r>
              <a:t>EXPLAIN</a:t>
            </a:r>
          </a:p>
          <a:p xmlns:a="http://schemas.openxmlformats.org/drawingml/2006/main">
            <a:r>
              <a:t>Ablation: Compare a model with and without a feature while keeping the data partitions, model family and metric fixed.</a:t>
            </a:r>
          </a:p>
          <a:p xmlns:a="http://schemas.openxmlformats.org/drawingml/2006/main">
            <a:r>
              <a:t/>
            </a:r>
          </a:p>
          <a:p xmlns:a="http://schemas.openxmlformats.org/drawingml/2006/main">
            <a:r>
              <a:t>Improvement: For an error metric, baseline error minus new error. A negative result means the added feature worsened validation error in that comparison.</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One change makes a comparison interpretable.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One change makes a comparison interpretable</a:t>
            </a:r>
          </a:p>
          <a:p xmlns:a="http://schemas.openxmlformats.org/drawingml/2006/main">
            <a:r>
              <a:t/>
            </a:r>
          </a:p>
          <a:p xmlns:a="http://schemas.openxmlformats.org/drawingml/2006/main">
            <a:r>
              <a:t>CONNECT</a:t>
            </a:r>
          </a:p>
          <a:p xmlns:a="http://schemas.openxmlformats.org/drawingml/2006/main">
            <a:r>
              <a:t>Previous slide: Ablation and Improvement.</a:t>
            </a:r>
          </a:p>
          <a:p xmlns:a="http://schemas.openxmlformats.org/drawingml/2006/main">
            <a:r>
              <a:t/>
            </a:r>
          </a:p>
          <a:p xmlns:a="http://schemas.openxmlformats.org/drawingml/2006/main">
            <a:r>
              <a:t>EXPLAIN</a:t>
            </a:r>
          </a:p>
          <a:p xmlns:a="http://schemas.openxmlformats.org/drawingml/2006/main">
            <a:r>
              <a:t>Base MAE is 3.0. Extended MAE is 2.5.</a:t>
            </a:r>
          </a:p>
          <a:p xmlns:a="http://schemas.openxmlformats.org/drawingml/2006/main">
            <a:r>
              <a:t/>
            </a:r>
          </a:p>
          <a:p xmlns:a="http://schemas.openxmlformats.org/drawingml/2006/main">
            <a:r>
              <a:t>Improvement = base error minus extended error = 0.5.</a:t>
            </a:r>
          </a:p>
          <a:p xmlns:a="http://schemas.openxmlformats.org/drawingml/2006/main">
            <a:r>
              <a:t/>
            </a:r>
          </a:p>
          <a:p xmlns:a="http://schemas.openxmlformats.org/drawingml/2006/main">
            <a:r>
              <a:t>Keep the training rows, validation rows, model family and metric fixed.</a:t>
            </a:r>
          </a:p>
          <a:p xmlns:a="http://schemas.openxmlformats.org/drawingml/2006/main">
            <a:r>
              <a:t/>
            </a:r>
          </a:p>
          <a:p xmlns:a="http://schemas.openxmlformats.org/drawingml/2006/main">
            <a:r>
              <a:t>LECTURER CUE</a:t>
            </a:r>
          </a:p>
          <a:p xmlns:a="http://schemas.openxmlformats.org/drawingml/2006/main">
            <a:r>
              <a:t>Read a two-row results table: base MAE 3, extended MAE 2.5 gives improvement 0.5 target units. Ask which other experimental choices must stay fixed.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Worked example.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Feature comparisons in Python</a:t>
            </a:r>
          </a:p>
          <a:p xmlns:a="http://schemas.openxmlformats.org/drawingml/2006/main">
            <a:r>
              <a:t/>
            </a:r>
          </a:p>
          <a:p xmlns:a="http://schemas.openxmlformats.org/drawingml/2006/main">
            <a:r>
              <a:t>CONNECT</a:t>
            </a:r>
          </a:p>
          <a:p xmlns:a="http://schemas.openxmlformats.org/drawingml/2006/main">
            <a:r>
              <a:t>Previous slide: One change makes a comparison interpretable.</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load_pct = 40</a:t>
            </a:r>
          </a:p>
          <a:p xmlns:a="http://schemas.openxmlformats.org/drawingml/2006/main">
            <a:r>
              <a:t>ambient_c = 25</a:t>
            </a:r>
          </a:p>
          <a:p xmlns:a="http://schemas.openxmlformats.org/drawingml/2006/main">
            <a:r>
              <a:t>load_fraction = load_pct / 100</a:t>
            </a:r>
          </a:p>
          <a:p xmlns:a="http://schemas.openxmlformats.org/drawingml/2006/main">
            <a:r>
              <a:t>interaction = load_pct * ambient_c</a:t>
            </a:r>
          </a:p>
          <a:p xmlns:a="http://schemas.openxmlformats.org/drawingml/2006/main">
            <a:r>
              <a:t>print(load_fraction, interaction)</a:t>
            </a:r>
          </a:p>
          <a:p xmlns:a="http://schemas.openxmlformats.org/drawingml/2006/main">
            <a:r>
              <a:t>base_mae = 3.0</a:t>
            </a:r>
          </a:p>
          <a:p xmlns:a="http://schemas.openxmlformats.org/drawingml/2006/main">
            <a:r>
              <a:t>extended_mae = 2.5</a:t>
            </a:r>
          </a:p>
          <a:p xmlns:a="http://schemas.openxmlformats.org/drawingml/2006/main">
            <a:r>
              <a:t>print(base_mae - extended_mae)</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 assigns the value on the right to the name on the left.</a:t>
            </a:r>
          </a:p>
          <a:p xmlns:a="http://schemas.openxmlformats.org/drawingml/2006/main">
            <a:r>
              <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CUE</a:t>
            </a:r>
          </a:p>
          <a:p xmlns:a="http://schemas.openxmlformats.org/drawingml/2006/main">
            <a:r>
              <a:t>Begin with a percentage: 40% means 40 / 100 = 0.4. Converting percentage to fraction changes units but adds no new information. An interaction may help a simple model express a relationship, but usefulness is tested rather than assumed. An interaction involving Celsius is an empirical feature, not automatically a physical law. Read a two-row results table: base MAE 3, extended MAE 2.5 gives improvement 0.5 target units. Ask which other experimental choices must stay fixed.</a:t>
            </a:r>
          </a:p>
          <a:p xmlns:a="http://schemas.openxmlformats.org/drawingml/2006/main">
            <a:r>
              <a:t/>
            </a:r>
          </a:p>
          <a:p xmlns:a="http://schemas.openxmlformats.org/drawingml/2006/main">
            <a:r>
              <a:t>Complete practice code:</a:t>
            </a:r>
          </a:p>
          <a:p xmlns:a="http://schemas.openxmlformats.org/drawingml/2006/main">
            <a:r>
              <a:t>load_pct = 40</a:t>
            </a:r>
          </a:p>
          <a:p xmlns:a="http://schemas.openxmlformats.org/drawingml/2006/main">
            <a:r>
              <a:t>ambient_c = 25</a:t>
            </a:r>
          </a:p>
          <a:p xmlns:a="http://schemas.openxmlformats.org/drawingml/2006/main">
            <a:r>
              <a:t>load_fraction = load_pct / 100</a:t>
            </a:r>
          </a:p>
          <a:p xmlns:a="http://schemas.openxmlformats.org/drawingml/2006/main">
            <a:r>
              <a:t>interaction = load_pct * ambient_c</a:t>
            </a:r>
          </a:p>
          <a:p xmlns:a="http://schemas.openxmlformats.org/drawingml/2006/main">
            <a:r>
              <a:t>print(load_fraction, interaction)</a:t>
            </a:r>
          </a:p>
          <a:p xmlns:a="http://schemas.openxmlformats.org/drawingml/2006/main">
            <a:r>
              <a:t>base_mae = 3.0</a:t>
            </a:r>
          </a:p>
          <a:p xmlns:a="http://schemas.openxmlformats.org/drawingml/2006/main">
            <a:r>
              <a:t>extended_mae = 2.5</a:t>
            </a:r>
          </a:p>
          <a:p xmlns:a="http://schemas.openxmlformats.org/drawingml/2006/main">
            <a:r>
              <a:t>print(base_mae - extended_mae)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Expected output.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Feature comparisons results</a:t>
            </a:r>
          </a:p>
          <a:p xmlns:a="http://schemas.openxmlformats.org/drawingml/2006/main">
            <a:r>
              <a:t/>
            </a:r>
          </a:p>
          <a:p xmlns:a="http://schemas.openxmlformats.org/drawingml/2006/main">
            <a:r>
              <a:t>CONNECT</a:t>
            </a:r>
          </a:p>
          <a:p xmlns:a="http://schemas.openxmlformats.org/drawingml/2006/main">
            <a:r>
              <a:t>Previous slide: Feature comparisons in Python.</a:t>
            </a:r>
          </a:p>
          <a:p xmlns:a="http://schemas.openxmlformats.org/drawingml/2006/main">
            <a:r>
              <a:t/>
            </a:r>
          </a:p>
          <a:p xmlns:a="http://schemas.openxmlformats.org/drawingml/2006/main">
            <a:r>
              <a:t>EXPLAIN</a:t>
            </a:r>
          </a:p>
          <a:p xmlns:a="http://schemas.openxmlformats.org/drawingml/2006/main">
            <a:r>
              <a:t>0.4 1000</a:t>
            </a:r>
          </a:p>
          <a:p xmlns:a="http://schemas.openxmlformats.org/drawingml/2006/main">
            <a:r>
              <a:t>0.5</a:t>
            </a:r>
          </a:p>
          <a:p xmlns:a="http://schemas.openxmlformats.org/drawingml/2006/main">
            <a:r>
              <a:t/>
            </a:r>
          </a:p>
          <a:p xmlns:a="http://schemas.openxmlformats.org/drawingml/2006/main">
            <a:r>
              <a:t>LECTURER CUE</a:t>
            </a:r>
          </a:p>
          <a:p xmlns:a="http://schemas.openxmlformats.org/drawingml/2006/main">
            <a:r>
              <a:t>Compare the actual output character by character with this practice result. If it differs, read the first error and check the input, units, names and execution order. Do not copy this practice output into a graded answer.</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Read the two-model experiment.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Read the two-model experiment</a:t>
            </a:r>
          </a:p>
          <a:p xmlns:a="http://schemas.openxmlformats.org/drawingml/2006/main">
            <a:r>
              <a:t/>
            </a:r>
          </a:p>
          <a:p xmlns:a="http://schemas.openxmlformats.org/drawingml/2006/main">
            <a:r>
              <a:t>CONNECT</a:t>
            </a:r>
          </a:p>
          <a:p xmlns:a="http://schemas.openxmlformats.org/drawingml/2006/main">
            <a:r>
              <a:t>Previous slide: Feature comparisons results.</a:t>
            </a:r>
          </a:p>
          <a:p xmlns:a="http://schemas.openxmlformats.org/drawingml/2006/main">
            <a:r>
              <a:t/>
            </a:r>
          </a:p>
          <a:p xmlns:a="http://schemas.openxmlformats.org/drawingml/2006/main">
            <a:r>
              <a:t>EXPLAIN</a:t>
            </a:r>
          </a:p>
          <a:p xmlns:a="http://schemas.openxmlformats.org/drawingml/2006/main">
            <a:r>
              <a:t>Each row contains a pair of inputs. for a, b in rows assigns the first entry to a and the second to b, then repeats the block.</a:t>
            </a:r>
          </a:p>
          <a:p xmlns:a="http://schemas.openxmlformats.org/drawingml/2006/main">
            <a:r>
              <a:t/>
            </a:r>
          </a:p>
          <a:p xmlns:a="http://schemas.openxmlformats.org/drawingml/2006/main">
            <a:r>
              <a:t>with_interaction returns a new table containing a, b and a × b. Both models keep the same training and validation rows.</a:t>
            </a:r>
          </a:p>
          <a:p xmlns:a="http://schemas.openxmlformats.org/drawingml/2006/main">
            <a:r>
              <a:t/>
            </a:r>
          </a:p>
          <a:p xmlns:a="http://schemas.openxmlformats.org/drawingml/2006/main">
            <a:r>
              <a:t>Create the model first, then call fit on the next line. round(value, 6) rounds a displayed number to six decimal places; retain full precision for calculations.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Trace the interaction-building function.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Trace the interaction-building function</a:t>
            </a:r>
          </a:p>
          <a:p xmlns:a="http://schemas.openxmlformats.org/drawingml/2006/main">
            <a:r>
              <a:t/>
            </a:r>
          </a:p>
          <a:p xmlns:a="http://schemas.openxmlformats.org/drawingml/2006/main">
            <a:r>
              <a:t>CONNECT</a:t>
            </a:r>
          </a:p>
          <a:p xmlns:a="http://schemas.openxmlformats.org/drawingml/2006/main">
            <a:r>
              <a:t>Previous slide: Read the two-model experiment.</a:t>
            </a:r>
          </a:p>
          <a:p xmlns:a="http://schemas.openxmlformats.org/drawingml/2006/main">
            <a:r>
              <a:t/>
            </a:r>
          </a:p>
          <a:p xmlns:a="http://schemas.openxmlformats.org/drawingml/2006/main">
            <a:r>
              <a:t>EXPLAIN</a:t>
            </a:r>
          </a:p>
          <a:p xmlns:a="http://schemas.openxmlformats.org/drawingml/2006/main">
            <a:r>
              <a:t>Each row contains two inputs. for a, b in rows: assigns them to a and b. [a, b, a * b] builds a new row with their product as a third input.</a:t>
            </a:r>
          </a:p>
          <a:p xmlns:a="http://schemas.openxmlformats.org/drawingml/2006/main">
            <a:r>
              <a:t/>
            </a:r>
          </a:p>
          <a:p xmlns:a="http://schemas.openxmlformats.org/drawingml/2006/main">
            <a:r>
              <a:t>For row [2, 3], append [2, 3, 6]. For row [4, 5], append [4, 5, 20]. The function returns the newly built list of rows.</a:t>
            </a:r>
          </a:p>
          <a:p xmlns:a="http://schemas.openxmlformats.org/drawingml/2006/main">
            <a:r>
              <a:t/>
            </a:r>
          </a:p>
          <a:p xmlns:a="http://schemas.openxmlformats.org/drawingml/2006/main">
            <a:r>
              <a:t>The same function must transform both training and validation inputs. It uses no target values to construct the new feature.</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Two models under one protocol.</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Two models under one protocol</a:t>
            </a:r>
          </a:p>
          <a:p xmlns:a="http://schemas.openxmlformats.org/drawingml/2006/main">
            <a:r>
              <a:t/>
            </a:r>
          </a:p>
          <a:p xmlns:a="http://schemas.openxmlformats.org/drawingml/2006/main">
            <a:r>
              <a:t>CONNECT</a:t>
            </a:r>
          </a:p>
          <a:p xmlns:a="http://schemas.openxmlformats.org/drawingml/2006/main">
            <a:r>
              <a:t>Previous slide: Trace the interaction-building function.</a:t>
            </a:r>
          </a:p>
          <a:p xmlns:a="http://schemas.openxmlformats.org/drawingml/2006/main">
            <a:r>
              <a:t/>
            </a:r>
          </a:p>
          <a:p xmlns:a="http://schemas.openxmlformats.org/drawingml/2006/main">
            <a:r>
              <a:t>EXPLAIN</a:t>
            </a:r>
          </a:p>
          <a:p xmlns:a="http://schemas.openxmlformats.org/drawingml/2006/main">
            <a:r>
              <a:t>Run this complete practice experiment in a fresh session.</a:t>
            </a:r>
          </a:p>
          <a:p xmlns:a="http://schemas.openxmlformats.org/drawingml/2006/main">
            <a:r>
              <a:t/>
            </a:r>
          </a:p>
          <a:p xmlns:a="http://schemas.openxmlformats.org/drawingml/2006/main">
            <a:r>
              <a:t>Both models use the same rows and targets; the second receives one additional input.</a:t>
            </a:r>
          </a:p>
          <a:p xmlns:a="http://schemas.openxmlformats.org/drawingml/2006/main">
            <a:r>
              <a:t/>
            </a:r>
          </a:p>
          <a:p xmlns:a="http://schemas.openxmlformats.org/drawingml/2006/main">
            <a:r>
              <a:t>Read every column before fitting.</a:t>
            </a:r>
          </a:p>
          <a:p xmlns:a="http://schemas.openxmlformats.org/drawingml/2006/main">
            <a:r>
              <a:t/>
            </a:r>
          </a:p>
          <a:p xmlns:a="http://schemas.openxmlformats.org/drawingml/2006/main">
            <a:r>
              <a:t>This invented experiment illustrates procedure, not a measured engineering benefit.</a:t>
            </a:r>
          </a:p>
          <a:p xmlns:a="http://schemas.openxmlformats.org/drawingml/2006/main">
            <a:r>
              <a:t/>
            </a:r>
          </a:p>
          <a:p xmlns:a="http://schemas.openxmlformats.org/drawingml/2006/main">
            <a:r>
              <a:t>LECTURER CUE</a:t>
            </a:r>
          </a:p>
          <a:p xmlns:a="http://schemas.openxmlformats.org/drawingml/2006/main">
            <a:r>
              <a:t>Run this complete practice experiment in a fresh session. Both models use the same rows and targets; the second receives one additional input. Read every column before fitting. This invented experiment illustrates procedure, not a measured engineering benefit.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Two models under one protocol in Python (1/3).</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Two models under one protocol in Python (1/3)</a:t>
            </a:r>
          </a:p>
          <a:p xmlns:a="http://schemas.openxmlformats.org/drawingml/2006/main">
            <a:r>
              <a:t/>
            </a:r>
          </a:p>
          <a:p xmlns:a="http://schemas.openxmlformats.org/drawingml/2006/main">
            <a:r>
              <a:t>CONNECT</a:t>
            </a:r>
          </a:p>
          <a:p xmlns:a="http://schemas.openxmlformats.org/drawingml/2006/main">
            <a:r>
              <a:t>Previous slide: Two models under one protocol.</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from sklearn.linear_model import LinearRegression</a:t>
            </a:r>
          </a:p>
          <a:p xmlns:a="http://schemas.openxmlformats.org/drawingml/2006/main">
            <a:r>
              <a:t>from sklearn.metrics import mean_absolute_error</a:t>
            </a:r>
          </a:p>
          <a:p xmlns:a="http://schemas.openxmlformats.org/drawingml/2006/main">
            <a:r>
              <a:t>train = [[1, 2], [2, 3], [3, 2], [4, 4], [5, 3]]</a:t>
            </a:r>
          </a:p>
          <a:p xmlns:a="http://schemas.openxmlformats.org/drawingml/2006/main">
            <a:r>
              <a:t>y = [3, 5, 5, 8, 8]</a:t>
            </a:r>
          </a:p>
          <a:p xmlns:a="http://schemas.openxmlformats.org/drawingml/2006/main">
            <a:r>
              <a:t>validation = [[2, 2], [3, 3]]</a:t>
            </a:r>
          </a:p>
          <a:p xmlns:a="http://schemas.openxmlformats.org/drawingml/2006/main">
            <a:r>
              <a:t>truth = [4, 6]</a:t>
            </a:r>
          </a:p>
          <a:p xmlns:a="http://schemas.openxmlformats.org/drawingml/2006/main">
            <a:r>
              <a:t/>
            </a:r>
          </a:p>
          <a:p xmlns:a="http://schemas.openxmlformats.org/drawingml/2006/main">
            <a:r>
              <a:t>import loads a library. from selects a tool from it.</a:t>
            </a:r>
          </a:p>
          <a:p xmlns:a="http://schemas.openxmlformats.org/drawingml/2006/main">
            <a:r>
              <a:t/>
            </a:r>
          </a:p>
          <a:p xmlns:a="http://schemas.openxmlformats.org/drawingml/2006/main">
            <a:r>
              <a:t>Square brackets create a list or select an item.</a:t>
            </a:r>
          </a:p>
          <a:p xmlns:a="http://schemas.openxmlformats.org/drawingml/2006/main">
            <a:r>
              <a:t/>
            </a:r>
          </a:p>
          <a:p xmlns:a="http://schemas.openxmlformats.org/drawingml/2006/main">
            <a:r>
              <a:t>= assigns the value on the right to the name on the left.</a:t>
            </a:r>
          </a:p>
          <a:p xmlns:a="http://schemas.openxmlformats.org/drawingml/2006/main">
            <a:r>
              <a:t/>
            </a:r>
          </a:p>
          <a:p xmlns:a="http://schemas.openxmlformats.org/drawingml/2006/main">
            <a:r>
              <a:t>Read top to bottom. Run the complete example in the matching practice notebook.</a:t>
            </a:r>
          </a:p>
          <a:p xmlns:a="http://schemas.openxmlformats.org/drawingml/2006/main">
            <a:r>
              <a:t/>
            </a:r>
          </a:p>
          <a:p xmlns:a="http://schemas.openxmlformats.org/drawingml/2006/main">
            <a:r>
              <a:t>LECTURER CUE</a:t>
            </a:r>
          </a:p>
          <a:p xmlns:a="http://schemas.openxmlformats.org/drawingml/2006/main">
            <a:r>
              <a:t>Run this complete practice experiment in a fresh session. Both models use the same rows and targets; the second receives one additional input. Read every column before fitting. This invented experiment illustrates procedure, not a measured engineering benefit.</a:t>
            </a:r>
          </a:p>
          <a:p xmlns:a="http://schemas.openxmlformats.org/drawingml/2006/main">
            <a:r>
              <a:t/>
            </a:r>
          </a:p>
          <a:p xmlns:a="http://schemas.openxmlformats.org/drawingml/2006/main">
            <a:r>
              <a:t>Complete practice code:</a:t>
            </a:r>
          </a:p>
          <a:p xmlns:a="http://schemas.openxmlformats.org/drawingml/2006/main">
            <a:r>
              <a:t>from sklearn.linear_model import LinearRegression</a:t>
            </a:r>
          </a:p>
          <a:p xmlns:a="http://schemas.openxmlformats.org/drawingml/2006/main">
            <a:r>
              <a:t>from sklearn.metrics import mean_absolute_error</a:t>
            </a:r>
          </a:p>
          <a:p xmlns:a="http://schemas.openxmlformats.org/drawingml/2006/main">
            <a:r>
              <a:t>train = [[1, 2], [2, 3], [3, 2], [4, 4], [5, 3]]</a:t>
            </a:r>
          </a:p>
          <a:p xmlns:a="http://schemas.openxmlformats.org/drawingml/2006/main">
            <a:r>
              <a:t>y = [3, 5, 5, 8, 8]</a:t>
            </a:r>
          </a:p>
          <a:p xmlns:a="http://schemas.openxmlformats.org/drawingml/2006/main">
            <a:r>
              <a:t>validation = [[2, 2], [3, 3]]</a:t>
            </a:r>
          </a:p>
          <a:p xmlns:a="http://schemas.openxmlformats.org/drawingml/2006/main">
            <a:r>
              <a:t>truth = [4, 6]</a:t>
            </a:r>
          </a:p>
          <a:p xmlns:a="http://schemas.openxmlformats.org/drawingml/2006/main">
            <a:r>
              <a:t>def with_interaction(rows):</a:t>
            </a:r>
          </a:p>
          <a:p xmlns:a="http://schemas.openxmlformats.org/drawingml/2006/main">
            <a:r>
              <a:t>    result = []</a:t>
            </a:r>
          </a:p>
          <a:p xmlns:a="http://schemas.openxmlformats.org/drawingml/2006/main">
            <a:r>
              <a:t>    for a, b in rows:</a:t>
            </a:r>
          </a:p>
          <a:p xmlns:a="http://schemas.openxmlformats.org/drawingml/2006/main">
            <a:r>
              <a:t>        result.append([a, b, a * b])</a:t>
            </a:r>
          </a:p>
          <a:p xmlns:a="http://schemas.openxmlformats.org/drawingml/2006/main">
            <a:r>
              <a:t>    return result</a:t>
            </a:r>
          </a:p>
          <a:p xmlns:a="http://schemas.openxmlformats.org/drawingml/2006/main">
            <a:r>
              <a:t>base = LinearRegression().fit(train, y)</a:t>
            </a:r>
          </a:p>
          <a:p xmlns:a="http://schemas.openxmlformats.org/drawingml/2006/main">
            <a:r>
              <a:t>extended = LinearRegression().fit(with_interaction(train), y)</a:t>
            </a:r>
          </a:p>
          <a:p xmlns:a="http://schemas.openxmlformats.org/drawingml/2006/main">
            <a:r>
              <a:t>base_predictions = base.predict(validation)</a:t>
            </a:r>
          </a:p>
          <a:p xmlns:a="http://schemas.openxmlformats.org/drawingml/2006/main">
            <a:r>
              <a:t>base_error = mean_absolute_error(truth, base_predictions)</a:t>
            </a:r>
          </a:p>
          <a:p xmlns:a="http://schemas.openxmlformats.org/drawingml/2006/main">
            <a:r>
              <a:t>print(round(base_error, 6))</a:t>
            </a:r>
          </a:p>
          <a:p xmlns:a="http://schemas.openxmlformats.org/drawingml/2006/main">
            <a:r>
              <a:t>validation_features = with_interaction(validation)</a:t>
            </a:r>
          </a:p>
          <a:p xmlns:a="http://schemas.openxmlformats.org/drawingml/2006/main">
            <a:r>
              <a:t>extended_predictions = extended.predict(validation_features)</a:t>
            </a:r>
          </a:p>
          <a:p xmlns:a="http://schemas.openxmlformats.org/drawingml/2006/main">
            <a:r>
              <a:t>error = mean_absolute_error(truth, extended_predictions)</a:t>
            </a:r>
          </a:p>
          <a:p xmlns:a="http://schemas.openxmlformats.org/drawingml/2006/main">
            <a:r>
              <a:t>print(round(error, 6))</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Two models under one protocol in Python (2/3).</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Two models under one protocol in Python (2/3)</a:t>
            </a:r>
          </a:p>
          <a:p xmlns:a="http://schemas.openxmlformats.org/drawingml/2006/main">
            <a:r>
              <a:t/>
            </a:r>
          </a:p>
          <a:p xmlns:a="http://schemas.openxmlformats.org/drawingml/2006/main">
            <a:r>
              <a:t>CONNECT</a:t>
            </a:r>
          </a:p>
          <a:p xmlns:a="http://schemas.openxmlformats.org/drawingml/2006/main">
            <a:r>
              <a:t>Previous slide: Two models under one protocol in Python (1/3).</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def with_interaction(rows):</a:t>
            </a:r>
          </a:p>
          <a:p xmlns:a="http://schemas.openxmlformats.org/drawingml/2006/main">
            <a:r>
              <a:t>    result = []</a:t>
            </a:r>
          </a:p>
          <a:p xmlns:a="http://schemas.openxmlformats.org/drawingml/2006/main">
            <a:r>
              <a:t>    for a, b in rows:</a:t>
            </a:r>
          </a:p>
          <a:p xmlns:a="http://schemas.openxmlformats.org/drawingml/2006/main">
            <a:r>
              <a:t>        result.append([a, b, a * b])</a:t>
            </a:r>
          </a:p>
          <a:p xmlns:a="http://schemas.openxmlformats.org/drawingml/2006/main">
            <a:r>
              <a:t>    return result</a:t>
            </a:r>
          </a:p>
          <a:p xmlns:a="http://schemas.openxmlformats.org/drawingml/2006/main">
            <a:r>
              <a:t>base = LinearRegression()</a:t>
            </a:r>
          </a:p>
          <a:p xmlns:a="http://schemas.openxmlformats.org/drawingml/2006/main">
            <a:r>
              <a:t>base.fit(train, y)</a:t>
            </a:r>
          </a:p>
          <a:p xmlns:a="http://schemas.openxmlformats.org/drawingml/2006/main">
            <a:r>
              <a:t>extended = LinearRegression()</a:t>
            </a:r>
          </a:p>
          <a:p xmlns:a="http://schemas.openxmlformats.org/drawingml/2006/main">
            <a:r>
              <a:t>extended.fit(with_interaction(train), y)</a:t>
            </a:r>
          </a:p>
          <a:p xmlns:a="http://schemas.openxmlformats.org/drawingml/2006/main">
            <a:r>
              <a:t>base_predictions = base.predict(validation)</a:t>
            </a:r>
          </a:p>
          <a:p xmlns:a="http://schemas.openxmlformats.org/drawingml/2006/main">
            <a:r>
              <a:t>base_error = mean_absolute_error(truth, base_predictions)</a:t>
            </a:r>
          </a:p>
          <a:p xmlns:a="http://schemas.openxmlformats.org/drawingml/2006/main">
            <a:r>
              <a:t/>
            </a:r>
          </a:p>
          <a:p xmlns:a="http://schemas.openxmlformats.org/drawingml/2006/main">
            <a:r>
              <a:t>def names the function. Inputs go inside parentheses.</a:t>
            </a:r>
          </a:p>
          <a:p xmlns:a="http://schemas.openxmlformats.org/drawingml/2006/main">
            <a:r>
              <a:t/>
            </a:r>
          </a:p>
          <a:p xmlns:a="http://schemas.openxmlformats.org/drawingml/2006/main">
            <a:r>
              <a:t>for takes the next item. The indented block repeats.</a:t>
            </a:r>
          </a:p>
          <a:p xmlns:a="http://schemas.openxmlformats.org/drawingml/2006/main">
            <a:r>
              <a:t/>
            </a:r>
          </a:p>
          <a:p xmlns:a="http://schemas.openxmlformats.org/drawingml/2006/main">
            <a:r>
              <a:t>return sends the result back to the caller.</a:t>
            </a:r>
          </a:p>
          <a:p xmlns:a="http://schemas.openxmlformats.org/drawingml/2006/main">
            <a:r>
              <a:t/>
            </a:r>
          </a:p>
          <a:p xmlns:a="http://schemas.openxmlformats.org/drawingml/2006/main">
            <a:r>
              <a:t>Continue the SAME cell; keep indentation. Run after all parts are entered.</a:t>
            </a:r>
          </a:p>
          <a:p xmlns:a="http://schemas.openxmlformats.org/drawingml/2006/main">
            <a:r>
              <a:t/>
            </a:r>
          </a:p>
          <a:p xmlns:a="http://schemas.openxmlformats.org/drawingml/2006/main">
            <a:r>
              <a:t>LECTURER CUE</a:t>
            </a:r>
          </a:p>
          <a:p xmlns:a="http://schemas.openxmlformats.org/drawingml/2006/main">
            <a:r>
              <a:t>Run this complete practice experiment in a fresh session. Both models use the same rows and targets; the second receives one additional input. Read every column before fitting. This invented experiment illustrates procedure, not a measured engineering benefit.</a:t>
            </a:r>
          </a:p>
          <a:p xmlns:a="http://schemas.openxmlformats.org/drawingml/2006/main">
            <a:r>
              <a:t/>
            </a:r>
          </a:p>
          <a:p xmlns:a="http://schemas.openxmlformats.org/drawingml/2006/main">
            <a:r>
              <a:t>Complete practice code:</a:t>
            </a:r>
          </a:p>
          <a:p xmlns:a="http://schemas.openxmlformats.org/drawingml/2006/main">
            <a:r>
              <a:t>from sklearn.linear_model import LinearRegression</a:t>
            </a:r>
          </a:p>
          <a:p xmlns:a="http://schemas.openxmlformats.org/drawingml/2006/main">
            <a:r>
              <a:t>from sklearn.metrics import mean_absolute_error</a:t>
            </a:r>
          </a:p>
          <a:p xmlns:a="http://schemas.openxmlformats.org/drawingml/2006/main">
            <a:r>
              <a:t>train = [[1, 2], [2, 3], [3, 2], [4, 4], [5, 3]]</a:t>
            </a:r>
          </a:p>
          <a:p xmlns:a="http://schemas.openxmlformats.org/drawingml/2006/main">
            <a:r>
              <a:t>y = [3, 5, 5, 8, 8]</a:t>
            </a:r>
          </a:p>
          <a:p xmlns:a="http://schemas.openxmlformats.org/drawingml/2006/main">
            <a:r>
              <a:t>validation = [[2, 2], [3, 3]]</a:t>
            </a:r>
          </a:p>
          <a:p xmlns:a="http://schemas.openxmlformats.org/drawingml/2006/main">
            <a:r>
              <a:t>truth = [4, 6]</a:t>
            </a:r>
          </a:p>
          <a:p xmlns:a="http://schemas.openxmlformats.org/drawingml/2006/main">
            <a:r>
              <a:t>def with_interaction(rows):</a:t>
            </a:r>
          </a:p>
          <a:p xmlns:a="http://schemas.openxmlformats.org/drawingml/2006/main">
            <a:r>
              <a:t>    result = []</a:t>
            </a:r>
          </a:p>
          <a:p xmlns:a="http://schemas.openxmlformats.org/drawingml/2006/main">
            <a:r>
              <a:t>    for a, b in rows:</a:t>
            </a:r>
          </a:p>
          <a:p xmlns:a="http://schemas.openxmlformats.org/drawingml/2006/main">
            <a:r>
              <a:t>        result.append([a, b, a * b])</a:t>
            </a:r>
          </a:p>
          <a:p xmlns:a="http://schemas.openxmlformats.org/drawingml/2006/main">
            <a:r>
              <a:t>    return result</a:t>
            </a:r>
          </a:p>
          <a:p xmlns:a="http://schemas.openxmlformats.org/drawingml/2006/main">
            <a:r>
              <a:t>base = LinearRegression().fit(train, y)</a:t>
            </a:r>
          </a:p>
          <a:p xmlns:a="http://schemas.openxmlformats.org/drawingml/2006/main">
            <a:r>
              <a:t>extended = LinearRegression().fit(with_interaction(train), y)</a:t>
            </a:r>
          </a:p>
          <a:p xmlns:a="http://schemas.openxmlformats.org/drawingml/2006/main">
            <a:r>
              <a:t>base_predictions = base.predict(validation)</a:t>
            </a:r>
          </a:p>
          <a:p xmlns:a="http://schemas.openxmlformats.org/drawingml/2006/main">
            <a:r>
              <a:t>base_error = mean_absolute_error(truth, base_predictions)</a:t>
            </a:r>
          </a:p>
          <a:p xmlns:a="http://schemas.openxmlformats.org/drawingml/2006/main">
            <a:r>
              <a:t>print(round(base_error, 6))</a:t>
            </a:r>
          </a:p>
          <a:p xmlns:a="http://schemas.openxmlformats.org/drawingml/2006/main">
            <a:r>
              <a:t>validation_features = with_interaction(validation)</a:t>
            </a:r>
          </a:p>
          <a:p xmlns:a="http://schemas.openxmlformats.org/drawingml/2006/main">
            <a:r>
              <a:t>extended_predictions = extended.predict(validation_features)</a:t>
            </a:r>
          </a:p>
          <a:p xmlns:a="http://schemas.openxmlformats.org/drawingml/2006/main">
            <a:r>
              <a:t>error = mean_absolute_error(truth, extended_predictions)</a:t>
            </a:r>
          </a:p>
          <a:p xmlns:a="http://schemas.openxmlformats.org/drawingml/2006/main">
            <a:r>
              <a:t>print(round(error, 6))</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Two models under one protocol in Python (3/3).</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Two models under one protocol in Python (3/3)</a:t>
            </a:r>
          </a:p>
          <a:p xmlns:a="http://schemas.openxmlformats.org/drawingml/2006/main">
            <a:r>
              <a:t/>
            </a:r>
          </a:p>
          <a:p xmlns:a="http://schemas.openxmlformats.org/drawingml/2006/main">
            <a:r>
              <a:t>CONNECT</a:t>
            </a:r>
          </a:p>
          <a:p xmlns:a="http://schemas.openxmlformats.org/drawingml/2006/main">
            <a:r>
              <a:t>Previous slide: Two models under one protocol in Python (2/3).</a:t>
            </a:r>
          </a:p>
          <a:p xmlns:a="http://schemas.openxmlformats.org/drawingml/2006/main">
            <a:r>
              <a:t/>
            </a:r>
          </a:p>
          <a:p xmlns:a="http://schemas.openxmlformats.org/drawingml/2006/main">
            <a:r>
              <a:t>EXPLAIN</a:t>
            </a:r>
          </a:p>
          <a:p xmlns:a="http://schemas.openxmlformats.org/drawingml/2006/main">
            <a:r>
              <a:t>Read the code in this order:</a:t>
            </a:r>
          </a:p>
          <a:p xmlns:a="http://schemas.openxmlformats.org/drawingml/2006/main">
            <a:r>
              <a:t>print(round(base_error, 6))</a:t>
            </a:r>
          </a:p>
          <a:p xmlns:a="http://schemas.openxmlformats.org/drawingml/2006/main">
            <a:r>
              <a:t>validation_features = with_interaction(validation)</a:t>
            </a:r>
          </a:p>
          <a:p xmlns:a="http://schemas.openxmlformats.org/drawingml/2006/main">
            <a:r>
              <a:t>extended_predictions = extended.predict(validation_features)</a:t>
            </a:r>
          </a:p>
          <a:p xmlns:a="http://schemas.openxmlformats.org/drawingml/2006/main">
            <a:r>
              <a:t>error = mean_absolute_error(truth, extended_predictions)</a:t>
            </a:r>
          </a:p>
          <a:p xmlns:a="http://schemas.openxmlformats.org/drawingml/2006/main">
            <a:r>
              <a:t>print(round(error, 6))</a:t>
            </a:r>
          </a:p>
          <a:p xmlns:a="http://schemas.openxmlformats.org/drawingml/2006/main">
            <a:r>
              <a:t/>
            </a:r>
          </a:p>
          <a:p xmlns:a="http://schemas.openxmlformats.org/drawingml/2006/main">
            <a:r>
              <a:t>predict applies the fitted model to new inputs.</a:t>
            </a:r>
          </a:p>
          <a:p xmlns:a="http://schemas.openxmlformats.org/drawingml/2006/main">
            <a:r>
              <a:t/>
            </a:r>
          </a:p>
          <a:p xmlns:a="http://schemas.openxmlformats.org/drawingml/2006/main">
            <a:r>
              <a:t>print displays a value below the cell.</a:t>
            </a:r>
          </a:p>
          <a:p xmlns:a="http://schemas.openxmlformats.org/drawingml/2006/main">
            <a:r>
              <a:t/>
            </a:r>
          </a:p>
          <a:p xmlns:a="http://schemas.openxmlformats.org/drawingml/2006/main">
            <a:r>
              <a:t>= assigns the value on the right to the name on the left.</a:t>
            </a:r>
          </a:p>
          <a:p xmlns:a="http://schemas.openxmlformats.org/drawingml/2006/main">
            <a:r>
              <a:t/>
            </a:r>
          </a:p>
          <a:p xmlns:a="http://schemas.openxmlformats.org/drawingml/2006/main">
            <a:r>
              <a:t>Continue the SAME cell; keep indentation. Run after all parts are entered.</a:t>
            </a:r>
          </a:p>
          <a:p xmlns:a="http://schemas.openxmlformats.org/drawingml/2006/main">
            <a:r>
              <a:t/>
            </a:r>
          </a:p>
          <a:p xmlns:a="http://schemas.openxmlformats.org/drawingml/2006/main">
            <a:r>
              <a:t>LECTURER CUE</a:t>
            </a:r>
          </a:p>
          <a:p xmlns:a="http://schemas.openxmlformats.org/drawingml/2006/main">
            <a:r>
              <a:t>Run this complete practice experiment in a fresh session. Both models use the same rows and targets; the second receives one additional input. Read every column before fitting. This invented experiment illustrates procedure, not a measured engineering benefit.</a:t>
            </a:r>
          </a:p>
          <a:p xmlns:a="http://schemas.openxmlformats.org/drawingml/2006/main">
            <a:r>
              <a:t/>
            </a:r>
          </a:p>
          <a:p xmlns:a="http://schemas.openxmlformats.org/drawingml/2006/main">
            <a:r>
              <a:t>Complete practice code:</a:t>
            </a:r>
          </a:p>
          <a:p xmlns:a="http://schemas.openxmlformats.org/drawingml/2006/main">
            <a:r>
              <a:t>from sklearn.linear_model import LinearRegression</a:t>
            </a:r>
          </a:p>
          <a:p xmlns:a="http://schemas.openxmlformats.org/drawingml/2006/main">
            <a:r>
              <a:t>from sklearn.metrics import mean_absolute_error</a:t>
            </a:r>
          </a:p>
          <a:p xmlns:a="http://schemas.openxmlformats.org/drawingml/2006/main">
            <a:r>
              <a:t>train = [[1, 2], [2, 3], [3, 2], [4, 4], [5, 3]]</a:t>
            </a:r>
          </a:p>
          <a:p xmlns:a="http://schemas.openxmlformats.org/drawingml/2006/main">
            <a:r>
              <a:t>y = [3, 5, 5, 8, 8]</a:t>
            </a:r>
          </a:p>
          <a:p xmlns:a="http://schemas.openxmlformats.org/drawingml/2006/main">
            <a:r>
              <a:t>validation = [[2, 2], [3, 3]]</a:t>
            </a:r>
          </a:p>
          <a:p xmlns:a="http://schemas.openxmlformats.org/drawingml/2006/main">
            <a:r>
              <a:t>truth = [4, 6]</a:t>
            </a:r>
          </a:p>
          <a:p xmlns:a="http://schemas.openxmlformats.org/drawingml/2006/main">
            <a:r>
              <a:t>def with_interaction(rows):</a:t>
            </a:r>
          </a:p>
          <a:p xmlns:a="http://schemas.openxmlformats.org/drawingml/2006/main">
            <a:r>
              <a:t>    result = []</a:t>
            </a:r>
          </a:p>
          <a:p xmlns:a="http://schemas.openxmlformats.org/drawingml/2006/main">
            <a:r>
              <a:t>    for a, b in rows:</a:t>
            </a:r>
          </a:p>
          <a:p xmlns:a="http://schemas.openxmlformats.org/drawingml/2006/main">
            <a:r>
              <a:t>        result.append([a, b, a * b])</a:t>
            </a:r>
          </a:p>
          <a:p xmlns:a="http://schemas.openxmlformats.org/drawingml/2006/main">
            <a:r>
              <a:t>    return result</a:t>
            </a:r>
          </a:p>
          <a:p xmlns:a="http://schemas.openxmlformats.org/drawingml/2006/main">
            <a:r>
              <a:t>base = LinearRegression().fit(train, y)</a:t>
            </a:r>
          </a:p>
          <a:p xmlns:a="http://schemas.openxmlformats.org/drawingml/2006/main">
            <a:r>
              <a:t>extended = LinearRegression().fit(with_interaction(train), y)</a:t>
            </a:r>
          </a:p>
          <a:p xmlns:a="http://schemas.openxmlformats.org/drawingml/2006/main">
            <a:r>
              <a:t>base_predictions = base.predict(validation)</a:t>
            </a:r>
          </a:p>
          <a:p xmlns:a="http://schemas.openxmlformats.org/drawingml/2006/main">
            <a:r>
              <a:t>base_error = mean_absolute_error(truth, base_predictions)</a:t>
            </a:r>
          </a:p>
          <a:p xmlns:a="http://schemas.openxmlformats.org/drawingml/2006/main">
            <a:r>
              <a:t>print(round(base_error, 6))</a:t>
            </a:r>
          </a:p>
          <a:p xmlns:a="http://schemas.openxmlformats.org/drawingml/2006/main">
            <a:r>
              <a:t>validation_features = with_interaction(validation)</a:t>
            </a:r>
          </a:p>
          <a:p xmlns:a="http://schemas.openxmlformats.org/drawingml/2006/main">
            <a:r>
              <a:t>extended_predictions = extended.predict(validation_features)</a:t>
            </a:r>
          </a:p>
          <a:p xmlns:a="http://schemas.openxmlformats.org/drawingml/2006/main">
            <a:r>
              <a:t>error = mean_absolute_error(truth, extended_predictions)</a:t>
            </a:r>
          </a:p>
          <a:p xmlns:a="http://schemas.openxmlformats.org/drawingml/2006/main">
            <a:r>
              <a:t>print(round(error, 6))</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Scaling changes units of comparison.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Scaling changes units of comparison</a:t>
            </a:r>
          </a:p>
          <a:p xmlns:a="http://schemas.openxmlformats.org/drawingml/2006/main">
            <a:r>
              <a:t/>
            </a:r>
          </a:p>
          <a:p xmlns:a="http://schemas.openxmlformats.org/drawingml/2006/main">
            <a:r>
              <a:t>CONNECT</a:t>
            </a:r>
          </a:p>
          <a:p xmlns:a="http://schemas.openxmlformats.org/drawingml/2006/main">
            <a:r>
              <a:t>Previous slide: Two models under one protocol in Python (3/3).</a:t>
            </a:r>
          </a:p>
          <a:p xmlns:a="http://schemas.openxmlformats.org/drawingml/2006/main">
            <a:r>
              <a:t/>
            </a:r>
          </a:p>
          <a:p xmlns:a="http://schemas.openxmlformats.org/drawingml/2006/main">
            <a:r>
              <a:t>EXPLAIN</a:t>
            </a:r>
          </a:p>
          <a:p xmlns:a="http://schemas.openxmlformats.org/drawingml/2006/main">
            <a:r>
              <a:t>A distance calculation can be dominated by a feature with larger numerical values. Scaling puts feature values on a chosen numerical scale.</a:t>
            </a:r>
          </a:p>
          <a:p xmlns:a="http://schemas.openxmlformats.org/drawingml/2006/main">
            <a:r>
              <a:t/>
            </a:r>
          </a:p>
          <a:p xmlns:a="http://schemas.openxmlformats.org/drawingml/2006/main">
            <a:r>
              <a:t>One example is (value - training_min) / (training_max - training_min). With training limits 10 and 30, value 20 becomes 10 / 20 = 0.5.</a:t>
            </a:r>
          </a:p>
          <a:p xmlns:a="http://schemas.openxmlformats.org/drawingml/2006/main">
            <a:r>
              <a:t/>
            </a:r>
          </a:p>
          <a:p xmlns:a="http://schemas.openxmlformats.org/drawingml/2006/main">
            <a:r>
              <a:t>Use the same learned limits for new observations. A zero training range needs a defined handling rule. New values outside the training range may scale outside 0 to 1.</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https://docs.python.org/3/tutorial/introduction.html and https://docs.python.org/3/tutorial/controlflow.html; original teaching examples.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Encoding and Scaling.</a:t>
            </a:r>
          </a:p>
          <a:p xmlns:a="http://schemas.openxmlformats.org/drawingml/2006/main">
            <a:r>
              <a:t/>
            </a:r>
          </a:p>
          <a:p xmlns:a="http://schemas.openxmlformats.org/drawingml/2006/main">
            <a:r>
              <a:t>REFERENCES</a:t>
            </a:r>
          </a:p>
          <a:p xmlns:a="http://schemas.openxmlformats.org/drawingml/2006/main">
            <a:r>
              <a:t>Reference: https://docs.python.org/3/tutorial/introduction.html and https://docs.python.org/3/tutorial/controlflow.html; original teaching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Encoding and Scaling</a:t>
            </a:r>
          </a:p>
          <a:p xmlns:a="http://schemas.openxmlformats.org/drawingml/2006/main">
            <a:r>
              <a:t/>
            </a:r>
          </a:p>
          <a:p xmlns:a="http://schemas.openxmlformats.org/drawingml/2006/main">
            <a:r>
              <a:t>CONNECT</a:t>
            </a:r>
          </a:p>
          <a:p xmlns:a="http://schemas.openxmlformats.org/drawingml/2006/main">
            <a:r>
              <a:t>Previous slide: Scaling changes units of comparison.</a:t>
            </a:r>
          </a:p>
          <a:p xmlns:a="http://schemas.openxmlformats.org/drawingml/2006/main">
            <a:r>
              <a:t/>
            </a:r>
          </a:p>
          <a:p xmlns:a="http://schemas.openxmlformats.org/drawingml/2006/main">
            <a:r>
              <a:t>EXPLAIN</a:t>
            </a:r>
          </a:p>
          <a:p xmlns:a="http://schemas.openxmlformats.org/drawingml/2006/main">
            <a:r>
              <a:t>Encoding: Representing a category numerically. One-hot uses separate indicator columns. Arbitrary integer labels can falsely suggest an order.</a:t>
            </a:r>
          </a:p>
          <a:p xmlns:a="http://schemas.openxmlformats.org/drawingml/2006/main">
            <a:r>
              <a:t/>
            </a:r>
          </a:p>
          <a:p xmlns:a="http://schemas.openxmlformats.org/drawingml/2006/main">
            <a:r>
              <a:t>Scaling: Changing the numerical scale of features. Fit learned scaling on training data only. It matters for distance-based models but is not required by ordinary decision trees.</a:t>
            </a:r>
          </a:p>
          <a:p xmlns:a="http://schemas.openxmlformats.org/drawingml/2006/main">
            <a:r>
              <a:t/>
            </a:r>
          </a:p>
          <a:p xmlns:a="http://schemas.openxmlformats.org/drawingml/2006/main">
            <a:r>
              <a:t>LECTURER CUE</a:t>
            </a:r>
          </a:p>
          <a:p xmlns:a="http://schemas.openxmlformats.org/drawingml/2006/main">
            <a:r>
              <a:t>Explain the definitions before running or tracing the example. Point to the line or table row that produces each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Revision example and answer.</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Revision example and answer</a:t>
            </a:r>
          </a:p>
          <a:p xmlns:a="http://schemas.openxmlformats.org/drawingml/2006/main">
            <a:r>
              <a:t/>
            </a:r>
          </a:p>
          <a:p xmlns:a="http://schemas.openxmlformats.org/drawingml/2006/main">
            <a:r>
              <a:t>CONNECT</a:t>
            </a:r>
          </a:p>
          <a:p xmlns:a="http://schemas.openxmlformats.org/drawingml/2006/main">
            <a:r>
              <a:t>Previous slide: Encoding and Scaling.</a:t>
            </a:r>
          </a:p>
          <a:p xmlns:a="http://schemas.openxmlformats.org/drawingml/2006/main">
            <a:r>
              <a:t/>
            </a:r>
          </a:p>
          <a:p xmlns:a="http://schemas.openxmlformats.org/drawingml/2006/main">
            <a:r>
              <a:t>EXPLAIN</a:t>
            </a:r>
          </a:p>
          <a:p xmlns:a="http://schemas.openxmlformats.org/drawingml/2006/main">
            <a:r>
              <a:t>Example: If the extended error becomes 3.4, calculate improvement and decide whether this evidence supports retaining the feature.</a:t>
            </a:r>
          </a:p>
          <a:p xmlns:a="http://schemas.openxmlformats.org/drawingml/2006/main">
            <a:r>
              <a:t/>
            </a:r>
          </a:p>
          <a:p xmlns:a="http://schemas.openxmlformats.org/drawingml/2006/main">
            <a:r>
              <a:t>Answer: Improvement is -0.4. This validation comparison does not support retaining it. One split is limited evidence; the final test remains untouched.</a:t>
            </a:r>
          </a:p>
          <a:p xmlns:a="http://schemas.openxmlformats.org/drawingml/2006/main">
            <a:r>
              <a:t/>
            </a:r>
          </a:p>
          <a:p xmlns:a="http://schemas.openxmlformats.org/drawingml/2006/main">
            <a:r>
              <a:t>LECTURER CUE</a:t>
            </a:r>
          </a:p>
          <a:p xmlns:a="http://schemas.openxmlformats.org/drawingml/2006/main">
            <a:r>
              <a:t>Give silent thinking time, then let pairs discuss. Rotate who types. This is practice, not a graded quiz. Expected response: Improvement is -0.4. This validation comparison does not support retaining it. One split is limited evidence; the final test remains untouched.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Preparing for the assignment.</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Preparing for the assignment</a:t>
            </a:r>
          </a:p>
          <a:p xmlns:a="http://schemas.openxmlformats.org/drawingml/2006/main">
            <a:r>
              <a:t/>
            </a:r>
          </a:p>
          <a:p xmlns:a="http://schemas.openxmlformats.org/drawingml/2006/main">
            <a:r>
              <a:t>CONNECT</a:t>
            </a:r>
          </a:p>
          <a:p xmlns:a="http://schemas.openxmlformats.org/drawingml/2006/main">
            <a:r>
              <a:t>Previous slide: Revision example and answer.</a:t>
            </a:r>
          </a:p>
          <a:p xmlns:a="http://schemas.openxmlformats.org/drawingml/2006/main">
            <a:r>
              <a:t/>
            </a:r>
          </a:p>
          <a:p xmlns:a="http://schemas.openxmlformats.org/drawingml/2006/main">
            <a:r>
              <a:t>EXPLAIN</a:t>
            </a:r>
          </a:p>
          <a:p xmlns:a="http://schemas.openxmlformats.org/drawingml/2006/main">
            <a:r>
              <a:t>W11 names four output features and a two-model ablation.</a:t>
            </a:r>
          </a:p>
          <a:p xmlns:a="http://schemas.openxmlformats.org/drawingml/2006/main">
            <a:r>
              <a:t/>
            </a:r>
          </a:p>
          <a:p xmlns:a="http://schemas.openxmlformats.org/drawingml/2006/main">
            <a:r>
              <a:t>Explain output order, preservation of input rows, full precision and training-only fitting.</a:t>
            </a:r>
          </a:p>
          <a:p xmlns:a="http://schemas.openxmlformats.org/drawingml/2006/main">
            <a:r>
              <a:t/>
            </a:r>
          </a:p>
          <a:p xmlns:a="http://schemas.openxmlformats.org/drawingml/2006/main">
            <a:r>
              <a:t>Use the supplied written scenario for the interpretation requested there.</a:t>
            </a:r>
          </a:p>
          <a:p xmlns:a="http://schemas.openxmlformats.org/drawingml/2006/main">
            <a:r>
              <a:t/>
            </a:r>
          </a:p>
          <a:p xmlns:a="http://schemas.openxmlformats.org/drawingml/2006/main">
            <a:r>
              <a:t>Do not substitute this practice example’s result.</a:t>
            </a:r>
          </a:p>
          <a:p xmlns:a="http://schemas.openxmlformats.org/drawingml/2006/main">
            <a:r>
              <a:t/>
            </a:r>
          </a:p>
          <a:p xmlns:a="http://schemas.openxmlformats.org/drawingml/2006/main">
            <a:r>
              <a:t>LECTURER CUE</a:t>
            </a:r>
          </a:p>
          <a:p xmlns:a="http://schemas.openxmlformats.org/drawingml/2006/main">
            <a:r>
              <a:t>W11 names four output features and a two-model ablation. Explain output order, preservation of input rows, full precision and training-only fitting. Use the supplied written scenario for the interpretation requested there. Do not substitute this practice example’s result.</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Features without misleading evaluation.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Features without misleading evaluation</a:t>
            </a:r>
          </a:p>
          <a:p xmlns:a="http://schemas.openxmlformats.org/drawingml/2006/main">
            <a:r>
              <a:t/>
            </a:r>
          </a:p>
          <a:p xmlns:a="http://schemas.openxmlformats.org/drawingml/2006/main">
            <a:r>
              <a:t>CONNECT</a:t>
            </a:r>
          </a:p>
          <a:p xmlns:a="http://schemas.openxmlformats.org/drawingml/2006/main">
            <a:r>
              <a:t>Previous slide: Preparing for the assignment.</a:t>
            </a:r>
          </a:p>
          <a:p xmlns:a="http://schemas.openxmlformats.org/drawingml/2006/main">
            <a:r>
              <a:t/>
            </a:r>
          </a:p>
          <a:p xmlns:a="http://schemas.openxmlformats.org/drawingml/2006/main">
            <a:r>
              <a:t>EXPLAIN</a:t>
            </a:r>
          </a:p>
          <a:p xmlns:a="http://schemas.openxmlformats.org/drawingml/2006/main">
            <a:r>
              <a:t>Rescaling an input usually does not change the partitions available to an ordinary decision tree.</a:t>
            </a:r>
          </a:p>
          <a:p xmlns:a="http://schemas.openxmlformats.org/drawingml/2006/main">
            <a:r>
              <a:t/>
            </a:r>
          </a:p>
          <a:p xmlns:a="http://schemas.openxmlformats.org/drawingml/2006/main">
            <a:r>
              <a:t>An identifier or a future-known field can create an apparent improvement without useful predictive information.</a:t>
            </a:r>
          </a:p>
          <a:p xmlns:a="http://schemas.openxmlformats.org/drawingml/2006/main">
            <a:r>
              <a:t/>
            </a:r>
          </a:p>
          <a:p xmlns:a="http://schemas.openxmlformats.org/drawingml/2006/main">
            <a:r>
              <a:t>Dividing by zero can produce infinity or an error; decide what the denominator means before replacing it.</a:t>
            </a:r>
          </a:p>
          <a:p xmlns:a="http://schemas.openxmlformats.org/drawingml/2006/main">
            <a:r>
              <a:t/>
            </a:r>
          </a:p>
          <a:p xmlns:a="http://schemas.openxmlformats.org/drawingml/2006/main">
            <a:r>
              <a:t>LECTURER CUE</a:t>
            </a:r>
          </a:p>
          <a:p xmlns:a="http://schemas.openxmlformats.org/drawingml/2006/main">
            <a:r>
              <a:t>Teach these concepts before the weekly quiz. Use changed numbers for practice. This slide supplies concepts, not the quiz key.</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Features without misleading evaluation continued.</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Features without misleading evaluation continued</a:t>
            </a:r>
          </a:p>
          <a:p xmlns:a="http://schemas.openxmlformats.org/drawingml/2006/main">
            <a:r>
              <a:t/>
            </a:r>
          </a:p>
          <a:p xmlns:a="http://schemas.openxmlformats.org/drawingml/2006/main">
            <a:r>
              <a:t>CONNECT</a:t>
            </a:r>
          </a:p>
          <a:p xmlns:a="http://schemas.openxmlformats.org/drawingml/2006/main">
            <a:r>
              <a:t>Previous slide: Features without misleading evaluation.</a:t>
            </a:r>
          </a:p>
          <a:p xmlns:a="http://schemas.openxmlformats.org/drawingml/2006/main">
            <a:r>
              <a:t/>
            </a:r>
          </a:p>
          <a:p xmlns:a="http://schemas.openxmlformats.org/drawingml/2006/main">
            <a:r>
              <a:t>EXPLAIN</a:t>
            </a:r>
          </a:p>
          <a:p xmlns:a="http://schemas.openxmlformats.org/drawingml/2006/main">
            <a:r>
              <a:t>Read ablation differences using the same error definition, and explain features using domain knowledge.</a:t>
            </a:r>
          </a:p>
          <a:p xmlns:a="http://schemas.openxmlformats.org/drawingml/2006/main">
            <a:r>
              <a:t/>
            </a:r>
          </a:p>
          <a:p xmlns:a="http://schemas.openxmlformats.org/drawingml/2006/main">
            <a:r>
              <a:t>LECTURER CUE</a:t>
            </a:r>
          </a:p>
          <a:p xmlns:a="http://schemas.openxmlformats.org/drawingml/2006/main">
            <a:r>
              <a:t>Teach these concepts before the weekly quiz. Use changed numbers for practice. This slide supplies concepts, not the quiz key.</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Your issued task.</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Your issued task</a:t>
            </a:r>
          </a:p>
          <a:p xmlns:a="http://schemas.openxmlformats.org/drawingml/2006/main">
            <a:r>
              <a:t/>
            </a:r>
          </a:p>
          <a:p xmlns:a="http://schemas.openxmlformats.org/drawingml/2006/main">
            <a:r>
              <a:t>CONNECT</a:t>
            </a:r>
          </a:p>
          <a:p xmlns:a="http://schemas.openxmlformats.org/drawingml/2006/main">
            <a:r>
              <a:t>Previous slide: Features without misleading evaluation continued.</a:t>
            </a:r>
          </a:p>
          <a:p xmlns:a="http://schemas.openxmlformats.org/drawingml/2006/main">
            <a:r>
              <a:t/>
            </a:r>
          </a:p>
          <a:p xmlns:a="http://schemas.openxmlformats.org/drawingml/2006/main">
            <a:r>
              <a:t>EXPLAIN</a:t>
            </a:r>
          </a:p>
          <a:p xmlns:a="http://schemas.openxmlformats.org/drawingml/2006/main">
            <a:r>
              <a:t>Investigate building cooling load.</a:t>
            </a:r>
          </a:p>
          <a:p xmlns:a="http://schemas.openxmlformats.org/drawingml/2006/main">
            <a:r>
              <a:t/>
            </a:r>
          </a:p>
          <a:p xmlns:a="http://schemas.openxmlformats.org/drawingml/2006/main">
            <a:r>
              <a:t>Target units: kW.</a:t>
            </a:r>
          </a:p>
          <a:p xmlns:a="http://schemas.openxmlformats.org/drawingml/2006/main">
            <a:r>
              <a:t/>
            </a:r>
          </a:p>
          <a:p xmlns:a="http://schemas.openxmlformats.org/drawingml/2006/main">
            <a:r>
              <a:t>These are synthetic teaching records, not measurements suitable for deployment.</a:t>
            </a:r>
          </a:p>
          <a:p xmlns:a="http://schemas.openxmlformats.org/drawingml/2006/main">
            <a:r>
              <a:t/>
            </a:r>
          </a:p>
          <a:p xmlns:a="http://schemas.openxmlformats.org/drawingml/2006/main">
            <a:r>
              <a:t>Each record is one operating observation; equipment_id repeats across observations.</a:t>
            </a:r>
          </a:p>
          <a:p xmlns:a="http://schemas.openxmlformats.org/drawingml/2006/main">
            <a:r>
              <a:t/>
            </a:r>
          </a:p>
          <a:p xmlns:a="http://schemas.openxmlformats.org/drawingml/2006/main">
            <a:r>
              <a:t>LECTURER CUE</a:t>
            </a:r>
          </a:p>
          <a:p xmlns:a="http://schemas.openxmlformats.org/drawingml/2006/main">
            <a:r>
              <a:t>Investigate building cooling load. Target units: kW. These are synthetic teaching records, not measurements suitable for deployment. Each record is one operating observation; equipment_id repeats across observations.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make_features(feature_records).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make_features(feature_records)</a:t>
            </a:r>
          </a:p>
          <a:p xmlns:a="http://schemas.openxmlformats.org/drawingml/2006/main">
            <a:r>
              <a:t/>
            </a:r>
          </a:p>
          <a:p xmlns:a="http://schemas.openxmlformats.org/drawingml/2006/main">
            <a:r>
              <a:t>CONNECT</a:t>
            </a:r>
          </a:p>
          <a:p xmlns:a="http://schemas.openxmlformats.org/drawingml/2006/main">
            <a:r>
              <a:t>Previous slide: Your issued task.</a:t>
            </a:r>
          </a:p>
          <a:p xmlns:a="http://schemas.openxmlformats.org/drawingml/2006/main">
            <a:r>
              <a:t/>
            </a:r>
          </a:p>
          <a:p xmlns:a="http://schemas.openxmlformats.org/drawingml/2006/main">
            <a:r>
              <a:t>EXPLAIN</a:t>
            </a:r>
          </a:p>
          <a:p xmlns:a="http://schemas.openxmlformats.org/drawingml/2006/main">
            <a:r>
              <a:t>Return one feature row per input, in order: [load_pct, ambient_c, load_pct/100, load_pct*ambient_c].</a:t>
            </a:r>
          </a:p>
          <a:p xmlns:a="http://schemas.openxmlformats.org/drawingml/2006/main">
            <a:r>
              <a:t/>
            </a:r>
          </a:p>
          <a:p xmlns:a="http://schemas.openxmlformats.org/drawingml/2006/main">
            <a:r>
              <a:t>Use inputs available at prediction time only.</a:t>
            </a:r>
          </a:p>
          <a:p xmlns:a="http://schemas.openxmlformats.org/drawingml/2006/main">
            <a:r>
              <a:t/>
            </a:r>
          </a:p>
          <a:p xmlns:a="http://schemas.openxmlformats.org/drawingml/2006/main">
            <a:r>
              <a:t>LECTURER CUE</a:t>
            </a:r>
          </a:p>
          <a:p xmlns:a="http://schemas.openxmlformats.org/drawingml/2006/main">
            <a:r>
              <a:t>Public task contract. Explain input and output types before independent work. Source: IUEA_Teaching_Plan/assessment_banks/W11/CML3112/A/TASKS.md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ablation_metrics(training_records, validation_records).</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ablation_metrics(training_records, validation_records)</a:t>
            </a:r>
          </a:p>
          <a:p xmlns:a="http://schemas.openxmlformats.org/drawingml/2006/main">
            <a:r>
              <a:t/>
            </a:r>
          </a:p>
          <a:p xmlns:a="http://schemas.openxmlformats.org/drawingml/2006/main">
            <a:r>
              <a:t>CONNECT</a:t>
            </a:r>
          </a:p>
          <a:p xmlns:a="http://schemas.openxmlformats.org/drawingml/2006/main">
            <a:r>
              <a:t>Previous slide: make_features(feature_records).</a:t>
            </a:r>
          </a:p>
          <a:p xmlns:a="http://schemas.openxmlformats.org/drawingml/2006/main">
            <a:r>
              <a:t/>
            </a:r>
          </a:p>
          <a:p xmlns:a="http://schemas.openxmlformats.org/drawingml/2006/main">
            <a:r>
              <a:t>EXPLAIN</a:t>
            </a:r>
          </a:p>
          <a:p xmlns:a="http://schemas.openxmlformats.org/drawingml/2006/main">
            <a:r>
              <a:t>Fit two sklearn LinearRegression models on the same training records: base features [load_pct, ambient_c] and extended features adding load_pct*ambient_c.</a:t>
            </a:r>
          </a:p>
          <a:p xmlns:a="http://schemas.openxmlformats.org/drawingml/2006/main">
            <a:r>
              <a:t/>
            </a:r>
          </a:p>
          <a:p xmlns:a="http://schemas.openxmlformats.org/drawingml/2006/main">
            <a:r>
              <a:t>Evaluate both on the same validation records.</a:t>
            </a:r>
          </a:p>
          <a:p xmlns:a="http://schemas.openxmlformats.org/drawingml/2006/main">
            <a:r>
              <a:t/>
            </a:r>
          </a:p>
          <a:p xmlns:a="http://schemas.openxmlformats.org/drawingml/2006/main">
            <a:r>
              <a:t>Return base_mae, extended_mae and improvement=base_mae-extended_mae, without rounding.</a:t>
            </a:r>
          </a:p>
          <a:p xmlns:a="http://schemas.openxmlformats.org/drawingml/2006/main">
            <a:r>
              <a:t/>
            </a:r>
          </a:p>
          <a:p xmlns:a="http://schemas.openxmlformats.org/drawingml/2006/main">
            <a:r>
              <a:t>Inputs are complete; never fit on validation targets.</a:t>
            </a:r>
          </a:p>
          <a:p xmlns:a="http://schemas.openxmlformats.org/drawingml/2006/main">
            <a:r>
              <a:t/>
            </a:r>
          </a:p>
          <a:p xmlns:a="http://schemas.openxmlformats.org/drawingml/2006/main">
            <a:r>
              <a:t>LECTURER CUE</a:t>
            </a:r>
          </a:p>
          <a:p xmlns:a="http://schemas.openxmlformats.org/drawingml/2006/main">
            <a:r>
              <a:t>Public task contract. Explain input and output types before independent work. Source: IUEA_Teaching_Plan/assessment_banks/W11/CML3112/A/TASKS.md</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Written evidence.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Written evidence</a:t>
            </a:r>
          </a:p>
          <a:p xmlns:a="http://schemas.openxmlformats.org/drawingml/2006/main">
            <a:r>
              <a:t/>
            </a:r>
          </a:p>
          <a:p xmlns:a="http://schemas.openxmlformats.org/drawingml/2006/main">
            <a:r>
              <a:t>CONNECT</a:t>
            </a:r>
          </a:p>
          <a:p xmlns:a="http://schemas.openxmlformats.org/drawingml/2006/main">
            <a:r>
              <a:t>Previous slide: ablation_metrics(training_records, validation_records).</a:t>
            </a:r>
          </a:p>
          <a:p xmlns:a="http://schemas.openxmlformats.org/drawingml/2006/main">
            <a:r>
              <a:t/>
            </a:r>
          </a:p>
          <a:p xmlns:a="http://schemas.openxmlformats.org/drawingml/2006/main">
            <a:r>
              <a:t>EXPLAIN</a:t>
            </a:r>
          </a:p>
          <a:p xmlns:a="http://schemas.openxmlformats.org/drawingml/2006/main">
            <a:r>
              <a:t>Use the cell headed “My written evidence”.</a:t>
            </a:r>
          </a:p>
          <a:p xmlns:a="http://schemas.openxmlformats.org/drawingml/2006/main">
            <a:r>
              <a:t/>
            </a:r>
          </a:p>
          <a:p xmlns:a="http://schemas.openxmlformats.org/drawingml/2006/main">
            <a:r>
              <a:t>Explain the supplied scenario in your own words.</a:t>
            </a:r>
          </a:p>
          <a:p xmlns:a="http://schemas.openxmlformats.org/drawingml/2006/main">
            <a:r>
              <a:t/>
            </a:r>
          </a:p>
          <a:p xmlns:a="http://schemas.openxmlformats.org/drawingml/2006/main">
            <a:r>
              <a:t>State target units, reasons and limitations.</a:t>
            </a:r>
          </a:p>
          <a:p xmlns:a="http://schemas.openxmlformats.org/drawingml/2006/main">
            <a:r>
              <a:t/>
            </a:r>
          </a:p>
          <a:p xmlns:a="http://schemas.openxmlformats.org/drawingml/2006/main">
            <a:r>
              <a:t>Submit one complete notebook containing code and written evidence.</a:t>
            </a:r>
          </a:p>
          <a:p xmlns:a="http://schemas.openxmlformats.org/drawingml/2006/main">
            <a:r>
              <a:t/>
            </a:r>
          </a:p>
          <a:p xmlns:a="http://schemas.openxmlformats.org/drawingml/2006/main">
            <a:r>
              <a:t>LECTURER CUE</a:t>
            </a:r>
          </a:p>
          <a:p xmlns:a="http://schemas.openxmlformats.org/drawingml/2006/main">
            <a:r>
              <a:t>Published criterion weights and exact requirements remain in TASKS.md. Broader project exercises are formative and do not add weekly marks. Local automated reasoning assessment remains subject to its release checks.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Features and ablation submission.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Features and ablation submission</a:t>
            </a:r>
          </a:p>
          <a:p xmlns:a="http://schemas.openxmlformats.org/drawingml/2006/main">
            <a:r>
              <a:t/>
            </a:r>
          </a:p>
          <a:p xmlns:a="http://schemas.openxmlformats.org/drawingml/2006/main">
            <a:r>
              <a:t>CONNECT</a:t>
            </a:r>
          </a:p>
          <a:p xmlns:a="http://schemas.openxmlformats.org/drawingml/2006/main">
            <a:r>
              <a:t>Previous slide: Written evidence.</a:t>
            </a:r>
          </a:p>
          <a:p xmlns:a="http://schemas.openxmlformats.org/drawingml/2006/main">
            <a:r>
              <a:t/>
            </a:r>
          </a:p>
          <a:p xmlns:a="http://schemas.openxmlformats.org/drawingml/2006/main">
            <a:r>
              <a:t>EXPLAIN</a:t>
            </a:r>
          </a:p>
          <a:p xmlns:a="http://schemas.openxmlformats.org/drawingml/2006/main">
            <a:r>
              <a:t>Opens: 17 Nov 2026, 11:00 Kampala</a:t>
            </a:r>
          </a:p>
          <a:p xmlns:a="http://schemas.openxmlformats.org/drawingml/2006/main">
            <a:r>
              <a:t/>
            </a:r>
          </a:p>
          <a:p xmlns:a="http://schemas.openxmlformats.org/drawingml/2006/main">
            <a:r>
              <a:t>Deadline: 24 Nov 2026, 11:00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a:p xmlns:a="http://schemas.openxmlformats.org/drawingml/2006/main">
            <a:r>
              <a:t/>
            </a:r>
          </a:p>
          <a:p xmlns:a="http://schemas.openxmlformats.org/drawingml/2006/main">
            <a:r>
              <a:t>LECTURER CUE</a:t>
            </a:r>
          </a:p>
          <a:p xmlns:a="http://schemas.openxmlformats.org/drawingml/2006/main">
            <a:r>
              <a:t>The form link is cohort-specific. Recheck the live form and release status before class. These scheduled assignment dates are separate from the quiz activation window. The issued brief defines the required files, even if the form accepts additional formats. Source: data/submission_links.json</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Project preparation.</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Project preparation</a:t>
            </a:r>
          </a:p>
          <a:p xmlns:a="http://schemas.openxmlformats.org/drawingml/2006/main">
            <a:r>
              <a:t/>
            </a:r>
          </a:p>
          <a:p xmlns:a="http://schemas.openxmlformats.org/drawingml/2006/main">
            <a:r>
              <a:t>CONNECT</a:t>
            </a:r>
          </a:p>
          <a:p xmlns:a="http://schemas.openxmlformats.org/drawingml/2006/main">
            <a:r>
              <a:t>Previous slide: Features and ablation submission.</a:t>
            </a:r>
          </a:p>
          <a:p xmlns:a="http://schemas.openxmlformats.org/drawingml/2006/main">
            <a:r>
              <a:t/>
            </a:r>
          </a:p>
          <a:p xmlns:a="http://schemas.openxmlformats.org/drawingml/2006/main">
            <a:r>
              <a:t>EXPLAIN</a:t>
            </a:r>
          </a:p>
          <a:p xmlns:a="http://schemas.openxmlformats.org/drawingml/2006/main">
            <a:r>
              <a:t>Use the published machine learning project brief.</a:t>
            </a:r>
          </a:p>
          <a:p xmlns:a="http://schemas.openxmlformats.org/drawingml/2006/main">
            <a:r>
              <a:t/>
            </a:r>
          </a:p>
          <a:p xmlns:a="http://schemas.openxmlformats.org/drawingml/2006/main">
            <a:r>
              <a:t>Build the evidence gradually in your project notebook.</a:t>
            </a:r>
          </a:p>
          <a:p xmlns:a="http://schemas.openxmlformats.org/drawingml/2006/main">
            <a:r>
              <a:t/>
            </a:r>
          </a:p>
          <a:p xmlns:a="http://schemas.openxmlformats.org/drawingml/2006/main">
            <a:r>
              <a:t>Keep raw data, labelled charts, run instructions and individual contributions.</a:t>
            </a:r>
          </a:p>
          <a:p xmlns:a="http://schemas.openxmlformats.org/drawingml/2006/main">
            <a:r>
              <a:t/>
            </a:r>
          </a:p>
          <a:p xmlns:a="http://schemas.openxmlformats.org/drawingml/2006/main">
            <a:r>
              <a:t>Published deadline: 15 Dec 2026, 11:00 Kampala</a:t>
            </a:r>
          </a:p>
          <a:p xmlns:a="http://schemas.openxmlformats.org/drawingml/2006/main">
            <a:r>
              <a:t/>
            </a:r>
          </a:p>
          <a:p xmlns:a="http://schemas.openxmlformats.org/drawingml/2006/main">
            <a:r>
              <a:t>LECTURER CUE</a:t>
            </a:r>
          </a:p>
          <a:p xmlns:a="http://schemas.openxmlformats.org/drawingml/2006/main">
            <a:r>
              <a:t>Explain the released brief now. Confirm its grading-release checks before assigning it. Avoid treating weekly practice as a substitute for the project evidence. The project brief remains authoritative.</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Week 11 quiz.</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Week 11 quiz</a:t>
            </a:r>
          </a:p>
          <a:p xmlns:a="http://schemas.openxmlformats.org/drawingml/2006/main">
            <a:r>
              <a:t/>
            </a:r>
          </a:p>
          <a:p xmlns:a="http://schemas.openxmlformats.org/drawingml/2006/main">
            <a:r>
              <a:t>CONNECT</a:t>
            </a:r>
          </a:p>
          <a:p xmlns:a="http://schemas.openxmlformats.org/drawingml/2006/main">
            <a:r>
              <a:t>Previous slide: Project preparation.</a:t>
            </a:r>
          </a:p>
          <a:p xmlns:a="http://schemas.openxmlformats.org/drawingml/2006/main">
            <a:r>
              <a:t/>
            </a:r>
          </a:p>
          <a:p xmlns:a="http://schemas.openxmlformats.org/drawingml/2006/main">
            <a:r>
              <a:t>EXPLAIN</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The lecturer will confirm the exact closing time.</a:t>
            </a:r>
          </a:p>
          <a:p xmlns:a="http://schemas.openxmlformats.org/drawingml/2006/main">
            <a:r>
              <a:t/>
            </a:r>
          </a:p>
          <a:p xmlns:a="http://schemas.openxmlformats.org/drawingml/2006/main">
            <a:r>
              <a:t>LECTURER CUE</a:t>
            </a:r>
          </a:p>
          <a:p xmlns:a="http://schemas.openxmlformats.org/drawingml/2006/main">
            <a:r>
              <a:t>Activate the matching open_W11_CML3112 function in Quiz Controls, then confirm the 24-hour close time. Opening this slide or clicking its link does not activate the form. The 24 hours is the availability window. Keep existing quiz scoring and form rules. Do not show private answer keys.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Before you leave.</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a:t>
            </a:r>
          </a:p>
          <a:p xmlns:a="http://schemas.openxmlformats.org/drawingml/2006/main">
            <a:r>
              <a:t>Revision and submission checklist</a:t>
            </a:r>
          </a:p>
          <a:p xmlns:a="http://schemas.openxmlformats.org/drawingml/2006/main">
            <a:r>
              <a:t/>
            </a:r>
          </a:p>
          <a:p xmlns:a="http://schemas.openxmlformats.org/drawingml/2006/main">
            <a:r>
              <a:t>CONNECT</a:t>
            </a:r>
          </a:p>
          <a:p xmlns:a="http://schemas.openxmlformats.org/drawingml/2006/main">
            <a:r>
              <a:t>Previous slide: Week 11 quiz.</a:t>
            </a:r>
          </a:p>
          <a:p xmlns:a="http://schemas.openxmlformats.org/drawingml/2006/main">
            <a:r>
              <a:t/>
            </a:r>
          </a:p>
          <a:p xmlns:a="http://schemas.openxmlformats.org/drawingml/2006/main">
            <a:r>
              <a:t>EXPLAIN</a:t>
            </a:r>
          </a:p>
          <a:p xmlns:a="http://schemas.openxmlformats.org/drawingml/2006/main">
            <a:r>
              <a:t>You can state the new feature’s meaning and calculate an improvement correctly.</a:t>
            </a:r>
          </a:p>
          <a:p xmlns:a="http://schemas.openxmlformats.org/drawingml/2006/main">
            <a:r>
              <a:t/>
            </a:r>
          </a:p>
          <a:p xmlns:a="http://schemas.openxmlformats.org/drawingml/2006/main">
            <a:r>
              <a:t>Save your work and check the required submission files.</a:t>
            </a:r>
          </a:p>
          <a:p xmlns:a="http://schemas.openxmlformats.org/drawingml/2006/main">
            <a:r>
              <a:t/>
            </a:r>
          </a:p>
          <a:p xmlns:a="http://schemas.openxmlformats.org/drawingml/2006/main">
            <a:r>
              <a:t>LECTURER CUE</a:t>
            </a:r>
          </a:p>
          <a:p xmlns:a="http://schemas.openxmlformats.org/drawingml/2006/main">
            <a:r>
              <a:t>Ask every learner for an individual response. Record one misconception to revisit at the start of the next class. If a deadline changed, announce the exact Kampala date and update the source registry before rebuilding slides.</a:t>
            </a:r>
          </a:p>
          <a:p xmlns:a="http://schemas.openxmlformats.org/drawingml/2006/main">
            <a:r>
              <a:t/>
            </a:r>
          </a:p>
          <a:p xmlns:a="http://schemas.openxmlformats.org/drawingml/2006/main">
            <a:r>
              <a:t>TEACHING MODE</a:t>
            </a:r>
          </a:p>
          <a:p xmlns:a="http://schemas.openxmlformats.org/drawingml/2006/main">
            <a:r>
              <a:t>Demonstrate first. Read each new symbol aloud, trace the values and compare the shown output. Learners repeat worked examples individually after class.</a:t>
            </a:r>
          </a:p>
          <a:p xmlns:a="http://schemas.openxmlformats.org/drawingml/2006/main">
            <a:r>
              <a:t/>
            </a:r>
          </a:p>
          <a:p xmlns:a="http://schemas.openxmlformats.org/drawingml/2006/main">
            <a:r>
              <a:t>NEXT</a:t>
            </a:r>
          </a:p>
          <a:p xmlns:a="http://schemas.openxmlformats.org/drawingml/2006/main">
            <a:r>
              <a:t>independent revision and the issued task.</a:t>
            </a:r>
          </a:p>
          <a:p xmlns:a="http://schemas.openxmlformats.org/drawingml/2006/main">
            <a:r>
              <a:t/>
            </a:r>
          </a:p>
          <a:p xmlns:a="http://schemas.openxmlformats.org/drawingml/2006/main">
            <a:r>
              <a:t>REFERENCES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d3d8c658794bc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d7cd16b2c33400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e64aa42d7a47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e431358156441f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85c4c3032fc4d7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09e7af8d11a43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A0D1426-ED1E-42AE-8CD2-661F582881F0}"/>
              </a:ext>
            </a:extLst>
          </p:cNvPr>
          <p:cNvSpPr>
            <a:spLocks xmlns:a="http://schemas.openxmlformats.org/drawingml/2006/main" noGrp="1"/>
          </p:cNvSpPr>
          <p:nvPr/>
        </p:nvSpPr>
        <p:spPr>
          <a:xfrm xmlns:a="http://schemas.openxmlformats.org/drawingml/2006/main">
            <a:off x="5791055" y="22098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ACB8233-12DF-4583-A166-3B54B0595209}"/>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7BF8BEE9-A44D-4328-86D8-8DBF0A16D6F9}"/>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C8AE76AE-3759-4420-B499-0D173F2DEA34}"/>
              </a:ext>
            </a:extLst>
          </p:cNvPr>
          <p:cNvSpPr>
            <a:spLocks xmlns:a="http://schemas.openxmlformats.org/drawingml/2006/main" noGrp="1"/>
          </p:cNvSpPr>
          <p:nvPr/>
        </p:nvSpPr>
        <p:spPr>
          <a:xfrm xmlns:a="http://schemas.openxmlformats.org/drawingml/2006/main">
            <a:off x="5791055" y="24765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5546169D-4883-43CF-A842-A40D3C518097}"/>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CCE2876-00E9-4770-98A1-FA4CBC10E9BD}"/>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7280AE3-7FA9-4CFA-A5D6-112A9B60D711}"/>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7BA2690E-E8DF-41FE-BCB8-ED319D2FFEA3}"/>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65DF7E0C-5165-4C21-9774-19A4DF0CE094}"/>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CB16614-C9A2-4A22-B720-F4360D70BE10}"/>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89E13DF5-14BE-479A-9DCA-73EA0483E4AD}"/>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4B92670-190C-4896-8708-85DDEF99CC6D}"/>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3023FB8-A8BD-4734-9E11-A4A3F1BB3C61}"/>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91B1A93-BFED-4A74-ABBF-A7B5EA04656B}"/>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F521E043-E0E0-4D2F-A6D1-09015B3E3978}"/>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dddfebc07140c2" /><Relationship Type="http://schemas.openxmlformats.org/officeDocument/2006/relationships/slideLayout" Target="/ppt/slideLayouts/slideLayout1.xml" Id="Rc602f8f45e7c4fa7" /><Relationship Type="http://schemas.openxmlformats.org/officeDocument/2006/relationships/slideLayout" Target="/ppt/slideLayouts/slideLayout2.xml" Id="R79d7e93093cc447a" /><Relationship Type="http://schemas.openxmlformats.org/officeDocument/2006/relationships/slideLayout" Target="/ppt/slideLayouts/slideLayout3.xml" Id="Ra646cdaa36e841ea" /><Relationship Type="http://schemas.openxmlformats.org/officeDocument/2006/relationships/slideLayout" Target="/ppt/slideLayouts/slideLayout4.xml" Id="R171783e7b1004d01" /><Relationship Type="http://schemas.openxmlformats.org/officeDocument/2006/relationships/slideLayout" Target="/ppt/slideLayouts/slideLayout5.xml" Id="R2a27c25a4d204850" /><Relationship Type="http://schemas.openxmlformats.org/officeDocument/2006/relationships/slideLayout" Target="/ppt/slideLayouts/slideLayout6.xml" Id="R59638b5411a044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02f8f45e7c4fa7"/>
    <p:sldLayoutId xmlns:r="http://schemas.openxmlformats.org/officeDocument/2006/relationships" id="2147483650" r:id="R79d7e93093cc447a"/>
    <p:sldLayoutId xmlns:r="http://schemas.openxmlformats.org/officeDocument/2006/relationships" id="2147483651" r:id="Ra646cdaa36e841ea"/>
    <p:sldLayoutId xmlns:r="http://schemas.openxmlformats.org/officeDocument/2006/relationships" id="2147483652" r:id="R171783e7b1004d01"/>
    <p:sldLayoutId xmlns:r="http://schemas.openxmlformats.org/officeDocument/2006/relationships" id="2147483653" r:id="R2a27c25a4d204850"/>
    <p:sldLayoutId xmlns:r="http://schemas.openxmlformats.org/officeDocument/2006/relationships" id="2147483654" r:id="R59638b5411a044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223735aecac42e1" /><Relationship Type="http://schemas.openxmlformats.org/officeDocument/2006/relationships/image" Target="/ppt/media/image.png" Id="Rc1f67f13ac8b4145" /><Relationship Type="http://schemas.openxmlformats.org/officeDocument/2006/relationships/notesSlide" Target="/ppt/notesSlides/notesSlide1.xml" Id="Ra4340776355641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7658a32e9a4464d" /><Relationship Type="http://schemas.openxmlformats.org/officeDocument/2006/relationships/notesSlide" Target="/ppt/notesSlides/notesSlide2.xml" Id="R2cf2c569b3d746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7b23a5e8c204c2d" /><Relationship Type="http://schemas.openxmlformats.org/officeDocument/2006/relationships/notesSlide" Target="/ppt/notesSlides/notesSlide3.xml" Id="Rc017318105c04b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4287c55cace4018" /><Relationship Type="http://schemas.openxmlformats.org/officeDocument/2006/relationships/notesSlide" Target="/ppt/notesSlides/notesSlide4.xml" Id="Rcb0ddf9ae8f041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dc8fa33c2354eed" /><Relationship Type="http://schemas.openxmlformats.org/officeDocument/2006/relationships/notesSlide" Target="/ppt/notesSlides/notesSlide5.xml" Id="Rd9d8901d214d4f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dcc797ae91e4297" /><Relationship Type="http://schemas.openxmlformats.org/officeDocument/2006/relationships/notesSlide" Target="/ppt/notesSlides/notesSlide6.xml" Id="R5d77a6c20fc04e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ed7346f75f04c97" /><Relationship Type="http://schemas.openxmlformats.org/officeDocument/2006/relationships/notesSlide" Target="/ppt/notesSlides/notesSlide7.xml" Id="Rc02eb43e459e40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9a6804e70834810" /><Relationship Type="http://schemas.openxmlformats.org/officeDocument/2006/relationships/image" Target="/ppt/media/image2.png" Id="Rabe167b7855646e0" /><Relationship Type="http://schemas.openxmlformats.org/officeDocument/2006/relationships/notesSlide" Target="/ppt/notesSlides/notesSlide8.xml" Id="Rcfb878d91ccf47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73e461f0d804834" /><Relationship Type="http://schemas.openxmlformats.org/officeDocument/2006/relationships/notesSlide" Target="/ppt/notesSlides/notesSlide9.xml" Id="R54579ef53fbc4c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13bdc77468d42b8" /><Relationship Type="http://schemas.openxmlformats.org/officeDocument/2006/relationships/notesSlide" Target="/ppt/notesSlides/notesSlide10.xml" Id="R7dd427f0a24a489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e48fa75b14947e9" /><Relationship Type="http://schemas.openxmlformats.org/officeDocument/2006/relationships/notesSlide" Target="/ppt/notesSlides/notesSlide11.xml" Id="R05b36582ee47472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d8171dc43134415" /><Relationship Type="http://schemas.openxmlformats.org/officeDocument/2006/relationships/notesSlide" Target="/ppt/notesSlides/notesSlide12.xml" Id="R3e230127b82c458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1ca000ea7a34c46" /><Relationship Type="http://schemas.openxmlformats.org/officeDocument/2006/relationships/notesSlide" Target="/ppt/notesSlides/notesSlide13.xml" Id="R6c9e83a9281b4c9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23f543cc7de4352" /><Relationship Type="http://schemas.openxmlformats.org/officeDocument/2006/relationships/notesSlide" Target="/ppt/notesSlides/notesSlide14.xml" Id="Rb64b02092437408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452ac102cf54fc6" /><Relationship Type="http://schemas.openxmlformats.org/officeDocument/2006/relationships/notesSlide" Target="/ppt/notesSlides/notesSlide15.xml" Id="R4e8344a3b85a488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40bf731d1714b4d" /><Relationship Type="http://schemas.openxmlformats.org/officeDocument/2006/relationships/notesSlide" Target="/ppt/notesSlides/notesSlide16.xml" Id="Rf05d0016dfab4c4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76c193cf16f465a" /><Relationship Type="http://schemas.openxmlformats.org/officeDocument/2006/relationships/notesSlide" Target="/ppt/notesSlides/notesSlide17.xml" Id="Rac4bb16c72ff497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0885b3a19cb4de9" /><Relationship Type="http://schemas.openxmlformats.org/officeDocument/2006/relationships/notesSlide" Target="/ppt/notesSlides/notesSlide18.xml" Id="Rdde95cffccd44c3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5a58b21a8f44ba5" /><Relationship Type="http://schemas.openxmlformats.org/officeDocument/2006/relationships/notesSlide" Target="/ppt/notesSlides/notesSlide19.xml" Id="Ra4786ad08de843d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b55003276514e10" /><Relationship Type="http://schemas.openxmlformats.org/officeDocument/2006/relationships/notesSlide" Target="/ppt/notesSlides/notesSlide20.xml" Id="Rcaba3d050e354fa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bd4ec3d5aa14149" /><Relationship Type="http://schemas.openxmlformats.org/officeDocument/2006/relationships/notesSlide" Target="/ppt/notesSlides/notesSlide21.xml" Id="R3d19085172ff4d1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e75155bc24e49c1" /><Relationship Type="http://schemas.openxmlformats.org/officeDocument/2006/relationships/notesSlide" Target="/ppt/notesSlides/notesSlide22.xml" Id="R383c0f4ef7bc431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ce3e956d97b415d" /><Relationship Type="http://schemas.openxmlformats.org/officeDocument/2006/relationships/notesSlide" Target="/ppt/notesSlides/notesSlide23.xml" Id="R6dcf51835734470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ad0d80acb1543e5" /><Relationship Type="http://schemas.openxmlformats.org/officeDocument/2006/relationships/notesSlide" Target="/ppt/notesSlides/notesSlide24.xml" Id="Re7a9dede9a774cf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66060d263c640eb" /><Relationship Type="http://schemas.openxmlformats.org/officeDocument/2006/relationships/notesSlide" Target="/ppt/notesSlides/notesSlide25.xml" Id="R5cd51e9876a84fb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88dd4ac8b254d79" /><Relationship Type="http://schemas.openxmlformats.org/officeDocument/2006/relationships/notesSlide" Target="/ppt/notesSlides/notesSlide26.xml" Id="R191569c61b35459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629ae4752d7474c" /><Relationship Type="http://schemas.openxmlformats.org/officeDocument/2006/relationships/notesSlide" Target="/ppt/notesSlides/notesSlide27.xml" Id="R3f7186aecc42459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db7e8d0500b4947" /><Relationship Type="http://schemas.openxmlformats.org/officeDocument/2006/relationships/notesSlide" Target="/ppt/notesSlides/notesSlide28.xml" Id="R92ef5dc53215430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1ee74b1979746e4" /><Relationship Type="http://schemas.openxmlformats.org/officeDocument/2006/relationships/notesSlide" Target="/ppt/notesSlides/notesSlide29.xml" Id="R613e5f2da0974c0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bccab2d124a446a" /><Relationship Type="http://schemas.openxmlformats.org/officeDocument/2006/relationships/notesSlide" Target="/ppt/notesSlides/notesSlide30.xml" Id="R2337e87ee1be43d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08f93fffa4d4b71" /><Relationship Type="http://schemas.openxmlformats.org/officeDocument/2006/relationships/notesSlide" Target="/ppt/notesSlides/notesSlide31.xml" Id="Ra141c577caac4a5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cdf744bbba544f96" /><Relationship Type="http://schemas.openxmlformats.org/officeDocument/2006/relationships/hyperlink" Target="https://docs.google.com/forms/d/e/1FAIpQLSfSqUcR9TgY7f1c7HXO9KGM3C2yXm1r7V2rQl2WEubwZir8iw/viewform" TargetMode="External" Id="R9c39d5436efb4b3b" /><Relationship Type="http://schemas.openxmlformats.org/officeDocument/2006/relationships/notesSlide" Target="/ppt/notesSlides/notesSlide32.xml" Id="R14813d4a11b94aa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02ed42ab994417a" /><Relationship Type="http://schemas.openxmlformats.org/officeDocument/2006/relationships/notesSlide" Target="/ppt/notesSlides/notesSlide33.xml" Id="Rc1b7f1af990c4d3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c6806a48b114d60" /><Relationship Type="http://schemas.openxmlformats.org/officeDocument/2006/relationships/image" Target="/ppt/media/image3.png" Id="R6e89e552448c420e" /><Relationship Type="http://schemas.openxmlformats.org/officeDocument/2006/relationships/hyperlink" Target="https://forms.gle/FTSCoDUMmcwSYPc78" TargetMode="External" Id="Refeb714cd8b944c6" /><Relationship Type="http://schemas.openxmlformats.org/officeDocument/2006/relationships/notesSlide" Target="/ppt/notesSlides/notesSlide34.xml" Id="Rb00fffd5c1d4448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9a81c11893c44391" /><Relationship Type="http://schemas.openxmlformats.org/officeDocument/2006/relationships/notesSlide" Target="/ppt/notesSlides/notesSlide35.xml" Id="R822d2f1dfa76497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1f67f13ac8b4145"/>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CEB5DFD-8367-4730-96EB-A1CBB607E33E}"/>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C38D7E-E3EF-437C-A722-8B3A8034EC10}"/>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CML3112   WEEK 11</a:t>
            </a:r>
          </a:p>
        </p:txBody>
      </p:sp>
      <p:sp>
        <p:nvSpPr>
          <p:cNvPr id="4" name="">
            <a:extLst xmlns:a="http://schemas.openxmlformats.org/drawingml/2006/main">
              <a:ext uri="{FF2B5EF4-FFF2-40B4-BE49-F238E27FC236}">
                <a16:creationId xmlns:a16="http://schemas.microsoft.com/office/drawing/2014/main" id="{C0D18858-8879-45DC-A320-361458939DF7}"/>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Creating and testing a useful feature</a:t>
            </a:r>
          </a:p>
        </p:txBody>
      </p:sp>
      <p:sp>
        <p:nvSpPr>
          <p:cNvPr id="5" name="">
            <a:extLst xmlns:a="http://schemas.openxmlformats.org/drawingml/2006/main">
              <a:ext uri="{FF2B5EF4-FFF2-40B4-BE49-F238E27FC236}">
                <a16:creationId xmlns:a16="http://schemas.microsoft.com/office/drawing/2014/main" id="{0EB69EAC-94A3-4548-99B7-D4C426617860}"/>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Civil Engineering and Architecture</a:t>
            </a:r>
          </a:p>
        </p:txBody>
      </p:sp>
      <p:sp>
        <p:nvSpPr>
          <p:cNvPr id="6" name="">
            <a:extLst xmlns:a="http://schemas.openxmlformats.org/drawingml/2006/main">
              <a:ext uri="{FF2B5EF4-FFF2-40B4-BE49-F238E27FC236}">
                <a16:creationId xmlns:a16="http://schemas.microsoft.com/office/drawing/2014/main" id="{88986B13-FBB1-45C0-A0E6-E1F43F00334F}"/>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17 November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11:00–14:00, Room 106</a:t>
            </a:r>
          </a:p>
        </p:txBody>
      </p:sp>
    </p:spTree>
    <p:extLst>
      <p:ext uri="{BB962C8B-B14F-4D97-AF65-F5344CB8AC3E}">
        <p14:creationId xmlns:p14="http://schemas.microsoft.com/office/powerpoint/2010/main" val="7783690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1D2A66A-FBB0-4F81-870F-67D50318A3B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1BEC7F-65BD-4835-A9C7-CE0BE39879E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034570C8-CA58-49E7-80DF-017BA0BC7F9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D063E85A-0BF8-4432-9CEC-F7D18579CB51}"/>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0843FFC-E2AF-4E88-BC7C-4773567029D1}"/>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36670D41-3891-4282-84EA-70D7B6619007}"/>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Create a feature from available measurements.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models with one controlled change.</a:t>
            </a:r>
          </a:p>
        </p:txBody>
      </p:sp>
      <p:sp>
        <p:nvSpPr>
          <p:cNvPr id="7" name="">
            <a:extLst xmlns:a="http://schemas.openxmlformats.org/drawingml/2006/main">
              <a:ext uri="{FF2B5EF4-FFF2-40B4-BE49-F238E27FC236}">
                <a16:creationId xmlns:a16="http://schemas.microsoft.com/office/drawing/2014/main" id="{FC637D89-4948-4047-BF4F-FA85DE5B44AF}"/>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3CDD75A5-7FBD-4467-A69D-2B600063F496}"/>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state the new feature’s meaning and calculate an improvement correctly.</a:t>
            </a:r>
          </a:p>
        </p:txBody>
      </p:sp>
      <p:sp>
        <p:nvSpPr>
          <p:cNvPr id="9" name="">
            <a:extLst xmlns:a="http://schemas.openxmlformats.org/drawingml/2006/main">
              <a:ext uri="{FF2B5EF4-FFF2-40B4-BE49-F238E27FC236}">
                <a16:creationId xmlns:a16="http://schemas.microsoft.com/office/drawing/2014/main" id="{9CA61F2A-934C-4383-A548-20C5A4AD4CE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2</a:t>
            </a:r>
          </a:p>
        </p:txBody>
      </p:sp>
    </p:spTree>
    <p:extLst>
      <p:ext uri="{BB962C8B-B14F-4D97-AF65-F5344CB8AC3E}">
        <p14:creationId xmlns:p14="http://schemas.microsoft.com/office/powerpoint/2010/main" val="4030043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9808F7-447E-4D56-A871-C4908306730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E9A844-E8A6-4FDB-91B2-ECA8DE4E1F1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1638DFC-F995-4D79-B89A-FD80FAD9F18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Connection to the previous lesson</a:t>
            </a:r>
          </a:p>
        </p:txBody>
      </p:sp>
      <p:sp>
        <p:nvSpPr>
          <p:cNvPr id="4" name="">
            <a:extLst xmlns:a="http://schemas.openxmlformats.org/drawingml/2006/main">
              <a:ext uri="{FF2B5EF4-FFF2-40B4-BE49-F238E27FC236}">
                <a16:creationId xmlns:a16="http://schemas.microsoft.com/office/drawing/2014/main" id="{DDDC0576-3734-49C4-AEFC-FD96C7F28593}"/>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0194490-32AE-4308-84BF-AAB3447A3071}"/>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We already keep evaluation data separate.</a:t>
            </a:r>
          </a:p>
        </p:txBody>
      </p:sp>
      <p:sp>
        <p:nvSpPr>
          <p:cNvPr id="6" name="">
            <a:extLst xmlns:a="http://schemas.openxmlformats.org/drawingml/2006/main">
              <a:ext uri="{FF2B5EF4-FFF2-40B4-BE49-F238E27FC236}">
                <a16:creationId xmlns:a16="http://schemas.microsoft.com/office/drawing/2014/main" id="{EAFBAAAE-117A-422F-8453-06BC5FFBE42D}"/>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Now we change one input representation while keeping the comparison protocol fixed.</a:t>
            </a:r>
          </a:p>
        </p:txBody>
      </p:sp>
      <p:sp>
        <p:nvSpPr>
          <p:cNvPr id="7" name="">
            <a:extLst xmlns:a="http://schemas.openxmlformats.org/drawingml/2006/main">
              <a:ext uri="{FF2B5EF4-FFF2-40B4-BE49-F238E27FC236}">
                <a16:creationId xmlns:a16="http://schemas.microsoft.com/office/drawing/2014/main" id="{B41E9305-84DD-4C04-92D9-1787A4BE3A8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3</a:t>
            </a:r>
          </a:p>
        </p:txBody>
      </p:sp>
    </p:spTree>
    <p:extLst>
      <p:ext uri="{BB962C8B-B14F-4D97-AF65-F5344CB8AC3E}">
        <p14:creationId xmlns:p14="http://schemas.microsoft.com/office/powerpoint/2010/main" val="10788082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CBCBC9-6774-4F5B-8074-4C87832FEE6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34AB74-C8B4-4BEB-B41D-D76E7131E4F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AC8489F-AB42-433A-ACA4-FCBCBF32DC8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Why this week’s tools are needed</a:t>
            </a:r>
          </a:p>
        </p:txBody>
      </p:sp>
      <p:sp>
        <p:nvSpPr>
          <p:cNvPr id="4" name="">
            <a:extLst xmlns:a="http://schemas.openxmlformats.org/drawingml/2006/main">
              <a:ext uri="{FF2B5EF4-FFF2-40B4-BE49-F238E27FC236}">
                <a16:creationId xmlns:a16="http://schemas.microsoft.com/office/drawing/2014/main" id="{9E344107-268E-4F7B-804B-D5EE0E0B6000}"/>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E28B533-6CFA-4666-A424-6D1DCBE5C692}"/>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calculated input may help a model.</a:t>
            </a:r>
          </a:p>
        </p:txBody>
      </p:sp>
      <p:sp>
        <p:nvSpPr>
          <p:cNvPr id="6" name="">
            <a:extLst xmlns:a="http://schemas.openxmlformats.org/drawingml/2006/main">
              <a:ext uri="{FF2B5EF4-FFF2-40B4-BE49-F238E27FC236}">
                <a16:creationId xmlns:a16="http://schemas.microsoft.com/office/drawing/2014/main" id="{165135FE-A738-4630-9EBE-B24CF73C70E3}"/>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 compare the original and extended inputs on the same observations, then decide whether the evidence supports the extra feature.</a:t>
            </a:r>
          </a:p>
        </p:txBody>
      </p:sp>
      <p:sp>
        <p:nvSpPr>
          <p:cNvPr id="7" name="">
            <a:extLst xmlns:a="http://schemas.openxmlformats.org/drawingml/2006/main">
              <a:ext uri="{FF2B5EF4-FFF2-40B4-BE49-F238E27FC236}">
                <a16:creationId xmlns:a16="http://schemas.microsoft.com/office/drawing/2014/main" id="{3BA3FD5A-D9DF-4D21-8741-028DCC64AEE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4</a:t>
            </a:r>
          </a:p>
        </p:txBody>
      </p:sp>
    </p:spTree>
    <p:extLst>
      <p:ext uri="{BB962C8B-B14F-4D97-AF65-F5344CB8AC3E}">
        <p14:creationId xmlns:p14="http://schemas.microsoft.com/office/powerpoint/2010/main" val="125275933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CA8DD28-91D2-4FDE-B6FF-C528C10BE6F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EAA34C-0CE9-4284-AF88-194B63370DD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B8A9A89-BC68-4BC5-BA89-562D91A0241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feature has a meaning</a:t>
            </a:r>
          </a:p>
        </p:txBody>
      </p:sp>
      <p:sp>
        <p:nvSpPr>
          <p:cNvPr id="4" name="">
            <a:extLst xmlns:a="http://schemas.openxmlformats.org/drawingml/2006/main">
              <a:ext uri="{FF2B5EF4-FFF2-40B4-BE49-F238E27FC236}">
                <a16:creationId xmlns:a16="http://schemas.microsoft.com/office/drawing/2014/main" id="{51D75338-CAF4-4DC3-B81F-97B19A44412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2F8AB16-773B-4D84-B3C1-9431A428D345}"/>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feature is an input available at prediction time.</a:t>
            </a:r>
          </a:p>
        </p:txBody>
      </p:sp>
      <p:sp>
        <p:nvSpPr>
          <p:cNvPr id="6" name="">
            <a:extLst xmlns:a="http://schemas.openxmlformats.org/drawingml/2006/main">
              <a:ext uri="{FF2B5EF4-FFF2-40B4-BE49-F238E27FC236}">
                <a16:creationId xmlns:a16="http://schemas.microsoft.com/office/drawing/2014/main" id="{A34A4C9B-F5E7-4B67-90AA-5E417CADFAB2}"/>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732E1E8-3D83-4842-B9B5-671A26E37303}"/>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interaction multiplies two inputs to express a joint pattern.</a:t>
            </a:r>
          </a:p>
        </p:txBody>
      </p:sp>
      <p:sp>
        <p:nvSpPr>
          <p:cNvPr id="8" name="">
            <a:extLst xmlns:a="http://schemas.openxmlformats.org/drawingml/2006/main">
              <a:ext uri="{FF2B5EF4-FFF2-40B4-BE49-F238E27FC236}">
                <a16:creationId xmlns:a16="http://schemas.microsoft.com/office/drawing/2014/main" id="{BF7F81C6-89DF-45CF-8F82-648095BE1731}"/>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C7105A6-0061-49B2-A227-E93A7F716CAF}"/>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better validation score can still reflect leakage.</a:t>
            </a:r>
          </a:p>
        </p:txBody>
      </p:sp>
      <p:sp>
        <p:nvSpPr>
          <p:cNvPr id="10" name="">
            <a:extLst xmlns:a="http://schemas.openxmlformats.org/drawingml/2006/main">
              <a:ext uri="{FF2B5EF4-FFF2-40B4-BE49-F238E27FC236}">
                <a16:creationId xmlns:a16="http://schemas.microsoft.com/office/drawing/2014/main" id="{CB12DE3D-6539-4772-9912-21A53FA7433D}"/>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30300C2-CCE2-4211-9011-B5DBD9E25D99}"/>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the same observations and explain the physical meaning.</a:t>
            </a:r>
          </a:p>
        </p:txBody>
      </p:sp>
      <p:sp>
        <p:nvSpPr>
          <p:cNvPr id="12" name="">
            <a:extLst xmlns:a="http://schemas.openxmlformats.org/drawingml/2006/main">
              <a:ext uri="{FF2B5EF4-FFF2-40B4-BE49-F238E27FC236}">
                <a16:creationId xmlns:a16="http://schemas.microsoft.com/office/drawing/2014/main" id="{4184125D-D7B7-4A51-9E54-AD6DF9939CB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5</a:t>
            </a:r>
          </a:p>
        </p:txBody>
      </p:sp>
    </p:spTree>
    <p:extLst>
      <p:ext uri="{BB962C8B-B14F-4D97-AF65-F5344CB8AC3E}">
        <p14:creationId xmlns:p14="http://schemas.microsoft.com/office/powerpoint/2010/main" val="9016270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D2E28A2-B96A-45A8-A113-9B1BE7BE2B3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01E278-8F2B-4035-BC1C-ED3A490AB7F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6EAC6CE6-9894-488D-8D9F-B6E46D95644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Derived feature and Ratio and interaction</a:t>
            </a:r>
          </a:p>
        </p:txBody>
      </p:sp>
      <p:sp>
        <p:nvSpPr>
          <p:cNvPr id="4" name="">
            <a:extLst xmlns:a="http://schemas.openxmlformats.org/drawingml/2006/main">
              <a:ext uri="{FF2B5EF4-FFF2-40B4-BE49-F238E27FC236}">
                <a16:creationId xmlns:a16="http://schemas.microsoft.com/office/drawing/2014/main" id="{95A2FD09-85FB-413F-9633-073FF6C4A4FB}"/>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3B948D1-5312-49AF-92D3-31903C05A1B0}"/>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Derived feature</a:t>
            </a:r>
          </a:p>
        </p:txBody>
      </p:sp>
      <p:sp>
        <p:nvSpPr>
          <p:cNvPr id="6" name="">
            <a:extLst xmlns:a="http://schemas.openxmlformats.org/drawingml/2006/main">
              <a:ext uri="{FF2B5EF4-FFF2-40B4-BE49-F238E27FC236}">
                <a16:creationId xmlns:a16="http://schemas.microsoft.com/office/drawing/2014/main" id="{FDF419CB-E7D2-4D22-8F10-B72FE92FAD9F}"/>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new input calculated from existing inputs. Its definition and unit must be stated.</a:t>
            </a:r>
          </a:p>
        </p:txBody>
      </p:sp>
      <p:sp>
        <p:nvSpPr>
          <p:cNvPr id="7" name="">
            <a:extLst xmlns:a="http://schemas.openxmlformats.org/drawingml/2006/main">
              <a:ext uri="{FF2B5EF4-FFF2-40B4-BE49-F238E27FC236}">
                <a16:creationId xmlns:a16="http://schemas.microsoft.com/office/drawing/2014/main" id="{9DD6315C-7382-4381-BA50-0D7AFC8235CC}"/>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23FE5A7-0CC1-49AB-A366-68FF615952A0}"/>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Ratio and interaction</a:t>
            </a:r>
          </a:p>
        </p:txBody>
      </p:sp>
      <p:sp>
        <p:nvSpPr>
          <p:cNvPr id="9" name="">
            <a:extLst xmlns:a="http://schemas.openxmlformats.org/drawingml/2006/main">
              <a:ext uri="{FF2B5EF4-FFF2-40B4-BE49-F238E27FC236}">
                <a16:creationId xmlns:a16="http://schemas.microsoft.com/office/drawing/2014/main" id="{BC22DAAD-DD7F-452C-9DA5-617B00298C7F}"/>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ratio divides quantities; an interaction multiplies them. Both need a domain explanation and a unit check.</a:t>
            </a:r>
          </a:p>
        </p:txBody>
      </p:sp>
      <p:sp>
        <p:nvSpPr>
          <p:cNvPr id="10" name="">
            <a:extLst xmlns:a="http://schemas.openxmlformats.org/drawingml/2006/main">
              <a:ext uri="{FF2B5EF4-FFF2-40B4-BE49-F238E27FC236}">
                <a16:creationId xmlns:a16="http://schemas.microsoft.com/office/drawing/2014/main" id="{0E3C9E31-3CB3-4914-AE01-823394498AD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6</a:t>
            </a:r>
          </a:p>
        </p:txBody>
      </p:sp>
    </p:spTree>
    <p:extLst>
      <p:ext uri="{BB962C8B-B14F-4D97-AF65-F5344CB8AC3E}">
        <p14:creationId xmlns:p14="http://schemas.microsoft.com/office/powerpoint/2010/main" val="2415807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C3354AC-3C59-4F7F-9B19-F2C9F0CD558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90DD20-5346-4C0C-A6D5-19D0B3EB91F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5120900-7E69-4CA5-A83E-184A5528994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the physical example across programmes</a:t>
            </a:r>
          </a:p>
        </p:txBody>
      </p:sp>
      <p:sp>
        <p:nvSpPr>
          <p:cNvPr id="4" name="">
            <a:extLst xmlns:a="http://schemas.openxmlformats.org/drawingml/2006/main">
              <a:ext uri="{FF2B5EF4-FFF2-40B4-BE49-F238E27FC236}">
                <a16:creationId xmlns:a16="http://schemas.microsoft.com/office/drawing/2014/main" id="{62B3A81E-8442-49AA-B3BC-B0018F02151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7AC1B2D-C207-4726-A926-3B7CCDEA7FE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Current I is the flow of electric charge, measured in amperes (A). Resistance R opposes that flow, measured in ohms.</a:t>
            </a:r>
          </a:p>
        </p:txBody>
      </p:sp>
      <p:sp>
        <p:nvSpPr>
          <p:cNvPr id="6" name="">
            <a:extLst xmlns:a="http://schemas.openxmlformats.org/drawingml/2006/main">
              <a:ext uri="{FF2B5EF4-FFF2-40B4-BE49-F238E27FC236}">
                <a16:creationId xmlns:a16="http://schemas.microsoft.com/office/drawing/2014/main" id="{A95B1F7F-A96D-4F79-954D-A5B2E2210704}"/>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5C01244-FE06-4EFF-937D-E50FDFDD2F5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Power P is energy transferred per second, measured in watts (W). Resistive heating follows P = I²R in this example.</a:t>
            </a:r>
          </a:p>
        </p:txBody>
      </p:sp>
      <p:sp>
        <p:nvSpPr>
          <p:cNvPr id="8" name="">
            <a:extLst xmlns:a="http://schemas.openxmlformats.org/drawingml/2006/main">
              <a:ext uri="{FF2B5EF4-FFF2-40B4-BE49-F238E27FC236}">
                <a16:creationId xmlns:a16="http://schemas.microsoft.com/office/drawing/2014/main" id="{812715B2-C624-46CD-918C-31923D8F9504}"/>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018D751-9B7E-4B1A-B7F6-D0E3E2BD23B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I² means I × I. With I = 2 A and R = 3 ohms, P = 2 × 2 × 3 = 12 W. This relationship motivates a feature; evaluation still tests whether it helps.</a:t>
            </a:r>
          </a:p>
        </p:txBody>
      </p:sp>
      <p:sp>
        <p:nvSpPr>
          <p:cNvPr id="10" name="">
            <a:extLst xmlns:a="http://schemas.openxmlformats.org/drawingml/2006/main">
              <a:ext uri="{FF2B5EF4-FFF2-40B4-BE49-F238E27FC236}">
                <a16:creationId xmlns:a16="http://schemas.microsoft.com/office/drawing/2014/main" id="{8A9EC14A-E43F-4B39-9A1F-29129529AEC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7</a:t>
            </a:r>
          </a:p>
        </p:txBody>
      </p:sp>
    </p:spTree>
    <p:extLst>
      <p:ext uri="{BB962C8B-B14F-4D97-AF65-F5344CB8AC3E}">
        <p14:creationId xmlns:p14="http://schemas.microsoft.com/office/powerpoint/2010/main" val="40563872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5A1C00-EA73-44F7-8379-78844C204357}"/>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943EA4-34FD-4C3B-BAA7-B6E80480C5DC}"/>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physical relationship can form a feature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be167b7855646e0"/>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B815DAC-1A91-46B2-B864-897B9DC5EB19}"/>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14C39BB-4BED-4082-AC6C-03E9E3407544}"/>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Explain each quantity and the unit of the result.</a:t>
            </a:r>
          </a:p>
        </p:txBody>
      </p:sp>
      <p:sp>
        <p:nvSpPr>
          <p:cNvPr id="6" name="">
            <a:extLst xmlns:a="http://schemas.openxmlformats.org/drawingml/2006/main">
              <a:ext uri="{FF2B5EF4-FFF2-40B4-BE49-F238E27FC236}">
                <a16:creationId xmlns:a16="http://schemas.microsoft.com/office/drawing/2014/main" id="{988011ED-8D46-4821-B3E4-4B33BDB2A19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8</a:t>
            </a:r>
          </a:p>
        </p:txBody>
      </p:sp>
    </p:spTree>
    <p:extLst>
      <p:ext uri="{BB962C8B-B14F-4D97-AF65-F5344CB8AC3E}">
        <p14:creationId xmlns:p14="http://schemas.microsoft.com/office/powerpoint/2010/main" val="186744548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CF4ACF5-E7C4-4271-B3F3-DFA31102CDE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9C865D5-1DF3-41B8-B839-C40FAEDEE90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9094A8F0-F03D-44CB-923C-AF7EC713D3B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An interaction uses two known inputs</a:t>
            </a:r>
          </a:p>
        </p:txBody>
      </p:sp>
      <p:graphicFrame>
        <p:nvGraphicFramePr>
          <p:cNvPr id="10" name=""/>
          <p:cNvGraphicFramePr/>
          <p:nvPr/>
        </p:nvGraphicFramePr>
        <p:xfrm>
          <a:off xmlns:a="http://schemas.openxmlformats.org/drawingml/2006/main" x="590550" y="1733550"/>
          <a:ext xmlns:a="http://schemas.openxmlformats.org/drawingml/2006/main" cx="11010900" cy="2286000"/>
        </p:xfrm>
        <a:graphic xmlns:a="http://schemas.openxmlformats.org/drawingml/2006/main">
          <a:graphicData uri="http://schemas.openxmlformats.org/drawingml/2006/table">
            <a:tbl>
              <a:tblPr/>
              <a:tblGrid>
                <a:gridCol w="3670300"/>
                <a:gridCol w="3670300"/>
                <a:gridCol w="3670300"/>
              </a:tblGrid>
              <a:tr h="762000">
                <a:tc>
                  <a:txBody>
                    <a:bodyPr/>
                    <a:lstStyle/>
                    <a:p>
                      <a:r>
                        <a:rPr sz="2025" b="1">
                          <a:solidFill>
                            <a:srgbClr val="FFFFFF"/>
                          </a:solidFill>
                          <a:latin typeface="Calibri"/>
                          <a:ea typeface="Calibri"/>
                          <a:cs typeface="Calibri"/>
                        </a:rPr>
                        <a:t>Current A</a:t>
                      </a:r>
                    </a:p>
                  </a:txBody>
                  <a:tcPr marL="91440" marR="91440" marT="45720" marB="45720">
                    <a:solidFill>
                      <a:srgbClr val="2E7D6F"/>
                    </a:solidFill>
                  </a:tcPr>
                </a:tc>
                <a:tc>
                  <a:txBody>
                    <a:bodyPr/>
                    <a:lstStyle/>
                    <a:p>
                      <a:r>
                        <a:rPr sz="2025" b="1">
                          <a:solidFill>
                            <a:srgbClr val="FFFFFF"/>
                          </a:solidFill>
                          <a:latin typeface="Calibri"/>
                          <a:ea typeface="Calibri"/>
                          <a:cs typeface="Calibri"/>
                        </a:rPr>
                        <a:t>Resistance ohm</a:t>
                      </a:r>
                    </a:p>
                  </a:txBody>
                  <a:tcPr marL="91440" marR="91440" marT="45720" marB="45720">
                    <a:solidFill>
                      <a:srgbClr val="2E7D6F"/>
                    </a:solidFill>
                  </a:tcPr>
                </a:tc>
                <a:tc>
                  <a:txBody>
                    <a:bodyPr/>
                    <a:lstStyle/>
                    <a:p>
                      <a:r>
                        <a:rPr sz="2025" b="1">
                          <a:solidFill>
                            <a:srgbClr val="FFFFFF"/>
                          </a:solidFill>
                          <a:latin typeface="Calibri"/>
                          <a:ea typeface="Calibri"/>
                          <a:cs typeface="Calibri"/>
                        </a:rPr>
                        <a:t>I squared × R W</a:t>
                      </a:r>
                    </a:p>
                  </a:txBody>
                  <a:tcPr marL="91440" marR="91440" marT="45720" marB="45720">
                    <a:solidFill>
                      <a:srgbClr val="2E7D6F"/>
                    </a:solidFill>
                  </a:tcPr>
                </a:tc>
              </a:tr>
              <a:tr h="762000">
                <a:tc>
                  <a:txBody>
                    <a:bodyPr/>
                    <a:lstStyle/>
                    <a:p>
                      <a:r>
                        <a:rPr sz="2025" b="0">
                          <a:solidFill>
                            <a:srgbClr val="1C3144"/>
                          </a:solidFill>
                          <a:latin typeface="Calibri"/>
                          <a:ea typeface="Calibri"/>
                          <a:cs typeface="Calibri"/>
                        </a:rPr>
                        <a:t>2</a:t>
                      </a:r>
                    </a:p>
                  </a:txBody>
                  <a:tcPr marL="91440" marR="91440" marT="45720" marB="45720">
                    <a:solidFill>
                      <a:srgbClr val="EEF3F6"/>
                    </a:solidFill>
                  </a:tcPr>
                </a:tc>
                <a:tc>
                  <a:txBody>
                    <a:bodyPr/>
                    <a:lstStyle/>
                    <a:p>
                      <a:r>
                        <a:rPr sz="2025" b="0">
                          <a:solidFill>
                            <a:srgbClr val="1C3144"/>
                          </a:solidFill>
                          <a:latin typeface="Calibri"/>
                          <a:ea typeface="Calibri"/>
                          <a:cs typeface="Calibri"/>
                        </a:rPr>
                        <a:t>3</a:t>
                      </a:r>
                    </a:p>
                  </a:txBody>
                  <a:tcPr marL="91440" marR="91440" marT="45720" marB="45720">
                    <a:solidFill>
                      <a:srgbClr val="EEF3F6"/>
                    </a:solidFill>
                  </a:tcPr>
                </a:tc>
                <a:tc>
                  <a:txBody>
                    <a:bodyPr/>
                    <a:lstStyle/>
                    <a:p>
                      <a:r>
                        <a:rPr sz="2025" b="0">
                          <a:solidFill>
                            <a:srgbClr val="1C3144"/>
                          </a:solidFill>
                          <a:latin typeface="Calibri"/>
                          <a:ea typeface="Calibri"/>
                          <a:cs typeface="Calibri"/>
                        </a:rPr>
                        <a:t>12</a:t>
                      </a:r>
                    </a:p>
                  </a:txBody>
                  <a:tcPr marL="91440" marR="91440" marT="45720" marB="45720">
                    <a:solidFill>
                      <a:srgbClr val="EEF3F6"/>
                    </a:solidFill>
                  </a:tcPr>
                </a:tc>
              </a:tr>
              <a:tr h="762000">
                <a:tc>
                  <a:txBody>
                    <a:bodyPr/>
                    <a:lstStyle/>
                    <a:p>
                      <a:r>
                        <a:rPr sz="2025" b="0">
                          <a:solidFill>
                            <a:srgbClr val="1C3144"/>
                          </a:solidFill>
                          <a:latin typeface="Calibri"/>
                          <a:ea typeface="Calibri"/>
                          <a:cs typeface="Calibri"/>
                        </a:rPr>
                        <a:t>4</a:t>
                      </a:r>
                    </a:p>
                  </a:txBody>
                  <a:tcPr marL="91440" marR="91440" marT="45720" marB="45720">
                    <a:solidFill>
                      <a:srgbClr val="FFFFFF"/>
                    </a:solidFill>
                  </a:tcPr>
                </a:tc>
                <a:tc>
                  <a:txBody>
                    <a:bodyPr/>
                    <a:lstStyle/>
                    <a:p>
                      <a:r>
                        <a:rPr sz="2025" b="0">
                          <a:solidFill>
                            <a:srgbClr val="1C3144"/>
                          </a:solidFill>
                          <a:latin typeface="Calibri"/>
                          <a:ea typeface="Calibri"/>
                          <a:cs typeface="Calibri"/>
                        </a:rPr>
                        <a:t>3</a:t>
                      </a:r>
                    </a:p>
                  </a:txBody>
                  <a:tcPr marL="91440" marR="91440" marT="45720" marB="45720">
                    <a:solidFill>
                      <a:srgbClr val="FFFFFF"/>
                    </a:solidFill>
                  </a:tcPr>
                </a:tc>
                <a:tc>
                  <a:txBody>
                    <a:bodyPr/>
                    <a:lstStyle/>
                    <a:p>
                      <a:r>
                        <a:rPr sz="2025" b="0">
                          <a:solidFill>
                            <a:srgbClr val="1C3144"/>
                          </a:solidFill>
                          <a:latin typeface="Calibri"/>
                          <a:ea typeface="Calibri"/>
                          <a:cs typeface="Calibri"/>
                        </a:rPr>
                        <a:t>48</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C1A77D8-841B-41DF-8FBA-32A98022CBA0}"/>
              </a:ext>
            </a:extLst>
          </p:cNvPr>
          <p:cNvSpPr>
            <a:spLocks xmlns:a="http://schemas.openxmlformats.org/drawingml/2006/main" noGrp="1"/>
          </p:cNvSpPr>
          <p:nvPr/>
        </p:nvSpPr>
        <p:spPr>
          <a:xfrm xmlns:a="http://schemas.openxmlformats.org/drawingml/2006/main">
            <a:off x="685800" y="433387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A derived input must be available when predicting. A useful physical relationship still needs validation.</a:t>
            </a:r>
          </a:p>
        </p:txBody>
      </p:sp>
      <p:sp>
        <p:nvSpPr>
          <p:cNvPr id="6" name="">
            <a:extLst xmlns:a="http://schemas.openxmlformats.org/drawingml/2006/main">
              <a:ext uri="{FF2B5EF4-FFF2-40B4-BE49-F238E27FC236}">
                <a16:creationId xmlns:a16="http://schemas.microsoft.com/office/drawing/2014/main" id="{ED0204F1-C649-4192-81CA-EDBA9818563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9</a:t>
            </a:r>
          </a:p>
        </p:txBody>
      </p:sp>
    </p:spTree>
    <p:extLst>
      <p:ext uri="{BB962C8B-B14F-4D97-AF65-F5344CB8AC3E}">
        <p14:creationId xmlns:p14="http://schemas.microsoft.com/office/powerpoint/2010/main" val="170541213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8A1E820-FE1A-4FD2-B24A-2945537E159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BFAC78-42F4-4A27-A614-FA079B4DAC3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B2DEEC9-DA15-485F-8E8D-0DDA6C3B8E0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percentage and its fraction</a:t>
            </a:r>
          </a:p>
        </p:txBody>
      </p:sp>
      <p:sp>
        <p:nvSpPr>
          <p:cNvPr id="4" name="">
            <a:extLst xmlns:a="http://schemas.openxmlformats.org/drawingml/2006/main">
              <a:ext uri="{FF2B5EF4-FFF2-40B4-BE49-F238E27FC236}">
                <a16:creationId xmlns:a16="http://schemas.microsoft.com/office/drawing/2014/main" id="{46FCAF31-AF40-450D-BC7C-D8A0429B96D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054EBD5-1E75-4BFD-A935-17581F3203C0}"/>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40% means 40 out of 100.</a:t>
            </a:r>
          </a:p>
        </p:txBody>
      </p:sp>
      <p:sp>
        <p:nvSpPr>
          <p:cNvPr id="6" name="">
            <a:extLst xmlns:a="http://schemas.openxmlformats.org/drawingml/2006/main">
              <a:ext uri="{FF2B5EF4-FFF2-40B4-BE49-F238E27FC236}">
                <a16:creationId xmlns:a16="http://schemas.microsoft.com/office/drawing/2014/main" id="{9777DCAE-4E53-494D-996D-2698BEBADCCD}"/>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7895D5D-6E09-41E3-8BAD-4ACFDC7F19A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40 / 100 gives 0.4.</a:t>
            </a:r>
          </a:p>
        </p:txBody>
      </p:sp>
      <p:sp>
        <p:nvSpPr>
          <p:cNvPr id="8" name="">
            <a:extLst xmlns:a="http://schemas.openxmlformats.org/drawingml/2006/main">
              <a:ext uri="{FF2B5EF4-FFF2-40B4-BE49-F238E27FC236}">
                <a16:creationId xmlns:a16="http://schemas.microsoft.com/office/drawing/2014/main" id="{791376FD-9F5F-40CC-BCFC-0CCE2F19439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72F6370-B14E-4AC2-A233-37ADD00B928A}"/>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changes the representation. It adds no new observation.</a:t>
            </a:r>
          </a:p>
        </p:txBody>
      </p:sp>
      <p:sp>
        <p:nvSpPr>
          <p:cNvPr id="10" name="">
            <a:extLst xmlns:a="http://schemas.openxmlformats.org/drawingml/2006/main">
              <a:ext uri="{FF2B5EF4-FFF2-40B4-BE49-F238E27FC236}">
                <a16:creationId xmlns:a16="http://schemas.microsoft.com/office/drawing/2014/main" id="{CA4AC861-14E9-410A-AD67-60AC95C240A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10</a:t>
            </a:r>
          </a:p>
        </p:txBody>
      </p:sp>
    </p:spTree>
    <p:extLst>
      <p:ext uri="{BB962C8B-B14F-4D97-AF65-F5344CB8AC3E}">
        <p14:creationId xmlns:p14="http://schemas.microsoft.com/office/powerpoint/2010/main" val="122183821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B18ECD3-04CE-4DF7-B5DF-CC28FF43625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31DBE2-0D78-44B0-921D-C6987750036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AA49883-5F54-4B14-8ED4-F520C5B0460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combined input needs a reason</a:t>
            </a:r>
          </a:p>
        </p:txBody>
      </p:sp>
      <p:sp>
        <p:nvSpPr>
          <p:cNvPr id="4" name="">
            <a:extLst xmlns:a="http://schemas.openxmlformats.org/drawingml/2006/main">
              <a:ext uri="{FF2B5EF4-FFF2-40B4-BE49-F238E27FC236}">
                <a16:creationId xmlns:a16="http://schemas.microsoft.com/office/drawing/2014/main" id="{52CD1501-91DB-42FD-8E66-89B67FD2CB9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F091562-D065-4D39-827F-BD138D49E655}"/>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interaction multiplies two inputs.</a:t>
            </a:r>
          </a:p>
        </p:txBody>
      </p:sp>
      <p:sp>
        <p:nvSpPr>
          <p:cNvPr id="6" name="">
            <a:extLst xmlns:a="http://schemas.openxmlformats.org/drawingml/2006/main">
              <a:ext uri="{FF2B5EF4-FFF2-40B4-BE49-F238E27FC236}">
                <a16:creationId xmlns:a16="http://schemas.microsoft.com/office/drawing/2014/main" id="{6E5E5F99-79E2-4CA1-8FA1-8DC817D24EBC}"/>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24CE132-431A-4088-B3FF-C8CA3323C658}"/>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It may help a simple model represent a joint pattern.</a:t>
            </a:r>
          </a:p>
        </p:txBody>
      </p:sp>
      <p:sp>
        <p:nvSpPr>
          <p:cNvPr id="8" name="">
            <a:extLst xmlns:a="http://schemas.openxmlformats.org/drawingml/2006/main">
              <a:ext uri="{FF2B5EF4-FFF2-40B4-BE49-F238E27FC236}">
                <a16:creationId xmlns:a16="http://schemas.microsoft.com/office/drawing/2014/main" id="{6DA0EDD1-A6B9-48FE-968B-759DE0ECE4D3}"/>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5891C9B-553B-4DC1-8F8F-1D05A0B75792}"/>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interaction with degrees Celsius is an empirical feature, not automatically a physical law.</a:t>
            </a:r>
          </a:p>
        </p:txBody>
      </p:sp>
      <p:sp>
        <p:nvSpPr>
          <p:cNvPr id="10" name="">
            <a:extLst xmlns:a="http://schemas.openxmlformats.org/drawingml/2006/main">
              <a:ext uri="{FF2B5EF4-FFF2-40B4-BE49-F238E27FC236}">
                <a16:creationId xmlns:a16="http://schemas.microsoft.com/office/drawing/2014/main" id="{504DDF58-9BD1-4FFC-AD24-EEB38C49810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11</a:t>
            </a:r>
          </a:p>
        </p:txBody>
      </p:sp>
    </p:spTree>
    <p:extLst>
      <p:ext uri="{BB962C8B-B14F-4D97-AF65-F5344CB8AC3E}">
        <p14:creationId xmlns:p14="http://schemas.microsoft.com/office/powerpoint/2010/main" val="160311574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BBAA277-E21C-4B41-8DF0-166EA5AC922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9B4101-A24F-4E12-9FDE-036CD4AC6A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ABA14F54-0837-4E81-8DEE-5CE5105EF8D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Ablation and Improvement</a:t>
            </a:r>
          </a:p>
        </p:txBody>
      </p:sp>
      <p:sp>
        <p:nvSpPr>
          <p:cNvPr id="4" name="">
            <a:extLst xmlns:a="http://schemas.openxmlformats.org/drawingml/2006/main">
              <a:ext uri="{FF2B5EF4-FFF2-40B4-BE49-F238E27FC236}">
                <a16:creationId xmlns:a16="http://schemas.microsoft.com/office/drawing/2014/main" id="{49834B1B-8BDB-4D84-9D5A-1C586F6ACE01}"/>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657F66-33D4-46C5-8A8C-01D712F26D1D}"/>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Ablation</a:t>
            </a:r>
          </a:p>
        </p:txBody>
      </p:sp>
      <p:sp>
        <p:nvSpPr>
          <p:cNvPr id="6" name="">
            <a:extLst xmlns:a="http://schemas.openxmlformats.org/drawingml/2006/main">
              <a:ext uri="{FF2B5EF4-FFF2-40B4-BE49-F238E27FC236}">
                <a16:creationId xmlns:a16="http://schemas.microsoft.com/office/drawing/2014/main" id="{0E02A246-C74F-48BA-A595-5D583BADF1C4}"/>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Compare a model with and without a feature while keeping the data partitions, model family and metric fixed.</a:t>
            </a:r>
          </a:p>
        </p:txBody>
      </p:sp>
      <p:sp>
        <p:nvSpPr>
          <p:cNvPr id="7" name="">
            <a:extLst xmlns:a="http://schemas.openxmlformats.org/drawingml/2006/main">
              <a:ext uri="{FF2B5EF4-FFF2-40B4-BE49-F238E27FC236}">
                <a16:creationId xmlns:a16="http://schemas.microsoft.com/office/drawing/2014/main" id="{D358FD28-CAC7-46E0-A789-59A83FD2ED35}"/>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FEB4B66-C910-4D0B-8141-4355EB129D16}"/>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Improvement</a:t>
            </a:r>
          </a:p>
        </p:txBody>
      </p:sp>
      <p:sp>
        <p:nvSpPr>
          <p:cNvPr id="9" name="">
            <a:extLst xmlns:a="http://schemas.openxmlformats.org/drawingml/2006/main">
              <a:ext uri="{FF2B5EF4-FFF2-40B4-BE49-F238E27FC236}">
                <a16:creationId xmlns:a16="http://schemas.microsoft.com/office/drawing/2014/main" id="{8FE3FDA4-D053-44B7-9F20-FBE55286C5B8}"/>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For an error metric, baseline error minus new error. A negative result means the added feature worsened validation error in that comparison.</a:t>
            </a:r>
          </a:p>
        </p:txBody>
      </p:sp>
      <p:sp>
        <p:nvSpPr>
          <p:cNvPr id="10" name="">
            <a:extLst xmlns:a="http://schemas.openxmlformats.org/drawingml/2006/main">
              <a:ext uri="{FF2B5EF4-FFF2-40B4-BE49-F238E27FC236}">
                <a16:creationId xmlns:a16="http://schemas.microsoft.com/office/drawing/2014/main" id="{C82BCE9F-E9A0-49FC-A5B2-72135B02C37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12</a:t>
            </a:r>
          </a:p>
        </p:txBody>
      </p:sp>
    </p:spTree>
    <p:extLst>
      <p:ext uri="{BB962C8B-B14F-4D97-AF65-F5344CB8AC3E}">
        <p14:creationId xmlns:p14="http://schemas.microsoft.com/office/powerpoint/2010/main" val="35671552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EAE2CE8-BBFE-4B57-BC20-C3AC1D6E860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100E8D-F03A-48FF-A743-99CF94823B9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43EDD03-0306-4009-827D-A87ECA75297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One change makes a comparison interpretable</a:t>
            </a:r>
          </a:p>
        </p:txBody>
      </p:sp>
      <p:sp>
        <p:nvSpPr>
          <p:cNvPr id="4" name="">
            <a:extLst xmlns:a="http://schemas.openxmlformats.org/drawingml/2006/main">
              <a:ext uri="{FF2B5EF4-FFF2-40B4-BE49-F238E27FC236}">
                <a16:creationId xmlns:a16="http://schemas.microsoft.com/office/drawing/2014/main" id="{7B6DCF1C-FA79-42AE-911A-7E5F6DEF66C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BACA95B-6BFF-4984-B98E-87D9F6175951}"/>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Base MAE is 3.0. Extended MAE is 2.5.</a:t>
            </a:r>
          </a:p>
        </p:txBody>
      </p:sp>
      <p:sp>
        <p:nvSpPr>
          <p:cNvPr id="6" name="">
            <a:extLst xmlns:a="http://schemas.openxmlformats.org/drawingml/2006/main">
              <a:ext uri="{FF2B5EF4-FFF2-40B4-BE49-F238E27FC236}">
                <a16:creationId xmlns:a16="http://schemas.microsoft.com/office/drawing/2014/main" id="{953B5920-63BA-4C06-85E5-F822A93294E2}"/>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3708D4F-3D2A-418C-B039-A624E8E00687}"/>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Improvement = base error minus extended error = 0.5.</a:t>
            </a:r>
          </a:p>
        </p:txBody>
      </p:sp>
      <p:sp>
        <p:nvSpPr>
          <p:cNvPr id="8" name="">
            <a:extLst xmlns:a="http://schemas.openxmlformats.org/drawingml/2006/main">
              <a:ext uri="{FF2B5EF4-FFF2-40B4-BE49-F238E27FC236}">
                <a16:creationId xmlns:a16="http://schemas.microsoft.com/office/drawing/2014/main" id="{899D2DE3-A855-4FC2-96CB-8DABF6FA8FD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D6FF539-3EA8-4A78-B91F-7449669B3B3A}"/>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training rows, validation rows, model family and metric fixed.</a:t>
            </a:r>
          </a:p>
        </p:txBody>
      </p:sp>
      <p:sp>
        <p:nvSpPr>
          <p:cNvPr id="10" name="">
            <a:extLst xmlns:a="http://schemas.openxmlformats.org/drawingml/2006/main">
              <a:ext uri="{FF2B5EF4-FFF2-40B4-BE49-F238E27FC236}">
                <a16:creationId xmlns:a16="http://schemas.microsoft.com/office/drawing/2014/main" id="{DA7733BE-208A-4CB5-A103-6D83D0C0CF9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13</a:t>
            </a:r>
          </a:p>
        </p:txBody>
      </p:sp>
    </p:spTree>
    <p:extLst>
      <p:ext uri="{BB962C8B-B14F-4D97-AF65-F5344CB8AC3E}">
        <p14:creationId xmlns:p14="http://schemas.microsoft.com/office/powerpoint/2010/main" val="73574956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B0A63B4-7804-4EF6-B8DC-AF1D71BE0DD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A3AC6D-2CB5-4107-A3EA-473CCF925E7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2126560-DB14-43EB-9E3E-7099783E08F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Feature comparisons in Python</a:t>
            </a:r>
          </a:p>
        </p:txBody>
      </p:sp>
      <p:sp>
        <p:nvSpPr>
          <p:cNvPr id="4" name="">
            <a:extLst xmlns:a="http://schemas.openxmlformats.org/drawingml/2006/main">
              <a:ext uri="{FF2B5EF4-FFF2-40B4-BE49-F238E27FC236}">
                <a16:creationId xmlns:a16="http://schemas.microsoft.com/office/drawing/2014/main" id="{8EC23C0F-EDFF-4848-BB6C-898F0CA6E32F}"/>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48D0855-0628-482F-B587-2BB84A2E3060}"/>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load_pct = 40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ambient_c = 25</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load_fraction = load_pct / 100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interaction = load_pct * ambient_c</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print(load_fraction, interaction)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base_mae =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extended_mae = 2.5</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print(base_mae - extended_mae)</a:t>
            </a:r>
          </a:p>
        </p:txBody>
      </p:sp>
      <p:sp>
        <p:nvSpPr>
          <p:cNvPr id="6" name="">
            <a:extLst xmlns:a="http://schemas.openxmlformats.org/drawingml/2006/main">
              <a:ext uri="{FF2B5EF4-FFF2-40B4-BE49-F238E27FC236}">
                <a16:creationId xmlns:a16="http://schemas.microsoft.com/office/drawing/2014/main" id="{1AC84D5E-A240-426B-9FF9-B5A7EA658F66}"/>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49EC88DA-6AF8-42BD-928C-68674163C4B6}"/>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E8E66019-6A30-4075-B9A7-52A6AB4466E9}"/>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9" name="">
            <a:extLst xmlns:a="http://schemas.openxmlformats.org/drawingml/2006/main">
              <a:ext uri="{FF2B5EF4-FFF2-40B4-BE49-F238E27FC236}">
                <a16:creationId xmlns:a16="http://schemas.microsoft.com/office/drawing/2014/main" id="{4A5D0A64-0B62-4EEC-8AF1-69B3CC16E9E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10" name="">
            <a:extLst xmlns:a="http://schemas.openxmlformats.org/drawingml/2006/main">
              <a:ext uri="{FF2B5EF4-FFF2-40B4-BE49-F238E27FC236}">
                <a16:creationId xmlns:a16="http://schemas.microsoft.com/office/drawing/2014/main" id="{06B25B60-14B9-40B6-88E7-126C9B68B54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14</a:t>
            </a:r>
          </a:p>
        </p:txBody>
      </p:sp>
    </p:spTree>
    <p:extLst>
      <p:ext uri="{BB962C8B-B14F-4D97-AF65-F5344CB8AC3E}">
        <p14:creationId xmlns:p14="http://schemas.microsoft.com/office/powerpoint/2010/main" val="179553399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105404-A5D2-46E5-9FE2-1A4970D8F5F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9221F4-C0EC-4975-96E2-C6915AA0A5C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CHECK THE OUTPUT</a:t>
            </a:r>
          </a:p>
        </p:txBody>
      </p:sp>
      <p:sp>
        <p:nvSpPr>
          <p:cNvPr id="3" name="">
            <a:extLst xmlns:a="http://schemas.openxmlformats.org/drawingml/2006/main">
              <a:ext uri="{FF2B5EF4-FFF2-40B4-BE49-F238E27FC236}">
                <a16:creationId xmlns:a16="http://schemas.microsoft.com/office/drawing/2014/main" id="{20B40B4A-82DE-4A77-B8E7-C6A6AD5E638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Feature comparisons results</a:t>
            </a:r>
          </a:p>
        </p:txBody>
      </p:sp>
      <p:sp>
        <p:nvSpPr>
          <p:cNvPr id="4" name="">
            <a:extLst xmlns:a="http://schemas.openxmlformats.org/drawingml/2006/main">
              <a:ext uri="{FF2B5EF4-FFF2-40B4-BE49-F238E27FC236}">
                <a16:creationId xmlns:a16="http://schemas.microsoft.com/office/drawing/2014/main" id="{28BB4C9F-49C9-48EA-A85B-70D2F9FD412E}"/>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97314F2-1432-446A-848D-F098E1102B6F}"/>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2E7D6F"/>
                </a:solidFill>
                <a:latin typeface="Courier New"/>
                <a:ea typeface="Courier New"/>
                <a:cs typeface="Courier New"/>
              </a:defRPr>
            </a:pPr>
            <a:r>
              <a:rPr sz="3150" b="0">
                <a:solidFill>
                  <a:srgbClr val="2E7D6F"/>
                </a:solidFill>
                <a:latin typeface="Courier New"/>
                <a:ea typeface="Courier New"/>
                <a:cs typeface="Courier New"/>
              </a:rPr>
              <a:t>0.4 1000</a:t>
            </a:r>
          </a:p>
          <a:p xmlns:a="http://schemas.openxmlformats.org/drawingml/2006/main">
            <a:pPr>
              <a:defRPr sz="3150" b="0">
                <a:solidFill>
                  <a:srgbClr val="2E7D6F"/>
                </a:solidFill>
                <a:latin typeface="Courier New"/>
                <a:ea typeface="Courier New"/>
                <a:cs typeface="Courier New"/>
              </a:defRPr>
            </a:pPr>
            <a:r>
              <a:rPr sz="3150" b="0">
                <a:solidFill>
                  <a:srgbClr val="2E7D6F"/>
                </a:solidFill>
                <a:latin typeface="Courier New"/>
                <a:ea typeface="Courier New"/>
                <a:cs typeface="Courier New"/>
              </a:rPr>
              <a:t>0.5</a:t>
            </a:r>
          </a:p>
        </p:txBody>
      </p:sp>
      <p:sp>
        <p:nvSpPr>
          <p:cNvPr id="6" name="">
            <a:extLst xmlns:a="http://schemas.openxmlformats.org/drawingml/2006/main">
              <a:ext uri="{FF2B5EF4-FFF2-40B4-BE49-F238E27FC236}">
                <a16:creationId xmlns:a16="http://schemas.microsoft.com/office/drawing/2014/main" id="{9ED1D4D9-7271-4D21-80E9-C9D7C31E62B5}"/>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F8314017-D8A5-4EDC-BA1F-0DE33EA835E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15</a:t>
            </a:r>
          </a:p>
        </p:txBody>
      </p:sp>
    </p:spTree>
    <p:extLst>
      <p:ext uri="{BB962C8B-B14F-4D97-AF65-F5344CB8AC3E}">
        <p14:creationId xmlns:p14="http://schemas.microsoft.com/office/powerpoint/2010/main" val="96517118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6CF1EDD-2D48-46F2-B633-3CAECB1A9A0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724F6C-FCA3-4157-82F8-FCA2B7A4A60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486EACF-8CF6-4660-9E06-DEA1922672B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the two-model experiment</a:t>
            </a:r>
          </a:p>
        </p:txBody>
      </p:sp>
      <p:sp>
        <p:nvSpPr>
          <p:cNvPr id="4" name="">
            <a:extLst xmlns:a="http://schemas.openxmlformats.org/drawingml/2006/main">
              <a:ext uri="{FF2B5EF4-FFF2-40B4-BE49-F238E27FC236}">
                <a16:creationId xmlns:a16="http://schemas.microsoft.com/office/drawing/2014/main" id="{23F2E732-30A6-42B4-A4E3-D385B42BFDE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09A49D6-2760-4387-B84F-1067E80F5B51}"/>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row contains a pair of inputs. for a, b in rows assigns the first entry to a and the second to b, then repeats the block.</a:t>
            </a:r>
          </a:p>
        </p:txBody>
      </p:sp>
      <p:sp>
        <p:nvSpPr>
          <p:cNvPr id="6" name="">
            <a:extLst xmlns:a="http://schemas.openxmlformats.org/drawingml/2006/main">
              <a:ext uri="{FF2B5EF4-FFF2-40B4-BE49-F238E27FC236}">
                <a16:creationId xmlns:a16="http://schemas.microsoft.com/office/drawing/2014/main" id="{4FD17E52-285B-4501-BB38-83CEF7C7EB9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D780A76-5DA9-45FD-9CA5-130FBA73C05E}"/>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with_interaction returns a new table containing a, b and a × b. Both models keep the same training and validation rows.</a:t>
            </a:r>
          </a:p>
        </p:txBody>
      </p:sp>
      <p:sp>
        <p:nvSpPr>
          <p:cNvPr id="8" name="">
            <a:extLst xmlns:a="http://schemas.openxmlformats.org/drawingml/2006/main">
              <a:ext uri="{FF2B5EF4-FFF2-40B4-BE49-F238E27FC236}">
                <a16:creationId xmlns:a16="http://schemas.microsoft.com/office/drawing/2014/main" id="{CD74B070-62F5-4ED3-B490-B8F0B960CD8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426B3E2-539B-471E-A0AF-4E5AF46A12D0}"/>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Create the model first, then call fit on the next line. round(value, 6) rounds a displayed number to six decimal places; retain full precision for calculations.</a:t>
            </a:r>
          </a:p>
        </p:txBody>
      </p:sp>
      <p:sp>
        <p:nvSpPr>
          <p:cNvPr id="10" name="">
            <a:extLst xmlns:a="http://schemas.openxmlformats.org/drawingml/2006/main">
              <a:ext uri="{FF2B5EF4-FFF2-40B4-BE49-F238E27FC236}">
                <a16:creationId xmlns:a16="http://schemas.microsoft.com/office/drawing/2014/main" id="{19D4012D-6006-4898-90E3-452F7A67274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16</a:t>
            </a:r>
          </a:p>
        </p:txBody>
      </p:sp>
    </p:spTree>
    <p:extLst>
      <p:ext uri="{BB962C8B-B14F-4D97-AF65-F5344CB8AC3E}">
        <p14:creationId xmlns:p14="http://schemas.microsoft.com/office/powerpoint/2010/main" val="33673050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E6AB967-3C1B-49EF-86C8-D7E67DE5933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068E91-4D17-4E61-A2C2-336306E3B4D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4F9D598-E497-4725-9656-DBF58AAB671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interaction-building function</a:t>
            </a:r>
          </a:p>
        </p:txBody>
      </p:sp>
      <p:sp>
        <p:nvSpPr>
          <p:cNvPr id="4" name="">
            <a:extLst xmlns:a="http://schemas.openxmlformats.org/drawingml/2006/main">
              <a:ext uri="{FF2B5EF4-FFF2-40B4-BE49-F238E27FC236}">
                <a16:creationId xmlns:a16="http://schemas.microsoft.com/office/drawing/2014/main" id="{B1B74D4C-70EB-4CD6-825F-BA6C236E796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58602E0-E53D-47BE-A703-DC25BF4290A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row contains two inputs. for a, b in rows: assigns them to a and b. [a, b, a * b] builds a new row with their product as a third input.</a:t>
            </a:r>
          </a:p>
        </p:txBody>
      </p:sp>
      <p:sp>
        <p:nvSpPr>
          <p:cNvPr id="6" name="">
            <a:extLst xmlns:a="http://schemas.openxmlformats.org/drawingml/2006/main">
              <a:ext uri="{FF2B5EF4-FFF2-40B4-BE49-F238E27FC236}">
                <a16:creationId xmlns:a16="http://schemas.microsoft.com/office/drawing/2014/main" id="{7236DFA1-690E-4BCF-B5E8-3CAAF97CC45C}"/>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9C3EA97-0DB1-4FD4-9A2E-AFEACDA75D1C}"/>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row [2, 3], append [2, 3, 6]. For row [4, 5], append [4, 5, 20]. The function returns the newly built list of rows.</a:t>
            </a:r>
          </a:p>
        </p:txBody>
      </p:sp>
      <p:sp>
        <p:nvSpPr>
          <p:cNvPr id="8" name="">
            <a:extLst xmlns:a="http://schemas.openxmlformats.org/drawingml/2006/main">
              <a:ext uri="{FF2B5EF4-FFF2-40B4-BE49-F238E27FC236}">
                <a16:creationId xmlns:a16="http://schemas.microsoft.com/office/drawing/2014/main" id="{8D635E15-F681-4280-9C2B-91BA873E9CD5}"/>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BDD04AA-8C92-4BD9-ABAB-1F20923C11AC}"/>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same function must transform both training and validation inputs. It uses no target values to construct the new feature.</a:t>
            </a:r>
          </a:p>
        </p:txBody>
      </p:sp>
      <p:sp>
        <p:nvSpPr>
          <p:cNvPr id="10" name="">
            <a:extLst xmlns:a="http://schemas.openxmlformats.org/drawingml/2006/main">
              <a:ext uri="{FF2B5EF4-FFF2-40B4-BE49-F238E27FC236}">
                <a16:creationId xmlns:a16="http://schemas.microsoft.com/office/drawing/2014/main" id="{9EBD4E13-B26D-44D8-8CFA-E5876BE6B84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17</a:t>
            </a:r>
          </a:p>
        </p:txBody>
      </p:sp>
    </p:spTree>
    <p:extLst>
      <p:ext uri="{BB962C8B-B14F-4D97-AF65-F5344CB8AC3E}">
        <p14:creationId xmlns:p14="http://schemas.microsoft.com/office/powerpoint/2010/main" val="135523609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2F19738-7DB3-4586-8E8B-E49D50692AE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555012-AAE7-44E8-8DB1-E71270623AB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BB19A88-8CBE-44F6-8852-A6A46FAD019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Two models under one protocol</a:t>
            </a:r>
          </a:p>
        </p:txBody>
      </p:sp>
      <p:sp>
        <p:nvSpPr>
          <p:cNvPr id="4" name="">
            <a:extLst xmlns:a="http://schemas.openxmlformats.org/drawingml/2006/main">
              <a:ext uri="{FF2B5EF4-FFF2-40B4-BE49-F238E27FC236}">
                <a16:creationId xmlns:a16="http://schemas.microsoft.com/office/drawing/2014/main" id="{B1FF1B80-C736-4909-9405-0E086E86157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7CD17BD-E568-4C15-9FED-388334200072}"/>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 this complete practice experiment in a fresh session.</a:t>
            </a:r>
          </a:p>
        </p:txBody>
      </p:sp>
      <p:sp>
        <p:nvSpPr>
          <p:cNvPr id="6" name="">
            <a:extLst xmlns:a="http://schemas.openxmlformats.org/drawingml/2006/main">
              <a:ext uri="{FF2B5EF4-FFF2-40B4-BE49-F238E27FC236}">
                <a16:creationId xmlns:a16="http://schemas.microsoft.com/office/drawing/2014/main" id="{386B6158-00E8-4CB9-BE32-5D9DBFBDB65E}"/>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E1F3FC7-40A0-44A7-A99A-3BD725D3E0F2}"/>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Both models use the same rows and targets; the second receives one additional input.</a:t>
            </a:r>
          </a:p>
        </p:txBody>
      </p:sp>
      <p:sp>
        <p:nvSpPr>
          <p:cNvPr id="8" name="">
            <a:extLst xmlns:a="http://schemas.openxmlformats.org/drawingml/2006/main">
              <a:ext uri="{FF2B5EF4-FFF2-40B4-BE49-F238E27FC236}">
                <a16:creationId xmlns:a16="http://schemas.microsoft.com/office/drawing/2014/main" id="{0D699D89-4B23-46B9-80F4-AE8C29443599}"/>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3F0E8A0-FB09-4469-AD84-CADD325BAAE9}"/>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every column before fitting.</a:t>
            </a:r>
          </a:p>
        </p:txBody>
      </p:sp>
      <p:sp>
        <p:nvSpPr>
          <p:cNvPr id="10" name="">
            <a:extLst xmlns:a="http://schemas.openxmlformats.org/drawingml/2006/main">
              <a:ext uri="{FF2B5EF4-FFF2-40B4-BE49-F238E27FC236}">
                <a16:creationId xmlns:a16="http://schemas.microsoft.com/office/drawing/2014/main" id="{429E8974-B9C3-423A-950A-851D83595D08}"/>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B6EEBF4-B4FF-4162-9D00-BF547C48F01D}"/>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invented experiment illustrates procedure, not a measured engineering benefit.</a:t>
            </a:r>
          </a:p>
        </p:txBody>
      </p:sp>
      <p:sp>
        <p:nvSpPr>
          <p:cNvPr id="12" name="">
            <a:extLst xmlns:a="http://schemas.openxmlformats.org/drawingml/2006/main">
              <a:ext uri="{FF2B5EF4-FFF2-40B4-BE49-F238E27FC236}">
                <a16:creationId xmlns:a16="http://schemas.microsoft.com/office/drawing/2014/main" id="{5D87A706-703C-448D-9AC3-013A92E46B5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18</a:t>
            </a:r>
          </a:p>
        </p:txBody>
      </p:sp>
    </p:spTree>
    <p:extLst>
      <p:ext uri="{BB962C8B-B14F-4D97-AF65-F5344CB8AC3E}">
        <p14:creationId xmlns:p14="http://schemas.microsoft.com/office/powerpoint/2010/main" val="64563680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4596570-273F-48B2-8CD8-7494BF8679D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D3BD77-4C6B-4D44-9014-6057909082E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5146433-CAAE-4A57-9A0D-5AA3872059A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Two models under one protocol in Python (1/3)</a:t>
            </a:r>
          </a:p>
        </p:txBody>
      </p:sp>
      <p:sp>
        <p:nvSpPr>
          <p:cNvPr id="4" name="">
            <a:extLst xmlns:a="http://schemas.openxmlformats.org/drawingml/2006/main">
              <a:ext uri="{FF2B5EF4-FFF2-40B4-BE49-F238E27FC236}">
                <a16:creationId xmlns:a16="http://schemas.microsoft.com/office/drawing/2014/main" id="{9E6D5963-B6F2-43A5-937D-424802BB13E5}"/>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21EF8FC-BBF5-42B2-8297-55172C1FCC7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from</a:t>
            </a:r>
            <a:r>
              <a:rPr sz="2175" b="0">
                <a:solidFill>
                  <a:srgbClr val="F4F7FA"/>
                </a:solidFill>
                <a:latin typeface="Courier New"/>
                <a:ea typeface="Courier New"/>
                <a:cs typeface="Courier New"/>
              </a:rPr>
              <a:t> sklearn.linear_model </a:t>
            </a:r>
            <a:r>
              <a:rPr sz="2175" b="0">
                <a:solidFill>
                  <a:srgbClr val="FFB080"/>
                </a:solidFill>
                <a:latin typeface="Courier New"/>
                <a:ea typeface="Courier New"/>
                <a:cs typeface="Courier New"/>
              </a:rPr>
              <a:t>import</a:t>
            </a:r>
            <a:r>
              <a:rPr sz="2175" b="0">
                <a:solidFill>
                  <a:srgbClr val="F4F7FA"/>
                </a:solidFill>
                <a:latin typeface="Courier New"/>
                <a:ea typeface="Courier New"/>
                <a:cs typeface="Courier New"/>
              </a:rPr>
              <a:t> LinearRegression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from sklearn.metrics import mean_absolute_error</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train = [[1, 2], [2, 3], [3, 2], [4, 4], [5, 3]]</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y = [3, 5, 5, 8, 8]</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validation = [[2, 2], [3, 3]]</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truth = [4, 6]</a:t>
            </a:r>
          </a:p>
        </p:txBody>
      </p:sp>
      <p:sp>
        <p:nvSpPr>
          <p:cNvPr id="6" name="">
            <a:extLst xmlns:a="http://schemas.openxmlformats.org/drawingml/2006/main">
              <a:ext uri="{FF2B5EF4-FFF2-40B4-BE49-F238E27FC236}">
                <a16:creationId xmlns:a16="http://schemas.microsoft.com/office/drawing/2014/main" id="{B52BCF83-57CF-427A-BABF-DB21222471E1}"/>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import loads a library. from selects a tool from it.</a:t>
            </a:r>
          </a:p>
        </p:txBody>
      </p:sp>
      <p:sp>
        <p:nvSpPr>
          <p:cNvPr id="7" name="">
            <a:extLst xmlns:a="http://schemas.openxmlformats.org/drawingml/2006/main">
              <a:ext uri="{FF2B5EF4-FFF2-40B4-BE49-F238E27FC236}">
                <a16:creationId xmlns:a16="http://schemas.microsoft.com/office/drawing/2014/main" id="{512FFD8C-2296-4DE1-ADAD-18790DBF264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8" name="">
            <a:extLst xmlns:a="http://schemas.openxmlformats.org/drawingml/2006/main">
              <a:ext uri="{FF2B5EF4-FFF2-40B4-BE49-F238E27FC236}">
                <a16:creationId xmlns:a16="http://schemas.microsoft.com/office/drawing/2014/main" id="{D700C34D-C0C5-4876-BB4A-65210B66479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19</a:t>
            </a:r>
          </a:p>
        </p:txBody>
      </p:sp>
    </p:spTree>
    <p:extLst>
      <p:ext uri="{BB962C8B-B14F-4D97-AF65-F5344CB8AC3E}">
        <p14:creationId xmlns:p14="http://schemas.microsoft.com/office/powerpoint/2010/main" val="75208824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614846B-2B03-4553-B824-B23B9EA97A2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6E1DFC-4E4B-4574-BDDC-A27667371C1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43DFE32-0B11-41A9-A4EA-DE55BFB66EA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Two models under one protocol in Python (2/3)</a:t>
            </a:r>
          </a:p>
        </p:txBody>
      </p:sp>
      <p:sp>
        <p:nvSpPr>
          <p:cNvPr id="4" name="">
            <a:extLst xmlns:a="http://schemas.openxmlformats.org/drawingml/2006/main">
              <a:ext uri="{FF2B5EF4-FFF2-40B4-BE49-F238E27FC236}">
                <a16:creationId xmlns:a16="http://schemas.microsoft.com/office/drawing/2014/main" id="{0DD8BA78-3D6B-452B-BC31-6E726A5B5E2C}"/>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07E3888-22B7-454C-AA6C-F90F1C2B411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with_interaction(rows):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result =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a, b in rows: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result.append([a, b, a * b])</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result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base = LinearRegression()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base.fit(train, y)</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extended = LinearRegression()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extended.fit(with_interaction(train), y)</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base_predictions = base.predict(validation)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base_error = mean_absolute_error(truth, base_predictions)</a:t>
            </a:r>
          </a:p>
        </p:txBody>
      </p:sp>
      <p:sp>
        <p:nvSpPr>
          <p:cNvPr id="6" name="">
            <a:extLst xmlns:a="http://schemas.openxmlformats.org/drawingml/2006/main">
              <a:ext uri="{FF2B5EF4-FFF2-40B4-BE49-F238E27FC236}">
                <a16:creationId xmlns:a16="http://schemas.microsoft.com/office/drawing/2014/main" id="{2948DB9E-1CB3-41E1-81DA-55DAA2205A0B}"/>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def names the function. Inputs go inside parentheses.</a:t>
            </a:r>
          </a:p>
        </p:txBody>
      </p:sp>
      <p:sp>
        <p:nvSpPr>
          <p:cNvPr id="7" name="">
            <a:extLst xmlns:a="http://schemas.openxmlformats.org/drawingml/2006/main">
              <a:ext uri="{FF2B5EF4-FFF2-40B4-BE49-F238E27FC236}">
                <a16:creationId xmlns:a16="http://schemas.microsoft.com/office/drawing/2014/main" id="{44A8776D-106F-4CB7-870B-0BE407CF7CB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the SAME cell; keep indentation. Run after all parts are entered.</a:t>
            </a:r>
          </a:p>
        </p:txBody>
      </p:sp>
      <p:sp>
        <p:nvSpPr>
          <p:cNvPr id="8" name="">
            <a:extLst xmlns:a="http://schemas.openxmlformats.org/drawingml/2006/main">
              <a:ext uri="{FF2B5EF4-FFF2-40B4-BE49-F238E27FC236}">
                <a16:creationId xmlns:a16="http://schemas.microsoft.com/office/drawing/2014/main" id="{EDCF1157-1848-4385-94F1-E5D3340756D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20</a:t>
            </a:r>
          </a:p>
        </p:txBody>
      </p:sp>
    </p:spTree>
    <p:extLst>
      <p:ext uri="{BB962C8B-B14F-4D97-AF65-F5344CB8AC3E}">
        <p14:creationId xmlns:p14="http://schemas.microsoft.com/office/powerpoint/2010/main" val="22192590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2DDE01-271F-43AA-8032-93407955BCB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D8E230-734A-4866-8C76-8DB7F961057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04EC4E4-4BCA-4FB8-9518-E1343694629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Two models under one protocol in Python (3/3)</a:t>
            </a:r>
          </a:p>
        </p:txBody>
      </p:sp>
      <p:sp>
        <p:nvSpPr>
          <p:cNvPr id="4" name="">
            <a:extLst xmlns:a="http://schemas.openxmlformats.org/drawingml/2006/main">
              <a:ext uri="{FF2B5EF4-FFF2-40B4-BE49-F238E27FC236}">
                <a16:creationId xmlns:a16="http://schemas.microsoft.com/office/drawing/2014/main" id="{66DF67C0-F229-476A-B6C7-4532AFB412BE}"/>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095CBD5-68D0-430C-A330-3B3FE247C2B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37" b="0">
                <a:solidFill>
                  <a:srgbClr val="F4F7FA"/>
                </a:solidFill>
                <a:latin typeface="Courier New"/>
                <a:ea typeface="Courier New"/>
                <a:cs typeface="Courier New"/>
              </a:defRPr>
            </a:pPr>
            <a:r>
              <a:rPr sz="2137" b="0">
                <a:solidFill>
                  <a:srgbClr val="F4F7FA"/>
                </a:solidFill>
                <a:latin typeface="Courier New"/>
                <a:ea typeface="Courier New"/>
                <a:cs typeface="Courier New"/>
              </a:rPr>
              <a:t>print(round(base_error, 6))</a:t>
            </a:r>
          </a:p>
          <a:p xmlns:a="http://schemas.openxmlformats.org/drawingml/2006/main">
            <a:pPr>
              <a:defRPr sz="2137" b="0">
                <a:solidFill>
                  <a:srgbClr val="F4F7FA"/>
                </a:solidFill>
                <a:latin typeface="Courier New"/>
                <a:ea typeface="Courier New"/>
                <a:cs typeface="Courier New"/>
              </a:defRPr>
            </a:pPr>
            <a:r>
              <a:rPr sz="2137" b="0">
                <a:solidFill>
                  <a:srgbClr val="F4F7FA"/>
                </a:solidFill>
                <a:latin typeface="Courier New"/>
                <a:ea typeface="Courier New"/>
                <a:cs typeface="Courier New"/>
              </a:rPr>
              <a:t>validation_features = with_interaction(validation)</a:t>
            </a:r>
          </a:p>
          <a:p xmlns:a="http://schemas.openxmlformats.org/drawingml/2006/main">
            <a:pPr>
              <a:defRPr sz="2137" b="0">
                <a:solidFill>
                  <a:srgbClr val="F4F7FA"/>
                </a:solidFill>
                <a:latin typeface="Courier New"/>
                <a:ea typeface="Courier New"/>
                <a:cs typeface="Courier New"/>
              </a:defRPr>
            </a:pPr>
            <a:r>
              <a:rPr sz="2137" b="0">
                <a:solidFill>
                  <a:srgbClr val="F4F7FA"/>
                </a:solidFill>
                <a:latin typeface="Courier New"/>
                <a:ea typeface="Courier New"/>
                <a:cs typeface="Courier New"/>
              </a:rPr>
              <a:t>extended_predictions = extended.predict(validation_features)</a:t>
            </a:r>
          </a:p>
          <a:p xmlns:a="http://schemas.openxmlformats.org/drawingml/2006/main">
            <a:pPr>
              <a:defRPr sz="2137" b="0">
                <a:solidFill>
                  <a:srgbClr val="F4F7FA"/>
                </a:solidFill>
                <a:latin typeface="Courier New"/>
                <a:ea typeface="Courier New"/>
                <a:cs typeface="Courier New"/>
              </a:defRPr>
            </a:pPr>
            <a:r>
              <a:rPr sz="2137" b="0">
                <a:solidFill>
                  <a:srgbClr val="F4F7FA"/>
                </a:solidFill>
                <a:latin typeface="Courier New"/>
                <a:ea typeface="Courier New"/>
                <a:cs typeface="Courier New"/>
              </a:rPr>
              <a:t>error = mean_absolute_error(truth, extended_predictions)</a:t>
            </a:r>
          </a:p>
          <a:p xmlns:a="http://schemas.openxmlformats.org/drawingml/2006/main">
            <a:pPr>
              <a:defRPr sz="2137" b="0">
                <a:solidFill>
                  <a:srgbClr val="F4F7FA"/>
                </a:solidFill>
                <a:latin typeface="Courier New"/>
                <a:ea typeface="Courier New"/>
                <a:cs typeface="Courier New"/>
              </a:defRPr>
            </a:pPr>
            <a:r>
              <a:rPr sz="2137" b="0">
                <a:solidFill>
                  <a:srgbClr val="F4F7FA"/>
                </a:solidFill>
                <a:latin typeface="Courier New"/>
                <a:ea typeface="Courier New"/>
                <a:cs typeface="Courier New"/>
              </a:rPr>
              <a:t>print(round(error, 6))</a:t>
            </a:r>
          </a:p>
        </p:txBody>
      </p:sp>
      <p:sp>
        <p:nvSpPr>
          <p:cNvPr id="6" name="">
            <a:extLst xmlns:a="http://schemas.openxmlformats.org/drawingml/2006/main">
              <a:ext uri="{FF2B5EF4-FFF2-40B4-BE49-F238E27FC236}">
                <a16:creationId xmlns:a16="http://schemas.microsoft.com/office/drawing/2014/main" id="{053A0CC3-D3CB-4E30-9A22-C1E2A4C45743}"/>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predict applies the fitted model to new inputs.</a:t>
            </a:r>
          </a:p>
        </p:txBody>
      </p:sp>
      <p:sp>
        <p:nvSpPr>
          <p:cNvPr id="7" name="">
            <a:extLst xmlns:a="http://schemas.openxmlformats.org/drawingml/2006/main">
              <a:ext uri="{FF2B5EF4-FFF2-40B4-BE49-F238E27FC236}">
                <a16:creationId xmlns:a16="http://schemas.microsoft.com/office/drawing/2014/main" id="{3BD2CF0B-FE95-4CC5-800D-84FDCE46916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the SAME cell; keep indentation. Run after all parts are entered.</a:t>
            </a:r>
          </a:p>
        </p:txBody>
      </p:sp>
      <p:sp>
        <p:nvSpPr>
          <p:cNvPr id="8" name="">
            <a:extLst xmlns:a="http://schemas.openxmlformats.org/drawingml/2006/main">
              <a:ext uri="{FF2B5EF4-FFF2-40B4-BE49-F238E27FC236}">
                <a16:creationId xmlns:a16="http://schemas.microsoft.com/office/drawing/2014/main" id="{B61D24F4-EC99-40E4-B200-40060256A5A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21</a:t>
            </a:r>
          </a:p>
        </p:txBody>
      </p:sp>
    </p:spTree>
    <p:extLst>
      <p:ext uri="{BB962C8B-B14F-4D97-AF65-F5344CB8AC3E}">
        <p14:creationId xmlns:p14="http://schemas.microsoft.com/office/powerpoint/2010/main" val="141602865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522FEB2-A327-402C-BCBC-840B17D27CA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8546FC-30A4-4A78-8408-33303BEE57D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7D72BBF-2984-4D40-AB6E-2AE1F3BC786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Scaling changes units of comparison</a:t>
            </a:r>
          </a:p>
        </p:txBody>
      </p:sp>
      <p:sp>
        <p:nvSpPr>
          <p:cNvPr id="4" name="">
            <a:extLst xmlns:a="http://schemas.openxmlformats.org/drawingml/2006/main">
              <a:ext uri="{FF2B5EF4-FFF2-40B4-BE49-F238E27FC236}">
                <a16:creationId xmlns:a16="http://schemas.microsoft.com/office/drawing/2014/main" id="{A165A95E-3E92-48AB-9696-C2ABF42597D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7ED7193-BE58-4D26-A520-34E7F6B3E71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distance calculation can be dominated by a feature with larger numerical values. Scaling puts feature values on a chosen numerical scale.</a:t>
            </a:r>
          </a:p>
        </p:txBody>
      </p:sp>
      <p:sp>
        <p:nvSpPr>
          <p:cNvPr id="6" name="">
            <a:extLst xmlns:a="http://schemas.openxmlformats.org/drawingml/2006/main">
              <a:ext uri="{FF2B5EF4-FFF2-40B4-BE49-F238E27FC236}">
                <a16:creationId xmlns:a16="http://schemas.microsoft.com/office/drawing/2014/main" id="{206313DE-C5FB-4BB2-88A9-BAD47E8744D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F738D90-5479-4103-8478-0F54BAEC5CE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One example is (value - training_min) / (training_max - training_min). With training limits 10 and 30, value 20 becomes 10 / 20 = 0.5.</a:t>
            </a:r>
          </a:p>
        </p:txBody>
      </p:sp>
      <p:sp>
        <p:nvSpPr>
          <p:cNvPr id="8" name="">
            <a:extLst xmlns:a="http://schemas.openxmlformats.org/drawingml/2006/main">
              <a:ext uri="{FF2B5EF4-FFF2-40B4-BE49-F238E27FC236}">
                <a16:creationId xmlns:a16="http://schemas.microsoft.com/office/drawing/2014/main" id="{EE6B13C6-6507-4894-B4B4-56877A0DC8C0}"/>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2F846D4-0F41-4E6F-A1B6-07B83A0DD930}"/>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same learned limits for new observations. A zero training range needs a defined handling rule. New values outside the training range may scale outside 0 to 1.</a:t>
            </a:r>
          </a:p>
        </p:txBody>
      </p:sp>
      <p:sp>
        <p:nvSpPr>
          <p:cNvPr id="10" name="">
            <a:extLst xmlns:a="http://schemas.openxmlformats.org/drawingml/2006/main">
              <a:ext uri="{FF2B5EF4-FFF2-40B4-BE49-F238E27FC236}">
                <a16:creationId xmlns:a16="http://schemas.microsoft.com/office/drawing/2014/main" id="{2909E708-57F5-4787-828E-5B327C6FC21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22</a:t>
            </a:r>
          </a:p>
        </p:txBody>
      </p:sp>
    </p:spTree>
    <p:extLst>
      <p:ext uri="{BB962C8B-B14F-4D97-AF65-F5344CB8AC3E}">
        <p14:creationId xmlns:p14="http://schemas.microsoft.com/office/powerpoint/2010/main" val="118551404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D21286C-8CB8-43E2-92B5-E2A46CF2B99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20199D-EDFD-4D8B-853D-389C203D1DF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188E3F71-BDD1-437A-AE0A-18829A25F6B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Encoding and Scaling</a:t>
            </a:r>
          </a:p>
        </p:txBody>
      </p:sp>
      <p:sp>
        <p:nvSpPr>
          <p:cNvPr id="4" name="">
            <a:extLst xmlns:a="http://schemas.openxmlformats.org/drawingml/2006/main">
              <a:ext uri="{FF2B5EF4-FFF2-40B4-BE49-F238E27FC236}">
                <a16:creationId xmlns:a16="http://schemas.microsoft.com/office/drawing/2014/main" id="{8E0DA213-5469-459D-A534-C9269DF978F9}"/>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9A38779-BC66-44F0-AAF9-6BF625FB2B34}"/>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Encoding</a:t>
            </a:r>
          </a:p>
        </p:txBody>
      </p:sp>
      <p:sp>
        <p:nvSpPr>
          <p:cNvPr id="6" name="">
            <a:extLst xmlns:a="http://schemas.openxmlformats.org/drawingml/2006/main">
              <a:ext uri="{FF2B5EF4-FFF2-40B4-BE49-F238E27FC236}">
                <a16:creationId xmlns:a16="http://schemas.microsoft.com/office/drawing/2014/main" id="{47D13855-FF36-48BA-9C0E-8902E5A98730}"/>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Representing a category numerically. One-hot uses separate indicator columns. Arbitrary integer labels can falsely suggest an order.</a:t>
            </a:r>
          </a:p>
        </p:txBody>
      </p:sp>
      <p:sp>
        <p:nvSpPr>
          <p:cNvPr id="7" name="">
            <a:extLst xmlns:a="http://schemas.openxmlformats.org/drawingml/2006/main">
              <a:ext uri="{FF2B5EF4-FFF2-40B4-BE49-F238E27FC236}">
                <a16:creationId xmlns:a16="http://schemas.microsoft.com/office/drawing/2014/main" id="{72D10236-D9EF-45D0-9CD6-A28F840E513A}"/>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DE384F7-FB31-4EBC-A7BF-A4582033BF38}"/>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Scaling</a:t>
            </a:r>
          </a:p>
        </p:txBody>
      </p:sp>
      <p:sp>
        <p:nvSpPr>
          <p:cNvPr id="9" name="">
            <a:extLst xmlns:a="http://schemas.openxmlformats.org/drawingml/2006/main">
              <a:ext uri="{FF2B5EF4-FFF2-40B4-BE49-F238E27FC236}">
                <a16:creationId xmlns:a16="http://schemas.microsoft.com/office/drawing/2014/main" id="{5C4202E7-AE9A-46AA-939B-84B6F0973785}"/>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Changing the numerical scale of features. Fit learned scaling on training data only. It matters for distance-based models but is not required by ordinary decision trees.</a:t>
            </a:r>
          </a:p>
        </p:txBody>
      </p:sp>
      <p:sp>
        <p:nvSpPr>
          <p:cNvPr id="10" name="">
            <a:extLst xmlns:a="http://schemas.openxmlformats.org/drawingml/2006/main">
              <a:ext uri="{FF2B5EF4-FFF2-40B4-BE49-F238E27FC236}">
                <a16:creationId xmlns:a16="http://schemas.microsoft.com/office/drawing/2014/main" id="{B99925A6-C0DA-41DD-AF85-F1D40826C17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23</a:t>
            </a:r>
          </a:p>
        </p:txBody>
      </p:sp>
    </p:spTree>
    <p:extLst>
      <p:ext uri="{BB962C8B-B14F-4D97-AF65-F5344CB8AC3E}">
        <p14:creationId xmlns:p14="http://schemas.microsoft.com/office/powerpoint/2010/main" val="159039298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9532145-4286-4702-B176-3A149E5AEEE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C67C29C-8A2D-4CBA-97F7-D9DAAC60C2E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3ECDE0A-414D-4B5A-8375-69425D581D2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example and answer</a:t>
            </a:r>
          </a:p>
        </p:txBody>
      </p:sp>
      <p:sp>
        <p:nvSpPr>
          <p:cNvPr id="4" name="">
            <a:extLst xmlns:a="http://schemas.openxmlformats.org/drawingml/2006/main">
              <a:ext uri="{FF2B5EF4-FFF2-40B4-BE49-F238E27FC236}">
                <a16:creationId xmlns:a16="http://schemas.microsoft.com/office/drawing/2014/main" id="{7AC28EC7-B8BC-4132-B842-A53DA8EAFF7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913CD23-2912-4294-BF7D-2772F069B00D}"/>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8A7389A-662C-4B5F-BDFF-915B3ADD540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Example: If the extended error becomes 3.4, calculate improvement and decide whether this evidence supports retaining the feature.</a:t>
            </a:r>
          </a:p>
        </p:txBody>
      </p:sp>
      <p:sp>
        <p:nvSpPr>
          <p:cNvPr id="7" name="">
            <a:extLst xmlns:a="http://schemas.openxmlformats.org/drawingml/2006/main">
              <a:ext uri="{FF2B5EF4-FFF2-40B4-BE49-F238E27FC236}">
                <a16:creationId xmlns:a16="http://schemas.microsoft.com/office/drawing/2014/main" id="{A7A92B8A-0B5A-4443-9E52-6CB4FD6E7329}"/>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Answer: Improvement is -0.4. This validation comparison does not support retaining it. One split is limited evidence; the final test remains untouched.</a:t>
            </a:r>
          </a:p>
        </p:txBody>
      </p:sp>
      <p:sp>
        <p:nvSpPr>
          <p:cNvPr id="8" name="">
            <a:extLst xmlns:a="http://schemas.openxmlformats.org/drawingml/2006/main">
              <a:ext uri="{FF2B5EF4-FFF2-40B4-BE49-F238E27FC236}">
                <a16:creationId xmlns:a16="http://schemas.microsoft.com/office/drawing/2014/main" id="{CD9E1359-D968-43CA-B58A-6170E029D9B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24</a:t>
            </a:r>
          </a:p>
        </p:txBody>
      </p:sp>
    </p:spTree>
    <p:extLst>
      <p:ext uri="{BB962C8B-B14F-4D97-AF65-F5344CB8AC3E}">
        <p14:creationId xmlns:p14="http://schemas.microsoft.com/office/powerpoint/2010/main" val="149665958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AC101F5-3C47-4E22-AD99-63B99C52472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166188-0F38-4320-AB67-01CFD173EFC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18D9D3F-B57B-4139-AB59-EB5D6B74323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xmlns:a="http://schemas.openxmlformats.org/drawingml/2006/main">
              <a:ext uri="{FF2B5EF4-FFF2-40B4-BE49-F238E27FC236}">
                <a16:creationId xmlns:a16="http://schemas.microsoft.com/office/drawing/2014/main" id="{263635CF-9BA9-42CA-9CFC-1F24C06D5CB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577EA11-2E38-49DA-AD0B-D62F1AF5A2A2}"/>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W11 names four output features and a two-model ablation.</a:t>
            </a:r>
          </a:p>
        </p:txBody>
      </p:sp>
      <p:sp>
        <p:nvSpPr>
          <p:cNvPr id="6" name="">
            <a:extLst xmlns:a="http://schemas.openxmlformats.org/drawingml/2006/main">
              <a:ext uri="{FF2B5EF4-FFF2-40B4-BE49-F238E27FC236}">
                <a16:creationId xmlns:a16="http://schemas.microsoft.com/office/drawing/2014/main" id="{22014D24-BA55-4FB1-A1B4-6FED7B748EA9}"/>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B8641C9-97D2-409C-9EAB-BF3E4EBA2DFF}"/>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output order, preservation of input rows, full precision and training-only fitting.</a:t>
            </a:r>
          </a:p>
        </p:txBody>
      </p:sp>
      <p:sp>
        <p:nvSpPr>
          <p:cNvPr id="8" name="">
            <a:extLst xmlns:a="http://schemas.openxmlformats.org/drawingml/2006/main">
              <a:ext uri="{FF2B5EF4-FFF2-40B4-BE49-F238E27FC236}">
                <a16:creationId xmlns:a16="http://schemas.microsoft.com/office/drawing/2014/main" id="{DE4912F2-C504-44E3-9DF5-97EABF220CE9}"/>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7213639-4670-4D15-9D64-8918DB107490}"/>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supplied written scenario for the interpretation requested there.</a:t>
            </a:r>
          </a:p>
        </p:txBody>
      </p:sp>
      <p:sp>
        <p:nvSpPr>
          <p:cNvPr id="10" name="">
            <a:extLst xmlns:a="http://schemas.openxmlformats.org/drawingml/2006/main">
              <a:ext uri="{FF2B5EF4-FFF2-40B4-BE49-F238E27FC236}">
                <a16:creationId xmlns:a16="http://schemas.microsoft.com/office/drawing/2014/main" id="{C0664EEC-BEEF-42B5-AC61-B58A1B733783}"/>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4E1BEEC1-CC5E-481A-BA70-115DA1F575FB}"/>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 not substitute this practice example’s result.</a:t>
            </a:r>
          </a:p>
        </p:txBody>
      </p:sp>
      <p:sp>
        <p:nvSpPr>
          <p:cNvPr id="12" name="">
            <a:extLst xmlns:a="http://schemas.openxmlformats.org/drawingml/2006/main">
              <a:ext uri="{FF2B5EF4-FFF2-40B4-BE49-F238E27FC236}">
                <a16:creationId xmlns:a16="http://schemas.microsoft.com/office/drawing/2014/main" id="{316F67A1-A908-463D-8EF9-384596D54AD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25</a:t>
            </a:r>
          </a:p>
        </p:txBody>
      </p:sp>
    </p:spTree>
    <p:extLst>
      <p:ext uri="{BB962C8B-B14F-4D97-AF65-F5344CB8AC3E}">
        <p14:creationId xmlns:p14="http://schemas.microsoft.com/office/powerpoint/2010/main" val="192960253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B35E7E9-7AFD-48E0-BB69-E01EAE513A8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31B611-6A11-46EA-99D1-547B7AE346E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6790FAB-8F9C-450D-BEC9-33C3B17F73E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Features without misleading evaluation</a:t>
            </a:r>
          </a:p>
        </p:txBody>
      </p:sp>
      <p:sp>
        <p:nvSpPr>
          <p:cNvPr id="4" name="">
            <a:extLst xmlns:a="http://schemas.openxmlformats.org/drawingml/2006/main">
              <a:ext uri="{FF2B5EF4-FFF2-40B4-BE49-F238E27FC236}">
                <a16:creationId xmlns:a16="http://schemas.microsoft.com/office/drawing/2014/main" id="{E1BA54D0-B31E-41B6-A9E1-69138E594B3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695295D-D28B-432F-9207-39F23A2E7EA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Rescaling an input usually does not change the partitions available to an ordinary decision tree.</a:t>
            </a:r>
          </a:p>
        </p:txBody>
      </p:sp>
      <p:sp>
        <p:nvSpPr>
          <p:cNvPr id="6" name="">
            <a:extLst xmlns:a="http://schemas.openxmlformats.org/drawingml/2006/main">
              <a:ext uri="{FF2B5EF4-FFF2-40B4-BE49-F238E27FC236}">
                <a16:creationId xmlns:a16="http://schemas.microsoft.com/office/drawing/2014/main" id="{4EE1A3E6-14AE-4271-9258-11BE16AD679E}"/>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F1BD017-C00A-468A-AF01-F44BDECE25C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identifier or a future-known field can create an apparent improvement without useful predictive information.</a:t>
            </a:r>
          </a:p>
        </p:txBody>
      </p:sp>
      <p:sp>
        <p:nvSpPr>
          <p:cNvPr id="8" name="">
            <a:extLst xmlns:a="http://schemas.openxmlformats.org/drawingml/2006/main">
              <a:ext uri="{FF2B5EF4-FFF2-40B4-BE49-F238E27FC236}">
                <a16:creationId xmlns:a16="http://schemas.microsoft.com/office/drawing/2014/main" id="{37F79AC3-EAAC-4B6C-9677-2313AEF1BB5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E0A7D58-51B6-43EB-94BA-A632C562E591}"/>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Dividing by zero can produce infinity or an error; decide what the denominator means before replacing it.</a:t>
            </a:r>
          </a:p>
        </p:txBody>
      </p:sp>
      <p:sp>
        <p:nvSpPr>
          <p:cNvPr id="10" name="">
            <a:extLst xmlns:a="http://schemas.openxmlformats.org/drawingml/2006/main">
              <a:ext uri="{FF2B5EF4-FFF2-40B4-BE49-F238E27FC236}">
                <a16:creationId xmlns:a16="http://schemas.microsoft.com/office/drawing/2014/main" id="{FC686D76-D98D-4DFF-B52F-5779BBDBAAB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26</a:t>
            </a:r>
          </a:p>
        </p:txBody>
      </p:sp>
    </p:spTree>
    <p:extLst>
      <p:ext uri="{BB962C8B-B14F-4D97-AF65-F5344CB8AC3E}">
        <p14:creationId xmlns:p14="http://schemas.microsoft.com/office/powerpoint/2010/main" val="149187632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27F6B5-4F24-4797-9F3C-29785E2AEE6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A55376-10BF-40AA-9FD6-B93F7FB5FDE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1301B17-5FED-4B38-87DB-D915E3C6D2E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Features without misleading evaluation continued</a:t>
            </a:r>
          </a:p>
        </p:txBody>
      </p:sp>
      <p:sp>
        <p:nvSpPr>
          <p:cNvPr id="4" name="">
            <a:extLst xmlns:a="http://schemas.openxmlformats.org/drawingml/2006/main">
              <a:ext uri="{FF2B5EF4-FFF2-40B4-BE49-F238E27FC236}">
                <a16:creationId xmlns:a16="http://schemas.microsoft.com/office/drawing/2014/main" id="{9ED9E997-FE20-43B2-831A-016D16642FBD}"/>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0FC25B8-77B4-4551-9FB1-741EE8A223E4}"/>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Read ablation differences using the same error definition, and explain features using domain knowledge.</a:t>
            </a:r>
          </a:p>
        </p:txBody>
      </p:sp>
      <p:sp>
        <p:nvSpPr>
          <p:cNvPr id="6" name="">
            <a:extLst xmlns:a="http://schemas.openxmlformats.org/drawingml/2006/main">
              <a:ext uri="{FF2B5EF4-FFF2-40B4-BE49-F238E27FC236}">
                <a16:creationId xmlns:a16="http://schemas.microsoft.com/office/drawing/2014/main" id="{BBAE4280-37BD-4F54-94B8-789487ADB95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27</a:t>
            </a:r>
          </a:p>
        </p:txBody>
      </p:sp>
    </p:spTree>
    <p:extLst>
      <p:ext uri="{BB962C8B-B14F-4D97-AF65-F5344CB8AC3E}">
        <p14:creationId xmlns:p14="http://schemas.microsoft.com/office/powerpoint/2010/main" val="82077342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28F2B53-A6B2-44DA-9543-25EF19B80A5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21F5C6-F1B9-4252-8045-8A429A30E74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2F0EAF4-F352-4B11-BBDA-96EAF5D7EE6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D7257BE0-3B02-4BCC-BD57-0F2B47EDF90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85A6366-6C97-4B04-B128-95C6FFBDF5F1}"/>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Investigate building cooling load.</a:t>
            </a:r>
          </a:p>
        </p:txBody>
      </p:sp>
      <p:sp>
        <p:nvSpPr>
          <p:cNvPr id="6" name="">
            <a:extLst xmlns:a="http://schemas.openxmlformats.org/drawingml/2006/main">
              <a:ext uri="{FF2B5EF4-FFF2-40B4-BE49-F238E27FC236}">
                <a16:creationId xmlns:a16="http://schemas.microsoft.com/office/drawing/2014/main" id="{28FAB37C-C8D9-4C3D-83B6-058A3DB14B95}"/>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DDF27EF-C6B9-499F-883B-54DA3405AAEE}"/>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Target units: kW.</a:t>
            </a:r>
          </a:p>
        </p:txBody>
      </p:sp>
      <p:sp>
        <p:nvSpPr>
          <p:cNvPr id="8" name="">
            <a:extLst xmlns:a="http://schemas.openxmlformats.org/drawingml/2006/main">
              <a:ext uri="{FF2B5EF4-FFF2-40B4-BE49-F238E27FC236}">
                <a16:creationId xmlns:a16="http://schemas.microsoft.com/office/drawing/2014/main" id="{397DB4C3-0B06-4D61-B98F-4DB24D4A56C2}"/>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98473B3-5E19-40A8-8E28-BAD7865AABF4}"/>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synthetic teaching records, not measurements suitable for deployment.</a:t>
            </a:r>
          </a:p>
        </p:txBody>
      </p:sp>
      <p:sp>
        <p:nvSpPr>
          <p:cNvPr id="10" name="">
            <a:extLst xmlns:a="http://schemas.openxmlformats.org/drawingml/2006/main">
              <a:ext uri="{FF2B5EF4-FFF2-40B4-BE49-F238E27FC236}">
                <a16:creationId xmlns:a16="http://schemas.microsoft.com/office/drawing/2014/main" id="{D1EB0376-1B95-4BB1-9D45-0FA20E72AE50}"/>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9C4E406-DA27-44D5-95CD-261B64BD8259}"/>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record is one operating observation; equipment_id repeats across observations.</a:t>
            </a:r>
          </a:p>
        </p:txBody>
      </p:sp>
      <p:sp>
        <p:nvSpPr>
          <p:cNvPr id="12" name="">
            <a:extLst xmlns:a="http://schemas.openxmlformats.org/drawingml/2006/main">
              <a:ext uri="{FF2B5EF4-FFF2-40B4-BE49-F238E27FC236}">
                <a16:creationId xmlns:a16="http://schemas.microsoft.com/office/drawing/2014/main" id="{623037C7-7A76-4C49-8D8F-9317E02AFE5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28</a:t>
            </a:r>
          </a:p>
        </p:txBody>
      </p:sp>
    </p:spTree>
    <p:extLst>
      <p:ext uri="{BB962C8B-B14F-4D97-AF65-F5344CB8AC3E}">
        <p14:creationId xmlns:p14="http://schemas.microsoft.com/office/powerpoint/2010/main" val="208229482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F373066-6149-4B59-AB09-84B5D123D5B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539FC9-2D2F-420A-B892-7FBA38DA23C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BE46DECC-CF4A-4DDB-B16B-E24EFE6BF0F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make_features(feature_records)</a:t>
            </a:r>
          </a:p>
        </p:txBody>
      </p:sp>
      <p:sp>
        <p:nvSpPr>
          <p:cNvPr id="4" name="">
            <a:extLst xmlns:a="http://schemas.openxmlformats.org/drawingml/2006/main">
              <a:ext uri="{FF2B5EF4-FFF2-40B4-BE49-F238E27FC236}">
                <a16:creationId xmlns:a16="http://schemas.microsoft.com/office/drawing/2014/main" id="{22AD078C-B7A6-478A-91DE-297412DF1DB4}"/>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E6A9108-6C31-476A-BC2F-4ADF2FFF378C}"/>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one feature row per input, in order: [load_pct, ambient_c, load_pct/100, load_pct*ambient_c].</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Use inputs available at prediction time only.</a:t>
            </a:r>
          </a:p>
        </p:txBody>
      </p:sp>
      <p:sp>
        <p:nvSpPr>
          <p:cNvPr id="6" name="">
            <a:extLst xmlns:a="http://schemas.openxmlformats.org/drawingml/2006/main">
              <a:ext uri="{FF2B5EF4-FFF2-40B4-BE49-F238E27FC236}">
                <a16:creationId xmlns:a16="http://schemas.microsoft.com/office/drawing/2014/main" id="{7328EFED-55DD-41B9-AB1F-1AEED2AF6CEE}"/>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F36F24C-090F-443F-8EAB-C5BC6E7E4588}"/>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162C93AF-D790-4EFE-8172-8BFB9302B88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29</a:t>
            </a:r>
          </a:p>
        </p:txBody>
      </p:sp>
    </p:spTree>
    <p:extLst>
      <p:ext uri="{BB962C8B-B14F-4D97-AF65-F5344CB8AC3E}">
        <p14:creationId xmlns:p14="http://schemas.microsoft.com/office/powerpoint/2010/main" val="35936453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11DB45D-346E-4763-ABEE-33F4ECB612E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C3AF01-449B-43B8-A6B8-3BF1D44ABE0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39F2E28A-0D1E-4B68-9108-DA15E4EABA7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ablation_metrics(training_records, validation_records)</a:t>
            </a:r>
          </a:p>
        </p:txBody>
      </p:sp>
      <p:sp>
        <p:nvSpPr>
          <p:cNvPr id="4" name="">
            <a:extLst xmlns:a="http://schemas.openxmlformats.org/drawingml/2006/main">
              <a:ext uri="{FF2B5EF4-FFF2-40B4-BE49-F238E27FC236}">
                <a16:creationId xmlns:a16="http://schemas.microsoft.com/office/drawing/2014/main" id="{ABDF29C6-91A2-43B9-B594-4F6FC04954AA}"/>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837C925-AD6C-4E7F-8ABA-5387A060DE5F}"/>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Fit two sklearn LinearRegression models on the same training records: base features [load_pct, ambient_c] and extended features adding load_pct*ambient_c.</a:t>
            </a:r>
          </a:p>
          <a:p xmlns:a="http://schemas.openxmlformats.org/drawingml/2006/main">
            <a: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Evaluate both on the same validation records.</a:t>
            </a:r>
          </a:p>
          <a:p xmlns:a="http://schemas.openxmlformats.org/drawingml/2006/main">
            <a: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Return base_mae, extended_mae and improvement=base_mae-extended_mae, without rounding.</a:t>
            </a:r>
          </a:p>
          <a:p xmlns:a="http://schemas.openxmlformats.org/drawingml/2006/main">
            <a: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Inputs are complete; never fit on validation targets.</a:t>
            </a:r>
          </a:p>
        </p:txBody>
      </p:sp>
      <p:sp>
        <p:nvSpPr>
          <p:cNvPr id="6" name="">
            <a:extLst xmlns:a="http://schemas.openxmlformats.org/drawingml/2006/main">
              <a:ext uri="{FF2B5EF4-FFF2-40B4-BE49-F238E27FC236}">
                <a16:creationId xmlns:a16="http://schemas.microsoft.com/office/drawing/2014/main" id="{3C439C34-4212-4CC1-9089-40C9BB3789CA}"/>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11760EE-F898-4489-A890-9A9AEFED5A04}"/>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7CDACE57-F741-4887-837C-FCD6FDFA28D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30</a:t>
            </a:r>
          </a:p>
        </p:txBody>
      </p:sp>
    </p:spTree>
    <p:extLst>
      <p:ext uri="{BB962C8B-B14F-4D97-AF65-F5344CB8AC3E}">
        <p14:creationId xmlns:p14="http://schemas.microsoft.com/office/powerpoint/2010/main" val="87385413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6B50B3F-22FD-493A-A464-B980E375D01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C4FA49-37C8-4F73-839C-EE598D450B6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1BDE78E-0F23-4B43-A89A-2292A7C05D6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38E91594-D461-443C-BD4A-996DE811495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10D4BE4-FA9C-42E9-B249-60A9F3B28337}"/>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557B8429-BBCF-452E-870C-111A554CF454}"/>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256D551-2714-4938-A25E-7BC1DF4E9F8F}"/>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581A8877-4A05-48A1-A5EE-2DFA1F6BADE6}"/>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BDD57ED-0DA3-4F00-8B68-68E7078897FC}"/>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89EFD291-F0E9-4C16-87B8-F7A27F40D7B6}"/>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311853CF-8BFB-4CCD-AD8C-C87584A9EFC2}"/>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325B7435-003A-40C3-AF86-C4BFEE75D92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31</a:t>
            </a:r>
          </a:p>
        </p:txBody>
      </p:sp>
    </p:spTree>
    <p:extLst>
      <p:ext uri="{BB962C8B-B14F-4D97-AF65-F5344CB8AC3E}">
        <p14:creationId xmlns:p14="http://schemas.microsoft.com/office/powerpoint/2010/main" val="178624296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4598C5C-1B4E-4EC8-8589-077E08728A4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9FF712-2A2C-4839-8108-98EE95CACD8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F7C82264-12A2-4CAD-9DDE-E7A60E8A0B6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Features and ablation submission</a:t>
            </a:r>
          </a:p>
        </p:txBody>
      </p:sp>
      <p:sp>
        <p:nvSpPr>
          <p:cNvPr id="4" name="">
            <a:extLst xmlns:a="http://schemas.openxmlformats.org/drawingml/2006/main">
              <a:ext uri="{FF2B5EF4-FFF2-40B4-BE49-F238E27FC236}">
                <a16:creationId xmlns:a16="http://schemas.microsoft.com/office/drawing/2014/main" id="{60C5CCCD-6E0E-4A84-8F65-8ABA79E066F8}"/>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ABAEA60-5F47-4D6E-8BB2-C1B154D7FFF7}"/>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17 Nov 2026, 11:00 Kampala</a:t>
            </a:r>
          </a:p>
        </p:txBody>
      </p:sp>
      <p:sp>
        <p:nvSpPr>
          <p:cNvPr id="6" name="">
            <a:extLst xmlns:a="http://schemas.openxmlformats.org/drawingml/2006/main">
              <a:ext uri="{FF2B5EF4-FFF2-40B4-BE49-F238E27FC236}">
                <a16:creationId xmlns:a16="http://schemas.microsoft.com/office/drawing/2014/main" id="{AB792D30-A8DB-4BA9-A8D4-91560F4694F1}"/>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1021DF1-7CC1-4433-B41B-C15D91FB6D18}"/>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24 Nov 2026, 11:00 Kampala</a:t>
            </a:r>
          </a:p>
        </p:txBody>
      </p:sp>
      <p:sp>
        <p:nvSpPr>
          <p:cNvPr id="8" name="">
            <a:extLst xmlns:a="http://schemas.openxmlformats.org/drawingml/2006/main">
              <a:ext uri="{FF2B5EF4-FFF2-40B4-BE49-F238E27FC236}">
                <a16:creationId xmlns:a16="http://schemas.microsoft.com/office/drawing/2014/main" id="{87838DB5-349E-42AC-83EF-FFEE53924522}"/>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E73FBF1-6E3B-4275-8DAA-7D1AAB67FE66}"/>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40C3DF25-A350-4569-A9EE-E182EC1C33E8}"/>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EC71467E-6651-48D5-A658-0B4DB381C58B}"/>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8E85DC72-EBAE-42E6-B88B-FB474E37008F}"/>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2384779-D837-4893-BC1D-2744C31F2943}"/>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9c39d5436efb4b3b"/>
              </a:rPr>
              <a:t>Open W11 assignment form</a:t>
            </a:r>
          </a:p>
        </p:txBody>
      </p:sp>
      <p:sp>
        <p:nvSpPr>
          <p:cNvPr id="14" name="">
            <a:extLst xmlns:a="http://schemas.openxmlformats.org/drawingml/2006/main">
              <a:ext uri="{FF2B5EF4-FFF2-40B4-BE49-F238E27FC236}">
                <a16:creationId xmlns:a16="http://schemas.microsoft.com/office/drawing/2014/main" id="{666F9900-0A1F-42EB-88D0-2AFF94E397C2}"/>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https://docs.google.com/forms/d/e/1FAIpQLSfSqUcR9TgY7f1c7HXO9KGM3C2yXm1r7V2rQl2WEubwZir8iw/viewform</a:t>
            </a:r>
          </a:p>
        </p:txBody>
      </p:sp>
      <p:sp>
        <p:nvSpPr>
          <p:cNvPr id="15" name="">
            <a:extLst xmlns:a="http://schemas.openxmlformats.org/drawingml/2006/main">
              <a:ext uri="{FF2B5EF4-FFF2-40B4-BE49-F238E27FC236}">
                <a16:creationId xmlns:a16="http://schemas.microsoft.com/office/drawing/2014/main" id="{BFEFC45C-27BE-4CC7-8804-6AD755D17A9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32</a:t>
            </a:r>
          </a:p>
        </p:txBody>
      </p:sp>
    </p:spTree>
    <p:extLst>
      <p:ext uri="{BB962C8B-B14F-4D97-AF65-F5344CB8AC3E}">
        <p14:creationId xmlns:p14="http://schemas.microsoft.com/office/powerpoint/2010/main" val="39269544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DE1168A-88C1-46CA-93A1-6FA58A29EE6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945352-1CAB-42F0-B8BC-CE9E69883C2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F855322-9BFA-460F-93B6-CD2F378D4FE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Project preparation</a:t>
            </a:r>
          </a:p>
        </p:txBody>
      </p:sp>
      <p:sp>
        <p:nvSpPr>
          <p:cNvPr id="4" name="">
            <a:extLst xmlns:a="http://schemas.openxmlformats.org/drawingml/2006/main">
              <a:ext uri="{FF2B5EF4-FFF2-40B4-BE49-F238E27FC236}">
                <a16:creationId xmlns:a16="http://schemas.microsoft.com/office/drawing/2014/main" id="{1EA698E2-805B-449B-B320-9DDF2AAD93F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799C377-CAC3-4C73-B526-E3DCA1BA2206}"/>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machine learning project brief.</a:t>
            </a:r>
          </a:p>
        </p:txBody>
      </p:sp>
      <p:sp>
        <p:nvSpPr>
          <p:cNvPr id="6" name="">
            <a:extLst xmlns:a="http://schemas.openxmlformats.org/drawingml/2006/main">
              <a:ext uri="{FF2B5EF4-FFF2-40B4-BE49-F238E27FC236}">
                <a16:creationId xmlns:a16="http://schemas.microsoft.com/office/drawing/2014/main" id="{75B9CEE3-BC5F-4900-BC8D-AEDF34D7E2AB}"/>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C455D00-9F39-4FAE-A18C-A35F4F46744D}"/>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the evidence gradually in your project notebook.</a:t>
            </a:r>
          </a:p>
        </p:txBody>
      </p:sp>
      <p:sp>
        <p:nvSpPr>
          <p:cNvPr id="8" name="">
            <a:extLst xmlns:a="http://schemas.openxmlformats.org/drawingml/2006/main">
              <a:ext uri="{FF2B5EF4-FFF2-40B4-BE49-F238E27FC236}">
                <a16:creationId xmlns:a16="http://schemas.microsoft.com/office/drawing/2014/main" id="{19B71C67-B7B4-409D-A6F2-110D4A37E4E5}"/>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9B1012C-8E1D-4BE1-9B71-D79638EA91EC}"/>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 labelled charts, run instructions and individual contributions.</a:t>
            </a:r>
          </a:p>
        </p:txBody>
      </p:sp>
      <p:sp>
        <p:nvSpPr>
          <p:cNvPr id="10" name="">
            <a:extLst xmlns:a="http://schemas.openxmlformats.org/drawingml/2006/main">
              <a:ext uri="{FF2B5EF4-FFF2-40B4-BE49-F238E27FC236}">
                <a16:creationId xmlns:a16="http://schemas.microsoft.com/office/drawing/2014/main" id="{5EB658E1-4B7E-4D2C-AA4A-8F3DD3CD45B3}"/>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89DAA914-6199-4C54-B8FE-33616B0ABD58}"/>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Published deadline: 15 Dec 2026, 11:00 Kampala</a:t>
            </a:r>
          </a:p>
        </p:txBody>
      </p:sp>
      <p:sp>
        <p:nvSpPr>
          <p:cNvPr id="12" name="">
            <a:extLst xmlns:a="http://schemas.openxmlformats.org/drawingml/2006/main">
              <a:ext uri="{FF2B5EF4-FFF2-40B4-BE49-F238E27FC236}">
                <a16:creationId xmlns:a16="http://schemas.microsoft.com/office/drawing/2014/main" id="{3FEA78DD-2B75-42F8-9567-E340B43E375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33</a:t>
            </a:r>
          </a:p>
        </p:txBody>
      </p:sp>
    </p:spTree>
    <p:extLst>
      <p:ext uri="{BB962C8B-B14F-4D97-AF65-F5344CB8AC3E}">
        <p14:creationId xmlns:p14="http://schemas.microsoft.com/office/powerpoint/2010/main" val="123702973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AD356B1-BB03-4D2F-B0C7-C81A479DF2D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3927CB-30AB-463C-8603-A620D42A5D1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01975BC1-7D0B-423B-84F2-06B0D38BB05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11 quiz</a:t>
            </a:r>
          </a:p>
        </p:txBody>
      </p:sp>
      <p:sp>
        <p:nvSpPr>
          <p:cNvPr id="4" name="">
            <a:extLst xmlns:a="http://schemas.openxmlformats.org/drawingml/2006/main">
              <a:ext uri="{FF2B5EF4-FFF2-40B4-BE49-F238E27FC236}">
                <a16:creationId xmlns:a16="http://schemas.microsoft.com/office/drawing/2014/main" id="{33B9AA4D-979F-43A1-B375-C37B0273A9B2}"/>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7F2C983-FBC0-4696-9D92-5FD07E876A83}"/>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C298BDEF-0EBA-4DE9-9EF2-E8AEDD3BA15B}"/>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D27A72D-5318-4422-8203-C32DE19E6AB2}"/>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346794CD-74AC-4D64-AC5A-2B5ABF43F2B1}"/>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53FAEA9-7045-4960-877C-B31FA1B493D3}"/>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48DCF5A5-972E-4112-BF66-744BA6B87AB5}"/>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DD71A82A-96C4-4CE1-A046-3A87C88B0486}"/>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 will confirm the exact closing time.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6e89e552448c420e"/>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1AFE2F1-634C-4E2B-A382-7B4DD3FC5E41}"/>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A009E851-DB23-433D-9404-13976752E96E}"/>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7C9EF8F-606E-4CAE-9B61-38C707E6CD1B}"/>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efeb714cd8b944c6"/>
              </a:rPr>
              <a:t>Open this week’s quiz</a:t>
            </a:r>
          </a:p>
        </p:txBody>
      </p:sp>
      <p:sp>
        <p:nvSpPr>
          <p:cNvPr id="16" name="">
            <a:extLst xmlns:a="http://schemas.openxmlformats.org/drawingml/2006/main">
              <a:ext uri="{FF2B5EF4-FFF2-40B4-BE49-F238E27FC236}">
                <a16:creationId xmlns:a16="http://schemas.microsoft.com/office/drawing/2014/main" id="{6850AC9D-F12B-45FE-AC39-5FF7675374EF}"/>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https://forms.gle/FTSCoDUMmcwSYPc78</a:t>
            </a:r>
          </a:p>
        </p:txBody>
      </p:sp>
      <p:sp>
        <p:nvSpPr>
          <p:cNvPr id="17" name="">
            <a:extLst xmlns:a="http://schemas.openxmlformats.org/drawingml/2006/main">
              <a:ext uri="{FF2B5EF4-FFF2-40B4-BE49-F238E27FC236}">
                <a16:creationId xmlns:a16="http://schemas.microsoft.com/office/drawing/2014/main" id="{52A9FF06-D875-4DCA-9FB9-2EDB4247380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11   34</a:t>
            </a:r>
          </a:p>
        </p:txBody>
      </p:sp>
    </p:spTree>
    <p:extLst>
      <p:ext uri="{BB962C8B-B14F-4D97-AF65-F5344CB8AC3E}">
        <p14:creationId xmlns:p14="http://schemas.microsoft.com/office/powerpoint/2010/main" val="205862565"/>
      </p:ext>
    </p:extLst>
  </p:cSld>
</p:sld>
</file>

<file path=ppt/slides/slide35.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5C15F0-2E5F-44EA-A1BD-1DD958214E2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0CDDCAFA-F066-4DF6-B929-A290B0EBA9B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FD2A14C1-5D10-4755-8478-A48977A4DFCE}"/>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6AC46679-CC90-49AD-9591-54ECFD3FF481}"/>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state the new feature’s meaning and calculate an improvement correctly.</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C09B5E2C-7C26-4378-9450-BAC341D9857F}"/>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8EA47B49-25B7-40CC-A23C-2136AAFC6F8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11   35</a:t>
            </a:r>
          </a:p>
        </p:txBody>
      </p:sp>
    </p:spTree>
    <p:extLst>
      <p:ext uri="{BB962C8B-B14F-4D97-AF65-F5344CB8AC3E}">
        <p14:creationId xmlns:p14="http://schemas.microsoft.com/office/powerpoint/2010/main" val="13422871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2026-09-28T21:45:25.8820000Z</dcterms:created>
  <dcterms:modified xsi:type="dcterms:W3CDTF">2026-09-28T21:45:25.8820000Z</dcterms:modified>
</coreProperties>
</file>