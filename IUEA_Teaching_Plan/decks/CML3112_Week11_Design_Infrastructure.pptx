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a5821e11e2f48f3" /><Relationship Type="http://schemas.openxmlformats.org/officeDocument/2006/relationships/extended-properties" Target="/docProps/app.xml" Id="R66261f082fe04736" /><Relationship Type="http://schemas.openxmlformats.org/officeDocument/2006/relationships/officeDocument" Target="/ppt/presentation.xml" Id="Rcfbad52575224a10" /></Relationships>
</file>

<file path=ppt/presentation.xml><?xml version="1.0" encoding="utf-8"?>
<p:presentation xmlns:p="http://schemas.openxmlformats.org/presentationml/2006/main">
  <p:sldMasterIdLst>
    <p:sldMasterId xmlns:r="http://schemas.openxmlformats.org/officeDocument/2006/relationships" id="2147483648" r:id="R11750f4c5ca6474c"/>
  </p:sldMasterIdLst>
  <p:notesMasterIdLst>
    <p:notesMasterId xmlns:r="http://schemas.openxmlformats.org/officeDocument/2006/relationships" r:id="R7acd1ba4b9114ded"/>
  </p:notesMasterIdLst>
  <p:sldIdLst>
    <p:sldId xmlns:r="http://schemas.openxmlformats.org/officeDocument/2006/relationships" id="256" r:id="Reb5268e2c70645b5"/>
    <p:sldId xmlns:r="http://schemas.openxmlformats.org/officeDocument/2006/relationships" id="257" r:id="R871917ed169f498c"/>
    <p:sldId xmlns:r="http://schemas.openxmlformats.org/officeDocument/2006/relationships" id="258" r:id="R51e3c3e848064e29"/>
    <p:sldId xmlns:r="http://schemas.openxmlformats.org/officeDocument/2006/relationships" id="259" r:id="R0a4f80c4f2b548ca"/>
    <p:sldId xmlns:r="http://schemas.openxmlformats.org/officeDocument/2006/relationships" id="260" r:id="Rf6b6d507f2ad4f24"/>
    <p:sldId xmlns:r="http://schemas.openxmlformats.org/officeDocument/2006/relationships" id="261" r:id="R268c1c2c946345ca"/>
    <p:sldId xmlns:r="http://schemas.openxmlformats.org/officeDocument/2006/relationships" id="262" r:id="R4cf37f57975647ef"/>
    <p:sldId xmlns:r="http://schemas.openxmlformats.org/officeDocument/2006/relationships" id="263" r:id="Rc9e0f0df7c834080"/>
    <p:sldId xmlns:r="http://schemas.openxmlformats.org/officeDocument/2006/relationships" id="264" r:id="R970804e85eec4e6c"/>
    <p:sldId xmlns:r="http://schemas.openxmlformats.org/officeDocument/2006/relationships" id="265" r:id="R2cf8762d7c004568"/>
    <p:sldId xmlns:r="http://schemas.openxmlformats.org/officeDocument/2006/relationships" id="266" r:id="Rf264018995a248fc"/>
    <p:sldId xmlns:r="http://schemas.openxmlformats.org/officeDocument/2006/relationships" id="267" r:id="Rb9417dd37620498d"/>
    <p:sldId xmlns:r="http://schemas.openxmlformats.org/officeDocument/2006/relationships" id="268" r:id="Rf6da385f134f43a0"/>
    <p:sldId xmlns:r="http://schemas.openxmlformats.org/officeDocument/2006/relationships" id="269" r:id="R53db0254a5144aeb"/>
    <p:sldId xmlns:r="http://schemas.openxmlformats.org/officeDocument/2006/relationships" id="270" r:id="Rf407a60e865645be"/>
    <p:sldId xmlns:r="http://schemas.openxmlformats.org/officeDocument/2006/relationships" id="271" r:id="R825a62a13a754523"/>
    <p:sldId xmlns:r="http://schemas.openxmlformats.org/officeDocument/2006/relationships" id="272" r:id="R8a90270346e44dc1"/>
    <p:sldId xmlns:r="http://schemas.openxmlformats.org/officeDocument/2006/relationships" id="273" r:id="R95693aee11a4459c"/>
    <p:sldId xmlns:r="http://schemas.openxmlformats.org/officeDocument/2006/relationships" id="274" r:id="Rba5d06e0c4ff4b91"/>
    <p:sldId xmlns:r="http://schemas.openxmlformats.org/officeDocument/2006/relationships" id="275" r:id="R2e9add44696041f1"/>
    <p:sldId xmlns:r="http://schemas.openxmlformats.org/officeDocument/2006/relationships" id="276" r:id="R5b0d96717c6f43aa"/>
    <p:sldId xmlns:r="http://schemas.openxmlformats.org/officeDocument/2006/relationships" id="277" r:id="R5cabdf7e72444d95"/>
    <p:sldId xmlns:r="http://schemas.openxmlformats.org/officeDocument/2006/relationships" id="278" r:id="Rf900801897974599"/>
    <p:sldId xmlns:r="http://schemas.openxmlformats.org/officeDocument/2006/relationships" id="279" r:id="Rdfd222aa5312437e"/>
    <p:sldId xmlns:r="http://schemas.openxmlformats.org/officeDocument/2006/relationships" id="280" r:id="R4d4fcb117fb547c0"/>
    <p:sldId xmlns:r="http://schemas.openxmlformats.org/officeDocument/2006/relationships" id="281" r:id="Rd5a2481ce0614e06"/>
    <p:sldId xmlns:r="http://schemas.openxmlformats.org/officeDocument/2006/relationships" id="282" r:id="Re0331dd5ca4147e9"/>
    <p:sldId xmlns:r="http://schemas.openxmlformats.org/officeDocument/2006/relationships" id="283" r:id="Rceefe5213dee4c27"/>
    <p:sldId xmlns:r="http://schemas.openxmlformats.org/officeDocument/2006/relationships" id="284" r:id="R2037f8e1d7cf4629"/>
    <p:sldId xmlns:r="http://schemas.openxmlformats.org/officeDocument/2006/relationships" id="285" r:id="Rb20260dc098a4342"/>
    <p:sldId xmlns:r="http://schemas.openxmlformats.org/officeDocument/2006/relationships" id="286" r:id="R5e7382ded3d24320"/>
    <p:sldId xmlns:r="http://schemas.openxmlformats.org/officeDocument/2006/relationships" id="287" r:id="R2e8e0d9165b6473a"/>
    <p:sldId xmlns:r="http://schemas.openxmlformats.org/officeDocument/2006/relationships" id="288" r:id="R6f6115b426424da0"/>
    <p:sldId xmlns:r="http://schemas.openxmlformats.org/officeDocument/2006/relationships" id="289" r:id="R9b240fc856b14e65"/>
    <p:sldId xmlns:r="http://schemas.openxmlformats.org/officeDocument/2006/relationships" id="290" r:id="R21e09cfb3d9741f3"/>
    <p:sldId xmlns:r="http://schemas.openxmlformats.org/officeDocument/2006/relationships" id="291" r:id="Re725f4fb26944ca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e5f64dfc0c84164" /><Relationship Type="http://schemas.openxmlformats.org/officeDocument/2006/relationships/slideMaster" Target="/ppt/slideMasters/slideMaster1.xml" Id="R11750f4c5ca6474c" /><Relationship Type="http://schemas.openxmlformats.org/officeDocument/2006/relationships/notesMaster" Target="/ppt/notesMasters/notesMaster1.xml" Id="R7acd1ba4b9114ded" /><Relationship Type="http://schemas.openxmlformats.org/officeDocument/2006/relationships/presProps" Target="/ppt/presProps.xml" Id="R841cefd6a89648db" /><Relationship Type="http://schemas.openxmlformats.org/officeDocument/2006/relationships/tableStyles" Target="/ppt/tableStyles.xml" Id="R4ae3671b3a004039" /><Relationship Type="http://schemas.openxmlformats.org/officeDocument/2006/relationships/slide" Target="/ppt/slides/slide1.xml" Id="Reb5268e2c70645b5" /><Relationship Type="http://schemas.openxmlformats.org/officeDocument/2006/relationships/slide" Target="/ppt/slides/slide2.xml" Id="R871917ed169f498c" /><Relationship Type="http://schemas.openxmlformats.org/officeDocument/2006/relationships/slide" Target="/ppt/slides/slide3.xml" Id="R51e3c3e848064e29" /><Relationship Type="http://schemas.openxmlformats.org/officeDocument/2006/relationships/slide" Target="/ppt/slides/slide4.xml" Id="R0a4f80c4f2b548ca" /><Relationship Type="http://schemas.openxmlformats.org/officeDocument/2006/relationships/slide" Target="/ppt/slides/slide5.xml" Id="Rf6b6d507f2ad4f24" /><Relationship Type="http://schemas.openxmlformats.org/officeDocument/2006/relationships/slide" Target="/ppt/slides/slide6.xml" Id="R268c1c2c946345ca" /><Relationship Type="http://schemas.openxmlformats.org/officeDocument/2006/relationships/slide" Target="/ppt/slides/slide7.xml" Id="R4cf37f57975647ef" /><Relationship Type="http://schemas.openxmlformats.org/officeDocument/2006/relationships/slide" Target="/ppt/slides/slide8.xml" Id="Rc9e0f0df7c834080" /><Relationship Type="http://schemas.openxmlformats.org/officeDocument/2006/relationships/slide" Target="/ppt/slides/slide9.xml" Id="R970804e85eec4e6c" /><Relationship Type="http://schemas.openxmlformats.org/officeDocument/2006/relationships/slide" Target="/ppt/slides/slide10.xml" Id="R2cf8762d7c004568" /><Relationship Type="http://schemas.openxmlformats.org/officeDocument/2006/relationships/slide" Target="/ppt/slides/slide11.xml" Id="Rf264018995a248fc" /><Relationship Type="http://schemas.openxmlformats.org/officeDocument/2006/relationships/slide" Target="/ppt/slides/slide12.xml" Id="Rb9417dd37620498d" /><Relationship Type="http://schemas.openxmlformats.org/officeDocument/2006/relationships/slide" Target="/ppt/slides/slide13.xml" Id="Rf6da385f134f43a0" /><Relationship Type="http://schemas.openxmlformats.org/officeDocument/2006/relationships/slide" Target="/ppt/slides/slide14.xml" Id="R53db0254a5144aeb" /><Relationship Type="http://schemas.openxmlformats.org/officeDocument/2006/relationships/slide" Target="/ppt/slides/slide15.xml" Id="Rf407a60e865645be" /><Relationship Type="http://schemas.openxmlformats.org/officeDocument/2006/relationships/slide" Target="/ppt/slides/slide16.xml" Id="R825a62a13a754523" /><Relationship Type="http://schemas.openxmlformats.org/officeDocument/2006/relationships/slide" Target="/ppt/slides/slide17.xml" Id="R8a90270346e44dc1" /><Relationship Type="http://schemas.openxmlformats.org/officeDocument/2006/relationships/slide" Target="/ppt/slides/slide18.xml" Id="R95693aee11a4459c" /><Relationship Type="http://schemas.openxmlformats.org/officeDocument/2006/relationships/slide" Target="/ppt/slides/slide19.xml" Id="Rba5d06e0c4ff4b91" /><Relationship Type="http://schemas.openxmlformats.org/officeDocument/2006/relationships/slide" Target="/ppt/slides/slide20.xml" Id="R2e9add44696041f1" /><Relationship Type="http://schemas.openxmlformats.org/officeDocument/2006/relationships/slide" Target="/ppt/slides/slide21.xml" Id="R5b0d96717c6f43aa" /><Relationship Type="http://schemas.openxmlformats.org/officeDocument/2006/relationships/slide" Target="/ppt/slides/slide22.xml" Id="R5cabdf7e72444d95" /><Relationship Type="http://schemas.openxmlformats.org/officeDocument/2006/relationships/slide" Target="/ppt/slides/slide23.xml" Id="Rf900801897974599" /><Relationship Type="http://schemas.openxmlformats.org/officeDocument/2006/relationships/slide" Target="/ppt/slides/slide24.xml" Id="Rdfd222aa5312437e" /><Relationship Type="http://schemas.openxmlformats.org/officeDocument/2006/relationships/slide" Target="/ppt/slides/slide25.xml" Id="R4d4fcb117fb547c0" /><Relationship Type="http://schemas.openxmlformats.org/officeDocument/2006/relationships/slide" Target="/ppt/slides/slide26.xml" Id="Rd5a2481ce0614e06" /><Relationship Type="http://schemas.openxmlformats.org/officeDocument/2006/relationships/slide" Target="/ppt/slides/slide27.xml" Id="Re0331dd5ca4147e9" /><Relationship Type="http://schemas.openxmlformats.org/officeDocument/2006/relationships/slide" Target="/ppt/slides/slide28.xml" Id="Rceefe5213dee4c27" /><Relationship Type="http://schemas.openxmlformats.org/officeDocument/2006/relationships/slide" Target="/ppt/slides/slide29.xml" Id="R2037f8e1d7cf4629" /><Relationship Type="http://schemas.openxmlformats.org/officeDocument/2006/relationships/slide" Target="/ppt/slides/slide30.xml" Id="Rb20260dc098a4342" /><Relationship Type="http://schemas.openxmlformats.org/officeDocument/2006/relationships/slide" Target="/ppt/slides/slide31.xml" Id="R5e7382ded3d24320" /><Relationship Type="http://schemas.openxmlformats.org/officeDocument/2006/relationships/slide" Target="/ppt/slides/slide32.xml" Id="R2e8e0d9165b6473a" /><Relationship Type="http://schemas.openxmlformats.org/officeDocument/2006/relationships/slide" Target="/ppt/slides/slide33.xml" Id="R6f6115b426424da0" /><Relationship Type="http://schemas.openxmlformats.org/officeDocument/2006/relationships/slide" Target="/ppt/slides/slide34.xml" Id="R9b240fc856b14e65" /><Relationship Type="http://schemas.openxmlformats.org/officeDocument/2006/relationships/slide" Target="/ppt/slides/slide35.xml" Id="R21e09cfb3d9741f3" /><Relationship Type="http://schemas.openxmlformats.org/officeDocument/2006/relationships/slide" Target="/ppt/slides/slide36.xml" Id="Re725f4fb26944ca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de7cc6e3db4b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fa85e021c74cd6" /><Relationship Type="http://schemas.openxmlformats.org/officeDocument/2006/relationships/notesMaster" Target="/ppt/notesMasters/notesMaster1.xml" Id="R2fabc1321a9b43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c77066ec904611" /><Relationship Type="http://schemas.openxmlformats.org/officeDocument/2006/relationships/notesMaster" Target="/ppt/notesMasters/notesMaster1.xml" Id="Rbf90a65448d240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b42a74d565c14ed6" /><Relationship Type="http://schemas.openxmlformats.org/officeDocument/2006/relationships/notesMaster" Target="/ppt/notesMasters/notesMaster1.xml" Id="R558861ae39f741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a6261bae9d4288" /><Relationship Type="http://schemas.openxmlformats.org/officeDocument/2006/relationships/notesMaster" Target="/ppt/notesMasters/notesMaster1.xml" Id="Rdbe9d273f3a34f80" /></Relationships>
</file>

<file path=ppt/notesSlides/_rels/notesSlide5.xml.rels>&#65279;<?xml version="1.0" encoding="utf-8"?><Relationships xmlns="http://schemas.openxmlformats.org/package/2006/relationships"><Relationship Type="http://schemas.openxmlformats.org/officeDocument/2006/relationships/slide" Target="/ppt/slides/slide5.xml" Id="Radc66f6e95bb4dd3" /><Relationship Type="http://schemas.openxmlformats.org/officeDocument/2006/relationships/notesMaster" Target="/ppt/notesMasters/notesMaster1.xml" Id="Rd1528575095c42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831e20259e4fb3" /><Relationship Type="http://schemas.openxmlformats.org/officeDocument/2006/relationships/notesMaster" Target="/ppt/notesMasters/notesMaster1.xml" Id="R72e4bb2e8c0c48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7a76dee3c148fd" /><Relationship Type="http://schemas.openxmlformats.org/officeDocument/2006/relationships/notesMaster" Target="/ppt/notesMasters/notesMaster1.xml" Id="Re6754af8092f4193" /></Relationships>
</file>

<file path=ppt/notesSlides/_rels/notesSlide8.xml.rels>&#65279;<?xml version="1.0" encoding="utf-8"?><Relationships xmlns="http://schemas.openxmlformats.org/package/2006/relationships"><Relationship Type="http://schemas.openxmlformats.org/officeDocument/2006/relationships/slide" Target="/ppt/slides/slide8.xml" Id="Re69228232d0d43ab" /><Relationship Type="http://schemas.openxmlformats.org/officeDocument/2006/relationships/notesMaster" Target="/ppt/notesMasters/notesMaster1.xml" Id="R423fe5e505b7469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5b7fa2813a447f" /><Relationship Type="http://schemas.openxmlformats.org/officeDocument/2006/relationships/notesMaster" Target="/ppt/notesMasters/notesMaster1.xml" Id="Rac6bbe3763a946a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110e94200a24643" /><Relationship Type="http://schemas.openxmlformats.org/officeDocument/2006/relationships/notesMaster" Target="/ppt/notesMasters/notesMaster1.xml" Id="R53dc8abbd8b7406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efe6d6931e466b" /><Relationship Type="http://schemas.openxmlformats.org/officeDocument/2006/relationships/notesMaster" Target="/ppt/notesMasters/notesMaster1.xml" Id="Rb76e2dffbea5402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88e530c60fa46f9" /><Relationship Type="http://schemas.openxmlformats.org/officeDocument/2006/relationships/notesMaster" Target="/ppt/notesMasters/notesMaster1.xml" Id="Rd6c465ff7d4c43e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9adb92fa092415b" /><Relationship Type="http://schemas.openxmlformats.org/officeDocument/2006/relationships/notesMaster" Target="/ppt/notesMasters/notesMaster1.xml" Id="R18818239f9aa441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8f53780807d45c1" /><Relationship Type="http://schemas.openxmlformats.org/officeDocument/2006/relationships/notesMaster" Target="/ppt/notesMasters/notesMaster1.xml" Id="Rbfaf33934da748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b972906b70f4c05" /><Relationship Type="http://schemas.openxmlformats.org/officeDocument/2006/relationships/notesMaster" Target="/ppt/notesMasters/notesMaster1.xml" Id="R888a74a634cb453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9c9afd41ff84725" /><Relationship Type="http://schemas.openxmlformats.org/officeDocument/2006/relationships/notesMaster" Target="/ppt/notesMasters/notesMaster1.xml" Id="R2dcf57b476a24f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5ddadfe21b746d1" /><Relationship Type="http://schemas.openxmlformats.org/officeDocument/2006/relationships/notesMaster" Target="/ppt/notesMasters/notesMaster1.xml" Id="R5d2ea6b9ccbf4ba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00cc165e65a4a17" /><Relationship Type="http://schemas.openxmlformats.org/officeDocument/2006/relationships/notesMaster" Target="/ppt/notesMasters/notesMaster1.xml" Id="R586ca42c3b904c3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680d45723a74ded" /><Relationship Type="http://schemas.openxmlformats.org/officeDocument/2006/relationships/notesMaster" Target="/ppt/notesMasters/notesMaster1.xml" Id="Re1695038af4e495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8ddd632d87c4012" /><Relationship Type="http://schemas.openxmlformats.org/officeDocument/2006/relationships/notesMaster" Target="/ppt/notesMasters/notesMaster1.xml" Id="R2149970220b141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b982570ff9a4d19" /><Relationship Type="http://schemas.openxmlformats.org/officeDocument/2006/relationships/notesMaster" Target="/ppt/notesMasters/notesMaster1.xml" Id="R7f4141364460488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09a8332c45437c" /><Relationship Type="http://schemas.openxmlformats.org/officeDocument/2006/relationships/notesMaster" Target="/ppt/notesMasters/notesMaster1.xml" Id="R4a62cad719d9491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e113a16093d34975" /><Relationship Type="http://schemas.openxmlformats.org/officeDocument/2006/relationships/notesMaster" Target="/ppt/notesMasters/notesMaster1.xml" Id="Rdbf059ad54c94d5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c5a87f2eb0b444a" /><Relationship Type="http://schemas.openxmlformats.org/officeDocument/2006/relationships/notesMaster" Target="/ppt/notesMasters/notesMaster1.xml" Id="R60de46f8047a472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c10974abc4a4b56" /><Relationship Type="http://schemas.openxmlformats.org/officeDocument/2006/relationships/notesMaster" Target="/ppt/notesMasters/notesMaster1.xml" Id="R701c022a1924446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e60815d8ee54b60" /><Relationship Type="http://schemas.openxmlformats.org/officeDocument/2006/relationships/notesMaster" Target="/ppt/notesMasters/notesMaster1.xml" Id="Rc67d707033dc47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25c43660bbd42c2" /><Relationship Type="http://schemas.openxmlformats.org/officeDocument/2006/relationships/notesMaster" Target="/ppt/notesMasters/notesMaster1.xml" Id="Rf9a60f6f1bcf400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a6c679144bc4f27" /><Relationship Type="http://schemas.openxmlformats.org/officeDocument/2006/relationships/notesMaster" Target="/ppt/notesMasters/notesMaster1.xml" Id="R4dbb1052cb634ff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274ea00482749f9" /><Relationship Type="http://schemas.openxmlformats.org/officeDocument/2006/relationships/notesMaster" Target="/ppt/notesMasters/notesMaster1.xml" Id="R24d2c987e42d451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4d30d4e57a84da0" /><Relationship Type="http://schemas.openxmlformats.org/officeDocument/2006/relationships/notesMaster" Target="/ppt/notesMasters/notesMaster1.xml" Id="Re4aa505674bb44a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48f2a1ae69e4c3f" /><Relationship Type="http://schemas.openxmlformats.org/officeDocument/2006/relationships/notesMaster" Target="/ppt/notesMasters/notesMaster1.xml" Id="R18472f29720048e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0ff36d238524d30" /><Relationship Type="http://schemas.openxmlformats.org/officeDocument/2006/relationships/notesMaster" Target="/ppt/notesMasters/notesMaster1.xml" Id="Rb998107edf384b5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6c1cf1f687249ea" /><Relationship Type="http://schemas.openxmlformats.org/officeDocument/2006/relationships/notesMaster" Target="/ppt/notesMasters/notesMaster1.xml" Id="Rf45f26b7edab44c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ee0079b637f42a3" /><Relationship Type="http://schemas.openxmlformats.org/officeDocument/2006/relationships/notesMaster" Target="/ppt/notesMasters/notesMaster1.xml" Id="R2ce5011df9d2415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23bf570b28a4ccb" /><Relationship Type="http://schemas.openxmlformats.org/officeDocument/2006/relationships/notesMaster" Target="/ppt/notesMasters/notesMaster1.xml" Id="R1e3b1168bd0f4f1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5677f1da8484b06" /><Relationship Type="http://schemas.openxmlformats.org/officeDocument/2006/relationships/notesMaster" Target="/ppt/notesMasters/notesMaster1.xml" Id="R525ea8edade1406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Creating and testing a useful feature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Creating and testing a useful feature.</a:t>
            </a:r>
          </a:p>
          <a:p>
            <a:r>
              <a:t/>
            </a:r>
          </a:p>
          <a:p>
            <a:r>
              <a:t>LECTURER CUE</a:t>
            </a:r>
          </a:p>
          <a:p>
            <a:r>
              <a:t>Ask learners to explain this goal in ordinary language. The first successful attempt matters more than covering optional extensions. Defer: Five independent features, a full ColumnTransformer construction and domain-code features are extension. Never invent engineering limits.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explain why the largest-looking feature or the most complex model need not improve predictions.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A feature has a meaning.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feature has a meaning</a:t>
            </a:r>
          </a:p>
          <a:p>
            <a:r>
              <a:t/>
            </a:r>
          </a:p>
          <a:p>
            <a:r>
              <a:t>CONNECT</a:t>
            </a:r>
          </a:p>
          <a:p>
            <a:r>
              <a:t>Build on the preceding slide: The engineering context.</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feature has a meaning.</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Derived feature: A new input calculated from existing inputs. Its definition and unit must be stated.</a:t>
            </a:r>
          </a:p>
          <a:p>
            <a:r>
              <a:t>Ratio and interaction: A ratio divides quantities; an interaction multiplies them. Both need a domain explanation and a unit check.</a:t>
            </a:r>
          </a:p>
          <a:p>
            <a:r>
              <a:t/>
            </a:r>
          </a:p>
          <a:p>
            <a:r>
              <a:t>NEXT</a:t>
            </a:r>
          </a:p>
          <a:p>
            <a:r>
              <a:t>Read the physical example across programmes.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physical example across programmes</a:t>
            </a:r>
          </a:p>
          <a:p>
            <a:r>
              <a:t/>
            </a:r>
          </a:p>
          <a:p>
            <a:r>
              <a:t>CONNECT</a:t>
            </a:r>
          </a:p>
          <a:p>
            <a:r>
              <a:t>Build on the preceding slide: Words we will use.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 physical relationship can form a feature.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physical relationship can form a feature</a:t>
            </a:r>
          </a:p>
          <a:p>
            <a:r>
              <a:t/>
            </a:r>
          </a:p>
          <a:p>
            <a:r>
              <a:t>CONNECT</a:t>
            </a:r>
          </a:p>
          <a:p>
            <a:r>
              <a:t>Build on the preceding slide: Read the physical example across programmes.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An interaction uses two known inputs.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An interaction uses two known inputs</a:t>
            </a:r>
          </a:p>
          <a:p>
            <a:r>
              <a:t/>
            </a:r>
          </a:p>
          <a:p>
            <a:r>
              <a:t>CONNECT</a:t>
            </a:r>
          </a:p>
          <a:p>
            <a:r>
              <a:t>Build on the preceding slide: A physical relationship can form a feature.</a:t>
            </a:r>
          </a:p>
          <a:p>
            <a:r>
              <a:t/>
            </a:r>
          </a:p>
          <a:p>
            <a:r>
              <a:t>LECTURER CUE</a:t>
            </a:r>
          </a:p>
          <a:p>
            <a:r>
              <a:t>A derived input must be available when predicting. A useful physical relationship still needs validation.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percentage and its fraction.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percentage and its fraction</a:t>
            </a:r>
          </a:p>
          <a:p>
            <a:r>
              <a:t/>
            </a:r>
          </a:p>
          <a:p>
            <a:r>
              <a:t>CONNECT</a:t>
            </a:r>
          </a:p>
          <a:p>
            <a:r>
              <a:t>Build on the preceding slide: An interaction uses two known inputs.</a:t>
            </a:r>
          </a:p>
          <a:p>
            <a:r>
              <a:t/>
            </a:r>
          </a:p>
          <a:p>
            <a:r>
              <a:t>LECTURER CUE</a:t>
            </a:r>
          </a:p>
          <a:p>
            <a:r>
              <a:t>Begin with a percentage: 40% means 40 / 100 = 0.4. Converting percentage to fraction changes units but adds no new information.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combined input needs a reason.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combined input needs a reason</a:t>
            </a:r>
          </a:p>
          <a:p>
            <a:r>
              <a:t/>
            </a:r>
          </a:p>
          <a:p>
            <a:r>
              <a:t>CONNECT</a:t>
            </a:r>
          </a:p>
          <a:p>
            <a:r>
              <a:t>Build on the preceding slide: A percentage and its fraction.</a:t>
            </a:r>
          </a:p>
          <a:p>
            <a:r>
              <a:t/>
            </a:r>
          </a:p>
          <a:p>
            <a:r>
              <a:t>LECTURER CUE</a:t>
            </a:r>
          </a:p>
          <a:p>
            <a:r>
              <a:t>An interaction may help a simple model express a relationship, but usefulness is tested rather than assumed. An interaction involving Celsius is an empirical feature, not automatically a physical law.</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A combined input needs a reason.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POINT TO THE DEFINITION</a:t>
            </a:r>
          </a:p>
          <a:p>
            <a:r>
              <a:t>Ablation: Compare a model with and without a feature while keeping the data partitions, model family and metric fixed.</a:t>
            </a:r>
          </a:p>
          <a:p>
            <a:r>
              <a:t>Improvement: For an error metric, baseline error minus new error. A negative result means the added feature worsened validation error in that comparison.</a:t>
            </a:r>
          </a:p>
          <a:p>
            <a:r>
              <a:t/>
            </a:r>
          </a:p>
          <a:p>
            <a:r>
              <a:t>NEXT</a:t>
            </a:r>
          </a:p>
          <a:p>
            <a:r>
              <a:t>One change makes a comparison interpretable.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change makes a comparison interpretable</a:t>
            </a:r>
          </a:p>
          <a:p>
            <a:r>
              <a:t/>
            </a:r>
          </a:p>
          <a:p>
            <a:r>
              <a:t>CONNECT</a:t>
            </a:r>
          </a:p>
          <a:p>
            <a:r>
              <a:t>Build on the preceding slide: Words we will use.</a:t>
            </a:r>
          </a:p>
          <a:p>
            <a:r>
              <a:t/>
            </a:r>
          </a:p>
          <a:p>
            <a:r>
              <a:t>LECTURER CUE</a:t>
            </a:r>
          </a:p>
          <a:p>
            <a:r>
              <a:t>Read a two-row results table: base MAE 3, extended MAE 2.5 gives improvement 0.5 target units. Ask which other experimental choices must stay fixed.</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One change makes a comparison interpretable.</a:t>
            </a:r>
          </a:p>
          <a:p>
            <a:r>
              <a:t/>
            </a:r>
          </a:p>
          <a:p>
            <a:r>
              <a:t>LECTURER CUE</a:t>
            </a:r>
          </a:p>
          <a:p>
            <a:r>
              <a:t>Begin with a percentage: 40% means 40 / 100 = 0.4. Converting percentage to fraction changes units but adds no new information. An interaction may help a simple model express a relationship, but usefulness is tested rather than assumed. An interaction involving Celsius is an empirical feature, not automatically a physical law. Read a two-row results table: base MAE 3, extended MAE 2.5 gives improvement 0.5 target units. Ask which other experimental choices must stay fixed.</a:t>
            </a:r>
          </a:p>
          <a:p>
            <a:r>
              <a:t/>
            </a:r>
          </a:p>
          <a:p>
            <a:r>
              <a:t>Complete practice code:</a:t>
            </a:r>
          </a:p>
          <a:p>
            <a:r>
              <a:t>load_pct = 40</a:t>
            </a:r>
          </a:p>
          <a:p>
            <a:r>
              <a:t>ambient_c = 25</a:t>
            </a:r>
          </a:p>
          <a:p>
            <a:r>
              <a:t>load_fraction = load_pct / 100</a:t>
            </a:r>
          </a:p>
          <a:p>
            <a:r>
              <a:t>interaction = load_pct * ambient_c</a:t>
            </a:r>
          </a:p>
          <a:p>
            <a:r>
              <a:t>print(load_fraction, interaction)</a:t>
            </a:r>
          </a:p>
          <a:p>
            <a:r>
              <a:t>base_mae = 3.0</a:t>
            </a:r>
          </a:p>
          <a:p>
            <a:r>
              <a:t>extended_mae = 2.5</a:t>
            </a:r>
          </a:p>
          <a:p>
            <a:r>
              <a:t>print(base_mae - extended_mae)</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WALK THROUGH THIS CODE</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Read the two-model experiment.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two-model experiment</a:t>
            </a:r>
          </a:p>
          <a:p>
            <a:r>
              <a:t/>
            </a:r>
          </a:p>
          <a:p>
            <a:r>
              <a:t>CONNECT</a:t>
            </a:r>
          </a:p>
          <a:p>
            <a:r>
              <a:t>Build on the preceding slide: Expected output.</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Two models under one protocol.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a:t>
            </a:r>
          </a:p>
          <a:p>
            <a:r>
              <a:t/>
            </a:r>
          </a:p>
          <a:p>
            <a:r>
              <a:t>CONNECT</a:t>
            </a:r>
          </a:p>
          <a:p>
            <a:r>
              <a:t>Build on the preceding slide: Read the two-model experiment.</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Two models under one protocol in Python (1/3).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(1/3)</a:t>
            </a:r>
          </a:p>
          <a:p>
            <a:r>
              <a:t/>
            </a:r>
          </a:p>
          <a:p>
            <a:r>
              <a:t>CONNECT</a:t>
            </a:r>
          </a:p>
          <a:p>
            <a:r>
              <a:t>Build on the preceding slide: Two models under one protocol.</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WALK THROUGH THIS CODE</a:t>
            </a:r>
          </a:p>
          <a:p>
            <a:r>
              <a:t>import loads a library. from selects a tool from it.</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(2/3).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(2/3)</a:t>
            </a:r>
          </a:p>
          <a:p>
            <a:r>
              <a:t/>
            </a:r>
          </a:p>
          <a:p>
            <a:r>
              <a:t>CONNECT</a:t>
            </a:r>
          </a:p>
          <a:p>
            <a:r>
              <a:t>Build on the preceding slide: Two models under one protocol in Python (1/3).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def names the function. Inputs go inside parentheses.</a:t>
            </a:r>
          </a:p>
          <a:p>
            <a:r>
              <a:t>for takes the next item. The indented block repeats.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Two models under one protocol in Python (3/3).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Two models under one protocol in Python (3/3)</a:t>
            </a:r>
          </a:p>
          <a:p>
            <a:r>
              <a:t/>
            </a:r>
          </a:p>
          <a:p>
            <a:r>
              <a:t>CONNECT</a:t>
            </a:r>
          </a:p>
          <a:p>
            <a:r>
              <a:t>Build on the preceding slide: Two models under one protocol in Python (2/3).</a:t>
            </a:r>
          </a:p>
          <a:p>
            <a:r>
              <a:t/>
            </a:r>
          </a:p>
          <a:p>
            <a:r>
              <a:t>LECTURER CUE</a:t>
            </a:r>
          </a:p>
          <a:p>
            <a:r>
              <a:t>Run this complete practice experiment in a fresh session. Both models use the same rows and targets; the second receives one additional input. Read every column before fitting. This invented experiment illustrates procedure, not a measured engineering benefit.</a:t>
            </a:r>
          </a:p>
          <a:p>
            <a:r>
              <a:t/>
            </a:r>
          </a:p>
          <a:p>
            <a:r>
              <a:t>Complete practice code:</a:t>
            </a:r>
          </a:p>
          <a:p>
            <a:r>
              <a:t>from sklearn.linear_model import LinearRegression</a:t>
            </a:r>
          </a:p>
          <a:p>
            <a:r>
              <a:t>from sklearn.metrics import mean_absolute_error</a:t>
            </a:r>
          </a:p>
          <a:p>
            <a:r>
              <a:t>train = [[1, 2], [2, 3], [3, 2], [4, 4], [5, 3]]</a:t>
            </a:r>
          </a:p>
          <a:p>
            <a:r>
              <a:t>y = [3, 5, 5, 8, 8]</a:t>
            </a:r>
          </a:p>
          <a:p>
            <a:r>
              <a:t>validation = [[2, 2], [3, 3]]</a:t>
            </a:r>
          </a:p>
          <a:p>
            <a:r>
              <a:t>truth = [4, 6]</a:t>
            </a:r>
          </a:p>
          <a:p>
            <a:r>
              <a:t>def with_interaction(rows):</a:t>
            </a:r>
          </a:p>
          <a:p>
            <a:r>
              <a:t>    result = []</a:t>
            </a:r>
          </a:p>
          <a:p>
            <a:r>
              <a:t>    for a, b in rows:</a:t>
            </a:r>
          </a:p>
          <a:p>
            <a:r>
              <a:t>        result.append([a, b, a * b])</a:t>
            </a:r>
          </a:p>
          <a:p>
            <a:r>
              <a:t>    return result</a:t>
            </a:r>
          </a:p>
          <a:p>
            <a:r>
              <a:t>base = LinearRegression().fit(train, y)</a:t>
            </a:r>
          </a:p>
          <a:p>
            <a:r>
              <a:t>extended = LinearRegression().fit(with_interaction(train), y)</a:t>
            </a:r>
          </a:p>
          <a:p>
            <a:r>
              <a:t>base_predictions = base.predict(validation)</a:t>
            </a:r>
          </a:p>
          <a:p>
            <a:r>
              <a:t>base_error = mean_absolute_error(truth, base_predictions)</a:t>
            </a:r>
          </a:p>
          <a:p>
            <a:r>
              <a:t>print(round(base_error, 6))</a:t>
            </a:r>
          </a:p>
          <a:p>
            <a:r>
              <a:t>validation_features = with_interaction(validation)</a:t>
            </a:r>
          </a:p>
          <a:p>
            <a:r>
              <a:t>extended_predictions = extended.predict(validation_features)</a:t>
            </a:r>
          </a:p>
          <a:p>
            <a:r>
              <a:t>error = mean_absolute_error(truth, extended_predictions)</a:t>
            </a:r>
          </a:p>
          <a:p>
            <a:r>
              <a:t>print(round(error, 6))</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WALK THROUGH THIS CODE</a:t>
            </a:r>
          </a:p>
          <a:p>
            <a:r>
              <a:t>predict applies the fitted model to new inputs.</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Two models under one protocol in Python (3/3).</a:t>
            </a:r>
          </a:p>
          <a:p>
            <a:r>
              <a:t/>
            </a:r>
          </a:p>
          <a:p>
            <a:r>
              <a:t>EXPLAIN IN ORDINARY WORDS</a:t>
            </a:r>
          </a:p>
          <a:p>
            <a:r>
              <a:t>A category is a label, not an amount. Indicator columns record whether a row belongs to each category, usually with 0 or 1. Fit the encoding on training data and reuse it.</a:t>
            </a:r>
          </a:p>
          <a:p>
            <a:r>
              <a:t/>
            </a:r>
          </a:p>
          <a:p>
            <a:r>
              <a:t>CHECK AND EXPECTED ANSWER</a:t>
            </a:r>
          </a:p>
          <a:p>
            <a:r>
              <a:t>Does assigning red=1 and blue=2 mean blue is twice red? No, those are labels.</a:t>
            </a:r>
          </a:p>
          <a:p>
            <a:r>
              <a:t/>
            </a:r>
          </a:p>
          <a:p>
            <a:r>
              <a:t>IF LEARNERS ARE STUCK</a:t>
            </a:r>
          </a:p>
          <a:p>
            <a:r>
              <a:t>Make two rows and two category columns by hand before showing the encoder.</a:t>
            </a:r>
          </a:p>
          <a:p>
            <a:r>
              <a:t/>
            </a:r>
          </a:p>
          <a:p>
            <a:r>
              <a:t>POINT TO THE DEFINITION</a:t>
            </a:r>
          </a:p>
          <a:p>
            <a:r>
              <a:t>Encoding: Representing a category numerically. One-hot uses separate indicator columns. Arbitrary integer labels can falsely suggest an order.</a:t>
            </a:r>
          </a:p>
          <a:p>
            <a:r>
              <a:t>Scaling: Changing the numerical scale of features. Fit learned scaling on training data only. It matters for distance-based models but is not required by ordinary decision trees.</a:t>
            </a:r>
          </a:p>
          <a:p>
            <a:r>
              <a:t/>
            </a:r>
          </a:p>
          <a:p>
            <a:r>
              <a:t>NEXT</a:t>
            </a:r>
          </a:p>
          <a:p>
            <a:r>
              <a:t>You are the feature reviewer.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feature reviewer</a:t>
            </a:r>
          </a:p>
          <a:p>
            <a:r>
              <a:t/>
            </a:r>
          </a:p>
          <a:p>
            <a:r>
              <a:t>CONNECT</a:t>
            </a:r>
          </a:p>
          <a:p>
            <a:r>
              <a:t>Build on the preceding slide: Words we will use.</a:t>
            </a:r>
          </a:p>
          <a:p>
            <a:r>
              <a:t/>
            </a:r>
          </a:p>
          <a:p>
            <a:r>
              <a:t>LECTURER CUE</a:t>
            </a:r>
          </a:p>
          <a:p>
            <a:r>
              <a:t>Do this before revealing the discussion slide. One learner moves or writes the items, the other checks. Swap roles. Every student explains one step. Expected: Improvement changes from +0.5 to -0.4. The second comparison does not support retaining the feature.</a:t>
            </a:r>
          </a:p>
          <a:p>
            <a:r>
              <a:t>Wait for an individual prediction before inviting pair discussion. Give a first-step hint if needed.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feature reviewer.</a:t>
            </a:r>
          </a:p>
          <a:p>
            <a:r>
              <a:t/>
            </a:r>
          </a:p>
          <a:p>
            <a:r>
              <a:t>LECTURER CUE</a:t>
            </a:r>
          </a:p>
          <a:p>
            <a:r>
              <a:t>Ask which step produced this answer. Return to the concrete action if a learner cannot explain it. This is practice feedback, never a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Improvement is -0.4. This validation comparison does not support retaining it. One split is limited evidence; the final test remains untouched.</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DISCUSS THE REASONING</a:t>
            </a:r>
          </a:p>
          <a:p>
            <a:r>
              <a:t>Practice discussion</a:t>
            </a:r>
          </a:p>
          <a:p>
            <a:r>
              <a:t>Improvement is -0.4. This validation comparison does not support retaining it. One split is limited evidence; the final test remains untouched.</a:t>
            </a:r>
          </a:p>
          <a:p>
            <a:r>
              <a:t>Which step produced this result? What changes if one input changes?</a:t>
            </a:r>
          </a:p>
          <a:p>
            <a:r>
              <a:t>CML3112   Week 11   25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W11 names four output features and a two-model ablation. Explain output order, preservation of input rows, full precision and training-only fitting. Use the supplied written scenario for the interpretation requested there. Do not substitute this practice example’s result.</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without misleading evaluation.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a:t>
            </a:r>
          </a:p>
          <a:p>
            <a:r>
              <a:t/>
            </a:r>
          </a:p>
          <a:p>
            <a:r>
              <a:t>CONNECT</a:t>
            </a:r>
          </a:p>
          <a:p>
            <a:r>
              <a:t>Build on the preceding slide: Preparing for the assignment.</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Features without misleading evaluation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without misleading evaluation continued</a:t>
            </a:r>
          </a:p>
          <a:p>
            <a:r>
              <a:t/>
            </a:r>
          </a:p>
          <a:p>
            <a:r>
              <a:t>CONNECT</a:t>
            </a:r>
          </a:p>
          <a:p>
            <a:r>
              <a:t>Build on the preceding slide: Features without misleading evaluation.</a:t>
            </a:r>
          </a:p>
          <a:p>
            <a:r>
              <a:t/>
            </a:r>
          </a:p>
          <a:p>
            <a:r>
              <a:t>LECTURER CUE</a:t>
            </a:r>
          </a:p>
          <a:p>
            <a:r>
              <a:t>Teach these concepts before the weekly quiz. Use changed numbers for practice. This slide supplies concepts, not the quiz key.</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Features without misleading evaluation continued.</a:t>
            </a:r>
          </a:p>
          <a:p>
            <a:r>
              <a:t/>
            </a:r>
          </a:p>
          <a:p>
            <a:r>
              <a:t>LECTURER CUE</a:t>
            </a:r>
          </a:p>
          <a:p>
            <a:r>
              <a:t>Investigate building cooling load. Target units: kW.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make_features(feature_records).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make_features(feature_records)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IUEA_Teaching_Plan/assessment_banks/W11/CML3112/A/TASKS.md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ablation_metrics(training_records, validation_records).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ablation_metrics(training_records, validation_records)</a:t>
            </a:r>
          </a:p>
          <a:p>
            <a:r>
              <a:t/>
            </a:r>
          </a:p>
          <a:p>
            <a:r>
              <a:t>CONNECT</a:t>
            </a:r>
          </a:p>
          <a:p>
            <a:r>
              <a:t>Build on the preceding slide: make_features(feature_records).</a:t>
            </a:r>
          </a:p>
          <a:p>
            <a:r>
              <a:t/>
            </a:r>
          </a:p>
          <a:p>
            <a:r>
              <a:t>LECTURER CUE</a:t>
            </a:r>
          </a:p>
          <a:p>
            <a:r>
              <a:t>Public task contract. Explain input and output types before independent work. Source: IUEA_Teaching_Plan/assessment_banks/W11/CML3112/A/TASKS.md</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ablation_metrics(training_records, validation_records).</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Features and ablation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Features and ablation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 feature is information supplied to a model. An interaction combines inputs, for example area times thickness gives volume. Ablation compares a model with and without a feature using the same evaluation protocol.</a:t>
            </a:r>
          </a:p>
          <a:p>
            <a:r>
              <a:t/>
            </a:r>
          </a:p>
          <a:p>
            <a:r>
              <a:t>CHECK AND EXPECTED ANSWER</a:t>
            </a:r>
          </a:p>
          <a:p>
            <a:r>
              <a:t>Does a lower validation error prove the feature is physically causal? No. It supports prediction under this comparison, subject to leakage and data limitations.</a:t>
            </a:r>
          </a:p>
          <a:p>
            <a:r>
              <a:t/>
            </a:r>
          </a:p>
          <a:p>
            <a:r>
              <a:t>IF LEARNERS ARE STUCK</a:t>
            </a:r>
          </a:p>
          <a:p>
            <a:r>
              <a:t>State when each input becomes available, write its unit, then compare the same rows and metric.</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Features and ablation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11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11 quiz</a:t>
            </a:r>
          </a:p>
          <a:p>
            <a:r>
              <a:t/>
            </a:r>
          </a:p>
          <a:p>
            <a:r>
              <a:t>CONNECT</a:t>
            </a:r>
          </a:p>
          <a:p>
            <a:r>
              <a:t>Build on the preceding slide: Project preparation.</a:t>
            </a:r>
          </a:p>
          <a:p>
            <a:r>
              <a:t/>
            </a:r>
          </a:p>
          <a:p>
            <a:r>
              <a:t>LECTURER CUE</a:t>
            </a:r>
          </a:p>
          <a:p>
            <a:r>
              <a:t>Activate the matching open_W11_CML3112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11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7177c983afa4f5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dffa195cca4b6c" /><Relationship Type="http://schemas.openxmlformats.org/officeDocument/2006/relationships/slideLayout" Target="/ppt/slideLayouts/slideLayout1.xml" Id="R9471a4ec55c048d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71a4ec55c048d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174473c3a3a4a04" /><Relationship Type="http://schemas.openxmlformats.org/officeDocument/2006/relationships/image" Target="/ppt/media/image.png" Id="R810047c93ad94d76" /><Relationship Type="http://schemas.openxmlformats.org/officeDocument/2006/relationships/notesSlide" Target="/ppt/notesSlides/notesSlide1.xml" Id="R89a2f94edb1a4e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a2ec7cfd6734f06" /><Relationship Type="http://schemas.openxmlformats.org/officeDocument/2006/relationships/notesSlide" Target="/ppt/notesSlides/notesSlide2.xml" Id="R1fcab40bced64c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35f1d2d45c4813" /><Relationship Type="http://schemas.openxmlformats.org/officeDocument/2006/relationships/notesSlide" Target="/ppt/notesSlides/notesSlide3.xml" Id="R67d2368b681d49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e7d8de6eb9a4063" /><Relationship Type="http://schemas.openxmlformats.org/officeDocument/2006/relationships/notesSlide" Target="/ppt/notesSlides/notesSlide4.xml" Id="Rae3ea7c84ea04c5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e44a6591d1d40e3" /><Relationship Type="http://schemas.openxmlformats.org/officeDocument/2006/relationships/notesSlide" Target="/ppt/notesSlides/notesSlide5.xml" Id="R7c7f7a141bb649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8b97219b8484775" /><Relationship Type="http://schemas.openxmlformats.org/officeDocument/2006/relationships/notesSlide" Target="/ppt/notesSlides/notesSlide6.xml" Id="Rf0dec0937e89426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e92ea6d78304e67" /><Relationship Type="http://schemas.openxmlformats.org/officeDocument/2006/relationships/notesSlide" Target="/ppt/notesSlides/notesSlide7.xml" Id="R7476dd3c3d504a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afa2d9a16c34d1e" /><Relationship Type="http://schemas.openxmlformats.org/officeDocument/2006/relationships/image" Target="/ppt/media/image2.png" Id="R2e076fee43dd4df3" /><Relationship Type="http://schemas.openxmlformats.org/officeDocument/2006/relationships/notesSlide" Target="/ppt/notesSlides/notesSlide8.xml" Id="Rf0a4100f109c45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98e5454dd3c4247" /><Relationship Type="http://schemas.openxmlformats.org/officeDocument/2006/relationships/notesSlide" Target="/ppt/notesSlides/notesSlide9.xml" Id="Rc8ffe04011c84b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1389fce6d74824" /><Relationship Type="http://schemas.openxmlformats.org/officeDocument/2006/relationships/notesSlide" Target="/ppt/notesSlides/notesSlide10.xml" Id="Rc787ffa816f149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2f5df96166f402c" /><Relationship Type="http://schemas.openxmlformats.org/officeDocument/2006/relationships/notesSlide" Target="/ppt/notesSlides/notesSlide11.xml" Id="R0470e4cac8cf4d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ff01ff229a047a7" /><Relationship Type="http://schemas.openxmlformats.org/officeDocument/2006/relationships/notesSlide" Target="/ppt/notesSlides/notesSlide12.xml" Id="R869311dcfac8433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cd84f9b3a2343ea" /><Relationship Type="http://schemas.openxmlformats.org/officeDocument/2006/relationships/notesSlide" Target="/ppt/notesSlides/notesSlide13.xml" Id="R18a40b51e3e143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ec0db0dc2644816" /><Relationship Type="http://schemas.openxmlformats.org/officeDocument/2006/relationships/notesSlide" Target="/ppt/notesSlides/notesSlide14.xml" Id="R400e259dfda74aa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329b96c73ca41ad" /><Relationship Type="http://schemas.openxmlformats.org/officeDocument/2006/relationships/notesSlide" Target="/ppt/notesSlides/notesSlide15.xml" Id="R1d7de35b144641f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843b5f7b0444ea5" /><Relationship Type="http://schemas.openxmlformats.org/officeDocument/2006/relationships/notesSlide" Target="/ppt/notesSlides/notesSlide16.xml" Id="Rc2e97357d41f409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a112fec20f145a4" /><Relationship Type="http://schemas.openxmlformats.org/officeDocument/2006/relationships/notesSlide" Target="/ppt/notesSlides/notesSlide17.xml" Id="R2005a72295e547d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ed08ac8d61843b6" /><Relationship Type="http://schemas.openxmlformats.org/officeDocument/2006/relationships/notesSlide" Target="/ppt/notesSlides/notesSlide18.xml" Id="Recaee927c8264d9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0b143316e524d80" /><Relationship Type="http://schemas.openxmlformats.org/officeDocument/2006/relationships/notesSlide" Target="/ppt/notesSlides/notesSlide19.xml" Id="R174fb13ac728452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4a263063cd54455" /><Relationship Type="http://schemas.openxmlformats.org/officeDocument/2006/relationships/notesSlide" Target="/ppt/notesSlides/notesSlide20.xml" Id="R4cfa72d32cec427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9a0cacfbf5d34fb2" /><Relationship Type="http://schemas.openxmlformats.org/officeDocument/2006/relationships/notesSlide" Target="/ppt/notesSlides/notesSlide21.xml" Id="R7c53442004ab4df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e03ec483b72843e2" /><Relationship Type="http://schemas.openxmlformats.org/officeDocument/2006/relationships/notesSlide" Target="/ppt/notesSlides/notesSlide22.xml" Id="R1fa8f03e7f3c494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08bdde3aa144f04" /><Relationship Type="http://schemas.openxmlformats.org/officeDocument/2006/relationships/notesSlide" Target="/ppt/notesSlides/notesSlide23.xml" Id="R4641d754f151489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c3ac4d883854171" /><Relationship Type="http://schemas.openxmlformats.org/officeDocument/2006/relationships/notesSlide" Target="/ppt/notesSlides/notesSlide24.xml" Id="Rd8520c3281f94e2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a96e0bf1ec44eb6" /><Relationship Type="http://schemas.openxmlformats.org/officeDocument/2006/relationships/notesSlide" Target="/ppt/notesSlides/notesSlide25.xml" Id="R000a9ad6b85641e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717f7625f61436c" /><Relationship Type="http://schemas.openxmlformats.org/officeDocument/2006/relationships/notesSlide" Target="/ppt/notesSlides/notesSlide26.xml" Id="Rb54c9ffeebe242b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79ae0c4ce664f39" /><Relationship Type="http://schemas.openxmlformats.org/officeDocument/2006/relationships/notesSlide" Target="/ppt/notesSlides/notesSlide27.xml" Id="Rb14ff83d10a44a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0da7417c264477f" /><Relationship Type="http://schemas.openxmlformats.org/officeDocument/2006/relationships/notesSlide" Target="/ppt/notesSlides/notesSlide28.xml" Id="R6ea36a398b2c4c2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5ff2a8158b74386" /><Relationship Type="http://schemas.openxmlformats.org/officeDocument/2006/relationships/notesSlide" Target="/ppt/notesSlides/notesSlide29.xml" Id="R3602907d1860402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9d55ac31dd74715" /><Relationship Type="http://schemas.openxmlformats.org/officeDocument/2006/relationships/notesSlide" Target="/ppt/notesSlides/notesSlide30.xml" Id="R6a8ed91499de42d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cf24b793246b4f17" /><Relationship Type="http://schemas.openxmlformats.org/officeDocument/2006/relationships/notesSlide" Target="/ppt/notesSlides/notesSlide31.xml" Id="Re389b53b9c0040e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74a3e734e6c4297" /><Relationship Type="http://schemas.openxmlformats.org/officeDocument/2006/relationships/notesSlide" Target="/ppt/notesSlides/notesSlide32.xml" Id="Raf6502eba7ce4e1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58798c17cfe4219" /><Relationship Type="http://schemas.openxmlformats.org/officeDocument/2006/relationships/hyperlink" Target="https://docs.google.com/forms/d/e/1FAIpQLSfSqUcR9TgY7f1c7HXO9KGM3C2yXm1r7V2rQl2WEubwZir8iw/viewform" TargetMode="External" Id="R488d6ae9dcb34714" /><Relationship Type="http://schemas.openxmlformats.org/officeDocument/2006/relationships/notesSlide" Target="/ppt/notesSlides/notesSlide33.xml" Id="Rd43df949c14c4eb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7d97534cf294767" /><Relationship Type="http://schemas.openxmlformats.org/officeDocument/2006/relationships/notesSlide" Target="/ppt/notesSlides/notesSlide34.xml" Id="R9f3ed3d9808a406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cf53fd82a7e4940" /><Relationship Type="http://schemas.openxmlformats.org/officeDocument/2006/relationships/image" Target="/ppt/media/image3.png" Id="R2edf357a15a8478f" /><Relationship Type="http://schemas.openxmlformats.org/officeDocument/2006/relationships/hyperlink" Target="https://forms.gle/FTSCoDUMmcwSYPc78" TargetMode="External" Id="R73ee7092d3b24e9f" /><Relationship Type="http://schemas.openxmlformats.org/officeDocument/2006/relationships/notesSlide" Target="/ppt/notesSlides/notesSlide35.xml" Id="Rb92dd70869524c9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50f8a92c45e4fe5" /><Relationship Type="http://schemas.openxmlformats.org/officeDocument/2006/relationships/notesSlide" Target="/ppt/notesSlides/notesSlide36.xml" Id="R2aee59020ba64ef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10047c93ad94d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7C6CCC-4301-4453-82BB-FDB75DBEDA9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C8A5F9B-3088-469B-93C4-D62A543291B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11</a:t>
            </a:r>
          </a:p>
        </p:txBody>
      </p:sp>
      <p:sp>
        <p:nvSpPr>
          <p:cNvPr id="4" name="">
            <a:extLst xmlns:a="http://schemas.openxmlformats.org/drawingml/2006/main">
              <a:ext uri="{FF2B5EF4-FFF2-40B4-BE49-F238E27FC236}">
                <a16:creationId xmlns:a16="http://schemas.microsoft.com/office/drawing/2014/main" id="{BA2B5204-E517-496B-B22E-18A27AD2B6E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Creating and testing a useful feature</a:t>
            </a:r>
          </a:p>
        </p:txBody>
      </p:sp>
      <p:sp>
        <p:nvSpPr>
          <p:cNvPr id="5" name="">
            <a:extLst xmlns:a="http://schemas.openxmlformats.org/drawingml/2006/main">
              <a:ext uri="{FF2B5EF4-FFF2-40B4-BE49-F238E27FC236}">
                <a16:creationId xmlns:a16="http://schemas.microsoft.com/office/drawing/2014/main" id="{4FDEA8E3-DF35-4C61-8E07-34DB27214A9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A6EF5504-2156-4F7A-A94F-55E2C5CDA19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6839116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9C5109A-15E3-416B-B1EC-537FD42DB2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7FD167-E1CC-4AFF-A056-6FCB134F64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96699559-8FCF-4E6A-ADB6-3CFD3B9675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5BEBFAB-B9F2-4904-9293-54B476627D1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AA3574-2675-43F7-A79B-CCCC9DB71C2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FF4A8503-DC89-4E60-A0ED-470B651C82D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Create a feature from available measurements.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models with one controlled change.</a:t>
            </a:r>
          </a:p>
        </p:txBody>
      </p:sp>
      <p:sp>
        <p:nvSpPr>
          <p:cNvPr id="7" name="">
            <a:extLst xmlns:a="http://schemas.openxmlformats.org/drawingml/2006/main">
              <a:ext uri="{FF2B5EF4-FFF2-40B4-BE49-F238E27FC236}">
                <a16:creationId xmlns:a16="http://schemas.microsoft.com/office/drawing/2014/main" id="{53092CAD-E8B9-4164-A459-079A2B0B87C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ABAF63F-6171-4FB2-841A-0085E55A6E3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state the new feature’s meaning and calculate an improvement correctly.</a:t>
            </a:r>
          </a:p>
        </p:txBody>
      </p:sp>
      <p:sp>
        <p:nvSpPr>
          <p:cNvPr id="9" name="">
            <a:extLst xmlns:a="http://schemas.openxmlformats.org/drawingml/2006/main">
              <a:ext uri="{FF2B5EF4-FFF2-40B4-BE49-F238E27FC236}">
                <a16:creationId xmlns:a16="http://schemas.microsoft.com/office/drawing/2014/main" id="{25549A43-28E1-43BA-976E-4B6AEEB3F6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a:t>
            </a:r>
          </a:p>
        </p:txBody>
      </p:sp>
    </p:spTree>
    <p:extLst>
      <p:ext uri="{BB962C8B-B14F-4D97-AF65-F5344CB8AC3E}">
        <p14:creationId xmlns:p14="http://schemas.microsoft.com/office/powerpoint/2010/main" val="1490178868"/>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F1E5A14-BD8D-4DE7-A821-50612F127A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CCCE7D6-C4C6-43B4-8129-BB76CF0ABD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07E30B77-E67F-4F31-B6F1-AFF8FD44B59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9805EB5-1664-48B5-B23E-23FEF285D42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makes an input available at prediction time? Why keep validation membership fixed?</a:t>
            </a:r>
          </a:p>
        </p:txBody>
      </p:sp>
      <p:sp>
        <p:nvSpPr>
          <p:cNvPr id="5" name="">
            <a:extLst xmlns:a="http://schemas.openxmlformats.org/drawingml/2006/main">
              <a:ext uri="{FF2B5EF4-FFF2-40B4-BE49-F238E27FC236}">
                <a16:creationId xmlns:a16="http://schemas.microsoft.com/office/drawing/2014/main" id="{7C4BF302-8550-4767-9BB5-E504AD62402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27EDB095-A51F-4B4A-A36A-BAD2A1CF77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3</a:t>
            </a:r>
          </a:p>
        </p:txBody>
      </p:sp>
    </p:spTree>
    <p:extLst>
      <p:ext uri="{BB962C8B-B14F-4D97-AF65-F5344CB8AC3E}">
        <p14:creationId xmlns:p14="http://schemas.microsoft.com/office/powerpoint/2010/main" val="158241760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FF7689-26B5-4560-A1ED-338FDB72B2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0A220F-7097-4280-9EA2-9F858C358A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4375F3AB-DC6B-4113-9042-0B48219509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718290C9-766C-4CE2-AB23-817F967BC3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F20416-9726-4B07-A721-03D6FFD123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8CE91F40-F45F-4475-ADB3-A6EB7ACB32A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65B64F-B18E-4B35-8120-050AD5B9B3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9C2EED2A-93BA-44FD-AAC0-29EF333846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F9EAA4-CF65-41CD-A276-97C8D88E25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A03E2288-C484-404D-AEB7-22417E7BF8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4</a:t>
            </a:r>
          </a:p>
        </p:txBody>
      </p:sp>
    </p:spTree>
    <p:extLst>
      <p:ext uri="{BB962C8B-B14F-4D97-AF65-F5344CB8AC3E}">
        <p14:creationId xmlns:p14="http://schemas.microsoft.com/office/powerpoint/2010/main" val="1193831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35C73E-FD32-4DC6-B647-F3F171E9F8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99E933-601F-418A-A1B8-5D896D967E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789B9E-4FCA-4CC6-83BD-8769AE6C23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feature has a meaning</a:t>
            </a:r>
          </a:p>
        </p:txBody>
      </p:sp>
      <p:sp>
        <p:nvSpPr>
          <p:cNvPr id="4" name="">
            <a:extLst xmlns:a="http://schemas.openxmlformats.org/drawingml/2006/main">
              <a:ext uri="{FF2B5EF4-FFF2-40B4-BE49-F238E27FC236}">
                <a16:creationId xmlns:a16="http://schemas.microsoft.com/office/drawing/2014/main" id="{1F9D88B8-8C2D-432C-A57D-7DF80B7E4C9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A7DDD5-197F-45B8-A87E-5AD42C3A520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an input available at prediction time.</a:t>
            </a:r>
          </a:p>
        </p:txBody>
      </p:sp>
      <p:sp>
        <p:nvSpPr>
          <p:cNvPr id="6" name="">
            <a:extLst xmlns:a="http://schemas.openxmlformats.org/drawingml/2006/main">
              <a:ext uri="{FF2B5EF4-FFF2-40B4-BE49-F238E27FC236}">
                <a16:creationId xmlns:a16="http://schemas.microsoft.com/office/drawing/2014/main" id="{706A27A4-0675-4E3C-96F6-940694EC2EA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89A3C-8CA1-4BCD-A643-8F8AF9E48BF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 to express a joint pattern.</a:t>
            </a:r>
          </a:p>
        </p:txBody>
      </p:sp>
      <p:sp>
        <p:nvSpPr>
          <p:cNvPr id="8" name="">
            <a:extLst xmlns:a="http://schemas.openxmlformats.org/drawingml/2006/main">
              <a:ext uri="{FF2B5EF4-FFF2-40B4-BE49-F238E27FC236}">
                <a16:creationId xmlns:a16="http://schemas.microsoft.com/office/drawing/2014/main" id="{F3A972AE-7FD6-45AB-9E80-75DEEA5A9BD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0779A9-1BB6-4D08-B917-A2AF22B6F08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better validation score can still reflect leakage.</a:t>
            </a:r>
          </a:p>
        </p:txBody>
      </p:sp>
      <p:sp>
        <p:nvSpPr>
          <p:cNvPr id="10" name="">
            <a:extLst xmlns:a="http://schemas.openxmlformats.org/drawingml/2006/main">
              <a:ext uri="{FF2B5EF4-FFF2-40B4-BE49-F238E27FC236}">
                <a16:creationId xmlns:a16="http://schemas.microsoft.com/office/drawing/2014/main" id="{13348EEE-2637-4EAD-90EE-EDB39D8DF75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052C39-0580-44FB-8BDD-D1EADA47D87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observations and explain the physical meaning.</a:t>
            </a:r>
          </a:p>
        </p:txBody>
      </p:sp>
      <p:sp>
        <p:nvSpPr>
          <p:cNvPr id="12" name="">
            <a:extLst xmlns:a="http://schemas.openxmlformats.org/drawingml/2006/main">
              <a:ext uri="{FF2B5EF4-FFF2-40B4-BE49-F238E27FC236}">
                <a16:creationId xmlns:a16="http://schemas.microsoft.com/office/drawing/2014/main" id="{8CC81BF6-82BC-46CA-82FF-11089266E9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5</a:t>
            </a:r>
          </a:p>
        </p:txBody>
      </p:sp>
    </p:spTree>
    <p:extLst>
      <p:ext uri="{BB962C8B-B14F-4D97-AF65-F5344CB8AC3E}">
        <p14:creationId xmlns:p14="http://schemas.microsoft.com/office/powerpoint/2010/main" val="404778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8D199F-4B27-4E1E-A0FF-2999019278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7CCA11-51CC-462D-BD94-CCE1A4B8F5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8A8C719-62AF-4B71-B2EA-3005BE4756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57C1BBA6-3773-481D-A5A0-BE17B4F50D1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F11327-76B2-46A8-A96F-356032421DB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Derived feature</a:t>
            </a:r>
          </a:p>
        </p:txBody>
      </p:sp>
      <p:sp>
        <p:nvSpPr>
          <p:cNvPr id="6" name="">
            <a:extLst xmlns:a="http://schemas.openxmlformats.org/drawingml/2006/main">
              <a:ext uri="{FF2B5EF4-FFF2-40B4-BE49-F238E27FC236}">
                <a16:creationId xmlns:a16="http://schemas.microsoft.com/office/drawing/2014/main" id="{5918F098-834B-4337-A004-838CDC134CC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new input calculated from existing inputs. Its definition and unit must be stated.</a:t>
            </a:r>
          </a:p>
        </p:txBody>
      </p:sp>
      <p:sp>
        <p:nvSpPr>
          <p:cNvPr id="7" name="">
            <a:extLst xmlns:a="http://schemas.openxmlformats.org/drawingml/2006/main">
              <a:ext uri="{FF2B5EF4-FFF2-40B4-BE49-F238E27FC236}">
                <a16:creationId xmlns:a16="http://schemas.microsoft.com/office/drawing/2014/main" id="{18EC1488-D5DF-41B1-A4A8-1815F0225F1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1EB42C8-48B3-4462-BD95-F0B4FBEAACF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Ratio and interaction</a:t>
            </a:r>
          </a:p>
        </p:txBody>
      </p:sp>
      <p:sp>
        <p:nvSpPr>
          <p:cNvPr id="9" name="">
            <a:extLst xmlns:a="http://schemas.openxmlformats.org/drawingml/2006/main">
              <a:ext uri="{FF2B5EF4-FFF2-40B4-BE49-F238E27FC236}">
                <a16:creationId xmlns:a16="http://schemas.microsoft.com/office/drawing/2014/main" id="{8EB25E04-5277-4AD6-A10D-4E24404EDCD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ratio divides quantities; an interaction multiplies them. Both need a domain explanation and a unit check.</a:t>
            </a:r>
          </a:p>
        </p:txBody>
      </p:sp>
      <p:sp>
        <p:nvSpPr>
          <p:cNvPr id="10" name="">
            <a:extLst xmlns:a="http://schemas.openxmlformats.org/drawingml/2006/main">
              <a:ext uri="{FF2B5EF4-FFF2-40B4-BE49-F238E27FC236}">
                <a16:creationId xmlns:a16="http://schemas.microsoft.com/office/drawing/2014/main" id="{B684612F-06D8-4292-9703-6C85E3EB64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6</a:t>
            </a:r>
          </a:p>
        </p:txBody>
      </p:sp>
    </p:spTree>
    <p:extLst>
      <p:ext uri="{BB962C8B-B14F-4D97-AF65-F5344CB8AC3E}">
        <p14:creationId xmlns:p14="http://schemas.microsoft.com/office/powerpoint/2010/main" val="163688651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BFC89F-99AA-4481-9187-8F987C0ED5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E78FD9-75B5-41DC-B418-BA0074BDB6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B659AA-E546-4076-BD4D-93D81982D9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physical example across programmes</a:t>
            </a:r>
          </a:p>
        </p:txBody>
      </p:sp>
      <p:sp>
        <p:nvSpPr>
          <p:cNvPr id="4" name="">
            <a:extLst xmlns:a="http://schemas.openxmlformats.org/drawingml/2006/main">
              <a:ext uri="{FF2B5EF4-FFF2-40B4-BE49-F238E27FC236}">
                <a16:creationId xmlns:a16="http://schemas.microsoft.com/office/drawing/2014/main" id="{48D79D0B-396C-4B0D-9D5B-811F493A85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46F9F9-2DA2-4618-BE51-7FBC2A0CE6D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Current I is the flow of electric charge, measured in amperes (A). Resistance R opposes that flow, measured in ohms.</a:t>
            </a:r>
          </a:p>
        </p:txBody>
      </p:sp>
      <p:sp>
        <p:nvSpPr>
          <p:cNvPr id="6" name="">
            <a:extLst xmlns:a="http://schemas.openxmlformats.org/drawingml/2006/main">
              <a:ext uri="{FF2B5EF4-FFF2-40B4-BE49-F238E27FC236}">
                <a16:creationId xmlns:a16="http://schemas.microsoft.com/office/drawing/2014/main" id="{A4CA7947-9AC2-4B86-ADD3-5FB0788BE6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4E0643-51F1-4189-9241-8ACBC95DCBF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P is energy transferred per second, measured in watts (W). Resistive heating follows P = I²R in this example.</a:t>
            </a:r>
          </a:p>
        </p:txBody>
      </p:sp>
      <p:sp>
        <p:nvSpPr>
          <p:cNvPr id="8" name="">
            <a:extLst xmlns:a="http://schemas.openxmlformats.org/drawingml/2006/main">
              <a:ext uri="{FF2B5EF4-FFF2-40B4-BE49-F238E27FC236}">
                <a16:creationId xmlns:a16="http://schemas.microsoft.com/office/drawing/2014/main" id="{951ED6FA-C2D8-4DC4-A2D7-A50D8560D6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0DCA193-403F-416D-B04C-E8E55F1589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I² means I × I. With I = 2 A and R = 3 ohms, P = 2 × 2 × 3 = 12 W. This relationship motivates a feature; evaluation still tests whether it helps.</a:t>
            </a:r>
          </a:p>
        </p:txBody>
      </p:sp>
      <p:sp>
        <p:nvSpPr>
          <p:cNvPr id="10" name="">
            <a:extLst xmlns:a="http://schemas.openxmlformats.org/drawingml/2006/main">
              <a:ext uri="{FF2B5EF4-FFF2-40B4-BE49-F238E27FC236}">
                <a16:creationId xmlns:a16="http://schemas.microsoft.com/office/drawing/2014/main" id="{19075AB4-7F85-4F5E-8402-3F71BB46BA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7</a:t>
            </a:r>
          </a:p>
        </p:txBody>
      </p:sp>
    </p:spTree>
    <p:extLst>
      <p:ext uri="{BB962C8B-B14F-4D97-AF65-F5344CB8AC3E}">
        <p14:creationId xmlns:p14="http://schemas.microsoft.com/office/powerpoint/2010/main" val="71047747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84FB39-B725-458F-AE30-DC89BFE63ED4}"/>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7188D0-97BD-43BE-B58A-A3C4FA2E80D8}"/>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physical relationship can form a feature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2e076fee43dd4df3"/>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4FF97FD-818F-4C9B-B891-CE629E701C2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DCDC1B-77CF-4780-BE98-991DBC72B77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Explain each quantity and the unit of the result.</a:t>
            </a:r>
          </a:p>
        </p:txBody>
      </p:sp>
      <p:sp>
        <p:nvSpPr>
          <p:cNvPr id="6" name="">
            <a:extLst xmlns:a="http://schemas.openxmlformats.org/drawingml/2006/main">
              <a:ext uri="{FF2B5EF4-FFF2-40B4-BE49-F238E27FC236}">
                <a16:creationId xmlns:a16="http://schemas.microsoft.com/office/drawing/2014/main" id="{C43A20F2-50EC-447A-8F6B-4838892961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8</a:t>
            </a:r>
          </a:p>
        </p:txBody>
      </p:sp>
    </p:spTree>
    <p:extLst>
      <p:ext uri="{BB962C8B-B14F-4D97-AF65-F5344CB8AC3E}">
        <p14:creationId xmlns:p14="http://schemas.microsoft.com/office/powerpoint/2010/main" val="2772369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32EA08E-E499-4610-AB5B-34762D6AA2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E7CBF5-D652-4AAD-A800-F4C47747A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66489AA-7238-4E1D-BFE5-999A8C66F8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interaction uses two known inputs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Current A</a:t>
                      </a:r>
                    </a:p>
                  </a:txBody>
                  <a:tcPr marL="91440" marR="91440" marT="45720" marB="45720">
                    <a:solidFill>
                      <a:srgbClr val="2E7D6F"/>
                    </a:solidFill>
                  </a:tcPr>
                </a:tc>
                <a:tc>
                  <a:txBody>
                    <a:bodyPr/>
                    <a:lstStyle/>
                    <a:p>
                      <a:r>
                        <a:rPr sz="2025" b="1">
                          <a:solidFill>
                            <a:srgbClr val="FFFFFF"/>
                          </a:solidFill>
                          <a:latin typeface="Calibri"/>
                          <a:ea typeface="Calibri"/>
                          <a:cs typeface="Calibri"/>
                        </a:rPr>
                        <a:t>Resistance ohm</a:t>
                      </a:r>
                    </a:p>
                  </a:txBody>
                  <a:tcPr marL="91440" marR="91440" marT="45720" marB="45720">
                    <a:solidFill>
                      <a:srgbClr val="2E7D6F"/>
                    </a:solidFill>
                  </a:tcPr>
                </a:tc>
                <a:tc>
                  <a:txBody>
                    <a:bodyPr/>
                    <a:lstStyle/>
                    <a:p>
                      <a:r>
                        <a:rPr sz="2025" b="1">
                          <a:solidFill>
                            <a:srgbClr val="FFFFFF"/>
                          </a:solidFill>
                          <a:latin typeface="Calibri"/>
                          <a:ea typeface="Calibri"/>
                          <a:cs typeface="Calibri"/>
                        </a:rPr>
                        <a:t>I squared × R W</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3</a:t>
                      </a:r>
                    </a:p>
                  </a:txBody>
                  <a:tcPr marL="91440" marR="91440" marT="45720" marB="45720">
                    <a:solidFill>
                      <a:srgbClr val="FFFFFF"/>
                    </a:solidFill>
                  </a:tcPr>
                </a:tc>
                <a:tc>
                  <a:txBody>
                    <a:bodyPr/>
                    <a:lstStyle/>
                    <a:p>
                      <a:r>
                        <a:rPr sz="2025" b="0">
                          <a:solidFill>
                            <a:srgbClr val="1C3144"/>
                          </a:solidFill>
                          <a:latin typeface="Calibri"/>
                          <a:ea typeface="Calibri"/>
                          <a:cs typeface="Calibri"/>
                        </a:rPr>
                        <a:t>48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F9B0A5A9-D6E4-4AD5-9208-9E4142C43E90}"/>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derived input must be available when predicting. A useful physical relationship still needs validation.</a:t>
            </a:r>
          </a:p>
        </p:txBody>
      </p:sp>
      <p:sp>
        <p:nvSpPr>
          <p:cNvPr id="6" name="">
            <a:extLst xmlns:a="http://schemas.openxmlformats.org/drawingml/2006/main">
              <a:ext uri="{FF2B5EF4-FFF2-40B4-BE49-F238E27FC236}">
                <a16:creationId xmlns:a16="http://schemas.microsoft.com/office/drawing/2014/main" id="{ADF91547-D59F-46AB-8FA4-8C4DCAD581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9</a:t>
            </a:r>
          </a:p>
        </p:txBody>
      </p:sp>
    </p:spTree>
    <p:extLst>
      <p:ext uri="{BB962C8B-B14F-4D97-AF65-F5344CB8AC3E}">
        <p14:creationId xmlns:p14="http://schemas.microsoft.com/office/powerpoint/2010/main" val="5685595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9E5F69A-61ED-4683-A561-7F6C5E3666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C704CA-2B5A-44B7-B725-1485979F23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B68ACF-ABCF-4E61-9093-FD00305B66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percentage and its fraction</a:t>
            </a:r>
          </a:p>
        </p:txBody>
      </p:sp>
      <p:sp>
        <p:nvSpPr>
          <p:cNvPr id="4" name="">
            <a:extLst xmlns:a="http://schemas.openxmlformats.org/drawingml/2006/main">
              <a:ext uri="{FF2B5EF4-FFF2-40B4-BE49-F238E27FC236}">
                <a16:creationId xmlns:a16="http://schemas.microsoft.com/office/drawing/2014/main" id="{A42D0013-4F0B-4F9F-8E2E-D78FA31176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CA2EEF-E5F9-4B70-9195-F04D1F26740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means 40 out of 100.</a:t>
            </a:r>
          </a:p>
        </p:txBody>
      </p:sp>
      <p:sp>
        <p:nvSpPr>
          <p:cNvPr id="6" name="">
            <a:extLst xmlns:a="http://schemas.openxmlformats.org/drawingml/2006/main">
              <a:ext uri="{FF2B5EF4-FFF2-40B4-BE49-F238E27FC236}">
                <a16:creationId xmlns:a16="http://schemas.microsoft.com/office/drawing/2014/main" id="{BBB20A78-7D84-49BA-BAC3-E5B6C26D063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BE35AE-B561-49F3-B1FD-7612A48FC70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40 / 100 gives 0.4.</a:t>
            </a:r>
          </a:p>
        </p:txBody>
      </p:sp>
      <p:sp>
        <p:nvSpPr>
          <p:cNvPr id="8" name="">
            <a:extLst xmlns:a="http://schemas.openxmlformats.org/drawingml/2006/main">
              <a:ext uri="{FF2B5EF4-FFF2-40B4-BE49-F238E27FC236}">
                <a16:creationId xmlns:a16="http://schemas.microsoft.com/office/drawing/2014/main" id="{DF039B25-5436-4DB5-A65D-4B625C1A33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284365-C907-441E-BF15-7DA54E2A288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changes the representation. It adds no new observation.</a:t>
            </a:r>
          </a:p>
        </p:txBody>
      </p:sp>
      <p:sp>
        <p:nvSpPr>
          <p:cNvPr id="10" name="">
            <a:extLst xmlns:a="http://schemas.openxmlformats.org/drawingml/2006/main">
              <a:ext uri="{FF2B5EF4-FFF2-40B4-BE49-F238E27FC236}">
                <a16:creationId xmlns:a16="http://schemas.microsoft.com/office/drawing/2014/main" id="{71317C8B-5B72-40EA-A950-71603BE27A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10</a:t>
            </a:r>
          </a:p>
        </p:txBody>
      </p:sp>
    </p:spTree>
    <p:extLst>
      <p:ext uri="{BB962C8B-B14F-4D97-AF65-F5344CB8AC3E}">
        <p14:creationId xmlns:p14="http://schemas.microsoft.com/office/powerpoint/2010/main" val="8935642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489F4EE-A3B4-4DC9-82B5-EA8743D83F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2C09AE-B053-4B48-B8BD-69F0551ECB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56D4BE-DE0E-4913-B5A7-393F47C428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combined input needs a reason</a:t>
            </a:r>
          </a:p>
        </p:txBody>
      </p:sp>
      <p:sp>
        <p:nvSpPr>
          <p:cNvPr id="4" name="">
            <a:extLst xmlns:a="http://schemas.openxmlformats.org/drawingml/2006/main">
              <a:ext uri="{FF2B5EF4-FFF2-40B4-BE49-F238E27FC236}">
                <a16:creationId xmlns:a16="http://schemas.microsoft.com/office/drawing/2014/main" id="{29829AA8-B136-4357-91E7-85C88F5D1C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024E34-FEE3-4718-BDF0-52E47AACD4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multiplies two inputs.</a:t>
            </a:r>
          </a:p>
        </p:txBody>
      </p:sp>
      <p:sp>
        <p:nvSpPr>
          <p:cNvPr id="6" name="">
            <a:extLst xmlns:a="http://schemas.openxmlformats.org/drawingml/2006/main">
              <a:ext uri="{FF2B5EF4-FFF2-40B4-BE49-F238E27FC236}">
                <a16:creationId xmlns:a16="http://schemas.microsoft.com/office/drawing/2014/main" id="{B7666E2F-C5AC-4A99-AE2B-ACA2D4677E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7649EE-1F85-4223-A68A-51196C6233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may help a simple model represent a joint pattern.</a:t>
            </a:r>
          </a:p>
        </p:txBody>
      </p:sp>
      <p:sp>
        <p:nvSpPr>
          <p:cNvPr id="8" name="">
            <a:extLst xmlns:a="http://schemas.openxmlformats.org/drawingml/2006/main">
              <a:ext uri="{FF2B5EF4-FFF2-40B4-BE49-F238E27FC236}">
                <a16:creationId xmlns:a16="http://schemas.microsoft.com/office/drawing/2014/main" id="{D7C0BB9F-8BDB-450C-AD29-5DB075DA22F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B338E6-47D4-4C18-AA3D-F085A761824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interaction with degrees Celsius is an empirical feature, not automatically a physical law.</a:t>
            </a:r>
          </a:p>
        </p:txBody>
      </p:sp>
      <p:sp>
        <p:nvSpPr>
          <p:cNvPr id="10" name="">
            <a:extLst xmlns:a="http://schemas.openxmlformats.org/drawingml/2006/main">
              <a:ext uri="{FF2B5EF4-FFF2-40B4-BE49-F238E27FC236}">
                <a16:creationId xmlns:a16="http://schemas.microsoft.com/office/drawing/2014/main" id="{618FA5DA-28E7-41B6-85CC-F5DEFE8AB3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11</a:t>
            </a:r>
          </a:p>
        </p:txBody>
      </p:sp>
    </p:spTree>
    <p:extLst>
      <p:ext uri="{BB962C8B-B14F-4D97-AF65-F5344CB8AC3E}">
        <p14:creationId xmlns:p14="http://schemas.microsoft.com/office/powerpoint/2010/main" val="26503455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1050F0-FF6D-442E-93A4-4ED36E51C1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0B0C72-1AB4-49DF-82F5-A8F5EAFC55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6B398C6-D798-4F41-8E94-61BEB0D772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BCD2F20E-9A65-4CD3-B138-C127F45C9A2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1B00218-186A-44F7-AA64-EBC93605444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Ablation</a:t>
            </a:r>
          </a:p>
        </p:txBody>
      </p:sp>
      <p:sp>
        <p:nvSpPr>
          <p:cNvPr id="6" name="">
            <a:extLst xmlns:a="http://schemas.openxmlformats.org/drawingml/2006/main">
              <a:ext uri="{FF2B5EF4-FFF2-40B4-BE49-F238E27FC236}">
                <a16:creationId xmlns:a16="http://schemas.microsoft.com/office/drawing/2014/main" id="{EAC778C0-C0F1-4740-B59D-B86BF2DFDE4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Compare a model with and without a feature while keeping the data partitions, model family and metric fixed.</a:t>
            </a:r>
          </a:p>
        </p:txBody>
      </p:sp>
      <p:sp>
        <p:nvSpPr>
          <p:cNvPr id="7" name="">
            <a:extLst xmlns:a="http://schemas.openxmlformats.org/drawingml/2006/main">
              <a:ext uri="{FF2B5EF4-FFF2-40B4-BE49-F238E27FC236}">
                <a16:creationId xmlns:a16="http://schemas.microsoft.com/office/drawing/2014/main" id="{65F87BBE-6D24-4ABB-9D01-D10358F252E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6FA8335-8160-4E82-AE1F-35E69A84349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Improvement</a:t>
            </a:r>
          </a:p>
        </p:txBody>
      </p:sp>
      <p:sp>
        <p:nvSpPr>
          <p:cNvPr id="9" name="">
            <a:extLst xmlns:a="http://schemas.openxmlformats.org/drawingml/2006/main">
              <a:ext uri="{FF2B5EF4-FFF2-40B4-BE49-F238E27FC236}">
                <a16:creationId xmlns:a16="http://schemas.microsoft.com/office/drawing/2014/main" id="{BAB5C911-C22F-4784-956C-CD56B7494BF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an error metric, baseline error minus new error. A negative result means the added feature worsened validation error in that comparison.</a:t>
            </a:r>
          </a:p>
        </p:txBody>
      </p:sp>
      <p:sp>
        <p:nvSpPr>
          <p:cNvPr id="10" name="">
            <a:extLst xmlns:a="http://schemas.openxmlformats.org/drawingml/2006/main">
              <a:ext uri="{FF2B5EF4-FFF2-40B4-BE49-F238E27FC236}">
                <a16:creationId xmlns:a16="http://schemas.microsoft.com/office/drawing/2014/main" id="{35D47978-A2B8-40F2-8BC7-2FBA5B9B3D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12</a:t>
            </a:r>
          </a:p>
        </p:txBody>
      </p:sp>
    </p:spTree>
    <p:extLst>
      <p:ext uri="{BB962C8B-B14F-4D97-AF65-F5344CB8AC3E}">
        <p14:creationId xmlns:p14="http://schemas.microsoft.com/office/powerpoint/2010/main" val="15999961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CCBFAC-204A-441F-9EE0-B74D77C173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DDED28-2297-48AE-959F-8B1F9B5377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D4381F-CF20-4119-9D31-2EDFEA7A46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change makes a comparison interpretable</a:t>
            </a:r>
          </a:p>
        </p:txBody>
      </p:sp>
      <p:sp>
        <p:nvSpPr>
          <p:cNvPr id="4" name="">
            <a:extLst xmlns:a="http://schemas.openxmlformats.org/drawingml/2006/main">
              <a:ext uri="{FF2B5EF4-FFF2-40B4-BE49-F238E27FC236}">
                <a16:creationId xmlns:a16="http://schemas.microsoft.com/office/drawing/2014/main" id="{A7889567-CF08-42C2-B392-22C954CA73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037BEF-F47E-4915-8064-FE643BD173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 MAE is 3.0. Extended MAE is 2.5.</a:t>
            </a:r>
          </a:p>
        </p:txBody>
      </p:sp>
      <p:sp>
        <p:nvSpPr>
          <p:cNvPr id="6" name="">
            <a:extLst xmlns:a="http://schemas.openxmlformats.org/drawingml/2006/main">
              <a:ext uri="{FF2B5EF4-FFF2-40B4-BE49-F238E27FC236}">
                <a16:creationId xmlns:a16="http://schemas.microsoft.com/office/drawing/2014/main" id="{9DB474EE-F770-421D-977D-9BE38BAFF8A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5B3DB6-705F-4D66-BB24-2D92A569D7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Improvement = base error minus extended error = 0.5.</a:t>
            </a:r>
          </a:p>
        </p:txBody>
      </p:sp>
      <p:sp>
        <p:nvSpPr>
          <p:cNvPr id="8" name="">
            <a:extLst xmlns:a="http://schemas.openxmlformats.org/drawingml/2006/main">
              <a:ext uri="{FF2B5EF4-FFF2-40B4-BE49-F238E27FC236}">
                <a16:creationId xmlns:a16="http://schemas.microsoft.com/office/drawing/2014/main" id="{5E1049C0-4753-4BD1-AB66-9D65297A14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676D47-8322-443E-AEE2-E867906B005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training rows, validation rows, model family and metric fixed.</a:t>
            </a:r>
          </a:p>
        </p:txBody>
      </p:sp>
      <p:sp>
        <p:nvSpPr>
          <p:cNvPr id="10" name="">
            <a:extLst xmlns:a="http://schemas.openxmlformats.org/drawingml/2006/main">
              <a:ext uri="{FF2B5EF4-FFF2-40B4-BE49-F238E27FC236}">
                <a16:creationId xmlns:a16="http://schemas.microsoft.com/office/drawing/2014/main" id="{72F7BC38-7908-4C32-8602-E6F9D9F701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13</a:t>
            </a:r>
          </a:p>
        </p:txBody>
      </p:sp>
    </p:spTree>
    <p:extLst>
      <p:ext uri="{BB962C8B-B14F-4D97-AF65-F5344CB8AC3E}">
        <p14:creationId xmlns:p14="http://schemas.microsoft.com/office/powerpoint/2010/main" val="12669120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415047-4BC8-412A-BDFC-C642C16B5B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DAFB35-EEAE-44EF-9749-B51F1A9D43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B249D5-EB1B-461A-BE48-0005CCF4E6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47A6F8A1-052C-4865-815E-7D2D09FA9DD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A1A6CA8-566F-46B4-94B0-94A59BB2957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load_pct = 40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ambient_c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load_fraction = load_pct / 100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interaction = load_pct * ambient_c</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print(load_fraction, interaction)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base_mae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extended_mae =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print(base_mae - extended_mae)</a:t>
            </a:r>
          </a:p>
        </p:txBody>
      </p:sp>
      <p:sp>
        <p:nvSpPr>
          <p:cNvPr id="6" name="">
            <a:extLst xmlns:a="http://schemas.openxmlformats.org/drawingml/2006/main">
              <a:ext uri="{FF2B5EF4-FFF2-40B4-BE49-F238E27FC236}">
                <a16:creationId xmlns:a16="http://schemas.microsoft.com/office/drawing/2014/main" id="{3AB65BC6-0718-4155-9B28-233D9D97507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A5B2444-8224-4C01-99B8-017CBA72A52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04F06D19-6223-4FD2-9455-83F489CBDA3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D4A0BB10-205E-4BF0-932D-E0C6A7428BD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0" name="">
            <a:extLst xmlns:a="http://schemas.openxmlformats.org/drawingml/2006/main">
              <a:ext uri="{FF2B5EF4-FFF2-40B4-BE49-F238E27FC236}">
                <a16:creationId xmlns:a16="http://schemas.microsoft.com/office/drawing/2014/main" id="{9405FBE6-95CB-433C-8964-561F58BBA8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14</a:t>
            </a:r>
          </a:p>
        </p:txBody>
      </p:sp>
    </p:spTree>
    <p:extLst>
      <p:ext uri="{BB962C8B-B14F-4D97-AF65-F5344CB8AC3E}">
        <p14:creationId xmlns:p14="http://schemas.microsoft.com/office/powerpoint/2010/main" val="13430854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CCC6ED4-0622-4E5A-BA1E-D31BADB07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058A3A-81DD-4F70-8648-D03BB06C64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B8D99CF-377C-49F3-9D1C-29BCB63FC4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16AAF3D7-F0F6-4E79-99C0-D51E7050893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75B3D7-F6EC-4852-AD8E-E42CB3A24E9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0.4 1000</a:t>
            </a:r>
          </a:p>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0.5</a:t>
            </a:r>
          </a:p>
        </p:txBody>
      </p:sp>
      <p:sp>
        <p:nvSpPr>
          <p:cNvPr id="6" name="">
            <a:extLst xmlns:a="http://schemas.openxmlformats.org/drawingml/2006/main">
              <a:ext uri="{FF2B5EF4-FFF2-40B4-BE49-F238E27FC236}">
                <a16:creationId xmlns:a16="http://schemas.microsoft.com/office/drawing/2014/main" id="{6A8091FC-855F-409B-BE2A-086825C2151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53A9861-8D22-489F-B58A-924C86CB12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15</a:t>
            </a:r>
          </a:p>
        </p:txBody>
      </p:sp>
    </p:spTree>
    <p:extLst>
      <p:ext uri="{BB962C8B-B14F-4D97-AF65-F5344CB8AC3E}">
        <p14:creationId xmlns:p14="http://schemas.microsoft.com/office/powerpoint/2010/main" val="13134560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D6D0BD-EF22-48FB-9FD9-438FEEDBBE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95369F-5972-4CBA-A844-EBF98B2F2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AE6D937-7AC7-451B-8EA2-EED43A74AB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two-model experiment</a:t>
            </a:r>
          </a:p>
        </p:txBody>
      </p:sp>
      <p:sp>
        <p:nvSpPr>
          <p:cNvPr id="4" name="">
            <a:extLst xmlns:a="http://schemas.openxmlformats.org/drawingml/2006/main">
              <a:ext uri="{FF2B5EF4-FFF2-40B4-BE49-F238E27FC236}">
                <a16:creationId xmlns:a16="http://schemas.microsoft.com/office/drawing/2014/main" id="{4DF9AD47-93AD-4C0E-A219-F4179ED8432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096680-3762-4579-9600-AE92D88AAE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a pair of inputs. for a, b in rows assigns the first entry to a and the second to b, then repeats the block.</a:t>
            </a:r>
          </a:p>
        </p:txBody>
      </p:sp>
      <p:sp>
        <p:nvSpPr>
          <p:cNvPr id="6" name="">
            <a:extLst xmlns:a="http://schemas.openxmlformats.org/drawingml/2006/main">
              <a:ext uri="{FF2B5EF4-FFF2-40B4-BE49-F238E27FC236}">
                <a16:creationId xmlns:a16="http://schemas.microsoft.com/office/drawing/2014/main" id="{5A977BB1-C25E-4703-A3C4-A9D59D91BC5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DC03DC-6E8C-4848-BC56-78720D48E9B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with_interaction returns a new table containing a, b and a × b. Both models keep the same training and validation rows.</a:t>
            </a:r>
          </a:p>
        </p:txBody>
      </p:sp>
      <p:sp>
        <p:nvSpPr>
          <p:cNvPr id="8" name="">
            <a:extLst xmlns:a="http://schemas.openxmlformats.org/drawingml/2006/main">
              <a:ext uri="{FF2B5EF4-FFF2-40B4-BE49-F238E27FC236}">
                <a16:creationId xmlns:a16="http://schemas.microsoft.com/office/drawing/2014/main" id="{B2E67524-4AC0-488F-A5C5-9FAAE0FBE80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B8A09D-E62E-4C58-B629-2463C32E774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returns the fitted model object, so creating and fitting can appear in one expression. round(value, 6) rounds a displayed number to six decimal places.</a:t>
            </a:r>
          </a:p>
        </p:txBody>
      </p:sp>
      <p:sp>
        <p:nvSpPr>
          <p:cNvPr id="10" name="">
            <a:extLst xmlns:a="http://schemas.openxmlformats.org/drawingml/2006/main">
              <a:ext uri="{FF2B5EF4-FFF2-40B4-BE49-F238E27FC236}">
                <a16:creationId xmlns:a16="http://schemas.microsoft.com/office/drawing/2014/main" id="{75CE6449-0F1F-475E-AA03-55BAC3F04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16</a:t>
            </a:r>
          </a:p>
        </p:txBody>
      </p:sp>
    </p:spTree>
    <p:extLst>
      <p:ext uri="{BB962C8B-B14F-4D97-AF65-F5344CB8AC3E}">
        <p14:creationId xmlns:p14="http://schemas.microsoft.com/office/powerpoint/2010/main" val="207588577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926D249-1BDF-40C0-8415-21636D0412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B01FEA-AA9D-495A-884D-7B109C635A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CA702D-258F-4A10-80A6-67A48C91AF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a:t>
            </a:r>
          </a:p>
        </p:txBody>
      </p:sp>
      <p:sp>
        <p:nvSpPr>
          <p:cNvPr id="4" name="">
            <a:extLst xmlns:a="http://schemas.openxmlformats.org/drawingml/2006/main">
              <a:ext uri="{FF2B5EF4-FFF2-40B4-BE49-F238E27FC236}">
                <a16:creationId xmlns:a16="http://schemas.microsoft.com/office/drawing/2014/main" id="{EA4B4C4E-10A1-44D9-BDC0-6B9896D627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87D503-7A42-4C17-9961-F3B7D084FA6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this complete practice experiment in a fresh session.</a:t>
            </a:r>
          </a:p>
        </p:txBody>
      </p:sp>
      <p:sp>
        <p:nvSpPr>
          <p:cNvPr id="6" name="">
            <a:extLst xmlns:a="http://schemas.openxmlformats.org/drawingml/2006/main">
              <a:ext uri="{FF2B5EF4-FFF2-40B4-BE49-F238E27FC236}">
                <a16:creationId xmlns:a16="http://schemas.microsoft.com/office/drawing/2014/main" id="{D06A0CB9-1645-41E0-9F17-16D9C7E4BE0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FFDF53F-FBD1-49BF-ACC9-6903ADBEFA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models use the same rows and targets; the second receives one additional input.</a:t>
            </a:r>
          </a:p>
        </p:txBody>
      </p:sp>
      <p:sp>
        <p:nvSpPr>
          <p:cNvPr id="8" name="">
            <a:extLst xmlns:a="http://schemas.openxmlformats.org/drawingml/2006/main">
              <a:ext uri="{FF2B5EF4-FFF2-40B4-BE49-F238E27FC236}">
                <a16:creationId xmlns:a16="http://schemas.microsoft.com/office/drawing/2014/main" id="{742FBD4F-39FE-475D-90F1-3A34A91BE7D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637EA80-7D78-40FB-A1AC-3845EDB71E0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column before fitting.</a:t>
            </a:r>
          </a:p>
        </p:txBody>
      </p:sp>
      <p:sp>
        <p:nvSpPr>
          <p:cNvPr id="10" name="">
            <a:extLst xmlns:a="http://schemas.openxmlformats.org/drawingml/2006/main">
              <a:ext uri="{FF2B5EF4-FFF2-40B4-BE49-F238E27FC236}">
                <a16:creationId xmlns:a16="http://schemas.microsoft.com/office/drawing/2014/main" id="{8E9AD107-D9E0-4060-95A2-8BE36BDE015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B870A25-6593-4DAF-969D-3C9EDB87DBE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invented experiment illustrates procedure, not a measured engineering benefit.</a:t>
            </a:r>
          </a:p>
        </p:txBody>
      </p:sp>
      <p:sp>
        <p:nvSpPr>
          <p:cNvPr id="12" name="">
            <a:extLst xmlns:a="http://schemas.openxmlformats.org/drawingml/2006/main">
              <a:ext uri="{FF2B5EF4-FFF2-40B4-BE49-F238E27FC236}">
                <a16:creationId xmlns:a16="http://schemas.microsoft.com/office/drawing/2014/main" id="{867A2786-1036-4F3F-9A5F-AFEBBAF086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17</a:t>
            </a:r>
          </a:p>
        </p:txBody>
      </p:sp>
    </p:spTree>
    <p:extLst>
      <p:ext uri="{BB962C8B-B14F-4D97-AF65-F5344CB8AC3E}">
        <p14:creationId xmlns:p14="http://schemas.microsoft.com/office/powerpoint/2010/main" val="7803632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DFBB5-6B95-4FF4-9768-48AE56B59C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4EF380-187B-4F14-A579-3B647BA7EC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662250-11E4-4A83-88B1-1600CA3368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(1/3)</a:t>
            </a:r>
          </a:p>
        </p:txBody>
      </p:sp>
      <p:sp>
        <p:nvSpPr>
          <p:cNvPr id="4" name="">
            <a:extLst xmlns:a="http://schemas.openxmlformats.org/drawingml/2006/main">
              <a:ext uri="{FF2B5EF4-FFF2-40B4-BE49-F238E27FC236}">
                <a16:creationId xmlns:a16="http://schemas.microsoft.com/office/drawing/2014/main" id="{7EEFFB81-9D9F-436C-BD62-7E10F8F6DC6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878704-7C77-41D1-A6C9-C44CA1218B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sklearn.metrics import mean_absolute_error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 = [[1, 2], [2, 3], [3, 2], [4, 4], [5,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[3, 5, 5, 8,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validation = [[2, 2], [3,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truth = [4, 6]</a:t>
            </a:r>
          </a:p>
        </p:txBody>
      </p:sp>
      <p:sp>
        <p:nvSpPr>
          <p:cNvPr id="6" name="">
            <a:extLst xmlns:a="http://schemas.openxmlformats.org/drawingml/2006/main">
              <a:ext uri="{FF2B5EF4-FFF2-40B4-BE49-F238E27FC236}">
                <a16:creationId xmlns:a16="http://schemas.microsoft.com/office/drawing/2014/main" id="{63920094-6E81-4175-BF99-E5C54786CC8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2384B63C-CD9F-44B5-AD2C-0BFF53B2B5F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C1F044E5-7DDF-4B0F-8EBA-61E5CBB3EF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18</a:t>
            </a:r>
          </a:p>
        </p:txBody>
      </p:sp>
    </p:spTree>
    <p:extLst>
      <p:ext uri="{BB962C8B-B14F-4D97-AF65-F5344CB8AC3E}">
        <p14:creationId xmlns:p14="http://schemas.microsoft.com/office/powerpoint/2010/main" val="206640307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8801934-8664-42D5-A50A-CB3CE130F0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313CA4-DB9A-4459-8014-54BBF6BAFF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894CB8-2294-4BD1-BAF6-3E9C8E1F8B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(2/3)</a:t>
            </a:r>
          </a:p>
        </p:txBody>
      </p:sp>
      <p:sp>
        <p:nvSpPr>
          <p:cNvPr id="4" name="">
            <a:extLst xmlns:a="http://schemas.openxmlformats.org/drawingml/2006/main">
              <a:ext uri="{FF2B5EF4-FFF2-40B4-BE49-F238E27FC236}">
                <a16:creationId xmlns:a16="http://schemas.microsoft.com/office/drawing/2014/main" id="{1588C890-333A-4409-BDC3-FE81490AA57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B3D8F9-F418-43AF-B18C-2284166261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FB080"/>
                </a:solidFill>
                <a:latin typeface="Courier New"/>
                <a:ea typeface="Courier New"/>
                <a:cs typeface="Courier New"/>
              </a:rPr>
              <a:t>def</a:t>
            </a:r>
            <a:r>
              <a:rPr sz="2102" b="0">
                <a:solidFill>
                  <a:srgbClr val="F4F7FA"/>
                </a:solidFill>
                <a:latin typeface="Courier New"/>
                <a:ea typeface="Courier New"/>
                <a:cs typeface="Courier New"/>
              </a:rPr>
              <a:t> with_interaction(rows):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 = []</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for</a:t>
            </a:r>
            <a:r>
              <a:rPr sz="2102" b="0">
                <a:solidFill>
                  <a:srgbClr val="F4F7FA"/>
                </a:solidFill>
                <a:latin typeface="Courier New"/>
                <a:ea typeface="Courier New"/>
                <a:cs typeface="Courier New"/>
              </a:rPr>
              <a:t> a, b in rows:</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result.append([a, b, a * b])</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    </a:t>
            </a:r>
            <a:r>
              <a:rPr sz="2102" b="0">
                <a:solidFill>
                  <a:srgbClr val="FFB080"/>
                </a:solidFill>
                <a:latin typeface="Courier New"/>
                <a:ea typeface="Courier New"/>
                <a:cs typeface="Courier New"/>
              </a:rPr>
              <a:t>return</a:t>
            </a:r>
            <a:r>
              <a:rPr sz="2102" b="0">
                <a:solidFill>
                  <a:srgbClr val="F4F7FA"/>
                </a:solidFill>
                <a:latin typeface="Courier New"/>
                <a:ea typeface="Courier New"/>
                <a:cs typeface="Courier New"/>
              </a:rPr>
              <a:t> result</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 = LinearRegression().fit(train,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extended = LinearRegression().fit(with_interaction(train), y)</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base_predictions = base.predict(validation)</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base_error = mean_absolute_error(truth, base_predictions)</a:t>
            </a:r>
          </a:p>
        </p:txBody>
      </p:sp>
      <p:sp>
        <p:nvSpPr>
          <p:cNvPr id="6" name="">
            <a:extLst xmlns:a="http://schemas.openxmlformats.org/drawingml/2006/main">
              <a:ext uri="{FF2B5EF4-FFF2-40B4-BE49-F238E27FC236}">
                <a16:creationId xmlns:a16="http://schemas.microsoft.com/office/drawing/2014/main" id="{A5122023-7540-4E12-9BD2-4D50D902470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A18F9609-B972-4B5F-B918-D3053981C07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761DAA2-2DEE-4804-9C3A-FAE716BAD9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19</a:t>
            </a:r>
          </a:p>
        </p:txBody>
      </p:sp>
    </p:spTree>
    <p:extLst>
      <p:ext uri="{BB962C8B-B14F-4D97-AF65-F5344CB8AC3E}">
        <p14:creationId xmlns:p14="http://schemas.microsoft.com/office/powerpoint/2010/main" val="19900367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E6D82E-8705-41DA-9185-A0AED04CDC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71C252-6029-4DB6-A5E8-9A84E849F9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9F42C07-7930-41A7-A4BA-F7199C92F5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models under one protocol in Python (3/3)</a:t>
            </a:r>
          </a:p>
        </p:txBody>
      </p:sp>
      <p:sp>
        <p:nvSpPr>
          <p:cNvPr id="4" name="">
            <a:extLst xmlns:a="http://schemas.openxmlformats.org/drawingml/2006/main">
              <a:ext uri="{FF2B5EF4-FFF2-40B4-BE49-F238E27FC236}">
                <a16:creationId xmlns:a16="http://schemas.microsoft.com/office/drawing/2014/main" id="{110334C7-2456-4265-A222-7452022D18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FDE1A3-9110-42C5-A862-6A622D80779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print(round(base_error, 6))</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validation_features = with_interaction(validation)</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extended_predictions = extended.predict(validation_features)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error = mean_absolute_error(truth, extended_predictions)</a:t>
            </a:r>
          </a:p>
          <a:p xmlns:a="http://schemas.openxmlformats.org/drawingml/2006/main">
            <a:pPr>
              <a:defRPr sz="2137" b="0">
                <a:solidFill>
                  <a:srgbClr val="F4F7FA"/>
                </a:solidFill>
                <a:latin typeface="Courier New"/>
                <a:ea typeface="Courier New"/>
                <a:cs typeface="Courier New"/>
              </a:defRPr>
            </a:pPr>
            <a:r>
              <a:rPr sz="2137" b="0">
                <a:solidFill>
                  <a:srgbClr val="F4F7FA"/>
                </a:solidFill>
                <a:latin typeface="Courier New"/>
                <a:ea typeface="Courier New"/>
                <a:cs typeface="Courier New"/>
              </a:rPr>
              <a:t>print(round(error, 6))</a:t>
            </a:r>
          </a:p>
        </p:txBody>
      </p:sp>
      <p:sp>
        <p:nvSpPr>
          <p:cNvPr id="6" name="">
            <a:extLst xmlns:a="http://schemas.openxmlformats.org/drawingml/2006/main">
              <a:ext uri="{FF2B5EF4-FFF2-40B4-BE49-F238E27FC236}">
                <a16:creationId xmlns:a16="http://schemas.microsoft.com/office/drawing/2014/main" id="{F9F94D6D-4EBE-4BF8-88BA-7A467F1EBF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8BD7151C-C8AD-41BB-ABC6-4E6E627727E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5039E82E-FA0B-48BD-B276-486237831C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20</a:t>
            </a:r>
          </a:p>
        </p:txBody>
      </p:sp>
    </p:spTree>
    <p:extLst>
      <p:ext uri="{BB962C8B-B14F-4D97-AF65-F5344CB8AC3E}">
        <p14:creationId xmlns:p14="http://schemas.microsoft.com/office/powerpoint/2010/main" val="209501795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AE78E6-D13D-4B71-A162-7622D0ABA9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F6ABB0-6F36-4D6E-B6DE-38DF46E7B7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D779D3F-20DF-4884-ADB5-0BE7C73B80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7BA999F-E91A-4EE9-A8FF-3873DF95822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487035-5456-4C94-AE9C-60AC87FED4F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Encoding</a:t>
            </a:r>
          </a:p>
        </p:txBody>
      </p:sp>
      <p:sp>
        <p:nvSpPr>
          <p:cNvPr id="6" name="">
            <a:extLst xmlns:a="http://schemas.openxmlformats.org/drawingml/2006/main">
              <a:ext uri="{FF2B5EF4-FFF2-40B4-BE49-F238E27FC236}">
                <a16:creationId xmlns:a16="http://schemas.microsoft.com/office/drawing/2014/main" id="{138F5192-D65C-4A7A-8AA5-80B3BFD5827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Representing a category numerically. One-hot uses separate indicator columns. Arbitrary integer labels can falsely suggest an order.</a:t>
            </a:r>
          </a:p>
        </p:txBody>
      </p:sp>
      <p:sp>
        <p:nvSpPr>
          <p:cNvPr id="7" name="">
            <a:extLst xmlns:a="http://schemas.openxmlformats.org/drawingml/2006/main">
              <a:ext uri="{FF2B5EF4-FFF2-40B4-BE49-F238E27FC236}">
                <a16:creationId xmlns:a16="http://schemas.microsoft.com/office/drawing/2014/main" id="{3FBB7070-8DE1-45F9-8505-DC1B5828DF5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55E5C84-DBBF-4325-9B4B-1C136E1194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Scaling</a:t>
            </a:r>
          </a:p>
        </p:txBody>
      </p:sp>
      <p:sp>
        <p:nvSpPr>
          <p:cNvPr id="9" name="">
            <a:extLst xmlns:a="http://schemas.openxmlformats.org/drawingml/2006/main">
              <a:ext uri="{FF2B5EF4-FFF2-40B4-BE49-F238E27FC236}">
                <a16:creationId xmlns:a16="http://schemas.microsoft.com/office/drawing/2014/main" id="{E2347C3A-62FA-4BD2-9DBB-3193D287F3B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Changing the numerical scale of features. Fit learned scaling on training data only. It matters for distance-based models but is not required by ordinary decision trees.</a:t>
            </a:r>
          </a:p>
        </p:txBody>
      </p:sp>
      <p:sp>
        <p:nvSpPr>
          <p:cNvPr id="10" name="">
            <a:extLst xmlns:a="http://schemas.openxmlformats.org/drawingml/2006/main">
              <a:ext uri="{FF2B5EF4-FFF2-40B4-BE49-F238E27FC236}">
                <a16:creationId xmlns:a16="http://schemas.microsoft.com/office/drawing/2014/main" id="{87EDC6A4-3BED-45E4-9A2F-F5D921F66D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21</a:t>
            </a:r>
          </a:p>
        </p:txBody>
      </p:sp>
    </p:spTree>
    <p:extLst>
      <p:ext uri="{BB962C8B-B14F-4D97-AF65-F5344CB8AC3E}">
        <p14:creationId xmlns:p14="http://schemas.microsoft.com/office/powerpoint/2010/main" val="17625548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8EB5F77-6F40-4671-B591-3F27EE6FBF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4E29F4-BAE5-4614-8BE4-A6C8A47E7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049DAC2B-0C49-4264-801D-84C7885211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feature reviewer</a:t>
            </a:r>
          </a:p>
        </p:txBody>
      </p:sp>
      <p:sp>
        <p:nvSpPr>
          <p:cNvPr id="4" name="">
            <a:extLst xmlns:a="http://schemas.openxmlformats.org/drawingml/2006/main">
              <a:ext uri="{FF2B5EF4-FFF2-40B4-BE49-F238E27FC236}">
                <a16:creationId xmlns:a16="http://schemas.microsoft.com/office/drawing/2014/main" id="{86E26A09-E851-45E2-9144-0E5F4D3E76E2}"/>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0A1213-5BBC-425E-BFF5-34D1EFA55D8A}"/>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base error 3.0 and extended error 2.5.</a:t>
            </a:r>
          </a:p>
        </p:txBody>
      </p:sp>
      <p:sp>
        <p:nvSpPr>
          <p:cNvPr id="6" name="">
            <a:extLst xmlns:a="http://schemas.openxmlformats.org/drawingml/2006/main">
              <a:ext uri="{FF2B5EF4-FFF2-40B4-BE49-F238E27FC236}">
                <a16:creationId xmlns:a16="http://schemas.microsoft.com/office/drawing/2014/main" id="{7C017C12-2BEF-425B-AB7C-C699D4482CC0}"/>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121AD55-BF75-4A2E-9D1F-CA171126B8A3}"/>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base minus extended, using the same target unit.</a:t>
            </a:r>
          </a:p>
        </p:txBody>
      </p:sp>
      <p:sp>
        <p:nvSpPr>
          <p:cNvPr id="8" name="">
            <a:extLst xmlns:a="http://schemas.openxmlformats.org/drawingml/2006/main">
              <a:ext uri="{FF2B5EF4-FFF2-40B4-BE49-F238E27FC236}">
                <a16:creationId xmlns:a16="http://schemas.microsoft.com/office/drawing/2014/main" id="{BDA3EE01-F994-474B-898F-B2BA29E234DF}"/>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F9E6D4-F604-42B2-BC37-086A93CA287B}"/>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Change only extended error to 3.4. Does the conclusion stay the same?</a:t>
            </a:r>
          </a:p>
        </p:txBody>
      </p:sp>
      <p:sp>
        <p:nvSpPr>
          <p:cNvPr id="10" name="">
            <a:extLst xmlns:a="http://schemas.openxmlformats.org/drawingml/2006/main">
              <a:ext uri="{FF2B5EF4-FFF2-40B4-BE49-F238E27FC236}">
                <a16:creationId xmlns:a16="http://schemas.microsoft.com/office/drawing/2014/main" id="{1C7F8BE4-D9D2-472B-BECC-45BC9A6C82C8}"/>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12CAE6F-4261-42FB-82AE-B9DAB9CECE13}"/>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2047787C-9FAD-47CA-BE0F-E1E629522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22</a:t>
            </a:r>
          </a:p>
        </p:txBody>
      </p:sp>
    </p:spTree>
    <p:extLst>
      <p:ext uri="{BB962C8B-B14F-4D97-AF65-F5344CB8AC3E}">
        <p14:creationId xmlns:p14="http://schemas.microsoft.com/office/powerpoint/2010/main" val="35916333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01114D8-31E5-407A-A74D-5A7D05B376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1B4AA1-6141-4081-91A1-BE2E87E76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748DC063-0F07-4C68-B281-280ABFC372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C0968D34-095F-480E-9A6A-4BFAB9FF3DA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FF1734-3447-4EB4-9B4C-0BA6BB5C830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Improvement changes from +0.5 to -0.4. The second comparison does not support retaining the feature.</a:t>
            </a:r>
          </a:p>
        </p:txBody>
      </p:sp>
      <p:sp>
        <p:nvSpPr>
          <p:cNvPr id="6" name="">
            <a:extLst xmlns:a="http://schemas.openxmlformats.org/drawingml/2006/main">
              <a:ext uri="{FF2B5EF4-FFF2-40B4-BE49-F238E27FC236}">
                <a16:creationId xmlns:a16="http://schemas.microsoft.com/office/drawing/2014/main" id="{B73D7B94-A522-4953-B50C-8E996088506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4E671873-8E53-47D1-A4DE-7286684AC3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23</a:t>
            </a:r>
          </a:p>
        </p:txBody>
      </p:sp>
    </p:spTree>
    <p:extLst>
      <p:ext uri="{BB962C8B-B14F-4D97-AF65-F5344CB8AC3E}">
        <p14:creationId xmlns:p14="http://schemas.microsoft.com/office/powerpoint/2010/main" val="2096689093"/>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8CCB53-3353-420B-A064-8D99494BAB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20F65C5-AB9B-46E4-BC57-7E8B0B6791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19383728-DE44-4D9E-85B2-ACAD40A60BB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E116DC0-E823-4AB6-BFC0-1EC150B3417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If the extended error becomes 3.4, calculate improvement and decide whether this evidence supports retaining the feature.</a:t>
            </a:r>
          </a:p>
        </p:txBody>
      </p:sp>
      <p:sp>
        <p:nvSpPr>
          <p:cNvPr id="5" name="">
            <a:extLst xmlns:a="http://schemas.openxmlformats.org/drawingml/2006/main">
              <a:ext uri="{FF2B5EF4-FFF2-40B4-BE49-F238E27FC236}">
                <a16:creationId xmlns:a16="http://schemas.microsoft.com/office/drawing/2014/main" id="{6595C0A6-F569-4A9C-A9FA-34155BAD2EA1}"/>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D51D927D-7C24-4647-ADC3-48E861DA1E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24</a:t>
            </a:r>
          </a:p>
        </p:txBody>
      </p:sp>
    </p:spTree>
    <p:extLst>
      <p:ext uri="{BB962C8B-B14F-4D97-AF65-F5344CB8AC3E}">
        <p14:creationId xmlns:p14="http://schemas.microsoft.com/office/powerpoint/2010/main" val="174338102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A43943-DC59-4879-B9C2-7AA1C399A9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2578C-23C4-45AE-AF29-3B02B4251F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E81CAF18-E6A1-45E5-BAE0-7C85E37858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C0CDFDBC-EFAB-4837-B9EC-3710E8537AA9}"/>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3705FF-4BCD-49AE-AF11-4E339C186C8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2E7D6F"/>
                </a:solidFill>
                <a:latin typeface="Calibri"/>
                <a:ea typeface="Calibri"/>
                <a:cs typeface="Calibri"/>
              </a:defRPr>
            </a:pPr>
            <a:r>
              <a:rPr sz="2400" b="1">
                <a:solidFill>
                  <a:srgbClr val="2E7D6F"/>
                </a:solidFill>
                <a:latin typeface="Calibri"/>
                <a:ea typeface="Calibri"/>
                <a:cs typeface="Calibri"/>
              </a:rPr>
              <a:t>Improvement is -0.4. This validation comparison does not support retaining it. One split is limited evidence; the final test remains untouched.</a:t>
            </a:r>
          </a:p>
        </p:txBody>
      </p:sp>
      <p:sp>
        <p:nvSpPr>
          <p:cNvPr id="6" name="">
            <a:extLst xmlns:a="http://schemas.openxmlformats.org/drawingml/2006/main">
              <a:ext uri="{FF2B5EF4-FFF2-40B4-BE49-F238E27FC236}">
                <a16:creationId xmlns:a16="http://schemas.microsoft.com/office/drawing/2014/main" id="{2A885512-8ADF-446F-9AE7-D3C25A6EAF4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69C14568-6874-4382-B8C2-28BEBD1498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25</a:t>
            </a:r>
          </a:p>
        </p:txBody>
      </p:sp>
    </p:spTree>
    <p:extLst>
      <p:ext uri="{BB962C8B-B14F-4D97-AF65-F5344CB8AC3E}">
        <p14:creationId xmlns:p14="http://schemas.microsoft.com/office/powerpoint/2010/main" val="200564066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FD851DB-BAB7-43F8-9E4A-67EB063EF3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DE18F2-C97B-4DC0-BBE5-0937711823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E385F7-1376-45AD-9142-1B86420DCC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2F7906B-35C4-4CCF-B69A-628678D4F2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DCF465-27FC-4DAC-A40B-8B4DDB5D318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W11 names four output features and a two-model ablation.</a:t>
            </a:r>
          </a:p>
        </p:txBody>
      </p:sp>
      <p:sp>
        <p:nvSpPr>
          <p:cNvPr id="6" name="">
            <a:extLst xmlns:a="http://schemas.openxmlformats.org/drawingml/2006/main">
              <a:ext uri="{FF2B5EF4-FFF2-40B4-BE49-F238E27FC236}">
                <a16:creationId xmlns:a16="http://schemas.microsoft.com/office/drawing/2014/main" id="{EE9E995D-064B-457C-8F8F-5364D6B8AB1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462AE9D-8D38-4E7C-ACD3-20BB5E9F82A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output order, preservation of input rows, full precision and training-only fitting.</a:t>
            </a:r>
          </a:p>
        </p:txBody>
      </p:sp>
      <p:sp>
        <p:nvSpPr>
          <p:cNvPr id="8" name="">
            <a:extLst xmlns:a="http://schemas.openxmlformats.org/drawingml/2006/main">
              <a:ext uri="{FF2B5EF4-FFF2-40B4-BE49-F238E27FC236}">
                <a16:creationId xmlns:a16="http://schemas.microsoft.com/office/drawing/2014/main" id="{78702978-5557-4806-AF9F-DD405957E0C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21CAC1-3A7A-4C07-B638-FA901A8DDAF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supplied written scenario for the interpretation requested there.</a:t>
            </a:r>
          </a:p>
        </p:txBody>
      </p:sp>
      <p:sp>
        <p:nvSpPr>
          <p:cNvPr id="10" name="">
            <a:extLst xmlns:a="http://schemas.openxmlformats.org/drawingml/2006/main">
              <a:ext uri="{FF2B5EF4-FFF2-40B4-BE49-F238E27FC236}">
                <a16:creationId xmlns:a16="http://schemas.microsoft.com/office/drawing/2014/main" id="{2F3DB7F8-5029-4512-AB92-ED6A8ABE7C4D}"/>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C4B80C7-1FF8-4A2B-83F3-EA5328961EB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substitute this practice example’s result.</a:t>
            </a:r>
          </a:p>
        </p:txBody>
      </p:sp>
      <p:sp>
        <p:nvSpPr>
          <p:cNvPr id="12" name="">
            <a:extLst xmlns:a="http://schemas.openxmlformats.org/drawingml/2006/main">
              <a:ext uri="{FF2B5EF4-FFF2-40B4-BE49-F238E27FC236}">
                <a16:creationId xmlns:a16="http://schemas.microsoft.com/office/drawing/2014/main" id="{3BF6966D-0460-4F78-8EB5-7C86AB7A14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26</a:t>
            </a:r>
          </a:p>
        </p:txBody>
      </p:sp>
    </p:spTree>
    <p:extLst>
      <p:ext uri="{BB962C8B-B14F-4D97-AF65-F5344CB8AC3E}">
        <p14:creationId xmlns:p14="http://schemas.microsoft.com/office/powerpoint/2010/main" val="89843105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708D90-A3E4-419D-A3C8-BF5027E72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F76A22-5A19-4E11-8191-463EBC6A5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DF7FF8-20FB-452E-9CEF-A8C4891B3D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a:t>
            </a:r>
          </a:p>
        </p:txBody>
      </p:sp>
      <p:sp>
        <p:nvSpPr>
          <p:cNvPr id="4" name="">
            <a:extLst xmlns:a="http://schemas.openxmlformats.org/drawingml/2006/main">
              <a:ext uri="{FF2B5EF4-FFF2-40B4-BE49-F238E27FC236}">
                <a16:creationId xmlns:a16="http://schemas.microsoft.com/office/drawing/2014/main" id="{4FDDDE70-831C-43AF-8F6B-0EEBBD974C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F4FFF70-8A84-418B-BDB8-C4DB7293E2C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Rescaling an input usually does not change the partitions available to an ordinary decision tree.</a:t>
            </a:r>
          </a:p>
        </p:txBody>
      </p:sp>
      <p:sp>
        <p:nvSpPr>
          <p:cNvPr id="6" name="">
            <a:extLst xmlns:a="http://schemas.openxmlformats.org/drawingml/2006/main">
              <a:ext uri="{FF2B5EF4-FFF2-40B4-BE49-F238E27FC236}">
                <a16:creationId xmlns:a16="http://schemas.microsoft.com/office/drawing/2014/main" id="{A5F2D239-98BB-4A99-839D-4C53D2CBEC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FE364D-1371-4343-8707-07AA16B356C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identifier or a future-known field can create an apparent improvement without useful predictive information.</a:t>
            </a:r>
          </a:p>
        </p:txBody>
      </p:sp>
      <p:sp>
        <p:nvSpPr>
          <p:cNvPr id="8" name="">
            <a:extLst xmlns:a="http://schemas.openxmlformats.org/drawingml/2006/main">
              <a:ext uri="{FF2B5EF4-FFF2-40B4-BE49-F238E27FC236}">
                <a16:creationId xmlns:a16="http://schemas.microsoft.com/office/drawing/2014/main" id="{09F8C3A8-5F9D-4BDF-A9D4-E0D8DF84D0B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52C531-5C0C-4072-92CA-848AAFF16C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Dividing by zero can produce infinity or an error; decide what the denominator means before replacing it.</a:t>
            </a:r>
          </a:p>
        </p:txBody>
      </p:sp>
      <p:sp>
        <p:nvSpPr>
          <p:cNvPr id="10" name="">
            <a:extLst xmlns:a="http://schemas.openxmlformats.org/drawingml/2006/main">
              <a:ext uri="{FF2B5EF4-FFF2-40B4-BE49-F238E27FC236}">
                <a16:creationId xmlns:a16="http://schemas.microsoft.com/office/drawing/2014/main" id="{E92CFF7D-7449-4337-8A61-2F08D76450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27</a:t>
            </a:r>
          </a:p>
        </p:txBody>
      </p:sp>
    </p:spTree>
    <p:extLst>
      <p:ext uri="{BB962C8B-B14F-4D97-AF65-F5344CB8AC3E}">
        <p14:creationId xmlns:p14="http://schemas.microsoft.com/office/powerpoint/2010/main" val="37188164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7FEA26-8608-43D4-AD52-0EC95125B2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48B18D-264D-4053-9FCE-5C1513BED1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14D22D8-CC37-4077-881F-705F9B215B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without misleading evaluation continued</a:t>
            </a:r>
          </a:p>
        </p:txBody>
      </p:sp>
      <p:sp>
        <p:nvSpPr>
          <p:cNvPr id="4" name="">
            <a:extLst xmlns:a="http://schemas.openxmlformats.org/drawingml/2006/main">
              <a:ext uri="{FF2B5EF4-FFF2-40B4-BE49-F238E27FC236}">
                <a16:creationId xmlns:a16="http://schemas.microsoft.com/office/drawing/2014/main" id="{01519F45-5027-4165-9CC7-A03AB2DD29A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3E685A8-0EC7-4659-BF3D-DCCC7B13FF5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ablation differences using the same error definition, and explain features using domain knowledge.</a:t>
            </a:r>
          </a:p>
        </p:txBody>
      </p:sp>
      <p:sp>
        <p:nvSpPr>
          <p:cNvPr id="6" name="">
            <a:extLst xmlns:a="http://schemas.openxmlformats.org/drawingml/2006/main">
              <a:ext uri="{FF2B5EF4-FFF2-40B4-BE49-F238E27FC236}">
                <a16:creationId xmlns:a16="http://schemas.microsoft.com/office/drawing/2014/main" id="{CCB0EF9E-1BD6-4A4C-A5BE-227F757A33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28</a:t>
            </a:r>
          </a:p>
        </p:txBody>
      </p:sp>
    </p:spTree>
    <p:extLst>
      <p:ext uri="{BB962C8B-B14F-4D97-AF65-F5344CB8AC3E}">
        <p14:creationId xmlns:p14="http://schemas.microsoft.com/office/powerpoint/2010/main" val="81512887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7BCC5F7-D94D-4308-B724-3A7AEA4B6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DE3918-DCCC-429A-A4D8-89D00DF8B6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88C3147-6338-409C-AA15-400C408720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5DAC2914-147C-4985-B098-B29522109D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DC78CB-17EC-4E60-83BC-565D91AF680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E398D7E2-28EE-4B3E-B818-9B4474BBF9C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9896D5-38D2-4794-A97C-C52698B62A8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51A32EDB-DFCA-4CFC-812C-56B4C9A7DC4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F59DB06-4D0F-4B32-A141-9557248A7D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F056F97-C51D-4B58-9061-C4FFDAA4C55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773D2A6-31FA-47C5-AC4E-B1D3A5B2A6F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C192FF1E-C548-40FD-BDE1-F97E6B67FE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29</a:t>
            </a:r>
          </a:p>
        </p:txBody>
      </p:sp>
    </p:spTree>
    <p:extLst>
      <p:ext uri="{BB962C8B-B14F-4D97-AF65-F5344CB8AC3E}">
        <p14:creationId xmlns:p14="http://schemas.microsoft.com/office/powerpoint/2010/main" val="192821546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0FC391-8CD8-4C01-B0C3-A8FADC3F94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728ADD-E451-4DB0-8726-6C029097BC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A1FC13E-50D9-4A43-9272-6DFF6D517E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make_features(feature_records)</a:t>
            </a:r>
          </a:p>
        </p:txBody>
      </p:sp>
      <p:sp>
        <p:nvSpPr>
          <p:cNvPr id="4" name="">
            <a:extLst xmlns:a="http://schemas.openxmlformats.org/drawingml/2006/main">
              <a:ext uri="{FF2B5EF4-FFF2-40B4-BE49-F238E27FC236}">
                <a16:creationId xmlns:a16="http://schemas.microsoft.com/office/drawing/2014/main" id="{C515CC2E-E7CD-4FD4-BD47-F790E360BAA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D52CF5-9EF1-4143-A24B-33AAC88AE92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one feature row per input, in order: [load_pct, ambient_c, load_pct/100, load_pct*ambient_c].</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Use inputs available at prediction time only.</a:t>
            </a:r>
          </a:p>
        </p:txBody>
      </p:sp>
      <p:sp>
        <p:nvSpPr>
          <p:cNvPr id="6" name="">
            <a:extLst xmlns:a="http://schemas.openxmlformats.org/drawingml/2006/main">
              <a:ext uri="{FF2B5EF4-FFF2-40B4-BE49-F238E27FC236}">
                <a16:creationId xmlns:a16="http://schemas.microsoft.com/office/drawing/2014/main" id="{E69395A3-16E6-49F7-A385-182DB6FB2F8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E5AD00C-3C22-4737-83D1-DA6EB78CC7F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67EF89-7304-4BB6-8342-702B2D0627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30</a:t>
            </a:r>
          </a:p>
        </p:txBody>
      </p:sp>
    </p:spTree>
    <p:extLst>
      <p:ext uri="{BB962C8B-B14F-4D97-AF65-F5344CB8AC3E}">
        <p14:creationId xmlns:p14="http://schemas.microsoft.com/office/powerpoint/2010/main" val="181858057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58DF6B-B2C1-4C91-951B-F846AB5552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485203-2D75-4B5E-8F4C-89F8EB7D08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5A961DD3-4DE4-4CD3-A8EE-8E3B0D3914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ablation_metrics(training_records, validation_records)</a:t>
            </a:r>
          </a:p>
        </p:txBody>
      </p:sp>
      <p:sp>
        <p:nvSpPr>
          <p:cNvPr id="4" name="">
            <a:extLst xmlns:a="http://schemas.openxmlformats.org/drawingml/2006/main">
              <a:ext uri="{FF2B5EF4-FFF2-40B4-BE49-F238E27FC236}">
                <a16:creationId xmlns:a16="http://schemas.microsoft.com/office/drawing/2014/main" id="{F81192EB-B140-4EAE-BE61-C021A4B88A5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97F1FF-05B0-46DE-A36F-9F880C7E2B9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Fit two sklearn LinearRegression models on the same training records: base features [load_pct, ambient_c] and extended features adding load_pct*ambient_c.</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Evaluate both on the same validation records.</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Return base_mae, extended_mae and improvement=base_mae-extended_mae, without rounding.</a:t>
            </a:r>
          </a:p>
          <a:p xmlns:a="http://schemas.openxmlformats.org/drawingml/2006/main">
            <a:r>
              <a:t/>
            </a:r>
          </a:p>
          <a:p xmlns:a="http://schemas.openxmlformats.org/drawingml/2006/main">
            <a:pPr>
              <a:defRPr sz="2175" b="0">
                <a:solidFill>
                  <a:srgbClr val="1C3144"/>
                </a:solidFill>
                <a:latin typeface="Calibri"/>
                <a:ea typeface="Calibri"/>
                <a:cs typeface="Calibri"/>
              </a:defRPr>
            </a:pPr>
            <a:r>
              <a:rPr sz="2175" b="0">
                <a:solidFill>
                  <a:srgbClr val="1C3144"/>
                </a:solidFill>
                <a:latin typeface="Calibri"/>
                <a:ea typeface="Calibri"/>
                <a:cs typeface="Calibri"/>
              </a:rPr>
              <a:t>Inputs are complete; never fit on validation targets.</a:t>
            </a:r>
          </a:p>
        </p:txBody>
      </p:sp>
      <p:sp>
        <p:nvSpPr>
          <p:cNvPr id="6" name="">
            <a:extLst xmlns:a="http://schemas.openxmlformats.org/drawingml/2006/main">
              <a:ext uri="{FF2B5EF4-FFF2-40B4-BE49-F238E27FC236}">
                <a16:creationId xmlns:a16="http://schemas.microsoft.com/office/drawing/2014/main" id="{B2464B10-408B-45B2-93CB-80F92E7972F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372F75D-15B1-48A4-BD41-53D49C73D6B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AC534D2-283E-4219-B342-51FD407DAF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31</a:t>
            </a:r>
          </a:p>
        </p:txBody>
      </p:sp>
    </p:spTree>
    <p:extLst>
      <p:ext uri="{BB962C8B-B14F-4D97-AF65-F5344CB8AC3E}">
        <p14:creationId xmlns:p14="http://schemas.microsoft.com/office/powerpoint/2010/main" val="73741527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79CF67-FA62-4EC1-B0EE-5C0FE4750D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DEC9DC-5C72-4B7B-9D2B-FAAAC8E2E4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55EBCA-B8F0-4214-901B-D32CCECF87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40D5FBE-7283-452C-80DB-BBFB113680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731CB6-9FCB-491A-8821-1AB299598A7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827D03EE-9DFB-41B5-A542-7F06D2A121C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60C301-D386-4D76-B46F-16D24DC37A6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CF946F84-25B4-42C7-87DF-6C2D35EA2B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C36DA3D-4054-4A98-A127-998B743321E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1772259-CA94-45E7-B006-BA33419B1E3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21C949C-D497-4F58-81C4-DC3AAFFD93F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6B8F20C-B790-40A4-9844-5DC0F367F4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32</a:t>
            </a:r>
          </a:p>
        </p:txBody>
      </p:sp>
    </p:spTree>
    <p:extLst>
      <p:ext uri="{BB962C8B-B14F-4D97-AF65-F5344CB8AC3E}">
        <p14:creationId xmlns:p14="http://schemas.microsoft.com/office/powerpoint/2010/main" val="86058749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389E2F2-DF47-41EA-9B09-9FEFF6066B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2BF517-DAF2-4D02-AED0-D7B5E3154D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3D1D0E5-86BA-4E35-8D39-0A479459D3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Features and ablation submission</a:t>
            </a:r>
          </a:p>
        </p:txBody>
      </p:sp>
      <p:sp>
        <p:nvSpPr>
          <p:cNvPr id="4" name="">
            <a:extLst xmlns:a="http://schemas.openxmlformats.org/drawingml/2006/main">
              <a:ext uri="{FF2B5EF4-FFF2-40B4-BE49-F238E27FC236}">
                <a16:creationId xmlns:a16="http://schemas.microsoft.com/office/drawing/2014/main" id="{2768AE5F-3C4A-44AE-B76A-D31958272E1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1E2EEC-4BB8-45A8-ACDE-D9DBB9AE199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17 Nov 2026, 11:00 Kampala</a:t>
            </a:r>
          </a:p>
        </p:txBody>
      </p:sp>
      <p:sp>
        <p:nvSpPr>
          <p:cNvPr id="6" name="">
            <a:extLst xmlns:a="http://schemas.openxmlformats.org/drawingml/2006/main">
              <a:ext uri="{FF2B5EF4-FFF2-40B4-BE49-F238E27FC236}">
                <a16:creationId xmlns:a16="http://schemas.microsoft.com/office/drawing/2014/main" id="{7F9CFD52-FFA1-4AFE-BE4A-02237910A6E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F13BDA-E640-49F2-B249-70DABAF553C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11:00 Kampala</a:t>
            </a:r>
          </a:p>
        </p:txBody>
      </p:sp>
      <p:sp>
        <p:nvSpPr>
          <p:cNvPr id="8" name="">
            <a:extLst xmlns:a="http://schemas.openxmlformats.org/drawingml/2006/main">
              <a:ext uri="{FF2B5EF4-FFF2-40B4-BE49-F238E27FC236}">
                <a16:creationId xmlns:a16="http://schemas.microsoft.com/office/drawing/2014/main" id="{E344C53E-3F3D-4C60-B2B0-89559C771C8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98444C7-3132-4B11-8F1E-84A9140A374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1F794F2-320B-4E40-A6D4-742322BBA80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F1D8B4E-CE30-48ED-95BA-60AC4EFA57B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67E9BD5-6F53-4193-A844-73FC71B82E1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BE122C1-04A2-4F4D-B75C-F84BE2643C3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88d6ae9dcb34714"/>
              </a:rPr>
              <a:t>Open W11 assignment form</a:t>
            </a:r>
          </a:p>
        </p:txBody>
      </p:sp>
      <p:sp>
        <p:nvSpPr>
          <p:cNvPr id="14" name="">
            <a:extLst xmlns:a="http://schemas.openxmlformats.org/drawingml/2006/main">
              <a:ext uri="{FF2B5EF4-FFF2-40B4-BE49-F238E27FC236}">
                <a16:creationId xmlns:a16="http://schemas.microsoft.com/office/drawing/2014/main" id="{ADEC986E-7080-4C2A-8162-CA2406D369C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https://docs.google.com/forms/d/e/1FAIpQLSfSqUcR9TgY7f1c7HXO9KGM3C2yXm1r7V2rQl2WEubwZir8iw/viewform</a:t>
            </a:r>
          </a:p>
        </p:txBody>
      </p:sp>
      <p:sp>
        <p:nvSpPr>
          <p:cNvPr id="15" name="">
            <a:extLst xmlns:a="http://schemas.openxmlformats.org/drawingml/2006/main">
              <a:ext uri="{FF2B5EF4-FFF2-40B4-BE49-F238E27FC236}">
                <a16:creationId xmlns:a16="http://schemas.microsoft.com/office/drawing/2014/main" id="{32F6B6EA-CD4A-4690-B0B5-71A6ECBAD7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33</a:t>
            </a:r>
          </a:p>
        </p:txBody>
      </p:sp>
    </p:spTree>
    <p:extLst>
      <p:ext uri="{BB962C8B-B14F-4D97-AF65-F5344CB8AC3E}">
        <p14:creationId xmlns:p14="http://schemas.microsoft.com/office/powerpoint/2010/main" val="124698205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F1ADF3-7BCB-44CC-8C7C-5E7DFCB6F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D2E8224-33D9-4C39-ADB2-0FDADB8253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5A4A4F0-E31B-41B4-83AA-FAB2912F14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6B98965F-54ED-4C0D-B988-6E1C41F1F4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1B7D61-8193-4272-81F0-617D38E3CB2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5016D245-BD6B-41ED-9F6A-42D72D26782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0C9EAC-A75F-4F23-A115-439C60DAC74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F720320F-F524-407E-A003-2DA62A7EFED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94DF5D-18E3-4718-A7DB-C6408F4B141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C2BD37B-CEA8-49FD-9E91-A47AEAD5C53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5114222-58E3-499B-AFC7-A3B9E01393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918314BF-DFE1-47BE-B4C8-513AE11411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34</a:t>
            </a:r>
          </a:p>
        </p:txBody>
      </p:sp>
    </p:spTree>
    <p:extLst>
      <p:ext uri="{BB962C8B-B14F-4D97-AF65-F5344CB8AC3E}">
        <p14:creationId xmlns:p14="http://schemas.microsoft.com/office/powerpoint/2010/main" val="20381540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7A7194E-3DC5-4F3B-9DD5-4ECB2D9097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E4463D-3873-4623-9C8E-296B8F5EB9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93AA74D-6F8F-4E9F-8BE6-81BBFFCE1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11 quiz</a:t>
            </a:r>
          </a:p>
        </p:txBody>
      </p:sp>
      <p:sp>
        <p:nvSpPr>
          <p:cNvPr id="4" name="">
            <a:extLst xmlns:a="http://schemas.openxmlformats.org/drawingml/2006/main">
              <a:ext uri="{FF2B5EF4-FFF2-40B4-BE49-F238E27FC236}">
                <a16:creationId xmlns:a16="http://schemas.microsoft.com/office/drawing/2014/main" id="{873B6E99-C313-4443-81E8-7150421FD3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187D9C5-E52F-4572-9398-F88457C3E26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5EDA0BC0-6E93-4CAF-8394-7F2ED5B8338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DD1D92-1EB9-488C-B5B5-3EA5168D35FB}"/>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B76A57A-2209-4DC0-B22D-BD642CBC0B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B2DF305-487E-4D56-AA2F-A1C072606FC6}"/>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6502D9EA-DB23-44EF-B2BB-3D060FED39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778D85-2712-4561-B507-A6B2EDA287D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edf357a15a8478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C185FEE-A432-4346-8951-269B30978209}"/>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088D4CB-8C9C-4A25-9758-3C94CD35A23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81AB3B-B09A-419B-A540-64D1BF6DF8F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3ee7092d3b24e9f"/>
              </a:rPr>
              <a:t>Open this week’s quiz</a:t>
            </a:r>
          </a:p>
        </p:txBody>
      </p:sp>
      <p:sp>
        <p:nvSpPr>
          <p:cNvPr id="16" name="">
            <a:extLst xmlns:a="http://schemas.openxmlformats.org/drawingml/2006/main">
              <a:ext uri="{FF2B5EF4-FFF2-40B4-BE49-F238E27FC236}">
                <a16:creationId xmlns:a16="http://schemas.microsoft.com/office/drawing/2014/main" id="{9DD2B29A-1AA8-4469-A864-4D5B3B8D492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https://forms.gle/FTSCoDUMmcwSYPc78</a:t>
            </a:r>
          </a:p>
        </p:txBody>
      </p:sp>
      <p:sp>
        <p:nvSpPr>
          <p:cNvPr id="17" name="">
            <a:extLst xmlns:a="http://schemas.openxmlformats.org/drawingml/2006/main">
              <a:ext uri="{FF2B5EF4-FFF2-40B4-BE49-F238E27FC236}">
                <a16:creationId xmlns:a16="http://schemas.microsoft.com/office/drawing/2014/main" id="{0015ED49-1380-4936-BDC4-31DF47136E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11   35</a:t>
            </a:r>
          </a:p>
        </p:txBody>
      </p:sp>
    </p:spTree>
    <p:extLst>
      <p:ext uri="{BB962C8B-B14F-4D97-AF65-F5344CB8AC3E}">
        <p14:creationId xmlns:p14="http://schemas.microsoft.com/office/powerpoint/2010/main" val="999640827"/>
      </p:ext>
    </p:extLst>
  </p:cSld>
</p:sld>
</file>

<file path=ppt/slides/slide3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E6B3C5-C6D2-468F-B65A-B119E57E8C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C460F1E-5CFF-40F1-BC9A-83045DAF50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E3690251-1405-470A-A5F4-6B9D8A2A795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E2B2A0EF-57F7-483C-B62C-75C883586E6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state the new feature’s meaning and calculate an improvement correctly.</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672EFA4F-EC0E-4D50-98F3-E09C75B31E2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3E3E95F-F731-4842-BEE0-7ADCCC7D52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11   36</a:t>
            </a:r>
          </a:p>
        </p:txBody>
      </p:sp>
    </p:spTree>
    <p:extLst>
      <p:ext uri="{BB962C8B-B14F-4D97-AF65-F5344CB8AC3E}">
        <p14:creationId xmlns:p14="http://schemas.microsoft.com/office/powerpoint/2010/main" val="3637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2026-09-16T11:08:57.5330000Z</dcterms:created>
  <dcterms:modified xsi:type="dcterms:W3CDTF">2026-09-16T11:08:57.5330000Z</dcterms:modified>
</coreProperties>
</file>