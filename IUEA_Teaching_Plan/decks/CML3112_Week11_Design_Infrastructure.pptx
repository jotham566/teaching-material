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52623373b64d80" /><Relationship Type="http://schemas.openxmlformats.org/officeDocument/2006/relationships/extended-properties" Target="/docProps/app.xml" Id="Rb42c006a400940d9" /><Relationship Type="http://schemas.openxmlformats.org/officeDocument/2006/relationships/officeDocument" Target="/ppt/presentation.xml" Id="Rbeff1f15e7914448" /></Relationships>
</file>

<file path=ppt/presentation.xml><?xml version="1.0" encoding="utf-8"?>
<p:presentation xmlns:p="http://schemas.openxmlformats.org/presentationml/2006/main">
  <p:sldMasterIdLst>
    <p:sldMasterId xmlns:r="http://schemas.openxmlformats.org/officeDocument/2006/relationships" id="2147483648" r:id="R458c6b4609ea4735"/>
  </p:sldMasterIdLst>
  <p:notesMasterIdLst>
    <p:notesMasterId xmlns:r="http://schemas.openxmlformats.org/officeDocument/2006/relationships" r:id="R0c8259feb18541c6"/>
  </p:notesMasterIdLst>
  <p:sldIdLst>
    <p:sldId xmlns:r="http://schemas.openxmlformats.org/officeDocument/2006/relationships" id="256" r:id="R7cd9d013d531403f"/>
    <p:sldId xmlns:r="http://schemas.openxmlformats.org/officeDocument/2006/relationships" id="257" r:id="R04cf0b23079e45eb"/>
    <p:sldId xmlns:r="http://schemas.openxmlformats.org/officeDocument/2006/relationships" id="258" r:id="R0ec6a36403fe4f82"/>
    <p:sldId xmlns:r="http://schemas.openxmlformats.org/officeDocument/2006/relationships" id="259" r:id="Ra512842d87b44720"/>
    <p:sldId xmlns:r="http://schemas.openxmlformats.org/officeDocument/2006/relationships" id="260" r:id="Rab74c95ea59e4cd5"/>
    <p:sldId xmlns:r="http://schemas.openxmlformats.org/officeDocument/2006/relationships" id="261" r:id="R54cb0e2bbb9e440f"/>
    <p:sldId xmlns:r="http://schemas.openxmlformats.org/officeDocument/2006/relationships" id="262" r:id="R5cfeda24e8274127"/>
    <p:sldId xmlns:r="http://schemas.openxmlformats.org/officeDocument/2006/relationships" id="263" r:id="Ra2193c018ae54825"/>
    <p:sldId xmlns:r="http://schemas.openxmlformats.org/officeDocument/2006/relationships" id="264" r:id="Rc06056ad524b4733"/>
    <p:sldId xmlns:r="http://schemas.openxmlformats.org/officeDocument/2006/relationships" id="265" r:id="R988e2b44f5b646fe"/>
    <p:sldId xmlns:r="http://schemas.openxmlformats.org/officeDocument/2006/relationships" id="266" r:id="Rc4acbd9828f94c28"/>
    <p:sldId xmlns:r="http://schemas.openxmlformats.org/officeDocument/2006/relationships" id="267" r:id="Rb66d8e67114a4388"/>
    <p:sldId xmlns:r="http://schemas.openxmlformats.org/officeDocument/2006/relationships" id="268" r:id="Ra743b3731888410b"/>
    <p:sldId xmlns:r="http://schemas.openxmlformats.org/officeDocument/2006/relationships" id="269" r:id="R63979687b4534e11"/>
    <p:sldId xmlns:r="http://schemas.openxmlformats.org/officeDocument/2006/relationships" id="270" r:id="R9babd855239a43b8"/>
    <p:sldId xmlns:r="http://schemas.openxmlformats.org/officeDocument/2006/relationships" id="271" r:id="Rfe82f5fb6b864514"/>
    <p:sldId xmlns:r="http://schemas.openxmlformats.org/officeDocument/2006/relationships" id="272" r:id="Rd310bdff1d324385"/>
    <p:sldId xmlns:r="http://schemas.openxmlformats.org/officeDocument/2006/relationships" id="273" r:id="Rb6afc150adca43f8"/>
    <p:sldId xmlns:r="http://schemas.openxmlformats.org/officeDocument/2006/relationships" id="274" r:id="Rd3754f24cf0a401a"/>
    <p:sldId xmlns:r="http://schemas.openxmlformats.org/officeDocument/2006/relationships" id="275" r:id="R2bb58e3ca2ae4a8f"/>
    <p:sldId xmlns:r="http://schemas.openxmlformats.org/officeDocument/2006/relationships" id="276" r:id="R6e40c59481b44cbf"/>
    <p:sldId xmlns:r="http://schemas.openxmlformats.org/officeDocument/2006/relationships" id="277" r:id="Radff35e14f3b4ff7"/>
    <p:sldId xmlns:r="http://schemas.openxmlformats.org/officeDocument/2006/relationships" id="278" r:id="R4de2c9b23e834496"/>
    <p:sldId xmlns:r="http://schemas.openxmlformats.org/officeDocument/2006/relationships" id="279" r:id="Rc43b6e2c616e41bb"/>
    <p:sldId xmlns:r="http://schemas.openxmlformats.org/officeDocument/2006/relationships" id="280" r:id="R8c3c479cf64b4782"/>
    <p:sldId xmlns:r="http://schemas.openxmlformats.org/officeDocument/2006/relationships" id="281" r:id="Rb6bff18f55a9440f"/>
    <p:sldId xmlns:r="http://schemas.openxmlformats.org/officeDocument/2006/relationships" id="282" r:id="R58df1fd5bd9b47f1"/>
    <p:sldId xmlns:r="http://schemas.openxmlformats.org/officeDocument/2006/relationships" id="283" r:id="R6f20dd9a386d4407"/>
    <p:sldId xmlns:r="http://schemas.openxmlformats.org/officeDocument/2006/relationships" id="284" r:id="Re4694741f26f48aa"/>
    <p:sldId xmlns:r="http://schemas.openxmlformats.org/officeDocument/2006/relationships" id="285" r:id="R7df71217a88247b1"/>
    <p:sldId xmlns:r="http://schemas.openxmlformats.org/officeDocument/2006/relationships" id="286" r:id="Re7775f15326044d3"/>
    <p:sldId xmlns:r="http://schemas.openxmlformats.org/officeDocument/2006/relationships" id="287" r:id="Ra4c01c2559594d41"/>
    <p:sldId xmlns:r="http://schemas.openxmlformats.org/officeDocument/2006/relationships" id="288" r:id="R266e2fcbe0a74e2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a1c2511ebb40de" /><Relationship Type="http://schemas.openxmlformats.org/officeDocument/2006/relationships/slideMaster" Target="/ppt/slideMasters/slideMaster1.xml" Id="R458c6b4609ea4735" /><Relationship Type="http://schemas.openxmlformats.org/officeDocument/2006/relationships/notesMaster" Target="/ppt/notesMasters/notesMaster1.xml" Id="R0c8259feb18541c6" /><Relationship Type="http://schemas.openxmlformats.org/officeDocument/2006/relationships/presProps" Target="/ppt/presProps.xml" Id="R0630b49a8b9345cc" /><Relationship Type="http://schemas.openxmlformats.org/officeDocument/2006/relationships/tableStyles" Target="/ppt/tableStyles.xml" Id="R9ecad4a0c899430b" /><Relationship Type="http://schemas.openxmlformats.org/officeDocument/2006/relationships/slide" Target="/ppt/slides/slide1.xml" Id="R7cd9d013d531403f" /><Relationship Type="http://schemas.openxmlformats.org/officeDocument/2006/relationships/slide" Target="/ppt/slides/slide2.xml" Id="R04cf0b23079e45eb" /><Relationship Type="http://schemas.openxmlformats.org/officeDocument/2006/relationships/slide" Target="/ppt/slides/slide3.xml" Id="R0ec6a36403fe4f82" /><Relationship Type="http://schemas.openxmlformats.org/officeDocument/2006/relationships/slide" Target="/ppt/slides/slide4.xml" Id="Ra512842d87b44720" /><Relationship Type="http://schemas.openxmlformats.org/officeDocument/2006/relationships/slide" Target="/ppt/slides/slide5.xml" Id="Rab74c95ea59e4cd5" /><Relationship Type="http://schemas.openxmlformats.org/officeDocument/2006/relationships/slide" Target="/ppt/slides/slide6.xml" Id="R54cb0e2bbb9e440f" /><Relationship Type="http://schemas.openxmlformats.org/officeDocument/2006/relationships/slide" Target="/ppt/slides/slide7.xml" Id="R5cfeda24e8274127" /><Relationship Type="http://schemas.openxmlformats.org/officeDocument/2006/relationships/slide" Target="/ppt/slides/slide8.xml" Id="Ra2193c018ae54825" /><Relationship Type="http://schemas.openxmlformats.org/officeDocument/2006/relationships/slide" Target="/ppt/slides/slide9.xml" Id="Rc06056ad524b4733" /><Relationship Type="http://schemas.openxmlformats.org/officeDocument/2006/relationships/slide" Target="/ppt/slides/slide10.xml" Id="R988e2b44f5b646fe" /><Relationship Type="http://schemas.openxmlformats.org/officeDocument/2006/relationships/slide" Target="/ppt/slides/slide11.xml" Id="Rc4acbd9828f94c28" /><Relationship Type="http://schemas.openxmlformats.org/officeDocument/2006/relationships/slide" Target="/ppt/slides/slide12.xml" Id="Rb66d8e67114a4388" /><Relationship Type="http://schemas.openxmlformats.org/officeDocument/2006/relationships/slide" Target="/ppt/slides/slide13.xml" Id="Ra743b3731888410b" /><Relationship Type="http://schemas.openxmlformats.org/officeDocument/2006/relationships/slide" Target="/ppt/slides/slide14.xml" Id="R63979687b4534e11" /><Relationship Type="http://schemas.openxmlformats.org/officeDocument/2006/relationships/slide" Target="/ppt/slides/slide15.xml" Id="R9babd855239a43b8" /><Relationship Type="http://schemas.openxmlformats.org/officeDocument/2006/relationships/slide" Target="/ppt/slides/slide16.xml" Id="Rfe82f5fb6b864514" /><Relationship Type="http://schemas.openxmlformats.org/officeDocument/2006/relationships/slide" Target="/ppt/slides/slide17.xml" Id="Rd310bdff1d324385" /><Relationship Type="http://schemas.openxmlformats.org/officeDocument/2006/relationships/slide" Target="/ppt/slides/slide18.xml" Id="Rb6afc150adca43f8" /><Relationship Type="http://schemas.openxmlformats.org/officeDocument/2006/relationships/slide" Target="/ppt/slides/slide19.xml" Id="Rd3754f24cf0a401a" /><Relationship Type="http://schemas.openxmlformats.org/officeDocument/2006/relationships/slide" Target="/ppt/slides/slide20.xml" Id="R2bb58e3ca2ae4a8f" /><Relationship Type="http://schemas.openxmlformats.org/officeDocument/2006/relationships/slide" Target="/ppt/slides/slide21.xml" Id="R6e40c59481b44cbf" /><Relationship Type="http://schemas.openxmlformats.org/officeDocument/2006/relationships/slide" Target="/ppt/slides/slide22.xml" Id="Radff35e14f3b4ff7" /><Relationship Type="http://schemas.openxmlformats.org/officeDocument/2006/relationships/slide" Target="/ppt/slides/slide23.xml" Id="R4de2c9b23e834496" /><Relationship Type="http://schemas.openxmlformats.org/officeDocument/2006/relationships/slide" Target="/ppt/slides/slide24.xml" Id="Rc43b6e2c616e41bb" /><Relationship Type="http://schemas.openxmlformats.org/officeDocument/2006/relationships/slide" Target="/ppt/slides/slide25.xml" Id="R8c3c479cf64b4782" /><Relationship Type="http://schemas.openxmlformats.org/officeDocument/2006/relationships/slide" Target="/ppt/slides/slide26.xml" Id="Rb6bff18f55a9440f" /><Relationship Type="http://schemas.openxmlformats.org/officeDocument/2006/relationships/slide" Target="/ppt/slides/slide27.xml" Id="R58df1fd5bd9b47f1" /><Relationship Type="http://schemas.openxmlformats.org/officeDocument/2006/relationships/slide" Target="/ppt/slides/slide28.xml" Id="R6f20dd9a386d4407" /><Relationship Type="http://schemas.openxmlformats.org/officeDocument/2006/relationships/slide" Target="/ppt/slides/slide29.xml" Id="Re4694741f26f48aa" /><Relationship Type="http://schemas.openxmlformats.org/officeDocument/2006/relationships/slide" Target="/ppt/slides/slide30.xml" Id="R7df71217a88247b1" /><Relationship Type="http://schemas.openxmlformats.org/officeDocument/2006/relationships/slide" Target="/ppt/slides/slide31.xml" Id="Re7775f15326044d3" /><Relationship Type="http://schemas.openxmlformats.org/officeDocument/2006/relationships/slide" Target="/ppt/slides/slide32.xml" Id="Ra4c01c2559594d41" /><Relationship Type="http://schemas.openxmlformats.org/officeDocument/2006/relationships/slide" Target="/ppt/slides/slide33.xml" Id="R266e2fcbe0a74e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3e82fc03294f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d6233cbee8445c" /><Relationship Type="http://schemas.openxmlformats.org/officeDocument/2006/relationships/notesMaster" Target="/ppt/notesMasters/notesMaster1.xml" Id="Rd17ce0d9679942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a20376d4b244af8" /><Relationship Type="http://schemas.openxmlformats.org/officeDocument/2006/relationships/notesMaster" Target="/ppt/notesMasters/notesMaster1.xml" Id="R425883ef3427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948076a0ce4b74" /><Relationship Type="http://schemas.openxmlformats.org/officeDocument/2006/relationships/notesMaster" Target="/ppt/notesMasters/notesMaster1.xml" Id="R3e577822dae94e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64fdfcea6b4de7" /><Relationship Type="http://schemas.openxmlformats.org/officeDocument/2006/relationships/notesMaster" Target="/ppt/notesMasters/notesMaster1.xml" Id="Rdc487f58c17240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62fb013eb3c44d6" /><Relationship Type="http://schemas.openxmlformats.org/officeDocument/2006/relationships/notesMaster" Target="/ppt/notesMasters/notesMaster1.xml" Id="Rf42ef74beaec44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d3133df445427e" /><Relationship Type="http://schemas.openxmlformats.org/officeDocument/2006/relationships/notesMaster" Target="/ppt/notesMasters/notesMaster1.xml" Id="Rf15fd8de322e4e0e"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a9e41c68e64676" /><Relationship Type="http://schemas.openxmlformats.org/officeDocument/2006/relationships/notesMaster" Target="/ppt/notesMasters/notesMaster1.xml" Id="Rda290fe9ad1142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0f7e286f374b9b" /><Relationship Type="http://schemas.openxmlformats.org/officeDocument/2006/relationships/notesMaster" Target="/ppt/notesMasters/notesMaster1.xml" Id="Rb31116600a9b47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50d591be1d804bbb" /><Relationship Type="http://schemas.openxmlformats.org/officeDocument/2006/relationships/notesMaster" Target="/ppt/notesMasters/notesMaster1.xml" Id="R67266ffca732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2b310c78a8e4268" /><Relationship Type="http://schemas.openxmlformats.org/officeDocument/2006/relationships/notesMaster" Target="/ppt/notesMasters/notesMaster1.xml" Id="Rcb50a99154e84f2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a8eb651e6c24b82" /><Relationship Type="http://schemas.openxmlformats.org/officeDocument/2006/relationships/notesMaster" Target="/ppt/notesMasters/notesMaster1.xml" Id="R9e9f63427c874e6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61ef18805f4377" /><Relationship Type="http://schemas.openxmlformats.org/officeDocument/2006/relationships/notesMaster" Target="/ppt/notesMasters/notesMaster1.xml" Id="Rd0ec989e70d646a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a3ed979f9be400d" /><Relationship Type="http://schemas.openxmlformats.org/officeDocument/2006/relationships/notesMaster" Target="/ppt/notesMasters/notesMaster1.xml" Id="R21564134cded49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af28c48474643ff" /><Relationship Type="http://schemas.openxmlformats.org/officeDocument/2006/relationships/notesMaster" Target="/ppt/notesMasters/notesMaster1.xml" Id="Rb955007b3f504d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09d61a0c1254e01" /><Relationship Type="http://schemas.openxmlformats.org/officeDocument/2006/relationships/notesMaster" Target="/ppt/notesMasters/notesMaster1.xml" Id="R77e270a76a2741c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d67d0f8edcf40c5" /><Relationship Type="http://schemas.openxmlformats.org/officeDocument/2006/relationships/notesMaster" Target="/ppt/notesMasters/notesMaster1.xml" Id="R38e7b80d02ae406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cb91012e3dc4ada" /><Relationship Type="http://schemas.openxmlformats.org/officeDocument/2006/relationships/notesMaster" Target="/ppt/notesMasters/notesMaster1.xml" Id="R57783f5300fb448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920f4aef9384796" /><Relationship Type="http://schemas.openxmlformats.org/officeDocument/2006/relationships/notesMaster" Target="/ppt/notesMasters/notesMaster1.xml" Id="R0c41e51dc04a4f9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5843793d698401f" /><Relationship Type="http://schemas.openxmlformats.org/officeDocument/2006/relationships/notesMaster" Target="/ppt/notesMasters/notesMaster1.xml" Id="R954c81fff6014c1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cb8a6eea6624682" /><Relationship Type="http://schemas.openxmlformats.org/officeDocument/2006/relationships/notesMaster" Target="/ppt/notesMasters/notesMaster1.xml" Id="R48f72b7256cc4e9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130fa595dd743da" /><Relationship Type="http://schemas.openxmlformats.org/officeDocument/2006/relationships/notesMaster" Target="/ppt/notesMasters/notesMaster1.xml" Id="R0574aa91178842a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1b55681ca0a4658" /><Relationship Type="http://schemas.openxmlformats.org/officeDocument/2006/relationships/notesMaster" Target="/ppt/notesMasters/notesMaster1.xml" Id="Rfac78207c19645c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3ca45914ad94228" /><Relationship Type="http://schemas.openxmlformats.org/officeDocument/2006/relationships/notesMaster" Target="/ppt/notesMasters/notesMaster1.xml" Id="R39f55c3ecba5466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bb5a0d2a1614c6f" /><Relationship Type="http://schemas.openxmlformats.org/officeDocument/2006/relationships/notesMaster" Target="/ppt/notesMasters/notesMaster1.xml" Id="R9f626b2de3fe441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8225e3e902c4352" /><Relationship Type="http://schemas.openxmlformats.org/officeDocument/2006/relationships/notesMaster" Target="/ppt/notesMasters/notesMaster1.xml" Id="R979eee618cbe482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6282a00fd624b04" /><Relationship Type="http://schemas.openxmlformats.org/officeDocument/2006/relationships/notesMaster" Target="/ppt/notesMasters/notesMaster1.xml" Id="Raa217f1dce544ef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184addb312d404f" /><Relationship Type="http://schemas.openxmlformats.org/officeDocument/2006/relationships/notesMaster" Target="/ppt/notesMasters/notesMaster1.xml" Id="R6d39cb4f77ed40f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b5aa7a3fb034718" /><Relationship Type="http://schemas.openxmlformats.org/officeDocument/2006/relationships/notesMaster" Target="/ppt/notesMasters/notesMaster1.xml" Id="R415bced63eb54c8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9ed6afd962742d3" /><Relationship Type="http://schemas.openxmlformats.org/officeDocument/2006/relationships/notesMaster" Target="/ppt/notesMasters/notesMaster1.xml" Id="R74ae5294b284402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02a56e94d634c35" /><Relationship Type="http://schemas.openxmlformats.org/officeDocument/2006/relationships/notesMaster" Target="/ppt/notesMasters/notesMaster1.xml" Id="Rcafbe38b1dfe4e7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4e38cc6916944c0" /><Relationship Type="http://schemas.openxmlformats.org/officeDocument/2006/relationships/notesMaster" Target="/ppt/notesMasters/notesMaster1.xml" Id="Rcad9843e33c0443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cea25dfe2364566" /><Relationship Type="http://schemas.openxmlformats.org/officeDocument/2006/relationships/notesMaster" Target="/ppt/notesMasters/notesMaster1.xml" Id="R17ac0b4a33ff446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e3248219d364cb3" /><Relationship Type="http://schemas.openxmlformats.org/officeDocument/2006/relationships/notesMaster" Target="/ppt/notesMasters/notesMaster1.xml" Id="Rcc6c04ceae9741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testing a useful feature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Creating and testing a useful feature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Creating and testing a useful feature. Explain why this example is needed before running it.</a:t>
            </a:r>
          </a:p>
          <a:p xmlns:a="http://schemas.openxmlformats.org/drawingml/2006/main">
            <a:r>
              <a:t/>
            </a:r>
          </a:p>
          <a:p xmlns:a="http://schemas.openxmlformats.org/drawingml/2006/main">
            <a:r>
              <a:t>EXPLAIN</a:t>
            </a:r>
          </a:p>
          <a:p xmlns:a="http://schemas.openxmlformats.org/drawingml/2006/main">
            <a:r>
              <a:t>Create a feature from available measurements.</a:t>
            </a:r>
          </a:p>
          <a:p xmlns:a="http://schemas.openxmlformats.org/drawingml/2006/main">
            <a:r>
              <a:t/>
            </a:r>
          </a:p>
          <a:p xmlns:a="http://schemas.openxmlformats.org/drawingml/2006/main">
            <a:r>
              <a:t>Compare models with one controlled change.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Creating and testing a useful feature.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 independent features, a full ColumnTransformer construction and domain-code features are extension. Never invent engineering limits.</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 already keep evaluation data separate. Now we change one input representation while keeping the comparison protocol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calculated input may help a model. We compare the original and extended inputs on the same observations, then decide whether the evidence supports the extra feature.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A feature has a meaning.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feature has a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feature has a meaning</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A feature is an input available at prediction time.</a:t>
            </a:r>
          </a:p>
          <a:p xmlns:a="http://schemas.openxmlformats.org/drawingml/2006/main">
            <a:r>
              <a:t/>
            </a:r>
          </a:p>
          <a:p xmlns:a="http://schemas.openxmlformats.org/drawingml/2006/main">
            <a:r>
              <a:t>An interaction multiplies two inputs to express a joint pattern.</a:t>
            </a:r>
          </a:p>
          <a:p xmlns:a="http://schemas.openxmlformats.org/drawingml/2006/main">
            <a:r>
              <a:t/>
            </a:r>
          </a:p>
          <a:p xmlns:a="http://schemas.openxmlformats.org/drawingml/2006/main">
            <a:r>
              <a:t>A better validation score can still reflect leakage.</a:t>
            </a:r>
          </a:p>
          <a:p xmlns:a="http://schemas.openxmlformats.org/drawingml/2006/main">
            <a:r>
              <a:t/>
            </a:r>
          </a:p>
          <a:p xmlns:a="http://schemas.openxmlformats.org/drawingml/2006/main">
            <a:r>
              <a:t>Compare the same observations and explain the physical meaning.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feature has a meaning</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Derived feature and Ratio and interaction.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Derived feature and Ratio and interaction</a:t>
            </a:r>
          </a:p>
          <a:p xmlns:a="http://schemas.openxmlformats.org/drawingml/2006/main">
            <a:r>
              <a:t/>
            </a:r>
          </a:p>
          <a:p xmlns:a="http://schemas.openxmlformats.org/drawingml/2006/main">
            <a:r>
              <a:t>CONNECT</a:t>
            </a:r>
          </a:p>
          <a:p xmlns:a="http://schemas.openxmlformats.org/drawingml/2006/main">
            <a:r>
              <a:t>Build on A feature has a meaning. Explain why this example is needed before running it.</a:t>
            </a:r>
          </a:p>
          <a:p xmlns:a="http://schemas.openxmlformats.org/drawingml/2006/main">
            <a:r>
              <a:t/>
            </a:r>
          </a:p>
          <a:p xmlns:a="http://schemas.openxmlformats.org/drawingml/2006/main">
            <a:r>
              <a:t>EXPLAIN</a:t>
            </a:r>
          </a:p>
          <a:p xmlns:a="http://schemas.openxmlformats.org/drawingml/2006/main">
            <a:r>
              <a:t>Derived feature: A new input calculated from existing inputs. Its definition and unit must be stated.</a:t>
            </a:r>
          </a:p>
          <a:p xmlns:a="http://schemas.openxmlformats.org/drawingml/2006/main">
            <a:r>
              <a:t>Ratio and interaction: A ratio divides quantities; an interaction multiplies them. Both need a domain explanation and a unit check.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feature has a meaning.</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POINT TO THE DEFINITION</a:t>
            </a:r>
          </a:p>
          <a:p xmlns:a="http://schemas.openxmlformats.org/drawingml/2006/main">
            <a:r>
              <a:t>Derived feature: A new input calculated from existing inputs. Its definition and unit must be stated.</a:t>
            </a:r>
          </a:p>
          <a:p xmlns:a="http://schemas.openxmlformats.org/drawingml/2006/main">
            <a:r>
              <a:t>Ratio and interaction: A ratio divides quantities; an interaction multiplies them. Both need a domain explanation and a unit check.</a:t>
            </a:r>
          </a:p>
          <a:p xmlns:a="http://schemas.openxmlformats.org/drawingml/2006/main">
            <a:r>
              <a:t/>
            </a:r>
          </a:p>
          <a:p xmlns:a="http://schemas.openxmlformats.org/drawingml/2006/main">
            <a:r>
              <a:t>NEXT</a:t>
            </a:r>
          </a:p>
          <a:p xmlns:a="http://schemas.openxmlformats.org/drawingml/2006/main">
            <a:r>
              <a:t>Read the physical example across programmes.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physical example across programmes.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physical example across programmes</a:t>
            </a:r>
          </a:p>
          <a:p xmlns:a="http://schemas.openxmlformats.org/drawingml/2006/main">
            <a:r>
              <a:t/>
            </a:r>
          </a:p>
          <a:p xmlns:a="http://schemas.openxmlformats.org/drawingml/2006/main">
            <a:r>
              <a:t>CONNECT</a:t>
            </a:r>
          </a:p>
          <a:p xmlns:a="http://schemas.openxmlformats.org/drawingml/2006/main">
            <a:r>
              <a:t>Build on Derived feature and Ratio and interaction. Explain why this example is needed before running it.</a:t>
            </a:r>
          </a:p>
          <a:p xmlns:a="http://schemas.openxmlformats.org/drawingml/2006/main">
            <a:r>
              <a:t/>
            </a:r>
          </a:p>
          <a:p xmlns:a="http://schemas.openxmlformats.org/drawingml/2006/main">
            <a:r>
              <a:t>EXPLAIN</a:t>
            </a:r>
          </a:p>
          <a:p xmlns:a="http://schemas.openxmlformats.org/drawingml/2006/main">
            <a:r>
              <a:t>Current I is the flow of electric charge, measured in amperes (A). Resistance R opposes that flow, measured in ohms.</a:t>
            </a:r>
          </a:p>
          <a:p xmlns:a="http://schemas.openxmlformats.org/drawingml/2006/main">
            <a:r>
              <a:t/>
            </a:r>
          </a:p>
          <a:p xmlns:a="http://schemas.openxmlformats.org/drawingml/2006/main">
            <a:r>
              <a:t>Power P is energy transferred per second, measured in watts (W). Resistive heating follows P = I²R in this example.</a:t>
            </a:r>
          </a:p>
          <a:p xmlns:a="http://schemas.openxmlformats.org/drawingml/2006/main">
            <a:r>
              <a:t/>
            </a:r>
          </a:p>
          <a:p xmlns:a="http://schemas.openxmlformats.org/drawingml/2006/main">
            <a:r>
              <a:t>I² means I × I. With I = 2 A and R = 3 ohms, P = 2 × 2 × 3 = 12 W. This relationship motivates a feature; evaluation still tests whether it helps.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physical example across programmes</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A physical relationship can form a feature.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physical relationship can form a feature.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physical relationship can form a feature</a:t>
            </a:r>
          </a:p>
          <a:p xmlns:a="http://schemas.openxmlformats.org/drawingml/2006/main">
            <a:r>
              <a:t/>
            </a:r>
          </a:p>
          <a:p xmlns:a="http://schemas.openxmlformats.org/drawingml/2006/main">
            <a:r>
              <a:t>CONNECT</a:t>
            </a:r>
          </a:p>
          <a:p xmlns:a="http://schemas.openxmlformats.org/drawingml/2006/main">
            <a:r>
              <a:t>Build on Read the physical example across programmes. Explain why this example is needed before running it.</a:t>
            </a:r>
          </a:p>
          <a:p xmlns:a="http://schemas.openxmlformats.org/drawingml/2006/main">
            <a:r>
              <a:t/>
            </a:r>
          </a:p>
          <a:p xmlns:a="http://schemas.openxmlformats.org/drawingml/2006/main">
            <a:r>
              <a:t>EXPLAIN</a:t>
            </a:r>
          </a:p>
          <a:p xmlns:a="http://schemas.openxmlformats.org/drawingml/2006/main">
            <a:r>
              <a:t>Explain each quantity and the unit of the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physical relationship can form a feature</a:t>
            </a:r>
          </a:p>
          <a:p xmlns:a="http://schemas.openxmlformats.org/drawingml/2006/main">
            <a:r>
              <a:t/>
            </a:r>
          </a:p>
          <a:p xmlns:a="http://schemas.openxmlformats.org/drawingml/2006/main">
            <a:r>
              <a:t>CONNECT</a:t>
            </a:r>
          </a:p>
          <a:p xmlns:a="http://schemas.openxmlformats.org/drawingml/2006/main">
            <a:r>
              <a:t>Build on the preceding slide: Read the physical example across programmes.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An interaction uses two known inputs.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interaction uses two known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interaction uses two known inputs</a:t>
            </a:r>
          </a:p>
          <a:p xmlns:a="http://schemas.openxmlformats.org/drawingml/2006/main">
            <a:r>
              <a:t/>
            </a:r>
          </a:p>
          <a:p xmlns:a="http://schemas.openxmlformats.org/drawingml/2006/main">
            <a:r>
              <a:t>CONNECT</a:t>
            </a:r>
          </a:p>
          <a:p xmlns:a="http://schemas.openxmlformats.org/drawingml/2006/main">
            <a:r>
              <a:t>Build on A physical relationship can form a feature. Explain why this example is needed before running it.</a:t>
            </a:r>
          </a:p>
          <a:p xmlns:a="http://schemas.openxmlformats.org/drawingml/2006/main">
            <a:r>
              <a:t/>
            </a:r>
          </a:p>
          <a:p xmlns:a="http://schemas.openxmlformats.org/drawingml/2006/main">
            <a:r>
              <a:t>EXPLAIN</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interaction uses two known inputs</a:t>
            </a:r>
          </a:p>
          <a:p xmlns:a="http://schemas.openxmlformats.org/drawingml/2006/main">
            <a:r>
              <a:t/>
            </a:r>
          </a:p>
          <a:p xmlns:a="http://schemas.openxmlformats.org/drawingml/2006/main">
            <a:r>
              <a:t>CONNECT</a:t>
            </a:r>
          </a:p>
          <a:p xmlns:a="http://schemas.openxmlformats.org/drawingml/2006/main">
            <a:r>
              <a:t>Build on the preceding slide: A physical relationship can form a feature.</a:t>
            </a:r>
          </a:p>
          <a:p xmlns:a="http://schemas.openxmlformats.org/drawingml/2006/main">
            <a:r>
              <a:t/>
            </a:r>
          </a:p>
          <a:p xmlns:a="http://schemas.openxmlformats.org/drawingml/2006/main">
            <a:r>
              <a:t>LECTURER CUE</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percentage and its fraction.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percentage and its fraction.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percentage and its fraction</a:t>
            </a:r>
          </a:p>
          <a:p xmlns:a="http://schemas.openxmlformats.org/drawingml/2006/main">
            <a:r>
              <a:t/>
            </a:r>
          </a:p>
          <a:p xmlns:a="http://schemas.openxmlformats.org/drawingml/2006/main">
            <a:r>
              <a:t>CONNECT</a:t>
            </a:r>
          </a:p>
          <a:p xmlns:a="http://schemas.openxmlformats.org/drawingml/2006/main">
            <a:r>
              <a:t>Build on An interaction uses two known inputs. Explain why this example is needed before running it.</a:t>
            </a:r>
          </a:p>
          <a:p xmlns:a="http://schemas.openxmlformats.org/drawingml/2006/main">
            <a:r>
              <a:t/>
            </a:r>
          </a:p>
          <a:p xmlns:a="http://schemas.openxmlformats.org/drawingml/2006/main">
            <a:r>
              <a:t>EXPLAIN</a:t>
            </a:r>
          </a:p>
          <a:p xmlns:a="http://schemas.openxmlformats.org/drawingml/2006/main">
            <a:r>
              <a:t>40% means 40 out of 100.</a:t>
            </a:r>
          </a:p>
          <a:p xmlns:a="http://schemas.openxmlformats.org/drawingml/2006/main">
            <a:r>
              <a:t/>
            </a:r>
          </a:p>
          <a:p xmlns:a="http://schemas.openxmlformats.org/drawingml/2006/main">
            <a:r>
              <a:t>40 / 100 gives 0.4.</a:t>
            </a:r>
          </a:p>
          <a:p xmlns:a="http://schemas.openxmlformats.org/drawingml/2006/main">
            <a:r>
              <a:t/>
            </a:r>
          </a:p>
          <a:p xmlns:a="http://schemas.openxmlformats.org/drawingml/2006/main">
            <a:r>
              <a:t>This changes the representation. It adds no new observation.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percentage and its fraction</a:t>
            </a:r>
          </a:p>
          <a:p xmlns:a="http://schemas.openxmlformats.org/drawingml/2006/main">
            <a:r>
              <a:t/>
            </a:r>
          </a:p>
          <a:p xmlns:a="http://schemas.openxmlformats.org/drawingml/2006/main">
            <a:r>
              <a:t>CONNECT</a:t>
            </a:r>
          </a:p>
          <a:p xmlns:a="http://schemas.openxmlformats.org/drawingml/2006/main">
            <a:r>
              <a:t>Build on the preceding slide: An interaction uses two known inputs.</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A combined input needs a reason.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combined input needs a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combined input needs a reason</a:t>
            </a:r>
          </a:p>
          <a:p xmlns:a="http://schemas.openxmlformats.org/drawingml/2006/main">
            <a:r>
              <a:t/>
            </a:r>
          </a:p>
          <a:p xmlns:a="http://schemas.openxmlformats.org/drawingml/2006/main">
            <a:r>
              <a:t>CONNECT</a:t>
            </a:r>
          </a:p>
          <a:p xmlns:a="http://schemas.openxmlformats.org/drawingml/2006/main">
            <a:r>
              <a:t>Build on A percentage and its fraction. Explain why this example is needed before running it.</a:t>
            </a:r>
          </a:p>
          <a:p xmlns:a="http://schemas.openxmlformats.org/drawingml/2006/main">
            <a:r>
              <a:t/>
            </a:r>
          </a:p>
          <a:p xmlns:a="http://schemas.openxmlformats.org/drawingml/2006/main">
            <a:r>
              <a:t>EXPLAIN</a:t>
            </a:r>
          </a:p>
          <a:p xmlns:a="http://schemas.openxmlformats.org/drawingml/2006/main">
            <a:r>
              <a:t>An interaction multiplies two inputs.</a:t>
            </a:r>
          </a:p>
          <a:p xmlns:a="http://schemas.openxmlformats.org/drawingml/2006/main">
            <a:r>
              <a:t/>
            </a:r>
          </a:p>
          <a:p xmlns:a="http://schemas.openxmlformats.org/drawingml/2006/main">
            <a:r>
              <a:t>It may help a simple model represent a joint pattern.</a:t>
            </a:r>
          </a:p>
          <a:p xmlns:a="http://schemas.openxmlformats.org/drawingml/2006/main">
            <a:r>
              <a:t/>
            </a:r>
          </a:p>
          <a:p xmlns:a="http://schemas.openxmlformats.org/drawingml/2006/main">
            <a:r>
              <a:t>An interaction with degrees Celsius is an empirical feature, not automatically a physical law.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combined input needs a reason</a:t>
            </a:r>
          </a:p>
          <a:p xmlns:a="http://schemas.openxmlformats.org/drawingml/2006/main">
            <a:r>
              <a:t/>
            </a:r>
          </a:p>
          <a:p xmlns:a="http://schemas.openxmlformats.org/drawingml/2006/main">
            <a:r>
              <a:t>CONNECT</a:t>
            </a:r>
          </a:p>
          <a:p xmlns:a="http://schemas.openxmlformats.org/drawingml/2006/main">
            <a:r>
              <a:t>Build on the preceding slide: A percentage and its fraction.</a:t>
            </a:r>
          </a:p>
          <a:p xmlns:a="http://schemas.openxmlformats.org/drawingml/2006/main">
            <a:r>
              <a:t/>
            </a:r>
          </a:p>
          <a:p xmlns:a="http://schemas.openxmlformats.org/drawingml/2006/main">
            <a:r>
              <a:t>LECTURER CUE</a:t>
            </a:r>
          </a:p>
          <a:p xmlns:a="http://schemas.openxmlformats.org/drawingml/2006/main">
            <a:r>
              <a:t>An interaction may help a simple model express a relationship, but usefulness is tested rather than assumed. An interaction involving Celsius is an empirical feature, not automatically a physical law.</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Ablation and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 and Improvement</a:t>
            </a:r>
          </a:p>
          <a:p xmlns:a="http://schemas.openxmlformats.org/drawingml/2006/main">
            <a:r>
              <a:t/>
            </a:r>
          </a:p>
          <a:p xmlns:a="http://schemas.openxmlformats.org/drawingml/2006/main">
            <a:r>
              <a:t>CONNECT</a:t>
            </a:r>
          </a:p>
          <a:p xmlns:a="http://schemas.openxmlformats.org/drawingml/2006/main">
            <a:r>
              <a:t>Build on A combined input needs a reason. Explain why this example is needed before running it.</a:t>
            </a:r>
          </a:p>
          <a:p xmlns:a="http://schemas.openxmlformats.org/drawingml/2006/main">
            <a:r>
              <a:t/>
            </a:r>
          </a:p>
          <a:p xmlns:a="http://schemas.openxmlformats.org/drawingml/2006/main">
            <a:r>
              <a:t>EXPLAIN</a:t>
            </a:r>
          </a:p>
          <a:p xmlns:a="http://schemas.openxmlformats.org/drawingml/2006/main">
            <a:r>
              <a:t>Ablation: Compare a model with and without a feature while keeping the data partitions, model family and metric fixed.</a:t>
            </a:r>
          </a:p>
          <a:p xmlns:a="http://schemas.openxmlformats.org/drawingml/2006/main">
            <a:r>
              <a:t>Improvement: For an error metric, baseline error minus new error. A negative result means the added feature worsened validation error in that comparison.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combined input needs a reason.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POINT TO THE DEFINITION</a:t>
            </a:r>
          </a:p>
          <a:p xmlns:a="http://schemas.openxmlformats.org/drawingml/2006/main">
            <a:r>
              <a:t>Ablation: Compare a model with and without a feature while keeping the data partitions, model family and metric fixed.</a:t>
            </a:r>
          </a:p>
          <a:p xmlns:a="http://schemas.openxmlformats.org/drawingml/2006/main">
            <a:r>
              <a:t>Improvement: For an error metric, baseline error minus new error. A negative result means the added feature worsened validation error in that comparison.</a:t>
            </a:r>
          </a:p>
          <a:p xmlns:a="http://schemas.openxmlformats.org/drawingml/2006/main">
            <a:r>
              <a:t/>
            </a:r>
          </a:p>
          <a:p xmlns:a="http://schemas.openxmlformats.org/drawingml/2006/main">
            <a:r>
              <a:t>NEXT</a:t>
            </a:r>
          </a:p>
          <a:p xmlns:a="http://schemas.openxmlformats.org/drawingml/2006/main">
            <a:r>
              <a:t>One change makes a comparison interpretable.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change makes a comparison interpretable.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change makes a comparison interpretable</a:t>
            </a:r>
          </a:p>
          <a:p xmlns:a="http://schemas.openxmlformats.org/drawingml/2006/main">
            <a:r>
              <a:t/>
            </a:r>
          </a:p>
          <a:p xmlns:a="http://schemas.openxmlformats.org/drawingml/2006/main">
            <a:r>
              <a:t>CONNECT</a:t>
            </a:r>
          </a:p>
          <a:p xmlns:a="http://schemas.openxmlformats.org/drawingml/2006/main">
            <a:r>
              <a:t>Build on Ablation and Improvement. Explain why this example is needed before running it.</a:t>
            </a:r>
          </a:p>
          <a:p xmlns:a="http://schemas.openxmlformats.org/drawingml/2006/main">
            <a:r>
              <a:t/>
            </a:r>
          </a:p>
          <a:p xmlns:a="http://schemas.openxmlformats.org/drawingml/2006/main">
            <a:r>
              <a:t>EXPLAIN</a:t>
            </a:r>
          </a:p>
          <a:p xmlns:a="http://schemas.openxmlformats.org/drawingml/2006/main">
            <a:r>
              <a:t>Base MAE is 3.0. Extended MAE is 2.5.</a:t>
            </a:r>
          </a:p>
          <a:p xmlns:a="http://schemas.openxmlformats.org/drawingml/2006/main">
            <a:r>
              <a:t/>
            </a:r>
          </a:p>
          <a:p xmlns:a="http://schemas.openxmlformats.org/drawingml/2006/main">
            <a:r>
              <a:t>Improvement = base error minus extended error = 0.5.</a:t>
            </a:r>
          </a:p>
          <a:p xmlns:a="http://schemas.openxmlformats.org/drawingml/2006/main">
            <a:r>
              <a:t/>
            </a:r>
          </a:p>
          <a:p xmlns:a="http://schemas.openxmlformats.org/drawingml/2006/main">
            <a:r>
              <a:t>Keep the training rows, validation rows, model family and metric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One change makes a comparison interpretable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Read a two-row results table: base MAE 3, extended MAE 2.5 gives improvement 0.5 target units. Ask which other experimental choices must stay fixed.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in Python</a:t>
            </a:r>
          </a:p>
          <a:p xmlns:a="http://schemas.openxmlformats.org/drawingml/2006/main">
            <a:r>
              <a:t/>
            </a:r>
          </a:p>
          <a:p xmlns:a="http://schemas.openxmlformats.org/drawingml/2006/main">
            <a:r>
              <a:t>CONNECT</a:t>
            </a:r>
          </a:p>
          <a:p xmlns:a="http://schemas.openxmlformats.org/drawingml/2006/main">
            <a:r>
              <a:t>Build on One change makes a comparison interpretable.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One change makes a comparison interpretable.</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 An interaction may help a simple model express a relationship, but usefulness is tested rather than assumed. An interaction involving Celsius is an empirical feature, not automatically a physical law. Read a two-row results table: base MAE 3, extended MAE 2.5 gives improvement 0.5 target units. Ask which other experimental choices must stay fixed.</a:t>
            </a:r>
          </a:p>
          <a:p xmlns:a="http://schemas.openxmlformats.org/drawingml/2006/main">
            <a:r>
              <a:t/>
            </a:r>
          </a:p>
          <a:p xmlns:a="http://schemas.openxmlformats.org/drawingml/2006/main">
            <a:r>
              <a:t>Complete practice code:</a:t>
            </a:r>
          </a:p>
          <a:p xmlns:a="http://schemas.openxmlformats.org/drawingml/2006/main">
            <a:r>
              <a:t>load_pct = 40</a:t>
            </a:r>
          </a:p>
          <a:p xmlns:a="http://schemas.openxmlformats.org/drawingml/2006/main">
            <a:r>
              <a:t>ambient_c = 25</a:t>
            </a:r>
          </a:p>
          <a:p xmlns:a="http://schemas.openxmlformats.org/drawingml/2006/main">
            <a:r>
              <a:t>load_fraction = load_pct / 100</a:t>
            </a:r>
          </a:p>
          <a:p xmlns:a="http://schemas.openxmlformats.org/drawingml/2006/main">
            <a:r>
              <a:t>interaction = load_pct * ambient_c</a:t>
            </a:r>
          </a:p>
          <a:p xmlns:a="http://schemas.openxmlformats.org/drawingml/2006/main">
            <a:r>
              <a:t>print(load_fraction, interaction)</a:t>
            </a:r>
          </a:p>
          <a:p xmlns:a="http://schemas.openxmlformats.org/drawingml/2006/main">
            <a:r>
              <a:t>base_mae = 3.0</a:t>
            </a:r>
          </a:p>
          <a:p xmlns:a="http://schemas.openxmlformats.org/drawingml/2006/main">
            <a:r>
              <a:t>extended_mae = 2.5</a:t>
            </a:r>
          </a:p>
          <a:p xmlns:a="http://schemas.openxmlformats.org/drawingml/2006/main">
            <a:r>
              <a:t>print(base_mae - extended_mae)</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results</a:t>
            </a:r>
          </a:p>
          <a:p xmlns:a="http://schemas.openxmlformats.org/drawingml/2006/main">
            <a:r>
              <a:t/>
            </a:r>
          </a:p>
          <a:p xmlns:a="http://schemas.openxmlformats.org/drawingml/2006/main">
            <a:r>
              <a:t>CONNECT</a:t>
            </a:r>
          </a:p>
          <a:p xmlns:a="http://schemas.openxmlformats.org/drawingml/2006/main">
            <a:r>
              <a:t>Build on Feature comparisons in Python. Explain why this example is needed before running it.</a:t>
            </a:r>
          </a:p>
          <a:p xmlns:a="http://schemas.openxmlformats.org/drawingml/2006/main">
            <a:r>
              <a:t/>
            </a:r>
          </a:p>
          <a:p xmlns:a="http://schemas.openxmlformats.org/drawingml/2006/main">
            <a:r>
              <a:t>EXPLAIN</a:t>
            </a:r>
          </a:p>
          <a:p xmlns:a="http://schemas.openxmlformats.org/drawingml/2006/main">
            <a:r>
              <a:t>0.4 1000</a:t>
            </a:r>
          </a:p>
          <a:p xmlns:a="http://schemas.openxmlformats.org/drawingml/2006/main">
            <a:r>
              <a:t>0.5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Read the two-model experiment.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two-model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two-model experiment</a:t>
            </a:r>
          </a:p>
          <a:p xmlns:a="http://schemas.openxmlformats.org/drawingml/2006/main">
            <a:r>
              <a:t/>
            </a:r>
          </a:p>
          <a:p xmlns:a="http://schemas.openxmlformats.org/drawingml/2006/main">
            <a:r>
              <a:t>CONNECT</a:t>
            </a:r>
          </a:p>
          <a:p xmlns:a="http://schemas.openxmlformats.org/drawingml/2006/main">
            <a:r>
              <a:t>Build on Feature comparisons results. Explain why this example is needed before running it.</a:t>
            </a:r>
          </a:p>
          <a:p xmlns:a="http://schemas.openxmlformats.org/drawingml/2006/main">
            <a:r>
              <a:t/>
            </a:r>
          </a:p>
          <a:p xmlns:a="http://schemas.openxmlformats.org/drawingml/2006/main">
            <a:r>
              <a:t>EXPLAIN</a:t>
            </a:r>
          </a:p>
          <a:p xmlns:a="http://schemas.openxmlformats.org/drawingml/2006/main">
            <a:r>
              <a:t>Each row contains a pair of inputs. for a, b in rows assigns the first entry to a and the second to b, then repeats the block.</a:t>
            </a:r>
          </a:p>
          <a:p xmlns:a="http://schemas.openxmlformats.org/drawingml/2006/main">
            <a:r>
              <a:t/>
            </a:r>
          </a:p>
          <a:p xmlns:a="http://schemas.openxmlformats.org/drawingml/2006/main">
            <a:r>
              <a:t>with_interaction returns a new table containing a, b and a × b. Both models keep the same training and validation rows.</a:t>
            </a:r>
          </a:p>
          <a:p xmlns:a="http://schemas.openxmlformats.org/drawingml/2006/main">
            <a:r>
              <a:t/>
            </a:r>
          </a:p>
          <a:p xmlns:a="http://schemas.openxmlformats.org/drawingml/2006/main">
            <a:r>
              <a:t>fit returns the fitted model object, so creating and fitting can appear in one expression. round(value, 6) rounds a displayed number to six decimal places.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two-model experiment</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Two models under one protocol.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a:t>
            </a:r>
          </a:p>
          <a:p xmlns:a="http://schemas.openxmlformats.org/drawingml/2006/main">
            <a:r>
              <a:t/>
            </a:r>
          </a:p>
          <a:p xmlns:a="http://schemas.openxmlformats.org/drawingml/2006/main">
            <a:r>
              <a:t>CONNECT</a:t>
            </a:r>
          </a:p>
          <a:p xmlns:a="http://schemas.openxmlformats.org/drawingml/2006/main">
            <a:r>
              <a:t>Build on Read the two-model experiment. Explain why this example is needed before running it.</a:t>
            </a:r>
          </a:p>
          <a:p xmlns:a="http://schemas.openxmlformats.org/drawingml/2006/main">
            <a:r>
              <a:t/>
            </a:r>
          </a:p>
          <a:p xmlns:a="http://schemas.openxmlformats.org/drawingml/2006/main">
            <a:r>
              <a:t>EXPLAIN</a:t>
            </a:r>
          </a:p>
          <a:p xmlns:a="http://schemas.openxmlformats.org/drawingml/2006/main">
            <a:r>
              <a:t>Run this complete practice experiment in a fresh session.</a:t>
            </a:r>
          </a:p>
          <a:p xmlns:a="http://schemas.openxmlformats.org/drawingml/2006/main">
            <a:r>
              <a:t/>
            </a:r>
          </a:p>
          <a:p xmlns:a="http://schemas.openxmlformats.org/drawingml/2006/main">
            <a:r>
              <a:t>Both models use the same rows and targets; the second receives one additional input.</a:t>
            </a:r>
          </a:p>
          <a:p xmlns:a="http://schemas.openxmlformats.org/drawingml/2006/main">
            <a:r>
              <a:t/>
            </a:r>
          </a:p>
          <a:p xmlns:a="http://schemas.openxmlformats.org/drawingml/2006/main">
            <a:r>
              <a:t>Read every column before fitting.</a:t>
            </a:r>
          </a:p>
          <a:p xmlns:a="http://schemas.openxmlformats.org/drawingml/2006/main">
            <a:r>
              <a:t/>
            </a:r>
          </a:p>
          <a:p xmlns:a="http://schemas.openxmlformats.org/drawingml/2006/main">
            <a:r>
              <a:t>This invented experiment illustrates procedure, not a measured engineering benefit.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a:t>
            </a:r>
          </a:p>
          <a:p xmlns:a="http://schemas.openxmlformats.org/drawingml/2006/main">
            <a:r>
              <a:t/>
            </a:r>
          </a:p>
          <a:p xmlns:a="http://schemas.openxmlformats.org/drawingml/2006/main">
            <a:r>
              <a:t>CONNECT</a:t>
            </a:r>
          </a:p>
          <a:p xmlns:a="http://schemas.openxmlformats.org/drawingml/2006/main">
            <a:r>
              <a:t>Build on the preceding slide: Read the two-model experiment.</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Two models under one protocol in Python (1/3).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(1/3)</a:t>
            </a:r>
          </a:p>
          <a:p xmlns:a="http://schemas.openxmlformats.org/drawingml/2006/main">
            <a:r>
              <a:t/>
            </a:r>
          </a:p>
          <a:p xmlns:a="http://schemas.openxmlformats.org/drawingml/2006/main">
            <a:r>
              <a:t>CONNECT</a:t>
            </a:r>
          </a:p>
          <a:p xmlns:a="http://schemas.openxmlformats.org/drawingml/2006/main">
            <a:r>
              <a:t>Build on Two models under one protocol.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(1/3)</a:t>
            </a:r>
          </a:p>
          <a:p xmlns:a="http://schemas.openxmlformats.org/drawingml/2006/main">
            <a:r>
              <a:t/>
            </a:r>
          </a:p>
          <a:p xmlns:a="http://schemas.openxmlformats.org/drawingml/2006/main">
            <a:r>
              <a:t>CONNECT</a:t>
            </a:r>
          </a:p>
          <a:p xmlns:a="http://schemas.openxmlformats.org/drawingml/2006/main">
            <a:r>
              <a:t>Build on the preceding slide: Two models under one protocol.</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models under one protocol in Python (2/3).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(2/3)</a:t>
            </a:r>
          </a:p>
          <a:p xmlns:a="http://schemas.openxmlformats.org/drawingml/2006/main">
            <a:r>
              <a:t/>
            </a:r>
          </a:p>
          <a:p xmlns:a="http://schemas.openxmlformats.org/drawingml/2006/main">
            <a:r>
              <a:t>CONNECT</a:t>
            </a:r>
          </a:p>
          <a:p xmlns:a="http://schemas.openxmlformats.org/drawingml/2006/main">
            <a:r>
              <a:t>Build on Two models under one protocol in Python (1/3).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(2/3)</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(1/3).</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for takes the next item. The indented block repeats.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models under one protocol in Python (3/3).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(3/3)</a:t>
            </a:r>
          </a:p>
          <a:p xmlns:a="http://schemas.openxmlformats.org/drawingml/2006/main">
            <a:r>
              <a:t/>
            </a:r>
          </a:p>
          <a:p xmlns:a="http://schemas.openxmlformats.org/drawingml/2006/main">
            <a:r>
              <a:t>CONNECT</a:t>
            </a:r>
          </a:p>
          <a:p xmlns:a="http://schemas.openxmlformats.org/drawingml/2006/main">
            <a:r>
              <a:t>Build on Two models under one protocol in Python (2/3).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(3/3)</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(2/3).</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Encoding and Scaling.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Encoding and Scaling</a:t>
            </a:r>
          </a:p>
          <a:p xmlns:a="http://schemas.openxmlformats.org/drawingml/2006/main">
            <a:r>
              <a:t/>
            </a:r>
          </a:p>
          <a:p xmlns:a="http://schemas.openxmlformats.org/drawingml/2006/main">
            <a:r>
              <a:t>CONNECT</a:t>
            </a:r>
          </a:p>
          <a:p xmlns:a="http://schemas.openxmlformats.org/drawingml/2006/main">
            <a:r>
              <a:t>Build on Two models under one protocol in Python (3/3). Explain why this example is needed before running it.</a:t>
            </a:r>
          </a:p>
          <a:p xmlns:a="http://schemas.openxmlformats.org/drawingml/2006/main">
            <a:r>
              <a:t/>
            </a:r>
          </a:p>
          <a:p xmlns:a="http://schemas.openxmlformats.org/drawingml/2006/main">
            <a:r>
              <a:t>EXPLAIN</a:t>
            </a:r>
          </a:p>
          <a:p xmlns:a="http://schemas.openxmlformats.org/drawingml/2006/main">
            <a:r>
              <a:t>Encoding: Representing a category numerically. One-hot uses separate indicator columns. Arbitrary integer labels can falsely suggest an order.</a:t>
            </a:r>
          </a:p>
          <a:p xmlns:a="http://schemas.openxmlformats.org/drawingml/2006/main">
            <a:r>
              <a:t>Scaling: Changing the numerical scale of features. Fit learned scaling on training data only. It matters for distance-based models but is not required by ordinary decision trees.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(3/3).</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POINT TO THE DEFINITION</a:t>
            </a:r>
          </a:p>
          <a:p xmlns:a="http://schemas.openxmlformats.org/drawingml/2006/main">
            <a:r>
              <a:t>Encoding: Representing a category numerically. One-hot uses separate indicator columns. Arbitrary integer labels can falsely suggest an order.</a:t>
            </a:r>
          </a:p>
          <a:p xmlns:a="http://schemas.openxmlformats.org/drawingml/2006/main">
            <a:r>
              <a:t>Scaling: Changing the numerical scale of features. Fit learned scaling on training data only. It matters for distance-based models but is not required by ordinary decision trees.</a:t>
            </a:r>
          </a:p>
          <a:p xmlns:a="http://schemas.openxmlformats.org/drawingml/2006/main">
            <a:r>
              <a:t/>
            </a:r>
          </a:p>
          <a:p xmlns:a="http://schemas.openxmlformats.org/drawingml/2006/main">
            <a:r>
              <a:t>NEXT</a:t>
            </a:r>
          </a:p>
          <a:p xmlns:a="http://schemas.openxmlformats.org/drawingml/2006/main">
            <a:r>
              <a:t>You are the feature reviewer.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Encoding and Scaling. Explain why this example is needed before running it.</a:t>
            </a:r>
          </a:p>
          <a:p xmlns:a="http://schemas.openxmlformats.org/drawingml/2006/main">
            <a:r>
              <a:t/>
            </a:r>
          </a:p>
          <a:p xmlns:a="http://schemas.openxmlformats.org/drawingml/2006/main">
            <a:r>
              <a:t>EXPLAIN</a:t>
            </a:r>
          </a:p>
          <a:p xmlns:a="http://schemas.openxmlformats.org/drawingml/2006/main">
            <a:r>
              <a:t>Example: If the extended error becomes 3.4, calculate improvement and decide whether this evidence supports retaining the feature.</a:t>
            </a:r>
          </a:p>
          <a:p xmlns:a="http://schemas.openxmlformats.org/drawingml/2006/main">
            <a:r>
              <a:t/>
            </a:r>
          </a:p>
          <a:p xmlns:a="http://schemas.openxmlformats.org/drawingml/2006/main">
            <a:r>
              <a:t>Answer: Improvement is -0.4. This validation comparison does not support retaining it. One split is limited evidence; the final test remains untouched.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Improvement is -0.4. This validation comparison does not support retaining it. One split is limited evidence; the final test remains untouched.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Improvement is -0.4. This validation comparison does not support retaining it. One split is limited evidence; the final test remains untouched.</a:t>
            </a:r>
          </a:p>
          <a:p xmlns:a="http://schemas.openxmlformats.org/drawingml/2006/main">
            <a:r>
              <a:t>Which step produced this result? What changes if one input changes?</a:t>
            </a:r>
          </a:p>
          <a:p xmlns:a="http://schemas.openxmlformats.org/drawingml/2006/main">
            <a:r>
              <a:t>CML3112   Week 11   25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W11 names four output features and a two-model ablation.</a:t>
            </a:r>
          </a:p>
          <a:p xmlns:a="http://schemas.openxmlformats.org/drawingml/2006/main">
            <a:r>
              <a:t/>
            </a:r>
          </a:p>
          <a:p xmlns:a="http://schemas.openxmlformats.org/drawingml/2006/main">
            <a:r>
              <a:t>Explain output order, preservation of input rows, full precision and training-only fitting.</a:t>
            </a:r>
          </a:p>
          <a:p xmlns:a="http://schemas.openxmlformats.org/drawingml/2006/main">
            <a:r>
              <a:t/>
            </a:r>
          </a:p>
          <a:p xmlns:a="http://schemas.openxmlformats.org/drawingml/2006/main">
            <a:r>
              <a:t>Use the supplied written scenario for the interpretation requested there.</a:t>
            </a:r>
          </a:p>
          <a:p xmlns:a="http://schemas.openxmlformats.org/drawingml/2006/main">
            <a:r>
              <a:t/>
            </a:r>
          </a:p>
          <a:p xmlns:a="http://schemas.openxmlformats.org/drawingml/2006/main">
            <a:r>
              <a:t>Do not substitute this practice example’s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W11 names four output features and a two-model ablation. Explain output order, preservation of input rows, full precision and training-only fitting. Use the supplied written scenario for the interpretation requested there. Do not substitute this practice example’s result.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Features without misleading evaluation.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without misleading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Rescaling an input usually does not change the partitions available to an ordinary decision tree.</a:t>
            </a:r>
          </a:p>
          <a:p xmlns:a="http://schemas.openxmlformats.org/drawingml/2006/main">
            <a:r>
              <a:t/>
            </a:r>
          </a:p>
          <a:p xmlns:a="http://schemas.openxmlformats.org/drawingml/2006/main">
            <a:r>
              <a:t>An identifier or a future-known field can create an apparent improvement without useful predictive information.</a:t>
            </a:r>
          </a:p>
          <a:p xmlns:a="http://schemas.openxmlformats.org/drawingml/2006/main">
            <a:r>
              <a:t/>
            </a:r>
          </a:p>
          <a:p xmlns:a="http://schemas.openxmlformats.org/drawingml/2006/main">
            <a:r>
              <a:t>Dividing by zero can produce infinity or an error; decide what the denominator means before replacing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without misleading evaluation</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Features without misleading evaluation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without misleading evaluation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 continued</a:t>
            </a:r>
          </a:p>
          <a:p xmlns:a="http://schemas.openxmlformats.org/drawingml/2006/main">
            <a:r>
              <a:t/>
            </a:r>
          </a:p>
          <a:p xmlns:a="http://schemas.openxmlformats.org/drawingml/2006/main">
            <a:r>
              <a:t>CONNECT</a:t>
            </a:r>
          </a:p>
          <a:p xmlns:a="http://schemas.openxmlformats.org/drawingml/2006/main">
            <a:r>
              <a:t>Build on Features without misleading evaluation. Explain why this example is needed before running it.</a:t>
            </a:r>
          </a:p>
          <a:p xmlns:a="http://schemas.openxmlformats.org/drawingml/2006/main">
            <a:r>
              <a:t/>
            </a:r>
          </a:p>
          <a:p xmlns:a="http://schemas.openxmlformats.org/drawingml/2006/main">
            <a:r>
              <a:t>EXPLAIN</a:t>
            </a:r>
          </a:p>
          <a:p xmlns:a="http://schemas.openxmlformats.org/drawingml/2006/main">
            <a:r>
              <a:t>Read ablation differences using the same error definition, and explain features using domain knowledge.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without misleading evaluation continued</a:t>
            </a:r>
          </a:p>
          <a:p xmlns:a="http://schemas.openxmlformats.org/drawingml/2006/main">
            <a:r>
              <a:t/>
            </a:r>
          </a:p>
          <a:p xmlns:a="http://schemas.openxmlformats.org/drawingml/2006/main">
            <a:r>
              <a:t>CONNECT</a:t>
            </a:r>
          </a:p>
          <a:p xmlns:a="http://schemas.openxmlformats.org/drawingml/2006/main">
            <a:r>
              <a:t>Build on the preceding slide: Features without misleading evaluation.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Features without misleading evaluation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Features without misleading evaluation continued.</a:t>
            </a:r>
          </a:p>
          <a:p xmlns:a="http://schemas.openxmlformats.org/drawingml/2006/main">
            <a:r>
              <a:t/>
            </a:r>
          </a:p>
          <a:p xmlns:a="http://schemas.openxmlformats.org/drawingml/2006/main">
            <a:r>
              <a:t>LECTURER CUE</a:t>
            </a:r>
          </a:p>
          <a:p xmlns:a="http://schemas.openxmlformats.org/drawingml/2006/main">
            <a:r>
              <a:t>Investigate building cooling load. Target units: kW.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make_features(feature_records).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make_features(feature_records).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make_features(feature_records)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Return one feature row per input, in order: [load_pct, ambient_c, load_pct/100, load_pct*ambient_c].</a:t>
            </a:r>
          </a:p>
          <a:p xmlns:a="http://schemas.openxmlformats.org/drawingml/2006/main">
            <a:r>
              <a:t/>
            </a:r>
          </a:p>
          <a:p xmlns:a="http://schemas.openxmlformats.org/drawingml/2006/main">
            <a:r>
              <a:t>Use inputs available at prediction time only.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make_features(feature_records)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IUEA_Teaching_Plan/assessment_banks/W11/CML3112/A/TASKS.md</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ablation_metrics(training_records, validation_records).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ablation_metrics(training_records, validation_records).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ablation_metrics(training_records, validation_records)</a:t>
            </a:r>
          </a:p>
          <a:p xmlns:a="http://schemas.openxmlformats.org/drawingml/2006/main">
            <a:r>
              <a:t/>
            </a:r>
          </a:p>
          <a:p xmlns:a="http://schemas.openxmlformats.org/drawingml/2006/main">
            <a:r>
              <a:t>CONNECT</a:t>
            </a:r>
          </a:p>
          <a:p xmlns:a="http://schemas.openxmlformats.org/drawingml/2006/main">
            <a:r>
              <a:t>Build on make_features(feature_records).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r>
              <a:t>Evaluate both on the same validation records.</a:t>
            </a:r>
          </a:p>
          <a:p xmlns:a="http://schemas.openxmlformats.org/drawingml/2006/main">
            <a:r>
              <a:t/>
            </a:r>
          </a:p>
          <a:p xmlns:a="http://schemas.openxmlformats.org/drawingml/2006/main">
            <a:r>
              <a:t>Return base_mae, extended_mae and improvement=base_mae-extended_mae, without rounding.</a:t>
            </a:r>
          </a:p>
          <a:p xmlns:a="http://schemas.openxmlformats.org/drawingml/2006/main">
            <a:r>
              <a:t/>
            </a:r>
          </a:p>
          <a:p xmlns:a="http://schemas.openxmlformats.org/drawingml/2006/main">
            <a:r>
              <a:t>Inputs are complete; never fit on validation targets.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ablation_metrics(training_records, validation_records)</a:t>
            </a:r>
          </a:p>
          <a:p xmlns:a="http://schemas.openxmlformats.org/drawingml/2006/main">
            <a:r>
              <a:t/>
            </a:r>
          </a:p>
          <a:p xmlns:a="http://schemas.openxmlformats.org/drawingml/2006/main">
            <a:r>
              <a:t>CONNECT</a:t>
            </a:r>
          </a:p>
          <a:p xmlns:a="http://schemas.openxmlformats.org/drawingml/2006/main">
            <a:r>
              <a:t>Build on the preceding slide: make_features(feature_records).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IUEA_Teaching_Plan/assessment_banks/W11/CML3112/A/TASKS.md</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ablation_metrics(training_records, validation_records).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ablation_metrics(training_records, validation_records).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Features and ablation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and ablation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and ablation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17 Nov 2026, 11:00 Kampala</a:t>
            </a:r>
          </a:p>
          <a:p xmlns:a="http://schemas.openxmlformats.org/drawingml/2006/main">
            <a:r>
              <a:t/>
            </a:r>
          </a:p>
          <a:p xmlns:a="http://schemas.openxmlformats.org/drawingml/2006/main">
            <a:r>
              <a:t>Deadline: 24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and ablation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Features and ablation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15 Dec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Features and ablation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11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11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11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11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open_W11_CML3112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11 quiz. Explain why this example is needed before running it.</a:t>
            </a:r>
          </a:p>
          <a:p xmlns:a="http://schemas.openxmlformats.org/drawingml/2006/main">
            <a:r>
              <a:t/>
            </a:r>
          </a:p>
          <a:p xmlns:a="http://schemas.openxmlformats.org/drawingml/2006/main">
            <a:r>
              <a:t>EXPLAIN</a:t>
            </a:r>
          </a:p>
          <a:p xmlns:a="http://schemas.openxmlformats.org/drawingml/2006/main">
            <a:r>
              <a:t>You can state the new feature’s meaning and calculate an improvement correctly.</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11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92cb30b731405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b44bdb619ca43c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438117c93e04cc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8e3bdb97524a3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7b4a569e5c94a8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c41f581d044d8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164A06A-D5A1-49FC-9C12-0E35172F472D}"/>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6D8A9C4-4565-40F5-A263-F022AA11638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81B7B68-5908-40D5-AB9B-9075A110A00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DCA0FA3-320E-49EF-BAF1-98B1DCA5C02E}"/>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DF933D77-E1C1-458F-8D64-AC50C18A0E6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52ABC77-FE1F-483D-92DE-5559B9C9599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08B4A76-E0BF-4BB7-8FE4-10A7823DFFF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4F83E6B-BF29-461A-A452-4D4461CB3DF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C60656A9-8CF9-453B-B0FD-B27802729E8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847F917-A169-4B73-9D0B-DDFF6868656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C019DBE-425C-4E40-BCC4-5468C04F1BA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D4E53BF-0C94-420E-9B87-10DAF2C91E0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844862A-15CA-4770-8F84-1F9EECD2599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28F92FE-73F8-48D4-ADE5-002D93D976C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713CEB9-6F30-4EC2-8499-2EDE4AB83D8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5c3a09217c41c6" /><Relationship Type="http://schemas.openxmlformats.org/officeDocument/2006/relationships/slideLayout" Target="/ppt/slideLayouts/slideLayout1.xml" Id="R5e351982acce4630" /><Relationship Type="http://schemas.openxmlformats.org/officeDocument/2006/relationships/slideLayout" Target="/ppt/slideLayouts/slideLayout2.xml" Id="R0d5e009a45a84090" /><Relationship Type="http://schemas.openxmlformats.org/officeDocument/2006/relationships/slideLayout" Target="/ppt/slideLayouts/slideLayout3.xml" Id="R1068613da53b431f" /><Relationship Type="http://schemas.openxmlformats.org/officeDocument/2006/relationships/slideLayout" Target="/ppt/slideLayouts/slideLayout4.xml" Id="R4874e1f948fd48ea" /><Relationship Type="http://schemas.openxmlformats.org/officeDocument/2006/relationships/slideLayout" Target="/ppt/slideLayouts/slideLayout5.xml" Id="R24228d7612434fe7" /><Relationship Type="http://schemas.openxmlformats.org/officeDocument/2006/relationships/slideLayout" Target="/ppt/slideLayouts/slideLayout6.xml" Id="R85b6718d600443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e351982acce4630"/>
    <p:sldLayoutId xmlns:r="http://schemas.openxmlformats.org/officeDocument/2006/relationships" id="2147483650" r:id="R0d5e009a45a84090"/>
    <p:sldLayoutId xmlns:r="http://schemas.openxmlformats.org/officeDocument/2006/relationships" id="2147483651" r:id="R1068613da53b431f"/>
    <p:sldLayoutId xmlns:r="http://schemas.openxmlformats.org/officeDocument/2006/relationships" id="2147483652" r:id="R4874e1f948fd48ea"/>
    <p:sldLayoutId xmlns:r="http://schemas.openxmlformats.org/officeDocument/2006/relationships" id="2147483653" r:id="R24228d7612434fe7"/>
    <p:sldLayoutId xmlns:r="http://schemas.openxmlformats.org/officeDocument/2006/relationships" id="2147483654" r:id="R85b6718d600443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abb8a5e58ad4c5a" /><Relationship Type="http://schemas.openxmlformats.org/officeDocument/2006/relationships/image" Target="/ppt/media/image.png" Id="Rdef7d64a5cd2419f" /><Relationship Type="http://schemas.openxmlformats.org/officeDocument/2006/relationships/notesSlide" Target="/ppt/notesSlides/notesSlide1.xml" Id="R391643cd203e4cc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580d6ef280040bc" /><Relationship Type="http://schemas.openxmlformats.org/officeDocument/2006/relationships/notesSlide" Target="/ppt/notesSlides/notesSlide2.xml" Id="R7b5c248b8eb649e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823f4dcf5bd4a05" /><Relationship Type="http://schemas.openxmlformats.org/officeDocument/2006/relationships/notesSlide" Target="/ppt/notesSlides/notesSlide3.xml" Id="R7c4f5d774b4949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9793b18a2b549b7" /><Relationship Type="http://schemas.openxmlformats.org/officeDocument/2006/relationships/notesSlide" Target="/ppt/notesSlides/notesSlide4.xml" Id="Rd84c9648df3d491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ae8c98525a54330" /><Relationship Type="http://schemas.openxmlformats.org/officeDocument/2006/relationships/notesSlide" Target="/ppt/notesSlides/notesSlide5.xml" Id="Rad8ca87f701f46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b49cf4159f145b2" /><Relationship Type="http://schemas.openxmlformats.org/officeDocument/2006/relationships/notesSlide" Target="/ppt/notesSlides/notesSlide6.xml" Id="R3a3f6564de5f49d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6c0b146f0c645ac" /><Relationship Type="http://schemas.openxmlformats.org/officeDocument/2006/relationships/notesSlide" Target="/ppt/notesSlides/notesSlide7.xml" Id="R215d1422daef48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23644c4df2e41bb" /><Relationship Type="http://schemas.openxmlformats.org/officeDocument/2006/relationships/image" Target="/ppt/media/image2.png" Id="Radfcea47538d46ab" /><Relationship Type="http://schemas.openxmlformats.org/officeDocument/2006/relationships/notesSlide" Target="/ppt/notesSlides/notesSlide8.xml" Id="Rfd7ac4644f974b0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e05b6c2791c453d" /><Relationship Type="http://schemas.openxmlformats.org/officeDocument/2006/relationships/notesSlide" Target="/ppt/notesSlides/notesSlide9.xml" Id="R786d98ac8e22486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9fdff88d6b441d5" /><Relationship Type="http://schemas.openxmlformats.org/officeDocument/2006/relationships/notesSlide" Target="/ppt/notesSlides/notesSlide10.xml" Id="R711a4ee28b0948c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7f0aa3414fa4f45" /><Relationship Type="http://schemas.openxmlformats.org/officeDocument/2006/relationships/notesSlide" Target="/ppt/notesSlides/notesSlide11.xml" Id="R3b3e3a03bf7b491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10254326aa94e15" /><Relationship Type="http://schemas.openxmlformats.org/officeDocument/2006/relationships/notesSlide" Target="/ppt/notesSlides/notesSlide12.xml" Id="Rf4934383348345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f74c529337449e3" /><Relationship Type="http://schemas.openxmlformats.org/officeDocument/2006/relationships/notesSlide" Target="/ppt/notesSlides/notesSlide13.xml" Id="R4749cdd1065b4c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44bd23835154364" /><Relationship Type="http://schemas.openxmlformats.org/officeDocument/2006/relationships/notesSlide" Target="/ppt/notesSlides/notesSlide14.xml" Id="R623e4d6ed2344d0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35e6e3b4d7443cd" /><Relationship Type="http://schemas.openxmlformats.org/officeDocument/2006/relationships/notesSlide" Target="/ppt/notesSlides/notesSlide15.xml" Id="Ra7c911162ac4474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c02fc3a0a6a42ba" /><Relationship Type="http://schemas.openxmlformats.org/officeDocument/2006/relationships/notesSlide" Target="/ppt/notesSlides/notesSlide16.xml" Id="Rf0cd77ab57f2426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95cb2337d524424" /><Relationship Type="http://schemas.openxmlformats.org/officeDocument/2006/relationships/notesSlide" Target="/ppt/notesSlides/notesSlide17.xml" Id="Rc8675d1176c344b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f4a5a3ecee14611" /><Relationship Type="http://schemas.openxmlformats.org/officeDocument/2006/relationships/notesSlide" Target="/ppt/notesSlides/notesSlide18.xml" Id="Refd9334a226944a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790f91e1a764657" /><Relationship Type="http://schemas.openxmlformats.org/officeDocument/2006/relationships/notesSlide" Target="/ppt/notesSlides/notesSlide19.xml" Id="Rb536930baa504a8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cb09e019c0e41a9" /><Relationship Type="http://schemas.openxmlformats.org/officeDocument/2006/relationships/notesSlide" Target="/ppt/notesSlides/notesSlide20.xml" Id="R098e95127c544a7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32d93bce959443e" /><Relationship Type="http://schemas.openxmlformats.org/officeDocument/2006/relationships/notesSlide" Target="/ppt/notesSlides/notesSlide21.xml" Id="R80d9706ecc2e490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fe5c4190e624306" /><Relationship Type="http://schemas.openxmlformats.org/officeDocument/2006/relationships/notesSlide" Target="/ppt/notesSlides/notesSlide22.xml" Id="R45c363a9b8d242b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a642e886a93416b" /><Relationship Type="http://schemas.openxmlformats.org/officeDocument/2006/relationships/notesSlide" Target="/ppt/notesSlides/notesSlide23.xml" Id="Rd218b4de0ffe4eb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24f4e5484b745b4" /><Relationship Type="http://schemas.openxmlformats.org/officeDocument/2006/relationships/notesSlide" Target="/ppt/notesSlides/notesSlide24.xml" Id="R9c9136b2b8cf415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a624eb71711486f" /><Relationship Type="http://schemas.openxmlformats.org/officeDocument/2006/relationships/notesSlide" Target="/ppt/notesSlides/notesSlide25.xml" Id="Rdbcf8c3d361c43d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542276c99124fcc" /><Relationship Type="http://schemas.openxmlformats.org/officeDocument/2006/relationships/notesSlide" Target="/ppt/notesSlides/notesSlide26.xml" Id="R4c109bec344a460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a8fe072a0d444e3" /><Relationship Type="http://schemas.openxmlformats.org/officeDocument/2006/relationships/notesSlide" Target="/ppt/notesSlides/notesSlide27.xml" Id="R1109f851f529445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a23d954b2464ea1" /><Relationship Type="http://schemas.openxmlformats.org/officeDocument/2006/relationships/notesSlide" Target="/ppt/notesSlides/notesSlide28.xml" Id="R3cb00c29c313415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33c331f68db4a91" /><Relationship Type="http://schemas.openxmlformats.org/officeDocument/2006/relationships/notesSlide" Target="/ppt/notesSlides/notesSlide29.xml" Id="R256d81c1d1d34b6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8c0a87014ef4392" /><Relationship Type="http://schemas.openxmlformats.org/officeDocument/2006/relationships/hyperlink" Target="https://docs.google.com/forms/d/e/1FAIpQLSfSqUcR9TgY7f1c7HXO9KGM3C2yXm1r7V2rQl2WEubwZir8iw/viewform" TargetMode="External" Id="R0113e990789a437a" /><Relationship Type="http://schemas.openxmlformats.org/officeDocument/2006/relationships/notesSlide" Target="/ppt/notesSlides/notesSlide30.xml" Id="Rc33e4ae57f2943d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fc91ff7e70e4d96" /><Relationship Type="http://schemas.openxmlformats.org/officeDocument/2006/relationships/notesSlide" Target="/ppt/notesSlides/notesSlide31.xml" Id="R973ce626834f452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294c701e63044f2" /><Relationship Type="http://schemas.openxmlformats.org/officeDocument/2006/relationships/image" Target="/ppt/media/image3.png" Id="R4dcba9b46a7746cf" /><Relationship Type="http://schemas.openxmlformats.org/officeDocument/2006/relationships/hyperlink" Target="https://forms.gle/FTSCoDUMmcwSYPc78" TargetMode="External" Id="R8988473161684f89" /><Relationship Type="http://schemas.openxmlformats.org/officeDocument/2006/relationships/notesSlide" Target="/ppt/notesSlides/notesSlide32.xml" Id="Rcf1ff41a8ac74c4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122a9139bb64b04" /><Relationship Type="http://schemas.openxmlformats.org/officeDocument/2006/relationships/notesSlide" Target="/ppt/notesSlides/notesSlide33.xml" Id="R408573a5685247c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ef7d64a5cd2419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583A30-F2C2-4D1A-A8DE-CDAD56D739B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391BD28-81BD-4BF9-A97A-AC29248DA05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11</a:t>
            </a:r>
          </a:p>
        </p:txBody>
      </p:sp>
      <p:sp>
        <p:nvSpPr>
          <p:cNvPr id="4" name="">
            <a:extLst xmlns:a="http://schemas.openxmlformats.org/drawingml/2006/main">
              <a:ext uri="{FF2B5EF4-FFF2-40B4-BE49-F238E27FC236}">
                <a16:creationId xmlns:a16="http://schemas.microsoft.com/office/drawing/2014/main" id="{8D5027B2-5EF1-412C-9966-F459144C985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7659475B-3B40-4F02-80B9-BA8DE764C47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F457F8B-99D7-43D7-9D7C-D5EB22FB2DE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5567450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4D95C86-7E1F-402C-8527-4B9C4C9FF7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9BD894-C774-40FC-8A44-0831E6FBA2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848F44D-9265-4D47-AD42-E6A6B50879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5B66FD1-C1AB-4D2B-B4AA-F4E04D4C8EE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BDE7DB-230F-4885-8B68-B5A707CC85E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9EC2795-0ABC-4FDE-B811-396E3932C41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C82A2AC8-B124-4D4F-B311-4014A9F93DA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E122913-9BD1-462F-9073-FDD402D8CA2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1CE94955-9563-4EA0-9F2D-7C74661ECC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a:t>
            </a:r>
          </a:p>
        </p:txBody>
      </p:sp>
    </p:spTree>
    <p:extLst>
      <p:ext uri="{BB962C8B-B14F-4D97-AF65-F5344CB8AC3E}">
        <p14:creationId xmlns:p14="http://schemas.microsoft.com/office/powerpoint/2010/main" val="734131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5D2727B-43B7-44DF-BD7D-8B7BD6A61A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877F5C-9CE8-406C-B84D-CD8C305362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B111D0-5211-45BC-B977-FE28B8F462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5DBA3A4-4074-411C-AD5F-95AA132875A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FB5C27-4521-48B6-9269-A809ABB70A6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keep evaluation data separate.</a:t>
            </a:r>
          </a:p>
        </p:txBody>
      </p:sp>
      <p:sp>
        <p:nvSpPr>
          <p:cNvPr id="6" name="">
            <a:extLst xmlns:a="http://schemas.openxmlformats.org/drawingml/2006/main">
              <a:ext uri="{FF2B5EF4-FFF2-40B4-BE49-F238E27FC236}">
                <a16:creationId xmlns:a16="http://schemas.microsoft.com/office/drawing/2014/main" id="{B1946686-A1CF-4489-BC12-FA977387C2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change one input representation while keeping the comparison protocol fixed.</a:t>
            </a:r>
          </a:p>
        </p:txBody>
      </p:sp>
      <p:sp>
        <p:nvSpPr>
          <p:cNvPr id="7" name="">
            <a:extLst xmlns:a="http://schemas.openxmlformats.org/drawingml/2006/main">
              <a:ext uri="{FF2B5EF4-FFF2-40B4-BE49-F238E27FC236}">
                <a16:creationId xmlns:a16="http://schemas.microsoft.com/office/drawing/2014/main" id="{C00690F6-F5DB-4490-83D0-134A196D11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a:t>
            </a:r>
          </a:p>
        </p:txBody>
      </p:sp>
    </p:spTree>
    <p:extLst>
      <p:ext uri="{BB962C8B-B14F-4D97-AF65-F5344CB8AC3E}">
        <p14:creationId xmlns:p14="http://schemas.microsoft.com/office/powerpoint/2010/main" val="165143444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E9F470-7B5E-4DF3-A36F-64A8BA7CE9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E028D3-9F7A-4CBB-B65A-C994C10523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8F093F-39FB-4545-A217-2A10B45D9C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6937E845-BD74-41A1-823A-DB357A12837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441BAE-FA8F-45CD-8E58-5537002C05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calculated input may help a model.</a:t>
            </a:r>
          </a:p>
        </p:txBody>
      </p:sp>
      <p:sp>
        <p:nvSpPr>
          <p:cNvPr id="6" name="">
            <a:extLst xmlns:a="http://schemas.openxmlformats.org/drawingml/2006/main">
              <a:ext uri="{FF2B5EF4-FFF2-40B4-BE49-F238E27FC236}">
                <a16:creationId xmlns:a16="http://schemas.microsoft.com/office/drawing/2014/main" id="{AFADD0E9-C057-4767-A51F-958FDD157AB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the original and extended inputs on the same observations, then decide whether the evidence supports the extra feature.</a:t>
            </a:r>
          </a:p>
        </p:txBody>
      </p:sp>
      <p:sp>
        <p:nvSpPr>
          <p:cNvPr id="7" name="">
            <a:extLst xmlns:a="http://schemas.openxmlformats.org/drawingml/2006/main">
              <a:ext uri="{FF2B5EF4-FFF2-40B4-BE49-F238E27FC236}">
                <a16:creationId xmlns:a16="http://schemas.microsoft.com/office/drawing/2014/main" id="{2B8998D3-C1D2-47CC-8A64-BB83F39CE1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4</a:t>
            </a:r>
          </a:p>
        </p:txBody>
      </p:sp>
    </p:spTree>
    <p:extLst>
      <p:ext uri="{BB962C8B-B14F-4D97-AF65-F5344CB8AC3E}">
        <p14:creationId xmlns:p14="http://schemas.microsoft.com/office/powerpoint/2010/main" val="91225062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F13C079-C1C7-47D8-9978-C526DF2AC6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775248-D93C-42ED-962E-713DC98F70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E4D02C-8A40-4AB8-9BD3-083F762637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F878AE86-8693-4B9C-B119-44EBD97602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3C7C9E-9BC6-4C54-8A50-0C327B9E0E0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1CFE9FDF-E215-44A5-BDC6-CFAD0105F44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ED61B0-F4A2-47B6-A5EC-D7C8EF461DE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D655D3D8-DD77-4164-9770-2447A2EA39D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4A0E21-E58A-4506-8B69-7F021482B9A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E4BE282D-0FA0-4A41-9ED4-A2C22AAFA2B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0916B6-86F4-4487-A2C7-90388E86A39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2DD22E76-2234-4461-BAC0-29F32A41CE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5</a:t>
            </a:r>
          </a:p>
        </p:txBody>
      </p:sp>
    </p:spTree>
    <p:extLst>
      <p:ext uri="{BB962C8B-B14F-4D97-AF65-F5344CB8AC3E}">
        <p14:creationId xmlns:p14="http://schemas.microsoft.com/office/powerpoint/2010/main" val="15200084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37BAC4-F22C-46C5-8C6C-9431F247F7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BB3256-96F1-416C-BBCD-E484F4FAAF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0DC7360-8CD5-4732-9347-4F2B7390C1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 and Ratio and interaction</a:t>
            </a:r>
          </a:p>
        </p:txBody>
      </p:sp>
      <p:sp>
        <p:nvSpPr>
          <p:cNvPr id="4" name="">
            <a:extLst xmlns:a="http://schemas.openxmlformats.org/drawingml/2006/main">
              <a:ext uri="{FF2B5EF4-FFF2-40B4-BE49-F238E27FC236}">
                <a16:creationId xmlns:a16="http://schemas.microsoft.com/office/drawing/2014/main" id="{2B7056D9-B000-4487-A013-1BD977C8B61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E99CAF-E93F-4025-856C-395BD788E20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A2A02FCC-0D81-4B4C-9163-7C800955652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9416FC53-ED58-4AC2-962E-5E43D8E91FA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2D17F63-66C7-48BE-A985-80DA5CDB7DA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10085DBE-2CDA-4921-94D9-67EFD7FADDC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C7EBB3C9-D2C6-4D77-B2A0-EEC73A98CD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6</a:t>
            </a:r>
          </a:p>
        </p:txBody>
      </p:sp>
    </p:spTree>
    <p:extLst>
      <p:ext uri="{BB962C8B-B14F-4D97-AF65-F5344CB8AC3E}">
        <p14:creationId xmlns:p14="http://schemas.microsoft.com/office/powerpoint/2010/main" val="21094009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933CE7-C755-43C1-AB07-7D91AFA6CA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51ED79-FD08-4615-B66E-85DD7F8B84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AE997A-F611-4BB3-9836-659D44EDCB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78321E74-E86B-47CD-92A0-A1F21A9651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737F74-615F-4645-8E0A-FA09957D072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E82793C6-CF37-40A1-9E31-293AA6A9FF8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EC1CDC-4847-4C7D-823E-99F1CD4D203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7C8B24B7-0617-4F60-B555-8D3EE03F476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5A9DD5-710D-4459-8472-46E15E5D06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D692684E-3FF6-433B-B650-B08A4F9204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7</a:t>
            </a:r>
          </a:p>
        </p:txBody>
      </p:sp>
    </p:spTree>
    <p:extLst>
      <p:ext uri="{BB962C8B-B14F-4D97-AF65-F5344CB8AC3E}">
        <p14:creationId xmlns:p14="http://schemas.microsoft.com/office/powerpoint/2010/main" val="179209253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BD4374-8E38-45EE-8313-17E3589D09F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B46BF4-426C-4FF6-A2A1-C1B442C98AB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dfcea47538d46ab"/>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2F00214-E0FC-4DB1-9734-A77817A4EF9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49C558-B82B-4CDD-B7CB-09E9E0CD18C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91EF2358-5FD9-4C57-BD07-50DB881C34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8</a:t>
            </a:r>
          </a:p>
        </p:txBody>
      </p:sp>
    </p:spTree>
    <p:extLst>
      <p:ext uri="{BB962C8B-B14F-4D97-AF65-F5344CB8AC3E}">
        <p14:creationId xmlns:p14="http://schemas.microsoft.com/office/powerpoint/2010/main" val="971770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10DB5E3-2E3D-4729-A58F-7C2864C94F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58617E-5485-42C1-A78B-E7121770C3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3E10289-171B-4AB5-9955-2F14279D89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2D052D2-CC40-4777-8EB9-DF9C69A3C1C5}"/>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7ED6018F-FD2B-4BE7-9B90-4D49B2C494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9</a:t>
            </a:r>
          </a:p>
        </p:txBody>
      </p:sp>
    </p:spTree>
    <p:extLst>
      <p:ext uri="{BB962C8B-B14F-4D97-AF65-F5344CB8AC3E}">
        <p14:creationId xmlns:p14="http://schemas.microsoft.com/office/powerpoint/2010/main" val="50343497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BC8F10-E8E0-4FAD-947A-74BFC8DDA7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03A85F-9A4B-436A-902C-434447F65F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3A1D52-FFD5-48AD-9677-D78FE062A1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3AADE62B-19B9-4057-A8BC-16E5122291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711E69-D430-4174-A9C7-575CF821F2E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1BA87148-CAB3-4840-9A4C-C72F965BF68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542390-B4A9-43D7-9D17-783E254A79A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DD878569-FA02-4DED-8655-8EEB145073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9220FB6-D3EA-4283-AC31-E71EC1FBE0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86F3E2AC-41C0-4AC1-B562-50480C617B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10</a:t>
            </a:r>
          </a:p>
        </p:txBody>
      </p:sp>
    </p:spTree>
    <p:extLst>
      <p:ext uri="{BB962C8B-B14F-4D97-AF65-F5344CB8AC3E}">
        <p14:creationId xmlns:p14="http://schemas.microsoft.com/office/powerpoint/2010/main" val="95572691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5F93B5-B50E-49C8-8A9D-F560009C95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75E79B-FC01-48E9-9738-3AED51246C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759CB6-C3A2-4CEE-821B-8C84B88DDF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F7672048-9A48-4C37-A532-1B618EE4C0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FD5695-0DBB-4C7F-A6D7-49F4AABD21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4CC9A945-FEE8-462D-8821-5C07A8C24CC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EAEF30-5AD3-4E7A-9A00-04EA176C9CF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46DB8CF1-FC9C-4AF3-A803-2E0B0009375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B91117-2A88-473C-9AB7-14D2080962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E1F91781-6689-43C5-82E2-E77F9C387C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11</a:t>
            </a:r>
          </a:p>
        </p:txBody>
      </p:sp>
    </p:spTree>
    <p:extLst>
      <p:ext uri="{BB962C8B-B14F-4D97-AF65-F5344CB8AC3E}">
        <p14:creationId xmlns:p14="http://schemas.microsoft.com/office/powerpoint/2010/main" val="433923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AD3F4C-C3F8-415A-84D8-80C1C2CD80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D2ADC3-EE64-4CBC-BFEB-72778941B0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C99D066-CB1F-4202-96AB-E2FA547578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and Improvement</a:t>
            </a:r>
          </a:p>
        </p:txBody>
      </p:sp>
      <p:sp>
        <p:nvSpPr>
          <p:cNvPr id="4" name="">
            <a:extLst xmlns:a="http://schemas.openxmlformats.org/drawingml/2006/main">
              <a:ext uri="{FF2B5EF4-FFF2-40B4-BE49-F238E27FC236}">
                <a16:creationId xmlns:a16="http://schemas.microsoft.com/office/drawing/2014/main" id="{0063E1E1-2228-4F49-B135-191B53C4584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42482C-D96C-48F7-BC5C-F5E9867E9A0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F80C8E8E-BDE1-4DBC-92ED-8795D543BD2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308FFBE3-AC0E-4616-9645-5CA84F9FB6C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D3EEF98-ABA3-4B66-9412-21BDF5F7507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6C186DD4-A384-4103-A1BA-379C6131309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3EFAAA1D-FA45-47F7-AE5C-F83A28B734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12</a:t>
            </a:r>
          </a:p>
        </p:txBody>
      </p:sp>
    </p:spTree>
    <p:extLst>
      <p:ext uri="{BB962C8B-B14F-4D97-AF65-F5344CB8AC3E}">
        <p14:creationId xmlns:p14="http://schemas.microsoft.com/office/powerpoint/2010/main" val="76547639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60D3FC-CDAB-4721-8919-5D0D00102B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C4BB18-81FF-4481-8324-DF6C800B11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3235AC-7F39-40B0-82B2-D32A595713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30671319-79CB-4B41-B105-D328183350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D3B9D5-2316-4713-8AA8-C30D65B1D39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D2401677-C28D-4F0E-AA27-2E40E7F89CD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1F90B96-29FB-4834-808F-7B0535F2B8A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39DEF3D8-31B7-410B-8231-40708977F11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B93299-C54F-448E-AF1D-5D043054E5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CD70B0F0-ED53-4E2D-B4C9-5547D9B39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13</a:t>
            </a:r>
          </a:p>
        </p:txBody>
      </p:sp>
    </p:spTree>
    <p:extLst>
      <p:ext uri="{BB962C8B-B14F-4D97-AF65-F5344CB8AC3E}">
        <p14:creationId xmlns:p14="http://schemas.microsoft.com/office/powerpoint/2010/main" val="33604824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350F0CD-5D24-4262-8CAE-C9F68D027D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B8DB02-D4B8-44DF-A66F-858E28AFA7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14D4B9-0F73-4F91-9113-0438724BC3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in Python</a:t>
            </a:r>
          </a:p>
        </p:txBody>
      </p:sp>
      <p:sp>
        <p:nvSpPr>
          <p:cNvPr id="4" name="">
            <a:extLst xmlns:a="http://schemas.openxmlformats.org/drawingml/2006/main">
              <a:ext uri="{FF2B5EF4-FFF2-40B4-BE49-F238E27FC236}">
                <a16:creationId xmlns:a16="http://schemas.microsoft.com/office/drawing/2014/main" id="{A7C47AE7-7AE6-4E40-AB76-CA6C2631998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4FD145-9A49-4585-A31C-FEE637FE592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0937615D-D583-4C22-8F09-5CE66D3AD6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D19542C-916B-4B54-BDA7-C654D165040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3707549-9676-4B66-B9AD-2C254ABA49D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0E11EC36-100C-4E64-A739-6C14E4E8EDA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D69DC97A-6406-4BA2-8884-61EA7949A9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14</a:t>
            </a:r>
          </a:p>
        </p:txBody>
      </p:sp>
    </p:spTree>
    <p:extLst>
      <p:ext uri="{BB962C8B-B14F-4D97-AF65-F5344CB8AC3E}">
        <p14:creationId xmlns:p14="http://schemas.microsoft.com/office/powerpoint/2010/main" val="14140625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FFEE8EC-EB56-4B48-8BD0-11384770C0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77097A-60F5-48E2-9115-20B5F4ACB5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BBBB7D8E-2332-4FD7-ABB6-C62AD3E7E2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results</a:t>
            </a:r>
          </a:p>
        </p:txBody>
      </p:sp>
      <p:sp>
        <p:nvSpPr>
          <p:cNvPr id="4" name="">
            <a:extLst xmlns:a="http://schemas.openxmlformats.org/drawingml/2006/main">
              <a:ext uri="{FF2B5EF4-FFF2-40B4-BE49-F238E27FC236}">
                <a16:creationId xmlns:a16="http://schemas.microsoft.com/office/drawing/2014/main" id="{529CC96F-0891-469C-8CE9-67F12B44C20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EBB1A4-13E9-42A1-98A5-24B17CEC347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A1462A92-D4C9-49D9-BB32-47BA716A2FF8}"/>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DDFB0F7-8551-45B2-9539-2C141E698B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15</a:t>
            </a:r>
          </a:p>
        </p:txBody>
      </p:sp>
    </p:spTree>
    <p:extLst>
      <p:ext uri="{BB962C8B-B14F-4D97-AF65-F5344CB8AC3E}">
        <p14:creationId xmlns:p14="http://schemas.microsoft.com/office/powerpoint/2010/main" val="44099115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980989-1879-46C8-9214-37A9E0F0FA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007705-016D-4DC1-AB4B-2DD26DD0D7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D534D3-B5F5-4542-A8AB-6F46DA664D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90BD0750-1F79-4F3A-9079-BAB251EF56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B9870F-C7E5-4084-829D-2B77FD0231D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BE07BDB9-2D52-4924-8426-141FFB15BD2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F771A0-0213-4CC7-9710-762D9374140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4F028DBB-D55A-46CD-905E-2C82031B51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5E9536-167E-4B37-9E27-30098B8F8F8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returns the fitted model object, so creating and fitting can appear in one expression. round(value, 6) rounds a displayed number to six decimal places.</a:t>
            </a:r>
          </a:p>
        </p:txBody>
      </p:sp>
      <p:sp>
        <p:nvSpPr>
          <p:cNvPr id="10" name="">
            <a:extLst xmlns:a="http://schemas.openxmlformats.org/drawingml/2006/main">
              <a:ext uri="{FF2B5EF4-FFF2-40B4-BE49-F238E27FC236}">
                <a16:creationId xmlns:a16="http://schemas.microsoft.com/office/drawing/2014/main" id="{B58DA896-F761-497C-AF08-648424046E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16</a:t>
            </a:r>
          </a:p>
        </p:txBody>
      </p:sp>
    </p:spTree>
    <p:extLst>
      <p:ext uri="{BB962C8B-B14F-4D97-AF65-F5344CB8AC3E}">
        <p14:creationId xmlns:p14="http://schemas.microsoft.com/office/powerpoint/2010/main" val="90327499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531B391-C1CD-48F2-9E9E-57CBCF7B01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B678E9-19DF-4AC5-AE64-8CFBF53829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A4903B-8F00-48A1-9C74-F68CB10C75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2A8D0DF9-1483-465C-8C68-7C50210CBE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1439289-1016-4D8E-BA97-9F7F5FE8A20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7F48AB8F-CC8F-49DB-9BCB-8379B6352AD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8C0A4E-AB0D-4DFA-9B42-48B889A14F1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8B232F26-1031-4D15-812A-D4C7D6EA7EA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3CAA74-945A-42FA-BB52-83FC8739523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D176F66F-11DB-4860-BC08-7CF761201EC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90410BC-9AC4-41DA-8164-154AA6DAA02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A6990438-49D4-425E-98A8-B1972BB456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17</a:t>
            </a:r>
          </a:p>
        </p:txBody>
      </p:sp>
    </p:spTree>
    <p:extLst>
      <p:ext uri="{BB962C8B-B14F-4D97-AF65-F5344CB8AC3E}">
        <p14:creationId xmlns:p14="http://schemas.microsoft.com/office/powerpoint/2010/main" val="27911001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461D03-4FD2-42E9-A060-3F67FFAEDD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A10840-2E24-45FB-AB8F-3B07882238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D187EB-D8A6-4893-8D8C-E3C7CDC166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814E97C3-FC1C-413C-9DA0-0487757B269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063C3B-1D23-4D05-BC19-86816D4AEFD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85951D0A-35BD-4CF9-8422-F486A1DDFAD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8990AE7C-126D-4842-BFD5-D0D2C6C980D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B454BC31-18EE-4FBC-8BAD-61A1690510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18</a:t>
            </a:r>
          </a:p>
        </p:txBody>
      </p:sp>
    </p:spTree>
    <p:extLst>
      <p:ext uri="{BB962C8B-B14F-4D97-AF65-F5344CB8AC3E}">
        <p14:creationId xmlns:p14="http://schemas.microsoft.com/office/powerpoint/2010/main" val="173627481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A9D8C7-2D49-4B64-86FB-763F232C51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67C069-58F9-4B0A-8221-CCBFFEB199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FA00F64-F2B6-4039-8E96-FCC2FDF444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13126DD1-CBB1-4B83-89DD-610887EF70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72C621-4A47-409A-9846-985116CEDC1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FB080"/>
                </a:solidFill>
                <a:latin typeface="Courier New"/>
                <a:ea typeface="Courier New"/>
                <a:cs typeface="Courier New"/>
              </a:rPr>
              <a:t>def</a:t>
            </a:r>
            <a:r>
              <a:rPr sz="2102" b="0">
                <a:solidFill>
                  <a:srgbClr val="F4F7FA"/>
                </a:solidFill>
                <a:latin typeface="Courier New"/>
                <a:ea typeface="Courier New"/>
                <a:cs typeface="Courier New"/>
              </a:rPr>
              <a:t> with_interaction(rows):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 = []</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for</a:t>
            </a:r>
            <a:r>
              <a:rPr sz="2102" b="0">
                <a:solidFill>
                  <a:srgbClr val="F4F7FA"/>
                </a:solidFill>
                <a:latin typeface="Courier New"/>
                <a:ea typeface="Courier New"/>
                <a:cs typeface="Courier New"/>
              </a:rPr>
              <a:t> a, b in 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result.append([a, b, a * b])</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return</a:t>
            </a:r>
            <a:r>
              <a:rPr sz="2102" b="0">
                <a:solidFill>
                  <a:srgbClr val="F4F7FA"/>
                </a:solidFill>
                <a:latin typeface="Courier New"/>
                <a:ea typeface="Courier New"/>
                <a:cs typeface="Courier New"/>
              </a:rPr>
              <a:t> result</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 = LinearRegression().fit(train,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extended = LinearRegression().fit(with_interaction(train),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base_predictions = base.predict(validation)</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F1226C76-3FB5-47D6-A32B-AF3F7D780E8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66B01B53-3DF8-4091-BA0B-35CAF8B9F41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2D1024A0-1805-4C59-9BDC-B428B6542C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19</a:t>
            </a:r>
          </a:p>
        </p:txBody>
      </p:sp>
    </p:spTree>
    <p:extLst>
      <p:ext uri="{BB962C8B-B14F-4D97-AF65-F5344CB8AC3E}">
        <p14:creationId xmlns:p14="http://schemas.microsoft.com/office/powerpoint/2010/main" val="167047555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B5F490-5FF7-4DFC-A152-D2BDA13074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B517FB-39A1-4BA6-8542-EFAAE66BC7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C6FFAE1-46D0-419E-8288-EFE7C255C1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4052ABC6-40DE-4369-AA8F-6632F902AF4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28797A-78E7-4341-8244-9922516C12E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74A40EEA-DFD4-4B86-8A3C-BFF50E77B4E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C02552F7-A83E-4B53-82D2-2B20FA9333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B954C17-143B-4419-9082-CEF7D93174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20</a:t>
            </a:r>
          </a:p>
        </p:txBody>
      </p:sp>
    </p:spTree>
    <p:extLst>
      <p:ext uri="{BB962C8B-B14F-4D97-AF65-F5344CB8AC3E}">
        <p14:creationId xmlns:p14="http://schemas.microsoft.com/office/powerpoint/2010/main" val="27396612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3E2FFF-78E1-4837-A2F3-44BEC55FA3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C8CE58-F8A2-447B-97E7-05ED07C25D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65D7387-F567-478A-8F77-B24F749F61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Encoding and Scaling</a:t>
            </a:r>
          </a:p>
        </p:txBody>
      </p:sp>
      <p:sp>
        <p:nvSpPr>
          <p:cNvPr id="4" name="">
            <a:extLst xmlns:a="http://schemas.openxmlformats.org/drawingml/2006/main">
              <a:ext uri="{FF2B5EF4-FFF2-40B4-BE49-F238E27FC236}">
                <a16:creationId xmlns:a16="http://schemas.microsoft.com/office/drawing/2014/main" id="{A30AAB54-69EF-4CB7-92D0-E70E5F10BDB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E96C5C-CC16-4D1A-8D15-8621BD3B7A4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DF1C5EBB-FAC9-46A2-BBA5-D903EFB3802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BA234E1D-0287-4C1A-9DEA-C866309A03A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2214467-CFEF-4E8B-AE09-18DFEE2BA41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41C6D709-D421-4FBC-9303-9D44C19F9C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32952B87-D476-40E8-8420-638E2B08FB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21</a:t>
            </a:r>
          </a:p>
        </p:txBody>
      </p:sp>
    </p:spTree>
    <p:extLst>
      <p:ext uri="{BB962C8B-B14F-4D97-AF65-F5344CB8AC3E}">
        <p14:creationId xmlns:p14="http://schemas.microsoft.com/office/powerpoint/2010/main" val="122815986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19708A-1135-4CF9-B51E-9091C8BE84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88D86C-32D6-462A-B18C-D0DF79CF93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C7E282-0299-4563-979A-99C6C5414D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7B288B4D-0527-4E37-A4A1-C62CF77D327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484C40-DA45-4918-B148-25916C33210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B38721D-D54C-4B28-9AA1-D187801043B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If the extended error becomes 3.4, calculate improvement and decide whether this evidence supports retaining the feature.</a:t>
            </a:r>
          </a:p>
        </p:txBody>
      </p:sp>
      <p:sp>
        <p:nvSpPr>
          <p:cNvPr id="7" name="">
            <a:extLst xmlns:a="http://schemas.openxmlformats.org/drawingml/2006/main">
              <a:ext uri="{FF2B5EF4-FFF2-40B4-BE49-F238E27FC236}">
                <a16:creationId xmlns:a16="http://schemas.microsoft.com/office/drawing/2014/main" id="{A4B77FFA-9050-49BA-BD12-1F141390AA6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Improvement is -0.4. This validation comparison does not support retaining it. One split is limited evidence; the final test remains untouched.</a:t>
            </a:r>
          </a:p>
        </p:txBody>
      </p:sp>
      <p:sp>
        <p:nvSpPr>
          <p:cNvPr id="8" name="">
            <a:extLst xmlns:a="http://schemas.openxmlformats.org/drawingml/2006/main">
              <a:ext uri="{FF2B5EF4-FFF2-40B4-BE49-F238E27FC236}">
                <a16:creationId xmlns:a16="http://schemas.microsoft.com/office/drawing/2014/main" id="{FF4BE551-FECF-4E96-9C7E-EAD01CB5D9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22</a:t>
            </a:r>
          </a:p>
        </p:txBody>
      </p:sp>
    </p:spTree>
    <p:extLst>
      <p:ext uri="{BB962C8B-B14F-4D97-AF65-F5344CB8AC3E}">
        <p14:creationId xmlns:p14="http://schemas.microsoft.com/office/powerpoint/2010/main" val="190031265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78C99CE-3147-496B-AB6A-CD48F936A9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CA6177-98D2-4339-ACAD-26E6A6EEB9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8ADD71D-E296-4BCC-AC4F-9118AE53C3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FBCCB8B6-E929-4129-BF7A-D33B84D796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579EED-7A80-46DE-847E-F292B964DFB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xmlns:a="http://schemas.openxmlformats.org/drawingml/2006/main">
              <a:ext uri="{FF2B5EF4-FFF2-40B4-BE49-F238E27FC236}">
                <a16:creationId xmlns:a16="http://schemas.microsoft.com/office/drawing/2014/main" id="{6024E1F4-C81B-4CB3-9DD6-2CB7D011245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C7C82E7-0F82-416F-B5A4-7811BCD6980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output order, preservation of input rows, full precision and training-only fitting.</a:t>
            </a:r>
          </a:p>
        </p:txBody>
      </p:sp>
      <p:sp>
        <p:nvSpPr>
          <p:cNvPr id="8" name="">
            <a:extLst xmlns:a="http://schemas.openxmlformats.org/drawingml/2006/main">
              <a:ext uri="{FF2B5EF4-FFF2-40B4-BE49-F238E27FC236}">
                <a16:creationId xmlns:a16="http://schemas.microsoft.com/office/drawing/2014/main" id="{18C866D8-3943-48EE-8489-6A383E6D418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5A170B-E245-42AE-9263-CD89CF5BBDC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xmlns:a="http://schemas.openxmlformats.org/drawingml/2006/main">
              <a:ext uri="{FF2B5EF4-FFF2-40B4-BE49-F238E27FC236}">
                <a16:creationId xmlns:a16="http://schemas.microsoft.com/office/drawing/2014/main" id="{70062520-13F9-412C-AC6F-02E28C21A3A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2BE118-A964-4571-B925-BEEF5135276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xmlns:a="http://schemas.openxmlformats.org/drawingml/2006/main">
              <a:ext uri="{FF2B5EF4-FFF2-40B4-BE49-F238E27FC236}">
                <a16:creationId xmlns:a16="http://schemas.microsoft.com/office/drawing/2014/main" id="{46D8C1F8-FD96-4A99-868A-0FCC8724F6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23</a:t>
            </a:r>
          </a:p>
        </p:txBody>
      </p:sp>
    </p:spTree>
    <p:extLst>
      <p:ext uri="{BB962C8B-B14F-4D97-AF65-F5344CB8AC3E}">
        <p14:creationId xmlns:p14="http://schemas.microsoft.com/office/powerpoint/2010/main" val="42122093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FF4374-5F1C-47F5-9B0E-9DD2DE1430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3BB18A-5C59-4D13-9689-B43ADDE68A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9F28D1-68CE-4655-8B9A-342928CD38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D32326DA-F511-40D2-8725-40F5A8459A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FE6521-113E-475D-9DAE-DD94D4EB92F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9107D188-4B91-4465-8B25-E6DB916707D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5EE2A8-D141-4C0A-AFCE-BAFFE287731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4B844DA6-EA22-42EA-8113-FA84DE30840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D0E3D6-3AE8-40D3-ADE9-22B813FABD7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F15C3EE0-9D3D-49FE-9512-49FE98F1F8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24</a:t>
            </a:r>
          </a:p>
        </p:txBody>
      </p:sp>
    </p:spTree>
    <p:extLst>
      <p:ext uri="{BB962C8B-B14F-4D97-AF65-F5344CB8AC3E}">
        <p14:creationId xmlns:p14="http://schemas.microsoft.com/office/powerpoint/2010/main" val="130805665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9D834D-0BD2-42F7-8218-19F12BE3F0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458CCA-06AA-4D8A-9B49-53B6557BAA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5B044E-3F7C-4D5A-A900-E12055AC81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9DC6ABDF-E54E-4007-BB05-53F3F3722D0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F58ED2-581F-4A19-8AA8-7DD7AE658B68}"/>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04AE7F7B-D471-4188-88EB-90265396D1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25</a:t>
            </a:r>
          </a:p>
        </p:txBody>
      </p:sp>
    </p:spTree>
    <p:extLst>
      <p:ext uri="{BB962C8B-B14F-4D97-AF65-F5344CB8AC3E}">
        <p14:creationId xmlns:p14="http://schemas.microsoft.com/office/powerpoint/2010/main" val="57885386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48A5120-1957-420B-A6A6-988B2E1D17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92BA6A-38FD-4F16-8C5C-742CD79597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7DFE11C-2E0C-488A-89C7-017908F3D3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B527F05-D0CB-4D1B-9614-DC35AB99F0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49859D-2018-431F-9394-B5AA328809A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74A9DB21-90D9-4E12-99A3-A74CB8F3EE3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9B1DE2-49DB-4341-944D-F710D5BCAEE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DA7839F0-3B18-4271-BD9B-40A04B20CFA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29D427-1B7A-451E-BE67-778396E89D7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976F39A-0330-4C71-9516-231922FB0EB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078C9F4-1DE3-4F42-B438-1A42A9DC15D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32385ACB-09CB-4062-92AC-D6BBA44625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26</a:t>
            </a:r>
          </a:p>
        </p:txBody>
      </p:sp>
    </p:spTree>
    <p:extLst>
      <p:ext uri="{BB962C8B-B14F-4D97-AF65-F5344CB8AC3E}">
        <p14:creationId xmlns:p14="http://schemas.microsoft.com/office/powerpoint/2010/main" val="97228279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337910-2D3E-445F-BC53-CDF0DC8D1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6223D7-FF78-4D7E-90CE-4B9566D3B3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B0A6A58-ADEA-4E7E-AC77-96BAB82183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50DA8BB4-9C1C-40EA-9D56-742794D35C3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187CBF-4DD8-4ACE-81CF-E7322CBBD55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D2332867-20C9-4971-9B78-DBC0DE9CB8B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AE6A6B-D095-4B87-8756-54F7CDF6B84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AC46D41-5446-443A-AB0C-E1159867B4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27</a:t>
            </a:r>
          </a:p>
        </p:txBody>
      </p:sp>
    </p:spTree>
    <p:extLst>
      <p:ext uri="{BB962C8B-B14F-4D97-AF65-F5344CB8AC3E}">
        <p14:creationId xmlns:p14="http://schemas.microsoft.com/office/powerpoint/2010/main" val="12099564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9C13C6-9C9F-4A92-BEB0-ECB499DB8D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D4DA86-2FE9-4968-9D76-24CF1E59B0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3C574AB-95D7-40B9-A162-049F7420B0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29F98232-C3F2-482E-B6AC-1E457B73D8D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703CD1-FAAF-45B2-825A-450D75E09ED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0F8FF924-EF78-46BF-A4DA-2A3A98A935B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ACA2EBA-275D-4708-AD2F-C049BB65EAE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79349B0-1807-436A-97D4-9562DA597C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28</a:t>
            </a:r>
          </a:p>
        </p:txBody>
      </p:sp>
    </p:spTree>
    <p:extLst>
      <p:ext uri="{BB962C8B-B14F-4D97-AF65-F5344CB8AC3E}">
        <p14:creationId xmlns:p14="http://schemas.microsoft.com/office/powerpoint/2010/main" val="154146221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98CE140-B519-4503-870C-645600958D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1FB466-452D-4AF0-A803-13888B2EDE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EBB45B-B28B-44B0-AEC6-46902AC0F4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8FF4EBC3-CA78-44FE-A422-043DA33861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E13BCD-4ACD-4071-A613-983A6B68B53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F1A4F116-796F-45B4-8EF9-C21CFB37E0F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B47AD8-D708-4E8D-B79F-A3668004FB0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0A2AF71-A878-4924-AB2F-F2BF0E76B88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804724-8710-4146-ABDA-B26A6373146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DD0BB7B-37BE-46ED-89D5-CDD9266D9D9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0E87AA-CBD6-453E-95B3-F6F215900D5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EF42B121-7A37-484D-AAF7-013DDD3B51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29</a:t>
            </a:r>
          </a:p>
        </p:txBody>
      </p:sp>
    </p:spTree>
    <p:extLst>
      <p:ext uri="{BB962C8B-B14F-4D97-AF65-F5344CB8AC3E}">
        <p14:creationId xmlns:p14="http://schemas.microsoft.com/office/powerpoint/2010/main" val="9087403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419BD84-52CF-49A2-B4A6-615CE92603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A267E2-BCA5-49E5-A867-15E152DFB0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75DDB58-4B48-4945-A0A6-851781F2A2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055EF10A-9F1F-4D13-BE11-80746163039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7A2585-8F1B-4F70-A6C2-5FBF8EC5DE5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17 Nov 2026, 11:00 Kampala</a:t>
            </a:r>
          </a:p>
        </p:txBody>
      </p:sp>
      <p:sp>
        <p:nvSpPr>
          <p:cNvPr id="6" name="">
            <a:extLst xmlns:a="http://schemas.openxmlformats.org/drawingml/2006/main">
              <a:ext uri="{FF2B5EF4-FFF2-40B4-BE49-F238E27FC236}">
                <a16:creationId xmlns:a16="http://schemas.microsoft.com/office/drawing/2014/main" id="{B6446390-F9A8-42FB-B935-247112A961D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1ECE06-2D1A-436F-8F66-593B5D6836F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11:00 Kampala</a:t>
            </a:r>
          </a:p>
        </p:txBody>
      </p:sp>
      <p:sp>
        <p:nvSpPr>
          <p:cNvPr id="8" name="">
            <a:extLst xmlns:a="http://schemas.openxmlformats.org/drawingml/2006/main">
              <a:ext uri="{FF2B5EF4-FFF2-40B4-BE49-F238E27FC236}">
                <a16:creationId xmlns:a16="http://schemas.microsoft.com/office/drawing/2014/main" id="{F72CBD95-9BD1-4A83-9319-428A12C1074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304B135-5598-467A-BAB1-147FF479369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5D0314C-D4DB-4B85-A87F-4F8AF4DDD9D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1C874EF-E6EC-4190-9BC7-3078EA944D0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901C329-EA28-424C-98E7-2DABF026681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E016A2C-A151-4F65-9960-16A3F33B16E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113e990789a437a"/>
              </a:rPr>
              <a:t>Open W11 assignment form</a:t>
            </a:r>
          </a:p>
        </p:txBody>
      </p:sp>
      <p:sp>
        <p:nvSpPr>
          <p:cNvPr id="14" name="">
            <a:extLst xmlns:a="http://schemas.openxmlformats.org/drawingml/2006/main">
              <a:ext uri="{FF2B5EF4-FFF2-40B4-BE49-F238E27FC236}">
                <a16:creationId xmlns:a16="http://schemas.microsoft.com/office/drawing/2014/main" id="{D4C599FF-CD0C-4D0C-91FE-B0D246F8A39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https://docs.google.com/forms/d/e/1FAIpQLSfSqUcR9TgY7f1c7HXO9KGM3C2yXm1r7V2rQl2WEubwZir8iw/viewform</a:t>
            </a:r>
          </a:p>
        </p:txBody>
      </p:sp>
      <p:sp>
        <p:nvSpPr>
          <p:cNvPr id="15" name="">
            <a:extLst xmlns:a="http://schemas.openxmlformats.org/drawingml/2006/main">
              <a:ext uri="{FF2B5EF4-FFF2-40B4-BE49-F238E27FC236}">
                <a16:creationId xmlns:a16="http://schemas.microsoft.com/office/drawing/2014/main" id="{AE0DF0A7-EF6A-414F-97F7-786B957EFE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30</a:t>
            </a:r>
          </a:p>
        </p:txBody>
      </p:sp>
    </p:spTree>
    <p:extLst>
      <p:ext uri="{BB962C8B-B14F-4D97-AF65-F5344CB8AC3E}">
        <p14:creationId xmlns:p14="http://schemas.microsoft.com/office/powerpoint/2010/main" val="166135564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13B29A-9307-4EC1-B8C6-611C8FF847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231B3D-6451-4BD9-948E-C7129A0C71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D82F45C-C3C1-4EF3-B455-5C1C1CAA89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3EF8B946-DC9F-4DDE-A2C2-82DE1BC621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CF5169-6B8E-4CB2-9F7A-083FD8654A7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FAEAF23B-0CA3-49DD-AA1B-01E7E29CCB7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846F37-E426-4443-8C45-C9BDA989002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29AC838E-E41F-481C-91DF-D07AB626CD4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7B6717-99DB-4CDE-B804-5F2A8E86F42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1077297-876E-4CB8-A020-EB04174978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96F4561-21C3-4075-A7B3-C0A314A34CC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73EBD7AE-F64C-4323-B7F0-624D09E18B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31</a:t>
            </a:r>
          </a:p>
        </p:txBody>
      </p:sp>
    </p:spTree>
    <p:extLst>
      <p:ext uri="{BB962C8B-B14F-4D97-AF65-F5344CB8AC3E}">
        <p14:creationId xmlns:p14="http://schemas.microsoft.com/office/powerpoint/2010/main" val="38517884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AFD1F9D-E5C1-43F5-85E5-01CB7A6839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ADF848-588A-4616-99E8-4F1B41C5EB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441EDBE-E060-4A33-A5F6-01FC614540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CB855C38-7F42-4AE6-8303-FE74A099CCB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FDDB88-7E56-48FF-AD4D-A273B436EB3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F30F0C55-4AE2-4C57-AA9D-D45F0E26035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9E41B2-CDA3-4D38-855D-4B9ED6E83B3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70DB018F-5BFB-4632-A606-8B337ACF7D2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F3FFAC-1C5B-4E6D-9676-F89A36DFA1B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203215A-CDBF-408B-A3F1-491570BAFDA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EA8043-F2DF-4D17-9230-42F5C68AE2E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dcba9b46a7746c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96B4944-9372-4216-BD05-9EBED85E9D93}"/>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8D8521EB-C28A-4C75-B71E-84CB6C30C42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5CC0FE6-743D-4E1A-A0C3-ED1A6F62930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988473161684f89"/>
              </a:rPr>
              <a:t>Open this week’s quiz</a:t>
            </a:r>
          </a:p>
        </p:txBody>
      </p:sp>
      <p:sp>
        <p:nvSpPr>
          <p:cNvPr id="16" name="">
            <a:extLst xmlns:a="http://schemas.openxmlformats.org/drawingml/2006/main">
              <a:ext uri="{FF2B5EF4-FFF2-40B4-BE49-F238E27FC236}">
                <a16:creationId xmlns:a16="http://schemas.microsoft.com/office/drawing/2014/main" id="{9D6B2275-417D-4E17-999A-C5A8BD44777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https://forms.gle/FTSCoDUMmcwSYPc78</a:t>
            </a:r>
          </a:p>
        </p:txBody>
      </p:sp>
      <p:sp>
        <p:nvSpPr>
          <p:cNvPr id="17" name="">
            <a:extLst xmlns:a="http://schemas.openxmlformats.org/drawingml/2006/main">
              <a:ext uri="{FF2B5EF4-FFF2-40B4-BE49-F238E27FC236}">
                <a16:creationId xmlns:a16="http://schemas.microsoft.com/office/drawing/2014/main" id="{5D634CEE-21EB-4593-A624-4F89E776A7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32</a:t>
            </a:r>
          </a:p>
        </p:txBody>
      </p:sp>
    </p:spTree>
    <p:extLst>
      <p:ext uri="{BB962C8B-B14F-4D97-AF65-F5344CB8AC3E}">
        <p14:creationId xmlns:p14="http://schemas.microsoft.com/office/powerpoint/2010/main" val="1239089148"/>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1BE896-EA87-429E-9352-15F995282F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FB0769B-05D6-4689-ACB2-BA340A17FC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F35D896E-E5C3-490D-9B72-69109C26E21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EDE6F50-6951-4419-A18B-33CD6D8BCCE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78DA2F3-A195-46C4-9026-BB82953D127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B45F03BD-CE12-4627-83C4-56A5F0ECBB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11   33</a:t>
            </a:r>
          </a:p>
        </p:txBody>
      </p:sp>
    </p:spTree>
    <p:extLst>
      <p:ext uri="{BB962C8B-B14F-4D97-AF65-F5344CB8AC3E}">
        <p14:creationId xmlns:p14="http://schemas.microsoft.com/office/powerpoint/2010/main" val="16571219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2026-09-28T21:15:24.3150000Z</dcterms:created>
  <dcterms:modified xsi:type="dcterms:W3CDTF">2026-09-28T21:15:24.3150000Z</dcterms:modified>
</coreProperties>
</file>