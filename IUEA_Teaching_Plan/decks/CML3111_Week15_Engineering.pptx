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f6fc018776f4104" /><Relationship Type="http://schemas.openxmlformats.org/officeDocument/2006/relationships/extended-properties" Target="/docProps/app.xml" Id="Rc75be69e80794ec1" /><Relationship Type="http://schemas.openxmlformats.org/officeDocument/2006/relationships/officeDocument" Target="/ppt/presentation.xml" Id="Ra1a9f4dff33e4f31" /></Relationships>
</file>

<file path=ppt/presentation.xml><?xml version="1.0" encoding="utf-8"?>
<p:presentation xmlns:p="http://schemas.openxmlformats.org/presentationml/2006/main">
  <p:sldMasterIdLst>
    <p:sldMasterId xmlns:r="http://schemas.openxmlformats.org/officeDocument/2006/relationships" id="2147483648" r:id="R886f05d000e74ad5"/>
  </p:sldMasterIdLst>
  <p:notesMasterIdLst>
    <p:notesMasterId xmlns:r="http://schemas.openxmlformats.org/officeDocument/2006/relationships" r:id="R90e236290bea492d"/>
  </p:notesMasterIdLst>
  <p:sldIdLst>
    <p:sldId xmlns:r="http://schemas.openxmlformats.org/officeDocument/2006/relationships" id="256" r:id="R0e666e0661dc4f45"/>
    <p:sldId xmlns:r="http://schemas.openxmlformats.org/officeDocument/2006/relationships" id="257" r:id="R809ae57cf4d4436a"/>
    <p:sldId xmlns:r="http://schemas.openxmlformats.org/officeDocument/2006/relationships" id="258" r:id="Re66d3f3cedc44136"/>
    <p:sldId xmlns:r="http://schemas.openxmlformats.org/officeDocument/2006/relationships" id="259" r:id="R135c0a079a5644ca"/>
    <p:sldId xmlns:r="http://schemas.openxmlformats.org/officeDocument/2006/relationships" id="260" r:id="R12d51aa5e2ee4e0d"/>
    <p:sldId xmlns:r="http://schemas.openxmlformats.org/officeDocument/2006/relationships" id="261" r:id="R94e6cfb219734daf"/>
    <p:sldId xmlns:r="http://schemas.openxmlformats.org/officeDocument/2006/relationships" id="262" r:id="Reec94f9ec8ba4c1f"/>
    <p:sldId xmlns:r="http://schemas.openxmlformats.org/officeDocument/2006/relationships" id="263" r:id="R4b3db9e8253e4f60"/>
    <p:sldId xmlns:r="http://schemas.openxmlformats.org/officeDocument/2006/relationships" id="264" r:id="R964d8a13fcfb4cb2"/>
    <p:sldId xmlns:r="http://schemas.openxmlformats.org/officeDocument/2006/relationships" id="265" r:id="Rad8bbee17a184a15"/>
    <p:sldId xmlns:r="http://schemas.openxmlformats.org/officeDocument/2006/relationships" id="266" r:id="R3b2c9fd902c54e7a"/>
    <p:sldId xmlns:r="http://schemas.openxmlformats.org/officeDocument/2006/relationships" id="267" r:id="R1cf7cd62370f4577"/>
    <p:sldId xmlns:r="http://schemas.openxmlformats.org/officeDocument/2006/relationships" id="268" r:id="R567b9499d5fc4ddd"/>
    <p:sldId xmlns:r="http://schemas.openxmlformats.org/officeDocument/2006/relationships" id="269" r:id="R7a9730ec073c410e"/>
    <p:sldId xmlns:r="http://schemas.openxmlformats.org/officeDocument/2006/relationships" id="270" r:id="R979cd2d627d84ee0"/>
    <p:sldId xmlns:r="http://schemas.openxmlformats.org/officeDocument/2006/relationships" id="271" r:id="Re771bd1e72ef41dd"/>
    <p:sldId xmlns:r="http://schemas.openxmlformats.org/officeDocument/2006/relationships" id="272" r:id="Rfff6f4f2722b4871"/>
    <p:sldId xmlns:r="http://schemas.openxmlformats.org/officeDocument/2006/relationships" id="273" r:id="Redeb0e7e89f64382"/>
    <p:sldId xmlns:r="http://schemas.openxmlformats.org/officeDocument/2006/relationships" id="274" r:id="Rdb4754e6dbf04da6"/>
    <p:sldId xmlns:r="http://schemas.openxmlformats.org/officeDocument/2006/relationships" id="275" r:id="R34b92c9d6b3f4bde"/>
    <p:sldId xmlns:r="http://schemas.openxmlformats.org/officeDocument/2006/relationships" id="276" r:id="R01f345323ba24807"/>
    <p:sldId xmlns:r="http://schemas.openxmlformats.org/officeDocument/2006/relationships" id="277" r:id="R88da4ab35716436a"/>
    <p:sldId xmlns:r="http://schemas.openxmlformats.org/officeDocument/2006/relationships" id="278" r:id="R582e98603e7b4980"/>
    <p:sldId xmlns:r="http://schemas.openxmlformats.org/officeDocument/2006/relationships" id="279" r:id="Rf0ef2dab7e7b470a"/>
    <p:sldId xmlns:r="http://schemas.openxmlformats.org/officeDocument/2006/relationships" id="280" r:id="Rc4fa4d520f2d43d0"/>
    <p:sldId xmlns:r="http://schemas.openxmlformats.org/officeDocument/2006/relationships" id="281" r:id="Rbf2c736734094e9a"/>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a509a78e6e64e92" /><Relationship Type="http://schemas.openxmlformats.org/officeDocument/2006/relationships/slideMaster" Target="/ppt/slideMasters/slideMaster1.xml" Id="R886f05d000e74ad5" /><Relationship Type="http://schemas.openxmlformats.org/officeDocument/2006/relationships/notesMaster" Target="/ppt/notesMasters/notesMaster1.xml" Id="R90e236290bea492d" /><Relationship Type="http://schemas.openxmlformats.org/officeDocument/2006/relationships/presProps" Target="/ppt/presProps.xml" Id="R1c6287011f6d4410" /><Relationship Type="http://schemas.openxmlformats.org/officeDocument/2006/relationships/tableStyles" Target="/ppt/tableStyles.xml" Id="R25055d90fc494e91" /><Relationship Type="http://schemas.openxmlformats.org/officeDocument/2006/relationships/slide" Target="/ppt/slides/slide1.xml" Id="R0e666e0661dc4f45" /><Relationship Type="http://schemas.openxmlformats.org/officeDocument/2006/relationships/slide" Target="/ppt/slides/slide2.xml" Id="R809ae57cf4d4436a" /><Relationship Type="http://schemas.openxmlformats.org/officeDocument/2006/relationships/slide" Target="/ppt/slides/slide3.xml" Id="Re66d3f3cedc44136" /><Relationship Type="http://schemas.openxmlformats.org/officeDocument/2006/relationships/slide" Target="/ppt/slides/slide4.xml" Id="R135c0a079a5644ca" /><Relationship Type="http://schemas.openxmlformats.org/officeDocument/2006/relationships/slide" Target="/ppt/slides/slide5.xml" Id="R12d51aa5e2ee4e0d" /><Relationship Type="http://schemas.openxmlformats.org/officeDocument/2006/relationships/slide" Target="/ppt/slides/slide6.xml" Id="R94e6cfb219734daf" /><Relationship Type="http://schemas.openxmlformats.org/officeDocument/2006/relationships/slide" Target="/ppt/slides/slide7.xml" Id="Reec94f9ec8ba4c1f" /><Relationship Type="http://schemas.openxmlformats.org/officeDocument/2006/relationships/slide" Target="/ppt/slides/slide8.xml" Id="R4b3db9e8253e4f60" /><Relationship Type="http://schemas.openxmlformats.org/officeDocument/2006/relationships/slide" Target="/ppt/slides/slide9.xml" Id="R964d8a13fcfb4cb2" /><Relationship Type="http://schemas.openxmlformats.org/officeDocument/2006/relationships/slide" Target="/ppt/slides/slide10.xml" Id="Rad8bbee17a184a15" /><Relationship Type="http://schemas.openxmlformats.org/officeDocument/2006/relationships/slide" Target="/ppt/slides/slide11.xml" Id="R3b2c9fd902c54e7a" /><Relationship Type="http://schemas.openxmlformats.org/officeDocument/2006/relationships/slide" Target="/ppt/slides/slide12.xml" Id="R1cf7cd62370f4577" /><Relationship Type="http://schemas.openxmlformats.org/officeDocument/2006/relationships/slide" Target="/ppt/slides/slide13.xml" Id="R567b9499d5fc4ddd" /><Relationship Type="http://schemas.openxmlformats.org/officeDocument/2006/relationships/slide" Target="/ppt/slides/slide14.xml" Id="R7a9730ec073c410e" /><Relationship Type="http://schemas.openxmlformats.org/officeDocument/2006/relationships/slide" Target="/ppt/slides/slide15.xml" Id="R979cd2d627d84ee0" /><Relationship Type="http://schemas.openxmlformats.org/officeDocument/2006/relationships/slide" Target="/ppt/slides/slide16.xml" Id="Re771bd1e72ef41dd" /><Relationship Type="http://schemas.openxmlformats.org/officeDocument/2006/relationships/slide" Target="/ppt/slides/slide17.xml" Id="Rfff6f4f2722b4871" /><Relationship Type="http://schemas.openxmlformats.org/officeDocument/2006/relationships/slide" Target="/ppt/slides/slide18.xml" Id="Redeb0e7e89f64382" /><Relationship Type="http://schemas.openxmlformats.org/officeDocument/2006/relationships/slide" Target="/ppt/slides/slide19.xml" Id="Rdb4754e6dbf04da6" /><Relationship Type="http://schemas.openxmlformats.org/officeDocument/2006/relationships/slide" Target="/ppt/slides/slide20.xml" Id="R34b92c9d6b3f4bde" /><Relationship Type="http://schemas.openxmlformats.org/officeDocument/2006/relationships/slide" Target="/ppt/slides/slide21.xml" Id="R01f345323ba24807" /><Relationship Type="http://schemas.openxmlformats.org/officeDocument/2006/relationships/slide" Target="/ppt/slides/slide22.xml" Id="R88da4ab35716436a" /><Relationship Type="http://schemas.openxmlformats.org/officeDocument/2006/relationships/slide" Target="/ppt/slides/slide23.xml" Id="R582e98603e7b4980" /><Relationship Type="http://schemas.openxmlformats.org/officeDocument/2006/relationships/slide" Target="/ppt/slides/slide24.xml" Id="Rf0ef2dab7e7b470a" /><Relationship Type="http://schemas.openxmlformats.org/officeDocument/2006/relationships/slide" Target="/ppt/slides/slide25.xml" Id="Rc4fa4d520f2d43d0" /><Relationship Type="http://schemas.openxmlformats.org/officeDocument/2006/relationships/slide" Target="/ppt/slides/slide26.xml" Id="Rbf2c736734094e9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ba0538e6ea4c1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da032277754ad7" /><Relationship Type="http://schemas.openxmlformats.org/officeDocument/2006/relationships/notesMaster" Target="/ppt/notesMasters/notesMaster1.xml" Id="R51f529e168a045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6dbbb2b80be44434" /><Relationship Type="http://schemas.openxmlformats.org/officeDocument/2006/relationships/notesMaster" Target="/ppt/notesMasters/notesMaster1.xml" Id="R4b708d7313a644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f37fcb05a6482e" /><Relationship Type="http://schemas.openxmlformats.org/officeDocument/2006/relationships/notesMaster" Target="/ppt/notesMasters/notesMaster1.xml" Id="R9868b002b43d44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34e49ed962f14aaf" /><Relationship Type="http://schemas.openxmlformats.org/officeDocument/2006/relationships/notesMaster" Target="/ppt/notesMasters/notesMaster1.xml" Id="Raaf000c7224844f5" /></Relationships>
</file>

<file path=ppt/notesSlides/_rels/notesSlide5.xml.rels>&#65279;<?xml version="1.0" encoding="utf-8"?><Relationships xmlns="http://schemas.openxmlformats.org/package/2006/relationships"><Relationship Type="http://schemas.openxmlformats.org/officeDocument/2006/relationships/slide" Target="/ppt/slides/slide5.xml" Id="Rf7ad1ba9dc4049b8" /><Relationship Type="http://schemas.openxmlformats.org/officeDocument/2006/relationships/notesMaster" Target="/ppt/notesMasters/notesMaster1.xml" Id="R8486900cfca64f6e" /></Relationships>
</file>

<file path=ppt/notesSlides/_rels/notesSlide6.xml.rels>&#65279;<?xml version="1.0" encoding="utf-8"?><Relationships xmlns="http://schemas.openxmlformats.org/package/2006/relationships"><Relationship Type="http://schemas.openxmlformats.org/officeDocument/2006/relationships/slide" Target="/ppt/slides/slide6.xml" Id="R509ce2e3299b438d" /><Relationship Type="http://schemas.openxmlformats.org/officeDocument/2006/relationships/notesMaster" Target="/ppt/notesMasters/notesMaster1.xml" Id="R636bd45ffbff4fed" /></Relationships>
</file>

<file path=ppt/notesSlides/_rels/notesSlide7.xml.rels>&#65279;<?xml version="1.0" encoding="utf-8"?><Relationships xmlns="http://schemas.openxmlformats.org/package/2006/relationships"><Relationship Type="http://schemas.openxmlformats.org/officeDocument/2006/relationships/slide" Target="/ppt/slides/slide7.xml" Id="R2298bc6ee98941ff" /><Relationship Type="http://schemas.openxmlformats.org/officeDocument/2006/relationships/notesMaster" Target="/ppt/notesMasters/notesMaster1.xml" Id="R532fcbc6601246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bfea02c98db641ee" /><Relationship Type="http://schemas.openxmlformats.org/officeDocument/2006/relationships/notesMaster" Target="/ppt/notesMasters/notesMaster1.xml" Id="R1cc6467e60ea4501" /></Relationships>
</file>

<file path=ppt/notesSlides/_rels/notesSlide9.xml.rels>&#65279;<?xml version="1.0" encoding="utf-8"?><Relationships xmlns="http://schemas.openxmlformats.org/package/2006/relationships"><Relationship Type="http://schemas.openxmlformats.org/officeDocument/2006/relationships/slide" Target="/ppt/slides/slide9.xml" Id="R841332dcb01244dd" /><Relationship Type="http://schemas.openxmlformats.org/officeDocument/2006/relationships/notesMaster" Target="/ppt/notesMasters/notesMaster1.xml" Id="Ra8256105fd07425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c998c5b72fd4573" /><Relationship Type="http://schemas.openxmlformats.org/officeDocument/2006/relationships/notesMaster" Target="/ppt/notesMasters/notesMaster1.xml" Id="R7956bd1a237b467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4bfe4e612414867" /><Relationship Type="http://schemas.openxmlformats.org/officeDocument/2006/relationships/notesMaster" Target="/ppt/notesMasters/notesMaster1.xml" Id="R93b13f485e10456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4c3684ad984438e" /><Relationship Type="http://schemas.openxmlformats.org/officeDocument/2006/relationships/notesMaster" Target="/ppt/notesMasters/notesMaster1.xml" Id="R2aa2fb7179c347c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5e2a364564a434d" /><Relationship Type="http://schemas.openxmlformats.org/officeDocument/2006/relationships/notesMaster" Target="/ppt/notesMasters/notesMaster1.xml" Id="R3297e5a174c4415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8221fc2c9d74f0a" /><Relationship Type="http://schemas.openxmlformats.org/officeDocument/2006/relationships/notesMaster" Target="/ppt/notesMasters/notesMaster1.xml" Id="R80010e09a4274fb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d6be2bfaede4910" /><Relationship Type="http://schemas.openxmlformats.org/officeDocument/2006/relationships/notesMaster" Target="/ppt/notesMasters/notesMaster1.xml" Id="R6f98da695fc1480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6197f2ffbe34ae2" /><Relationship Type="http://schemas.openxmlformats.org/officeDocument/2006/relationships/notesMaster" Target="/ppt/notesMasters/notesMaster1.xml" Id="R46056c9a75c7426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ee42bc9ef13444f" /><Relationship Type="http://schemas.openxmlformats.org/officeDocument/2006/relationships/notesMaster" Target="/ppt/notesMasters/notesMaster1.xml" Id="R99e2c288b3ca42b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272f40d3565e4af8" /><Relationship Type="http://schemas.openxmlformats.org/officeDocument/2006/relationships/notesMaster" Target="/ppt/notesMasters/notesMaster1.xml" Id="R9a3ffec335a74b6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e3b56becb1043f3" /><Relationship Type="http://schemas.openxmlformats.org/officeDocument/2006/relationships/notesMaster" Target="/ppt/notesMasters/notesMaster1.xml" Id="R335cc8e4ff99447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cd494c2ef464c21" /><Relationship Type="http://schemas.openxmlformats.org/officeDocument/2006/relationships/notesMaster" Target="/ppt/notesMasters/notesMaster1.xml" Id="Ra1307da5f6294d7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1a60bc91ad7d4f79" /><Relationship Type="http://schemas.openxmlformats.org/officeDocument/2006/relationships/notesMaster" Target="/ppt/notesMasters/notesMaster1.xml" Id="R195e9e707c5e4c7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2f035ef4ee4b4a5d" /><Relationship Type="http://schemas.openxmlformats.org/officeDocument/2006/relationships/notesMaster" Target="/ppt/notesMasters/notesMaster1.xml" Id="Ra1531fc5d799449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5b398ccd5ad845ce" /><Relationship Type="http://schemas.openxmlformats.org/officeDocument/2006/relationships/notesMaster" Target="/ppt/notesMasters/notesMaster1.xml" Id="R7f49d4ea1e224d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8da73f4a512409b" /><Relationship Type="http://schemas.openxmlformats.org/officeDocument/2006/relationships/notesMaster" Target="/ppt/notesMasters/notesMaster1.xml" Id="R5c8b95e067c34cf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c3fffb5d2b034cb6" /><Relationship Type="http://schemas.openxmlformats.org/officeDocument/2006/relationships/notesMaster" Target="/ppt/notesMasters/notesMaster1.xml" Id="R1cb9eb37b12948c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b9b21e5e716415f" /><Relationship Type="http://schemas.openxmlformats.org/officeDocument/2006/relationships/notesMaster" Target="/ppt/notesMasters/notesMaster1.xml" Id="Rf5aa23014a5b4dda"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Presenting the project and individual contribution</a:t>
            </a:r>
          </a:p>
          <a:p>
            <a:r>
              <a:t/>
            </a:r>
          </a:p>
          <a:p>
            <a:r>
              <a:t>LECTURER CUE</a:t>
            </a:r>
          </a:p>
          <a:p>
            <a:r>
              <a:t>Use PowerPoint Presenter View for these notes. Teach one example, pause for every learner to predict, then work an analogous example together. The practice notebook is a learning aid, not an extra graded upload.</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Presenting the project and individual contribution.</a:t>
            </a:r>
          </a:p>
          <a:p>
            <a:r>
              <a:t/>
            </a:r>
          </a:p>
          <a:p>
            <a:r>
              <a:t>LECTURER CUE</a:t>
            </a:r>
          </a:p>
          <a:p>
            <a:r>
              <a:t>Ask learners to explain this goal in ordinary language. The first successful attempt matters more than covering optional extensions. Defer: New models and a last-minute redesign are unnecessary. Fix broken run instructions first.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Allow two minutes for everyone to try. Ask pairs to compare. If many cannot begin, show the first step and repeat with changed values. Checkpoint for today: Each student can explain one decision they personally worked on and point to its evidence.</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NEXT</a:t>
            </a:r>
          </a:p>
          <a:p>
            <a:r>
              <a:t>A presentation connects a claim to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presentation connects a claim to evidence</a:t>
            </a:r>
          </a:p>
          <a:p>
            <a:r>
              <a:t/>
            </a:r>
          </a:p>
          <a:p>
            <a:r>
              <a:t>CONNECT</a:t>
            </a:r>
          </a:p>
          <a:p>
            <a:r>
              <a:t>Build on the preceding slide: Recall and a first attempt.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POINT TO THE DEFINITION</a:t>
            </a:r>
          </a:p>
          <a:p>
            <a:r>
              <a:t>Finding and limitation: A finding states what the evidence shows. A limitation states where that evidence is incomplete or may not apply. Point to the relevant chart, metric or record.</a:t>
            </a:r>
          </a:p>
          <a:p>
            <a:r>
              <a:t>Defence and reflection: A defence explains why you made a choice. A reflection explains what you learned and would improve. Describe your own contribution with specific evidence.</a:t>
            </a:r>
          </a:p>
          <a:p>
            <a:r>
              <a:t/>
            </a:r>
          </a:p>
          <a:p>
            <a:r>
              <a:t>NEXT</a:t>
            </a:r>
          </a:p>
          <a:p>
            <a:r>
              <a:t>A six-minute presentation.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 six-minute presentation</a:t>
            </a:r>
          </a:p>
          <a:p>
            <a:r>
              <a:t/>
            </a:r>
          </a:p>
          <a:p>
            <a:r>
              <a:t>CONNECT</a:t>
            </a:r>
          </a:p>
          <a:p>
            <a:r>
              <a:t>Build on the preceding slide: A presentation connects a claim to evidence.</a:t>
            </a:r>
          </a:p>
          <a:p>
            <a:r>
              <a:t/>
            </a:r>
          </a:p>
          <a:p>
            <a:r>
              <a:t>LECTURER CUE</a:t>
            </a:r>
          </a:p>
          <a:p>
            <a:r>
              <a:t>Model a six-minute presentation: one minute for the problem, one for the data, two for the method and result, one for limitations and one for contribution and next step.</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Make the evidence readable.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Make the evidence readable</a:t>
            </a:r>
          </a:p>
          <a:p>
            <a:r>
              <a:t/>
            </a:r>
          </a:p>
          <a:p>
            <a:r>
              <a:t>CONNECT</a:t>
            </a:r>
          </a:p>
          <a:p>
            <a:r>
              <a:t>Build on the preceding slide: A six-minute presentation.</a:t>
            </a:r>
          </a:p>
          <a:p>
            <a:r>
              <a:t/>
            </a:r>
          </a:p>
          <a:p>
            <a:r>
              <a:t>LECTURER CUE</a:t>
            </a:r>
          </a:p>
          <a:p>
            <a:r>
              <a:t>Explain each chart’s axes and unit before stating its finding. Use the actual measured validation results and state how they were obtained.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Explain the limits honestly.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Explain the limits honestly</a:t>
            </a:r>
          </a:p>
          <a:p>
            <a:r>
              <a:t/>
            </a:r>
          </a:p>
          <a:p>
            <a:r>
              <a:t>CONNECT</a:t>
            </a:r>
          </a:p>
          <a:p>
            <a:r>
              <a:t>Build on the preceding slide: Make the evidence readable.</a:t>
            </a:r>
          </a:p>
          <a:p>
            <a:r>
              <a:t/>
            </a:r>
          </a:p>
          <a:p>
            <a:r>
              <a:t>LECTURER CUE</a:t>
            </a:r>
          </a:p>
          <a:p>
            <a:r>
              <a:t>Practise saying “I do not know yet” followed by the evidence needed to resolve the question. Do not claim deployment readiness from a teaching dataset.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 are explaining to a colleague.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 are explaining to a colleague</a:t>
            </a:r>
          </a:p>
          <a:p>
            <a:r>
              <a:t/>
            </a:r>
          </a:p>
          <a:p>
            <a:r>
              <a:t>CONNECT</a:t>
            </a:r>
          </a:p>
          <a:p>
            <a:r>
              <a:t>Build on the preceding slide: Explain the limits honestly.</a:t>
            </a:r>
          </a:p>
          <a:p>
            <a:r>
              <a:t/>
            </a:r>
          </a:p>
          <a:p>
            <a:r>
              <a:t>LECTURER CUE</a:t>
            </a:r>
          </a:p>
          <a:p>
            <a:r>
              <a:t>Do this before revealing the discussion slide. One learner moves or writes the items, the other checks. Swap roles. Every student explains one step. Expected: A strong explanation connects a claim to evidence and makes its limits clear. Avoid claiming deployment readiness from teaching data.</a:t>
            </a:r>
          </a:p>
          <a:p>
            <a:r>
              <a:t>Wait for an individual prediction before inviting pair discussion. Give a first-step hint if needed.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You are explaining to a colleague.</a:t>
            </a:r>
          </a:p>
          <a:p>
            <a:r>
              <a:t/>
            </a:r>
          </a:p>
          <a:p>
            <a:r>
              <a:t>LECTURER CUE</a:t>
            </a:r>
          </a:p>
          <a:p>
            <a:r>
              <a:t>Ask which step produced this answer. Return to the concrete action if a learner cannot explain it. This is practice feedback, never a quiz key.</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What the activity shows.</a:t>
            </a:r>
          </a:p>
          <a:p>
            <a:r>
              <a:t/>
            </a:r>
          </a:p>
          <a:p>
            <a:r>
              <a:t>LECTURER CUE</a:t>
            </a:r>
          </a:p>
          <a:p>
            <a:r>
              <a:t>Each student can explain one decision they personally worked on and point to its evidence.</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Use the published project and DEMO requirements. Each individual submits their own typed defence and reflection through the designated route. Live questioning and peer comments support learning; they are not a new manual marking workload.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a:t>
            </a:r>
          </a:p>
          <a:p>
            <a:r>
              <a:t/>
            </a:r>
          </a:p>
          <a:p>
            <a:r>
              <a:t>CONNECT</a:t>
            </a:r>
          </a:p>
          <a:p>
            <a:r>
              <a:t>Build on the preceding slide: Your evidence.</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Cross-validation repeats training and validation on different partitions. Each fold gets a newly fitted model and preprocessing. Variation across fold scores shows sensitivity to the partition.</a:t>
            </a:r>
          </a:p>
          <a:p>
            <a:r>
              <a:t/>
            </a:r>
          </a:p>
          <a:p>
            <a:r>
              <a:t>CHECK AND EXPECTED ANSWER</a:t>
            </a:r>
          </a:p>
          <a:p>
            <a:r>
              <a:t>May preprocessing learn from all rows before the folds? No, that would give each validation fold information from outside its training portion.</a:t>
            </a:r>
          </a:p>
          <a:p>
            <a:r>
              <a:t/>
            </a:r>
          </a:p>
          <a:p>
            <a:r>
              <a:t>IF LEARNERS ARE STUCK</a:t>
            </a:r>
          </a:p>
          <a:p>
            <a:r>
              <a:t>Draw three small partitions and label who learns and who is evaluated. Fold spread is not automatically a confidence interval.</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continued</a:t>
            </a:r>
          </a:p>
          <a:p>
            <a:r>
              <a:t/>
            </a:r>
          </a:p>
          <a:p>
            <a:r>
              <a:t>CONNECT</a:t>
            </a:r>
          </a:p>
          <a:p>
            <a:r>
              <a:t>Build on the preceding slide: Engineering ML project continued.</a:t>
            </a:r>
          </a:p>
          <a:p>
            <a:r>
              <a:t/>
            </a:r>
          </a:p>
          <a:p>
            <a:r>
              <a:t>LECTURER CUE</a:t>
            </a:r>
          </a:p>
          <a:p>
            <a:r>
              <a:t># CML3111 ML_PROJECT: Engineering ML project — variant A</a:t>
            </a:r>
          </a:p>
          <a:p>
            <a:r>
              <a:t>Full assessment requirements belong in the current public task guide; explain only the criterion or task shown on this slide.</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Engineering ML project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Engineering ML project submission</a:t>
            </a:r>
          </a:p>
          <a:p>
            <a:r>
              <a:t/>
            </a:r>
          </a:p>
          <a:p>
            <a:r>
              <a:t>CONNECT</a:t>
            </a:r>
          </a:p>
          <a:p>
            <a:r>
              <a:t>Build on the preceding slide: Engineering ML project continued.</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PROJECT UPLOAD SET</a:t>
            </a:r>
          </a:p>
          <a:p>
            <a:r>
              <a:t>For the DA_PROJECT or ML_PROJECT, submit the completed project .ipynb together with one readable DOCX or selectable-text PDF report. This differs from the single-notebook test packet. The current public project guide defines the evidence and rubric; do not substitute weekly practice for the project.</a:t>
            </a:r>
          </a:p>
          <a:p>
            <a:r>
              <a:t/>
            </a:r>
          </a:p>
          <a:p>
            <a:r>
              <a:t>NEXT</a:t>
            </a:r>
          </a:p>
          <a:p>
            <a:r>
              <a:t>Presentation evidence (35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Presentation evidence (35 marks)</a:t>
            </a:r>
          </a:p>
          <a:p>
            <a:r>
              <a:t/>
            </a:r>
          </a:p>
          <a:p>
            <a:r>
              <a:t>CONNECT</a:t>
            </a:r>
          </a:p>
          <a:p>
            <a:r>
              <a:t>Build on the preceding slide: Engineering ML project submission.</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Individual written defence (40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Individual written defence (40 marks)</a:t>
            </a:r>
          </a:p>
          <a:p>
            <a:r>
              <a:t/>
            </a:r>
          </a:p>
          <a:p>
            <a:r>
              <a:t>CONNECT</a:t>
            </a:r>
          </a:p>
          <a:p>
            <a:r>
              <a:t>Build on the preceding slide: Presentation evidence (35 marks).</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Reflection (20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Reflection (20 marks)</a:t>
            </a:r>
          </a:p>
          <a:p>
            <a:r>
              <a:t/>
            </a:r>
          </a:p>
          <a:p>
            <a:r>
              <a:t>CONNECT</a:t>
            </a:r>
          </a:p>
          <a:p>
            <a:r>
              <a:t>Build on the preceding slide: Individual written defence (40 marks).</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NEXT</a:t>
            </a:r>
          </a:p>
          <a:p>
            <a:r>
              <a:t>AI-use declaration (5 marks).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AI-use declaration (5 marks)</a:t>
            </a:r>
          </a:p>
          <a:p>
            <a:r>
              <a:t/>
            </a:r>
          </a:p>
          <a:p>
            <a:r>
              <a:t>CONNECT</a:t>
            </a:r>
          </a:p>
          <a:p>
            <a:r>
              <a:t>Build on the preceding slide: Reflection (20 marks).</a:t>
            </a:r>
          </a:p>
          <a:p>
            <a:r>
              <a:t/>
            </a:r>
          </a:p>
          <a:p>
            <a:r>
              <a:t>LECTURER CUE</a:t>
            </a:r>
          </a:p>
          <a:p>
            <a:r>
              <a:t>Published DEMO criterion. Check the assessment grading-release status before issuing. Live questioning is formative. Source: /Users/jothamwambi/Projects/IUEA-Teaching-Resources/IUEA_Teaching_Plan/grader/rubrics/DEMO.json</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Presentation and individual reflection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Presentation and individual reflection submission</a:t>
            </a:r>
          </a:p>
          <a:p>
            <a:r>
              <a:t/>
            </a:r>
          </a:p>
          <a:p>
            <a:r>
              <a:t>CONNECT</a:t>
            </a:r>
          </a:p>
          <a:p>
            <a:r>
              <a:t>Build on the preceding slide: AI-use declaration (5 marks).</a:t>
            </a:r>
          </a:p>
          <a:p>
            <a:r>
              <a:t/>
            </a:r>
          </a:p>
          <a:p>
            <a:r>
              <a:t>LECTURER CUE</a:t>
            </a:r>
          </a:p>
          <a:p>
            <a:r>
              <a:t>The form link is cohort-specific. Recheck the live form and release status before class. These scheduled assignment dates are separate from the quiz activation window. The issued brief defines the required files, even if the form accepts additional formats. Source: data/submission_links.json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Presentation and individual reflection submission.</a:t>
            </a:r>
          </a:p>
          <a:p>
            <a:r>
              <a:t/>
            </a:r>
          </a:p>
          <a:p>
            <a:r>
              <a:t>LECTURER CUE</a:t>
            </a:r>
          </a:p>
          <a:p>
            <a:r>
              <a:t>Ask every learner for an individual response. Record one misconception to revisit at the start of the next class. If a deadline changed, announce the exact Kampala date and update the source registry before rebuilding slides.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0758705f37453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b46bb44d0664a11" /><Relationship Type="http://schemas.openxmlformats.org/officeDocument/2006/relationships/slideLayout" Target="/ppt/slideLayouts/slideLayout1.xml" Id="Rcb529630f4e24da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b529630f4e24da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1dd9ff56153401f" /><Relationship Type="http://schemas.openxmlformats.org/officeDocument/2006/relationships/image" Target="/ppt/media/image.png" Id="R95e5dfb4e87a437c" /><Relationship Type="http://schemas.openxmlformats.org/officeDocument/2006/relationships/notesSlide" Target="/ppt/notesSlides/notesSlide1.xml" Id="R0c0657909f0343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53a075830544900" /><Relationship Type="http://schemas.openxmlformats.org/officeDocument/2006/relationships/notesSlide" Target="/ppt/notesSlides/notesSlide2.xml" Id="Ra21c87438f684e0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e3153883ad543d9" /><Relationship Type="http://schemas.openxmlformats.org/officeDocument/2006/relationships/notesSlide" Target="/ppt/notesSlides/notesSlide3.xml" Id="R654148679534447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978edd9808045b3" /><Relationship Type="http://schemas.openxmlformats.org/officeDocument/2006/relationships/notesSlide" Target="/ppt/notesSlides/notesSlide4.xml" Id="R7b82f049f4fe46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0e034f56b64ae9" /><Relationship Type="http://schemas.openxmlformats.org/officeDocument/2006/relationships/notesSlide" Target="/ppt/notesSlides/notesSlide5.xml" Id="Rd9818f3fd80942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97ebe91a4f74334" /><Relationship Type="http://schemas.openxmlformats.org/officeDocument/2006/relationships/notesSlide" Target="/ppt/notesSlides/notesSlide6.xml" Id="Rdc78fbbbc16e40c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c0686fa53f74338" /><Relationship Type="http://schemas.openxmlformats.org/officeDocument/2006/relationships/notesSlide" Target="/ppt/notesSlides/notesSlide7.xml" Id="R03f72b3483cc41ed"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b58f7a9af8a4076" /><Relationship Type="http://schemas.openxmlformats.org/officeDocument/2006/relationships/notesSlide" Target="/ppt/notesSlides/notesSlide8.xml" Id="Rd879ed00e985497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318272d86f04788" /><Relationship Type="http://schemas.openxmlformats.org/officeDocument/2006/relationships/notesSlide" Target="/ppt/notesSlides/notesSlide9.xml" Id="R176cefd5d74d43b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4ef7f16c01a40ca" /><Relationship Type="http://schemas.openxmlformats.org/officeDocument/2006/relationships/notesSlide" Target="/ppt/notesSlides/notesSlide10.xml" Id="R1b9dd19774fe43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b01ff78d3db448a" /><Relationship Type="http://schemas.openxmlformats.org/officeDocument/2006/relationships/notesSlide" Target="/ppt/notesSlides/notesSlide11.xml" Id="Rc91c1b1be29e44d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6374512de75489d" /><Relationship Type="http://schemas.openxmlformats.org/officeDocument/2006/relationships/notesSlide" Target="/ppt/notesSlides/notesSlide12.xml" Id="Rb78722c8c0d342e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961f72a76884eee" /><Relationship Type="http://schemas.openxmlformats.org/officeDocument/2006/relationships/notesSlide" Target="/ppt/notesSlides/notesSlide13.xml" Id="Re58a1ae2633b4d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b25b7fc29494d28" /><Relationship Type="http://schemas.openxmlformats.org/officeDocument/2006/relationships/notesSlide" Target="/ppt/notesSlides/notesSlide14.xml" Id="R51d1832ce06943d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5379080982e40ae" /><Relationship Type="http://schemas.openxmlformats.org/officeDocument/2006/relationships/notesSlide" Target="/ppt/notesSlides/notesSlide15.xml" Id="R60f18c0ce90d4e4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df15c15cf934131" /><Relationship Type="http://schemas.openxmlformats.org/officeDocument/2006/relationships/notesSlide" Target="/ppt/notesSlides/notesSlide16.xml" Id="Ra576b07989f0410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0741ea24ca7a4d11" /><Relationship Type="http://schemas.openxmlformats.org/officeDocument/2006/relationships/notesSlide" Target="/ppt/notesSlides/notesSlide17.xml" Id="R0ff5a084b8794ea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3cb380a07f44da1" /><Relationship Type="http://schemas.openxmlformats.org/officeDocument/2006/relationships/notesSlide" Target="/ppt/notesSlides/notesSlide18.xml" Id="R790adde1f6004b2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087b5d6a76d4c9b" /><Relationship Type="http://schemas.openxmlformats.org/officeDocument/2006/relationships/notesSlide" Target="/ppt/notesSlides/notesSlide19.xml" Id="R799058d620db418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c5b603a342948a4" /><Relationship Type="http://schemas.openxmlformats.org/officeDocument/2006/relationships/hyperlink" Target="https://docs.google.com/forms/d/e/1FAIpQLSeV2_XlDSjUCyjJG-aQjFSQny-ndfkYaOYtExv9CdA_HUbDlQ/viewform" TargetMode="External" Id="Rb466e44e96cc4d94" /><Relationship Type="http://schemas.openxmlformats.org/officeDocument/2006/relationships/notesSlide" Target="/ppt/notesSlides/notesSlide20.xml" Id="Rb546163cc40249c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e6688bb9c3b54218" /><Relationship Type="http://schemas.openxmlformats.org/officeDocument/2006/relationships/notesSlide" Target="/ppt/notesSlides/notesSlide21.xml" Id="Rc599cb0ba94348b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b7fdc94b86546cc" /><Relationship Type="http://schemas.openxmlformats.org/officeDocument/2006/relationships/notesSlide" Target="/ppt/notesSlides/notesSlide22.xml" Id="R5fe7932956924df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70cf34ac0c34522" /><Relationship Type="http://schemas.openxmlformats.org/officeDocument/2006/relationships/notesSlide" Target="/ppt/notesSlides/notesSlide23.xml" Id="R496eadc8337c4b07"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3a8077933b54d42" /><Relationship Type="http://schemas.openxmlformats.org/officeDocument/2006/relationships/notesSlide" Target="/ppt/notesSlides/notesSlide24.xml" Id="Rcbc37c4e0c924eb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d42be65f10542db" /><Relationship Type="http://schemas.openxmlformats.org/officeDocument/2006/relationships/hyperlink" Target="https://docs.google.com/forms/d/e/1FAIpQLScnSPyvzCLfoHhIBusvFTIpqC-zAsk2bCLMqu6kJCh5cGI9gQ/viewform" TargetMode="External" Id="R0458b2b57f34470b" /><Relationship Type="http://schemas.openxmlformats.org/officeDocument/2006/relationships/notesSlide" Target="/ppt/notesSlides/notesSlide25.xml" Id="R9ed6b9fc76d9401f"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437e1f738dc14e58" /><Relationship Type="http://schemas.openxmlformats.org/officeDocument/2006/relationships/notesSlide" Target="/ppt/notesSlides/notesSlide26.xml" Id="R26c0adbbf9c6488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5e5dfb4e87a437c"/>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DF16F4B-E672-425C-B65F-921C87835269}"/>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3A21B13-CFCF-4920-B8A6-BA5E9248374B}"/>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15</a:t>
            </a:r>
          </a:p>
        </p:txBody>
      </p:sp>
      <p:sp>
        <p:nvSpPr>
          <p:cNvPr id="4" name="">
            <a:extLst xmlns:a="http://schemas.openxmlformats.org/drawingml/2006/main">
              <a:ext uri="{FF2B5EF4-FFF2-40B4-BE49-F238E27FC236}">
                <a16:creationId xmlns:a16="http://schemas.microsoft.com/office/drawing/2014/main" id="{8372A135-0E32-48EA-8A03-3A68901CF76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Presenting the project and individual contribution</a:t>
            </a:r>
          </a:p>
        </p:txBody>
      </p:sp>
      <p:sp>
        <p:nvSpPr>
          <p:cNvPr id="5" name="">
            <a:extLst xmlns:a="http://schemas.openxmlformats.org/drawingml/2006/main">
              <a:ext uri="{FF2B5EF4-FFF2-40B4-BE49-F238E27FC236}">
                <a16:creationId xmlns:a16="http://schemas.microsoft.com/office/drawing/2014/main" id="{F45CE5F4-BE5D-436D-86D2-4339A58345D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B9CE15B0-A2A2-41E5-8F70-ED33844CF60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18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9106585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70616D7-6390-4771-A101-53CB01E853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6C6906-4BA5-43CD-AB28-F57C838A547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FD1A5FCF-2747-4A40-A0A3-FF7DBEFA32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F40F4E6C-B04F-4A89-897C-87A4B42FBB8C}"/>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1A8C92B-1C83-490B-80C3-36DBB0E727ED}"/>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5047A284-4932-416D-9E47-875B3F1B820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your question and one supported finding.</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a limitation and your individual contribution.</a:t>
            </a:r>
          </a:p>
        </p:txBody>
      </p:sp>
      <p:sp>
        <p:nvSpPr>
          <p:cNvPr id="7" name="">
            <a:extLst xmlns:a="http://schemas.openxmlformats.org/drawingml/2006/main">
              <a:ext uri="{FF2B5EF4-FFF2-40B4-BE49-F238E27FC236}">
                <a16:creationId xmlns:a16="http://schemas.microsoft.com/office/drawing/2014/main" id="{23953B79-CAB0-4FCC-A3EF-637D4A89F68A}"/>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A9AE00D2-996A-435B-9C07-00A31C37B561}"/>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point to the evidence behind one decision you personally worked on.</a:t>
            </a:r>
          </a:p>
        </p:txBody>
      </p:sp>
      <p:sp>
        <p:nvSpPr>
          <p:cNvPr id="9" name="">
            <a:extLst xmlns:a="http://schemas.openxmlformats.org/drawingml/2006/main">
              <a:ext uri="{FF2B5EF4-FFF2-40B4-BE49-F238E27FC236}">
                <a16:creationId xmlns:a16="http://schemas.microsoft.com/office/drawing/2014/main" id="{C8676D81-6331-49D0-9A9A-7B8FD12B2D5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a:t>
            </a:r>
          </a:p>
        </p:txBody>
      </p:sp>
    </p:spTree>
    <p:extLst>
      <p:ext uri="{BB962C8B-B14F-4D97-AF65-F5344CB8AC3E}">
        <p14:creationId xmlns:p14="http://schemas.microsoft.com/office/powerpoint/2010/main" val="1525498580"/>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BB7FC90-0FD0-42C3-8B11-BBEBFEFCE07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59209CCA-C12E-4BB9-B9E2-B881BB3ACC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4AD0FFB1-6846-4301-AAE0-344D2B2A5B2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4FAF6C15-95F7-4704-BA24-BE3993972C0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What question did your team investigate, and what result can you support with evidence?</a:t>
            </a:r>
          </a:p>
        </p:txBody>
      </p:sp>
      <p:sp>
        <p:nvSpPr>
          <p:cNvPr id="5" name="">
            <a:extLst xmlns:a="http://schemas.openxmlformats.org/drawingml/2006/main">
              <a:ext uri="{FF2B5EF4-FFF2-40B4-BE49-F238E27FC236}">
                <a16:creationId xmlns:a16="http://schemas.microsoft.com/office/drawing/2014/main" id="{B1918451-A5F9-4940-B8E9-75F0CE55D72D}"/>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79FAB26D-E48C-4C7F-B71B-48092A63B2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15   3</a:t>
            </a:r>
          </a:p>
        </p:txBody>
      </p:sp>
    </p:spTree>
    <p:extLst>
      <p:ext uri="{BB962C8B-B14F-4D97-AF65-F5344CB8AC3E}">
        <p14:creationId xmlns:p14="http://schemas.microsoft.com/office/powerpoint/2010/main" val="958683427"/>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0B3AA8F-397A-4D21-B29F-D6D9984FB4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528B35B-1B2B-4155-B4CB-C70C41FC56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1FF3B21-5932-4A9B-86EF-FCFC2020D5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presentation connects a claim to evidence</a:t>
            </a:r>
          </a:p>
        </p:txBody>
      </p:sp>
      <p:sp>
        <p:nvSpPr>
          <p:cNvPr id="4" name="">
            <a:extLst xmlns:a="http://schemas.openxmlformats.org/drawingml/2006/main">
              <a:ext uri="{FF2B5EF4-FFF2-40B4-BE49-F238E27FC236}">
                <a16:creationId xmlns:a16="http://schemas.microsoft.com/office/drawing/2014/main" id="{59F1873C-C15C-441A-8166-8D2DB4EA4C31}"/>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4774786-B464-4883-A437-8836425AA76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Finding and limitation</a:t>
            </a:r>
          </a:p>
        </p:txBody>
      </p:sp>
      <p:sp>
        <p:nvSpPr>
          <p:cNvPr id="6" name="">
            <a:extLst xmlns:a="http://schemas.openxmlformats.org/drawingml/2006/main">
              <a:ext uri="{FF2B5EF4-FFF2-40B4-BE49-F238E27FC236}">
                <a16:creationId xmlns:a16="http://schemas.microsoft.com/office/drawing/2014/main" id="{0EBA549A-FC9E-429A-8201-10AEE8F77D5B}"/>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finding states what the evidence shows. A limitation states where that evidence is incomplete or may not apply. Point to the relevant chart, metric or record.</a:t>
            </a:r>
          </a:p>
        </p:txBody>
      </p:sp>
      <p:sp>
        <p:nvSpPr>
          <p:cNvPr id="7" name="">
            <a:extLst xmlns:a="http://schemas.openxmlformats.org/drawingml/2006/main">
              <a:ext uri="{FF2B5EF4-FFF2-40B4-BE49-F238E27FC236}">
                <a16:creationId xmlns:a16="http://schemas.microsoft.com/office/drawing/2014/main" id="{1EC1F72E-909D-4710-821C-EB9F9EB2C705}"/>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8599D70-F66A-4A1A-91DB-A1FA5CC3C79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Defence and reflection</a:t>
            </a:r>
          </a:p>
        </p:txBody>
      </p:sp>
      <p:sp>
        <p:nvSpPr>
          <p:cNvPr id="9" name="">
            <a:extLst xmlns:a="http://schemas.openxmlformats.org/drawingml/2006/main">
              <a:ext uri="{FF2B5EF4-FFF2-40B4-BE49-F238E27FC236}">
                <a16:creationId xmlns:a16="http://schemas.microsoft.com/office/drawing/2014/main" id="{07D59D66-0920-4E12-8185-99E2F38F2DE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defence explains why you made a choice. A reflection explains what you learned and would improve. Describe your own contribution with specific evidence.</a:t>
            </a:r>
          </a:p>
        </p:txBody>
      </p:sp>
      <p:sp>
        <p:nvSpPr>
          <p:cNvPr id="10" name="">
            <a:extLst xmlns:a="http://schemas.openxmlformats.org/drawingml/2006/main">
              <a:ext uri="{FF2B5EF4-FFF2-40B4-BE49-F238E27FC236}">
                <a16:creationId xmlns:a16="http://schemas.microsoft.com/office/drawing/2014/main" id="{E77CF341-A0A3-47FC-9265-5D07AAAEC8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4</a:t>
            </a:r>
          </a:p>
        </p:txBody>
      </p:sp>
    </p:spTree>
    <p:extLst>
      <p:ext uri="{BB962C8B-B14F-4D97-AF65-F5344CB8AC3E}">
        <p14:creationId xmlns:p14="http://schemas.microsoft.com/office/powerpoint/2010/main" val="13162752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99BE3F-0EDF-4CA9-975B-F6B53365DE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778DEBC-D9B5-47EE-99D2-1E16B64679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A0CB1D-24C7-4740-A2F3-D2ADCC7DD7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six-minute presentation</a:t>
            </a:r>
          </a:p>
        </p:txBody>
      </p:sp>
      <p:sp>
        <p:nvSpPr>
          <p:cNvPr id="4" name="">
            <a:extLst xmlns:a="http://schemas.openxmlformats.org/drawingml/2006/main">
              <a:ext uri="{FF2B5EF4-FFF2-40B4-BE49-F238E27FC236}">
                <a16:creationId xmlns:a16="http://schemas.microsoft.com/office/drawing/2014/main" id="{F03DD2E5-FCFB-4D47-B7A8-493812E593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27F0971-D7E2-455E-AC45-8ED92201715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1–2: explain the question and data.</a:t>
            </a:r>
          </a:p>
        </p:txBody>
      </p:sp>
      <p:sp>
        <p:nvSpPr>
          <p:cNvPr id="6" name="">
            <a:extLst xmlns:a="http://schemas.openxmlformats.org/drawingml/2006/main">
              <a:ext uri="{FF2B5EF4-FFF2-40B4-BE49-F238E27FC236}">
                <a16:creationId xmlns:a16="http://schemas.microsoft.com/office/drawing/2014/main" id="{305D5BF5-B5E5-4BA1-9167-FAD89FAC621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BC280AD-DEDD-4987-954F-9020DE6E8CC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3–4: show the method and one supported result.</a:t>
            </a:r>
          </a:p>
        </p:txBody>
      </p:sp>
      <p:sp>
        <p:nvSpPr>
          <p:cNvPr id="8" name="">
            <a:extLst xmlns:a="http://schemas.openxmlformats.org/drawingml/2006/main">
              <a:ext uri="{FF2B5EF4-FFF2-40B4-BE49-F238E27FC236}">
                <a16:creationId xmlns:a16="http://schemas.microsoft.com/office/drawing/2014/main" id="{6D77CF60-1AEA-41A3-92AD-BA20B6326A0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E49DAA5-D6C0-49D8-984A-0842B7FB2D1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Minutes 5–6: explain limitations, contributions and a next step.</a:t>
            </a:r>
          </a:p>
        </p:txBody>
      </p:sp>
      <p:sp>
        <p:nvSpPr>
          <p:cNvPr id="10" name="">
            <a:extLst xmlns:a="http://schemas.openxmlformats.org/drawingml/2006/main">
              <a:ext uri="{FF2B5EF4-FFF2-40B4-BE49-F238E27FC236}">
                <a16:creationId xmlns:a16="http://schemas.microsoft.com/office/drawing/2014/main" id="{A362D283-D840-4F78-A473-347DF35640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5</a:t>
            </a:r>
          </a:p>
        </p:txBody>
      </p:sp>
    </p:spTree>
    <p:extLst>
      <p:ext uri="{BB962C8B-B14F-4D97-AF65-F5344CB8AC3E}">
        <p14:creationId xmlns:p14="http://schemas.microsoft.com/office/powerpoint/2010/main" val="77787000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3608417-13AD-497B-8639-10B4C02714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14A0F4-90B8-406F-95EB-26E0F67869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94C85B0-0AD3-4DAC-BD56-4F66685B7F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Make the evidence readable</a:t>
            </a:r>
          </a:p>
        </p:txBody>
      </p:sp>
      <p:sp>
        <p:nvSpPr>
          <p:cNvPr id="4" name="">
            <a:extLst xmlns:a="http://schemas.openxmlformats.org/drawingml/2006/main">
              <a:ext uri="{FF2B5EF4-FFF2-40B4-BE49-F238E27FC236}">
                <a16:creationId xmlns:a16="http://schemas.microsoft.com/office/drawing/2014/main" id="{20D9B821-7143-410E-B922-3581029AF54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5B618A-F748-4D5D-BD4A-C1D34839151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the chart axes and their units.</a:t>
            </a:r>
          </a:p>
        </p:txBody>
      </p:sp>
      <p:sp>
        <p:nvSpPr>
          <p:cNvPr id="6" name="">
            <a:extLst xmlns:a="http://schemas.openxmlformats.org/drawingml/2006/main">
              <a:ext uri="{FF2B5EF4-FFF2-40B4-BE49-F238E27FC236}">
                <a16:creationId xmlns:a16="http://schemas.microsoft.com/office/drawing/2014/main" id="{E6D0FDB4-3AB3-4524-92CC-91C4023C476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075528-074D-4192-B8B7-C63C7567A130}"/>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measured evaluation result and how you obtained it.</a:t>
            </a:r>
          </a:p>
        </p:txBody>
      </p:sp>
      <p:sp>
        <p:nvSpPr>
          <p:cNvPr id="8" name="">
            <a:extLst xmlns:a="http://schemas.openxmlformats.org/drawingml/2006/main">
              <a:ext uri="{FF2B5EF4-FFF2-40B4-BE49-F238E27FC236}">
                <a16:creationId xmlns:a16="http://schemas.microsoft.com/office/drawing/2014/main" id="{008399B1-F3BD-4C94-8AA1-089D483EFB7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BEE1C84-AF18-4511-81A8-BBCD0C3092B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Point to the particular table, plot or calculation that supports your claim.</a:t>
            </a:r>
          </a:p>
        </p:txBody>
      </p:sp>
      <p:sp>
        <p:nvSpPr>
          <p:cNvPr id="10" name="">
            <a:extLst xmlns:a="http://schemas.openxmlformats.org/drawingml/2006/main">
              <a:ext uri="{FF2B5EF4-FFF2-40B4-BE49-F238E27FC236}">
                <a16:creationId xmlns:a16="http://schemas.microsoft.com/office/drawing/2014/main" id="{06D5EC46-5026-4156-ADA4-5B589BDDC1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6</a:t>
            </a:r>
          </a:p>
        </p:txBody>
      </p:sp>
    </p:spTree>
    <p:extLst>
      <p:ext uri="{BB962C8B-B14F-4D97-AF65-F5344CB8AC3E}">
        <p14:creationId xmlns:p14="http://schemas.microsoft.com/office/powerpoint/2010/main" val="187895247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383A35D-EF0A-4A38-812A-DE5F9F14C6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09B7559-E24B-4410-AF59-944E950B1A2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AC4DF96-7759-49F6-8B87-99F22A5461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the limits honestly</a:t>
            </a:r>
          </a:p>
        </p:txBody>
      </p:sp>
      <p:sp>
        <p:nvSpPr>
          <p:cNvPr id="4" name="">
            <a:extLst xmlns:a="http://schemas.openxmlformats.org/drawingml/2006/main">
              <a:ext uri="{FF2B5EF4-FFF2-40B4-BE49-F238E27FC236}">
                <a16:creationId xmlns:a16="http://schemas.microsoft.com/office/drawing/2014/main" id="{D40635AA-B669-4310-9371-1F49A425988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75DEDD-97F5-47CC-B2F6-306AE8850EA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what your investigation can support.</a:t>
            </a:r>
          </a:p>
        </p:txBody>
      </p:sp>
      <p:sp>
        <p:nvSpPr>
          <p:cNvPr id="6" name="">
            <a:extLst xmlns:a="http://schemas.openxmlformats.org/drawingml/2006/main">
              <a:ext uri="{FF2B5EF4-FFF2-40B4-BE49-F238E27FC236}">
                <a16:creationId xmlns:a16="http://schemas.microsoft.com/office/drawing/2014/main" id="{FEB7A014-C316-4ECE-84CF-4B4786E420F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8746B1-ABE2-4443-949C-6F67A6FF17B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an answer is unknown, say what evidence would resolve it.</a:t>
            </a:r>
          </a:p>
        </p:txBody>
      </p:sp>
      <p:sp>
        <p:nvSpPr>
          <p:cNvPr id="8" name="">
            <a:extLst xmlns:a="http://schemas.openxmlformats.org/drawingml/2006/main">
              <a:ext uri="{FF2B5EF4-FFF2-40B4-BE49-F238E27FC236}">
                <a16:creationId xmlns:a16="http://schemas.microsoft.com/office/drawing/2014/main" id="{99733F5D-558A-479E-821F-16792B197FD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5901E42-02AB-436E-8DE3-AEB1A4B1411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Teaching data alone do not establish readiness for real operation.</a:t>
            </a:r>
          </a:p>
        </p:txBody>
      </p:sp>
      <p:sp>
        <p:nvSpPr>
          <p:cNvPr id="10" name="">
            <a:extLst xmlns:a="http://schemas.openxmlformats.org/drawingml/2006/main">
              <a:ext uri="{FF2B5EF4-FFF2-40B4-BE49-F238E27FC236}">
                <a16:creationId xmlns:a16="http://schemas.microsoft.com/office/drawing/2014/main" id="{B768550D-9106-43A4-B64F-99C74233A8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7</a:t>
            </a:r>
          </a:p>
        </p:txBody>
      </p:sp>
    </p:spTree>
    <p:extLst>
      <p:ext uri="{BB962C8B-B14F-4D97-AF65-F5344CB8AC3E}">
        <p14:creationId xmlns:p14="http://schemas.microsoft.com/office/powerpoint/2010/main" val="178672443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2E75659-1756-45BE-8A16-7A43FE6D98F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E22C9F4-7E16-4058-B0EC-B0A4D92A26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xmlns:a="http://schemas.openxmlformats.org/drawingml/2006/main">
              <a:ext uri="{FF2B5EF4-FFF2-40B4-BE49-F238E27FC236}">
                <a16:creationId xmlns:a16="http://schemas.microsoft.com/office/drawing/2014/main" id="{AF449A57-FC64-49FC-BC16-2D40A73982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 are explaining to a colleague</a:t>
            </a:r>
          </a:p>
        </p:txBody>
      </p:sp>
      <p:sp>
        <p:nvSpPr>
          <p:cNvPr id="4" name="">
            <a:extLst xmlns:a="http://schemas.openxmlformats.org/drawingml/2006/main">
              <a:ext uri="{FF2B5EF4-FFF2-40B4-BE49-F238E27FC236}">
                <a16:creationId xmlns:a16="http://schemas.microsoft.com/office/drawing/2014/main" id="{EFAEDD1B-5D4E-42B7-A476-2DC2138246FD}"/>
              </a:ext>
            </a:extLst>
          </p:cNvPr>
          <p:cNvSpPr>
            <a:spLocks xmlns:a="http://schemas.openxmlformats.org/drawingml/2006/main" noGrp="1"/>
          </p:cNvSpPr>
          <p:nvPr/>
        </p:nvSpPr>
        <p:spPr>
          <a:xfrm xmlns:a="http://schemas.openxmlformats.org/drawingml/2006/main">
            <a:off x="619125" y="1809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A23251A-E7C8-436B-A5BD-67D9A512EA40}"/>
              </a:ext>
            </a:extLst>
          </p:cNvPr>
          <p:cNvSpPr>
            <a:spLocks xmlns:a="http://schemas.openxmlformats.org/drawingml/2006/main" noGrp="1"/>
          </p:cNvSpPr>
          <p:nvPr/>
        </p:nvSpPr>
        <p:spPr>
          <a:xfrm xmlns:a="http://schemas.openxmlformats.org/drawingml/2006/main">
            <a:off x="1409700" y="1809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project question in one everyday sentence.</a:t>
            </a:r>
          </a:p>
        </p:txBody>
      </p:sp>
      <p:sp>
        <p:nvSpPr>
          <p:cNvPr id="6" name="">
            <a:extLst xmlns:a="http://schemas.openxmlformats.org/drawingml/2006/main">
              <a:ext uri="{FF2B5EF4-FFF2-40B4-BE49-F238E27FC236}">
                <a16:creationId xmlns:a16="http://schemas.microsoft.com/office/drawing/2014/main" id="{A3D89A07-1EAD-409D-BCF2-41B6063EDA6E}"/>
              </a:ext>
            </a:extLst>
          </p:cNvPr>
          <p:cNvSpPr>
            <a:spLocks xmlns:a="http://schemas.openxmlformats.org/drawingml/2006/main" noGrp="1"/>
          </p:cNvSpPr>
          <p:nvPr/>
        </p:nvSpPr>
        <p:spPr>
          <a:xfrm xmlns:a="http://schemas.openxmlformats.org/drawingml/2006/main">
            <a:off x="619125" y="31432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93BB176-A671-46C2-AE47-68E3B9518830}"/>
              </a:ext>
            </a:extLst>
          </p:cNvPr>
          <p:cNvSpPr>
            <a:spLocks xmlns:a="http://schemas.openxmlformats.org/drawingml/2006/main" noGrp="1"/>
          </p:cNvSpPr>
          <p:nvPr/>
        </p:nvSpPr>
        <p:spPr>
          <a:xfrm xmlns:a="http://schemas.openxmlformats.org/drawingml/2006/main">
            <a:off x="1409700" y="31432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Show one labelled result and say how you obtained it.</a:t>
            </a:r>
          </a:p>
        </p:txBody>
      </p:sp>
      <p:sp>
        <p:nvSpPr>
          <p:cNvPr id="8" name="">
            <a:extLst xmlns:a="http://schemas.openxmlformats.org/drawingml/2006/main">
              <a:ext uri="{FF2B5EF4-FFF2-40B4-BE49-F238E27FC236}">
                <a16:creationId xmlns:a16="http://schemas.microsoft.com/office/drawing/2014/main" id="{35CCB34D-84A7-4CEC-96C4-CCF2490EE35E}"/>
              </a:ext>
            </a:extLst>
          </p:cNvPr>
          <p:cNvSpPr>
            <a:spLocks xmlns:a="http://schemas.openxmlformats.org/drawingml/2006/main" noGrp="1"/>
          </p:cNvSpPr>
          <p:nvPr/>
        </p:nvSpPr>
        <p:spPr>
          <a:xfrm xmlns:a="http://schemas.openxmlformats.org/drawingml/2006/main">
            <a:off x="619125" y="447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9AF45BC-0CD4-4451-AA92-8BAF615CB3B7}"/>
              </a:ext>
            </a:extLst>
          </p:cNvPr>
          <p:cNvSpPr>
            <a:spLocks xmlns:a="http://schemas.openxmlformats.org/drawingml/2006/main" noGrp="1"/>
          </p:cNvSpPr>
          <p:nvPr/>
        </p:nvSpPr>
        <p:spPr>
          <a:xfrm xmlns:a="http://schemas.openxmlformats.org/drawingml/2006/main">
            <a:off x="1409700" y="4476750"/>
            <a:ext cx="10001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Name one limitation and one decision you personally contributed.</a:t>
            </a:r>
          </a:p>
        </p:txBody>
      </p:sp>
      <p:sp>
        <p:nvSpPr>
          <p:cNvPr id="10" name="">
            <a:extLst xmlns:a="http://schemas.openxmlformats.org/drawingml/2006/main">
              <a:ext uri="{FF2B5EF4-FFF2-40B4-BE49-F238E27FC236}">
                <a16:creationId xmlns:a16="http://schemas.microsoft.com/office/drawing/2014/main" id="{35CCEE43-7337-4F81-8661-4AE64F75491D}"/>
              </a:ext>
            </a:extLst>
          </p:cNvPr>
          <p:cNvSpPr>
            <a:spLocks xmlns:a="http://schemas.openxmlformats.org/drawingml/2006/main" noGrp="1"/>
          </p:cNvSpPr>
          <p:nvPr/>
        </p:nvSpPr>
        <p:spPr>
          <a:xfrm xmlns:a="http://schemas.openxmlformats.org/drawingml/2006/main">
            <a:off x="0" y="5915025"/>
            <a:ext cx="12191695" cy="4667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B739061-6C5C-4C12-A3E4-47FAEE9660C1}"/>
              </a:ext>
            </a:extLst>
          </p:cNvPr>
          <p:cNvSpPr>
            <a:spLocks xmlns:a="http://schemas.openxmlformats.org/drawingml/2006/main" noGrp="1"/>
          </p:cNvSpPr>
          <p:nvPr/>
        </p:nvSpPr>
        <p:spPr>
          <a:xfrm xmlns:a="http://schemas.openxmlformats.org/drawingml/2006/main">
            <a:off x="619125" y="5981700"/>
            <a:ext cx="10810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xmlns:a="http://schemas.openxmlformats.org/drawingml/2006/main">
              <a:ext uri="{FF2B5EF4-FFF2-40B4-BE49-F238E27FC236}">
                <a16:creationId xmlns:a16="http://schemas.microsoft.com/office/drawing/2014/main" id="{64DE4F78-00B9-477D-B30B-0FE150AB73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8</a:t>
            </a:r>
          </a:p>
        </p:txBody>
      </p:sp>
    </p:spTree>
    <p:extLst>
      <p:ext uri="{BB962C8B-B14F-4D97-AF65-F5344CB8AC3E}">
        <p14:creationId xmlns:p14="http://schemas.microsoft.com/office/powerpoint/2010/main" val="175482901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D8A927B-3432-4E2E-973F-2E575F3388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D11D70-DC02-48A9-9EF2-1FF63D9B941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D8D2E713-376D-4DBA-84C3-F1B83DB364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910B5DC2-33A8-4CF6-99C5-52B7F0187C6B}"/>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E9A7670-15B3-4B31-9C51-3CC030445ADA}"/>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A strong explanation connects a claim to evidence and makes its limits clear. Avoid claiming deployment readiness from teaching data.</a:t>
            </a:r>
          </a:p>
        </p:txBody>
      </p:sp>
      <p:sp>
        <p:nvSpPr>
          <p:cNvPr id="6" name="">
            <a:extLst xmlns:a="http://schemas.openxmlformats.org/drawingml/2006/main">
              <a:ext uri="{FF2B5EF4-FFF2-40B4-BE49-F238E27FC236}">
                <a16:creationId xmlns:a16="http://schemas.microsoft.com/office/drawing/2014/main" id="{854EDE2A-3DC2-4401-92C8-14243CB00850}"/>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E544E42-8BFA-4E88-B23D-6413D492F1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9</a:t>
            </a:r>
          </a:p>
        </p:txBody>
      </p:sp>
    </p:spTree>
    <p:extLst>
      <p:ext uri="{BB962C8B-B14F-4D97-AF65-F5344CB8AC3E}">
        <p14:creationId xmlns:p14="http://schemas.microsoft.com/office/powerpoint/2010/main" val="1240208021"/>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2082447-382D-4D7B-98A9-4FB133576C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6E688B-5C4E-415F-A050-50E8693EE3C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3E96B2-C211-461C-91C5-548771E5C1A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88ADE344-588B-4001-B9DB-E071C50A70C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C884613-65C3-4DC1-8A3B-405A955AC66D}"/>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Each student can explain one decision they personally worked on and point to its evidence.</a:t>
            </a:r>
          </a:p>
        </p:txBody>
      </p:sp>
      <p:sp>
        <p:nvSpPr>
          <p:cNvPr id="6" name="">
            <a:extLst xmlns:a="http://schemas.openxmlformats.org/drawingml/2006/main">
              <a:ext uri="{FF2B5EF4-FFF2-40B4-BE49-F238E27FC236}">
                <a16:creationId xmlns:a16="http://schemas.microsoft.com/office/drawing/2014/main" id="{D014EB17-CC27-4BE2-876B-582A8DFC2CA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10</a:t>
            </a:r>
          </a:p>
        </p:txBody>
      </p:sp>
    </p:spTree>
    <p:extLst>
      <p:ext uri="{BB962C8B-B14F-4D97-AF65-F5344CB8AC3E}">
        <p14:creationId xmlns:p14="http://schemas.microsoft.com/office/powerpoint/2010/main" val="171023220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4F5B3A0-D4F0-4327-86A8-6C7D7E753F2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ECAE0BB-50D8-4589-A3C7-17EB235CC25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C48BEF4-898A-440D-BFF7-0DDAD113BC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DC6F921B-60E4-4E30-8824-F4F2C28C94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3760DA-0530-4635-9D72-11B6AB69255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project and DEMO requirements.</a:t>
            </a:r>
          </a:p>
        </p:txBody>
      </p:sp>
      <p:sp>
        <p:nvSpPr>
          <p:cNvPr id="6" name="">
            <a:extLst xmlns:a="http://schemas.openxmlformats.org/drawingml/2006/main">
              <a:ext uri="{FF2B5EF4-FFF2-40B4-BE49-F238E27FC236}">
                <a16:creationId xmlns:a16="http://schemas.microsoft.com/office/drawing/2014/main" id="{A5CD6946-7C43-4FA2-8894-CD69AE7C603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4AF035-B7A1-475F-B877-224D59B630F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individual submits their own typed defence and reflection through the designated route.</a:t>
            </a:r>
          </a:p>
        </p:txBody>
      </p:sp>
      <p:sp>
        <p:nvSpPr>
          <p:cNvPr id="8" name="">
            <a:extLst xmlns:a="http://schemas.openxmlformats.org/drawingml/2006/main">
              <a:ext uri="{FF2B5EF4-FFF2-40B4-BE49-F238E27FC236}">
                <a16:creationId xmlns:a16="http://schemas.microsoft.com/office/drawing/2014/main" id="{C0B1BEC3-79C3-4EF6-96AF-2F204CC03D1C}"/>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616EE1A-4E4B-416F-A86F-6BB9342F4EA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your own written defence and reflection as instructed.</a:t>
            </a:r>
          </a:p>
        </p:txBody>
      </p:sp>
      <p:sp>
        <p:nvSpPr>
          <p:cNvPr id="10" name="">
            <a:extLst xmlns:a="http://schemas.openxmlformats.org/drawingml/2006/main">
              <a:ext uri="{FF2B5EF4-FFF2-40B4-BE49-F238E27FC236}">
                <a16:creationId xmlns:a16="http://schemas.microsoft.com/office/drawing/2014/main" id="{4D467C68-BD93-4DE2-83D5-0BD1134672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11</a:t>
            </a:r>
          </a:p>
        </p:txBody>
      </p:sp>
    </p:spTree>
    <p:extLst>
      <p:ext uri="{BB962C8B-B14F-4D97-AF65-F5344CB8AC3E}">
        <p14:creationId xmlns:p14="http://schemas.microsoft.com/office/powerpoint/2010/main" val="3663190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A19DE0E-0E1E-468E-8F13-81D3D01D50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C4F7254-5CA7-4152-999E-840D693BF6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BAE0DCC-9AC4-4F45-B718-3689DF6EEE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a:t>
            </a:r>
          </a:p>
        </p:txBody>
      </p:sp>
      <p:sp>
        <p:nvSpPr>
          <p:cNvPr id="4" name="">
            <a:extLst xmlns:a="http://schemas.openxmlformats.org/drawingml/2006/main">
              <a:ext uri="{FF2B5EF4-FFF2-40B4-BE49-F238E27FC236}">
                <a16:creationId xmlns:a16="http://schemas.microsoft.com/office/drawing/2014/main" id="{B8377932-CD2F-423B-8E55-0167B55204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107E5A8-E6AE-4ACF-821B-4F957D32075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EB18B1AF-4387-4EFC-89B4-C0AEA83CA29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235364F-961C-4DC2-A7C9-66DA49565594}"/>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882FC1A8-5486-4E37-AAA1-1BF6B0F0B9F5}"/>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7FEC67-94DF-4210-BC75-45473076226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818BB75B-B339-4CF3-A275-3FC3E9C2902C}"/>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0B6C642-8582-4488-BD38-55D977ABF49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ACBBE27C-19F9-4A19-ADE7-001146B012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12</a:t>
            </a:r>
          </a:p>
        </p:txBody>
      </p:sp>
    </p:spTree>
    <p:extLst>
      <p:ext uri="{BB962C8B-B14F-4D97-AF65-F5344CB8AC3E}">
        <p14:creationId xmlns:p14="http://schemas.microsoft.com/office/powerpoint/2010/main" val="165228724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18B2302-31E5-4653-9747-4531B36A8D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34075A-7815-470C-A1E8-EC989258A8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3BA0892-54CC-4752-8DDE-8B58C5E0B2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F010F84-7FA2-41B0-8DE6-B65ABEFCD00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61F946F-1AC5-4B7B-8DA5-E4EE1DD2F7F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2967BE81-7B78-403F-86F6-090BBC2B273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CD6EA4E-0A2B-4693-9085-E3763736C52C}"/>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30264C93-D19C-499C-8B1F-2D5849BCD38C}"/>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6200D1A-9CE4-4F08-B87C-BC365655E81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30DC9732-810D-4BF6-B8C3-91105B8F2BD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1E11F305-AB52-478D-A675-F0E39419E12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5CDE3ED6-FA1A-46B6-9DCD-81B127A2B5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13</a:t>
            </a:r>
          </a:p>
        </p:txBody>
      </p:sp>
    </p:spTree>
    <p:extLst>
      <p:ext uri="{BB962C8B-B14F-4D97-AF65-F5344CB8AC3E}">
        <p14:creationId xmlns:p14="http://schemas.microsoft.com/office/powerpoint/2010/main" val="897107023"/>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18D97E34-EF4F-4540-8FAE-73143C2F536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EFA6305B-5202-455F-ABF8-23028864FD73}"/>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a:ext uri="{FF2B5EF4-FFF2-40B4-BE49-F238E27FC236}">
                <ns2:creationId id="{F3443827-E905-42C9-B404-2516EC2BB3F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a:ext uri="{FF2B5EF4-FFF2-40B4-BE49-F238E27FC236}">
                <ns2:creationId id="{91E4A656-213C-4C33-87DE-3CAFB49CA341}"/>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564E5044-E710-44AB-838A-8F137E1664B8}"/>
              </a:ext>
            </a:extLst>
          </p:cNvPr>
          <p:cNvSpPr>
            <a:spLocks noGrp="1"/>
          </p:cNvSpPr>
          <p:nvPr/>
        </p:nvSpPr>
        <p:spPr>
          <a:xfrm>
            <a:off x="1381125" y="1781175"/>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a separate readable DOCX/PDF report.</a:t>
            </a:r>
          </a:p>
        </p:txBody>
      </p:sp>
      <p:sp>
        <p:nvSpPr>
          <p:cNvPr id="6" name="">
            <a:extLst>
              <a:ext uri="{FF2B5EF4-FFF2-40B4-BE49-F238E27FC236}">
                <ns2:creationId id="{C62C7229-C6C3-4B89-98DA-E05F8DB0BE3D}"/>
              </a:ext>
            </a:extLst>
          </p:cNvPr>
          <p:cNvSpPr>
            <a:spLocks noGrp="1"/>
          </p:cNvSpPr>
          <p:nvPr/>
        </p:nvSpPr>
        <p:spPr>
          <a:xfrm>
            <a:off x="590550" y="2850356"/>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BB9F30B2-FEC7-4097-BFBC-250C64B7F960}"/>
              </a:ext>
            </a:extLst>
          </p:cNvPr>
          <p:cNvSpPr>
            <a:spLocks noGrp="1"/>
          </p:cNvSpPr>
          <p:nvPr/>
        </p:nvSpPr>
        <p:spPr>
          <a:xfrm>
            <a:off x="1381125" y="2850356"/>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Problem definition (15.0 total): The engineering problem is real, specific and bounded.</a:t>
            </a:r>
          </a:p>
        </p:txBody>
      </p:sp>
      <p:sp>
        <p:nvSpPr>
          <p:cNvPr id="8" name="">
            <a:extLst>
              <a:ext uri="{FF2B5EF4-FFF2-40B4-BE49-F238E27FC236}">
                <ns2:creationId id="{2DA7F111-F323-4E34-A420-31B1F138B6C0}"/>
              </a:ext>
            </a:extLst>
          </p:cNvPr>
          <p:cNvSpPr>
            <a:spLocks noGrp="1"/>
          </p:cNvSpPr>
          <p:nvPr/>
        </p:nvSpPr>
        <p:spPr>
          <a:xfrm>
            <a:off x="590550" y="39195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1A4EDB81-EB09-4B7E-9A8A-25495BBCA078}"/>
              </a:ext>
            </a:extLst>
          </p:cNvPr>
          <p:cNvSpPr>
            <a:spLocks noGrp="1"/>
          </p:cNvSpPr>
          <p:nvPr/>
        </p:nvSpPr>
        <p:spPr>
          <a:xfrm>
            <a:off x="1381125" y="3919538"/>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 ML task is correctly derived from it.</a:t>
            </a:r>
          </a:p>
        </p:txBody>
      </p:sp>
      <p:sp>
        <p:nvSpPr>
          <p:cNvPr id="10" name="">
            <a:extLst>
              <a:ext uri="{FF2B5EF4-FFF2-40B4-BE49-F238E27FC236}">
                <ns2:creationId id="{3D2BE629-E4A7-4087-AB97-BBCD4D51228E}"/>
              </a:ext>
            </a:extLst>
          </p:cNvPr>
          <p:cNvSpPr>
            <a:spLocks noGrp="1"/>
          </p:cNvSpPr>
          <p:nvPr/>
        </p:nvSpPr>
        <p:spPr>
          <a:xfrm>
            <a:off x="590550" y="4988719"/>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0C2535BD-95DA-4AAB-81BA-EA5899596374}"/>
              </a:ext>
            </a:extLst>
          </p:cNvPr>
          <p:cNvSpPr>
            <a:spLocks noGrp="1"/>
          </p:cNvSpPr>
          <p:nvPr/>
        </p:nvSpPr>
        <p:spPr>
          <a:xfrm>
            <a:off x="1381125" y="4988719"/>
            <a:ext cx="10096500" cy="992981"/>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The target variable is justified, not merely available.</a:t>
            </a:r>
          </a:p>
        </p:txBody>
      </p:sp>
      <p:sp>
        <p:nvSpPr>
          <p:cNvPr id="12" name="">
            <a:extLst>
              <a:ext uri="{FF2B5EF4-FFF2-40B4-BE49-F238E27FC236}">
                <ns2:creationId id="{BD4F7E65-403F-4E07-9B33-6D1000F2DA24}"/>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14</a:t>
            </a:r>
          </a:p>
        </p:txBody>
      </p:sp>
    </p:spTree>
    <p:extLst>
      <p:ext uri="{BB962C8B-B14F-4D97-AF65-F5344CB8AC3E}">
        <ns3:creationId val="96988450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561AB83-1D91-4BDC-BE32-122082F8FF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BD7ABF2-3968-496F-8814-CBAB253C9C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8F941C0-C76D-4CA6-A989-EF214BE49E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D56C47B2-ADF3-46E0-B41D-4A60451739A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6F75A5C-661B-4B86-9E33-424B65897C8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Data understanding (15.0 total): Provenance, licence and collection method stated.</a:t>
            </a:r>
          </a:p>
        </p:txBody>
      </p:sp>
      <p:sp>
        <p:nvSpPr>
          <p:cNvPr id="6" name="">
            <a:extLst xmlns:a="http://schemas.openxmlformats.org/drawingml/2006/main">
              <a:ext uri="{FF2B5EF4-FFF2-40B4-BE49-F238E27FC236}">
                <a16:creationId xmlns:a16="http://schemas.microsoft.com/office/drawing/2014/main" id="{32B7FB18-58E9-48EB-BF59-F4095F2E90C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8BE7B99-5724-4A6F-8AB9-33771FEA4EA0}"/>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Defects found and handled with justification.</a:t>
            </a:r>
          </a:p>
        </p:txBody>
      </p:sp>
      <p:sp>
        <p:nvSpPr>
          <p:cNvPr id="8" name="">
            <a:extLst xmlns:a="http://schemas.openxmlformats.org/drawingml/2006/main">
              <a:ext uri="{FF2B5EF4-FFF2-40B4-BE49-F238E27FC236}">
                <a16:creationId xmlns:a16="http://schemas.microsoft.com/office/drawing/2014/main" id="{76AA9CFB-BF67-41C9-8382-71CB81F2317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D4D05C-C123-420A-8644-1E7903853E5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Limitations of the data acknowledged before any modelling.</a:t>
            </a:r>
          </a:p>
        </p:txBody>
      </p:sp>
      <p:sp>
        <p:nvSpPr>
          <p:cNvPr id="10" name="">
            <a:extLst xmlns:a="http://schemas.openxmlformats.org/drawingml/2006/main">
              <a:ext uri="{FF2B5EF4-FFF2-40B4-BE49-F238E27FC236}">
                <a16:creationId xmlns:a16="http://schemas.microsoft.com/office/drawing/2014/main" id="{337BFC59-A0D4-49BE-9521-2DF3DBF8FC5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E9106CA-D602-4620-8AA7-2D0F1510513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Methodology (20.0 total): Appropriate models chosen and compared under one protocol.</a:t>
            </a:r>
          </a:p>
        </p:txBody>
      </p:sp>
      <p:sp>
        <p:nvSpPr>
          <p:cNvPr id="12" name="">
            <a:extLst xmlns:a="http://schemas.openxmlformats.org/drawingml/2006/main">
              <a:ext uri="{FF2B5EF4-FFF2-40B4-BE49-F238E27FC236}">
                <a16:creationId xmlns:a16="http://schemas.microsoft.com/office/drawing/2014/main" id="{7B311FC2-894D-4E3A-BA58-BF6ECB6983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15</a:t>
            </a:r>
          </a:p>
        </p:txBody>
      </p:sp>
    </p:spTree>
    <p:extLst>
      <p:ext uri="{BB962C8B-B14F-4D97-AF65-F5344CB8AC3E}">
        <p14:creationId xmlns:p14="http://schemas.microsoft.com/office/powerpoint/2010/main" val="11484725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26696FE-D8AA-4AFF-BBAE-814A72EF63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3B229ED-67B1-42B7-A7BB-76256BDFD2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9183191-2027-4D12-9639-9FFC2880D3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8BDC1A17-4148-4E9B-81F8-6E88417A04D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1F7A703-5ACB-4846-8CBC-F2A636DE963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Pipeline used.</a:t>
            </a:r>
          </a:p>
        </p:txBody>
      </p:sp>
      <p:sp>
        <p:nvSpPr>
          <p:cNvPr id="6" name="">
            <a:extLst xmlns:a="http://schemas.openxmlformats.org/drawingml/2006/main">
              <a:ext uri="{FF2B5EF4-FFF2-40B4-BE49-F238E27FC236}">
                <a16:creationId xmlns:a16="http://schemas.microsoft.com/office/drawing/2014/main" id="{9371F2B0-FDD0-4550-A3B2-171A36709EC6}"/>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FC8701-5B88-43BA-89A9-0C6AF4D3F20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Hyperparameters handled sensibly.</a:t>
            </a:r>
          </a:p>
        </p:txBody>
      </p:sp>
      <p:sp>
        <p:nvSpPr>
          <p:cNvPr id="8" name="">
            <a:extLst xmlns:a="http://schemas.openxmlformats.org/drawingml/2006/main">
              <a:ext uri="{FF2B5EF4-FFF2-40B4-BE49-F238E27FC236}">
                <a16:creationId xmlns:a16="http://schemas.microsoft.com/office/drawing/2014/main" id="{379A41E2-777E-417C-A4ED-FDC101DF256E}"/>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64625F9-E610-46DA-A31B-2E30A01B68E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Choices explained rather than defaulted to.</a:t>
            </a:r>
          </a:p>
        </p:txBody>
      </p:sp>
      <p:sp>
        <p:nvSpPr>
          <p:cNvPr id="10" name="">
            <a:extLst xmlns:a="http://schemas.openxmlformats.org/drawingml/2006/main">
              <a:ext uri="{FF2B5EF4-FFF2-40B4-BE49-F238E27FC236}">
                <a16:creationId xmlns:a16="http://schemas.microsoft.com/office/drawing/2014/main" id="{70B1EDE2-CB8D-41F0-A6B7-C39348B4956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F7E5E63-1C7F-476E-9E79-5074D5B24AC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reasoning (20.0 total): Domain knowledge visibly enters the work through features, banding, metric choice or interpretation.</a:t>
            </a:r>
          </a:p>
        </p:txBody>
      </p:sp>
      <p:sp>
        <p:nvSpPr>
          <p:cNvPr id="12" name="">
            <a:extLst xmlns:a="http://schemas.openxmlformats.org/drawingml/2006/main">
              <a:ext uri="{FF2B5EF4-FFF2-40B4-BE49-F238E27FC236}">
                <a16:creationId xmlns:a16="http://schemas.microsoft.com/office/drawing/2014/main" id="{60629BC7-E976-4149-B121-8CAA332E8F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16</a:t>
            </a:r>
          </a:p>
        </p:txBody>
      </p:sp>
    </p:spTree>
    <p:extLst>
      <p:ext uri="{BB962C8B-B14F-4D97-AF65-F5344CB8AC3E}">
        <p14:creationId xmlns:p14="http://schemas.microsoft.com/office/powerpoint/2010/main" val="138309013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0AD5FC-5404-4AC4-A7A0-DBF57ACD06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249D22C-6DF6-4739-AED3-7A7EB4D1467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5B758E5-9651-4B10-9179-7F31076783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66689D85-C001-45D3-BCE7-E43936EF50B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7D8CC5-B0F5-4684-96D8-0E2D1C78852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result is discussed as engineering, not as a score.</a:t>
            </a:r>
          </a:p>
        </p:txBody>
      </p:sp>
      <p:sp>
        <p:nvSpPr>
          <p:cNvPr id="6" name="">
            <a:extLst xmlns:a="http://schemas.openxmlformats.org/drawingml/2006/main">
              <a:ext uri="{FF2B5EF4-FFF2-40B4-BE49-F238E27FC236}">
                <a16:creationId xmlns:a16="http://schemas.microsoft.com/office/drawing/2014/main" id="{C2407FB4-9B60-4A6C-953A-68E068BD6FE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EF7B1CE-631B-460D-B156-F0278983F07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(15.0 total): Correct train/test discipline, cross-validation with a reported spread, leakage explicitly checked and ruled out, metric justified against the cost of error.</a:t>
            </a:r>
          </a:p>
        </p:txBody>
      </p:sp>
      <p:sp>
        <p:nvSpPr>
          <p:cNvPr id="8" name="">
            <a:extLst xmlns:a="http://schemas.openxmlformats.org/drawingml/2006/main">
              <a:ext uri="{FF2B5EF4-FFF2-40B4-BE49-F238E27FC236}">
                <a16:creationId xmlns:a16="http://schemas.microsoft.com/office/drawing/2014/main" id="{86F088A9-A358-463B-AE56-45F577C1B45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D7B2417-0700-442E-AD2A-B7E60B05B691}"/>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Communication (10.0 total): The 2-page brief is readable by a non-specialist engineer.</a:t>
            </a:r>
          </a:p>
        </p:txBody>
      </p:sp>
      <p:sp>
        <p:nvSpPr>
          <p:cNvPr id="10" name="">
            <a:extLst xmlns:a="http://schemas.openxmlformats.org/drawingml/2006/main">
              <a:ext uri="{FF2B5EF4-FFF2-40B4-BE49-F238E27FC236}">
                <a16:creationId xmlns:a16="http://schemas.microsoft.com/office/drawing/2014/main" id="{4F03F4CE-5595-4781-AFCB-DB86B8D98A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17</a:t>
            </a:r>
          </a:p>
        </p:txBody>
      </p:sp>
    </p:spTree>
    <p:extLst>
      <p:ext uri="{BB962C8B-B14F-4D97-AF65-F5344CB8AC3E}">
        <p14:creationId xmlns:p14="http://schemas.microsoft.com/office/powerpoint/2010/main" val="44693570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FEFB9DE3-6671-4B78-B248-B0E4829279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11C1D6-19CB-462B-B493-3ED31FC0FC2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BF47626-039A-4B7A-835C-1C898BE118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598719C6-A405-4281-B2F5-FC79ADC6CEB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196A3BA-CDDB-43C6-968B-9AE24647C8E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answer questions and are captioned with findings.</a:t>
            </a:r>
          </a:p>
        </p:txBody>
      </p:sp>
      <p:sp>
        <p:nvSpPr>
          <p:cNvPr id="6" name="">
            <a:extLst xmlns:a="http://schemas.openxmlformats.org/drawingml/2006/main">
              <a:ext uri="{FF2B5EF4-FFF2-40B4-BE49-F238E27FC236}">
                <a16:creationId xmlns:a16="http://schemas.microsoft.com/office/drawing/2014/main" id="{0E67D7B5-8270-4F81-9D9B-B81CF9E9203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60D6E4-6EFD-4701-82BF-26A2A23F6E73}"/>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Uncertainty and limitations stated honestly.</a:t>
            </a:r>
          </a:p>
        </p:txBody>
      </p:sp>
      <p:sp>
        <p:nvSpPr>
          <p:cNvPr id="8" name="">
            <a:extLst xmlns:a="http://schemas.openxmlformats.org/drawingml/2006/main">
              <a:ext uri="{FF2B5EF4-FFF2-40B4-BE49-F238E27FC236}">
                <a16:creationId xmlns:a16="http://schemas.microsoft.com/office/drawing/2014/main" id="{DC67BC52-23DA-4692-A137-01FD5334522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D9777C2-BCC7-4C06-8276-D717E963843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Reproducibility &amp; documentation (5.0 total): Repository runs from a clean clone.</a:t>
            </a:r>
          </a:p>
        </p:txBody>
      </p:sp>
      <p:sp>
        <p:nvSpPr>
          <p:cNvPr id="10" name="">
            <a:extLst xmlns:a="http://schemas.openxmlformats.org/drawingml/2006/main">
              <a:ext uri="{FF2B5EF4-FFF2-40B4-BE49-F238E27FC236}">
                <a16:creationId xmlns:a16="http://schemas.microsoft.com/office/drawing/2014/main" id="{3E9DCD61-4702-40D4-9099-D2F3652428A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3C5DB9-3D95-44E3-93FD-E0F50FB6839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README complete. requirements.txt present.</a:t>
            </a:r>
          </a:p>
        </p:txBody>
      </p:sp>
      <p:sp>
        <p:nvSpPr>
          <p:cNvPr id="12" name="">
            <a:extLst xmlns:a="http://schemas.openxmlformats.org/drawingml/2006/main">
              <a:ext uri="{FF2B5EF4-FFF2-40B4-BE49-F238E27FC236}">
                <a16:creationId xmlns:a16="http://schemas.microsoft.com/office/drawing/2014/main" id="{CF7A2C5B-7C43-4EC8-86A8-B9EC83173C1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18</a:t>
            </a:r>
          </a:p>
        </p:txBody>
      </p:sp>
    </p:spTree>
    <p:extLst>
      <p:ext uri="{BB962C8B-B14F-4D97-AF65-F5344CB8AC3E}">
        <p14:creationId xmlns:p14="http://schemas.microsoft.com/office/powerpoint/2010/main" val="11261156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C074A4-6599-4935-A92B-3E27F2669A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CAE2F83-EA3E-4517-8339-D35893E6260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159949-278D-4FE8-A88A-806CE89A33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continued</a:t>
            </a:r>
          </a:p>
        </p:txBody>
      </p:sp>
      <p:sp>
        <p:nvSpPr>
          <p:cNvPr id="4" name="">
            <a:extLst xmlns:a="http://schemas.openxmlformats.org/drawingml/2006/main">
              <a:ext uri="{FF2B5EF4-FFF2-40B4-BE49-F238E27FC236}">
                <a16:creationId xmlns:a16="http://schemas.microsoft.com/office/drawing/2014/main" id="{4C5240FC-65B6-46FD-A8C8-90DD10C64B5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913EEC9-E5AD-4BC3-9CA7-1898AE5D154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Seeds set.</a:t>
            </a:r>
          </a:p>
        </p:txBody>
      </p:sp>
      <p:sp>
        <p:nvSpPr>
          <p:cNvPr id="6" name="">
            <a:extLst xmlns:a="http://schemas.openxmlformats.org/drawingml/2006/main">
              <a:ext uri="{FF2B5EF4-FFF2-40B4-BE49-F238E27FC236}">
                <a16:creationId xmlns:a16="http://schemas.microsoft.com/office/drawing/2014/main" id="{09615192-F5F0-4D30-AB69-04EF01DDE37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B4BC43-4AAF-4EAC-840B-6E26F77BC0B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AI use declared.</a:t>
            </a:r>
          </a:p>
        </p:txBody>
      </p:sp>
      <p:sp>
        <p:nvSpPr>
          <p:cNvPr id="8" name="">
            <a:extLst xmlns:a="http://schemas.openxmlformats.org/drawingml/2006/main">
              <a:ext uri="{FF2B5EF4-FFF2-40B4-BE49-F238E27FC236}">
                <a16:creationId xmlns:a16="http://schemas.microsoft.com/office/drawing/2014/main" id="{FE257315-E3E5-49BF-9FD4-FCF2F8F3743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A87B9C-1BEF-41A1-950D-A927E7BCC87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Contribution log present.</a:t>
            </a:r>
          </a:p>
        </p:txBody>
      </p:sp>
      <p:sp>
        <p:nvSpPr>
          <p:cNvPr id="10" name="">
            <a:extLst xmlns:a="http://schemas.openxmlformats.org/drawingml/2006/main">
              <a:ext uri="{FF2B5EF4-FFF2-40B4-BE49-F238E27FC236}">
                <a16:creationId xmlns:a16="http://schemas.microsoft.com/office/drawing/2014/main" id="{EC306D7B-1F9D-49AD-9788-B9F47986E6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19</a:t>
            </a:r>
          </a:p>
        </p:txBody>
      </p:sp>
    </p:spTree>
    <p:extLst>
      <p:ext uri="{BB962C8B-B14F-4D97-AF65-F5344CB8AC3E}">
        <p14:creationId xmlns:p14="http://schemas.microsoft.com/office/powerpoint/2010/main" val="158327041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45AC90D-2FB1-4E4B-9C9D-CCD6A08D692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364F50-6D83-4970-A73C-D7CD4F9D96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88A55B52-2CD7-48AE-9A33-9F4935E35BD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Engineering ML project submission</a:t>
            </a:r>
          </a:p>
        </p:txBody>
      </p:sp>
      <p:sp>
        <p:nvSpPr>
          <p:cNvPr id="4" name="">
            <a:extLst xmlns:a="http://schemas.openxmlformats.org/drawingml/2006/main">
              <a:ext uri="{FF2B5EF4-FFF2-40B4-BE49-F238E27FC236}">
                <a16:creationId xmlns:a16="http://schemas.microsoft.com/office/drawing/2014/main" id="{FE98858E-EC74-43CF-90A1-67C0601E51E7}"/>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3294983-FDF1-4874-997E-686E28D0784B}"/>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8406EA75-0ACB-4356-AE04-FFF53D5FBBA0}"/>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BB98F93-9A2C-4E89-A267-BE6C32705681}"/>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11:00 Kampala</a:t>
            </a:r>
          </a:p>
        </p:txBody>
      </p:sp>
      <p:sp>
        <p:nvSpPr>
          <p:cNvPr id="8" name="">
            <a:extLst xmlns:a="http://schemas.openxmlformats.org/drawingml/2006/main">
              <a:ext uri="{FF2B5EF4-FFF2-40B4-BE49-F238E27FC236}">
                <a16:creationId xmlns:a16="http://schemas.microsoft.com/office/drawing/2014/main" id="{7CB3000F-51B9-4333-84A6-102534CAA18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4A2D4D4-E8D9-44B4-B934-4451E366627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FE4B3AD5-78DC-497D-A5E7-F499DFE849D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EFEE3B8-AC92-4FF9-88D5-781DC191679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D0D4F37A-55A5-49F3-A8A9-FADEA4AAC23A}"/>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E24072D-43B4-4630-A23F-32A2D9E1D620}"/>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466e44e96cc4d94"/>
              </a:rPr>
              <a:t>Open ML_PROJECT assignment form</a:t>
            </a:r>
          </a:p>
        </p:txBody>
      </p:sp>
      <p:sp>
        <p:nvSpPr>
          <p:cNvPr id="14" name="">
            <a:extLst xmlns:a="http://schemas.openxmlformats.org/drawingml/2006/main">
              <a:ext uri="{FF2B5EF4-FFF2-40B4-BE49-F238E27FC236}">
                <a16:creationId xmlns:a16="http://schemas.microsoft.com/office/drawing/2014/main" id="{EFBBA26D-7E79-4235-8583-2C806AED7C3E}"/>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https://docs.google.com/forms/d/e/1FAIpQLSeV2_XlDSjUCyjJG-aQjFSQny-ndfkYaOYtExv9CdA_HUbDlQ/viewform</a:t>
            </a:r>
          </a:p>
        </p:txBody>
      </p:sp>
      <p:sp>
        <p:nvSpPr>
          <p:cNvPr id="15" name="">
            <a:extLst xmlns:a="http://schemas.openxmlformats.org/drawingml/2006/main">
              <a:ext uri="{FF2B5EF4-FFF2-40B4-BE49-F238E27FC236}">
                <a16:creationId xmlns:a16="http://schemas.microsoft.com/office/drawing/2014/main" id="{4A07493F-0DEE-4AA5-9A5E-D7FB88F780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20</a:t>
            </a:r>
          </a:p>
        </p:txBody>
      </p:sp>
    </p:spTree>
    <p:extLst>
      <p:ext uri="{BB962C8B-B14F-4D97-AF65-F5344CB8AC3E}">
        <p14:creationId xmlns:p14="http://schemas.microsoft.com/office/powerpoint/2010/main" val="93568878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5AE42E-4274-43E8-8174-F6E0229AD78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B4254AA-2E82-4B7A-8FAA-B4502A201AC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B4145F-24D6-43F1-B40E-25835C7081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evidence (35 marks)</a:t>
            </a:r>
          </a:p>
        </p:txBody>
      </p:sp>
      <p:sp>
        <p:nvSpPr>
          <p:cNvPr id="4" name="">
            <a:extLst xmlns:a="http://schemas.openxmlformats.org/drawingml/2006/main">
              <a:ext uri="{FF2B5EF4-FFF2-40B4-BE49-F238E27FC236}">
                <a16:creationId xmlns:a16="http://schemas.microsoft.com/office/drawing/2014/main" id="{4497E29B-3E54-47C8-A833-E9828BB141D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BDF5559-2E68-4211-A66C-EA9F95EA1A58}"/>
              </a:ext>
            </a:extLst>
          </p:cNvPr>
          <p:cNvSpPr>
            <a:spLocks xmlns:a="http://schemas.openxmlformats.org/drawingml/2006/main" noGrp="1"/>
          </p:cNvSpPr>
          <p:nvPr/>
        </p:nvSpPr>
        <p:spPr>
          <a:xfrm xmlns:a="http://schemas.openxmlformats.org/drawingml/2006/main">
            <a:off x="1381125" y="1781175"/>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Slides and narration notes explain the question, method, evidence and limitations for an engineering audience.</a:t>
            </a:r>
          </a:p>
        </p:txBody>
      </p:sp>
      <p:sp>
        <p:nvSpPr>
          <p:cNvPr id="6" name="">
            <a:extLst xmlns:a="http://schemas.openxmlformats.org/drawingml/2006/main">
              <a:ext uri="{FF2B5EF4-FFF2-40B4-BE49-F238E27FC236}">
                <a16:creationId xmlns:a16="http://schemas.microsoft.com/office/drawing/2014/main" id="{68CDA2CD-7201-46AC-A16D-D4A6DE954F9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E5B3615-2732-4D24-8AA4-ABAA3764199F}"/>
              </a:ext>
            </a:extLst>
          </p:cNvPr>
          <p:cNvSpPr>
            <a:spLocks xmlns:a="http://schemas.openxmlformats.org/drawingml/2006/main" noGrp="1"/>
          </p:cNvSpPr>
          <p:nvPr/>
        </p:nvSpPr>
        <p:spPr>
          <a:xfrm xmlns:a="http://schemas.openxmlformats.org/drawingml/2006/main">
            <a:off x="1381125" y="3919538"/>
            <a:ext cx="10096500" cy="20621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local text grader does not assess visual styling or spoken delivery.</a:t>
            </a:r>
          </a:p>
        </p:txBody>
      </p:sp>
      <p:sp>
        <p:nvSpPr>
          <p:cNvPr id="8" name="">
            <a:extLst xmlns:a="http://schemas.openxmlformats.org/drawingml/2006/main">
              <a:ext uri="{FF2B5EF4-FFF2-40B4-BE49-F238E27FC236}">
                <a16:creationId xmlns:a16="http://schemas.microsoft.com/office/drawing/2014/main" id="{09A0695A-A496-4ED7-9FC7-DEA9368C0FE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21</a:t>
            </a:r>
          </a:p>
        </p:txBody>
      </p:sp>
    </p:spTree>
    <p:extLst>
      <p:ext uri="{BB962C8B-B14F-4D97-AF65-F5344CB8AC3E}">
        <p14:creationId xmlns:p14="http://schemas.microsoft.com/office/powerpoint/2010/main" val="10256585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589F84-E5A9-4E98-B1F2-940E1F50E7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7BCD7A0-D63E-4791-B7F6-A307896DE0D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C6E0F4C-1C1E-4AB0-8557-B57BA8D774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Individual written defence (40 marks)</a:t>
            </a:r>
          </a:p>
        </p:txBody>
      </p:sp>
      <p:sp>
        <p:nvSpPr>
          <p:cNvPr id="4" name="">
            <a:extLst xmlns:a="http://schemas.openxmlformats.org/drawingml/2006/main">
              <a:ext uri="{FF2B5EF4-FFF2-40B4-BE49-F238E27FC236}">
                <a16:creationId xmlns:a16="http://schemas.microsoft.com/office/drawing/2014/main" id="{7D538DD2-811B-46AA-9641-D2F8C2FE0FA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3CFAEE-7934-43A7-95BC-D49A74DCDF4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52ADFE3-65BE-4BBC-9E2A-96388129C43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Two typed answers about the student's own repository identify specific cells/results and explain the decisions.</a:t>
            </a:r>
          </a:p>
        </p:txBody>
      </p:sp>
      <p:sp>
        <p:nvSpPr>
          <p:cNvPr id="7" name="">
            <a:extLst xmlns:a="http://schemas.openxmlformats.org/drawingml/2006/main">
              <a:ext uri="{FF2B5EF4-FFF2-40B4-BE49-F238E27FC236}">
                <a16:creationId xmlns:a16="http://schemas.microsoft.com/office/drawing/2014/main" id="{0B037C11-EE6D-46BD-85F5-1AD9AF5BD1B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Credit is based on the submitted evidence; live questioning is formative.</a:t>
            </a:r>
          </a:p>
        </p:txBody>
      </p:sp>
      <p:sp>
        <p:nvSpPr>
          <p:cNvPr id="8" name="">
            <a:extLst xmlns:a="http://schemas.openxmlformats.org/drawingml/2006/main">
              <a:ext uri="{FF2B5EF4-FFF2-40B4-BE49-F238E27FC236}">
                <a16:creationId xmlns:a16="http://schemas.microsoft.com/office/drawing/2014/main" id="{0928C946-F8E9-4B65-AE04-666B44D0BC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22</a:t>
            </a:r>
          </a:p>
        </p:txBody>
      </p:sp>
    </p:spTree>
    <p:extLst>
      <p:ext uri="{BB962C8B-B14F-4D97-AF65-F5344CB8AC3E}">
        <p14:creationId xmlns:p14="http://schemas.microsoft.com/office/powerpoint/2010/main" val="144548884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9D6BCC-ECC2-4236-8983-ED9BC788C1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1827796-F1FE-4D81-9789-A03C0A3B98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CAA093-D6F5-4D9D-93F9-551388EADA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Reflection (20 marks)</a:t>
            </a:r>
          </a:p>
        </p:txBody>
      </p:sp>
      <p:sp>
        <p:nvSpPr>
          <p:cNvPr id="4" name="">
            <a:extLst xmlns:a="http://schemas.openxmlformats.org/drawingml/2006/main">
              <a:ext uri="{FF2B5EF4-FFF2-40B4-BE49-F238E27FC236}">
                <a16:creationId xmlns:a16="http://schemas.microsoft.com/office/drawing/2014/main" id="{955EA11C-1697-4684-9170-AC010C904B4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0497F0-1BA2-45DD-88A1-F958BCCDE985}"/>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500 words.</a:t>
            </a:r>
          </a:p>
        </p:txBody>
      </p:sp>
      <p:sp>
        <p:nvSpPr>
          <p:cNvPr id="6" name="">
            <a:extLst xmlns:a="http://schemas.openxmlformats.org/drawingml/2006/main">
              <a:ext uri="{FF2B5EF4-FFF2-40B4-BE49-F238E27FC236}">
                <a16:creationId xmlns:a16="http://schemas.microsoft.com/office/drawing/2014/main" id="{D4D5AF8E-36B1-4C42-A7E6-C4C935764BA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91A91A-CE32-4638-9F82-3D3057542C0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Specific about what changed since Week 1, what remains difficult, and two concrete Semester 2 goals.</a:t>
            </a:r>
          </a:p>
        </p:txBody>
      </p:sp>
      <p:sp>
        <p:nvSpPr>
          <p:cNvPr id="8" name="">
            <a:extLst xmlns:a="http://schemas.openxmlformats.org/drawingml/2006/main">
              <a:ext uri="{FF2B5EF4-FFF2-40B4-BE49-F238E27FC236}">
                <a16:creationId xmlns:a16="http://schemas.microsoft.com/office/drawing/2014/main" id="{AA377C50-0A69-48E0-AF46-3CA3C7C26B7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593ED3C-DE0A-49C8-97C5-4545BA5413C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Generic reflection scores low.</a:t>
            </a:r>
          </a:p>
        </p:txBody>
      </p:sp>
      <p:sp>
        <p:nvSpPr>
          <p:cNvPr id="10" name="">
            <a:extLst xmlns:a="http://schemas.openxmlformats.org/drawingml/2006/main">
              <a:ext uri="{FF2B5EF4-FFF2-40B4-BE49-F238E27FC236}">
                <a16:creationId xmlns:a16="http://schemas.microsoft.com/office/drawing/2014/main" id="{BE0B31DD-744E-483E-B27D-DF5940ED714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23</a:t>
            </a:r>
          </a:p>
        </p:txBody>
      </p:sp>
    </p:spTree>
    <p:extLst>
      <p:ext uri="{BB962C8B-B14F-4D97-AF65-F5344CB8AC3E}">
        <p14:creationId xmlns:p14="http://schemas.microsoft.com/office/powerpoint/2010/main" val="1567163161"/>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1E41B00-7D42-4FF7-9C68-2573BFDE69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5FFF1C1-83F5-498E-9604-1746C86366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0BC2917-405A-487C-A9A4-7861C81300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AI-use declaration (5 marks)</a:t>
            </a:r>
          </a:p>
        </p:txBody>
      </p:sp>
      <p:sp>
        <p:nvSpPr>
          <p:cNvPr id="4" name="">
            <a:extLst xmlns:a="http://schemas.openxmlformats.org/drawingml/2006/main">
              <a:ext uri="{FF2B5EF4-FFF2-40B4-BE49-F238E27FC236}">
                <a16:creationId xmlns:a16="http://schemas.microsoft.com/office/drawing/2014/main" id="{24C2ABD9-3383-49E3-A53D-397FF52C550E}"/>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D9D8371-BC1A-45A8-9F64-B05ECF7A0858}"/>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Present, complete and plausible against the repository history.</a:t>
            </a:r>
          </a:p>
        </p:txBody>
      </p:sp>
      <p:sp>
        <p:nvSpPr>
          <p:cNvPr id="6" name="">
            <a:extLst xmlns:a="http://schemas.openxmlformats.org/drawingml/2006/main">
              <a:ext uri="{FF2B5EF4-FFF2-40B4-BE49-F238E27FC236}">
                <a16:creationId xmlns:a16="http://schemas.microsoft.com/office/drawing/2014/main" id="{F79D5F1A-12E2-4760-9FDF-249C0A7E08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24</a:t>
            </a:r>
          </a:p>
        </p:txBody>
      </p:sp>
    </p:spTree>
    <p:extLst>
      <p:ext uri="{BB962C8B-B14F-4D97-AF65-F5344CB8AC3E}">
        <p14:creationId xmlns:p14="http://schemas.microsoft.com/office/powerpoint/2010/main" val="19469081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C95D56A1-82E6-4722-82AC-898ADDA1B0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6DE0A4-8BC4-4875-8356-404486E619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4B8CCD8C-7711-4F63-B449-EAED9FDA60A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Presentation and individual reflection submission</a:t>
            </a:r>
          </a:p>
        </p:txBody>
      </p:sp>
      <p:sp>
        <p:nvSpPr>
          <p:cNvPr id="4" name="">
            <a:extLst xmlns:a="http://schemas.openxmlformats.org/drawingml/2006/main">
              <a:ext uri="{FF2B5EF4-FFF2-40B4-BE49-F238E27FC236}">
                <a16:creationId xmlns:a16="http://schemas.microsoft.com/office/drawing/2014/main" id="{B7A6D590-2EA6-4960-9BB3-88FFC5C20B56}"/>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DADCE4-8830-4C30-A096-A8B98D40973E}"/>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Nov 2026, 11:00 Kampala</a:t>
            </a:r>
          </a:p>
        </p:txBody>
      </p:sp>
      <p:sp>
        <p:nvSpPr>
          <p:cNvPr id="6" name="">
            <a:extLst xmlns:a="http://schemas.openxmlformats.org/drawingml/2006/main">
              <a:ext uri="{FF2B5EF4-FFF2-40B4-BE49-F238E27FC236}">
                <a16:creationId xmlns:a16="http://schemas.microsoft.com/office/drawing/2014/main" id="{CF586C89-3EB8-4594-BCA0-D214C7CCAC0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6EC7A99-DE78-4B35-BF8A-701F8F843EF3}"/>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18 Dec 2026, 14:00 Kampala</a:t>
            </a:r>
          </a:p>
        </p:txBody>
      </p:sp>
      <p:sp>
        <p:nvSpPr>
          <p:cNvPr id="8" name="">
            <a:extLst xmlns:a="http://schemas.openxmlformats.org/drawingml/2006/main">
              <a:ext uri="{FF2B5EF4-FFF2-40B4-BE49-F238E27FC236}">
                <a16:creationId xmlns:a16="http://schemas.microsoft.com/office/drawing/2014/main" id="{2B52D345-119E-43A9-B571-D5001DBBB28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E7CAAB-1BE1-4663-873B-242C9D54F03F}"/>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08C4966F-ED13-4A1B-84AD-841003FB28C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6AEE918-60AD-4302-8596-E3E29A65E0CE}"/>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2F9E06DE-088E-4873-B924-C7C776B556DF}"/>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C7E4160-2C3B-4681-A4F9-DD0E0D1D938A}"/>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0458b2b57f34470b"/>
              </a:rPr>
              <a:t>Open DEMO assignment form</a:t>
            </a:r>
          </a:p>
        </p:txBody>
      </p:sp>
      <p:sp>
        <p:nvSpPr>
          <p:cNvPr id="14" name="">
            <a:extLst xmlns:a="http://schemas.openxmlformats.org/drawingml/2006/main">
              <a:ext uri="{FF2B5EF4-FFF2-40B4-BE49-F238E27FC236}">
                <a16:creationId xmlns:a16="http://schemas.microsoft.com/office/drawing/2014/main" id="{FF37B779-E0D2-47F3-B97F-051F9F1AE1F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https://docs.google.com/forms/d/e/1FAIpQLScnSPyvzCLfoHhIBusvFTIpqC-zAsk2bCLMqu6kJCh5cGI9gQ/viewform</a:t>
            </a:r>
          </a:p>
        </p:txBody>
      </p:sp>
      <p:sp>
        <p:nvSpPr>
          <p:cNvPr id="15" name="">
            <a:extLst xmlns:a="http://schemas.openxmlformats.org/drawingml/2006/main">
              <a:ext uri="{FF2B5EF4-FFF2-40B4-BE49-F238E27FC236}">
                <a16:creationId xmlns:a16="http://schemas.microsoft.com/office/drawing/2014/main" id="{4C667FFE-FE98-4C78-8F6C-3D7D1F8CA8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15   25</a:t>
            </a:r>
          </a:p>
        </p:txBody>
      </p:sp>
    </p:spTree>
    <p:extLst>
      <p:ext uri="{BB962C8B-B14F-4D97-AF65-F5344CB8AC3E}">
        <p14:creationId xmlns:p14="http://schemas.microsoft.com/office/powerpoint/2010/main" val="562064878"/>
      </p:ext>
    </p:extLst>
  </p:cSld>
</p:sld>
</file>

<file path=ppt/slides/slide26.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B186BB7-DA61-4364-8122-084A81AFCB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1271A6E5-655B-4544-BFF0-7A7B6FDDD3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xmlns:a="http://schemas.openxmlformats.org/drawingml/2006/main">
              <a:ext uri="{FF2B5EF4-FFF2-40B4-BE49-F238E27FC236}">
                <a16:creationId xmlns:a16="http://schemas.microsoft.com/office/drawing/2014/main" id="{C88CC1D9-D2D6-4283-93F0-89ED60DC90F9}"/>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23746BFB-8DDC-4B2C-BFD4-35BCEDF58665}"/>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point to the evidence behind one decision you personally worked on.</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AD1C2F1D-EE9A-4029-8F5F-591B3383CC26}"/>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C995D5DE-C0F5-4744-B545-0910C74CEB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15   26</a:t>
            </a:r>
          </a:p>
        </p:txBody>
      </p:sp>
    </p:spTree>
    <p:extLst>
      <p:ext uri="{BB962C8B-B14F-4D97-AF65-F5344CB8AC3E}">
        <p14:creationId xmlns:p14="http://schemas.microsoft.com/office/powerpoint/2010/main" val="102823403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2026-09-21T10:27:18.5600000Z</dcterms:created>
  <dcterms:modified xsi:type="dcterms:W3CDTF">2026-09-21T10:27:18.5600000Z</dcterms:modified>
</coreProperties>
</file>