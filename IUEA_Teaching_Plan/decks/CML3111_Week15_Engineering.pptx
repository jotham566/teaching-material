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fc7c7bdda9f4850" /><Relationship Type="http://schemas.openxmlformats.org/officeDocument/2006/relationships/extended-properties" Target="/docProps/app.xml" Id="R5a5a8e4f90ba41d3" /><Relationship Type="http://schemas.openxmlformats.org/officeDocument/2006/relationships/officeDocument" Target="/ppt/presentation.xml" Id="R3fec583493be45d1" /></Relationships>
</file>

<file path=ppt/presentation.xml><?xml version="1.0" encoding="utf-8"?>
<p:presentation xmlns:p="http://schemas.openxmlformats.org/presentationml/2006/main">
  <p:sldMasterIdLst>
    <p:sldMasterId xmlns:r="http://schemas.openxmlformats.org/officeDocument/2006/relationships" id="2147483648" r:id="R320d0e25f65041d4"/>
  </p:sldMasterIdLst>
  <p:notesMasterIdLst>
    <p:notesMasterId xmlns:r="http://schemas.openxmlformats.org/officeDocument/2006/relationships" r:id="Rb97eb250e3f6409b"/>
  </p:notesMasterIdLst>
  <p:sldIdLst>
    <p:sldId xmlns:r="http://schemas.openxmlformats.org/officeDocument/2006/relationships" id="256" r:id="R25b7a51206424285"/>
    <p:sldId xmlns:r="http://schemas.openxmlformats.org/officeDocument/2006/relationships" id="257" r:id="R7258d2e45d8b45a7"/>
    <p:sldId xmlns:r="http://schemas.openxmlformats.org/officeDocument/2006/relationships" id="258" r:id="R4086c2198d704c67"/>
    <p:sldId xmlns:r="http://schemas.openxmlformats.org/officeDocument/2006/relationships" id="259" r:id="R57301d188a314163"/>
    <p:sldId xmlns:r="http://schemas.openxmlformats.org/officeDocument/2006/relationships" id="260" r:id="R5d163e41a0c74d6e"/>
    <p:sldId xmlns:r="http://schemas.openxmlformats.org/officeDocument/2006/relationships" id="261" r:id="Ra09ad788c188481e"/>
    <p:sldId xmlns:r="http://schemas.openxmlformats.org/officeDocument/2006/relationships" id="262" r:id="R1928be862c2a4dee"/>
    <p:sldId xmlns:r="http://schemas.openxmlformats.org/officeDocument/2006/relationships" id="263" r:id="R1f2514979daf42ea"/>
    <p:sldId xmlns:r="http://schemas.openxmlformats.org/officeDocument/2006/relationships" id="264" r:id="R276d18f17e904911"/>
    <p:sldId xmlns:r="http://schemas.openxmlformats.org/officeDocument/2006/relationships" id="265" r:id="R0f18943dae764fd2"/>
    <p:sldId xmlns:r="http://schemas.openxmlformats.org/officeDocument/2006/relationships" id="266" r:id="R5d103305b6ec4130"/>
    <p:sldId xmlns:r="http://schemas.openxmlformats.org/officeDocument/2006/relationships" id="267" r:id="R7d0bb53ab5194d5e"/>
    <p:sldId xmlns:r="http://schemas.openxmlformats.org/officeDocument/2006/relationships" id="268" r:id="R21a216f02b044d7a"/>
    <p:sldId xmlns:r="http://schemas.openxmlformats.org/officeDocument/2006/relationships" id="269" r:id="Ra92bdf14f3c145ea"/>
    <p:sldId xmlns:r="http://schemas.openxmlformats.org/officeDocument/2006/relationships" id="270" r:id="Rd17dbf2913f44059"/>
    <p:sldId xmlns:r="http://schemas.openxmlformats.org/officeDocument/2006/relationships" id="271" r:id="R5275e884b497449f"/>
    <p:sldId xmlns:r="http://schemas.openxmlformats.org/officeDocument/2006/relationships" id="272" r:id="Raf635908792b4d33"/>
    <p:sldId xmlns:r="http://schemas.openxmlformats.org/officeDocument/2006/relationships" id="273" r:id="Rc0cd7954ea7c4efe"/>
    <p:sldId xmlns:r="http://schemas.openxmlformats.org/officeDocument/2006/relationships" id="274" r:id="R4a7d04df33744622"/>
    <p:sldId xmlns:r="http://schemas.openxmlformats.org/officeDocument/2006/relationships" id="275" r:id="Rdb26f73846f34fc2"/>
    <p:sldId xmlns:r="http://schemas.openxmlformats.org/officeDocument/2006/relationships" id="276" r:id="R0c9ebeea46ba488b"/>
    <p:sldId xmlns:r="http://schemas.openxmlformats.org/officeDocument/2006/relationships" id="277" r:id="R5eede6f3c5ad4430"/>
    <p:sldId xmlns:r="http://schemas.openxmlformats.org/officeDocument/2006/relationships" id="278" r:id="R6d673475c66e4ea6"/>
    <p:sldId xmlns:r="http://schemas.openxmlformats.org/officeDocument/2006/relationships" id="279" r:id="R4948f69229fd4fb7"/>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091d1c394614f66" /><Relationship Type="http://schemas.openxmlformats.org/officeDocument/2006/relationships/slideMaster" Target="/ppt/slideMasters/slideMaster1.xml" Id="R320d0e25f65041d4" /><Relationship Type="http://schemas.openxmlformats.org/officeDocument/2006/relationships/notesMaster" Target="/ppt/notesMasters/notesMaster1.xml" Id="Rb97eb250e3f6409b" /><Relationship Type="http://schemas.openxmlformats.org/officeDocument/2006/relationships/presProps" Target="/ppt/presProps.xml" Id="Rd3ccea5c654648ed" /><Relationship Type="http://schemas.openxmlformats.org/officeDocument/2006/relationships/tableStyles" Target="/ppt/tableStyles.xml" Id="R96b68c645a1b4c24" /><Relationship Type="http://schemas.openxmlformats.org/officeDocument/2006/relationships/slide" Target="/ppt/slides/slide1.xml" Id="R25b7a51206424285" /><Relationship Type="http://schemas.openxmlformats.org/officeDocument/2006/relationships/slide" Target="/ppt/slides/slide2.xml" Id="R7258d2e45d8b45a7" /><Relationship Type="http://schemas.openxmlformats.org/officeDocument/2006/relationships/slide" Target="/ppt/slides/slide3.xml" Id="R4086c2198d704c67" /><Relationship Type="http://schemas.openxmlformats.org/officeDocument/2006/relationships/slide" Target="/ppt/slides/slide4.xml" Id="R57301d188a314163" /><Relationship Type="http://schemas.openxmlformats.org/officeDocument/2006/relationships/slide" Target="/ppt/slides/slide5.xml" Id="R5d163e41a0c74d6e" /><Relationship Type="http://schemas.openxmlformats.org/officeDocument/2006/relationships/slide" Target="/ppt/slides/slide6.xml" Id="Ra09ad788c188481e" /><Relationship Type="http://schemas.openxmlformats.org/officeDocument/2006/relationships/slide" Target="/ppt/slides/slide7.xml" Id="R1928be862c2a4dee" /><Relationship Type="http://schemas.openxmlformats.org/officeDocument/2006/relationships/slide" Target="/ppt/slides/slide8.xml" Id="R1f2514979daf42ea" /><Relationship Type="http://schemas.openxmlformats.org/officeDocument/2006/relationships/slide" Target="/ppt/slides/slide9.xml" Id="R276d18f17e904911" /><Relationship Type="http://schemas.openxmlformats.org/officeDocument/2006/relationships/slide" Target="/ppt/slides/slide10.xml" Id="R0f18943dae764fd2" /><Relationship Type="http://schemas.openxmlformats.org/officeDocument/2006/relationships/slide" Target="/ppt/slides/slide11.xml" Id="R5d103305b6ec4130" /><Relationship Type="http://schemas.openxmlformats.org/officeDocument/2006/relationships/slide" Target="/ppt/slides/slide12.xml" Id="R7d0bb53ab5194d5e" /><Relationship Type="http://schemas.openxmlformats.org/officeDocument/2006/relationships/slide" Target="/ppt/slides/slide13.xml" Id="R21a216f02b044d7a" /><Relationship Type="http://schemas.openxmlformats.org/officeDocument/2006/relationships/slide" Target="/ppt/slides/slide14.xml" Id="Ra92bdf14f3c145ea" /><Relationship Type="http://schemas.openxmlformats.org/officeDocument/2006/relationships/slide" Target="/ppt/slides/slide15.xml" Id="Rd17dbf2913f44059" /><Relationship Type="http://schemas.openxmlformats.org/officeDocument/2006/relationships/slide" Target="/ppt/slides/slide16.xml" Id="R5275e884b497449f" /><Relationship Type="http://schemas.openxmlformats.org/officeDocument/2006/relationships/slide" Target="/ppt/slides/slide17.xml" Id="Raf635908792b4d33" /><Relationship Type="http://schemas.openxmlformats.org/officeDocument/2006/relationships/slide" Target="/ppt/slides/slide18.xml" Id="Rc0cd7954ea7c4efe" /><Relationship Type="http://schemas.openxmlformats.org/officeDocument/2006/relationships/slide" Target="/ppt/slides/slide19.xml" Id="R4a7d04df33744622" /><Relationship Type="http://schemas.openxmlformats.org/officeDocument/2006/relationships/slide" Target="/ppt/slides/slide20.xml" Id="Rdb26f73846f34fc2" /><Relationship Type="http://schemas.openxmlformats.org/officeDocument/2006/relationships/slide" Target="/ppt/slides/slide21.xml" Id="R0c9ebeea46ba488b" /><Relationship Type="http://schemas.openxmlformats.org/officeDocument/2006/relationships/slide" Target="/ppt/slides/slide22.xml" Id="R5eede6f3c5ad4430" /><Relationship Type="http://schemas.openxmlformats.org/officeDocument/2006/relationships/slide" Target="/ppt/slides/slide23.xml" Id="R6d673475c66e4ea6" /><Relationship Type="http://schemas.openxmlformats.org/officeDocument/2006/relationships/slide" Target="/ppt/slides/slide24.xml" Id="R4948f69229fd4fb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20d06922e9c409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2c990b78cac4755" /><Relationship Type="http://schemas.openxmlformats.org/officeDocument/2006/relationships/notesMaster" Target="/ppt/notesMasters/notesMaster1.xml" Id="R1969271424d44a51" /></Relationships>
</file>

<file path=ppt/notesSlides/_rels/notesSlide2.xml.rels>&#65279;<?xml version="1.0" encoding="utf-8"?><Relationships xmlns="http://schemas.openxmlformats.org/package/2006/relationships"><Relationship Type="http://schemas.openxmlformats.org/officeDocument/2006/relationships/slide" Target="/ppt/slides/slide2.xml" Id="R5abc3578a6454a5b" /><Relationship Type="http://schemas.openxmlformats.org/officeDocument/2006/relationships/notesMaster" Target="/ppt/notesMasters/notesMaster1.xml" Id="Rb6854e16893e4331" /></Relationships>
</file>

<file path=ppt/notesSlides/_rels/notesSlide3.xml.rels>&#65279;<?xml version="1.0" encoding="utf-8"?><Relationships xmlns="http://schemas.openxmlformats.org/package/2006/relationships"><Relationship Type="http://schemas.openxmlformats.org/officeDocument/2006/relationships/slide" Target="/ppt/slides/slide3.xml" Id="Red23ca31d1c74b5e" /><Relationship Type="http://schemas.openxmlformats.org/officeDocument/2006/relationships/notesMaster" Target="/ppt/notesMasters/notesMaster1.xml" Id="Reef92154abbb44b7" /></Relationships>
</file>

<file path=ppt/notesSlides/_rels/notesSlide4.xml.rels>&#65279;<?xml version="1.0" encoding="utf-8"?><Relationships xmlns="http://schemas.openxmlformats.org/package/2006/relationships"><Relationship Type="http://schemas.openxmlformats.org/officeDocument/2006/relationships/slide" Target="/ppt/slides/slide4.xml" Id="R33977ca813e345ed" /><Relationship Type="http://schemas.openxmlformats.org/officeDocument/2006/relationships/notesMaster" Target="/ppt/notesMasters/notesMaster1.xml" Id="Rcfc4abdb76e94e79" /></Relationships>
</file>

<file path=ppt/notesSlides/_rels/notesSlide5.xml.rels>&#65279;<?xml version="1.0" encoding="utf-8"?><Relationships xmlns="http://schemas.openxmlformats.org/package/2006/relationships"><Relationship Type="http://schemas.openxmlformats.org/officeDocument/2006/relationships/slide" Target="/ppt/slides/slide5.xml" Id="R820e3d23e26b467f" /><Relationship Type="http://schemas.openxmlformats.org/officeDocument/2006/relationships/notesMaster" Target="/ppt/notesMasters/notesMaster1.xml" Id="R1008b282fb654c1d" /></Relationships>
</file>

<file path=ppt/notesSlides/_rels/notesSlide6.xml.rels>&#65279;<?xml version="1.0" encoding="utf-8"?><Relationships xmlns="http://schemas.openxmlformats.org/package/2006/relationships"><Relationship Type="http://schemas.openxmlformats.org/officeDocument/2006/relationships/slide" Target="/ppt/slides/slide6.xml" Id="R32260a9a1e9b4fee" /><Relationship Type="http://schemas.openxmlformats.org/officeDocument/2006/relationships/notesMaster" Target="/ppt/notesMasters/notesMaster1.xml" Id="Ra035109e117e4c3d" /></Relationships>
</file>

<file path=ppt/notesSlides/_rels/notesSlide7.xml.rels>&#65279;<?xml version="1.0" encoding="utf-8"?><Relationships xmlns="http://schemas.openxmlformats.org/package/2006/relationships"><Relationship Type="http://schemas.openxmlformats.org/officeDocument/2006/relationships/slide" Target="/ppt/slides/slide7.xml" Id="R75e828341889446b" /><Relationship Type="http://schemas.openxmlformats.org/officeDocument/2006/relationships/notesMaster" Target="/ppt/notesMasters/notesMaster1.xml" Id="Rbd0a44ea7a724df7" /></Relationships>
</file>

<file path=ppt/notesSlides/_rels/notesSlide8.xml.rels>&#65279;<?xml version="1.0" encoding="utf-8"?><Relationships xmlns="http://schemas.openxmlformats.org/package/2006/relationships"><Relationship Type="http://schemas.openxmlformats.org/officeDocument/2006/relationships/slide" Target="/ppt/slides/slide8.xml" Id="R87945c4094f44578" /><Relationship Type="http://schemas.openxmlformats.org/officeDocument/2006/relationships/notesMaster" Target="/ppt/notesMasters/notesMaster1.xml" Id="Rbd37e0f80c584512" /></Relationships>
</file>

<file path=ppt/notesSlides/_rels/notesSlide9.xml.rels>&#65279;<?xml version="1.0" encoding="utf-8"?><Relationships xmlns="http://schemas.openxmlformats.org/package/2006/relationships"><Relationship Type="http://schemas.openxmlformats.org/officeDocument/2006/relationships/slide" Target="/ppt/slides/slide9.xml" Id="Rc68c221de1b145de" /><Relationship Type="http://schemas.openxmlformats.org/officeDocument/2006/relationships/notesMaster" Target="/ppt/notesMasters/notesMaster1.xml" Id="R9fb9e8a412824c7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9da9caebffb4ec0" /><Relationship Type="http://schemas.openxmlformats.org/officeDocument/2006/relationships/notesMaster" Target="/ppt/notesMasters/notesMaster1.xml" Id="R6235624a025441b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9cc42ac72c54fce" /><Relationship Type="http://schemas.openxmlformats.org/officeDocument/2006/relationships/notesMaster" Target="/ppt/notesMasters/notesMaster1.xml" Id="Rf7f7679fcae94b5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fc961d2c4c24612" /><Relationship Type="http://schemas.openxmlformats.org/officeDocument/2006/relationships/notesMaster" Target="/ppt/notesMasters/notesMaster1.xml" Id="Re67a80a2b8d241d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868d920c2cc499f" /><Relationship Type="http://schemas.openxmlformats.org/officeDocument/2006/relationships/notesMaster" Target="/ppt/notesMasters/notesMaster1.xml" Id="R038ca86d90d4476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b0f5a8509eb4e0c" /><Relationship Type="http://schemas.openxmlformats.org/officeDocument/2006/relationships/notesMaster" Target="/ppt/notesMasters/notesMaster1.xml" Id="Rd33a425789bf4f9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0f3ce9690f14550" /><Relationship Type="http://schemas.openxmlformats.org/officeDocument/2006/relationships/notesMaster" Target="/ppt/notesMasters/notesMaster1.xml" Id="R9aef45525010459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b7e729f6f854627" /><Relationship Type="http://schemas.openxmlformats.org/officeDocument/2006/relationships/notesMaster" Target="/ppt/notesMasters/notesMaster1.xml" Id="R0ed475b4431347c0"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834687002fd4eb3" /><Relationship Type="http://schemas.openxmlformats.org/officeDocument/2006/relationships/notesMaster" Target="/ppt/notesMasters/notesMaster1.xml" Id="R120d65ffc4954bc4"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00070ff31cc486f" /><Relationship Type="http://schemas.openxmlformats.org/officeDocument/2006/relationships/notesMaster" Target="/ppt/notesMasters/notesMaster1.xml" Id="R53dbecc7f28c426d"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547031fee74143c3" /><Relationship Type="http://schemas.openxmlformats.org/officeDocument/2006/relationships/notesMaster" Target="/ppt/notesMasters/notesMaster1.xml" Id="Reaaf8c6af83544d8"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6a7a2c29bd7245d8" /><Relationship Type="http://schemas.openxmlformats.org/officeDocument/2006/relationships/notesMaster" Target="/ppt/notesMasters/notesMaster1.xml" Id="R198f63e76bd84713"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47d2929daec84c68" /><Relationship Type="http://schemas.openxmlformats.org/officeDocument/2006/relationships/notesMaster" Target="/ppt/notesMasters/notesMaster1.xml" Id="R0fda677d8b554e3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9abc88f432ce4b72" /><Relationship Type="http://schemas.openxmlformats.org/officeDocument/2006/relationships/notesMaster" Target="/ppt/notesMasters/notesMaster1.xml" Id="R6205f4e8eea043d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0f03be3d69f141a3" /><Relationship Type="http://schemas.openxmlformats.org/officeDocument/2006/relationships/notesMaster" Target="/ppt/notesMasters/notesMaster1.xml" Id="Re5004ae2fe47438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499d7b4994254e11" /><Relationship Type="http://schemas.openxmlformats.org/officeDocument/2006/relationships/notesMaster" Target="/ppt/notesMasters/notesMaster1.xml" Id="Rf7645c13c1f14a8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Presenting the project and individual contribution</a:t>
            </a:r>
          </a:p>
          <a:p xmlns:a="http://schemas.openxmlformats.org/drawingml/2006/main">
            <a:r>
              <a:t/>
            </a:r>
          </a:p>
          <a:p xmlns:a="http://schemas.openxmlformats.org/drawingml/2006/main">
            <a:r>
              <a:t>CONNECT</a:t>
            </a:r>
          </a:p>
          <a:p xmlns:a="http://schemas.openxmlformats.org/drawingml/2006/main">
            <a:r>
              <a:t>Previous slide: the preceding week.</a:t>
            </a:r>
          </a:p>
          <a:p xmlns:a="http://schemas.openxmlformats.org/drawingml/2006/main">
            <a:r>
              <a:t/>
            </a:r>
          </a:p>
          <a:p xmlns:a="http://schemas.openxmlformats.org/drawingml/2006/main">
            <a:r>
              <a:t>EXPLAIN</a:t>
            </a:r>
          </a:p>
          <a:p xmlns:a="http://schemas.openxmlformats.org/drawingml/2006/main">
            <a:r>
              <a:t>Communications, Electrical, Mechatronics and Robotics Engineering</a:t>
            </a:r>
          </a:p>
          <a:p xmlns:a="http://schemas.openxmlformats.org/drawingml/2006/main">
            <a:r>
              <a:t/>
            </a:r>
          </a:p>
          <a:p xmlns:a="http://schemas.openxmlformats.org/drawingml/2006/main">
            <a:r>
              <a:t>LECTURER CUE</a:t>
            </a:r>
          </a:p>
          <a:p xmlns:a="http://schemas.openxmlformats.org/drawingml/2006/main">
            <a:r>
              <a:t>Use PowerPoint Presenter View for these notes. Teach one example, pause for every learner to predict, then work an analogous example together. The practice notebook is a learning aid, not an extra graded upload.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Today’s learning.</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Previous slide: Presenting the project and individual contribution.</a:t>
            </a:r>
          </a:p>
          <a:p xmlns:a="http://schemas.openxmlformats.org/drawingml/2006/main">
            <a:r>
              <a:t/>
            </a:r>
          </a:p>
          <a:p xmlns:a="http://schemas.openxmlformats.org/drawingml/2006/main">
            <a:r>
              <a:t>EXPLAIN</a:t>
            </a:r>
          </a:p>
          <a:p xmlns:a="http://schemas.openxmlformats.org/drawingml/2006/main">
            <a:r>
              <a:t>Explain your question and one supported finding.</a:t>
            </a:r>
          </a:p>
          <a:p xmlns:a="http://schemas.openxmlformats.org/drawingml/2006/main">
            <a:r>
              <a:t/>
            </a:r>
          </a:p>
          <a:p xmlns:a="http://schemas.openxmlformats.org/drawingml/2006/main">
            <a:r>
              <a:t>State a limitation and your individual contribution.</a:t>
            </a:r>
          </a:p>
          <a:p xmlns:a="http://schemas.openxmlformats.org/drawingml/2006/main">
            <a:r>
              <a:t/>
            </a:r>
          </a:p>
          <a:p xmlns:a="http://schemas.openxmlformats.org/drawingml/2006/main">
            <a:r>
              <a:t>LECTURER CUE</a:t>
            </a:r>
          </a:p>
          <a:p xmlns:a="http://schemas.openxmlformats.org/drawingml/2006/main">
            <a:r>
              <a:t>Ask learners to explain this goal in ordinary language. The first successful attempt matters more than covering optional extensions. Defer: New models and a last-minute redesign are unnecessary. Fix broken run instructions first.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Connection to the previous lesson.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Connection to the previous lesson</a:t>
            </a:r>
          </a:p>
          <a:p xmlns:a="http://schemas.openxmlformats.org/drawingml/2006/main">
            <a:r>
              <a:t/>
            </a:r>
          </a:p>
          <a:p xmlns:a="http://schemas.openxmlformats.org/drawingml/2006/main">
            <a:r>
              <a:t>CONNECT</a:t>
            </a:r>
          </a:p>
          <a:p xmlns:a="http://schemas.openxmlformats.org/drawingml/2006/main">
            <a:r>
              <a:t>Previous slide: Today’s learning.</a:t>
            </a:r>
          </a:p>
          <a:p xmlns:a="http://schemas.openxmlformats.org/drawingml/2006/main">
            <a:r>
              <a:t/>
            </a:r>
          </a:p>
          <a:p xmlns:a="http://schemas.openxmlformats.org/drawingml/2006/main">
            <a:r>
              <a:t>EXPLAIN</a:t>
            </a:r>
          </a:p>
          <a:p xmlns:a="http://schemas.openxmlformats.org/drawingml/2006/main">
            <a:r>
              <a:t>What question did your team investigate, and what result can you support with evidence?</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presentation connects a claim to evidence.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presentation connects a claim to evidence</a:t>
            </a:r>
          </a:p>
          <a:p xmlns:a="http://schemas.openxmlformats.org/drawingml/2006/main">
            <a:r>
              <a:t/>
            </a:r>
          </a:p>
          <a:p xmlns:a="http://schemas.openxmlformats.org/drawingml/2006/main">
            <a:r>
              <a:t>CONNECT</a:t>
            </a:r>
          </a:p>
          <a:p xmlns:a="http://schemas.openxmlformats.org/drawingml/2006/main">
            <a:r>
              <a:t>Previous slide: Connection to the previous lesson.</a:t>
            </a:r>
          </a:p>
          <a:p xmlns:a="http://schemas.openxmlformats.org/drawingml/2006/main">
            <a:r>
              <a:t/>
            </a:r>
          </a:p>
          <a:p xmlns:a="http://schemas.openxmlformats.org/drawingml/2006/main">
            <a:r>
              <a:t>EXPLAIN</a:t>
            </a:r>
          </a:p>
          <a:p xmlns:a="http://schemas.openxmlformats.org/drawingml/2006/main">
            <a:r>
              <a:t>Finding and limitation: A finding states what the evidence shows. A limitation states where that evidence is incomplete or may not apply. Point to the relevant chart, metric or record.</a:t>
            </a:r>
          </a:p>
          <a:p xmlns:a="http://schemas.openxmlformats.org/drawingml/2006/main">
            <a:r>
              <a:t/>
            </a:r>
          </a:p>
          <a:p xmlns:a="http://schemas.openxmlformats.org/drawingml/2006/main">
            <a:r>
              <a:t>Defence and reflection: A defence explains why you made a choice. A reflection explains what you learned and would improve. Describe your own contribution with specific evidence.</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six-minute presentation.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six-minute presentation</a:t>
            </a:r>
          </a:p>
          <a:p xmlns:a="http://schemas.openxmlformats.org/drawingml/2006/main">
            <a:r>
              <a:t/>
            </a:r>
          </a:p>
          <a:p xmlns:a="http://schemas.openxmlformats.org/drawingml/2006/main">
            <a:r>
              <a:t>CONNECT</a:t>
            </a:r>
          </a:p>
          <a:p xmlns:a="http://schemas.openxmlformats.org/drawingml/2006/main">
            <a:r>
              <a:t>Previous slide: A presentation connects a claim to evidence.</a:t>
            </a:r>
          </a:p>
          <a:p xmlns:a="http://schemas.openxmlformats.org/drawingml/2006/main">
            <a:r>
              <a:t/>
            </a:r>
          </a:p>
          <a:p xmlns:a="http://schemas.openxmlformats.org/drawingml/2006/main">
            <a:r>
              <a:t>EXPLAIN</a:t>
            </a:r>
          </a:p>
          <a:p xmlns:a="http://schemas.openxmlformats.org/drawingml/2006/main">
            <a:r>
              <a:t>Minutes 1–2: explain the question and data.</a:t>
            </a:r>
          </a:p>
          <a:p xmlns:a="http://schemas.openxmlformats.org/drawingml/2006/main">
            <a:r>
              <a:t/>
            </a:r>
          </a:p>
          <a:p xmlns:a="http://schemas.openxmlformats.org/drawingml/2006/main">
            <a:r>
              <a:t>Minutes 3–4: show the method and one supported result.</a:t>
            </a:r>
          </a:p>
          <a:p xmlns:a="http://schemas.openxmlformats.org/drawingml/2006/main">
            <a:r>
              <a:t/>
            </a:r>
          </a:p>
          <a:p xmlns:a="http://schemas.openxmlformats.org/drawingml/2006/main">
            <a:r>
              <a:t>Minutes 5–6: explain limitations, contributions and a next step.</a:t>
            </a:r>
          </a:p>
          <a:p xmlns:a="http://schemas.openxmlformats.org/drawingml/2006/main">
            <a:r>
              <a:t/>
            </a:r>
          </a:p>
          <a:p xmlns:a="http://schemas.openxmlformats.org/drawingml/2006/main">
            <a:r>
              <a:t>LECTURER CUE</a:t>
            </a:r>
          </a:p>
          <a:p xmlns:a="http://schemas.openxmlformats.org/drawingml/2006/main">
            <a:r>
              <a:t>Model a six-minute presentation: one minute for the problem, one for the data, two for the method and result, one for limitations and one for contribution and next step.</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Make the evidence readable.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Make the evidence readable</a:t>
            </a:r>
          </a:p>
          <a:p xmlns:a="http://schemas.openxmlformats.org/drawingml/2006/main">
            <a:r>
              <a:t/>
            </a:r>
          </a:p>
          <a:p xmlns:a="http://schemas.openxmlformats.org/drawingml/2006/main">
            <a:r>
              <a:t>CONNECT</a:t>
            </a:r>
          </a:p>
          <a:p xmlns:a="http://schemas.openxmlformats.org/drawingml/2006/main">
            <a:r>
              <a:t>Previous slide: A six-minute presentation.</a:t>
            </a:r>
          </a:p>
          <a:p xmlns:a="http://schemas.openxmlformats.org/drawingml/2006/main">
            <a:r>
              <a:t/>
            </a:r>
          </a:p>
          <a:p xmlns:a="http://schemas.openxmlformats.org/drawingml/2006/main">
            <a:r>
              <a:t>EXPLAIN</a:t>
            </a:r>
          </a:p>
          <a:p xmlns:a="http://schemas.openxmlformats.org/drawingml/2006/main">
            <a:r>
              <a:t>Name the chart axes and their units.</a:t>
            </a:r>
          </a:p>
          <a:p xmlns:a="http://schemas.openxmlformats.org/drawingml/2006/main">
            <a:r>
              <a:t/>
            </a:r>
          </a:p>
          <a:p xmlns:a="http://schemas.openxmlformats.org/drawingml/2006/main">
            <a:r>
              <a:t>State the measured evaluation result and how you obtained it.</a:t>
            </a:r>
          </a:p>
          <a:p xmlns:a="http://schemas.openxmlformats.org/drawingml/2006/main">
            <a:r>
              <a:t/>
            </a:r>
          </a:p>
          <a:p xmlns:a="http://schemas.openxmlformats.org/drawingml/2006/main">
            <a:r>
              <a:t>Point to the particular table, plot or calculation that supports your claim.</a:t>
            </a:r>
          </a:p>
          <a:p xmlns:a="http://schemas.openxmlformats.org/drawingml/2006/main">
            <a:r>
              <a:t/>
            </a:r>
          </a:p>
          <a:p xmlns:a="http://schemas.openxmlformats.org/drawingml/2006/main">
            <a:r>
              <a:t>LECTURER CUE</a:t>
            </a:r>
          </a:p>
          <a:p xmlns:a="http://schemas.openxmlformats.org/drawingml/2006/main">
            <a:r>
              <a:t>Explain each chart’s axes and unit before stating its finding. Use the actual measured validation results and state how they were obtained.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Explain the limits honestly.</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Explain the limits honestly</a:t>
            </a:r>
          </a:p>
          <a:p xmlns:a="http://schemas.openxmlformats.org/drawingml/2006/main">
            <a:r>
              <a:t/>
            </a:r>
          </a:p>
          <a:p xmlns:a="http://schemas.openxmlformats.org/drawingml/2006/main">
            <a:r>
              <a:t>CONNECT</a:t>
            </a:r>
          </a:p>
          <a:p xmlns:a="http://schemas.openxmlformats.org/drawingml/2006/main">
            <a:r>
              <a:t>Previous slide: Make the evidence readable.</a:t>
            </a:r>
          </a:p>
          <a:p xmlns:a="http://schemas.openxmlformats.org/drawingml/2006/main">
            <a:r>
              <a:t/>
            </a:r>
          </a:p>
          <a:p xmlns:a="http://schemas.openxmlformats.org/drawingml/2006/main">
            <a:r>
              <a:t>EXPLAIN</a:t>
            </a:r>
          </a:p>
          <a:p xmlns:a="http://schemas.openxmlformats.org/drawingml/2006/main">
            <a:r>
              <a:t>State what your investigation can support.</a:t>
            </a:r>
          </a:p>
          <a:p xmlns:a="http://schemas.openxmlformats.org/drawingml/2006/main">
            <a:r>
              <a:t/>
            </a:r>
          </a:p>
          <a:p xmlns:a="http://schemas.openxmlformats.org/drawingml/2006/main">
            <a:r>
              <a:t>If an answer is unknown, say what evidence would resolve it.</a:t>
            </a:r>
          </a:p>
          <a:p xmlns:a="http://schemas.openxmlformats.org/drawingml/2006/main">
            <a:r>
              <a:t/>
            </a:r>
          </a:p>
          <a:p xmlns:a="http://schemas.openxmlformats.org/drawingml/2006/main">
            <a:r>
              <a:t>Teaching data alone do not establish readiness for real operation.</a:t>
            </a:r>
          </a:p>
          <a:p xmlns:a="http://schemas.openxmlformats.org/drawingml/2006/main">
            <a:r>
              <a:t/>
            </a:r>
          </a:p>
          <a:p xmlns:a="http://schemas.openxmlformats.org/drawingml/2006/main">
            <a:r>
              <a:t>LECTURER CUE</a:t>
            </a:r>
          </a:p>
          <a:p xmlns:a="http://schemas.openxmlformats.org/drawingml/2006/main">
            <a:r>
              <a:t>Practise saying “I do not know yet” followed by the evidence needed to resolve the question. Do not claim deployment readiness from a teaching dataset.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Preparation checkpoint.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Preparation checkpoint</a:t>
            </a:r>
          </a:p>
          <a:p xmlns:a="http://schemas.openxmlformats.org/drawingml/2006/main">
            <a:r>
              <a:t/>
            </a:r>
          </a:p>
          <a:p xmlns:a="http://schemas.openxmlformats.org/drawingml/2006/main">
            <a:r>
              <a:t>CONNECT</a:t>
            </a:r>
          </a:p>
          <a:p xmlns:a="http://schemas.openxmlformats.org/drawingml/2006/main">
            <a:r>
              <a:t>Previous slide: Explain the limits honestly.</a:t>
            </a:r>
          </a:p>
          <a:p xmlns:a="http://schemas.openxmlformats.org/drawingml/2006/main">
            <a:r>
              <a:t/>
            </a:r>
          </a:p>
          <a:p xmlns:a="http://schemas.openxmlformats.org/drawingml/2006/main">
            <a:r>
              <a:t>EXPLAIN</a:t>
            </a:r>
          </a:p>
          <a:p xmlns:a="http://schemas.openxmlformats.org/drawingml/2006/main">
            <a:r>
              <a:t>Each student can explain one decision they personally worked on and point to its evidence.</a:t>
            </a:r>
          </a:p>
          <a:p xmlns:a="http://schemas.openxmlformats.org/drawingml/2006/main">
            <a:r>
              <a:t/>
            </a:r>
          </a:p>
          <a:p xmlns:a="http://schemas.openxmlformats.org/drawingml/2006/main">
            <a:r>
              <a:t>LECTURER CUE</a:t>
            </a:r>
          </a:p>
          <a:p xmlns:a="http://schemas.openxmlformats.org/drawingml/2006/main">
            <a:r>
              <a:t>Each student can explain one decision they personally worked on and point to its evidence.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Your evidence.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evidence</a:t>
            </a:r>
          </a:p>
          <a:p xmlns:a="http://schemas.openxmlformats.org/drawingml/2006/main">
            <a:r>
              <a:t/>
            </a:r>
          </a:p>
          <a:p xmlns:a="http://schemas.openxmlformats.org/drawingml/2006/main">
            <a:r>
              <a:t>CONNECT</a:t>
            </a:r>
          </a:p>
          <a:p xmlns:a="http://schemas.openxmlformats.org/drawingml/2006/main">
            <a:r>
              <a:t>Previous slide: Preparation checkpoint.</a:t>
            </a:r>
          </a:p>
          <a:p xmlns:a="http://schemas.openxmlformats.org/drawingml/2006/main">
            <a:r>
              <a:t/>
            </a:r>
          </a:p>
          <a:p xmlns:a="http://schemas.openxmlformats.org/drawingml/2006/main">
            <a:r>
              <a:t>EXPLAIN</a:t>
            </a:r>
          </a:p>
          <a:p xmlns:a="http://schemas.openxmlformats.org/drawingml/2006/main">
            <a:r>
              <a:t>Use the published project and DEMO requirements.</a:t>
            </a:r>
          </a:p>
          <a:p xmlns:a="http://schemas.openxmlformats.org/drawingml/2006/main">
            <a:r>
              <a:t/>
            </a:r>
          </a:p>
          <a:p xmlns:a="http://schemas.openxmlformats.org/drawingml/2006/main">
            <a:r>
              <a:t>Each individual submits their own typed defence and reflection through the designated route.</a:t>
            </a:r>
          </a:p>
          <a:p xmlns:a="http://schemas.openxmlformats.org/drawingml/2006/main">
            <a:r>
              <a:t/>
            </a:r>
          </a:p>
          <a:p xmlns:a="http://schemas.openxmlformats.org/drawingml/2006/main">
            <a:r>
              <a:t>Submit your own written defence and reflection as instructed.</a:t>
            </a:r>
          </a:p>
          <a:p xmlns:a="http://schemas.openxmlformats.org/drawingml/2006/main">
            <a:r>
              <a:t/>
            </a:r>
          </a:p>
          <a:p xmlns:a="http://schemas.openxmlformats.org/drawingml/2006/main">
            <a:r>
              <a:t>LECTURER CUE</a:t>
            </a:r>
          </a:p>
          <a:p xmlns:a="http://schemas.openxmlformats.org/drawingml/2006/main">
            <a:r>
              <a:t>Use the published project and DEMO requirements. Each individual submits their own typed defence and reflection through the designated route. Live questioning and peer comments support learning; they are not a new manual marking workload.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Engineering ML project.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Engineering ML project</a:t>
            </a:r>
          </a:p>
          <a:p xmlns:a="http://schemas.openxmlformats.org/drawingml/2006/main">
            <a:r>
              <a:t/>
            </a:r>
          </a:p>
          <a:p xmlns:a="http://schemas.openxmlformats.org/drawingml/2006/main">
            <a:r>
              <a:t>CONNECT</a:t>
            </a:r>
          </a:p>
          <a:p xmlns:a="http://schemas.openxmlformats.org/drawingml/2006/main">
            <a:r>
              <a:t>Previous slide: Your evidence.</a:t>
            </a:r>
          </a:p>
          <a:p xmlns:a="http://schemas.openxmlformats.org/drawingml/2006/main">
            <a:r>
              <a:t/>
            </a:r>
          </a:p>
          <a:p xmlns:a="http://schemas.openxmlformats.org/drawingml/2006/main">
            <a:r>
              <a:t>EXPLAIN</a:t>
            </a:r>
          </a:p>
          <a:p xmlns:a="http://schemas.openxmlformats.org/drawingml/2006/main">
            <a:r>
              <a:t>Write your own explanation in the markdown cell headed `## My written evidence`.</a:t>
            </a:r>
          </a:p>
          <a:p xmlns:a="http://schemas.openxmlformats.org/drawingml/2006/main">
            <a:r>
              <a:t/>
            </a:r>
          </a:p>
          <a:p xmlns:a="http://schemas.openxmlformats.org/drawingml/2006/main">
            <a:r>
              <a:t>Keep that heading.</a:t>
            </a:r>
          </a:p>
          <a:p xmlns:a="http://schemas.openxmlformats.org/drawingml/2006/main">
            <a:r>
              <a:t/>
            </a:r>
          </a:p>
          <a:p xmlns:a="http://schemas.openxmlformats.org/drawingml/2006/main">
            <a:r>
              <a:t>Task prompts and code comments are excluded from reasoning marks.</a:t>
            </a:r>
          </a:p>
          <a:p xmlns:a="http://schemas.openxmlformats.org/drawingml/2006/main">
            <a:r>
              <a:t/>
            </a:r>
          </a:p>
          <a:p xmlns:a="http://schemas.openxmlformats.org/drawingml/2006/main">
            <a:r>
              <a:t>Complete every original rubric criterion below, not just the checked functions.</a:t>
            </a:r>
          </a:p>
          <a:p xmlns:a="http://schemas.openxmlformats.org/drawingml/2006/main">
            <a:r>
              <a:t/>
            </a:r>
          </a:p>
          <a:p xmlns:a="http://schemas.openxmlformats.org/drawingml/2006/main">
            <a:r>
              <a:t>LECTURER CUE</a:t>
            </a:r>
          </a:p>
          <a:p xmlns:a="http://schemas.openxmlformats.org/drawingml/2006/main">
            <a:r>
              <a:t># CML3111 ML_PROJECT: Engineering ML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Engineering ML project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Engineering ML project continued</a:t>
            </a:r>
          </a:p>
          <a:p xmlns:a="http://schemas.openxmlformats.org/drawingml/2006/main">
            <a:r>
              <a:t/>
            </a:r>
          </a:p>
          <a:p xmlns:a="http://schemas.openxmlformats.org/drawingml/2006/main">
            <a:r>
              <a:t>CONNECT</a:t>
            </a:r>
          </a:p>
          <a:p xmlns:a="http://schemas.openxmlformats.org/drawingml/2006/main">
            <a:r>
              <a:t>Previous slide: Engineering ML project.</a:t>
            </a:r>
          </a:p>
          <a:p xmlns:a="http://schemas.openxmlformats.org/drawingml/2006/main">
            <a:r>
              <a:t/>
            </a:r>
          </a:p>
          <a:p xmlns:a="http://schemas.openxmlformats.org/drawingml/2006/main">
            <a:r>
              <a:t>EXPLAIN</a:t>
            </a:r>
          </a:p>
          <a:p xmlns:a="http://schemas.openxmlformats.org/drawingml/2006/main">
            <a:r>
              <a:t>Include profiling, justified cleaning, question-led charts and your engineering recommendation where required.</a:t>
            </a:r>
          </a:p>
          <a:p xmlns:a="http://schemas.openxmlformats.org/drawingml/2006/main">
            <a:r>
              <a:t/>
            </a:r>
          </a:p>
          <a:p xmlns:a="http://schemas.openxmlformats.org/drawingml/2006/main">
            <a:r>
              <a:t>Keep raw data.</a:t>
            </a:r>
          </a:p>
          <a:p xmlns:a="http://schemas.openxmlformats.org/drawingml/2006/main">
            <a:r>
              <a:t/>
            </a:r>
          </a:p>
          <a:p xmlns:a="http://schemas.openxmlformats.org/drawingml/2006/main">
            <a:r>
              <a:t>State units and distinguish correlation from causation.</a:t>
            </a:r>
          </a:p>
          <a:p xmlns:a="http://schemas.openxmlformats.org/drawingml/2006/main">
            <a:r>
              <a:t/>
            </a:r>
          </a:p>
          <a:p xmlns:a="http://schemas.openxmlformats.org/drawingml/2006/main">
            <a:r>
              <a:t>Charts must be actual labelled figures in the notebook, not claims that charts exist.</a:t>
            </a:r>
          </a:p>
          <a:p xmlns:a="http://schemas.openxmlformats.org/drawingml/2006/main">
            <a:r>
              <a:t/>
            </a:r>
          </a:p>
          <a:p xmlns:a="http://schemas.openxmlformats.org/drawingml/2006/main">
            <a:r>
              <a:t>LECTURER CUE</a:t>
            </a:r>
          </a:p>
          <a:p xmlns:a="http://schemas.openxmlformats.org/drawingml/2006/main">
            <a:r>
              <a:t># CML3111 ML_PROJECT: Engineering ML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Engineering ML project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Engineering ML project continued</a:t>
            </a:r>
          </a:p>
          <a:p xmlns:a="http://schemas.openxmlformats.org/drawingml/2006/main">
            <a:r>
              <a:t/>
            </a:r>
          </a:p>
          <a:p xmlns:a="http://schemas.openxmlformats.org/drawingml/2006/main">
            <a:r>
              <a:t>CONNECT</a:t>
            </a:r>
          </a:p>
          <a:p xmlns:a="http://schemas.openxmlformats.org/drawingml/2006/main">
            <a:r>
              <a:t>Previous slide: Engineering ML project continued.</a:t>
            </a:r>
          </a:p>
          <a:p xmlns:a="http://schemas.openxmlformats.org/drawingml/2006/main">
            <a:r>
              <a:t/>
            </a:r>
          </a:p>
          <a:p xmlns:a="http://schemas.openxmlformats.org/drawingml/2006/main">
            <a:r>
              <a:t>EXPLAIN</a:t>
            </a:r>
          </a:p>
          <a:p xmlns:a="http://schemas.openxmlformats.org/drawingml/2006/main">
            <a:r>
              <a:t>Include captions and a separate readable DOCX/PDF report.</a:t>
            </a:r>
          </a:p>
          <a:p xmlns:a="http://schemas.openxmlformats.org/drawingml/2006/main">
            <a:r>
              <a:t/>
            </a:r>
          </a:p>
          <a:p xmlns:a="http://schemas.openxmlformats.org/drawingml/2006/main">
            <a:r>
              <a:t>Problem definition (15.0 total): The engineering problem is real, specific and bounded.</a:t>
            </a:r>
          </a:p>
          <a:p xmlns:a="http://schemas.openxmlformats.org/drawingml/2006/main">
            <a:r>
              <a:t/>
            </a:r>
          </a:p>
          <a:p xmlns:a="http://schemas.openxmlformats.org/drawingml/2006/main">
            <a:r>
              <a:t>The ML task is correctly derived from it.</a:t>
            </a:r>
          </a:p>
          <a:p xmlns:a="http://schemas.openxmlformats.org/drawingml/2006/main">
            <a:r>
              <a:t/>
            </a:r>
          </a:p>
          <a:p xmlns:a="http://schemas.openxmlformats.org/drawingml/2006/main">
            <a:r>
              <a:t>The target variable is justified, not merely available.</a:t>
            </a:r>
          </a:p>
          <a:p xmlns:a="http://schemas.openxmlformats.org/drawingml/2006/main">
            <a:r>
              <a:t/>
            </a:r>
          </a:p>
          <a:p xmlns:a="http://schemas.openxmlformats.org/drawingml/2006/main">
            <a:r>
              <a:t>LECTURER CUE</a:t>
            </a:r>
          </a:p>
          <a:p xmlns:a="http://schemas.openxmlformats.org/drawingml/2006/main">
            <a:r>
              <a:t># CML3111 ML_PROJECT: Engineering ML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Engineering ML project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Engineering ML project continued</a:t>
            </a:r>
          </a:p>
          <a:p xmlns:a="http://schemas.openxmlformats.org/drawingml/2006/main">
            <a:r>
              <a:t/>
            </a:r>
          </a:p>
          <a:p xmlns:a="http://schemas.openxmlformats.org/drawingml/2006/main">
            <a:r>
              <a:t>CONNECT</a:t>
            </a:r>
          </a:p>
          <a:p xmlns:a="http://schemas.openxmlformats.org/drawingml/2006/main">
            <a:r>
              <a:t>Previous slide: Engineering ML project continued.</a:t>
            </a:r>
          </a:p>
          <a:p xmlns:a="http://schemas.openxmlformats.org/drawingml/2006/main">
            <a:r>
              <a:t/>
            </a:r>
          </a:p>
          <a:p xmlns:a="http://schemas.openxmlformats.org/drawingml/2006/main">
            <a:r>
              <a:t>EXPLAIN</a:t>
            </a:r>
          </a:p>
          <a:p xmlns:a="http://schemas.openxmlformats.org/drawingml/2006/main">
            <a:r>
              <a:t>Data understanding (15.0 total): Provenance, licence and collection method stated.</a:t>
            </a:r>
          </a:p>
          <a:p xmlns:a="http://schemas.openxmlformats.org/drawingml/2006/main">
            <a:r>
              <a:t/>
            </a:r>
          </a:p>
          <a:p xmlns:a="http://schemas.openxmlformats.org/drawingml/2006/main">
            <a:r>
              <a:t>Defects found and handled with justification.</a:t>
            </a:r>
          </a:p>
          <a:p xmlns:a="http://schemas.openxmlformats.org/drawingml/2006/main">
            <a:r>
              <a:t/>
            </a:r>
          </a:p>
          <a:p xmlns:a="http://schemas.openxmlformats.org/drawingml/2006/main">
            <a:r>
              <a:t>Limitations of the data acknowledged before any modelling.</a:t>
            </a:r>
          </a:p>
          <a:p xmlns:a="http://schemas.openxmlformats.org/drawingml/2006/main">
            <a:r>
              <a:t/>
            </a:r>
          </a:p>
          <a:p xmlns:a="http://schemas.openxmlformats.org/drawingml/2006/main">
            <a:r>
              <a:t>Methodology (20.0 total): Appropriate models chosen and compared under one protocol.</a:t>
            </a:r>
          </a:p>
          <a:p xmlns:a="http://schemas.openxmlformats.org/drawingml/2006/main">
            <a:r>
              <a:t/>
            </a:r>
          </a:p>
          <a:p xmlns:a="http://schemas.openxmlformats.org/drawingml/2006/main">
            <a:r>
              <a:t>LECTURER CUE</a:t>
            </a:r>
          </a:p>
          <a:p xmlns:a="http://schemas.openxmlformats.org/drawingml/2006/main">
            <a:r>
              <a:t># CML3111 ML_PROJECT: Engineering ML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Engineering ML project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Engineering ML project continued</a:t>
            </a:r>
          </a:p>
          <a:p xmlns:a="http://schemas.openxmlformats.org/drawingml/2006/main">
            <a:r>
              <a:t/>
            </a:r>
          </a:p>
          <a:p xmlns:a="http://schemas.openxmlformats.org/drawingml/2006/main">
            <a:r>
              <a:t>CONNECT</a:t>
            </a:r>
          </a:p>
          <a:p xmlns:a="http://schemas.openxmlformats.org/drawingml/2006/main">
            <a:r>
              <a:t>Previous slide: Engineering ML project continued.</a:t>
            </a:r>
          </a:p>
          <a:p xmlns:a="http://schemas.openxmlformats.org/drawingml/2006/main">
            <a:r>
              <a:t/>
            </a:r>
          </a:p>
          <a:p xmlns:a="http://schemas.openxmlformats.org/drawingml/2006/main">
            <a:r>
              <a:t>EXPLAIN</a:t>
            </a:r>
          </a:p>
          <a:p xmlns:a="http://schemas.openxmlformats.org/drawingml/2006/main">
            <a:r>
              <a:t>Pipeline used.</a:t>
            </a:r>
          </a:p>
          <a:p xmlns:a="http://schemas.openxmlformats.org/drawingml/2006/main">
            <a:r>
              <a:t/>
            </a:r>
          </a:p>
          <a:p xmlns:a="http://schemas.openxmlformats.org/drawingml/2006/main">
            <a:r>
              <a:t>Hyperparameters handled sensibly.</a:t>
            </a:r>
          </a:p>
          <a:p xmlns:a="http://schemas.openxmlformats.org/drawingml/2006/main">
            <a:r>
              <a:t/>
            </a:r>
          </a:p>
          <a:p xmlns:a="http://schemas.openxmlformats.org/drawingml/2006/main">
            <a:r>
              <a:t>Choices explained rather than defaulted to.</a:t>
            </a:r>
          </a:p>
          <a:p xmlns:a="http://schemas.openxmlformats.org/drawingml/2006/main">
            <a:r>
              <a:t/>
            </a:r>
          </a:p>
          <a:p xmlns:a="http://schemas.openxmlformats.org/drawingml/2006/main">
            <a:r>
              <a:t>Engineering reasoning (20.0 total): Domain knowledge visibly enters the work through features, banding, metric choice or interpretation.</a:t>
            </a:r>
          </a:p>
          <a:p xmlns:a="http://schemas.openxmlformats.org/drawingml/2006/main">
            <a:r>
              <a:t/>
            </a:r>
          </a:p>
          <a:p xmlns:a="http://schemas.openxmlformats.org/drawingml/2006/main">
            <a:r>
              <a:t>LECTURER CUE</a:t>
            </a:r>
          </a:p>
          <a:p xmlns:a="http://schemas.openxmlformats.org/drawingml/2006/main">
            <a:r>
              <a:t># CML3111 ML_PROJECT: Engineering ML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Engineering ML project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Engineering ML project continued</a:t>
            </a:r>
          </a:p>
          <a:p xmlns:a="http://schemas.openxmlformats.org/drawingml/2006/main">
            <a:r>
              <a:t/>
            </a:r>
          </a:p>
          <a:p xmlns:a="http://schemas.openxmlformats.org/drawingml/2006/main">
            <a:r>
              <a:t>CONNECT</a:t>
            </a:r>
          </a:p>
          <a:p xmlns:a="http://schemas.openxmlformats.org/drawingml/2006/main">
            <a:r>
              <a:t>Previous slide: Engineering ML project continued.</a:t>
            </a:r>
          </a:p>
          <a:p xmlns:a="http://schemas.openxmlformats.org/drawingml/2006/main">
            <a:r>
              <a:t/>
            </a:r>
          </a:p>
          <a:p xmlns:a="http://schemas.openxmlformats.org/drawingml/2006/main">
            <a:r>
              <a:t>EXPLAIN</a:t>
            </a:r>
          </a:p>
          <a:p xmlns:a="http://schemas.openxmlformats.org/drawingml/2006/main">
            <a:r>
              <a:t>The result is discussed as engineering, not as a score.</a:t>
            </a:r>
          </a:p>
          <a:p xmlns:a="http://schemas.openxmlformats.org/drawingml/2006/main">
            <a:r>
              <a:t/>
            </a:r>
          </a:p>
          <a:p xmlns:a="http://schemas.openxmlformats.org/drawingml/2006/main">
            <a:r>
              <a:t>Validation (15.0 total): Correct train/test discipline, cross-validation with a reported spread, leakage explicitly checked and ruled out, metric justified against the cost of error.</a:t>
            </a:r>
          </a:p>
          <a:p xmlns:a="http://schemas.openxmlformats.org/drawingml/2006/main">
            <a:r>
              <a:t/>
            </a:r>
          </a:p>
          <a:p xmlns:a="http://schemas.openxmlformats.org/drawingml/2006/main">
            <a:r>
              <a:t>Communication (10.0 total): The 2-page brief is readable by a non-specialist engineer.</a:t>
            </a:r>
          </a:p>
          <a:p xmlns:a="http://schemas.openxmlformats.org/drawingml/2006/main">
            <a:r>
              <a:t/>
            </a:r>
          </a:p>
          <a:p xmlns:a="http://schemas.openxmlformats.org/drawingml/2006/main">
            <a:r>
              <a:t>LECTURER CUE</a:t>
            </a:r>
          </a:p>
          <a:p xmlns:a="http://schemas.openxmlformats.org/drawingml/2006/main">
            <a:r>
              <a:t># CML3111 ML_PROJECT: Engineering ML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Engineering ML project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Engineering ML project continued</a:t>
            </a:r>
          </a:p>
          <a:p xmlns:a="http://schemas.openxmlformats.org/drawingml/2006/main">
            <a:r>
              <a:t/>
            </a:r>
          </a:p>
          <a:p xmlns:a="http://schemas.openxmlformats.org/drawingml/2006/main">
            <a:r>
              <a:t>CONNECT</a:t>
            </a:r>
          </a:p>
          <a:p xmlns:a="http://schemas.openxmlformats.org/drawingml/2006/main">
            <a:r>
              <a:t>Previous slide: Engineering ML project continued.</a:t>
            </a:r>
          </a:p>
          <a:p xmlns:a="http://schemas.openxmlformats.org/drawingml/2006/main">
            <a:r>
              <a:t/>
            </a:r>
          </a:p>
          <a:p xmlns:a="http://schemas.openxmlformats.org/drawingml/2006/main">
            <a:r>
              <a:t>EXPLAIN</a:t>
            </a:r>
          </a:p>
          <a:p xmlns:a="http://schemas.openxmlformats.org/drawingml/2006/main">
            <a:r>
              <a:t>Charts answer questions and are captioned with findings.</a:t>
            </a:r>
          </a:p>
          <a:p xmlns:a="http://schemas.openxmlformats.org/drawingml/2006/main">
            <a:r>
              <a:t/>
            </a:r>
          </a:p>
          <a:p xmlns:a="http://schemas.openxmlformats.org/drawingml/2006/main">
            <a:r>
              <a:t>Uncertainty and limitations stated honestly.</a:t>
            </a:r>
          </a:p>
          <a:p xmlns:a="http://schemas.openxmlformats.org/drawingml/2006/main">
            <a:r>
              <a:t/>
            </a:r>
          </a:p>
          <a:p xmlns:a="http://schemas.openxmlformats.org/drawingml/2006/main">
            <a:r>
              <a:t>Reproducibility &amp; documentation (5.0 total): Repository runs from a clean clone.</a:t>
            </a:r>
          </a:p>
          <a:p xmlns:a="http://schemas.openxmlformats.org/drawingml/2006/main">
            <a:r>
              <a:t/>
            </a:r>
          </a:p>
          <a:p xmlns:a="http://schemas.openxmlformats.org/drawingml/2006/main">
            <a:r>
              <a:t>README complete. requirements.txt present.</a:t>
            </a:r>
          </a:p>
          <a:p xmlns:a="http://schemas.openxmlformats.org/drawingml/2006/main">
            <a:r>
              <a:t/>
            </a:r>
          </a:p>
          <a:p xmlns:a="http://schemas.openxmlformats.org/drawingml/2006/main">
            <a:r>
              <a:t>LECTURER CUE</a:t>
            </a:r>
          </a:p>
          <a:p xmlns:a="http://schemas.openxmlformats.org/drawingml/2006/main">
            <a:r>
              <a:t># CML3111 ML_PROJECT: Engineering ML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Engineering ML project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Engineering ML project continued</a:t>
            </a:r>
          </a:p>
          <a:p xmlns:a="http://schemas.openxmlformats.org/drawingml/2006/main">
            <a:r>
              <a:t/>
            </a:r>
          </a:p>
          <a:p xmlns:a="http://schemas.openxmlformats.org/drawingml/2006/main">
            <a:r>
              <a:t>CONNECT</a:t>
            </a:r>
          </a:p>
          <a:p xmlns:a="http://schemas.openxmlformats.org/drawingml/2006/main">
            <a:r>
              <a:t>Previous slide: Engineering ML project continued.</a:t>
            </a:r>
          </a:p>
          <a:p xmlns:a="http://schemas.openxmlformats.org/drawingml/2006/main">
            <a:r>
              <a:t/>
            </a:r>
          </a:p>
          <a:p xmlns:a="http://schemas.openxmlformats.org/drawingml/2006/main">
            <a:r>
              <a:t>EXPLAIN</a:t>
            </a:r>
          </a:p>
          <a:p xmlns:a="http://schemas.openxmlformats.org/drawingml/2006/main">
            <a:r>
              <a:t>Seeds set.</a:t>
            </a:r>
          </a:p>
          <a:p xmlns:a="http://schemas.openxmlformats.org/drawingml/2006/main">
            <a:r>
              <a:t/>
            </a:r>
          </a:p>
          <a:p xmlns:a="http://schemas.openxmlformats.org/drawingml/2006/main">
            <a:r>
              <a:t>AI use declared.</a:t>
            </a:r>
          </a:p>
          <a:p xmlns:a="http://schemas.openxmlformats.org/drawingml/2006/main">
            <a:r>
              <a:t/>
            </a:r>
          </a:p>
          <a:p xmlns:a="http://schemas.openxmlformats.org/drawingml/2006/main">
            <a:r>
              <a:t>Contribution log present.</a:t>
            </a:r>
          </a:p>
          <a:p xmlns:a="http://schemas.openxmlformats.org/drawingml/2006/main">
            <a:r>
              <a:t/>
            </a:r>
          </a:p>
          <a:p xmlns:a="http://schemas.openxmlformats.org/drawingml/2006/main">
            <a:r>
              <a:t>LECTURER CUE</a:t>
            </a:r>
          </a:p>
          <a:p xmlns:a="http://schemas.openxmlformats.org/drawingml/2006/main">
            <a:r>
              <a:t># CML3111 ML_PROJECT: Engineering ML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Engineering ML project submission.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Engineering ML project submission</a:t>
            </a:r>
          </a:p>
          <a:p xmlns:a="http://schemas.openxmlformats.org/drawingml/2006/main">
            <a:r>
              <a:t/>
            </a:r>
          </a:p>
          <a:p xmlns:a="http://schemas.openxmlformats.org/drawingml/2006/main">
            <a:r>
              <a:t>CONNECT</a:t>
            </a:r>
          </a:p>
          <a:p xmlns:a="http://schemas.openxmlformats.org/drawingml/2006/main">
            <a:r>
              <a:t>Previous slide: Engineering ML project continued.</a:t>
            </a:r>
          </a:p>
          <a:p xmlns:a="http://schemas.openxmlformats.org/drawingml/2006/main">
            <a:r>
              <a:t/>
            </a:r>
          </a:p>
          <a:p xmlns:a="http://schemas.openxmlformats.org/drawingml/2006/main">
            <a:r>
              <a:t>EXPLAIN</a:t>
            </a:r>
          </a:p>
          <a:p xmlns:a="http://schemas.openxmlformats.org/drawingml/2006/main">
            <a:r>
              <a:t>Opens: 27 Nov 2026, 11:00 Kampala</a:t>
            </a:r>
          </a:p>
          <a:p xmlns:a="http://schemas.openxmlformats.org/drawingml/2006/main">
            <a:r>
              <a:t/>
            </a:r>
          </a:p>
          <a:p xmlns:a="http://schemas.openxmlformats.org/drawingml/2006/main">
            <a:r>
              <a:t>Deadline: 18 Dec 2026, 11:00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LECTURER CUE</a:t>
            </a:r>
          </a:p>
          <a:p xmlns:a="http://schemas.openxmlformats.org/drawingml/2006/main">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Presentation evidence (35 marks).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Presentation evidence (35 marks)</a:t>
            </a:r>
          </a:p>
          <a:p xmlns:a="http://schemas.openxmlformats.org/drawingml/2006/main">
            <a:r>
              <a:t/>
            </a:r>
          </a:p>
          <a:p xmlns:a="http://schemas.openxmlformats.org/drawingml/2006/main">
            <a:r>
              <a:t>CONNECT</a:t>
            </a:r>
          </a:p>
          <a:p xmlns:a="http://schemas.openxmlformats.org/drawingml/2006/main">
            <a:r>
              <a:t>Previous slide: Engineering ML project submission.</a:t>
            </a:r>
          </a:p>
          <a:p xmlns:a="http://schemas.openxmlformats.org/drawingml/2006/main">
            <a:r>
              <a:t/>
            </a:r>
          </a:p>
          <a:p xmlns:a="http://schemas.openxmlformats.org/drawingml/2006/main">
            <a:r>
              <a:t>EXPLAIN</a:t>
            </a:r>
          </a:p>
          <a:p xmlns:a="http://schemas.openxmlformats.org/drawingml/2006/main">
            <a:r>
              <a:t>Slides and narration notes explain the question, method, evidence and limitations for an engineering audience.</a:t>
            </a:r>
          </a:p>
          <a:p xmlns:a="http://schemas.openxmlformats.org/drawingml/2006/main">
            <a:r>
              <a:t/>
            </a:r>
          </a:p>
          <a:p xmlns:a="http://schemas.openxmlformats.org/drawingml/2006/main">
            <a:r>
              <a:t>The local text grader does not assess visual styling or spoken delivery.</a:t>
            </a:r>
          </a:p>
          <a:p xmlns:a="http://schemas.openxmlformats.org/drawingml/2006/main">
            <a:r>
              <a:t/>
            </a:r>
          </a:p>
          <a:p xmlns:a="http://schemas.openxmlformats.org/drawingml/2006/main">
            <a:r>
              <a:t>LECTURER CUE</a:t>
            </a:r>
          </a:p>
          <a:p xmlns:a="http://schemas.openxmlformats.org/drawingml/2006/main">
            <a:r>
              <a:t>Published DEMO criterion. Check the assessment grading-release status before issuing. Live questioning is formative. Source: /Users/jothamwambi/Projects/IUEA-Teaching-Resources/IUEA_Teaching_Plan/grader/rubrics/DEMO.json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Individual written defence (40 marks).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Individual written defence (40 marks)</a:t>
            </a:r>
          </a:p>
          <a:p xmlns:a="http://schemas.openxmlformats.org/drawingml/2006/main">
            <a:r>
              <a:t/>
            </a:r>
          </a:p>
          <a:p xmlns:a="http://schemas.openxmlformats.org/drawingml/2006/main">
            <a:r>
              <a:t>CONNECT</a:t>
            </a:r>
          </a:p>
          <a:p xmlns:a="http://schemas.openxmlformats.org/drawingml/2006/main">
            <a:r>
              <a:t>Previous slide: Presentation evidence (35 marks).</a:t>
            </a:r>
          </a:p>
          <a:p xmlns:a="http://schemas.openxmlformats.org/drawingml/2006/main">
            <a:r>
              <a:t/>
            </a:r>
          </a:p>
          <a:p xmlns:a="http://schemas.openxmlformats.org/drawingml/2006/main">
            <a:r>
              <a:t>EXPLAIN</a:t>
            </a:r>
          </a:p>
          <a:p xmlns:a="http://schemas.openxmlformats.org/drawingml/2006/main">
            <a:r>
              <a:t>Two typed answers about the student's own repository identify specific cells/results and explain the decisions.</a:t>
            </a:r>
          </a:p>
          <a:p xmlns:a="http://schemas.openxmlformats.org/drawingml/2006/main">
            <a:r>
              <a:t/>
            </a:r>
          </a:p>
          <a:p xmlns:a="http://schemas.openxmlformats.org/drawingml/2006/main">
            <a:r>
              <a:t>Credit is based on the submitted evidence; live questioning is formative.</a:t>
            </a:r>
          </a:p>
          <a:p xmlns:a="http://schemas.openxmlformats.org/drawingml/2006/main">
            <a:r>
              <a:t/>
            </a:r>
          </a:p>
          <a:p xmlns:a="http://schemas.openxmlformats.org/drawingml/2006/main">
            <a:r>
              <a:t>LECTURER CUE</a:t>
            </a:r>
          </a:p>
          <a:p xmlns:a="http://schemas.openxmlformats.org/drawingml/2006/main">
            <a:r>
              <a:t>Published DEMO criterion. Check the assessment grading-release status before issuing. Live questioning is formative. Source: /Users/jothamwambi/Projects/IUEA-Teaching-Resources/IUEA_Teaching_Plan/grader/rubrics/DEMO.json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Reflection (20 marks).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Reflection (20 marks)</a:t>
            </a:r>
          </a:p>
          <a:p xmlns:a="http://schemas.openxmlformats.org/drawingml/2006/main">
            <a:r>
              <a:t/>
            </a:r>
          </a:p>
          <a:p xmlns:a="http://schemas.openxmlformats.org/drawingml/2006/main">
            <a:r>
              <a:t>CONNECT</a:t>
            </a:r>
          </a:p>
          <a:p xmlns:a="http://schemas.openxmlformats.org/drawingml/2006/main">
            <a:r>
              <a:t>Previous slide: Individual written defence (40 marks).</a:t>
            </a:r>
          </a:p>
          <a:p xmlns:a="http://schemas.openxmlformats.org/drawingml/2006/main">
            <a:r>
              <a:t/>
            </a:r>
          </a:p>
          <a:p xmlns:a="http://schemas.openxmlformats.org/drawingml/2006/main">
            <a:r>
              <a:t>EXPLAIN</a:t>
            </a:r>
          </a:p>
          <a:p xmlns:a="http://schemas.openxmlformats.org/drawingml/2006/main">
            <a:r>
              <a:t>500 words.</a:t>
            </a:r>
          </a:p>
          <a:p xmlns:a="http://schemas.openxmlformats.org/drawingml/2006/main">
            <a:r>
              <a:t/>
            </a:r>
          </a:p>
          <a:p xmlns:a="http://schemas.openxmlformats.org/drawingml/2006/main">
            <a:r>
              <a:t>Specific about what changed since Week 1, what remains difficult, and two concrete Semester 2 goals.</a:t>
            </a:r>
          </a:p>
          <a:p xmlns:a="http://schemas.openxmlformats.org/drawingml/2006/main">
            <a:r>
              <a:t/>
            </a:r>
          </a:p>
          <a:p xmlns:a="http://schemas.openxmlformats.org/drawingml/2006/main">
            <a:r>
              <a:t>Generic reflection scores low.</a:t>
            </a:r>
          </a:p>
          <a:p xmlns:a="http://schemas.openxmlformats.org/drawingml/2006/main">
            <a:r>
              <a:t/>
            </a:r>
          </a:p>
          <a:p xmlns:a="http://schemas.openxmlformats.org/drawingml/2006/main">
            <a:r>
              <a:t>LECTURER CUE</a:t>
            </a:r>
          </a:p>
          <a:p xmlns:a="http://schemas.openxmlformats.org/drawingml/2006/main">
            <a:r>
              <a:t>Published DEMO criterion. Check the assessment grading-release status before issuing. Live questioning is formative. Source: /Users/jothamwambi/Projects/IUEA-Teaching-Resources/IUEA_Teaching_Plan/grader/rubrics/DEMO.json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AI-use declaration (5 marks).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AI-use declaration (5 marks)</a:t>
            </a:r>
          </a:p>
          <a:p xmlns:a="http://schemas.openxmlformats.org/drawingml/2006/main">
            <a:r>
              <a:t/>
            </a:r>
          </a:p>
          <a:p xmlns:a="http://schemas.openxmlformats.org/drawingml/2006/main">
            <a:r>
              <a:t>CONNECT</a:t>
            </a:r>
          </a:p>
          <a:p xmlns:a="http://schemas.openxmlformats.org/drawingml/2006/main">
            <a:r>
              <a:t>Previous slide: Reflection (20 marks).</a:t>
            </a:r>
          </a:p>
          <a:p xmlns:a="http://schemas.openxmlformats.org/drawingml/2006/main">
            <a:r>
              <a:t/>
            </a:r>
          </a:p>
          <a:p xmlns:a="http://schemas.openxmlformats.org/drawingml/2006/main">
            <a:r>
              <a:t>EXPLAIN</a:t>
            </a:r>
          </a:p>
          <a:p xmlns:a="http://schemas.openxmlformats.org/drawingml/2006/main">
            <a:r>
              <a:t>Present, complete and plausible against the repository history.</a:t>
            </a:r>
          </a:p>
          <a:p xmlns:a="http://schemas.openxmlformats.org/drawingml/2006/main">
            <a:r>
              <a:t/>
            </a:r>
          </a:p>
          <a:p xmlns:a="http://schemas.openxmlformats.org/drawingml/2006/main">
            <a:r>
              <a:t>LECTURER CUE</a:t>
            </a:r>
          </a:p>
          <a:p xmlns:a="http://schemas.openxmlformats.org/drawingml/2006/main">
            <a:r>
              <a:t>Published DEMO criterion. Check the assessment grading-release status before issuing. Live questioning is formative. Source: /Users/jothamwambi/Projects/IUEA-Teaching-Resources/IUEA_Teaching_Plan/grader/rubrics/DEMO.json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Presentation and individual reflection submission.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Presentation and individual reflection submission</a:t>
            </a:r>
          </a:p>
          <a:p xmlns:a="http://schemas.openxmlformats.org/drawingml/2006/main">
            <a:r>
              <a:t/>
            </a:r>
          </a:p>
          <a:p xmlns:a="http://schemas.openxmlformats.org/drawingml/2006/main">
            <a:r>
              <a:t>CONNECT</a:t>
            </a:r>
          </a:p>
          <a:p xmlns:a="http://schemas.openxmlformats.org/drawingml/2006/main">
            <a:r>
              <a:t>Previous slide: AI-use declaration (5 marks).</a:t>
            </a:r>
          </a:p>
          <a:p xmlns:a="http://schemas.openxmlformats.org/drawingml/2006/main">
            <a:r>
              <a:t/>
            </a:r>
          </a:p>
          <a:p xmlns:a="http://schemas.openxmlformats.org/drawingml/2006/main">
            <a:r>
              <a:t>EXPLAIN</a:t>
            </a:r>
          </a:p>
          <a:p xmlns:a="http://schemas.openxmlformats.org/drawingml/2006/main">
            <a:r>
              <a:t>Opens: 27 Nov 2026, 11:00 Kampala</a:t>
            </a:r>
          </a:p>
          <a:p xmlns:a="http://schemas.openxmlformats.org/drawingml/2006/main">
            <a:r>
              <a:t/>
            </a:r>
          </a:p>
          <a:p xmlns:a="http://schemas.openxmlformats.org/drawingml/2006/main">
            <a:r>
              <a:t>Deadline: 18 Dec 2026, 14:00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LECTURER CUE</a:t>
            </a:r>
          </a:p>
          <a:p xmlns:a="http://schemas.openxmlformats.org/drawingml/2006/main">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Before you leave.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and submission checklist</a:t>
            </a:r>
          </a:p>
          <a:p xmlns:a="http://schemas.openxmlformats.org/drawingml/2006/main">
            <a:r>
              <a:t/>
            </a:r>
          </a:p>
          <a:p xmlns:a="http://schemas.openxmlformats.org/drawingml/2006/main">
            <a:r>
              <a:t>CONNECT</a:t>
            </a:r>
          </a:p>
          <a:p xmlns:a="http://schemas.openxmlformats.org/drawingml/2006/main">
            <a:r>
              <a:t>Previous slide: Presentation and individual reflection submission.</a:t>
            </a:r>
          </a:p>
          <a:p xmlns:a="http://schemas.openxmlformats.org/drawingml/2006/main">
            <a:r>
              <a:t/>
            </a:r>
          </a:p>
          <a:p xmlns:a="http://schemas.openxmlformats.org/drawingml/2006/main">
            <a:r>
              <a:t>EXPLAIN</a:t>
            </a:r>
          </a:p>
          <a:p xmlns:a="http://schemas.openxmlformats.org/drawingml/2006/main">
            <a:r>
              <a:t>You can point to the evidence behind one decision you personally worked on.</a:t>
            </a:r>
          </a:p>
          <a:p xmlns:a="http://schemas.openxmlformats.org/drawingml/2006/main">
            <a:r>
              <a:t/>
            </a:r>
          </a:p>
          <a:p xmlns:a="http://schemas.openxmlformats.org/drawingml/2006/main">
            <a:r>
              <a:t>Save your work and check the required submission files.</a:t>
            </a:r>
          </a:p>
          <a:p xmlns:a="http://schemas.openxmlformats.org/drawingml/2006/main">
            <a:r>
              <a:t/>
            </a:r>
          </a:p>
          <a:p xmlns:a="http://schemas.openxmlformats.org/drawingml/2006/main">
            <a:r>
              <a:t>LECTURER CUE</a:t>
            </a:r>
          </a:p>
          <a:p xmlns:a="http://schemas.openxmlformats.org/drawingml/2006/main">
            <a:r>
              <a:t>Ask every learner for an individual response. Record one misconception to revisit at the start of the next class. If a deadline changed, announce the exact Kampala date and update the source registry before rebuilding slides.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independent revision and the issued task.</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cc974d2549f4ea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7753e345c55401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e4ccf7b353541c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02197142f8d4f7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8b3d6c44c91442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d8072639dbc477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C1860893-A3DD-4CD7-8E27-739F0C008F39}"/>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BDD52C37-0B09-48D4-A912-1AE50ECCDB38}"/>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415F8BBF-0911-4246-BE94-9C2848F72E7E}"/>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C1DB56E7-6489-41B3-8FDD-A699752CA8A9}"/>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D1ECF7B3-41E0-4F64-819B-268F8B3230BF}"/>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85007786-CBBF-4218-90AA-936D1FF6F57D}"/>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A02E5D6F-B513-4EBC-916C-AA4EDA49CEE7}"/>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F29D7968-A492-4CAB-A974-A63359C47641}"/>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F5AA6017-0483-4DC0-AF36-96A7D4EEC929}"/>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DF599686-BB53-48F2-AC57-EAAE2EFB0345}"/>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CDA50F38-5CA1-438F-A5E5-8AF9F397C30D}"/>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E99399A0-18C8-4446-AB18-4BDB27B0B40F}"/>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879240B6-F29E-42A1-B9E9-14A78E9F1CB7}"/>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917029B7-B5A4-4F0B-90AA-E0AD0FF0483D}"/>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CEEB1956-77D9-492A-95B0-B1A675E6BF75}"/>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5c9134074bb40b5" /><Relationship Type="http://schemas.openxmlformats.org/officeDocument/2006/relationships/slideLayout" Target="/ppt/slideLayouts/slideLayout1.xml" Id="R8ba87e131400467d" /><Relationship Type="http://schemas.openxmlformats.org/officeDocument/2006/relationships/slideLayout" Target="/ppt/slideLayouts/slideLayout2.xml" Id="R50828e4a0ee64f09" /><Relationship Type="http://schemas.openxmlformats.org/officeDocument/2006/relationships/slideLayout" Target="/ppt/slideLayouts/slideLayout3.xml" Id="R1793cddebc924d81" /><Relationship Type="http://schemas.openxmlformats.org/officeDocument/2006/relationships/slideLayout" Target="/ppt/slideLayouts/slideLayout4.xml" Id="R1ace323539f44bd9" /><Relationship Type="http://schemas.openxmlformats.org/officeDocument/2006/relationships/slideLayout" Target="/ppt/slideLayouts/slideLayout5.xml" Id="Rcdd51e500c694b72" /><Relationship Type="http://schemas.openxmlformats.org/officeDocument/2006/relationships/slideLayout" Target="/ppt/slideLayouts/slideLayout6.xml" Id="Rd5119b85e3bd4c5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ba87e131400467d"/>
    <p:sldLayoutId xmlns:r="http://schemas.openxmlformats.org/officeDocument/2006/relationships" id="2147483650" r:id="R50828e4a0ee64f09"/>
    <p:sldLayoutId xmlns:r="http://schemas.openxmlformats.org/officeDocument/2006/relationships" id="2147483651" r:id="R1793cddebc924d81"/>
    <p:sldLayoutId xmlns:r="http://schemas.openxmlformats.org/officeDocument/2006/relationships" id="2147483652" r:id="R1ace323539f44bd9"/>
    <p:sldLayoutId xmlns:r="http://schemas.openxmlformats.org/officeDocument/2006/relationships" id="2147483653" r:id="Rcdd51e500c694b72"/>
    <p:sldLayoutId xmlns:r="http://schemas.openxmlformats.org/officeDocument/2006/relationships" id="2147483654" r:id="Rd5119b85e3bd4c5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03869a834ee54d25" /><Relationship Type="http://schemas.openxmlformats.org/officeDocument/2006/relationships/image" Target="/ppt/media/image.png" Id="R20895459f4d7456b" /><Relationship Type="http://schemas.openxmlformats.org/officeDocument/2006/relationships/notesSlide" Target="/ppt/notesSlides/notesSlide1.xml" Id="R78f344819e1e4e57"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cb8b34c9c1d4a91" /><Relationship Type="http://schemas.openxmlformats.org/officeDocument/2006/relationships/notesSlide" Target="/ppt/notesSlides/notesSlide2.xml" Id="Rd2ad0664c2ec489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0dab9a4669144e68" /><Relationship Type="http://schemas.openxmlformats.org/officeDocument/2006/relationships/notesSlide" Target="/ppt/notesSlides/notesSlide3.xml" Id="R1108e51467df433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787108a50aa4a4a" /><Relationship Type="http://schemas.openxmlformats.org/officeDocument/2006/relationships/notesSlide" Target="/ppt/notesSlides/notesSlide4.xml" Id="R632631d96f2348c7"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40a3a090e3346bb" /><Relationship Type="http://schemas.openxmlformats.org/officeDocument/2006/relationships/notesSlide" Target="/ppt/notesSlides/notesSlide5.xml" Id="R3aa3d05e9a314726"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270b13e2f921410f" /><Relationship Type="http://schemas.openxmlformats.org/officeDocument/2006/relationships/notesSlide" Target="/ppt/notesSlides/notesSlide6.xml" Id="Re0ace723ae784a38"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128e1d0c2104913" /><Relationship Type="http://schemas.openxmlformats.org/officeDocument/2006/relationships/notesSlide" Target="/ppt/notesSlides/notesSlide7.xml" Id="Rfd18681a640f475a"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75154472b1944705" /><Relationship Type="http://schemas.openxmlformats.org/officeDocument/2006/relationships/notesSlide" Target="/ppt/notesSlides/notesSlide8.xml" Id="Rb30714fed06049b0"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1adf6e570a90467a" /><Relationship Type="http://schemas.openxmlformats.org/officeDocument/2006/relationships/notesSlide" Target="/ppt/notesSlides/notesSlide9.xml" Id="R4949993b1dca43c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1ffc0df60a124530" /><Relationship Type="http://schemas.openxmlformats.org/officeDocument/2006/relationships/notesSlide" Target="/ppt/notesSlides/notesSlide10.xml" Id="R06c92031f4bb435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bbbed603fadf44f8" /><Relationship Type="http://schemas.openxmlformats.org/officeDocument/2006/relationships/notesSlide" Target="/ppt/notesSlides/notesSlide11.xml" Id="R124b9f0b0a9744b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956eebf5764c4735" /><Relationship Type="http://schemas.openxmlformats.org/officeDocument/2006/relationships/notesSlide" Target="/ppt/notesSlides/notesSlide12.xml" Id="R383edf54ed6940a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fc4d9d8455ff44ca" /><Relationship Type="http://schemas.openxmlformats.org/officeDocument/2006/relationships/notesSlide" Target="/ppt/notesSlides/notesSlide13.xml" Id="R3c70d238b3d04b9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5d167b9fe92a4bfb" /><Relationship Type="http://schemas.openxmlformats.org/officeDocument/2006/relationships/notesSlide" Target="/ppt/notesSlides/notesSlide14.xml" Id="Re3f839973e9842d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0944e2f40c3049fa" /><Relationship Type="http://schemas.openxmlformats.org/officeDocument/2006/relationships/notesSlide" Target="/ppt/notesSlides/notesSlide15.xml" Id="Ra253a97563d3497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02cdf49bbac343fc" /><Relationship Type="http://schemas.openxmlformats.org/officeDocument/2006/relationships/notesSlide" Target="/ppt/notesSlides/notesSlide16.xml" Id="R21867ce563074c1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69b6edc36cb04bb8" /><Relationship Type="http://schemas.openxmlformats.org/officeDocument/2006/relationships/notesSlide" Target="/ppt/notesSlides/notesSlide17.xml" Id="Rfbe7ae8b57fc4bc7"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8d3bd61642bf4aa0" /><Relationship Type="http://schemas.openxmlformats.org/officeDocument/2006/relationships/hyperlink" Target="https://docs.google.com/forms/d/e/1FAIpQLSeV2_XlDSjUCyjJG-aQjFSQny-ndfkYaOYtExv9CdA_HUbDlQ/viewform" TargetMode="External" Id="R34e35ca96cd84eb0" /><Relationship Type="http://schemas.openxmlformats.org/officeDocument/2006/relationships/notesSlide" Target="/ppt/notesSlides/notesSlide18.xml" Id="R9400ce1cefea48a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eaedc1f25a354fdf" /><Relationship Type="http://schemas.openxmlformats.org/officeDocument/2006/relationships/notesSlide" Target="/ppt/notesSlides/notesSlide19.xml" Id="Ra46a60c5a6d74485"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98cae3e217ef45a1" /><Relationship Type="http://schemas.openxmlformats.org/officeDocument/2006/relationships/notesSlide" Target="/ppt/notesSlides/notesSlide20.xml" Id="R792c7a53ed204d0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5fee7908be524b46" /><Relationship Type="http://schemas.openxmlformats.org/officeDocument/2006/relationships/notesSlide" Target="/ppt/notesSlides/notesSlide21.xml" Id="R4a7d729c457b4c2e"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ce2ef7b13af84f60" /><Relationship Type="http://schemas.openxmlformats.org/officeDocument/2006/relationships/notesSlide" Target="/ppt/notesSlides/notesSlide22.xml" Id="Rfbe71217b3e8426f"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ded207f21fdc4dcf" /><Relationship Type="http://schemas.openxmlformats.org/officeDocument/2006/relationships/hyperlink" Target="https://docs.google.com/forms/d/e/1FAIpQLScnSPyvzCLfoHhIBusvFTIpqC-zAsk2bCLMqu6kJCh5cGI9gQ/viewform" TargetMode="External" Id="Rff39418f259844e2" /><Relationship Type="http://schemas.openxmlformats.org/officeDocument/2006/relationships/notesSlide" Target="/ppt/notesSlides/notesSlide23.xml" Id="Ra06a3c4f664c416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23399993d27d4377" /><Relationship Type="http://schemas.openxmlformats.org/officeDocument/2006/relationships/notesSlide" Target="/ppt/notesSlides/notesSlide24.xml" Id="Rd44e807687604cd8"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20895459f4d7456b"/>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A387935-33B4-4815-BDB7-06D0AA56EA20}"/>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96868202-A6C1-436F-A918-E29D3A3F5D8C}"/>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15</a:t>
            </a:r>
          </a:p>
        </p:txBody>
      </p:sp>
      <p:sp>
        <p:nvSpPr>
          <p:cNvPr id="4" name="">
            <a:extLst xmlns:a="http://schemas.openxmlformats.org/drawingml/2006/main">
              <a:ext uri="{FF2B5EF4-FFF2-40B4-BE49-F238E27FC236}">
                <a16:creationId xmlns:a16="http://schemas.microsoft.com/office/drawing/2014/main" id="{3AE97C89-DE26-4EE0-8C5D-71057E962E26}"/>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Presenting the project and individual contribution</a:t>
            </a:r>
          </a:p>
        </p:txBody>
      </p:sp>
      <p:sp>
        <p:nvSpPr>
          <p:cNvPr id="5" name="">
            <a:extLst xmlns:a="http://schemas.openxmlformats.org/drawingml/2006/main">
              <a:ext uri="{FF2B5EF4-FFF2-40B4-BE49-F238E27FC236}">
                <a16:creationId xmlns:a16="http://schemas.microsoft.com/office/drawing/2014/main" id="{16CEA63D-6AAF-4C71-A5D1-65A04A56BBBE}"/>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3D90E7C9-5DF4-4224-91A0-ABA146C68904}"/>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18 December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205834574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6FDD224-6360-4F7F-9FF0-F70B07D3094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749A727-8391-44F7-9EFA-35C54543EA6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C0492499-55CA-4142-8D27-33F8BE99D66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BFA96228-7C71-4F2B-BEC4-0A8A4551414A}"/>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A12C259-2DAA-47CE-8878-71AB946E33B2}"/>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D8B878B7-F808-4909-B06B-7B8112EB31D3}"/>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your question and one supported finding.</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a limitation and your individual contribution.</a:t>
            </a:r>
          </a:p>
        </p:txBody>
      </p:sp>
      <p:sp>
        <p:nvSpPr>
          <p:cNvPr id="7" name="">
            <a:extLst xmlns:a="http://schemas.openxmlformats.org/drawingml/2006/main">
              <a:ext uri="{FF2B5EF4-FFF2-40B4-BE49-F238E27FC236}">
                <a16:creationId xmlns:a16="http://schemas.microsoft.com/office/drawing/2014/main" id="{F56DE7CF-EF06-4044-8C6A-D8E0C15EA549}"/>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464CECED-3A08-470E-9FD3-1D7F5D465F94}"/>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point to the evidence behind one decision you personally worked on.</a:t>
            </a:r>
          </a:p>
        </p:txBody>
      </p:sp>
      <p:sp>
        <p:nvSpPr>
          <p:cNvPr id="9" name="">
            <a:extLst xmlns:a="http://schemas.openxmlformats.org/drawingml/2006/main">
              <a:ext uri="{FF2B5EF4-FFF2-40B4-BE49-F238E27FC236}">
                <a16:creationId xmlns:a16="http://schemas.microsoft.com/office/drawing/2014/main" id="{FDAB15A0-DDC2-48C6-A6E7-47A9C375904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2</a:t>
            </a:r>
          </a:p>
        </p:txBody>
      </p:sp>
    </p:spTree>
    <p:extLst>
      <p:ext uri="{BB962C8B-B14F-4D97-AF65-F5344CB8AC3E}">
        <p14:creationId xmlns:p14="http://schemas.microsoft.com/office/powerpoint/2010/main" val="14241760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089237D-C2CE-45F9-9229-FC64F796557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8C1294A-7116-40AC-ACE9-36C4D27C316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06DF9EC-09C6-4DAB-B6CE-ADD005E12D4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410D2E3C-EEF1-47BE-B9DA-84CED4EF7B8E}"/>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0661C8F-3E36-480E-867A-FBD24378912E}"/>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What question did your team investigate, and what result can you support with evidence?</a:t>
            </a:r>
          </a:p>
        </p:txBody>
      </p:sp>
      <p:sp>
        <p:nvSpPr>
          <p:cNvPr id="6" name="">
            <a:extLst xmlns:a="http://schemas.openxmlformats.org/drawingml/2006/main">
              <a:ext uri="{FF2B5EF4-FFF2-40B4-BE49-F238E27FC236}">
                <a16:creationId xmlns:a16="http://schemas.microsoft.com/office/drawing/2014/main" id="{8064283F-BEAC-4506-BF66-1E2393E60B1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3</a:t>
            </a:r>
          </a:p>
        </p:txBody>
      </p:sp>
    </p:spTree>
    <p:extLst>
      <p:ext uri="{BB962C8B-B14F-4D97-AF65-F5344CB8AC3E}">
        <p14:creationId xmlns:p14="http://schemas.microsoft.com/office/powerpoint/2010/main" val="165585129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1063F95-9A9B-4360-9F7D-A557B8DA93C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3303A74-9211-4A97-841A-81EC9AA6CBA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9E23C78C-385D-4CD4-9FAA-FEF7BF2B2C2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presentation connects a claim to evidence</a:t>
            </a:r>
          </a:p>
        </p:txBody>
      </p:sp>
      <p:sp>
        <p:nvSpPr>
          <p:cNvPr id="4" name="">
            <a:extLst xmlns:a="http://schemas.openxmlformats.org/drawingml/2006/main">
              <a:ext uri="{FF2B5EF4-FFF2-40B4-BE49-F238E27FC236}">
                <a16:creationId xmlns:a16="http://schemas.microsoft.com/office/drawing/2014/main" id="{71E800FB-E54A-440F-9B27-B3B419B9EF9B}"/>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9461B52-81E4-4743-AAAA-A932B7A977AE}"/>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Finding and limitation</a:t>
            </a:r>
          </a:p>
        </p:txBody>
      </p:sp>
      <p:sp>
        <p:nvSpPr>
          <p:cNvPr id="6" name="">
            <a:extLst xmlns:a="http://schemas.openxmlformats.org/drawingml/2006/main">
              <a:ext uri="{FF2B5EF4-FFF2-40B4-BE49-F238E27FC236}">
                <a16:creationId xmlns:a16="http://schemas.microsoft.com/office/drawing/2014/main" id="{3801EF1C-58A1-4A57-B1E0-FF25AF75698C}"/>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finding states what the evidence shows. A limitation states where that evidence is incomplete or may not apply. Point to the relevant chart, metric or record.</a:t>
            </a:r>
          </a:p>
        </p:txBody>
      </p:sp>
      <p:sp>
        <p:nvSpPr>
          <p:cNvPr id="7" name="">
            <a:extLst xmlns:a="http://schemas.openxmlformats.org/drawingml/2006/main">
              <a:ext uri="{FF2B5EF4-FFF2-40B4-BE49-F238E27FC236}">
                <a16:creationId xmlns:a16="http://schemas.microsoft.com/office/drawing/2014/main" id="{0B63569C-FD56-4A1A-8EDD-00DFE2A6FA64}"/>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75592EA-6ED3-47ED-B39B-580B167D19D4}"/>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Defence and reflection</a:t>
            </a:r>
          </a:p>
        </p:txBody>
      </p:sp>
      <p:sp>
        <p:nvSpPr>
          <p:cNvPr id="9" name="">
            <a:extLst xmlns:a="http://schemas.openxmlformats.org/drawingml/2006/main">
              <a:ext uri="{FF2B5EF4-FFF2-40B4-BE49-F238E27FC236}">
                <a16:creationId xmlns:a16="http://schemas.microsoft.com/office/drawing/2014/main" id="{877E6EAD-1FF6-4CAD-834C-494A40C32F0C}"/>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defence explains why you made a choice. A reflection explains what you learned and would improve. Describe your own contribution with specific evidence.</a:t>
            </a:r>
          </a:p>
        </p:txBody>
      </p:sp>
      <p:sp>
        <p:nvSpPr>
          <p:cNvPr id="10" name="">
            <a:extLst xmlns:a="http://schemas.openxmlformats.org/drawingml/2006/main">
              <a:ext uri="{FF2B5EF4-FFF2-40B4-BE49-F238E27FC236}">
                <a16:creationId xmlns:a16="http://schemas.microsoft.com/office/drawing/2014/main" id="{23A4F98B-AE9F-4F6D-AD74-4F0001D2D43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4</a:t>
            </a:r>
          </a:p>
        </p:txBody>
      </p:sp>
    </p:spTree>
    <p:extLst>
      <p:ext uri="{BB962C8B-B14F-4D97-AF65-F5344CB8AC3E}">
        <p14:creationId xmlns:p14="http://schemas.microsoft.com/office/powerpoint/2010/main" val="115866710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7A5891D-15D8-4821-9B3E-1EC3C078B48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AEBD7D2-9B2F-4897-AECF-2C8C8BE6A4E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F72A12F-BBB6-4514-A328-9FB03C7F030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six-minute presentation</a:t>
            </a:r>
          </a:p>
        </p:txBody>
      </p:sp>
      <p:sp>
        <p:nvSpPr>
          <p:cNvPr id="4" name="">
            <a:extLst xmlns:a="http://schemas.openxmlformats.org/drawingml/2006/main">
              <a:ext uri="{FF2B5EF4-FFF2-40B4-BE49-F238E27FC236}">
                <a16:creationId xmlns:a16="http://schemas.microsoft.com/office/drawing/2014/main" id="{387303EB-0364-4031-B663-26BF773987D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0517811-1354-43FC-A387-33BF5DC2A5F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Minutes 1–2: explain the question and data.</a:t>
            </a:r>
          </a:p>
        </p:txBody>
      </p:sp>
      <p:sp>
        <p:nvSpPr>
          <p:cNvPr id="6" name="">
            <a:extLst xmlns:a="http://schemas.openxmlformats.org/drawingml/2006/main">
              <a:ext uri="{FF2B5EF4-FFF2-40B4-BE49-F238E27FC236}">
                <a16:creationId xmlns:a16="http://schemas.microsoft.com/office/drawing/2014/main" id="{370A202E-37CB-4E64-A6CD-24680FC7E0D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F1E4B5B-DBDA-4E9D-9154-252096C805A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Minutes 3–4: show the method and one supported result.</a:t>
            </a:r>
          </a:p>
        </p:txBody>
      </p:sp>
      <p:sp>
        <p:nvSpPr>
          <p:cNvPr id="8" name="">
            <a:extLst xmlns:a="http://schemas.openxmlformats.org/drawingml/2006/main">
              <a:ext uri="{FF2B5EF4-FFF2-40B4-BE49-F238E27FC236}">
                <a16:creationId xmlns:a16="http://schemas.microsoft.com/office/drawing/2014/main" id="{7DCAD4F0-9FD8-4FF5-A2EB-97F17347444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B908E90-41FE-44BD-912B-9C946FAFA3D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Minutes 5–6: explain limitations, contributions and a next step.</a:t>
            </a:r>
          </a:p>
        </p:txBody>
      </p:sp>
      <p:sp>
        <p:nvSpPr>
          <p:cNvPr id="10" name="">
            <a:extLst xmlns:a="http://schemas.openxmlformats.org/drawingml/2006/main">
              <a:ext uri="{FF2B5EF4-FFF2-40B4-BE49-F238E27FC236}">
                <a16:creationId xmlns:a16="http://schemas.microsoft.com/office/drawing/2014/main" id="{02F832C7-7A19-4435-8329-283AE2A25BF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5</a:t>
            </a:r>
          </a:p>
        </p:txBody>
      </p:sp>
    </p:spTree>
    <p:extLst>
      <p:ext uri="{BB962C8B-B14F-4D97-AF65-F5344CB8AC3E}">
        <p14:creationId xmlns:p14="http://schemas.microsoft.com/office/powerpoint/2010/main" val="190177194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0C4B63A-995E-497F-8ACA-F5B42974E35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09C8D2A-99CE-495E-93C0-80427AB7BA6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7C80FFA-465A-4688-924F-0EFE563BE6A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Make the evidence readable</a:t>
            </a:r>
          </a:p>
        </p:txBody>
      </p:sp>
      <p:sp>
        <p:nvSpPr>
          <p:cNvPr id="4" name="">
            <a:extLst xmlns:a="http://schemas.openxmlformats.org/drawingml/2006/main">
              <a:ext uri="{FF2B5EF4-FFF2-40B4-BE49-F238E27FC236}">
                <a16:creationId xmlns:a16="http://schemas.microsoft.com/office/drawing/2014/main" id="{1E7F8206-6306-40BD-BB1C-B6A49128E2D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F3B86BF-28C4-4749-B402-B6F680A56AFF}"/>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Name the chart axes and their units.</a:t>
            </a:r>
          </a:p>
        </p:txBody>
      </p:sp>
      <p:sp>
        <p:nvSpPr>
          <p:cNvPr id="6" name="">
            <a:extLst xmlns:a="http://schemas.openxmlformats.org/drawingml/2006/main">
              <a:ext uri="{FF2B5EF4-FFF2-40B4-BE49-F238E27FC236}">
                <a16:creationId xmlns:a16="http://schemas.microsoft.com/office/drawing/2014/main" id="{2E128264-125A-4BE2-8ABA-B34AEB693C06}"/>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E3404B6-5B6E-4F5F-8A25-D8BF9561E5DF}"/>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the measured evaluation result and how you obtained it.</a:t>
            </a:r>
          </a:p>
        </p:txBody>
      </p:sp>
      <p:sp>
        <p:nvSpPr>
          <p:cNvPr id="8" name="">
            <a:extLst xmlns:a="http://schemas.openxmlformats.org/drawingml/2006/main">
              <a:ext uri="{FF2B5EF4-FFF2-40B4-BE49-F238E27FC236}">
                <a16:creationId xmlns:a16="http://schemas.microsoft.com/office/drawing/2014/main" id="{A6FE07E7-1857-4227-9A98-164E87BD7FA7}"/>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6C14F14-BE68-4EEF-9E92-3BDA5507C0EE}"/>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Point to the particular table, plot or calculation that supports your claim.</a:t>
            </a:r>
          </a:p>
        </p:txBody>
      </p:sp>
      <p:sp>
        <p:nvSpPr>
          <p:cNvPr id="10" name="">
            <a:extLst xmlns:a="http://schemas.openxmlformats.org/drawingml/2006/main">
              <a:ext uri="{FF2B5EF4-FFF2-40B4-BE49-F238E27FC236}">
                <a16:creationId xmlns:a16="http://schemas.microsoft.com/office/drawing/2014/main" id="{27A56714-A56F-4689-AAD3-4D4CEDF6B84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6</a:t>
            </a:r>
          </a:p>
        </p:txBody>
      </p:sp>
    </p:spTree>
    <p:extLst>
      <p:ext uri="{BB962C8B-B14F-4D97-AF65-F5344CB8AC3E}">
        <p14:creationId xmlns:p14="http://schemas.microsoft.com/office/powerpoint/2010/main" val="171302083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8DCD086-D9A4-4E73-873E-8796B5363A8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F252BF-929A-4F54-B1CA-02689F70F78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A0269DD-4E85-4F4E-929E-1FE1D642E45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Explain the limits honestly</a:t>
            </a:r>
          </a:p>
        </p:txBody>
      </p:sp>
      <p:sp>
        <p:nvSpPr>
          <p:cNvPr id="4" name="">
            <a:extLst xmlns:a="http://schemas.openxmlformats.org/drawingml/2006/main">
              <a:ext uri="{FF2B5EF4-FFF2-40B4-BE49-F238E27FC236}">
                <a16:creationId xmlns:a16="http://schemas.microsoft.com/office/drawing/2014/main" id="{7D8C215A-F312-493B-BF06-1A466D5E6B1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CDA240B-B8CD-458B-A7EE-C06E1B7BDA8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what your investigation can support.</a:t>
            </a:r>
          </a:p>
        </p:txBody>
      </p:sp>
      <p:sp>
        <p:nvSpPr>
          <p:cNvPr id="6" name="">
            <a:extLst xmlns:a="http://schemas.openxmlformats.org/drawingml/2006/main">
              <a:ext uri="{FF2B5EF4-FFF2-40B4-BE49-F238E27FC236}">
                <a16:creationId xmlns:a16="http://schemas.microsoft.com/office/drawing/2014/main" id="{0E4D4442-CFA7-4036-9F79-84376E5621C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C76A61A-7437-421C-BD05-699F82DF353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an answer is unknown, say what evidence would resolve it.</a:t>
            </a:r>
          </a:p>
        </p:txBody>
      </p:sp>
      <p:sp>
        <p:nvSpPr>
          <p:cNvPr id="8" name="">
            <a:extLst xmlns:a="http://schemas.openxmlformats.org/drawingml/2006/main">
              <a:ext uri="{FF2B5EF4-FFF2-40B4-BE49-F238E27FC236}">
                <a16:creationId xmlns:a16="http://schemas.microsoft.com/office/drawing/2014/main" id="{F71A8531-8221-4E50-B8A0-DA9C6FE85F2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B78A1D5-7949-459B-9987-EAB10FB888D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Teaching data alone do not establish readiness for real operation.</a:t>
            </a:r>
          </a:p>
        </p:txBody>
      </p:sp>
      <p:sp>
        <p:nvSpPr>
          <p:cNvPr id="10" name="">
            <a:extLst xmlns:a="http://schemas.openxmlformats.org/drawingml/2006/main">
              <a:ext uri="{FF2B5EF4-FFF2-40B4-BE49-F238E27FC236}">
                <a16:creationId xmlns:a16="http://schemas.microsoft.com/office/drawing/2014/main" id="{A174F7BD-2523-4530-90B6-DC78488ED1D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7</a:t>
            </a:r>
          </a:p>
        </p:txBody>
      </p:sp>
    </p:spTree>
    <p:extLst>
      <p:ext uri="{BB962C8B-B14F-4D97-AF65-F5344CB8AC3E}">
        <p14:creationId xmlns:p14="http://schemas.microsoft.com/office/powerpoint/2010/main" val="32890266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E4EE144-8DB1-441E-89DB-93B6C35D50A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AD330BA-C8BE-4EB7-9DCC-51B97B6C73F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427B537-D59D-445F-A736-496D0ECB5E8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Preparation checkpoint</a:t>
            </a:r>
          </a:p>
        </p:txBody>
      </p:sp>
      <p:sp>
        <p:nvSpPr>
          <p:cNvPr id="4" name="">
            <a:extLst xmlns:a="http://schemas.openxmlformats.org/drawingml/2006/main">
              <a:ext uri="{FF2B5EF4-FFF2-40B4-BE49-F238E27FC236}">
                <a16:creationId xmlns:a16="http://schemas.microsoft.com/office/drawing/2014/main" id="{2944B7FC-EEB0-40A6-9A3A-18C0FD91F587}"/>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BBC4557-0C3F-44B9-BE0A-D0400BB1CB0A}"/>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Each student can explain one decision they personally worked on and point to its evidence.</a:t>
            </a:r>
          </a:p>
        </p:txBody>
      </p:sp>
      <p:sp>
        <p:nvSpPr>
          <p:cNvPr id="6" name="">
            <a:extLst xmlns:a="http://schemas.openxmlformats.org/drawingml/2006/main">
              <a:ext uri="{FF2B5EF4-FFF2-40B4-BE49-F238E27FC236}">
                <a16:creationId xmlns:a16="http://schemas.microsoft.com/office/drawing/2014/main" id="{A4378FD3-974C-4DBB-9CCB-ABD88A0F34A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8</a:t>
            </a:r>
          </a:p>
        </p:txBody>
      </p:sp>
    </p:spTree>
    <p:extLst>
      <p:ext uri="{BB962C8B-B14F-4D97-AF65-F5344CB8AC3E}">
        <p14:creationId xmlns:p14="http://schemas.microsoft.com/office/powerpoint/2010/main" val="33568377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D58CF0D-ECCE-44ED-9F4A-6E9C147CB9A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F4E39CC-AB87-45A8-BFB8-71A973A9215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88134CB-F4F4-40BE-8E30-ADC006D7310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evidence</a:t>
            </a:r>
          </a:p>
        </p:txBody>
      </p:sp>
      <p:sp>
        <p:nvSpPr>
          <p:cNvPr id="4" name="">
            <a:extLst xmlns:a="http://schemas.openxmlformats.org/drawingml/2006/main">
              <a:ext uri="{FF2B5EF4-FFF2-40B4-BE49-F238E27FC236}">
                <a16:creationId xmlns:a16="http://schemas.microsoft.com/office/drawing/2014/main" id="{FDCC07D5-6975-4921-8E43-20127FF8B4B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FE3C091-8B8D-4CA3-A696-70A15D1295F0}"/>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project and DEMO requirements.</a:t>
            </a:r>
          </a:p>
        </p:txBody>
      </p:sp>
      <p:sp>
        <p:nvSpPr>
          <p:cNvPr id="6" name="">
            <a:extLst xmlns:a="http://schemas.openxmlformats.org/drawingml/2006/main">
              <a:ext uri="{FF2B5EF4-FFF2-40B4-BE49-F238E27FC236}">
                <a16:creationId xmlns:a16="http://schemas.microsoft.com/office/drawing/2014/main" id="{913EC00E-1418-4965-9154-A9505FE9B63B}"/>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6EB2D06-570B-45FF-ADD1-71973FDD9C57}"/>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individual submits their own typed defence and reflection through the designated route.</a:t>
            </a:r>
          </a:p>
        </p:txBody>
      </p:sp>
      <p:sp>
        <p:nvSpPr>
          <p:cNvPr id="8" name="">
            <a:extLst xmlns:a="http://schemas.openxmlformats.org/drawingml/2006/main">
              <a:ext uri="{FF2B5EF4-FFF2-40B4-BE49-F238E27FC236}">
                <a16:creationId xmlns:a16="http://schemas.microsoft.com/office/drawing/2014/main" id="{851A4702-AA36-42A0-AEFC-0DDE54468A32}"/>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C4F3198-B027-4FC3-B3D6-35767F4CE74B}"/>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your own written defence and reflection as instructed.</a:t>
            </a:r>
          </a:p>
        </p:txBody>
      </p:sp>
      <p:sp>
        <p:nvSpPr>
          <p:cNvPr id="10" name="">
            <a:extLst xmlns:a="http://schemas.openxmlformats.org/drawingml/2006/main">
              <a:ext uri="{FF2B5EF4-FFF2-40B4-BE49-F238E27FC236}">
                <a16:creationId xmlns:a16="http://schemas.microsoft.com/office/drawing/2014/main" id="{B167858E-C7BD-476A-A754-7D74CE0ED19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9</a:t>
            </a:r>
          </a:p>
        </p:txBody>
      </p:sp>
    </p:spTree>
    <p:extLst>
      <p:ext uri="{BB962C8B-B14F-4D97-AF65-F5344CB8AC3E}">
        <p14:creationId xmlns:p14="http://schemas.microsoft.com/office/powerpoint/2010/main" val="209747224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381E355-E127-4C04-B720-FC357EC034C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07D98FD-F339-42C6-873C-FCCA6C593E0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E3433D1-24BE-4E59-8FEE-9AD0D605C7B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a:t>
            </a:r>
          </a:p>
        </p:txBody>
      </p:sp>
      <p:sp>
        <p:nvSpPr>
          <p:cNvPr id="4" name="">
            <a:extLst xmlns:a="http://schemas.openxmlformats.org/drawingml/2006/main">
              <a:ext uri="{FF2B5EF4-FFF2-40B4-BE49-F238E27FC236}">
                <a16:creationId xmlns:a16="http://schemas.microsoft.com/office/drawing/2014/main" id="{7AB17AC0-0886-4E73-A17C-EE1D17902B1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11F80AD-BEDB-4591-8F56-742EE471BAB3}"/>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your own explanation in the markdown cell headed `## My written evidence`.</a:t>
            </a:r>
          </a:p>
        </p:txBody>
      </p:sp>
      <p:sp>
        <p:nvSpPr>
          <p:cNvPr id="6" name="">
            <a:extLst xmlns:a="http://schemas.openxmlformats.org/drawingml/2006/main">
              <a:ext uri="{FF2B5EF4-FFF2-40B4-BE49-F238E27FC236}">
                <a16:creationId xmlns:a16="http://schemas.microsoft.com/office/drawing/2014/main" id="{38BDB111-D09C-49C9-AEE1-D66DE7D92E69}"/>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0090FA8-91B0-43BE-8194-F1173036ED72}"/>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that heading.</a:t>
            </a:r>
          </a:p>
        </p:txBody>
      </p:sp>
      <p:sp>
        <p:nvSpPr>
          <p:cNvPr id="8" name="">
            <a:extLst xmlns:a="http://schemas.openxmlformats.org/drawingml/2006/main">
              <a:ext uri="{FF2B5EF4-FFF2-40B4-BE49-F238E27FC236}">
                <a16:creationId xmlns:a16="http://schemas.microsoft.com/office/drawing/2014/main" id="{9017D880-3F28-478E-9B54-CCA4E43CC9C6}"/>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0ADC8EA-F61E-4CFA-8095-5F4F46CDC80C}"/>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Task prompts and code comments are excluded from reasoning marks.</a:t>
            </a:r>
          </a:p>
        </p:txBody>
      </p:sp>
      <p:sp>
        <p:nvSpPr>
          <p:cNvPr id="10" name="">
            <a:extLst xmlns:a="http://schemas.openxmlformats.org/drawingml/2006/main">
              <a:ext uri="{FF2B5EF4-FFF2-40B4-BE49-F238E27FC236}">
                <a16:creationId xmlns:a16="http://schemas.microsoft.com/office/drawing/2014/main" id="{9A791DC0-C84A-4AB0-9DE0-64352322AE2D}"/>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68C2938-C084-4326-BE0A-8DEFDEC5C700}"/>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every original rubric criterion below, not just the checked functions.</a:t>
            </a:r>
          </a:p>
        </p:txBody>
      </p:sp>
      <p:sp>
        <p:nvSpPr>
          <p:cNvPr id="12" name="">
            <a:extLst xmlns:a="http://schemas.openxmlformats.org/drawingml/2006/main">
              <a:ext uri="{FF2B5EF4-FFF2-40B4-BE49-F238E27FC236}">
                <a16:creationId xmlns:a16="http://schemas.microsoft.com/office/drawing/2014/main" id="{DC95F40C-68AF-40DA-9944-B11C765CF48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10</a:t>
            </a:r>
          </a:p>
        </p:txBody>
      </p:sp>
    </p:spTree>
    <p:extLst>
      <p:ext uri="{BB962C8B-B14F-4D97-AF65-F5344CB8AC3E}">
        <p14:creationId xmlns:p14="http://schemas.microsoft.com/office/powerpoint/2010/main" val="210630352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40E7CFF-C921-4BF6-96E1-24431D1785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7B9C3AB-B3D2-4BB1-907D-E3F4F94C818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142BA9F-AAC5-45E1-951B-EC098007215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8AD7BB70-873A-4518-8859-60B867C1721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75D763C-A130-4C7D-9B51-EEE60A46EC9F}"/>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profiling, justified cleaning, question-led charts and your engineering recommendation where required.</a:t>
            </a:r>
          </a:p>
        </p:txBody>
      </p:sp>
      <p:sp>
        <p:nvSpPr>
          <p:cNvPr id="6" name="">
            <a:extLst xmlns:a="http://schemas.openxmlformats.org/drawingml/2006/main">
              <a:ext uri="{FF2B5EF4-FFF2-40B4-BE49-F238E27FC236}">
                <a16:creationId xmlns:a16="http://schemas.microsoft.com/office/drawing/2014/main" id="{3F5C7F4E-8136-4078-AE89-0F7808FBE190}"/>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22425CF-523E-4B94-9A7E-21B0DA4E3F65}"/>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a:t>
            </a:r>
          </a:p>
        </p:txBody>
      </p:sp>
      <p:sp>
        <p:nvSpPr>
          <p:cNvPr id="8" name="">
            <a:extLst xmlns:a="http://schemas.openxmlformats.org/drawingml/2006/main">
              <a:ext uri="{FF2B5EF4-FFF2-40B4-BE49-F238E27FC236}">
                <a16:creationId xmlns:a16="http://schemas.microsoft.com/office/drawing/2014/main" id="{1099ED30-407E-4370-92BE-FA08BBFDA2E1}"/>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C994304-D897-4AA3-85BC-12260B8E4BDA}"/>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units and distinguish correlation from causation.</a:t>
            </a:r>
          </a:p>
        </p:txBody>
      </p:sp>
      <p:sp>
        <p:nvSpPr>
          <p:cNvPr id="10" name="">
            <a:extLst xmlns:a="http://schemas.openxmlformats.org/drawingml/2006/main">
              <a:ext uri="{FF2B5EF4-FFF2-40B4-BE49-F238E27FC236}">
                <a16:creationId xmlns:a16="http://schemas.microsoft.com/office/drawing/2014/main" id="{563BA834-C9B3-4160-AC52-B24AD1CC8EBF}"/>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F6BC937-2414-4E2E-9412-B3CD59906E82}"/>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Charts must be actual labelled figures in the notebook, not claims that charts exist.</a:t>
            </a:r>
          </a:p>
        </p:txBody>
      </p:sp>
      <p:sp>
        <p:nvSpPr>
          <p:cNvPr id="12" name="">
            <a:extLst xmlns:a="http://schemas.openxmlformats.org/drawingml/2006/main">
              <a:ext uri="{FF2B5EF4-FFF2-40B4-BE49-F238E27FC236}">
                <a16:creationId xmlns:a16="http://schemas.microsoft.com/office/drawing/2014/main" id="{C5EB1ED6-D855-4C28-9D7B-DA61C755EB5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11</a:t>
            </a:r>
          </a:p>
        </p:txBody>
      </p:sp>
    </p:spTree>
    <p:extLst>
      <p:ext uri="{BB962C8B-B14F-4D97-AF65-F5344CB8AC3E}">
        <p14:creationId xmlns:p14="http://schemas.microsoft.com/office/powerpoint/2010/main" val="65410055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0A052AE-CE6A-49EA-ACA5-3BF23AE549B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CD6F96F-20C9-44BC-AF75-6D1B41E361B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F5EF712-FB56-4838-A77C-76521012025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AD707E6D-B0C7-4D59-AFE0-B5903A613A0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8BE408D-5779-400D-9F10-636E7CBF4672}"/>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captions and a separate readable DOCX/PDF report.</a:t>
            </a:r>
          </a:p>
        </p:txBody>
      </p:sp>
      <p:sp>
        <p:nvSpPr>
          <p:cNvPr id="6" name="">
            <a:extLst xmlns:a="http://schemas.openxmlformats.org/drawingml/2006/main">
              <a:ext uri="{FF2B5EF4-FFF2-40B4-BE49-F238E27FC236}">
                <a16:creationId xmlns:a16="http://schemas.microsoft.com/office/drawing/2014/main" id="{5E1654E1-F648-46FE-8FFC-B7EEA142CBC3}"/>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9BF928B-C6A2-49E8-AF8D-9B1028C21312}"/>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Problem definition (15.0 total): The engineering problem is real, specific and bounded.</a:t>
            </a:r>
          </a:p>
        </p:txBody>
      </p:sp>
      <p:sp>
        <p:nvSpPr>
          <p:cNvPr id="8" name="">
            <a:extLst xmlns:a="http://schemas.openxmlformats.org/drawingml/2006/main">
              <a:ext uri="{FF2B5EF4-FFF2-40B4-BE49-F238E27FC236}">
                <a16:creationId xmlns:a16="http://schemas.microsoft.com/office/drawing/2014/main" id="{04835818-D6EC-4AB0-8429-9E2E88F52AEF}"/>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4A4EECA-1A96-4C9B-ADF7-369067DA690A}"/>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ML task is correctly derived from it.</a:t>
            </a:r>
          </a:p>
        </p:txBody>
      </p:sp>
      <p:sp>
        <p:nvSpPr>
          <p:cNvPr id="10" name="">
            <a:extLst xmlns:a="http://schemas.openxmlformats.org/drawingml/2006/main">
              <a:ext uri="{FF2B5EF4-FFF2-40B4-BE49-F238E27FC236}">
                <a16:creationId xmlns:a16="http://schemas.microsoft.com/office/drawing/2014/main" id="{B684DAE6-FD86-478D-9B32-EB6C634543BD}"/>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A72BCDE-7EA8-4E35-844D-C945FF6F431D}"/>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target variable is justified, not merely available.</a:t>
            </a:r>
          </a:p>
        </p:txBody>
      </p:sp>
      <p:sp>
        <p:nvSpPr>
          <p:cNvPr id="12" name="">
            <a:extLst xmlns:a="http://schemas.openxmlformats.org/drawingml/2006/main">
              <a:ext uri="{FF2B5EF4-FFF2-40B4-BE49-F238E27FC236}">
                <a16:creationId xmlns:a16="http://schemas.microsoft.com/office/drawing/2014/main" id="{32432225-2D34-4F2D-AD43-61157F4F8E6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12</a:t>
            </a:r>
          </a:p>
        </p:txBody>
      </p:sp>
    </p:spTree>
    <p:extLst>
      <p:ext uri="{BB962C8B-B14F-4D97-AF65-F5344CB8AC3E}">
        <p14:creationId xmlns:p14="http://schemas.microsoft.com/office/powerpoint/2010/main" val="1837658477"/>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65F6398-60E7-4273-96AE-04449F362B5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C7A37F5-EFD4-4CFA-9985-D0AD9D67095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98592FF-FCFB-4A2D-9BA5-55BE601CED7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6EE6F729-AF81-4B2D-A31C-455BEC4BD2F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59DC940-7C34-4E1A-A746-1C5952B65CE0}"/>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Data understanding (15.0 total): Provenance, licence and collection method stated.</a:t>
            </a:r>
          </a:p>
        </p:txBody>
      </p:sp>
      <p:sp>
        <p:nvSpPr>
          <p:cNvPr id="6" name="">
            <a:extLst xmlns:a="http://schemas.openxmlformats.org/drawingml/2006/main">
              <a:ext uri="{FF2B5EF4-FFF2-40B4-BE49-F238E27FC236}">
                <a16:creationId xmlns:a16="http://schemas.microsoft.com/office/drawing/2014/main" id="{829E6D3B-DD31-4E22-BC08-FDA93B01613D}"/>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9D22FD8-68AA-4917-BC91-21EA396AAF82}"/>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Defects found and handled with justification.</a:t>
            </a:r>
          </a:p>
        </p:txBody>
      </p:sp>
      <p:sp>
        <p:nvSpPr>
          <p:cNvPr id="8" name="">
            <a:extLst xmlns:a="http://schemas.openxmlformats.org/drawingml/2006/main">
              <a:ext uri="{FF2B5EF4-FFF2-40B4-BE49-F238E27FC236}">
                <a16:creationId xmlns:a16="http://schemas.microsoft.com/office/drawing/2014/main" id="{322A20E8-C1B6-47DC-BD47-CD25E4B3A212}"/>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C9A3653-EE1D-4215-8060-3FBA1F17B942}"/>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Limitations of the data acknowledged before any modelling.</a:t>
            </a:r>
          </a:p>
        </p:txBody>
      </p:sp>
      <p:sp>
        <p:nvSpPr>
          <p:cNvPr id="10" name="">
            <a:extLst xmlns:a="http://schemas.openxmlformats.org/drawingml/2006/main">
              <a:ext uri="{FF2B5EF4-FFF2-40B4-BE49-F238E27FC236}">
                <a16:creationId xmlns:a16="http://schemas.microsoft.com/office/drawing/2014/main" id="{A66218D0-5FF5-4FA5-9A1E-8494B5284B3A}"/>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D69B2A6-6EB7-4E4C-8E76-16A8C85E28DC}"/>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Methodology (20.0 total): Appropriate models chosen and compared under one protocol.</a:t>
            </a:r>
          </a:p>
        </p:txBody>
      </p:sp>
      <p:sp>
        <p:nvSpPr>
          <p:cNvPr id="12" name="">
            <a:extLst xmlns:a="http://schemas.openxmlformats.org/drawingml/2006/main">
              <a:ext uri="{FF2B5EF4-FFF2-40B4-BE49-F238E27FC236}">
                <a16:creationId xmlns:a16="http://schemas.microsoft.com/office/drawing/2014/main" id="{1AEED9AA-83AF-4BA3-8DCF-A43128A9D78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13</a:t>
            </a:r>
          </a:p>
        </p:txBody>
      </p:sp>
    </p:spTree>
    <p:extLst>
      <p:ext uri="{BB962C8B-B14F-4D97-AF65-F5344CB8AC3E}">
        <p14:creationId xmlns:p14="http://schemas.microsoft.com/office/powerpoint/2010/main" val="57209979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2119411-7409-48F8-984E-9B6F16ECF01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65421A-7F1B-49E9-9418-040FC1A84C4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14A9645-958F-4CBB-BA7E-7A687A766F5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E679FBA6-9C8D-40B6-BC50-8F86412F59C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B24048E-A3C9-4D88-939E-F7443DBBF917}"/>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Pipeline used.</a:t>
            </a:r>
          </a:p>
        </p:txBody>
      </p:sp>
      <p:sp>
        <p:nvSpPr>
          <p:cNvPr id="6" name="">
            <a:extLst xmlns:a="http://schemas.openxmlformats.org/drawingml/2006/main">
              <a:ext uri="{FF2B5EF4-FFF2-40B4-BE49-F238E27FC236}">
                <a16:creationId xmlns:a16="http://schemas.microsoft.com/office/drawing/2014/main" id="{AE806E34-70FF-4E0A-A675-76912E815310}"/>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C52EF07-F687-40DE-9339-E06C9FCE7212}"/>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Hyperparameters handled sensibly.</a:t>
            </a:r>
          </a:p>
        </p:txBody>
      </p:sp>
      <p:sp>
        <p:nvSpPr>
          <p:cNvPr id="8" name="">
            <a:extLst xmlns:a="http://schemas.openxmlformats.org/drawingml/2006/main">
              <a:ext uri="{FF2B5EF4-FFF2-40B4-BE49-F238E27FC236}">
                <a16:creationId xmlns:a16="http://schemas.microsoft.com/office/drawing/2014/main" id="{74101C8B-C02F-4A0E-AB9A-06F63147191C}"/>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64B5DC9-C8AE-4576-A354-5D8B643C81D2}"/>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Choices explained rather than defaulted to.</a:t>
            </a:r>
          </a:p>
        </p:txBody>
      </p:sp>
      <p:sp>
        <p:nvSpPr>
          <p:cNvPr id="10" name="">
            <a:extLst xmlns:a="http://schemas.openxmlformats.org/drawingml/2006/main">
              <a:ext uri="{FF2B5EF4-FFF2-40B4-BE49-F238E27FC236}">
                <a16:creationId xmlns:a16="http://schemas.microsoft.com/office/drawing/2014/main" id="{D8A2B56C-E61F-4F9F-9C71-E5EC4A980718}"/>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063FCD8-0F78-4D2D-8741-B079776E303C}"/>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Engineering reasoning (20.0 total): Domain knowledge visibly enters the work through features, banding, metric choice or interpretation.</a:t>
            </a:r>
          </a:p>
        </p:txBody>
      </p:sp>
      <p:sp>
        <p:nvSpPr>
          <p:cNvPr id="12" name="">
            <a:extLst xmlns:a="http://schemas.openxmlformats.org/drawingml/2006/main">
              <a:ext uri="{FF2B5EF4-FFF2-40B4-BE49-F238E27FC236}">
                <a16:creationId xmlns:a16="http://schemas.microsoft.com/office/drawing/2014/main" id="{CE297EBB-E4F4-47D4-A2FD-974015B05A2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14</a:t>
            </a:r>
          </a:p>
        </p:txBody>
      </p:sp>
    </p:spTree>
    <p:extLst>
      <p:ext uri="{BB962C8B-B14F-4D97-AF65-F5344CB8AC3E}">
        <p14:creationId xmlns:p14="http://schemas.microsoft.com/office/powerpoint/2010/main" val="545379549"/>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E6AFBD7-ADB5-498A-A609-617D7AC935F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9F7B02E-E358-4AA9-9E5A-0416215E702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E2AD51E-04D3-4277-9B98-A5068710223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54384A43-A93B-4CD2-BA0A-63E79F94CC8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0A5B722-95C7-4418-9E5F-5EA081755DF5}"/>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result is discussed as engineering, not as a score.</a:t>
            </a:r>
          </a:p>
        </p:txBody>
      </p:sp>
      <p:sp>
        <p:nvSpPr>
          <p:cNvPr id="6" name="">
            <a:extLst xmlns:a="http://schemas.openxmlformats.org/drawingml/2006/main">
              <a:ext uri="{FF2B5EF4-FFF2-40B4-BE49-F238E27FC236}">
                <a16:creationId xmlns:a16="http://schemas.microsoft.com/office/drawing/2014/main" id="{997A1FAF-8F18-4F78-BE92-A200F058342E}"/>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89393A4-7613-485B-9076-488F1998D4D8}"/>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Validation (15.0 total): Correct train/test discipline, cross-validation with a reported spread, leakage explicitly checked and ruled out, metric justified against the cost of error.</a:t>
            </a:r>
          </a:p>
        </p:txBody>
      </p:sp>
      <p:sp>
        <p:nvSpPr>
          <p:cNvPr id="8" name="">
            <a:extLst xmlns:a="http://schemas.openxmlformats.org/drawingml/2006/main">
              <a:ext uri="{FF2B5EF4-FFF2-40B4-BE49-F238E27FC236}">
                <a16:creationId xmlns:a16="http://schemas.microsoft.com/office/drawing/2014/main" id="{6471AAFA-35A3-452B-8AD6-9321369210A1}"/>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2A14BD9-60DD-46CA-9C2B-AC9820AB0130}"/>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Communication (10.0 total): The 2-page brief is readable by a non-specialist engineer.</a:t>
            </a:r>
          </a:p>
        </p:txBody>
      </p:sp>
      <p:sp>
        <p:nvSpPr>
          <p:cNvPr id="10" name="">
            <a:extLst xmlns:a="http://schemas.openxmlformats.org/drawingml/2006/main">
              <a:ext uri="{FF2B5EF4-FFF2-40B4-BE49-F238E27FC236}">
                <a16:creationId xmlns:a16="http://schemas.microsoft.com/office/drawing/2014/main" id="{F4828969-7AFA-40F4-A0CA-F43E8E92A3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15</a:t>
            </a:r>
          </a:p>
        </p:txBody>
      </p:sp>
    </p:spTree>
    <p:extLst>
      <p:ext uri="{BB962C8B-B14F-4D97-AF65-F5344CB8AC3E}">
        <p14:creationId xmlns:p14="http://schemas.microsoft.com/office/powerpoint/2010/main" val="203206428"/>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F0F43B0-FC17-4874-8781-1D322F6C863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751E380-43BA-469D-8330-15060F42E02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D3A28F0-5BDF-4B15-8019-0F9B85F7DDD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DD4404D0-2506-41F4-92E8-1900DF22845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AA4694C-BBFD-4063-8F07-0D19D22F2079}"/>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Charts answer questions and are captioned with findings.</a:t>
            </a:r>
          </a:p>
        </p:txBody>
      </p:sp>
      <p:sp>
        <p:nvSpPr>
          <p:cNvPr id="6" name="">
            <a:extLst xmlns:a="http://schemas.openxmlformats.org/drawingml/2006/main">
              <a:ext uri="{FF2B5EF4-FFF2-40B4-BE49-F238E27FC236}">
                <a16:creationId xmlns:a16="http://schemas.microsoft.com/office/drawing/2014/main" id="{20CF38CF-95C2-4237-930B-187F5795D2F0}"/>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776FB3D-DCCE-4162-8EB9-71E184A618A8}"/>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Uncertainty and limitations stated honestly.</a:t>
            </a:r>
          </a:p>
        </p:txBody>
      </p:sp>
      <p:sp>
        <p:nvSpPr>
          <p:cNvPr id="8" name="">
            <a:extLst xmlns:a="http://schemas.openxmlformats.org/drawingml/2006/main">
              <a:ext uri="{FF2B5EF4-FFF2-40B4-BE49-F238E27FC236}">
                <a16:creationId xmlns:a16="http://schemas.microsoft.com/office/drawing/2014/main" id="{ECAF4846-FED0-47AE-B340-FD60DD883BCA}"/>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685B2EA-663C-4E76-95D9-B9119F5FD294}"/>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Reproducibility &amp; documentation (5.0 total): Repository runs from a clean clone.</a:t>
            </a:r>
          </a:p>
        </p:txBody>
      </p:sp>
      <p:sp>
        <p:nvSpPr>
          <p:cNvPr id="10" name="">
            <a:extLst xmlns:a="http://schemas.openxmlformats.org/drawingml/2006/main">
              <a:ext uri="{FF2B5EF4-FFF2-40B4-BE49-F238E27FC236}">
                <a16:creationId xmlns:a16="http://schemas.microsoft.com/office/drawing/2014/main" id="{08AED79F-2866-4BAC-809A-49D8835E47EC}"/>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4F61E5D-4FEF-4569-88FD-BF2F098FD785}"/>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README complete. requirements.txt present.</a:t>
            </a:r>
          </a:p>
        </p:txBody>
      </p:sp>
      <p:sp>
        <p:nvSpPr>
          <p:cNvPr id="12" name="">
            <a:extLst xmlns:a="http://schemas.openxmlformats.org/drawingml/2006/main">
              <a:ext uri="{FF2B5EF4-FFF2-40B4-BE49-F238E27FC236}">
                <a16:creationId xmlns:a16="http://schemas.microsoft.com/office/drawing/2014/main" id="{60D72AF0-6E27-4D87-94A4-F626BCEA96F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16</a:t>
            </a:r>
          </a:p>
        </p:txBody>
      </p:sp>
    </p:spTree>
    <p:extLst>
      <p:ext uri="{BB962C8B-B14F-4D97-AF65-F5344CB8AC3E}">
        <p14:creationId xmlns:p14="http://schemas.microsoft.com/office/powerpoint/2010/main" val="860504895"/>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588AF29-B4B6-471F-862C-51092B54BBB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7495A16-6D34-41DF-8606-9D8E60BF57B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F6E90D9-8E50-4B6B-96A6-354F0FC873D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63595D5C-8126-4367-BFEA-1EEBE03F681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A4C9467-FF79-4BC9-A302-91F663EB6B3C}"/>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Seeds set.</a:t>
            </a:r>
          </a:p>
        </p:txBody>
      </p:sp>
      <p:sp>
        <p:nvSpPr>
          <p:cNvPr id="6" name="">
            <a:extLst xmlns:a="http://schemas.openxmlformats.org/drawingml/2006/main">
              <a:ext uri="{FF2B5EF4-FFF2-40B4-BE49-F238E27FC236}">
                <a16:creationId xmlns:a16="http://schemas.microsoft.com/office/drawing/2014/main" id="{ECD04D5A-98EB-434F-B8F2-E0C79C03EE03}"/>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A4215E1-93B2-4282-BDCB-D83E621FF8CF}"/>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AI use declared.</a:t>
            </a:r>
          </a:p>
        </p:txBody>
      </p:sp>
      <p:sp>
        <p:nvSpPr>
          <p:cNvPr id="8" name="">
            <a:extLst xmlns:a="http://schemas.openxmlformats.org/drawingml/2006/main">
              <a:ext uri="{FF2B5EF4-FFF2-40B4-BE49-F238E27FC236}">
                <a16:creationId xmlns:a16="http://schemas.microsoft.com/office/drawing/2014/main" id="{012F835E-DE96-4055-B4B2-873EAEAD3A83}"/>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1D1DFD1-AF06-427F-9886-751346E5A194}"/>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Contribution log present.</a:t>
            </a:r>
          </a:p>
        </p:txBody>
      </p:sp>
      <p:sp>
        <p:nvSpPr>
          <p:cNvPr id="10" name="">
            <a:extLst xmlns:a="http://schemas.openxmlformats.org/drawingml/2006/main">
              <a:ext uri="{FF2B5EF4-FFF2-40B4-BE49-F238E27FC236}">
                <a16:creationId xmlns:a16="http://schemas.microsoft.com/office/drawing/2014/main" id="{BFEF5393-6D05-40D7-BABC-078A9B7BB05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17</a:t>
            </a:r>
          </a:p>
        </p:txBody>
      </p:sp>
    </p:spTree>
    <p:extLst>
      <p:ext uri="{BB962C8B-B14F-4D97-AF65-F5344CB8AC3E}">
        <p14:creationId xmlns:p14="http://schemas.microsoft.com/office/powerpoint/2010/main" val="500343364"/>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376D0658-2671-4DBD-9746-7170F88E0FC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5F4D563-7678-4185-9F9B-E2755108AC1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2EB1B347-7D71-4288-9E28-0A8F261A9A9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submission</a:t>
            </a:r>
          </a:p>
        </p:txBody>
      </p:sp>
      <p:sp>
        <p:nvSpPr>
          <p:cNvPr id="4" name="">
            <a:extLst xmlns:a="http://schemas.openxmlformats.org/drawingml/2006/main">
              <a:ext uri="{FF2B5EF4-FFF2-40B4-BE49-F238E27FC236}">
                <a16:creationId xmlns:a16="http://schemas.microsoft.com/office/drawing/2014/main" id="{7B98AB10-0997-480D-A4E6-2D49B0C7648D}"/>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B959549-35EC-4C89-8C7E-0DFDEED22947}"/>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27 Nov 2026, 11:00 Kampala</a:t>
            </a:r>
          </a:p>
        </p:txBody>
      </p:sp>
      <p:sp>
        <p:nvSpPr>
          <p:cNvPr id="6" name="">
            <a:extLst xmlns:a="http://schemas.openxmlformats.org/drawingml/2006/main">
              <a:ext uri="{FF2B5EF4-FFF2-40B4-BE49-F238E27FC236}">
                <a16:creationId xmlns:a16="http://schemas.microsoft.com/office/drawing/2014/main" id="{086BFC9B-37CE-4CF8-BC5C-6476463072C6}"/>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CFD4F26-456A-4FB4-B510-E3E694794131}"/>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18 Dec 2026, 11:00 Kampala</a:t>
            </a:r>
          </a:p>
        </p:txBody>
      </p:sp>
      <p:sp>
        <p:nvSpPr>
          <p:cNvPr id="8" name="">
            <a:extLst xmlns:a="http://schemas.openxmlformats.org/drawingml/2006/main">
              <a:ext uri="{FF2B5EF4-FFF2-40B4-BE49-F238E27FC236}">
                <a16:creationId xmlns:a16="http://schemas.microsoft.com/office/drawing/2014/main" id="{EE912D68-DCBC-4BFE-855A-9FEEA737C472}"/>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37651C7-EAE9-4B41-BD8E-8964B13D14E6}"/>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3ABE6551-FE00-4666-9406-DE9251F7ADBF}"/>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ED28E7F-F11B-40DD-93D2-9FD1624B67CC}"/>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A90A89D7-031B-4E83-99B7-7EE26B90A3B9}"/>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95F47301-A673-4980-9695-C2CB118BEE6F}"/>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34e35ca96cd84eb0"/>
              </a:rPr>
              <a:t>Open ML_PROJECT assignment form</a:t>
            </a:r>
          </a:p>
        </p:txBody>
      </p:sp>
      <p:sp>
        <p:nvSpPr>
          <p:cNvPr id="14" name="">
            <a:extLst xmlns:a="http://schemas.openxmlformats.org/drawingml/2006/main">
              <a:ext uri="{FF2B5EF4-FFF2-40B4-BE49-F238E27FC236}">
                <a16:creationId xmlns:a16="http://schemas.microsoft.com/office/drawing/2014/main" id="{C4FE1EF9-A515-4B71-805F-477DAB26B8A0}"/>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https://docs.google.com/forms/d/e/1FAIpQLSeV2_XlDSjUCyjJG-aQjFSQny-ndfkYaOYtExv9CdA_HUbDlQ/viewform</a:t>
            </a:r>
          </a:p>
        </p:txBody>
      </p:sp>
      <p:sp>
        <p:nvSpPr>
          <p:cNvPr id="15" name="">
            <a:extLst xmlns:a="http://schemas.openxmlformats.org/drawingml/2006/main">
              <a:ext uri="{FF2B5EF4-FFF2-40B4-BE49-F238E27FC236}">
                <a16:creationId xmlns:a16="http://schemas.microsoft.com/office/drawing/2014/main" id="{9D0B8D37-5ACA-444B-BC3D-FC036E5627F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18</a:t>
            </a:r>
          </a:p>
        </p:txBody>
      </p:sp>
    </p:spTree>
    <p:extLst>
      <p:ext uri="{BB962C8B-B14F-4D97-AF65-F5344CB8AC3E}">
        <p14:creationId xmlns:p14="http://schemas.microsoft.com/office/powerpoint/2010/main" val="531370338"/>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3A30A85-448D-4F30-B2B1-3E2EDD19A84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D18A4AA-4CFE-4ADF-A45E-C3F61AE1F3E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49174DD-640F-4944-98C3-CEAF94311FB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Presentation evidence (35 marks)</a:t>
            </a:r>
          </a:p>
        </p:txBody>
      </p:sp>
      <p:sp>
        <p:nvSpPr>
          <p:cNvPr id="4" name="">
            <a:extLst xmlns:a="http://schemas.openxmlformats.org/drawingml/2006/main">
              <a:ext uri="{FF2B5EF4-FFF2-40B4-BE49-F238E27FC236}">
                <a16:creationId xmlns:a16="http://schemas.microsoft.com/office/drawing/2014/main" id="{B7023797-202E-4982-9DCE-50317CC7750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1DABA27-6509-4408-8B73-CEED09ACF562}"/>
              </a:ext>
            </a:extLst>
          </p:cNvPr>
          <p:cNvSpPr>
            <a:spLocks xmlns:a="http://schemas.openxmlformats.org/drawingml/2006/main" noGrp="1"/>
          </p:cNvSpPr>
          <p:nvPr/>
        </p:nvSpPr>
        <p:spPr>
          <a:xfrm xmlns:a="http://schemas.openxmlformats.org/drawingml/2006/main">
            <a:off x="1381125" y="1781175"/>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Slides and narration notes explain the question, method, evidence and limitations for an engineering audience.</a:t>
            </a:r>
          </a:p>
        </p:txBody>
      </p:sp>
      <p:sp>
        <p:nvSpPr>
          <p:cNvPr id="6" name="">
            <a:extLst xmlns:a="http://schemas.openxmlformats.org/drawingml/2006/main">
              <a:ext uri="{FF2B5EF4-FFF2-40B4-BE49-F238E27FC236}">
                <a16:creationId xmlns:a16="http://schemas.microsoft.com/office/drawing/2014/main" id="{1CA47AB7-6282-4A67-B0D4-F0BBC1691246}"/>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00EB7AB-AABE-49CE-B121-0F0C3D94706D}"/>
              </a:ext>
            </a:extLst>
          </p:cNvPr>
          <p:cNvSpPr>
            <a:spLocks xmlns:a="http://schemas.openxmlformats.org/drawingml/2006/main" noGrp="1"/>
          </p:cNvSpPr>
          <p:nvPr/>
        </p:nvSpPr>
        <p:spPr>
          <a:xfrm xmlns:a="http://schemas.openxmlformats.org/drawingml/2006/main">
            <a:off x="1381125" y="3919538"/>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local text grader does not assess visual styling or spoken delivery.</a:t>
            </a:r>
          </a:p>
        </p:txBody>
      </p:sp>
      <p:sp>
        <p:nvSpPr>
          <p:cNvPr id="8" name="">
            <a:extLst xmlns:a="http://schemas.openxmlformats.org/drawingml/2006/main">
              <a:ext uri="{FF2B5EF4-FFF2-40B4-BE49-F238E27FC236}">
                <a16:creationId xmlns:a16="http://schemas.microsoft.com/office/drawing/2014/main" id="{E7A42857-2C48-4F4F-A487-7DBBF83B6DB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19</a:t>
            </a:r>
          </a:p>
        </p:txBody>
      </p:sp>
    </p:spTree>
    <p:extLst>
      <p:ext uri="{BB962C8B-B14F-4D97-AF65-F5344CB8AC3E}">
        <p14:creationId xmlns:p14="http://schemas.microsoft.com/office/powerpoint/2010/main" val="67522594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2C22C9F-0426-455D-9112-53F95BCAD35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BC075A6-62B3-43FF-B3EE-23BB1739448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923C67C-5185-475D-BBCC-6B88666762D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Individual written defence (40 marks)</a:t>
            </a:r>
          </a:p>
        </p:txBody>
      </p:sp>
      <p:sp>
        <p:nvSpPr>
          <p:cNvPr id="4" name="">
            <a:extLst xmlns:a="http://schemas.openxmlformats.org/drawingml/2006/main">
              <a:ext uri="{FF2B5EF4-FFF2-40B4-BE49-F238E27FC236}">
                <a16:creationId xmlns:a16="http://schemas.microsoft.com/office/drawing/2014/main" id="{08C7BCB9-3698-49CE-8EFF-C75F86168C6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E76409E-B211-43D6-AB8C-2790880F10B0}"/>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74469EF-2D91-4FAB-8C7B-2DABEDE9992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Two typed answers about the student's own repository identify specific cells/results and explain the decisions.</a:t>
            </a:r>
          </a:p>
        </p:txBody>
      </p:sp>
      <p:sp>
        <p:nvSpPr>
          <p:cNvPr id="7" name="">
            <a:extLst xmlns:a="http://schemas.openxmlformats.org/drawingml/2006/main">
              <a:ext uri="{FF2B5EF4-FFF2-40B4-BE49-F238E27FC236}">
                <a16:creationId xmlns:a16="http://schemas.microsoft.com/office/drawing/2014/main" id="{61864AC0-4DEF-4521-A2BB-FFB519139F5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Credit is based on the submitted evidence; live questioning is formative.</a:t>
            </a:r>
          </a:p>
        </p:txBody>
      </p:sp>
      <p:sp>
        <p:nvSpPr>
          <p:cNvPr id="8" name="">
            <a:extLst xmlns:a="http://schemas.openxmlformats.org/drawingml/2006/main">
              <a:ext uri="{FF2B5EF4-FFF2-40B4-BE49-F238E27FC236}">
                <a16:creationId xmlns:a16="http://schemas.microsoft.com/office/drawing/2014/main" id="{634ED818-E3DE-40CF-B77C-DD04B0E1C80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20</a:t>
            </a:r>
          </a:p>
        </p:txBody>
      </p:sp>
    </p:spTree>
    <p:extLst>
      <p:ext uri="{BB962C8B-B14F-4D97-AF65-F5344CB8AC3E}">
        <p14:creationId xmlns:p14="http://schemas.microsoft.com/office/powerpoint/2010/main" val="2049984154"/>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6C94884-86E8-49DC-9644-D2A8DB947D4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A7C5AC4-29F5-4805-9A70-C827D06E3DE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3FFC133-48F8-49A7-AAF2-46ADA143AED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Reflection (20 marks)</a:t>
            </a:r>
          </a:p>
        </p:txBody>
      </p:sp>
      <p:sp>
        <p:nvSpPr>
          <p:cNvPr id="4" name="">
            <a:extLst xmlns:a="http://schemas.openxmlformats.org/drawingml/2006/main">
              <a:ext uri="{FF2B5EF4-FFF2-40B4-BE49-F238E27FC236}">
                <a16:creationId xmlns:a16="http://schemas.microsoft.com/office/drawing/2014/main" id="{F3C148F8-525E-4FFA-B8AE-9C6C121F93B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0F97E7B-7218-4BB2-8A2C-A07F8766168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500 words.</a:t>
            </a:r>
          </a:p>
        </p:txBody>
      </p:sp>
      <p:sp>
        <p:nvSpPr>
          <p:cNvPr id="6" name="">
            <a:extLst xmlns:a="http://schemas.openxmlformats.org/drawingml/2006/main">
              <a:ext uri="{FF2B5EF4-FFF2-40B4-BE49-F238E27FC236}">
                <a16:creationId xmlns:a16="http://schemas.microsoft.com/office/drawing/2014/main" id="{6D0BE236-C04E-4417-9177-C80B8AB2F88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5B45A60-01DB-4A9E-9540-19A444F739E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Specific about what changed since Week 1, what remains difficult, and two concrete Semester 2 goals.</a:t>
            </a:r>
          </a:p>
        </p:txBody>
      </p:sp>
      <p:sp>
        <p:nvSpPr>
          <p:cNvPr id="8" name="">
            <a:extLst xmlns:a="http://schemas.openxmlformats.org/drawingml/2006/main">
              <a:ext uri="{FF2B5EF4-FFF2-40B4-BE49-F238E27FC236}">
                <a16:creationId xmlns:a16="http://schemas.microsoft.com/office/drawing/2014/main" id="{F83B1EEA-E09D-4DF2-9AE0-DBAE9F56E02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5501212-56C0-4A0D-95D2-1C617C1242F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Generic reflection scores low.</a:t>
            </a:r>
          </a:p>
        </p:txBody>
      </p:sp>
      <p:sp>
        <p:nvSpPr>
          <p:cNvPr id="10" name="">
            <a:extLst xmlns:a="http://schemas.openxmlformats.org/drawingml/2006/main">
              <a:ext uri="{FF2B5EF4-FFF2-40B4-BE49-F238E27FC236}">
                <a16:creationId xmlns:a16="http://schemas.microsoft.com/office/drawing/2014/main" id="{BDBE8704-46B8-4B16-B6B1-DB76F9A6F3D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21</a:t>
            </a:r>
          </a:p>
        </p:txBody>
      </p:sp>
    </p:spTree>
    <p:extLst>
      <p:ext uri="{BB962C8B-B14F-4D97-AF65-F5344CB8AC3E}">
        <p14:creationId xmlns:p14="http://schemas.microsoft.com/office/powerpoint/2010/main" val="531598747"/>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6299CF2-A08E-429C-9A5F-D2C1A3EA6E9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51C0917-4EDE-40A4-ADCB-6121279909F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C40331F-6238-4F7B-89D9-A9EAD84743C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AI-use declaration (5 marks)</a:t>
            </a:r>
          </a:p>
        </p:txBody>
      </p:sp>
      <p:sp>
        <p:nvSpPr>
          <p:cNvPr id="4" name="">
            <a:extLst xmlns:a="http://schemas.openxmlformats.org/drawingml/2006/main">
              <a:ext uri="{FF2B5EF4-FFF2-40B4-BE49-F238E27FC236}">
                <a16:creationId xmlns:a16="http://schemas.microsoft.com/office/drawing/2014/main" id="{75B0AB5C-3C7D-4641-A2F0-6A32C9920B14}"/>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E9C7A7F-6A9C-4D23-A998-5EB05BBF7DEA}"/>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Present, complete and plausible against the repository history.</a:t>
            </a:r>
          </a:p>
        </p:txBody>
      </p:sp>
      <p:sp>
        <p:nvSpPr>
          <p:cNvPr id="6" name="">
            <a:extLst xmlns:a="http://schemas.openxmlformats.org/drawingml/2006/main">
              <a:ext uri="{FF2B5EF4-FFF2-40B4-BE49-F238E27FC236}">
                <a16:creationId xmlns:a16="http://schemas.microsoft.com/office/drawing/2014/main" id="{AF32F5A0-AC0F-4A79-AD99-E9BC43CF508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22</a:t>
            </a:r>
          </a:p>
        </p:txBody>
      </p:sp>
    </p:spTree>
    <p:extLst>
      <p:ext uri="{BB962C8B-B14F-4D97-AF65-F5344CB8AC3E}">
        <p14:creationId xmlns:p14="http://schemas.microsoft.com/office/powerpoint/2010/main" val="1273246812"/>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FC11DCD-1482-48A9-AFF3-1F73DF7DC3F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835C474-6C06-4FD3-AF19-562578DE48C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AEECA22E-9F94-485C-9DA2-5D33BF8FDA7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Presentation and individual reflection submission</a:t>
            </a:r>
          </a:p>
        </p:txBody>
      </p:sp>
      <p:sp>
        <p:nvSpPr>
          <p:cNvPr id="4" name="">
            <a:extLst xmlns:a="http://schemas.openxmlformats.org/drawingml/2006/main">
              <a:ext uri="{FF2B5EF4-FFF2-40B4-BE49-F238E27FC236}">
                <a16:creationId xmlns:a16="http://schemas.microsoft.com/office/drawing/2014/main" id="{E93801B5-2C29-48BD-AB2F-B4E301A5E049}"/>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9C184BF-219F-4093-B75E-04088977BC4F}"/>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27 Nov 2026, 11:00 Kampala</a:t>
            </a:r>
          </a:p>
        </p:txBody>
      </p:sp>
      <p:sp>
        <p:nvSpPr>
          <p:cNvPr id="6" name="">
            <a:extLst xmlns:a="http://schemas.openxmlformats.org/drawingml/2006/main">
              <a:ext uri="{FF2B5EF4-FFF2-40B4-BE49-F238E27FC236}">
                <a16:creationId xmlns:a16="http://schemas.microsoft.com/office/drawing/2014/main" id="{0BF4D522-2005-4B5E-91C1-A458D63AB0F6}"/>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9F71EE3-69E4-4F6D-97D1-C189D87714B3}"/>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18 Dec 2026, 14:00 Kampala</a:t>
            </a:r>
          </a:p>
        </p:txBody>
      </p:sp>
      <p:sp>
        <p:nvSpPr>
          <p:cNvPr id="8" name="">
            <a:extLst xmlns:a="http://schemas.openxmlformats.org/drawingml/2006/main">
              <a:ext uri="{FF2B5EF4-FFF2-40B4-BE49-F238E27FC236}">
                <a16:creationId xmlns:a16="http://schemas.microsoft.com/office/drawing/2014/main" id="{AD5B1CF1-88CB-403C-B0D6-A749340900EF}"/>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8EF75CD-EACB-4157-A484-0F1DB30127B8}"/>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6629F340-2BC4-4435-8D17-9DD5E674F864}"/>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AB813C0-51A7-4383-A0D1-2A92480C952F}"/>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5713CFB7-E30A-4CF6-AEA2-15CC349C5EEA}"/>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7375154-645D-4F46-A3E2-DF02FE80A1EE}"/>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ff39418f259844e2"/>
              </a:rPr>
              <a:t>Open DEMO assignment form</a:t>
            </a:r>
          </a:p>
        </p:txBody>
      </p:sp>
      <p:sp>
        <p:nvSpPr>
          <p:cNvPr id="14" name="">
            <a:extLst xmlns:a="http://schemas.openxmlformats.org/drawingml/2006/main">
              <a:ext uri="{FF2B5EF4-FFF2-40B4-BE49-F238E27FC236}">
                <a16:creationId xmlns:a16="http://schemas.microsoft.com/office/drawing/2014/main" id="{EF137EDB-8785-4238-8724-5D8F24EBC415}"/>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https://docs.google.com/forms/d/e/1FAIpQLScnSPyvzCLfoHhIBusvFTIpqC-zAsk2bCLMqu6kJCh5cGI9gQ/viewform</a:t>
            </a:r>
          </a:p>
        </p:txBody>
      </p:sp>
      <p:sp>
        <p:nvSpPr>
          <p:cNvPr id="15" name="">
            <a:extLst xmlns:a="http://schemas.openxmlformats.org/drawingml/2006/main">
              <a:ext uri="{FF2B5EF4-FFF2-40B4-BE49-F238E27FC236}">
                <a16:creationId xmlns:a16="http://schemas.microsoft.com/office/drawing/2014/main" id="{26AEF097-ED6A-4281-98A6-13469BB7D58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23</a:t>
            </a:r>
          </a:p>
        </p:txBody>
      </p:sp>
    </p:spTree>
    <p:extLst>
      <p:ext uri="{BB962C8B-B14F-4D97-AF65-F5344CB8AC3E}">
        <p14:creationId xmlns:p14="http://schemas.microsoft.com/office/powerpoint/2010/main" val="364832643"/>
      </p:ext>
    </p:extLst>
  </p:cSld>
</p:sld>
</file>

<file path=ppt/slides/slide2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5EC7337-71A2-4572-907D-FFF453E4609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687F8DF1-DF2F-440F-99D9-EA62ACF74B0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1FC1B7CF-2C93-408D-9AA1-F7DD8D53C25A}"/>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4D30BA03-B350-47EF-B6F1-4652AFDC9725}"/>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point to the evidence behind one decision you personally worked on.</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4145E8BB-CA85-415D-86BE-9B4A8305E53C}"/>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EB0F48B8-ACE1-4C9A-9E74-9C41C7B032F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15   24</a:t>
            </a:r>
          </a:p>
        </p:txBody>
      </p:sp>
    </p:spTree>
    <p:extLst>
      <p:ext uri="{BB962C8B-B14F-4D97-AF65-F5344CB8AC3E}">
        <p14:creationId xmlns:p14="http://schemas.microsoft.com/office/powerpoint/2010/main" val="133705014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2026-09-28T21:45:42.4710000Z</dcterms:created>
  <dcterms:modified xsi:type="dcterms:W3CDTF">2026-09-28T21:45:42.4710000Z</dcterms:modified>
</coreProperties>
</file>