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fc7c7bdda9f4850" /><Relationship Type="http://schemas.openxmlformats.org/officeDocument/2006/relationships/extended-properties" Target="/docProps/app.xml" Id="R5a5a8e4f90ba41d3" /><Relationship Type="http://schemas.openxmlformats.org/officeDocument/2006/relationships/officeDocument" Target="/ppt/presentation.xml" Id="R3fec583493be45d1" /></Relationships>
</file>

<file path=ppt/presentation.xml><?xml version="1.0" encoding="utf-8"?>
<p:presentation xmlns:p="http://schemas.openxmlformats.org/presentationml/2006/main">
  <p:sldMasterIdLst>
    <p:sldMasterId xmlns:r="http://schemas.openxmlformats.org/officeDocument/2006/relationships" id="2147483648" r:id="R320d0e25f65041d4"/>
  </p:sldMasterIdLst>
  <p:notesMasterIdLst>
    <p:notesMasterId xmlns:r="http://schemas.openxmlformats.org/officeDocument/2006/relationships" r:id="Rb97eb250e3f6409b"/>
  </p:notesMasterIdLst>
  <p:sldIdLst>
    <p:sldId xmlns:r="http://schemas.openxmlformats.org/officeDocument/2006/relationships" id="256" r:id="R25b7a51206424285"/>
    <p:sldId xmlns:r="http://schemas.openxmlformats.org/officeDocument/2006/relationships" id="257" r:id="R7258d2e45d8b45a7"/>
    <p:sldId xmlns:r="http://schemas.openxmlformats.org/officeDocument/2006/relationships" id="258" r:id="R4086c2198d704c67"/>
    <p:sldId xmlns:r="http://schemas.openxmlformats.org/officeDocument/2006/relationships" id="259" r:id="R57301d188a314163"/>
    <p:sldId xmlns:r="http://schemas.openxmlformats.org/officeDocument/2006/relationships" id="260" r:id="R5d163e41a0c74d6e"/>
    <p:sldId xmlns:r="http://schemas.openxmlformats.org/officeDocument/2006/relationships" id="261" r:id="Ra09ad788c188481e"/>
    <p:sldId xmlns:r="http://schemas.openxmlformats.org/officeDocument/2006/relationships" id="262" r:id="R1928be862c2a4dee"/>
    <p:sldId xmlns:r="http://schemas.openxmlformats.org/officeDocument/2006/relationships" id="263" r:id="R1f2514979daf42ea"/>
    <p:sldId xmlns:r="http://schemas.openxmlformats.org/officeDocument/2006/relationships" id="264" r:id="R276d18f17e904911"/>
    <p:sldId xmlns:r="http://schemas.openxmlformats.org/officeDocument/2006/relationships" id="265" r:id="R0f18943dae764fd2"/>
    <p:sldId xmlns:r="http://schemas.openxmlformats.org/officeDocument/2006/relationships" id="266" r:id="R5d103305b6ec4130"/>
    <p:sldId xmlns:r="http://schemas.openxmlformats.org/officeDocument/2006/relationships" id="267" r:id="R7d0bb53ab5194d5e"/>
    <p:sldId xmlns:r="http://schemas.openxmlformats.org/officeDocument/2006/relationships" id="268" r:id="R21a216f02b044d7a"/>
    <p:sldId xmlns:r="http://schemas.openxmlformats.org/officeDocument/2006/relationships" id="269" r:id="Ra92bdf14f3c145ea"/>
    <p:sldId xmlns:r="http://schemas.openxmlformats.org/officeDocument/2006/relationships" id="270" r:id="Rd17dbf2913f44059"/>
    <p:sldId xmlns:r="http://schemas.openxmlformats.org/officeDocument/2006/relationships" id="271" r:id="R5275e884b497449f"/>
    <p:sldId xmlns:r="http://schemas.openxmlformats.org/officeDocument/2006/relationships" id="272" r:id="Raf635908792b4d33"/>
    <p:sldId xmlns:r="http://schemas.openxmlformats.org/officeDocument/2006/relationships" id="273" r:id="Rc0cd7954ea7c4efe"/>
    <p:sldId xmlns:r="http://schemas.openxmlformats.org/officeDocument/2006/relationships" id="274" r:id="R4a7d04df33744622"/>
    <p:sldId xmlns:r="http://schemas.openxmlformats.org/officeDocument/2006/relationships" id="275" r:id="Rdb26f73846f34fc2"/>
    <p:sldId xmlns:r="http://schemas.openxmlformats.org/officeDocument/2006/relationships" id="276" r:id="R0c9ebeea46ba488b"/>
    <p:sldId xmlns:r="http://schemas.openxmlformats.org/officeDocument/2006/relationships" id="277" r:id="R5eede6f3c5ad4430"/>
    <p:sldId xmlns:r="http://schemas.openxmlformats.org/officeDocument/2006/relationships" id="278" r:id="R6d673475c66e4ea6"/>
    <p:sldId xmlns:r="http://schemas.openxmlformats.org/officeDocument/2006/relationships" id="279" r:id="R4948f69229fd4fb7"/>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091d1c394614f66" /><Relationship Type="http://schemas.openxmlformats.org/officeDocument/2006/relationships/slideMaster" Target="/ppt/slideMasters/slideMaster1.xml" Id="R320d0e25f65041d4" /><Relationship Type="http://schemas.openxmlformats.org/officeDocument/2006/relationships/notesMaster" Target="/ppt/notesMasters/notesMaster1.xml" Id="Rb97eb250e3f6409b" /><Relationship Type="http://schemas.openxmlformats.org/officeDocument/2006/relationships/presProps" Target="/ppt/presProps.xml" Id="Rd3ccea5c654648ed" /><Relationship Type="http://schemas.openxmlformats.org/officeDocument/2006/relationships/tableStyles" Target="/ppt/tableStyles.xml" Id="R96b68c645a1b4c24" /><Relationship Type="http://schemas.openxmlformats.org/officeDocument/2006/relationships/slide" Target="/ppt/slides/slide1.xml" Id="R25b7a51206424285" /><Relationship Type="http://schemas.openxmlformats.org/officeDocument/2006/relationships/slide" Target="/ppt/slides/slide2.xml" Id="R7258d2e45d8b45a7" /><Relationship Type="http://schemas.openxmlformats.org/officeDocument/2006/relationships/slide" Target="/ppt/slides/slide3.xml" Id="R4086c2198d704c67" /><Relationship Type="http://schemas.openxmlformats.org/officeDocument/2006/relationships/slide" Target="/ppt/slides/slide4.xml" Id="R57301d188a314163" /><Relationship Type="http://schemas.openxmlformats.org/officeDocument/2006/relationships/slide" Target="/ppt/slides/slide5.xml" Id="R5d163e41a0c74d6e" /><Relationship Type="http://schemas.openxmlformats.org/officeDocument/2006/relationships/slide" Target="/ppt/slides/slide6.xml" Id="Ra09ad788c188481e" /><Relationship Type="http://schemas.openxmlformats.org/officeDocument/2006/relationships/slide" Target="/ppt/slides/slide7.xml" Id="R1928be862c2a4dee" /><Relationship Type="http://schemas.openxmlformats.org/officeDocument/2006/relationships/slide" Target="/ppt/slides/slide8.xml" Id="R1f2514979daf42ea" /><Relationship Type="http://schemas.openxmlformats.org/officeDocument/2006/relationships/slide" Target="/ppt/slides/slide9.xml" Id="R276d18f17e904911" /><Relationship Type="http://schemas.openxmlformats.org/officeDocument/2006/relationships/slide" Target="/ppt/slides/slide10.xml" Id="R0f18943dae764fd2" /><Relationship Type="http://schemas.openxmlformats.org/officeDocument/2006/relationships/slide" Target="/ppt/slides/slide11.xml" Id="R5d103305b6ec4130" /><Relationship Type="http://schemas.openxmlformats.org/officeDocument/2006/relationships/slide" Target="/ppt/slides/slide12.xml" Id="R7d0bb53ab5194d5e" /><Relationship Type="http://schemas.openxmlformats.org/officeDocument/2006/relationships/slide" Target="/ppt/slides/slide13.xml" Id="R21a216f02b044d7a" /><Relationship Type="http://schemas.openxmlformats.org/officeDocument/2006/relationships/slide" Target="/ppt/slides/slide14.xml" Id="Ra92bdf14f3c145ea" /><Relationship Type="http://schemas.openxmlformats.org/officeDocument/2006/relationships/slide" Target="/ppt/slides/slide15.xml" Id="Rd17dbf2913f44059" /><Relationship Type="http://schemas.openxmlformats.org/officeDocument/2006/relationships/slide" Target="/ppt/slides/slide16.xml" Id="R5275e884b497449f" /><Relationship Type="http://schemas.openxmlformats.org/officeDocument/2006/relationships/slide" Target="/ppt/slides/slide17.xml" Id="Raf635908792b4d33" /><Relationship Type="http://schemas.openxmlformats.org/officeDocument/2006/relationships/slide" Target="/ppt/slides/slide18.xml" Id="Rc0cd7954ea7c4efe" /><Relationship Type="http://schemas.openxmlformats.org/officeDocument/2006/relationships/slide" Target="/ppt/slides/slide19.xml" Id="R4a7d04df33744622" /><Relationship Type="http://schemas.openxmlformats.org/officeDocument/2006/relationships/slide" Target="/ppt/slides/slide20.xml" Id="Rdb26f73846f34fc2" /><Relationship Type="http://schemas.openxmlformats.org/officeDocument/2006/relationships/slide" Target="/ppt/slides/slide21.xml" Id="R0c9ebeea46ba488b" /><Relationship Type="http://schemas.openxmlformats.org/officeDocument/2006/relationships/slide" Target="/ppt/slides/slide22.xml" Id="R5eede6f3c5ad4430" /><Relationship Type="http://schemas.openxmlformats.org/officeDocument/2006/relationships/slide" Target="/ppt/slides/slide23.xml" Id="R6d673475c66e4ea6" /><Relationship Type="http://schemas.openxmlformats.org/officeDocument/2006/relationships/slide" Target="/ppt/slides/slide24.xml" Id="R4948f69229fd4f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20d06922e9c409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c990b78cac4755" /><Relationship Type="http://schemas.openxmlformats.org/officeDocument/2006/relationships/notesMaster" Target="/ppt/notesMasters/notesMaster1.xml" Id="R1969271424d44a51" /></Relationships>
</file>

<file path=ppt/notesSlides/_rels/notesSlide2.xml.rels>&#65279;<?xml version="1.0" encoding="utf-8"?><Relationships xmlns="http://schemas.openxmlformats.org/package/2006/relationships"><Relationship Type="http://schemas.openxmlformats.org/officeDocument/2006/relationships/slide" Target="/ppt/slides/slide2.xml" Id="R5abc3578a6454a5b" /><Relationship Type="http://schemas.openxmlformats.org/officeDocument/2006/relationships/notesMaster" Target="/ppt/notesMasters/notesMaster1.xml" Id="Rb6854e16893e433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23ca31d1c74b5e" /><Relationship Type="http://schemas.openxmlformats.org/officeDocument/2006/relationships/notesMaster" Target="/ppt/notesMasters/notesMaster1.xml" Id="Reef92154abbb44b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977ca813e345ed" /><Relationship Type="http://schemas.openxmlformats.org/officeDocument/2006/relationships/notesMaster" Target="/ppt/notesMasters/notesMaster1.xml" Id="Rcfc4abdb76e94e79" /></Relationships>
</file>

<file path=ppt/notesSlides/_rels/notesSlide5.xml.rels>&#65279;<?xml version="1.0" encoding="utf-8"?><Relationships xmlns="http://schemas.openxmlformats.org/package/2006/relationships"><Relationship Type="http://schemas.openxmlformats.org/officeDocument/2006/relationships/slide" Target="/ppt/slides/slide5.xml" Id="R820e3d23e26b467f" /><Relationship Type="http://schemas.openxmlformats.org/officeDocument/2006/relationships/notesMaster" Target="/ppt/notesMasters/notesMaster1.xml" Id="R1008b282fb654c1d" /></Relationships>
</file>

<file path=ppt/notesSlides/_rels/notesSlide6.xml.rels>&#65279;<?xml version="1.0" encoding="utf-8"?><Relationships xmlns="http://schemas.openxmlformats.org/package/2006/relationships"><Relationship Type="http://schemas.openxmlformats.org/officeDocument/2006/relationships/slide" Target="/ppt/slides/slide6.xml" Id="R32260a9a1e9b4fee" /><Relationship Type="http://schemas.openxmlformats.org/officeDocument/2006/relationships/notesMaster" Target="/ppt/notesMasters/notesMaster1.xml" Id="Ra035109e117e4c3d" /></Relationships>
</file>

<file path=ppt/notesSlides/_rels/notesSlide7.xml.rels>&#65279;<?xml version="1.0" encoding="utf-8"?><Relationships xmlns="http://schemas.openxmlformats.org/package/2006/relationships"><Relationship Type="http://schemas.openxmlformats.org/officeDocument/2006/relationships/slide" Target="/ppt/slides/slide7.xml" Id="R75e828341889446b" /><Relationship Type="http://schemas.openxmlformats.org/officeDocument/2006/relationships/notesMaster" Target="/ppt/notesMasters/notesMaster1.xml" Id="Rbd0a44ea7a724df7"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945c4094f44578" /><Relationship Type="http://schemas.openxmlformats.org/officeDocument/2006/relationships/notesMaster" Target="/ppt/notesMasters/notesMaster1.xml" Id="Rbd37e0f80c584512" /></Relationships>
</file>

<file path=ppt/notesSlides/_rels/notesSlide9.xml.rels>&#65279;<?xml version="1.0" encoding="utf-8"?><Relationships xmlns="http://schemas.openxmlformats.org/package/2006/relationships"><Relationship Type="http://schemas.openxmlformats.org/officeDocument/2006/relationships/slide" Target="/ppt/slides/slide9.xml" Id="Rc68c221de1b145de" /><Relationship Type="http://schemas.openxmlformats.org/officeDocument/2006/relationships/notesMaster" Target="/ppt/notesMasters/notesMaster1.xml" Id="R9fb9e8a412824c7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9da9caebffb4ec0" /><Relationship Type="http://schemas.openxmlformats.org/officeDocument/2006/relationships/notesMaster" Target="/ppt/notesMasters/notesMaster1.xml" Id="R6235624a025441b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9cc42ac72c54fce" /><Relationship Type="http://schemas.openxmlformats.org/officeDocument/2006/relationships/notesMaster" Target="/ppt/notesMasters/notesMaster1.xml" Id="Rf7f7679fcae94b5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fc961d2c4c24612" /><Relationship Type="http://schemas.openxmlformats.org/officeDocument/2006/relationships/notesMaster" Target="/ppt/notesMasters/notesMaster1.xml" Id="Re67a80a2b8d241d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868d920c2cc499f" /><Relationship Type="http://schemas.openxmlformats.org/officeDocument/2006/relationships/notesMaster" Target="/ppt/notesMasters/notesMaster1.xml" Id="R038ca86d90d4476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b0f5a8509eb4e0c" /><Relationship Type="http://schemas.openxmlformats.org/officeDocument/2006/relationships/notesMaster" Target="/ppt/notesMasters/notesMaster1.xml" Id="Rd33a425789bf4f9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0f3ce9690f14550" /><Relationship Type="http://schemas.openxmlformats.org/officeDocument/2006/relationships/notesMaster" Target="/ppt/notesMasters/notesMaster1.xml" Id="R9aef45525010459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b7e729f6f854627" /><Relationship Type="http://schemas.openxmlformats.org/officeDocument/2006/relationships/notesMaster" Target="/ppt/notesMasters/notesMaster1.xml" Id="R0ed475b4431347c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834687002fd4eb3" /><Relationship Type="http://schemas.openxmlformats.org/officeDocument/2006/relationships/notesMaster" Target="/ppt/notesMasters/notesMaster1.xml" Id="R120d65ffc4954bc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00070ff31cc486f" /><Relationship Type="http://schemas.openxmlformats.org/officeDocument/2006/relationships/notesMaster" Target="/ppt/notesMasters/notesMaster1.xml" Id="R53dbecc7f28c426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47031fee74143c3" /><Relationship Type="http://schemas.openxmlformats.org/officeDocument/2006/relationships/notesMaster" Target="/ppt/notesMasters/notesMaster1.xml" Id="Reaaf8c6af83544d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a7a2c29bd7245d8" /><Relationship Type="http://schemas.openxmlformats.org/officeDocument/2006/relationships/notesMaster" Target="/ppt/notesMasters/notesMaster1.xml" Id="R198f63e76bd8471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7d2929daec84c68" /><Relationship Type="http://schemas.openxmlformats.org/officeDocument/2006/relationships/notesMaster" Target="/ppt/notesMasters/notesMaster1.xml" Id="R0fda677d8b554e3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abc88f432ce4b72" /><Relationship Type="http://schemas.openxmlformats.org/officeDocument/2006/relationships/notesMaster" Target="/ppt/notesMasters/notesMaster1.xml" Id="R6205f4e8eea043d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f03be3d69f141a3" /><Relationship Type="http://schemas.openxmlformats.org/officeDocument/2006/relationships/notesMaster" Target="/ppt/notesMasters/notesMaster1.xml" Id="Re5004ae2fe47438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99d7b4994254e11" /><Relationship Type="http://schemas.openxmlformats.org/officeDocument/2006/relationships/notesMaster" Target="/ppt/notesMasters/notesMaster1.xml" Id="Rf7645c13c1f14a81"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Presenting the project and individual contribution</a:t>
            </a:r>
          </a:p>
          <a:p>
            <a:r>
              <a:t>CML3111, Week 15, slide 1</a:t>
            </a:r>
          </a:p>
          <a:p>
            <a:r>
              <a:t/>
            </a:r>
          </a:p>
          <a:p>
            <a:r>
              <a:t>Explanation to give</a:t>
            </a:r>
          </a:p>
          <a:p>
            <a:r>
              <a:t>Explain a supported finding, its limitation and the individual work behind it. The team project and each learner’s defence are distinct evidence.</a:t>
            </a:r>
          </a:p>
          <a:p>
            <a:r>
              <a:t/>
            </a:r>
          </a:p>
          <a:p>
            <a:r>
              <a:t>Worked illustration / lecturer answer</a:t>
            </a:r>
          </a:p>
          <a:p>
            <a:r>
              <a:t>A claim should point to a named plot or result, its target unit, the evaluated sample and the decision it supports. “Our model is good” supplies none of these.</a:t>
            </a:r>
          </a:p>
          <a:p>
            <a:r>
              <a:t/>
            </a:r>
          </a:p>
          <a:p>
            <a:r>
              <a:t>Misconception to address</a:t>
            </a:r>
          </a:p>
          <a:p>
            <a:r>
              <a:t>Use this as an orientation to the lesson. Terms and syntax will be unpacked on their own slides; students do not need to know them in advance.</a:t>
            </a:r>
          </a:p>
          <a:p>
            <a:r>
              <a:t/>
            </a:r>
          </a:p>
          <a:p>
            <a:r>
              <a:t>On this slide</a:t>
            </a:r>
          </a:p>
          <a:p>
            <a:r>
              <a:t>Communications, Electrical, Mechatronics and Robotics Engineering</a:t>
            </a:r>
          </a:p>
          <a:p>
            <a:r>
              <a:t/>
            </a:r>
          </a:p>
          <a:p>
            <a:r>
              <a:t>Continue to</a:t>
            </a:r>
          </a:p>
          <a:p>
            <a:r>
              <a:t>Today’s learning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Today’s learning</a:t>
            </a:r>
          </a:p>
          <a:p>
            <a:r>
              <a:t>CML3111, Week 15, slide 2</a:t>
            </a:r>
          </a:p>
          <a:p>
            <a:r>
              <a:t/>
            </a:r>
          </a:p>
          <a:p>
            <a:r>
              <a:t>Explanation to give</a:t>
            </a:r>
          </a:p>
          <a:p>
            <a:r>
              <a:t>Explain a supported finding, its limitation and the individual work behind it. The team project and each learner’s defence are distinct evidence.</a:t>
            </a:r>
          </a:p>
          <a:p>
            <a:r>
              <a:t/>
            </a:r>
          </a:p>
          <a:p>
            <a:r>
              <a:t>Worked illustration / lecturer answer</a:t>
            </a:r>
          </a:p>
          <a:p>
            <a:r>
              <a:t>A claim should point to a named plot or result, its target unit, the evaluated sample and the decision it supports. “Our model is good” supplies none of these.</a:t>
            </a:r>
          </a:p>
          <a:p>
            <a:r>
              <a:t/>
            </a:r>
          </a:p>
          <a:p>
            <a:r>
              <a:t>Misconception to address</a:t>
            </a:r>
          </a:p>
          <a:p>
            <a:r>
              <a:t>At the end, check the specific outcome shown here using a small previously demonstrated example. A completed file without an explanation is not evidence of understanding.</a:t>
            </a:r>
          </a:p>
          <a:p>
            <a:r>
              <a:t/>
            </a:r>
          </a:p>
          <a:p>
            <a:r>
              <a:t>On this slide</a:t>
            </a:r>
          </a:p>
          <a:p>
            <a:r>
              <a:t>Explain your question and one supported finding.</a:t>
            </a:r>
          </a:p>
          <a:p>
            <a:r>
              <a:t/>
            </a:r>
          </a:p>
          <a:p>
            <a:r>
              <a:t>State a limitation and your individual contribution.</a:t>
            </a:r>
          </a:p>
          <a:p>
            <a:r>
              <a:t/>
            </a:r>
          </a:p>
          <a:p>
            <a:r>
              <a:t>Continue to</a:t>
            </a:r>
          </a:p>
          <a:p>
            <a:r>
              <a:t>Connection to the previous lesson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Connection to the previous lesson</a:t>
            </a:r>
          </a:p>
          <a:p>
            <a:r>
              <a:t>CML3111, Week 15, slide 3</a:t>
            </a:r>
          </a:p>
          <a:p>
            <a:r>
              <a:t/>
            </a:r>
          </a:p>
          <a:p>
            <a:r>
              <a:t>Explanation to give</a:t>
            </a:r>
          </a:p>
          <a:p>
            <a:r>
              <a:t>Explain a supported finding, its limitation and the individual work behind it. The team project and each learner’s defence are distinct evidence.</a:t>
            </a:r>
          </a:p>
          <a:p>
            <a:r>
              <a:t/>
            </a:r>
          </a:p>
          <a:p>
            <a:r>
              <a:t>Worked illustration / lecturer answer</a:t>
            </a:r>
          </a:p>
          <a:p>
            <a:r>
              <a:t>A claim should point to a named plot or result, its target unit, the evaluated sample and the decision it supports. “Our model is good” supplies none of these.</a:t>
            </a:r>
          </a:p>
          <a:p>
            <a:r>
              <a:t/>
            </a:r>
          </a:p>
          <a:p>
            <a:r>
              <a:t>Misconception to address</a:t>
            </a:r>
          </a:p>
          <a:p>
            <a:r>
              <a:t>Connect this to the previous result named on this slide. Demonstrate the first step again if necessary; there is no requirement for partner work before the explanation.</a:t>
            </a:r>
          </a:p>
          <a:p>
            <a:r>
              <a:t/>
            </a:r>
          </a:p>
          <a:p>
            <a:r>
              <a:t>On this slide</a:t>
            </a:r>
          </a:p>
          <a:p>
            <a:r>
              <a:t>What question did your team investigate, and what result can you support with evidence?</a:t>
            </a:r>
          </a:p>
          <a:p>
            <a:r>
              <a:t/>
            </a:r>
          </a:p>
          <a:p>
            <a:r>
              <a:t>Continue to</a:t>
            </a:r>
          </a:p>
          <a:p>
            <a:r>
              <a:t>A presentation connects a claim to evidence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 presentation connects a claim to evidence</a:t>
            </a:r>
          </a:p>
          <a:p>
            <a:r>
              <a:t>CML3111, Week 15, slide 4</a:t>
            </a:r>
          </a:p>
          <a:p>
            <a:r>
              <a:t/>
            </a:r>
          </a:p>
          <a:p>
            <a:r>
              <a:t>Explanation to give</a:t>
            </a:r>
          </a:p>
          <a:p>
            <a:r>
              <a:t>Explain the chain from engineering question to measured evidence to a bounded recommendation. A finding states what was observed; a limitation identifies where that evidence may not apply.</a:t>
            </a:r>
          </a:p>
          <a:p>
            <a:r>
              <a:t/>
            </a:r>
          </a:p>
          <a:p>
            <a:r>
              <a:t>Worked illustration / lecturer answer</a:t>
            </a:r>
          </a:p>
          <a:p>
            <a:r>
              <a:t>“On this held-out sample, MAE was 3 kW” states a result. “The sample contains only one site” limits the claim. Neither statement alone justifies deployment at every site.</a:t>
            </a:r>
          </a:p>
          <a:p>
            <a:r>
              <a:t/>
            </a:r>
          </a:p>
          <a:p>
            <a:r>
              <a:t>Misconception to address</a:t>
            </a:r>
          </a:p>
          <a:p>
            <a:r>
              <a:t>A polished chart cannot replace a defined target, correct units or an honest description of the evaluation sample.</a:t>
            </a:r>
          </a:p>
          <a:p>
            <a:r>
              <a:t/>
            </a:r>
          </a:p>
          <a:p>
            <a:r>
              <a:t>On this slide</a:t>
            </a:r>
          </a:p>
          <a:p>
            <a:r>
              <a:t>Finding and limitation: A finding states what the evidence shows. A limitation states where that evidence is incomplete or may not apply. Point to the relevant chart, metric or record.</a:t>
            </a:r>
          </a:p>
          <a:p>
            <a:r>
              <a:t>Defence and reflection: A defence explains why you made a choice. A reflection explains what you learned and would improve. Describe your own contribution with specific evidence.</a:t>
            </a:r>
          </a:p>
          <a:p>
            <a:r>
              <a:t/>
            </a:r>
          </a:p>
          <a:p>
            <a:r>
              <a:t>Continue to</a:t>
            </a:r>
          </a:p>
          <a:p>
            <a:r>
              <a:t>A six-minute presentation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 six-minute presentation</a:t>
            </a:r>
          </a:p>
          <a:p>
            <a:r>
              <a:t>CML3111, Week 15, slide 5</a:t>
            </a:r>
          </a:p>
          <a:p>
            <a:r>
              <a:t/>
            </a:r>
          </a:p>
          <a:p>
            <a:r>
              <a:t>Explanation to give</a:t>
            </a:r>
          </a:p>
          <a:p>
            <a:r>
              <a:t>Explain the chain from engineering question to measured evidence to a bounded recommendation. A finding states what was observed; a limitation identifies where that evidence may not apply.</a:t>
            </a:r>
          </a:p>
          <a:p>
            <a:r>
              <a:t/>
            </a:r>
          </a:p>
          <a:p>
            <a:r>
              <a:t>Worked illustration / lecturer answer</a:t>
            </a:r>
          </a:p>
          <a:p>
            <a:r>
              <a:t>“On this held-out sample, MAE was 3 kW” states a result. “The sample contains only one site” limits the claim. Neither statement alone justifies deployment at every site.</a:t>
            </a:r>
          </a:p>
          <a:p>
            <a:r>
              <a:t/>
            </a:r>
          </a:p>
          <a:p>
            <a:r>
              <a:t>Misconception to address</a:t>
            </a:r>
          </a:p>
          <a:p>
            <a:r>
              <a:t>A polished chart cannot replace a defined target, correct units or an honest description of the evaluation sample.</a:t>
            </a:r>
          </a:p>
          <a:p>
            <a:r>
              <a:t/>
            </a:r>
          </a:p>
          <a:p>
            <a:r>
              <a:t>On this slide</a:t>
            </a:r>
          </a:p>
          <a:p>
            <a:r>
              <a:t>Minutes 1–2: explain the question and data.</a:t>
            </a:r>
          </a:p>
          <a:p>
            <a:r>
              <a:t/>
            </a:r>
          </a:p>
          <a:p>
            <a:r>
              <a:t>Minutes 3–4: show the method and one supported result.</a:t>
            </a:r>
          </a:p>
          <a:p>
            <a:r>
              <a:t/>
            </a:r>
          </a:p>
          <a:p>
            <a:r>
              <a:t>Minutes 5–6: explain limitations, contributions and a next step.</a:t>
            </a:r>
          </a:p>
          <a:p>
            <a:r>
              <a:t/>
            </a:r>
          </a:p>
          <a:p>
            <a:r>
              <a:t>Continue to</a:t>
            </a:r>
          </a:p>
          <a:p>
            <a:r>
              <a:t>Make the evidence readable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Make the evidence readable</a:t>
            </a:r>
          </a:p>
          <a:p>
            <a:r>
              <a:t>CML3111, Week 15, slide 6</a:t>
            </a:r>
          </a:p>
          <a:p>
            <a:r>
              <a:t/>
            </a:r>
          </a:p>
          <a:p>
            <a:r>
              <a:t>Explanation to give</a:t>
            </a:r>
          </a:p>
          <a:p>
            <a:r>
              <a:t>Explain the chain from engineering question to measured evidence to a bounded recommendation. A finding states what was observed; a limitation identifies where that evidence may not apply.</a:t>
            </a:r>
          </a:p>
          <a:p>
            <a:r>
              <a:t/>
            </a:r>
          </a:p>
          <a:p>
            <a:r>
              <a:t>Worked illustration / lecturer answer</a:t>
            </a:r>
          </a:p>
          <a:p>
            <a:r>
              <a:t>“On this held-out sample, MAE was 3 kW” states a result. “The sample contains only one site” limits the claim. Neither statement alone justifies deployment at every site.</a:t>
            </a:r>
          </a:p>
          <a:p>
            <a:r>
              <a:t/>
            </a:r>
          </a:p>
          <a:p>
            <a:r>
              <a:t>Misconception to address</a:t>
            </a:r>
          </a:p>
          <a:p>
            <a:r>
              <a:t>A polished chart cannot replace a defined target, correct units or an honest description of the evaluation sample.</a:t>
            </a:r>
          </a:p>
          <a:p>
            <a:r>
              <a:t/>
            </a:r>
          </a:p>
          <a:p>
            <a:r>
              <a:t>On this slide</a:t>
            </a:r>
          </a:p>
          <a:p>
            <a:r>
              <a:t>Name the chart axes and their units.</a:t>
            </a:r>
          </a:p>
          <a:p>
            <a:r>
              <a:t/>
            </a:r>
          </a:p>
          <a:p>
            <a:r>
              <a:t>State the measured evaluation result and how you obtained it.</a:t>
            </a:r>
          </a:p>
          <a:p>
            <a:r>
              <a:t/>
            </a:r>
          </a:p>
          <a:p>
            <a:r>
              <a:t>Point to the particular table, plot or calculation that supports your claim.</a:t>
            </a:r>
          </a:p>
          <a:p>
            <a:r>
              <a:t/>
            </a:r>
          </a:p>
          <a:p>
            <a:r>
              <a:t>Continue to</a:t>
            </a:r>
          </a:p>
          <a:p>
            <a:r>
              <a:t>Limitations of the results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Limitations of the results</a:t>
            </a:r>
          </a:p>
          <a:p>
            <a:r>
              <a:t>CML3111, Week 15, slide 7</a:t>
            </a:r>
          </a:p>
          <a:p>
            <a:r>
              <a:t/>
            </a:r>
          </a:p>
          <a:p>
            <a:r>
              <a:t>Explanation to give</a:t>
            </a:r>
          </a:p>
          <a:p>
            <a:r>
              <a:t>Explain the chain from engineering question to measured evidence to a bounded recommendation. A finding states what was observed; a limitation identifies where that evidence may not apply.</a:t>
            </a:r>
          </a:p>
          <a:p>
            <a:r>
              <a:t/>
            </a:r>
          </a:p>
          <a:p>
            <a:r>
              <a:t>Worked illustration / lecturer answer</a:t>
            </a:r>
          </a:p>
          <a:p>
            <a:r>
              <a:t>“On this held-out sample, MAE was 3 kW” states a result. “The sample contains only one site” limits the claim. Neither statement alone justifies deployment at every site.</a:t>
            </a:r>
          </a:p>
          <a:p>
            <a:r>
              <a:t/>
            </a:r>
          </a:p>
          <a:p>
            <a:r>
              <a:t>Misconception to address</a:t>
            </a:r>
          </a:p>
          <a:p>
            <a:r>
              <a:t>A polished chart cannot replace a defined target, correct units or an honest description of the evaluation sample.</a:t>
            </a:r>
          </a:p>
          <a:p>
            <a:r>
              <a:t/>
            </a:r>
          </a:p>
          <a:p>
            <a:r>
              <a:t>On this slide</a:t>
            </a:r>
          </a:p>
          <a:p>
            <a:r>
              <a:t>State what your investigation can support.</a:t>
            </a:r>
          </a:p>
          <a:p>
            <a:r>
              <a:t/>
            </a:r>
          </a:p>
          <a:p>
            <a:r>
              <a:t>If an answer is unknown, say what evidence would resolve it.</a:t>
            </a:r>
          </a:p>
          <a:p>
            <a:r>
              <a:t/>
            </a:r>
          </a:p>
          <a:p>
            <a:r>
              <a:t>Teaching data alone do not establish readiness for real operation.</a:t>
            </a:r>
          </a:p>
          <a:p>
            <a:r>
              <a:t/>
            </a:r>
          </a:p>
          <a:p>
            <a:r>
              <a:t>Continue to</a:t>
            </a:r>
          </a:p>
          <a:p>
            <a:r>
              <a:t>Preparation checkpoint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Preparation checkpoint</a:t>
            </a:r>
          </a:p>
          <a:p>
            <a:r>
              <a:t>CML3111, Week 15, slide 8</a:t>
            </a:r>
          </a:p>
          <a:p>
            <a:r>
              <a:t/>
            </a:r>
          </a:p>
          <a:p>
            <a:r>
              <a:t>Explanation to give</a:t>
            </a:r>
          </a:p>
          <a:p>
            <a:r>
              <a:t>Each learner should be able to explain one decision they personally worked on and point to its evidence in the project.</a:t>
            </a:r>
          </a:p>
          <a:p>
            <a:r>
              <a:t/>
            </a:r>
          </a:p>
          <a:p>
            <a:r>
              <a:t>Worked illustration / lecturer answer</a:t>
            </a:r>
          </a:p>
          <a:p>
            <a:r>
              <a:t>Ask for the relevant cell, chart or contribution entry, then a reason for that choice and a limitation. This connects authorship to understanding.</a:t>
            </a:r>
          </a:p>
          <a:p>
            <a:r>
              <a:t/>
            </a:r>
          </a:p>
          <a:p>
            <a:r>
              <a:t>Misconception to address</a:t>
            </a:r>
          </a:p>
          <a:p>
            <a:r>
              <a:t>Live discussion is formative. Collect the individual written evidence required by DEMO so the automatic assessment has the explanation in an accessible form.</a:t>
            </a:r>
          </a:p>
          <a:p>
            <a:r>
              <a:t/>
            </a:r>
          </a:p>
          <a:p>
            <a:r>
              <a:t>On this slide</a:t>
            </a:r>
          </a:p>
          <a:p>
            <a:r>
              <a:t>Each student can explain one decision they personally worked on and point to its evidence.</a:t>
            </a:r>
          </a:p>
          <a:p>
            <a:r>
              <a:t/>
            </a:r>
          </a:p>
          <a:p>
            <a:r>
              <a:t>Continue to</a:t>
            </a:r>
          </a:p>
          <a:p>
            <a:r>
              <a:t>Your evidence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Your evidence</a:t>
            </a:r>
          </a:p>
          <a:p>
            <a:r>
              <a:t>CML3111, Week 15, slide 9</a:t>
            </a:r>
          </a:p>
          <a:p>
            <a:r>
              <a:t/>
            </a:r>
          </a:p>
          <a:p>
            <a:r>
              <a:t>Explanation to give</a:t>
            </a:r>
          </a:p>
          <a:p>
            <a:r>
              <a:t>The team project and the individual DEMO evidence have separate purposes. Each learner submits their own explanation of decisions and reflection on learning.</a:t>
            </a:r>
          </a:p>
          <a:p>
            <a:r>
              <a:t/>
            </a:r>
          </a:p>
          <a:p>
            <a:r>
              <a:t>Worked illustration / lecturer answer</a:t>
            </a:r>
          </a:p>
          <a:p>
            <a:r>
              <a:t>A defence points to specific cells or results in the project. A reflection describes changed understanding, remaining difficulties and the required Semester 2 goals.</a:t>
            </a:r>
          </a:p>
          <a:p>
            <a:r>
              <a:t/>
            </a:r>
          </a:p>
          <a:p>
            <a:r>
              <a:t>Misconception to address</a:t>
            </a:r>
          </a:p>
          <a:p>
            <a:r>
              <a:t>Do not submit one generic team reflection for everybody. Follow the DEMO guide’s presentation and written-document requirements.</a:t>
            </a:r>
          </a:p>
          <a:p>
            <a:r>
              <a:t/>
            </a:r>
          </a:p>
          <a:p>
            <a:r>
              <a:t>On this slide</a:t>
            </a:r>
          </a:p>
          <a:p>
            <a:r>
              <a:t>Use the published project and DEMO requirements.</a:t>
            </a:r>
          </a:p>
          <a:p>
            <a:r>
              <a:t/>
            </a:r>
          </a:p>
          <a:p>
            <a:r>
              <a:t>Each individual submits their own typed defence and reflection through the designated route.</a:t>
            </a:r>
          </a:p>
          <a:p>
            <a:r>
              <a:t/>
            </a:r>
          </a:p>
          <a:p>
            <a:r>
              <a:t>Submit your own written defence and reflection as instructed.</a:t>
            </a:r>
          </a:p>
          <a:p>
            <a:r>
              <a:t/>
            </a:r>
          </a:p>
          <a:p>
            <a:r>
              <a:t>Continue to</a:t>
            </a:r>
          </a:p>
          <a:p>
            <a:r>
              <a:t>Engineering ML project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Engineering ML project</a:t>
            </a:r>
          </a:p>
          <a:p>
            <a:r>
              <a:t>CML3111, Week 15, slide 10</a:t>
            </a:r>
          </a:p>
          <a:p>
            <a:r>
              <a:t/>
            </a:r>
          </a:p>
          <a:p>
            <a:r>
              <a:t>Explanation to give</a:t>
            </a:r>
          </a:p>
          <a:p>
            <a:r>
              <a:t>Show the actual markdown answer cell headed My written evidence. This is where the learner explains the choices and the supplied scenario in their own words.</a:t>
            </a:r>
          </a:p>
          <a:p>
            <a:r>
              <a:t/>
            </a:r>
          </a:p>
          <a:p>
            <a:r>
              <a:t>Worked illustration / lecturer answer</a:t>
            </a:r>
          </a:p>
          <a:p>
            <a:r>
              <a:t>A useful explanation connects a decision to a named result and its limitation: for example, why a training-only median avoids using evaluation information. Describe supplied scenario figures as supplied, not as measurements the learner produced.</a:t>
            </a:r>
          </a:p>
          <a:p>
            <a:r>
              <a:t/>
            </a:r>
          </a:p>
          <a:p>
            <a:r>
              <a:t>Misconception to address</a:t>
            </a:r>
          </a:p>
          <a:p>
            <a:r>
              <a:t>Prompts and copied code comments do not substitute for the learner’s reasoning. Weekly work and tests use the notebook; projects also require their separate readable report.</a:t>
            </a:r>
          </a:p>
          <a:p>
            <a:r>
              <a:t/>
            </a:r>
          </a:p>
          <a:p>
            <a:r>
              <a:t>On this slide</a:t>
            </a:r>
          </a:p>
          <a:p>
            <a:r>
              <a:t>Write your own explanation in the markdown cell headed `## My written evidence`.</a:t>
            </a:r>
          </a:p>
          <a:p>
            <a:r>
              <a:t/>
            </a:r>
          </a:p>
          <a:p>
            <a:r>
              <a:t>Keep that heading.</a:t>
            </a:r>
          </a:p>
          <a:p>
            <a:r>
              <a:t/>
            </a:r>
          </a:p>
          <a:p>
            <a:r>
              <a:t>Task prompts and code comments are excluded from reasoning marks.</a:t>
            </a:r>
          </a:p>
          <a:p>
            <a:r>
              <a:t/>
            </a:r>
          </a:p>
          <a:p>
            <a:r>
              <a:t>Complete every original rubric criterion below, not just the checked functions.</a:t>
            </a:r>
          </a:p>
          <a:p>
            <a:r>
              <a:t/>
            </a:r>
          </a:p>
          <a:p>
            <a:r>
              <a:t>Continue to</a:t>
            </a:r>
          </a:p>
          <a:p>
            <a:r>
              <a:t>Engineering ML project continued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Engineering ML project continued</a:t>
            </a:r>
          </a:p>
          <a:p>
            <a:r>
              <a:t>CML3111, Week 15, slide 11</a:t>
            </a:r>
          </a:p>
          <a:p>
            <a:r>
              <a:t/>
            </a:r>
          </a:p>
          <a:p>
            <a:r>
              <a:t>Explanation to give</a:t>
            </a:r>
          </a:p>
          <a:p>
            <a:r>
              <a:t>A chart must answer a stated question and show the actual data result. Explain what one mark represents and label both the quantity and unit before stating the finding.</a:t>
            </a:r>
          </a:p>
          <a:p>
            <a:r>
              <a:t/>
            </a:r>
          </a:p>
          <a:p>
            <a:r>
              <a:t>Worked illustration / lecturer answer</a:t>
            </a:r>
          </a:p>
          <a:p>
            <a:r>
              <a:t>A useful caption names the group or sample, the observed difference and the relevant unit. A limitation states what the plotted observations cannot establish, such as causation or performance at a new site.</a:t>
            </a:r>
          </a:p>
          <a:p>
            <a:r>
              <a:t/>
            </a:r>
          </a:p>
          <a:p>
            <a:r>
              <a:t>Misconception to address</a:t>
            </a:r>
          </a:p>
          <a:p>
            <a:r>
              <a:t>Text claiming “a chart was made” is not the required chart. Check the exact number and kinds required on this slide and in the assessment guide.</a:t>
            </a:r>
          </a:p>
          <a:p>
            <a:r>
              <a:t/>
            </a:r>
          </a:p>
          <a:p>
            <a:r>
              <a:t>On this slide</a:t>
            </a:r>
          </a:p>
          <a:p>
            <a:r>
              <a:t>Include profiling, justified cleaning, question-led charts and your engineering recommendation where required.</a:t>
            </a:r>
          </a:p>
          <a:p>
            <a:r>
              <a:t/>
            </a:r>
          </a:p>
          <a:p>
            <a:r>
              <a:t>Keep raw data.</a:t>
            </a:r>
          </a:p>
          <a:p>
            <a:r>
              <a:t/>
            </a:r>
          </a:p>
          <a:p>
            <a:r>
              <a:t>State units and distinguish correlation from causation.</a:t>
            </a:r>
          </a:p>
          <a:p>
            <a:r>
              <a:t/>
            </a:r>
          </a:p>
          <a:p>
            <a:r>
              <a:t>Charts must be actual labelled figures in the notebook, not claims that charts exist.</a:t>
            </a:r>
          </a:p>
          <a:p>
            <a:r>
              <a:t/>
            </a:r>
          </a:p>
          <a:p>
            <a:r>
              <a:t>Continue to</a:t>
            </a:r>
          </a:p>
          <a:p>
            <a:r>
              <a:t>Engineering ML project continued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Engineering ML project continued</a:t>
            </a:r>
          </a:p>
          <a:p>
            <a:r>
              <a:t>CML3111, Week 15, slide 12</a:t>
            </a:r>
          </a:p>
          <a:p>
            <a:r>
              <a:t/>
            </a:r>
          </a:p>
          <a:p>
            <a:r>
              <a:t>Explanation to give</a:t>
            </a:r>
          </a:p>
          <a:p>
            <a:r>
              <a:t>Bound the proposed engineering problem: identify the decision, intended users, operating setting and quantity or class to predict. Explain why the target supports that decision.</a:t>
            </a:r>
          </a:p>
          <a:p>
            <a:r>
              <a:t/>
            </a:r>
          </a:p>
          <a:p>
            <a:r>
              <a:t>Worked illustration / lecturer answer</a:t>
            </a:r>
          </a:p>
          <a:p>
            <a:r>
              <a:t>A target should be chosen because knowing it helps the decision, not merely because it is a convenient numeric column in the file.</a:t>
            </a:r>
          </a:p>
          <a:p>
            <a:r>
              <a:t/>
            </a:r>
          </a:p>
          <a:p>
            <a:r>
              <a:t>Misconception to address</a:t>
            </a:r>
          </a:p>
          <a:p>
            <a:r>
              <a:t>A broad theme such as “AI for buildings” does not yet specify a model task. The project report must make the target and intended use explicit.</a:t>
            </a:r>
          </a:p>
          <a:p>
            <a:r>
              <a:t/>
            </a:r>
          </a:p>
          <a:p>
            <a:r>
              <a:t>On this slide</a:t>
            </a:r>
          </a:p>
          <a:p>
            <a:r>
              <a:t>Include captions and a separate readable DOCX/PDF report.</a:t>
            </a:r>
          </a:p>
          <a:p>
            <a:r>
              <a:t/>
            </a:r>
          </a:p>
          <a:p>
            <a:r>
              <a:t>Problem definition (15.0 total): The engineering problem is real, specific and bounded.</a:t>
            </a:r>
          </a:p>
          <a:p>
            <a:r>
              <a:t/>
            </a:r>
          </a:p>
          <a:p>
            <a:r>
              <a:t>The ML task is correctly derived from it.</a:t>
            </a:r>
          </a:p>
          <a:p>
            <a:r>
              <a:t/>
            </a:r>
          </a:p>
          <a:p>
            <a:r>
              <a:t>The target variable is justified, not merely available.</a:t>
            </a:r>
          </a:p>
          <a:p>
            <a:r>
              <a:t/>
            </a:r>
          </a:p>
          <a:p>
            <a:r>
              <a:t>Continue to</a:t>
            </a:r>
          </a:p>
          <a:p>
            <a:r>
              <a:t>Engineering ML project continued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Engineering ML project continued</a:t>
            </a:r>
          </a:p>
          <a:p>
            <a:r>
              <a:t>CML3111, Week 15, slide 13</a:t>
            </a:r>
          </a:p>
          <a:p>
            <a:r>
              <a:t/>
            </a:r>
          </a:p>
          <a:p>
            <a:r>
              <a:t>Explanation to give</a:t>
            </a:r>
          </a:p>
          <a:p>
            <a:r>
              <a:t>Problem framing begins with a bounded engineering decision and a defined target. Provenance explains where observations came from; a licence states what reuse is allowed.</a:t>
            </a:r>
          </a:p>
          <a:p>
            <a:r>
              <a:t/>
            </a:r>
          </a:p>
          <a:p>
            <a:r>
              <a:t>Worked illustration / lecturer answer</a:t>
            </a:r>
          </a:p>
          <a:p>
            <a:r>
              <a:t>State the population, measurement period, units and who collected the data. Explain how those observations could answer the chosen question rather than merely describing an interesting file.</a:t>
            </a:r>
          </a:p>
          <a:p>
            <a:r>
              <a:t/>
            </a:r>
          </a:p>
          <a:p>
            <a:r>
              <a:t>Misconception to address</a:t>
            </a:r>
          </a:p>
          <a:p>
            <a:r>
              <a:t>Synthetic teaching data must be labelled as synthetic. A plausible story does not establish that a dataset contains the information or permissions the proposed project needs.</a:t>
            </a:r>
          </a:p>
          <a:p>
            <a:r>
              <a:t/>
            </a:r>
          </a:p>
          <a:p>
            <a:r>
              <a:t>On this slide</a:t>
            </a:r>
          </a:p>
          <a:p>
            <a:r>
              <a:t>Data understanding (15.0 total): Provenance, licence and collection method stated.</a:t>
            </a:r>
          </a:p>
          <a:p>
            <a:r>
              <a:t/>
            </a:r>
          </a:p>
          <a:p>
            <a:r>
              <a:t>Defects found and handled with justification.</a:t>
            </a:r>
          </a:p>
          <a:p>
            <a:r>
              <a:t/>
            </a:r>
          </a:p>
          <a:p>
            <a:r>
              <a:t>Limitations of the data acknowledged before any modelling.</a:t>
            </a:r>
          </a:p>
          <a:p>
            <a:r>
              <a:t/>
            </a:r>
          </a:p>
          <a:p>
            <a:r>
              <a:t>Methodology (20.0 total): Appropriate models chosen and compared under one protocol.</a:t>
            </a:r>
          </a:p>
          <a:p>
            <a:r>
              <a:t/>
            </a:r>
          </a:p>
          <a:p>
            <a:r>
              <a:t>Continue to</a:t>
            </a:r>
          </a:p>
          <a:p>
            <a:r>
              <a:t>Engineering ML project continued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Engineering ML project continued</a:t>
            </a:r>
          </a:p>
          <a:p>
            <a:r>
              <a:t>CML3111, Week 15, slide 14</a:t>
            </a:r>
          </a:p>
          <a:p>
            <a:r>
              <a:t/>
            </a:r>
          </a:p>
          <a:p>
            <a:r>
              <a:t>Explanation to give</a:t>
            </a:r>
          </a:p>
          <a:p>
            <a:r>
              <a:t>Explain the order: partition data using the stated protocol, fit preparation on training data, fit models, compare on validation data and leave final test data untouched until choices are fixed.</a:t>
            </a:r>
          </a:p>
          <a:p>
            <a:r>
              <a:t/>
            </a:r>
          </a:p>
          <a:p>
            <a:r>
              <a:t>Worked illustration / lecturer answer</a:t>
            </a:r>
          </a:p>
          <a:p>
            <a:r>
              <a:t>Compare models on identical held-out observations with the same metric and preprocessing rules. Each cross-validation training fold learns its own preparation values.</a:t>
            </a:r>
          </a:p>
          <a:p>
            <a:r>
              <a:t/>
            </a:r>
          </a:p>
          <a:p>
            <a:r>
              <a:t>Misconception to address</a:t>
            </a:r>
          </a:p>
          <a:p>
            <a:r>
              <a:t>A written claim of no leakage must agree with the executable split and fitting code. Follow the published execution requirement for any criterion linked to the split check.</a:t>
            </a:r>
          </a:p>
          <a:p>
            <a:r>
              <a:t/>
            </a:r>
          </a:p>
          <a:p>
            <a:r>
              <a:t>On this slide</a:t>
            </a:r>
          </a:p>
          <a:p>
            <a:r>
              <a:t>Pipeline used.</a:t>
            </a:r>
          </a:p>
          <a:p>
            <a:r>
              <a:t/>
            </a:r>
          </a:p>
          <a:p>
            <a:r>
              <a:t>Hyperparameters handled sensibly.</a:t>
            </a:r>
          </a:p>
          <a:p>
            <a:r>
              <a:t/>
            </a:r>
          </a:p>
          <a:p>
            <a:r>
              <a:t>Choices explained rather than defaulted to.</a:t>
            </a:r>
          </a:p>
          <a:p>
            <a:r>
              <a:t/>
            </a:r>
          </a:p>
          <a:p>
            <a:r>
              <a:t>Engineering reasoning (20.0 total): Domain knowledge visibly enters the work through features, banding, metric choice or interpretation.</a:t>
            </a:r>
          </a:p>
          <a:p>
            <a:r>
              <a:t/>
            </a:r>
          </a:p>
          <a:p>
            <a:r>
              <a:t>Continue to</a:t>
            </a:r>
          </a:p>
          <a:p>
            <a:r>
              <a:t>Engineering ML project continued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Engineering ML project continued</a:t>
            </a:r>
          </a:p>
          <a:p>
            <a:r>
              <a:t>CML3111, Week 15, slide 15</a:t>
            </a:r>
          </a:p>
          <a:p>
            <a:r>
              <a:t/>
            </a:r>
          </a:p>
          <a:p>
            <a:r>
              <a:t>Explanation to give</a:t>
            </a:r>
          </a:p>
          <a:p>
            <a:r>
              <a:t>Explain the order: partition data using the stated protocol, fit preparation on training data, fit models, compare on validation data and leave final test data untouched until choices are fixed.</a:t>
            </a:r>
          </a:p>
          <a:p>
            <a:r>
              <a:t/>
            </a:r>
          </a:p>
          <a:p>
            <a:r>
              <a:t>Worked illustration / lecturer answer</a:t>
            </a:r>
          </a:p>
          <a:p>
            <a:r>
              <a:t>Compare models on identical held-out observations with the same metric and preprocessing rules. Each cross-validation training fold learns its own preparation values.</a:t>
            </a:r>
          </a:p>
          <a:p>
            <a:r>
              <a:t/>
            </a:r>
          </a:p>
          <a:p>
            <a:r>
              <a:t>Misconception to address</a:t>
            </a:r>
          </a:p>
          <a:p>
            <a:r>
              <a:t>A written claim of no leakage must agree with the executable split and fitting code. Follow the published execution requirement for any criterion linked to the split check.</a:t>
            </a:r>
          </a:p>
          <a:p>
            <a:r>
              <a:t/>
            </a:r>
          </a:p>
          <a:p>
            <a:r>
              <a:t>On this slide</a:t>
            </a:r>
          </a:p>
          <a:p>
            <a:r>
              <a:t>The result is discussed as engineering, not as a score.</a:t>
            </a:r>
          </a:p>
          <a:p>
            <a:r>
              <a:t/>
            </a:r>
          </a:p>
          <a:p>
            <a:r>
              <a:t>Validation (15.0 total): Correct train/test discipline, cross-validation with a reported spread, leakage explicitly checked and ruled out, metric justified against the cost of error.</a:t>
            </a:r>
          </a:p>
          <a:p>
            <a:r>
              <a:t/>
            </a:r>
          </a:p>
          <a:p>
            <a:r>
              <a:t>Communication (10.0 total): The 2-page brief is readable by a non-specialist engineer.</a:t>
            </a:r>
          </a:p>
          <a:p>
            <a:r>
              <a:t/>
            </a:r>
          </a:p>
          <a:p>
            <a:r>
              <a:t>Continue to</a:t>
            </a:r>
          </a:p>
          <a:p>
            <a:r>
              <a:t>Engineering ML project continued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Engineering ML project continued</a:t>
            </a:r>
          </a:p>
          <a:p>
            <a:r>
              <a:t>CML3111, Week 15, slide 16</a:t>
            </a:r>
          </a:p>
          <a:p>
            <a:r>
              <a:t/>
            </a:r>
          </a:p>
          <a:p>
            <a:r>
              <a:t>Explanation to give</a:t>
            </a:r>
          </a:p>
          <a:p>
            <a:r>
              <a:t>A chart must answer a stated question and show the actual data result. Explain what one mark represents and label both the quantity and unit before stating the finding.</a:t>
            </a:r>
          </a:p>
          <a:p>
            <a:r>
              <a:t/>
            </a:r>
          </a:p>
          <a:p>
            <a:r>
              <a:t>Worked illustration / lecturer answer</a:t>
            </a:r>
          </a:p>
          <a:p>
            <a:r>
              <a:t>A useful caption names the group or sample, the observed difference and the relevant unit. A limitation states what the plotted observations cannot establish, such as causation or performance at a new site.</a:t>
            </a:r>
          </a:p>
          <a:p>
            <a:r>
              <a:t/>
            </a:r>
          </a:p>
          <a:p>
            <a:r>
              <a:t>Misconception to address</a:t>
            </a:r>
          </a:p>
          <a:p>
            <a:r>
              <a:t>Text claiming “a chart was made” is not the required chart. Check the exact number and kinds required on this slide and in the assessment guide.</a:t>
            </a:r>
          </a:p>
          <a:p>
            <a:r>
              <a:t/>
            </a:r>
          </a:p>
          <a:p>
            <a:r>
              <a:t>On this slide</a:t>
            </a:r>
          </a:p>
          <a:p>
            <a:r>
              <a:t>Charts answer questions and are captioned with findings.</a:t>
            </a:r>
          </a:p>
          <a:p>
            <a:r>
              <a:t/>
            </a:r>
          </a:p>
          <a:p>
            <a:r>
              <a:t>State uncertainty and limitations.</a:t>
            </a:r>
          </a:p>
          <a:p>
            <a:r>
              <a:t/>
            </a:r>
          </a:p>
          <a:p>
            <a:r>
              <a:t>Reproducibility &amp; documentation (5.0 total): Repository runs from a clean clone.</a:t>
            </a:r>
          </a:p>
          <a:p>
            <a:r>
              <a:t/>
            </a:r>
          </a:p>
          <a:p>
            <a:r>
              <a:t>README complete. requirements.txt present.</a:t>
            </a:r>
          </a:p>
          <a:p>
            <a:r>
              <a:t/>
            </a:r>
          </a:p>
          <a:p>
            <a:r>
              <a:t>Continue to</a:t>
            </a:r>
          </a:p>
          <a:p>
            <a:r>
              <a:t>Engineering ML project continued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Engineering ML project continued</a:t>
            </a:r>
          </a:p>
          <a:p>
            <a:r>
              <a:t>CML3111, Week 15, slide 17</a:t>
            </a:r>
          </a:p>
          <a:p>
            <a:r>
              <a:t/>
            </a:r>
          </a:p>
          <a:p>
            <a:r>
              <a:t>Explanation to give</a:t>
            </a:r>
          </a:p>
          <a:p>
            <a:r>
              <a:t>Make contribution evidence specific enough to check. A seed records the starting state of random choices; a contribution log records who produced and explained which work.</a:t>
            </a:r>
          </a:p>
          <a:p>
            <a:r>
              <a:t/>
            </a:r>
          </a:p>
          <a:p>
            <a:r>
              <a:t>Worked illustration / lecturer answer</a:t>
            </a:r>
          </a:p>
          <a:p>
            <a:r>
              <a:t>Name a file, function or chart and the decision behind it. Match that entry to meaningful repository history. Disclose AI assistance according to the assessment policy.</a:t>
            </a:r>
          </a:p>
          <a:p>
            <a:r>
              <a:t/>
            </a:r>
          </a:p>
          <a:p>
            <a:r>
              <a:t>Misconception to address</a:t>
            </a:r>
          </a:p>
          <a:p>
            <a:r>
              <a:t>Many commits do not necessarily mean substantial work, and a seed does not establish accuracy. Both are supporting evidence, not replacements for the analysis.</a:t>
            </a:r>
          </a:p>
          <a:p>
            <a:r>
              <a:t/>
            </a:r>
          </a:p>
          <a:p>
            <a:r>
              <a:t>On this slide</a:t>
            </a:r>
          </a:p>
          <a:p>
            <a:r>
              <a:t>Seeds set.</a:t>
            </a:r>
          </a:p>
          <a:p>
            <a:r>
              <a:t/>
            </a:r>
          </a:p>
          <a:p>
            <a:r>
              <a:t>AI use declared.</a:t>
            </a:r>
          </a:p>
          <a:p>
            <a:r>
              <a:t/>
            </a:r>
          </a:p>
          <a:p>
            <a:r>
              <a:t>Contribution log present.</a:t>
            </a:r>
          </a:p>
          <a:p>
            <a:r>
              <a:t/>
            </a:r>
          </a:p>
          <a:p>
            <a:r>
              <a:t>Continue to</a:t>
            </a:r>
          </a:p>
          <a:p>
            <a:r>
              <a:t>Engineering ML project submission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Engineering ML project submission</a:t>
            </a:r>
          </a:p>
          <a:p>
            <a:r>
              <a:t>CML3111, Week 15, slide 18</a:t>
            </a:r>
          </a:p>
          <a:p>
            <a:r>
              <a:t/>
            </a:r>
          </a:p>
          <a:p>
            <a:r>
              <a:t>Explanation to give</a:t>
            </a:r>
          </a:p>
          <a:p>
            <a:r>
              <a:t>This slide hands over CML3111 ML_PROJECT. Show the exact form title before uploading. The required packet is the completed project notebook together with one readable DOCX or selectable-text PDF report.</a:t>
            </a:r>
          </a:p>
          <a:p>
            <a:r>
              <a:t/>
            </a:r>
          </a:p>
          <a:p>
            <a:r>
              <a:t>Worked illustration / lecturer answer</a:t>
            </a:r>
          </a:p>
          <a:p>
            <a:r>
              <a:t>The recorded cutoff for this form is 2026-12-18T11:00:00+03:00. Check the live form for later changes. A replacement must contain the complete required file set, not just the changed file.</a:t>
            </a:r>
          </a:p>
          <a:p>
            <a:r>
              <a:t/>
            </a:r>
          </a:p>
          <a:p>
            <a:r>
              <a:t>Misconception to address</a:t>
            </a:r>
          </a:p>
          <a:p>
            <a:r>
              <a:t>Students enter their own Student Registration Number as required freeform text. They wait for filenames to appear, press Submit and keep the confirmation. A file saved in Drive or GitHub is not itself a form submission.</a:t>
            </a:r>
          </a:p>
          <a:p>
            <a:r>
              <a:t/>
            </a:r>
          </a:p>
          <a:p>
            <a:r>
              <a:t>On this slide</a:t>
            </a:r>
          </a:p>
          <a:p>
            <a:r>
              <a:t>Opens: 27 Nov 2026, 11:00 Kampala</a:t>
            </a:r>
          </a:p>
          <a:p>
            <a:r>
              <a:t/>
            </a:r>
          </a:p>
          <a:p>
            <a:r>
              <a:t>Deadline: 18 Dec 2026, 11:00 Kampala</a:t>
            </a:r>
          </a:p>
          <a:p>
            <a:r>
              <a:t/>
            </a:r>
          </a:p>
          <a:p>
            <a:r>
              <a:t>Use your full Student Registration Number in the form.</a:t>
            </a:r>
          </a:p>
          <a:p>
            <a:r>
              <a:t/>
            </a:r>
          </a:p>
          <a:p>
            <a:r>
              <a:t>Keep the submitted files and confirmation.</a:t>
            </a:r>
          </a:p>
          <a:p>
            <a:r>
              <a:t/>
            </a:r>
          </a:p>
          <a:p>
            <a:r>
              <a:t>Continue to</a:t>
            </a:r>
          </a:p>
          <a:p>
            <a:r>
              <a:t>Presentation evidence (35 marks)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Presentation evidence (35 marks)</a:t>
            </a:r>
          </a:p>
          <a:p>
            <a:r>
              <a:t>CML3111, Week 15, slide 19</a:t>
            </a:r>
          </a:p>
          <a:p>
            <a:r>
              <a:t/>
            </a:r>
          </a:p>
          <a:p>
            <a:r>
              <a:t>Explanation to give</a:t>
            </a:r>
          </a:p>
          <a:p>
            <a:r>
              <a:t>Speaker notes contain the explanation behind each presentation slide. They should connect the question, method, evidence and limitations so the submitted file remains understandable without a live talk.</a:t>
            </a:r>
          </a:p>
          <a:p>
            <a:r>
              <a:t/>
            </a:r>
          </a:p>
          <a:p>
            <a:r>
              <a:t>Worked illustration / lecturer answer</a:t>
            </a:r>
          </a:p>
          <a:p>
            <a:r>
              <a:t>For a results chart, notes identify the sample, target unit, metric and interpretation. The written evidence can then be assessed even when the speaker is absent.</a:t>
            </a:r>
          </a:p>
          <a:p>
            <a:r>
              <a:t/>
            </a:r>
          </a:p>
          <a:p>
            <a:r>
              <a:t>Misconception to address</a:t>
            </a:r>
          </a:p>
          <a:p>
            <a:r>
              <a:t>The local text-based grader does not assess visual polish or spoken delivery. Make required reasoning accessible as actual text rather than only screenshots.</a:t>
            </a:r>
          </a:p>
          <a:p>
            <a:r>
              <a:t/>
            </a:r>
          </a:p>
          <a:p>
            <a:r>
              <a:t>On this slide</a:t>
            </a:r>
          </a:p>
          <a:p>
            <a:r>
              <a:t>Slides and narration notes explain the question, method, evidence and limitations for an engineering audience.</a:t>
            </a:r>
          </a:p>
          <a:p>
            <a:r>
              <a:t/>
            </a:r>
          </a:p>
          <a:p>
            <a:r>
              <a:t>The local text grader does not assess visual styling or spoken delivery.</a:t>
            </a:r>
          </a:p>
          <a:p>
            <a:r>
              <a:t/>
            </a:r>
          </a:p>
          <a:p>
            <a:r>
              <a:t>Continue to</a:t>
            </a:r>
          </a:p>
          <a:p>
            <a:r>
              <a:t>Individual written defence (40 marks)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Individual written defence (40 marks)</a:t>
            </a:r>
          </a:p>
          <a:p>
            <a:r>
              <a:t>CML3111, Week 15, slide 20</a:t>
            </a:r>
          </a:p>
          <a:p>
            <a:r>
              <a:t/>
            </a:r>
          </a:p>
          <a:p>
            <a:r>
              <a:t>Explanation to give</a:t>
            </a:r>
          </a:p>
          <a:p>
            <a:r>
              <a:t>A defence explains the reasoning behind a decision the learner actually made. Ask for a named cell, result or chart so the explanation can be checked against the project.</a:t>
            </a:r>
          </a:p>
          <a:p>
            <a:r>
              <a:t/>
            </a:r>
          </a:p>
          <a:p>
            <a:r>
              <a:t>Worked illustration / lecturer answer</a:t>
            </a:r>
          </a:p>
          <a:p>
            <a:r>
              <a:t>“I used a group split because the same equipment appears repeatedly; this cell lists disjoint equipment IDs” links a choice, reason and evidence.</a:t>
            </a:r>
          </a:p>
          <a:p>
            <a:r>
              <a:t/>
            </a:r>
          </a:p>
          <a:p>
            <a:r>
              <a:t>Misconception to address</a:t>
            </a:r>
          </a:p>
          <a:p>
            <a:r>
              <a:t>A general definition of group splitting is not evidence that this project used it. Each student's explanation must match their own contribution.</a:t>
            </a:r>
          </a:p>
          <a:p>
            <a:r>
              <a:t/>
            </a:r>
          </a:p>
          <a:p>
            <a:r>
              <a:t>On this slide</a:t>
            </a:r>
          </a:p>
          <a:p>
            <a:r>
              <a:t>Two typed answers about the student's own repository identify specific cells/results and explain the decisions.</a:t>
            </a:r>
          </a:p>
          <a:p>
            <a:r>
              <a:t/>
            </a:r>
          </a:p>
          <a:p>
            <a:r>
              <a:t>Credit is based on the submitted evidence; live questioning is formative.</a:t>
            </a:r>
          </a:p>
          <a:p>
            <a:r>
              <a:t/>
            </a:r>
          </a:p>
          <a:p>
            <a:r>
              <a:t>Continue to</a:t>
            </a:r>
          </a:p>
          <a:p>
            <a:r>
              <a:t>Reflection (20 marks)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Reflection (20 marks)</a:t>
            </a:r>
          </a:p>
          <a:p>
            <a:r>
              <a:t>CML3111, Week 15, slide 21</a:t>
            </a:r>
          </a:p>
          <a:p>
            <a:r>
              <a:t/>
            </a:r>
          </a:p>
          <a:p>
            <a:r>
              <a:t>Explanation to give</a:t>
            </a:r>
          </a:p>
          <a:p>
            <a:r>
              <a:t>Reflection should compare the learner's earlier understanding with what they can now demonstrate, then specify an achievable next step.</a:t>
            </a:r>
          </a:p>
          <a:p>
            <a:r>
              <a:t/>
            </a:r>
          </a:p>
          <a:p>
            <a:r>
              <a:t>Worked illustration / lecturer answer</a:t>
            </a:r>
          </a:p>
          <a:p>
            <a:r>
              <a:t>A concrete reflection describes an execution-order mistake, how a clean run revealed it, and how the learner now checks notebooks. A goal might be to practise grouped validation on a second dataset.</a:t>
            </a:r>
          </a:p>
          <a:p>
            <a:r>
              <a:t/>
            </a:r>
          </a:p>
          <a:p>
            <a:r>
              <a:t>Misconception to address</a:t>
            </a:r>
          </a:p>
          <a:p>
            <a:r>
              <a:t>“I learned a lot about AI” provides little evidence. Keep the published 500-word requirement and the two Semester 2 goals.</a:t>
            </a:r>
          </a:p>
          <a:p>
            <a:r>
              <a:t/>
            </a:r>
          </a:p>
          <a:p>
            <a:r>
              <a:t>On this slide</a:t>
            </a:r>
          </a:p>
          <a:p>
            <a:r>
              <a:t>500 words.</a:t>
            </a:r>
          </a:p>
          <a:p>
            <a:r>
              <a:t/>
            </a:r>
          </a:p>
          <a:p>
            <a:r>
              <a:t>Specific about what changed since Week 1, what remains difficult, and two concrete Semester 2 goals.</a:t>
            </a:r>
          </a:p>
          <a:p>
            <a:r>
              <a:t/>
            </a:r>
          </a:p>
          <a:p>
            <a:r>
              <a:t>Generic reflection scores low.</a:t>
            </a:r>
          </a:p>
          <a:p>
            <a:r>
              <a:t/>
            </a:r>
          </a:p>
          <a:p>
            <a:r>
              <a:t>Continue to</a:t>
            </a:r>
          </a:p>
          <a:p>
            <a:r>
              <a:t>AI-use declaration (5 marks)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AI-use declaration (5 marks)</a:t>
            </a:r>
          </a:p>
          <a:p>
            <a:r>
              <a:t>CML3111, Week 15, slide 22</a:t>
            </a:r>
          </a:p>
          <a:p>
            <a:r>
              <a:t/>
            </a:r>
          </a:p>
          <a:p>
            <a:r>
              <a:t>Explanation to give</a:t>
            </a:r>
          </a:p>
          <a:p>
            <a:r>
              <a:t>Explain that disclosure records what help was used, where and how the learner checked it. It does not remove responsibility for the submitted work or override an assessment's restrictions.</a:t>
            </a:r>
          </a:p>
          <a:p>
            <a:r>
              <a:t/>
            </a:r>
          </a:p>
          <a:p>
            <a:r>
              <a:t>Worked illustration / lecturer answer</a:t>
            </a:r>
          </a:p>
          <a:p>
            <a:r>
              <a:t>An informative declaration names the tool, the task for which it helped, the affected file or section and the verification performed. If no AI was used, state that directly.</a:t>
            </a:r>
          </a:p>
          <a:p>
            <a:r>
              <a:t/>
            </a:r>
          </a:p>
          <a:p>
            <a:r>
              <a:t>Misconception to address</a:t>
            </a:r>
          </a:p>
          <a:p>
            <a:r>
              <a:t>Do not imply AI is permitted in an offline test. Follow the policy for the particular assessment, and require the learner to explain their own work.</a:t>
            </a:r>
          </a:p>
          <a:p>
            <a:r>
              <a:t/>
            </a:r>
          </a:p>
          <a:p>
            <a:r>
              <a:t>On this slide</a:t>
            </a:r>
          </a:p>
          <a:p>
            <a:r>
              <a:t>Present, complete and plausible against the repository history.</a:t>
            </a:r>
          </a:p>
          <a:p>
            <a:r>
              <a:t/>
            </a:r>
          </a:p>
          <a:p>
            <a:r>
              <a:t>Continue to</a:t>
            </a:r>
          </a:p>
          <a:p>
            <a:r>
              <a:t>Presentation and individual reflection submission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Presentation and individual reflection submission</a:t>
            </a:r>
          </a:p>
          <a:p>
            <a:r>
              <a:t>CML3111, Week 15, slide 23</a:t>
            </a:r>
          </a:p>
          <a:p>
            <a:r>
              <a:t/>
            </a:r>
          </a:p>
          <a:p>
            <a:r>
              <a:t>Explanation to give</a:t>
            </a:r>
          </a:p>
          <a:p>
            <a:r>
              <a:t>This slide hands over CML3111 DEMO. Show the exact form title before uploading. The required packet is the presentation with narration notes and the required written defence/reflection document, as listed in the DEMO guide.</a:t>
            </a:r>
          </a:p>
          <a:p>
            <a:r>
              <a:t/>
            </a:r>
          </a:p>
          <a:p>
            <a:r>
              <a:t>Worked illustration / lecturer answer</a:t>
            </a:r>
          </a:p>
          <a:p>
            <a:r>
              <a:t>The recorded cutoff for this form is 2026-12-18T14:00:00+03:00. Check the live form for later changes. A replacement must contain the complete required file set, not just the changed file.</a:t>
            </a:r>
          </a:p>
          <a:p>
            <a:r>
              <a:t/>
            </a:r>
          </a:p>
          <a:p>
            <a:r>
              <a:t>Misconception to address</a:t>
            </a:r>
          </a:p>
          <a:p>
            <a:r>
              <a:t>Students enter their own Student Registration Number as required freeform text. They wait for filenames to appear, press Submit and keep the confirmation. A file saved in Drive or GitHub is not itself a form submission.</a:t>
            </a:r>
          </a:p>
          <a:p>
            <a:r>
              <a:t/>
            </a:r>
          </a:p>
          <a:p>
            <a:r>
              <a:t>On this slide</a:t>
            </a:r>
          </a:p>
          <a:p>
            <a:r>
              <a:t>Opens: 27 Nov 2026, 11:00 Kampala</a:t>
            </a:r>
          </a:p>
          <a:p>
            <a:r>
              <a:t/>
            </a:r>
          </a:p>
          <a:p>
            <a:r>
              <a:t>Deadline: 18 Dec 2026, 14:00 Kampala</a:t>
            </a:r>
          </a:p>
          <a:p>
            <a:r>
              <a:t/>
            </a:r>
          </a:p>
          <a:p>
            <a:r>
              <a:t>Use your full Student Registration Number in the form.</a:t>
            </a:r>
          </a:p>
          <a:p>
            <a:r>
              <a:t/>
            </a:r>
          </a:p>
          <a:p>
            <a:r>
              <a:t>Keep the submitted files and confirmation.</a:t>
            </a:r>
          </a:p>
          <a:p>
            <a:r>
              <a:t/>
            </a:r>
          </a:p>
          <a:p>
            <a:r>
              <a:t>Continue to</a:t>
            </a:r>
          </a:p>
          <a:p>
            <a:r>
              <a:t>Revision and submission checklist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Revision and submission checklist</a:t>
            </a:r>
          </a:p>
          <a:p>
            <a:r>
              <a:t>CML3111, Week 15, slide 24</a:t>
            </a:r>
          </a:p>
          <a:p>
            <a:r>
              <a:t/>
            </a:r>
          </a:p>
          <a:p>
            <a:r>
              <a:t>Explanation to give</a:t>
            </a:r>
          </a:p>
          <a:p>
            <a:r>
              <a:t>Explain a supported finding, its limitation and the individual work behind it. The team project and each learner’s defence are distinct evidence.</a:t>
            </a:r>
          </a:p>
          <a:p>
            <a:r>
              <a:t/>
            </a:r>
          </a:p>
          <a:p>
            <a:r>
              <a:t>Worked illustration / lecturer answer</a:t>
            </a:r>
          </a:p>
          <a:p>
            <a:r>
              <a:t>A claim should point to a named plot or result, its target unit, the evaluated sample and the decision it supports. “Our model is good” supplies none of these.</a:t>
            </a:r>
          </a:p>
          <a:p>
            <a:r>
              <a:t/>
            </a:r>
          </a:p>
          <a:p>
            <a:r>
              <a:t>Misconception to address</a:t>
            </a:r>
          </a:p>
          <a:p>
            <a:r>
              <a:t>Close by identifying the actual saved file and its correct submission route. Read the live deadline. For current weekly notebook tasks, students upload their own work, not the practice notebook, ZIP or grading files.</a:t>
            </a:r>
          </a:p>
          <a:p>
            <a:r>
              <a:t/>
            </a:r>
          </a:p>
          <a:p>
            <a:r>
              <a:t>On this slide</a:t>
            </a:r>
          </a:p>
          <a:p>
            <a:r>
              <a:t>You can point to the evidence behind one decision you personally worked on.</a:t>
            </a:r>
          </a:p>
          <a:p>
            <a:r>
              <a:t/>
            </a:r>
          </a:p>
          <a:p>
            <a:r>
              <a:t>Save your work and check the required submission files.</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cc974d2549f4ea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7753e345c55401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e4ccf7b353541c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02197142f8d4f7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8b3d6c44c91442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d8072639dbc477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C1860893-A3DD-4CD7-8E27-739F0C008F39}"/>
              </a:ext>
            </a:extLst>
          </p:cNvPr>
          <p:cNvSpPr>
            <a:spLocks xmlns:a="http://schemas.openxmlformats.org/drawingml/2006/main" noGrp="1"/>
          </p:cNvSpPr>
          <p:nvPr/>
        </p:nvSpPr>
        <p:spPr>
          <a:xfrm xmlns:a="http://schemas.openxmlformats.org/drawingml/2006/main">
            <a:off x="5791055" y="22098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DD52C37-0B09-48D4-A912-1AE50ECCDB38}"/>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415F8BBF-0911-4246-BE94-9C2848F72E7E}"/>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C1DB56E7-6489-41B3-8FDD-A699752CA8A9}"/>
              </a:ext>
            </a:extLst>
          </p:cNvPr>
          <p:cNvSpPr>
            <a:spLocks xmlns:a="http://schemas.openxmlformats.org/drawingml/2006/main" noGrp="1"/>
          </p:cNvSpPr>
          <p:nvPr/>
        </p:nvSpPr>
        <p:spPr>
          <a:xfrm xmlns:a="http://schemas.openxmlformats.org/drawingml/2006/main">
            <a:off x="5791055" y="24765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D1ECF7B3-41E0-4F64-819B-268F8B3230BF}"/>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85007786-CBBF-4218-90AA-936D1FF6F57D}"/>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A02E5D6F-B513-4EBC-916C-AA4EDA49CEE7}"/>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F29D7968-A492-4CAB-A974-A63359C47641}"/>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F5AA6017-0483-4DC0-AF36-96A7D4EEC929}"/>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F599686-BB53-48F2-AC57-EAAE2EFB0345}"/>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DA50F38-5CA1-438F-A5E5-8AF9F397C30D}"/>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E99399A0-18C8-4446-AB18-4BDB27B0B40F}"/>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879240B6-F29E-42A1-B9E9-14A78E9F1CB7}"/>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917029B7-B5A4-4F0B-90AA-E0AD0FF0483D}"/>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EEB1956-77D9-492A-95B0-B1A675E6BF75}"/>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c9134074bb40b5" /><Relationship Type="http://schemas.openxmlformats.org/officeDocument/2006/relationships/slideLayout" Target="/ppt/slideLayouts/slideLayout1.xml" Id="R8ba87e131400467d" /><Relationship Type="http://schemas.openxmlformats.org/officeDocument/2006/relationships/slideLayout" Target="/ppt/slideLayouts/slideLayout2.xml" Id="R50828e4a0ee64f09" /><Relationship Type="http://schemas.openxmlformats.org/officeDocument/2006/relationships/slideLayout" Target="/ppt/slideLayouts/slideLayout3.xml" Id="R1793cddebc924d81" /><Relationship Type="http://schemas.openxmlformats.org/officeDocument/2006/relationships/slideLayout" Target="/ppt/slideLayouts/slideLayout4.xml" Id="R1ace323539f44bd9" /><Relationship Type="http://schemas.openxmlformats.org/officeDocument/2006/relationships/slideLayout" Target="/ppt/slideLayouts/slideLayout5.xml" Id="Rcdd51e500c694b72" /><Relationship Type="http://schemas.openxmlformats.org/officeDocument/2006/relationships/slideLayout" Target="/ppt/slideLayouts/slideLayout6.xml" Id="Rd5119b85e3bd4c5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a87e131400467d"/>
    <p:sldLayoutId xmlns:r="http://schemas.openxmlformats.org/officeDocument/2006/relationships" id="2147483650" r:id="R50828e4a0ee64f09"/>
    <p:sldLayoutId xmlns:r="http://schemas.openxmlformats.org/officeDocument/2006/relationships" id="2147483651" r:id="R1793cddebc924d81"/>
    <p:sldLayoutId xmlns:r="http://schemas.openxmlformats.org/officeDocument/2006/relationships" id="2147483652" r:id="R1ace323539f44bd9"/>
    <p:sldLayoutId xmlns:r="http://schemas.openxmlformats.org/officeDocument/2006/relationships" id="2147483653" r:id="Rcdd51e500c694b72"/>
    <p:sldLayoutId xmlns:r="http://schemas.openxmlformats.org/officeDocument/2006/relationships" id="2147483654" r:id="Rd5119b85e3bd4c5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3869a834ee54d25" /><Relationship Type="http://schemas.openxmlformats.org/officeDocument/2006/relationships/image" Target="/ppt/media/image.png" Id="R20895459f4d7456b" /><Relationship Type="http://schemas.openxmlformats.org/officeDocument/2006/relationships/notesSlide" Target="/ppt/notesSlides/notesSlide1.xml" Id="R78f344819e1e4e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cb8b34c9c1d4a91" /><Relationship Type="http://schemas.openxmlformats.org/officeDocument/2006/relationships/notesSlide" Target="/ppt/notesSlides/notesSlide2.xml" Id="Rd2ad0664c2ec489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dab9a4669144e68" /><Relationship Type="http://schemas.openxmlformats.org/officeDocument/2006/relationships/notesSlide" Target="/ppt/notesSlides/notesSlide3.xml" Id="R1108e51467df433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787108a50aa4a4a" /><Relationship Type="http://schemas.openxmlformats.org/officeDocument/2006/relationships/notesSlide" Target="/ppt/notesSlides/notesSlide4.xml" Id="R632631d96f2348c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40a3a090e3346bb" /><Relationship Type="http://schemas.openxmlformats.org/officeDocument/2006/relationships/notesSlide" Target="/ppt/notesSlides/notesSlide5.xml" Id="R3aa3d05e9a31472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70b13e2f921410f" /><Relationship Type="http://schemas.openxmlformats.org/officeDocument/2006/relationships/notesSlide" Target="/ppt/notesSlides/notesSlide6.xml" Id="Re0ace723ae784a3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128e1d0c2104913" /><Relationship Type="http://schemas.openxmlformats.org/officeDocument/2006/relationships/notesSlide" Target="/ppt/notesSlides/notesSlide7.xml" Id="Rfd18681a640f475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5154472b1944705" /><Relationship Type="http://schemas.openxmlformats.org/officeDocument/2006/relationships/notesSlide" Target="/ppt/notesSlides/notesSlide8.xml" Id="Rb30714fed06049b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adf6e570a90467a" /><Relationship Type="http://schemas.openxmlformats.org/officeDocument/2006/relationships/notesSlide" Target="/ppt/notesSlides/notesSlide9.xml" Id="R4949993b1dca43c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ffc0df60a124530" /><Relationship Type="http://schemas.openxmlformats.org/officeDocument/2006/relationships/notesSlide" Target="/ppt/notesSlides/notesSlide10.xml" Id="R06c92031f4bb435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bbed603fadf44f8" /><Relationship Type="http://schemas.openxmlformats.org/officeDocument/2006/relationships/notesSlide" Target="/ppt/notesSlides/notesSlide11.xml" Id="R124b9f0b0a9744b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56eebf5764c4735" /><Relationship Type="http://schemas.openxmlformats.org/officeDocument/2006/relationships/notesSlide" Target="/ppt/notesSlides/notesSlide12.xml" Id="R383edf54ed6940a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c4d9d8455ff44ca" /><Relationship Type="http://schemas.openxmlformats.org/officeDocument/2006/relationships/notesSlide" Target="/ppt/notesSlides/notesSlide13.xml" Id="R3c70d238b3d04b9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d167b9fe92a4bfb" /><Relationship Type="http://schemas.openxmlformats.org/officeDocument/2006/relationships/notesSlide" Target="/ppt/notesSlides/notesSlide14.xml" Id="Re3f839973e9842d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944e2f40c3049fa" /><Relationship Type="http://schemas.openxmlformats.org/officeDocument/2006/relationships/notesSlide" Target="/ppt/notesSlides/notesSlide15.xml" Id="Ra253a97563d3497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2cdf49bbac343fc" /><Relationship Type="http://schemas.openxmlformats.org/officeDocument/2006/relationships/notesSlide" Target="/ppt/notesSlides/notesSlide16.xml" Id="R21867ce563074c1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9b6edc36cb04bb8" /><Relationship Type="http://schemas.openxmlformats.org/officeDocument/2006/relationships/notesSlide" Target="/ppt/notesSlides/notesSlide17.xml" Id="Rfbe7ae8b57fc4bc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d3bd61642bf4aa0" /><Relationship Type="http://schemas.openxmlformats.org/officeDocument/2006/relationships/hyperlink" Target="https://docs.google.com/forms/d/e/1FAIpQLSeV2_XlDSjUCyjJG-aQjFSQny-ndfkYaOYtExv9CdA_HUbDlQ/viewform" TargetMode="External" Id="R34e35ca96cd84eb0" /><Relationship Type="http://schemas.openxmlformats.org/officeDocument/2006/relationships/notesSlide" Target="/ppt/notesSlides/notesSlide18.xml" Id="R9400ce1cefea48a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aedc1f25a354fdf" /><Relationship Type="http://schemas.openxmlformats.org/officeDocument/2006/relationships/notesSlide" Target="/ppt/notesSlides/notesSlide19.xml" Id="Ra46a60c5a6d7448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8cae3e217ef45a1" /><Relationship Type="http://schemas.openxmlformats.org/officeDocument/2006/relationships/notesSlide" Target="/ppt/notesSlides/notesSlide20.xml" Id="R792c7a53ed204d0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fee7908be524b46" /><Relationship Type="http://schemas.openxmlformats.org/officeDocument/2006/relationships/notesSlide" Target="/ppt/notesSlides/notesSlide21.xml" Id="R4a7d729c457b4c2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e2ef7b13af84f60" /><Relationship Type="http://schemas.openxmlformats.org/officeDocument/2006/relationships/notesSlide" Target="/ppt/notesSlides/notesSlide22.xml" Id="Rfbe71217b3e8426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ed207f21fdc4dcf" /><Relationship Type="http://schemas.openxmlformats.org/officeDocument/2006/relationships/hyperlink" Target="https://docs.google.com/forms/d/e/1FAIpQLScnSPyvzCLfoHhIBusvFTIpqC-zAsk2bCLMqu6kJCh5cGI9gQ/viewform" TargetMode="External" Id="Rff39418f259844e2" /><Relationship Type="http://schemas.openxmlformats.org/officeDocument/2006/relationships/notesSlide" Target="/ppt/notesSlides/notesSlide23.xml" Id="Ra06a3c4f664c416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3399993d27d4377" /><Relationship Type="http://schemas.openxmlformats.org/officeDocument/2006/relationships/notesSlide" Target="/ppt/notesSlides/notesSlide24.xml" Id="Rd44e807687604cd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0895459f4d7456b"/>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A387935-33B4-4815-BDB7-06D0AA56EA20}"/>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6868202-A6C1-436F-A918-E29D3A3F5D8C}"/>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CML3111   WEEK 15</a:t>
            </a:r>
          </a:p>
        </p:txBody>
      </p:sp>
      <p:sp>
        <p:nvSpPr>
          <p:cNvPr id="4" name="">
            <a:extLst xmlns:a="http://schemas.openxmlformats.org/drawingml/2006/main">
              <a:ext uri="{FF2B5EF4-FFF2-40B4-BE49-F238E27FC236}">
                <a16:creationId xmlns:a16="http://schemas.microsoft.com/office/drawing/2014/main" id="{3AE97C89-DE26-4EE0-8C5D-71057E962E26}"/>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Presenting the project and individual contribution</a:t>
            </a:r>
          </a:p>
        </p:txBody>
      </p:sp>
      <p:sp>
        <p:nvSpPr>
          <p:cNvPr id="5" name="">
            <a:extLst xmlns:a="http://schemas.openxmlformats.org/drawingml/2006/main">
              <a:ext uri="{FF2B5EF4-FFF2-40B4-BE49-F238E27FC236}">
                <a16:creationId xmlns:a16="http://schemas.microsoft.com/office/drawing/2014/main" id="{16CEA63D-6AAF-4C71-A5D1-65A04A56BBBE}"/>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Communications, Electrical, Mechatronics and Robotics Engineering</a:t>
            </a:r>
          </a:p>
        </p:txBody>
      </p:sp>
      <p:sp>
        <p:nvSpPr>
          <p:cNvPr id="6" name="">
            <a:extLst xmlns:a="http://schemas.openxmlformats.org/drawingml/2006/main">
              <a:ext uri="{FF2B5EF4-FFF2-40B4-BE49-F238E27FC236}">
                <a16:creationId xmlns:a16="http://schemas.microsoft.com/office/drawing/2014/main" id="{3D90E7C9-5DF4-4224-91A0-ABA146C68904}"/>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18 December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11:00–14:00, Room 115</a:t>
            </a:r>
          </a:p>
        </p:txBody>
      </p:sp>
    </p:spTree>
    <p:extLst>
      <p:ext uri="{BB962C8B-B14F-4D97-AF65-F5344CB8AC3E}">
        <p14:creationId xmlns:p14="http://schemas.microsoft.com/office/powerpoint/2010/main" val="205834574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6FDD224-6360-4F7F-9FF0-F70B07D3094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749A727-8391-44F7-9EFA-35C54543EA6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TODAY’S DESTINATION</a:t>
            </a:r>
          </a:p>
        </p:txBody>
      </p:sp>
      <p:sp>
        <p:nvSpPr>
          <p:cNvPr id="3" name="">
            <a:extLst xmlns:a="http://schemas.openxmlformats.org/drawingml/2006/main">
              <a:ext uri="{FF2B5EF4-FFF2-40B4-BE49-F238E27FC236}">
                <a16:creationId xmlns:a16="http://schemas.microsoft.com/office/drawing/2014/main" id="{C0492499-55CA-4142-8D27-33F8BE99D66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BFA96228-7C71-4F2B-BEC4-0A8A4551414A}"/>
              </a:ext>
            </a:extLst>
          </p:cNvPr>
          <p:cNvSpPr>
            <a:spLocks xmlns:a="http://schemas.openxmlformats.org/drawingml/2006/main" noGrp="1"/>
          </p:cNvSpPr>
          <p:nvPr/>
        </p:nvSpPr>
        <p:spPr>
          <a:xfrm xmlns:a="http://schemas.openxmlformats.org/drawingml/2006/main">
            <a:off x="590550" y="1733550"/>
            <a:ext cx="523875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A12C259-2DAA-47CE-8878-71AB946E33B2}"/>
              </a:ext>
            </a:extLst>
          </p:cNvPr>
          <p:cNvSpPr>
            <a:spLocks xmlns:a="http://schemas.openxmlformats.org/drawingml/2006/main" noGrp="1"/>
          </p:cNvSpPr>
          <p:nvPr/>
        </p:nvSpPr>
        <p:spPr>
          <a:xfrm xmlns:a="http://schemas.openxmlformats.org/drawingml/2006/main">
            <a:off x="828675" y="200025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E4572E"/>
                </a:solidFill>
                <a:latin typeface="Calibri"/>
                <a:ea typeface="Calibri"/>
                <a:cs typeface="Calibri"/>
              </a:defRPr>
            </a:pPr>
            <a:r>
              <a:rPr sz="1650" b="1">
                <a:solidFill>
                  <a:srgbClr val="E4572E"/>
                </a:solidFill>
                <a:latin typeface="Calibri"/>
                <a:ea typeface="Calibri"/>
                <a:cs typeface="Calibri"/>
              </a:rPr>
              <a:t>WHAT WE WILL DO</a:t>
            </a:r>
          </a:p>
        </p:txBody>
      </p:sp>
      <p:sp>
        <p:nvSpPr>
          <p:cNvPr id="6" name="">
            <a:extLst xmlns:a="http://schemas.openxmlformats.org/drawingml/2006/main">
              <a:ext uri="{FF2B5EF4-FFF2-40B4-BE49-F238E27FC236}">
                <a16:creationId xmlns:a16="http://schemas.microsoft.com/office/drawing/2014/main" id="{D8B878B7-F808-4909-B06B-7B8112EB31D3}"/>
              </a:ext>
            </a:extLst>
          </p:cNvPr>
          <p:cNvSpPr>
            <a:spLocks xmlns:a="http://schemas.openxmlformats.org/drawingml/2006/main" noGrp="1"/>
          </p:cNvSpPr>
          <p:nvPr/>
        </p:nvSpPr>
        <p:spPr>
          <a:xfrm xmlns:a="http://schemas.openxmlformats.org/drawingml/2006/main">
            <a:off x="828675" y="2590800"/>
            <a:ext cx="47434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your question and one supported finding.</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a limitation and your individual contribution.</a:t>
            </a:r>
          </a:p>
        </p:txBody>
      </p:sp>
      <p:sp>
        <p:nvSpPr>
          <p:cNvPr id="7" name="">
            <a:extLst xmlns:a="http://schemas.openxmlformats.org/drawingml/2006/main">
              <a:ext uri="{FF2B5EF4-FFF2-40B4-BE49-F238E27FC236}">
                <a16:creationId xmlns:a16="http://schemas.microsoft.com/office/drawing/2014/main" id="{F56DE7CF-EF06-4044-8C6A-D8E0C15EA549}"/>
              </a:ext>
            </a:extLst>
          </p:cNvPr>
          <p:cNvSpPr>
            <a:spLocks xmlns:a="http://schemas.openxmlformats.org/drawingml/2006/main" noGrp="1"/>
          </p:cNvSpPr>
          <p:nvPr/>
        </p:nvSpPr>
        <p:spPr>
          <a:xfrm xmlns:a="http://schemas.openxmlformats.org/drawingml/2006/main">
            <a:off x="6210300" y="2000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E7D6F"/>
                </a:solidFill>
                <a:latin typeface="Calibri"/>
                <a:ea typeface="Calibri"/>
                <a:cs typeface="Calibri"/>
              </a:defRPr>
            </a:pPr>
            <a:r>
              <a:rPr sz="1650" b="1">
                <a:solidFill>
                  <a:srgbClr val="2E7D6F"/>
                </a:solidFill>
                <a:latin typeface="Calibri"/>
                <a:ea typeface="Calibri"/>
                <a:cs typeface="Calibri"/>
              </a:rPr>
              <a:t>HOW YOU WILL SHOW IT</a:t>
            </a:r>
          </a:p>
        </p:txBody>
      </p:sp>
      <p:sp>
        <p:nvSpPr>
          <p:cNvPr id="8" name="">
            <a:extLst xmlns:a="http://schemas.openxmlformats.org/drawingml/2006/main">
              <a:ext uri="{FF2B5EF4-FFF2-40B4-BE49-F238E27FC236}">
                <a16:creationId xmlns:a16="http://schemas.microsoft.com/office/drawing/2014/main" id="{464CECED-3A08-470E-9FD3-1D7F5D465F94}"/>
              </a:ext>
            </a:extLst>
          </p:cNvPr>
          <p:cNvSpPr>
            <a:spLocks xmlns:a="http://schemas.openxmlformats.org/drawingml/2006/main" noGrp="1"/>
          </p:cNvSpPr>
          <p:nvPr/>
        </p:nvSpPr>
        <p:spPr>
          <a:xfrm xmlns:a="http://schemas.openxmlformats.org/drawingml/2006/main">
            <a:off x="6210300" y="2590800"/>
            <a:ext cx="50958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You can point to the evidence behind one decision you personally worked on.</a:t>
            </a:r>
          </a:p>
        </p:txBody>
      </p:sp>
      <p:sp>
        <p:nvSpPr>
          <p:cNvPr id="9" name="">
            <a:extLst xmlns:a="http://schemas.openxmlformats.org/drawingml/2006/main">
              <a:ext uri="{FF2B5EF4-FFF2-40B4-BE49-F238E27FC236}">
                <a16:creationId xmlns:a16="http://schemas.microsoft.com/office/drawing/2014/main" id="{FDAB15A0-DDC2-48C6-A6E7-47A9C375904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2</a:t>
            </a:r>
          </a:p>
        </p:txBody>
      </p:sp>
    </p:spTree>
    <p:extLst>
      <p:ext uri="{BB962C8B-B14F-4D97-AF65-F5344CB8AC3E}">
        <p14:creationId xmlns:p14="http://schemas.microsoft.com/office/powerpoint/2010/main" val="1424176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089237D-C2CE-45F9-9229-FC64F796557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8C1294A-7116-40AC-ACE9-36C4D27C316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06DF9EC-09C6-4DAB-B6CE-ADD005E12D4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Connection to the previous lesson</a:t>
            </a:r>
          </a:p>
        </p:txBody>
      </p:sp>
      <p:sp>
        <p:nvSpPr>
          <p:cNvPr id="4" name="">
            <a:extLst xmlns:a="http://schemas.openxmlformats.org/drawingml/2006/main">
              <a:ext uri="{FF2B5EF4-FFF2-40B4-BE49-F238E27FC236}">
                <a16:creationId xmlns:a16="http://schemas.microsoft.com/office/drawing/2014/main" id="{410D2E3C-EEF1-47BE-B9DA-84CED4EF7B8E}"/>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0661C8F-3E36-480E-867A-FBD24378912E}"/>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What question did your team investigate, and what result can you support with evidence?</a:t>
            </a:r>
          </a:p>
        </p:txBody>
      </p:sp>
      <p:sp>
        <p:nvSpPr>
          <p:cNvPr id="6" name="">
            <a:extLst xmlns:a="http://schemas.openxmlformats.org/drawingml/2006/main">
              <a:ext uri="{FF2B5EF4-FFF2-40B4-BE49-F238E27FC236}">
                <a16:creationId xmlns:a16="http://schemas.microsoft.com/office/drawing/2014/main" id="{8064283F-BEAC-4506-BF66-1E2393E60B1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3</a:t>
            </a:r>
          </a:p>
        </p:txBody>
      </p:sp>
    </p:spTree>
    <p:extLst>
      <p:ext uri="{BB962C8B-B14F-4D97-AF65-F5344CB8AC3E}">
        <p14:creationId xmlns:p14="http://schemas.microsoft.com/office/powerpoint/2010/main" val="165585129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1063F95-9A9B-4360-9F7D-A557B8DA93C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3303A74-9211-4A97-841A-81EC9AA6CBA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9E23C78C-385D-4CD4-9FAA-FEF7BF2B2C2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presentation connects a claim to evidence</a:t>
            </a:r>
          </a:p>
        </p:txBody>
      </p:sp>
      <p:sp>
        <p:nvSpPr>
          <p:cNvPr id="4" name="">
            <a:extLst xmlns:a="http://schemas.openxmlformats.org/drawingml/2006/main">
              <a:ext uri="{FF2B5EF4-FFF2-40B4-BE49-F238E27FC236}">
                <a16:creationId xmlns:a16="http://schemas.microsoft.com/office/drawing/2014/main" id="{71E800FB-E54A-440F-9B27-B3B419B9EF9B}"/>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9461B52-81E4-4743-AAAA-A932B7A977AE}"/>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Finding and limitation</a:t>
            </a:r>
          </a:p>
        </p:txBody>
      </p:sp>
      <p:sp>
        <p:nvSpPr>
          <p:cNvPr id="6" name="">
            <a:extLst xmlns:a="http://schemas.openxmlformats.org/drawingml/2006/main">
              <a:ext uri="{FF2B5EF4-FFF2-40B4-BE49-F238E27FC236}">
                <a16:creationId xmlns:a16="http://schemas.microsoft.com/office/drawing/2014/main" id="{3801EF1C-58A1-4A57-B1E0-FF25AF75698C}"/>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finding states what the evidence shows. A limitation states where that evidence is incomplete or may not apply. Point to the relevant chart, metric or record.</a:t>
            </a:r>
          </a:p>
        </p:txBody>
      </p:sp>
      <p:sp>
        <p:nvSpPr>
          <p:cNvPr id="7" name="">
            <a:extLst xmlns:a="http://schemas.openxmlformats.org/drawingml/2006/main">
              <a:ext uri="{FF2B5EF4-FFF2-40B4-BE49-F238E27FC236}">
                <a16:creationId xmlns:a16="http://schemas.microsoft.com/office/drawing/2014/main" id="{0B63569C-FD56-4A1A-8EDD-00DFE2A6FA64}"/>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75592EA-6ED3-47ED-B39B-580B167D19D4}"/>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Defence and reflection</a:t>
            </a:r>
          </a:p>
        </p:txBody>
      </p:sp>
      <p:sp>
        <p:nvSpPr>
          <p:cNvPr id="9" name="">
            <a:extLst xmlns:a="http://schemas.openxmlformats.org/drawingml/2006/main">
              <a:ext uri="{FF2B5EF4-FFF2-40B4-BE49-F238E27FC236}">
                <a16:creationId xmlns:a16="http://schemas.microsoft.com/office/drawing/2014/main" id="{877E6EAD-1FF6-4CAD-834C-494A40C32F0C}"/>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defence explains why you made a choice. A reflection explains what you learned and would improve. Describe your own contribution with specific evidence.</a:t>
            </a:r>
          </a:p>
        </p:txBody>
      </p:sp>
      <p:sp>
        <p:nvSpPr>
          <p:cNvPr id="10" name="">
            <a:extLst xmlns:a="http://schemas.openxmlformats.org/drawingml/2006/main">
              <a:ext uri="{FF2B5EF4-FFF2-40B4-BE49-F238E27FC236}">
                <a16:creationId xmlns:a16="http://schemas.microsoft.com/office/drawing/2014/main" id="{23A4F98B-AE9F-4F6D-AD74-4F0001D2D43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4</a:t>
            </a:r>
          </a:p>
        </p:txBody>
      </p:sp>
    </p:spTree>
    <p:extLst>
      <p:ext uri="{BB962C8B-B14F-4D97-AF65-F5344CB8AC3E}">
        <p14:creationId xmlns:p14="http://schemas.microsoft.com/office/powerpoint/2010/main" val="115866710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7A5891D-15D8-4821-9B3E-1EC3C078B48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AEBD7D2-9B2F-4897-AECF-2C8C8BE6A4E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F72A12F-BBB6-4514-A328-9FB03C7F030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six-minute presentation</a:t>
            </a:r>
          </a:p>
        </p:txBody>
      </p:sp>
      <p:sp>
        <p:nvSpPr>
          <p:cNvPr id="4" name="">
            <a:extLst xmlns:a="http://schemas.openxmlformats.org/drawingml/2006/main">
              <a:ext uri="{FF2B5EF4-FFF2-40B4-BE49-F238E27FC236}">
                <a16:creationId xmlns:a16="http://schemas.microsoft.com/office/drawing/2014/main" id="{387303EB-0364-4031-B663-26BF773987D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0517811-1354-43FC-A387-33BF5DC2A5F7}"/>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Minutes 1–2: explain the question and data.</a:t>
            </a:r>
          </a:p>
        </p:txBody>
      </p:sp>
      <p:sp>
        <p:nvSpPr>
          <p:cNvPr id="6" name="">
            <a:extLst xmlns:a="http://schemas.openxmlformats.org/drawingml/2006/main">
              <a:ext uri="{FF2B5EF4-FFF2-40B4-BE49-F238E27FC236}">
                <a16:creationId xmlns:a16="http://schemas.microsoft.com/office/drawing/2014/main" id="{370A202E-37CB-4E64-A6CD-24680FC7E0DB}"/>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F1E4B5B-DBDA-4E9D-9154-252096C805AA}"/>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Minutes 3–4: show the method and one supported result.</a:t>
            </a:r>
          </a:p>
        </p:txBody>
      </p:sp>
      <p:sp>
        <p:nvSpPr>
          <p:cNvPr id="8" name="">
            <a:extLst xmlns:a="http://schemas.openxmlformats.org/drawingml/2006/main">
              <a:ext uri="{FF2B5EF4-FFF2-40B4-BE49-F238E27FC236}">
                <a16:creationId xmlns:a16="http://schemas.microsoft.com/office/drawing/2014/main" id="{7DCAD4F0-9FD8-4FF5-A2EB-97F17347444E}"/>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B908E90-41FE-44BD-912B-9C946FAFA3D2}"/>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Minutes 5–6: explain limitations, contributions and a next step.</a:t>
            </a:r>
          </a:p>
        </p:txBody>
      </p:sp>
      <p:sp>
        <p:nvSpPr>
          <p:cNvPr id="10" name="">
            <a:extLst xmlns:a="http://schemas.openxmlformats.org/drawingml/2006/main">
              <a:ext uri="{FF2B5EF4-FFF2-40B4-BE49-F238E27FC236}">
                <a16:creationId xmlns:a16="http://schemas.microsoft.com/office/drawing/2014/main" id="{02F832C7-7A19-4435-8329-283AE2A25BF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5</a:t>
            </a:r>
          </a:p>
        </p:txBody>
      </p:sp>
    </p:spTree>
    <p:extLst>
      <p:ext uri="{BB962C8B-B14F-4D97-AF65-F5344CB8AC3E}">
        <p14:creationId xmlns:p14="http://schemas.microsoft.com/office/powerpoint/2010/main" val="19017719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0C4B63A-995E-497F-8ACA-F5B42974E35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09C8D2A-99CE-495E-93C0-80427AB7BA6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67C80FFA-465A-4688-924F-0EFE563BE6A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Make the evidence readable</a:t>
            </a:r>
          </a:p>
        </p:txBody>
      </p:sp>
      <p:sp>
        <p:nvSpPr>
          <p:cNvPr id="4" name="">
            <a:extLst xmlns:a="http://schemas.openxmlformats.org/drawingml/2006/main">
              <a:ext uri="{FF2B5EF4-FFF2-40B4-BE49-F238E27FC236}">
                <a16:creationId xmlns:a16="http://schemas.microsoft.com/office/drawing/2014/main" id="{1E7F8206-6306-40BD-BB1C-B6A49128E2D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F3B86BF-28C4-4749-B402-B6F680A56AFF}"/>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Name the chart axes and their units.</a:t>
            </a:r>
          </a:p>
        </p:txBody>
      </p:sp>
      <p:sp>
        <p:nvSpPr>
          <p:cNvPr id="6" name="">
            <a:extLst xmlns:a="http://schemas.openxmlformats.org/drawingml/2006/main">
              <a:ext uri="{FF2B5EF4-FFF2-40B4-BE49-F238E27FC236}">
                <a16:creationId xmlns:a16="http://schemas.microsoft.com/office/drawing/2014/main" id="{2E128264-125A-4BE2-8ABA-B34AEB693C06}"/>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E3404B6-5B6E-4F5F-8A25-D8BF9561E5DF}"/>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the measured evaluation result and how you obtained it.</a:t>
            </a:r>
          </a:p>
        </p:txBody>
      </p:sp>
      <p:sp>
        <p:nvSpPr>
          <p:cNvPr id="8" name="">
            <a:extLst xmlns:a="http://schemas.openxmlformats.org/drawingml/2006/main">
              <a:ext uri="{FF2B5EF4-FFF2-40B4-BE49-F238E27FC236}">
                <a16:creationId xmlns:a16="http://schemas.microsoft.com/office/drawing/2014/main" id="{A6FE07E7-1857-4227-9A98-164E87BD7FA7}"/>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6C14F14-BE68-4EEF-9E92-3BDA5507C0EE}"/>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Point to the particular table, plot or calculation that supports your claim.</a:t>
            </a:r>
          </a:p>
        </p:txBody>
      </p:sp>
      <p:sp>
        <p:nvSpPr>
          <p:cNvPr id="10" name="">
            <a:extLst xmlns:a="http://schemas.openxmlformats.org/drawingml/2006/main">
              <a:ext uri="{FF2B5EF4-FFF2-40B4-BE49-F238E27FC236}">
                <a16:creationId xmlns:a16="http://schemas.microsoft.com/office/drawing/2014/main" id="{27A56714-A56F-4689-AAD3-4D4CEDF6B84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6</a:t>
            </a:r>
          </a:p>
        </p:txBody>
      </p:sp>
    </p:spTree>
    <p:extLst>
      <p:ext uri="{BB962C8B-B14F-4D97-AF65-F5344CB8AC3E}">
        <p14:creationId xmlns:p14="http://schemas.microsoft.com/office/powerpoint/2010/main" val="1713020835"/>
      </p:ext>
    </p:extLst>
  </p:cSld>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1" name="">
            <a:extLst>
              <a:ext uri="{FF2B5EF4-FFF2-40B4-BE49-F238E27FC236}">
                <ns2:creationId id="{A8DCD086-D9A4-4E73-873E-8796B5363A8B}"/>
              </a:ext>
            </a:extLst>
          </p:cNvPr>
          <p:cNvSpPr>
            <a:spLocks noGrp="1"/>
          </p:cNvSpPr>
          <p:nvPr/>
        </p:nvSpPr>
        <p:spPr>
          <a:xfrm>
            <a:off x="0" y="0"/>
            <a:ext cx="12191695" cy="1390650"/>
          </a:xfrm>
          <a:prstGeom prst="rect">
            <a:avLst/>
          </a:prstGeom>
          <a:solidFill>
            <a:srgbClr val="1C3144"/>
          </a:solidFill>
          <a:ln w="0">
            <a:noFill/>
          </a:ln>
        </p:spPr>
      </p:sp>
      <p:sp>
        <p:nvSpPr>
          <p:cNvPr id="2" name="">
            <a:extLst>
              <a:ext uri="{FF2B5EF4-FFF2-40B4-BE49-F238E27FC236}">
                <ns2:creationId id="{B8F252BF-929A-4F54-B1CA-02689F70F782}"/>
              </a:ext>
            </a:extLst>
          </p:cNvPr>
          <p:cNvSpPr>
            <a:spLocks noGrp="1"/>
          </p:cNvSpPr>
          <p:nvPr/>
        </p:nvSpPr>
        <p:spPr>
          <a:xfrm>
            <a:off x="590550" y="180975"/>
            <a:ext cx="11049000" cy="285750"/>
          </a:xfrm>
          <a:prstGeom prst="rect">
            <a:avLst/>
          </a:prstGeom>
          <a:noFill/>
          <a:ln w="0">
            <a:noFill/>
          </a:ln>
        </p:spPr>
        <p:txBody>
          <a:bodyPr>
            <a:noAutofit/>
          </a:bodyPr>
          <a:lstStyle/>
          <a:p>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a:ext uri="{FF2B5EF4-FFF2-40B4-BE49-F238E27FC236}">
                <ns2:creationId id="{7A0269DD-4E85-4F4E-929E-1FE1D642E45C}"/>
              </a:ext>
            </a:extLst>
          </p:cNvPr>
          <p:cNvSpPr>
            <a:spLocks noGrp="1"/>
          </p:cNvSpPr>
          <p:nvPr/>
        </p:nvSpPr>
        <p:spPr>
          <a:xfrm>
            <a:off x="590550" y="523875"/>
            <a:ext cx="11049000" cy="809625"/>
          </a:xfrm>
          <a:prstGeom prst="rect">
            <a:avLst/>
          </a:prstGeom>
          <a:noFill/>
          <a:ln w="0">
            <a:noFill/>
          </a:ln>
        </p:spPr>
        <p:txBody>
          <a:bodyPr>
            <a:noAutofit/>
          </a:bodyPr>
          <a:lstStyle/>
          <a:p>
            <a:pPr>
              <a:defRPr sz="3150" b="1">
                <a:solidFill>
                  <a:srgbClr val="FFFFFF"/>
                </a:solidFill>
                <a:latin typeface="Calibri"/>
                <a:ea typeface="Calibri"/>
                <a:cs typeface="Calibri"/>
              </a:defRPr>
            </a:pPr>
            <a:r>
              <a:rPr sz="3150" b="1">
                <a:solidFill>
                  <a:srgbClr val="FFFFFF"/>
                </a:solidFill>
                <a:latin typeface="Calibri"/>
                <a:ea typeface="Calibri"/>
                <a:cs typeface="Calibri"/>
              </a:rPr>
              <a:t>Limitations of the results</a:t>
            </a:r>
          </a:p>
        </p:txBody>
      </p:sp>
      <p:sp>
        <p:nvSpPr>
          <p:cNvPr id="4" name="">
            <a:extLst>
              <a:ext uri="{FF2B5EF4-FFF2-40B4-BE49-F238E27FC236}">
                <ns2:creationId id="{7D8C215A-F312-493B-BF06-1A466D5E6B1C}"/>
              </a:ext>
            </a:extLst>
          </p:cNvPr>
          <p:cNvSpPr>
            <a:spLocks noGrp="1"/>
          </p:cNvSpPr>
          <p:nvPr/>
        </p:nvSpPr>
        <p:spPr>
          <a:xfrm>
            <a:off x="590550" y="1781175"/>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a:ext uri="{FF2B5EF4-FFF2-40B4-BE49-F238E27FC236}">
                <ns2:creationId id="{0CDA240B-B8CD-458B-A7EE-C06E1B7BDA85}"/>
              </a:ext>
            </a:extLst>
          </p:cNvPr>
          <p:cNvSpPr>
            <a:spLocks noGrp="1"/>
          </p:cNvSpPr>
          <p:nvPr/>
        </p:nvSpPr>
        <p:spPr>
          <a:xfrm>
            <a:off x="1381125" y="1781175"/>
            <a:ext cx="10096500" cy="1352550"/>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State what your investigation can support.</a:t>
            </a:r>
          </a:p>
        </p:txBody>
      </p:sp>
      <p:sp>
        <p:nvSpPr>
          <p:cNvPr id="6" name="">
            <a:extLst>
              <a:ext uri="{FF2B5EF4-FFF2-40B4-BE49-F238E27FC236}">
                <ns2:creationId id="{0E4D4442-CFA7-4036-9F79-84376E5621C8}"/>
              </a:ext>
            </a:extLst>
          </p:cNvPr>
          <p:cNvSpPr>
            <a:spLocks noGrp="1"/>
          </p:cNvSpPr>
          <p:nvPr/>
        </p:nvSpPr>
        <p:spPr>
          <a:xfrm>
            <a:off x="590550" y="3209925"/>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a:ext uri="{FF2B5EF4-FFF2-40B4-BE49-F238E27FC236}">
                <ns2:creationId id="{AC76A61A-7437-421C-BD05-699F82DF3534}"/>
              </a:ext>
            </a:extLst>
          </p:cNvPr>
          <p:cNvSpPr>
            <a:spLocks noGrp="1"/>
          </p:cNvSpPr>
          <p:nvPr/>
        </p:nvSpPr>
        <p:spPr>
          <a:xfrm>
            <a:off x="1381125" y="3209925"/>
            <a:ext cx="10096500" cy="1352550"/>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If an answer is unknown, say what evidence would resolve it.</a:t>
            </a:r>
          </a:p>
        </p:txBody>
      </p:sp>
      <p:sp>
        <p:nvSpPr>
          <p:cNvPr id="8" name="">
            <a:extLst>
              <a:ext uri="{FF2B5EF4-FFF2-40B4-BE49-F238E27FC236}">
                <ns2:creationId id="{F71A8531-8221-4E50-B8A0-DA9C6FE85F2D}"/>
              </a:ext>
            </a:extLst>
          </p:cNvPr>
          <p:cNvSpPr>
            <a:spLocks noGrp="1"/>
          </p:cNvSpPr>
          <p:nvPr/>
        </p:nvSpPr>
        <p:spPr>
          <a:xfrm>
            <a:off x="590550" y="4638675"/>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a:ext uri="{FF2B5EF4-FFF2-40B4-BE49-F238E27FC236}">
                <ns2:creationId id="{3B78A1D5-7949-459B-9987-EAB10FB888D7}"/>
              </a:ext>
            </a:extLst>
          </p:cNvPr>
          <p:cNvSpPr>
            <a:spLocks noGrp="1"/>
          </p:cNvSpPr>
          <p:nvPr/>
        </p:nvSpPr>
        <p:spPr>
          <a:xfrm>
            <a:off x="1381125" y="4638675"/>
            <a:ext cx="10096500" cy="1352550"/>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Teaching data alone do not establish readiness for real operation.</a:t>
            </a:r>
          </a:p>
        </p:txBody>
      </p:sp>
      <p:sp>
        <p:nvSpPr>
          <p:cNvPr id="10" name="">
            <a:extLst>
              <a:ext uri="{FF2B5EF4-FFF2-40B4-BE49-F238E27FC236}">
                <ns2:creationId id="{A174F7BD-2523-4530-90B6-DC78488ED1D3}"/>
              </a:ext>
            </a:extLst>
          </p:cNvPr>
          <p:cNvSpPr>
            <a:spLocks noGrp="1"/>
          </p:cNvSpPr>
          <p:nvPr/>
        </p:nvSpPr>
        <p:spPr>
          <a:xfrm>
            <a:off x="590550" y="6524625"/>
            <a:ext cx="10810875" cy="219075"/>
          </a:xfrm>
          <a:prstGeom prst="rect">
            <a:avLst/>
          </a:prstGeom>
          <a:noFill/>
          <a:ln w="0">
            <a:noFill/>
          </a:ln>
        </p:spPr>
        <p:txBody>
          <a:bodyPr>
            <a:noAutofit/>
          </a:bodyPr>
          <a:lstStyle/>
          <a:p>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7</a:t>
            </a:r>
          </a:p>
        </p:txBody>
      </p:sp>
    </p:spTree>
    <p:extLst>
      <p:ext uri="{BB962C8B-B14F-4D97-AF65-F5344CB8AC3E}">
        <ns3:creationId val="32890266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E4EE144-8DB1-441E-89DB-93B6C35D50A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AD330BA-C8BE-4EB7-9DCC-51B97B6C73F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427B537-D59D-445F-A736-496D0ECB5E8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Preparation checkpoint</a:t>
            </a:r>
          </a:p>
        </p:txBody>
      </p:sp>
      <p:sp>
        <p:nvSpPr>
          <p:cNvPr id="4" name="">
            <a:extLst xmlns:a="http://schemas.openxmlformats.org/drawingml/2006/main">
              <a:ext uri="{FF2B5EF4-FFF2-40B4-BE49-F238E27FC236}">
                <a16:creationId xmlns:a16="http://schemas.microsoft.com/office/drawing/2014/main" id="{2944B7FC-EEB0-40A6-9A3A-18C0FD91F587}"/>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BBC4557-0C3F-44B9-BE0A-D0400BB1CB0A}"/>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Each student can explain one decision they personally worked on and point to its evidence.</a:t>
            </a:r>
          </a:p>
        </p:txBody>
      </p:sp>
      <p:sp>
        <p:nvSpPr>
          <p:cNvPr id="6" name="">
            <a:extLst xmlns:a="http://schemas.openxmlformats.org/drawingml/2006/main">
              <a:ext uri="{FF2B5EF4-FFF2-40B4-BE49-F238E27FC236}">
                <a16:creationId xmlns:a16="http://schemas.microsoft.com/office/drawing/2014/main" id="{A4378FD3-974C-4DBB-9CCB-ABD88A0F34A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8</a:t>
            </a:r>
          </a:p>
        </p:txBody>
      </p:sp>
    </p:spTree>
    <p:extLst>
      <p:ext uri="{BB962C8B-B14F-4D97-AF65-F5344CB8AC3E}">
        <p14:creationId xmlns:p14="http://schemas.microsoft.com/office/powerpoint/2010/main" val="33568377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D58CF0D-ECCE-44ED-9F4A-6E9C147CB9A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F4E39CC-AB87-45A8-BFB8-71A973A9215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A88134CB-F4F4-40BE-8E30-ADC006D7310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evidence</a:t>
            </a:r>
          </a:p>
        </p:txBody>
      </p:sp>
      <p:sp>
        <p:nvSpPr>
          <p:cNvPr id="4" name="">
            <a:extLst xmlns:a="http://schemas.openxmlformats.org/drawingml/2006/main">
              <a:ext uri="{FF2B5EF4-FFF2-40B4-BE49-F238E27FC236}">
                <a16:creationId xmlns:a16="http://schemas.microsoft.com/office/drawing/2014/main" id="{FDCC07D5-6975-4921-8E43-20127FF8B4B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FE3C091-8B8D-4CA3-A696-70A15D1295F0}"/>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published project and DEMO requirements.</a:t>
            </a:r>
          </a:p>
        </p:txBody>
      </p:sp>
      <p:sp>
        <p:nvSpPr>
          <p:cNvPr id="6" name="">
            <a:extLst xmlns:a="http://schemas.openxmlformats.org/drawingml/2006/main">
              <a:ext uri="{FF2B5EF4-FFF2-40B4-BE49-F238E27FC236}">
                <a16:creationId xmlns:a16="http://schemas.microsoft.com/office/drawing/2014/main" id="{913EC00E-1418-4965-9154-A9505FE9B63B}"/>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6EB2D06-570B-45FF-ADD1-71973FDD9C57}"/>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individual submits their own typed defence and reflection through the designated route.</a:t>
            </a:r>
          </a:p>
        </p:txBody>
      </p:sp>
      <p:sp>
        <p:nvSpPr>
          <p:cNvPr id="8" name="">
            <a:extLst xmlns:a="http://schemas.openxmlformats.org/drawingml/2006/main">
              <a:ext uri="{FF2B5EF4-FFF2-40B4-BE49-F238E27FC236}">
                <a16:creationId xmlns:a16="http://schemas.microsoft.com/office/drawing/2014/main" id="{851A4702-AA36-42A0-AEFC-0DDE54468A32}"/>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C4F3198-B027-4FC3-B3D6-35767F4CE74B}"/>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your own written defence and reflection as instructed.</a:t>
            </a:r>
          </a:p>
        </p:txBody>
      </p:sp>
      <p:sp>
        <p:nvSpPr>
          <p:cNvPr id="10" name="">
            <a:extLst xmlns:a="http://schemas.openxmlformats.org/drawingml/2006/main">
              <a:ext uri="{FF2B5EF4-FFF2-40B4-BE49-F238E27FC236}">
                <a16:creationId xmlns:a16="http://schemas.microsoft.com/office/drawing/2014/main" id="{B167858E-C7BD-476A-A754-7D74CE0ED19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9</a:t>
            </a:r>
          </a:p>
        </p:txBody>
      </p:sp>
    </p:spTree>
    <p:extLst>
      <p:ext uri="{BB962C8B-B14F-4D97-AF65-F5344CB8AC3E}">
        <p14:creationId xmlns:p14="http://schemas.microsoft.com/office/powerpoint/2010/main" val="209747224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381E355-E127-4C04-B720-FC357EC034C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07D98FD-F339-42C6-873C-FCCA6C593E0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5E3433D1-24BE-4E59-8FEE-9AD0D605C7B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a:t>
            </a:r>
          </a:p>
        </p:txBody>
      </p:sp>
      <p:sp>
        <p:nvSpPr>
          <p:cNvPr id="4" name="">
            <a:extLst xmlns:a="http://schemas.openxmlformats.org/drawingml/2006/main">
              <a:ext uri="{FF2B5EF4-FFF2-40B4-BE49-F238E27FC236}">
                <a16:creationId xmlns:a16="http://schemas.microsoft.com/office/drawing/2014/main" id="{7AB17AC0-0886-4E73-A17C-EE1D17902B1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11F80AD-BEDB-4591-8F56-742EE471BAB3}"/>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Write your own explanation in the markdown cell headed `## My written evidence`.</a:t>
            </a:r>
          </a:p>
        </p:txBody>
      </p:sp>
      <p:sp>
        <p:nvSpPr>
          <p:cNvPr id="6" name="">
            <a:extLst xmlns:a="http://schemas.openxmlformats.org/drawingml/2006/main">
              <a:ext uri="{FF2B5EF4-FFF2-40B4-BE49-F238E27FC236}">
                <a16:creationId xmlns:a16="http://schemas.microsoft.com/office/drawing/2014/main" id="{38BDB111-D09C-49C9-AEE1-D66DE7D92E69}"/>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0090FA8-91B0-43BE-8194-F1173036ED72}"/>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that heading.</a:t>
            </a:r>
          </a:p>
        </p:txBody>
      </p:sp>
      <p:sp>
        <p:nvSpPr>
          <p:cNvPr id="8" name="">
            <a:extLst xmlns:a="http://schemas.openxmlformats.org/drawingml/2006/main">
              <a:ext uri="{FF2B5EF4-FFF2-40B4-BE49-F238E27FC236}">
                <a16:creationId xmlns:a16="http://schemas.microsoft.com/office/drawing/2014/main" id="{9017D880-3F28-478E-9B54-CCA4E43CC9C6}"/>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0ADC8EA-F61E-4CFA-8095-5F4F46CDC80C}"/>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Task prompts and code comments are excluded from reasoning marks.</a:t>
            </a:r>
          </a:p>
        </p:txBody>
      </p:sp>
      <p:sp>
        <p:nvSpPr>
          <p:cNvPr id="10" name="">
            <a:extLst xmlns:a="http://schemas.openxmlformats.org/drawingml/2006/main">
              <a:ext uri="{FF2B5EF4-FFF2-40B4-BE49-F238E27FC236}">
                <a16:creationId xmlns:a16="http://schemas.microsoft.com/office/drawing/2014/main" id="{9A791DC0-C84A-4AB0-9DE0-64352322AE2D}"/>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368C2938-C084-4326-BE0A-8DEFDEC5C700}"/>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Complete every original rubric criterion below, not just the checked functions.</a:t>
            </a:r>
          </a:p>
        </p:txBody>
      </p:sp>
      <p:sp>
        <p:nvSpPr>
          <p:cNvPr id="12" name="">
            <a:extLst xmlns:a="http://schemas.openxmlformats.org/drawingml/2006/main">
              <a:ext uri="{FF2B5EF4-FFF2-40B4-BE49-F238E27FC236}">
                <a16:creationId xmlns:a16="http://schemas.microsoft.com/office/drawing/2014/main" id="{DC95F40C-68AF-40DA-9944-B11C765CF48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10</a:t>
            </a:r>
          </a:p>
        </p:txBody>
      </p:sp>
    </p:spTree>
    <p:extLst>
      <p:ext uri="{BB962C8B-B14F-4D97-AF65-F5344CB8AC3E}">
        <p14:creationId xmlns:p14="http://schemas.microsoft.com/office/powerpoint/2010/main" val="210630352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40E7CFF-C921-4BF6-96E1-24431D1785A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7B9C3AB-B3D2-4BB1-907D-E3F4F94C818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2142BA9F-AAC5-45E1-951B-EC098007215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continued</a:t>
            </a:r>
          </a:p>
        </p:txBody>
      </p:sp>
      <p:sp>
        <p:nvSpPr>
          <p:cNvPr id="4" name="">
            <a:extLst xmlns:a="http://schemas.openxmlformats.org/drawingml/2006/main">
              <a:ext uri="{FF2B5EF4-FFF2-40B4-BE49-F238E27FC236}">
                <a16:creationId xmlns:a16="http://schemas.microsoft.com/office/drawing/2014/main" id="{8AD7BB70-873A-4518-8859-60B867C1721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75D763C-A130-4C7D-9B51-EEE60A46EC9F}"/>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Include profiling, justified cleaning, question-led charts and your engineering recommendation where required.</a:t>
            </a:r>
          </a:p>
        </p:txBody>
      </p:sp>
      <p:sp>
        <p:nvSpPr>
          <p:cNvPr id="6" name="">
            <a:extLst xmlns:a="http://schemas.openxmlformats.org/drawingml/2006/main">
              <a:ext uri="{FF2B5EF4-FFF2-40B4-BE49-F238E27FC236}">
                <a16:creationId xmlns:a16="http://schemas.microsoft.com/office/drawing/2014/main" id="{3F5C7F4E-8136-4078-AE89-0F7808FBE190}"/>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22425CF-523E-4B94-9A7E-21B0DA4E3F65}"/>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raw data.</a:t>
            </a:r>
          </a:p>
        </p:txBody>
      </p:sp>
      <p:sp>
        <p:nvSpPr>
          <p:cNvPr id="8" name="">
            <a:extLst xmlns:a="http://schemas.openxmlformats.org/drawingml/2006/main">
              <a:ext uri="{FF2B5EF4-FFF2-40B4-BE49-F238E27FC236}">
                <a16:creationId xmlns:a16="http://schemas.microsoft.com/office/drawing/2014/main" id="{1099ED30-407E-4370-92BE-FA08BBFDA2E1}"/>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C994304-D897-4AA3-85BC-12260B8E4BDA}"/>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units and distinguish correlation from causation.</a:t>
            </a:r>
          </a:p>
        </p:txBody>
      </p:sp>
      <p:sp>
        <p:nvSpPr>
          <p:cNvPr id="10" name="">
            <a:extLst xmlns:a="http://schemas.openxmlformats.org/drawingml/2006/main">
              <a:ext uri="{FF2B5EF4-FFF2-40B4-BE49-F238E27FC236}">
                <a16:creationId xmlns:a16="http://schemas.microsoft.com/office/drawing/2014/main" id="{563BA834-C9B3-4160-AC52-B24AD1CC8EBF}"/>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0F6BC937-2414-4E2E-9412-B3CD59906E82}"/>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Charts must be actual labelled figures in the notebook, not claims that charts exist.</a:t>
            </a:r>
          </a:p>
        </p:txBody>
      </p:sp>
      <p:sp>
        <p:nvSpPr>
          <p:cNvPr id="12" name="">
            <a:extLst xmlns:a="http://schemas.openxmlformats.org/drawingml/2006/main">
              <a:ext uri="{FF2B5EF4-FFF2-40B4-BE49-F238E27FC236}">
                <a16:creationId xmlns:a16="http://schemas.microsoft.com/office/drawing/2014/main" id="{C5EB1ED6-D855-4C28-9D7B-DA61C755EB5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11</a:t>
            </a:r>
          </a:p>
        </p:txBody>
      </p:sp>
    </p:spTree>
    <p:extLst>
      <p:ext uri="{BB962C8B-B14F-4D97-AF65-F5344CB8AC3E}">
        <p14:creationId xmlns:p14="http://schemas.microsoft.com/office/powerpoint/2010/main" val="65410055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0A052AE-CE6A-49EA-ACA5-3BF23AE549B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CD6F96F-20C9-44BC-AF75-6D1B41E361B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AF5EF712-FB56-4838-A77C-76521012025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continued</a:t>
            </a:r>
          </a:p>
        </p:txBody>
      </p:sp>
      <p:sp>
        <p:nvSpPr>
          <p:cNvPr id="4" name="">
            <a:extLst xmlns:a="http://schemas.openxmlformats.org/drawingml/2006/main">
              <a:ext uri="{FF2B5EF4-FFF2-40B4-BE49-F238E27FC236}">
                <a16:creationId xmlns:a16="http://schemas.microsoft.com/office/drawing/2014/main" id="{AD707E6D-B0C7-4D59-AFE0-B5903A613A0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8BE408D-5779-400D-9F10-636E7CBF4672}"/>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Include captions and a separate readable DOCX/PDF report.</a:t>
            </a:r>
          </a:p>
        </p:txBody>
      </p:sp>
      <p:sp>
        <p:nvSpPr>
          <p:cNvPr id="6" name="">
            <a:extLst xmlns:a="http://schemas.openxmlformats.org/drawingml/2006/main">
              <a:ext uri="{FF2B5EF4-FFF2-40B4-BE49-F238E27FC236}">
                <a16:creationId xmlns:a16="http://schemas.microsoft.com/office/drawing/2014/main" id="{5E1654E1-F648-46FE-8FFC-B7EEA142CBC3}"/>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9BF928B-C6A2-49E8-AF8D-9B1028C21312}"/>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Problem definition (15.0 total): The engineering problem is real, specific and bounded.</a:t>
            </a:r>
          </a:p>
        </p:txBody>
      </p:sp>
      <p:sp>
        <p:nvSpPr>
          <p:cNvPr id="8" name="">
            <a:extLst xmlns:a="http://schemas.openxmlformats.org/drawingml/2006/main">
              <a:ext uri="{FF2B5EF4-FFF2-40B4-BE49-F238E27FC236}">
                <a16:creationId xmlns:a16="http://schemas.microsoft.com/office/drawing/2014/main" id="{04835818-D6EC-4AB0-8429-9E2E88F52AEF}"/>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4A4EECA-1A96-4C9B-ADF7-369067DA690A}"/>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ML task is correctly derived from it.</a:t>
            </a:r>
          </a:p>
        </p:txBody>
      </p:sp>
      <p:sp>
        <p:nvSpPr>
          <p:cNvPr id="10" name="">
            <a:extLst xmlns:a="http://schemas.openxmlformats.org/drawingml/2006/main">
              <a:ext uri="{FF2B5EF4-FFF2-40B4-BE49-F238E27FC236}">
                <a16:creationId xmlns:a16="http://schemas.microsoft.com/office/drawing/2014/main" id="{B684DAE6-FD86-478D-9B32-EB6C634543BD}"/>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3A72BCDE-7EA8-4E35-844D-C945FF6F431D}"/>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target variable is justified, not merely available.</a:t>
            </a:r>
          </a:p>
        </p:txBody>
      </p:sp>
      <p:sp>
        <p:nvSpPr>
          <p:cNvPr id="12" name="">
            <a:extLst xmlns:a="http://schemas.openxmlformats.org/drawingml/2006/main">
              <a:ext uri="{FF2B5EF4-FFF2-40B4-BE49-F238E27FC236}">
                <a16:creationId xmlns:a16="http://schemas.microsoft.com/office/drawing/2014/main" id="{32432225-2D34-4F2D-AD43-61157F4F8E6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12</a:t>
            </a:r>
          </a:p>
        </p:txBody>
      </p:sp>
    </p:spTree>
    <p:extLst>
      <p:ext uri="{BB962C8B-B14F-4D97-AF65-F5344CB8AC3E}">
        <p14:creationId xmlns:p14="http://schemas.microsoft.com/office/powerpoint/2010/main" val="183765847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65F6398-60E7-4273-96AE-04449F362B5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C7A37F5-EFD4-4CFA-9985-D0AD9D67095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E98592FF-FCFB-4A2D-9BA5-55BE601CED7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continued</a:t>
            </a:r>
          </a:p>
        </p:txBody>
      </p:sp>
      <p:sp>
        <p:nvSpPr>
          <p:cNvPr id="4" name="">
            <a:extLst xmlns:a="http://schemas.openxmlformats.org/drawingml/2006/main">
              <a:ext uri="{FF2B5EF4-FFF2-40B4-BE49-F238E27FC236}">
                <a16:creationId xmlns:a16="http://schemas.microsoft.com/office/drawing/2014/main" id="{6EE6F729-AF81-4B2D-A31C-455BEC4BD2F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59DC940-7C34-4E1A-A746-1C5952B65CE0}"/>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Data understanding (15.0 total): Provenance, licence and collection method stated.</a:t>
            </a:r>
          </a:p>
        </p:txBody>
      </p:sp>
      <p:sp>
        <p:nvSpPr>
          <p:cNvPr id="6" name="">
            <a:extLst xmlns:a="http://schemas.openxmlformats.org/drawingml/2006/main">
              <a:ext uri="{FF2B5EF4-FFF2-40B4-BE49-F238E27FC236}">
                <a16:creationId xmlns:a16="http://schemas.microsoft.com/office/drawing/2014/main" id="{829E6D3B-DD31-4E22-BC08-FDA93B01613D}"/>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9D22FD8-68AA-4917-BC91-21EA396AAF82}"/>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Defects found and handled with justification.</a:t>
            </a:r>
          </a:p>
        </p:txBody>
      </p:sp>
      <p:sp>
        <p:nvSpPr>
          <p:cNvPr id="8" name="">
            <a:extLst xmlns:a="http://schemas.openxmlformats.org/drawingml/2006/main">
              <a:ext uri="{FF2B5EF4-FFF2-40B4-BE49-F238E27FC236}">
                <a16:creationId xmlns:a16="http://schemas.microsoft.com/office/drawing/2014/main" id="{322A20E8-C1B6-47DC-BD47-CD25E4B3A212}"/>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C9A3653-EE1D-4215-8060-3FBA1F17B942}"/>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Limitations of the data acknowledged before any modelling.</a:t>
            </a:r>
          </a:p>
        </p:txBody>
      </p:sp>
      <p:sp>
        <p:nvSpPr>
          <p:cNvPr id="10" name="">
            <a:extLst xmlns:a="http://schemas.openxmlformats.org/drawingml/2006/main">
              <a:ext uri="{FF2B5EF4-FFF2-40B4-BE49-F238E27FC236}">
                <a16:creationId xmlns:a16="http://schemas.microsoft.com/office/drawing/2014/main" id="{A66218D0-5FF5-4FA5-9A1E-8494B5284B3A}"/>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DD69B2A6-6EB7-4E4C-8E76-16A8C85E28DC}"/>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Methodology (20.0 total): Appropriate models chosen and compared under one protocol.</a:t>
            </a:r>
          </a:p>
        </p:txBody>
      </p:sp>
      <p:sp>
        <p:nvSpPr>
          <p:cNvPr id="12" name="">
            <a:extLst xmlns:a="http://schemas.openxmlformats.org/drawingml/2006/main">
              <a:ext uri="{FF2B5EF4-FFF2-40B4-BE49-F238E27FC236}">
                <a16:creationId xmlns:a16="http://schemas.microsoft.com/office/drawing/2014/main" id="{1AEED9AA-83AF-4BA3-8DCF-A43128A9D78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13</a:t>
            </a:r>
          </a:p>
        </p:txBody>
      </p:sp>
    </p:spTree>
    <p:extLst>
      <p:ext uri="{BB962C8B-B14F-4D97-AF65-F5344CB8AC3E}">
        <p14:creationId xmlns:p14="http://schemas.microsoft.com/office/powerpoint/2010/main" val="57209979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2119411-7409-48F8-984E-9B6F16ECF01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65421A-7F1B-49E9-9418-040FC1A84C4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C14A9645-958F-4CBB-BA7E-7A687A766F5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continued</a:t>
            </a:r>
          </a:p>
        </p:txBody>
      </p:sp>
      <p:sp>
        <p:nvSpPr>
          <p:cNvPr id="4" name="">
            <a:extLst xmlns:a="http://schemas.openxmlformats.org/drawingml/2006/main">
              <a:ext uri="{FF2B5EF4-FFF2-40B4-BE49-F238E27FC236}">
                <a16:creationId xmlns:a16="http://schemas.microsoft.com/office/drawing/2014/main" id="{E679FBA6-9C8D-40B6-BC50-8F86412F59C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B24048E-A3C9-4D88-939E-F7443DBBF917}"/>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Pipeline used.</a:t>
            </a:r>
          </a:p>
        </p:txBody>
      </p:sp>
      <p:sp>
        <p:nvSpPr>
          <p:cNvPr id="6" name="">
            <a:extLst xmlns:a="http://schemas.openxmlformats.org/drawingml/2006/main">
              <a:ext uri="{FF2B5EF4-FFF2-40B4-BE49-F238E27FC236}">
                <a16:creationId xmlns:a16="http://schemas.microsoft.com/office/drawing/2014/main" id="{AE806E34-70FF-4E0A-A675-76912E815310}"/>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C52EF07-F687-40DE-9339-E06C9FCE7212}"/>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Hyperparameters handled sensibly.</a:t>
            </a:r>
          </a:p>
        </p:txBody>
      </p:sp>
      <p:sp>
        <p:nvSpPr>
          <p:cNvPr id="8" name="">
            <a:extLst xmlns:a="http://schemas.openxmlformats.org/drawingml/2006/main">
              <a:ext uri="{FF2B5EF4-FFF2-40B4-BE49-F238E27FC236}">
                <a16:creationId xmlns:a16="http://schemas.microsoft.com/office/drawing/2014/main" id="{74101C8B-C02F-4A0E-AB9A-06F63147191C}"/>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64B5DC9-C8AE-4576-A354-5D8B643C81D2}"/>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Choices explained rather than defaulted to.</a:t>
            </a:r>
          </a:p>
        </p:txBody>
      </p:sp>
      <p:sp>
        <p:nvSpPr>
          <p:cNvPr id="10" name="">
            <a:extLst xmlns:a="http://schemas.openxmlformats.org/drawingml/2006/main">
              <a:ext uri="{FF2B5EF4-FFF2-40B4-BE49-F238E27FC236}">
                <a16:creationId xmlns:a16="http://schemas.microsoft.com/office/drawing/2014/main" id="{D8A2B56C-E61F-4F9F-9C71-E5EC4A980718}"/>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D063FCD8-0F78-4D2D-8741-B079776E303C}"/>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Engineering reasoning (20.0 total): Domain knowledge visibly enters the work through features, banding, metric choice or interpretation.</a:t>
            </a:r>
          </a:p>
        </p:txBody>
      </p:sp>
      <p:sp>
        <p:nvSpPr>
          <p:cNvPr id="12" name="">
            <a:extLst xmlns:a="http://schemas.openxmlformats.org/drawingml/2006/main">
              <a:ext uri="{FF2B5EF4-FFF2-40B4-BE49-F238E27FC236}">
                <a16:creationId xmlns:a16="http://schemas.microsoft.com/office/drawing/2014/main" id="{CE297EBB-E4F4-47D4-A2FD-974015B05A2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14</a:t>
            </a:r>
          </a:p>
        </p:txBody>
      </p:sp>
    </p:spTree>
    <p:extLst>
      <p:ext uri="{BB962C8B-B14F-4D97-AF65-F5344CB8AC3E}">
        <p14:creationId xmlns:p14="http://schemas.microsoft.com/office/powerpoint/2010/main" val="54537954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E6AFBD7-ADB5-498A-A609-617D7AC935F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9F7B02E-E358-4AA9-9E5A-0416215E702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6E2AD51E-04D3-4277-9B98-A5068710223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continued</a:t>
            </a:r>
          </a:p>
        </p:txBody>
      </p:sp>
      <p:sp>
        <p:nvSpPr>
          <p:cNvPr id="4" name="">
            <a:extLst xmlns:a="http://schemas.openxmlformats.org/drawingml/2006/main">
              <a:ext uri="{FF2B5EF4-FFF2-40B4-BE49-F238E27FC236}">
                <a16:creationId xmlns:a16="http://schemas.microsoft.com/office/drawing/2014/main" id="{54384A43-A93B-4CD2-BA0A-63E79F94CC8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0A5B722-95C7-4418-9E5F-5EA081755DF5}"/>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result is discussed as engineering, not as a score.</a:t>
            </a:r>
          </a:p>
        </p:txBody>
      </p:sp>
      <p:sp>
        <p:nvSpPr>
          <p:cNvPr id="6" name="">
            <a:extLst xmlns:a="http://schemas.openxmlformats.org/drawingml/2006/main">
              <a:ext uri="{FF2B5EF4-FFF2-40B4-BE49-F238E27FC236}">
                <a16:creationId xmlns:a16="http://schemas.microsoft.com/office/drawing/2014/main" id="{997A1FAF-8F18-4F78-BE92-A200F058342E}"/>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89393A4-7613-485B-9076-488F1998D4D8}"/>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Validation (15.0 total): Correct train/test discipline, cross-validation with a reported spread, leakage explicitly checked and ruled out, metric justified against the cost of error.</a:t>
            </a:r>
          </a:p>
        </p:txBody>
      </p:sp>
      <p:sp>
        <p:nvSpPr>
          <p:cNvPr id="8" name="">
            <a:extLst xmlns:a="http://schemas.openxmlformats.org/drawingml/2006/main">
              <a:ext uri="{FF2B5EF4-FFF2-40B4-BE49-F238E27FC236}">
                <a16:creationId xmlns:a16="http://schemas.microsoft.com/office/drawing/2014/main" id="{6471AAFA-35A3-452B-8AD6-9321369210A1}"/>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2A14BD9-60DD-46CA-9C2B-AC9820AB0130}"/>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Communication (10.0 total): The 2-page brief is readable by a non-specialist engineer.</a:t>
            </a:r>
          </a:p>
        </p:txBody>
      </p:sp>
      <p:sp>
        <p:nvSpPr>
          <p:cNvPr id="10" name="">
            <a:extLst xmlns:a="http://schemas.openxmlformats.org/drawingml/2006/main">
              <a:ext uri="{FF2B5EF4-FFF2-40B4-BE49-F238E27FC236}">
                <a16:creationId xmlns:a16="http://schemas.microsoft.com/office/drawing/2014/main" id="{F4828969-7AFA-40F4-A0CA-F43E8E92A3F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15</a:t>
            </a:r>
          </a:p>
        </p:txBody>
      </p:sp>
    </p:spTree>
    <p:extLst>
      <p:ext uri="{BB962C8B-B14F-4D97-AF65-F5344CB8AC3E}">
        <p14:creationId xmlns:p14="http://schemas.microsoft.com/office/powerpoint/2010/main" val="203206428"/>
      </p:ext>
    </p:extLst>
  </p:cSld>
</p:sld>
</file>

<file path=ppt/slides/slide1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DF0F43B0-FC17-4874-8781-1D322F6C8638}"/>
              </a:ext>
            </a:extLst>
          </p:cNvPr>
          <p:cNvSpPr>
            <a:spLocks noGrp="1"/>
          </p:cNvSpPr>
          <p:nvPr/>
        </p:nvSpPr>
        <p:spPr>
          <a:xfrm>
            <a:off x="0" y="0"/>
            <a:ext cx="12191695" cy="1390650"/>
          </a:xfrm>
          <a:prstGeom prst="rect">
            <a:avLst/>
          </a:prstGeom>
          <a:solidFill>
            <a:srgbClr val="1C3144"/>
          </a:solidFill>
          <a:ln w="0">
            <a:noFill/>
          </a:ln>
        </p:spPr>
      </p:sp>
      <p:sp>
        <p:nvSpPr>
          <p:cNvPr id="2" name="">
            <a:extLst>
              <a:ext uri="{FF2B5EF4-FFF2-40B4-BE49-F238E27FC236}">
                <ns2:creationId id="{E751E380-43BA-469D-8330-15060F42E02E}"/>
              </a:ext>
            </a:extLst>
          </p:cNvPr>
          <p:cNvSpPr>
            <a:spLocks noGrp="1"/>
          </p:cNvSpPr>
          <p:nvPr/>
        </p:nvSpPr>
        <p:spPr>
          <a:xfrm>
            <a:off x="590550" y="180975"/>
            <a:ext cx="11049000" cy="285750"/>
          </a:xfrm>
          <a:prstGeom prst="rect">
            <a:avLst/>
          </a:prstGeom>
          <a:noFill/>
          <a:ln w="0">
            <a:noFill/>
          </a:ln>
        </p:spPr>
        <p:txBody>
          <a:bodyPr>
            <a:noAutofit/>
          </a:bodyPr>
          <a:lstStyle/>
          <a:p>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a:ext uri="{FF2B5EF4-FFF2-40B4-BE49-F238E27FC236}">
                <ns2:creationId id="{DD3A28F0-5BDF-4B15-8019-0F9B85F7DDDD}"/>
              </a:ext>
            </a:extLst>
          </p:cNvPr>
          <p:cNvSpPr>
            <a:spLocks noGrp="1"/>
          </p:cNvSpPr>
          <p:nvPr/>
        </p:nvSpPr>
        <p:spPr>
          <a:xfrm>
            <a:off x="590550" y="523875"/>
            <a:ext cx="11049000" cy="809625"/>
          </a:xfrm>
          <a:prstGeom prst="rect">
            <a:avLst/>
          </a:prstGeom>
          <a:noFill/>
          <a:ln w="0">
            <a:noFill/>
          </a:ln>
        </p:spPr>
        <p:txBody>
          <a:bodyPr>
            <a:noAutofit/>
          </a:bodyPr>
          <a:lstStyle/>
          <a:p>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continued</a:t>
            </a:r>
          </a:p>
        </p:txBody>
      </p:sp>
      <p:sp>
        <p:nvSpPr>
          <p:cNvPr id="4" name="">
            <a:extLst>
              <a:ext uri="{FF2B5EF4-FFF2-40B4-BE49-F238E27FC236}">
                <ns2:creationId id="{DD4404D0-2506-41F4-92E8-1900DF22845B}"/>
              </a:ext>
            </a:extLst>
          </p:cNvPr>
          <p:cNvSpPr>
            <a:spLocks noGrp="1"/>
          </p:cNvSpPr>
          <p:nvPr/>
        </p:nvSpPr>
        <p:spPr>
          <a:xfrm>
            <a:off x="590550" y="1781175"/>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a:ext uri="{FF2B5EF4-FFF2-40B4-BE49-F238E27FC236}">
                <ns2:creationId id="{FAA4694C-BBFD-4063-8F07-0D19D22F2079}"/>
              </a:ext>
            </a:extLst>
          </p:cNvPr>
          <p:cNvSpPr>
            <a:spLocks noGrp="1"/>
          </p:cNvSpPr>
          <p:nvPr/>
        </p:nvSpPr>
        <p:spPr>
          <a:xfrm>
            <a:off x="1381125" y="1781175"/>
            <a:ext cx="10096500" cy="992981"/>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Charts answer questions and are captioned with findings.</a:t>
            </a:r>
          </a:p>
        </p:txBody>
      </p:sp>
      <p:sp>
        <p:nvSpPr>
          <p:cNvPr id="6" name="">
            <a:extLst>
              <a:ext uri="{FF2B5EF4-FFF2-40B4-BE49-F238E27FC236}">
                <ns2:creationId id="{20CF38CF-95C2-4237-930B-187F5795D2F0}"/>
              </a:ext>
            </a:extLst>
          </p:cNvPr>
          <p:cNvSpPr>
            <a:spLocks noGrp="1"/>
          </p:cNvSpPr>
          <p:nvPr/>
        </p:nvSpPr>
        <p:spPr>
          <a:xfrm>
            <a:off x="590550" y="2850356"/>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a:ext uri="{FF2B5EF4-FFF2-40B4-BE49-F238E27FC236}">
                <ns2:creationId id="{5776FB3D-DCCE-4162-8EB9-71E184A618A8}"/>
              </a:ext>
            </a:extLst>
          </p:cNvPr>
          <p:cNvSpPr>
            <a:spLocks noGrp="1"/>
          </p:cNvSpPr>
          <p:nvPr/>
        </p:nvSpPr>
        <p:spPr>
          <a:xfrm>
            <a:off x="1381125" y="2850356"/>
            <a:ext cx="10096500" cy="992981"/>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State uncertainty and limitations.</a:t>
            </a:r>
          </a:p>
        </p:txBody>
      </p:sp>
      <p:sp>
        <p:nvSpPr>
          <p:cNvPr id="8" name="">
            <a:extLst>
              <a:ext uri="{FF2B5EF4-FFF2-40B4-BE49-F238E27FC236}">
                <ns2:creationId id="{ECAF4846-FED0-47AE-B340-FD60DD883BCA}"/>
              </a:ext>
            </a:extLst>
          </p:cNvPr>
          <p:cNvSpPr>
            <a:spLocks noGrp="1"/>
          </p:cNvSpPr>
          <p:nvPr/>
        </p:nvSpPr>
        <p:spPr>
          <a:xfrm>
            <a:off x="590550" y="3919538"/>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a:ext uri="{FF2B5EF4-FFF2-40B4-BE49-F238E27FC236}">
                <ns2:creationId id="{8685B2EA-663C-4E76-95D9-B9119F5FD294}"/>
              </a:ext>
            </a:extLst>
          </p:cNvPr>
          <p:cNvSpPr>
            <a:spLocks noGrp="1"/>
          </p:cNvSpPr>
          <p:nvPr/>
        </p:nvSpPr>
        <p:spPr>
          <a:xfrm>
            <a:off x="1381125" y="3919538"/>
            <a:ext cx="10096500" cy="992981"/>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Reproducibility &amp; documentation (5.0 total): Repository runs from a clean clone.</a:t>
            </a:r>
          </a:p>
        </p:txBody>
      </p:sp>
      <p:sp>
        <p:nvSpPr>
          <p:cNvPr id="10" name="">
            <a:extLst>
              <a:ext uri="{FF2B5EF4-FFF2-40B4-BE49-F238E27FC236}">
                <ns2:creationId id="{08AED79F-2866-4BAC-809A-49D8835E47EC}"/>
              </a:ext>
            </a:extLst>
          </p:cNvPr>
          <p:cNvSpPr>
            <a:spLocks noGrp="1"/>
          </p:cNvSpPr>
          <p:nvPr/>
        </p:nvSpPr>
        <p:spPr>
          <a:xfrm>
            <a:off x="590550" y="4988719"/>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a:ext uri="{FF2B5EF4-FFF2-40B4-BE49-F238E27FC236}">
                <ns2:creationId id="{A4F61E5D-4FEF-4569-88FD-BF2F098FD785}"/>
              </a:ext>
            </a:extLst>
          </p:cNvPr>
          <p:cNvSpPr>
            <a:spLocks noGrp="1"/>
          </p:cNvSpPr>
          <p:nvPr/>
        </p:nvSpPr>
        <p:spPr>
          <a:xfrm>
            <a:off x="1381125" y="4988719"/>
            <a:ext cx="10096500" cy="992981"/>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README complete. requirements.txt present.</a:t>
            </a:r>
          </a:p>
        </p:txBody>
      </p:sp>
      <p:sp>
        <p:nvSpPr>
          <p:cNvPr id="12" name="">
            <a:extLst>
              <a:ext uri="{FF2B5EF4-FFF2-40B4-BE49-F238E27FC236}">
                <ns2:creationId id="{60D72AF0-6E27-4D87-94A4-F626BCEA96F8}"/>
              </a:ext>
            </a:extLst>
          </p:cNvPr>
          <p:cNvSpPr>
            <a:spLocks noGrp="1"/>
          </p:cNvSpPr>
          <p:nvPr/>
        </p:nvSpPr>
        <p:spPr>
          <a:xfrm>
            <a:off x="590550" y="6524625"/>
            <a:ext cx="10810875" cy="219075"/>
          </a:xfrm>
          <a:prstGeom prst="rect">
            <a:avLst/>
          </a:prstGeom>
          <a:noFill/>
          <a:ln w="0">
            <a:noFill/>
          </a:ln>
        </p:spPr>
        <p:txBody>
          <a:bodyPr>
            <a:noAutofit/>
          </a:bodyPr>
          <a:lstStyle/>
          <a:p>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16</a:t>
            </a:r>
          </a:p>
        </p:txBody>
      </p:sp>
    </p:spTree>
    <p:extLst>
      <p:ext uri="{BB962C8B-B14F-4D97-AF65-F5344CB8AC3E}">
        <ns3:creationId val="86050489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588AF29-B4B6-471F-862C-51092B54BBB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7495A16-6D34-41DF-8606-9D8E60BF57B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4F6E90D9-8E50-4B6B-96A6-354F0FC873D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continued</a:t>
            </a:r>
          </a:p>
        </p:txBody>
      </p:sp>
      <p:sp>
        <p:nvSpPr>
          <p:cNvPr id="4" name="">
            <a:extLst xmlns:a="http://schemas.openxmlformats.org/drawingml/2006/main">
              <a:ext uri="{FF2B5EF4-FFF2-40B4-BE49-F238E27FC236}">
                <a16:creationId xmlns:a16="http://schemas.microsoft.com/office/drawing/2014/main" id="{63595D5C-8126-4367-BFEA-1EEBE03F681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A4C9467-FF79-4BC9-A302-91F663EB6B3C}"/>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Seeds set.</a:t>
            </a:r>
          </a:p>
        </p:txBody>
      </p:sp>
      <p:sp>
        <p:nvSpPr>
          <p:cNvPr id="6" name="">
            <a:extLst xmlns:a="http://schemas.openxmlformats.org/drawingml/2006/main">
              <a:ext uri="{FF2B5EF4-FFF2-40B4-BE49-F238E27FC236}">
                <a16:creationId xmlns:a16="http://schemas.microsoft.com/office/drawing/2014/main" id="{ECD04D5A-98EB-434F-B8F2-E0C79C03EE03}"/>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A4215E1-93B2-4282-BDCB-D83E621FF8CF}"/>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AI use declared.</a:t>
            </a:r>
          </a:p>
        </p:txBody>
      </p:sp>
      <p:sp>
        <p:nvSpPr>
          <p:cNvPr id="8" name="">
            <a:extLst xmlns:a="http://schemas.openxmlformats.org/drawingml/2006/main">
              <a:ext uri="{FF2B5EF4-FFF2-40B4-BE49-F238E27FC236}">
                <a16:creationId xmlns:a16="http://schemas.microsoft.com/office/drawing/2014/main" id="{012F835E-DE96-4055-B4B2-873EAEAD3A83}"/>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1D1DFD1-AF06-427F-9886-751346E5A194}"/>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Contribution log present.</a:t>
            </a:r>
          </a:p>
        </p:txBody>
      </p:sp>
      <p:sp>
        <p:nvSpPr>
          <p:cNvPr id="10" name="">
            <a:extLst xmlns:a="http://schemas.openxmlformats.org/drawingml/2006/main">
              <a:ext uri="{FF2B5EF4-FFF2-40B4-BE49-F238E27FC236}">
                <a16:creationId xmlns:a16="http://schemas.microsoft.com/office/drawing/2014/main" id="{BFEF5393-6D05-40D7-BABC-078A9B7BB05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17</a:t>
            </a:r>
          </a:p>
        </p:txBody>
      </p:sp>
    </p:spTree>
    <p:extLst>
      <p:ext uri="{BB962C8B-B14F-4D97-AF65-F5344CB8AC3E}">
        <p14:creationId xmlns:p14="http://schemas.microsoft.com/office/powerpoint/2010/main" val="50034336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76D0658-2671-4DBD-9746-7170F88E0FC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5F4D563-7678-4185-9F9B-E2755108AC1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2EB1B347-7D71-4288-9E28-0A8F261A9A9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submission</a:t>
            </a:r>
          </a:p>
        </p:txBody>
      </p:sp>
      <p:sp>
        <p:nvSpPr>
          <p:cNvPr id="4" name="">
            <a:extLst xmlns:a="http://schemas.openxmlformats.org/drawingml/2006/main">
              <a:ext uri="{FF2B5EF4-FFF2-40B4-BE49-F238E27FC236}">
                <a16:creationId xmlns:a16="http://schemas.microsoft.com/office/drawing/2014/main" id="{7B98AB10-0997-480D-A4E6-2D49B0C7648D}"/>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B959549-35EC-4C89-8C7E-0DFDEED22947}"/>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27 Nov 2026, 11:00 Kampala</a:t>
            </a:r>
          </a:p>
        </p:txBody>
      </p:sp>
      <p:sp>
        <p:nvSpPr>
          <p:cNvPr id="6" name="">
            <a:extLst xmlns:a="http://schemas.openxmlformats.org/drawingml/2006/main">
              <a:ext uri="{FF2B5EF4-FFF2-40B4-BE49-F238E27FC236}">
                <a16:creationId xmlns:a16="http://schemas.microsoft.com/office/drawing/2014/main" id="{086BFC9B-37CE-4CF8-BC5C-6476463072C6}"/>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CFD4F26-456A-4FB4-B510-E3E694794131}"/>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18 Dec 2026, 11:00 Kampala</a:t>
            </a:r>
          </a:p>
        </p:txBody>
      </p:sp>
      <p:sp>
        <p:nvSpPr>
          <p:cNvPr id="8" name="">
            <a:extLst xmlns:a="http://schemas.openxmlformats.org/drawingml/2006/main">
              <a:ext uri="{FF2B5EF4-FFF2-40B4-BE49-F238E27FC236}">
                <a16:creationId xmlns:a16="http://schemas.microsoft.com/office/drawing/2014/main" id="{EE912D68-DCBC-4BFE-855A-9FEEA737C472}"/>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37651C7-EAE9-4B41-BD8E-8964B13D14E6}"/>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3ABE6551-FE00-4666-9406-DE9251F7ADBF}"/>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AED28E7F-F11B-40DD-93D2-9FD1624B67CC}"/>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A90A89D7-031B-4E83-99B7-7EE26B90A3B9}"/>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5F47301-A673-4980-9695-C2CB118BEE6F}"/>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34e35ca96cd84eb0"/>
              </a:rPr>
              <a:t>Open ML_PROJECT assignment form</a:t>
            </a:r>
          </a:p>
        </p:txBody>
      </p:sp>
      <p:sp>
        <p:nvSpPr>
          <p:cNvPr id="14" name="">
            <a:extLst xmlns:a="http://schemas.openxmlformats.org/drawingml/2006/main">
              <a:ext uri="{FF2B5EF4-FFF2-40B4-BE49-F238E27FC236}">
                <a16:creationId xmlns:a16="http://schemas.microsoft.com/office/drawing/2014/main" id="{C4FE1EF9-A515-4B71-805F-477DAB26B8A0}"/>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https://docs.google.com/forms/d/e/1FAIpQLSeV2_XlDSjUCyjJG-aQjFSQny-ndfkYaOYtExv9CdA_HUbDlQ/viewform</a:t>
            </a:r>
          </a:p>
        </p:txBody>
      </p:sp>
      <p:sp>
        <p:nvSpPr>
          <p:cNvPr id="15" name="">
            <a:extLst xmlns:a="http://schemas.openxmlformats.org/drawingml/2006/main">
              <a:ext uri="{FF2B5EF4-FFF2-40B4-BE49-F238E27FC236}">
                <a16:creationId xmlns:a16="http://schemas.microsoft.com/office/drawing/2014/main" id="{9D0B8D37-5ACA-444B-BC3D-FC036E5627F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18</a:t>
            </a:r>
          </a:p>
        </p:txBody>
      </p:sp>
    </p:spTree>
    <p:extLst>
      <p:ext uri="{BB962C8B-B14F-4D97-AF65-F5344CB8AC3E}">
        <p14:creationId xmlns:p14="http://schemas.microsoft.com/office/powerpoint/2010/main" val="53137033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3A30A85-448D-4F30-B2B1-3E2EDD19A84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D18A4AA-4CFE-4ADF-A45E-C3F61AE1F3E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B49174DD-640F-4944-98C3-CEAF94311FB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Presentation evidence (35 marks)</a:t>
            </a:r>
          </a:p>
        </p:txBody>
      </p:sp>
      <p:sp>
        <p:nvSpPr>
          <p:cNvPr id="4" name="">
            <a:extLst xmlns:a="http://schemas.openxmlformats.org/drawingml/2006/main">
              <a:ext uri="{FF2B5EF4-FFF2-40B4-BE49-F238E27FC236}">
                <a16:creationId xmlns:a16="http://schemas.microsoft.com/office/drawing/2014/main" id="{B7023797-202E-4982-9DCE-50317CC7750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1DABA27-6509-4408-8B73-CEED09ACF562}"/>
              </a:ext>
            </a:extLst>
          </p:cNvPr>
          <p:cNvSpPr>
            <a:spLocks xmlns:a="http://schemas.openxmlformats.org/drawingml/2006/main" noGrp="1"/>
          </p:cNvSpPr>
          <p:nvPr/>
        </p:nvSpPr>
        <p:spPr>
          <a:xfrm xmlns:a="http://schemas.openxmlformats.org/drawingml/2006/main">
            <a:off x="1381125" y="1781175"/>
            <a:ext cx="10096500" cy="2062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Slides and narration notes explain the question, method, evidence and limitations for an engineering audience.</a:t>
            </a:r>
          </a:p>
        </p:txBody>
      </p:sp>
      <p:sp>
        <p:nvSpPr>
          <p:cNvPr id="6" name="">
            <a:extLst xmlns:a="http://schemas.openxmlformats.org/drawingml/2006/main">
              <a:ext uri="{FF2B5EF4-FFF2-40B4-BE49-F238E27FC236}">
                <a16:creationId xmlns:a16="http://schemas.microsoft.com/office/drawing/2014/main" id="{1CA47AB7-6282-4A67-B0D4-F0BBC1691246}"/>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00EB7AB-AABE-49CE-B121-0F0C3D94706D}"/>
              </a:ext>
            </a:extLst>
          </p:cNvPr>
          <p:cNvSpPr>
            <a:spLocks xmlns:a="http://schemas.openxmlformats.org/drawingml/2006/main" noGrp="1"/>
          </p:cNvSpPr>
          <p:nvPr/>
        </p:nvSpPr>
        <p:spPr>
          <a:xfrm xmlns:a="http://schemas.openxmlformats.org/drawingml/2006/main">
            <a:off x="1381125" y="3919538"/>
            <a:ext cx="10096500" cy="2062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local text grader does not assess visual styling or spoken delivery.</a:t>
            </a:r>
          </a:p>
        </p:txBody>
      </p:sp>
      <p:sp>
        <p:nvSpPr>
          <p:cNvPr id="8" name="">
            <a:extLst xmlns:a="http://schemas.openxmlformats.org/drawingml/2006/main">
              <a:ext uri="{FF2B5EF4-FFF2-40B4-BE49-F238E27FC236}">
                <a16:creationId xmlns:a16="http://schemas.microsoft.com/office/drawing/2014/main" id="{E7A42857-2C48-4F4F-A487-7DBBF83B6DB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19</a:t>
            </a:r>
          </a:p>
        </p:txBody>
      </p:sp>
    </p:spTree>
    <p:extLst>
      <p:ext uri="{BB962C8B-B14F-4D97-AF65-F5344CB8AC3E}">
        <p14:creationId xmlns:p14="http://schemas.microsoft.com/office/powerpoint/2010/main" val="67522594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2C22C9F-0426-455D-9112-53F95BCAD35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BC075A6-62B3-43FF-B3EE-23BB1739448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923C67C-5185-475D-BBCC-6B88666762D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Individual written defence (40 marks)</a:t>
            </a:r>
          </a:p>
        </p:txBody>
      </p:sp>
      <p:sp>
        <p:nvSpPr>
          <p:cNvPr id="4" name="">
            <a:extLst xmlns:a="http://schemas.openxmlformats.org/drawingml/2006/main">
              <a:ext uri="{FF2B5EF4-FFF2-40B4-BE49-F238E27FC236}">
                <a16:creationId xmlns:a16="http://schemas.microsoft.com/office/drawing/2014/main" id="{08C7BCB9-3698-49CE-8EFF-C75F86168C68}"/>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E76409E-B211-43D6-AB8C-2790880F10B0}"/>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74469EF-2D91-4FAB-8C7B-2DABEDE99922}"/>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Two typed answers about the student's own repository identify specific cells/results and explain the decisions.</a:t>
            </a:r>
          </a:p>
        </p:txBody>
      </p:sp>
      <p:sp>
        <p:nvSpPr>
          <p:cNvPr id="7" name="">
            <a:extLst xmlns:a="http://schemas.openxmlformats.org/drawingml/2006/main">
              <a:ext uri="{FF2B5EF4-FFF2-40B4-BE49-F238E27FC236}">
                <a16:creationId xmlns:a16="http://schemas.microsoft.com/office/drawing/2014/main" id="{61864AC0-4DEF-4521-A2BB-FFB519139F59}"/>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Credit is based on the submitted evidence; live questioning is formative.</a:t>
            </a:r>
          </a:p>
        </p:txBody>
      </p:sp>
      <p:sp>
        <p:nvSpPr>
          <p:cNvPr id="8" name="">
            <a:extLst xmlns:a="http://schemas.openxmlformats.org/drawingml/2006/main">
              <a:ext uri="{FF2B5EF4-FFF2-40B4-BE49-F238E27FC236}">
                <a16:creationId xmlns:a16="http://schemas.microsoft.com/office/drawing/2014/main" id="{634ED818-E3DE-40CF-B77C-DD04B0E1C80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20</a:t>
            </a:r>
          </a:p>
        </p:txBody>
      </p:sp>
    </p:spTree>
    <p:extLst>
      <p:ext uri="{BB962C8B-B14F-4D97-AF65-F5344CB8AC3E}">
        <p14:creationId xmlns:p14="http://schemas.microsoft.com/office/powerpoint/2010/main" val="204998415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6C94884-86E8-49DC-9644-D2A8DB947D4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A7C5AC4-29F5-4805-9A70-C827D06E3DE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3FFC133-48F8-49A7-AAF2-46ADA143AED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Reflection (20 marks)</a:t>
            </a:r>
          </a:p>
        </p:txBody>
      </p:sp>
      <p:sp>
        <p:nvSpPr>
          <p:cNvPr id="4" name="">
            <a:extLst xmlns:a="http://schemas.openxmlformats.org/drawingml/2006/main">
              <a:ext uri="{FF2B5EF4-FFF2-40B4-BE49-F238E27FC236}">
                <a16:creationId xmlns:a16="http://schemas.microsoft.com/office/drawing/2014/main" id="{F3C148F8-525E-4FFA-B8AE-9C6C121F93B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0F97E7B-7218-4BB2-8A2C-A07F8766168E}"/>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500 words.</a:t>
            </a:r>
          </a:p>
        </p:txBody>
      </p:sp>
      <p:sp>
        <p:nvSpPr>
          <p:cNvPr id="6" name="">
            <a:extLst xmlns:a="http://schemas.openxmlformats.org/drawingml/2006/main">
              <a:ext uri="{FF2B5EF4-FFF2-40B4-BE49-F238E27FC236}">
                <a16:creationId xmlns:a16="http://schemas.microsoft.com/office/drawing/2014/main" id="{6D0BE236-C04E-4417-9177-C80B8AB2F88B}"/>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5B45A60-01DB-4A9E-9540-19A444F739E1}"/>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Specific about what changed since Week 1, what remains difficult, and two concrete Semester 2 goals.</a:t>
            </a:r>
          </a:p>
        </p:txBody>
      </p:sp>
      <p:sp>
        <p:nvSpPr>
          <p:cNvPr id="8" name="">
            <a:extLst xmlns:a="http://schemas.openxmlformats.org/drawingml/2006/main">
              <a:ext uri="{FF2B5EF4-FFF2-40B4-BE49-F238E27FC236}">
                <a16:creationId xmlns:a16="http://schemas.microsoft.com/office/drawing/2014/main" id="{F83B1EEA-E09D-4DF2-9AE0-DBAE9F56E020}"/>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5501212-56C0-4A0D-95D2-1C617C1242FD}"/>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Generic reflection scores low.</a:t>
            </a:r>
          </a:p>
        </p:txBody>
      </p:sp>
      <p:sp>
        <p:nvSpPr>
          <p:cNvPr id="10" name="">
            <a:extLst xmlns:a="http://schemas.openxmlformats.org/drawingml/2006/main">
              <a:ext uri="{FF2B5EF4-FFF2-40B4-BE49-F238E27FC236}">
                <a16:creationId xmlns:a16="http://schemas.microsoft.com/office/drawing/2014/main" id="{BDBE8704-46B8-4B16-B6B1-DB76F9A6F3D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21</a:t>
            </a:r>
          </a:p>
        </p:txBody>
      </p:sp>
    </p:spTree>
    <p:extLst>
      <p:ext uri="{BB962C8B-B14F-4D97-AF65-F5344CB8AC3E}">
        <p14:creationId xmlns:p14="http://schemas.microsoft.com/office/powerpoint/2010/main" val="53159874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6299CF2-A08E-429C-9A5F-D2C1A3EA6E9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51C0917-4EDE-40A4-ADCB-6121279909F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C40331F-6238-4F7B-89D9-A9EAD84743C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AI-use declaration (5 marks)</a:t>
            </a:r>
          </a:p>
        </p:txBody>
      </p:sp>
      <p:sp>
        <p:nvSpPr>
          <p:cNvPr id="4" name="">
            <a:extLst xmlns:a="http://schemas.openxmlformats.org/drawingml/2006/main">
              <a:ext uri="{FF2B5EF4-FFF2-40B4-BE49-F238E27FC236}">
                <a16:creationId xmlns:a16="http://schemas.microsoft.com/office/drawing/2014/main" id="{75B0AB5C-3C7D-4641-A2F0-6A32C9920B14}"/>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E9C7A7F-6A9C-4D23-A998-5EB05BBF7DEA}"/>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Present, complete and plausible against the repository history.</a:t>
            </a:r>
          </a:p>
        </p:txBody>
      </p:sp>
      <p:sp>
        <p:nvSpPr>
          <p:cNvPr id="6" name="">
            <a:extLst xmlns:a="http://schemas.openxmlformats.org/drawingml/2006/main">
              <a:ext uri="{FF2B5EF4-FFF2-40B4-BE49-F238E27FC236}">
                <a16:creationId xmlns:a16="http://schemas.microsoft.com/office/drawing/2014/main" id="{AF32F5A0-AC0F-4A79-AD99-E9BC43CF508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22</a:t>
            </a:r>
          </a:p>
        </p:txBody>
      </p:sp>
    </p:spTree>
    <p:extLst>
      <p:ext uri="{BB962C8B-B14F-4D97-AF65-F5344CB8AC3E}">
        <p14:creationId xmlns:p14="http://schemas.microsoft.com/office/powerpoint/2010/main" val="127324681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FC11DCD-1482-48A9-AFF3-1F73DF7DC3F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835C474-6C06-4FD3-AF19-562578DE48C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AEECA22E-9F94-485C-9DA2-5D33BF8FDA7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Presentation and individual reflection submission</a:t>
            </a:r>
          </a:p>
        </p:txBody>
      </p:sp>
      <p:sp>
        <p:nvSpPr>
          <p:cNvPr id="4" name="">
            <a:extLst xmlns:a="http://schemas.openxmlformats.org/drawingml/2006/main">
              <a:ext uri="{FF2B5EF4-FFF2-40B4-BE49-F238E27FC236}">
                <a16:creationId xmlns:a16="http://schemas.microsoft.com/office/drawing/2014/main" id="{E93801B5-2C29-48BD-AB2F-B4E301A5E049}"/>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9C184BF-219F-4093-B75E-04088977BC4F}"/>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27 Nov 2026, 11:00 Kampala</a:t>
            </a:r>
          </a:p>
        </p:txBody>
      </p:sp>
      <p:sp>
        <p:nvSpPr>
          <p:cNvPr id="6" name="">
            <a:extLst xmlns:a="http://schemas.openxmlformats.org/drawingml/2006/main">
              <a:ext uri="{FF2B5EF4-FFF2-40B4-BE49-F238E27FC236}">
                <a16:creationId xmlns:a16="http://schemas.microsoft.com/office/drawing/2014/main" id="{0BF4D522-2005-4B5E-91C1-A458D63AB0F6}"/>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9F71EE3-69E4-4F6D-97D1-C189D87714B3}"/>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18 Dec 2026, 14:00 Kampala</a:t>
            </a:r>
          </a:p>
        </p:txBody>
      </p:sp>
      <p:sp>
        <p:nvSpPr>
          <p:cNvPr id="8" name="">
            <a:extLst xmlns:a="http://schemas.openxmlformats.org/drawingml/2006/main">
              <a:ext uri="{FF2B5EF4-FFF2-40B4-BE49-F238E27FC236}">
                <a16:creationId xmlns:a16="http://schemas.microsoft.com/office/drawing/2014/main" id="{AD5B1CF1-88CB-403C-B0D6-A749340900EF}"/>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8EF75CD-EACB-4157-A484-0F1DB30127B8}"/>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6629F340-2BC4-4435-8D17-9DD5E674F864}"/>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3AB813C0-51A7-4383-A0D1-2A92480C952F}"/>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5713CFB7-E30A-4CF6-AEA2-15CC349C5EEA}"/>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7375154-645D-4F46-A3E2-DF02FE80A1EE}"/>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ff39418f259844e2"/>
              </a:rPr>
              <a:t>Open DEMO assignment form</a:t>
            </a:r>
          </a:p>
        </p:txBody>
      </p:sp>
      <p:sp>
        <p:nvSpPr>
          <p:cNvPr id="14" name="">
            <a:extLst xmlns:a="http://schemas.openxmlformats.org/drawingml/2006/main">
              <a:ext uri="{FF2B5EF4-FFF2-40B4-BE49-F238E27FC236}">
                <a16:creationId xmlns:a16="http://schemas.microsoft.com/office/drawing/2014/main" id="{EF137EDB-8785-4238-8724-5D8F24EBC415}"/>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https://docs.google.com/forms/d/e/1FAIpQLScnSPyvzCLfoHhIBusvFTIpqC-zAsk2bCLMqu6kJCh5cGI9gQ/viewform</a:t>
            </a:r>
          </a:p>
        </p:txBody>
      </p:sp>
      <p:sp>
        <p:nvSpPr>
          <p:cNvPr id="15" name="">
            <a:extLst xmlns:a="http://schemas.openxmlformats.org/drawingml/2006/main">
              <a:ext uri="{FF2B5EF4-FFF2-40B4-BE49-F238E27FC236}">
                <a16:creationId xmlns:a16="http://schemas.microsoft.com/office/drawing/2014/main" id="{26AEF097-ED6A-4281-98A6-13469BB7D58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15   23</a:t>
            </a:r>
          </a:p>
        </p:txBody>
      </p:sp>
    </p:spTree>
    <p:extLst>
      <p:ext uri="{BB962C8B-B14F-4D97-AF65-F5344CB8AC3E}">
        <p14:creationId xmlns:p14="http://schemas.microsoft.com/office/powerpoint/2010/main" val="364832643"/>
      </p:ext>
    </p:extLst>
  </p:cSld>
</p:sld>
</file>

<file path=ppt/slides/slide2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C3144"/>
        </a:solidFill>
      </p:bgPr>
    </p:bg>
    <p:spTree>
      <p:nvGrpSpPr>
        <p:cNvPr id="1" name=""/>
        <p:cNvGrpSpPr/>
        <p:nvPr/>
      </p:nvGrpSpPr>
      <p:grpSpPr>
        <a:xfrm/>
      </p:grpSpPr>
      <p:sp>
        <p:nvSpPr>
          <p:cNvPr id="7" name="">
            <a:extLst>
              <a:ext uri="{FF2B5EF4-FFF2-40B4-BE49-F238E27FC236}">
                <ns2:creationId id="{45EC7337-71A2-4572-907D-FFF453E46092}"/>
              </a:ext>
            </a:extLst>
          </p:cNvPr>
          <p:cNvSpPr>
            <a:spLocks noGrp="1"/>
          </p:cNvSpPr>
          <p:nvPr/>
        </p:nvSpPr>
        <p:spPr>
          <a:xfrm>
            <a:off x="590550" y="180975"/>
            <a:ext cx="11049000" cy="285750"/>
          </a:xfrm>
          <a:prstGeom prst="rect">
            <a:avLst/>
          </a:prstGeom>
          <a:noFill/>
          <a:ln w="0">
            <a:noFill/>
          </a:ln>
        </p:spPr>
        <p:txBody>
          <a:bodyPr>
            <a:noAutofit/>
          </a:bodyPr>
          <a:lstStyle/>
          <a:p>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a:ext uri="{FF2B5EF4-FFF2-40B4-BE49-F238E27FC236}">
                <ns2:creationId id="{687F8DF1-DF2F-440F-99D9-EA62ACF74B02}"/>
              </a:ext>
            </a:extLst>
          </p:cNvPr>
          <p:cNvSpPr>
            <a:spLocks noGrp="1"/>
          </p:cNvSpPr>
          <p:nvPr/>
        </p:nvSpPr>
        <p:spPr>
          <a:xfrm>
            <a:off x="590550" y="523875"/>
            <a:ext cx="11049000" cy="809625"/>
          </a:xfrm>
          <a:prstGeom prst="rect">
            <a:avLst/>
          </a:prstGeom>
          <a:noFill/>
          <a:ln w="0">
            <a:noFill/>
          </a:ln>
        </p:spPr>
        <p:txBody>
          <a:bodyPr>
            <a:noAutofit/>
          </a:bodyPr>
          <a:lstStyle/>
          <a:p>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a:ext uri="{FF2B5EF4-FFF2-40B4-BE49-F238E27FC236}">
                <ns2:creationId id="{1FC1B7CF-2C93-408D-9AA1-F7DD8D53C25A}"/>
              </a:ext>
            </a:extLst>
          </p:cNvPr>
          <p:cNvSpPr>
            <a:spLocks noGrp="1"/>
          </p:cNvSpPr>
          <p:nvPr/>
        </p:nvSpPr>
        <p:spPr>
          <a:xfrm>
            <a:off x="619125" y="1619250"/>
            <a:ext cx="2857500" cy="495300"/>
          </a:xfrm>
          <a:prstGeom prst="rect">
            <a:avLst/>
          </a:prstGeom>
          <a:noFill/>
          <a:ln w="0">
            <a:noFill/>
          </a:ln>
        </p:spPr>
        <p:txBody>
          <a:bodyPr>
            <a:noAutofit/>
          </a:bodyPr>
          <a:lstStyle/>
          <a:p>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a:ext uri="{FF2B5EF4-FFF2-40B4-BE49-F238E27FC236}">
                <ns2:creationId id="{4D30BA03-B350-47EF-B6F1-4652AFDC9725}"/>
              </a:ext>
            </a:extLst>
          </p:cNvPr>
          <p:cNvSpPr>
            <a:spLocks noGrp="1"/>
          </p:cNvSpPr>
          <p:nvPr/>
        </p:nvSpPr>
        <p:spPr>
          <a:xfrm>
            <a:off x="619125" y="2295525"/>
            <a:ext cx="10810875" cy="3095625"/>
          </a:xfrm>
          <a:prstGeom prst="rect">
            <a:avLst/>
          </a:prstGeom>
          <a:noFill/>
          <a:ln w="0">
            <a:noFill/>
          </a:ln>
        </p:spPr>
        <p:txBody>
          <a:bodyPr>
            <a:noAutofit/>
          </a:bodyPr>
          <a:lstStyle/>
          <a:p>
            <a:pPr>
              <a:defRPr sz="2850" b="0">
                <a:solidFill>
                  <a:srgbClr val="FFFFFF"/>
                </a:solidFill>
                <a:latin typeface="Calibri"/>
                <a:ea typeface="Calibri"/>
                <a:cs typeface="Calibri"/>
              </a:defRPr>
            </a:pPr>
            <a:r>
              <a:rPr sz="2850" b="0">
                <a:solidFill>
                  <a:srgbClr val="FFFFFF"/>
                </a:solidFill>
                <a:latin typeface="Calibri"/>
                <a:ea typeface="Calibri"/>
                <a:cs typeface="Calibri"/>
              </a:rPr>
              <a:t>You can point to the evidence behind one decision you personally worked on.</a:t>
            </a:r>
          </a:p>
          <a:p>
            <a:r>
              <a:t/>
            </a:r>
          </a:p>
          <a:p>
            <a:pPr>
              <a:defRPr sz="2850" b="0">
                <a:solidFill>
                  <a:srgbClr val="FFFFFF"/>
                </a:solidFill>
                <a:latin typeface="Calibri"/>
                <a:ea typeface="Calibri"/>
                <a:cs typeface="Calibri"/>
              </a:defRPr>
            </a:pPr>
            <a:r>
              <a:rPr sz="2850" b="0">
                <a:solidFill>
                  <a:srgbClr val="FFFFFF"/>
                </a:solidFill>
                <a:latin typeface="Calibri"/>
                <a:ea typeface="Calibri"/>
                <a:cs typeface="Calibri"/>
              </a:rPr>
              <a:t>Save your work and check the required submission files.</a:t>
            </a:r>
          </a:p>
        </p:txBody>
      </p:sp>
      <p:sp>
        <p:nvSpPr>
          <p:cNvPr id="5" name="">
            <a:extLst>
              <a:ext uri="{FF2B5EF4-FFF2-40B4-BE49-F238E27FC236}">
                <ns2:creationId id="{4145E8BB-CA85-415D-86BE-9B4A8305E53C}"/>
              </a:ext>
            </a:extLst>
          </p:cNvPr>
          <p:cNvSpPr>
            <a:spLocks noGrp="1"/>
          </p:cNvSpPr>
          <p:nvPr/>
        </p:nvSpPr>
        <p:spPr>
          <a:xfrm>
            <a:off x="619125" y="5791200"/>
            <a:ext cx="10810875" cy="542925"/>
          </a:xfrm>
          <a:prstGeom prst="rect">
            <a:avLst/>
          </a:prstGeom>
          <a:noFill/>
          <a:ln w="0">
            <a:noFill/>
          </a:ln>
        </p:spPr>
        <p:txBody>
          <a:bodyPr>
            <a:noAutofit/>
          </a:bodyPr>
          <a:lstStyle/>
          <a:p>
            <a:pPr>
              <a:defRPr sz="1800" b="0">
                <a:solidFill>
                  <a:srgbClr val="BBCDD9"/>
                </a:solidFill>
                <a:latin typeface="Calibri"/>
                <a:ea typeface="Calibri"/>
                <a:cs typeface="Calibri"/>
              </a:defRPr>
            </a:pPr>
            <a:r>
              <a:rPr sz="1800" b="0">
                <a:solidFill>
                  <a:srgbClr val="BBCDD9"/>
                </a:solidFill>
                <a:latin typeface="Calibri"/>
                <a:ea typeface="Calibri"/>
                <a:cs typeface="Calibri"/>
              </a:rPr>
              <a:t>Check your answers against the example, then save your work.</a:t>
            </a:r>
          </a:p>
        </p:txBody>
      </p:sp>
      <p:sp>
        <p:nvSpPr>
          <p:cNvPr id="6" name="">
            <a:extLst>
              <a:ext uri="{FF2B5EF4-FFF2-40B4-BE49-F238E27FC236}">
                <ns2:creationId id="{EB0F48B8-ACE1-4C9A-9E74-9C41C7B032FE}"/>
              </a:ext>
            </a:extLst>
          </p:cNvPr>
          <p:cNvSpPr>
            <a:spLocks noGrp="1"/>
          </p:cNvSpPr>
          <p:nvPr/>
        </p:nvSpPr>
        <p:spPr>
          <a:xfrm>
            <a:off x="590550" y="6524625"/>
            <a:ext cx="10810875" cy="219075"/>
          </a:xfrm>
          <a:prstGeom prst="rect">
            <a:avLst/>
          </a:prstGeom>
          <a:noFill/>
          <a:ln w="0">
            <a:noFill/>
          </a:ln>
        </p:spPr>
        <p:txBody>
          <a:bodyPr>
            <a:noAutofit/>
          </a:bodyPr>
          <a:lstStyle/>
          <a:p>
            <a:pPr>
              <a:defRPr sz="1200" b="0">
                <a:solidFill>
                  <a:srgbClr val="BBCDD9"/>
                </a:solidFill>
                <a:latin typeface="Calibri"/>
                <a:ea typeface="Calibri"/>
                <a:cs typeface="Calibri"/>
              </a:defRPr>
            </a:pPr>
            <a:r>
              <a:rPr sz="1200" b="0">
                <a:solidFill>
                  <a:srgbClr val="BBCDD9"/>
                </a:solidFill>
                <a:latin typeface="Calibri"/>
                <a:ea typeface="Calibri"/>
                <a:cs typeface="Calibri"/>
              </a:rPr>
              <a:t>CML3111   Week 15   24</a:t>
            </a:r>
          </a:p>
        </p:txBody>
      </p:sp>
    </p:spTree>
    <p:extLst>
      <p:ext uri="{BB962C8B-B14F-4D97-AF65-F5344CB8AC3E}">
        <ns3:creationId val="13370501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2026-09-28T21:45:42.4710000Z</dcterms:created>
  <dcterms:modified xsi:type="dcterms:W3CDTF">2026-09-28T21:45:42.4710000Z</dcterms:modified>
</coreProperties>
</file>