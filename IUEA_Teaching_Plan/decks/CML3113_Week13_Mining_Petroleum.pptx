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8e05761b264ab1" /><Relationship Type="http://schemas.openxmlformats.org/officeDocument/2006/relationships/extended-properties" Target="/docProps/app.xml" Id="Rc31d8e78983449a1" /><Relationship Type="http://schemas.openxmlformats.org/officeDocument/2006/relationships/officeDocument" Target="/ppt/presentation.xml" Id="R6c41484bebd946cf" /></Relationships>
</file>

<file path=ppt/presentation.xml><?xml version="1.0" encoding="utf-8"?>
<p:presentation xmlns:p="http://schemas.openxmlformats.org/presentationml/2006/main">
  <p:sldMasterIdLst>
    <p:sldMasterId xmlns:r="http://schemas.openxmlformats.org/officeDocument/2006/relationships" id="2147483648" r:id="Rbaf705caa11f47b6"/>
  </p:sldMasterIdLst>
  <p:notesMasterIdLst>
    <p:notesMasterId xmlns:r="http://schemas.openxmlformats.org/officeDocument/2006/relationships" r:id="Ra369b6aba28047e5"/>
  </p:notesMasterIdLst>
  <p:sldIdLst>
    <p:sldId xmlns:r="http://schemas.openxmlformats.org/officeDocument/2006/relationships" id="256" r:id="R93e27bb28b184fd2"/>
    <p:sldId xmlns:r="http://schemas.openxmlformats.org/officeDocument/2006/relationships" id="257" r:id="R8920f66b49d9421b"/>
    <p:sldId xmlns:r="http://schemas.openxmlformats.org/officeDocument/2006/relationships" id="258" r:id="R5fcbbeba7abc4309"/>
    <p:sldId xmlns:r="http://schemas.openxmlformats.org/officeDocument/2006/relationships" id="259" r:id="Rcb3e1b9990b64bb3"/>
    <p:sldId xmlns:r="http://schemas.openxmlformats.org/officeDocument/2006/relationships" id="260" r:id="Rbe59ca5f3e134704"/>
    <p:sldId xmlns:r="http://schemas.openxmlformats.org/officeDocument/2006/relationships" id="261" r:id="Rb69d673aa05d4f7d"/>
    <p:sldId xmlns:r="http://schemas.openxmlformats.org/officeDocument/2006/relationships" id="262" r:id="Ra6c999cf30984cc1"/>
    <p:sldId xmlns:r="http://schemas.openxmlformats.org/officeDocument/2006/relationships" id="263" r:id="Re65585a5f1c04f4e"/>
    <p:sldId xmlns:r="http://schemas.openxmlformats.org/officeDocument/2006/relationships" id="264" r:id="R6e8680e2a15b4e38"/>
    <p:sldId xmlns:r="http://schemas.openxmlformats.org/officeDocument/2006/relationships" id="265" r:id="R7baf800d53d64be9"/>
    <p:sldId xmlns:r="http://schemas.openxmlformats.org/officeDocument/2006/relationships" id="266" r:id="R020af82162994b0b"/>
    <p:sldId xmlns:r="http://schemas.openxmlformats.org/officeDocument/2006/relationships" id="267" r:id="Rb9a0ea1a3827455d"/>
    <p:sldId xmlns:r="http://schemas.openxmlformats.org/officeDocument/2006/relationships" id="268" r:id="Rfbc101126d144fde"/>
    <p:sldId xmlns:r="http://schemas.openxmlformats.org/officeDocument/2006/relationships" id="269" r:id="R003881c1d4404eaf"/>
    <p:sldId xmlns:r="http://schemas.openxmlformats.org/officeDocument/2006/relationships" id="270" r:id="R619f3153b54a4162"/>
    <p:sldId xmlns:r="http://schemas.openxmlformats.org/officeDocument/2006/relationships" id="271" r:id="Reca2f9ba415f4a9e"/>
    <p:sldId xmlns:r="http://schemas.openxmlformats.org/officeDocument/2006/relationships" id="272" r:id="R344156e7b87248a4"/>
    <p:sldId xmlns:r="http://schemas.openxmlformats.org/officeDocument/2006/relationships" id="273" r:id="Rbeebf107c26a4de2"/>
    <p:sldId xmlns:r="http://schemas.openxmlformats.org/officeDocument/2006/relationships" id="274" r:id="R3fa59915afaa4a15"/>
    <p:sldId xmlns:r="http://schemas.openxmlformats.org/officeDocument/2006/relationships" id="275" r:id="R972482fe69624d62"/>
    <p:sldId xmlns:r="http://schemas.openxmlformats.org/officeDocument/2006/relationships" id="276" r:id="Rd3463bc770124b49"/>
    <p:sldId xmlns:r="http://schemas.openxmlformats.org/officeDocument/2006/relationships" id="277" r:id="R162f09b47ef74e64"/>
    <p:sldId xmlns:r="http://schemas.openxmlformats.org/officeDocument/2006/relationships" id="278" r:id="R20ef0c1ffbf14e4d"/>
    <p:sldId xmlns:r="http://schemas.openxmlformats.org/officeDocument/2006/relationships" id="279" r:id="Rc97979e8b6784811"/>
    <p:sldId xmlns:r="http://schemas.openxmlformats.org/officeDocument/2006/relationships" id="280" r:id="R993452d70fbc47af"/>
    <p:sldId xmlns:r="http://schemas.openxmlformats.org/officeDocument/2006/relationships" id="281" r:id="R7d8bbde143474f58"/>
    <p:sldId xmlns:r="http://schemas.openxmlformats.org/officeDocument/2006/relationships" id="282" r:id="R19b1ee43f8974932"/>
    <p:sldId xmlns:r="http://schemas.openxmlformats.org/officeDocument/2006/relationships" id="283" r:id="R254fd947978d4b51"/>
    <p:sldId xmlns:r="http://schemas.openxmlformats.org/officeDocument/2006/relationships" id="284" r:id="Ra6075b0d2067434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1e5f33f9e514e62" /><Relationship Type="http://schemas.openxmlformats.org/officeDocument/2006/relationships/slideMaster" Target="/ppt/slideMasters/slideMaster1.xml" Id="Rbaf705caa11f47b6" /><Relationship Type="http://schemas.openxmlformats.org/officeDocument/2006/relationships/notesMaster" Target="/ppt/notesMasters/notesMaster1.xml" Id="Ra369b6aba28047e5" /><Relationship Type="http://schemas.openxmlformats.org/officeDocument/2006/relationships/presProps" Target="/ppt/presProps.xml" Id="R94dfd8aa76f24b8d" /><Relationship Type="http://schemas.openxmlformats.org/officeDocument/2006/relationships/tableStyles" Target="/ppt/tableStyles.xml" Id="R3b75e12332094e2b" /><Relationship Type="http://schemas.openxmlformats.org/officeDocument/2006/relationships/slide" Target="/ppt/slides/slide1.xml" Id="R93e27bb28b184fd2" /><Relationship Type="http://schemas.openxmlformats.org/officeDocument/2006/relationships/slide" Target="/ppt/slides/slide2.xml" Id="R8920f66b49d9421b" /><Relationship Type="http://schemas.openxmlformats.org/officeDocument/2006/relationships/slide" Target="/ppt/slides/slide3.xml" Id="R5fcbbeba7abc4309" /><Relationship Type="http://schemas.openxmlformats.org/officeDocument/2006/relationships/slide" Target="/ppt/slides/slide4.xml" Id="Rcb3e1b9990b64bb3" /><Relationship Type="http://schemas.openxmlformats.org/officeDocument/2006/relationships/slide" Target="/ppt/slides/slide5.xml" Id="Rbe59ca5f3e134704" /><Relationship Type="http://schemas.openxmlformats.org/officeDocument/2006/relationships/slide" Target="/ppt/slides/slide6.xml" Id="Rb69d673aa05d4f7d" /><Relationship Type="http://schemas.openxmlformats.org/officeDocument/2006/relationships/slide" Target="/ppt/slides/slide7.xml" Id="Ra6c999cf30984cc1" /><Relationship Type="http://schemas.openxmlformats.org/officeDocument/2006/relationships/slide" Target="/ppt/slides/slide8.xml" Id="Re65585a5f1c04f4e" /><Relationship Type="http://schemas.openxmlformats.org/officeDocument/2006/relationships/slide" Target="/ppt/slides/slide9.xml" Id="R6e8680e2a15b4e38" /><Relationship Type="http://schemas.openxmlformats.org/officeDocument/2006/relationships/slide" Target="/ppt/slides/slide10.xml" Id="R7baf800d53d64be9" /><Relationship Type="http://schemas.openxmlformats.org/officeDocument/2006/relationships/slide" Target="/ppt/slides/slide11.xml" Id="R020af82162994b0b" /><Relationship Type="http://schemas.openxmlformats.org/officeDocument/2006/relationships/slide" Target="/ppt/slides/slide12.xml" Id="Rb9a0ea1a3827455d" /><Relationship Type="http://schemas.openxmlformats.org/officeDocument/2006/relationships/slide" Target="/ppt/slides/slide13.xml" Id="Rfbc101126d144fde" /><Relationship Type="http://schemas.openxmlformats.org/officeDocument/2006/relationships/slide" Target="/ppt/slides/slide14.xml" Id="R003881c1d4404eaf" /><Relationship Type="http://schemas.openxmlformats.org/officeDocument/2006/relationships/slide" Target="/ppt/slides/slide15.xml" Id="R619f3153b54a4162" /><Relationship Type="http://schemas.openxmlformats.org/officeDocument/2006/relationships/slide" Target="/ppt/slides/slide16.xml" Id="Reca2f9ba415f4a9e" /><Relationship Type="http://schemas.openxmlformats.org/officeDocument/2006/relationships/slide" Target="/ppt/slides/slide17.xml" Id="R344156e7b87248a4" /><Relationship Type="http://schemas.openxmlformats.org/officeDocument/2006/relationships/slide" Target="/ppt/slides/slide18.xml" Id="Rbeebf107c26a4de2" /><Relationship Type="http://schemas.openxmlformats.org/officeDocument/2006/relationships/slide" Target="/ppt/slides/slide19.xml" Id="R3fa59915afaa4a15" /><Relationship Type="http://schemas.openxmlformats.org/officeDocument/2006/relationships/slide" Target="/ppt/slides/slide20.xml" Id="R972482fe69624d62" /><Relationship Type="http://schemas.openxmlformats.org/officeDocument/2006/relationships/slide" Target="/ppt/slides/slide21.xml" Id="Rd3463bc770124b49" /><Relationship Type="http://schemas.openxmlformats.org/officeDocument/2006/relationships/slide" Target="/ppt/slides/slide22.xml" Id="R162f09b47ef74e64" /><Relationship Type="http://schemas.openxmlformats.org/officeDocument/2006/relationships/slide" Target="/ppt/slides/slide23.xml" Id="R20ef0c1ffbf14e4d" /><Relationship Type="http://schemas.openxmlformats.org/officeDocument/2006/relationships/slide" Target="/ppt/slides/slide24.xml" Id="Rc97979e8b6784811" /><Relationship Type="http://schemas.openxmlformats.org/officeDocument/2006/relationships/slide" Target="/ppt/slides/slide25.xml" Id="R993452d70fbc47af" /><Relationship Type="http://schemas.openxmlformats.org/officeDocument/2006/relationships/slide" Target="/ppt/slides/slide26.xml" Id="R7d8bbde143474f58" /><Relationship Type="http://schemas.openxmlformats.org/officeDocument/2006/relationships/slide" Target="/ppt/slides/slide27.xml" Id="R19b1ee43f8974932" /><Relationship Type="http://schemas.openxmlformats.org/officeDocument/2006/relationships/slide" Target="/ppt/slides/slide28.xml" Id="R254fd947978d4b51" /><Relationship Type="http://schemas.openxmlformats.org/officeDocument/2006/relationships/slide" Target="/ppt/slides/slide29.xml" Id="Ra6075b0d206743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bec16bdaab4a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e2239153b745b9" /><Relationship Type="http://schemas.openxmlformats.org/officeDocument/2006/relationships/notesMaster" Target="/ppt/notesMasters/notesMaster1.xml" Id="Re5018dbcfa6a45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2134ba06c43df" /><Relationship Type="http://schemas.openxmlformats.org/officeDocument/2006/relationships/notesMaster" Target="/ppt/notesMasters/notesMaster1.xml" Id="R5eea194c642d4c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bddba909234420" /><Relationship Type="http://schemas.openxmlformats.org/officeDocument/2006/relationships/notesMaster" Target="/ppt/notesMasters/notesMaster1.xml" Id="R0ad1dcb58e404b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9cbbf4f56b4dc5" /><Relationship Type="http://schemas.openxmlformats.org/officeDocument/2006/relationships/notesMaster" Target="/ppt/notesMasters/notesMaster1.xml" Id="R230f778e22bb40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1eacc1e7fc4320" /><Relationship Type="http://schemas.openxmlformats.org/officeDocument/2006/relationships/notesMaster" Target="/ppt/notesMasters/notesMaster1.xml" Id="R4724ece7b5ce4b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a624a83e0848c4" /><Relationship Type="http://schemas.openxmlformats.org/officeDocument/2006/relationships/notesMaster" Target="/ppt/notesMasters/notesMaster1.xml" Id="Rf7e118dda6b14c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ea879e1cd94648" /><Relationship Type="http://schemas.openxmlformats.org/officeDocument/2006/relationships/notesMaster" Target="/ppt/notesMasters/notesMaster1.xml" Id="R5e9601b9b27a46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f9d5011eb94f80" /><Relationship Type="http://schemas.openxmlformats.org/officeDocument/2006/relationships/notesMaster" Target="/ppt/notesMasters/notesMaster1.xml" Id="Re38fb4f4e5f84c4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daf7485ec34738" /><Relationship Type="http://schemas.openxmlformats.org/officeDocument/2006/relationships/notesMaster" Target="/ppt/notesMasters/notesMaster1.xml" Id="R8dbcd64c13a647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b041ed3d0b64444" /><Relationship Type="http://schemas.openxmlformats.org/officeDocument/2006/relationships/notesMaster" Target="/ppt/notesMasters/notesMaster1.xml" Id="Rffeb5cc36040427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5fdb3f6f4e24757" /><Relationship Type="http://schemas.openxmlformats.org/officeDocument/2006/relationships/notesMaster" Target="/ppt/notesMasters/notesMaster1.xml" Id="R38b2296c952f49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94f6d36dab4eb7" /><Relationship Type="http://schemas.openxmlformats.org/officeDocument/2006/relationships/notesMaster" Target="/ppt/notesMasters/notesMaster1.xml" Id="R54126cdb6fb342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0d6b809ece459f" /><Relationship Type="http://schemas.openxmlformats.org/officeDocument/2006/relationships/notesMaster" Target="/ppt/notesMasters/notesMaster1.xml" Id="R2d1b811fff654e8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593b8040824bbb" /><Relationship Type="http://schemas.openxmlformats.org/officeDocument/2006/relationships/notesMaster" Target="/ppt/notesMasters/notesMaster1.xml" Id="R84ad4d873871403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75924ff0b14676" /><Relationship Type="http://schemas.openxmlformats.org/officeDocument/2006/relationships/notesMaster" Target="/ppt/notesMasters/notesMaster1.xml" Id="R62d265cca6d54ab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76f995bc6964e3a" /><Relationship Type="http://schemas.openxmlformats.org/officeDocument/2006/relationships/notesMaster" Target="/ppt/notesMasters/notesMaster1.xml" Id="Rc930586d0b974a9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c1b45d096f4166" /><Relationship Type="http://schemas.openxmlformats.org/officeDocument/2006/relationships/notesMaster" Target="/ppt/notesMasters/notesMaster1.xml" Id="R5867a53241b249f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804d4263c84f52" /><Relationship Type="http://schemas.openxmlformats.org/officeDocument/2006/relationships/notesMaster" Target="/ppt/notesMasters/notesMaster1.xml" Id="R75e4fefe8ec14a3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63ccd8b01b42e7" /><Relationship Type="http://schemas.openxmlformats.org/officeDocument/2006/relationships/notesMaster" Target="/ppt/notesMasters/notesMaster1.xml" Id="R92b8763347ad4ba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befe00d6f46450c" /><Relationship Type="http://schemas.openxmlformats.org/officeDocument/2006/relationships/notesMaster" Target="/ppt/notesMasters/notesMaster1.xml" Id="R7c2e6f4f7a6741f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83f1cc4fe4b4fb0" /><Relationship Type="http://schemas.openxmlformats.org/officeDocument/2006/relationships/notesMaster" Target="/ppt/notesMasters/notesMaster1.xml" Id="Ra44127fa90214ef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59db6680de44309" /><Relationship Type="http://schemas.openxmlformats.org/officeDocument/2006/relationships/notesMaster" Target="/ppt/notesMasters/notesMaster1.xml" Id="Red3ab19fc00f49f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a6bd85ec2ea4a8a" /><Relationship Type="http://schemas.openxmlformats.org/officeDocument/2006/relationships/notesMaster" Target="/ppt/notesMasters/notesMaster1.xml" Id="Rd3c5443d9037415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a0efa45573b4467" /><Relationship Type="http://schemas.openxmlformats.org/officeDocument/2006/relationships/notesMaster" Target="/ppt/notesMasters/notesMaster1.xml" Id="Rb7c273ddeb964bd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ed44678d604e91" /><Relationship Type="http://schemas.openxmlformats.org/officeDocument/2006/relationships/notesMaster" Target="/ppt/notesMasters/notesMaster1.xml" Id="R8282a3b7cec8406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da594ac527546a5" /><Relationship Type="http://schemas.openxmlformats.org/officeDocument/2006/relationships/notesMaster" Target="/ppt/notesMasters/notesMaster1.xml" Id="Ra0394bc253c9470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48f677ec2bd4b9f" /><Relationship Type="http://schemas.openxmlformats.org/officeDocument/2006/relationships/notesMaster" Target="/ppt/notesMasters/notesMaster1.xml" Id="R6c5bce345efb499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dc3c78c1a4a46c2" /><Relationship Type="http://schemas.openxmlformats.org/officeDocument/2006/relationships/notesMaster" Target="/ppt/notesMasters/notesMaster1.xml" Id="R678073ddbb854f1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a04c7c1dc2041ae" /><Relationship Type="http://schemas.openxmlformats.org/officeDocument/2006/relationships/notesMaster" Target="/ppt/notesMasters/notesMaster1.xml" Id="R82f24dc939b141e2"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Making the project understandable and runnable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Making the project understandable and runnable.</a:t>
            </a:r>
          </a:p>
          <a:p>
            <a:r>
              <a:t/>
            </a:r>
          </a:p>
          <a:p>
            <a:r>
              <a:t>LECTURER CUE</a:t>
            </a:r>
          </a:p>
          <a:p>
            <a:r>
              <a:t>Ask learners to explain this goal in ordinary language. The first successful attempt matters more than covering optional extensions. Defer: Package refactoring, complex repository layout and extra tooling are optional. Keep a working simple notebook.</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A partner can locate the input data and follow the run order without hints.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pump team records temperature to investigate operation. Mining students can relate this to a dewatering pump; petroleum students to a transfer pump. These are teaching examples, not operating limits.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POINT TO THE DEFINITION</a:t>
            </a:r>
          </a:p>
          <a:p>
            <a:r>
              <a:t>Reproducibility: Another person can use the stated data, environment and steps to check the result. Terminology varies; state the operational test.</a:t>
            </a:r>
          </a:p>
          <a:p>
            <a:r>
              <a:t>Dependency: A package your code needs. Record versions actually used, rather than guessing them.</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POINT TO THE DEFINITION</a:t>
            </a:r>
          </a:p>
          <a:p>
            <a:r>
              <a:t>Relative path: A location interpreted from the current working folder. It is not always relative to the notebook file itself.</a:t>
            </a:r>
          </a:p>
          <a:p>
            <a:r>
              <a:t>README: The project’s instructions: question, files, data source, environment, run order, results and limitations.</a:t>
            </a:r>
          </a:p>
          <a:p>
            <a:r>
              <a:t/>
            </a:r>
          </a:p>
          <a:p>
            <a:r>
              <a:t>NEXT</a:t>
            </a:r>
          </a:p>
          <a:p>
            <a:r>
              <a:t>A useful README.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useful README</a:t>
            </a:r>
          </a:p>
          <a:p>
            <a:r>
              <a:t/>
            </a:r>
          </a:p>
          <a:p>
            <a:r>
              <a:t>CONNECT</a:t>
            </a:r>
          </a:p>
          <a:p>
            <a:r>
              <a:t>Build on the preceding slide: Words we will use.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Someone else needs to reproduce the result.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Someone else needs to reproduce the result</a:t>
            </a:r>
          </a:p>
          <a:p>
            <a:r>
              <a:t/>
            </a:r>
          </a:p>
          <a:p>
            <a:r>
              <a:t>CONNECT</a:t>
            </a:r>
          </a:p>
          <a:p>
            <a:r>
              <a:t>Build on the preceding slide: A useful README.</a:t>
            </a:r>
          </a:p>
          <a:p>
            <a:r>
              <a:t/>
            </a:r>
          </a:p>
          <a:p>
            <a:r>
              <a:t>LECTURER CUE</a:t>
            </a:r>
          </a:p>
          <a:p>
            <a:r>
              <a:t>Ask students to describe what they see before introducing terminology. Generated conceptual teaching illustration.  Source: figs/experiential/ASSET_SOURCES.md.</a:t>
            </a:r>
          </a:p>
          <a:p>
            <a:r>
              <a:t/>
            </a:r>
          </a:p>
          <a:p>
            <a:r>
              <a:t>NEXT</a:t>
            </a:r>
          </a:p>
          <a:p>
            <a:r>
              <a:t>A reproducible notebook starts fresh.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notebook starts fresh</a:t>
            </a:r>
          </a:p>
          <a:p>
            <a:r>
              <a:t/>
            </a:r>
          </a:p>
          <a:p>
            <a:r>
              <a:t>CONNECT</a:t>
            </a:r>
          </a:p>
          <a:p>
            <a:r>
              <a:t>Build on the preceding slide: Someone else needs to reproduce the result.</a:t>
            </a:r>
          </a:p>
          <a:p>
            <a:r>
              <a:t/>
            </a:r>
          </a:p>
          <a:p>
            <a:r>
              <a:t>LECTURER CUE</a:t>
            </a:r>
          </a:p>
          <a:p>
            <a:r>
              <a:t>Demonstrate restarting, uploading the issued data, and running all. The same result also depends on data, package versions and any random seeds.</a:t>
            </a:r>
          </a:p>
          <a:p>
            <a:r>
              <a:t>Source: existing course illustration figs/execution_trap.png. These are illustrative examples, not this cohort’s assessed results.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Saved outputs can hide missing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Saved outputs can hide missing steps</a:t>
            </a:r>
          </a:p>
          <a:p>
            <a:r>
              <a:t/>
            </a:r>
          </a:p>
          <a:p>
            <a:r>
              <a:t>CONNECT</a:t>
            </a:r>
          </a:p>
          <a:p>
            <a:r>
              <a:t>Build on the preceding slide: A reproducible notebook starts fresh.</a:t>
            </a:r>
          </a:p>
          <a:p>
            <a:r>
              <a:t/>
            </a:r>
          </a:p>
          <a:p>
            <a:r>
              <a:t>LECTURER CUE</a:t>
            </a:r>
          </a:p>
          <a:p>
            <a:r>
              <a:t>Demonstrate a clean run from a fresh session with the actual files. If a variable exists only from an earlier manual cell run, fix the run order.</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A path names where a file is found.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path names where a file is found</a:t>
            </a:r>
          </a:p>
          <a:p>
            <a:r>
              <a:t/>
            </a:r>
          </a:p>
          <a:p>
            <a:r>
              <a:t>CONNECT</a:t>
            </a:r>
          </a:p>
          <a:p>
            <a:r>
              <a:t>Build on the preceding slide: Saved outputs can hide missing steps.</a:t>
            </a:r>
          </a:p>
          <a:p>
            <a:r>
              <a:t/>
            </a:r>
          </a:p>
          <a:p>
            <a:r>
              <a:t>LECTURER CUE</a:t>
            </a:r>
          </a:p>
          <a:p>
            <a:r>
              <a:t>Explain every dependency and test a relative path. Include data-access instructions if the data cannot be redistributed.</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Read the path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path example</a:t>
            </a:r>
          </a:p>
          <a:p>
            <a:r>
              <a:t/>
            </a:r>
          </a:p>
          <a:p>
            <a:r>
              <a:t>CONNECT</a:t>
            </a:r>
          </a:p>
          <a:p>
            <a:r>
              <a:t>Build on the preceding slide: A path names where a file is found.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POINT TO THE DEFINITION</a:t>
            </a:r>
          </a:p>
          <a:p>
            <a:r>
              <a:t>Path and cwd: Path is a tool imported from Python’s pathlib module. Path.cwd() returns the folder where Python is currently running.</a:t>
            </a:r>
          </a:p>
          <a:p>
            <a:r>
              <a:t>name: The .name property gives the last folder component as text. It depends on your runtime. A different folder name is expected on another computer.</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Read the path example.</a:t>
            </a:r>
          </a:p>
          <a:p>
            <a:r>
              <a:t/>
            </a:r>
          </a:p>
          <a:p>
            <a:r>
              <a:t>LECTURER CUE</a:t>
            </a:r>
          </a:p>
          <a:p>
            <a:r>
              <a:t>Demonstrate a clean run from a fresh session with the actual files. If a variable exists only from an earlier manual cell run, fix the run order. Explain every dependency and test a relative path. Include data-access instructions if the data cannot be redistributed. Model actionable feedback: “Step 2 names data.csv, but the supplied file is readings.csv; please make them match.”</a:t>
            </a:r>
          </a:p>
          <a:p>
            <a:r>
              <a:t/>
            </a:r>
          </a:p>
          <a:p>
            <a:r>
              <a:t>Complete practice code:</a:t>
            </a:r>
          </a:p>
          <a:p>
            <a:r>
              <a:t>from pathlib import Path</a:t>
            </a:r>
          </a:p>
          <a:p>
            <a:r>
              <a:t>print(Path.cwd().name)</a:t>
            </a:r>
          </a:p>
          <a:p>
            <a:r>
              <a:t># The name depends on the folder where Python is running.</a:t>
            </a:r>
          </a:p>
          <a:p>
            <a:r>
              <a:t/>
            </a:r>
          </a:p>
          <a:p>
            <a:r>
              <a:t>WALK THROUGH THIS CODE</a:t>
            </a:r>
          </a:p>
          <a:p>
            <a:r>
              <a:t>import loads a library. from selects a tool from it.</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Tell another person what the project needs.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Tell another person what the project needs</a:t>
            </a:r>
          </a:p>
          <a:p>
            <a:r>
              <a:t/>
            </a:r>
          </a:p>
          <a:p>
            <a:r>
              <a:t>CONNECT</a:t>
            </a:r>
          </a:p>
          <a:p>
            <a:r>
              <a:t>Build on the preceding slide: Expected output.</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POINT TO THE DEFINITION</a:t>
            </a:r>
          </a:p>
          <a:p>
            <a:r>
              <a:t>requirements.txt and versions: This text file lists required Python packages and their versions. Record the versions used in the working environment; test them with the supplied run instructions.</a:t>
            </a:r>
          </a:p>
          <a:p>
            <a:r>
              <a:t>Data source, permission and seed: Name the data source and any licence or permission for reuse. Record random seeds used in modelling. A seed supports repeatability; it does not repair data leakage.</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Tell another person what the project needs.</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POINT TO THE DEFINITION</a:t>
            </a:r>
          </a:p>
          <a:p>
            <a:r>
              <a:t>Peer review: Someone else tests the instructions and reports a specific observation and suggested improvement.</a:t>
            </a:r>
          </a:p>
          <a:p>
            <a:r>
              <a:t>Contribution evidence: A record of each person’s work, tied to files, commits or explanations. It does not require making a private repository public.</a:t>
            </a:r>
          </a:p>
          <a:p>
            <a:r>
              <a:t/>
            </a:r>
          </a:p>
          <a:p>
            <a:r>
              <a:t>NEXT</a:t>
            </a:r>
          </a:p>
          <a:p>
            <a:r>
              <a:t>Useful feedback identifies an exact repair.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Useful feedback identifies an exact repair</a:t>
            </a:r>
          </a:p>
          <a:p>
            <a:r>
              <a:t/>
            </a:r>
          </a:p>
          <a:p>
            <a:r>
              <a:t>CONNECT</a:t>
            </a:r>
          </a:p>
          <a:p>
            <a:r>
              <a:t>Build on the preceding slide: Words we will use.</a:t>
            </a:r>
          </a:p>
          <a:p>
            <a:r>
              <a:t/>
            </a:r>
          </a:p>
          <a:p>
            <a:r>
              <a:t>LECTURER CUE</a:t>
            </a:r>
          </a:p>
          <a:p>
            <a:r>
              <a:t>Model actionable feedback: “Step 2 names data.csv, but the supplied file is readings.csv; please make them match.”</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 are a new project user.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a new project user</a:t>
            </a:r>
          </a:p>
          <a:p>
            <a:r>
              <a:t/>
            </a:r>
          </a:p>
          <a:p>
            <a:r>
              <a:t>CONNECT</a:t>
            </a:r>
          </a:p>
          <a:p>
            <a:r>
              <a:t>Build on the preceding slide: Useful feedback identifies an exact repair.</a:t>
            </a:r>
          </a:p>
          <a:p>
            <a:r>
              <a:t/>
            </a:r>
          </a:p>
          <a:p>
            <a:r>
              <a:t>LECTURER CUE</a:t>
            </a:r>
          </a:p>
          <a:p>
            <a:r>
              <a:t>Do this before revealing the discussion slide. One learner moves or writes the items, the other checks. Swap roles. Every student explains one step. Expected: Success means the instructions produce the stated result. Record the observed issue rather than simply writing "works".</a:t>
            </a:r>
          </a:p>
          <a:p>
            <a:r>
              <a:t>Wait for an individual prediction before inviting pair discussion. Give a first-step hint if needed.</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a new project user.</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Revise that step and repeat. A claim that the notebook runs is supported by a fresh run, not by saved outputs alone.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DISCUSSION KEY FOR THIS SLIDE</a:t>
            </a:r>
          </a:p>
          <a:p>
            <a:r>
              <a:t>DISCUSS THE REASONING</a:t>
            </a:r>
          </a:p>
          <a:p>
            <a:r>
              <a:t>Practice discussion</a:t>
            </a:r>
          </a:p>
          <a:p>
            <a:r>
              <a:t>Revise that step and repeat. A claim that the notebook runs is supported by a fresh run, not by saved outputs alone.</a:t>
            </a:r>
          </a:p>
          <a:p>
            <a:r>
              <a:t>Which step produced this result? What changes if one input changes?</a:t>
            </a:r>
          </a:p>
          <a:p>
            <a:r>
              <a:t>CML3113   Week 13   21</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Title, channel, 19:53 runtime and chapter boundaries checked on the video page on 15 September 2026. Desktop installation is optional. The originally shared t=167 link starts at installation.</a:t>
            </a:r>
          </a:p>
          <a:p>
            <a:r>
              <a:t>After viewing: Explain the difference between saving a file and recording a commit. Then make one browser-based commit.</a:t>
            </a:r>
          </a:p>
          <a:p>
            <a:r>
              <a:t>Preview before class and stop after the selected short excerpt. If playback fails, teach the worked example. Video is optional. Source: https://www.youtube.com/watch?v=v5gnvDUWqFM</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No new weekly assignment. Continue the official project deliverables and Week 13 quiz. Rehearse offline TEST2 saving and the published function interfaces before Week 14. Do not add an extra upload.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A reproducible handover.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handover</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A reproducible handover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reproducible handover continued</a:t>
            </a:r>
          </a:p>
          <a:p>
            <a:r>
              <a:t/>
            </a:r>
          </a:p>
          <a:p>
            <a:r>
              <a:t>CONNECT</a:t>
            </a:r>
          </a:p>
          <a:p>
            <a:r>
              <a:t>Build on the preceding slide: A reproducible handover.</a:t>
            </a:r>
          </a:p>
          <a:p>
            <a:r>
              <a:t/>
            </a:r>
          </a:p>
          <a:p>
            <a:r>
              <a:t>LECTURER CUE</a:t>
            </a:r>
          </a:p>
          <a:p>
            <a:r>
              <a:t>Teach these concepts before the weekly quiz. Use changed numbers for practice. This slide supplies concepts, not the quiz key.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A reproducible handover continued.</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13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13 quiz</a:t>
            </a:r>
          </a:p>
          <a:p>
            <a:r>
              <a:t/>
            </a:r>
          </a:p>
          <a:p>
            <a:r>
              <a:t>CONNECT</a:t>
            </a:r>
          </a:p>
          <a:p>
            <a:r>
              <a:t>Build on the preceding slide: Project preparation.</a:t>
            </a:r>
          </a:p>
          <a:p>
            <a:r>
              <a:t/>
            </a:r>
          </a:p>
          <a:p>
            <a:r>
              <a:t>LECTURER CUE</a:t>
            </a:r>
          </a:p>
          <a:p>
            <a:r>
              <a:t>Activate the matching open_W13_CML3113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13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c55ab30a6a4dc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a1ec81d599460d" /><Relationship Type="http://schemas.openxmlformats.org/officeDocument/2006/relationships/slideLayout" Target="/ppt/slideLayouts/slideLayout1.xml" Id="R0d13ee00181346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13ee00181346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9336ec456104ce9" /><Relationship Type="http://schemas.openxmlformats.org/officeDocument/2006/relationships/image" Target="/ppt/media/image.png" Id="R2f9c3cefa1bd46b6" /><Relationship Type="http://schemas.openxmlformats.org/officeDocument/2006/relationships/notesSlide" Target="/ppt/notesSlides/notesSlide1.xml" Id="R1e069884fba847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8a01331270c42d9" /><Relationship Type="http://schemas.openxmlformats.org/officeDocument/2006/relationships/notesSlide" Target="/ppt/notesSlides/notesSlide2.xml" Id="R9b97f3e92f6a4e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7f0ee9d81c4574" /><Relationship Type="http://schemas.openxmlformats.org/officeDocument/2006/relationships/notesSlide" Target="/ppt/notesSlides/notesSlide3.xml" Id="R9fd771c32b6f45d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77113476e64b27" /><Relationship Type="http://schemas.openxmlformats.org/officeDocument/2006/relationships/notesSlide" Target="/ppt/notesSlides/notesSlide4.xml" Id="R162600108fc64d5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e799cf3a654fd1" /><Relationship Type="http://schemas.openxmlformats.org/officeDocument/2006/relationships/notesSlide" Target="/ppt/notesSlides/notesSlide5.xml" Id="R9b9c9a75eecf45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58633044d064809" /><Relationship Type="http://schemas.openxmlformats.org/officeDocument/2006/relationships/notesSlide" Target="/ppt/notesSlides/notesSlide6.xml" Id="R17235f12d3fa43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faeea9e8f3b48f5" /><Relationship Type="http://schemas.openxmlformats.org/officeDocument/2006/relationships/notesSlide" Target="/ppt/notesSlides/notesSlide7.xml" Id="R32fb47c369204f3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222287282014750" /><Relationship Type="http://schemas.openxmlformats.org/officeDocument/2006/relationships/image" Target="/ppt/media/image2.png" Id="Rc40a054c3c0543de" /><Relationship Type="http://schemas.openxmlformats.org/officeDocument/2006/relationships/notesSlide" Target="/ppt/notesSlides/notesSlide8.xml" Id="Rc56c1fa76e3c478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598a0de27354829" /><Relationship Type="http://schemas.openxmlformats.org/officeDocument/2006/relationships/image" Target="/ppt/media/image3.png" Id="R07ee893ac59a408e" /><Relationship Type="http://schemas.openxmlformats.org/officeDocument/2006/relationships/notesSlide" Target="/ppt/notesSlides/notesSlide9.xml" Id="R2df7cec9897747c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25b01b352bb412b" /><Relationship Type="http://schemas.openxmlformats.org/officeDocument/2006/relationships/notesSlide" Target="/ppt/notesSlides/notesSlide10.xml" Id="Rc3460640682646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d9bb4ee28ba44e5" /><Relationship Type="http://schemas.openxmlformats.org/officeDocument/2006/relationships/notesSlide" Target="/ppt/notesSlides/notesSlide11.xml" Id="R7e1bf52b318d434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b0b24a4308e456c" /><Relationship Type="http://schemas.openxmlformats.org/officeDocument/2006/relationships/notesSlide" Target="/ppt/notesSlides/notesSlide12.xml" Id="R28df7617da96464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23b0756650542f0" /><Relationship Type="http://schemas.openxmlformats.org/officeDocument/2006/relationships/notesSlide" Target="/ppt/notesSlides/notesSlide13.xml" Id="R87d59da56aa640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1496c8baf344fb2" /><Relationship Type="http://schemas.openxmlformats.org/officeDocument/2006/relationships/notesSlide" Target="/ppt/notesSlides/notesSlide14.xml" Id="R116cc74ef6b145c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43026eeb2d74c9a" /><Relationship Type="http://schemas.openxmlformats.org/officeDocument/2006/relationships/notesSlide" Target="/ppt/notesSlides/notesSlide15.xml" Id="R3fd9024700de44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390ad2d5a51475a" /><Relationship Type="http://schemas.openxmlformats.org/officeDocument/2006/relationships/notesSlide" Target="/ppt/notesSlides/notesSlide16.xml" Id="Raa608b83ec6a4e7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a6e4341cb8e469a" /><Relationship Type="http://schemas.openxmlformats.org/officeDocument/2006/relationships/notesSlide" Target="/ppt/notesSlides/notesSlide17.xml" Id="R0c84f9b820794e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6593812587d4d07" /><Relationship Type="http://schemas.openxmlformats.org/officeDocument/2006/relationships/notesSlide" Target="/ppt/notesSlides/notesSlide18.xml" Id="R2891e0ae44824d3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1f6d929d4e8447f" /><Relationship Type="http://schemas.openxmlformats.org/officeDocument/2006/relationships/notesSlide" Target="/ppt/notesSlides/notesSlide19.xml" Id="Ra9ef040db09c460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ff849265e914183" /><Relationship Type="http://schemas.openxmlformats.org/officeDocument/2006/relationships/notesSlide" Target="/ppt/notesSlides/notesSlide20.xml" Id="Rd4e09e66c17b412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4d18ac11fdb45e8" /><Relationship Type="http://schemas.openxmlformats.org/officeDocument/2006/relationships/notesSlide" Target="/ppt/notesSlides/notesSlide21.xml" Id="Rda4d3f2819dc4ce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4a984249874d87" /><Relationship Type="http://schemas.openxmlformats.org/officeDocument/2006/relationships/hyperlink" Target="https://www.youtube.com/watch?v=v5gnvDUWqFM" TargetMode="External" Id="R1091d94dbfbd4265" /><Relationship Type="http://schemas.openxmlformats.org/officeDocument/2006/relationships/notesSlide" Target="/ppt/notesSlides/notesSlide22.xml" Id="Rceb7ee80702c4fa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b209f859f3f4882" /><Relationship Type="http://schemas.openxmlformats.org/officeDocument/2006/relationships/notesSlide" Target="/ppt/notesSlides/notesSlide23.xml" Id="Raa638c52a9c848b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07791900b774478" /><Relationship Type="http://schemas.openxmlformats.org/officeDocument/2006/relationships/notesSlide" Target="/ppt/notesSlides/notesSlide24.xml" Id="R6124c524ae2141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27c465ec62544b7" /><Relationship Type="http://schemas.openxmlformats.org/officeDocument/2006/relationships/notesSlide" Target="/ppt/notesSlides/notesSlide25.xml" Id="Rd08c53fb73374e0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bcf9b01c61c485e" /><Relationship Type="http://schemas.openxmlformats.org/officeDocument/2006/relationships/notesSlide" Target="/ppt/notesSlides/notesSlide26.xml" Id="R0867011ece224a8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c24ecf68ee64854" /><Relationship Type="http://schemas.openxmlformats.org/officeDocument/2006/relationships/notesSlide" Target="/ppt/notesSlides/notesSlide27.xml" Id="R26c13cc7920948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f5be13d283145a8" /><Relationship Type="http://schemas.openxmlformats.org/officeDocument/2006/relationships/image" Target="/ppt/media/image4.png" Id="R1e73b93c9ad44f3f" /><Relationship Type="http://schemas.openxmlformats.org/officeDocument/2006/relationships/hyperlink" Target="https://forms.gle/8PGZxFB8c2SYs1Qz7" TargetMode="External" Id="R5e9635d2f6b2456b" /><Relationship Type="http://schemas.openxmlformats.org/officeDocument/2006/relationships/notesSlide" Target="/ppt/notesSlides/notesSlide28.xml" Id="Re3b8477a69764d5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29f7031f3ff4812" /><Relationship Type="http://schemas.openxmlformats.org/officeDocument/2006/relationships/notesSlide" Target="/ppt/notesSlides/notesSlide29.xml" Id="Rc09288500245407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2f9c3cefa1bd46b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488FA1E-6683-4CC2-95E8-7B1604F1C9C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61906F4-D65C-4FAD-9A70-245FF8790DD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ACBF4E50-6B6C-4E47-85C3-116E31102E6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2C9CA4CD-E06D-4B0D-92A4-8B19E136028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45617A0C-56AD-4A54-95D6-E9E08B39AB6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9906009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BB9C2A6-E784-4381-BBC4-54FCCB7FB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C873CE-414B-484E-92EF-C7F52320BF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E57C945-501B-4D72-A60C-5D098E6D15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7321134-0D37-4297-9E3F-FC8DB7BE5D7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9C2D6A-8406-47B7-935C-97F3480067F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D4F6EED-3D5F-4F96-813C-1C1B0400203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peer feedback.</a:t>
            </a:r>
          </a:p>
        </p:txBody>
      </p:sp>
      <p:sp>
        <p:nvSpPr>
          <p:cNvPr id="7" name="">
            <a:extLst xmlns:a="http://schemas.openxmlformats.org/drawingml/2006/main">
              <a:ext uri="{FF2B5EF4-FFF2-40B4-BE49-F238E27FC236}">
                <a16:creationId xmlns:a16="http://schemas.microsoft.com/office/drawing/2014/main" id="{EA535E07-FE64-41C8-B40E-8457FCC141D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CCA0EE9-74BD-4236-8AC3-7A50A0C1D4D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F6E98318-1F1B-443C-935E-D7AE2584F7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724577516"/>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2889CA7-389B-4D1B-A0D2-5FABC43982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B8F79241-EE8A-488B-BACA-00AAF5A51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A20ABCAA-8318-4B2E-842D-B19DFCE8E9C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6A63B335-3AE9-475E-B333-48A6F3B5FB7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explain what your project predicts, its unit or class, and the validation rule in one minute?</a:t>
            </a:r>
          </a:p>
        </p:txBody>
      </p:sp>
      <p:sp>
        <p:nvSpPr>
          <p:cNvPr id="5" name="">
            <a:extLst xmlns:a="http://schemas.openxmlformats.org/drawingml/2006/main">
              <a:ext uri="{FF2B5EF4-FFF2-40B4-BE49-F238E27FC236}">
                <a16:creationId xmlns:a16="http://schemas.microsoft.com/office/drawing/2014/main" id="{7C2F492A-0478-47D5-8770-ED57D2D9596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20A6904C-4258-4B28-A3A9-4A3E3E6724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3</a:t>
            </a:r>
          </a:p>
        </p:txBody>
      </p:sp>
    </p:spTree>
    <p:extLst>
      <p:ext uri="{BB962C8B-B14F-4D97-AF65-F5344CB8AC3E}">
        <p14:creationId xmlns:p14="http://schemas.microsoft.com/office/powerpoint/2010/main" val="9292962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1747E8-8A49-4E90-B8AF-083B8131DF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E48274-B025-4416-BFC0-9C48A02DA5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7CCD1BDB-DD87-46E6-80B6-445239E1B5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7D493C1F-3AF1-4D17-955B-2FE6BB92B1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FA77C0-9AE2-44BB-A50E-3E86A83B03F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C0D576EA-CAE5-4CCE-966C-84BBB4F1F9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DF40BA0-C624-4855-A533-113AF21662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344B218F-A00B-4DCA-B321-22E18C5B5E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C6965F-A20B-46F2-AF1A-95C0D16177A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F2951683-068E-4A1E-8F18-A294C0D49F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a:t>
            </a:r>
          </a:p>
        </p:txBody>
      </p:sp>
    </p:spTree>
    <p:extLst>
      <p:ext uri="{BB962C8B-B14F-4D97-AF65-F5344CB8AC3E}">
        <p14:creationId xmlns:p14="http://schemas.microsoft.com/office/powerpoint/2010/main" val="64936562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81F0F5-8358-4588-8D1E-9CD58C7CEC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74943A-FC18-4B7C-A04A-321DBF531E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78EFF1-7586-4D86-B3F4-289989CC75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25209109-458A-4F08-BD62-9880776A956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953E5D-654E-4CD2-B02D-17746AD425C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C4BC6B07-88DB-43EE-BB2D-E5DE6062415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4AB784D0-89C2-491B-9906-2677DEC5E83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FB9117-466A-4577-8121-7E927813E3C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3EF4D752-5A81-4715-B67B-53AD32C319D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FCA12DA-A94E-417E-86BB-F8454D6B4F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5</a:t>
            </a:r>
          </a:p>
        </p:txBody>
      </p:sp>
    </p:spTree>
    <p:extLst>
      <p:ext uri="{BB962C8B-B14F-4D97-AF65-F5344CB8AC3E}">
        <p14:creationId xmlns:p14="http://schemas.microsoft.com/office/powerpoint/2010/main" val="16795632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7B192A-1F89-4490-B6F3-89B2875060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234E36-C160-4F48-BA4A-2726E0EC4B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18E00C8-CBD5-47DC-B4F6-A94D0B686B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1DED1319-EA6A-4223-9CD9-14C79A36B23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3E7FBB-E500-41CE-A21B-4CB324704AD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DBD194BD-86B6-4FEF-A855-7D42ABCE82F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E14D68EA-D522-437A-948C-148DE6223ED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0C1B2AE-073D-4A1C-BB8D-2F89C28B0DF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AFEA04B-D0E5-4F87-90E0-77D6745B526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5172D058-8EF6-45D2-9C5F-CF8CD3628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6</a:t>
            </a:r>
          </a:p>
        </p:txBody>
      </p:sp>
    </p:spTree>
    <p:extLst>
      <p:ext uri="{BB962C8B-B14F-4D97-AF65-F5344CB8AC3E}">
        <p14:creationId xmlns:p14="http://schemas.microsoft.com/office/powerpoint/2010/main" val="8921960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E2DCD53-C9D6-40EF-AE26-D8F638BE3E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911EDE-6507-44E8-B730-7A5CF9FD52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7C9D735-98FB-4E5B-B35F-69B6D7F6E5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A1FE1B7E-E014-43DA-84CA-93699FF4A2A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127DDD-3725-42F5-BD1E-341B2BBC75F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CB117FF4-CC2B-4EAC-9834-6053F1C40DA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FBCB76-5E5F-4EDC-BD14-9EA73BFA749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5669F11B-B111-4FDC-AA73-52D0EE9864A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31DED8-7E0C-40AD-8403-7A92ACC2855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1397D37E-B212-46F6-98A6-46346A7D434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11C3F75-FEE6-4A2F-999D-10B89B97FE4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97AB6CA7-A45E-4339-B023-B5D66314E2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7</a:t>
            </a:r>
          </a:p>
        </p:txBody>
      </p:sp>
    </p:spTree>
    <p:extLst>
      <p:ext uri="{BB962C8B-B14F-4D97-AF65-F5344CB8AC3E}">
        <p14:creationId xmlns:p14="http://schemas.microsoft.com/office/powerpoint/2010/main" val="19566124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67B44E-2F18-43E0-96D7-D0E55AD56B4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8BC5FF-B1C0-4935-8ACD-E554FD9469A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40a054c3c0543d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AEF8463-7325-4D9F-B796-2437E569095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609746-58FF-46D9-AEEE-0EA28C22237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ECAF4A38-8FAD-4B6C-AE6E-C7C0895A35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8</a:t>
            </a:r>
          </a:p>
        </p:txBody>
      </p:sp>
    </p:spTree>
    <p:extLst>
      <p:ext uri="{BB962C8B-B14F-4D97-AF65-F5344CB8AC3E}">
        <p14:creationId xmlns:p14="http://schemas.microsoft.com/office/powerpoint/2010/main" val="5359689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244902-36FA-4CFD-ACC8-2CDDAC1F2C1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F34AA3-8A4A-4653-A684-D36C5032FFA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7ee893ac59a408e"/>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3B3870F-9E95-423D-84B1-F8ACD81DAD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A9427F-12D7-48BC-9B54-14E277AE045A}"/>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78634694-3AC4-401A-9821-B9EC87D55E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9</a:t>
            </a:r>
          </a:p>
        </p:txBody>
      </p:sp>
    </p:spTree>
    <p:extLst>
      <p:ext uri="{BB962C8B-B14F-4D97-AF65-F5344CB8AC3E}">
        <p14:creationId xmlns:p14="http://schemas.microsoft.com/office/powerpoint/2010/main" val="155297265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50C60B0-485D-41FE-BAFC-15E5A2B2AC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E8F9A9-ED77-4C09-AEDC-B2B7FB1C70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7381D0-776D-4E4B-AC5E-50644F94FC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AA974EE0-CF21-4889-B774-3D249100B6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1F7DE8-2608-4CF9-B54B-CFA34B15B70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A1392DE1-DED8-41AA-9AEA-81047F884F3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6994A9-E11A-40DB-97ED-D62469C6953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2F918E9C-0A4B-40CA-9678-4CBB375525B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386D70-0028-4B5C-9F77-230F34D9ADD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DA9C0215-2341-4581-988E-78DAD69EB5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10</a:t>
            </a:r>
          </a:p>
        </p:txBody>
      </p:sp>
    </p:spTree>
    <p:extLst>
      <p:ext uri="{BB962C8B-B14F-4D97-AF65-F5344CB8AC3E}">
        <p14:creationId xmlns:p14="http://schemas.microsoft.com/office/powerpoint/2010/main" val="4076131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70095C6-7FE2-44D4-9A25-4E3E972C47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809494-8EC6-4D10-B79C-CB3F73080F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EFAD42-1E15-49CE-9229-E71B7212BE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90E92D4A-AB22-47AC-AE09-084F8DE48D0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A50AA5-2FD8-40F3-88AF-6CA03CE9B52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F8F7CF45-4A0A-48FE-A8A7-900AC1CB26F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96B37E-FF57-4053-B64B-1EDDFDF9B7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937C1312-E6B5-4DCB-8B65-54E5DEE6FF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F3B306-93B0-49A9-94D7-C47C2A52F0C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2B46EBC-DAA6-4970-9577-59B1D472F7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11</a:t>
            </a:r>
          </a:p>
        </p:txBody>
      </p:sp>
    </p:spTree>
    <p:extLst>
      <p:ext uri="{BB962C8B-B14F-4D97-AF65-F5344CB8AC3E}">
        <p14:creationId xmlns:p14="http://schemas.microsoft.com/office/powerpoint/2010/main" val="12692185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EC73AE-A998-447E-91D5-E3ADBCB6AF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3734BE-8358-41D6-9916-461FF6F0FA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6B3630-1196-49EB-ABC7-21694B96A2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E294E890-D499-478C-857D-DEEA163EF1B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D23609-330F-490C-9686-156AB6F001C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1AE1C408-EDC4-455E-85C0-62219818C7F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749B3599-AAB6-42AA-A3E9-BFEC7DE9465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9B66F1-EA15-4BE7-B024-2EACEA39D73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E3E08534-7932-4698-A9AA-63B164EAFF6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DFD00B16-C30A-4626-82C4-B38287E949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12</a:t>
            </a:r>
          </a:p>
        </p:txBody>
      </p:sp>
    </p:spTree>
    <p:extLst>
      <p:ext uri="{BB962C8B-B14F-4D97-AF65-F5344CB8AC3E}">
        <p14:creationId xmlns:p14="http://schemas.microsoft.com/office/powerpoint/2010/main" val="13631403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324819-F44C-47B6-9138-9408E994C4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83BF11-3C6B-42FB-961B-E4E7133AA2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197F6D-4984-4E57-B5C3-2C97C61385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EB4C3FFB-0771-41EA-B7F5-FD8A5C463FF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D6AD2B-F846-4526-9959-026BDC1FAE0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9CA0A92D-A4D4-44E6-A1FB-63BDBFC1D9A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38A154A5-A4A3-42EC-B8AF-409F2C99F9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73557CDE-D71E-4351-928C-EB9F24522F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13</a:t>
            </a:r>
          </a:p>
        </p:txBody>
      </p:sp>
    </p:spTree>
    <p:extLst>
      <p:ext uri="{BB962C8B-B14F-4D97-AF65-F5344CB8AC3E}">
        <p14:creationId xmlns:p14="http://schemas.microsoft.com/office/powerpoint/2010/main" val="184190114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34CE9DE-8B1F-4A7F-8969-0E462412B1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34E3B1-B821-4063-B48B-257EBCEA7B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BB521573-442D-4564-95E6-AAC92B44E0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F7E28CA0-F1B9-489B-A813-DEDDE9A7005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8AC8BB-C93E-415C-9137-66DCF86DE1A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A2A892F4-E74C-4103-8B9E-B7C0F2049B5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93A2FB1-E3D1-4D7B-9000-8E5C223CB1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14</a:t>
            </a:r>
          </a:p>
        </p:txBody>
      </p:sp>
    </p:spTree>
    <p:extLst>
      <p:ext uri="{BB962C8B-B14F-4D97-AF65-F5344CB8AC3E}">
        <p14:creationId xmlns:p14="http://schemas.microsoft.com/office/powerpoint/2010/main" val="887059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F43634-921C-435A-815D-C43DA86D1F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6A4FAD7-0B5C-4A38-939D-4EA172C02E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CA90FEE-28D5-467F-8AEE-309225AF8B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84C8D6D4-C9D7-49F7-8875-F72D23BE068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690073-A7D4-40D0-A3F2-0040F92E5EF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1AE1974E-238F-41B3-89AF-E1FE74705C2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F1B66FA1-1F02-475C-99E4-DC0CB6C222B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581E809-54E6-47A6-AECA-EDF8FAAAB78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12034553-614B-4FAC-BF7D-5A49A830F70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9AE7A9D1-1F4D-4CF9-A992-C5E1011BFF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15</a:t>
            </a:r>
          </a:p>
        </p:txBody>
      </p:sp>
    </p:spTree>
    <p:extLst>
      <p:ext uri="{BB962C8B-B14F-4D97-AF65-F5344CB8AC3E}">
        <p14:creationId xmlns:p14="http://schemas.microsoft.com/office/powerpoint/2010/main" val="15236511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51E32E-F11F-4B04-93B0-A9C5BA29F8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A816BA-891D-46EF-A65A-49F003C6B4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DEDF888-43D3-4AF1-9D89-02B56C488F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C3220ED-05BB-4B49-A5EA-1611C8E63FB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04FAE0-4612-430D-BAB4-DDB271F4B42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Peer review</a:t>
            </a:r>
          </a:p>
        </p:txBody>
      </p:sp>
      <p:sp>
        <p:nvSpPr>
          <p:cNvPr id="6" name="">
            <a:extLst xmlns:a="http://schemas.openxmlformats.org/drawingml/2006/main">
              <a:ext uri="{FF2B5EF4-FFF2-40B4-BE49-F238E27FC236}">
                <a16:creationId xmlns:a16="http://schemas.microsoft.com/office/drawing/2014/main" id="{0D68734E-765C-46D8-9FFF-A5561EF269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Someone else tests the instructions and reports a specific observation and suggested improvement.</a:t>
            </a:r>
          </a:p>
        </p:txBody>
      </p:sp>
      <p:sp>
        <p:nvSpPr>
          <p:cNvPr id="7" name="">
            <a:extLst xmlns:a="http://schemas.openxmlformats.org/drawingml/2006/main">
              <a:ext uri="{FF2B5EF4-FFF2-40B4-BE49-F238E27FC236}">
                <a16:creationId xmlns:a16="http://schemas.microsoft.com/office/drawing/2014/main" id="{C20026A7-CB19-4420-A2A9-1F46AF4DBB7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F6AFC01-DDDB-468D-B116-C76DC3C68B5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1E53A45-96BE-4130-821E-4067C6FF252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472408BE-E170-415F-B3E7-C08750C116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16</a:t>
            </a:r>
          </a:p>
        </p:txBody>
      </p:sp>
    </p:spTree>
    <p:extLst>
      <p:ext uri="{BB962C8B-B14F-4D97-AF65-F5344CB8AC3E}">
        <p14:creationId xmlns:p14="http://schemas.microsoft.com/office/powerpoint/2010/main" val="42057818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DD71E6-DD28-4254-BB4E-1E71834D94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D35F0A-82C9-4618-A417-98F358E5E3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F66403-B0EB-45C9-9BAA-CBE763700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FD3B0EB8-0FA4-4CF6-A32A-4174D9C55E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8E95E09-CF17-4F7A-B487-41A7ECEAE2B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60E8D22D-2678-4AE1-BE72-B87833D5DAF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EECF6E-9782-4461-A105-8A08CF17096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DDF683D2-C190-4044-B6FF-CA174BA34AE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4BEAF7-57EB-4919-B652-425298680A2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37BDBBB4-B579-42BB-B2B6-37FDCA456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7448795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C57C930-3219-40EE-A0E3-BF11C6295D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1ABCB8-2DCF-4248-9CBD-1323FF78FE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FC105799-52C7-429A-A87F-159BAED6B5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a new project user</a:t>
            </a:r>
          </a:p>
        </p:txBody>
      </p:sp>
      <p:sp>
        <p:nvSpPr>
          <p:cNvPr id="4" name="">
            <a:extLst xmlns:a="http://schemas.openxmlformats.org/drawingml/2006/main">
              <a:ext uri="{FF2B5EF4-FFF2-40B4-BE49-F238E27FC236}">
                <a16:creationId xmlns:a16="http://schemas.microsoft.com/office/drawing/2014/main" id="{8940883F-C015-46C3-B3CA-DA8A502533D9}"/>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0718211-F3D1-438F-8776-3C52B8AB712A}"/>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Exchange your README and files with a partner.</a:t>
            </a:r>
          </a:p>
        </p:txBody>
      </p:sp>
      <p:sp>
        <p:nvSpPr>
          <p:cNvPr id="6" name="">
            <a:extLst xmlns:a="http://schemas.openxmlformats.org/drawingml/2006/main">
              <a:ext uri="{FF2B5EF4-FFF2-40B4-BE49-F238E27FC236}">
                <a16:creationId xmlns:a16="http://schemas.microsoft.com/office/drawing/2014/main" id="{43DC4010-6661-4C69-9678-FD01DF6CCFC9}"/>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5E8782-320D-4119-A23D-D7A01D46FC60}"/>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partner follows the instructions in a fresh session without verbal hints.</a:t>
            </a:r>
          </a:p>
        </p:txBody>
      </p:sp>
      <p:sp>
        <p:nvSpPr>
          <p:cNvPr id="8" name="">
            <a:extLst xmlns:a="http://schemas.openxmlformats.org/drawingml/2006/main">
              <a:ext uri="{FF2B5EF4-FFF2-40B4-BE49-F238E27FC236}">
                <a16:creationId xmlns:a16="http://schemas.microsoft.com/office/drawing/2014/main" id="{752E1837-99BE-4767-A7F1-640FE7C35A9A}"/>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111455-8426-4B49-A1FC-E63D5E6D70DD}"/>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the first missing or ambiguous step, repair it and retry.</a:t>
            </a:r>
          </a:p>
        </p:txBody>
      </p:sp>
      <p:sp>
        <p:nvSpPr>
          <p:cNvPr id="10" name="">
            <a:extLst xmlns:a="http://schemas.openxmlformats.org/drawingml/2006/main">
              <a:ext uri="{FF2B5EF4-FFF2-40B4-BE49-F238E27FC236}">
                <a16:creationId xmlns:a16="http://schemas.microsoft.com/office/drawing/2014/main" id="{78DFEDDE-A1DD-42D3-94ED-2E4145E48040}"/>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A3CC5E-0D52-43D6-8C1C-D9987D06DDCA}"/>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23819B2B-B375-4FEE-88AF-5AE46AC440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171999914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93F90A-4ADA-43E1-ABD9-A3DFEF92A2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15FA46-516B-4343-957D-35322DAA04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6BBF0AC-1798-4902-8311-00F9621AC4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7754B107-68B1-4E7F-9CF4-22A9CF6F685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6AB49B-B255-4C3D-A674-0F2CB281F1B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Success means the instructions produce the stated result. Record the observed issue rather than simply writing "works".</a:t>
            </a:r>
          </a:p>
        </p:txBody>
      </p:sp>
      <p:sp>
        <p:nvSpPr>
          <p:cNvPr id="6" name="">
            <a:extLst xmlns:a="http://schemas.openxmlformats.org/drawingml/2006/main">
              <a:ext uri="{FF2B5EF4-FFF2-40B4-BE49-F238E27FC236}">
                <a16:creationId xmlns:a16="http://schemas.microsoft.com/office/drawing/2014/main" id="{B4AECD49-0AA8-4CD5-B3BD-108E30A60FC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178872DA-1A72-4622-8A56-CB9E698CDE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261398154"/>
      </p:ext>
    </p:extLst>
  </p:cSld>
</p:sld>
</file>

<file path=ppt/slides/slide2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578F47D-D418-41C1-B0A7-F8F132DC11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6DBA5C58-F33A-485F-A94B-72619FD47C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0EA4FF4D-4346-479E-8DEC-C7DBCCD170F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73B6B6F3-90F0-48C4-AC56-3983EC8720E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Ask a partner to follow your README without verbal help. Record the first step that fails.</a:t>
            </a:r>
          </a:p>
        </p:txBody>
      </p:sp>
      <p:sp>
        <p:nvSpPr>
          <p:cNvPr id="5" name="">
            <a:extLst xmlns:a="http://schemas.openxmlformats.org/drawingml/2006/main">
              <a:ext uri="{FF2B5EF4-FFF2-40B4-BE49-F238E27FC236}">
                <a16:creationId xmlns:a16="http://schemas.microsoft.com/office/drawing/2014/main" id="{F5559C73-6454-4D77-B4EE-F91B8F4D954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DFCA0D86-A9DF-465E-AB23-345E390672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20</a:t>
            </a:r>
          </a:p>
        </p:txBody>
      </p:sp>
    </p:spTree>
    <p:extLst>
      <p:ext uri="{BB962C8B-B14F-4D97-AF65-F5344CB8AC3E}">
        <p14:creationId xmlns:p14="http://schemas.microsoft.com/office/powerpoint/2010/main" val="207685430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21893C-C31F-4E57-9EBF-87EC24E618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92C7BA-1AFA-4860-B18F-06D9C4DC42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8C3C130F-97F2-4577-8CA1-269EF2B435C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38258332-0EA6-4D40-9AFB-10258DC88E55}"/>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7CE0ED-D41E-4272-9D49-DE3E38C7293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Revise that step and repeat. A claim that the notebook runs is supported by a fresh run, not by saved outputs alone.</a:t>
            </a:r>
          </a:p>
        </p:txBody>
      </p:sp>
      <p:sp>
        <p:nvSpPr>
          <p:cNvPr id="6" name="">
            <a:extLst xmlns:a="http://schemas.openxmlformats.org/drawingml/2006/main">
              <a:ext uri="{FF2B5EF4-FFF2-40B4-BE49-F238E27FC236}">
                <a16:creationId xmlns:a16="http://schemas.microsoft.com/office/drawing/2014/main" id="{8EA82CC5-E174-4B66-B310-7D1C1C34111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2C5749D-5273-41E4-9E7A-498BC916D9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18472504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853F487-C24E-4877-AFAA-501D1A162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7A7975-2F56-400D-B5C0-5120D251D3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FE4EFA2-EBF3-47E5-8404-A600D18C86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EA648C58-748C-4505-B8DE-4C36FB96843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9A8525-B27C-4858-AF25-EE5C3B36CC2D}"/>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7A315451-886C-4FCF-BC96-E1ADF24D929F}"/>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4BA997-E672-41A0-8EB6-F4648C4DC0A2}"/>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3F6B831A-A53F-4BBD-B992-6F684DF3699C}"/>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89590D-BD01-4D33-9708-4838CD611F44}"/>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01EF42B6-3BE9-4F99-8E9C-8325C7DF583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78BB13D-DF4D-4A50-85D0-1888A4F16DA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091d94dbfbd4265"/>
              </a:rPr>
              <a:t>Open explainer video</a:t>
            </a:r>
          </a:p>
        </p:txBody>
      </p:sp>
      <p:sp>
        <p:nvSpPr>
          <p:cNvPr id="12" name="">
            <a:extLst xmlns:a="http://schemas.openxmlformats.org/drawingml/2006/main">
              <a:ext uri="{FF2B5EF4-FFF2-40B4-BE49-F238E27FC236}">
                <a16:creationId xmlns:a16="http://schemas.microsoft.com/office/drawing/2014/main" id="{B1103467-FC25-481B-9B00-90C16538253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FDECAB5A-7C53-45B2-A9CC-8790EABB35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1289811889"/>
      </p:ext>
    </p:extLst>
  </p:cSld>
</p:sld>
</file>

<file path=ppt/slides/slide2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363DBD-643F-4EED-983A-61171531B2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BF94FFD-E0B8-4B5D-87EE-04BF10FFB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F24C44D2-08E5-4220-9691-77E84FA8057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DC0DF04C-0507-4A84-B3A4-5002D07F976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2EA4CE22-89BE-469B-99C9-7389CB62D8B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A9F73E3-277D-498D-B6B4-B769998B40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23</a:t>
            </a:r>
          </a:p>
        </p:txBody>
      </p:sp>
    </p:spTree>
    <p:extLst>
      <p:ext uri="{BB962C8B-B14F-4D97-AF65-F5344CB8AC3E}">
        <p14:creationId xmlns:p14="http://schemas.microsoft.com/office/powerpoint/2010/main" val="121262638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BE3399-DCCB-4AEE-8341-89874DD134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ADEC03-6B19-4A51-92A6-B594BDCB16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59659F1-261E-48C1-BE2C-CA6EA807FE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3D32727-8741-4FD8-971C-1ACCB3257D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D9FFF3-B95B-4692-A9A5-6DC008F378B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538EBFE0-07DB-4E8A-863A-923D99C4AF0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F4040C-F2CB-4BB7-A118-ED6AC03099B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65C30F3D-71CE-435D-A254-6C57E30ABE5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8C387B-5466-4654-93C1-D46ECCE0332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A8BB1BCB-1968-4390-BE0E-460A8B208AA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C89586-373E-4921-BEFC-A9B7F9E743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472DE84B-18AA-4971-A796-D9F79CFF3C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24</a:t>
            </a:r>
          </a:p>
        </p:txBody>
      </p:sp>
    </p:spTree>
    <p:extLst>
      <p:ext uri="{BB962C8B-B14F-4D97-AF65-F5344CB8AC3E}">
        <p14:creationId xmlns:p14="http://schemas.microsoft.com/office/powerpoint/2010/main" val="56144929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1AD3A0-2D76-41F1-A6E4-04395F68B5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229A08-2405-4A13-BCAB-1662970F9B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C14A89-E103-4016-A3A7-0AB667A417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6C213062-F48A-4625-BB5E-0616BB8572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A86045-51FD-43A9-B34B-34CD8F73405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23412592-BF26-48FB-9353-89A099D2313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3B0D38-2C4A-4189-9408-8ADFF657EDC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0A8967EC-A22F-41E6-9D87-8917DB114A7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FE0AC8-C92F-489A-97D0-0FD681BB806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14979D71-2439-4D1F-8D15-9CAEF914B53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8F5E8CB-8DA4-41A5-8522-3D90E5BDB62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40918858-1D42-4DC2-A0FA-D8E87020B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5011835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C6519D-BDA0-4481-A8E5-F4A6BBC9BD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39FEDF-D5C2-498F-856D-67BAED83FB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9A7FC0-B15E-4FB0-996D-E554DE9189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CB0FD81-57C3-49C3-97B4-88510E98401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99D4C3-9A4A-4329-BB18-3C750B74663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7AD0CCC8-9E25-492D-8E6A-19BFFC184A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26</a:t>
            </a:r>
          </a:p>
        </p:txBody>
      </p:sp>
    </p:spTree>
    <p:extLst>
      <p:ext uri="{BB962C8B-B14F-4D97-AF65-F5344CB8AC3E}">
        <p14:creationId xmlns:p14="http://schemas.microsoft.com/office/powerpoint/2010/main" val="3176592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2B0451-4222-4FCC-B61F-54C72E8DCC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DFF450-6529-4634-A172-D3709C4594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C0DC8C2-61EF-475D-97BD-72C588277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CEB1C117-2127-4ED0-B959-5B7C81D3EBE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47AB67-BDBB-4AE8-8676-A105EFEC90A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6CA4D5A8-610F-4A0C-8FD8-B976402480B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6476A5-CE96-40F2-AFFB-72D6191D6E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37CC492-7673-4BDC-8C5A-E6E345BAA15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80BDABE-AC47-4693-9BA8-0DAD6475E27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A7A7231-F070-484E-BD1A-1003B21D54A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B7D957-DB35-470C-8579-CA4164D6150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D2D4F3ED-3A03-4BD2-B133-C6586BDAE1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27</a:t>
            </a:r>
          </a:p>
        </p:txBody>
      </p:sp>
    </p:spTree>
    <p:extLst>
      <p:ext uri="{BB962C8B-B14F-4D97-AF65-F5344CB8AC3E}">
        <p14:creationId xmlns:p14="http://schemas.microsoft.com/office/powerpoint/2010/main" val="102257749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9AF570F-1703-4C34-8E15-BC64BB9A55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716243-F2A4-41FA-89DD-748E3208F2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F1036AE-5F46-4FCC-A947-90E35EF3D1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B65DF29A-0F38-4BC8-A799-76CCBCA33E7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7262D3-4038-4D1F-B0E5-E6F391F6481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1CF8D9B-421B-4306-8423-941F0362CE7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372A19-35CC-4097-A89A-319A3C8A301D}"/>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71B34054-7BC4-4929-B310-D511D2F8F8C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A395894-5AAC-4D86-BB3F-A8B461033EE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BF11877-8599-44E5-8116-401D5A9DF68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9915ACF-E90B-4C7E-8EE9-7503DB1BE0E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e73b93c9ad44f3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79E323F-38F9-4685-84B7-B0494EA2E96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1CCDDB4-BFDE-4954-9D6D-CA62D4396E0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5A1D34D-596A-4ECB-971E-DC2E9758A22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e9635d2f6b2456b"/>
              </a:rPr>
              <a:t>Open this week’s quiz</a:t>
            </a:r>
          </a:p>
        </p:txBody>
      </p:sp>
      <p:sp>
        <p:nvSpPr>
          <p:cNvPr id="16" name="">
            <a:extLst xmlns:a="http://schemas.openxmlformats.org/drawingml/2006/main">
              <a:ext uri="{FF2B5EF4-FFF2-40B4-BE49-F238E27FC236}">
                <a16:creationId xmlns:a16="http://schemas.microsoft.com/office/drawing/2014/main" id="{580E3FA3-AC91-4F57-A9FD-DF67C1CB281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https://forms.gle/8PGZxFB8c2SYs1Qz7</a:t>
            </a:r>
          </a:p>
        </p:txBody>
      </p:sp>
      <p:sp>
        <p:nvSpPr>
          <p:cNvPr id="17" name="">
            <a:extLst xmlns:a="http://schemas.openxmlformats.org/drawingml/2006/main">
              <a:ext uri="{FF2B5EF4-FFF2-40B4-BE49-F238E27FC236}">
                <a16:creationId xmlns:a16="http://schemas.microsoft.com/office/drawing/2014/main" id="{BBFCFDA4-EE6F-4FF2-ACE8-B5DC3CA91B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28</a:t>
            </a:r>
          </a:p>
        </p:txBody>
      </p:sp>
    </p:spTree>
    <p:extLst>
      <p:ext uri="{BB962C8B-B14F-4D97-AF65-F5344CB8AC3E}">
        <p14:creationId xmlns:p14="http://schemas.microsoft.com/office/powerpoint/2010/main" val="695474190"/>
      </p:ext>
    </p:extLst>
  </p:cSld>
</p:sld>
</file>

<file path=ppt/slides/slide2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DA24E4-0AC5-431B-BAF0-7B8EF6E695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96211554-D264-4272-B25A-8C7D063591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A441AF40-1B1B-4555-A07C-33F914AADB7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42EB964-7D1F-4691-A722-A55D0ACF863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30A0067-1969-497F-A7A5-88C6ED3F1B8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04D8B1C-8F11-4DE5-A21C-4AEA2999D5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29</a:t>
            </a:r>
          </a:p>
        </p:txBody>
      </p:sp>
    </p:spTree>
    <p:extLst>
      <p:ext uri="{BB962C8B-B14F-4D97-AF65-F5344CB8AC3E}">
        <p14:creationId xmlns:p14="http://schemas.microsoft.com/office/powerpoint/2010/main" val="18214105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2026-09-16T11:10:14.7610000Z</dcterms:created>
  <dcterms:modified xsi:type="dcterms:W3CDTF">2026-09-16T11:10:14.7610000Z</dcterms:modified>
</coreProperties>
</file>