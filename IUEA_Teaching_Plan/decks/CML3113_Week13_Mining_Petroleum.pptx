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studio session. Forty minutes of teaching on what makes work reproducible, then one hundred minutes in which you build while I run clinic slots, then a peer review round in which you review another team's repository against the project rubric. Practical Test 2 is briefed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one students find hardest, and it is the one that most improves their own work. Reviewing somebody else's repository is where you discover the defects in your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studio runs for eighty-five minutes and your clinic slot is about 8 minutes of it. Teams not in a slot are building or peer-reviewing, so nobody is waiting.</a:t>
            </a:r>
          </a:p>
          <a:p/>
          <a:p>
            <a:r>
              <a:t>Come to your slot with the repository checklist already filled in. A slot spent finding out what is missing is a slot wasted; a slot spent on the two things you could not fix yourself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have a model you can defend. What you may not have is work anybody else could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questions are about the gap between 'it works for me' and 'it works'. Question C is today's subject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Week 2 execution trap arriving at the moment it costs you marks. A notebook that works only because of variables left in memory from deleted cells will fail on a reviewer's machine, and Restart and Run All is a ten-second check that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why this matters beyond the marks. If a result of yours is questioned in a review, in a viva or in practice, the repository is what defends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arrives in every engineering career, usually at the least convenient moment. Memory is not evidence and a notebook on your laptop is not evidence either, because you cannot show that the version you have now is the version that produced the number.</a:t>
            </a:r>
          </a:p>
          <a:p/>
          <a:p>
            <a:r>
              <a:t>What works is a repository with a fixed environment, fixed seeds and a commit history, because it lets you rerun the exact analysis and get the exact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in the figure is the real one. A reviewer reads the README first to find out what the project is, then requirements.txt to find out whether they can run it, then src/ to see the code you would defend. The notebooks come after all three.</a:t>
            </a:r>
          </a:p>
          <a:p/>
          <a:p>
            <a:r>
              <a:t>The data/raw and data/processed split is the part students most often skip and most often regret. A raw folder that is never edited is what lets you answer 'where did this number come from?' a month later. It is also the only defence against cleaning the same file twice in two different ways, which produces two different answers and no way to tell which is yours.</a:t>
            </a:r>
          </a:p>
          <a:p/>
          <a:p>
            <a:r>
              <a:t>Your project folder for this cohort is flotation-silica/ and your raw file is flotation_subset.csv.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Repeatable is the easy half and it still catches most students, because a notebook depending on variables from deleted cells is not even repeatable.</a:t>
            </a:r>
          </a:p>
          <a:p/>
          <a:p>
            <a:r>
              <a:t>Reproducible is the standard the project rubric uses, and it is worth 5 of the 100 marks directly plus a great deal indirectly, because a marker who cannot run your work cannot award marks for what it does.</a:t>
            </a:r>
          </a:p>
          <a:p/>
          <a:p>
            <a:r>
              <a:t>A practical note on seeds: a fixed seed makes the run repeatable and it does not make the result correct. If your conclusion changes when the seed changes, the honest report says so and gives the spread.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pinning point is the one that bites later. A requirements.txt listing bare package names is a list of what you happened to have, and it will install something different next year. Pin the versions with double equals.</a:t>
            </a:r>
          </a:p>
          <a:p/>
          <a:p>
            <a:r>
              <a:t>One practical caution about pip freeze: run it in a clean virtual environment if you can, because in Colab it will list several hundred packages that have nothing to do with your project. Listing the six you actually import, with versions, is better than listing four hundred.</a:t>
            </a:r>
          </a:p>
          <a:p/>
          <a:p>
            <a:r>
              <a:t>On seeds: put the seed in one variable at the top of the notebook and pass that variable everywhere, so there is one place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of live refactoring. The starting notebook is a real one, used with permission, and it looks like the work most of you have on your machines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one is the most damaging. Cleaning a file by hand outside the code means the cleaned file cannot be rebuilt, so nobody can check what you removed and nobody can redo the analysis with a different cleaning decision. Every cleaning step belongs in code.</a:t>
            </a:r>
          </a:p>
          <a:p/>
          <a:p>
            <a:r>
              <a:t>The fifth is the one that quietly undermines a report. If your headline number moves between runs, the number you wrote in the brief was one draw from a distribution you never described. Fix the seed, then report the spread across folds as 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Restart and Run All is the acceptance test for this week and for the project. It clears every variable from memory and runs the notebook as written, which is the only way to find out whether the notebook you have on screen is the one that produced your numbers.</a:t>
            </a:r>
          </a:p>
          <a:p/>
          <a:p>
            <a:r>
              <a:t>The SEED variable in one place is a small habit with a large payoff. When a reviewer asks how much your result moves with the seed, you change one line and rerun.</a:t>
            </a:r>
          </a:p>
          <a:p/>
          <a:p>
            <a:r>
              <a:t>On pip freeze in Colab: it will list several hundred packages. Open the file and keep the ones you import, with their versions.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 page answering five questions. A reviewer who reads this knows whether to keep reading, which is the whole job of a README.</a:t>
            </a:r>
          </a:p>
          <a:p/>
          <a:p>
            <a:r>
              <a:t>Question 5 is the one that earns the most and gets written the least. Stating what your model cannot do, and under what conditions it should not be used, reads as competence rather than weakness, and the project rubric rewards it directly.</a:t>
            </a:r>
          </a:p>
          <a:p/>
          <a:p>
            <a:r>
              <a:t>The two-page engineering brief due in Week 15 is a different document. The README tells a reviewer how to run your work; the brief tells an engineer what you found and what to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test is worth doing on every report you ever write. Read the captions in order and nothing else. If that sequence tells the story, your figures are doing work; if it does not, you have charts a reader has to interpret for themselves.</a:t>
            </a:r>
          </a:p>
          <a:p/>
          <a:p>
            <a:r>
              <a:t>Communication carries 10 of the 100 project marks, and captions are the cheapest place to earn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the one that teaches you something. A function that fails after a restart was reading a variable from the global state instead of taking it as an argument, and it would have failed on anyone else's machine.</a:t>
            </a:r>
          </a:p>
          <a:p/>
          <a:p>
            <a:r>
              <a:t>Step 6 matters for the contribution log. Commit messages are what your log gets checked against, so 'move duplicate removal into src/prepare.py so it can be tested' is worth writing and 'update' is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warning is worth taking seriously, because a fixed seed can hide instability. Try three or four seeds while you are developing. If your headline number moves by more than you would be comfortable reporting, that movement is the real result and it belongs in the brief.</a:t>
            </a:r>
          </a:p>
          <a:p/>
          <a:p>
            <a:r>
              <a:t>One more path habit: keep the notebook in notebooks/ and write paths as "../data/raw/..." from there, or set the working directory once at the top. Pick one and be consistent, because half a repository using each is worse than either.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studio afterwards runs for eighty-five minutes, so check your clinic slot time before you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Eighty-five minutes of build time with clinic slots running alongside. Your slot is about 8 minutes, so come with the checklist filled in and two specific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Milestone 4 is a repository freeze candidate rather than a final submission. What is checked is that it runs, that the README answers the five questions, and that the contribution log matches the commit history.</a:t>
            </a:r>
          </a:p>
          <a:p/>
          <a:p>
            <a:r>
              <a:t>The last item on the right is worth reading. If your repository already passes, the highest-value use of your slot is the two-page brief and the poster, because those are what Week 15 is assessed on and they are the least practised things you will hand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down this list before your clinic slot and fix everything you can fix yourself. Then bring the two things you could not.</a:t>
            </a:r>
          </a:p>
          <a:p/>
          <a:p>
            <a:r>
              <a:t>The third group is the one teams leave to the last day and it is worth 5 of the 100 marks on its own, plus it is what makes your individual mark defensible in the Week 15 viva.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points are the whole difference. A good entry says what you asked, what came back and what you did to verify it, and the verification is what is marked.</a:t>
            </a:r>
          </a:p>
          <a:p/>
          <a:p>
            <a:r>
              <a:t>AI tools are permitted and taught in the coursework of this course, and they are excluded from both practical tests by running those offline. The rule is consistent: you are marked on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You review another team's repository against the published project rubric and return a written review naming two strengths and two specific fixes. Reviewing is harder than building, and you will find defects in your own work while looking at theirs.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 against the rubric' point is where inexperienced reviewers go wrong. There is often more than one defensible choice, and a team that scaled with MinMaxScaler where you used StandardScaler has not made a mistake. Review against the published criteria.</a:t>
            </a:r>
          </a:p>
          <a:p/>
          <a:p>
            <a:r>
              <a:t>The third point is the highest-value ten minutes you can spend. Tracing one headline number back to the raw file tests the whole chain at once, and when it cannot be done, the reason is always something worth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is the one that changes how a comment is received. Saying what the defect meant for you as a reader turns a criticism into information, and it also tells the author how much it matters.</a:t>
            </a:r>
          </a:p>
          <a:p/>
          <a:p>
            <a:r>
              <a:t>The last step matters more than it looks. Specific praise tells a team which of their choices to keep, and it is the part of a review most likely to be acted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restating the Test 2 format you were given in Week 11. The last quiz of the semester closes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useful preparation for Test 2 next week is the studio you just ran. Practise Restart and Run All, practise writing a five-question README quickly, and practise filling in a structured answers cell, because 45 of the 100 marks come from one.</a:t>
            </a:r>
          </a:p>
          <a:p/>
          <a:p>
            <a:r>
              <a:t>On Week 15: the two-page brief and the one-page poster are the least practised things you will hand in all semester, and there is no session between the test and Demo Day. Draft both this week.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The second is the one to act on before you leave the room, and the fourth is the one that will come up in your viva.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 is the one that ends projects. Overwriting your raw file removes the only record of what you started with, and no amount of care afterwards gets it back.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standard your project brief is held to. A result reported without a spread gives a reader no way to judge how much of it is signal, and adding the spread costs you one 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practical five are Restart and Run All, relative path, pinned version, seed and data/raw. Between them they cover most of what makes work checkable.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Reproducibility and documentation carries 5 of the 100 project marks directly, and it gates the rest, because a marker who cannot run your work cannot award marks for what it does.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peer review round is what makes today stick. Trying to run somebody else's repository teaches you more about your own than any checklist, and most teams find one of their own defects while looking at another team's.</a:t>
            </a:r>
          </a:p>
          <a:p/>
          <a:p>
            <a:r>
              <a:t>Practical Test 2 is next week. The best preparation is redoing today's studio work on a different dataset, and practising the structured answers cell.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Work somebody else</a:t>
            </a:r>
          </a:p>
          <a:p>
            <a:pPr algn="l">
              <a:lnSpc>
                <a:spcPct val="105000"/>
              </a:lnSpc>
              <a:spcAft>
                <a:spcPts val="600"/>
              </a:spcAft>
            </a:pPr>
            <a:r>
              <a:rPr sz="4400" b="1" i="0">
                <a:solidFill>
                  <a:srgbClr val="FFFFFF"/>
                </a:solidFill>
                <a:latin typeface="Cambria"/>
              </a:rPr>
              <a:t>can actually run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Repository structure, README, environment capture and peer review</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13  ·  Fri 4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Structure a repository a stranger could clone and run without asking you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README that states the problem, the data, the method, the result and the limitations.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Capture the environment so the analysis can be rebuilt in a year.</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relative paths and fixed seeds, and say what each of them prevents.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Report a result with its uncertainty and its conditions of use.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Review another team's repository against the published rubric and give feedback they can act 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Declare and account for your use of AI assistance.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13 · Reproducibility, communication and peer review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3.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The studio is eighty-five minutes of your own build with clinic slots running alongside, so check when your slot is before the break.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choose a model and defend the choice. Today: making the work checkable.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12?</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send your notebook to a colleague and it fails on the first cell. Name the two most likely causes.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report an MAE of 3.6 and your colleague reruns your notebook and gets 4.1. What single line would have prevented that?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notebook runs perfectly for you and you have restarted the kernel twice this month. Why is that not evidence that it works?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Fails on the first cell?</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 absolute path that only exists on your machine, or a package your colleague does not have installed. A relative path and a requirements.txt fix both, and between them they account for most first-cell failures.</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3.6 against 4.1?</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random_state=42, or any fixed seed, on the split and on the model. Without it, every run draws different rows into the test set and the number you reported was one sample from a distribution you never described.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works for you?</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your kernel holds variables from cells you have since edited or deleted, so the notebook you have on screen and the state it is running in are two different things. Restart and Run All is the only test that settles it, and it is the acceptance test for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Reproducibility as an obligation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result nobody else can reproduce is a claim, and a claim is not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SOMEBODY WILL ASK YOU</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reported this number eight months ago. Where did it come from, and would you get it again today?"</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will be asked this in the Week 15 viva, and you will be asked it again in practice. The only answer that works is a repository somebody can clone and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REPOSITORY 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reviewer opens, and in what order</a:t>
            </a:r>
          </a:p>
        </p:txBody>
      </p:sp>
      <p:pic>
        <p:nvPicPr>
          <p:cNvPr id="4" name="Picture 3" descr="repo_structure.png"/>
          <p:cNvPicPr>
            <a:picLocks noChangeAspect="1"/>
          </p:cNvPicPr>
          <p:nvPr/>
        </p:nvPicPr>
        <p:blipFill>
          <a:blip r:embed="rId2"/>
          <a:stretch>
            <a:fillRect/>
          </a:stretch>
        </p:blipFill>
        <p:spPr>
          <a:xfrm>
            <a:off x="1914104" y="1911095"/>
            <a:ext cx="836348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things at the top level and two folders inside data/. The numbered items are the order a marker actually reads in, and none of them is your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Reproducible, and repeatable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Work is REPEATABLE when you can run it again yourself and get the same numbers. It is REPRODUCIBLE when somebody else can, on a different machine, from what you gave them.</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Restart and Run All on your own machine tests repeatability. Cloning onto a machine that has never seen the project, installing requirements.txt and running the notebooks in order tests reproducibility.</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Getting the same answer as somebody else who did their own analysis. That is replication, and it is a much stronger and much rarer 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ENVIRONMENT AND SEEDS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Capturing the environment, and pinning the randomness</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requirements.txt is the list of packages and their versions</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pip freeze &gt; requirements.txt writes it. Then pip install -r requirements.txt rebuilds it on any machine.</a:t>
            </a:r>
          </a:p>
        </p:txBody>
      </p:sp>
      <p:sp>
        <p:nvSpPr>
          <p:cNvPr id="6" name="TextBox 5"/>
          <p:cNvSpPr txBox="1"/>
          <p:nvPr/>
        </p:nvSpPr>
        <p:spPr>
          <a:xfrm>
            <a:off x="685800" y="354894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Pin every version with a double equals</a:t>
            </a:r>
          </a:p>
        </p:txBody>
      </p:sp>
      <p:sp>
        <p:nvSpPr>
          <p:cNvPr id="7" name="TextBox 6"/>
          <p:cNvSpPr txBox="1"/>
          <p:nvPr/>
        </p:nvSpPr>
        <p:spPr>
          <a:xfrm>
            <a:off x="685800" y="3960207"/>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pandas==2.2.1 will still install in two years. 'pandas' installs whatever is current, and an API that changed in between will break your notebook.</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Set a seed everywhere randomness enters</a:t>
            </a:r>
          </a:p>
        </p:txBody>
      </p:sp>
      <p:sp>
        <p:nvSpPr>
          <p:cNvPr id="9" name="TextBox 8"/>
          <p:cNvSpPr txBox="1"/>
          <p:nvPr/>
        </p:nvSpPr>
        <p:spPr>
          <a:xfrm>
            <a:off x="685800" y="5548735"/>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train/test split, the cross-validation folds, and any model with a random component. random_state=42 in all of them.</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Use relative paths only</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pd.read_csv("data/raw/flotation_subset.csv") works on any machine. A path starting C:/Users/ works on exactly one.</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Never edit data/raw</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Everything in data/processed is rebuilt from raw by code in src/, so it can be deleted and remade at any time.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record the versions of what you cannot pin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Python version, and the date you ran it. A line at the top of the README is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messy notebook to a clean repository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real exploratory notebook, refactored live into something a stranger could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TO FIX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things a reviewer sees immediately</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every one of them costs marks</a:t>
            </a:r>
          </a:p>
        </p:txBody>
      </p:sp>
      <p:sp>
        <p:nvSpPr>
          <p:cNvPr id="5" name="TextBox 4"/>
          <p:cNvSpPr txBox="1"/>
          <p:nvPr/>
        </p:nvSpPr>
        <p:spPr>
          <a:xfrm>
            <a:off x="685800" y="248902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1 ·</a:t>
            </a:r>
          </a:p>
        </p:txBody>
      </p:sp>
      <p:sp>
        <p:nvSpPr>
          <p:cNvPr id="6" name="TextBox 5"/>
          <p:cNvSpPr txBox="1"/>
          <p:nvPr/>
        </p:nvSpPr>
        <p:spPr>
          <a:xfrm>
            <a:off x="685800" y="292065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path that reads C:/Users/.../Desktop/flotation_final_v3.csv, so the notebook runs on one laptop in the world.</a:t>
            </a:r>
          </a:p>
        </p:txBody>
      </p:sp>
      <p:sp>
        <p:nvSpPr>
          <p:cNvPr id="7" name="TextBox 6"/>
          <p:cNvSpPr txBox="1"/>
          <p:nvPr/>
        </p:nvSpPr>
        <p:spPr>
          <a:xfrm>
            <a:off x="685800" y="385180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2 ·</a:t>
            </a:r>
          </a:p>
        </p:txBody>
      </p:sp>
      <p:sp>
        <p:nvSpPr>
          <p:cNvPr id="8" name="TextBox 7"/>
          <p:cNvSpPr txBox="1"/>
          <p:nvPr/>
        </p:nvSpPr>
        <p:spPr>
          <a:xfrm>
            <a:off x="685800" y="4283430"/>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Three separate cells that all assign df, run in an order nobody wrote down.</a:t>
            </a:r>
          </a:p>
        </p:txBody>
      </p:sp>
      <p:sp>
        <p:nvSpPr>
          <p:cNvPr id="9" name="TextBox 8"/>
          <p:cNvSpPr txBox="1"/>
          <p:nvPr/>
        </p:nvSpPr>
        <p:spPr>
          <a:xfrm>
            <a:off x="685800" y="5214577"/>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3 ·</a:t>
            </a:r>
          </a:p>
        </p:txBody>
      </p:sp>
      <p:sp>
        <p:nvSpPr>
          <p:cNvPr id="10" name="TextBox 9"/>
          <p:cNvSpPr txBox="1"/>
          <p:nvPr/>
        </p:nvSpPr>
        <p:spPr>
          <a:xfrm>
            <a:off x="685800" y="564620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-999 assays replaced by hand in Excel before loading, with no record of how many there were.</a:t>
            </a:r>
          </a:p>
        </p:txBody>
      </p:sp>
      <p:sp>
        <p:nvSpPr>
          <p:cNvPr id="11" name="TextBox 10"/>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4 ·</a:t>
            </a:r>
          </a:p>
        </p:txBody>
      </p:sp>
      <p:sp>
        <p:nvSpPr>
          <p:cNvPr id="12" name="TextBox 11"/>
          <p:cNvSpPr txBox="1"/>
          <p:nvPr/>
        </p:nvSpPr>
        <p:spPr>
          <a:xfrm>
            <a:off x="6347307" y="2342724"/>
            <a:ext cx="5158587" cy="378705"/>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chart titled 'output' with no units on either axis.</a:t>
            </a:r>
          </a:p>
        </p:txBody>
      </p:sp>
      <p:sp>
        <p:nvSpPr>
          <p:cNvPr id="13" name="TextBox 12"/>
          <p:cNvSpPr txBox="1"/>
          <p:nvPr/>
        </p:nvSpPr>
        <p:spPr>
          <a:xfrm>
            <a:off x="6347307" y="2950029"/>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5 ·</a:t>
            </a:r>
          </a:p>
        </p:txBody>
      </p:sp>
      <p:sp>
        <p:nvSpPr>
          <p:cNvPr id="14" name="TextBox 13"/>
          <p:cNvSpPr txBox="1"/>
          <p:nvPr/>
        </p:nvSpPr>
        <p:spPr>
          <a:xfrm>
            <a:off x="6347307" y="3381657"/>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random_state left unset, so the reported MAE moves by 0.08 percentage points between runs.</a:t>
            </a:r>
          </a:p>
        </p:txBody>
      </p:sp>
      <p:sp>
        <p:nvSpPr>
          <p:cNvPr id="15" name="TextBox 14"/>
          <p:cNvSpPr txBox="1"/>
          <p:nvPr/>
        </p:nvSpPr>
        <p:spPr>
          <a:xfrm>
            <a:off x="6347307" y="4312803"/>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6 ·</a:t>
            </a:r>
          </a:p>
        </p:txBody>
      </p:sp>
      <p:sp>
        <p:nvSpPr>
          <p:cNvPr id="16" name="TextBox 15"/>
          <p:cNvSpPr txBox="1"/>
          <p:nvPr/>
        </p:nvSpPr>
        <p:spPr>
          <a:xfrm>
            <a:off x="6347307" y="4744431"/>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Forty commented-out lines kept in case they are needed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acceptance test, and the environment file</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RUN THIS ON YOUR OWN REPOSITORY NOW</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 1 · the acceptance test, in the notebook menu:</a:t>
            </a:r>
          </a:p>
          <a:p>
            <a:pPr algn="l">
              <a:lnSpc>
                <a:spcPts val="1795"/>
              </a:lnSpc>
              <a:spcAft>
                <a:spcPts val="0"/>
              </a:spcAft>
            </a:pPr>
            <a:r>
              <a:rPr sz="1320" b="0" i="0">
                <a:solidFill>
                  <a:srgbClr val="D8E3EC"/>
                </a:solidFill>
                <a:latin typeface="Courier New"/>
              </a:rPr>
              <a:t>#      Kernel  -&gt;  Restart and Run All</a:t>
            </a:r>
          </a:p>
          <a:p>
            <a:pPr algn="l">
              <a:lnSpc>
                <a:spcPts val="1795"/>
              </a:lnSpc>
              <a:spcAft>
                <a:spcPts val="0"/>
              </a:spcAft>
            </a:pPr>
            <a:r>
              <a:rPr sz="1320" b="0" i="0">
                <a:solidFill>
                  <a:srgbClr val="D8E3EC"/>
                </a:solidFill>
                <a:latin typeface="Courier New"/>
              </a:rPr>
              <a:t>#    It either runs top to bottom, or it does not. Nothing in between.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2 · one seed, one place, passed everywhere</a:t>
            </a:r>
          </a:p>
          <a:p>
            <a:pPr algn="l">
              <a:lnSpc>
                <a:spcPts val="1795"/>
              </a:lnSpc>
              <a:spcAft>
                <a:spcPts val="0"/>
              </a:spcAft>
            </a:pPr>
            <a:r>
              <a:rPr sz="1320" b="0" i="0">
                <a:solidFill>
                  <a:srgbClr val="D8E3EC"/>
                </a:solidFill>
                <a:latin typeface="Courier New"/>
              </a:rPr>
              <a:t>SEED = 42</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random_state=SEED)</a:t>
            </a:r>
          </a:p>
          <a:p>
            <a:pPr algn="l">
              <a:lnSpc>
                <a:spcPts val="1795"/>
              </a:lnSpc>
              <a:spcAft>
                <a:spcPts val="0"/>
              </a:spcAft>
            </a:pPr>
            <a:r>
              <a:rPr sz="1320" b="0" i="0">
                <a:solidFill>
                  <a:srgbClr val="D8E3EC"/>
                </a:solidFill>
                <a:latin typeface="Courier New"/>
              </a:rPr>
              <a:t>model = RandomForestRegressor(n_estimators=300, random_state=SEED)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3 · relative paths only</a:t>
            </a:r>
          </a:p>
          <a:p>
            <a:pPr algn="l">
              <a:lnSpc>
                <a:spcPts val="1795"/>
              </a:lnSpc>
              <a:spcAft>
                <a:spcPts val="0"/>
              </a:spcAft>
            </a:pPr>
            <a:r>
              <a:rPr sz="1320" b="0" i="0">
                <a:solidFill>
                  <a:srgbClr val="D8E3EC"/>
                </a:solidFill>
                <a:latin typeface="Courier New"/>
              </a:rPr>
              <a:t>df = pd.read_csv("data/raw/flotation_subset.csv")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4 · capture the environment, then read the file and cut it down</a:t>
            </a:r>
          </a:p>
          <a:p>
            <a:pPr algn="l">
              <a:lnSpc>
                <a:spcPts val="1795"/>
              </a:lnSpc>
              <a:spcAft>
                <a:spcPts val="0"/>
              </a:spcAft>
            </a:pPr>
            <a:r>
              <a:rPr sz="1320" b="0" i="0">
                <a:solidFill>
                  <a:srgbClr val="D8E3EC"/>
                </a:solidFill>
                <a:latin typeface="Courier New"/>
              </a:rPr>
              <a:t>#      to the packages you actually import</a:t>
            </a:r>
          </a:p>
          <a:p>
            <a:pPr algn="l">
              <a:lnSpc>
                <a:spcPts val="1795"/>
              </a:lnSpc>
              <a:spcAft>
                <a:spcPts val="0"/>
              </a:spcAft>
            </a:pPr>
            <a:r>
              <a:rPr sz="1320" b="0" i="0">
                <a:solidFill>
                  <a:srgbClr val="D8E3EC"/>
                </a:solidFill>
                <a:latin typeface="Courier New"/>
              </a:rPr>
              <a:t>!pip freeze &gt; requirements.txt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Restart and Run All right now and watch which cell fails first. Nearly every repository in this room will fail on a name that was defined in a cell somebody has since deleted.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README anatomy — five questions, half a page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What problem is this, and who has it?</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concentrator wants concentrate silica now instead of an hour after the assay.</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What data, from where, under what licence?</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20,000 rows of the Kaggle froth flotation process dataset, subset for teaching.</a:t>
            </a:r>
          </a:p>
        </p:txBody>
      </p:sp>
      <p:sp>
        <p:nvSpPr>
          <p:cNvPr id="8" name="TextBox 7"/>
          <p:cNvSpPr txBox="1"/>
          <p:nvPr/>
        </p:nvSpPr>
        <p:spPr>
          <a:xfrm>
            <a:off x="685800"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method, in three lines?</a:t>
            </a:r>
          </a:p>
        </p:txBody>
      </p:sp>
      <p:sp>
        <p:nvSpPr>
          <p:cNvPr id="9" name="TextBox 8"/>
          <p:cNvSpPr txBox="1"/>
          <p:nvPr/>
        </p:nvSpPr>
        <p:spPr>
          <a:xfrm>
            <a:off x="685800"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file of twenty-four columns, five engineered features, and a Pipeline with a scaler and a linear model.</a:t>
            </a:r>
          </a:p>
        </p:txBody>
      </p:sp>
      <p:sp>
        <p:nvSpPr>
          <p:cNvPr id="10" name="TextBox 9"/>
          <p:cNvSpPr txBox="1"/>
          <p:nvPr/>
        </p:nvSpPr>
        <p:spPr>
          <a:xfrm>
            <a:off x="6347307"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the result, with its unit and its spread?</a:t>
            </a:r>
          </a:p>
        </p:txBody>
      </p:sp>
      <p:sp>
        <p:nvSpPr>
          <p:cNvPr id="11" name="TextBox 10"/>
          <p:cNvSpPr txBox="1"/>
          <p:nvPr/>
        </p:nvSpPr>
        <p:spPr>
          <a:xfrm>
            <a:off x="6347307"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MAE 0.42 percentage points of silica on held-out rows, 5-fold cross-validated at 0.45 plus or minus 0.06.</a:t>
            </a:r>
          </a:p>
        </p:txBody>
      </p:sp>
      <p:sp>
        <p:nvSpPr>
          <p:cNvPr id="12" name="TextBox 11"/>
          <p:cNvSpPr txBox="1"/>
          <p:nvPr/>
        </p:nvSpPr>
        <p:spPr>
          <a:xfrm>
            <a:off x="6347307" y="354894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What are the limitations and the conditions of use?</a:t>
            </a:r>
          </a:p>
        </p:txBody>
      </p:sp>
      <p:sp>
        <p:nvSpPr>
          <p:cNvPr id="13" name="TextBox 12"/>
          <p:cNvSpPr txBox="1"/>
          <p:nvPr/>
        </p:nvSpPr>
        <p:spPr>
          <a:xfrm>
            <a:off x="6347307" y="430746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Readings twenty seconds apart are not independent, so the effective sample is far smaller than 20,000.</a:t>
            </a:r>
          </a:p>
        </p:txBody>
      </p:sp>
      <p:sp>
        <p:nvSpPr>
          <p:cNvPr id="14" name="TextBox 13"/>
          <p:cNvSpPr txBox="1"/>
          <p:nvPr/>
        </p:nvSpPr>
        <p:spPr>
          <a:xfrm>
            <a:off x="6347307" y="5186793"/>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how to run it</a:t>
            </a:r>
          </a:p>
        </p:txBody>
      </p:sp>
      <p:sp>
        <p:nvSpPr>
          <p:cNvPr id="15" name="TextBox 14"/>
          <p:cNvSpPr txBox="1"/>
          <p:nvPr/>
        </p:nvSpPr>
        <p:spPr>
          <a:xfrm>
            <a:off x="6347307" y="559805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pip install -r requirements.txt, run the notebooks in numbered order. Four lines, and the reviewer stops guessing.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COMMUNICATION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Captions that state a finding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describes the axes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silica against starch flow. A reader learns nothing they could not get from the axis labels.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states the finding</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concentrate silica falls as starch dose rises to about 900 g per tonne of feed and flattens after that.</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second one earns marks</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Because it commits to a claim with a number attached, which a reader can check against the chart and argue with.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rule from Week 6, still standing</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Every chart answers a stated question, and the caption says what the answer was.</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 the two-page brief this matters most</a:t>
            </a:r>
          </a:p>
        </p:txBody>
      </p:sp>
      <p:sp>
        <p:nvSpPr>
          <p:cNvPr id="13" name="TextBox 12"/>
          <p:cNvSpPr txBox="1"/>
          <p:nvPr/>
        </p:nvSpPr>
        <p:spPr>
          <a:xfrm>
            <a:off x="6347307"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Two pages will hold four or five charts. If each caption states a finding, the brief can be read from the captions alone.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One test before you submit</a:t>
            </a:r>
          </a:p>
        </p:txBody>
      </p:sp>
      <p:sp>
        <p:nvSpPr>
          <p:cNvPr id="15" name="TextBox 14"/>
          <p:cNvSpPr txBox="1"/>
          <p:nvPr/>
        </p:nvSpPr>
        <p:spPr>
          <a:xfrm>
            <a:off x="6347307" y="548659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Read only your captions, in order. Do they tell the story? If they do not, the charts are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Moving one cell out of the notebook and into src/</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refactor that makes a notebook readable. Do this to your cleaning code first, because it is the code a reviewer most wants to check.</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Find a cell that does one job and does it in more than five lines. Cleaning code is almost always the first candidate.</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Give the job a name, and write it as a function with named arguments and a docstring saying what goes in, what comes out, and in what units.</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Move the function into src/prepare.py. Nothing else moves with it.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In the notebook, replace the cell with two lines: an import, and one call. The notebook now reads as the sequence of steps you took.</a:t>
            </a:r>
          </a:p>
        </p:txBody>
      </p:sp>
      <p:sp>
        <p:nvSpPr>
          <p:cNvPr id="17" name="Rounded Rectangle 16"/>
          <p:cNvSpPr/>
          <p:nvPr/>
        </p:nvSpPr>
        <p:spPr>
          <a:xfrm>
            <a:off x="685800" y="45611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Restart and Run All. If it fails, the function was depending on a variable that was sitting in memory, which is exactly the defect you were removing.</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Commit with a message that says what changed and why: 'move duplicate removal into src/prepare.py so it can be tested and rerun'.</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notebook that reads as a sequence of named steps is one a reviewer can follow in two minutes. A notebook of forty anonymous cells takes twenty.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Relative path, and a fixed seed</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RELATIVE PATH is written from the repository folder rather than from the root of a disk, so it resolves on any machine. A FIXED SEED sets the starting point of every random operation, so the same code produces the same numbers every time it runs.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pd.read_csv("data/raw/flotation_subset.csv") is relative and it works everywhere. random_state=SEED on the split, the folds and the model pins the randomness.</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seed making your result correct. A seed makes it repeatable. If the conclusion changes when you change the seed, the honest report gives the spread across several seeds.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Studio time is next: have your repository open.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Studio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build. I run clinic slots. Nobody waits, because teams outside a slot are building or reviewing.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STUDIO — 85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Studio: what to build in the next hundred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target</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repository at flotation-silica/ that passes Restart and Run All on a machine that has never seen it.</a:t>
            </a:r>
          </a:p>
        </p:txBody>
      </p:sp>
      <p:sp>
        <p:nvSpPr>
          <p:cNvPr id="6" name="TextBox 5"/>
          <p:cNvSpPr txBox="1"/>
          <p:nvPr/>
        </p:nvSpPr>
        <p:spPr>
          <a:xfrm>
            <a:off x="685800" y="3162821"/>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README answering the five questions, in half a page.</a:t>
            </a:r>
          </a:p>
        </p:txBody>
      </p:sp>
      <p:sp>
        <p:nvSpPr>
          <p:cNvPr id="7" name="TextBox 6"/>
          <p:cNvSpPr txBox="1"/>
          <p:nvPr/>
        </p:nvSpPr>
        <p:spPr>
          <a:xfrm>
            <a:off x="685800" y="3589858"/>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requirements.txt with pinned versions of the packages you actually import.</a:t>
            </a:r>
          </a:p>
        </p:txBody>
      </p:sp>
      <p:sp>
        <p:nvSpPr>
          <p:cNvPr id="8" name="TextBox 7"/>
          <p:cNvSpPr txBox="1"/>
          <p:nvPr/>
        </p:nvSpPr>
        <p:spPr>
          <a:xfrm>
            <a:off x="685800" y="4343347"/>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contribution log per member, checkable against the commit history.</a:t>
            </a:r>
          </a:p>
        </p:txBody>
      </p:sp>
      <p:sp>
        <p:nvSpPr>
          <p:cNvPr id="9" name="TextBox 8"/>
          <p:cNvSpPr txBox="1"/>
          <p:nvPr/>
        </p:nvSpPr>
        <p:spPr>
          <a:xfrm>
            <a:off x="685800" y="5096836"/>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An AI-use declaration.</a:t>
            </a:r>
          </a:p>
        </p:txBody>
      </p:sp>
      <p:sp>
        <p:nvSpPr>
          <p:cNvPr id="10" name="TextBox 9"/>
          <p:cNvSpPr txBox="1"/>
          <p:nvPr/>
        </p:nvSpPr>
        <p:spPr>
          <a:xfrm>
            <a:off x="685800" y="5523873"/>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This is Project Milestone 4: the repository freeze candidate.</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Your clinic slot</a:t>
            </a:r>
          </a:p>
        </p:txBody>
      </p:sp>
      <p:sp>
        <p:nvSpPr>
          <p:cNvPr id="13" name="TextBox 12"/>
          <p:cNvSpPr txBox="1"/>
          <p:nvPr/>
        </p:nvSpPr>
        <p:spPr>
          <a:xfrm>
            <a:off x="6575907" y="2496312"/>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About 8 minutes per team.</a:t>
            </a:r>
          </a:p>
        </p:txBody>
      </p:sp>
      <p:sp>
        <p:nvSpPr>
          <p:cNvPr id="14" name="TextBox 13"/>
          <p:cNvSpPr txBox="1"/>
          <p:nvPr/>
        </p:nvSpPr>
        <p:spPr>
          <a:xfrm>
            <a:off x="6575907" y="3001583"/>
            <a:ext cx="4655667" cy="617351"/>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Bring the checklist already filled in, and two specific questions.</a:t>
            </a:r>
          </a:p>
        </p:txBody>
      </p:sp>
      <p:sp>
        <p:nvSpPr>
          <p:cNvPr id="15" name="TextBox 14"/>
          <p:cNvSpPr txBox="1"/>
          <p:nvPr/>
        </p:nvSpPr>
        <p:spPr>
          <a:xfrm>
            <a:off x="6575907" y="3792671"/>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Slots are on the wall.</a:t>
            </a:r>
          </a:p>
        </p:txBody>
      </p:sp>
      <p:sp>
        <p:nvSpPr>
          <p:cNvPr id="16" name="TextBox 15"/>
          <p:cNvSpPr txBox="1"/>
          <p:nvPr/>
        </p:nvSpPr>
        <p:spPr>
          <a:xfrm>
            <a:off x="6575907" y="4297943"/>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Outside your slot: build, or start your peer review.</a:t>
            </a:r>
          </a:p>
        </p:txBody>
      </p:sp>
      <p:sp>
        <p:nvSpPr>
          <p:cNvPr id="17" name="TextBox 16"/>
          <p:cNvSpPr txBox="1"/>
          <p:nvPr/>
        </p:nvSpPr>
        <p:spPr>
          <a:xfrm>
            <a:off x="6575907" y="4803215"/>
            <a:ext cx="4655667" cy="903167"/>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Teams whose repository already passes Restart and Run All should use the slot on the brief and the poster instead.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SELF-ASSESS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repository checklist — fill this in before your slot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runs</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Restart and Run All passes from a clean kernel. Every path is relative. requirements.txt pins versions of the packages you import. One SEED variable, passed to the split, the folds and the model.</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explains itself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README answers the five questions in half a page. data/raw is untouched and data/processed is rebuilt by code. Notebooks numbered in reading order. Every chart captioned with its finding.</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accounts for itself</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contribution log per member that matches the commit history. An AI-use declaration naming what you asked, what came back and what you checked. A conditions-of-use paragraph for your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DECLARING YOUR TOOLS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AI-use declaration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short section in the README listing where you used an AI assistant, what you asked it, and what you did to check the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course requires it</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Because you are marked on what you can explain. A declaration makes that rule enforceable without anybody policing your keyboard.</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good entry looks like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'Asked Claude to review our pipeline for leakage. It flagged the scaler outside the split, which we confirmed by comparing scores before and after the fix.'</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weak entry looks like</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'Used AI for help with code.' It says nothing a marker can check and it earns nothing.</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Where it is checked</a:t>
            </a:r>
          </a:p>
        </p:txBody>
      </p:sp>
      <p:sp>
        <p:nvSpPr>
          <p:cNvPr id="13" name="TextBox 12"/>
          <p:cNvSpPr txBox="1"/>
          <p:nvPr/>
        </p:nvSpPr>
        <p:spPr>
          <a:xfrm>
            <a:off x="6347307"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Week 15 viva asks two unseen questions about your own repository. Anything in your repository that nobody on the team can explain is where the marks go.</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professional point</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Declaring your tools is normal engineering practice. You cite a standard, a datasheet and a reference; an assistant belongs in the same list.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Peer review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review another team's repository against the rubric, in writing.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REVIEW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Reviewing another team's repository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Start by trying to run it</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it, install requirements.txt, Restart and Run All. Ten minutes of your fifteen, and it finds more than reading ever will.</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read the README against the five questions</a:t>
            </a:r>
          </a:p>
        </p:txBody>
      </p:sp>
      <p:sp>
        <p:nvSpPr>
          <p:cNvPr id="7" name="TextBox 6"/>
          <p:cNvSpPr txBox="1"/>
          <p:nvPr/>
        </p:nvSpPr>
        <p:spPr>
          <a:xfrm>
            <a:off x="685800"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Problem, data and licence, method, result with its unit, limitations. Note which are missing rather than rewriting them.</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Check one number end to end</a:t>
            </a:r>
          </a:p>
        </p:txBody>
      </p:sp>
      <p:sp>
        <p:nvSpPr>
          <p:cNvPr id="9" name="TextBox 8"/>
          <p:cNvSpPr txBox="1"/>
          <p:nvPr/>
        </p:nvSpPr>
        <p:spPr>
          <a:xfrm>
            <a:off x="685800"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Pick the headline result and trace it back through the notebook to the raw file. If you cannot, that is your most useful finding.</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Mark against the rubric they were given</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team that made a different defensible choice has not made an error. Say what the rubric asks and where their work sits against it.</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Name two strengths and two specific fixes</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Specific means a file and a line. 'Improve the documentation' is unusable; 'README has no licence for the dataset' can be fixed in a minute.</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expect to fix your own repository afterwards</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teams find one of their own defects while reviewing somebody else's. That is the intended outcome of the 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review comment somebody can act 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Four parts, and then two rules for the set. A comment missing any of the four wastes the reviewer's time and the author's.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Where it is. The file and, where you can, the line or the cell number.</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you observed. Something checkable: 'cell 12 reads C:/Users/amina/Desktop/data.csv'.</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it means for the reader. 'The notebook cannot run on any other machine, so I could not verify any of your numbers.'</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would fix it. 'Move the file into data/raw/ and read it with a relative path.'</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Then rank your findings, and lead with the one that blocked you. A reviewer who lists nine small things and buries the blocker has not helped.</a:t>
            </a:r>
          </a:p>
        </p:txBody>
      </p:sp>
      <p:sp>
        <p:nvSpPr>
          <p:cNvPr id="20" name="Rounded Rectangle 19"/>
          <p:cNvSpPr/>
          <p:nvPr/>
        </p:nvSpPr>
        <p:spPr>
          <a:xfrm>
            <a:off x="685800" y="5018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And write one genuine strength with the same specificity. 'Your ablation table reports two features that did nothing, with the numbers' is a real compliment; 'good work' is not.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comment with all four parts takes ninety seconds to write and saves the other team an hour of guessing.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Practical Test 2 briefing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format, the rules and the rubric, restated with a week to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2, THE LAST QUIZ AND WEEK 15</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is next week</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and offline, on a laboratory machine with no internet and no AI assistants. Two hours of practical plus twenty-five minutes of written reasoning, worth 20 per cent. You get an unfamiliar dataset from your own discipline. The full briefing deck is issued with this one, and 45 of the 100 marks come from a structured answers cell.</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last quiz of the semester — five minutes, and it closes today</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Reproducibility, with two of the five drawn from earlier weeks. Worth one per cent, and your best ten of twelve count, so this is the last score you can bank.</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4 and Week 15</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PM4 is today's repository freeze candidate plus the peer review you received and your written response to it. Due at the Week 15 session: the repository, a two-page engineering brief, a one-page poster, the AI-use declaration, your individual contribution log and a 500-word reflection.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Work is repeatable when you can rerun it. It is reproducible when somebody else can, on another machine, from what you gave them.</a:t>
            </a:r>
          </a:p>
        </p:txBody>
      </p:sp>
      <p:sp>
        <p:nvSpPr>
          <p:cNvPr id="6" name="Oval 5"/>
          <p:cNvSpPr/>
          <p:nvPr/>
        </p:nvSpPr>
        <p:spPr>
          <a:xfrm>
            <a:off x="685800" y="23755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20651"/>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Restart and Run All from a clean kernel is the acceptance test. A notebook that only works because of variables in memory will fail on a reviewer's machine.</a:t>
            </a:r>
          </a:p>
        </p:txBody>
      </p:sp>
      <p:sp>
        <p:nvSpPr>
          <p:cNvPr id="8" name="Oval 7"/>
          <p:cNvSpPr/>
          <p:nvPr/>
        </p:nvSpPr>
        <p:spPr>
          <a:xfrm>
            <a:off x="685800" y="30483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9345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Relative paths and pinned package versions between them prevent most first-cell failures.</a:t>
            </a:r>
          </a:p>
        </p:txBody>
      </p:sp>
      <p:sp>
        <p:nvSpPr>
          <p:cNvPr id="10" name="Oval 9"/>
          <p:cNvSpPr/>
          <p:nvPr/>
        </p:nvSpPr>
        <p:spPr>
          <a:xfrm>
            <a:off x="685800" y="34578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3013"/>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One SEED variable, passed to the split, the folds and the model. A seed makes a run repeatable and says nothing about whether the result is right.</a:t>
            </a:r>
          </a:p>
        </p:txBody>
      </p:sp>
      <p:sp>
        <p:nvSpPr>
          <p:cNvPr id="12" name="Oval 11"/>
          <p:cNvSpPr/>
          <p:nvPr/>
        </p:nvSpPr>
        <p:spPr>
          <a:xfrm>
            <a:off x="685800" y="41306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75820"/>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data/raw is never edited. Everything in data/processed is rebuilt from raw by code, so it can be deleted and remade.</a:t>
            </a:r>
          </a:p>
        </p:txBody>
      </p:sp>
      <p:sp>
        <p:nvSpPr>
          <p:cNvPr id="14" name="Oval 13"/>
          <p:cNvSpPr/>
          <p:nvPr/>
        </p:nvSpPr>
        <p:spPr>
          <a:xfrm>
            <a:off x="685800" y="45402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85376"/>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README answers five questions in half a page: problem, data and licence, method, result with its unit, limitations and conditions of use.</a:t>
            </a:r>
          </a:p>
        </p:txBody>
      </p:sp>
      <p:sp>
        <p:nvSpPr>
          <p:cNvPr id="16" name="Oval 15"/>
          <p:cNvSpPr/>
          <p:nvPr/>
        </p:nvSpPr>
        <p:spPr>
          <a:xfrm>
            <a:off x="685800" y="52130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58183"/>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Every caption states a finding with a number in it. Read your captions in order and they should tell the story.</a:t>
            </a:r>
          </a:p>
        </p:txBody>
      </p:sp>
      <p:sp>
        <p:nvSpPr>
          <p:cNvPr id="18" name="Oval 17"/>
          <p:cNvSpPr/>
          <p:nvPr/>
        </p:nvSpPr>
        <p:spPr>
          <a:xfrm>
            <a:off x="685800" y="562260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6773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review comment names the file, what you observed, what it meant for the reader, and what would fix it.</a:t>
            </a:r>
          </a:p>
        </p:txBody>
      </p:sp>
      <p:sp>
        <p:nvSpPr>
          <p:cNvPr id="20" name="Oval 19"/>
          <p:cNvSpPr/>
          <p:nvPr/>
        </p:nvSpPr>
        <p:spPr>
          <a:xfrm>
            <a:off x="685800" y="60321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77294"/>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An AI-use declaration says what you asked, what came back, and what you did to check it. The checking is what is marked.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reviewer clones your repository and the first cell fails. Name the two most likely causes and the fix for each.</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requirements.txt lists 'pandas' and 'scikit-learn' with no versions. What will go wrong, and when?</a:t>
            </a:r>
          </a:p>
        </p:txBody>
      </p:sp>
      <p:sp>
        <p:nvSpPr>
          <p:cNvPr id="8" name="Oval 7"/>
          <p:cNvSpPr/>
          <p:nvPr/>
        </p:nvSpPr>
        <p:spPr>
          <a:xfrm>
            <a:off x="685800" y="369741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6084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fixed the seed and your reported MAE is now stable. A reviewer asks how much it moves with the seed. What should you have measured?</a:t>
            </a:r>
          </a:p>
        </p:txBody>
      </p:sp>
      <p:sp>
        <p:nvSpPr>
          <p:cNvPr id="10" name="Oval 9"/>
          <p:cNvSpPr/>
          <p:nvPr/>
        </p:nvSpPr>
        <p:spPr>
          <a:xfrm>
            <a:off x="685800" y="45722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3571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notebook cleans the raw file in place and overwrites it. Name two things you can no longer do.</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are reviewing a team that made a different but defensible modelling choice from yours. What do you write?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First cell fails on a clone?</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An absolute path, fixed by moving the file into data/raw and reading it with a relative path. Or a missing package, fixed by a requirements.txt with pinned versions. Those two account for most first-cell failures.</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Unpinned versions?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recorded which packages you used and not which versions, so a later install gets whatever is current. It will break when an API changes, which usually happens months later when you have forgotten the analysis. Write pandas==2.2.1.</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How much does it move with the seed?</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Run three or four seeds and report the spread, or report the cross-validated mean with its standard deviation across folds. A single number from a fixed seed describes one draw, and the spread is what tells a reader how much confidence it deserves.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Cleaning the raw file in place?</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 no longer say what the data looked like when it arrived, and you can no longer redo the analysis with a different cleaning decision. You have also made a second run of the same notebook clean an already-cleaned file, which may quietly change the numbers again.</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A different defensible choice?</a:t>
            </a:r>
          </a:p>
        </p:txBody>
      </p:sp>
      <p:sp>
        <p:nvSpPr>
          <p:cNvPr id="18" name="TextBox 17"/>
          <p:cNvSpPr txBox="1"/>
          <p:nvPr/>
        </p:nvSpPr>
        <p:spPr>
          <a:xfrm>
            <a:off x="6854799" y="3914482"/>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Say that it is defensible, and review it against the rubric instead of against your approach. Then ask the question that tests it: what did that choice cost, and did they measure it? A reviewer's job is to check the reasoning rather than to impose their own method.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Repeatable</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can run it again yourself and get the same numbers.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Reproducible</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Somebody else can, on another machine, from what you gave them.</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Repository</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project folder, with its history. The unit of work you hand in.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README.md</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Half a page answering five questions. The first thing a reviewer opens.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requirements.txt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packages and their pinned versions. pip install -r rebuilds them.</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 freeze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Writes the installed packages and versions. In Colab, cut the output down.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Pinned version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pandas==2.2.1 rather than pandas. What makes an install reproducible.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Relative path</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repository folder, so it resolves on any machine.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Absolute path</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root of a disk. Works on exactly one machine.</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Seed (random_state)</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Pins every random operation so a run is repeatable.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Restart and Run All</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Clears memory and runs the notebook as written. The acceptance test.</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data/raw</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Exactly as it arrived. Never edited, never overwritten.</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data/processed</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Rebuilt from raw by code in src/, so it can be deleted and remade.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.gitignore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Keeps large data files and secrets out of the commit history.</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src/</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functions the notebooks call. Code you would defend lives here.</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Commit message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changed and why. This is what your contribution log is checked against.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Contribution log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did what, with commit evidence. Required per member.</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AI-use declaration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asked, what came back, what you checked. The checking is marked.</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your model holds.</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Peer review</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Reviewing another team's work against the published rubric, in writing.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a repository somebody can run</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folder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flotation-silica/ with README.md · requirements.txt · data/raw · data/processed · notebooks/ · src/ · .gitignore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acceptance test</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from a clean kernel. Then clone onto another machine, install, and run it again.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Paths</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pd.read_csv("data/raw/flotation_subset.csv") — relative, always. Never C:/Users/.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Randomness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SEED = 42 at the top, passed to the split, the folds and the model. Then report the spread as well.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Environment</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pip freeze &gt; requirements.txt, then cut it down to what you import and pin every version with ==.</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README, five questions, half a page</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Problem · data and licence · method · result with its unit and spread · limitations and conditions of use.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Captions</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State the finding with a number. Read your captions in order and they should tell the story.</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Review comment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File and line · what you observed · what it meant for the reader · what would fix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13</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notebook that will not run elsewhere, a hard-coded path, and a seed that was never set.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3_W13.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Your repository now runs on a machine</a:t>
            </a:r>
          </a:p>
          <a:p>
            <a:pPr algn="l">
              <a:lnSpc>
                <a:spcPct val="110000"/>
              </a:lnSpc>
              <a:spcAft>
                <a:spcPts val="600"/>
              </a:spcAft>
            </a:pPr>
            <a:r>
              <a:rPr sz="3400" b="1" i="0">
                <a:solidFill>
                  <a:srgbClr val="FFFFFF"/>
                </a:solidFill>
                <a:latin typeface="Cambria"/>
              </a:rPr>
              <a:t>that has never seen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cloned somebody else's work, tried to run it, and found out what was missing. Then somebody did the same to yours. Everything you hand in from here on can be checked by a stranger, which is what makes your numbers defensible.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2. Two hours, offline, an unfamiliar dataset from your own discipline.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