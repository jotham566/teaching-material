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7c959df4cf446db" /><Relationship Type="http://schemas.openxmlformats.org/officeDocument/2006/relationships/extended-properties" Target="/docProps/app.xml" Id="Re990cd7ccf5b4f58" /><Relationship Type="http://schemas.openxmlformats.org/officeDocument/2006/relationships/officeDocument" Target="/ppt/presentation.xml" Id="Rc147194af7f74563" /></Relationships>
</file>

<file path=ppt/presentation.xml><?xml version="1.0" encoding="utf-8"?>
<p:presentation xmlns:p="http://schemas.openxmlformats.org/presentationml/2006/main">
  <p:sldMasterIdLst>
    <p:sldMasterId xmlns:r="http://schemas.openxmlformats.org/officeDocument/2006/relationships" id="2147483648" r:id="Ra11d27db616547d2"/>
  </p:sldMasterIdLst>
  <p:notesMasterIdLst>
    <p:notesMasterId xmlns:r="http://schemas.openxmlformats.org/officeDocument/2006/relationships" r:id="R589149301ed941e2"/>
  </p:notesMasterIdLst>
  <p:sldIdLst>
    <p:sldId xmlns:r="http://schemas.openxmlformats.org/officeDocument/2006/relationships" id="256" r:id="Rede84123eb6a4db8"/>
    <p:sldId xmlns:r="http://schemas.openxmlformats.org/officeDocument/2006/relationships" id="257" r:id="R3f53ee8ff9ee45b5"/>
    <p:sldId xmlns:r="http://schemas.openxmlformats.org/officeDocument/2006/relationships" id="258" r:id="Rfbd7c49dea3a49f3"/>
    <p:sldId xmlns:r="http://schemas.openxmlformats.org/officeDocument/2006/relationships" id="259" r:id="Rd83f09bfe5774e6f"/>
    <p:sldId xmlns:r="http://schemas.openxmlformats.org/officeDocument/2006/relationships" id="260" r:id="Ra22caceef47344a0"/>
    <p:sldId xmlns:r="http://schemas.openxmlformats.org/officeDocument/2006/relationships" id="261" r:id="Rbeda4ff182274667"/>
    <p:sldId xmlns:r="http://schemas.openxmlformats.org/officeDocument/2006/relationships" id="262" r:id="R9334dcbbde844904"/>
    <p:sldId xmlns:r="http://schemas.openxmlformats.org/officeDocument/2006/relationships" id="263" r:id="Raf3c17d6bad14af5"/>
    <p:sldId xmlns:r="http://schemas.openxmlformats.org/officeDocument/2006/relationships" id="264" r:id="Ra1018c11ea224684"/>
    <p:sldId xmlns:r="http://schemas.openxmlformats.org/officeDocument/2006/relationships" id="265" r:id="R8206cdffe6c24044"/>
    <p:sldId xmlns:r="http://schemas.openxmlformats.org/officeDocument/2006/relationships" id="266" r:id="R4f47becc8c2d4929"/>
    <p:sldId xmlns:r="http://schemas.openxmlformats.org/officeDocument/2006/relationships" id="267" r:id="R1021f9bc2d2446e4"/>
    <p:sldId xmlns:r="http://schemas.openxmlformats.org/officeDocument/2006/relationships" id="268" r:id="R619914e045e44af3"/>
    <p:sldId xmlns:r="http://schemas.openxmlformats.org/officeDocument/2006/relationships" id="269" r:id="R0a42808950124067"/>
    <p:sldId xmlns:r="http://schemas.openxmlformats.org/officeDocument/2006/relationships" id="270" r:id="Rec992c526eca4794"/>
    <p:sldId xmlns:r="http://schemas.openxmlformats.org/officeDocument/2006/relationships" id="271" r:id="R685741ee558e4b50"/>
    <p:sldId xmlns:r="http://schemas.openxmlformats.org/officeDocument/2006/relationships" id="272" r:id="R3282b0e9f26a4189"/>
    <p:sldId xmlns:r="http://schemas.openxmlformats.org/officeDocument/2006/relationships" id="273" r:id="R881553cb1b194a7b"/>
    <p:sldId xmlns:r="http://schemas.openxmlformats.org/officeDocument/2006/relationships" id="274" r:id="Rb681d4a9858f4b50"/>
    <p:sldId xmlns:r="http://schemas.openxmlformats.org/officeDocument/2006/relationships" id="275" r:id="Rc1a36495bdbf442a"/>
    <p:sldId xmlns:r="http://schemas.openxmlformats.org/officeDocument/2006/relationships" id="276" r:id="Rab03161251b94475"/>
    <p:sldId xmlns:r="http://schemas.openxmlformats.org/officeDocument/2006/relationships" id="277" r:id="R988888e8497842cd"/>
    <p:sldId xmlns:r="http://schemas.openxmlformats.org/officeDocument/2006/relationships" id="278" r:id="Rd97214018443409e"/>
    <p:sldId xmlns:r="http://schemas.openxmlformats.org/officeDocument/2006/relationships" id="279" r:id="R60de19c931f64871"/>
    <p:sldId xmlns:r="http://schemas.openxmlformats.org/officeDocument/2006/relationships" id="280" r:id="Rfc752aadea4247d2"/>
    <p:sldId xmlns:r="http://schemas.openxmlformats.org/officeDocument/2006/relationships" id="281" r:id="Rad4631a2d77d4925"/>
    <p:sldId xmlns:r="http://schemas.openxmlformats.org/officeDocument/2006/relationships" id="282" r:id="R0ba681bf41e24bd4"/>
    <p:sldId xmlns:r="http://schemas.openxmlformats.org/officeDocument/2006/relationships" id="283" r:id="R1a3048511d3547dd"/>
    <p:sldId xmlns:r="http://schemas.openxmlformats.org/officeDocument/2006/relationships" id="284" r:id="Red89e1c3fc3d4c27"/>
    <p:sldId xmlns:r="http://schemas.openxmlformats.org/officeDocument/2006/relationships" id="285" r:id="R3c95e51fab5a4be6"/>
    <p:sldId xmlns:r="http://schemas.openxmlformats.org/officeDocument/2006/relationships" id="286" r:id="R4f2e998814a54c5c"/>
    <p:sldId xmlns:r="http://schemas.openxmlformats.org/officeDocument/2006/relationships" id="287" r:id="R7fda7580256e47c2"/>
    <p:sldId xmlns:r="http://schemas.openxmlformats.org/officeDocument/2006/relationships" id="288" r:id="Radfef126e6cf4358"/>
    <p:sldId xmlns:r="http://schemas.openxmlformats.org/officeDocument/2006/relationships" id="289" r:id="R57e166fa6d4a4549"/>
    <p:sldId xmlns:r="http://schemas.openxmlformats.org/officeDocument/2006/relationships" id="290" r:id="R35472c13964c4a84"/>
    <p:sldId xmlns:r="http://schemas.openxmlformats.org/officeDocument/2006/relationships" id="291" r:id="Rfa60597aabdd4999"/>
    <p:sldId xmlns:r="http://schemas.openxmlformats.org/officeDocument/2006/relationships" id="292" r:id="R9843297e2e9b43ff"/>
    <p:sldId xmlns:r="http://schemas.openxmlformats.org/officeDocument/2006/relationships" id="293" r:id="Rfd5c79b16fed40e9"/>
    <p:sldId xmlns:r="http://schemas.openxmlformats.org/officeDocument/2006/relationships" id="294" r:id="Rb8b1ffa130ee43f4"/>
    <p:sldId xmlns:r="http://schemas.openxmlformats.org/officeDocument/2006/relationships" id="295" r:id="R7cf93f4b6eed4677"/>
    <p:sldId xmlns:r="http://schemas.openxmlformats.org/officeDocument/2006/relationships" id="296" r:id="R724206a7bbe64477"/>
    <p:sldId xmlns:r="http://schemas.openxmlformats.org/officeDocument/2006/relationships" id="297" r:id="Rf44ab3dc2a64414d"/>
    <p:sldId xmlns:r="http://schemas.openxmlformats.org/officeDocument/2006/relationships" id="298" r:id="R7f43b96e98e34aab"/>
    <p:sldId xmlns:r="http://schemas.openxmlformats.org/officeDocument/2006/relationships" id="299" r:id="R3f9e2d6a9dc04906"/>
    <p:sldId xmlns:r="http://schemas.openxmlformats.org/officeDocument/2006/relationships" id="300" r:id="Rf9727065c77345b3"/>
    <p:sldId xmlns:r="http://schemas.openxmlformats.org/officeDocument/2006/relationships" id="301" r:id="Re97d5103c2474cbc"/>
    <p:sldId xmlns:r="http://schemas.openxmlformats.org/officeDocument/2006/relationships" id="302" r:id="Rc0d0067b2db84e4c"/>
    <p:sldId xmlns:r="http://schemas.openxmlformats.org/officeDocument/2006/relationships" id="303" r:id="R48adf3026a0f4729"/>
    <p:sldId xmlns:r="http://schemas.openxmlformats.org/officeDocument/2006/relationships" id="304" r:id="R008069bf9c4b442e"/>
    <p:sldId xmlns:r="http://schemas.openxmlformats.org/officeDocument/2006/relationships" id="305" r:id="R87915b17b1ec4be5"/>
    <p:sldId xmlns:r="http://schemas.openxmlformats.org/officeDocument/2006/relationships" id="306" r:id="R77a5a679b8374bc5"/>
    <p:sldId xmlns:r="http://schemas.openxmlformats.org/officeDocument/2006/relationships" id="307" r:id="R1605f717a9d642f1"/>
    <p:sldId xmlns:r="http://schemas.openxmlformats.org/officeDocument/2006/relationships" id="308" r:id="R3f2cdf5a76cc4619"/>
    <p:sldId xmlns:r="http://schemas.openxmlformats.org/officeDocument/2006/relationships" id="309" r:id="R2ca0af5e9fbc41f8"/>
    <p:sldId xmlns:r="http://schemas.openxmlformats.org/officeDocument/2006/relationships" id="310" r:id="R30d20e73d60747fd"/>
    <p:sldId xmlns:r="http://schemas.openxmlformats.org/officeDocument/2006/relationships" id="311" r:id="R395cc913d3c643aa"/>
    <p:sldId xmlns:r="http://schemas.openxmlformats.org/officeDocument/2006/relationships" id="312" r:id="R697259a2095a4c6a"/>
    <p:sldId xmlns:r="http://schemas.openxmlformats.org/officeDocument/2006/relationships" id="313" r:id="R932c0c12729548a5"/>
    <p:sldId xmlns:r="http://schemas.openxmlformats.org/officeDocument/2006/relationships" id="314" r:id="Rf8a1a67144eb4472"/>
    <p:sldId xmlns:r="http://schemas.openxmlformats.org/officeDocument/2006/relationships" id="315" r:id="Rb6e405507d344c0c"/>
    <p:sldId xmlns:r="http://schemas.openxmlformats.org/officeDocument/2006/relationships" id="316" r:id="R197797ef122c48f8"/>
    <p:sldId xmlns:r="http://schemas.openxmlformats.org/officeDocument/2006/relationships" id="317" r:id="Ra3c8da91c8104a52"/>
    <p:sldId xmlns:r="http://schemas.openxmlformats.org/officeDocument/2006/relationships" id="318" r:id="Rd92dc744004647bb"/>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07627cd31f44873" /><Relationship Type="http://schemas.openxmlformats.org/officeDocument/2006/relationships/slideMaster" Target="/ppt/slideMasters/slideMaster1.xml" Id="Ra11d27db616547d2" /><Relationship Type="http://schemas.openxmlformats.org/officeDocument/2006/relationships/notesMaster" Target="/ppt/notesMasters/notesMaster1.xml" Id="R589149301ed941e2" /><Relationship Type="http://schemas.openxmlformats.org/officeDocument/2006/relationships/presProps" Target="/ppt/presProps.xml" Id="Rf1058a7d02a64d95" /><Relationship Type="http://schemas.openxmlformats.org/officeDocument/2006/relationships/tableStyles" Target="/ppt/tableStyles.xml" Id="R4160fe9f11444edc" /><Relationship Type="http://schemas.openxmlformats.org/officeDocument/2006/relationships/slide" Target="/ppt/slides/slide1.xml" Id="Rede84123eb6a4db8" /><Relationship Type="http://schemas.openxmlformats.org/officeDocument/2006/relationships/slide" Target="/ppt/slides/slide2.xml" Id="R3f53ee8ff9ee45b5" /><Relationship Type="http://schemas.openxmlformats.org/officeDocument/2006/relationships/slide" Target="/ppt/slides/slide3.xml" Id="Rfbd7c49dea3a49f3" /><Relationship Type="http://schemas.openxmlformats.org/officeDocument/2006/relationships/slide" Target="/ppt/slides/slide4.xml" Id="Rd83f09bfe5774e6f" /><Relationship Type="http://schemas.openxmlformats.org/officeDocument/2006/relationships/slide" Target="/ppt/slides/slide5.xml" Id="Ra22caceef47344a0" /><Relationship Type="http://schemas.openxmlformats.org/officeDocument/2006/relationships/slide" Target="/ppt/slides/slide6.xml" Id="Rbeda4ff182274667" /><Relationship Type="http://schemas.openxmlformats.org/officeDocument/2006/relationships/slide" Target="/ppt/slides/slide7.xml" Id="R9334dcbbde844904" /><Relationship Type="http://schemas.openxmlformats.org/officeDocument/2006/relationships/slide" Target="/ppt/slides/slide8.xml" Id="Raf3c17d6bad14af5" /><Relationship Type="http://schemas.openxmlformats.org/officeDocument/2006/relationships/slide" Target="/ppt/slides/slide9.xml" Id="Ra1018c11ea224684" /><Relationship Type="http://schemas.openxmlformats.org/officeDocument/2006/relationships/slide" Target="/ppt/slides/slide10.xml" Id="R8206cdffe6c24044" /><Relationship Type="http://schemas.openxmlformats.org/officeDocument/2006/relationships/slide" Target="/ppt/slides/slide11.xml" Id="R4f47becc8c2d4929" /><Relationship Type="http://schemas.openxmlformats.org/officeDocument/2006/relationships/slide" Target="/ppt/slides/slide12.xml" Id="R1021f9bc2d2446e4" /><Relationship Type="http://schemas.openxmlformats.org/officeDocument/2006/relationships/slide" Target="/ppt/slides/slide13.xml" Id="R619914e045e44af3" /><Relationship Type="http://schemas.openxmlformats.org/officeDocument/2006/relationships/slide" Target="/ppt/slides/slide14.xml" Id="R0a42808950124067" /><Relationship Type="http://schemas.openxmlformats.org/officeDocument/2006/relationships/slide" Target="/ppt/slides/slide15.xml" Id="Rec992c526eca4794" /><Relationship Type="http://schemas.openxmlformats.org/officeDocument/2006/relationships/slide" Target="/ppt/slides/slide16.xml" Id="R685741ee558e4b50" /><Relationship Type="http://schemas.openxmlformats.org/officeDocument/2006/relationships/slide" Target="/ppt/slides/slide17.xml" Id="R3282b0e9f26a4189" /><Relationship Type="http://schemas.openxmlformats.org/officeDocument/2006/relationships/slide" Target="/ppt/slides/slide18.xml" Id="R881553cb1b194a7b" /><Relationship Type="http://schemas.openxmlformats.org/officeDocument/2006/relationships/slide" Target="/ppt/slides/slide19.xml" Id="Rb681d4a9858f4b50" /><Relationship Type="http://schemas.openxmlformats.org/officeDocument/2006/relationships/slide" Target="/ppt/slides/slide20.xml" Id="Rc1a36495bdbf442a" /><Relationship Type="http://schemas.openxmlformats.org/officeDocument/2006/relationships/slide" Target="/ppt/slides/slide21.xml" Id="Rab03161251b94475" /><Relationship Type="http://schemas.openxmlformats.org/officeDocument/2006/relationships/slide" Target="/ppt/slides/slide22.xml" Id="R988888e8497842cd" /><Relationship Type="http://schemas.openxmlformats.org/officeDocument/2006/relationships/slide" Target="/ppt/slides/slide23.xml" Id="Rd97214018443409e" /><Relationship Type="http://schemas.openxmlformats.org/officeDocument/2006/relationships/slide" Target="/ppt/slides/slide24.xml" Id="R60de19c931f64871" /><Relationship Type="http://schemas.openxmlformats.org/officeDocument/2006/relationships/slide" Target="/ppt/slides/slide25.xml" Id="Rfc752aadea4247d2" /><Relationship Type="http://schemas.openxmlformats.org/officeDocument/2006/relationships/slide" Target="/ppt/slides/slide26.xml" Id="Rad4631a2d77d4925" /><Relationship Type="http://schemas.openxmlformats.org/officeDocument/2006/relationships/slide" Target="/ppt/slides/slide27.xml" Id="R0ba681bf41e24bd4" /><Relationship Type="http://schemas.openxmlformats.org/officeDocument/2006/relationships/slide" Target="/ppt/slides/slide28.xml" Id="R1a3048511d3547dd" /><Relationship Type="http://schemas.openxmlformats.org/officeDocument/2006/relationships/slide" Target="/ppt/slides/slide29.xml" Id="Red89e1c3fc3d4c27" /><Relationship Type="http://schemas.openxmlformats.org/officeDocument/2006/relationships/slide" Target="/ppt/slides/slide30.xml" Id="R3c95e51fab5a4be6" /><Relationship Type="http://schemas.openxmlformats.org/officeDocument/2006/relationships/slide" Target="/ppt/slides/slide31.xml" Id="R4f2e998814a54c5c" /><Relationship Type="http://schemas.openxmlformats.org/officeDocument/2006/relationships/slide" Target="/ppt/slides/slide32.xml" Id="R7fda7580256e47c2" /><Relationship Type="http://schemas.openxmlformats.org/officeDocument/2006/relationships/slide" Target="/ppt/slides/slide33.xml" Id="Radfef126e6cf4358" /><Relationship Type="http://schemas.openxmlformats.org/officeDocument/2006/relationships/slide" Target="/ppt/slides/slide34.xml" Id="R57e166fa6d4a4549" /><Relationship Type="http://schemas.openxmlformats.org/officeDocument/2006/relationships/slide" Target="/ppt/slides/slide35.xml" Id="R35472c13964c4a84" /><Relationship Type="http://schemas.openxmlformats.org/officeDocument/2006/relationships/slide" Target="/ppt/slides/slide36.xml" Id="Rfa60597aabdd4999" /><Relationship Type="http://schemas.openxmlformats.org/officeDocument/2006/relationships/slide" Target="/ppt/slides/slide37.xml" Id="R9843297e2e9b43ff" /><Relationship Type="http://schemas.openxmlformats.org/officeDocument/2006/relationships/slide" Target="/ppt/slides/slide38.xml" Id="Rfd5c79b16fed40e9" /><Relationship Type="http://schemas.openxmlformats.org/officeDocument/2006/relationships/slide" Target="/ppt/slides/slide39.xml" Id="Rb8b1ffa130ee43f4" /><Relationship Type="http://schemas.openxmlformats.org/officeDocument/2006/relationships/slide" Target="/ppt/slides/slide40.xml" Id="R7cf93f4b6eed4677" /><Relationship Type="http://schemas.openxmlformats.org/officeDocument/2006/relationships/slide" Target="/ppt/slides/slide41.xml" Id="R724206a7bbe64477" /><Relationship Type="http://schemas.openxmlformats.org/officeDocument/2006/relationships/slide" Target="/ppt/slides/slide42.xml" Id="Rf44ab3dc2a64414d" /><Relationship Type="http://schemas.openxmlformats.org/officeDocument/2006/relationships/slide" Target="/ppt/slides/slide43.xml" Id="R7f43b96e98e34aab" /><Relationship Type="http://schemas.openxmlformats.org/officeDocument/2006/relationships/slide" Target="/ppt/slides/slide44.xml" Id="R3f9e2d6a9dc04906" /><Relationship Type="http://schemas.openxmlformats.org/officeDocument/2006/relationships/slide" Target="/ppt/slides/slide45.xml" Id="Rf9727065c77345b3" /><Relationship Type="http://schemas.openxmlformats.org/officeDocument/2006/relationships/slide" Target="/ppt/slides/slide46.xml" Id="Re97d5103c2474cbc" /><Relationship Type="http://schemas.openxmlformats.org/officeDocument/2006/relationships/slide" Target="/ppt/slides/slide47.xml" Id="Rc0d0067b2db84e4c" /><Relationship Type="http://schemas.openxmlformats.org/officeDocument/2006/relationships/slide" Target="/ppt/slides/slide48.xml" Id="R48adf3026a0f4729" /><Relationship Type="http://schemas.openxmlformats.org/officeDocument/2006/relationships/slide" Target="/ppt/slides/slide49.xml" Id="R008069bf9c4b442e" /><Relationship Type="http://schemas.openxmlformats.org/officeDocument/2006/relationships/slide" Target="/ppt/slides/slide50.xml" Id="R87915b17b1ec4be5" /><Relationship Type="http://schemas.openxmlformats.org/officeDocument/2006/relationships/slide" Target="/ppt/slides/slide51.xml" Id="R77a5a679b8374bc5" /><Relationship Type="http://schemas.openxmlformats.org/officeDocument/2006/relationships/slide" Target="/ppt/slides/slide52.xml" Id="R1605f717a9d642f1" /><Relationship Type="http://schemas.openxmlformats.org/officeDocument/2006/relationships/slide" Target="/ppt/slides/slide53.xml" Id="R3f2cdf5a76cc4619" /><Relationship Type="http://schemas.openxmlformats.org/officeDocument/2006/relationships/slide" Target="/ppt/slides/slide54.xml" Id="R2ca0af5e9fbc41f8" /><Relationship Type="http://schemas.openxmlformats.org/officeDocument/2006/relationships/slide" Target="/ppt/slides/slide55.xml" Id="R30d20e73d60747fd" /><Relationship Type="http://schemas.openxmlformats.org/officeDocument/2006/relationships/slide" Target="/ppt/slides/slide56.xml" Id="R395cc913d3c643aa" /><Relationship Type="http://schemas.openxmlformats.org/officeDocument/2006/relationships/slide" Target="/ppt/slides/slide57.xml" Id="R697259a2095a4c6a" /><Relationship Type="http://schemas.openxmlformats.org/officeDocument/2006/relationships/slide" Target="/ppt/slides/slide58.xml" Id="R932c0c12729548a5" /><Relationship Type="http://schemas.openxmlformats.org/officeDocument/2006/relationships/slide" Target="/ppt/slides/slide59.xml" Id="Rf8a1a67144eb4472" /><Relationship Type="http://schemas.openxmlformats.org/officeDocument/2006/relationships/slide" Target="/ppt/slides/slide60.xml" Id="Rb6e405507d344c0c" /><Relationship Type="http://schemas.openxmlformats.org/officeDocument/2006/relationships/slide" Target="/ppt/slides/slide61.xml" Id="R197797ef122c48f8" /><Relationship Type="http://schemas.openxmlformats.org/officeDocument/2006/relationships/slide" Target="/ppt/slides/slide62.xml" Id="Ra3c8da91c8104a52" /><Relationship Type="http://schemas.openxmlformats.org/officeDocument/2006/relationships/slide" Target="/ppt/slides/slide63.xml" Id="Rd92dc744004647b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f9f46c5a47942f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3ae935f9c744fd2" /><Relationship Type="http://schemas.openxmlformats.org/officeDocument/2006/relationships/notesMaster" Target="/ppt/notesMasters/notesMaster1.xml" Id="R257ce3b7914c4281" /></Relationships>
</file>

<file path=ppt/notesSlides/_rels/notesSlide2.xml.rels>&#65279;<?xml version="1.0" encoding="utf-8"?><Relationships xmlns="http://schemas.openxmlformats.org/package/2006/relationships"><Relationship Type="http://schemas.openxmlformats.org/officeDocument/2006/relationships/slide" Target="/ppt/slides/slide2.xml" Id="R580b098c0d104b3e" /><Relationship Type="http://schemas.openxmlformats.org/officeDocument/2006/relationships/notesMaster" Target="/ppt/notesMasters/notesMaster1.xml" Id="R573123b00d984b6c" /></Relationships>
</file>

<file path=ppt/notesSlides/_rels/notesSlide3.xml.rels>&#65279;<?xml version="1.0" encoding="utf-8"?><Relationships xmlns="http://schemas.openxmlformats.org/package/2006/relationships"><Relationship Type="http://schemas.openxmlformats.org/officeDocument/2006/relationships/slide" Target="/ppt/slides/slide3.xml" Id="R53009adc23e3490d" /><Relationship Type="http://schemas.openxmlformats.org/officeDocument/2006/relationships/notesMaster" Target="/ppt/notesMasters/notesMaster1.xml" Id="Re6b2352b55dd4777" /></Relationships>
</file>

<file path=ppt/notesSlides/_rels/notesSlide4.xml.rels>&#65279;<?xml version="1.0" encoding="utf-8"?><Relationships xmlns="http://schemas.openxmlformats.org/package/2006/relationships"><Relationship Type="http://schemas.openxmlformats.org/officeDocument/2006/relationships/slide" Target="/ppt/slides/slide4.xml" Id="R9f21feb5a1ad4e07" /><Relationship Type="http://schemas.openxmlformats.org/officeDocument/2006/relationships/notesMaster" Target="/ppt/notesMasters/notesMaster1.xml" Id="R0f7bdd89c1c34748" /></Relationships>
</file>

<file path=ppt/notesSlides/_rels/notesSlide5.xml.rels>&#65279;<?xml version="1.0" encoding="utf-8"?><Relationships xmlns="http://schemas.openxmlformats.org/package/2006/relationships"><Relationship Type="http://schemas.openxmlformats.org/officeDocument/2006/relationships/slide" Target="/ppt/slides/slide5.xml" Id="R9fdf0d3ce1f342eb" /><Relationship Type="http://schemas.openxmlformats.org/officeDocument/2006/relationships/notesMaster" Target="/ppt/notesMasters/notesMaster1.xml" Id="R6baf11fff4434e23" /></Relationships>
</file>

<file path=ppt/notesSlides/_rels/notesSlide6.xml.rels>&#65279;<?xml version="1.0" encoding="utf-8"?><Relationships xmlns="http://schemas.openxmlformats.org/package/2006/relationships"><Relationship Type="http://schemas.openxmlformats.org/officeDocument/2006/relationships/slide" Target="/ppt/slides/slide6.xml" Id="R5c6cb3a1e4e441a1" /><Relationship Type="http://schemas.openxmlformats.org/officeDocument/2006/relationships/notesMaster" Target="/ppt/notesMasters/notesMaster1.xml" Id="Rcda6e89d6e3b426c" /></Relationships>
</file>

<file path=ppt/notesSlides/_rels/notesSlide7.xml.rels>&#65279;<?xml version="1.0" encoding="utf-8"?><Relationships xmlns="http://schemas.openxmlformats.org/package/2006/relationships"><Relationship Type="http://schemas.openxmlformats.org/officeDocument/2006/relationships/slide" Target="/ppt/slides/slide7.xml" Id="R17719f94b8a946e5" /><Relationship Type="http://schemas.openxmlformats.org/officeDocument/2006/relationships/notesMaster" Target="/ppt/notesMasters/notesMaster1.xml" Id="R79abc8e8355649d3" /></Relationships>
</file>

<file path=ppt/notesSlides/_rels/notesSlide8.xml.rels>&#65279;<?xml version="1.0" encoding="utf-8"?><Relationships xmlns="http://schemas.openxmlformats.org/package/2006/relationships"><Relationship Type="http://schemas.openxmlformats.org/officeDocument/2006/relationships/slide" Target="/ppt/slides/slide8.xml" Id="Ref930b882c9343b6" /><Relationship Type="http://schemas.openxmlformats.org/officeDocument/2006/relationships/notesMaster" Target="/ppt/notesMasters/notesMaster1.xml" Id="Rb5aad5e6c39f4f75" /></Relationships>
</file>

<file path=ppt/notesSlides/_rels/notesSlide9.xml.rels>&#65279;<?xml version="1.0" encoding="utf-8"?><Relationships xmlns="http://schemas.openxmlformats.org/package/2006/relationships"><Relationship Type="http://schemas.openxmlformats.org/officeDocument/2006/relationships/slide" Target="/ppt/slides/slide9.xml" Id="R6e942a3e30a64d54" /><Relationship Type="http://schemas.openxmlformats.org/officeDocument/2006/relationships/notesMaster" Target="/ppt/notesMasters/notesMaster1.xml" Id="Rfb47bbc2ebf64ff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45cc4a2f0f14dca" /><Relationship Type="http://schemas.openxmlformats.org/officeDocument/2006/relationships/notesMaster" Target="/ppt/notesMasters/notesMaster1.xml" Id="Rfbd3fdaf92a741b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287ae89bff54c1e" /><Relationship Type="http://schemas.openxmlformats.org/officeDocument/2006/relationships/notesMaster" Target="/ppt/notesMasters/notesMaster1.xml" Id="R4a29dd9d1134489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bb539bd1fdf494d" /><Relationship Type="http://schemas.openxmlformats.org/officeDocument/2006/relationships/notesMaster" Target="/ppt/notesMasters/notesMaster1.xml" Id="Rc2c14df4c43f487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ebd890effce749ad" /><Relationship Type="http://schemas.openxmlformats.org/officeDocument/2006/relationships/notesMaster" Target="/ppt/notesMasters/notesMaster1.xml" Id="Ra70283e4fa364be8"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2dd2ef703260459e" /><Relationship Type="http://schemas.openxmlformats.org/officeDocument/2006/relationships/notesMaster" Target="/ppt/notesMasters/notesMaster1.xml" Id="Rd74230ce1a2c42d7"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5cbb045eb1c47bb" /><Relationship Type="http://schemas.openxmlformats.org/officeDocument/2006/relationships/notesMaster" Target="/ppt/notesMasters/notesMaster1.xml" Id="Rbeef4e90836c464c"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f87fac7d98164375" /><Relationship Type="http://schemas.openxmlformats.org/officeDocument/2006/relationships/notesMaster" Target="/ppt/notesMasters/notesMaster1.xml" Id="R6544622b1dbd4c07"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65a783e04cf34e53" /><Relationship Type="http://schemas.openxmlformats.org/officeDocument/2006/relationships/notesMaster" Target="/ppt/notesMasters/notesMaster1.xml" Id="Rade2ba6156cd4056"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668341e14ef54d75" /><Relationship Type="http://schemas.openxmlformats.org/officeDocument/2006/relationships/notesMaster" Target="/ppt/notesMasters/notesMaster1.xml" Id="Reb0e2ede703d4c59"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f31bf854f8164247" /><Relationship Type="http://schemas.openxmlformats.org/officeDocument/2006/relationships/notesMaster" Target="/ppt/notesMasters/notesMaster1.xml" Id="Rc5bda3443de6439e"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8f86cebf41434bfe" /><Relationship Type="http://schemas.openxmlformats.org/officeDocument/2006/relationships/notesMaster" Target="/ppt/notesMasters/notesMaster1.xml" Id="R32be88311f274032"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8d5c7fc40d524f87" /><Relationship Type="http://schemas.openxmlformats.org/officeDocument/2006/relationships/notesMaster" Target="/ppt/notesMasters/notesMaster1.xml" Id="R41fa20cfeb824f4e"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fe3ed0ff93f84db4" /><Relationship Type="http://schemas.openxmlformats.org/officeDocument/2006/relationships/notesMaster" Target="/ppt/notesMasters/notesMaster1.xml" Id="R55f0e6de87d049c3"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4577cf368bc54f11" /><Relationship Type="http://schemas.openxmlformats.org/officeDocument/2006/relationships/notesMaster" Target="/ppt/notesMasters/notesMaster1.xml" Id="R5b33854735ab49f2"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c603a053c1ef40fa" /><Relationship Type="http://schemas.openxmlformats.org/officeDocument/2006/relationships/notesMaster" Target="/ppt/notesMasters/notesMaster1.xml" Id="Rbd7f3671feb8485e"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93dd66beca134b49" /><Relationship Type="http://schemas.openxmlformats.org/officeDocument/2006/relationships/notesMaster" Target="/ppt/notesMasters/notesMaster1.xml" Id="R27d973e562d340c0"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0eb8d8ca40f74431" /><Relationship Type="http://schemas.openxmlformats.org/officeDocument/2006/relationships/notesMaster" Target="/ppt/notesMasters/notesMaster1.xml" Id="R394e1d9244224e1b"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a4eb69e135ea4e40" /><Relationship Type="http://schemas.openxmlformats.org/officeDocument/2006/relationships/notesMaster" Target="/ppt/notesMasters/notesMaster1.xml" Id="R8f7571e63fc54d19"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bf3abf686d114d25" /><Relationship Type="http://schemas.openxmlformats.org/officeDocument/2006/relationships/notesMaster" Target="/ppt/notesMasters/notesMaster1.xml" Id="Re747431e4edf472b"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b927f774617a4a62" /><Relationship Type="http://schemas.openxmlformats.org/officeDocument/2006/relationships/notesMaster" Target="/ppt/notesMasters/notesMaster1.xml" Id="Rb3d39c79d3e1472b"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ee8d6e4529a74bc3" /><Relationship Type="http://schemas.openxmlformats.org/officeDocument/2006/relationships/notesMaster" Target="/ppt/notesMasters/notesMaster1.xml" Id="R5553c79747904c48"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485b6d6f39914f5e" /><Relationship Type="http://schemas.openxmlformats.org/officeDocument/2006/relationships/notesMaster" Target="/ppt/notesMasters/notesMaster1.xml" Id="Rdd7b427a6e1445eb"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985dc0a506b54613" /><Relationship Type="http://schemas.openxmlformats.org/officeDocument/2006/relationships/notesMaster" Target="/ppt/notesMasters/notesMaster1.xml" Id="Rbb6652f3fc69402e"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ac38633120e242b2" /><Relationship Type="http://schemas.openxmlformats.org/officeDocument/2006/relationships/notesMaster" Target="/ppt/notesMasters/notesMaster1.xml" Id="Rc5ac15cb69f54f3f"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bb9686e79eab47b9" /><Relationship Type="http://schemas.openxmlformats.org/officeDocument/2006/relationships/notesMaster" Target="/ppt/notesMasters/notesMaster1.xml" Id="R6e16a51ba3314240"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04df3544addf4c3f" /><Relationship Type="http://schemas.openxmlformats.org/officeDocument/2006/relationships/notesMaster" Target="/ppt/notesMasters/notesMaster1.xml" Id="R0ceb1157827f4a60"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a8d80feb5fc44c03" /><Relationship Type="http://schemas.openxmlformats.org/officeDocument/2006/relationships/notesMaster" Target="/ppt/notesMasters/notesMaster1.xml" Id="R42f59c758fdb40c5"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a2bf4b14e5ee43e0" /><Relationship Type="http://schemas.openxmlformats.org/officeDocument/2006/relationships/notesMaster" Target="/ppt/notesMasters/notesMaster1.xml" Id="Rceee9f670b03471a"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27a14b6d3c9847bc" /><Relationship Type="http://schemas.openxmlformats.org/officeDocument/2006/relationships/notesMaster" Target="/ppt/notesMasters/notesMaster1.xml" Id="R5670d4bf054e44c7"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6817e740cba24fbf" /><Relationship Type="http://schemas.openxmlformats.org/officeDocument/2006/relationships/notesMaster" Target="/ppt/notesMasters/notesMaster1.xml" Id="Rcf5ee71ea2f24c42"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332781d6f9c14620" /><Relationship Type="http://schemas.openxmlformats.org/officeDocument/2006/relationships/notesMaster" Target="/ppt/notesMasters/notesMaster1.xml" Id="R685cfaad68e84d74"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1683bbba6e9448d3" /><Relationship Type="http://schemas.openxmlformats.org/officeDocument/2006/relationships/notesMaster" Target="/ppt/notesMasters/notesMaster1.xml" Id="R2da0a495c70a45e8"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f17ca443eeeb4a89" /><Relationship Type="http://schemas.openxmlformats.org/officeDocument/2006/relationships/notesMaster" Target="/ppt/notesMasters/notesMaster1.xml" Id="Rec318c5515c048cf"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a140751f788645ea" /><Relationship Type="http://schemas.openxmlformats.org/officeDocument/2006/relationships/notesMaster" Target="/ppt/notesMasters/notesMaster1.xml" Id="R20305c13ce0448c3"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2db11c214cce4012" /><Relationship Type="http://schemas.openxmlformats.org/officeDocument/2006/relationships/notesMaster" Target="/ppt/notesMasters/notesMaster1.xml" Id="R4809ecc67aa84e5a"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a9ef4589365f4d6a" /><Relationship Type="http://schemas.openxmlformats.org/officeDocument/2006/relationships/notesMaster" Target="/ppt/notesMasters/notesMaster1.xml" Id="R4f11df6c11f94ee1"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a6cbaea890084023" /><Relationship Type="http://schemas.openxmlformats.org/officeDocument/2006/relationships/notesMaster" Target="/ppt/notesMasters/notesMaster1.xml" Id="Rd708c3e496254fa3"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7cfde5d768df4aba" /><Relationship Type="http://schemas.openxmlformats.org/officeDocument/2006/relationships/notesMaster" Target="/ppt/notesMasters/notesMaster1.xml" Id="R8e73479db00145ff"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9bec6d72cebb4795" /><Relationship Type="http://schemas.openxmlformats.org/officeDocument/2006/relationships/notesMaster" Target="/ppt/notesMasters/notesMaster1.xml" Id="Rb8b720cd29094ec3"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0b5264533d774b72" /><Relationship Type="http://schemas.openxmlformats.org/officeDocument/2006/relationships/notesMaster" Target="/ppt/notesMasters/notesMaster1.xml" Id="R15cb1553f9944b14"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9f5289831c1b4a9e" /><Relationship Type="http://schemas.openxmlformats.org/officeDocument/2006/relationships/notesMaster" Target="/ppt/notesMasters/notesMaster1.xml" Id="R477c07e7c52442a5"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648853c7411e4646" /><Relationship Type="http://schemas.openxmlformats.org/officeDocument/2006/relationships/notesMaster" Target="/ppt/notesMasters/notesMaster1.xml" Id="Rae3dff00eb794819"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3f4894047afd4ce6" /><Relationship Type="http://schemas.openxmlformats.org/officeDocument/2006/relationships/notesMaster" Target="/ppt/notesMasters/notesMaster1.xml" Id="R579e84600f834f8f"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e214f4ff741344f4" /><Relationship Type="http://schemas.openxmlformats.org/officeDocument/2006/relationships/notesMaster" Target="/ppt/notesMasters/notesMaster1.xml" Id="R83e52d6bc79e49ac"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3f18d8cc803d4b1d" /><Relationship Type="http://schemas.openxmlformats.org/officeDocument/2006/relationships/notesMaster" Target="/ppt/notesMasters/notesMaster1.xml" Id="Ra5a77a7f682c4b09"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74b84ad08c4f4db9" /><Relationship Type="http://schemas.openxmlformats.org/officeDocument/2006/relationships/notesMaster" Target="/ppt/notesMasters/notesMaster1.xml" Id="R82c5bd917c3d4b8a"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72bdd252f6b846f9" /><Relationship Type="http://schemas.openxmlformats.org/officeDocument/2006/relationships/notesMaster" Target="/ppt/notesMasters/notesMaster1.xml" Id="R0d949defb0ad4836"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ecc79b94108d4f18" /><Relationship Type="http://schemas.openxmlformats.org/officeDocument/2006/relationships/notesMaster" Target="/ppt/notesMasters/notesMaster1.xml" Id="R33e136a800da4da2"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1dbdfda664bc4e1a" /><Relationship Type="http://schemas.openxmlformats.org/officeDocument/2006/relationships/notesMaster" Target="/ppt/notesMasters/notesMaster1.xml" Id="Rfb12bff4f7f54886"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c34a032ec9674b0e" /><Relationship Type="http://schemas.openxmlformats.org/officeDocument/2006/relationships/notesMaster" Target="/ppt/notesMasters/notesMaster1.xml" Id="R59a1b6df53874826"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b701ee525d7b444e" /><Relationship Type="http://schemas.openxmlformats.org/officeDocument/2006/relationships/notesMaster" Target="/ppt/notesMasters/notesMaster1.xml" Id="R4261235f8c8b4dfc"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89b7cc765b6943be" /><Relationship Type="http://schemas.openxmlformats.org/officeDocument/2006/relationships/notesMaster" Target="/ppt/notesMasters/notesMaster1.xml" Id="R1900b583c4aa4813"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cc049aa9d08d4db9" /><Relationship Type="http://schemas.openxmlformats.org/officeDocument/2006/relationships/notesMaster" Target="/ppt/notesMasters/notesMaster1.xml" Id="Rf91953d84ec6414c"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70306293765843ef" /><Relationship Type="http://schemas.openxmlformats.org/officeDocument/2006/relationships/notesMaster" Target="/ppt/notesMasters/notesMaster1.xml" Id="Rf4ed4ecca03b4c4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Lists loops and reading a table</a:t>
            </a:r>
          </a:p>
          <a:p xmlns:a="http://schemas.openxmlformats.org/drawingml/2006/main">
            <a:r>
              <a:t/>
            </a:r>
          </a:p>
          <a:p xmlns:a="http://schemas.openxmlformats.org/drawingml/2006/main">
            <a:r>
              <a:t>CONNECT</a:t>
            </a:r>
          </a:p>
          <a:p xmlns:a="http://schemas.openxmlformats.org/drawingml/2006/main">
            <a:r>
              <a:t>Build on the preceding week. Explain why this example is needed before running it.</a:t>
            </a:r>
          </a:p>
          <a:p xmlns:a="http://schemas.openxmlformats.org/drawingml/2006/main">
            <a:r>
              <a:t/>
            </a:r>
          </a:p>
          <a:p xmlns:a="http://schemas.openxmlformats.org/drawingml/2006/main">
            <a:r>
              <a:t>EXPLAIN</a:t>
            </a:r>
          </a:p>
          <a:p xmlns:a="http://schemas.openxmlformats.org/drawingml/2006/main">
            <a:r>
              <a:t>Mining and Petroleum Engineering</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Lists loops and reading a table</a:t>
            </a:r>
          </a:p>
          <a:p xmlns:a="http://schemas.openxmlformats.org/drawingml/2006/main">
            <a:r>
              <a:t/>
            </a:r>
          </a:p>
          <a:p xmlns:a="http://schemas.openxmlformats.org/drawingml/2006/main">
            <a:r>
              <a:t>LECTURER CUE</a:t>
            </a:r>
          </a:p>
          <a:p xmlns:a="http://schemas.openxmlformats.org/drawingml/2006/main">
            <a:r>
              <a:t>Use PowerPoint Presenter View for these notes. Teach one example, pause for every learner to predict, then work an analogous example together. The practice notebook is a learning aid, not an extra graded upload.</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NEXT</a:t>
            </a:r>
          </a:p>
          <a:p xmlns:a="http://schemas.openxmlformats.org/drawingml/2006/main">
            <a:r>
              <a:t>Today’s learning.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Today’s learning.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Build on Lists loops and reading a table. Explain why this example is needed before running it.</a:t>
            </a:r>
          </a:p>
          <a:p xmlns:a="http://schemas.openxmlformats.org/drawingml/2006/main">
            <a:r>
              <a:t/>
            </a:r>
          </a:p>
          <a:p xmlns:a="http://schemas.openxmlformats.org/drawingml/2006/main">
            <a:r>
              <a:t>EXPLAIN</a:t>
            </a:r>
          </a:p>
          <a:p xmlns:a="http://schemas.openxmlformats.org/drawingml/2006/main">
            <a:r>
              <a:t>Read lists and dictionary fields.</a:t>
            </a:r>
          </a:p>
          <a:p xmlns:a="http://schemas.openxmlformats.org/drawingml/2006/main">
            <a:r>
              <a:t/>
            </a:r>
          </a:p>
          <a:p xmlns:a="http://schemas.openxmlformats.org/drawingml/2006/main">
            <a:r>
              <a:t>Trace a loop, read CSV rows and calculate summaries.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Build on the preceding slide: Lists loops and reading a table.</a:t>
            </a:r>
          </a:p>
          <a:p xmlns:a="http://schemas.openxmlformats.org/drawingml/2006/main">
            <a:r>
              <a:t/>
            </a:r>
          </a:p>
          <a:p xmlns:a="http://schemas.openxmlformats.org/drawingml/2006/main">
            <a:r>
              <a:t>LECTURER CUE</a:t>
            </a:r>
          </a:p>
          <a:p xmlns:a="http://schemas.openxmlformats.org/drawingml/2006/main">
            <a:r>
              <a:t>Ask learners to explain this goal in ordinary language. The first successful attempt matters more than covering optional extensions. Defer: Nested comprehensions, arbitrary exception handling, a blank-page investigation and data-source hunting are later practice. Never use except: pass to silently erase evidence.</a:t>
            </a:r>
          </a:p>
          <a:p xmlns:a="http://schemas.openxmlformats.org/drawingml/2006/main">
            <a:r>
              <a:t/>
            </a:r>
          </a:p>
          <a:p xmlns:a="http://schemas.openxmlformats.org/drawingml/2006/main">
            <a:r>
              <a:t>EXPLAIN IN ORDINARY WORDS</a:t>
            </a:r>
          </a:p>
          <a:p xmlns:a="http://schemas.openxmlformats.org/drawingml/2006/main">
            <a:r>
              <a:t>A CSV is a text table. The header supplies column names. With csv.DictReader, values start as text, even if they look like numbers. A path tells Python where the file is.</a:t>
            </a:r>
          </a:p>
          <a:p xmlns:a="http://schemas.openxmlformats.org/drawingml/2006/main">
            <a:r>
              <a:t/>
            </a:r>
          </a:p>
          <a:p xmlns:a="http://schemas.openxmlformats.org/drawingml/2006/main">
            <a:r>
              <a:t>CHECK AND EXPECTED ANSWER</a:t>
            </a:r>
          </a:p>
          <a:p xmlns:a="http://schemas.openxmlformats.org/drawingml/2006/main">
            <a:r>
              <a:t>Can "2.5" from csv.DictReader be added as a number without conversion? No; convert valid numeric text first.</a:t>
            </a:r>
          </a:p>
          <a:p xmlns:a="http://schemas.openxmlformats.org/drawingml/2006/main">
            <a:r>
              <a:t/>
            </a:r>
          </a:p>
          <a:p xmlns:a="http://schemas.openxmlformats.org/drawingml/2006/main">
            <a:r>
              <a:t>IF LEARNERS ARE STUCK</a:t>
            </a:r>
          </a:p>
          <a:p xmlns:a="http://schemas.openxmlformats.org/drawingml/2006/main">
            <a:r>
              <a:t>Show the file in the runtime folder and compare its exact filename, case and column headers. Upload data again after a fresh Colab runtime.</a:t>
            </a:r>
          </a:p>
          <a:p xmlns:a="http://schemas.openxmlformats.org/drawingml/2006/main">
            <a:r>
              <a:t/>
            </a:r>
          </a:p>
          <a:p xmlns:a="http://schemas.openxmlformats.org/drawingml/2006/main">
            <a:r>
              <a:t>NEXT</a:t>
            </a:r>
          </a:p>
          <a:p xmlns:a="http://schemas.openxmlformats.org/drawingml/2006/main">
            <a:r>
              <a:t>Recall and a first attempt.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Connection to the previous 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Connection to the previous lesson</a:t>
            </a:r>
          </a:p>
          <a:p xmlns:a="http://schemas.openxmlformats.org/drawingml/2006/main">
            <a:r>
              <a:t/>
            </a:r>
          </a:p>
          <a:p xmlns:a="http://schemas.openxmlformats.org/drawingml/2006/main">
            <a:r>
              <a:t>CONNECT</a:t>
            </a:r>
          </a:p>
          <a:p xmlns:a="http://schemas.openxmlformats.org/drawingml/2006/main">
            <a:r>
              <a:t>Build on Today’s learning. Explain why this example is needed before running it.</a:t>
            </a:r>
          </a:p>
          <a:p xmlns:a="http://schemas.openxmlformats.org/drawingml/2006/main">
            <a:r>
              <a:t/>
            </a:r>
          </a:p>
          <a:p xmlns:a="http://schemas.openxmlformats.org/drawingml/2006/main">
            <a:r>
              <a:t>EXPLAIN</a:t>
            </a:r>
          </a:p>
          <a:p xmlns:a="http://schemas.openxmlformats.org/drawingml/2006/main">
            <a:r>
              <a:t>Week 3 introduced values, function inputs and results, conditions and list positions. Now we repeat a calculation across records, then organise those records by keys.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Recall and a first attempt</a:t>
            </a:r>
          </a:p>
          <a:p xmlns:a="http://schemas.openxmlformats.org/drawingml/2006/main">
            <a:r>
              <a:t/>
            </a:r>
          </a:p>
          <a:p xmlns:a="http://schemas.openxmlformats.org/drawingml/2006/main">
            <a:r>
              <a:t>CONNECT</a:t>
            </a:r>
          </a:p>
          <a:p xmlns:a="http://schemas.openxmlformats.org/drawingml/2006/main">
            <a:r>
              <a:t>Build on the preceding slide: Today’s learning.</a:t>
            </a:r>
          </a:p>
          <a:p xmlns:a="http://schemas.openxmlformats.org/drawingml/2006/main">
            <a:r>
              <a:t/>
            </a:r>
          </a:p>
          <a:p xmlns:a="http://schemas.openxmlformats.org/drawingml/2006/main">
            <a:r>
              <a:t>LECTURER CUE</a:t>
            </a:r>
          </a:p>
          <a:p xmlns:a="http://schemas.openxmlformats.org/drawingml/2006/main">
            <a:r>
              <a:t/>
            </a:r>
          </a:p>
          <a:p xmlns:a="http://schemas.openxmlformats.org/drawingml/2006/main">
            <a:r>
              <a:t>EXPLAIN IN ORDINARY WORDS</a:t>
            </a:r>
          </a:p>
          <a:p xmlns:a="http://schemas.openxmlformats.org/drawingml/2006/main">
            <a:r>
              <a:t>Name the positive class first. Actual is what happened; predicted is the model decision. Precision asks how many predicted positives were right. Recall asks how many actual positives were found.</a:t>
            </a:r>
          </a:p>
          <a:p xmlns:a="http://schemas.openxmlformats.org/drawingml/2006/main">
            <a:r>
              <a:t/>
            </a:r>
          </a:p>
          <a:p xmlns:a="http://schemas.openxmlformats.org/drawingml/2006/main">
            <a:r>
              <a:t>CHECK AND EXPECTED ANSWER</a:t>
            </a:r>
          </a:p>
          <a:p xmlns:a="http://schemas.openxmlformats.org/drawingml/2006/main">
            <a:r>
              <a:t>With TP=2, FP=1, FN=2: precision=2/3 and recall=2/4. A missed actual positive is a false negative.</a:t>
            </a:r>
          </a:p>
          <a:p xmlns:a="http://schemas.openxmlformats.org/drawingml/2006/main">
            <a:r>
              <a:t/>
            </a:r>
          </a:p>
          <a:p xmlns:a="http://schemas.openxmlformats.org/drawingml/2006/main">
            <a:r>
              <a:t>IF LEARNERS ARE STUCK</a:t>
            </a:r>
          </a:p>
          <a:p xmlns:a="http://schemas.openxmlformats.org/drawingml/2006/main">
            <a:r>
              <a:t>Draw actual/predicted headings. Place one case at a time before calculating a fraction. Explain the task rule for a zero denominator.</a:t>
            </a:r>
          </a:p>
          <a:p xmlns:a="http://schemas.openxmlformats.org/drawingml/2006/main">
            <a:r>
              <a:t/>
            </a:r>
          </a:p>
          <a:p xmlns:a="http://schemas.openxmlformats.org/drawingml/2006/main">
            <a:r>
              <a:t>NEXT</a:t>
            </a:r>
          </a:p>
          <a:p xmlns:a="http://schemas.openxmlformats.org/drawingml/2006/main">
            <a:r>
              <a:t>The engineering context.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Why this week’s tools are needed.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Why this week’s tools are needed</a:t>
            </a:r>
          </a:p>
          <a:p xmlns:a="http://schemas.openxmlformats.org/drawingml/2006/main">
            <a:r>
              <a:t/>
            </a:r>
          </a:p>
          <a:p xmlns:a="http://schemas.openxmlformats.org/drawingml/2006/main">
            <a:r>
              <a:t>CONNECT</a:t>
            </a:r>
          </a:p>
          <a:p xmlns:a="http://schemas.openxmlformats.org/drawingml/2006/main">
            <a:r>
              <a:t>Build on Connection to the previous lesson. Explain why this example is needed before running it.</a:t>
            </a:r>
          </a:p>
          <a:p xmlns:a="http://schemas.openxmlformats.org/drawingml/2006/main">
            <a:r>
              <a:t/>
            </a:r>
          </a:p>
          <a:p xmlns:a="http://schemas.openxmlformats.org/drawingml/2006/main">
            <a:r>
              <a:t>EXPLAIN</a:t>
            </a:r>
          </a:p>
          <a:p xmlns:a="http://schemas.openxmlformats.org/drawingml/2006/main">
            <a:r>
              <a:t>Sensor readings arrive as records in a CSV file. We first learn the Python collections and loops needed to read those records and summarise them.</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The engineering context</a:t>
            </a:r>
          </a:p>
          <a:p xmlns:a="http://schemas.openxmlformats.org/drawingml/2006/main">
            <a:r>
              <a:t/>
            </a:r>
          </a:p>
          <a:p xmlns:a="http://schemas.openxmlformats.org/drawingml/2006/main">
            <a:r>
              <a:t>CONNECT</a:t>
            </a:r>
          </a:p>
          <a:p xmlns:a="http://schemas.openxmlformats.org/drawingml/2006/main">
            <a:r>
              <a:t>Build on the preceding slide: Recall and a first attempt.</a:t>
            </a:r>
          </a:p>
          <a:p xmlns:a="http://schemas.openxmlformats.org/drawingml/2006/main">
            <a:r>
              <a:t/>
            </a:r>
          </a:p>
          <a:p xmlns:a="http://schemas.openxmlformats.org/drawingml/2006/main">
            <a:r>
              <a:t>LECTURER CUE</a:t>
            </a:r>
          </a:p>
          <a:p xmlns:a="http://schemas.openxmlformats.org/drawingml/2006/main">
            <a:r>
              <a:t>A pump team records temperature to investigate operation. Mining students can relate this to a dewatering pump; petroleum students to a transfer pump. These are teaching examples, not operating limits.</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NEXT</a:t>
            </a:r>
          </a:p>
          <a:p xmlns:a="http://schemas.openxmlformats.org/drawingml/2006/main">
            <a:r>
              <a:t>List and index.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List and index.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List and index</a:t>
            </a:r>
          </a:p>
          <a:p xmlns:a="http://schemas.openxmlformats.org/drawingml/2006/main">
            <a:r>
              <a:t/>
            </a:r>
          </a:p>
          <a:p xmlns:a="http://schemas.openxmlformats.org/drawingml/2006/main">
            <a:r>
              <a:t>CONNECT</a:t>
            </a:r>
          </a:p>
          <a:p xmlns:a="http://schemas.openxmlformats.org/drawingml/2006/main">
            <a:r>
              <a:t>Build on Why this week’s tools are needed. Explain why this example is needed before running it.</a:t>
            </a:r>
          </a:p>
          <a:p xmlns:a="http://schemas.openxmlformats.org/drawingml/2006/main">
            <a:r>
              <a:t/>
            </a:r>
          </a:p>
          <a:p xmlns:a="http://schemas.openxmlformats.org/drawingml/2006/main">
            <a:r>
              <a:t>EXPLAIN</a:t>
            </a:r>
          </a:p>
          <a:p xmlns:a="http://schemas.openxmlformats.org/drawingml/2006/main">
            <a:r>
              <a:t>List and index: A list holds values in order: [2, 4, 6]. Square brackets select a position. readings[0] selects the first item, 2.</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List and index</a:t>
            </a:r>
          </a:p>
          <a:p xmlns:a="http://schemas.openxmlformats.org/drawingml/2006/main">
            <a:r>
              <a:t/>
            </a:r>
          </a:p>
          <a:p xmlns:a="http://schemas.openxmlformats.org/drawingml/2006/main">
            <a:r>
              <a:t>CONNECT</a:t>
            </a:r>
          </a:p>
          <a:p xmlns:a="http://schemas.openxmlformats.org/drawingml/2006/main">
            <a:r>
              <a:t>Build on the preceding slide: The engineering context.</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POINT TO THE DEFINITION</a:t>
            </a:r>
          </a:p>
          <a:p xmlns:a="http://schemas.openxmlformats.org/drawingml/2006/main">
            <a:r>
              <a:t>List and index: A list holds values in order: [2, 4, 6]. Square brackets select a position. readings[0] selects the first item, 2.</a:t>
            </a:r>
          </a:p>
          <a:p xmlns:a="http://schemas.openxmlformats.org/drawingml/2006/main">
            <a:r>
              <a:t/>
            </a:r>
          </a:p>
          <a:p xmlns:a="http://schemas.openxmlformats.org/drawingml/2006/main">
            <a:r>
              <a:t>NEXT</a:t>
            </a:r>
          </a:p>
          <a:p xmlns:a="http://schemas.openxmlformats.org/drawingml/2006/main">
            <a:r>
              <a:t>A list position starts at zero.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list position starts at zero.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list position starts at zero</a:t>
            </a:r>
          </a:p>
          <a:p xmlns:a="http://schemas.openxmlformats.org/drawingml/2006/main">
            <a:r>
              <a:t/>
            </a:r>
          </a:p>
          <a:p xmlns:a="http://schemas.openxmlformats.org/drawingml/2006/main">
            <a:r>
              <a:t>CONNECT</a:t>
            </a:r>
          </a:p>
          <a:p xmlns:a="http://schemas.openxmlformats.org/drawingml/2006/main">
            <a:r>
              <a:t>Build on List and index. Explain why this example is needed before running it.</a:t>
            </a:r>
          </a:p>
          <a:p xmlns:a="http://schemas.openxmlformats.org/drawingml/2006/main">
            <a:r>
              <a:t/>
            </a:r>
          </a:p>
          <a:p xmlns:a="http://schemas.openxmlformats.org/drawingml/2006/main">
            <a:r>
              <a:t>EXPLAIN</a:t>
            </a:r>
          </a:p>
          <a:p xmlns:a="http://schemas.openxmlformats.org/drawingml/2006/main">
            <a:r>
              <a:t>In [2, 4, 6], position 0 holds 2.</a:t>
            </a:r>
          </a:p>
          <a:p xmlns:a="http://schemas.openxmlformats.org/drawingml/2006/main">
            <a:r>
              <a:t/>
            </a:r>
          </a:p>
          <a:p xmlns:a="http://schemas.openxmlformats.org/drawingml/2006/main">
            <a:r>
              <a:t>Position 1 holds 4. Position 2 holds 6.</a:t>
            </a:r>
          </a:p>
          <a:p xmlns:a="http://schemas.openxmlformats.org/drawingml/2006/main">
            <a:r>
              <a:t/>
            </a:r>
          </a:p>
          <a:p xmlns:a="http://schemas.openxmlformats.org/drawingml/2006/main">
            <a:r>
              <a:t>There is no position 3 in this three-item list.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list position starts at zero</a:t>
            </a:r>
          </a:p>
          <a:p xmlns:a="http://schemas.openxmlformats.org/drawingml/2006/main">
            <a:r>
              <a:t/>
            </a:r>
          </a:p>
          <a:p xmlns:a="http://schemas.openxmlformats.org/drawingml/2006/main">
            <a:r>
              <a:t>CONNECT</a:t>
            </a:r>
          </a:p>
          <a:p xmlns:a="http://schemas.openxmlformats.org/drawingml/2006/main">
            <a:r>
              <a:t>Build on the preceding slide: List and index.</a:t>
            </a:r>
          </a:p>
          <a:p xmlns:a="http://schemas.openxmlformats.org/drawingml/2006/main">
            <a:r>
              <a:t/>
            </a:r>
          </a:p>
          <a:p xmlns:a="http://schemas.openxmlformats.org/drawingml/2006/main">
            <a:r>
              <a:t>LECTURER CUE</a:t>
            </a:r>
          </a:p>
          <a:p xmlns:a="http://schemas.openxmlformats.org/drawingml/2006/main">
            <a:r>
              <a:t>Draw three boxes labelled 0, 1 and 2 holding 2, 4 and 6. Read the first item aloud, then trace the loop by hand.</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NEXT</a:t>
            </a:r>
          </a:p>
          <a:p xmlns:a="http://schemas.openxmlformats.org/drawingml/2006/main">
            <a:r>
              <a:t>Read list operations.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Read list operations.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 list operations</a:t>
            </a:r>
          </a:p>
          <a:p xmlns:a="http://schemas.openxmlformats.org/drawingml/2006/main">
            <a:r>
              <a:t/>
            </a:r>
          </a:p>
          <a:p xmlns:a="http://schemas.openxmlformats.org/drawingml/2006/main">
            <a:r>
              <a:t>CONNECT</a:t>
            </a:r>
          </a:p>
          <a:p xmlns:a="http://schemas.openxmlformats.org/drawingml/2006/main">
            <a:r>
              <a:t>Build on A list position starts at zero. Explain why this example is needed before running it.</a:t>
            </a:r>
          </a:p>
          <a:p xmlns:a="http://schemas.openxmlformats.org/drawingml/2006/main">
            <a:r>
              <a:t/>
            </a:r>
          </a:p>
          <a:p xmlns:a="http://schemas.openxmlformats.org/drawingml/2006/main">
            <a:r>
              <a:t>EXPLAIN</a:t>
            </a:r>
          </a:p>
          <a:p xmlns:a="http://schemas.openxmlformats.org/drawingml/2006/main">
            <a:r>
              <a:t>append and len: readings.append(8) adds 8 to the end of the list. len(readings) counts its items. The dot selects an operation belonging to that object; parentheses call it.</a:t>
            </a:r>
          </a:p>
          <a:p xmlns:a="http://schemas.openxmlformats.org/drawingml/2006/main">
            <a:r>
              <a:t>Slice: readings[1:3] selects positions 1 and 2. The stop position 3 is excluded. A slice produces a new list; it does not remove items from the original.</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Read list operations</a:t>
            </a:r>
          </a:p>
          <a:p xmlns:a="http://schemas.openxmlformats.org/drawingml/2006/main">
            <a:r>
              <a:t/>
            </a:r>
          </a:p>
          <a:p xmlns:a="http://schemas.openxmlformats.org/drawingml/2006/main">
            <a:r>
              <a:t>CONNECT</a:t>
            </a:r>
          </a:p>
          <a:p xmlns:a="http://schemas.openxmlformats.org/drawingml/2006/main">
            <a:r>
              <a:t>Build on the preceding slide: A list position starts at zero.</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POINT TO THE DEFINITION</a:t>
            </a:r>
          </a:p>
          <a:p xmlns:a="http://schemas.openxmlformats.org/drawingml/2006/main">
            <a:r>
              <a:t>append and len: readings.append(8) adds 8 to the end of the list. len(readings) counts its items. The dot selects an operation belonging to that object; parentheses call it.</a:t>
            </a:r>
          </a:p>
          <a:p xmlns:a="http://schemas.openxmlformats.org/drawingml/2006/main">
            <a:r>
              <a:t>Slice: readings[1:3] selects positions 1 and 2. The stop position 3 is excluded. A slice produces a new list; it does not remove items from the original.</a:t>
            </a:r>
          </a:p>
          <a:p xmlns:a="http://schemas.openxmlformats.org/drawingml/2006/main">
            <a:r>
              <a:t/>
            </a:r>
          </a:p>
          <a:p xmlns:a="http://schemas.openxmlformats.org/drawingml/2006/main">
            <a:r>
              <a:t>NEXT</a:t>
            </a:r>
          </a:p>
          <a:p xmlns:a="http://schemas.openxmlformats.org/drawingml/2006/main">
            <a:r>
              <a:t>A list stores items in order.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list stores items in order.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list stores items in order</a:t>
            </a:r>
          </a:p>
          <a:p xmlns:a="http://schemas.openxmlformats.org/drawingml/2006/main">
            <a:r>
              <a:t/>
            </a:r>
          </a:p>
          <a:p xmlns:a="http://schemas.openxmlformats.org/drawingml/2006/main">
            <a:r>
              <a:t>CONNECT</a:t>
            </a:r>
          </a:p>
          <a:p xmlns:a="http://schemas.openxmlformats.org/drawingml/2006/main">
            <a:r>
              <a:t>Build on Read list operations. Explain why this example is needed before running it.</a:t>
            </a:r>
          </a:p>
          <a:p xmlns:a="http://schemas.openxmlformats.org/drawingml/2006/main">
            <a:r>
              <a:t/>
            </a:r>
          </a:p>
          <a:p xmlns:a="http://schemas.openxmlformats.org/drawingml/2006/main">
            <a:r>
              <a:t>EXPLAIN</a:t>
            </a:r>
          </a:p>
          <a:p xmlns:a="http://schemas.openxmlformats.org/drawingml/2006/main">
            <a:r>
              <a:t>[] builds a list. Positions start at zero. The slice stops before position 3.</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list stores items in order</a:t>
            </a:r>
          </a:p>
          <a:p xmlns:a="http://schemas.openxmlformats.org/drawingml/2006/main">
            <a:r>
              <a:t/>
            </a:r>
          </a:p>
          <a:p xmlns:a="http://schemas.openxmlformats.org/drawingml/2006/main">
            <a:r>
              <a:t>CONNECT</a:t>
            </a:r>
          </a:p>
          <a:p xmlns:a="http://schemas.openxmlformats.org/drawingml/2006/main">
            <a:r>
              <a:t>Build on the preceding slide: Read list operations.</a:t>
            </a:r>
          </a:p>
          <a:p xmlns:a="http://schemas.openxmlformats.org/drawingml/2006/main">
            <a:r>
              <a:t/>
            </a:r>
          </a:p>
          <a:p xmlns:a="http://schemas.openxmlformats.org/drawingml/2006/main">
            <a:r>
              <a:t>LECTURER CUE</a:t>
            </a:r>
          </a:p>
          <a:p xmlns:a="http://schemas.openxmlformats.org/drawingml/2006/main">
            <a:r>
              <a:t>Read each symbol before running. Ask everyone to predict. Expected output: 2 then 4 then [4, 6]. readings[4] would raise IndexError.</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WALK THROUGH THIS CODE</a:t>
            </a:r>
          </a:p>
          <a:p xmlns:a="http://schemas.openxmlformats.org/drawingml/2006/main">
            <a:r>
              <a:t>print displays a value below the cell.</a:t>
            </a:r>
          </a:p>
          <a:p xmlns:a="http://schemas.openxmlformats.org/drawingml/2006/main">
            <a:r>
              <a:t>append adds one item to the end of a list.</a:t>
            </a:r>
          </a:p>
          <a:p xmlns:a="http://schemas.openxmlformats.org/drawingml/2006/main">
            <a:r>
              <a:t>Square brackets create a list or select an item.</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Loop and iteration.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Loop and iteration.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Loop and iteration</a:t>
            </a:r>
          </a:p>
          <a:p xmlns:a="http://schemas.openxmlformats.org/drawingml/2006/main">
            <a:r>
              <a:t/>
            </a:r>
          </a:p>
          <a:p xmlns:a="http://schemas.openxmlformats.org/drawingml/2006/main">
            <a:r>
              <a:t>CONNECT</a:t>
            </a:r>
          </a:p>
          <a:p xmlns:a="http://schemas.openxmlformats.org/drawingml/2006/main">
            <a:r>
              <a:t>Build on A list stores items in order. Explain why this example is needed before running it.</a:t>
            </a:r>
          </a:p>
          <a:p xmlns:a="http://schemas.openxmlformats.org/drawingml/2006/main">
            <a:r>
              <a:t/>
            </a:r>
          </a:p>
          <a:p xmlns:a="http://schemas.openxmlformats.org/drawingml/2006/main">
            <a:r>
              <a:t>EXPLAIN</a:t>
            </a:r>
          </a:p>
          <a:p xmlns:a="http://schemas.openxmlformats.org/drawingml/2006/main">
            <a:r>
              <a:t>Loop and iteration: A for loop runs its indented body once per item. Each pass is one iteration.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Loop and iteration</a:t>
            </a:r>
          </a:p>
          <a:p xmlns:a="http://schemas.openxmlformats.org/drawingml/2006/main">
            <a:r>
              <a:t/>
            </a:r>
          </a:p>
          <a:p xmlns:a="http://schemas.openxmlformats.org/drawingml/2006/main">
            <a:r>
              <a:t>CONNECT</a:t>
            </a:r>
          </a:p>
          <a:p xmlns:a="http://schemas.openxmlformats.org/drawingml/2006/main">
            <a:r>
              <a:t>Build on the preceding slide: A list stores items in order.</a:t>
            </a:r>
          </a:p>
          <a:p xmlns:a="http://schemas.openxmlformats.org/drawingml/2006/main">
            <a:r>
              <a:t/>
            </a:r>
          </a:p>
          <a:p xmlns:a="http://schemas.openxmlformats.org/drawingml/2006/main">
            <a:r>
              <a:t>EXPLAIN IN ORDINARY WORDS</a:t>
            </a:r>
          </a:p>
          <a:p xmlns:a="http://schemas.openxmlformats.org/drawingml/2006/main">
            <a:r>
              <a:t>A loop repeats its indented instructions for each item. A running total must be initialised before the loop and updated inside it.</a:t>
            </a:r>
          </a:p>
          <a:p xmlns:a="http://schemas.openxmlformats.org/drawingml/2006/main">
            <a:r>
              <a:t/>
            </a:r>
          </a:p>
          <a:p xmlns:a="http://schemas.openxmlformats.org/drawingml/2006/main">
            <a:r>
              <a:t>CHECK AND EXPECTED ANSWER</a:t>
            </a:r>
          </a:p>
          <a:p xmlns:a="http://schemas.openxmlformats.org/drawingml/2006/main">
            <a:r>
              <a:t>For values 2,4,6 and total initially 0, what are the successive totals? 2,6,12.</a:t>
            </a:r>
          </a:p>
          <a:p xmlns:a="http://schemas.openxmlformats.org/drawingml/2006/main">
            <a:r>
              <a:t/>
            </a:r>
          </a:p>
          <a:p xmlns:a="http://schemas.openxmlformats.org/drawingml/2006/main">
            <a:r>
              <a:t>IF LEARNERS ARE STUCK</a:t>
            </a:r>
          </a:p>
          <a:p xmlns:a="http://schemas.openxmlformats.org/drawingml/2006/main">
            <a:r>
              <a:t>Use a trace table with current item and total. Resetting total inside the loop loses earlier additions.</a:t>
            </a:r>
          </a:p>
          <a:p xmlns:a="http://schemas.openxmlformats.org/drawingml/2006/main">
            <a:r>
              <a:t/>
            </a:r>
          </a:p>
          <a:p xmlns:a="http://schemas.openxmlformats.org/drawingml/2006/main">
            <a:r>
              <a:t>POINT TO THE DEFINITION</a:t>
            </a:r>
          </a:p>
          <a:p xmlns:a="http://schemas.openxmlformats.org/drawingml/2006/main">
            <a:r>
              <a:t>Loop and iteration: A for loop runs its indented body once per item. Each pass is one iteration.</a:t>
            </a:r>
          </a:p>
          <a:p xmlns:a="http://schemas.openxmlformats.org/drawingml/2006/main">
            <a:r>
              <a:t/>
            </a:r>
          </a:p>
          <a:p xmlns:a="http://schemas.openxmlformats.org/drawingml/2006/main">
            <a:r>
              <a:t>NEXT</a:t>
            </a:r>
          </a:p>
          <a:p xmlns:a="http://schemas.openxmlformats.org/drawingml/2006/main">
            <a:r>
              <a:t>Accumulator.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Accumulator.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Accumulator</a:t>
            </a:r>
          </a:p>
          <a:p xmlns:a="http://schemas.openxmlformats.org/drawingml/2006/main">
            <a:r>
              <a:t/>
            </a:r>
          </a:p>
          <a:p xmlns:a="http://schemas.openxmlformats.org/drawingml/2006/main">
            <a:r>
              <a:t>CONNECT</a:t>
            </a:r>
          </a:p>
          <a:p xmlns:a="http://schemas.openxmlformats.org/drawingml/2006/main">
            <a:r>
              <a:t>Build on Loop and iteration. Explain why this example is needed before running it.</a:t>
            </a:r>
          </a:p>
          <a:p xmlns:a="http://schemas.openxmlformats.org/drawingml/2006/main">
            <a:r>
              <a:t/>
            </a:r>
          </a:p>
          <a:p xmlns:a="http://schemas.openxmlformats.org/drawingml/2006/main">
            <a:r>
              <a:t>EXPLAIN</a:t>
            </a:r>
          </a:p>
          <a:p xmlns:a="http://schemas.openxmlformats.org/drawingml/2006/main">
            <a:r>
              <a:t>Accumulator: A running total. Set it to zero before the loop, add inside the loop, and read the final total afterward.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Accumulator</a:t>
            </a:r>
          </a:p>
          <a:p xmlns:a="http://schemas.openxmlformats.org/drawingml/2006/main">
            <a:r>
              <a:t/>
            </a:r>
          </a:p>
          <a:p xmlns:a="http://schemas.openxmlformats.org/drawingml/2006/main">
            <a:r>
              <a:t>CONNECT</a:t>
            </a:r>
          </a:p>
          <a:p xmlns:a="http://schemas.openxmlformats.org/drawingml/2006/main">
            <a:r>
              <a:t>Build on the preceding slide: Loop and iteration.</a:t>
            </a:r>
          </a:p>
          <a:p xmlns:a="http://schemas.openxmlformats.org/drawingml/2006/main">
            <a:r>
              <a:t/>
            </a:r>
          </a:p>
          <a:p xmlns:a="http://schemas.openxmlformats.org/drawingml/2006/main">
            <a:r>
              <a:t>EXPLAIN IN ORDINARY WORDS</a:t>
            </a:r>
          </a:p>
          <a:p xmlns:a="http://schemas.openxmlformats.org/drawingml/2006/main">
            <a:r>
              <a:t>A loop repeats its indented instructions for each item. A running total must be initialised before the loop and updated inside it.</a:t>
            </a:r>
          </a:p>
          <a:p xmlns:a="http://schemas.openxmlformats.org/drawingml/2006/main">
            <a:r>
              <a:t/>
            </a:r>
          </a:p>
          <a:p xmlns:a="http://schemas.openxmlformats.org/drawingml/2006/main">
            <a:r>
              <a:t>CHECK AND EXPECTED ANSWER</a:t>
            </a:r>
          </a:p>
          <a:p xmlns:a="http://schemas.openxmlformats.org/drawingml/2006/main">
            <a:r>
              <a:t>For values 2,4,6 and total initially 0, what are the successive totals? 2,6,12.</a:t>
            </a:r>
          </a:p>
          <a:p xmlns:a="http://schemas.openxmlformats.org/drawingml/2006/main">
            <a:r>
              <a:t/>
            </a:r>
          </a:p>
          <a:p xmlns:a="http://schemas.openxmlformats.org/drawingml/2006/main">
            <a:r>
              <a:t>IF LEARNERS ARE STUCK</a:t>
            </a:r>
          </a:p>
          <a:p xmlns:a="http://schemas.openxmlformats.org/drawingml/2006/main">
            <a:r>
              <a:t>Use a trace table with current item and total. Resetting total inside the loop loses earlier additions.</a:t>
            </a:r>
          </a:p>
          <a:p xmlns:a="http://schemas.openxmlformats.org/drawingml/2006/main">
            <a:r>
              <a:t/>
            </a:r>
          </a:p>
          <a:p xmlns:a="http://schemas.openxmlformats.org/drawingml/2006/main">
            <a:r>
              <a:t>POINT TO THE DEFINITION</a:t>
            </a:r>
          </a:p>
          <a:p xmlns:a="http://schemas.openxmlformats.org/drawingml/2006/main">
            <a:r>
              <a:t>Accumulator: A running total. Set it to zero before the loop, add inside the loop, and read the final total afterward.</a:t>
            </a:r>
          </a:p>
          <a:p xmlns:a="http://schemas.openxmlformats.org/drawingml/2006/main">
            <a:r>
              <a:t/>
            </a:r>
          </a:p>
          <a:p xmlns:a="http://schemas.openxmlformats.org/drawingml/2006/main">
            <a:r>
              <a:t>NEXT</a:t>
            </a:r>
          </a:p>
          <a:p xmlns:a="http://schemas.openxmlformats.org/drawingml/2006/main">
            <a:r>
              <a:t>A loop repeats an indented block.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loop repeats an indented block.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loop repeats an indented block</a:t>
            </a:r>
          </a:p>
          <a:p xmlns:a="http://schemas.openxmlformats.org/drawingml/2006/main">
            <a:r>
              <a:t/>
            </a:r>
          </a:p>
          <a:p xmlns:a="http://schemas.openxmlformats.org/drawingml/2006/main">
            <a:r>
              <a:t>CONNECT</a:t>
            </a:r>
          </a:p>
          <a:p xmlns:a="http://schemas.openxmlformats.org/drawingml/2006/main">
            <a:r>
              <a:t>Build on Accumulator. Explain why this example is needed before running it.</a:t>
            </a:r>
          </a:p>
          <a:p xmlns:a="http://schemas.openxmlformats.org/drawingml/2006/main">
            <a:r>
              <a:t/>
            </a:r>
          </a:p>
          <a:p xmlns:a="http://schemas.openxmlformats.org/drawingml/2006/main">
            <a:r>
              <a:t>EXPLAIN</a:t>
            </a:r>
          </a:p>
          <a:p xmlns:a="http://schemas.openxmlformats.org/drawingml/2006/main">
            <a:r>
              <a:t>for reading in readings: takes one item at a time.</a:t>
            </a:r>
          </a:p>
          <a:p xmlns:a="http://schemas.openxmlformats.org/drawingml/2006/main">
            <a:r>
              <a:t/>
            </a:r>
          </a:p>
          <a:p xmlns:a="http://schemas.openxmlformats.org/drawingml/2006/main">
            <a:r>
              <a:t>The colon starts the block. Four spaces show which lines repeat.</a:t>
            </a:r>
          </a:p>
          <a:p xmlns:a="http://schemas.openxmlformats.org/drawingml/2006/main">
            <a:r>
              <a:t/>
            </a:r>
          </a:p>
          <a:p xmlns:a="http://schemas.openxmlformats.org/drawingml/2006/main">
            <a:r>
              <a:t>A running total must start at zero before the loop.</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loop repeats an indented block</a:t>
            </a:r>
          </a:p>
          <a:p xmlns:a="http://schemas.openxmlformats.org/drawingml/2006/main">
            <a:r>
              <a:t/>
            </a:r>
          </a:p>
          <a:p xmlns:a="http://schemas.openxmlformats.org/drawingml/2006/main">
            <a:r>
              <a:t>CONNECT</a:t>
            </a:r>
          </a:p>
          <a:p xmlns:a="http://schemas.openxmlformats.org/drawingml/2006/main">
            <a:r>
              <a:t>Build on the preceding slide: Accumulator.</a:t>
            </a:r>
          </a:p>
          <a:p xmlns:a="http://schemas.openxmlformats.org/drawingml/2006/main">
            <a:r>
              <a:t/>
            </a:r>
          </a:p>
          <a:p xmlns:a="http://schemas.openxmlformats.org/drawingml/2006/main">
            <a:r>
              <a:t>LECTURER CUE</a:t>
            </a:r>
          </a:p>
          <a:p xmlns:a="http://schemas.openxmlformats.org/drawingml/2006/main">
            <a:r>
              <a:t>Trace the native loop table that follows. Predict total after each item. An empty list needs a guard before dividing by its length.</a:t>
            </a:r>
          </a:p>
          <a:p xmlns:a="http://schemas.openxmlformats.org/drawingml/2006/main">
            <a:r>
              <a:t/>
            </a:r>
          </a:p>
          <a:p xmlns:a="http://schemas.openxmlformats.org/drawingml/2006/main">
            <a:r>
              <a:t>EXPLAIN IN ORDINARY WORDS</a:t>
            </a:r>
          </a:p>
          <a:p xmlns:a="http://schemas.openxmlformats.org/drawingml/2006/main">
            <a:r>
              <a:t>A loop repeats its indented instructions for each item. A running total must be initialised before the loop and updated inside it.</a:t>
            </a:r>
          </a:p>
          <a:p xmlns:a="http://schemas.openxmlformats.org/drawingml/2006/main">
            <a:r>
              <a:t/>
            </a:r>
          </a:p>
          <a:p xmlns:a="http://schemas.openxmlformats.org/drawingml/2006/main">
            <a:r>
              <a:t>CHECK AND EXPECTED ANSWER</a:t>
            </a:r>
          </a:p>
          <a:p xmlns:a="http://schemas.openxmlformats.org/drawingml/2006/main">
            <a:r>
              <a:t>For values 2,4,6 and total initially 0, what are the successive totals? 2,6,12.</a:t>
            </a:r>
          </a:p>
          <a:p xmlns:a="http://schemas.openxmlformats.org/drawingml/2006/main">
            <a:r>
              <a:t/>
            </a:r>
          </a:p>
          <a:p xmlns:a="http://schemas.openxmlformats.org/drawingml/2006/main">
            <a:r>
              <a:t>IF LEARNERS ARE STUCK</a:t>
            </a:r>
          </a:p>
          <a:p xmlns:a="http://schemas.openxmlformats.org/drawingml/2006/main">
            <a:r>
              <a:t>Use a trace table with current item and total. Resetting total inside the loop loses earlier additions.</a:t>
            </a:r>
          </a:p>
          <a:p xmlns:a="http://schemas.openxmlformats.org/drawingml/2006/main">
            <a:r>
              <a:t/>
            </a:r>
          </a:p>
          <a:p xmlns:a="http://schemas.openxmlformats.org/drawingml/2006/main">
            <a:r>
              <a:t>NEXT</a:t>
            </a:r>
          </a:p>
          <a:p xmlns:a="http://schemas.openxmlformats.org/drawingml/2006/main">
            <a:r>
              <a:t>A mean uses a total and a count.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mean uses a total and a count.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mean uses a total and a count</a:t>
            </a:r>
          </a:p>
          <a:p xmlns:a="http://schemas.openxmlformats.org/drawingml/2006/main">
            <a:r>
              <a:t/>
            </a:r>
          </a:p>
          <a:p xmlns:a="http://schemas.openxmlformats.org/drawingml/2006/main">
            <a:r>
              <a:t>CONNECT</a:t>
            </a:r>
          </a:p>
          <a:p xmlns:a="http://schemas.openxmlformats.org/drawingml/2006/main">
            <a:r>
              <a:t>Build on A loop repeats an indented block. Explain why this example is needed before running it.</a:t>
            </a:r>
          </a:p>
          <a:p xmlns:a="http://schemas.openxmlformats.org/drawingml/2006/main">
            <a:r>
              <a:t/>
            </a:r>
          </a:p>
          <a:p xmlns:a="http://schemas.openxmlformats.org/drawingml/2006/main">
            <a:r>
              <a:t>EXPLAIN</a:t>
            </a:r>
          </a:p>
          <a:p xmlns:a="http://schemas.openxmlformats.org/drawingml/2006/main">
            <a:r>
              <a:t>Start the total at 0. Add 2, then 4, then 6.</a:t>
            </a:r>
          </a:p>
          <a:p xmlns:a="http://schemas.openxmlformats.org/drawingml/2006/main">
            <a:r>
              <a:t/>
            </a:r>
          </a:p>
          <a:p xmlns:a="http://schemas.openxmlformats.org/drawingml/2006/main">
            <a:r>
              <a:t>The final total is 12. The count is 3.</a:t>
            </a:r>
          </a:p>
          <a:p xmlns:a="http://schemas.openxmlformats.org/drawingml/2006/main">
            <a:r>
              <a:t/>
            </a:r>
          </a:p>
          <a:p xmlns:a="http://schemas.openxmlformats.org/drawingml/2006/main">
            <a:r>
              <a:t>12 / 3 gives the mean 4. An empty list needs a separate rule.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mean uses a total and a count</a:t>
            </a:r>
          </a:p>
          <a:p xmlns:a="http://schemas.openxmlformats.org/drawingml/2006/main">
            <a:r>
              <a:t/>
            </a:r>
          </a:p>
          <a:p xmlns:a="http://schemas.openxmlformats.org/drawingml/2006/main">
            <a:r>
              <a:t>CONNECT</a:t>
            </a:r>
          </a:p>
          <a:p xmlns:a="http://schemas.openxmlformats.org/drawingml/2006/main">
            <a:r>
              <a:t>Build on the preceding slide: A loop repeats an indented block.</a:t>
            </a:r>
          </a:p>
          <a:p xmlns:a="http://schemas.openxmlformats.org/drawingml/2006/main">
            <a:r>
              <a:t/>
            </a:r>
          </a:p>
          <a:p xmlns:a="http://schemas.openxmlformats.org/drawingml/2006/main">
            <a:r>
              <a:t>LECTURER CUE</a:t>
            </a:r>
          </a:p>
          <a:p xmlns:a="http://schemas.openxmlformats.org/drawingml/2006/main">
            <a:r>
              <a:t>Make a table with columns reading and total: (2,2), (4,6), (6,12). len(readings) counts three items. 12 / 3 is 4.</a:t>
            </a:r>
          </a:p>
          <a:p xmlns:a="http://schemas.openxmlformats.org/drawingml/2006/main">
            <a:r>
              <a:t/>
            </a:r>
          </a:p>
          <a:p xmlns:a="http://schemas.openxmlformats.org/drawingml/2006/main">
            <a:r>
              <a:t>EXPLAIN IN ORDINARY WORDS</a:t>
            </a:r>
          </a:p>
          <a:p xmlns:a="http://schemas.openxmlformats.org/drawingml/2006/main">
            <a:r>
              <a:t>A combined mean is the combined total divided by the combined count. Averaging group means equally gives each group equal influence regardless of size.</a:t>
            </a:r>
          </a:p>
          <a:p xmlns:a="http://schemas.openxmlformats.org/drawingml/2006/main">
            <a:r>
              <a:t/>
            </a:r>
          </a:p>
          <a:p xmlns:a="http://schemas.openxmlformats.org/drawingml/2006/main">
            <a:r>
              <a:t>CHECK AND EXPECTED ANSWER</a:t>
            </a:r>
          </a:p>
          <a:p xmlns:a="http://schemas.openxmlformats.org/drawingml/2006/main">
            <a:r>
              <a:t>Group A: one value 10; group B: three values 2. Overall mean is 16/4=4, not (10+2)/2=6.</a:t>
            </a:r>
          </a:p>
          <a:p xmlns:a="http://schemas.openxmlformats.org/drawingml/2006/main">
            <a:r>
              <a:t/>
            </a:r>
          </a:p>
          <a:p xmlns:a="http://schemas.openxmlformats.org/drawingml/2006/main">
            <a:r>
              <a:t>IF LEARNERS ARE STUCK</a:t>
            </a:r>
          </a:p>
          <a:p xmlns:a="http://schemas.openxmlformats.org/drawingml/2006/main">
            <a:r>
              <a:t>Recover each group total as mean times count, add totals, then divide by all observations.</a:t>
            </a:r>
          </a:p>
          <a:p xmlns:a="http://schemas.openxmlformats.org/drawingml/2006/main">
            <a:r>
              <a:t/>
            </a:r>
          </a:p>
          <a:p xmlns:a="http://schemas.openxmlformats.org/drawingml/2006/main">
            <a:r>
              <a:t>NEXT</a:t>
            </a:r>
          </a:p>
          <a:p xmlns:a="http://schemas.openxmlformats.org/drawingml/2006/main">
            <a:r>
              <a:t>A loop changes the running total.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loop changes the running total.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loop changes the running total</a:t>
            </a:r>
          </a:p>
          <a:p xmlns:a="http://schemas.openxmlformats.org/drawingml/2006/main">
            <a:r>
              <a:t/>
            </a:r>
          </a:p>
          <a:p xmlns:a="http://schemas.openxmlformats.org/drawingml/2006/main">
            <a:r>
              <a:t>CONNECT</a:t>
            </a:r>
          </a:p>
          <a:p xmlns:a="http://schemas.openxmlformats.org/drawingml/2006/main">
            <a:r>
              <a:t>Build on A mean uses a total and a count. Explain why this example is needed before running it.</a:t>
            </a:r>
          </a:p>
          <a:p xmlns:a="http://schemas.openxmlformats.org/drawingml/2006/main">
            <a:r>
              <a:t/>
            </a:r>
          </a:p>
          <a:p xmlns:a="http://schemas.openxmlformats.org/drawingml/2006/main">
            <a:r>
              <a:t>EXPLAIN</a:t>
            </a:r>
          </a:p>
          <a:p xmlns:a="http://schemas.openxmlformats.org/drawingml/2006/main">
            <a:r>
              <a:t>This illustration uses six separate readings. Next we trace the smaller list [2, 4, 6] using the same running-total rule.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loop changes the running total</a:t>
            </a:r>
          </a:p>
          <a:p xmlns:a="http://schemas.openxmlformats.org/drawingml/2006/main">
            <a:r>
              <a:t/>
            </a:r>
          </a:p>
          <a:p xmlns:a="http://schemas.openxmlformats.org/drawingml/2006/main">
            <a:r>
              <a:t>CONNECT</a:t>
            </a:r>
          </a:p>
          <a:p xmlns:a="http://schemas.openxmlformats.org/drawingml/2006/main">
            <a:r>
              <a:t>Build on the preceding slide: A mean uses a total and a count.</a:t>
            </a:r>
          </a:p>
          <a:p xmlns:a="http://schemas.openxmlformats.org/drawingml/2006/main">
            <a:r>
              <a:t/>
            </a:r>
          </a:p>
          <a:p xmlns:a="http://schemas.openxmlformats.org/drawingml/2006/main">
            <a:r>
              <a:t>LECTURER CUE</a:t>
            </a:r>
          </a:p>
          <a:p xmlns:a="http://schemas.openxmlformats.org/drawingml/2006/main">
            <a:r>
              <a:t>The displayed mean is rounded to two decimals. Keep full precision in calculations. This larger illustration follows the same rule as our smaller 2, 4, 6 example.</a:t>
            </a:r>
          </a:p>
          <a:p xmlns:a="http://schemas.openxmlformats.org/drawingml/2006/main">
            <a:r>
              <a:t>Source: existing course illustration figs/accumulator_trace.png. These are illustrative examples, not this cohort’s assessed results.</a:t>
            </a:r>
          </a:p>
          <a:p xmlns:a="http://schemas.openxmlformats.org/drawingml/2006/main">
            <a:r>
              <a:t/>
            </a:r>
          </a:p>
          <a:p xmlns:a="http://schemas.openxmlformats.org/drawingml/2006/main">
            <a:r>
              <a:t>EXPLAIN IN ORDINARY WORDS</a:t>
            </a:r>
          </a:p>
          <a:p xmlns:a="http://schemas.openxmlformats.org/drawingml/2006/main">
            <a:r>
              <a:t>A loop repeats its indented instructions for each item. A running total must be initialised before the loop and updated inside it.</a:t>
            </a:r>
          </a:p>
          <a:p xmlns:a="http://schemas.openxmlformats.org/drawingml/2006/main">
            <a:r>
              <a:t/>
            </a:r>
          </a:p>
          <a:p xmlns:a="http://schemas.openxmlformats.org/drawingml/2006/main">
            <a:r>
              <a:t>CHECK AND EXPECTED ANSWER</a:t>
            </a:r>
          </a:p>
          <a:p xmlns:a="http://schemas.openxmlformats.org/drawingml/2006/main">
            <a:r>
              <a:t>For values 2,4,6 and total initially 0, what are the successive totals? 2,6,12.</a:t>
            </a:r>
          </a:p>
          <a:p xmlns:a="http://schemas.openxmlformats.org/drawingml/2006/main">
            <a:r>
              <a:t/>
            </a:r>
          </a:p>
          <a:p xmlns:a="http://schemas.openxmlformats.org/drawingml/2006/main">
            <a:r>
              <a:t>IF LEARNERS ARE STUCK</a:t>
            </a:r>
          </a:p>
          <a:p xmlns:a="http://schemas.openxmlformats.org/drawingml/2006/main">
            <a:r>
              <a:t>Use a trace table with current item and total. Resetting total inside the loop loses earlier additions.</a:t>
            </a:r>
          </a:p>
          <a:p xmlns:a="http://schemas.openxmlformats.org/drawingml/2006/main">
            <a:r>
              <a:t/>
            </a:r>
          </a:p>
          <a:p xmlns:a="http://schemas.openxmlformats.org/drawingml/2006/main">
            <a:r>
              <a:t>NEXT</a:t>
            </a:r>
          </a:p>
          <a:p xmlns:a="http://schemas.openxmlformats.org/drawingml/2006/main">
            <a:r>
              <a:t>Tracing the loop.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Tracing the loop.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Tracing the loop</a:t>
            </a:r>
          </a:p>
          <a:p xmlns:a="http://schemas.openxmlformats.org/drawingml/2006/main">
            <a:r>
              <a:t/>
            </a:r>
          </a:p>
          <a:p xmlns:a="http://schemas.openxmlformats.org/drawingml/2006/main">
            <a:r>
              <a:t>CONNECT</a:t>
            </a:r>
          </a:p>
          <a:p xmlns:a="http://schemas.openxmlformats.org/drawingml/2006/main">
            <a:r>
              <a:t>Build on A loop changes the running total. Explain why this example is needed before running it.</a:t>
            </a:r>
          </a:p>
          <a:p xmlns:a="http://schemas.openxmlformats.org/drawingml/2006/main">
            <a:r>
              <a:t/>
            </a:r>
          </a:p>
          <a:p xmlns:a="http://schemas.openxmlformats.org/drawingml/2006/main">
            <a:r>
              <a:t>EXPLAIN</a:t>
            </a:r>
          </a:p>
          <a:p xmlns:a="http://schemas.openxmlformats.org/drawingml/2006/main">
            <a:r>
              <a:t>There are three readings.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Tracing the loop</a:t>
            </a:r>
          </a:p>
          <a:p xmlns:a="http://schemas.openxmlformats.org/drawingml/2006/main">
            <a:r>
              <a:t/>
            </a:r>
          </a:p>
          <a:p xmlns:a="http://schemas.openxmlformats.org/drawingml/2006/main">
            <a:r>
              <a:t>CONNECT</a:t>
            </a:r>
          </a:p>
          <a:p xmlns:a="http://schemas.openxmlformats.org/drawingml/2006/main">
            <a:r>
              <a:t>Build on the preceding slide: A loop changes the running total.</a:t>
            </a:r>
          </a:p>
          <a:p xmlns:a="http://schemas.openxmlformats.org/drawingml/2006/main">
            <a:r>
              <a:t/>
            </a:r>
          </a:p>
          <a:p xmlns:a="http://schemas.openxmlformats.org/drawingml/2006/main">
            <a:r>
              <a:t>LECTURER CUE</a:t>
            </a:r>
          </a:p>
          <a:p xmlns:a="http://schemas.openxmlformats.org/drawingml/2006/main">
            <a:r>
              <a:t>There are three readings. The mean is 12 / 3 = 4. Reset total before repeating the calculation.</a:t>
            </a:r>
          </a:p>
          <a:p xmlns:a="http://schemas.openxmlformats.org/drawingml/2006/main">
            <a:r>
              <a:t/>
            </a:r>
          </a:p>
          <a:p xmlns:a="http://schemas.openxmlformats.org/drawingml/2006/main">
            <a:r>
              <a:t>EXPLAIN IN ORDINARY WORDS</a:t>
            </a:r>
          </a:p>
          <a:p xmlns:a="http://schemas.openxmlformats.org/drawingml/2006/main">
            <a:r>
              <a:t>A loop repeats its indented instructions for each item. A running total must be initialised before the loop and updated inside it.</a:t>
            </a:r>
          </a:p>
          <a:p xmlns:a="http://schemas.openxmlformats.org/drawingml/2006/main">
            <a:r>
              <a:t/>
            </a:r>
          </a:p>
          <a:p xmlns:a="http://schemas.openxmlformats.org/drawingml/2006/main">
            <a:r>
              <a:t>CHECK AND EXPECTED ANSWER</a:t>
            </a:r>
          </a:p>
          <a:p xmlns:a="http://schemas.openxmlformats.org/drawingml/2006/main">
            <a:r>
              <a:t>For values 2,4,6 and total initially 0, what are the successive totals? 2,6,12.</a:t>
            </a:r>
          </a:p>
          <a:p xmlns:a="http://schemas.openxmlformats.org/drawingml/2006/main">
            <a:r>
              <a:t/>
            </a:r>
          </a:p>
          <a:p xmlns:a="http://schemas.openxmlformats.org/drawingml/2006/main">
            <a:r>
              <a:t>IF LEARNERS ARE STUCK</a:t>
            </a:r>
          </a:p>
          <a:p xmlns:a="http://schemas.openxmlformats.org/drawingml/2006/main">
            <a:r>
              <a:t>Use a trace table with current item and total. Resetting total inside the loop loses earlier additions.</a:t>
            </a:r>
          </a:p>
          <a:p xmlns:a="http://schemas.openxmlformats.org/drawingml/2006/main">
            <a:r>
              <a:t/>
            </a:r>
          </a:p>
          <a:p xmlns:a="http://schemas.openxmlformats.org/drawingml/2006/main">
            <a:r>
              <a:t>READ THE VISUAL</a:t>
            </a:r>
          </a:p>
          <a:p xmlns:a="http://schemas.openxmlformats.org/drawingml/2006/main">
            <a:r>
              <a:t>Start with the title and labels. Read one row or mark aloud, including its unit. Let a learner read a second one before discussing the pattern. Do not infer a numerical value from an unlabelled drawing.</a:t>
            </a:r>
          </a:p>
          <a:p xmlns:a="http://schemas.openxmlformats.org/drawingml/2006/main">
            <a:r>
              <a:t/>
            </a:r>
          </a:p>
          <a:p xmlns:a="http://schemas.openxmlformats.org/drawingml/2006/main">
            <a:r>
              <a:t>NEXT</a:t>
            </a:r>
          </a:p>
          <a:p xmlns:a="http://schemas.openxmlformats.org/drawingml/2006/main">
            <a:r>
              <a:t>Worked example.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Worked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Lists loops and records in Python</a:t>
            </a:r>
          </a:p>
          <a:p xmlns:a="http://schemas.openxmlformats.org/drawingml/2006/main">
            <a:r>
              <a:t/>
            </a:r>
          </a:p>
          <a:p xmlns:a="http://schemas.openxmlformats.org/drawingml/2006/main">
            <a:r>
              <a:t>CONNECT</a:t>
            </a:r>
          </a:p>
          <a:p xmlns:a="http://schemas.openxmlformats.org/drawingml/2006/main">
            <a:r>
              <a:t>Build on Tracing the loop.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Worked example</a:t>
            </a:r>
          </a:p>
          <a:p xmlns:a="http://schemas.openxmlformats.org/drawingml/2006/main">
            <a:r>
              <a:t/>
            </a:r>
          </a:p>
          <a:p xmlns:a="http://schemas.openxmlformats.org/drawingml/2006/main">
            <a:r>
              <a:t>CONNECT</a:t>
            </a:r>
          </a:p>
          <a:p xmlns:a="http://schemas.openxmlformats.org/drawingml/2006/main">
            <a:r>
              <a:t>Build on the preceding slide: Tracing the loop.</a:t>
            </a:r>
          </a:p>
          <a:p xmlns:a="http://schemas.openxmlformats.org/drawingml/2006/main">
            <a:r>
              <a:t/>
            </a:r>
          </a:p>
          <a:p xmlns:a="http://schemas.openxmlformats.org/drawingml/2006/main">
            <a:r>
              <a:t>LECTURER CUE</a:t>
            </a:r>
          </a:p>
          <a:p xmlns:a="http://schemas.openxmlformats.org/drawingml/2006/main">
            <a:r>
              <a:t>Draw three boxes labelled 0, 1 and 2 holding 2, 4 and 6. Read the first item aloud, then trace the loop by hand. Make a table with columns reading and total: (2,2), (4,6), (6,12). len(readings) counts three items. 12 / 3 is 4. Before a real CSV, show a two-line text extract and name its header. Open the issued CSV together. Explain csv.DictReader as one dictionary per row. Convert only the numeric column and state what should happen to an invalid value.</a:t>
            </a:r>
          </a:p>
          <a:p xmlns:a="http://schemas.openxmlformats.org/drawingml/2006/main">
            <a:r>
              <a:t/>
            </a:r>
          </a:p>
          <a:p xmlns:a="http://schemas.openxmlformats.org/drawingml/2006/main">
            <a:r>
              <a:t>Complete practice code:</a:t>
            </a:r>
          </a:p>
          <a:p xmlns:a="http://schemas.openxmlformats.org/drawingml/2006/main">
            <a:r>
              <a:t>readings = [2, 4, 6]</a:t>
            </a:r>
          </a:p>
          <a:p xmlns:a="http://schemas.openxmlformats.org/drawingml/2006/main">
            <a:r>
              <a:t>total = 0</a:t>
            </a:r>
          </a:p>
          <a:p xmlns:a="http://schemas.openxmlformats.org/drawingml/2006/main">
            <a:r>
              <a:t>for reading in readings:</a:t>
            </a:r>
          </a:p>
          <a:p xmlns:a="http://schemas.openxmlformats.org/drawingml/2006/main">
            <a:r>
              <a:t>    total = total + reading</a:t>
            </a:r>
          </a:p>
          <a:p xmlns:a="http://schemas.openxmlformats.org/drawingml/2006/main">
            <a:r>
              <a:t>mean = total / len(readings)</a:t>
            </a:r>
          </a:p>
          <a:p xmlns:a="http://schemas.openxmlformats.org/drawingml/2006/main">
            <a:r>
              <a:t>print(mean)</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WALK THROUGH THIS CODE</a:t>
            </a:r>
          </a:p>
          <a:p xmlns:a="http://schemas.openxmlformats.org/drawingml/2006/main">
            <a:r>
              <a:t>for takes the next item. The indented block repeats.</a:t>
            </a:r>
          </a:p>
          <a:p xmlns:a="http://schemas.openxmlformats.org/drawingml/2006/main">
            <a:r>
              <a:t>print displays a value below the cell.</a:t>
            </a:r>
          </a:p>
          <a:p xmlns:a="http://schemas.openxmlformats.org/drawingml/2006/main">
            <a:r>
              <a:t>Square brackets create a list or select an item.</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Expected output.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Expected output.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Lists loops and records results</a:t>
            </a:r>
          </a:p>
          <a:p xmlns:a="http://schemas.openxmlformats.org/drawingml/2006/main">
            <a:r>
              <a:t/>
            </a:r>
          </a:p>
          <a:p xmlns:a="http://schemas.openxmlformats.org/drawingml/2006/main">
            <a:r>
              <a:t>CONNECT</a:t>
            </a:r>
          </a:p>
          <a:p xmlns:a="http://schemas.openxmlformats.org/drawingml/2006/main">
            <a:r>
              <a:t>Build on Lists loops and records in Python. Explain why this example is needed before running it.</a:t>
            </a:r>
          </a:p>
          <a:p xmlns:a="http://schemas.openxmlformats.org/drawingml/2006/main">
            <a:r>
              <a:t/>
            </a:r>
          </a:p>
          <a:p xmlns:a="http://schemas.openxmlformats.org/drawingml/2006/main">
            <a:r>
              <a:t>EXPLAIN</a:t>
            </a:r>
          </a:p>
          <a:p xmlns:a="http://schemas.openxmlformats.org/drawingml/2006/main">
            <a:r>
              <a:t>4.0</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Expected output</a:t>
            </a:r>
          </a:p>
          <a:p xmlns:a="http://schemas.openxmlformats.org/drawingml/2006/main">
            <a:r>
              <a:t/>
            </a:r>
          </a:p>
          <a:p xmlns:a="http://schemas.openxmlformats.org/drawingml/2006/main">
            <a:r>
              <a:t>CONNECT</a:t>
            </a:r>
          </a:p>
          <a:p xmlns:a="http://schemas.openxmlformats.org/drawingml/2006/main">
            <a:r>
              <a:t>Build on the preceding slide: Worked example.</a:t>
            </a:r>
          </a:p>
          <a:p xmlns:a="http://schemas.openxmlformats.org/drawingml/2006/main">
            <a:r>
              <a:t/>
            </a:r>
          </a:p>
          <a:p xmlns:a="http://schemas.openxmlformats.org/drawingml/2006/main">
            <a:r>
              <a:t>LECTURER CUE</a:t>
            </a:r>
          </a:p>
          <a:p xmlns:a="http://schemas.openxmlformats.org/drawingml/2006/main">
            <a:r>
              <a:t>Compare the actual output character by character with this practice result. If it differs, read the first error and check the input, units, names and execution order. Do not copy this practice output into a graded answer.</a:t>
            </a:r>
          </a:p>
          <a:p xmlns:a="http://schemas.openxmlformats.org/drawingml/2006/main">
            <a:r>
              <a:t/>
            </a:r>
          </a:p>
          <a:p xmlns:a="http://schemas.openxmlformats.org/drawingml/2006/main">
            <a:r>
              <a:t>NEXT</a:t>
            </a:r>
          </a:p>
          <a:p xmlns:a="http://schemas.openxmlformats.org/drawingml/2006/main">
            <a:r>
              <a:t>Dictionary.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Built-in summaries of a list.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Built-in summaries of a list</a:t>
            </a:r>
          </a:p>
          <a:p xmlns:a="http://schemas.openxmlformats.org/drawingml/2006/main">
            <a:r>
              <a:t/>
            </a:r>
          </a:p>
          <a:p xmlns:a="http://schemas.openxmlformats.org/drawingml/2006/main">
            <a:r>
              <a:t>CONNECT</a:t>
            </a:r>
          </a:p>
          <a:p xmlns:a="http://schemas.openxmlformats.org/drawingml/2006/main">
            <a:r>
              <a:t>Build on Lists loops and records results. Explain why this example is needed before running it.</a:t>
            </a:r>
          </a:p>
          <a:p xmlns:a="http://schemas.openxmlformats.org/drawingml/2006/main">
            <a:r>
              <a:t/>
            </a:r>
          </a:p>
          <a:p xmlns:a="http://schemas.openxmlformats.org/drawingml/2006/main">
            <a:r>
              <a:t>EXPLAIN</a:t>
            </a:r>
          </a:p>
          <a:p xmlns:a="http://schemas.openxmlformats.org/drawingml/2006/main">
            <a:r>
              <a:t>Output: 12, 3, 2, 6. sum totals; len counts; min and max select the smallest and largest.</a:t>
            </a:r>
          </a:p>
          <a:p xmlns:a="http://schemas.openxmlformats.org/drawingml/2006/main">
            <a:r>
              <a:t/>
            </a:r>
          </a:p>
          <a:p xmlns:a="http://schemas.openxmlformats.org/drawingml/2006/main">
            <a:r>
              <a:t>LECTURER DETAIL</a:t>
            </a:r>
          </a:p>
          <a:p xmlns:a="http://schemas.openxmlformats.org/drawingml/2006/main">
            <a:r>
              <a:t>Output: 12, 3, 2, 6. sum totals; len counts; min and max select the smallest and largest.</a:t>
            </a:r>
          </a:p>
          <a:p xmlns:a="http://schemas.openxmlformats.org/drawingml/2006/main">
            <a:r>
              <a:t/>
            </a:r>
          </a:p>
          <a:p xmlns:a="http://schemas.openxmlformats.org/drawingml/2006/main">
            <a:r>
              <a:t>readings = [2, 4, 6]</a:t>
            </a:r>
          </a:p>
          <a:p xmlns:a="http://schemas.openxmlformats.org/drawingml/2006/main">
            <a:r>
              <a:t>print(sum(readings))</a:t>
            </a:r>
          </a:p>
          <a:p xmlns:a="http://schemas.openxmlformats.org/drawingml/2006/main">
            <a:r>
              <a:t>print(len(readings))</a:t>
            </a:r>
          </a:p>
          <a:p xmlns:a="http://schemas.openxmlformats.org/drawingml/2006/main">
            <a:r>
              <a:t>print(min(readings))</a:t>
            </a:r>
          </a:p>
          <a:p xmlns:a="http://schemas.openxmlformats.org/drawingml/2006/main">
            <a:r>
              <a:t>print(max(readings))</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dictionary is a record with named fields.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dictionary is a record with named fields</a:t>
            </a:r>
          </a:p>
          <a:p xmlns:a="http://schemas.openxmlformats.org/drawingml/2006/main">
            <a:r>
              <a:t/>
            </a:r>
          </a:p>
          <a:p xmlns:a="http://schemas.openxmlformats.org/drawingml/2006/main">
            <a:r>
              <a:t>CONNECT</a:t>
            </a:r>
          </a:p>
          <a:p xmlns:a="http://schemas.openxmlformats.org/drawingml/2006/main">
            <a:r>
              <a:t>Build on Built-in summaries of a list. Explain why this example is needed before running it.</a:t>
            </a:r>
          </a:p>
          <a:p xmlns:a="http://schemas.openxmlformats.org/drawingml/2006/main">
            <a:r>
              <a:t/>
            </a:r>
          </a:p>
          <a:p xmlns:a="http://schemas.openxmlformats.org/drawingml/2006/main">
            <a:r>
              <a:t>EXPLAIN</a:t>
            </a:r>
          </a:p>
          <a:p xmlns:a="http://schemas.openxmlformats.org/drawingml/2006/main">
            <a:r>
              <a:t>record = {"unit": "A", "reading": 4} stores two key–value pairs. Keys name fields; values hold the information.</a:t>
            </a:r>
          </a:p>
          <a:p xmlns:a="http://schemas.openxmlformats.org/drawingml/2006/main">
            <a:r>
              <a:t/>
            </a:r>
          </a:p>
          <a:p xmlns:a="http://schemas.openxmlformats.org/drawingml/2006/main">
            <a:r>
              <a:t>Braces enclose the dictionary. A colon separates each key from its value and a comma separates pairs. Each key is unique.</a:t>
            </a:r>
          </a:p>
          <a:p xmlns:a="http://schemas.openxmlformats.org/drawingml/2006/main">
            <a:r>
              <a:t/>
            </a:r>
          </a:p>
          <a:p xmlns:a="http://schemas.openxmlformats.org/drawingml/2006/main">
            <a:r>
              <a:t>record["reading"] returns 4. Unlike a list position, "reading" names the field we want.</a:t>
            </a:r>
          </a:p>
          <a:p xmlns:a="http://schemas.openxmlformats.org/drawingml/2006/main">
            <a:r>
              <a:t/>
            </a:r>
          </a:p>
          <a:p xmlns:a="http://schemas.openxmlformats.org/drawingml/2006/main">
            <a:r>
              <a:t>LECTURER DETAIL</a:t>
            </a:r>
          </a:p>
          <a:p xmlns:a="http://schemas.openxmlformats.org/drawingml/2006/main">
            <a:r>
              <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Reading and updating a dictionary.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Reading and updating a dictionary</a:t>
            </a:r>
          </a:p>
          <a:p xmlns:a="http://schemas.openxmlformats.org/drawingml/2006/main">
            <a:r>
              <a:t/>
            </a:r>
          </a:p>
          <a:p xmlns:a="http://schemas.openxmlformats.org/drawingml/2006/main">
            <a:r>
              <a:t>CONNECT</a:t>
            </a:r>
          </a:p>
          <a:p xmlns:a="http://schemas.openxmlformats.org/drawingml/2006/main">
            <a:r>
              <a:t>Build on A dictionary is a record with named fields. Explain why this example is needed before running it.</a:t>
            </a:r>
          </a:p>
          <a:p xmlns:a="http://schemas.openxmlformats.org/drawingml/2006/main">
            <a:r>
              <a:t/>
            </a:r>
          </a:p>
          <a:p xmlns:a="http://schemas.openxmlformats.org/drawingml/2006/main">
            <a:r>
              <a:t>EXPLAIN</a:t>
            </a:r>
          </a:p>
          <a:p xmlns:a="http://schemas.openxmlformats.org/drawingml/2006/main">
            <a:r>
              <a:t>Output: 4, then 6, then 0. get uses the fallback only when that key is absent.</a:t>
            </a:r>
          </a:p>
          <a:p xmlns:a="http://schemas.openxmlformats.org/drawingml/2006/main">
            <a:r>
              <a:t/>
            </a:r>
          </a:p>
          <a:p xmlns:a="http://schemas.openxmlformats.org/drawingml/2006/main">
            <a:r>
              <a:t>LECTURER DETAIL</a:t>
            </a:r>
          </a:p>
          <a:p xmlns:a="http://schemas.openxmlformats.org/drawingml/2006/main">
            <a:r>
              <a:t>Output: 4, then 6, then 0. get uses the fallback only when that key is absent.</a:t>
            </a:r>
          </a:p>
          <a:p xmlns:a="http://schemas.openxmlformats.org/drawingml/2006/main">
            <a:r>
              <a:t/>
            </a:r>
          </a:p>
          <a:p xmlns:a="http://schemas.openxmlformats.org/drawingml/2006/main">
            <a:r>
              <a:t>record = {"unit": "A", "reading": 4}</a:t>
            </a:r>
          </a:p>
          <a:p xmlns:a="http://schemas.openxmlformats.org/drawingml/2006/main">
            <a:r>
              <a:t>print(record["reading"])</a:t>
            </a:r>
          </a:p>
          <a:p xmlns:a="http://schemas.openxmlformats.org/drawingml/2006/main">
            <a:r>
              <a:t>record["reading"] = 6</a:t>
            </a:r>
          </a:p>
          <a:p xmlns:a="http://schemas.openxmlformats.org/drawingml/2006/main">
            <a:r>
              <a:t>print(record["reading"])</a:t>
            </a:r>
          </a:p>
          <a:p xmlns:a="http://schemas.openxmlformats.org/drawingml/2006/main">
            <a:r>
              <a:t>print(record.get("missing", 0))</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Tuples and unpacking.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Tuples and unpacking</a:t>
            </a:r>
          </a:p>
          <a:p xmlns:a="http://schemas.openxmlformats.org/drawingml/2006/main">
            <a:r>
              <a:t/>
            </a:r>
          </a:p>
          <a:p xmlns:a="http://schemas.openxmlformats.org/drawingml/2006/main">
            <a:r>
              <a:t>CONNECT</a:t>
            </a:r>
          </a:p>
          <a:p xmlns:a="http://schemas.openxmlformats.org/drawingml/2006/main">
            <a:r>
              <a:t>Build on Reading and updating a dictionary. Explain why this example is needed before running it.</a:t>
            </a:r>
          </a:p>
          <a:p xmlns:a="http://schemas.openxmlformats.org/drawingml/2006/main">
            <a:r>
              <a:t/>
            </a:r>
          </a:p>
          <a:p xmlns:a="http://schemas.openxmlformats.org/drawingml/2006/main">
            <a:r>
              <a:t>EXPLAIN</a:t>
            </a:r>
          </a:p>
          <a:p xmlns:a="http://schemas.openxmlformats.org/drawingml/2006/main">
            <a:r>
              <a:t>A tuple stores items in order. point = (2, 3) stores two coordinates; point[0] is 2. You cannot reassign point[0].</a:t>
            </a:r>
          </a:p>
          <a:p xmlns:a="http://schemas.openxmlformats.org/drawingml/2006/main">
            <a:r>
              <a:t/>
            </a:r>
          </a:p>
          <a:p xmlns:a="http://schemas.openxmlformats.org/drawingml/2006/main">
            <a:r>
              <a:t>x, y = point gives the first item to x and the second to y. This is unpacking; the number of names must match the number of items.</a:t>
            </a:r>
          </a:p>
          <a:p xmlns:a="http://schemas.openxmlformats.org/drawingml/2006/main">
            <a:r>
              <a:t/>
            </a:r>
          </a:p>
          <a:p xmlns:a="http://schemas.openxmlformats.org/drawingml/2006/main">
            <a:r>
              <a:t>A tuple prevents replacing its positions. It does not freeze the contents of a mutable object stored inside it.</a:t>
            </a:r>
          </a:p>
          <a:p xmlns:a="http://schemas.openxmlformats.org/drawingml/2006/main">
            <a:r>
              <a:t/>
            </a:r>
          </a:p>
          <a:p xmlns:a="http://schemas.openxmlformats.org/drawingml/2006/main">
            <a:r>
              <a:t>LECTURER DETAIL</a:t>
            </a:r>
          </a:p>
          <a:p xmlns:a="http://schemas.openxmlformats.org/drawingml/2006/main">
            <a:r>
              <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Unpacking a pair.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Unpacking a pair</a:t>
            </a:r>
          </a:p>
          <a:p xmlns:a="http://schemas.openxmlformats.org/drawingml/2006/main">
            <a:r>
              <a:t/>
            </a:r>
          </a:p>
          <a:p xmlns:a="http://schemas.openxmlformats.org/drawingml/2006/main">
            <a:r>
              <a:t>CONNECT</a:t>
            </a:r>
          </a:p>
          <a:p xmlns:a="http://schemas.openxmlformats.org/drawingml/2006/main">
            <a:r>
              <a:t>Build on Tuples and unpacking. Explain why this example is needed before running it.</a:t>
            </a:r>
          </a:p>
          <a:p xmlns:a="http://schemas.openxmlformats.org/drawingml/2006/main">
            <a:r>
              <a:t/>
            </a:r>
          </a:p>
          <a:p xmlns:a="http://schemas.openxmlformats.org/drawingml/2006/main">
            <a:r>
              <a:t>EXPLAIN</a:t>
            </a:r>
          </a:p>
          <a:p xmlns:a="http://schemas.openxmlformats.org/drawingml/2006/main">
            <a:r>
              <a:t>Output: 2, then 3.</a:t>
            </a:r>
          </a:p>
          <a:p xmlns:a="http://schemas.openxmlformats.org/drawingml/2006/main">
            <a:r>
              <a:t/>
            </a:r>
          </a:p>
          <a:p xmlns:a="http://schemas.openxmlformats.org/drawingml/2006/main">
            <a:r>
              <a:t>LECTURER DETAIL</a:t>
            </a:r>
          </a:p>
          <a:p xmlns:a="http://schemas.openxmlformats.org/drawingml/2006/main">
            <a:r>
              <a:t>Output: 2, then 3.</a:t>
            </a:r>
          </a:p>
          <a:p xmlns:a="http://schemas.openxmlformats.org/drawingml/2006/main">
            <a:r>
              <a:t/>
            </a:r>
          </a:p>
          <a:p xmlns:a="http://schemas.openxmlformats.org/drawingml/2006/main">
            <a:r>
              <a:t>point = (2, 3)</a:t>
            </a:r>
          </a:p>
          <a:p xmlns:a="http://schemas.openxmlformats.org/drawingml/2006/main">
            <a:r>
              <a:t>x, y = point</a:t>
            </a:r>
          </a:p>
          <a:p xmlns:a="http://schemas.openxmlformats.org/drawingml/2006/main">
            <a:r>
              <a:t>print(x)</a:t>
            </a:r>
          </a:p>
          <a:p xmlns:a="http://schemas.openxmlformats.org/drawingml/2006/main">
            <a:r>
              <a:t>print(y)</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set remembers distinct items.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set remembers distinct items</a:t>
            </a:r>
          </a:p>
          <a:p xmlns:a="http://schemas.openxmlformats.org/drawingml/2006/main">
            <a:r>
              <a:t/>
            </a:r>
          </a:p>
          <a:p xmlns:a="http://schemas.openxmlformats.org/drawingml/2006/main">
            <a:r>
              <a:t>CONNECT</a:t>
            </a:r>
          </a:p>
          <a:p xmlns:a="http://schemas.openxmlformats.org/drawingml/2006/main">
            <a:r>
              <a:t>Build on Unpacking a pair. Explain why this example is needed before running it.</a:t>
            </a:r>
          </a:p>
          <a:p xmlns:a="http://schemas.openxmlformats.org/drawingml/2006/main">
            <a:r>
              <a:t/>
            </a:r>
          </a:p>
          <a:p xmlns:a="http://schemas.openxmlformats.org/drawingml/2006/main">
            <a:r>
              <a:t>EXPLAIN</a:t>
            </a:r>
          </a:p>
          <a:p xmlns:a="http://schemas.openxmlformats.org/drawingml/2006/main">
            <a:r>
              <a:t>A set is useful when the question is “Have we seen this ID?” It keeps one instance of each distinct item.</a:t>
            </a:r>
          </a:p>
          <a:p xmlns:a="http://schemas.openxmlformats.org/drawingml/2006/main">
            <a:r>
              <a:t/>
            </a:r>
          </a:p>
          <a:p xmlns:a="http://schemas.openxmlformats.org/drawingml/2006/main">
            <a:r>
              <a:t>seen = set() creates an empty set. seen.add("A") adds an item. "A" in seen asks whether it is present.</a:t>
            </a:r>
          </a:p>
          <a:p xmlns:a="http://schemas.openxmlformats.org/drawingml/2006/main">
            <a:r>
              <a:t/>
            </a:r>
          </a:p>
          <a:p xmlns:a="http://schemas.openxmlformats.org/drawingml/2006/main">
            <a:r>
              <a:t>Do not use a set when position or repeated readings matter. Sets cannot be indexed. {} creates an empty dictionary, not an empty set.</a:t>
            </a:r>
          </a:p>
          <a:p xmlns:a="http://schemas.openxmlformats.org/drawingml/2006/main">
            <a:r>
              <a:t/>
            </a:r>
          </a:p>
          <a:p xmlns:a="http://schemas.openxmlformats.org/drawingml/2006/main">
            <a:r>
              <a:t>LECTURER DETAIL</a:t>
            </a:r>
          </a:p>
          <a:p xmlns:a="http://schemas.openxmlformats.org/drawingml/2006/main">
            <a:r>
              <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Set membership and repeated IDs.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Set membership and repeated IDs</a:t>
            </a:r>
          </a:p>
          <a:p xmlns:a="http://schemas.openxmlformats.org/drawingml/2006/main">
            <a:r>
              <a:t/>
            </a:r>
          </a:p>
          <a:p xmlns:a="http://schemas.openxmlformats.org/drawingml/2006/main">
            <a:r>
              <a:t>CONNECT</a:t>
            </a:r>
          </a:p>
          <a:p xmlns:a="http://schemas.openxmlformats.org/drawingml/2006/main">
            <a:r>
              <a:t>Build on A set remembers distinct items. Explain why this example is needed before running it.</a:t>
            </a:r>
          </a:p>
          <a:p xmlns:a="http://schemas.openxmlformats.org/drawingml/2006/main">
            <a:r>
              <a:t/>
            </a:r>
          </a:p>
          <a:p xmlns:a="http://schemas.openxmlformats.org/drawingml/2006/main">
            <a:r>
              <a:t>EXPLAIN</a:t>
            </a:r>
          </a:p>
          <a:p xmlns:a="http://schemas.openxmlformats.org/drawingml/2006/main">
            <a:r>
              <a:t>Output: 1, True, False. Adding the same ID twice keeps one distinct ID.</a:t>
            </a:r>
          </a:p>
          <a:p xmlns:a="http://schemas.openxmlformats.org/drawingml/2006/main">
            <a:r>
              <a:t/>
            </a:r>
          </a:p>
          <a:p xmlns:a="http://schemas.openxmlformats.org/drawingml/2006/main">
            <a:r>
              <a:t>LECTURER DETAIL</a:t>
            </a:r>
          </a:p>
          <a:p xmlns:a="http://schemas.openxmlformats.org/drawingml/2006/main">
            <a:r>
              <a:t>Output: 1, True, False. Adding the same ID twice keeps one distinct ID.</a:t>
            </a:r>
          </a:p>
          <a:p xmlns:a="http://schemas.openxmlformats.org/drawingml/2006/main">
            <a:r>
              <a:t/>
            </a:r>
          </a:p>
          <a:p xmlns:a="http://schemas.openxmlformats.org/drawingml/2006/main">
            <a:r>
              <a:t>seen = set()</a:t>
            </a:r>
          </a:p>
          <a:p xmlns:a="http://schemas.openxmlformats.org/drawingml/2006/main">
            <a:r>
              <a:t>seen.add("A")</a:t>
            </a:r>
          </a:p>
          <a:p xmlns:a="http://schemas.openxmlformats.org/drawingml/2006/main">
            <a:r>
              <a:t>seen.add("A")</a:t>
            </a:r>
          </a:p>
          <a:p xmlns:a="http://schemas.openxmlformats.org/drawingml/2006/main">
            <a:r>
              <a:t>print(len(seen))</a:t>
            </a:r>
          </a:p>
          <a:p xmlns:a="http://schemas.openxmlformats.org/drawingml/2006/main">
            <a:r>
              <a:t>print("A" in seen)</a:t>
            </a:r>
          </a:p>
          <a:p xmlns:a="http://schemas.openxmlformats.org/drawingml/2006/main">
            <a:r>
              <a:t>print("B" in seen)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How the four collections differ.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How the four collections differ</a:t>
            </a:r>
          </a:p>
          <a:p xmlns:a="http://schemas.openxmlformats.org/drawingml/2006/main">
            <a:r>
              <a:t/>
            </a:r>
          </a:p>
          <a:p xmlns:a="http://schemas.openxmlformats.org/drawingml/2006/main">
            <a:r>
              <a:t>CONNECT</a:t>
            </a:r>
          </a:p>
          <a:p xmlns:a="http://schemas.openxmlformats.org/drawingml/2006/main">
            <a:r>
              <a:t>Build on Set membership and repeated IDs. Explain why this example is needed before running it.</a:t>
            </a:r>
          </a:p>
          <a:p xmlns:a="http://schemas.openxmlformats.org/drawingml/2006/main">
            <a:r>
              <a:t/>
            </a:r>
          </a:p>
          <a:p xmlns:a="http://schemas.openxmlformats.org/drawingml/2006/main">
            <a:r>
              <a:t>EXPLAIN</a:t>
            </a:r>
          </a:p>
          <a:p xmlns:a="http://schemas.openxmlformats.org/drawingml/2006/main">
            <a:r>
              <a:t>Choose by the question: ordered readings, named fields, fixed positions, or distinct IDs.</a:t>
            </a:r>
          </a:p>
          <a:p xmlns:a="http://schemas.openxmlformats.org/drawingml/2006/main">
            <a:r>
              <a:t/>
            </a:r>
          </a:p>
          <a:p xmlns:a="http://schemas.openxmlformats.org/drawingml/2006/main">
            <a:r>
              <a:t>LECTURER DETAIL</a:t>
            </a:r>
          </a:p>
          <a:p xmlns:a="http://schemas.openxmlformats.org/drawingml/2006/main">
            <a:r>
              <a:t>Choose by the question: ordered readings, named fields, fixed positions, or distinct IDs.</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Dictionary items and two loop names.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Dictionary items and two loop names</a:t>
            </a:r>
          </a:p>
          <a:p xmlns:a="http://schemas.openxmlformats.org/drawingml/2006/main">
            <a:r>
              <a:t/>
            </a:r>
          </a:p>
          <a:p xmlns:a="http://schemas.openxmlformats.org/drawingml/2006/main">
            <a:r>
              <a:t>CONNECT</a:t>
            </a:r>
          </a:p>
          <a:p xmlns:a="http://schemas.openxmlformats.org/drawingml/2006/main">
            <a:r>
              <a:t>Build on How the four collections differ. Explain why this example is needed before running it.</a:t>
            </a:r>
          </a:p>
          <a:p xmlns:a="http://schemas.openxmlformats.org/drawingml/2006/main">
            <a:r>
              <a:t/>
            </a:r>
          </a:p>
          <a:p xmlns:a="http://schemas.openxmlformats.org/drawingml/2006/main">
            <a:r>
              <a:t>EXPLAIN</a:t>
            </a:r>
          </a:p>
          <a:p xmlns:a="http://schemas.openxmlformats.org/drawingml/2006/main">
            <a:r>
              <a:t>record.items() provides each key with its value as a pair. The loop unpacks each pair into the names key and value.</a:t>
            </a:r>
          </a:p>
          <a:p xmlns:a="http://schemas.openxmlformats.org/drawingml/2006/main">
            <a:r>
              <a:t/>
            </a:r>
          </a:p>
          <a:p xmlns:a="http://schemas.openxmlformats.org/drawingml/2006/main">
            <a:r>
              <a:t>for key, value in record.items(): repeats the indented body for each field. Use .items() when both the label and its value are needed.</a:t>
            </a:r>
          </a:p>
          <a:p xmlns:a="http://schemas.openxmlformats.org/drawingml/2006/main">
            <a:r>
              <a:t/>
            </a:r>
          </a:p>
          <a:p xmlns:a="http://schemas.openxmlformats.org/drawingml/2006/main">
            <a:r>
              <a:t>LECTURER DETAIL</a:t>
            </a:r>
          </a:p>
          <a:p xmlns:a="http://schemas.openxmlformats.org/drawingml/2006/main">
            <a:r>
              <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Looping through named fields.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Looping through named fields</a:t>
            </a:r>
          </a:p>
          <a:p xmlns:a="http://schemas.openxmlformats.org/drawingml/2006/main">
            <a:r>
              <a:t/>
            </a:r>
          </a:p>
          <a:p xmlns:a="http://schemas.openxmlformats.org/drawingml/2006/main">
            <a:r>
              <a:t>CONNECT</a:t>
            </a:r>
          </a:p>
          <a:p xmlns:a="http://schemas.openxmlformats.org/drawingml/2006/main">
            <a:r>
              <a:t>Build on Dictionary items and two loop names. Explain why this example is needed before running it.</a:t>
            </a:r>
          </a:p>
          <a:p xmlns:a="http://schemas.openxmlformats.org/drawingml/2006/main">
            <a:r>
              <a:t/>
            </a:r>
          </a:p>
          <a:p xmlns:a="http://schemas.openxmlformats.org/drawingml/2006/main">
            <a:r>
              <a:t>EXPLAIN</a:t>
            </a:r>
          </a:p>
          <a:p xmlns:a="http://schemas.openxmlformats.org/drawingml/2006/main">
            <a:r>
              <a:t>Output: unit A, then reading 6. The dictionary preserves insertion order.</a:t>
            </a:r>
          </a:p>
          <a:p xmlns:a="http://schemas.openxmlformats.org/drawingml/2006/main">
            <a:r>
              <a:t/>
            </a:r>
          </a:p>
          <a:p xmlns:a="http://schemas.openxmlformats.org/drawingml/2006/main">
            <a:r>
              <a:t>LECTURER DETAIL</a:t>
            </a:r>
          </a:p>
          <a:p xmlns:a="http://schemas.openxmlformats.org/drawingml/2006/main">
            <a:r>
              <a:t>Output: unit A, then reading 6. The dictionary preserves insertion order.</a:t>
            </a:r>
          </a:p>
          <a:p xmlns:a="http://schemas.openxmlformats.org/drawingml/2006/main">
            <a:r>
              <a:t/>
            </a:r>
          </a:p>
          <a:p xmlns:a="http://schemas.openxmlformats.org/drawingml/2006/main">
            <a:r>
              <a:t>record = {"unit": "A", "reading": 6}</a:t>
            </a:r>
          </a:p>
          <a:p xmlns:a="http://schemas.openxmlformats.org/drawingml/2006/main">
            <a:r>
              <a:t>for key, value in record.items():</a:t>
            </a:r>
          </a:p>
          <a:p xmlns:a="http://schemas.openxmlformats.org/drawingml/2006/main">
            <a:r>
              <a:t>    print(key, value)</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position and a key find different things.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position and a key find different things</a:t>
            </a:r>
          </a:p>
          <a:p xmlns:a="http://schemas.openxmlformats.org/drawingml/2006/main">
            <a:r>
              <a:t/>
            </a:r>
          </a:p>
          <a:p xmlns:a="http://schemas.openxmlformats.org/drawingml/2006/main">
            <a:r>
              <a:t>CONNECT</a:t>
            </a:r>
          </a:p>
          <a:p xmlns:a="http://schemas.openxmlformats.org/drawingml/2006/main">
            <a:r>
              <a:t>Build on Looping through named fields. Explain why this example is needed before running it.</a:t>
            </a:r>
          </a:p>
          <a:p xmlns:a="http://schemas.openxmlformats.org/drawingml/2006/main">
            <a:r>
              <a:t/>
            </a:r>
          </a:p>
          <a:p xmlns:a="http://schemas.openxmlformats.org/drawingml/2006/main">
            <a:r>
              <a:t>EXPLAIN</a:t>
            </a:r>
          </a:p>
          <a:p xmlns:a="http://schemas.openxmlformats.org/drawingml/2006/main">
            <a:r>
              <a:t>Both examples return 4. Explain how each lookup finds it.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position and a key find different things</a:t>
            </a:r>
          </a:p>
          <a:p xmlns:a="http://schemas.openxmlformats.org/drawingml/2006/main">
            <a:r>
              <a:t/>
            </a:r>
          </a:p>
          <a:p xmlns:a="http://schemas.openxmlformats.org/drawingml/2006/main">
            <a:r>
              <a:t>CONNECT</a:t>
            </a:r>
          </a:p>
          <a:p xmlns:a="http://schemas.openxmlformats.org/drawingml/2006/main">
            <a:r>
              <a:t>Build on the preceding slide: Dictionary lookups and list slices.</a:t>
            </a:r>
          </a:p>
          <a:p xmlns:a="http://schemas.openxmlformats.org/drawingml/2006/main">
            <a:r>
              <a:t/>
            </a:r>
          </a:p>
          <a:p xmlns:a="http://schemas.openxmlformats.org/drawingml/2006/main">
            <a:r>
              <a:t>LECTURER CUE</a:t>
            </a:r>
          </a:p>
          <a:p xmlns:a="http://schemas.openxmlformats.org/drawingml/2006/main">
            <a:r>
              <a:t>Ask students to describe what they see before introducing terminology. Generated conceptual teaching illustration.  Source: figs/experiential/ASSET_SOURCES.md.</a:t>
            </a:r>
          </a:p>
          <a:p xmlns:a="http://schemas.openxmlformats.org/drawingml/2006/main">
            <a:r>
              <a:t/>
            </a:r>
          </a:p>
          <a:p xmlns:a="http://schemas.openxmlformats.org/drawingml/2006/main">
            <a:r>
              <a:t>EXPLAIN IN ORDINARY WORDS</a:t>
            </a:r>
          </a:p>
          <a:p xmlns:a="http://schemas.openxmlformats.org/drawingml/2006/main">
            <a:r>
              <a:t>A function is a named set of instructions. def defines it; a call runs it with inputs. Parameters are input names, arguments are supplied values, and return sends the result back.</a:t>
            </a:r>
          </a:p>
          <a:p xmlns:a="http://schemas.openxmlformats.org/drawingml/2006/main">
            <a:r>
              <a:t/>
            </a:r>
          </a:p>
          <a:p xmlns:a="http://schemas.openxmlformats.org/drawingml/2006/main">
            <a:r>
              <a:t>CHECK AND EXPECTED ANSWER</a:t>
            </a:r>
          </a:p>
          <a:p xmlns:a="http://schemas.openxmlformats.org/drawingml/2006/main">
            <a:r>
              <a:t>Does print(8) return the number 8 to the caller? No; it displays 8 and returns None. A function needing a numeric result should return it.</a:t>
            </a:r>
          </a:p>
          <a:p xmlns:a="http://schemas.openxmlformats.org/drawingml/2006/main">
            <a:r>
              <a:t/>
            </a:r>
          </a:p>
          <a:p xmlns:a="http://schemas.openxmlformats.org/drawingml/2006/main">
            <a:r>
              <a:t>IF LEARNERS ARE STUCK</a:t>
            </a:r>
          </a:p>
          <a:p xmlns:a="http://schemas.openxmlformats.org/drawingml/2006/main">
            <a:r>
              <a:t>Trace one call: bind input names, run the indented body, reach return, then put the returned result back into the calling expression.</a:t>
            </a:r>
          </a:p>
          <a:p xmlns:a="http://schemas.openxmlformats.org/drawingml/2006/main">
            <a:r>
              <a:t/>
            </a:r>
          </a:p>
          <a:p xmlns:a="http://schemas.openxmlformats.org/drawingml/2006/main">
            <a:r>
              <a:t>NEXT</a:t>
            </a:r>
          </a:p>
          <a:p xmlns:a="http://schemas.openxmlformats.org/drawingml/2006/main">
            <a:r>
              <a:t>A dictionary gives each value a key.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CSV and header.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CSV and header</a:t>
            </a:r>
          </a:p>
          <a:p xmlns:a="http://schemas.openxmlformats.org/drawingml/2006/main">
            <a:r>
              <a:t/>
            </a:r>
          </a:p>
          <a:p xmlns:a="http://schemas.openxmlformats.org/drawingml/2006/main">
            <a:r>
              <a:t>CONNECT</a:t>
            </a:r>
          </a:p>
          <a:p xmlns:a="http://schemas.openxmlformats.org/drawingml/2006/main">
            <a:r>
              <a:t>Build on A position and a key find different things. Explain why this example is needed before running it.</a:t>
            </a:r>
          </a:p>
          <a:p xmlns:a="http://schemas.openxmlformats.org/drawingml/2006/main">
            <a:r>
              <a:t/>
            </a:r>
          </a:p>
          <a:p xmlns:a="http://schemas.openxmlformats.org/drawingml/2006/main">
            <a:r>
              <a:t>EXPLAIN</a:t>
            </a:r>
          </a:p>
          <a:p xmlns:a="http://schemas.openxmlformats.org/drawingml/2006/main">
            <a:r>
              <a:t>CSV and header: CSV means comma-separated values. One line usually represents one record; a header names the columns. CSV numbers arrive as text and may need float conversion.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CSV and header</a:t>
            </a:r>
          </a:p>
          <a:p xmlns:a="http://schemas.openxmlformats.org/drawingml/2006/main">
            <a:r>
              <a:t/>
            </a:r>
          </a:p>
          <a:p xmlns:a="http://schemas.openxmlformats.org/drawingml/2006/main">
            <a:r>
              <a:t>CONNECT</a:t>
            </a:r>
          </a:p>
          <a:p xmlns:a="http://schemas.openxmlformats.org/drawingml/2006/main">
            <a:r>
              <a:t>Build on the preceding slide: Three ways to collect values.</a:t>
            </a:r>
          </a:p>
          <a:p xmlns:a="http://schemas.openxmlformats.org/drawingml/2006/main">
            <a:r>
              <a:t/>
            </a:r>
          </a:p>
          <a:p xmlns:a="http://schemas.openxmlformats.org/drawingml/2006/main">
            <a:r>
              <a:t>EXPLAIN IN ORDINARY WORDS</a:t>
            </a:r>
          </a:p>
          <a:p xmlns:a="http://schemas.openxmlformats.org/drawingml/2006/main">
            <a:r>
              <a:t>A CSV is a text table. The header supplies column names. With csv.DictReader, values start as text, even if they look like numbers. A path tells Python where the file is.</a:t>
            </a:r>
          </a:p>
          <a:p xmlns:a="http://schemas.openxmlformats.org/drawingml/2006/main">
            <a:r>
              <a:t/>
            </a:r>
          </a:p>
          <a:p xmlns:a="http://schemas.openxmlformats.org/drawingml/2006/main">
            <a:r>
              <a:t>CHECK AND EXPECTED ANSWER</a:t>
            </a:r>
          </a:p>
          <a:p xmlns:a="http://schemas.openxmlformats.org/drawingml/2006/main">
            <a:r>
              <a:t>Can "2.5" from csv.DictReader be added as a number without conversion? No; convert valid numeric text first.</a:t>
            </a:r>
          </a:p>
          <a:p xmlns:a="http://schemas.openxmlformats.org/drawingml/2006/main">
            <a:r>
              <a:t/>
            </a:r>
          </a:p>
          <a:p xmlns:a="http://schemas.openxmlformats.org/drawingml/2006/main">
            <a:r>
              <a:t>IF LEARNERS ARE STUCK</a:t>
            </a:r>
          </a:p>
          <a:p xmlns:a="http://schemas.openxmlformats.org/drawingml/2006/main">
            <a:r>
              <a:t>Show the file in the runtime folder and compare its exact filename, case and column headers. Upload data again after a fresh Colab runtime.</a:t>
            </a:r>
          </a:p>
          <a:p xmlns:a="http://schemas.openxmlformats.org/drawingml/2006/main">
            <a:r>
              <a:t/>
            </a:r>
          </a:p>
          <a:p xmlns:a="http://schemas.openxmlformats.org/drawingml/2006/main">
            <a:r>
              <a:t>POINT TO THE DEFINITION</a:t>
            </a:r>
          </a:p>
          <a:p xmlns:a="http://schemas.openxmlformats.org/drawingml/2006/main">
            <a:r>
              <a:t>CSV and header: CSV means comma-separated values. One line usually represents one record; a header names the columns. CSV numbers arrive as text and may need float conversion.</a:t>
            </a:r>
          </a:p>
          <a:p xmlns:a="http://schemas.openxmlformats.org/drawingml/2006/main">
            <a:r>
              <a:t/>
            </a:r>
          </a:p>
          <a:p xmlns:a="http://schemas.openxmlformats.org/drawingml/2006/main">
            <a:r>
              <a:t>NEXT</a:t>
            </a:r>
          </a:p>
          <a:p xmlns:a="http://schemas.openxmlformats.org/drawingml/2006/main">
            <a:r>
              <a:t>One record at a time.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One record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One record at a time</a:t>
            </a:r>
          </a:p>
          <a:p xmlns:a="http://schemas.openxmlformats.org/drawingml/2006/main">
            <a:r>
              <a:t/>
            </a:r>
          </a:p>
          <a:p xmlns:a="http://schemas.openxmlformats.org/drawingml/2006/main">
            <a:r>
              <a:t>CONNECT</a:t>
            </a:r>
          </a:p>
          <a:p xmlns:a="http://schemas.openxmlformats.org/drawingml/2006/main">
            <a:r>
              <a:t>Build on CSV and header. Explain why this example is needed before running it.</a:t>
            </a:r>
          </a:p>
          <a:p xmlns:a="http://schemas.openxmlformats.org/drawingml/2006/main">
            <a:r>
              <a:t/>
            </a:r>
          </a:p>
          <a:p xmlns:a="http://schemas.openxmlformats.org/drawingml/2006/main">
            <a:r>
              <a:t>EXPLAIN</a:t>
            </a:r>
          </a:p>
          <a:p xmlns:a="http://schemas.openxmlformats.org/drawingml/2006/main">
            <a:r>
              <a:t>A CSV is a text table with a header row.</a:t>
            </a:r>
          </a:p>
          <a:p xmlns:a="http://schemas.openxmlformats.org/drawingml/2006/main">
            <a:r>
              <a:t/>
            </a:r>
          </a:p>
          <a:p xmlns:a="http://schemas.openxmlformats.org/drawingml/2006/main">
            <a:r>
              <a:t>DictReader uses that header for dictionary keys.</a:t>
            </a:r>
          </a:p>
          <a:p xmlns:a="http://schemas.openxmlformats.org/drawingml/2006/main">
            <a:r>
              <a:t/>
            </a:r>
          </a:p>
          <a:p xmlns:a="http://schemas.openxmlformats.org/drawingml/2006/main">
            <a:r>
              <a:t>CSV cells begin as text, even when they look numeric.</a:t>
            </a:r>
          </a:p>
          <a:p xmlns:a="http://schemas.openxmlformats.org/drawingml/2006/main">
            <a:r>
              <a:t/>
            </a:r>
          </a:p>
          <a:p xmlns:a="http://schemas.openxmlformats.org/drawingml/2006/main">
            <a:r>
              <a:t>float("2.5") converts text into the number 2.5.</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One record at a time</a:t>
            </a:r>
          </a:p>
          <a:p xmlns:a="http://schemas.openxmlformats.org/drawingml/2006/main">
            <a:r>
              <a:t/>
            </a:r>
          </a:p>
          <a:p xmlns:a="http://schemas.openxmlformats.org/drawingml/2006/main">
            <a:r>
              <a:t>CONNECT</a:t>
            </a:r>
          </a:p>
          <a:p xmlns:a="http://schemas.openxmlformats.org/drawingml/2006/main">
            <a:r>
              <a:t>Build on the preceding slide: CSV and header.</a:t>
            </a:r>
          </a:p>
          <a:p xmlns:a="http://schemas.openxmlformats.org/drawingml/2006/main">
            <a:r>
              <a:t/>
            </a:r>
          </a:p>
          <a:p xmlns:a="http://schemas.openxmlformats.org/drawingml/2006/main">
            <a:r>
              <a:t>EXPLAIN IN ORDINARY WORDS</a:t>
            </a:r>
          </a:p>
          <a:p xmlns:a="http://schemas.openxmlformats.org/drawingml/2006/main">
            <a:r>
              <a:t>A CSV is a text table. The header supplies column names. With csv.DictReader, values start as text, even if they look like numbers. A path tells Python where the file is.</a:t>
            </a:r>
          </a:p>
          <a:p xmlns:a="http://schemas.openxmlformats.org/drawingml/2006/main">
            <a:r>
              <a:t/>
            </a:r>
          </a:p>
          <a:p xmlns:a="http://schemas.openxmlformats.org/drawingml/2006/main">
            <a:r>
              <a:t>CHECK AND EXPECTED ANSWER</a:t>
            </a:r>
          </a:p>
          <a:p xmlns:a="http://schemas.openxmlformats.org/drawingml/2006/main">
            <a:r>
              <a:t>Can "2.5" from csv.DictReader be added as a number without conversion? No; convert valid numeric text first.</a:t>
            </a:r>
          </a:p>
          <a:p xmlns:a="http://schemas.openxmlformats.org/drawingml/2006/main">
            <a:r>
              <a:t/>
            </a:r>
          </a:p>
          <a:p xmlns:a="http://schemas.openxmlformats.org/drawingml/2006/main">
            <a:r>
              <a:t>IF LEARNERS ARE STUCK</a:t>
            </a:r>
          </a:p>
          <a:p xmlns:a="http://schemas.openxmlformats.org/drawingml/2006/main">
            <a:r>
              <a:t>Show the file in the runtime folder and compare its exact filename, case and column headers. Upload data again after a fresh Colab runtime.</a:t>
            </a:r>
          </a:p>
          <a:p xmlns:a="http://schemas.openxmlformats.org/drawingml/2006/main">
            <a:r>
              <a:t/>
            </a:r>
          </a:p>
          <a:p xmlns:a="http://schemas.openxmlformats.org/drawingml/2006/main">
            <a:r>
              <a:t>NEXT</a:t>
            </a:r>
          </a:p>
          <a:p xmlns:a="http://schemas.openxmlformats.org/drawingml/2006/main">
            <a:r>
              <a:t>A CSV file has a header and text values.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CSV file has a header and text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CSV file has a header and text values</a:t>
            </a:r>
          </a:p>
          <a:p xmlns:a="http://schemas.openxmlformats.org/drawingml/2006/main">
            <a:r>
              <a:t/>
            </a:r>
          </a:p>
          <a:p xmlns:a="http://schemas.openxmlformats.org/drawingml/2006/main">
            <a:r>
              <a:t>CONNECT</a:t>
            </a:r>
          </a:p>
          <a:p xmlns:a="http://schemas.openxmlformats.org/drawingml/2006/main">
            <a:r>
              <a:t>Build on One record at a time. Explain why this example is needed before running it.</a:t>
            </a:r>
          </a:p>
          <a:p xmlns:a="http://schemas.openxmlformats.org/drawingml/2006/main">
            <a:r>
              <a:t/>
            </a:r>
          </a:p>
          <a:p xmlns:a="http://schemas.openxmlformats.org/drawingml/2006/main">
            <a:r>
              <a:t>EXPLAIN</a:t>
            </a:r>
          </a:p>
          <a:p xmlns:a="http://schemas.openxmlformats.org/drawingml/2006/main">
            <a:r>
              <a:t>An empty field is empty text. Check the task’s rule before converting it.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CSV file has a header and text values</a:t>
            </a:r>
          </a:p>
          <a:p xmlns:a="http://schemas.openxmlformats.org/drawingml/2006/main">
            <a:r>
              <a:t/>
            </a:r>
          </a:p>
          <a:p xmlns:a="http://schemas.openxmlformats.org/drawingml/2006/main">
            <a:r>
              <a:t>CONNECT</a:t>
            </a:r>
          </a:p>
          <a:p xmlns:a="http://schemas.openxmlformats.org/drawingml/2006/main">
            <a:r>
              <a:t>Build on the preceding slide: One record at a time.</a:t>
            </a:r>
          </a:p>
          <a:p xmlns:a="http://schemas.openxmlformats.org/drawingml/2006/main">
            <a:r>
              <a:t/>
            </a:r>
          </a:p>
          <a:p xmlns:a="http://schemas.openxmlformats.org/drawingml/2006/main">
            <a:r>
              <a:t>LECTURER CUE</a:t>
            </a:r>
          </a:p>
          <a:p xmlns:a="http://schemas.openxmlformats.org/drawingml/2006/main">
            <a:r>
              <a:t>Read one row at a time and use a changed value. This is a syntax reference for the worked examples.</a:t>
            </a:r>
          </a:p>
          <a:p xmlns:a="http://schemas.openxmlformats.org/drawingml/2006/main">
            <a:r>
              <a:t/>
            </a:r>
          </a:p>
          <a:p xmlns:a="http://schemas.openxmlformats.org/drawingml/2006/main">
            <a:r>
              <a:t>EXPLAIN IN ORDINARY WORDS</a:t>
            </a:r>
          </a:p>
          <a:p xmlns:a="http://schemas.openxmlformats.org/drawingml/2006/main">
            <a:r>
              <a:t>A CSV is a text table. The header supplies column names. With csv.DictReader, values start as text, even if they look like numbers. A path tells Python where the file is.</a:t>
            </a:r>
          </a:p>
          <a:p xmlns:a="http://schemas.openxmlformats.org/drawingml/2006/main">
            <a:r>
              <a:t/>
            </a:r>
          </a:p>
          <a:p xmlns:a="http://schemas.openxmlformats.org/drawingml/2006/main">
            <a:r>
              <a:t>CHECK AND EXPECTED ANSWER</a:t>
            </a:r>
          </a:p>
          <a:p xmlns:a="http://schemas.openxmlformats.org/drawingml/2006/main">
            <a:r>
              <a:t>Can "2.5" from csv.DictReader be added as a number without conversion? No; convert valid numeric text first.</a:t>
            </a:r>
          </a:p>
          <a:p xmlns:a="http://schemas.openxmlformats.org/drawingml/2006/main">
            <a:r>
              <a:t/>
            </a:r>
          </a:p>
          <a:p xmlns:a="http://schemas.openxmlformats.org/drawingml/2006/main">
            <a:r>
              <a:t>IF LEARNERS ARE STUCK</a:t>
            </a:r>
          </a:p>
          <a:p xmlns:a="http://schemas.openxmlformats.org/drawingml/2006/main">
            <a:r>
              <a:t>Show the file in the runtime folder and compare its exact filename, case and column headers. Upload data again after a fresh Colab runtime.</a:t>
            </a:r>
          </a:p>
          <a:p xmlns:a="http://schemas.openxmlformats.org/drawingml/2006/main">
            <a:r>
              <a:t/>
            </a:r>
          </a:p>
          <a:p xmlns:a="http://schemas.openxmlformats.org/drawingml/2006/main">
            <a:r>
              <a:t>READ THE VISUAL</a:t>
            </a:r>
          </a:p>
          <a:p xmlns:a="http://schemas.openxmlformats.org/drawingml/2006/main">
            <a:r>
              <a:t>Start with the title and labels. Read one row or mark aloud, including its unit. Let a learner read a second one before discussing the pattern. Do not infer a numerical value from an unlabelled drawing.</a:t>
            </a:r>
          </a:p>
          <a:p xmlns:a="http://schemas.openxmlformats.org/drawingml/2006/main">
            <a:r>
              <a:t/>
            </a:r>
          </a:p>
          <a:p xmlns:a="http://schemas.openxmlformats.org/drawingml/2006/main">
            <a:r>
              <a:t>NEXT</a:t>
            </a:r>
          </a:p>
          <a:p xmlns:a="http://schemas.openxmlformats.org/drawingml/2006/main">
            <a:r>
              <a:t>A CSV row becomes a dictionary.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CSV row becomes a dictionary.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CSV row becomes a dictionary</a:t>
            </a:r>
          </a:p>
          <a:p xmlns:a="http://schemas.openxmlformats.org/drawingml/2006/main">
            <a:r>
              <a:t/>
            </a:r>
          </a:p>
          <a:p xmlns:a="http://schemas.openxmlformats.org/drawingml/2006/main">
            <a:r>
              <a:t>CONNECT</a:t>
            </a:r>
          </a:p>
          <a:p xmlns:a="http://schemas.openxmlformats.org/drawingml/2006/main">
            <a:r>
              <a:t>Build on A CSV file has a header and text values. Explain why this example is needed before running it.</a:t>
            </a:r>
          </a:p>
          <a:p xmlns:a="http://schemas.openxmlformats.org/drawingml/2006/main">
            <a:r>
              <a:t/>
            </a:r>
          </a:p>
          <a:p xmlns:a="http://schemas.openxmlformats.org/drawingml/2006/main">
            <a:r>
              <a:t>EXPLAIN</a:t>
            </a:r>
          </a:p>
          <a:p xmlns:a="http://schemas.openxmlformats.org/drawingml/2006/main">
            <a:r>
              <a:t>The header gives field names, such as unit and reading.</a:t>
            </a:r>
          </a:p>
          <a:p xmlns:a="http://schemas.openxmlformats.org/drawingml/2006/main">
            <a:r>
              <a:t/>
            </a:r>
          </a:p>
          <a:p xmlns:a="http://schemas.openxmlformats.org/drawingml/2006/main">
            <a:r>
              <a:t>csv.DictReader returns one dictionary for each data row.</a:t>
            </a:r>
          </a:p>
          <a:p xmlns:a="http://schemas.openxmlformats.org/drawingml/2006/main">
            <a:r>
              <a:t/>
            </a:r>
          </a:p>
          <a:p xmlns:a="http://schemas.openxmlformats.org/drawingml/2006/main">
            <a:r>
              <a:t>The value "2.5" starts as text. float("2.5") makes the number 2.5.</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CSV row becomes a dictionary</a:t>
            </a:r>
          </a:p>
          <a:p xmlns:a="http://schemas.openxmlformats.org/drawingml/2006/main">
            <a:r>
              <a:t/>
            </a:r>
          </a:p>
          <a:p xmlns:a="http://schemas.openxmlformats.org/drawingml/2006/main">
            <a:r>
              <a:t>CONNECT</a:t>
            </a:r>
          </a:p>
          <a:p xmlns:a="http://schemas.openxmlformats.org/drawingml/2006/main">
            <a:r>
              <a:t>Build on the preceding slide: A CSV file has a header and text values.</a:t>
            </a:r>
          </a:p>
          <a:p xmlns:a="http://schemas.openxmlformats.org/drawingml/2006/main">
            <a:r>
              <a:t/>
            </a:r>
          </a:p>
          <a:p xmlns:a="http://schemas.openxmlformats.org/drawingml/2006/main">
            <a:r>
              <a:t>LECTURER CUE</a:t>
            </a:r>
          </a:p>
          <a:p xmlns:a="http://schemas.openxmlformats.org/drawingml/2006/main">
            <a:r>
              <a:t>Before a real CSV, show a two-line text extract and name its header. Open the issued CSV together. Explain csv.DictReader as one dictionary per row. Convert only the numeric column and state what should happen to an invalid value.</a:t>
            </a:r>
          </a:p>
          <a:p xmlns:a="http://schemas.openxmlformats.org/drawingml/2006/main">
            <a:r>
              <a:t/>
            </a:r>
          </a:p>
          <a:p xmlns:a="http://schemas.openxmlformats.org/drawingml/2006/main">
            <a:r>
              <a:t>EXPLAIN IN ORDINARY WORDS</a:t>
            </a:r>
          </a:p>
          <a:p xmlns:a="http://schemas.openxmlformats.org/drawingml/2006/main">
            <a:r>
              <a:t>A CSV is a text table. The header supplies column names. With csv.DictReader, values start as text, even if they look like numbers. A path tells Python where the file is.</a:t>
            </a:r>
          </a:p>
          <a:p xmlns:a="http://schemas.openxmlformats.org/drawingml/2006/main">
            <a:r>
              <a:t/>
            </a:r>
          </a:p>
          <a:p xmlns:a="http://schemas.openxmlformats.org/drawingml/2006/main">
            <a:r>
              <a:t>CHECK AND EXPECTED ANSWER</a:t>
            </a:r>
          </a:p>
          <a:p xmlns:a="http://schemas.openxmlformats.org/drawingml/2006/main">
            <a:r>
              <a:t>Can "2.5" from csv.DictReader be added as a number without conversion? No; convert valid numeric text first.</a:t>
            </a:r>
          </a:p>
          <a:p xmlns:a="http://schemas.openxmlformats.org/drawingml/2006/main">
            <a:r>
              <a:t/>
            </a:r>
          </a:p>
          <a:p xmlns:a="http://schemas.openxmlformats.org/drawingml/2006/main">
            <a:r>
              <a:t>IF LEARNERS ARE STUCK</a:t>
            </a:r>
          </a:p>
          <a:p xmlns:a="http://schemas.openxmlformats.org/drawingml/2006/main">
            <a:r>
              <a:t>Show the file in the runtime folder and compare its exact filename, case and column headers. Upload data again after a fresh Colab runtime.</a:t>
            </a:r>
          </a:p>
          <a:p xmlns:a="http://schemas.openxmlformats.org/drawingml/2006/main">
            <a:r>
              <a:t/>
            </a:r>
          </a:p>
          <a:p xmlns:a="http://schemas.openxmlformats.org/drawingml/2006/main">
            <a:r>
              <a:t>NEXT</a:t>
            </a:r>
          </a:p>
          <a:p xmlns:a="http://schemas.openxmlformats.org/drawingml/2006/main">
            <a:r>
              <a:t>with and import.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with and import.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with and import</a:t>
            </a:r>
          </a:p>
          <a:p xmlns:a="http://schemas.openxmlformats.org/drawingml/2006/main">
            <a:r>
              <a:t/>
            </a:r>
          </a:p>
          <a:p xmlns:a="http://schemas.openxmlformats.org/drawingml/2006/main">
            <a:r>
              <a:t>CONNECT</a:t>
            </a:r>
          </a:p>
          <a:p xmlns:a="http://schemas.openxmlformats.org/drawingml/2006/main">
            <a:r>
              <a:t>Build on A CSV row becomes a dictionary. Explain why this example is needed before running it.</a:t>
            </a:r>
          </a:p>
          <a:p xmlns:a="http://schemas.openxmlformats.org/drawingml/2006/main">
            <a:r>
              <a:t/>
            </a:r>
          </a:p>
          <a:p xmlns:a="http://schemas.openxmlformats.org/drawingml/2006/main">
            <a:r>
              <a:t>EXPLAIN</a:t>
            </a:r>
          </a:p>
          <a:p xmlns:a="http://schemas.openxmlformats.org/drawingml/2006/main">
            <a:r>
              <a:t>with and import: import makes library tools available. with open(...) opens a file for a block and closes it afterward. A filename must match an existing file in the working folder.</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with and import</a:t>
            </a:r>
          </a:p>
          <a:p xmlns:a="http://schemas.openxmlformats.org/drawingml/2006/main">
            <a:r>
              <a:t/>
            </a:r>
          </a:p>
          <a:p xmlns:a="http://schemas.openxmlformats.org/drawingml/2006/main">
            <a:r>
              <a:t>CONNECT</a:t>
            </a:r>
          </a:p>
          <a:p xmlns:a="http://schemas.openxmlformats.org/drawingml/2006/main">
            <a:r>
              <a:t>Build on the preceding slide: A CSV row becomes a dictionary.</a:t>
            </a:r>
          </a:p>
          <a:p xmlns:a="http://schemas.openxmlformats.org/drawingml/2006/main">
            <a:r>
              <a:t/>
            </a:r>
          </a:p>
          <a:p xmlns:a="http://schemas.openxmlformats.org/drawingml/2006/main">
            <a:r>
              <a:t>POINT TO THE DEFINITION</a:t>
            </a:r>
          </a:p>
          <a:p xmlns:a="http://schemas.openxmlformats.org/drawingml/2006/main">
            <a:r>
              <a:t>with and import: import makes library tools available. with open(...) opens a file for a block and closes it afterward. A filename must match an existing file in the working folder.</a:t>
            </a:r>
          </a:p>
          <a:p xmlns:a="http://schemas.openxmlformats.org/drawingml/2006/main">
            <a:r>
              <a:t/>
            </a:r>
          </a:p>
          <a:p xmlns:a="http://schemas.openxmlformats.org/drawingml/2006/main">
            <a:r>
              <a:t>NEXT</a:t>
            </a:r>
          </a:p>
          <a:p xmlns:a="http://schemas.openxmlformats.org/drawingml/2006/main">
            <a:r>
              <a:t>Your cohort data.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Your cohort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Your cohort data</a:t>
            </a:r>
          </a:p>
          <a:p xmlns:a="http://schemas.openxmlformats.org/drawingml/2006/main">
            <a:r>
              <a:t/>
            </a:r>
          </a:p>
          <a:p xmlns:a="http://schemas.openxmlformats.org/drawingml/2006/main">
            <a:r>
              <a:t>CONNECT</a:t>
            </a:r>
          </a:p>
          <a:p xmlns:a="http://schemas.openxmlformats.org/drawingml/2006/main">
            <a:r>
              <a:t>Build on with and import. Explain why this example is needed before running it.</a:t>
            </a:r>
          </a:p>
          <a:p xmlns:a="http://schemas.openxmlformats.org/drawingml/2006/main">
            <a:r>
              <a:t/>
            </a:r>
          </a:p>
          <a:p xmlns:a="http://schemas.openxmlformats.org/drawingml/2006/main">
            <a:r>
              <a:t>EXPLAIN</a:t>
            </a:r>
          </a:p>
          <a:p xmlns:a="http://schemas.openxmlformats.org/drawingml/2006/main">
            <a:r>
              <a:t>drill_shift_log.csv</a:t>
            </a:r>
          </a:p>
          <a:p xmlns:a="http://schemas.openxmlformats.org/drawingml/2006/main">
            <a:r>
              <a:t/>
            </a:r>
          </a:p>
          <a:p xmlns:a="http://schemas.openxmlformats.org/drawingml/2006/main">
            <a:r>
              <a:t>Summarise rate_of_penetration (m/hour); group by bit_type.</a:t>
            </a:r>
          </a:p>
          <a:p xmlns:a="http://schemas.openxmlformats.org/drawingml/2006/main">
            <a:r>
              <a:t/>
            </a:r>
          </a:p>
          <a:p xmlns:a="http://schemas.openxmlformats.org/drawingml/2006/main">
            <a:r>
              <a:t>Read the issued task’s blank-value and threshold rules before calculating.</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Your cohort data</a:t>
            </a:r>
          </a:p>
          <a:p xmlns:a="http://schemas.openxmlformats.org/drawingml/2006/main">
            <a:r>
              <a:t/>
            </a:r>
          </a:p>
          <a:p xmlns:a="http://schemas.openxmlformats.org/drawingml/2006/main">
            <a:r>
              <a:t>CONNECT</a:t>
            </a:r>
          </a:p>
          <a:p xmlns:a="http://schemas.openxmlformats.org/drawingml/2006/main">
            <a:r>
              <a:t>Build on the preceding slide: with and import.</a:t>
            </a:r>
          </a:p>
          <a:p xmlns:a="http://schemas.openxmlformats.org/drawingml/2006/main">
            <a:r>
              <a:t/>
            </a:r>
          </a:p>
          <a:p xmlns:a="http://schemas.openxmlformats.org/drawingml/2006/main">
            <a:r>
              <a:t>EXPLAIN IN ORDINARY WORDS</a:t>
            </a:r>
          </a:p>
          <a:p xmlns:a="http://schemas.openxmlformats.org/drawingml/2006/main">
            <a:r>
              <a:t>A probability-like score and a class decision are different outputs. A threshold turns a score into an action. Lowering a warning threshold usually raises both detections and false alarms.</a:t>
            </a:r>
          </a:p>
          <a:p xmlns:a="http://schemas.openxmlformats.org/drawingml/2006/main">
            <a:r>
              <a:t/>
            </a:r>
          </a:p>
          <a:p xmlns:a="http://schemas.openxmlformats.org/drawingml/2006/main">
            <a:r>
              <a:t>CHECK AND EXPECTED ANSWER</a:t>
            </a:r>
          </a:p>
          <a:p xmlns:a="http://schemas.openxmlformats.org/drawingml/2006/main">
            <a:r>
              <a:t>At a rule of score &gt;= 0.5, what happens at 0.5? It is positive. With &gt; 0.5 it would not be.</a:t>
            </a:r>
          </a:p>
          <a:p xmlns:a="http://schemas.openxmlformats.org/drawingml/2006/main">
            <a:r>
              <a:t/>
            </a:r>
          </a:p>
          <a:p xmlns:a="http://schemas.openxmlformats.org/drawingml/2006/main">
            <a:r>
              <a:t>IF LEARNERS ARE STUCK</a:t>
            </a:r>
          </a:p>
          <a:p xmlns:a="http://schemas.openxmlformats.org/drawingml/2006/main">
            <a:r>
              <a:t>Mark three scores below, at and above the boundary. Do not promise the score is well calibrated without checking.</a:t>
            </a:r>
          </a:p>
          <a:p xmlns:a="http://schemas.openxmlformats.org/drawingml/2006/main">
            <a:r>
              <a:t/>
            </a:r>
          </a:p>
          <a:p xmlns:a="http://schemas.openxmlformats.org/drawingml/2006/main">
            <a:r>
              <a:t>NEXT</a:t>
            </a:r>
          </a:p>
          <a:p xmlns:a="http://schemas.openxmlformats.org/drawingml/2006/main">
            <a:r>
              <a:t>Read the supplied CSV in four steps.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Read the supplied CSV in four steps.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 the supplied CSV in four steps</a:t>
            </a:r>
          </a:p>
          <a:p xmlns:a="http://schemas.openxmlformats.org/drawingml/2006/main">
            <a:r>
              <a:t/>
            </a:r>
          </a:p>
          <a:p xmlns:a="http://schemas.openxmlformats.org/drawingml/2006/main">
            <a:r>
              <a:t>CONNECT</a:t>
            </a:r>
          </a:p>
          <a:p xmlns:a="http://schemas.openxmlformats.org/drawingml/2006/main">
            <a:r>
              <a:t>Build on Your cohort data. Explain why this example is needed before running it.</a:t>
            </a:r>
          </a:p>
          <a:p xmlns:a="http://schemas.openxmlformats.org/drawingml/2006/main">
            <a:r>
              <a:t/>
            </a:r>
          </a:p>
          <a:p xmlns:a="http://schemas.openxmlformats.org/drawingml/2006/main">
            <a:r>
              <a:t>EXPLAIN</a:t>
            </a:r>
          </a:p>
          <a:p xmlns:a="http://schemas.openxmlformats.org/drawingml/2006/main">
            <a:r>
              <a:t>Place drill_shift_log.csv beside the notebook, or upload it in Colab’s Files panel.</a:t>
            </a:r>
          </a:p>
          <a:p xmlns:a="http://schemas.openxmlformats.org/drawingml/2006/main">
            <a:r>
              <a:t/>
            </a:r>
          </a:p>
          <a:p xmlns:a="http://schemas.openxmlformats.org/drawingml/2006/main">
            <a:r>
              <a:t>import csv loads the CSV tools. newline="" lets the reader handle line endings. DictReader uses the header as dictionary keys.</a:t>
            </a:r>
          </a:p>
          <a:p xmlns:a="http://schemas.openxmlformats.org/drawingml/2006/main">
            <a:r>
              <a:t/>
            </a:r>
          </a:p>
          <a:p xmlns:a="http://schemas.openxmlformats.org/drawingml/2006/main">
            <a:r>
              <a:t>list(...) collects the rows while the file is open. We inspect the first row and the count; the later assignment calculations are your work.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Read the supplied CSV in four steps</a:t>
            </a:r>
          </a:p>
          <a:p xmlns:a="http://schemas.openxmlformats.org/drawingml/2006/main">
            <a:r>
              <a:t/>
            </a:r>
          </a:p>
          <a:p xmlns:a="http://schemas.openxmlformats.org/drawingml/2006/main">
            <a:r>
              <a:t>CONNECT</a:t>
            </a:r>
          </a:p>
          <a:p xmlns:a="http://schemas.openxmlformats.org/drawingml/2006/main">
            <a:r>
              <a:t>Build on the preceding slide: Your cohort data.</a:t>
            </a:r>
          </a:p>
          <a:p xmlns:a="http://schemas.openxmlformats.org/drawingml/2006/main">
            <a:r>
              <a:t/>
            </a:r>
          </a:p>
          <a:p xmlns:a="http://schemas.openxmlformats.org/drawingml/2006/main">
            <a:r>
              <a:t>EXPLAIN IN ORDINARY WORDS</a:t>
            </a:r>
          </a:p>
          <a:p xmlns:a="http://schemas.openxmlformats.org/drawingml/2006/main">
            <a:r>
              <a:t>A CSV is a text table. The header supplies column names. With csv.DictReader, values start as text, even if they look like numbers. A path tells Python where the file is.</a:t>
            </a:r>
          </a:p>
          <a:p xmlns:a="http://schemas.openxmlformats.org/drawingml/2006/main">
            <a:r>
              <a:t/>
            </a:r>
          </a:p>
          <a:p xmlns:a="http://schemas.openxmlformats.org/drawingml/2006/main">
            <a:r>
              <a:t>CHECK AND EXPECTED ANSWER</a:t>
            </a:r>
          </a:p>
          <a:p xmlns:a="http://schemas.openxmlformats.org/drawingml/2006/main">
            <a:r>
              <a:t>Can "2.5" from csv.DictReader be added as a number without conversion? No; convert valid numeric text first.</a:t>
            </a:r>
          </a:p>
          <a:p xmlns:a="http://schemas.openxmlformats.org/drawingml/2006/main">
            <a:r>
              <a:t/>
            </a:r>
          </a:p>
          <a:p xmlns:a="http://schemas.openxmlformats.org/drawingml/2006/main">
            <a:r>
              <a:t>IF LEARNERS ARE STUCK</a:t>
            </a:r>
          </a:p>
          <a:p xmlns:a="http://schemas.openxmlformats.org/drawingml/2006/main">
            <a:r>
              <a:t>Show the file in the runtime folder and compare its exact filename, case and column headers. Upload data again after a fresh Colab runtime.</a:t>
            </a:r>
          </a:p>
          <a:p xmlns:a="http://schemas.openxmlformats.org/drawingml/2006/main">
            <a:r>
              <a:t/>
            </a:r>
          </a:p>
          <a:p xmlns:a="http://schemas.openxmlformats.org/drawingml/2006/main">
            <a:r>
              <a:t>NEXT</a:t>
            </a:r>
          </a:p>
          <a:p xmlns:a="http://schemas.openxmlformats.org/drawingml/2006/main">
            <a:r>
              <a:t>Open a real CSV and inspect its first row.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Open a real CSV and inspect its first row.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Open a real CSV and inspect its first row</a:t>
            </a:r>
          </a:p>
          <a:p xmlns:a="http://schemas.openxmlformats.org/drawingml/2006/main">
            <a:r>
              <a:t/>
            </a:r>
          </a:p>
          <a:p xmlns:a="http://schemas.openxmlformats.org/drawingml/2006/main">
            <a:r>
              <a:t>CONNECT</a:t>
            </a:r>
          </a:p>
          <a:p xmlns:a="http://schemas.openxmlformats.org/drawingml/2006/main">
            <a:r>
              <a:t>Build on Read the supplied CSV in four steps. Explain why this example is needed before running it.</a:t>
            </a:r>
          </a:p>
          <a:p xmlns:a="http://schemas.openxmlformats.org/drawingml/2006/main">
            <a:r>
              <a:t/>
            </a:r>
          </a:p>
          <a:p xmlns:a="http://schemas.openxmlformats.org/drawingml/2006/main">
            <a:r>
              <a:t>EXPLAIN</a:t>
            </a:r>
          </a:p>
          <a:p xmlns:a="http://schemas.openxmlformats.org/drawingml/2006/main">
            <a:r>
              <a:t>Read the actual keys and text values. Check the uploaded filename if Python reports FileNotFoundError.</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Open a real CSV and inspect its first row</a:t>
            </a:r>
          </a:p>
          <a:p xmlns:a="http://schemas.openxmlformats.org/drawingml/2006/main">
            <a:r>
              <a:t/>
            </a:r>
          </a:p>
          <a:p xmlns:a="http://schemas.openxmlformats.org/drawingml/2006/main">
            <a:r>
              <a:t>CONNECT</a:t>
            </a:r>
          </a:p>
          <a:p xmlns:a="http://schemas.openxmlformats.org/drawingml/2006/main">
            <a:r>
              <a:t>Build on the preceding slide: Read the supplied CSV in four steps.</a:t>
            </a:r>
          </a:p>
          <a:p xmlns:a="http://schemas.openxmlformats.org/drawingml/2006/main">
            <a:r>
              <a:t/>
            </a:r>
          </a:p>
          <a:p xmlns:a="http://schemas.openxmlformats.org/drawingml/2006/main">
            <a:r>
              <a:t>LECTURER CUE</a:t>
            </a:r>
          </a:p>
          <a:p xmlns:a="http://schemas.openxmlformats.org/drawingml/2006/main">
            <a:r>
              <a:t>Read the actual keys and text values. Check the uploaded filename if Python reports FileNotFoundError.</a:t>
            </a:r>
          </a:p>
          <a:p xmlns:a="http://schemas.openxmlformats.org/drawingml/2006/main">
            <a:r>
              <a:t/>
            </a:r>
          </a:p>
          <a:p xmlns:a="http://schemas.openxmlformats.org/drawingml/2006/main">
            <a:r>
              <a:t>Complete practice code:</a:t>
            </a:r>
          </a:p>
          <a:p xmlns:a="http://schemas.openxmlformats.org/drawingml/2006/main">
            <a:r>
              <a:t>import csv</a:t>
            </a:r>
          </a:p>
          <a:p xmlns:a="http://schemas.openxmlformats.org/drawingml/2006/main">
            <a:r>
              <a:t>with open("drill_shift_log.csv", newline="") as source:</a:t>
            </a:r>
          </a:p>
          <a:p xmlns:a="http://schemas.openxmlformats.org/drawingml/2006/main">
            <a:r>
              <a:t>    rows = list(csv.DictReader(source))</a:t>
            </a:r>
          </a:p>
          <a:p xmlns:a="http://schemas.openxmlformats.org/drawingml/2006/main">
            <a:r>
              <a:t>print(rows[0])</a:t>
            </a:r>
          </a:p>
          <a:p xmlns:a="http://schemas.openxmlformats.org/drawingml/2006/main">
            <a:r>
              <a:t>print(len(rows))</a:t>
            </a:r>
          </a:p>
          <a:p xmlns:a="http://schemas.openxmlformats.org/drawingml/2006/main">
            <a:r>
              <a:t/>
            </a:r>
          </a:p>
          <a:p xmlns:a="http://schemas.openxmlformats.org/drawingml/2006/main">
            <a:r>
              <a:t>EXPLAIN IN ORDINARY WORDS</a:t>
            </a:r>
          </a:p>
          <a:p xmlns:a="http://schemas.openxmlformats.org/drawingml/2006/main">
            <a:r>
              <a:t>A CSV is a text table. The header supplies column names. With csv.DictReader, values start as text, even if they look like numbers. A path tells Python where the file is.</a:t>
            </a:r>
          </a:p>
          <a:p xmlns:a="http://schemas.openxmlformats.org/drawingml/2006/main">
            <a:r>
              <a:t/>
            </a:r>
          </a:p>
          <a:p xmlns:a="http://schemas.openxmlformats.org/drawingml/2006/main">
            <a:r>
              <a:t>CHECK AND EXPECTED ANSWER</a:t>
            </a:r>
          </a:p>
          <a:p xmlns:a="http://schemas.openxmlformats.org/drawingml/2006/main">
            <a:r>
              <a:t>Can "2.5" from csv.DictReader be added as a number without conversion? No; convert valid numeric text first.</a:t>
            </a:r>
          </a:p>
          <a:p xmlns:a="http://schemas.openxmlformats.org/drawingml/2006/main">
            <a:r>
              <a:t/>
            </a:r>
          </a:p>
          <a:p xmlns:a="http://schemas.openxmlformats.org/drawingml/2006/main">
            <a:r>
              <a:t>IF LEARNERS ARE STUCK</a:t>
            </a:r>
          </a:p>
          <a:p xmlns:a="http://schemas.openxmlformats.org/drawingml/2006/main">
            <a:r>
              <a:t>Show the file in the runtime folder and compare its exact filename, case and column headers. Upload data again after a fresh Colab runtime.</a:t>
            </a:r>
          </a:p>
          <a:p xmlns:a="http://schemas.openxmlformats.org/drawingml/2006/main">
            <a:r>
              <a:t/>
            </a:r>
          </a:p>
          <a:p xmlns:a="http://schemas.openxmlformats.org/drawingml/2006/main">
            <a:r>
              <a:t>WALK THROUGH THIS CODE</a:t>
            </a:r>
          </a:p>
          <a:p xmlns:a="http://schemas.openxmlformats.org/drawingml/2006/main">
            <a:r>
              <a:t>import loads a library. from selects a tool from it.</a:t>
            </a:r>
          </a:p>
          <a:p xmlns:a="http://schemas.openxmlformats.org/drawingml/2006/main">
            <a:r>
              <a:t>print displays a value below the cell.</a:t>
            </a:r>
          </a:p>
          <a:p xmlns:a="http://schemas.openxmlformats.org/drawingml/2006/main">
            <a:r>
              <a:t>Square brackets create a list or select an item.</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A record and a growing list.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list of dictionaries.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list of dictionaries</a:t>
            </a:r>
          </a:p>
          <a:p xmlns:a="http://schemas.openxmlformats.org/drawingml/2006/main">
            <a:r>
              <a:t/>
            </a:r>
          </a:p>
          <a:p xmlns:a="http://schemas.openxmlformats.org/drawingml/2006/main">
            <a:r>
              <a:t>CONNECT</a:t>
            </a:r>
          </a:p>
          <a:p xmlns:a="http://schemas.openxmlformats.org/drawingml/2006/main">
            <a:r>
              <a:t>Build on Open a real CSV and inspect its first row. Explain why this example is needed before running it.</a:t>
            </a:r>
          </a:p>
          <a:p xmlns:a="http://schemas.openxmlformats.org/drawingml/2006/main">
            <a:r>
              <a:t/>
            </a:r>
          </a:p>
          <a:p xmlns:a="http://schemas.openxmlformats.org/drawingml/2006/main">
            <a:r>
              <a:t>EXPLAIN</a:t>
            </a:r>
          </a:p>
          <a:p xmlns:a="http://schemas.openxmlformats.org/drawingml/2006/main">
            <a:r>
              <a:t>A record holds named fields for one observation. A list of records holds several observations in order.</a:t>
            </a:r>
          </a:p>
          <a:p xmlns:a="http://schemas.openxmlformats.org/drawingml/2006/main">
            <a:r>
              <a:t/>
            </a:r>
          </a:p>
          <a:p xmlns:a="http://schemas.openxmlformats.org/drawingml/2006/main">
            <a:r>
              <a:t>records[0] selects the first dictionary. records[0]["reading"] then selects that dictionary’s reading field.</a:t>
            </a:r>
          </a:p>
          <a:p xmlns:a="http://schemas.openxmlformats.org/drawingml/2006/main">
            <a:r>
              <a:t/>
            </a:r>
          </a:p>
          <a:p xmlns:a="http://schemas.openxmlformats.org/drawingml/2006/main">
            <a:r>
              <a:t>for row in records takes one dictionary at a time. row["reading"] retrieves that observation’s field; float converts numeric text when needed.</a:t>
            </a:r>
          </a:p>
          <a:p xmlns:a="http://schemas.openxmlformats.org/drawingml/2006/main">
            <a:r>
              <a:t/>
            </a:r>
          </a:p>
          <a:p xmlns:a="http://schemas.openxmlformats.org/drawingml/2006/main">
            <a:r>
              <a:t>LECTURER DETAIL</a:t>
            </a:r>
          </a:p>
          <a:p xmlns:a="http://schemas.openxmlformats.org/drawingml/2006/main">
            <a:r>
              <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record and a growing list.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record and a growing list</a:t>
            </a:r>
          </a:p>
          <a:p xmlns:a="http://schemas.openxmlformats.org/drawingml/2006/main">
            <a:r>
              <a:t/>
            </a:r>
          </a:p>
          <a:p xmlns:a="http://schemas.openxmlformats.org/drawingml/2006/main">
            <a:r>
              <a:t>CONNECT</a:t>
            </a:r>
          </a:p>
          <a:p xmlns:a="http://schemas.openxmlformats.org/drawingml/2006/main">
            <a:r>
              <a:t>Build on A list of dictionaries. Explain why this example is needed before running it.</a:t>
            </a:r>
          </a:p>
          <a:p xmlns:a="http://schemas.openxmlformats.org/drawingml/2006/main">
            <a:r>
              <a:t/>
            </a:r>
          </a:p>
          <a:p xmlns:a="http://schemas.openxmlformats.org/drawingml/2006/main">
            <a:r>
              <a:t>EXPLAIN</a:t>
            </a:r>
          </a:p>
          <a:p xmlns:a="http://schemas.openxmlformats.org/drawingml/2006/main">
            <a:r>
              <a:t>Braces pair a key with its value. append adds one value to the end of a list.</a:t>
            </a:r>
          </a:p>
          <a:p xmlns:a="http://schemas.openxmlformats.org/drawingml/2006/main">
            <a:r>
              <a:t/>
            </a:r>
          </a:p>
          <a:p xmlns:a="http://schemas.openxmlformats.org/drawingml/2006/main">
            <a:r>
              <a:t>The same pattern works after reading a CSV row.</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record and a growing list</a:t>
            </a:r>
          </a:p>
          <a:p xmlns:a="http://schemas.openxmlformats.org/drawingml/2006/main">
            <a:r>
              <a:t/>
            </a:r>
          </a:p>
          <a:p xmlns:a="http://schemas.openxmlformats.org/drawingml/2006/main">
            <a:r>
              <a:t>CONNECT</a:t>
            </a:r>
          </a:p>
          <a:p xmlns:a="http://schemas.openxmlformats.org/drawingml/2006/main">
            <a:r>
              <a:t>Build on the preceding slide: Open a real CSV and inspect its first row.</a:t>
            </a:r>
          </a:p>
          <a:p xmlns:a="http://schemas.openxmlformats.org/drawingml/2006/main">
            <a:r>
              <a:t/>
            </a:r>
          </a:p>
          <a:p xmlns:a="http://schemas.openxmlformats.org/drawingml/2006/main">
            <a:r>
              <a:t>LECTURER CUE</a:t>
            </a:r>
          </a:p>
          <a:p xmlns:a="http://schemas.openxmlformats.org/drawingml/2006/main">
            <a:r>
              <a:t>Braces pair a key with its value. append adds one value to the end of a list. The same pattern works after reading a CSV row.</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NEXT</a:t>
            </a:r>
          </a:p>
          <a:p xmlns:a="http://schemas.openxmlformats.org/drawingml/2006/main">
            <a:r>
              <a:t>A record and a growing list in Python.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record and a growing list in Python.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record and a growing list in Python</a:t>
            </a:r>
          </a:p>
          <a:p xmlns:a="http://schemas.openxmlformats.org/drawingml/2006/main">
            <a:r>
              <a:t/>
            </a:r>
          </a:p>
          <a:p xmlns:a="http://schemas.openxmlformats.org/drawingml/2006/main">
            <a:r>
              <a:t>CONNECT</a:t>
            </a:r>
          </a:p>
          <a:p xmlns:a="http://schemas.openxmlformats.org/drawingml/2006/main">
            <a:r>
              <a:t>Build on A record and a growing list.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record and a growing list in Python</a:t>
            </a:r>
          </a:p>
          <a:p xmlns:a="http://schemas.openxmlformats.org/drawingml/2006/main">
            <a:r>
              <a:t/>
            </a:r>
          </a:p>
          <a:p xmlns:a="http://schemas.openxmlformats.org/drawingml/2006/main">
            <a:r>
              <a:t>CONNECT</a:t>
            </a:r>
          </a:p>
          <a:p xmlns:a="http://schemas.openxmlformats.org/drawingml/2006/main">
            <a:r>
              <a:t>Build on the preceding slide: A record and a growing list.</a:t>
            </a:r>
          </a:p>
          <a:p xmlns:a="http://schemas.openxmlformats.org/drawingml/2006/main">
            <a:r>
              <a:t/>
            </a:r>
          </a:p>
          <a:p xmlns:a="http://schemas.openxmlformats.org/drawingml/2006/main">
            <a:r>
              <a:t>LECTURER CUE</a:t>
            </a:r>
          </a:p>
          <a:p xmlns:a="http://schemas.openxmlformats.org/drawingml/2006/main">
            <a:r>
              <a:t>Braces pair a key with its value. append adds one value to the end of a list. The same pattern works after reading a CSV row.</a:t>
            </a:r>
          </a:p>
          <a:p xmlns:a="http://schemas.openxmlformats.org/drawingml/2006/main">
            <a:r>
              <a:t/>
            </a:r>
          </a:p>
          <a:p xmlns:a="http://schemas.openxmlformats.org/drawingml/2006/main">
            <a:r>
              <a:t>Complete practice code:</a:t>
            </a:r>
          </a:p>
          <a:p xmlns:a="http://schemas.openxmlformats.org/drawingml/2006/main">
            <a:r>
              <a:t>records = [{"sensor": "A", "reading": "2.5"},</a:t>
            </a:r>
          </a:p>
          <a:p xmlns:a="http://schemas.openxmlformats.org/drawingml/2006/main">
            <a:r>
              <a:t>           {"sensor": "B", "reading": "3.5"}]</a:t>
            </a:r>
          </a:p>
          <a:p xmlns:a="http://schemas.openxmlformats.org/drawingml/2006/main">
            <a:r>
              <a:t>values = []</a:t>
            </a:r>
          </a:p>
          <a:p xmlns:a="http://schemas.openxmlformats.org/drawingml/2006/main">
            <a:r>
              <a:t>for row in records:</a:t>
            </a:r>
          </a:p>
          <a:p xmlns:a="http://schemas.openxmlformats.org/drawingml/2006/main">
            <a:r>
              <a:t>    values.append(float(row["reading"]))</a:t>
            </a:r>
          </a:p>
          <a:p xmlns:a="http://schemas.openxmlformats.org/drawingml/2006/main">
            <a:r>
              <a:t>print(values)</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WALK THROUGH THIS CODE</a:t>
            </a:r>
          </a:p>
          <a:p xmlns:a="http://schemas.openxmlformats.org/drawingml/2006/main">
            <a:r>
              <a:t>for takes the next item. The indented block repeats.</a:t>
            </a:r>
          </a:p>
          <a:p xmlns:a="http://schemas.openxmlformats.org/drawingml/2006/main">
            <a:r>
              <a:t>float converts numeric text into a decimal number.</a:t>
            </a:r>
          </a:p>
          <a:p xmlns:a="http://schemas.openxmlformats.org/drawingml/2006/main">
            <a:r>
              <a:t>print displays a value below the cell.</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Skip a blank before converting text.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Skip a blank before converting 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Skip a blank before converting text</a:t>
            </a:r>
          </a:p>
          <a:p xmlns:a="http://schemas.openxmlformats.org/drawingml/2006/main">
            <a:r>
              <a:t/>
            </a:r>
          </a:p>
          <a:p xmlns:a="http://schemas.openxmlformats.org/drawingml/2006/main">
            <a:r>
              <a:t>CONNECT</a:t>
            </a:r>
          </a:p>
          <a:p xmlns:a="http://schemas.openxmlformats.org/drawingml/2006/main">
            <a:r>
              <a:t>Build on A record and a growing list in Python. Explain why this example is needed before running it.</a:t>
            </a:r>
          </a:p>
          <a:p xmlns:a="http://schemas.openxmlformats.org/drawingml/2006/main">
            <a:r>
              <a:t/>
            </a:r>
          </a:p>
          <a:p xmlns:a="http://schemas.openxmlformats.org/drawingml/2006/main">
            <a:r>
              <a:t>EXPLAIN</a:t>
            </a:r>
          </a:p>
          <a:p xmlns:a="http://schemas.openxmlformats.org/drawingml/2006/main">
            <a:r>
              <a:t>An empty text field is "". The comparison != means “not equal to”. Only convert a value after the blank check passes.</a:t>
            </a:r>
          </a:p>
          <a:p xmlns:a="http://schemas.openxmlformats.org/drawingml/2006/main">
            <a:r>
              <a:t/>
            </a:r>
          </a:p>
          <a:p xmlns:a="http://schemas.openxmlformats.org/drawingml/2006/main">
            <a:r>
              <a:t>In this example, values records valid numbers only. Its length is the valid count; the group summaries must use the same valid-record policy.</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Skip a blank before converting text</a:t>
            </a:r>
          </a:p>
          <a:p xmlns:a="http://schemas.openxmlformats.org/drawingml/2006/main">
            <a:r>
              <a:t/>
            </a:r>
          </a:p>
          <a:p xmlns:a="http://schemas.openxmlformats.org/drawingml/2006/main">
            <a:r>
              <a:t>CONNECT</a:t>
            </a:r>
          </a:p>
          <a:p xmlns:a="http://schemas.openxmlformats.org/drawingml/2006/main">
            <a:r>
              <a:t>Build on the preceding slide: A record and a growing list in Python.</a:t>
            </a:r>
          </a:p>
          <a:p xmlns:a="http://schemas.openxmlformats.org/drawingml/2006/main">
            <a:r>
              <a:t/>
            </a:r>
          </a:p>
          <a:p xmlns:a="http://schemas.openxmlformats.org/drawingml/2006/main">
            <a:r>
              <a:t>EXPLAIN IN ORDINARY WORDS</a:t>
            </a:r>
          </a:p>
          <a:p xmlns:a="http://schemas.openxmlformats.org/drawingml/2006/main">
            <a:r>
              <a:t>Missing means not recorded, not automatically zero. Decide why it is missing and document the rule. Fitted fill values must come from training data when evaluating a model.</a:t>
            </a:r>
          </a:p>
          <a:p xmlns:a="http://schemas.openxmlformats.org/drawingml/2006/main">
            <a:r>
              <a:t/>
            </a:r>
          </a:p>
          <a:p xmlns:a="http://schemas.openxmlformats.org/drawingml/2006/main">
            <a:r>
              <a:t>CHECK AND EXPECTED ANSWER</a:t>
            </a:r>
          </a:p>
          <a:p xmlns:a="http://schemas.openxmlformats.org/drawingml/2006/main">
            <a:r>
              <a:t>Is an unrecorded energy reading evidence of zero consumption? No.</a:t>
            </a:r>
          </a:p>
          <a:p xmlns:a="http://schemas.openxmlformats.org/drawingml/2006/main">
            <a:r>
              <a:t/>
            </a:r>
          </a:p>
          <a:p xmlns:a="http://schemas.openxmlformats.org/drawingml/2006/main">
            <a:r>
              <a:t>IF LEARNERS ARE STUCK</a:t>
            </a:r>
          </a:p>
          <a:p xmlns:a="http://schemas.openxmlformats.org/drawingml/2006/main">
            <a:r>
              <a:t>Use three rows: a recorded zero, a recorded positive value and a blank. Explain their different meanings before cleaning.</a:t>
            </a:r>
          </a:p>
          <a:p xmlns:a="http://schemas.openxmlformats.org/drawingml/2006/main">
            <a:r>
              <a:t/>
            </a:r>
          </a:p>
          <a:p xmlns:a="http://schemas.openxmlformats.org/drawingml/2006/main">
            <a:r>
              <a:t>NEXT</a:t>
            </a:r>
          </a:p>
          <a:p xmlns:a="http://schemas.openxmlformats.org/drawingml/2006/main">
            <a:r>
              <a:t>Collect only the recorded numbers.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Collect only the recorded numbers.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Collect only the recorded numbers</a:t>
            </a:r>
          </a:p>
          <a:p xmlns:a="http://schemas.openxmlformats.org/drawingml/2006/main">
            <a:r>
              <a:t/>
            </a:r>
          </a:p>
          <a:p xmlns:a="http://schemas.openxmlformats.org/drawingml/2006/main">
            <a:r>
              <a:t>CONNECT</a:t>
            </a:r>
          </a:p>
          <a:p xmlns:a="http://schemas.openxmlformats.org/drawingml/2006/main">
            <a:r>
              <a:t>Build on Skip a blank before converting text. Explain why this example is needed before running it.</a:t>
            </a:r>
          </a:p>
          <a:p xmlns:a="http://schemas.openxmlformats.org/drawingml/2006/main">
            <a:r>
              <a:t/>
            </a:r>
          </a:p>
          <a:p xmlns:a="http://schemas.openxmlformats.org/drawingml/2006/main">
            <a:r>
              <a:t>EXPLAIN</a:t>
            </a:r>
          </a:p>
          <a:p xmlns:a="http://schemas.openxmlformats.org/drawingml/2006/main">
            <a:r>
              <a:t>Expected: 2 [2.5, 3.5]. A blank is missing, not a recorded zero.</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Collect only the recorded numbers</a:t>
            </a:r>
          </a:p>
          <a:p xmlns:a="http://schemas.openxmlformats.org/drawingml/2006/main">
            <a:r>
              <a:t/>
            </a:r>
          </a:p>
          <a:p xmlns:a="http://schemas.openxmlformats.org/drawingml/2006/main">
            <a:r>
              <a:t>CONNECT</a:t>
            </a:r>
          </a:p>
          <a:p xmlns:a="http://schemas.openxmlformats.org/drawingml/2006/main">
            <a:r>
              <a:t>Build on the preceding slide: Skip a blank before converting text.</a:t>
            </a:r>
          </a:p>
          <a:p xmlns:a="http://schemas.openxmlformats.org/drawingml/2006/main">
            <a:r>
              <a:t/>
            </a:r>
          </a:p>
          <a:p xmlns:a="http://schemas.openxmlformats.org/drawingml/2006/main">
            <a:r>
              <a:t>LECTURER CUE</a:t>
            </a:r>
          </a:p>
          <a:p xmlns:a="http://schemas.openxmlformats.org/drawingml/2006/main">
            <a:r>
              <a:t>Expected: 2 [2.5, 3.5]. A blank is missing, not a recorded zero.</a:t>
            </a:r>
          </a:p>
          <a:p xmlns:a="http://schemas.openxmlformats.org/drawingml/2006/main">
            <a:r>
              <a:t/>
            </a:r>
          </a:p>
          <a:p xmlns:a="http://schemas.openxmlformats.org/drawingml/2006/main">
            <a:r>
              <a:t>Complete practice code:</a:t>
            </a:r>
          </a:p>
          <a:p xmlns:a="http://schemas.openxmlformats.org/drawingml/2006/main">
            <a:r>
              <a:t>text_values = ["2.5", "", "3.5"]</a:t>
            </a:r>
          </a:p>
          <a:p xmlns:a="http://schemas.openxmlformats.org/drawingml/2006/main">
            <a:r>
              <a:t>values = []</a:t>
            </a:r>
          </a:p>
          <a:p xmlns:a="http://schemas.openxmlformats.org/drawingml/2006/main">
            <a:r>
              <a:t>for text in text_values:</a:t>
            </a:r>
          </a:p>
          <a:p xmlns:a="http://schemas.openxmlformats.org/drawingml/2006/main">
            <a:r>
              <a:t>    if text != "":</a:t>
            </a:r>
          </a:p>
          <a:p xmlns:a="http://schemas.openxmlformats.org/drawingml/2006/main">
            <a:r>
              <a:t>        values.append(float(text))</a:t>
            </a:r>
          </a:p>
          <a:p xmlns:a="http://schemas.openxmlformats.org/drawingml/2006/main">
            <a:r>
              <a:t>print(len(values), values)</a:t>
            </a:r>
          </a:p>
          <a:p xmlns:a="http://schemas.openxmlformats.org/drawingml/2006/main">
            <a:r>
              <a:t/>
            </a:r>
          </a:p>
          <a:p xmlns:a="http://schemas.openxmlformats.org/drawingml/2006/main">
            <a:r>
              <a:t>EXPLAIN IN ORDINARY WORDS</a:t>
            </a:r>
          </a:p>
          <a:p xmlns:a="http://schemas.openxmlformats.org/drawingml/2006/main">
            <a:r>
              <a:t>Missing means not recorded, not automatically zero. Decide why it is missing and document the rule. Fitted fill values must come from training data when evaluating a model.</a:t>
            </a:r>
          </a:p>
          <a:p xmlns:a="http://schemas.openxmlformats.org/drawingml/2006/main">
            <a:r>
              <a:t/>
            </a:r>
          </a:p>
          <a:p xmlns:a="http://schemas.openxmlformats.org/drawingml/2006/main">
            <a:r>
              <a:t>CHECK AND EXPECTED ANSWER</a:t>
            </a:r>
          </a:p>
          <a:p xmlns:a="http://schemas.openxmlformats.org/drawingml/2006/main">
            <a:r>
              <a:t>Is an unrecorded energy reading evidence of zero consumption? No.</a:t>
            </a:r>
          </a:p>
          <a:p xmlns:a="http://schemas.openxmlformats.org/drawingml/2006/main">
            <a:r>
              <a:t/>
            </a:r>
          </a:p>
          <a:p xmlns:a="http://schemas.openxmlformats.org/drawingml/2006/main">
            <a:r>
              <a:t>IF LEARNERS ARE STUCK</a:t>
            </a:r>
          </a:p>
          <a:p xmlns:a="http://schemas.openxmlformats.org/drawingml/2006/main">
            <a:r>
              <a:t>Use three rows: a recorded zero, a recorded positive value and a blank. Explain their different meanings before cleaning.</a:t>
            </a:r>
          </a:p>
          <a:p xmlns:a="http://schemas.openxmlformats.org/drawingml/2006/main">
            <a:r>
              <a:t/>
            </a:r>
          </a:p>
          <a:p xmlns:a="http://schemas.openxmlformats.org/drawingml/2006/main">
            <a:r>
              <a:t>WALK THROUGH THIS CODE</a:t>
            </a:r>
          </a:p>
          <a:p xmlns:a="http://schemas.openxmlformats.org/drawingml/2006/main">
            <a:r>
              <a:t>for takes the next item. The indented block repeats.</a:t>
            </a:r>
          </a:p>
          <a:p xmlns:a="http://schemas.openxmlformats.org/drawingml/2006/main">
            <a:r>
              <a:t>if tests a condition. The chosen indented block runs.</a:t>
            </a:r>
          </a:p>
          <a:p xmlns:a="http://schemas.openxmlformats.org/drawingml/2006/main">
            <a:r>
              <a:t>float converts numeric text into a decimal number.</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Summaries for separate groups.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Summaries for separate groups.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Summaries for separate groups</a:t>
            </a:r>
          </a:p>
          <a:p xmlns:a="http://schemas.openxmlformats.org/drawingml/2006/main">
            <a:r>
              <a:t/>
            </a:r>
          </a:p>
          <a:p xmlns:a="http://schemas.openxmlformats.org/drawingml/2006/main">
            <a:r>
              <a:t>CONNECT</a:t>
            </a:r>
          </a:p>
          <a:p xmlns:a="http://schemas.openxmlformats.org/drawingml/2006/main">
            <a:r>
              <a:t>Build on Collect only the recorded numbers. Explain why this example is needed before running it.</a:t>
            </a:r>
          </a:p>
          <a:p xmlns:a="http://schemas.openxmlformats.org/drawingml/2006/main">
            <a:r>
              <a:t/>
            </a:r>
          </a:p>
          <a:p xmlns:a="http://schemas.openxmlformats.org/drawingml/2006/main">
            <a:r>
              <a:t>EXPLAIN</a:t>
            </a:r>
          </a:p>
          <a:p xmlns:a="http://schemas.openxmlformats.org/drawingml/2006/main">
            <a:r>
              <a:t>A dictionary can hold one running total for each group.</a:t>
            </a:r>
          </a:p>
          <a:p xmlns:a="http://schemas.openxmlformats.org/drawingml/2006/main">
            <a:r>
              <a:t/>
            </a:r>
          </a:p>
          <a:p xmlns:a="http://schemas.openxmlformats.org/drawingml/2006/main">
            <a:r>
              <a:t>An absent key needs an initial zero.</a:t>
            </a:r>
          </a:p>
          <a:p xmlns:a="http://schemas.openxmlformats.org/drawingml/2006/main">
            <a:r>
              <a:t/>
            </a:r>
          </a:p>
          <a:p xmlns:a="http://schemas.openxmlformats.org/drawingml/2006/main">
            <a:r>
              <a:t>Then add the reading to that group.</a:t>
            </a:r>
          </a:p>
          <a:p xmlns:a="http://schemas.openxmlformats.org/drawingml/2006/main">
            <a:r>
              <a:t/>
            </a:r>
          </a:p>
          <a:p xmlns:a="http://schemas.openxmlformats.org/drawingml/2006/main">
            <a:r>
              <a:t>To calculate group means, keep a matching count and divide each group total by its own count.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Summaries for separate groups</a:t>
            </a:r>
          </a:p>
          <a:p xmlns:a="http://schemas.openxmlformats.org/drawingml/2006/main">
            <a:r>
              <a:t/>
            </a:r>
          </a:p>
          <a:p xmlns:a="http://schemas.openxmlformats.org/drawingml/2006/main">
            <a:r>
              <a:t>CONNECT</a:t>
            </a:r>
          </a:p>
          <a:p xmlns:a="http://schemas.openxmlformats.org/drawingml/2006/main">
            <a:r>
              <a:t>Build on the preceding slide: Collect only the recorded numbers.</a:t>
            </a:r>
          </a:p>
          <a:p xmlns:a="http://schemas.openxmlformats.org/drawingml/2006/main">
            <a:r>
              <a:t/>
            </a:r>
          </a:p>
          <a:p xmlns:a="http://schemas.openxmlformats.org/drawingml/2006/main">
            <a:r>
              <a:t>LECTURER CUE</a:t>
            </a:r>
          </a:p>
          <a:p xmlns:a="http://schemas.openxmlformats.org/drawingml/2006/main">
            <a:r>
              <a:t>A dictionary can hold one running total for each group. An absent key needs an initial zero. Then add the reading to that group. To calculate group means, keep a matching count and divide each group total by its own count.</a:t>
            </a:r>
          </a:p>
          <a:p xmlns:a="http://schemas.openxmlformats.org/drawingml/2006/main">
            <a:r>
              <a:t/>
            </a:r>
          </a:p>
          <a:p xmlns:a="http://schemas.openxmlformats.org/drawingml/2006/main">
            <a:r>
              <a:t>EXPLAIN IN ORDINARY WORDS</a:t>
            </a:r>
          </a:p>
          <a:p xmlns:a="http://schemas.openxmlformats.org/drawingml/2006/main">
            <a:r>
              <a:t>A combined mean is the combined total divided by the combined count. Averaging group means equally gives each group equal influence regardless of size.</a:t>
            </a:r>
          </a:p>
          <a:p xmlns:a="http://schemas.openxmlformats.org/drawingml/2006/main">
            <a:r>
              <a:t/>
            </a:r>
          </a:p>
          <a:p xmlns:a="http://schemas.openxmlformats.org/drawingml/2006/main">
            <a:r>
              <a:t>CHECK AND EXPECTED ANSWER</a:t>
            </a:r>
          </a:p>
          <a:p xmlns:a="http://schemas.openxmlformats.org/drawingml/2006/main">
            <a:r>
              <a:t>Group A: one value 10; group B: three values 2. Overall mean is 16/4=4, not (10+2)/2=6.</a:t>
            </a:r>
          </a:p>
          <a:p xmlns:a="http://schemas.openxmlformats.org/drawingml/2006/main">
            <a:r>
              <a:t/>
            </a:r>
          </a:p>
          <a:p xmlns:a="http://schemas.openxmlformats.org/drawingml/2006/main">
            <a:r>
              <a:t>IF LEARNERS ARE STUCK</a:t>
            </a:r>
          </a:p>
          <a:p xmlns:a="http://schemas.openxmlformats.org/drawingml/2006/main">
            <a:r>
              <a:t>Recover each group total as mean times count, add totals, then divide by all observations.</a:t>
            </a:r>
          </a:p>
          <a:p xmlns:a="http://schemas.openxmlformats.org/drawingml/2006/main">
            <a:r>
              <a:t/>
            </a:r>
          </a:p>
          <a:p xmlns:a="http://schemas.openxmlformats.org/drawingml/2006/main">
            <a:r>
              <a:t>NEXT</a:t>
            </a:r>
          </a:p>
          <a:p xmlns:a="http://schemas.openxmlformats.org/drawingml/2006/main">
            <a:r>
              <a:t>Summaries for separate groups in Python (1/2).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Summaries for separate groups in Python (1/2).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Summaries for separate groups in Python (1/2)</a:t>
            </a:r>
          </a:p>
          <a:p xmlns:a="http://schemas.openxmlformats.org/drawingml/2006/main">
            <a:r>
              <a:t/>
            </a:r>
          </a:p>
          <a:p xmlns:a="http://schemas.openxmlformats.org/drawingml/2006/main">
            <a:r>
              <a:t>CONNECT</a:t>
            </a:r>
          </a:p>
          <a:p xmlns:a="http://schemas.openxmlformats.org/drawingml/2006/main">
            <a:r>
              <a:t>Build on Summaries for separate groups.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Summaries for separate groups in Python (1/2)</a:t>
            </a:r>
          </a:p>
          <a:p xmlns:a="http://schemas.openxmlformats.org/drawingml/2006/main">
            <a:r>
              <a:t/>
            </a:r>
          </a:p>
          <a:p xmlns:a="http://schemas.openxmlformats.org/drawingml/2006/main">
            <a:r>
              <a:t>CONNECT</a:t>
            </a:r>
          </a:p>
          <a:p xmlns:a="http://schemas.openxmlformats.org/drawingml/2006/main">
            <a:r>
              <a:t>Build on the preceding slide: Summaries for separate groups.</a:t>
            </a:r>
          </a:p>
          <a:p xmlns:a="http://schemas.openxmlformats.org/drawingml/2006/main">
            <a:r>
              <a:t/>
            </a:r>
          </a:p>
          <a:p xmlns:a="http://schemas.openxmlformats.org/drawingml/2006/main">
            <a:r>
              <a:t>LECTURER CUE</a:t>
            </a:r>
          </a:p>
          <a:p xmlns:a="http://schemas.openxmlformats.org/drawingml/2006/main">
            <a:r>
              <a:t>A dictionary can hold one running total for each group. An absent key needs an initial zero. Then add the reading to that group. To calculate group means, keep a matching count and divide each group total by its own count.</a:t>
            </a:r>
          </a:p>
          <a:p xmlns:a="http://schemas.openxmlformats.org/drawingml/2006/main">
            <a:r>
              <a:t/>
            </a:r>
          </a:p>
          <a:p xmlns:a="http://schemas.openxmlformats.org/drawingml/2006/main">
            <a:r>
              <a:t>Complete practice code:</a:t>
            </a:r>
          </a:p>
          <a:p xmlns:a="http://schemas.openxmlformats.org/drawingml/2006/main">
            <a:r>
              <a:t>records = [{"group": "A", "reading": 2},</a:t>
            </a:r>
          </a:p>
          <a:p xmlns:a="http://schemas.openxmlformats.org/drawingml/2006/main">
            <a:r>
              <a:t>           {"group": "A", "reading": 4},</a:t>
            </a:r>
          </a:p>
          <a:p xmlns:a="http://schemas.openxmlformats.org/drawingml/2006/main">
            <a:r>
              <a:t>           {"group": "B", "reading": 9}]</a:t>
            </a:r>
          </a:p>
          <a:p xmlns:a="http://schemas.openxmlformats.org/drawingml/2006/main">
            <a:r>
              <a:t>totals = {}</a:t>
            </a:r>
          </a:p>
          <a:p xmlns:a="http://schemas.openxmlformats.org/drawingml/2006/main">
            <a:r>
              <a:t>for row in records:</a:t>
            </a:r>
          </a:p>
          <a:p xmlns:a="http://schemas.openxmlformats.org/drawingml/2006/main">
            <a:r>
              <a:t>    group = row["group"]</a:t>
            </a:r>
          </a:p>
          <a:p xmlns:a="http://schemas.openxmlformats.org/drawingml/2006/main">
            <a:r>
              <a:t>    if group not in totals:</a:t>
            </a:r>
          </a:p>
          <a:p xmlns:a="http://schemas.openxmlformats.org/drawingml/2006/main">
            <a:r>
              <a:t>        totals[group] = 0</a:t>
            </a:r>
          </a:p>
          <a:p xmlns:a="http://schemas.openxmlformats.org/drawingml/2006/main">
            <a:r>
              <a:t>    totals[group] = totals[group] + row["reading"]</a:t>
            </a:r>
          </a:p>
          <a:p xmlns:a="http://schemas.openxmlformats.org/drawingml/2006/main">
            <a:r>
              <a:t>print(totals)</a:t>
            </a:r>
          </a:p>
          <a:p xmlns:a="http://schemas.openxmlformats.org/drawingml/2006/main">
            <a:r>
              <a:t/>
            </a:r>
          </a:p>
          <a:p xmlns:a="http://schemas.openxmlformats.org/drawingml/2006/main">
            <a:r>
              <a:t>WALK THROUGH THIS CODE</a:t>
            </a:r>
          </a:p>
          <a:p xmlns:a="http://schemas.openxmlformats.org/drawingml/2006/main">
            <a:r>
              <a:t>for takes the next item. The indented block repeats.</a:t>
            </a:r>
          </a:p>
          <a:p xmlns:a="http://schemas.openxmlformats.org/drawingml/2006/main">
            <a:r>
              <a:t>if tests a condition. The chosen indented block runs.</a:t>
            </a:r>
          </a:p>
          <a:p xmlns:a="http://schemas.openxmlformats.org/drawingml/2006/main">
            <a:r>
              <a:t>Square brackets create a list or select an item.</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Summaries for separate groups in Python (2/2).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Summaries for separate groups in Python (2/2).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Summaries for separate groups in Python (2/2)</a:t>
            </a:r>
          </a:p>
          <a:p xmlns:a="http://schemas.openxmlformats.org/drawingml/2006/main">
            <a:r>
              <a:t/>
            </a:r>
          </a:p>
          <a:p xmlns:a="http://schemas.openxmlformats.org/drawingml/2006/main">
            <a:r>
              <a:t>CONNECT</a:t>
            </a:r>
          </a:p>
          <a:p xmlns:a="http://schemas.openxmlformats.org/drawingml/2006/main">
            <a:r>
              <a:t>Build on Summaries for separate groups in Python (1/2). Explain why this example is needed before running it.</a:t>
            </a:r>
          </a:p>
          <a:p xmlns:a="http://schemas.openxmlformats.org/drawingml/2006/main">
            <a:r>
              <a:t/>
            </a:r>
          </a:p>
          <a:p xmlns:a="http://schemas.openxmlformats.org/drawingml/2006/main">
            <a:r>
              <a:t>EXPLAIN</a:t>
            </a:r>
          </a:p>
          <a:p xmlns:a="http://schemas.openxmlformats.org/drawingml/2006/main">
            <a:r>
              <a:t>Continue the SAME cell; keep indentation. Run after all parts are entered.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Summaries for separate groups in Python (2/2)</a:t>
            </a:r>
          </a:p>
          <a:p xmlns:a="http://schemas.openxmlformats.org/drawingml/2006/main">
            <a:r>
              <a:t/>
            </a:r>
          </a:p>
          <a:p xmlns:a="http://schemas.openxmlformats.org/drawingml/2006/main">
            <a:r>
              <a:t>CONNECT</a:t>
            </a:r>
          </a:p>
          <a:p xmlns:a="http://schemas.openxmlformats.org/drawingml/2006/main">
            <a:r>
              <a:t>Build on the preceding slide: Summaries for separate groups in Python (1/2).</a:t>
            </a:r>
          </a:p>
          <a:p xmlns:a="http://schemas.openxmlformats.org/drawingml/2006/main">
            <a:r>
              <a:t/>
            </a:r>
          </a:p>
          <a:p xmlns:a="http://schemas.openxmlformats.org/drawingml/2006/main">
            <a:r>
              <a:t>LECTURER CUE</a:t>
            </a:r>
          </a:p>
          <a:p xmlns:a="http://schemas.openxmlformats.org/drawingml/2006/main">
            <a:r>
              <a:t>A dictionary can hold one running total for each group. An absent key needs an initial zero. Then add the reading to that group. To calculate group means, keep a matching count and divide each group total by its own count.</a:t>
            </a:r>
          </a:p>
          <a:p xmlns:a="http://schemas.openxmlformats.org/drawingml/2006/main">
            <a:r>
              <a:t/>
            </a:r>
          </a:p>
          <a:p xmlns:a="http://schemas.openxmlformats.org/drawingml/2006/main">
            <a:r>
              <a:t>Complete practice code:</a:t>
            </a:r>
          </a:p>
          <a:p xmlns:a="http://schemas.openxmlformats.org/drawingml/2006/main">
            <a:r>
              <a:t>records = [{"group": "A", "reading": 2},</a:t>
            </a:r>
          </a:p>
          <a:p xmlns:a="http://schemas.openxmlformats.org/drawingml/2006/main">
            <a:r>
              <a:t>           {"group": "A", "reading": 4},</a:t>
            </a:r>
          </a:p>
          <a:p xmlns:a="http://schemas.openxmlformats.org/drawingml/2006/main">
            <a:r>
              <a:t>           {"group": "B", "reading": 9}]</a:t>
            </a:r>
          </a:p>
          <a:p xmlns:a="http://schemas.openxmlformats.org/drawingml/2006/main">
            <a:r>
              <a:t>totals = {}</a:t>
            </a:r>
          </a:p>
          <a:p xmlns:a="http://schemas.openxmlformats.org/drawingml/2006/main">
            <a:r>
              <a:t>for row in records:</a:t>
            </a:r>
          </a:p>
          <a:p xmlns:a="http://schemas.openxmlformats.org/drawingml/2006/main">
            <a:r>
              <a:t>    group = row["group"]</a:t>
            </a:r>
          </a:p>
          <a:p xmlns:a="http://schemas.openxmlformats.org/drawingml/2006/main">
            <a:r>
              <a:t>    if group not in totals:</a:t>
            </a:r>
          </a:p>
          <a:p xmlns:a="http://schemas.openxmlformats.org/drawingml/2006/main">
            <a:r>
              <a:t>        totals[group] = 0</a:t>
            </a:r>
          </a:p>
          <a:p xmlns:a="http://schemas.openxmlformats.org/drawingml/2006/main">
            <a:r>
              <a:t>    totals[group] = totals[group] + row["reading"]</a:t>
            </a:r>
          </a:p>
          <a:p xmlns:a="http://schemas.openxmlformats.org/drawingml/2006/main">
            <a:r>
              <a:t>print(totals)</a:t>
            </a:r>
          </a:p>
          <a:p xmlns:a="http://schemas.openxmlformats.org/drawingml/2006/main">
            <a:r>
              <a:t/>
            </a:r>
          </a:p>
          <a:p xmlns:a="http://schemas.openxmlformats.org/drawingml/2006/main">
            <a:r>
              <a:t>EXPLAIN IN ORDINARY WORDS</a:t>
            </a:r>
          </a:p>
          <a:p xmlns:a="http://schemas.openxmlformats.org/drawingml/2006/main">
            <a:r>
              <a:t>A notebook contains code cells and explanatory text cells. The runtime remembers values from cells that actually ran, which may differ from their visual order.</a:t>
            </a:r>
          </a:p>
          <a:p xmlns:a="http://schemas.openxmlformats.org/drawingml/2006/main">
            <a:r>
              <a:t/>
            </a:r>
          </a:p>
          <a:p xmlns:a="http://schemas.openxmlformats.org/drawingml/2006/main">
            <a:r>
              <a:t>CHECK AND EXPECTED ANSWER</a:t>
            </a:r>
          </a:p>
          <a:p xmlns:a="http://schemas.openxmlformats.org/drawingml/2006/main">
            <a:r>
              <a:t>Does editing a cell update a value already stored in memory? No; the cell must run.</a:t>
            </a:r>
          </a:p>
          <a:p xmlns:a="http://schemas.openxmlformats.org/drawingml/2006/main">
            <a:r>
              <a:t/>
            </a:r>
          </a:p>
          <a:p xmlns:a="http://schemas.openxmlformats.org/drawingml/2006/main">
            <a:r>
              <a:t>IF LEARNERS ARE STUCK</a:t>
            </a:r>
          </a:p>
          <a:p xmlns:a="http://schemas.openxmlformats.org/drawingml/2006/main">
            <a:r>
              <a:t>Outside an assessment restriction, restart and run from the top after loading data. Fix the first error before later cells; save the successful notebook.</a:t>
            </a:r>
          </a:p>
          <a:p xmlns:a="http://schemas.openxmlformats.org/drawingml/2006/main">
            <a:r>
              <a:t/>
            </a:r>
          </a:p>
          <a:p xmlns:a="http://schemas.openxmlformats.org/drawingml/2006/main">
            <a:r>
              <a:t>WALK THROUGH THIS CODE</a:t>
            </a:r>
          </a:p>
          <a:p xmlns:a="http://schemas.openxmlformats.org/drawingml/2006/main">
            <a:r>
              <a:t>print displays a value below the cell.</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A group mean needs its own count.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group mean needs its own count.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group mean needs its own count</a:t>
            </a:r>
          </a:p>
          <a:p xmlns:a="http://schemas.openxmlformats.org/drawingml/2006/main">
            <a:r>
              <a:t/>
            </a:r>
          </a:p>
          <a:p xmlns:a="http://schemas.openxmlformats.org/drawingml/2006/main">
            <a:r>
              <a:t>CONNECT</a:t>
            </a:r>
          </a:p>
          <a:p xmlns:a="http://schemas.openxmlformats.org/drawingml/2006/main">
            <a:r>
              <a:t>Build on Summaries for separate groups in Python (2/2). Explain why this example is needed before running it.</a:t>
            </a:r>
          </a:p>
          <a:p xmlns:a="http://schemas.openxmlformats.org/drawingml/2006/main">
            <a:r>
              <a:t/>
            </a:r>
          </a:p>
          <a:p xmlns:a="http://schemas.openxmlformats.org/drawingml/2006/main">
            <a:r>
              <a:t>EXPLAIN</a:t>
            </a:r>
          </a:p>
          <a:p xmlns:a="http://schemas.openxmlformats.org/drawingml/2006/main">
            <a:r>
              <a:t>The preceding loop calculated a total for each group. Count records in those same groups, then divide each group total by its own count.</a:t>
            </a:r>
          </a:p>
          <a:p xmlns:a="http://schemas.openxmlformats.org/drawingml/2006/main">
            <a:r>
              <a:t/>
            </a:r>
          </a:p>
          <a:p xmlns:a="http://schemas.openxmlformats.org/drawingml/2006/main">
            <a:r>
              <a:t>items() supplies the group name and its total together. We use small invented records, not the assignment’s answers.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group mean needs its own count</a:t>
            </a:r>
          </a:p>
          <a:p xmlns:a="http://schemas.openxmlformats.org/drawingml/2006/main">
            <a:r>
              <a:t/>
            </a:r>
          </a:p>
          <a:p xmlns:a="http://schemas.openxmlformats.org/drawingml/2006/main">
            <a:r>
              <a:t>CONNECT</a:t>
            </a:r>
          </a:p>
          <a:p xmlns:a="http://schemas.openxmlformats.org/drawingml/2006/main">
            <a:r>
              <a:t>Build on the preceding slide: Summaries for separate groups in Python (2/2).</a:t>
            </a:r>
          </a:p>
          <a:p xmlns:a="http://schemas.openxmlformats.org/drawingml/2006/main">
            <a:r>
              <a:t/>
            </a:r>
          </a:p>
          <a:p xmlns:a="http://schemas.openxmlformats.org/drawingml/2006/main">
            <a:r>
              <a:t>EXPLAIN IN ORDINARY WORDS</a:t>
            </a:r>
          </a:p>
          <a:p xmlns:a="http://schemas.openxmlformats.org/drawingml/2006/main">
            <a:r>
              <a:t>A combined mean is the combined total divided by the combined count. Averaging group means equally gives each group equal influence regardless of size.</a:t>
            </a:r>
          </a:p>
          <a:p xmlns:a="http://schemas.openxmlformats.org/drawingml/2006/main">
            <a:r>
              <a:t/>
            </a:r>
          </a:p>
          <a:p xmlns:a="http://schemas.openxmlformats.org/drawingml/2006/main">
            <a:r>
              <a:t>CHECK AND EXPECTED ANSWER</a:t>
            </a:r>
          </a:p>
          <a:p xmlns:a="http://schemas.openxmlformats.org/drawingml/2006/main">
            <a:r>
              <a:t>Group A: one value 10; group B: three values 2. Overall mean is 16/4=4, not (10+2)/2=6.</a:t>
            </a:r>
          </a:p>
          <a:p xmlns:a="http://schemas.openxmlformats.org/drawingml/2006/main">
            <a:r>
              <a:t/>
            </a:r>
          </a:p>
          <a:p xmlns:a="http://schemas.openxmlformats.org/drawingml/2006/main">
            <a:r>
              <a:t>IF LEARNERS ARE STUCK</a:t>
            </a:r>
          </a:p>
          <a:p xmlns:a="http://schemas.openxmlformats.org/drawingml/2006/main">
            <a:r>
              <a:t>Recover each group total as mean times count, add totals, then divide by all observations.</a:t>
            </a:r>
          </a:p>
          <a:p xmlns:a="http://schemas.openxmlformats.org/drawingml/2006/main">
            <a:r>
              <a:t/>
            </a:r>
          </a:p>
          <a:p xmlns:a="http://schemas.openxmlformats.org/drawingml/2006/main">
            <a:r>
              <a:t>NEXT</a:t>
            </a:r>
          </a:p>
          <a:p xmlns:a="http://schemas.openxmlformats.org/drawingml/2006/main">
            <a:r>
              <a:t>From group totals to group means.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From group totals to group means.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From group totals to group means</a:t>
            </a:r>
          </a:p>
          <a:p xmlns:a="http://schemas.openxmlformats.org/drawingml/2006/main">
            <a:r>
              <a:t/>
            </a:r>
          </a:p>
          <a:p xmlns:a="http://schemas.openxmlformats.org/drawingml/2006/main">
            <a:r>
              <a:t>CONNECT</a:t>
            </a:r>
          </a:p>
          <a:p xmlns:a="http://schemas.openxmlformats.org/drawingml/2006/main">
            <a:r>
              <a:t>Build on A group mean needs its own count. Explain why this example is needed before running it.</a:t>
            </a:r>
          </a:p>
          <a:p xmlns:a="http://schemas.openxmlformats.org/drawingml/2006/main">
            <a:r>
              <a:t/>
            </a:r>
          </a:p>
          <a:p xmlns:a="http://schemas.openxmlformats.org/drawingml/2006/main">
            <a:r>
              <a:t>EXPLAIN</a:t>
            </a:r>
          </a:p>
          <a:p xmlns:a="http://schemas.openxmlformats.org/drawingml/2006/main">
            <a:r>
              <a:t>Expected: A has mean 3.0 and B has mean 9.0. Each group uses its own denominator.</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From group totals to group means</a:t>
            </a:r>
          </a:p>
          <a:p xmlns:a="http://schemas.openxmlformats.org/drawingml/2006/main">
            <a:r>
              <a:t/>
            </a:r>
          </a:p>
          <a:p xmlns:a="http://schemas.openxmlformats.org/drawingml/2006/main">
            <a:r>
              <a:t>CONNECT</a:t>
            </a:r>
          </a:p>
          <a:p xmlns:a="http://schemas.openxmlformats.org/drawingml/2006/main">
            <a:r>
              <a:t>Build on the preceding slide: A group mean needs its own count.</a:t>
            </a:r>
          </a:p>
          <a:p xmlns:a="http://schemas.openxmlformats.org/drawingml/2006/main">
            <a:r>
              <a:t/>
            </a:r>
          </a:p>
          <a:p xmlns:a="http://schemas.openxmlformats.org/drawingml/2006/main">
            <a:r>
              <a:t>LECTURER CUE</a:t>
            </a:r>
          </a:p>
          <a:p xmlns:a="http://schemas.openxmlformats.org/drawingml/2006/main">
            <a:r>
              <a:t>Expected: A has mean 3.0 and B has mean 9.0. Each group uses its own denominator.</a:t>
            </a:r>
          </a:p>
          <a:p xmlns:a="http://schemas.openxmlformats.org/drawingml/2006/main">
            <a:r>
              <a:t/>
            </a:r>
          </a:p>
          <a:p xmlns:a="http://schemas.openxmlformats.org/drawingml/2006/main">
            <a:r>
              <a:t>Complete practice code:</a:t>
            </a:r>
          </a:p>
          <a:p xmlns:a="http://schemas.openxmlformats.org/drawingml/2006/main">
            <a:r>
              <a:t>counts = {}</a:t>
            </a:r>
          </a:p>
          <a:p xmlns:a="http://schemas.openxmlformats.org/drawingml/2006/main">
            <a:r>
              <a:t>for row in records:</a:t>
            </a:r>
          </a:p>
          <a:p xmlns:a="http://schemas.openxmlformats.org/drawingml/2006/main">
            <a:r>
              <a:t>    group = row["group"]</a:t>
            </a:r>
          </a:p>
          <a:p xmlns:a="http://schemas.openxmlformats.org/drawingml/2006/main">
            <a:r>
              <a:t>    counts[group] = counts.get(group, 0) + 1</a:t>
            </a:r>
          </a:p>
          <a:p xmlns:a="http://schemas.openxmlformats.org/drawingml/2006/main">
            <a:r>
              <a:t>means = {}</a:t>
            </a:r>
          </a:p>
          <a:p xmlns:a="http://schemas.openxmlformats.org/drawingml/2006/main">
            <a:r>
              <a:t>for group, total in totals.items():</a:t>
            </a:r>
          </a:p>
          <a:p xmlns:a="http://schemas.openxmlformats.org/drawingml/2006/main">
            <a:r>
              <a:t>    means[group] = total / counts[group]</a:t>
            </a:r>
          </a:p>
          <a:p xmlns:a="http://schemas.openxmlformats.org/drawingml/2006/main">
            <a:r>
              <a:t>print(means)</a:t>
            </a:r>
          </a:p>
          <a:p xmlns:a="http://schemas.openxmlformats.org/drawingml/2006/main">
            <a:r>
              <a:t/>
            </a:r>
          </a:p>
          <a:p xmlns:a="http://schemas.openxmlformats.org/drawingml/2006/main">
            <a:r>
              <a:t>EXPLAIN IN ORDINARY WORDS</a:t>
            </a:r>
          </a:p>
          <a:p xmlns:a="http://schemas.openxmlformats.org/drawingml/2006/main">
            <a:r>
              <a:t>A combined mean is the combined total divided by the combined count. Averaging group means equally gives each group equal influence regardless of size.</a:t>
            </a:r>
          </a:p>
          <a:p xmlns:a="http://schemas.openxmlformats.org/drawingml/2006/main">
            <a:r>
              <a:t/>
            </a:r>
          </a:p>
          <a:p xmlns:a="http://schemas.openxmlformats.org/drawingml/2006/main">
            <a:r>
              <a:t>CHECK AND EXPECTED ANSWER</a:t>
            </a:r>
          </a:p>
          <a:p xmlns:a="http://schemas.openxmlformats.org/drawingml/2006/main">
            <a:r>
              <a:t>Group A: one value 10; group B: three values 2. Overall mean is 16/4=4, not (10+2)/2=6.</a:t>
            </a:r>
          </a:p>
          <a:p xmlns:a="http://schemas.openxmlformats.org/drawingml/2006/main">
            <a:r>
              <a:t/>
            </a:r>
          </a:p>
          <a:p xmlns:a="http://schemas.openxmlformats.org/drawingml/2006/main">
            <a:r>
              <a:t>IF LEARNERS ARE STUCK</a:t>
            </a:r>
          </a:p>
          <a:p xmlns:a="http://schemas.openxmlformats.org/drawingml/2006/main">
            <a:r>
              <a:t>Recover each group total as mean times count, add totals, then divide by all observations.</a:t>
            </a:r>
          </a:p>
          <a:p xmlns:a="http://schemas.openxmlformats.org/drawingml/2006/main">
            <a:r>
              <a:t/>
            </a:r>
          </a:p>
          <a:p xmlns:a="http://schemas.openxmlformats.org/drawingml/2006/main">
            <a:r>
              <a:t>WALK THROUGH THIS CODE</a:t>
            </a:r>
          </a:p>
          <a:p xmlns:a="http://schemas.openxmlformats.org/drawingml/2006/main">
            <a:r>
              <a:t>for takes the next item. The indented block repeats.</a:t>
            </a:r>
          </a:p>
          <a:p xmlns:a="http://schemas.openxmlformats.org/drawingml/2006/main">
            <a:r>
              <a:t>print displays a value below the cell.</a:t>
            </a:r>
          </a:p>
          <a:p xmlns:a="http://schemas.openxmlformats.org/drawingml/2006/main">
            <a:r>
              <a:t>Square brackets create a list or select an item.</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When numeric text cannot be converted.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When numeric text cannot be converted.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When numeric text cannot be converted</a:t>
            </a:r>
          </a:p>
          <a:p xmlns:a="http://schemas.openxmlformats.org/drawingml/2006/main">
            <a:r>
              <a:t/>
            </a:r>
          </a:p>
          <a:p xmlns:a="http://schemas.openxmlformats.org/drawingml/2006/main">
            <a:r>
              <a:t>CONNECT</a:t>
            </a:r>
          </a:p>
          <a:p xmlns:a="http://schemas.openxmlformats.org/drawingml/2006/main">
            <a:r>
              <a:t>Build on From group totals to group means. Explain why this example is needed before running it.</a:t>
            </a:r>
          </a:p>
          <a:p xmlns:a="http://schemas.openxmlformats.org/drawingml/2006/main">
            <a:r>
              <a:t/>
            </a:r>
          </a:p>
          <a:p xmlns:a="http://schemas.openxmlformats.org/drawingml/2006/main">
            <a:r>
              <a:t>EXPLAIN</a:t>
            </a:r>
          </a:p>
          <a:p xmlns:a="http://schemas.openxmlformats.org/drawingml/2006/main">
            <a:r>
              <a:t>float("bad") raises ValueError: the text does not represent a number. An exception interrupts ordinary execution.</a:t>
            </a:r>
          </a:p>
          <a:p xmlns:a="http://schemas.openxmlformats.org/drawingml/2006/main">
            <a:r>
              <a:t/>
            </a:r>
          </a:p>
          <a:p xmlns:a="http://schemas.openxmlformats.org/drawingml/2006/main">
            <a:r>
              <a:t>try contains the operation that might fail. except ValueError runs only for that named failure. Indentation shows the two blocks.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When numeric text cannot be converted</a:t>
            </a:r>
          </a:p>
          <a:p xmlns:a="http://schemas.openxmlformats.org/drawingml/2006/main">
            <a:r>
              <a:t/>
            </a:r>
          </a:p>
          <a:p xmlns:a="http://schemas.openxmlformats.org/drawingml/2006/main">
            <a:r>
              <a:t>CONNECT</a:t>
            </a:r>
          </a:p>
          <a:p xmlns:a="http://schemas.openxmlformats.org/drawingml/2006/main">
            <a:r>
              <a:t>Build on the preceding slide: From group totals to group means.</a:t>
            </a:r>
          </a:p>
          <a:p xmlns:a="http://schemas.openxmlformats.org/drawingml/2006/main">
            <a:r>
              <a:t/>
            </a:r>
          </a:p>
          <a:p xmlns:a="http://schemas.openxmlformats.org/drawingml/2006/main">
            <a:r>
              <a:t>EXPLAIN IN ORDINARY WORDS</a:t>
            </a:r>
          </a:p>
          <a:p xmlns:a="http://schemas.openxmlformats.org/drawingml/2006/main">
            <a:r>
              <a:t>A notebook contains code cells and explanatory text cells. The runtime remembers values from cells that actually ran, which may differ from their visual order.</a:t>
            </a:r>
          </a:p>
          <a:p xmlns:a="http://schemas.openxmlformats.org/drawingml/2006/main">
            <a:r>
              <a:t/>
            </a:r>
          </a:p>
          <a:p xmlns:a="http://schemas.openxmlformats.org/drawingml/2006/main">
            <a:r>
              <a:t>CHECK AND EXPECTED ANSWER</a:t>
            </a:r>
          </a:p>
          <a:p xmlns:a="http://schemas.openxmlformats.org/drawingml/2006/main">
            <a:r>
              <a:t>Does editing a cell update a value already stored in memory? No; the cell must run.</a:t>
            </a:r>
          </a:p>
          <a:p xmlns:a="http://schemas.openxmlformats.org/drawingml/2006/main">
            <a:r>
              <a:t/>
            </a:r>
          </a:p>
          <a:p xmlns:a="http://schemas.openxmlformats.org/drawingml/2006/main">
            <a:r>
              <a:t>IF LEARNERS ARE STUCK</a:t>
            </a:r>
          </a:p>
          <a:p xmlns:a="http://schemas.openxmlformats.org/drawingml/2006/main">
            <a:r>
              <a:t>Outside an assessment restriction, restart and run from the top after loading data. Fix the first error before later cells; save the successful notebook.</a:t>
            </a:r>
          </a:p>
          <a:p xmlns:a="http://schemas.openxmlformats.org/drawingml/2006/main">
            <a:r>
              <a:t/>
            </a:r>
          </a:p>
          <a:p xmlns:a="http://schemas.openxmlformats.org/drawingml/2006/main">
            <a:r>
              <a:t>NEXT</a:t>
            </a:r>
          </a:p>
          <a:p xmlns:a="http://schemas.openxmlformats.org/drawingml/2006/main">
            <a:r>
              <a:t>Catch one expected conversion failure.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Catch one expected conversion failure.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Catch one expected conversion failure</a:t>
            </a:r>
          </a:p>
          <a:p xmlns:a="http://schemas.openxmlformats.org/drawingml/2006/main">
            <a:r>
              <a:t/>
            </a:r>
          </a:p>
          <a:p xmlns:a="http://schemas.openxmlformats.org/drawingml/2006/main">
            <a:r>
              <a:t>CONNECT</a:t>
            </a:r>
          </a:p>
          <a:p xmlns:a="http://schemas.openxmlformats.org/drawingml/2006/main">
            <a:r>
              <a:t>Build on When numeric text cannot be converted. Explain why this example is needed before running it.</a:t>
            </a:r>
          </a:p>
          <a:p xmlns:a="http://schemas.openxmlformats.org/drawingml/2006/main">
            <a:r>
              <a:t/>
            </a:r>
          </a:p>
          <a:p xmlns:a="http://schemas.openxmlformats.org/drawingml/2006/main">
            <a:r>
              <a:t>EXPLAIN</a:t>
            </a:r>
          </a:p>
          <a:p xmlns:a="http://schemas.openxmlformats.org/drawingml/2006/main">
            <a:r>
              <a:t>Expected: None. The assignment specifies which invalid records to skip; do not invent a replacement number.</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Catch one expected conversion failure</a:t>
            </a:r>
          </a:p>
          <a:p xmlns:a="http://schemas.openxmlformats.org/drawingml/2006/main">
            <a:r>
              <a:t/>
            </a:r>
          </a:p>
          <a:p xmlns:a="http://schemas.openxmlformats.org/drawingml/2006/main">
            <a:r>
              <a:t>CONNECT</a:t>
            </a:r>
          </a:p>
          <a:p xmlns:a="http://schemas.openxmlformats.org/drawingml/2006/main">
            <a:r>
              <a:t>Build on the preceding slide: When numeric text cannot be converted.</a:t>
            </a:r>
          </a:p>
          <a:p xmlns:a="http://schemas.openxmlformats.org/drawingml/2006/main">
            <a:r>
              <a:t/>
            </a:r>
          </a:p>
          <a:p xmlns:a="http://schemas.openxmlformats.org/drawingml/2006/main">
            <a:r>
              <a:t>LECTURER CUE</a:t>
            </a:r>
          </a:p>
          <a:p xmlns:a="http://schemas.openxmlformats.org/drawingml/2006/main">
            <a:r>
              <a:t>Expected: None. The assignment specifies which invalid records to skip; do not invent a replacement number.</a:t>
            </a:r>
          </a:p>
          <a:p xmlns:a="http://schemas.openxmlformats.org/drawingml/2006/main">
            <a:r>
              <a:t/>
            </a:r>
          </a:p>
          <a:p xmlns:a="http://schemas.openxmlformats.org/drawingml/2006/main">
            <a:r>
              <a:t>Complete practice code:</a:t>
            </a:r>
          </a:p>
          <a:p xmlns:a="http://schemas.openxmlformats.org/drawingml/2006/main">
            <a:r>
              <a:t>text = "bad"</a:t>
            </a:r>
          </a:p>
          <a:p xmlns:a="http://schemas.openxmlformats.org/drawingml/2006/main">
            <a:r>
              <a:t>try:</a:t>
            </a:r>
          </a:p>
          <a:p xmlns:a="http://schemas.openxmlformats.org/drawingml/2006/main">
            <a:r>
              <a:t>    reading = float(text)</a:t>
            </a:r>
          </a:p>
          <a:p xmlns:a="http://schemas.openxmlformats.org/drawingml/2006/main">
            <a:r>
              <a:t>except ValueError:</a:t>
            </a:r>
          </a:p>
          <a:p xmlns:a="http://schemas.openxmlformats.org/drawingml/2006/main">
            <a:r>
              <a:t>    reading = None</a:t>
            </a:r>
          </a:p>
          <a:p xmlns:a="http://schemas.openxmlformats.org/drawingml/2006/main">
            <a:r>
              <a:t>print(reading)</a:t>
            </a:r>
          </a:p>
          <a:p xmlns:a="http://schemas.openxmlformats.org/drawingml/2006/main">
            <a:r>
              <a:t/>
            </a:r>
          </a:p>
          <a:p xmlns:a="http://schemas.openxmlformats.org/drawingml/2006/main">
            <a:r>
              <a:t>EXPLAIN IN ORDINARY WORDS</a:t>
            </a:r>
          </a:p>
          <a:p xmlns:a="http://schemas.openxmlformats.org/drawingml/2006/main">
            <a:r>
              <a:t>Read each quantity and unit before using a formula. Python calculates numbers but does not enforce physical units. Parentheses specify which operation happens first.</a:t>
            </a:r>
          </a:p>
          <a:p xmlns:a="http://schemas.openxmlformats.org/drawingml/2006/main">
            <a:r>
              <a:t/>
            </a:r>
          </a:p>
          <a:p xmlns:a="http://schemas.openxmlformats.org/drawingml/2006/main">
            <a:r>
              <a:t>CHECK AND EXPECTED ANSWER</a:t>
            </a:r>
          </a:p>
          <a:p xmlns:a="http://schemas.openxmlformats.org/drawingml/2006/main">
            <a:r>
              <a:t>What is 5 m times 3 m? 15 square metres. What is 7/2 in Python? 3.5; 7//2 is 3.</a:t>
            </a:r>
          </a:p>
          <a:p xmlns:a="http://schemas.openxmlformats.org/drawingml/2006/main">
            <a:r>
              <a:t/>
            </a:r>
          </a:p>
          <a:p xmlns:a="http://schemas.openxmlformats.org/drawingml/2006/main">
            <a:r>
              <a:t>IF LEARNERS ARE STUCK</a:t>
            </a:r>
          </a:p>
          <a:p xmlns:a="http://schemas.openxmlformats.org/drawingml/2006/main">
            <a:r>
              <a:t>Write the formula and units on paper, substitute small values, then translate it to Python. Check zero denominators and the issued sign convention.</a:t>
            </a:r>
          </a:p>
          <a:p xmlns:a="http://schemas.openxmlformats.org/drawingml/2006/main">
            <a:r>
              <a:t/>
            </a:r>
          </a:p>
          <a:p xmlns:a="http://schemas.openxmlformats.org/drawingml/2006/main">
            <a:r>
              <a:t>WALK THROUGH THIS CODE</a:t>
            </a:r>
          </a:p>
          <a:p xmlns:a="http://schemas.openxmlformats.org/drawingml/2006/main">
            <a:r>
              <a:t>float converts numeric text into a decimal number.</a:t>
            </a:r>
          </a:p>
          <a:p xmlns:a="http://schemas.openxmlformats.org/drawingml/2006/main">
            <a:r>
              <a:t>print displays a value below the cell.</a:t>
            </a:r>
          </a:p>
          <a:p xmlns:a="http://schemas.openxmlformats.org/drawingml/2006/main">
            <a:r>
              <a:t>= assigns the value on the right to the name on the left.</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You are the loop.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Revision example and answer.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example and answer</a:t>
            </a:r>
          </a:p>
          <a:p xmlns:a="http://schemas.openxmlformats.org/drawingml/2006/main">
            <a:r>
              <a:t/>
            </a:r>
          </a:p>
          <a:p xmlns:a="http://schemas.openxmlformats.org/drawingml/2006/main">
            <a:r>
              <a:t>CONNECT</a:t>
            </a:r>
          </a:p>
          <a:p xmlns:a="http://schemas.openxmlformats.org/drawingml/2006/main">
            <a:r>
              <a:t>Build on Catch one expected conversion failure. Explain why this example is needed before running it.</a:t>
            </a:r>
          </a:p>
          <a:p xmlns:a="http://schemas.openxmlformats.org/drawingml/2006/main">
            <a:r>
              <a:t/>
            </a:r>
          </a:p>
          <a:p xmlns:a="http://schemas.openxmlformats.org/drawingml/2006/main">
            <a:r>
              <a:t>EXPLAIN</a:t>
            </a:r>
          </a:p>
          <a:p xmlns:a="http://schemas.openxmlformats.org/drawingml/2006/main">
            <a:r>
              <a:t>Example: Add 8 to the list. Trace the new total and count before running. What happens if total = 0 is moved inside the loop?</a:t>
            </a:r>
          </a:p>
          <a:p xmlns:a="http://schemas.openxmlformats.org/drawingml/2006/main">
            <a:r>
              <a:t/>
            </a:r>
          </a:p>
          <a:p xmlns:a="http://schemas.openxmlformats.org/drawingml/2006/main">
            <a:r>
              <a:t>Answer: Total 20, count 4, mean 5.0. Resetting inside the loop discards previous additions and leaves only the last value in total.</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Your turn</a:t>
            </a:r>
          </a:p>
          <a:p xmlns:a="http://schemas.openxmlformats.org/drawingml/2006/main">
            <a:r>
              <a:t/>
            </a:r>
          </a:p>
          <a:p xmlns:a="http://schemas.openxmlformats.org/drawingml/2006/main">
            <a:r>
              <a:t>CONNECT</a:t>
            </a:r>
          </a:p>
          <a:p xmlns:a="http://schemas.openxmlformats.org/drawingml/2006/main">
            <a:r>
              <a:t>Build on the preceding slide: What the activity shows.</a:t>
            </a:r>
          </a:p>
          <a:p xmlns:a="http://schemas.openxmlformats.org/drawingml/2006/main">
            <a:r>
              <a:t/>
            </a:r>
          </a:p>
          <a:p xmlns:a="http://schemas.openxmlformats.org/drawingml/2006/main">
            <a:r>
              <a:t>LECTURER CUE</a:t>
            </a:r>
          </a:p>
          <a:p xmlns:a="http://schemas.openxmlformats.org/drawingml/2006/main">
            <a:r>
              <a:t>Give silent thinking time, then let pairs discuss. Rotate who types. This is practice, not a graded quiz. Expected response: Total 20, count 4, mean 5.0. Resetting inside the loop discards previous additions and leaves only the last value in total.</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DISCUSSION KEY FOR THIS SLIDE</a:t>
            </a:r>
          </a:p>
          <a:p xmlns:a="http://schemas.openxmlformats.org/drawingml/2006/main">
            <a:r>
              <a:t>DISCUSS THE REASONING</a:t>
            </a:r>
          </a:p>
          <a:p xmlns:a="http://schemas.openxmlformats.org/drawingml/2006/main">
            <a:r>
              <a:t>Practice discussion</a:t>
            </a:r>
          </a:p>
          <a:p xmlns:a="http://schemas.openxmlformats.org/drawingml/2006/main">
            <a:r>
              <a:t>Total 20, count 4, mean 5.0. Resetting inside the loop discards previous additions and leaves only the last value in total.</a:t>
            </a:r>
          </a:p>
          <a:p xmlns:a="http://schemas.openxmlformats.org/drawingml/2006/main">
            <a:r>
              <a:t>Which step produced this result? What changes if one input changes?</a:t>
            </a:r>
          </a:p>
          <a:p xmlns:a="http://schemas.openxmlformats.org/drawingml/2006/main">
            <a:r>
              <a:t>CML3113   Week 4   45</a:t>
            </a:r>
          </a:p>
          <a:p xmlns:a="http://schemas.openxmlformats.org/drawingml/2006/main">
            <a:r>
              <a:t>Let learners attempt first; use this to explain the reasoning, not just reveal the answer.</a:t>
            </a:r>
          </a:p>
          <a:p xmlns:a="http://schemas.openxmlformats.org/drawingml/2006/main">
            <a:r>
              <a:t/>
            </a:r>
          </a:p>
          <a:p xmlns:a="http://schemas.openxmlformats.org/drawingml/2006/main">
            <a:r>
              <a:t>NEXT</a:t>
            </a:r>
          </a:p>
          <a:p xmlns:a="http://schemas.openxmlformats.org/drawingml/2006/main">
            <a:r>
              <a:t>Practice discussion.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Preparing for the assignment.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Preparing for the assignment</a:t>
            </a:r>
          </a:p>
          <a:p xmlns:a="http://schemas.openxmlformats.org/drawingml/2006/main">
            <a:r>
              <a:t/>
            </a:r>
          </a:p>
          <a:p xmlns:a="http://schemas.openxmlformats.org/drawingml/2006/main">
            <a:r>
              <a:t>CONNECT</a:t>
            </a:r>
          </a:p>
          <a:p xmlns:a="http://schemas.openxmlformats.org/drawingml/2006/main">
            <a:r>
              <a:t>Build on Revision example and answer. Explain why this example is needed before running it.</a:t>
            </a:r>
          </a:p>
          <a:p xmlns:a="http://schemas.openxmlformats.org/drawingml/2006/main">
            <a:r>
              <a:t/>
            </a:r>
          </a:p>
          <a:p xmlns:a="http://schemas.openxmlformats.org/drawingml/2006/main">
            <a:r>
              <a:t>EXPLAIN</a:t>
            </a:r>
          </a:p>
          <a:p xmlns:a="http://schemas.openxmlformats.org/drawingml/2006/main">
            <a:r>
              <a:t>Open the issued W04 notebook and its cohort CSV.</a:t>
            </a:r>
          </a:p>
          <a:p xmlns:a="http://schemas.openxmlformats.org/drawingml/2006/main">
            <a:r>
              <a:t/>
            </a:r>
          </a:p>
          <a:p xmlns:a="http://schemas.openxmlformats.org/drawingml/2006/main">
            <a:r>
              <a:t>Compute the requested valid_count, mean_reading, above_limit and group_means using the exact names in the notebook.</a:t>
            </a:r>
          </a:p>
          <a:p xmlns:a="http://schemas.openxmlformats.org/drawingml/2006/main">
            <a:r>
              <a:t/>
            </a:r>
          </a:p>
          <a:p xmlns:a="http://schemas.openxmlformats.org/drawingml/2006/main">
            <a:r>
              <a:t>First identify the correct field and its unit.</a:t>
            </a:r>
          </a:p>
          <a:p xmlns:a="http://schemas.openxmlformats.org/drawingml/2006/main">
            <a:r>
              <a:t/>
            </a:r>
          </a:p>
          <a:p xmlns:a="http://schemas.openxmlformats.org/drawingml/2006/main">
            <a:r>
              <a:t>Keep the CSV beside the notebook locally or upload it into the Colab runtime.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Preparing for the assignment</a:t>
            </a:r>
          </a:p>
          <a:p xmlns:a="http://schemas.openxmlformats.org/drawingml/2006/main">
            <a:r>
              <a:t/>
            </a:r>
          </a:p>
          <a:p xmlns:a="http://schemas.openxmlformats.org/drawingml/2006/main">
            <a:r>
              <a:t>CONNECT</a:t>
            </a:r>
          </a:p>
          <a:p xmlns:a="http://schemas.openxmlformats.org/drawingml/2006/main">
            <a:r>
              <a:t>Build on the preceding slide: Practice discussion.</a:t>
            </a:r>
          </a:p>
          <a:p xmlns:a="http://schemas.openxmlformats.org/drawingml/2006/main">
            <a:r>
              <a:t/>
            </a:r>
          </a:p>
          <a:p xmlns:a="http://schemas.openxmlformats.org/drawingml/2006/main">
            <a:r>
              <a:t>LECTURER CUE</a:t>
            </a:r>
          </a:p>
          <a:p xmlns:a="http://schemas.openxmlformats.org/drawingml/2006/main">
            <a:r>
              <a:t>Open the issued W04 notebook and its cohort CSV. Compute the requested valid_count, mean_reading, above_limit and group_means using the exact names in the notebook. First identify the correct field and its unit. Keep the CSV beside the notebook locally or upload it into the Colab runtime. The written interpretation is practice.</a:t>
            </a:r>
          </a:p>
          <a:p xmlns:a="http://schemas.openxmlformats.org/drawingml/2006/main">
            <a:r>
              <a:t/>
            </a:r>
          </a:p>
          <a:p xmlns:a="http://schemas.openxmlformats.org/drawingml/2006/main">
            <a:r>
              <a:t>EXPLAIN IN ORDINARY WORDS</a:t>
            </a:r>
          </a:p>
          <a:p xmlns:a="http://schemas.openxmlformats.org/drawingml/2006/main">
            <a:r>
              <a:t>A CSV is a text table. The header supplies column names. With csv.DictReader, values start as text, even if they look like numbers. A path tells Python where the file is.</a:t>
            </a:r>
          </a:p>
          <a:p xmlns:a="http://schemas.openxmlformats.org/drawingml/2006/main">
            <a:r>
              <a:t/>
            </a:r>
          </a:p>
          <a:p xmlns:a="http://schemas.openxmlformats.org/drawingml/2006/main">
            <a:r>
              <a:t>CHECK AND EXPECTED ANSWER</a:t>
            </a:r>
          </a:p>
          <a:p xmlns:a="http://schemas.openxmlformats.org/drawingml/2006/main">
            <a:r>
              <a:t>Can "2.5" from csv.DictReader be added as a number without conversion? No; convert valid numeric text first.</a:t>
            </a:r>
          </a:p>
          <a:p xmlns:a="http://schemas.openxmlformats.org/drawingml/2006/main">
            <a:r>
              <a:t/>
            </a:r>
          </a:p>
          <a:p xmlns:a="http://schemas.openxmlformats.org/drawingml/2006/main">
            <a:r>
              <a:t>IF LEARNERS ARE STUCK</a:t>
            </a:r>
          </a:p>
          <a:p xmlns:a="http://schemas.openxmlformats.org/drawingml/2006/main">
            <a:r>
              <a:t>Show the file in the runtime folder and compare its exact filename, case and column headers. Upload data again after a fresh Colab runtime.</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Preparing for the assignment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Preparing for the assignment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Preparing for the assignment continued</a:t>
            </a:r>
          </a:p>
          <a:p xmlns:a="http://schemas.openxmlformats.org/drawingml/2006/main">
            <a:r>
              <a:t/>
            </a:r>
          </a:p>
          <a:p xmlns:a="http://schemas.openxmlformats.org/drawingml/2006/main">
            <a:r>
              <a:t>CONNECT</a:t>
            </a:r>
          </a:p>
          <a:p xmlns:a="http://schemas.openxmlformats.org/drawingml/2006/main">
            <a:r>
              <a:t>Build on Preparing for the assignment. Explain why this example is needed before running it.</a:t>
            </a:r>
          </a:p>
          <a:p xmlns:a="http://schemas.openxmlformats.org/drawingml/2006/main">
            <a:r>
              <a:t/>
            </a:r>
          </a:p>
          <a:p xmlns:a="http://schemas.openxmlformats.org/drawingml/2006/main">
            <a:r>
              <a:t>EXPLAIN</a:t>
            </a:r>
          </a:p>
          <a:p xmlns:a="http://schemas.openxmlformats.org/drawingml/2006/main">
            <a:r>
              <a:t>The written interpretation is practice.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Preparing for the assignment continued</a:t>
            </a:r>
          </a:p>
          <a:p xmlns:a="http://schemas.openxmlformats.org/drawingml/2006/main">
            <a:r>
              <a:t/>
            </a:r>
          </a:p>
          <a:p xmlns:a="http://schemas.openxmlformats.org/drawingml/2006/main">
            <a:r>
              <a:t>CONNECT</a:t>
            </a:r>
          </a:p>
          <a:p xmlns:a="http://schemas.openxmlformats.org/drawingml/2006/main">
            <a:r>
              <a:t>Build on the preceding slide: Preparing for the assignment.</a:t>
            </a:r>
          </a:p>
          <a:p xmlns:a="http://schemas.openxmlformats.org/drawingml/2006/main">
            <a:r>
              <a:t/>
            </a:r>
          </a:p>
          <a:p xmlns:a="http://schemas.openxmlformats.org/drawingml/2006/main">
            <a:r>
              <a:t>LECTURER CUE</a:t>
            </a:r>
          </a:p>
          <a:p xmlns:a="http://schemas.openxmlformats.org/drawingml/2006/main">
            <a:r>
              <a:t>Open the issued W04 notebook and its cohort CSV. Compute the requested valid_count, mean_reading, above_limit and group_means using the exact names in the notebook. First identify the correct field and its unit. Keep the CSV beside the notebook locally or upload it into the Colab runtime. The written interpretation is practice.</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Counting every record honestly.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Counting every record honestly.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Counting every record honestly</a:t>
            </a:r>
          </a:p>
          <a:p xmlns:a="http://schemas.openxmlformats.org/drawingml/2006/main">
            <a:r>
              <a:t/>
            </a:r>
          </a:p>
          <a:p xmlns:a="http://schemas.openxmlformats.org/drawingml/2006/main">
            <a:r>
              <a:t>CONNECT</a:t>
            </a:r>
          </a:p>
          <a:p xmlns:a="http://schemas.openxmlformats.org/drawingml/2006/main">
            <a:r>
              <a:t>Build on Preparing for the assignment continued. Explain why this example is needed before running it.</a:t>
            </a:r>
          </a:p>
          <a:p xmlns:a="http://schemas.openxmlformats.org/drawingml/2006/main">
            <a:r>
              <a:t/>
            </a:r>
          </a:p>
          <a:p xmlns:a="http://schemas.openxmlformats.org/drawingml/2006/main">
            <a:r>
              <a:t>EXPLAIN</a:t>
            </a:r>
          </a:p>
          <a:p xmlns:a="http://schemas.openxmlformats.org/drawingml/2006/main">
            <a:r>
              <a:t>DictReader already consumes the header; skipping its first yielded row skips real data.</a:t>
            </a:r>
          </a:p>
          <a:p xmlns:a="http://schemas.openxmlformats.org/drawingml/2006/main">
            <a:r>
              <a:t/>
            </a:r>
          </a:p>
          <a:p xmlns:a="http://schemas.openxmlformats.org/drawingml/2006/main">
            <a:r>
              <a:t>A string such as "unknown" cannot be converted to float.</a:t>
            </a:r>
          </a:p>
          <a:p xmlns:a="http://schemas.openxmlformats.org/drawingml/2006/main">
            <a:r>
              <a:t/>
            </a:r>
          </a:p>
          <a:p xmlns:a="http://schemas.openxmlformats.org/drawingml/2006/main">
            <a:r>
              <a:t>Catch the expected conversion error, count and record it, then continue under a stated policy.</a:t>
            </a:r>
          </a:p>
          <a:p xmlns:a="http://schemas.openxmlformats.org/drawingml/2006/main">
            <a:r>
              <a:t/>
            </a:r>
          </a:p>
          <a:p xmlns:a="http://schemas.openxmlformats.org/drawingml/2006/main">
            <a:r>
              <a:t>Inspect whether skipped rows share a source before reporting a mean.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Counting every record honestly</a:t>
            </a:r>
          </a:p>
          <a:p xmlns:a="http://schemas.openxmlformats.org/drawingml/2006/main">
            <a:r>
              <a:t/>
            </a:r>
          </a:p>
          <a:p xmlns:a="http://schemas.openxmlformats.org/drawingml/2006/main">
            <a:r>
              <a:t>CONNECT</a:t>
            </a:r>
          </a:p>
          <a:p xmlns:a="http://schemas.openxmlformats.org/drawingml/2006/main">
            <a:r>
              <a:t>Build on the preceding slide: Preparing for the assignment continued.</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EXPLAIN IN ORDINARY WORDS</a:t>
            </a:r>
          </a:p>
          <a:p xmlns:a="http://schemas.openxmlformats.org/drawingml/2006/main">
            <a:r>
              <a:t>A CSV is a text table. The header supplies column names. With csv.DictReader, values start as text, even if they look like numbers. A path tells Python where the file is.</a:t>
            </a:r>
          </a:p>
          <a:p xmlns:a="http://schemas.openxmlformats.org/drawingml/2006/main">
            <a:r>
              <a:t/>
            </a:r>
          </a:p>
          <a:p xmlns:a="http://schemas.openxmlformats.org/drawingml/2006/main">
            <a:r>
              <a:t>CHECK AND EXPECTED ANSWER</a:t>
            </a:r>
          </a:p>
          <a:p xmlns:a="http://schemas.openxmlformats.org/drawingml/2006/main">
            <a:r>
              <a:t>Can "2.5" from csv.DictReader be added as a number without conversion? No; convert valid numeric text first.</a:t>
            </a:r>
          </a:p>
          <a:p xmlns:a="http://schemas.openxmlformats.org/drawingml/2006/main">
            <a:r>
              <a:t/>
            </a:r>
          </a:p>
          <a:p xmlns:a="http://schemas.openxmlformats.org/drawingml/2006/main">
            <a:r>
              <a:t>IF LEARNERS ARE STUCK</a:t>
            </a:r>
          </a:p>
          <a:p xmlns:a="http://schemas.openxmlformats.org/drawingml/2006/main">
            <a:r>
              <a:t>Show the file in the runtime folder and compare its exact filename, case and column headers. Upload data again after a fresh Colab runtime.</a:t>
            </a:r>
          </a:p>
          <a:p xmlns:a="http://schemas.openxmlformats.org/drawingml/2006/main">
            <a:r>
              <a:t/>
            </a:r>
          </a:p>
          <a:p xmlns:a="http://schemas.openxmlformats.org/drawingml/2006/main">
            <a:r>
              <a:t>NEXT</a:t>
            </a:r>
          </a:p>
          <a:p xmlns:a="http://schemas.openxmlformats.org/drawingml/2006/main">
            <a:r>
              <a:t>Counting every record honestly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Counting every record honestly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Counting every record honestly continued</a:t>
            </a:r>
          </a:p>
          <a:p xmlns:a="http://schemas.openxmlformats.org/drawingml/2006/main">
            <a:r>
              <a:t/>
            </a:r>
          </a:p>
          <a:p xmlns:a="http://schemas.openxmlformats.org/drawingml/2006/main">
            <a:r>
              <a:t>CONNECT</a:t>
            </a:r>
          </a:p>
          <a:p xmlns:a="http://schemas.openxmlformats.org/drawingml/2006/main">
            <a:r>
              <a:t>Build on Counting every record honestly. Explain why this example is needed before running it.</a:t>
            </a:r>
          </a:p>
          <a:p xmlns:a="http://schemas.openxmlformats.org/drawingml/2006/main">
            <a:r>
              <a:t/>
            </a:r>
          </a:p>
          <a:p xmlns:a="http://schemas.openxmlformats.org/drawingml/2006/main">
            <a:r>
              <a:t>EXPLAIN</a:t>
            </a:r>
          </a:p>
          <a:p xmlns:a="http://schemas.openxmlformats.org/drawingml/2006/main">
            <a:r>
              <a:t>A sample summary describes observed records, not every possible operating condition.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Counting every record honestly continued</a:t>
            </a:r>
          </a:p>
          <a:p xmlns:a="http://schemas.openxmlformats.org/drawingml/2006/main">
            <a:r>
              <a:t/>
            </a:r>
          </a:p>
          <a:p xmlns:a="http://schemas.openxmlformats.org/drawingml/2006/main">
            <a:r>
              <a:t>CONNECT</a:t>
            </a:r>
          </a:p>
          <a:p xmlns:a="http://schemas.openxmlformats.org/drawingml/2006/main">
            <a:r>
              <a:t>Build on the preceding slide: Counting every record honestly.</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EXPLAIN IN ORDINARY WORDS</a:t>
            </a:r>
          </a:p>
          <a:p xmlns:a="http://schemas.openxmlformats.org/drawingml/2006/main">
            <a:r>
              <a:t>A condition is a True/False question. Python executes the matching indented branch. = assigns; == compares. &gt;= includes the boundary, while &gt; excludes it.</a:t>
            </a:r>
          </a:p>
          <a:p xmlns:a="http://schemas.openxmlformats.org/drawingml/2006/main">
            <a:r>
              <a:t/>
            </a:r>
          </a:p>
          <a:p xmlns:a="http://schemas.openxmlformats.org/drawingml/2006/main">
            <a:r>
              <a:t>CHECK AND EXPECTED ANSWER</a:t>
            </a:r>
          </a:p>
          <a:p xmlns:a="http://schemas.openxmlformats.org/drawingml/2006/main">
            <a:r>
              <a:t>With value 30, is value &gt;= 30 true? Yes. Is value &gt; 30 true? No.</a:t>
            </a:r>
          </a:p>
          <a:p xmlns:a="http://schemas.openxmlformats.org/drawingml/2006/main">
            <a:r>
              <a:t/>
            </a:r>
          </a:p>
          <a:p xmlns:a="http://schemas.openxmlformats.org/drawingml/2006/main">
            <a:r>
              <a:t>IF LEARNERS ARE STUCK</a:t>
            </a:r>
          </a:p>
          <a:p xmlns:a="http://schemas.openxmlformats.org/drawingml/2006/main">
            <a:r>
              <a:t>Try one value below, at and above the boundary before running the code.</a:t>
            </a:r>
          </a:p>
          <a:p xmlns:a="http://schemas.openxmlformats.org/drawingml/2006/main">
            <a:r>
              <a:t/>
            </a:r>
          </a:p>
          <a:p xmlns:a="http://schemas.openxmlformats.org/drawingml/2006/main">
            <a:r>
              <a:t>NEXT</a:t>
            </a:r>
          </a:p>
          <a:p xmlns:a="http://schemas.openxmlformats.org/drawingml/2006/main">
            <a:r>
              <a:t>Your issued assignment.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Your issued assignment.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Your issued assignment</a:t>
            </a:r>
          </a:p>
          <a:p xmlns:a="http://schemas.openxmlformats.org/drawingml/2006/main">
            <a:r>
              <a:t/>
            </a:r>
          </a:p>
          <a:p xmlns:a="http://schemas.openxmlformats.org/drawingml/2006/main">
            <a:r>
              <a:t>CONNECT</a:t>
            </a:r>
          </a:p>
          <a:p xmlns:a="http://schemas.openxmlformats.org/drawingml/2006/main">
            <a:r>
              <a:t>Build on Counting every record honestly continued. Explain why this example is needed before running it.</a:t>
            </a:r>
          </a:p>
          <a:p xmlns:a="http://schemas.openxmlformats.org/drawingml/2006/main">
            <a:r>
              <a:t/>
            </a:r>
          </a:p>
          <a:p xmlns:a="http://schemas.openxmlformats.org/drawingml/2006/main">
            <a:r>
              <a:t>EXPLAIN</a:t>
            </a:r>
          </a:p>
          <a:p xmlns:a="http://schemas.openxmlformats.org/drawingml/2006/main">
            <a:r>
              <a:t>Open W04_student.ipynb.</a:t>
            </a:r>
          </a:p>
          <a:p xmlns:a="http://schemas.openxmlformats.org/drawingml/2006/main">
            <a:r>
              <a:t/>
            </a:r>
          </a:p>
          <a:p xmlns:a="http://schemas.openxmlformats.org/drawingml/2006/main">
            <a:r>
              <a:t>Read every task and its input units before coding.</a:t>
            </a:r>
          </a:p>
          <a:p xmlns:a="http://schemas.openxmlformats.org/drawingml/2006/main">
            <a:r>
              <a:t/>
            </a:r>
          </a:p>
          <a:p xmlns:a="http://schemas.openxmlformats.org/drawingml/2006/main">
            <a:r>
              <a:t>Keep the required function names and returned outputs.</a:t>
            </a:r>
          </a:p>
          <a:p xmlns:a="http://schemas.openxmlformats.org/drawingml/2006/main">
            <a:r>
              <a:t/>
            </a:r>
          </a:p>
          <a:p xmlns:a="http://schemas.openxmlformats.org/drawingml/2006/main">
            <a:r>
              <a:t>Run the supplied visible checks, then restart and run all.</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Your issued assignment</a:t>
            </a:r>
          </a:p>
          <a:p xmlns:a="http://schemas.openxmlformats.org/drawingml/2006/main">
            <a:r>
              <a:t/>
            </a:r>
          </a:p>
          <a:p xmlns:a="http://schemas.openxmlformats.org/drawingml/2006/main">
            <a:r>
              <a:t>CONNECT</a:t>
            </a:r>
          </a:p>
          <a:p xmlns:a="http://schemas.openxmlformats.org/drawingml/2006/main">
            <a:r>
              <a:t>Build on the preceding slide: Counting every record honestly continued.</a:t>
            </a:r>
          </a:p>
          <a:p xmlns:a="http://schemas.openxmlformats.org/drawingml/2006/main">
            <a:r>
              <a:t/>
            </a:r>
          </a:p>
          <a:p xmlns:a="http://schemas.openxmlformats.org/drawingml/2006/main">
            <a:r>
              <a:t>LECTURER CUE</a:t>
            </a:r>
          </a:p>
          <a:p xmlns:a="http://schemas.openxmlformats.org/drawingml/2006/main">
            <a:r>
              <a:t># Week 4 reading report</a:t>
            </a:r>
          </a:p>
          <a:p xmlns:a="http://schemas.openxmlformats.org/drawingml/2006/main">
            <a:r>
              <a:t>Read README.md. Keep units in your explanation.</a:t>
            </a:r>
          </a:p>
          <a:p xmlns:a="http://schemas.openxmlformats.org/drawingml/2006/main">
            <a:r>
              <a:t/>
            </a:r>
          </a:p>
          <a:p xmlns:a="http://schemas.openxmlformats.org/drawingml/2006/main">
            <a:r>
              <a:t>## valid_count (5 marks)</a:t>
            </a:r>
          </a:p>
          <a:p xmlns:a="http://schemas.openxmlformats.org/drawingml/2006/main">
            <a:r>
              <a:t>Store an integer count of rows whose rate_of_penetration field is nonblank. Skip blank readings before numeric conversion.</a:t>
            </a:r>
          </a:p>
          <a:p xmlns:a="http://schemas.openxmlformats.org/drawingml/2006/main">
            <a:r>
              <a:t/>
            </a:r>
          </a:p>
          <a:p xmlns:a="http://schemas.openxmlformats.org/drawingml/2006/main">
            <a:r>
              <a:t>## mean_reading (5 marks)</a:t>
            </a:r>
          </a:p>
          <a:p xmlns:a="http://schemas.openxmlformats.org/drawingml/2006/main">
            <a:r>
              <a:t>Store the arithmetic mean of the nonblank rate_of_penetration values as a number. Add the valid readings and divide by their count. Keep full precision.</a:t>
            </a:r>
          </a:p>
          <a:p xmlns:a="http://schemas.openxmlformats.org/drawingml/2006/main">
            <a:r>
              <a:t/>
            </a:r>
          </a:p>
          <a:p xmlns:a="http://schemas.openxmlformats.org/drawingml/2006/main">
            <a:r>
              <a:t>## above_limit (5 marks)</a:t>
            </a:r>
          </a:p>
          <a:p xmlns:a="http://schemas.openxmlformats.org/drawingml/2006/main">
            <a:r>
              <a:t>Store an integer count of valid rate_of_penetration readings strictly greater than 8.0. A reading equal to the threshold is not counted.</a:t>
            </a:r>
          </a:p>
          <a:p xmlns:a="http://schemas.openxmlformats.org/drawingml/2006/main">
            <a:r>
              <a:t/>
            </a:r>
          </a:p>
          <a:p xmlns:a="http://schemas.openxmlformats.org/drawingml/2006/main">
            <a:r>
              <a:t>## group_means (5 marks)</a:t>
            </a:r>
          </a:p>
          <a:p xmlns:a="http://schemas.openxmlformats.org/drawingml/2006/main">
            <a:r>
              <a:t>Store a dictionary whose keys are the bit_type labels and whose values are the mean valid rate_of_penetration readings within each group. Divide each group total by its own valid count. Keep full precision.</a:t>
            </a:r>
          </a:p>
          <a:p xmlns:a="http://schemas.openxmlformats.org/drawingml/2006/main">
            <a:r>
              <a:t/>
            </a:r>
          </a:p>
          <a:p xmlns:a="http://schemas.openxmlformats.org/drawingml/2006/main">
            <a:r>
              <a:t>EXPLAIN IN ORDINARY WORDS</a:t>
            </a:r>
          </a:p>
          <a:p xmlns:a="http://schemas.openxmlformats.org/drawingml/2006/main">
            <a:r>
              <a:t>A function is a named set of instructions. def defines it; a call runs it with inputs. Parameters are input names, arguments are supplied values, and return sends the result back.</a:t>
            </a:r>
          </a:p>
          <a:p xmlns:a="http://schemas.openxmlformats.org/drawingml/2006/main">
            <a:r>
              <a:t/>
            </a:r>
          </a:p>
          <a:p xmlns:a="http://schemas.openxmlformats.org/drawingml/2006/main">
            <a:r>
              <a:t>CHECK AND EXPECTED ANSWER</a:t>
            </a:r>
          </a:p>
          <a:p xmlns:a="http://schemas.openxmlformats.org/drawingml/2006/main">
            <a:r>
              <a:t>Does print(8) return the number 8 to the caller? No; it displays 8 and returns None. A function needing a numeric result should return it.</a:t>
            </a:r>
          </a:p>
          <a:p xmlns:a="http://schemas.openxmlformats.org/drawingml/2006/main">
            <a:r>
              <a:t/>
            </a:r>
          </a:p>
          <a:p xmlns:a="http://schemas.openxmlformats.org/drawingml/2006/main">
            <a:r>
              <a:t>IF LEARNERS ARE STUCK</a:t>
            </a:r>
          </a:p>
          <a:p xmlns:a="http://schemas.openxmlformats.org/drawingml/2006/main">
            <a:r>
              <a:t>Trace one call: bind input names, run the indented body, reach return, then put the returned result back into the calling expression.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valid_count (5 marks).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valid_count (5 marks).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valid_count (5 marks)</a:t>
            </a:r>
          </a:p>
          <a:p xmlns:a="http://schemas.openxmlformats.org/drawingml/2006/main">
            <a:r>
              <a:t/>
            </a:r>
          </a:p>
          <a:p xmlns:a="http://schemas.openxmlformats.org/drawingml/2006/main">
            <a:r>
              <a:t>CONNECT</a:t>
            </a:r>
          </a:p>
          <a:p xmlns:a="http://schemas.openxmlformats.org/drawingml/2006/main">
            <a:r>
              <a:t>Build on Your issued assignment. Explain why this example is needed before running it.</a:t>
            </a:r>
          </a:p>
          <a:p xmlns:a="http://schemas.openxmlformats.org/drawingml/2006/main">
            <a:r>
              <a:t/>
            </a:r>
          </a:p>
          <a:p xmlns:a="http://schemas.openxmlformats.org/drawingml/2006/main">
            <a:r>
              <a:t>EXPLAIN</a:t>
            </a:r>
          </a:p>
          <a:p xmlns:a="http://schemas.openxmlformats.org/drawingml/2006/main">
            <a:r>
              <a:t>Store an integer count of rows whose rate_of_penetration field is nonblank.</a:t>
            </a:r>
          </a:p>
          <a:p xmlns:a="http://schemas.openxmlformats.org/drawingml/2006/main">
            <a:r>
              <a:t/>
            </a:r>
          </a:p>
          <a:p xmlns:a="http://schemas.openxmlformats.org/drawingml/2006/main">
            <a:r>
              <a:t>Skip blank readings before numeric conversion.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valid_count (5 marks)</a:t>
            </a:r>
          </a:p>
          <a:p xmlns:a="http://schemas.openxmlformats.org/drawingml/2006/main">
            <a:r>
              <a:t/>
            </a:r>
          </a:p>
          <a:p xmlns:a="http://schemas.openxmlformats.org/drawingml/2006/main">
            <a:r>
              <a:t>CONNECT</a:t>
            </a:r>
          </a:p>
          <a:p xmlns:a="http://schemas.openxmlformats.org/drawingml/2006/main">
            <a:r>
              <a:t>Build on the preceding slide: Your issued assignment.</a:t>
            </a:r>
          </a:p>
          <a:p xmlns:a="http://schemas.openxmlformats.org/drawingml/2006/main">
            <a:r>
              <a:t/>
            </a:r>
          </a:p>
          <a:p xmlns:a="http://schemas.openxmlformats.org/drawingml/2006/main">
            <a:r>
              <a:t>LECTURER CUE</a:t>
            </a:r>
          </a:p>
          <a:p xmlns:a="http://schemas.openxmlformats.org/drawingml/2006/main">
            <a:r>
              <a:t># Week 4 reading report</a:t>
            </a:r>
          </a:p>
          <a:p xmlns:a="http://schemas.openxmlformats.org/drawingml/2006/main">
            <a:r>
              <a:t>Read README.md. Keep units in your explanation.</a:t>
            </a:r>
          </a:p>
          <a:p xmlns:a="http://schemas.openxmlformats.org/drawingml/2006/main">
            <a:r>
              <a:t/>
            </a:r>
          </a:p>
          <a:p xmlns:a="http://schemas.openxmlformats.org/drawingml/2006/main">
            <a:r>
              <a:t>## valid_count (5 marks)</a:t>
            </a:r>
          </a:p>
          <a:p xmlns:a="http://schemas.openxmlformats.org/drawingml/2006/main">
            <a:r>
              <a:t>Store an integer count of rows whose rate_of_penetration field is nonblank. Skip blank readings before numeric conversion.</a:t>
            </a:r>
          </a:p>
          <a:p xmlns:a="http://schemas.openxmlformats.org/drawingml/2006/main">
            <a:r>
              <a:t/>
            </a:r>
          </a:p>
          <a:p xmlns:a="http://schemas.openxmlformats.org/drawingml/2006/main">
            <a:r>
              <a:t>## mean_reading (5 marks)</a:t>
            </a:r>
          </a:p>
          <a:p xmlns:a="http://schemas.openxmlformats.org/drawingml/2006/main">
            <a:r>
              <a:t>Store the arithmetic mean of the nonblank rate_of_penetration values as a number. Add the valid readings and divide by their count. Keep full precision.</a:t>
            </a:r>
          </a:p>
          <a:p xmlns:a="http://schemas.openxmlformats.org/drawingml/2006/main">
            <a:r>
              <a:t/>
            </a:r>
          </a:p>
          <a:p xmlns:a="http://schemas.openxmlformats.org/drawingml/2006/main">
            <a:r>
              <a:t>## above_limit (5 marks)</a:t>
            </a:r>
          </a:p>
          <a:p xmlns:a="http://schemas.openxmlformats.org/drawingml/2006/main">
            <a:r>
              <a:t>Store an integer count of valid rate_of_penetration readings strictly greater than 8.0. A reading equal to the threshold is not counted.</a:t>
            </a:r>
          </a:p>
          <a:p xmlns:a="http://schemas.openxmlformats.org/drawingml/2006/main">
            <a:r>
              <a:t/>
            </a:r>
          </a:p>
          <a:p xmlns:a="http://schemas.openxmlformats.org/drawingml/2006/main">
            <a:r>
              <a:t>## group_means (5 marks)</a:t>
            </a:r>
          </a:p>
          <a:p xmlns:a="http://schemas.openxmlformats.org/drawingml/2006/main">
            <a:r>
              <a:t>Store a dictionary whose keys are the bit_type labels and whose values are the mean valid rate_of_penetration readings within each group. Divide each group total by its own valid count. Keep full precision.</a:t>
            </a:r>
          </a:p>
          <a:p xmlns:a="http://schemas.openxmlformats.org/drawingml/2006/main">
            <a:r>
              <a:t/>
            </a:r>
          </a:p>
          <a:p xmlns:a="http://schemas.openxmlformats.org/drawingml/2006/main">
            <a:r>
              <a:t>EXPLAIN IN ORDINARY WORDS</a:t>
            </a:r>
          </a:p>
          <a:p xmlns:a="http://schemas.openxmlformats.org/drawingml/2006/main">
            <a:r>
              <a:t>A count says how much work there is. A rate divides events by the relevant opportunities or population. Both numerator and denominator must describe the same period and group.</a:t>
            </a:r>
          </a:p>
          <a:p xmlns:a="http://schemas.openxmlformats.org/drawingml/2006/main">
            <a:r>
              <a:t/>
            </a:r>
          </a:p>
          <a:p xmlns:a="http://schemas.openxmlformats.org/drawingml/2006/main">
            <a:r>
              <a:t>CHECK AND EXPECTED ANSWER</a:t>
            </a:r>
          </a:p>
          <a:p xmlns:a="http://schemas.openxmlformats.org/drawingml/2006/main">
            <a:r>
              <a:t>10 returns from 100 orders versus 20 from 1,000: rates are 10% and 2%. The second group has more returns but a lower rate.</a:t>
            </a:r>
          </a:p>
          <a:p xmlns:a="http://schemas.openxmlformats.org/drawingml/2006/main">
            <a:r>
              <a:t/>
            </a:r>
          </a:p>
          <a:p xmlns:a="http://schemas.openxmlformats.org/drawingml/2006/main">
            <a:r>
              <a:t>IF LEARNERS ARE STUCK</a:t>
            </a:r>
          </a:p>
          <a:p xmlns:a="http://schemas.openxmlformats.org/drawingml/2006/main">
            <a:r>
              <a:t>Write numerator and denominator in words before putting numbers into the fraction.</a:t>
            </a:r>
          </a:p>
          <a:p xmlns:a="http://schemas.openxmlformats.org/drawingml/2006/main">
            <a:r>
              <a:t/>
            </a:r>
          </a:p>
          <a:p xmlns:a="http://schemas.openxmlformats.org/drawingml/2006/main">
            <a:r>
              <a:t>NEXT</a:t>
            </a:r>
          </a:p>
          <a:p xmlns:a="http://schemas.openxmlformats.org/drawingml/2006/main">
            <a:r>
              <a:t>mean_reading (5 marks).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mean_reading (5 marks).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mean_reading (5 marks)</a:t>
            </a:r>
          </a:p>
          <a:p xmlns:a="http://schemas.openxmlformats.org/drawingml/2006/main">
            <a:r>
              <a:t/>
            </a:r>
          </a:p>
          <a:p xmlns:a="http://schemas.openxmlformats.org/drawingml/2006/main">
            <a:r>
              <a:t>CONNECT</a:t>
            </a:r>
          </a:p>
          <a:p xmlns:a="http://schemas.openxmlformats.org/drawingml/2006/main">
            <a:r>
              <a:t>Build on valid_count (5 marks). Explain why this example is needed before running it.</a:t>
            </a:r>
          </a:p>
          <a:p xmlns:a="http://schemas.openxmlformats.org/drawingml/2006/main">
            <a:r>
              <a:t/>
            </a:r>
          </a:p>
          <a:p xmlns:a="http://schemas.openxmlformats.org/drawingml/2006/main">
            <a:r>
              <a:t>EXPLAIN</a:t>
            </a:r>
          </a:p>
          <a:p xmlns:a="http://schemas.openxmlformats.org/drawingml/2006/main">
            <a:r>
              <a:t>Store the arithmetic mean of the nonblank rate_of_penetration values as a number.</a:t>
            </a:r>
          </a:p>
          <a:p xmlns:a="http://schemas.openxmlformats.org/drawingml/2006/main">
            <a:r>
              <a:t/>
            </a:r>
          </a:p>
          <a:p xmlns:a="http://schemas.openxmlformats.org/drawingml/2006/main">
            <a:r>
              <a:t>Add the valid readings and divide by their count.</a:t>
            </a:r>
          </a:p>
          <a:p xmlns:a="http://schemas.openxmlformats.org/drawingml/2006/main">
            <a:r>
              <a:t/>
            </a:r>
          </a:p>
          <a:p xmlns:a="http://schemas.openxmlformats.org/drawingml/2006/main">
            <a:r>
              <a:t>Keep full precision.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mean_reading (5 marks)</a:t>
            </a:r>
          </a:p>
          <a:p xmlns:a="http://schemas.openxmlformats.org/drawingml/2006/main">
            <a:r>
              <a:t/>
            </a:r>
          </a:p>
          <a:p xmlns:a="http://schemas.openxmlformats.org/drawingml/2006/main">
            <a:r>
              <a:t>CONNECT</a:t>
            </a:r>
          </a:p>
          <a:p xmlns:a="http://schemas.openxmlformats.org/drawingml/2006/main">
            <a:r>
              <a:t>Build on the preceding slide: valid_count (5 marks).</a:t>
            </a:r>
          </a:p>
          <a:p xmlns:a="http://schemas.openxmlformats.org/drawingml/2006/main">
            <a:r>
              <a:t/>
            </a:r>
          </a:p>
          <a:p xmlns:a="http://schemas.openxmlformats.org/drawingml/2006/main">
            <a:r>
              <a:t>LECTURER CUE</a:t>
            </a:r>
          </a:p>
          <a:p xmlns:a="http://schemas.openxmlformats.org/drawingml/2006/main">
            <a:r>
              <a:t># Week 4 reading report</a:t>
            </a:r>
          </a:p>
          <a:p xmlns:a="http://schemas.openxmlformats.org/drawingml/2006/main">
            <a:r>
              <a:t>Read README.md. Keep units in your explanation.</a:t>
            </a:r>
          </a:p>
          <a:p xmlns:a="http://schemas.openxmlformats.org/drawingml/2006/main">
            <a:r>
              <a:t/>
            </a:r>
          </a:p>
          <a:p xmlns:a="http://schemas.openxmlformats.org/drawingml/2006/main">
            <a:r>
              <a:t>## valid_count (5 marks)</a:t>
            </a:r>
          </a:p>
          <a:p xmlns:a="http://schemas.openxmlformats.org/drawingml/2006/main">
            <a:r>
              <a:t>Store an integer count of rows whose rate_of_penetration field is nonblank. Skip blank readings before numeric conversion.</a:t>
            </a:r>
          </a:p>
          <a:p xmlns:a="http://schemas.openxmlformats.org/drawingml/2006/main">
            <a:r>
              <a:t/>
            </a:r>
          </a:p>
          <a:p xmlns:a="http://schemas.openxmlformats.org/drawingml/2006/main">
            <a:r>
              <a:t>## mean_reading (5 marks)</a:t>
            </a:r>
          </a:p>
          <a:p xmlns:a="http://schemas.openxmlformats.org/drawingml/2006/main">
            <a:r>
              <a:t>Store the arithmetic mean of the nonblank rate_of_penetration values as a number. Add the valid readings and divide by their count. Keep full precision.</a:t>
            </a:r>
          </a:p>
          <a:p xmlns:a="http://schemas.openxmlformats.org/drawingml/2006/main">
            <a:r>
              <a:t/>
            </a:r>
          </a:p>
          <a:p xmlns:a="http://schemas.openxmlformats.org/drawingml/2006/main">
            <a:r>
              <a:t>## above_limit (5 marks)</a:t>
            </a:r>
          </a:p>
          <a:p xmlns:a="http://schemas.openxmlformats.org/drawingml/2006/main">
            <a:r>
              <a:t>Store an integer count of valid rate_of_penetration readings strictly greater than 8.0. A reading equal to the threshold is not counted.</a:t>
            </a:r>
          </a:p>
          <a:p xmlns:a="http://schemas.openxmlformats.org/drawingml/2006/main">
            <a:r>
              <a:t/>
            </a:r>
          </a:p>
          <a:p xmlns:a="http://schemas.openxmlformats.org/drawingml/2006/main">
            <a:r>
              <a:t>## group_means (5 marks)</a:t>
            </a:r>
          </a:p>
          <a:p xmlns:a="http://schemas.openxmlformats.org/drawingml/2006/main">
            <a:r>
              <a:t>Store a dictionary whose keys are the bit_type labels and whose values are the mean valid rate_of_penetration readings within each group. Divide each group total by its own valid count. Keep full precision.</a:t>
            </a:r>
          </a:p>
          <a:p xmlns:a="http://schemas.openxmlformats.org/drawingml/2006/main">
            <a:r>
              <a:t/>
            </a:r>
          </a:p>
          <a:p xmlns:a="http://schemas.openxmlformats.org/drawingml/2006/main">
            <a:r>
              <a:t>EXPLAIN IN ORDINARY WORDS</a:t>
            </a:r>
          </a:p>
          <a:p xmlns:a="http://schemas.openxmlformats.org/drawingml/2006/main">
            <a:r>
              <a:t>Name the positive class first. Actual is what happened; predicted is the model decision. Precision asks how many predicted positives were right. Recall asks how many actual positives were found.</a:t>
            </a:r>
          </a:p>
          <a:p xmlns:a="http://schemas.openxmlformats.org/drawingml/2006/main">
            <a:r>
              <a:t/>
            </a:r>
          </a:p>
          <a:p xmlns:a="http://schemas.openxmlformats.org/drawingml/2006/main">
            <a:r>
              <a:t>CHECK AND EXPECTED ANSWER</a:t>
            </a:r>
          </a:p>
          <a:p xmlns:a="http://schemas.openxmlformats.org/drawingml/2006/main">
            <a:r>
              <a:t>With TP=2, FP=1, FN=2: precision=2/3 and recall=2/4. A missed actual positive is a false negative.</a:t>
            </a:r>
          </a:p>
          <a:p xmlns:a="http://schemas.openxmlformats.org/drawingml/2006/main">
            <a:r>
              <a:t/>
            </a:r>
          </a:p>
          <a:p xmlns:a="http://schemas.openxmlformats.org/drawingml/2006/main">
            <a:r>
              <a:t>IF LEARNERS ARE STUCK</a:t>
            </a:r>
          </a:p>
          <a:p xmlns:a="http://schemas.openxmlformats.org/drawingml/2006/main">
            <a:r>
              <a:t>Draw actual/predicted headings. Place one case at a time before calculating a fraction. Explain the task rule for a zero denominator.</a:t>
            </a:r>
          </a:p>
          <a:p xmlns:a="http://schemas.openxmlformats.org/drawingml/2006/main">
            <a:r>
              <a:t/>
            </a:r>
          </a:p>
          <a:p xmlns:a="http://schemas.openxmlformats.org/drawingml/2006/main">
            <a:r>
              <a:t>NEXT</a:t>
            </a:r>
          </a:p>
          <a:p xmlns:a="http://schemas.openxmlformats.org/drawingml/2006/main">
            <a:r>
              <a:t>above_limit (5 marks).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above_limit (5 marks).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above_limit (5 marks)</a:t>
            </a:r>
          </a:p>
          <a:p xmlns:a="http://schemas.openxmlformats.org/drawingml/2006/main">
            <a:r>
              <a:t/>
            </a:r>
          </a:p>
          <a:p xmlns:a="http://schemas.openxmlformats.org/drawingml/2006/main">
            <a:r>
              <a:t>CONNECT</a:t>
            </a:r>
          </a:p>
          <a:p xmlns:a="http://schemas.openxmlformats.org/drawingml/2006/main">
            <a:r>
              <a:t>Build on mean_reading (5 marks). Explain why this example is needed before running it.</a:t>
            </a:r>
          </a:p>
          <a:p xmlns:a="http://schemas.openxmlformats.org/drawingml/2006/main">
            <a:r>
              <a:t/>
            </a:r>
          </a:p>
          <a:p xmlns:a="http://schemas.openxmlformats.org/drawingml/2006/main">
            <a:r>
              <a:t>EXPLAIN</a:t>
            </a:r>
          </a:p>
          <a:p xmlns:a="http://schemas.openxmlformats.org/drawingml/2006/main">
            <a:r>
              <a:t>Store an integer count of valid rate_of_penetration readings strictly greater than 8.0.</a:t>
            </a:r>
          </a:p>
          <a:p xmlns:a="http://schemas.openxmlformats.org/drawingml/2006/main">
            <a:r>
              <a:t/>
            </a:r>
          </a:p>
          <a:p xmlns:a="http://schemas.openxmlformats.org/drawingml/2006/main">
            <a:r>
              <a:t>A reading equal to the threshold is not counted.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above_limit (5 marks)</a:t>
            </a:r>
          </a:p>
          <a:p xmlns:a="http://schemas.openxmlformats.org/drawingml/2006/main">
            <a:r>
              <a:t/>
            </a:r>
          </a:p>
          <a:p xmlns:a="http://schemas.openxmlformats.org/drawingml/2006/main">
            <a:r>
              <a:t>CONNECT</a:t>
            </a:r>
          </a:p>
          <a:p xmlns:a="http://schemas.openxmlformats.org/drawingml/2006/main">
            <a:r>
              <a:t>Build on the preceding slide: mean_reading (5 marks).</a:t>
            </a:r>
          </a:p>
          <a:p xmlns:a="http://schemas.openxmlformats.org/drawingml/2006/main">
            <a:r>
              <a:t/>
            </a:r>
          </a:p>
          <a:p xmlns:a="http://schemas.openxmlformats.org/drawingml/2006/main">
            <a:r>
              <a:t>LECTURER CUE</a:t>
            </a:r>
          </a:p>
          <a:p xmlns:a="http://schemas.openxmlformats.org/drawingml/2006/main">
            <a:r>
              <a:t># Week 4 reading report</a:t>
            </a:r>
          </a:p>
          <a:p xmlns:a="http://schemas.openxmlformats.org/drawingml/2006/main">
            <a:r>
              <a:t>Read README.md. Keep units in your explanation.</a:t>
            </a:r>
          </a:p>
          <a:p xmlns:a="http://schemas.openxmlformats.org/drawingml/2006/main">
            <a:r>
              <a:t/>
            </a:r>
          </a:p>
          <a:p xmlns:a="http://schemas.openxmlformats.org/drawingml/2006/main">
            <a:r>
              <a:t>## valid_count (5 marks)</a:t>
            </a:r>
          </a:p>
          <a:p xmlns:a="http://schemas.openxmlformats.org/drawingml/2006/main">
            <a:r>
              <a:t>Store an integer count of rows whose rate_of_penetration field is nonblank. Skip blank readings before numeric conversion.</a:t>
            </a:r>
          </a:p>
          <a:p xmlns:a="http://schemas.openxmlformats.org/drawingml/2006/main">
            <a:r>
              <a:t/>
            </a:r>
          </a:p>
          <a:p xmlns:a="http://schemas.openxmlformats.org/drawingml/2006/main">
            <a:r>
              <a:t>## mean_reading (5 marks)</a:t>
            </a:r>
          </a:p>
          <a:p xmlns:a="http://schemas.openxmlformats.org/drawingml/2006/main">
            <a:r>
              <a:t>Store the arithmetic mean of the nonblank rate_of_penetration values as a number. Add the valid readings and divide by their count. Keep full precision.</a:t>
            </a:r>
          </a:p>
          <a:p xmlns:a="http://schemas.openxmlformats.org/drawingml/2006/main">
            <a:r>
              <a:t/>
            </a:r>
          </a:p>
          <a:p xmlns:a="http://schemas.openxmlformats.org/drawingml/2006/main">
            <a:r>
              <a:t>## above_limit (5 marks)</a:t>
            </a:r>
          </a:p>
          <a:p xmlns:a="http://schemas.openxmlformats.org/drawingml/2006/main">
            <a:r>
              <a:t>Store an integer count of valid rate_of_penetration readings strictly greater than 8.0. A reading equal to the threshold is not counted.</a:t>
            </a:r>
          </a:p>
          <a:p xmlns:a="http://schemas.openxmlformats.org/drawingml/2006/main">
            <a:r>
              <a:t/>
            </a:r>
          </a:p>
          <a:p xmlns:a="http://schemas.openxmlformats.org/drawingml/2006/main">
            <a:r>
              <a:t>## group_means (5 marks)</a:t>
            </a:r>
          </a:p>
          <a:p xmlns:a="http://schemas.openxmlformats.org/drawingml/2006/main">
            <a:r>
              <a:t>Store a dictionary whose keys are the bit_type labels and whose values are the mean valid rate_of_penetration readings within each group. Divide each group total by its own valid count. Keep full precision.</a:t>
            </a:r>
          </a:p>
          <a:p xmlns:a="http://schemas.openxmlformats.org/drawingml/2006/main">
            <a:r>
              <a:t/>
            </a:r>
          </a:p>
          <a:p xmlns:a="http://schemas.openxmlformats.org/drawingml/2006/main">
            <a:r>
              <a:t>EXPLAIN IN ORDINARY WORDS</a:t>
            </a:r>
          </a:p>
          <a:p xmlns:a="http://schemas.openxmlformats.org/drawingml/2006/main">
            <a:r>
              <a:t>A probability-like score and a class decision are different outputs. A threshold turns a score into an action. Lowering a warning threshold usually raises both detections and false alarms.</a:t>
            </a:r>
          </a:p>
          <a:p xmlns:a="http://schemas.openxmlformats.org/drawingml/2006/main">
            <a:r>
              <a:t/>
            </a:r>
          </a:p>
          <a:p xmlns:a="http://schemas.openxmlformats.org/drawingml/2006/main">
            <a:r>
              <a:t>CHECK AND EXPECTED ANSWER</a:t>
            </a:r>
          </a:p>
          <a:p xmlns:a="http://schemas.openxmlformats.org/drawingml/2006/main">
            <a:r>
              <a:t>At a rule of score &gt;= 0.5, what happens at 0.5? It is positive. With &gt; 0.5 it would not be.</a:t>
            </a:r>
          </a:p>
          <a:p xmlns:a="http://schemas.openxmlformats.org/drawingml/2006/main">
            <a:r>
              <a:t/>
            </a:r>
          </a:p>
          <a:p xmlns:a="http://schemas.openxmlformats.org/drawingml/2006/main">
            <a:r>
              <a:t>IF LEARNERS ARE STUCK</a:t>
            </a:r>
          </a:p>
          <a:p xmlns:a="http://schemas.openxmlformats.org/drawingml/2006/main">
            <a:r>
              <a:t>Mark three scores below, at and above the boundary. Do not promise the score is well calibrated without checking.</a:t>
            </a:r>
          </a:p>
          <a:p xmlns:a="http://schemas.openxmlformats.org/drawingml/2006/main">
            <a:r>
              <a:t/>
            </a:r>
          </a:p>
          <a:p xmlns:a="http://schemas.openxmlformats.org/drawingml/2006/main">
            <a:r>
              <a:t>NEXT</a:t>
            </a:r>
          </a:p>
          <a:p xmlns:a="http://schemas.openxmlformats.org/drawingml/2006/main">
            <a:r>
              <a:t>group_means (5 marks).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group_means (5 marks).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group_means (5 marks)</a:t>
            </a:r>
          </a:p>
          <a:p xmlns:a="http://schemas.openxmlformats.org/drawingml/2006/main">
            <a:r>
              <a:t/>
            </a:r>
          </a:p>
          <a:p xmlns:a="http://schemas.openxmlformats.org/drawingml/2006/main">
            <a:r>
              <a:t>CONNECT</a:t>
            </a:r>
          </a:p>
          <a:p xmlns:a="http://schemas.openxmlformats.org/drawingml/2006/main">
            <a:r>
              <a:t>Build on above_limit (5 marks). Explain why this example is needed before running it.</a:t>
            </a:r>
          </a:p>
          <a:p xmlns:a="http://schemas.openxmlformats.org/drawingml/2006/main">
            <a:r>
              <a:t/>
            </a:r>
          </a:p>
          <a:p xmlns:a="http://schemas.openxmlformats.org/drawingml/2006/main">
            <a:r>
              <a:t>EXPLAIN</a:t>
            </a:r>
          </a:p>
          <a:p xmlns:a="http://schemas.openxmlformats.org/drawingml/2006/main">
            <a:r>
              <a:t>Store a dictionary whose keys are the bit_type labels and whose values are the mean valid rate_of_penetration readings within each group.</a:t>
            </a:r>
          </a:p>
          <a:p xmlns:a="http://schemas.openxmlformats.org/drawingml/2006/main">
            <a:r>
              <a:t/>
            </a:r>
          </a:p>
          <a:p xmlns:a="http://schemas.openxmlformats.org/drawingml/2006/main">
            <a:r>
              <a:t>Divide each group total by its own valid count.</a:t>
            </a:r>
          </a:p>
          <a:p xmlns:a="http://schemas.openxmlformats.org/drawingml/2006/main">
            <a:r>
              <a:t/>
            </a:r>
          </a:p>
          <a:p xmlns:a="http://schemas.openxmlformats.org/drawingml/2006/main">
            <a:r>
              <a:t>Keep full precision.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group_means (5 marks)</a:t>
            </a:r>
          </a:p>
          <a:p xmlns:a="http://schemas.openxmlformats.org/drawingml/2006/main">
            <a:r>
              <a:t/>
            </a:r>
          </a:p>
          <a:p xmlns:a="http://schemas.openxmlformats.org/drawingml/2006/main">
            <a:r>
              <a:t>CONNECT</a:t>
            </a:r>
          </a:p>
          <a:p xmlns:a="http://schemas.openxmlformats.org/drawingml/2006/main">
            <a:r>
              <a:t>Build on the preceding slide: above_limit (5 marks).</a:t>
            </a:r>
          </a:p>
          <a:p xmlns:a="http://schemas.openxmlformats.org/drawingml/2006/main">
            <a:r>
              <a:t/>
            </a:r>
          </a:p>
          <a:p xmlns:a="http://schemas.openxmlformats.org/drawingml/2006/main">
            <a:r>
              <a:t>LECTURER CUE</a:t>
            </a:r>
          </a:p>
          <a:p xmlns:a="http://schemas.openxmlformats.org/drawingml/2006/main">
            <a:r>
              <a:t># Week 4 reading report</a:t>
            </a:r>
          </a:p>
          <a:p xmlns:a="http://schemas.openxmlformats.org/drawingml/2006/main">
            <a:r>
              <a:t>Read README.md. Keep units in your explanation.</a:t>
            </a:r>
          </a:p>
          <a:p xmlns:a="http://schemas.openxmlformats.org/drawingml/2006/main">
            <a:r>
              <a:t/>
            </a:r>
          </a:p>
          <a:p xmlns:a="http://schemas.openxmlformats.org/drawingml/2006/main">
            <a:r>
              <a:t>## valid_count (5 marks)</a:t>
            </a:r>
          </a:p>
          <a:p xmlns:a="http://schemas.openxmlformats.org/drawingml/2006/main">
            <a:r>
              <a:t>Store an integer count of rows whose rate_of_penetration field is nonblank. Skip blank readings before numeric conversion.</a:t>
            </a:r>
          </a:p>
          <a:p xmlns:a="http://schemas.openxmlformats.org/drawingml/2006/main">
            <a:r>
              <a:t/>
            </a:r>
          </a:p>
          <a:p xmlns:a="http://schemas.openxmlformats.org/drawingml/2006/main">
            <a:r>
              <a:t>## mean_reading (5 marks)</a:t>
            </a:r>
          </a:p>
          <a:p xmlns:a="http://schemas.openxmlformats.org/drawingml/2006/main">
            <a:r>
              <a:t>Store the arithmetic mean of the nonblank rate_of_penetration values as a number. Add the valid readings and divide by their count. Keep full precision.</a:t>
            </a:r>
          </a:p>
          <a:p xmlns:a="http://schemas.openxmlformats.org/drawingml/2006/main">
            <a:r>
              <a:t/>
            </a:r>
          </a:p>
          <a:p xmlns:a="http://schemas.openxmlformats.org/drawingml/2006/main">
            <a:r>
              <a:t>## above_limit (5 marks)</a:t>
            </a:r>
          </a:p>
          <a:p xmlns:a="http://schemas.openxmlformats.org/drawingml/2006/main">
            <a:r>
              <a:t>Store an integer count of valid rate_of_penetration readings strictly greater than 8.0. A reading equal to the threshold is not counted.</a:t>
            </a:r>
          </a:p>
          <a:p xmlns:a="http://schemas.openxmlformats.org/drawingml/2006/main">
            <a:r>
              <a:t/>
            </a:r>
          </a:p>
          <a:p xmlns:a="http://schemas.openxmlformats.org/drawingml/2006/main">
            <a:r>
              <a:t>## group_means (5 marks)</a:t>
            </a:r>
          </a:p>
          <a:p xmlns:a="http://schemas.openxmlformats.org/drawingml/2006/main">
            <a:r>
              <a:t>Store a dictionary whose keys are the bit_type labels and whose values are the mean valid rate_of_penetration readings within each group. Divide each group total by its own valid count. Keep full precision.</a:t>
            </a:r>
          </a:p>
          <a:p xmlns:a="http://schemas.openxmlformats.org/drawingml/2006/main">
            <a:r>
              <a:t/>
            </a:r>
          </a:p>
          <a:p xmlns:a="http://schemas.openxmlformats.org/drawingml/2006/main">
            <a:r>
              <a:t>EXPLAIN IN ORDINARY WORDS</a:t>
            </a:r>
          </a:p>
          <a:p xmlns:a="http://schemas.openxmlformats.org/drawingml/2006/main">
            <a:r>
              <a:t>Name the positive class first. Actual is what happened; predicted is the model decision. Precision asks how many predicted positives were right. Recall asks how many actual positives were found.</a:t>
            </a:r>
          </a:p>
          <a:p xmlns:a="http://schemas.openxmlformats.org/drawingml/2006/main">
            <a:r>
              <a:t/>
            </a:r>
          </a:p>
          <a:p xmlns:a="http://schemas.openxmlformats.org/drawingml/2006/main">
            <a:r>
              <a:t>CHECK AND EXPECTED ANSWER</a:t>
            </a:r>
          </a:p>
          <a:p xmlns:a="http://schemas.openxmlformats.org/drawingml/2006/main">
            <a:r>
              <a:t>With TP=2, FP=1, FN=2: precision=2/3 and recall=2/4. A missed actual positive is a false negative.</a:t>
            </a:r>
          </a:p>
          <a:p xmlns:a="http://schemas.openxmlformats.org/drawingml/2006/main">
            <a:r>
              <a:t/>
            </a:r>
          </a:p>
          <a:p xmlns:a="http://schemas.openxmlformats.org/drawingml/2006/main">
            <a:r>
              <a:t>IF LEARNERS ARE STUCK</a:t>
            </a:r>
          </a:p>
          <a:p xmlns:a="http://schemas.openxmlformats.org/drawingml/2006/main">
            <a:r>
              <a:t>Draw actual/predicted headings. Place one case at a time before calculating a fraction. Explain the task rule for a zero denominator.</a:t>
            </a:r>
          </a:p>
          <a:p xmlns:a="http://schemas.openxmlformats.org/drawingml/2006/main">
            <a:r>
              <a:t/>
            </a:r>
          </a:p>
          <a:p xmlns:a="http://schemas.openxmlformats.org/drawingml/2006/main">
            <a:r>
              <a:t>NEXT</a:t>
            </a:r>
          </a:p>
          <a:p xmlns:a="http://schemas.openxmlformats.org/drawingml/2006/main">
            <a:r>
              <a:t>Week 4 rules.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Week 4 rules.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Week 4 rules</a:t>
            </a:r>
          </a:p>
          <a:p xmlns:a="http://schemas.openxmlformats.org/drawingml/2006/main">
            <a:r>
              <a:t/>
            </a:r>
          </a:p>
          <a:p xmlns:a="http://schemas.openxmlformats.org/drawingml/2006/main">
            <a:r>
              <a:t>CONNECT</a:t>
            </a:r>
          </a:p>
          <a:p xmlns:a="http://schemas.openxmlformats.org/drawingml/2006/main">
            <a:r>
              <a:t>Build on group_means (5 marks). Explain why this example is needed before running it.</a:t>
            </a:r>
          </a:p>
          <a:p xmlns:a="http://schemas.openxmlformats.org/drawingml/2006/main">
            <a:r>
              <a:t/>
            </a:r>
          </a:p>
          <a:p xmlns:a="http://schemas.openxmlformats.org/drawingml/2006/main">
            <a:r>
              <a:t>EXPLAIN</a:t>
            </a:r>
          </a:p>
          <a:p xmlns:a="http://schemas.openxmlformats.org/drawingml/2006/main">
            <a:r>
              <a:t>Fictional teaching data.</a:t>
            </a:r>
          </a:p>
          <a:p xmlns:a="http://schemas.openxmlformats.org/drawingml/2006/main">
            <a:r>
              <a:t/>
            </a:r>
          </a:p>
          <a:p xmlns:a="http://schemas.openxmlformats.org/drawingml/2006/main">
            <a:r>
              <a:t>300 records.</a:t>
            </a:r>
          </a:p>
          <a:p xmlns:a="http://schemas.openxmlformats.org/drawingml/2006/main">
            <a:r>
              <a:t/>
            </a:r>
          </a:p>
          <a:p xmlns:a="http://schemas.openxmlformats.org/drawingml/2006/main">
            <a:r>
              <a:t>Three blank rate_of_penetration values must be skipped in numerical summaries.</a:t>
            </a:r>
          </a:p>
          <a:p xmlns:a="http://schemas.openxmlformats.org/drawingml/2006/main">
            <a:r>
              <a:t/>
            </a:r>
          </a:p>
          <a:p xmlns:a="http://schemas.openxmlformats.org/drawingml/2006/main">
            <a:r>
              <a:t>Threshold 8.0 is a teaching assumption.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Week 4 rules</a:t>
            </a:r>
          </a:p>
          <a:p xmlns:a="http://schemas.openxmlformats.org/drawingml/2006/main">
            <a:r>
              <a:t/>
            </a:r>
          </a:p>
          <a:p xmlns:a="http://schemas.openxmlformats.org/drawingml/2006/main">
            <a:r>
              <a:t>CONNECT</a:t>
            </a:r>
          </a:p>
          <a:p xmlns:a="http://schemas.openxmlformats.org/drawingml/2006/main">
            <a:r>
              <a:t>Build on the preceding slide: group_means (5 marks).</a:t>
            </a:r>
          </a:p>
          <a:p xmlns:a="http://schemas.openxmlformats.org/drawingml/2006/main">
            <a:r>
              <a:t/>
            </a:r>
          </a:p>
          <a:p xmlns:a="http://schemas.openxmlformats.org/drawingml/2006/main">
            <a:r>
              <a:t>LECTURER CUE</a:t>
            </a:r>
          </a:p>
          <a:p xmlns:a="http://schemas.openxmlformats.org/drawingml/2006/main">
            <a:r>
              <a:t>Fictional teaching data. 300 records. Three blank rate_of_penetration values must be skipped in numerical summaries. Threshold 8.0 is a teaching assumption.</a:t>
            </a:r>
          </a:p>
          <a:p xmlns:a="http://schemas.openxmlformats.org/drawingml/2006/main">
            <a:r>
              <a:t/>
            </a:r>
          </a:p>
          <a:p xmlns:a="http://schemas.openxmlformats.org/drawingml/2006/main">
            <a:r>
              <a:t>Compute valid_count, mean_reading, above_limit (strictly greater than 8.0) and group_means keyed by bit_type. Use standard-library csv and collections. Save a copy using your Student Registration Number with / replaced by _, followed by _W04.ipynb. STUDENT_ID in the starter code means Student Registration Number. Four checks carry five marks each. Explain the interesting pattern separately as formative practice.</a:t>
            </a:r>
          </a:p>
          <a:p xmlns:a="http://schemas.openxmlformats.org/drawingml/2006/main">
            <a:r>
              <a:t/>
            </a:r>
          </a:p>
          <a:p xmlns:a="http://schemas.openxmlformats.org/drawingml/2006/main">
            <a:r>
              <a:t>EXPLAIN IN ORDINARY WORDS</a:t>
            </a:r>
          </a:p>
          <a:p xmlns:a="http://schemas.openxmlformats.org/drawingml/2006/main">
            <a:r>
              <a:t>A probability-like score and a class decision are different outputs. A threshold turns a score into an action. Lowering a warning threshold usually raises both detections and false alarms.</a:t>
            </a:r>
          </a:p>
          <a:p xmlns:a="http://schemas.openxmlformats.org/drawingml/2006/main">
            <a:r>
              <a:t/>
            </a:r>
          </a:p>
          <a:p xmlns:a="http://schemas.openxmlformats.org/drawingml/2006/main">
            <a:r>
              <a:t>CHECK AND EXPECTED ANSWER</a:t>
            </a:r>
          </a:p>
          <a:p xmlns:a="http://schemas.openxmlformats.org/drawingml/2006/main">
            <a:r>
              <a:t>At a rule of score &gt;= 0.5, what happens at 0.5? It is positive. With &gt; 0.5 it would not be.</a:t>
            </a:r>
          </a:p>
          <a:p xmlns:a="http://schemas.openxmlformats.org/drawingml/2006/main">
            <a:r>
              <a:t/>
            </a:r>
          </a:p>
          <a:p xmlns:a="http://schemas.openxmlformats.org/drawingml/2006/main">
            <a:r>
              <a:t>IF LEARNERS ARE STUCK</a:t>
            </a:r>
          </a:p>
          <a:p xmlns:a="http://schemas.openxmlformats.org/drawingml/2006/main">
            <a:r>
              <a:t>Mark three scores below, at and above the boundary. Do not promise the score is well calibrated without checking.</a:t>
            </a:r>
          </a:p>
          <a:p xmlns:a="http://schemas.openxmlformats.org/drawingml/2006/main">
            <a:r>
              <a:t/>
            </a:r>
          </a:p>
          <a:p xmlns:a="http://schemas.openxmlformats.org/drawingml/2006/main">
            <a:r>
              <a:t>NEXT</a:t>
            </a:r>
          </a:p>
          <a:p xmlns:a="http://schemas.openxmlformats.org/drawingml/2006/main">
            <a:r>
              <a:t>Week 4 rules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Week 4 rules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Week 4 rules continued</a:t>
            </a:r>
          </a:p>
          <a:p xmlns:a="http://schemas.openxmlformats.org/drawingml/2006/main">
            <a:r>
              <a:t/>
            </a:r>
          </a:p>
          <a:p xmlns:a="http://schemas.openxmlformats.org/drawingml/2006/main">
            <a:r>
              <a:t>CONNECT</a:t>
            </a:r>
          </a:p>
          <a:p xmlns:a="http://schemas.openxmlformats.org/drawingml/2006/main">
            <a:r>
              <a:t>Build on Week 4 rules. Explain why this example is needed before running it.</a:t>
            </a:r>
          </a:p>
          <a:p xmlns:a="http://schemas.openxmlformats.org/drawingml/2006/main">
            <a:r>
              <a:t/>
            </a:r>
          </a:p>
          <a:p xmlns:a="http://schemas.openxmlformats.org/drawingml/2006/main">
            <a:r>
              <a:t>EXPLAIN</a:t>
            </a:r>
          </a:p>
          <a:p xmlns:a="http://schemas.openxmlformats.org/drawingml/2006/main">
            <a:r>
              <a:t>Compute valid_count, mean_reading, above_limit (strictly greater than 8.0) and group_means keyed by bit_type.</a:t>
            </a:r>
          </a:p>
          <a:p xmlns:a="http://schemas.openxmlformats.org/drawingml/2006/main">
            <a:r>
              <a:t/>
            </a:r>
          </a:p>
          <a:p xmlns:a="http://schemas.openxmlformats.org/drawingml/2006/main">
            <a:r>
              <a:t>Use standard-library csv and collections.</a:t>
            </a:r>
          </a:p>
          <a:p xmlns:a="http://schemas.openxmlformats.org/drawingml/2006/main">
            <a:r>
              <a:t/>
            </a:r>
          </a:p>
          <a:p xmlns:a="http://schemas.openxmlformats.org/drawingml/2006/main">
            <a:r>
              <a:t>Save a copy using your Student Registration Number with / replaced by _, followed by _W04.ipynb.</a:t>
            </a:r>
          </a:p>
          <a:p xmlns:a="http://schemas.openxmlformats.org/drawingml/2006/main">
            <a:r>
              <a:t/>
            </a:r>
          </a:p>
          <a:p xmlns:a="http://schemas.openxmlformats.org/drawingml/2006/main">
            <a:r>
              <a:t>STUDENT_ID in the starter code means Student Registration Number.</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Week 4 rules continued</a:t>
            </a:r>
          </a:p>
          <a:p xmlns:a="http://schemas.openxmlformats.org/drawingml/2006/main">
            <a:r>
              <a:t/>
            </a:r>
          </a:p>
          <a:p xmlns:a="http://schemas.openxmlformats.org/drawingml/2006/main">
            <a:r>
              <a:t>CONNECT</a:t>
            </a:r>
          </a:p>
          <a:p xmlns:a="http://schemas.openxmlformats.org/drawingml/2006/main">
            <a:r>
              <a:t>Build on the preceding slide: Week 4 rules.</a:t>
            </a:r>
          </a:p>
          <a:p xmlns:a="http://schemas.openxmlformats.org/drawingml/2006/main">
            <a:r>
              <a:t/>
            </a:r>
          </a:p>
          <a:p xmlns:a="http://schemas.openxmlformats.org/drawingml/2006/main">
            <a:r>
              <a:t>LECTURER CUE</a:t>
            </a:r>
          </a:p>
          <a:p xmlns:a="http://schemas.openxmlformats.org/drawingml/2006/main">
            <a:r>
              <a:t>Fictional teaching data. 300 records. Three blank rate_of_penetration values must be skipped in numerical summaries. Threshold 8.0 is a teaching assumption.</a:t>
            </a:r>
          </a:p>
          <a:p xmlns:a="http://schemas.openxmlformats.org/drawingml/2006/main">
            <a:r>
              <a:t/>
            </a:r>
          </a:p>
          <a:p xmlns:a="http://schemas.openxmlformats.org/drawingml/2006/main">
            <a:r>
              <a:t>Compute valid_count, mean_reading, above_limit (strictly greater than 8.0) and group_means keyed by bit_type. Use standard-library csv and collections. Save a copy using your Student Registration Number with / replaced by _, followed by _W04.ipynb. STUDENT_ID in the starter code means Student Registration Number. Four checks carry five marks each. Explain the interesting pattern separately as formative practice.</a:t>
            </a:r>
          </a:p>
          <a:p xmlns:a="http://schemas.openxmlformats.org/drawingml/2006/main">
            <a:r>
              <a:t/>
            </a:r>
          </a:p>
          <a:p xmlns:a="http://schemas.openxmlformats.org/drawingml/2006/main">
            <a:r>
              <a:t>EXPLAIN IN ORDINARY WORDS</a:t>
            </a:r>
          </a:p>
          <a:p xmlns:a="http://schemas.openxmlformats.org/drawingml/2006/main">
            <a:r>
              <a:t>A CSV is a text table. The header supplies column names. With csv.DictReader, values start as text, even if they look like numbers. A path tells Python where the file is.</a:t>
            </a:r>
          </a:p>
          <a:p xmlns:a="http://schemas.openxmlformats.org/drawingml/2006/main">
            <a:r>
              <a:t/>
            </a:r>
          </a:p>
          <a:p xmlns:a="http://schemas.openxmlformats.org/drawingml/2006/main">
            <a:r>
              <a:t>CHECK AND EXPECTED ANSWER</a:t>
            </a:r>
          </a:p>
          <a:p xmlns:a="http://schemas.openxmlformats.org/drawingml/2006/main">
            <a:r>
              <a:t>Can "2.5" from csv.DictReader be added as a number without conversion? No; convert valid numeric text first.</a:t>
            </a:r>
          </a:p>
          <a:p xmlns:a="http://schemas.openxmlformats.org/drawingml/2006/main">
            <a:r>
              <a:t/>
            </a:r>
          </a:p>
          <a:p xmlns:a="http://schemas.openxmlformats.org/drawingml/2006/main">
            <a:r>
              <a:t>IF LEARNERS ARE STUCK</a:t>
            </a:r>
          </a:p>
          <a:p xmlns:a="http://schemas.openxmlformats.org/drawingml/2006/main">
            <a:r>
              <a:t>Show the file in the runtime folder and compare its exact filename, case and column headers. Upload data again after a fresh Colab runtime.</a:t>
            </a:r>
          </a:p>
          <a:p xmlns:a="http://schemas.openxmlformats.org/drawingml/2006/main">
            <a:r>
              <a:t/>
            </a:r>
          </a:p>
          <a:p xmlns:a="http://schemas.openxmlformats.org/drawingml/2006/main">
            <a:r>
              <a:t>NEXT</a:t>
            </a:r>
          </a:p>
          <a:p xmlns:a="http://schemas.openxmlformats.org/drawingml/2006/main">
            <a:r>
              <a:t>Week 4 rules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Week 4 rules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Week 4 rules continued</a:t>
            </a:r>
          </a:p>
          <a:p xmlns:a="http://schemas.openxmlformats.org/drawingml/2006/main">
            <a:r>
              <a:t/>
            </a:r>
          </a:p>
          <a:p xmlns:a="http://schemas.openxmlformats.org/drawingml/2006/main">
            <a:r>
              <a:t>CONNECT</a:t>
            </a:r>
          </a:p>
          <a:p xmlns:a="http://schemas.openxmlformats.org/drawingml/2006/main">
            <a:r>
              <a:t>Build on Week 4 rules continued. Explain why this example is needed before running it.</a:t>
            </a:r>
          </a:p>
          <a:p xmlns:a="http://schemas.openxmlformats.org/drawingml/2006/main">
            <a:r>
              <a:t/>
            </a:r>
          </a:p>
          <a:p xmlns:a="http://schemas.openxmlformats.org/drawingml/2006/main">
            <a:r>
              <a:t>EXPLAIN</a:t>
            </a:r>
          </a:p>
          <a:p xmlns:a="http://schemas.openxmlformats.org/drawingml/2006/main">
            <a:r>
              <a:t>Four checks carry five marks each.</a:t>
            </a:r>
          </a:p>
          <a:p xmlns:a="http://schemas.openxmlformats.org/drawingml/2006/main">
            <a:r>
              <a:t/>
            </a:r>
          </a:p>
          <a:p xmlns:a="http://schemas.openxmlformats.org/drawingml/2006/main">
            <a:r>
              <a:t>Explain the interesting pattern separately as formative practice.</a:t>
            </a:r>
          </a:p>
          <a:p xmlns:a="http://schemas.openxmlformats.org/drawingml/2006/main">
            <a:r>
              <a:t/>
            </a:r>
          </a:p>
          <a:p xmlns:a="http://schemas.openxmlformats.org/drawingml/2006/main">
            <a:r>
              <a:t>For beginner step-by-step help, open ASSIGNMENT_INSTRUCTIONS.txt and STUDENT_HOW_TO.md in this folder.</a:t>
            </a:r>
          </a:p>
          <a:p xmlns:a="http://schemas.openxmlformats.org/drawingml/2006/main">
            <a:r>
              <a:t/>
            </a:r>
          </a:p>
          <a:p xmlns:a="http://schemas.openxmlformats.org/drawingml/2006/main">
            <a:r>
              <a:t>The first names your required files and hand-in checklist; the second explains accounts, Colab, saving and uploads.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Week 4 rules continued</a:t>
            </a:r>
          </a:p>
          <a:p xmlns:a="http://schemas.openxmlformats.org/drawingml/2006/main">
            <a:r>
              <a:t/>
            </a:r>
          </a:p>
          <a:p xmlns:a="http://schemas.openxmlformats.org/drawingml/2006/main">
            <a:r>
              <a:t>CONNECT</a:t>
            </a:r>
          </a:p>
          <a:p xmlns:a="http://schemas.openxmlformats.org/drawingml/2006/main">
            <a:r>
              <a:t>Build on the preceding slide: Week 4 rules continued.</a:t>
            </a:r>
          </a:p>
          <a:p xmlns:a="http://schemas.openxmlformats.org/drawingml/2006/main">
            <a:r>
              <a:t/>
            </a:r>
          </a:p>
          <a:p xmlns:a="http://schemas.openxmlformats.org/drawingml/2006/main">
            <a:r>
              <a:t>LECTURER CUE</a:t>
            </a:r>
          </a:p>
          <a:p xmlns:a="http://schemas.openxmlformats.org/drawingml/2006/main">
            <a:r>
              <a:t>Fictional teaching data. 300 records. Three blank rate_of_penetration values must be skipped in numerical summaries. Threshold 8.0 is a teaching assumption.</a:t>
            </a:r>
          </a:p>
          <a:p xmlns:a="http://schemas.openxmlformats.org/drawingml/2006/main">
            <a:r>
              <a:t/>
            </a:r>
          </a:p>
          <a:p xmlns:a="http://schemas.openxmlformats.org/drawingml/2006/main">
            <a:r>
              <a:t>Compute valid_count, mean_reading, above_limit (strictly greater than 8.0) and group_means keyed by bit_type. Use standard-library csv and collections. Save a copy using your Student Registration Number with / replaced by _, followed by _W04.ipynb. STUDENT_ID in the starter code means Student Registration Number. Four checks carry five marks each. Explain the interesting pattern separately as formative practice.</a:t>
            </a:r>
          </a:p>
          <a:p xmlns:a="http://schemas.openxmlformats.org/drawingml/2006/main">
            <a:r>
              <a:t/>
            </a:r>
          </a:p>
          <a:p xmlns:a="http://schemas.openxmlformats.org/drawingml/2006/main">
            <a:r>
              <a:t>NEXT</a:t>
            </a:r>
          </a:p>
          <a:p xmlns:a="http://schemas.openxmlformats.org/drawingml/2006/main">
            <a:r>
              <a:t>Reading report submission.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Reading report submission.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Reading report submission</a:t>
            </a:r>
          </a:p>
          <a:p xmlns:a="http://schemas.openxmlformats.org/drawingml/2006/main">
            <a:r>
              <a:t/>
            </a:r>
          </a:p>
          <a:p xmlns:a="http://schemas.openxmlformats.org/drawingml/2006/main">
            <a:r>
              <a:t>CONNECT</a:t>
            </a:r>
          </a:p>
          <a:p xmlns:a="http://schemas.openxmlformats.org/drawingml/2006/main">
            <a:r>
              <a:t>Build on Week 4 rules continued. Explain why this example is needed before running it.</a:t>
            </a:r>
          </a:p>
          <a:p xmlns:a="http://schemas.openxmlformats.org/drawingml/2006/main">
            <a:r>
              <a:t/>
            </a:r>
          </a:p>
          <a:p xmlns:a="http://schemas.openxmlformats.org/drawingml/2006/main">
            <a:r>
              <a:t>EXPLAIN</a:t>
            </a:r>
          </a:p>
          <a:p xmlns:a="http://schemas.openxmlformats.org/drawingml/2006/main">
            <a:r>
              <a:t>Opens: 02 Oct 2026, 08:00 Kampala</a:t>
            </a:r>
          </a:p>
          <a:p xmlns:a="http://schemas.openxmlformats.org/drawingml/2006/main">
            <a:r>
              <a:t/>
            </a:r>
          </a:p>
          <a:p xmlns:a="http://schemas.openxmlformats.org/drawingml/2006/main">
            <a:r>
              <a:t>Deadline: 09 Oct 2026, 08:00 Kampala</a:t>
            </a:r>
          </a:p>
          <a:p xmlns:a="http://schemas.openxmlformats.org/drawingml/2006/main">
            <a:r>
              <a:t/>
            </a:r>
          </a:p>
          <a:p xmlns:a="http://schemas.openxmlformats.org/drawingml/2006/main">
            <a:r>
              <a:t>Use your full Student Registration Number in the form.</a:t>
            </a:r>
          </a:p>
          <a:p xmlns:a="http://schemas.openxmlformats.org/drawingml/2006/main">
            <a:r>
              <a:t/>
            </a:r>
          </a:p>
          <a:p xmlns:a="http://schemas.openxmlformats.org/drawingml/2006/main">
            <a:r>
              <a:t>Keep the submitted files and confirmation.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Reading report submission</a:t>
            </a:r>
          </a:p>
          <a:p xmlns:a="http://schemas.openxmlformats.org/drawingml/2006/main">
            <a:r>
              <a:t/>
            </a:r>
          </a:p>
          <a:p xmlns:a="http://schemas.openxmlformats.org/drawingml/2006/main">
            <a:r>
              <a:t>CONNECT</a:t>
            </a:r>
          </a:p>
          <a:p xmlns:a="http://schemas.openxmlformats.org/drawingml/2006/main">
            <a:r>
              <a:t>Build on the preceding slide: Week 4 rules continued.</a:t>
            </a:r>
          </a:p>
          <a:p xmlns:a="http://schemas.openxmlformats.org/drawingml/2006/main">
            <a:r>
              <a:t/>
            </a:r>
          </a:p>
          <a:p xmlns:a="http://schemas.openxmlformats.org/drawingml/2006/main">
            <a:r>
              <a:t>LECTURER CUE</a:t>
            </a:r>
          </a:p>
          <a:p xmlns:a="http://schemas.openxmlformats.org/drawingml/2006/main">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Week 4 quiz.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Week 4 quiz.</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Week 4 quiz</a:t>
            </a:r>
          </a:p>
          <a:p xmlns:a="http://schemas.openxmlformats.org/drawingml/2006/main">
            <a:r>
              <a:t/>
            </a:r>
          </a:p>
          <a:p xmlns:a="http://schemas.openxmlformats.org/drawingml/2006/main">
            <a:r>
              <a:t>CONNECT</a:t>
            </a:r>
          </a:p>
          <a:p xmlns:a="http://schemas.openxmlformats.org/drawingml/2006/main">
            <a:r>
              <a:t>Build on Reading report submission. Explain why this example is needed before running it.</a:t>
            </a:r>
          </a:p>
          <a:p xmlns:a="http://schemas.openxmlformats.org/drawingml/2006/main">
            <a:r>
              <a:t/>
            </a:r>
          </a:p>
          <a:p xmlns:a="http://schemas.openxmlformats.org/drawingml/2006/main">
            <a:r>
              <a:t>EXPLAIN</a:t>
            </a:r>
          </a:p>
          <a:p xmlns:a="http://schemas.openxmlformats.org/drawingml/2006/main">
            <a:r>
              <a:t>Answer individually after the lecturer activates the quiz.</a:t>
            </a:r>
          </a:p>
          <a:p xmlns:a="http://schemas.openxmlformats.org/drawingml/2006/main">
            <a:r>
              <a:t/>
            </a:r>
          </a:p>
          <a:p xmlns:a="http://schemas.openxmlformats.org/drawingml/2006/main">
            <a:r>
              <a:t>Available for 24 hours from activation.</a:t>
            </a:r>
          </a:p>
          <a:p xmlns:a="http://schemas.openxmlformats.org/drawingml/2006/main">
            <a:r>
              <a:t/>
            </a:r>
          </a:p>
          <a:p xmlns:a="http://schemas.openxmlformats.org/drawingml/2006/main">
            <a:r>
              <a:t>Use your Student Registration Number and registered account.</a:t>
            </a:r>
          </a:p>
          <a:p xmlns:a="http://schemas.openxmlformats.org/drawingml/2006/main">
            <a:r>
              <a:t/>
            </a:r>
          </a:p>
          <a:p xmlns:a="http://schemas.openxmlformats.org/drawingml/2006/main">
            <a:r>
              <a:t>The lecturer will confirm the exact closing time.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Week 4 quiz</a:t>
            </a:r>
          </a:p>
          <a:p xmlns:a="http://schemas.openxmlformats.org/drawingml/2006/main">
            <a:r>
              <a:t/>
            </a:r>
          </a:p>
          <a:p xmlns:a="http://schemas.openxmlformats.org/drawingml/2006/main">
            <a:r>
              <a:t>CONNECT</a:t>
            </a:r>
          </a:p>
          <a:p xmlns:a="http://schemas.openxmlformats.org/drawingml/2006/main">
            <a:r>
              <a:t>Build on the preceding slide: Reading report submission.</a:t>
            </a:r>
          </a:p>
          <a:p xmlns:a="http://schemas.openxmlformats.org/drawingml/2006/main">
            <a:r>
              <a:t/>
            </a:r>
          </a:p>
          <a:p xmlns:a="http://schemas.openxmlformats.org/drawingml/2006/main">
            <a:r>
              <a:t>LECTURER CUE</a:t>
            </a:r>
          </a:p>
          <a:p xmlns:a="http://schemas.openxmlformats.org/drawingml/2006/main">
            <a:r>
              <a:t>Activate the matching open_W4_CML3113 function in Quiz Controls, then confirm the 24-hour close time. Opening this slide or clicking its link does not activate the form. The 24 hours is the availability window. Keep existing quiz scoring and form rules. Do not show private answer keys.</a:t>
            </a:r>
          </a:p>
          <a:p xmlns:a="http://schemas.openxmlformats.org/drawingml/2006/main">
            <a:r>
              <a:t/>
            </a:r>
          </a:p>
          <a:p xmlns:a="http://schemas.openxmlformats.org/drawingml/2006/main">
            <a:r>
              <a:t>QUIZ OPERATION</a:t>
            </a:r>
          </a:p>
          <a:p xmlns:a="http://schemas.openxmlformats.org/drawingml/2006/main">
            <a:r>
              <a:t>Opening the student link does not activate the quiz. In Quiz Controls run the matching open_W&lt;week&gt;_&lt;cohort&gt; function once when ready. Announce the logged closing time: 24 hours after activation. Five minutes describes expected answering time, not the availability window. Quiz 1 and Quiz 2 require separate activation when collecting catch-up work.</a:t>
            </a:r>
          </a:p>
          <a:p xmlns:a="http://schemas.openxmlformats.org/drawingml/2006/main">
            <a:r>
              <a:t/>
            </a:r>
          </a:p>
          <a:p xmlns:a="http://schemas.openxmlformats.org/drawingml/2006/main">
            <a:r>
              <a:t>NEXT</a:t>
            </a:r>
          </a:p>
          <a:p xmlns:a="http://schemas.openxmlformats.org/drawingml/2006/main">
            <a:r>
              <a:t>Before you leave.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Before you leave.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and submission checklist</a:t>
            </a:r>
          </a:p>
          <a:p xmlns:a="http://schemas.openxmlformats.org/drawingml/2006/main">
            <a:r>
              <a:t/>
            </a:r>
          </a:p>
          <a:p xmlns:a="http://schemas.openxmlformats.org/drawingml/2006/main">
            <a:r>
              <a:t>CONNECT</a:t>
            </a:r>
          </a:p>
          <a:p xmlns:a="http://schemas.openxmlformats.org/drawingml/2006/main">
            <a:r>
              <a:t>Build on Week 4 quiz. Explain why this example is needed before running it.</a:t>
            </a:r>
          </a:p>
          <a:p xmlns:a="http://schemas.openxmlformats.org/drawingml/2006/main">
            <a:r>
              <a:t/>
            </a:r>
          </a:p>
          <a:p xmlns:a="http://schemas.openxmlformats.org/drawingml/2006/main">
            <a:r>
              <a:t>EXPLAIN</a:t>
            </a:r>
          </a:p>
          <a:p xmlns:a="http://schemas.openxmlformats.org/drawingml/2006/main">
            <a:r>
              <a:t>You can show how the total and count change for each record.</a:t>
            </a:r>
          </a:p>
          <a:p xmlns:a="http://schemas.openxmlformats.org/drawingml/2006/main">
            <a:r>
              <a:t/>
            </a:r>
          </a:p>
          <a:p xmlns:a="http://schemas.openxmlformats.org/drawingml/2006/main">
            <a:r>
              <a:t>Save your work and check the required submission files.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Before you leave</a:t>
            </a:r>
          </a:p>
          <a:p xmlns:a="http://schemas.openxmlformats.org/drawingml/2006/main">
            <a:r>
              <a:t/>
            </a:r>
          </a:p>
          <a:p xmlns:a="http://schemas.openxmlformats.org/drawingml/2006/main">
            <a:r>
              <a:t>CONNECT</a:t>
            </a:r>
          </a:p>
          <a:p xmlns:a="http://schemas.openxmlformats.org/drawingml/2006/main">
            <a:r>
              <a:t>Build on the preceding slide: Week 4 quiz.</a:t>
            </a:r>
          </a:p>
          <a:p xmlns:a="http://schemas.openxmlformats.org/drawingml/2006/main">
            <a:r>
              <a:t/>
            </a:r>
          </a:p>
          <a:p xmlns:a="http://schemas.openxmlformats.org/drawingml/2006/main">
            <a:r>
              <a:t>LECTURER CUE</a:t>
            </a:r>
          </a:p>
          <a:p xmlns:a="http://schemas.openxmlformats.org/drawingml/2006/main">
            <a:r>
              <a:t>Ask every learner for an individual response. Record one misconception to revisit at the start of the next class. If a deadline changed, announce the exact Kampala date and update the source registry before rebuilding slides.</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independent revision and the issued task.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380fe386f0f4929"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3cf569946884e3e"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80747ca88f124d3a"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70f9cb70af2b4b7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21ff253a1e2742fb"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574b379352049b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A46AF030-5CC8-44F2-A61B-AC9217FA10DE}"/>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06A839C5-9E7E-482C-A39B-485CED8DAE1F}"/>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E63DF4CB-4283-4C5E-878C-AF15A7B4CCBE}"/>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FA9C1090-2562-48D8-BD08-A00117D76129}"/>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CEACD63F-AE68-48EF-80A0-717AE91AEC42}"/>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CD4EC05D-9304-4023-82F3-0CED1DDBCD04}"/>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FE17C4EE-B05A-448E-BC6B-28A05B20C76C}"/>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E6107673-D8DB-4C7A-8EA0-600F931EBF76}"/>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15A5B4B9-2331-4E71-A3AE-DE6C59441BF9}"/>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3E3D581A-92B9-47D1-90C5-691D3B65701D}"/>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ED157C9A-C314-41DB-BCFC-18856ECB601B}"/>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6041D365-2CC2-4F67-8487-17FDE2E9E701}"/>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F3A494C5-4FF4-4CCC-BCEB-962DA8BC2D26}"/>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34F1F88F-9AB1-41CD-81A5-0EE45E75A109}"/>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2D5CD2DC-C0CF-4EFF-B36B-D4CEA24447F2}"/>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ce7d1307a7143f5" /><Relationship Type="http://schemas.openxmlformats.org/officeDocument/2006/relationships/slideLayout" Target="/ppt/slideLayouts/slideLayout1.xml" Id="Rd9a810cc2b064e71" /><Relationship Type="http://schemas.openxmlformats.org/officeDocument/2006/relationships/slideLayout" Target="/ppt/slideLayouts/slideLayout2.xml" Id="Rae45dfbce0744702" /><Relationship Type="http://schemas.openxmlformats.org/officeDocument/2006/relationships/slideLayout" Target="/ppt/slideLayouts/slideLayout3.xml" Id="Rb72243399b9b4743" /><Relationship Type="http://schemas.openxmlformats.org/officeDocument/2006/relationships/slideLayout" Target="/ppt/slideLayouts/slideLayout4.xml" Id="Rf12b2fafbc4f4ba3" /><Relationship Type="http://schemas.openxmlformats.org/officeDocument/2006/relationships/slideLayout" Target="/ppt/slideLayouts/slideLayout5.xml" Id="R2470af422d3e43f5" /><Relationship Type="http://schemas.openxmlformats.org/officeDocument/2006/relationships/slideLayout" Target="/ppt/slideLayouts/slideLayout6.xml" Id="R9af714e294794f7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9a810cc2b064e71"/>
    <p:sldLayoutId xmlns:r="http://schemas.openxmlformats.org/officeDocument/2006/relationships" id="2147483650" r:id="Rae45dfbce0744702"/>
    <p:sldLayoutId xmlns:r="http://schemas.openxmlformats.org/officeDocument/2006/relationships" id="2147483651" r:id="Rb72243399b9b4743"/>
    <p:sldLayoutId xmlns:r="http://schemas.openxmlformats.org/officeDocument/2006/relationships" id="2147483652" r:id="Rf12b2fafbc4f4ba3"/>
    <p:sldLayoutId xmlns:r="http://schemas.openxmlformats.org/officeDocument/2006/relationships" id="2147483653" r:id="R2470af422d3e43f5"/>
    <p:sldLayoutId xmlns:r="http://schemas.openxmlformats.org/officeDocument/2006/relationships" id="2147483654" r:id="R9af714e294794f7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e0802e03dd614472" /><Relationship Type="http://schemas.openxmlformats.org/officeDocument/2006/relationships/image" Target="/ppt/media/image.png" Id="R1f7e782431a94b21" /><Relationship Type="http://schemas.openxmlformats.org/officeDocument/2006/relationships/notesSlide" Target="/ppt/notesSlides/notesSlide1.xml" Id="R7dfa9823782c4bff"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ed7c76a15ab143bb" /><Relationship Type="http://schemas.openxmlformats.org/officeDocument/2006/relationships/notesSlide" Target="/ppt/notesSlides/notesSlide2.xml" Id="Rc0f7c40e1e174e4d"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6f140fb0a1b34f18" /><Relationship Type="http://schemas.openxmlformats.org/officeDocument/2006/relationships/notesSlide" Target="/ppt/notesSlides/notesSlide3.xml" Id="R4973810cea134444"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22fb37f4991e498d" /><Relationship Type="http://schemas.openxmlformats.org/officeDocument/2006/relationships/notesSlide" Target="/ppt/notesSlides/notesSlide4.xml" Id="R9b09bba75e744964"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ff4603fa17a143ee" /><Relationship Type="http://schemas.openxmlformats.org/officeDocument/2006/relationships/notesSlide" Target="/ppt/notesSlides/notesSlide5.xml" Id="R9788838d053141de"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1566caaceffc4587" /><Relationship Type="http://schemas.openxmlformats.org/officeDocument/2006/relationships/notesSlide" Target="/ppt/notesSlides/notesSlide6.xml" Id="R9cf7566298fd413b"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71186856ffdc4711" /><Relationship Type="http://schemas.openxmlformats.org/officeDocument/2006/relationships/notesSlide" Target="/ppt/notesSlides/notesSlide7.xml" Id="Rb54d4c5bc95346a8"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cbabf78aae214e1c" /><Relationship Type="http://schemas.openxmlformats.org/officeDocument/2006/relationships/notesSlide" Target="/ppt/notesSlides/notesSlide8.xml" Id="Rf494dd148ffa43eb"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b8657f1ca60c4269" /><Relationship Type="http://schemas.openxmlformats.org/officeDocument/2006/relationships/notesSlide" Target="/ppt/notesSlides/notesSlide9.xml" Id="Rf888c1352c62434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e9f9e403fdce4fa3" /><Relationship Type="http://schemas.openxmlformats.org/officeDocument/2006/relationships/notesSlide" Target="/ppt/notesSlides/notesSlide10.xml" Id="Rc117ddd3fb2e448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31d6d8156da24a4b" /><Relationship Type="http://schemas.openxmlformats.org/officeDocument/2006/relationships/notesSlide" Target="/ppt/notesSlides/notesSlide11.xml" Id="R7c193915d84a436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b0df88b93b664d98" /><Relationship Type="http://schemas.openxmlformats.org/officeDocument/2006/relationships/notesSlide" Target="/ppt/notesSlides/notesSlide12.xml" Id="Rec15ef8c04604798"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8b060a88fd4547e9" /><Relationship Type="http://schemas.openxmlformats.org/officeDocument/2006/relationships/image" Target="/ppt/media/image2.png" Id="R79923d0b2d7f4f02" /><Relationship Type="http://schemas.openxmlformats.org/officeDocument/2006/relationships/notesSlide" Target="/ppt/notesSlides/notesSlide13.xml" Id="R6af033a1d4284ec4"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25ad1699a2c54677" /><Relationship Type="http://schemas.openxmlformats.org/officeDocument/2006/relationships/notesSlide" Target="/ppt/notesSlides/notesSlide14.xml" Id="R333921ebde6044e2"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4c8531ecddf942b9" /><Relationship Type="http://schemas.openxmlformats.org/officeDocument/2006/relationships/notesSlide" Target="/ppt/notesSlides/notesSlide15.xml" Id="R88cb9b219aac4e4f"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ba07af7d51a14859" /><Relationship Type="http://schemas.openxmlformats.org/officeDocument/2006/relationships/notesSlide" Target="/ppt/notesSlides/notesSlide16.xml" Id="R0321221aa87542cf"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0bd4421a560b42eb" /><Relationship Type="http://schemas.openxmlformats.org/officeDocument/2006/relationships/notesSlide" Target="/ppt/notesSlides/notesSlide17.xml" Id="Rf94a4957a9d44762"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7529fbfc2e6f4486" /><Relationship Type="http://schemas.openxmlformats.org/officeDocument/2006/relationships/notesSlide" Target="/ppt/notesSlides/notesSlide18.xml" Id="Rfe4f91c6b0d143bc"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433ec48b04d54d2a" /><Relationship Type="http://schemas.openxmlformats.org/officeDocument/2006/relationships/notesSlide" Target="/ppt/notesSlides/notesSlide19.xml" Id="R106e4a14774f4996"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b92b5454e38d4fbc" /><Relationship Type="http://schemas.openxmlformats.org/officeDocument/2006/relationships/notesSlide" Target="/ppt/notesSlides/notesSlide20.xml" Id="Ra3d3850e36fe44c7"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62d94f70610e4010" /><Relationship Type="http://schemas.openxmlformats.org/officeDocument/2006/relationships/notesSlide" Target="/ppt/notesSlides/notesSlide21.xml" Id="R3893b88e48f4417b"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b81614a398b044c1" /><Relationship Type="http://schemas.openxmlformats.org/officeDocument/2006/relationships/notesSlide" Target="/ppt/notesSlides/notesSlide22.xml" Id="R4bf98626f26441d7"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d80c9d2066fc4ada" /><Relationship Type="http://schemas.openxmlformats.org/officeDocument/2006/relationships/notesSlide" Target="/ppt/notesSlides/notesSlide23.xml" Id="R909a8b754166494e"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43371685a8e84458" /><Relationship Type="http://schemas.openxmlformats.org/officeDocument/2006/relationships/notesSlide" Target="/ppt/notesSlides/notesSlide24.xml" Id="Rb0df7d1e40134137"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6e3a7b50f3e0484e" /><Relationship Type="http://schemas.openxmlformats.org/officeDocument/2006/relationships/notesSlide" Target="/ppt/notesSlides/notesSlide25.xml" Id="R52e86b72942b4af3"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813e1b2a9fa849f8" /><Relationship Type="http://schemas.openxmlformats.org/officeDocument/2006/relationships/notesSlide" Target="/ppt/notesSlides/notesSlide26.xml" Id="Rc7d65aea86ed43c6"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632bd74e7b434491" /><Relationship Type="http://schemas.openxmlformats.org/officeDocument/2006/relationships/image" Target="/ppt/media/image3.png" Id="R994839516fd54e54" /><Relationship Type="http://schemas.openxmlformats.org/officeDocument/2006/relationships/notesSlide" Target="/ppt/notesSlides/notesSlide27.xml" Id="R40ff21cf143d4804"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30b9024817364f87" /><Relationship Type="http://schemas.openxmlformats.org/officeDocument/2006/relationships/notesSlide" Target="/ppt/notesSlides/notesSlide28.xml" Id="R42f8657a9b244431"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e779ad4db0084231" /><Relationship Type="http://schemas.openxmlformats.org/officeDocument/2006/relationships/notesSlide" Target="/ppt/notesSlides/notesSlide29.xml" Id="Ra875c754680f4ac3"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797709c1be984916" /><Relationship Type="http://schemas.openxmlformats.org/officeDocument/2006/relationships/notesSlide" Target="/ppt/notesSlides/notesSlide30.xml" Id="R3812dbeeb24b46cd"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a2021045fdaf41d1" /><Relationship Type="http://schemas.openxmlformats.org/officeDocument/2006/relationships/notesSlide" Target="/ppt/notesSlides/notesSlide31.xml" Id="R8976c3912b614a06"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6ca5f37810bb4e34" /><Relationship Type="http://schemas.openxmlformats.org/officeDocument/2006/relationships/notesSlide" Target="/ppt/notesSlides/notesSlide32.xml" Id="Rec83739607fb4576"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9ea3cae08ac34620" /><Relationship Type="http://schemas.openxmlformats.org/officeDocument/2006/relationships/notesSlide" Target="/ppt/notesSlides/notesSlide33.xml" Id="R802d552eb30c4f28"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26520cfc8dc14206" /><Relationship Type="http://schemas.openxmlformats.org/officeDocument/2006/relationships/notesSlide" Target="/ppt/notesSlides/notesSlide34.xml" Id="R3f4905addfdc48d5"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6052f83029654fd3" /><Relationship Type="http://schemas.openxmlformats.org/officeDocument/2006/relationships/notesSlide" Target="/ppt/notesSlides/notesSlide35.xml" Id="R59b3fc3160c348ce"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dffdbcb342e34a61" /><Relationship Type="http://schemas.openxmlformats.org/officeDocument/2006/relationships/notesSlide" Target="/ppt/notesSlides/notesSlide36.xml" Id="Rd705afb12c4649be"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550ae43eb4f64ceb" /><Relationship Type="http://schemas.openxmlformats.org/officeDocument/2006/relationships/notesSlide" Target="/ppt/notesSlides/notesSlide37.xml" Id="Rb58e4a7c4e9a4c1a"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c978b24edc3a4dcf" /><Relationship Type="http://schemas.openxmlformats.org/officeDocument/2006/relationships/notesSlide" Target="/ppt/notesSlides/notesSlide38.xml" Id="R236d94049ef24699"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84ff6decfafa4a02" /><Relationship Type="http://schemas.openxmlformats.org/officeDocument/2006/relationships/notesSlide" Target="/ppt/notesSlides/notesSlide39.xml" Id="R647622782b4c4495"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df67674a4c724b54" /><Relationship Type="http://schemas.openxmlformats.org/officeDocument/2006/relationships/notesSlide" Target="/ppt/notesSlides/notesSlide40.xml" Id="Rffdc7494e32a4147"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775f29d0b5a54b80" /><Relationship Type="http://schemas.openxmlformats.org/officeDocument/2006/relationships/notesSlide" Target="/ppt/notesSlides/notesSlide41.xml" Id="R9c35323120af496e"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c944e84761ea447a" /><Relationship Type="http://schemas.openxmlformats.org/officeDocument/2006/relationships/notesSlide" Target="/ppt/notesSlides/notesSlide42.xml" Id="R9f952646e3034407"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dc494894f0734475" /><Relationship Type="http://schemas.openxmlformats.org/officeDocument/2006/relationships/notesSlide" Target="/ppt/notesSlides/notesSlide43.xml" Id="Rdcdbf28ea76648c1"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4982dbe17f1745e3" /><Relationship Type="http://schemas.openxmlformats.org/officeDocument/2006/relationships/notesSlide" Target="/ppt/notesSlides/notesSlide44.xml" Id="Re398f02194ea4ae5"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428a48fa586a4503" /><Relationship Type="http://schemas.openxmlformats.org/officeDocument/2006/relationships/notesSlide" Target="/ppt/notesSlides/notesSlide45.xml" Id="R0fdebad90e9d4304"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0b1356a538d54ba8" /><Relationship Type="http://schemas.openxmlformats.org/officeDocument/2006/relationships/notesSlide" Target="/ppt/notesSlides/notesSlide46.xml" Id="R39cb0bb9591d488f"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2886ed26bb104736" /><Relationship Type="http://schemas.openxmlformats.org/officeDocument/2006/relationships/notesSlide" Target="/ppt/notesSlides/notesSlide47.xml" Id="R2c8b148a7036437f"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fdef18b811754d16" /><Relationship Type="http://schemas.openxmlformats.org/officeDocument/2006/relationships/notesSlide" Target="/ppt/notesSlides/notesSlide48.xml" Id="R54fd6861f9d84c02"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04bfde96e7ff4596" /><Relationship Type="http://schemas.openxmlformats.org/officeDocument/2006/relationships/notesSlide" Target="/ppt/notesSlides/notesSlide49.xml" Id="Rd63b55ffd23c41fb"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753732d4722540d2" /><Relationship Type="http://schemas.openxmlformats.org/officeDocument/2006/relationships/notesSlide" Target="/ppt/notesSlides/notesSlide50.xml" Id="R9ec3003d30e445f4"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e8c85dccfaf7495e" /><Relationship Type="http://schemas.openxmlformats.org/officeDocument/2006/relationships/notesSlide" Target="/ppt/notesSlides/notesSlide51.xml" Id="Re2c9327397b443d6"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3c4b6e6eb30346ff" /><Relationship Type="http://schemas.openxmlformats.org/officeDocument/2006/relationships/notesSlide" Target="/ppt/notesSlides/notesSlide52.xml" Id="R56438156965c4ba9"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cb8c996a478a4f95" /><Relationship Type="http://schemas.openxmlformats.org/officeDocument/2006/relationships/notesSlide" Target="/ppt/notesSlides/notesSlide53.xml" Id="Rfba4baea0a0542d4"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b9a39bb9964c4395" /><Relationship Type="http://schemas.openxmlformats.org/officeDocument/2006/relationships/notesSlide" Target="/ppt/notesSlides/notesSlide54.xml" Id="R950b31aa0dfc4cce"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6fcd6be52f1a45a3" /><Relationship Type="http://schemas.openxmlformats.org/officeDocument/2006/relationships/notesSlide" Target="/ppt/notesSlides/notesSlide55.xml" Id="R02e257409e5c408d"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e61b54920c78491f" /><Relationship Type="http://schemas.openxmlformats.org/officeDocument/2006/relationships/notesSlide" Target="/ppt/notesSlides/notesSlide56.xml" Id="R34fc3b19c8594791"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542a8e6b0ae04189" /><Relationship Type="http://schemas.openxmlformats.org/officeDocument/2006/relationships/notesSlide" Target="/ppt/notesSlides/notesSlide57.xml" Id="R9033c4aef0824761"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a49b933acfb64488" /><Relationship Type="http://schemas.openxmlformats.org/officeDocument/2006/relationships/notesSlide" Target="/ppt/notesSlides/notesSlide58.xml" Id="Ra418904b48174745"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edcf13324f6b4496" /><Relationship Type="http://schemas.openxmlformats.org/officeDocument/2006/relationships/notesSlide" Target="/ppt/notesSlides/notesSlide59.xml" Id="Reb6aa18e51b04091"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f6e1def38aa64c1a" /><Relationship Type="http://schemas.openxmlformats.org/officeDocument/2006/relationships/notesSlide" Target="/ppt/notesSlides/notesSlide60.xml" Id="R13a4a875cf09444b"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955faaf203284e17" /><Relationship Type="http://schemas.openxmlformats.org/officeDocument/2006/relationships/hyperlink" Target="https://docs.google.com/forms/d/e/1FAIpQLSenqAHKxNgzxWHIR41scC7h5WAxcs8D9wOyXYjIQ_ulbGpPCw/viewform" TargetMode="External" Id="R60e6f1c48dcd4570" /><Relationship Type="http://schemas.openxmlformats.org/officeDocument/2006/relationships/notesSlide" Target="/ppt/notesSlides/notesSlide61.xml" Id="R30087f0b36744625"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743a02fa9a1a4ffc" /><Relationship Type="http://schemas.openxmlformats.org/officeDocument/2006/relationships/image" Target="/ppt/media/image4.png" Id="Ra779ce68c4264e2a" /><Relationship Type="http://schemas.openxmlformats.org/officeDocument/2006/relationships/hyperlink" Target="https://forms.gle/YbPS4yzALy4tB1YM7" TargetMode="External" Id="Rb1128b0af64e4a28" /><Relationship Type="http://schemas.openxmlformats.org/officeDocument/2006/relationships/notesSlide" Target="/ppt/notesSlides/notesSlide62.xml" Id="R7369182e16d64ec8"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e397d9c65e5e47f8" /><Relationship Type="http://schemas.openxmlformats.org/officeDocument/2006/relationships/notesSlide" Target="/ppt/notesSlides/notesSlide63.xml" Id="Rac5f6dd2aec043b2"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1f7e782431a94b21"/>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D87A083F-9CE1-44F2-8624-ADEA97F6946C}"/>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3BD4B962-1387-4D32-8838-872E8B68DE88}"/>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CML3113   WEEK 4</a:t>
            </a:r>
          </a:p>
        </p:txBody>
      </p:sp>
      <p:sp>
        <p:nvSpPr>
          <p:cNvPr id="4" name="">
            <a:extLst xmlns:a="http://schemas.openxmlformats.org/drawingml/2006/main">
              <a:ext uri="{FF2B5EF4-FFF2-40B4-BE49-F238E27FC236}">
                <a16:creationId xmlns:a16="http://schemas.microsoft.com/office/drawing/2014/main" id="{49AE3B18-996D-4E11-8EFF-691009EF888C}"/>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Lists loops and reading a table</a:t>
            </a:r>
          </a:p>
        </p:txBody>
      </p:sp>
      <p:sp>
        <p:nvSpPr>
          <p:cNvPr id="5" name="">
            <a:extLst xmlns:a="http://schemas.openxmlformats.org/drawingml/2006/main">
              <a:ext uri="{FF2B5EF4-FFF2-40B4-BE49-F238E27FC236}">
                <a16:creationId xmlns:a16="http://schemas.microsoft.com/office/drawing/2014/main" id="{8DD9DD2B-9847-4C8E-886B-687509BF0CFF}"/>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Mining and Petroleum Engineering</a:t>
            </a:r>
          </a:p>
        </p:txBody>
      </p:sp>
      <p:sp>
        <p:nvSpPr>
          <p:cNvPr id="6" name="">
            <a:extLst xmlns:a="http://schemas.openxmlformats.org/drawingml/2006/main">
              <a:ext uri="{FF2B5EF4-FFF2-40B4-BE49-F238E27FC236}">
                <a16:creationId xmlns:a16="http://schemas.microsoft.com/office/drawing/2014/main" id="{7CD8466A-D196-46C4-A72F-4D15CE4D2DB0}"/>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02 October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08:00–11:00, Room 105</a:t>
            </a:r>
          </a:p>
        </p:txBody>
      </p:sp>
    </p:spTree>
    <p:extLst>
      <p:ext uri="{BB962C8B-B14F-4D97-AF65-F5344CB8AC3E}">
        <p14:creationId xmlns:p14="http://schemas.microsoft.com/office/powerpoint/2010/main" val="129538753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5C2F799-221D-4E44-9C35-18FE735D932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3806E56-761D-4767-B89B-00511908C68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493DB9CF-2FFE-4633-822A-DCEA0CF34D9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769F409F-A653-46A7-83FE-0CF25E224759}"/>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45798FF-7562-442E-9832-3A450D6392F9}"/>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53384297-D144-4FC0-A59E-AF3A0E23A1A1}"/>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lists and dictionary fields.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Trace a loop, read CSV rows and calculate summaries.</a:t>
            </a:r>
          </a:p>
        </p:txBody>
      </p:sp>
      <p:sp>
        <p:nvSpPr>
          <p:cNvPr id="7" name="">
            <a:extLst xmlns:a="http://schemas.openxmlformats.org/drawingml/2006/main">
              <a:ext uri="{FF2B5EF4-FFF2-40B4-BE49-F238E27FC236}">
                <a16:creationId xmlns:a16="http://schemas.microsoft.com/office/drawing/2014/main" id="{C1FF564F-C919-4217-BA98-F72013C8A3F5}"/>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9E98C6E0-BD2D-45FA-A6C9-DE5CA899FB0A}"/>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show how the total and count change for each record.</a:t>
            </a:r>
          </a:p>
        </p:txBody>
      </p:sp>
      <p:sp>
        <p:nvSpPr>
          <p:cNvPr id="9" name="">
            <a:extLst xmlns:a="http://schemas.openxmlformats.org/drawingml/2006/main">
              <a:ext uri="{FF2B5EF4-FFF2-40B4-BE49-F238E27FC236}">
                <a16:creationId xmlns:a16="http://schemas.microsoft.com/office/drawing/2014/main" id="{6D561CB3-0986-46AC-B750-822B49658CD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2</a:t>
            </a:r>
          </a:p>
        </p:txBody>
      </p:sp>
    </p:spTree>
    <p:extLst>
      <p:ext uri="{BB962C8B-B14F-4D97-AF65-F5344CB8AC3E}">
        <p14:creationId xmlns:p14="http://schemas.microsoft.com/office/powerpoint/2010/main" val="127204267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E33E54B-50CB-415C-BEB2-C6CD8360BD3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E7F9904-8140-4286-B228-0CE44C40253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96F2392-09B5-48E6-A60F-2E59CE03E9C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B1ACBC4B-151C-42BC-8951-23605C0782D7}"/>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AE80FE5-7D55-4A2D-8509-43B9BEE67374}"/>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Week 3 introduced values, function inputs and results, conditions and list positions.</a:t>
            </a:r>
          </a:p>
        </p:txBody>
      </p:sp>
      <p:sp>
        <p:nvSpPr>
          <p:cNvPr id="6" name="">
            <a:extLst xmlns:a="http://schemas.openxmlformats.org/drawingml/2006/main">
              <a:ext uri="{FF2B5EF4-FFF2-40B4-BE49-F238E27FC236}">
                <a16:creationId xmlns:a16="http://schemas.microsoft.com/office/drawing/2014/main" id="{E28598DD-76D4-40D1-9222-CFF9B3DC0000}"/>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Now we repeat a calculation across records, then organise those records by keys.</a:t>
            </a:r>
          </a:p>
        </p:txBody>
      </p:sp>
      <p:sp>
        <p:nvSpPr>
          <p:cNvPr id="7" name="">
            <a:extLst xmlns:a="http://schemas.openxmlformats.org/drawingml/2006/main">
              <a:ext uri="{FF2B5EF4-FFF2-40B4-BE49-F238E27FC236}">
                <a16:creationId xmlns:a16="http://schemas.microsoft.com/office/drawing/2014/main" id="{C884AB12-2C53-4A11-AE3F-550BA4D35D5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3</a:t>
            </a:r>
          </a:p>
        </p:txBody>
      </p:sp>
    </p:spTree>
    <p:extLst>
      <p:ext uri="{BB962C8B-B14F-4D97-AF65-F5344CB8AC3E}">
        <p14:creationId xmlns:p14="http://schemas.microsoft.com/office/powerpoint/2010/main" val="179213691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277F45E-165E-4FCE-865E-5A9DD0C8CD3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DEC23B5-61F3-4FBD-AF23-CA19DC66071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FD16DC9-2ECC-459B-AF8F-19285CA5EE6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Why this week’s tools are needed</a:t>
            </a:r>
          </a:p>
        </p:txBody>
      </p:sp>
      <p:sp>
        <p:nvSpPr>
          <p:cNvPr id="4" name="">
            <a:extLst xmlns:a="http://schemas.openxmlformats.org/drawingml/2006/main">
              <a:ext uri="{FF2B5EF4-FFF2-40B4-BE49-F238E27FC236}">
                <a16:creationId xmlns:a16="http://schemas.microsoft.com/office/drawing/2014/main" id="{EF051A2B-82BE-4955-8618-9456A04369C7}"/>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8411B74-A912-4439-BAC9-A6E160B71E26}"/>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Sensor readings arrive as records in a CSV file.</a:t>
            </a:r>
          </a:p>
        </p:txBody>
      </p:sp>
      <p:sp>
        <p:nvSpPr>
          <p:cNvPr id="6" name="">
            <a:extLst xmlns:a="http://schemas.openxmlformats.org/drawingml/2006/main">
              <a:ext uri="{FF2B5EF4-FFF2-40B4-BE49-F238E27FC236}">
                <a16:creationId xmlns:a16="http://schemas.microsoft.com/office/drawing/2014/main" id="{5AA88900-0C75-4CA5-BF3B-B29E3AE22835}"/>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first learn the Python collections and loops needed to read those records and summarise them.</a:t>
            </a:r>
          </a:p>
        </p:txBody>
      </p:sp>
      <p:sp>
        <p:nvSpPr>
          <p:cNvPr id="7" name="">
            <a:extLst xmlns:a="http://schemas.openxmlformats.org/drawingml/2006/main">
              <a:ext uri="{FF2B5EF4-FFF2-40B4-BE49-F238E27FC236}">
                <a16:creationId xmlns:a16="http://schemas.microsoft.com/office/drawing/2014/main" id="{9E05A4C5-9F05-4F67-B811-B86233A4852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4</a:t>
            </a:r>
          </a:p>
        </p:txBody>
      </p:sp>
    </p:spTree>
    <p:extLst>
      <p:ext uri="{BB962C8B-B14F-4D97-AF65-F5344CB8AC3E}">
        <p14:creationId xmlns:p14="http://schemas.microsoft.com/office/powerpoint/2010/main" val="1984266669"/>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F7956D0-E1A7-4B67-8D79-F0E8551C59C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B303506-A392-4523-BC93-197CE5BB0D2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64357F57-6422-4D97-BC37-145055E5062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List and index</a:t>
            </a:r>
          </a:p>
        </p:txBody>
      </p:sp>
      <p:sp>
        <p:nvSpPr>
          <p:cNvPr id="4" name="">
            <a:extLst xmlns:a="http://schemas.openxmlformats.org/drawingml/2006/main">
              <a:ext uri="{FF2B5EF4-FFF2-40B4-BE49-F238E27FC236}">
                <a16:creationId xmlns:a16="http://schemas.microsoft.com/office/drawing/2014/main" id="{ED8A3796-2169-4CD6-A6ED-81F33D1FA65D}"/>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897C03A-1A73-41CB-91B4-6C579ED95F73}"/>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List and index</a:t>
            </a:r>
          </a:p>
        </p:txBody>
      </p:sp>
      <p:sp>
        <p:nvSpPr>
          <p:cNvPr id="6" name="">
            <a:extLst xmlns:a="http://schemas.openxmlformats.org/drawingml/2006/main">
              <a:ext uri="{FF2B5EF4-FFF2-40B4-BE49-F238E27FC236}">
                <a16:creationId xmlns:a16="http://schemas.microsoft.com/office/drawing/2014/main" id="{7399F8F4-AF64-4905-BCA5-659994C28620}"/>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list holds values in order: [2, 4, 6]. Square brackets select a position. readings[0] selects the first item, 2.</a:t>
            </a:r>
          </a:p>
        </p:txBody>
      </p:sp>
      <p:sp>
        <p:nvSpPr>
          <p:cNvPr id="7" name="">
            <a:extLst xmlns:a="http://schemas.openxmlformats.org/drawingml/2006/main">
              <a:ext uri="{FF2B5EF4-FFF2-40B4-BE49-F238E27FC236}">
                <a16:creationId xmlns:a16="http://schemas.microsoft.com/office/drawing/2014/main" id="{437A21AE-F35C-4714-B1F7-AED9D1DFA97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5</a:t>
            </a:r>
          </a:p>
        </p:txBody>
      </p:sp>
    </p:spTree>
    <p:extLst>
      <p:ext uri="{BB962C8B-B14F-4D97-AF65-F5344CB8AC3E}">
        <p14:creationId xmlns:p14="http://schemas.microsoft.com/office/powerpoint/2010/main" val="1391474844"/>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4D3FBE4-86DE-4278-8D00-B9717B9DA31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B6F3F74-D0C7-4647-BAFE-1817C4D9D2C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F5AA3B3-9E91-46B3-B7D8-3714FBFCE57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list position starts at zero</a:t>
            </a:r>
          </a:p>
        </p:txBody>
      </p:sp>
      <p:sp>
        <p:nvSpPr>
          <p:cNvPr id="4" name="">
            <a:extLst xmlns:a="http://schemas.openxmlformats.org/drawingml/2006/main">
              <a:ext uri="{FF2B5EF4-FFF2-40B4-BE49-F238E27FC236}">
                <a16:creationId xmlns:a16="http://schemas.microsoft.com/office/drawing/2014/main" id="{B4D81D89-136E-41B1-8F86-F04586864B8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2693F56-30A5-4BFB-964C-E11AF580F3E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[2, 4, 6], position 0 holds 2.</a:t>
            </a:r>
          </a:p>
        </p:txBody>
      </p:sp>
      <p:sp>
        <p:nvSpPr>
          <p:cNvPr id="6" name="">
            <a:extLst xmlns:a="http://schemas.openxmlformats.org/drawingml/2006/main">
              <a:ext uri="{FF2B5EF4-FFF2-40B4-BE49-F238E27FC236}">
                <a16:creationId xmlns:a16="http://schemas.microsoft.com/office/drawing/2014/main" id="{A9593A8B-E9E6-4D5E-A244-1BEC68AA6327}"/>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FEE990A-E189-47A4-9E09-0E3CFACCB76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Position 1 holds 4. Position 2 holds 6.</a:t>
            </a:r>
          </a:p>
        </p:txBody>
      </p:sp>
      <p:sp>
        <p:nvSpPr>
          <p:cNvPr id="8" name="">
            <a:extLst xmlns:a="http://schemas.openxmlformats.org/drawingml/2006/main">
              <a:ext uri="{FF2B5EF4-FFF2-40B4-BE49-F238E27FC236}">
                <a16:creationId xmlns:a16="http://schemas.microsoft.com/office/drawing/2014/main" id="{764CE167-5C73-47A6-BB50-7FB4DA738D5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B6B2A68-9F34-48C7-BF79-4B885816985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There is no position 3 in this three-item list.</a:t>
            </a:r>
          </a:p>
        </p:txBody>
      </p:sp>
      <p:sp>
        <p:nvSpPr>
          <p:cNvPr id="10" name="">
            <a:extLst xmlns:a="http://schemas.openxmlformats.org/drawingml/2006/main">
              <a:ext uri="{FF2B5EF4-FFF2-40B4-BE49-F238E27FC236}">
                <a16:creationId xmlns:a16="http://schemas.microsoft.com/office/drawing/2014/main" id="{0FC0AE5C-2635-4249-9EBD-181CC97F2E3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6</a:t>
            </a:r>
          </a:p>
        </p:txBody>
      </p:sp>
    </p:spTree>
    <p:extLst>
      <p:ext uri="{BB962C8B-B14F-4D97-AF65-F5344CB8AC3E}">
        <p14:creationId xmlns:p14="http://schemas.microsoft.com/office/powerpoint/2010/main" val="1711251841"/>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B7001DA-2994-46A0-9670-BEF6D16EAE6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0344D10-099F-41BF-90FC-C08837422C9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D964EC72-AE92-4500-A0D3-6396DC5902C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list operations</a:t>
            </a:r>
          </a:p>
        </p:txBody>
      </p:sp>
      <p:sp>
        <p:nvSpPr>
          <p:cNvPr id="4" name="">
            <a:extLst xmlns:a="http://schemas.openxmlformats.org/drawingml/2006/main">
              <a:ext uri="{FF2B5EF4-FFF2-40B4-BE49-F238E27FC236}">
                <a16:creationId xmlns:a16="http://schemas.microsoft.com/office/drawing/2014/main" id="{6A50EC7C-D2B3-45FF-B3DF-FA884E8FF4B3}"/>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A97CD6A-DE4A-44A3-A3B4-B0B8CE86D33F}"/>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append and len</a:t>
            </a:r>
          </a:p>
        </p:txBody>
      </p:sp>
      <p:sp>
        <p:nvSpPr>
          <p:cNvPr id="6" name="">
            <a:extLst xmlns:a="http://schemas.openxmlformats.org/drawingml/2006/main">
              <a:ext uri="{FF2B5EF4-FFF2-40B4-BE49-F238E27FC236}">
                <a16:creationId xmlns:a16="http://schemas.microsoft.com/office/drawing/2014/main" id="{968DF2C6-55AD-4729-B122-CA0C255700B9}"/>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readings.append(8) adds 8 to the end of the list. len(readings) counts its items. The dot selects an operation belonging to that object; parentheses call it.</a:t>
            </a:r>
          </a:p>
        </p:txBody>
      </p:sp>
      <p:sp>
        <p:nvSpPr>
          <p:cNvPr id="7" name="">
            <a:extLst xmlns:a="http://schemas.openxmlformats.org/drawingml/2006/main">
              <a:ext uri="{FF2B5EF4-FFF2-40B4-BE49-F238E27FC236}">
                <a16:creationId xmlns:a16="http://schemas.microsoft.com/office/drawing/2014/main" id="{3DA9341E-572A-4CEB-A1C1-D1C27F5B02C6}"/>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C63D421-918D-4D05-9069-BA4F74F5287F}"/>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Slice</a:t>
            </a:r>
          </a:p>
        </p:txBody>
      </p:sp>
      <p:sp>
        <p:nvSpPr>
          <p:cNvPr id="9" name="">
            <a:extLst xmlns:a="http://schemas.openxmlformats.org/drawingml/2006/main">
              <a:ext uri="{FF2B5EF4-FFF2-40B4-BE49-F238E27FC236}">
                <a16:creationId xmlns:a16="http://schemas.microsoft.com/office/drawing/2014/main" id="{56FB04EA-02DA-4A32-A545-F99D5BD38029}"/>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readings[1:3] selects positions 1 and 2. The stop position 3 is excluded. A slice produces a new list; it does not remove items from the original.</a:t>
            </a:r>
          </a:p>
        </p:txBody>
      </p:sp>
      <p:sp>
        <p:nvSpPr>
          <p:cNvPr id="10" name="">
            <a:extLst xmlns:a="http://schemas.openxmlformats.org/drawingml/2006/main">
              <a:ext uri="{FF2B5EF4-FFF2-40B4-BE49-F238E27FC236}">
                <a16:creationId xmlns:a16="http://schemas.microsoft.com/office/drawing/2014/main" id="{51052009-E9C3-40BC-BDC8-3A655ACC555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7</a:t>
            </a:r>
          </a:p>
        </p:txBody>
      </p:sp>
    </p:spTree>
    <p:extLst>
      <p:ext uri="{BB962C8B-B14F-4D97-AF65-F5344CB8AC3E}">
        <p14:creationId xmlns:p14="http://schemas.microsoft.com/office/powerpoint/2010/main" val="1385045450"/>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6F4628D7-F689-45E6-A0A2-5E508D2FA14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F15C050-7FCA-49F7-BCA5-7D9DDB9463D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4B2BAAE-8EC5-491D-B9A3-146CE1411BE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list stores items in order</a:t>
            </a:r>
          </a:p>
        </p:txBody>
      </p:sp>
      <p:sp>
        <p:nvSpPr>
          <p:cNvPr id="4" name="">
            <a:extLst xmlns:a="http://schemas.openxmlformats.org/drawingml/2006/main">
              <a:ext uri="{FF2B5EF4-FFF2-40B4-BE49-F238E27FC236}">
                <a16:creationId xmlns:a16="http://schemas.microsoft.com/office/drawing/2014/main" id="{2690E859-857F-44F5-B8A7-CC96CDC7D7DF}"/>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AD0A12F-16FF-4DA6-B081-C73E87901C16}"/>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[2, 4,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print(readings[0])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readings.append(8)</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print(readings[1:3])</a:t>
            </a:r>
          </a:p>
        </p:txBody>
      </p:sp>
      <p:sp>
        <p:nvSpPr>
          <p:cNvPr id="6" name="">
            <a:extLst xmlns:a="http://schemas.openxmlformats.org/drawingml/2006/main">
              <a:ext uri="{FF2B5EF4-FFF2-40B4-BE49-F238E27FC236}">
                <a16:creationId xmlns:a16="http://schemas.microsoft.com/office/drawing/2014/main" id="{6283009E-5A5B-432D-ADBC-A382203E1229}"/>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E4883111-22F3-44EC-A910-1AAB91E93972}"/>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851B7D2D-6FA9-4119-9434-A92028B9B0FE}"/>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append adds one item to the end of a list.</a:t>
            </a:r>
          </a:p>
        </p:txBody>
      </p:sp>
      <p:sp>
        <p:nvSpPr>
          <p:cNvPr id="9" name="">
            <a:extLst xmlns:a="http://schemas.openxmlformats.org/drawingml/2006/main">
              <a:ext uri="{FF2B5EF4-FFF2-40B4-BE49-F238E27FC236}">
                <a16:creationId xmlns:a16="http://schemas.microsoft.com/office/drawing/2014/main" id="{CFBAB5E0-4581-4C34-8929-A7A8561766B4}"/>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10" name="">
            <a:extLst xmlns:a="http://schemas.openxmlformats.org/drawingml/2006/main">
              <a:ext uri="{FF2B5EF4-FFF2-40B4-BE49-F238E27FC236}">
                <a16:creationId xmlns:a16="http://schemas.microsoft.com/office/drawing/2014/main" id="{AB98E663-863F-41F8-B672-F96A96A2E16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 builds a list. Positions start at zero. The slice stops before position 3.</a:t>
            </a:r>
          </a:p>
        </p:txBody>
      </p:sp>
      <p:sp>
        <p:nvSpPr>
          <p:cNvPr id="11" name="">
            <a:extLst xmlns:a="http://schemas.openxmlformats.org/drawingml/2006/main">
              <a:ext uri="{FF2B5EF4-FFF2-40B4-BE49-F238E27FC236}">
                <a16:creationId xmlns:a16="http://schemas.microsoft.com/office/drawing/2014/main" id="{CDCBF00A-12FB-4F01-8B44-9DBCFC65724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8</a:t>
            </a:r>
          </a:p>
        </p:txBody>
      </p:sp>
    </p:spTree>
    <p:extLst>
      <p:ext uri="{BB962C8B-B14F-4D97-AF65-F5344CB8AC3E}">
        <p14:creationId xmlns:p14="http://schemas.microsoft.com/office/powerpoint/2010/main" val="2138466447"/>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7842124-9133-44D5-A90A-CEF3F12E1C9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0681FC7-33BA-40A1-98E1-ABDC1BD6A03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42323B30-CC68-436B-A8C0-A25C7199738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Loop and iteration</a:t>
            </a:r>
          </a:p>
        </p:txBody>
      </p:sp>
      <p:sp>
        <p:nvSpPr>
          <p:cNvPr id="4" name="">
            <a:extLst xmlns:a="http://schemas.openxmlformats.org/drawingml/2006/main">
              <a:ext uri="{FF2B5EF4-FFF2-40B4-BE49-F238E27FC236}">
                <a16:creationId xmlns:a16="http://schemas.microsoft.com/office/drawing/2014/main" id="{87131954-C54C-448B-8321-9ED0726AC943}"/>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EA26FF1-4E2A-4799-A4A9-C02F2F904FCD}"/>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Loop and iteration</a:t>
            </a:r>
          </a:p>
        </p:txBody>
      </p:sp>
      <p:sp>
        <p:nvSpPr>
          <p:cNvPr id="6" name="">
            <a:extLst xmlns:a="http://schemas.openxmlformats.org/drawingml/2006/main">
              <a:ext uri="{FF2B5EF4-FFF2-40B4-BE49-F238E27FC236}">
                <a16:creationId xmlns:a16="http://schemas.microsoft.com/office/drawing/2014/main" id="{D7A2AE7F-2E1D-49F9-92F8-5C16AEE2173E}"/>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for loop runs its indented body once per item. Each pass is one iteration.</a:t>
            </a:r>
          </a:p>
        </p:txBody>
      </p:sp>
      <p:sp>
        <p:nvSpPr>
          <p:cNvPr id="7" name="">
            <a:extLst xmlns:a="http://schemas.openxmlformats.org/drawingml/2006/main">
              <a:ext uri="{FF2B5EF4-FFF2-40B4-BE49-F238E27FC236}">
                <a16:creationId xmlns:a16="http://schemas.microsoft.com/office/drawing/2014/main" id="{B1344941-E273-4A8D-B670-8D849E1A973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9</a:t>
            </a:r>
          </a:p>
        </p:txBody>
      </p:sp>
    </p:spTree>
    <p:extLst>
      <p:ext uri="{BB962C8B-B14F-4D97-AF65-F5344CB8AC3E}">
        <p14:creationId xmlns:p14="http://schemas.microsoft.com/office/powerpoint/2010/main" val="207309636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C1097B8-2512-492A-A3C6-78B93B1A290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6ED45D5-0A5C-4352-9415-CF960889ECD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435DA4C7-9696-4EDD-A572-700E23A0B6F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Accumulator</a:t>
            </a:r>
          </a:p>
        </p:txBody>
      </p:sp>
      <p:sp>
        <p:nvSpPr>
          <p:cNvPr id="4" name="">
            <a:extLst xmlns:a="http://schemas.openxmlformats.org/drawingml/2006/main">
              <a:ext uri="{FF2B5EF4-FFF2-40B4-BE49-F238E27FC236}">
                <a16:creationId xmlns:a16="http://schemas.microsoft.com/office/drawing/2014/main" id="{06EB4B1C-1F35-44BC-871E-4797127475D9}"/>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DABF9BF-74A3-4CB9-9DF1-2B490908A3AB}"/>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Accumulator</a:t>
            </a:r>
          </a:p>
        </p:txBody>
      </p:sp>
      <p:sp>
        <p:nvSpPr>
          <p:cNvPr id="6" name="">
            <a:extLst xmlns:a="http://schemas.openxmlformats.org/drawingml/2006/main">
              <a:ext uri="{FF2B5EF4-FFF2-40B4-BE49-F238E27FC236}">
                <a16:creationId xmlns:a16="http://schemas.microsoft.com/office/drawing/2014/main" id="{6B12CB29-E5B5-41D6-96E4-7CAC79916DA0}"/>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running total. Set it to zero before the loop, add inside the loop, and read the final total afterward.</a:t>
            </a:r>
          </a:p>
        </p:txBody>
      </p:sp>
      <p:sp>
        <p:nvSpPr>
          <p:cNvPr id="7" name="">
            <a:extLst xmlns:a="http://schemas.openxmlformats.org/drawingml/2006/main">
              <a:ext uri="{FF2B5EF4-FFF2-40B4-BE49-F238E27FC236}">
                <a16:creationId xmlns:a16="http://schemas.microsoft.com/office/drawing/2014/main" id="{F49E4366-79B9-4FBF-91EA-EA22D44701D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10</a:t>
            </a:r>
          </a:p>
        </p:txBody>
      </p:sp>
    </p:spTree>
    <p:extLst>
      <p:ext uri="{BB962C8B-B14F-4D97-AF65-F5344CB8AC3E}">
        <p14:creationId xmlns:p14="http://schemas.microsoft.com/office/powerpoint/2010/main" val="948522104"/>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8E9751E-7838-41BA-80D8-4D302061136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9235634-0AA0-46FF-AA50-5E7E5EE6F1C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76A3C92-7915-411F-AEDD-37DF9AB3CA7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loop repeats an indented block</a:t>
            </a:r>
          </a:p>
        </p:txBody>
      </p:sp>
      <p:sp>
        <p:nvSpPr>
          <p:cNvPr id="4" name="">
            <a:extLst xmlns:a="http://schemas.openxmlformats.org/drawingml/2006/main">
              <a:ext uri="{FF2B5EF4-FFF2-40B4-BE49-F238E27FC236}">
                <a16:creationId xmlns:a16="http://schemas.microsoft.com/office/drawing/2014/main" id="{330EAB57-E7DE-4AD6-9CBF-9EBAFDC37B2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A165468-5BD8-4B4C-9547-8EFD45EDC431}"/>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reading in readings: takes one item at a time.</a:t>
            </a:r>
          </a:p>
        </p:txBody>
      </p:sp>
      <p:sp>
        <p:nvSpPr>
          <p:cNvPr id="6" name="">
            <a:extLst xmlns:a="http://schemas.openxmlformats.org/drawingml/2006/main">
              <a:ext uri="{FF2B5EF4-FFF2-40B4-BE49-F238E27FC236}">
                <a16:creationId xmlns:a16="http://schemas.microsoft.com/office/drawing/2014/main" id="{EDE4F405-EB8B-44A4-ADDA-E1F5C2EAEB9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84CE618-B182-479A-B96E-964E3B66694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colon starts the block. Four spaces show which lines repeat.</a:t>
            </a:r>
          </a:p>
        </p:txBody>
      </p:sp>
      <p:sp>
        <p:nvSpPr>
          <p:cNvPr id="8" name="">
            <a:extLst xmlns:a="http://schemas.openxmlformats.org/drawingml/2006/main">
              <a:ext uri="{FF2B5EF4-FFF2-40B4-BE49-F238E27FC236}">
                <a16:creationId xmlns:a16="http://schemas.microsoft.com/office/drawing/2014/main" id="{3D7875BF-18A7-4BBF-AD22-7C487C3DCB99}"/>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9E74176-CDA3-466A-83B6-6D77C484400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running total must start at zero before the loop.</a:t>
            </a:r>
          </a:p>
        </p:txBody>
      </p:sp>
      <p:sp>
        <p:nvSpPr>
          <p:cNvPr id="10" name="">
            <a:extLst xmlns:a="http://schemas.openxmlformats.org/drawingml/2006/main">
              <a:ext uri="{FF2B5EF4-FFF2-40B4-BE49-F238E27FC236}">
                <a16:creationId xmlns:a16="http://schemas.microsoft.com/office/drawing/2014/main" id="{2B59BC0D-5C6D-4DC9-BEF2-A6AAC2F974B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11</a:t>
            </a:r>
          </a:p>
        </p:txBody>
      </p:sp>
    </p:spTree>
    <p:extLst>
      <p:ext uri="{BB962C8B-B14F-4D97-AF65-F5344CB8AC3E}">
        <p14:creationId xmlns:p14="http://schemas.microsoft.com/office/powerpoint/2010/main" val="1835525212"/>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3119811-AA55-4425-A9A4-2B04BC5F91A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638F5D9-3481-4FE5-A003-6B451B7708C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A656743-FB79-4B5B-8E34-32886BC3507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mean uses a total and a count</a:t>
            </a:r>
          </a:p>
        </p:txBody>
      </p:sp>
      <p:sp>
        <p:nvSpPr>
          <p:cNvPr id="4" name="">
            <a:extLst xmlns:a="http://schemas.openxmlformats.org/drawingml/2006/main">
              <a:ext uri="{FF2B5EF4-FFF2-40B4-BE49-F238E27FC236}">
                <a16:creationId xmlns:a16="http://schemas.microsoft.com/office/drawing/2014/main" id="{0D6042C9-3E06-4CF7-8099-CFA827307C7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151D405-0151-454F-8CAB-9B3ED6461461}"/>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Start the total at 0. Add 2, then 4, then 6.</a:t>
            </a:r>
          </a:p>
        </p:txBody>
      </p:sp>
      <p:sp>
        <p:nvSpPr>
          <p:cNvPr id="6" name="">
            <a:extLst xmlns:a="http://schemas.openxmlformats.org/drawingml/2006/main">
              <a:ext uri="{FF2B5EF4-FFF2-40B4-BE49-F238E27FC236}">
                <a16:creationId xmlns:a16="http://schemas.microsoft.com/office/drawing/2014/main" id="{EFF54432-70C9-4090-84D3-0EADC91E796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9664F25-93C0-442C-92E3-DB245EA7990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final total is 12. The count is 3.</a:t>
            </a:r>
          </a:p>
        </p:txBody>
      </p:sp>
      <p:sp>
        <p:nvSpPr>
          <p:cNvPr id="8" name="">
            <a:extLst xmlns:a="http://schemas.openxmlformats.org/drawingml/2006/main">
              <a:ext uri="{FF2B5EF4-FFF2-40B4-BE49-F238E27FC236}">
                <a16:creationId xmlns:a16="http://schemas.microsoft.com/office/drawing/2014/main" id="{565B78E8-2793-451C-BE34-611171D9EFD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CACF3CF-1712-4B70-AF26-E8C56CF7139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12 / 3 gives the mean 4. An empty list needs a separate rule.</a:t>
            </a:r>
          </a:p>
        </p:txBody>
      </p:sp>
      <p:sp>
        <p:nvSpPr>
          <p:cNvPr id="10" name="">
            <a:extLst xmlns:a="http://schemas.openxmlformats.org/drawingml/2006/main">
              <a:ext uri="{FF2B5EF4-FFF2-40B4-BE49-F238E27FC236}">
                <a16:creationId xmlns:a16="http://schemas.microsoft.com/office/drawing/2014/main" id="{277BB71A-C31A-4874-A300-50244FBB2FE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12</a:t>
            </a:r>
          </a:p>
        </p:txBody>
      </p:sp>
    </p:spTree>
    <p:extLst>
      <p:ext uri="{BB962C8B-B14F-4D97-AF65-F5344CB8AC3E}">
        <p14:creationId xmlns:p14="http://schemas.microsoft.com/office/powerpoint/2010/main" val="1654621038"/>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644EA1C-4C57-4E05-9036-E512C47694FC}"/>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632FB25-FFB4-482A-B00C-F2488CD45AA4}"/>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loop changes the running total</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79923d0b2d7f4f02"/>
          <a:stretch xmlns:a="http://schemas.openxmlformats.org/drawingml/2006/main"/>
        </p:blipFill>
        <p:spPr>
          <a:xfrm xmlns:a="http://schemas.openxmlformats.org/drawingml/2006/main">
            <a:off x="413728" y="1057275"/>
            <a:ext cx="11364544"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1A1CB1FA-BA1E-49AF-9650-01C1BCC37BA6}"/>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74E7C62-8314-432D-B4CB-92AF9719E842}"/>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This illustration uses six separate readings. Next we trace the smaller list [2, 4, 6] using the same running-total rule.</a:t>
            </a:r>
          </a:p>
        </p:txBody>
      </p:sp>
      <p:sp>
        <p:nvSpPr>
          <p:cNvPr id="6" name="">
            <a:extLst xmlns:a="http://schemas.openxmlformats.org/drawingml/2006/main">
              <a:ext uri="{FF2B5EF4-FFF2-40B4-BE49-F238E27FC236}">
                <a16:creationId xmlns:a16="http://schemas.microsoft.com/office/drawing/2014/main" id="{F811EE8F-8766-4085-ACC0-6F0B1B0345D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13</a:t>
            </a:r>
          </a:p>
        </p:txBody>
      </p:sp>
    </p:spTree>
    <p:extLst>
      <p:ext uri="{BB962C8B-B14F-4D97-AF65-F5344CB8AC3E}">
        <p14:creationId xmlns:p14="http://schemas.microsoft.com/office/powerpoint/2010/main" val="1428037045"/>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B3B7464-71BE-4070-A042-BDB2CB481D8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7C269E6-1461-4CFC-A8B9-7AF9C021BD5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2237CF57-8FF5-48D9-B75A-E8916D0507A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Tracing the loop</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Step</a:t>
                      </a:r>
                    </a:p>
                  </a:txBody>
                  <a:tcPr marL="91440" marR="91440" marT="45720" marB="45720">
                    <a:solidFill>
                      <a:srgbClr val="2E7D6F"/>
                    </a:solidFill>
                  </a:tcPr>
                </a:tc>
                <a:tc>
                  <a:txBody>
                    <a:bodyPr/>
                    <a:lstStyle/>
                    <a:p>
                      <a:r>
                        <a:rPr sz="2025" b="1">
                          <a:solidFill>
                            <a:srgbClr val="FFFFFF"/>
                          </a:solidFill>
                          <a:latin typeface="Calibri"/>
                          <a:ea typeface="Calibri"/>
                          <a:cs typeface="Calibri"/>
                        </a:rPr>
                        <a:t>reading</a:t>
                      </a:r>
                    </a:p>
                  </a:txBody>
                  <a:tcPr marL="91440" marR="91440" marT="45720" marB="45720">
                    <a:solidFill>
                      <a:srgbClr val="2E7D6F"/>
                    </a:solidFill>
                  </a:tcPr>
                </a:tc>
                <a:tc>
                  <a:txBody>
                    <a:bodyPr/>
                    <a:lstStyle/>
                    <a:p>
                      <a:r>
                        <a:rPr sz="2025" b="1">
                          <a:solidFill>
                            <a:srgbClr val="FFFFFF"/>
                          </a:solidFill>
                          <a:latin typeface="Calibri"/>
                          <a:ea typeface="Calibri"/>
                          <a:cs typeface="Calibri"/>
                        </a:rPr>
                        <a:t>total after addition</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Before loop</a:t>
                      </a:r>
                    </a:p>
                  </a:txBody>
                  <a:tcPr marL="91440" marR="91440" marT="45720" marB="45720">
                    <a:solidFill>
                      <a:srgbClr val="EEF3F6"/>
                    </a:solidFill>
                  </a:tcPr>
                </a:tc>
                <a:tc>
                  <a:txBody>
                    <a:bodyPr/>
                    <a:lstStyle/>
                    <a:p>
                      <a:r>
                        <a:rPr sz="2025" b="0">
                          <a:solidFill>
                            <a:srgbClr val="1C3144"/>
                          </a:solidFill>
                          <a:latin typeface="Calibri"/>
                          <a:ea typeface="Calibri"/>
                          <a:cs typeface="Calibri"/>
                        </a:rPr>
                        <a:t>—</a:t>
                      </a:r>
                    </a:p>
                  </a:txBody>
                  <a:tcPr marL="91440" marR="91440" marT="45720" marB="45720">
                    <a:solidFill>
                      <a:srgbClr val="EEF3F6"/>
                    </a:solidFill>
                  </a:tcPr>
                </a:tc>
                <a:tc>
                  <a:txBody>
                    <a:bodyPr/>
                    <a:lstStyle/>
                    <a:p>
                      <a:r>
                        <a:rPr sz="2025" b="0">
                          <a:solidFill>
                            <a:srgbClr val="1C3144"/>
                          </a:solidFill>
                          <a:latin typeface="Calibri"/>
                          <a:ea typeface="Calibri"/>
                          <a:cs typeface="Calibri"/>
                        </a:rPr>
                        <a:t>0</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First</a:t>
                      </a:r>
                    </a:p>
                  </a:txBody>
                  <a:tcPr marL="91440" marR="91440" marT="45720" marB="45720">
                    <a:solidFill>
                      <a:srgbClr val="FFFFFF"/>
                    </a:solidFill>
                  </a:tcPr>
                </a:tc>
                <a:tc>
                  <a:txBody>
                    <a:bodyPr/>
                    <a:lstStyle/>
                    <a:p>
                      <a:r>
                        <a:rPr sz="2025" b="0">
                          <a:solidFill>
                            <a:srgbClr val="1C3144"/>
                          </a:solidFill>
                          <a:latin typeface="Calibri"/>
                          <a:ea typeface="Calibri"/>
                          <a:cs typeface="Calibri"/>
                        </a:rPr>
                        <a:t>2</a:t>
                      </a:r>
                    </a:p>
                  </a:txBody>
                  <a:tcPr marL="91440" marR="91440" marT="45720" marB="45720">
                    <a:solidFill>
                      <a:srgbClr val="FFFFFF"/>
                    </a:solidFill>
                  </a:tcPr>
                </a:tc>
                <a:tc>
                  <a:txBody>
                    <a:bodyPr/>
                    <a:lstStyle/>
                    <a:p>
                      <a:r>
                        <a:rPr sz="2025" b="0">
                          <a:solidFill>
                            <a:srgbClr val="1C3144"/>
                          </a:solidFill>
                          <a:latin typeface="Calibri"/>
                          <a:ea typeface="Calibri"/>
                          <a:cs typeface="Calibri"/>
                        </a:rPr>
                        <a:t>2</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Second</a:t>
                      </a:r>
                    </a:p>
                  </a:txBody>
                  <a:tcPr marL="91440" marR="91440" marT="45720" marB="45720">
                    <a:solidFill>
                      <a:srgbClr val="EEF3F6"/>
                    </a:solidFill>
                  </a:tcPr>
                </a:tc>
                <a:tc>
                  <a:txBody>
                    <a:bodyPr/>
                    <a:lstStyle/>
                    <a:p>
                      <a:r>
                        <a:rPr sz="2025" b="0">
                          <a:solidFill>
                            <a:srgbClr val="1C3144"/>
                          </a:solidFill>
                          <a:latin typeface="Calibri"/>
                          <a:ea typeface="Calibri"/>
                          <a:cs typeface="Calibri"/>
                        </a:rPr>
                        <a:t>4</a:t>
                      </a:r>
                    </a:p>
                  </a:txBody>
                  <a:tcPr marL="91440" marR="91440" marT="45720" marB="45720">
                    <a:solidFill>
                      <a:srgbClr val="EEF3F6"/>
                    </a:solidFill>
                  </a:tcPr>
                </a:tc>
                <a:tc>
                  <a:txBody>
                    <a:bodyPr/>
                    <a:lstStyle/>
                    <a:p>
                      <a:r>
                        <a:rPr sz="2025" b="0">
                          <a:solidFill>
                            <a:srgbClr val="1C3144"/>
                          </a:solidFill>
                          <a:latin typeface="Calibri"/>
                          <a:ea typeface="Calibri"/>
                          <a:cs typeface="Calibri"/>
                        </a:rPr>
                        <a:t>6</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Third</a:t>
                      </a:r>
                    </a:p>
                  </a:txBody>
                  <a:tcPr marL="91440" marR="91440" marT="45720" marB="45720">
                    <a:solidFill>
                      <a:srgbClr val="FFFFFF"/>
                    </a:solidFill>
                  </a:tcPr>
                </a:tc>
                <a:tc>
                  <a:txBody>
                    <a:bodyPr/>
                    <a:lstStyle/>
                    <a:p>
                      <a:r>
                        <a:rPr sz="2025" b="0">
                          <a:solidFill>
                            <a:srgbClr val="1C3144"/>
                          </a:solidFill>
                          <a:latin typeface="Calibri"/>
                          <a:ea typeface="Calibri"/>
                          <a:cs typeface="Calibri"/>
                        </a:rPr>
                        <a:t>6</a:t>
                      </a:r>
                    </a:p>
                  </a:txBody>
                  <a:tcPr marL="91440" marR="91440" marT="45720" marB="45720">
                    <a:solidFill>
                      <a:srgbClr val="FFFFFF"/>
                    </a:solidFill>
                  </a:tcPr>
                </a:tc>
                <a:tc>
                  <a:txBody>
                    <a:bodyPr/>
                    <a:lstStyle/>
                    <a:p>
                      <a:r>
                        <a:rPr sz="2025" b="0">
                          <a:solidFill>
                            <a:srgbClr val="1C3144"/>
                          </a:solidFill>
                          <a:latin typeface="Calibri"/>
                          <a:ea typeface="Calibri"/>
                          <a:cs typeface="Calibri"/>
                        </a:rPr>
                        <a:t>12</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B2EA3345-6DE2-4AFB-83AA-6A1FA37AF2F6}"/>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There are three readings.</a:t>
            </a:r>
          </a:p>
        </p:txBody>
      </p:sp>
      <p:sp>
        <p:nvSpPr>
          <p:cNvPr id="6" name="">
            <a:extLst xmlns:a="http://schemas.openxmlformats.org/drawingml/2006/main">
              <a:ext uri="{FF2B5EF4-FFF2-40B4-BE49-F238E27FC236}">
                <a16:creationId xmlns:a16="http://schemas.microsoft.com/office/drawing/2014/main" id="{07E05106-8FC5-4EF3-B8E3-AE52F90C6C9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14</a:t>
            </a:r>
          </a:p>
        </p:txBody>
      </p:sp>
    </p:spTree>
    <p:extLst>
      <p:ext uri="{BB962C8B-B14F-4D97-AF65-F5344CB8AC3E}">
        <p14:creationId xmlns:p14="http://schemas.microsoft.com/office/powerpoint/2010/main" val="1547286998"/>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B1AAD012-F825-44ED-81A0-FEA46A02774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8B0E087-A0CE-4CE2-AC2D-DCAA4077FF6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3078C46-16AC-425F-962F-C2E310A70EF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Lists loops and records in Python</a:t>
            </a:r>
          </a:p>
        </p:txBody>
      </p:sp>
      <p:sp>
        <p:nvSpPr>
          <p:cNvPr id="4" name="">
            <a:extLst xmlns:a="http://schemas.openxmlformats.org/drawingml/2006/main">
              <a:ext uri="{FF2B5EF4-FFF2-40B4-BE49-F238E27FC236}">
                <a16:creationId xmlns:a16="http://schemas.microsoft.com/office/drawing/2014/main" id="{85B65608-2368-439E-B65C-B56568A9B1BA}"/>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837D061-2DED-4CD2-A858-DA4563971AFC}"/>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[2, 4,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total = 0</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reading in 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total = total + reading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mean = total / len(readings)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print(mean)</a:t>
            </a:r>
          </a:p>
        </p:txBody>
      </p:sp>
      <p:sp>
        <p:nvSpPr>
          <p:cNvPr id="6" name="">
            <a:extLst xmlns:a="http://schemas.openxmlformats.org/drawingml/2006/main">
              <a:ext uri="{FF2B5EF4-FFF2-40B4-BE49-F238E27FC236}">
                <a16:creationId xmlns:a16="http://schemas.microsoft.com/office/drawing/2014/main" id="{FB5EA5FD-13B2-4321-B076-0BB2A8297A9B}"/>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66E3009E-D0EB-436F-85F5-9E647000A6C6}"/>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646F5CE7-4C6C-421C-90CA-BA7098F6C548}"/>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E102B2BC-517D-4142-AD16-05BCF2F7723E}"/>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10" name="">
            <a:extLst xmlns:a="http://schemas.openxmlformats.org/drawingml/2006/main">
              <a:ext uri="{FF2B5EF4-FFF2-40B4-BE49-F238E27FC236}">
                <a16:creationId xmlns:a16="http://schemas.microsoft.com/office/drawing/2014/main" id="{1F4ECB6D-E050-46D8-ABFE-A5EB239032E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A827F767-BDB1-4A36-A690-74FFB664647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15</a:t>
            </a:r>
          </a:p>
        </p:txBody>
      </p:sp>
    </p:spTree>
    <p:extLst>
      <p:ext uri="{BB962C8B-B14F-4D97-AF65-F5344CB8AC3E}">
        <p14:creationId xmlns:p14="http://schemas.microsoft.com/office/powerpoint/2010/main" val="1987915773"/>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4C7ABF7-120C-45EB-945A-6DC4ADA97E1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868480A-5C97-4206-A8C0-20A29C8C1F4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F7CF3DC7-D5FB-4316-AFF4-8397174C768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Lists loops and records results</a:t>
            </a:r>
          </a:p>
        </p:txBody>
      </p:sp>
      <p:sp>
        <p:nvSpPr>
          <p:cNvPr id="4" name="">
            <a:extLst xmlns:a="http://schemas.openxmlformats.org/drawingml/2006/main">
              <a:ext uri="{FF2B5EF4-FFF2-40B4-BE49-F238E27FC236}">
                <a16:creationId xmlns:a16="http://schemas.microsoft.com/office/drawing/2014/main" id="{BB03C95B-57A2-4C82-BCEC-62505C7B7D92}"/>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7F0898E-990B-411C-A17F-28DCC6594624}"/>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4.0</a:t>
            </a:r>
          </a:p>
        </p:txBody>
      </p:sp>
      <p:sp>
        <p:nvSpPr>
          <p:cNvPr id="6" name="">
            <a:extLst xmlns:a="http://schemas.openxmlformats.org/drawingml/2006/main">
              <a:ext uri="{FF2B5EF4-FFF2-40B4-BE49-F238E27FC236}">
                <a16:creationId xmlns:a16="http://schemas.microsoft.com/office/drawing/2014/main" id="{90A5A4F3-13FE-4D01-8BE8-DB8967530B0F}"/>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F8BE2CFA-5137-4DA2-A340-2297D5D0A0A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16</a:t>
            </a:r>
          </a:p>
        </p:txBody>
      </p:sp>
    </p:spTree>
    <p:extLst>
      <p:ext uri="{BB962C8B-B14F-4D97-AF65-F5344CB8AC3E}">
        <p14:creationId xmlns:p14="http://schemas.microsoft.com/office/powerpoint/2010/main" val="2102456493"/>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C0AF191-4FD1-42E6-B9F7-67471748B60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97E5AAB-AF46-49AC-9AFE-77BC5039E12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4637B38-A3A2-4C6F-8879-967B0407BE9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Built-in summaries of a list</a:t>
            </a:r>
          </a:p>
        </p:txBody>
      </p:sp>
      <p:sp>
        <p:nvSpPr>
          <p:cNvPr id="4" name="">
            <a:extLst xmlns:a="http://schemas.openxmlformats.org/drawingml/2006/main">
              <a:ext uri="{FF2B5EF4-FFF2-40B4-BE49-F238E27FC236}">
                <a16:creationId xmlns:a16="http://schemas.microsoft.com/office/drawing/2014/main" id="{62B4492D-57BA-46F8-B9AD-CFAD5EEFAE1C}"/>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A153837-2DFB-4FB7-8B13-755B2FC61685}"/>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[2, 4,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print(sum(readings))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print(min(readings))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print(max(readings))</a:t>
            </a:r>
          </a:p>
        </p:txBody>
      </p:sp>
      <p:sp>
        <p:nvSpPr>
          <p:cNvPr id="6" name="">
            <a:extLst xmlns:a="http://schemas.openxmlformats.org/drawingml/2006/main">
              <a:ext uri="{FF2B5EF4-FFF2-40B4-BE49-F238E27FC236}">
                <a16:creationId xmlns:a16="http://schemas.microsoft.com/office/drawing/2014/main" id="{5FA51460-08A7-4EEC-A3EC-2E030B217499}"/>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3AEC5A5F-3125-4CA5-9CF6-262BEB02FBCE}"/>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These functions are built into Python.</a:t>
            </a:r>
          </a:p>
        </p:txBody>
      </p:sp>
      <p:sp>
        <p:nvSpPr>
          <p:cNvPr id="8" name="">
            <a:extLst xmlns:a="http://schemas.openxmlformats.org/drawingml/2006/main">
              <a:ext uri="{FF2B5EF4-FFF2-40B4-BE49-F238E27FC236}">
                <a16:creationId xmlns:a16="http://schemas.microsoft.com/office/drawing/2014/main" id="{5E7DC33E-DED3-4CDC-B580-C37714F7A597}"/>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min and max require a nonempty list here.</a:t>
            </a:r>
          </a:p>
        </p:txBody>
      </p:sp>
      <p:sp>
        <p:nvSpPr>
          <p:cNvPr id="9" name="">
            <a:extLst xmlns:a="http://schemas.openxmlformats.org/drawingml/2006/main">
              <a:ext uri="{FF2B5EF4-FFF2-40B4-BE49-F238E27FC236}">
                <a16:creationId xmlns:a16="http://schemas.microsoft.com/office/drawing/2014/main" id="{CC213BED-E8B3-4F9E-8605-B73F036768B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12, 3, 2, 6. sum totals; len counts; min and max select the smallest and largest.</a:t>
            </a:r>
          </a:p>
        </p:txBody>
      </p:sp>
      <p:sp>
        <p:nvSpPr>
          <p:cNvPr id="10" name="">
            <a:extLst xmlns:a="http://schemas.openxmlformats.org/drawingml/2006/main">
              <a:ext uri="{FF2B5EF4-FFF2-40B4-BE49-F238E27FC236}">
                <a16:creationId xmlns:a16="http://schemas.microsoft.com/office/drawing/2014/main" id="{294C6938-8EF6-432B-897E-34747DB82D0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17</a:t>
            </a:r>
          </a:p>
        </p:txBody>
      </p:sp>
    </p:spTree>
    <p:extLst>
      <p:ext uri="{BB962C8B-B14F-4D97-AF65-F5344CB8AC3E}">
        <p14:creationId xmlns:p14="http://schemas.microsoft.com/office/powerpoint/2010/main" val="431640100"/>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D50BD22-3971-47A7-AE38-182215221F2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95909EE-20AA-4754-BD8F-B5003447C35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9CBB4E6-5AA7-4E14-BE63-41FC35E9BA4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dictionary is a record with named fields</a:t>
            </a:r>
          </a:p>
        </p:txBody>
      </p:sp>
      <p:sp>
        <p:nvSpPr>
          <p:cNvPr id="4" name="">
            <a:extLst xmlns:a="http://schemas.openxmlformats.org/drawingml/2006/main">
              <a:ext uri="{FF2B5EF4-FFF2-40B4-BE49-F238E27FC236}">
                <a16:creationId xmlns:a16="http://schemas.microsoft.com/office/drawing/2014/main" id="{D6E3C100-4036-4D34-B6F5-2AD408DED5C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BC6C44C-C1C2-4766-A9A6-F9F22B87DBD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 = {"unit": "A", "reading": 4} stores two key–value pairs. Keys name fields; values hold the information.</a:t>
            </a:r>
          </a:p>
        </p:txBody>
      </p:sp>
      <p:sp>
        <p:nvSpPr>
          <p:cNvPr id="6" name="">
            <a:extLst xmlns:a="http://schemas.openxmlformats.org/drawingml/2006/main">
              <a:ext uri="{FF2B5EF4-FFF2-40B4-BE49-F238E27FC236}">
                <a16:creationId xmlns:a16="http://schemas.microsoft.com/office/drawing/2014/main" id="{127667BF-5B4D-4778-A0D5-C3D32B1C56B0}"/>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6EFB05A-C621-4EAA-A640-96B4BCE9BC4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Braces enclose the dictionary. A colon separates each key from its value and a comma separates pairs. Each key is unique.</a:t>
            </a:r>
          </a:p>
        </p:txBody>
      </p:sp>
      <p:sp>
        <p:nvSpPr>
          <p:cNvPr id="8" name="">
            <a:extLst xmlns:a="http://schemas.openxmlformats.org/drawingml/2006/main">
              <a:ext uri="{FF2B5EF4-FFF2-40B4-BE49-F238E27FC236}">
                <a16:creationId xmlns:a16="http://schemas.microsoft.com/office/drawing/2014/main" id="{1ED6807C-E5F9-49CD-B90E-328D5E1900A9}"/>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3431C0A-D8C2-4B43-92D7-60910745189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record["reading"] returns 4. Unlike a list position, "reading" names the field we want.</a:t>
            </a:r>
          </a:p>
        </p:txBody>
      </p:sp>
      <p:sp>
        <p:nvSpPr>
          <p:cNvPr id="10" name="">
            <a:extLst xmlns:a="http://schemas.openxmlformats.org/drawingml/2006/main">
              <a:ext uri="{FF2B5EF4-FFF2-40B4-BE49-F238E27FC236}">
                <a16:creationId xmlns:a16="http://schemas.microsoft.com/office/drawing/2014/main" id="{7C8057CA-11F7-437A-BB59-200F55FD8B9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18</a:t>
            </a:r>
          </a:p>
        </p:txBody>
      </p:sp>
    </p:spTree>
    <p:extLst>
      <p:ext uri="{BB962C8B-B14F-4D97-AF65-F5344CB8AC3E}">
        <p14:creationId xmlns:p14="http://schemas.microsoft.com/office/powerpoint/2010/main" val="1566030962"/>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0129DD9-895E-4499-A39D-967DEC96A4D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F6D4DA9-3F9A-4D82-A006-D046CBAB50A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0052FF1-77B5-4C43-BC76-6B6FDC63A2D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and updating a dictionary</a:t>
            </a:r>
          </a:p>
        </p:txBody>
      </p:sp>
      <p:sp>
        <p:nvSpPr>
          <p:cNvPr id="4" name="">
            <a:extLst xmlns:a="http://schemas.openxmlformats.org/drawingml/2006/main">
              <a:ext uri="{FF2B5EF4-FFF2-40B4-BE49-F238E27FC236}">
                <a16:creationId xmlns:a16="http://schemas.microsoft.com/office/drawing/2014/main" id="{75BDE008-F498-4DFF-B510-64F5E6C19AE4}"/>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1E592EB-47C8-4992-B929-C94BF24A93AE}"/>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record = {"unit": "A", "reading":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print(record["reading"])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record["reading"] =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print(record["reading"])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print(record.get("missing", 0))</a:t>
            </a:r>
          </a:p>
        </p:txBody>
      </p:sp>
      <p:sp>
        <p:nvSpPr>
          <p:cNvPr id="6" name="">
            <a:extLst xmlns:a="http://schemas.openxmlformats.org/drawingml/2006/main">
              <a:ext uri="{FF2B5EF4-FFF2-40B4-BE49-F238E27FC236}">
                <a16:creationId xmlns:a16="http://schemas.microsoft.com/office/drawing/2014/main" id="{3065ECE1-E350-432A-A854-FC16D20A3B06}"/>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3C5FC803-8ADC-4C4F-AD57-BDAE61905AA0}"/>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["reading"] selects a key, not a position.</a:t>
            </a:r>
          </a:p>
        </p:txBody>
      </p:sp>
      <p:sp>
        <p:nvSpPr>
          <p:cNvPr id="8" name="">
            <a:extLst xmlns:a="http://schemas.openxmlformats.org/drawingml/2006/main">
              <a:ext uri="{FF2B5EF4-FFF2-40B4-BE49-F238E27FC236}">
                <a16:creationId xmlns:a16="http://schemas.microsoft.com/office/drawing/2014/main" id="{CDEE3309-2B91-42AC-9F36-7B94732DC3A6}"/>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Assigning through the key updates its value.</a:t>
            </a:r>
          </a:p>
        </p:txBody>
      </p:sp>
      <p:sp>
        <p:nvSpPr>
          <p:cNvPr id="9" name="">
            <a:extLst xmlns:a="http://schemas.openxmlformats.org/drawingml/2006/main">
              <a:ext uri="{FF2B5EF4-FFF2-40B4-BE49-F238E27FC236}">
                <a16:creationId xmlns:a16="http://schemas.microsoft.com/office/drawing/2014/main" id="{92C7082B-95E5-475E-8059-A00F3E3B5F6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4, then 6, then 0. get uses the fallback only when that key is absent.</a:t>
            </a:r>
          </a:p>
        </p:txBody>
      </p:sp>
      <p:sp>
        <p:nvSpPr>
          <p:cNvPr id="10" name="">
            <a:extLst xmlns:a="http://schemas.openxmlformats.org/drawingml/2006/main">
              <a:ext uri="{FF2B5EF4-FFF2-40B4-BE49-F238E27FC236}">
                <a16:creationId xmlns:a16="http://schemas.microsoft.com/office/drawing/2014/main" id="{3EBB2529-3921-44AC-9392-C9180C1A724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19</a:t>
            </a:r>
          </a:p>
        </p:txBody>
      </p:sp>
    </p:spTree>
    <p:extLst>
      <p:ext uri="{BB962C8B-B14F-4D97-AF65-F5344CB8AC3E}">
        <p14:creationId xmlns:p14="http://schemas.microsoft.com/office/powerpoint/2010/main" val="1586941492"/>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A3F4341-DE66-4B2C-A735-4DBE083FB8F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EA35366-4F9C-4935-877B-10D46BF789F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DB81C07-8227-4081-99EB-E02E730F4D1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Tuples and unpacking</a:t>
            </a:r>
          </a:p>
        </p:txBody>
      </p:sp>
      <p:sp>
        <p:nvSpPr>
          <p:cNvPr id="4" name="">
            <a:extLst xmlns:a="http://schemas.openxmlformats.org/drawingml/2006/main">
              <a:ext uri="{FF2B5EF4-FFF2-40B4-BE49-F238E27FC236}">
                <a16:creationId xmlns:a16="http://schemas.microsoft.com/office/drawing/2014/main" id="{FF8D3F0B-ED34-4C78-A0CD-AD0CC8E8624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A68D767-B197-4562-AB50-C10DBB0B62A5}"/>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tuple stores items in order. point = (2, 3) stores two coordinates; point[0] is 2. You cannot reassign point[0].</a:t>
            </a:r>
          </a:p>
        </p:txBody>
      </p:sp>
      <p:sp>
        <p:nvSpPr>
          <p:cNvPr id="6" name="">
            <a:extLst xmlns:a="http://schemas.openxmlformats.org/drawingml/2006/main">
              <a:ext uri="{FF2B5EF4-FFF2-40B4-BE49-F238E27FC236}">
                <a16:creationId xmlns:a16="http://schemas.microsoft.com/office/drawing/2014/main" id="{6C1C2D0F-D945-425B-93CC-5B850F95FFC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52D5087-987C-4D7F-BA16-2B118D2E5CE7}"/>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 y = point gives the first item to x and the second to y. This is unpacking; the number of names must match the number of items.</a:t>
            </a:r>
          </a:p>
        </p:txBody>
      </p:sp>
      <p:sp>
        <p:nvSpPr>
          <p:cNvPr id="8" name="">
            <a:extLst xmlns:a="http://schemas.openxmlformats.org/drawingml/2006/main">
              <a:ext uri="{FF2B5EF4-FFF2-40B4-BE49-F238E27FC236}">
                <a16:creationId xmlns:a16="http://schemas.microsoft.com/office/drawing/2014/main" id="{989FC612-0AC8-4196-8B6A-4EAE9292AE79}"/>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B7CB663-E12E-4F83-9B6E-CB4CA3DFF74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tuple prevents replacing its positions. It does not freeze the contents of a mutable object stored inside it.</a:t>
            </a:r>
          </a:p>
        </p:txBody>
      </p:sp>
      <p:sp>
        <p:nvSpPr>
          <p:cNvPr id="10" name="">
            <a:extLst xmlns:a="http://schemas.openxmlformats.org/drawingml/2006/main">
              <a:ext uri="{FF2B5EF4-FFF2-40B4-BE49-F238E27FC236}">
                <a16:creationId xmlns:a16="http://schemas.microsoft.com/office/drawing/2014/main" id="{F37D6CC1-801D-4871-8F38-13E4061ABC9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20</a:t>
            </a:r>
          </a:p>
        </p:txBody>
      </p:sp>
    </p:spTree>
    <p:extLst>
      <p:ext uri="{BB962C8B-B14F-4D97-AF65-F5344CB8AC3E}">
        <p14:creationId xmlns:p14="http://schemas.microsoft.com/office/powerpoint/2010/main" val="1860511961"/>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2EDF34A4-15C6-4B07-B39D-9BBD8896A5D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29609B2-9C5D-42C7-8E8F-9AFFAEEF22B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B3B9AD1-F126-4F92-BBB0-52AB1F08CAF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Unpacking a pair</a:t>
            </a:r>
          </a:p>
        </p:txBody>
      </p:sp>
      <p:sp>
        <p:nvSpPr>
          <p:cNvPr id="4" name="">
            <a:extLst xmlns:a="http://schemas.openxmlformats.org/drawingml/2006/main">
              <a:ext uri="{FF2B5EF4-FFF2-40B4-BE49-F238E27FC236}">
                <a16:creationId xmlns:a16="http://schemas.microsoft.com/office/drawing/2014/main" id="{6FB3A10A-D6B8-46C1-B90A-028A3AB9FE2C}"/>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494FBDD-B858-4C1B-A8E9-276768E7B7EB}"/>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point = (2, 3)</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x, y = point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print(x)</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print(y)</a:t>
            </a:r>
          </a:p>
        </p:txBody>
      </p:sp>
      <p:sp>
        <p:nvSpPr>
          <p:cNvPr id="6" name="">
            <a:extLst xmlns:a="http://schemas.openxmlformats.org/drawingml/2006/main">
              <a:ext uri="{FF2B5EF4-FFF2-40B4-BE49-F238E27FC236}">
                <a16:creationId xmlns:a16="http://schemas.microsoft.com/office/drawing/2014/main" id="{B0B6A782-0972-445F-BEEA-1D57D4CFD534}"/>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91AFF7A8-7303-4DB6-906A-B5BC7C39ED5C}"/>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Two names receive the two items in order.</a:t>
            </a:r>
          </a:p>
        </p:txBody>
      </p:sp>
      <p:sp>
        <p:nvSpPr>
          <p:cNvPr id="8" name="">
            <a:extLst xmlns:a="http://schemas.openxmlformats.org/drawingml/2006/main">
              <a:ext uri="{FF2B5EF4-FFF2-40B4-BE49-F238E27FC236}">
                <a16:creationId xmlns:a16="http://schemas.microsoft.com/office/drawing/2014/main" id="{E0AA65DD-D56F-4A49-885D-E2A7570548E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2, then 3.</a:t>
            </a:r>
          </a:p>
        </p:txBody>
      </p:sp>
      <p:sp>
        <p:nvSpPr>
          <p:cNvPr id="9" name="">
            <a:extLst xmlns:a="http://schemas.openxmlformats.org/drawingml/2006/main">
              <a:ext uri="{FF2B5EF4-FFF2-40B4-BE49-F238E27FC236}">
                <a16:creationId xmlns:a16="http://schemas.microsoft.com/office/drawing/2014/main" id="{BF4CDDF5-1EFF-4CCE-AE73-4AEDF52B07C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21</a:t>
            </a:r>
          </a:p>
        </p:txBody>
      </p:sp>
    </p:spTree>
    <p:extLst>
      <p:ext uri="{BB962C8B-B14F-4D97-AF65-F5344CB8AC3E}">
        <p14:creationId xmlns:p14="http://schemas.microsoft.com/office/powerpoint/2010/main" val="1885138303"/>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27B35F5-B0AD-4DAB-A9E1-D1644FF0745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5524F75-A794-42C1-8CCC-454A0215CED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A908DA9-88A1-49C4-9CD9-82B541D7281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set remembers distinct items</a:t>
            </a:r>
          </a:p>
        </p:txBody>
      </p:sp>
      <p:sp>
        <p:nvSpPr>
          <p:cNvPr id="4" name="">
            <a:extLst xmlns:a="http://schemas.openxmlformats.org/drawingml/2006/main">
              <a:ext uri="{FF2B5EF4-FFF2-40B4-BE49-F238E27FC236}">
                <a16:creationId xmlns:a16="http://schemas.microsoft.com/office/drawing/2014/main" id="{93A2F177-4DF4-463D-81C8-261307210FD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9D3C28E-D476-4A5B-A917-60435A11D4E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set is useful when the question is “Have we seen this ID?” It keeps one instance of each distinct item.</a:t>
            </a:r>
          </a:p>
        </p:txBody>
      </p:sp>
      <p:sp>
        <p:nvSpPr>
          <p:cNvPr id="6" name="">
            <a:extLst xmlns:a="http://schemas.openxmlformats.org/drawingml/2006/main">
              <a:ext uri="{FF2B5EF4-FFF2-40B4-BE49-F238E27FC236}">
                <a16:creationId xmlns:a16="http://schemas.microsoft.com/office/drawing/2014/main" id="{1EB1CDD6-6874-49A2-99BD-1FBA5AF2F14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D025221-C2EA-4F38-9718-F23499F28EDC}"/>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seen = set() creates an empty set. seen.add("A") adds an item. "A" in seen asks whether it is present.</a:t>
            </a:r>
          </a:p>
        </p:txBody>
      </p:sp>
      <p:sp>
        <p:nvSpPr>
          <p:cNvPr id="8" name="">
            <a:extLst xmlns:a="http://schemas.openxmlformats.org/drawingml/2006/main">
              <a:ext uri="{FF2B5EF4-FFF2-40B4-BE49-F238E27FC236}">
                <a16:creationId xmlns:a16="http://schemas.microsoft.com/office/drawing/2014/main" id="{AB68C6D3-9AA1-489B-A899-FCBC321B0474}"/>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DE95862-079C-41B0-BE5E-7A5A8825ED4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 not use a set when position or repeated readings matter. Sets cannot be indexed. {} creates an empty dictionary, not an empty set.</a:t>
            </a:r>
          </a:p>
        </p:txBody>
      </p:sp>
      <p:sp>
        <p:nvSpPr>
          <p:cNvPr id="10" name="">
            <a:extLst xmlns:a="http://schemas.openxmlformats.org/drawingml/2006/main">
              <a:ext uri="{FF2B5EF4-FFF2-40B4-BE49-F238E27FC236}">
                <a16:creationId xmlns:a16="http://schemas.microsoft.com/office/drawing/2014/main" id="{FFB35272-1E29-435F-8A9A-890BD0DDEEF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22</a:t>
            </a:r>
          </a:p>
        </p:txBody>
      </p:sp>
    </p:spTree>
    <p:extLst>
      <p:ext uri="{BB962C8B-B14F-4D97-AF65-F5344CB8AC3E}">
        <p14:creationId xmlns:p14="http://schemas.microsoft.com/office/powerpoint/2010/main" val="1388816851"/>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48CC2A7-ED11-450B-92F0-961C1916AB6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82A0BEE-6BE0-4AB4-9FEE-229601EEABD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7E4117C-0C56-4BA5-B32C-A1DF5FDEE34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Set membership and repeated IDs</a:t>
            </a:r>
          </a:p>
        </p:txBody>
      </p:sp>
      <p:sp>
        <p:nvSpPr>
          <p:cNvPr id="4" name="">
            <a:extLst xmlns:a="http://schemas.openxmlformats.org/drawingml/2006/main">
              <a:ext uri="{FF2B5EF4-FFF2-40B4-BE49-F238E27FC236}">
                <a16:creationId xmlns:a16="http://schemas.microsoft.com/office/drawing/2014/main" id="{1951C8F5-5F24-4DEC-92CF-0EFAB795726E}"/>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D7C04E5-D242-47C6-9410-0622BF804417}"/>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seen = set()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seen.add("A")</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seen.add("A")</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print(len(seen))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print("A" in seen)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print("B" in seen)</a:t>
            </a:r>
          </a:p>
        </p:txBody>
      </p:sp>
      <p:sp>
        <p:nvSpPr>
          <p:cNvPr id="6" name="">
            <a:extLst xmlns:a="http://schemas.openxmlformats.org/drawingml/2006/main">
              <a:ext uri="{FF2B5EF4-FFF2-40B4-BE49-F238E27FC236}">
                <a16:creationId xmlns:a16="http://schemas.microsoft.com/office/drawing/2014/main" id="{BF40D006-1058-41F2-8D59-277264DC23E6}"/>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4D60C0C4-2657-48EB-AC68-8FE66911F95A}"/>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in returns True or False.</a:t>
            </a:r>
          </a:p>
        </p:txBody>
      </p:sp>
      <p:sp>
        <p:nvSpPr>
          <p:cNvPr id="8" name="">
            <a:extLst xmlns:a="http://schemas.openxmlformats.org/drawingml/2006/main">
              <a:ext uri="{FF2B5EF4-FFF2-40B4-BE49-F238E27FC236}">
                <a16:creationId xmlns:a16="http://schemas.microsoft.com/office/drawing/2014/main" id="{F1E92313-C330-4E7B-9730-4D4D16417E84}"/>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A set answers membership questions.</a:t>
            </a:r>
          </a:p>
        </p:txBody>
      </p:sp>
      <p:sp>
        <p:nvSpPr>
          <p:cNvPr id="9" name="">
            <a:extLst xmlns:a="http://schemas.openxmlformats.org/drawingml/2006/main">
              <a:ext uri="{FF2B5EF4-FFF2-40B4-BE49-F238E27FC236}">
                <a16:creationId xmlns:a16="http://schemas.microsoft.com/office/drawing/2014/main" id="{FC2A90B6-BA0D-4E19-ABFD-7A30F525F71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1, True, False. Adding the same ID twice keeps one distinct ID.</a:t>
            </a:r>
          </a:p>
        </p:txBody>
      </p:sp>
      <p:sp>
        <p:nvSpPr>
          <p:cNvPr id="10" name="">
            <a:extLst xmlns:a="http://schemas.openxmlformats.org/drawingml/2006/main">
              <a:ext uri="{FF2B5EF4-FFF2-40B4-BE49-F238E27FC236}">
                <a16:creationId xmlns:a16="http://schemas.microsoft.com/office/drawing/2014/main" id="{E60E4459-E48A-4CB7-8474-922F0BDF635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23</a:t>
            </a:r>
          </a:p>
        </p:txBody>
      </p:sp>
    </p:spTree>
    <p:extLst>
      <p:ext uri="{BB962C8B-B14F-4D97-AF65-F5344CB8AC3E}">
        <p14:creationId xmlns:p14="http://schemas.microsoft.com/office/powerpoint/2010/main" val="3642059"/>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2DEAD3D-A4F1-4D87-8CE9-15D50EFFE35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1D2B1F0-5F7D-4862-8FBA-BAA1894C1E7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0FBCB128-C92A-4530-8E4E-CC773D4A328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How the four collections differ</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Collection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Find an item by</a:t>
                      </a:r>
                    </a:p>
                  </a:txBody>
                  <a:tcPr marL="91440" marR="91440" marT="45720" marB="45720">
                    <a:solidFill>
                      <a:srgbClr val="2E7D6F"/>
                    </a:solidFill>
                  </a:tcPr>
                </a:tc>
                <a:tc>
                  <a:txBody>
                    <a:bodyPr/>
                    <a:lstStyle/>
                    <a:p>
                      <a:r>
                        <a:rPr sz="2025" b="1">
                          <a:solidFill>
                            <a:srgbClr val="FFFFFF"/>
                          </a:solidFill>
                          <a:latin typeface="Calibri"/>
                          <a:ea typeface="Calibri"/>
                          <a:cs typeface="Calibri"/>
                        </a:rPr>
                        <a:t>Repeats / changes</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list</a:t>
                      </a:r>
                    </a:p>
                  </a:txBody>
                  <a:tcPr marL="91440" marR="91440" marT="45720" marB="45720">
                    <a:solidFill>
                      <a:srgbClr val="EEF3F6"/>
                    </a:solidFill>
                  </a:tcPr>
                </a:tc>
                <a:tc>
                  <a:txBody>
                    <a:bodyPr/>
                    <a:lstStyle/>
                    <a:p>
                      <a:r>
                        <a:rPr sz="2025" b="0">
                          <a:solidFill>
                            <a:srgbClr val="1C3144"/>
                          </a:solidFill>
                          <a:latin typeface="Calibri"/>
                          <a:ea typeface="Calibri"/>
                          <a:cs typeface="Calibri"/>
                        </a:rPr>
                        <a:t>Position: values[0]</a:t>
                      </a:r>
                    </a:p>
                  </a:txBody>
                  <a:tcPr marL="91440" marR="91440" marT="45720" marB="45720">
                    <a:solidFill>
                      <a:srgbClr val="EEF3F6"/>
                    </a:solidFill>
                  </a:tcPr>
                </a:tc>
                <a:tc>
                  <a:txBody>
                    <a:bodyPr/>
                    <a:lstStyle/>
                    <a:p>
                      <a:r>
                        <a:rPr sz="2025" b="0">
                          <a:solidFill>
                            <a:srgbClr val="1C3144"/>
                          </a:solidFill>
                          <a:latin typeface="Calibri"/>
                          <a:ea typeface="Calibri"/>
                          <a:cs typeface="Calibri"/>
                        </a:rPr>
                        <a:t>Repeats allowed; items change</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dict</a:t>
                      </a:r>
                    </a:p>
                  </a:txBody>
                  <a:tcPr marL="91440" marR="91440" marT="45720" marB="45720">
                    <a:solidFill>
                      <a:srgbClr val="FFFFFF"/>
                    </a:solidFill>
                  </a:tcPr>
                </a:tc>
                <a:tc>
                  <a:txBody>
                    <a:bodyPr/>
                    <a:lstStyle/>
                    <a:p>
                      <a:r>
                        <a:rPr sz="2025" b="0">
                          <a:solidFill>
                            <a:srgbClr val="1C3144"/>
                          </a:solidFill>
                          <a:latin typeface="Calibri"/>
                          <a:ea typeface="Calibri"/>
                          <a:cs typeface="Calibri"/>
                        </a:rPr>
                        <a:t>Key: record["reading"]</a:t>
                      </a:r>
                    </a:p>
                  </a:txBody>
                  <a:tcPr marL="91440" marR="91440" marT="45720" marB="45720">
                    <a:solidFill>
                      <a:srgbClr val="FFFFFF"/>
                    </a:solidFill>
                  </a:tcPr>
                </a:tc>
                <a:tc>
                  <a:txBody>
                    <a:bodyPr/>
                    <a:lstStyle/>
                    <a:p>
                      <a:r>
                        <a:rPr sz="2025" b="0">
                          <a:solidFill>
                            <a:srgbClr val="1C3144"/>
                          </a:solidFill>
                          <a:latin typeface="Calibri"/>
                          <a:ea typeface="Calibri"/>
                          <a:cs typeface="Calibri"/>
                        </a:rPr>
                        <a:t>Keys unique; values change</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tuple</a:t>
                      </a:r>
                    </a:p>
                  </a:txBody>
                  <a:tcPr marL="91440" marR="91440" marT="45720" marB="45720">
                    <a:solidFill>
                      <a:srgbClr val="EEF3F6"/>
                    </a:solidFill>
                  </a:tcPr>
                </a:tc>
                <a:tc>
                  <a:txBody>
                    <a:bodyPr/>
                    <a:lstStyle/>
                    <a:p>
                      <a:r>
                        <a:rPr sz="2025" b="0">
                          <a:solidFill>
                            <a:srgbClr val="1C3144"/>
                          </a:solidFill>
                          <a:latin typeface="Calibri"/>
                          <a:ea typeface="Calibri"/>
                          <a:cs typeface="Calibri"/>
                        </a:rPr>
                        <a:t>Position: point[0]</a:t>
                      </a:r>
                    </a:p>
                  </a:txBody>
                  <a:tcPr marL="91440" marR="91440" marT="45720" marB="45720">
                    <a:solidFill>
                      <a:srgbClr val="EEF3F6"/>
                    </a:solidFill>
                  </a:tcPr>
                </a:tc>
                <a:tc>
                  <a:txBody>
                    <a:bodyPr/>
                    <a:lstStyle/>
                    <a:p>
                      <a:r>
                        <a:rPr sz="2025" b="0">
                          <a:solidFill>
                            <a:srgbClr val="1C3144"/>
                          </a:solidFill>
                          <a:latin typeface="Calibri"/>
                          <a:ea typeface="Calibri"/>
                          <a:cs typeface="Calibri"/>
                        </a:rPr>
                        <a:t>Repeats allowed; positions fixed</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set</a:t>
                      </a:r>
                    </a:p>
                  </a:txBody>
                  <a:tcPr marL="91440" marR="91440" marT="45720" marB="45720">
                    <a:solidFill>
                      <a:srgbClr val="FFFFFF"/>
                    </a:solidFill>
                  </a:tcPr>
                </a:tc>
                <a:tc>
                  <a:txBody>
                    <a:bodyPr/>
                    <a:lstStyle/>
                    <a:p>
                      <a:r>
                        <a:rPr sz="2025" b="0">
                          <a:solidFill>
                            <a:srgbClr val="1C3144"/>
                          </a:solidFill>
                          <a:latin typeface="Calibri"/>
                          <a:ea typeface="Calibri"/>
                          <a:cs typeface="Calibri"/>
                        </a:rPr>
                        <a:t>Membership: "A" in seen</a:t>
                      </a:r>
                    </a:p>
                  </a:txBody>
                  <a:tcPr marL="91440" marR="91440" marT="45720" marB="45720">
                    <a:solidFill>
                      <a:srgbClr val="FFFFFF"/>
                    </a:solidFill>
                  </a:tcPr>
                </a:tc>
                <a:tc>
                  <a:txBody>
                    <a:bodyPr/>
                    <a:lstStyle/>
                    <a:p>
                      <a:r>
                        <a:rPr sz="2025" b="0">
                          <a:solidFill>
                            <a:srgbClr val="1C3144"/>
                          </a:solidFill>
                          <a:latin typeface="Calibri"/>
                          <a:ea typeface="Calibri"/>
                          <a:cs typeface="Calibri"/>
                        </a:rPr>
                        <a:t>Distinct items; add or remove</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F6224AB3-D622-46DE-B9BF-AC596FB5BEBE}"/>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Choose by the question: ordered readings, named fields, fixed positions, or distinct IDs.</a:t>
            </a:r>
          </a:p>
        </p:txBody>
      </p:sp>
      <p:sp>
        <p:nvSpPr>
          <p:cNvPr id="6" name="">
            <a:extLst xmlns:a="http://schemas.openxmlformats.org/drawingml/2006/main">
              <a:ext uri="{FF2B5EF4-FFF2-40B4-BE49-F238E27FC236}">
                <a16:creationId xmlns:a16="http://schemas.microsoft.com/office/drawing/2014/main" id="{49C16590-E441-4092-9C8A-E8A152A85AC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24</a:t>
            </a:r>
          </a:p>
        </p:txBody>
      </p:sp>
    </p:spTree>
    <p:extLst>
      <p:ext uri="{BB962C8B-B14F-4D97-AF65-F5344CB8AC3E}">
        <p14:creationId xmlns:p14="http://schemas.microsoft.com/office/powerpoint/2010/main" val="1828317819"/>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F45F23F-52C0-4ADC-81A3-2AE176D062C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A826E48-A2C6-42F3-B52E-7C91FB76C96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B0DC86A-1012-4B54-81D3-EC1D8434901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Dictionary items and two loop names</a:t>
            </a:r>
          </a:p>
        </p:txBody>
      </p:sp>
      <p:sp>
        <p:nvSpPr>
          <p:cNvPr id="4" name="">
            <a:extLst xmlns:a="http://schemas.openxmlformats.org/drawingml/2006/main">
              <a:ext uri="{FF2B5EF4-FFF2-40B4-BE49-F238E27FC236}">
                <a16:creationId xmlns:a16="http://schemas.microsoft.com/office/drawing/2014/main" id="{5FAA4B4F-7B77-4C76-99B8-3AC14085B691}"/>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7043ED3-F07F-4310-838F-5993EBB5E307}"/>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A8AED34C-1BD5-4163-84B8-521A7C379606}"/>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record.items() provides each key with its value as a pair. The loop unpacks each pair into the names key and value.</a:t>
            </a:r>
          </a:p>
        </p:txBody>
      </p:sp>
      <p:sp>
        <p:nvSpPr>
          <p:cNvPr id="7" name="">
            <a:extLst xmlns:a="http://schemas.openxmlformats.org/drawingml/2006/main">
              <a:ext uri="{FF2B5EF4-FFF2-40B4-BE49-F238E27FC236}">
                <a16:creationId xmlns:a16="http://schemas.microsoft.com/office/drawing/2014/main" id="{79707A0B-5AE3-4E11-B52F-4CD0BB307D19}"/>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for key, value in record.items(): repeats the indented body for each field. Use .items() when both the label and its value are needed.</a:t>
            </a:r>
          </a:p>
        </p:txBody>
      </p:sp>
      <p:sp>
        <p:nvSpPr>
          <p:cNvPr id="8" name="">
            <a:extLst xmlns:a="http://schemas.openxmlformats.org/drawingml/2006/main">
              <a:ext uri="{FF2B5EF4-FFF2-40B4-BE49-F238E27FC236}">
                <a16:creationId xmlns:a16="http://schemas.microsoft.com/office/drawing/2014/main" id="{0517784B-1530-46FB-AEE7-BB0A3F97029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25</a:t>
            </a:r>
          </a:p>
        </p:txBody>
      </p:sp>
    </p:spTree>
    <p:extLst>
      <p:ext uri="{BB962C8B-B14F-4D97-AF65-F5344CB8AC3E}">
        <p14:creationId xmlns:p14="http://schemas.microsoft.com/office/powerpoint/2010/main" val="1301193537"/>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C94CCEC-D340-468E-B816-907005F8DA4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F0F6795-EEF9-4737-A5D5-E85D32214B8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A64968C-BCAB-43BF-AD33-5FE1D6369FA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Looping through named fields</a:t>
            </a:r>
          </a:p>
        </p:txBody>
      </p:sp>
      <p:sp>
        <p:nvSpPr>
          <p:cNvPr id="4" name="">
            <a:extLst xmlns:a="http://schemas.openxmlformats.org/drawingml/2006/main">
              <a:ext uri="{FF2B5EF4-FFF2-40B4-BE49-F238E27FC236}">
                <a16:creationId xmlns:a16="http://schemas.microsoft.com/office/drawing/2014/main" id="{88666710-61E7-4CA1-8626-86290209B405}"/>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EBB3EC4-CD63-450E-A7AF-8C5824A0A2CA}"/>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record = {"unit": "A", "reading": 6}</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key, value in record.items():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print(key, value)</a:t>
            </a:r>
          </a:p>
        </p:txBody>
      </p:sp>
      <p:sp>
        <p:nvSpPr>
          <p:cNvPr id="6" name="">
            <a:extLst xmlns:a="http://schemas.openxmlformats.org/drawingml/2006/main">
              <a:ext uri="{FF2B5EF4-FFF2-40B4-BE49-F238E27FC236}">
                <a16:creationId xmlns:a16="http://schemas.microsoft.com/office/drawing/2014/main" id="{DD778546-2665-4AC7-9CED-D6E009A45869}"/>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7B50E190-2838-4B36-B906-0F4A69453794}"/>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.items() supplies pairs.</a:t>
            </a:r>
          </a:p>
        </p:txBody>
      </p:sp>
      <p:sp>
        <p:nvSpPr>
          <p:cNvPr id="8" name="">
            <a:extLst xmlns:a="http://schemas.openxmlformats.org/drawingml/2006/main">
              <a:ext uri="{FF2B5EF4-FFF2-40B4-BE49-F238E27FC236}">
                <a16:creationId xmlns:a16="http://schemas.microsoft.com/office/drawing/2014/main" id="{24E13D82-A1E7-4C30-8F06-24BF1494533E}"/>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key and value are names chosen for this loop.</a:t>
            </a:r>
          </a:p>
        </p:txBody>
      </p:sp>
      <p:sp>
        <p:nvSpPr>
          <p:cNvPr id="9" name="">
            <a:extLst xmlns:a="http://schemas.openxmlformats.org/drawingml/2006/main">
              <a:ext uri="{FF2B5EF4-FFF2-40B4-BE49-F238E27FC236}">
                <a16:creationId xmlns:a16="http://schemas.microsoft.com/office/drawing/2014/main" id="{6A5CD416-C91A-4853-BF26-39C142F43F5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unit A, then reading 6. The dictionary preserves insertion order.</a:t>
            </a:r>
          </a:p>
        </p:txBody>
      </p:sp>
      <p:sp>
        <p:nvSpPr>
          <p:cNvPr id="10" name="">
            <a:extLst xmlns:a="http://schemas.openxmlformats.org/drawingml/2006/main">
              <a:ext uri="{FF2B5EF4-FFF2-40B4-BE49-F238E27FC236}">
                <a16:creationId xmlns:a16="http://schemas.microsoft.com/office/drawing/2014/main" id="{78BFFBE0-4C47-49E4-85B8-B016AF9460E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26</a:t>
            </a:r>
          </a:p>
        </p:txBody>
      </p:sp>
    </p:spTree>
    <p:extLst>
      <p:ext uri="{BB962C8B-B14F-4D97-AF65-F5344CB8AC3E}">
        <p14:creationId xmlns:p14="http://schemas.microsoft.com/office/powerpoint/2010/main" val="1552260603"/>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A119248-9CBD-4D21-A66F-19E4E1B2C8EF}"/>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A8C96B8-8C1E-4C71-B2D0-FE3C5ABB59CB}"/>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position and a key find different things</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994839516fd54e54"/>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ADBF6C12-2CC9-4342-A8C7-9156E8E10434}"/>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3CD450B-404A-4BE7-ABB0-D70BA99E3C5B}"/>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Both examples return 4. Explain how each lookup finds it.</a:t>
            </a:r>
          </a:p>
        </p:txBody>
      </p:sp>
      <p:sp>
        <p:nvSpPr>
          <p:cNvPr id="6" name="">
            <a:extLst xmlns:a="http://schemas.openxmlformats.org/drawingml/2006/main">
              <a:ext uri="{FF2B5EF4-FFF2-40B4-BE49-F238E27FC236}">
                <a16:creationId xmlns:a16="http://schemas.microsoft.com/office/drawing/2014/main" id="{DDC77F7F-2902-4313-9E39-439779504A0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27</a:t>
            </a:r>
          </a:p>
        </p:txBody>
      </p:sp>
    </p:spTree>
    <p:extLst>
      <p:ext uri="{BB962C8B-B14F-4D97-AF65-F5344CB8AC3E}">
        <p14:creationId xmlns:p14="http://schemas.microsoft.com/office/powerpoint/2010/main" val="1389782663"/>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F8C1FB3-9924-40A9-9469-C16D79BAFA6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E46709F-92D3-49B4-9A72-F946E544F7A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B168C64E-A9C9-4E1F-A628-E5AD729718C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CSV and header</a:t>
            </a:r>
          </a:p>
        </p:txBody>
      </p:sp>
      <p:sp>
        <p:nvSpPr>
          <p:cNvPr id="4" name="">
            <a:extLst xmlns:a="http://schemas.openxmlformats.org/drawingml/2006/main">
              <a:ext uri="{FF2B5EF4-FFF2-40B4-BE49-F238E27FC236}">
                <a16:creationId xmlns:a16="http://schemas.microsoft.com/office/drawing/2014/main" id="{6E5F04B8-5CA8-49E3-9AF5-39EB68AA626F}"/>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4A6504E-082E-4E4A-84C3-A531983C7261}"/>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CSV and header</a:t>
            </a:r>
          </a:p>
        </p:txBody>
      </p:sp>
      <p:sp>
        <p:nvSpPr>
          <p:cNvPr id="6" name="">
            <a:extLst xmlns:a="http://schemas.openxmlformats.org/drawingml/2006/main">
              <a:ext uri="{FF2B5EF4-FFF2-40B4-BE49-F238E27FC236}">
                <a16:creationId xmlns:a16="http://schemas.microsoft.com/office/drawing/2014/main" id="{67D9051B-55CD-4B08-8C0D-1C552B2C5C8E}"/>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CSV means comma-separated values. One line usually represents one record; a header names the columns. CSV numbers arrive as text and may need float conversion.</a:t>
            </a:r>
          </a:p>
        </p:txBody>
      </p:sp>
      <p:sp>
        <p:nvSpPr>
          <p:cNvPr id="7" name="">
            <a:extLst xmlns:a="http://schemas.openxmlformats.org/drawingml/2006/main">
              <a:ext uri="{FF2B5EF4-FFF2-40B4-BE49-F238E27FC236}">
                <a16:creationId xmlns:a16="http://schemas.microsoft.com/office/drawing/2014/main" id="{B36D3C1A-8B93-4F99-8FE6-38A4FB76BD2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28</a:t>
            </a:r>
          </a:p>
        </p:txBody>
      </p:sp>
    </p:spTree>
    <p:extLst>
      <p:ext uri="{BB962C8B-B14F-4D97-AF65-F5344CB8AC3E}">
        <p14:creationId xmlns:p14="http://schemas.microsoft.com/office/powerpoint/2010/main" val="81671189"/>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9DF23D1-5060-460A-90A1-9D2DCD4CD22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A39E798-A13F-46C8-A5BD-7DBF3138B4D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C3C87D6-B7B1-4B63-8D74-14C39F90C77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One record at a time</a:t>
            </a:r>
          </a:p>
        </p:txBody>
      </p:sp>
      <p:sp>
        <p:nvSpPr>
          <p:cNvPr id="4" name="">
            <a:extLst xmlns:a="http://schemas.openxmlformats.org/drawingml/2006/main">
              <a:ext uri="{FF2B5EF4-FFF2-40B4-BE49-F238E27FC236}">
                <a16:creationId xmlns:a16="http://schemas.microsoft.com/office/drawing/2014/main" id="{13479D24-1817-496A-8BD4-FF2AD08F002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C6F4914-307E-4CDC-A07B-B2B355C3988A}"/>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CSV is a text table with a header row.</a:t>
            </a:r>
          </a:p>
        </p:txBody>
      </p:sp>
      <p:sp>
        <p:nvSpPr>
          <p:cNvPr id="6" name="">
            <a:extLst xmlns:a="http://schemas.openxmlformats.org/drawingml/2006/main">
              <a:ext uri="{FF2B5EF4-FFF2-40B4-BE49-F238E27FC236}">
                <a16:creationId xmlns:a16="http://schemas.microsoft.com/office/drawing/2014/main" id="{28D48D60-0952-4845-A7E3-74AFFD4A8511}"/>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33A1BFA-0D90-4C5A-87CE-04BC7161F16B}"/>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DictReader uses that header for dictionary keys.</a:t>
            </a:r>
          </a:p>
        </p:txBody>
      </p:sp>
      <p:sp>
        <p:nvSpPr>
          <p:cNvPr id="8" name="">
            <a:extLst xmlns:a="http://schemas.openxmlformats.org/drawingml/2006/main">
              <a:ext uri="{FF2B5EF4-FFF2-40B4-BE49-F238E27FC236}">
                <a16:creationId xmlns:a16="http://schemas.microsoft.com/office/drawing/2014/main" id="{E9097E0B-0568-44AC-B1AC-D569ED3DC0B1}"/>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B78DCC3-AC20-4D02-BA24-4AD556373989}"/>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CSV cells begin as text, even when they look numeric.</a:t>
            </a:r>
          </a:p>
        </p:txBody>
      </p:sp>
      <p:sp>
        <p:nvSpPr>
          <p:cNvPr id="10" name="">
            <a:extLst xmlns:a="http://schemas.openxmlformats.org/drawingml/2006/main">
              <a:ext uri="{FF2B5EF4-FFF2-40B4-BE49-F238E27FC236}">
                <a16:creationId xmlns:a16="http://schemas.microsoft.com/office/drawing/2014/main" id="{C45008E4-293F-46EC-B637-24E3B726D50E}"/>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B85BCBF-1E69-4FBD-9AB6-5E241C56803F}"/>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float("2.5") converts text into the number 2.5.</a:t>
            </a:r>
          </a:p>
        </p:txBody>
      </p:sp>
      <p:sp>
        <p:nvSpPr>
          <p:cNvPr id="12" name="">
            <a:extLst xmlns:a="http://schemas.openxmlformats.org/drawingml/2006/main">
              <a:ext uri="{FF2B5EF4-FFF2-40B4-BE49-F238E27FC236}">
                <a16:creationId xmlns:a16="http://schemas.microsoft.com/office/drawing/2014/main" id="{A6477E37-C6B0-4D87-826D-012DC4FB421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29</a:t>
            </a:r>
          </a:p>
        </p:txBody>
      </p:sp>
    </p:spTree>
    <p:extLst>
      <p:ext uri="{BB962C8B-B14F-4D97-AF65-F5344CB8AC3E}">
        <p14:creationId xmlns:p14="http://schemas.microsoft.com/office/powerpoint/2010/main" val="1442300423"/>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20A788D-C3B4-4377-84A0-6E7013157DE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A1ED655-2442-4959-8509-8D232EF6008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DCDB6323-DEE5-4E1F-8D2A-D3271890BB5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CSV file has a header and text values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833438">
                <a:tc>
                  <a:txBody>
                    <a:bodyPr/>
                    <a:lstStyle/>
                    <a:p>
                      <a:r>
                        <a:rPr sz="2025" b="1">
                          <a:solidFill>
                            <a:srgbClr val="FFFFFF"/>
                          </a:solidFill>
                          <a:latin typeface="Calibri"/>
                          <a:ea typeface="Calibri"/>
                          <a:cs typeface="Calibri"/>
                        </a:rPr>
                        <a:t>CSV line</a:t>
                      </a:r>
                    </a:p>
                  </a:txBody>
                  <a:tcPr marL="91440" marR="91440" marT="45720" marB="45720">
                    <a:solidFill>
                      <a:srgbClr val="2E7D6F"/>
                    </a:solidFill>
                  </a:tcPr>
                </a:tc>
                <a:tc>
                  <a:txBody>
                    <a:bodyPr/>
                    <a:lstStyle/>
                    <a:p>
                      <a:r>
                        <a:rPr sz="2025" b="1">
                          <a:solidFill>
                            <a:srgbClr val="FFFFFF"/>
                          </a:solidFill>
                          <a:latin typeface="Calibri"/>
                          <a:ea typeface="Calibri"/>
                          <a:cs typeface="Calibri"/>
                        </a:rPr>
                        <a:t>Dictionary meaning</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unit,reading</a:t>
                      </a:r>
                    </a:p>
                  </a:txBody>
                  <a:tcPr marL="91440" marR="91440" marT="45720" marB="45720">
                    <a:solidFill>
                      <a:srgbClr val="EEF3F6"/>
                    </a:solidFill>
                  </a:tcPr>
                </a:tc>
                <a:tc>
                  <a:txBody>
                    <a:bodyPr/>
                    <a:lstStyle/>
                    <a:p>
                      <a:r>
                        <a:rPr sz="2025" b="0">
                          <a:solidFill>
                            <a:srgbClr val="1C3144"/>
                          </a:solidFill>
                          <a:latin typeface="Calibri"/>
                          <a:ea typeface="Calibri"/>
                          <a:cs typeface="Calibri"/>
                        </a:rPr>
                        <a:t>Two field names</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A,2.5</a:t>
                      </a:r>
                    </a:p>
                  </a:txBody>
                  <a:tcPr marL="91440" marR="91440" marT="45720" marB="45720">
                    <a:solidFill>
                      <a:srgbClr val="FFFFFF"/>
                    </a:solidFill>
                  </a:tcPr>
                </a:tc>
                <a:tc>
                  <a:txBody>
                    <a:bodyPr/>
                    <a:lstStyle/>
                    <a:p>
                      <a:r>
                        <a:rPr sz="2025" b="0">
                          <a:solidFill>
                            <a:srgbClr val="1C3144"/>
                          </a:solidFill>
                          <a:latin typeface="Calibri"/>
                          <a:ea typeface="Calibri"/>
                          <a:cs typeface="Calibri"/>
                        </a:rPr>
                        <a:t>{"unit": "A", "reading": "2.5"}</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B,</a:t>
                      </a:r>
                    </a:p>
                  </a:txBody>
                  <a:tcPr marL="91440" marR="91440" marT="45720" marB="45720">
                    <a:solidFill>
                      <a:srgbClr val="EEF3F6"/>
                    </a:solidFill>
                  </a:tcPr>
                </a:tc>
                <a:tc>
                  <a:txBody>
                    <a:bodyPr/>
                    <a:lstStyle/>
                    <a:p>
                      <a:r>
                        <a:rPr sz="2025" b="0">
                          <a:solidFill>
                            <a:srgbClr val="1C3144"/>
                          </a:solidFill>
                          <a:latin typeface="Calibri"/>
                          <a:ea typeface="Calibri"/>
                          <a:cs typeface="Calibri"/>
                        </a:rPr>
                        <a:t>{"unit": "B", "reading": ""}</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A5517104-41BF-42DF-98DB-D637ECF7433D}"/>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An empty field is empty text. Check the task’s rule before converting it.</a:t>
            </a:r>
          </a:p>
        </p:txBody>
      </p:sp>
      <p:sp>
        <p:nvSpPr>
          <p:cNvPr id="6" name="">
            <a:extLst xmlns:a="http://schemas.openxmlformats.org/drawingml/2006/main">
              <a:ext uri="{FF2B5EF4-FFF2-40B4-BE49-F238E27FC236}">
                <a16:creationId xmlns:a16="http://schemas.microsoft.com/office/drawing/2014/main" id="{F08FB8E6-2EED-4F54-A1C9-392E47FC014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30</a:t>
            </a:r>
          </a:p>
        </p:txBody>
      </p:sp>
    </p:spTree>
    <p:extLst>
      <p:ext uri="{BB962C8B-B14F-4D97-AF65-F5344CB8AC3E}">
        <p14:creationId xmlns:p14="http://schemas.microsoft.com/office/powerpoint/2010/main" val="873189833"/>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EC9E814-FFBB-4D12-B90E-9A03F9569B7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DB757DC-5ADD-4EE6-B72C-4434042D2A1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B48A043-28C3-454C-894D-F996FECB87D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CSV row becomes a dictionary</a:t>
            </a:r>
          </a:p>
        </p:txBody>
      </p:sp>
      <p:sp>
        <p:nvSpPr>
          <p:cNvPr id="4" name="">
            <a:extLst xmlns:a="http://schemas.openxmlformats.org/drawingml/2006/main">
              <a:ext uri="{FF2B5EF4-FFF2-40B4-BE49-F238E27FC236}">
                <a16:creationId xmlns:a16="http://schemas.microsoft.com/office/drawing/2014/main" id="{F8E37ABA-FA64-4785-9B99-34D7057F7EF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FD9038C-5710-4675-8784-1736F03A8B7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header gives field names, such as unit and reading.</a:t>
            </a:r>
          </a:p>
        </p:txBody>
      </p:sp>
      <p:sp>
        <p:nvSpPr>
          <p:cNvPr id="6" name="">
            <a:extLst xmlns:a="http://schemas.openxmlformats.org/drawingml/2006/main">
              <a:ext uri="{FF2B5EF4-FFF2-40B4-BE49-F238E27FC236}">
                <a16:creationId xmlns:a16="http://schemas.microsoft.com/office/drawing/2014/main" id="{0C3B6230-F92E-4BDE-8C68-D2CBDEC2DD9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75BF526-935C-4ADF-9281-C80688B0908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csv.DictReader returns one dictionary for each data row.</a:t>
            </a:r>
          </a:p>
        </p:txBody>
      </p:sp>
      <p:sp>
        <p:nvSpPr>
          <p:cNvPr id="8" name="">
            <a:extLst xmlns:a="http://schemas.openxmlformats.org/drawingml/2006/main">
              <a:ext uri="{FF2B5EF4-FFF2-40B4-BE49-F238E27FC236}">
                <a16:creationId xmlns:a16="http://schemas.microsoft.com/office/drawing/2014/main" id="{3FEB303E-538E-4F71-99D9-690111B4130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13BBBF3-0CC0-4B55-8E0B-AE888061AFAB}"/>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value "2.5" starts as text. float("2.5") makes the number 2.5.</a:t>
            </a:r>
          </a:p>
        </p:txBody>
      </p:sp>
      <p:sp>
        <p:nvSpPr>
          <p:cNvPr id="10" name="">
            <a:extLst xmlns:a="http://schemas.openxmlformats.org/drawingml/2006/main">
              <a:ext uri="{FF2B5EF4-FFF2-40B4-BE49-F238E27FC236}">
                <a16:creationId xmlns:a16="http://schemas.microsoft.com/office/drawing/2014/main" id="{25F9BFDF-F8E4-470D-BBC6-75E8E1524DB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31</a:t>
            </a:r>
          </a:p>
        </p:txBody>
      </p:sp>
    </p:spTree>
    <p:extLst>
      <p:ext uri="{BB962C8B-B14F-4D97-AF65-F5344CB8AC3E}">
        <p14:creationId xmlns:p14="http://schemas.microsoft.com/office/powerpoint/2010/main" val="1405059683"/>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26CA8A2-25A1-46CF-9018-AB0528471F2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87517E9-607A-4197-A859-8629E49C060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174ABDD4-9E9B-455E-AADA-5931A5E5DB7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with and import</a:t>
            </a:r>
          </a:p>
        </p:txBody>
      </p:sp>
      <p:sp>
        <p:nvSpPr>
          <p:cNvPr id="4" name="">
            <a:extLst xmlns:a="http://schemas.openxmlformats.org/drawingml/2006/main">
              <a:ext uri="{FF2B5EF4-FFF2-40B4-BE49-F238E27FC236}">
                <a16:creationId xmlns:a16="http://schemas.microsoft.com/office/drawing/2014/main" id="{75C656DD-BCA1-4620-B6AC-40E3026B8C0C}"/>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2E15676-C8D2-4E52-A18E-B3AA314EF620}"/>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with and import</a:t>
            </a:r>
          </a:p>
        </p:txBody>
      </p:sp>
      <p:sp>
        <p:nvSpPr>
          <p:cNvPr id="6" name="">
            <a:extLst xmlns:a="http://schemas.openxmlformats.org/drawingml/2006/main">
              <a:ext uri="{FF2B5EF4-FFF2-40B4-BE49-F238E27FC236}">
                <a16:creationId xmlns:a16="http://schemas.microsoft.com/office/drawing/2014/main" id="{0DD3B8D5-C21D-48AD-8F02-F650DB0D8F45}"/>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import makes library tools available. with open(...) opens a file for a block and closes it afterward. A filename must match an existing file in the working folder.</a:t>
            </a:r>
          </a:p>
        </p:txBody>
      </p:sp>
      <p:sp>
        <p:nvSpPr>
          <p:cNvPr id="7" name="">
            <a:extLst xmlns:a="http://schemas.openxmlformats.org/drawingml/2006/main">
              <a:ext uri="{FF2B5EF4-FFF2-40B4-BE49-F238E27FC236}">
                <a16:creationId xmlns:a16="http://schemas.microsoft.com/office/drawing/2014/main" id="{0198B881-6D7B-4675-BFAE-0E7353CA0D8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32</a:t>
            </a:r>
          </a:p>
        </p:txBody>
      </p:sp>
    </p:spTree>
    <p:extLst>
      <p:ext uri="{BB962C8B-B14F-4D97-AF65-F5344CB8AC3E}">
        <p14:creationId xmlns:p14="http://schemas.microsoft.com/office/powerpoint/2010/main" val="1944929831"/>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D856DA7-B654-4DEC-A15A-ABCAD76131A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83AAC4A-3DF2-4985-8CA5-01265FCD560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B39BB88-8D02-49BB-A5E8-CB0A9F0B571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cohort data</a:t>
            </a:r>
          </a:p>
        </p:txBody>
      </p:sp>
      <p:sp>
        <p:nvSpPr>
          <p:cNvPr id="4" name="">
            <a:extLst xmlns:a="http://schemas.openxmlformats.org/drawingml/2006/main">
              <a:ext uri="{FF2B5EF4-FFF2-40B4-BE49-F238E27FC236}">
                <a16:creationId xmlns:a16="http://schemas.microsoft.com/office/drawing/2014/main" id="{DA807A7B-F6EB-41BB-AFC2-16B8014F32E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D331A1A-25BA-4CC6-B01D-2429AF2B626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drill_shift_log.csv</a:t>
            </a:r>
          </a:p>
        </p:txBody>
      </p:sp>
      <p:sp>
        <p:nvSpPr>
          <p:cNvPr id="6" name="">
            <a:extLst xmlns:a="http://schemas.openxmlformats.org/drawingml/2006/main">
              <a:ext uri="{FF2B5EF4-FFF2-40B4-BE49-F238E27FC236}">
                <a16:creationId xmlns:a16="http://schemas.microsoft.com/office/drawing/2014/main" id="{4300D595-0C61-41A2-AB8D-9EA748EFC62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45C172A-5917-48C6-9E46-0413CDDED95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Summarise rate_of_penetration (m/hour); group by bit_type.</a:t>
            </a:r>
          </a:p>
        </p:txBody>
      </p:sp>
      <p:sp>
        <p:nvSpPr>
          <p:cNvPr id="8" name="">
            <a:extLst xmlns:a="http://schemas.openxmlformats.org/drawingml/2006/main">
              <a:ext uri="{FF2B5EF4-FFF2-40B4-BE49-F238E27FC236}">
                <a16:creationId xmlns:a16="http://schemas.microsoft.com/office/drawing/2014/main" id="{86D74C7A-F789-426E-9620-6356847B5BC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CABC565-1236-4533-9A29-CF424326C28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the issued task’s blank-value and threshold rules before calculating.</a:t>
            </a:r>
          </a:p>
        </p:txBody>
      </p:sp>
      <p:sp>
        <p:nvSpPr>
          <p:cNvPr id="10" name="">
            <a:extLst xmlns:a="http://schemas.openxmlformats.org/drawingml/2006/main">
              <a:ext uri="{FF2B5EF4-FFF2-40B4-BE49-F238E27FC236}">
                <a16:creationId xmlns:a16="http://schemas.microsoft.com/office/drawing/2014/main" id="{2E0135A0-21FE-4AE6-AEAF-5AD0C4C4254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33</a:t>
            </a:r>
          </a:p>
        </p:txBody>
      </p:sp>
    </p:spTree>
    <p:extLst>
      <p:ext uri="{BB962C8B-B14F-4D97-AF65-F5344CB8AC3E}">
        <p14:creationId xmlns:p14="http://schemas.microsoft.com/office/powerpoint/2010/main" val="1137141190"/>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D295C5D-4C2B-4FAA-ADB9-7D92A05F605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C141F81-E4A3-42D0-A329-AD57C680254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453D434-811B-4881-90ED-C12F9CF0A52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supplied CSV in four steps</a:t>
            </a:r>
          </a:p>
        </p:txBody>
      </p:sp>
      <p:sp>
        <p:nvSpPr>
          <p:cNvPr id="4" name="">
            <a:extLst xmlns:a="http://schemas.openxmlformats.org/drawingml/2006/main">
              <a:ext uri="{FF2B5EF4-FFF2-40B4-BE49-F238E27FC236}">
                <a16:creationId xmlns:a16="http://schemas.microsoft.com/office/drawing/2014/main" id="{2A69DC35-8186-477D-8D6F-51E182551B5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A1B2482-DBDF-4369-95F7-F49620831A3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Place drill_shift_log.csv beside the notebook, or upload it in Colab’s Files panel.</a:t>
            </a:r>
          </a:p>
        </p:txBody>
      </p:sp>
      <p:sp>
        <p:nvSpPr>
          <p:cNvPr id="6" name="">
            <a:extLst xmlns:a="http://schemas.openxmlformats.org/drawingml/2006/main">
              <a:ext uri="{FF2B5EF4-FFF2-40B4-BE49-F238E27FC236}">
                <a16:creationId xmlns:a16="http://schemas.microsoft.com/office/drawing/2014/main" id="{633BDEE6-7C35-420D-881B-7F81F320F64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D131F68-4057-4BD8-8E14-FAF05FC7545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import csv loads the CSV tools. newline="" lets the reader handle line endings. DictReader uses the header as dictionary keys.</a:t>
            </a:r>
          </a:p>
        </p:txBody>
      </p:sp>
      <p:sp>
        <p:nvSpPr>
          <p:cNvPr id="8" name="">
            <a:extLst xmlns:a="http://schemas.openxmlformats.org/drawingml/2006/main">
              <a:ext uri="{FF2B5EF4-FFF2-40B4-BE49-F238E27FC236}">
                <a16:creationId xmlns:a16="http://schemas.microsoft.com/office/drawing/2014/main" id="{1FA54FE4-3DAF-4DB1-B6E8-E94E574DD18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5435865-9B5C-4E19-AE25-A7EA776ED3A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 collects the rows while the file is open. We inspect the first row and the count; the later assignment calculations are your work.</a:t>
            </a:r>
          </a:p>
        </p:txBody>
      </p:sp>
      <p:sp>
        <p:nvSpPr>
          <p:cNvPr id="10" name="">
            <a:extLst xmlns:a="http://schemas.openxmlformats.org/drawingml/2006/main">
              <a:ext uri="{FF2B5EF4-FFF2-40B4-BE49-F238E27FC236}">
                <a16:creationId xmlns:a16="http://schemas.microsoft.com/office/drawing/2014/main" id="{B58995D0-7551-4D2C-8130-6F6F98C259C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34</a:t>
            </a:r>
          </a:p>
        </p:txBody>
      </p:sp>
    </p:spTree>
    <p:extLst>
      <p:ext uri="{BB962C8B-B14F-4D97-AF65-F5344CB8AC3E}">
        <p14:creationId xmlns:p14="http://schemas.microsoft.com/office/powerpoint/2010/main" val="751999545"/>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44E14A9-461D-44BA-BFC5-AFC553757A5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23B424D-1C31-4987-92C0-0EDE3AAE21E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9601E54-BEA4-4354-99F1-58E202C3640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Open a real CSV and inspect its first row</a:t>
            </a:r>
          </a:p>
        </p:txBody>
      </p:sp>
      <p:sp>
        <p:nvSpPr>
          <p:cNvPr id="4" name="">
            <a:extLst xmlns:a="http://schemas.openxmlformats.org/drawingml/2006/main">
              <a:ext uri="{FF2B5EF4-FFF2-40B4-BE49-F238E27FC236}">
                <a16:creationId xmlns:a16="http://schemas.microsoft.com/office/drawing/2014/main" id="{CFE24637-D889-412F-8A10-F758D6338A9A}"/>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404667B-5F59-4BFE-920C-D72B0499B483}"/>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csv</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with open("drill_sh</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t_log.csv", newline="") as source: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rows = list(csv.DictReader(source))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print(rows[0])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print(len(rows))</a:t>
            </a:r>
          </a:p>
        </p:txBody>
      </p:sp>
      <p:sp>
        <p:nvSpPr>
          <p:cNvPr id="6" name="">
            <a:extLst xmlns:a="http://schemas.openxmlformats.org/drawingml/2006/main">
              <a:ext uri="{FF2B5EF4-FFF2-40B4-BE49-F238E27FC236}">
                <a16:creationId xmlns:a16="http://schemas.microsoft.com/office/drawing/2014/main" id="{2EA163F3-4A6F-4160-8A17-5759497CA0DB}"/>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import loads a library. from selects a tool from it.</a:t>
            </a:r>
          </a:p>
        </p:txBody>
      </p:sp>
      <p:sp>
        <p:nvSpPr>
          <p:cNvPr id="7" name="">
            <a:extLst xmlns:a="http://schemas.openxmlformats.org/drawingml/2006/main">
              <a:ext uri="{FF2B5EF4-FFF2-40B4-BE49-F238E27FC236}">
                <a16:creationId xmlns:a16="http://schemas.microsoft.com/office/drawing/2014/main" id="{84C50869-8FDB-4C24-89F9-E9E6FF620E2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actual keys and text values. Check the uploaded filename if Python reports FileNotFoundError.</a:t>
            </a:r>
          </a:p>
        </p:txBody>
      </p:sp>
      <p:sp>
        <p:nvSpPr>
          <p:cNvPr id="8" name="">
            <a:extLst xmlns:a="http://schemas.openxmlformats.org/drawingml/2006/main">
              <a:ext uri="{FF2B5EF4-FFF2-40B4-BE49-F238E27FC236}">
                <a16:creationId xmlns:a16="http://schemas.microsoft.com/office/drawing/2014/main" id="{DD127985-47D2-41AB-A122-689C0B00863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35</a:t>
            </a:r>
          </a:p>
        </p:txBody>
      </p:sp>
    </p:spTree>
    <p:extLst>
      <p:ext uri="{BB962C8B-B14F-4D97-AF65-F5344CB8AC3E}">
        <p14:creationId xmlns:p14="http://schemas.microsoft.com/office/powerpoint/2010/main" val="618468503"/>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EE028EA-C3E2-47B9-AF2D-887032DE6AD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DD9BE56-6C0B-43BD-A4D5-5C469E884DB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350F20E-1181-47A3-AC59-0538AD1C642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list of dictionaries</a:t>
            </a:r>
          </a:p>
        </p:txBody>
      </p:sp>
      <p:sp>
        <p:nvSpPr>
          <p:cNvPr id="4" name="">
            <a:extLst xmlns:a="http://schemas.openxmlformats.org/drawingml/2006/main">
              <a:ext uri="{FF2B5EF4-FFF2-40B4-BE49-F238E27FC236}">
                <a16:creationId xmlns:a16="http://schemas.microsoft.com/office/drawing/2014/main" id="{40178B86-2A19-41DE-B711-06949EE2397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25B66BB-7BD4-4DA2-9431-7F249792170A}"/>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record holds named fields for one observation. A list of records holds several observations in order.</a:t>
            </a:r>
          </a:p>
        </p:txBody>
      </p:sp>
      <p:sp>
        <p:nvSpPr>
          <p:cNvPr id="6" name="">
            <a:extLst xmlns:a="http://schemas.openxmlformats.org/drawingml/2006/main">
              <a:ext uri="{FF2B5EF4-FFF2-40B4-BE49-F238E27FC236}">
                <a16:creationId xmlns:a16="http://schemas.microsoft.com/office/drawing/2014/main" id="{FCBF421C-0E1E-484E-B47F-5B02E914317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F9B1060-DCDE-4F81-A1CA-03A357BDC270}"/>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records[0] selects the first dictionary. records[0]["reading"] then selects that dictionary’s reading field.</a:t>
            </a:r>
          </a:p>
        </p:txBody>
      </p:sp>
      <p:sp>
        <p:nvSpPr>
          <p:cNvPr id="8" name="">
            <a:extLst xmlns:a="http://schemas.openxmlformats.org/drawingml/2006/main">
              <a:ext uri="{FF2B5EF4-FFF2-40B4-BE49-F238E27FC236}">
                <a16:creationId xmlns:a16="http://schemas.microsoft.com/office/drawing/2014/main" id="{60120779-F490-4D0E-A7C8-0318F1B06C51}"/>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E99637F-117E-4500-B14A-5948E07E60D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row in records takes one dictionary at a time. row["reading"] retrieves that observation’s field; float converts numeric text when needed.</a:t>
            </a:r>
          </a:p>
        </p:txBody>
      </p:sp>
      <p:sp>
        <p:nvSpPr>
          <p:cNvPr id="10" name="">
            <a:extLst xmlns:a="http://schemas.openxmlformats.org/drawingml/2006/main">
              <a:ext uri="{FF2B5EF4-FFF2-40B4-BE49-F238E27FC236}">
                <a16:creationId xmlns:a16="http://schemas.microsoft.com/office/drawing/2014/main" id="{80880446-390C-495A-BA63-5C6B4386F75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36</a:t>
            </a:r>
          </a:p>
        </p:txBody>
      </p:sp>
    </p:spTree>
    <p:extLst>
      <p:ext uri="{BB962C8B-B14F-4D97-AF65-F5344CB8AC3E}">
        <p14:creationId xmlns:p14="http://schemas.microsoft.com/office/powerpoint/2010/main" val="518896941"/>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8E61B0F-5041-4E01-A7B2-C37F40EB642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9349F03-8937-442C-80FD-3DF7F48994B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F2FC2D1-68DD-4482-8EA1-E09C8661E43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record and a growing list</a:t>
            </a:r>
          </a:p>
        </p:txBody>
      </p:sp>
      <p:sp>
        <p:nvSpPr>
          <p:cNvPr id="4" name="">
            <a:extLst xmlns:a="http://schemas.openxmlformats.org/drawingml/2006/main">
              <a:ext uri="{FF2B5EF4-FFF2-40B4-BE49-F238E27FC236}">
                <a16:creationId xmlns:a16="http://schemas.microsoft.com/office/drawing/2014/main" id="{EE9AA55D-3B59-4417-AACA-99FAF032AF88}"/>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E1B3FDE-A4E5-404E-9133-8DABF50651A3}"/>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8C002B6-E1AE-4AA0-A9E0-A679910B5335}"/>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Braces pair a key with its value. append adds one value to the end of a list.</a:t>
            </a:r>
          </a:p>
        </p:txBody>
      </p:sp>
      <p:sp>
        <p:nvSpPr>
          <p:cNvPr id="7" name="">
            <a:extLst xmlns:a="http://schemas.openxmlformats.org/drawingml/2006/main">
              <a:ext uri="{FF2B5EF4-FFF2-40B4-BE49-F238E27FC236}">
                <a16:creationId xmlns:a16="http://schemas.microsoft.com/office/drawing/2014/main" id="{2D78A51D-5F70-41C0-9378-A5ECD92CA753}"/>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same pattern works after reading a CSV row.</a:t>
            </a:r>
          </a:p>
        </p:txBody>
      </p:sp>
      <p:sp>
        <p:nvSpPr>
          <p:cNvPr id="8" name="">
            <a:extLst xmlns:a="http://schemas.openxmlformats.org/drawingml/2006/main">
              <a:ext uri="{FF2B5EF4-FFF2-40B4-BE49-F238E27FC236}">
                <a16:creationId xmlns:a16="http://schemas.microsoft.com/office/drawing/2014/main" id="{FAC2527C-1930-4CF6-9330-B8935C017AC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37</a:t>
            </a:r>
          </a:p>
        </p:txBody>
      </p:sp>
    </p:spTree>
    <p:extLst>
      <p:ext uri="{BB962C8B-B14F-4D97-AF65-F5344CB8AC3E}">
        <p14:creationId xmlns:p14="http://schemas.microsoft.com/office/powerpoint/2010/main" val="1045242120"/>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955C74D-6D93-4C0E-AE8A-4030E52969B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82C03DE-9070-44C4-832D-0DD0CACCA0D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CE18C88-F58D-40EE-9349-406B04CB69E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record and a growing list in Python</a:t>
            </a:r>
          </a:p>
        </p:txBody>
      </p:sp>
      <p:sp>
        <p:nvSpPr>
          <p:cNvPr id="4" name="">
            <a:extLst xmlns:a="http://schemas.openxmlformats.org/drawingml/2006/main">
              <a:ext uri="{FF2B5EF4-FFF2-40B4-BE49-F238E27FC236}">
                <a16:creationId xmlns:a16="http://schemas.microsoft.com/office/drawing/2014/main" id="{0567C200-20F6-45EA-B225-9863F898ACE6}"/>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A9D1DF8-33E6-4C0E-861E-86AA7788F5BB}"/>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records = [{"sensor": "A", "reading": "2.5"},</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{"sensor": "B", "reading": "3.5"}]</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values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row in records: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values.append(float(row["reading"]))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print(values)</a:t>
            </a:r>
          </a:p>
        </p:txBody>
      </p:sp>
      <p:sp>
        <p:nvSpPr>
          <p:cNvPr id="6" name="">
            <a:extLst xmlns:a="http://schemas.openxmlformats.org/drawingml/2006/main">
              <a:ext uri="{FF2B5EF4-FFF2-40B4-BE49-F238E27FC236}">
                <a16:creationId xmlns:a16="http://schemas.microsoft.com/office/drawing/2014/main" id="{5A883F77-A6E0-42DD-9652-4A623EA75D36}"/>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for takes the next item. The indented block repeats.</a:t>
            </a:r>
          </a:p>
        </p:txBody>
      </p:sp>
      <p:sp>
        <p:nvSpPr>
          <p:cNvPr id="7" name="">
            <a:extLst xmlns:a="http://schemas.openxmlformats.org/drawingml/2006/main">
              <a:ext uri="{FF2B5EF4-FFF2-40B4-BE49-F238E27FC236}">
                <a16:creationId xmlns:a16="http://schemas.microsoft.com/office/drawing/2014/main" id="{29CD52AA-3D96-4DBA-943B-856DC2C5B00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0013056F-103C-4283-92E6-EC089C824BC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38</a:t>
            </a:r>
          </a:p>
        </p:txBody>
      </p:sp>
    </p:spTree>
    <p:extLst>
      <p:ext uri="{BB962C8B-B14F-4D97-AF65-F5344CB8AC3E}">
        <p14:creationId xmlns:p14="http://schemas.microsoft.com/office/powerpoint/2010/main" val="1074836672"/>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9C68AE2-02DC-443D-A6AE-47E175FA340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1246010-7F6B-4A31-958C-236D0E3FB9B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A8759DD-D0C1-44AA-A598-9F1AA68BE7B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Skip a blank before converting text</a:t>
            </a:r>
          </a:p>
        </p:txBody>
      </p:sp>
      <p:sp>
        <p:nvSpPr>
          <p:cNvPr id="4" name="">
            <a:extLst xmlns:a="http://schemas.openxmlformats.org/drawingml/2006/main">
              <a:ext uri="{FF2B5EF4-FFF2-40B4-BE49-F238E27FC236}">
                <a16:creationId xmlns:a16="http://schemas.microsoft.com/office/drawing/2014/main" id="{4A3A8995-8F3B-4830-B1CC-1D02B37D9215}"/>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D53EA40-6288-4313-8911-CA2BE0A0C884}"/>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E412515-E813-46D9-9970-B2E1632DFCF6}"/>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 empty text field is "". The comparison != means “not equal to”. Only convert a value after the blank check passes.</a:t>
            </a:r>
          </a:p>
        </p:txBody>
      </p:sp>
      <p:sp>
        <p:nvSpPr>
          <p:cNvPr id="7" name="">
            <a:extLst xmlns:a="http://schemas.openxmlformats.org/drawingml/2006/main">
              <a:ext uri="{FF2B5EF4-FFF2-40B4-BE49-F238E27FC236}">
                <a16:creationId xmlns:a16="http://schemas.microsoft.com/office/drawing/2014/main" id="{3CC8BF35-9376-4266-8997-745FC98492FC}"/>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In this example, values records valid numbers only. Its length is the valid count; the group summaries must use the same valid-record policy.</a:t>
            </a:r>
          </a:p>
        </p:txBody>
      </p:sp>
      <p:sp>
        <p:nvSpPr>
          <p:cNvPr id="8" name="">
            <a:extLst xmlns:a="http://schemas.openxmlformats.org/drawingml/2006/main">
              <a:ext uri="{FF2B5EF4-FFF2-40B4-BE49-F238E27FC236}">
                <a16:creationId xmlns:a16="http://schemas.microsoft.com/office/drawing/2014/main" id="{E277AEA1-7417-47BD-A424-C7AE8DA1D30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39</a:t>
            </a:r>
          </a:p>
        </p:txBody>
      </p:sp>
    </p:spTree>
    <p:extLst>
      <p:ext uri="{BB962C8B-B14F-4D97-AF65-F5344CB8AC3E}">
        <p14:creationId xmlns:p14="http://schemas.microsoft.com/office/powerpoint/2010/main" val="734915754"/>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BD83CDC2-1A6A-49E4-8310-E644EAB1E9E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457339E-CE65-4C35-AC81-4A6CBC45F9B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80EA68E-31ED-4C17-BDAA-AB2086543AA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Collect only the recorded numbers</a:t>
            </a:r>
          </a:p>
        </p:txBody>
      </p:sp>
      <p:sp>
        <p:nvSpPr>
          <p:cNvPr id="4" name="">
            <a:extLst xmlns:a="http://schemas.openxmlformats.org/drawingml/2006/main">
              <a:ext uri="{FF2B5EF4-FFF2-40B4-BE49-F238E27FC236}">
                <a16:creationId xmlns:a16="http://schemas.microsoft.com/office/drawing/2014/main" id="{79029A45-A291-4A1B-9671-4102F5B26E06}"/>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1F4B7DB-DB97-440D-A25E-B069BCE8645E}"/>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text_values = ["2.5", "", "3.5"]</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values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text in text_values: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text !=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values.append(float(text))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print(len(values), values)</a:t>
            </a:r>
          </a:p>
        </p:txBody>
      </p:sp>
      <p:sp>
        <p:nvSpPr>
          <p:cNvPr id="6" name="">
            <a:extLst xmlns:a="http://schemas.openxmlformats.org/drawingml/2006/main">
              <a:ext uri="{FF2B5EF4-FFF2-40B4-BE49-F238E27FC236}">
                <a16:creationId xmlns:a16="http://schemas.microsoft.com/office/drawing/2014/main" id="{2EEA0507-6361-4F5C-82FE-31913B12E7F0}"/>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BD9D7611-E9D6-4008-AA6D-D75ECE817B20}"/>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8BC90A2D-C934-4F4F-94F7-180AE4F3322C}"/>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0F113776-DF66-4DF7-928F-73DF21D11739}"/>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float converts numeric text into a decimal number.</a:t>
            </a:r>
          </a:p>
        </p:txBody>
      </p:sp>
      <p:sp>
        <p:nvSpPr>
          <p:cNvPr id="10" name="">
            <a:extLst xmlns:a="http://schemas.openxmlformats.org/drawingml/2006/main">
              <a:ext uri="{FF2B5EF4-FFF2-40B4-BE49-F238E27FC236}">
                <a16:creationId xmlns:a16="http://schemas.microsoft.com/office/drawing/2014/main" id="{3FEF410B-72CA-46E3-AF22-FD401B60789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2 [2.5, 3.5]. A blank is missing, not a recorded zero.</a:t>
            </a:r>
          </a:p>
        </p:txBody>
      </p:sp>
      <p:sp>
        <p:nvSpPr>
          <p:cNvPr id="11" name="">
            <a:extLst xmlns:a="http://schemas.openxmlformats.org/drawingml/2006/main">
              <a:ext uri="{FF2B5EF4-FFF2-40B4-BE49-F238E27FC236}">
                <a16:creationId xmlns:a16="http://schemas.microsoft.com/office/drawing/2014/main" id="{310FA22F-34B5-496A-9335-959B6FDD73B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40</a:t>
            </a:r>
          </a:p>
        </p:txBody>
      </p:sp>
    </p:spTree>
    <p:extLst>
      <p:ext uri="{BB962C8B-B14F-4D97-AF65-F5344CB8AC3E}">
        <p14:creationId xmlns:p14="http://schemas.microsoft.com/office/powerpoint/2010/main" val="1429572989"/>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EB819A9-F5D8-475C-A28F-957348D6915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C6F52D9-BEBC-49DD-9C2A-F1E4F7F99EF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112EC18-40D8-44D7-8D04-39B0DE9D557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Summaries for separate groups</a:t>
            </a:r>
          </a:p>
        </p:txBody>
      </p:sp>
      <p:sp>
        <p:nvSpPr>
          <p:cNvPr id="4" name="">
            <a:extLst xmlns:a="http://schemas.openxmlformats.org/drawingml/2006/main">
              <a:ext uri="{FF2B5EF4-FFF2-40B4-BE49-F238E27FC236}">
                <a16:creationId xmlns:a16="http://schemas.microsoft.com/office/drawing/2014/main" id="{665F08B3-BF7E-4909-BCCB-3967B978045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DC98FFF-F098-43B2-B64C-79DE9DB1EDF3}"/>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dictionary can hold one running total for each group.</a:t>
            </a:r>
          </a:p>
        </p:txBody>
      </p:sp>
      <p:sp>
        <p:nvSpPr>
          <p:cNvPr id="6" name="">
            <a:extLst xmlns:a="http://schemas.openxmlformats.org/drawingml/2006/main">
              <a:ext uri="{FF2B5EF4-FFF2-40B4-BE49-F238E27FC236}">
                <a16:creationId xmlns:a16="http://schemas.microsoft.com/office/drawing/2014/main" id="{7416232A-0A8F-49AD-9DB6-E52A6EBCD20D}"/>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B63CE8C-5173-46C2-B0A0-931E2945CF57}"/>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absent key needs an initial zero.</a:t>
            </a:r>
          </a:p>
        </p:txBody>
      </p:sp>
      <p:sp>
        <p:nvSpPr>
          <p:cNvPr id="8" name="">
            <a:extLst xmlns:a="http://schemas.openxmlformats.org/drawingml/2006/main">
              <a:ext uri="{FF2B5EF4-FFF2-40B4-BE49-F238E27FC236}">
                <a16:creationId xmlns:a16="http://schemas.microsoft.com/office/drawing/2014/main" id="{6E22A737-73FD-4998-B040-1E64D4C281EF}"/>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1D5DFDD-8AD3-4E0B-90D0-DF1F8FAA524E}"/>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Then add the reading to that group.</a:t>
            </a:r>
          </a:p>
        </p:txBody>
      </p:sp>
      <p:sp>
        <p:nvSpPr>
          <p:cNvPr id="10" name="">
            <a:extLst xmlns:a="http://schemas.openxmlformats.org/drawingml/2006/main">
              <a:ext uri="{FF2B5EF4-FFF2-40B4-BE49-F238E27FC236}">
                <a16:creationId xmlns:a16="http://schemas.microsoft.com/office/drawing/2014/main" id="{7856C9BE-44CE-4C62-A624-1B857C97F817}"/>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D8230779-6CF7-4B4D-9FDB-79F29EC8C66B}"/>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To calculate group means, keep a matching count and divide each group total by its own count.</a:t>
            </a:r>
          </a:p>
        </p:txBody>
      </p:sp>
      <p:sp>
        <p:nvSpPr>
          <p:cNvPr id="12" name="">
            <a:extLst xmlns:a="http://schemas.openxmlformats.org/drawingml/2006/main">
              <a:ext uri="{FF2B5EF4-FFF2-40B4-BE49-F238E27FC236}">
                <a16:creationId xmlns:a16="http://schemas.microsoft.com/office/drawing/2014/main" id="{9B63B24A-85B4-4BF7-B300-3A78DEEE6FC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41</a:t>
            </a:r>
          </a:p>
        </p:txBody>
      </p:sp>
    </p:spTree>
    <p:extLst>
      <p:ext uri="{BB962C8B-B14F-4D97-AF65-F5344CB8AC3E}">
        <p14:creationId xmlns:p14="http://schemas.microsoft.com/office/powerpoint/2010/main" val="1398654554"/>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1012839-6625-44C9-BFD5-043EB0B1229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4367735-77A6-4AE2-B710-0630AA3EEE4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4B7F0AC-8215-493D-9F71-B304067FEEF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Summaries for separate groups in Python (1/2)</a:t>
            </a:r>
          </a:p>
        </p:txBody>
      </p:sp>
      <p:sp>
        <p:nvSpPr>
          <p:cNvPr id="4" name="">
            <a:extLst xmlns:a="http://schemas.openxmlformats.org/drawingml/2006/main">
              <a:ext uri="{FF2B5EF4-FFF2-40B4-BE49-F238E27FC236}">
                <a16:creationId xmlns:a16="http://schemas.microsoft.com/office/drawing/2014/main" id="{531B92C6-67BE-43A9-86D9-CB1191FC3336}"/>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BAD32E2-0A19-4C47-99EA-561F8B8EC265}"/>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records = [{"group": "A", "reading":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{"group": "A", "reading":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{"group": "B", "reading": 9}]</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totals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row in records: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group = row["group"]</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group not in totals: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totals[group] = 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totals[group] = totals[group] + row["reading"]</a:t>
            </a:r>
          </a:p>
        </p:txBody>
      </p:sp>
      <p:sp>
        <p:nvSpPr>
          <p:cNvPr id="6" name="">
            <a:extLst xmlns:a="http://schemas.openxmlformats.org/drawingml/2006/main">
              <a:ext uri="{FF2B5EF4-FFF2-40B4-BE49-F238E27FC236}">
                <a16:creationId xmlns:a16="http://schemas.microsoft.com/office/drawing/2014/main" id="{B77D133C-F1D9-44F6-89DB-D1ECB7A80BE2}"/>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for takes the next item. The indented block repeats.</a:t>
            </a:r>
          </a:p>
        </p:txBody>
      </p:sp>
      <p:sp>
        <p:nvSpPr>
          <p:cNvPr id="7" name="">
            <a:extLst xmlns:a="http://schemas.openxmlformats.org/drawingml/2006/main">
              <a:ext uri="{FF2B5EF4-FFF2-40B4-BE49-F238E27FC236}">
                <a16:creationId xmlns:a16="http://schemas.microsoft.com/office/drawing/2014/main" id="{F4F0CE4F-F482-4116-BC39-8C86CAB4AEE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43572DCF-5F8E-41C8-B20F-C3DA8E46EC9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42</a:t>
            </a:r>
          </a:p>
        </p:txBody>
      </p:sp>
    </p:spTree>
    <p:extLst>
      <p:ext uri="{BB962C8B-B14F-4D97-AF65-F5344CB8AC3E}">
        <p14:creationId xmlns:p14="http://schemas.microsoft.com/office/powerpoint/2010/main" val="643696960"/>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EE2F286-669A-428D-8211-EF05A39E2EA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C314700-BF2F-44FC-8C20-4FF7FE8BDA8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3731EC2-6ED2-4E0B-93D7-441FEBE54AF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Summaries for separate groups in Python (2/2)</a:t>
            </a:r>
          </a:p>
        </p:txBody>
      </p:sp>
      <p:sp>
        <p:nvSpPr>
          <p:cNvPr id="4" name="">
            <a:extLst xmlns:a="http://schemas.openxmlformats.org/drawingml/2006/main">
              <a:ext uri="{FF2B5EF4-FFF2-40B4-BE49-F238E27FC236}">
                <a16:creationId xmlns:a16="http://schemas.microsoft.com/office/drawing/2014/main" id="{CC3EA94C-53D3-49C1-A65B-2046E584B7DB}"/>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E191C8F-4D30-4D9A-BB84-F0349D743F15}"/>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print(totals)</a:t>
            </a:r>
          </a:p>
        </p:txBody>
      </p:sp>
      <p:sp>
        <p:nvSpPr>
          <p:cNvPr id="6" name="">
            <a:extLst xmlns:a="http://schemas.openxmlformats.org/drawingml/2006/main">
              <a:ext uri="{FF2B5EF4-FFF2-40B4-BE49-F238E27FC236}">
                <a16:creationId xmlns:a16="http://schemas.microsoft.com/office/drawing/2014/main" id="{DFEE8F65-D806-4B06-8BD9-5FE835559D06}"/>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49A0EEBB-5E33-45DD-ABEE-E177A85F36A2}"/>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71EDEA08-85B9-481D-B284-FE0E7BE5510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9" name="">
            <a:extLst xmlns:a="http://schemas.openxmlformats.org/drawingml/2006/main">
              <a:ext uri="{FF2B5EF4-FFF2-40B4-BE49-F238E27FC236}">
                <a16:creationId xmlns:a16="http://schemas.microsoft.com/office/drawing/2014/main" id="{30CD5855-FBFC-475E-BF01-F9B14EE357A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43</a:t>
            </a:r>
          </a:p>
        </p:txBody>
      </p:sp>
    </p:spTree>
    <p:extLst>
      <p:ext uri="{BB962C8B-B14F-4D97-AF65-F5344CB8AC3E}">
        <p14:creationId xmlns:p14="http://schemas.microsoft.com/office/powerpoint/2010/main" val="277998027"/>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BA2493A-8CAD-4520-B56D-13ABAEFCC70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EBD8017-5E57-454E-B295-86D89C7D62D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B0E6569-6B20-4685-927C-04BCD3C1934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group mean needs its own count</a:t>
            </a:r>
          </a:p>
        </p:txBody>
      </p:sp>
      <p:sp>
        <p:nvSpPr>
          <p:cNvPr id="4" name="">
            <a:extLst xmlns:a="http://schemas.openxmlformats.org/drawingml/2006/main">
              <a:ext uri="{FF2B5EF4-FFF2-40B4-BE49-F238E27FC236}">
                <a16:creationId xmlns:a16="http://schemas.microsoft.com/office/drawing/2014/main" id="{2D104ADD-BC44-45A0-AC20-B58B7E2E3F99}"/>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A5FFF4F-6D76-4FA9-BBAB-1B87BCE3B68E}"/>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52C9EFB-48BF-40F9-9A27-F188AD180F66}"/>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preceding loop calculated a total for each group. Count records in those same groups, then divide each group total by its own count.</a:t>
            </a:r>
          </a:p>
        </p:txBody>
      </p:sp>
      <p:sp>
        <p:nvSpPr>
          <p:cNvPr id="7" name="">
            <a:extLst xmlns:a="http://schemas.openxmlformats.org/drawingml/2006/main">
              <a:ext uri="{FF2B5EF4-FFF2-40B4-BE49-F238E27FC236}">
                <a16:creationId xmlns:a16="http://schemas.microsoft.com/office/drawing/2014/main" id="{18B4D1F0-7BD7-45EF-8BD4-9A1A65103AB1}"/>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items() supplies the group name and its total together. We use small invented records, not the assignment’s answers.</a:t>
            </a:r>
          </a:p>
        </p:txBody>
      </p:sp>
      <p:sp>
        <p:nvSpPr>
          <p:cNvPr id="8" name="">
            <a:extLst xmlns:a="http://schemas.openxmlformats.org/drawingml/2006/main">
              <a:ext uri="{FF2B5EF4-FFF2-40B4-BE49-F238E27FC236}">
                <a16:creationId xmlns:a16="http://schemas.microsoft.com/office/drawing/2014/main" id="{E269F8EA-0C36-4526-ABD3-CA8F760418C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44</a:t>
            </a:r>
          </a:p>
        </p:txBody>
      </p:sp>
    </p:spTree>
    <p:extLst>
      <p:ext uri="{BB962C8B-B14F-4D97-AF65-F5344CB8AC3E}">
        <p14:creationId xmlns:p14="http://schemas.microsoft.com/office/powerpoint/2010/main" val="1126580715"/>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638CB66B-6378-4646-8A80-DBBB78DB79D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72CA542-9B67-45CD-B4E3-2FC0AD872DF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FA74360-5179-4565-A429-69FE4D2734D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From group totals to group means</a:t>
            </a:r>
          </a:p>
        </p:txBody>
      </p:sp>
      <p:sp>
        <p:nvSpPr>
          <p:cNvPr id="4" name="">
            <a:extLst xmlns:a="http://schemas.openxmlformats.org/drawingml/2006/main">
              <a:ext uri="{FF2B5EF4-FFF2-40B4-BE49-F238E27FC236}">
                <a16:creationId xmlns:a16="http://schemas.microsoft.com/office/drawing/2014/main" id="{60BD2AE8-FD23-4C56-B383-B7C948B67C1C}"/>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C712889-D96D-4F00-8791-1BB122BCED4B}"/>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counts = {}</a:t>
            </a:r>
          </a:p>
          <a:p xmlns:a="http://schemas.openxmlformats.org/drawingml/2006/main">
            <a:pPr>
              <a:defRPr sz="1900" b="0">
                <a:solidFill>
                  <a:srgbClr val="F4F7FA"/>
                </a:solidFill>
                <a:latin typeface="Courier New"/>
                <a:ea typeface="Courier New"/>
                <a:cs typeface="Courier New"/>
              </a:defRPr>
            </a:pPr>
            <a:r>
              <a:rPr sz="1900" b="0">
                <a:solidFill>
                  <a:srgbClr val="FFB080"/>
                </a:solidFill>
                <a:latin typeface="Courier New"/>
                <a:ea typeface="Courier New"/>
                <a:cs typeface="Courier New"/>
              </a:rPr>
              <a:t>for</a:t>
            </a:r>
            <a:r>
              <a:rPr sz="1900" b="0">
                <a:solidFill>
                  <a:srgbClr val="F4F7FA"/>
                </a:solidFill>
                <a:latin typeface="Courier New"/>
                <a:ea typeface="Courier New"/>
                <a:cs typeface="Courier New"/>
              </a:rPr>
              <a:t> row in records:</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    group = row["group"]</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    counts[group] = counts.get(group, 0) + 1</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means = {}</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for group, total in totals.items():</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    means[group] = total / counts[group]</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print(means)</a:t>
            </a:r>
          </a:p>
        </p:txBody>
      </p:sp>
      <p:sp>
        <p:nvSpPr>
          <p:cNvPr id="6" name="">
            <a:extLst xmlns:a="http://schemas.openxmlformats.org/drawingml/2006/main">
              <a:ext uri="{FF2B5EF4-FFF2-40B4-BE49-F238E27FC236}">
                <a16:creationId xmlns:a16="http://schemas.microsoft.com/office/drawing/2014/main" id="{70B8D5AE-A778-4B7B-8314-A9137F683263}"/>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5F99697B-22A0-459E-824F-9BB776462C92}"/>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0DBE2CCA-C59D-416D-A8F9-FB7EBC10A441}"/>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5065299C-3383-4441-8D0E-2BB902B5CC1D}"/>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10" name="">
            <a:extLst xmlns:a="http://schemas.openxmlformats.org/drawingml/2006/main">
              <a:ext uri="{FF2B5EF4-FFF2-40B4-BE49-F238E27FC236}">
                <a16:creationId xmlns:a16="http://schemas.microsoft.com/office/drawing/2014/main" id="{39075171-427E-46E9-956A-DEC6DAABDE2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A has mean 3.0 and B has mean 9.0. Each group uses its own denominator.</a:t>
            </a:r>
          </a:p>
        </p:txBody>
      </p:sp>
      <p:sp>
        <p:nvSpPr>
          <p:cNvPr id="11" name="">
            <a:extLst xmlns:a="http://schemas.openxmlformats.org/drawingml/2006/main">
              <a:ext uri="{FF2B5EF4-FFF2-40B4-BE49-F238E27FC236}">
                <a16:creationId xmlns:a16="http://schemas.microsoft.com/office/drawing/2014/main" id="{7E68843D-3539-403F-AAEB-0182E05F8E6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45</a:t>
            </a:r>
          </a:p>
        </p:txBody>
      </p:sp>
    </p:spTree>
    <p:extLst>
      <p:ext uri="{BB962C8B-B14F-4D97-AF65-F5344CB8AC3E}">
        <p14:creationId xmlns:p14="http://schemas.microsoft.com/office/powerpoint/2010/main" val="1789318513"/>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716F613-944D-4E90-BC4A-7C1A17BB1A3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CE346E0-5AE6-4042-A3F2-F2814EE965A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9CCA153-F3F7-46BE-BA39-77ADC6DA37F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When numeric text cannot be converted</a:t>
            </a:r>
          </a:p>
        </p:txBody>
      </p:sp>
      <p:sp>
        <p:nvSpPr>
          <p:cNvPr id="4" name="">
            <a:extLst xmlns:a="http://schemas.openxmlformats.org/drawingml/2006/main">
              <a:ext uri="{FF2B5EF4-FFF2-40B4-BE49-F238E27FC236}">
                <a16:creationId xmlns:a16="http://schemas.microsoft.com/office/drawing/2014/main" id="{455394C4-8629-4E53-9074-9B6A6BB5BDF4}"/>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AFDA5CC-266F-4806-8444-16D31630BB43}"/>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8AC0513-FB81-4693-9BB9-DE6BEEAF1171}"/>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float("bad") raises ValueError: the text does not represent a number. An exception interrupts ordinary execution.</a:t>
            </a:r>
          </a:p>
        </p:txBody>
      </p:sp>
      <p:sp>
        <p:nvSpPr>
          <p:cNvPr id="7" name="">
            <a:extLst xmlns:a="http://schemas.openxmlformats.org/drawingml/2006/main">
              <a:ext uri="{FF2B5EF4-FFF2-40B4-BE49-F238E27FC236}">
                <a16:creationId xmlns:a16="http://schemas.microsoft.com/office/drawing/2014/main" id="{A1F0EC9A-3D95-4D40-9699-BABDDBE0687C}"/>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try contains the operation that might fail. except ValueError runs only for that named failure. Indentation shows the two blocks.</a:t>
            </a:r>
          </a:p>
        </p:txBody>
      </p:sp>
      <p:sp>
        <p:nvSpPr>
          <p:cNvPr id="8" name="">
            <a:extLst xmlns:a="http://schemas.openxmlformats.org/drawingml/2006/main">
              <a:ext uri="{FF2B5EF4-FFF2-40B4-BE49-F238E27FC236}">
                <a16:creationId xmlns:a16="http://schemas.microsoft.com/office/drawing/2014/main" id="{488266C8-1BD8-4F7B-930D-5BCC3402833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46</a:t>
            </a:r>
          </a:p>
        </p:txBody>
      </p:sp>
    </p:spTree>
    <p:extLst>
      <p:ext uri="{BB962C8B-B14F-4D97-AF65-F5344CB8AC3E}">
        <p14:creationId xmlns:p14="http://schemas.microsoft.com/office/powerpoint/2010/main" val="1902691504"/>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FAAD2974-30F0-452C-A3F7-20054D738DF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B69D6FC-E700-40D3-8E6C-D54BFD286DE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095CED9-1D80-4F6C-92DE-5DE19E76EE3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Catch one expected conversion failure</a:t>
            </a:r>
          </a:p>
        </p:txBody>
      </p:sp>
      <p:sp>
        <p:nvSpPr>
          <p:cNvPr id="4" name="">
            <a:extLst xmlns:a="http://schemas.openxmlformats.org/drawingml/2006/main">
              <a:ext uri="{FF2B5EF4-FFF2-40B4-BE49-F238E27FC236}">
                <a16:creationId xmlns:a16="http://schemas.microsoft.com/office/drawing/2014/main" id="{1D9D466F-3D28-4014-B3D0-E6001D28C354}"/>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F5AC9F3-AD4D-4957-8C1E-DF27B76C1FB5}"/>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text = "bad"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try:</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reading = float(text)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except ValueError:</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reading = </a:t>
            </a:r>
            <a:r>
              <a:rPr sz="2175" b="0">
                <a:solidFill>
                  <a:srgbClr val="FFB080"/>
                </a:solidFill>
                <a:latin typeface="Courier New"/>
                <a:ea typeface="Courier New"/>
                <a:cs typeface="Courier New"/>
              </a:rPr>
              <a:t>None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a:t>
            </a:r>
          </a:p>
        </p:txBody>
      </p:sp>
      <p:sp>
        <p:nvSpPr>
          <p:cNvPr id="6" name="">
            <a:extLst xmlns:a="http://schemas.openxmlformats.org/drawingml/2006/main">
              <a:ext uri="{FF2B5EF4-FFF2-40B4-BE49-F238E27FC236}">
                <a16:creationId xmlns:a16="http://schemas.microsoft.com/office/drawing/2014/main" id="{467936BC-578F-4A3C-BE00-44775A59A429}"/>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E7442412-EA90-42F8-8716-C7E750B0A90F}"/>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float converts numeric text into a decimal number.</a:t>
            </a:r>
          </a:p>
        </p:txBody>
      </p:sp>
      <p:sp>
        <p:nvSpPr>
          <p:cNvPr id="8" name="">
            <a:extLst xmlns:a="http://schemas.openxmlformats.org/drawingml/2006/main">
              <a:ext uri="{FF2B5EF4-FFF2-40B4-BE49-F238E27FC236}">
                <a16:creationId xmlns:a16="http://schemas.microsoft.com/office/drawing/2014/main" id="{B6C7E6F3-5D48-4495-9792-3446FFCD0B0D}"/>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35D78F81-B7E9-44C0-A2F5-FFA3C851FD28}"/>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E5160E43-456A-4811-8A3D-9D2DCD6B91F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None. The assignment specifies which invalid records to skip; do not invent a replacement number.</a:t>
            </a:r>
          </a:p>
        </p:txBody>
      </p:sp>
      <p:sp>
        <p:nvSpPr>
          <p:cNvPr id="11" name="">
            <a:extLst xmlns:a="http://schemas.openxmlformats.org/drawingml/2006/main">
              <a:ext uri="{FF2B5EF4-FFF2-40B4-BE49-F238E27FC236}">
                <a16:creationId xmlns:a16="http://schemas.microsoft.com/office/drawing/2014/main" id="{BCA5EF91-1FE7-42FD-80A6-C8402430D81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47</a:t>
            </a:r>
          </a:p>
        </p:txBody>
      </p:sp>
    </p:spTree>
    <p:extLst>
      <p:ext uri="{BB962C8B-B14F-4D97-AF65-F5344CB8AC3E}">
        <p14:creationId xmlns:p14="http://schemas.microsoft.com/office/powerpoint/2010/main" val="1842060011"/>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F51E176-8F24-4584-9AF1-8524D6ADBA0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24E9EB6-6802-4E38-8C5A-0FE855651FD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7B66D9C-485B-474A-B545-7D8EC2818B2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17940E32-E19B-4726-BCFF-F82623899E0B}"/>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EEF0697-18E8-420E-8D7F-CBB7EF682A08}"/>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3454C9DA-763B-4090-9141-1F8B5F898609}"/>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Example: Add 8 to the list. Trace the new total and count before running. What happens if total = 0 is moved inside the loop?</a:t>
            </a:r>
          </a:p>
        </p:txBody>
      </p:sp>
      <p:sp>
        <p:nvSpPr>
          <p:cNvPr id="7" name="">
            <a:extLst xmlns:a="http://schemas.openxmlformats.org/drawingml/2006/main">
              <a:ext uri="{FF2B5EF4-FFF2-40B4-BE49-F238E27FC236}">
                <a16:creationId xmlns:a16="http://schemas.microsoft.com/office/drawing/2014/main" id="{601853CF-1FF0-48EC-839F-A12CD7EA8913}"/>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Answer: Total 20, count 4, mean 5.0. Resetting inside the loop discards previous additions and leaves only the last value in total.</a:t>
            </a:r>
          </a:p>
        </p:txBody>
      </p:sp>
      <p:sp>
        <p:nvSpPr>
          <p:cNvPr id="8" name="">
            <a:extLst xmlns:a="http://schemas.openxmlformats.org/drawingml/2006/main">
              <a:ext uri="{FF2B5EF4-FFF2-40B4-BE49-F238E27FC236}">
                <a16:creationId xmlns:a16="http://schemas.microsoft.com/office/drawing/2014/main" id="{FF02CB8B-F212-4028-B13C-C340C706286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48</a:t>
            </a:r>
          </a:p>
        </p:txBody>
      </p:sp>
    </p:spTree>
    <p:extLst>
      <p:ext uri="{BB962C8B-B14F-4D97-AF65-F5344CB8AC3E}">
        <p14:creationId xmlns:p14="http://schemas.microsoft.com/office/powerpoint/2010/main" val="1258063020"/>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70A948E-C191-4650-9ABC-5A8583EC975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6AB00B4-F0BF-48D1-823B-2094FB6966A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D5505391-EF38-420D-BEA7-83A56D27C20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58DD5F7E-65CE-4B67-9026-D640666332E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318DAFD-C023-4893-9702-440D1FA584C6}"/>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the issued W04 notebook and its cohort CSV.</a:t>
            </a:r>
          </a:p>
        </p:txBody>
      </p:sp>
      <p:sp>
        <p:nvSpPr>
          <p:cNvPr id="6" name="">
            <a:extLst xmlns:a="http://schemas.openxmlformats.org/drawingml/2006/main">
              <a:ext uri="{FF2B5EF4-FFF2-40B4-BE49-F238E27FC236}">
                <a16:creationId xmlns:a16="http://schemas.microsoft.com/office/drawing/2014/main" id="{F027E170-0194-48F0-8CBC-39C741F8A293}"/>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3F4515A-C496-4064-9E67-2EE2AC641C25}"/>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Compute the requested valid_count, mean_reading, above_limit and group_means using the exact names in the notebook.</a:t>
            </a:r>
          </a:p>
        </p:txBody>
      </p:sp>
      <p:sp>
        <p:nvSpPr>
          <p:cNvPr id="8" name="">
            <a:extLst xmlns:a="http://schemas.openxmlformats.org/drawingml/2006/main">
              <a:ext uri="{FF2B5EF4-FFF2-40B4-BE49-F238E27FC236}">
                <a16:creationId xmlns:a16="http://schemas.microsoft.com/office/drawing/2014/main" id="{053CE1BE-03C2-47AD-854C-ED0C232FDD96}"/>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FA453F7-DDF4-4110-BB8F-B7705AD8B18C}"/>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First identify the correct field and its unit.</a:t>
            </a:r>
          </a:p>
        </p:txBody>
      </p:sp>
      <p:sp>
        <p:nvSpPr>
          <p:cNvPr id="10" name="">
            <a:extLst xmlns:a="http://schemas.openxmlformats.org/drawingml/2006/main">
              <a:ext uri="{FF2B5EF4-FFF2-40B4-BE49-F238E27FC236}">
                <a16:creationId xmlns:a16="http://schemas.microsoft.com/office/drawing/2014/main" id="{AF930442-DE98-48D9-B5C0-C9A0EE9257BC}"/>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EC50F7D-AFFE-4004-AAD4-048CDD24BE6B}"/>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CSV beside the notebook locally or upload it into the Colab runtime.</a:t>
            </a:r>
          </a:p>
        </p:txBody>
      </p:sp>
      <p:sp>
        <p:nvSpPr>
          <p:cNvPr id="12" name="">
            <a:extLst xmlns:a="http://schemas.openxmlformats.org/drawingml/2006/main">
              <a:ext uri="{FF2B5EF4-FFF2-40B4-BE49-F238E27FC236}">
                <a16:creationId xmlns:a16="http://schemas.microsoft.com/office/drawing/2014/main" id="{4B801E7D-FC81-450D-B685-3DBAED281D5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49</a:t>
            </a:r>
          </a:p>
        </p:txBody>
      </p:sp>
    </p:spTree>
    <p:extLst>
      <p:ext uri="{BB962C8B-B14F-4D97-AF65-F5344CB8AC3E}">
        <p14:creationId xmlns:p14="http://schemas.microsoft.com/office/powerpoint/2010/main" val="253730128"/>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A1BED04-4101-4C2F-BBFE-BFA0C39BA8E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7C6494B-567E-463F-863D-A87F3577C80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90DD6EEA-3D23-4D1D-BB8D-13C90890FCD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 continued</a:t>
            </a:r>
          </a:p>
        </p:txBody>
      </p:sp>
      <p:sp>
        <p:nvSpPr>
          <p:cNvPr id="4" name="">
            <a:extLst xmlns:a="http://schemas.openxmlformats.org/drawingml/2006/main">
              <a:ext uri="{FF2B5EF4-FFF2-40B4-BE49-F238E27FC236}">
                <a16:creationId xmlns:a16="http://schemas.microsoft.com/office/drawing/2014/main" id="{B4AD2AEE-7836-4340-8E7E-B538B7DA08A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2175547-9450-469D-A21B-B1F8DBE47825}"/>
              </a:ext>
            </a:extLst>
          </p:cNvPr>
          <p:cNvSpPr>
            <a:spLocks xmlns:a="http://schemas.openxmlformats.org/drawingml/2006/main" noGrp="1"/>
          </p:cNvSpPr>
          <p:nvPr/>
        </p:nvSpPr>
        <p:spPr>
          <a:xfrm xmlns:a="http://schemas.openxmlformats.org/drawingml/2006/main">
            <a:off x="1381125" y="1781175"/>
            <a:ext cx="10096500" cy="420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written interpretation is practice.</a:t>
            </a:r>
          </a:p>
        </p:txBody>
      </p:sp>
      <p:sp>
        <p:nvSpPr>
          <p:cNvPr id="6" name="">
            <a:extLst xmlns:a="http://schemas.openxmlformats.org/drawingml/2006/main">
              <a:ext uri="{FF2B5EF4-FFF2-40B4-BE49-F238E27FC236}">
                <a16:creationId xmlns:a16="http://schemas.microsoft.com/office/drawing/2014/main" id="{8FE2B510-7A60-4E83-85A0-9A16AAB432C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50</a:t>
            </a:r>
          </a:p>
        </p:txBody>
      </p:sp>
    </p:spTree>
    <p:extLst>
      <p:ext uri="{BB962C8B-B14F-4D97-AF65-F5344CB8AC3E}">
        <p14:creationId xmlns:p14="http://schemas.microsoft.com/office/powerpoint/2010/main" val="1343229739"/>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98A71F3-722B-4AB8-A236-25BB2201F71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BEF43A6-5208-4ED9-8C39-824FEB0651C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7409818-BC12-4CD9-8D00-1F0A424D559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Counting every record honestly</a:t>
            </a:r>
          </a:p>
        </p:txBody>
      </p:sp>
      <p:sp>
        <p:nvSpPr>
          <p:cNvPr id="4" name="">
            <a:extLst xmlns:a="http://schemas.openxmlformats.org/drawingml/2006/main">
              <a:ext uri="{FF2B5EF4-FFF2-40B4-BE49-F238E27FC236}">
                <a16:creationId xmlns:a16="http://schemas.microsoft.com/office/drawing/2014/main" id="{E96FC282-48A4-46F2-9597-35365C58D85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DE16596-B587-4915-A98F-93DB5957FF5C}"/>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DictReader already consumes the header; skipping its first yielded row skips real data.</a:t>
            </a:r>
          </a:p>
        </p:txBody>
      </p:sp>
      <p:sp>
        <p:nvSpPr>
          <p:cNvPr id="6" name="">
            <a:extLst xmlns:a="http://schemas.openxmlformats.org/drawingml/2006/main">
              <a:ext uri="{FF2B5EF4-FFF2-40B4-BE49-F238E27FC236}">
                <a16:creationId xmlns:a16="http://schemas.microsoft.com/office/drawing/2014/main" id="{DEDA1772-A02B-410F-A8E2-0736F236382A}"/>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5DD4A0A-5E94-4949-B3F0-93769B24889D}"/>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string such as "unknown" cannot be converted to float.</a:t>
            </a:r>
          </a:p>
        </p:txBody>
      </p:sp>
      <p:sp>
        <p:nvSpPr>
          <p:cNvPr id="8" name="">
            <a:extLst xmlns:a="http://schemas.openxmlformats.org/drawingml/2006/main">
              <a:ext uri="{FF2B5EF4-FFF2-40B4-BE49-F238E27FC236}">
                <a16:creationId xmlns:a16="http://schemas.microsoft.com/office/drawing/2014/main" id="{8F58EC47-746B-46B8-8047-002087BB1A0C}"/>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39069AE-4A6C-4421-BF06-C4740942F5EC}"/>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Catch the expected conversion error, count and record it, then continue under a stated policy.</a:t>
            </a:r>
          </a:p>
        </p:txBody>
      </p:sp>
      <p:sp>
        <p:nvSpPr>
          <p:cNvPr id="10" name="">
            <a:extLst xmlns:a="http://schemas.openxmlformats.org/drawingml/2006/main">
              <a:ext uri="{FF2B5EF4-FFF2-40B4-BE49-F238E27FC236}">
                <a16:creationId xmlns:a16="http://schemas.microsoft.com/office/drawing/2014/main" id="{3AFA6923-278E-4C98-94C6-EF52B8CF03C9}"/>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8DF30D77-CEEC-4BC3-8F82-6526205ED181}"/>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Inspect whether skipped rows share a source before reporting a mean.</a:t>
            </a:r>
          </a:p>
        </p:txBody>
      </p:sp>
      <p:sp>
        <p:nvSpPr>
          <p:cNvPr id="12" name="">
            <a:extLst xmlns:a="http://schemas.openxmlformats.org/drawingml/2006/main">
              <a:ext uri="{FF2B5EF4-FFF2-40B4-BE49-F238E27FC236}">
                <a16:creationId xmlns:a16="http://schemas.microsoft.com/office/drawing/2014/main" id="{B57084A8-D747-49CD-8AA3-A01F52ECFAA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51</a:t>
            </a:r>
          </a:p>
        </p:txBody>
      </p:sp>
    </p:spTree>
    <p:extLst>
      <p:ext uri="{BB962C8B-B14F-4D97-AF65-F5344CB8AC3E}">
        <p14:creationId xmlns:p14="http://schemas.microsoft.com/office/powerpoint/2010/main" val="175612586"/>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F5B2D37-849A-4B63-B7A7-D5AF29F25FB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27CE047-4CD9-4FD8-859F-953E8D1D9E2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5254609-3BA0-4D03-B2FB-03F1E87D7DE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Counting every record honestly continued</a:t>
            </a:r>
          </a:p>
        </p:txBody>
      </p:sp>
      <p:sp>
        <p:nvSpPr>
          <p:cNvPr id="4" name="">
            <a:extLst xmlns:a="http://schemas.openxmlformats.org/drawingml/2006/main">
              <a:ext uri="{FF2B5EF4-FFF2-40B4-BE49-F238E27FC236}">
                <a16:creationId xmlns:a16="http://schemas.microsoft.com/office/drawing/2014/main" id="{61207E1E-005F-4898-85CB-DFA5B5AC85F2}"/>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847D02A-6E62-497F-B331-EF0BF38570A6}"/>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A sample summary describes observed records, not every possible operating condition.</a:t>
            </a:r>
          </a:p>
        </p:txBody>
      </p:sp>
      <p:sp>
        <p:nvSpPr>
          <p:cNvPr id="6" name="">
            <a:extLst xmlns:a="http://schemas.openxmlformats.org/drawingml/2006/main">
              <a:ext uri="{FF2B5EF4-FFF2-40B4-BE49-F238E27FC236}">
                <a16:creationId xmlns:a16="http://schemas.microsoft.com/office/drawing/2014/main" id="{13F269FD-634A-41C0-9011-0080A219767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52</a:t>
            </a:r>
          </a:p>
        </p:txBody>
      </p:sp>
    </p:spTree>
    <p:extLst>
      <p:ext uri="{BB962C8B-B14F-4D97-AF65-F5344CB8AC3E}">
        <p14:creationId xmlns:p14="http://schemas.microsoft.com/office/powerpoint/2010/main" val="309736335"/>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C86B963-22B6-476D-B714-302926303AD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8A13236-4FFA-4201-A324-5D2E359226F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F028F39-76FB-4F24-BC97-3C3BE9C8E03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assignment</a:t>
            </a:r>
          </a:p>
        </p:txBody>
      </p:sp>
      <p:sp>
        <p:nvSpPr>
          <p:cNvPr id="4" name="">
            <a:extLst xmlns:a="http://schemas.openxmlformats.org/drawingml/2006/main">
              <a:ext uri="{FF2B5EF4-FFF2-40B4-BE49-F238E27FC236}">
                <a16:creationId xmlns:a16="http://schemas.microsoft.com/office/drawing/2014/main" id="{9A6C9364-4D03-48CF-A483-2F6B5514BF4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07579A1-3C9A-46F7-916E-370BD03E376D}"/>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W04_student.ipynb.</a:t>
            </a:r>
          </a:p>
        </p:txBody>
      </p:sp>
      <p:sp>
        <p:nvSpPr>
          <p:cNvPr id="6" name="">
            <a:extLst xmlns:a="http://schemas.openxmlformats.org/drawingml/2006/main">
              <a:ext uri="{FF2B5EF4-FFF2-40B4-BE49-F238E27FC236}">
                <a16:creationId xmlns:a16="http://schemas.microsoft.com/office/drawing/2014/main" id="{AEDACE46-D2FB-4A6B-828B-9D13651EE1BD}"/>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1E34E3B-82B5-4C10-ACCE-5E8F7BAA34C4}"/>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every task and its input units before coding.</a:t>
            </a:r>
          </a:p>
        </p:txBody>
      </p:sp>
      <p:sp>
        <p:nvSpPr>
          <p:cNvPr id="8" name="">
            <a:extLst xmlns:a="http://schemas.openxmlformats.org/drawingml/2006/main">
              <a:ext uri="{FF2B5EF4-FFF2-40B4-BE49-F238E27FC236}">
                <a16:creationId xmlns:a16="http://schemas.microsoft.com/office/drawing/2014/main" id="{5FFB9868-5A2A-40FE-850D-2DC3221726E4}"/>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5B61A38-C6E7-4A1F-9C2B-36BE1ED0477F}"/>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required function names and returned outputs.</a:t>
            </a:r>
          </a:p>
        </p:txBody>
      </p:sp>
      <p:sp>
        <p:nvSpPr>
          <p:cNvPr id="10" name="">
            <a:extLst xmlns:a="http://schemas.openxmlformats.org/drawingml/2006/main">
              <a:ext uri="{FF2B5EF4-FFF2-40B4-BE49-F238E27FC236}">
                <a16:creationId xmlns:a16="http://schemas.microsoft.com/office/drawing/2014/main" id="{69899A4B-9C16-435E-9E2A-20BB81984F97}"/>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831BB9D-7D97-4635-A00B-73AA6DC0CC63}"/>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Run the supplied visible checks, then restart and run all.</a:t>
            </a:r>
          </a:p>
        </p:txBody>
      </p:sp>
      <p:sp>
        <p:nvSpPr>
          <p:cNvPr id="12" name="">
            <a:extLst xmlns:a="http://schemas.openxmlformats.org/drawingml/2006/main">
              <a:ext uri="{FF2B5EF4-FFF2-40B4-BE49-F238E27FC236}">
                <a16:creationId xmlns:a16="http://schemas.microsoft.com/office/drawing/2014/main" id="{10BD0262-BC5B-4C52-B357-A108E48DDF9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53</a:t>
            </a:r>
          </a:p>
        </p:txBody>
      </p:sp>
    </p:spTree>
    <p:extLst>
      <p:ext uri="{BB962C8B-B14F-4D97-AF65-F5344CB8AC3E}">
        <p14:creationId xmlns:p14="http://schemas.microsoft.com/office/powerpoint/2010/main" val="1597012109"/>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591AD88-A09C-4DB8-B9A1-39FE4CF6E40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331D613-B4F8-473B-9DE8-84F3722B988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A5D7285-0E40-49AA-AB5B-A083B2FAC45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valid_count (5 marks)</a:t>
            </a:r>
          </a:p>
        </p:txBody>
      </p:sp>
      <p:sp>
        <p:nvSpPr>
          <p:cNvPr id="4" name="">
            <a:extLst xmlns:a="http://schemas.openxmlformats.org/drawingml/2006/main">
              <a:ext uri="{FF2B5EF4-FFF2-40B4-BE49-F238E27FC236}">
                <a16:creationId xmlns:a16="http://schemas.microsoft.com/office/drawing/2014/main" id="{226A4520-21A6-41BD-8D7E-00355FEC0BCC}"/>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05CD40F-2FD8-4C35-8E3F-A10ACC16637E}"/>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C42379E-3093-4851-8699-AA5D4D775E53}"/>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Store an integer count of rows whose rate_of_penetration field is nonblank.</a:t>
            </a:r>
          </a:p>
        </p:txBody>
      </p:sp>
      <p:sp>
        <p:nvSpPr>
          <p:cNvPr id="7" name="">
            <a:extLst xmlns:a="http://schemas.openxmlformats.org/drawingml/2006/main">
              <a:ext uri="{FF2B5EF4-FFF2-40B4-BE49-F238E27FC236}">
                <a16:creationId xmlns:a16="http://schemas.microsoft.com/office/drawing/2014/main" id="{5B1FD8CC-93D0-41D5-9086-E4890DB1B227}"/>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Skip blank readings before numeric conversion.</a:t>
            </a:r>
          </a:p>
        </p:txBody>
      </p:sp>
      <p:sp>
        <p:nvSpPr>
          <p:cNvPr id="8" name="">
            <a:extLst xmlns:a="http://schemas.openxmlformats.org/drawingml/2006/main">
              <a:ext uri="{FF2B5EF4-FFF2-40B4-BE49-F238E27FC236}">
                <a16:creationId xmlns:a16="http://schemas.microsoft.com/office/drawing/2014/main" id="{3284E6F0-46A2-425F-9DA8-EDD7A72115D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54</a:t>
            </a:r>
          </a:p>
        </p:txBody>
      </p:sp>
    </p:spTree>
    <p:extLst>
      <p:ext uri="{BB962C8B-B14F-4D97-AF65-F5344CB8AC3E}">
        <p14:creationId xmlns:p14="http://schemas.microsoft.com/office/powerpoint/2010/main" val="267665029"/>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C018A5A-1CAC-4413-8D6B-FE03246E762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669EFA5-28FB-4A32-B6A2-B6CBE752C34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7F7108C-1D23-4D5C-B3EA-C81BCB198FB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mean_reading (5 marks)</a:t>
            </a:r>
          </a:p>
        </p:txBody>
      </p:sp>
      <p:sp>
        <p:nvSpPr>
          <p:cNvPr id="4" name="">
            <a:extLst xmlns:a="http://schemas.openxmlformats.org/drawingml/2006/main">
              <a:ext uri="{FF2B5EF4-FFF2-40B4-BE49-F238E27FC236}">
                <a16:creationId xmlns:a16="http://schemas.microsoft.com/office/drawing/2014/main" id="{A88AE4F1-FA96-4936-84B3-83FB9101096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0C057AE-EA38-40CD-85A4-12C0F95A098A}"/>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Store the arithmetic mean of the nonblank rate_of_penetration values as a number.</a:t>
            </a:r>
          </a:p>
        </p:txBody>
      </p:sp>
      <p:sp>
        <p:nvSpPr>
          <p:cNvPr id="6" name="">
            <a:extLst xmlns:a="http://schemas.openxmlformats.org/drawingml/2006/main">
              <a:ext uri="{FF2B5EF4-FFF2-40B4-BE49-F238E27FC236}">
                <a16:creationId xmlns:a16="http://schemas.microsoft.com/office/drawing/2014/main" id="{714AB483-AF7C-4A73-998A-CB9CA7E370F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9F09D44-E366-4B21-A6D5-1C6B14789025}"/>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Add the valid readings and divide by their count.</a:t>
            </a:r>
          </a:p>
        </p:txBody>
      </p:sp>
      <p:sp>
        <p:nvSpPr>
          <p:cNvPr id="8" name="">
            <a:extLst xmlns:a="http://schemas.openxmlformats.org/drawingml/2006/main">
              <a:ext uri="{FF2B5EF4-FFF2-40B4-BE49-F238E27FC236}">
                <a16:creationId xmlns:a16="http://schemas.microsoft.com/office/drawing/2014/main" id="{FA4257F8-D58C-4028-8B5F-22823008967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B35FFB9-536A-4E0B-B85B-43AFAC034CC2}"/>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full precision.</a:t>
            </a:r>
          </a:p>
        </p:txBody>
      </p:sp>
      <p:sp>
        <p:nvSpPr>
          <p:cNvPr id="10" name="">
            <a:extLst xmlns:a="http://schemas.openxmlformats.org/drawingml/2006/main">
              <a:ext uri="{FF2B5EF4-FFF2-40B4-BE49-F238E27FC236}">
                <a16:creationId xmlns:a16="http://schemas.microsoft.com/office/drawing/2014/main" id="{6928FD94-B321-4B89-A6A4-88FFB335F65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55</a:t>
            </a:r>
          </a:p>
        </p:txBody>
      </p:sp>
    </p:spTree>
    <p:extLst>
      <p:ext uri="{BB962C8B-B14F-4D97-AF65-F5344CB8AC3E}">
        <p14:creationId xmlns:p14="http://schemas.microsoft.com/office/powerpoint/2010/main" val="465618325"/>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1E0D7E4-B401-4E99-8B85-9D3B7088563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461C2DD-7207-46DF-B943-0A5946855AD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C5A7735-FB11-4236-B908-14F7D628CD9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above_limit (5 marks)</a:t>
            </a:r>
          </a:p>
        </p:txBody>
      </p:sp>
      <p:sp>
        <p:nvSpPr>
          <p:cNvPr id="4" name="">
            <a:extLst xmlns:a="http://schemas.openxmlformats.org/drawingml/2006/main">
              <a:ext uri="{FF2B5EF4-FFF2-40B4-BE49-F238E27FC236}">
                <a16:creationId xmlns:a16="http://schemas.microsoft.com/office/drawing/2014/main" id="{85DAD854-BE8A-46F8-A421-78955B036DC0}"/>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EAD5BFF-5F89-45E6-87B3-E0BDBFAD436D}"/>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028AF4EB-0B70-4823-8F1E-421EEBA5ABC4}"/>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Store an integer count of valid rate_of_penetration readings strictly greater than 8.0.</a:t>
            </a:r>
          </a:p>
        </p:txBody>
      </p:sp>
      <p:sp>
        <p:nvSpPr>
          <p:cNvPr id="7" name="">
            <a:extLst xmlns:a="http://schemas.openxmlformats.org/drawingml/2006/main">
              <a:ext uri="{FF2B5EF4-FFF2-40B4-BE49-F238E27FC236}">
                <a16:creationId xmlns:a16="http://schemas.microsoft.com/office/drawing/2014/main" id="{E5F80703-2081-4236-9F08-6CFF12224FCC}"/>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reading equal to the threshold is not counted.</a:t>
            </a:r>
          </a:p>
        </p:txBody>
      </p:sp>
      <p:sp>
        <p:nvSpPr>
          <p:cNvPr id="8" name="">
            <a:extLst xmlns:a="http://schemas.openxmlformats.org/drawingml/2006/main">
              <a:ext uri="{FF2B5EF4-FFF2-40B4-BE49-F238E27FC236}">
                <a16:creationId xmlns:a16="http://schemas.microsoft.com/office/drawing/2014/main" id="{2DCD1567-026F-4B9F-A497-B14A6110F82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56</a:t>
            </a:r>
          </a:p>
        </p:txBody>
      </p:sp>
    </p:spTree>
    <p:extLst>
      <p:ext uri="{BB962C8B-B14F-4D97-AF65-F5344CB8AC3E}">
        <p14:creationId xmlns:p14="http://schemas.microsoft.com/office/powerpoint/2010/main" val="1602441878"/>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F88AB62-093E-4D4D-9BD6-00F9CA707CC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624E0B1-5B3B-429B-8C39-515EEF239BC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D09714C-0F69-4068-8C44-F463AD5D467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group_means (5 marks)</a:t>
            </a:r>
          </a:p>
        </p:txBody>
      </p:sp>
      <p:sp>
        <p:nvSpPr>
          <p:cNvPr id="4" name="">
            <a:extLst xmlns:a="http://schemas.openxmlformats.org/drawingml/2006/main">
              <a:ext uri="{FF2B5EF4-FFF2-40B4-BE49-F238E27FC236}">
                <a16:creationId xmlns:a16="http://schemas.microsoft.com/office/drawing/2014/main" id="{7A71EE1C-8B6D-4F30-A3E2-A5F01F8E627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1E63C71-3577-407F-AACD-C7009AF079A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Store a dictionary whose keys are the bit_type labels and whose values are the mean valid rate_of_penetration readings within each group.</a:t>
            </a:r>
          </a:p>
        </p:txBody>
      </p:sp>
      <p:sp>
        <p:nvSpPr>
          <p:cNvPr id="6" name="">
            <a:extLst xmlns:a="http://schemas.openxmlformats.org/drawingml/2006/main">
              <a:ext uri="{FF2B5EF4-FFF2-40B4-BE49-F238E27FC236}">
                <a16:creationId xmlns:a16="http://schemas.microsoft.com/office/drawing/2014/main" id="{1AF4BDAD-D703-410B-AC63-3E895C37EBC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38562EB-F94E-46D9-9AF1-F84CE9CD1C15}"/>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Divide each group total by its own valid count.</a:t>
            </a:r>
          </a:p>
        </p:txBody>
      </p:sp>
      <p:sp>
        <p:nvSpPr>
          <p:cNvPr id="8" name="">
            <a:extLst xmlns:a="http://schemas.openxmlformats.org/drawingml/2006/main">
              <a:ext uri="{FF2B5EF4-FFF2-40B4-BE49-F238E27FC236}">
                <a16:creationId xmlns:a16="http://schemas.microsoft.com/office/drawing/2014/main" id="{EDF39400-4A9F-4A85-971A-1259B4A00B9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65E8FFE-F70A-4A5A-930E-2217564B80C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full precision.</a:t>
            </a:r>
          </a:p>
        </p:txBody>
      </p:sp>
      <p:sp>
        <p:nvSpPr>
          <p:cNvPr id="10" name="">
            <a:extLst xmlns:a="http://schemas.openxmlformats.org/drawingml/2006/main">
              <a:ext uri="{FF2B5EF4-FFF2-40B4-BE49-F238E27FC236}">
                <a16:creationId xmlns:a16="http://schemas.microsoft.com/office/drawing/2014/main" id="{618E710B-BAF7-46AA-B40D-AEC16C80755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57</a:t>
            </a:r>
          </a:p>
        </p:txBody>
      </p:sp>
    </p:spTree>
    <p:extLst>
      <p:ext uri="{BB962C8B-B14F-4D97-AF65-F5344CB8AC3E}">
        <p14:creationId xmlns:p14="http://schemas.microsoft.com/office/powerpoint/2010/main" val="792173270"/>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85F7766-789F-4408-AFC2-71FAB82B251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3083C02-94DA-4A90-B0ED-F2DA1E10AB3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96D751D-9B4E-4DE8-8DE3-B7E650C2AD4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4 rules</a:t>
            </a:r>
          </a:p>
        </p:txBody>
      </p:sp>
      <p:sp>
        <p:nvSpPr>
          <p:cNvPr id="4" name="">
            <a:extLst xmlns:a="http://schemas.openxmlformats.org/drawingml/2006/main">
              <a:ext uri="{FF2B5EF4-FFF2-40B4-BE49-F238E27FC236}">
                <a16:creationId xmlns:a16="http://schemas.microsoft.com/office/drawing/2014/main" id="{F5EF08DA-E83F-4E59-B1FB-E30DCC2B59E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E165DC2-4715-4B6E-8ABB-B4B72C8D4C2F}"/>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Fictional teaching data.</a:t>
            </a:r>
          </a:p>
        </p:txBody>
      </p:sp>
      <p:sp>
        <p:nvSpPr>
          <p:cNvPr id="6" name="">
            <a:extLst xmlns:a="http://schemas.openxmlformats.org/drawingml/2006/main">
              <a:ext uri="{FF2B5EF4-FFF2-40B4-BE49-F238E27FC236}">
                <a16:creationId xmlns:a16="http://schemas.microsoft.com/office/drawing/2014/main" id="{0B9CFDEA-4037-43F7-A797-14BE44A8B1D8}"/>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7AAEE0A-F762-4024-B485-CA57A47A072F}"/>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300 records.</a:t>
            </a:r>
          </a:p>
        </p:txBody>
      </p:sp>
      <p:sp>
        <p:nvSpPr>
          <p:cNvPr id="8" name="">
            <a:extLst xmlns:a="http://schemas.openxmlformats.org/drawingml/2006/main">
              <a:ext uri="{FF2B5EF4-FFF2-40B4-BE49-F238E27FC236}">
                <a16:creationId xmlns:a16="http://schemas.microsoft.com/office/drawing/2014/main" id="{A540B5B9-CAA3-48CC-988C-8DC743D93DB5}"/>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9590596-D35D-4BC1-81C5-E4A4977CF272}"/>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Three blank rate_of_penetration values must be skipped in numerical summaries.</a:t>
            </a:r>
          </a:p>
        </p:txBody>
      </p:sp>
      <p:sp>
        <p:nvSpPr>
          <p:cNvPr id="10" name="">
            <a:extLst xmlns:a="http://schemas.openxmlformats.org/drawingml/2006/main">
              <a:ext uri="{FF2B5EF4-FFF2-40B4-BE49-F238E27FC236}">
                <a16:creationId xmlns:a16="http://schemas.microsoft.com/office/drawing/2014/main" id="{2DC55E64-CF23-4FDE-98D1-0E786E24DD5B}"/>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D9FA4BE-7FF8-4904-B0D1-966649D8206E}"/>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Threshold 8.0 is a teaching assumption.</a:t>
            </a:r>
          </a:p>
        </p:txBody>
      </p:sp>
      <p:sp>
        <p:nvSpPr>
          <p:cNvPr id="12" name="">
            <a:extLst xmlns:a="http://schemas.openxmlformats.org/drawingml/2006/main">
              <a:ext uri="{FF2B5EF4-FFF2-40B4-BE49-F238E27FC236}">
                <a16:creationId xmlns:a16="http://schemas.microsoft.com/office/drawing/2014/main" id="{6C5D782E-2144-4B36-BAC7-03C21498188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58</a:t>
            </a:r>
          </a:p>
        </p:txBody>
      </p:sp>
    </p:spTree>
    <p:extLst>
      <p:ext uri="{BB962C8B-B14F-4D97-AF65-F5344CB8AC3E}">
        <p14:creationId xmlns:p14="http://schemas.microsoft.com/office/powerpoint/2010/main" val="1862454078"/>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074A762-673F-4082-9BA5-142B9421F4F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6EA6EBF-3401-41E8-B187-94EE94343FC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548F69B-3902-4B1F-A705-0973203A209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4 rules continued</a:t>
            </a:r>
          </a:p>
        </p:txBody>
      </p:sp>
      <p:sp>
        <p:nvSpPr>
          <p:cNvPr id="4" name="">
            <a:extLst xmlns:a="http://schemas.openxmlformats.org/drawingml/2006/main">
              <a:ext uri="{FF2B5EF4-FFF2-40B4-BE49-F238E27FC236}">
                <a16:creationId xmlns:a16="http://schemas.microsoft.com/office/drawing/2014/main" id="{5B82CC5B-5750-498D-8CE5-069D821AF0E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1195625-1901-411C-BC20-AD77D7DE0528}"/>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Compute valid_count, mean_reading, above_limit (strictly greater than 8.0) and group_means keyed by bit_type.</a:t>
            </a:r>
          </a:p>
        </p:txBody>
      </p:sp>
      <p:sp>
        <p:nvSpPr>
          <p:cNvPr id="6" name="">
            <a:extLst xmlns:a="http://schemas.openxmlformats.org/drawingml/2006/main">
              <a:ext uri="{FF2B5EF4-FFF2-40B4-BE49-F238E27FC236}">
                <a16:creationId xmlns:a16="http://schemas.microsoft.com/office/drawing/2014/main" id="{271C6C6F-B046-4E46-AC97-DC37BA0AF2B4}"/>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88D22C4-9287-4AFD-BAB6-E1A8CED582F3}"/>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standard-library csv and collections.</a:t>
            </a:r>
          </a:p>
        </p:txBody>
      </p:sp>
      <p:sp>
        <p:nvSpPr>
          <p:cNvPr id="8" name="">
            <a:extLst xmlns:a="http://schemas.openxmlformats.org/drawingml/2006/main">
              <a:ext uri="{FF2B5EF4-FFF2-40B4-BE49-F238E27FC236}">
                <a16:creationId xmlns:a16="http://schemas.microsoft.com/office/drawing/2014/main" id="{1FA7EB99-1E3F-4E89-9D90-12D5540600A8}"/>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D033AAE-5042-413C-8821-A4B66073AC59}"/>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Save a copy using your Student Registration Number with / replaced by _, followed by _W04.ipynb.</a:t>
            </a:r>
          </a:p>
        </p:txBody>
      </p:sp>
      <p:sp>
        <p:nvSpPr>
          <p:cNvPr id="10" name="">
            <a:extLst xmlns:a="http://schemas.openxmlformats.org/drawingml/2006/main">
              <a:ext uri="{FF2B5EF4-FFF2-40B4-BE49-F238E27FC236}">
                <a16:creationId xmlns:a16="http://schemas.microsoft.com/office/drawing/2014/main" id="{22792CBC-E7D6-4506-B2D5-F203D0F0CCBF}"/>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4881C41-8511-4841-ADC4-58379A6A0A36}"/>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STUDENT_ID in the starter code means Student Registration Number.</a:t>
            </a:r>
          </a:p>
        </p:txBody>
      </p:sp>
      <p:sp>
        <p:nvSpPr>
          <p:cNvPr id="12" name="">
            <a:extLst xmlns:a="http://schemas.openxmlformats.org/drawingml/2006/main">
              <a:ext uri="{FF2B5EF4-FFF2-40B4-BE49-F238E27FC236}">
                <a16:creationId xmlns:a16="http://schemas.microsoft.com/office/drawing/2014/main" id="{0CAA620C-8305-427A-B578-8517572C10B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59</a:t>
            </a:r>
          </a:p>
        </p:txBody>
      </p:sp>
    </p:spTree>
    <p:extLst>
      <p:ext uri="{BB962C8B-B14F-4D97-AF65-F5344CB8AC3E}">
        <p14:creationId xmlns:p14="http://schemas.microsoft.com/office/powerpoint/2010/main" val="2135238269"/>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9ACDAE6-E8A1-4222-AE44-CC9D2520D3F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6CF5A18-7C0E-4DD9-8EFB-FD4814C2CCE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325CAC7-8B14-4419-ACE3-F6065AB0BFE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4 rules continued</a:t>
            </a:r>
          </a:p>
        </p:txBody>
      </p:sp>
      <p:sp>
        <p:nvSpPr>
          <p:cNvPr id="4" name="">
            <a:extLst xmlns:a="http://schemas.openxmlformats.org/drawingml/2006/main">
              <a:ext uri="{FF2B5EF4-FFF2-40B4-BE49-F238E27FC236}">
                <a16:creationId xmlns:a16="http://schemas.microsoft.com/office/drawing/2014/main" id="{46A0E951-7F68-4955-A0CF-30BFE8F5FE3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3A64DF2-9B92-458D-81F3-B96D38D23848}"/>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Four checks carry five marks each.</a:t>
            </a:r>
          </a:p>
        </p:txBody>
      </p:sp>
      <p:sp>
        <p:nvSpPr>
          <p:cNvPr id="6" name="">
            <a:extLst xmlns:a="http://schemas.openxmlformats.org/drawingml/2006/main">
              <a:ext uri="{FF2B5EF4-FFF2-40B4-BE49-F238E27FC236}">
                <a16:creationId xmlns:a16="http://schemas.microsoft.com/office/drawing/2014/main" id="{857B9BB8-62A3-453A-A8E0-2CCC5DAE394B}"/>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CB5865E-6D6D-4A52-AFD4-CE1DD1B01B5C}"/>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interesting pattern separately as formative practice.</a:t>
            </a:r>
          </a:p>
        </p:txBody>
      </p:sp>
      <p:sp>
        <p:nvSpPr>
          <p:cNvPr id="8" name="">
            <a:extLst xmlns:a="http://schemas.openxmlformats.org/drawingml/2006/main">
              <a:ext uri="{FF2B5EF4-FFF2-40B4-BE49-F238E27FC236}">
                <a16:creationId xmlns:a16="http://schemas.microsoft.com/office/drawing/2014/main" id="{445BD1C7-38AA-4AFB-BE29-455372E769FF}"/>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836952D-3D1D-403C-A906-9FBBDD1AEE01}"/>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beginner step-by-step help, open ASSIGNMENT_INSTRUCTIONS.txt and STUDENT_HOW_TO.md in this folder.</a:t>
            </a:r>
          </a:p>
        </p:txBody>
      </p:sp>
      <p:sp>
        <p:nvSpPr>
          <p:cNvPr id="10" name="">
            <a:extLst xmlns:a="http://schemas.openxmlformats.org/drawingml/2006/main">
              <a:ext uri="{FF2B5EF4-FFF2-40B4-BE49-F238E27FC236}">
                <a16:creationId xmlns:a16="http://schemas.microsoft.com/office/drawing/2014/main" id="{1C2136EC-2CCE-4F4B-B9DE-0091F2C5A4AF}"/>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5B6BC6B-5E94-4E18-AF76-21CBED299C47}"/>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first names your required files and hand-in checklist; the second explains accounts, Colab, saving and uploads.</a:t>
            </a:r>
          </a:p>
        </p:txBody>
      </p:sp>
      <p:sp>
        <p:nvSpPr>
          <p:cNvPr id="12" name="">
            <a:extLst xmlns:a="http://schemas.openxmlformats.org/drawingml/2006/main">
              <a:ext uri="{FF2B5EF4-FFF2-40B4-BE49-F238E27FC236}">
                <a16:creationId xmlns:a16="http://schemas.microsoft.com/office/drawing/2014/main" id="{75D7E936-89CF-4C40-AA62-F472EA1618D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60</a:t>
            </a:r>
          </a:p>
        </p:txBody>
      </p:sp>
    </p:spTree>
    <p:extLst>
      <p:ext uri="{BB962C8B-B14F-4D97-AF65-F5344CB8AC3E}">
        <p14:creationId xmlns:p14="http://schemas.microsoft.com/office/powerpoint/2010/main" val="540709472"/>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4C66BDA4-FB1C-4427-A615-F14014E58EA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0825CA9-5C69-4852-8545-23DA5FB153F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06D1C71A-C8F8-43FA-8597-365CE9130B2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report submission</a:t>
            </a:r>
          </a:p>
        </p:txBody>
      </p:sp>
      <p:sp>
        <p:nvSpPr>
          <p:cNvPr id="4" name="">
            <a:extLst xmlns:a="http://schemas.openxmlformats.org/drawingml/2006/main">
              <a:ext uri="{FF2B5EF4-FFF2-40B4-BE49-F238E27FC236}">
                <a16:creationId xmlns:a16="http://schemas.microsoft.com/office/drawing/2014/main" id="{35015BE8-41C0-4966-A972-318936A1A1CD}"/>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5DCECDF-F735-4BD9-8FE8-6FDFB76C4B05}"/>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02 Oct 2026, 08:00 Kampala</a:t>
            </a:r>
          </a:p>
        </p:txBody>
      </p:sp>
      <p:sp>
        <p:nvSpPr>
          <p:cNvPr id="6" name="">
            <a:extLst xmlns:a="http://schemas.openxmlformats.org/drawingml/2006/main">
              <a:ext uri="{FF2B5EF4-FFF2-40B4-BE49-F238E27FC236}">
                <a16:creationId xmlns:a16="http://schemas.microsoft.com/office/drawing/2014/main" id="{A25870F1-5855-4900-AA9B-88818103BE92}"/>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A01C84A-0627-4402-BD2A-0C0628714D1A}"/>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09 Oct 2026, 08:00 Kampala</a:t>
            </a:r>
          </a:p>
        </p:txBody>
      </p:sp>
      <p:sp>
        <p:nvSpPr>
          <p:cNvPr id="8" name="">
            <a:extLst xmlns:a="http://schemas.openxmlformats.org/drawingml/2006/main">
              <a:ext uri="{FF2B5EF4-FFF2-40B4-BE49-F238E27FC236}">
                <a16:creationId xmlns:a16="http://schemas.microsoft.com/office/drawing/2014/main" id="{2429B396-FB7D-4645-B713-E79D4CD9DE89}"/>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0E6B698-3EB2-470C-9462-DD24B683FC75}"/>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D8677378-48D4-4999-8693-24C16C5FA483}"/>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436A0F3-4225-4AB9-9887-9810728659C4}"/>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717A3B2E-9142-4D87-85D2-91239D328F58}"/>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FBD81DF7-A532-4F16-86CA-B8319D7D21DE}"/>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60e6f1c48dcd4570"/>
              </a:rPr>
              <a:t>Open W04 assignment form</a:t>
            </a:r>
          </a:p>
        </p:txBody>
      </p:sp>
      <p:sp>
        <p:nvSpPr>
          <p:cNvPr id="14" name="">
            <a:extLst xmlns:a="http://schemas.openxmlformats.org/drawingml/2006/main">
              <a:ext uri="{FF2B5EF4-FFF2-40B4-BE49-F238E27FC236}">
                <a16:creationId xmlns:a16="http://schemas.microsoft.com/office/drawing/2014/main" id="{BA619304-5086-45B0-A79A-BF58AA7BE98E}"/>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https://docs.google.com/forms/d/e/1FAIpQLSenqAHKxNgzxWHIR41scC7h5WAxcs8D9wOyXYjIQ_ulbGpPCw/viewform</a:t>
            </a:r>
          </a:p>
        </p:txBody>
      </p:sp>
      <p:sp>
        <p:nvSpPr>
          <p:cNvPr id="15" name="">
            <a:extLst xmlns:a="http://schemas.openxmlformats.org/drawingml/2006/main">
              <a:ext uri="{FF2B5EF4-FFF2-40B4-BE49-F238E27FC236}">
                <a16:creationId xmlns:a16="http://schemas.microsoft.com/office/drawing/2014/main" id="{123540EF-C8D1-44E6-91C9-199DF1D9372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61</a:t>
            </a:r>
          </a:p>
        </p:txBody>
      </p:sp>
    </p:spTree>
    <p:extLst>
      <p:ext uri="{BB962C8B-B14F-4D97-AF65-F5344CB8AC3E}">
        <p14:creationId xmlns:p14="http://schemas.microsoft.com/office/powerpoint/2010/main" val="1394475800"/>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FB710901-DFAC-48F5-8C21-B2DD7218983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7781397-9E7D-4285-A712-87E565923F7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10376B62-C2AB-49EE-957E-1E48B99FA09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4 quiz</a:t>
            </a:r>
          </a:p>
        </p:txBody>
      </p:sp>
      <p:sp>
        <p:nvSpPr>
          <p:cNvPr id="4" name="">
            <a:extLst xmlns:a="http://schemas.openxmlformats.org/drawingml/2006/main">
              <a:ext uri="{FF2B5EF4-FFF2-40B4-BE49-F238E27FC236}">
                <a16:creationId xmlns:a16="http://schemas.microsoft.com/office/drawing/2014/main" id="{17FF2BB0-B4F0-4DEF-948D-B708FE9696D6}"/>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C994636-C9BC-40D1-AFB8-6EEF97871E1C}"/>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6741DC20-FABC-4682-B41E-CE88BDB5B889}"/>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3446910-9905-473D-978C-0753D9DFF0F3}"/>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13755485-2EB7-480B-9BBE-29FA4022F5C4}"/>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7722116-D600-4F71-95F6-1D8D7211F6CC}"/>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815823BD-FC2D-48E5-A1CD-1C5575A2388E}"/>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0E2AED8-4EF8-412A-BBFF-99764F89FA99}"/>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 will confirm the exact closing time.</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a779ce68c4264e2a"/>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E0B6528B-1E70-44F2-9C52-346DDB6AF613}"/>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14CFEF33-6732-4994-9FE0-933C0405D409}"/>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71090434-289D-45CD-B7AA-D113D70E682D}"/>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b1128b0af64e4a28"/>
              </a:rPr>
              <a:t>Open this week’s quiz</a:t>
            </a:r>
          </a:p>
        </p:txBody>
      </p:sp>
      <p:sp>
        <p:nvSpPr>
          <p:cNvPr id="16" name="">
            <a:extLst xmlns:a="http://schemas.openxmlformats.org/drawingml/2006/main">
              <a:ext uri="{FF2B5EF4-FFF2-40B4-BE49-F238E27FC236}">
                <a16:creationId xmlns:a16="http://schemas.microsoft.com/office/drawing/2014/main" id="{F7B26675-4634-4EDB-86FB-21CACAE9D881}"/>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https://forms.gle/YbPS4yzALy4tB1YM7</a:t>
            </a:r>
          </a:p>
        </p:txBody>
      </p:sp>
      <p:sp>
        <p:nvSpPr>
          <p:cNvPr id="17" name="">
            <a:extLst xmlns:a="http://schemas.openxmlformats.org/drawingml/2006/main">
              <a:ext uri="{FF2B5EF4-FFF2-40B4-BE49-F238E27FC236}">
                <a16:creationId xmlns:a16="http://schemas.microsoft.com/office/drawing/2014/main" id="{4AD684BE-FE11-4866-97A1-EE5F8CFFBA4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4   62</a:t>
            </a:r>
          </a:p>
        </p:txBody>
      </p:sp>
    </p:spTree>
    <p:extLst>
      <p:ext uri="{BB962C8B-B14F-4D97-AF65-F5344CB8AC3E}">
        <p14:creationId xmlns:p14="http://schemas.microsoft.com/office/powerpoint/2010/main" val="1050572954"/>
      </p:ext>
    </p:extLst>
  </p:cSld>
</p:sld>
</file>

<file path=ppt/slides/slide63.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01AE46F-6B71-491C-AAF4-8397F554F81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1B35E68B-0993-4963-8997-97F3CF644A1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406258F0-57C2-4DE0-90FB-9874062AB394}"/>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4A59554E-DB91-48E0-99FC-CA2EC025A8FC}"/>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show how the total and count change for each record.</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B86C3790-5761-4936-A2E2-FBD7FE1A3B2C}"/>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6114367B-1912-4F19-AC1B-A2AAA79724A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4   63</a:t>
            </a:r>
          </a:p>
        </p:txBody>
      </p:sp>
    </p:spTree>
    <p:extLst>
      <p:ext uri="{BB962C8B-B14F-4D97-AF65-F5344CB8AC3E}">
        <p14:creationId xmlns:p14="http://schemas.microsoft.com/office/powerpoint/2010/main" val="78402189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2026-09-28T21:23:41.0580000Z</dcterms:created>
  <dcterms:modified xsi:type="dcterms:W3CDTF">2026-09-28T21:23:41.0580000Z</dcterms:modified>
</coreProperties>
</file>