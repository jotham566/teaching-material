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Override PartName="/ppt/slides/slide40.xml" ContentType="application/vnd.openxmlformats-officedocument.presentationml.slide+xml"/>
  <Override PartName="/ppt/notesSlides/notesSlide40.xml" ContentType="application/vnd.openxmlformats-officedocument.presentationml.notesSlide+xml"/>
  <Override PartName="/ppt/slides/slide41.xml" ContentType="application/vnd.openxmlformats-officedocument.presentationml.slide+xml"/>
  <Override PartName="/ppt/notesSlides/notesSlide41.xml" ContentType="application/vnd.openxmlformats-officedocument.presentationml.notesSlide+xml"/>
  <Override PartName="/ppt/slides/slide42.xml" ContentType="application/vnd.openxmlformats-officedocument.presentationml.slide+xml"/>
  <Override PartName="/ppt/notesSlides/notesSlide42.xml" ContentType="application/vnd.openxmlformats-officedocument.presentationml.notesSlide+xml"/>
  <Override PartName="/ppt/slides/slide43.xml" ContentType="application/vnd.openxmlformats-officedocument.presentationml.slide+xml"/>
  <Override PartName="/ppt/notesSlides/notesSlide43.xml" ContentType="application/vnd.openxmlformats-officedocument.presentationml.notesSlide+xml"/>
  <Override PartName="/ppt/slides/slide44.xml" ContentType="application/vnd.openxmlformats-officedocument.presentationml.slide+xml"/>
  <Override PartName="/ppt/notesSlides/notesSlide44.xml" ContentType="application/vnd.openxmlformats-officedocument.presentationml.notesSlide+xml"/>
  <Override PartName="/ppt/slides/slide45.xml" ContentType="application/vnd.openxmlformats-officedocument.presentationml.slide+xml"/>
  <Override PartName="/ppt/notesSlides/notesSlide45.xml" ContentType="application/vnd.openxmlformats-officedocument.presentationml.notesSlide+xml"/>
  <Override PartName="/ppt/slides/slide46.xml" ContentType="application/vnd.openxmlformats-officedocument.presentationml.slide+xml"/>
  <Override PartName="/ppt/notesSlides/notesSlide46.xml" ContentType="application/vnd.openxmlformats-officedocument.presentationml.notesSlide+xml"/>
  <Override PartName="/ppt/slides/slide47.xml" ContentType="application/vnd.openxmlformats-officedocument.presentationml.slide+xml"/>
  <Override PartName="/ppt/notesSlides/notesSlide47.xml" ContentType="application/vnd.openxmlformats-officedocument.presentationml.notesSlide+xml"/>
  <Override PartName="/ppt/slides/slide48.xml" ContentType="application/vnd.openxmlformats-officedocument.presentationml.slide+xml"/>
  <Override PartName="/ppt/notesSlides/notesSlide48.xml" ContentType="application/vnd.openxmlformats-officedocument.presentationml.notesSlide+xml"/>
  <Override PartName="/ppt/slides/slide49.xml" ContentType="application/vnd.openxmlformats-officedocument.presentationml.slide+xml"/>
  <Override PartName="/ppt/notesSlides/notesSlide49.xml" ContentType="application/vnd.openxmlformats-officedocument.presentationml.notesSlide+xml"/>
  <Override PartName="/ppt/slides/slide50.xml" ContentType="application/vnd.openxmlformats-officedocument.presentationml.slide+xml"/>
  <Override PartName="/ppt/notesSlides/notesSlide50.xml" ContentType="application/vnd.openxmlformats-officedocument.presentationml.notesSlide+xml"/>
  <Override PartName="/ppt/slides/slide51.xml" ContentType="application/vnd.openxmlformats-officedocument.presentationml.slide+xml"/>
  <Override PartName="/ppt/notesSlides/notesSlide51.xml" ContentType="application/vnd.openxmlformats-officedocument.presentationml.notesSlide+xml"/>
  <Override PartName="/ppt/slides/slide52.xml" ContentType="application/vnd.openxmlformats-officedocument.presentationml.slide+xml"/>
  <Override PartName="/ppt/notesSlides/notesSlide52.xml" ContentType="application/vnd.openxmlformats-officedocument.presentationml.notesSlide+xml"/>
  <Override PartName="/ppt/slides/slide53.xml" ContentType="application/vnd.openxmlformats-officedocument.presentationml.slide+xml"/>
  <Override PartName="/ppt/notesSlides/notesSlide53.xml" ContentType="application/vnd.openxmlformats-officedocument.presentationml.notesSlide+xml"/>
  <Override PartName="/ppt/slides/slide54.xml" ContentType="application/vnd.openxmlformats-officedocument.presentationml.slide+xml"/>
  <Override PartName="/ppt/notesSlides/notesSlide54.xml" ContentType="application/vnd.openxmlformats-officedocument.presentationml.notesSlide+xml"/>
  <Override PartName="/ppt/slides/slide55.xml" ContentType="application/vnd.openxmlformats-officedocument.presentationml.slide+xml"/>
  <Override PartName="/ppt/notesSlides/notesSlide55.xml" ContentType="application/vnd.openxmlformats-officedocument.presentationml.notesSlide+xml"/>
  <Override PartName="/ppt/slides/slide56.xml" ContentType="application/vnd.openxmlformats-officedocument.presentationml.slide+xml"/>
  <Override PartName="/ppt/notesSlides/notesSlide56.xml" ContentType="application/vnd.openxmlformats-officedocument.presentationml.notesSlide+xml"/>
  <Override PartName="/ppt/slides/slide57.xml" ContentType="application/vnd.openxmlformats-officedocument.presentationml.slide+xml"/>
  <Override PartName="/ppt/notesSlides/notesSlide57.xml" ContentType="application/vnd.openxmlformats-officedocument.presentationml.notesSlide+xml"/>
  <Override PartName="/ppt/slides/slide58.xml" ContentType="application/vnd.openxmlformats-officedocument.presentationml.slide+xml"/>
  <Override PartName="/ppt/notesSlides/notesSlide58.xml" ContentType="application/vnd.openxmlformats-officedocument.presentationml.notesSlide+xml"/>
  <Override PartName="/ppt/slides/slide59.xml" ContentType="application/vnd.openxmlformats-officedocument.presentationml.slide+xml"/>
  <Override PartName="/ppt/notesSlides/notesSlide59.xml" ContentType="application/vnd.openxmlformats-officedocument.presentationml.notesSlide+xml"/>
  <Override PartName="/ppt/slides/slide60.xml" ContentType="application/vnd.openxmlformats-officedocument.presentationml.slide+xml"/>
  <Override PartName="/ppt/notesSlides/notesSlide60.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56e04ff705bc4254" /><Relationship Type="http://schemas.openxmlformats.org/officeDocument/2006/relationships/extended-properties" Target="/docProps/app.xml" Id="Rbecaf9e8f72d4937" /><Relationship Type="http://schemas.openxmlformats.org/officeDocument/2006/relationships/officeDocument" Target="/ppt/presentation.xml" Id="R3aa1e420296c4f3a" /></Relationships>
</file>

<file path=ppt/presentation.xml><?xml version="1.0" encoding="utf-8"?>
<p:presentation xmlns:p="http://schemas.openxmlformats.org/presentationml/2006/main">
  <p:sldMasterIdLst>
    <p:sldMasterId xmlns:r="http://schemas.openxmlformats.org/officeDocument/2006/relationships" id="2147483648" r:id="R81891f3bb341459c"/>
  </p:sldMasterIdLst>
  <p:notesMasterIdLst>
    <p:notesMasterId xmlns:r="http://schemas.openxmlformats.org/officeDocument/2006/relationships" r:id="R225fcca99f244543"/>
  </p:notesMasterIdLst>
  <p:sldIdLst>
    <p:sldId xmlns:r="http://schemas.openxmlformats.org/officeDocument/2006/relationships" id="256" r:id="R50ffd4bfdb27480b"/>
    <p:sldId xmlns:r="http://schemas.openxmlformats.org/officeDocument/2006/relationships" id="257" r:id="Rfe4d0623e71a440a"/>
    <p:sldId xmlns:r="http://schemas.openxmlformats.org/officeDocument/2006/relationships" id="258" r:id="Re4f0b37ea6c043eb"/>
    <p:sldId xmlns:r="http://schemas.openxmlformats.org/officeDocument/2006/relationships" id="259" r:id="Rf910a4c57b1b4fe8"/>
    <p:sldId xmlns:r="http://schemas.openxmlformats.org/officeDocument/2006/relationships" id="260" r:id="Rca8e54545711427d"/>
    <p:sldId xmlns:r="http://schemas.openxmlformats.org/officeDocument/2006/relationships" id="261" r:id="R3bd73106566b46cb"/>
    <p:sldId xmlns:r="http://schemas.openxmlformats.org/officeDocument/2006/relationships" id="262" r:id="R4d4f88e5e7d44bb7"/>
    <p:sldId xmlns:r="http://schemas.openxmlformats.org/officeDocument/2006/relationships" id="263" r:id="R83e905d3152344ad"/>
    <p:sldId xmlns:r="http://schemas.openxmlformats.org/officeDocument/2006/relationships" id="264" r:id="Ra7ae11fec8094919"/>
    <p:sldId xmlns:r="http://schemas.openxmlformats.org/officeDocument/2006/relationships" id="265" r:id="Radd61d354d2f4bd8"/>
    <p:sldId xmlns:r="http://schemas.openxmlformats.org/officeDocument/2006/relationships" id="266" r:id="Rae7f29f508384aae"/>
    <p:sldId xmlns:r="http://schemas.openxmlformats.org/officeDocument/2006/relationships" id="267" r:id="R5dbbe63a52a847b8"/>
    <p:sldId xmlns:r="http://schemas.openxmlformats.org/officeDocument/2006/relationships" id="268" r:id="Rf7115f4b55a24e4a"/>
    <p:sldId xmlns:r="http://schemas.openxmlformats.org/officeDocument/2006/relationships" id="269" r:id="R3676ae6497ba48ec"/>
    <p:sldId xmlns:r="http://schemas.openxmlformats.org/officeDocument/2006/relationships" id="270" r:id="R19102fbd586c482f"/>
    <p:sldId xmlns:r="http://schemas.openxmlformats.org/officeDocument/2006/relationships" id="271" r:id="Rb574e75f93304d1d"/>
    <p:sldId xmlns:r="http://schemas.openxmlformats.org/officeDocument/2006/relationships" id="272" r:id="R3002dd768a86412b"/>
    <p:sldId xmlns:r="http://schemas.openxmlformats.org/officeDocument/2006/relationships" id="273" r:id="R40b1b5e34f354f9a"/>
    <p:sldId xmlns:r="http://schemas.openxmlformats.org/officeDocument/2006/relationships" id="274" r:id="R62b5c7f98ef24dd9"/>
    <p:sldId xmlns:r="http://schemas.openxmlformats.org/officeDocument/2006/relationships" id="275" r:id="R63076e73686f41fe"/>
    <p:sldId xmlns:r="http://schemas.openxmlformats.org/officeDocument/2006/relationships" id="276" r:id="Rcf02c2b8899242a6"/>
    <p:sldId xmlns:r="http://schemas.openxmlformats.org/officeDocument/2006/relationships" id="277" r:id="R436bdc6760a44ded"/>
    <p:sldId xmlns:r="http://schemas.openxmlformats.org/officeDocument/2006/relationships" id="278" r:id="R755bafb6fb4e4074"/>
    <p:sldId xmlns:r="http://schemas.openxmlformats.org/officeDocument/2006/relationships" id="279" r:id="R65782c0d98894702"/>
    <p:sldId xmlns:r="http://schemas.openxmlformats.org/officeDocument/2006/relationships" id="280" r:id="R071e75c66a324f60"/>
    <p:sldId xmlns:r="http://schemas.openxmlformats.org/officeDocument/2006/relationships" id="281" r:id="R0c4d0a69293a4b7a"/>
    <p:sldId xmlns:r="http://schemas.openxmlformats.org/officeDocument/2006/relationships" id="282" r:id="Rfafff0726bfc4670"/>
    <p:sldId xmlns:r="http://schemas.openxmlformats.org/officeDocument/2006/relationships" id="283" r:id="R20dc216512d84292"/>
    <p:sldId xmlns:r="http://schemas.openxmlformats.org/officeDocument/2006/relationships" id="284" r:id="R96b6cfb82d174ebe"/>
    <p:sldId xmlns:r="http://schemas.openxmlformats.org/officeDocument/2006/relationships" id="285" r:id="R565c6df2c63b4952"/>
    <p:sldId xmlns:r="http://schemas.openxmlformats.org/officeDocument/2006/relationships" id="286" r:id="Rb8bff8149acf4c4d"/>
    <p:sldId xmlns:r="http://schemas.openxmlformats.org/officeDocument/2006/relationships" id="287" r:id="Ra6e253bb476f4579"/>
    <p:sldId xmlns:r="http://schemas.openxmlformats.org/officeDocument/2006/relationships" id="288" r:id="R7ecda29f512242b0"/>
    <p:sldId xmlns:r="http://schemas.openxmlformats.org/officeDocument/2006/relationships" id="289" r:id="Rf45171e8b8ed407f"/>
    <p:sldId xmlns:r="http://schemas.openxmlformats.org/officeDocument/2006/relationships" id="290" r:id="R330d820e1b874108"/>
    <p:sldId xmlns:r="http://schemas.openxmlformats.org/officeDocument/2006/relationships" id="291" r:id="R35ea739efa564b05"/>
    <p:sldId xmlns:r="http://schemas.openxmlformats.org/officeDocument/2006/relationships" id="292" r:id="R24368c10cc8a45ac"/>
    <p:sldId xmlns:r="http://schemas.openxmlformats.org/officeDocument/2006/relationships" id="293" r:id="R70cf177bf6a64e39"/>
    <p:sldId xmlns:r="http://schemas.openxmlformats.org/officeDocument/2006/relationships" id="294" r:id="R6d3869617a6c4175"/>
    <p:sldId xmlns:r="http://schemas.openxmlformats.org/officeDocument/2006/relationships" id="295" r:id="Rd05aba2d9e074ad4"/>
    <p:sldId xmlns:r="http://schemas.openxmlformats.org/officeDocument/2006/relationships" id="296" r:id="Ra4089d02213b4aa3"/>
    <p:sldId xmlns:r="http://schemas.openxmlformats.org/officeDocument/2006/relationships" id="297" r:id="R4473cff30a304b0b"/>
    <p:sldId xmlns:r="http://schemas.openxmlformats.org/officeDocument/2006/relationships" id="298" r:id="Re295a633849c4716"/>
    <p:sldId xmlns:r="http://schemas.openxmlformats.org/officeDocument/2006/relationships" id="299" r:id="R18b8154dd9364a61"/>
    <p:sldId xmlns:r="http://schemas.openxmlformats.org/officeDocument/2006/relationships" id="300" r:id="Re0d6afd09b094724"/>
    <p:sldId xmlns:r="http://schemas.openxmlformats.org/officeDocument/2006/relationships" id="301" r:id="R2e25fb0ff9fa48ac"/>
    <p:sldId xmlns:r="http://schemas.openxmlformats.org/officeDocument/2006/relationships" id="302" r:id="Rd46453f8ff954cc8"/>
    <p:sldId xmlns:r="http://schemas.openxmlformats.org/officeDocument/2006/relationships" id="303" r:id="Rb9063beec95941b2"/>
    <p:sldId xmlns:r="http://schemas.openxmlformats.org/officeDocument/2006/relationships" id="304" r:id="R39db9ba55aca4dea"/>
    <p:sldId xmlns:r="http://schemas.openxmlformats.org/officeDocument/2006/relationships" id="305" r:id="R0a31cea32da54959"/>
    <p:sldId xmlns:r="http://schemas.openxmlformats.org/officeDocument/2006/relationships" id="306" r:id="Rd05aedf028134e10"/>
    <p:sldId xmlns:r="http://schemas.openxmlformats.org/officeDocument/2006/relationships" id="307" r:id="R45d0b7d7fb2b435c"/>
    <p:sldId xmlns:r="http://schemas.openxmlformats.org/officeDocument/2006/relationships" id="308" r:id="Raf646e5e570547a6"/>
    <p:sldId xmlns:r="http://schemas.openxmlformats.org/officeDocument/2006/relationships" id="309" r:id="R8a6c9952d0c74a0b"/>
    <p:sldId xmlns:r="http://schemas.openxmlformats.org/officeDocument/2006/relationships" id="310" r:id="Rdd9c5c8a426b488f"/>
    <p:sldId xmlns:r="http://schemas.openxmlformats.org/officeDocument/2006/relationships" id="311" r:id="R01f5a6bc9d314788"/>
    <p:sldId xmlns:r="http://schemas.openxmlformats.org/officeDocument/2006/relationships" id="312" r:id="R9c28a881580e42c6"/>
    <p:sldId xmlns:r="http://schemas.openxmlformats.org/officeDocument/2006/relationships" id="313" r:id="Rd10cec2bfda34b70"/>
    <p:sldId xmlns:r="http://schemas.openxmlformats.org/officeDocument/2006/relationships" id="314" r:id="R3112a78c4b8c428c"/>
    <p:sldId xmlns:r="http://schemas.openxmlformats.org/officeDocument/2006/relationships" id="315" r:id="R9eaa3ea84f554fc8"/>
  </p:sldIdLst>
  <p:sldSz cx="12191695"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0b5975366f3d4dec" /><Relationship Type="http://schemas.openxmlformats.org/officeDocument/2006/relationships/slideMaster" Target="/ppt/slideMasters/slideMaster1.xml" Id="R81891f3bb341459c" /><Relationship Type="http://schemas.openxmlformats.org/officeDocument/2006/relationships/notesMaster" Target="/ppt/notesMasters/notesMaster1.xml" Id="R225fcca99f244543" /><Relationship Type="http://schemas.openxmlformats.org/officeDocument/2006/relationships/presProps" Target="/ppt/presProps.xml" Id="R95eec2a8069e4d6e" /><Relationship Type="http://schemas.openxmlformats.org/officeDocument/2006/relationships/tableStyles" Target="/ppt/tableStyles.xml" Id="Rbe3650d6cc87417c" /><Relationship Type="http://schemas.openxmlformats.org/officeDocument/2006/relationships/slide" Target="/ppt/slides/slide1.xml" Id="R50ffd4bfdb27480b" /><Relationship Type="http://schemas.openxmlformats.org/officeDocument/2006/relationships/slide" Target="/ppt/slides/slide2.xml" Id="Rfe4d0623e71a440a" /><Relationship Type="http://schemas.openxmlformats.org/officeDocument/2006/relationships/slide" Target="/ppt/slides/slide3.xml" Id="Re4f0b37ea6c043eb" /><Relationship Type="http://schemas.openxmlformats.org/officeDocument/2006/relationships/slide" Target="/ppt/slides/slide4.xml" Id="Rf910a4c57b1b4fe8" /><Relationship Type="http://schemas.openxmlformats.org/officeDocument/2006/relationships/slide" Target="/ppt/slides/slide5.xml" Id="Rca8e54545711427d" /><Relationship Type="http://schemas.openxmlformats.org/officeDocument/2006/relationships/slide" Target="/ppt/slides/slide6.xml" Id="R3bd73106566b46cb" /><Relationship Type="http://schemas.openxmlformats.org/officeDocument/2006/relationships/slide" Target="/ppt/slides/slide7.xml" Id="R4d4f88e5e7d44bb7" /><Relationship Type="http://schemas.openxmlformats.org/officeDocument/2006/relationships/slide" Target="/ppt/slides/slide8.xml" Id="R83e905d3152344ad" /><Relationship Type="http://schemas.openxmlformats.org/officeDocument/2006/relationships/slide" Target="/ppt/slides/slide9.xml" Id="Ra7ae11fec8094919" /><Relationship Type="http://schemas.openxmlformats.org/officeDocument/2006/relationships/slide" Target="/ppt/slides/slide10.xml" Id="Radd61d354d2f4bd8" /><Relationship Type="http://schemas.openxmlformats.org/officeDocument/2006/relationships/slide" Target="/ppt/slides/slide11.xml" Id="Rae7f29f508384aae" /><Relationship Type="http://schemas.openxmlformats.org/officeDocument/2006/relationships/slide" Target="/ppt/slides/slide12.xml" Id="R5dbbe63a52a847b8" /><Relationship Type="http://schemas.openxmlformats.org/officeDocument/2006/relationships/slide" Target="/ppt/slides/slide13.xml" Id="Rf7115f4b55a24e4a" /><Relationship Type="http://schemas.openxmlformats.org/officeDocument/2006/relationships/slide" Target="/ppt/slides/slide14.xml" Id="R3676ae6497ba48ec" /><Relationship Type="http://schemas.openxmlformats.org/officeDocument/2006/relationships/slide" Target="/ppt/slides/slide15.xml" Id="R19102fbd586c482f" /><Relationship Type="http://schemas.openxmlformats.org/officeDocument/2006/relationships/slide" Target="/ppt/slides/slide16.xml" Id="Rb574e75f93304d1d" /><Relationship Type="http://schemas.openxmlformats.org/officeDocument/2006/relationships/slide" Target="/ppt/slides/slide17.xml" Id="R3002dd768a86412b" /><Relationship Type="http://schemas.openxmlformats.org/officeDocument/2006/relationships/slide" Target="/ppt/slides/slide18.xml" Id="R40b1b5e34f354f9a" /><Relationship Type="http://schemas.openxmlformats.org/officeDocument/2006/relationships/slide" Target="/ppt/slides/slide19.xml" Id="R62b5c7f98ef24dd9" /><Relationship Type="http://schemas.openxmlformats.org/officeDocument/2006/relationships/slide" Target="/ppt/slides/slide20.xml" Id="R63076e73686f41fe" /><Relationship Type="http://schemas.openxmlformats.org/officeDocument/2006/relationships/slide" Target="/ppt/slides/slide21.xml" Id="Rcf02c2b8899242a6" /><Relationship Type="http://schemas.openxmlformats.org/officeDocument/2006/relationships/slide" Target="/ppt/slides/slide22.xml" Id="R436bdc6760a44ded" /><Relationship Type="http://schemas.openxmlformats.org/officeDocument/2006/relationships/slide" Target="/ppt/slides/slide23.xml" Id="R755bafb6fb4e4074" /><Relationship Type="http://schemas.openxmlformats.org/officeDocument/2006/relationships/slide" Target="/ppt/slides/slide24.xml" Id="R65782c0d98894702" /><Relationship Type="http://schemas.openxmlformats.org/officeDocument/2006/relationships/slide" Target="/ppt/slides/slide25.xml" Id="R071e75c66a324f60" /><Relationship Type="http://schemas.openxmlformats.org/officeDocument/2006/relationships/slide" Target="/ppt/slides/slide26.xml" Id="R0c4d0a69293a4b7a" /><Relationship Type="http://schemas.openxmlformats.org/officeDocument/2006/relationships/slide" Target="/ppt/slides/slide27.xml" Id="Rfafff0726bfc4670" /><Relationship Type="http://schemas.openxmlformats.org/officeDocument/2006/relationships/slide" Target="/ppt/slides/slide28.xml" Id="R20dc216512d84292" /><Relationship Type="http://schemas.openxmlformats.org/officeDocument/2006/relationships/slide" Target="/ppt/slides/slide29.xml" Id="R96b6cfb82d174ebe" /><Relationship Type="http://schemas.openxmlformats.org/officeDocument/2006/relationships/slide" Target="/ppt/slides/slide30.xml" Id="R565c6df2c63b4952" /><Relationship Type="http://schemas.openxmlformats.org/officeDocument/2006/relationships/slide" Target="/ppt/slides/slide31.xml" Id="Rb8bff8149acf4c4d" /><Relationship Type="http://schemas.openxmlformats.org/officeDocument/2006/relationships/slide" Target="/ppt/slides/slide32.xml" Id="Ra6e253bb476f4579" /><Relationship Type="http://schemas.openxmlformats.org/officeDocument/2006/relationships/slide" Target="/ppt/slides/slide33.xml" Id="R7ecda29f512242b0" /><Relationship Type="http://schemas.openxmlformats.org/officeDocument/2006/relationships/slide" Target="/ppt/slides/slide34.xml" Id="Rf45171e8b8ed407f" /><Relationship Type="http://schemas.openxmlformats.org/officeDocument/2006/relationships/slide" Target="/ppt/slides/slide35.xml" Id="R330d820e1b874108" /><Relationship Type="http://schemas.openxmlformats.org/officeDocument/2006/relationships/slide" Target="/ppt/slides/slide36.xml" Id="R35ea739efa564b05" /><Relationship Type="http://schemas.openxmlformats.org/officeDocument/2006/relationships/slide" Target="/ppt/slides/slide37.xml" Id="R24368c10cc8a45ac" /><Relationship Type="http://schemas.openxmlformats.org/officeDocument/2006/relationships/slide" Target="/ppt/slides/slide38.xml" Id="R70cf177bf6a64e39" /><Relationship Type="http://schemas.openxmlformats.org/officeDocument/2006/relationships/slide" Target="/ppt/slides/slide39.xml" Id="R6d3869617a6c4175" /><Relationship Type="http://schemas.openxmlformats.org/officeDocument/2006/relationships/slide" Target="/ppt/slides/slide40.xml" Id="Rd05aba2d9e074ad4" /><Relationship Type="http://schemas.openxmlformats.org/officeDocument/2006/relationships/slide" Target="/ppt/slides/slide41.xml" Id="Ra4089d02213b4aa3" /><Relationship Type="http://schemas.openxmlformats.org/officeDocument/2006/relationships/slide" Target="/ppt/slides/slide42.xml" Id="R4473cff30a304b0b" /><Relationship Type="http://schemas.openxmlformats.org/officeDocument/2006/relationships/slide" Target="/ppt/slides/slide43.xml" Id="Re295a633849c4716" /><Relationship Type="http://schemas.openxmlformats.org/officeDocument/2006/relationships/slide" Target="/ppt/slides/slide44.xml" Id="R18b8154dd9364a61" /><Relationship Type="http://schemas.openxmlformats.org/officeDocument/2006/relationships/slide" Target="/ppt/slides/slide45.xml" Id="Re0d6afd09b094724" /><Relationship Type="http://schemas.openxmlformats.org/officeDocument/2006/relationships/slide" Target="/ppt/slides/slide46.xml" Id="R2e25fb0ff9fa48ac" /><Relationship Type="http://schemas.openxmlformats.org/officeDocument/2006/relationships/slide" Target="/ppt/slides/slide47.xml" Id="Rd46453f8ff954cc8" /><Relationship Type="http://schemas.openxmlformats.org/officeDocument/2006/relationships/slide" Target="/ppt/slides/slide48.xml" Id="Rb9063beec95941b2" /><Relationship Type="http://schemas.openxmlformats.org/officeDocument/2006/relationships/slide" Target="/ppt/slides/slide49.xml" Id="R39db9ba55aca4dea" /><Relationship Type="http://schemas.openxmlformats.org/officeDocument/2006/relationships/slide" Target="/ppt/slides/slide50.xml" Id="R0a31cea32da54959" /><Relationship Type="http://schemas.openxmlformats.org/officeDocument/2006/relationships/slide" Target="/ppt/slides/slide51.xml" Id="Rd05aedf028134e10" /><Relationship Type="http://schemas.openxmlformats.org/officeDocument/2006/relationships/slide" Target="/ppt/slides/slide52.xml" Id="R45d0b7d7fb2b435c" /><Relationship Type="http://schemas.openxmlformats.org/officeDocument/2006/relationships/slide" Target="/ppt/slides/slide53.xml" Id="Raf646e5e570547a6" /><Relationship Type="http://schemas.openxmlformats.org/officeDocument/2006/relationships/slide" Target="/ppt/slides/slide54.xml" Id="R8a6c9952d0c74a0b" /><Relationship Type="http://schemas.openxmlformats.org/officeDocument/2006/relationships/slide" Target="/ppt/slides/slide55.xml" Id="Rdd9c5c8a426b488f" /><Relationship Type="http://schemas.openxmlformats.org/officeDocument/2006/relationships/slide" Target="/ppt/slides/slide56.xml" Id="R01f5a6bc9d314788" /><Relationship Type="http://schemas.openxmlformats.org/officeDocument/2006/relationships/slide" Target="/ppt/slides/slide57.xml" Id="R9c28a881580e42c6" /><Relationship Type="http://schemas.openxmlformats.org/officeDocument/2006/relationships/slide" Target="/ppt/slides/slide58.xml" Id="Rd10cec2bfda34b70" /><Relationship Type="http://schemas.openxmlformats.org/officeDocument/2006/relationships/slide" Target="/ppt/slides/slide59.xml" Id="R3112a78c4b8c428c" /><Relationship Type="http://schemas.openxmlformats.org/officeDocument/2006/relationships/slide" Target="/ppt/slides/slide60.xml" Id="R9eaa3ea84f554fc8"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4e0691eac6b74ae9"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3cb14682e3954c9a" /><Relationship Type="http://schemas.openxmlformats.org/officeDocument/2006/relationships/notesMaster" Target="/ppt/notesMasters/notesMaster1.xml" Id="R404b711a6f034094" /></Relationships>
</file>

<file path=ppt/notesSlides/_rels/notesSlide2.xml.rels>&#65279;<?xml version="1.0" encoding="utf-8"?><Relationships xmlns="http://schemas.openxmlformats.org/package/2006/relationships"><Relationship Type="http://schemas.openxmlformats.org/officeDocument/2006/relationships/slide" Target="/ppt/slides/slide2.xml" Id="Rae911af4265d4718" /><Relationship Type="http://schemas.openxmlformats.org/officeDocument/2006/relationships/notesMaster" Target="/ppt/notesMasters/notesMaster1.xml" Id="R0763adf36a2347ce" /></Relationships>
</file>

<file path=ppt/notesSlides/_rels/notesSlide3.xml.rels>&#65279;<?xml version="1.0" encoding="utf-8"?><Relationships xmlns="http://schemas.openxmlformats.org/package/2006/relationships"><Relationship Type="http://schemas.openxmlformats.org/officeDocument/2006/relationships/slide" Target="/ppt/slides/slide3.xml" Id="R017f691e60cc491d" /><Relationship Type="http://schemas.openxmlformats.org/officeDocument/2006/relationships/notesMaster" Target="/ppt/notesMasters/notesMaster1.xml" Id="R4c7f8db9d1214e58" /></Relationships>
</file>

<file path=ppt/notesSlides/_rels/notesSlide4.xml.rels>&#65279;<?xml version="1.0" encoding="utf-8"?><Relationships xmlns="http://schemas.openxmlformats.org/package/2006/relationships"><Relationship Type="http://schemas.openxmlformats.org/officeDocument/2006/relationships/slide" Target="/ppt/slides/slide4.xml" Id="Reff8adc486f947c0" /><Relationship Type="http://schemas.openxmlformats.org/officeDocument/2006/relationships/notesMaster" Target="/ppt/notesMasters/notesMaster1.xml" Id="Rdb91f906e5024d48" /></Relationships>
</file>

<file path=ppt/notesSlides/_rels/notesSlide5.xml.rels>&#65279;<?xml version="1.0" encoding="utf-8"?><Relationships xmlns="http://schemas.openxmlformats.org/package/2006/relationships"><Relationship Type="http://schemas.openxmlformats.org/officeDocument/2006/relationships/slide" Target="/ppt/slides/slide5.xml" Id="Rdaaf41e832d7466a" /><Relationship Type="http://schemas.openxmlformats.org/officeDocument/2006/relationships/notesMaster" Target="/ppt/notesMasters/notesMaster1.xml" Id="Rf0253fddbd9647a3" /></Relationships>
</file>

<file path=ppt/notesSlides/_rels/notesSlide6.xml.rels>&#65279;<?xml version="1.0" encoding="utf-8"?><Relationships xmlns="http://schemas.openxmlformats.org/package/2006/relationships"><Relationship Type="http://schemas.openxmlformats.org/officeDocument/2006/relationships/slide" Target="/ppt/slides/slide6.xml" Id="R432531f7977b4871" /><Relationship Type="http://schemas.openxmlformats.org/officeDocument/2006/relationships/notesMaster" Target="/ppt/notesMasters/notesMaster1.xml" Id="R41520709a0eb4a18" /></Relationships>
</file>

<file path=ppt/notesSlides/_rels/notesSlide7.xml.rels>&#65279;<?xml version="1.0" encoding="utf-8"?><Relationships xmlns="http://schemas.openxmlformats.org/package/2006/relationships"><Relationship Type="http://schemas.openxmlformats.org/officeDocument/2006/relationships/slide" Target="/ppt/slides/slide7.xml" Id="R41b8cc9dd3d34186" /><Relationship Type="http://schemas.openxmlformats.org/officeDocument/2006/relationships/notesMaster" Target="/ppt/notesMasters/notesMaster1.xml" Id="R31c8fdb2ea90452c" /></Relationships>
</file>

<file path=ppt/notesSlides/_rels/notesSlide8.xml.rels>&#65279;<?xml version="1.0" encoding="utf-8"?><Relationships xmlns="http://schemas.openxmlformats.org/package/2006/relationships"><Relationship Type="http://schemas.openxmlformats.org/officeDocument/2006/relationships/slide" Target="/ppt/slides/slide8.xml" Id="Ra8fa96915e624512" /><Relationship Type="http://schemas.openxmlformats.org/officeDocument/2006/relationships/notesMaster" Target="/ppt/notesMasters/notesMaster1.xml" Id="R79eacbc8fc394188" /></Relationships>
</file>

<file path=ppt/notesSlides/_rels/notesSlide9.xml.rels>&#65279;<?xml version="1.0" encoding="utf-8"?><Relationships xmlns="http://schemas.openxmlformats.org/package/2006/relationships"><Relationship Type="http://schemas.openxmlformats.org/officeDocument/2006/relationships/slide" Target="/ppt/slides/slide9.xml" Id="R3f542011ddaf41e8" /><Relationship Type="http://schemas.openxmlformats.org/officeDocument/2006/relationships/notesMaster" Target="/ppt/notesMasters/notesMaster1.xml" Id="R69a2db91045b4856"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5eb72f81932b47a3" /><Relationship Type="http://schemas.openxmlformats.org/officeDocument/2006/relationships/notesMaster" Target="/ppt/notesMasters/notesMaster1.xml" Id="R5a3aa79e4d7c4532"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4b1942d1d5684cc9" /><Relationship Type="http://schemas.openxmlformats.org/officeDocument/2006/relationships/notesMaster" Target="/ppt/notesMasters/notesMaster1.xml" Id="R98c6ab833f674d1d"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994ffb7ca745495e" /><Relationship Type="http://schemas.openxmlformats.org/officeDocument/2006/relationships/notesMaster" Target="/ppt/notesMasters/notesMaster1.xml" Id="Rc579ac37c4dc4e49"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22eb5938588b4233" /><Relationship Type="http://schemas.openxmlformats.org/officeDocument/2006/relationships/notesMaster" Target="/ppt/notesMasters/notesMaster1.xml" Id="Rcf62076ce1b14231"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5ac2a5d0dbb342fc" /><Relationship Type="http://schemas.openxmlformats.org/officeDocument/2006/relationships/notesMaster" Target="/ppt/notesMasters/notesMaster1.xml" Id="R75b956c53ef146a9"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6e219820fcf040ba" /><Relationship Type="http://schemas.openxmlformats.org/officeDocument/2006/relationships/notesMaster" Target="/ppt/notesMasters/notesMaster1.xml" Id="R5804ab1ecd2e489b"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94e6868186af4698" /><Relationship Type="http://schemas.openxmlformats.org/officeDocument/2006/relationships/notesMaster" Target="/ppt/notesMasters/notesMaster1.xml" Id="R91ff79c93a7e41a9"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00731b4793f0429e" /><Relationship Type="http://schemas.openxmlformats.org/officeDocument/2006/relationships/notesMaster" Target="/ppt/notesMasters/notesMaster1.xml" Id="Ra49b1f7cedc8450f"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6d3043355dee446c" /><Relationship Type="http://schemas.openxmlformats.org/officeDocument/2006/relationships/notesMaster" Target="/ppt/notesMasters/notesMaster1.xml" Id="Rf784593b0a1b44c9"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c95e3e7ebbc647d4" /><Relationship Type="http://schemas.openxmlformats.org/officeDocument/2006/relationships/notesMaster" Target="/ppt/notesMasters/notesMaster1.xml" Id="R06eb2b48a7bb4f9f"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287f663df284482e" /><Relationship Type="http://schemas.openxmlformats.org/officeDocument/2006/relationships/notesMaster" Target="/ppt/notesMasters/notesMaster1.xml" Id="Rc01345f7dc494af0"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83c3fbda130a4bdc" /><Relationship Type="http://schemas.openxmlformats.org/officeDocument/2006/relationships/notesMaster" Target="/ppt/notesMasters/notesMaster1.xml" Id="Rc17fe8a325a64b1d"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449936d1f01c4890" /><Relationship Type="http://schemas.openxmlformats.org/officeDocument/2006/relationships/notesMaster" Target="/ppt/notesMasters/notesMaster1.xml" Id="R2022fc7cd0684082"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af0f5ae9f9dd4345" /><Relationship Type="http://schemas.openxmlformats.org/officeDocument/2006/relationships/notesMaster" Target="/ppt/notesMasters/notesMaster1.xml" Id="R4e400eb1c449408f"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ffab3a9b15904ef3" /><Relationship Type="http://schemas.openxmlformats.org/officeDocument/2006/relationships/notesMaster" Target="/ppt/notesMasters/notesMaster1.xml" Id="R24253ac73b6f4585"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287e8834be274a60" /><Relationship Type="http://schemas.openxmlformats.org/officeDocument/2006/relationships/notesMaster" Target="/ppt/notesMasters/notesMaster1.xml" Id="R9a3ec90815304c98"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d18196c7d66641b3" /><Relationship Type="http://schemas.openxmlformats.org/officeDocument/2006/relationships/notesMaster" Target="/ppt/notesMasters/notesMaster1.xml" Id="R61fb572f3f1d45c5"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91e50045c90349cb" /><Relationship Type="http://schemas.openxmlformats.org/officeDocument/2006/relationships/notesMaster" Target="/ppt/notesMasters/notesMaster1.xml" Id="Rcfeee3840ef14efe"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fb8f7d8a09cc4c4f" /><Relationship Type="http://schemas.openxmlformats.org/officeDocument/2006/relationships/notesMaster" Target="/ppt/notesMasters/notesMaster1.xml" Id="Rd00fcbe4a1e549ea" /></Relationships>
</file>

<file path=ppt/notesSlides/_rels/notesSlide29.xml.rels>&#65279;<?xml version="1.0" encoding="utf-8"?><Relationships xmlns="http://schemas.openxmlformats.org/package/2006/relationships"><Relationship Type="http://schemas.openxmlformats.org/officeDocument/2006/relationships/slide" Target="/ppt/slides/slide29.xml" Id="R22187f66aaec4ace" /><Relationship Type="http://schemas.openxmlformats.org/officeDocument/2006/relationships/notesMaster" Target="/ppt/notesMasters/notesMaster1.xml" Id="R486642753430418c" /></Relationships>
</file>

<file path=ppt/notesSlides/_rels/notesSlide30.xml.rels>&#65279;<?xml version="1.0" encoding="utf-8"?><Relationships xmlns="http://schemas.openxmlformats.org/package/2006/relationships"><Relationship Type="http://schemas.openxmlformats.org/officeDocument/2006/relationships/slide" Target="/ppt/slides/slide30.xml" Id="Rbe27dccbbd924cb2" /><Relationship Type="http://schemas.openxmlformats.org/officeDocument/2006/relationships/notesMaster" Target="/ppt/notesMasters/notesMaster1.xml" Id="R689c342d73514334" /></Relationships>
</file>

<file path=ppt/notesSlides/_rels/notesSlide31.xml.rels>&#65279;<?xml version="1.0" encoding="utf-8"?><Relationships xmlns="http://schemas.openxmlformats.org/package/2006/relationships"><Relationship Type="http://schemas.openxmlformats.org/officeDocument/2006/relationships/slide" Target="/ppt/slides/slide31.xml" Id="Rdb0c287088834ff7" /><Relationship Type="http://schemas.openxmlformats.org/officeDocument/2006/relationships/notesMaster" Target="/ppt/notesMasters/notesMaster1.xml" Id="R04f18c104ba44eea" /></Relationships>
</file>

<file path=ppt/notesSlides/_rels/notesSlide32.xml.rels>&#65279;<?xml version="1.0" encoding="utf-8"?><Relationships xmlns="http://schemas.openxmlformats.org/package/2006/relationships"><Relationship Type="http://schemas.openxmlformats.org/officeDocument/2006/relationships/slide" Target="/ppt/slides/slide32.xml" Id="R5eed5b7f1f244145" /><Relationship Type="http://schemas.openxmlformats.org/officeDocument/2006/relationships/notesMaster" Target="/ppt/notesMasters/notesMaster1.xml" Id="R0d357283e17e4fcd" /></Relationships>
</file>

<file path=ppt/notesSlides/_rels/notesSlide33.xml.rels>&#65279;<?xml version="1.0" encoding="utf-8"?><Relationships xmlns="http://schemas.openxmlformats.org/package/2006/relationships"><Relationship Type="http://schemas.openxmlformats.org/officeDocument/2006/relationships/slide" Target="/ppt/slides/slide33.xml" Id="Rd33765f4c0a74400" /><Relationship Type="http://schemas.openxmlformats.org/officeDocument/2006/relationships/notesMaster" Target="/ppt/notesMasters/notesMaster1.xml" Id="Rbde12559f1904b82" /></Relationships>
</file>

<file path=ppt/notesSlides/_rels/notesSlide34.xml.rels>&#65279;<?xml version="1.0" encoding="utf-8"?><Relationships xmlns="http://schemas.openxmlformats.org/package/2006/relationships"><Relationship Type="http://schemas.openxmlformats.org/officeDocument/2006/relationships/slide" Target="/ppt/slides/slide34.xml" Id="Rab45d168da124663" /><Relationship Type="http://schemas.openxmlformats.org/officeDocument/2006/relationships/notesMaster" Target="/ppt/notesMasters/notesMaster1.xml" Id="Rf65474d9ce4e4983" /></Relationships>
</file>

<file path=ppt/notesSlides/_rels/notesSlide35.xml.rels>&#65279;<?xml version="1.0" encoding="utf-8"?><Relationships xmlns="http://schemas.openxmlformats.org/package/2006/relationships"><Relationship Type="http://schemas.openxmlformats.org/officeDocument/2006/relationships/slide" Target="/ppt/slides/slide35.xml" Id="R60cf7c44d2b14453" /><Relationship Type="http://schemas.openxmlformats.org/officeDocument/2006/relationships/notesMaster" Target="/ppt/notesMasters/notesMaster1.xml" Id="R452a6a85ae1e466f" /></Relationships>
</file>

<file path=ppt/notesSlides/_rels/notesSlide36.xml.rels>&#65279;<?xml version="1.0" encoding="utf-8"?><Relationships xmlns="http://schemas.openxmlformats.org/package/2006/relationships"><Relationship Type="http://schemas.openxmlformats.org/officeDocument/2006/relationships/slide" Target="/ppt/slides/slide36.xml" Id="R7b74948447044c6e" /><Relationship Type="http://schemas.openxmlformats.org/officeDocument/2006/relationships/notesMaster" Target="/ppt/notesMasters/notesMaster1.xml" Id="R71c9ba4f8134407b" /></Relationships>
</file>

<file path=ppt/notesSlides/_rels/notesSlide37.xml.rels>&#65279;<?xml version="1.0" encoding="utf-8"?><Relationships xmlns="http://schemas.openxmlformats.org/package/2006/relationships"><Relationship Type="http://schemas.openxmlformats.org/officeDocument/2006/relationships/slide" Target="/ppt/slides/slide37.xml" Id="R0fffe9e6495e485d" /><Relationship Type="http://schemas.openxmlformats.org/officeDocument/2006/relationships/notesMaster" Target="/ppt/notesMasters/notesMaster1.xml" Id="R2a59578df4de415b" /></Relationships>
</file>

<file path=ppt/notesSlides/_rels/notesSlide38.xml.rels>&#65279;<?xml version="1.0" encoding="utf-8"?><Relationships xmlns="http://schemas.openxmlformats.org/package/2006/relationships"><Relationship Type="http://schemas.openxmlformats.org/officeDocument/2006/relationships/slide" Target="/ppt/slides/slide38.xml" Id="Ra6804be7afc54c19" /><Relationship Type="http://schemas.openxmlformats.org/officeDocument/2006/relationships/notesMaster" Target="/ppt/notesMasters/notesMaster1.xml" Id="R4542e7f940f34caf" /></Relationships>
</file>

<file path=ppt/notesSlides/_rels/notesSlide39.xml.rels>&#65279;<?xml version="1.0" encoding="utf-8"?><Relationships xmlns="http://schemas.openxmlformats.org/package/2006/relationships"><Relationship Type="http://schemas.openxmlformats.org/officeDocument/2006/relationships/slide" Target="/ppt/slides/slide39.xml" Id="R700607f5924c44ff" /><Relationship Type="http://schemas.openxmlformats.org/officeDocument/2006/relationships/notesMaster" Target="/ppt/notesMasters/notesMaster1.xml" Id="R0f2bc3c965d94585" /></Relationships>
</file>

<file path=ppt/notesSlides/_rels/notesSlide40.xml.rels>&#65279;<?xml version="1.0" encoding="utf-8"?><Relationships xmlns="http://schemas.openxmlformats.org/package/2006/relationships"><Relationship Type="http://schemas.openxmlformats.org/officeDocument/2006/relationships/slide" Target="/ppt/slides/slide40.xml" Id="R001caf02081044fd" /><Relationship Type="http://schemas.openxmlformats.org/officeDocument/2006/relationships/notesMaster" Target="/ppt/notesMasters/notesMaster1.xml" Id="R7270129fb9df4280" /></Relationships>
</file>

<file path=ppt/notesSlides/_rels/notesSlide41.xml.rels>&#65279;<?xml version="1.0" encoding="utf-8"?><Relationships xmlns="http://schemas.openxmlformats.org/package/2006/relationships"><Relationship Type="http://schemas.openxmlformats.org/officeDocument/2006/relationships/slide" Target="/ppt/slides/slide41.xml" Id="R305a48a34d084de6" /><Relationship Type="http://schemas.openxmlformats.org/officeDocument/2006/relationships/notesMaster" Target="/ppt/notesMasters/notesMaster1.xml" Id="R692fa03700d64128" /></Relationships>
</file>

<file path=ppt/notesSlides/_rels/notesSlide42.xml.rels>&#65279;<?xml version="1.0" encoding="utf-8"?><Relationships xmlns="http://schemas.openxmlformats.org/package/2006/relationships"><Relationship Type="http://schemas.openxmlformats.org/officeDocument/2006/relationships/slide" Target="/ppt/slides/slide42.xml" Id="Re35325275f314217" /><Relationship Type="http://schemas.openxmlformats.org/officeDocument/2006/relationships/notesMaster" Target="/ppt/notesMasters/notesMaster1.xml" Id="Rcfa3e22c172f421c" /></Relationships>
</file>

<file path=ppt/notesSlides/_rels/notesSlide43.xml.rels>&#65279;<?xml version="1.0" encoding="utf-8"?><Relationships xmlns="http://schemas.openxmlformats.org/package/2006/relationships"><Relationship Type="http://schemas.openxmlformats.org/officeDocument/2006/relationships/slide" Target="/ppt/slides/slide43.xml" Id="R0c5b836cf837457c" /><Relationship Type="http://schemas.openxmlformats.org/officeDocument/2006/relationships/notesMaster" Target="/ppt/notesMasters/notesMaster1.xml" Id="R95fd08b6feee4b8d" /></Relationships>
</file>

<file path=ppt/notesSlides/_rels/notesSlide44.xml.rels>&#65279;<?xml version="1.0" encoding="utf-8"?><Relationships xmlns="http://schemas.openxmlformats.org/package/2006/relationships"><Relationship Type="http://schemas.openxmlformats.org/officeDocument/2006/relationships/slide" Target="/ppt/slides/slide44.xml" Id="R1867f32347b7479e" /><Relationship Type="http://schemas.openxmlformats.org/officeDocument/2006/relationships/notesMaster" Target="/ppt/notesMasters/notesMaster1.xml" Id="R62304ab295cf483a" /></Relationships>
</file>

<file path=ppt/notesSlides/_rels/notesSlide45.xml.rels>&#65279;<?xml version="1.0" encoding="utf-8"?><Relationships xmlns="http://schemas.openxmlformats.org/package/2006/relationships"><Relationship Type="http://schemas.openxmlformats.org/officeDocument/2006/relationships/slide" Target="/ppt/slides/slide45.xml" Id="R1a26a090026941b2" /><Relationship Type="http://schemas.openxmlformats.org/officeDocument/2006/relationships/notesMaster" Target="/ppt/notesMasters/notesMaster1.xml" Id="R8754002ff4db431c" /></Relationships>
</file>

<file path=ppt/notesSlides/_rels/notesSlide46.xml.rels>&#65279;<?xml version="1.0" encoding="utf-8"?><Relationships xmlns="http://schemas.openxmlformats.org/package/2006/relationships"><Relationship Type="http://schemas.openxmlformats.org/officeDocument/2006/relationships/slide" Target="/ppt/slides/slide46.xml" Id="Ra5828b1585f84fa7" /><Relationship Type="http://schemas.openxmlformats.org/officeDocument/2006/relationships/notesMaster" Target="/ppt/notesMasters/notesMaster1.xml" Id="R11cddc74be744384" /></Relationships>
</file>

<file path=ppt/notesSlides/_rels/notesSlide47.xml.rels>&#65279;<?xml version="1.0" encoding="utf-8"?><Relationships xmlns="http://schemas.openxmlformats.org/package/2006/relationships"><Relationship Type="http://schemas.openxmlformats.org/officeDocument/2006/relationships/slide" Target="/ppt/slides/slide47.xml" Id="R9d61970144bd424e" /><Relationship Type="http://schemas.openxmlformats.org/officeDocument/2006/relationships/notesMaster" Target="/ppt/notesMasters/notesMaster1.xml" Id="R79111d35dc4d4dcd" /></Relationships>
</file>

<file path=ppt/notesSlides/_rels/notesSlide48.xml.rels>&#65279;<?xml version="1.0" encoding="utf-8"?><Relationships xmlns="http://schemas.openxmlformats.org/package/2006/relationships"><Relationship Type="http://schemas.openxmlformats.org/officeDocument/2006/relationships/slide" Target="/ppt/slides/slide48.xml" Id="R9a8d3155cfbf4c17" /><Relationship Type="http://schemas.openxmlformats.org/officeDocument/2006/relationships/notesMaster" Target="/ppt/notesMasters/notesMaster1.xml" Id="Rc848790d6c5649ad" /></Relationships>
</file>

<file path=ppt/notesSlides/_rels/notesSlide49.xml.rels>&#65279;<?xml version="1.0" encoding="utf-8"?><Relationships xmlns="http://schemas.openxmlformats.org/package/2006/relationships"><Relationship Type="http://schemas.openxmlformats.org/officeDocument/2006/relationships/slide" Target="/ppt/slides/slide49.xml" Id="Re4795fefcf214768" /><Relationship Type="http://schemas.openxmlformats.org/officeDocument/2006/relationships/notesMaster" Target="/ppt/notesMasters/notesMaster1.xml" Id="R852ea46830e74a74" /></Relationships>
</file>

<file path=ppt/notesSlides/_rels/notesSlide50.xml.rels>&#65279;<?xml version="1.0" encoding="utf-8"?><Relationships xmlns="http://schemas.openxmlformats.org/package/2006/relationships"><Relationship Type="http://schemas.openxmlformats.org/officeDocument/2006/relationships/slide" Target="/ppt/slides/slide50.xml" Id="R54f4165f488e4507" /><Relationship Type="http://schemas.openxmlformats.org/officeDocument/2006/relationships/notesMaster" Target="/ppt/notesMasters/notesMaster1.xml" Id="R53bb5fea0c6e4e71" /></Relationships>
</file>

<file path=ppt/notesSlides/_rels/notesSlide51.xml.rels>&#65279;<?xml version="1.0" encoding="utf-8"?><Relationships xmlns="http://schemas.openxmlformats.org/package/2006/relationships"><Relationship Type="http://schemas.openxmlformats.org/officeDocument/2006/relationships/slide" Target="/ppt/slides/slide51.xml" Id="Rdf5f2c32522e4ff0" /><Relationship Type="http://schemas.openxmlformats.org/officeDocument/2006/relationships/notesMaster" Target="/ppt/notesMasters/notesMaster1.xml" Id="Rf055ca2ea2854233" /></Relationships>
</file>

<file path=ppt/notesSlides/_rels/notesSlide52.xml.rels>&#65279;<?xml version="1.0" encoding="utf-8"?><Relationships xmlns="http://schemas.openxmlformats.org/package/2006/relationships"><Relationship Type="http://schemas.openxmlformats.org/officeDocument/2006/relationships/slide" Target="/ppt/slides/slide52.xml" Id="R8ac771512e8c45eb" /><Relationship Type="http://schemas.openxmlformats.org/officeDocument/2006/relationships/notesMaster" Target="/ppt/notesMasters/notesMaster1.xml" Id="R079dea9d5f2c4304" /></Relationships>
</file>

<file path=ppt/notesSlides/_rels/notesSlide53.xml.rels>&#65279;<?xml version="1.0" encoding="utf-8"?><Relationships xmlns="http://schemas.openxmlformats.org/package/2006/relationships"><Relationship Type="http://schemas.openxmlformats.org/officeDocument/2006/relationships/slide" Target="/ppt/slides/slide53.xml" Id="Ra232c2068e7b4973" /><Relationship Type="http://schemas.openxmlformats.org/officeDocument/2006/relationships/notesMaster" Target="/ppt/notesMasters/notesMaster1.xml" Id="Rb25be7c7658c46ec" /></Relationships>
</file>

<file path=ppt/notesSlides/_rels/notesSlide54.xml.rels>&#65279;<?xml version="1.0" encoding="utf-8"?><Relationships xmlns="http://schemas.openxmlformats.org/package/2006/relationships"><Relationship Type="http://schemas.openxmlformats.org/officeDocument/2006/relationships/slide" Target="/ppt/slides/slide54.xml" Id="R3825d3a7e32248e4" /><Relationship Type="http://schemas.openxmlformats.org/officeDocument/2006/relationships/notesMaster" Target="/ppt/notesMasters/notesMaster1.xml" Id="Rd958afc01b2b4b05" /></Relationships>
</file>

<file path=ppt/notesSlides/_rels/notesSlide55.xml.rels>&#65279;<?xml version="1.0" encoding="utf-8"?><Relationships xmlns="http://schemas.openxmlformats.org/package/2006/relationships"><Relationship Type="http://schemas.openxmlformats.org/officeDocument/2006/relationships/slide" Target="/ppt/slides/slide55.xml" Id="R1f31bb83041f4fcd" /><Relationship Type="http://schemas.openxmlformats.org/officeDocument/2006/relationships/notesMaster" Target="/ppt/notesMasters/notesMaster1.xml" Id="R676beed65cf84ca1" /></Relationships>
</file>

<file path=ppt/notesSlides/_rels/notesSlide56.xml.rels>&#65279;<?xml version="1.0" encoding="utf-8"?><Relationships xmlns="http://schemas.openxmlformats.org/package/2006/relationships"><Relationship Type="http://schemas.openxmlformats.org/officeDocument/2006/relationships/slide" Target="/ppt/slides/slide56.xml" Id="R64fa5d1a2cf14999" /><Relationship Type="http://schemas.openxmlformats.org/officeDocument/2006/relationships/notesMaster" Target="/ppt/notesMasters/notesMaster1.xml" Id="Rf1faddc9efa640fd" /></Relationships>
</file>

<file path=ppt/notesSlides/_rels/notesSlide57.xml.rels>&#65279;<?xml version="1.0" encoding="utf-8"?><Relationships xmlns="http://schemas.openxmlformats.org/package/2006/relationships"><Relationship Type="http://schemas.openxmlformats.org/officeDocument/2006/relationships/slide" Target="/ppt/slides/slide57.xml" Id="Rce42afef15904314" /><Relationship Type="http://schemas.openxmlformats.org/officeDocument/2006/relationships/notesMaster" Target="/ppt/notesMasters/notesMaster1.xml" Id="Rd663cfe9087843b7" /></Relationships>
</file>

<file path=ppt/notesSlides/_rels/notesSlide58.xml.rels>&#65279;<?xml version="1.0" encoding="utf-8"?><Relationships xmlns="http://schemas.openxmlformats.org/package/2006/relationships"><Relationship Type="http://schemas.openxmlformats.org/officeDocument/2006/relationships/slide" Target="/ppt/slides/slide58.xml" Id="R6f411d224a014d57" /><Relationship Type="http://schemas.openxmlformats.org/officeDocument/2006/relationships/notesMaster" Target="/ppt/notesMasters/notesMaster1.xml" Id="Rcaca9b09e0754d86" /></Relationships>
</file>

<file path=ppt/notesSlides/_rels/notesSlide59.xml.rels>&#65279;<?xml version="1.0" encoding="utf-8"?><Relationships xmlns="http://schemas.openxmlformats.org/package/2006/relationships"><Relationship Type="http://schemas.openxmlformats.org/officeDocument/2006/relationships/slide" Target="/ppt/slides/slide59.xml" Id="R55c3aa46491d4dc5" /><Relationship Type="http://schemas.openxmlformats.org/officeDocument/2006/relationships/notesMaster" Target="/ppt/notesMasters/notesMaster1.xml" Id="R1eda51afed314457" /></Relationships>
</file>

<file path=ppt/notesSlides/_rels/notesSlide60.xml.rels>&#65279;<?xml version="1.0" encoding="utf-8"?><Relationships xmlns="http://schemas.openxmlformats.org/package/2006/relationships"><Relationship Type="http://schemas.openxmlformats.org/officeDocument/2006/relationships/slide" Target="/ppt/slides/slide60.xml" Id="Ra0e76e22bdd2488e" /><Relationship Type="http://schemas.openxmlformats.org/officeDocument/2006/relationships/notesMaster" Target="/ppt/notesMasters/notesMaster1.xml" Id="R8656654948094ea1" /></Relationships>
</file>

<file path=ppt/notesSlides/notesSlide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Lists loops and reading a table</a:t>
            </a:r>
          </a:p>
          <a:p>
            <a:r>
              <a:t/>
            </a:r>
          </a:p>
          <a:p>
            <a:r>
              <a:t>LECTURER CUE</a:t>
            </a:r>
          </a:p>
          <a:p>
            <a:r>
              <a:t>Use PowerPoint Presenter View for these notes. Teach one example, pause for every learner to predict, then work an analogous example together. The practice notebook is a learning aid, not an extra graded upload.</a:t>
            </a:r>
          </a:p>
          <a:p>
            <a:r>
              <a:t/>
            </a:r>
          </a:p>
          <a:p>
            <a:r>
              <a:t>EXPLAIN IN ORDINARY WORDS</a:t>
            </a:r>
          </a:p>
          <a:p>
            <a:r>
              <a:t>A list keeps items in order. Python positions start at zero. In [2,4,6], position 0 contains 2 and position 2 contains 6. A slice excludes its stop position.</a:t>
            </a:r>
          </a:p>
          <a:p>
            <a:r>
              <a:t/>
            </a:r>
          </a:p>
          <a:p>
            <a:r>
              <a:t>CHECK AND EXPECTED ANSWER</a:t>
            </a:r>
          </a:p>
          <a:p>
            <a:r>
              <a:t>What is [2,4,6][1]? 4. Is there a position 3? No.</a:t>
            </a:r>
          </a:p>
          <a:p>
            <a:r>
              <a:t/>
            </a:r>
          </a:p>
          <a:p>
            <a:r>
              <a:t>IF LEARNERS ARE STUCK</a:t>
            </a:r>
          </a:p>
          <a:p>
            <a:r>
              <a:t>Draw three numbered boxes starting at zero. Keep the position separate from the value stored in it.</a:t>
            </a:r>
          </a:p>
          <a:p>
            <a:r>
              <a:t/>
            </a:r>
          </a:p>
          <a:p>
            <a:r>
              <a:t>NEXT</a:t>
            </a:r>
          </a:p>
          <a:p>
            <a:r>
              <a:t>Today’s learning.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Today’s learning</a:t>
            </a:r>
          </a:p>
          <a:p>
            <a:r>
              <a:t/>
            </a:r>
          </a:p>
          <a:p>
            <a:r>
              <a:t>CONNECT</a:t>
            </a:r>
          </a:p>
          <a:p>
            <a:r>
              <a:t>Build on the preceding slide: Lists loops and reading a table.</a:t>
            </a:r>
          </a:p>
          <a:p>
            <a:r>
              <a:t/>
            </a:r>
          </a:p>
          <a:p>
            <a:r>
              <a:t>LECTURER CUE</a:t>
            </a:r>
          </a:p>
          <a:p>
            <a:r>
              <a:t>Ask learners to explain this goal in ordinary language. The first successful attempt matters more than covering optional extensions. Defer: Nested comprehensions, arbitrary exception handling, a blank-page investigation and data-source hunting are later practice. Never use except: pass to silently erase evidence.</a:t>
            </a:r>
          </a:p>
          <a:p>
            <a:r>
              <a:t/>
            </a:r>
          </a:p>
          <a:p>
            <a:r>
              <a:t>EXPLAIN IN ORDINARY WORDS</a:t>
            </a:r>
          </a:p>
          <a:p>
            <a:r>
              <a:t>A CSV is a text table. The header supplies column names. With csv.DictReader, values start as text, even if they look like numbers. A path tells Python where the file is.</a:t>
            </a:r>
          </a:p>
          <a:p>
            <a:r>
              <a:t/>
            </a:r>
          </a:p>
          <a:p>
            <a:r>
              <a:t>CHECK AND EXPECTED ANSWER</a:t>
            </a:r>
          </a:p>
          <a:p>
            <a:r>
              <a:t>Can "2.5" from csv.DictReader be added as a number without conversion? No; convert valid numeric text first.</a:t>
            </a:r>
          </a:p>
          <a:p>
            <a:r>
              <a:t/>
            </a:r>
          </a:p>
          <a:p>
            <a:r>
              <a:t>IF LEARNERS ARE STUCK</a:t>
            </a:r>
          </a:p>
          <a:p>
            <a:r>
              <a:t>Show the file in the runtime folder and compare its exact filename, case and column headers. Upload data again after a fresh Colab runtime.</a:t>
            </a:r>
          </a:p>
          <a:p>
            <a:r>
              <a:t/>
            </a:r>
          </a:p>
          <a:p>
            <a:r>
              <a:t>NEXT</a:t>
            </a:r>
          </a:p>
          <a:p>
            <a:r>
              <a:t>Recall and a first attempt.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Recall and a first attempt</a:t>
            </a:r>
          </a:p>
          <a:p>
            <a:r>
              <a:t/>
            </a:r>
          </a:p>
          <a:p>
            <a:r>
              <a:t>CONNECT</a:t>
            </a:r>
          </a:p>
          <a:p>
            <a:r>
              <a:t>Build on the preceding slide: Today’s learning.</a:t>
            </a:r>
          </a:p>
          <a:p>
            <a:r>
              <a:t/>
            </a:r>
          </a:p>
          <a:p>
            <a:r>
              <a:t>LECTURER CUE</a:t>
            </a:r>
          </a:p>
          <a:p>
            <a:r>
              <a:t>Allow two minutes for everyone to try. Ask pairs to compare. If many cannot begin, show the first step and repeat with changed values. Checkpoint for today: Students trace the running total without executing and identify the numeric field in the real CSV. Revisit a three-item list if either step fails.</a:t>
            </a:r>
          </a:p>
          <a:p>
            <a:r>
              <a:t/>
            </a:r>
          </a:p>
          <a:p>
            <a:r>
              <a:t>EXPLAIN IN ORDINARY WORDS</a:t>
            </a:r>
          </a:p>
          <a:p>
            <a:r>
              <a:t>Name the positive class first. Actual is what happened; predicted is the model decision. Precision asks how many predicted positives were right. Recall asks how many actual positives were found.</a:t>
            </a:r>
          </a:p>
          <a:p>
            <a:r>
              <a:t/>
            </a:r>
          </a:p>
          <a:p>
            <a:r>
              <a:t>CHECK AND EXPECTED ANSWER</a:t>
            </a:r>
          </a:p>
          <a:p>
            <a:r>
              <a:t>With TP=2, FP=1, FN=2: precision=2/3 and recall=2/4. A missed actual positive is a false negative.</a:t>
            </a:r>
          </a:p>
          <a:p>
            <a:r>
              <a:t/>
            </a:r>
          </a:p>
          <a:p>
            <a:r>
              <a:t>IF LEARNERS ARE STUCK</a:t>
            </a:r>
          </a:p>
          <a:p>
            <a:r>
              <a:t>Draw actual/predicted headings. Place one case at a time before calculating a fraction. Explain the task rule for a zero denominator.</a:t>
            </a:r>
          </a:p>
          <a:p>
            <a:r>
              <a:t/>
            </a:r>
          </a:p>
          <a:p>
            <a:r>
              <a:t>NEXT</a:t>
            </a:r>
          </a:p>
          <a:p>
            <a:r>
              <a:t>The engineering context.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The engineering context</a:t>
            </a:r>
          </a:p>
          <a:p>
            <a:r>
              <a:t/>
            </a:r>
          </a:p>
          <a:p>
            <a:r>
              <a:t>CONNECT</a:t>
            </a:r>
          </a:p>
          <a:p>
            <a:r>
              <a:t>Build on the preceding slide: Recall and a first attempt.</a:t>
            </a:r>
          </a:p>
          <a:p>
            <a:r>
              <a:t/>
            </a:r>
          </a:p>
          <a:p>
            <a:r>
              <a:t>LECTURER CUE</a:t>
            </a:r>
          </a:p>
          <a:p>
            <a:r>
              <a:t>A pump team records temperature to investigate operation. Mining students can relate this to a dewatering pump; petroleum students to a transfer pump. These are teaching examples, not operating limits.</a:t>
            </a:r>
          </a:p>
          <a:p>
            <a:r>
              <a:t/>
            </a:r>
          </a:p>
          <a:p>
            <a:r>
              <a:t>EXPLAIN IN ORDINARY WORDS</a:t>
            </a:r>
          </a:p>
          <a:p>
            <a:r>
              <a:t>An observation describes the data. A finding answers a defined question with evidence. A recommendation adds an action, its justification and limits.</a:t>
            </a:r>
          </a:p>
          <a:p>
            <a:r>
              <a:t/>
            </a:r>
          </a:p>
          <a:p>
            <a:r>
              <a:t>CHECK AND EXPECTED ANSWER</a:t>
            </a:r>
          </a:p>
          <a:p>
            <a:r>
              <a:t>Does a difference between two groups prove one caused the other? No. Other differences or selection may explain it.</a:t>
            </a:r>
          </a:p>
          <a:p>
            <a:r>
              <a:t/>
            </a:r>
          </a:p>
          <a:p>
            <a:r>
              <a:t>IF LEARNERS ARE STUCK</a:t>
            </a:r>
          </a:p>
          <a:p>
            <a:r>
              <a:t>Ask for the population, time period, number and comparison. Then ask what additional evidence could change the recommendation.</a:t>
            </a:r>
          </a:p>
          <a:p>
            <a:r>
              <a:t/>
            </a:r>
          </a:p>
          <a:p>
            <a:r>
              <a:t>NEXT</a:t>
            </a:r>
          </a:p>
          <a:p>
            <a:r>
              <a:t>List and index.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List and index</a:t>
            </a:r>
          </a:p>
          <a:p>
            <a:r>
              <a:t/>
            </a:r>
          </a:p>
          <a:p>
            <a:r>
              <a:t>CONNECT</a:t>
            </a:r>
          </a:p>
          <a:p>
            <a:r>
              <a:t>Build on the preceding slide: The engineering context.</a:t>
            </a:r>
          </a:p>
          <a:p>
            <a:r>
              <a:t/>
            </a:r>
          </a:p>
          <a:p>
            <a:r>
              <a:t>EXPLAIN IN ORDINARY WORDS</a:t>
            </a:r>
          </a:p>
          <a:p>
            <a:r>
              <a:t>A list keeps items in order. Python positions start at zero. In [2,4,6], position 0 contains 2 and position 2 contains 6. A slice excludes its stop position.</a:t>
            </a:r>
          </a:p>
          <a:p>
            <a:r>
              <a:t/>
            </a:r>
          </a:p>
          <a:p>
            <a:r>
              <a:t>CHECK AND EXPECTED ANSWER</a:t>
            </a:r>
          </a:p>
          <a:p>
            <a:r>
              <a:t>What is [2,4,6][1]? 4. Is there a position 3? No.</a:t>
            </a:r>
          </a:p>
          <a:p>
            <a:r>
              <a:t/>
            </a:r>
          </a:p>
          <a:p>
            <a:r>
              <a:t>IF LEARNERS ARE STUCK</a:t>
            </a:r>
          </a:p>
          <a:p>
            <a:r>
              <a:t>Draw three numbered boxes starting at zero. Keep the position separate from the value stored in it.</a:t>
            </a:r>
          </a:p>
          <a:p>
            <a:r>
              <a:t/>
            </a:r>
          </a:p>
          <a:p>
            <a:r>
              <a:t>POINT TO THE DEFINITION</a:t>
            </a:r>
          </a:p>
          <a:p>
            <a:r>
              <a:t>List and index: A list holds values in order: [2, 4, 6]. Square brackets select a position. readings[0] selects the first item, 2.</a:t>
            </a:r>
          </a:p>
          <a:p>
            <a:r>
              <a:t/>
            </a:r>
          </a:p>
          <a:p>
            <a:r>
              <a:t>NEXT</a:t>
            </a:r>
          </a:p>
          <a:p>
            <a:r>
              <a:t>A list position starts at zero.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6.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A list position starts at zero</a:t>
            </a:r>
          </a:p>
          <a:p>
            <a:r>
              <a:t/>
            </a:r>
          </a:p>
          <a:p>
            <a:r>
              <a:t>CONNECT</a:t>
            </a:r>
          </a:p>
          <a:p>
            <a:r>
              <a:t>Build on the preceding slide: List and index.</a:t>
            </a:r>
          </a:p>
          <a:p>
            <a:r>
              <a:t/>
            </a:r>
          </a:p>
          <a:p>
            <a:r>
              <a:t>LECTURER CUE</a:t>
            </a:r>
          </a:p>
          <a:p>
            <a:r>
              <a:t>Draw three boxes labelled 0, 1 and 2 holding 2, 4 and 6. Read the first item aloud, then trace the loop by hand.</a:t>
            </a:r>
          </a:p>
          <a:p>
            <a:r>
              <a:t/>
            </a:r>
          </a:p>
          <a:p>
            <a:r>
              <a:t>EXPLAIN IN ORDINARY WORDS</a:t>
            </a:r>
          </a:p>
          <a:p>
            <a:r>
              <a:t>A list keeps items in order. Python positions start at zero. In [2,4,6], position 0 contains 2 and position 2 contains 6. A slice excludes its stop position.</a:t>
            </a:r>
          </a:p>
          <a:p>
            <a:r>
              <a:t/>
            </a:r>
          </a:p>
          <a:p>
            <a:r>
              <a:t>CHECK AND EXPECTED ANSWER</a:t>
            </a:r>
          </a:p>
          <a:p>
            <a:r>
              <a:t>What is [2,4,6][1]? 4. Is there a position 3? No.</a:t>
            </a:r>
          </a:p>
          <a:p>
            <a:r>
              <a:t/>
            </a:r>
          </a:p>
          <a:p>
            <a:r>
              <a:t>IF LEARNERS ARE STUCK</a:t>
            </a:r>
          </a:p>
          <a:p>
            <a:r>
              <a:t>Draw three numbered boxes starting at zero. Keep the position separate from the value stored in it.</a:t>
            </a:r>
          </a:p>
          <a:p>
            <a:r>
              <a:t/>
            </a:r>
          </a:p>
          <a:p>
            <a:r>
              <a:t>NEXT</a:t>
            </a:r>
          </a:p>
          <a:p>
            <a:r>
              <a:t>Read list operations.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7.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Read list operations</a:t>
            </a:r>
          </a:p>
          <a:p>
            <a:r>
              <a:t/>
            </a:r>
          </a:p>
          <a:p>
            <a:r>
              <a:t>CONNECT</a:t>
            </a:r>
          </a:p>
          <a:p>
            <a:r>
              <a:t>Build on the preceding slide: A list position starts at zero.</a:t>
            </a:r>
          </a:p>
          <a:p>
            <a:r>
              <a:t/>
            </a:r>
          </a:p>
          <a:p>
            <a:r>
              <a:t>EXPLAIN IN ORDINARY WORDS</a:t>
            </a:r>
          </a:p>
          <a:p>
            <a:r>
              <a:t>A list keeps items in order. Python positions start at zero. In [2,4,6], position 0 contains 2 and position 2 contains 6. A slice excludes its stop position.</a:t>
            </a:r>
          </a:p>
          <a:p>
            <a:r>
              <a:t/>
            </a:r>
          </a:p>
          <a:p>
            <a:r>
              <a:t>CHECK AND EXPECTED ANSWER</a:t>
            </a:r>
          </a:p>
          <a:p>
            <a:r>
              <a:t>What is [2,4,6][1]? 4. Is there a position 3? No.</a:t>
            </a:r>
          </a:p>
          <a:p>
            <a:r>
              <a:t/>
            </a:r>
          </a:p>
          <a:p>
            <a:r>
              <a:t>IF LEARNERS ARE STUCK</a:t>
            </a:r>
          </a:p>
          <a:p>
            <a:r>
              <a:t>Draw three numbered boxes starting at zero. Keep the position separate from the value stored in it.</a:t>
            </a:r>
          </a:p>
          <a:p>
            <a:r>
              <a:t/>
            </a:r>
          </a:p>
          <a:p>
            <a:r>
              <a:t>POINT TO THE DEFINITION</a:t>
            </a:r>
          </a:p>
          <a:p>
            <a:r>
              <a:t>append and len: readings.append(8) adds 8 to the end of the list. len(readings) counts its items. The dot selects an operation belonging to that object; parentheses call it.</a:t>
            </a:r>
          </a:p>
          <a:p>
            <a:r>
              <a:t>Slice: readings[1:3] selects positions 1 and 2. The stop position 3 is excluded. A slice produces a new list; it does not remove items from the original.</a:t>
            </a:r>
          </a:p>
          <a:p>
            <a:r>
              <a:t/>
            </a:r>
          </a:p>
          <a:p>
            <a:r>
              <a:t>NEXT</a:t>
            </a:r>
          </a:p>
          <a:p>
            <a:r>
              <a:t>A list stores items in order.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8.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A list stores items in order</a:t>
            </a:r>
          </a:p>
          <a:p>
            <a:r>
              <a:t/>
            </a:r>
          </a:p>
          <a:p>
            <a:r>
              <a:t>CONNECT</a:t>
            </a:r>
          </a:p>
          <a:p>
            <a:r>
              <a:t>Build on the preceding slide: Read list operations.</a:t>
            </a:r>
          </a:p>
          <a:p>
            <a:r>
              <a:t/>
            </a:r>
          </a:p>
          <a:p>
            <a:r>
              <a:t>LECTURER CUE</a:t>
            </a:r>
          </a:p>
          <a:p>
            <a:r>
              <a:t>Read each symbol before running. Ask everyone to predict. Expected output: 2 then 4 then [4, 6]. readings[4] would raise IndexError.</a:t>
            </a:r>
          </a:p>
          <a:p>
            <a:r>
              <a:t/>
            </a:r>
          </a:p>
          <a:p>
            <a:r>
              <a:t>EXPLAIN IN ORDINARY WORDS</a:t>
            </a:r>
          </a:p>
          <a:p>
            <a:r>
              <a:t>A list keeps items in order. Python positions start at zero. In [2,4,6], position 0 contains 2 and position 2 contains 6. A slice excludes its stop position.</a:t>
            </a:r>
          </a:p>
          <a:p>
            <a:r>
              <a:t/>
            </a:r>
          </a:p>
          <a:p>
            <a:r>
              <a:t>CHECK AND EXPECTED ANSWER</a:t>
            </a:r>
          </a:p>
          <a:p>
            <a:r>
              <a:t>What is [2,4,6][1]? 4. Is there a position 3? No.</a:t>
            </a:r>
          </a:p>
          <a:p>
            <a:r>
              <a:t/>
            </a:r>
          </a:p>
          <a:p>
            <a:r>
              <a:t>IF LEARNERS ARE STUCK</a:t>
            </a:r>
          </a:p>
          <a:p>
            <a:r>
              <a:t>Draw three numbered boxes starting at zero. Keep the position separate from the value stored in it.</a:t>
            </a:r>
          </a:p>
          <a:p>
            <a:r>
              <a:t/>
            </a:r>
          </a:p>
          <a:p>
            <a:r>
              <a:t>WALK THROUGH THIS CODE</a:t>
            </a:r>
          </a:p>
          <a:p>
            <a:r>
              <a:t>print displays a value below the cell.</a:t>
            </a:r>
          </a:p>
          <a:p>
            <a:r>
              <a:t>append adds one item to the end of a list.</a:t>
            </a:r>
          </a:p>
          <a:p>
            <a:r>
              <a:t>Square brackets create a list or select an item.</a:t>
            </a:r>
          </a:p>
          <a:p>
            <a:r>
              <a:t>Read the displayed lines in order, with the preceding code block if this example continues. Ask for the next value before running. The complete matching example is in guided_practice.ipynb; do not type a fragment into a new empty notebook.</a:t>
            </a:r>
          </a:p>
          <a:p>
            <a:r>
              <a:t/>
            </a:r>
          </a:p>
          <a:p>
            <a:r>
              <a:t>NEXT</a:t>
            </a:r>
          </a:p>
          <a:p>
            <a:r>
              <a:t>Loop and iteration.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9.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Loop and iteration</a:t>
            </a:r>
          </a:p>
          <a:p>
            <a:r>
              <a:t/>
            </a:r>
          </a:p>
          <a:p>
            <a:r>
              <a:t>CONNECT</a:t>
            </a:r>
          </a:p>
          <a:p>
            <a:r>
              <a:t>Build on the preceding slide: A list stores items in order.</a:t>
            </a:r>
          </a:p>
          <a:p>
            <a:r>
              <a:t/>
            </a:r>
          </a:p>
          <a:p>
            <a:r>
              <a:t>EXPLAIN IN ORDINARY WORDS</a:t>
            </a:r>
          </a:p>
          <a:p>
            <a:r>
              <a:t>A loop repeats its indented instructions for each item. A running total must be initialised before the loop and updated inside it.</a:t>
            </a:r>
          </a:p>
          <a:p>
            <a:r>
              <a:t/>
            </a:r>
          </a:p>
          <a:p>
            <a:r>
              <a:t>CHECK AND EXPECTED ANSWER</a:t>
            </a:r>
          </a:p>
          <a:p>
            <a:r>
              <a:t>For values 2,4,6 and total initially 0, what are the successive totals? 2,6,12.</a:t>
            </a:r>
          </a:p>
          <a:p>
            <a:r>
              <a:t/>
            </a:r>
          </a:p>
          <a:p>
            <a:r>
              <a:t>IF LEARNERS ARE STUCK</a:t>
            </a:r>
          </a:p>
          <a:p>
            <a:r>
              <a:t>Use a trace table with current item and total. Resetting total inside the loop loses earlier additions.</a:t>
            </a:r>
          </a:p>
          <a:p>
            <a:r>
              <a:t/>
            </a:r>
          </a:p>
          <a:p>
            <a:r>
              <a:t>POINT TO THE DEFINITION</a:t>
            </a:r>
          </a:p>
          <a:p>
            <a:r>
              <a:t>Loop and iteration: A for loop runs its indented body once per item. Each pass is one iteration.</a:t>
            </a:r>
          </a:p>
          <a:p>
            <a:r>
              <a:t/>
            </a:r>
          </a:p>
          <a:p>
            <a:r>
              <a:t>NEXT</a:t>
            </a:r>
          </a:p>
          <a:p>
            <a:r>
              <a:t>Accumulator.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0.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Accumulator</a:t>
            </a:r>
          </a:p>
          <a:p>
            <a:r>
              <a:t/>
            </a:r>
          </a:p>
          <a:p>
            <a:r>
              <a:t>CONNECT</a:t>
            </a:r>
          </a:p>
          <a:p>
            <a:r>
              <a:t>Build on the preceding slide: Loop and iteration.</a:t>
            </a:r>
          </a:p>
          <a:p>
            <a:r>
              <a:t/>
            </a:r>
          </a:p>
          <a:p>
            <a:r>
              <a:t>EXPLAIN IN ORDINARY WORDS</a:t>
            </a:r>
          </a:p>
          <a:p>
            <a:r>
              <a:t>A loop repeats its indented instructions for each item. A running total must be initialised before the loop and updated inside it.</a:t>
            </a:r>
          </a:p>
          <a:p>
            <a:r>
              <a:t/>
            </a:r>
          </a:p>
          <a:p>
            <a:r>
              <a:t>CHECK AND EXPECTED ANSWER</a:t>
            </a:r>
          </a:p>
          <a:p>
            <a:r>
              <a:t>For values 2,4,6 and total initially 0, what are the successive totals? 2,6,12.</a:t>
            </a:r>
          </a:p>
          <a:p>
            <a:r>
              <a:t/>
            </a:r>
          </a:p>
          <a:p>
            <a:r>
              <a:t>IF LEARNERS ARE STUCK</a:t>
            </a:r>
          </a:p>
          <a:p>
            <a:r>
              <a:t>Use a trace table with current item and total. Resetting total inside the loop loses earlier additions.</a:t>
            </a:r>
          </a:p>
          <a:p>
            <a:r>
              <a:t/>
            </a:r>
          </a:p>
          <a:p>
            <a:r>
              <a:t>POINT TO THE DEFINITION</a:t>
            </a:r>
          </a:p>
          <a:p>
            <a:r>
              <a:t>Accumulator: A running total. Set it to zero before the loop, add inside the loop, and read the final total afterward.</a:t>
            </a:r>
          </a:p>
          <a:p>
            <a:r>
              <a:t/>
            </a:r>
          </a:p>
          <a:p>
            <a:r>
              <a:t>NEXT</a:t>
            </a:r>
          </a:p>
          <a:p>
            <a:r>
              <a:t>A loop repeats an indented block.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A loop repeats an indented block</a:t>
            </a:r>
          </a:p>
          <a:p>
            <a:r>
              <a:t/>
            </a:r>
          </a:p>
          <a:p>
            <a:r>
              <a:t>CONNECT</a:t>
            </a:r>
          </a:p>
          <a:p>
            <a:r>
              <a:t>Build on the preceding slide: Accumulator.</a:t>
            </a:r>
          </a:p>
          <a:p>
            <a:r>
              <a:t/>
            </a:r>
          </a:p>
          <a:p>
            <a:r>
              <a:t>LECTURER CUE</a:t>
            </a:r>
          </a:p>
          <a:p>
            <a:r>
              <a:t>Trace the native loop table that follows. Predict total after each item. An empty list needs a guard before dividing by its length.</a:t>
            </a:r>
          </a:p>
          <a:p>
            <a:r>
              <a:t/>
            </a:r>
          </a:p>
          <a:p>
            <a:r>
              <a:t>EXPLAIN IN ORDINARY WORDS</a:t>
            </a:r>
          </a:p>
          <a:p>
            <a:r>
              <a:t>A loop repeats its indented instructions for each item. A running total must be initialised before the loop and updated inside it.</a:t>
            </a:r>
          </a:p>
          <a:p>
            <a:r>
              <a:t/>
            </a:r>
          </a:p>
          <a:p>
            <a:r>
              <a:t>CHECK AND EXPECTED ANSWER</a:t>
            </a:r>
          </a:p>
          <a:p>
            <a:r>
              <a:t>For values 2,4,6 and total initially 0, what are the successive totals? 2,6,12.</a:t>
            </a:r>
          </a:p>
          <a:p>
            <a:r>
              <a:t/>
            </a:r>
          </a:p>
          <a:p>
            <a:r>
              <a:t>IF LEARNERS ARE STUCK</a:t>
            </a:r>
          </a:p>
          <a:p>
            <a:r>
              <a:t>Use a trace table with current item and total. Resetting total inside the loop loses earlier additions.</a:t>
            </a:r>
          </a:p>
          <a:p>
            <a:r>
              <a:t/>
            </a:r>
          </a:p>
          <a:p>
            <a:r>
              <a:t>NEXT</a:t>
            </a:r>
          </a:p>
          <a:p>
            <a:r>
              <a:t>A mean uses a total and a count.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A mean uses a total and a count</a:t>
            </a:r>
          </a:p>
          <a:p>
            <a:r>
              <a:t/>
            </a:r>
          </a:p>
          <a:p>
            <a:r>
              <a:t>CONNECT</a:t>
            </a:r>
          </a:p>
          <a:p>
            <a:r>
              <a:t>Build on the preceding slide: A loop repeats an indented block.</a:t>
            </a:r>
          </a:p>
          <a:p>
            <a:r>
              <a:t/>
            </a:r>
          </a:p>
          <a:p>
            <a:r>
              <a:t>LECTURER CUE</a:t>
            </a:r>
          </a:p>
          <a:p>
            <a:r>
              <a:t>Make a table with columns reading and total: (2,2), (4,6), (6,12). len(readings) counts three items. 12 / 3 is 4.</a:t>
            </a:r>
          </a:p>
          <a:p>
            <a:r>
              <a:t/>
            </a:r>
          </a:p>
          <a:p>
            <a:r>
              <a:t>EXPLAIN IN ORDINARY WORDS</a:t>
            </a:r>
          </a:p>
          <a:p>
            <a:r>
              <a:t>A combined mean is the combined total divided by the combined count. Averaging group means equally gives each group equal influence regardless of size.</a:t>
            </a:r>
          </a:p>
          <a:p>
            <a:r>
              <a:t/>
            </a:r>
          </a:p>
          <a:p>
            <a:r>
              <a:t>CHECK AND EXPECTED ANSWER</a:t>
            </a:r>
          </a:p>
          <a:p>
            <a:r>
              <a:t>Group A: one value 10; group B: three values 2. Overall mean is 16/4=4, not (10+2)/2=6.</a:t>
            </a:r>
          </a:p>
          <a:p>
            <a:r>
              <a:t/>
            </a:r>
          </a:p>
          <a:p>
            <a:r>
              <a:t>IF LEARNERS ARE STUCK</a:t>
            </a:r>
          </a:p>
          <a:p>
            <a:r>
              <a:t>Recover each group total as mean times count, add totals, then divide by all observations.</a:t>
            </a:r>
          </a:p>
          <a:p>
            <a:r>
              <a:t/>
            </a:r>
          </a:p>
          <a:p>
            <a:r>
              <a:t>NEXT</a:t>
            </a:r>
          </a:p>
          <a:p>
            <a:r>
              <a:t>A loop changes the running total.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A loop changes the running total</a:t>
            </a:r>
          </a:p>
          <a:p>
            <a:r>
              <a:t/>
            </a:r>
          </a:p>
          <a:p>
            <a:r>
              <a:t>CONNECT</a:t>
            </a:r>
          </a:p>
          <a:p>
            <a:r>
              <a:t>Build on the preceding slide: A mean uses a total and a count.</a:t>
            </a:r>
          </a:p>
          <a:p>
            <a:r>
              <a:t/>
            </a:r>
          </a:p>
          <a:p>
            <a:r>
              <a:t>LECTURER CUE</a:t>
            </a:r>
          </a:p>
          <a:p>
            <a:r>
              <a:t>The displayed mean is rounded to two decimals. Keep full precision in calculations. This larger illustration follows the same rule as our smaller 2, 4, 6 example.</a:t>
            </a:r>
          </a:p>
          <a:p>
            <a:r>
              <a:t>Source: existing course illustration figs/accumulator_trace.png. These are illustrative examples, not this cohort’s assessed results.</a:t>
            </a:r>
          </a:p>
          <a:p>
            <a:r>
              <a:t/>
            </a:r>
          </a:p>
          <a:p>
            <a:r>
              <a:t>EXPLAIN IN ORDINARY WORDS</a:t>
            </a:r>
          </a:p>
          <a:p>
            <a:r>
              <a:t>A loop repeats its indented instructions for each item. A running total must be initialised before the loop and updated inside it.</a:t>
            </a:r>
          </a:p>
          <a:p>
            <a:r>
              <a:t/>
            </a:r>
          </a:p>
          <a:p>
            <a:r>
              <a:t>CHECK AND EXPECTED ANSWER</a:t>
            </a:r>
          </a:p>
          <a:p>
            <a:r>
              <a:t>For values 2,4,6 and total initially 0, what are the successive totals? 2,6,12.</a:t>
            </a:r>
          </a:p>
          <a:p>
            <a:r>
              <a:t/>
            </a:r>
          </a:p>
          <a:p>
            <a:r>
              <a:t>IF LEARNERS ARE STUCK</a:t>
            </a:r>
          </a:p>
          <a:p>
            <a:r>
              <a:t>Use a trace table with current item and total. Resetting total inside the loop loses earlier additions.</a:t>
            </a:r>
          </a:p>
          <a:p>
            <a:r>
              <a:t/>
            </a:r>
          </a:p>
          <a:p>
            <a:r>
              <a:t>NEXT</a:t>
            </a:r>
          </a:p>
          <a:p>
            <a:r>
              <a:t>Tracing the loop.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Tracing the loop</a:t>
            </a:r>
          </a:p>
          <a:p>
            <a:r>
              <a:t/>
            </a:r>
          </a:p>
          <a:p>
            <a:r>
              <a:t>CONNECT</a:t>
            </a:r>
          </a:p>
          <a:p>
            <a:r>
              <a:t>Build on the preceding slide: A loop changes the running total.</a:t>
            </a:r>
          </a:p>
          <a:p>
            <a:r>
              <a:t/>
            </a:r>
          </a:p>
          <a:p>
            <a:r>
              <a:t>LECTURER CUE</a:t>
            </a:r>
          </a:p>
          <a:p>
            <a:r>
              <a:t>There are three readings. The mean is 12 / 3 = 4. Reset total before repeating the calculation.</a:t>
            </a:r>
          </a:p>
          <a:p>
            <a:r>
              <a:t/>
            </a:r>
          </a:p>
          <a:p>
            <a:r>
              <a:t>EXPLAIN IN ORDINARY WORDS</a:t>
            </a:r>
          </a:p>
          <a:p>
            <a:r>
              <a:t>A loop repeats its indented instructions for each item. A running total must be initialised before the loop and updated inside it.</a:t>
            </a:r>
          </a:p>
          <a:p>
            <a:r>
              <a:t/>
            </a:r>
          </a:p>
          <a:p>
            <a:r>
              <a:t>CHECK AND EXPECTED ANSWER</a:t>
            </a:r>
          </a:p>
          <a:p>
            <a:r>
              <a:t>For values 2,4,6 and total initially 0, what are the successive totals? 2,6,12.</a:t>
            </a:r>
          </a:p>
          <a:p>
            <a:r>
              <a:t/>
            </a:r>
          </a:p>
          <a:p>
            <a:r>
              <a:t>IF LEARNERS ARE STUCK</a:t>
            </a:r>
          </a:p>
          <a:p>
            <a:r>
              <a:t>Use a trace table with current item and total. Resetting total inside the loop loses earlier additions.</a:t>
            </a:r>
          </a:p>
          <a:p>
            <a:r>
              <a:t/>
            </a:r>
          </a:p>
          <a:p>
            <a:r>
              <a:t>READ THE VISUAL</a:t>
            </a:r>
          </a:p>
          <a:p>
            <a:r>
              <a:t>Start with the title and labels. Read one row or mark aloud, including its unit. Let a learner read a second one before discussing the pattern. Do not infer a numerical value from an unlabelled drawing.</a:t>
            </a:r>
          </a:p>
          <a:p>
            <a:r>
              <a:t/>
            </a:r>
          </a:p>
          <a:p>
            <a:r>
              <a:t>NEXT</a:t>
            </a:r>
          </a:p>
          <a:p>
            <a:r>
              <a:t>Worked example.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Worked example</a:t>
            </a:r>
          </a:p>
          <a:p>
            <a:r>
              <a:t/>
            </a:r>
          </a:p>
          <a:p>
            <a:r>
              <a:t>CONNECT</a:t>
            </a:r>
          </a:p>
          <a:p>
            <a:r>
              <a:t>Build on the preceding slide: Tracing the loop.</a:t>
            </a:r>
          </a:p>
          <a:p>
            <a:r>
              <a:t/>
            </a:r>
          </a:p>
          <a:p>
            <a:r>
              <a:t>LECTURER CUE</a:t>
            </a:r>
          </a:p>
          <a:p>
            <a:r>
              <a:t>Draw three boxes labelled 0, 1 and 2 holding 2, 4 and 6. Read the first item aloud, then trace the loop by hand. Make a table with columns reading and total: (2,2), (4,6), (6,12). len(readings) counts three items. 12 / 3 is 4. Before a real CSV, show a two-line text extract and name its header. Open the issued CSV together. Explain csv.DictReader as one dictionary per row. Convert only the numeric column and state what should happen to an invalid value.</a:t>
            </a:r>
          </a:p>
          <a:p>
            <a:r>
              <a:t/>
            </a:r>
          </a:p>
          <a:p>
            <a:r>
              <a:t>Complete practice code:</a:t>
            </a:r>
          </a:p>
          <a:p>
            <a:r>
              <a:t>readings = [2, 4, 6]</a:t>
            </a:r>
          </a:p>
          <a:p>
            <a:r>
              <a:t>total = 0</a:t>
            </a:r>
          </a:p>
          <a:p>
            <a:r>
              <a:t>for reading in readings:</a:t>
            </a:r>
          </a:p>
          <a:p>
            <a:r>
              <a:t>    total = total + reading</a:t>
            </a:r>
          </a:p>
          <a:p>
            <a:r>
              <a:t>mean = total / len(readings)</a:t>
            </a:r>
          </a:p>
          <a:p>
            <a:r>
              <a:t>print(mean)</a:t>
            </a:r>
          </a:p>
          <a:p>
            <a:r>
              <a:t/>
            </a:r>
          </a:p>
          <a:p>
            <a:r>
              <a:t>EXPLAIN IN ORDINARY WORDS</a:t>
            </a:r>
          </a:p>
          <a:p>
            <a:r>
              <a:t>A list keeps items in order. Python positions start at zero. In [2,4,6], position 0 contains 2 and position 2 contains 6. A slice excludes its stop position.</a:t>
            </a:r>
          </a:p>
          <a:p>
            <a:r>
              <a:t/>
            </a:r>
          </a:p>
          <a:p>
            <a:r>
              <a:t>CHECK AND EXPECTED ANSWER</a:t>
            </a:r>
          </a:p>
          <a:p>
            <a:r>
              <a:t>What is [2,4,6][1]? 4. Is there a position 3? No.</a:t>
            </a:r>
          </a:p>
          <a:p>
            <a:r>
              <a:t/>
            </a:r>
          </a:p>
          <a:p>
            <a:r>
              <a:t>IF LEARNERS ARE STUCK</a:t>
            </a:r>
          </a:p>
          <a:p>
            <a:r>
              <a:t>Draw three numbered boxes starting at zero. Keep the position separate from the value stored in it.</a:t>
            </a:r>
          </a:p>
          <a:p>
            <a:r>
              <a:t/>
            </a:r>
          </a:p>
          <a:p>
            <a:r>
              <a:t>WALK THROUGH THIS CODE</a:t>
            </a:r>
          </a:p>
          <a:p>
            <a:r>
              <a:t>for takes the next item. The indented block repeats.</a:t>
            </a:r>
          </a:p>
          <a:p>
            <a:r>
              <a:t>print displays a value below the cell.</a:t>
            </a:r>
          </a:p>
          <a:p>
            <a:r>
              <a:t>Square brackets create a list or select an item.</a:t>
            </a:r>
          </a:p>
          <a:p>
            <a:r>
              <a:t>Read the displayed lines in order, with the preceding code block if this example continues. Ask for the next value before running. The complete matching example is in guided_practice.ipynb; do not type a fragment into a new empty notebook.</a:t>
            </a:r>
          </a:p>
          <a:p>
            <a:r>
              <a:t/>
            </a:r>
          </a:p>
          <a:p>
            <a:r>
              <a:t>NEXT</a:t>
            </a:r>
          </a:p>
          <a:p>
            <a:r>
              <a:t>Expected output.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6.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Expected output</a:t>
            </a:r>
          </a:p>
          <a:p>
            <a:r>
              <a:t/>
            </a:r>
          </a:p>
          <a:p>
            <a:r>
              <a:t>CONNECT</a:t>
            </a:r>
          </a:p>
          <a:p>
            <a:r>
              <a:t>Build on the preceding slide: Worked example.</a:t>
            </a:r>
          </a:p>
          <a:p>
            <a:r>
              <a:t/>
            </a:r>
          </a:p>
          <a:p>
            <a:r>
              <a:t>LECTURER CUE</a:t>
            </a:r>
          </a:p>
          <a:p>
            <a:r>
              <a:t>Compare the actual output character by character with this practice result. If it differs, read the first error and check the input, units, names and execution order. Do not copy this practice output into a graded answer.</a:t>
            </a:r>
          </a:p>
          <a:p>
            <a:r>
              <a:t/>
            </a:r>
          </a:p>
          <a:p>
            <a:r>
              <a:t>NEXT</a:t>
            </a:r>
          </a:p>
          <a:p>
            <a:r>
              <a:t>Dictionary.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7.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Dictionary</a:t>
            </a:r>
          </a:p>
          <a:p>
            <a:r>
              <a:t/>
            </a:r>
          </a:p>
          <a:p>
            <a:r>
              <a:t>CONNECT</a:t>
            </a:r>
          </a:p>
          <a:p>
            <a:r>
              <a:t>Build on the preceding slide: Expected output.</a:t>
            </a:r>
          </a:p>
          <a:p>
            <a:r>
              <a:t/>
            </a:r>
          </a:p>
          <a:p>
            <a:r>
              <a:t>EXPLAIN IN ORDINARY WORDS</a:t>
            </a:r>
          </a:p>
          <a:p>
            <a:r>
              <a:t>A dictionary pairs a key with a value. For {"unit":"A", "reading":4}, record["reading"] looks up the key and gives 4. The key is not a list position.</a:t>
            </a:r>
          </a:p>
          <a:p>
            <a:r>
              <a:t/>
            </a:r>
          </a:p>
          <a:p>
            <a:r>
              <a:t>CHECK AND EXPECTED ANSWER</a:t>
            </a:r>
          </a:p>
          <a:p>
            <a:r>
              <a:t>What happens if the key is spelled "Reading" instead? It is a different key; direct lookup can raise KeyError.</a:t>
            </a:r>
          </a:p>
          <a:p>
            <a:r>
              <a:t/>
            </a:r>
          </a:p>
          <a:p>
            <a:r>
              <a:t>IF LEARNERS ARE STUCK</a:t>
            </a:r>
          </a:p>
          <a:p>
            <a:r>
              <a:t>Point to each key and its value. Read the colon as associates-with, then do one exact lookup.</a:t>
            </a:r>
          </a:p>
          <a:p>
            <a:r>
              <a:t/>
            </a:r>
          </a:p>
          <a:p>
            <a:r>
              <a:t>POINT TO THE DEFINITION</a:t>
            </a:r>
          </a:p>
          <a:p>
            <a:r>
              <a:t>Dictionary: A collection of named values such as {"temperature_c": 25}. Access the value with row["temperature_c"].</a:t>
            </a:r>
          </a:p>
          <a:p>
            <a:r>
              <a:t/>
            </a:r>
          </a:p>
          <a:p>
            <a:r>
              <a:t>NEXT</a:t>
            </a:r>
          </a:p>
          <a:p>
            <a:r>
              <a:t>Read dictionary operations.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8.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Read dictionary operations</a:t>
            </a:r>
          </a:p>
          <a:p>
            <a:r>
              <a:t/>
            </a:r>
          </a:p>
          <a:p>
            <a:r>
              <a:t>CONNECT</a:t>
            </a:r>
          </a:p>
          <a:p>
            <a:r>
              <a:t>Build on the preceding slide: Dictionary.</a:t>
            </a:r>
          </a:p>
          <a:p>
            <a:r>
              <a:t/>
            </a:r>
          </a:p>
          <a:p>
            <a:r>
              <a:t>EXPLAIN IN ORDINARY WORDS</a:t>
            </a:r>
          </a:p>
          <a:p>
            <a:r>
              <a:t>A dictionary pairs a key with a value. For {"unit":"A", "reading":4}, record["reading"] looks up the key and gives 4. The key is not a list position.</a:t>
            </a:r>
          </a:p>
          <a:p>
            <a:r>
              <a:t/>
            </a:r>
          </a:p>
          <a:p>
            <a:r>
              <a:t>CHECK AND EXPECTED ANSWER</a:t>
            </a:r>
          </a:p>
          <a:p>
            <a:r>
              <a:t>What happens if the key is spelled "Reading" instead? It is a different key; direct lookup can raise KeyError.</a:t>
            </a:r>
          </a:p>
          <a:p>
            <a:r>
              <a:t/>
            </a:r>
          </a:p>
          <a:p>
            <a:r>
              <a:t>IF LEARNERS ARE STUCK</a:t>
            </a:r>
          </a:p>
          <a:p>
            <a:r>
              <a:t>Point to each key and its value. Read the colon as associates-with, then do one exact lookup.</a:t>
            </a:r>
          </a:p>
          <a:p>
            <a:r>
              <a:t/>
            </a:r>
          </a:p>
          <a:p>
            <a:r>
              <a:t>POINT TO THE DEFINITION</a:t>
            </a:r>
          </a:p>
          <a:p>
            <a:r>
              <a:t>Key and lookup: A key is the name used to find a value. record["reading"] looks up that key. record.get("missing", 0) returns 0 if the key is absent.</a:t>
            </a:r>
          </a:p>
          <a:p>
            <a:r>
              <a:t>items and paired names: record.items() supplies key/value pairs. for key, value in ... puts each pair into two names, then runs the indented block once for that pair.</a:t>
            </a:r>
          </a:p>
          <a:p>
            <a:r>
              <a:t/>
            </a:r>
          </a:p>
          <a:p>
            <a:r>
              <a:t>NEXT</a:t>
            </a:r>
          </a:p>
          <a:p>
            <a:r>
              <a:t>Dictionary lookups and list slices.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9.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Dictionary lookups and list slices</a:t>
            </a:r>
          </a:p>
          <a:p>
            <a:r>
              <a:t/>
            </a:r>
          </a:p>
          <a:p>
            <a:r>
              <a:t>CONNECT</a:t>
            </a:r>
          </a:p>
          <a:p>
            <a:r>
              <a:t>Build on the preceding slide: Read dictionary operations.</a:t>
            </a:r>
          </a:p>
          <a:p>
            <a:r>
              <a:t/>
            </a:r>
          </a:p>
          <a:p>
            <a:r>
              <a:t>LECTURER CUE</a:t>
            </a:r>
          </a:p>
          <a:p>
            <a:r>
              <a:t>Read one row at a time and use a changed value. This is a syntax reference for the worked examples.</a:t>
            </a:r>
          </a:p>
          <a:p>
            <a:r>
              <a:t/>
            </a:r>
          </a:p>
          <a:p>
            <a:r>
              <a:t>EXPLAIN IN ORDINARY WORDS</a:t>
            </a:r>
          </a:p>
          <a:p>
            <a:r>
              <a:t>A dictionary pairs a key with a value. For {"unit":"A", "reading":4}, record["reading"] looks up the key and gives 4. The key is not a list position.</a:t>
            </a:r>
          </a:p>
          <a:p>
            <a:r>
              <a:t/>
            </a:r>
          </a:p>
          <a:p>
            <a:r>
              <a:t>CHECK AND EXPECTED ANSWER</a:t>
            </a:r>
          </a:p>
          <a:p>
            <a:r>
              <a:t>What happens if the key is spelled "Reading" instead? It is a different key; direct lookup can raise KeyError.</a:t>
            </a:r>
          </a:p>
          <a:p>
            <a:r>
              <a:t/>
            </a:r>
          </a:p>
          <a:p>
            <a:r>
              <a:t>IF LEARNERS ARE STUCK</a:t>
            </a:r>
          </a:p>
          <a:p>
            <a:r>
              <a:t>Point to each key and its value. Read the colon as associates-with, then do one exact lookup.</a:t>
            </a:r>
          </a:p>
          <a:p>
            <a:r>
              <a:t/>
            </a:r>
          </a:p>
          <a:p>
            <a:r>
              <a:t>READ THE VISUAL</a:t>
            </a:r>
          </a:p>
          <a:p>
            <a:r>
              <a:t>Start with the title and labels. Read one row or mark aloud, including its unit. Let a learner read a second one before discussing the pattern. Do not infer a numerical value from an unlabelled drawing.</a:t>
            </a:r>
          </a:p>
          <a:p>
            <a:r>
              <a:t/>
            </a:r>
          </a:p>
          <a:p>
            <a:r>
              <a:t>NEXT</a:t>
            </a:r>
          </a:p>
          <a:p>
            <a:r>
              <a:t>A position and a key find different things.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0.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A position and a key find different things</a:t>
            </a:r>
          </a:p>
          <a:p>
            <a:r>
              <a:t/>
            </a:r>
          </a:p>
          <a:p>
            <a:r>
              <a:t>CONNECT</a:t>
            </a:r>
          </a:p>
          <a:p>
            <a:r>
              <a:t>Build on the preceding slide: Dictionary lookups and list slices.</a:t>
            </a:r>
          </a:p>
          <a:p>
            <a:r>
              <a:t/>
            </a:r>
          </a:p>
          <a:p>
            <a:r>
              <a:t>LECTURER CUE</a:t>
            </a:r>
          </a:p>
          <a:p>
            <a:r>
              <a:t>Ask students to describe what they see before introducing terminology. Generated conceptual teaching illustration.  Source: figs/experiential/ASSET_SOURCES.md.</a:t>
            </a:r>
          </a:p>
          <a:p>
            <a:r>
              <a:t/>
            </a:r>
          </a:p>
          <a:p>
            <a:r>
              <a:t>EXPLAIN IN ORDINARY WORDS</a:t>
            </a:r>
          </a:p>
          <a:p>
            <a:r>
              <a:t>A function is a named set of instructions. def defines it; a call runs it with inputs. Parameters are input names, arguments are supplied values, and return sends the result back.</a:t>
            </a:r>
          </a:p>
          <a:p>
            <a:r>
              <a:t/>
            </a:r>
          </a:p>
          <a:p>
            <a:r>
              <a:t>CHECK AND EXPECTED ANSWER</a:t>
            </a:r>
          </a:p>
          <a:p>
            <a:r>
              <a:t>Does print(8) return the number 8 to the caller? No; it displays 8 and returns None. A function needing a numeric result should return it.</a:t>
            </a:r>
          </a:p>
          <a:p>
            <a:r>
              <a:t/>
            </a:r>
          </a:p>
          <a:p>
            <a:r>
              <a:t>IF LEARNERS ARE STUCK</a:t>
            </a:r>
          </a:p>
          <a:p>
            <a:r>
              <a:t>Trace one call: bind input names, run the indented body, reach return, then put the returned result back into the calling expression.</a:t>
            </a:r>
          </a:p>
          <a:p>
            <a:r>
              <a:t/>
            </a:r>
          </a:p>
          <a:p>
            <a:r>
              <a:t>NEXT</a:t>
            </a:r>
          </a:p>
          <a:p>
            <a:r>
              <a:t>A dictionary gives each value a key.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A dictionary gives each value a key</a:t>
            </a:r>
          </a:p>
          <a:p>
            <a:r>
              <a:t/>
            </a:r>
          </a:p>
          <a:p>
            <a:r>
              <a:t>CONNECT</a:t>
            </a:r>
          </a:p>
          <a:p>
            <a:r>
              <a:t>Build on the preceding slide: A position and a key find different things.</a:t>
            </a:r>
          </a:p>
          <a:p>
            <a:r>
              <a:t/>
            </a:r>
          </a:p>
          <a:p>
            <a:r>
              <a:t>LECTURER CUE</a:t>
            </a:r>
          </a:p>
          <a:p>
            <a:r>
              <a:t>Read each symbol before running. Ask everyone to predict. Expected output: 4, then 0, then unit A and reading 6. Dictionaries preserve insertion order, but access by key is the important distinction. An unknown key with [] raises KeyError.</a:t>
            </a:r>
          </a:p>
          <a:p>
            <a:r>
              <a:t/>
            </a:r>
          </a:p>
          <a:p>
            <a:r>
              <a:t>EXPLAIN IN ORDINARY WORDS</a:t>
            </a:r>
          </a:p>
          <a:p>
            <a:r>
              <a:t>A dictionary pairs a key with a value. For {"unit":"A", "reading":4}, record["reading"] looks up the key and gives 4. The key is not a list position.</a:t>
            </a:r>
          </a:p>
          <a:p>
            <a:r>
              <a:t/>
            </a:r>
          </a:p>
          <a:p>
            <a:r>
              <a:t>CHECK AND EXPECTED ANSWER</a:t>
            </a:r>
          </a:p>
          <a:p>
            <a:r>
              <a:t>What happens if the key is spelled "Reading" instead? It is a different key; direct lookup can raise KeyError.</a:t>
            </a:r>
          </a:p>
          <a:p>
            <a:r>
              <a:t/>
            </a:r>
          </a:p>
          <a:p>
            <a:r>
              <a:t>IF LEARNERS ARE STUCK</a:t>
            </a:r>
          </a:p>
          <a:p>
            <a:r>
              <a:t>Point to each key and its value. Read the colon as associates-with, then do one exact lookup.</a:t>
            </a:r>
          </a:p>
          <a:p>
            <a:r>
              <a:t/>
            </a:r>
          </a:p>
          <a:p>
            <a:r>
              <a:t>WALK THROUGH THIS CODE</a:t>
            </a:r>
          </a:p>
          <a:p>
            <a:r>
              <a:t>for takes the next item. The indented block repeats.</a:t>
            </a:r>
          </a:p>
          <a:p>
            <a:r>
              <a:t>print displays a value below the cell.</a:t>
            </a:r>
          </a:p>
          <a:p>
            <a:r>
              <a:t>Square brackets create a list or select an item.</a:t>
            </a:r>
          </a:p>
          <a:p>
            <a:r>
              <a:t>Read the displayed lines in order, with the preceding code block if this example continues. Ask for the next value before running. The complete matching example is in guided_practice.ipynb; do not type a fragment into a new empty notebook.</a:t>
            </a:r>
          </a:p>
          <a:p>
            <a:r>
              <a:t/>
            </a:r>
          </a:p>
          <a:p>
            <a:r>
              <a:t>NEXT</a:t>
            </a:r>
          </a:p>
          <a:p>
            <a:r>
              <a:t>Three ways to collect values.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Three ways to collect values</a:t>
            </a:r>
          </a:p>
          <a:p>
            <a:r>
              <a:t/>
            </a:r>
          </a:p>
          <a:p>
            <a:r>
              <a:t>CONNECT</a:t>
            </a:r>
          </a:p>
          <a:p>
            <a:r>
              <a:t>Build on the preceding slide: A dictionary gives each value a key.</a:t>
            </a:r>
          </a:p>
          <a:p>
            <a:r>
              <a:t/>
            </a:r>
          </a:p>
          <a:p>
            <a:r>
              <a:t>LECTURER CUE</a:t>
            </a:r>
          </a:p>
          <a:p>
            <a:r>
              <a:t>A dictionary uses key: value pairs, such as {"reading": 4}.</a:t>
            </a:r>
          </a:p>
          <a:p>
            <a:r>
              <a:t/>
            </a:r>
          </a:p>
          <a:p>
            <a:r>
              <a:t>EXPLAIN IN ORDINARY WORDS</a:t>
            </a:r>
          </a:p>
          <a:p>
            <a:r>
              <a:t>A dictionary pairs a key with a value. For {"unit":"A", "reading":4}, record["reading"] looks up the key and gives 4. The key is not a list position.</a:t>
            </a:r>
          </a:p>
          <a:p>
            <a:r>
              <a:t/>
            </a:r>
          </a:p>
          <a:p>
            <a:r>
              <a:t>CHECK AND EXPECTED ANSWER</a:t>
            </a:r>
          </a:p>
          <a:p>
            <a:r>
              <a:t>What happens if the key is spelled "Reading" instead? It is a different key; direct lookup can raise KeyError.</a:t>
            </a:r>
          </a:p>
          <a:p>
            <a:r>
              <a:t/>
            </a:r>
          </a:p>
          <a:p>
            <a:r>
              <a:t>IF LEARNERS ARE STUCK</a:t>
            </a:r>
          </a:p>
          <a:p>
            <a:r>
              <a:t>Point to each key and its value. Read the colon as associates-with, then do one exact lookup.</a:t>
            </a:r>
          </a:p>
          <a:p>
            <a:r>
              <a:t/>
            </a:r>
          </a:p>
          <a:p>
            <a:r>
              <a:t>READ THE VISUAL</a:t>
            </a:r>
          </a:p>
          <a:p>
            <a:r>
              <a:t>Start with the title and labels. Read one row or mark aloud, including its unit. Let a learner read a second one before discussing the pattern. Do not infer a numerical value from an unlabelled drawing.</a:t>
            </a:r>
          </a:p>
          <a:p>
            <a:r>
              <a:t/>
            </a:r>
          </a:p>
          <a:p>
            <a:r>
              <a:t>NEXT</a:t>
            </a:r>
          </a:p>
          <a:p>
            <a:r>
              <a:t>CSV and header.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CSV and header</a:t>
            </a:r>
          </a:p>
          <a:p>
            <a:r>
              <a:t/>
            </a:r>
          </a:p>
          <a:p>
            <a:r>
              <a:t>CONNECT</a:t>
            </a:r>
          </a:p>
          <a:p>
            <a:r>
              <a:t>Build on the preceding slide: Three ways to collect values.</a:t>
            </a:r>
          </a:p>
          <a:p>
            <a:r>
              <a:t/>
            </a:r>
          </a:p>
          <a:p>
            <a:r>
              <a:t>EXPLAIN IN ORDINARY WORDS</a:t>
            </a:r>
          </a:p>
          <a:p>
            <a:r>
              <a:t>A CSV is a text table. The header supplies column names. With csv.DictReader, values start as text, even if they look like numbers. A path tells Python where the file is.</a:t>
            </a:r>
          </a:p>
          <a:p>
            <a:r>
              <a:t/>
            </a:r>
          </a:p>
          <a:p>
            <a:r>
              <a:t>CHECK AND EXPECTED ANSWER</a:t>
            </a:r>
          </a:p>
          <a:p>
            <a:r>
              <a:t>Can "2.5" from csv.DictReader be added as a number without conversion? No; convert valid numeric text first.</a:t>
            </a:r>
          </a:p>
          <a:p>
            <a:r>
              <a:t/>
            </a:r>
          </a:p>
          <a:p>
            <a:r>
              <a:t>IF LEARNERS ARE STUCK</a:t>
            </a:r>
          </a:p>
          <a:p>
            <a:r>
              <a:t>Show the file in the runtime folder and compare its exact filename, case and column headers. Upload data again after a fresh Colab runtime.</a:t>
            </a:r>
          </a:p>
          <a:p>
            <a:r>
              <a:t/>
            </a:r>
          </a:p>
          <a:p>
            <a:r>
              <a:t>POINT TO THE DEFINITION</a:t>
            </a:r>
          </a:p>
          <a:p>
            <a:r>
              <a:t>CSV and header: CSV means comma-separated values. One line usually represents one record; a header names the columns. CSV numbers arrive as text and may need float conversion.</a:t>
            </a:r>
          </a:p>
          <a:p>
            <a:r>
              <a:t/>
            </a:r>
          </a:p>
          <a:p>
            <a:r>
              <a:t>NEXT</a:t>
            </a:r>
          </a:p>
          <a:p>
            <a:r>
              <a:t>One record at a time.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One record at a time</a:t>
            </a:r>
          </a:p>
          <a:p>
            <a:r>
              <a:t/>
            </a:r>
          </a:p>
          <a:p>
            <a:r>
              <a:t>CONNECT</a:t>
            </a:r>
          </a:p>
          <a:p>
            <a:r>
              <a:t>Build on the preceding slide: CSV and header.</a:t>
            </a:r>
          </a:p>
          <a:p>
            <a:r>
              <a:t/>
            </a:r>
          </a:p>
          <a:p>
            <a:r>
              <a:t>EXPLAIN IN ORDINARY WORDS</a:t>
            </a:r>
          </a:p>
          <a:p>
            <a:r>
              <a:t>A CSV is a text table. The header supplies column names. With csv.DictReader, values start as text, even if they look like numbers. A path tells Python where the file is.</a:t>
            </a:r>
          </a:p>
          <a:p>
            <a:r>
              <a:t/>
            </a:r>
          </a:p>
          <a:p>
            <a:r>
              <a:t>CHECK AND EXPECTED ANSWER</a:t>
            </a:r>
          </a:p>
          <a:p>
            <a:r>
              <a:t>Can "2.5" from csv.DictReader be added as a number without conversion? No; convert valid numeric text first.</a:t>
            </a:r>
          </a:p>
          <a:p>
            <a:r>
              <a:t/>
            </a:r>
          </a:p>
          <a:p>
            <a:r>
              <a:t>IF LEARNERS ARE STUCK</a:t>
            </a:r>
          </a:p>
          <a:p>
            <a:r>
              <a:t>Show the file in the runtime folder and compare its exact filename, case and column headers. Upload data again after a fresh Colab runtime.</a:t>
            </a:r>
          </a:p>
          <a:p>
            <a:r>
              <a:t/>
            </a:r>
          </a:p>
          <a:p>
            <a:r>
              <a:t>NEXT</a:t>
            </a:r>
          </a:p>
          <a:p>
            <a:r>
              <a:t>A CSV file has a header and text values.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A CSV file has a header and text values</a:t>
            </a:r>
          </a:p>
          <a:p>
            <a:r>
              <a:t/>
            </a:r>
          </a:p>
          <a:p>
            <a:r>
              <a:t>CONNECT</a:t>
            </a:r>
          </a:p>
          <a:p>
            <a:r>
              <a:t>Build on the preceding slide: One record at a time.</a:t>
            </a:r>
          </a:p>
          <a:p>
            <a:r>
              <a:t/>
            </a:r>
          </a:p>
          <a:p>
            <a:r>
              <a:t>LECTURER CUE</a:t>
            </a:r>
          </a:p>
          <a:p>
            <a:r>
              <a:t>Read one row at a time and use a changed value. This is a syntax reference for the worked examples.</a:t>
            </a:r>
          </a:p>
          <a:p>
            <a:r>
              <a:t/>
            </a:r>
          </a:p>
          <a:p>
            <a:r>
              <a:t>EXPLAIN IN ORDINARY WORDS</a:t>
            </a:r>
          </a:p>
          <a:p>
            <a:r>
              <a:t>A CSV is a text table. The header supplies column names. With csv.DictReader, values start as text, even if they look like numbers. A path tells Python where the file is.</a:t>
            </a:r>
          </a:p>
          <a:p>
            <a:r>
              <a:t/>
            </a:r>
          </a:p>
          <a:p>
            <a:r>
              <a:t>CHECK AND EXPECTED ANSWER</a:t>
            </a:r>
          </a:p>
          <a:p>
            <a:r>
              <a:t>Can "2.5" from csv.DictReader be added as a number without conversion? No; convert valid numeric text first.</a:t>
            </a:r>
          </a:p>
          <a:p>
            <a:r>
              <a:t/>
            </a:r>
          </a:p>
          <a:p>
            <a:r>
              <a:t>IF LEARNERS ARE STUCK</a:t>
            </a:r>
          </a:p>
          <a:p>
            <a:r>
              <a:t>Show the file in the runtime folder and compare its exact filename, case and column headers. Upload data again after a fresh Colab runtime.</a:t>
            </a:r>
          </a:p>
          <a:p>
            <a:r>
              <a:t/>
            </a:r>
          </a:p>
          <a:p>
            <a:r>
              <a:t>READ THE VISUAL</a:t>
            </a:r>
          </a:p>
          <a:p>
            <a:r>
              <a:t>Start with the title and labels. Read one row or mark aloud, including its unit. Let a learner read a second one before discussing the pattern. Do not infer a numerical value from an unlabelled drawing.</a:t>
            </a:r>
          </a:p>
          <a:p>
            <a:r>
              <a:t/>
            </a:r>
          </a:p>
          <a:p>
            <a:r>
              <a:t>NEXT</a:t>
            </a:r>
          </a:p>
          <a:p>
            <a:r>
              <a:t>A CSV row becomes a dictionary.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6.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A CSV row becomes a dictionary</a:t>
            </a:r>
          </a:p>
          <a:p>
            <a:r>
              <a:t/>
            </a:r>
          </a:p>
          <a:p>
            <a:r>
              <a:t>CONNECT</a:t>
            </a:r>
          </a:p>
          <a:p>
            <a:r>
              <a:t>Build on the preceding slide: A CSV file has a header and text values.</a:t>
            </a:r>
          </a:p>
          <a:p>
            <a:r>
              <a:t/>
            </a:r>
          </a:p>
          <a:p>
            <a:r>
              <a:t>LECTURER CUE</a:t>
            </a:r>
          </a:p>
          <a:p>
            <a:r>
              <a:t>Before a real CSV, show a two-line text extract and name its header. Open the issued CSV together. Explain csv.DictReader as one dictionary per row. Convert only the numeric column and state what should happen to an invalid value.</a:t>
            </a:r>
          </a:p>
          <a:p>
            <a:r>
              <a:t/>
            </a:r>
          </a:p>
          <a:p>
            <a:r>
              <a:t>EXPLAIN IN ORDINARY WORDS</a:t>
            </a:r>
          </a:p>
          <a:p>
            <a:r>
              <a:t>A CSV is a text table. The header supplies column names. With csv.DictReader, values start as text, even if they look like numbers. A path tells Python where the file is.</a:t>
            </a:r>
          </a:p>
          <a:p>
            <a:r>
              <a:t/>
            </a:r>
          </a:p>
          <a:p>
            <a:r>
              <a:t>CHECK AND EXPECTED ANSWER</a:t>
            </a:r>
          </a:p>
          <a:p>
            <a:r>
              <a:t>Can "2.5" from csv.DictReader be added as a number without conversion? No; convert valid numeric text first.</a:t>
            </a:r>
          </a:p>
          <a:p>
            <a:r>
              <a:t/>
            </a:r>
          </a:p>
          <a:p>
            <a:r>
              <a:t>IF LEARNERS ARE STUCK</a:t>
            </a:r>
          </a:p>
          <a:p>
            <a:r>
              <a:t>Show the file in the runtime folder and compare its exact filename, case and column headers. Upload data again after a fresh Colab runtime.</a:t>
            </a:r>
          </a:p>
          <a:p>
            <a:r>
              <a:t/>
            </a:r>
          </a:p>
          <a:p>
            <a:r>
              <a:t>NEXT</a:t>
            </a:r>
          </a:p>
          <a:p>
            <a:r>
              <a:t>with and import.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7.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with and import</a:t>
            </a:r>
          </a:p>
          <a:p>
            <a:r>
              <a:t/>
            </a:r>
          </a:p>
          <a:p>
            <a:r>
              <a:t>CONNECT</a:t>
            </a:r>
          </a:p>
          <a:p>
            <a:r>
              <a:t>Build on the preceding slide: A CSV row becomes a dictionary.</a:t>
            </a:r>
          </a:p>
          <a:p>
            <a:r>
              <a:t/>
            </a:r>
          </a:p>
          <a:p>
            <a:r>
              <a:t>POINT TO THE DEFINITION</a:t>
            </a:r>
          </a:p>
          <a:p>
            <a:r>
              <a:t>with and import: import makes library tools available. with open(...) opens a file for a block and closes it afterward. A filename must match an existing file in the working folder.</a:t>
            </a:r>
          </a:p>
          <a:p>
            <a:r>
              <a:t/>
            </a:r>
          </a:p>
          <a:p>
            <a:r>
              <a:t>NEXT</a:t>
            </a:r>
          </a:p>
          <a:p>
            <a:r>
              <a:t>Your cohort data.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8.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Your cohort data</a:t>
            </a:r>
          </a:p>
          <a:p>
            <a:r>
              <a:t/>
            </a:r>
          </a:p>
          <a:p>
            <a:r>
              <a:t>CONNECT</a:t>
            </a:r>
          </a:p>
          <a:p>
            <a:r>
              <a:t>Build on the preceding slide: with and import.</a:t>
            </a:r>
          </a:p>
          <a:p>
            <a:r>
              <a:t/>
            </a:r>
          </a:p>
          <a:p>
            <a:r>
              <a:t>EXPLAIN IN ORDINARY WORDS</a:t>
            </a:r>
          </a:p>
          <a:p>
            <a:r>
              <a:t>A probability-like score and a class decision are different outputs. A threshold turns a score into an action. Lowering a warning threshold usually raises both detections and false alarms.</a:t>
            </a:r>
          </a:p>
          <a:p>
            <a:r>
              <a:t/>
            </a:r>
          </a:p>
          <a:p>
            <a:r>
              <a:t>CHECK AND EXPECTED ANSWER</a:t>
            </a:r>
          </a:p>
          <a:p>
            <a:r>
              <a:t>At a rule of score &gt;= 0.5, what happens at 0.5? It is positive. With &gt; 0.5 it would not be.</a:t>
            </a:r>
          </a:p>
          <a:p>
            <a:r>
              <a:t/>
            </a:r>
          </a:p>
          <a:p>
            <a:r>
              <a:t>IF LEARNERS ARE STUCK</a:t>
            </a:r>
          </a:p>
          <a:p>
            <a:r>
              <a:t>Mark three scores below, at and above the boundary. Do not promise the score is well calibrated without checking.</a:t>
            </a:r>
          </a:p>
          <a:p>
            <a:r>
              <a:t/>
            </a:r>
          </a:p>
          <a:p>
            <a:r>
              <a:t>NEXT</a:t>
            </a:r>
          </a:p>
          <a:p>
            <a:r>
              <a:t>Read the supplied CSV in four steps.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9.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Read the supplied CSV in four steps</a:t>
            </a:r>
          </a:p>
          <a:p>
            <a:r>
              <a:t/>
            </a:r>
          </a:p>
          <a:p>
            <a:r>
              <a:t>CONNECT</a:t>
            </a:r>
          </a:p>
          <a:p>
            <a:r>
              <a:t>Build on the preceding slide: Your cohort data.</a:t>
            </a:r>
          </a:p>
          <a:p>
            <a:r>
              <a:t/>
            </a:r>
          </a:p>
          <a:p>
            <a:r>
              <a:t>EXPLAIN IN ORDINARY WORDS</a:t>
            </a:r>
          </a:p>
          <a:p>
            <a:r>
              <a:t>A CSV is a text table. The header supplies column names. With csv.DictReader, values start as text, even if they look like numbers. A path tells Python where the file is.</a:t>
            </a:r>
          </a:p>
          <a:p>
            <a:r>
              <a:t/>
            </a:r>
          </a:p>
          <a:p>
            <a:r>
              <a:t>CHECK AND EXPECTED ANSWER</a:t>
            </a:r>
          </a:p>
          <a:p>
            <a:r>
              <a:t>Can "2.5" from csv.DictReader be added as a number without conversion? No; convert valid numeric text first.</a:t>
            </a:r>
          </a:p>
          <a:p>
            <a:r>
              <a:t/>
            </a:r>
          </a:p>
          <a:p>
            <a:r>
              <a:t>IF LEARNERS ARE STUCK</a:t>
            </a:r>
          </a:p>
          <a:p>
            <a:r>
              <a:t>Show the file in the runtime folder and compare its exact filename, case and column headers. Upload data again after a fresh Colab runtime.</a:t>
            </a:r>
          </a:p>
          <a:p>
            <a:r>
              <a:t/>
            </a:r>
          </a:p>
          <a:p>
            <a:r>
              <a:t>NEXT</a:t>
            </a:r>
          </a:p>
          <a:p>
            <a:r>
              <a:t>Open a real CSV and inspect its first row.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0.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Open a real CSV and inspect its first row</a:t>
            </a:r>
          </a:p>
          <a:p>
            <a:r>
              <a:t/>
            </a:r>
          </a:p>
          <a:p>
            <a:r>
              <a:t>CONNECT</a:t>
            </a:r>
          </a:p>
          <a:p>
            <a:r>
              <a:t>Build on the preceding slide: Read the supplied CSV in four steps.</a:t>
            </a:r>
          </a:p>
          <a:p>
            <a:r>
              <a:t/>
            </a:r>
          </a:p>
          <a:p>
            <a:r>
              <a:t>LECTURER CUE</a:t>
            </a:r>
          </a:p>
          <a:p>
            <a:r>
              <a:t>Read the actual keys and text values. Check the uploaded filename if Python reports FileNotFoundError.</a:t>
            </a:r>
          </a:p>
          <a:p>
            <a:r>
              <a:t/>
            </a:r>
          </a:p>
          <a:p>
            <a:r>
              <a:t>Complete practice code:</a:t>
            </a:r>
          </a:p>
          <a:p>
            <a:r>
              <a:t>import csv</a:t>
            </a:r>
          </a:p>
          <a:p>
            <a:r>
              <a:t>with open("drill_shift_log.csv", newline="") as source:</a:t>
            </a:r>
          </a:p>
          <a:p>
            <a:r>
              <a:t>    rows = list(csv.DictReader(source))</a:t>
            </a:r>
          </a:p>
          <a:p>
            <a:r>
              <a:t>print(rows[0])</a:t>
            </a:r>
          </a:p>
          <a:p>
            <a:r>
              <a:t>print(len(rows))</a:t>
            </a:r>
          </a:p>
          <a:p>
            <a:r>
              <a:t/>
            </a:r>
          </a:p>
          <a:p>
            <a:r>
              <a:t>EXPLAIN IN ORDINARY WORDS</a:t>
            </a:r>
          </a:p>
          <a:p>
            <a:r>
              <a:t>A CSV is a text table. The header supplies column names. With csv.DictReader, values start as text, even if they look like numbers. A path tells Python where the file is.</a:t>
            </a:r>
          </a:p>
          <a:p>
            <a:r>
              <a:t/>
            </a:r>
          </a:p>
          <a:p>
            <a:r>
              <a:t>CHECK AND EXPECTED ANSWER</a:t>
            </a:r>
          </a:p>
          <a:p>
            <a:r>
              <a:t>Can "2.5" from csv.DictReader be added as a number without conversion? No; convert valid numeric text first.</a:t>
            </a:r>
          </a:p>
          <a:p>
            <a:r>
              <a:t/>
            </a:r>
          </a:p>
          <a:p>
            <a:r>
              <a:t>IF LEARNERS ARE STUCK</a:t>
            </a:r>
          </a:p>
          <a:p>
            <a:r>
              <a:t>Show the file in the runtime folder and compare its exact filename, case and column headers. Upload data again after a fresh Colab runtime.</a:t>
            </a:r>
          </a:p>
          <a:p>
            <a:r>
              <a:t/>
            </a:r>
          </a:p>
          <a:p>
            <a:r>
              <a:t>WALK THROUGH THIS CODE</a:t>
            </a:r>
          </a:p>
          <a:p>
            <a:r>
              <a:t>import loads a library. from selects a tool from it.</a:t>
            </a:r>
          </a:p>
          <a:p>
            <a:r>
              <a:t>print displays a value below the cell.</a:t>
            </a:r>
          </a:p>
          <a:p>
            <a:r>
              <a:t>Square brackets create a list or select an item.</a:t>
            </a:r>
          </a:p>
          <a:p>
            <a:r>
              <a:t>Read the displayed lines in order, with the preceding code block if this example continues. Ask for the next value before running. The complete matching example is in guided_practice.ipynb; do not type a fragment into a new empty notebook.</a:t>
            </a:r>
          </a:p>
          <a:p>
            <a:r>
              <a:t/>
            </a:r>
          </a:p>
          <a:p>
            <a:r>
              <a:t>NEXT</a:t>
            </a:r>
          </a:p>
          <a:p>
            <a:r>
              <a:t>A record and a growing list.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A record and a growing list</a:t>
            </a:r>
          </a:p>
          <a:p>
            <a:r>
              <a:t/>
            </a:r>
          </a:p>
          <a:p>
            <a:r>
              <a:t>CONNECT</a:t>
            </a:r>
          </a:p>
          <a:p>
            <a:r>
              <a:t>Build on the preceding slide: Open a real CSV and inspect its first row.</a:t>
            </a:r>
          </a:p>
          <a:p>
            <a:r>
              <a:t/>
            </a:r>
          </a:p>
          <a:p>
            <a:r>
              <a:t>LECTURER CUE</a:t>
            </a:r>
          </a:p>
          <a:p>
            <a:r>
              <a:t>Braces pair a key with its value. append adds one value to the end of a list. The same pattern works after reading a CSV row.</a:t>
            </a:r>
          </a:p>
          <a:p>
            <a:r>
              <a:t/>
            </a:r>
          </a:p>
          <a:p>
            <a:r>
              <a:t>EXPLAIN IN ORDINARY WORDS</a:t>
            </a:r>
          </a:p>
          <a:p>
            <a:r>
              <a:t>A list keeps items in order. Python positions start at zero. In [2,4,6], position 0 contains 2 and position 2 contains 6. A slice excludes its stop position.</a:t>
            </a:r>
          </a:p>
          <a:p>
            <a:r>
              <a:t/>
            </a:r>
          </a:p>
          <a:p>
            <a:r>
              <a:t>CHECK AND EXPECTED ANSWER</a:t>
            </a:r>
          </a:p>
          <a:p>
            <a:r>
              <a:t>What is [2,4,6][1]? 4. Is there a position 3? No.</a:t>
            </a:r>
          </a:p>
          <a:p>
            <a:r>
              <a:t/>
            </a:r>
          </a:p>
          <a:p>
            <a:r>
              <a:t>IF LEARNERS ARE STUCK</a:t>
            </a:r>
          </a:p>
          <a:p>
            <a:r>
              <a:t>Draw three numbered boxes starting at zero. Keep the position separate from the value stored in it.</a:t>
            </a:r>
          </a:p>
          <a:p>
            <a:r>
              <a:t/>
            </a:r>
          </a:p>
          <a:p>
            <a:r>
              <a:t>NEXT</a:t>
            </a:r>
          </a:p>
          <a:p>
            <a:r>
              <a:t>A record and a growing list in Python.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A record and a growing list in Python</a:t>
            </a:r>
          </a:p>
          <a:p>
            <a:r>
              <a:t/>
            </a:r>
          </a:p>
          <a:p>
            <a:r>
              <a:t>CONNECT</a:t>
            </a:r>
          </a:p>
          <a:p>
            <a:r>
              <a:t>Build on the preceding slide: A record and a growing list.</a:t>
            </a:r>
          </a:p>
          <a:p>
            <a:r>
              <a:t/>
            </a:r>
          </a:p>
          <a:p>
            <a:r>
              <a:t>LECTURER CUE</a:t>
            </a:r>
          </a:p>
          <a:p>
            <a:r>
              <a:t>Braces pair a key with its value. append adds one value to the end of a list. The same pattern works after reading a CSV row.</a:t>
            </a:r>
          </a:p>
          <a:p>
            <a:r>
              <a:t/>
            </a:r>
          </a:p>
          <a:p>
            <a:r>
              <a:t>Complete practice code:</a:t>
            </a:r>
          </a:p>
          <a:p>
            <a:r>
              <a:t>records = [{"sensor": "A", "reading": "2.5"},</a:t>
            </a:r>
          </a:p>
          <a:p>
            <a:r>
              <a:t>           {"sensor": "B", "reading": "3.5"}]</a:t>
            </a:r>
          </a:p>
          <a:p>
            <a:r>
              <a:t>values = []</a:t>
            </a:r>
          </a:p>
          <a:p>
            <a:r>
              <a:t>for row in records:</a:t>
            </a:r>
          </a:p>
          <a:p>
            <a:r>
              <a:t>    values.append(float(row["reading"]))</a:t>
            </a:r>
          </a:p>
          <a:p>
            <a:r>
              <a:t>print(values)</a:t>
            </a:r>
          </a:p>
          <a:p>
            <a:r>
              <a:t/>
            </a:r>
          </a:p>
          <a:p>
            <a:r>
              <a:t>EXPLAIN IN ORDINARY WORDS</a:t>
            </a:r>
          </a:p>
          <a:p>
            <a:r>
              <a:t>A list keeps items in order. Python positions start at zero. In [2,4,6], position 0 contains 2 and position 2 contains 6. A slice excludes its stop position.</a:t>
            </a:r>
          </a:p>
          <a:p>
            <a:r>
              <a:t/>
            </a:r>
          </a:p>
          <a:p>
            <a:r>
              <a:t>CHECK AND EXPECTED ANSWER</a:t>
            </a:r>
          </a:p>
          <a:p>
            <a:r>
              <a:t>What is [2,4,6][1]? 4. Is there a position 3? No.</a:t>
            </a:r>
          </a:p>
          <a:p>
            <a:r>
              <a:t/>
            </a:r>
          </a:p>
          <a:p>
            <a:r>
              <a:t>IF LEARNERS ARE STUCK</a:t>
            </a:r>
          </a:p>
          <a:p>
            <a:r>
              <a:t>Draw three numbered boxes starting at zero. Keep the position separate from the value stored in it.</a:t>
            </a:r>
          </a:p>
          <a:p>
            <a:r>
              <a:t/>
            </a:r>
          </a:p>
          <a:p>
            <a:r>
              <a:t>WALK THROUGH THIS CODE</a:t>
            </a:r>
          </a:p>
          <a:p>
            <a:r>
              <a:t>for takes the next item. The indented block repeats.</a:t>
            </a:r>
          </a:p>
          <a:p>
            <a:r>
              <a:t>float converts numeric text into a decimal number.</a:t>
            </a:r>
          </a:p>
          <a:p>
            <a:r>
              <a:t>print displays a value below the cell.</a:t>
            </a:r>
          </a:p>
          <a:p>
            <a:r>
              <a:t>Read the displayed lines in order, with the preceding code block if this example continues. Ask for the next value before running. The complete matching example is in guided_practice.ipynb; do not type a fragment into a new empty notebook.</a:t>
            </a:r>
          </a:p>
          <a:p>
            <a:r>
              <a:t/>
            </a:r>
          </a:p>
          <a:p>
            <a:r>
              <a:t>NEXT</a:t>
            </a:r>
          </a:p>
          <a:p>
            <a:r>
              <a:t>Skip a blank before converting text.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Skip a blank before converting text</a:t>
            </a:r>
          </a:p>
          <a:p>
            <a:r>
              <a:t/>
            </a:r>
          </a:p>
          <a:p>
            <a:r>
              <a:t>CONNECT</a:t>
            </a:r>
          </a:p>
          <a:p>
            <a:r>
              <a:t>Build on the preceding slide: A record and a growing list in Python.</a:t>
            </a:r>
          </a:p>
          <a:p>
            <a:r>
              <a:t/>
            </a:r>
          </a:p>
          <a:p>
            <a:r>
              <a:t>EXPLAIN IN ORDINARY WORDS</a:t>
            </a:r>
          </a:p>
          <a:p>
            <a:r>
              <a:t>Missing means not recorded, not automatically zero. Decide why it is missing and document the rule. Fitted fill values must come from training data when evaluating a model.</a:t>
            </a:r>
          </a:p>
          <a:p>
            <a:r>
              <a:t/>
            </a:r>
          </a:p>
          <a:p>
            <a:r>
              <a:t>CHECK AND EXPECTED ANSWER</a:t>
            </a:r>
          </a:p>
          <a:p>
            <a:r>
              <a:t>Is an unrecorded energy reading evidence of zero consumption? No.</a:t>
            </a:r>
          </a:p>
          <a:p>
            <a:r>
              <a:t/>
            </a:r>
          </a:p>
          <a:p>
            <a:r>
              <a:t>IF LEARNERS ARE STUCK</a:t>
            </a:r>
          </a:p>
          <a:p>
            <a:r>
              <a:t>Use three rows: a recorded zero, a recorded positive value and a blank. Explain their different meanings before cleaning.</a:t>
            </a:r>
          </a:p>
          <a:p>
            <a:r>
              <a:t/>
            </a:r>
          </a:p>
          <a:p>
            <a:r>
              <a:t>NEXT</a:t>
            </a:r>
          </a:p>
          <a:p>
            <a:r>
              <a:t>Collect only the recorded numbers.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Collect only the recorded numbers</a:t>
            </a:r>
          </a:p>
          <a:p>
            <a:r>
              <a:t/>
            </a:r>
          </a:p>
          <a:p>
            <a:r>
              <a:t>CONNECT</a:t>
            </a:r>
          </a:p>
          <a:p>
            <a:r>
              <a:t>Build on the preceding slide: Skip a blank before converting text.</a:t>
            </a:r>
          </a:p>
          <a:p>
            <a:r>
              <a:t/>
            </a:r>
          </a:p>
          <a:p>
            <a:r>
              <a:t>LECTURER CUE</a:t>
            </a:r>
          </a:p>
          <a:p>
            <a:r>
              <a:t>Expected: 2 [2.5, 3.5]. A blank is missing, not a recorded zero.</a:t>
            </a:r>
          </a:p>
          <a:p>
            <a:r>
              <a:t/>
            </a:r>
          </a:p>
          <a:p>
            <a:r>
              <a:t>Complete practice code:</a:t>
            </a:r>
          </a:p>
          <a:p>
            <a:r>
              <a:t>text_values = ["2.5", "", "3.5"]</a:t>
            </a:r>
          </a:p>
          <a:p>
            <a:r>
              <a:t>values = []</a:t>
            </a:r>
          </a:p>
          <a:p>
            <a:r>
              <a:t>for text in text_values:</a:t>
            </a:r>
          </a:p>
          <a:p>
            <a:r>
              <a:t>    if text != "":</a:t>
            </a:r>
          </a:p>
          <a:p>
            <a:r>
              <a:t>        values.append(float(text))</a:t>
            </a:r>
          </a:p>
          <a:p>
            <a:r>
              <a:t>print(len(values), values)</a:t>
            </a:r>
          </a:p>
          <a:p>
            <a:r>
              <a:t/>
            </a:r>
          </a:p>
          <a:p>
            <a:r>
              <a:t>EXPLAIN IN ORDINARY WORDS</a:t>
            </a:r>
          </a:p>
          <a:p>
            <a:r>
              <a:t>Missing means not recorded, not automatically zero. Decide why it is missing and document the rule. Fitted fill values must come from training data when evaluating a model.</a:t>
            </a:r>
          </a:p>
          <a:p>
            <a:r>
              <a:t/>
            </a:r>
          </a:p>
          <a:p>
            <a:r>
              <a:t>CHECK AND EXPECTED ANSWER</a:t>
            </a:r>
          </a:p>
          <a:p>
            <a:r>
              <a:t>Is an unrecorded energy reading evidence of zero consumption? No.</a:t>
            </a:r>
          </a:p>
          <a:p>
            <a:r>
              <a:t/>
            </a:r>
          </a:p>
          <a:p>
            <a:r>
              <a:t>IF LEARNERS ARE STUCK</a:t>
            </a:r>
          </a:p>
          <a:p>
            <a:r>
              <a:t>Use three rows: a recorded zero, a recorded positive value and a blank. Explain their different meanings before cleaning.</a:t>
            </a:r>
          </a:p>
          <a:p>
            <a:r>
              <a:t/>
            </a:r>
          </a:p>
          <a:p>
            <a:r>
              <a:t>WALK THROUGH THIS CODE</a:t>
            </a:r>
          </a:p>
          <a:p>
            <a:r>
              <a:t>for takes the next item. The indented block repeats.</a:t>
            </a:r>
          </a:p>
          <a:p>
            <a:r>
              <a:t>if tests a condition. The chosen indented block runs.</a:t>
            </a:r>
          </a:p>
          <a:p>
            <a:r>
              <a:t>float converts numeric text into a decimal number.</a:t>
            </a:r>
          </a:p>
          <a:p>
            <a:r>
              <a:t>Read the displayed lines in order, with the preceding code block if this example continues. Ask for the next value before running. The complete matching example is in guided_practice.ipynb; do not type a fragment into a new empty notebook.</a:t>
            </a:r>
          </a:p>
          <a:p>
            <a:r>
              <a:t/>
            </a:r>
          </a:p>
          <a:p>
            <a:r>
              <a:t>NEXT</a:t>
            </a:r>
          </a:p>
          <a:p>
            <a:r>
              <a:t>Summaries for separate groups.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Summaries for separate groups</a:t>
            </a:r>
          </a:p>
          <a:p>
            <a:r>
              <a:t/>
            </a:r>
          </a:p>
          <a:p>
            <a:r>
              <a:t>CONNECT</a:t>
            </a:r>
          </a:p>
          <a:p>
            <a:r>
              <a:t>Build on the preceding slide: Collect only the recorded numbers.</a:t>
            </a:r>
          </a:p>
          <a:p>
            <a:r>
              <a:t/>
            </a:r>
          </a:p>
          <a:p>
            <a:r>
              <a:t>LECTURER CUE</a:t>
            </a:r>
          </a:p>
          <a:p>
            <a:r>
              <a:t>A dictionary can hold one running total for each group. An absent key needs an initial zero. Then add the reading to that group. To calculate group means, keep a matching count and divide each group total by its own count.</a:t>
            </a:r>
          </a:p>
          <a:p>
            <a:r>
              <a:t/>
            </a:r>
          </a:p>
          <a:p>
            <a:r>
              <a:t>EXPLAIN IN ORDINARY WORDS</a:t>
            </a:r>
          </a:p>
          <a:p>
            <a:r>
              <a:t>A combined mean is the combined total divided by the combined count. Averaging group means equally gives each group equal influence regardless of size.</a:t>
            </a:r>
          </a:p>
          <a:p>
            <a:r>
              <a:t/>
            </a:r>
          </a:p>
          <a:p>
            <a:r>
              <a:t>CHECK AND EXPECTED ANSWER</a:t>
            </a:r>
          </a:p>
          <a:p>
            <a:r>
              <a:t>Group A: one value 10; group B: three values 2. Overall mean is 16/4=4, not (10+2)/2=6.</a:t>
            </a:r>
          </a:p>
          <a:p>
            <a:r>
              <a:t/>
            </a:r>
          </a:p>
          <a:p>
            <a:r>
              <a:t>IF LEARNERS ARE STUCK</a:t>
            </a:r>
          </a:p>
          <a:p>
            <a:r>
              <a:t>Recover each group total as mean times count, add totals, then divide by all observations.</a:t>
            </a:r>
          </a:p>
          <a:p>
            <a:r>
              <a:t/>
            </a:r>
          </a:p>
          <a:p>
            <a:r>
              <a:t>NEXT</a:t>
            </a:r>
          </a:p>
          <a:p>
            <a:r>
              <a:t>Summaries for separate groups in Python (1/2).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6.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Summaries for separate groups in Python (1/2)</a:t>
            </a:r>
          </a:p>
          <a:p>
            <a:r>
              <a:t/>
            </a:r>
          </a:p>
          <a:p>
            <a:r>
              <a:t>CONNECT</a:t>
            </a:r>
          </a:p>
          <a:p>
            <a:r>
              <a:t>Build on the preceding slide: Summaries for separate groups.</a:t>
            </a:r>
          </a:p>
          <a:p>
            <a:r>
              <a:t/>
            </a:r>
          </a:p>
          <a:p>
            <a:r>
              <a:t>LECTURER CUE</a:t>
            </a:r>
          </a:p>
          <a:p>
            <a:r>
              <a:t>A dictionary can hold one running total for each group. An absent key needs an initial zero. Then add the reading to that group. To calculate group means, keep a matching count and divide each group total by its own count.</a:t>
            </a:r>
          </a:p>
          <a:p>
            <a:r>
              <a:t/>
            </a:r>
          </a:p>
          <a:p>
            <a:r>
              <a:t>Complete practice code:</a:t>
            </a:r>
          </a:p>
          <a:p>
            <a:r>
              <a:t>records = [{"group": "A", "reading": 2},</a:t>
            </a:r>
          </a:p>
          <a:p>
            <a:r>
              <a:t>           {"group": "A", "reading": 4},</a:t>
            </a:r>
          </a:p>
          <a:p>
            <a:r>
              <a:t>           {"group": "B", "reading": 9}]</a:t>
            </a:r>
          </a:p>
          <a:p>
            <a:r>
              <a:t>totals = {}</a:t>
            </a:r>
          </a:p>
          <a:p>
            <a:r>
              <a:t>for row in records:</a:t>
            </a:r>
          </a:p>
          <a:p>
            <a:r>
              <a:t>    group = row["group"]</a:t>
            </a:r>
          </a:p>
          <a:p>
            <a:r>
              <a:t>    if group not in totals:</a:t>
            </a:r>
          </a:p>
          <a:p>
            <a:r>
              <a:t>        totals[group] = 0</a:t>
            </a:r>
          </a:p>
          <a:p>
            <a:r>
              <a:t>    totals[group] = totals[group] + row["reading"]</a:t>
            </a:r>
          </a:p>
          <a:p>
            <a:r>
              <a:t>print(totals)</a:t>
            </a:r>
          </a:p>
          <a:p>
            <a:r>
              <a:t/>
            </a:r>
          </a:p>
          <a:p>
            <a:r>
              <a:t>WALK THROUGH THIS CODE</a:t>
            </a:r>
          </a:p>
          <a:p>
            <a:r>
              <a:t>for takes the next item. The indented block repeats.</a:t>
            </a:r>
          </a:p>
          <a:p>
            <a:r>
              <a:t>if tests a condition. The chosen indented block runs.</a:t>
            </a:r>
          </a:p>
          <a:p>
            <a:r>
              <a:t>Square brackets create a list or select an item.</a:t>
            </a:r>
          </a:p>
          <a:p>
            <a:r>
              <a:t>Read the displayed lines in order, with the preceding code block if this example continues. Ask for the next value before running. The complete matching example is in guided_practice.ipynb; do not type a fragment into a new empty notebook.</a:t>
            </a:r>
          </a:p>
          <a:p>
            <a:r>
              <a:t/>
            </a:r>
          </a:p>
          <a:p>
            <a:r>
              <a:t>NEXT</a:t>
            </a:r>
          </a:p>
          <a:p>
            <a:r>
              <a:t>Summaries for separate groups in Python (2/2).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7.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Summaries for separate groups in Python (2/2)</a:t>
            </a:r>
          </a:p>
          <a:p>
            <a:r>
              <a:t/>
            </a:r>
          </a:p>
          <a:p>
            <a:r>
              <a:t>CONNECT</a:t>
            </a:r>
          </a:p>
          <a:p>
            <a:r>
              <a:t>Build on the preceding slide: Summaries for separate groups in Python (1/2).</a:t>
            </a:r>
          </a:p>
          <a:p>
            <a:r>
              <a:t/>
            </a:r>
          </a:p>
          <a:p>
            <a:r>
              <a:t>LECTURER CUE</a:t>
            </a:r>
          </a:p>
          <a:p>
            <a:r>
              <a:t>A dictionary can hold one running total for each group. An absent key needs an initial zero. Then add the reading to that group. To calculate group means, keep a matching count and divide each group total by its own count.</a:t>
            </a:r>
          </a:p>
          <a:p>
            <a:r>
              <a:t/>
            </a:r>
          </a:p>
          <a:p>
            <a:r>
              <a:t>Complete practice code:</a:t>
            </a:r>
          </a:p>
          <a:p>
            <a:r>
              <a:t>records = [{"group": "A", "reading": 2},</a:t>
            </a:r>
          </a:p>
          <a:p>
            <a:r>
              <a:t>           {"group": "A", "reading": 4},</a:t>
            </a:r>
          </a:p>
          <a:p>
            <a:r>
              <a:t>           {"group": "B", "reading": 9}]</a:t>
            </a:r>
          </a:p>
          <a:p>
            <a:r>
              <a:t>totals = {}</a:t>
            </a:r>
          </a:p>
          <a:p>
            <a:r>
              <a:t>for row in records:</a:t>
            </a:r>
          </a:p>
          <a:p>
            <a:r>
              <a:t>    group = row["group"]</a:t>
            </a:r>
          </a:p>
          <a:p>
            <a:r>
              <a:t>    if group not in totals:</a:t>
            </a:r>
          </a:p>
          <a:p>
            <a:r>
              <a:t>        totals[group] = 0</a:t>
            </a:r>
          </a:p>
          <a:p>
            <a:r>
              <a:t>    totals[group] = totals[group] + row["reading"]</a:t>
            </a:r>
          </a:p>
          <a:p>
            <a:r>
              <a:t>print(totals)</a:t>
            </a:r>
          </a:p>
          <a:p>
            <a:r>
              <a:t/>
            </a:r>
          </a:p>
          <a:p>
            <a:r>
              <a:t>EXPLAIN IN ORDINARY WORDS</a:t>
            </a:r>
          </a:p>
          <a:p>
            <a:r>
              <a:t>A notebook contains code cells and explanatory text cells. The runtime remembers values from cells that actually ran, which may differ from their visual order.</a:t>
            </a:r>
          </a:p>
          <a:p>
            <a:r>
              <a:t/>
            </a:r>
          </a:p>
          <a:p>
            <a:r>
              <a:t>CHECK AND EXPECTED ANSWER</a:t>
            </a:r>
          </a:p>
          <a:p>
            <a:r>
              <a:t>Does editing a cell update a value already stored in memory? No; the cell must run.</a:t>
            </a:r>
          </a:p>
          <a:p>
            <a:r>
              <a:t/>
            </a:r>
          </a:p>
          <a:p>
            <a:r>
              <a:t>IF LEARNERS ARE STUCK</a:t>
            </a:r>
          </a:p>
          <a:p>
            <a:r>
              <a:t>Outside an assessment restriction, restart and run from the top after loading data. Fix the first error before later cells; save the successful notebook.</a:t>
            </a:r>
          </a:p>
          <a:p>
            <a:r>
              <a:t/>
            </a:r>
          </a:p>
          <a:p>
            <a:r>
              <a:t>WALK THROUGH THIS CODE</a:t>
            </a:r>
          </a:p>
          <a:p>
            <a:r>
              <a:t>print displays a value below the cell.</a:t>
            </a:r>
          </a:p>
          <a:p>
            <a:r>
              <a:t>Read the displayed lines in order, with the preceding code block if this example continues. Ask for the next value before running. The complete matching example is in guided_practice.ipynb; do not type a fragment into a new empty notebook.</a:t>
            </a:r>
          </a:p>
          <a:p>
            <a:r>
              <a:t/>
            </a:r>
          </a:p>
          <a:p>
            <a:r>
              <a:t>NEXT</a:t>
            </a:r>
          </a:p>
          <a:p>
            <a:r>
              <a:t>A group mean needs its own count.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8.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A group mean needs its own count</a:t>
            </a:r>
          </a:p>
          <a:p>
            <a:r>
              <a:t/>
            </a:r>
          </a:p>
          <a:p>
            <a:r>
              <a:t>CONNECT</a:t>
            </a:r>
          </a:p>
          <a:p>
            <a:r>
              <a:t>Build on the preceding slide: Summaries for separate groups in Python (2/2).</a:t>
            </a:r>
          </a:p>
          <a:p>
            <a:r>
              <a:t/>
            </a:r>
          </a:p>
          <a:p>
            <a:r>
              <a:t>EXPLAIN IN ORDINARY WORDS</a:t>
            </a:r>
          </a:p>
          <a:p>
            <a:r>
              <a:t>A combined mean is the combined total divided by the combined count. Averaging group means equally gives each group equal influence regardless of size.</a:t>
            </a:r>
          </a:p>
          <a:p>
            <a:r>
              <a:t/>
            </a:r>
          </a:p>
          <a:p>
            <a:r>
              <a:t>CHECK AND EXPECTED ANSWER</a:t>
            </a:r>
          </a:p>
          <a:p>
            <a:r>
              <a:t>Group A: one value 10; group B: three values 2. Overall mean is 16/4=4, not (10+2)/2=6.</a:t>
            </a:r>
          </a:p>
          <a:p>
            <a:r>
              <a:t/>
            </a:r>
          </a:p>
          <a:p>
            <a:r>
              <a:t>IF LEARNERS ARE STUCK</a:t>
            </a:r>
          </a:p>
          <a:p>
            <a:r>
              <a:t>Recover each group total as mean times count, add totals, then divide by all observations.</a:t>
            </a:r>
          </a:p>
          <a:p>
            <a:r>
              <a:t/>
            </a:r>
          </a:p>
          <a:p>
            <a:r>
              <a:t>NEXT</a:t>
            </a:r>
          </a:p>
          <a:p>
            <a:r>
              <a:t>From group totals to group means.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9.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From group totals to group means</a:t>
            </a:r>
          </a:p>
          <a:p>
            <a:r>
              <a:t/>
            </a:r>
          </a:p>
          <a:p>
            <a:r>
              <a:t>CONNECT</a:t>
            </a:r>
          </a:p>
          <a:p>
            <a:r>
              <a:t>Build on the preceding slide: A group mean needs its own count.</a:t>
            </a:r>
          </a:p>
          <a:p>
            <a:r>
              <a:t/>
            </a:r>
          </a:p>
          <a:p>
            <a:r>
              <a:t>LECTURER CUE</a:t>
            </a:r>
          </a:p>
          <a:p>
            <a:r>
              <a:t>Expected: A has mean 3.0 and B has mean 9.0. Each group uses its own denominator.</a:t>
            </a:r>
          </a:p>
          <a:p>
            <a:r>
              <a:t/>
            </a:r>
          </a:p>
          <a:p>
            <a:r>
              <a:t>Complete practice code:</a:t>
            </a:r>
          </a:p>
          <a:p>
            <a:r>
              <a:t>counts = {}</a:t>
            </a:r>
          </a:p>
          <a:p>
            <a:r>
              <a:t>for row in records:</a:t>
            </a:r>
          </a:p>
          <a:p>
            <a:r>
              <a:t>    group = row["group"]</a:t>
            </a:r>
          </a:p>
          <a:p>
            <a:r>
              <a:t>    counts[group] = counts.get(group, 0) + 1</a:t>
            </a:r>
          </a:p>
          <a:p>
            <a:r>
              <a:t>means = {}</a:t>
            </a:r>
          </a:p>
          <a:p>
            <a:r>
              <a:t>for group, total in totals.items():</a:t>
            </a:r>
          </a:p>
          <a:p>
            <a:r>
              <a:t>    means[group] = total / counts[group]</a:t>
            </a:r>
          </a:p>
          <a:p>
            <a:r>
              <a:t>print(means)</a:t>
            </a:r>
          </a:p>
          <a:p>
            <a:r>
              <a:t/>
            </a:r>
          </a:p>
          <a:p>
            <a:r>
              <a:t>EXPLAIN IN ORDINARY WORDS</a:t>
            </a:r>
          </a:p>
          <a:p>
            <a:r>
              <a:t>A combined mean is the combined total divided by the combined count. Averaging group means equally gives each group equal influence regardless of size.</a:t>
            </a:r>
          </a:p>
          <a:p>
            <a:r>
              <a:t/>
            </a:r>
          </a:p>
          <a:p>
            <a:r>
              <a:t>CHECK AND EXPECTED ANSWER</a:t>
            </a:r>
          </a:p>
          <a:p>
            <a:r>
              <a:t>Group A: one value 10; group B: three values 2. Overall mean is 16/4=4, not (10+2)/2=6.</a:t>
            </a:r>
          </a:p>
          <a:p>
            <a:r>
              <a:t/>
            </a:r>
          </a:p>
          <a:p>
            <a:r>
              <a:t>IF LEARNERS ARE STUCK</a:t>
            </a:r>
          </a:p>
          <a:p>
            <a:r>
              <a:t>Recover each group total as mean times count, add totals, then divide by all observations.</a:t>
            </a:r>
          </a:p>
          <a:p>
            <a:r>
              <a:t/>
            </a:r>
          </a:p>
          <a:p>
            <a:r>
              <a:t>WALK THROUGH THIS CODE</a:t>
            </a:r>
          </a:p>
          <a:p>
            <a:r>
              <a:t>for takes the next item. The indented block repeats.</a:t>
            </a:r>
          </a:p>
          <a:p>
            <a:r>
              <a:t>print displays a value below the cell.</a:t>
            </a:r>
          </a:p>
          <a:p>
            <a:r>
              <a:t>Square brackets create a list or select an item.</a:t>
            </a:r>
          </a:p>
          <a:p>
            <a:r>
              <a:t>Read the displayed lines in order, with the preceding code block if this example continues. Ask for the next value before running. The complete matching example is in guided_practice.ipynb; do not type a fragment into a new empty notebook.</a:t>
            </a:r>
          </a:p>
          <a:p>
            <a:r>
              <a:t/>
            </a:r>
          </a:p>
          <a:p>
            <a:r>
              <a:t>NEXT</a:t>
            </a:r>
          </a:p>
          <a:p>
            <a:r>
              <a:t>When numeric text cannot be converted.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40.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When numeric text cannot be converted</a:t>
            </a:r>
          </a:p>
          <a:p>
            <a:r>
              <a:t/>
            </a:r>
          </a:p>
          <a:p>
            <a:r>
              <a:t>CONNECT</a:t>
            </a:r>
          </a:p>
          <a:p>
            <a:r>
              <a:t>Build on the preceding slide: From group totals to group means.</a:t>
            </a:r>
          </a:p>
          <a:p>
            <a:r>
              <a:t/>
            </a:r>
          </a:p>
          <a:p>
            <a:r>
              <a:t>EXPLAIN IN ORDINARY WORDS</a:t>
            </a:r>
          </a:p>
          <a:p>
            <a:r>
              <a:t>A notebook contains code cells and explanatory text cells. The runtime remembers values from cells that actually ran, which may differ from their visual order.</a:t>
            </a:r>
          </a:p>
          <a:p>
            <a:r>
              <a:t/>
            </a:r>
          </a:p>
          <a:p>
            <a:r>
              <a:t>CHECK AND EXPECTED ANSWER</a:t>
            </a:r>
          </a:p>
          <a:p>
            <a:r>
              <a:t>Does editing a cell update a value already stored in memory? No; the cell must run.</a:t>
            </a:r>
          </a:p>
          <a:p>
            <a:r>
              <a:t/>
            </a:r>
          </a:p>
          <a:p>
            <a:r>
              <a:t>IF LEARNERS ARE STUCK</a:t>
            </a:r>
          </a:p>
          <a:p>
            <a:r>
              <a:t>Outside an assessment restriction, restart and run from the top after loading data. Fix the first error before later cells; save the successful notebook.</a:t>
            </a:r>
          </a:p>
          <a:p>
            <a:r>
              <a:t/>
            </a:r>
          </a:p>
          <a:p>
            <a:r>
              <a:t>NEXT</a:t>
            </a:r>
          </a:p>
          <a:p>
            <a:r>
              <a:t>Catch one expected conversion failure.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4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Catch one expected conversion failure</a:t>
            </a:r>
          </a:p>
          <a:p>
            <a:r>
              <a:t/>
            </a:r>
          </a:p>
          <a:p>
            <a:r>
              <a:t>CONNECT</a:t>
            </a:r>
          </a:p>
          <a:p>
            <a:r>
              <a:t>Build on the preceding slide: When numeric text cannot be converted.</a:t>
            </a:r>
          </a:p>
          <a:p>
            <a:r>
              <a:t/>
            </a:r>
          </a:p>
          <a:p>
            <a:r>
              <a:t>LECTURER CUE</a:t>
            </a:r>
          </a:p>
          <a:p>
            <a:r>
              <a:t>Expected: None. The assignment specifies which invalid records to skip; do not invent a replacement number.</a:t>
            </a:r>
          </a:p>
          <a:p>
            <a:r>
              <a:t/>
            </a:r>
          </a:p>
          <a:p>
            <a:r>
              <a:t>Complete practice code:</a:t>
            </a:r>
          </a:p>
          <a:p>
            <a:r>
              <a:t>text = "bad"</a:t>
            </a:r>
          </a:p>
          <a:p>
            <a:r>
              <a:t>try:</a:t>
            </a:r>
          </a:p>
          <a:p>
            <a:r>
              <a:t>    reading = float(text)</a:t>
            </a:r>
          </a:p>
          <a:p>
            <a:r>
              <a:t>except ValueError:</a:t>
            </a:r>
          </a:p>
          <a:p>
            <a:r>
              <a:t>    reading = None</a:t>
            </a:r>
          </a:p>
          <a:p>
            <a:r>
              <a:t>print(reading)</a:t>
            </a:r>
          </a:p>
          <a:p>
            <a:r>
              <a:t/>
            </a:r>
          </a:p>
          <a:p>
            <a:r>
              <a:t>EXPLAIN IN ORDINARY WORDS</a:t>
            </a:r>
          </a:p>
          <a:p>
            <a:r>
              <a:t>Read each quantity and unit before using a formula. Python calculates numbers but does not enforce physical units. Parentheses specify which operation happens first.</a:t>
            </a:r>
          </a:p>
          <a:p>
            <a:r>
              <a:t/>
            </a:r>
          </a:p>
          <a:p>
            <a:r>
              <a:t>CHECK AND EXPECTED ANSWER</a:t>
            </a:r>
          </a:p>
          <a:p>
            <a:r>
              <a:t>What is 5 m times 3 m? 15 square metres. What is 7/2 in Python? 3.5; 7//2 is 3.</a:t>
            </a:r>
          </a:p>
          <a:p>
            <a:r>
              <a:t/>
            </a:r>
          </a:p>
          <a:p>
            <a:r>
              <a:t>IF LEARNERS ARE STUCK</a:t>
            </a:r>
          </a:p>
          <a:p>
            <a:r>
              <a:t>Write the formula and units on paper, substitute small values, then translate it to Python. Check zero denominators and the issued sign convention.</a:t>
            </a:r>
          </a:p>
          <a:p>
            <a:r>
              <a:t/>
            </a:r>
          </a:p>
          <a:p>
            <a:r>
              <a:t>WALK THROUGH THIS CODE</a:t>
            </a:r>
          </a:p>
          <a:p>
            <a:r>
              <a:t>float converts numeric text into a decimal number.</a:t>
            </a:r>
          </a:p>
          <a:p>
            <a:r>
              <a:t>print displays a value below the cell.</a:t>
            </a:r>
          </a:p>
          <a:p>
            <a:r>
              <a:t>= assigns the value on the right to the name on the left.</a:t>
            </a:r>
          </a:p>
          <a:p>
            <a:r>
              <a:t>Read the displayed lines in order, with the preceding code block if this example continues. Ask for the next value before running. The complete matching example is in guided_practice.ipynb; do not type a fragment into a new empty notebook.</a:t>
            </a:r>
          </a:p>
          <a:p>
            <a:r>
              <a:t/>
            </a:r>
          </a:p>
          <a:p>
            <a:r>
              <a:t>NEXT</a:t>
            </a:r>
          </a:p>
          <a:p>
            <a:r>
              <a:t>You are the loop.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4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You are the loop</a:t>
            </a:r>
          </a:p>
          <a:p>
            <a:r>
              <a:t/>
            </a:r>
          </a:p>
          <a:p>
            <a:r>
              <a:t>CONNECT</a:t>
            </a:r>
          </a:p>
          <a:p>
            <a:r>
              <a:t>Build on the preceding slide: Catch one expected conversion failure.</a:t>
            </a:r>
          </a:p>
          <a:p>
            <a:r>
              <a:t/>
            </a:r>
          </a:p>
          <a:p>
            <a:r>
              <a:t>LECTURER CUE</a:t>
            </a:r>
          </a:p>
          <a:p>
            <a:r>
              <a:t>Do this before revealing the discussion slide. One learner moves or writes the items, the other checks. Swap roles. Every student explains one step. Expected: The new total is 20 and count is 4, so the mean is 5. Resetting the total inside the loop loses earlier additions.</a:t>
            </a:r>
          </a:p>
          <a:p>
            <a:r>
              <a:t>Wait for an individual prediction before inviting pair discussion. Give a first-step hint if needed.</a:t>
            </a:r>
          </a:p>
          <a:p>
            <a:r>
              <a:t/>
            </a:r>
          </a:p>
          <a:p>
            <a:r>
              <a:t>EXPLAIN IN ORDINARY WORDS</a:t>
            </a:r>
          </a:p>
          <a:p>
            <a:r>
              <a:t>A loop repeats its indented instructions for each item. A running total must be initialised before the loop and updated inside it.</a:t>
            </a:r>
          </a:p>
          <a:p>
            <a:r>
              <a:t/>
            </a:r>
          </a:p>
          <a:p>
            <a:r>
              <a:t>CHECK AND EXPECTED ANSWER</a:t>
            </a:r>
          </a:p>
          <a:p>
            <a:r>
              <a:t>For values 2,4,6 and total initially 0, what are the successive totals? 2,6,12.</a:t>
            </a:r>
          </a:p>
          <a:p>
            <a:r>
              <a:t/>
            </a:r>
          </a:p>
          <a:p>
            <a:r>
              <a:t>IF LEARNERS ARE STUCK</a:t>
            </a:r>
          </a:p>
          <a:p>
            <a:r>
              <a:t>Use a trace table with current item and total. Resetting total inside the loop loses earlier additions.</a:t>
            </a:r>
          </a:p>
          <a:p>
            <a:r>
              <a:t/>
            </a:r>
          </a:p>
          <a:p>
            <a:r>
              <a:t>NEXT</a:t>
            </a:r>
          </a:p>
          <a:p>
            <a:r>
              <a:t>What the activity shows.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4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What the activity shows</a:t>
            </a:r>
          </a:p>
          <a:p>
            <a:r>
              <a:t/>
            </a:r>
          </a:p>
          <a:p>
            <a:r>
              <a:t>CONNECT</a:t>
            </a:r>
          </a:p>
          <a:p>
            <a:r>
              <a:t>Build on the preceding slide: You are the loop.</a:t>
            </a:r>
          </a:p>
          <a:p>
            <a:r>
              <a:t/>
            </a:r>
          </a:p>
          <a:p>
            <a:r>
              <a:t>LECTURER CUE</a:t>
            </a:r>
          </a:p>
          <a:p>
            <a:r>
              <a:t>Ask which step produced this answer. Return to the concrete action if a learner cannot explain it. This is practice feedback, never a quiz key.</a:t>
            </a:r>
          </a:p>
          <a:p>
            <a:r>
              <a:t/>
            </a:r>
          </a:p>
          <a:p>
            <a:r>
              <a:t>EXPLAIN IN ORDINARY WORDS</a:t>
            </a:r>
          </a:p>
          <a:p>
            <a:r>
              <a:t>A loop repeats its indented instructions for each item. A running total must be initialised before the loop and updated inside it.</a:t>
            </a:r>
          </a:p>
          <a:p>
            <a:r>
              <a:t/>
            </a:r>
          </a:p>
          <a:p>
            <a:r>
              <a:t>CHECK AND EXPECTED ANSWER</a:t>
            </a:r>
          </a:p>
          <a:p>
            <a:r>
              <a:t>For values 2,4,6 and total initially 0, what are the successive totals? 2,6,12.</a:t>
            </a:r>
          </a:p>
          <a:p>
            <a:r>
              <a:t/>
            </a:r>
          </a:p>
          <a:p>
            <a:r>
              <a:t>IF LEARNERS ARE STUCK</a:t>
            </a:r>
          </a:p>
          <a:p>
            <a:r>
              <a:t>Use a trace table with current item and total. Resetting total inside the loop loses earlier additions.</a:t>
            </a:r>
          </a:p>
          <a:p>
            <a:r>
              <a:t/>
            </a:r>
          </a:p>
          <a:p>
            <a:r>
              <a:t>NEXT</a:t>
            </a:r>
          </a:p>
          <a:p>
            <a:r>
              <a:t>Your turn.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4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Your turn</a:t>
            </a:r>
          </a:p>
          <a:p>
            <a:r>
              <a:t/>
            </a:r>
          </a:p>
          <a:p>
            <a:r>
              <a:t>CONNECT</a:t>
            </a:r>
          </a:p>
          <a:p>
            <a:r>
              <a:t>Build on the preceding slide: What the activity shows.</a:t>
            </a:r>
          </a:p>
          <a:p>
            <a:r>
              <a:t/>
            </a:r>
          </a:p>
          <a:p>
            <a:r>
              <a:t>LECTURER CUE</a:t>
            </a:r>
          </a:p>
          <a:p>
            <a:r>
              <a:t>Give silent thinking time, then let pairs discuss. Rotate who types. This is practice, not a graded quiz. Expected response: Total 20, count 4, mean 5.0. Resetting inside the loop discards previous additions and leaves only the last value in total.</a:t>
            </a:r>
          </a:p>
          <a:p>
            <a:r>
              <a:t/>
            </a:r>
          </a:p>
          <a:p>
            <a:r>
              <a:t>EXPLAIN IN ORDINARY WORDS</a:t>
            </a:r>
          </a:p>
          <a:p>
            <a:r>
              <a:t>A list keeps items in order. Python positions start at zero. In [2,4,6], position 0 contains 2 and position 2 contains 6. A slice excludes its stop position.</a:t>
            </a:r>
          </a:p>
          <a:p>
            <a:r>
              <a:t/>
            </a:r>
          </a:p>
          <a:p>
            <a:r>
              <a:t>CHECK AND EXPECTED ANSWER</a:t>
            </a:r>
          </a:p>
          <a:p>
            <a:r>
              <a:t>What is [2,4,6][1]? 4. Is there a position 3? No.</a:t>
            </a:r>
          </a:p>
          <a:p>
            <a:r>
              <a:t/>
            </a:r>
          </a:p>
          <a:p>
            <a:r>
              <a:t>IF LEARNERS ARE STUCK</a:t>
            </a:r>
          </a:p>
          <a:p>
            <a:r>
              <a:t>Draw three numbered boxes starting at zero. Keep the position separate from the value stored in it.</a:t>
            </a:r>
          </a:p>
          <a:p>
            <a:r>
              <a:t/>
            </a:r>
          </a:p>
          <a:p>
            <a:r>
              <a:t>DISCUSSION KEY FOR THIS SLIDE</a:t>
            </a:r>
          </a:p>
          <a:p>
            <a:r>
              <a:t>DISCUSS THE REASONING</a:t>
            </a:r>
          </a:p>
          <a:p>
            <a:r>
              <a:t>Practice discussion</a:t>
            </a:r>
          </a:p>
          <a:p>
            <a:r>
              <a:t>Total 20, count 4, mean 5.0. Resetting inside the loop discards previous additions and leaves only the last value in total.</a:t>
            </a:r>
          </a:p>
          <a:p>
            <a:r>
              <a:t>Which step produced this result? What changes if one input changes?</a:t>
            </a:r>
          </a:p>
          <a:p>
            <a:r>
              <a:t>CML3113   Week 4   45</a:t>
            </a:r>
          </a:p>
          <a:p>
            <a:r>
              <a:t>Let learners attempt first; use this to explain the reasoning, not just reveal the answer.</a:t>
            </a:r>
          </a:p>
          <a:p>
            <a:r>
              <a:t/>
            </a:r>
          </a:p>
          <a:p>
            <a:r>
              <a:t>NEXT</a:t>
            </a:r>
          </a:p>
          <a:p>
            <a:r>
              <a:t>Practice discussion.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4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Practice discussion</a:t>
            </a:r>
          </a:p>
          <a:p>
            <a:r>
              <a:t/>
            </a:r>
          </a:p>
          <a:p>
            <a:r>
              <a:t>CONNECT</a:t>
            </a:r>
          </a:p>
          <a:p>
            <a:r>
              <a:t>Build on the preceding slide: Your turn.</a:t>
            </a:r>
          </a:p>
          <a:p>
            <a:r>
              <a:t/>
            </a:r>
          </a:p>
          <a:p>
            <a:r>
              <a:t>LECTURER CUE</a:t>
            </a:r>
          </a:p>
          <a:p>
            <a:r>
              <a:t>Ask how the result was obtained. Reteach the smallest missing step instead of giving a longer lecture.</a:t>
            </a:r>
          </a:p>
          <a:p>
            <a:r>
              <a:t/>
            </a:r>
          </a:p>
          <a:p>
            <a:r>
              <a:t>EXPLAIN IN ORDINARY WORDS</a:t>
            </a:r>
          </a:p>
          <a:p>
            <a:r>
              <a:t>A loop repeats its indented instructions for each item. A running total must be initialised before the loop and updated inside it.</a:t>
            </a:r>
          </a:p>
          <a:p>
            <a:r>
              <a:t/>
            </a:r>
          </a:p>
          <a:p>
            <a:r>
              <a:t>CHECK AND EXPECTED ANSWER</a:t>
            </a:r>
          </a:p>
          <a:p>
            <a:r>
              <a:t>For values 2,4,6 and total initially 0, what are the successive totals? 2,6,12.</a:t>
            </a:r>
          </a:p>
          <a:p>
            <a:r>
              <a:t/>
            </a:r>
          </a:p>
          <a:p>
            <a:r>
              <a:t>IF LEARNERS ARE STUCK</a:t>
            </a:r>
          </a:p>
          <a:p>
            <a:r>
              <a:t>Use a trace table with current item and total. Resetting total inside the loop loses earlier additions.</a:t>
            </a:r>
          </a:p>
          <a:p>
            <a:r>
              <a:t/>
            </a:r>
          </a:p>
          <a:p>
            <a:r>
              <a:t>NEXT</a:t>
            </a:r>
          </a:p>
          <a:p>
            <a:r>
              <a:t>Preparing for the assignment.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46.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Preparing for the assignment</a:t>
            </a:r>
          </a:p>
          <a:p>
            <a:r>
              <a:t/>
            </a:r>
          </a:p>
          <a:p>
            <a:r>
              <a:t>CONNECT</a:t>
            </a:r>
          </a:p>
          <a:p>
            <a:r>
              <a:t>Build on the preceding slide: Practice discussion.</a:t>
            </a:r>
          </a:p>
          <a:p>
            <a:r>
              <a:t/>
            </a:r>
          </a:p>
          <a:p>
            <a:r>
              <a:t>LECTURER CUE</a:t>
            </a:r>
          </a:p>
          <a:p>
            <a:r>
              <a:t>Open the issued W04 notebook and its cohort CSV. Compute the requested valid_count, mean_reading, above_limit and group_means using the exact names in the notebook. First identify the correct field and its unit. Keep the CSV beside the notebook locally or upload it into the Colab runtime. The written interpretation is practice.</a:t>
            </a:r>
          </a:p>
          <a:p>
            <a:r>
              <a:t/>
            </a:r>
          </a:p>
          <a:p>
            <a:r>
              <a:t>EXPLAIN IN ORDINARY WORDS</a:t>
            </a:r>
          </a:p>
          <a:p>
            <a:r>
              <a:t>A CSV is a text table. The header supplies column names. With csv.DictReader, values start as text, even if they look like numbers. A path tells Python where the file is.</a:t>
            </a:r>
          </a:p>
          <a:p>
            <a:r>
              <a:t/>
            </a:r>
          </a:p>
          <a:p>
            <a:r>
              <a:t>CHECK AND EXPECTED ANSWER</a:t>
            </a:r>
          </a:p>
          <a:p>
            <a:r>
              <a:t>Can "2.5" from csv.DictReader be added as a number without conversion? No; convert valid numeric text first.</a:t>
            </a:r>
          </a:p>
          <a:p>
            <a:r>
              <a:t/>
            </a:r>
          </a:p>
          <a:p>
            <a:r>
              <a:t>IF LEARNERS ARE STUCK</a:t>
            </a:r>
          </a:p>
          <a:p>
            <a:r>
              <a:t>Show the file in the runtime folder and compare its exact filename, case and column headers. Upload data again after a fresh Colab runtime.</a:t>
            </a:r>
          </a:p>
          <a:p>
            <a:r>
              <a:t/>
            </a:r>
          </a:p>
          <a:p>
            <a:r>
              <a:t>ASSIGNMENT HANDOVER</a:t>
            </a:r>
          </a:p>
          <a:p>
            <a:r>
              <a:t>Open the matching public student guide and show the exact starter filename, required outputs and upload set. Ask one learner to repeat what to submit and where. IUEA Student Registration Number is required freeform text; learners enter their own number. A saved repository is not a submitted form. Read the live deadline and keep the submission confirmation. Do not release an assessment that is still awaiting grading validation.</a:t>
            </a:r>
          </a:p>
          <a:p>
            <a:r>
              <a:t/>
            </a:r>
          </a:p>
          <a:p>
            <a:r>
              <a:t>NEXT</a:t>
            </a:r>
          </a:p>
          <a:p>
            <a:r>
              <a:t>Preparing for the assignment continued.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47.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Preparing for the assignment continued</a:t>
            </a:r>
          </a:p>
          <a:p>
            <a:r>
              <a:t/>
            </a:r>
          </a:p>
          <a:p>
            <a:r>
              <a:t>CONNECT</a:t>
            </a:r>
          </a:p>
          <a:p>
            <a:r>
              <a:t>Build on the preceding slide: Preparing for the assignment.</a:t>
            </a:r>
          </a:p>
          <a:p>
            <a:r>
              <a:t/>
            </a:r>
          </a:p>
          <a:p>
            <a:r>
              <a:t>LECTURER CUE</a:t>
            </a:r>
          </a:p>
          <a:p>
            <a:r>
              <a:t>Open the issued W04 notebook and its cohort CSV. Compute the requested valid_count, mean_reading, above_limit and group_means using the exact names in the notebook. First identify the correct field and its unit. Keep the CSV beside the notebook locally or upload it into the Colab runtime. The written interpretation is practice.</a:t>
            </a:r>
          </a:p>
          <a:p>
            <a:r>
              <a:t/>
            </a:r>
          </a:p>
          <a:p>
            <a:r>
              <a:t>ASSIGNMENT HANDOVER</a:t>
            </a:r>
          </a:p>
          <a:p>
            <a:r>
              <a:t>Open the matching public student guide and show the exact starter filename, required outputs and upload set. Ask one learner to repeat what to submit and where. IUEA Student Registration Number is required freeform text; learners enter their own number. A saved repository is not a submitted form. Read the live deadline and keep the submission confirmation. Do not release an assessment that is still awaiting grading validation.</a:t>
            </a:r>
          </a:p>
          <a:p>
            <a:r>
              <a:t/>
            </a:r>
          </a:p>
          <a:p>
            <a:r>
              <a:t>NEXT</a:t>
            </a:r>
          </a:p>
          <a:p>
            <a:r>
              <a:t>Counting every record honestly.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48.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Counting every record honestly</a:t>
            </a:r>
          </a:p>
          <a:p>
            <a:r>
              <a:t/>
            </a:r>
          </a:p>
          <a:p>
            <a:r>
              <a:t>CONNECT</a:t>
            </a:r>
          </a:p>
          <a:p>
            <a:r>
              <a:t>Build on the preceding slide: Preparing for the assignment continued.</a:t>
            </a:r>
          </a:p>
          <a:p>
            <a:r>
              <a:t/>
            </a:r>
          </a:p>
          <a:p>
            <a:r>
              <a:t>LECTURER CUE</a:t>
            </a:r>
          </a:p>
          <a:p>
            <a:r>
              <a:t>Teach these concepts before the weekly quiz. Use changed numbers for practice. This slide supplies concepts, not the quiz key.</a:t>
            </a:r>
          </a:p>
          <a:p>
            <a:r>
              <a:t/>
            </a:r>
          </a:p>
          <a:p>
            <a:r>
              <a:t>EXPLAIN IN ORDINARY WORDS</a:t>
            </a:r>
          </a:p>
          <a:p>
            <a:r>
              <a:t>A CSV is a text table. The header supplies column names. With csv.DictReader, values start as text, even if they look like numbers. A path tells Python where the file is.</a:t>
            </a:r>
          </a:p>
          <a:p>
            <a:r>
              <a:t/>
            </a:r>
          </a:p>
          <a:p>
            <a:r>
              <a:t>CHECK AND EXPECTED ANSWER</a:t>
            </a:r>
          </a:p>
          <a:p>
            <a:r>
              <a:t>Can "2.5" from csv.DictReader be added as a number without conversion? No; convert valid numeric text first.</a:t>
            </a:r>
          </a:p>
          <a:p>
            <a:r>
              <a:t/>
            </a:r>
          </a:p>
          <a:p>
            <a:r>
              <a:t>IF LEARNERS ARE STUCK</a:t>
            </a:r>
          </a:p>
          <a:p>
            <a:r>
              <a:t>Show the file in the runtime folder and compare its exact filename, case and column headers. Upload data again after a fresh Colab runtime.</a:t>
            </a:r>
          </a:p>
          <a:p>
            <a:r>
              <a:t/>
            </a:r>
          </a:p>
          <a:p>
            <a:r>
              <a:t>NEXT</a:t>
            </a:r>
          </a:p>
          <a:p>
            <a:r>
              <a:t>Counting every record honestly continued.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49.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Counting every record honestly continued</a:t>
            </a:r>
          </a:p>
          <a:p>
            <a:r>
              <a:t/>
            </a:r>
          </a:p>
          <a:p>
            <a:r>
              <a:t>CONNECT</a:t>
            </a:r>
          </a:p>
          <a:p>
            <a:r>
              <a:t>Build on the preceding slide: Counting every record honestly.</a:t>
            </a:r>
          </a:p>
          <a:p>
            <a:r>
              <a:t/>
            </a:r>
          </a:p>
          <a:p>
            <a:r>
              <a:t>LECTURER CUE</a:t>
            </a:r>
          </a:p>
          <a:p>
            <a:r>
              <a:t>Teach these concepts before the weekly quiz. Use changed numbers for practice. This slide supplies concepts, not the quiz key.</a:t>
            </a:r>
          </a:p>
          <a:p>
            <a:r>
              <a:t/>
            </a:r>
          </a:p>
          <a:p>
            <a:r>
              <a:t>EXPLAIN IN ORDINARY WORDS</a:t>
            </a:r>
          </a:p>
          <a:p>
            <a:r>
              <a:t>A condition is a True/False question. Python executes the matching indented branch. = assigns; == compares. &gt;= includes the boundary, while &gt; excludes it.</a:t>
            </a:r>
          </a:p>
          <a:p>
            <a:r>
              <a:t/>
            </a:r>
          </a:p>
          <a:p>
            <a:r>
              <a:t>CHECK AND EXPECTED ANSWER</a:t>
            </a:r>
          </a:p>
          <a:p>
            <a:r>
              <a:t>With value 30, is value &gt;= 30 true? Yes. Is value &gt; 30 true? No.</a:t>
            </a:r>
          </a:p>
          <a:p>
            <a:r>
              <a:t/>
            </a:r>
          </a:p>
          <a:p>
            <a:r>
              <a:t>IF LEARNERS ARE STUCK</a:t>
            </a:r>
          </a:p>
          <a:p>
            <a:r>
              <a:t>Try one value below, at and above the boundary before running the code.</a:t>
            </a:r>
          </a:p>
          <a:p>
            <a:r>
              <a:t/>
            </a:r>
          </a:p>
          <a:p>
            <a:r>
              <a:t>NEXT</a:t>
            </a:r>
          </a:p>
          <a:p>
            <a:r>
              <a:t>Your issued assignment.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50.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Your issued assignment</a:t>
            </a:r>
          </a:p>
          <a:p>
            <a:r>
              <a:t/>
            </a:r>
          </a:p>
          <a:p>
            <a:r>
              <a:t>CONNECT</a:t>
            </a:r>
          </a:p>
          <a:p>
            <a:r>
              <a:t>Build on the preceding slide: Counting every record honestly continued.</a:t>
            </a:r>
          </a:p>
          <a:p>
            <a:r>
              <a:t/>
            </a:r>
          </a:p>
          <a:p>
            <a:r>
              <a:t>LECTURER CUE</a:t>
            </a:r>
          </a:p>
          <a:p>
            <a:r>
              <a:t># Week 4 reading report</a:t>
            </a:r>
          </a:p>
          <a:p>
            <a:r>
              <a:t>Read README.md. Keep units in your explanation.</a:t>
            </a:r>
          </a:p>
          <a:p>
            <a:r>
              <a:t/>
            </a:r>
          </a:p>
          <a:p>
            <a:r>
              <a:t>## valid_count (5 marks)</a:t>
            </a:r>
          </a:p>
          <a:p>
            <a:r>
              <a:t>Store an integer count of rows whose rate_of_penetration field is nonblank. Skip blank readings before numeric conversion.</a:t>
            </a:r>
          </a:p>
          <a:p>
            <a:r>
              <a:t/>
            </a:r>
          </a:p>
          <a:p>
            <a:r>
              <a:t>## mean_reading (5 marks)</a:t>
            </a:r>
          </a:p>
          <a:p>
            <a:r>
              <a:t>Store the arithmetic mean of the nonblank rate_of_penetration values as a number. Add the valid readings and divide by their count. Keep full precision.</a:t>
            </a:r>
          </a:p>
          <a:p>
            <a:r>
              <a:t/>
            </a:r>
          </a:p>
          <a:p>
            <a:r>
              <a:t>## above_limit (5 marks)</a:t>
            </a:r>
          </a:p>
          <a:p>
            <a:r>
              <a:t>Store an integer count of valid rate_of_penetration readings strictly greater than 8.0. A reading equal to the threshold is not counted.</a:t>
            </a:r>
          </a:p>
          <a:p>
            <a:r>
              <a:t/>
            </a:r>
          </a:p>
          <a:p>
            <a:r>
              <a:t>## group_means (5 marks)</a:t>
            </a:r>
          </a:p>
          <a:p>
            <a:r>
              <a:t>Store a dictionary whose keys are the bit_type labels and whose values are the mean valid rate_of_penetration readings within each group. Divide each group total by its own valid count. Keep full precision.</a:t>
            </a:r>
          </a:p>
          <a:p>
            <a:r>
              <a:t/>
            </a:r>
          </a:p>
          <a:p>
            <a:r>
              <a:t>EXPLAIN IN ORDINARY WORDS</a:t>
            </a:r>
          </a:p>
          <a:p>
            <a:r>
              <a:t>A function is a named set of instructions. def defines it; a call runs it with inputs. Parameters are input names, arguments are supplied values, and return sends the result back.</a:t>
            </a:r>
          </a:p>
          <a:p>
            <a:r>
              <a:t/>
            </a:r>
          </a:p>
          <a:p>
            <a:r>
              <a:t>CHECK AND EXPECTED ANSWER</a:t>
            </a:r>
          </a:p>
          <a:p>
            <a:r>
              <a:t>Does print(8) return the number 8 to the caller? No; it displays 8 and returns None. A function needing a numeric result should return it.</a:t>
            </a:r>
          </a:p>
          <a:p>
            <a:r>
              <a:t/>
            </a:r>
          </a:p>
          <a:p>
            <a:r>
              <a:t>IF LEARNERS ARE STUCK</a:t>
            </a:r>
          </a:p>
          <a:p>
            <a:r>
              <a:t>Trace one call: bind input names, run the indented body, reach return, then put the returned result back into the calling expression.</a:t>
            </a:r>
          </a:p>
          <a:p>
            <a:r>
              <a:t/>
            </a:r>
          </a:p>
          <a:p>
            <a:r>
              <a:t>ASSIGNMENT HANDOVER</a:t>
            </a:r>
          </a:p>
          <a:p>
            <a:r>
              <a:t>Open the matching public student guide and show the exact starter filename, required outputs and upload set. Ask one learner to repeat what to submit and where. IUEA Student Registration Number is required freeform text; learners enter their own number. A saved repository is not a submitted form. Read the live deadline and keep the submission confirmation. Do not release an assessment that is still awaiting grading validation.</a:t>
            </a:r>
          </a:p>
          <a:p>
            <a:r>
              <a:t/>
            </a:r>
          </a:p>
          <a:p>
            <a:r>
              <a:t>NEXT</a:t>
            </a:r>
          </a:p>
          <a:p>
            <a:r>
              <a:t>valid_count (5 marks).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5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valid_count (5 marks)</a:t>
            </a:r>
          </a:p>
          <a:p>
            <a:r>
              <a:t/>
            </a:r>
          </a:p>
          <a:p>
            <a:r>
              <a:t>CONNECT</a:t>
            </a:r>
          </a:p>
          <a:p>
            <a:r>
              <a:t>Build on the preceding slide: Your issued assignment.</a:t>
            </a:r>
          </a:p>
          <a:p>
            <a:r>
              <a:t/>
            </a:r>
          </a:p>
          <a:p>
            <a:r>
              <a:t>LECTURER CUE</a:t>
            </a:r>
          </a:p>
          <a:p>
            <a:r>
              <a:t># Week 4 reading report</a:t>
            </a:r>
          </a:p>
          <a:p>
            <a:r>
              <a:t>Read README.md. Keep units in your explanation.</a:t>
            </a:r>
          </a:p>
          <a:p>
            <a:r>
              <a:t/>
            </a:r>
          </a:p>
          <a:p>
            <a:r>
              <a:t>## valid_count (5 marks)</a:t>
            </a:r>
          </a:p>
          <a:p>
            <a:r>
              <a:t>Store an integer count of rows whose rate_of_penetration field is nonblank. Skip blank readings before numeric conversion.</a:t>
            </a:r>
          </a:p>
          <a:p>
            <a:r>
              <a:t/>
            </a:r>
          </a:p>
          <a:p>
            <a:r>
              <a:t>## mean_reading (5 marks)</a:t>
            </a:r>
          </a:p>
          <a:p>
            <a:r>
              <a:t>Store the arithmetic mean of the nonblank rate_of_penetration values as a number. Add the valid readings and divide by their count. Keep full precision.</a:t>
            </a:r>
          </a:p>
          <a:p>
            <a:r>
              <a:t/>
            </a:r>
          </a:p>
          <a:p>
            <a:r>
              <a:t>## above_limit (5 marks)</a:t>
            </a:r>
          </a:p>
          <a:p>
            <a:r>
              <a:t>Store an integer count of valid rate_of_penetration readings strictly greater than 8.0. A reading equal to the threshold is not counted.</a:t>
            </a:r>
          </a:p>
          <a:p>
            <a:r>
              <a:t/>
            </a:r>
          </a:p>
          <a:p>
            <a:r>
              <a:t>## group_means (5 marks)</a:t>
            </a:r>
          </a:p>
          <a:p>
            <a:r>
              <a:t>Store a dictionary whose keys are the bit_type labels and whose values are the mean valid rate_of_penetration readings within each group. Divide each group total by its own valid count. Keep full precision.</a:t>
            </a:r>
          </a:p>
          <a:p>
            <a:r>
              <a:t/>
            </a:r>
          </a:p>
          <a:p>
            <a:r>
              <a:t>EXPLAIN IN ORDINARY WORDS</a:t>
            </a:r>
          </a:p>
          <a:p>
            <a:r>
              <a:t>A count says how much work there is. A rate divides events by the relevant opportunities or population. Both numerator and denominator must describe the same period and group.</a:t>
            </a:r>
          </a:p>
          <a:p>
            <a:r>
              <a:t/>
            </a:r>
          </a:p>
          <a:p>
            <a:r>
              <a:t>CHECK AND EXPECTED ANSWER</a:t>
            </a:r>
          </a:p>
          <a:p>
            <a:r>
              <a:t>10 returns from 100 orders versus 20 from 1,000: rates are 10% and 2%. The second group has more returns but a lower rate.</a:t>
            </a:r>
          </a:p>
          <a:p>
            <a:r>
              <a:t/>
            </a:r>
          </a:p>
          <a:p>
            <a:r>
              <a:t>IF LEARNERS ARE STUCK</a:t>
            </a:r>
          </a:p>
          <a:p>
            <a:r>
              <a:t>Write numerator and denominator in words before putting numbers into the fraction.</a:t>
            </a:r>
          </a:p>
          <a:p>
            <a:r>
              <a:t/>
            </a:r>
          </a:p>
          <a:p>
            <a:r>
              <a:t>NEXT</a:t>
            </a:r>
          </a:p>
          <a:p>
            <a:r>
              <a:t>mean_reading (5 marks).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5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mean_reading (5 marks)</a:t>
            </a:r>
          </a:p>
          <a:p>
            <a:r>
              <a:t/>
            </a:r>
          </a:p>
          <a:p>
            <a:r>
              <a:t>CONNECT</a:t>
            </a:r>
          </a:p>
          <a:p>
            <a:r>
              <a:t>Build on the preceding slide: valid_count (5 marks).</a:t>
            </a:r>
          </a:p>
          <a:p>
            <a:r>
              <a:t/>
            </a:r>
          </a:p>
          <a:p>
            <a:r>
              <a:t>LECTURER CUE</a:t>
            </a:r>
          </a:p>
          <a:p>
            <a:r>
              <a:t># Week 4 reading report</a:t>
            </a:r>
          </a:p>
          <a:p>
            <a:r>
              <a:t>Read README.md. Keep units in your explanation.</a:t>
            </a:r>
          </a:p>
          <a:p>
            <a:r>
              <a:t/>
            </a:r>
          </a:p>
          <a:p>
            <a:r>
              <a:t>## valid_count (5 marks)</a:t>
            </a:r>
          </a:p>
          <a:p>
            <a:r>
              <a:t>Store an integer count of rows whose rate_of_penetration field is nonblank. Skip blank readings before numeric conversion.</a:t>
            </a:r>
          </a:p>
          <a:p>
            <a:r>
              <a:t/>
            </a:r>
          </a:p>
          <a:p>
            <a:r>
              <a:t>## mean_reading (5 marks)</a:t>
            </a:r>
          </a:p>
          <a:p>
            <a:r>
              <a:t>Store the arithmetic mean of the nonblank rate_of_penetration values as a number. Add the valid readings and divide by their count. Keep full precision.</a:t>
            </a:r>
          </a:p>
          <a:p>
            <a:r>
              <a:t/>
            </a:r>
          </a:p>
          <a:p>
            <a:r>
              <a:t>## above_limit (5 marks)</a:t>
            </a:r>
          </a:p>
          <a:p>
            <a:r>
              <a:t>Store an integer count of valid rate_of_penetration readings strictly greater than 8.0. A reading equal to the threshold is not counted.</a:t>
            </a:r>
          </a:p>
          <a:p>
            <a:r>
              <a:t/>
            </a:r>
          </a:p>
          <a:p>
            <a:r>
              <a:t>## group_means (5 marks)</a:t>
            </a:r>
          </a:p>
          <a:p>
            <a:r>
              <a:t>Store a dictionary whose keys are the bit_type labels and whose values are the mean valid rate_of_penetration readings within each group. Divide each group total by its own valid count. Keep full precision.</a:t>
            </a:r>
          </a:p>
          <a:p>
            <a:r>
              <a:t/>
            </a:r>
          </a:p>
          <a:p>
            <a:r>
              <a:t>EXPLAIN IN ORDINARY WORDS</a:t>
            </a:r>
          </a:p>
          <a:p>
            <a:r>
              <a:t>Name the positive class first. Actual is what happened; predicted is the model decision. Precision asks how many predicted positives were right. Recall asks how many actual positives were found.</a:t>
            </a:r>
          </a:p>
          <a:p>
            <a:r>
              <a:t/>
            </a:r>
          </a:p>
          <a:p>
            <a:r>
              <a:t>CHECK AND EXPECTED ANSWER</a:t>
            </a:r>
          </a:p>
          <a:p>
            <a:r>
              <a:t>With TP=2, FP=1, FN=2: precision=2/3 and recall=2/4. A missed actual positive is a false negative.</a:t>
            </a:r>
          </a:p>
          <a:p>
            <a:r>
              <a:t/>
            </a:r>
          </a:p>
          <a:p>
            <a:r>
              <a:t>IF LEARNERS ARE STUCK</a:t>
            </a:r>
          </a:p>
          <a:p>
            <a:r>
              <a:t>Draw actual/predicted headings. Place one case at a time before calculating a fraction. Explain the task rule for a zero denominator.</a:t>
            </a:r>
          </a:p>
          <a:p>
            <a:r>
              <a:t/>
            </a:r>
          </a:p>
          <a:p>
            <a:r>
              <a:t>NEXT</a:t>
            </a:r>
          </a:p>
          <a:p>
            <a:r>
              <a:t>above_limit (5 marks).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5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above_limit (5 marks)</a:t>
            </a:r>
          </a:p>
          <a:p>
            <a:r>
              <a:t/>
            </a:r>
          </a:p>
          <a:p>
            <a:r>
              <a:t>CONNECT</a:t>
            </a:r>
          </a:p>
          <a:p>
            <a:r>
              <a:t>Build on the preceding slide: mean_reading (5 marks).</a:t>
            </a:r>
          </a:p>
          <a:p>
            <a:r>
              <a:t/>
            </a:r>
          </a:p>
          <a:p>
            <a:r>
              <a:t>LECTURER CUE</a:t>
            </a:r>
          </a:p>
          <a:p>
            <a:r>
              <a:t># Week 4 reading report</a:t>
            </a:r>
          </a:p>
          <a:p>
            <a:r>
              <a:t>Read README.md. Keep units in your explanation.</a:t>
            </a:r>
          </a:p>
          <a:p>
            <a:r>
              <a:t/>
            </a:r>
          </a:p>
          <a:p>
            <a:r>
              <a:t>## valid_count (5 marks)</a:t>
            </a:r>
          </a:p>
          <a:p>
            <a:r>
              <a:t>Store an integer count of rows whose rate_of_penetration field is nonblank. Skip blank readings before numeric conversion.</a:t>
            </a:r>
          </a:p>
          <a:p>
            <a:r>
              <a:t/>
            </a:r>
          </a:p>
          <a:p>
            <a:r>
              <a:t>## mean_reading (5 marks)</a:t>
            </a:r>
          </a:p>
          <a:p>
            <a:r>
              <a:t>Store the arithmetic mean of the nonblank rate_of_penetration values as a number. Add the valid readings and divide by their count. Keep full precision.</a:t>
            </a:r>
          </a:p>
          <a:p>
            <a:r>
              <a:t/>
            </a:r>
          </a:p>
          <a:p>
            <a:r>
              <a:t>## above_limit (5 marks)</a:t>
            </a:r>
          </a:p>
          <a:p>
            <a:r>
              <a:t>Store an integer count of valid rate_of_penetration readings strictly greater than 8.0. A reading equal to the threshold is not counted.</a:t>
            </a:r>
          </a:p>
          <a:p>
            <a:r>
              <a:t/>
            </a:r>
          </a:p>
          <a:p>
            <a:r>
              <a:t>## group_means (5 marks)</a:t>
            </a:r>
          </a:p>
          <a:p>
            <a:r>
              <a:t>Store a dictionary whose keys are the bit_type labels and whose values are the mean valid rate_of_penetration readings within each group. Divide each group total by its own valid count. Keep full precision.</a:t>
            </a:r>
          </a:p>
          <a:p>
            <a:r>
              <a:t/>
            </a:r>
          </a:p>
          <a:p>
            <a:r>
              <a:t>EXPLAIN IN ORDINARY WORDS</a:t>
            </a:r>
          </a:p>
          <a:p>
            <a:r>
              <a:t>A probability-like score and a class decision are different outputs. A threshold turns a score into an action. Lowering a warning threshold usually raises both detections and false alarms.</a:t>
            </a:r>
          </a:p>
          <a:p>
            <a:r>
              <a:t/>
            </a:r>
          </a:p>
          <a:p>
            <a:r>
              <a:t>CHECK AND EXPECTED ANSWER</a:t>
            </a:r>
          </a:p>
          <a:p>
            <a:r>
              <a:t>At a rule of score &gt;= 0.5, what happens at 0.5? It is positive. With &gt; 0.5 it would not be.</a:t>
            </a:r>
          </a:p>
          <a:p>
            <a:r>
              <a:t/>
            </a:r>
          </a:p>
          <a:p>
            <a:r>
              <a:t>IF LEARNERS ARE STUCK</a:t>
            </a:r>
          </a:p>
          <a:p>
            <a:r>
              <a:t>Mark three scores below, at and above the boundary. Do not promise the score is well calibrated without checking.</a:t>
            </a:r>
          </a:p>
          <a:p>
            <a:r>
              <a:t/>
            </a:r>
          </a:p>
          <a:p>
            <a:r>
              <a:t>NEXT</a:t>
            </a:r>
          </a:p>
          <a:p>
            <a:r>
              <a:t>group_means (5 marks).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5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group_means (5 marks)</a:t>
            </a:r>
          </a:p>
          <a:p>
            <a:r>
              <a:t/>
            </a:r>
          </a:p>
          <a:p>
            <a:r>
              <a:t>CONNECT</a:t>
            </a:r>
          </a:p>
          <a:p>
            <a:r>
              <a:t>Build on the preceding slide: above_limit (5 marks).</a:t>
            </a:r>
          </a:p>
          <a:p>
            <a:r>
              <a:t/>
            </a:r>
          </a:p>
          <a:p>
            <a:r>
              <a:t>LECTURER CUE</a:t>
            </a:r>
          </a:p>
          <a:p>
            <a:r>
              <a:t># Week 4 reading report</a:t>
            </a:r>
          </a:p>
          <a:p>
            <a:r>
              <a:t>Read README.md. Keep units in your explanation.</a:t>
            </a:r>
          </a:p>
          <a:p>
            <a:r>
              <a:t/>
            </a:r>
          </a:p>
          <a:p>
            <a:r>
              <a:t>## valid_count (5 marks)</a:t>
            </a:r>
          </a:p>
          <a:p>
            <a:r>
              <a:t>Store an integer count of rows whose rate_of_penetration field is nonblank. Skip blank readings before numeric conversion.</a:t>
            </a:r>
          </a:p>
          <a:p>
            <a:r>
              <a:t/>
            </a:r>
          </a:p>
          <a:p>
            <a:r>
              <a:t>## mean_reading (5 marks)</a:t>
            </a:r>
          </a:p>
          <a:p>
            <a:r>
              <a:t>Store the arithmetic mean of the nonblank rate_of_penetration values as a number. Add the valid readings and divide by their count. Keep full precision.</a:t>
            </a:r>
          </a:p>
          <a:p>
            <a:r>
              <a:t/>
            </a:r>
          </a:p>
          <a:p>
            <a:r>
              <a:t>## above_limit (5 marks)</a:t>
            </a:r>
          </a:p>
          <a:p>
            <a:r>
              <a:t>Store an integer count of valid rate_of_penetration readings strictly greater than 8.0. A reading equal to the threshold is not counted.</a:t>
            </a:r>
          </a:p>
          <a:p>
            <a:r>
              <a:t/>
            </a:r>
          </a:p>
          <a:p>
            <a:r>
              <a:t>## group_means (5 marks)</a:t>
            </a:r>
          </a:p>
          <a:p>
            <a:r>
              <a:t>Store a dictionary whose keys are the bit_type labels and whose values are the mean valid rate_of_penetration readings within each group. Divide each group total by its own valid count. Keep full precision.</a:t>
            </a:r>
          </a:p>
          <a:p>
            <a:r>
              <a:t/>
            </a:r>
          </a:p>
          <a:p>
            <a:r>
              <a:t>EXPLAIN IN ORDINARY WORDS</a:t>
            </a:r>
          </a:p>
          <a:p>
            <a:r>
              <a:t>Name the positive class first. Actual is what happened; predicted is the model decision. Precision asks how many predicted positives were right. Recall asks how many actual positives were found.</a:t>
            </a:r>
          </a:p>
          <a:p>
            <a:r>
              <a:t/>
            </a:r>
          </a:p>
          <a:p>
            <a:r>
              <a:t>CHECK AND EXPECTED ANSWER</a:t>
            </a:r>
          </a:p>
          <a:p>
            <a:r>
              <a:t>With TP=2, FP=1, FN=2: precision=2/3 and recall=2/4. A missed actual positive is a false negative.</a:t>
            </a:r>
          </a:p>
          <a:p>
            <a:r>
              <a:t/>
            </a:r>
          </a:p>
          <a:p>
            <a:r>
              <a:t>IF LEARNERS ARE STUCK</a:t>
            </a:r>
          </a:p>
          <a:p>
            <a:r>
              <a:t>Draw actual/predicted headings. Place one case at a time before calculating a fraction. Explain the task rule for a zero denominator.</a:t>
            </a:r>
          </a:p>
          <a:p>
            <a:r>
              <a:t/>
            </a:r>
          </a:p>
          <a:p>
            <a:r>
              <a:t>NEXT</a:t>
            </a:r>
          </a:p>
          <a:p>
            <a:r>
              <a:t>Week 4 rules.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5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Week 4 rules</a:t>
            </a:r>
          </a:p>
          <a:p>
            <a:r>
              <a:t/>
            </a:r>
          </a:p>
          <a:p>
            <a:r>
              <a:t>CONNECT</a:t>
            </a:r>
          </a:p>
          <a:p>
            <a:r>
              <a:t>Build on the preceding slide: group_means (5 marks).</a:t>
            </a:r>
          </a:p>
          <a:p>
            <a:r>
              <a:t/>
            </a:r>
          </a:p>
          <a:p>
            <a:r>
              <a:t>LECTURER CUE</a:t>
            </a:r>
          </a:p>
          <a:p>
            <a:r>
              <a:t>Fictional teaching data. 300 records. Three blank rate_of_penetration values must be skipped in numerical summaries. Threshold 8.0 is a teaching assumption.</a:t>
            </a:r>
          </a:p>
          <a:p>
            <a:r>
              <a:t/>
            </a:r>
          </a:p>
          <a:p>
            <a:r>
              <a:t>Compute valid_count, mean_reading, above_limit (strictly greater than 8.0) and group_means keyed by bit_type. Use standard-library csv and collections. Save a copy using your Student Registration Number with / replaced by _, followed by _W04.ipynb. STUDENT_ID in the starter code means Student Registration Number. Four checks carry five marks each. Explain the interesting pattern separately as formative practice.</a:t>
            </a:r>
          </a:p>
          <a:p>
            <a:r>
              <a:t/>
            </a:r>
          </a:p>
          <a:p>
            <a:r>
              <a:t>EXPLAIN IN ORDINARY WORDS</a:t>
            </a:r>
          </a:p>
          <a:p>
            <a:r>
              <a:t>A probability-like score and a class decision are different outputs. A threshold turns a score into an action. Lowering a warning threshold usually raises both detections and false alarms.</a:t>
            </a:r>
          </a:p>
          <a:p>
            <a:r>
              <a:t/>
            </a:r>
          </a:p>
          <a:p>
            <a:r>
              <a:t>CHECK AND EXPECTED ANSWER</a:t>
            </a:r>
          </a:p>
          <a:p>
            <a:r>
              <a:t>At a rule of score &gt;= 0.5, what happens at 0.5? It is positive. With &gt; 0.5 it would not be.</a:t>
            </a:r>
          </a:p>
          <a:p>
            <a:r>
              <a:t/>
            </a:r>
          </a:p>
          <a:p>
            <a:r>
              <a:t>IF LEARNERS ARE STUCK</a:t>
            </a:r>
          </a:p>
          <a:p>
            <a:r>
              <a:t>Mark three scores below, at and above the boundary. Do not promise the score is well calibrated without checking.</a:t>
            </a:r>
          </a:p>
          <a:p>
            <a:r>
              <a:t/>
            </a:r>
          </a:p>
          <a:p>
            <a:r>
              <a:t>NEXT</a:t>
            </a:r>
          </a:p>
          <a:p>
            <a:r>
              <a:t>Week 4 rules continued.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56.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Week 4 rules continued</a:t>
            </a:r>
          </a:p>
          <a:p>
            <a:r>
              <a:t/>
            </a:r>
          </a:p>
          <a:p>
            <a:r>
              <a:t>CONNECT</a:t>
            </a:r>
          </a:p>
          <a:p>
            <a:r>
              <a:t>Build on the preceding slide: Week 4 rules.</a:t>
            </a:r>
          </a:p>
          <a:p>
            <a:r>
              <a:t/>
            </a:r>
          </a:p>
          <a:p>
            <a:r>
              <a:t>LECTURER CUE</a:t>
            </a:r>
          </a:p>
          <a:p>
            <a:r>
              <a:t>Fictional teaching data. 300 records. Three blank rate_of_penetration values must be skipped in numerical summaries. Threshold 8.0 is a teaching assumption.</a:t>
            </a:r>
          </a:p>
          <a:p>
            <a:r>
              <a:t/>
            </a:r>
          </a:p>
          <a:p>
            <a:r>
              <a:t>Compute valid_count, mean_reading, above_limit (strictly greater than 8.0) and group_means keyed by bit_type. Use standard-library csv and collections. Save a copy using your Student Registration Number with / replaced by _, followed by _W04.ipynb. STUDENT_ID in the starter code means Student Registration Number. Four checks carry five marks each. Explain the interesting pattern separately as formative practice.</a:t>
            </a:r>
          </a:p>
          <a:p>
            <a:r>
              <a:t/>
            </a:r>
          </a:p>
          <a:p>
            <a:r>
              <a:t>EXPLAIN IN ORDINARY WORDS</a:t>
            </a:r>
          </a:p>
          <a:p>
            <a:r>
              <a:t>A CSV is a text table. The header supplies column names. With csv.DictReader, values start as text, even if they look like numbers. A path tells Python where the file is.</a:t>
            </a:r>
          </a:p>
          <a:p>
            <a:r>
              <a:t/>
            </a:r>
          </a:p>
          <a:p>
            <a:r>
              <a:t>CHECK AND EXPECTED ANSWER</a:t>
            </a:r>
          </a:p>
          <a:p>
            <a:r>
              <a:t>Can "2.5" from csv.DictReader be added as a number without conversion? No; convert valid numeric text first.</a:t>
            </a:r>
          </a:p>
          <a:p>
            <a:r>
              <a:t/>
            </a:r>
          </a:p>
          <a:p>
            <a:r>
              <a:t>IF LEARNERS ARE STUCK</a:t>
            </a:r>
          </a:p>
          <a:p>
            <a:r>
              <a:t>Show the file in the runtime folder and compare its exact filename, case and column headers. Upload data again after a fresh Colab runtime.</a:t>
            </a:r>
          </a:p>
          <a:p>
            <a:r>
              <a:t/>
            </a:r>
          </a:p>
          <a:p>
            <a:r>
              <a:t>NEXT</a:t>
            </a:r>
          </a:p>
          <a:p>
            <a:r>
              <a:t>Week 4 rules continued.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57.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Week 4 rules continued</a:t>
            </a:r>
          </a:p>
          <a:p>
            <a:r>
              <a:t/>
            </a:r>
          </a:p>
          <a:p>
            <a:r>
              <a:t>CONNECT</a:t>
            </a:r>
          </a:p>
          <a:p>
            <a:r>
              <a:t>Build on the preceding slide: Week 4 rules continued.</a:t>
            </a:r>
          </a:p>
          <a:p>
            <a:r>
              <a:t/>
            </a:r>
          </a:p>
          <a:p>
            <a:r>
              <a:t>LECTURER CUE</a:t>
            </a:r>
          </a:p>
          <a:p>
            <a:r>
              <a:t>Fictional teaching data. 300 records. Three blank rate_of_penetration values must be skipped in numerical summaries. Threshold 8.0 is a teaching assumption.</a:t>
            </a:r>
          </a:p>
          <a:p>
            <a:r>
              <a:t/>
            </a:r>
          </a:p>
          <a:p>
            <a:r>
              <a:t>Compute valid_count, mean_reading, above_limit (strictly greater than 8.0) and group_means keyed by bit_type. Use standard-library csv and collections. Save a copy using your Student Registration Number with / replaced by _, followed by _W04.ipynb. STUDENT_ID in the starter code means Student Registration Number. Four checks carry five marks each. Explain the interesting pattern separately as formative practice.</a:t>
            </a:r>
          </a:p>
          <a:p>
            <a:r>
              <a:t/>
            </a:r>
          </a:p>
          <a:p>
            <a:r>
              <a:t>NEXT</a:t>
            </a:r>
          </a:p>
          <a:p>
            <a:r>
              <a:t>Reading report submission.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58.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Reading report submission</a:t>
            </a:r>
          </a:p>
          <a:p>
            <a:r>
              <a:t/>
            </a:r>
          </a:p>
          <a:p>
            <a:r>
              <a:t>CONNECT</a:t>
            </a:r>
          </a:p>
          <a:p>
            <a:r>
              <a:t>Build on the preceding slide: Week 4 rules continued.</a:t>
            </a:r>
          </a:p>
          <a:p>
            <a:r>
              <a:t/>
            </a:r>
          </a:p>
          <a:p>
            <a:r>
              <a:t>LECTURER CUE</a:t>
            </a:r>
          </a:p>
          <a:p>
            <a:r>
              <a:t>The form link is cohort-specific. Recheck the live form and release status before class. These scheduled assignment dates are separate from the quiz activation window. The issued brief defines the required files, even if the form accepts additional formats. Source: data/submission_links.json</a:t>
            </a:r>
          </a:p>
          <a:p>
            <a:r>
              <a:t/>
            </a:r>
          </a:p>
          <a:p>
            <a:r>
              <a:t>ASSIGNMENT HANDOVER</a:t>
            </a:r>
          </a:p>
          <a:p>
            <a:r>
              <a:t>Open the matching public student guide and show the exact starter filename, required outputs and upload set. Ask one learner to repeat what to submit and where. IUEA Student Registration Number is required freeform text; learners enter their own number. A saved repository is not a submitted form. Read the live deadline and keep the submission confirmation. Do not release an assessment that is still awaiting grading validation.</a:t>
            </a:r>
          </a:p>
          <a:p>
            <a:r>
              <a:t/>
            </a:r>
          </a:p>
          <a:p>
            <a:r>
              <a:t>NEXT</a:t>
            </a:r>
          </a:p>
          <a:p>
            <a:r>
              <a:t>Week 4 quiz.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59.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Week 4 quiz</a:t>
            </a:r>
          </a:p>
          <a:p>
            <a:r>
              <a:t/>
            </a:r>
          </a:p>
          <a:p>
            <a:r>
              <a:t>CONNECT</a:t>
            </a:r>
          </a:p>
          <a:p>
            <a:r>
              <a:t>Build on the preceding slide: Reading report submission.</a:t>
            </a:r>
          </a:p>
          <a:p>
            <a:r>
              <a:t/>
            </a:r>
          </a:p>
          <a:p>
            <a:r>
              <a:t>LECTURER CUE</a:t>
            </a:r>
          </a:p>
          <a:p>
            <a:r>
              <a:t>Activate the matching open_W4_CML3113 function in Quiz Controls, then confirm the 24-hour close time. Opening this slide or clicking its link does not activate the form. The 24 hours is the availability window. Keep existing quiz scoring and form rules. Do not show private answer keys.</a:t>
            </a:r>
          </a:p>
          <a:p>
            <a:r>
              <a:t/>
            </a:r>
          </a:p>
          <a:p>
            <a:r>
              <a:t>QUIZ OPERATION</a:t>
            </a:r>
          </a:p>
          <a:p>
            <a:r>
              <a:t>Opening the student link does not activate the quiz. In Quiz Controls run the matching open_W&lt;week&gt;_&lt;cohort&gt; function once when ready. Announce the logged closing time: 24 hours after activation. Five minutes describes expected answering time, not the availability window. Quiz 1 and Quiz 2 require separate activation when collecting catch-up work.</a:t>
            </a:r>
          </a:p>
          <a:p>
            <a:r>
              <a:t/>
            </a:r>
          </a:p>
          <a:p>
            <a:r>
              <a:t>NEXT</a:t>
            </a:r>
          </a:p>
          <a:p>
            <a:r>
              <a:t>Before you leave.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60.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Before you leave</a:t>
            </a:r>
          </a:p>
          <a:p>
            <a:r>
              <a:t/>
            </a:r>
          </a:p>
          <a:p>
            <a:r>
              <a:t>CONNECT</a:t>
            </a:r>
          </a:p>
          <a:p>
            <a:r>
              <a:t>Build on the preceding slide: Week 4 quiz.</a:t>
            </a:r>
          </a:p>
          <a:p>
            <a:r>
              <a:t/>
            </a:r>
          </a:p>
          <a:p>
            <a:r>
              <a:t>LECTURER CUE</a:t>
            </a:r>
          </a:p>
          <a:p>
            <a:r>
              <a:t>Ask every learner for an individual response. Record one misconception to revisit at the start of the next class. If a deadline changed, announce the exact Kampala date and update the source registry before rebuilding slides.</a:t>
            </a:r>
          </a:p>
          <a:p>
            <a:r>
              <a:t/>
            </a:r>
          </a:p>
          <a:p>
            <a:r>
              <a:t>EXPLAIN IN ORDINARY WORDS</a:t>
            </a:r>
          </a:p>
          <a:p>
            <a:r>
              <a:t>An observation describes the data. A finding answers a defined question with evidence. A recommendation adds an action, its justification and limits.</a:t>
            </a:r>
          </a:p>
          <a:p>
            <a:r>
              <a:t/>
            </a:r>
          </a:p>
          <a:p>
            <a:r>
              <a:t>CHECK AND EXPECTED ANSWER</a:t>
            </a:r>
          </a:p>
          <a:p>
            <a:r>
              <a:t>Does a difference between two groups prove one caused the other? No. Other differences or selection may explain it.</a:t>
            </a:r>
          </a:p>
          <a:p>
            <a:r>
              <a:t/>
            </a:r>
          </a:p>
          <a:p>
            <a:r>
              <a:t>IF LEARNERS ARE STUCK</a:t>
            </a:r>
          </a:p>
          <a:p>
            <a:r>
              <a:t>Ask for the population, time period, number and comparison. Then ask what additional evidence could change the recommendation.</a:t>
            </a:r>
          </a:p>
        </p:txBody>
      </p:sp>
      <p:sp>
        <p:nvSpPr>
          <p:cNvPr id="4" name="Slide Number Placeholder 3"/>
          <p:cNvSpPr>
            <a:spLocks noGrp="1"/>
          </p:cNvSpPr>
          <p:nvPr>
            <p:ph type="sldNum" idx="5"/>
          </p:nvPr>
        </p:nvSpPr>
        <p:spPr/>
        <p:txBody>
          <a:bodyPr/>
          <a:lstStyle/>
          <a:p/>
        </p:txBody>
      </p:sp>
    </p:spTree>
  </p:cSld>
  <p:clrMapOvr>
    <a:masterClrMapping/>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3cdbf3d7df5946a1"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50541a87da374da9" /><Relationship Type="http://schemas.openxmlformats.org/officeDocument/2006/relationships/slideLayout" Target="/ppt/slideLayouts/slideLayout1.xml" Id="Rbf1365feecba4b89"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bf1365feecba4b89"/>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60c89f83c2b54c3e" /><Relationship Type="http://schemas.openxmlformats.org/officeDocument/2006/relationships/image" Target="/ppt/media/image.png" Id="Rcc1732d093704043" /><Relationship Type="http://schemas.openxmlformats.org/officeDocument/2006/relationships/notesSlide" Target="/ppt/notesSlides/notesSlide1.xml" Id="R0207f9b9559247d7"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1c24b0e328e444c7" /><Relationship Type="http://schemas.openxmlformats.org/officeDocument/2006/relationships/notesSlide" Target="/ppt/notesSlides/notesSlide2.xml" Id="Raecca13325c4469c"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e81c757778bf4981" /><Relationship Type="http://schemas.openxmlformats.org/officeDocument/2006/relationships/notesSlide" Target="/ppt/notesSlides/notesSlide3.xml" Id="Rf0c2dbcac19f4820"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cd6861f82bae4c59" /><Relationship Type="http://schemas.openxmlformats.org/officeDocument/2006/relationships/notesSlide" Target="/ppt/notesSlides/notesSlide4.xml" Id="Rdf68e54ca0664154"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0d0830b6cee743d0" /><Relationship Type="http://schemas.openxmlformats.org/officeDocument/2006/relationships/notesSlide" Target="/ppt/notesSlides/notesSlide5.xml" Id="R147f51e6cd0f4b5e"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ff614557c9964ecf" /><Relationship Type="http://schemas.openxmlformats.org/officeDocument/2006/relationships/notesSlide" Target="/ppt/notesSlides/notesSlide6.xml" Id="Ra599847972304174"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68fceb0e395b4fc4" /><Relationship Type="http://schemas.openxmlformats.org/officeDocument/2006/relationships/notesSlide" Target="/ppt/notesSlides/notesSlide7.xml" Id="Rbae83b20f2fe40ff"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f9eaf92c13a24921" /><Relationship Type="http://schemas.openxmlformats.org/officeDocument/2006/relationships/notesSlide" Target="/ppt/notesSlides/notesSlide8.xml" Id="R90d14f3086a84b17"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d32cc1a6133a44d4" /><Relationship Type="http://schemas.openxmlformats.org/officeDocument/2006/relationships/notesSlide" Target="/ppt/notesSlides/notesSlide9.xml" Id="Ra9dd8c699c2a4560"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8682daf9177542ee" /><Relationship Type="http://schemas.openxmlformats.org/officeDocument/2006/relationships/notesSlide" Target="/ppt/notesSlides/notesSlide10.xml" Id="Rf0567a865035451f"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3467f0a837494c0c" /><Relationship Type="http://schemas.openxmlformats.org/officeDocument/2006/relationships/notesSlide" Target="/ppt/notesSlides/notesSlide11.xml" Id="R272eede38eb14353"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e02a911fe3c143bf" /><Relationship Type="http://schemas.openxmlformats.org/officeDocument/2006/relationships/notesSlide" Target="/ppt/notesSlides/notesSlide12.xml" Id="R844bc1f9b1844f45"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97c4bd973ded4649" /><Relationship Type="http://schemas.openxmlformats.org/officeDocument/2006/relationships/image" Target="/ppt/media/image2.png" Id="Rcccddf75eec64a98" /><Relationship Type="http://schemas.openxmlformats.org/officeDocument/2006/relationships/notesSlide" Target="/ppt/notesSlides/notesSlide13.xml" Id="R00907f692c024d48"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abf9e7f547724f5e" /><Relationship Type="http://schemas.openxmlformats.org/officeDocument/2006/relationships/notesSlide" Target="/ppt/notesSlides/notesSlide14.xml" Id="Rf0815dd759f243e2"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b2bdec68c1604d75" /><Relationship Type="http://schemas.openxmlformats.org/officeDocument/2006/relationships/notesSlide" Target="/ppt/notesSlides/notesSlide15.xml" Id="R831262818af445a6" /></Relationships>
</file>

<file path=ppt/slides/_rels/slide16.xml.rels>&#65279;<?xml version="1.0" encoding="utf-8"?><Relationships xmlns="http://schemas.openxmlformats.org/package/2006/relationships"><Relationship Type="http://schemas.openxmlformats.org/officeDocument/2006/relationships/slideLayout" Target="/ppt/slideLayouts/slideLayout1.xml" Id="Re4eaddf7027f4f69" /><Relationship Type="http://schemas.openxmlformats.org/officeDocument/2006/relationships/notesSlide" Target="/ppt/notesSlides/notesSlide16.xml" Id="R1d49619724594be5" /></Relationships>
</file>

<file path=ppt/slides/_rels/slide17.xml.rels>&#65279;<?xml version="1.0" encoding="utf-8"?><Relationships xmlns="http://schemas.openxmlformats.org/package/2006/relationships"><Relationship Type="http://schemas.openxmlformats.org/officeDocument/2006/relationships/slideLayout" Target="/ppt/slideLayouts/slideLayout1.xml" Id="R70239be9638546a4" /><Relationship Type="http://schemas.openxmlformats.org/officeDocument/2006/relationships/notesSlide" Target="/ppt/notesSlides/notesSlide17.xml" Id="Rafc7535a08104b66" /></Relationships>
</file>

<file path=ppt/slides/_rels/slide18.xml.rels>&#65279;<?xml version="1.0" encoding="utf-8"?><Relationships xmlns="http://schemas.openxmlformats.org/package/2006/relationships"><Relationship Type="http://schemas.openxmlformats.org/officeDocument/2006/relationships/slideLayout" Target="/ppt/slideLayouts/slideLayout1.xml" Id="Rcdce03aaa6534d2b" /><Relationship Type="http://schemas.openxmlformats.org/officeDocument/2006/relationships/notesSlide" Target="/ppt/notesSlides/notesSlide18.xml" Id="R8ce74ebaf8954dc3" /></Relationships>
</file>

<file path=ppt/slides/_rels/slide19.xml.rels>&#65279;<?xml version="1.0" encoding="utf-8"?><Relationships xmlns="http://schemas.openxmlformats.org/package/2006/relationships"><Relationship Type="http://schemas.openxmlformats.org/officeDocument/2006/relationships/slideLayout" Target="/ppt/slideLayouts/slideLayout1.xml" Id="Rd50ad418685f4280" /><Relationship Type="http://schemas.openxmlformats.org/officeDocument/2006/relationships/notesSlide" Target="/ppt/notesSlides/notesSlide19.xml" Id="R3c8c239261084f47" /></Relationships>
</file>

<file path=ppt/slides/_rels/slide20.xml.rels>&#65279;<?xml version="1.0" encoding="utf-8"?><Relationships xmlns="http://schemas.openxmlformats.org/package/2006/relationships"><Relationship Type="http://schemas.openxmlformats.org/officeDocument/2006/relationships/slideLayout" Target="/ppt/slideLayouts/slideLayout1.xml" Id="R90463fc0072f4707" /><Relationship Type="http://schemas.openxmlformats.org/officeDocument/2006/relationships/image" Target="/ppt/media/image3.png" Id="Ra8c09f4115dc40a5" /><Relationship Type="http://schemas.openxmlformats.org/officeDocument/2006/relationships/notesSlide" Target="/ppt/notesSlides/notesSlide20.xml" Id="R1a141c857f824dd0" /></Relationships>
</file>

<file path=ppt/slides/_rels/slide21.xml.rels>&#65279;<?xml version="1.0" encoding="utf-8"?><Relationships xmlns="http://schemas.openxmlformats.org/package/2006/relationships"><Relationship Type="http://schemas.openxmlformats.org/officeDocument/2006/relationships/slideLayout" Target="/ppt/slideLayouts/slideLayout1.xml" Id="R914eef7f3e5d4321" /><Relationship Type="http://schemas.openxmlformats.org/officeDocument/2006/relationships/notesSlide" Target="/ppt/notesSlides/notesSlide21.xml" Id="Rde6ae8250caa4196" /></Relationships>
</file>

<file path=ppt/slides/_rels/slide22.xml.rels>&#65279;<?xml version="1.0" encoding="utf-8"?><Relationships xmlns="http://schemas.openxmlformats.org/package/2006/relationships"><Relationship Type="http://schemas.openxmlformats.org/officeDocument/2006/relationships/slideLayout" Target="/ppt/slideLayouts/slideLayout1.xml" Id="R5ff6783aede54c61" /><Relationship Type="http://schemas.openxmlformats.org/officeDocument/2006/relationships/notesSlide" Target="/ppt/notesSlides/notesSlide22.xml" Id="R904a46011eb942dc" /></Relationships>
</file>

<file path=ppt/slides/_rels/slide23.xml.rels>&#65279;<?xml version="1.0" encoding="utf-8"?><Relationships xmlns="http://schemas.openxmlformats.org/package/2006/relationships"><Relationship Type="http://schemas.openxmlformats.org/officeDocument/2006/relationships/slideLayout" Target="/ppt/slideLayouts/slideLayout1.xml" Id="R45c6d901eb1742ee" /><Relationship Type="http://schemas.openxmlformats.org/officeDocument/2006/relationships/notesSlide" Target="/ppt/notesSlides/notesSlide23.xml" Id="Rda02100999364742" /></Relationships>
</file>

<file path=ppt/slides/_rels/slide24.xml.rels>&#65279;<?xml version="1.0" encoding="utf-8"?><Relationships xmlns="http://schemas.openxmlformats.org/package/2006/relationships"><Relationship Type="http://schemas.openxmlformats.org/officeDocument/2006/relationships/slideLayout" Target="/ppt/slideLayouts/slideLayout1.xml" Id="R3e793724ef724f33" /><Relationship Type="http://schemas.openxmlformats.org/officeDocument/2006/relationships/notesSlide" Target="/ppt/notesSlides/notesSlide24.xml" Id="R6eb101361d2a47c8" /></Relationships>
</file>

<file path=ppt/slides/_rels/slide25.xml.rels>&#65279;<?xml version="1.0" encoding="utf-8"?><Relationships xmlns="http://schemas.openxmlformats.org/package/2006/relationships"><Relationship Type="http://schemas.openxmlformats.org/officeDocument/2006/relationships/slideLayout" Target="/ppt/slideLayouts/slideLayout1.xml" Id="R57e2f08859154161" /><Relationship Type="http://schemas.openxmlformats.org/officeDocument/2006/relationships/notesSlide" Target="/ppt/notesSlides/notesSlide25.xml" Id="R89f35bf31d494b31" /></Relationships>
</file>

<file path=ppt/slides/_rels/slide26.xml.rels>&#65279;<?xml version="1.0" encoding="utf-8"?><Relationships xmlns="http://schemas.openxmlformats.org/package/2006/relationships"><Relationship Type="http://schemas.openxmlformats.org/officeDocument/2006/relationships/slideLayout" Target="/ppt/slideLayouts/slideLayout1.xml" Id="Rcf29239a5ed34603" /><Relationship Type="http://schemas.openxmlformats.org/officeDocument/2006/relationships/notesSlide" Target="/ppt/notesSlides/notesSlide26.xml" Id="R87b03610ce804c9a" /></Relationships>
</file>

<file path=ppt/slides/_rels/slide27.xml.rels>&#65279;<?xml version="1.0" encoding="utf-8"?><Relationships xmlns="http://schemas.openxmlformats.org/package/2006/relationships"><Relationship Type="http://schemas.openxmlformats.org/officeDocument/2006/relationships/slideLayout" Target="/ppt/slideLayouts/slideLayout1.xml" Id="R87361f62d2c74279" /><Relationship Type="http://schemas.openxmlformats.org/officeDocument/2006/relationships/notesSlide" Target="/ppt/notesSlides/notesSlide27.xml" Id="Re38ba790888540bd" /></Relationships>
</file>

<file path=ppt/slides/_rels/slide28.xml.rels>&#65279;<?xml version="1.0" encoding="utf-8"?><Relationships xmlns="http://schemas.openxmlformats.org/package/2006/relationships"><Relationship Type="http://schemas.openxmlformats.org/officeDocument/2006/relationships/slideLayout" Target="/ppt/slideLayouts/slideLayout1.xml" Id="R68989b11082149a6" /><Relationship Type="http://schemas.openxmlformats.org/officeDocument/2006/relationships/notesSlide" Target="/ppt/notesSlides/notesSlide28.xml" Id="Rbcff0856e7f54801" /></Relationships>
</file>

<file path=ppt/slides/_rels/slide29.xml.rels>&#65279;<?xml version="1.0" encoding="utf-8"?><Relationships xmlns="http://schemas.openxmlformats.org/package/2006/relationships"><Relationship Type="http://schemas.openxmlformats.org/officeDocument/2006/relationships/slideLayout" Target="/ppt/slideLayouts/slideLayout1.xml" Id="R1551f14bd361413a" /><Relationship Type="http://schemas.openxmlformats.org/officeDocument/2006/relationships/notesSlide" Target="/ppt/notesSlides/notesSlide29.xml" Id="R8f2968ca6c764c7b" /></Relationships>
</file>

<file path=ppt/slides/_rels/slide30.xml.rels>&#65279;<?xml version="1.0" encoding="utf-8"?><Relationships xmlns="http://schemas.openxmlformats.org/package/2006/relationships"><Relationship Type="http://schemas.openxmlformats.org/officeDocument/2006/relationships/slideLayout" Target="/ppt/slideLayouts/slideLayout1.xml" Id="R115216b3d3f84217" /><Relationship Type="http://schemas.openxmlformats.org/officeDocument/2006/relationships/notesSlide" Target="/ppt/notesSlides/notesSlide30.xml" Id="Ra96c40a760914716" /></Relationships>
</file>

<file path=ppt/slides/_rels/slide31.xml.rels>&#65279;<?xml version="1.0" encoding="utf-8"?><Relationships xmlns="http://schemas.openxmlformats.org/package/2006/relationships"><Relationship Type="http://schemas.openxmlformats.org/officeDocument/2006/relationships/slideLayout" Target="/ppt/slideLayouts/slideLayout1.xml" Id="R653048714bc44119" /><Relationship Type="http://schemas.openxmlformats.org/officeDocument/2006/relationships/notesSlide" Target="/ppt/notesSlides/notesSlide31.xml" Id="R1fed33eb35ba41fe" /></Relationships>
</file>

<file path=ppt/slides/_rels/slide32.xml.rels>&#65279;<?xml version="1.0" encoding="utf-8"?><Relationships xmlns="http://schemas.openxmlformats.org/package/2006/relationships"><Relationship Type="http://schemas.openxmlformats.org/officeDocument/2006/relationships/slideLayout" Target="/ppt/slideLayouts/slideLayout1.xml" Id="R8bcf389b58c146c2" /><Relationship Type="http://schemas.openxmlformats.org/officeDocument/2006/relationships/notesSlide" Target="/ppt/notesSlides/notesSlide32.xml" Id="Rc594fcff5f4e485d" /></Relationships>
</file>

<file path=ppt/slides/_rels/slide33.xml.rels>&#65279;<?xml version="1.0" encoding="utf-8"?><Relationships xmlns="http://schemas.openxmlformats.org/package/2006/relationships"><Relationship Type="http://schemas.openxmlformats.org/officeDocument/2006/relationships/slideLayout" Target="/ppt/slideLayouts/slideLayout1.xml" Id="R60719b9ead514e48" /><Relationship Type="http://schemas.openxmlformats.org/officeDocument/2006/relationships/notesSlide" Target="/ppt/notesSlides/notesSlide33.xml" Id="Rb57696f7d27d4761" /></Relationships>
</file>

<file path=ppt/slides/_rels/slide34.xml.rels>&#65279;<?xml version="1.0" encoding="utf-8"?><Relationships xmlns="http://schemas.openxmlformats.org/package/2006/relationships"><Relationship Type="http://schemas.openxmlformats.org/officeDocument/2006/relationships/slideLayout" Target="/ppt/slideLayouts/slideLayout1.xml" Id="R2dcb855d691e4811" /><Relationship Type="http://schemas.openxmlformats.org/officeDocument/2006/relationships/notesSlide" Target="/ppt/notesSlides/notesSlide34.xml" Id="Rcec14357c0084da1" /></Relationships>
</file>

<file path=ppt/slides/_rels/slide35.xml.rels>&#65279;<?xml version="1.0" encoding="utf-8"?><Relationships xmlns="http://schemas.openxmlformats.org/package/2006/relationships"><Relationship Type="http://schemas.openxmlformats.org/officeDocument/2006/relationships/slideLayout" Target="/ppt/slideLayouts/slideLayout1.xml" Id="R147a722dc3404ddb" /><Relationship Type="http://schemas.openxmlformats.org/officeDocument/2006/relationships/notesSlide" Target="/ppt/notesSlides/notesSlide35.xml" Id="R6dcec7efe9a049be" /></Relationships>
</file>

<file path=ppt/slides/_rels/slide36.xml.rels>&#65279;<?xml version="1.0" encoding="utf-8"?><Relationships xmlns="http://schemas.openxmlformats.org/package/2006/relationships"><Relationship Type="http://schemas.openxmlformats.org/officeDocument/2006/relationships/slideLayout" Target="/ppt/slideLayouts/slideLayout1.xml" Id="Ra58427f0a9974721" /><Relationship Type="http://schemas.openxmlformats.org/officeDocument/2006/relationships/notesSlide" Target="/ppt/notesSlides/notesSlide36.xml" Id="R10acfbef02d0453c" /></Relationships>
</file>

<file path=ppt/slides/_rels/slide37.xml.rels>&#65279;<?xml version="1.0" encoding="utf-8"?><Relationships xmlns="http://schemas.openxmlformats.org/package/2006/relationships"><Relationship Type="http://schemas.openxmlformats.org/officeDocument/2006/relationships/slideLayout" Target="/ppt/slideLayouts/slideLayout1.xml" Id="R786bd9d3dd01426e" /><Relationship Type="http://schemas.openxmlformats.org/officeDocument/2006/relationships/notesSlide" Target="/ppt/notesSlides/notesSlide37.xml" Id="R2665a0d6601748bd" /></Relationships>
</file>

<file path=ppt/slides/_rels/slide38.xml.rels>&#65279;<?xml version="1.0" encoding="utf-8"?><Relationships xmlns="http://schemas.openxmlformats.org/package/2006/relationships"><Relationship Type="http://schemas.openxmlformats.org/officeDocument/2006/relationships/slideLayout" Target="/ppt/slideLayouts/slideLayout1.xml" Id="Rb086732694b14c50" /><Relationship Type="http://schemas.openxmlformats.org/officeDocument/2006/relationships/notesSlide" Target="/ppt/notesSlides/notesSlide38.xml" Id="R48bd1085b9b143af" /></Relationships>
</file>

<file path=ppt/slides/_rels/slide39.xml.rels>&#65279;<?xml version="1.0" encoding="utf-8"?><Relationships xmlns="http://schemas.openxmlformats.org/package/2006/relationships"><Relationship Type="http://schemas.openxmlformats.org/officeDocument/2006/relationships/slideLayout" Target="/ppt/slideLayouts/slideLayout1.xml" Id="Rfa9ec96ad61e47c9" /><Relationship Type="http://schemas.openxmlformats.org/officeDocument/2006/relationships/notesSlide" Target="/ppt/notesSlides/notesSlide39.xml" Id="Rb26f7d105643408e" /></Relationships>
</file>

<file path=ppt/slides/_rels/slide40.xml.rels>&#65279;<?xml version="1.0" encoding="utf-8"?><Relationships xmlns="http://schemas.openxmlformats.org/package/2006/relationships"><Relationship Type="http://schemas.openxmlformats.org/officeDocument/2006/relationships/slideLayout" Target="/ppt/slideLayouts/slideLayout1.xml" Id="R10d2e781ab3a4954" /><Relationship Type="http://schemas.openxmlformats.org/officeDocument/2006/relationships/notesSlide" Target="/ppt/notesSlides/notesSlide40.xml" Id="R963907c14e804db0" /></Relationships>
</file>

<file path=ppt/slides/_rels/slide41.xml.rels>&#65279;<?xml version="1.0" encoding="utf-8"?><Relationships xmlns="http://schemas.openxmlformats.org/package/2006/relationships"><Relationship Type="http://schemas.openxmlformats.org/officeDocument/2006/relationships/slideLayout" Target="/ppt/slideLayouts/slideLayout1.xml" Id="R72b402260faa4b3a" /><Relationship Type="http://schemas.openxmlformats.org/officeDocument/2006/relationships/notesSlide" Target="/ppt/notesSlides/notesSlide41.xml" Id="Rf7c8254e0cff4fde" /></Relationships>
</file>

<file path=ppt/slides/_rels/slide42.xml.rels>&#65279;<?xml version="1.0" encoding="utf-8"?><Relationships xmlns="http://schemas.openxmlformats.org/package/2006/relationships"><Relationship Type="http://schemas.openxmlformats.org/officeDocument/2006/relationships/slideLayout" Target="/ppt/slideLayouts/slideLayout1.xml" Id="Rde2af90c13ce421e" /><Relationship Type="http://schemas.openxmlformats.org/officeDocument/2006/relationships/notesSlide" Target="/ppt/notesSlides/notesSlide42.xml" Id="Ra48ab0b65fce47c8" /></Relationships>
</file>

<file path=ppt/slides/_rels/slide43.xml.rels>&#65279;<?xml version="1.0" encoding="utf-8"?><Relationships xmlns="http://schemas.openxmlformats.org/package/2006/relationships"><Relationship Type="http://schemas.openxmlformats.org/officeDocument/2006/relationships/slideLayout" Target="/ppt/slideLayouts/slideLayout1.xml" Id="R13cef27cb3b34f21" /><Relationship Type="http://schemas.openxmlformats.org/officeDocument/2006/relationships/notesSlide" Target="/ppt/notesSlides/notesSlide43.xml" Id="R1b08eaa7bd254b1b" /></Relationships>
</file>

<file path=ppt/slides/_rels/slide44.xml.rels>&#65279;<?xml version="1.0" encoding="utf-8"?><Relationships xmlns="http://schemas.openxmlformats.org/package/2006/relationships"><Relationship Type="http://schemas.openxmlformats.org/officeDocument/2006/relationships/slideLayout" Target="/ppt/slideLayouts/slideLayout1.xml" Id="R371a07aab9cb429b" /><Relationship Type="http://schemas.openxmlformats.org/officeDocument/2006/relationships/notesSlide" Target="/ppt/notesSlides/notesSlide44.xml" Id="Ra257ca6aa29e439d" /></Relationships>
</file>

<file path=ppt/slides/_rels/slide45.xml.rels>&#65279;<?xml version="1.0" encoding="utf-8"?><Relationships xmlns="http://schemas.openxmlformats.org/package/2006/relationships"><Relationship Type="http://schemas.openxmlformats.org/officeDocument/2006/relationships/slideLayout" Target="/ppt/slideLayouts/slideLayout1.xml" Id="Ra26858a21ea74a8e" /><Relationship Type="http://schemas.openxmlformats.org/officeDocument/2006/relationships/notesSlide" Target="/ppt/notesSlides/notesSlide45.xml" Id="R7955f894d9b14cfe" /></Relationships>
</file>

<file path=ppt/slides/_rels/slide46.xml.rels>&#65279;<?xml version="1.0" encoding="utf-8"?><Relationships xmlns="http://schemas.openxmlformats.org/package/2006/relationships"><Relationship Type="http://schemas.openxmlformats.org/officeDocument/2006/relationships/slideLayout" Target="/ppt/slideLayouts/slideLayout1.xml" Id="R80d798d454094e06" /><Relationship Type="http://schemas.openxmlformats.org/officeDocument/2006/relationships/notesSlide" Target="/ppt/notesSlides/notesSlide46.xml" Id="R49c871f1a8e44502" /></Relationships>
</file>

<file path=ppt/slides/_rels/slide47.xml.rels>&#65279;<?xml version="1.0" encoding="utf-8"?><Relationships xmlns="http://schemas.openxmlformats.org/package/2006/relationships"><Relationship Type="http://schemas.openxmlformats.org/officeDocument/2006/relationships/slideLayout" Target="/ppt/slideLayouts/slideLayout1.xml" Id="Ra087b50efd5c49b6" /><Relationship Type="http://schemas.openxmlformats.org/officeDocument/2006/relationships/notesSlide" Target="/ppt/notesSlides/notesSlide47.xml" Id="R5f6c676751f44de3" /></Relationships>
</file>

<file path=ppt/slides/_rels/slide48.xml.rels>&#65279;<?xml version="1.0" encoding="utf-8"?><Relationships xmlns="http://schemas.openxmlformats.org/package/2006/relationships"><Relationship Type="http://schemas.openxmlformats.org/officeDocument/2006/relationships/slideLayout" Target="/ppt/slideLayouts/slideLayout1.xml" Id="R392f08284a5b4523" /><Relationship Type="http://schemas.openxmlformats.org/officeDocument/2006/relationships/notesSlide" Target="/ppt/notesSlides/notesSlide48.xml" Id="R525763dccd1849bc" /></Relationships>
</file>

<file path=ppt/slides/_rels/slide49.xml.rels>&#65279;<?xml version="1.0" encoding="utf-8"?><Relationships xmlns="http://schemas.openxmlformats.org/package/2006/relationships"><Relationship Type="http://schemas.openxmlformats.org/officeDocument/2006/relationships/slideLayout" Target="/ppt/slideLayouts/slideLayout1.xml" Id="R950b857d2e5749cf" /><Relationship Type="http://schemas.openxmlformats.org/officeDocument/2006/relationships/notesSlide" Target="/ppt/notesSlides/notesSlide49.xml" Id="R1d521d8f7da64cc5" /></Relationships>
</file>

<file path=ppt/slides/_rels/slide50.xml.rels>&#65279;<?xml version="1.0" encoding="utf-8"?><Relationships xmlns="http://schemas.openxmlformats.org/package/2006/relationships"><Relationship Type="http://schemas.openxmlformats.org/officeDocument/2006/relationships/slideLayout" Target="/ppt/slideLayouts/slideLayout1.xml" Id="R76848f0f4b054c01" /><Relationship Type="http://schemas.openxmlformats.org/officeDocument/2006/relationships/notesSlide" Target="/ppt/notesSlides/notesSlide50.xml" Id="R574bc84e1d294bb6" /></Relationships>
</file>

<file path=ppt/slides/_rels/slide51.xml.rels>&#65279;<?xml version="1.0" encoding="utf-8"?><Relationships xmlns="http://schemas.openxmlformats.org/package/2006/relationships"><Relationship Type="http://schemas.openxmlformats.org/officeDocument/2006/relationships/slideLayout" Target="/ppt/slideLayouts/slideLayout1.xml" Id="R047cf88c602145f0" /><Relationship Type="http://schemas.openxmlformats.org/officeDocument/2006/relationships/notesSlide" Target="/ppt/notesSlides/notesSlide51.xml" Id="Rea43b5420e7f4b1f" /></Relationships>
</file>

<file path=ppt/slides/_rels/slide52.xml.rels>&#65279;<?xml version="1.0" encoding="utf-8"?><Relationships xmlns="http://schemas.openxmlformats.org/package/2006/relationships"><Relationship Type="http://schemas.openxmlformats.org/officeDocument/2006/relationships/slideLayout" Target="/ppt/slideLayouts/slideLayout1.xml" Id="R332f5760c83c4900" /><Relationship Type="http://schemas.openxmlformats.org/officeDocument/2006/relationships/notesSlide" Target="/ppt/notesSlides/notesSlide52.xml" Id="R0a78c43af0064d51" /></Relationships>
</file>

<file path=ppt/slides/_rels/slide53.xml.rels>&#65279;<?xml version="1.0" encoding="utf-8"?><Relationships xmlns="http://schemas.openxmlformats.org/package/2006/relationships"><Relationship Type="http://schemas.openxmlformats.org/officeDocument/2006/relationships/slideLayout" Target="/ppt/slideLayouts/slideLayout1.xml" Id="R1574a16998dd44eb" /><Relationship Type="http://schemas.openxmlformats.org/officeDocument/2006/relationships/notesSlide" Target="/ppt/notesSlides/notesSlide53.xml" Id="R6a0419d6bb9d4ab9" /></Relationships>
</file>

<file path=ppt/slides/_rels/slide54.xml.rels>&#65279;<?xml version="1.0" encoding="utf-8"?><Relationships xmlns="http://schemas.openxmlformats.org/package/2006/relationships"><Relationship Type="http://schemas.openxmlformats.org/officeDocument/2006/relationships/slideLayout" Target="/ppt/slideLayouts/slideLayout1.xml" Id="R3d2756b4b7fd436f" /><Relationship Type="http://schemas.openxmlformats.org/officeDocument/2006/relationships/notesSlide" Target="/ppt/notesSlides/notesSlide54.xml" Id="Rb5e75892f8be4ff7" /></Relationships>
</file>

<file path=ppt/slides/_rels/slide55.xml.rels>&#65279;<?xml version="1.0" encoding="utf-8"?><Relationships xmlns="http://schemas.openxmlformats.org/package/2006/relationships"><Relationship Type="http://schemas.openxmlformats.org/officeDocument/2006/relationships/slideLayout" Target="/ppt/slideLayouts/slideLayout1.xml" Id="R2256bddf1cea46a5" /><Relationship Type="http://schemas.openxmlformats.org/officeDocument/2006/relationships/notesSlide" Target="/ppt/notesSlides/notesSlide55.xml" Id="R1da1ad7e38384b94" /></Relationships>
</file>

<file path=ppt/slides/_rels/slide56.xml.rels>&#65279;<?xml version="1.0" encoding="utf-8"?><Relationships xmlns="http://schemas.openxmlformats.org/package/2006/relationships"><Relationship Type="http://schemas.openxmlformats.org/officeDocument/2006/relationships/slideLayout" Target="/ppt/slideLayouts/slideLayout1.xml" Id="R212adf82bd2744cd" /><Relationship Type="http://schemas.openxmlformats.org/officeDocument/2006/relationships/notesSlide" Target="/ppt/notesSlides/notesSlide56.xml" Id="R7fe7c5f15f5f4a65" /></Relationships>
</file>

<file path=ppt/slides/_rels/slide57.xml.rels>&#65279;<?xml version="1.0" encoding="utf-8"?><Relationships xmlns="http://schemas.openxmlformats.org/package/2006/relationships"><Relationship Type="http://schemas.openxmlformats.org/officeDocument/2006/relationships/slideLayout" Target="/ppt/slideLayouts/slideLayout1.xml" Id="R539270ffb01a419e" /><Relationship Type="http://schemas.openxmlformats.org/officeDocument/2006/relationships/notesSlide" Target="/ppt/notesSlides/notesSlide57.xml" Id="Rf61286fdd33e45bc" /></Relationships>
</file>

<file path=ppt/slides/_rels/slide58.xml.rels>&#65279;<?xml version="1.0" encoding="utf-8"?><Relationships xmlns="http://schemas.openxmlformats.org/package/2006/relationships"><Relationship Type="http://schemas.openxmlformats.org/officeDocument/2006/relationships/slideLayout" Target="/ppt/slideLayouts/slideLayout1.xml" Id="R9dc842640bf8430f" /><Relationship Type="http://schemas.openxmlformats.org/officeDocument/2006/relationships/hyperlink" Target="https://docs.google.com/forms/d/e/1FAIpQLSenqAHKxNgzxWHIR41scC7h5WAxcs8D9wOyXYjIQ_ulbGpPCw/viewform" TargetMode="External" Id="R8cb85a5375874ded" /><Relationship Type="http://schemas.openxmlformats.org/officeDocument/2006/relationships/notesSlide" Target="/ppt/notesSlides/notesSlide58.xml" Id="R1ba023398f7d468d" /></Relationships>
</file>

<file path=ppt/slides/_rels/slide59.xml.rels>&#65279;<?xml version="1.0" encoding="utf-8"?><Relationships xmlns="http://schemas.openxmlformats.org/package/2006/relationships"><Relationship Type="http://schemas.openxmlformats.org/officeDocument/2006/relationships/slideLayout" Target="/ppt/slideLayouts/slideLayout1.xml" Id="R93af3e2a7fa3419f" /><Relationship Type="http://schemas.openxmlformats.org/officeDocument/2006/relationships/image" Target="/ppt/media/image4.png" Id="Rabf0dc842bb84fac" /><Relationship Type="http://schemas.openxmlformats.org/officeDocument/2006/relationships/hyperlink" Target="https://forms.gle/YbPS4yzALy4tB1YM7" TargetMode="External" Id="R80b7547bfae54c35" /><Relationship Type="http://schemas.openxmlformats.org/officeDocument/2006/relationships/notesSlide" Target="/ppt/notesSlides/notesSlide59.xml" Id="Re2b8a71f16094ef2" /></Relationships>
</file>

<file path=ppt/slides/_rels/slide60.xml.rels>&#65279;<?xml version="1.0" encoding="utf-8"?><Relationships xmlns="http://schemas.openxmlformats.org/package/2006/relationships"><Relationship Type="http://schemas.openxmlformats.org/officeDocument/2006/relationships/slideLayout" Target="/ppt/slideLayouts/slideLayout1.xml" Id="R69f370a986114f67" /><Relationship Type="http://schemas.openxmlformats.org/officeDocument/2006/relationships/notesSlide" Target="/ppt/notesSlides/notesSlide60.xml" Id="R00cda9352a0b486d" /></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7" name=""/>
          <p:cNvPicPr>
            <a:picLocks xmlns:a="http://schemas.openxmlformats.org/drawingml/2006/main" noChangeAspect="1"/>
          </p:cNvPicPr>
          <p:nvPr/>
        </p:nvPicPr>
        <p:blipFill>
          <a:blip xmlns:r="http://schemas.openxmlformats.org/officeDocument/2006/relationships" xmlns:a="http://schemas.openxmlformats.org/drawingml/2006/main" r:embed="Rcc1732d093704043"/>
          <a:stretch xmlns:a="http://schemas.openxmlformats.org/drawingml/2006/main"/>
        </p:blipFill>
        <p:spPr>
          <a:xfrm xmlns:a="http://schemas.openxmlformats.org/drawingml/2006/main">
            <a:off x="3087" y="0"/>
            <a:ext cx="12185522"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6F0DAF0C-6E6F-482A-9B54-D1BF099DB6F7}"/>
              </a:ext>
            </a:extLst>
          </p:cNvPr>
          <p:cNvSpPr>
            <a:spLocks xmlns:a="http://schemas.openxmlformats.org/drawingml/2006/main" noGrp="1"/>
          </p:cNvSpPr>
          <p:nvPr/>
        </p:nvSpPr>
        <p:spPr>
          <a:xfrm xmlns:a="http://schemas.openxmlformats.org/drawingml/2006/main">
            <a:off x="0" y="0"/>
            <a:ext cx="5381625" cy="685800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0D8284A7-9187-415B-8357-15247876E241}"/>
              </a:ext>
            </a:extLst>
          </p:cNvPr>
          <p:cNvSpPr>
            <a:spLocks xmlns:a="http://schemas.openxmlformats.org/drawingml/2006/main" noGrp="1"/>
          </p:cNvSpPr>
          <p:nvPr/>
        </p:nvSpPr>
        <p:spPr>
          <a:xfrm xmlns:a="http://schemas.openxmlformats.org/drawingml/2006/main">
            <a:off x="552450" y="685800"/>
            <a:ext cx="4762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1">
                <a:solidFill>
                  <a:srgbClr val="E4572E"/>
                </a:solidFill>
                <a:latin typeface="Calibri"/>
                <a:ea typeface="Calibri"/>
                <a:cs typeface="Calibri"/>
              </a:defRPr>
            </a:pPr>
            <a:r>
              <a:rPr sz="1950" b="1">
                <a:solidFill>
                  <a:srgbClr val="E4572E"/>
                </a:solidFill>
                <a:latin typeface="Calibri"/>
                <a:ea typeface="Calibri"/>
                <a:cs typeface="Calibri"/>
              </a:rPr>
              <a:t>CML3113   WEEK 4</a:t>
            </a:r>
          </a:p>
        </p:txBody>
      </p:sp>
      <p:sp>
        <p:nvSpPr>
          <p:cNvPr id="4" name="">
            <a:extLst xmlns:a="http://schemas.openxmlformats.org/drawingml/2006/main">
              <a:ext uri="{FF2B5EF4-FFF2-40B4-BE49-F238E27FC236}">
                <a16:creationId xmlns:a16="http://schemas.microsoft.com/office/drawing/2014/main" id="{F42C64BA-7E13-4ADD-A7FA-2840D47FF775}"/>
              </a:ext>
            </a:extLst>
          </p:cNvPr>
          <p:cNvSpPr>
            <a:spLocks xmlns:a="http://schemas.openxmlformats.org/drawingml/2006/main" noGrp="1"/>
          </p:cNvSpPr>
          <p:nvPr/>
        </p:nvSpPr>
        <p:spPr>
          <a:xfrm xmlns:a="http://schemas.openxmlformats.org/drawingml/2006/main">
            <a:off x="552450" y="1619250"/>
            <a:ext cx="4619625" cy="2333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825" b="1">
                <a:solidFill>
                  <a:srgbClr val="FFFFFF"/>
                </a:solidFill>
                <a:latin typeface="Calibri"/>
                <a:ea typeface="Calibri"/>
                <a:cs typeface="Calibri"/>
              </a:defRPr>
            </a:pPr>
            <a:r>
              <a:rPr sz="3825" b="1">
                <a:solidFill>
                  <a:srgbClr val="FFFFFF"/>
                </a:solidFill>
                <a:latin typeface="Calibri"/>
                <a:ea typeface="Calibri"/>
                <a:cs typeface="Calibri"/>
              </a:rPr>
              <a:t>Lists loops and reading a table</a:t>
            </a:r>
          </a:p>
        </p:txBody>
      </p:sp>
      <p:sp>
        <p:nvSpPr>
          <p:cNvPr id="5" name="">
            <a:extLst xmlns:a="http://schemas.openxmlformats.org/drawingml/2006/main">
              <a:ext uri="{FF2B5EF4-FFF2-40B4-BE49-F238E27FC236}">
                <a16:creationId xmlns:a16="http://schemas.microsoft.com/office/drawing/2014/main" id="{0D80E889-6A70-4462-ABC1-4C877A33D69E}"/>
              </a:ext>
            </a:extLst>
          </p:cNvPr>
          <p:cNvSpPr>
            <a:spLocks xmlns:a="http://schemas.openxmlformats.org/drawingml/2006/main" noGrp="1"/>
          </p:cNvSpPr>
          <p:nvPr/>
        </p:nvSpPr>
        <p:spPr>
          <a:xfrm xmlns:a="http://schemas.openxmlformats.org/drawingml/2006/main">
            <a:off x="552450" y="4048125"/>
            <a:ext cx="4619625"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D8E3EC"/>
                </a:solidFill>
                <a:latin typeface="Calibri"/>
                <a:ea typeface="Calibri"/>
                <a:cs typeface="Calibri"/>
              </a:defRPr>
            </a:pPr>
            <a:r>
              <a:rPr sz="2100" b="0">
                <a:solidFill>
                  <a:srgbClr val="D8E3EC"/>
                </a:solidFill>
                <a:latin typeface="Calibri"/>
                <a:ea typeface="Calibri"/>
                <a:cs typeface="Calibri"/>
              </a:rPr>
              <a:t>Mining and Petroleum Engineering</a:t>
            </a:r>
          </a:p>
        </p:txBody>
      </p:sp>
      <p:sp>
        <p:nvSpPr>
          <p:cNvPr id="6" name="">
            <a:extLst xmlns:a="http://schemas.openxmlformats.org/drawingml/2006/main">
              <a:ext uri="{FF2B5EF4-FFF2-40B4-BE49-F238E27FC236}">
                <a16:creationId xmlns:a16="http://schemas.microsoft.com/office/drawing/2014/main" id="{279EF8D5-680E-425E-8FAD-FCB0A2EE0F05}"/>
              </a:ext>
            </a:extLst>
          </p:cNvPr>
          <p:cNvSpPr>
            <a:spLocks xmlns:a="http://schemas.openxmlformats.org/drawingml/2006/main" noGrp="1"/>
          </p:cNvSpPr>
          <p:nvPr/>
        </p:nvSpPr>
        <p:spPr>
          <a:xfrm xmlns:a="http://schemas.openxmlformats.org/drawingml/2006/main">
            <a:off x="552450" y="5467350"/>
            <a:ext cx="46672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D8E3EC"/>
                </a:solidFill>
                <a:latin typeface="Calibri"/>
                <a:ea typeface="Calibri"/>
                <a:cs typeface="Calibri"/>
              </a:defRPr>
            </a:pPr>
            <a:r>
              <a:rPr sz="1725" b="0">
                <a:solidFill>
                  <a:srgbClr val="D8E3EC"/>
                </a:solidFill>
                <a:latin typeface="Calibri"/>
                <a:ea typeface="Calibri"/>
                <a:cs typeface="Calibri"/>
              </a:rPr>
              <a:t>Friday 02 October 2026</a:t>
            </a:r>
          </a:p>
          <a:p xmlns:a="http://schemas.openxmlformats.org/drawingml/2006/main">
            <a:pPr>
              <a:defRPr sz="1725" b="0">
                <a:solidFill>
                  <a:srgbClr val="D8E3EC"/>
                </a:solidFill>
                <a:latin typeface="Calibri"/>
                <a:ea typeface="Calibri"/>
                <a:cs typeface="Calibri"/>
              </a:defRPr>
            </a:pPr>
            <a:r>
              <a:rPr sz="1725" b="0">
                <a:solidFill>
                  <a:srgbClr val="D8E3EC"/>
                </a:solidFill>
                <a:latin typeface="Calibri"/>
                <a:ea typeface="Calibri"/>
                <a:cs typeface="Calibri"/>
              </a:rPr>
              <a:t>Friday 08:00–11:00, Room 105</a:t>
            </a:r>
          </a:p>
        </p:txBody>
      </p:sp>
    </p:spTree>
    <p:extLst>
      <p:ext uri="{BB962C8B-B14F-4D97-AF65-F5344CB8AC3E}">
        <p14:creationId xmlns:p14="http://schemas.microsoft.com/office/powerpoint/2010/main" val="1912474759"/>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E2216246-105A-47ED-8002-9E1B41B7A244}"/>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183F5CCA-AB5D-4F41-A3EB-D9CE5D4F500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TODAY’S DESTINATION</a:t>
            </a:r>
          </a:p>
        </p:txBody>
      </p:sp>
      <p:sp>
        <p:nvSpPr>
          <p:cNvPr id="3" name="">
            <a:extLst xmlns:a="http://schemas.openxmlformats.org/drawingml/2006/main">
              <a:ext uri="{FF2B5EF4-FFF2-40B4-BE49-F238E27FC236}">
                <a16:creationId xmlns:a16="http://schemas.microsoft.com/office/drawing/2014/main" id="{B700651F-A284-476F-A429-56017ECF32C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Today’s learning</a:t>
            </a:r>
          </a:p>
        </p:txBody>
      </p:sp>
      <p:sp>
        <p:nvSpPr>
          <p:cNvPr id="4" name="">
            <a:extLst xmlns:a="http://schemas.openxmlformats.org/drawingml/2006/main">
              <a:ext uri="{FF2B5EF4-FFF2-40B4-BE49-F238E27FC236}">
                <a16:creationId xmlns:a16="http://schemas.microsoft.com/office/drawing/2014/main" id="{6C4D8528-1658-415A-ABDF-8023D19D6C60}"/>
              </a:ext>
            </a:extLst>
          </p:cNvPr>
          <p:cNvSpPr>
            <a:spLocks xmlns:a="http://schemas.openxmlformats.org/drawingml/2006/main" noGrp="1"/>
          </p:cNvSpPr>
          <p:nvPr/>
        </p:nvSpPr>
        <p:spPr>
          <a:xfrm xmlns:a="http://schemas.openxmlformats.org/drawingml/2006/main">
            <a:off x="590550" y="1733550"/>
            <a:ext cx="523875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3CB64202-A088-4DDA-B59D-0804EF6B3301}"/>
              </a:ext>
            </a:extLst>
          </p:cNvPr>
          <p:cNvSpPr>
            <a:spLocks xmlns:a="http://schemas.openxmlformats.org/drawingml/2006/main" noGrp="1"/>
          </p:cNvSpPr>
          <p:nvPr/>
        </p:nvSpPr>
        <p:spPr>
          <a:xfrm xmlns:a="http://schemas.openxmlformats.org/drawingml/2006/main">
            <a:off x="828675" y="2000250"/>
            <a:ext cx="47434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1">
                <a:solidFill>
                  <a:srgbClr val="E4572E"/>
                </a:solidFill>
                <a:latin typeface="Calibri"/>
                <a:ea typeface="Calibri"/>
                <a:cs typeface="Calibri"/>
              </a:defRPr>
            </a:pPr>
            <a:r>
              <a:rPr sz="1650" b="1">
                <a:solidFill>
                  <a:srgbClr val="E4572E"/>
                </a:solidFill>
                <a:latin typeface="Calibri"/>
                <a:ea typeface="Calibri"/>
                <a:cs typeface="Calibri"/>
              </a:rPr>
              <a:t>WHAT WE WILL DO</a:t>
            </a:r>
          </a:p>
        </p:txBody>
      </p:sp>
      <p:sp>
        <p:nvSpPr>
          <p:cNvPr id="6" name="">
            <a:extLst xmlns:a="http://schemas.openxmlformats.org/drawingml/2006/main">
              <a:ext uri="{FF2B5EF4-FFF2-40B4-BE49-F238E27FC236}">
                <a16:creationId xmlns:a16="http://schemas.microsoft.com/office/drawing/2014/main" id="{01AB74C4-126C-4A93-A104-C3D81F96F9F8}"/>
              </a:ext>
            </a:extLst>
          </p:cNvPr>
          <p:cNvSpPr>
            <a:spLocks xmlns:a="http://schemas.openxmlformats.org/drawingml/2006/main" noGrp="1"/>
          </p:cNvSpPr>
          <p:nvPr/>
        </p:nvSpPr>
        <p:spPr>
          <a:xfrm xmlns:a="http://schemas.openxmlformats.org/drawingml/2006/main">
            <a:off x="828675" y="2590800"/>
            <a:ext cx="4743450" cy="2952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Read lists and dictionary fields.</a:t>
            </a:r>
          </a:p>
          <a:p xmlns:a="http://schemas.openxmlformats.org/drawingml/2006/main">
            <a:r>
              <a:t/>
            </a:r>
          </a:p>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Trace a loop, read CSV rows and calculate summaries.</a:t>
            </a:r>
          </a:p>
        </p:txBody>
      </p:sp>
      <p:sp>
        <p:nvSpPr>
          <p:cNvPr id="7" name="">
            <a:extLst xmlns:a="http://schemas.openxmlformats.org/drawingml/2006/main">
              <a:ext uri="{FF2B5EF4-FFF2-40B4-BE49-F238E27FC236}">
                <a16:creationId xmlns:a16="http://schemas.microsoft.com/office/drawing/2014/main" id="{3A66126F-BC16-4BD5-894C-6AEA12B32E61}"/>
              </a:ext>
            </a:extLst>
          </p:cNvPr>
          <p:cNvSpPr>
            <a:spLocks xmlns:a="http://schemas.openxmlformats.org/drawingml/2006/main" noGrp="1"/>
          </p:cNvSpPr>
          <p:nvPr/>
        </p:nvSpPr>
        <p:spPr>
          <a:xfrm xmlns:a="http://schemas.openxmlformats.org/drawingml/2006/main">
            <a:off x="6210300" y="2000250"/>
            <a:ext cx="5143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1">
                <a:solidFill>
                  <a:srgbClr val="2E7D6F"/>
                </a:solidFill>
                <a:latin typeface="Calibri"/>
                <a:ea typeface="Calibri"/>
                <a:cs typeface="Calibri"/>
              </a:defRPr>
            </a:pPr>
            <a:r>
              <a:rPr sz="1650" b="1">
                <a:solidFill>
                  <a:srgbClr val="2E7D6F"/>
                </a:solidFill>
                <a:latin typeface="Calibri"/>
                <a:ea typeface="Calibri"/>
                <a:cs typeface="Calibri"/>
              </a:rPr>
              <a:t>HOW YOU WILL SHOW IT</a:t>
            </a:r>
          </a:p>
        </p:txBody>
      </p:sp>
      <p:sp>
        <p:nvSpPr>
          <p:cNvPr id="8" name="">
            <a:extLst xmlns:a="http://schemas.openxmlformats.org/drawingml/2006/main">
              <a:ext uri="{FF2B5EF4-FFF2-40B4-BE49-F238E27FC236}">
                <a16:creationId xmlns:a16="http://schemas.microsoft.com/office/drawing/2014/main" id="{F2AC7F25-E4AE-40F4-B4E3-7CF9CF1B31D1}"/>
              </a:ext>
            </a:extLst>
          </p:cNvPr>
          <p:cNvSpPr>
            <a:spLocks xmlns:a="http://schemas.openxmlformats.org/drawingml/2006/main" noGrp="1"/>
          </p:cNvSpPr>
          <p:nvPr/>
        </p:nvSpPr>
        <p:spPr>
          <a:xfrm xmlns:a="http://schemas.openxmlformats.org/drawingml/2006/main">
            <a:off x="6210300" y="2590800"/>
            <a:ext cx="5095875" cy="2952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You can show how the total and count change for each record.</a:t>
            </a:r>
          </a:p>
        </p:txBody>
      </p:sp>
      <p:sp>
        <p:nvSpPr>
          <p:cNvPr id="9" name="">
            <a:extLst xmlns:a="http://schemas.openxmlformats.org/drawingml/2006/main">
              <a:ext uri="{FF2B5EF4-FFF2-40B4-BE49-F238E27FC236}">
                <a16:creationId xmlns:a16="http://schemas.microsoft.com/office/drawing/2014/main" id="{01CBF7B5-4D0A-4CCE-86F5-95FFDDD0AF1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4   2</a:t>
            </a:r>
          </a:p>
        </p:txBody>
      </p:sp>
    </p:spTree>
    <p:extLst>
      <p:ext uri="{BB962C8B-B14F-4D97-AF65-F5344CB8AC3E}">
        <p14:creationId xmlns:p14="http://schemas.microsoft.com/office/powerpoint/2010/main" val="1939888431"/>
      </p:ext>
    </p:extLst>
  </p:cSld>
</p:sld>
</file>

<file path=ppt/slides/slide3.xml><?xml version="1.0" encoding="utf-8"?>
<p:sld xmlns:p="http://schemas.openxmlformats.org/presentationml/2006/main">
  <p:cSld>
    <p:bg>
      <p:bgPr>
        <a:solidFill xmlns:a="http://schemas.openxmlformats.org/drawingml/2006/main">
          <a:srgbClr val="1C3144"/>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70DC00EC-A347-45BC-B777-F5040FFEACA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PREDICT BEFORE RUNNING</a:t>
            </a:r>
          </a:p>
        </p:txBody>
      </p:sp>
      <p:sp>
        <p:nvSpPr>
          <p:cNvPr id="2" name="">
            <a:extLst xmlns:a="http://schemas.openxmlformats.org/drawingml/2006/main">
              <a:ext uri="{FF2B5EF4-FFF2-40B4-BE49-F238E27FC236}">
                <a16:creationId xmlns:a16="http://schemas.microsoft.com/office/drawing/2014/main" id="{78DB4D1E-BFA8-48C3-A48D-6838BB58C9D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Recall and a first attempt</a:t>
            </a:r>
          </a:p>
        </p:txBody>
      </p:sp>
      <p:sp>
        <p:nvSpPr>
          <p:cNvPr id="3" name="">
            <a:extLst xmlns:a="http://schemas.openxmlformats.org/drawingml/2006/main">
              <a:ext uri="{FF2B5EF4-FFF2-40B4-BE49-F238E27FC236}">
                <a16:creationId xmlns:a16="http://schemas.microsoft.com/office/drawing/2014/main" id="{8E1CE8D5-DB38-4A15-8064-4333BC5C2F19}"/>
              </a:ext>
            </a:extLst>
          </p:cNvPr>
          <p:cNvSpPr>
            <a:spLocks xmlns:a="http://schemas.openxmlformats.org/drawingml/2006/main" noGrp="1"/>
          </p:cNvSpPr>
          <p:nvPr/>
        </p:nvSpPr>
        <p:spPr>
          <a:xfrm xmlns:a="http://schemas.openxmlformats.org/drawingml/2006/main">
            <a:off x="619125" y="1619250"/>
            <a:ext cx="2857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1">
                <a:solidFill>
                  <a:srgbClr val="E4572E"/>
                </a:solidFill>
                <a:latin typeface="Calibri"/>
                <a:ea typeface="Calibri"/>
                <a:cs typeface="Calibri"/>
              </a:defRPr>
            </a:pPr>
            <a:r>
              <a:rPr sz="1950" b="1">
                <a:solidFill>
                  <a:srgbClr val="E4572E"/>
                </a:solidFill>
                <a:latin typeface="Calibri"/>
                <a:ea typeface="Calibri"/>
                <a:cs typeface="Calibri"/>
              </a:rPr>
              <a:t>YOUR TURN</a:t>
            </a:r>
          </a:p>
        </p:txBody>
      </p:sp>
      <p:sp>
        <p:nvSpPr>
          <p:cNvPr id="4" name="">
            <a:extLst xmlns:a="http://schemas.openxmlformats.org/drawingml/2006/main">
              <a:ext uri="{FF2B5EF4-FFF2-40B4-BE49-F238E27FC236}">
                <a16:creationId xmlns:a16="http://schemas.microsoft.com/office/drawing/2014/main" id="{3D3E7553-8C66-4163-B841-9845E36202B1}"/>
              </a:ext>
            </a:extLst>
          </p:cNvPr>
          <p:cNvSpPr>
            <a:spLocks xmlns:a="http://schemas.openxmlformats.org/drawingml/2006/main" noGrp="1"/>
          </p:cNvSpPr>
          <p:nvPr/>
        </p:nvSpPr>
        <p:spPr>
          <a:xfrm xmlns:a="http://schemas.openxmlformats.org/drawingml/2006/main">
            <a:off x="619125" y="2295525"/>
            <a:ext cx="10810875" cy="3095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850" b="0">
                <a:solidFill>
                  <a:srgbClr val="FFFFFF"/>
                </a:solidFill>
                <a:latin typeface="Calibri"/>
                <a:ea typeface="Calibri"/>
                <a:cs typeface="Calibri"/>
              </a:defRPr>
            </a:pPr>
            <a:r>
              <a:rPr sz="2850" b="0">
                <a:solidFill>
                  <a:srgbClr val="FFFFFF"/>
                </a:solidFill>
                <a:latin typeface="Calibri"/>
                <a:ea typeface="Calibri"/>
                <a:cs typeface="Calibri"/>
              </a:rPr>
              <a:t>Last week we gave values names and called functions. Explain what print(2 + 4) displays, then change one number.</a:t>
            </a:r>
          </a:p>
        </p:txBody>
      </p:sp>
      <p:sp>
        <p:nvSpPr>
          <p:cNvPr id="5" name="">
            <a:extLst xmlns:a="http://schemas.openxmlformats.org/drawingml/2006/main">
              <a:ext uri="{FF2B5EF4-FFF2-40B4-BE49-F238E27FC236}">
                <a16:creationId xmlns:a16="http://schemas.microsoft.com/office/drawing/2014/main" id="{5130175A-078E-49EF-87FF-2568928333A3}"/>
              </a:ext>
            </a:extLst>
          </p:cNvPr>
          <p:cNvSpPr>
            <a:spLocks xmlns:a="http://schemas.openxmlformats.org/drawingml/2006/main" noGrp="1"/>
          </p:cNvSpPr>
          <p:nvPr/>
        </p:nvSpPr>
        <p:spPr>
          <a:xfrm xmlns:a="http://schemas.openxmlformats.org/drawingml/2006/main">
            <a:off x="619125" y="5791200"/>
            <a:ext cx="10810875"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BBCDD9"/>
                </a:solidFill>
                <a:latin typeface="Calibri"/>
                <a:ea typeface="Calibri"/>
                <a:cs typeface="Calibri"/>
              </a:defRPr>
            </a:pPr>
            <a:r>
              <a:rPr sz="1800" b="0">
                <a:solidFill>
                  <a:srgbClr val="BBCDD9"/>
                </a:solidFill>
                <a:latin typeface="Calibri"/>
                <a:ea typeface="Calibri"/>
                <a:cs typeface="Calibri"/>
              </a:rPr>
              <a:t>Think alone first. Then compare your reasoning with a partner.</a:t>
            </a:r>
          </a:p>
        </p:txBody>
      </p:sp>
      <p:sp>
        <p:nvSpPr>
          <p:cNvPr id="6" name="">
            <a:extLst xmlns:a="http://schemas.openxmlformats.org/drawingml/2006/main">
              <a:ext uri="{FF2B5EF4-FFF2-40B4-BE49-F238E27FC236}">
                <a16:creationId xmlns:a16="http://schemas.microsoft.com/office/drawing/2014/main" id="{4F9603D1-877A-4C37-A27D-0416A7C74FA9}"/>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BBCDD9"/>
                </a:solidFill>
                <a:latin typeface="Calibri"/>
                <a:ea typeface="Calibri"/>
                <a:cs typeface="Calibri"/>
              </a:defRPr>
            </a:pPr>
            <a:r>
              <a:rPr sz="1200" b="0">
                <a:solidFill>
                  <a:srgbClr val="BBCDD9"/>
                </a:solidFill>
                <a:latin typeface="Calibri"/>
                <a:ea typeface="Calibri"/>
                <a:cs typeface="Calibri"/>
              </a:rPr>
              <a:t>CML3113   Week 4   3</a:t>
            </a:r>
          </a:p>
        </p:txBody>
      </p:sp>
    </p:spTree>
    <p:extLst>
      <p:ext uri="{BB962C8B-B14F-4D97-AF65-F5344CB8AC3E}">
        <p14:creationId xmlns:p14="http://schemas.microsoft.com/office/powerpoint/2010/main" val="82440205"/>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60DC0739-BD82-4115-B95B-523655211B73}"/>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D0628E9A-5F96-4A76-B877-94C30BE1C45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THE ENGINEERING QUESTION</a:t>
            </a:r>
          </a:p>
        </p:txBody>
      </p:sp>
      <p:sp>
        <p:nvSpPr>
          <p:cNvPr id="3" name="">
            <a:extLst xmlns:a="http://schemas.openxmlformats.org/drawingml/2006/main">
              <a:ext uri="{FF2B5EF4-FFF2-40B4-BE49-F238E27FC236}">
                <a16:creationId xmlns:a16="http://schemas.microsoft.com/office/drawing/2014/main" id="{3E519EB6-656F-43A9-91F8-DD6E14F689C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The engineering context</a:t>
            </a:r>
          </a:p>
        </p:txBody>
      </p:sp>
      <p:sp>
        <p:nvSpPr>
          <p:cNvPr id="4" name="">
            <a:extLst xmlns:a="http://schemas.openxmlformats.org/drawingml/2006/main">
              <a:ext uri="{FF2B5EF4-FFF2-40B4-BE49-F238E27FC236}">
                <a16:creationId xmlns:a16="http://schemas.microsoft.com/office/drawing/2014/main" id="{9C22B2C6-9E72-47D7-8896-36272EB1F798}"/>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36F400BC-AA73-4CB6-9DE0-85B74D9FC92F}"/>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pump team records temperature to investigate operation.</a:t>
            </a:r>
          </a:p>
        </p:txBody>
      </p:sp>
      <p:sp>
        <p:nvSpPr>
          <p:cNvPr id="6" name="">
            <a:extLst xmlns:a="http://schemas.openxmlformats.org/drawingml/2006/main">
              <a:ext uri="{FF2B5EF4-FFF2-40B4-BE49-F238E27FC236}">
                <a16:creationId xmlns:a16="http://schemas.microsoft.com/office/drawing/2014/main" id="{45BD9BB2-74B7-46B5-A53F-E4F657901E97}"/>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6ED153B8-5790-41AA-8ED5-4825DA802904}"/>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Mining students can relate this to a dewatering pump; petroleum students to a transfer pump.</a:t>
            </a:r>
          </a:p>
        </p:txBody>
      </p:sp>
      <p:sp>
        <p:nvSpPr>
          <p:cNvPr id="8" name="">
            <a:extLst xmlns:a="http://schemas.openxmlformats.org/drawingml/2006/main">
              <a:ext uri="{FF2B5EF4-FFF2-40B4-BE49-F238E27FC236}">
                <a16:creationId xmlns:a16="http://schemas.microsoft.com/office/drawing/2014/main" id="{6A6167E5-992F-4CC7-B1A1-177BC69E46B0}"/>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3E83C334-27E3-4492-A177-A1F5DF1D9CC4}"/>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These are teaching examples, not operating limits.</a:t>
            </a:r>
          </a:p>
        </p:txBody>
      </p:sp>
      <p:sp>
        <p:nvSpPr>
          <p:cNvPr id="10" name="">
            <a:extLst xmlns:a="http://schemas.openxmlformats.org/drawingml/2006/main">
              <a:ext uri="{FF2B5EF4-FFF2-40B4-BE49-F238E27FC236}">
                <a16:creationId xmlns:a16="http://schemas.microsoft.com/office/drawing/2014/main" id="{5B9C8F73-D678-4C92-AB3B-F13F3A4316F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4   4</a:t>
            </a:r>
          </a:p>
        </p:txBody>
      </p:sp>
    </p:spTree>
    <p:extLst>
      <p:ext uri="{BB962C8B-B14F-4D97-AF65-F5344CB8AC3E}">
        <p14:creationId xmlns:p14="http://schemas.microsoft.com/office/powerpoint/2010/main" val="745188789"/>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DFF22105-106D-44AC-BC31-5A1DE00E64E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70E4E96F-3E85-474E-BF13-53D1FC67926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47D39AD2-BA95-4915-9898-6B21C168237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List and index</a:t>
            </a:r>
          </a:p>
        </p:txBody>
      </p:sp>
      <p:sp>
        <p:nvSpPr>
          <p:cNvPr id="4" name="">
            <a:extLst xmlns:a="http://schemas.openxmlformats.org/drawingml/2006/main">
              <a:ext uri="{FF2B5EF4-FFF2-40B4-BE49-F238E27FC236}">
                <a16:creationId xmlns:a16="http://schemas.microsoft.com/office/drawing/2014/main" id="{69F0A10E-46B5-4038-AFB8-878E4B961C58}"/>
              </a:ext>
            </a:extLst>
          </p:cNvPr>
          <p:cNvSpPr>
            <a:spLocks xmlns:a="http://schemas.openxmlformats.org/drawingml/2006/main" noGrp="1"/>
          </p:cNvSpPr>
          <p:nvPr/>
        </p:nvSpPr>
        <p:spPr>
          <a:xfrm xmlns:a="http://schemas.openxmlformats.org/drawingml/2006/main">
            <a:off x="590550" y="1714500"/>
            <a:ext cx="110109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32CF6C47-84ED-45D9-A055-1DCA266E4630}"/>
              </a:ext>
            </a:extLst>
          </p:cNvPr>
          <p:cNvSpPr>
            <a:spLocks xmlns:a="http://schemas.openxmlformats.org/drawingml/2006/main" noGrp="1"/>
          </p:cNvSpPr>
          <p:nvPr/>
        </p:nvSpPr>
        <p:spPr>
          <a:xfrm xmlns:a="http://schemas.openxmlformats.org/drawingml/2006/main">
            <a:off x="828675" y="1952625"/>
            <a:ext cx="104394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E4572E"/>
                </a:solidFill>
                <a:latin typeface="Calibri"/>
                <a:ea typeface="Calibri"/>
                <a:cs typeface="Calibri"/>
              </a:defRPr>
            </a:pPr>
            <a:r>
              <a:rPr sz="3150" b="1">
                <a:solidFill>
                  <a:srgbClr val="E4572E"/>
                </a:solidFill>
                <a:latin typeface="Calibri"/>
                <a:ea typeface="Calibri"/>
                <a:cs typeface="Calibri"/>
              </a:rPr>
              <a:t>List and index</a:t>
            </a:r>
          </a:p>
        </p:txBody>
      </p:sp>
      <p:sp>
        <p:nvSpPr>
          <p:cNvPr id="6" name="">
            <a:extLst xmlns:a="http://schemas.openxmlformats.org/drawingml/2006/main">
              <a:ext uri="{FF2B5EF4-FFF2-40B4-BE49-F238E27FC236}">
                <a16:creationId xmlns:a16="http://schemas.microsoft.com/office/drawing/2014/main" id="{64257D50-F05F-4552-AC14-ACA2D0322B4E}"/>
              </a:ext>
            </a:extLst>
          </p:cNvPr>
          <p:cNvSpPr>
            <a:spLocks xmlns:a="http://schemas.openxmlformats.org/drawingml/2006/main" noGrp="1"/>
          </p:cNvSpPr>
          <p:nvPr/>
        </p:nvSpPr>
        <p:spPr>
          <a:xfrm xmlns:a="http://schemas.openxmlformats.org/drawingml/2006/main">
            <a:off x="828675" y="3067050"/>
            <a:ext cx="10439400"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0">
                <a:solidFill>
                  <a:srgbClr val="1C3144"/>
                </a:solidFill>
                <a:latin typeface="Calibri"/>
                <a:ea typeface="Calibri"/>
                <a:cs typeface="Calibri"/>
              </a:defRPr>
            </a:pPr>
            <a:r>
              <a:rPr sz="2550" b="0">
                <a:solidFill>
                  <a:srgbClr val="1C3144"/>
                </a:solidFill>
                <a:latin typeface="Calibri"/>
                <a:ea typeface="Calibri"/>
                <a:cs typeface="Calibri"/>
              </a:rPr>
              <a:t>A list holds values in order: [2, 4, 6]. Square brackets select a position. readings[0] selects the first item, 2.</a:t>
            </a:r>
          </a:p>
        </p:txBody>
      </p:sp>
      <p:sp>
        <p:nvSpPr>
          <p:cNvPr id="7" name="">
            <a:extLst xmlns:a="http://schemas.openxmlformats.org/drawingml/2006/main">
              <a:ext uri="{FF2B5EF4-FFF2-40B4-BE49-F238E27FC236}">
                <a16:creationId xmlns:a16="http://schemas.microsoft.com/office/drawing/2014/main" id="{A479BD22-C1B1-4E69-931D-C5E6800937E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4   5</a:t>
            </a:r>
          </a:p>
        </p:txBody>
      </p:sp>
    </p:spTree>
    <p:extLst>
      <p:ext uri="{BB962C8B-B14F-4D97-AF65-F5344CB8AC3E}">
        <p14:creationId xmlns:p14="http://schemas.microsoft.com/office/powerpoint/2010/main" val="1778809732"/>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881F8ABB-415A-4B2E-9D74-C0EFEB8CC8A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812C2D3D-1A6D-497F-BCA1-747634D9FE6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C7458B1B-151F-4478-8F3D-4B50125ACCA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list position starts at zero</a:t>
            </a:r>
          </a:p>
        </p:txBody>
      </p:sp>
      <p:sp>
        <p:nvSpPr>
          <p:cNvPr id="4" name="">
            <a:extLst xmlns:a="http://schemas.openxmlformats.org/drawingml/2006/main">
              <a:ext uri="{FF2B5EF4-FFF2-40B4-BE49-F238E27FC236}">
                <a16:creationId xmlns:a16="http://schemas.microsoft.com/office/drawing/2014/main" id="{4FDB87AD-16E4-4EC8-8D8D-195B7343F244}"/>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42C5E1BD-5F51-4E5D-96D1-50FB80FDCE49}"/>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In [2, 4, 6], position 0 holds 2.</a:t>
            </a:r>
          </a:p>
        </p:txBody>
      </p:sp>
      <p:sp>
        <p:nvSpPr>
          <p:cNvPr id="6" name="">
            <a:extLst xmlns:a="http://schemas.openxmlformats.org/drawingml/2006/main">
              <a:ext uri="{FF2B5EF4-FFF2-40B4-BE49-F238E27FC236}">
                <a16:creationId xmlns:a16="http://schemas.microsoft.com/office/drawing/2014/main" id="{05A47E82-C1CD-400F-AAA5-4229D1AE1F13}"/>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7C364859-5FEC-4561-9D21-6C9F4E99A646}"/>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Position 1 holds 4. Position 2 holds 6.</a:t>
            </a:r>
          </a:p>
        </p:txBody>
      </p:sp>
      <p:sp>
        <p:nvSpPr>
          <p:cNvPr id="8" name="">
            <a:extLst xmlns:a="http://schemas.openxmlformats.org/drawingml/2006/main">
              <a:ext uri="{FF2B5EF4-FFF2-40B4-BE49-F238E27FC236}">
                <a16:creationId xmlns:a16="http://schemas.microsoft.com/office/drawing/2014/main" id="{BE4EF2B4-683A-4464-B535-EAF10B5516D8}"/>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71F09C46-D73F-4A5B-8E2F-81DC27D36C7D}"/>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There is no position 3 in this three-item list.</a:t>
            </a:r>
          </a:p>
        </p:txBody>
      </p:sp>
      <p:sp>
        <p:nvSpPr>
          <p:cNvPr id="10" name="">
            <a:extLst xmlns:a="http://schemas.openxmlformats.org/drawingml/2006/main">
              <a:ext uri="{FF2B5EF4-FFF2-40B4-BE49-F238E27FC236}">
                <a16:creationId xmlns:a16="http://schemas.microsoft.com/office/drawing/2014/main" id="{19D269DB-0D2F-40F2-AD78-26CBC1CFDEC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4   6</a:t>
            </a:r>
          </a:p>
        </p:txBody>
      </p:sp>
    </p:spTree>
    <p:extLst>
      <p:ext uri="{BB962C8B-B14F-4D97-AF65-F5344CB8AC3E}">
        <p14:creationId xmlns:p14="http://schemas.microsoft.com/office/powerpoint/2010/main" val="706687192"/>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0EB5999F-553F-414F-949C-3D5F0E4097E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52520F84-C0D0-4E04-8F3A-769170CCB88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22B7DBF4-F8D1-44C6-995F-32171BDF82B2}"/>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Read list operations</a:t>
            </a:r>
          </a:p>
        </p:txBody>
      </p:sp>
      <p:sp>
        <p:nvSpPr>
          <p:cNvPr id="4" name="">
            <a:extLst xmlns:a="http://schemas.openxmlformats.org/drawingml/2006/main">
              <a:ext uri="{FF2B5EF4-FFF2-40B4-BE49-F238E27FC236}">
                <a16:creationId xmlns:a16="http://schemas.microsoft.com/office/drawing/2014/main" id="{974303CE-EBB4-4827-B2B0-94448F423507}"/>
              </a:ext>
            </a:extLst>
          </p:cNvPr>
          <p:cNvSpPr>
            <a:spLocks xmlns:a="http://schemas.openxmlformats.org/drawingml/2006/main" noGrp="1"/>
          </p:cNvSpPr>
          <p:nvPr/>
        </p:nvSpPr>
        <p:spPr>
          <a:xfrm xmlns:a="http://schemas.openxmlformats.org/drawingml/2006/main">
            <a:off x="590550" y="1714500"/>
            <a:ext cx="53340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53CD2763-96DD-45B6-ABBD-4698EA4865E2}"/>
              </a:ext>
            </a:extLst>
          </p:cNvPr>
          <p:cNvSpPr>
            <a:spLocks xmlns:a="http://schemas.openxmlformats.org/drawingml/2006/main" noGrp="1"/>
          </p:cNvSpPr>
          <p:nvPr/>
        </p:nvSpPr>
        <p:spPr>
          <a:xfrm xmlns:a="http://schemas.openxmlformats.org/drawingml/2006/main">
            <a:off x="82867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E4572E"/>
                </a:solidFill>
                <a:latin typeface="Calibri"/>
                <a:ea typeface="Calibri"/>
                <a:cs typeface="Calibri"/>
              </a:defRPr>
            </a:pPr>
            <a:r>
              <a:rPr sz="2625" b="1">
                <a:solidFill>
                  <a:srgbClr val="E4572E"/>
                </a:solidFill>
                <a:latin typeface="Calibri"/>
                <a:ea typeface="Calibri"/>
                <a:cs typeface="Calibri"/>
              </a:rPr>
              <a:t>append and len</a:t>
            </a:r>
          </a:p>
        </p:txBody>
      </p:sp>
      <p:sp>
        <p:nvSpPr>
          <p:cNvPr id="6" name="">
            <a:extLst xmlns:a="http://schemas.openxmlformats.org/drawingml/2006/main">
              <a:ext uri="{FF2B5EF4-FFF2-40B4-BE49-F238E27FC236}">
                <a16:creationId xmlns:a16="http://schemas.microsoft.com/office/drawing/2014/main" id="{426C39F1-B818-4A38-B5ED-E024635ACF1A}"/>
              </a:ext>
            </a:extLst>
          </p:cNvPr>
          <p:cNvSpPr>
            <a:spLocks xmlns:a="http://schemas.openxmlformats.org/drawingml/2006/main" noGrp="1"/>
          </p:cNvSpPr>
          <p:nvPr/>
        </p:nvSpPr>
        <p:spPr>
          <a:xfrm xmlns:a="http://schemas.openxmlformats.org/drawingml/2006/main">
            <a:off x="82867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readings.append(8) adds 8 to the end of the list. len(readings) counts its items. The dot selects an operation belonging to that object; parentheses call it.</a:t>
            </a:r>
          </a:p>
        </p:txBody>
      </p:sp>
      <p:sp>
        <p:nvSpPr>
          <p:cNvPr id="7" name="">
            <a:extLst xmlns:a="http://schemas.openxmlformats.org/drawingml/2006/main">
              <a:ext uri="{FF2B5EF4-FFF2-40B4-BE49-F238E27FC236}">
                <a16:creationId xmlns:a16="http://schemas.microsoft.com/office/drawing/2014/main" id="{FA8B64D2-DFFD-4399-85DE-26F831F91CD0}"/>
              </a:ext>
            </a:extLst>
          </p:cNvPr>
          <p:cNvSpPr>
            <a:spLocks xmlns:a="http://schemas.openxmlformats.org/drawingml/2006/main" noGrp="1"/>
          </p:cNvSpPr>
          <p:nvPr/>
        </p:nvSpPr>
        <p:spPr>
          <a:xfrm xmlns:a="http://schemas.openxmlformats.org/drawingml/2006/main">
            <a:off x="6210300" y="1714500"/>
            <a:ext cx="5334000" cy="419100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9ACD28FB-5893-4617-904F-06D6425B9206}"/>
              </a:ext>
            </a:extLst>
          </p:cNvPr>
          <p:cNvSpPr>
            <a:spLocks xmlns:a="http://schemas.openxmlformats.org/drawingml/2006/main" noGrp="1"/>
          </p:cNvSpPr>
          <p:nvPr/>
        </p:nvSpPr>
        <p:spPr>
          <a:xfrm xmlns:a="http://schemas.openxmlformats.org/drawingml/2006/main">
            <a:off x="644842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2E7D6F"/>
                </a:solidFill>
                <a:latin typeface="Calibri"/>
                <a:ea typeface="Calibri"/>
                <a:cs typeface="Calibri"/>
              </a:defRPr>
            </a:pPr>
            <a:r>
              <a:rPr sz="2625" b="1">
                <a:solidFill>
                  <a:srgbClr val="2E7D6F"/>
                </a:solidFill>
                <a:latin typeface="Calibri"/>
                <a:ea typeface="Calibri"/>
                <a:cs typeface="Calibri"/>
              </a:rPr>
              <a:t>Slice</a:t>
            </a:r>
          </a:p>
        </p:txBody>
      </p:sp>
      <p:sp>
        <p:nvSpPr>
          <p:cNvPr id="9" name="">
            <a:extLst xmlns:a="http://schemas.openxmlformats.org/drawingml/2006/main">
              <a:ext uri="{FF2B5EF4-FFF2-40B4-BE49-F238E27FC236}">
                <a16:creationId xmlns:a16="http://schemas.microsoft.com/office/drawing/2014/main" id="{1FCC057B-256A-4081-9010-D7C8C8C15BA7}"/>
              </a:ext>
            </a:extLst>
          </p:cNvPr>
          <p:cNvSpPr>
            <a:spLocks xmlns:a="http://schemas.openxmlformats.org/drawingml/2006/main" noGrp="1"/>
          </p:cNvSpPr>
          <p:nvPr/>
        </p:nvSpPr>
        <p:spPr>
          <a:xfrm xmlns:a="http://schemas.openxmlformats.org/drawingml/2006/main">
            <a:off x="644842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readings[1:3] selects positions 1 and 2. The stop position 3 is excluded. A slice produces a new list; it does not remove items from the original.</a:t>
            </a:r>
          </a:p>
        </p:txBody>
      </p:sp>
      <p:sp>
        <p:nvSpPr>
          <p:cNvPr id="10" name="">
            <a:extLst xmlns:a="http://schemas.openxmlformats.org/drawingml/2006/main">
              <a:ext uri="{FF2B5EF4-FFF2-40B4-BE49-F238E27FC236}">
                <a16:creationId xmlns:a16="http://schemas.microsoft.com/office/drawing/2014/main" id="{36BBD6F6-DF5B-4C0C-A456-2A1CB11FC02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4   7</a:t>
            </a:r>
          </a:p>
        </p:txBody>
      </p:sp>
    </p:spTree>
    <p:extLst>
      <p:ext uri="{BB962C8B-B14F-4D97-AF65-F5344CB8AC3E}">
        <p14:creationId xmlns:p14="http://schemas.microsoft.com/office/powerpoint/2010/main" val="1114622980"/>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76E33D6C-5D95-431B-BB16-E73DD43A8F5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F94BA4DB-466D-42A7-888F-96F577876E7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4864EF3D-093F-4C3A-BB0D-BD88A537098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list stores items in order</a:t>
            </a:r>
          </a:p>
        </p:txBody>
      </p:sp>
      <p:sp>
        <p:nvSpPr>
          <p:cNvPr id="4" name="">
            <a:extLst xmlns:a="http://schemas.openxmlformats.org/drawingml/2006/main">
              <a:ext uri="{FF2B5EF4-FFF2-40B4-BE49-F238E27FC236}">
                <a16:creationId xmlns:a16="http://schemas.microsoft.com/office/drawing/2014/main" id="{97DE7C3A-B1A3-4010-B58D-8A687DDAC7EC}"/>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35177499-6861-4560-8B24-7B50DAFA6FF2}"/>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readings = [2, 4, 6]</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print(readings[0])</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readings.append(8)</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print(len(readings))</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print(readings[1:3])</a:t>
            </a:r>
          </a:p>
        </p:txBody>
      </p:sp>
      <p:sp>
        <p:nvSpPr>
          <p:cNvPr id="6" name="">
            <a:extLst xmlns:a="http://schemas.openxmlformats.org/drawingml/2006/main">
              <a:ext uri="{FF2B5EF4-FFF2-40B4-BE49-F238E27FC236}">
                <a16:creationId xmlns:a16="http://schemas.microsoft.com/office/drawing/2014/main" id="{B5F3516C-87F0-402F-B3BC-64B8EC334E58}"/>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5CF7E541-A749-4E8F-B621-2D7FE74F0EA3}"/>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print displays a value below the cell.</a:t>
            </a:r>
          </a:p>
        </p:txBody>
      </p:sp>
      <p:sp>
        <p:nvSpPr>
          <p:cNvPr id="8" name="">
            <a:extLst xmlns:a="http://schemas.openxmlformats.org/drawingml/2006/main">
              <a:ext uri="{FF2B5EF4-FFF2-40B4-BE49-F238E27FC236}">
                <a16:creationId xmlns:a16="http://schemas.microsoft.com/office/drawing/2014/main" id="{21A10334-B50E-4B8C-A62F-A489C36310E4}"/>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append adds one item to the end of a list.</a:t>
            </a:r>
          </a:p>
        </p:txBody>
      </p:sp>
      <p:sp>
        <p:nvSpPr>
          <p:cNvPr id="9" name="">
            <a:extLst xmlns:a="http://schemas.openxmlformats.org/drawingml/2006/main">
              <a:ext uri="{FF2B5EF4-FFF2-40B4-BE49-F238E27FC236}">
                <a16:creationId xmlns:a16="http://schemas.microsoft.com/office/drawing/2014/main" id="{160F4E06-E6CC-4355-AAE0-A0B47A713131}"/>
              </a:ext>
            </a:extLst>
          </p:cNvPr>
          <p:cNvSpPr>
            <a:spLocks xmlns:a="http://schemas.openxmlformats.org/drawingml/2006/main" noGrp="1"/>
          </p:cNvSpPr>
          <p:nvPr/>
        </p:nvSpPr>
        <p:spPr>
          <a:xfrm xmlns:a="http://schemas.openxmlformats.org/drawingml/2006/main">
            <a:off x="8096250" y="43434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Square brackets create a list or select an item.</a:t>
            </a:r>
          </a:p>
        </p:txBody>
      </p:sp>
      <p:sp>
        <p:nvSpPr>
          <p:cNvPr id="10" name="">
            <a:extLst xmlns:a="http://schemas.openxmlformats.org/drawingml/2006/main">
              <a:ext uri="{FF2B5EF4-FFF2-40B4-BE49-F238E27FC236}">
                <a16:creationId xmlns:a16="http://schemas.microsoft.com/office/drawing/2014/main" id="{37456C36-A942-4770-8F8C-7180F2FCAEBA}"/>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 builds a list. Positions start at zero. The slice stops before position 3.</a:t>
            </a:r>
          </a:p>
        </p:txBody>
      </p:sp>
      <p:sp>
        <p:nvSpPr>
          <p:cNvPr id="11" name="">
            <a:extLst xmlns:a="http://schemas.openxmlformats.org/drawingml/2006/main">
              <a:ext uri="{FF2B5EF4-FFF2-40B4-BE49-F238E27FC236}">
                <a16:creationId xmlns:a16="http://schemas.microsoft.com/office/drawing/2014/main" id="{45BD2CC2-CE26-478A-81F0-CC464674F23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4   8</a:t>
            </a:r>
          </a:p>
        </p:txBody>
      </p:sp>
    </p:spTree>
    <p:extLst>
      <p:ext uri="{BB962C8B-B14F-4D97-AF65-F5344CB8AC3E}">
        <p14:creationId xmlns:p14="http://schemas.microsoft.com/office/powerpoint/2010/main" val="14421713"/>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E488CBB2-FF08-4418-ACFA-34CFD01C27FB}"/>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C8EA59DB-6CC3-4E20-8998-38763FB6717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843ED380-DC9E-4CFD-BAE5-D807E53E2B5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Loop and iteration</a:t>
            </a:r>
          </a:p>
        </p:txBody>
      </p:sp>
      <p:sp>
        <p:nvSpPr>
          <p:cNvPr id="4" name="">
            <a:extLst xmlns:a="http://schemas.openxmlformats.org/drawingml/2006/main">
              <a:ext uri="{FF2B5EF4-FFF2-40B4-BE49-F238E27FC236}">
                <a16:creationId xmlns:a16="http://schemas.microsoft.com/office/drawing/2014/main" id="{59361B8D-4AD8-4248-8DB0-552B70D022A2}"/>
              </a:ext>
            </a:extLst>
          </p:cNvPr>
          <p:cNvSpPr>
            <a:spLocks xmlns:a="http://schemas.openxmlformats.org/drawingml/2006/main" noGrp="1"/>
          </p:cNvSpPr>
          <p:nvPr/>
        </p:nvSpPr>
        <p:spPr>
          <a:xfrm xmlns:a="http://schemas.openxmlformats.org/drawingml/2006/main">
            <a:off x="590550" y="1714500"/>
            <a:ext cx="110109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635A228C-1DF0-4972-A216-7DAA0ACC1C6A}"/>
              </a:ext>
            </a:extLst>
          </p:cNvPr>
          <p:cNvSpPr>
            <a:spLocks xmlns:a="http://schemas.openxmlformats.org/drawingml/2006/main" noGrp="1"/>
          </p:cNvSpPr>
          <p:nvPr/>
        </p:nvSpPr>
        <p:spPr>
          <a:xfrm xmlns:a="http://schemas.openxmlformats.org/drawingml/2006/main">
            <a:off x="828675" y="1952625"/>
            <a:ext cx="104394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E4572E"/>
                </a:solidFill>
                <a:latin typeface="Calibri"/>
                <a:ea typeface="Calibri"/>
                <a:cs typeface="Calibri"/>
              </a:defRPr>
            </a:pPr>
            <a:r>
              <a:rPr sz="3150" b="1">
                <a:solidFill>
                  <a:srgbClr val="E4572E"/>
                </a:solidFill>
                <a:latin typeface="Calibri"/>
                <a:ea typeface="Calibri"/>
                <a:cs typeface="Calibri"/>
              </a:rPr>
              <a:t>Loop and iteration</a:t>
            </a:r>
          </a:p>
        </p:txBody>
      </p:sp>
      <p:sp>
        <p:nvSpPr>
          <p:cNvPr id="6" name="">
            <a:extLst xmlns:a="http://schemas.openxmlformats.org/drawingml/2006/main">
              <a:ext uri="{FF2B5EF4-FFF2-40B4-BE49-F238E27FC236}">
                <a16:creationId xmlns:a16="http://schemas.microsoft.com/office/drawing/2014/main" id="{012BEDC2-E7F6-4CDD-B0CA-46C6BFE595E9}"/>
              </a:ext>
            </a:extLst>
          </p:cNvPr>
          <p:cNvSpPr>
            <a:spLocks xmlns:a="http://schemas.openxmlformats.org/drawingml/2006/main" noGrp="1"/>
          </p:cNvSpPr>
          <p:nvPr/>
        </p:nvSpPr>
        <p:spPr>
          <a:xfrm xmlns:a="http://schemas.openxmlformats.org/drawingml/2006/main">
            <a:off x="828675" y="3067050"/>
            <a:ext cx="10439400"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0">
                <a:solidFill>
                  <a:srgbClr val="1C3144"/>
                </a:solidFill>
                <a:latin typeface="Calibri"/>
                <a:ea typeface="Calibri"/>
                <a:cs typeface="Calibri"/>
              </a:defRPr>
            </a:pPr>
            <a:r>
              <a:rPr sz="2550" b="0">
                <a:solidFill>
                  <a:srgbClr val="1C3144"/>
                </a:solidFill>
                <a:latin typeface="Calibri"/>
                <a:ea typeface="Calibri"/>
                <a:cs typeface="Calibri"/>
              </a:rPr>
              <a:t>A for loop runs its indented body once per item. Each pass is one iteration.</a:t>
            </a:r>
          </a:p>
        </p:txBody>
      </p:sp>
      <p:sp>
        <p:nvSpPr>
          <p:cNvPr id="7" name="">
            <a:extLst xmlns:a="http://schemas.openxmlformats.org/drawingml/2006/main">
              <a:ext uri="{FF2B5EF4-FFF2-40B4-BE49-F238E27FC236}">
                <a16:creationId xmlns:a16="http://schemas.microsoft.com/office/drawing/2014/main" id="{247A8823-FF28-465C-AE5E-D753D3AA387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4   9</a:t>
            </a:r>
          </a:p>
        </p:txBody>
      </p:sp>
    </p:spTree>
    <p:extLst>
      <p:ext uri="{BB962C8B-B14F-4D97-AF65-F5344CB8AC3E}">
        <p14:creationId xmlns:p14="http://schemas.microsoft.com/office/powerpoint/2010/main" val="1519419439"/>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1E99472F-4BD6-4912-828F-8F261A0AC78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24C74054-1F71-4FE3-B2BF-CB56B4D13DC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92F35A6E-632A-45C2-80CB-E1EE4D29F782}"/>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Accumulator</a:t>
            </a:r>
          </a:p>
        </p:txBody>
      </p:sp>
      <p:sp>
        <p:nvSpPr>
          <p:cNvPr id="4" name="">
            <a:extLst xmlns:a="http://schemas.openxmlformats.org/drawingml/2006/main">
              <a:ext uri="{FF2B5EF4-FFF2-40B4-BE49-F238E27FC236}">
                <a16:creationId xmlns:a16="http://schemas.microsoft.com/office/drawing/2014/main" id="{5212EA15-7FF0-4D3D-BE9D-C461A61EEBE6}"/>
              </a:ext>
            </a:extLst>
          </p:cNvPr>
          <p:cNvSpPr>
            <a:spLocks xmlns:a="http://schemas.openxmlformats.org/drawingml/2006/main" noGrp="1"/>
          </p:cNvSpPr>
          <p:nvPr/>
        </p:nvSpPr>
        <p:spPr>
          <a:xfrm xmlns:a="http://schemas.openxmlformats.org/drawingml/2006/main">
            <a:off x="590550" y="1714500"/>
            <a:ext cx="110109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635CF965-A4C0-4346-A336-12E1EB6931F1}"/>
              </a:ext>
            </a:extLst>
          </p:cNvPr>
          <p:cNvSpPr>
            <a:spLocks xmlns:a="http://schemas.openxmlformats.org/drawingml/2006/main" noGrp="1"/>
          </p:cNvSpPr>
          <p:nvPr/>
        </p:nvSpPr>
        <p:spPr>
          <a:xfrm xmlns:a="http://schemas.openxmlformats.org/drawingml/2006/main">
            <a:off x="828675" y="1952625"/>
            <a:ext cx="104394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E4572E"/>
                </a:solidFill>
                <a:latin typeface="Calibri"/>
                <a:ea typeface="Calibri"/>
                <a:cs typeface="Calibri"/>
              </a:defRPr>
            </a:pPr>
            <a:r>
              <a:rPr sz="3150" b="1">
                <a:solidFill>
                  <a:srgbClr val="E4572E"/>
                </a:solidFill>
                <a:latin typeface="Calibri"/>
                <a:ea typeface="Calibri"/>
                <a:cs typeface="Calibri"/>
              </a:rPr>
              <a:t>Accumulator</a:t>
            </a:r>
          </a:p>
        </p:txBody>
      </p:sp>
      <p:sp>
        <p:nvSpPr>
          <p:cNvPr id="6" name="">
            <a:extLst xmlns:a="http://schemas.openxmlformats.org/drawingml/2006/main">
              <a:ext uri="{FF2B5EF4-FFF2-40B4-BE49-F238E27FC236}">
                <a16:creationId xmlns:a16="http://schemas.microsoft.com/office/drawing/2014/main" id="{3F41BB96-E3B2-44FA-A0B8-A876A59568D0}"/>
              </a:ext>
            </a:extLst>
          </p:cNvPr>
          <p:cNvSpPr>
            <a:spLocks xmlns:a="http://schemas.openxmlformats.org/drawingml/2006/main" noGrp="1"/>
          </p:cNvSpPr>
          <p:nvPr/>
        </p:nvSpPr>
        <p:spPr>
          <a:xfrm xmlns:a="http://schemas.openxmlformats.org/drawingml/2006/main">
            <a:off x="828675" y="3067050"/>
            <a:ext cx="10439400"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0">
                <a:solidFill>
                  <a:srgbClr val="1C3144"/>
                </a:solidFill>
                <a:latin typeface="Calibri"/>
                <a:ea typeface="Calibri"/>
                <a:cs typeface="Calibri"/>
              </a:defRPr>
            </a:pPr>
            <a:r>
              <a:rPr sz="2550" b="0">
                <a:solidFill>
                  <a:srgbClr val="1C3144"/>
                </a:solidFill>
                <a:latin typeface="Calibri"/>
                <a:ea typeface="Calibri"/>
                <a:cs typeface="Calibri"/>
              </a:rPr>
              <a:t>A running total. Set it to zero before the loop, add inside the loop, and read the final total afterward.</a:t>
            </a:r>
          </a:p>
        </p:txBody>
      </p:sp>
      <p:sp>
        <p:nvSpPr>
          <p:cNvPr id="7" name="">
            <a:extLst xmlns:a="http://schemas.openxmlformats.org/drawingml/2006/main">
              <a:ext uri="{FF2B5EF4-FFF2-40B4-BE49-F238E27FC236}">
                <a16:creationId xmlns:a16="http://schemas.microsoft.com/office/drawing/2014/main" id="{A74AD560-2057-44C1-B8A4-2534166352D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4   10</a:t>
            </a:r>
          </a:p>
        </p:txBody>
      </p:sp>
    </p:spTree>
    <p:extLst>
      <p:ext uri="{BB962C8B-B14F-4D97-AF65-F5344CB8AC3E}">
        <p14:creationId xmlns:p14="http://schemas.microsoft.com/office/powerpoint/2010/main" val="1075962420"/>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58256F34-46A9-4401-8CDE-51D75B55577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7B79AD04-B8DE-4257-ACFB-6E41EE33FF0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68027E9C-EBF8-46DC-A4AD-0A6E0CBB521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loop repeats an indented block</a:t>
            </a:r>
          </a:p>
        </p:txBody>
      </p:sp>
      <p:sp>
        <p:nvSpPr>
          <p:cNvPr id="4" name="">
            <a:extLst xmlns:a="http://schemas.openxmlformats.org/drawingml/2006/main">
              <a:ext uri="{FF2B5EF4-FFF2-40B4-BE49-F238E27FC236}">
                <a16:creationId xmlns:a16="http://schemas.microsoft.com/office/drawing/2014/main" id="{0FA45C5D-07D5-4AE2-AF4A-17577E740510}"/>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EF2252C9-692C-4837-8773-7A6F7A222F26}"/>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for reading in readings: takes one item at a time.</a:t>
            </a:r>
          </a:p>
        </p:txBody>
      </p:sp>
      <p:sp>
        <p:nvSpPr>
          <p:cNvPr id="6" name="">
            <a:extLst xmlns:a="http://schemas.openxmlformats.org/drawingml/2006/main">
              <a:ext uri="{FF2B5EF4-FFF2-40B4-BE49-F238E27FC236}">
                <a16:creationId xmlns:a16="http://schemas.microsoft.com/office/drawing/2014/main" id="{D36307A5-690A-4517-8427-B9EB1B4404DD}"/>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1C9A5CFA-91C9-4B97-AA8A-F26C179A012B}"/>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colon starts the block. Four spaces show which lines repeat.</a:t>
            </a:r>
          </a:p>
        </p:txBody>
      </p:sp>
      <p:sp>
        <p:nvSpPr>
          <p:cNvPr id="8" name="">
            <a:extLst xmlns:a="http://schemas.openxmlformats.org/drawingml/2006/main">
              <a:ext uri="{FF2B5EF4-FFF2-40B4-BE49-F238E27FC236}">
                <a16:creationId xmlns:a16="http://schemas.microsoft.com/office/drawing/2014/main" id="{24DA1DEA-60D4-41FA-9B54-FD77A0A8D841}"/>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461C9094-C77F-4437-BD0D-0D45BA64E391}"/>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running total must start at zero before the loop.</a:t>
            </a:r>
          </a:p>
        </p:txBody>
      </p:sp>
      <p:sp>
        <p:nvSpPr>
          <p:cNvPr id="10" name="">
            <a:extLst xmlns:a="http://schemas.openxmlformats.org/drawingml/2006/main">
              <a:ext uri="{FF2B5EF4-FFF2-40B4-BE49-F238E27FC236}">
                <a16:creationId xmlns:a16="http://schemas.microsoft.com/office/drawing/2014/main" id="{A3236FA9-FC79-493F-8AFD-04F2FACAE8C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4   11</a:t>
            </a:r>
          </a:p>
        </p:txBody>
      </p:sp>
    </p:spTree>
    <p:extLst>
      <p:ext uri="{BB962C8B-B14F-4D97-AF65-F5344CB8AC3E}">
        <p14:creationId xmlns:p14="http://schemas.microsoft.com/office/powerpoint/2010/main" val="924590682"/>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43D678C3-A789-47D1-9933-4BFAE14B3C5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126C5FD2-8A9E-469B-AEC1-B478D116FA47}"/>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1FC38153-A086-446E-B3AC-D5930003098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mean uses a total and a count</a:t>
            </a:r>
          </a:p>
        </p:txBody>
      </p:sp>
      <p:sp>
        <p:nvSpPr>
          <p:cNvPr id="4" name="">
            <a:extLst xmlns:a="http://schemas.openxmlformats.org/drawingml/2006/main">
              <a:ext uri="{FF2B5EF4-FFF2-40B4-BE49-F238E27FC236}">
                <a16:creationId xmlns:a16="http://schemas.microsoft.com/office/drawing/2014/main" id="{26097F3F-BAFA-4D2B-95B5-B9227779294E}"/>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4F994094-4D4B-4718-A29A-9B0EAB22DE43}"/>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Start the total at 0. Add 2, then 4, then 6.</a:t>
            </a:r>
          </a:p>
        </p:txBody>
      </p:sp>
      <p:sp>
        <p:nvSpPr>
          <p:cNvPr id="6" name="">
            <a:extLst xmlns:a="http://schemas.openxmlformats.org/drawingml/2006/main">
              <a:ext uri="{FF2B5EF4-FFF2-40B4-BE49-F238E27FC236}">
                <a16:creationId xmlns:a16="http://schemas.microsoft.com/office/drawing/2014/main" id="{11625523-BA73-451E-A042-AA3B097E798D}"/>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14BAF8AB-F9EB-4B7F-8D3C-424FFC8F4A3B}"/>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final total is 12. The count is 3.</a:t>
            </a:r>
          </a:p>
        </p:txBody>
      </p:sp>
      <p:sp>
        <p:nvSpPr>
          <p:cNvPr id="8" name="">
            <a:extLst xmlns:a="http://schemas.openxmlformats.org/drawingml/2006/main">
              <a:ext uri="{FF2B5EF4-FFF2-40B4-BE49-F238E27FC236}">
                <a16:creationId xmlns:a16="http://schemas.microsoft.com/office/drawing/2014/main" id="{ED39F70A-0E00-4BB1-9DA7-C794BA3C9E07}"/>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688CDFD0-B17E-4A97-8BB8-6BF1EDB5D6C3}"/>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12 / 3 gives the mean 4. An empty list needs a separate rule.</a:t>
            </a:r>
          </a:p>
        </p:txBody>
      </p:sp>
      <p:sp>
        <p:nvSpPr>
          <p:cNvPr id="10" name="">
            <a:extLst xmlns:a="http://schemas.openxmlformats.org/drawingml/2006/main">
              <a:ext uri="{FF2B5EF4-FFF2-40B4-BE49-F238E27FC236}">
                <a16:creationId xmlns:a16="http://schemas.microsoft.com/office/drawing/2014/main" id="{40038AB2-6BDF-4FC7-958F-F598FB32DFE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4   12</a:t>
            </a:r>
          </a:p>
        </p:txBody>
      </p:sp>
    </p:spTree>
    <p:extLst>
      <p:ext uri="{BB962C8B-B14F-4D97-AF65-F5344CB8AC3E}">
        <p14:creationId xmlns:p14="http://schemas.microsoft.com/office/powerpoint/2010/main" val="722520508"/>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339B2B08-22E1-4769-AC17-A0377A2AEC13}"/>
              </a:ext>
            </a:extLst>
          </p:cNvPr>
          <p:cNvSpPr>
            <a:spLocks xmlns:a="http://schemas.openxmlformats.org/drawingml/2006/main" noGrp="1"/>
          </p:cNvSpPr>
          <p:nvPr/>
        </p:nvSpPr>
        <p:spPr>
          <a:xfrm xmlns:a="http://schemas.openxmlformats.org/drawingml/2006/main">
            <a:off x="0" y="0"/>
            <a:ext cx="12191695" cy="95250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876E3421-63F7-42FF-AD3E-5999485EC562}"/>
              </a:ext>
            </a:extLst>
          </p:cNvPr>
          <p:cNvSpPr>
            <a:spLocks xmlns:a="http://schemas.openxmlformats.org/drawingml/2006/main" noGrp="1"/>
          </p:cNvSpPr>
          <p:nvPr/>
        </p:nvSpPr>
        <p:spPr>
          <a:xfrm xmlns:a="http://schemas.openxmlformats.org/drawingml/2006/main">
            <a:off x="476250" y="190500"/>
            <a:ext cx="11239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925" b="1">
                <a:solidFill>
                  <a:srgbClr val="FFFFFF"/>
                </a:solidFill>
                <a:latin typeface="Calibri"/>
                <a:ea typeface="Calibri"/>
                <a:cs typeface="Calibri"/>
              </a:defRPr>
            </a:pPr>
            <a:r>
              <a:rPr sz="2925" b="1">
                <a:solidFill>
                  <a:srgbClr val="FFFFFF"/>
                </a:solidFill>
                <a:latin typeface="Calibri"/>
                <a:ea typeface="Calibri"/>
                <a:cs typeface="Calibri"/>
              </a:rPr>
              <a:t>A loop changes the running total</a:t>
            </a:r>
          </a:p>
        </p:txBody>
      </p:sp>
      <p:pic>
        <p:nvPicPr>
          <p:cNvPr id="9" name=""/>
          <p:cNvPicPr>
            <a:picLocks xmlns:a="http://schemas.openxmlformats.org/drawingml/2006/main" noChangeAspect="1"/>
          </p:cNvPicPr>
          <p:nvPr/>
        </p:nvPicPr>
        <p:blipFill>
          <a:blip xmlns:r="http://schemas.openxmlformats.org/officeDocument/2006/relationships" xmlns:a="http://schemas.openxmlformats.org/drawingml/2006/main" r:embed="Rcccddf75eec64a98"/>
          <a:stretch xmlns:a="http://schemas.openxmlformats.org/drawingml/2006/main"/>
        </p:blipFill>
        <p:spPr>
          <a:xfrm xmlns:a="http://schemas.openxmlformats.org/drawingml/2006/main">
            <a:off x="413728" y="1057275"/>
            <a:ext cx="11364544" cy="4619625"/>
          </a:xfrm>
          <a:prstGeom xmlns:a="http://schemas.openxmlformats.org/drawingml/2006/main" prst="rect">
            <a:avLst/>
          </a:prstGeom>
        </p:spPr>
      </p:pic>
      <p:sp>
        <p:nvSpPr>
          <p:cNvPr id="4" name="">
            <a:extLst xmlns:a="http://schemas.openxmlformats.org/drawingml/2006/main">
              <a:ext uri="{FF2B5EF4-FFF2-40B4-BE49-F238E27FC236}">
                <a16:creationId xmlns:a16="http://schemas.microsoft.com/office/drawing/2014/main" id="{3F55B06B-B5E6-4D2E-81E7-04E5220B3A94}"/>
              </a:ext>
            </a:extLst>
          </p:cNvPr>
          <p:cNvSpPr>
            <a:spLocks xmlns:a="http://schemas.openxmlformats.org/drawingml/2006/main" noGrp="1"/>
          </p:cNvSpPr>
          <p:nvPr/>
        </p:nvSpPr>
        <p:spPr>
          <a:xfrm xmlns:a="http://schemas.openxmlformats.org/drawingml/2006/main">
            <a:off x="0" y="5810250"/>
            <a:ext cx="12191695" cy="5905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3D64A008-D58C-4170-A4C6-66616D429CFD}"/>
              </a:ext>
            </a:extLst>
          </p:cNvPr>
          <p:cNvSpPr>
            <a:spLocks xmlns:a="http://schemas.openxmlformats.org/drawingml/2006/main" noGrp="1"/>
          </p:cNvSpPr>
          <p:nvPr/>
        </p:nvSpPr>
        <p:spPr>
          <a:xfrm xmlns:a="http://schemas.openxmlformats.org/drawingml/2006/main">
            <a:off x="552450" y="5886450"/>
            <a:ext cx="11049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Follow one reading through the code and the trace table.</a:t>
            </a:r>
          </a:p>
        </p:txBody>
      </p:sp>
      <p:sp>
        <p:nvSpPr>
          <p:cNvPr id="6" name="">
            <a:extLst xmlns:a="http://schemas.openxmlformats.org/drawingml/2006/main">
              <a:ext uri="{FF2B5EF4-FFF2-40B4-BE49-F238E27FC236}">
                <a16:creationId xmlns:a16="http://schemas.microsoft.com/office/drawing/2014/main" id="{67657682-82F4-4354-AE92-274313B2046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4   13</a:t>
            </a:r>
          </a:p>
        </p:txBody>
      </p:sp>
    </p:spTree>
    <p:extLst>
      <p:ext uri="{BB962C8B-B14F-4D97-AF65-F5344CB8AC3E}">
        <p14:creationId xmlns:p14="http://schemas.microsoft.com/office/powerpoint/2010/main" val="1884279640"/>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A0F08631-E147-48FA-866B-A909118C6799}"/>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D50EACFA-FE39-4F49-BDB2-91C80529EF0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READ THE EXAMPLE</a:t>
            </a:r>
          </a:p>
        </p:txBody>
      </p:sp>
      <p:sp>
        <p:nvSpPr>
          <p:cNvPr id="3" name="">
            <a:extLst xmlns:a="http://schemas.openxmlformats.org/drawingml/2006/main">
              <a:ext uri="{FF2B5EF4-FFF2-40B4-BE49-F238E27FC236}">
                <a16:creationId xmlns:a16="http://schemas.microsoft.com/office/drawing/2014/main" id="{B7501730-069D-407C-BB3D-8646E82A99F2}"/>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Tracing the loop</a:t>
            </a:r>
          </a:p>
        </p:txBody>
      </p:sp>
      <p:graphicFrame>
        <p:nvGraphicFramePr>
          <p:cNvPr id="10" name=""/>
          <p:cNvGraphicFramePr/>
          <p:nvPr/>
        </p:nvGraphicFramePr>
        <p:xfrm>
          <a:off xmlns:a="http://schemas.openxmlformats.org/drawingml/2006/main" x="590550" y="1733550"/>
          <a:ext xmlns:a="http://schemas.openxmlformats.org/drawingml/2006/main" cx="11010900" cy="3333750"/>
        </p:xfrm>
        <a:graphic xmlns:a="http://schemas.openxmlformats.org/drawingml/2006/main">
          <a:graphicData uri="http://schemas.openxmlformats.org/drawingml/2006/table">
            <a:tbl>
              <a:tblPr/>
              <a:tblGrid>
                <a:gridCol w="3670300"/>
                <a:gridCol w="3670300"/>
                <a:gridCol w="3670300"/>
              </a:tblGrid>
              <a:tr h="666750">
                <a:tc>
                  <a:txBody>
                    <a:bodyPr/>
                    <a:lstStyle/>
                    <a:p>
                      <a:r>
                        <a:rPr sz="2025" b="1">
                          <a:solidFill>
                            <a:srgbClr val="FFFFFF"/>
                          </a:solidFill>
                          <a:latin typeface="Calibri"/>
                          <a:ea typeface="Calibri"/>
                          <a:cs typeface="Calibri"/>
                        </a:rPr>
                        <a:t>Step</a:t>
                      </a:r>
                    </a:p>
                  </a:txBody>
                  <a:tcPr marL="91440" marR="91440" marT="45720" marB="45720">
                    <a:solidFill>
                      <a:srgbClr val="2E7D6F"/>
                    </a:solidFill>
                  </a:tcPr>
                </a:tc>
                <a:tc>
                  <a:txBody>
                    <a:bodyPr/>
                    <a:lstStyle/>
                    <a:p>
                      <a:r>
                        <a:rPr sz="2025" b="1">
                          <a:solidFill>
                            <a:srgbClr val="FFFFFF"/>
                          </a:solidFill>
                          <a:latin typeface="Calibri"/>
                          <a:ea typeface="Calibri"/>
                          <a:cs typeface="Calibri"/>
                        </a:rPr>
                        <a:t>reading</a:t>
                      </a:r>
                    </a:p>
                  </a:txBody>
                  <a:tcPr marL="91440" marR="91440" marT="45720" marB="45720">
                    <a:solidFill>
                      <a:srgbClr val="2E7D6F"/>
                    </a:solidFill>
                  </a:tcPr>
                </a:tc>
                <a:tc>
                  <a:txBody>
                    <a:bodyPr/>
                    <a:lstStyle/>
                    <a:p>
                      <a:r>
                        <a:rPr sz="2025" b="1">
                          <a:solidFill>
                            <a:srgbClr val="FFFFFF"/>
                          </a:solidFill>
                          <a:latin typeface="Calibri"/>
                          <a:ea typeface="Calibri"/>
                          <a:cs typeface="Calibri"/>
                        </a:rPr>
                        <a:t>total after addition</a:t>
                      </a:r>
                    </a:p>
                  </a:txBody>
                  <a:tcPr marL="91440" marR="91440" marT="45720" marB="45720">
                    <a:solidFill>
                      <a:srgbClr val="2E7D6F"/>
                    </a:solidFill>
                  </a:tcPr>
                </a:tc>
              </a:tr>
              <a:tr h="666750">
                <a:tc>
                  <a:txBody>
                    <a:bodyPr/>
                    <a:lstStyle/>
                    <a:p>
                      <a:r>
                        <a:rPr sz="2025" b="0">
                          <a:solidFill>
                            <a:srgbClr val="1C3144"/>
                          </a:solidFill>
                          <a:latin typeface="Calibri"/>
                          <a:ea typeface="Calibri"/>
                          <a:cs typeface="Calibri"/>
                        </a:rPr>
                        <a:t>Before loop</a:t>
                      </a:r>
                    </a:p>
                  </a:txBody>
                  <a:tcPr marL="91440" marR="91440" marT="45720" marB="45720">
                    <a:solidFill>
                      <a:srgbClr val="EEF3F6"/>
                    </a:solidFill>
                  </a:tcPr>
                </a:tc>
                <a:tc>
                  <a:txBody>
                    <a:bodyPr/>
                    <a:lstStyle/>
                    <a:p>
                      <a:r>
                        <a:rPr sz="2025" b="0">
                          <a:solidFill>
                            <a:srgbClr val="1C3144"/>
                          </a:solidFill>
                          <a:latin typeface="Calibri"/>
                          <a:ea typeface="Calibri"/>
                          <a:cs typeface="Calibri"/>
                        </a:rPr>
                        <a:t>—</a:t>
                      </a:r>
                    </a:p>
                  </a:txBody>
                  <a:tcPr marL="91440" marR="91440" marT="45720" marB="45720">
                    <a:solidFill>
                      <a:srgbClr val="EEF3F6"/>
                    </a:solidFill>
                  </a:tcPr>
                </a:tc>
                <a:tc>
                  <a:txBody>
                    <a:bodyPr/>
                    <a:lstStyle/>
                    <a:p>
                      <a:r>
                        <a:rPr sz="2025" b="0">
                          <a:solidFill>
                            <a:srgbClr val="1C3144"/>
                          </a:solidFill>
                          <a:latin typeface="Calibri"/>
                          <a:ea typeface="Calibri"/>
                          <a:cs typeface="Calibri"/>
                        </a:rPr>
                        <a:t>0</a:t>
                      </a:r>
                    </a:p>
                  </a:txBody>
                  <a:tcPr marL="91440" marR="91440" marT="45720" marB="45720">
                    <a:solidFill>
                      <a:srgbClr val="EEF3F6"/>
                    </a:solidFill>
                  </a:tcPr>
                </a:tc>
              </a:tr>
              <a:tr h="666750">
                <a:tc>
                  <a:txBody>
                    <a:bodyPr/>
                    <a:lstStyle/>
                    <a:p>
                      <a:r>
                        <a:rPr sz="2025" b="0">
                          <a:solidFill>
                            <a:srgbClr val="1C3144"/>
                          </a:solidFill>
                          <a:latin typeface="Calibri"/>
                          <a:ea typeface="Calibri"/>
                          <a:cs typeface="Calibri"/>
                        </a:rPr>
                        <a:t>First</a:t>
                      </a:r>
                    </a:p>
                  </a:txBody>
                  <a:tcPr marL="91440" marR="91440" marT="45720" marB="45720">
                    <a:solidFill>
                      <a:srgbClr val="FFFFFF"/>
                    </a:solidFill>
                  </a:tcPr>
                </a:tc>
                <a:tc>
                  <a:txBody>
                    <a:bodyPr/>
                    <a:lstStyle/>
                    <a:p>
                      <a:r>
                        <a:rPr sz="2025" b="0">
                          <a:solidFill>
                            <a:srgbClr val="1C3144"/>
                          </a:solidFill>
                          <a:latin typeface="Calibri"/>
                          <a:ea typeface="Calibri"/>
                          <a:cs typeface="Calibri"/>
                        </a:rPr>
                        <a:t>2</a:t>
                      </a:r>
                    </a:p>
                  </a:txBody>
                  <a:tcPr marL="91440" marR="91440" marT="45720" marB="45720">
                    <a:solidFill>
                      <a:srgbClr val="FFFFFF"/>
                    </a:solidFill>
                  </a:tcPr>
                </a:tc>
                <a:tc>
                  <a:txBody>
                    <a:bodyPr/>
                    <a:lstStyle/>
                    <a:p>
                      <a:r>
                        <a:rPr sz="2025" b="0">
                          <a:solidFill>
                            <a:srgbClr val="1C3144"/>
                          </a:solidFill>
                          <a:latin typeface="Calibri"/>
                          <a:ea typeface="Calibri"/>
                          <a:cs typeface="Calibri"/>
                        </a:rPr>
                        <a:t>2</a:t>
                      </a:r>
                    </a:p>
                  </a:txBody>
                  <a:tcPr marL="91440" marR="91440" marT="45720" marB="45720">
                    <a:solidFill>
                      <a:srgbClr val="FFFFFF"/>
                    </a:solidFill>
                  </a:tcPr>
                </a:tc>
              </a:tr>
              <a:tr h="666750">
                <a:tc>
                  <a:txBody>
                    <a:bodyPr/>
                    <a:lstStyle/>
                    <a:p>
                      <a:r>
                        <a:rPr sz="2025" b="0">
                          <a:solidFill>
                            <a:srgbClr val="1C3144"/>
                          </a:solidFill>
                          <a:latin typeface="Calibri"/>
                          <a:ea typeface="Calibri"/>
                          <a:cs typeface="Calibri"/>
                        </a:rPr>
                        <a:t>Second</a:t>
                      </a:r>
                    </a:p>
                  </a:txBody>
                  <a:tcPr marL="91440" marR="91440" marT="45720" marB="45720">
                    <a:solidFill>
                      <a:srgbClr val="EEF3F6"/>
                    </a:solidFill>
                  </a:tcPr>
                </a:tc>
                <a:tc>
                  <a:txBody>
                    <a:bodyPr/>
                    <a:lstStyle/>
                    <a:p>
                      <a:r>
                        <a:rPr sz="2025" b="0">
                          <a:solidFill>
                            <a:srgbClr val="1C3144"/>
                          </a:solidFill>
                          <a:latin typeface="Calibri"/>
                          <a:ea typeface="Calibri"/>
                          <a:cs typeface="Calibri"/>
                        </a:rPr>
                        <a:t>4</a:t>
                      </a:r>
                    </a:p>
                  </a:txBody>
                  <a:tcPr marL="91440" marR="91440" marT="45720" marB="45720">
                    <a:solidFill>
                      <a:srgbClr val="EEF3F6"/>
                    </a:solidFill>
                  </a:tcPr>
                </a:tc>
                <a:tc>
                  <a:txBody>
                    <a:bodyPr/>
                    <a:lstStyle/>
                    <a:p>
                      <a:r>
                        <a:rPr sz="2025" b="0">
                          <a:solidFill>
                            <a:srgbClr val="1C3144"/>
                          </a:solidFill>
                          <a:latin typeface="Calibri"/>
                          <a:ea typeface="Calibri"/>
                          <a:cs typeface="Calibri"/>
                        </a:rPr>
                        <a:t>6</a:t>
                      </a:r>
                    </a:p>
                  </a:txBody>
                  <a:tcPr marL="91440" marR="91440" marT="45720" marB="45720">
                    <a:solidFill>
                      <a:srgbClr val="EEF3F6"/>
                    </a:solidFill>
                  </a:tcPr>
                </a:tc>
              </a:tr>
              <a:tr h="666750">
                <a:tc>
                  <a:txBody>
                    <a:bodyPr/>
                    <a:lstStyle/>
                    <a:p>
                      <a:r>
                        <a:rPr sz="2025" b="0">
                          <a:solidFill>
                            <a:srgbClr val="1C3144"/>
                          </a:solidFill>
                          <a:latin typeface="Calibri"/>
                          <a:ea typeface="Calibri"/>
                          <a:cs typeface="Calibri"/>
                        </a:rPr>
                        <a:t>Third</a:t>
                      </a:r>
                    </a:p>
                  </a:txBody>
                  <a:tcPr marL="91440" marR="91440" marT="45720" marB="45720">
                    <a:solidFill>
                      <a:srgbClr val="FFFFFF"/>
                    </a:solidFill>
                  </a:tcPr>
                </a:tc>
                <a:tc>
                  <a:txBody>
                    <a:bodyPr/>
                    <a:lstStyle/>
                    <a:p>
                      <a:r>
                        <a:rPr sz="2025" b="0">
                          <a:solidFill>
                            <a:srgbClr val="1C3144"/>
                          </a:solidFill>
                          <a:latin typeface="Calibri"/>
                          <a:ea typeface="Calibri"/>
                          <a:cs typeface="Calibri"/>
                        </a:rPr>
                        <a:t>6</a:t>
                      </a:r>
                    </a:p>
                  </a:txBody>
                  <a:tcPr marL="91440" marR="91440" marT="45720" marB="45720">
                    <a:solidFill>
                      <a:srgbClr val="FFFFFF"/>
                    </a:solidFill>
                  </a:tcPr>
                </a:tc>
                <a:tc>
                  <a:txBody>
                    <a:bodyPr/>
                    <a:lstStyle/>
                    <a:p>
                      <a:r>
                        <a:rPr sz="2025" b="0">
                          <a:solidFill>
                            <a:srgbClr val="1C3144"/>
                          </a:solidFill>
                          <a:latin typeface="Calibri"/>
                          <a:ea typeface="Calibri"/>
                          <a:cs typeface="Calibri"/>
                        </a:rPr>
                        <a:t>12</a:t>
                      </a:r>
                    </a:p>
                  </a:txBody>
                  <a:tcPr marL="91440" marR="91440" marT="45720" marB="45720">
                    <a:solidFill>
                      <a:srgbClr val="FFFFFF"/>
                    </a:solidFill>
                  </a:tcPr>
                </a:tc>
              </a:tr>
            </a:tbl>
          </a:graphicData>
        </a:graphic>
      </p:graphicFrame>
      <p:sp>
        <p:nvSpPr>
          <p:cNvPr id="5" name="">
            <a:extLst xmlns:a="http://schemas.openxmlformats.org/drawingml/2006/main">
              <a:ext uri="{FF2B5EF4-FFF2-40B4-BE49-F238E27FC236}">
                <a16:creationId xmlns:a16="http://schemas.microsoft.com/office/drawing/2014/main" id="{23C05ADC-F768-4163-8A1F-7AE963152625}"/>
              </a:ext>
            </a:extLst>
          </p:cNvPr>
          <p:cNvSpPr>
            <a:spLocks xmlns:a="http://schemas.openxmlformats.org/drawingml/2006/main" noGrp="1"/>
          </p:cNvSpPr>
          <p:nvPr/>
        </p:nvSpPr>
        <p:spPr>
          <a:xfrm xmlns:a="http://schemas.openxmlformats.org/drawingml/2006/main">
            <a:off x="685800" y="5381625"/>
            <a:ext cx="10668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There are three readings.</a:t>
            </a:r>
          </a:p>
        </p:txBody>
      </p:sp>
      <p:sp>
        <p:nvSpPr>
          <p:cNvPr id="6" name="">
            <a:extLst xmlns:a="http://schemas.openxmlformats.org/drawingml/2006/main">
              <a:ext uri="{FF2B5EF4-FFF2-40B4-BE49-F238E27FC236}">
                <a16:creationId xmlns:a16="http://schemas.microsoft.com/office/drawing/2014/main" id="{ED7A300A-5DEC-4DE5-8919-1B699DB53AA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4   14</a:t>
            </a:r>
          </a:p>
        </p:txBody>
      </p:sp>
    </p:spTree>
    <p:extLst>
      <p:ext uri="{BB962C8B-B14F-4D97-AF65-F5344CB8AC3E}">
        <p14:creationId xmlns:p14="http://schemas.microsoft.com/office/powerpoint/2010/main" val="1738560633"/>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FC220E58-D06F-4F7A-9146-97EA737A3499}"/>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AC168D6D-584E-45C7-8881-8F002642844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EB3A1D49-1299-414D-B20B-3DCBDB4F1B9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Worked example</a:t>
            </a:r>
          </a:p>
        </p:txBody>
      </p:sp>
      <p:sp>
        <p:nvSpPr>
          <p:cNvPr id="4" name="">
            <a:extLst xmlns:a="http://schemas.openxmlformats.org/drawingml/2006/main">
              <a:ext uri="{FF2B5EF4-FFF2-40B4-BE49-F238E27FC236}">
                <a16:creationId xmlns:a16="http://schemas.microsoft.com/office/drawing/2014/main" id="{31B0F603-6598-4D8D-BDF0-747E2D3374CB}"/>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49F8C3F1-E70E-4AC4-A441-05E6F334A619}"/>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readings = [2, 4, 6]</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total = 0</a:t>
            </a:r>
          </a:p>
          <a:p xmlns:a="http://schemas.openxmlformats.org/drawingml/2006/main">
            <a:pPr>
              <a:defRPr sz="2175" b="0">
                <a:solidFill>
                  <a:srgbClr val="F4F7FA"/>
                </a:solidFill>
                <a:latin typeface="Courier New"/>
                <a:ea typeface="Courier New"/>
                <a:cs typeface="Courier New"/>
              </a:defRPr>
            </a:pPr>
            <a:r>
              <a:rPr sz="2175" b="0">
                <a:solidFill>
                  <a:srgbClr val="FFB080"/>
                </a:solidFill>
                <a:latin typeface="Courier New"/>
                <a:ea typeface="Courier New"/>
                <a:cs typeface="Courier New"/>
              </a:rPr>
              <a:t>for</a:t>
            </a:r>
            <a:r>
              <a:rPr sz="2175" b="0">
                <a:solidFill>
                  <a:srgbClr val="F4F7FA"/>
                </a:solidFill>
                <a:latin typeface="Courier New"/>
                <a:ea typeface="Courier New"/>
                <a:cs typeface="Courier New"/>
              </a:rPr>
              <a:t> reading in readings:</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total = total + reading</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mean = total / len(readings)</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print(mean)</a:t>
            </a:r>
          </a:p>
        </p:txBody>
      </p:sp>
      <p:sp>
        <p:nvSpPr>
          <p:cNvPr id="6" name="">
            <a:extLst xmlns:a="http://schemas.openxmlformats.org/drawingml/2006/main">
              <a:ext uri="{FF2B5EF4-FFF2-40B4-BE49-F238E27FC236}">
                <a16:creationId xmlns:a16="http://schemas.microsoft.com/office/drawing/2014/main" id="{5CD6F6BC-584B-48D7-BA61-514565F876E6}"/>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C41F103D-77D0-4DCE-AA51-C3E45015C3E5}"/>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for takes the next item. The indented block repeats.</a:t>
            </a:r>
          </a:p>
        </p:txBody>
      </p:sp>
      <p:sp>
        <p:nvSpPr>
          <p:cNvPr id="8" name="">
            <a:extLst xmlns:a="http://schemas.openxmlformats.org/drawingml/2006/main">
              <a:ext uri="{FF2B5EF4-FFF2-40B4-BE49-F238E27FC236}">
                <a16:creationId xmlns:a16="http://schemas.microsoft.com/office/drawing/2014/main" id="{94DE0BCF-80B8-4868-9686-8DF60BE89DEE}"/>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print displays a value below the cell.</a:t>
            </a:r>
          </a:p>
        </p:txBody>
      </p:sp>
      <p:sp>
        <p:nvSpPr>
          <p:cNvPr id="9" name="">
            <a:extLst xmlns:a="http://schemas.openxmlformats.org/drawingml/2006/main">
              <a:ext uri="{FF2B5EF4-FFF2-40B4-BE49-F238E27FC236}">
                <a16:creationId xmlns:a16="http://schemas.microsoft.com/office/drawing/2014/main" id="{FACCF287-8992-4DCA-B6A0-C2CFAAC7147B}"/>
              </a:ext>
            </a:extLst>
          </p:cNvPr>
          <p:cNvSpPr>
            <a:spLocks xmlns:a="http://schemas.openxmlformats.org/drawingml/2006/main" noGrp="1"/>
          </p:cNvSpPr>
          <p:nvPr/>
        </p:nvSpPr>
        <p:spPr>
          <a:xfrm xmlns:a="http://schemas.openxmlformats.org/drawingml/2006/main">
            <a:off x="8096250" y="43434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Square brackets create a list or select an item.</a:t>
            </a:r>
          </a:p>
        </p:txBody>
      </p:sp>
      <p:sp>
        <p:nvSpPr>
          <p:cNvPr id="10" name="">
            <a:extLst xmlns:a="http://schemas.openxmlformats.org/drawingml/2006/main">
              <a:ext uri="{FF2B5EF4-FFF2-40B4-BE49-F238E27FC236}">
                <a16:creationId xmlns:a16="http://schemas.microsoft.com/office/drawing/2014/main" id="{D44B423F-2BFA-4C1B-BD39-9013FBF38364}"/>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Read the code together. Predict the result before running.</a:t>
            </a:r>
          </a:p>
        </p:txBody>
      </p:sp>
      <p:sp>
        <p:nvSpPr>
          <p:cNvPr id="11" name="">
            <a:extLst xmlns:a="http://schemas.openxmlformats.org/drawingml/2006/main">
              <a:ext uri="{FF2B5EF4-FFF2-40B4-BE49-F238E27FC236}">
                <a16:creationId xmlns:a16="http://schemas.microsoft.com/office/drawing/2014/main" id="{04748E83-8975-4813-A9AF-BC6510F2F96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4   15</a:t>
            </a:r>
          </a:p>
        </p:txBody>
      </p:sp>
    </p:spTree>
    <p:extLst>
      <p:ext uri="{BB962C8B-B14F-4D97-AF65-F5344CB8AC3E}">
        <p14:creationId xmlns:p14="http://schemas.microsoft.com/office/powerpoint/2010/main" val="1018288726"/>
      </p:ext>
    </p:extLst>
  </p:cSld>
</p:sld>
</file>

<file path=ppt/slides/slide1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A2E2A43A-C142-4317-982C-06A1127EAD1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5BA9D7E1-9C40-48A4-9F60-EA703D3C241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CHECK THE OUTPUT</a:t>
            </a:r>
          </a:p>
        </p:txBody>
      </p:sp>
      <p:sp>
        <p:nvSpPr>
          <p:cNvPr id="3" name="">
            <a:extLst xmlns:a="http://schemas.openxmlformats.org/drawingml/2006/main">
              <a:ext uri="{FF2B5EF4-FFF2-40B4-BE49-F238E27FC236}">
                <a16:creationId xmlns:a16="http://schemas.microsoft.com/office/drawing/2014/main" id="{01921077-68AB-428F-ADD6-720A8F27FF9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Expected output</a:t>
            </a:r>
          </a:p>
        </p:txBody>
      </p:sp>
      <p:sp>
        <p:nvSpPr>
          <p:cNvPr id="4" name="">
            <a:extLst xmlns:a="http://schemas.openxmlformats.org/drawingml/2006/main">
              <a:ext uri="{FF2B5EF4-FFF2-40B4-BE49-F238E27FC236}">
                <a16:creationId xmlns:a16="http://schemas.microsoft.com/office/drawing/2014/main" id="{DF200B2F-A04E-418D-A4F5-A43D2A17584E}"/>
              </a:ext>
            </a:extLst>
          </p:cNvPr>
          <p:cNvSpPr>
            <a:spLocks xmlns:a="http://schemas.openxmlformats.org/drawingml/2006/main" noGrp="1"/>
          </p:cNvSpPr>
          <p:nvPr/>
        </p:nvSpPr>
        <p:spPr>
          <a:xfrm xmlns:a="http://schemas.openxmlformats.org/drawingml/2006/main">
            <a:off x="590550" y="1752600"/>
            <a:ext cx="11010900" cy="35242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8271AE6C-A7F2-4C4C-B762-DAE2CD514884}"/>
              </a:ext>
            </a:extLst>
          </p:cNvPr>
          <p:cNvSpPr>
            <a:spLocks xmlns:a="http://schemas.openxmlformats.org/drawingml/2006/main" noGrp="1"/>
          </p:cNvSpPr>
          <p:nvPr/>
        </p:nvSpPr>
        <p:spPr>
          <a:xfrm xmlns:a="http://schemas.openxmlformats.org/drawingml/2006/main">
            <a:off x="904875" y="2028825"/>
            <a:ext cx="10334625" cy="3048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0">
                <a:solidFill>
                  <a:srgbClr val="2E7D6F"/>
                </a:solidFill>
                <a:latin typeface="Courier New"/>
                <a:ea typeface="Courier New"/>
                <a:cs typeface="Courier New"/>
              </a:defRPr>
            </a:pPr>
            <a:r>
              <a:rPr sz="3150" b="0">
                <a:solidFill>
                  <a:srgbClr val="2E7D6F"/>
                </a:solidFill>
                <a:latin typeface="Courier New"/>
                <a:ea typeface="Courier New"/>
                <a:cs typeface="Courier New"/>
              </a:rPr>
              <a:t>4.0</a:t>
            </a:r>
          </a:p>
        </p:txBody>
      </p:sp>
      <p:sp>
        <p:nvSpPr>
          <p:cNvPr id="6" name="">
            <a:extLst xmlns:a="http://schemas.openxmlformats.org/drawingml/2006/main">
              <a:ext uri="{FF2B5EF4-FFF2-40B4-BE49-F238E27FC236}">
                <a16:creationId xmlns:a16="http://schemas.microsoft.com/office/drawing/2014/main" id="{13EB75BF-6DA2-44C7-A64B-AB185575C7E2}"/>
              </a:ext>
            </a:extLst>
          </p:cNvPr>
          <p:cNvSpPr>
            <a:spLocks xmlns:a="http://schemas.openxmlformats.org/drawingml/2006/main" noGrp="1"/>
          </p:cNvSpPr>
          <p:nvPr/>
        </p:nvSpPr>
        <p:spPr>
          <a:xfrm xmlns:a="http://schemas.openxmlformats.org/drawingml/2006/main">
            <a:off x="685800" y="5581650"/>
            <a:ext cx="10668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Which step produced this result? What changes if one input changes?</a:t>
            </a:r>
          </a:p>
        </p:txBody>
      </p:sp>
      <p:sp>
        <p:nvSpPr>
          <p:cNvPr id="7" name="">
            <a:extLst xmlns:a="http://schemas.openxmlformats.org/drawingml/2006/main">
              <a:ext uri="{FF2B5EF4-FFF2-40B4-BE49-F238E27FC236}">
                <a16:creationId xmlns:a16="http://schemas.microsoft.com/office/drawing/2014/main" id="{3083A7D8-B900-4730-AD78-4EC08920B2C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4   16</a:t>
            </a:r>
          </a:p>
        </p:txBody>
      </p:sp>
    </p:spTree>
    <p:extLst>
      <p:ext uri="{BB962C8B-B14F-4D97-AF65-F5344CB8AC3E}">
        <p14:creationId xmlns:p14="http://schemas.microsoft.com/office/powerpoint/2010/main" val="1717921658"/>
      </p:ext>
    </p:extLst>
  </p:cSld>
</p:sld>
</file>

<file path=ppt/slides/slide1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4112BE67-D588-4511-BB3A-45207992A04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D0C79180-2B8F-48A8-A30A-2471205D363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7274FAD3-F8DB-4077-8328-8DD17B979A0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Dictionary</a:t>
            </a:r>
          </a:p>
        </p:txBody>
      </p:sp>
      <p:sp>
        <p:nvSpPr>
          <p:cNvPr id="4" name="">
            <a:extLst xmlns:a="http://schemas.openxmlformats.org/drawingml/2006/main">
              <a:ext uri="{FF2B5EF4-FFF2-40B4-BE49-F238E27FC236}">
                <a16:creationId xmlns:a16="http://schemas.microsoft.com/office/drawing/2014/main" id="{DD18605A-31C8-4787-8A68-5CE1470593B1}"/>
              </a:ext>
            </a:extLst>
          </p:cNvPr>
          <p:cNvSpPr>
            <a:spLocks xmlns:a="http://schemas.openxmlformats.org/drawingml/2006/main" noGrp="1"/>
          </p:cNvSpPr>
          <p:nvPr/>
        </p:nvSpPr>
        <p:spPr>
          <a:xfrm xmlns:a="http://schemas.openxmlformats.org/drawingml/2006/main">
            <a:off x="590550" y="1714500"/>
            <a:ext cx="110109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21C5F7CD-2015-4AF5-9BDF-645E39C00ABD}"/>
              </a:ext>
            </a:extLst>
          </p:cNvPr>
          <p:cNvSpPr>
            <a:spLocks xmlns:a="http://schemas.openxmlformats.org/drawingml/2006/main" noGrp="1"/>
          </p:cNvSpPr>
          <p:nvPr/>
        </p:nvSpPr>
        <p:spPr>
          <a:xfrm xmlns:a="http://schemas.openxmlformats.org/drawingml/2006/main">
            <a:off x="828675" y="1952625"/>
            <a:ext cx="104394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E4572E"/>
                </a:solidFill>
                <a:latin typeface="Calibri"/>
                <a:ea typeface="Calibri"/>
                <a:cs typeface="Calibri"/>
              </a:defRPr>
            </a:pPr>
            <a:r>
              <a:rPr sz="3150" b="1">
                <a:solidFill>
                  <a:srgbClr val="E4572E"/>
                </a:solidFill>
                <a:latin typeface="Calibri"/>
                <a:ea typeface="Calibri"/>
                <a:cs typeface="Calibri"/>
              </a:rPr>
              <a:t>Dictionary</a:t>
            </a:r>
          </a:p>
        </p:txBody>
      </p:sp>
      <p:sp>
        <p:nvSpPr>
          <p:cNvPr id="6" name="">
            <a:extLst xmlns:a="http://schemas.openxmlformats.org/drawingml/2006/main">
              <a:ext uri="{FF2B5EF4-FFF2-40B4-BE49-F238E27FC236}">
                <a16:creationId xmlns:a16="http://schemas.microsoft.com/office/drawing/2014/main" id="{EDEEFD7B-539F-4D23-8BAF-0E5491D19313}"/>
              </a:ext>
            </a:extLst>
          </p:cNvPr>
          <p:cNvSpPr>
            <a:spLocks xmlns:a="http://schemas.openxmlformats.org/drawingml/2006/main" noGrp="1"/>
          </p:cNvSpPr>
          <p:nvPr/>
        </p:nvSpPr>
        <p:spPr>
          <a:xfrm xmlns:a="http://schemas.openxmlformats.org/drawingml/2006/main">
            <a:off x="828675" y="3067050"/>
            <a:ext cx="10439400"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0">
                <a:solidFill>
                  <a:srgbClr val="1C3144"/>
                </a:solidFill>
                <a:latin typeface="Calibri"/>
                <a:ea typeface="Calibri"/>
                <a:cs typeface="Calibri"/>
              </a:defRPr>
            </a:pPr>
            <a:r>
              <a:rPr sz="2550" b="0">
                <a:solidFill>
                  <a:srgbClr val="1C3144"/>
                </a:solidFill>
                <a:latin typeface="Calibri"/>
                <a:ea typeface="Calibri"/>
                <a:cs typeface="Calibri"/>
              </a:rPr>
              <a:t>A collection of named values such as {"temperature_c": 25}. Access the value with row["temperature_c"].</a:t>
            </a:r>
          </a:p>
        </p:txBody>
      </p:sp>
      <p:sp>
        <p:nvSpPr>
          <p:cNvPr id="7" name="">
            <a:extLst xmlns:a="http://schemas.openxmlformats.org/drawingml/2006/main">
              <a:ext uri="{FF2B5EF4-FFF2-40B4-BE49-F238E27FC236}">
                <a16:creationId xmlns:a16="http://schemas.microsoft.com/office/drawing/2014/main" id="{ED542629-A3DF-4780-8B70-47BB117BB67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4   17</a:t>
            </a:r>
          </a:p>
        </p:txBody>
      </p:sp>
    </p:spTree>
    <p:extLst>
      <p:ext uri="{BB962C8B-B14F-4D97-AF65-F5344CB8AC3E}">
        <p14:creationId xmlns:p14="http://schemas.microsoft.com/office/powerpoint/2010/main" val="1474074905"/>
      </p:ext>
    </p:extLst>
  </p:cSld>
</p:sld>
</file>

<file path=ppt/slides/slide1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E0EF2F77-00EB-45F7-8654-F82020FB3C99}"/>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69C445FA-9308-42AA-82BC-AB52AC3146C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F7215059-1E1D-4F4B-804B-53A4E92554E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Read dictionary operations</a:t>
            </a:r>
          </a:p>
        </p:txBody>
      </p:sp>
      <p:sp>
        <p:nvSpPr>
          <p:cNvPr id="4" name="">
            <a:extLst xmlns:a="http://schemas.openxmlformats.org/drawingml/2006/main">
              <a:ext uri="{FF2B5EF4-FFF2-40B4-BE49-F238E27FC236}">
                <a16:creationId xmlns:a16="http://schemas.microsoft.com/office/drawing/2014/main" id="{5D19F1B5-BD4A-4703-9338-632867B5833A}"/>
              </a:ext>
            </a:extLst>
          </p:cNvPr>
          <p:cNvSpPr>
            <a:spLocks xmlns:a="http://schemas.openxmlformats.org/drawingml/2006/main" noGrp="1"/>
          </p:cNvSpPr>
          <p:nvPr/>
        </p:nvSpPr>
        <p:spPr>
          <a:xfrm xmlns:a="http://schemas.openxmlformats.org/drawingml/2006/main">
            <a:off x="590550" y="1714500"/>
            <a:ext cx="53340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F85E5E38-A50B-4EFB-9E6A-EE338B7F422C}"/>
              </a:ext>
            </a:extLst>
          </p:cNvPr>
          <p:cNvSpPr>
            <a:spLocks xmlns:a="http://schemas.openxmlformats.org/drawingml/2006/main" noGrp="1"/>
          </p:cNvSpPr>
          <p:nvPr/>
        </p:nvSpPr>
        <p:spPr>
          <a:xfrm xmlns:a="http://schemas.openxmlformats.org/drawingml/2006/main">
            <a:off x="82867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E4572E"/>
                </a:solidFill>
                <a:latin typeface="Calibri"/>
                <a:ea typeface="Calibri"/>
                <a:cs typeface="Calibri"/>
              </a:defRPr>
            </a:pPr>
            <a:r>
              <a:rPr sz="2625" b="1">
                <a:solidFill>
                  <a:srgbClr val="E4572E"/>
                </a:solidFill>
                <a:latin typeface="Calibri"/>
                <a:ea typeface="Calibri"/>
                <a:cs typeface="Calibri"/>
              </a:rPr>
              <a:t>Key and lookup</a:t>
            </a:r>
          </a:p>
        </p:txBody>
      </p:sp>
      <p:sp>
        <p:nvSpPr>
          <p:cNvPr id="6" name="">
            <a:extLst xmlns:a="http://schemas.openxmlformats.org/drawingml/2006/main">
              <a:ext uri="{FF2B5EF4-FFF2-40B4-BE49-F238E27FC236}">
                <a16:creationId xmlns:a16="http://schemas.microsoft.com/office/drawing/2014/main" id="{9431157C-8DFC-412E-9CED-D21F1CD18BF4}"/>
              </a:ext>
            </a:extLst>
          </p:cNvPr>
          <p:cNvSpPr>
            <a:spLocks xmlns:a="http://schemas.openxmlformats.org/drawingml/2006/main" noGrp="1"/>
          </p:cNvSpPr>
          <p:nvPr/>
        </p:nvSpPr>
        <p:spPr>
          <a:xfrm xmlns:a="http://schemas.openxmlformats.org/drawingml/2006/main">
            <a:off x="82867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A key is the name used to find a value. record["reading"] looks up that key. record.get("missing", 0) returns 0 if the key is absent.</a:t>
            </a:r>
          </a:p>
        </p:txBody>
      </p:sp>
      <p:sp>
        <p:nvSpPr>
          <p:cNvPr id="7" name="">
            <a:extLst xmlns:a="http://schemas.openxmlformats.org/drawingml/2006/main">
              <a:ext uri="{FF2B5EF4-FFF2-40B4-BE49-F238E27FC236}">
                <a16:creationId xmlns:a16="http://schemas.microsoft.com/office/drawing/2014/main" id="{C2DCD071-6234-4684-B8BB-CF8A16C10DFF}"/>
              </a:ext>
            </a:extLst>
          </p:cNvPr>
          <p:cNvSpPr>
            <a:spLocks xmlns:a="http://schemas.openxmlformats.org/drawingml/2006/main" noGrp="1"/>
          </p:cNvSpPr>
          <p:nvPr/>
        </p:nvSpPr>
        <p:spPr>
          <a:xfrm xmlns:a="http://schemas.openxmlformats.org/drawingml/2006/main">
            <a:off x="6210300" y="1714500"/>
            <a:ext cx="5334000" cy="419100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DF55B79B-56EC-469B-B806-F556FE4DCC12}"/>
              </a:ext>
            </a:extLst>
          </p:cNvPr>
          <p:cNvSpPr>
            <a:spLocks xmlns:a="http://schemas.openxmlformats.org/drawingml/2006/main" noGrp="1"/>
          </p:cNvSpPr>
          <p:nvPr/>
        </p:nvSpPr>
        <p:spPr>
          <a:xfrm xmlns:a="http://schemas.openxmlformats.org/drawingml/2006/main">
            <a:off x="644842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2E7D6F"/>
                </a:solidFill>
                <a:latin typeface="Calibri"/>
                <a:ea typeface="Calibri"/>
                <a:cs typeface="Calibri"/>
              </a:defRPr>
            </a:pPr>
            <a:r>
              <a:rPr sz="2625" b="1">
                <a:solidFill>
                  <a:srgbClr val="2E7D6F"/>
                </a:solidFill>
                <a:latin typeface="Calibri"/>
                <a:ea typeface="Calibri"/>
                <a:cs typeface="Calibri"/>
              </a:rPr>
              <a:t>items and paired names</a:t>
            </a:r>
          </a:p>
        </p:txBody>
      </p:sp>
      <p:sp>
        <p:nvSpPr>
          <p:cNvPr id="9" name="">
            <a:extLst xmlns:a="http://schemas.openxmlformats.org/drawingml/2006/main">
              <a:ext uri="{FF2B5EF4-FFF2-40B4-BE49-F238E27FC236}">
                <a16:creationId xmlns:a16="http://schemas.microsoft.com/office/drawing/2014/main" id="{085ED843-5F61-4D9F-B4EE-F167DE7C6130}"/>
              </a:ext>
            </a:extLst>
          </p:cNvPr>
          <p:cNvSpPr>
            <a:spLocks xmlns:a="http://schemas.openxmlformats.org/drawingml/2006/main" noGrp="1"/>
          </p:cNvSpPr>
          <p:nvPr/>
        </p:nvSpPr>
        <p:spPr>
          <a:xfrm xmlns:a="http://schemas.openxmlformats.org/drawingml/2006/main">
            <a:off x="644842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record.items() supplies key/value pairs. for key, value in ... puts each pair into two names, then runs the indented block once for that pair.</a:t>
            </a:r>
          </a:p>
        </p:txBody>
      </p:sp>
      <p:sp>
        <p:nvSpPr>
          <p:cNvPr id="10" name="">
            <a:extLst xmlns:a="http://schemas.openxmlformats.org/drawingml/2006/main">
              <a:ext uri="{FF2B5EF4-FFF2-40B4-BE49-F238E27FC236}">
                <a16:creationId xmlns:a16="http://schemas.microsoft.com/office/drawing/2014/main" id="{B4286379-8DE2-495A-AD46-68D3837040F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4   18</a:t>
            </a:r>
          </a:p>
        </p:txBody>
      </p:sp>
    </p:spTree>
    <p:extLst>
      <p:ext uri="{BB962C8B-B14F-4D97-AF65-F5344CB8AC3E}">
        <p14:creationId xmlns:p14="http://schemas.microsoft.com/office/powerpoint/2010/main" val="12202594"/>
      </p:ext>
    </p:extLst>
  </p:cSld>
</p:sld>
</file>

<file path=ppt/slides/slide1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08C7531B-F8E6-4737-9571-42A5B6D4755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CF67DAF4-8905-42F1-AE02-CE62BD76A43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READ THE EXAMPLE</a:t>
            </a:r>
          </a:p>
        </p:txBody>
      </p:sp>
      <p:sp>
        <p:nvSpPr>
          <p:cNvPr id="3" name="">
            <a:extLst xmlns:a="http://schemas.openxmlformats.org/drawingml/2006/main">
              <a:ext uri="{FF2B5EF4-FFF2-40B4-BE49-F238E27FC236}">
                <a16:creationId xmlns:a16="http://schemas.microsoft.com/office/drawing/2014/main" id="{97646EBA-FAFC-4F89-98DD-CA5A1291E825}"/>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Dictionary lookups and list slices</a:t>
            </a:r>
          </a:p>
        </p:txBody>
      </p:sp>
      <p:graphicFrame>
        <p:nvGraphicFramePr>
          <p:cNvPr id="10" name=""/>
          <p:cNvGraphicFramePr/>
          <p:nvPr/>
        </p:nvGraphicFramePr>
        <p:xfrm>
          <a:off xmlns:a="http://schemas.openxmlformats.org/drawingml/2006/main" x="590550" y="1733550"/>
          <a:ext xmlns:a="http://schemas.openxmlformats.org/drawingml/2006/main" cx="11010900" cy="3333750"/>
        </p:xfrm>
        <a:graphic xmlns:a="http://schemas.openxmlformats.org/drawingml/2006/main">
          <a:graphicData uri="http://schemas.openxmlformats.org/drawingml/2006/table">
            <a:tbl>
              <a:tblPr/>
              <a:tblGrid>
                <a:gridCol w="5505450"/>
                <a:gridCol w="5505450"/>
              </a:tblGrid>
              <a:tr h="666750">
                <a:tc>
                  <a:txBody>
                    <a:bodyPr/>
                    <a:lstStyle/>
                    <a:p>
                      <a:r>
                        <a:rPr sz="2025" b="1">
                          <a:solidFill>
                            <a:srgbClr val="FFFFFF"/>
                          </a:solidFill>
                          <a:latin typeface="Calibri"/>
                          <a:ea typeface="Calibri"/>
                          <a:cs typeface="Calibri"/>
                        </a:rPr>
                        <a:t>Expression</a:t>
                      </a:r>
                    </a:p>
                  </a:txBody>
                  <a:tcPr marL="91440" marR="91440" marT="45720" marB="45720">
                    <a:solidFill>
                      <a:srgbClr val="2E7D6F"/>
                    </a:solidFill>
                  </a:tcPr>
                </a:tc>
                <a:tc>
                  <a:txBody>
                    <a:bodyPr/>
                    <a:lstStyle/>
                    <a:p>
                      <a:r>
                        <a:rPr sz="2025" b="1">
                          <a:solidFill>
                            <a:srgbClr val="FFFFFF"/>
                          </a:solidFill>
                          <a:latin typeface="Calibri"/>
                          <a:ea typeface="Calibri"/>
                          <a:cs typeface="Calibri"/>
                        </a:rPr>
                        <a:t>Meaning</a:t>
                      </a:r>
                    </a:p>
                  </a:txBody>
                  <a:tcPr marL="91440" marR="91440" marT="45720" marB="45720">
                    <a:solidFill>
                      <a:srgbClr val="2E7D6F"/>
                    </a:solidFill>
                  </a:tcPr>
                </a:tc>
              </a:tr>
              <a:tr h="666750">
                <a:tc>
                  <a:txBody>
                    <a:bodyPr/>
                    <a:lstStyle/>
                    <a:p>
                      <a:r>
                        <a:rPr sz="2025" b="0">
                          <a:solidFill>
                            <a:srgbClr val="1C3144"/>
                          </a:solidFill>
                          <a:latin typeface="Calibri"/>
                          <a:ea typeface="Calibri"/>
                          <a:cs typeface="Calibri"/>
                        </a:rPr>
                        <a:t>readings[0]</a:t>
                      </a:r>
                    </a:p>
                  </a:txBody>
                  <a:tcPr marL="91440" marR="91440" marT="45720" marB="45720">
                    <a:solidFill>
                      <a:srgbClr val="EEF3F6"/>
                    </a:solidFill>
                  </a:tcPr>
                </a:tc>
                <a:tc>
                  <a:txBody>
                    <a:bodyPr/>
                    <a:lstStyle/>
                    <a:p>
                      <a:r>
                        <a:rPr sz="2025" b="0">
                          <a:solidFill>
                            <a:srgbClr val="1C3144"/>
                          </a:solidFill>
                          <a:latin typeface="Calibri"/>
                          <a:ea typeface="Calibri"/>
                          <a:cs typeface="Calibri"/>
                        </a:rPr>
                        <a:t>The first list item</a:t>
                      </a:r>
                    </a:p>
                  </a:txBody>
                  <a:tcPr marL="91440" marR="91440" marT="45720" marB="45720">
                    <a:solidFill>
                      <a:srgbClr val="EEF3F6"/>
                    </a:solidFill>
                  </a:tcPr>
                </a:tc>
              </a:tr>
              <a:tr h="666750">
                <a:tc>
                  <a:txBody>
                    <a:bodyPr/>
                    <a:lstStyle/>
                    <a:p>
                      <a:r>
                        <a:rPr sz="2025" b="0">
                          <a:solidFill>
                            <a:srgbClr val="1C3144"/>
                          </a:solidFill>
                          <a:latin typeface="Calibri"/>
                          <a:ea typeface="Calibri"/>
                          <a:cs typeface="Calibri"/>
                        </a:rPr>
                        <a:t>readings[1:3]</a:t>
                      </a:r>
                    </a:p>
                  </a:txBody>
                  <a:tcPr marL="91440" marR="91440" marT="45720" marB="45720">
                    <a:solidFill>
                      <a:srgbClr val="FFFFFF"/>
                    </a:solidFill>
                  </a:tcPr>
                </a:tc>
                <a:tc>
                  <a:txBody>
                    <a:bodyPr/>
                    <a:lstStyle/>
                    <a:p>
                      <a:r>
                        <a:rPr sz="2025" b="0">
                          <a:solidFill>
                            <a:srgbClr val="1C3144"/>
                          </a:solidFill>
                          <a:latin typeface="Calibri"/>
                          <a:ea typeface="Calibri"/>
                          <a:cs typeface="Calibri"/>
                        </a:rPr>
                        <a:t>Items at positions 1 and 2</a:t>
                      </a:r>
                    </a:p>
                  </a:txBody>
                  <a:tcPr marL="91440" marR="91440" marT="45720" marB="45720">
                    <a:solidFill>
                      <a:srgbClr val="FFFFFF"/>
                    </a:solidFill>
                  </a:tcPr>
                </a:tc>
              </a:tr>
              <a:tr h="666750">
                <a:tc>
                  <a:txBody>
                    <a:bodyPr/>
                    <a:lstStyle/>
                    <a:p>
                      <a:r>
                        <a:rPr sz="2025" b="0">
                          <a:solidFill>
                            <a:srgbClr val="1C3144"/>
                          </a:solidFill>
                          <a:latin typeface="Calibri"/>
                          <a:ea typeface="Calibri"/>
                          <a:cs typeface="Calibri"/>
                        </a:rPr>
                        <a:t>record.get("missing", 0)</a:t>
                      </a:r>
                    </a:p>
                  </a:txBody>
                  <a:tcPr marL="91440" marR="91440" marT="45720" marB="45720">
                    <a:solidFill>
                      <a:srgbClr val="EEF3F6"/>
                    </a:solidFill>
                  </a:tcPr>
                </a:tc>
                <a:tc>
                  <a:txBody>
                    <a:bodyPr/>
                    <a:lstStyle/>
                    <a:p>
                      <a:r>
                        <a:rPr sz="2025" b="0">
                          <a:solidFill>
                            <a:srgbClr val="1C3144"/>
                          </a:solidFill>
                          <a:latin typeface="Calibri"/>
                          <a:ea typeface="Calibri"/>
                          <a:cs typeface="Calibri"/>
                        </a:rPr>
                        <a:t>Use 0 if that key is absent</a:t>
                      </a:r>
                    </a:p>
                  </a:txBody>
                  <a:tcPr marL="91440" marR="91440" marT="45720" marB="45720">
                    <a:solidFill>
                      <a:srgbClr val="EEF3F6"/>
                    </a:solidFill>
                  </a:tcPr>
                </a:tc>
              </a:tr>
              <a:tr h="666750">
                <a:tc>
                  <a:txBody>
                    <a:bodyPr/>
                    <a:lstStyle/>
                    <a:p>
                      <a:r>
                        <a:rPr sz="2025" b="0">
                          <a:solidFill>
                            <a:srgbClr val="1C3144"/>
                          </a:solidFill>
                          <a:latin typeface="Calibri"/>
                          <a:ea typeface="Calibri"/>
                          <a:cs typeface="Calibri"/>
                        </a:rPr>
                        <a:t>record.items()</a:t>
                      </a:r>
                    </a:p>
                  </a:txBody>
                  <a:tcPr marL="91440" marR="91440" marT="45720" marB="45720">
                    <a:solidFill>
                      <a:srgbClr val="FFFFFF"/>
                    </a:solidFill>
                  </a:tcPr>
                </a:tc>
                <a:tc>
                  <a:txBody>
                    <a:bodyPr/>
                    <a:lstStyle/>
                    <a:p>
                      <a:r>
                        <a:rPr sz="2025" b="0">
                          <a:solidFill>
                            <a:srgbClr val="1C3144"/>
                          </a:solidFill>
                          <a:latin typeface="Calibri"/>
                          <a:ea typeface="Calibri"/>
                          <a:cs typeface="Calibri"/>
                        </a:rPr>
                        <a:t>Each key paired with its value</a:t>
                      </a:r>
                    </a:p>
                  </a:txBody>
                  <a:tcPr marL="91440" marR="91440" marT="45720" marB="45720">
                    <a:solidFill>
                      <a:srgbClr val="FFFFFF"/>
                    </a:solidFill>
                  </a:tcPr>
                </a:tc>
              </a:tr>
            </a:tbl>
          </a:graphicData>
        </a:graphic>
      </p:graphicFrame>
      <p:sp>
        <p:nvSpPr>
          <p:cNvPr id="5" name="">
            <a:extLst xmlns:a="http://schemas.openxmlformats.org/drawingml/2006/main">
              <a:ext uri="{FF2B5EF4-FFF2-40B4-BE49-F238E27FC236}">
                <a16:creationId xmlns:a16="http://schemas.microsoft.com/office/drawing/2014/main" id="{532D7A94-BE26-4C7B-BC44-3460F27E303A}"/>
              </a:ext>
            </a:extLst>
          </p:cNvPr>
          <p:cNvSpPr>
            <a:spLocks xmlns:a="http://schemas.openxmlformats.org/drawingml/2006/main" noGrp="1"/>
          </p:cNvSpPr>
          <p:nvPr/>
        </p:nvSpPr>
        <p:spPr>
          <a:xfrm xmlns:a="http://schemas.openxmlformats.org/drawingml/2006/main">
            <a:off x="685800" y="5381625"/>
            <a:ext cx="10668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A default value is a stated rule. Choose it deliberately; zero is not automatically a suitable missing-data value.</a:t>
            </a:r>
          </a:p>
        </p:txBody>
      </p:sp>
      <p:sp>
        <p:nvSpPr>
          <p:cNvPr id="6" name="">
            <a:extLst xmlns:a="http://schemas.openxmlformats.org/drawingml/2006/main">
              <a:ext uri="{FF2B5EF4-FFF2-40B4-BE49-F238E27FC236}">
                <a16:creationId xmlns:a16="http://schemas.microsoft.com/office/drawing/2014/main" id="{D57145FF-0A30-419E-BFF5-D46C240D5B6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4   19</a:t>
            </a:r>
          </a:p>
        </p:txBody>
      </p:sp>
    </p:spTree>
    <p:extLst>
      <p:ext uri="{BB962C8B-B14F-4D97-AF65-F5344CB8AC3E}">
        <p14:creationId xmlns:p14="http://schemas.microsoft.com/office/powerpoint/2010/main" val="1021774294"/>
      </p:ext>
    </p:extLst>
  </p:cSld>
</p:sld>
</file>

<file path=ppt/slides/slide2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E7401E11-760E-493A-A5D2-432C5A6F22E1}"/>
              </a:ext>
            </a:extLst>
          </p:cNvPr>
          <p:cNvSpPr>
            <a:spLocks xmlns:a="http://schemas.openxmlformats.org/drawingml/2006/main" noGrp="1"/>
          </p:cNvSpPr>
          <p:nvPr/>
        </p:nvSpPr>
        <p:spPr>
          <a:xfrm xmlns:a="http://schemas.openxmlformats.org/drawingml/2006/main">
            <a:off x="0" y="0"/>
            <a:ext cx="12191695" cy="95250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739F8D70-2A78-4CC4-BFDE-5E5C2590B79A}"/>
              </a:ext>
            </a:extLst>
          </p:cNvPr>
          <p:cNvSpPr>
            <a:spLocks xmlns:a="http://schemas.openxmlformats.org/drawingml/2006/main" noGrp="1"/>
          </p:cNvSpPr>
          <p:nvPr/>
        </p:nvSpPr>
        <p:spPr>
          <a:xfrm xmlns:a="http://schemas.openxmlformats.org/drawingml/2006/main">
            <a:off x="476250" y="190500"/>
            <a:ext cx="11239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925" b="1">
                <a:solidFill>
                  <a:srgbClr val="FFFFFF"/>
                </a:solidFill>
                <a:latin typeface="Calibri"/>
                <a:ea typeface="Calibri"/>
                <a:cs typeface="Calibri"/>
              </a:defRPr>
            </a:pPr>
            <a:r>
              <a:rPr sz="2925" b="1">
                <a:solidFill>
                  <a:srgbClr val="FFFFFF"/>
                </a:solidFill>
                <a:latin typeface="Calibri"/>
                <a:ea typeface="Calibri"/>
                <a:cs typeface="Calibri"/>
              </a:rPr>
              <a:t>A position and a key find different things</a:t>
            </a:r>
          </a:p>
        </p:txBody>
      </p:sp>
      <p:pic>
        <p:nvPicPr>
          <p:cNvPr id="9" name=""/>
          <p:cNvPicPr>
            <a:picLocks xmlns:a="http://schemas.openxmlformats.org/drawingml/2006/main" noChangeAspect="1"/>
          </p:cNvPicPr>
          <p:nvPr/>
        </p:nvPicPr>
        <p:blipFill>
          <a:blip xmlns:r="http://schemas.openxmlformats.org/officeDocument/2006/relationships" xmlns:a="http://schemas.openxmlformats.org/drawingml/2006/main" r:embed="Ra8c09f4115dc40a5"/>
          <a:stretch xmlns:a="http://schemas.openxmlformats.org/drawingml/2006/main"/>
        </p:blipFill>
        <p:spPr>
          <a:xfrm xmlns:a="http://schemas.openxmlformats.org/drawingml/2006/main">
            <a:off x="1991849" y="1057275"/>
            <a:ext cx="8208303" cy="4619625"/>
          </a:xfrm>
          <a:prstGeom xmlns:a="http://schemas.openxmlformats.org/drawingml/2006/main" prst="rect">
            <a:avLst/>
          </a:prstGeom>
        </p:spPr>
      </p:pic>
      <p:sp>
        <p:nvSpPr>
          <p:cNvPr id="4" name="">
            <a:extLst xmlns:a="http://schemas.openxmlformats.org/drawingml/2006/main">
              <a:ext uri="{FF2B5EF4-FFF2-40B4-BE49-F238E27FC236}">
                <a16:creationId xmlns:a16="http://schemas.microsoft.com/office/drawing/2014/main" id="{65BA7CF8-FA0C-4127-9F69-C8BC9399E305}"/>
              </a:ext>
            </a:extLst>
          </p:cNvPr>
          <p:cNvSpPr>
            <a:spLocks xmlns:a="http://schemas.openxmlformats.org/drawingml/2006/main" noGrp="1"/>
          </p:cNvSpPr>
          <p:nvPr/>
        </p:nvSpPr>
        <p:spPr>
          <a:xfrm xmlns:a="http://schemas.openxmlformats.org/drawingml/2006/main">
            <a:off x="0" y="5810250"/>
            <a:ext cx="12191695" cy="5905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AA4714B8-581B-47EA-B3F7-4C94E5C139F9}"/>
              </a:ext>
            </a:extLst>
          </p:cNvPr>
          <p:cNvSpPr>
            <a:spLocks xmlns:a="http://schemas.openxmlformats.org/drawingml/2006/main" noGrp="1"/>
          </p:cNvSpPr>
          <p:nvPr/>
        </p:nvSpPr>
        <p:spPr>
          <a:xfrm xmlns:a="http://schemas.openxmlformats.org/drawingml/2006/main">
            <a:off x="552450" y="5886450"/>
            <a:ext cx="11049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Both examples return 4. Explain how each lookup finds it.</a:t>
            </a:r>
          </a:p>
        </p:txBody>
      </p:sp>
      <p:sp>
        <p:nvSpPr>
          <p:cNvPr id="6" name="">
            <a:extLst xmlns:a="http://schemas.openxmlformats.org/drawingml/2006/main">
              <a:ext uri="{FF2B5EF4-FFF2-40B4-BE49-F238E27FC236}">
                <a16:creationId xmlns:a16="http://schemas.microsoft.com/office/drawing/2014/main" id="{FFD44A8D-10B3-43A1-BF78-9E72C20021A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4   20</a:t>
            </a:r>
          </a:p>
        </p:txBody>
      </p:sp>
    </p:spTree>
    <p:extLst>
      <p:ext uri="{BB962C8B-B14F-4D97-AF65-F5344CB8AC3E}">
        <p14:creationId xmlns:p14="http://schemas.microsoft.com/office/powerpoint/2010/main" val="357350481"/>
      </p:ext>
    </p:extLst>
  </p:cSld>
</p:sld>
</file>

<file path=ppt/slides/slide2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C5A5C04B-1BE1-4484-8EC6-C2BA09F76B7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4A78603-600E-44B4-9E8E-2FFDEBDDF227}"/>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DBA466FC-750A-4B09-B463-6DEE49FAE99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dictionary gives each value a key</a:t>
            </a:r>
          </a:p>
        </p:txBody>
      </p:sp>
      <p:sp>
        <p:nvSpPr>
          <p:cNvPr id="4" name="">
            <a:extLst xmlns:a="http://schemas.openxmlformats.org/drawingml/2006/main">
              <a:ext uri="{FF2B5EF4-FFF2-40B4-BE49-F238E27FC236}">
                <a16:creationId xmlns:a16="http://schemas.microsoft.com/office/drawing/2014/main" id="{92420667-7A6A-4088-BB16-FC7BD746C298}"/>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B6D19DBE-FDAA-4AEA-A807-91580392756D}"/>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record = {"unit": "A", "reading": 4}</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print(record["reading"])</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record["reading"] = 6</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print(record.get("missing", 0))</a:t>
            </a:r>
          </a:p>
          <a:p xmlns:a="http://schemas.openxmlformats.org/drawingml/2006/main">
            <a:pPr>
              <a:defRPr sz="2175" b="0">
                <a:solidFill>
                  <a:srgbClr val="F4F7FA"/>
                </a:solidFill>
                <a:latin typeface="Courier New"/>
                <a:ea typeface="Courier New"/>
                <a:cs typeface="Courier New"/>
              </a:defRPr>
            </a:pPr>
            <a:r>
              <a:rPr sz="2175" b="0">
                <a:solidFill>
                  <a:srgbClr val="FFB080"/>
                </a:solidFill>
                <a:latin typeface="Courier New"/>
                <a:ea typeface="Courier New"/>
                <a:cs typeface="Courier New"/>
              </a:rPr>
              <a:t>for</a:t>
            </a:r>
            <a:r>
              <a:rPr sz="2175" b="0">
                <a:solidFill>
                  <a:srgbClr val="F4F7FA"/>
                </a:solidFill>
                <a:latin typeface="Courier New"/>
                <a:ea typeface="Courier New"/>
                <a:cs typeface="Courier New"/>
              </a:rPr>
              <a:t> key, value in record.items():</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print(key, value)</a:t>
            </a:r>
          </a:p>
        </p:txBody>
      </p:sp>
      <p:sp>
        <p:nvSpPr>
          <p:cNvPr id="6" name="">
            <a:extLst xmlns:a="http://schemas.openxmlformats.org/drawingml/2006/main">
              <a:ext uri="{FF2B5EF4-FFF2-40B4-BE49-F238E27FC236}">
                <a16:creationId xmlns:a16="http://schemas.microsoft.com/office/drawing/2014/main" id="{0B385D4D-39A3-42FF-B5FA-021DD8636469}"/>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7B7AE2FA-80E3-477D-B5FF-1717B24954BC}"/>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for takes the next item. The indented block repeats.</a:t>
            </a:r>
          </a:p>
        </p:txBody>
      </p:sp>
      <p:sp>
        <p:nvSpPr>
          <p:cNvPr id="8" name="">
            <a:extLst xmlns:a="http://schemas.openxmlformats.org/drawingml/2006/main">
              <a:ext uri="{FF2B5EF4-FFF2-40B4-BE49-F238E27FC236}">
                <a16:creationId xmlns:a16="http://schemas.microsoft.com/office/drawing/2014/main" id="{88F27621-E7F8-4DDF-8D53-FE605449620E}"/>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print displays a value below the cell.</a:t>
            </a:r>
          </a:p>
        </p:txBody>
      </p:sp>
      <p:sp>
        <p:nvSpPr>
          <p:cNvPr id="9" name="">
            <a:extLst xmlns:a="http://schemas.openxmlformats.org/drawingml/2006/main">
              <a:ext uri="{FF2B5EF4-FFF2-40B4-BE49-F238E27FC236}">
                <a16:creationId xmlns:a16="http://schemas.microsoft.com/office/drawing/2014/main" id="{10156B5F-FC9E-4F0C-82B9-AACC3CA4D949}"/>
              </a:ext>
            </a:extLst>
          </p:cNvPr>
          <p:cNvSpPr>
            <a:spLocks xmlns:a="http://schemas.openxmlformats.org/drawingml/2006/main" noGrp="1"/>
          </p:cNvSpPr>
          <p:nvPr/>
        </p:nvSpPr>
        <p:spPr>
          <a:xfrm xmlns:a="http://schemas.openxmlformats.org/drawingml/2006/main">
            <a:off x="8096250" y="43434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Square brackets create a list or select an item.</a:t>
            </a:r>
          </a:p>
        </p:txBody>
      </p:sp>
      <p:sp>
        <p:nvSpPr>
          <p:cNvPr id="10" name="">
            <a:extLst xmlns:a="http://schemas.openxmlformats.org/drawingml/2006/main">
              <a:ext uri="{FF2B5EF4-FFF2-40B4-BE49-F238E27FC236}">
                <a16:creationId xmlns:a16="http://schemas.microsoft.com/office/drawing/2014/main" id="{22CD079F-A381-4F66-AB67-176670FD4392}"/>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 builds a dictionary. Keys identify values. items() supplies key/value pairs.</a:t>
            </a:r>
          </a:p>
        </p:txBody>
      </p:sp>
      <p:sp>
        <p:nvSpPr>
          <p:cNvPr id="11" name="">
            <a:extLst xmlns:a="http://schemas.openxmlformats.org/drawingml/2006/main">
              <a:ext uri="{FF2B5EF4-FFF2-40B4-BE49-F238E27FC236}">
                <a16:creationId xmlns:a16="http://schemas.microsoft.com/office/drawing/2014/main" id="{17CF5D67-A85D-46BC-A302-692B05E796B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4   21</a:t>
            </a:r>
          </a:p>
        </p:txBody>
      </p:sp>
    </p:spTree>
    <p:extLst>
      <p:ext uri="{BB962C8B-B14F-4D97-AF65-F5344CB8AC3E}">
        <p14:creationId xmlns:p14="http://schemas.microsoft.com/office/powerpoint/2010/main" val="525841261"/>
      </p:ext>
    </p:extLst>
  </p:cSld>
</p:sld>
</file>

<file path=ppt/slides/slide2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BADA9B5E-3083-4305-8A0F-6DBAB346FDF7}"/>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45FADEA0-623F-47DE-ACDE-12B5DECB2B5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READ THE EXAMPLE</a:t>
            </a:r>
          </a:p>
        </p:txBody>
      </p:sp>
      <p:sp>
        <p:nvSpPr>
          <p:cNvPr id="3" name="">
            <a:extLst xmlns:a="http://schemas.openxmlformats.org/drawingml/2006/main">
              <a:ext uri="{FF2B5EF4-FFF2-40B4-BE49-F238E27FC236}">
                <a16:creationId xmlns:a16="http://schemas.microsoft.com/office/drawing/2014/main" id="{E280B1A8-9842-48B5-B427-49B8227C43E5}"/>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Three ways to collect values</a:t>
            </a:r>
          </a:p>
        </p:txBody>
      </p:sp>
      <p:graphicFrame>
        <p:nvGraphicFramePr>
          <p:cNvPr id="10" name=""/>
          <p:cNvGraphicFramePr/>
          <p:nvPr/>
        </p:nvGraphicFramePr>
        <p:xfrm>
          <a:off xmlns:a="http://schemas.openxmlformats.org/drawingml/2006/main" x="590550" y="1733550"/>
          <a:ext xmlns:a="http://schemas.openxmlformats.org/drawingml/2006/main" cx="11010900" cy="3333750"/>
        </p:xfrm>
        <a:graphic xmlns:a="http://schemas.openxmlformats.org/drawingml/2006/main">
          <a:graphicData uri="http://schemas.openxmlformats.org/drawingml/2006/table">
            <a:tbl>
              <a:tblPr/>
              <a:tblGrid>
                <a:gridCol w="3670300"/>
                <a:gridCol w="3670300"/>
                <a:gridCol w="3670300"/>
              </a:tblGrid>
              <a:tr h="833438">
                <a:tc>
                  <a:txBody>
                    <a:bodyPr/>
                    <a:lstStyle/>
                    <a:p>
                      <a:r>
                        <a:rPr sz="2025" b="1">
                          <a:solidFill>
                            <a:srgbClr val="FFFFFF"/>
                          </a:solidFill>
                          <a:latin typeface="Calibri"/>
                          <a:ea typeface="Calibri"/>
                          <a:cs typeface="Calibri"/>
                        </a:rPr>
                        <a:t>Collection</a:t>
                      </a:r>
                    </a:p>
                  </a:txBody>
                  <a:tcPr marL="91440" marR="91440" marT="45720" marB="45720">
                    <a:solidFill>
                      <a:srgbClr val="2E7D6F"/>
                    </a:solidFill>
                  </a:tcPr>
                </a:tc>
                <a:tc>
                  <a:txBody>
                    <a:bodyPr/>
                    <a:lstStyle/>
                    <a:p>
                      <a:r>
                        <a:rPr sz="2025" b="1">
                          <a:solidFill>
                            <a:srgbClr val="FFFFFF"/>
                          </a:solidFill>
                          <a:latin typeface="Calibri"/>
                          <a:ea typeface="Calibri"/>
                          <a:cs typeface="Calibri"/>
                        </a:rPr>
                        <a:t>Example</a:t>
                      </a:r>
                    </a:p>
                  </a:txBody>
                  <a:tcPr marL="91440" marR="91440" marT="45720" marB="45720">
                    <a:solidFill>
                      <a:srgbClr val="2E7D6F"/>
                    </a:solidFill>
                  </a:tcPr>
                </a:tc>
                <a:tc>
                  <a:txBody>
                    <a:bodyPr/>
                    <a:lstStyle/>
                    <a:p>
                      <a:r>
                        <a:rPr sz="2025" b="1">
                          <a:solidFill>
                            <a:srgbClr val="FFFFFF"/>
                          </a:solidFill>
                          <a:latin typeface="Calibri"/>
                          <a:ea typeface="Calibri"/>
                          <a:cs typeface="Calibri"/>
                        </a:rPr>
                        <a:t>Use</a:t>
                      </a:r>
                    </a:p>
                  </a:txBody>
                  <a:tcPr marL="91440" marR="91440" marT="45720" marB="45720">
                    <a:solidFill>
                      <a:srgbClr val="2E7D6F"/>
                    </a:solidFill>
                  </a:tcPr>
                </a:tc>
              </a:tr>
              <a:tr h="833438">
                <a:tc>
                  <a:txBody>
                    <a:bodyPr/>
                    <a:lstStyle/>
                    <a:p>
                      <a:r>
                        <a:rPr sz="2025" b="0">
                          <a:solidFill>
                            <a:srgbClr val="1C3144"/>
                          </a:solidFill>
                          <a:latin typeface="Calibri"/>
                          <a:ea typeface="Calibri"/>
                          <a:cs typeface="Calibri"/>
                        </a:rPr>
                        <a:t>list</a:t>
                      </a:r>
                    </a:p>
                  </a:txBody>
                  <a:tcPr marL="91440" marR="91440" marT="45720" marB="45720">
                    <a:solidFill>
                      <a:srgbClr val="EEF3F6"/>
                    </a:solidFill>
                  </a:tcPr>
                </a:tc>
                <a:tc>
                  <a:txBody>
                    <a:bodyPr/>
                    <a:lstStyle/>
                    <a:p>
                      <a:r>
                        <a:rPr sz="2025" b="0">
                          <a:solidFill>
                            <a:srgbClr val="1C3144"/>
                          </a:solidFill>
                          <a:latin typeface="Calibri"/>
                          <a:ea typeface="Calibri"/>
                          <a:cs typeface="Calibri"/>
                        </a:rPr>
                        <a:t>[2, 4, 6]</a:t>
                      </a:r>
                    </a:p>
                  </a:txBody>
                  <a:tcPr marL="91440" marR="91440" marT="45720" marB="45720">
                    <a:solidFill>
                      <a:srgbClr val="EEF3F6"/>
                    </a:solidFill>
                  </a:tcPr>
                </a:tc>
                <a:tc>
                  <a:txBody>
                    <a:bodyPr/>
                    <a:lstStyle/>
                    <a:p>
                      <a:r>
                        <a:rPr sz="2025" b="0">
                          <a:solidFill>
                            <a:srgbClr val="1C3144"/>
                          </a:solidFill>
                          <a:latin typeface="Calibri"/>
                          <a:ea typeface="Calibri"/>
                          <a:cs typeface="Calibri"/>
                        </a:rPr>
                        <a:t>Ordered items you may change</a:t>
                      </a:r>
                    </a:p>
                  </a:txBody>
                  <a:tcPr marL="91440" marR="91440" marT="45720" marB="45720">
                    <a:solidFill>
                      <a:srgbClr val="EEF3F6"/>
                    </a:solidFill>
                  </a:tcPr>
                </a:tc>
              </a:tr>
              <a:tr h="833438">
                <a:tc>
                  <a:txBody>
                    <a:bodyPr/>
                    <a:lstStyle/>
                    <a:p>
                      <a:r>
                        <a:rPr sz="2025" b="0">
                          <a:solidFill>
                            <a:srgbClr val="1C3144"/>
                          </a:solidFill>
                          <a:latin typeface="Calibri"/>
                          <a:ea typeface="Calibri"/>
                          <a:cs typeface="Calibri"/>
                        </a:rPr>
                        <a:t>tuple</a:t>
                      </a:r>
                    </a:p>
                  </a:txBody>
                  <a:tcPr marL="91440" marR="91440" marT="45720" marB="45720">
                    <a:solidFill>
                      <a:srgbClr val="FFFFFF"/>
                    </a:solidFill>
                  </a:tcPr>
                </a:tc>
                <a:tc>
                  <a:txBody>
                    <a:bodyPr/>
                    <a:lstStyle/>
                    <a:p>
                      <a:r>
                        <a:rPr sz="2025" b="0">
                          <a:solidFill>
                            <a:srgbClr val="1C3144"/>
                          </a:solidFill>
                          <a:latin typeface="Calibri"/>
                          <a:ea typeface="Calibri"/>
                          <a:cs typeface="Calibri"/>
                        </a:rPr>
                        <a:t>(2, 4)</a:t>
                      </a:r>
                    </a:p>
                  </a:txBody>
                  <a:tcPr marL="91440" marR="91440" marT="45720" marB="45720">
                    <a:solidFill>
                      <a:srgbClr val="FFFFFF"/>
                    </a:solidFill>
                  </a:tcPr>
                </a:tc>
                <a:tc>
                  <a:txBody>
                    <a:bodyPr/>
                    <a:lstStyle/>
                    <a:p>
                      <a:r>
                        <a:rPr sz="2025" b="0">
                          <a:solidFill>
                            <a:srgbClr val="1C3144"/>
                          </a:solidFill>
                          <a:latin typeface="Calibri"/>
                          <a:ea typeface="Calibri"/>
                          <a:cs typeface="Calibri"/>
                        </a:rPr>
                        <a:t>Fixed collection</a:t>
                      </a:r>
                    </a:p>
                  </a:txBody>
                  <a:tcPr marL="91440" marR="91440" marT="45720" marB="45720">
                    <a:solidFill>
                      <a:srgbClr val="FFFFFF"/>
                    </a:solidFill>
                  </a:tcPr>
                </a:tc>
              </a:tr>
              <a:tr h="833438">
                <a:tc>
                  <a:txBody>
                    <a:bodyPr/>
                    <a:lstStyle/>
                    <a:p>
                      <a:r>
                        <a:rPr sz="2025" b="0">
                          <a:solidFill>
                            <a:srgbClr val="1C3144"/>
                          </a:solidFill>
                          <a:latin typeface="Calibri"/>
                          <a:ea typeface="Calibri"/>
                          <a:cs typeface="Calibri"/>
                        </a:rPr>
                        <a:t>set</a:t>
                      </a:r>
                    </a:p>
                  </a:txBody>
                  <a:tcPr marL="91440" marR="91440" marT="45720" marB="45720">
                    <a:solidFill>
                      <a:srgbClr val="EEF3F6"/>
                    </a:solidFill>
                  </a:tcPr>
                </a:tc>
                <a:tc>
                  <a:txBody>
                    <a:bodyPr/>
                    <a:lstStyle/>
                    <a:p>
                      <a:r>
                        <a:rPr sz="2025" b="0">
                          <a:solidFill>
                            <a:srgbClr val="1C3144"/>
                          </a:solidFill>
                          <a:latin typeface="Calibri"/>
                          <a:ea typeface="Calibri"/>
                          <a:cs typeface="Calibri"/>
                        </a:rPr>
                        <a:t>{2, 4}</a:t>
                      </a:r>
                    </a:p>
                  </a:txBody>
                  <a:tcPr marL="91440" marR="91440" marT="45720" marB="45720">
                    <a:solidFill>
                      <a:srgbClr val="EEF3F6"/>
                    </a:solidFill>
                  </a:tcPr>
                </a:tc>
                <a:tc>
                  <a:txBody>
                    <a:bodyPr/>
                    <a:lstStyle/>
                    <a:p>
                      <a:r>
                        <a:rPr sz="2025" b="0">
                          <a:solidFill>
                            <a:srgbClr val="1C3144"/>
                          </a:solidFill>
                          <a:latin typeface="Calibri"/>
                          <a:ea typeface="Calibri"/>
                          <a:cs typeface="Calibri"/>
                        </a:rPr>
                        <a:t>Unique values / membership</a:t>
                      </a:r>
                    </a:p>
                  </a:txBody>
                  <a:tcPr marL="91440" marR="91440" marT="45720" marB="45720">
                    <a:solidFill>
                      <a:srgbClr val="EEF3F6"/>
                    </a:solidFill>
                  </a:tcPr>
                </a:tc>
              </a:tr>
            </a:tbl>
          </a:graphicData>
        </a:graphic>
      </p:graphicFrame>
      <p:sp>
        <p:nvSpPr>
          <p:cNvPr id="5" name="">
            <a:extLst xmlns:a="http://schemas.openxmlformats.org/drawingml/2006/main">
              <a:ext uri="{FF2B5EF4-FFF2-40B4-BE49-F238E27FC236}">
                <a16:creationId xmlns:a16="http://schemas.microsoft.com/office/drawing/2014/main" id="{75D53718-3091-4C0F-97A3-BA694E8FADEA}"/>
              </a:ext>
            </a:extLst>
          </p:cNvPr>
          <p:cNvSpPr>
            <a:spLocks xmlns:a="http://schemas.openxmlformats.org/drawingml/2006/main" noGrp="1"/>
          </p:cNvSpPr>
          <p:nvPr/>
        </p:nvSpPr>
        <p:spPr>
          <a:xfrm xmlns:a="http://schemas.openxmlformats.org/drawingml/2006/main">
            <a:off x="685800" y="5381625"/>
            <a:ext cx="10668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A dictionary uses key: value pairs, such as {"reading": 4}.</a:t>
            </a:r>
          </a:p>
        </p:txBody>
      </p:sp>
      <p:sp>
        <p:nvSpPr>
          <p:cNvPr id="6" name="">
            <a:extLst xmlns:a="http://schemas.openxmlformats.org/drawingml/2006/main">
              <a:ext uri="{FF2B5EF4-FFF2-40B4-BE49-F238E27FC236}">
                <a16:creationId xmlns:a16="http://schemas.microsoft.com/office/drawing/2014/main" id="{2D88BD7D-3047-41BF-A0B2-6C2E9F20ABC9}"/>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4   22</a:t>
            </a:r>
          </a:p>
        </p:txBody>
      </p:sp>
    </p:spTree>
    <p:extLst>
      <p:ext uri="{BB962C8B-B14F-4D97-AF65-F5344CB8AC3E}">
        <p14:creationId xmlns:p14="http://schemas.microsoft.com/office/powerpoint/2010/main" val="1746328259"/>
      </p:ext>
    </p:extLst>
  </p:cSld>
</p:sld>
</file>

<file path=ppt/slides/slide2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729E500C-B804-4D62-AEC0-E12B0445A87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F364F69F-24BE-4670-8D56-34FD541F546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8C051CFC-E7DF-4068-AEAA-0D5DD65A428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CSV and header</a:t>
            </a:r>
          </a:p>
        </p:txBody>
      </p:sp>
      <p:sp>
        <p:nvSpPr>
          <p:cNvPr id="4" name="">
            <a:extLst xmlns:a="http://schemas.openxmlformats.org/drawingml/2006/main">
              <a:ext uri="{FF2B5EF4-FFF2-40B4-BE49-F238E27FC236}">
                <a16:creationId xmlns:a16="http://schemas.microsoft.com/office/drawing/2014/main" id="{462BDB66-4AE1-4264-9255-99D4867521C3}"/>
              </a:ext>
            </a:extLst>
          </p:cNvPr>
          <p:cNvSpPr>
            <a:spLocks xmlns:a="http://schemas.openxmlformats.org/drawingml/2006/main" noGrp="1"/>
          </p:cNvSpPr>
          <p:nvPr/>
        </p:nvSpPr>
        <p:spPr>
          <a:xfrm xmlns:a="http://schemas.openxmlformats.org/drawingml/2006/main">
            <a:off x="590550" y="1714500"/>
            <a:ext cx="110109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5A6348EE-6249-4259-A9D4-9D39A46732B1}"/>
              </a:ext>
            </a:extLst>
          </p:cNvPr>
          <p:cNvSpPr>
            <a:spLocks xmlns:a="http://schemas.openxmlformats.org/drawingml/2006/main" noGrp="1"/>
          </p:cNvSpPr>
          <p:nvPr/>
        </p:nvSpPr>
        <p:spPr>
          <a:xfrm xmlns:a="http://schemas.openxmlformats.org/drawingml/2006/main">
            <a:off x="828675" y="1952625"/>
            <a:ext cx="104394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E4572E"/>
                </a:solidFill>
                <a:latin typeface="Calibri"/>
                <a:ea typeface="Calibri"/>
                <a:cs typeface="Calibri"/>
              </a:defRPr>
            </a:pPr>
            <a:r>
              <a:rPr sz="3150" b="1">
                <a:solidFill>
                  <a:srgbClr val="E4572E"/>
                </a:solidFill>
                <a:latin typeface="Calibri"/>
                <a:ea typeface="Calibri"/>
                <a:cs typeface="Calibri"/>
              </a:rPr>
              <a:t>CSV and header</a:t>
            </a:r>
          </a:p>
        </p:txBody>
      </p:sp>
      <p:sp>
        <p:nvSpPr>
          <p:cNvPr id="6" name="">
            <a:extLst xmlns:a="http://schemas.openxmlformats.org/drawingml/2006/main">
              <a:ext uri="{FF2B5EF4-FFF2-40B4-BE49-F238E27FC236}">
                <a16:creationId xmlns:a16="http://schemas.microsoft.com/office/drawing/2014/main" id="{DEA68CEF-3D05-4795-8546-9F06366FBF3A}"/>
              </a:ext>
            </a:extLst>
          </p:cNvPr>
          <p:cNvSpPr>
            <a:spLocks xmlns:a="http://schemas.openxmlformats.org/drawingml/2006/main" noGrp="1"/>
          </p:cNvSpPr>
          <p:nvPr/>
        </p:nvSpPr>
        <p:spPr>
          <a:xfrm xmlns:a="http://schemas.openxmlformats.org/drawingml/2006/main">
            <a:off x="828675" y="3067050"/>
            <a:ext cx="10439400"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0">
                <a:solidFill>
                  <a:srgbClr val="1C3144"/>
                </a:solidFill>
                <a:latin typeface="Calibri"/>
                <a:ea typeface="Calibri"/>
                <a:cs typeface="Calibri"/>
              </a:defRPr>
            </a:pPr>
            <a:r>
              <a:rPr sz="2550" b="0">
                <a:solidFill>
                  <a:srgbClr val="1C3144"/>
                </a:solidFill>
                <a:latin typeface="Calibri"/>
                <a:ea typeface="Calibri"/>
                <a:cs typeface="Calibri"/>
              </a:rPr>
              <a:t>CSV means comma-separated values. One line usually represents one record; a header names the columns. CSV numbers arrive as text and may need float conversion.</a:t>
            </a:r>
          </a:p>
        </p:txBody>
      </p:sp>
      <p:sp>
        <p:nvSpPr>
          <p:cNvPr id="7" name="">
            <a:extLst xmlns:a="http://schemas.openxmlformats.org/drawingml/2006/main">
              <a:ext uri="{FF2B5EF4-FFF2-40B4-BE49-F238E27FC236}">
                <a16:creationId xmlns:a16="http://schemas.microsoft.com/office/drawing/2014/main" id="{D708B86E-6D45-4938-A2FD-DA7240F5561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4   23</a:t>
            </a:r>
          </a:p>
        </p:txBody>
      </p:sp>
    </p:spTree>
    <p:extLst>
      <p:ext uri="{BB962C8B-B14F-4D97-AF65-F5344CB8AC3E}">
        <p14:creationId xmlns:p14="http://schemas.microsoft.com/office/powerpoint/2010/main" val="1604702033"/>
      </p:ext>
    </p:extLst>
  </p:cSld>
</p:sld>
</file>

<file path=ppt/slides/slide2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EA67F549-ED1B-4181-8F98-834303F566D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5BCAB680-5D7C-40E6-ACEC-12DBF60D75A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67D37AF1-E4EA-4D32-825E-F90C235E7235}"/>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One record at a time</a:t>
            </a:r>
          </a:p>
        </p:txBody>
      </p:sp>
      <p:sp>
        <p:nvSpPr>
          <p:cNvPr id="4" name="">
            <a:extLst xmlns:a="http://schemas.openxmlformats.org/drawingml/2006/main">
              <a:ext uri="{FF2B5EF4-FFF2-40B4-BE49-F238E27FC236}">
                <a16:creationId xmlns:a16="http://schemas.microsoft.com/office/drawing/2014/main" id="{C82103C0-20BA-4658-840C-F2BABBEAD2E2}"/>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46DAD3D5-C6A3-480C-9D10-35A187876F4A}"/>
              </a:ext>
            </a:extLst>
          </p:cNvPr>
          <p:cNvSpPr>
            <a:spLocks xmlns:a="http://schemas.openxmlformats.org/drawingml/2006/main" noGrp="1"/>
          </p:cNvSpPr>
          <p:nvPr/>
        </p:nvSpPr>
        <p:spPr>
          <a:xfrm xmlns:a="http://schemas.openxmlformats.org/drawingml/2006/main">
            <a:off x="1381125" y="1781175"/>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CSV is a text table with a header row.</a:t>
            </a:r>
          </a:p>
        </p:txBody>
      </p:sp>
      <p:sp>
        <p:nvSpPr>
          <p:cNvPr id="6" name="">
            <a:extLst xmlns:a="http://schemas.openxmlformats.org/drawingml/2006/main">
              <a:ext uri="{FF2B5EF4-FFF2-40B4-BE49-F238E27FC236}">
                <a16:creationId xmlns:a16="http://schemas.microsoft.com/office/drawing/2014/main" id="{75448A1F-A9DF-42D2-BD25-E9A40A4A8468}"/>
              </a:ext>
            </a:extLst>
          </p:cNvPr>
          <p:cNvSpPr>
            <a:spLocks xmlns:a="http://schemas.openxmlformats.org/drawingml/2006/main" noGrp="1"/>
          </p:cNvSpPr>
          <p:nvPr/>
        </p:nvSpPr>
        <p:spPr>
          <a:xfrm xmlns:a="http://schemas.openxmlformats.org/drawingml/2006/main">
            <a:off x="590550" y="28527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2CEBDB6E-C597-4FC0-9AB3-51C22C6D6397}"/>
              </a:ext>
            </a:extLst>
          </p:cNvPr>
          <p:cNvSpPr>
            <a:spLocks xmlns:a="http://schemas.openxmlformats.org/drawingml/2006/main" noGrp="1"/>
          </p:cNvSpPr>
          <p:nvPr/>
        </p:nvSpPr>
        <p:spPr>
          <a:xfrm xmlns:a="http://schemas.openxmlformats.org/drawingml/2006/main">
            <a:off x="1381125" y="2852738"/>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DictReader uses that header for dictionary keys.</a:t>
            </a:r>
          </a:p>
        </p:txBody>
      </p:sp>
      <p:sp>
        <p:nvSpPr>
          <p:cNvPr id="8" name="">
            <a:extLst xmlns:a="http://schemas.openxmlformats.org/drawingml/2006/main">
              <a:ext uri="{FF2B5EF4-FFF2-40B4-BE49-F238E27FC236}">
                <a16:creationId xmlns:a16="http://schemas.microsoft.com/office/drawing/2014/main" id="{5BEBAF98-21AC-464A-BE15-5F7898B6101D}"/>
              </a:ext>
            </a:extLst>
          </p:cNvPr>
          <p:cNvSpPr>
            <a:spLocks xmlns:a="http://schemas.openxmlformats.org/drawingml/2006/main" noGrp="1"/>
          </p:cNvSpPr>
          <p:nvPr/>
        </p:nvSpPr>
        <p:spPr>
          <a:xfrm xmlns:a="http://schemas.openxmlformats.org/drawingml/2006/main">
            <a:off x="590550" y="392430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16D66CD2-095E-4BBD-838C-190F7510B4E5}"/>
              </a:ext>
            </a:extLst>
          </p:cNvPr>
          <p:cNvSpPr>
            <a:spLocks xmlns:a="http://schemas.openxmlformats.org/drawingml/2006/main" noGrp="1"/>
          </p:cNvSpPr>
          <p:nvPr/>
        </p:nvSpPr>
        <p:spPr>
          <a:xfrm xmlns:a="http://schemas.openxmlformats.org/drawingml/2006/main">
            <a:off x="1381125" y="3924300"/>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CSV cells begin as text, even when they look numeric.</a:t>
            </a:r>
          </a:p>
        </p:txBody>
      </p:sp>
      <p:sp>
        <p:nvSpPr>
          <p:cNvPr id="10" name="">
            <a:extLst xmlns:a="http://schemas.openxmlformats.org/drawingml/2006/main">
              <a:ext uri="{FF2B5EF4-FFF2-40B4-BE49-F238E27FC236}">
                <a16:creationId xmlns:a16="http://schemas.microsoft.com/office/drawing/2014/main" id="{43061F3A-8167-4352-89F0-701E3D496BED}"/>
              </a:ext>
            </a:extLst>
          </p:cNvPr>
          <p:cNvSpPr>
            <a:spLocks xmlns:a="http://schemas.openxmlformats.org/drawingml/2006/main" noGrp="1"/>
          </p:cNvSpPr>
          <p:nvPr/>
        </p:nvSpPr>
        <p:spPr>
          <a:xfrm xmlns:a="http://schemas.openxmlformats.org/drawingml/2006/main">
            <a:off x="590550" y="49958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35764C6B-E63F-42B4-81E9-01BDB55F87D3}"/>
              </a:ext>
            </a:extLst>
          </p:cNvPr>
          <p:cNvSpPr>
            <a:spLocks xmlns:a="http://schemas.openxmlformats.org/drawingml/2006/main" noGrp="1"/>
          </p:cNvSpPr>
          <p:nvPr/>
        </p:nvSpPr>
        <p:spPr>
          <a:xfrm xmlns:a="http://schemas.openxmlformats.org/drawingml/2006/main">
            <a:off x="1381125" y="4995863"/>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float("2.5") converts text into the number 2.5.</a:t>
            </a:r>
          </a:p>
        </p:txBody>
      </p:sp>
      <p:sp>
        <p:nvSpPr>
          <p:cNvPr id="12" name="">
            <a:extLst xmlns:a="http://schemas.openxmlformats.org/drawingml/2006/main">
              <a:ext uri="{FF2B5EF4-FFF2-40B4-BE49-F238E27FC236}">
                <a16:creationId xmlns:a16="http://schemas.microsoft.com/office/drawing/2014/main" id="{53958083-660E-4E74-98BB-2494BA54FF9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4   24</a:t>
            </a:r>
          </a:p>
        </p:txBody>
      </p:sp>
    </p:spTree>
    <p:extLst>
      <p:ext uri="{BB962C8B-B14F-4D97-AF65-F5344CB8AC3E}">
        <p14:creationId xmlns:p14="http://schemas.microsoft.com/office/powerpoint/2010/main" val="1096969453"/>
      </p:ext>
    </p:extLst>
  </p:cSld>
</p:sld>
</file>

<file path=ppt/slides/slide2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7FC2190B-8BD1-401B-839D-C502243F0984}"/>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4B145057-69B0-4955-A126-8E425D863FB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READ THE EXAMPLE</a:t>
            </a:r>
          </a:p>
        </p:txBody>
      </p:sp>
      <p:sp>
        <p:nvSpPr>
          <p:cNvPr id="3" name="">
            <a:extLst xmlns:a="http://schemas.openxmlformats.org/drawingml/2006/main">
              <a:ext uri="{FF2B5EF4-FFF2-40B4-BE49-F238E27FC236}">
                <a16:creationId xmlns:a16="http://schemas.microsoft.com/office/drawing/2014/main" id="{B7C7D7F2-B6A9-48FC-9262-109462C0639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CSV file has a header and text values</a:t>
            </a:r>
          </a:p>
        </p:txBody>
      </p:sp>
      <p:graphicFrame>
        <p:nvGraphicFramePr>
          <p:cNvPr id="10" name=""/>
          <p:cNvGraphicFramePr/>
          <p:nvPr/>
        </p:nvGraphicFramePr>
        <p:xfrm>
          <a:off xmlns:a="http://schemas.openxmlformats.org/drawingml/2006/main" x="590550" y="1733550"/>
          <a:ext xmlns:a="http://schemas.openxmlformats.org/drawingml/2006/main" cx="11010900" cy="3333750"/>
        </p:xfrm>
        <a:graphic xmlns:a="http://schemas.openxmlformats.org/drawingml/2006/main">
          <a:graphicData uri="http://schemas.openxmlformats.org/drawingml/2006/table">
            <a:tbl>
              <a:tblPr/>
              <a:tblGrid>
                <a:gridCol w="5505450"/>
                <a:gridCol w="5505450"/>
              </a:tblGrid>
              <a:tr h="833438">
                <a:tc>
                  <a:txBody>
                    <a:bodyPr/>
                    <a:lstStyle/>
                    <a:p>
                      <a:r>
                        <a:rPr sz="2025" b="1">
                          <a:solidFill>
                            <a:srgbClr val="FFFFFF"/>
                          </a:solidFill>
                          <a:latin typeface="Calibri"/>
                          <a:ea typeface="Calibri"/>
                          <a:cs typeface="Calibri"/>
                        </a:rPr>
                        <a:t>CSV line</a:t>
                      </a:r>
                    </a:p>
                  </a:txBody>
                  <a:tcPr marL="91440" marR="91440" marT="45720" marB="45720">
                    <a:solidFill>
                      <a:srgbClr val="2E7D6F"/>
                    </a:solidFill>
                  </a:tcPr>
                </a:tc>
                <a:tc>
                  <a:txBody>
                    <a:bodyPr/>
                    <a:lstStyle/>
                    <a:p>
                      <a:r>
                        <a:rPr sz="2025" b="1">
                          <a:solidFill>
                            <a:srgbClr val="FFFFFF"/>
                          </a:solidFill>
                          <a:latin typeface="Calibri"/>
                          <a:ea typeface="Calibri"/>
                          <a:cs typeface="Calibri"/>
                        </a:rPr>
                        <a:t>Dictionary meaning</a:t>
                      </a:r>
                    </a:p>
                  </a:txBody>
                  <a:tcPr marL="91440" marR="91440" marT="45720" marB="45720">
                    <a:solidFill>
                      <a:srgbClr val="2E7D6F"/>
                    </a:solidFill>
                  </a:tcPr>
                </a:tc>
              </a:tr>
              <a:tr h="833438">
                <a:tc>
                  <a:txBody>
                    <a:bodyPr/>
                    <a:lstStyle/>
                    <a:p>
                      <a:r>
                        <a:rPr sz="2025" b="0">
                          <a:solidFill>
                            <a:srgbClr val="1C3144"/>
                          </a:solidFill>
                          <a:latin typeface="Calibri"/>
                          <a:ea typeface="Calibri"/>
                          <a:cs typeface="Calibri"/>
                        </a:rPr>
                        <a:t>unit,reading</a:t>
                      </a:r>
                    </a:p>
                  </a:txBody>
                  <a:tcPr marL="91440" marR="91440" marT="45720" marB="45720">
                    <a:solidFill>
                      <a:srgbClr val="EEF3F6"/>
                    </a:solidFill>
                  </a:tcPr>
                </a:tc>
                <a:tc>
                  <a:txBody>
                    <a:bodyPr/>
                    <a:lstStyle/>
                    <a:p>
                      <a:r>
                        <a:rPr sz="2025" b="0">
                          <a:solidFill>
                            <a:srgbClr val="1C3144"/>
                          </a:solidFill>
                          <a:latin typeface="Calibri"/>
                          <a:ea typeface="Calibri"/>
                          <a:cs typeface="Calibri"/>
                        </a:rPr>
                        <a:t>Two field names</a:t>
                      </a:r>
                    </a:p>
                  </a:txBody>
                  <a:tcPr marL="91440" marR="91440" marT="45720" marB="45720">
                    <a:solidFill>
                      <a:srgbClr val="EEF3F6"/>
                    </a:solidFill>
                  </a:tcPr>
                </a:tc>
              </a:tr>
              <a:tr h="833438">
                <a:tc>
                  <a:txBody>
                    <a:bodyPr/>
                    <a:lstStyle/>
                    <a:p>
                      <a:r>
                        <a:rPr sz="2025" b="0">
                          <a:solidFill>
                            <a:srgbClr val="1C3144"/>
                          </a:solidFill>
                          <a:latin typeface="Calibri"/>
                          <a:ea typeface="Calibri"/>
                          <a:cs typeface="Calibri"/>
                        </a:rPr>
                        <a:t>A,2.5</a:t>
                      </a:r>
                    </a:p>
                  </a:txBody>
                  <a:tcPr marL="91440" marR="91440" marT="45720" marB="45720">
                    <a:solidFill>
                      <a:srgbClr val="FFFFFF"/>
                    </a:solidFill>
                  </a:tcPr>
                </a:tc>
                <a:tc>
                  <a:txBody>
                    <a:bodyPr/>
                    <a:lstStyle/>
                    <a:p>
                      <a:r>
                        <a:rPr sz="2025" b="0">
                          <a:solidFill>
                            <a:srgbClr val="1C3144"/>
                          </a:solidFill>
                          <a:latin typeface="Calibri"/>
                          <a:ea typeface="Calibri"/>
                          <a:cs typeface="Calibri"/>
                        </a:rPr>
                        <a:t>{"unit": "A", "reading": "2.5"}</a:t>
                      </a:r>
                    </a:p>
                  </a:txBody>
                  <a:tcPr marL="91440" marR="91440" marT="45720" marB="45720">
                    <a:solidFill>
                      <a:srgbClr val="FFFFFF"/>
                    </a:solidFill>
                  </a:tcPr>
                </a:tc>
              </a:tr>
              <a:tr h="833438">
                <a:tc>
                  <a:txBody>
                    <a:bodyPr/>
                    <a:lstStyle/>
                    <a:p>
                      <a:r>
                        <a:rPr sz="2025" b="0">
                          <a:solidFill>
                            <a:srgbClr val="1C3144"/>
                          </a:solidFill>
                          <a:latin typeface="Calibri"/>
                          <a:ea typeface="Calibri"/>
                          <a:cs typeface="Calibri"/>
                        </a:rPr>
                        <a:t>B,</a:t>
                      </a:r>
                    </a:p>
                  </a:txBody>
                  <a:tcPr marL="91440" marR="91440" marT="45720" marB="45720">
                    <a:solidFill>
                      <a:srgbClr val="EEF3F6"/>
                    </a:solidFill>
                  </a:tcPr>
                </a:tc>
                <a:tc>
                  <a:txBody>
                    <a:bodyPr/>
                    <a:lstStyle/>
                    <a:p>
                      <a:r>
                        <a:rPr sz="2025" b="0">
                          <a:solidFill>
                            <a:srgbClr val="1C3144"/>
                          </a:solidFill>
                          <a:latin typeface="Calibri"/>
                          <a:ea typeface="Calibri"/>
                          <a:cs typeface="Calibri"/>
                        </a:rPr>
                        <a:t>{"unit": "B", "reading": ""}</a:t>
                      </a:r>
                    </a:p>
                  </a:txBody>
                  <a:tcPr marL="91440" marR="91440" marT="45720" marB="45720">
                    <a:solidFill>
                      <a:srgbClr val="EEF3F6"/>
                    </a:solidFill>
                  </a:tcPr>
                </a:tc>
              </a:tr>
            </a:tbl>
          </a:graphicData>
        </a:graphic>
      </p:graphicFrame>
      <p:sp>
        <p:nvSpPr>
          <p:cNvPr id="5" name="">
            <a:extLst xmlns:a="http://schemas.openxmlformats.org/drawingml/2006/main">
              <a:ext uri="{FF2B5EF4-FFF2-40B4-BE49-F238E27FC236}">
                <a16:creationId xmlns:a16="http://schemas.microsoft.com/office/drawing/2014/main" id="{9BCD2E16-7384-4342-876A-E421FF4C46AB}"/>
              </a:ext>
            </a:extLst>
          </p:cNvPr>
          <p:cNvSpPr>
            <a:spLocks xmlns:a="http://schemas.openxmlformats.org/drawingml/2006/main" noGrp="1"/>
          </p:cNvSpPr>
          <p:nvPr/>
        </p:nvSpPr>
        <p:spPr>
          <a:xfrm xmlns:a="http://schemas.openxmlformats.org/drawingml/2006/main">
            <a:off x="685800" y="5381625"/>
            <a:ext cx="10668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An empty field is empty text. Check the task’s rule before converting it.</a:t>
            </a:r>
          </a:p>
        </p:txBody>
      </p:sp>
      <p:sp>
        <p:nvSpPr>
          <p:cNvPr id="6" name="">
            <a:extLst xmlns:a="http://schemas.openxmlformats.org/drawingml/2006/main">
              <a:ext uri="{FF2B5EF4-FFF2-40B4-BE49-F238E27FC236}">
                <a16:creationId xmlns:a16="http://schemas.microsoft.com/office/drawing/2014/main" id="{487C1E0C-7A6A-4809-9CD7-1513ADD3C7D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4   25</a:t>
            </a:r>
          </a:p>
        </p:txBody>
      </p:sp>
    </p:spTree>
    <p:extLst>
      <p:ext uri="{BB962C8B-B14F-4D97-AF65-F5344CB8AC3E}">
        <p14:creationId xmlns:p14="http://schemas.microsoft.com/office/powerpoint/2010/main" val="822308191"/>
      </p:ext>
    </p:extLst>
  </p:cSld>
</p:sld>
</file>

<file path=ppt/slides/slide2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D33FB3C4-0D15-4CE9-89CE-BF4755090AB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50385004-F2CA-4173-AC71-27ED355476D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D8CC09FE-F4C2-449A-B5D2-DB5F7ABEA48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CSV row becomes a dictionary</a:t>
            </a:r>
          </a:p>
        </p:txBody>
      </p:sp>
      <p:sp>
        <p:nvSpPr>
          <p:cNvPr id="4" name="">
            <a:extLst xmlns:a="http://schemas.openxmlformats.org/drawingml/2006/main">
              <a:ext uri="{FF2B5EF4-FFF2-40B4-BE49-F238E27FC236}">
                <a16:creationId xmlns:a16="http://schemas.microsoft.com/office/drawing/2014/main" id="{A980EEAB-2F5B-4DC7-8F96-EA9502532120}"/>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4F157B49-BF5C-4B26-B804-1E0B36A9705A}"/>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header gives field names, such as unit and reading.</a:t>
            </a:r>
          </a:p>
        </p:txBody>
      </p:sp>
      <p:sp>
        <p:nvSpPr>
          <p:cNvPr id="6" name="">
            <a:extLst xmlns:a="http://schemas.openxmlformats.org/drawingml/2006/main">
              <a:ext uri="{FF2B5EF4-FFF2-40B4-BE49-F238E27FC236}">
                <a16:creationId xmlns:a16="http://schemas.microsoft.com/office/drawing/2014/main" id="{80A98D9B-5B32-4AC1-AD57-1A6F60222A0F}"/>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B98B3026-D158-4BE7-BCFE-D83931E9CD7D}"/>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csv.DictReader returns one dictionary for each data row.</a:t>
            </a:r>
          </a:p>
        </p:txBody>
      </p:sp>
      <p:sp>
        <p:nvSpPr>
          <p:cNvPr id="8" name="">
            <a:extLst xmlns:a="http://schemas.openxmlformats.org/drawingml/2006/main">
              <a:ext uri="{FF2B5EF4-FFF2-40B4-BE49-F238E27FC236}">
                <a16:creationId xmlns:a16="http://schemas.microsoft.com/office/drawing/2014/main" id="{D3CA12B8-8746-482E-A49E-5E37991D1854}"/>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32F9661C-E69E-44A8-93BF-083EF488AE54}"/>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value "2.5" starts as text. float("2.5") makes the number 2.5.</a:t>
            </a:r>
          </a:p>
        </p:txBody>
      </p:sp>
      <p:sp>
        <p:nvSpPr>
          <p:cNvPr id="10" name="">
            <a:extLst xmlns:a="http://schemas.openxmlformats.org/drawingml/2006/main">
              <a:ext uri="{FF2B5EF4-FFF2-40B4-BE49-F238E27FC236}">
                <a16:creationId xmlns:a16="http://schemas.microsoft.com/office/drawing/2014/main" id="{4AA3D596-6985-4ECD-9F9A-D383F4A3176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4   26</a:t>
            </a:r>
          </a:p>
        </p:txBody>
      </p:sp>
    </p:spTree>
    <p:extLst>
      <p:ext uri="{BB962C8B-B14F-4D97-AF65-F5344CB8AC3E}">
        <p14:creationId xmlns:p14="http://schemas.microsoft.com/office/powerpoint/2010/main" val="791680190"/>
      </p:ext>
    </p:extLst>
  </p:cSld>
</p:sld>
</file>

<file path=ppt/slides/slide2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4246D26A-DD0D-4EF1-8989-20209B7F5537}"/>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151CF146-B022-461D-9983-128BDFD619B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7CE0CC3F-CBF6-46CC-B268-FA2F0A022235}"/>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with and import</a:t>
            </a:r>
          </a:p>
        </p:txBody>
      </p:sp>
      <p:sp>
        <p:nvSpPr>
          <p:cNvPr id="4" name="">
            <a:extLst xmlns:a="http://schemas.openxmlformats.org/drawingml/2006/main">
              <a:ext uri="{FF2B5EF4-FFF2-40B4-BE49-F238E27FC236}">
                <a16:creationId xmlns:a16="http://schemas.microsoft.com/office/drawing/2014/main" id="{180C24CB-1AE0-445D-9470-6363C7778227}"/>
              </a:ext>
            </a:extLst>
          </p:cNvPr>
          <p:cNvSpPr>
            <a:spLocks xmlns:a="http://schemas.openxmlformats.org/drawingml/2006/main" noGrp="1"/>
          </p:cNvSpPr>
          <p:nvPr/>
        </p:nvSpPr>
        <p:spPr>
          <a:xfrm xmlns:a="http://schemas.openxmlformats.org/drawingml/2006/main">
            <a:off x="590550" y="1714500"/>
            <a:ext cx="110109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93E77488-9A41-4356-853C-3BB1244BD2DC}"/>
              </a:ext>
            </a:extLst>
          </p:cNvPr>
          <p:cNvSpPr>
            <a:spLocks xmlns:a="http://schemas.openxmlformats.org/drawingml/2006/main" noGrp="1"/>
          </p:cNvSpPr>
          <p:nvPr/>
        </p:nvSpPr>
        <p:spPr>
          <a:xfrm xmlns:a="http://schemas.openxmlformats.org/drawingml/2006/main">
            <a:off x="828675" y="1952625"/>
            <a:ext cx="104394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E4572E"/>
                </a:solidFill>
                <a:latin typeface="Calibri"/>
                <a:ea typeface="Calibri"/>
                <a:cs typeface="Calibri"/>
              </a:defRPr>
            </a:pPr>
            <a:r>
              <a:rPr sz="3150" b="1">
                <a:solidFill>
                  <a:srgbClr val="E4572E"/>
                </a:solidFill>
                <a:latin typeface="Calibri"/>
                <a:ea typeface="Calibri"/>
                <a:cs typeface="Calibri"/>
              </a:rPr>
              <a:t>with and import</a:t>
            </a:r>
          </a:p>
        </p:txBody>
      </p:sp>
      <p:sp>
        <p:nvSpPr>
          <p:cNvPr id="6" name="">
            <a:extLst xmlns:a="http://schemas.openxmlformats.org/drawingml/2006/main">
              <a:ext uri="{FF2B5EF4-FFF2-40B4-BE49-F238E27FC236}">
                <a16:creationId xmlns:a16="http://schemas.microsoft.com/office/drawing/2014/main" id="{E3D040AF-E61E-44CE-A264-CDB13064A9D7}"/>
              </a:ext>
            </a:extLst>
          </p:cNvPr>
          <p:cNvSpPr>
            <a:spLocks xmlns:a="http://schemas.openxmlformats.org/drawingml/2006/main" noGrp="1"/>
          </p:cNvSpPr>
          <p:nvPr/>
        </p:nvSpPr>
        <p:spPr>
          <a:xfrm xmlns:a="http://schemas.openxmlformats.org/drawingml/2006/main">
            <a:off x="828675" y="3067050"/>
            <a:ext cx="10439400"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0">
                <a:solidFill>
                  <a:srgbClr val="1C3144"/>
                </a:solidFill>
                <a:latin typeface="Calibri"/>
                <a:ea typeface="Calibri"/>
                <a:cs typeface="Calibri"/>
              </a:defRPr>
            </a:pPr>
            <a:r>
              <a:rPr sz="2550" b="0">
                <a:solidFill>
                  <a:srgbClr val="1C3144"/>
                </a:solidFill>
                <a:latin typeface="Calibri"/>
                <a:ea typeface="Calibri"/>
                <a:cs typeface="Calibri"/>
              </a:rPr>
              <a:t>import makes library tools available. with open(...) opens a file for a block and closes it afterward. A filename must match an existing file in the working folder.</a:t>
            </a:r>
          </a:p>
        </p:txBody>
      </p:sp>
      <p:sp>
        <p:nvSpPr>
          <p:cNvPr id="7" name="">
            <a:extLst xmlns:a="http://schemas.openxmlformats.org/drawingml/2006/main">
              <a:ext uri="{FF2B5EF4-FFF2-40B4-BE49-F238E27FC236}">
                <a16:creationId xmlns:a16="http://schemas.microsoft.com/office/drawing/2014/main" id="{B524C754-790F-422B-930A-A07E28B30B0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4   27</a:t>
            </a:r>
          </a:p>
        </p:txBody>
      </p:sp>
    </p:spTree>
    <p:extLst>
      <p:ext uri="{BB962C8B-B14F-4D97-AF65-F5344CB8AC3E}">
        <p14:creationId xmlns:p14="http://schemas.microsoft.com/office/powerpoint/2010/main" val="402613267"/>
      </p:ext>
    </p:extLst>
  </p:cSld>
</p:sld>
</file>

<file path=ppt/slides/slide2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B7063009-3033-4891-9708-B9C1136D3A7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9F899AC6-AB3D-43CC-B059-68106F4E6F7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693CA37A-7859-42D4-9B8F-077A730F373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Your cohort data</a:t>
            </a:r>
          </a:p>
        </p:txBody>
      </p:sp>
      <p:sp>
        <p:nvSpPr>
          <p:cNvPr id="4" name="">
            <a:extLst xmlns:a="http://schemas.openxmlformats.org/drawingml/2006/main">
              <a:ext uri="{FF2B5EF4-FFF2-40B4-BE49-F238E27FC236}">
                <a16:creationId xmlns:a16="http://schemas.microsoft.com/office/drawing/2014/main" id="{1D287768-70B2-4C90-9E68-A943B068E8CE}"/>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7E69C01A-6643-47AB-B7F7-5A4C1437631A}"/>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drill_shift_log.csv</a:t>
            </a:r>
          </a:p>
        </p:txBody>
      </p:sp>
      <p:sp>
        <p:nvSpPr>
          <p:cNvPr id="6" name="">
            <a:extLst xmlns:a="http://schemas.openxmlformats.org/drawingml/2006/main">
              <a:ext uri="{FF2B5EF4-FFF2-40B4-BE49-F238E27FC236}">
                <a16:creationId xmlns:a16="http://schemas.microsoft.com/office/drawing/2014/main" id="{F2727A5B-68A7-4314-9C92-B25F64344908}"/>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C22794EF-B256-4BEB-B43E-67C8A433DAF0}"/>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Summarise rate_of_penetration (m/hour); group by bit_type.</a:t>
            </a:r>
          </a:p>
        </p:txBody>
      </p:sp>
      <p:sp>
        <p:nvSpPr>
          <p:cNvPr id="8" name="">
            <a:extLst xmlns:a="http://schemas.openxmlformats.org/drawingml/2006/main">
              <a:ext uri="{FF2B5EF4-FFF2-40B4-BE49-F238E27FC236}">
                <a16:creationId xmlns:a16="http://schemas.microsoft.com/office/drawing/2014/main" id="{E48307EC-1F8E-4FAE-979C-4295ED0D49EC}"/>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AA136625-92D7-4825-8B21-A9E425EA4448}"/>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Read the issued task’s blank-value and threshold rules before calculating.</a:t>
            </a:r>
          </a:p>
        </p:txBody>
      </p:sp>
      <p:sp>
        <p:nvSpPr>
          <p:cNvPr id="10" name="">
            <a:extLst xmlns:a="http://schemas.openxmlformats.org/drawingml/2006/main">
              <a:ext uri="{FF2B5EF4-FFF2-40B4-BE49-F238E27FC236}">
                <a16:creationId xmlns:a16="http://schemas.microsoft.com/office/drawing/2014/main" id="{F51329AC-88FB-48D5-A887-477479F87CE9}"/>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4   28</a:t>
            </a:r>
          </a:p>
        </p:txBody>
      </p:sp>
    </p:spTree>
    <p:extLst>
      <p:ext uri="{BB962C8B-B14F-4D97-AF65-F5344CB8AC3E}">
        <p14:creationId xmlns:p14="http://schemas.microsoft.com/office/powerpoint/2010/main" val="411036737"/>
      </p:ext>
    </p:extLst>
  </p:cSld>
</p:sld>
</file>

<file path=ppt/slides/slide2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47A30E11-6833-4638-B0A9-51D9E40540E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D3605CD2-887B-4F43-A224-621C53643E8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7DEA8B3C-D128-4D5D-B84B-4A09B547E53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Read the supplied CSV in four steps</a:t>
            </a:r>
          </a:p>
        </p:txBody>
      </p:sp>
      <p:sp>
        <p:nvSpPr>
          <p:cNvPr id="4" name="">
            <a:extLst xmlns:a="http://schemas.openxmlformats.org/drawingml/2006/main">
              <a:ext uri="{FF2B5EF4-FFF2-40B4-BE49-F238E27FC236}">
                <a16:creationId xmlns:a16="http://schemas.microsoft.com/office/drawing/2014/main" id="{155AE83D-2571-4164-95CF-266F8F2CE662}"/>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823F68C7-10EE-42BE-B772-0E820D5DF622}"/>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Place drill_shift_log.csv beside the notebook, or upload it in Colab’s Files panel.</a:t>
            </a:r>
          </a:p>
        </p:txBody>
      </p:sp>
      <p:sp>
        <p:nvSpPr>
          <p:cNvPr id="6" name="">
            <a:extLst xmlns:a="http://schemas.openxmlformats.org/drawingml/2006/main">
              <a:ext uri="{FF2B5EF4-FFF2-40B4-BE49-F238E27FC236}">
                <a16:creationId xmlns:a16="http://schemas.microsoft.com/office/drawing/2014/main" id="{69BD8602-B68D-4AC4-90F1-974F2340A548}"/>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E91C9D21-7003-46EA-A3AD-4089C7B44DAB}"/>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import csv loads the CSV tools. newline="" lets the reader handle line endings. DictReader uses the header as dictionary keys.</a:t>
            </a:r>
          </a:p>
        </p:txBody>
      </p:sp>
      <p:sp>
        <p:nvSpPr>
          <p:cNvPr id="8" name="">
            <a:extLst xmlns:a="http://schemas.openxmlformats.org/drawingml/2006/main">
              <a:ext uri="{FF2B5EF4-FFF2-40B4-BE49-F238E27FC236}">
                <a16:creationId xmlns:a16="http://schemas.microsoft.com/office/drawing/2014/main" id="{06265638-9F57-426F-A59C-DF1FAF93D055}"/>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50908BC1-857D-4C45-8EE8-F9F542CC51AC}"/>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list(...) collects the rows while the file is open. We inspect the first row and the count; the later assignment calculations are your work.</a:t>
            </a:r>
          </a:p>
        </p:txBody>
      </p:sp>
      <p:sp>
        <p:nvSpPr>
          <p:cNvPr id="10" name="">
            <a:extLst xmlns:a="http://schemas.openxmlformats.org/drawingml/2006/main">
              <a:ext uri="{FF2B5EF4-FFF2-40B4-BE49-F238E27FC236}">
                <a16:creationId xmlns:a16="http://schemas.microsoft.com/office/drawing/2014/main" id="{EA8AD533-F0AA-419C-B40B-F1180A72D3B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4   29</a:t>
            </a:r>
          </a:p>
        </p:txBody>
      </p:sp>
    </p:spTree>
    <p:extLst>
      <p:ext uri="{BB962C8B-B14F-4D97-AF65-F5344CB8AC3E}">
        <p14:creationId xmlns:p14="http://schemas.microsoft.com/office/powerpoint/2010/main" val="579831129"/>
      </p:ext>
    </p:extLst>
  </p:cSld>
</p:sld>
</file>

<file path=ppt/slides/slide3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3C0B69AE-4516-4EA2-B310-5F55D2D5699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0E3E2695-18C4-4824-84AB-F3A1A4D9B67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5E7AFF52-2350-4D77-A81D-3A186F16FAD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Open a real CSV and inspect its first row</a:t>
            </a:r>
          </a:p>
        </p:txBody>
      </p:sp>
      <p:sp>
        <p:nvSpPr>
          <p:cNvPr id="4" name="">
            <a:extLst xmlns:a="http://schemas.openxmlformats.org/drawingml/2006/main">
              <a:ext uri="{FF2B5EF4-FFF2-40B4-BE49-F238E27FC236}">
                <a16:creationId xmlns:a16="http://schemas.microsoft.com/office/drawing/2014/main" id="{C49B47A0-E072-4966-9FB9-0A70EEA879FB}"/>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F9B96B2E-278D-4E6B-A4D0-F155AF9E00F6}"/>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FB080"/>
                </a:solidFill>
                <a:latin typeface="Courier New"/>
                <a:ea typeface="Courier New"/>
                <a:cs typeface="Courier New"/>
              </a:rPr>
              <a:t>import</a:t>
            </a:r>
            <a:r>
              <a:rPr sz="2175" b="0">
                <a:solidFill>
                  <a:srgbClr val="F4F7FA"/>
                </a:solidFill>
                <a:latin typeface="Courier New"/>
                <a:ea typeface="Courier New"/>
                <a:cs typeface="Courier New"/>
              </a:rPr>
              <a:t> csv</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with open("drill_sh</a:t>
            </a:r>
            <a:r>
              <a:rPr sz="2175" b="0">
                <a:solidFill>
                  <a:srgbClr val="FFB080"/>
                </a:solidFill>
                <a:latin typeface="Courier New"/>
                <a:ea typeface="Courier New"/>
                <a:cs typeface="Courier New"/>
              </a:rPr>
              <a:t>if</a:t>
            </a:r>
            <a:r>
              <a:rPr sz="2175" b="0">
                <a:solidFill>
                  <a:srgbClr val="F4F7FA"/>
                </a:solidFill>
                <a:latin typeface="Courier New"/>
                <a:ea typeface="Courier New"/>
                <a:cs typeface="Courier New"/>
              </a:rPr>
              <a:t>t_log.csv", newline="") as source:</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rows = list(csv.DictReader(source))</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print(rows[0])</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print(len(rows))</a:t>
            </a:r>
          </a:p>
        </p:txBody>
      </p:sp>
      <p:sp>
        <p:nvSpPr>
          <p:cNvPr id="6" name="">
            <a:extLst xmlns:a="http://schemas.openxmlformats.org/drawingml/2006/main">
              <a:ext uri="{FF2B5EF4-FFF2-40B4-BE49-F238E27FC236}">
                <a16:creationId xmlns:a16="http://schemas.microsoft.com/office/drawing/2014/main" id="{CE8409DE-42C4-4F87-9AA6-42FA20F28E4A}"/>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import loads a library. from selects a tool from it.</a:t>
            </a:r>
          </a:p>
        </p:txBody>
      </p:sp>
      <p:sp>
        <p:nvSpPr>
          <p:cNvPr id="7" name="">
            <a:extLst xmlns:a="http://schemas.openxmlformats.org/drawingml/2006/main">
              <a:ext uri="{FF2B5EF4-FFF2-40B4-BE49-F238E27FC236}">
                <a16:creationId xmlns:a16="http://schemas.microsoft.com/office/drawing/2014/main" id="{CD472430-0A18-47BB-A9BE-EC3C664B9689}"/>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Read the actual keys and text values. Check the uploaded filename if Python reports FileNotFoundError.</a:t>
            </a:r>
          </a:p>
        </p:txBody>
      </p:sp>
      <p:sp>
        <p:nvSpPr>
          <p:cNvPr id="8" name="">
            <a:extLst xmlns:a="http://schemas.openxmlformats.org/drawingml/2006/main">
              <a:ext uri="{FF2B5EF4-FFF2-40B4-BE49-F238E27FC236}">
                <a16:creationId xmlns:a16="http://schemas.microsoft.com/office/drawing/2014/main" id="{544D0414-BB64-4C5A-8061-C55FD173F4C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4   30</a:t>
            </a:r>
          </a:p>
        </p:txBody>
      </p:sp>
    </p:spTree>
    <p:extLst>
      <p:ext uri="{BB962C8B-B14F-4D97-AF65-F5344CB8AC3E}">
        <p14:creationId xmlns:p14="http://schemas.microsoft.com/office/powerpoint/2010/main" val="103552121"/>
      </p:ext>
    </p:extLst>
  </p:cSld>
</p:sld>
</file>

<file path=ppt/slides/slide3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3AA40753-F3CD-4E84-858C-E3D7E06844B6}"/>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6A8B3BB9-3383-48C6-81B8-EC20447FDD5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610B1678-434F-49D8-B08F-31E4B83AF1D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record and a growing list</a:t>
            </a:r>
          </a:p>
        </p:txBody>
      </p:sp>
      <p:sp>
        <p:nvSpPr>
          <p:cNvPr id="4" name="">
            <a:extLst xmlns:a="http://schemas.openxmlformats.org/drawingml/2006/main">
              <a:ext uri="{FF2B5EF4-FFF2-40B4-BE49-F238E27FC236}">
                <a16:creationId xmlns:a16="http://schemas.microsoft.com/office/drawing/2014/main" id="{FBEF9515-28D5-4C0C-BA4A-D2C7D1D7EB91}"/>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C9A918CE-6DD3-47ED-BD0A-21A00DF02167}"/>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D3290A91-E184-41CF-93A7-4FE6658DB6D1}"/>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Braces pair a key with its value. append adds one value to the end of a list.</a:t>
            </a:r>
          </a:p>
        </p:txBody>
      </p:sp>
      <p:sp>
        <p:nvSpPr>
          <p:cNvPr id="7" name="">
            <a:extLst xmlns:a="http://schemas.openxmlformats.org/drawingml/2006/main">
              <a:ext uri="{FF2B5EF4-FFF2-40B4-BE49-F238E27FC236}">
                <a16:creationId xmlns:a16="http://schemas.microsoft.com/office/drawing/2014/main" id="{8DE8921B-B12B-485F-B19C-9175FFA79904}"/>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The same pattern works after reading a CSV row.</a:t>
            </a:r>
          </a:p>
        </p:txBody>
      </p:sp>
      <p:sp>
        <p:nvSpPr>
          <p:cNvPr id="8" name="">
            <a:extLst xmlns:a="http://schemas.openxmlformats.org/drawingml/2006/main">
              <a:ext uri="{FF2B5EF4-FFF2-40B4-BE49-F238E27FC236}">
                <a16:creationId xmlns:a16="http://schemas.microsoft.com/office/drawing/2014/main" id="{4D2A6A52-CB37-4FA2-94A7-BAB27FEE1B6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4   31</a:t>
            </a:r>
          </a:p>
        </p:txBody>
      </p:sp>
    </p:spTree>
    <p:extLst>
      <p:ext uri="{BB962C8B-B14F-4D97-AF65-F5344CB8AC3E}">
        <p14:creationId xmlns:p14="http://schemas.microsoft.com/office/powerpoint/2010/main" val="1228117978"/>
      </p:ext>
    </p:extLst>
  </p:cSld>
</p:sld>
</file>

<file path=ppt/slides/slide3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DA375F80-FE0C-4C58-9A6C-D4697F84DC5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9499E41-36D7-4580-8BEB-AD9F947CEC2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3D9296C5-9CF1-47A3-8198-1EAF29E5695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record and a growing list in Python</a:t>
            </a:r>
          </a:p>
        </p:txBody>
      </p:sp>
      <p:sp>
        <p:nvSpPr>
          <p:cNvPr id="4" name="">
            <a:extLst xmlns:a="http://schemas.openxmlformats.org/drawingml/2006/main">
              <a:ext uri="{FF2B5EF4-FFF2-40B4-BE49-F238E27FC236}">
                <a16:creationId xmlns:a16="http://schemas.microsoft.com/office/drawing/2014/main" id="{68AB109A-F36A-4FF4-A793-EC271F6B4291}"/>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2779658C-7410-41A8-8BA2-08BC5220CB04}"/>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records = [{"sensor": "A", "reading": "2.5"},</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{"sensor": "B", "reading": "3.5"}]</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values = []</a:t>
            </a:r>
          </a:p>
          <a:p xmlns:a="http://schemas.openxmlformats.org/drawingml/2006/main">
            <a:pPr>
              <a:defRPr sz="2175" b="0">
                <a:solidFill>
                  <a:srgbClr val="F4F7FA"/>
                </a:solidFill>
                <a:latin typeface="Courier New"/>
                <a:ea typeface="Courier New"/>
                <a:cs typeface="Courier New"/>
              </a:defRPr>
            </a:pPr>
            <a:r>
              <a:rPr sz="2175" b="0">
                <a:solidFill>
                  <a:srgbClr val="FFB080"/>
                </a:solidFill>
                <a:latin typeface="Courier New"/>
                <a:ea typeface="Courier New"/>
                <a:cs typeface="Courier New"/>
              </a:rPr>
              <a:t>for</a:t>
            </a:r>
            <a:r>
              <a:rPr sz="2175" b="0">
                <a:solidFill>
                  <a:srgbClr val="F4F7FA"/>
                </a:solidFill>
                <a:latin typeface="Courier New"/>
                <a:ea typeface="Courier New"/>
                <a:cs typeface="Courier New"/>
              </a:rPr>
              <a:t> row in records:</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values.append(float(row["reading"]))</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print(values)</a:t>
            </a:r>
          </a:p>
        </p:txBody>
      </p:sp>
      <p:sp>
        <p:nvSpPr>
          <p:cNvPr id="6" name="">
            <a:extLst xmlns:a="http://schemas.openxmlformats.org/drawingml/2006/main">
              <a:ext uri="{FF2B5EF4-FFF2-40B4-BE49-F238E27FC236}">
                <a16:creationId xmlns:a16="http://schemas.microsoft.com/office/drawing/2014/main" id="{B9A4A6DA-3E59-4B7B-AD41-2856DC905A61}"/>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for takes the next item. The indented block repeats.</a:t>
            </a:r>
          </a:p>
        </p:txBody>
      </p:sp>
      <p:sp>
        <p:nvSpPr>
          <p:cNvPr id="7" name="">
            <a:extLst xmlns:a="http://schemas.openxmlformats.org/drawingml/2006/main">
              <a:ext uri="{FF2B5EF4-FFF2-40B4-BE49-F238E27FC236}">
                <a16:creationId xmlns:a16="http://schemas.microsoft.com/office/drawing/2014/main" id="{EA69ED9F-2713-49F7-90CF-39D812DE020D}"/>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Read the code together. Predict the result before running.</a:t>
            </a:r>
          </a:p>
        </p:txBody>
      </p:sp>
      <p:sp>
        <p:nvSpPr>
          <p:cNvPr id="8" name="">
            <a:extLst xmlns:a="http://schemas.openxmlformats.org/drawingml/2006/main">
              <a:ext uri="{FF2B5EF4-FFF2-40B4-BE49-F238E27FC236}">
                <a16:creationId xmlns:a16="http://schemas.microsoft.com/office/drawing/2014/main" id="{62A2C46D-F84C-45B7-B737-A1DB1A9B5E09}"/>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4   32</a:t>
            </a:r>
          </a:p>
        </p:txBody>
      </p:sp>
    </p:spTree>
    <p:extLst>
      <p:ext uri="{BB962C8B-B14F-4D97-AF65-F5344CB8AC3E}">
        <p14:creationId xmlns:p14="http://schemas.microsoft.com/office/powerpoint/2010/main" val="279309759"/>
      </p:ext>
    </p:extLst>
  </p:cSld>
</p:sld>
</file>

<file path=ppt/slides/slide3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C4DA02FC-4DDB-4A03-8193-550876A01BA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5CB6A61D-72A6-4BE3-BEBB-2CA2878CECE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B0893C4A-3635-475A-BBA6-F2689AE497C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Skip a blank before converting text</a:t>
            </a:r>
          </a:p>
        </p:txBody>
      </p:sp>
      <p:sp>
        <p:nvSpPr>
          <p:cNvPr id="4" name="">
            <a:extLst xmlns:a="http://schemas.openxmlformats.org/drawingml/2006/main">
              <a:ext uri="{FF2B5EF4-FFF2-40B4-BE49-F238E27FC236}">
                <a16:creationId xmlns:a16="http://schemas.microsoft.com/office/drawing/2014/main" id="{DCA7FBA7-F0D3-41CF-8E4E-3DF62983BC37}"/>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6C9F4408-7619-4F22-8A97-570A2CF5B75C}"/>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5DF58AD3-0519-42FF-B282-9760C4B626B4}"/>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An empty text field is "". The comparison != means “not equal to”. Only convert a value after the blank check passes.</a:t>
            </a:r>
          </a:p>
        </p:txBody>
      </p:sp>
      <p:sp>
        <p:nvSpPr>
          <p:cNvPr id="7" name="">
            <a:extLst xmlns:a="http://schemas.openxmlformats.org/drawingml/2006/main">
              <a:ext uri="{FF2B5EF4-FFF2-40B4-BE49-F238E27FC236}">
                <a16:creationId xmlns:a16="http://schemas.microsoft.com/office/drawing/2014/main" id="{AA8AB2A4-0F15-4B46-9681-DF429CF8B729}"/>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In this example, values records valid numbers only. Its length is the valid count; the group summaries must use the same valid-record policy.</a:t>
            </a:r>
          </a:p>
        </p:txBody>
      </p:sp>
      <p:sp>
        <p:nvSpPr>
          <p:cNvPr id="8" name="">
            <a:extLst xmlns:a="http://schemas.openxmlformats.org/drawingml/2006/main">
              <a:ext uri="{FF2B5EF4-FFF2-40B4-BE49-F238E27FC236}">
                <a16:creationId xmlns:a16="http://schemas.microsoft.com/office/drawing/2014/main" id="{DCE3AA52-20DD-4DFF-BA00-812CA80D7AD9}"/>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4   33</a:t>
            </a:r>
          </a:p>
        </p:txBody>
      </p:sp>
    </p:spTree>
    <p:extLst>
      <p:ext uri="{BB962C8B-B14F-4D97-AF65-F5344CB8AC3E}">
        <p14:creationId xmlns:p14="http://schemas.microsoft.com/office/powerpoint/2010/main" val="692567265"/>
      </p:ext>
    </p:extLst>
  </p:cSld>
</p:sld>
</file>

<file path=ppt/slides/slide3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647CAD87-EF40-4ACF-837E-D0D407267656}"/>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91A7C38A-2AA3-445A-BFDB-8C1E493E926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29C4A644-A0CB-4A19-A69F-A59974B73C9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Collect only the recorded numbers</a:t>
            </a:r>
          </a:p>
        </p:txBody>
      </p:sp>
      <p:sp>
        <p:nvSpPr>
          <p:cNvPr id="4" name="">
            <a:extLst xmlns:a="http://schemas.openxmlformats.org/drawingml/2006/main">
              <a:ext uri="{FF2B5EF4-FFF2-40B4-BE49-F238E27FC236}">
                <a16:creationId xmlns:a16="http://schemas.microsoft.com/office/drawing/2014/main" id="{50AEDCA7-E223-41C5-93CE-77107C72A240}"/>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B9929BD7-9F1D-4C3B-B073-F4C4784C403B}"/>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text_values = ["2.5", "", "3.5"]</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values = []</a:t>
            </a:r>
          </a:p>
          <a:p xmlns:a="http://schemas.openxmlformats.org/drawingml/2006/main">
            <a:pPr>
              <a:defRPr sz="2175" b="0">
                <a:solidFill>
                  <a:srgbClr val="F4F7FA"/>
                </a:solidFill>
                <a:latin typeface="Courier New"/>
                <a:ea typeface="Courier New"/>
                <a:cs typeface="Courier New"/>
              </a:defRPr>
            </a:pPr>
            <a:r>
              <a:rPr sz="2175" b="0">
                <a:solidFill>
                  <a:srgbClr val="FFB080"/>
                </a:solidFill>
                <a:latin typeface="Courier New"/>
                <a:ea typeface="Courier New"/>
                <a:cs typeface="Courier New"/>
              </a:rPr>
              <a:t>for</a:t>
            </a:r>
            <a:r>
              <a:rPr sz="2175" b="0">
                <a:solidFill>
                  <a:srgbClr val="F4F7FA"/>
                </a:solidFill>
                <a:latin typeface="Courier New"/>
                <a:ea typeface="Courier New"/>
                <a:cs typeface="Courier New"/>
              </a:rPr>
              <a:t> text in text_values:</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a:t>
            </a:r>
            <a:r>
              <a:rPr sz="2175" b="0">
                <a:solidFill>
                  <a:srgbClr val="FFB080"/>
                </a:solidFill>
                <a:latin typeface="Courier New"/>
                <a:ea typeface="Courier New"/>
                <a:cs typeface="Courier New"/>
              </a:rPr>
              <a:t>if</a:t>
            </a:r>
            <a:r>
              <a:rPr sz="2175" b="0">
                <a:solidFill>
                  <a:srgbClr val="F4F7FA"/>
                </a:solidFill>
                <a:latin typeface="Courier New"/>
                <a:ea typeface="Courier New"/>
                <a:cs typeface="Courier New"/>
              </a:rPr>
              <a:t> text != "":</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values.append(float(text))</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print(len(values), values)</a:t>
            </a:r>
          </a:p>
        </p:txBody>
      </p:sp>
      <p:sp>
        <p:nvSpPr>
          <p:cNvPr id="6" name="">
            <a:extLst xmlns:a="http://schemas.openxmlformats.org/drawingml/2006/main">
              <a:ext uri="{FF2B5EF4-FFF2-40B4-BE49-F238E27FC236}">
                <a16:creationId xmlns:a16="http://schemas.microsoft.com/office/drawing/2014/main" id="{C227BB0C-6707-42A8-9AD9-7DFC5FFA65D5}"/>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92A6DB5A-75BC-4D8E-83EA-D82B1F61D695}"/>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for takes the next item. The indented block repeats.</a:t>
            </a:r>
          </a:p>
        </p:txBody>
      </p:sp>
      <p:sp>
        <p:nvSpPr>
          <p:cNvPr id="8" name="">
            <a:extLst xmlns:a="http://schemas.openxmlformats.org/drawingml/2006/main">
              <a:ext uri="{FF2B5EF4-FFF2-40B4-BE49-F238E27FC236}">
                <a16:creationId xmlns:a16="http://schemas.microsoft.com/office/drawing/2014/main" id="{3E13FF9F-3BDE-4DC4-918A-23D3D50D5C2C}"/>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if tests a condition. The chosen indented block runs.</a:t>
            </a:r>
          </a:p>
        </p:txBody>
      </p:sp>
      <p:sp>
        <p:nvSpPr>
          <p:cNvPr id="9" name="">
            <a:extLst xmlns:a="http://schemas.openxmlformats.org/drawingml/2006/main">
              <a:ext uri="{FF2B5EF4-FFF2-40B4-BE49-F238E27FC236}">
                <a16:creationId xmlns:a16="http://schemas.microsoft.com/office/drawing/2014/main" id="{F44329E6-EBFC-4C75-ADDC-B9DACDC5E0CF}"/>
              </a:ext>
            </a:extLst>
          </p:cNvPr>
          <p:cNvSpPr>
            <a:spLocks xmlns:a="http://schemas.openxmlformats.org/drawingml/2006/main" noGrp="1"/>
          </p:cNvSpPr>
          <p:nvPr/>
        </p:nvSpPr>
        <p:spPr>
          <a:xfrm xmlns:a="http://schemas.openxmlformats.org/drawingml/2006/main">
            <a:off x="8096250" y="43434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float converts numeric text into a decimal number.</a:t>
            </a:r>
          </a:p>
        </p:txBody>
      </p:sp>
      <p:sp>
        <p:nvSpPr>
          <p:cNvPr id="10" name="">
            <a:extLst xmlns:a="http://schemas.openxmlformats.org/drawingml/2006/main">
              <a:ext uri="{FF2B5EF4-FFF2-40B4-BE49-F238E27FC236}">
                <a16:creationId xmlns:a16="http://schemas.microsoft.com/office/drawing/2014/main" id="{901DD47B-2663-427A-A2A8-65A93122D572}"/>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Expected: 2 [2.5, 3.5]. A blank is missing, not a recorded zero.</a:t>
            </a:r>
          </a:p>
        </p:txBody>
      </p:sp>
      <p:sp>
        <p:nvSpPr>
          <p:cNvPr id="11" name="">
            <a:extLst xmlns:a="http://schemas.openxmlformats.org/drawingml/2006/main">
              <a:ext uri="{FF2B5EF4-FFF2-40B4-BE49-F238E27FC236}">
                <a16:creationId xmlns:a16="http://schemas.microsoft.com/office/drawing/2014/main" id="{6C420334-4D1D-4886-A2C7-5A8CC31F9E0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4   34</a:t>
            </a:r>
          </a:p>
        </p:txBody>
      </p:sp>
    </p:spTree>
    <p:extLst>
      <p:ext uri="{BB962C8B-B14F-4D97-AF65-F5344CB8AC3E}">
        <p14:creationId xmlns:p14="http://schemas.microsoft.com/office/powerpoint/2010/main" val="1952772250"/>
      </p:ext>
    </p:extLst>
  </p:cSld>
</p:sld>
</file>

<file path=ppt/slides/slide3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78580802-B895-4C30-AEAE-BFC52DB6FF7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9034BDFF-7A86-4875-827D-0D90F9E8791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FD403B1B-E075-46CD-93D9-11D2EBCF021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Summaries for separate groups</a:t>
            </a:r>
          </a:p>
        </p:txBody>
      </p:sp>
      <p:sp>
        <p:nvSpPr>
          <p:cNvPr id="4" name="">
            <a:extLst xmlns:a="http://schemas.openxmlformats.org/drawingml/2006/main">
              <a:ext uri="{FF2B5EF4-FFF2-40B4-BE49-F238E27FC236}">
                <a16:creationId xmlns:a16="http://schemas.microsoft.com/office/drawing/2014/main" id="{4DA5B8C6-9C30-45F9-A6BA-06716A5E307A}"/>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5D7514B1-2CA3-400A-82EA-39E973D18302}"/>
              </a:ext>
            </a:extLst>
          </p:cNvPr>
          <p:cNvSpPr>
            <a:spLocks xmlns:a="http://schemas.openxmlformats.org/drawingml/2006/main" noGrp="1"/>
          </p:cNvSpPr>
          <p:nvPr/>
        </p:nvSpPr>
        <p:spPr>
          <a:xfrm xmlns:a="http://schemas.openxmlformats.org/drawingml/2006/main">
            <a:off x="1381125" y="1781175"/>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dictionary can hold one running total for each group.</a:t>
            </a:r>
          </a:p>
        </p:txBody>
      </p:sp>
      <p:sp>
        <p:nvSpPr>
          <p:cNvPr id="6" name="">
            <a:extLst xmlns:a="http://schemas.openxmlformats.org/drawingml/2006/main">
              <a:ext uri="{FF2B5EF4-FFF2-40B4-BE49-F238E27FC236}">
                <a16:creationId xmlns:a16="http://schemas.microsoft.com/office/drawing/2014/main" id="{DD6B02F5-DC27-451A-82F5-CB0EAD4E52C7}"/>
              </a:ext>
            </a:extLst>
          </p:cNvPr>
          <p:cNvSpPr>
            <a:spLocks xmlns:a="http://schemas.openxmlformats.org/drawingml/2006/main" noGrp="1"/>
          </p:cNvSpPr>
          <p:nvPr/>
        </p:nvSpPr>
        <p:spPr>
          <a:xfrm xmlns:a="http://schemas.openxmlformats.org/drawingml/2006/main">
            <a:off x="590550" y="28527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5197680C-19DD-4B8D-B515-27D91692CCD8}"/>
              </a:ext>
            </a:extLst>
          </p:cNvPr>
          <p:cNvSpPr>
            <a:spLocks xmlns:a="http://schemas.openxmlformats.org/drawingml/2006/main" noGrp="1"/>
          </p:cNvSpPr>
          <p:nvPr/>
        </p:nvSpPr>
        <p:spPr>
          <a:xfrm xmlns:a="http://schemas.openxmlformats.org/drawingml/2006/main">
            <a:off x="1381125" y="2852738"/>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An absent key needs an initial zero.</a:t>
            </a:r>
          </a:p>
        </p:txBody>
      </p:sp>
      <p:sp>
        <p:nvSpPr>
          <p:cNvPr id="8" name="">
            <a:extLst xmlns:a="http://schemas.openxmlformats.org/drawingml/2006/main">
              <a:ext uri="{FF2B5EF4-FFF2-40B4-BE49-F238E27FC236}">
                <a16:creationId xmlns:a16="http://schemas.microsoft.com/office/drawing/2014/main" id="{17420655-51AF-4C92-B30A-E2B57C34A659}"/>
              </a:ext>
            </a:extLst>
          </p:cNvPr>
          <p:cNvSpPr>
            <a:spLocks xmlns:a="http://schemas.openxmlformats.org/drawingml/2006/main" noGrp="1"/>
          </p:cNvSpPr>
          <p:nvPr/>
        </p:nvSpPr>
        <p:spPr>
          <a:xfrm xmlns:a="http://schemas.openxmlformats.org/drawingml/2006/main">
            <a:off x="590550" y="392430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23B191B6-F639-4393-A7F6-461089254FBB}"/>
              </a:ext>
            </a:extLst>
          </p:cNvPr>
          <p:cNvSpPr>
            <a:spLocks xmlns:a="http://schemas.openxmlformats.org/drawingml/2006/main" noGrp="1"/>
          </p:cNvSpPr>
          <p:nvPr/>
        </p:nvSpPr>
        <p:spPr>
          <a:xfrm xmlns:a="http://schemas.openxmlformats.org/drawingml/2006/main">
            <a:off x="1381125" y="3924300"/>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Then add the reading to that group.</a:t>
            </a:r>
          </a:p>
        </p:txBody>
      </p:sp>
      <p:sp>
        <p:nvSpPr>
          <p:cNvPr id="10" name="">
            <a:extLst xmlns:a="http://schemas.openxmlformats.org/drawingml/2006/main">
              <a:ext uri="{FF2B5EF4-FFF2-40B4-BE49-F238E27FC236}">
                <a16:creationId xmlns:a16="http://schemas.microsoft.com/office/drawing/2014/main" id="{CDA25C50-2BA4-4C5E-B7BD-7C6A80B84541}"/>
              </a:ext>
            </a:extLst>
          </p:cNvPr>
          <p:cNvSpPr>
            <a:spLocks xmlns:a="http://schemas.openxmlformats.org/drawingml/2006/main" noGrp="1"/>
          </p:cNvSpPr>
          <p:nvPr/>
        </p:nvSpPr>
        <p:spPr>
          <a:xfrm xmlns:a="http://schemas.openxmlformats.org/drawingml/2006/main">
            <a:off x="590550" y="49958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8350BF91-AF46-4B4C-9A33-68FDDF037AAC}"/>
              </a:ext>
            </a:extLst>
          </p:cNvPr>
          <p:cNvSpPr>
            <a:spLocks xmlns:a="http://schemas.openxmlformats.org/drawingml/2006/main" noGrp="1"/>
          </p:cNvSpPr>
          <p:nvPr/>
        </p:nvSpPr>
        <p:spPr>
          <a:xfrm xmlns:a="http://schemas.openxmlformats.org/drawingml/2006/main">
            <a:off x="1381125" y="4995863"/>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To calculate group means, keep a matching count and divide each group total by its own count.</a:t>
            </a:r>
          </a:p>
        </p:txBody>
      </p:sp>
      <p:sp>
        <p:nvSpPr>
          <p:cNvPr id="12" name="">
            <a:extLst xmlns:a="http://schemas.openxmlformats.org/drawingml/2006/main">
              <a:ext uri="{FF2B5EF4-FFF2-40B4-BE49-F238E27FC236}">
                <a16:creationId xmlns:a16="http://schemas.microsoft.com/office/drawing/2014/main" id="{313C193F-13D3-4893-A123-B225DA1B5DE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4   35</a:t>
            </a:r>
          </a:p>
        </p:txBody>
      </p:sp>
    </p:spTree>
    <p:extLst>
      <p:ext uri="{BB962C8B-B14F-4D97-AF65-F5344CB8AC3E}">
        <p14:creationId xmlns:p14="http://schemas.microsoft.com/office/powerpoint/2010/main" val="1432475151"/>
      </p:ext>
    </p:extLst>
  </p:cSld>
</p:sld>
</file>

<file path=ppt/slides/slide3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B506E961-2B4C-43F7-B0E2-860AB2B2BCA3}"/>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34216D28-2451-46AC-B7F3-D3D57F0D638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AF68C4A5-90C5-4817-A93E-BB46D4B7B334}"/>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Summaries for separate groups in Python (1/2)</a:t>
            </a:r>
          </a:p>
        </p:txBody>
      </p:sp>
      <p:sp>
        <p:nvSpPr>
          <p:cNvPr id="4" name="">
            <a:extLst xmlns:a="http://schemas.openxmlformats.org/drawingml/2006/main">
              <a:ext uri="{FF2B5EF4-FFF2-40B4-BE49-F238E27FC236}">
                <a16:creationId xmlns:a16="http://schemas.microsoft.com/office/drawing/2014/main" id="{5087FB9C-40D8-4C2C-998C-B94B3925D544}"/>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89A85C2B-5806-438B-B187-3C9987E0DFFF}"/>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records = [{"group": "A", "reading": 2},</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{"group": "A", "reading": 4},</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{"group": "B", "reading": 9}]</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totals = {}</a:t>
            </a:r>
          </a:p>
          <a:p xmlns:a="http://schemas.openxmlformats.org/drawingml/2006/main">
            <a:pPr>
              <a:defRPr sz="2175" b="0">
                <a:solidFill>
                  <a:srgbClr val="F4F7FA"/>
                </a:solidFill>
                <a:latin typeface="Courier New"/>
                <a:ea typeface="Courier New"/>
                <a:cs typeface="Courier New"/>
              </a:defRPr>
            </a:pPr>
            <a:r>
              <a:rPr sz="2175" b="0">
                <a:solidFill>
                  <a:srgbClr val="FFB080"/>
                </a:solidFill>
                <a:latin typeface="Courier New"/>
                <a:ea typeface="Courier New"/>
                <a:cs typeface="Courier New"/>
              </a:rPr>
              <a:t>for</a:t>
            </a:r>
            <a:r>
              <a:rPr sz="2175" b="0">
                <a:solidFill>
                  <a:srgbClr val="F4F7FA"/>
                </a:solidFill>
                <a:latin typeface="Courier New"/>
                <a:ea typeface="Courier New"/>
                <a:cs typeface="Courier New"/>
              </a:rPr>
              <a:t> row in records:</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group = row["group"]</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a:t>
            </a:r>
            <a:r>
              <a:rPr sz="2175" b="0">
                <a:solidFill>
                  <a:srgbClr val="FFB080"/>
                </a:solidFill>
                <a:latin typeface="Courier New"/>
                <a:ea typeface="Courier New"/>
                <a:cs typeface="Courier New"/>
              </a:rPr>
              <a:t>if</a:t>
            </a:r>
            <a:r>
              <a:rPr sz="2175" b="0">
                <a:solidFill>
                  <a:srgbClr val="F4F7FA"/>
                </a:solidFill>
                <a:latin typeface="Courier New"/>
                <a:ea typeface="Courier New"/>
                <a:cs typeface="Courier New"/>
              </a:rPr>
              <a:t> group not in totals:</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totals[group] = 0</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totals[group] = totals[group] + row["reading"]</a:t>
            </a:r>
          </a:p>
        </p:txBody>
      </p:sp>
      <p:sp>
        <p:nvSpPr>
          <p:cNvPr id="6" name="">
            <a:extLst xmlns:a="http://schemas.openxmlformats.org/drawingml/2006/main">
              <a:ext uri="{FF2B5EF4-FFF2-40B4-BE49-F238E27FC236}">
                <a16:creationId xmlns:a16="http://schemas.microsoft.com/office/drawing/2014/main" id="{4ECA145C-90F8-477C-9E41-08C86BB39C4B}"/>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for takes the next item. The indented block repeats.</a:t>
            </a:r>
          </a:p>
        </p:txBody>
      </p:sp>
      <p:sp>
        <p:nvSpPr>
          <p:cNvPr id="7" name="">
            <a:extLst xmlns:a="http://schemas.openxmlformats.org/drawingml/2006/main">
              <a:ext uri="{FF2B5EF4-FFF2-40B4-BE49-F238E27FC236}">
                <a16:creationId xmlns:a16="http://schemas.microsoft.com/office/drawing/2014/main" id="{1BCC964B-5935-47CA-BCAB-C1C9EFE3CFFC}"/>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Read the code together. Predict the result before running.</a:t>
            </a:r>
          </a:p>
        </p:txBody>
      </p:sp>
      <p:sp>
        <p:nvSpPr>
          <p:cNvPr id="8" name="">
            <a:extLst xmlns:a="http://schemas.openxmlformats.org/drawingml/2006/main">
              <a:ext uri="{FF2B5EF4-FFF2-40B4-BE49-F238E27FC236}">
                <a16:creationId xmlns:a16="http://schemas.microsoft.com/office/drawing/2014/main" id="{E41757B1-D929-4832-AA44-C5F5D7FA8E7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4   36</a:t>
            </a:r>
          </a:p>
        </p:txBody>
      </p:sp>
    </p:spTree>
    <p:extLst>
      <p:ext uri="{BB962C8B-B14F-4D97-AF65-F5344CB8AC3E}">
        <p14:creationId xmlns:p14="http://schemas.microsoft.com/office/powerpoint/2010/main" val="726827540"/>
      </p:ext>
    </p:extLst>
  </p:cSld>
</p:sld>
</file>

<file path=ppt/slides/slide3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1E9B5CA5-5FE4-4624-B855-CD3CECF5094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78C627C7-E182-44A5-B548-24C6B05D4CB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EA159A51-B322-4B56-B211-85AA08E4818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Summaries for separate groups in Python (2/2)</a:t>
            </a:r>
          </a:p>
        </p:txBody>
      </p:sp>
      <p:sp>
        <p:nvSpPr>
          <p:cNvPr id="4" name="">
            <a:extLst xmlns:a="http://schemas.openxmlformats.org/drawingml/2006/main">
              <a:ext uri="{FF2B5EF4-FFF2-40B4-BE49-F238E27FC236}">
                <a16:creationId xmlns:a16="http://schemas.microsoft.com/office/drawing/2014/main" id="{C9A54C9A-D18A-4350-AA3B-2FDFE19E446E}"/>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38A81880-FA48-40F9-BABC-FE56B0836C6F}"/>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print(totals)</a:t>
            </a:r>
          </a:p>
        </p:txBody>
      </p:sp>
      <p:sp>
        <p:nvSpPr>
          <p:cNvPr id="6" name="">
            <a:extLst xmlns:a="http://schemas.openxmlformats.org/drawingml/2006/main">
              <a:ext uri="{FF2B5EF4-FFF2-40B4-BE49-F238E27FC236}">
                <a16:creationId xmlns:a16="http://schemas.microsoft.com/office/drawing/2014/main" id="{6639CEE3-EB2A-40E1-BD87-2AE6DBF74605}"/>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5BA1F068-CEC3-44B9-BB2A-AED3FD3A00CA}"/>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print displays a value below the cell.</a:t>
            </a:r>
          </a:p>
        </p:txBody>
      </p:sp>
      <p:sp>
        <p:nvSpPr>
          <p:cNvPr id="8" name="">
            <a:extLst xmlns:a="http://schemas.openxmlformats.org/drawingml/2006/main">
              <a:ext uri="{FF2B5EF4-FFF2-40B4-BE49-F238E27FC236}">
                <a16:creationId xmlns:a16="http://schemas.microsoft.com/office/drawing/2014/main" id="{225FEA02-56F9-4754-8810-7B6AA139A3F5}"/>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Continue the SAME cell; keep indentation. Run after all parts are entered.</a:t>
            </a:r>
          </a:p>
        </p:txBody>
      </p:sp>
      <p:sp>
        <p:nvSpPr>
          <p:cNvPr id="9" name="">
            <a:extLst xmlns:a="http://schemas.openxmlformats.org/drawingml/2006/main">
              <a:ext uri="{FF2B5EF4-FFF2-40B4-BE49-F238E27FC236}">
                <a16:creationId xmlns:a16="http://schemas.microsoft.com/office/drawing/2014/main" id="{9E622D78-AA7F-48AC-96D2-4141AC3F966D}"/>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4   37</a:t>
            </a:r>
          </a:p>
        </p:txBody>
      </p:sp>
    </p:spTree>
    <p:extLst>
      <p:ext uri="{BB962C8B-B14F-4D97-AF65-F5344CB8AC3E}">
        <p14:creationId xmlns:p14="http://schemas.microsoft.com/office/powerpoint/2010/main" val="1250598504"/>
      </p:ext>
    </p:extLst>
  </p:cSld>
</p:sld>
</file>

<file path=ppt/slides/slide3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1AA6F669-4A7C-483A-8956-8F866A93565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EB258E97-F977-470E-95EC-9A098A89F3C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A378D8B7-72ED-4E73-9E5B-078AC91062F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group mean needs its own count</a:t>
            </a:r>
          </a:p>
        </p:txBody>
      </p:sp>
      <p:sp>
        <p:nvSpPr>
          <p:cNvPr id="4" name="">
            <a:extLst xmlns:a="http://schemas.openxmlformats.org/drawingml/2006/main">
              <a:ext uri="{FF2B5EF4-FFF2-40B4-BE49-F238E27FC236}">
                <a16:creationId xmlns:a16="http://schemas.microsoft.com/office/drawing/2014/main" id="{679D12B7-5031-4B4F-B4D7-B1222530097E}"/>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BCFB0E48-9CFB-469C-B050-71D747161A9C}"/>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AE33DA87-66F3-4847-B694-BD2A2B53757C}"/>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The preceding loop calculated a total for each group. Count records in those same groups, then divide each group total by its own count.</a:t>
            </a:r>
          </a:p>
        </p:txBody>
      </p:sp>
      <p:sp>
        <p:nvSpPr>
          <p:cNvPr id="7" name="">
            <a:extLst xmlns:a="http://schemas.openxmlformats.org/drawingml/2006/main">
              <a:ext uri="{FF2B5EF4-FFF2-40B4-BE49-F238E27FC236}">
                <a16:creationId xmlns:a16="http://schemas.microsoft.com/office/drawing/2014/main" id="{02F5040F-9F0F-4315-9A8C-0D6FB41F36FD}"/>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items() supplies the group name and its total together. We use small invented records, not the assignment’s answers.</a:t>
            </a:r>
          </a:p>
        </p:txBody>
      </p:sp>
      <p:sp>
        <p:nvSpPr>
          <p:cNvPr id="8" name="">
            <a:extLst xmlns:a="http://schemas.openxmlformats.org/drawingml/2006/main">
              <a:ext uri="{FF2B5EF4-FFF2-40B4-BE49-F238E27FC236}">
                <a16:creationId xmlns:a16="http://schemas.microsoft.com/office/drawing/2014/main" id="{C08CA441-4026-455E-B647-7AF9EA6D0D99}"/>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4   38</a:t>
            </a:r>
          </a:p>
        </p:txBody>
      </p:sp>
    </p:spTree>
    <p:extLst>
      <p:ext uri="{BB962C8B-B14F-4D97-AF65-F5344CB8AC3E}">
        <p14:creationId xmlns:p14="http://schemas.microsoft.com/office/powerpoint/2010/main" val="278519522"/>
      </p:ext>
    </p:extLst>
  </p:cSld>
</p:sld>
</file>

<file path=ppt/slides/slide3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D7E9908B-AFB7-4DD6-8DF5-7C0D25E56B2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7DE699DA-B4A8-4CCF-A2D5-C5CD6D580F87}"/>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96FD6901-82FE-41F1-9C6A-CE955A65568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From group totals to group means</a:t>
            </a:r>
          </a:p>
        </p:txBody>
      </p:sp>
      <p:sp>
        <p:nvSpPr>
          <p:cNvPr id="4" name="">
            <a:extLst xmlns:a="http://schemas.openxmlformats.org/drawingml/2006/main">
              <a:ext uri="{FF2B5EF4-FFF2-40B4-BE49-F238E27FC236}">
                <a16:creationId xmlns:a16="http://schemas.microsoft.com/office/drawing/2014/main" id="{33E7395B-B919-452C-B151-F58EFFD4BD66}"/>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379FF63D-A4CF-4BDF-832B-3EB175300C2F}"/>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00" b="0">
                <a:solidFill>
                  <a:srgbClr val="F4F7FA"/>
                </a:solidFill>
                <a:latin typeface="Courier New"/>
                <a:ea typeface="Courier New"/>
                <a:cs typeface="Courier New"/>
              </a:defRPr>
            </a:pPr>
            <a:r>
              <a:rPr sz="1900" b="0">
                <a:solidFill>
                  <a:srgbClr val="F4F7FA"/>
                </a:solidFill>
                <a:latin typeface="Courier New"/>
                <a:ea typeface="Courier New"/>
                <a:cs typeface="Courier New"/>
              </a:rPr>
              <a:t>counts = {}</a:t>
            </a:r>
          </a:p>
          <a:p xmlns:a="http://schemas.openxmlformats.org/drawingml/2006/main">
            <a:pPr>
              <a:defRPr sz="1900" b="0">
                <a:solidFill>
                  <a:srgbClr val="F4F7FA"/>
                </a:solidFill>
                <a:latin typeface="Courier New"/>
                <a:ea typeface="Courier New"/>
                <a:cs typeface="Courier New"/>
              </a:defRPr>
            </a:pPr>
            <a:r>
              <a:rPr sz="1900" b="0">
                <a:solidFill>
                  <a:srgbClr val="FFB080"/>
                </a:solidFill>
                <a:latin typeface="Courier New"/>
                <a:ea typeface="Courier New"/>
                <a:cs typeface="Courier New"/>
              </a:rPr>
              <a:t>for</a:t>
            </a:r>
            <a:r>
              <a:rPr sz="1900" b="0">
                <a:solidFill>
                  <a:srgbClr val="F4F7FA"/>
                </a:solidFill>
                <a:latin typeface="Courier New"/>
                <a:ea typeface="Courier New"/>
                <a:cs typeface="Courier New"/>
              </a:rPr>
              <a:t> row in records:</a:t>
            </a:r>
          </a:p>
          <a:p xmlns:a="http://schemas.openxmlformats.org/drawingml/2006/main">
            <a:pPr>
              <a:defRPr sz="1900" b="0">
                <a:solidFill>
                  <a:srgbClr val="F4F7FA"/>
                </a:solidFill>
                <a:latin typeface="Courier New"/>
                <a:ea typeface="Courier New"/>
                <a:cs typeface="Courier New"/>
              </a:defRPr>
            </a:pPr>
            <a:r>
              <a:rPr sz="1900" b="0">
                <a:solidFill>
                  <a:srgbClr val="F4F7FA"/>
                </a:solidFill>
                <a:latin typeface="Courier New"/>
                <a:ea typeface="Courier New"/>
                <a:cs typeface="Courier New"/>
              </a:rPr>
              <a:t>    group = row["group"]</a:t>
            </a:r>
          </a:p>
          <a:p xmlns:a="http://schemas.openxmlformats.org/drawingml/2006/main">
            <a:pPr>
              <a:defRPr sz="1900" b="0">
                <a:solidFill>
                  <a:srgbClr val="F4F7FA"/>
                </a:solidFill>
                <a:latin typeface="Courier New"/>
                <a:ea typeface="Courier New"/>
                <a:cs typeface="Courier New"/>
              </a:defRPr>
            </a:pPr>
            <a:r>
              <a:rPr sz="1900" b="0">
                <a:solidFill>
                  <a:srgbClr val="F4F7FA"/>
                </a:solidFill>
                <a:latin typeface="Courier New"/>
                <a:ea typeface="Courier New"/>
                <a:cs typeface="Courier New"/>
              </a:rPr>
              <a:t>    counts[group] = counts.get(group, 0) + 1</a:t>
            </a:r>
          </a:p>
          <a:p xmlns:a="http://schemas.openxmlformats.org/drawingml/2006/main">
            <a:pPr>
              <a:defRPr sz="1900" b="0">
                <a:solidFill>
                  <a:srgbClr val="F4F7FA"/>
                </a:solidFill>
                <a:latin typeface="Courier New"/>
                <a:ea typeface="Courier New"/>
                <a:cs typeface="Courier New"/>
              </a:defRPr>
            </a:pPr>
            <a:r>
              <a:rPr sz="1900" b="0">
                <a:solidFill>
                  <a:srgbClr val="F4F7FA"/>
                </a:solidFill>
                <a:latin typeface="Courier New"/>
                <a:ea typeface="Courier New"/>
                <a:cs typeface="Courier New"/>
              </a:rPr>
              <a:t>means = {}</a:t>
            </a:r>
          </a:p>
          <a:p xmlns:a="http://schemas.openxmlformats.org/drawingml/2006/main">
            <a:pPr>
              <a:defRPr sz="1900" b="0">
                <a:solidFill>
                  <a:srgbClr val="F4F7FA"/>
                </a:solidFill>
                <a:latin typeface="Courier New"/>
                <a:ea typeface="Courier New"/>
                <a:cs typeface="Courier New"/>
              </a:defRPr>
            </a:pPr>
            <a:r>
              <a:rPr sz="1900" b="0">
                <a:solidFill>
                  <a:srgbClr val="F4F7FA"/>
                </a:solidFill>
                <a:latin typeface="Courier New"/>
                <a:ea typeface="Courier New"/>
                <a:cs typeface="Courier New"/>
              </a:rPr>
              <a:t>for group, total in totals.items():</a:t>
            </a:r>
          </a:p>
          <a:p xmlns:a="http://schemas.openxmlformats.org/drawingml/2006/main">
            <a:pPr>
              <a:defRPr sz="1900" b="0">
                <a:solidFill>
                  <a:srgbClr val="F4F7FA"/>
                </a:solidFill>
                <a:latin typeface="Courier New"/>
                <a:ea typeface="Courier New"/>
                <a:cs typeface="Courier New"/>
              </a:defRPr>
            </a:pPr>
            <a:r>
              <a:rPr sz="1900" b="0">
                <a:solidFill>
                  <a:srgbClr val="F4F7FA"/>
                </a:solidFill>
                <a:latin typeface="Courier New"/>
                <a:ea typeface="Courier New"/>
                <a:cs typeface="Courier New"/>
              </a:rPr>
              <a:t>    means[group] = total / counts[group]</a:t>
            </a:r>
          </a:p>
          <a:p xmlns:a="http://schemas.openxmlformats.org/drawingml/2006/main">
            <a:pPr>
              <a:defRPr sz="1900" b="0">
                <a:solidFill>
                  <a:srgbClr val="F4F7FA"/>
                </a:solidFill>
                <a:latin typeface="Courier New"/>
                <a:ea typeface="Courier New"/>
                <a:cs typeface="Courier New"/>
              </a:defRPr>
            </a:pPr>
            <a:r>
              <a:rPr sz="1900" b="0">
                <a:solidFill>
                  <a:srgbClr val="F4F7FA"/>
                </a:solidFill>
                <a:latin typeface="Courier New"/>
                <a:ea typeface="Courier New"/>
                <a:cs typeface="Courier New"/>
              </a:rPr>
              <a:t>print(means)</a:t>
            </a:r>
          </a:p>
        </p:txBody>
      </p:sp>
      <p:sp>
        <p:nvSpPr>
          <p:cNvPr id="6" name="">
            <a:extLst xmlns:a="http://schemas.openxmlformats.org/drawingml/2006/main">
              <a:ext uri="{FF2B5EF4-FFF2-40B4-BE49-F238E27FC236}">
                <a16:creationId xmlns:a16="http://schemas.microsoft.com/office/drawing/2014/main" id="{0D170F6C-04B3-47D9-BABC-62A2188F880E}"/>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4438A755-42FC-48F6-A334-344D5C8B6CAA}"/>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for takes the next item. The indented block repeats.</a:t>
            </a:r>
          </a:p>
        </p:txBody>
      </p:sp>
      <p:sp>
        <p:nvSpPr>
          <p:cNvPr id="8" name="">
            <a:extLst xmlns:a="http://schemas.openxmlformats.org/drawingml/2006/main">
              <a:ext uri="{FF2B5EF4-FFF2-40B4-BE49-F238E27FC236}">
                <a16:creationId xmlns:a16="http://schemas.microsoft.com/office/drawing/2014/main" id="{AB9CA148-5D89-4C53-9E53-FE6923AFA358}"/>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print displays a value below the cell.</a:t>
            </a:r>
          </a:p>
        </p:txBody>
      </p:sp>
      <p:sp>
        <p:nvSpPr>
          <p:cNvPr id="9" name="">
            <a:extLst xmlns:a="http://schemas.openxmlformats.org/drawingml/2006/main">
              <a:ext uri="{FF2B5EF4-FFF2-40B4-BE49-F238E27FC236}">
                <a16:creationId xmlns:a16="http://schemas.microsoft.com/office/drawing/2014/main" id="{0A4A0D38-10F3-4197-ABD1-52CCF34912D9}"/>
              </a:ext>
            </a:extLst>
          </p:cNvPr>
          <p:cNvSpPr>
            <a:spLocks xmlns:a="http://schemas.openxmlformats.org/drawingml/2006/main" noGrp="1"/>
          </p:cNvSpPr>
          <p:nvPr/>
        </p:nvSpPr>
        <p:spPr>
          <a:xfrm xmlns:a="http://schemas.openxmlformats.org/drawingml/2006/main">
            <a:off x="8096250" y="43434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Square brackets create a list or select an item.</a:t>
            </a:r>
          </a:p>
        </p:txBody>
      </p:sp>
      <p:sp>
        <p:nvSpPr>
          <p:cNvPr id="10" name="">
            <a:extLst xmlns:a="http://schemas.openxmlformats.org/drawingml/2006/main">
              <a:ext uri="{FF2B5EF4-FFF2-40B4-BE49-F238E27FC236}">
                <a16:creationId xmlns:a16="http://schemas.microsoft.com/office/drawing/2014/main" id="{A758A948-7606-4197-8922-CA31489EF266}"/>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Expected: A has mean 3.0 and B has mean 9.0. Each group uses its own denominator.</a:t>
            </a:r>
          </a:p>
        </p:txBody>
      </p:sp>
      <p:sp>
        <p:nvSpPr>
          <p:cNvPr id="11" name="">
            <a:extLst xmlns:a="http://schemas.openxmlformats.org/drawingml/2006/main">
              <a:ext uri="{FF2B5EF4-FFF2-40B4-BE49-F238E27FC236}">
                <a16:creationId xmlns:a16="http://schemas.microsoft.com/office/drawing/2014/main" id="{A4DBBB7D-791B-4A04-BD07-8CF4A2E2E38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4   39</a:t>
            </a:r>
          </a:p>
        </p:txBody>
      </p:sp>
    </p:spTree>
    <p:extLst>
      <p:ext uri="{BB962C8B-B14F-4D97-AF65-F5344CB8AC3E}">
        <p14:creationId xmlns:p14="http://schemas.microsoft.com/office/powerpoint/2010/main" val="888533213"/>
      </p:ext>
    </p:extLst>
  </p:cSld>
</p:sld>
</file>

<file path=ppt/slides/slide4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13947B40-A156-4418-A534-A8A415655F1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C65B6B15-DA58-434C-8D5D-FE6D3107830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A8D6BF7C-BB7B-485B-957D-71784D8D8FC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When numeric text cannot be converted</a:t>
            </a:r>
          </a:p>
        </p:txBody>
      </p:sp>
      <p:sp>
        <p:nvSpPr>
          <p:cNvPr id="4" name="">
            <a:extLst xmlns:a="http://schemas.openxmlformats.org/drawingml/2006/main">
              <a:ext uri="{FF2B5EF4-FFF2-40B4-BE49-F238E27FC236}">
                <a16:creationId xmlns:a16="http://schemas.microsoft.com/office/drawing/2014/main" id="{D296F260-8C99-41E9-A75B-A5100A3F1FA0}"/>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1943C086-1DB5-4701-8867-EF53AEB1EEC4}"/>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3F502DC6-6536-4DE5-B3C1-5464965634A7}"/>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float("bad") raises ValueError: the text does not represent a number. An exception interrupts ordinary execution.</a:t>
            </a:r>
          </a:p>
        </p:txBody>
      </p:sp>
      <p:sp>
        <p:nvSpPr>
          <p:cNvPr id="7" name="">
            <a:extLst xmlns:a="http://schemas.openxmlformats.org/drawingml/2006/main">
              <a:ext uri="{FF2B5EF4-FFF2-40B4-BE49-F238E27FC236}">
                <a16:creationId xmlns:a16="http://schemas.microsoft.com/office/drawing/2014/main" id="{1DB789C0-19EB-4D39-B7B5-21CA49FA1E4D}"/>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try contains the operation that might fail. except ValueError runs only for that named failure. Indentation shows the two blocks.</a:t>
            </a:r>
          </a:p>
        </p:txBody>
      </p:sp>
      <p:sp>
        <p:nvSpPr>
          <p:cNvPr id="8" name="">
            <a:extLst xmlns:a="http://schemas.openxmlformats.org/drawingml/2006/main">
              <a:ext uri="{FF2B5EF4-FFF2-40B4-BE49-F238E27FC236}">
                <a16:creationId xmlns:a16="http://schemas.microsoft.com/office/drawing/2014/main" id="{1195CC25-1755-46E0-8FE7-3D6DDC907E0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4   40</a:t>
            </a:r>
          </a:p>
        </p:txBody>
      </p:sp>
    </p:spTree>
    <p:extLst>
      <p:ext uri="{BB962C8B-B14F-4D97-AF65-F5344CB8AC3E}">
        <p14:creationId xmlns:p14="http://schemas.microsoft.com/office/powerpoint/2010/main" val="990981182"/>
      </p:ext>
    </p:extLst>
  </p:cSld>
</p:sld>
</file>

<file path=ppt/slides/slide4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0DB04EB0-33B6-4EB7-A9E1-78CD071525C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579DF6B5-2FB7-4127-801B-3510829F70C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9DCD7010-F78E-4C9E-9D10-AE99223F8ED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Catch one expected conversion failure</a:t>
            </a:r>
          </a:p>
        </p:txBody>
      </p:sp>
      <p:sp>
        <p:nvSpPr>
          <p:cNvPr id="4" name="">
            <a:extLst xmlns:a="http://schemas.openxmlformats.org/drawingml/2006/main">
              <a:ext uri="{FF2B5EF4-FFF2-40B4-BE49-F238E27FC236}">
                <a16:creationId xmlns:a16="http://schemas.microsoft.com/office/drawing/2014/main" id="{34AC9DE9-8247-4537-AB38-08339D2D913A}"/>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F42A2E00-AEB5-46F7-B03E-D3DC1608632B}"/>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text = "bad"</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try:</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reading = float(text)</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except ValueError:</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reading = </a:t>
            </a:r>
            <a:r>
              <a:rPr sz="2175" b="0">
                <a:solidFill>
                  <a:srgbClr val="FFB080"/>
                </a:solidFill>
                <a:latin typeface="Courier New"/>
                <a:ea typeface="Courier New"/>
                <a:cs typeface="Courier New"/>
              </a:rPr>
              <a:t>None</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print(reading)</a:t>
            </a:r>
          </a:p>
        </p:txBody>
      </p:sp>
      <p:sp>
        <p:nvSpPr>
          <p:cNvPr id="6" name="">
            <a:extLst xmlns:a="http://schemas.openxmlformats.org/drawingml/2006/main">
              <a:ext uri="{FF2B5EF4-FFF2-40B4-BE49-F238E27FC236}">
                <a16:creationId xmlns:a16="http://schemas.microsoft.com/office/drawing/2014/main" id="{1CCEA31B-F57A-4DD4-BD0D-ED961A1F7850}"/>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8E4D2B1B-ACE0-4360-BD6E-FEBA778B6754}"/>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float converts numeric text into a decimal number.</a:t>
            </a:r>
          </a:p>
        </p:txBody>
      </p:sp>
      <p:sp>
        <p:nvSpPr>
          <p:cNvPr id="8" name="">
            <a:extLst xmlns:a="http://schemas.openxmlformats.org/drawingml/2006/main">
              <a:ext uri="{FF2B5EF4-FFF2-40B4-BE49-F238E27FC236}">
                <a16:creationId xmlns:a16="http://schemas.microsoft.com/office/drawing/2014/main" id="{6AA24B27-E516-4915-BC04-B82E420F0BEB}"/>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print displays a value below the cell.</a:t>
            </a:r>
          </a:p>
        </p:txBody>
      </p:sp>
      <p:sp>
        <p:nvSpPr>
          <p:cNvPr id="9" name="">
            <a:extLst xmlns:a="http://schemas.openxmlformats.org/drawingml/2006/main">
              <a:ext uri="{FF2B5EF4-FFF2-40B4-BE49-F238E27FC236}">
                <a16:creationId xmlns:a16="http://schemas.microsoft.com/office/drawing/2014/main" id="{764C3AE1-078F-4448-9B8F-869360FC69EA}"/>
              </a:ext>
            </a:extLst>
          </p:cNvPr>
          <p:cNvSpPr>
            <a:spLocks xmlns:a="http://schemas.openxmlformats.org/drawingml/2006/main" noGrp="1"/>
          </p:cNvSpPr>
          <p:nvPr/>
        </p:nvSpPr>
        <p:spPr>
          <a:xfrm xmlns:a="http://schemas.openxmlformats.org/drawingml/2006/main">
            <a:off x="8096250" y="43434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 assigns the value on the right to the name on the left.</a:t>
            </a:r>
          </a:p>
        </p:txBody>
      </p:sp>
      <p:sp>
        <p:nvSpPr>
          <p:cNvPr id="10" name="">
            <a:extLst xmlns:a="http://schemas.openxmlformats.org/drawingml/2006/main">
              <a:ext uri="{FF2B5EF4-FFF2-40B4-BE49-F238E27FC236}">
                <a16:creationId xmlns:a16="http://schemas.microsoft.com/office/drawing/2014/main" id="{7FB70216-8AAE-42D4-81AD-FCB96AF48F23}"/>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Expected: None. The assignment specifies which invalid records to skip; do not invent a replacement number.</a:t>
            </a:r>
          </a:p>
        </p:txBody>
      </p:sp>
      <p:sp>
        <p:nvSpPr>
          <p:cNvPr id="11" name="">
            <a:extLst xmlns:a="http://schemas.openxmlformats.org/drawingml/2006/main">
              <a:ext uri="{FF2B5EF4-FFF2-40B4-BE49-F238E27FC236}">
                <a16:creationId xmlns:a16="http://schemas.microsoft.com/office/drawing/2014/main" id="{AEDF61DE-FA99-45D1-97D4-66E68D79EE49}"/>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4   41</a:t>
            </a:r>
          </a:p>
        </p:txBody>
      </p:sp>
    </p:spTree>
    <p:extLst>
      <p:ext uri="{BB962C8B-B14F-4D97-AF65-F5344CB8AC3E}">
        <p14:creationId xmlns:p14="http://schemas.microsoft.com/office/powerpoint/2010/main" val="8573982"/>
      </p:ext>
    </p:extLst>
  </p:cSld>
</p:sld>
</file>

<file path=ppt/slides/slide4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D27CA92D-1224-409E-870E-E5EB858C20E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A1EE278C-A14B-488B-ABEB-99A124FB244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TRY IT TOGETHER   5 MINUTES</a:t>
            </a:r>
          </a:p>
        </p:txBody>
      </p:sp>
      <p:sp>
        <p:nvSpPr>
          <p:cNvPr id="3" name="">
            <a:extLst xmlns:a="http://schemas.openxmlformats.org/drawingml/2006/main">
              <a:ext uri="{FF2B5EF4-FFF2-40B4-BE49-F238E27FC236}">
                <a16:creationId xmlns:a16="http://schemas.microsoft.com/office/drawing/2014/main" id="{6243BD9F-0BDC-438D-B362-E87AA173FCF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You are the loop</a:t>
            </a:r>
          </a:p>
        </p:txBody>
      </p:sp>
      <p:sp>
        <p:nvSpPr>
          <p:cNvPr id="4" name="">
            <a:extLst xmlns:a="http://schemas.openxmlformats.org/drawingml/2006/main">
              <a:ext uri="{FF2B5EF4-FFF2-40B4-BE49-F238E27FC236}">
                <a16:creationId xmlns:a16="http://schemas.microsoft.com/office/drawing/2014/main" id="{054B3F86-5D0A-4191-AB04-B15A62AB5AB0}"/>
              </a:ext>
            </a:extLst>
          </p:cNvPr>
          <p:cNvSpPr>
            <a:spLocks xmlns:a="http://schemas.openxmlformats.org/drawingml/2006/main" noGrp="1"/>
          </p:cNvSpPr>
          <p:nvPr/>
        </p:nvSpPr>
        <p:spPr>
          <a:xfrm xmlns:a="http://schemas.openxmlformats.org/drawingml/2006/main">
            <a:off x="619125" y="1809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6C5FB019-95BA-4C66-8886-9CDC40CCC515}"/>
              </a:ext>
            </a:extLst>
          </p:cNvPr>
          <p:cNvSpPr>
            <a:spLocks xmlns:a="http://schemas.openxmlformats.org/drawingml/2006/main" noGrp="1"/>
          </p:cNvSpPr>
          <p:nvPr/>
        </p:nvSpPr>
        <p:spPr>
          <a:xfrm xmlns:a="http://schemas.openxmlformats.org/drawingml/2006/main">
            <a:off x="1409700" y="1809750"/>
            <a:ext cx="10001250" cy="1257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Write the readings 2, 4 and 6 on separate scraps of paper.</a:t>
            </a:r>
          </a:p>
        </p:txBody>
      </p:sp>
      <p:sp>
        <p:nvSpPr>
          <p:cNvPr id="6" name="">
            <a:extLst xmlns:a="http://schemas.openxmlformats.org/drawingml/2006/main">
              <a:ext uri="{FF2B5EF4-FFF2-40B4-BE49-F238E27FC236}">
                <a16:creationId xmlns:a16="http://schemas.microsoft.com/office/drawing/2014/main" id="{EBF2C198-10F1-4104-B91B-738C61A76D0D}"/>
              </a:ext>
            </a:extLst>
          </p:cNvPr>
          <p:cNvSpPr>
            <a:spLocks xmlns:a="http://schemas.openxmlformats.org/drawingml/2006/main" noGrp="1"/>
          </p:cNvSpPr>
          <p:nvPr/>
        </p:nvSpPr>
        <p:spPr>
          <a:xfrm xmlns:a="http://schemas.openxmlformats.org/drawingml/2006/main">
            <a:off x="619125" y="31432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96CCF4C4-367A-4A92-B54D-9F928FCFB180}"/>
              </a:ext>
            </a:extLst>
          </p:cNvPr>
          <p:cNvSpPr>
            <a:spLocks xmlns:a="http://schemas.openxmlformats.org/drawingml/2006/main" noGrp="1"/>
          </p:cNvSpPr>
          <p:nvPr/>
        </p:nvSpPr>
        <p:spPr>
          <a:xfrm xmlns:a="http://schemas.openxmlformats.org/drawingml/2006/main">
            <a:off x="1409700" y="3143250"/>
            <a:ext cx="10001250" cy="1257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Move through them once. Keep a running total and a count.</a:t>
            </a:r>
          </a:p>
        </p:txBody>
      </p:sp>
      <p:sp>
        <p:nvSpPr>
          <p:cNvPr id="8" name="">
            <a:extLst xmlns:a="http://schemas.openxmlformats.org/drawingml/2006/main">
              <a:ext uri="{FF2B5EF4-FFF2-40B4-BE49-F238E27FC236}">
                <a16:creationId xmlns:a16="http://schemas.microsoft.com/office/drawing/2014/main" id="{8D6506E0-9CAD-42AD-B6E7-84A2E7E54835}"/>
              </a:ext>
            </a:extLst>
          </p:cNvPr>
          <p:cNvSpPr>
            <a:spLocks xmlns:a="http://schemas.openxmlformats.org/drawingml/2006/main" noGrp="1"/>
          </p:cNvSpPr>
          <p:nvPr/>
        </p:nvSpPr>
        <p:spPr>
          <a:xfrm xmlns:a="http://schemas.openxmlformats.org/drawingml/2006/main">
            <a:off x="619125" y="447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5DF2A718-1FB8-4708-9B49-6CEFFD108705}"/>
              </a:ext>
            </a:extLst>
          </p:cNvPr>
          <p:cNvSpPr>
            <a:spLocks xmlns:a="http://schemas.openxmlformats.org/drawingml/2006/main" noGrp="1"/>
          </p:cNvSpPr>
          <p:nvPr/>
        </p:nvSpPr>
        <p:spPr>
          <a:xfrm xmlns:a="http://schemas.openxmlformats.org/drawingml/2006/main">
            <a:off x="1409700" y="4476750"/>
            <a:ext cx="10001250" cy="1257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Add a fourth reading of 8. Predict the new mean before coding.</a:t>
            </a:r>
          </a:p>
        </p:txBody>
      </p:sp>
      <p:sp>
        <p:nvSpPr>
          <p:cNvPr id="10" name="">
            <a:extLst xmlns:a="http://schemas.openxmlformats.org/drawingml/2006/main">
              <a:ext uri="{FF2B5EF4-FFF2-40B4-BE49-F238E27FC236}">
                <a16:creationId xmlns:a16="http://schemas.microsoft.com/office/drawing/2014/main" id="{CE0F6E00-0243-4256-BE90-BD7BD3B2E2FB}"/>
              </a:ext>
            </a:extLst>
          </p:cNvPr>
          <p:cNvSpPr>
            <a:spLocks xmlns:a="http://schemas.openxmlformats.org/drawingml/2006/main" noGrp="1"/>
          </p:cNvSpPr>
          <p:nvPr/>
        </p:nvSpPr>
        <p:spPr>
          <a:xfrm xmlns:a="http://schemas.openxmlformats.org/drawingml/2006/main">
            <a:off x="0" y="5915025"/>
            <a:ext cx="12191695" cy="4667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8E536BE4-AC1A-47C1-A454-D327DE8E2928}"/>
              </a:ext>
            </a:extLst>
          </p:cNvPr>
          <p:cNvSpPr>
            <a:spLocks xmlns:a="http://schemas.openxmlformats.org/drawingml/2006/main" noGrp="1"/>
          </p:cNvSpPr>
          <p:nvPr/>
        </p:nvSpPr>
        <p:spPr>
          <a:xfrm xmlns:a="http://schemas.openxmlformats.org/drawingml/2006/main">
            <a:off x="619125" y="5981700"/>
            <a:ext cx="1081087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One partner acts. One partner checks. Then swap roles.</a:t>
            </a:r>
          </a:p>
        </p:txBody>
      </p:sp>
      <p:sp>
        <p:nvSpPr>
          <p:cNvPr id="12" name="">
            <a:extLst xmlns:a="http://schemas.openxmlformats.org/drawingml/2006/main">
              <a:ext uri="{FF2B5EF4-FFF2-40B4-BE49-F238E27FC236}">
                <a16:creationId xmlns:a16="http://schemas.microsoft.com/office/drawing/2014/main" id="{2063C490-C5E7-40B2-84B9-18B912B2D7F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4   42</a:t>
            </a:r>
          </a:p>
        </p:txBody>
      </p:sp>
    </p:spTree>
    <p:extLst>
      <p:ext uri="{BB962C8B-B14F-4D97-AF65-F5344CB8AC3E}">
        <p14:creationId xmlns:p14="http://schemas.microsoft.com/office/powerpoint/2010/main" val="803232296"/>
      </p:ext>
    </p:extLst>
  </p:cSld>
</p:sld>
</file>

<file path=ppt/slides/slide4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BD647B7C-F842-4131-B1EE-0CD489398447}"/>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5903C270-80E9-4F02-B367-F11D66CFBBC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DISCUSS THE REASONING</a:t>
            </a:r>
          </a:p>
        </p:txBody>
      </p:sp>
      <p:sp>
        <p:nvSpPr>
          <p:cNvPr id="3" name="">
            <a:extLst xmlns:a="http://schemas.openxmlformats.org/drawingml/2006/main">
              <a:ext uri="{FF2B5EF4-FFF2-40B4-BE49-F238E27FC236}">
                <a16:creationId xmlns:a16="http://schemas.microsoft.com/office/drawing/2014/main" id="{EB87B96B-B9B8-4F16-A3E1-C75025A3E8C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What the activity shows</a:t>
            </a:r>
          </a:p>
        </p:txBody>
      </p:sp>
      <p:sp>
        <p:nvSpPr>
          <p:cNvPr id="4" name="">
            <a:extLst xmlns:a="http://schemas.openxmlformats.org/drawingml/2006/main">
              <a:ext uri="{FF2B5EF4-FFF2-40B4-BE49-F238E27FC236}">
                <a16:creationId xmlns:a16="http://schemas.microsoft.com/office/drawing/2014/main" id="{66610ED3-6839-4BF4-8E92-CDC616B6DED7}"/>
              </a:ext>
            </a:extLst>
          </p:cNvPr>
          <p:cNvSpPr>
            <a:spLocks xmlns:a="http://schemas.openxmlformats.org/drawingml/2006/main" noGrp="1"/>
          </p:cNvSpPr>
          <p:nvPr/>
        </p:nvSpPr>
        <p:spPr>
          <a:xfrm xmlns:a="http://schemas.openxmlformats.org/drawingml/2006/main">
            <a:off x="590550" y="1752600"/>
            <a:ext cx="11010900" cy="35242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84392701-0323-4613-82B9-01FEA8F21D3D}"/>
              </a:ext>
            </a:extLst>
          </p:cNvPr>
          <p:cNvSpPr>
            <a:spLocks xmlns:a="http://schemas.openxmlformats.org/drawingml/2006/main" noGrp="1"/>
          </p:cNvSpPr>
          <p:nvPr/>
        </p:nvSpPr>
        <p:spPr>
          <a:xfrm xmlns:a="http://schemas.openxmlformats.org/drawingml/2006/main">
            <a:off x="904875" y="2028825"/>
            <a:ext cx="10334625" cy="3048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2E7D6F"/>
                </a:solidFill>
                <a:latin typeface="Calibri"/>
                <a:ea typeface="Calibri"/>
                <a:cs typeface="Calibri"/>
              </a:defRPr>
            </a:pPr>
            <a:r>
              <a:rPr sz="3150" b="1">
                <a:solidFill>
                  <a:srgbClr val="2E7D6F"/>
                </a:solidFill>
                <a:latin typeface="Calibri"/>
                <a:ea typeface="Calibri"/>
                <a:cs typeface="Calibri"/>
              </a:rPr>
              <a:t>The new total is 20 and count is 4, so the mean is 5. Resetting the total inside the loop loses earlier additions.</a:t>
            </a:r>
          </a:p>
        </p:txBody>
      </p:sp>
      <p:sp>
        <p:nvSpPr>
          <p:cNvPr id="6" name="">
            <a:extLst xmlns:a="http://schemas.openxmlformats.org/drawingml/2006/main">
              <a:ext uri="{FF2B5EF4-FFF2-40B4-BE49-F238E27FC236}">
                <a16:creationId xmlns:a16="http://schemas.microsoft.com/office/drawing/2014/main" id="{9CA27057-E5C4-495D-8437-BB1A19493A1D}"/>
              </a:ext>
            </a:extLst>
          </p:cNvPr>
          <p:cNvSpPr>
            <a:spLocks xmlns:a="http://schemas.openxmlformats.org/drawingml/2006/main" noGrp="1"/>
          </p:cNvSpPr>
          <p:nvPr/>
        </p:nvSpPr>
        <p:spPr>
          <a:xfrm xmlns:a="http://schemas.openxmlformats.org/drawingml/2006/main">
            <a:off x="685800" y="5581650"/>
            <a:ext cx="10668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Which step produced this result? What changes if one input changes?</a:t>
            </a:r>
          </a:p>
        </p:txBody>
      </p:sp>
      <p:sp>
        <p:nvSpPr>
          <p:cNvPr id="7" name="">
            <a:extLst xmlns:a="http://schemas.openxmlformats.org/drawingml/2006/main">
              <a:ext uri="{FF2B5EF4-FFF2-40B4-BE49-F238E27FC236}">
                <a16:creationId xmlns:a16="http://schemas.microsoft.com/office/drawing/2014/main" id="{90FF46E7-ED0A-4AE7-9364-79159788230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4   43</a:t>
            </a:r>
          </a:p>
        </p:txBody>
      </p:sp>
    </p:spTree>
    <p:extLst>
      <p:ext uri="{BB962C8B-B14F-4D97-AF65-F5344CB8AC3E}">
        <p14:creationId xmlns:p14="http://schemas.microsoft.com/office/powerpoint/2010/main" val="947773741"/>
      </p:ext>
    </p:extLst>
  </p:cSld>
</p:sld>
</file>

<file path=ppt/slides/slide44.xml><?xml version="1.0" encoding="utf-8"?>
<p:sld xmlns:p="http://schemas.openxmlformats.org/presentationml/2006/main">
  <p:cSld>
    <p:bg>
      <p:bgPr>
        <a:solidFill xmlns:a="http://schemas.openxmlformats.org/drawingml/2006/main">
          <a:srgbClr val="1C3144"/>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B593E7A0-E18E-430A-81DD-24BF584AF367}"/>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PREDICT BEFORE RUNNING</a:t>
            </a:r>
          </a:p>
        </p:txBody>
      </p:sp>
      <p:sp>
        <p:nvSpPr>
          <p:cNvPr id="2" name="">
            <a:extLst xmlns:a="http://schemas.openxmlformats.org/drawingml/2006/main">
              <a:ext uri="{FF2B5EF4-FFF2-40B4-BE49-F238E27FC236}">
                <a16:creationId xmlns:a16="http://schemas.microsoft.com/office/drawing/2014/main" id="{AAB6A887-D094-480A-AC3D-12B8AB12DAD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Your turn</a:t>
            </a:r>
          </a:p>
        </p:txBody>
      </p:sp>
      <p:sp>
        <p:nvSpPr>
          <p:cNvPr id="3" name="">
            <a:extLst xmlns:a="http://schemas.openxmlformats.org/drawingml/2006/main">
              <a:ext uri="{FF2B5EF4-FFF2-40B4-BE49-F238E27FC236}">
                <a16:creationId xmlns:a16="http://schemas.microsoft.com/office/drawing/2014/main" id="{E0FF4D7D-B529-4DF2-9199-919C7CBA9A2C}"/>
              </a:ext>
            </a:extLst>
          </p:cNvPr>
          <p:cNvSpPr>
            <a:spLocks xmlns:a="http://schemas.openxmlformats.org/drawingml/2006/main" noGrp="1"/>
          </p:cNvSpPr>
          <p:nvPr/>
        </p:nvSpPr>
        <p:spPr>
          <a:xfrm xmlns:a="http://schemas.openxmlformats.org/drawingml/2006/main">
            <a:off x="619125" y="1619250"/>
            <a:ext cx="2857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1">
                <a:solidFill>
                  <a:srgbClr val="E4572E"/>
                </a:solidFill>
                <a:latin typeface="Calibri"/>
                <a:ea typeface="Calibri"/>
                <a:cs typeface="Calibri"/>
              </a:defRPr>
            </a:pPr>
            <a:r>
              <a:rPr sz="1950" b="1">
                <a:solidFill>
                  <a:srgbClr val="E4572E"/>
                </a:solidFill>
                <a:latin typeface="Calibri"/>
                <a:ea typeface="Calibri"/>
                <a:cs typeface="Calibri"/>
              </a:rPr>
              <a:t>YOUR TURN</a:t>
            </a:r>
          </a:p>
        </p:txBody>
      </p:sp>
      <p:sp>
        <p:nvSpPr>
          <p:cNvPr id="4" name="">
            <a:extLst xmlns:a="http://schemas.openxmlformats.org/drawingml/2006/main">
              <a:ext uri="{FF2B5EF4-FFF2-40B4-BE49-F238E27FC236}">
                <a16:creationId xmlns:a16="http://schemas.microsoft.com/office/drawing/2014/main" id="{55E8385A-83FA-4001-B968-D4AFC09AC128}"/>
              </a:ext>
            </a:extLst>
          </p:cNvPr>
          <p:cNvSpPr>
            <a:spLocks xmlns:a="http://schemas.openxmlformats.org/drawingml/2006/main" noGrp="1"/>
          </p:cNvSpPr>
          <p:nvPr/>
        </p:nvSpPr>
        <p:spPr>
          <a:xfrm xmlns:a="http://schemas.openxmlformats.org/drawingml/2006/main">
            <a:off x="619125" y="2295525"/>
            <a:ext cx="10810875" cy="3095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850" b="0">
                <a:solidFill>
                  <a:srgbClr val="FFFFFF"/>
                </a:solidFill>
                <a:latin typeface="Calibri"/>
                <a:ea typeface="Calibri"/>
                <a:cs typeface="Calibri"/>
              </a:defRPr>
            </a:pPr>
            <a:r>
              <a:rPr sz="2850" b="0">
                <a:solidFill>
                  <a:srgbClr val="FFFFFF"/>
                </a:solidFill>
                <a:latin typeface="Calibri"/>
                <a:ea typeface="Calibri"/>
                <a:cs typeface="Calibri"/>
              </a:rPr>
              <a:t>Add 8 to the list. Trace the new total and count before running. What happens if total = 0 is moved inside the loop?</a:t>
            </a:r>
          </a:p>
        </p:txBody>
      </p:sp>
      <p:sp>
        <p:nvSpPr>
          <p:cNvPr id="5" name="">
            <a:extLst xmlns:a="http://schemas.openxmlformats.org/drawingml/2006/main">
              <a:ext uri="{FF2B5EF4-FFF2-40B4-BE49-F238E27FC236}">
                <a16:creationId xmlns:a16="http://schemas.microsoft.com/office/drawing/2014/main" id="{BC1ABF40-D3E3-470D-8847-9304ADEBAB0F}"/>
              </a:ext>
            </a:extLst>
          </p:cNvPr>
          <p:cNvSpPr>
            <a:spLocks xmlns:a="http://schemas.openxmlformats.org/drawingml/2006/main" noGrp="1"/>
          </p:cNvSpPr>
          <p:nvPr/>
        </p:nvSpPr>
        <p:spPr>
          <a:xfrm xmlns:a="http://schemas.openxmlformats.org/drawingml/2006/main">
            <a:off x="619125" y="5791200"/>
            <a:ext cx="10810875"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BBCDD9"/>
                </a:solidFill>
                <a:latin typeface="Calibri"/>
                <a:ea typeface="Calibri"/>
                <a:cs typeface="Calibri"/>
              </a:defRPr>
            </a:pPr>
            <a:r>
              <a:rPr sz="1800" b="0">
                <a:solidFill>
                  <a:srgbClr val="BBCDD9"/>
                </a:solidFill>
                <a:latin typeface="Calibri"/>
                <a:ea typeface="Calibri"/>
                <a:cs typeface="Calibri"/>
              </a:rPr>
              <a:t>Think alone first. Then compare your reasoning with a partner.</a:t>
            </a:r>
          </a:p>
        </p:txBody>
      </p:sp>
      <p:sp>
        <p:nvSpPr>
          <p:cNvPr id="6" name="">
            <a:extLst xmlns:a="http://schemas.openxmlformats.org/drawingml/2006/main">
              <a:ext uri="{FF2B5EF4-FFF2-40B4-BE49-F238E27FC236}">
                <a16:creationId xmlns:a16="http://schemas.microsoft.com/office/drawing/2014/main" id="{4FEC6B85-5830-4426-9B06-C41E742CD05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BBCDD9"/>
                </a:solidFill>
                <a:latin typeface="Calibri"/>
                <a:ea typeface="Calibri"/>
                <a:cs typeface="Calibri"/>
              </a:defRPr>
            </a:pPr>
            <a:r>
              <a:rPr sz="1200" b="0">
                <a:solidFill>
                  <a:srgbClr val="BBCDD9"/>
                </a:solidFill>
                <a:latin typeface="Calibri"/>
                <a:ea typeface="Calibri"/>
                <a:cs typeface="Calibri"/>
              </a:rPr>
              <a:t>CML3113   Week 4   44</a:t>
            </a:r>
          </a:p>
        </p:txBody>
      </p:sp>
    </p:spTree>
    <p:extLst>
      <p:ext uri="{BB962C8B-B14F-4D97-AF65-F5344CB8AC3E}">
        <p14:creationId xmlns:p14="http://schemas.microsoft.com/office/powerpoint/2010/main" val="343054855"/>
      </p:ext>
    </p:extLst>
  </p:cSld>
</p:sld>
</file>

<file path=ppt/slides/slide4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CD641E1D-CF5C-4944-A76E-466A8841975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689053DD-8358-4E8A-83A1-73312FCB767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DISCUSS THE REASONING</a:t>
            </a:r>
          </a:p>
        </p:txBody>
      </p:sp>
      <p:sp>
        <p:nvSpPr>
          <p:cNvPr id="3" name="">
            <a:extLst xmlns:a="http://schemas.openxmlformats.org/drawingml/2006/main">
              <a:ext uri="{FF2B5EF4-FFF2-40B4-BE49-F238E27FC236}">
                <a16:creationId xmlns:a16="http://schemas.microsoft.com/office/drawing/2014/main" id="{BFF8A4DF-D6E7-4A82-B1AC-43D8EAD1ED8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Practice discussion</a:t>
            </a:r>
          </a:p>
        </p:txBody>
      </p:sp>
      <p:sp>
        <p:nvSpPr>
          <p:cNvPr id="4" name="">
            <a:extLst xmlns:a="http://schemas.openxmlformats.org/drawingml/2006/main">
              <a:ext uri="{FF2B5EF4-FFF2-40B4-BE49-F238E27FC236}">
                <a16:creationId xmlns:a16="http://schemas.microsoft.com/office/drawing/2014/main" id="{ECD1642E-4001-4FA9-A88E-DB8BC13D2E8A}"/>
              </a:ext>
            </a:extLst>
          </p:cNvPr>
          <p:cNvSpPr>
            <a:spLocks xmlns:a="http://schemas.openxmlformats.org/drawingml/2006/main" noGrp="1"/>
          </p:cNvSpPr>
          <p:nvPr/>
        </p:nvSpPr>
        <p:spPr>
          <a:xfrm xmlns:a="http://schemas.openxmlformats.org/drawingml/2006/main">
            <a:off x="590550" y="1752600"/>
            <a:ext cx="11010900" cy="35242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98C1F937-962C-4F5E-80BB-1EAB36A75E84}"/>
              </a:ext>
            </a:extLst>
          </p:cNvPr>
          <p:cNvSpPr>
            <a:spLocks xmlns:a="http://schemas.openxmlformats.org/drawingml/2006/main" noGrp="1"/>
          </p:cNvSpPr>
          <p:nvPr/>
        </p:nvSpPr>
        <p:spPr>
          <a:xfrm xmlns:a="http://schemas.openxmlformats.org/drawingml/2006/main">
            <a:off x="904875" y="2028825"/>
            <a:ext cx="10334625" cy="3048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2E7D6F"/>
                </a:solidFill>
                <a:latin typeface="Calibri"/>
                <a:ea typeface="Calibri"/>
                <a:cs typeface="Calibri"/>
              </a:defRPr>
            </a:pPr>
            <a:r>
              <a:rPr sz="3150" b="1">
                <a:solidFill>
                  <a:srgbClr val="2E7D6F"/>
                </a:solidFill>
                <a:latin typeface="Calibri"/>
                <a:ea typeface="Calibri"/>
                <a:cs typeface="Calibri"/>
              </a:rPr>
              <a:t>Total 20, count 4, mean 5.0. Resetting inside the loop discards previous additions and leaves only the last value in total.</a:t>
            </a:r>
          </a:p>
        </p:txBody>
      </p:sp>
      <p:sp>
        <p:nvSpPr>
          <p:cNvPr id="6" name="">
            <a:extLst xmlns:a="http://schemas.openxmlformats.org/drawingml/2006/main">
              <a:ext uri="{FF2B5EF4-FFF2-40B4-BE49-F238E27FC236}">
                <a16:creationId xmlns:a16="http://schemas.microsoft.com/office/drawing/2014/main" id="{6E5E655B-4AE7-4298-9872-E3744157F7A5}"/>
              </a:ext>
            </a:extLst>
          </p:cNvPr>
          <p:cNvSpPr>
            <a:spLocks xmlns:a="http://schemas.openxmlformats.org/drawingml/2006/main" noGrp="1"/>
          </p:cNvSpPr>
          <p:nvPr/>
        </p:nvSpPr>
        <p:spPr>
          <a:xfrm xmlns:a="http://schemas.openxmlformats.org/drawingml/2006/main">
            <a:off x="685800" y="5581650"/>
            <a:ext cx="10668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Which step produced this result? What changes if one input changes?</a:t>
            </a:r>
          </a:p>
        </p:txBody>
      </p:sp>
      <p:sp>
        <p:nvSpPr>
          <p:cNvPr id="7" name="">
            <a:extLst xmlns:a="http://schemas.openxmlformats.org/drawingml/2006/main">
              <a:ext uri="{FF2B5EF4-FFF2-40B4-BE49-F238E27FC236}">
                <a16:creationId xmlns:a16="http://schemas.microsoft.com/office/drawing/2014/main" id="{C61D0D63-074A-427E-B8BB-467EBB2044F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4   45</a:t>
            </a:r>
          </a:p>
        </p:txBody>
      </p:sp>
    </p:spTree>
    <p:extLst>
      <p:ext uri="{BB962C8B-B14F-4D97-AF65-F5344CB8AC3E}">
        <p14:creationId xmlns:p14="http://schemas.microsoft.com/office/powerpoint/2010/main" val="1094051545"/>
      </p:ext>
    </p:extLst>
  </p:cSld>
</p:sld>
</file>

<file path=ppt/slides/slide4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72469589-450C-45E6-954B-A38E8B72778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4BFBC54-0339-46E1-AD81-76129A5C584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BA3C33F8-57E9-4F31-95C8-8DDBD8C01A6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Preparing for the assignment</a:t>
            </a:r>
          </a:p>
        </p:txBody>
      </p:sp>
      <p:sp>
        <p:nvSpPr>
          <p:cNvPr id="4" name="">
            <a:extLst xmlns:a="http://schemas.openxmlformats.org/drawingml/2006/main">
              <a:ext uri="{FF2B5EF4-FFF2-40B4-BE49-F238E27FC236}">
                <a16:creationId xmlns:a16="http://schemas.microsoft.com/office/drawing/2014/main" id="{5C840EEC-0CE8-4CFF-B1A5-94960B8C5D74}"/>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E60E6792-8D48-489D-B42A-BDBB6D35792A}"/>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Open the issued W04 notebook and its cohort CSV.</a:t>
            </a:r>
          </a:p>
        </p:txBody>
      </p:sp>
      <p:sp>
        <p:nvSpPr>
          <p:cNvPr id="6" name="">
            <a:extLst xmlns:a="http://schemas.openxmlformats.org/drawingml/2006/main">
              <a:ext uri="{FF2B5EF4-FFF2-40B4-BE49-F238E27FC236}">
                <a16:creationId xmlns:a16="http://schemas.microsoft.com/office/drawing/2014/main" id="{1B38D893-461D-4166-AA30-C17B098C1280}"/>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6F3B1D8E-91D3-466B-AE41-342A28D597DB}"/>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Compute the requested valid_count, mean_reading, above_limit and group_means using the exact names in the notebook.</a:t>
            </a:r>
          </a:p>
        </p:txBody>
      </p:sp>
      <p:sp>
        <p:nvSpPr>
          <p:cNvPr id="8" name="">
            <a:extLst xmlns:a="http://schemas.openxmlformats.org/drawingml/2006/main">
              <a:ext uri="{FF2B5EF4-FFF2-40B4-BE49-F238E27FC236}">
                <a16:creationId xmlns:a16="http://schemas.microsoft.com/office/drawing/2014/main" id="{65F8B019-A7C4-445F-B2B4-1CF9318679C3}"/>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84E6EC18-7BD8-4687-8A02-278633A3874E}"/>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First identify the correct field and its unit.</a:t>
            </a:r>
          </a:p>
        </p:txBody>
      </p:sp>
      <p:sp>
        <p:nvSpPr>
          <p:cNvPr id="10" name="">
            <a:extLst xmlns:a="http://schemas.openxmlformats.org/drawingml/2006/main">
              <a:ext uri="{FF2B5EF4-FFF2-40B4-BE49-F238E27FC236}">
                <a16:creationId xmlns:a16="http://schemas.microsoft.com/office/drawing/2014/main" id="{9BD53B63-D392-4510-BCDD-0130398C0034}"/>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C47F4115-2F8E-4F2F-80DA-45F46E02E75E}"/>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Keep the CSV beside the notebook locally or upload it into the Colab runtime.</a:t>
            </a:r>
          </a:p>
        </p:txBody>
      </p:sp>
      <p:sp>
        <p:nvSpPr>
          <p:cNvPr id="12" name="">
            <a:extLst xmlns:a="http://schemas.openxmlformats.org/drawingml/2006/main">
              <a:ext uri="{FF2B5EF4-FFF2-40B4-BE49-F238E27FC236}">
                <a16:creationId xmlns:a16="http://schemas.microsoft.com/office/drawing/2014/main" id="{D8A62433-2B70-48F6-A6AF-2267E44AB24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4   46</a:t>
            </a:r>
          </a:p>
        </p:txBody>
      </p:sp>
    </p:spTree>
    <p:extLst>
      <p:ext uri="{BB962C8B-B14F-4D97-AF65-F5344CB8AC3E}">
        <p14:creationId xmlns:p14="http://schemas.microsoft.com/office/powerpoint/2010/main" val="1578676246"/>
      </p:ext>
    </p:extLst>
  </p:cSld>
</p:sld>
</file>

<file path=ppt/slides/slide4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CDF8A3A3-F753-4EE0-B82F-6A992F49CD2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ED8E7447-A695-47AA-B9F9-19F3AAF907B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C5A3523B-4FA6-43B3-872B-CDEDD25EB88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Preparing for the assignment continued</a:t>
            </a:r>
          </a:p>
        </p:txBody>
      </p:sp>
      <p:sp>
        <p:nvSpPr>
          <p:cNvPr id="4" name="">
            <a:extLst xmlns:a="http://schemas.openxmlformats.org/drawingml/2006/main">
              <a:ext uri="{FF2B5EF4-FFF2-40B4-BE49-F238E27FC236}">
                <a16:creationId xmlns:a16="http://schemas.microsoft.com/office/drawing/2014/main" id="{449B3A94-9114-42A6-B798-49BECB99BC3F}"/>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6D5A4A9E-0FD7-4A76-9EF3-34B515F048CF}"/>
              </a:ext>
            </a:extLst>
          </p:cNvPr>
          <p:cNvSpPr>
            <a:spLocks xmlns:a="http://schemas.openxmlformats.org/drawingml/2006/main" noGrp="1"/>
          </p:cNvSpPr>
          <p:nvPr/>
        </p:nvSpPr>
        <p:spPr>
          <a:xfrm xmlns:a="http://schemas.openxmlformats.org/drawingml/2006/main">
            <a:off x="1381125" y="1781175"/>
            <a:ext cx="10096500" cy="420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written interpretation is practice.</a:t>
            </a:r>
          </a:p>
        </p:txBody>
      </p:sp>
      <p:sp>
        <p:nvSpPr>
          <p:cNvPr id="6" name="">
            <a:extLst xmlns:a="http://schemas.openxmlformats.org/drawingml/2006/main">
              <a:ext uri="{FF2B5EF4-FFF2-40B4-BE49-F238E27FC236}">
                <a16:creationId xmlns:a16="http://schemas.microsoft.com/office/drawing/2014/main" id="{611C5062-EC84-4B9F-B8A3-E70D06587D2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4   47</a:t>
            </a:r>
          </a:p>
        </p:txBody>
      </p:sp>
    </p:spTree>
    <p:extLst>
      <p:ext uri="{BB962C8B-B14F-4D97-AF65-F5344CB8AC3E}">
        <p14:creationId xmlns:p14="http://schemas.microsoft.com/office/powerpoint/2010/main" val="1079644606"/>
      </p:ext>
    </p:extLst>
  </p:cSld>
</p:sld>
</file>

<file path=ppt/slides/slide4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4B4BF2E5-ADB8-4F23-A069-6296DB52695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1CF06F52-EAA0-4E03-BF83-00707FDB801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43649A95-9D94-4A27-B3EE-6B7A62C2DE3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Counting every record honestly</a:t>
            </a:r>
          </a:p>
        </p:txBody>
      </p:sp>
      <p:sp>
        <p:nvSpPr>
          <p:cNvPr id="4" name="">
            <a:extLst xmlns:a="http://schemas.openxmlformats.org/drawingml/2006/main">
              <a:ext uri="{FF2B5EF4-FFF2-40B4-BE49-F238E27FC236}">
                <a16:creationId xmlns:a16="http://schemas.microsoft.com/office/drawing/2014/main" id="{CBC103AB-09FB-48A5-9AF7-A1E2874ED071}"/>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067E7220-A6E8-4CE1-B9D0-99A935447CD5}"/>
              </a:ext>
            </a:extLst>
          </p:cNvPr>
          <p:cNvSpPr>
            <a:spLocks xmlns:a="http://schemas.openxmlformats.org/drawingml/2006/main" noGrp="1"/>
          </p:cNvSpPr>
          <p:nvPr/>
        </p:nvSpPr>
        <p:spPr>
          <a:xfrm xmlns:a="http://schemas.openxmlformats.org/drawingml/2006/main">
            <a:off x="1381125" y="1781175"/>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DictReader already consumes the header; skipping its first yielded row skips real data.</a:t>
            </a:r>
          </a:p>
        </p:txBody>
      </p:sp>
      <p:sp>
        <p:nvSpPr>
          <p:cNvPr id="6" name="">
            <a:extLst xmlns:a="http://schemas.openxmlformats.org/drawingml/2006/main">
              <a:ext uri="{FF2B5EF4-FFF2-40B4-BE49-F238E27FC236}">
                <a16:creationId xmlns:a16="http://schemas.microsoft.com/office/drawing/2014/main" id="{A85572B5-8BB7-46F8-8497-1C245B3111C1}"/>
              </a:ext>
            </a:extLst>
          </p:cNvPr>
          <p:cNvSpPr>
            <a:spLocks xmlns:a="http://schemas.openxmlformats.org/drawingml/2006/main" noGrp="1"/>
          </p:cNvSpPr>
          <p:nvPr/>
        </p:nvSpPr>
        <p:spPr>
          <a:xfrm xmlns:a="http://schemas.openxmlformats.org/drawingml/2006/main">
            <a:off x="590550" y="28527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5182EC45-BB0F-47CA-9E18-EF538658C292}"/>
              </a:ext>
            </a:extLst>
          </p:cNvPr>
          <p:cNvSpPr>
            <a:spLocks xmlns:a="http://schemas.openxmlformats.org/drawingml/2006/main" noGrp="1"/>
          </p:cNvSpPr>
          <p:nvPr/>
        </p:nvSpPr>
        <p:spPr>
          <a:xfrm xmlns:a="http://schemas.openxmlformats.org/drawingml/2006/main">
            <a:off x="1381125" y="2852738"/>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string such as "unknown" cannot be converted to float.</a:t>
            </a:r>
          </a:p>
        </p:txBody>
      </p:sp>
      <p:sp>
        <p:nvSpPr>
          <p:cNvPr id="8" name="">
            <a:extLst xmlns:a="http://schemas.openxmlformats.org/drawingml/2006/main">
              <a:ext uri="{FF2B5EF4-FFF2-40B4-BE49-F238E27FC236}">
                <a16:creationId xmlns:a16="http://schemas.microsoft.com/office/drawing/2014/main" id="{C4B1D7FF-A9E6-4D8E-8036-D8BA8D297047}"/>
              </a:ext>
            </a:extLst>
          </p:cNvPr>
          <p:cNvSpPr>
            <a:spLocks xmlns:a="http://schemas.openxmlformats.org/drawingml/2006/main" noGrp="1"/>
          </p:cNvSpPr>
          <p:nvPr/>
        </p:nvSpPr>
        <p:spPr>
          <a:xfrm xmlns:a="http://schemas.openxmlformats.org/drawingml/2006/main">
            <a:off x="590550" y="392430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B47E6768-D83E-4B6F-8081-38B7884465EC}"/>
              </a:ext>
            </a:extLst>
          </p:cNvPr>
          <p:cNvSpPr>
            <a:spLocks xmlns:a="http://schemas.openxmlformats.org/drawingml/2006/main" noGrp="1"/>
          </p:cNvSpPr>
          <p:nvPr/>
        </p:nvSpPr>
        <p:spPr>
          <a:xfrm xmlns:a="http://schemas.openxmlformats.org/drawingml/2006/main">
            <a:off x="1381125" y="3924300"/>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Catch the expected conversion error, count and record it, then continue under a stated policy.</a:t>
            </a:r>
          </a:p>
        </p:txBody>
      </p:sp>
      <p:sp>
        <p:nvSpPr>
          <p:cNvPr id="10" name="">
            <a:extLst xmlns:a="http://schemas.openxmlformats.org/drawingml/2006/main">
              <a:ext uri="{FF2B5EF4-FFF2-40B4-BE49-F238E27FC236}">
                <a16:creationId xmlns:a16="http://schemas.microsoft.com/office/drawing/2014/main" id="{2681C95B-C2CD-4CC3-A6FB-10A134D91CA9}"/>
              </a:ext>
            </a:extLst>
          </p:cNvPr>
          <p:cNvSpPr>
            <a:spLocks xmlns:a="http://schemas.openxmlformats.org/drawingml/2006/main" noGrp="1"/>
          </p:cNvSpPr>
          <p:nvPr/>
        </p:nvSpPr>
        <p:spPr>
          <a:xfrm xmlns:a="http://schemas.openxmlformats.org/drawingml/2006/main">
            <a:off x="590550" y="49958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B85A8EE8-40C6-4AB8-8637-078B309E3B66}"/>
              </a:ext>
            </a:extLst>
          </p:cNvPr>
          <p:cNvSpPr>
            <a:spLocks xmlns:a="http://schemas.openxmlformats.org/drawingml/2006/main" noGrp="1"/>
          </p:cNvSpPr>
          <p:nvPr/>
        </p:nvSpPr>
        <p:spPr>
          <a:xfrm xmlns:a="http://schemas.openxmlformats.org/drawingml/2006/main">
            <a:off x="1381125" y="4995863"/>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Inspect whether skipped rows share a source before reporting a mean.</a:t>
            </a:r>
          </a:p>
        </p:txBody>
      </p:sp>
      <p:sp>
        <p:nvSpPr>
          <p:cNvPr id="12" name="">
            <a:extLst xmlns:a="http://schemas.openxmlformats.org/drawingml/2006/main">
              <a:ext uri="{FF2B5EF4-FFF2-40B4-BE49-F238E27FC236}">
                <a16:creationId xmlns:a16="http://schemas.microsoft.com/office/drawing/2014/main" id="{EC3A60E6-ADFB-486D-9F01-B48E36C192A9}"/>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4   48</a:t>
            </a:r>
          </a:p>
        </p:txBody>
      </p:sp>
    </p:spTree>
    <p:extLst>
      <p:ext uri="{BB962C8B-B14F-4D97-AF65-F5344CB8AC3E}">
        <p14:creationId xmlns:p14="http://schemas.microsoft.com/office/powerpoint/2010/main" val="784901216"/>
      </p:ext>
    </p:extLst>
  </p:cSld>
</p:sld>
</file>

<file path=ppt/slides/slide4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99163BE1-779F-4DEB-9011-DB018D1F9C69}"/>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E9979AC9-ACDE-4152-A2A4-369C73317F2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D35705D1-B0DE-4F9A-877B-5CF441E5DB2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Counting every record honestly continued</a:t>
            </a:r>
          </a:p>
        </p:txBody>
      </p:sp>
      <p:sp>
        <p:nvSpPr>
          <p:cNvPr id="4" name="">
            <a:extLst xmlns:a="http://schemas.openxmlformats.org/drawingml/2006/main">
              <a:ext uri="{FF2B5EF4-FFF2-40B4-BE49-F238E27FC236}">
                <a16:creationId xmlns:a16="http://schemas.microsoft.com/office/drawing/2014/main" id="{75F3F047-55C4-40CD-8E7F-C4CADF92A382}"/>
              </a:ext>
            </a:extLst>
          </p:cNvPr>
          <p:cNvSpPr>
            <a:spLocks xmlns:a="http://schemas.openxmlformats.org/drawingml/2006/main" noGrp="1"/>
          </p:cNvSpPr>
          <p:nvPr/>
        </p:nvSpPr>
        <p:spPr>
          <a:xfrm xmlns:a="http://schemas.openxmlformats.org/drawingml/2006/main">
            <a:off x="590550" y="1752600"/>
            <a:ext cx="11010900"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E5C8BF7E-B1C4-4EFA-8D1E-12DE4919CF83}"/>
              </a:ext>
            </a:extLst>
          </p:cNvPr>
          <p:cNvSpPr>
            <a:spLocks xmlns:a="http://schemas.openxmlformats.org/drawingml/2006/main" noGrp="1"/>
          </p:cNvSpPr>
          <p:nvPr/>
        </p:nvSpPr>
        <p:spPr>
          <a:xfrm xmlns:a="http://schemas.openxmlformats.org/drawingml/2006/main">
            <a:off x="914400" y="2228850"/>
            <a:ext cx="10334625" cy="3095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00" b="1">
                <a:solidFill>
                  <a:srgbClr val="1C3144"/>
                </a:solidFill>
                <a:latin typeface="Calibri"/>
                <a:ea typeface="Calibri"/>
                <a:cs typeface="Calibri"/>
              </a:defRPr>
            </a:pPr>
            <a:r>
              <a:rPr sz="3000" b="1">
                <a:solidFill>
                  <a:srgbClr val="1C3144"/>
                </a:solidFill>
                <a:latin typeface="Calibri"/>
                <a:ea typeface="Calibri"/>
                <a:cs typeface="Calibri"/>
              </a:rPr>
              <a:t>A sample summary describes observed records, not every possible operating condition.</a:t>
            </a:r>
          </a:p>
        </p:txBody>
      </p:sp>
      <p:sp>
        <p:nvSpPr>
          <p:cNvPr id="6" name="">
            <a:extLst xmlns:a="http://schemas.openxmlformats.org/drawingml/2006/main">
              <a:ext uri="{FF2B5EF4-FFF2-40B4-BE49-F238E27FC236}">
                <a16:creationId xmlns:a16="http://schemas.microsoft.com/office/drawing/2014/main" id="{543FECC2-8D2E-4D20-AE19-7BEF05E2B93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4   49</a:t>
            </a:r>
          </a:p>
        </p:txBody>
      </p:sp>
    </p:spTree>
    <p:extLst>
      <p:ext uri="{BB962C8B-B14F-4D97-AF65-F5344CB8AC3E}">
        <p14:creationId xmlns:p14="http://schemas.microsoft.com/office/powerpoint/2010/main" val="1119777623"/>
      </p:ext>
    </p:extLst>
  </p:cSld>
</p:sld>
</file>

<file path=ppt/slides/slide5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EB26F8C5-6445-48FD-ACA4-D16BCF102BC6}"/>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8712092D-6D3F-4EF6-BA05-B8652CE1189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664D8F8B-386E-4B75-8664-7ACD93DA051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Your issued assignment</a:t>
            </a:r>
          </a:p>
        </p:txBody>
      </p:sp>
      <p:sp>
        <p:nvSpPr>
          <p:cNvPr id="4" name="">
            <a:extLst xmlns:a="http://schemas.openxmlformats.org/drawingml/2006/main">
              <a:ext uri="{FF2B5EF4-FFF2-40B4-BE49-F238E27FC236}">
                <a16:creationId xmlns:a16="http://schemas.microsoft.com/office/drawing/2014/main" id="{E5B402BC-5518-4548-8121-12722B9D8639}"/>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B529B6A4-E0CD-49A3-9991-BE6547192A25}"/>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Open W04_student.ipynb.</a:t>
            </a:r>
          </a:p>
        </p:txBody>
      </p:sp>
      <p:sp>
        <p:nvSpPr>
          <p:cNvPr id="6" name="">
            <a:extLst xmlns:a="http://schemas.openxmlformats.org/drawingml/2006/main">
              <a:ext uri="{FF2B5EF4-FFF2-40B4-BE49-F238E27FC236}">
                <a16:creationId xmlns:a16="http://schemas.microsoft.com/office/drawing/2014/main" id="{4E7313E3-9715-4C5F-8270-8ABB7D3E9E7D}"/>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7B7C8F40-225E-4480-AF7A-3D5DA66A3706}"/>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Read every task and its input units before coding.</a:t>
            </a:r>
          </a:p>
        </p:txBody>
      </p:sp>
      <p:sp>
        <p:nvSpPr>
          <p:cNvPr id="8" name="">
            <a:extLst xmlns:a="http://schemas.openxmlformats.org/drawingml/2006/main">
              <a:ext uri="{FF2B5EF4-FFF2-40B4-BE49-F238E27FC236}">
                <a16:creationId xmlns:a16="http://schemas.microsoft.com/office/drawing/2014/main" id="{9D6A95E8-2901-4B1E-9791-4C5FF4CA7941}"/>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4D30B84A-55D7-4C0B-A4D9-37D175FF536B}"/>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Keep the required function names and returned outputs.</a:t>
            </a:r>
          </a:p>
        </p:txBody>
      </p:sp>
      <p:sp>
        <p:nvSpPr>
          <p:cNvPr id="10" name="">
            <a:extLst xmlns:a="http://schemas.openxmlformats.org/drawingml/2006/main">
              <a:ext uri="{FF2B5EF4-FFF2-40B4-BE49-F238E27FC236}">
                <a16:creationId xmlns:a16="http://schemas.microsoft.com/office/drawing/2014/main" id="{0E391F25-97B8-4038-983A-F0EABB5DF978}"/>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0583B58A-A8F0-45BA-8C8D-D375C51B69A7}"/>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Run the supplied visible checks, then restart and run all.</a:t>
            </a:r>
          </a:p>
        </p:txBody>
      </p:sp>
      <p:sp>
        <p:nvSpPr>
          <p:cNvPr id="12" name="">
            <a:extLst xmlns:a="http://schemas.openxmlformats.org/drawingml/2006/main">
              <a:ext uri="{FF2B5EF4-FFF2-40B4-BE49-F238E27FC236}">
                <a16:creationId xmlns:a16="http://schemas.microsoft.com/office/drawing/2014/main" id="{54033CE9-3258-4FC8-8533-B3815700B03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4   50</a:t>
            </a:r>
          </a:p>
        </p:txBody>
      </p:sp>
    </p:spTree>
    <p:extLst>
      <p:ext uri="{BB962C8B-B14F-4D97-AF65-F5344CB8AC3E}">
        <p14:creationId xmlns:p14="http://schemas.microsoft.com/office/powerpoint/2010/main" val="474755296"/>
      </p:ext>
    </p:extLst>
  </p:cSld>
</p:sld>
</file>

<file path=ppt/slides/slide5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1F3DB808-7584-4462-8591-2BD848A0757B}"/>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20B8AA82-80C6-4B2D-960F-300BCC747CD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3E09024D-0F6E-4166-AE13-71E8635E0934}"/>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valid_count (5 marks)</a:t>
            </a:r>
          </a:p>
        </p:txBody>
      </p:sp>
      <p:sp>
        <p:nvSpPr>
          <p:cNvPr id="4" name="">
            <a:extLst xmlns:a="http://schemas.openxmlformats.org/drawingml/2006/main">
              <a:ext uri="{FF2B5EF4-FFF2-40B4-BE49-F238E27FC236}">
                <a16:creationId xmlns:a16="http://schemas.microsoft.com/office/drawing/2014/main" id="{12316006-8904-48DE-AE1F-4037238AE827}"/>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91E12D98-DE0F-4A82-B4D5-521A2D555155}"/>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CF0A923C-A5E4-44D8-8EBA-564184C10F5C}"/>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Store an integer count of rows whose rate_of_penetration field is nonblank.</a:t>
            </a:r>
          </a:p>
        </p:txBody>
      </p:sp>
      <p:sp>
        <p:nvSpPr>
          <p:cNvPr id="7" name="">
            <a:extLst xmlns:a="http://schemas.openxmlformats.org/drawingml/2006/main">
              <a:ext uri="{FF2B5EF4-FFF2-40B4-BE49-F238E27FC236}">
                <a16:creationId xmlns:a16="http://schemas.microsoft.com/office/drawing/2014/main" id="{9032F95F-D2A4-4467-9B3B-FBD5747F4428}"/>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Skip blank readings before numeric conversion.</a:t>
            </a:r>
          </a:p>
        </p:txBody>
      </p:sp>
      <p:sp>
        <p:nvSpPr>
          <p:cNvPr id="8" name="">
            <a:extLst xmlns:a="http://schemas.openxmlformats.org/drawingml/2006/main">
              <a:ext uri="{FF2B5EF4-FFF2-40B4-BE49-F238E27FC236}">
                <a16:creationId xmlns:a16="http://schemas.microsoft.com/office/drawing/2014/main" id="{F611514D-0597-4387-9722-CA17C5CD8DA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4   51</a:t>
            </a:r>
          </a:p>
        </p:txBody>
      </p:sp>
    </p:spTree>
    <p:extLst>
      <p:ext uri="{BB962C8B-B14F-4D97-AF65-F5344CB8AC3E}">
        <p14:creationId xmlns:p14="http://schemas.microsoft.com/office/powerpoint/2010/main" val="1762655087"/>
      </p:ext>
    </p:extLst>
  </p:cSld>
</p:sld>
</file>

<file path=ppt/slides/slide5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BFBB31F3-286F-440B-9EEB-0E208264F564}"/>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77ED8A7F-E94A-4B49-AF74-03752903B49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B12D118B-F2C3-45C5-9EEF-935554824A8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mean_reading (5 marks)</a:t>
            </a:r>
          </a:p>
        </p:txBody>
      </p:sp>
      <p:sp>
        <p:nvSpPr>
          <p:cNvPr id="4" name="">
            <a:extLst xmlns:a="http://schemas.openxmlformats.org/drawingml/2006/main">
              <a:ext uri="{FF2B5EF4-FFF2-40B4-BE49-F238E27FC236}">
                <a16:creationId xmlns:a16="http://schemas.microsoft.com/office/drawing/2014/main" id="{96DAD6FF-5649-4076-93D3-970936FFBA1B}"/>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6FD23330-2223-4294-AB93-FB8CFFD3065A}"/>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Store the arithmetic mean of the nonblank rate_of_penetration values as a number.</a:t>
            </a:r>
          </a:p>
        </p:txBody>
      </p:sp>
      <p:sp>
        <p:nvSpPr>
          <p:cNvPr id="6" name="">
            <a:extLst xmlns:a="http://schemas.openxmlformats.org/drawingml/2006/main">
              <a:ext uri="{FF2B5EF4-FFF2-40B4-BE49-F238E27FC236}">
                <a16:creationId xmlns:a16="http://schemas.microsoft.com/office/drawing/2014/main" id="{CBAA3749-26EC-4CAE-B99E-1CDBCB3D1AEB}"/>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E221F135-8C17-45E5-A783-066210A1B01C}"/>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Add the valid readings and divide by their count.</a:t>
            </a:r>
          </a:p>
        </p:txBody>
      </p:sp>
      <p:sp>
        <p:nvSpPr>
          <p:cNvPr id="8" name="">
            <a:extLst xmlns:a="http://schemas.openxmlformats.org/drawingml/2006/main">
              <a:ext uri="{FF2B5EF4-FFF2-40B4-BE49-F238E27FC236}">
                <a16:creationId xmlns:a16="http://schemas.microsoft.com/office/drawing/2014/main" id="{5079534A-561D-43C0-8210-C8A0781FED08}"/>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461FB410-ABB0-40FE-8D2F-132336B77711}"/>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Keep full precision.</a:t>
            </a:r>
          </a:p>
        </p:txBody>
      </p:sp>
      <p:sp>
        <p:nvSpPr>
          <p:cNvPr id="10" name="">
            <a:extLst xmlns:a="http://schemas.openxmlformats.org/drawingml/2006/main">
              <a:ext uri="{FF2B5EF4-FFF2-40B4-BE49-F238E27FC236}">
                <a16:creationId xmlns:a16="http://schemas.microsoft.com/office/drawing/2014/main" id="{6259BF54-A5E3-4540-82FC-14BEE3E51C1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4   52</a:t>
            </a:r>
          </a:p>
        </p:txBody>
      </p:sp>
    </p:spTree>
    <p:extLst>
      <p:ext uri="{BB962C8B-B14F-4D97-AF65-F5344CB8AC3E}">
        <p14:creationId xmlns:p14="http://schemas.microsoft.com/office/powerpoint/2010/main" val="1922106638"/>
      </p:ext>
    </p:extLst>
  </p:cSld>
</p:sld>
</file>

<file path=ppt/slides/slide5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A4BC2462-034C-4831-8F0E-B89ACDD1C374}"/>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D4DEFC1C-5F24-4AB3-A534-0D0944C06C7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F01B61E5-F762-4280-9EC1-FE4EB373B5F5}"/>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above_limit (5 marks)</a:t>
            </a:r>
          </a:p>
        </p:txBody>
      </p:sp>
      <p:sp>
        <p:nvSpPr>
          <p:cNvPr id="4" name="">
            <a:extLst xmlns:a="http://schemas.openxmlformats.org/drawingml/2006/main">
              <a:ext uri="{FF2B5EF4-FFF2-40B4-BE49-F238E27FC236}">
                <a16:creationId xmlns:a16="http://schemas.microsoft.com/office/drawing/2014/main" id="{2B1ABFCB-CDF6-472D-A549-193F2A93C2E5}"/>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56EA49E1-13D8-422B-8B66-4E003A5FB775}"/>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D9A8F1F0-7587-43B7-AB4B-A8586BB495CE}"/>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Store an integer count of valid rate_of_penetration readings strictly greater than 8.0.</a:t>
            </a:r>
          </a:p>
        </p:txBody>
      </p:sp>
      <p:sp>
        <p:nvSpPr>
          <p:cNvPr id="7" name="">
            <a:extLst xmlns:a="http://schemas.openxmlformats.org/drawingml/2006/main">
              <a:ext uri="{FF2B5EF4-FFF2-40B4-BE49-F238E27FC236}">
                <a16:creationId xmlns:a16="http://schemas.microsoft.com/office/drawing/2014/main" id="{28C6C890-32DE-43B0-B889-521D4C715470}"/>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A reading equal to the threshold is not counted.</a:t>
            </a:r>
          </a:p>
        </p:txBody>
      </p:sp>
      <p:sp>
        <p:nvSpPr>
          <p:cNvPr id="8" name="">
            <a:extLst xmlns:a="http://schemas.openxmlformats.org/drawingml/2006/main">
              <a:ext uri="{FF2B5EF4-FFF2-40B4-BE49-F238E27FC236}">
                <a16:creationId xmlns:a16="http://schemas.microsoft.com/office/drawing/2014/main" id="{984053E7-9D3B-42C0-AB1E-CB0CA24849F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4   53</a:t>
            </a:r>
          </a:p>
        </p:txBody>
      </p:sp>
    </p:spTree>
    <p:extLst>
      <p:ext uri="{BB962C8B-B14F-4D97-AF65-F5344CB8AC3E}">
        <p14:creationId xmlns:p14="http://schemas.microsoft.com/office/powerpoint/2010/main" val="738196576"/>
      </p:ext>
    </p:extLst>
  </p:cSld>
</p:sld>
</file>

<file path=ppt/slides/slide5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79054161-EBD2-432C-BD96-A70AA1B78AD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71E958CC-0239-4044-A194-1552B2D81E9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C2E02B2F-7143-4E3D-BF2F-C64CE68954F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group_means (5 marks)</a:t>
            </a:r>
          </a:p>
        </p:txBody>
      </p:sp>
      <p:sp>
        <p:nvSpPr>
          <p:cNvPr id="4" name="">
            <a:extLst xmlns:a="http://schemas.openxmlformats.org/drawingml/2006/main">
              <a:ext uri="{FF2B5EF4-FFF2-40B4-BE49-F238E27FC236}">
                <a16:creationId xmlns:a16="http://schemas.microsoft.com/office/drawing/2014/main" id="{D101375B-481F-47DD-A6FA-D17DCFBA8FE1}"/>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D8F69018-5D01-4CF3-9C59-0871A1A07A9A}"/>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Store a dictionary whose keys are the bit_type labels and whose values are the mean valid rate_of_penetration readings within each group.</a:t>
            </a:r>
          </a:p>
        </p:txBody>
      </p:sp>
      <p:sp>
        <p:nvSpPr>
          <p:cNvPr id="6" name="">
            <a:extLst xmlns:a="http://schemas.openxmlformats.org/drawingml/2006/main">
              <a:ext uri="{FF2B5EF4-FFF2-40B4-BE49-F238E27FC236}">
                <a16:creationId xmlns:a16="http://schemas.microsoft.com/office/drawing/2014/main" id="{49ACB79F-A4EB-4E3E-A933-1FB802291E77}"/>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BA8F42DD-9C3F-4C44-9C4C-EBD7E9E450C4}"/>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Divide each group total by its own valid count.</a:t>
            </a:r>
          </a:p>
        </p:txBody>
      </p:sp>
      <p:sp>
        <p:nvSpPr>
          <p:cNvPr id="8" name="">
            <a:extLst xmlns:a="http://schemas.openxmlformats.org/drawingml/2006/main">
              <a:ext uri="{FF2B5EF4-FFF2-40B4-BE49-F238E27FC236}">
                <a16:creationId xmlns:a16="http://schemas.microsoft.com/office/drawing/2014/main" id="{AE309061-6D26-4635-BA90-6CA8E91B0D43}"/>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E4480BAB-EA49-4152-B0F1-11BF38BDD092}"/>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Keep full precision.</a:t>
            </a:r>
          </a:p>
        </p:txBody>
      </p:sp>
      <p:sp>
        <p:nvSpPr>
          <p:cNvPr id="10" name="">
            <a:extLst xmlns:a="http://schemas.openxmlformats.org/drawingml/2006/main">
              <a:ext uri="{FF2B5EF4-FFF2-40B4-BE49-F238E27FC236}">
                <a16:creationId xmlns:a16="http://schemas.microsoft.com/office/drawing/2014/main" id="{FDC2345E-E915-4E00-9B83-F49EDE952D3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4   54</a:t>
            </a:r>
          </a:p>
        </p:txBody>
      </p:sp>
    </p:spTree>
    <p:extLst>
      <p:ext uri="{BB962C8B-B14F-4D97-AF65-F5344CB8AC3E}">
        <p14:creationId xmlns:p14="http://schemas.microsoft.com/office/powerpoint/2010/main" val="1546585353"/>
      </p:ext>
    </p:extLst>
  </p:cSld>
</p:sld>
</file>

<file path=ppt/slides/slide5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8DCAA610-6F15-4C38-AF29-B1DAF0207154}"/>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71562889-2C3E-400D-B82F-6EDAF980A0A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2C8A5DD4-2F95-430C-9E19-D50857153C3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Week 4 rules</a:t>
            </a:r>
          </a:p>
        </p:txBody>
      </p:sp>
      <p:sp>
        <p:nvSpPr>
          <p:cNvPr id="4" name="">
            <a:extLst xmlns:a="http://schemas.openxmlformats.org/drawingml/2006/main">
              <a:ext uri="{FF2B5EF4-FFF2-40B4-BE49-F238E27FC236}">
                <a16:creationId xmlns:a16="http://schemas.microsoft.com/office/drawing/2014/main" id="{0416245A-5902-4236-BFF7-A718671351D5}"/>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6EF8CBDD-E6A8-49FB-A163-518E61C0BA62}"/>
              </a:ext>
            </a:extLst>
          </p:cNvPr>
          <p:cNvSpPr>
            <a:spLocks xmlns:a="http://schemas.openxmlformats.org/drawingml/2006/main" noGrp="1"/>
          </p:cNvSpPr>
          <p:nvPr/>
        </p:nvSpPr>
        <p:spPr>
          <a:xfrm xmlns:a="http://schemas.openxmlformats.org/drawingml/2006/main">
            <a:off x="1381125" y="1781175"/>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Fictional teaching data.</a:t>
            </a:r>
          </a:p>
        </p:txBody>
      </p:sp>
      <p:sp>
        <p:nvSpPr>
          <p:cNvPr id="6" name="">
            <a:extLst xmlns:a="http://schemas.openxmlformats.org/drawingml/2006/main">
              <a:ext uri="{FF2B5EF4-FFF2-40B4-BE49-F238E27FC236}">
                <a16:creationId xmlns:a16="http://schemas.microsoft.com/office/drawing/2014/main" id="{01664D7C-BB93-4EDA-86AC-4366A3BB6AC4}"/>
              </a:ext>
            </a:extLst>
          </p:cNvPr>
          <p:cNvSpPr>
            <a:spLocks xmlns:a="http://schemas.openxmlformats.org/drawingml/2006/main" noGrp="1"/>
          </p:cNvSpPr>
          <p:nvPr/>
        </p:nvSpPr>
        <p:spPr>
          <a:xfrm xmlns:a="http://schemas.openxmlformats.org/drawingml/2006/main">
            <a:off x="590550" y="28527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A982C0EF-E8FB-4AA9-BF02-631697FB0F6F}"/>
              </a:ext>
            </a:extLst>
          </p:cNvPr>
          <p:cNvSpPr>
            <a:spLocks xmlns:a="http://schemas.openxmlformats.org/drawingml/2006/main" noGrp="1"/>
          </p:cNvSpPr>
          <p:nvPr/>
        </p:nvSpPr>
        <p:spPr>
          <a:xfrm xmlns:a="http://schemas.openxmlformats.org/drawingml/2006/main">
            <a:off x="1381125" y="2852738"/>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300 records.</a:t>
            </a:r>
          </a:p>
        </p:txBody>
      </p:sp>
      <p:sp>
        <p:nvSpPr>
          <p:cNvPr id="8" name="">
            <a:extLst xmlns:a="http://schemas.openxmlformats.org/drawingml/2006/main">
              <a:ext uri="{FF2B5EF4-FFF2-40B4-BE49-F238E27FC236}">
                <a16:creationId xmlns:a16="http://schemas.microsoft.com/office/drawing/2014/main" id="{3D397A63-525F-4871-814A-F557249C2A5A}"/>
              </a:ext>
            </a:extLst>
          </p:cNvPr>
          <p:cNvSpPr>
            <a:spLocks xmlns:a="http://schemas.openxmlformats.org/drawingml/2006/main" noGrp="1"/>
          </p:cNvSpPr>
          <p:nvPr/>
        </p:nvSpPr>
        <p:spPr>
          <a:xfrm xmlns:a="http://schemas.openxmlformats.org/drawingml/2006/main">
            <a:off x="590550" y="392430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DCF2F19F-E54F-4BDA-A4CA-EBB4A55064CC}"/>
              </a:ext>
            </a:extLst>
          </p:cNvPr>
          <p:cNvSpPr>
            <a:spLocks xmlns:a="http://schemas.openxmlformats.org/drawingml/2006/main" noGrp="1"/>
          </p:cNvSpPr>
          <p:nvPr/>
        </p:nvSpPr>
        <p:spPr>
          <a:xfrm xmlns:a="http://schemas.openxmlformats.org/drawingml/2006/main">
            <a:off x="1381125" y="3924300"/>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Three blank rate_of_penetration values must be skipped in numerical summaries.</a:t>
            </a:r>
          </a:p>
        </p:txBody>
      </p:sp>
      <p:sp>
        <p:nvSpPr>
          <p:cNvPr id="10" name="">
            <a:extLst xmlns:a="http://schemas.openxmlformats.org/drawingml/2006/main">
              <a:ext uri="{FF2B5EF4-FFF2-40B4-BE49-F238E27FC236}">
                <a16:creationId xmlns:a16="http://schemas.microsoft.com/office/drawing/2014/main" id="{B8A7ECF9-353B-4EB1-B689-A105330DAEE6}"/>
              </a:ext>
            </a:extLst>
          </p:cNvPr>
          <p:cNvSpPr>
            <a:spLocks xmlns:a="http://schemas.openxmlformats.org/drawingml/2006/main" noGrp="1"/>
          </p:cNvSpPr>
          <p:nvPr/>
        </p:nvSpPr>
        <p:spPr>
          <a:xfrm xmlns:a="http://schemas.openxmlformats.org/drawingml/2006/main">
            <a:off x="590550" y="49958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598F5730-FD52-4D9C-8637-A02AEEAF1B54}"/>
              </a:ext>
            </a:extLst>
          </p:cNvPr>
          <p:cNvSpPr>
            <a:spLocks xmlns:a="http://schemas.openxmlformats.org/drawingml/2006/main" noGrp="1"/>
          </p:cNvSpPr>
          <p:nvPr/>
        </p:nvSpPr>
        <p:spPr>
          <a:xfrm xmlns:a="http://schemas.openxmlformats.org/drawingml/2006/main">
            <a:off x="1381125" y="4995863"/>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Threshold 8.0 is a teaching assumption.</a:t>
            </a:r>
          </a:p>
        </p:txBody>
      </p:sp>
      <p:sp>
        <p:nvSpPr>
          <p:cNvPr id="12" name="">
            <a:extLst xmlns:a="http://schemas.openxmlformats.org/drawingml/2006/main">
              <a:ext uri="{FF2B5EF4-FFF2-40B4-BE49-F238E27FC236}">
                <a16:creationId xmlns:a16="http://schemas.microsoft.com/office/drawing/2014/main" id="{6F4D19D2-5150-4DE5-9D78-DB2313D6690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4   55</a:t>
            </a:r>
          </a:p>
        </p:txBody>
      </p:sp>
    </p:spTree>
    <p:extLst>
      <p:ext uri="{BB962C8B-B14F-4D97-AF65-F5344CB8AC3E}">
        <p14:creationId xmlns:p14="http://schemas.microsoft.com/office/powerpoint/2010/main" val="1293146228"/>
      </p:ext>
    </p:extLst>
  </p:cSld>
</p:sld>
</file>

<file path=ppt/slides/slide5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25216571-25F9-4125-A062-FDA90CE0A369}"/>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8E072966-141C-4F6C-ADF4-5F9C70ACE127}"/>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7241D13D-FC72-41EA-8B51-0389085BEAF4}"/>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Week 4 rules continued</a:t>
            </a:r>
          </a:p>
        </p:txBody>
      </p:sp>
      <p:sp>
        <p:nvSpPr>
          <p:cNvPr id="4" name="">
            <a:extLst xmlns:a="http://schemas.openxmlformats.org/drawingml/2006/main">
              <a:ext uri="{FF2B5EF4-FFF2-40B4-BE49-F238E27FC236}">
                <a16:creationId xmlns:a16="http://schemas.microsoft.com/office/drawing/2014/main" id="{B90D1B58-572C-46B3-9DAF-DF26111974C8}"/>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7B56D7E5-033A-45EB-8D3B-35E58F278B80}"/>
              </a:ext>
            </a:extLst>
          </p:cNvPr>
          <p:cNvSpPr>
            <a:spLocks xmlns:a="http://schemas.openxmlformats.org/drawingml/2006/main" noGrp="1"/>
          </p:cNvSpPr>
          <p:nvPr/>
        </p:nvSpPr>
        <p:spPr>
          <a:xfrm xmlns:a="http://schemas.openxmlformats.org/drawingml/2006/main">
            <a:off x="1381125" y="1781175"/>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Compute valid_count, mean_reading, above_limit (strictly greater than 8.0) and group_means keyed by bit_type.</a:t>
            </a:r>
          </a:p>
        </p:txBody>
      </p:sp>
      <p:sp>
        <p:nvSpPr>
          <p:cNvPr id="6" name="">
            <a:extLst xmlns:a="http://schemas.openxmlformats.org/drawingml/2006/main">
              <a:ext uri="{FF2B5EF4-FFF2-40B4-BE49-F238E27FC236}">
                <a16:creationId xmlns:a16="http://schemas.microsoft.com/office/drawing/2014/main" id="{0356EB42-CB4C-4A6F-8716-E91A353627EA}"/>
              </a:ext>
            </a:extLst>
          </p:cNvPr>
          <p:cNvSpPr>
            <a:spLocks xmlns:a="http://schemas.openxmlformats.org/drawingml/2006/main" noGrp="1"/>
          </p:cNvSpPr>
          <p:nvPr/>
        </p:nvSpPr>
        <p:spPr>
          <a:xfrm xmlns:a="http://schemas.openxmlformats.org/drawingml/2006/main">
            <a:off x="590550" y="28527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38ED2946-2198-497E-962C-748C87F469CF}"/>
              </a:ext>
            </a:extLst>
          </p:cNvPr>
          <p:cNvSpPr>
            <a:spLocks xmlns:a="http://schemas.openxmlformats.org/drawingml/2006/main" noGrp="1"/>
          </p:cNvSpPr>
          <p:nvPr/>
        </p:nvSpPr>
        <p:spPr>
          <a:xfrm xmlns:a="http://schemas.openxmlformats.org/drawingml/2006/main">
            <a:off x="1381125" y="2852738"/>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standard-library csv and collections.</a:t>
            </a:r>
          </a:p>
        </p:txBody>
      </p:sp>
      <p:sp>
        <p:nvSpPr>
          <p:cNvPr id="8" name="">
            <a:extLst xmlns:a="http://schemas.openxmlformats.org/drawingml/2006/main">
              <a:ext uri="{FF2B5EF4-FFF2-40B4-BE49-F238E27FC236}">
                <a16:creationId xmlns:a16="http://schemas.microsoft.com/office/drawing/2014/main" id="{C5043693-C530-4EDE-9CB1-FCB4BF4FE1C7}"/>
              </a:ext>
            </a:extLst>
          </p:cNvPr>
          <p:cNvSpPr>
            <a:spLocks xmlns:a="http://schemas.openxmlformats.org/drawingml/2006/main" noGrp="1"/>
          </p:cNvSpPr>
          <p:nvPr/>
        </p:nvSpPr>
        <p:spPr>
          <a:xfrm xmlns:a="http://schemas.openxmlformats.org/drawingml/2006/main">
            <a:off x="590550" y="392430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2A557511-8AEE-424F-AF95-152FC43DAD0B}"/>
              </a:ext>
            </a:extLst>
          </p:cNvPr>
          <p:cNvSpPr>
            <a:spLocks xmlns:a="http://schemas.openxmlformats.org/drawingml/2006/main" noGrp="1"/>
          </p:cNvSpPr>
          <p:nvPr/>
        </p:nvSpPr>
        <p:spPr>
          <a:xfrm xmlns:a="http://schemas.openxmlformats.org/drawingml/2006/main">
            <a:off x="1381125" y="3924300"/>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Save a copy using your Student Registration Number with / replaced by _, followed by _W04.ipynb.</a:t>
            </a:r>
          </a:p>
        </p:txBody>
      </p:sp>
      <p:sp>
        <p:nvSpPr>
          <p:cNvPr id="10" name="">
            <a:extLst xmlns:a="http://schemas.openxmlformats.org/drawingml/2006/main">
              <a:ext uri="{FF2B5EF4-FFF2-40B4-BE49-F238E27FC236}">
                <a16:creationId xmlns:a16="http://schemas.microsoft.com/office/drawing/2014/main" id="{886519C9-B60B-4888-81F3-36454F5EB157}"/>
              </a:ext>
            </a:extLst>
          </p:cNvPr>
          <p:cNvSpPr>
            <a:spLocks xmlns:a="http://schemas.openxmlformats.org/drawingml/2006/main" noGrp="1"/>
          </p:cNvSpPr>
          <p:nvPr/>
        </p:nvSpPr>
        <p:spPr>
          <a:xfrm xmlns:a="http://schemas.openxmlformats.org/drawingml/2006/main">
            <a:off x="590550" y="49958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557D7663-F15D-4943-BD00-6B66C6F162DC}"/>
              </a:ext>
            </a:extLst>
          </p:cNvPr>
          <p:cNvSpPr>
            <a:spLocks xmlns:a="http://schemas.openxmlformats.org/drawingml/2006/main" noGrp="1"/>
          </p:cNvSpPr>
          <p:nvPr/>
        </p:nvSpPr>
        <p:spPr>
          <a:xfrm xmlns:a="http://schemas.openxmlformats.org/drawingml/2006/main">
            <a:off x="1381125" y="4995863"/>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STUDENT_ID in the starter code means Student Registration Number.</a:t>
            </a:r>
          </a:p>
        </p:txBody>
      </p:sp>
      <p:sp>
        <p:nvSpPr>
          <p:cNvPr id="12" name="">
            <a:extLst xmlns:a="http://schemas.openxmlformats.org/drawingml/2006/main">
              <a:ext uri="{FF2B5EF4-FFF2-40B4-BE49-F238E27FC236}">
                <a16:creationId xmlns:a16="http://schemas.microsoft.com/office/drawing/2014/main" id="{C03D3BD7-54FA-4F79-A002-64237B3AFC1D}"/>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4   56</a:t>
            </a:r>
          </a:p>
        </p:txBody>
      </p:sp>
    </p:spTree>
    <p:extLst>
      <p:ext uri="{BB962C8B-B14F-4D97-AF65-F5344CB8AC3E}">
        <p14:creationId xmlns:p14="http://schemas.microsoft.com/office/powerpoint/2010/main" val="913061966"/>
      </p:ext>
    </p:extLst>
  </p:cSld>
</p:sld>
</file>

<file path=ppt/slides/slide5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185A82F5-2A4A-4789-BCD3-EE4B5C1DA4C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31A5956A-7F09-485A-A3C2-B46199D84DE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9D5AE81D-247B-41BF-BC77-2A6F87C5542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Week 4 rules continued</a:t>
            </a:r>
          </a:p>
        </p:txBody>
      </p:sp>
      <p:sp>
        <p:nvSpPr>
          <p:cNvPr id="4" name="">
            <a:extLst xmlns:a="http://schemas.openxmlformats.org/drawingml/2006/main">
              <a:ext uri="{FF2B5EF4-FFF2-40B4-BE49-F238E27FC236}">
                <a16:creationId xmlns:a16="http://schemas.microsoft.com/office/drawing/2014/main" id="{4DD12EB4-DD2F-48EE-8141-2313C73D158F}"/>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50578514-0CFE-45EB-B586-E365B5130E56}"/>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00A2E80B-328F-44A8-9B0D-18D039330E7F}"/>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Four checks carry five marks each.</a:t>
            </a:r>
          </a:p>
        </p:txBody>
      </p:sp>
      <p:sp>
        <p:nvSpPr>
          <p:cNvPr id="7" name="">
            <a:extLst xmlns:a="http://schemas.openxmlformats.org/drawingml/2006/main">
              <a:ext uri="{FF2B5EF4-FFF2-40B4-BE49-F238E27FC236}">
                <a16:creationId xmlns:a16="http://schemas.microsoft.com/office/drawing/2014/main" id="{6E5A7057-A177-4AE2-AA14-5BC2D5EBA6BF}"/>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Explain the interesting pattern separately as formative practice.</a:t>
            </a:r>
          </a:p>
        </p:txBody>
      </p:sp>
      <p:sp>
        <p:nvSpPr>
          <p:cNvPr id="8" name="">
            <a:extLst xmlns:a="http://schemas.openxmlformats.org/drawingml/2006/main">
              <a:ext uri="{FF2B5EF4-FFF2-40B4-BE49-F238E27FC236}">
                <a16:creationId xmlns:a16="http://schemas.microsoft.com/office/drawing/2014/main" id="{5F9AF2C0-EE22-4097-A62D-1C6E0BD9CD4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4   57</a:t>
            </a:r>
          </a:p>
        </p:txBody>
      </p:sp>
    </p:spTree>
    <p:extLst>
      <p:ext uri="{BB962C8B-B14F-4D97-AF65-F5344CB8AC3E}">
        <p14:creationId xmlns:p14="http://schemas.microsoft.com/office/powerpoint/2010/main" val="1064038279"/>
      </p:ext>
    </p:extLst>
  </p:cSld>
</p:sld>
</file>

<file path=ppt/slides/slide5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DC2AF335-8BF2-4CDB-B59A-6CC7DCC4AD66}"/>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ADB9BBEF-1142-45CC-A4BB-761FF0479BC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ASSIGNMENT SUBMISSION</a:t>
            </a:r>
          </a:p>
        </p:txBody>
      </p:sp>
      <p:sp>
        <p:nvSpPr>
          <p:cNvPr id="3" name="">
            <a:extLst xmlns:a="http://schemas.openxmlformats.org/drawingml/2006/main">
              <a:ext uri="{FF2B5EF4-FFF2-40B4-BE49-F238E27FC236}">
                <a16:creationId xmlns:a16="http://schemas.microsoft.com/office/drawing/2014/main" id="{7BAC9146-F236-4102-9E9A-8B9A34AA5C3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Reading report submission</a:t>
            </a:r>
          </a:p>
        </p:txBody>
      </p:sp>
      <p:sp>
        <p:nvSpPr>
          <p:cNvPr id="4" name="">
            <a:extLst xmlns:a="http://schemas.openxmlformats.org/drawingml/2006/main">
              <a:ext uri="{FF2B5EF4-FFF2-40B4-BE49-F238E27FC236}">
                <a16:creationId xmlns:a16="http://schemas.microsoft.com/office/drawing/2014/main" id="{F963BE3F-0CA4-4D3C-B68C-155BE66BD34A}"/>
              </a:ext>
            </a:extLst>
          </p:cNvPr>
          <p:cNvSpPr>
            <a:spLocks xmlns:a="http://schemas.openxmlformats.org/drawingml/2006/main" noGrp="1"/>
          </p:cNvSpPr>
          <p:nvPr/>
        </p:nvSpPr>
        <p:spPr>
          <a:xfrm xmlns:a="http://schemas.openxmlformats.org/drawingml/2006/main">
            <a:off x="590550" y="17240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852209E7-042A-4815-940F-1B66D51905BF}"/>
              </a:ext>
            </a:extLst>
          </p:cNvPr>
          <p:cNvSpPr>
            <a:spLocks xmlns:a="http://schemas.openxmlformats.org/drawingml/2006/main" noGrp="1"/>
          </p:cNvSpPr>
          <p:nvPr/>
        </p:nvSpPr>
        <p:spPr>
          <a:xfrm xmlns:a="http://schemas.openxmlformats.org/drawingml/2006/main">
            <a:off x="1381125" y="1724025"/>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Opens: 02 Oct 2026, 08:00 Kampala</a:t>
            </a:r>
          </a:p>
        </p:txBody>
      </p:sp>
      <p:sp>
        <p:nvSpPr>
          <p:cNvPr id="6" name="">
            <a:extLst xmlns:a="http://schemas.openxmlformats.org/drawingml/2006/main">
              <a:ext uri="{FF2B5EF4-FFF2-40B4-BE49-F238E27FC236}">
                <a16:creationId xmlns:a16="http://schemas.microsoft.com/office/drawing/2014/main" id="{54661F61-4476-4BC1-939F-78986A7323D5}"/>
              </a:ext>
            </a:extLst>
          </p:cNvPr>
          <p:cNvSpPr>
            <a:spLocks xmlns:a="http://schemas.openxmlformats.org/drawingml/2006/main" noGrp="1"/>
          </p:cNvSpPr>
          <p:nvPr/>
        </p:nvSpPr>
        <p:spPr>
          <a:xfrm xmlns:a="http://schemas.openxmlformats.org/drawingml/2006/main">
            <a:off x="590550" y="2521744"/>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1E860B00-AD22-4DF4-BA42-BBFCB1B7A4B7}"/>
              </a:ext>
            </a:extLst>
          </p:cNvPr>
          <p:cNvSpPr>
            <a:spLocks xmlns:a="http://schemas.openxmlformats.org/drawingml/2006/main" noGrp="1"/>
          </p:cNvSpPr>
          <p:nvPr/>
        </p:nvSpPr>
        <p:spPr>
          <a:xfrm xmlns:a="http://schemas.openxmlformats.org/drawingml/2006/main">
            <a:off x="1381125" y="2521744"/>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Deadline: 09 Oct 2026, 08:00 Kampala</a:t>
            </a:r>
          </a:p>
        </p:txBody>
      </p:sp>
      <p:sp>
        <p:nvSpPr>
          <p:cNvPr id="8" name="">
            <a:extLst xmlns:a="http://schemas.openxmlformats.org/drawingml/2006/main">
              <a:ext uri="{FF2B5EF4-FFF2-40B4-BE49-F238E27FC236}">
                <a16:creationId xmlns:a16="http://schemas.microsoft.com/office/drawing/2014/main" id="{97A7FA1A-A269-45CE-A18A-209B04BC4797}"/>
              </a:ext>
            </a:extLst>
          </p:cNvPr>
          <p:cNvSpPr>
            <a:spLocks xmlns:a="http://schemas.openxmlformats.org/drawingml/2006/main" noGrp="1"/>
          </p:cNvSpPr>
          <p:nvPr/>
        </p:nvSpPr>
        <p:spPr>
          <a:xfrm xmlns:a="http://schemas.openxmlformats.org/drawingml/2006/main">
            <a:off x="590550" y="33194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4C9D23FE-75B4-4AAF-B965-0037C88F594D}"/>
              </a:ext>
            </a:extLst>
          </p:cNvPr>
          <p:cNvSpPr>
            <a:spLocks xmlns:a="http://schemas.openxmlformats.org/drawingml/2006/main" noGrp="1"/>
          </p:cNvSpPr>
          <p:nvPr/>
        </p:nvSpPr>
        <p:spPr>
          <a:xfrm xmlns:a="http://schemas.openxmlformats.org/drawingml/2006/main">
            <a:off x="1381125" y="3319463"/>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your full Student Registration Number in the form.</a:t>
            </a:r>
          </a:p>
        </p:txBody>
      </p:sp>
      <p:sp>
        <p:nvSpPr>
          <p:cNvPr id="10" name="">
            <a:extLst xmlns:a="http://schemas.openxmlformats.org/drawingml/2006/main">
              <a:ext uri="{FF2B5EF4-FFF2-40B4-BE49-F238E27FC236}">
                <a16:creationId xmlns:a16="http://schemas.microsoft.com/office/drawing/2014/main" id="{B3A31AD9-3E8A-4B37-8A15-004FA289D548}"/>
              </a:ext>
            </a:extLst>
          </p:cNvPr>
          <p:cNvSpPr>
            <a:spLocks xmlns:a="http://schemas.openxmlformats.org/drawingml/2006/main" noGrp="1"/>
          </p:cNvSpPr>
          <p:nvPr/>
        </p:nvSpPr>
        <p:spPr>
          <a:xfrm xmlns:a="http://schemas.openxmlformats.org/drawingml/2006/main">
            <a:off x="590550" y="4117181"/>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12C92664-3796-46A2-850B-406D16E759FF}"/>
              </a:ext>
            </a:extLst>
          </p:cNvPr>
          <p:cNvSpPr>
            <a:spLocks xmlns:a="http://schemas.openxmlformats.org/drawingml/2006/main" noGrp="1"/>
          </p:cNvSpPr>
          <p:nvPr/>
        </p:nvSpPr>
        <p:spPr>
          <a:xfrm xmlns:a="http://schemas.openxmlformats.org/drawingml/2006/main">
            <a:off x="1381125" y="4117181"/>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Keep the submitted files and confirmation.</a:t>
            </a:r>
          </a:p>
        </p:txBody>
      </p:sp>
      <p:sp>
        <p:nvSpPr>
          <p:cNvPr id="12" name="">
            <a:extLst xmlns:a="http://schemas.openxmlformats.org/drawingml/2006/main">
              <a:ext uri="{FF2B5EF4-FFF2-40B4-BE49-F238E27FC236}">
                <a16:creationId xmlns:a16="http://schemas.microsoft.com/office/drawing/2014/main" id="{EE73788C-5A08-4ABD-85DC-EEC808780100}"/>
              </a:ext>
            </a:extLst>
          </p:cNvPr>
          <p:cNvSpPr>
            <a:spLocks xmlns:a="http://schemas.openxmlformats.org/drawingml/2006/main" noGrp="1"/>
          </p:cNvSpPr>
          <p:nvPr/>
        </p:nvSpPr>
        <p:spPr>
          <a:xfrm xmlns:a="http://schemas.openxmlformats.org/drawingml/2006/main">
            <a:off x="590550" y="5143500"/>
            <a:ext cx="11010900" cy="6572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45A0E097-BD5F-4B5F-B8B2-79B59D98A4A2}"/>
              </a:ext>
            </a:extLst>
          </p:cNvPr>
          <p:cNvSpPr>
            <a:spLocks xmlns:a="http://schemas.openxmlformats.org/drawingml/2006/main" noGrp="1"/>
          </p:cNvSpPr>
          <p:nvPr/>
        </p:nvSpPr>
        <p:spPr>
          <a:xfrm xmlns:a="http://schemas.openxmlformats.org/drawingml/2006/main">
            <a:off x="800100" y="5267325"/>
            <a:ext cx="1057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1">
                <a:solidFill>
                  <a:srgbClr val="2E7D6F"/>
                </a:solidFill>
                <a:latin typeface="Calibri"/>
                <a:ea typeface="Calibri"/>
                <a:cs typeface="Calibri"/>
              </a:defRPr>
            </a:pPr>
            <a:r>
              <a:rPr sz="2250" b="1">
                <a:solidFill>
                  <a:srgbClr val="2E7D6F"/>
                </a:solidFill>
                <a:latin typeface="Calibri"/>
                <a:ea typeface="Calibri"/>
                <a:cs typeface="Calibri"/>
                <a:hlinkClick xmlns:r="http://schemas.openxmlformats.org/officeDocument/2006/relationships" r:id="R8cb85a5375874ded"/>
              </a:rPr>
              <a:t>Open W04 assignment form</a:t>
            </a:r>
          </a:p>
        </p:txBody>
      </p:sp>
      <p:sp>
        <p:nvSpPr>
          <p:cNvPr id="14" name="">
            <a:extLst xmlns:a="http://schemas.openxmlformats.org/drawingml/2006/main">
              <a:ext uri="{FF2B5EF4-FFF2-40B4-BE49-F238E27FC236}">
                <a16:creationId xmlns:a16="http://schemas.microsoft.com/office/drawing/2014/main" id="{B903E3C8-8F02-4BCD-8BD6-FF7BF29F5E6A}"/>
              </a:ext>
            </a:extLst>
          </p:cNvPr>
          <p:cNvSpPr>
            <a:spLocks xmlns:a="http://schemas.openxmlformats.org/drawingml/2006/main" noGrp="1"/>
          </p:cNvSpPr>
          <p:nvPr/>
        </p:nvSpPr>
        <p:spPr>
          <a:xfrm xmlns:a="http://schemas.openxmlformats.org/drawingml/2006/main">
            <a:off x="685800" y="5972175"/>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0">
                <a:solidFill>
                  <a:srgbClr val="6B7A8A"/>
                </a:solidFill>
                <a:latin typeface="Calibri"/>
                <a:ea typeface="Calibri"/>
                <a:cs typeface="Calibri"/>
              </a:defRPr>
            </a:pPr>
            <a:r>
              <a:rPr sz="1275" b="0">
                <a:solidFill>
                  <a:srgbClr val="6B7A8A"/>
                </a:solidFill>
                <a:latin typeface="Calibri"/>
                <a:ea typeface="Calibri"/>
                <a:cs typeface="Calibri"/>
              </a:rPr>
              <a:t>https://docs.google.com/forms/d/e/1FAIpQLSenqAHKxNgzxWHIR41scC7h5WAxcs8D9wOyXYjIQ_ulbGpPCw/viewform</a:t>
            </a:r>
          </a:p>
        </p:txBody>
      </p:sp>
      <p:sp>
        <p:nvSpPr>
          <p:cNvPr id="15" name="">
            <a:extLst xmlns:a="http://schemas.openxmlformats.org/drawingml/2006/main">
              <a:ext uri="{FF2B5EF4-FFF2-40B4-BE49-F238E27FC236}">
                <a16:creationId xmlns:a16="http://schemas.microsoft.com/office/drawing/2014/main" id="{22EDD23A-134D-42F3-AD25-46860DBE6DA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4   58</a:t>
            </a:r>
          </a:p>
        </p:txBody>
      </p:sp>
    </p:spTree>
    <p:extLst>
      <p:ext uri="{BB962C8B-B14F-4D97-AF65-F5344CB8AC3E}">
        <p14:creationId xmlns:p14="http://schemas.microsoft.com/office/powerpoint/2010/main" val="1568408488"/>
      </p:ext>
    </p:extLst>
  </p:cSld>
</p:sld>
</file>

<file path=ppt/slides/slide5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F73DE490-D54F-4AE8-90CA-42D06D428067}"/>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C82ABB9F-12A6-4EE3-9496-1A2999D081E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QUIZ ACCESS</a:t>
            </a:r>
          </a:p>
        </p:txBody>
      </p:sp>
      <p:sp>
        <p:nvSpPr>
          <p:cNvPr id="3" name="">
            <a:extLst xmlns:a="http://schemas.openxmlformats.org/drawingml/2006/main">
              <a:ext uri="{FF2B5EF4-FFF2-40B4-BE49-F238E27FC236}">
                <a16:creationId xmlns:a16="http://schemas.microsoft.com/office/drawing/2014/main" id="{0F5F9D7B-C4F5-4123-B596-C349B6EAAD2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Week 4 quiz</a:t>
            </a:r>
          </a:p>
        </p:txBody>
      </p:sp>
      <p:sp>
        <p:nvSpPr>
          <p:cNvPr id="4" name="">
            <a:extLst xmlns:a="http://schemas.openxmlformats.org/drawingml/2006/main">
              <a:ext uri="{FF2B5EF4-FFF2-40B4-BE49-F238E27FC236}">
                <a16:creationId xmlns:a16="http://schemas.microsoft.com/office/drawing/2014/main" id="{CE0CFC04-4211-4E19-84CF-D740DCB54A24}"/>
              </a:ext>
            </a:extLst>
          </p:cNvPr>
          <p:cNvSpPr>
            <a:spLocks xmlns:a="http://schemas.openxmlformats.org/drawingml/2006/main" noGrp="1"/>
          </p:cNvSpPr>
          <p:nvPr/>
        </p:nvSpPr>
        <p:spPr>
          <a:xfrm xmlns:a="http://schemas.openxmlformats.org/drawingml/2006/main">
            <a:off x="590550" y="17240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FE7EDEAD-3D14-4570-87A9-2E4C0C716F06}"/>
              </a:ext>
            </a:extLst>
          </p:cNvPr>
          <p:cNvSpPr>
            <a:spLocks xmlns:a="http://schemas.openxmlformats.org/drawingml/2006/main" noGrp="1"/>
          </p:cNvSpPr>
          <p:nvPr/>
        </p:nvSpPr>
        <p:spPr>
          <a:xfrm xmlns:a="http://schemas.openxmlformats.org/drawingml/2006/main">
            <a:off x="1381125" y="1724025"/>
            <a:ext cx="714375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Answer individually after the lecturer activates the quiz.</a:t>
            </a:r>
          </a:p>
        </p:txBody>
      </p:sp>
      <p:sp>
        <p:nvSpPr>
          <p:cNvPr id="6" name="">
            <a:extLst xmlns:a="http://schemas.openxmlformats.org/drawingml/2006/main">
              <a:ext uri="{FF2B5EF4-FFF2-40B4-BE49-F238E27FC236}">
                <a16:creationId xmlns:a16="http://schemas.microsoft.com/office/drawing/2014/main" id="{051D6CF2-DE5C-4F4E-9E96-A5BEAE938406}"/>
              </a:ext>
            </a:extLst>
          </p:cNvPr>
          <p:cNvSpPr>
            <a:spLocks xmlns:a="http://schemas.openxmlformats.org/drawingml/2006/main" noGrp="1"/>
          </p:cNvSpPr>
          <p:nvPr/>
        </p:nvSpPr>
        <p:spPr>
          <a:xfrm xmlns:a="http://schemas.openxmlformats.org/drawingml/2006/main">
            <a:off x="590550" y="2521744"/>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20583882-07DC-4154-A7E6-13B756677B55}"/>
              </a:ext>
            </a:extLst>
          </p:cNvPr>
          <p:cNvSpPr>
            <a:spLocks xmlns:a="http://schemas.openxmlformats.org/drawingml/2006/main" noGrp="1"/>
          </p:cNvSpPr>
          <p:nvPr/>
        </p:nvSpPr>
        <p:spPr>
          <a:xfrm xmlns:a="http://schemas.openxmlformats.org/drawingml/2006/main">
            <a:off x="1381125" y="2521744"/>
            <a:ext cx="714375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Available for 24 hours from activation.</a:t>
            </a:r>
          </a:p>
        </p:txBody>
      </p:sp>
      <p:sp>
        <p:nvSpPr>
          <p:cNvPr id="8" name="">
            <a:extLst xmlns:a="http://schemas.openxmlformats.org/drawingml/2006/main">
              <a:ext uri="{FF2B5EF4-FFF2-40B4-BE49-F238E27FC236}">
                <a16:creationId xmlns:a16="http://schemas.microsoft.com/office/drawing/2014/main" id="{75B20CF0-57E3-48AD-8CA4-5B91ED46D62F}"/>
              </a:ext>
            </a:extLst>
          </p:cNvPr>
          <p:cNvSpPr>
            <a:spLocks xmlns:a="http://schemas.openxmlformats.org/drawingml/2006/main" noGrp="1"/>
          </p:cNvSpPr>
          <p:nvPr/>
        </p:nvSpPr>
        <p:spPr>
          <a:xfrm xmlns:a="http://schemas.openxmlformats.org/drawingml/2006/main">
            <a:off x="590550" y="33194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0888C2C3-DBF0-4F1A-AD1B-031A3E6BCFAC}"/>
              </a:ext>
            </a:extLst>
          </p:cNvPr>
          <p:cNvSpPr>
            <a:spLocks xmlns:a="http://schemas.openxmlformats.org/drawingml/2006/main" noGrp="1"/>
          </p:cNvSpPr>
          <p:nvPr/>
        </p:nvSpPr>
        <p:spPr>
          <a:xfrm xmlns:a="http://schemas.openxmlformats.org/drawingml/2006/main">
            <a:off x="1381125" y="3319463"/>
            <a:ext cx="714375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your Student Registration Number and registered account.</a:t>
            </a:r>
          </a:p>
        </p:txBody>
      </p:sp>
      <p:sp>
        <p:nvSpPr>
          <p:cNvPr id="10" name="">
            <a:extLst xmlns:a="http://schemas.openxmlformats.org/drawingml/2006/main">
              <a:ext uri="{FF2B5EF4-FFF2-40B4-BE49-F238E27FC236}">
                <a16:creationId xmlns:a16="http://schemas.microsoft.com/office/drawing/2014/main" id="{E6EA9030-3BFC-47DF-B09E-202421226EC5}"/>
              </a:ext>
            </a:extLst>
          </p:cNvPr>
          <p:cNvSpPr>
            <a:spLocks xmlns:a="http://schemas.openxmlformats.org/drawingml/2006/main" noGrp="1"/>
          </p:cNvSpPr>
          <p:nvPr/>
        </p:nvSpPr>
        <p:spPr>
          <a:xfrm xmlns:a="http://schemas.openxmlformats.org/drawingml/2006/main">
            <a:off x="590550" y="4117181"/>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9E6C2576-7B76-4EED-B84E-8F37D707AB22}"/>
              </a:ext>
            </a:extLst>
          </p:cNvPr>
          <p:cNvSpPr>
            <a:spLocks xmlns:a="http://schemas.openxmlformats.org/drawingml/2006/main" noGrp="1"/>
          </p:cNvSpPr>
          <p:nvPr/>
        </p:nvSpPr>
        <p:spPr>
          <a:xfrm xmlns:a="http://schemas.openxmlformats.org/drawingml/2006/main">
            <a:off x="1381125" y="4117181"/>
            <a:ext cx="714375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lecturer will confirm the exact closing time.</a:t>
            </a:r>
          </a:p>
        </p:txBody>
      </p:sp>
      <p:pic>
        <p:nvPicPr>
          <p:cNvPr id="29" name=""/>
          <p:cNvPicPr>
            <a:picLocks xmlns:a="http://schemas.openxmlformats.org/drawingml/2006/main" noChangeAspect="1"/>
          </p:cNvPicPr>
          <p:nvPr/>
        </p:nvPicPr>
        <p:blipFill>
          <a:blip xmlns:r="http://schemas.openxmlformats.org/officeDocument/2006/relationships" xmlns:a="http://schemas.openxmlformats.org/drawingml/2006/main" r:embed="Rabf0dc842bb84fac"/>
          <a:stretch xmlns:a="http://schemas.openxmlformats.org/drawingml/2006/main"/>
        </p:blipFill>
        <p:spPr>
          <a:xfrm xmlns:a="http://schemas.openxmlformats.org/drawingml/2006/main">
            <a:off x="9134475" y="2095500"/>
            <a:ext cx="2190750" cy="2190750"/>
          </a:xfrm>
          <a:prstGeom xmlns:a="http://schemas.openxmlformats.org/drawingml/2006/main" prst="rect">
            <a:avLst/>
          </a:prstGeom>
        </p:spPr>
      </p:pic>
      <p:sp>
        <p:nvSpPr>
          <p:cNvPr id="13" name="">
            <a:extLst xmlns:a="http://schemas.openxmlformats.org/drawingml/2006/main">
              <a:ext uri="{FF2B5EF4-FFF2-40B4-BE49-F238E27FC236}">
                <a16:creationId xmlns:a16="http://schemas.microsoft.com/office/drawing/2014/main" id="{727AB19E-6E6E-4C7E-93C2-3EBA10187B5C}"/>
              </a:ext>
            </a:extLst>
          </p:cNvPr>
          <p:cNvSpPr>
            <a:spLocks xmlns:a="http://schemas.openxmlformats.org/drawingml/2006/main" noGrp="1"/>
          </p:cNvSpPr>
          <p:nvPr/>
        </p:nvSpPr>
        <p:spPr>
          <a:xfrm xmlns:a="http://schemas.openxmlformats.org/drawingml/2006/main">
            <a:off x="9239250" y="4400550"/>
            <a:ext cx="2190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1">
                <a:solidFill>
                  <a:srgbClr val="E4572E"/>
                </a:solidFill>
                <a:latin typeface="Calibri"/>
                <a:ea typeface="Calibri"/>
                <a:cs typeface="Calibri"/>
              </a:defRPr>
            </a:pPr>
            <a:r>
              <a:rPr sz="2100" b="1">
                <a:solidFill>
                  <a:srgbClr val="E4572E"/>
                </a:solidFill>
                <a:latin typeface="Calibri"/>
                <a:ea typeface="Calibri"/>
                <a:cs typeface="Calibri"/>
              </a:rPr>
              <a:t>24 HOURS</a:t>
            </a:r>
          </a:p>
        </p:txBody>
      </p:sp>
      <p:sp>
        <p:nvSpPr>
          <p:cNvPr id="14" name="">
            <a:extLst xmlns:a="http://schemas.openxmlformats.org/drawingml/2006/main">
              <a:ext uri="{FF2B5EF4-FFF2-40B4-BE49-F238E27FC236}">
                <a16:creationId xmlns:a16="http://schemas.microsoft.com/office/drawing/2014/main" id="{F61A5B99-D2D3-4826-A115-F07331E8CB8C}"/>
              </a:ext>
            </a:extLst>
          </p:cNvPr>
          <p:cNvSpPr>
            <a:spLocks xmlns:a="http://schemas.openxmlformats.org/drawingml/2006/main" noGrp="1"/>
          </p:cNvSpPr>
          <p:nvPr/>
        </p:nvSpPr>
        <p:spPr>
          <a:xfrm xmlns:a="http://schemas.openxmlformats.org/drawingml/2006/main">
            <a:off x="590550" y="5143500"/>
            <a:ext cx="11010900" cy="6572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5EDE09EF-F784-45B2-B8C5-A0756A27B268}"/>
              </a:ext>
            </a:extLst>
          </p:cNvPr>
          <p:cNvSpPr>
            <a:spLocks xmlns:a="http://schemas.openxmlformats.org/drawingml/2006/main" noGrp="1"/>
          </p:cNvSpPr>
          <p:nvPr/>
        </p:nvSpPr>
        <p:spPr>
          <a:xfrm xmlns:a="http://schemas.openxmlformats.org/drawingml/2006/main">
            <a:off x="800100" y="5267325"/>
            <a:ext cx="1057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1">
                <a:solidFill>
                  <a:srgbClr val="2E7D6F"/>
                </a:solidFill>
                <a:latin typeface="Calibri"/>
                <a:ea typeface="Calibri"/>
                <a:cs typeface="Calibri"/>
              </a:defRPr>
            </a:pPr>
            <a:r>
              <a:rPr sz="2250" b="1">
                <a:solidFill>
                  <a:srgbClr val="2E7D6F"/>
                </a:solidFill>
                <a:latin typeface="Calibri"/>
                <a:ea typeface="Calibri"/>
                <a:cs typeface="Calibri"/>
                <a:hlinkClick xmlns:r="http://schemas.openxmlformats.org/officeDocument/2006/relationships" r:id="R80b7547bfae54c35"/>
              </a:rPr>
              <a:t>Open this week’s quiz</a:t>
            </a:r>
          </a:p>
        </p:txBody>
      </p:sp>
      <p:sp>
        <p:nvSpPr>
          <p:cNvPr id="16" name="">
            <a:extLst xmlns:a="http://schemas.openxmlformats.org/drawingml/2006/main">
              <a:ext uri="{FF2B5EF4-FFF2-40B4-BE49-F238E27FC236}">
                <a16:creationId xmlns:a16="http://schemas.microsoft.com/office/drawing/2014/main" id="{7E392637-8D11-4BC0-84ED-3A16C5903455}"/>
              </a:ext>
            </a:extLst>
          </p:cNvPr>
          <p:cNvSpPr>
            <a:spLocks xmlns:a="http://schemas.openxmlformats.org/drawingml/2006/main" noGrp="1"/>
          </p:cNvSpPr>
          <p:nvPr/>
        </p:nvSpPr>
        <p:spPr>
          <a:xfrm xmlns:a="http://schemas.openxmlformats.org/drawingml/2006/main">
            <a:off x="685800" y="5972175"/>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0">
                <a:solidFill>
                  <a:srgbClr val="6B7A8A"/>
                </a:solidFill>
                <a:latin typeface="Calibri"/>
                <a:ea typeface="Calibri"/>
                <a:cs typeface="Calibri"/>
              </a:defRPr>
            </a:pPr>
            <a:r>
              <a:rPr sz="1275" b="0">
                <a:solidFill>
                  <a:srgbClr val="6B7A8A"/>
                </a:solidFill>
                <a:latin typeface="Calibri"/>
                <a:ea typeface="Calibri"/>
                <a:cs typeface="Calibri"/>
              </a:rPr>
              <a:t>https://forms.gle/YbPS4yzALy4tB1YM7</a:t>
            </a:r>
          </a:p>
        </p:txBody>
      </p:sp>
      <p:sp>
        <p:nvSpPr>
          <p:cNvPr id="17" name="">
            <a:extLst xmlns:a="http://schemas.openxmlformats.org/drawingml/2006/main">
              <a:ext uri="{FF2B5EF4-FFF2-40B4-BE49-F238E27FC236}">
                <a16:creationId xmlns:a16="http://schemas.microsoft.com/office/drawing/2014/main" id="{5B9BD8B8-5BB8-4D82-B51E-1D18D777623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4   59</a:t>
            </a:r>
          </a:p>
        </p:txBody>
      </p:sp>
    </p:spTree>
    <p:extLst>
      <p:ext uri="{BB962C8B-B14F-4D97-AF65-F5344CB8AC3E}">
        <p14:creationId xmlns:p14="http://schemas.microsoft.com/office/powerpoint/2010/main" val="989819057"/>
      </p:ext>
    </p:extLst>
  </p:cSld>
</p:sld>
</file>

<file path=ppt/slides/slide60.xml><?xml version="1.0" encoding="utf-8"?>
<p:sld xmlns:p="http://schemas.openxmlformats.org/presentationml/2006/main">
  <p:cSld>
    <p:bg>
      <p:bgPr>
        <a:solidFill xmlns:a="http://schemas.openxmlformats.org/drawingml/2006/main">
          <a:srgbClr val="1C3144"/>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B0D13419-C1D2-4BC6-8DFC-3DB1E368682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INDIVIDUAL EXIT CHECK</a:t>
            </a:r>
          </a:p>
        </p:txBody>
      </p:sp>
      <p:sp>
        <p:nvSpPr>
          <p:cNvPr id="2" name="">
            <a:extLst xmlns:a="http://schemas.openxmlformats.org/drawingml/2006/main">
              <a:ext uri="{FF2B5EF4-FFF2-40B4-BE49-F238E27FC236}">
                <a16:creationId xmlns:a16="http://schemas.microsoft.com/office/drawing/2014/main" id="{237E0F74-8668-4C27-B205-50D475F55C1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Before you leave</a:t>
            </a:r>
          </a:p>
        </p:txBody>
      </p:sp>
      <p:sp>
        <p:nvSpPr>
          <p:cNvPr id="3" name="">
            <a:extLst xmlns:a="http://schemas.openxmlformats.org/drawingml/2006/main">
              <a:ext uri="{FF2B5EF4-FFF2-40B4-BE49-F238E27FC236}">
                <a16:creationId xmlns:a16="http://schemas.microsoft.com/office/drawing/2014/main" id="{9C51D749-A259-4F11-AFE1-EB2FB82FFF2E}"/>
              </a:ext>
            </a:extLst>
          </p:cNvPr>
          <p:cNvSpPr>
            <a:spLocks xmlns:a="http://schemas.openxmlformats.org/drawingml/2006/main" noGrp="1"/>
          </p:cNvSpPr>
          <p:nvPr/>
        </p:nvSpPr>
        <p:spPr>
          <a:xfrm xmlns:a="http://schemas.openxmlformats.org/drawingml/2006/main">
            <a:off x="619125" y="1619250"/>
            <a:ext cx="2857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1">
                <a:solidFill>
                  <a:srgbClr val="E4572E"/>
                </a:solidFill>
                <a:latin typeface="Calibri"/>
                <a:ea typeface="Calibri"/>
                <a:cs typeface="Calibri"/>
              </a:defRPr>
            </a:pPr>
            <a:r>
              <a:rPr sz="1950" b="1">
                <a:solidFill>
                  <a:srgbClr val="E4572E"/>
                </a:solidFill>
                <a:latin typeface="Calibri"/>
                <a:ea typeface="Calibri"/>
                <a:cs typeface="Calibri"/>
              </a:rPr>
              <a:t>EXPLAIN IT</a:t>
            </a:r>
          </a:p>
        </p:txBody>
      </p:sp>
      <p:sp>
        <p:nvSpPr>
          <p:cNvPr id="4" name="">
            <a:extLst xmlns:a="http://schemas.openxmlformats.org/drawingml/2006/main">
              <a:ext uri="{FF2B5EF4-FFF2-40B4-BE49-F238E27FC236}">
                <a16:creationId xmlns:a16="http://schemas.microsoft.com/office/drawing/2014/main" id="{75F662D5-CCCE-41A3-88A5-8791882F0B85}"/>
              </a:ext>
            </a:extLst>
          </p:cNvPr>
          <p:cNvSpPr>
            <a:spLocks xmlns:a="http://schemas.openxmlformats.org/drawingml/2006/main" noGrp="1"/>
          </p:cNvSpPr>
          <p:nvPr/>
        </p:nvSpPr>
        <p:spPr>
          <a:xfrm xmlns:a="http://schemas.openxmlformats.org/drawingml/2006/main">
            <a:off x="619125" y="2295525"/>
            <a:ext cx="10810875" cy="3095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850" b="0">
                <a:solidFill>
                  <a:srgbClr val="FFFFFF"/>
                </a:solidFill>
                <a:latin typeface="Calibri"/>
                <a:ea typeface="Calibri"/>
                <a:cs typeface="Calibri"/>
              </a:defRPr>
            </a:pPr>
            <a:r>
              <a:rPr sz="2850" b="0">
                <a:solidFill>
                  <a:srgbClr val="FFFFFF"/>
                </a:solidFill>
                <a:latin typeface="Calibri"/>
                <a:ea typeface="Calibri"/>
                <a:cs typeface="Calibri"/>
              </a:rPr>
              <a:t>You can show how the total and count change for each record.</a:t>
            </a:r>
          </a:p>
          <a:p xmlns:a="http://schemas.openxmlformats.org/drawingml/2006/main">
            <a:r>
              <a:t/>
            </a:r>
          </a:p>
          <a:p xmlns:a="http://schemas.openxmlformats.org/drawingml/2006/main">
            <a:pPr>
              <a:defRPr sz="2850" b="0">
                <a:solidFill>
                  <a:srgbClr val="FFFFFF"/>
                </a:solidFill>
                <a:latin typeface="Calibri"/>
                <a:ea typeface="Calibri"/>
                <a:cs typeface="Calibri"/>
              </a:defRPr>
            </a:pPr>
            <a:r>
              <a:rPr sz="2850" b="0">
                <a:solidFill>
                  <a:srgbClr val="FFFFFF"/>
                </a:solidFill>
                <a:latin typeface="Calibri"/>
                <a:ea typeface="Calibri"/>
                <a:cs typeface="Calibri"/>
              </a:rPr>
              <a:t>Save your work and check the required submission files.</a:t>
            </a:r>
          </a:p>
        </p:txBody>
      </p:sp>
      <p:sp>
        <p:nvSpPr>
          <p:cNvPr id="5" name="">
            <a:extLst xmlns:a="http://schemas.openxmlformats.org/drawingml/2006/main">
              <a:ext uri="{FF2B5EF4-FFF2-40B4-BE49-F238E27FC236}">
                <a16:creationId xmlns:a16="http://schemas.microsoft.com/office/drawing/2014/main" id="{B57ADE00-4274-4FFD-BF74-A39B059B845A}"/>
              </a:ext>
            </a:extLst>
          </p:cNvPr>
          <p:cNvSpPr>
            <a:spLocks xmlns:a="http://schemas.openxmlformats.org/drawingml/2006/main" noGrp="1"/>
          </p:cNvSpPr>
          <p:nvPr/>
        </p:nvSpPr>
        <p:spPr>
          <a:xfrm xmlns:a="http://schemas.openxmlformats.org/drawingml/2006/main">
            <a:off x="619125" y="5791200"/>
            <a:ext cx="10810875"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BBCDD9"/>
                </a:solidFill>
                <a:latin typeface="Calibri"/>
                <a:ea typeface="Calibri"/>
                <a:cs typeface="Calibri"/>
              </a:defRPr>
            </a:pPr>
            <a:r>
              <a:rPr sz="1800" b="0">
                <a:solidFill>
                  <a:srgbClr val="BBCDD9"/>
                </a:solidFill>
                <a:latin typeface="Calibri"/>
                <a:ea typeface="Calibri"/>
                <a:cs typeface="Calibri"/>
              </a:rPr>
              <a:t>Point to your evidence. Save your work.</a:t>
            </a:r>
          </a:p>
        </p:txBody>
      </p:sp>
      <p:sp>
        <p:nvSpPr>
          <p:cNvPr id="6" name="">
            <a:extLst xmlns:a="http://schemas.openxmlformats.org/drawingml/2006/main">
              <a:ext uri="{FF2B5EF4-FFF2-40B4-BE49-F238E27FC236}">
                <a16:creationId xmlns:a16="http://schemas.microsoft.com/office/drawing/2014/main" id="{FD73BAF2-88BE-4449-B67F-708A6755D69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BBCDD9"/>
                </a:solidFill>
                <a:latin typeface="Calibri"/>
                <a:ea typeface="Calibri"/>
                <a:cs typeface="Calibri"/>
              </a:defRPr>
            </a:pPr>
            <a:r>
              <a:rPr sz="1200" b="0">
                <a:solidFill>
                  <a:srgbClr val="BBCDD9"/>
                </a:solidFill>
                <a:latin typeface="Calibri"/>
                <a:ea typeface="Calibri"/>
                <a:cs typeface="Calibri"/>
              </a:rPr>
              <a:t>CML3113   Week 4   60</a:t>
            </a:r>
          </a:p>
        </p:txBody>
      </p:sp>
    </p:spTree>
    <p:extLst>
      <p:ext uri="{BB962C8B-B14F-4D97-AF65-F5344CB8AC3E}">
        <p14:creationId xmlns:p14="http://schemas.microsoft.com/office/powerpoint/2010/main" val="2001888800"/>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2026-09-21T10:26:44.1060000Z</dcterms:created>
  <dcterms:modified xsi:type="dcterms:W3CDTF">2026-09-21T10:26:44.1060000Z</dcterms:modified>
</coreProperties>
</file>