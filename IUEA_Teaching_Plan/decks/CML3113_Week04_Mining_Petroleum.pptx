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today. The first teaches loops and file reading the hard way, using nothing but standard Python. The second is the first session where you are given a problem and no method.</a:t>
            </a:r>
          </a:p>
          <a:p/>
          <a:p>
            <a:r>
              <a:t>The hard way is deliberate: sixty lines today become three lines next week, and you will appreciate next week's tool because you earned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7 is the one that matters most and it is the one Practical Test 1 in three weeks' time actually assesses.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eleven-segment shape, with the second half given over almost entirely to your own work. Investigation Lab 1, which follows the break, is unguided on purpose: a file, a question and no method, which is the format Practical Test 1 uses in three weeks.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of recall. You can already write a function that calculates one thing; today the same work happens to several hundred values at once.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from Week 3, all of which get used within the hour. If the third one gives you trouble, the units habit is the one to fix before the practical, because the Investigation Lab will punish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return-versus-print answer matters most of the three. From next week you feed functions whole columns of data, and a function that only prints hands back nothing you can work with.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to establish the problem before any solution appears. Your five functions from Week 3 each take one value and the file in front of you has several hundred rows; a loop is what closes that gap.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out roughly how long that file would take by hand before you read on. Then note that you will do this every week for the rest of the course, on files a thousand times bigger than this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on lists and dictionaries. Almost every engineering record you meet is naturally one or the other, and choosing correctly saves you from a class of bug that is very hard to see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from zero surprises everyone once: the first item is [0] and the last item of a twelve-item list is [11]. Ask for [12] and you get an IndexError.</a:t>
            </a:r>
          </a:p>
          <a:p/>
          <a:p>
            <a:r>
              <a:t>Most engineering records are naturally dictionaries — a reading belongs to HOLE_114, and position 43 means nothing to anybody reading your code. Next week's DataFrame is essentially a table of both: rows in order, columns by name.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 not confuse with' line is the practical test for choosing between them. Any time you are keeping a mental note of what a position means, the label belongs in the code instead.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on one pattern, and it is most of what you write today. The file reading in the file-reading block becomes mechanical once the accumulator is clear, so this is the block to concentrate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accumulator pattern is: start a variable at zero BEFORE the loop, add to it INSIDE the loop, use it AFTER the loop. Three positions, and getting them wrong is the classic bug.</a:t>
            </a:r>
          </a:p>
          <a:p/>
          <a:p>
            <a:r>
              <a:t>total = total + value reads right to left, exactly as in Week 3: take what is in total, add value, put it 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Week 3 lesson in a new costume: it runs, and the answer is wrong. The only defence is knowing roughly what the answer should be.</a:t>
            </a:r>
          </a:p>
          <a:p/>
          <a:p>
            <a:r>
              <a:t>The tell is that the 'total' comes out suspiciously close to a single reading rather than to hundreds of them. If your total of three hundred readings looks like one reading, you have this bug.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Indentation in Python is syntax. The lines indented under the for statement run inside the loop and the lines left un-indented run outside it, so shifting one line by four spaces changes what the program does. That single shift is exactly the accumulator bug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on the foundations before the file reading starts. Question C is the accumulator bug again; if it is not solid, go back to the previous figure, because everything after the break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is worth reading twice. Moving total = 0 one line lower puts it inside the loop, so it resets on every iteration and the mean comes out wrong by a factor of the number of rows, with no error message anywhere. This exact bug appears in the quiz at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with everyone typing, and it is deliberately more work than it needs to be. Next week the same job takes three lines of pandas. Doing it the long way once is what lets you diagnose those three lines when they misbehave.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useful thing to understand about data files, and it is the cause of the TypeError you met in Week 3. A file has no idea what a number is. Everything arrives as text until you convert it.</a:t>
            </a:r>
          </a:p>
          <a:p/>
          <a:p>
            <a:r>
              <a:t>Next week pandas does the conversion for you, and it will sometimes get it wrong — usually when one row has a stray unit in it. You will only be able to diagnose that because you did it by hand today.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csv.DictReader gives you each row as a dictionary keyed by the column headings, which is why row["value"] works. That is also why a typo in a column name gives a KeyError rather than silently returning nothing.</a:t>
            </a:r>
          </a:p>
          <a:p/>
          <a:p>
            <a:r>
              <a:t>The with block closes the file for you when it finishes, even if something goes wrong inside it. Use it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The Investigation Lab after the break is unguided and it needs you fresh.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on what to do with a row that cannot be read. There are two choices, and the part usually skipped is knowing when catching the error is the wrong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and except let you carry on past a bad row instead of stopping, which is often the right call — one malformed row in three hundred should not end the run.</a:t>
            </a:r>
          </a:p>
          <a:p/>
          <a:p>
            <a:r>
              <a:t>Catching an error silently is a serious mistake. Skip forty rows without counting them and your answer describes 260 readings out of 300, and you can say nothing about the forty you dropped; they may all be the extreme ones. Count what you skip and report the count every time.</a:t>
            </a:r>
          </a:p>
          <a:p/>
          <a:p>
            <a:r>
              <a:t>When should you leave it uncaught? When the failure means your assumption about the data is wrong. If every row fails you have the wrong file or the wrong column name, and a crash tells you that in one second.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skipped-row count is part of the deliverable. A report that does not say how much data it ignored leaves the reader unable to judge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routine is what Practical Test 1 assesses in three weeks. The subject of that test is what to do when nobody has told you what to do; the pandas syntax carries a small part of the marks.</a:t>
            </a:r>
          </a:p>
          <a:p/>
          <a:p>
            <a:r>
              <a:t>Step 2 is the one beginners skip and the one that most often produces the interesting question. Data is never collected by accident, so asking what decision it was collected to support tells you what it can answer.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fully unguided activity of the semester and it sets the pattern for the rest of them: a file, a question and no method. Marks go to the evidence you can show, so a team that finds nothing and can say what it ruled out and how has done real work. Most real investigations end that way.</a:t>
            </a:r>
          </a:p>
          <a:p/>
          <a:p>
            <a:r>
              <a:t>Work the six questions on the slide in order, and expect to give a sixty-second findings pitch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quiz format matters more than its content: two of the five questions show code that runs cleanly and returns a wrong answer and ask for the cause, one shows a traceback, one gives you an output to interpret, and one sets a constraint. There is nothing to memorise and revising definitions will not help — doing A3 properly was the preparation. A4 is due at the start of Week 5, and the skipped-row count is part of the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statements covering the session. The second and the fifth carry the most weight later: the three positions of an accumulator, and counting what you skipped.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A is the accumulator bug seen from the magnitude alone, which is how you will actually catch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 is the standard Practical Test 1 marks against in three weeks: what you looked at, what the pattern is in physical terms, what else could explain it, and what would change your mind. Without the last two you have a coincidence.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Eighteen terms. Five of them are error names, and being able to recognise an error by name is most of what makes a beginner faster.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Photograph this slide. The magnitude check is the line that will save you most often — a total of three hundred readings that looks like a single reading is the accumulator bug every time.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five minutes of every teaching session. Five questions, one per cent, and you see your score as you submit.</a:t>
            </a:r>
          </a:p>
          <a:p/>
          <a:p>
            <a:r>
              <a:t>Nothing on it can be answered without reading what it shows you, so there is nothing to revise for it beyond having done the session. Twelve run across the semester and the best ten count.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weeks ago most of you had never written a line of code, and you have just investigated a file that nobody explained to you. Next week is a real step up in pace: the same work takes three lines instead of sixty, and the datasets stop being teaching files.</a:t>
            </a:r>
          </a:p>
          <a:p/>
          <a:p>
            <a:r>
              <a:t>This cohort does NOT meet next week — Friday 9 October is Independence Day. The Week 5 material reaches you as a recording of the Tuesday session plus the notebook, published by Wednesday 7 October, with a 45-minute online clinic that week, and Week 6 opens with a 30-minute consolidation of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CML3113</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Many measurements</a:t>
            </a:r>
          </a:p>
          <a:p>
            <a:pPr algn="l">
              <a:lnSpc>
                <a:spcPct val="105000"/>
              </a:lnSpc>
              <a:spcAft>
                <a:spcPts val="600"/>
              </a:spcAft>
            </a:pPr>
            <a:r>
              <a:rPr sz="4400" b="1" i="0">
                <a:solidFill>
                  <a:srgbClr val="FFFFFF"/>
                </a:solidFill>
                <a:latin typeface="Cambria"/>
              </a:rPr>
              <a:t>at once</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Collections, loops, files — and your first unguided investigation</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4  ·  Fri 2 October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Friday 08:00–11:00 · Room 105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Choose between a list and a dictionary for a given engineering record, and justify the choice.</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Write a loop that does the same thing to every measurement in a collection.</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Use the accumulator pattern to total, count and average without pandas.</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Read a CSV file with standard Python and explain why every value arrives as text.</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Catch an error so a bad row does not stop the whole run — and say when you should NOT catch it.</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Break an open-ended data question into an ordered sequence of steps before writing any code.</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Report a finding from a file nobody explained to you, and defend it with evidence.</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4 · Collections, loops and files · nothing here needs prior programming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TODAY RUNS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today runs</a:t>
            </a:r>
          </a:p>
        </p:txBody>
      </p:sp>
      <p:pic>
        <p:nvPicPr>
          <p:cNvPr id="4" name="Picture 3" descr="clock_w4.png"/>
          <p:cNvPicPr>
            <a:picLocks noChangeAspect="1"/>
          </p:cNvPicPr>
          <p:nvPr/>
        </p:nvPicPr>
        <p:blipFill>
          <a:blip r:embed="rId2"/>
          <a:stretch>
            <a:fillRect/>
          </a:stretch>
        </p:blipFill>
        <p:spPr>
          <a:xfrm>
            <a:off x="969195" y="1911095"/>
            <a:ext cx="1025330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same shape. Today the second half is almost entirely you working, with me asking questions and answering none.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Where we got to</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You can write a function that calculates one thing. Today: four thousand things.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minutes: what stuck from Week 3?</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What is the difference between return and print, and why does it matter from next week?</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if-chain checks width &gt; 0.30 before width &gt; 0.50. What goes wrong and will Python tell you?</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get a beam moment of 4.2 out of your function. What is the first question to ask?</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return versus print?</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Return hands a value back so it can be used; print puts characters on screen and hands back nothing. From next week you apply functions to whole columns, and a printing function produces no column.</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if-chain in the wrong order?</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 0.30 branch catches everything above 0.50 as well, so the strict branch never runs. Python will not warn you — it is valid code returning the wrong action.</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A moment of 4.2?</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In what unit? Newton-metres and kilonewton-metres are a factor of a thousand apart and only one is plausible.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question you cannot answer by hand</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Your functions work on one value at a time. Here is a file with several hundred.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TODAY'S QUESTION</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"There are several hundred readings in this file. What is the average, and how many are outside the limit?"</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You cannot do this by hand, and the five functions you wrote last week do not help — they each take one value. You need a way to say: do this same thing to every single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ways to hold many values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A list keeps them in order. A dictionary keeps them by name. Almost every engineering record is one or the other.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COLLECTIONS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Lists and dictionaries</a:t>
            </a:r>
          </a:p>
        </p:txBody>
      </p:sp>
      <p:pic>
        <p:nvPicPr>
          <p:cNvPr id="4" name="Picture 3" descr="list_vs_dict.png"/>
          <p:cNvPicPr>
            <a:picLocks noChangeAspect="1"/>
          </p:cNvPicPr>
          <p:nvPr/>
        </p:nvPicPr>
        <p:blipFill>
          <a:blip r:embed="rId2"/>
          <a:stretch>
            <a:fillRect/>
          </a:stretch>
        </p:blipFill>
        <p:spPr>
          <a:xfrm>
            <a:off x="1371935" y="1911095"/>
            <a:ext cx="944782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 list is accessed by position, counting from zero. A dictionary is accessed by a label you chose. Use a list when order is the meaningful thing; use a dictionary when the label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List, dictionary, and index</a:t>
            </a:r>
          </a:p>
        </p:txBody>
      </p:sp>
      <p:sp>
        <p:nvSpPr>
          <p:cNvPr id="4" name="Rounded Rectangle 3"/>
          <p:cNvSpPr/>
          <p:nvPr/>
        </p:nvSpPr>
        <p:spPr>
          <a:xfrm>
            <a:off x="685800" y="1854203"/>
            <a:ext cx="10820095" cy="1592685"/>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1245213"/>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LIST is an ordered sequence, written in square brackets. A DICTIONARY maps labels to values, written in curly braces. An INDEX is the position or the label you use to get one item out.</a:t>
            </a:r>
          </a:p>
        </p:txBody>
      </p:sp>
      <p:sp>
        <p:nvSpPr>
          <p:cNvPr id="6" name="Rounded Rectangle 5"/>
          <p:cNvSpPr/>
          <p:nvPr/>
        </p:nvSpPr>
        <p:spPr>
          <a:xfrm>
            <a:off x="685800" y="3721209"/>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702921"/>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readings = [12.4, 13.1, 11.8] is a list; readings[0] is 12.4. readings = {"HOLE_114": 78.2} is a dictionary; readings["HOLE_114"] is 78.2.</a:t>
            </a:r>
          </a:p>
        </p:txBody>
      </p:sp>
      <p:sp>
        <p:nvSpPr>
          <p:cNvPr id="8" name="Rounded Rectangle 7"/>
          <p:cNvSpPr/>
          <p:nvPr/>
        </p:nvSpPr>
        <p:spPr>
          <a:xfrm>
            <a:off x="685800" y="4687522"/>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69234"/>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Each other. If you find yourself remembering that position 3 means the pH reading, you wanted a dictionary.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accumulator</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One pattern, and it is most of what you will write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ACCUMULATOR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 loop, traced step by step</a:t>
            </a:r>
          </a:p>
        </p:txBody>
      </p:sp>
      <p:pic>
        <p:nvPicPr>
          <p:cNvPr id="4" name="Picture 3" descr="accumulator_trace.png"/>
          <p:cNvPicPr>
            <a:picLocks noChangeAspect="1"/>
          </p:cNvPicPr>
          <p:nvPr/>
        </p:nvPicPr>
        <p:blipFill>
          <a:blip r:embed="rId2"/>
          <a:stretch>
            <a:fillRect/>
          </a:stretch>
        </p:blipFill>
        <p:spPr>
          <a:xfrm>
            <a:off x="1158246" y="1911095"/>
            <a:ext cx="9875203"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There is no magic in a loop. It takes each value in turn and updates a running total and a running count. The table shows exactly what is in each variable after every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 SILENT WRONG ANSWER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bug that gets everybody once</a:t>
            </a:r>
          </a:p>
        </p:txBody>
      </p:sp>
      <p:pic>
        <p:nvPicPr>
          <p:cNvPr id="4" name="Picture 3" descr="accumulator_bug.png"/>
          <p:cNvPicPr>
            <a:picLocks noChangeAspect="1"/>
          </p:cNvPicPr>
          <p:nvPr/>
        </p:nvPicPr>
        <p:blipFill>
          <a:blip r:embed="rId2"/>
          <a:stretch>
            <a:fillRect/>
          </a:stretch>
        </p:blipFill>
        <p:spPr>
          <a:xfrm>
            <a:off x="1895758" y="1911095"/>
            <a:ext cx="8400178"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same loop, with total = 0 in the right place and in the wrong place. On the right it is reset every time round, so at the end it holds only the last value — and the mean is wrong by a factor of the number of rows. No error appears.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Loop, iteration, and the three positions</a:t>
            </a:r>
          </a:p>
        </p:txBody>
      </p:sp>
      <p:sp>
        <p:nvSpPr>
          <p:cNvPr id="4" name="Rounded Rectangle 3"/>
          <p:cNvSpPr/>
          <p:nvPr/>
        </p:nvSpPr>
        <p:spPr>
          <a:xfrm>
            <a:off x="685800" y="1854203"/>
            <a:ext cx="10820095" cy="1592685"/>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1245213"/>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LOOP runs the same block once for every item in a collection. One pass is an ITERATION. An accumulator needs three positions: started BEFORE the loop, updated INSIDE it, used AFTER it.</a:t>
            </a:r>
          </a:p>
        </p:txBody>
      </p:sp>
      <p:sp>
        <p:nvSpPr>
          <p:cNvPr id="6" name="Rounded Rectangle 5"/>
          <p:cNvSpPr/>
          <p:nvPr/>
        </p:nvSpPr>
        <p:spPr>
          <a:xfrm>
            <a:off x="685800" y="3721209"/>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702921"/>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total = 0 sits before. total = total + value sits inside, indented. print(total) sits after, un-indented. The indentation is what tells Python which lines are inside.</a:t>
            </a:r>
          </a:p>
        </p:txBody>
      </p:sp>
      <p:sp>
        <p:nvSpPr>
          <p:cNvPr id="8" name="Rounded Rectangle 7"/>
          <p:cNvSpPr/>
          <p:nvPr/>
        </p:nvSpPr>
        <p:spPr>
          <a:xfrm>
            <a:off x="685800" y="4687522"/>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69234"/>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Repeating code by copying it. A loop written for twelve readings works unchanged for twelve thousand; twelve copied lines do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minutes: check the foundations</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readings = [12.4, 13.1, 11.8]. What is readings[0], and what happens if you ask for readings[3]?</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have one reading for each of forty named drill holes. List or dictionary, and why?</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In an accumulator loop, where must total = 0 go, and what happens if it goes one line lower?</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 Write something for each first.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readings[0], and readings[3]?</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readings[0] is 12.4 — counting starts at zero, so the first item is [0]. readings[3] raises an IndexError, because a three-item list only has positions 0, 1 and 2.</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Forty named drill holes?</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A dictionary, keyed by name. With a list you would have to remember that position 17 means HOLE_114, which is exactly the situation a dictionary exists to prevent.</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Where does total = 0 go?</a:t>
            </a:r>
          </a:p>
        </p:txBody>
      </p:sp>
      <p:sp>
        <p:nvSpPr>
          <p:cNvPr id="12" name="TextBox 11"/>
          <p:cNvSpPr txBox="1"/>
          <p:nvPr/>
        </p:nvSpPr>
        <p:spPr>
          <a:xfrm>
            <a:off x="1216152" y="4502090"/>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Before the loop, un-indented. One line lower — indented, inside the loop — it resets on every iteration, so at the end it holds only the last value. No error appears, and the mean comes out wrong by a factor of the number of rows.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Reading a real file</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Everybody types. And yes, this is deliberately more work than it needs to be.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PIPELINE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happens when you read a file</a:t>
            </a:r>
          </a:p>
        </p:txBody>
      </p:sp>
      <p:pic>
        <p:nvPicPr>
          <p:cNvPr id="4" name="Picture 3" descr="file_pipeline.png"/>
          <p:cNvPicPr>
            <a:picLocks noChangeAspect="1"/>
          </p:cNvPicPr>
          <p:nvPr/>
        </p:nvPicPr>
        <p:blipFill>
          <a:blip r:embed="rId2"/>
          <a:stretch>
            <a:fillRect/>
          </a:stretch>
        </p:blipFill>
        <p:spPr>
          <a:xfrm>
            <a:off x="1114536" y="1911095"/>
            <a:ext cx="9962623"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 file on disk is characters. Reading it gives you text, one line at a time. Splitting gives you fields — still text. Only float() turns a field into a number you can do arithmetic with.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Reading drill_shift_log.csv</a:t>
            </a:r>
          </a:p>
        </p:txBody>
      </p:sp>
      <p:sp>
        <p:nvSpPr>
          <p:cNvPr id="4" name="Rounded Rectangle 3"/>
          <p:cNvSpPr/>
          <p:nvPr/>
        </p:nvSpPr>
        <p:spPr>
          <a:xfrm>
            <a:off x="7200461" y="512064"/>
            <a:ext cx="430543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OPEN COLAB — UPLOAD THE FILE FIRST</a:t>
            </a:r>
          </a:p>
        </p:txBody>
      </p:sp>
      <p:sp>
        <p:nvSpPr>
          <p:cNvPr id="5" name="Rectangle 4"/>
          <p:cNvSpPr/>
          <p:nvPr/>
        </p:nvSpPr>
        <p:spPr>
          <a:xfrm>
            <a:off x="685800" y="1911095"/>
            <a:ext cx="10820095" cy="3244287"/>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951679"/>
          </a:xfrm>
          <a:prstGeom prst="rect">
            <a:avLst/>
          </a:prstGeom>
          <a:noFill/>
        </p:spPr>
        <p:txBody>
          <a:bodyPr wrap="square" lIns="0" rIns="0" tIns="0" bIns="0" anchor="t">
            <a:spAutoFit/>
          </a:bodyPr>
          <a:lstStyle/>
          <a:p>
            <a:pPr algn="l">
              <a:lnSpc>
                <a:spcPts val="1795"/>
              </a:lnSpc>
              <a:spcAft>
                <a:spcPts val="0"/>
              </a:spcAft>
            </a:pPr>
            <a:r>
              <a:rPr sz="1320" b="0" i="0">
                <a:solidFill>
                  <a:srgbClr val="D8E3EC"/>
                </a:solidFill>
                <a:latin typeface="Courier New"/>
              </a:rPr>
              <a:t>import csv</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total = 0.0        # BEFORE the loop</a:t>
            </a:r>
          </a:p>
          <a:p>
            <a:pPr algn="l">
              <a:lnSpc>
                <a:spcPts val="1795"/>
              </a:lnSpc>
              <a:spcAft>
                <a:spcPts val="0"/>
              </a:spcAft>
            </a:pPr>
            <a:r>
              <a:rPr sz="1320" b="0" i="0">
                <a:solidFill>
                  <a:srgbClr val="D8E3EC"/>
                </a:solidFill>
                <a:latin typeface="Courier New"/>
              </a:rPr>
              <a:t>count = 0</a:t>
            </a:r>
          </a:p>
          <a:p>
            <a:pPr algn="l">
              <a:lnSpc>
                <a:spcPts val="1795"/>
              </a:lnSpc>
              <a:spcAft>
                <a:spcPts val="0"/>
              </a:spcAft>
            </a:pPr>
            <a:r>
              <a:rPr sz="1320" b="0" i="0">
                <a:solidFill>
                  <a:srgbClr val="D8E3EC"/>
                </a:solidFill>
                <a:latin typeface="Courier New"/>
              </a:rPr>
              <a:t>over_limit = 0</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with open("drill_shift_log.csv") as f:</a:t>
            </a:r>
          </a:p>
          <a:p>
            <a:pPr algn="l">
              <a:lnSpc>
                <a:spcPts val="1795"/>
              </a:lnSpc>
              <a:spcAft>
                <a:spcPts val="0"/>
              </a:spcAft>
            </a:pPr>
            <a:r>
              <a:rPr sz="1320" b="0" i="0">
                <a:solidFill>
                  <a:srgbClr val="D8E3EC"/>
                </a:solidFill>
                <a:latin typeface="Courier New"/>
              </a:rPr>
              <a:t>    for row in csv.DictReader(f):</a:t>
            </a:r>
          </a:p>
          <a:p>
            <a:pPr algn="l">
              <a:lnSpc>
                <a:spcPts val="1795"/>
              </a:lnSpc>
              <a:spcAft>
                <a:spcPts val="0"/>
              </a:spcAft>
            </a:pPr>
            <a:r>
              <a:rPr sz="1320" b="0" i="0">
                <a:solidFill>
                  <a:srgbClr val="D8E3EC"/>
                </a:solidFill>
                <a:latin typeface="Courier New"/>
              </a:rPr>
              <a:t>        value = float(row["rate_of_penetration"])   # text -&gt; number</a:t>
            </a:r>
          </a:p>
          <a:p>
            <a:pPr algn="l">
              <a:lnSpc>
                <a:spcPts val="1795"/>
              </a:lnSpc>
              <a:spcAft>
                <a:spcPts val="0"/>
              </a:spcAft>
            </a:pPr>
            <a:r>
              <a:rPr sz="1320" b="0" i="0">
                <a:solidFill>
                  <a:srgbClr val="D8E3EC"/>
                </a:solidFill>
                <a:latin typeface="Courier New"/>
              </a:rPr>
              <a:t>        total = total + value          # INSIDE the loop</a:t>
            </a:r>
          </a:p>
          <a:p>
            <a:pPr algn="l">
              <a:lnSpc>
                <a:spcPts val="1795"/>
              </a:lnSpc>
              <a:spcAft>
                <a:spcPts val="0"/>
              </a:spcAft>
            </a:pPr>
            <a:r>
              <a:rPr sz="1320" b="0" i="0">
                <a:solidFill>
                  <a:srgbClr val="D8E3EC"/>
                </a:solidFill>
                <a:latin typeface="Courier New"/>
              </a:rPr>
              <a:t>        count = count + 1</a:t>
            </a:r>
          </a:p>
          <a:p>
            <a:pPr algn="l">
              <a:lnSpc>
                <a:spcPts val="1795"/>
              </a:lnSpc>
              <a:spcAft>
                <a:spcPts val="0"/>
              </a:spcAft>
            </a:pPr>
            <a:r>
              <a:rPr sz="1320" b="0" i="0">
                <a:solidFill>
                  <a:srgbClr val="D8E3EC"/>
                </a:solidFill>
                <a:latin typeface="Courier New"/>
              </a:rPr>
              <a:t>        if value &gt; 8.0:</a:t>
            </a:r>
          </a:p>
          <a:p>
            <a:pPr algn="l">
              <a:lnSpc>
                <a:spcPts val="1795"/>
              </a:lnSpc>
              <a:spcAft>
                <a:spcPts val="0"/>
              </a:spcAft>
            </a:pPr>
            <a:r>
              <a:rPr sz="1320" b="0" i="0">
                <a:solidFill>
                  <a:srgbClr val="D8E3EC"/>
                </a:solidFill>
                <a:latin typeface="Courier New"/>
              </a:rPr>
              <a:t>            over_limit = over_limit + 1</a:t>
            </a:r>
          </a:p>
          <a:p>
            <a:pPr algn="l">
              <a:lnSpc>
                <a:spcPts val="1795"/>
              </a:lnSpc>
              <a:spcAft>
                <a:spcPts val="0"/>
              </a:spcAft>
            </a:pPr>
            <a:r>
              <a:rPr sz="1320" b="0" i="0">
                <a:solidFill>
                  <a:srgbClr val="D8E3EC"/>
                </a:solidFill>
                <a:latin typeface="Courier New"/>
              </a:rPr>
              <a:t/>
            </a:r>
          </a:p>
          <a:p>
            <a:pPr algn="l">
              <a:lnSpc>
                <a:spcPts val="1795"/>
              </a:lnSpc>
              <a:spcAft>
                <a:spcPts val="0"/>
              </a:spcAft>
            </a:pPr>
            <a:r>
              <a:rPr sz="1320" b="0" i="0">
                <a:solidFill>
                  <a:srgbClr val="D8E3EC"/>
                </a:solidFill>
                <a:latin typeface="Courier New"/>
              </a:rPr>
              <a:t>print(f"mean {total / count:.2f} over {count} rows")   # AFTER</a:t>
            </a:r>
          </a:p>
          <a:p>
            <a:pPr algn="l">
              <a:lnSpc>
                <a:spcPts val="1795"/>
              </a:lnSpc>
              <a:spcAft>
                <a:spcPts val="0"/>
              </a:spcAft>
            </a:pPr>
            <a:r>
              <a:rPr sz="1320" b="0" i="0">
                <a:solidFill>
                  <a:srgbClr val="D8E3EC"/>
                </a:solidFill>
                <a:latin typeface="Courier New"/>
              </a:rPr>
              <a:t>print(f"{over_limit} above 8.0 m/h")</a:t>
            </a:r>
          </a:p>
        </p:txBody>
      </p:sp>
      <p:sp>
        <p:nvSpPr>
          <p:cNvPr id="7" name="Rounded Rectangle 6"/>
          <p:cNvSpPr/>
          <p:nvPr/>
        </p:nvSpPr>
        <p:spPr>
          <a:xfrm>
            <a:off x="685800" y="5374839"/>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383983"/>
            <a:ext cx="7208215" cy="1336856"/>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Delete the float() and run it. You get a TypeError about adding a string to a float — the same error as Week 3, now with a reason: everything read from a file is text. Then move total = 0.0 inside the loop and watch the mean collapse to the last value, with no error at 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When a row is broken</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Real files have bad rows. You have two choices and they are not equally good.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Catching an error, and counting it</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ADD THIS TO YOUR LOOP</a:t>
            </a:r>
          </a:p>
        </p:txBody>
      </p:sp>
      <p:sp>
        <p:nvSpPr>
          <p:cNvPr id="5" name="Rectangle 4"/>
          <p:cNvSpPr/>
          <p:nvPr/>
        </p:nvSpPr>
        <p:spPr>
          <a:xfrm>
            <a:off x="685800" y="1911095"/>
            <a:ext cx="10820095" cy="2700284"/>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407676"/>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        try:</a:t>
            </a:r>
          </a:p>
          <a:p>
            <a:pPr algn="l">
              <a:lnSpc>
                <a:spcPts val="2333"/>
              </a:lnSpc>
              <a:spcAft>
                <a:spcPts val="0"/>
              </a:spcAft>
            </a:pPr>
            <a:r>
              <a:rPr sz="1716" b="0" i="0">
                <a:solidFill>
                  <a:srgbClr val="D8E3EC"/>
                </a:solidFill>
                <a:latin typeface="Courier New"/>
              </a:rPr>
              <a:t>            value = float(row["rate_of_penetration"])</a:t>
            </a:r>
          </a:p>
          <a:p>
            <a:pPr algn="l">
              <a:lnSpc>
                <a:spcPts val="2333"/>
              </a:lnSpc>
              <a:spcAft>
                <a:spcPts val="0"/>
              </a:spcAft>
            </a:pPr>
            <a:r>
              <a:rPr sz="1716" b="0" i="0">
                <a:solidFill>
                  <a:srgbClr val="D8E3EC"/>
                </a:solidFill>
                <a:latin typeface="Courier New"/>
              </a:rPr>
              <a:t>        except ValueError:</a:t>
            </a:r>
          </a:p>
          <a:p>
            <a:pPr algn="l">
              <a:lnSpc>
                <a:spcPts val="2333"/>
              </a:lnSpc>
              <a:spcAft>
                <a:spcPts val="0"/>
              </a:spcAft>
            </a:pPr>
            <a:r>
              <a:rPr sz="1716" b="0" i="0">
                <a:solidFill>
                  <a:srgbClr val="D8E3EC"/>
                </a:solidFill>
                <a:latin typeface="Courier New"/>
              </a:rPr>
              <a:t>            skipped = skipped + 1     # count it, do not hide it</a:t>
            </a:r>
          </a:p>
          <a:p>
            <a:pPr algn="l">
              <a:lnSpc>
                <a:spcPts val="2333"/>
              </a:lnSpc>
              <a:spcAft>
                <a:spcPts val="0"/>
              </a:spcAft>
            </a:pPr>
            <a:r>
              <a:rPr sz="1716" b="0" i="0">
                <a:solidFill>
                  <a:srgbClr val="D8E3EC"/>
                </a:solidFill>
                <a:latin typeface="Courier New"/>
              </a:rPr>
              <a:t>            continue                  # move to the next row</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 and at the end, always report it:</a:t>
            </a:r>
          </a:p>
          <a:p>
            <a:pPr algn="l">
              <a:lnSpc>
                <a:spcPts val="2333"/>
              </a:lnSpc>
              <a:spcAft>
                <a:spcPts val="0"/>
              </a:spcAft>
            </a:pPr>
            <a:r>
              <a:rPr sz="1716" b="0" i="0">
                <a:solidFill>
                  <a:srgbClr val="D8E3EC"/>
                </a:solidFill>
                <a:latin typeface="Courier New"/>
              </a:rPr>
              <a:t>print(f"skipped {skipped} rows that could not be read")</a:t>
            </a:r>
          </a:p>
        </p:txBody>
      </p:sp>
      <p:sp>
        <p:nvSpPr>
          <p:cNvPr id="7" name="Rounded Rectangle 6"/>
          <p:cNvSpPr/>
          <p:nvPr/>
        </p:nvSpPr>
        <p:spPr>
          <a:xfrm>
            <a:off x="685800" y="4830836"/>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4839980"/>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Replace the except body with just 'pass'. It runs, no error, and you have silently thrown away an unknown number of rows. Your mean is now computed on a subset you cannot describe. This is worse than crashing.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PRACTICAL — 30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Practical: build a reading report</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What to build</a:t>
            </a:r>
          </a:p>
        </p:txBody>
      </p:sp>
      <p:sp>
        <p:nvSpPr>
          <p:cNvPr id="5" name="TextBox 4"/>
          <p:cNvSpPr txBox="1"/>
          <p:nvPr/>
        </p:nvSpPr>
        <p:spPr>
          <a:xfrm>
            <a:off x="685800" y="2409332"/>
            <a:ext cx="5204307" cy="766546"/>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A script that reads drill_shift_log.csv and reports:</a:t>
            </a:r>
          </a:p>
        </p:txBody>
      </p:sp>
      <p:sp>
        <p:nvSpPr>
          <p:cNvPr id="6" name="TextBox 5"/>
          <p:cNvSpPr txBox="1"/>
          <p:nvPr/>
        </p:nvSpPr>
        <p:spPr>
          <a:xfrm>
            <a:off x="685800" y="3230742"/>
            <a:ext cx="5204307" cy="1126959"/>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mean rate of penetration per bit type; total downtime per reason code; and the number of rows skipped because a field was blank</a:t>
            </a:r>
          </a:p>
        </p:txBody>
      </p:sp>
      <p:sp>
        <p:nvSpPr>
          <p:cNvPr id="7" name="TextBox 6"/>
          <p:cNvSpPr txBox="1"/>
          <p:nvPr/>
        </p:nvSpPr>
        <p:spPr>
          <a:xfrm>
            <a:off x="685800" y="4412565"/>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CORE: it runs, and the numbers are right.</a:t>
            </a:r>
          </a:p>
        </p:txBody>
      </p:sp>
      <p:sp>
        <p:nvSpPr>
          <p:cNvPr id="8" name="TextBox 7"/>
          <p:cNvSpPr txBox="1"/>
          <p:nvPr/>
        </p:nvSpPr>
        <p:spPr>
          <a:xfrm>
            <a:off x="685800" y="4873562"/>
            <a:ext cx="5204307" cy="1126959"/>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STRETCH: survive a file with a blank line, a stray unit in a numeric column, and a duplicated header row — which is exactly what Week 6 formalises.</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file you are given</a:t>
            </a:r>
          </a:p>
        </p:txBody>
      </p:sp>
      <p:sp>
        <p:nvSpPr>
          <p:cNvPr id="11" name="TextBox 10"/>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drill_shift_log.csv 300 rows.</a:t>
            </a:r>
          </a:p>
        </p:txBody>
      </p:sp>
      <p:sp>
        <p:nvSpPr>
          <p:cNvPr id="12" name="TextBox 11"/>
          <p:cNvSpPr txBox="1"/>
          <p:nvPr/>
        </p:nvSpPr>
        <p:spPr>
          <a:xfrm>
            <a:off x="6575907" y="3025401"/>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Columns: hole_id depth_m rate_of_penetration bit_type operator_id downtime_min downtime_reason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Decomposing a question before you write any code</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You are about to be handed a file and told to find something interesting. That is not a coding problem, it is a thinking problem, and this is the routine.</a:t>
            </a:r>
          </a:p>
        </p:txBody>
      </p:sp>
      <p:sp>
        <p:nvSpPr>
          <p:cNvPr id="5" name="Rounded Rectangle 4"/>
          <p:cNvSpPr/>
          <p:nvPr/>
        </p:nvSpPr>
        <p:spPr>
          <a:xfrm>
            <a:off x="685800" y="27323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Read the column names and say out loud what each one probably is, and in what unit. If you cannot guess, that column is your first question.</a:t>
            </a:r>
          </a:p>
        </p:txBody>
      </p:sp>
      <p:sp>
        <p:nvSpPr>
          <p:cNvPr id="8" name="Rounded Rectangle 7"/>
          <p:cNvSpPr/>
          <p:nvPr/>
        </p:nvSpPr>
        <p:spPr>
          <a:xfrm>
            <a:off x="685800" y="31895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2444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2352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Ask what this file is a record OF. Somebody collected it for a reason — what decision was it collected to support?</a:t>
            </a:r>
          </a:p>
        </p:txBody>
      </p:sp>
      <p:sp>
        <p:nvSpPr>
          <p:cNvPr id="11" name="Rounded Rectangle 10"/>
          <p:cNvSpPr/>
          <p:nvPr/>
        </p:nvSpPr>
        <p:spPr>
          <a:xfrm>
            <a:off x="685800" y="36467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7016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6924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Pick one column you could imagine an engineer caring about, and say why you picked it.</a:t>
            </a:r>
          </a:p>
        </p:txBody>
      </p:sp>
      <p:sp>
        <p:nvSpPr>
          <p:cNvPr id="14" name="Rounded Rectangle 13"/>
          <p:cNvSpPr/>
          <p:nvPr/>
        </p:nvSpPr>
        <p:spPr>
          <a:xfrm>
            <a:off x="685800" y="4103947"/>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1588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149667"/>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Ask the smallest possible question about it: what is its range, and does anything look impossible? Answer that before anything ambitious.</a:t>
            </a:r>
          </a:p>
        </p:txBody>
      </p:sp>
      <p:sp>
        <p:nvSpPr>
          <p:cNvPr id="17" name="Rounded Rectangle 16"/>
          <p:cNvSpPr/>
          <p:nvPr/>
        </p:nvSpPr>
        <p:spPr>
          <a:xfrm>
            <a:off x="685800" y="4561147"/>
            <a:ext cx="10820095" cy="60678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6160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606867"/>
            <a:ext cx="9814255" cy="515345"/>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Now ask a comparison question: does that column differ between groups — between machines, operators, dates, materials? Comparisons are where findings live.</a:t>
            </a:r>
          </a:p>
        </p:txBody>
      </p:sp>
      <p:sp>
        <p:nvSpPr>
          <p:cNvPr id="20" name="Rounded Rectangle 19"/>
          <p:cNvSpPr/>
          <p:nvPr/>
        </p:nvSpPr>
        <p:spPr>
          <a:xfrm>
            <a:off x="685800" y="5222796"/>
            <a:ext cx="10820095" cy="40233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5256" y="527766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22" name="TextBox 21"/>
          <p:cNvSpPr txBox="1"/>
          <p:nvPr/>
        </p:nvSpPr>
        <p:spPr>
          <a:xfrm>
            <a:off x="1435607" y="5268516"/>
            <a:ext cx="9814255" cy="310896"/>
          </a:xfrm>
          <a:prstGeom prst="rect">
            <a:avLst/>
          </a:prstGeom>
          <a:noFill/>
        </p:spPr>
        <p:txBody>
          <a:bodyPr wrap="square" lIns="0" rIns="0" tIns="0" bIns="0" anchor="t">
            <a:spAutoFit/>
          </a:bodyPr>
          <a:lstStyle/>
          <a:p>
            <a:pPr algn="l">
              <a:lnSpc>
                <a:spcPct val="116000"/>
              </a:lnSpc>
              <a:spcAft>
                <a:spcPts val="600"/>
              </a:spcAft>
            </a:pPr>
            <a:r>
              <a:rPr sz="1254" b="0" i="0">
                <a:solidFill>
                  <a:srgbClr val="1C3144"/>
                </a:solidFill>
                <a:latin typeface="Calibri"/>
              </a:rPr>
              <a:t>Before you believe the answer: could something else explain it? Name one alternative, and say what evidence would rule it out.</a:t>
            </a:r>
          </a:p>
        </p:txBody>
      </p:sp>
      <p:sp>
        <p:nvSpPr>
          <p:cNvPr id="23" name="Rounded Rectangle 22"/>
          <p:cNvSpPr/>
          <p:nvPr/>
        </p:nvSpPr>
        <p:spPr>
          <a:xfrm>
            <a:off x="685800" y="5734860"/>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 y="5872020"/>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Steps 1 to 4 take five minutes and will stop you from spending twenty minutes on the wrong column. Step 6 is the difference between a finding and a coincidence.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Investigation Lab 1 — find something interesting</a:t>
            </a:r>
          </a:p>
        </p:txBody>
      </p:sp>
      <p:sp>
        <p:nvSpPr>
          <p:cNvPr id="4" name="Rounded Rectangle 3"/>
          <p:cNvSpPr/>
          <p:nvPr/>
        </p:nvSpPr>
        <p:spPr>
          <a:xfrm>
            <a:off x="685800" y="1911095"/>
            <a:ext cx="10820095" cy="151790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1152143"/>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Your team gets drill_shift_log.csv — 300 rows, and no column dictionary.</a:t>
            </a:r>
          </a:p>
          <a:p>
            <a:pPr algn="l">
              <a:lnSpc>
                <a:spcPct val="125000"/>
              </a:lnSpc>
              <a:spcAft>
                <a:spcPts val="600"/>
              </a:spcAft>
            </a:pPr>
            <a:r>
              <a:rPr sz="1923" b="0" i="0">
                <a:solidFill>
                  <a:srgbClr val="1C3144"/>
                </a:solidFill>
                <a:latin typeface="Calibri"/>
              </a:rPr>
              <a:t>No suggested method. No worked example. No help from me.</a:t>
            </a:r>
          </a:p>
          <a:p>
            <a:pPr algn="l">
              <a:lnSpc>
                <a:spcPct val="125000"/>
              </a:lnSpc>
              <a:spcAft>
                <a:spcPts val="600"/>
              </a:spcAft>
            </a:pPr>
            <a:r>
              <a:rPr sz="1923" b="0" i="0">
                <a:solidFill>
                  <a:srgbClr val="1C3144"/>
                </a:solidFill>
                <a:latin typeface="Calibri"/>
              </a:rPr>
              <a:t>Twenty-five minutes and one instruction: find something interesting, and be ready to defend it with evidence from the data.</a:t>
            </a:r>
          </a:p>
        </p:txBody>
      </p:sp>
      <p:sp>
        <p:nvSpPr>
          <p:cNvPr id="6" name="TextBox 5"/>
          <p:cNvSpPr txBox="1"/>
          <p:nvPr/>
        </p:nvSpPr>
        <p:spPr>
          <a:xfrm>
            <a:off x="685800" y="373989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416052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are you trying to find?</a:t>
            </a:r>
          </a:p>
        </p:txBody>
      </p:sp>
      <p:sp>
        <p:nvSpPr>
          <p:cNvPr id="8" name="TextBox 7"/>
          <p:cNvSpPr txBox="1"/>
          <p:nvPr/>
        </p:nvSpPr>
        <p:spPr>
          <a:xfrm>
            <a:off x="685800" y="458114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Why did you choose that column?</a:t>
            </a:r>
          </a:p>
        </p:txBody>
      </p:sp>
      <p:sp>
        <p:nvSpPr>
          <p:cNvPr id="9" name="TextBox 8"/>
          <p:cNvSpPr txBox="1"/>
          <p:nvPr/>
        </p:nvSpPr>
        <p:spPr>
          <a:xfrm>
            <a:off x="685800" y="500176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does that number mean physically?</a:t>
            </a:r>
          </a:p>
        </p:txBody>
      </p:sp>
      <p:sp>
        <p:nvSpPr>
          <p:cNvPr id="10" name="TextBox 9"/>
          <p:cNvSpPr txBox="1"/>
          <p:nvPr/>
        </p:nvSpPr>
        <p:spPr>
          <a:xfrm>
            <a:off x="6278727" y="416052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Is that a real pattern or a coincidence?</a:t>
            </a:r>
          </a:p>
        </p:txBody>
      </p:sp>
      <p:sp>
        <p:nvSpPr>
          <p:cNvPr id="11" name="TextBox 10"/>
          <p:cNvSpPr txBox="1"/>
          <p:nvPr/>
        </p:nvSpPr>
        <p:spPr>
          <a:xfrm>
            <a:off x="6278727" y="458114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would change your mind?</a:t>
            </a:r>
          </a:p>
        </p:txBody>
      </p:sp>
      <p:sp>
        <p:nvSpPr>
          <p:cNvPr id="12" name="TextBox 11"/>
          <p:cNvSpPr txBox="1"/>
          <p:nvPr/>
        </p:nvSpPr>
        <p:spPr>
          <a:xfrm>
            <a:off x="6278727" y="500176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is the engineer supposed to DO about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QUIZ AND 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you leave the room</a:t>
            </a:r>
          </a:p>
        </p:txBody>
      </p:sp>
      <p:sp>
        <p:nvSpPr>
          <p:cNvPr id="4" name="Rounded Rectangle 3"/>
          <p:cNvSpPr/>
          <p:nvPr/>
        </p:nvSpPr>
        <p:spPr>
          <a:xfrm>
            <a:off x="685800" y="1911095"/>
            <a:ext cx="10820095" cy="2228649"/>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2416" y="293398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029967"/>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This week's quiz — five minutes, and it counts</a:t>
            </a:r>
          </a:p>
        </p:txBody>
      </p:sp>
      <p:sp>
        <p:nvSpPr>
          <p:cNvPr id="7" name="TextBox 6"/>
          <p:cNvSpPr txBox="1"/>
          <p:nvPr/>
        </p:nvSpPr>
        <p:spPr>
          <a:xfrm>
            <a:off x="1554480" y="2423159"/>
            <a:ext cx="9631375" cy="1625145"/>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Five questions on this session. QR code on the screen, answers on your phone, score and an explanation immediately. Worth one per cent. There are twelve across the semester and the best ten count, so a missed session costs you nothing and there are no resits to arrange.</a:t>
            </a:r>
          </a:p>
        </p:txBody>
      </p:sp>
      <p:sp>
        <p:nvSpPr>
          <p:cNvPr id="8" name="Rounded Rectangle 7"/>
          <p:cNvSpPr/>
          <p:nvPr/>
        </p:nvSpPr>
        <p:spPr>
          <a:xfrm>
            <a:off x="685800" y="4377489"/>
            <a:ext cx="10820095" cy="1913582"/>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2416" y="524284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4496361"/>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A4 — due at the start of Week 5</a:t>
            </a:r>
          </a:p>
        </p:txBody>
      </p:sp>
      <p:sp>
        <p:nvSpPr>
          <p:cNvPr id="11" name="TextBox 10"/>
          <p:cNvSpPr txBox="1"/>
          <p:nvPr/>
        </p:nvSpPr>
        <p:spPr>
          <a:xfrm>
            <a:off x="1554480" y="4889553"/>
            <a:ext cx="9631375" cy="1310078"/>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Your reading report script, including the skipped-row count, plus 150 words on the most interesting thing you found in the Investigation Lab and why an engineer should care about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MODULE SUMMARY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should take away</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677230"/>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A list holds values in order and is accessed by position, counting from zero. A dictionary holds them by label. Most engineering records are dictionaries.</a:t>
            </a:r>
          </a:p>
        </p:txBody>
      </p:sp>
      <p:sp>
        <p:nvSpPr>
          <p:cNvPr id="6" name="Oval 5"/>
          <p:cNvSpPr/>
          <p:nvPr/>
        </p:nvSpPr>
        <p:spPr>
          <a:xfrm>
            <a:off x="685800" y="268891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634046"/>
            <a:ext cx="10271455" cy="677230"/>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The accumulator pattern has three positions: start at zero before the loop, add inside it, use the result after it. Getting the first one wrong is silent.</a:t>
            </a:r>
          </a:p>
        </p:txBody>
      </p:sp>
      <p:sp>
        <p:nvSpPr>
          <p:cNvPr id="8" name="Oval 7"/>
          <p:cNvSpPr/>
          <p:nvPr/>
        </p:nvSpPr>
        <p:spPr>
          <a:xfrm>
            <a:off x="685800" y="34118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356996"/>
            <a:ext cx="10271455" cy="677230"/>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Everything read from a file arrives as text. float() or int() converts it, and forgetting to is the TypeError you met in Week 3.</a:t>
            </a:r>
          </a:p>
        </p:txBody>
      </p:sp>
      <p:sp>
        <p:nvSpPr>
          <p:cNvPr id="10" name="Oval 9"/>
          <p:cNvSpPr/>
          <p:nvPr/>
        </p:nvSpPr>
        <p:spPr>
          <a:xfrm>
            <a:off x="685800" y="413481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79946"/>
            <a:ext cx="10271455" cy="388907"/>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csv.DictReader gives each row as a dictionary keyed by the column headings.</a:t>
            </a:r>
          </a:p>
        </p:txBody>
      </p:sp>
      <p:sp>
        <p:nvSpPr>
          <p:cNvPr id="12" name="Oval 11"/>
          <p:cNvSpPr/>
          <p:nvPr/>
        </p:nvSpPr>
        <p:spPr>
          <a:xfrm>
            <a:off x="685800" y="456943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514573"/>
            <a:ext cx="10271455" cy="677230"/>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try and except let you survive a bad row — but count what you skipped and report the count. 'except: pass' throws away data you cannot describe.</a:t>
            </a:r>
          </a:p>
        </p:txBody>
      </p:sp>
      <p:sp>
        <p:nvSpPr>
          <p:cNvPr id="14" name="Oval 13"/>
          <p:cNvSpPr/>
          <p:nvPr/>
        </p:nvSpPr>
        <p:spPr>
          <a:xfrm>
            <a:off x="685800" y="529238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37523"/>
            <a:ext cx="10271455" cy="388907"/>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Crash rather than catch when the error means your assumption about the file is wrong.</a:t>
            </a:r>
          </a:p>
        </p:txBody>
      </p:sp>
      <p:sp>
        <p:nvSpPr>
          <p:cNvPr id="16" name="Oval 15"/>
          <p:cNvSpPr/>
          <p:nvPr/>
        </p:nvSpPr>
        <p:spPr>
          <a:xfrm>
            <a:off x="685800" y="5727014"/>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672150"/>
            <a:ext cx="10271455" cy="677230"/>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Given a file and no instructions, the method is: decide what you are looking for, choose a column and say why, check whether the pattern is real, and say what would change your mind.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write something for each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total 300 readings and the total comes out at 41.7, while a single typical reading is about 40. What has almost certainly happened?</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loop crashes on row 84 with a ValueError. Give one good reason to catch it and one good reason not to.</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row["value"] give you text rather than a number, when the file clearly contains numbers?</a:t>
            </a:r>
          </a:p>
        </p:txBody>
      </p:sp>
      <p:sp>
        <p:nvSpPr>
          <p:cNvPr id="10" name="Oval 9"/>
          <p:cNvSpPr/>
          <p:nvPr/>
        </p:nvSpPr>
        <p:spPr>
          <a:xfrm>
            <a:off x="685800" y="4275119"/>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4238543"/>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skipped 40 of 300 rows and reported a mean. What is wrong with the sentence 'the mean reading is 41.2'?</a:t>
            </a:r>
          </a:p>
        </p:txBody>
      </p:sp>
      <p:sp>
        <p:nvSpPr>
          <p:cNvPr id="12" name="Oval 11"/>
          <p:cNvSpPr/>
          <p:nvPr/>
        </p:nvSpPr>
        <p:spPr>
          <a:xfrm>
            <a:off x="685800" y="516952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5132946"/>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In the Investigation Lab you found a pattern. What is the minimum you must be able to say before you call it a finding?</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386" b="1" i="0">
                <a:solidFill>
                  <a:srgbClr val="6B7A8A"/>
                </a:solidFill>
                <a:latin typeface="Calibri"/>
              </a:rPr>
              <a:t>Total of 41.7 for 300 readings?</a:t>
            </a:r>
          </a:p>
        </p:txBody>
      </p:sp>
      <p:sp>
        <p:nvSpPr>
          <p:cNvPr id="6" name="TextBox 5"/>
          <p:cNvSpPr txBox="1"/>
          <p:nvPr/>
        </p:nvSpPr>
        <p:spPr>
          <a:xfrm>
            <a:off x="1216152" y="2203703"/>
            <a:ext cx="4614519" cy="1181021"/>
          </a:xfrm>
          <a:prstGeom prst="rect">
            <a:avLst/>
          </a:prstGeom>
          <a:noFill/>
        </p:spPr>
        <p:txBody>
          <a:bodyPr wrap="square" lIns="0" rIns="0" tIns="0" bIns="0" anchor="t">
            <a:spAutoFit/>
          </a:bodyPr>
          <a:lstStyle/>
          <a:p>
            <a:pPr algn="l">
              <a:lnSpc>
                <a:spcPct val="120000"/>
              </a:lnSpc>
              <a:spcAft>
                <a:spcPts val="600"/>
              </a:spcAft>
            </a:pPr>
            <a:r>
              <a:rPr sz="1386" b="0" i="0">
                <a:solidFill>
                  <a:srgbClr val="2A3B4A"/>
                </a:solidFill>
                <a:latin typeface="Calibri"/>
              </a:rPr>
              <a:t>total = 0 is inside the loop instead of before it, so it resets every time round and holds only the last value. The tell is that a total of hundreds of readings looks like one reading.</a:t>
            </a:r>
          </a:p>
        </p:txBody>
      </p:sp>
      <p:sp>
        <p:nvSpPr>
          <p:cNvPr id="7" name="Oval 6"/>
          <p:cNvSpPr/>
          <p:nvPr/>
        </p:nvSpPr>
        <p:spPr>
          <a:xfrm>
            <a:off x="685800" y="3457877"/>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21301"/>
            <a:ext cx="4614519" cy="274320"/>
          </a:xfrm>
          <a:prstGeom prst="rect">
            <a:avLst/>
          </a:prstGeom>
          <a:noFill/>
        </p:spPr>
        <p:txBody>
          <a:bodyPr wrap="square" lIns="0" rIns="0" tIns="0" bIns="0" anchor="t">
            <a:spAutoFit/>
          </a:bodyPr>
          <a:lstStyle/>
          <a:p>
            <a:pPr algn="l">
              <a:spcAft>
                <a:spcPts val="600"/>
              </a:spcAft>
            </a:pPr>
            <a:r>
              <a:rPr sz="1386" b="1" i="0">
                <a:solidFill>
                  <a:srgbClr val="6B7A8A"/>
                </a:solidFill>
                <a:latin typeface="Calibri"/>
              </a:rPr>
              <a:t>Catch it, or not?</a:t>
            </a:r>
          </a:p>
        </p:txBody>
      </p:sp>
      <p:sp>
        <p:nvSpPr>
          <p:cNvPr id="9" name="TextBox 8"/>
          <p:cNvSpPr txBox="1"/>
          <p:nvPr/>
        </p:nvSpPr>
        <p:spPr>
          <a:xfrm>
            <a:off x="1216152" y="3713909"/>
            <a:ext cx="4614519" cy="1444273"/>
          </a:xfrm>
          <a:prstGeom prst="rect">
            <a:avLst/>
          </a:prstGeom>
          <a:noFill/>
        </p:spPr>
        <p:txBody>
          <a:bodyPr wrap="square" lIns="0" rIns="0" tIns="0" bIns="0" anchor="t">
            <a:spAutoFit/>
          </a:bodyPr>
          <a:lstStyle/>
          <a:p>
            <a:pPr algn="l">
              <a:lnSpc>
                <a:spcPct val="120000"/>
              </a:lnSpc>
              <a:spcAft>
                <a:spcPts val="600"/>
              </a:spcAft>
            </a:pPr>
            <a:r>
              <a:rPr sz="1386" b="0" i="0">
                <a:solidFill>
                  <a:srgbClr val="2A3B4A"/>
                </a:solidFill>
                <a:latin typeface="Calibri"/>
              </a:rPr>
              <a:t>Catch it if one malformed row in three hundred should not stop the run — count it and report it. Do NOT catch it if the failure means your assumption is wrong: if every row fails you have the wrong file or the wrong column name, and crashing tells you that immediately.</a:t>
            </a:r>
          </a:p>
        </p:txBody>
      </p:sp>
      <p:sp>
        <p:nvSpPr>
          <p:cNvPr id="10" name="Oval 9"/>
          <p:cNvSpPr/>
          <p:nvPr/>
        </p:nvSpPr>
        <p:spPr>
          <a:xfrm>
            <a:off x="685800" y="523133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5194759"/>
            <a:ext cx="4614519" cy="274320"/>
          </a:xfrm>
          <a:prstGeom prst="rect">
            <a:avLst/>
          </a:prstGeom>
          <a:noFill/>
        </p:spPr>
        <p:txBody>
          <a:bodyPr wrap="square" lIns="0" rIns="0" tIns="0" bIns="0" anchor="t">
            <a:spAutoFit/>
          </a:bodyPr>
          <a:lstStyle/>
          <a:p>
            <a:pPr algn="l">
              <a:spcAft>
                <a:spcPts val="600"/>
              </a:spcAft>
            </a:pPr>
            <a:r>
              <a:rPr sz="1386" b="1" i="0">
                <a:solidFill>
                  <a:srgbClr val="6B7A8A"/>
                </a:solidFill>
                <a:latin typeface="Calibri"/>
              </a:rPr>
              <a:t>Why is row["value"] text?</a:t>
            </a:r>
          </a:p>
        </p:txBody>
      </p:sp>
      <p:sp>
        <p:nvSpPr>
          <p:cNvPr id="12" name="TextBox 11"/>
          <p:cNvSpPr txBox="1"/>
          <p:nvPr/>
        </p:nvSpPr>
        <p:spPr>
          <a:xfrm>
            <a:off x="1216152" y="5487367"/>
            <a:ext cx="4614519" cy="917770"/>
          </a:xfrm>
          <a:prstGeom prst="rect">
            <a:avLst/>
          </a:prstGeom>
          <a:noFill/>
        </p:spPr>
        <p:txBody>
          <a:bodyPr wrap="square" lIns="0" rIns="0" tIns="0" bIns="0" anchor="t">
            <a:spAutoFit/>
          </a:bodyPr>
          <a:lstStyle/>
          <a:p>
            <a:pPr algn="l">
              <a:lnSpc>
                <a:spcPct val="120000"/>
              </a:lnSpc>
              <a:spcAft>
                <a:spcPts val="600"/>
              </a:spcAft>
            </a:pPr>
            <a:r>
              <a:rPr sz="1386" b="0" i="0">
                <a:solidFill>
                  <a:srgbClr val="2A3B4A"/>
                </a:solidFill>
                <a:latin typeface="Calibri"/>
              </a:rPr>
              <a:t>Because a file stores characters. It has no type information at all. Python hands you exactly what is written there and leaves the conversion to you.</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386" b="1" i="0">
                <a:solidFill>
                  <a:srgbClr val="6B7A8A"/>
                </a:solidFill>
                <a:latin typeface="Calibri"/>
              </a:rPr>
              <a:t>Skipped 40 of 300?</a:t>
            </a:r>
          </a:p>
        </p:txBody>
      </p:sp>
      <p:sp>
        <p:nvSpPr>
          <p:cNvPr id="15" name="TextBox 14"/>
          <p:cNvSpPr txBox="1"/>
          <p:nvPr/>
        </p:nvSpPr>
        <p:spPr>
          <a:xfrm>
            <a:off x="6854799" y="2203703"/>
            <a:ext cx="4614519" cy="1181021"/>
          </a:xfrm>
          <a:prstGeom prst="rect">
            <a:avLst/>
          </a:prstGeom>
          <a:noFill/>
        </p:spPr>
        <p:txBody>
          <a:bodyPr wrap="square" lIns="0" rIns="0" tIns="0" bIns="0" anchor="t">
            <a:spAutoFit/>
          </a:bodyPr>
          <a:lstStyle/>
          <a:p>
            <a:pPr algn="l">
              <a:lnSpc>
                <a:spcPct val="120000"/>
              </a:lnSpc>
              <a:spcAft>
                <a:spcPts val="600"/>
              </a:spcAft>
            </a:pPr>
            <a:r>
              <a:rPr sz="1386" b="0" i="0">
                <a:solidFill>
                  <a:srgbClr val="2A3B4A"/>
                </a:solidFill>
                <a:latin typeface="Calibri"/>
              </a:rPr>
              <a:t>It is the mean of 260 readings, not 300, and you cannot describe the 40 you dropped — they may all be the extreme ones. State the count and the proportion every time: 'mean 41.2 over 260 of 300 rows; 40 rows could not be read.'</a:t>
            </a:r>
          </a:p>
        </p:txBody>
      </p:sp>
      <p:sp>
        <p:nvSpPr>
          <p:cNvPr id="16" name="Oval 15"/>
          <p:cNvSpPr/>
          <p:nvPr/>
        </p:nvSpPr>
        <p:spPr>
          <a:xfrm>
            <a:off x="6324447" y="3457877"/>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421301"/>
            <a:ext cx="4614519" cy="274320"/>
          </a:xfrm>
          <a:prstGeom prst="rect">
            <a:avLst/>
          </a:prstGeom>
          <a:noFill/>
        </p:spPr>
        <p:txBody>
          <a:bodyPr wrap="square" lIns="0" rIns="0" tIns="0" bIns="0" anchor="t">
            <a:spAutoFit/>
          </a:bodyPr>
          <a:lstStyle/>
          <a:p>
            <a:pPr algn="l">
              <a:spcAft>
                <a:spcPts val="600"/>
              </a:spcAft>
            </a:pPr>
            <a:r>
              <a:rPr sz="1386" b="1" i="0">
                <a:solidFill>
                  <a:srgbClr val="6B7A8A"/>
                </a:solidFill>
                <a:latin typeface="Calibri"/>
              </a:rPr>
              <a:t>Minimum before calling it a finding?</a:t>
            </a:r>
          </a:p>
        </p:txBody>
      </p:sp>
      <p:sp>
        <p:nvSpPr>
          <p:cNvPr id="18" name="TextBox 17"/>
          <p:cNvSpPr txBox="1"/>
          <p:nvPr/>
        </p:nvSpPr>
        <p:spPr>
          <a:xfrm>
            <a:off x="6854799" y="3713909"/>
            <a:ext cx="4614519" cy="917770"/>
          </a:xfrm>
          <a:prstGeom prst="rect">
            <a:avLst/>
          </a:prstGeom>
          <a:noFill/>
        </p:spPr>
        <p:txBody>
          <a:bodyPr wrap="square" lIns="0" rIns="0" tIns="0" bIns="0" anchor="t">
            <a:spAutoFit/>
          </a:bodyPr>
          <a:lstStyle/>
          <a:p>
            <a:pPr algn="l">
              <a:lnSpc>
                <a:spcPct val="120000"/>
              </a:lnSpc>
              <a:spcAft>
                <a:spcPts val="600"/>
              </a:spcAft>
            </a:pPr>
            <a:r>
              <a:rPr sz="1386" b="0" i="0">
                <a:solidFill>
                  <a:srgbClr val="2A3B4A"/>
                </a:solidFill>
                <a:latin typeface="Calibri"/>
              </a:rPr>
              <a:t>What you looked at, what the pattern is in physical terms, what else could explain it, and what would change your mind. Without the last two you have a coincidence.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a:t>
            </a:r>
          </a:p>
        </p:txBody>
      </p:sp>
      <p:sp>
        <p:nvSpPr>
          <p:cNvPr id="4" name="TextBox 3"/>
          <p:cNvSpPr txBox="1"/>
          <p:nvPr/>
        </p:nvSpPr>
        <p:spPr>
          <a:xfrm>
            <a:off x="685800"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List</a:t>
            </a:r>
          </a:p>
        </p:txBody>
      </p:sp>
      <p:sp>
        <p:nvSpPr>
          <p:cNvPr id="5" name="TextBox 4"/>
          <p:cNvSpPr txBox="1"/>
          <p:nvPr/>
        </p:nvSpPr>
        <p:spPr>
          <a:xfrm>
            <a:off x="685800"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An ordered sequence in square brackets. Accessed by position, counting from zero.</a:t>
            </a:r>
          </a:p>
        </p:txBody>
      </p:sp>
      <p:sp>
        <p:nvSpPr>
          <p:cNvPr id="6" name="TextBox 5"/>
          <p:cNvSpPr txBox="1"/>
          <p:nvPr/>
        </p:nvSpPr>
        <p:spPr>
          <a:xfrm>
            <a:off x="685800"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Dictionary (dict)</a:t>
            </a:r>
          </a:p>
        </p:txBody>
      </p:sp>
      <p:sp>
        <p:nvSpPr>
          <p:cNvPr id="7" name="TextBox 6"/>
          <p:cNvSpPr txBox="1"/>
          <p:nvPr/>
        </p:nvSpPr>
        <p:spPr>
          <a:xfrm>
            <a:off x="685800" y="25297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Labels mapped to values, in curly braces. Accessed by label.</a:t>
            </a:r>
          </a:p>
        </p:txBody>
      </p:sp>
      <p:sp>
        <p:nvSpPr>
          <p:cNvPr id="8" name="TextBox 7"/>
          <p:cNvSpPr txBox="1"/>
          <p:nvPr/>
        </p:nvSpPr>
        <p:spPr>
          <a:xfrm>
            <a:off x="685800" y="277977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Index</a:t>
            </a:r>
          </a:p>
        </p:txBody>
      </p:sp>
      <p:sp>
        <p:nvSpPr>
          <p:cNvPr id="9" name="TextBox 8"/>
          <p:cNvSpPr txBox="1"/>
          <p:nvPr/>
        </p:nvSpPr>
        <p:spPr>
          <a:xfrm>
            <a:off x="685800" y="29641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position or label used to get one item out.</a:t>
            </a:r>
          </a:p>
        </p:txBody>
      </p:sp>
      <p:sp>
        <p:nvSpPr>
          <p:cNvPr id="10" name="TextBox 9"/>
          <p:cNvSpPr txBox="1"/>
          <p:nvPr/>
        </p:nvSpPr>
        <p:spPr>
          <a:xfrm>
            <a:off x="685800" y="321411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IndexError</a:t>
            </a:r>
          </a:p>
        </p:txBody>
      </p:sp>
      <p:sp>
        <p:nvSpPr>
          <p:cNvPr id="11" name="TextBox 10"/>
          <p:cNvSpPr txBox="1"/>
          <p:nvPr/>
        </p:nvSpPr>
        <p:spPr>
          <a:xfrm>
            <a:off x="685800" y="33984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You asked a list for a position it does not have.</a:t>
            </a:r>
          </a:p>
        </p:txBody>
      </p:sp>
      <p:sp>
        <p:nvSpPr>
          <p:cNvPr id="12" name="TextBox 11"/>
          <p:cNvSpPr txBox="1"/>
          <p:nvPr/>
        </p:nvSpPr>
        <p:spPr>
          <a:xfrm>
            <a:off x="685800" y="364845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KeyError</a:t>
            </a:r>
          </a:p>
        </p:txBody>
      </p:sp>
      <p:sp>
        <p:nvSpPr>
          <p:cNvPr id="13" name="TextBox 12"/>
          <p:cNvSpPr txBox="1"/>
          <p:nvPr/>
        </p:nvSpPr>
        <p:spPr>
          <a:xfrm>
            <a:off x="685800" y="383279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You asked a dictionary for a label it does not have. Usually a typo in a column name.</a:t>
            </a:r>
          </a:p>
        </p:txBody>
      </p:sp>
      <p:sp>
        <p:nvSpPr>
          <p:cNvPr id="14" name="TextBox 13"/>
          <p:cNvSpPr txBox="1"/>
          <p:nvPr/>
        </p:nvSpPr>
        <p:spPr>
          <a:xfrm>
            <a:off x="685800" y="408279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Loop (for)</a:t>
            </a:r>
          </a:p>
        </p:txBody>
      </p:sp>
      <p:sp>
        <p:nvSpPr>
          <p:cNvPr id="15" name="TextBox 14"/>
          <p:cNvSpPr txBox="1"/>
          <p:nvPr/>
        </p:nvSpPr>
        <p:spPr>
          <a:xfrm>
            <a:off x="685800" y="42671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Do the same thing to every item in a collection.</a:t>
            </a:r>
          </a:p>
        </p:txBody>
      </p:sp>
      <p:sp>
        <p:nvSpPr>
          <p:cNvPr id="16" name="TextBox 15"/>
          <p:cNvSpPr txBox="1"/>
          <p:nvPr/>
        </p:nvSpPr>
        <p:spPr>
          <a:xfrm>
            <a:off x="685800" y="45171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Accumulator</a:t>
            </a:r>
          </a:p>
        </p:txBody>
      </p:sp>
      <p:sp>
        <p:nvSpPr>
          <p:cNvPr id="17" name="TextBox 16"/>
          <p:cNvSpPr txBox="1"/>
          <p:nvPr/>
        </p:nvSpPr>
        <p:spPr>
          <a:xfrm>
            <a:off x="685800" y="47014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variable that builds up a result across a loop. Start it BEFORE the loop.</a:t>
            </a:r>
          </a:p>
        </p:txBody>
      </p:sp>
      <p:sp>
        <p:nvSpPr>
          <p:cNvPr id="18" name="TextBox 17"/>
          <p:cNvSpPr txBox="1"/>
          <p:nvPr/>
        </p:nvSpPr>
        <p:spPr>
          <a:xfrm>
            <a:off x="685800" y="495147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Iteration</a:t>
            </a:r>
          </a:p>
        </p:txBody>
      </p:sp>
      <p:sp>
        <p:nvSpPr>
          <p:cNvPr id="19" name="TextBox 18"/>
          <p:cNvSpPr txBox="1"/>
          <p:nvPr/>
        </p:nvSpPr>
        <p:spPr>
          <a:xfrm>
            <a:off x="685800" y="51358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One pass through the loop body.</a:t>
            </a:r>
          </a:p>
        </p:txBody>
      </p:sp>
      <p:sp>
        <p:nvSpPr>
          <p:cNvPr id="20" name="TextBox 19"/>
          <p:cNvSpPr txBox="1"/>
          <p:nvPr/>
        </p:nvSpPr>
        <p:spPr>
          <a:xfrm>
            <a:off x="685800" y="538581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open() and with</a:t>
            </a:r>
          </a:p>
        </p:txBody>
      </p:sp>
      <p:sp>
        <p:nvSpPr>
          <p:cNvPr id="21" name="TextBox 20"/>
          <p:cNvSpPr txBox="1"/>
          <p:nvPr/>
        </p:nvSpPr>
        <p:spPr>
          <a:xfrm>
            <a:off x="685800" y="55701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Open a file. The with block closes it for you, even if something fails inside.</a:t>
            </a:r>
          </a:p>
        </p:txBody>
      </p:sp>
      <p:sp>
        <p:nvSpPr>
          <p:cNvPr id="22" name="TextBox 21"/>
          <p:cNvSpPr txBox="1"/>
          <p:nvPr/>
        </p:nvSpPr>
        <p:spPr>
          <a:xfrm>
            <a:off x="6324447"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csv.DictReader</a:t>
            </a:r>
          </a:p>
        </p:txBody>
      </p:sp>
      <p:sp>
        <p:nvSpPr>
          <p:cNvPr id="23" name="TextBox 22"/>
          <p:cNvSpPr txBox="1"/>
          <p:nvPr/>
        </p:nvSpPr>
        <p:spPr>
          <a:xfrm>
            <a:off x="6324447"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Reads a CSV, giving each row as a dictionary keyed by the column headings.</a:t>
            </a:r>
          </a:p>
        </p:txBody>
      </p:sp>
      <p:sp>
        <p:nvSpPr>
          <p:cNvPr id="24" name="TextBox 23"/>
          <p:cNvSpPr txBox="1"/>
          <p:nvPr/>
        </p:nvSpPr>
        <p:spPr>
          <a:xfrm>
            <a:off x="6324447"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float() / int()</a:t>
            </a:r>
          </a:p>
        </p:txBody>
      </p:sp>
      <p:sp>
        <p:nvSpPr>
          <p:cNvPr id="25" name="TextBox 24"/>
          <p:cNvSpPr txBox="1"/>
          <p:nvPr/>
        </p:nvSpPr>
        <p:spPr>
          <a:xfrm>
            <a:off x="6324447" y="25297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Convert text to a number. Everything read from a file needs this.</a:t>
            </a:r>
          </a:p>
        </p:txBody>
      </p:sp>
      <p:sp>
        <p:nvSpPr>
          <p:cNvPr id="26" name="TextBox 25"/>
          <p:cNvSpPr txBox="1"/>
          <p:nvPr/>
        </p:nvSpPr>
        <p:spPr>
          <a:xfrm>
            <a:off x="6324447" y="277977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ValueError</a:t>
            </a:r>
          </a:p>
        </p:txBody>
      </p:sp>
      <p:sp>
        <p:nvSpPr>
          <p:cNvPr id="27" name="TextBox 26"/>
          <p:cNvSpPr txBox="1"/>
          <p:nvPr/>
        </p:nvSpPr>
        <p:spPr>
          <a:xfrm>
            <a:off x="6324447" y="29641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right type of operation on a value it cannot handle — float("abc").</a:t>
            </a:r>
          </a:p>
        </p:txBody>
      </p:sp>
      <p:sp>
        <p:nvSpPr>
          <p:cNvPr id="28" name="TextBox 27"/>
          <p:cNvSpPr txBox="1"/>
          <p:nvPr/>
        </p:nvSpPr>
        <p:spPr>
          <a:xfrm>
            <a:off x="6324447" y="321411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TypeError</a:t>
            </a:r>
          </a:p>
        </p:txBody>
      </p:sp>
      <p:sp>
        <p:nvSpPr>
          <p:cNvPr id="29" name="TextBox 28"/>
          <p:cNvSpPr txBox="1"/>
          <p:nvPr/>
        </p:nvSpPr>
        <p:spPr>
          <a:xfrm>
            <a:off x="6324447" y="33984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An operation the type does not allow — "12" + 3.</a:t>
            </a:r>
          </a:p>
        </p:txBody>
      </p:sp>
      <p:sp>
        <p:nvSpPr>
          <p:cNvPr id="30" name="TextBox 29"/>
          <p:cNvSpPr txBox="1"/>
          <p:nvPr/>
        </p:nvSpPr>
        <p:spPr>
          <a:xfrm>
            <a:off x="6324447" y="364845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try / except</a:t>
            </a:r>
          </a:p>
        </p:txBody>
      </p:sp>
      <p:sp>
        <p:nvSpPr>
          <p:cNvPr id="31" name="TextBox 30"/>
          <p:cNvSpPr txBox="1"/>
          <p:nvPr/>
        </p:nvSpPr>
        <p:spPr>
          <a:xfrm>
            <a:off x="6324447" y="383279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Attempt something; if it raises a named error, handle it instead of stopping.</a:t>
            </a:r>
          </a:p>
        </p:txBody>
      </p:sp>
      <p:sp>
        <p:nvSpPr>
          <p:cNvPr id="32" name="TextBox 31"/>
          <p:cNvSpPr txBox="1"/>
          <p:nvPr/>
        </p:nvSpPr>
        <p:spPr>
          <a:xfrm>
            <a:off x="6324447" y="408279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continue</a:t>
            </a:r>
          </a:p>
        </p:txBody>
      </p:sp>
      <p:sp>
        <p:nvSpPr>
          <p:cNvPr id="33" name="TextBox 32"/>
          <p:cNvSpPr txBox="1"/>
          <p:nvPr/>
        </p:nvSpPr>
        <p:spPr>
          <a:xfrm>
            <a:off x="6324447" y="42671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Skip the rest of this pass and move to the next item.</a:t>
            </a:r>
          </a:p>
        </p:txBody>
      </p:sp>
      <p:sp>
        <p:nvSpPr>
          <p:cNvPr id="34" name="TextBox 33"/>
          <p:cNvSpPr txBox="1"/>
          <p:nvPr/>
        </p:nvSpPr>
        <p:spPr>
          <a:xfrm>
            <a:off x="6324447" y="45171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except: pass</a:t>
            </a:r>
          </a:p>
        </p:txBody>
      </p:sp>
      <p:sp>
        <p:nvSpPr>
          <p:cNvPr id="35" name="TextBox 34"/>
          <p:cNvSpPr txBox="1"/>
          <p:nvPr/>
        </p:nvSpPr>
        <p:spPr>
          <a:xfrm>
            <a:off x="6324447" y="47014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Catching an error and doing nothing. Throws away data you cannot describe. Do not.</a:t>
            </a:r>
          </a:p>
        </p:txBody>
      </p:sp>
      <p:sp>
        <p:nvSpPr>
          <p:cNvPr id="36" name="TextBox 35"/>
          <p:cNvSpPr txBox="1"/>
          <p:nvPr/>
        </p:nvSpPr>
        <p:spPr>
          <a:xfrm>
            <a:off x="6324447" y="495147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Decomposition</a:t>
            </a:r>
          </a:p>
        </p:txBody>
      </p:sp>
      <p:sp>
        <p:nvSpPr>
          <p:cNvPr id="37" name="TextBox 36"/>
          <p:cNvSpPr txBox="1"/>
          <p:nvPr/>
        </p:nvSpPr>
        <p:spPr>
          <a:xfrm>
            <a:off x="6324447" y="51358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Breaking a question into an ordered sequence of steps before writing code.</a:t>
            </a:r>
          </a:p>
        </p:txBody>
      </p:sp>
      <p:sp>
        <p:nvSpPr>
          <p:cNvPr id="38" name="TextBox 37"/>
          <p:cNvSpPr txBox="1"/>
          <p:nvPr/>
        </p:nvSpPr>
        <p:spPr>
          <a:xfrm>
            <a:off x="6324447" y="538581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Evidence</a:t>
            </a:r>
          </a:p>
        </p:txBody>
      </p:sp>
      <p:sp>
        <p:nvSpPr>
          <p:cNvPr id="39" name="TextBox 38"/>
          <p:cNvSpPr txBox="1"/>
          <p:nvPr/>
        </p:nvSpPr>
        <p:spPr>
          <a:xfrm>
            <a:off x="6324447" y="55701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numbers from the data that support your claim. A finding without it is a guess.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CHEAT SHEET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One-page reference — reading a file without pandas</a:t>
            </a:r>
          </a:p>
        </p:txBody>
      </p:sp>
      <p:sp>
        <p:nvSpPr>
          <p:cNvPr id="4" name="TextBox 3"/>
          <p:cNvSpPr txBox="1"/>
          <p:nvPr/>
        </p:nvSpPr>
        <p:spPr>
          <a:xfrm>
            <a:off x="685800" y="1911095"/>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The three positions of an accumulator</a:t>
            </a:r>
          </a:p>
        </p:txBody>
      </p:sp>
      <p:sp>
        <p:nvSpPr>
          <p:cNvPr id="5" name="TextBox 4"/>
          <p:cNvSpPr txBox="1"/>
          <p:nvPr/>
        </p:nvSpPr>
        <p:spPr>
          <a:xfrm>
            <a:off x="685800" y="2298945"/>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total = 0 before the loop. total = total + value inside it. print(total) after it.</a:t>
            </a:r>
          </a:p>
        </p:txBody>
      </p:sp>
      <p:sp>
        <p:nvSpPr>
          <p:cNvPr id="6" name="TextBox 5"/>
          <p:cNvSpPr txBox="1"/>
          <p:nvPr/>
        </p:nvSpPr>
        <p:spPr>
          <a:xfrm>
            <a:off x="685800" y="3126462"/>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Every value from a file is text</a:t>
            </a:r>
          </a:p>
        </p:txBody>
      </p:sp>
      <p:sp>
        <p:nvSpPr>
          <p:cNvPr id="7" name="TextBox 6"/>
          <p:cNvSpPr txBox="1"/>
          <p:nvPr/>
        </p:nvSpPr>
        <p:spPr>
          <a:xfrm>
            <a:off x="685800" y="3514311"/>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float(row["rate_of_penetration"]). Forget it and you get a TypeError.</a:t>
            </a:r>
          </a:p>
        </p:txBody>
      </p:sp>
      <p:sp>
        <p:nvSpPr>
          <p:cNvPr id="8" name="TextBox 7"/>
          <p:cNvSpPr txBox="1"/>
          <p:nvPr/>
        </p:nvSpPr>
        <p:spPr>
          <a:xfrm>
            <a:off x="685800" y="4341828"/>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Always count what you skipped</a:t>
            </a:r>
          </a:p>
        </p:txBody>
      </p:sp>
      <p:sp>
        <p:nvSpPr>
          <p:cNvPr id="9" name="TextBox 8"/>
          <p:cNvSpPr txBox="1"/>
          <p:nvPr/>
        </p:nvSpPr>
        <p:spPr>
          <a:xfrm>
            <a:off x="685800" y="4729677"/>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And always report it, as a count and a proportion. A mean without that is a mean of something you cannot describe.</a:t>
            </a:r>
          </a:p>
        </p:txBody>
      </p:sp>
      <p:sp>
        <p:nvSpPr>
          <p:cNvPr id="10" name="TextBox 9"/>
          <p:cNvSpPr txBox="1"/>
          <p:nvPr/>
        </p:nvSpPr>
        <p:spPr>
          <a:xfrm>
            <a:off x="6347307" y="1911095"/>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Never write except: pass</a:t>
            </a:r>
          </a:p>
        </p:txBody>
      </p:sp>
      <p:sp>
        <p:nvSpPr>
          <p:cNvPr id="11" name="TextBox 10"/>
          <p:cNvSpPr txBox="1"/>
          <p:nvPr/>
        </p:nvSpPr>
        <p:spPr>
          <a:xfrm>
            <a:off x="6347307" y="2298945"/>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Count it, or let it crash. Silence is the one option that is always wrong.</a:t>
            </a:r>
          </a:p>
        </p:txBody>
      </p:sp>
      <p:sp>
        <p:nvSpPr>
          <p:cNvPr id="12" name="TextBox 11"/>
          <p:cNvSpPr txBox="1"/>
          <p:nvPr/>
        </p:nvSpPr>
        <p:spPr>
          <a:xfrm>
            <a:off x="6347307" y="3126462"/>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Sanity-check by magnitude</a:t>
            </a:r>
          </a:p>
        </p:txBody>
      </p:sp>
      <p:sp>
        <p:nvSpPr>
          <p:cNvPr id="13" name="TextBox 12"/>
          <p:cNvSpPr txBox="1"/>
          <p:nvPr/>
        </p:nvSpPr>
        <p:spPr>
          <a:xfrm>
            <a:off x="6347307" y="3514311"/>
            <a:ext cx="5158587" cy="870943"/>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Does the total look like hundreds of readings or like one? Does the mean look like a typical value? That single check catches the accumulator bug every time.</a:t>
            </a:r>
          </a:p>
        </p:txBody>
      </p:sp>
      <p:sp>
        <p:nvSpPr>
          <p:cNvPr id="14" name="TextBox 13"/>
          <p:cNvSpPr txBox="1"/>
          <p:nvPr/>
        </p:nvSpPr>
        <p:spPr>
          <a:xfrm>
            <a:off x="6347307" y="4613854"/>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Given a file and no instructions</a:t>
            </a:r>
          </a:p>
        </p:txBody>
      </p:sp>
      <p:sp>
        <p:nvSpPr>
          <p:cNvPr id="15" name="TextBox 14"/>
          <p:cNvSpPr txBox="1"/>
          <p:nvPr/>
        </p:nvSpPr>
        <p:spPr>
          <a:xfrm>
            <a:off x="6347307" y="5001703"/>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What am I looking for · which column and why · is the pattern real · what would change my mind · what should an engineer do about it.</a:t>
            </a:r>
          </a:p>
        </p:txBody>
      </p:sp>
      <p:sp>
        <p:nvSpPr>
          <p:cNvPr id="16" name="TextBox 15"/>
          <p:cNvSpPr txBox="1"/>
          <p:nvPr/>
        </p:nvSpPr>
        <p:spPr>
          <a:xfrm>
            <a:off x="6347307" y="5829220"/>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Before you submit</a:t>
            </a:r>
          </a:p>
        </p:txBody>
      </p:sp>
      <p:sp>
        <p:nvSpPr>
          <p:cNvPr id="17" name="TextBox 16"/>
          <p:cNvSpPr txBox="1"/>
          <p:nvPr/>
        </p:nvSpPr>
        <p:spPr>
          <a:xfrm>
            <a:off x="6347307" y="6217069"/>
            <a:ext cx="5158587" cy="326890"/>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Restart and Run All. Report the skipped count. State the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6868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END-OF-SESSION QUIZ  ·  WEEK 4</a:t>
            </a:r>
          </a:p>
        </p:txBody>
      </p:sp>
      <p:sp>
        <p:nvSpPr>
          <p:cNvPr id="4" name="TextBox 3"/>
          <p:cNvSpPr txBox="1"/>
          <p:nvPr/>
        </p:nvSpPr>
        <p:spPr>
          <a:xfrm>
            <a:off x="685800" y="1325880"/>
            <a:ext cx="6766560" cy="1371600"/>
          </a:xfrm>
          <a:prstGeom prst="rect">
            <a:avLst/>
          </a:prstGeom>
          <a:noFill/>
        </p:spPr>
        <p:txBody>
          <a:bodyPr wrap="square" lIns="0" rIns="0" tIns="0" bIns="0" anchor="t">
            <a:spAutoFit/>
          </a:bodyPr>
          <a:lstStyle/>
          <a:p>
            <a:pPr algn="l">
              <a:lnSpc>
                <a:spcPct val="105000"/>
              </a:lnSpc>
              <a:spcAft>
                <a:spcPts val="600"/>
              </a:spcAft>
            </a:pPr>
            <a:r>
              <a:rPr sz="4000" b="1" i="0">
                <a:solidFill>
                  <a:srgbClr val="FFFFFF"/>
                </a:solidFill>
                <a:latin typeface="Cambria"/>
              </a:rPr>
              <a:t>Five questions,</a:t>
            </a:r>
          </a:p>
          <a:p>
            <a:pPr algn="l">
              <a:lnSpc>
                <a:spcPct val="105000"/>
              </a:lnSpc>
              <a:spcAft>
                <a:spcPts val="600"/>
              </a:spcAft>
            </a:pPr>
            <a:r>
              <a:rPr sz="4000" b="1" i="0">
                <a:solidFill>
                  <a:srgbClr val="FFFFFF"/>
                </a:solidFill>
                <a:latin typeface="Cambria"/>
              </a:rPr>
              <a:t>five minutes</a:t>
            </a:r>
          </a:p>
        </p:txBody>
      </p:sp>
      <p:sp>
        <p:nvSpPr>
          <p:cNvPr id="5" name="TextBox 4"/>
          <p:cNvSpPr txBox="1"/>
          <p:nvPr/>
        </p:nvSpPr>
        <p:spPr>
          <a:xfrm>
            <a:off x="685800" y="2880360"/>
            <a:ext cx="6766560" cy="816005"/>
          </a:xfrm>
          <a:prstGeom prst="rect">
            <a:avLst/>
          </a:prstGeom>
          <a:noFill/>
        </p:spPr>
        <p:txBody>
          <a:bodyPr wrap="square" lIns="0" rIns="0" tIns="0" bIns="0" anchor="t">
            <a:spAutoFit/>
          </a:bodyPr>
          <a:lstStyle/>
          <a:p>
            <a:pPr algn="l">
              <a:lnSpc>
                <a:spcPct val="125000"/>
              </a:lnSpc>
              <a:spcAft>
                <a:spcPts val="600"/>
              </a:spcAft>
            </a:pPr>
            <a:r>
              <a:rPr sz="1923" b="0" i="0">
                <a:solidFill>
                  <a:srgbClr val="B8C9D8"/>
                </a:solidFill>
                <a:latin typeface="Calibri"/>
              </a:rPr>
              <a:t>An accumulator reset inside the loop, a range off by one, and a skipped-row count nobody reported.</a:t>
            </a:r>
          </a:p>
        </p:txBody>
      </p:sp>
      <p:sp>
        <p:nvSpPr>
          <p:cNvPr id="6" name="Oval 5"/>
          <p:cNvSpPr/>
          <p:nvPr/>
        </p:nvSpPr>
        <p:spPr>
          <a:xfrm>
            <a:off x="704088" y="402554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952397"/>
            <a:ext cx="6492240" cy="729027"/>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Scan the code. First box is your registration number, off your card.</a:t>
            </a:r>
          </a:p>
        </p:txBody>
      </p:sp>
      <p:sp>
        <p:nvSpPr>
          <p:cNvPr id="8" name="Oval 7"/>
          <p:cNvSpPr/>
          <p:nvPr/>
        </p:nvSpPr>
        <p:spPr>
          <a:xfrm>
            <a:off x="704088" y="4818584"/>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745432"/>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attempt, from the Google account you are signed in to.</a:t>
            </a:r>
          </a:p>
        </p:txBody>
      </p:sp>
      <p:sp>
        <p:nvSpPr>
          <p:cNvPr id="10" name="Oval 9"/>
          <p:cNvSpPr/>
          <p:nvPr/>
        </p:nvSpPr>
        <p:spPr>
          <a:xfrm>
            <a:off x="704088" y="5269966"/>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196814"/>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Open for 48 hours if the network fails, then it closes itself.</a:t>
            </a:r>
          </a:p>
        </p:txBody>
      </p:sp>
      <p:sp>
        <p:nvSpPr>
          <p:cNvPr id="12" name="Oval 11"/>
          <p:cNvSpPr/>
          <p:nvPr/>
        </p:nvSpPr>
        <p:spPr>
          <a:xfrm>
            <a:off x="704088" y="5721348"/>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648196"/>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per cent each. Tap View score and read the feedback.</a:t>
            </a:r>
          </a:p>
        </p:txBody>
      </p:sp>
      <p:sp>
        <p:nvSpPr>
          <p:cNvPr id="14" name="Oval 13"/>
          <p:cNvSpPr/>
          <p:nvPr/>
        </p:nvSpPr>
        <p:spPr>
          <a:xfrm>
            <a:off x="704088" y="617272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6099577"/>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Twelve this semester, best ten count. No resits.</a:t>
            </a:r>
          </a:p>
        </p:txBody>
      </p:sp>
      <p:sp>
        <p:nvSpPr>
          <p:cNvPr id="16" name="Rectangle 15"/>
          <p:cNvSpPr/>
          <p:nvPr/>
        </p:nvSpPr>
        <p:spPr>
          <a:xfrm>
            <a:off x="8716975" y="1783080"/>
            <a:ext cx="2788920" cy="2788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quiz_CML3113_W04.png"/>
          <p:cNvPicPr>
            <a:picLocks noChangeAspect="1"/>
          </p:cNvPicPr>
          <p:nvPr/>
        </p:nvPicPr>
        <p:blipFill>
          <a:blip r:embed="rId2"/>
          <a:stretch>
            <a:fillRect/>
          </a:stretch>
        </p:blipFill>
        <p:spPr>
          <a:xfrm>
            <a:off x="8826703" y="1892807"/>
            <a:ext cx="2569463" cy="256946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You just investigated a file</a:t>
            </a:r>
          </a:p>
          <a:p>
            <a:pPr algn="l">
              <a:lnSpc>
                <a:spcPct val="110000"/>
              </a:lnSpc>
              <a:spcAft>
                <a:spcPts val="600"/>
              </a:spcAft>
            </a:pPr>
            <a:r>
              <a:rPr sz="3400" b="1" i="0">
                <a:solidFill>
                  <a:srgbClr val="FFFFFF"/>
                </a:solidFill>
                <a:latin typeface="Cambria"/>
              </a:rPr>
              <a:t>nobody explained to you.</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Four weeks ago most of you had never written a line of code. Next week the same work takes three lines instead of sixty, and the datasets stop being teaching files and start being real.</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week: pandas, and how to find data you can actually trust.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