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AI, machine learning</a:t>
            </a:r>
          </a:p>
          <a:p>
            <a:r>
              <a:t/>
            </a:r>
          </a:p>
          <a:p>
            <a:r>
              <a:t>LECTURER CUE</a:t>
            </a:r>
          </a:p>
          <a:p>
            <a:r>
              <a:t>Today runs entirely on paper. You will not touch a computer, so nothing you do this session depends on owning a laptop or having a connection. By the end you will have answered a real engineering question from twelve rows of a real dataset with a pencil, and measured how wrong you were.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Jotham Martin Wambi.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Jotham Martin Wambi</a:t>
            </a:r>
          </a:p>
          <a:p>
            <a:r>
              <a:t/>
            </a:r>
          </a:p>
          <a:p>
            <a:r>
              <a:t>CONNECT</a:t>
            </a:r>
          </a:p>
          <a:p>
            <a:r>
              <a:t>Build on the preceding slide: AI, machine learning.</a:t>
            </a:r>
          </a:p>
          <a:p>
            <a:r>
              <a:t/>
            </a:r>
          </a:p>
          <a:p>
            <a:r>
              <a:t>LECTURER CUE</a:t>
            </a:r>
          </a:p>
          <a:p>
            <a:r>
              <a:t>A short introduction, and there is a reason for it beyond courtesy.</a:t>
            </a:r>
          </a:p>
          <a:p>
            <a:r>
              <a:t>First, so that you know what you can ask me for. The work on the right is where my experience actually is: sensor data and predictive maintenance, language models over documents, and getting models into something a colleague can use. If your project heads in one of those directions I can help you in detail. If it heads somewhere I know less well, I will tell you that rather than guess.</a:t>
            </a:r>
          </a:p>
          <a:p>
            <a:r>
              <a:t>Second, because of the route rather than the titles. I read economics and information technology as undergraduate degrees, and my first seven years of work were in banking, tax and product management, none of which involved building a model. Nobody starts where this field expects them to start, and the engineering degree you are already halfway through is a better foundation for machine learning than most computing degrees, for reasons we come to in the roadmap segment.</a:t>
            </a:r>
          </a:p>
          <a:p>
            <a:r>
              <a:t>Third, so the claims in this course are checkable. Where I tell you a technique behaves a certain way, it is usually because I have watched it fail somewhere first.</a:t>
            </a:r>
          </a:p>
          <a:p>
            <a:r>
              <a:t>The contact details are real. Use them.</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By the end of today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today you can…</a:t>
            </a:r>
          </a:p>
          <a:p>
            <a:r>
              <a:t/>
            </a:r>
          </a:p>
          <a:p>
            <a:r>
              <a:t>CONNECT</a:t>
            </a:r>
          </a:p>
          <a:p>
            <a:r>
              <a:t>Build on the preceding slide: Jotham Martin Wambi.</a:t>
            </a:r>
          </a:p>
          <a:p>
            <a:r>
              <a:t/>
            </a:r>
          </a:p>
          <a:p>
            <a:r>
              <a:t>LECTURER CUE</a:t>
            </a:r>
          </a:p>
          <a:p>
            <a:r>
              <a:t>Seven objectives, and they are the whole session. Nothing is hidden behind them and there is no reading list you are expected to have done. Mark yourself against each one at the end of the session; whatever you cannot claim is what to revise before Week 2.</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How every session this semester is shaped.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every session this semester is shaped</a:t>
            </a:r>
          </a:p>
          <a:p>
            <a:r>
              <a:t/>
            </a:r>
          </a:p>
          <a:p>
            <a:r>
              <a:t>CONNECT</a:t>
            </a:r>
          </a:p>
          <a:p>
            <a:r>
              <a:t>Build on the preceding slide: By the end of today you can….</a:t>
            </a:r>
          </a:p>
          <a:p>
            <a:r>
              <a:t/>
            </a:r>
          </a:p>
          <a:p>
            <a:r>
              <a:t>LECTURER CUE</a:t>
            </a:r>
          </a:p>
          <a:p>
            <a:r>
              <a:t>Every session this semester has the same shape: eleven segments across three hours, with no block of talking longer than 25 minutes and roughly half the time spent working rather than listening. That is why attendance matters more here than on a lecture course — the practical and challenge segments cannot be read off a deck afterwards. There is a 10-minute break at the midpoint.</a:t>
            </a:r>
          </a:p>
          <a:p>
            <a:r>
              <a:t/>
            </a:r>
          </a:p>
          <a:p>
            <a:r>
              <a:t>NEXT</a:t>
            </a:r>
          </a:p>
          <a:p>
            <a:r>
              <a:t>Where this semester goes.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this semester goes</a:t>
            </a:r>
          </a:p>
          <a:p>
            <a:r>
              <a:t/>
            </a:r>
          </a:p>
          <a:p>
            <a:r>
              <a:t>CONNECT</a:t>
            </a:r>
          </a:p>
          <a:p>
            <a:r>
              <a:t>Build on the preceding slide: How every session this semester is shaped.</a:t>
            </a:r>
          </a:p>
          <a:p>
            <a:r>
              <a:t/>
            </a:r>
          </a:p>
          <a:p>
            <a:r>
              <a:t>LECTURER CUE</a:t>
            </a:r>
          </a:p>
          <a:p>
            <a:r>
              <a:t>Fifteen weeks. Weeks 7 and 14 are practical tests where you are given data you have never seen and asked what you make of it, and the project runs from Week 9 to the last session. There is nothing to memorise in this course, which surprises most students who arrive expecting to revise definitions.</a:t>
            </a:r>
          </a:p>
          <a:p>
            <a:r>
              <a:t/>
            </a:r>
          </a:p>
          <a:p>
            <a:r>
              <a:t>NEXT</a:t>
            </a:r>
          </a:p>
          <a:p>
            <a:r>
              <a:t>What you will be able to say by December.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will be able to say by December</a:t>
            </a:r>
          </a:p>
          <a:p>
            <a:r>
              <a:t/>
            </a:r>
          </a:p>
          <a:p>
            <a:r>
              <a:t>CONNECT</a:t>
            </a:r>
          </a:p>
          <a:p>
            <a:r>
              <a:t>Build on the preceding slide: Where this semester goes.</a:t>
            </a:r>
          </a:p>
          <a:p>
            <a:r>
              <a:t/>
            </a:r>
          </a:p>
          <a:p>
            <a:r>
              <a:t>LECTURER CUE</a:t>
            </a:r>
          </a:p>
          <a:p>
            <a:r>
              <a:t>Six steps, from knowing what a dataset is to saying 'here is a model I built and here is how I know it works'. Most of you cannot do step two today and all of you can reach step six by December. The students who get there are the ones who do the weekly deliverable every week, and the difference is visible by about Week 6.</a:t>
            </a:r>
          </a:p>
          <a:p>
            <a:r>
              <a:t/>
            </a:r>
          </a:p>
          <a:p>
            <a:r>
              <a:t>NEXT</a:t>
            </a:r>
          </a:p>
          <a:p>
            <a:r>
              <a:t>Welcome, and how this course works.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Welcome, and how this course works</a:t>
            </a:r>
          </a:p>
          <a:p>
            <a:r>
              <a:t/>
            </a:r>
          </a:p>
          <a:p>
            <a:r>
              <a:t>CONNECT</a:t>
            </a:r>
          </a:p>
          <a:p>
            <a:r>
              <a:t>Build on the preceding slide: What you will be able to say by December.</a:t>
            </a:r>
          </a:p>
          <a:p>
            <a:r>
              <a:t/>
            </a:r>
          </a:p>
          <a:p>
            <a:r>
              <a:t>LECTURER CUE</a:t>
            </a:r>
          </a:p>
          <a:p>
            <a:r>
              <a:t>Fifteen minutes on how the course works: the promise, the assessment, and what is expected on both sides. Everything after this segment is engineering.</a:t>
            </a:r>
          </a:p>
          <a:p>
            <a:r>
              <a:t/>
            </a:r>
          </a:p>
          <a:p>
            <a:r>
              <a:t>NEXT</a:t>
            </a:r>
          </a:p>
          <a:p>
            <a:r>
              <a:t>How you are assessed.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you are assessed</a:t>
            </a:r>
          </a:p>
          <a:p>
            <a:r>
              <a:t/>
            </a:r>
          </a:p>
          <a:p>
            <a:r>
              <a:t>CONNECT</a:t>
            </a:r>
          </a:p>
          <a:p>
            <a:r>
              <a:t>Build on the preceding slide: Welcome, and how this course works.</a:t>
            </a:r>
          </a:p>
          <a:p>
            <a:r>
              <a:t/>
            </a:r>
          </a:p>
          <a:p>
            <a:r>
              <a:t>LECTURER CUE</a:t>
            </a:r>
          </a:p>
          <a:p>
            <a:r>
              <a:t>Two details the figure does not carry. Every teaching session ends with a five-minute quiz of five questions, taken on your phone by QR code, auto-marked, and you have your score before you leave the room. There are twelve of them and the best ten count, one per cent each, so missing two costs you nothing and there are no resits to arrange. The two practical tests run offline on lab machines with no internet and no AI assistants. AI tools are permitted and taught in the coursework provided you declare what you used, because the mark follows what you can explain.</a:t>
            </a:r>
          </a:p>
          <a:p>
            <a:r>
              <a:t/>
            </a:r>
          </a:p>
          <a:p>
            <a:r>
              <a:t>NEXT</a:t>
            </a:r>
          </a:p>
          <a:p>
            <a:r>
              <a:t>What I expect, and what you can expect back.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I expect, and what you can expect back</a:t>
            </a:r>
          </a:p>
          <a:p>
            <a:r>
              <a:t/>
            </a:r>
          </a:p>
          <a:p>
            <a:r>
              <a:t>CONNECT</a:t>
            </a:r>
          </a:p>
          <a:p>
            <a:r>
              <a:t>Build on the preceding slide: How you are assessed.</a:t>
            </a:r>
          </a:p>
          <a:p>
            <a:r>
              <a:t/>
            </a:r>
          </a:p>
          <a:p>
            <a:r>
              <a:t>LECTURER CUE</a:t>
            </a:r>
          </a:p>
          <a:p>
            <a:r>
              <a:t>The 'ask well' item is the one that changes how much you get out of the semester. Bring the error message, what you already tried, and what you expected to happen; assembling those three things solves the problem outright often enough to be worth the effort every time. If you are stuck for more than five minutes in a practical, put your hand up rather than sitting quietly.</a:t>
            </a:r>
          </a:p>
          <a:p>
            <a:r>
              <a:t/>
            </a:r>
          </a:p>
          <a:p>
            <a:r>
              <a:t>NEXT</a:t>
            </a:r>
          </a:p>
          <a:p>
            <a:r>
              <a:t>The whole field, start to finish.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whole field, start to finish</a:t>
            </a:r>
          </a:p>
          <a:p>
            <a:r>
              <a:t/>
            </a:r>
          </a:p>
          <a:p>
            <a:r>
              <a:t>CONNECT</a:t>
            </a:r>
          </a:p>
          <a:p>
            <a:r>
              <a:t>Build on the preceding slide: What I expect, and what you can expect back.</a:t>
            </a:r>
          </a:p>
          <a:p>
            <a:r>
              <a:t/>
            </a:r>
          </a:p>
          <a:p>
            <a:r>
              <a:t>LECTURER CUE</a:t>
            </a:r>
          </a:p>
          <a:p>
            <a:r>
              <a:t>This segment hands you the map of the field before any of it is taught, so that every later week has somewhere to sit rather than arriving from nowhere. The structure follows the public roadmap.sh Machine Learning roadmap, which is the map the profession itself uses, so you can check this course against something written outside this room.</a:t>
            </a:r>
          </a:p>
          <a:p>
            <a:r>
              <a:t/>
            </a:r>
          </a:p>
          <a:p>
            <a:r>
              <a:t>NEXT</a:t>
            </a:r>
          </a:p>
          <a:p>
            <a:r>
              <a:t>The machine learning roadmap.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machine learning roadmap</a:t>
            </a:r>
          </a:p>
          <a:p>
            <a:r>
              <a:t/>
            </a:r>
          </a:p>
          <a:p>
            <a:r>
              <a:t>CONNECT</a:t>
            </a:r>
          </a:p>
          <a:p>
            <a:r>
              <a:t>Build on the preceding slide: The whole field, start to finish.</a:t>
            </a:r>
          </a:p>
          <a:p>
            <a:r>
              <a:t/>
            </a:r>
          </a:p>
          <a:p>
            <a:r>
              <a:t>LECTURER CUE</a:t>
            </a:r>
          </a:p>
          <a:p>
            <a:r>
              <a:t>Fifteen stages, from Python to transformers. By December you will have covered stages 1 to 9. Most of the individual terms on the figure mean nothing to you today and that is expected — what to take from it is the shape of the field and where this course stops. The interactive version is at roadmap.sh/machine-learning, and it is worth an evening of clicking around.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Stage 2 is the one that matters to you.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Stage 2 is the one that matters to you</a:t>
            </a:r>
          </a:p>
          <a:p>
            <a:r>
              <a:t/>
            </a:r>
          </a:p>
          <a:p>
            <a:r>
              <a:t>CONNECT</a:t>
            </a:r>
          </a:p>
          <a:p>
            <a:r>
              <a:t>Build on the preceding slide: The machine learning roadmap.</a:t>
            </a:r>
          </a:p>
          <a:p>
            <a:r>
              <a:t/>
            </a:r>
          </a:p>
          <a:p>
            <a:r>
              <a:t>LECTURER CUE</a:t>
            </a:r>
          </a:p>
          <a:p>
            <a:r>
              <a:t>The mathematics stage — calculus, linear algebra, statistics, probability — is the one most people entering this field find hardest, and you did it in Years 1 and 2. What you are missing is stages 1 and 3, Python and the data libraries, which Weeks 2 to 6 cover in five weeks of work. The expensive prerequisite is already behind you.</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Where this course sits, honestly.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this course sits, honestly</a:t>
            </a:r>
          </a:p>
          <a:p>
            <a:r>
              <a:t/>
            </a:r>
          </a:p>
          <a:p>
            <a:r>
              <a:t>CONNECT</a:t>
            </a:r>
          </a:p>
          <a:p>
            <a:r>
              <a:t>Build on the preceding slide: Stage 2 is the one that matters to you.</a:t>
            </a:r>
          </a:p>
          <a:p>
            <a:r>
              <a:t/>
            </a:r>
          </a:p>
          <a:p>
            <a:r>
              <a:t>LECTURER CUE</a:t>
            </a:r>
          </a:p>
          <a:p>
            <a:r>
              <a:t>The grey stages sit outside this course: reinforcement learning, full MLOps and most of the advanced language-model material. If you want to go after them later, roadmap.sh publishes separate roadmaps for the AI engineer, the data scientist, MLOps and AI agents, and any of the four is a reasonable next step after December.</a:t>
            </a:r>
          </a:p>
          <a:p>
            <a:r>
              <a:t/>
            </a:r>
          </a:p>
          <a:p>
            <a:r>
              <a:t>NEXT</a:t>
            </a:r>
          </a:p>
          <a:p>
            <a:r>
              <a:t>Four jobs this field splits into.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jobs this field splits into</a:t>
            </a:r>
          </a:p>
          <a:p>
            <a:r>
              <a:t/>
            </a:r>
          </a:p>
          <a:p>
            <a:r>
              <a:t>CONNECT</a:t>
            </a:r>
          </a:p>
          <a:p>
            <a:r>
              <a:t>Build on the preceding slide: Where this course sits, honestly.</a:t>
            </a:r>
          </a:p>
          <a:p>
            <a:r>
              <a:t/>
            </a:r>
          </a:p>
          <a:p>
            <a:r>
              <a:t>LECTURER CUE</a:t>
            </a:r>
          </a:p>
          <a:p>
            <a:r>
              <a:t>Four different roadmaps and four different careers. This course points at the first one, applied inside your own engineering discipline. A computer science graduate will beat you at general machine learning, and that contest is avoidable: a civil engineer who can model concrete strength, or a mining engineer who can predict concentrate quality, is competing in a much smaller field.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What this course is actually about.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this course is actually about</a:t>
            </a:r>
          </a:p>
          <a:p>
            <a:r>
              <a:t/>
            </a:r>
          </a:p>
          <a:p>
            <a:r>
              <a:t>CONNECT</a:t>
            </a:r>
          </a:p>
          <a:p>
            <a:r>
              <a:t>Build on the preceding slide: Four jobs this field splits into.</a:t>
            </a:r>
          </a:p>
          <a:p>
            <a:r>
              <a:t/>
            </a:r>
          </a:p>
          <a:p>
            <a:r>
              <a:t>LECTURER CUE</a:t>
            </a:r>
          </a:p>
          <a:p>
            <a:r>
              <a:t>Three words — artificial intelligence, machine learning, data science — get used interchangeably in job adverts, papers and vendor brochures. Fifteen minutes here is what lets you read those documents without being misled by them.</a:t>
            </a:r>
          </a:p>
          <a:p>
            <a:r>
              <a:t/>
            </a:r>
          </a:p>
          <a:p>
            <a:r>
              <a:t>NEXT</a:t>
            </a:r>
          </a:p>
          <a:p>
            <a:r>
              <a:t>The words, and how they nest.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and how they nest</a:t>
            </a:r>
          </a:p>
          <a:p>
            <a:r>
              <a:t/>
            </a:r>
          </a:p>
          <a:p>
            <a:r>
              <a:t>CONNECT</a:t>
            </a:r>
          </a:p>
          <a:p>
            <a:r>
              <a:t>Build on the preceding slide: What this course is actually about.</a:t>
            </a:r>
          </a:p>
          <a:p>
            <a:r>
              <a:t/>
            </a:r>
          </a:p>
          <a:p>
            <a:r>
              <a:t>LECTURER CUE</a:t>
            </a:r>
          </a:p>
          <a:p>
            <a:r>
              <a:t>Each term is contained by the one before it. Data science is the odd one out: it overlaps all of them and is contained by none, because it is the craft of getting an answer out of data at all — finding it, cleaning it, questioning it, presenting it. Most of your semester goes into the data science ring, and the modelling turns out to be the small part.</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Artificial intelligence.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Artificial intelligence</a:t>
            </a:r>
          </a:p>
          <a:p>
            <a:r>
              <a:t/>
            </a:r>
          </a:p>
          <a:p>
            <a:r>
              <a:t>CONNECT</a:t>
            </a:r>
          </a:p>
          <a:p>
            <a:r>
              <a:t>Build on the preceding slide: The words, and how they nest.</a:t>
            </a:r>
          </a:p>
          <a:p>
            <a:r>
              <a:t/>
            </a:r>
          </a:p>
          <a:p>
            <a:r>
              <a:t>LECTURER CUE</a:t>
            </a:r>
          </a:p>
          <a:p>
            <a:r>
              <a:t>A thermostat follows one fixed rule and has no capacity to do better, which puts it outside the definition. A spam filter that improves as it sees more mail sits inside it. Whether any of this is 'really' intelligent is a genuine open question in the field; here the word is a label for an area of work.</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Machine learning.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Machine learning</a:t>
            </a:r>
          </a:p>
          <a:p>
            <a:r>
              <a:t/>
            </a:r>
          </a:p>
          <a:p>
            <a:r>
              <a:t>CONNECT</a:t>
            </a:r>
          </a:p>
          <a:p>
            <a:r>
              <a:t>Build on the preceding slide: Artificial intelligence.</a:t>
            </a:r>
          </a:p>
          <a:p>
            <a:r>
              <a:t/>
            </a:r>
          </a:p>
          <a:p>
            <a:r>
              <a:t>LECTURER CUE</a:t>
            </a:r>
          </a:p>
          <a:p>
            <a:r>
              <a:t>This is the definition the rest of the course rests on. Note the last step of the example: the computer infers a relationship and you then decide whether to trust it. That step is the easy one to skip, and Weeks 10 to 14 are entirely about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Data science.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Data science</a:t>
            </a:r>
          </a:p>
          <a:p>
            <a:r>
              <a:t/>
            </a:r>
          </a:p>
          <a:p>
            <a:r>
              <a:t>CONNECT</a:t>
            </a:r>
          </a:p>
          <a:p>
            <a:r>
              <a:t>Build on the preceding slide: Machine learning.</a:t>
            </a:r>
          </a:p>
          <a:p>
            <a:r>
              <a:t/>
            </a:r>
          </a:p>
          <a:p>
            <a:r>
              <a:t>LECTURER CUE</a:t>
            </a:r>
          </a:p>
          <a:p>
            <a:r>
              <a:t>In industry the split is roughly eighty per cent getting data into a usable state and twenty per cent modelling. An engineer with clean data beats a better algorithm with dirty data. The missing-assay example on this slide is a real Week 6 exercise: you will be handed records with a large part of one column absent and asked whether they are missing at random and what that does to your conclusion.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Two ways to make a computer decide.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ways to make a computer decide</a:t>
            </a:r>
          </a:p>
          <a:p>
            <a:r>
              <a:t/>
            </a:r>
          </a:p>
          <a:p>
            <a:r>
              <a:t>CONNECT</a:t>
            </a:r>
          </a:p>
          <a:p>
            <a:r>
              <a:t>Build on the preceding slide: Data science.</a:t>
            </a:r>
          </a:p>
          <a:p>
            <a:r>
              <a:t/>
            </a:r>
          </a:p>
          <a:p>
            <a:r>
              <a:t>LECTURER CUE</a:t>
            </a:r>
          </a:p>
          <a:p>
            <a:r>
              <a:t>The core teaching segment of the session: the difference between writing a rule and inferring one from examples, plus the vocabulary for talking about a table of data. Everything from Week 5 onwards assumes both.</a:t>
            </a:r>
          </a:p>
          <a:p>
            <a:r>
              <a:t/>
            </a:r>
          </a:p>
          <a:p>
            <a:r>
              <a:t>NEXT</a:t>
            </a:r>
          </a:p>
          <a:p>
            <a:r>
              <a:t>"The silica assay takes an hour to come back from the laboratory. Can we know it now, from the process variables we already measure?".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silica assay takes an hour to come back from the laboratory. Can we know it now, from the process variables we already measure?"</a:t>
            </a:r>
          </a:p>
          <a:p>
            <a:r>
              <a:t/>
            </a:r>
          </a:p>
          <a:p>
            <a:r>
              <a:t>CONNECT</a:t>
            </a:r>
          </a:p>
          <a:p>
            <a:r>
              <a:t>Build on the preceding slide: Two ways to make a computer decide.</a:t>
            </a:r>
          </a:p>
          <a:p>
            <a:r>
              <a:t/>
            </a:r>
          </a:p>
          <a:p>
            <a:r>
              <a:t>LECTURER CUE</a:t>
            </a:r>
          </a:p>
          <a:p>
            <a:r>
              <a:t>Sit with the question before any answer arrives. Two honest first reactions are 'you cannot' and 'there must be a formula somewhere', and both are useful. The hands-on prediction exercise shows what a third answer looks like.</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Traditional programming, and machine learning.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Traditional programming, and machine learning</a:t>
            </a:r>
          </a:p>
          <a:p>
            <a:r>
              <a:t/>
            </a:r>
          </a:p>
          <a:p>
            <a:r>
              <a:t>CONNECT</a:t>
            </a:r>
          </a:p>
          <a:p>
            <a:r>
              <a:t>Build on the preceding slide: "The silica assay takes an hour to come back from the laboratory. Can we know it now, from the process variables we already measure?".</a:t>
            </a:r>
          </a:p>
          <a:p>
            <a:r>
              <a:t/>
            </a:r>
          </a:p>
          <a:p>
            <a:r>
              <a:t>LECTURER CUE</a:t>
            </a:r>
          </a:p>
          <a:p>
            <a:r>
              <a:t>A worked case from your own discipline: IF the pulp pH falls below 9.0 THEN alarm the operator — Process engineering gives you that set point. No data is needed to write the rule. That belongs firmly in the left-hand column. The right-hand column earns its place when there is no threshold in any code of practice and no formula to look up, and you have examples of past cases instead. Neither column is better; the useful question is whether you already know the rule for the problem in front of you.</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When to write the rule, and when to learn it from data.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When to write the rule, and when to learn it from data</a:t>
            </a:r>
          </a:p>
          <a:p>
            <a:r>
              <a:t/>
            </a:r>
          </a:p>
          <a:p>
            <a:r>
              <a:t>CONNECT</a:t>
            </a:r>
          </a:p>
          <a:p>
            <a:r>
              <a:t>Build on the preceding slide: Traditional programming, and machine learning.</a:t>
            </a:r>
          </a:p>
          <a:p>
            <a:r>
              <a:t/>
            </a:r>
          </a:p>
          <a:p>
            <a:r>
              <a:t>LECTURER CUE</a:t>
            </a:r>
          </a:p>
          <a:p>
            <a:r>
              <a:t>Most of engineering stays in the left-hand column and that is the correct place for it. The third item on the left is the one that decides real projects: a model whose decision cannot be explained line by line often cannot be used at all, whatever its accuracy on test data. That constraint returns in Week 12.</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What we actually mean by 'data'.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we actually mean by 'data'</a:t>
            </a:r>
          </a:p>
          <a:p>
            <a:r>
              <a:t/>
            </a:r>
          </a:p>
          <a:p>
            <a:r>
              <a:t>CONNECT</a:t>
            </a:r>
          </a:p>
          <a:p>
            <a:r>
              <a:t>Build on the preceding slide: When to write the rule, and when to learn it from data.</a:t>
            </a:r>
          </a:p>
          <a:p>
            <a:r>
              <a:t/>
            </a:r>
          </a:p>
          <a:p>
            <a:r>
              <a:t>LECTURER CUE</a:t>
            </a:r>
          </a:p>
          <a:p>
            <a:r>
              <a:t>This is the picture to fix in your head, because every dataset you meet this semester has this shape. One row is one example. The feature columns hold what you know beforehand and the target column holds the thing you want to predict. Worth thinking about: the target of one problem can be a feature of another. Curing temperature is the target if you are studying an oven and a feature if you are predicting strength.</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Feature, and target.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Feature, and target</a:t>
            </a:r>
          </a:p>
          <a:p>
            <a:r>
              <a:t/>
            </a:r>
          </a:p>
          <a:p>
            <a:r>
              <a:t>CONNECT</a:t>
            </a:r>
          </a:p>
          <a:p>
            <a:r>
              <a:t>Build on the preceding slide: What we actually mean by 'data'.</a:t>
            </a:r>
          </a:p>
          <a:p>
            <a:r>
              <a:t/>
            </a:r>
          </a:p>
          <a:p>
            <a:r>
              <a:t>LECTURER CUE</a:t>
            </a:r>
          </a:p>
          <a:p>
            <a:r>
              <a:t>The 'association is not a cause' line is the seed of correlation versus causation, which arrives properly in Week 8. One error to start watching for now: including a column that is only known after the target is known. That is data leakage, it is the most destructive mistake in applied machine learning, and Week 10 is a full session on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Feature, and target.</a:t>
            </a:r>
          </a:p>
          <a:p>
            <a:r>
              <a:t/>
            </a:r>
          </a:p>
          <a:p>
            <a:r>
              <a:t>LECTURER CUE</a:t>
            </a:r>
          </a:p>
          <a:p>
            <a:r>
              <a:t>Write something for each of the three before you turn to the answers. Question B is deliberately hard for Week 1 — noticing that the repair column can only be filled in after the failure has happened is enough at this stage, even if you cannot yet name what is wrong with using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Feature or target?</a:t>
            </a:r>
          </a:p>
          <a:p>
            <a:r>
              <a:t>The target. It is the thing you want to predict. Everything measured beforehand is a feature.</a:t>
            </a:r>
          </a:p>
          <a:p>
            <a:r>
              <a:t>B</a:t>
            </a:r>
          </a:p>
          <a:p>
            <a:r>
              <a:t>The repair column?</a:t>
            </a:r>
          </a:p>
          <a:p>
            <a:r>
              <a:t>No. You only know what repair was done AFTER the failure, so it cannot help you predict the failure. Include it and your model will look brilliant in testing and be useless in service. This is called data leakage and we spend a whole session on it in Week 10.</a:t>
            </a:r>
          </a:p>
          <a:p>
            <a:r>
              <a:t>C</a:t>
            </a:r>
          </a:p>
          <a:p>
            <a:r>
              <a:t>A rule you already know?</a:t>
            </a:r>
          </a:p>
          <a:p>
            <a:r>
              <a:t>Anything with a formula or a code threshold: Contained metal is tonnage times grade. That is arithmetic; there is nothing to predict. If a validated equation exists, use the equation.</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LECTURER CUE</a:t>
            </a:r>
          </a:p>
          <a:p>
            <a:r>
              <a:t>Getting B wrong is normal; professional teams ship this bug regularly and only find it when the model reaches service. The name for it is data leakage. The timing test in answer B — could I know this column before the outcome? — is the one habit to carry out of this slide.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Hands on: predict case 13.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Hands on: predict case 13</a:t>
            </a:r>
          </a:p>
          <a:p>
            <a:r>
              <a:t/>
            </a:r>
          </a:p>
          <a:p>
            <a:r>
              <a:t>CONNECT</a:t>
            </a:r>
          </a:p>
          <a:p>
            <a:r>
              <a:t>Build on the preceding slide: How did you do?.</a:t>
            </a:r>
          </a:p>
          <a:p>
            <a:r>
              <a:t/>
            </a:r>
          </a:p>
          <a:p>
            <a:r>
              <a:t>LECTURER CUE</a:t>
            </a:r>
          </a:p>
          <a:p>
            <a:r>
              <a:t>Teams of four or five, formed now and kept for the rest of the semester. You are about to do machine learning by hand, on paper, before anybody writes a line of code.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Your task.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Your task</a:t>
            </a:r>
          </a:p>
          <a:p>
            <a:r>
              <a:t/>
            </a:r>
          </a:p>
          <a:p>
            <a:r>
              <a:t>CONNECT</a:t>
            </a:r>
          </a:p>
          <a:p>
            <a:r>
              <a:t>Build on the preceding slide: Hands on: predict case 13.</a:t>
            </a:r>
          </a:p>
          <a:p>
            <a:r>
              <a:t/>
            </a:r>
          </a:p>
          <a:p>
            <a:r>
              <a:t>LECTURER CUE</a:t>
            </a:r>
          </a:p>
          <a:p>
            <a:r>
              <a:t>The number your team predicts matters far less than the sentence saying how you got it, so write the reasoning down. The next three slides give names to whatever method you used, and that only works if you can still see what you did. If you are stuck, start with one question: which single column seems to move with the outcome, and why that one?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Reading the pattern from twelve cases.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Reading the pattern from twelve cases</a:t>
            </a:r>
          </a:p>
          <a:p>
            <a:r>
              <a:t/>
            </a:r>
          </a:p>
          <a:p>
            <a:r>
              <a:t>CONNECT</a:t>
            </a:r>
          </a:p>
          <a:p>
            <a:r>
              <a:t>Build on the preceding slide: Your task.</a:t>
            </a:r>
          </a:p>
          <a:p>
            <a:r>
              <a:t/>
            </a:r>
          </a:p>
          <a:p>
            <a:r>
              <a:t>LECTURER CUE</a:t>
            </a:r>
          </a:p>
          <a:p>
            <a:r>
              <a:t>There is no single right method, and this is one line of thinking that works. Step five is what separates an engineer from a calculator: how confident am I, and what would change my mind? The two practical tests, in Weeks 7 and 14, assess that step far more heavily than the arithmetic.</a:t>
            </a:r>
          </a:p>
          <a:p>
            <a:r>
              <a:t/>
            </a:r>
          </a:p>
          <a:p>
            <a:r>
              <a:t>NEXT</a:t>
            </a:r>
          </a:p>
          <a:p>
            <a:r>
              <a:t>The answer, and your error.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answer, and your error</a:t>
            </a:r>
          </a:p>
          <a:p>
            <a:r>
              <a:t/>
            </a:r>
          </a:p>
          <a:p>
            <a:r>
              <a:t>CONNECT</a:t>
            </a:r>
          </a:p>
          <a:p>
            <a:r>
              <a:t>Build on the preceding slide: Reading the pattern from twelve cases.</a:t>
            </a:r>
          </a:p>
          <a:p>
            <a:r>
              <a:t/>
            </a:r>
          </a:p>
          <a:p>
            <a:r>
              <a:t>LECTURER CUE</a:t>
            </a:r>
          </a:p>
          <a:p>
            <a:r>
              <a:t>The spread of team answers is the teaching point. Several different reasonable methods produced several different numbers, so being reasonable is not enough on its own — you need a way to measure which method is better. One case cannot tell you that, which is what Week 8 sets up.</a:t>
            </a:r>
          </a:p>
          <a:p>
            <a:r>
              <a:t/>
            </a:r>
          </a:p>
          <a:p>
            <a:r>
              <a:t>NEXT</a:t>
            </a:r>
          </a:p>
          <a:p>
            <a:r>
              <a:t>You just did every step of a machine learning project.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just did every step of a machine learning project</a:t>
            </a:r>
          </a:p>
          <a:p>
            <a:r>
              <a:t/>
            </a:r>
          </a:p>
          <a:p>
            <a:r>
              <a:t>CONNECT</a:t>
            </a:r>
          </a:p>
          <a:p>
            <a:r>
              <a:t>Build on the preceding slide: The answer, and your error.</a:t>
            </a:r>
          </a:p>
          <a:p>
            <a:r>
              <a:t/>
            </a:r>
          </a:p>
          <a:p>
            <a:r>
              <a:t>LECTURER CUE</a:t>
            </a:r>
          </a:p>
          <a:p>
            <a:r>
              <a:t>The syllabus for the rest of the semester is largely a set of names for what you just did with a pencil. The fourth pair is the one to dwell on: you predicted a case that was not in front of you when you formed the rule. That is generalisation, and everything in Week 10 follows from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You just did every step of a machine learning project.</a:t>
            </a:r>
          </a:p>
          <a:p>
            <a:r>
              <a:t/>
            </a:r>
          </a:p>
          <a:p>
            <a:r>
              <a:t>LECTURER CUE</a:t>
            </a:r>
          </a:p>
          <a:p>
            <a:r>
              <a:t>Ten minutes. The challenge segment after the break is the longest single working block of the session, so use the time.</a:t>
            </a:r>
          </a:p>
          <a:p>
            <a:r>
              <a:t/>
            </a:r>
          </a:p>
          <a:p>
            <a:r>
              <a:t>NEXT</a:t>
            </a:r>
          </a:p>
          <a:p>
            <a:r>
              <a:t>Two kinds of question.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kinds of question</a:t>
            </a:r>
          </a:p>
          <a:p>
            <a:r>
              <a:t/>
            </a:r>
          </a:p>
          <a:p>
            <a:r>
              <a:t>CONNECT</a:t>
            </a:r>
          </a:p>
          <a:p>
            <a:r>
              <a:t>Build on the preceding slide: Break.</a:t>
            </a:r>
          </a:p>
          <a:p>
            <a:r>
              <a:t/>
            </a:r>
          </a:p>
          <a:p>
            <a:r>
              <a:t>LECTURER CUE</a:t>
            </a:r>
          </a:p>
          <a:p>
            <a:r>
              <a:t>A short segment carrying one distinction that decides which method you reach for all semester. It needs to be automatic by Week 8, when you start fitting models to both kinds of problem.</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Regression and classification.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Regression and classification</a:t>
            </a:r>
          </a:p>
          <a:p>
            <a:r>
              <a:t/>
            </a:r>
          </a:p>
          <a:p>
            <a:r>
              <a:t>CONNECT</a:t>
            </a:r>
          </a:p>
          <a:p>
            <a:r>
              <a:t>Build on the preceding slide: Two kinds of question.</a:t>
            </a:r>
          </a:p>
          <a:p>
            <a:r>
              <a:t/>
            </a:r>
          </a:p>
          <a:p>
            <a:r>
              <a:t>LECTURER CUE</a:t>
            </a:r>
          </a:p>
          <a:p>
            <a:r>
              <a:t>The point that is easy to miss: the SAME dataset can pose either question. Take the target on the left and band it — ore or waste; or lithology: sandstone, shale, limestone — and the regression problem has become a classification problem. Banding is an engineering decision with consequences, because it throws away the distance between two values inside the same band, and it comes back in Week 9 when you start choosing how to measure performance.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Regression, and classification.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Regression, and classification</a:t>
            </a:r>
          </a:p>
          <a:p>
            <a:r>
              <a:t/>
            </a:r>
          </a:p>
          <a:p>
            <a:r>
              <a:t>CONNECT</a:t>
            </a:r>
          </a:p>
          <a:p>
            <a:r>
              <a:t>Build on the preceding slide: Regression and classification.</a:t>
            </a:r>
          </a:p>
          <a:p>
            <a:r>
              <a:t/>
            </a:r>
          </a:p>
          <a:p>
            <a:r>
              <a:t>LECTURER CUE</a:t>
            </a:r>
          </a:p>
          <a:p>
            <a:r>
              <a:t>Carry the test as a habit: what would the answer look like written down? A quantity with a unit means regression. A word or a label means classification. That question resolves almost every case you will meet, and it is faster than trying to remember the definitions.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Regression, and classification.</a:t>
            </a:r>
          </a:p>
          <a:p>
            <a:r>
              <a:t/>
            </a:r>
          </a:p>
          <a:p>
            <a:r>
              <a:t>LECTURER CUE</a:t>
            </a:r>
          </a:p>
          <a:p>
            <a:r>
              <a:t>Question C is the interesting one. It is still classification, with five categories rather than two. Multi-class problems are harder to evaluate because one accuracy figure hides which classes you are getting wrong, and that is a Week 9 topic.</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Days until replacement?</a:t>
            </a:r>
          </a:p>
          <a:p>
            <a:r>
              <a:t>Regression. The answer is a number with a unit — days.</a:t>
            </a:r>
          </a:p>
          <a:p>
            <a:r>
              <a:t>B</a:t>
            </a:r>
          </a:p>
          <a:p>
            <a:r>
              <a:t>Pass or fail?</a:t>
            </a:r>
          </a:p>
          <a:p>
            <a:r>
              <a:t>Classification. Two categories, so it is called binary classification.</a:t>
            </a:r>
          </a:p>
          <a:p>
            <a:r>
              <a:t>C</a:t>
            </a:r>
          </a:p>
          <a:p>
            <a:r>
              <a:t>Which of five fault types?</a:t>
            </a:r>
          </a:p>
          <a:p>
            <a:r>
              <a:t>Still classification, but multi-class rather than binary. It is harder: with five classes there are far more ways to be wrong, and a single accuracy figure hides which ones you get wrong. Week 9.</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LECTURER CUE</a:t>
            </a:r>
          </a:p>
          <a:p>
            <a:r>
              <a:t>You now have vocabulary you can use immediately: binary classification for two categories, multi-class for three or more. The distinction starts to matter as soon as you begin measuring performance in Week 9, because the same accuracy figure means different things in the two cases.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What machine learning cannot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machine learning cannot do</a:t>
            </a:r>
          </a:p>
          <a:p>
            <a:r>
              <a:t/>
            </a:r>
          </a:p>
          <a:p>
            <a:r>
              <a:t>CONNECT</a:t>
            </a:r>
          </a:p>
          <a:p>
            <a:r>
              <a:t>Build on the preceding slide: How did you do?.</a:t>
            </a:r>
          </a:p>
          <a:p>
            <a:r>
              <a:t/>
            </a:r>
          </a:p>
          <a:p>
            <a:r>
              <a:t>LECTURER CUE</a:t>
            </a:r>
          </a:p>
          <a:p>
            <a:r>
              <a:t>Four honest limits, so that you can recognise in advance when data will not help. This is also your protection against being sold a technique that cannot work on the problem you have.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Four limits, and none of them go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limits, and none of them go away</a:t>
            </a:r>
          </a:p>
          <a:p>
            <a:r>
              <a:t/>
            </a:r>
          </a:p>
          <a:p>
            <a:r>
              <a:t>CONNECT</a:t>
            </a:r>
          </a:p>
          <a:p>
            <a:r>
              <a:t>Build on the preceding slide: What machine learning cannot do.</a:t>
            </a:r>
          </a:p>
          <a:p>
            <a:r>
              <a:t/>
            </a:r>
          </a:p>
          <a:p>
            <a:r>
              <a:t>LECTURER CUE</a:t>
            </a:r>
          </a:p>
          <a:p>
            <a:r>
              <a:t>The caption is the sentence to remember. A machine learning method will always return an answer and will never tell you that the question was unanswerable. Judging that is your job, and it is the reason a trained engineer is still needed after the code runs.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The same four limits, in your own discipline.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four limits, in your own discipline</a:t>
            </a:r>
          </a:p>
          <a:p>
            <a:r>
              <a:t/>
            </a:r>
          </a:p>
          <a:p>
            <a:r>
              <a:t>CONNECT</a:t>
            </a:r>
          </a:p>
          <a:p>
            <a:r>
              <a:t>Build on the preceding slide: Four limits, and none of them go away.</a:t>
            </a:r>
          </a:p>
          <a:p>
            <a:r>
              <a:t/>
            </a:r>
          </a:p>
          <a:p>
            <a:r>
              <a:t>LECTURER CUE</a:t>
            </a:r>
          </a:p>
          <a:p>
            <a:r>
              <a:t>Every project in Week 9 has to survive these four questions before it is approved. A team that cannot answer them has picked a technique and gone looking for somewhere to use it, which is the most common way a student project fails.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Challenge: the Problem Hunt.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Challenge: the Problem Hunt</a:t>
            </a:r>
          </a:p>
          <a:p>
            <a:r>
              <a:t/>
            </a:r>
          </a:p>
          <a:p>
            <a:r>
              <a:t>CONNECT</a:t>
            </a:r>
          </a:p>
          <a:p>
            <a:r>
              <a:t>Build on the preceding slide: The same four limits, in your own discipline.</a:t>
            </a:r>
          </a:p>
          <a:p>
            <a:r>
              <a:t/>
            </a:r>
          </a:p>
          <a:p>
            <a:r>
              <a:t>LECTURER CUE</a:t>
            </a:r>
          </a:p>
          <a:p>
            <a:r>
              <a:t>In this segment you get a problem and no method, and the questions you are asked will not be answered for you. Proceeding without instructions is the skill being practised, and roughly one segment of every session this semester works this way.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Problem Hunt.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Problem Hunt</a:t>
            </a:r>
          </a:p>
          <a:p>
            <a:r>
              <a:t/>
            </a:r>
          </a:p>
          <a:p>
            <a:r>
              <a:t>CONNECT</a:t>
            </a:r>
          </a:p>
          <a:p>
            <a:r>
              <a:t>Build on the preceding slide: Challenge: the Problem Hunt.</a:t>
            </a:r>
          </a:p>
          <a:p>
            <a:r>
              <a:t/>
            </a:r>
          </a:p>
          <a:p>
            <a:r>
              <a:t>LECTURER CUE</a:t>
            </a:r>
          </a:p>
          <a:p>
            <a:r>
              <a:t>The rejections carry more weight than the acceptances. A team that can say clearly why something is NOT a machine learning problem has understood the session, and the six questions on the slide are the ones to argue each placement against. Keep your sheet: the class list of problems built in this segment is what teams draw on when they choose projects in Week 9.</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How your team works, all semester.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your team works, all semester</a:t>
            </a:r>
          </a:p>
          <a:p>
            <a:r>
              <a:t/>
            </a:r>
          </a:p>
          <a:p>
            <a:r>
              <a:t>CONNECT</a:t>
            </a:r>
          </a:p>
          <a:p>
            <a:r>
              <a:t>Build on the preceding slide: Problem Hunt.</a:t>
            </a:r>
          </a:p>
          <a:p>
            <a:r>
              <a:t/>
            </a:r>
          </a:p>
          <a:p>
            <a:r>
              <a:t>LECTURER CUE</a:t>
            </a:r>
          </a:p>
          <a:p>
            <a:r>
              <a:t>Sign the team charter before you leave: names, contact details, a weekly meeting slot, and what you will do if somebody stops contributing. Agreeing that in Week 1 is far easier than agreeing it in November, and the charter is the document your contribution log gets read against.</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Gallery walk, and what you owe me.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Gallery walk, and what you owe me</a:t>
            </a:r>
          </a:p>
          <a:p>
            <a:r>
              <a:t/>
            </a:r>
          </a:p>
          <a:p>
            <a:r>
              <a:t>CONNECT</a:t>
            </a:r>
          </a:p>
          <a:p>
            <a:r>
              <a:t>Build on the preceding slide: How your team works, all semester.</a:t>
            </a:r>
          </a:p>
          <a:p>
            <a:r>
              <a:t/>
            </a:r>
          </a:p>
          <a:p>
            <a:r>
              <a:t>LECTURER CUE</a:t>
            </a:r>
          </a:p>
          <a:p>
            <a:r>
              <a:t>Gallery walk: your team visits two other teams' boards and writes one question on each sheet. Questions only, no verdicts. This is the first peer review of the semester, and in Week 13 peer review is graded.</a:t>
            </a:r>
          </a:p>
          <a:p>
            <a:r>
              <a:t/>
            </a:r>
          </a:p>
          <a:p>
            <a:r>
              <a:t>NEXT</a:t>
            </a:r>
          </a:p>
          <a:p>
            <a:r>
              <a:t>Before Week 2.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Week 2</a:t>
            </a:r>
          </a:p>
          <a:p>
            <a:r>
              <a:t/>
            </a:r>
          </a:p>
          <a:p>
            <a:r>
              <a:t>CONNECT</a:t>
            </a:r>
          </a:p>
          <a:p>
            <a:r>
              <a:t>Build on the preceding slide: Gallery walk, and what you owe me.</a:t>
            </a:r>
          </a:p>
          <a:p>
            <a:r>
              <a:t/>
            </a:r>
          </a:p>
          <a:p>
            <a:r>
              <a:t>LECTURER CUE</a:t>
            </a:r>
          </a:p>
          <a:p>
            <a:r>
              <a:t>The 'not solvable' item is the most valuable part of A1, because it forces you to use the four limits rather than remember them. Take the instruction not to install anything seriously: the course runs in Google Colab, and a Python installation you set up at home creates a problem that cannot be diagnosed in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A1 CATCH-UP</a:t>
            </a:r>
          </a:p>
          <a:p>
            <a:r>
              <a:t>The original Week 1 schedule has been superseded for catch-up collection. Use the current cohort A1 form deadline, aligned with its Week 2 assignment upload. Quiz 1 is separate and gets 24 hours from its own activation.</a:t>
            </a:r>
          </a:p>
          <a:p>
            <a:r>
              <a:t/>
            </a:r>
          </a:p>
          <a:p>
            <a:r>
              <a:t>NEXT</a:t>
            </a:r>
          </a:p>
          <a:p>
            <a:r>
              <a:t>Watch this before Week 2.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Watch this before Week 2</a:t>
            </a:r>
          </a:p>
          <a:p>
            <a:r>
              <a:t/>
            </a:r>
          </a:p>
          <a:p>
            <a:r>
              <a:t>CONNECT</a:t>
            </a:r>
          </a:p>
          <a:p>
            <a:r>
              <a:t>Build on the preceding slide: Before Week 2.</a:t>
            </a:r>
          </a:p>
          <a:p>
            <a:r>
              <a:t/>
            </a:r>
          </a:p>
          <a:p>
            <a:r>
              <a:t>LECTURER CUE</a:t>
            </a:r>
          </a:p>
          <a:p>
            <a:r>
              <a:t>Watch for where he draws the boundaries between the four terms, and whether they match the nested diagram from today. If they differ, raise it next week — the field genuinely does not fully agree on this. Two optional extras: StatQuest, 'A Gentle Introduction to Machine Learning', https://www.youtube.com/watch?v=Gv9_4yMHFhI, whose author Josh Starmer is the spine of Weeks 8 to 12; and if you have ninety seconds only, Fireship, 'Machine Learning Explained in 100 Seconds', https://www.youtube.com/watch?v=PeMlggyqz0Y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Revision material.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Revision material</a:t>
            </a:r>
          </a:p>
          <a:p>
            <a:r>
              <a:t/>
            </a:r>
          </a:p>
          <a:p>
            <a:r>
              <a:t>CONNECT</a:t>
            </a:r>
          </a:p>
          <a:p>
            <a:r>
              <a:t>Build on the preceding slide: Watch this before Week 2.</a:t>
            </a:r>
          </a:p>
          <a:p>
            <a:r>
              <a:t/>
            </a:r>
          </a:p>
          <a:p>
            <a:r>
              <a:t>LECTURER CUE</a:t>
            </a:r>
          </a:p>
          <a:p>
            <a:r>
              <a:t>Everything from here on is revision material rather than presented content: a summary, a self-test with worked answers, an eighteen-term glossary and a one-page reference sheet. It is written to be studied from in your own time.</a:t>
            </a:r>
          </a:p>
          <a:p>
            <a:r>
              <a:t/>
            </a:r>
          </a:p>
          <a:p>
            <a:r>
              <a:t>NEXT</a:t>
            </a:r>
          </a:p>
          <a:p>
            <a:r>
              <a:t>What you should take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should take away</a:t>
            </a:r>
          </a:p>
          <a:p>
            <a:r>
              <a:t/>
            </a:r>
          </a:p>
          <a:p>
            <a:r>
              <a:t>CONNECT</a:t>
            </a:r>
          </a:p>
          <a:p>
            <a:r>
              <a:t>Build on the preceding slide: Revision material.</a:t>
            </a:r>
          </a:p>
          <a:p>
            <a:r>
              <a:t/>
            </a:r>
          </a:p>
          <a:p>
            <a:r>
              <a:t>LECTURER CUE</a:t>
            </a:r>
          </a:p>
          <a:p>
            <a:r>
              <a:t>Seven statements covering the whole session. If any of them reads as new to you, go back to the slide it came from before Week 2 rather than after it.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Self-test — try these before you look.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Self-test — try these before you look</a:t>
            </a:r>
          </a:p>
          <a:p>
            <a:r>
              <a:t/>
            </a:r>
          </a:p>
          <a:p>
            <a:r>
              <a:t>CONNECT</a:t>
            </a:r>
          </a:p>
          <a:p>
            <a:r>
              <a:t>Build on the preceding slide: What you should take away.</a:t>
            </a:r>
          </a:p>
          <a:p>
            <a:r>
              <a:t/>
            </a:r>
          </a:p>
          <a:p>
            <a:r>
              <a:t>LECTURER CUE</a:t>
            </a:r>
          </a:p>
          <a:p>
            <a:r>
              <a:t>Optional revision, best attempted with a pencil before you look at the next slide. Question D is a Week 10 idea planted early: anything that notices the circularity of testing a model on cases it has already seen is a good answer at this stage.</a:t>
            </a:r>
          </a:p>
          <a:p>
            <a:r>
              <a:t/>
            </a:r>
          </a:p>
          <a:p>
            <a:r>
              <a:t>EXPLAIN IN ORDINARY WORDS</a:t>
            </a:r>
          </a:p>
          <a:p>
            <a:r>
              <a:t>A percentage is out of one hundred. Moving from 10% to 15% is an increase of 5 percentage points, but 50% relative to the original 10%.</a:t>
            </a:r>
          </a:p>
          <a:p>
            <a:r>
              <a:t/>
            </a:r>
          </a:p>
          <a:p>
            <a:r>
              <a:t>CHECK AND EXPECTED ANSWER</a:t>
            </a:r>
          </a:p>
          <a:p>
            <a:r>
              <a:t>From 20% to 25%: how many percentage points? 5. Relative increase? 25%.</a:t>
            </a:r>
          </a:p>
          <a:p>
            <a:r>
              <a:t/>
            </a:r>
          </a:p>
          <a:p>
            <a:r>
              <a:t>IF LEARNERS ARE STUCK</a:t>
            </a:r>
          </a:p>
          <a:p>
            <a:r>
              <a:t>Write the subtraction and the division separately; label their different units.</a:t>
            </a:r>
          </a:p>
          <a:p>
            <a:r>
              <a:t/>
            </a:r>
          </a:p>
          <a:p>
            <a:r>
              <a:t>DISCUSSION KEY FOR THIS SLIDE</a:t>
            </a:r>
          </a:p>
          <a:p>
            <a:r>
              <a:t>ANSWERS</a:t>
            </a:r>
          </a:p>
          <a:p>
            <a:r>
              <a:t>How did you do?</a:t>
            </a:r>
          </a:p>
          <a:p>
            <a:r>
              <a:t>A</a:t>
            </a:r>
          </a:p>
          <a:p>
            <a:r>
              <a:t>Three questions before agreeing to 'use AI'?</a:t>
            </a:r>
          </a:p>
          <a:p>
            <a:r>
              <a:t>What exactly are we predicting? What data exists, who measured it, and is it kept? And would a rule or an equation we already have do this better? If any of those has no answer, stop.</a:t>
            </a:r>
          </a:p>
          <a:p>
            <a:r>
              <a:t>B</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C</a:t>
            </a:r>
          </a:p>
          <a:p>
            <a:r>
              <a:t>One of each from your discipline?</a:t>
            </a:r>
          </a:p>
          <a:p>
            <a:r>
              <a:t>Regression: any quantity with a unit — silica in the concentrate in percentage points. Classification: ore or waste; or lithology: sandstone, shale, limestone.</a:t>
            </a:r>
          </a:p>
          <a:p>
            <a:r>
              <a:t>D</a:t>
            </a:r>
          </a:p>
          <a:p>
            <a:r>
              <a:t>Why is a good fit on seen data not evidence?</a:t>
            </a:r>
          </a:p>
          <a:p>
            <a:r>
              <a:t>Because the model could simply have memorised those cases. The only honest test is performance on examples it has never seen — exactly what you did with case 13. This is the whole subject of Week 10.</a:t>
            </a:r>
          </a:p>
          <a:p>
            <a:r>
              <a:t>E</a:t>
            </a:r>
          </a:p>
          <a:p>
            <a:r>
              <a:t>What else before acting?</a:t>
            </a:r>
          </a:p>
          <a:p>
            <a:r>
              <a:t>How large the error is in engineering terms and whether that is tolerable; what it costs when the model is wrong; and whether today's conditions still resemble the data it learned from.</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Self-test — try these before you look.</a:t>
            </a:r>
          </a:p>
          <a:p>
            <a:r>
              <a:t/>
            </a:r>
          </a:p>
          <a:p>
            <a:r>
              <a:t>LECTURER CUE</a:t>
            </a:r>
          </a:p>
          <a:p>
            <a:r>
              <a:t>Answer D is the most important idea in the course. A model can simply memorise the cases it was shown, so good performance on those cases is no evidence of anything. The only honest test is data the model has never seen, which is exactly what case 13 was for you.</a:t>
            </a:r>
          </a:p>
          <a:p>
            <a:r>
              <a:t/>
            </a:r>
          </a:p>
          <a:p>
            <a:r>
              <a:t>EXPLAIN IN ORDINARY WORDS</a:t>
            </a:r>
          </a:p>
          <a:p>
            <a:r>
              <a:t>A percentage is out of one hundred. Moving from 10% to 15% is an increase of 5 percentage points, but 50% relative to the original 10%.</a:t>
            </a:r>
          </a:p>
          <a:p>
            <a:r>
              <a:t/>
            </a:r>
          </a:p>
          <a:p>
            <a:r>
              <a:t>CHECK AND EXPECTED ANSWER</a:t>
            </a:r>
          </a:p>
          <a:p>
            <a:r>
              <a:t>From 20% to 25%: how many percentage points? 5. Relative increase? 25%.</a:t>
            </a:r>
          </a:p>
          <a:p>
            <a:r>
              <a:t/>
            </a:r>
          </a:p>
          <a:p>
            <a:r>
              <a:t>IF LEARNERS ARE STUCK</a:t>
            </a:r>
          </a:p>
          <a:p>
            <a:r>
              <a:t>Write the subtraction and the division separately; label their different units.</a:t>
            </a:r>
          </a:p>
          <a:p>
            <a:r>
              <a:t/>
            </a:r>
          </a:p>
          <a:p>
            <a:r>
              <a:t>NEXT</a:t>
            </a:r>
          </a:p>
          <a:p>
            <a:r>
              <a:t>Every word we used today (1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(3 of 3)</a:t>
            </a:r>
          </a:p>
          <a:p>
            <a:r>
              <a:t/>
            </a:r>
          </a:p>
          <a:p>
            <a:r>
              <a:t>CONNECT</a:t>
            </a:r>
          </a:p>
          <a:p>
            <a:r>
              <a:t>Build on the preceding slide: Every word we used today (2 of 3).</a:t>
            </a:r>
          </a:p>
          <a:p>
            <a:r>
              <a:t/>
            </a:r>
          </a:p>
          <a:p>
            <a:r>
              <a:t>LECTURER CUE</a:t>
            </a:r>
          </a:p>
          <a:p>
            <a:r>
              <a:t>Eighteen terms. If you can define all eighteen by Week 3 you are ahead of the schedule, and these exact words appear in the weekly quizzes. The last two entries, generalisation and association versus cause, are forward references; they are printed here so the words are familiar when they arrive properly in Weeks 8 and 10.</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Eight questions to ask about any data problem.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Eight questions to ask about any data problem</a:t>
            </a:r>
          </a:p>
          <a:p>
            <a:r>
              <a:t/>
            </a:r>
          </a:p>
          <a:p>
            <a:r>
              <a:t>CONNECT</a:t>
            </a:r>
          </a:p>
          <a:p>
            <a:r>
              <a:t>Build on the preceding slide: Every word we used today (3 of 3).</a:t>
            </a:r>
          </a:p>
          <a:p>
            <a:r>
              <a:t/>
            </a:r>
          </a:p>
          <a:p>
            <a:r>
              <a:t>LECTURER CUE</a:t>
            </a:r>
          </a:p>
          <a:p>
            <a:r>
              <a:t>These eight questions are the spine of the whole course. Every project milestone from Week 9 onwards is assessed against some subset of them, and this is the page worth having in front of you in the Week 14 practical test.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Five questions,.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Five questions,</a:t>
            </a:r>
          </a:p>
          <a:p>
            <a:r>
              <a:t/>
            </a:r>
          </a:p>
          <a:p>
            <a:r>
              <a:t>CONNECT</a:t>
            </a:r>
          </a:p>
          <a:p>
            <a:r>
              <a:t>Build on the preceding slide: Eight questions to ask about any data problem.</a:t>
            </a:r>
          </a:p>
          <a:p>
            <a:r>
              <a:t/>
            </a:r>
          </a:p>
          <a:p>
            <a:r>
              <a:t>LECTURER CUE</a:t>
            </a:r>
          </a:p>
          <a:p>
            <a:r>
              <a:t>The last five minutes of every teaching session. Five questions, one per cent, and you see your score as you submit.</a:t>
            </a:r>
          </a:p>
          <a:p>
            <a:r>
              <a:t>Nothing on it can be answered without reading what it shows you, so there is nothing to revise for it beyond having done the session. Twelve run across the semester and the best ten count.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You have already done.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have already done</a:t>
            </a:r>
          </a:p>
          <a:p>
            <a:r>
              <a:t/>
            </a:r>
          </a:p>
          <a:p>
            <a:r>
              <a:t>CONNECT</a:t>
            </a:r>
          </a:p>
          <a:p>
            <a:r>
              <a:t>Build on the preceding slide: Five questions,.</a:t>
            </a:r>
          </a:p>
          <a:p>
            <a:r>
              <a:t/>
            </a:r>
          </a:p>
          <a:p>
            <a:r>
              <a:t>LECTURER CUE</a:t>
            </a:r>
          </a:p>
          <a:p>
            <a:r>
              <a:t>Before next week: A1 due at the start of the session, a GitHub account and a Google account created, the video watched, and nothing installed. Week 2 needs a browser and nothing else.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p:txBody>
      </p:sp>
      <p:sp>
        <p:nvSpPr>
          <p:cNvPr id="4" name="Slide Number Placeholder 3"/>
          <p:cNvSpPr>
            <a:spLocks noGrp="1"/>
          </p:cNvSpPr>
          <p:nvPr>
            <p:ph type="sldNum" idx="5" sz="quarter"/>
          </p:nvPr>
        </p:nvSpPr>
        <p:spPr/>
      </p:sp>
    </p:spTree>
  </p:cSld>
  <p:clrMapOvr>
    <a:masterClrMapping/>
  </p:clrMapOvr>
</p:notes>
</file>

<file path=ppt/notesSlides/notesSlide100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(1 of 3)</a:t>
            </a:r>
          </a:p>
          <a:p>
            <a:r>
              <a:t/>
            </a:r>
          </a:p>
          <a:p>
            <a:r>
              <a:t>CONNECT</a:t>
            </a:r>
          </a:p>
          <a:p>
            <a:r>
              <a:t>Build on the preceding slide: How did you do?.</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Every word we used today (2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(2 of 3)</a:t>
            </a:r>
          </a:p>
          <a:p>
            <a:r>
              <a:t/>
            </a:r>
          </a:p>
          <a:p>
            <a:r>
              <a:t>CONNECT</a:t>
            </a:r>
          </a:p>
          <a:p>
            <a:r>
              <a:t>Build on the preceding slide: Every word we used today (1 of 3).</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Every word we used today (3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Mining &amp; Petroleum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PhD student in Applied Informatics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exploration, ore and reservoir characterisation, production and equipment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promise of the course. Most of you cannot do step two today. All of you can get to step six by December, and the students who do are the ones who do the weekly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promise, the assessment, and what I expect from you. Then we start on the actual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Everything is practical: work with data, write and run code, build and evaluate a model, explain your reasoning. Sixty-five per cent of the mark is individual, so you cannot be carried and you cannot be dragged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but ask well. Bring the error message, what you already tried, and what you expected to happen. That is not a hurdle in front of help — it is the actual professional skill.</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Struggle before you seek rescue. In the challenge segments you are supposed to be stuck for a while.</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dataset staged locally, so a slow connection is never your problem.</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straight answer to 'why are we learning this?', every single time it is asked.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whole field, start to finish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we teach you any of it, here is the entire territory — and exactly which parts of it this course covers, which parts Semester 2 covers, and which parts we do not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YOU ALREADY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Stage 2 is the one that matters to you</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You already have the mathematics</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puts calculus, linear algebra, statistics and probability as a major stage — for most people entering this field from computing, it is the hardest one.</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did it in Years 1 and 2. Derivatives, matrices, distributions, hypothesis tests. You are not starting from zero on the roadmap; you are starting from stage 3 with stage 2 already behind you.</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What you are missing is the programming, and that is the easier half</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Stages 1 and 3 — Python and the data libraries — are five weeks of work. The mathematics took you two years; Weeks 2 to 6 cover the five.</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an engineer is well placed here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people who struggle in this field are usually strong programmers with no domain knowledge and shaky mathematics. You are the reverse, and the reverse is more useful.</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engineer who can do this in their own discipline is rarer, and harder to replace, than a generalist who can do it in none.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course sits, honestly</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grey is what we do not teach. Reinforcement learning, full MLOps and most of the advanced language-model material are outside this course. I would rather you knew that now than discovered it in December.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this course is actually about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six months of process readings every twenty seconds, each with the assay that came back later.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assay records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actual idea of the course, and the vocabulary you need to talk about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silica assay takes an hour to come back from the laboratory. Can we know it now, from the process variables we already measure?"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approximate answer now is worth more than an exact answer later — which is exactly the case in the question we opened with.</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we actually mean by 'data'</a:t>
            </a:r>
          </a:p>
        </p:txBody>
      </p:sp>
      <p:pic>
        <p:nvPicPr>
          <p:cNvPr id="4" name="Picture 3" descr="data_table_CML3113.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single most important picture in today's session. Every dataset you meet this semester has this shape: one row per example, feature columns for what you know beforehand, and one target column for the thing you want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iron feed grade, starch flow and pulp pH are the features. Silica in the concentrate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Starch flow is associated with concentrate quality; the model learns the association and knows nothing about surface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froth flotation process data records, is silica in the concentrate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You only know what repair was done AFTER the failure, so it cannot help you predict the failure. Include it and your model will look brilliant in testing and be useless in service. This is called data leakage and we spend a whole session on it in Week 10.</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Contained metal is tonnage times grade. That is arithmetic; there is nothing to predict.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are going to do machine learning by hand, on paper, before anybody writes a line of code. Teams of four or five — form them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3.png"/>
          <p:cNvPicPr>
            <a:picLocks noChangeAspect="1"/>
          </p:cNvPicPr>
          <p:nvPr/>
        </p:nvPicPr>
        <p:blipFill>
          <a:blip r:embed="rId2"/>
          <a:stretch>
            <a:fillRect/>
          </a:stretch>
        </p:blipFill>
        <p:spPr>
          <a:xfrm>
            <a:off x="2971575" y="1911095"/>
            <a:ext cx="624854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each with its features and its known outcome. Case 13 has features but the outcome is hidden. In your team: predict it, write the number down, and write one sentence saying how you decided. Fifteen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There is no single right method. This is one line of thinking that works, and it is close to what most teams arrive at.</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That is genuinely the whole idea. You found a pattern in examples and used it on a case you had never seen — which is exactly what every algorithm in this course does.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3.png"/>
          <p:cNvPicPr>
            <a:picLocks noChangeAspect="1"/>
          </p:cNvPicPr>
          <p:nvPr/>
        </p:nvPicPr>
        <p:blipFill>
          <a:blip r:embed="rId2"/>
          <a:stretch>
            <a:fillRect/>
          </a:stretch>
        </p:blipFill>
        <p:spPr>
          <a:xfrm>
            <a:off x="3080201" y="1911095"/>
            <a:ext cx="603129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is the true value. The distance between your guess and the star is your ERROR — and measuring that distance honestly is what most of this course is about. The dashed line is the pattern you were sensing without being able to write it down.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 just did every step of a machine learning project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answer with the truth.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on unseen data — the single most important idea in the course. Week 8 and Week 10.</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evaluated the error. That is Week 10, and it is where engineers earn their keep.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3.png"/>
          <p:cNvPicPr>
            <a:picLocks noChangeAspect="1"/>
          </p:cNvPicPr>
          <p:nvPr/>
        </p:nvPicPr>
        <p:blipFill>
          <a:blip r:embed="rId2"/>
          <a:stretch>
            <a:fillRect/>
          </a:stretch>
        </p:blipFill>
        <p:spPr>
          <a:xfrm>
            <a:off x="2405870" y="1911095"/>
            <a:ext cx="737995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 silica? Classification: ore or waste; or lithology: sandstone, shale, limestone.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honest limits. This segment is here to protect you from being sold something.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machine learning method will always give you an answer. It will never tell you that the question was unanswerable. That is your job.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Blast fragmentation was judged by eye for decades. There is no dataset of it.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shift supervisor's name does not cause recovery to change. A model given that column will still find a pattern in it.</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Contained metal is tonnage times grade. That is arithmetic; there is nothing to predict.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ore body will not transfer to the next bench when the mineralogy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get a problem and no method. I will ask you questions and answer none. This is how roughly one segment of every session works.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list six problems from exploration, ore and reservoir characterisation, production and equipment health where data might help.</a:t>
            </a:r>
          </a:p>
          <a:p>
            <a:pPr algn="l">
              <a:lnSpc>
                <a:spcPct val="125000"/>
              </a:lnSpc>
              <a:spcAft>
                <a:spcPts val="600"/>
              </a:spcAft>
            </a:pPr>
            <a:r>
              <a:rPr sz="1923" b="0" i="0">
                <a:solidFill>
                  <a:srgbClr val="1C3144"/>
                </a:solidFill>
                <a:latin typeface="Calibri"/>
              </a:rPr>
              <a:t>Then sort all six into: predict a NUMBER, predict a CATEGORY, or NOT a machine learning problem — and justify every placement, including the rejections.</a:t>
            </a:r>
          </a:p>
          <a:p>
            <a:pPr algn="l">
              <a:lnSpc>
                <a:spcPct val="125000"/>
              </a:lnSpc>
              <a:spcAft>
                <a:spcPts val="600"/>
              </a:spcAft>
            </a:pPr>
            <a:r>
              <a:rPr sz="1923" b="0" i="0">
                <a:solidFill>
                  <a:srgbClr val="1C3144"/>
                </a:solidFill>
                <a:latin typeface="Calibri"/>
              </a:rPr>
              <a:t>Thirty minutes. No template, no worked example, no help from me.</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are you actually trying to find?</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Teams of four or five, formed today, kept to the end</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Data analyst · machine learning engineer · domain engineer · documentation lead · presenter. Nobody does the same job twice, so nobody hides in one role.</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every student answers two unseen questions about their own team's work. That is how a team mark becomes an individual one — you cannot be carried, and you will not be dragged down.</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Watch for where he draws the boundaries between the four terms, and whether they match the nested diagram we drew today. If they differ, raise it next week — the field genuinely does not fully agree on this.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limits never go away: no data, no signal, physics is simply better, and the future stopped resembling the past.</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method will always give you an answer. It will never tell you the question was unanswerable — that judgement is the engineer's job, and it is what this course is really training.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silica in the concentrate to within a few percentage points.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exactly are we predicting? What data exists, who measured it, and is it kept? And would a rule or an equation we already have do this better? If any of those has no answer, stop.</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silica in the concentrate in percentage points. Classification: ore or waste; or lithology: sandstone, shale, limestone.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the model could simply have memorised those cases. The only honest test is performance on examples it has never seen — exactly what you did with case 13. This is the whole subject of Week 10.</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Artificial intelligence</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Any machine doing something we would call intelligent. A goal that many techniques aim at.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Machine learning</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Inferring a rule from examples instead of writing it yourself.</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Deep learning</a:t>
            </a:r>
          </a:p>
        </p:txBody>
      </p:sp>
      <p:sp>
        <p:nvSpPr>
          <p:cNvPr id="9" name="TextBox 8"/>
          <p:cNvSpPr txBox="1"/>
          <p:nvPr/>
        </p:nvSpPr>
        <p:spPr>
          <a:xfrm>
            <a:off x="685800" y="463502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Machine learning using large neural networks. Semester 2.</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science</a:t>
            </a:r>
          </a:p>
        </p:txBody>
      </p:sp>
      <p:sp>
        <p:nvSpPr>
          <p:cNvPr id="11" name="TextBox 10"/>
          <p:cNvSpPr txBox="1"/>
          <p:nvPr/>
        </p:nvSpPr>
        <p:spPr>
          <a:xfrm>
            <a:off x="685800" y="551754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craft of getting a trustworthy answer out of data — finding, cleaning, questioning, analysing, presenting.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Dataset</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table of past cases you can learn from.</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Example (or row, or observation)</a:t>
            </a:r>
          </a:p>
        </p:txBody>
      </p:sp>
      <p:sp>
        <p:nvSpPr>
          <p:cNvPr id="15" name="TextBox 14"/>
          <p:cNvSpPr txBox="1"/>
          <p:nvPr/>
        </p:nvSpPr>
        <p:spPr>
          <a:xfrm>
            <a:off x="6324447" y="3160824"/>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case: all its features plus its known outcome.</a:t>
            </a:r>
          </a:p>
        </p:txBody>
      </p:sp>
      <p:sp>
        <p:nvSpPr>
          <p:cNvPr id="16" name="TextBox 15"/>
          <p:cNvSpPr txBox="1"/>
          <p:nvPr/>
        </p:nvSpPr>
        <p:spPr>
          <a:xfrm>
            <a:off x="6324447" y="367612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Feature</a:t>
            </a:r>
          </a:p>
        </p:txBody>
      </p:sp>
      <p:sp>
        <p:nvSpPr>
          <p:cNvPr id="17" name="TextBox 16"/>
          <p:cNvSpPr txBox="1"/>
          <p:nvPr/>
        </p:nvSpPr>
        <p:spPr>
          <a:xfrm>
            <a:off x="6324447" y="404333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column known before the outcome. An input to the prediction.</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Target (or label)</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column you are trying to predict.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Regression</a:t>
            </a:r>
          </a:p>
        </p:txBody>
      </p:sp>
      <p:sp>
        <p:nvSpPr>
          <p:cNvPr id="5" name="TextBox 4"/>
          <p:cNvSpPr txBox="1"/>
          <p:nvPr/>
        </p:nvSpPr>
        <p:spPr>
          <a:xfrm>
            <a:off x="685800"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a number on a continuous scale.</a:t>
            </a:r>
          </a:p>
        </p:txBody>
      </p:sp>
      <p:sp>
        <p:nvSpPr>
          <p:cNvPr id="6" name="TextBox 5"/>
          <p:cNvSpPr txBox="1"/>
          <p:nvPr/>
        </p:nvSpPr>
        <p:spPr>
          <a:xfrm>
            <a:off x="685800"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Classification</a:t>
            </a:r>
          </a:p>
        </p:txBody>
      </p:sp>
      <p:sp>
        <p:nvSpPr>
          <p:cNvPr id="7" name="TextBox 6"/>
          <p:cNvSpPr txBox="1"/>
          <p:nvPr/>
        </p:nvSpPr>
        <p:spPr>
          <a:xfrm>
            <a:off x="685800"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which of a small set of categories a case belongs to.</a:t>
            </a:r>
          </a:p>
        </p:txBody>
      </p:sp>
      <p:sp>
        <p:nvSpPr>
          <p:cNvPr id="8" name="TextBox 7"/>
          <p:cNvSpPr txBox="1"/>
          <p:nvPr/>
        </p:nvSpPr>
        <p:spPr>
          <a:xfrm>
            <a:off x="685800"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Binary classification</a:t>
            </a:r>
          </a:p>
        </p:txBody>
      </p:sp>
      <p:sp>
        <p:nvSpPr>
          <p:cNvPr id="9" name="TextBox 8"/>
          <p:cNvSpPr txBox="1"/>
          <p:nvPr/>
        </p:nvSpPr>
        <p:spPr>
          <a:xfrm>
            <a:off x="685800"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exactly two categories, such as pass or fail.</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Multi-class classification</a:t>
            </a:r>
          </a:p>
        </p:txBody>
      </p:sp>
      <p:sp>
        <p:nvSpPr>
          <p:cNvPr id="11" name="TextBox 10"/>
          <p:cNvSpPr txBox="1"/>
          <p:nvPr/>
        </p:nvSpPr>
        <p:spPr>
          <a:xfrm>
            <a:off x="685800" y="551754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three or more categories.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Prediction</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model's answer for a case.</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Error</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distance between the prediction and the truth. Measuring it honestly is most of this course.</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Unseen data</a:t>
            </a:r>
          </a:p>
        </p:txBody>
      </p:sp>
      <p:sp>
        <p:nvSpPr>
          <p:cNvPr id="17" name="TextBox 16"/>
          <p:cNvSpPr txBox="1"/>
          <p:nvPr/>
        </p:nvSpPr>
        <p:spPr>
          <a:xfrm>
            <a:off x="6324447"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Cases the model was not shown while it was learning. The only fair test.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a real engineering question today with a pencil and twelve rows of data, and you measured your own error. Everything else this semester is making that faster, more reliable, and honest about what it does not know.</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 where the work actually happens. Bring a browser; you will install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