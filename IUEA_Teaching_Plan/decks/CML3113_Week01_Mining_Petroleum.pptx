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10052.xml" ContentType="application/vnd.openxmlformats-officedocument.presentationml.notesSlide+xml"/>
  <Override PartName="/ppt/notesSlides/notesSlide1005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0052.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52.xml" /></ns0:Relationships>
</file>

<file path=ppt/notesSlides/_rels/notesSlide10053.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53.xml" /></ns0: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machine learning</a:t>
            </a:r>
          </a:p>
          <a:p>
            <a:r>
              <a:t>CML3113, Week 1, slide 1</a:t>
            </a:r>
          </a:p>
          <a:p>
            <a:r>
              <a:t/>
            </a:r>
          </a:p>
          <a:p>
            <a:r>
              <a:t>Explanation to give</a:t>
            </a:r>
          </a:p>
          <a:p>
            <a:r>
              <a:t>Start with an engineering decision, then introduce learning from examples. No code is needed today.</a:t>
            </a:r>
          </a:p>
          <a:p>
            <a:r>
              <a:t/>
            </a:r>
          </a:p>
          <a:p>
            <a:r>
              <a:t>Worked illustration / lecturer answer</a:t>
            </a:r>
          </a:p>
          <a:p>
            <a:r>
              <a:t>A numerical quantity such as days until servicing is a regression target. A label such as service due is a classification target.</a:t>
            </a:r>
          </a:p>
          <a:p>
            <a:r>
              <a:t/>
            </a:r>
          </a:p>
          <a:p>
            <a:r>
              <a:t>Misconception to address</a:t>
            </a:r>
          </a:p>
          <a:p>
            <a:r>
              <a:t>Use this as an orientation to the lesson. Terms and syntax will be unpacked on their own slides; students do not need to know them in advance.</a:t>
            </a:r>
          </a:p>
          <a:p>
            <a:r>
              <a:t/>
            </a:r>
          </a:p>
          <a:p>
            <a:r>
              <a:t>Continue to</a:t>
            </a:r>
          </a:p>
          <a:p>
            <a:r>
              <a:t>Jotham Martin Wambi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Jotham Martin Wambi</a:t>
            </a:r>
          </a:p>
          <a:p>
            <a:r>
              <a:t>CML3113, Week 1, slide 2</a:t>
            </a:r>
          </a:p>
          <a:p>
            <a:r>
              <a:t/>
            </a:r>
          </a:p>
          <a:p>
            <a:r>
              <a:t>Explanation to give</a:t>
            </a:r>
          </a:p>
          <a:p>
            <a:r>
              <a:t>Introduce your applied data and teaching work briefly, then link it to what beginners will learn in this course.</a:t>
            </a:r>
          </a:p>
          <a:p>
            <a:r>
              <a:t/>
            </a:r>
          </a:p>
          <a:p>
            <a:r>
              <a:t>Worked illustration / lecturer answer</a:t>
            </a:r>
          </a:p>
          <a:p>
            <a:r>
              <a:t>Use the formally accurate affiliation: incoming PhD student in Applied Informatics, Osaka Metropolitan University, Japan, April 2027 intake. The acceptance precedes enrolment. The master’s institution is Yamaguchi University, Japan.</a:t>
            </a:r>
          </a:p>
          <a:p>
            <a:r>
              <a:t/>
            </a:r>
          </a:p>
          <a:p>
            <a:r>
              <a:t>Misconception to address</a:t>
            </a:r>
          </a:p>
          <a:p>
            <a:r>
              <a:t>The older visible “PhD student” wording predates the clarified enrolment status. Do not describe yourself as already enrolled for the December 2026 period.</a:t>
            </a:r>
          </a:p>
          <a:p>
            <a:r>
              <a:t/>
            </a:r>
          </a:p>
          <a:p>
            <a:r>
              <a:t>Continue to</a:t>
            </a:r>
          </a:p>
          <a:p>
            <a:r>
              <a:t>By the end of today you can…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today you can…</a:t>
            </a:r>
          </a:p>
          <a:p>
            <a:r>
              <a:t>CML3113, Week 1, slide 3</a:t>
            </a:r>
          </a:p>
          <a:p>
            <a:r>
              <a:t/>
            </a:r>
          </a:p>
          <a:p>
            <a:r>
              <a:t>Explanation to give</a:t>
            </a:r>
          </a:p>
          <a:p>
            <a:r>
              <a:t>Start with an engineering decision, then introduce learning from examples. No code is needed today.</a:t>
            </a:r>
          </a:p>
          <a:p>
            <a:r>
              <a:t/>
            </a:r>
          </a:p>
          <a:p>
            <a:r>
              <a:t>Worked illustration / lecturer answer</a:t>
            </a:r>
          </a:p>
          <a:p>
            <a:r>
              <a:t>A numerical quantity such as days until servicing is a regression target. A label such as service due is a classification target.</a:t>
            </a:r>
          </a:p>
          <a:p>
            <a:r>
              <a:t/>
            </a:r>
          </a:p>
          <a:p>
            <a:r>
              <a:t>Misconception to address</a:t>
            </a:r>
          </a:p>
          <a:p>
            <a:r>
              <a:t>Use the outcomes listed on this slide to check understanding through the small examples, rather than asking only whether everybody understands.</a:t>
            </a:r>
          </a:p>
          <a:p>
            <a:r>
              <a:t/>
            </a:r>
          </a:p>
          <a:p>
            <a:r>
              <a:t>Continue to</a:t>
            </a:r>
          </a:p>
          <a:p>
            <a:r>
              <a:t>How every session this semester is shaped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every session this semester is shaped</a:t>
            </a:r>
          </a:p>
          <a:p>
            <a:r>
              <a:t>CML3113, Week 1, slide 4</a:t>
            </a:r>
          </a:p>
          <a:p>
            <a:r>
              <a:t/>
            </a:r>
          </a:p>
          <a:p>
            <a:r>
              <a:t>Explanation to give</a:t>
            </a:r>
          </a:p>
          <a:p>
            <a:r>
              <a:t>Orient students to this particular lesson: explain what they will see demonstrated, which file they will use and what they must retain for revision. Keep the transition short enough to preserve explanation time.</a:t>
            </a:r>
          </a:p>
          <a:p>
            <a:r>
              <a:t/>
            </a:r>
          </a:p>
          <a:p>
            <a:r>
              <a:t>Worked illustration / lecturer answer</a:t>
            </a:r>
          </a:p>
          <a:p>
            <a:r>
              <a:t>Open the next worked example on the projector and name its input and intended result. Demonstrate it yourself before asking students to interpret a result. Use remaining summary and glossary pages for independent revision.</a:t>
            </a:r>
          </a:p>
          <a:p>
            <a:r>
              <a:t/>
            </a:r>
          </a:p>
          <a:p>
            <a:r>
              <a:t>Misconception to address</a:t>
            </a:r>
          </a:p>
          <a:p>
            <a:r>
              <a:t>The historical slide's timed group activity is not a requirement to stop for partner work. Use a lecturer-led walkthrough in the current limited class time.</a:t>
            </a:r>
          </a:p>
          <a:p>
            <a:r>
              <a:t/>
            </a:r>
          </a:p>
          <a:p>
            <a:r>
              <a:t>Continue to</a:t>
            </a:r>
          </a:p>
          <a:p>
            <a:r>
              <a:t>Where this semester goes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this semester goes</a:t>
            </a:r>
          </a:p>
          <a:p>
            <a:r>
              <a:t>CML3113, Week 1, slide 5</a:t>
            </a:r>
          </a:p>
          <a:p>
            <a:r>
              <a:t/>
            </a:r>
          </a:p>
          <a:p>
            <a:r>
              <a:t>Explanation to give</a:t>
            </a:r>
          </a:p>
          <a:p>
            <a:r>
              <a:t>Explain the sequence as increasing independence: first run and understand code, then inspect data, then build and evaluate a modest predictor, and finally communicate its limits.</a:t>
            </a:r>
          </a:p>
          <a:p>
            <a:r>
              <a:t/>
            </a:r>
          </a:p>
          <a:p>
            <a:r>
              <a:t>Worked illustration / lecturer answer</a:t>
            </a:r>
          </a:p>
          <a:p>
            <a:r>
              <a:t>A learner should eventually be able to say what each input represents, reproduce the result from the files and defend why the chosen evaluation matches the intended use.</a:t>
            </a:r>
          </a:p>
          <a:p>
            <a:r>
              <a:t/>
            </a:r>
          </a:p>
          <a:p>
            <a:r>
              <a:t>Misconception to address</a:t>
            </a:r>
          </a:p>
          <a:p>
            <a:r>
              <a:t>The roadmap is not a promise of professional mastery of every listed field in one semester. Point to the current week's small, observable goal.</a:t>
            </a:r>
          </a:p>
          <a:p>
            <a:r>
              <a:t/>
            </a:r>
          </a:p>
          <a:p>
            <a:r>
              <a:t>Continue to</a:t>
            </a:r>
          </a:p>
          <a:p>
            <a:r>
              <a:t>What you will be able to say by December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you will be able to say by December</a:t>
            </a:r>
          </a:p>
          <a:p>
            <a:r>
              <a:t>CML3113, Week 1, slide 6</a:t>
            </a:r>
          </a:p>
          <a:p>
            <a:r>
              <a:t/>
            </a:r>
          </a:p>
          <a:p>
            <a:r>
              <a:t>Explanation to give</a:t>
            </a:r>
          </a:p>
          <a:p>
            <a:r>
              <a:t>Explain the sequence as increasing independence: first run and understand code, then inspect data, then build and evaluate a modest predictor, and finally communicate its limits.</a:t>
            </a:r>
          </a:p>
          <a:p>
            <a:r>
              <a:t/>
            </a:r>
          </a:p>
          <a:p>
            <a:r>
              <a:t>Worked illustration / lecturer answer</a:t>
            </a:r>
          </a:p>
          <a:p>
            <a:r>
              <a:t>A learner should eventually be able to say what each input represents, reproduce the result from the files and defend why the chosen evaluation matches the intended use.</a:t>
            </a:r>
          </a:p>
          <a:p>
            <a:r>
              <a:t/>
            </a:r>
          </a:p>
          <a:p>
            <a:r>
              <a:t>Misconception to address</a:t>
            </a:r>
          </a:p>
          <a:p>
            <a:r>
              <a:t>The roadmap is not a promise of professional mastery of every listed field in one semester. Point to the current week's small, observable goal.</a:t>
            </a:r>
          </a:p>
          <a:p>
            <a:r>
              <a:t/>
            </a:r>
          </a:p>
          <a:p>
            <a:r>
              <a:t>Continue to</a:t>
            </a:r>
          </a:p>
          <a:p>
            <a:r>
              <a:t>Welcome, and how this course works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 how this course works</a:t>
            </a:r>
          </a:p>
          <a:p>
            <a:r>
              <a:t>CML3113, Week 1, slide 7</a:t>
            </a:r>
          </a:p>
          <a:p>
            <a:r>
              <a:t/>
            </a:r>
          </a:p>
          <a:p>
            <a:r>
              <a:t>Explanation to give</a:t>
            </a:r>
          </a:p>
          <a:p>
            <a:r>
              <a:t>Distinguish individual evidence from team project work. Students must understand their own submissions, keep identifiable contributions and read the published rubric before beginning.</a:t>
            </a:r>
          </a:p>
          <a:p>
            <a:r>
              <a:t/>
            </a:r>
          </a:p>
          <a:p>
            <a:r>
              <a:t>Worked illustration / lecturer answer</a:t>
            </a:r>
          </a:p>
          <a:p>
            <a:r>
              <a:t>For a shared project, a useful contribution entry names the cleaned file, chart or evaluation cell the learner produced and the decision they explained. A weekly notebook is submitted through its own assessment form.</a:t>
            </a:r>
          </a:p>
          <a:p>
            <a:r>
              <a:t/>
            </a:r>
          </a:p>
          <a:p>
            <a:r>
              <a:t>Misconception to address</a:t>
            </a:r>
          </a:p>
          <a:p>
            <a:r>
              <a:t>Do not infer contribution only from the number of commits. Verify the substance of the work. The practical tests include typed reasoning even though there is no traditional written examination.</a:t>
            </a:r>
          </a:p>
          <a:p>
            <a:r>
              <a:t/>
            </a:r>
          </a:p>
          <a:p>
            <a:r>
              <a:t>Continue to</a:t>
            </a:r>
          </a:p>
          <a:p>
            <a:r>
              <a:t>How you are assessed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you are assessed</a:t>
            </a:r>
          </a:p>
          <a:p>
            <a:r>
              <a:t>CML3113, Week 1, slide 8</a:t>
            </a:r>
          </a:p>
          <a:p>
            <a:r>
              <a:t/>
            </a:r>
          </a:p>
          <a:p>
            <a:r>
              <a:t>Explanation to give</a:t>
            </a:r>
          </a:p>
          <a:p>
            <a:r>
              <a:t>Distinguish individual evidence from team project work. Students must understand their own submissions, keep identifiable contributions and read the published rubric before beginning.</a:t>
            </a:r>
          </a:p>
          <a:p>
            <a:r>
              <a:t/>
            </a:r>
          </a:p>
          <a:p>
            <a:r>
              <a:t>Worked illustration / lecturer answer</a:t>
            </a:r>
          </a:p>
          <a:p>
            <a:r>
              <a:t>For a shared project, a useful contribution entry names the cleaned file, chart or evaluation cell the learner produced and the decision they explained. A weekly notebook is submitted through its own assessment form.</a:t>
            </a:r>
          </a:p>
          <a:p>
            <a:r>
              <a:t/>
            </a:r>
          </a:p>
          <a:p>
            <a:r>
              <a:t>Misconception to address</a:t>
            </a:r>
          </a:p>
          <a:p>
            <a:r>
              <a:t>Do not infer contribution only from the number of commits. Verify the substance of the work. The practical tests include typed reasoning even though there is no traditional written examination.</a:t>
            </a:r>
          </a:p>
          <a:p>
            <a:r>
              <a:t/>
            </a:r>
          </a:p>
          <a:p>
            <a:r>
              <a:t>Continue to</a:t>
            </a:r>
          </a:p>
          <a:p>
            <a:r>
              <a:t>What I expect, and what you can expect back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 expect, and what you can expect back</a:t>
            </a:r>
          </a:p>
          <a:p>
            <a:r>
              <a:t>CML3113, Week 1, slide 9</a:t>
            </a:r>
          </a:p>
          <a:p>
            <a:r>
              <a:t/>
            </a:r>
          </a:p>
          <a:p>
            <a:r>
              <a:t>Explanation to give</a:t>
            </a:r>
          </a:p>
          <a:p>
            <a:r>
              <a:t>Distinguish individual evidence from team project work. Students must understand their own submissions, keep identifiable contributions and read the published rubric before beginning.</a:t>
            </a:r>
          </a:p>
          <a:p>
            <a:r>
              <a:t/>
            </a:r>
          </a:p>
          <a:p>
            <a:r>
              <a:t>Worked illustration / lecturer answer</a:t>
            </a:r>
          </a:p>
          <a:p>
            <a:r>
              <a:t>For a shared project, a useful contribution entry names the cleaned file, chart or evaluation cell the learner produced and the decision they explained. A weekly notebook is submitted through its own assessment form.</a:t>
            </a:r>
          </a:p>
          <a:p>
            <a:r>
              <a:t/>
            </a:r>
          </a:p>
          <a:p>
            <a:r>
              <a:t>Misconception to address</a:t>
            </a:r>
          </a:p>
          <a:p>
            <a:r>
              <a:t>Do not infer contribution only from the number of commits. Verify the substance of the work. The practical tests include typed reasoning even though there is no traditional written examination.</a:t>
            </a:r>
          </a:p>
          <a:p>
            <a:r>
              <a:t/>
            </a:r>
          </a:p>
          <a:p>
            <a:r>
              <a:t>Continue to</a:t>
            </a:r>
          </a:p>
          <a:p>
            <a:r>
              <a:t>Machine learning topics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Machine learning topics</a:t>
            </a:r>
          </a:p>
          <a:p>
            <a:r>
              <a:t>CML3113, Week 1, slide 10</a:t>
            </a:r>
          </a:p>
          <a:p>
            <a:r>
              <a:t/>
            </a:r>
          </a:p>
          <a:p>
            <a:r>
              <a:t>Explanation to give</a:t>
            </a:r>
          </a:p>
          <a:p>
            <a:r>
              <a:t>Use the terminology to locate the course, not as vocabulary to memorise immediately. AI is the broad field; machine learning develops predictive rules from examples; deep learning is a family of machine-learning methods using neural networks.</a:t>
            </a:r>
          </a:p>
          <a:p>
            <a:r>
              <a:t/>
            </a:r>
          </a:p>
          <a:p>
            <a:r>
              <a:t>Worked illustration / lecturer answer</a:t>
            </a:r>
          </a:p>
          <a:p>
            <a:r>
              <a:t>A fixed threshold alarm follows an explicitly supplied rule. A fault classifier fitted from labelled historical readings learns a rule from data. Both may support an engineering system, but only the second learns from examples.</a:t>
            </a:r>
          </a:p>
          <a:p>
            <a:r>
              <a:t/>
            </a:r>
          </a:p>
          <a:p>
            <a:r>
              <a:t>Misconception to address</a:t>
            </a:r>
          </a:p>
          <a:p>
            <a:r>
              <a:t>The boundaries of AI are not perfectly sharp. Avoid claiming every automated action learns. Advanced roadmap topics are context, not prerequisites students must master today.</a:t>
            </a:r>
          </a:p>
          <a:p>
            <a:r>
              <a:t/>
            </a:r>
          </a:p>
          <a:p>
            <a:r>
              <a:t>Continue to</a:t>
            </a:r>
          </a:p>
          <a:p>
            <a:r>
              <a:t>The machine learning roadmap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machine learning roadmap</a:t>
            </a:r>
          </a:p>
          <a:p>
            <a:r>
              <a:t>CML3113, Week 1, slide 11</a:t>
            </a:r>
          </a:p>
          <a:p>
            <a:r>
              <a:t/>
            </a:r>
          </a:p>
          <a:p>
            <a:r>
              <a:t>Explanation to give</a:t>
            </a:r>
          </a:p>
          <a:p>
            <a:r>
              <a:t>Use the terminology to locate the course, not as vocabulary to memorise immediately. AI is the broad field; machine learning develops predictive rules from examples; deep learning is a family of machine-learning methods using neural networks.</a:t>
            </a:r>
          </a:p>
          <a:p>
            <a:r>
              <a:t/>
            </a:r>
          </a:p>
          <a:p>
            <a:r>
              <a:t>Worked illustration / lecturer answer</a:t>
            </a:r>
          </a:p>
          <a:p>
            <a:r>
              <a:t>A fixed threshold alarm follows an explicitly supplied rule. A fault classifier fitted from labelled historical readings learns a rule from data. Both may support an engineering system, but only the second learns from examples.</a:t>
            </a:r>
          </a:p>
          <a:p>
            <a:r>
              <a:t/>
            </a:r>
          </a:p>
          <a:p>
            <a:r>
              <a:t>Misconception to address</a:t>
            </a:r>
          </a:p>
          <a:p>
            <a:r>
              <a:t>The boundaries of AI are not perfectly sharp. Avoid claiming every automated action learns. Advanced roadmap topics are context, not prerequisites students must master today.</a:t>
            </a:r>
          </a:p>
          <a:p>
            <a:r>
              <a:t/>
            </a:r>
          </a:p>
          <a:p>
            <a:r>
              <a:t>Continue to</a:t>
            </a:r>
          </a:p>
          <a:p>
            <a:r>
              <a:t>Mathematics and programming foundations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Mathematics and programming foundations</a:t>
            </a:r>
          </a:p>
          <a:p>
            <a:r>
              <a:t>CML3113, Week 1, slide 12</a:t>
            </a:r>
          </a:p>
          <a:p>
            <a:r>
              <a:t/>
            </a:r>
          </a:p>
          <a:p>
            <a:r>
              <a:t>Explanation to give</a:t>
            </a:r>
          </a:p>
          <a:p>
            <a:r>
              <a:t>Acknowledge previous engineering mathematics without assuming every student recalls it. Explain each mathematical operation at the point it is used and connect it to a physical quantity.</a:t>
            </a:r>
          </a:p>
          <a:p>
            <a:r>
              <a:t/>
            </a:r>
          </a:p>
          <a:p>
            <a:r>
              <a:t>Worked illustration / lecturer answer</a:t>
            </a:r>
          </a:p>
          <a:p>
            <a:r>
              <a:t>Before a mean calculation, show total divided by count on three readings. Before a matrix appears, draw rows and columns. Before a percentage, show the fraction and multiplication by 100.</a:t>
            </a:r>
          </a:p>
          <a:p>
            <a:r>
              <a:t/>
            </a:r>
          </a:p>
          <a:p>
            <a:r>
              <a:t>Misconception to address</a:t>
            </a:r>
          </a:p>
          <a:p>
            <a:r>
              <a:t>Do not tell struggling beginners that the programming is easy or that they should already know the prerequisites. Use their engineering context as a bridge and supply the missing explanation.</a:t>
            </a:r>
          </a:p>
          <a:p>
            <a:r>
              <a:t/>
            </a:r>
          </a:p>
          <a:p>
            <a:r>
              <a:t>Continue to</a:t>
            </a:r>
          </a:p>
          <a:p>
            <a:r>
              <a:t>Topics covered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Topics covered in this course</a:t>
            </a:r>
          </a:p>
          <a:p>
            <a:r>
              <a:t>CML3113, Week 1, slide 13</a:t>
            </a:r>
          </a:p>
          <a:p>
            <a:r>
              <a:t/>
            </a:r>
          </a:p>
          <a:p>
            <a:r>
              <a:t>Explanation to give</a:t>
            </a:r>
          </a:p>
          <a:p>
            <a:r>
              <a:t>Use the terminology to locate the course, not as vocabulary to memorise immediately. AI is the broad field; machine learning develops predictive rules from examples; deep learning is a family of machine-learning methods using neural networks.</a:t>
            </a:r>
          </a:p>
          <a:p>
            <a:r>
              <a:t/>
            </a:r>
          </a:p>
          <a:p>
            <a:r>
              <a:t>Worked illustration / lecturer answer</a:t>
            </a:r>
          </a:p>
          <a:p>
            <a:r>
              <a:t>A fixed threshold alarm follows an explicitly supplied rule. A fault classifier fitted from labelled historical readings learns a rule from data. Both may support an engineering system, but only the second learns from examples.</a:t>
            </a:r>
          </a:p>
          <a:p>
            <a:r>
              <a:t/>
            </a:r>
          </a:p>
          <a:p>
            <a:r>
              <a:t>Misconception to address</a:t>
            </a:r>
          </a:p>
          <a:p>
            <a:r>
              <a:t>The boundaries of AI are not perfectly sharp. Avoid claiming every automated action learns. Advanced roadmap topics are context, not prerequisites students must master today.</a:t>
            </a:r>
          </a:p>
          <a:p>
            <a:r>
              <a:t/>
            </a:r>
          </a:p>
          <a:p>
            <a:r>
              <a:t>Continue to</a:t>
            </a:r>
          </a:p>
          <a:p>
            <a:r>
              <a:t>Four jobs this field splits into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jobs this field splits into</a:t>
            </a:r>
          </a:p>
          <a:p>
            <a:r>
              <a:t>CML3113, Week 1, slide 14</a:t>
            </a:r>
          </a:p>
          <a:p>
            <a:r>
              <a:t/>
            </a:r>
          </a:p>
          <a:p>
            <a:r>
              <a:t>Explanation to give</a:t>
            </a:r>
          </a:p>
          <a:p>
            <a:r>
              <a:t>Explain the sequence as increasing independence: first run and understand code, then inspect data, then build and evaluate a modest predictor, and finally communicate its limits.</a:t>
            </a:r>
          </a:p>
          <a:p>
            <a:r>
              <a:t/>
            </a:r>
          </a:p>
          <a:p>
            <a:r>
              <a:t>Worked illustration / lecturer answer</a:t>
            </a:r>
          </a:p>
          <a:p>
            <a:r>
              <a:t>A learner should eventually be able to say what each input represents, reproduce the result from the files and defend why the chosen evaluation matches the intended use.</a:t>
            </a:r>
          </a:p>
          <a:p>
            <a:r>
              <a:t/>
            </a:r>
          </a:p>
          <a:p>
            <a:r>
              <a:t>Misconception to address</a:t>
            </a:r>
          </a:p>
          <a:p>
            <a:r>
              <a:t>The roadmap is not a promise of professional mastery of every listed field in one semester. Point to the current week's small, observable goal.</a:t>
            </a:r>
          </a:p>
          <a:p>
            <a:r>
              <a:t/>
            </a:r>
          </a:p>
          <a:p>
            <a:r>
              <a:t>Continue to</a:t>
            </a:r>
          </a:p>
          <a:p>
            <a:r>
              <a:t>Machine learning in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Machine learning in engineering</a:t>
            </a:r>
          </a:p>
          <a:p>
            <a:r>
              <a:t>CML3113, Week 1, slide 15</a:t>
            </a:r>
          </a:p>
          <a:p>
            <a:r>
              <a:t/>
            </a:r>
          </a:p>
          <a:p>
            <a:r>
              <a:t>Explanation to give</a:t>
            </a:r>
          </a:p>
          <a:p>
            <a:r>
              <a:t>Orient students to this particular lesson: explain what they will see demonstrated, which file they will use and what they must retain for revision. Keep the transition short enough to preserve explanation time.</a:t>
            </a:r>
          </a:p>
          <a:p>
            <a:r>
              <a:t/>
            </a:r>
          </a:p>
          <a:p>
            <a:r>
              <a:t>Worked illustration / lecturer answer</a:t>
            </a:r>
          </a:p>
          <a:p>
            <a:r>
              <a:t>Open the next worked example on the projector and name its input and intended result. Demonstrate it yourself before asking students to interpret a result. Use remaining summary and glossary pages for independent revision.</a:t>
            </a:r>
          </a:p>
          <a:p>
            <a:r>
              <a:t/>
            </a:r>
          </a:p>
          <a:p>
            <a:r>
              <a:t>Misconception to address</a:t>
            </a:r>
          </a:p>
          <a:p>
            <a:r>
              <a:t>The historical slide's timed group activity is not a requirement to stop for partner work. Use a lecturer-led walkthrough in the current limited class time.</a:t>
            </a:r>
          </a:p>
          <a:p>
            <a:r>
              <a:t/>
            </a:r>
          </a:p>
          <a:p>
            <a:r>
              <a:t>Continue to</a:t>
            </a:r>
          </a:p>
          <a:p>
            <a:r>
              <a:t>The words, and how they nest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and how they nest</a:t>
            </a:r>
          </a:p>
          <a:p>
            <a:r>
              <a:t>CML3113, Week 1, slide 16</a:t>
            </a:r>
          </a:p>
          <a:p>
            <a:r>
              <a:t/>
            </a:r>
          </a:p>
          <a:p>
            <a:r>
              <a:t>Explanation to give</a:t>
            </a:r>
          </a:p>
          <a:p>
            <a:r>
              <a:t>Use the terminology to locate the course, not as vocabulary to memorise immediately. AI is the broad field; machine learning develops predictive rules from examples; deep learning is a family of machine-learning methods using neural networks.</a:t>
            </a:r>
          </a:p>
          <a:p>
            <a:r>
              <a:t/>
            </a:r>
          </a:p>
          <a:p>
            <a:r>
              <a:t>Worked illustration / lecturer answer</a:t>
            </a:r>
          </a:p>
          <a:p>
            <a:r>
              <a:t>A fixed threshold alarm follows an explicitly supplied rule. A fault classifier fitted from labelled historical readings learns a rule from data. Both may support an engineering system, but only the second learns from examples.</a:t>
            </a:r>
          </a:p>
          <a:p>
            <a:r>
              <a:t/>
            </a:r>
          </a:p>
          <a:p>
            <a:r>
              <a:t>Misconception to address</a:t>
            </a:r>
          </a:p>
          <a:p>
            <a:r>
              <a:t>The boundaries of AI are not perfectly sharp. Avoid claiming every automated action learns. Advanced roadmap topics are context, not prerequisites students must master today.</a:t>
            </a:r>
          </a:p>
          <a:p>
            <a:r>
              <a:t/>
            </a:r>
          </a:p>
          <a:p>
            <a:r>
              <a:t>Continue to</a:t>
            </a:r>
          </a:p>
          <a:p>
            <a:r>
              <a:t>Artificial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Artificial intelligence</a:t>
            </a:r>
          </a:p>
          <a:p>
            <a:r>
              <a:t>CML3113, Week 1, slide 17</a:t>
            </a:r>
          </a:p>
          <a:p>
            <a:r>
              <a:t/>
            </a:r>
          </a:p>
          <a:p>
            <a:r>
              <a:t>Explanation to give</a:t>
            </a:r>
          </a:p>
          <a:p>
            <a:r>
              <a:t>Use the terminology to locate the course, not as vocabulary to memorise immediately. AI is the broad field; machine learning develops predictive rules from examples; deep learning is a family of machine-learning methods using neural networks.</a:t>
            </a:r>
          </a:p>
          <a:p>
            <a:r>
              <a:t/>
            </a:r>
          </a:p>
          <a:p>
            <a:r>
              <a:t>Worked illustration / lecturer answer</a:t>
            </a:r>
          </a:p>
          <a:p>
            <a:r>
              <a:t>A fixed threshold alarm follows an explicitly supplied rule. A fault classifier fitted from labelled historical readings learns a rule from data. Both may support an engineering system, but only the second learns from examples.</a:t>
            </a:r>
          </a:p>
          <a:p>
            <a:r>
              <a:t/>
            </a:r>
          </a:p>
          <a:p>
            <a:r>
              <a:t>Misconception to address</a:t>
            </a:r>
          </a:p>
          <a:p>
            <a:r>
              <a:t>The boundaries of AI are not perfectly sharp. Avoid claiming every automated action learns. Advanced roadmap topics are context, not prerequisites students must master today.</a:t>
            </a:r>
          </a:p>
          <a:p>
            <a:r>
              <a:t/>
            </a:r>
          </a:p>
          <a:p>
            <a:r>
              <a:t>Continue to</a:t>
            </a:r>
          </a:p>
          <a:p>
            <a:r>
              <a:t>Machine learning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Machine learning</a:t>
            </a:r>
          </a:p>
          <a:p>
            <a:r>
              <a:t>CML3113, Week 1, slide 18</a:t>
            </a:r>
          </a:p>
          <a:p>
            <a:r>
              <a:t/>
            </a:r>
          </a:p>
          <a:p>
            <a:r>
              <a:t>Explanation to give</a:t>
            </a:r>
          </a:p>
          <a:p>
            <a:r>
              <a:t>Contrast who supplies the decision rule. In conventional programming, the developer writes the rule. In supervised learning, the training examples contain inputs and known answers from which a fitting procedure estimates a rule.</a:t>
            </a:r>
          </a:p>
          <a:p>
            <a:r>
              <a:t/>
            </a:r>
          </a:p>
          <a:p>
            <a:r>
              <a:t>Worked illustration / lecturer answer</a:t>
            </a:r>
          </a:p>
          <a:p>
            <a:r>
              <a:t>If a verified formula calculates area from length and width, use it. If many interacting readings affect an outcome and suitable labelled examples exist, a learned predictor may be worth evaluating.</a:t>
            </a:r>
          </a:p>
          <a:p>
            <a:r>
              <a:t/>
            </a:r>
          </a:p>
          <a:p>
            <a:r>
              <a:t>Misconception to address</a:t>
            </a:r>
          </a:p>
          <a:p>
            <a:r>
              <a:t>The computer does not infer a trustworthy rule merely because data exists. Independent evaluation and domain checks still decide whether to use it.</a:t>
            </a:r>
          </a:p>
          <a:p>
            <a:r>
              <a:t/>
            </a:r>
          </a:p>
          <a:p>
            <a:r>
              <a:t>Continue to</a:t>
            </a:r>
          </a:p>
          <a:p>
            <a:r>
              <a:t>Data science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science</a:t>
            </a:r>
          </a:p>
          <a:p>
            <a:r>
              <a:t>CML3113, Week 1, slide 19</a:t>
            </a:r>
          </a:p>
          <a:p>
            <a:r>
              <a:t/>
            </a:r>
          </a:p>
          <a:p>
            <a:r>
              <a:t>Explanation to give</a:t>
            </a:r>
          </a:p>
          <a:p>
            <a:r>
              <a:t>Data science includes finding and examining data, correcting documented defects, analysing patterns and communicating justified conclusions. A prediction model is one possible tool within that work.</a:t>
            </a:r>
          </a:p>
          <a:p>
            <a:r>
              <a:t/>
            </a:r>
          </a:p>
          <a:p>
            <a:r>
              <a:t>Worked illustration / lecturer answer</a:t>
            </a:r>
          </a:p>
          <a:p>
            <a:r>
              <a:t>Before predicting energy use, check whether meter readings use the same unit and time interval. Discovering that half the readings are missing is already a meaningful data finding.</a:t>
            </a:r>
          </a:p>
          <a:p>
            <a:r>
              <a:t/>
            </a:r>
          </a:p>
          <a:p>
            <a:r>
              <a:t>Misconception to address</a:t>
            </a:r>
          </a:p>
          <a:p>
            <a:r>
              <a:t>A project can answer a useful question without machine learning. Do not insert a model when a well-supported descriptive analysis answers the question.</a:t>
            </a:r>
          </a:p>
          <a:p>
            <a:r>
              <a:t/>
            </a:r>
          </a:p>
          <a:p>
            <a:r>
              <a:t>Continue to</a:t>
            </a:r>
          </a:p>
          <a:p>
            <a:r>
              <a:t>Two ways to make a computer decide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ways to make a computer decide</a:t>
            </a:r>
          </a:p>
          <a:p>
            <a:r>
              <a:t>CML3113, Week 1, slide 20</a:t>
            </a:r>
          </a:p>
          <a:p>
            <a:r>
              <a:t/>
            </a:r>
          </a:p>
          <a:p>
            <a:r>
              <a:t>Explanation to give</a:t>
            </a:r>
          </a:p>
          <a:p>
            <a:r>
              <a:t>Contrast who supplies the decision rule. In conventional programming, the developer writes the rule. In supervised learning, the training examples contain inputs and known answers from which a fitting procedure estimates a rule.</a:t>
            </a:r>
          </a:p>
          <a:p>
            <a:r>
              <a:t/>
            </a:r>
          </a:p>
          <a:p>
            <a:r>
              <a:t>Worked illustration / lecturer answer</a:t>
            </a:r>
          </a:p>
          <a:p>
            <a:r>
              <a:t>If a verified formula calculates area from length and width, use it. If many interacting readings affect an outcome and suitable labelled examples exist, a learned predictor may be worth evaluating.</a:t>
            </a:r>
          </a:p>
          <a:p>
            <a:r>
              <a:t/>
            </a:r>
          </a:p>
          <a:p>
            <a:r>
              <a:t>Misconception to address</a:t>
            </a:r>
          </a:p>
          <a:p>
            <a:r>
              <a:t>The computer does not infer a trustworthy rule merely because data exists. Independent evaluation and domain checks still decide whether to use it.</a:t>
            </a:r>
          </a:p>
          <a:p>
            <a:r>
              <a:t/>
            </a:r>
          </a:p>
          <a:p>
            <a:r>
              <a:t>Continue to</a:t>
            </a:r>
          </a:p>
          <a:p>
            <a:r>
              <a:t>"The silica assay takes an hour to come back from the laboratory. Can we know it now, from the process variables we already measure?"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silica assay takes an hour to come back from the laboratory. Can we know it now, from the process variables we already measure?"</a:t>
            </a:r>
          </a:p>
          <a:p>
            <a:r>
              <a:t>CML3113, Week 1, slide 21</a:t>
            </a:r>
          </a:p>
          <a:p>
            <a:r>
              <a:t/>
            </a:r>
          </a:p>
          <a:p>
            <a:r>
              <a:t>Explanation to give</a:t>
            </a:r>
          </a:p>
          <a:p>
            <a:r>
              <a:t>Explain assignment as evaluating the right side and attaching the name on the left to that result. The name can later refer to a different value. Read the equals sign as “assign”, rather than as a mathematical claim that lasts forever.</a:t>
            </a:r>
          </a:p>
          <a:p>
            <a:r>
              <a:t/>
            </a:r>
          </a:p>
          <a:p>
            <a:r>
              <a:t>Worked illustration / lecturer answer</a:t>
            </a:r>
          </a:p>
          <a:p>
            <a:r>
              <a:t>length_m = 4 makes length_m refer to 4. length_m = 6 replaces that association. Printing length_m now displays 6; the name does not remember a history of both values.</a:t>
            </a:r>
          </a:p>
          <a:p>
            <a:r>
              <a:t/>
            </a:r>
          </a:p>
          <a:p>
            <a:r>
              <a:t>Misconception to address</a:t>
            </a:r>
          </a:p>
          <a:p>
            <a:r>
              <a:t>Changing text in a notebook cell changes the instructions. The runtime value changes only when that cell executes.</a:t>
            </a:r>
          </a:p>
          <a:p>
            <a:r>
              <a:t/>
            </a:r>
          </a:p>
          <a:p>
            <a:r>
              <a:t>Continue to</a:t>
            </a:r>
          </a:p>
          <a:p>
            <a:r>
              <a:t>Traditional programming, and machine learning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Traditional programming, and machine learning</a:t>
            </a:r>
          </a:p>
          <a:p>
            <a:r>
              <a:t>CML3113, Week 1, slide 22</a:t>
            </a:r>
          </a:p>
          <a:p>
            <a:r>
              <a:t/>
            </a:r>
          </a:p>
          <a:p>
            <a:r>
              <a:t>Explanation to give</a:t>
            </a:r>
          </a:p>
          <a:p>
            <a:r>
              <a:t>Contrast who supplies the decision rule. In conventional programming, the developer writes the rule. In supervised learning, the training examples contain inputs and known answers from which a fitting procedure estimates a rule.</a:t>
            </a:r>
          </a:p>
          <a:p>
            <a:r>
              <a:t/>
            </a:r>
          </a:p>
          <a:p>
            <a:r>
              <a:t>Worked illustration / lecturer answer</a:t>
            </a:r>
          </a:p>
          <a:p>
            <a:r>
              <a:t>If a verified formula calculates area from length and width, use it. If many interacting readings affect an outcome and suitable labelled examples exist, a learned predictor may be worth evaluating.</a:t>
            </a:r>
          </a:p>
          <a:p>
            <a:r>
              <a:t/>
            </a:r>
          </a:p>
          <a:p>
            <a:r>
              <a:t>Misconception to address</a:t>
            </a:r>
          </a:p>
          <a:p>
            <a:r>
              <a:t>The computer does not infer a trustworthy rule merely because data exists. Independent evaluation and domain checks still decide whether to use it.</a:t>
            </a:r>
          </a:p>
          <a:p>
            <a:r>
              <a:t/>
            </a:r>
          </a:p>
          <a:p>
            <a:r>
              <a:t>Continue to</a:t>
            </a:r>
          </a:p>
          <a:p>
            <a:r>
              <a:t>When to write the rule, and when to learn it from data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to write the rule, and when to learn it from data</a:t>
            </a:r>
          </a:p>
          <a:p>
            <a:r>
              <a:t>CML3113, Week 1, slide 23</a:t>
            </a:r>
          </a:p>
          <a:p>
            <a:r>
              <a:t/>
            </a:r>
          </a:p>
          <a:p>
            <a:r>
              <a:t>Explanation to give</a:t>
            </a:r>
          </a:p>
          <a:p>
            <a:r>
              <a:t>Contrast who supplies the decision rule. In conventional programming, the developer writes the rule. In supervised learning, the training examples contain inputs and known answers from which a fitting procedure estimates a rule.</a:t>
            </a:r>
          </a:p>
          <a:p>
            <a:r>
              <a:t/>
            </a:r>
          </a:p>
          <a:p>
            <a:r>
              <a:t>Worked illustration / lecturer answer</a:t>
            </a:r>
          </a:p>
          <a:p>
            <a:r>
              <a:t>If a verified formula calculates area from length and width, use it. If many interacting readings affect an outcome and suitable labelled examples exist, a learned predictor may be worth evaluating.</a:t>
            </a:r>
          </a:p>
          <a:p>
            <a:r>
              <a:t/>
            </a:r>
          </a:p>
          <a:p>
            <a:r>
              <a:t>Misconception to address</a:t>
            </a:r>
          </a:p>
          <a:p>
            <a:r>
              <a:t>The computer does not infer a trustworthy rule merely because data exists. Independent evaluation and domain checks still decide whether to use it.</a:t>
            </a:r>
          </a:p>
          <a:p>
            <a:r>
              <a:t/>
            </a:r>
          </a:p>
          <a:p>
            <a:r>
              <a:t>Continue to</a:t>
            </a:r>
          </a:p>
          <a:p>
            <a:r>
              <a:t>Data, features and targets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features and targets</a:t>
            </a:r>
          </a:p>
          <a:p>
            <a:r>
              <a:t>CML3113, Week 1, slide 24</a:t>
            </a:r>
          </a:p>
          <a:p>
            <a:r>
              <a:t/>
            </a:r>
          </a:p>
          <a:p>
            <a:r>
              <a:t>Explanation to give</a:t>
            </a:r>
          </a:p>
          <a:p>
            <a:r>
              <a:t>A feature is information available when making a prediction. The target is the answer recorded for training examples. One observation pairs its features with its own target.</a:t>
            </a:r>
          </a:p>
          <a:p>
            <a:r>
              <a:t/>
            </a:r>
          </a:p>
          <a:p>
            <a:r>
              <a:t>Worked illustration / lecturer answer</a:t>
            </a:r>
          </a:p>
          <a:p>
            <a:r>
              <a:t>To predict tomorrow's cooling load, today's available weather information may be a feature. Tomorrow's measured cooling load becomes a target later. It cannot also be an input available now.</a:t>
            </a:r>
          </a:p>
          <a:p>
            <a:r>
              <a:t/>
            </a:r>
          </a:p>
          <a:p>
            <a:r>
              <a:t>Misconception to address</a:t>
            </a:r>
          </a:p>
          <a:p>
            <a:r>
              <a:t>Information recorded after the decision can leak the answer. An identifier or row number is not automatically a meaningful predictor.</a:t>
            </a:r>
          </a:p>
          <a:p>
            <a:r>
              <a:t/>
            </a:r>
          </a:p>
          <a:p>
            <a:r>
              <a:t>Continue to</a:t>
            </a:r>
          </a:p>
          <a:p>
            <a:r>
              <a:t>Feature, and target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Feature, and target</a:t>
            </a:r>
          </a:p>
          <a:p>
            <a:r>
              <a:t>CML3113, Week 1, slide 25</a:t>
            </a:r>
          </a:p>
          <a:p>
            <a:r>
              <a:t/>
            </a:r>
          </a:p>
          <a:p>
            <a:r>
              <a:t>Explanation to give</a:t>
            </a:r>
          </a:p>
          <a:p>
            <a:r>
              <a:t>A feature is information available when making a prediction. The target is the answer recorded for training examples. One observation pairs its features with its own target.</a:t>
            </a:r>
          </a:p>
          <a:p>
            <a:r>
              <a:t/>
            </a:r>
          </a:p>
          <a:p>
            <a:r>
              <a:t>Worked illustration / lecturer answer</a:t>
            </a:r>
          </a:p>
          <a:p>
            <a:r>
              <a:t>To predict tomorrow's cooling load, today's available weather information may be a feature. Tomorrow's measured cooling load becomes a target later. It cannot also be an input available now.</a:t>
            </a:r>
          </a:p>
          <a:p>
            <a:r>
              <a:t/>
            </a:r>
          </a:p>
          <a:p>
            <a:r>
              <a:t>Misconception to address</a:t>
            </a:r>
          </a:p>
          <a:p>
            <a:r>
              <a:t>Information recorded after the decision can leak the answer. An identifier or row number is not automatically a meaningful predictor.</a:t>
            </a:r>
          </a:p>
          <a:p>
            <a:r>
              <a:t/>
            </a:r>
          </a:p>
          <a:p>
            <a:r>
              <a:t>Continue to</a:t>
            </a:r>
          </a:p>
          <a:p>
            <a:r>
              <a:t>Can you answer these?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 you answer these?</a:t>
            </a:r>
          </a:p>
          <a:p>
            <a:r>
              <a:t>CML3113, Week 1, slide 26</a:t>
            </a:r>
          </a:p>
          <a:p>
            <a:r>
              <a:t/>
            </a:r>
          </a:p>
          <a:p>
            <a:r>
              <a:t>Explanation to give</a:t>
            </a:r>
          </a:p>
          <a:p>
            <a:r>
              <a:t>Explain each answer in relation to the question rather than giving only its letter or label.</a:t>
            </a:r>
          </a:p>
          <a:p>
            <a:r>
              <a:t/>
            </a:r>
          </a:p>
          <a:p>
            <a:r>
              <a:t>Worked illustration / lecturer answer</a:t>
            </a:r>
          </a:p>
          <a:p>
            <a:r>
              <a:t>ANSWERS</a:t>
            </a:r>
          </a:p>
          <a:p>
            <a:r>
              <a:t>How did you do?</a:t>
            </a:r>
          </a:p>
          <a:p>
            <a:r>
              <a:t>A</a:t>
            </a:r>
          </a:p>
          <a:p>
            <a:r>
              <a:t>Feature or target?</a:t>
            </a:r>
          </a:p>
          <a:p>
            <a:r>
              <a:t>The target. It is the thing you want to predict. Everything measured beforehand is a feature.</a:t>
            </a:r>
          </a:p>
          <a:p>
            <a:r>
              <a:t>B</a:t>
            </a:r>
          </a:p>
          <a:p>
            <a:r>
              <a:t>The repair column?</a:t>
            </a:r>
          </a:p>
          <a:p>
            <a:r>
              <a:t>No. The repair is recorded after the failure, so it is unavailable at prediction time. Including it would give misleading test results. This is data leakage.</a:t>
            </a:r>
          </a:p>
          <a:p>
            <a:r>
              <a:t>C</a:t>
            </a:r>
          </a:p>
          <a:p>
            <a:r>
              <a:t>A rule you already know?</a:t>
            </a:r>
          </a:p>
          <a:p>
            <a:r>
              <a:t>Anything with a formula or a code threshold: Contained metal is tonnage times grade. That is arithmetic; there is nothing to predict. If a validated equation exists, use the equation.</a:t>
            </a:r>
          </a:p>
          <a:p>
            <a:r>
              <a:t/>
            </a:r>
          </a:p>
          <a:p>
            <a:r>
              <a:t>Misconception to address</a:t>
            </a:r>
          </a:p>
          <a:p>
            <a:r>
              <a:t>Use a short lecturer-led walkthrough or individual thought time. Do not require partner work to unlock the explanation.</a:t>
            </a:r>
          </a:p>
          <a:p>
            <a:r>
              <a:t/>
            </a:r>
          </a:p>
          <a:p>
            <a:r>
              <a:t>Continue to</a:t>
            </a:r>
          </a:p>
          <a:p>
            <a:r>
              <a:t>How did you do?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did you do?</a:t>
            </a:r>
          </a:p>
          <a:p>
            <a:r>
              <a:t>CML3113, Week 1, slide 27</a:t>
            </a:r>
          </a:p>
          <a:p>
            <a:r>
              <a:t/>
            </a:r>
          </a:p>
          <a:p>
            <a:r>
              <a:t>Explanation to give</a:t>
            </a:r>
          </a:p>
          <a:p>
            <a:r>
              <a:t>For each answer on this slide, identify the deciding feature of the question: timing of the input, kind of target, run order or operation requested.</a:t>
            </a:r>
          </a:p>
          <a:p>
            <a:r>
              <a:t/>
            </a:r>
          </a:p>
          <a:p>
            <a:r>
              <a:t>Worked illustration / lecturer answer</a:t>
            </a:r>
          </a:p>
          <a:p>
            <a:r>
              <a:t>Feature or target?</a:t>
            </a:r>
          </a:p>
          <a:p>
            <a:r>
              <a:t>The target. It is the thing you want to predict. Everything measured beforehand is a feature.</a:t>
            </a:r>
          </a:p>
          <a:p>
            <a:r>
              <a:t>The repair column?</a:t>
            </a:r>
          </a:p>
          <a:p>
            <a:r>
              <a:t>No. The repair is recorded after the failure, so it is unavailable at prediction time. Including it would give misleading test results. This is data leakage.</a:t>
            </a:r>
          </a:p>
          <a:p>
            <a:r>
              <a:t>A rule you already know?</a:t>
            </a:r>
          </a:p>
          <a:p>
            <a:r>
              <a:t>Anything with a formula or a code threshold: Contained metal is tonnage times grade. That is arithmetic; there is nothing to predict. If a validated equation exists, use the equation.</a:t>
            </a:r>
          </a:p>
          <a:p>
            <a:r>
              <a:t/>
            </a:r>
          </a:p>
          <a:p>
            <a:r>
              <a:t>Misconception to address</a:t>
            </a:r>
          </a:p>
          <a:p>
            <a:r>
              <a:t>If a student gives a different engineering example, check its reasoning and timing rather than requiring identical wording to the printed example.</a:t>
            </a:r>
          </a:p>
          <a:p>
            <a:r>
              <a:t/>
            </a:r>
          </a:p>
          <a:p>
            <a:r>
              <a:t>Continue to</a:t>
            </a:r>
          </a:p>
          <a:p>
            <a:r>
              <a:t>Hands on: predict case 13</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on: predict case 13</a:t>
            </a:r>
          </a:p>
          <a:p>
            <a:r>
              <a:t>CML3113, Week 1, slide 28</a:t>
            </a:r>
          </a:p>
          <a:p>
            <a:r>
              <a:t/>
            </a:r>
          </a:p>
          <a:p>
            <a:r>
              <a:t>Explanation to give</a:t>
            </a:r>
          </a:p>
          <a:p>
            <a:r>
              <a:t>Explain this as a small manual demonstration of learning from examples. Use known rows to propose a rule, write a prediction before revealing the held-out answer, then measure the difference honestly.</a:t>
            </a:r>
          </a:p>
          <a:p>
            <a:r>
              <a:t/>
            </a:r>
          </a:p>
          <a:p>
            <a:r>
              <a:t>Worked illustration / lecturer answer</a:t>
            </a:r>
          </a:p>
          <a:p>
            <a:r>
              <a:t>Locate cases with nearby feature values and compare their outcomes. Explain why a between-neighbours estimate is plausible and what it ignores. Use the actual handout's values rather than inventing the hidden case result.</a:t>
            </a:r>
          </a:p>
          <a:p>
            <a:r>
              <a:t/>
            </a:r>
          </a:p>
          <a:p>
            <a:r>
              <a:t>Misconception to address</a:t>
            </a:r>
          </a:p>
          <a:p>
            <a:r>
              <a:t>One held-out case illustrates evaluation but is insufficient evidence of general reliability. Do not revise a prediction after seeing the answer and describe it as the original estimate.</a:t>
            </a:r>
          </a:p>
          <a:p>
            <a:r>
              <a:t/>
            </a:r>
          </a:p>
          <a:p>
            <a:r>
              <a:t>Continue to</a:t>
            </a:r>
          </a:p>
          <a:p>
            <a:r>
              <a:t>Your task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task</a:t>
            </a:r>
          </a:p>
          <a:p>
            <a:r>
              <a:t>CML3113, Week 1, slide 29</a:t>
            </a:r>
          </a:p>
          <a:p>
            <a:r>
              <a:t/>
            </a:r>
          </a:p>
          <a:p>
            <a:r>
              <a:t>Explanation to give</a:t>
            </a:r>
          </a:p>
          <a:p>
            <a:r>
              <a:t>Explain this as a small manual demonstration of learning from examples. Use known rows to propose a rule, write a prediction before revealing the held-out answer, then measure the difference honestly.</a:t>
            </a:r>
          </a:p>
          <a:p>
            <a:r>
              <a:t/>
            </a:r>
          </a:p>
          <a:p>
            <a:r>
              <a:t>Worked illustration / lecturer answer</a:t>
            </a:r>
          </a:p>
          <a:p>
            <a:r>
              <a:t>Locate cases with nearby feature values and compare their outcomes. Explain why a between-neighbours estimate is plausible and what it ignores. Use the actual handout's values rather than inventing the hidden case result.</a:t>
            </a:r>
          </a:p>
          <a:p>
            <a:r>
              <a:t/>
            </a:r>
          </a:p>
          <a:p>
            <a:r>
              <a:t>Misconception to address</a:t>
            </a:r>
          </a:p>
          <a:p>
            <a:r>
              <a:t>One held-out case illustrates evaluation but is insufficient evidence of general reliability. Do not revise a prediction after seeing the answer and describe it as the original estimate.</a:t>
            </a:r>
          </a:p>
          <a:p>
            <a:r>
              <a:t/>
            </a:r>
          </a:p>
          <a:p>
            <a:r>
              <a:t>Continue to</a:t>
            </a:r>
          </a:p>
          <a:p>
            <a:r>
              <a:t>Reading the pattern from twelve cases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pattern from twelve cases</a:t>
            </a:r>
          </a:p>
          <a:p>
            <a:r>
              <a:t>CML3113, Week 1, slide 30</a:t>
            </a:r>
          </a:p>
          <a:p>
            <a:r>
              <a:t/>
            </a:r>
          </a:p>
          <a:p>
            <a:r>
              <a:t>Explanation to give</a:t>
            </a:r>
          </a:p>
          <a:p>
            <a:r>
              <a:t>Explain this as a small manual demonstration of learning from examples. Use known rows to propose a rule, write a prediction before revealing the held-out answer, then measure the difference honestly.</a:t>
            </a:r>
          </a:p>
          <a:p>
            <a:r>
              <a:t/>
            </a:r>
          </a:p>
          <a:p>
            <a:r>
              <a:t>Worked illustration / lecturer answer</a:t>
            </a:r>
          </a:p>
          <a:p>
            <a:r>
              <a:t>Locate cases with nearby feature values and compare their outcomes. Explain why a between-neighbours estimate is plausible and what it ignores. Use the actual handout's values rather than inventing the hidden case result.</a:t>
            </a:r>
          </a:p>
          <a:p>
            <a:r>
              <a:t/>
            </a:r>
          </a:p>
          <a:p>
            <a:r>
              <a:t>Misconception to address</a:t>
            </a:r>
          </a:p>
          <a:p>
            <a:r>
              <a:t>One held-out case illustrates evaluation but is insufficient evidence of general reliability. Do not revise a prediction after seeing the answer and describe it as the original estimate.</a:t>
            </a:r>
          </a:p>
          <a:p>
            <a:r>
              <a:t/>
            </a:r>
          </a:p>
          <a:p>
            <a:r>
              <a:t>Continue to</a:t>
            </a:r>
          </a:p>
          <a:p>
            <a:r>
              <a:t>The answer, and your error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 and your error</a:t>
            </a:r>
          </a:p>
          <a:p>
            <a:r>
              <a:t>CML3113, Week 1, slide 31</a:t>
            </a:r>
          </a:p>
          <a:p>
            <a:r>
              <a:t/>
            </a:r>
          </a:p>
          <a:p>
            <a:r>
              <a:t>Explanation to give</a:t>
            </a:r>
          </a:p>
          <a:p>
            <a:r>
              <a:t>Explain this as a small manual demonstration of learning from examples. Use known rows to propose a rule, write a prediction before revealing the held-out answer, then measure the difference honestly.</a:t>
            </a:r>
          </a:p>
          <a:p>
            <a:r>
              <a:t/>
            </a:r>
          </a:p>
          <a:p>
            <a:r>
              <a:t>Worked illustration / lecturer answer</a:t>
            </a:r>
          </a:p>
          <a:p>
            <a:r>
              <a:t>Locate cases with nearby feature values and compare their outcomes. Explain why a between-neighbours estimate is plausible and what it ignores. Use the actual handout's values rather than inventing the hidden case result.</a:t>
            </a:r>
          </a:p>
          <a:p>
            <a:r>
              <a:t/>
            </a:r>
          </a:p>
          <a:p>
            <a:r>
              <a:t>Misconception to address</a:t>
            </a:r>
          </a:p>
          <a:p>
            <a:r>
              <a:t>One held-out case illustrates evaluation but is insufficient evidence of general reliability. Do not revise a prediction after seeing the answer and describe it as the original estimate.</a:t>
            </a:r>
          </a:p>
          <a:p>
            <a:r>
              <a:t/>
            </a:r>
          </a:p>
          <a:p>
            <a:r>
              <a:t>Continue to</a:t>
            </a:r>
          </a:p>
          <a:p>
            <a:r>
              <a:t>Steps in a prediction task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Steps in a prediction task</a:t>
            </a:r>
          </a:p>
          <a:p>
            <a:r>
              <a:t>CML3113, Week 1, slide 32</a:t>
            </a:r>
          </a:p>
          <a:p>
            <a:r>
              <a:t/>
            </a:r>
          </a:p>
          <a:p>
            <a:r>
              <a:t>Explanation to give</a:t>
            </a:r>
          </a:p>
          <a:p>
            <a:r>
              <a:t>Translate each action into its technical name only after describing the action. Reading records is exploration, forming a relationship is fitting, applying it to a new case is prediction and comparing against truth is evaluation.</a:t>
            </a:r>
          </a:p>
          <a:p>
            <a:r>
              <a:t/>
            </a:r>
          </a:p>
          <a:p>
            <a:r>
              <a:t>Worked illustration / lecturer answer</a:t>
            </a:r>
          </a:p>
          <a:p>
            <a:r>
              <a:t>In the paper example, the twelve labelled rows teach the provisional rule. The held-out case checks that rule. Later Python code makes these same actions repeatable on more records.</a:t>
            </a:r>
          </a:p>
          <a:p>
            <a:r>
              <a:t/>
            </a:r>
          </a:p>
          <a:p>
            <a:r>
              <a:t>Misconception to address</a:t>
            </a:r>
          </a:p>
          <a:p>
            <a:r>
              <a:t>Finding a pattern in the training examples is not the final success criterion. Keep asking how the rule behaves on unseen, relevant observations.</a:t>
            </a:r>
          </a:p>
          <a:p>
            <a:r>
              <a:t/>
            </a:r>
          </a:p>
          <a:p>
            <a:r>
              <a:t>Continue to</a:t>
            </a:r>
          </a:p>
          <a:p>
            <a:r>
              <a:t>Break</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a:t>
            </a:r>
          </a:p>
          <a:p>
            <a:r>
              <a:t>CML3113, Week 1, slide 33</a:t>
            </a:r>
          </a:p>
          <a:p>
            <a:r>
              <a:t/>
            </a:r>
          </a:p>
          <a:p>
            <a:r>
              <a:t>Explanation to give</a:t>
            </a:r>
          </a:p>
          <a:p>
            <a:r>
              <a:t>Announce the actual return time based on the clock now, rather than leaving “ten minutes” ambiguous.</a:t>
            </a:r>
          </a:p>
          <a:p>
            <a:r>
              <a:t/>
            </a:r>
          </a:p>
          <a:p>
            <a:r>
              <a:t>Worked illustration / lecturer answer</a:t>
            </a:r>
          </a:p>
          <a:p>
            <a:r>
              <a:t>Save the current notebook before the break. On return, continue at the next topic named in the deck.</a:t>
            </a:r>
          </a:p>
          <a:p>
            <a:r>
              <a:t/>
            </a:r>
          </a:p>
          <a:p>
            <a:r>
              <a:t>Misconception to address</a:t>
            </a:r>
          </a:p>
          <a:p>
            <a:r>
              <a:t>No new assessment or group task is assigned by this divider.</a:t>
            </a:r>
          </a:p>
          <a:p>
            <a:r>
              <a:t/>
            </a:r>
          </a:p>
          <a:p>
            <a:r>
              <a:t>Continue to</a:t>
            </a:r>
          </a:p>
          <a:p>
            <a:r>
              <a:t>Two kinds of question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kinds of question</a:t>
            </a:r>
          </a:p>
          <a:p>
            <a:r>
              <a:t>CML3113, Week 1, slide 34</a:t>
            </a:r>
          </a:p>
          <a:p>
            <a:r>
              <a:t/>
            </a:r>
          </a:p>
          <a:p>
            <a:r>
              <a:t>Explanation to give</a:t>
            </a:r>
          </a:p>
          <a:p>
            <a:r>
              <a:t>This divider introduces Regression and classification. Classify the task by the answer the system must produce. Regression predicts a quantity with a meaningful numerical scale. Classification predicts a category, even if the labels are encoded as numbers.</a:t>
            </a:r>
          </a:p>
          <a:p>
            <a:r>
              <a:t/>
            </a:r>
          </a:p>
          <a:p>
            <a:r>
              <a:t>Worked illustration / lecturer answer</a:t>
            </a:r>
          </a:p>
          <a:p>
            <a:r>
              <a:t>Predicting days until servicing is regression. Predicting whether servicing is due is classification. A code of 0 for normal and 1 for warning still represents categories.</a:t>
            </a:r>
          </a:p>
          <a:p>
            <a:r>
              <a:t/>
            </a:r>
          </a:p>
          <a:p>
            <a:r>
              <a:t>Misconception to address</a:t>
            </a:r>
          </a:p>
          <a:p>
            <a:r>
              <a:t>Keep this transition brief. The detailed demonstration follows; do not add another activity before students have seen it.</a:t>
            </a:r>
          </a:p>
          <a:p>
            <a:r>
              <a:t/>
            </a:r>
          </a:p>
          <a:p>
            <a:r>
              <a:t>Continue to</a:t>
            </a:r>
          </a:p>
          <a:p>
            <a:r>
              <a:t>Regression and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Regression and classification</a:t>
            </a:r>
          </a:p>
          <a:p>
            <a:r>
              <a:t>CML3113, Week 1, slide 35</a:t>
            </a:r>
          </a:p>
          <a:p>
            <a:r>
              <a:t/>
            </a:r>
          </a:p>
          <a:p>
            <a:r>
              <a:t>Explanation to give</a:t>
            </a:r>
          </a:p>
          <a:p>
            <a:r>
              <a:t>Classify the task by the answer the system must produce. Regression predicts a quantity with a meaningful numerical scale. Classification predicts a category, even if the labels are encoded as numbers.</a:t>
            </a:r>
          </a:p>
          <a:p>
            <a:r>
              <a:t/>
            </a:r>
          </a:p>
          <a:p>
            <a:r>
              <a:t>Worked illustration / lecturer answer</a:t>
            </a:r>
          </a:p>
          <a:p>
            <a:r>
              <a:t>Predicting days until servicing is regression. Predicting whether servicing is due is classification. A code of 0 for normal and 1 for warning still represents categories.</a:t>
            </a:r>
          </a:p>
          <a:p>
            <a:r>
              <a:t/>
            </a:r>
          </a:p>
          <a:p>
            <a:r>
              <a:t>Misconception to address</a:t>
            </a:r>
          </a:p>
          <a:p>
            <a:r>
              <a:t>Do not choose regression just because the dataset contains numbers. Name the target and explain what a prediction means.</a:t>
            </a:r>
          </a:p>
          <a:p>
            <a:r>
              <a:t/>
            </a:r>
          </a:p>
          <a:p>
            <a:r>
              <a:t>Continue to</a:t>
            </a:r>
          </a:p>
          <a:p>
            <a:r>
              <a:t>Regression, and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Regression, and classification</a:t>
            </a:r>
          </a:p>
          <a:p>
            <a:r>
              <a:t>CML3113, Week 1, slide 36</a:t>
            </a:r>
          </a:p>
          <a:p>
            <a:r>
              <a:t/>
            </a:r>
          </a:p>
          <a:p>
            <a:r>
              <a:t>Explanation to give</a:t>
            </a:r>
          </a:p>
          <a:p>
            <a:r>
              <a:t>Classify the task by the answer the system must produce. Regression predicts a quantity with a meaningful numerical scale. Classification predicts a category, even if the labels are encoded as numbers.</a:t>
            </a:r>
          </a:p>
          <a:p>
            <a:r>
              <a:t/>
            </a:r>
          </a:p>
          <a:p>
            <a:r>
              <a:t>Worked illustration / lecturer answer</a:t>
            </a:r>
          </a:p>
          <a:p>
            <a:r>
              <a:t>Predicting days until servicing is regression. Predicting whether servicing is due is classification. A code of 0 for normal and 1 for warning still represents categories.</a:t>
            </a:r>
          </a:p>
          <a:p>
            <a:r>
              <a:t/>
            </a:r>
          </a:p>
          <a:p>
            <a:r>
              <a:t>Misconception to address</a:t>
            </a:r>
          </a:p>
          <a:p>
            <a:r>
              <a:t>Do not choose regression just because the dataset contains numbers. Name the target and explain what a prediction means.</a:t>
            </a:r>
          </a:p>
          <a:p>
            <a:r>
              <a:t/>
            </a:r>
          </a:p>
          <a:p>
            <a:r>
              <a:t>Continue to</a:t>
            </a:r>
          </a:p>
          <a:p>
            <a:r>
              <a:t>Can you answer these?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 you answer these?</a:t>
            </a:r>
          </a:p>
          <a:p>
            <a:r>
              <a:t>CML3113, Week 1, slide 37</a:t>
            </a:r>
          </a:p>
          <a:p>
            <a:r>
              <a:t/>
            </a:r>
          </a:p>
          <a:p>
            <a:r>
              <a:t>Explanation to give</a:t>
            </a:r>
          </a:p>
          <a:p>
            <a:r>
              <a:t>Explain each answer in relation to the question rather than giving only its letter or label.</a:t>
            </a:r>
          </a:p>
          <a:p>
            <a:r>
              <a:t/>
            </a:r>
          </a:p>
          <a:p>
            <a:r>
              <a:t>Worked illustration / lecturer answer</a:t>
            </a:r>
          </a:p>
          <a:p>
            <a:r>
              <a:t>ANSWERS</a:t>
            </a:r>
          </a:p>
          <a:p>
            <a:r>
              <a:t>How did you do?</a:t>
            </a:r>
          </a:p>
          <a:p>
            <a:r>
              <a:t>A</a:t>
            </a:r>
          </a:p>
          <a:p>
            <a:r>
              <a:t>Days until replacement?</a:t>
            </a:r>
          </a:p>
          <a:p>
            <a:r>
              <a:t>Regression. The answer is a number with a unit — days.</a:t>
            </a:r>
          </a:p>
          <a:p>
            <a:r>
              <a:t>B</a:t>
            </a:r>
          </a:p>
          <a:p>
            <a:r>
              <a:t>Pass or fail?</a:t>
            </a:r>
          </a:p>
          <a:p>
            <a:r>
              <a:t>Classification. Two categories, so it is called binary classification.</a:t>
            </a:r>
          </a:p>
          <a:p>
            <a:r>
              <a:t>C</a:t>
            </a:r>
          </a:p>
          <a:p>
            <a:r>
              <a:t>Which of five fault types?</a:t>
            </a:r>
          </a:p>
          <a:p>
            <a:r>
              <a:t>Still classification, but multi-class rather than binary. It is harder: with five classes there are far more ways to be wrong, and a single accuracy figure hides which ones you get wrong. Week 9.</a:t>
            </a:r>
          </a:p>
          <a:p>
            <a:r>
              <a:t/>
            </a:r>
          </a:p>
          <a:p>
            <a:r>
              <a:t>Misconception to address</a:t>
            </a:r>
          </a:p>
          <a:p>
            <a:r>
              <a:t>Use a short lecturer-led walkthrough or individual thought time. Do not require partner work to unlock the explanation.</a:t>
            </a:r>
          </a:p>
          <a:p>
            <a:r>
              <a:t/>
            </a:r>
          </a:p>
          <a:p>
            <a:r>
              <a:t>Continue to</a:t>
            </a:r>
          </a:p>
          <a:p>
            <a:r>
              <a:t>How did you do?</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did you do?</a:t>
            </a:r>
          </a:p>
          <a:p>
            <a:r>
              <a:t>CML3113, Week 1, slide 38</a:t>
            </a:r>
          </a:p>
          <a:p>
            <a:r>
              <a:t/>
            </a:r>
          </a:p>
          <a:p>
            <a:r>
              <a:t>Explanation to give</a:t>
            </a:r>
          </a:p>
          <a:p>
            <a:r>
              <a:t>For each answer on this slide, identify the deciding feature of the question: timing of the input, kind of target, run order or operation requested.</a:t>
            </a:r>
          </a:p>
          <a:p>
            <a:r>
              <a:t/>
            </a:r>
          </a:p>
          <a:p>
            <a:r>
              <a:t>Worked illustration / lecturer answer</a:t>
            </a:r>
          </a:p>
          <a:p>
            <a:r>
              <a:t>Days until replacement?</a:t>
            </a:r>
          </a:p>
          <a:p>
            <a:r>
              <a:t>Regression. The answer is a number with a unit — days.</a:t>
            </a:r>
          </a:p>
          <a:p>
            <a:r>
              <a:t>Pass or fail?</a:t>
            </a:r>
          </a:p>
          <a:p>
            <a:r>
              <a:t>Classification. Two categories, so it is called binary classification.</a:t>
            </a:r>
          </a:p>
          <a:p>
            <a:r>
              <a:t>Which of five fault types?</a:t>
            </a:r>
          </a:p>
          <a:p>
            <a:r>
              <a:t>Still classification, but multi-class rather than binary. It is harder: with five classes there are far more ways to be wrong, and a single accuracy figure hides which ones you get wrong. Week 9.</a:t>
            </a:r>
          </a:p>
          <a:p>
            <a:r>
              <a:t/>
            </a:r>
          </a:p>
          <a:p>
            <a:r>
              <a:t>Misconception to address</a:t>
            </a:r>
          </a:p>
          <a:p>
            <a:r>
              <a:t>If a student gives a different engineering example, check its reasoning and timing rather than requiring identical wording to the printed example.</a:t>
            </a:r>
          </a:p>
          <a:p>
            <a:r>
              <a:t/>
            </a:r>
          </a:p>
          <a:p>
            <a:r>
              <a:t>Continue to</a:t>
            </a:r>
          </a:p>
          <a:p>
            <a:r>
              <a:t>What machine learning cannot do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machine learning cannot do</a:t>
            </a:r>
          </a:p>
          <a:p>
            <a:r>
              <a:t>CML3113, Week 1, slide 39</a:t>
            </a:r>
          </a:p>
          <a:p>
            <a:r>
              <a:t/>
            </a:r>
          </a:p>
          <a:p>
            <a:r>
              <a:t>Explanation to give</a:t>
            </a:r>
          </a:p>
          <a:p>
            <a:r>
              <a:t>This divider introduces Four limits, and none of them go away. Review whether usable observations exist, whether inputs contain predictive information, whether a validated rule already solves the problem and whether future conditions resemble the data.</a:t>
            </a:r>
          </a:p>
          <a:p>
            <a:r>
              <a:t/>
            </a:r>
          </a:p>
          <a:p>
            <a:r>
              <a:t>Worked illustration / lecturer answer</a:t>
            </a:r>
          </a:p>
          <a:p>
            <a:r>
              <a:t>Changing an equipment supplier may alter measurement behaviour and invalidate an older fitted relationship. A model trained only at one site needs evidence before use at another.</a:t>
            </a:r>
          </a:p>
          <a:p>
            <a:r>
              <a:t/>
            </a:r>
          </a:p>
          <a:p>
            <a:r>
              <a:t>Misconception to address</a:t>
            </a:r>
          </a:p>
          <a:p>
            <a:r>
              <a:t>Keep this transition brief. The detailed demonstration follows; do not add another activity before students have seen it.</a:t>
            </a:r>
          </a:p>
          <a:p>
            <a:r>
              <a:t/>
            </a:r>
          </a:p>
          <a:p>
            <a:r>
              <a:t>Continue to</a:t>
            </a:r>
          </a:p>
          <a:p>
            <a:r>
              <a:t>Four limits, and none of them go away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limits, and none of them go away</a:t>
            </a:r>
          </a:p>
          <a:p>
            <a:r>
              <a:t>CML3113, Week 1, slide 40</a:t>
            </a:r>
          </a:p>
          <a:p>
            <a:r>
              <a:t/>
            </a:r>
          </a:p>
          <a:p>
            <a:r>
              <a:t>Explanation to give</a:t>
            </a:r>
          </a:p>
          <a:p>
            <a:r>
              <a:t>Review whether usable observations exist, whether inputs contain predictive information, whether a validated rule already solves the problem and whether future conditions resemble the data.</a:t>
            </a:r>
          </a:p>
          <a:p>
            <a:r>
              <a:t/>
            </a:r>
          </a:p>
          <a:p>
            <a:r>
              <a:t>Worked illustration / lecturer answer</a:t>
            </a:r>
          </a:p>
          <a:p>
            <a:r>
              <a:t>Changing an equipment supplier may alter measurement behaviour and invalidate an older fitted relationship. A model trained only at one site needs evidence before use at another.</a:t>
            </a:r>
          </a:p>
          <a:p>
            <a:r>
              <a:t/>
            </a:r>
          </a:p>
          <a:p>
            <a:r>
              <a:t>Misconception to address</a:t>
            </a:r>
          </a:p>
          <a:p>
            <a:r>
              <a:t>Models can fail, abstain or be designed to flag uncertainty; avoid the absolute claim that they always return an answer and never signal a problem. The engineer still evaluates suitability.</a:t>
            </a:r>
          </a:p>
          <a:p>
            <a:r>
              <a:t/>
            </a:r>
          </a:p>
          <a:p>
            <a:r>
              <a:t>Continue to</a:t>
            </a:r>
          </a:p>
          <a:p>
            <a:r>
              <a:t>The same four limits, in your own discipline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four limits, in your own discipline</a:t>
            </a:r>
          </a:p>
          <a:p>
            <a:r>
              <a:t>CML3113, Week 1, slide 41</a:t>
            </a:r>
          </a:p>
          <a:p>
            <a:r>
              <a:t/>
            </a:r>
          </a:p>
          <a:p>
            <a:r>
              <a:t>Explanation to give</a:t>
            </a:r>
          </a:p>
          <a:p>
            <a:r>
              <a:t>Review whether usable observations exist, whether inputs contain predictive information, whether a validated rule already solves the problem and whether future conditions resemble the data.</a:t>
            </a:r>
          </a:p>
          <a:p>
            <a:r>
              <a:t/>
            </a:r>
          </a:p>
          <a:p>
            <a:r>
              <a:t>Worked illustration / lecturer answer</a:t>
            </a:r>
          </a:p>
          <a:p>
            <a:r>
              <a:t>Changing an equipment supplier may alter measurement behaviour and invalidate an older fitted relationship. A model trained only at one site needs evidence before use at another.</a:t>
            </a:r>
          </a:p>
          <a:p>
            <a:r>
              <a:t/>
            </a:r>
          </a:p>
          <a:p>
            <a:r>
              <a:t>Misconception to address</a:t>
            </a:r>
          </a:p>
          <a:p>
            <a:r>
              <a:t>Models can fail, abstain or be designed to flag uncertainty; avoid the absolute claim that they always return an answer and never signal a problem. The engineer still evaluates suitability.</a:t>
            </a:r>
          </a:p>
          <a:p>
            <a:r>
              <a:t/>
            </a:r>
          </a:p>
          <a:p>
            <a:r>
              <a:t>Continue to</a:t>
            </a:r>
          </a:p>
          <a:p>
            <a:r>
              <a:t>Challenge: the Problem Hunt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Challenge: the Problem Hunt</a:t>
            </a:r>
          </a:p>
          <a:p>
            <a:r>
              <a:t>CML3113, Week 1, slide 42</a:t>
            </a:r>
          </a:p>
          <a:p>
            <a:r>
              <a:t/>
            </a:r>
          </a:p>
          <a:p>
            <a:r>
              <a:t>Explanation to give</a:t>
            </a:r>
          </a:p>
          <a:p>
            <a:r>
              <a:t>Start from a decision somebody needs to make. Name the answer required, the information available beforehand, where examples could come from and what a mistake would cost.</a:t>
            </a:r>
          </a:p>
          <a:p>
            <a:r>
              <a:t/>
            </a:r>
          </a:p>
          <a:p>
            <a:r>
              <a:t>Worked illustration / lecturer answer</a:t>
            </a:r>
          </a:p>
          <a:p>
            <a:r>
              <a:t>“Predict energy consumption for next week to plan a budget” names a target, horizon and decision. “Use AI in buildings” is too broad to determine data or success criteria.</a:t>
            </a:r>
          </a:p>
          <a:p>
            <a:r>
              <a:t/>
            </a:r>
          </a:p>
          <a:p>
            <a:r>
              <a:t>Misconception to address</a:t>
            </a:r>
          </a:p>
          <a:p>
            <a:r>
              <a:t>A proposed dataset is not automatically appropriate because its title sounds relevant. Check what one row means and when its fields become available.</a:t>
            </a:r>
          </a:p>
          <a:p>
            <a:r>
              <a:t/>
            </a:r>
          </a:p>
          <a:p>
            <a:r>
              <a:t>Continue to</a:t>
            </a:r>
          </a:p>
          <a:p>
            <a:r>
              <a:t>Problem Hunt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Problem Hunt</a:t>
            </a:r>
          </a:p>
          <a:p>
            <a:r>
              <a:t>CML3113, Week 1, slide 43</a:t>
            </a:r>
          </a:p>
          <a:p>
            <a:r>
              <a:t/>
            </a:r>
          </a:p>
          <a:p>
            <a:r>
              <a:t>Explanation to give</a:t>
            </a:r>
          </a:p>
          <a:p>
            <a:r>
              <a:t>Start from a decision somebody needs to make. Name the answer required, the information available beforehand, where examples could come from and what a mistake would cost.</a:t>
            </a:r>
          </a:p>
          <a:p>
            <a:r>
              <a:t/>
            </a:r>
          </a:p>
          <a:p>
            <a:r>
              <a:t>Worked illustration / lecturer answer</a:t>
            </a:r>
          </a:p>
          <a:p>
            <a:r>
              <a:t>“Predict energy consumption for next week to plan a budget” names a target, horizon and decision. “Use AI in buildings” is too broad to determine data or success criteria.</a:t>
            </a:r>
          </a:p>
          <a:p>
            <a:r>
              <a:t/>
            </a:r>
          </a:p>
          <a:p>
            <a:r>
              <a:t>Misconception to address</a:t>
            </a:r>
          </a:p>
          <a:p>
            <a:r>
              <a:t>A proposed dataset is not automatically appropriate because its title sounds relevant. Check what one row means and when its fields become available.</a:t>
            </a:r>
          </a:p>
          <a:p>
            <a:r>
              <a:t/>
            </a:r>
          </a:p>
          <a:p>
            <a:r>
              <a:t>Continue to</a:t>
            </a:r>
          </a:p>
          <a:p>
            <a:r>
              <a:t>How your team works, all semester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your team works, all semester</a:t>
            </a:r>
          </a:p>
          <a:p>
            <a:r>
              <a:t>CML3113, Week 1, slide 44</a:t>
            </a:r>
          </a:p>
          <a:p>
            <a:r>
              <a:t/>
            </a:r>
          </a:p>
          <a:p>
            <a:r>
              <a:t>Explanation to give</a:t>
            </a:r>
          </a:p>
          <a:p>
            <a:r>
              <a:t>Distinguish individual evidence from team project work. Students must understand their own submissions, keep identifiable contributions and read the published rubric before beginning.</a:t>
            </a:r>
          </a:p>
          <a:p>
            <a:r>
              <a:t/>
            </a:r>
          </a:p>
          <a:p>
            <a:r>
              <a:t>Worked illustration / lecturer answer</a:t>
            </a:r>
          </a:p>
          <a:p>
            <a:r>
              <a:t>For a shared project, a useful contribution entry names the cleaned file, chart or evaluation cell the learner produced and the decision they explained. A weekly notebook is submitted through its own assessment form.</a:t>
            </a:r>
          </a:p>
          <a:p>
            <a:r>
              <a:t/>
            </a:r>
          </a:p>
          <a:p>
            <a:r>
              <a:t>Misconception to address</a:t>
            </a:r>
          </a:p>
          <a:p>
            <a:r>
              <a:t>Do not infer contribution only from the number of commits. Verify the substance of the work. The practical tests include typed reasoning even though there is no traditional written examination.</a:t>
            </a:r>
          </a:p>
          <a:p>
            <a:r>
              <a:t/>
            </a:r>
          </a:p>
          <a:p>
            <a:r>
              <a:t>Continue to</a:t>
            </a:r>
          </a:p>
          <a:p>
            <a:r>
              <a:t>Gallery walk, and what you owe me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Gallery walk, and what you owe me</a:t>
            </a:r>
          </a:p>
          <a:p>
            <a:r>
              <a:t>CML3113, Week 1, slide 45</a:t>
            </a:r>
          </a:p>
          <a:p>
            <a:r>
              <a:t/>
            </a:r>
          </a:p>
          <a:p>
            <a:r>
              <a:t>Explanation to give</a:t>
            </a:r>
          </a:p>
          <a:p>
            <a:r>
              <a:t>Use this handover to state A1 clearly: three candidate problems and one justified selection, written as a short report.</a:t>
            </a:r>
          </a:p>
          <a:p>
            <a:r>
              <a:t/>
            </a:r>
          </a:p>
          <a:p>
            <a:r>
              <a:t>Worked illustration / lecturer answer</a:t>
            </a:r>
          </a:p>
          <a:p>
            <a:r>
              <a:t>Each problem identifies its inputs, target, possible data source and limitation. Submit one DOCX or selectable-text PDF through the A1 form. Account setup prepares for Week 2 and is separate from the report.</a:t>
            </a:r>
          </a:p>
          <a:p>
            <a:r>
              <a:t/>
            </a:r>
          </a:p>
          <a:p>
            <a:r>
              <a:t>Misconception to address</a:t>
            </a:r>
          </a:p>
          <a:p>
            <a:r>
              <a:t>Read the live deadline, including any catch-up extension. The historical gallery walk is optional; explain one sample problem directly when class time is limited.</a:t>
            </a:r>
          </a:p>
          <a:p>
            <a:r>
              <a:t/>
            </a:r>
          </a:p>
          <a:p>
            <a:r>
              <a:t>Continue to</a:t>
            </a:r>
          </a:p>
          <a:p>
            <a:r>
              <a:t>Before Week 2</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Week 2</a:t>
            </a:r>
          </a:p>
          <a:p>
            <a:r>
              <a:t>CML3113, Week 1, slide 46</a:t>
            </a:r>
          </a:p>
          <a:p>
            <a:r>
              <a:t/>
            </a:r>
          </a:p>
          <a:p>
            <a:r>
              <a:t>Explanation to give</a:t>
            </a:r>
          </a:p>
          <a:p>
            <a:r>
              <a:t>Use this handover to state A1 clearly: three candidate problems and one justified selection, written as a short report.</a:t>
            </a:r>
          </a:p>
          <a:p>
            <a:r>
              <a:t/>
            </a:r>
          </a:p>
          <a:p>
            <a:r>
              <a:t>Worked illustration / lecturer answer</a:t>
            </a:r>
          </a:p>
          <a:p>
            <a:r>
              <a:t>Each problem identifies its inputs, target, possible data source and limitation. Submit one DOCX or selectable-text PDF through the A1 form. Account setup prepares for Week 2 and is separate from the report.</a:t>
            </a:r>
          </a:p>
          <a:p>
            <a:r>
              <a:t/>
            </a:r>
          </a:p>
          <a:p>
            <a:r>
              <a:t>Misconception to address</a:t>
            </a:r>
          </a:p>
          <a:p>
            <a:r>
              <a:t>Read the live deadline, including any catch-up extension. The historical gallery walk is optional; explain one sample problem directly when class time is limited.</a:t>
            </a:r>
          </a:p>
          <a:p>
            <a:r>
              <a:t/>
            </a:r>
          </a:p>
          <a:p>
            <a:r>
              <a:t>Continue to</a:t>
            </a:r>
          </a:p>
          <a:p>
            <a:r>
              <a:t>Watch this before Week 2</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Watch this before Week 2</a:t>
            </a:r>
          </a:p>
          <a:p>
            <a:r>
              <a:t>CML3113, Week 1, slide 47</a:t>
            </a:r>
          </a:p>
          <a:p>
            <a:r>
              <a:t/>
            </a:r>
          </a:p>
          <a:p>
            <a:r>
              <a:t>Explanation to give</a:t>
            </a:r>
          </a:p>
          <a:p>
            <a:r>
              <a:t>Give the viewing question before playing the excerpt: Explain the distinction or mechanism named on this video slide using one example from today.</a:t>
            </a:r>
          </a:p>
          <a:p>
            <a:r>
              <a:t/>
            </a:r>
          </a:p>
          <a:p>
            <a:r>
              <a:t>Worked illustration / lecturer answer</a:t>
            </a:r>
          </a:p>
          <a:p>
            <a:r>
              <a:t>Use the adjacent worked example as the explanation if the video cannot load. Pause after the relevant example and connect its terms to the names and units already used in this lesson. Preview the displayed link and excerpt before class.</a:t>
            </a:r>
          </a:p>
          <a:p>
            <a:r>
              <a:t/>
            </a:r>
          </a:p>
          <a:p>
            <a:r>
              <a:t>Misconception to address</a:t>
            </a:r>
          </a:p>
          <a:p>
            <a:r>
              <a:t>The video is supporting revision, not a replacement for defining the symbols or a requirement to watch a full tutorial during limited class time.</a:t>
            </a:r>
          </a:p>
          <a:p>
            <a:r>
              <a:t/>
            </a:r>
          </a:p>
          <a:p>
            <a:r>
              <a:t>Reference / existing resource</a:t>
            </a:r>
          </a:p>
          <a:p>
            <a:r>
              <a:t>https://www.youtube.com/watch?v=Gv9_4yMHFhI,</a:t>
            </a:r>
          </a:p>
          <a:p>
            <a:r>
              <a:t>https://www.youtube.com/watch?v=PeMlggyqz0Y</a:t>
            </a:r>
          </a:p>
          <a:p>
            <a:r>
              <a:t/>
            </a:r>
          </a:p>
          <a:p>
            <a:r>
              <a:t>Continue to</a:t>
            </a:r>
          </a:p>
          <a:p>
            <a:r>
              <a:t>Revision material</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Revision material</a:t>
            </a:r>
          </a:p>
          <a:p>
            <a:r>
              <a:t>CML3113, Week 1, slide 48</a:t>
            </a:r>
          </a:p>
          <a:p>
            <a:r>
              <a:t/>
            </a:r>
          </a:p>
          <a:p>
            <a:r>
              <a:t>Explanation to give</a:t>
            </a:r>
          </a:p>
          <a:p>
            <a:r>
              <a:t>Orient students to this particular lesson: explain what they will see demonstrated, which file they will use and what they must retain for revision. Keep the transition short enough to preserve explanation time.</a:t>
            </a:r>
          </a:p>
          <a:p>
            <a:r>
              <a:t/>
            </a:r>
          </a:p>
          <a:p>
            <a:r>
              <a:t>Worked illustration / lecturer answer</a:t>
            </a:r>
          </a:p>
          <a:p>
            <a:r>
              <a:t>Open the next worked example on the projector and name its input and intended result. Demonstrate it yourself before asking students to interpret a result. Use remaining summary and glossary pages for independent revision.</a:t>
            </a:r>
          </a:p>
          <a:p>
            <a:r>
              <a:t/>
            </a:r>
          </a:p>
          <a:p>
            <a:r>
              <a:t>Misconception to address</a:t>
            </a:r>
          </a:p>
          <a:p>
            <a:r>
              <a:t>The historical slide's timed group activity is not a requirement to stop for partner work. Use a lecturer-led walkthrough in the current limited class time.</a:t>
            </a:r>
          </a:p>
          <a:p>
            <a:r>
              <a:t/>
            </a:r>
          </a:p>
          <a:p>
            <a:r>
              <a:t>Continue to</a:t>
            </a:r>
          </a:p>
          <a:p>
            <a:r>
              <a:t>What you should take away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you should take away</a:t>
            </a:r>
          </a:p>
          <a:p>
            <a:r>
              <a:t>CML3113, Week 1, slide 49</a:t>
            </a:r>
          </a:p>
          <a:p>
            <a:r>
              <a:t/>
            </a:r>
          </a:p>
          <a:p>
            <a:r>
              <a:t>Explanation to give</a:t>
            </a:r>
          </a:p>
          <a:p>
            <a:r>
              <a:t>Start with an engineering decision, then introduce learning from examples. No code is needed today.</a:t>
            </a:r>
          </a:p>
          <a:p>
            <a:r>
              <a:t/>
            </a:r>
          </a:p>
          <a:p>
            <a:r>
              <a:t>Worked illustration / lecturer answer</a:t>
            </a:r>
          </a:p>
          <a:p>
            <a:r>
              <a:t>A numerical quantity such as days until servicing is a regression target. A label such as service due is a classification target.</a:t>
            </a:r>
          </a:p>
          <a:p>
            <a:r>
              <a:t/>
            </a:r>
          </a:p>
          <a:p>
            <a:r>
              <a:t>Misconception to address</a:t>
            </a:r>
          </a:p>
          <a:p>
            <a:r>
              <a:t>Use the outcomes listed on this slide to check understanding through the small examples, rather than asking only whether everybody understands.</a:t>
            </a:r>
          </a:p>
          <a:p>
            <a:r>
              <a:t/>
            </a:r>
          </a:p>
          <a:p>
            <a:r>
              <a:t>Continue to</a:t>
            </a:r>
          </a:p>
          <a:p>
            <a:r>
              <a:t>Self-test — try these before you look</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Self-test — try these before you look</a:t>
            </a:r>
          </a:p>
          <a:p>
            <a:r>
              <a:t>CML3113, Week 1, slide 50</a:t>
            </a:r>
          </a:p>
          <a:p>
            <a:r>
              <a:t/>
            </a:r>
          </a:p>
          <a:p>
            <a:r>
              <a:t>Explanation to give</a:t>
            </a:r>
          </a:p>
          <a:p>
            <a:r>
              <a:t>Explain each answer in relation to the question rather than giving only its letter or label.</a:t>
            </a:r>
          </a:p>
          <a:p>
            <a:r>
              <a:t/>
            </a:r>
          </a:p>
          <a:p>
            <a:r>
              <a:t>Worked illustration / lecturer answer</a:t>
            </a:r>
          </a:p>
          <a:p>
            <a:r>
              <a:t>ANSWERS</a:t>
            </a:r>
          </a:p>
          <a:p>
            <a:r>
              <a:t>How did you do?</a:t>
            </a:r>
          </a:p>
          <a:p>
            <a:r>
              <a:t>A</a:t>
            </a:r>
          </a:p>
          <a:p>
            <a:r>
              <a:t>Three questions before agreeing to 'use AI'?</a:t>
            </a:r>
          </a:p>
          <a:p>
            <a:r>
              <a:t>What value do you want to predict? Which recorded data can help? Is an established equation suitable? Resolve these questions before choosing a model.</a:t>
            </a:r>
          </a:p>
          <a:p>
            <a:r>
              <a:t>B</a:t>
            </a:r>
          </a:p>
          <a:p>
            <a:r>
              <a:t>Features and target in a repair table?</a:t>
            </a:r>
          </a:p>
          <a:p>
            <a:r>
              <a:t>The target is whatever you want to predict — say time to next failure. Features are everything known BEFORE that: operating hours, load, temperature. The test is timing: anything only known afterwards cannot be a feature.</a:t>
            </a:r>
          </a:p>
          <a:p>
            <a:r>
              <a:t>C</a:t>
            </a:r>
          </a:p>
          <a:p>
            <a:r>
              <a:t>One of each from your discipline?</a:t>
            </a:r>
          </a:p>
          <a:p>
            <a:r>
              <a:t>Regression: any quantity with a unit — silica in the concentrate in percentage points. Classification: ore or waste; or lithology: sandstone, shale, limestone.</a:t>
            </a:r>
          </a:p>
          <a:p>
            <a:r>
              <a:t>D</a:t>
            </a:r>
          </a:p>
          <a:p>
            <a:r>
              <a:t>Why is a good fit on seen data not evidence?</a:t>
            </a:r>
          </a:p>
          <a:p>
            <a:r>
              <a:t>A model may memorise its training examples. Evaluate it on separate examples to check whether it predicts new cases well.</a:t>
            </a:r>
          </a:p>
          <a:p>
            <a:r>
              <a:t>E</a:t>
            </a:r>
          </a:p>
          <a:p>
            <a:r>
              <a:t>What else before acting?</a:t>
            </a:r>
          </a:p>
          <a:p>
            <a:r>
              <a:t>How large the error is in engineering terms and whether that is tolerable; what it costs when the model is wrong; and whether today's conditions still resemble the data it learned from.</a:t>
            </a:r>
          </a:p>
          <a:p>
            <a:r>
              <a:t/>
            </a:r>
          </a:p>
          <a:p>
            <a:r>
              <a:t>Misconception to address</a:t>
            </a:r>
          </a:p>
          <a:p>
            <a:r>
              <a:t>Use a short lecturer-led walkthrough or individual thought time. Do not require partner work to unlock the explanation.</a:t>
            </a:r>
          </a:p>
          <a:p>
            <a:r>
              <a:t/>
            </a:r>
          </a:p>
          <a:p>
            <a:r>
              <a:t>Continue to</a:t>
            </a:r>
          </a:p>
          <a:p>
            <a:r>
              <a:t>How did you do?</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did you do?</a:t>
            </a:r>
          </a:p>
          <a:p>
            <a:r>
              <a:t>CML3113, Week 1, slide 51</a:t>
            </a:r>
          </a:p>
          <a:p>
            <a:r>
              <a:t/>
            </a:r>
          </a:p>
          <a:p>
            <a:r>
              <a:t>Explanation to give</a:t>
            </a:r>
          </a:p>
          <a:p>
            <a:r>
              <a:t>For each answer on this slide, identify the deciding feature of the question: timing of the input, kind of target, run order or operation requested.</a:t>
            </a:r>
          </a:p>
          <a:p>
            <a:r>
              <a:t/>
            </a:r>
          </a:p>
          <a:p>
            <a:r>
              <a:t>Worked illustration / lecturer answer</a:t>
            </a:r>
          </a:p>
          <a:p>
            <a:r>
              <a:t>Three questions before agreeing to 'use AI'?</a:t>
            </a:r>
          </a:p>
          <a:p>
            <a:r>
              <a:t>What value do you want to predict? Which recorded data can help? Is an established equation suitable? Resolve these questions before choosing a model.</a:t>
            </a:r>
          </a:p>
          <a:p>
            <a:r>
              <a:t>Features and target in a repair table?</a:t>
            </a:r>
          </a:p>
          <a:p>
            <a:r>
              <a:t>The target is whatever you want to predict — say time to next failure. Features are everything known BEFORE that: operating hours, load, temperature. The test is timing: anything only known afterwards cannot be a feature.</a:t>
            </a:r>
          </a:p>
          <a:p>
            <a:r>
              <a:t>One of each from your discipline?</a:t>
            </a:r>
          </a:p>
          <a:p>
            <a:r>
              <a:t>Regression: any quantity with a unit — silica in the concentrate in percentage points. Classification: ore or waste; or lithology: sandstone, shale, limestone.</a:t>
            </a:r>
          </a:p>
          <a:p>
            <a:r>
              <a:t>Why is a good fit on seen data not evidence?</a:t>
            </a:r>
          </a:p>
          <a:p>
            <a:r>
              <a:t>A model may memorise its training examples. Evaluate it on separate examples to check whether it predicts new cases well.</a:t>
            </a:r>
          </a:p>
          <a:p>
            <a:r>
              <a:t>What else before acting?</a:t>
            </a:r>
          </a:p>
          <a:p>
            <a:r>
              <a:t>How large the error is in engineering terms and whether that is tolerable; what it costs when the model is wrong; and whether today's conditions still resemble the data it learned from.</a:t>
            </a:r>
          </a:p>
          <a:p>
            <a:r>
              <a:t/>
            </a:r>
          </a:p>
          <a:p>
            <a:r>
              <a:t>Misconception to address</a:t>
            </a:r>
          </a:p>
          <a:p>
            <a:r>
              <a:t>If a student gives a different engineering example, check its reasoning and timing rather than requiring identical wording to the printed example.</a:t>
            </a:r>
          </a:p>
          <a:p>
            <a:r>
              <a:t/>
            </a:r>
          </a:p>
          <a:p>
            <a:r>
              <a:t>Continue to</a:t>
            </a:r>
          </a:p>
          <a:p>
            <a:r>
              <a:t>Every word we used today (1 of 3)</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word we used today (3 of 3)</a:t>
            </a:r>
          </a:p>
          <a:p>
            <a:r>
              <a:t>CML3113, Week 1, slide 54</a:t>
            </a:r>
          </a:p>
          <a:p>
            <a:r>
              <a:t/>
            </a:r>
          </a:p>
          <a:p>
            <a:r>
              <a:t>Explanation to give</a:t>
            </a:r>
          </a:p>
          <a:p>
            <a:r>
              <a:t>If the intended use is new equipment, keep all observations from each equipment ID together in one partition. Otherwise near-related records can make evaluation look easier than deployment.</a:t>
            </a:r>
          </a:p>
          <a:p>
            <a:r>
              <a:t/>
            </a:r>
          </a:p>
          <a:p>
            <a:r>
              <a:t>Generalisation means working on relevant observations not used to learn the model. Overfitting captures training-specific detail; underfitting misses useful structure even in training.</a:t>
            </a:r>
          </a:p>
          <a:p>
            <a:r>
              <a:t/>
            </a:r>
          </a:p>
          <a:p>
            <a:r>
              <a:t>Worked illustration / lecturer answer</a:t>
            </a:r>
          </a:p>
          <a:p>
            <a:r>
              <a:t>Equipment A recorded on Monday and Tuesday belongs in one partition under a group split. Splitting those two rows across train and validation lets the model see the same equipment on both sides.</a:t>
            </a:r>
          </a:p>
          <a:p>
            <a:r>
              <a:t/>
            </a:r>
          </a:p>
          <a:p>
            <a:r>
              <a:t>A very deep tree may memorise noisy training readings. A constant baseline may miss a clear trend. Compare training and validation errors to diagnose these possibilities.</a:t>
            </a:r>
          </a:p>
          <a:p>
            <a:r>
              <a:t/>
            </a:r>
          </a:p>
          <a:p>
            <a:r>
              <a:t>Misconception to address</a:t>
            </a:r>
          </a:p>
          <a:p>
            <a:r>
              <a:t>Use this page for revision. Connect each word to the concrete example just taught; do not introduce all the definitions as new material in one block.</a:t>
            </a:r>
          </a:p>
          <a:p>
            <a:r>
              <a:t/>
            </a:r>
          </a:p>
          <a:p>
            <a:r>
              <a:t>Continue to</a:t>
            </a:r>
          </a:p>
          <a:p>
            <a:r>
              <a:t>Eight questions to ask about any data problem</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questions to ask about any data problem</a:t>
            </a:r>
          </a:p>
          <a:p>
            <a:r>
              <a:t>CML3113, Week 1, slide 55</a:t>
            </a:r>
          </a:p>
          <a:p>
            <a:r>
              <a:t/>
            </a:r>
          </a:p>
          <a:p>
            <a:r>
              <a:t>Explanation to give</a:t>
            </a:r>
          </a:p>
          <a:p>
            <a:r>
              <a:t>Start from a decision somebody needs to make. Name the answer required, the information available beforehand, where examples could come from and what a mistake would cost.</a:t>
            </a:r>
          </a:p>
          <a:p>
            <a:r>
              <a:t/>
            </a:r>
          </a:p>
          <a:p>
            <a:r>
              <a:t>Worked illustration / lecturer answer</a:t>
            </a:r>
          </a:p>
          <a:p>
            <a:r>
              <a:t>“Predict energy consumption for next week to plan a budget” names a target, horizon and decision. “Use AI in buildings” is too broad to determine data or success criteria.</a:t>
            </a:r>
          </a:p>
          <a:p>
            <a:r>
              <a:t/>
            </a:r>
          </a:p>
          <a:p>
            <a:r>
              <a:t>Misconception to address</a:t>
            </a:r>
          </a:p>
          <a:p>
            <a:r>
              <a:t>A proposed dataset is not automatically appropriate because its title sounds relevant. Check what one row means and when its fields become available.</a:t>
            </a:r>
          </a:p>
          <a:p>
            <a:r>
              <a:t/>
            </a:r>
          </a:p>
          <a:p>
            <a:r>
              <a:t>Continue to</a:t>
            </a:r>
          </a:p>
          <a:p>
            <a:r>
              <a:t>Five questions,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questions,</a:t>
            </a:r>
          </a:p>
          <a:p>
            <a:r>
              <a:t>CML3113, Week 1, slide 56</a:t>
            </a:r>
          </a:p>
          <a:p>
            <a:r>
              <a:t/>
            </a:r>
          </a:p>
          <a:p>
            <a:r>
              <a:t>Explanation to give</a:t>
            </a:r>
          </a:p>
          <a:p>
            <a:r>
              <a:t>This is the CML3113 Week 1 quiz. The student link opens the response form; it does not activate its window. In Quiz Controls use open_W1_CML3113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Continue to</a:t>
            </a:r>
          </a:p>
          <a:p>
            <a:r>
              <a:t>You have already done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have already done</a:t>
            </a:r>
          </a:p>
          <a:p>
            <a:r>
              <a:t>CML3113, Week 1, slide 57</a:t>
            </a:r>
          </a:p>
          <a:p>
            <a:r>
              <a:t/>
            </a:r>
          </a:p>
          <a:p>
            <a:r>
              <a:t>Explanation to give</a:t>
            </a:r>
          </a:p>
          <a:p>
            <a:r>
              <a:t>Translate each action into its technical name only after describing the action. Reading records is exploration, forming a relationship is fitting, applying it to a new case is prediction and comparing against truth is evaluation.</a:t>
            </a:r>
          </a:p>
          <a:p>
            <a:r>
              <a:t/>
            </a:r>
          </a:p>
          <a:p>
            <a:r>
              <a:t>Worked illustration / lecturer answer</a:t>
            </a:r>
          </a:p>
          <a:p>
            <a:r>
              <a:t>In the paper example, the twelve labelled rows teach the provisional rule. The held-out case checks that rule. Later Python code makes these same actions repeatable on more records.</a:t>
            </a:r>
          </a:p>
          <a:p>
            <a:r>
              <a:t/>
            </a:r>
          </a:p>
          <a:p>
            <a:r>
              <a:t>Misconception to address</a:t>
            </a:r>
          </a:p>
          <a:p>
            <a:r>
              <a:t>Finding a pattern in the training examples is not the final success criterion. Keep asking how the rule behaves on unseen, relevant observations.</a:t>
            </a:r>
          </a:p>
        </p:txBody>
      </p:sp>
      <p:sp>
        <p:nvSpPr>
          <p:cNvPr id="4" name="Slide Number Placeholder 3"/>
          <p:cNvSpPr>
            <a:spLocks noGrp="1"/>
          </p:cNvSpPr>
          <p:nvPr>
            <p:ph type="sldNum" idx="5" sz="quarter"/>
          </p:nvPr>
        </p:nvSpPr>
        <p:spPr/>
      </p:sp>
    </p:spTree>
  </p:cSld>
  <p:clrMapOvr>
    <a:masterClrMapping/>
  </p:clrMapOvr>
</p:notes>
</file>

<file path=ppt/notesSlides/notesSlide1005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word we used today (1 of 3)</a:t>
            </a:r>
          </a:p>
          <a:p>
            <a:r>
              <a:t>CML3113, Week 1, slide 52</a:t>
            </a:r>
          </a:p>
          <a:p>
            <a:r>
              <a:t/>
            </a:r>
          </a:p>
          <a:p>
            <a:r>
              <a:t>Explanation to give</a:t>
            </a:r>
          </a:p>
          <a:p>
            <a:r>
              <a:t>Use the terminology to locate the course, not as vocabulary to memorise immediately. AI is the broad field; machine learning develops predictive rules from examples; deep learning is a family of machine-learning methods using neural networks.</a:t>
            </a:r>
          </a:p>
          <a:p>
            <a:r>
              <a:t/>
            </a:r>
          </a:p>
          <a:p>
            <a:r>
              <a:t>Contrast who supplies the decision rule. In conventional programming, the developer writes the rule. In supervised learning, the training examples contain inputs and known answers from which a fitting procedure estimates a rule.</a:t>
            </a:r>
          </a:p>
          <a:p>
            <a:r>
              <a:t/>
            </a:r>
          </a:p>
          <a:p>
            <a:r>
              <a:t>Data science includes finding and examining data, correcting documented defects, analysing patterns and communicating justified conclusions. A prediction model is one possible tool within that work.</a:t>
            </a:r>
          </a:p>
          <a:p>
            <a:r>
              <a:t/>
            </a:r>
          </a:p>
          <a:p>
            <a:r>
              <a:t>Worked illustration / lecturer answer</a:t>
            </a:r>
          </a:p>
          <a:p>
            <a:r>
              <a:t>A fixed threshold alarm follows an explicitly supplied rule. A fault classifier fitted from labelled historical readings learns a rule from data. Both may support an engineering system, but only the second learns from examples.</a:t>
            </a:r>
          </a:p>
          <a:p>
            <a:r>
              <a:t/>
            </a:r>
          </a:p>
          <a:p>
            <a:r>
              <a:t>If a verified formula calculates area from length and width, use it. If many interacting readings affect an outcome and suitable labelled examples exist, a learned predictor may be worth evaluating.</a:t>
            </a:r>
          </a:p>
          <a:p>
            <a:r>
              <a:t/>
            </a:r>
          </a:p>
          <a:p>
            <a:r>
              <a:t>Before predicting energy use, check whether meter readings use the same unit and time interval. Discovering that half the readings are missing is already a meaningful data finding.</a:t>
            </a:r>
          </a:p>
          <a:p>
            <a:r>
              <a:t/>
            </a:r>
          </a:p>
          <a:p>
            <a:r>
              <a:t>Misconception to address</a:t>
            </a:r>
          </a:p>
          <a:p>
            <a:r>
              <a:t>Use this page for revision. Connect each word to the concrete example just taught; do not introduce all the definitions as new material in one block.</a:t>
            </a:r>
          </a:p>
          <a:p>
            <a:r>
              <a:t/>
            </a:r>
          </a:p>
          <a:p>
            <a:r>
              <a:t>Continue to</a:t>
            </a:r>
          </a:p>
          <a:p>
            <a:r>
              <a:t>Every word we used today (2 of 3)</a:t>
            </a:r>
          </a:p>
        </p:txBody>
      </p:sp>
      <p:sp>
        <p:nvSpPr>
          <p:cNvPr id="4" name="Slide Number Placeholder 3"/>
          <p:cNvSpPr>
            <a:spLocks noGrp="1"/>
          </p:cNvSpPr>
          <p:nvPr>
            <p:ph type="sldNum" idx="5" sz="quarter"/>
          </p:nvPr>
        </p:nvSpPr>
        <p:spPr/>
      </p:sp>
    </p:spTree>
  </p:cSld>
  <p:clrMapOvr>
    <a:masterClrMapping/>
  </p:clrMapOvr>
</p:notes>
</file>

<file path=ppt/notesSlides/notesSlide1005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word we used today (2 of 3)</a:t>
            </a:r>
          </a:p>
          <a:p>
            <a:r>
              <a:t>CML3113, Week 1, slide 53</a:t>
            </a:r>
          </a:p>
          <a:p>
            <a:r>
              <a:t/>
            </a:r>
          </a:p>
          <a:p>
            <a:r>
              <a:t>Explanation to give</a:t>
            </a:r>
          </a:p>
          <a:p>
            <a:r>
              <a:t>while tests a condition before each iteration. Unlike for over a fixed list, it needs a route that eventually makes the condition False. Trace both the test and the state update.</a:t>
            </a:r>
          </a:p>
          <a:p>
            <a:r>
              <a:t/>
            </a:r>
          </a:p>
          <a:p>
            <a:r>
              <a:t>Worked illustration / lecturer answer</a:t>
            </a:r>
          </a:p>
          <a:p>
            <a:r>
              <a:t>With count = 0 and while count &lt; 3, print then increment yields 0, 1 and 2. The next test sees count 3 and stops before printing it.</a:t>
            </a:r>
          </a:p>
          <a:p>
            <a:r>
              <a:t/>
            </a:r>
          </a:p>
          <a:p>
            <a:r>
              <a:t>Misconception to address</a:t>
            </a:r>
          </a:p>
          <a:p>
            <a:r>
              <a:t>Use this page for revision. Connect each word to the concrete example just taught; do not introduce all the definitions as new material in one block.</a:t>
            </a:r>
          </a:p>
          <a:p>
            <a:r>
              <a:t/>
            </a:r>
          </a:p>
          <a:p>
            <a:r>
              <a:t>Continue to</a:t>
            </a:r>
          </a:p>
          <a:p>
            <a:r>
              <a:t>Every word we used today (3 of 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52.xml" /></ns0:Relationships>
</file>

<file path=ppt/slides/_rels/slide53.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53.xml" /></ns0: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CML3113</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AI, machine learning</a:t>
            </a:r>
          </a:p>
          <a:p>
            <a:pPr algn="l">
              <a:lnSpc>
                <a:spcPct val="105000"/>
              </a:lnSpc>
              <a:spcAft>
                <a:spcPts val="600"/>
              </a:spcAft>
            </a:pPr>
            <a:r>
              <a:rPr sz="4400" b="1" i="0">
                <a:solidFill>
                  <a:srgbClr val="FFFFFF"/>
                </a:solidFill>
                <a:latin typeface="Cambria"/>
              </a:rPr>
              <a:t>and the engineering problem</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Introduction to Machine Learning in Mining &amp; Petroleum Engineering</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  ·  Fri 11 September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08:00–11:00 · Room 105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YOUR LECTURER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Jotham Martin Wambi</a:t>
            </a:r>
          </a:p>
        </p:txBody>
      </p:sp>
      <p:sp>
        <p:nvSpPr>
          <p:cNvPr id="4" name="Oval 3"/>
          <p:cNvSpPr/>
          <p:nvPr/>
        </p:nvSpPr>
        <p:spPr>
          <a:xfrm>
            <a:off x="10545775" y="603504"/>
            <a:ext cx="960120" cy="96012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3000" b="1">
                <a:solidFill>
                  <a:srgbClr val="FFFFFF"/>
                </a:solidFill>
                <a:latin typeface="Cambria"/>
              </a:rPr>
              <a:t>JW</a:t>
            </a:r>
          </a:p>
        </p:txBody>
      </p:sp>
      <p:sp>
        <p:nvSpPr>
          <p:cNvPr id="5" name="TextBox 4"/>
          <p:cNvSpPr txBox="1"/>
          <p:nvPr/>
        </p:nvSpPr>
        <p:spPr>
          <a:xfrm>
            <a:off x="685800" y="1819655"/>
            <a:ext cx="9494215" cy="400860"/>
          </a:xfrm>
          <a:prstGeom prst="rect">
            <a:avLst/>
          </a:prstGeom>
          <a:noFill/>
        </p:spPr>
        <p:txBody>
          <a:bodyPr wrap="square" lIns="0" rIns="0" tIns="0" bIns="0" anchor="t">
            <a:spAutoFit/>
          </a:bodyPr>
          <a:lstStyle/>
          <a:p>
            <a:pPr algn="l">
              <a:lnSpc>
                <a:spcPct val="120000"/>
              </a:lnSpc>
              <a:spcAft>
                <a:spcPts val="600"/>
              </a:spcAft>
            </a:pPr>
            <a:r>
              <a:rPr sz="1821" b="0" i="0">
                <a:solidFill>
                  <a:srgbClr val="3C4E5E"/>
                </a:solidFill>
                <a:latin typeface="Calibri"/>
              </a:rPr>
              <a:t>Data scientist and ML engineer · Founding engineer, Magentiq AI Labs</a:t>
            </a:r>
          </a:p>
        </p:txBody>
      </p:sp>
      <p:sp>
        <p:nvSpPr>
          <p:cNvPr id="6" name="TextBox 5"/>
          <p:cNvSpPr txBox="1"/>
          <p:nvPr/>
        </p:nvSpPr>
        <p:spPr>
          <a:xfrm>
            <a:off x="685800" y="2494836"/>
            <a:ext cx="4526280"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Background</a:t>
            </a:r>
          </a:p>
        </p:txBody>
      </p:sp>
      <p:sp>
        <p:nvSpPr>
          <p:cNvPr id="7" name="TextBox 6"/>
          <p:cNvSpPr txBox="1"/>
          <p:nvPr/>
        </p:nvSpPr>
        <p:spPr>
          <a:xfrm>
            <a:off x="5715000" y="2494836"/>
            <a:ext cx="5790895"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Some of what I have built</a:t>
            </a:r>
          </a:p>
        </p:txBody>
      </p:sp>
      <p:sp>
        <p:nvSpPr>
          <p:cNvPr id="8" name="Oval 7"/>
          <p:cNvSpPr/>
          <p:nvPr/>
        </p:nvSpPr>
        <p:spPr>
          <a:xfrm>
            <a:off x="704088" y="291546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2860596"/>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Incoming PhD student (April 2027)
Osaka Metropolitan University, Japan</a:t>
            </a:r>
          </a:p>
        </p:txBody>
      </p:sp>
      <p:sp>
        <p:nvSpPr>
          <p:cNvPr id="10" name="Oval 9"/>
          <p:cNvSpPr/>
          <p:nvPr/>
        </p:nvSpPr>
        <p:spPr>
          <a:xfrm>
            <a:off x="704088" y="365328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3598416"/>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Master of Technology Management
Yamaguchi University, Japan</a:t>
            </a:r>
          </a:p>
        </p:txBody>
      </p:sp>
      <p:sp>
        <p:nvSpPr>
          <p:cNvPr id="12" name="Oval 11"/>
          <p:cNvSpPr/>
          <p:nvPr/>
        </p:nvSpPr>
        <p:spPr>
          <a:xfrm>
            <a:off x="704088" y="439110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4336236"/>
            <a:ext cx="4270248"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BSc IT, Makerere · BA Economics, IUIU</a:t>
            </a:r>
          </a:p>
        </p:txBody>
      </p:sp>
      <p:sp>
        <p:nvSpPr>
          <p:cNvPr id="14" name="Oval 13"/>
          <p:cNvSpPr/>
          <p:nvPr/>
        </p:nvSpPr>
        <p:spPr>
          <a:xfrm>
            <a:off x="704088" y="4810301"/>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755437"/>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Eight years at Citibank, EY and D'isum Inc, Tokyo</a:t>
            </a:r>
          </a:p>
        </p:txBody>
      </p:sp>
      <p:sp>
        <p:nvSpPr>
          <p:cNvPr id="16" name="Rounded Rectangle 15"/>
          <p:cNvSpPr/>
          <p:nvPr/>
        </p:nvSpPr>
        <p:spPr>
          <a:xfrm>
            <a:off x="5715000" y="2860596"/>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89320" y="2915460"/>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Law Lens</a:t>
            </a:r>
          </a:p>
        </p:txBody>
      </p:sp>
      <p:sp>
        <p:nvSpPr>
          <p:cNvPr id="18" name="TextBox 17"/>
          <p:cNvSpPr txBox="1"/>
          <p:nvPr/>
        </p:nvSpPr>
        <p:spPr>
          <a:xfrm>
            <a:off x="5989320" y="3196838"/>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Language models over Ugandan law, fully traceable.</a:t>
            </a:r>
          </a:p>
        </p:txBody>
      </p:sp>
      <p:sp>
        <p:nvSpPr>
          <p:cNvPr id="19" name="Rounded Rectangle 18"/>
          <p:cNvSpPr/>
          <p:nvPr/>
        </p:nvSpPr>
        <p:spPr>
          <a:xfrm>
            <a:off x="5715000" y="3715709"/>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9320" y="3770573"/>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Magentiq AssetGuard</a:t>
            </a:r>
          </a:p>
        </p:txBody>
      </p:sp>
      <p:sp>
        <p:nvSpPr>
          <p:cNvPr id="21" name="TextBox 20"/>
          <p:cNvSpPr txBox="1"/>
          <p:nvPr/>
        </p:nvSpPr>
        <p:spPr>
          <a:xfrm>
            <a:off x="5989320" y="4051951"/>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Machine failure predicted from vibration sensors.</a:t>
            </a:r>
          </a:p>
        </p:txBody>
      </p:sp>
      <p:sp>
        <p:nvSpPr>
          <p:cNvPr id="22" name="Rounded Rectangle 21"/>
          <p:cNvSpPr/>
          <p:nvPr/>
        </p:nvSpPr>
        <p:spPr>
          <a:xfrm>
            <a:off x="5715000" y="4570822"/>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89320" y="4625686"/>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Wearable ECG detection</a:t>
            </a:r>
          </a:p>
        </p:txBody>
      </p:sp>
      <p:sp>
        <p:nvSpPr>
          <p:cNvPr id="24" name="TextBox 23"/>
          <p:cNvSpPr txBox="1"/>
          <p:nvPr/>
        </p:nvSpPr>
        <p:spPr>
          <a:xfrm>
            <a:off x="5989320" y="4907064"/>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Eleven cardiac conditions from a live ECG.</a:t>
            </a:r>
          </a:p>
        </p:txBody>
      </p:sp>
      <p:sp>
        <p:nvSpPr>
          <p:cNvPr id="25" name="Rectangle 24"/>
          <p:cNvSpPr/>
          <p:nvPr/>
        </p:nvSpPr>
        <p:spPr>
          <a:xfrm>
            <a:off x="685800" y="5721209"/>
            <a:ext cx="10820095" cy="825894"/>
          </a:xfrm>
          <a:prstGeom prst="rect">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821793"/>
            <a:ext cx="10271455" cy="324899"/>
          </a:xfrm>
          <a:prstGeom prst="rect">
            <a:avLst/>
          </a:prstGeom>
          <a:noFill/>
        </p:spPr>
        <p:txBody>
          <a:bodyPr wrap="square" lIns="0" rIns="0" tIns="0" bIns="0" anchor="t">
            <a:spAutoFit/>
          </a:bodyPr>
          <a:lstStyle/>
          <a:p>
            <a:pPr algn="l">
              <a:lnSpc>
                <a:spcPct val="120000"/>
              </a:lnSpc>
              <a:spcAft>
                <a:spcPts val="600"/>
              </a:spcAft>
            </a:pPr>
            <a:r>
              <a:rPr sz="1518" b="0" i="0">
                <a:solidFill>
                  <a:srgbClr val="1C3144"/>
                </a:solidFill>
                <a:latin typeface="Calibri"/>
              </a:rPr>
              <a:t>Every system on the right uses the pipeline you build from Week 8: split the data, fit a model, then score it.</a:t>
            </a:r>
          </a:p>
        </p:txBody>
      </p:sp>
      <p:sp>
        <p:nvSpPr>
          <p:cNvPr id="27" name="TextBox 26"/>
          <p:cNvSpPr txBox="1"/>
          <p:nvPr/>
        </p:nvSpPr>
        <p:spPr>
          <a:xfrm>
            <a:off x="960120" y="6164980"/>
            <a:ext cx="10271455" cy="299827"/>
          </a:xfrm>
          <a:prstGeom prst="rect">
            <a:avLst/>
          </a:prstGeom>
          <a:noFill/>
        </p:spPr>
        <p:txBody>
          <a:bodyPr wrap="square" lIns="0" rIns="0" tIns="0" bIns="0" anchor="t">
            <a:spAutoFit/>
          </a:bodyPr>
          <a:lstStyle/>
          <a:p>
            <a:pPr algn="l">
              <a:lnSpc>
                <a:spcPct val="120000"/>
              </a:lnSpc>
              <a:spcAft>
                <a:spcPts val="600"/>
              </a:spcAft>
            </a:pPr>
            <a:r>
              <a:rPr sz="1386" b="0" i="0">
                <a:solidFill>
                  <a:srgbClr val="6B7A8A"/>
                </a:solidFill>
                <a:latin typeface="Calibri"/>
              </a:rPr>
              <a:t>linkedin.com/in/jothammartinwambi   ·   github.com/Jotham566   ·   jothammartin.wambi@gmail.com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Say what artificial intelligence, machine learning and data science each mean, and how they differ.</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the difference between writing a rule yourself and letting a computer infer one from examples.</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Point at a table of data and correctly identify the features and the target.</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Tell a regression problem from a classification problem, and give an example of each from your own field.</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Name three problems in exploration, ore and reservoir characterisation, production and equipment health where data could help, and two where it could not.</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State four things machine learning cannot do, with a reason for each.</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Describe how this course is assessed and what your project will look like.</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1 · AI, machine learning and the engineering problem · nothing here needs prior programming experience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every session this semester is shaped</a:t>
            </a:r>
          </a:p>
        </p:txBody>
      </p:sp>
      <p:pic>
        <p:nvPicPr>
          <p:cNvPr id="4" name="Picture 3" descr="clock_w1.png"/>
          <p:cNvPicPr>
            <a:picLocks noChangeAspect="1"/>
          </p:cNvPicPr>
          <p:nvPr/>
        </p:nvPicPr>
        <p:blipFill>
          <a:blip r:embed="rId2"/>
          <a:stretch>
            <a:fillRect/>
          </a:stretch>
        </p:blipFill>
        <p:spPr>
          <a:xfrm>
            <a:off x="921970" y="1911095"/>
            <a:ext cx="103477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Three hours, eleven segments. No block of talking runs longer than 25 minutes, and roughly half of every session is you doing something rather than me saying something.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SEMESTER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this semester goes</a:t>
            </a:r>
          </a:p>
        </p:txBody>
      </p:sp>
      <p:pic>
        <p:nvPicPr>
          <p:cNvPr id="4" name="Picture 3" descr="arc.png"/>
          <p:cNvPicPr>
            <a:picLocks noChangeAspect="1"/>
          </p:cNvPicPr>
          <p:nvPr/>
        </p:nvPicPr>
        <p:blipFill>
          <a:blip r:embed="rId2"/>
          <a:stretch>
            <a:fillRect/>
          </a:stretch>
        </p:blipFill>
        <p:spPr>
          <a:xfrm>
            <a:off x="685800" y="2460326"/>
            <a:ext cx="10820095" cy="2915753"/>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weeks. Weeks 7 and 14 are practical tests: you are given data you have never seen and asked what you make of it. The project runs from Week 9 to the last session.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COURSE GOALS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will be able to say by December</a:t>
            </a:r>
          </a:p>
        </p:txBody>
      </p:sp>
      <p:pic>
        <p:nvPicPr>
          <p:cNvPr id="4" name="Picture 3" descr="ladder.png"/>
          <p:cNvPicPr>
            <a:picLocks noChangeAspect="1"/>
          </p:cNvPicPr>
          <p:nvPr/>
        </p:nvPicPr>
        <p:blipFill>
          <a:blip r:embed="rId2"/>
          <a:stretch>
            <a:fillRect/>
          </a:stretch>
        </p:blipFill>
        <p:spPr>
          <a:xfrm>
            <a:off x="1552731" y="1911095"/>
            <a:ext cx="908623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course builds from reading data to testing a model. Weekly exercises give you practice at each stage.</a:t>
            </a:r>
          </a:p>
        </p:txBody>
      </p:sp>
    </p:spTree>
  </p:cSld>
  <p:clrMapOvr>
    <a:masterClrMapping/>
  </p:clrMapOvr>
</p:sld>
</file>

<file path=ppt/slides/slide7.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Welcome, and how this course works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Course goals, assessment and weekly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ASSESSMENT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you are assessed</a:t>
            </a:r>
          </a:p>
        </p:txBody>
      </p:sp>
      <p:pic>
        <p:nvPicPr>
          <p:cNvPr id="4" name="Picture 3" descr="assessment.png"/>
          <p:cNvPicPr>
            <a:picLocks noChangeAspect="1"/>
          </p:cNvPicPr>
          <p:nvPr/>
        </p:nvPicPr>
        <p:blipFill>
          <a:blip r:embed="rId2"/>
          <a:stretch>
            <a:fillRect/>
          </a:stretch>
        </p:blipFill>
        <p:spPr>
          <a:xfrm>
            <a:off x="1160833" y="1911095"/>
            <a:ext cx="98700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Assessment includes code, data analysis, models and written explanations. Individual work accounts for 65% of the mark.</a:t>
            </a:r>
          </a:p>
        </p:txBody>
      </p:sp>
    </p:spTree>
  </p:cSld>
  <p:clrMapOvr>
    <a:masterClrMapping/>
  </p:clrMapOvr>
</p:sld>
</file>

<file path=ppt/slides/slide9.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CLASS EXPECTATIONS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I expect, and what you can expect back</a:t>
            </a:r>
          </a:p>
        </p:txBody>
      </p:sp>
      <p:sp>
        <p:nvSpPr>
          <p:cNvPr id="4" name="TextBox 3"/>
          <p:cNvSpPr txBox="1"/>
          <p:nvPr/>
        </p:nvSpPr>
        <p:spPr>
          <a:xfrm>
            <a:off x="685800"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I expect from you</a:t>
            </a:r>
          </a:p>
        </p:txBody>
      </p:sp>
      <p:sp>
        <p:nvSpPr>
          <p:cNvPr id="5" name="TextBox 4"/>
          <p:cNvSpPr txBox="1"/>
          <p:nvPr/>
        </p:nvSpPr>
        <p:spPr>
          <a:xfrm>
            <a:off x="685800"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Attend. There is one three-hour session a week and no lecture to catch up from — the value is in the practical and the challenge, which cannot be read later.</a:t>
            </a:r>
          </a:p>
        </p:txBody>
      </p:sp>
      <p:sp>
        <p:nvSpPr>
          <p:cNvPr id="6" name="TextBox 5"/>
          <p:cNvSpPr txBox="1"/>
          <p:nvPr/>
        </p:nvSpPr>
        <p:spPr>
          <a:xfrm>
            <a:off x="685800" y="3402456"/>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Do the weekly deliverable every week. Eleven small pieces spread over twelve weeks is manageable; nine of them attempted in December is not.</a:t>
            </a:r>
          </a:p>
        </p:txBody>
      </p:sp>
      <p:sp>
        <p:nvSpPr>
          <p:cNvPr id="7" name="TextBox 6"/>
          <p:cNvSpPr txBox="1"/>
          <p:nvPr/>
        </p:nvSpPr>
        <p:spPr>
          <a:xfrm>
            <a:off x="685800" y="4472278"/>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When asking for help, include the error message, what you tried and what you expected.</a:t>
            </a:r>
          </a:p>
        </p:txBody>
      </p:sp>
      <p:sp>
        <p:nvSpPr>
          <p:cNvPr id="8" name="TextBox 7"/>
          <p:cNvSpPr txBox="1"/>
          <p:nvPr/>
        </p:nvSpPr>
        <p:spPr>
          <a:xfrm>
            <a:off x="685800" y="554210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When you get stuck, note the step that failed and ask for help.</a:t>
            </a:r>
          </a:p>
        </p:txBody>
      </p:sp>
      <p:sp>
        <p:nvSpPr>
          <p:cNvPr id="9" name="TextBox 8"/>
          <p:cNvSpPr txBox="1"/>
          <p:nvPr/>
        </p:nvSpPr>
        <p:spPr>
          <a:xfrm>
            <a:off x="6347307"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you can expect from me</a:t>
            </a:r>
          </a:p>
        </p:txBody>
      </p:sp>
      <p:sp>
        <p:nvSpPr>
          <p:cNvPr id="10" name="TextBox 9"/>
          <p:cNvSpPr txBox="1"/>
          <p:nvPr/>
        </p:nvSpPr>
        <p:spPr>
          <a:xfrm>
            <a:off x="6347307"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Every rubric published before the work is set. You will never meet a marking scheme for the first time in an assessment.</a:t>
            </a:r>
          </a:p>
        </p:txBody>
      </p:sp>
      <p:sp>
        <p:nvSpPr>
          <p:cNvPr id="11" name="TextBox 10"/>
          <p:cNvSpPr txBox="1"/>
          <p:nvPr/>
        </p:nvSpPr>
        <p:spPr>
          <a:xfrm>
            <a:off x="6347307" y="3402456"/>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Download the lesson files before class so you can access the data without a connection.</a:t>
            </a:r>
          </a:p>
        </p:txBody>
      </p:sp>
      <p:sp>
        <p:nvSpPr>
          <p:cNvPr id="12" name="TextBox 11"/>
          <p:cNvSpPr txBox="1"/>
          <p:nvPr/>
        </p:nvSpPr>
        <p:spPr>
          <a:xfrm>
            <a:off x="6347307" y="416139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Feedback on the weekly work within a week, and instant feedback on every quiz.</a:t>
            </a:r>
          </a:p>
        </p:txBody>
      </p:sp>
      <p:sp>
        <p:nvSpPr>
          <p:cNvPr id="13" name="TextBox 12"/>
          <p:cNvSpPr txBox="1"/>
          <p:nvPr/>
        </p:nvSpPr>
        <p:spPr>
          <a:xfrm>
            <a:off x="6347307" y="4920325"/>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Ask how each topic relates to the engineering problem.</a:t>
            </a:r>
          </a:p>
        </p:txBody>
      </p:sp>
    </p:spTree>
  </p:cSld>
  <p:clrMapOvr>
    <a:masterClrMapping/>
  </p:clrMapOvr>
</p:sld>
</file>

<file path=ppt/slides/slide10.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Machine learning topics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This roadmap shows Semester 1, Semester 2 and topics outside this course.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TERRITORY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machine learning roadmap</a:t>
            </a:r>
          </a:p>
        </p:txBody>
      </p:sp>
      <p:pic>
        <p:nvPicPr>
          <p:cNvPr id="4" name="Picture 3" descr="roadmap_journey.png"/>
          <p:cNvPicPr>
            <a:picLocks noChangeAspect="1"/>
          </p:cNvPicPr>
          <p:nvPr/>
        </p:nvPicPr>
        <p:blipFill>
          <a:blip r:embed="rId2"/>
          <a:stretch>
            <a:fillRect/>
          </a:stretch>
        </p:blipFill>
        <p:spPr>
          <a:xfrm>
            <a:off x="2272525" y="1911095"/>
            <a:ext cx="764664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stages, from Python to transformers. Orange is Semester 1. Green is Semester 2. Dark blue is the stage you already have from your engineering degree. Grey is what this course deliberately does not teach. Structure follows the public roadmap.sh Machine Learning roadmap.</a:t>
            </a:r>
          </a:p>
        </p:txBody>
      </p:sp>
    </p:spTree>
  </p:cSld>
  <p:clrMapOvr>
    <a:masterClrMapping/>
  </p:clrMapOvr>
</p:sld>
</file>

<file path=ppt/slides/slide12.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FOUNDATIONS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Mathematics and programming foundations</a:t>
            </a:r>
          </a:p>
        </p:txBody>
      </p:sp>
      <p:sp>
        <p:nvSpPr>
          <p:cNvPr id="4" name="TextBox 3"/>
          <p:cNvSpPr txBox="1"/>
          <p:nvPr/>
        </p:nvSpPr>
        <p:spPr>
          <a:xfrm>
            <a:off x="685800"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Mathematics used in machine learning</a:t>
            </a:r>
          </a:p>
        </p:txBody>
      </p:sp>
      <p:sp>
        <p:nvSpPr>
          <p:cNvPr id="5" name="TextBox 4"/>
          <p:cNvSpPr txBox="1"/>
          <p:nvPr/>
        </p:nvSpPr>
        <p:spPr>
          <a:xfrm>
            <a:off x="685800" y="234272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The roadmap includes calculus, linear algebra, statistics and probability. Each supports a different part of building or evaluating a model.</a:t>
            </a:r>
          </a:p>
        </p:txBody>
      </p:sp>
      <p:sp>
        <p:nvSpPr>
          <p:cNvPr id="6" name="TextBox 5"/>
          <p:cNvSpPr txBox="1"/>
          <p:nvPr/>
        </p:nvSpPr>
        <p:spPr>
          <a:xfrm>
            <a:off x="685800" y="3451407"/>
            <a:ext cx="5158587" cy="1350228"/>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We introduce the mathematics needed for each topic, including averages, matrices and probability. Earlier mathematics courses may help, but each example includes the steps.</a:t>
            </a:r>
          </a:p>
        </p:txBody>
      </p:sp>
      <p:sp>
        <p:nvSpPr>
          <p:cNvPr id="7" name="TextBox 6"/>
          <p:cNvSpPr txBox="1"/>
          <p:nvPr/>
        </p:nvSpPr>
        <p:spPr>
          <a:xfrm>
            <a:off x="6347307" y="1911095"/>
            <a:ext cx="5158587" cy="79010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Programming foundations</a:t>
            </a:r>
          </a:p>
        </p:txBody>
      </p:sp>
      <p:sp>
        <p:nvSpPr>
          <p:cNvPr id="8" name="TextBox 7"/>
          <p:cNvSpPr txBox="1"/>
          <p:nvPr/>
        </p:nvSpPr>
        <p:spPr>
          <a:xfrm>
            <a:off x="6347307" y="271034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Weeks 2–6 introduce Python, data libraries and data preparation through worked examples.</a:t>
            </a:r>
          </a:p>
        </p:txBody>
      </p:sp>
      <p:sp>
        <p:nvSpPr>
          <p:cNvPr id="9" name="TextBox 8"/>
          <p:cNvSpPr txBox="1"/>
          <p:nvPr/>
        </p:nvSpPr>
        <p:spPr>
          <a:xfrm>
            <a:off x="6347307" y="3965331"/>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Applying engineering knowledge</a:t>
            </a:r>
          </a:p>
        </p:txBody>
      </p:sp>
      <p:sp>
        <p:nvSpPr>
          <p:cNvPr id="10" name="TextBox 9"/>
          <p:cNvSpPr txBox="1"/>
          <p:nvPr/>
        </p:nvSpPr>
        <p:spPr>
          <a:xfrm>
            <a:off x="6347307" y="4396959"/>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This course introduces programming through engineering examples.</a:t>
            </a:r>
          </a:p>
        </p:txBody>
      </p:sp>
      <p:sp>
        <p:nvSpPr>
          <p:cNvPr id="11" name="TextBox 10"/>
          <p:cNvSpPr txBox="1"/>
          <p:nvPr/>
        </p:nvSpPr>
        <p:spPr>
          <a:xfrm>
            <a:off x="6347307" y="5505643"/>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Engineering knowledge helps you check units, judge whether a result is plausible and recognise limits in the 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COVERAGE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Topics covered in this course</a:t>
            </a:r>
          </a:p>
        </p:txBody>
      </p:sp>
      <p:pic>
        <p:nvPicPr>
          <p:cNvPr id="4" name="Picture 3" descr="roadmap_coverage.png"/>
          <p:cNvPicPr>
            <a:picLocks noChangeAspect="1"/>
          </p:cNvPicPr>
          <p:nvPr/>
        </p:nvPicPr>
        <p:blipFill>
          <a:blip r:embed="rId2"/>
          <a:stretch>
            <a:fillRect/>
          </a:stretch>
        </p:blipFill>
        <p:spPr>
          <a:xfrm>
            <a:off x="1584787" y="1911095"/>
            <a:ext cx="902212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Grey marks topics outside this course, including reinforcement learning, full MLOps and most advanced language-model topics.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WHERE IT LEADS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jobs this field splits into</a:t>
            </a:r>
          </a:p>
        </p:txBody>
      </p:sp>
      <p:pic>
        <p:nvPicPr>
          <p:cNvPr id="4" name="Picture 3" descr="career_paths.png"/>
          <p:cNvPicPr>
            <a:picLocks noChangeAspect="1"/>
          </p:cNvPicPr>
          <p:nvPr/>
        </p:nvPicPr>
        <p:blipFill>
          <a:blip r:embed="rId2"/>
          <a:stretch>
            <a:fillRect/>
          </a:stretch>
        </p:blipFill>
        <p:spPr>
          <a:xfrm>
            <a:off x="850640" y="1911095"/>
            <a:ext cx="1049041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These are four different roadmaps and four different careers. This course points at the first one, applied inside your own engineering discipline — which is a narrower and more defensible position than competing with computer science graduates on general machine learning.</a:t>
            </a:r>
          </a:p>
        </p:txBody>
      </p:sp>
    </p:spTree>
  </p:cSld>
  <p:clrMapOvr>
    <a:masterClrMapping/>
  </p:clrMapOvr>
</p:sld>
</file>

<file path=ppt/slides/slide15.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Machine learning in engineering</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Three words people use interchangeably and should not — and where engineering sits among them.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LANGUAGE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words, and how they nest</a:t>
            </a:r>
          </a:p>
        </p:txBody>
      </p:sp>
      <p:pic>
        <p:nvPicPr>
          <p:cNvPr id="4" name="Picture 3" descr="nested_ai.png"/>
          <p:cNvPicPr>
            <a:picLocks noChangeAspect="1"/>
          </p:cNvPicPr>
          <p:nvPr/>
        </p:nvPicPr>
        <p:blipFill>
          <a:blip r:embed="rId2"/>
          <a:stretch>
            <a:fillRect/>
          </a:stretch>
        </p:blipFill>
        <p:spPr>
          <a:xfrm>
            <a:off x="2282342" y="1911095"/>
            <a:ext cx="762701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Each is contained by the one before it. Data science is the odd one out: it overlaps all of them and is contained by none, because it is the craft of getting an answer out of data at all — finding it, cleaning it, questioning it, presenting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Artificial intelligence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Any machine doing something we would call intelligent. It names a goal. Many different techniques aim at it.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chess engine is AI. So is a spam filter. A thermostat is not — it follows one fixed rule with no notion of doing better.</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which is one particular way of achieving AI. All machine learning is AI; most AI historically was not machine learning.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Machine learning</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Getting a computer to work out a rule from examples, instead of you writing the rule yourself.</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You show it six months of process readings every twenty seconds, each with the assay that came back later. It infers a relationship. You then decide whether to trust it.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Automation. A script that emails a report every Monday is automation and there is no learning in it at all.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Data science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The craft of getting a trustworthy answer out of data — finding it, cleaning it, questioning it, analysing it and presenting it so somebody can act.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Discovering that a third of your assay records are missing, working out whether they are missing at random, and deciding what that does to your conclusion. No model involved.</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You will spend far more of this semester on data science than on machine learning, and that ratio matches professional practice.</a:t>
            </a:r>
          </a:p>
        </p:txBody>
      </p:sp>
    </p:spTree>
  </p:cSld>
  <p:clrMapOvr>
    <a:masterClrMapping/>
  </p:clrMapOvr>
</p:sld>
</file>

<file path=ppt/slides/slide20.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ways to make a computer decide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Learning patterns from data and using them to make predictions.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THIS COURSE STARTS FROM</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"The silica assay takes an hour to come back from the laboratory. Can we know it now, from the process variables we already measure?"</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Hold onto that question. In twenty minutes you are going to answer a version of it yourself, on paper, with no computer and no formula.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ACTUAL IDEA</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Traditional programming, and machine learning</a:t>
            </a:r>
          </a:p>
        </p:txBody>
      </p:sp>
      <p:pic>
        <p:nvPicPr>
          <p:cNvPr id="4" name="Picture 3" descr="rules_vs_learning.png"/>
          <p:cNvPicPr>
            <a:picLocks noChangeAspect="1"/>
          </p:cNvPicPr>
          <p:nvPr/>
        </p:nvPicPr>
        <p:blipFill>
          <a:blip r:embed="rId2"/>
          <a:stretch>
            <a:fillRect/>
          </a:stretch>
        </p:blipFill>
        <p:spPr>
          <a:xfrm>
            <a:off x="1304533" y="1911095"/>
            <a:ext cx="95826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On the left, the way you already know: you work out the rule and write it down. On the right, the new way: you do not know the rule, but you have examples of inputs and the answers that followed, and the computer works out a rule from them.</a:t>
            </a:r>
          </a:p>
        </p:txBody>
      </p:sp>
    </p:spTree>
  </p:cSld>
  <p:clrMapOvr>
    <a:masterClrMapping/>
  </p:clrMapOvr>
</p:sld>
</file>

<file path=ppt/slides/slide23.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CHOOSING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When to write the rule, and when to learn it from data</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Write the rule yourself when…</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code of practice, a datasheet or a validated equation already gives you the answer.</a:t>
            </a:r>
          </a:p>
        </p:txBody>
      </p:sp>
      <p:sp>
        <p:nvSpPr>
          <p:cNvPr id="6" name="TextBox 5"/>
          <p:cNvSpPr txBox="1"/>
          <p:nvPr/>
        </p:nvSpPr>
        <p:spPr>
          <a:xfrm>
            <a:off x="685800" y="316337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relationship is simple and well understood.</a:t>
            </a:r>
          </a:p>
        </p:txBody>
      </p:sp>
      <p:sp>
        <p:nvSpPr>
          <p:cNvPr id="7" name="TextBox 6"/>
          <p:cNvSpPr txBox="1"/>
          <p:nvPr/>
        </p:nvSpPr>
        <p:spPr>
          <a:xfrm>
            <a:off x="685800" y="363733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must be able to explain the decision to a client or a regulator line by line.</a:t>
            </a:r>
          </a:p>
        </p:txBody>
      </p:sp>
      <p:sp>
        <p:nvSpPr>
          <p:cNvPr id="8" name="TextBox 7"/>
          <p:cNvSpPr txBox="1"/>
          <p:nvPr/>
        </p:nvSpPr>
        <p:spPr>
          <a:xfrm>
            <a:off x="685800" y="4448083"/>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little or no historical data.</a:t>
            </a:r>
          </a:p>
        </p:txBody>
      </p:sp>
      <p:sp>
        <p:nvSpPr>
          <p:cNvPr id="9" name="TextBox 8"/>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Let the computer infer the rule when…</a:t>
            </a:r>
          </a:p>
        </p:txBody>
      </p:sp>
      <p:sp>
        <p:nvSpPr>
          <p:cNvPr id="10" name="TextBox 9"/>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Nobody knows the rule, or it involves many variables interacting.</a:t>
            </a:r>
          </a:p>
        </p:txBody>
      </p:sp>
      <p:sp>
        <p:nvSpPr>
          <p:cNvPr id="11" name="TextBox 10"/>
          <p:cNvSpPr txBox="1"/>
          <p:nvPr/>
        </p:nvSpPr>
        <p:spPr>
          <a:xfrm>
            <a:off x="6347307" y="316337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a reasonable quantity of past examples where you know both the inputs and the outcome.</a:t>
            </a:r>
          </a:p>
        </p:txBody>
      </p:sp>
      <p:sp>
        <p:nvSpPr>
          <p:cNvPr id="12" name="TextBox 11"/>
          <p:cNvSpPr txBox="1"/>
          <p:nvPr/>
        </p:nvSpPr>
        <p:spPr>
          <a:xfrm>
            <a:off x="6347307" y="3974128"/>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An early estimate can help with planning if its error is small enough for the decision.</a:t>
            </a:r>
          </a:p>
        </p:txBody>
      </p:sp>
      <p:sp>
        <p:nvSpPr>
          <p:cNvPr id="13" name="TextBox 12"/>
          <p:cNvSpPr txBox="1"/>
          <p:nvPr/>
        </p:nvSpPr>
        <p:spPr>
          <a:xfrm>
            <a:off x="6347307" y="5121673"/>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can test the inferred rule against cases it has never seen.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VOCABULARY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Data, features and targets</a:t>
            </a:r>
          </a:p>
        </p:txBody>
      </p:sp>
      <p:pic>
        <p:nvPicPr>
          <p:cNvPr id="4" name="Picture 3" descr="data_table_CML3113.png"/>
          <p:cNvPicPr>
            <a:picLocks noChangeAspect="1"/>
          </p:cNvPicPr>
          <p:nvPr/>
        </p:nvPicPr>
        <p:blipFill>
          <a:blip r:embed="rId2"/>
          <a:stretch>
            <a:fillRect/>
          </a:stretch>
        </p:blipFill>
        <p:spPr>
          <a:xfrm>
            <a:off x="1304420" y="1911095"/>
            <a:ext cx="95828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In this example, each row describes one case. Feature columns contain the inputs available before prediction. The target column contains the value to predict.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Feature, and target</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FEATURE is a column you know before the outcome — an input. The TARGET is the column you want to predict. One row containing all of them is one EXAMPLE.</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In the table you just saw, iron feed grade, starch flow and pulp pH are the features. Silica in the concentrate is the target.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target is not the same as a cause. Starch flow is associated with concentrate quality; the model learns the association and knows nothing about surface chemistry.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In a table of froth flotation process data records, is silica in the concentrate a feature or the target?</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long a pump will run before it fails. You have a column recording the repair that was carried out afterwards. Should it be a feature? Why or why not?</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example from your own discipline of a problem where you already know the rule, so machine learning would be the wrong tool.</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27.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Feature or target?</a:t>
            </a:r>
          </a:p>
        </p:txBody>
      </p:sp>
      <p:sp>
        <p:nvSpPr>
          <p:cNvPr id="6" name="TextBox 5"/>
          <p:cNvSpPr txBox="1"/>
          <p:nvPr/>
        </p:nvSpPr>
        <p:spPr>
          <a:xfrm>
            <a:off x="1216152" y="2203703"/>
            <a:ext cx="10253167"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The target. It is the thing you want to predict. Everything measured beforehand is a feature.</a:t>
            </a:r>
          </a:p>
        </p:txBody>
      </p:sp>
      <p:sp>
        <p:nvSpPr>
          <p:cNvPr id="7" name="Oval 6"/>
          <p:cNvSpPr/>
          <p:nvPr/>
        </p:nvSpPr>
        <p:spPr>
          <a:xfrm>
            <a:off x="685800" y="275086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271429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The repair column?</a:t>
            </a:r>
          </a:p>
        </p:txBody>
      </p:sp>
      <p:sp>
        <p:nvSpPr>
          <p:cNvPr id="9" name="TextBox 8"/>
          <p:cNvSpPr txBox="1"/>
          <p:nvPr/>
        </p:nvSpPr>
        <p:spPr>
          <a:xfrm>
            <a:off x="1216152" y="3006900"/>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No. The repair is recorded after the failure, so it is unavailable at prediction time. Including it would give misleading test results. This is data leakage.</a:t>
            </a:r>
          </a:p>
        </p:txBody>
      </p:sp>
      <p:sp>
        <p:nvSpPr>
          <p:cNvPr id="10" name="Oval 9"/>
          <p:cNvSpPr/>
          <p:nvPr/>
        </p:nvSpPr>
        <p:spPr>
          <a:xfrm>
            <a:off x="685800" y="424605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20948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A rule you already know?</a:t>
            </a:r>
          </a:p>
        </p:txBody>
      </p:sp>
      <p:sp>
        <p:nvSpPr>
          <p:cNvPr id="12" name="TextBox 11"/>
          <p:cNvSpPr txBox="1"/>
          <p:nvPr/>
        </p:nvSpPr>
        <p:spPr>
          <a:xfrm>
            <a:off x="1216152" y="4502090"/>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Anything with a formula or a code threshold: Contained metal is tonnage times grade. That is arithmetic; there is nothing to predict. If a validated equation exists, use the equation.</a:t>
            </a:r>
          </a:p>
        </p:txBody>
      </p:sp>
    </p:spTree>
  </p:cSld>
  <p:clrMapOvr>
    <a:masterClrMapping/>
  </p:clrMapOvr>
</p:sld>
</file>

<file path=ppt/slides/slide28.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Hands on: predict case 13</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Use the twelve rows of data to predict a value for the new case. Write your prediction and explain which rows helped you choose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TEAM TASK · 15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Your task</a:t>
            </a:r>
          </a:p>
        </p:txBody>
      </p:sp>
      <p:pic>
        <p:nvPicPr>
          <p:cNvPr id="4" name="Picture 3" descr="hand_pred_before_CML3113.png"/>
          <p:cNvPicPr>
            <a:picLocks noChangeAspect="1"/>
          </p:cNvPicPr>
          <p:nvPr/>
        </p:nvPicPr>
        <p:blipFill>
          <a:blip r:embed="rId2"/>
          <a:stretch>
            <a:fillRect/>
          </a:stretch>
        </p:blipFill>
        <p:spPr>
          <a:xfrm>
            <a:off x="2971575" y="1911095"/>
            <a:ext cx="624854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Twelve cases show their inputs and measured outcomes. Case 13 shows only its inputs. Predict its outcome and write one sentence explaining your choice.</a:t>
            </a:r>
          </a:p>
        </p:txBody>
      </p:sp>
    </p:spTree>
  </p:cSld>
  <p:clrMapOvr>
    <a:masterClrMapping/>
  </p:clrMapOvr>
</p:sld>
</file>

<file path=ppt/slides/slide30.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Reading the pattern from twelve cases</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One approach is to compare cases with similar inputs. Follow the steps below.</a:t>
            </a:r>
          </a:p>
        </p:txBody>
      </p:sp>
      <p:sp>
        <p:nvSpPr>
          <p:cNvPr id="5" name="Rounded Rectangle 4"/>
          <p:cNvSpPr/>
          <p:nvPr/>
        </p:nvSpPr>
        <p:spPr>
          <a:xfrm>
            <a:off x="685800" y="2732347"/>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down the columns and ask which one seems to move with the outcome. Ignore the others for now.</a:t>
            </a:r>
          </a:p>
        </p:txBody>
      </p:sp>
      <p:sp>
        <p:nvSpPr>
          <p:cNvPr id="8" name="Rounded Rectangle 7"/>
          <p:cNvSpPr/>
          <p:nvPr/>
        </p:nvSpPr>
        <p:spPr>
          <a:xfrm>
            <a:off x="685800" y="3258366"/>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31323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304086"/>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Find the two cases whose value of that column sits either side of case 13's value.</a:t>
            </a:r>
          </a:p>
        </p:txBody>
      </p:sp>
      <p:sp>
        <p:nvSpPr>
          <p:cNvPr id="11" name="Rounded Rectangle 10"/>
          <p:cNvSpPr/>
          <p:nvPr/>
        </p:nvSpPr>
        <p:spPr>
          <a:xfrm>
            <a:off x="685800" y="3784385"/>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8392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830105"/>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at their outcomes. Case 13's answer is probably between them.</a:t>
            </a:r>
          </a:p>
        </p:txBody>
      </p:sp>
      <p:sp>
        <p:nvSpPr>
          <p:cNvPr id="14" name="Rounded Rectangle 13"/>
          <p:cNvSpPr/>
          <p:nvPr/>
        </p:nvSpPr>
        <p:spPr>
          <a:xfrm>
            <a:off x="685800" y="4310404"/>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36526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356124"/>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Adjust for anything else you noticed — a second column that also seems to matter.</a:t>
            </a:r>
          </a:p>
        </p:txBody>
      </p:sp>
      <p:sp>
        <p:nvSpPr>
          <p:cNvPr id="17" name="Rounded Rectangle 16"/>
          <p:cNvSpPr/>
          <p:nvPr/>
        </p:nvSpPr>
        <p:spPr>
          <a:xfrm>
            <a:off x="685800" y="4836423"/>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891287"/>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882143"/>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Write the number down, and write why. Then ask: how confident am I, and what would change my mind?</a:t>
            </a:r>
          </a:p>
        </p:txBody>
      </p:sp>
      <p:sp>
        <p:nvSpPr>
          <p:cNvPr id="20" name="Rounded Rectangle 19"/>
          <p:cNvSpPr/>
          <p:nvPr/>
        </p:nvSpPr>
        <p:spPr>
          <a:xfrm>
            <a:off x="685800" y="5417306"/>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5554466"/>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You used a pattern in known examples to predict an unknown value. Comparing that prediction with the measured value tells you how large the error was.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REVEAL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answer, and your error</a:t>
            </a:r>
          </a:p>
        </p:txBody>
      </p:sp>
      <p:pic>
        <p:nvPicPr>
          <p:cNvPr id="4" name="Picture 3" descr="hand_pred_after_CML3113.png"/>
          <p:cNvPicPr>
            <a:picLocks noChangeAspect="1"/>
          </p:cNvPicPr>
          <p:nvPr/>
        </p:nvPicPr>
        <p:blipFill>
          <a:blip r:embed="rId2"/>
          <a:stretch>
            <a:fillRect/>
          </a:stretch>
        </p:blipFill>
        <p:spPr>
          <a:xfrm>
            <a:off x="3080201" y="1911095"/>
            <a:ext cx="603129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star marks the measured value. Its distance from your prediction is the prediction error. The dashed line shows a possible pattern in the data.</a:t>
            </a:r>
          </a:p>
        </p:txBody>
      </p:sp>
    </p:spTree>
  </p:cSld>
  <p:clrMapOvr>
    <a:masterClrMapping/>
  </p:clrMapOvr>
</p:sld>
</file>

<file path=ppt/slides/slide32.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NAMING IT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Steps in a prediction task</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What you called it</a:t>
            </a:r>
          </a:p>
        </p:txBody>
      </p:sp>
      <p:sp>
        <p:nvSpPr>
          <p:cNvPr id="5" name="TextBox 4"/>
          <p:cNvSpPr txBox="1"/>
          <p:nvPr/>
        </p:nvSpPr>
        <p:spPr>
          <a:xfrm>
            <a:off x="685800" y="235262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looked at the table.</a:t>
            </a:r>
          </a:p>
        </p:txBody>
      </p:sp>
      <p:sp>
        <p:nvSpPr>
          <p:cNvPr id="6" name="TextBox 5"/>
          <p:cNvSpPr txBox="1"/>
          <p:nvPr/>
        </p:nvSpPr>
        <p:spPr>
          <a:xfrm>
            <a:off x="685800" y="2826584"/>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noticed which columns seemed to matter.</a:t>
            </a:r>
          </a:p>
        </p:txBody>
      </p:sp>
      <p:sp>
        <p:nvSpPr>
          <p:cNvPr id="7" name="TextBox 6"/>
          <p:cNvSpPr txBox="1"/>
          <p:nvPr/>
        </p:nvSpPr>
        <p:spPr>
          <a:xfrm>
            <a:off x="685800" y="330053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worked out a rough rule in your head.</a:t>
            </a:r>
          </a:p>
        </p:txBody>
      </p:sp>
      <p:sp>
        <p:nvSpPr>
          <p:cNvPr id="8" name="TextBox 7"/>
          <p:cNvSpPr txBox="1"/>
          <p:nvPr/>
        </p:nvSpPr>
        <p:spPr>
          <a:xfrm>
            <a:off x="685800" y="3774494"/>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applied it to a case you had not seen.</a:t>
            </a:r>
          </a:p>
        </p:txBody>
      </p:sp>
      <p:sp>
        <p:nvSpPr>
          <p:cNvPr id="9" name="TextBox 8"/>
          <p:cNvSpPr txBox="1"/>
          <p:nvPr/>
        </p:nvSpPr>
        <p:spPr>
          <a:xfrm>
            <a:off x="685800" y="4248448"/>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compared your prediction with the measured value.</a:t>
            </a:r>
          </a:p>
        </p:txBody>
      </p:sp>
      <p:sp>
        <p:nvSpPr>
          <p:cNvPr id="10" name="TextBox 9"/>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What it is called</a:t>
            </a:r>
          </a:p>
        </p:txBody>
      </p:sp>
      <p:sp>
        <p:nvSpPr>
          <p:cNvPr id="11" name="TextBox 10"/>
          <p:cNvSpPr txBox="1"/>
          <p:nvPr/>
        </p:nvSpPr>
        <p:spPr>
          <a:xfrm>
            <a:off x="6347307" y="235262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explored the data. That is Weeks 5 and 6.</a:t>
            </a:r>
          </a:p>
        </p:txBody>
      </p:sp>
      <p:sp>
        <p:nvSpPr>
          <p:cNvPr id="12" name="TextBox 11"/>
          <p:cNvSpPr txBox="1"/>
          <p:nvPr/>
        </p:nvSpPr>
        <p:spPr>
          <a:xfrm>
            <a:off x="6347307" y="2826584"/>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selected features. That is Week 11.</a:t>
            </a:r>
          </a:p>
        </p:txBody>
      </p:sp>
      <p:sp>
        <p:nvSpPr>
          <p:cNvPr id="13" name="TextBox 12"/>
          <p:cNvSpPr txBox="1"/>
          <p:nvPr/>
        </p:nvSpPr>
        <p:spPr>
          <a:xfrm>
            <a:off x="6347307" y="330053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fitted a model. That is Week 8.</a:t>
            </a:r>
          </a:p>
        </p:txBody>
      </p:sp>
      <p:sp>
        <p:nvSpPr>
          <p:cNvPr id="14" name="TextBox 13"/>
          <p:cNvSpPr txBox="1"/>
          <p:nvPr/>
        </p:nvSpPr>
        <p:spPr>
          <a:xfrm>
            <a:off x="6347307" y="377449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predicted a value for a case that was not used to find the pattern.</a:t>
            </a:r>
          </a:p>
        </p:txBody>
      </p:sp>
      <p:sp>
        <p:nvSpPr>
          <p:cNvPr id="15" name="TextBox 14"/>
          <p:cNvSpPr txBox="1"/>
          <p:nvPr/>
        </p:nvSpPr>
        <p:spPr>
          <a:xfrm>
            <a:off x="6347307" y="4585243"/>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measured the prediction error. Week 10 covers model evaluation.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Nothing after the break needs a computer.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kinds of question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Predicting a number, and predicting a category. Almost everything in this course is one or the other.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TWO SHAPES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Regression and classification</a:t>
            </a:r>
          </a:p>
        </p:txBody>
      </p:sp>
      <p:pic>
        <p:nvPicPr>
          <p:cNvPr id="4" name="Picture 3" descr="reg_vs_class_CML3113.png"/>
          <p:cNvPicPr>
            <a:picLocks noChangeAspect="1"/>
          </p:cNvPicPr>
          <p:nvPr/>
        </p:nvPicPr>
        <p:blipFill>
          <a:blip r:embed="rId2"/>
          <a:stretch>
            <a:fillRect/>
          </a:stretch>
        </p:blipFill>
        <p:spPr>
          <a:xfrm>
            <a:off x="2405870" y="1911095"/>
            <a:ext cx="737995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Left: the answer is a number on a continuous scale, so we fit a line through the cases. Right: the answer is one of a small set of labels, so we look for a boundary that separates them. The data can be the same; the question is what changes.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Regression, and classification</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REGRESSION predicts a number on a continuous scale. CLASSIFICATION predicts which of a small number of categories a case belongs to.</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Regression: how many % silica? Classification: ore or waste; or lithology: sandstone, shale, limestone.</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Each other. Ask 'what would the answer look like written down?' A quantity with a unit means regression. A word or a label means classification.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many days until a component needs replacing. Regression or classification?</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whether a sample passes or fails specification. Which one?</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which of five fault types a machine has. Which one — and what makes it different from the previous question?</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Days until replacement?</a:t>
            </a:r>
          </a:p>
        </p:txBody>
      </p:sp>
      <p:sp>
        <p:nvSpPr>
          <p:cNvPr id="6" name="TextBox 5"/>
          <p:cNvSpPr txBox="1"/>
          <p:nvPr/>
        </p:nvSpPr>
        <p:spPr>
          <a:xfrm>
            <a:off x="1216152" y="2203703"/>
            <a:ext cx="10253167"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Regression. The answer is a number with a unit — days.</a:t>
            </a:r>
          </a:p>
        </p:txBody>
      </p:sp>
      <p:sp>
        <p:nvSpPr>
          <p:cNvPr id="7" name="Oval 6"/>
          <p:cNvSpPr/>
          <p:nvPr/>
        </p:nvSpPr>
        <p:spPr>
          <a:xfrm>
            <a:off x="685800" y="275086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271429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Pass or fail?</a:t>
            </a:r>
          </a:p>
        </p:txBody>
      </p:sp>
      <p:sp>
        <p:nvSpPr>
          <p:cNvPr id="9" name="TextBox 8"/>
          <p:cNvSpPr txBox="1"/>
          <p:nvPr/>
        </p:nvSpPr>
        <p:spPr>
          <a:xfrm>
            <a:off x="1216152" y="3006900"/>
            <a:ext cx="10253167"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Classification. Two categories, so it is called binary classification.</a:t>
            </a:r>
          </a:p>
        </p:txBody>
      </p:sp>
      <p:sp>
        <p:nvSpPr>
          <p:cNvPr id="10" name="Oval 9"/>
          <p:cNvSpPr/>
          <p:nvPr/>
        </p:nvSpPr>
        <p:spPr>
          <a:xfrm>
            <a:off x="685800" y="35540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35174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Which of five fault types?</a:t>
            </a:r>
          </a:p>
        </p:txBody>
      </p:sp>
      <p:sp>
        <p:nvSpPr>
          <p:cNvPr id="12" name="TextBox 11"/>
          <p:cNvSpPr txBox="1"/>
          <p:nvPr/>
        </p:nvSpPr>
        <p:spPr>
          <a:xfrm>
            <a:off x="1216152" y="3810097"/>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Still classification, but multi-class rather than binary. It is harder: with five classes there are far more ways to be wrong, and a single accuracy figure hides which ones you get wrong. Week 9.</a:t>
            </a:r>
          </a:p>
        </p:txBody>
      </p:sp>
    </p:spTree>
  </p:cSld>
  <p:clrMapOvr>
    <a:masterClrMapping/>
  </p:clrMapOvr>
</p:sld>
</file>

<file path=ppt/slides/slide39.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What machine learning cannot do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Four limitations to consider when using machine learning.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LIMITS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limits, and none of them go away</a:t>
            </a:r>
          </a:p>
        </p:txBody>
      </p:sp>
      <p:pic>
        <p:nvPicPr>
          <p:cNvPr id="4" name="Picture 3" descr="four_limits.png"/>
          <p:cNvPicPr>
            <a:picLocks noChangeAspect="1"/>
          </p:cNvPicPr>
          <p:nvPr/>
        </p:nvPicPr>
        <p:blipFill>
          <a:blip r:embed="rId2"/>
          <a:stretch>
            <a:fillRect/>
          </a:stretch>
        </p:blipFill>
        <p:spPr>
          <a:xfrm>
            <a:off x="1908452" y="1911095"/>
            <a:ext cx="837479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model can produce a prediction even when the data are unsuitable. Check whether the inputs and evaluation support its intended use.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MADE CONCRETE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same four limits, in your own discipline</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1 · No data</a:t>
            </a:r>
          </a:p>
        </p:txBody>
      </p:sp>
      <p:sp>
        <p:nvSpPr>
          <p:cNvPr id="5" name="TextBox 4"/>
          <p:cNvSpPr txBox="1"/>
          <p:nvPr/>
        </p:nvSpPr>
        <p:spPr>
          <a:xfrm>
            <a:off x="685800"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Blast fragmentation was judged by eye for decades. There is no dataset of it.</a:t>
            </a:r>
          </a:p>
        </p:txBody>
      </p:sp>
      <p:sp>
        <p:nvSpPr>
          <p:cNvPr id="6" name="TextBox 5"/>
          <p:cNvSpPr txBox="1"/>
          <p:nvPr/>
        </p:nvSpPr>
        <p:spPr>
          <a:xfrm>
            <a:off x="685800"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2 · No signal</a:t>
            </a:r>
          </a:p>
        </p:txBody>
      </p:sp>
      <p:sp>
        <p:nvSpPr>
          <p:cNvPr id="7" name="TextBox 6"/>
          <p:cNvSpPr txBox="1"/>
          <p:nvPr/>
        </p:nvSpPr>
        <p:spPr>
          <a:xfrm>
            <a:off x="685800" y="3612952"/>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The shift supervisor's name does not cause recovery to change. A model given that column will still find a pattern in it.</a:t>
            </a:r>
          </a:p>
        </p:txBody>
      </p:sp>
      <p:sp>
        <p:nvSpPr>
          <p:cNvPr id="8" name="TextBox 7"/>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3 · Physics is better</a:t>
            </a:r>
          </a:p>
        </p:txBody>
      </p:sp>
      <p:sp>
        <p:nvSpPr>
          <p:cNvPr id="9" name="TextBox 8"/>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Contained metal is tonnage times grade. That is arithmetic; there is nothing to predict. Do not use a model where an equation will do.</a:t>
            </a:r>
          </a:p>
        </p:txBody>
      </p:sp>
      <p:sp>
        <p:nvSpPr>
          <p:cNvPr id="10" name="TextBox 9"/>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4 · The future changed</a:t>
            </a:r>
          </a:p>
        </p:txBody>
      </p:sp>
      <p:sp>
        <p:nvSpPr>
          <p:cNvPr id="11" name="TextBox 10"/>
          <p:cNvSpPr txBox="1"/>
          <p:nvPr/>
        </p:nvSpPr>
        <p:spPr>
          <a:xfrm>
            <a:off x="6347307" y="3910886"/>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model trained on one ore body will not transfer to the next bench when the mineralogy changes.</a:t>
            </a:r>
          </a:p>
        </p:txBody>
      </p:sp>
      <p:sp>
        <p:nvSpPr>
          <p:cNvPr id="12" name="TextBox 11"/>
          <p:cNvSpPr txBox="1"/>
          <p:nvPr/>
        </p:nvSpPr>
        <p:spPr>
          <a:xfrm>
            <a:off x="6347307" y="4790218"/>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Why this matters for the rest of the course</a:t>
            </a:r>
          </a:p>
        </p:txBody>
      </p:sp>
      <p:sp>
        <p:nvSpPr>
          <p:cNvPr id="13" name="TextBox 12"/>
          <p:cNvSpPr txBox="1"/>
          <p:nvPr/>
        </p:nvSpPr>
        <p:spPr>
          <a:xfrm>
            <a:off x="6347307" y="5201480"/>
            <a:ext cx="5158587" cy="1246599"/>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Every project in Week 9 has to survive these four questions before it is approved. A team that cannot answer them has not defined an engineering problem yet — it has picked a technique and gone looking for somewhere to use it.</a:t>
            </a:r>
          </a:p>
        </p:txBody>
      </p:sp>
    </p:spTree>
  </p:cSld>
  <p:clrMapOvr>
    <a:masterClrMapping/>
  </p:clrMapOvr>
</p:sld>
</file>

<file path=ppt/slides/slide42.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8</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Challenge: the Problem Hunt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Read the problem and identify the information available. Use the worked example to plan your first step.</a:t>
            </a:r>
          </a:p>
        </p:txBody>
      </p:sp>
    </p:spTree>
  </p:cSld>
  <p:clrMapOvr>
    <a:masterClrMapping/>
  </p:clrMapOvr>
</p:sld>
</file>

<file path=ppt/slides/slide43.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Problem Hunt</a:t>
            </a:r>
          </a:p>
        </p:txBody>
      </p:sp>
      <p:sp>
        <p:nvSpPr>
          <p:cNvPr id="4" name="Rounded Rectangle 3"/>
          <p:cNvSpPr/>
          <p:nvPr/>
        </p:nvSpPr>
        <p:spPr>
          <a:xfrm>
            <a:off x="685800" y="1911095"/>
            <a:ext cx="10820095" cy="2378340"/>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2012580"/>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List three problems from exploration, ore and reservoir characterisation, production and equipment health where data might help.</a:t>
            </a:r>
          </a:p>
          <a:p>
            <a:pPr algn="l">
              <a:lnSpc>
                <a:spcPct val="125000"/>
              </a:lnSpc>
              <a:spcAft>
                <a:spcPts val="600"/>
              </a:spcAft>
            </a:pPr>
            <a:r>
              <a:rPr sz="1923" b="0" i="0">
                <a:solidFill>
                  <a:srgbClr val="1C3144"/>
                </a:solidFill>
                <a:latin typeface="Calibri"/>
              </a:rPr>
              <a:t>Classify each problem: predict a number, predict a category or use another method. Explain your choice.</a:t>
            </a:r>
          </a:p>
          <a:p>
            <a:pPr algn="l">
              <a:lnSpc>
                <a:spcPct val="125000"/>
              </a:lnSpc>
              <a:spcAft>
                <a:spcPts val="600"/>
              </a:spcAft>
            </a:pPr>
            <a:r>
              <a:rPr sz="1923" b="0" i="0">
                <a:solidFill>
                  <a:srgbClr val="1C3144"/>
                </a:solidFill>
                <a:latin typeface="Calibri"/>
              </a:rPr>
              <a:t>Use the worked example as a guide. Write down your assumptions and explain your answer.</a:t>
            </a:r>
          </a:p>
        </p:txBody>
      </p:sp>
      <p:sp>
        <p:nvSpPr>
          <p:cNvPr id="6" name="TextBox 5"/>
          <p:cNvSpPr txBox="1"/>
          <p:nvPr/>
        </p:nvSpPr>
        <p:spPr>
          <a:xfrm>
            <a:off x="685800" y="4563756"/>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503924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do you want to predict?</a:t>
            </a:r>
          </a:p>
        </p:txBody>
      </p:sp>
      <p:sp>
        <p:nvSpPr>
          <p:cNvPr id="8" name="TextBox 7"/>
          <p:cNvSpPr txBox="1"/>
          <p:nvPr/>
        </p:nvSpPr>
        <p:spPr>
          <a:xfrm>
            <a:off x="685800" y="551618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Who measures that, and how often?</a:t>
            </a:r>
          </a:p>
        </p:txBody>
      </p:sp>
      <p:sp>
        <p:nvSpPr>
          <p:cNvPr id="9" name="TextBox 8"/>
          <p:cNvSpPr txBox="1"/>
          <p:nvPr/>
        </p:nvSpPr>
        <p:spPr>
          <a:xfrm>
            <a:off x="685800" y="599312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Would a rule you already know do this better?</a:t>
            </a:r>
          </a:p>
        </p:txBody>
      </p:sp>
      <p:sp>
        <p:nvSpPr>
          <p:cNvPr id="10" name="TextBox 9"/>
          <p:cNvSpPr txBox="1"/>
          <p:nvPr/>
        </p:nvSpPr>
        <p:spPr>
          <a:xfrm>
            <a:off x="6278727" y="503924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would the answer let somebody DO?</a:t>
            </a:r>
          </a:p>
        </p:txBody>
      </p:sp>
      <p:sp>
        <p:nvSpPr>
          <p:cNvPr id="11" name="TextBox 10"/>
          <p:cNvSpPr txBox="1"/>
          <p:nvPr/>
        </p:nvSpPr>
        <p:spPr>
          <a:xfrm>
            <a:off x="6278727" y="551618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How would you know if you were wrong?</a:t>
            </a:r>
          </a:p>
        </p:txBody>
      </p:sp>
      <p:sp>
        <p:nvSpPr>
          <p:cNvPr id="12" name="TextBox 11"/>
          <p:cNvSpPr txBox="1"/>
          <p:nvPr/>
        </p:nvSpPr>
        <p:spPr>
          <a:xfrm>
            <a:off x="6278727" y="599312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does a mistake cost here?</a:t>
            </a:r>
          </a:p>
        </p:txBody>
      </p:sp>
    </p:spTree>
  </p:cSld>
  <p:clrMapOvr>
    <a:masterClrMapping/>
  </p:clrMapOvr>
</p:sld>
</file>

<file path=ppt/slides/slide44.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TEAMS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your team works, all semester</a:t>
            </a:r>
          </a:p>
        </p:txBody>
      </p:sp>
      <p:sp>
        <p:nvSpPr>
          <p:cNvPr id="4" name="TextBox 3"/>
          <p:cNvSpPr txBox="1"/>
          <p:nvPr/>
        </p:nvSpPr>
        <p:spPr>
          <a:xfrm>
            <a:off x="685800" y="1911095"/>
            <a:ext cx="5158587" cy="79010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Project teams of four or five</a:t>
            </a:r>
          </a:p>
        </p:txBody>
      </p:sp>
      <p:sp>
        <p:nvSpPr>
          <p:cNvPr id="5" name="TextBox 4"/>
          <p:cNvSpPr txBox="1"/>
          <p:nvPr/>
        </p:nvSpPr>
        <p:spPr>
          <a:xfrm>
            <a:off x="685800" y="271034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You will do two projects together: a data analysis project due Week 8, and the Engineering ML Project from Week 9 to Week 15.</a:t>
            </a:r>
          </a:p>
        </p:txBody>
      </p:sp>
      <p:sp>
        <p:nvSpPr>
          <p:cNvPr id="6" name="TextBox 5"/>
          <p:cNvSpPr txBox="1"/>
          <p:nvPr/>
        </p:nvSpPr>
        <p:spPr>
          <a:xfrm>
            <a:off x="685800" y="3965331"/>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Roles rotate at every milestone</a:t>
            </a:r>
          </a:p>
        </p:txBody>
      </p:sp>
      <p:sp>
        <p:nvSpPr>
          <p:cNvPr id="7" name="TextBox 6"/>
          <p:cNvSpPr txBox="1"/>
          <p:nvPr/>
        </p:nvSpPr>
        <p:spPr>
          <a:xfrm>
            <a:off x="685800" y="4396959"/>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Project roles: data analysis, modelling, engineering review, documentation and presentation. Rotate roles so each member practises different skills.</a:t>
            </a:r>
          </a:p>
        </p:txBody>
      </p:sp>
      <p:sp>
        <p:nvSpPr>
          <p:cNvPr id="8" name="TextBox 7"/>
          <p:cNvSpPr txBox="1"/>
          <p:nvPr/>
        </p:nvSpPr>
        <p:spPr>
          <a:xfrm>
            <a:off x="6347307"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Individual accountability is built in</a:t>
            </a:r>
          </a:p>
        </p:txBody>
      </p:sp>
      <p:sp>
        <p:nvSpPr>
          <p:cNvPr id="9" name="TextBox 8"/>
          <p:cNvSpPr txBox="1"/>
          <p:nvPr/>
        </p:nvSpPr>
        <p:spPr>
          <a:xfrm>
            <a:off x="6347307" y="234272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Sixty-five per cent of the mark is individual. Your team keeps a contribution log, and it is checked against the repository history.</a:t>
            </a:r>
          </a:p>
        </p:txBody>
      </p:sp>
      <p:sp>
        <p:nvSpPr>
          <p:cNvPr id="10" name="TextBox 9"/>
          <p:cNvSpPr txBox="1"/>
          <p:nvPr/>
        </p:nvSpPr>
        <p:spPr>
          <a:xfrm>
            <a:off x="6347307" y="3451407"/>
            <a:ext cx="5158587" cy="1350228"/>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In Week 15, each student answers two unseen questions about the team’s work. The answers contribute to individual assessment.</a:t>
            </a:r>
          </a:p>
        </p:txBody>
      </p:sp>
      <p:sp>
        <p:nvSpPr>
          <p:cNvPr id="11" name="TextBox 10"/>
          <p:cNvSpPr txBox="1"/>
          <p:nvPr/>
        </p:nvSpPr>
        <p:spPr>
          <a:xfrm>
            <a:off x="6347307" y="503023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Sign the team charter before you leave</a:t>
            </a:r>
          </a:p>
        </p:txBody>
      </p:sp>
      <p:sp>
        <p:nvSpPr>
          <p:cNvPr id="12" name="TextBox 11"/>
          <p:cNvSpPr txBox="1"/>
          <p:nvPr/>
        </p:nvSpPr>
        <p:spPr>
          <a:xfrm>
            <a:off x="6347307" y="546186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Names, contact details, a weekly meeting slot, and what you will do if somebody stops contributing. Agreeing that now is much easier than agreeing it in November.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9</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Gallery walk, and what you owe me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Critique two other teams' boards, then the assignment and the pre-work for next week.</a:t>
            </a:r>
          </a:p>
        </p:txBody>
      </p:sp>
    </p:spTree>
  </p:cSld>
  <p:clrMapOvr>
    <a:masterClrMapping/>
  </p:clrMapOvr>
</p:sld>
</file>

<file path=ppt/slides/slide46.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ASSIGNMENT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Week 2</a:t>
            </a:r>
          </a:p>
        </p:txBody>
      </p:sp>
      <p:sp>
        <p:nvSpPr>
          <p:cNvPr id="4" name="TextBox 3"/>
          <p:cNvSpPr txBox="1"/>
          <p:nvPr/>
        </p:nvSpPr>
        <p:spPr>
          <a:xfrm>
            <a:off x="685800" y="1911095"/>
            <a:ext cx="5204307" cy="813592"/>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Assignment A1 — use the current form deadline</a:t>
            </a:r>
          </a:p>
        </p:txBody>
      </p:sp>
      <p:sp>
        <p:nvSpPr>
          <p:cNvPr id="5" name="TextBox 4"/>
          <p:cNvSpPr txBox="1"/>
          <p:nvPr/>
        </p:nvSpPr>
        <p:spPr>
          <a:xfrm>
            <a:off x="685800" y="2797840"/>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Three candidate machine learning problems from your own discipline.</a:t>
            </a:r>
          </a:p>
        </p:txBody>
      </p:sp>
      <p:sp>
        <p:nvSpPr>
          <p:cNvPr id="6" name="TextBox 5"/>
          <p:cNvSpPr txBox="1"/>
          <p:nvPr/>
        </p:nvSpPr>
        <p:spPr>
          <a:xfrm>
            <a:off x="685800" y="3598534"/>
            <a:ext cx="5204307" cy="109588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For each: state inputs, target, data source and one limitation.</a:t>
            </a:r>
          </a:p>
        </p:txBody>
      </p:sp>
      <p:sp>
        <p:nvSpPr>
          <p:cNvPr id="7" name="TextBox 6"/>
          <p:cNvSpPr txBox="1"/>
          <p:nvPr/>
        </p:nvSpPr>
        <p:spPr>
          <a:xfrm>
            <a:off x="685800" y="4749283"/>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Choose one problem and dataset. Explain why it is feasible.</a:t>
            </a:r>
          </a:p>
        </p:txBody>
      </p:sp>
      <p:sp>
        <p:nvSpPr>
          <p:cNvPr id="8" name="TextBox 7"/>
          <p:cNvSpPr txBox="1"/>
          <p:nvPr/>
        </p:nvSpPr>
        <p:spPr>
          <a:xfrm>
            <a:off x="685800" y="5549977"/>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Marks: framing 6, data 8, judgement 6. Submit one DOCX or text PDF.</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Also before next week</a:t>
            </a:r>
          </a:p>
        </p:txBody>
      </p:sp>
      <p:sp>
        <p:nvSpPr>
          <p:cNvPr id="11" name="TextBox 10"/>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GitHub account.</a:t>
            </a:r>
          </a:p>
        </p:txBody>
      </p:sp>
      <p:sp>
        <p:nvSpPr>
          <p:cNvPr id="12" name="TextBox 11"/>
          <p:cNvSpPr txBox="1"/>
          <p:nvPr/>
        </p:nvSpPr>
        <p:spPr>
          <a:xfrm>
            <a:off x="6575907" y="2897385"/>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Google account if you do not have one — we work in Google Colab from Week 2.</a:t>
            </a:r>
          </a:p>
        </p:txBody>
      </p:sp>
      <p:sp>
        <p:nvSpPr>
          <p:cNvPr id="13" name="TextBox 12"/>
          <p:cNvSpPr txBox="1"/>
          <p:nvPr/>
        </p:nvSpPr>
        <p:spPr>
          <a:xfrm>
            <a:off x="6575907" y="373610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Watch the video on the next slide.</a:t>
            </a:r>
          </a:p>
        </p:txBody>
      </p:sp>
      <p:sp>
        <p:nvSpPr>
          <p:cNvPr id="14" name="TextBox 13"/>
          <p:cNvSpPr txBox="1"/>
          <p:nvPr/>
        </p:nvSpPr>
        <p:spPr>
          <a:xfrm>
            <a:off x="6575907" y="426519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Do NOT install anything.</a:t>
            </a:r>
          </a:p>
        </p:txBody>
      </p:sp>
      <p:sp>
        <p:nvSpPr>
          <p:cNvPr id="15" name="TextBox 14"/>
          <p:cNvSpPr txBox="1"/>
          <p:nvPr/>
        </p:nvSpPr>
        <p:spPr>
          <a:xfrm>
            <a:off x="6575907" y="466627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Week 2 needs a browser only.</a:t>
            </a:r>
          </a:p>
        </p:txBody>
      </p:sp>
      <p:sp>
        <p:nvSpPr>
          <p:cNvPr id="16" name="TextBox 15"/>
          <p:cNvSpPr txBox="1"/>
          <p:nvPr/>
        </p:nvSpPr>
        <p:spPr>
          <a:xfrm>
            <a:off x="6575907" y="519536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Sign and hand in your team charter.</a:t>
            </a:r>
          </a:p>
        </p:txBody>
      </p:sp>
    </p:spTree>
  </p:cSld>
  <p:clrMapOvr>
    <a:masterClrMapping/>
  </p:clrMapOvr>
</p:sld>
</file>

<file path=ppt/slides/slide47.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VIDEO</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Watch this before Week 2</a:t>
            </a:r>
          </a:p>
        </p:txBody>
      </p:sp>
      <p:sp>
        <p:nvSpPr>
          <p:cNvPr id="4" name="Rounded Rectangle 3"/>
          <p:cNvSpPr/>
          <p:nvPr/>
        </p:nvSpPr>
        <p:spPr>
          <a:xfrm>
            <a:off x="685800" y="1911095"/>
            <a:ext cx="10820095" cy="2331720"/>
          </a:xfrm>
          <a:prstGeom prst="roundRect">
            <a:avLst>
              <a:gd name="adj" fmla="val 6000"/>
            </a:avLst>
          </a:prstGeom>
          <a:solidFill>
            <a:srgbClr val="1C31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185415"/>
            <a:ext cx="173736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PRE-WORK</a:t>
            </a:r>
          </a:p>
        </p:txBody>
      </p:sp>
      <p:sp>
        <p:nvSpPr>
          <p:cNvPr id="6" name="TextBox 5"/>
          <p:cNvSpPr txBox="1"/>
          <p:nvPr/>
        </p:nvSpPr>
        <p:spPr>
          <a:xfrm>
            <a:off x="2926080" y="2221991"/>
            <a:ext cx="4572000" cy="310896"/>
          </a:xfrm>
          <a:prstGeom prst="rect">
            <a:avLst/>
          </a:prstGeom>
          <a:noFill/>
        </p:spPr>
        <p:txBody>
          <a:bodyPr wrap="square" lIns="0" rIns="0" tIns="0" bIns="0" anchor="t">
            <a:spAutoFit/>
          </a:bodyPr>
          <a:lstStyle/>
          <a:p>
            <a:pPr algn="l">
              <a:spcAft>
                <a:spcPts val="600"/>
              </a:spcAft>
            </a:pPr>
            <a:r>
              <a:rPr sz="1716" b="1" i="0">
                <a:solidFill>
                  <a:srgbClr val="A8BCCE"/>
                </a:solidFill>
                <a:latin typeface="Calibri"/>
              </a:rPr>
              <a:t>IBM Technology</a:t>
            </a:r>
          </a:p>
        </p:txBody>
      </p:sp>
      <p:sp>
        <p:nvSpPr>
          <p:cNvPr id="7" name="TextBox 6"/>
          <p:cNvSpPr txBox="1"/>
          <p:nvPr/>
        </p:nvSpPr>
        <p:spPr>
          <a:xfrm>
            <a:off x="1005840" y="2779776"/>
            <a:ext cx="10180015" cy="731520"/>
          </a:xfrm>
          <a:prstGeom prst="rect">
            <a:avLst/>
          </a:prstGeom>
          <a:noFill/>
        </p:spPr>
        <p:txBody>
          <a:bodyPr wrap="square" lIns="0" rIns="0" tIns="0" bIns="0" anchor="t">
            <a:spAutoFit/>
          </a:bodyPr>
          <a:lstStyle/>
          <a:p>
            <a:pPr algn="l">
              <a:lnSpc>
                <a:spcPct val="105000"/>
              </a:lnSpc>
              <a:spcAft>
                <a:spcPts val="600"/>
              </a:spcAft>
            </a:pPr>
            <a:r>
              <a:rPr sz="2455" b="1" i="0">
                <a:solidFill>
                  <a:srgbClr val="FFFFFF"/>
                </a:solidFill>
                <a:latin typeface="Cambria"/>
              </a:rPr>
              <a:t>AI, Machine Learning, Deep Learning and Generative AI Explained</a:t>
            </a:r>
          </a:p>
        </p:txBody>
      </p:sp>
      <p:sp>
        <p:nvSpPr>
          <p:cNvPr id="8" name="TextBox 7"/>
          <p:cNvSpPr txBox="1"/>
          <p:nvPr/>
        </p:nvSpPr>
        <p:spPr>
          <a:xfrm>
            <a:off x="1005840" y="3602736"/>
            <a:ext cx="10180015" cy="292608"/>
          </a:xfrm>
          <a:prstGeom prst="rect">
            <a:avLst/>
          </a:prstGeom>
          <a:noFill/>
        </p:spPr>
        <p:txBody>
          <a:bodyPr wrap="square" lIns="0" rIns="0" tIns="0" bIns="0" anchor="t">
            <a:spAutoFit/>
          </a:bodyPr>
          <a:lstStyle/>
          <a:p>
            <a:pPr algn="l">
              <a:spcAft>
                <a:spcPts val="600"/>
              </a:spcAft>
            </a:pPr>
            <a:r>
              <a:rPr sz="1584" b="0" i="0">
                <a:solidFill>
                  <a:srgbClr val="8EB4CB"/>
                </a:solidFill>
                <a:latin typeface="Courier New"/>
              </a:rPr>
              <a:t>https://www.youtube.com/watch?v=qYNweeDHiyU</a:t>
            </a:r>
          </a:p>
        </p:txBody>
      </p:sp>
      <p:sp>
        <p:nvSpPr>
          <p:cNvPr id="9" name="TextBox 8"/>
          <p:cNvSpPr txBox="1"/>
          <p:nvPr/>
        </p:nvSpPr>
        <p:spPr>
          <a:xfrm>
            <a:off x="1005840" y="3904487"/>
            <a:ext cx="10180015" cy="27432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Runtime: under 10 minutes</a:t>
            </a:r>
          </a:p>
        </p:txBody>
      </p:sp>
      <p:sp>
        <p:nvSpPr>
          <p:cNvPr id="10" name="Rounded Rectangle 9"/>
          <p:cNvSpPr/>
          <p:nvPr/>
        </p:nvSpPr>
        <p:spPr>
          <a:xfrm>
            <a:off x="685800" y="4517136"/>
            <a:ext cx="14173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WATCH FOR</a:t>
            </a:r>
          </a:p>
        </p:txBody>
      </p:sp>
      <p:sp>
        <p:nvSpPr>
          <p:cNvPr id="11" name="TextBox 10"/>
          <p:cNvSpPr txBox="1"/>
          <p:nvPr/>
        </p:nvSpPr>
        <p:spPr>
          <a:xfrm>
            <a:off x="2286000" y="4544568"/>
            <a:ext cx="9082735" cy="1188720"/>
          </a:xfrm>
          <a:prstGeom prst="rect">
            <a:avLst/>
          </a:prstGeom>
          <a:noFill/>
        </p:spPr>
        <p:txBody>
          <a:bodyPr wrap="square" lIns="0" rIns="0" tIns="0" bIns="0" anchor="t">
            <a:spAutoFit/>
          </a:bodyPr>
          <a:lstStyle/>
          <a:p>
            <a:pPr algn="l">
              <a:lnSpc>
                <a:spcPct val="122000"/>
              </a:lnSpc>
              <a:spcAft>
                <a:spcPts val="600"/>
              </a:spcAft>
            </a:pPr>
            <a:r>
              <a:rPr sz="1923" b="0" i="0">
                <a:solidFill>
                  <a:srgbClr val="1C3144"/>
                </a:solidFill>
                <a:latin typeface="Calibri"/>
              </a:rPr>
              <a:t>Compare the video’s definitions with the diagram in this lesson. Note any terms that the speaker uses differently.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10</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Revision material</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Everything from here on is for you to study from. Summary, self-test with answers, glossary and a one-page reference.</a:t>
            </a:r>
          </a:p>
        </p:txBody>
      </p:sp>
    </p:spTree>
  </p:cSld>
  <p:clrMapOvr>
    <a:masterClrMapping/>
  </p:clrMapOvr>
</p:sld>
</file>

<file path=ppt/slides/slide49.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Artificial intelligence is a goal; machine learning is one way of reaching it; data science is the craft of getting a trustworthy answer out of data at all.</a:t>
            </a:r>
          </a:p>
        </p:txBody>
      </p:sp>
      <p:sp>
        <p:nvSpPr>
          <p:cNvPr id="6" name="Oval 5"/>
          <p:cNvSpPr/>
          <p:nvPr/>
        </p:nvSpPr>
        <p:spPr>
          <a:xfrm>
            <a:off x="685800" y="268891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63404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In traditional programming you write the rule. In machine learning you supply examples and the computer infers the rule — and you then have to decide whether to trust it.</a:t>
            </a:r>
          </a:p>
        </p:txBody>
      </p:sp>
      <p:sp>
        <p:nvSpPr>
          <p:cNvPr id="8" name="Oval 7"/>
          <p:cNvSpPr/>
          <p:nvPr/>
        </p:nvSpPr>
        <p:spPr>
          <a:xfrm>
            <a:off x="685800" y="34118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35699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Every dataset has the same shape: one row per example, feature columns known beforehand, one target column you want to predict.</a:t>
            </a:r>
          </a:p>
        </p:txBody>
      </p:sp>
      <p:sp>
        <p:nvSpPr>
          <p:cNvPr id="10" name="Oval 9"/>
          <p:cNvSpPr/>
          <p:nvPr/>
        </p:nvSpPr>
        <p:spPr>
          <a:xfrm>
            <a:off x="685800" y="413481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7994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Regression predicts a number with a unit. Classification predicts which of a small set of categories a case belongs to. The same data can pose either question.</a:t>
            </a:r>
          </a:p>
        </p:txBody>
      </p:sp>
      <p:sp>
        <p:nvSpPr>
          <p:cNvPr id="12" name="Oval 11"/>
          <p:cNvSpPr/>
          <p:nvPr/>
        </p:nvSpPr>
        <p:spPr>
          <a:xfrm>
            <a:off x="685800" y="48577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802896"/>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model learns association. It does not learn cause, and a good fit is no evidence of a mechanism.</a:t>
            </a:r>
          </a:p>
        </p:txBody>
      </p:sp>
      <p:sp>
        <p:nvSpPr>
          <p:cNvPr id="14" name="Oval 13"/>
          <p:cNvSpPr/>
          <p:nvPr/>
        </p:nvSpPr>
        <p:spPr>
          <a:xfrm>
            <a:off x="685800" y="529238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37523"/>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Check for missing data, weak predictive patterns, better physical models and changes in operating conditions.</a:t>
            </a:r>
          </a:p>
        </p:txBody>
      </p:sp>
      <p:sp>
        <p:nvSpPr>
          <p:cNvPr id="16" name="Oval 15"/>
          <p:cNvSpPr/>
          <p:nvPr/>
        </p:nvSpPr>
        <p:spPr>
          <a:xfrm>
            <a:off x="685800" y="572701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672150"/>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prediction alone does not show that a model is useful. Check the data, errors and limits of the intended use.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try these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colleague says 'we should use AI for this'. What three questions would you ask before agreeing?</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have a table of 500 past pump repairs. Which columns are features and which is the target — and what tells you?</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problem from your discipline that is regression, and one that is classification.</a:t>
            </a:r>
          </a:p>
        </p:txBody>
      </p:sp>
      <p:sp>
        <p:nvSpPr>
          <p:cNvPr id="10" name="Oval 9"/>
          <p:cNvSpPr/>
          <p:nvPr/>
        </p:nvSpPr>
        <p:spPr>
          <a:xfrm>
            <a:off x="685800" y="391935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88278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is a very good fit on data the model has already seen NOT evidence that the model is any good?</a:t>
            </a:r>
          </a:p>
        </p:txBody>
      </p:sp>
      <p:sp>
        <p:nvSpPr>
          <p:cNvPr id="12" name="Oval 11"/>
          <p:cNvSpPr/>
          <p:nvPr/>
        </p:nvSpPr>
        <p:spPr>
          <a:xfrm>
            <a:off x="685800" y="4457999"/>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421423"/>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model predicts silica in the concentrate to within a few percentage points. Name one thing you would still need to know before acting on it.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 Do not look until you have written something for each.</a:t>
            </a:r>
          </a:p>
        </p:txBody>
      </p:sp>
    </p:spTree>
  </p:cSld>
  <p:clrMapOvr>
    <a:masterClrMapping/>
  </p:clrMapOvr>
</p:sld>
</file>

<file path=ppt/slides/slide51.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Three questions before agreeing to 'use AI'?</a:t>
            </a:r>
          </a:p>
        </p:txBody>
      </p:sp>
      <p:sp>
        <p:nvSpPr>
          <p:cNvPr id="6" name="TextBox 5"/>
          <p:cNvSpPr txBox="1"/>
          <p:nvPr/>
        </p:nvSpPr>
        <p:spPr>
          <a:xfrm>
            <a:off x="1216152"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What value do you want to predict? Which recorded data can help? Is an established equation suitable? Resolve these questions before choosing a model.</a:t>
            </a:r>
          </a:p>
        </p:txBody>
      </p:sp>
      <p:sp>
        <p:nvSpPr>
          <p:cNvPr id="7" name="Oval 6"/>
          <p:cNvSpPr/>
          <p:nvPr/>
        </p:nvSpPr>
        <p:spPr>
          <a:xfrm>
            <a:off x="685800"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Features and target in a repair table?</a:t>
            </a:r>
          </a:p>
        </p:txBody>
      </p:sp>
      <p:sp>
        <p:nvSpPr>
          <p:cNvPr id="9" name="TextBox 8"/>
          <p:cNvSpPr txBox="1"/>
          <p:nvPr/>
        </p:nvSpPr>
        <p:spPr>
          <a:xfrm>
            <a:off x="1216152"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The target is whatever you want to predict — say time to next failure. Features are everything known BEFORE that: operating hours, load, temperature. The test is timing: anything only known afterwards cannot be a feature.</a:t>
            </a:r>
          </a:p>
        </p:txBody>
      </p:sp>
      <p:sp>
        <p:nvSpPr>
          <p:cNvPr id="10" name="Oval 9"/>
          <p:cNvSpPr/>
          <p:nvPr/>
        </p:nvSpPr>
        <p:spPr>
          <a:xfrm>
            <a:off x="685800" y="5068369"/>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5031793"/>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One of each from your discipline?</a:t>
            </a:r>
          </a:p>
        </p:txBody>
      </p:sp>
      <p:sp>
        <p:nvSpPr>
          <p:cNvPr id="12" name="TextBox 11"/>
          <p:cNvSpPr txBox="1"/>
          <p:nvPr/>
        </p:nvSpPr>
        <p:spPr>
          <a:xfrm>
            <a:off x="1216152" y="5324401"/>
            <a:ext cx="4614519" cy="955377"/>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Regression: any quantity with a unit — silica in the concentrate in percentage points. Classification: ore or waste; or lithology: sandstone, shale, limestone.</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Why is a good fit on seen data not evidence?</a:t>
            </a:r>
          </a:p>
        </p:txBody>
      </p:sp>
      <p:sp>
        <p:nvSpPr>
          <p:cNvPr id="15" name="TextBox 14"/>
          <p:cNvSpPr txBox="1"/>
          <p:nvPr/>
        </p:nvSpPr>
        <p:spPr>
          <a:xfrm>
            <a:off x="6854799"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model may memorise its training examples. Evaluate it on separate examples to check whether it predicts new cases well.</a:t>
            </a:r>
          </a:p>
        </p:txBody>
      </p:sp>
      <p:sp>
        <p:nvSpPr>
          <p:cNvPr id="16" name="Oval 15"/>
          <p:cNvSpPr/>
          <p:nvPr/>
        </p:nvSpPr>
        <p:spPr>
          <a:xfrm>
            <a:off x="6324447"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What else before acting?</a:t>
            </a:r>
          </a:p>
        </p:txBody>
      </p:sp>
      <p:sp>
        <p:nvSpPr>
          <p:cNvPr id="18" name="TextBox 17"/>
          <p:cNvSpPr txBox="1"/>
          <p:nvPr/>
        </p:nvSpPr>
        <p:spPr>
          <a:xfrm>
            <a:off x="6854799"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How large the error is in engineering terms and whether that is tolerable; what it costs when the model is wrong; and whether today's conditions still resemble the data it learned from.</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 (1 of 3)</a:t>
            </a:r>
          </a:p>
        </p:txBody>
      </p:sp>
      <p:sp>
        <p:nvSpPr>
          <p:cNvPr id="4" name="TextBox 3"/>
          <p:cNvSpPr txBox="1"/>
          <p:nvPr/>
        </p:nvSpPr>
        <p:spPr>
          <a:xfrm>
            <a:off x="685800"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Artificial intelligence</a:t>
            </a:r>
          </a:p>
        </p:txBody>
      </p:sp>
      <p:sp>
        <p:nvSpPr>
          <p:cNvPr id="5" name="TextBox 4"/>
          <p:cNvSpPr txBox="1"/>
          <p:nvPr/>
        </p:nvSpPr>
        <p:spPr>
          <a:xfrm>
            <a:off x="685800" y="2278309"/>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Any machine doing something we would call intelligent. A goal that many techniques aim at.</a:t>
            </a:r>
          </a:p>
        </p:txBody>
      </p:sp>
      <p:sp>
        <p:nvSpPr>
          <p:cNvPr id="6" name="TextBox 5"/>
          <p:cNvSpPr txBox="1"/>
          <p:nvPr/>
        </p:nvSpPr>
        <p:spPr>
          <a:xfrm>
            <a:off x="685800" y="3089454"/>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Machine learning</a:t>
            </a:r>
          </a:p>
        </p:txBody>
      </p:sp>
      <p:sp>
        <p:nvSpPr>
          <p:cNvPr id="7" name="TextBox 6"/>
          <p:cNvSpPr txBox="1"/>
          <p:nvPr/>
        </p:nvSpPr>
        <p:spPr>
          <a:xfrm>
            <a:off x="685800" y="3456668"/>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Inferring a rule from examples instead of writing it yourself.</a:t>
            </a:r>
          </a:p>
        </p:txBody>
      </p:sp>
      <p:sp>
        <p:nvSpPr>
          <p:cNvPr id="8" name="TextBox 7"/>
          <p:cNvSpPr txBox="1"/>
          <p:nvPr/>
        </p:nvSpPr>
        <p:spPr>
          <a:xfrm>
            <a:off x="685800" y="4267813"/>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Deep learning</a:t>
            </a:r>
          </a:p>
        </p:txBody>
      </p:sp>
      <p:sp>
        <p:nvSpPr>
          <p:cNvPr id="9" name="TextBox 8"/>
          <p:cNvSpPr txBox="1"/>
          <p:nvPr/>
        </p:nvSpPr>
        <p:spPr>
          <a:xfrm>
            <a:off x="685800" y="4635027"/>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Machine learning using large neural networks. Semester 2.</a:t>
            </a:r>
          </a:p>
        </p:txBody>
      </p:sp>
      <p:sp>
        <p:nvSpPr>
          <p:cNvPr id="10" name="TextBox 9"/>
          <p:cNvSpPr txBox="1"/>
          <p:nvPr/>
        </p:nvSpPr>
        <p:spPr>
          <a:xfrm>
            <a:off x="685800" y="5150328"/>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Data science</a:t>
            </a:r>
          </a:p>
        </p:txBody>
      </p:sp>
      <p:sp>
        <p:nvSpPr>
          <p:cNvPr id="11" name="TextBox 10"/>
          <p:cNvSpPr txBox="1"/>
          <p:nvPr/>
        </p:nvSpPr>
        <p:spPr>
          <a:xfrm>
            <a:off x="685800" y="5517542"/>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The craft of getting a trustworthy answer out of data — finding, cleaning, questioning, analysing, presenting.</a:t>
            </a:r>
          </a:p>
        </p:txBody>
      </p:sp>
      <p:sp>
        <p:nvSpPr>
          <p:cNvPr id="12" name="TextBox 11"/>
          <p:cNvSpPr txBox="1"/>
          <p:nvPr/>
        </p:nvSpPr>
        <p:spPr>
          <a:xfrm>
            <a:off x="6324447"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Dataset</a:t>
            </a:r>
          </a:p>
        </p:txBody>
      </p:sp>
      <p:sp>
        <p:nvSpPr>
          <p:cNvPr id="13" name="TextBox 12"/>
          <p:cNvSpPr txBox="1"/>
          <p:nvPr/>
        </p:nvSpPr>
        <p:spPr>
          <a:xfrm>
            <a:off x="6324447" y="2278309"/>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table of past cases you can learn from.</a:t>
            </a:r>
          </a:p>
        </p:txBody>
      </p:sp>
      <p:sp>
        <p:nvSpPr>
          <p:cNvPr id="14" name="TextBox 13"/>
          <p:cNvSpPr txBox="1"/>
          <p:nvPr/>
        </p:nvSpPr>
        <p:spPr>
          <a:xfrm>
            <a:off x="6324447" y="2793610"/>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Example (or row, or observation)</a:t>
            </a:r>
          </a:p>
        </p:txBody>
      </p:sp>
      <p:sp>
        <p:nvSpPr>
          <p:cNvPr id="15" name="TextBox 14"/>
          <p:cNvSpPr txBox="1"/>
          <p:nvPr/>
        </p:nvSpPr>
        <p:spPr>
          <a:xfrm>
            <a:off x="6324447" y="3160824"/>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One case: all its features plus its known outcome.</a:t>
            </a:r>
          </a:p>
        </p:txBody>
      </p:sp>
      <p:sp>
        <p:nvSpPr>
          <p:cNvPr id="16" name="TextBox 15"/>
          <p:cNvSpPr txBox="1"/>
          <p:nvPr/>
        </p:nvSpPr>
        <p:spPr>
          <a:xfrm>
            <a:off x="6324447" y="3676124"/>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Feature</a:t>
            </a:r>
          </a:p>
        </p:txBody>
      </p:sp>
      <p:sp>
        <p:nvSpPr>
          <p:cNvPr id="17" name="TextBox 16"/>
          <p:cNvSpPr txBox="1"/>
          <p:nvPr/>
        </p:nvSpPr>
        <p:spPr>
          <a:xfrm>
            <a:off x="6324447" y="4043338"/>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column known before the outcome. An input to the prediction.</a:t>
            </a:r>
          </a:p>
        </p:txBody>
      </p:sp>
      <p:sp>
        <p:nvSpPr>
          <p:cNvPr id="18" name="TextBox 17"/>
          <p:cNvSpPr txBox="1"/>
          <p:nvPr/>
        </p:nvSpPr>
        <p:spPr>
          <a:xfrm>
            <a:off x="6324447" y="4854483"/>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Target (or label)</a:t>
            </a:r>
          </a:p>
        </p:txBody>
      </p:sp>
      <p:sp>
        <p:nvSpPr>
          <p:cNvPr id="19" name="TextBox 18"/>
          <p:cNvSpPr txBox="1"/>
          <p:nvPr/>
        </p:nvSpPr>
        <p:spPr>
          <a:xfrm>
            <a:off x="6324447" y="5221697"/>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The column you are trying to predict.</a:t>
            </a:r>
          </a:p>
        </p:txBody>
      </p:sp>
    </p:spTree>
  </p:cSld>
  <p:clrMapOvr>
    <a:masterClrMapping/>
  </p:clrMapOvr>
</p:sld>
</file>

<file path=ppt/slides/slide53.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 (2 of 3)</a:t>
            </a:r>
          </a:p>
        </p:txBody>
      </p:sp>
      <p:sp>
        <p:nvSpPr>
          <p:cNvPr id="4" name="TextBox 3"/>
          <p:cNvSpPr txBox="1"/>
          <p:nvPr/>
        </p:nvSpPr>
        <p:spPr>
          <a:xfrm>
            <a:off x="685800"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Regression</a:t>
            </a:r>
          </a:p>
        </p:txBody>
      </p:sp>
      <p:sp>
        <p:nvSpPr>
          <p:cNvPr id="5" name="TextBox 4"/>
          <p:cNvSpPr txBox="1"/>
          <p:nvPr/>
        </p:nvSpPr>
        <p:spPr>
          <a:xfrm>
            <a:off x="685800" y="2278309"/>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Predicting a number on a continuous scale.</a:t>
            </a:r>
          </a:p>
        </p:txBody>
      </p:sp>
      <p:sp>
        <p:nvSpPr>
          <p:cNvPr id="6" name="TextBox 5"/>
          <p:cNvSpPr txBox="1"/>
          <p:nvPr/>
        </p:nvSpPr>
        <p:spPr>
          <a:xfrm>
            <a:off x="685800" y="2793610"/>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Classification</a:t>
            </a:r>
          </a:p>
        </p:txBody>
      </p:sp>
      <p:sp>
        <p:nvSpPr>
          <p:cNvPr id="7" name="TextBox 6"/>
          <p:cNvSpPr txBox="1"/>
          <p:nvPr/>
        </p:nvSpPr>
        <p:spPr>
          <a:xfrm>
            <a:off x="685800" y="3160824"/>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Predicting which of a small set of categories a case belongs to.</a:t>
            </a:r>
          </a:p>
        </p:txBody>
      </p:sp>
      <p:sp>
        <p:nvSpPr>
          <p:cNvPr id="8" name="TextBox 7"/>
          <p:cNvSpPr txBox="1"/>
          <p:nvPr/>
        </p:nvSpPr>
        <p:spPr>
          <a:xfrm>
            <a:off x="685800" y="3971969"/>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Binary classification</a:t>
            </a:r>
          </a:p>
        </p:txBody>
      </p:sp>
      <p:sp>
        <p:nvSpPr>
          <p:cNvPr id="9" name="TextBox 8"/>
          <p:cNvSpPr txBox="1"/>
          <p:nvPr/>
        </p:nvSpPr>
        <p:spPr>
          <a:xfrm>
            <a:off x="685800" y="4339183"/>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Classification with exactly two categories, such as pass or fail.</a:t>
            </a:r>
          </a:p>
        </p:txBody>
      </p:sp>
      <p:sp>
        <p:nvSpPr>
          <p:cNvPr id="10" name="TextBox 9"/>
          <p:cNvSpPr txBox="1"/>
          <p:nvPr/>
        </p:nvSpPr>
        <p:spPr>
          <a:xfrm>
            <a:off x="685800" y="5150328"/>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Multi-class classification</a:t>
            </a:r>
          </a:p>
        </p:txBody>
      </p:sp>
      <p:sp>
        <p:nvSpPr>
          <p:cNvPr id="11" name="TextBox 10"/>
          <p:cNvSpPr txBox="1"/>
          <p:nvPr/>
        </p:nvSpPr>
        <p:spPr>
          <a:xfrm>
            <a:off x="685800" y="5517542"/>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Classification with three or more categories.</a:t>
            </a:r>
          </a:p>
        </p:txBody>
      </p:sp>
      <p:sp>
        <p:nvSpPr>
          <p:cNvPr id="12" name="TextBox 11"/>
          <p:cNvSpPr txBox="1"/>
          <p:nvPr/>
        </p:nvSpPr>
        <p:spPr>
          <a:xfrm>
            <a:off x="6324447"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Prediction</a:t>
            </a:r>
          </a:p>
        </p:txBody>
      </p:sp>
      <p:sp>
        <p:nvSpPr>
          <p:cNvPr id="13" name="TextBox 12"/>
          <p:cNvSpPr txBox="1"/>
          <p:nvPr/>
        </p:nvSpPr>
        <p:spPr>
          <a:xfrm>
            <a:off x="6324447" y="2278309"/>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The model's answer for a case.</a:t>
            </a:r>
          </a:p>
        </p:txBody>
      </p:sp>
      <p:sp>
        <p:nvSpPr>
          <p:cNvPr id="14" name="TextBox 13"/>
          <p:cNvSpPr txBox="1"/>
          <p:nvPr/>
        </p:nvSpPr>
        <p:spPr>
          <a:xfrm>
            <a:off x="6324447" y="2793610"/>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Error</a:t>
            </a:r>
          </a:p>
        </p:txBody>
      </p:sp>
      <p:sp>
        <p:nvSpPr>
          <p:cNvPr id="15" name="TextBox 14"/>
          <p:cNvSpPr txBox="1"/>
          <p:nvPr/>
        </p:nvSpPr>
        <p:spPr>
          <a:xfrm>
            <a:off x="6324447" y="3160824"/>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Prediction error is the difference between the predicted and measured values.</a:t>
            </a:r>
          </a:p>
        </p:txBody>
      </p:sp>
      <p:sp>
        <p:nvSpPr>
          <p:cNvPr id="16" name="TextBox 15"/>
          <p:cNvSpPr txBox="1"/>
          <p:nvPr/>
        </p:nvSpPr>
        <p:spPr>
          <a:xfrm>
            <a:off x="6324447" y="3971969"/>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Unseen data</a:t>
            </a:r>
          </a:p>
        </p:txBody>
      </p:sp>
      <p:sp>
        <p:nvSpPr>
          <p:cNvPr id="17" name="TextBox 16"/>
          <p:cNvSpPr txBox="1"/>
          <p:nvPr/>
        </p:nvSpPr>
        <p:spPr>
          <a:xfrm>
            <a:off x="6324447" y="4339183"/>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Cases the model was not shown while it was learning. The only fair test.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 (3 of 3)</a:t>
            </a:r>
          </a:p>
        </p:txBody>
      </p:sp>
      <p:sp>
        <p:nvSpPr>
          <p:cNvPr id="4" name="TextBox 3"/>
          <p:cNvSpPr txBox="1"/>
          <p:nvPr/>
        </p:nvSpPr>
        <p:spPr>
          <a:xfrm>
            <a:off x="685800"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Data leakage</a:t>
            </a:r>
          </a:p>
        </p:txBody>
      </p:sp>
      <p:sp>
        <p:nvSpPr>
          <p:cNvPr id="5" name="TextBox 4"/>
          <p:cNvSpPr txBox="1"/>
          <p:nvPr/>
        </p:nvSpPr>
        <p:spPr>
          <a:xfrm>
            <a:off x="685800" y="2278309"/>
            <a:ext cx="5181447" cy="978973"/>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Accidentally giving the model information it would not have in real use — usually something only known after the outcome. Week 10.</a:t>
            </a:r>
          </a:p>
        </p:txBody>
      </p:sp>
      <p:sp>
        <p:nvSpPr>
          <p:cNvPr id="6" name="TextBox 5"/>
          <p:cNvSpPr txBox="1"/>
          <p:nvPr/>
        </p:nvSpPr>
        <p:spPr>
          <a:xfrm>
            <a:off x="685800" y="3385299"/>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Generalisation</a:t>
            </a:r>
          </a:p>
        </p:txBody>
      </p:sp>
      <p:sp>
        <p:nvSpPr>
          <p:cNvPr id="7" name="TextBox 6"/>
          <p:cNvSpPr txBox="1"/>
          <p:nvPr/>
        </p:nvSpPr>
        <p:spPr>
          <a:xfrm>
            <a:off x="685800" y="3752513"/>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Whether a rule learned from past cases still works on new ones.</a:t>
            </a:r>
          </a:p>
        </p:txBody>
      </p:sp>
      <p:sp>
        <p:nvSpPr>
          <p:cNvPr id="8" name="TextBox 7"/>
          <p:cNvSpPr txBox="1"/>
          <p:nvPr/>
        </p:nvSpPr>
        <p:spPr>
          <a:xfrm>
            <a:off x="685800" y="4563658"/>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Association vs cause</a:t>
            </a:r>
          </a:p>
        </p:txBody>
      </p:sp>
      <p:sp>
        <p:nvSpPr>
          <p:cNvPr id="9" name="TextBox 8"/>
          <p:cNvSpPr txBox="1"/>
          <p:nvPr/>
        </p:nvSpPr>
        <p:spPr>
          <a:xfrm>
            <a:off x="685800" y="4930872"/>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model learns which columns move together. It knows nothing about mechanism.</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Eight questions to ask about any data problem</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1 · What exactly am I predicting?</a:t>
            </a:r>
          </a:p>
        </p:txBody>
      </p:sp>
      <p:sp>
        <p:nvSpPr>
          <p:cNvPr id="5" name="TextBox 4"/>
          <p:cNvSpPr txBox="1"/>
          <p:nvPr/>
        </p:nvSpPr>
        <p:spPr>
          <a:xfrm>
            <a:off x="685800"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Name the target column and its unit. If you cannot, you do not have a problem yet.</a:t>
            </a:r>
          </a:p>
        </p:txBody>
      </p:sp>
      <p:sp>
        <p:nvSpPr>
          <p:cNvPr id="6" name="TextBox 5"/>
          <p:cNvSpPr txBox="1"/>
          <p:nvPr/>
        </p:nvSpPr>
        <p:spPr>
          <a:xfrm>
            <a:off x="685800"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2 · Is it a number or a category?</a:t>
            </a:r>
          </a:p>
        </p:txBody>
      </p:sp>
      <p:sp>
        <p:nvSpPr>
          <p:cNvPr id="7" name="TextBox 6"/>
          <p:cNvSpPr txBox="1"/>
          <p:nvPr/>
        </p:nvSpPr>
        <p:spPr>
          <a:xfrm>
            <a:off x="685800"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What would the answer look like written down? A quantity with a unit means regression; a word means classification.</a:t>
            </a:r>
          </a:p>
        </p:txBody>
      </p:sp>
      <p:sp>
        <p:nvSpPr>
          <p:cNvPr id="8" name="TextBox 7"/>
          <p:cNvSpPr txBox="1"/>
          <p:nvPr/>
        </p:nvSpPr>
        <p:spPr>
          <a:xfrm>
            <a:off x="685800"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3 · What do I know beforehand?</a:t>
            </a:r>
          </a:p>
        </p:txBody>
      </p:sp>
      <p:sp>
        <p:nvSpPr>
          <p:cNvPr id="9" name="TextBox 8"/>
          <p:cNvSpPr txBox="1"/>
          <p:nvPr/>
        </p:nvSpPr>
        <p:spPr>
          <a:xfrm>
            <a:off x="685800"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List the features. Check every one: would I really have this before the outcome?</a:t>
            </a:r>
          </a:p>
        </p:txBody>
      </p:sp>
      <p:sp>
        <p:nvSpPr>
          <p:cNvPr id="10" name="TextBox 9"/>
          <p:cNvSpPr txBox="1"/>
          <p:nvPr/>
        </p:nvSpPr>
        <p:spPr>
          <a:xfrm>
            <a:off x="685800"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4 · Where does the data come from?</a:t>
            </a:r>
          </a:p>
        </p:txBody>
      </p:sp>
      <p:sp>
        <p:nvSpPr>
          <p:cNvPr id="11" name="TextBox 10"/>
          <p:cNvSpPr txBox="1"/>
          <p:nvPr/>
        </p:nvSpPr>
        <p:spPr>
          <a:xfrm>
            <a:off x="685800"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Who measured it, how often, over what period, and is it actually kept anywhere?</a:t>
            </a:r>
          </a:p>
        </p:txBody>
      </p:sp>
      <p:sp>
        <p:nvSpPr>
          <p:cNvPr id="12" name="TextBox 11"/>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5 · Would a rule or an equation do this better?</a:t>
            </a:r>
          </a:p>
        </p:txBody>
      </p:sp>
      <p:sp>
        <p:nvSpPr>
          <p:cNvPr id="13" name="TextBox 12"/>
          <p:cNvSpPr txBox="1"/>
          <p:nvPr/>
        </p:nvSpPr>
        <p:spPr>
          <a:xfrm>
            <a:off x="6347307"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If a code of practice or a validated formula answers it, use that instead.</a:t>
            </a:r>
          </a:p>
        </p:txBody>
      </p:sp>
      <p:sp>
        <p:nvSpPr>
          <p:cNvPr id="14" name="TextBox 13"/>
          <p:cNvSpPr txBox="1"/>
          <p:nvPr/>
        </p:nvSpPr>
        <p:spPr>
          <a:xfrm>
            <a:off x="6347307"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6 · How will I know if I am wrong?</a:t>
            </a:r>
          </a:p>
        </p:txBody>
      </p:sp>
      <p:sp>
        <p:nvSpPr>
          <p:cNvPr id="15" name="TextBox 14"/>
          <p:cNvSpPr txBox="1"/>
          <p:nvPr/>
        </p:nvSpPr>
        <p:spPr>
          <a:xfrm>
            <a:off x="6347307"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You need cases the model has never seen. Decide now how you will hold some back.</a:t>
            </a:r>
          </a:p>
        </p:txBody>
      </p:sp>
      <p:sp>
        <p:nvSpPr>
          <p:cNvPr id="16" name="TextBox 15"/>
          <p:cNvSpPr txBox="1"/>
          <p:nvPr/>
        </p:nvSpPr>
        <p:spPr>
          <a:xfrm>
            <a:off x="6347307"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7 · What does being wrong cost?</a:t>
            </a:r>
          </a:p>
        </p:txBody>
      </p:sp>
      <p:sp>
        <p:nvSpPr>
          <p:cNvPr id="17" name="TextBox 16"/>
          <p:cNvSpPr txBox="1"/>
          <p:nvPr/>
        </p:nvSpPr>
        <p:spPr>
          <a:xfrm>
            <a:off x="6347307"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 false alarm and a missed failure are not equally bad. That asymmetry decides which model you pick.</a:t>
            </a:r>
          </a:p>
        </p:txBody>
      </p:sp>
      <p:sp>
        <p:nvSpPr>
          <p:cNvPr id="18" name="TextBox 17"/>
          <p:cNvSpPr txBox="1"/>
          <p:nvPr/>
        </p:nvSpPr>
        <p:spPr>
          <a:xfrm>
            <a:off x="6347307"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8 · Do today's conditions still resemble the data?</a:t>
            </a:r>
          </a:p>
        </p:txBody>
      </p:sp>
      <p:sp>
        <p:nvSpPr>
          <p:cNvPr id="19" name="TextBox 18"/>
          <p:cNvSpPr txBox="1"/>
          <p:nvPr/>
        </p:nvSpPr>
        <p:spPr>
          <a:xfrm>
            <a:off x="6347307"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If the process, material or plant has changed, the model may be quietly obsolete.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1</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Features and target read off a table, regression told from classification, and one of the four limits applied to a case.</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729027"/>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Enter your own Student Registration Number exactly as recorded.</a:t>
            </a:r>
          </a:p>
        </p:txBody>
      </p:sp>
      <p:sp>
        <p:nvSpPr>
          <p:cNvPr id="8" name="Oval 7"/>
          <p:cNvSpPr/>
          <p:nvPr/>
        </p:nvSpPr>
        <p:spPr>
          <a:xfrm>
            <a:off x="704088" y="481858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45432"/>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attempt, from the Google account you are signed in to.</a:t>
            </a:r>
          </a:p>
        </p:txBody>
      </p:sp>
      <p:sp>
        <p:nvSpPr>
          <p:cNvPr id="10" name="Oval 9"/>
          <p:cNvSpPr/>
          <p:nvPr/>
        </p:nvSpPr>
        <p:spPr>
          <a:xfrm>
            <a:off x="704088" y="526996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96814"/>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Open for 24 hours from lecturer activation, then it closes.</a:t>
            </a:r>
          </a:p>
        </p:txBody>
      </p:sp>
      <p:sp>
        <p:nvSpPr>
          <p:cNvPr id="12" name="Oval 11"/>
          <p:cNvSpPr/>
          <p:nvPr/>
        </p:nvSpPr>
        <p:spPr>
          <a:xfrm>
            <a:off x="704088" y="572134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648196"/>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per cent each. Tap View score and read the feedback.</a:t>
            </a:r>
          </a:p>
        </p:txBody>
      </p:sp>
      <p:sp>
        <p:nvSpPr>
          <p:cNvPr id="14" name="Oval 13"/>
          <p:cNvSpPr/>
          <p:nvPr/>
        </p:nvSpPr>
        <p:spPr>
          <a:xfrm>
            <a:off x="704088" y="617272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6099577"/>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Twelve this semester, best ten count. No resits.</a:t>
            </a:r>
          </a:p>
        </p:txBody>
      </p:sp>
      <p:sp>
        <p:nvSpPr>
          <p:cNvPr id="16" name="Rectangle 15"/>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iz_CML3113_W01.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You have already done</a:t>
            </a:r>
          </a:p>
          <a:p>
            <a:pPr algn="l">
              <a:lnSpc>
                <a:spcPct val="110000"/>
              </a:lnSpc>
              <a:spcAft>
                <a:spcPts val="600"/>
              </a:spcAft>
            </a:pPr>
            <a:r>
              <a:rPr sz="3400" b="1" i="0">
                <a:solidFill>
                  <a:srgbClr val="FFFFFF"/>
                </a:solidFill>
                <a:latin typeface="Cambria"/>
              </a:rPr>
              <a:t>machine learning once.</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Today you used twelve rows of data to make a prediction and measure its error. Later lessons use Python to repeat these calculations on larger datasets.</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Colab notebooks and version control. Bring a laptop with a browser.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