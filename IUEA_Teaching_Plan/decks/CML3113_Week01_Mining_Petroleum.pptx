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runs entirely on paper. You will not touch a computer, so nothing you do this session depends on owning a laptop or having a connection. By the end you will have answered a real engineering question from twelve rows of a real dataset with a pencil, and measured how wrong you were.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introduction, and there is a reason for it beyond courtesy.</a:t>
            </a:r>
          </a:p>
          <a:p/>
          <a:p>
            <a:r>
              <a:t>First, so that you know what you can ask me for. The work on the right is where my experience actually is: sensor data and predictive maintenance, language models over documents, and getting models into something a colleague can use. If your project heads in one of those directions I can help you in detail. If it heads somewhere I know less well, I will tell you that rather than guess.</a:t>
            </a:r>
          </a:p>
          <a:p/>
          <a:p>
            <a:r>
              <a:t>Second, because of the route rather than the titles. I read economics and information technology as undergraduate degrees, and my first seven years of work were in banking, tax and product management, none of which involved building a model. Nobody starts where this field expects them to start, and the engineering degree you are already halfway through is a better foundation for machine learning than most computing degrees, for reasons we come to in the roadmap segment.</a:t>
            </a:r>
          </a:p>
          <a:p/>
          <a:p>
            <a:r>
              <a:t>Third, so the claims in this course are checkable. Where I tell you a technique behaves a certain way, it is usually because I have watched it fail somewhere first.</a:t>
            </a:r>
          </a:p>
          <a:p/>
          <a:p>
            <a:r>
              <a:t>The contact details are real. Use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objectives, and they are the whole session. Nothing is hidden behind them and there is no reading list you are expected to have done. Mark yourself against each one at the end of the session; whatever you cannot claim is what to revise before Week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session this semester has the same shape: eleven segments across three hours, with no block of talking longer than 25 minutes and roughly half the time spent working rather than listening. That is why attendance matters more here than on a lecture course — the practical and challenge segments cannot be read off a deck afterwards. There is a 10-minute break at the midpoint.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weeks. Weeks 7 and 14 are practical tests where you are given data you have never seen and asked what you make of it, and the project runs from Week 9 to the last session. There is nothing to memorise in this course, which surprises most students who arrive expecting to revise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from knowing what a dataset is to saying 'here is a model I built and here is how I know it works'. Most of you cannot do step two today and all of you can reach step six by December. The students who get there are the ones who do the weekly deliverable every week, and the difference is visible by about Week 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on how the course works: the promise, the assessment, and what is expected on both sides. Everything after this segment is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details the figure does not carry. Every teaching session ends with a five-minute quiz of five questions, taken on your phone by QR code, auto-marked, and you have your score before you leave the room. There are twelve of them and the best ten count, one per cent each, so missing two costs you nothing and there are no resits to arrange. The two practical tests run offline on lab machines with no internet and no AI assistants. AI tools are permitted and taught in the coursework provided you declare what you used, because the mark follows what you can explain.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well' item is the one that changes how much you get out of the semester. Bring the error message, what you already tried, and what you expected to happen; assembling those three things solves the problem outright often enough to be worth the effort every time. If you are stuck for more than five minutes in a practical, put your hand up rather than sitting quietly.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segment hands you the map of the field before any of it is taught, so that every later week has somewhere to sit rather than arriving from nowhere. The structure follows the public roadmap.sh Machine Learning roadmap, which is the map the profession itself uses, so you can check this course against something written outside this room.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stages, from Python to transformers. By December you will have covered stages 1 to 9. Most of the individual terms on the figure mean nothing to you today and that is expected — what to take from it is the shape of the field and where this course stops. The interactive version is at roadmap.sh/machine-learning, and it is worth an evening of clicking around.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mathematics stage — calculus, linear algebra, statistics, probability — is the one most people entering this field find hardest, and you did it in Years 1 and 2. What you are missing is stages 1 and 3, Python and the data libraries, which Weeks 2 to 6 cover in five weeks of work. The expensive prerequisite is already behind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grey stages sit outside this course: reinforcement learning, full MLOps and most of the advanced language-model material. If you want to go after them later, roadmap.sh publishes separate roadmaps for the AI engineer, the data scientist, MLOps and AI agents, and any of the four is a reasonable next step after December.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different roadmaps and four different careers. This course points at the first one, applied inside your own engineering discipline. A computer science graduate will beat you at general machine learning, and that contest is avoidable: a civil engineer who can model concrete strength, or a mining engineer who can predict concentrate quality, is competing in a much smaller field.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words — artificial intelligence, machine learning, data science — get used interchangeably in job adverts, papers and vendor brochures. Fifteen minutes here is what lets you read those documents without being misled by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term is contained by the one before it. Data science is the odd one out: it overlaps all of them and is contained by none, because it is the craft of getting an answer out of data at all — finding it, cleaning it, questioning it, presenting it. Most of your semester goes into the data science ring, and the modelling turns out to be the small part.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thermostat follows one fixed rule and has no capacity to do better, which puts it outside the definition. A spam filter that improves as it sees more mail sits inside it. Whether any of this is 'really' intelligent is a genuine open question in the field; here the word is a label for an area of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definition the rest of the course rests on. Note the last step of the example: the computer infers a relationship and you then decide whether to trust it. That step is the easy one to skip, and Weeks 10 to 14 are entirely about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industry the split is roughly eighty per cent getting data into a usable state and twenty per cent modelling. An engineer with clean data beats a better algorithm with dirty data. The missing-assay example on this slide is a real Week 6 exercise: you will be handed records with a large part of one column absent and asked whether they are missing at random and what that does to your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teaching segment of the session: the difference between writing a rule and inferring one from examples, plus the vocabulary for talking about a table of data. Everything from Week 5 onwards assumes both.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 with the question before any answer arrives. Two honest first reactions are 'you cannot' and 'there must be a formula somewhere', and both are useful. The hands-on prediction exercise shows what a third answer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case from your own discipline: IF the pulp pH falls below 9.0 THEN alarm the operator — Process engineering gives you that set point. No data is needed to write the rule. That belongs firmly in the left-hand column. The right-hand column earns its place when there is no threshold in any code of practice and no formula to look up, and you have examples of past cases instead. Neither column is better; the useful question is whether you already know the rule for the problem in front of you.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engineering stays in the left-hand column and that is the correct place for it. The third item on the left is the one that decides real projects: a model whose decision cannot be explained line by line often cannot be used at all, whatever its accuracy on test data. That constraint returns in Week 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picture to fix in your head, because every dataset you meet this semester has this shape. One row is one example. The feature columns hold what you know beforehand and the target column holds the thing you want to predict. Worth thinking about: the target of one problem can be a feature of another. Curing temperature is the target if you are studying an oven and a feature if you are predicting strength.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'association is not a cause' line is the seed of correlation versus causation, which arrives properly in Week 8. One error to start watching for now: including a column that is only known after the target is known. That is data leakage, it is the most destructive mistake in applied machine learning, and Week 10 is a full session on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something for each of the three before you turn to the answers. Question B is deliberately hard for Week 1 — noticing that the repair column can only be filled in after the failure has happened is enough at this stage, even if you cannot yet name what is wrong with using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B wrong is normal; professional teams ship this bug regularly and only find it when the model reaches service. The name for it is data leakage. The timing test in answer B — could I know this column before the outcome? — is the one habit to carry out of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four or five, formed now and kept for the rest of the semester. You are about to do machine learning by hand, on paper, before anybody writes a line of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your team predicts matters far less than the sentence saying how you got it, so write the reasoning down. The next three slides give names to whatever method you used, and that only works if you can still see what you did. If you are stuck, start with one question: which single column seems to move with the outcome, and why that 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single right method, and this is one line of thinking that works. Step five is what separates an engineer from a calculator: how confident am I, and what would change my mind? The two practical tests, in Weeks 7 and 14, assess that step far more heavily than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spread of team answers is the teaching point. Several different reasonable methods produced several different numbers, so being reasonable is not enough on its own — you need a way to measure which method is better. One case cannot tell you that, which is what Week 8 sets 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syllabus for the rest of the semester is largely a set of names for what you just did with a pencil. The fourth pair is the one to dwell on: you predicted a case that was not in front of you when you formed the rule. That is generalisation, and everything in Week 10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challenge segment after the break is the longest single working block of the session, so use the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segment carrying one distinction that decides which method you reach for all semester. It needs to be automatic by Week 8, when you start fitting models to both kinds of problem.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that is easy to miss: the SAME dataset can pose either question. Take the target on the left and band it — ore or waste; or lithology: sandstone, shale, limestone — and the regression problem has become a classification problem. Banding is an engineering decision with consequences, because it throws away the distance between two values inside the same band, and it comes back in Week 9 when you start choosing how to measure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the test as a habit: what would the answer look like written down? A quantity with a unit means regression. A word or a label means classification. That question resolves almost every case you will meet, and it is faster than trying to remember the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C is the interesting one. It is still classification, with five categories rather than two. Multi-class problems are harder to evaluate because one accuracy figure hides which classes you are getting wrong, and that is a Week 9 topic.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now have vocabulary you can use immediately: binary classification for two categories, multi-class for three or more. The distinction starts to matter as soon as you begin measuring performance in Week 9, because the same accuracy figure means different things in the two cases.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honest limits, so that you can recognise in advance when data will not help. This is also your protection against being sold a technique that cannot work on the problem you have.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caption is the sentence to remember. A machine learning method will always return an answer and will never tell you that the question was unanswerable. Judging that is your job, and it is the reason a trained engineer is still needed after the code runs.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project in Week 9 has to survive these four questions before it is approved. A team that cannot answer them has picked a technique and gone looking for somewhere to use it, which is the most common way a student project fails.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segment you get a problem and no method, and the questions you are asked will not be answered for you. Proceeding without instructions is the skill being practised, and roughly one segment of every session this semester works this way.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rejections carry more weight than the acceptances. A team that can say clearly why something is NOT a machine learning problem has understood the session, and the six questions on the slide are the ones to argue each placement against. Keep your sheet: the class list of problems built in this segment is what teams draw on when they choose projects in Week 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 the team charter before you leave: names, contact details, a weekly meeting slot, and what you will do if somebody stops contributing. Agreeing that in Week 1 is far easier than agreeing it in November, and the charter is the document your contribution log gets read against.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Gallery walk: your team visits two other teams' boards and writes one question on each sheet. Questions only, no verdicts. This is the first peer review of the semester, and in Week 13 peer review is graded.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 solvable' item is the most valuable part of A1, because it forces you to use the four limits rather than remember them. Take the instruction not to install anything seriously: the course runs in Google Colab, and a Python installation you set up at home creates a problem that cannot be diagnosed in class.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for where he draws the boundaries between the four terms, and whether they match the nested diagram from today. If they differ, raise it next week — the field genuinely does not fully agree on this. Two optional extras: StatQuest, 'A Gentle Introduction to Machine Learning', https://www.youtube.com/watch?v=Gv9_4yMHFhI, whose author Josh Starmer is the spine of Weeks 8 to 12; and if you have ninety seconds only, Fireship, 'Machine Learning Explained in 100 Seconds', https://www.youtube.com/watch?v=PeMlggyqz0Y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from here on is revision material rather than presented content: a summary, a self-test with worked answers, an eighteen-term glossary and a one-page reference sheet. It is written to be studied from in your own time.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statements covering the whole session. If any of them reads as new to you, go back to the slide it came from before Week 2 rather than after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revision, best attempted with a pencil before you look at the next slide. Question D is a Week 10 idea planted early: anything that notices the circularity of testing a model on cases it has already seen is a good answer at this stage.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is the most important idea in the course. A model can simply memorise the cases it was shown, so good performance on those cases is no evidence of anything. The only honest test is data the model has never seen, which is exactly what case 13 was for you.</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If you can define all eighteen by Week 3 you are ahead of the schedule, and these exact words appear in the weekly quizzes. The last two entries, generalisation and association versus cause, are forward references; they are printed here so the words are familiar when they arrive properly in Weeks 8 and 10.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eight questions are the spine of the whole course. Every project milestone from Week 9 onwards is assessed against some subset of them, and this is the page worth having in front of you in the Week 14 practical test.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next week: A1 due at the start of the session, a GitHub account and a Google account created, the video watched, and nothing installed. Week 2 needs a browser and nothing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Mining &amp; Petroleum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PhD Informatics, UEC Tokyo — in progress</a:t>
            </a:r>
          </a:p>
        </p:txBody>
      </p:sp>
      <p:sp>
        <p:nvSpPr>
          <p:cNvPr id="10" name="Oval 9"/>
          <p:cNvSpPr/>
          <p:nvPr/>
        </p:nvSpPr>
        <p:spPr>
          <a:xfrm>
            <a:off x="704088" y="3334662"/>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279798"/>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MSc Data Science and ML, Yamaguchi, 2024 — valedictorian</a:t>
            </a:r>
          </a:p>
        </p:txBody>
      </p:sp>
      <p:sp>
        <p:nvSpPr>
          <p:cNvPr id="12" name="Oval 11"/>
          <p:cNvSpPr/>
          <p:nvPr/>
        </p:nvSpPr>
        <p:spPr>
          <a:xfrm>
            <a:off x="704088" y="4072482"/>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017618"/>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491683"/>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436819"/>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exploration, ore and reservoir characterisation, production and equipment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PROMISE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promise of the course. Most of you cannot do step two today. All of you can get to step six by December, and the students who do are the ones who do the weekly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promise, the assessment, and what I expect from you. Then we start on the actual engineering.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No written examination anywhere in this course. Everything is practical: work with data, write and run code, build and evaluate a model, explain your reasoning. Sixty-five per cent of the mark is individual, so you cannot be carried and you cannot be dragged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but ask well. Bring the error message, what you already tried, and what you expected to happen. That is not a hurdle in front of help — it is the actual professional skill.</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Struggle before you seek rescue. In the challenge segments you are supposed to be stuck for a while.</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dataset staged locally, so a slow connection is never your problem.</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 straight answer to 'why are we learning this?', every single time it is asked.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whole field, start to finish</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we teach you any of it, here is the entire territory — and exactly which parts of it this course covers, which parts Semester 2 covers, and which parts we do not touch.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YOU ALREADY ARE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Stage 2 is the one that matters to you</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You already have the mathematics</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puts calculus, linear algebra, statistics and probability as a major stage — for most people entering this field from computing, it is the hardest one.</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did it in Years 1 and 2. Derivatives, matrices, distributions, hypothesis tests. You are not starting from zero on the roadmap; you are starting from stage 3 with stage 2 already behind you.</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What you are missing is the programming, and that is the easier half</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Stages 1 and 3 — Python and the data libraries — are five weeks of work. The mathematics took you two years; Weeks 2 to 6 cover the five.</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Which is why an engineer is well placed here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people who struggle in this field are usually strong programmers with no domain knowledge and shaky mathematics. You are the reverse, and the reverse is more useful.</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 engineer who can do this in their own discipline is rarer, and harder to replace, than a generalist who can do it in none.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course sits, honestly</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grey is what we do not teach. Reinforcement learning, full MLOps and most of the advanced language-model material are outside this course. I would rather you knew that now than discovered it in December.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this course is actually about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six months of process readings every twenty seconds, each with the assay that came back later.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assay records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actual idea of the course, and the vocabulary you need to talk about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"The silica assay takes an hour to come back from the laboratory. Can we know it now, from the process variables we already measure?"</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ACTUAL IDEA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Traditional programming, and machine learning</a:t>
            </a:r>
          </a:p>
        </p:txBody>
      </p:sp>
      <p:pic>
        <p:nvPicPr>
          <p:cNvPr id="4" name="Picture 3" descr="rules_vs_learning.png"/>
          <p:cNvPicPr>
            <a:picLocks noChangeAspect="1"/>
          </p:cNvPicPr>
          <p:nvPr/>
        </p:nvPicPr>
        <p:blipFill>
          <a:blip r:embed="rId2"/>
          <a:stretch>
            <a:fillRect/>
          </a:stretch>
        </p:blipFill>
        <p:spPr>
          <a:xfrm>
            <a:off x="1304533" y="1911095"/>
            <a:ext cx="95826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the way you already know: you work out the rule and write it down. On the right, the new way: you do not know the rule, but you have examples of inputs and the answers that followed, and the computer works out a rule from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approximate answer now is worth more than an exact answer later — which is exactly the case in the question we opened with.</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we actually mean by 'data'</a:t>
            </a:r>
          </a:p>
        </p:txBody>
      </p:sp>
      <p:pic>
        <p:nvPicPr>
          <p:cNvPr id="4" name="Picture 3" descr="data_table_CML3113.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single most important picture in today's session. Every dataset you meet this semester has this shape: one row per example, feature columns for what you know beforehand, and one target column for the thing you want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iron feed grade, starch flow and pulp pH are the features. Silica in the concentrate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Starch flow is associated with concentrate quality; the model learns the association and knows nothing about surface chemistry.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froth flotation process data records, is silica in the concentrate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Feature or target?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target. It is the thing you want to predict. Everything measured beforehand is a feature.</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repair column?</a:t>
            </a:r>
          </a:p>
        </p:txBody>
      </p:sp>
      <p:sp>
        <p:nvSpPr>
          <p:cNvPr id="9" name="TextBox 8"/>
          <p:cNvSpPr txBox="1"/>
          <p:nvPr/>
        </p:nvSpPr>
        <p:spPr>
          <a:xfrm>
            <a:off x="1216152" y="300690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You only know what repair was done AFTER the failure, so it cannot help you predict the failure. Include it and your model will look brilliant in testing and be useless in service. This is called data leakage and we spend a whole session on it in Week 10.</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rule you already know?</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Anything with a formula or a code threshold: Contained metal is tonnage times grade. That is arithmetic; there is nothing to predict. If a validated equation exists, use the equation.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are going to do machine learning by hand, on paper, before anybody writes a line of code. Teams of four or five — form them now.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 TASK · 15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task</a:t>
            </a:r>
          </a:p>
        </p:txBody>
      </p:sp>
      <p:pic>
        <p:nvPicPr>
          <p:cNvPr id="4" name="Picture 3" descr="hand_pred_before_CML3113.png"/>
          <p:cNvPicPr>
            <a:picLocks noChangeAspect="1"/>
          </p:cNvPicPr>
          <p:nvPr/>
        </p:nvPicPr>
        <p:blipFill>
          <a:blip r:embed="rId2"/>
          <a:stretch>
            <a:fillRect/>
          </a:stretch>
        </p:blipFill>
        <p:spPr>
          <a:xfrm>
            <a:off x="2971575" y="1911095"/>
            <a:ext cx="624854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Twelve cases, each with its features and its known outcome. Case 13 has features but the outcome is hidden. In your team: predict it, write the number down, and write one sentence saying how you decided. Fifteen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There is no single right method. This is one line of thinking that works, and it is close to what most teams arrive at.</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That is genuinely the whole idea. You found a pattern in examples and used it on a case you had never seen — which is exactly what every algorithm in this course does.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3.png"/>
          <p:cNvPicPr>
            <a:picLocks noChangeAspect="1"/>
          </p:cNvPicPr>
          <p:nvPr/>
        </p:nvPicPr>
        <p:blipFill>
          <a:blip r:embed="rId2"/>
          <a:stretch>
            <a:fillRect/>
          </a:stretch>
        </p:blipFill>
        <p:spPr>
          <a:xfrm>
            <a:off x="3080201" y="1911095"/>
            <a:ext cx="603129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is the true value. The distance between your guess and the star is your ERROR — and measuring that distance honestly is what most of this course is about. The dashed line is the pattern you were sensing without being able to write it down.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NAMING IT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 just did every step of a machine learning project</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you called it</a:t>
            </a:r>
          </a:p>
        </p:txBody>
      </p:sp>
      <p:sp>
        <p:nvSpPr>
          <p:cNvPr id="5" name="TextBox 4"/>
          <p:cNvSpPr txBox="1"/>
          <p:nvPr/>
        </p:nvSpPr>
        <p:spPr>
          <a:xfrm>
            <a:off x="685800"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looked at the table.</a:t>
            </a:r>
          </a:p>
        </p:txBody>
      </p:sp>
      <p:sp>
        <p:nvSpPr>
          <p:cNvPr id="6" name="TextBox 5"/>
          <p:cNvSpPr txBox="1"/>
          <p:nvPr/>
        </p:nvSpPr>
        <p:spPr>
          <a:xfrm>
            <a:off x="685800"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noticed which columns seemed to matter.</a:t>
            </a:r>
          </a:p>
        </p:txBody>
      </p:sp>
      <p:sp>
        <p:nvSpPr>
          <p:cNvPr id="7" name="TextBox 6"/>
          <p:cNvSpPr txBox="1"/>
          <p:nvPr/>
        </p:nvSpPr>
        <p:spPr>
          <a:xfrm>
            <a:off x="685800"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worked out a rough rule in your head.</a:t>
            </a:r>
          </a:p>
        </p:txBody>
      </p:sp>
      <p:sp>
        <p:nvSpPr>
          <p:cNvPr id="8" name="TextBox 7"/>
          <p:cNvSpPr txBox="1"/>
          <p:nvPr/>
        </p:nvSpPr>
        <p:spPr>
          <a:xfrm>
            <a:off x="685800" y="377449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applied it to a case you had not seen.</a:t>
            </a:r>
          </a:p>
        </p:txBody>
      </p:sp>
      <p:sp>
        <p:nvSpPr>
          <p:cNvPr id="9" name="TextBox 8"/>
          <p:cNvSpPr txBox="1"/>
          <p:nvPr/>
        </p:nvSpPr>
        <p:spPr>
          <a:xfrm>
            <a:off x="685800" y="424844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compared your answer with the truth.</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it is called</a:t>
            </a:r>
          </a:p>
        </p:txBody>
      </p:sp>
      <p:sp>
        <p:nvSpPr>
          <p:cNvPr id="11" name="TextBox 10"/>
          <p:cNvSpPr txBox="1"/>
          <p:nvPr/>
        </p:nvSpPr>
        <p:spPr>
          <a:xfrm>
            <a:off x="6347307"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explored the data. That is Weeks 5 and 6.</a:t>
            </a:r>
          </a:p>
        </p:txBody>
      </p:sp>
      <p:sp>
        <p:nvSpPr>
          <p:cNvPr id="12" name="TextBox 11"/>
          <p:cNvSpPr txBox="1"/>
          <p:nvPr/>
        </p:nvSpPr>
        <p:spPr>
          <a:xfrm>
            <a:off x="6347307"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selected features. That is Week 11.</a:t>
            </a:r>
          </a:p>
        </p:txBody>
      </p:sp>
      <p:sp>
        <p:nvSpPr>
          <p:cNvPr id="13" name="TextBox 12"/>
          <p:cNvSpPr txBox="1"/>
          <p:nvPr/>
        </p:nvSpPr>
        <p:spPr>
          <a:xfrm>
            <a:off x="6347307"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fitted a model. That is Week 8.</a:t>
            </a:r>
          </a:p>
        </p:txBody>
      </p:sp>
      <p:sp>
        <p:nvSpPr>
          <p:cNvPr id="14" name="TextBox 13"/>
          <p:cNvSpPr txBox="1"/>
          <p:nvPr/>
        </p:nvSpPr>
        <p:spPr>
          <a:xfrm>
            <a:off x="6347307" y="37744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predicted on unseen data — the single most important idea in the course. Week 8 and Week 10.</a:t>
            </a:r>
          </a:p>
        </p:txBody>
      </p:sp>
      <p:sp>
        <p:nvSpPr>
          <p:cNvPr id="15" name="TextBox 14"/>
          <p:cNvSpPr txBox="1"/>
          <p:nvPr/>
        </p:nvSpPr>
        <p:spPr>
          <a:xfrm>
            <a:off x="6347307" y="45852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evaluated the error. That is Week 10, and it is where engineers earn their keep.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Nothing after the break needs a computer.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3.png"/>
          <p:cNvPicPr>
            <a:picLocks noChangeAspect="1"/>
          </p:cNvPicPr>
          <p:nvPr/>
        </p:nvPicPr>
        <p:blipFill>
          <a:blip r:embed="rId2"/>
          <a:stretch>
            <a:fillRect/>
          </a:stretch>
        </p:blipFill>
        <p:spPr>
          <a:xfrm>
            <a:off x="2405870" y="1911095"/>
            <a:ext cx="737995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Regression, and classification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REGRESSION predicts a number on a continuous scale. CLASSIFICATION predicts which of a small number of categories a case belongs to.</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Regression: how many % silica? Classification: ore or waste; or lithology: sandstone, shale, limestone.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Ask 'what would the answer look like written down?' A quantity with a unit means regression. A word or a label means classification.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replacement?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The answer is a number with a unit — days.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Pass or fail?</a:t>
            </a:r>
          </a:p>
        </p:txBody>
      </p:sp>
      <p:sp>
        <p:nvSpPr>
          <p:cNvPr id="9" name="TextBox 8"/>
          <p:cNvSpPr txBox="1"/>
          <p:nvPr/>
        </p:nvSpPr>
        <p:spPr>
          <a:xfrm>
            <a:off x="1216152" y="3006900"/>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Classification. Two categories, so it is called binary classification.</a:t>
            </a:r>
          </a:p>
        </p:txBody>
      </p:sp>
      <p:sp>
        <p:nvSpPr>
          <p:cNvPr id="10" name="Oval 9"/>
          <p:cNvSpPr/>
          <p:nvPr/>
        </p:nvSpPr>
        <p:spPr>
          <a:xfrm>
            <a:off x="685800" y="35540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5174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Which of five fault types?</a:t>
            </a:r>
          </a:p>
        </p:txBody>
      </p:sp>
      <p:sp>
        <p:nvSpPr>
          <p:cNvPr id="12" name="TextBox 11"/>
          <p:cNvSpPr txBox="1"/>
          <p:nvPr/>
        </p:nvSpPr>
        <p:spPr>
          <a:xfrm>
            <a:off x="1216152" y="38100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Still classification, but multi-class rather than binary. It is harder: with five classes there are far more ways to be wrong, and a single accuracy figure hides which ones you get wrong. Week 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honest limits. This segment is here to protect you from being sold something.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machine learning method will always give you an answer. It will never tell you that the question was unanswerable. That is your job.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Blast fragmentation was judged by eye for decades. There is no dataset of it.</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shift supervisor's name does not cause recovery to change. A model given that column will still find a pattern in it.</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Contained metal is tonnage times grade. That is arithmetic; there is nothing to predict.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ore body will not transfer to the next bench when the mineralogy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get a problem and no method. I will ask you questions and answer none. This is how roughly one segment of every session works.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In your team, list six problems from exploration, ore and reservoir characterisation, production and equipment health where data might help.</a:t>
            </a:r>
          </a:p>
          <a:p>
            <a:pPr algn="l">
              <a:lnSpc>
                <a:spcPct val="125000"/>
              </a:lnSpc>
              <a:spcAft>
                <a:spcPts val="600"/>
              </a:spcAft>
            </a:pPr>
            <a:r>
              <a:rPr sz="1923" b="0" i="0">
                <a:solidFill>
                  <a:srgbClr val="1C3144"/>
                </a:solidFill>
                <a:latin typeface="Calibri"/>
              </a:rPr>
              <a:t>Then sort all six into: predict a NUMBER, predict a CATEGORY, or NOT a machine learning problem — and justify every placement, including the rejections.</a:t>
            </a:r>
          </a:p>
          <a:p>
            <a:pPr algn="l">
              <a:lnSpc>
                <a:spcPct val="125000"/>
              </a:lnSpc>
              <a:spcAft>
                <a:spcPts val="600"/>
              </a:spcAft>
            </a:pPr>
            <a:r>
              <a:rPr sz="1923" b="0" i="0">
                <a:solidFill>
                  <a:srgbClr val="1C3144"/>
                </a:solidFill>
                <a:latin typeface="Calibri"/>
              </a:rPr>
              <a:t>Thirty minutes. No template, no worked example, no help from me.</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are you actually trying to find?</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Who measures that, and how often?</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Would a rule you already know do this better?</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the answer let somebody DO?</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How would you know if you were wrong?</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a mistake cost 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your team works, all semester</a:t>
            </a:r>
          </a:p>
        </p:txBody>
      </p:sp>
      <p:sp>
        <p:nvSpPr>
          <p:cNvPr id="4" name="TextBox 3"/>
          <p:cNvSpPr txBox="1"/>
          <p:nvPr/>
        </p:nvSpPr>
        <p:spPr>
          <a:xfrm>
            <a:off x="685800"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Teams of four or five, formed today, kept to the end</a:t>
            </a:r>
          </a:p>
        </p:txBody>
      </p:sp>
      <p:sp>
        <p:nvSpPr>
          <p:cNvPr id="5" name="TextBox 4"/>
          <p:cNvSpPr txBox="1"/>
          <p:nvPr/>
        </p:nvSpPr>
        <p:spPr>
          <a:xfrm>
            <a:off x="685800"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will do two projects together: a data analysis project due Week 8, and the Engineering ML Project from Week 9 to Week 15.</a:t>
            </a:r>
          </a:p>
        </p:txBody>
      </p:sp>
      <p:sp>
        <p:nvSpPr>
          <p:cNvPr id="6" name="TextBox 5"/>
          <p:cNvSpPr txBox="1"/>
          <p:nvPr/>
        </p:nvSpPr>
        <p:spPr>
          <a:xfrm>
            <a:off x="685800"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Roles rotate at every milestone</a:t>
            </a:r>
          </a:p>
        </p:txBody>
      </p:sp>
      <p:sp>
        <p:nvSpPr>
          <p:cNvPr id="7" name="TextBox 6"/>
          <p:cNvSpPr txBox="1"/>
          <p:nvPr/>
        </p:nvSpPr>
        <p:spPr>
          <a:xfrm>
            <a:off x="685800"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Data analyst · machine learning engineer · domain engineer · documentation lead · presenter. Nobody does the same job twice, so nobody hides in one role.</a:t>
            </a:r>
          </a:p>
        </p:txBody>
      </p:sp>
      <p:sp>
        <p:nvSpPr>
          <p:cNvPr id="8" name="TextBox 7"/>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Individual accountability is built in</a:t>
            </a:r>
          </a:p>
        </p:txBody>
      </p:sp>
      <p:sp>
        <p:nvSpPr>
          <p:cNvPr id="9" name="TextBox 8"/>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Sixty-five per cent of the mark is individual. Your team keeps a contribution log, and it is checked against the repository history.</a:t>
            </a:r>
          </a:p>
        </p:txBody>
      </p:sp>
      <p:sp>
        <p:nvSpPr>
          <p:cNvPr id="10" name="TextBox 9"/>
          <p:cNvSpPr txBox="1"/>
          <p:nvPr/>
        </p:nvSpPr>
        <p:spPr>
          <a:xfrm>
            <a:off x="6347307"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In Week 15 every student answers two unseen questions about their own team's work. That is how a team mark becomes an individual one — you cannot be carried, and you will not be dragged down.</a:t>
            </a:r>
          </a:p>
        </p:txBody>
      </p:sp>
      <p:sp>
        <p:nvSpPr>
          <p:cNvPr id="11" name="TextBox 10"/>
          <p:cNvSpPr txBox="1"/>
          <p:nvPr/>
        </p:nvSpPr>
        <p:spPr>
          <a:xfrm>
            <a:off x="6347307" y="503023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Sign the team charter before you leave</a:t>
            </a:r>
          </a:p>
        </p:txBody>
      </p:sp>
      <p:sp>
        <p:nvSpPr>
          <p:cNvPr id="12" name="TextBox 11"/>
          <p:cNvSpPr txBox="1"/>
          <p:nvPr/>
        </p:nvSpPr>
        <p:spPr>
          <a:xfrm>
            <a:off x="6347307" y="546186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Names, contact details, a weekly meeting slot, and what you will do if somebody stops contributing. Agreeing that now is much easier than agreeing it in November.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9</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Gallery walk, and what you owe 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Critique two other teams' boards, then the assignment and the pre-work for next week.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one page, due at the start of Week 2</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one: what data it would need, and where that data might actually come from — who measures it, how often, and whether anyone has kept it.</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One of the three must be a problem you think is NOT solvable with the data that exists. Say why.</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Marked pass or redo. What is being checked is engagement.</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Watch for where he draws the boundaries between the four terms, and whether they match the nested diagram we drew today. If they differ, raise it next week — the field genuinely does not fully agree on this.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Artificial intelligence is a goal; machine learning is one way of reaching it; data science is the craft of getting a trustworthy answer out of data at all.</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In traditional programming you write the rule. In machine learning you supply examples and the computer infers the rule — and you then have to decide whether to trust it.</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Regression predicts a number with a unit. Classification predicts which of a small set of categories a case belongs to. The same data can pose either question.</a:t>
            </a:r>
          </a:p>
        </p:txBody>
      </p:sp>
      <p:sp>
        <p:nvSpPr>
          <p:cNvPr id="12" name="Oval 11"/>
          <p:cNvSpPr/>
          <p:nvPr/>
        </p:nvSpPr>
        <p:spPr>
          <a:xfrm>
            <a:off x="685800" y="48577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0289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model learns association. It does not learn cause, and a good fit is no evidence of a mechanism.</a:t>
            </a:r>
          </a:p>
        </p:txBody>
      </p:sp>
      <p:sp>
        <p:nvSpPr>
          <p:cNvPr id="14" name="Oval 13"/>
          <p:cNvSpPr/>
          <p:nvPr/>
        </p:nvSpPr>
        <p:spPr>
          <a:xfrm>
            <a:off x="685800" y="52923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375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limits never go away: no data, no signal, physics is simply better, and the future stopped resembling the past.</a:t>
            </a:r>
          </a:p>
        </p:txBody>
      </p:sp>
      <p:sp>
        <p:nvSpPr>
          <p:cNvPr id="16" name="Oval 15"/>
          <p:cNvSpPr/>
          <p:nvPr/>
        </p:nvSpPr>
        <p:spPr>
          <a:xfrm>
            <a:off x="685800" y="57270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72150"/>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method will always give you an answer. It will never tell you the question was unanswerable — that judgement is the engineer's job, and it is what this course is really training.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silica in the concentrate to within a few percentage points.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exactly are we predicting? What data exists, who measured it, and is it kept? And would a rule or an equation we already have do this better? If any of those has no answer, stop.</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silica in the concentrate in percentage points. Classification: ore or waste; or lithology: sandstone, shale, limestone.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Because the model could simply have memorised those cases. The only honest test is performance on examples it has never seen — exactly what you did with case 13. This is the whole subject of Week 10.</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Artificial intelligence</a:t>
            </a:r>
          </a:p>
        </p:txBody>
      </p:sp>
      <p:sp>
        <p:nvSpPr>
          <p:cNvPr id="5" name="TextBox 4"/>
          <p:cNvSpPr txBox="1"/>
          <p:nvPr/>
        </p:nvSpPr>
        <p:spPr>
          <a:xfrm>
            <a:off x="685800" y="209543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Any machine doing something we would call intelligent. A goal that many techniques aim at.</a:t>
            </a:r>
          </a:p>
        </p:txBody>
      </p:sp>
      <p:sp>
        <p:nvSpPr>
          <p:cNvPr id="6" name="TextBox 5"/>
          <p:cNvSpPr txBox="1"/>
          <p:nvPr/>
        </p:nvSpPr>
        <p:spPr>
          <a:xfrm>
            <a:off x="685800" y="25237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Machine learning</a:t>
            </a:r>
          </a:p>
        </p:txBody>
      </p:sp>
      <p:sp>
        <p:nvSpPr>
          <p:cNvPr id="7" name="TextBox 6"/>
          <p:cNvSpPr txBox="1"/>
          <p:nvPr/>
        </p:nvSpPr>
        <p:spPr>
          <a:xfrm>
            <a:off x="685800" y="27080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Inferring a rule from examples instead of writing it yourself.</a:t>
            </a:r>
          </a:p>
        </p:txBody>
      </p:sp>
      <p:sp>
        <p:nvSpPr>
          <p:cNvPr id="8" name="TextBox 7"/>
          <p:cNvSpPr txBox="1"/>
          <p:nvPr/>
        </p:nvSpPr>
        <p:spPr>
          <a:xfrm>
            <a:off x="685800" y="295808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Deep learning</a:t>
            </a:r>
          </a:p>
        </p:txBody>
      </p:sp>
      <p:sp>
        <p:nvSpPr>
          <p:cNvPr id="9" name="TextBox 8"/>
          <p:cNvSpPr txBox="1"/>
          <p:nvPr/>
        </p:nvSpPr>
        <p:spPr>
          <a:xfrm>
            <a:off x="685800" y="31424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Machine learning using large neural networks. Semester 2.</a:t>
            </a:r>
          </a:p>
        </p:txBody>
      </p:sp>
      <p:sp>
        <p:nvSpPr>
          <p:cNvPr id="10" name="TextBox 9"/>
          <p:cNvSpPr txBox="1"/>
          <p:nvPr/>
        </p:nvSpPr>
        <p:spPr>
          <a:xfrm>
            <a:off x="685800" y="339242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science</a:t>
            </a:r>
          </a:p>
        </p:txBody>
      </p:sp>
      <p:sp>
        <p:nvSpPr>
          <p:cNvPr id="11" name="TextBox 10"/>
          <p:cNvSpPr txBox="1"/>
          <p:nvPr/>
        </p:nvSpPr>
        <p:spPr>
          <a:xfrm>
            <a:off x="685800" y="3576767"/>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craft of getting a trustworthy answer out of data — finding, cleaning, questioning, analysing, presenting.</a:t>
            </a:r>
          </a:p>
        </p:txBody>
      </p:sp>
      <p:sp>
        <p:nvSpPr>
          <p:cNvPr id="12" name="TextBox 11"/>
          <p:cNvSpPr txBox="1"/>
          <p:nvPr/>
        </p:nvSpPr>
        <p:spPr>
          <a:xfrm>
            <a:off x="685800" y="400507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Dataset</a:t>
            </a:r>
          </a:p>
        </p:txBody>
      </p:sp>
      <p:sp>
        <p:nvSpPr>
          <p:cNvPr id="13" name="TextBox 12"/>
          <p:cNvSpPr txBox="1"/>
          <p:nvPr/>
        </p:nvSpPr>
        <p:spPr>
          <a:xfrm>
            <a:off x="685800" y="418941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table of past cases you can learn from.</a:t>
            </a:r>
          </a:p>
        </p:txBody>
      </p:sp>
      <p:sp>
        <p:nvSpPr>
          <p:cNvPr id="14" name="TextBox 13"/>
          <p:cNvSpPr txBox="1"/>
          <p:nvPr/>
        </p:nvSpPr>
        <p:spPr>
          <a:xfrm>
            <a:off x="685800" y="443941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Example (or row, or observation)</a:t>
            </a:r>
          </a:p>
        </p:txBody>
      </p:sp>
      <p:sp>
        <p:nvSpPr>
          <p:cNvPr id="15" name="TextBox 14"/>
          <p:cNvSpPr txBox="1"/>
          <p:nvPr/>
        </p:nvSpPr>
        <p:spPr>
          <a:xfrm>
            <a:off x="685800" y="462375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case: all its features plus its known outcome.</a:t>
            </a:r>
          </a:p>
        </p:txBody>
      </p:sp>
      <p:sp>
        <p:nvSpPr>
          <p:cNvPr id="16" name="TextBox 15"/>
          <p:cNvSpPr txBox="1"/>
          <p:nvPr/>
        </p:nvSpPr>
        <p:spPr>
          <a:xfrm>
            <a:off x="685800" y="487375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a:t>
            </a:r>
          </a:p>
        </p:txBody>
      </p:sp>
      <p:sp>
        <p:nvSpPr>
          <p:cNvPr id="17" name="TextBox 16"/>
          <p:cNvSpPr txBox="1"/>
          <p:nvPr/>
        </p:nvSpPr>
        <p:spPr>
          <a:xfrm>
            <a:off x="685800" y="505809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column known before the outcome. An input to the prediction.</a:t>
            </a:r>
          </a:p>
        </p:txBody>
      </p:sp>
      <p:sp>
        <p:nvSpPr>
          <p:cNvPr id="18" name="TextBox 17"/>
          <p:cNvSpPr txBox="1"/>
          <p:nvPr/>
        </p:nvSpPr>
        <p:spPr>
          <a:xfrm>
            <a:off x="685800" y="530809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Target (or label)</a:t>
            </a:r>
          </a:p>
        </p:txBody>
      </p:sp>
      <p:sp>
        <p:nvSpPr>
          <p:cNvPr id="19" name="TextBox 18"/>
          <p:cNvSpPr txBox="1"/>
          <p:nvPr/>
        </p:nvSpPr>
        <p:spPr>
          <a:xfrm>
            <a:off x="685800" y="549243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column you are trying to predict.</a:t>
            </a:r>
          </a:p>
        </p:txBody>
      </p:sp>
      <p:sp>
        <p:nvSpPr>
          <p:cNvPr id="20" name="TextBox 19"/>
          <p:cNvSpPr txBox="1"/>
          <p:nvPr/>
        </p:nvSpPr>
        <p:spPr>
          <a:xfrm>
            <a:off x="685800" y="574243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Regression</a:t>
            </a:r>
          </a:p>
        </p:txBody>
      </p:sp>
      <p:sp>
        <p:nvSpPr>
          <p:cNvPr id="21" name="TextBox 20"/>
          <p:cNvSpPr txBox="1"/>
          <p:nvPr/>
        </p:nvSpPr>
        <p:spPr>
          <a:xfrm>
            <a:off x="685800" y="592677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a number on a continuous scale.</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Classification</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which of a small set of categories a case belongs to.</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Binary classification</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Classification with exactly two categories, such as pass or fail.</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Multi-class classification</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Classification with three or more categories.</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Prediction</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model's answer for a case.</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Error</a:t>
            </a:r>
          </a:p>
        </p:txBody>
      </p:sp>
      <p:sp>
        <p:nvSpPr>
          <p:cNvPr id="31" name="TextBox 30"/>
          <p:cNvSpPr txBox="1"/>
          <p:nvPr/>
        </p:nvSpPr>
        <p:spPr>
          <a:xfrm>
            <a:off x="6324447" y="383279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distance between the prediction and the truth. Measuring it honestly is most of this course.</a:t>
            </a:r>
          </a:p>
        </p:txBody>
      </p:sp>
      <p:sp>
        <p:nvSpPr>
          <p:cNvPr id="32" name="TextBox 31"/>
          <p:cNvSpPr txBox="1"/>
          <p:nvPr/>
        </p:nvSpPr>
        <p:spPr>
          <a:xfrm>
            <a:off x="6324447" y="426110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Unseen data</a:t>
            </a:r>
          </a:p>
        </p:txBody>
      </p:sp>
      <p:sp>
        <p:nvSpPr>
          <p:cNvPr id="33" name="TextBox 32"/>
          <p:cNvSpPr txBox="1"/>
          <p:nvPr/>
        </p:nvSpPr>
        <p:spPr>
          <a:xfrm>
            <a:off x="6324447"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Cases the model was not shown while it was learning. The only fair test.</a:t>
            </a:r>
          </a:p>
        </p:txBody>
      </p:sp>
      <p:sp>
        <p:nvSpPr>
          <p:cNvPr id="34" name="TextBox 33"/>
          <p:cNvSpPr txBox="1"/>
          <p:nvPr/>
        </p:nvSpPr>
        <p:spPr>
          <a:xfrm>
            <a:off x="6324447" y="46954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leakage</a:t>
            </a:r>
          </a:p>
        </p:txBody>
      </p:sp>
      <p:sp>
        <p:nvSpPr>
          <p:cNvPr id="35" name="TextBox 34"/>
          <p:cNvSpPr txBox="1"/>
          <p:nvPr/>
        </p:nvSpPr>
        <p:spPr>
          <a:xfrm>
            <a:off x="6324447" y="4879787"/>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Accidentally giving the model information it would not have in real use — usually something only known after the outcome. Week 10.</a:t>
            </a:r>
          </a:p>
        </p:txBody>
      </p:sp>
      <p:sp>
        <p:nvSpPr>
          <p:cNvPr id="36" name="TextBox 35"/>
          <p:cNvSpPr txBox="1"/>
          <p:nvPr/>
        </p:nvSpPr>
        <p:spPr>
          <a:xfrm>
            <a:off x="6324447" y="530809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a:t>
            </a:r>
          </a:p>
        </p:txBody>
      </p:sp>
      <p:sp>
        <p:nvSpPr>
          <p:cNvPr id="37" name="TextBox 36"/>
          <p:cNvSpPr txBox="1"/>
          <p:nvPr/>
        </p:nvSpPr>
        <p:spPr>
          <a:xfrm>
            <a:off x="6324447" y="549243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rule learned from past cases still works on new ones.</a:t>
            </a:r>
          </a:p>
        </p:txBody>
      </p:sp>
      <p:sp>
        <p:nvSpPr>
          <p:cNvPr id="38" name="TextBox 37"/>
          <p:cNvSpPr txBox="1"/>
          <p:nvPr/>
        </p:nvSpPr>
        <p:spPr>
          <a:xfrm>
            <a:off x="6324447" y="574243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Association vs cause</a:t>
            </a:r>
          </a:p>
        </p:txBody>
      </p:sp>
      <p:sp>
        <p:nvSpPr>
          <p:cNvPr id="39" name="TextBox 38"/>
          <p:cNvSpPr txBox="1"/>
          <p:nvPr/>
        </p:nvSpPr>
        <p:spPr>
          <a:xfrm>
            <a:off x="6324447" y="592677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model learns which columns move together. It knows nothing about mechanism.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Eight questions to ask about any data problem</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1 · What exactly am I predicting?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Name the target column and its unit. If you cannot, you do not have a problem yet.</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2 · Is it a number or a category?</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would the answer look like written down? A quantity with a unit means regression; a word means classification.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3 · What do I know beforehand?</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List the features. Check every one: would I really have this before the outcome?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4 · Where does the data come from?</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Who measured it, how often, over what period, and is it actually kept anywhere?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5 · Would a rule or an equation do this better?</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a code of practice or a validated formula answers it, use that instead.</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6 · How will I know if I am wrong?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need cases the model has never seen. Decide now how you will hold some back.</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7 · What does being wrong cost?</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false alarm and a missed failure are not equally bad. That asymmetry decides which model you pick.</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8 · Do today's conditions still resemble the data?</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the process, material or plant has changed, the model may be quietly obsolete.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Features and target read off a table, regression told from classification, and one of the four limits applied to a case.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3_W0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have already done</a:t>
            </a:r>
          </a:p>
          <a:p>
            <a:pPr algn="l">
              <a:lnSpc>
                <a:spcPct val="110000"/>
              </a:lnSpc>
              <a:spcAft>
                <a:spcPts val="600"/>
              </a:spcAft>
            </a:pPr>
            <a:r>
              <a:rPr sz="3400" b="1" i="0">
                <a:solidFill>
                  <a:srgbClr val="FFFFFF"/>
                </a:solidFill>
                <a:latin typeface="Cambria"/>
              </a:rPr>
              <a:t>machine learning once.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answered a real engineering question today with a pencil and twelve rows of data, and you measured your own error. Everything else this semester is making that faster, more reliable, and honest about what it does not know.</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Colab, notebooks and version control — where the work actually happens. Bring a browser; you will install nothing.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