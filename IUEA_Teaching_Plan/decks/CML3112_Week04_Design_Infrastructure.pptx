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Override PartName="/ppt/slides/slide37.xml" ContentType="application/vnd.openxmlformats-officedocument.presentationml.slide+xml"/>
  <Override PartName="/ppt/notesSlides/notesSlide37.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Override PartName="/ppt/slides/slide40.xml" ContentType="application/vnd.openxmlformats-officedocument.presentationml.slide+xml"/>
  <Override PartName="/ppt/notesSlides/notesSlide40.xml" ContentType="application/vnd.openxmlformats-officedocument.presentationml.notesSlide+xml"/>
  <Override PartName="/ppt/slides/slide41.xml" ContentType="application/vnd.openxmlformats-officedocument.presentationml.slide+xml"/>
  <Override PartName="/ppt/notesSlides/notesSlide41.xml" ContentType="application/vnd.openxmlformats-officedocument.presentationml.notesSlide+xml"/>
  <Override PartName="/ppt/slides/slide42.xml" ContentType="application/vnd.openxmlformats-officedocument.presentationml.slide+xml"/>
  <Override PartName="/ppt/notesSlides/notesSlide42.xml" ContentType="application/vnd.openxmlformats-officedocument.presentationml.notesSlide+xml"/>
  <Override PartName="/ppt/slides/slide43.xml" ContentType="application/vnd.openxmlformats-officedocument.presentationml.slide+xml"/>
  <Override PartName="/ppt/notesSlides/notesSlide43.xml" ContentType="application/vnd.openxmlformats-officedocument.presentationml.notesSlide+xml"/>
  <Override PartName="/ppt/slides/slide44.xml" ContentType="application/vnd.openxmlformats-officedocument.presentationml.slide+xml"/>
  <Override PartName="/ppt/notesSlides/notesSlide44.xml" ContentType="application/vnd.openxmlformats-officedocument.presentationml.notesSlide+xml"/>
  <Override PartName="/ppt/slides/slide45.xml" ContentType="application/vnd.openxmlformats-officedocument.presentationml.slide+xml"/>
  <Override PartName="/ppt/notesSlides/notesSlide45.xml" ContentType="application/vnd.openxmlformats-officedocument.presentationml.notesSlide+xml"/>
  <Override PartName="/ppt/slides/slide46.xml" ContentType="application/vnd.openxmlformats-officedocument.presentationml.slide+xml"/>
  <Override PartName="/ppt/notesSlides/notesSlide46.xml" ContentType="application/vnd.openxmlformats-officedocument.presentationml.notesSlide+xml"/>
  <Override PartName="/ppt/slides/slide47.xml" ContentType="application/vnd.openxmlformats-officedocument.presentationml.slide+xml"/>
  <Override PartName="/ppt/notesSlides/notesSlide47.xml" ContentType="application/vnd.openxmlformats-officedocument.presentationml.notesSlide+xml"/>
  <Override PartName="/ppt/slides/slide48.xml" ContentType="application/vnd.openxmlformats-officedocument.presentationml.slide+xml"/>
  <Override PartName="/ppt/notesSlides/notesSlide48.xml" ContentType="application/vnd.openxmlformats-officedocument.presentationml.notesSlide+xml"/>
  <Override PartName="/ppt/slides/slide49.xml" ContentType="application/vnd.openxmlformats-officedocument.presentationml.slide+xml"/>
  <Override PartName="/ppt/notesSlides/notesSlide49.xml" ContentType="application/vnd.openxmlformats-officedocument.presentationml.notesSlide+xml"/>
  <Override PartName="/ppt/slides/slide50.xml" ContentType="application/vnd.openxmlformats-officedocument.presentationml.slide+xml"/>
  <Override PartName="/ppt/notesSlides/notesSlide50.xml" ContentType="application/vnd.openxmlformats-officedocument.presentationml.notesSlide+xml"/>
  <Override PartName="/ppt/slides/slide51.xml" ContentType="application/vnd.openxmlformats-officedocument.presentationml.slide+xml"/>
  <Override PartName="/ppt/notesSlides/notesSlide51.xml" ContentType="application/vnd.openxmlformats-officedocument.presentationml.notesSlide+xml"/>
  <Override PartName="/ppt/slides/slide52.xml" ContentType="application/vnd.openxmlformats-officedocument.presentationml.slide+xml"/>
  <Override PartName="/ppt/notesSlides/notesSlide52.xml" ContentType="application/vnd.openxmlformats-officedocument.presentationml.notesSlide+xml"/>
  <Override PartName="/ppt/slides/slide53.xml" ContentType="application/vnd.openxmlformats-officedocument.presentationml.slide+xml"/>
  <Override PartName="/ppt/notesSlides/notesSlide53.xml" ContentType="application/vnd.openxmlformats-officedocument.presentationml.notesSlide+xml"/>
  <Override PartName="/ppt/slides/slide54.xml" ContentType="application/vnd.openxmlformats-officedocument.presentationml.slide+xml"/>
  <Override PartName="/ppt/notesSlides/notesSlide54.xml" ContentType="application/vnd.openxmlformats-officedocument.presentationml.notesSlide+xml"/>
  <Override PartName="/ppt/slides/slide55.xml" ContentType="application/vnd.openxmlformats-officedocument.presentationml.slide+xml"/>
  <Override PartName="/ppt/notesSlides/notesSlide55.xml" ContentType="application/vnd.openxmlformats-officedocument.presentationml.notesSlide+xml"/>
  <Override PartName="/ppt/slides/slide56.xml" ContentType="application/vnd.openxmlformats-officedocument.presentationml.slide+xml"/>
  <Override PartName="/ppt/notesSlides/notesSlide56.xml" ContentType="application/vnd.openxmlformats-officedocument.presentationml.notesSlide+xml"/>
  <Override PartName="/ppt/slides/slide57.xml" ContentType="application/vnd.openxmlformats-officedocument.presentationml.slide+xml"/>
  <Override PartName="/ppt/notesSlides/notesSlide57.xml" ContentType="application/vnd.openxmlformats-officedocument.presentationml.notesSlide+xml"/>
  <Override PartName="/ppt/slides/slide58.xml" ContentType="application/vnd.openxmlformats-officedocument.presentationml.slide+xml"/>
  <Override PartName="/ppt/notesSlides/notesSlide58.xml" ContentType="application/vnd.openxmlformats-officedocument.presentationml.notesSlide+xml"/>
  <Override PartName="/ppt/slides/slide59.xml" ContentType="application/vnd.openxmlformats-officedocument.presentationml.slide+xml"/>
  <Override PartName="/ppt/notesSlides/notesSlide59.xml" ContentType="application/vnd.openxmlformats-officedocument.presentationml.notesSlide+xml"/>
  <Override PartName="/ppt/slides/slide60.xml" ContentType="application/vnd.openxmlformats-officedocument.presentationml.slide+xml"/>
  <Override PartName="/ppt/notesSlides/notesSlide60.xml" ContentType="application/vnd.openxmlformats-officedocument.presentationml.notesSlide+xml"/>
  <Override PartName="/ppt/slides/slide61.xml" ContentType="application/vnd.openxmlformats-officedocument.presentationml.slide+xml"/>
  <Override PartName="/ppt/notesSlides/notesSlide61.xml" ContentType="application/vnd.openxmlformats-officedocument.presentationml.notesSlide+xml"/>
  <Override PartName="/ppt/slides/slide62.xml" ContentType="application/vnd.openxmlformats-officedocument.presentationml.slide+xml"/>
  <Override PartName="/ppt/notesSlides/notesSlide62.xml" ContentType="application/vnd.openxmlformats-officedocument.presentationml.notesSlide+xml"/>
  <Override PartName="/ppt/slides/slide63.xml" ContentType="application/vnd.openxmlformats-officedocument.presentationml.slide+xml"/>
  <Override PartName="/ppt/notesSlides/notesSlide63.xml" ContentType="application/vnd.openxmlformats-officedocument.presentationml.notesSlide+xml"/>
  <Override PartName="/ppt/slides/slide64.xml" ContentType="application/vnd.openxmlformats-officedocument.presentationml.slide+xml"/>
  <Override PartName="/ppt/notesSlides/notesSlide64.xml" ContentType="application/vnd.openxmlformats-officedocument.presentationml.notesSlide+xml"/>
  <Override PartName="/ppt/slides/slide65.xml" ContentType="application/vnd.openxmlformats-officedocument.presentationml.slide+xml"/>
  <Override PartName="/ppt/notesSlides/notesSlide65.xml" ContentType="application/vnd.openxmlformats-officedocument.presentationml.notesSlide+xml"/>
  <Override PartName="/ppt/slides/slide66.xml" ContentType="application/vnd.openxmlformats-officedocument.presentationml.slide+xml"/>
  <Override PartName="/ppt/notesSlides/notesSlide66.xml" ContentType="application/vnd.openxmlformats-officedocument.presentationml.notesSlide+xml"/>
  <Override PartName="/ppt/slides/slide67.xml" ContentType="application/vnd.openxmlformats-officedocument.presentationml.slide+xml"/>
  <Override PartName="/ppt/notesSlides/notesSlide67.xml" ContentType="application/vnd.openxmlformats-officedocument.presentationml.notesSlide+xml"/>
  <Override PartName="/ppt/slides/slide68.xml" ContentType="application/vnd.openxmlformats-officedocument.presentationml.slide+xml"/>
  <Override PartName="/ppt/notesSlides/notesSlide68.xml" ContentType="application/vnd.openxmlformats-officedocument.presentationml.notesSlide+xml"/>
  <Override PartName="/ppt/slides/slide69.xml" ContentType="application/vnd.openxmlformats-officedocument.presentationml.slide+xml"/>
  <Override PartName="/ppt/notesSlides/notesSlide69.xml" ContentType="application/vnd.openxmlformats-officedocument.presentationml.notesSlide+xml"/>
  <Override PartName="/ppt/slides/slide70.xml" ContentType="application/vnd.openxmlformats-officedocument.presentationml.slide+xml"/>
  <Override PartName="/ppt/notesSlides/notesSlide70.xml" ContentType="application/vnd.openxmlformats-officedocument.presentationml.notesSlide+xml"/>
  <Override PartName="/ppt/slides/slide71.xml" ContentType="application/vnd.openxmlformats-officedocument.presentationml.slide+xml"/>
  <Override PartName="/ppt/notesSlides/notesSlide71.xml" ContentType="application/vnd.openxmlformats-officedocument.presentationml.notesSlide+xml"/>
  <Override PartName="/ppt/slides/slide72.xml" ContentType="application/vnd.openxmlformats-officedocument.presentationml.slide+xml"/>
  <Override PartName="/ppt/notesSlides/notesSlide72.xml" ContentType="application/vnd.openxmlformats-officedocument.presentationml.notesSlide+xml"/>
  <Override PartName="/ppt/slides/slide73.xml" ContentType="application/vnd.openxmlformats-officedocument.presentationml.slide+xml"/>
  <Override PartName="/ppt/notesSlides/notesSlide73.xml" ContentType="application/vnd.openxmlformats-officedocument.presentationml.notesSlide+xml"/>
  <Override PartName="/ppt/slides/slide74.xml" ContentType="application/vnd.openxmlformats-officedocument.presentationml.slide+xml"/>
  <Override PartName="/ppt/notesSlides/notesSlide74.xml" ContentType="application/vnd.openxmlformats-officedocument.presentationml.notesSlide+xml"/>
  <Override PartName="/ppt/slides/slide75.xml" ContentType="application/vnd.openxmlformats-officedocument.presentationml.slide+xml"/>
  <Override PartName="/ppt/notesSlides/notesSlide75.xml" ContentType="application/vnd.openxmlformats-officedocument.presentationml.notesSlide+xml"/>
  <Override PartName="/ppt/slides/slide76.xml" ContentType="application/vnd.openxmlformats-officedocument.presentationml.slide+xml"/>
  <Override PartName="/ppt/notesSlides/notesSlide76.xml" ContentType="application/vnd.openxmlformats-officedocument.presentationml.notesSlide+xml"/>
  <Override PartName="/ppt/slides/slide77.xml" ContentType="application/vnd.openxmlformats-officedocument.presentationml.slide+xml"/>
  <Override PartName="/ppt/notesSlides/notesSlide77.xml" ContentType="application/vnd.openxmlformats-officedocument.presentationml.notesSlide+xml"/>
  <Override PartName="/ppt/slides/slide78.xml" ContentType="application/vnd.openxmlformats-officedocument.presentationml.slide+xml"/>
  <Override PartName="/ppt/notesSlides/notesSlide78.xml" ContentType="application/vnd.openxmlformats-officedocument.presentationml.notesSlide+xml"/>
  <Override PartName="/ppt/slides/slide79.xml" ContentType="application/vnd.openxmlformats-officedocument.presentationml.slide+xml"/>
  <Override PartName="/ppt/notesSlides/notesSlide79.xml" ContentType="application/vnd.openxmlformats-officedocument.presentationml.notesSlide+xml"/>
  <Override PartName="/ppt/slides/slide80.xml" ContentType="application/vnd.openxmlformats-officedocument.presentationml.slide+xml"/>
  <Override PartName="/ppt/notesSlides/notesSlide80.xml" ContentType="application/vnd.openxmlformats-officedocument.presentationml.notesSlide+xml"/>
  <Override PartName="/ppt/slides/slide81.xml" ContentType="application/vnd.openxmlformats-officedocument.presentationml.slide+xml"/>
  <Override PartName="/ppt/notesSlides/notesSlide81.xml" ContentType="application/vnd.openxmlformats-officedocument.presentationml.notesSlide+xml"/>
  <Override PartName="/ppt/slides/slide82.xml" ContentType="application/vnd.openxmlformats-officedocument.presentationml.slide+xml"/>
  <Override PartName="/ppt/notesSlides/notesSlide82.xml" ContentType="application/vnd.openxmlformats-officedocument.presentationml.notesSlide+xml"/>
  <Override PartName="/ppt/slides/slide83.xml" ContentType="application/vnd.openxmlformats-officedocument.presentationml.slide+xml"/>
  <Override PartName="/ppt/notesSlides/notesSlide83.xml" ContentType="application/vnd.openxmlformats-officedocument.presentationml.notesSlide+xml"/>
  <Override PartName="/ppt/slides/slide84.xml" ContentType="application/vnd.openxmlformats-officedocument.presentationml.slide+xml"/>
  <Override PartName="/ppt/notesSlides/notesSlide84.xml" ContentType="application/vnd.openxmlformats-officedocument.presentationml.notesSlide+xml"/>
  <Override PartName="/ppt/slides/slide85.xml" ContentType="application/vnd.openxmlformats-officedocument.presentationml.slide+xml"/>
  <Override PartName="/ppt/notesSlides/notesSlide85.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c5386cbfc5a04ceb" /><Relationship Type="http://schemas.openxmlformats.org/officeDocument/2006/relationships/extended-properties" Target="/docProps/app.xml" Id="R9ed28b6d0ad64f22" /><Relationship Type="http://schemas.openxmlformats.org/officeDocument/2006/relationships/officeDocument" Target="/ppt/presentation.xml" Id="R4f71e5e85efe4355" /></Relationships>
</file>

<file path=ppt/presentation.xml><?xml version="1.0" encoding="utf-8"?>
<p:presentation xmlns:p="http://schemas.openxmlformats.org/presentationml/2006/main">
  <p:sldMasterIdLst>
    <p:sldMasterId xmlns:r="http://schemas.openxmlformats.org/officeDocument/2006/relationships" id="2147483648" r:id="Rc933f4a8ec0f4297"/>
  </p:sldMasterIdLst>
  <p:notesMasterIdLst>
    <p:notesMasterId xmlns:r="http://schemas.openxmlformats.org/officeDocument/2006/relationships" r:id="Rdc390bc4c9cc45c2"/>
  </p:notesMasterIdLst>
  <p:sldIdLst>
    <p:sldId xmlns:r="http://schemas.openxmlformats.org/officeDocument/2006/relationships" id="256" r:id="Rfbe99b0afe5b4677"/>
    <p:sldId xmlns:r="http://schemas.openxmlformats.org/officeDocument/2006/relationships" id="257" r:id="R231fb7b790c0495d"/>
    <p:sldId xmlns:r="http://schemas.openxmlformats.org/officeDocument/2006/relationships" id="258" r:id="Rbdc614fd727948fd"/>
    <p:sldId xmlns:r="http://schemas.openxmlformats.org/officeDocument/2006/relationships" id="259" r:id="Rbc2a3d8487764201"/>
    <p:sldId xmlns:r="http://schemas.openxmlformats.org/officeDocument/2006/relationships" id="260" r:id="Rd008e2ffd9434d51"/>
    <p:sldId xmlns:r="http://schemas.openxmlformats.org/officeDocument/2006/relationships" id="261" r:id="R4b132ec5765a4e55"/>
    <p:sldId xmlns:r="http://schemas.openxmlformats.org/officeDocument/2006/relationships" id="262" r:id="R16149511595643ab"/>
    <p:sldId xmlns:r="http://schemas.openxmlformats.org/officeDocument/2006/relationships" id="263" r:id="R20f8a2ec02fa48e9"/>
    <p:sldId xmlns:r="http://schemas.openxmlformats.org/officeDocument/2006/relationships" id="264" r:id="R4453bf6f9443424b"/>
    <p:sldId xmlns:r="http://schemas.openxmlformats.org/officeDocument/2006/relationships" id="265" r:id="R4ec06307b0fe4e6a"/>
    <p:sldId xmlns:r="http://schemas.openxmlformats.org/officeDocument/2006/relationships" id="266" r:id="Re8db8dda5c844232"/>
    <p:sldId xmlns:r="http://schemas.openxmlformats.org/officeDocument/2006/relationships" id="267" r:id="R4014f41b1aef4b33"/>
    <p:sldId xmlns:r="http://schemas.openxmlformats.org/officeDocument/2006/relationships" id="268" r:id="R0bb49147073d44a3"/>
    <p:sldId xmlns:r="http://schemas.openxmlformats.org/officeDocument/2006/relationships" id="269" r:id="Re5e01aec02914bce"/>
    <p:sldId xmlns:r="http://schemas.openxmlformats.org/officeDocument/2006/relationships" id="270" r:id="R7778238bb5ea4cc5"/>
    <p:sldId xmlns:r="http://schemas.openxmlformats.org/officeDocument/2006/relationships" id="271" r:id="R17a4cb4c7c054cec"/>
    <p:sldId xmlns:r="http://schemas.openxmlformats.org/officeDocument/2006/relationships" id="272" r:id="R70c453da57bf4794"/>
    <p:sldId xmlns:r="http://schemas.openxmlformats.org/officeDocument/2006/relationships" id="273" r:id="R5010aa07fa5740c1"/>
    <p:sldId xmlns:r="http://schemas.openxmlformats.org/officeDocument/2006/relationships" id="274" r:id="Ra33e475a210d402e"/>
    <p:sldId xmlns:r="http://schemas.openxmlformats.org/officeDocument/2006/relationships" id="275" r:id="Ra508374d81484ffd"/>
    <p:sldId xmlns:r="http://schemas.openxmlformats.org/officeDocument/2006/relationships" id="276" r:id="Ra3d423ae17354e3a"/>
    <p:sldId xmlns:r="http://schemas.openxmlformats.org/officeDocument/2006/relationships" id="277" r:id="R2df28188b7944a05"/>
    <p:sldId xmlns:r="http://schemas.openxmlformats.org/officeDocument/2006/relationships" id="278" r:id="Red1c324259614b7b"/>
    <p:sldId xmlns:r="http://schemas.openxmlformats.org/officeDocument/2006/relationships" id="279" r:id="R86323c29c7454aa3"/>
    <p:sldId xmlns:r="http://schemas.openxmlformats.org/officeDocument/2006/relationships" id="280" r:id="R01174cdf6893427c"/>
    <p:sldId xmlns:r="http://schemas.openxmlformats.org/officeDocument/2006/relationships" id="281" r:id="Rf73760c9f9df498f"/>
    <p:sldId xmlns:r="http://schemas.openxmlformats.org/officeDocument/2006/relationships" id="282" r:id="R5643cc25686346f8"/>
    <p:sldId xmlns:r="http://schemas.openxmlformats.org/officeDocument/2006/relationships" id="283" r:id="Rdc81c03cf37e4578"/>
    <p:sldId xmlns:r="http://schemas.openxmlformats.org/officeDocument/2006/relationships" id="284" r:id="Rc007cd955e964a77"/>
    <p:sldId xmlns:r="http://schemas.openxmlformats.org/officeDocument/2006/relationships" id="285" r:id="R3a3f26d5414e4b4e"/>
    <p:sldId xmlns:r="http://schemas.openxmlformats.org/officeDocument/2006/relationships" id="286" r:id="R3cf97201cafd44d6"/>
    <p:sldId xmlns:r="http://schemas.openxmlformats.org/officeDocument/2006/relationships" id="287" r:id="R5e70aeab475840af"/>
    <p:sldId xmlns:r="http://schemas.openxmlformats.org/officeDocument/2006/relationships" id="288" r:id="R58e1f229213d42f3"/>
    <p:sldId xmlns:r="http://schemas.openxmlformats.org/officeDocument/2006/relationships" id="289" r:id="R31b3debd33b040d1"/>
    <p:sldId xmlns:r="http://schemas.openxmlformats.org/officeDocument/2006/relationships" id="290" r:id="Ra69c3cf1173041a4"/>
    <p:sldId xmlns:r="http://schemas.openxmlformats.org/officeDocument/2006/relationships" id="291" r:id="R22d9dc52243c44e2"/>
    <p:sldId xmlns:r="http://schemas.openxmlformats.org/officeDocument/2006/relationships" id="292" r:id="R70e5a4d989014b09"/>
    <p:sldId xmlns:r="http://schemas.openxmlformats.org/officeDocument/2006/relationships" id="293" r:id="R6500a79056c548b4"/>
    <p:sldId xmlns:r="http://schemas.openxmlformats.org/officeDocument/2006/relationships" id="294" r:id="Ra5b80c785322431d"/>
    <p:sldId xmlns:r="http://schemas.openxmlformats.org/officeDocument/2006/relationships" id="295" r:id="R4fe710065b11451c"/>
    <p:sldId xmlns:r="http://schemas.openxmlformats.org/officeDocument/2006/relationships" id="296" r:id="R2f73e1bbdced4654"/>
    <p:sldId xmlns:r="http://schemas.openxmlformats.org/officeDocument/2006/relationships" id="297" r:id="Recad0358f9b74f5f"/>
    <p:sldId xmlns:r="http://schemas.openxmlformats.org/officeDocument/2006/relationships" id="298" r:id="R6cae29c071184bdd"/>
    <p:sldId xmlns:r="http://schemas.openxmlformats.org/officeDocument/2006/relationships" id="299" r:id="R3463cb4bca92492c"/>
    <p:sldId xmlns:r="http://schemas.openxmlformats.org/officeDocument/2006/relationships" id="300" r:id="R301f541dd1564383"/>
    <p:sldId xmlns:r="http://schemas.openxmlformats.org/officeDocument/2006/relationships" id="301" r:id="R3302ed96c1504428"/>
    <p:sldId xmlns:r="http://schemas.openxmlformats.org/officeDocument/2006/relationships" id="302" r:id="R383bde8d6a164b38"/>
    <p:sldId xmlns:r="http://schemas.openxmlformats.org/officeDocument/2006/relationships" id="303" r:id="R8a5c8e49a2714560"/>
    <p:sldId xmlns:r="http://schemas.openxmlformats.org/officeDocument/2006/relationships" id="304" r:id="R3a849dfb1abc4a9a"/>
    <p:sldId xmlns:r="http://schemas.openxmlformats.org/officeDocument/2006/relationships" id="305" r:id="R2b54d7f58b854c7b"/>
    <p:sldId xmlns:r="http://schemas.openxmlformats.org/officeDocument/2006/relationships" id="306" r:id="R6308d1323f454df4"/>
    <p:sldId xmlns:r="http://schemas.openxmlformats.org/officeDocument/2006/relationships" id="307" r:id="R1ae9b8154af14af5"/>
    <p:sldId xmlns:r="http://schemas.openxmlformats.org/officeDocument/2006/relationships" id="308" r:id="R5fbdad923ddc44d1"/>
    <p:sldId xmlns:r="http://schemas.openxmlformats.org/officeDocument/2006/relationships" id="309" r:id="Re3c9c18252a9413f"/>
    <p:sldId xmlns:r="http://schemas.openxmlformats.org/officeDocument/2006/relationships" id="310" r:id="Rb56215db096a4820"/>
    <p:sldId xmlns:r="http://schemas.openxmlformats.org/officeDocument/2006/relationships" id="311" r:id="Rd9aea049209a4f07"/>
    <p:sldId xmlns:r="http://schemas.openxmlformats.org/officeDocument/2006/relationships" id="312" r:id="R6cfc74e1b8bc4184"/>
    <p:sldId xmlns:r="http://schemas.openxmlformats.org/officeDocument/2006/relationships" id="313" r:id="Rf3c69ed5cd934b3e"/>
    <p:sldId xmlns:r="http://schemas.openxmlformats.org/officeDocument/2006/relationships" id="314" r:id="Rf621d8c64c4f4cc8"/>
    <p:sldId xmlns:r="http://schemas.openxmlformats.org/officeDocument/2006/relationships" id="315" r:id="Rcea426043d634f10"/>
    <p:sldId xmlns:r="http://schemas.openxmlformats.org/officeDocument/2006/relationships" id="316" r:id="Rb7659c918734407c"/>
    <p:sldId xmlns:r="http://schemas.openxmlformats.org/officeDocument/2006/relationships" id="317" r:id="R612b8d9ece8a41e4"/>
    <p:sldId xmlns:r="http://schemas.openxmlformats.org/officeDocument/2006/relationships" id="318" r:id="R64fbcd7b8507439b"/>
    <p:sldId xmlns:r="http://schemas.openxmlformats.org/officeDocument/2006/relationships" id="319" r:id="R894ddd9da19747e2"/>
    <p:sldId xmlns:r="http://schemas.openxmlformats.org/officeDocument/2006/relationships" id="320" r:id="Rfa25f7d556184847"/>
    <p:sldId xmlns:r="http://schemas.openxmlformats.org/officeDocument/2006/relationships" id="321" r:id="Rd2e0f149b5094bea"/>
    <p:sldId xmlns:r="http://schemas.openxmlformats.org/officeDocument/2006/relationships" id="322" r:id="Reac6fe256a91458f"/>
    <p:sldId xmlns:r="http://schemas.openxmlformats.org/officeDocument/2006/relationships" id="323" r:id="R57163a76b39f4985"/>
    <p:sldId xmlns:r="http://schemas.openxmlformats.org/officeDocument/2006/relationships" id="324" r:id="R02eaf7bd4b0041b5"/>
    <p:sldId xmlns:r="http://schemas.openxmlformats.org/officeDocument/2006/relationships" id="325" r:id="R71dc6e5c669049a4"/>
    <p:sldId xmlns:r="http://schemas.openxmlformats.org/officeDocument/2006/relationships" id="326" r:id="R696fafe2489044ae"/>
    <p:sldId xmlns:r="http://schemas.openxmlformats.org/officeDocument/2006/relationships" id="327" r:id="R9337573b42014830"/>
    <p:sldId xmlns:r="http://schemas.openxmlformats.org/officeDocument/2006/relationships" id="328" r:id="R4c348b3f50e04b99"/>
    <p:sldId xmlns:r="http://schemas.openxmlformats.org/officeDocument/2006/relationships" id="329" r:id="R72abb7c74e1d4f63"/>
    <p:sldId xmlns:r="http://schemas.openxmlformats.org/officeDocument/2006/relationships" id="330" r:id="R41c4946f0be24669"/>
    <p:sldId xmlns:r="http://schemas.openxmlformats.org/officeDocument/2006/relationships" id="331" r:id="Rbd5f09d000b7425e"/>
    <p:sldId xmlns:r="http://schemas.openxmlformats.org/officeDocument/2006/relationships" id="332" r:id="R8e2bac0643864017"/>
    <p:sldId xmlns:r="http://schemas.openxmlformats.org/officeDocument/2006/relationships" id="333" r:id="Ra12a243ff5254690"/>
    <p:sldId xmlns:r="http://schemas.openxmlformats.org/officeDocument/2006/relationships" id="334" r:id="R3c4b0733e1f448c1"/>
    <p:sldId xmlns:r="http://schemas.openxmlformats.org/officeDocument/2006/relationships" id="335" r:id="Rc83e6e39d2bb49ac"/>
    <p:sldId xmlns:r="http://schemas.openxmlformats.org/officeDocument/2006/relationships" id="336" r:id="R93891153b7a24620"/>
    <p:sldId xmlns:r="http://schemas.openxmlformats.org/officeDocument/2006/relationships" id="337" r:id="Rd39fb890e51e4853"/>
    <p:sldId xmlns:r="http://schemas.openxmlformats.org/officeDocument/2006/relationships" id="338" r:id="R8a4d54267dd24f7a"/>
    <p:sldId xmlns:r="http://schemas.openxmlformats.org/officeDocument/2006/relationships" id="339" r:id="R2dfec4a3ccae4efb"/>
    <p:sldId xmlns:r="http://schemas.openxmlformats.org/officeDocument/2006/relationships" id="340" r:id="Rcad416097a874737"/>
  </p:sldIdLst>
  <p:sldSz cx="12191695"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9aecff90b94044d2" /><Relationship Type="http://schemas.openxmlformats.org/officeDocument/2006/relationships/slideMaster" Target="/ppt/slideMasters/slideMaster1.xml" Id="Rc933f4a8ec0f4297" /><Relationship Type="http://schemas.openxmlformats.org/officeDocument/2006/relationships/notesMaster" Target="/ppt/notesMasters/notesMaster1.xml" Id="Rdc390bc4c9cc45c2" /><Relationship Type="http://schemas.openxmlformats.org/officeDocument/2006/relationships/presProps" Target="/ppt/presProps.xml" Id="Rc57eee66fc7e4102" /><Relationship Type="http://schemas.openxmlformats.org/officeDocument/2006/relationships/tableStyles" Target="/ppt/tableStyles.xml" Id="Radc1f8b0fcec4fd3" /><Relationship Type="http://schemas.openxmlformats.org/officeDocument/2006/relationships/slide" Target="/ppt/slides/slide1.xml" Id="Rfbe99b0afe5b4677" /><Relationship Type="http://schemas.openxmlformats.org/officeDocument/2006/relationships/slide" Target="/ppt/slides/slide2.xml" Id="R231fb7b790c0495d" /><Relationship Type="http://schemas.openxmlformats.org/officeDocument/2006/relationships/slide" Target="/ppt/slides/slide3.xml" Id="Rbdc614fd727948fd" /><Relationship Type="http://schemas.openxmlformats.org/officeDocument/2006/relationships/slide" Target="/ppt/slides/slide4.xml" Id="Rbc2a3d8487764201" /><Relationship Type="http://schemas.openxmlformats.org/officeDocument/2006/relationships/slide" Target="/ppt/slides/slide5.xml" Id="Rd008e2ffd9434d51" /><Relationship Type="http://schemas.openxmlformats.org/officeDocument/2006/relationships/slide" Target="/ppt/slides/slide6.xml" Id="R4b132ec5765a4e55" /><Relationship Type="http://schemas.openxmlformats.org/officeDocument/2006/relationships/slide" Target="/ppt/slides/slide7.xml" Id="R16149511595643ab" /><Relationship Type="http://schemas.openxmlformats.org/officeDocument/2006/relationships/slide" Target="/ppt/slides/slide8.xml" Id="R20f8a2ec02fa48e9" /><Relationship Type="http://schemas.openxmlformats.org/officeDocument/2006/relationships/slide" Target="/ppt/slides/slide9.xml" Id="R4453bf6f9443424b" /><Relationship Type="http://schemas.openxmlformats.org/officeDocument/2006/relationships/slide" Target="/ppt/slides/slide10.xml" Id="R4ec06307b0fe4e6a" /><Relationship Type="http://schemas.openxmlformats.org/officeDocument/2006/relationships/slide" Target="/ppt/slides/slide11.xml" Id="Re8db8dda5c844232" /><Relationship Type="http://schemas.openxmlformats.org/officeDocument/2006/relationships/slide" Target="/ppt/slides/slide12.xml" Id="R4014f41b1aef4b33" /><Relationship Type="http://schemas.openxmlformats.org/officeDocument/2006/relationships/slide" Target="/ppt/slides/slide13.xml" Id="R0bb49147073d44a3" /><Relationship Type="http://schemas.openxmlformats.org/officeDocument/2006/relationships/slide" Target="/ppt/slides/slide14.xml" Id="Re5e01aec02914bce" /><Relationship Type="http://schemas.openxmlformats.org/officeDocument/2006/relationships/slide" Target="/ppt/slides/slide15.xml" Id="R7778238bb5ea4cc5" /><Relationship Type="http://schemas.openxmlformats.org/officeDocument/2006/relationships/slide" Target="/ppt/slides/slide16.xml" Id="R17a4cb4c7c054cec" /><Relationship Type="http://schemas.openxmlformats.org/officeDocument/2006/relationships/slide" Target="/ppt/slides/slide17.xml" Id="R70c453da57bf4794" /><Relationship Type="http://schemas.openxmlformats.org/officeDocument/2006/relationships/slide" Target="/ppt/slides/slide18.xml" Id="R5010aa07fa5740c1" /><Relationship Type="http://schemas.openxmlformats.org/officeDocument/2006/relationships/slide" Target="/ppt/slides/slide19.xml" Id="Ra33e475a210d402e" /><Relationship Type="http://schemas.openxmlformats.org/officeDocument/2006/relationships/slide" Target="/ppt/slides/slide20.xml" Id="Ra508374d81484ffd" /><Relationship Type="http://schemas.openxmlformats.org/officeDocument/2006/relationships/slide" Target="/ppt/slides/slide21.xml" Id="Ra3d423ae17354e3a" /><Relationship Type="http://schemas.openxmlformats.org/officeDocument/2006/relationships/slide" Target="/ppt/slides/slide22.xml" Id="R2df28188b7944a05" /><Relationship Type="http://schemas.openxmlformats.org/officeDocument/2006/relationships/slide" Target="/ppt/slides/slide23.xml" Id="Red1c324259614b7b" /><Relationship Type="http://schemas.openxmlformats.org/officeDocument/2006/relationships/slide" Target="/ppt/slides/slide24.xml" Id="R86323c29c7454aa3" /><Relationship Type="http://schemas.openxmlformats.org/officeDocument/2006/relationships/slide" Target="/ppt/slides/slide25.xml" Id="R01174cdf6893427c" /><Relationship Type="http://schemas.openxmlformats.org/officeDocument/2006/relationships/slide" Target="/ppt/slides/slide26.xml" Id="Rf73760c9f9df498f" /><Relationship Type="http://schemas.openxmlformats.org/officeDocument/2006/relationships/slide" Target="/ppt/slides/slide27.xml" Id="R5643cc25686346f8" /><Relationship Type="http://schemas.openxmlformats.org/officeDocument/2006/relationships/slide" Target="/ppt/slides/slide28.xml" Id="Rdc81c03cf37e4578" /><Relationship Type="http://schemas.openxmlformats.org/officeDocument/2006/relationships/slide" Target="/ppt/slides/slide29.xml" Id="Rc007cd955e964a77" /><Relationship Type="http://schemas.openxmlformats.org/officeDocument/2006/relationships/slide" Target="/ppt/slides/slide30.xml" Id="R3a3f26d5414e4b4e" /><Relationship Type="http://schemas.openxmlformats.org/officeDocument/2006/relationships/slide" Target="/ppt/slides/slide31.xml" Id="R3cf97201cafd44d6" /><Relationship Type="http://schemas.openxmlformats.org/officeDocument/2006/relationships/slide" Target="/ppt/slides/slide32.xml" Id="R5e70aeab475840af" /><Relationship Type="http://schemas.openxmlformats.org/officeDocument/2006/relationships/slide" Target="/ppt/slides/slide33.xml" Id="R58e1f229213d42f3" /><Relationship Type="http://schemas.openxmlformats.org/officeDocument/2006/relationships/slide" Target="/ppt/slides/slide34.xml" Id="R31b3debd33b040d1" /><Relationship Type="http://schemas.openxmlformats.org/officeDocument/2006/relationships/slide" Target="/ppt/slides/slide35.xml" Id="Ra69c3cf1173041a4" /><Relationship Type="http://schemas.openxmlformats.org/officeDocument/2006/relationships/slide" Target="/ppt/slides/slide36.xml" Id="R22d9dc52243c44e2" /><Relationship Type="http://schemas.openxmlformats.org/officeDocument/2006/relationships/slide" Target="/ppt/slides/slide37.xml" Id="R70e5a4d989014b09" /><Relationship Type="http://schemas.openxmlformats.org/officeDocument/2006/relationships/slide" Target="/ppt/slides/slide38.xml" Id="R6500a79056c548b4" /><Relationship Type="http://schemas.openxmlformats.org/officeDocument/2006/relationships/slide" Target="/ppt/slides/slide39.xml" Id="Ra5b80c785322431d" /><Relationship Type="http://schemas.openxmlformats.org/officeDocument/2006/relationships/slide" Target="/ppt/slides/slide40.xml" Id="R4fe710065b11451c" /><Relationship Type="http://schemas.openxmlformats.org/officeDocument/2006/relationships/slide" Target="/ppt/slides/slide41.xml" Id="R2f73e1bbdced4654" /><Relationship Type="http://schemas.openxmlformats.org/officeDocument/2006/relationships/slide" Target="/ppt/slides/slide42.xml" Id="Recad0358f9b74f5f" /><Relationship Type="http://schemas.openxmlformats.org/officeDocument/2006/relationships/slide" Target="/ppt/slides/slide43.xml" Id="R6cae29c071184bdd" /><Relationship Type="http://schemas.openxmlformats.org/officeDocument/2006/relationships/slide" Target="/ppt/slides/slide44.xml" Id="R3463cb4bca92492c" /><Relationship Type="http://schemas.openxmlformats.org/officeDocument/2006/relationships/slide" Target="/ppt/slides/slide45.xml" Id="R301f541dd1564383" /><Relationship Type="http://schemas.openxmlformats.org/officeDocument/2006/relationships/slide" Target="/ppt/slides/slide46.xml" Id="R3302ed96c1504428" /><Relationship Type="http://schemas.openxmlformats.org/officeDocument/2006/relationships/slide" Target="/ppt/slides/slide47.xml" Id="R383bde8d6a164b38" /><Relationship Type="http://schemas.openxmlformats.org/officeDocument/2006/relationships/slide" Target="/ppt/slides/slide48.xml" Id="R8a5c8e49a2714560" /><Relationship Type="http://schemas.openxmlformats.org/officeDocument/2006/relationships/slide" Target="/ppt/slides/slide49.xml" Id="R3a849dfb1abc4a9a" /><Relationship Type="http://schemas.openxmlformats.org/officeDocument/2006/relationships/slide" Target="/ppt/slides/slide50.xml" Id="R2b54d7f58b854c7b" /><Relationship Type="http://schemas.openxmlformats.org/officeDocument/2006/relationships/slide" Target="/ppt/slides/slide51.xml" Id="R6308d1323f454df4" /><Relationship Type="http://schemas.openxmlformats.org/officeDocument/2006/relationships/slide" Target="/ppt/slides/slide52.xml" Id="R1ae9b8154af14af5" /><Relationship Type="http://schemas.openxmlformats.org/officeDocument/2006/relationships/slide" Target="/ppt/slides/slide53.xml" Id="R5fbdad923ddc44d1" /><Relationship Type="http://schemas.openxmlformats.org/officeDocument/2006/relationships/slide" Target="/ppt/slides/slide54.xml" Id="Re3c9c18252a9413f" /><Relationship Type="http://schemas.openxmlformats.org/officeDocument/2006/relationships/slide" Target="/ppt/slides/slide55.xml" Id="Rb56215db096a4820" /><Relationship Type="http://schemas.openxmlformats.org/officeDocument/2006/relationships/slide" Target="/ppt/slides/slide56.xml" Id="Rd9aea049209a4f07" /><Relationship Type="http://schemas.openxmlformats.org/officeDocument/2006/relationships/slide" Target="/ppt/slides/slide57.xml" Id="R6cfc74e1b8bc4184" /><Relationship Type="http://schemas.openxmlformats.org/officeDocument/2006/relationships/slide" Target="/ppt/slides/slide58.xml" Id="Rf3c69ed5cd934b3e" /><Relationship Type="http://schemas.openxmlformats.org/officeDocument/2006/relationships/slide" Target="/ppt/slides/slide59.xml" Id="Rf621d8c64c4f4cc8" /><Relationship Type="http://schemas.openxmlformats.org/officeDocument/2006/relationships/slide" Target="/ppt/slides/slide60.xml" Id="Rcea426043d634f10" /><Relationship Type="http://schemas.openxmlformats.org/officeDocument/2006/relationships/slide" Target="/ppt/slides/slide61.xml" Id="Rb7659c918734407c" /><Relationship Type="http://schemas.openxmlformats.org/officeDocument/2006/relationships/slide" Target="/ppt/slides/slide62.xml" Id="R612b8d9ece8a41e4" /><Relationship Type="http://schemas.openxmlformats.org/officeDocument/2006/relationships/slide" Target="/ppt/slides/slide63.xml" Id="R64fbcd7b8507439b" /><Relationship Type="http://schemas.openxmlformats.org/officeDocument/2006/relationships/slide" Target="/ppt/slides/slide64.xml" Id="R894ddd9da19747e2" /><Relationship Type="http://schemas.openxmlformats.org/officeDocument/2006/relationships/slide" Target="/ppt/slides/slide65.xml" Id="Rfa25f7d556184847" /><Relationship Type="http://schemas.openxmlformats.org/officeDocument/2006/relationships/slide" Target="/ppt/slides/slide66.xml" Id="Rd2e0f149b5094bea" /><Relationship Type="http://schemas.openxmlformats.org/officeDocument/2006/relationships/slide" Target="/ppt/slides/slide67.xml" Id="Reac6fe256a91458f" /><Relationship Type="http://schemas.openxmlformats.org/officeDocument/2006/relationships/slide" Target="/ppt/slides/slide68.xml" Id="R57163a76b39f4985" /><Relationship Type="http://schemas.openxmlformats.org/officeDocument/2006/relationships/slide" Target="/ppt/slides/slide69.xml" Id="R02eaf7bd4b0041b5" /><Relationship Type="http://schemas.openxmlformats.org/officeDocument/2006/relationships/slide" Target="/ppt/slides/slide70.xml" Id="R71dc6e5c669049a4" /><Relationship Type="http://schemas.openxmlformats.org/officeDocument/2006/relationships/slide" Target="/ppt/slides/slide71.xml" Id="R696fafe2489044ae" /><Relationship Type="http://schemas.openxmlformats.org/officeDocument/2006/relationships/slide" Target="/ppt/slides/slide72.xml" Id="R9337573b42014830" /><Relationship Type="http://schemas.openxmlformats.org/officeDocument/2006/relationships/slide" Target="/ppt/slides/slide73.xml" Id="R4c348b3f50e04b99" /><Relationship Type="http://schemas.openxmlformats.org/officeDocument/2006/relationships/slide" Target="/ppt/slides/slide74.xml" Id="R72abb7c74e1d4f63" /><Relationship Type="http://schemas.openxmlformats.org/officeDocument/2006/relationships/slide" Target="/ppt/slides/slide75.xml" Id="R41c4946f0be24669" /><Relationship Type="http://schemas.openxmlformats.org/officeDocument/2006/relationships/slide" Target="/ppt/slides/slide76.xml" Id="Rbd5f09d000b7425e" /><Relationship Type="http://schemas.openxmlformats.org/officeDocument/2006/relationships/slide" Target="/ppt/slides/slide77.xml" Id="R8e2bac0643864017" /><Relationship Type="http://schemas.openxmlformats.org/officeDocument/2006/relationships/slide" Target="/ppt/slides/slide78.xml" Id="Ra12a243ff5254690" /><Relationship Type="http://schemas.openxmlformats.org/officeDocument/2006/relationships/slide" Target="/ppt/slides/slide79.xml" Id="R3c4b0733e1f448c1" /><Relationship Type="http://schemas.openxmlformats.org/officeDocument/2006/relationships/slide" Target="/ppt/slides/slide80.xml" Id="Rc83e6e39d2bb49ac" /><Relationship Type="http://schemas.openxmlformats.org/officeDocument/2006/relationships/slide" Target="/ppt/slides/slide81.xml" Id="R93891153b7a24620" /><Relationship Type="http://schemas.openxmlformats.org/officeDocument/2006/relationships/slide" Target="/ppt/slides/slide82.xml" Id="Rd39fb890e51e4853" /><Relationship Type="http://schemas.openxmlformats.org/officeDocument/2006/relationships/slide" Target="/ppt/slides/slide83.xml" Id="R8a4d54267dd24f7a" /><Relationship Type="http://schemas.openxmlformats.org/officeDocument/2006/relationships/slide" Target="/ppt/slides/slide84.xml" Id="R2dfec4a3ccae4efb" /><Relationship Type="http://schemas.openxmlformats.org/officeDocument/2006/relationships/slide" Target="/ppt/slides/slide85.xml" Id="Rcad416097a874737"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01f41c7acb7249bd"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80ff467c0c6e4b12" /><Relationship Type="http://schemas.openxmlformats.org/officeDocument/2006/relationships/notesMaster" Target="/ppt/notesMasters/notesMaster1.xml" Id="Ra5dea4e0a8454a88" /></Relationships>
</file>

<file path=ppt/notesSlides/_rels/notesSlide2.xml.rels>&#65279;<?xml version="1.0" encoding="utf-8"?><Relationships xmlns="http://schemas.openxmlformats.org/package/2006/relationships"><Relationship Type="http://schemas.openxmlformats.org/officeDocument/2006/relationships/slide" Target="/ppt/slides/slide2.xml" Id="R1fc22393713245a9" /><Relationship Type="http://schemas.openxmlformats.org/officeDocument/2006/relationships/notesMaster" Target="/ppt/notesMasters/notesMaster1.xml" Id="R2c11a4fcec9d49fc" /></Relationships>
</file>

<file path=ppt/notesSlides/_rels/notesSlide3.xml.rels>&#65279;<?xml version="1.0" encoding="utf-8"?><Relationships xmlns="http://schemas.openxmlformats.org/package/2006/relationships"><Relationship Type="http://schemas.openxmlformats.org/officeDocument/2006/relationships/slide" Target="/ppt/slides/slide3.xml" Id="Rf4646aee2a5e4a04" /><Relationship Type="http://schemas.openxmlformats.org/officeDocument/2006/relationships/notesMaster" Target="/ppt/notesMasters/notesMaster1.xml" Id="Rbe72de241b874a8b" /></Relationships>
</file>

<file path=ppt/notesSlides/_rels/notesSlide4.xml.rels>&#65279;<?xml version="1.0" encoding="utf-8"?><Relationships xmlns="http://schemas.openxmlformats.org/package/2006/relationships"><Relationship Type="http://schemas.openxmlformats.org/officeDocument/2006/relationships/slide" Target="/ppt/slides/slide4.xml" Id="R00ac3e5c18724890" /><Relationship Type="http://schemas.openxmlformats.org/officeDocument/2006/relationships/notesMaster" Target="/ppt/notesMasters/notesMaster1.xml" Id="Reaf35b6b9768446a" /></Relationships>
</file>

<file path=ppt/notesSlides/_rels/notesSlide5.xml.rels>&#65279;<?xml version="1.0" encoding="utf-8"?><Relationships xmlns="http://schemas.openxmlformats.org/package/2006/relationships"><Relationship Type="http://schemas.openxmlformats.org/officeDocument/2006/relationships/slide" Target="/ppt/slides/slide5.xml" Id="R9b9f10a2603e4b47" /><Relationship Type="http://schemas.openxmlformats.org/officeDocument/2006/relationships/notesMaster" Target="/ppt/notesMasters/notesMaster1.xml" Id="Rf511664d32ca41f3" /></Relationships>
</file>

<file path=ppt/notesSlides/_rels/notesSlide6.xml.rels>&#65279;<?xml version="1.0" encoding="utf-8"?><Relationships xmlns="http://schemas.openxmlformats.org/package/2006/relationships"><Relationship Type="http://schemas.openxmlformats.org/officeDocument/2006/relationships/slide" Target="/ppt/slides/slide6.xml" Id="Rffd6a134b9d04d8a" /><Relationship Type="http://schemas.openxmlformats.org/officeDocument/2006/relationships/notesMaster" Target="/ppt/notesMasters/notesMaster1.xml" Id="R4b04a23045e34e88" /></Relationships>
</file>

<file path=ppt/notesSlides/_rels/notesSlide7.xml.rels>&#65279;<?xml version="1.0" encoding="utf-8"?><Relationships xmlns="http://schemas.openxmlformats.org/package/2006/relationships"><Relationship Type="http://schemas.openxmlformats.org/officeDocument/2006/relationships/slide" Target="/ppt/slides/slide7.xml" Id="Ra16226aa84f443e4" /><Relationship Type="http://schemas.openxmlformats.org/officeDocument/2006/relationships/notesMaster" Target="/ppt/notesMasters/notesMaster1.xml" Id="R3e377914c95d40ab" /></Relationships>
</file>

<file path=ppt/notesSlides/_rels/notesSlide8.xml.rels>&#65279;<?xml version="1.0" encoding="utf-8"?><Relationships xmlns="http://schemas.openxmlformats.org/package/2006/relationships"><Relationship Type="http://schemas.openxmlformats.org/officeDocument/2006/relationships/slide" Target="/ppt/slides/slide8.xml" Id="R8ce307ac897448c8" /><Relationship Type="http://schemas.openxmlformats.org/officeDocument/2006/relationships/notesMaster" Target="/ppt/notesMasters/notesMaster1.xml" Id="Rb48c113091ca46c6" /></Relationships>
</file>

<file path=ppt/notesSlides/_rels/notesSlide9.xml.rels>&#65279;<?xml version="1.0" encoding="utf-8"?><Relationships xmlns="http://schemas.openxmlformats.org/package/2006/relationships"><Relationship Type="http://schemas.openxmlformats.org/officeDocument/2006/relationships/slide" Target="/ppt/slides/slide9.xml" Id="R25d72c89e7e94aac" /><Relationship Type="http://schemas.openxmlformats.org/officeDocument/2006/relationships/notesMaster" Target="/ppt/notesMasters/notesMaster1.xml" Id="R06dd7e65ae1d4d43"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a60c9a858b3a42da" /><Relationship Type="http://schemas.openxmlformats.org/officeDocument/2006/relationships/notesMaster" Target="/ppt/notesMasters/notesMaster1.xml" Id="R8ad403fc9fd544c2"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8e2abbc5127842d8" /><Relationship Type="http://schemas.openxmlformats.org/officeDocument/2006/relationships/notesMaster" Target="/ppt/notesMasters/notesMaster1.xml" Id="Rb7e15eb375b848e5"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4aa01b1f093a4ee0" /><Relationship Type="http://schemas.openxmlformats.org/officeDocument/2006/relationships/notesMaster" Target="/ppt/notesMasters/notesMaster1.xml" Id="Ra9c2e19f8aaf4974"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38b325b5134046ff" /><Relationship Type="http://schemas.openxmlformats.org/officeDocument/2006/relationships/notesMaster" Target="/ppt/notesMasters/notesMaster1.xml" Id="R577f573facb14830"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f6d36fe00cc346e8" /><Relationship Type="http://schemas.openxmlformats.org/officeDocument/2006/relationships/notesMaster" Target="/ppt/notesMasters/notesMaster1.xml" Id="R25a98e7a721d4e56"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e62fd0f64fba42cc" /><Relationship Type="http://schemas.openxmlformats.org/officeDocument/2006/relationships/notesMaster" Target="/ppt/notesMasters/notesMaster1.xml" Id="R3eae9cd33efd4200"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9f6808c16ec64572" /><Relationship Type="http://schemas.openxmlformats.org/officeDocument/2006/relationships/notesMaster" Target="/ppt/notesMasters/notesMaster1.xml" Id="Rdeda7381b1b8407f"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a327fbf5bb754d64" /><Relationship Type="http://schemas.openxmlformats.org/officeDocument/2006/relationships/notesMaster" Target="/ppt/notesMasters/notesMaster1.xml" Id="R3d926362668f4c20"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0a6dc8793eb548f3" /><Relationship Type="http://schemas.openxmlformats.org/officeDocument/2006/relationships/notesMaster" Target="/ppt/notesMasters/notesMaster1.xml" Id="R34fed4ee7e0c439c"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fad0242c98304888" /><Relationship Type="http://schemas.openxmlformats.org/officeDocument/2006/relationships/notesMaster" Target="/ppt/notesMasters/notesMaster1.xml" Id="R7d9b69e2e3f648f5"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e3e29e650fba4501" /><Relationship Type="http://schemas.openxmlformats.org/officeDocument/2006/relationships/notesMaster" Target="/ppt/notesMasters/notesMaster1.xml" Id="Rdac54cc3ee9d472a"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86ab0cbb4dae4edb" /><Relationship Type="http://schemas.openxmlformats.org/officeDocument/2006/relationships/notesMaster" Target="/ppt/notesMasters/notesMaster1.xml" Id="Rc6ad88ed57ac4312"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c7c3688e54b14bda" /><Relationship Type="http://schemas.openxmlformats.org/officeDocument/2006/relationships/notesMaster" Target="/ppt/notesMasters/notesMaster1.xml" Id="R6b8fad20b6a14e31"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5a52c0201f9e4fa1" /><Relationship Type="http://schemas.openxmlformats.org/officeDocument/2006/relationships/notesMaster" Target="/ppt/notesMasters/notesMaster1.xml" Id="Rb8866bef2a1642f5"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2b3fcd5dda594a56" /><Relationship Type="http://schemas.openxmlformats.org/officeDocument/2006/relationships/notesMaster" Target="/ppt/notesMasters/notesMaster1.xml" Id="R1b2f7e1519cf4d75"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54b2dbc9370048b4" /><Relationship Type="http://schemas.openxmlformats.org/officeDocument/2006/relationships/notesMaster" Target="/ppt/notesMasters/notesMaster1.xml" Id="Rd4300139cc674203"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67bc5b04a2774163" /><Relationship Type="http://schemas.openxmlformats.org/officeDocument/2006/relationships/notesMaster" Target="/ppt/notesMasters/notesMaster1.xml" Id="R1fdb32ddc6324f23"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d7570d162929480d" /><Relationship Type="http://schemas.openxmlformats.org/officeDocument/2006/relationships/notesMaster" Target="/ppt/notesMasters/notesMaster1.xml" Id="R02c0ccadef834799" /></Relationships>
</file>

<file path=ppt/notesSlides/_rels/notesSlide28.xml.rels>&#65279;<?xml version="1.0" encoding="utf-8"?><Relationships xmlns="http://schemas.openxmlformats.org/package/2006/relationships"><Relationship Type="http://schemas.openxmlformats.org/officeDocument/2006/relationships/slide" Target="/ppt/slides/slide28.xml" Id="Re6636d4e566047e5" /><Relationship Type="http://schemas.openxmlformats.org/officeDocument/2006/relationships/notesMaster" Target="/ppt/notesMasters/notesMaster1.xml" Id="R8a031819b7aa49a0" /></Relationships>
</file>

<file path=ppt/notesSlides/_rels/notesSlide29.xml.rels>&#65279;<?xml version="1.0" encoding="utf-8"?><Relationships xmlns="http://schemas.openxmlformats.org/package/2006/relationships"><Relationship Type="http://schemas.openxmlformats.org/officeDocument/2006/relationships/slide" Target="/ppt/slides/slide29.xml" Id="Raa545294e7c249d6" /><Relationship Type="http://schemas.openxmlformats.org/officeDocument/2006/relationships/notesMaster" Target="/ppt/notesMasters/notesMaster1.xml" Id="R75da20e268814ba3" /></Relationships>
</file>

<file path=ppt/notesSlides/_rels/notesSlide30.xml.rels>&#65279;<?xml version="1.0" encoding="utf-8"?><Relationships xmlns="http://schemas.openxmlformats.org/package/2006/relationships"><Relationship Type="http://schemas.openxmlformats.org/officeDocument/2006/relationships/slide" Target="/ppt/slides/slide30.xml" Id="Rae626e970f4a446b" /><Relationship Type="http://schemas.openxmlformats.org/officeDocument/2006/relationships/notesMaster" Target="/ppt/notesMasters/notesMaster1.xml" Id="R514e6d2d9d5d4b4c" /></Relationships>
</file>

<file path=ppt/notesSlides/_rels/notesSlide31.xml.rels>&#65279;<?xml version="1.0" encoding="utf-8"?><Relationships xmlns="http://schemas.openxmlformats.org/package/2006/relationships"><Relationship Type="http://schemas.openxmlformats.org/officeDocument/2006/relationships/slide" Target="/ppt/slides/slide31.xml" Id="R97d8f4cd4ee04abc" /><Relationship Type="http://schemas.openxmlformats.org/officeDocument/2006/relationships/notesMaster" Target="/ppt/notesMasters/notesMaster1.xml" Id="R982232450831489e" /></Relationships>
</file>

<file path=ppt/notesSlides/_rels/notesSlide32.xml.rels>&#65279;<?xml version="1.0" encoding="utf-8"?><Relationships xmlns="http://schemas.openxmlformats.org/package/2006/relationships"><Relationship Type="http://schemas.openxmlformats.org/officeDocument/2006/relationships/slide" Target="/ppt/slides/slide32.xml" Id="Rcff27fa3790a4c07" /><Relationship Type="http://schemas.openxmlformats.org/officeDocument/2006/relationships/notesMaster" Target="/ppt/notesMasters/notesMaster1.xml" Id="R0681a453a32f4c87" /></Relationships>
</file>

<file path=ppt/notesSlides/_rels/notesSlide33.xml.rels>&#65279;<?xml version="1.0" encoding="utf-8"?><Relationships xmlns="http://schemas.openxmlformats.org/package/2006/relationships"><Relationship Type="http://schemas.openxmlformats.org/officeDocument/2006/relationships/slide" Target="/ppt/slides/slide33.xml" Id="Rea164423717743ee" /><Relationship Type="http://schemas.openxmlformats.org/officeDocument/2006/relationships/notesMaster" Target="/ppt/notesMasters/notesMaster1.xml" Id="R13113fd393cb4ef9" /></Relationships>
</file>

<file path=ppt/notesSlides/_rels/notesSlide34.xml.rels>&#65279;<?xml version="1.0" encoding="utf-8"?><Relationships xmlns="http://schemas.openxmlformats.org/package/2006/relationships"><Relationship Type="http://schemas.openxmlformats.org/officeDocument/2006/relationships/slide" Target="/ppt/slides/slide34.xml" Id="Rd61b5dd065e84d0b" /><Relationship Type="http://schemas.openxmlformats.org/officeDocument/2006/relationships/notesMaster" Target="/ppt/notesMasters/notesMaster1.xml" Id="R0f601efaa99f4a91" /></Relationships>
</file>

<file path=ppt/notesSlides/_rels/notesSlide35.xml.rels>&#65279;<?xml version="1.0" encoding="utf-8"?><Relationships xmlns="http://schemas.openxmlformats.org/package/2006/relationships"><Relationship Type="http://schemas.openxmlformats.org/officeDocument/2006/relationships/slide" Target="/ppt/slides/slide35.xml" Id="Ref1c12dd35da4939" /><Relationship Type="http://schemas.openxmlformats.org/officeDocument/2006/relationships/notesMaster" Target="/ppt/notesMasters/notesMaster1.xml" Id="Rab9c05560aad4d6b" /></Relationships>
</file>

<file path=ppt/notesSlides/_rels/notesSlide36.xml.rels>&#65279;<?xml version="1.0" encoding="utf-8"?><Relationships xmlns="http://schemas.openxmlformats.org/package/2006/relationships"><Relationship Type="http://schemas.openxmlformats.org/officeDocument/2006/relationships/slide" Target="/ppt/slides/slide36.xml" Id="R4e5a991b114d4336" /><Relationship Type="http://schemas.openxmlformats.org/officeDocument/2006/relationships/notesMaster" Target="/ppt/notesMasters/notesMaster1.xml" Id="R725e25e6857b4b1b" /></Relationships>
</file>

<file path=ppt/notesSlides/_rels/notesSlide37.xml.rels>&#65279;<?xml version="1.0" encoding="utf-8"?><Relationships xmlns="http://schemas.openxmlformats.org/package/2006/relationships"><Relationship Type="http://schemas.openxmlformats.org/officeDocument/2006/relationships/slide" Target="/ppt/slides/slide37.xml" Id="Rc52f318f93754e2e" /><Relationship Type="http://schemas.openxmlformats.org/officeDocument/2006/relationships/notesMaster" Target="/ppt/notesMasters/notesMaster1.xml" Id="R5a40fa7964bb4e4b" /></Relationships>
</file>

<file path=ppt/notesSlides/_rels/notesSlide38.xml.rels>&#65279;<?xml version="1.0" encoding="utf-8"?><Relationships xmlns="http://schemas.openxmlformats.org/package/2006/relationships"><Relationship Type="http://schemas.openxmlformats.org/officeDocument/2006/relationships/slide" Target="/ppt/slides/slide38.xml" Id="R2b12645aba354220" /><Relationship Type="http://schemas.openxmlformats.org/officeDocument/2006/relationships/notesMaster" Target="/ppt/notesMasters/notesMaster1.xml" Id="Raee2d98006bc4716" /></Relationships>
</file>

<file path=ppt/notesSlides/_rels/notesSlide39.xml.rels>&#65279;<?xml version="1.0" encoding="utf-8"?><Relationships xmlns="http://schemas.openxmlformats.org/package/2006/relationships"><Relationship Type="http://schemas.openxmlformats.org/officeDocument/2006/relationships/slide" Target="/ppt/slides/slide39.xml" Id="Rdaee2d3981024e63" /><Relationship Type="http://schemas.openxmlformats.org/officeDocument/2006/relationships/notesMaster" Target="/ppt/notesMasters/notesMaster1.xml" Id="Re6b171e940fc4d67" /></Relationships>
</file>

<file path=ppt/notesSlides/_rels/notesSlide40.xml.rels>&#65279;<?xml version="1.0" encoding="utf-8"?><Relationships xmlns="http://schemas.openxmlformats.org/package/2006/relationships"><Relationship Type="http://schemas.openxmlformats.org/officeDocument/2006/relationships/slide" Target="/ppt/slides/slide40.xml" Id="Rb6e221a0d6c040df" /><Relationship Type="http://schemas.openxmlformats.org/officeDocument/2006/relationships/notesMaster" Target="/ppt/notesMasters/notesMaster1.xml" Id="R7fcd8cff6ac14d3d" /></Relationships>
</file>

<file path=ppt/notesSlides/_rels/notesSlide41.xml.rels>&#65279;<?xml version="1.0" encoding="utf-8"?><Relationships xmlns="http://schemas.openxmlformats.org/package/2006/relationships"><Relationship Type="http://schemas.openxmlformats.org/officeDocument/2006/relationships/slide" Target="/ppt/slides/slide41.xml" Id="Rc5f5948a5ce744a2" /><Relationship Type="http://schemas.openxmlformats.org/officeDocument/2006/relationships/notesMaster" Target="/ppt/notesMasters/notesMaster1.xml" Id="R0ad226866a584eb3" /></Relationships>
</file>

<file path=ppt/notesSlides/_rels/notesSlide42.xml.rels>&#65279;<?xml version="1.0" encoding="utf-8"?><Relationships xmlns="http://schemas.openxmlformats.org/package/2006/relationships"><Relationship Type="http://schemas.openxmlformats.org/officeDocument/2006/relationships/slide" Target="/ppt/slides/slide42.xml" Id="R6b2107f6e6d04787" /><Relationship Type="http://schemas.openxmlformats.org/officeDocument/2006/relationships/notesMaster" Target="/ppt/notesMasters/notesMaster1.xml" Id="Rf8817754c6bd4136" /></Relationships>
</file>

<file path=ppt/notesSlides/_rels/notesSlide43.xml.rels>&#65279;<?xml version="1.0" encoding="utf-8"?><Relationships xmlns="http://schemas.openxmlformats.org/package/2006/relationships"><Relationship Type="http://schemas.openxmlformats.org/officeDocument/2006/relationships/slide" Target="/ppt/slides/slide43.xml" Id="R15af8bdbcb004fa6" /><Relationship Type="http://schemas.openxmlformats.org/officeDocument/2006/relationships/notesMaster" Target="/ppt/notesMasters/notesMaster1.xml" Id="Rdedb043334cb4671" /></Relationships>
</file>

<file path=ppt/notesSlides/_rels/notesSlide44.xml.rels>&#65279;<?xml version="1.0" encoding="utf-8"?><Relationships xmlns="http://schemas.openxmlformats.org/package/2006/relationships"><Relationship Type="http://schemas.openxmlformats.org/officeDocument/2006/relationships/slide" Target="/ppt/slides/slide44.xml" Id="R1d21fd07558f4413" /><Relationship Type="http://schemas.openxmlformats.org/officeDocument/2006/relationships/notesMaster" Target="/ppt/notesMasters/notesMaster1.xml" Id="R17722953db15423c" /></Relationships>
</file>

<file path=ppt/notesSlides/_rels/notesSlide45.xml.rels>&#65279;<?xml version="1.0" encoding="utf-8"?><Relationships xmlns="http://schemas.openxmlformats.org/package/2006/relationships"><Relationship Type="http://schemas.openxmlformats.org/officeDocument/2006/relationships/slide" Target="/ppt/slides/slide45.xml" Id="R4212686e8b3d44cc" /><Relationship Type="http://schemas.openxmlformats.org/officeDocument/2006/relationships/notesMaster" Target="/ppt/notesMasters/notesMaster1.xml" Id="R292de8663ed34ab8" /></Relationships>
</file>

<file path=ppt/notesSlides/_rels/notesSlide46.xml.rels>&#65279;<?xml version="1.0" encoding="utf-8"?><Relationships xmlns="http://schemas.openxmlformats.org/package/2006/relationships"><Relationship Type="http://schemas.openxmlformats.org/officeDocument/2006/relationships/slide" Target="/ppt/slides/slide46.xml" Id="Rf1dcf2b152324c2f" /><Relationship Type="http://schemas.openxmlformats.org/officeDocument/2006/relationships/notesMaster" Target="/ppt/notesMasters/notesMaster1.xml" Id="R7f7e201bffce4d3e" /></Relationships>
</file>

<file path=ppt/notesSlides/_rels/notesSlide47.xml.rels>&#65279;<?xml version="1.0" encoding="utf-8"?><Relationships xmlns="http://schemas.openxmlformats.org/package/2006/relationships"><Relationship Type="http://schemas.openxmlformats.org/officeDocument/2006/relationships/slide" Target="/ppt/slides/slide47.xml" Id="R815c00181c6c4e04" /><Relationship Type="http://schemas.openxmlformats.org/officeDocument/2006/relationships/notesMaster" Target="/ppt/notesMasters/notesMaster1.xml" Id="R75dc606be6c04023" /></Relationships>
</file>

<file path=ppt/notesSlides/_rels/notesSlide48.xml.rels>&#65279;<?xml version="1.0" encoding="utf-8"?><Relationships xmlns="http://schemas.openxmlformats.org/package/2006/relationships"><Relationship Type="http://schemas.openxmlformats.org/officeDocument/2006/relationships/slide" Target="/ppt/slides/slide48.xml" Id="R388d28fbad9e4816" /><Relationship Type="http://schemas.openxmlformats.org/officeDocument/2006/relationships/notesMaster" Target="/ppt/notesMasters/notesMaster1.xml" Id="Rb4aa60c4a748497f" /></Relationships>
</file>

<file path=ppt/notesSlides/_rels/notesSlide49.xml.rels>&#65279;<?xml version="1.0" encoding="utf-8"?><Relationships xmlns="http://schemas.openxmlformats.org/package/2006/relationships"><Relationship Type="http://schemas.openxmlformats.org/officeDocument/2006/relationships/slide" Target="/ppt/slides/slide49.xml" Id="R0d269cb24c4e4875" /><Relationship Type="http://schemas.openxmlformats.org/officeDocument/2006/relationships/notesMaster" Target="/ppt/notesMasters/notesMaster1.xml" Id="Ra8b6fdfd9fe14a19" /></Relationships>
</file>

<file path=ppt/notesSlides/_rels/notesSlide50.xml.rels>&#65279;<?xml version="1.0" encoding="utf-8"?><Relationships xmlns="http://schemas.openxmlformats.org/package/2006/relationships"><Relationship Type="http://schemas.openxmlformats.org/officeDocument/2006/relationships/slide" Target="/ppt/slides/slide50.xml" Id="R53c7b8788e2b4cb6" /><Relationship Type="http://schemas.openxmlformats.org/officeDocument/2006/relationships/notesMaster" Target="/ppt/notesMasters/notesMaster1.xml" Id="R94f46fe36ce44bf9" /></Relationships>
</file>

<file path=ppt/notesSlides/_rels/notesSlide51.xml.rels>&#65279;<?xml version="1.0" encoding="utf-8"?><Relationships xmlns="http://schemas.openxmlformats.org/package/2006/relationships"><Relationship Type="http://schemas.openxmlformats.org/officeDocument/2006/relationships/slide" Target="/ppt/slides/slide51.xml" Id="R443ad895eb2242dc" /><Relationship Type="http://schemas.openxmlformats.org/officeDocument/2006/relationships/notesMaster" Target="/ppt/notesMasters/notesMaster1.xml" Id="Rd52d93eb77904876" /></Relationships>
</file>

<file path=ppt/notesSlides/_rels/notesSlide52.xml.rels>&#65279;<?xml version="1.0" encoding="utf-8"?><Relationships xmlns="http://schemas.openxmlformats.org/package/2006/relationships"><Relationship Type="http://schemas.openxmlformats.org/officeDocument/2006/relationships/slide" Target="/ppt/slides/slide52.xml" Id="R79f612c645ab47f4" /><Relationship Type="http://schemas.openxmlformats.org/officeDocument/2006/relationships/notesMaster" Target="/ppt/notesMasters/notesMaster1.xml" Id="Re7dab53f3f034e17" /></Relationships>
</file>

<file path=ppt/notesSlides/_rels/notesSlide53.xml.rels>&#65279;<?xml version="1.0" encoding="utf-8"?><Relationships xmlns="http://schemas.openxmlformats.org/package/2006/relationships"><Relationship Type="http://schemas.openxmlformats.org/officeDocument/2006/relationships/slide" Target="/ppt/slides/slide53.xml" Id="R568717e3924641f7" /><Relationship Type="http://schemas.openxmlformats.org/officeDocument/2006/relationships/notesMaster" Target="/ppt/notesMasters/notesMaster1.xml" Id="R1cf881aa9b31446f" /></Relationships>
</file>

<file path=ppt/notesSlides/_rels/notesSlide54.xml.rels>&#65279;<?xml version="1.0" encoding="utf-8"?><Relationships xmlns="http://schemas.openxmlformats.org/package/2006/relationships"><Relationship Type="http://schemas.openxmlformats.org/officeDocument/2006/relationships/slide" Target="/ppt/slides/slide54.xml" Id="R6cae87366f6f4453" /><Relationship Type="http://schemas.openxmlformats.org/officeDocument/2006/relationships/notesMaster" Target="/ppt/notesMasters/notesMaster1.xml" Id="R5e21f621421e485a" /></Relationships>
</file>

<file path=ppt/notesSlides/_rels/notesSlide55.xml.rels>&#65279;<?xml version="1.0" encoding="utf-8"?><Relationships xmlns="http://schemas.openxmlformats.org/package/2006/relationships"><Relationship Type="http://schemas.openxmlformats.org/officeDocument/2006/relationships/slide" Target="/ppt/slides/slide55.xml" Id="Rbb8520fbf0754b0b" /><Relationship Type="http://schemas.openxmlformats.org/officeDocument/2006/relationships/notesMaster" Target="/ppt/notesMasters/notesMaster1.xml" Id="Rd89d2472c66d40f4" /></Relationships>
</file>

<file path=ppt/notesSlides/_rels/notesSlide56.xml.rels>&#65279;<?xml version="1.0" encoding="utf-8"?><Relationships xmlns="http://schemas.openxmlformats.org/package/2006/relationships"><Relationship Type="http://schemas.openxmlformats.org/officeDocument/2006/relationships/slide" Target="/ppt/slides/slide56.xml" Id="R48c5811d47cf4747" /><Relationship Type="http://schemas.openxmlformats.org/officeDocument/2006/relationships/notesMaster" Target="/ppt/notesMasters/notesMaster1.xml" Id="R4a3908816ba34abb" /></Relationships>
</file>

<file path=ppt/notesSlides/_rels/notesSlide57.xml.rels>&#65279;<?xml version="1.0" encoding="utf-8"?><Relationships xmlns="http://schemas.openxmlformats.org/package/2006/relationships"><Relationship Type="http://schemas.openxmlformats.org/officeDocument/2006/relationships/slide" Target="/ppt/slides/slide57.xml" Id="R29145c55075a4a36" /><Relationship Type="http://schemas.openxmlformats.org/officeDocument/2006/relationships/notesMaster" Target="/ppt/notesMasters/notesMaster1.xml" Id="R8a9b713ebf2146ae" /></Relationships>
</file>

<file path=ppt/notesSlides/_rels/notesSlide58.xml.rels>&#65279;<?xml version="1.0" encoding="utf-8"?><Relationships xmlns="http://schemas.openxmlformats.org/package/2006/relationships"><Relationship Type="http://schemas.openxmlformats.org/officeDocument/2006/relationships/slide" Target="/ppt/slides/slide58.xml" Id="R75d496855bee4654" /><Relationship Type="http://schemas.openxmlformats.org/officeDocument/2006/relationships/notesMaster" Target="/ppt/notesMasters/notesMaster1.xml" Id="Rdf8a8104bf5443fe" /></Relationships>
</file>

<file path=ppt/notesSlides/_rels/notesSlide59.xml.rels>&#65279;<?xml version="1.0" encoding="utf-8"?><Relationships xmlns="http://schemas.openxmlformats.org/package/2006/relationships"><Relationship Type="http://schemas.openxmlformats.org/officeDocument/2006/relationships/slide" Target="/ppt/slides/slide59.xml" Id="R5f3ace638f2641a8" /><Relationship Type="http://schemas.openxmlformats.org/officeDocument/2006/relationships/notesMaster" Target="/ppt/notesMasters/notesMaster1.xml" Id="R44e70af5e89c4f2b" /></Relationships>
</file>

<file path=ppt/notesSlides/_rels/notesSlide60.xml.rels>&#65279;<?xml version="1.0" encoding="utf-8"?><Relationships xmlns="http://schemas.openxmlformats.org/package/2006/relationships"><Relationship Type="http://schemas.openxmlformats.org/officeDocument/2006/relationships/slide" Target="/ppt/slides/slide60.xml" Id="R10acef79502d40b5" /><Relationship Type="http://schemas.openxmlformats.org/officeDocument/2006/relationships/notesMaster" Target="/ppt/notesMasters/notesMaster1.xml" Id="R5111f63a715645b4" /></Relationships>
</file>

<file path=ppt/notesSlides/_rels/notesSlide61.xml.rels>&#65279;<?xml version="1.0" encoding="utf-8"?><Relationships xmlns="http://schemas.openxmlformats.org/package/2006/relationships"><Relationship Type="http://schemas.openxmlformats.org/officeDocument/2006/relationships/slide" Target="/ppt/slides/slide61.xml" Id="R212dd24ea5e5426f" /><Relationship Type="http://schemas.openxmlformats.org/officeDocument/2006/relationships/notesMaster" Target="/ppt/notesMasters/notesMaster1.xml" Id="Rd68e1ff9059e4c29" /></Relationships>
</file>

<file path=ppt/notesSlides/_rels/notesSlide62.xml.rels>&#65279;<?xml version="1.0" encoding="utf-8"?><Relationships xmlns="http://schemas.openxmlformats.org/package/2006/relationships"><Relationship Type="http://schemas.openxmlformats.org/officeDocument/2006/relationships/slide" Target="/ppt/slides/slide62.xml" Id="R4a338a6acc4d4285" /><Relationship Type="http://schemas.openxmlformats.org/officeDocument/2006/relationships/notesMaster" Target="/ppt/notesMasters/notesMaster1.xml" Id="Rb4b62a1e73e64309" /></Relationships>
</file>

<file path=ppt/notesSlides/_rels/notesSlide63.xml.rels>&#65279;<?xml version="1.0" encoding="utf-8"?><Relationships xmlns="http://schemas.openxmlformats.org/package/2006/relationships"><Relationship Type="http://schemas.openxmlformats.org/officeDocument/2006/relationships/slide" Target="/ppt/slides/slide63.xml" Id="R378f6e14c87c40ec" /><Relationship Type="http://schemas.openxmlformats.org/officeDocument/2006/relationships/notesMaster" Target="/ppt/notesMasters/notesMaster1.xml" Id="R28a4d344837a4299" /></Relationships>
</file>

<file path=ppt/notesSlides/_rels/notesSlide64.xml.rels>&#65279;<?xml version="1.0" encoding="utf-8"?><Relationships xmlns="http://schemas.openxmlformats.org/package/2006/relationships"><Relationship Type="http://schemas.openxmlformats.org/officeDocument/2006/relationships/slide" Target="/ppt/slides/slide64.xml" Id="Rbb3b462b4ec74a14" /><Relationship Type="http://schemas.openxmlformats.org/officeDocument/2006/relationships/notesMaster" Target="/ppt/notesMasters/notesMaster1.xml" Id="R943904429db74487" /></Relationships>
</file>

<file path=ppt/notesSlides/_rels/notesSlide65.xml.rels>&#65279;<?xml version="1.0" encoding="utf-8"?><Relationships xmlns="http://schemas.openxmlformats.org/package/2006/relationships"><Relationship Type="http://schemas.openxmlformats.org/officeDocument/2006/relationships/slide" Target="/ppt/slides/slide65.xml" Id="Rfd038a6dab04434c" /><Relationship Type="http://schemas.openxmlformats.org/officeDocument/2006/relationships/notesMaster" Target="/ppt/notesMasters/notesMaster1.xml" Id="Rb7264e0578794a66" /></Relationships>
</file>

<file path=ppt/notesSlides/_rels/notesSlide66.xml.rels>&#65279;<?xml version="1.0" encoding="utf-8"?><Relationships xmlns="http://schemas.openxmlformats.org/package/2006/relationships"><Relationship Type="http://schemas.openxmlformats.org/officeDocument/2006/relationships/slide" Target="/ppt/slides/slide66.xml" Id="Re6ea8b51136c4a01" /><Relationship Type="http://schemas.openxmlformats.org/officeDocument/2006/relationships/notesMaster" Target="/ppt/notesMasters/notesMaster1.xml" Id="Reeadf3bb44f94c86" /></Relationships>
</file>

<file path=ppt/notesSlides/_rels/notesSlide67.xml.rels>&#65279;<?xml version="1.0" encoding="utf-8"?><Relationships xmlns="http://schemas.openxmlformats.org/package/2006/relationships"><Relationship Type="http://schemas.openxmlformats.org/officeDocument/2006/relationships/slide" Target="/ppt/slides/slide67.xml" Id="Rcf4a1c2ce9e64070" /><Relationship Type="http://schemas.openxmlformats.org/officeDocument/2006/relationships/notesMaster" Target="/ppt/notesMasters/notesMaster1.xml" Id="R6278d3b28dea42a3" /></Relationships>
</file>

<file path=ppt/notesSlides/_rels/notesSlide68.xml.rels>&#65279;<?xml version="1.0" encoding="utf-8"?><Relationships xmlns="http://schemas.openxmlformats.org/package/2006/relationships"><Relationship Type="http://schemas.openxmlformats.org/officeDocument/2006/relationships/slide" Target="/ppt/slides/slide68.xml" Id="R9312333a92dd4d3c" /><Relationship Type="http://schemas.openxmlformats.org/officeDocument/2006/relationships/notesMaster" Target="/ppt/notesMasters/notesMaster1.xml" Id="R3fe2f8ee03b44773" /></Relationships>
</file>

<file path=ppt/notesSlides/_rels/notesSlide69.xml.rels>&#65279;<?xml version="1.0" encoding="utf-8"?><Relationships xmlns="http://schemas.openxmlformats.org/package/2006/relationships"><Relationship Type="http://schemas.openxmlformats.org/officeDocument/2006/relationships/slide" Target="/ppt/slides/slide69.xml" Id="R0fd8eced16234632" /><Relationship Type="http://schemas.openxmlformats.org/officeDocument/2006/relationships/notesMaster" Target="/ppt/notesMasters/notesMaster1.xml" Id="Rd2a033387d944b20" /></Relationships>
</file>

<file path=ppt/notesSlides/_rels/notesSlide70.xml.rels>&#65279;<?xml version="1.0" encoding="utf-8"?><Relationships xmlns="http://schemas.openxmlformats.org/package/2006/relationships"><Relationship Type="http://schemas.openxmlformats.org/officeDocument/2006/relationships/slide" Target="/ppt/slides/slide70.xml" Id="R87060324d844453a" /><Relationship Type="http://schemas.openxmlformats.org/officeDocument/2006/relationships/notesMaster" Target="/ppt/notesMasters/notesMaster1.xml" Id="Re3c94f56aabd4aa2" /></Relationships>
</file>

<file path=ppt/notesSlides/_rels/notesSlide71.xml.rels>&#65279;<?xml version="1.0" encoding="utf-8"?><Relationships xmlns="http://schemas.openxmlformats.org/package/2006/relationships"><Relationship Type="http://schemas.openxmlformats.org/officeDocument/2006/relationships/slide" Target="/ppt/slides/slide71.xml" Id="R49fe88ac5cca49e2" /><Relationship Type="http://schemas.openxmlformats.org/officeDocument/2006/relationships/notesMaster" Target="/ppt/notesMasters/notesMaster1.xml" Id="Rc6ef046125004fc5" /></Relationships>
</file>

<file path=ppt/notesSlides/_rels/notesSlide72.xml.rels>&#65279;<?xml version="1.0" encoding="utf-8"?><Relationships xmlns="http://schemas.openxmlformats.org/package/2006/relationships"><Relationship Type="http://schemas.openxmlformats.org/officeDocument/2006/relationships/slide" Target="/ppt/slides/slide72.xml" Id="Re4a0d34d126d4553" /><Relationship Type="http://schemas.openxmlformats.org/officeDocument/2006/relationships/notesMaster" Target="/ppt/notesMasters/notesMaster1.xml" Id="R250d26a83a10411f" /></Relationships>
</file>

<file path=ppt/notesSlides/_rels/notesSlide73.xml.rels>&#65279;<?xml version="1.0" encoding="utf-8"?><Relationships xmlns="http://schemas.openxmlformats.org/package/2006/relationships"><Relationship Type="http://schemas.openxmlformats.org/officeDocument/2006/relationships/slide" Target="/ppt/slides/slide73.xml" Id="Rda571f4ceefc4e0f" /><Relationship Type="http://schemas.openxmlformats.org/officeDocument/2006/relationships/notesMaster" Target="/ppt/notesMasters/notesMaster1.xml" Id="R0f44dfa0368f4aab" /></Relationships>
</file>

<file path=ppt/notesSlides/_rels/notesSlide74.xml.rels>&#65279;<?xml version="1.0" encoding="utf-8"?><Relationships xmlns="http://schemas.openxmlformats.org/package/2006/relationships"><Relationship Type="http://schemas.openxmlformats.org/officeDocument/2006/relationships/slide" Target="/ppt/slides/slide74.xml" Id="Rb92b99c2dc5d4803" /><Relationship Type="http://schemas.openxmlformats.org/officeDocument/2006/relationships/notesMaster" Target="/ppt/notesMasters/notesMaster1.xml" Id="Rfce7ae148e6a4bec" /></Relationships>
</file>

<file path=ppt/notesSlides/_rels/notesSlide75.xml.rels>&#65279;<?xml version="1.0" encoding="utf-8"?><Relationships xmlns="http://schemas.openxmlformats.org/package/2006/relationships"><Relationship Type="http://schemas.openxmlformats.org/officeDocument/2006/relationships/slide" Target="/ppt/slides/slide75.xml" Id="Rfac564211c164218" /><Relationship Type="http://schemas.openxmlformats.org/officeDocument/2006/relationships/notesMaster" Target="/ppt/notesMasters/notesMaster1.xml" Id="Rcd297c2c04634fe6" /></Relationships>
</file>

<file path=ppt/notesSlides/_rels/notesSlide76.xml.rels>&#65279;<?xml version="1.0" encoding="utf-8"?><Relationships xmlns="http://schemas.openxmlformats.org/package/2006/relationships"><Relationship Type="http://schemas.openxmlformats.org/officeDocument/2006/relationships/slide" Target="/ppt/slides/slide76.xml" Id="R5d0544ea4c714b9f" /><Relationship Type="http://schemas.openxmlformats.org/officeDocument/2006/relationships/notesMaster" Target="/ppt/notesMasters/notesMaster1.xml" Id="R89a295d6d0e64023" /></Relationships>
</file>

<file path=ppt/notesSlides/_rels/notesSlide77.xml.rels>&#65279;<?xml version="1.0" encoding="utf-8"?><Relationships xmlns="http://schemas.openxmlformats.org/package/2006/relationships"><Relationship Type="http://schemas.openxmlformats.org/officeDocument/2006/relationships/slide" Target="/ppt/slides/slide77.xml" Id="R9c9312a9eac941e2" /><Relationship Type="http://schemas.openxmlformats.org/officeDocument/2006/relationships/notesMaster" Target="/ppt/notesMasters/notesMaster1.xml" Id="Rd0daf9ba0b364c33" /></Relationships>
</file>

<file path=ppt/notesSlides/_rels/notesSlide78.xml.rels>&#65279;<?xml version="1.0" encoding="utf-8"?><Relationships xmlns="http://schemas.openxmlformats.org/package/2006/relationships"><Relationship Type="http://schemas.openxmlformats.org/officeDocument/2006/relationships/slide" Target="/ppt/slides/slide78.xml" Id="Re391d9d47c8d4546" /><Relationship Type="http://schemas.openxmlformats.org/officeDocument/2006/relationships/notesMaster" Target="/ppt/notesMasters/notesMaster1.xml" Id="Rf58a9507e3de442d" /></Relationships>
</file>

<file path=ppt/notesSlides/_rels/notesSlide79.xml.rels>&#65279;<?xml version="1.0" encoding="utf-8"?><Relationships xmlns="http://schemas.openxmlformats.org/package/2006/relationships"><Relationship Type="http://schemas.openxmlformats.org/officeDocument/2006/relationships/slide" Target="/ppt/slides/slide79.xml" Id="R172379ad5b50468c" /><Relationship Type="http://schemas.openxmlformats.org/officeDocument/2006/relationships/notesMaster" Target="/ppt/notesMasters/notesMaster1.xml" Id="R1c10771674574e0b" /></Relationships>
</file>

<file path=ppt/notesSlides/_rels/notesSlide80.xml.rels>&#65279;<?xml version="1.0" encoding="utf-8"?><Relationships xmlns="http://schemas.openxmlformats.org/package/2006/relationships"><Relationship Type="http://schemas.openxmlformats.org/officeDocument/2006/relationships/slide" Target="/ppt/slides/slide80.xml" Id="R0233fdb12e0540a6" /><Relationship Type="http://schemas.openxmlformats.org/officeDocument/2006/relationships/notesMaster" Target="/ppt/notesMasters/notesMaster1.xml" Id="R5adf2522c36a42d3" /></Relationships>
</file>

<file path=ppt/notesSlides/_rels/notesSlide81.xml.rels>&#65279;<?xml version="1.0" encoding="utf-8"?><Relationships xmlns="http://schemas.openxmlformats.org/package/2006/relationships"><Relationship Type="http://schemas.openxmlformats.org/officeDocument/2006/relationships/slide" Target="/ppt/slides/slide81.xml" Id="Re83b6097d4884362" /><Relationship Type="http://schemas.openxmlformats.org/officeDocument/2006/relationships/notesMaster" Target="/ppt/notesMasters/notesMaster1.xml" Id="R097450a7ec8f47ef" /></Relationships>
</file>

<file path=ppt/notesSlides/_rels/notesSlide82.xml.rels>&#65279;<?xml version="1.0" encoding="utf-8"?><Relationships xmlns="http://schemas.openxmlformats.org/package/2006/relationships"><Relationship Type="http://schemas.openxmlformats.org/officeDocument/2006/relationships/slide" Target="/ppt/slides/slide82.xml" Id="Rb6260fdb7a9247cf" /><Relationship Type="http://schemas.openxmlformats.org/officeDocument/2006/relationships/notesMaster" Target="/ppt/notesMasters/notesMaster1.xml" Id="R90a4b629fa4940c0" /></Relationships>
</file>

<file path=ppt/notesSlides/_rels/notesSlide83.xml.rels>&#65279;<?xml version="1.0" encoding="utf-8"?><Relationships xmlns="http://schemas.openxmlformats.org/package/2006/relationships"><Relationship Type="http://schemas.openxmlformats.org/officeDocument/2006/relationships/slide" Target="/ppt/slides/slide83.xml" Id="Re2056ef6883849f5" /><Relationship Type="http://schemas.openxmlformats.org/officeDocument/2006/relationships/notesMaster" Target="/ppt/notesMasters/notesMaster1.xml" Id="Redf766299a1d4509" /></Relationships>
</file>

<file path=ppt/notesSlides/_rels/notesSlide84.xml.rels>&#65279;<?xml version="1.0" encoding="utf-8"?><Relationships xmlns="http://schemas.openxmlformats.org/package/2006/relationships"><Relationship Type="http://schemas.openxmlformats.org/officeDocument/2006/relationships/slide" Target="/ppt/slides/slide84.xml" Id="R76c8103b457248e4" /><Relationship Type="http://schemas.openxmlformats.org/officeDocument/2006/relationships/notesMaster" Target="/ppt/notesMasters/notesMaster1.xml" Id="Rc9d8271ace874352" /></Relationships>
</file>

<file path=ppt/notesSlides/_rels/notesSlide85.xml.rels>&#65279;<?xml version="1.0" encoding="utf-8"?><Relationships xmlns="http://schemas.openxmlformats.org/package/2006/relationships"><Relationship Type="http://schemas.openxmlformats.org/officeDocument/2006/relationships/slide" Target="/ppt/slides/slide85.xml" Id="R715e7e4bb8104f0a" /><Relationship Type="http://schemas.openxmlformats.org/officeDocument/2006/relationships/notesMaster" Target="/ppt/notesMasters/notesMaster1.xml" Id="R869f67034db04c73" /></Relationships>
</file>

<file path=ppt/notesSlides/notesSlide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Lists loops and reading a table</a:t>
            </a:r>
          </a:p>
          <a:p>
            <a:r>
              <a:t>CML3112, Week 4, slide 1</a:t>
            </a:r>
          </a:p>
          <a:p>
            <a:r>
              <a:t/>
            </a:r>
          </a:p>
          <a:p>
            <a:r>
              <a:t>Explanation to give</a:t>
            </a:r>
          </a:p>
          <a:p>
            <a:r>
              <a:t>Move from one calculation to many records. Lists supply ordered values, loops visit them, dictionaries label fields and CSV files store the observations.</a:t>
            </a:r>
          </a:p>
          <a:p>
            <a:r>
              <a:t/>
            </a:r>
          </a:p>
          <a:p>
            <a:r>
              <a:t>Worked illustration / lecturer answer</a:t>
            </a:r>
          </a:p>
          <a:p>
            <a:r>
              <a:t>For readings 2, 4 and 6, the running total is 2, then 6, then 12. Count 3 gives mean 4.0. A group needs its own total and count.</a:t>
            </a:r>
          </a:p>
          <a:p>
            <a:r>
              <a:t/>
            </a:r>
          </a:p>
          <a:p>
            <a:r>
              <a:t>Misconception to address</a:t>
            </a:r>
          </a:p>
          <a:p>
            <a:r>
              <a:t>Use this as an orientation to the lesson. Terms and syntax will be unpacked on their own slides; students do not need to know them in advance.</a:t>
            </a:r>
          </a:p>
          <a:p>
            <a:r>
              <a:t/>
            </a:r>
          </a:p>
          <a:p>
            <a:r>
              <a:t>On this slide</a:t>
            </a:r>
          </a:p>
          <a:p>
            <a:r>
              <a:t>Civil Engineering and Architecture</a:t>
            </a:r>
          </a:p>
          <a:p>
            <a:r>
              <a:t/>
            </a:r>
          </a:p>
          <a:p>
            <a:r>
              <a:t>Continue to</a:t>
            </a:r>
          </a:p>
          <a:p>
            <a:r>
              <a:t>Today’s learning</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Today’s learning</a:t>
            </a:r>
          </a:p>
          <a:p>
            <a:r>
              <a:t>CML3112, Week 4, slide 2</a:t>
            </a:r>
          </a:p>
          <a:p>
            <a:r>
              <a:t/>
            </a:r>
          </a:p>
          <a:p>
            <a:r>
              <a:t>Explanation to give</a:t>
            </a:r>
          </a:p>
          <a:p>
            <a:r>
              <a:t>Move from one calculation to many records. Lists supply ordered values, loops visit them, dictionaries label fields and CSV files store the observations.</a:t>
            </a:r>
          </a:p>
          <a:p>
            <a:r>
              <a:t/>
            </a:r>
          </a:p>
          <a:p>
            <a:r>
              <a:t>Worked illustration / lecturer answer</a:t>
            </a:r>
          </a:p>
          <a:p>
            <a:r>
              <a:t>For readings 2, 4 and 6, the running total is 2, then 6, then 12. Count 3 gives mean 4.0. A group needs its own total and count.</a:t>
            </a:r>
          </a:p>
          <a:p>
            <a:r>
              <a:t/>
            </a:r>
          </a:p>
          <a:p>
            <a:r>
              <a:t>Misconception to address</a:t>
            </a:r>
          </a:p>
          <a:p>
            <a:r>
              <a:t>At the end, check the specific outcome shown here using a small previously demonstrated example. A completed file without an explanation is not evidence of understanding.</a:t>
            </a:r>
          </a:p>
          <a:p>
            <a:r>
              <a:t/>
            </a:r>
          </a:p>
          <a:p>
            <a:r>
              <a:t>On this slide</a:t>
            </a:r>
          </a:p>
          <a:p>
            <a:r>
              <a:t>Read lists and dictionary fields.</a:t>
            </a:r>
          </a:p>
          <a:p>
            <a:r>
              <a:t/>
            </a:r>
          </a:p>
          <a:p>
            <a:r>
              <a:t>Trace a loop, read CSV rows and calculate summaries.</a:t>
            </a:r>
          </a:p>
          <a:p>
            <a:r>
              <a:t/>
            </a:r>
          </a:p>
          <a:p>
            <a:r>
              <a:t>Continue to</a:t>
            </a:r>
          </a:p>
          <a:p>
            <a:r>
              <a:t>Connection to the previous lesson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Connection to the previous lesson</a:t>
            </a:r>
          </a:p>
          <a:p>
            <a:r>
              <a:t>CML3112, Week 4, slide 3</a:t>
            </a:r>
          </a:p>
          <a:p>
            <a:r>
              <a:t/>
            </a:r>
          </a:p>
          <a:p>
            <a:r>
              <a:t>Explanation to give</a:t>
            </a:r>
          </a:p>
          <a:p>
            <a:r>
              <a:t>Move from one calculation to many records. Lists supply ordered values, loops visit them, dictionaries label fields and CSV files store the observations.</a:t>
            </a:r>
          </a:p>
          <a:p>
            <a:r>
              <a:t/>
            </a:r>
          </a:p>
          <a:p>
            <a:r>
              <a:t>Worked illustration / lecturer answer</a:t>
            </a:r>
          </a:p>
          <a:p>
            <a:r>
              <a:t>For readings 2, 4 and 6, the running total is 2, then 6, then 12. Count 3 gives mean 4.0. A group needs its own total and count.</a:t>
            </a:r>
          </a:p>
          <a:p>
            <a:r>
              <a:t/>
            </a:r>
          </a:p>
          <a:p>
            <a:r>
              <a:t>Misconception to address</a:t>
            </a:r>
          </a:p>
          <a:p>
            <a:r>
              <a:t>Connect this to the previous result named on this slide. Demonstrate the first step again if necessary; there is no requirement for partner work before the explanation.</a:t>
            </a:r>
          </a:p>
          <a:p>
            <a:r>
              <a:t/>
            </a:r>
          </a:p>
          <a:p>
            <a:r>
              <a:t>On this slide</a:t>
            </a:r>
          </a:p>
          <a:p>
            <a:r>
              <a:t>Week 3 introduced values, function inputs and results, conditions and list positions. Now we repeat a calculation across records, then organise those records by keys.</a:t>
            </a:r>
          </a:p>
          <a:p>
            <a:r>
              <a:t/>
            </a:r>
          </a:p>
          <a:p>
            <a:r>
              <a:t>Continue to</a:t>
            </a:r>
          </a:p>
          <a:p>
            <a:r>
              <a:t>Why this week’s tools are needed</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Why this week’s tools are needed</a:t>
            </a:r>
          </a:p>
          <a:p>
            <a:r>
              <a:t>CML3112, Week 4, slide 4</a:t>
            </a:r>
          </a:p>
          <a:p>
            <a:r>
              <a:t/>
            </a:r>
          </a:p>
          <a:p>
            <a:r>
              <a:t>Explanation to give</a:t>
            </a:r>
          </a:p>
          <a:p>
            <a:r>
              <a:t>Move from one calculation to many records. Lists supply ordered values, loops visit them, dictionaries label fields and CSV files store the observations.</a:t>
            </a:r>
          </a:p>
          <a:p>
            <a:r>
              <a:t/>
            </a:r>
          </a:p>
          <a:p>
            <a:r>
              <a:t>Worked illustration / lecturer answer</a:t>
            </a:r>
          </a:p>
          <a:p>
            <a:r>
              <a:t>For readings 2, 4 and 6, the running total is 2, then 6, then 12. Count 3 gives mean 4.0. A group needs its own total and count.</a:t>
            </a:r>
          </a:p>
          <a:p>
            <a:r>
              <a:t/>
            </a:r>
          </a:p>
          <a:p>
            <a:r>
              <a:t>Misconception to address</a:t>
            </a:r>
          </a:p>
          <a:p>
            <a:r>
              <a:t>Connect this to the previous result named on this slide. Demonstrate the first step again if necessary; there is no requirement for partner work before the explanation.</a:t>
            </a:r>
          </a:p>
          <a:p>
            <a:r>
              <a:t/>
            </a:r>
          </a:p>
          <a:p>
            <a:r>
              <a:t>On this slide</a:t>
            </a:r>
          </a:p>
          <a:p>
            <a:r>
              <a:t>Sensor readings arrive as records in a CSV file. We first learn the Python collections and loops needed to read those records and summarise them.</a:t>
            </a:r>
          </a:p>
          <a:p>
            <a:r>
              <a:t/>
            </a:r>
          </a:p>
          <a:p>
            <a:r>
              <a:t>Continue to</a:t>
            </a:r>
          </a:p>
          <a:p>
            <a:r>
              <a:t>List and index</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List and index</a:t>
            </a:r>
          </a:p>
          <a:p>
            <a:r>
              <a:t>CML3112, Week 4, slide 5</a:t>
            </a:r>
          </a:p>
          <a:p>
            <a:r>
              <a:t/>
            </a:r>
          </a:p>
          <a:p>
            <a:r>
              <a:t>Explanation to give</a:t>
            </a:r>
          </a:p>
          <a:p>
            <a:r>
              <a:t>A list is an ordered collection. Draw labelled positions 0, 1 and 2 above three values. The position is the address, not the value stored there. A list may contain repeated values.</a:t>
            </a:r>
          </a:p>
          <a:p>
            <a:r>
              <a:t/>
            </a:r>
          </a:p>
          <a:p>
            <a:r>
              <a:t>Worked illustration / lecturer answer</a:t>
            </a:r>
          </a:p>
          <a:p>
            <a:r>
              <a:t>For [2, 4, 6], position 0 contains 2 and position 2 contains 6. len returns 3. There is no position 3. append(8) adds a new final item and the count becomes 4.</a:t>
            </a:r>
          </a:p>
          <a:p>
            <a:r>
              <a:t/>
            </a:r>
          </a:p>
          <a:p>
            <a:r>
              <a:t>Misconception to address</a:t>
            </a:r>
          </a:p>
          <a:p>
            <a:r>
              <a:t>Square brackets create a list when enclosing values, but select an item when placed after its name. Python counts list positions from zero.</a:t>
            </a:r>
          </a:p>
          <a:p>
            <a:r>
              <a:t/>
            </a:r>
          </a:p>
          <a:p>
            <a:r>
              <a:t>On this slide</a:t>
            </a:r>
          </a:p>
          <a:p>
            <a:r>
              <a:t>List and index: A list holds values in order: [2, 4, 6]. Square brackets select a position. readings[0] selects the first item, 2.</a:t>
            </a:r>
          </a:p>
          <a:p>
            <a:r>
              <a:t/>
            </a:r>
          </a:p>
          <a:p>
            <a:r>
              <a:t>Continue to</a:t>
            </a:r>
          </a:p>
          <a:p>
            <a:r>
              <a:t>A list position starts at zero</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6.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A list position starts at zero</a:t>
            </a:r>
          </a:p>
          <a:p>
            <a:r>
              <a:t>CML3112, Week 4, slide 6</a:t>
            </a:r>
          </a:p>
          <a:p>
            <a:r>
              <a:t/>
            </a:r>
          </a:p>
          <a:p>
            <a:r>
              <a:t>Explanation to give</a:t>
            </a:r>
          </a:p>
          <a:p>
            <a:r>
              <a:t>A list is an ordered collection. Draw labelled positions 0, 1 and 2 above three values. The position is the address, not the value stored there. A list may contain repeated values.</a:t>
            </a:r>
          </a:p>
          <a:p>
            <a:r>
              <a:t/>
            </a:r>
          </a:p>
          <a:p>
            <a:r>
              <a:t>Worked illustration / lecturer answer</a:t>
            </a:r>
          </a:p>
          <a:p>
            <a:r>
              <a:t>For [2, 4, 6], position 0 contains 2 and position 2 contains 6. len returns 3. There is no position 3. append(8) adds a new final item and the count becomes 4.</a:t>
            </a:r>
          </a:p>
          <a:p>
            <a:r>
              <a:t/>
            </a:r>
          </a:p>
          <a:p>
            <a:r>
              <a:t>Misconception to address</a:t>
            </a:r>
          </a:p>
          <a:p>
            <a:r>
              <a:t>Square brackets create a list when enclosing values, but select an item when placed after its name. Python counts list positions from zero.</a:t>
            </a:r>
          </a:p>
          <a:p>
            <a:r>
              <a:t/>
            </a:r>
          </a:p>
          <a:p>
            <a:r>
              <a:t>On this slide</a:t>
            </a:r>
          </a:p>
          <a:p>
            <a:r>
              <a:t>In [2, 4, 6], position 0 holds 2.</a:t>
            </a:r>
          </a:p>
          <a:p>
            <a:r>
              <a:t/>
            </a:r>
          </a:p>
          <a:p>
            <a:r>
              <a:t>Position 1 holds 4. Position 2 holds 6.</a:t>
            </a:r>
          </a:p>
          <a:p>
            <a:r>
              <a:t/>
            </a:r>
          </a:p>
          <a:p>
            <a:r>
              <a:t>There is no position 3 in this three-item list.</a:t>
            </a:r>
          </a:p>
          <a:p>
            <a:r>
              <a:t/>
            </a:r>
          </a:p>
          <a:p>
            <a:r>
              <a:t>Continue to</a:t>
            </a:r>
          </a:p>
          <a:p>
            <a:r>
              <a:t>Read list operations</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7.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Read list operations</a:t>
            </a:r>
          </a:p>
          <a:p>
            <a:r>
              <a:t>CML3112, Week 4, slide 7</a:t>
            </a:r>
          </a:p>
          <a:p>
            <a:r>
              <a:t/>
            </a:r>
          </a:p>
          <a:p>
            <a:r>
              <a:t>Explanation to give</a:t>
            </a:r>
          </a:p>
          <a:p>
            <a:r>
              <a:t>Walk through append, replacement and selection separately. append adds a new last item; values[1] = 9 replaces the item at position 1; values[1] retrieves it.</a:t>
            </a:r>
          </a:p>
          <a:p>
            <a:r>
              <a:t/>
            </a:r>
          </a:p>
          <a:p>
            <a:r>
              <a:t>Worked illustration / lecturer answer</a:t>
            </a:r>
          </a:p>
          <a:p>
            <a:r>
              <a:t>Starting with [2, 4], append(6) gives [2, 4, 6]. Assigning values[1] = 9 then gives [2, 9, 6], still three items.</a:t>
            </a:r>
          </a:p>
          <a:p>
            <a:r>
              <a:t/>
            </a:r>
          </a:p>
          <a:p>
            <a:r>
              <a:t>Misconception to address</a:t>
            </a:r>
          </a:p>
          <a:p>
            <a:r>
              <a:t>append changes the list and returns None. Do not write values = values.append(6), which would replace the list name with None.</a:t>
            </a:r>
          </a:p>
          <a:p>
            <a:r>
              <a:t/>
            </a:r>
          </a:p>
          <a:p>
            <a:r>
              <a:t>On this slide</a:t>
            </a:r>
          </a:p>
          <a:p>
            <a:r>
              <a:t>append and len: readings.append(8) adds 8 to the end of the list. len(readings) counts its items. The dot selects an operation belonging to that object; parentheses call it.</a:t>
            </a:r>
          </a:p>
          <a:p>
            <a:r>
              <a:t>Slice: readings[1:3] selects positions 1 and 2. The stop position 3 is excluded. A slice produces a new list; it does not remove items from the original.</a:t>
            </a:r>
          </a:p>
          <a:p>
            <a:r>
              <a:t/>
            </a:r>
          </a:p>
          <a:p>
            <a:r>
              <a:t>Continue to</a:t>
            </a:r>
          </a:p>
          <a:p>
            <a:r>
              <a:t>A list stores items in order</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8.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A list stores items in order</a:t>
            </a:r>
          </a:p>
          <a:p>
            <a:r>
              <a:t>CML3112, Week 4, slide 8</a:t>
            </a:r>
          </a:p>
          <a:p>
            <a:r>
              <a:t/>
            </a:r>
          </a:p>
          <a:p>
            <a:r>
              <a:t>Explanation to give</a:t>
            </a:r>
          </a:p>
          <a:p>
            <a:r>
              <a:t>A list is an ordered collection. Draw labelled positions 0, 1 and 2 above three values. The position is the address, not the value stored there. A list may contain repeated values.</a:t>
            </a:r>
          </a:p>
          <a:p>
            <a:r>
              <a:t/>
            </a:r>
          </a:p>
          <a:p>
            <a:r>
              <a:t>Worked illustration / lecturer answer</a:t>
            </a:r>
          </a:p>
          <a:p>
            <a:r>
              <a:t>For [2, 4, 6], position 0 contains 2 and position 2 contains 6. len returns 3. There is no position 3. append(8) adds a new final item and the count becomes 4.</a:t>
            </a:r>
          </a:p>
          <a:p>
            <a:r>
              <a:t/>
            </a:r>
          </a:p>
          <a:p>
            <a:r>
              <a:t>Misconception to address</a:t>
            </a:r>
          </a:p>
          <a:p>
            <a:r>
              <a:t>Square brackets create a list when enclosing values, but select an item when placed after its name. Python counts list positions from zero.</a:t>
            </a:r>
          </a:p>
          <a:p>
            <a:r>
              <a:t/>
            </a:r>
          </a:p>
          <a:p>
            <a:r>
              <a:t>Read the displayed code line by line</a:t>
            </a:r>
          </a:p>
          <a:p>
            <a:r>
              <a:t>readings = [2, 4, 6]</a:t>
            </a:r>
          </a:p>
          <a:p>
            <a:r>
              <a:t>Evaluate the complete right-hand expression first, then assign its result to the name or selected field on the left.</a:t>
            </a:r>
          </a:p>
          <a:p>
            <a:r>
              <a:t/>
            </a:r>
          </a:p>
          <a:p>
            <a:r>
              <a:t>print(readings[0])</a:t>
            </a:r>
          </a:p>
          <a:p>
            <a:r>
              <a:t>Evaluate the expression inside the parentheses and display it. Displaying is separate from returning a function result.</a:t>
            </a:r>
          </a:p>
          <a:p>
            <a:r>
              <a:t/>
            </a:r>
          </a:p>
          <a:p>
            <a:r>
              <a:t>readings.append(8)</a:t>
            </a:r>
          </a:p>
          <a:p>
            <a:r>
              <a:t>Evaluate the argument and add it as one new item at the end of this list.</a:t>
            </a:r>
          </a:p>
          <a:p>
            <a:r>
              <a:t/>
            </a:r>
          </a:p>
          <a:p>
            <a:r>
              <a:t>print(len(readings))</a:t>
            </a:r>
          </a:p>
          <a:p>
            <a:r>
              <a:t>Evaluate the expression inside the parentheses and display it. Displaying is separate from returning a function result.</a:t>
            </a:r>
          </a:p>
          <a:p>
            <a:r>
              <a:t/>
            </a:r>
          </a:p>
          <a:p>
            <a:r>
              <a:t>print(readings[1:3])</a:t>
            </a:r>
          </a:p>
          <a:p>
            <a:r>
              <a:t>Evaluate the expression inside the parentheses and display it. Displaying is separate from returning a function result.</a:t>
            </a:r>
          </a:p>
          <a:p>
            <a:r>
              <a:t/>
            </a:r>
          </a:p>
          <a:p>
            <a:r>
              <a:t>Result / continuity</a:t>
            </a:r>
          </a:p>
          <a:p>
            <a:r>
              <a:t>[] builds a list. Positions start at zero. The slice stops before position 3.</a:t>
            </a:r>
          </a:p>
          <a:p>
            <a:r>
              <a:t/>
            </a:r>
          </a:p>
          <a:p>
            <a:r>
              <a:t>Continue to</a:t>
            </a:r>
          </a:p>
          <a:p>
            <a:r>
              <a:t>Trace the list changes</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9.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Trace the list changes</a:t>
            </a:r>
          </a:p>
          <a:p>
            <a:r>
              <a:t>CML3112, Week 4, slide 9</a:t>
            </a:r>
          </a:p>
          <a:p>
            <a:r>
              <a:t/>
            </a:r>
          </a:p>
          <a:p>
            <a:r>
              <a:t>Explanation to give</a:t>
            </a:r>
          </a:p>
          <a:p>
            <a:r>
              <a:t>A list is an ordered collection. Draw labelled positions 0, 1 and 2 above three values. The position is the address, not the value stored there. A list may contain repeated values.</a:t>
            </a:r>
          </a:p>
          <a:p>
            <a:r>
              <a:t/>
            </a:r>
          </a:p>
          <a:p>
            <a:r>
              <a:t>Worked illustration / lecturer answer</a:t>
            </a:r>
          </a:p>
          <a:p>
            <a:r>
              <a:t>For [2, 4, 6], position 0 contains 2 and position 2 contains 6. len returns 3. There is no position 3. append(8) adds a new final item and the count becomes 4.</a:t>
            </a:r>
          </a:p>
          <a:p>
            <a:r>
              <a:t/>
            </a:r>
          </a:p>
          <a:p>
            <a:r>
              <a:t>Misconception to address</a:t>
            </a:r>
          </a:p>
          <a:p>
            <a:r>
              <a:t>Square brackets create a list when enclosing values, but select an item when placed after its name. Python counts list positions from zero.</a:t>
            </a:r>
          </a:p>
          <a:p>
            <a:r>
              <a:t/>
            </a:r>
          </a:p>
          <a:p>
            <a:r>
              <a:t>On this slide</a:t>
            </a:r>
          </a:p>
          <a:p>
            <a:r>
              <a:t>Instruction | List afterwards | Displayed output</a:t>
            </a:r>
          </a:p>
          <a:p>
            <a:r>
              <a:t>readings = [2, 4, 6] | [2, 4, 6] | Nothing yet</a:t>
            </a:r>
          </a:p>
          <a:p>
            <a:r>
              <a:t>print(readings[0]) | [2, 4, 6] | 2</a:t>
            </a:r>
          </a:p>
          <a:p>
            <a:r>
              <a:t>readings.append(8) | [2, 4, 6, 8] | Nothing yet</a:t>
            </a:r>
          </a:p>
          <a:p>
            <a:r>
              <a:t>print(readings[1:3]) | [2, 4, 6, 8] | [4, 6]</a:t>
            </a:r>
          </a:p>
          <a:p>
            <a:r>
              <a:t>len reports 4 after append. A slice excludes its stop position and leaves the original list intact.</a:t>
            </a:r>
          </a:p>
          <a:p>
            <a:r>
              <a:t/>
            </a:r>
          </a:p>
          <a:p>
            <a:r>
              <a:t>Reference / existing resource</a:t>
            </a:r>
          </a:p>
          <a:p>
            <a:r>
              <a:t>https://docs.python.org/3/tutorial/introduction.html</a:t>
            </a:r>
          </a:p>
          <a:p>
            <a:r>
              <a:t>https://docs.python.org/3/tutorial/controlflow.html;</a:t>
            </a:r>
          </a:p>
          <a:p>
            <a:r>
              <a:t/>
            </a:r>
          </a:p>
          <a:p>
            <a:r>
              <a:t>Continue to</a:t>
            </a:r>
          </a:p>
          <a:p>
            <a:r>
              <a:t>A loop repeats instructions</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0.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A loop repeats instructions</a:t>
            </a:r>
          </a:p>
          <a:p>
            <a:r>
              <a:t>CML3112, Week 4, slide 10</a:t>
            </a:r>
          </a:p>
          <a:p>
            <a:r>
              <a:t/>
            </a:r>
          </a:p>
          <a:p>
            <a:r>
              <a:t>Explanation to give</a:t>
            </a:r>
          </a:p>
          <a:p>
            <a:r>
              <a:t>Read for item in values as “take one value, call it item, execute the indented body, then take the next value”. The loop name temporarily refers to the current item.</a:t>
            </a:r>
          </a:p>
          <a:p>
            <a:r>
              <a:t/>
            </a:r>
          </a:p>
          <a:p>
            <a:r>
              <a:t>Worked illustration / lecturer answer</a:t>
            </a:r>
          </a:p>
          <a:p>
            <a:r>
              <a:t>For values [2, 4, 6], print(item) produces 2, then 4, then 6. With count initially zero and one increment per visit, the final count is 3.</a:t>
            </a:r>
          </a:p>
          <a:p>
            <a:r>
              <a:t/>
            </a:r>
          </a:p>
          <a:p>
            <a:r>
              <a:t>Misconception to address</a:t>
            </a:r>
          </a:p>
          <a:p>
            <a:r>
              <a:t>The loop variable does not refer to the whole list. A statement after the indentation ends runs after the loop, not once per item.</a:t>
            </a:r>
          </a:p>
          <a:p>
            <a:r>
              <a:t/>
            </a:r>
          </a:p>
          <a:p>
            <a:r>
              <a:t>On this slide</a:t>
            </a:r>
          </a:p>
          <a:p>
            <a:r>
              <a:t>A loop runs a block more than once. One execution of the block is called an iteration.</a:t>
            </a:r>
          </a:p>
          <a:p>
            <a:r>
              <a:t/>
            </a:r>
          </a:p>
          <a:p>
            <a:r>
              <a:t>for takes one item at a time from a collection. Use it when each item needs the same action.</a:t>
            </a:r>
          </a:p>
          <a:p>
            <a:r>
              <a:t/>
            </a:r>
          </a:p>
          <a:p>
            <a:r>
              <a:t>while repeats while a condition stays True. Use it when a condition controls repetition.</a:t>
            </a:r>
          </a:p>
          <a:p>
            <a:r>
              <a:t/>
            </a:r>
          </a:p>
          <a:p>
            <a:r>
              <a:t>Reference / existing resource</a:t>
            </a:r>
          </a:p>
          <a:p>
            <a:r>
              <a:t>https://docs.python.org/3/tutorial/introduction.html</a:t>
            </a:r>
          </a:p>
          <a:p>
            <a:r>
              <a:t>https://docs.python.org/3/tutorial/controlflow.html;</a:t>
            </a:r>
          </a:p>
          <a:p>
            <a:r>
              <a:t/>
            </a:r>
          </a:p>
          <a:p>
            <a:r>
              <a:t>Continue to</a:t>
            </a:r>
          </a:p>
          <a:p>
            <a:r>
              <a:t>Read every part of a for header</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Read every part of a for header</a:t>
            </a:r>
          </a:p>
          <a:p>
            <a:r>
              <a:t>CML3112, Week 4, slide 11</a:t>
            </a:r>
          </a:p>
          <a:p>
            <a:r>
              <a:t/>
            </a:r>
          </a:p>
          <a:p>
            <a:r>
              <a:t>Explanation to give</a:t>
            </a:r>
          </a:p>
          <a:p>
            <a:r>
              <a:t>Read for item in values as “take one value, call it item, execute the indented body, then take the next value”. The loop name temporarily refers to the current item.</a:t>
            </a:r>
          </a:p>
          <a:p>
            <a:r>
              <a:t/>
            </a:r>
          </a:p>
          <a:p>
            <a:r>
              <a:t>Worked illustration / lecturer answer</a:t>
            </a:r>
          </a:p>
          <a:p>
            <a:r>
              <a:t>For values [2, 4, 6], print(item) produces 2, then 4, then 6. With count initially zero and one increment per visit, the final count is 3.</a:t>
            </a:r>
          </a:p>
          <a:p>
            <a:r>
              <a:t/>
            </a:r>
          </a:p>
          <a:p>
            <a:r>
              <a:t>Misconception to address</a:t>
            </a:r>
          </a:p>
          <a:p>
            <a:r>
              <a:t>The loop variable does not refer to the whole list. A statement after the indentation ends runs after the loop, not once per item.</a:t>
            </a:r>
          </a:p>
          <a:p>
            <a:r>
              <a:t/>
            </a:r>
          </a:p>
          <a:p>
            <a:r>
              <a:t>On this slide</a:t>
            </a:r>
          </a:p>
          <a:p>
            <a:r>
              <a:t>In for reading in readings:, for introduces repetition, reading names the current item, and readings is the collection to visit.</a:t>
            </a:r>
          </a:p>
          <a:p>
            <a:r>
              <a:t/>
            </a:r>
          </a:p>
          <a:p>
            <a:r>
              <a:t>in connects the current-item name to that collection. The colon begins the loop body. Four spaces mark each instruction that repeats.</a:t>
            </a:r>
          </a:p>
          <a:p>
            <a:r>
              <a:t/>
            </a:r>
          </a:p>
          <a:p>
            <a:r>
              <a:t>reading is a name we choose; it is assigned the next item automatically. It is not the same name as readings. After the last item, execution leaves the loop.</a:t>
            </a:r>
          </a:p>
          <a:p>
            <a:r>
              <a:t/>
            </a:r>
          </a:p>
          <a:p>
            <a:r>
              <a:t>Reference / existing resource</a:t>
            </a:r>
          </a:p>
          <a:p>
            <a:r>
              <a:t>https://docs.python.org/3/tutorial/introduction.html</a:t>
            </a:r>
          </a:p>
          <a:p>
            <a:r>
              <a:t>https://docs.python.org/3/tutorial/controlflow.html;</a:t>
            </a:r>
          </a:p>
          <a:p>
            <a:r>
              <a:t/>
            </a:r>
          </a:p>
          <a:p>
            <a:r>
              <a:t>Continue to</a:t>
            </a:r>
          </a:p>
          <a:p>
            <a:r>
              <a:t>Visit each item without calculating</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Visit each item without calculating</a:t>
            </a:r>
          </a:p>
          <a:p>
            <a:r>
              <a:t>CML3112, Week 4, slide 12</a:t>
            </a:r>
          </a:p>
          <a:p>
            <a:r>
              <a:t/>
            </a:r>
          </a:p>
          <a:p>
            <a:r>
              <a:t>Explanation to give</a:t>
            </a:r>
          </a:p>
          <a:p>
            <a:r>
              <a:t>Read for item in values as “take one value, call it item, execute the indented body, then take the next value”. The loop name temporarily refers to the current item.</a:t>
            </a:r>
          </a:p>
          <a:p>
            <a:r>
              <a:t/>
            </a:r>
          </a:p>
          <a:p>
            <a:r>
              <a:t>Worked illustration / lecturer answer</a:t>
            </a:r>
          </a:p>
          <a:p>
            <a:r>
              <a:t>For values [2, 4, 6], print(item) produces 2, then 4, then 6. With count initially zero and one increment per visit, the final count is 3.</a:t>
            </a:r>
          </a:p>
          <a:p>
            <a:r>
              <a:t/>
            </a:r>
          </a:p>
          <a:p>
            <a:r>
              <a:t>Misconception to address</a:t>
            </a:r>
          </a:p>
          <a:p>
            <a:r>
              <a:t>The loop variable does not refer to the whole list. A statement after the indentation ends runs after the loop, not once per item.</a:t>
            </a:r>
          </a:p>
          <a:p>
            <a:r>
              <a:t/>
            </a:r>
          </a:p>
          <a:p>
            <a:r>
              <a:t>Read the displayed code line by line</a:t>
            </a:r>
          </a:p>
          <a:p>
            <a:r>
              <a:t>readings = [2, 4, 6]</a:t>
            </a:r>
          </a:p>
          <a:p>
            <a:r>
              <a:t>Evaluate the complete right-hand expression first, then assign its result to the name or selected field on the left.</a:t>
            </a:r>
          </a:p>
          <a:p>
            <a:r>
              <a:t/>
            </a:r>
          </a:p>
          <a:p>
            <a:r>
              <a:t>for reading in readings:</a:t>
            </a:r>
          </a:p>
          <a:p>
            <a:r>
              <a:t>Take each item or pair in turn, assign the loop name(s), and repeat the indented body.</a:t>
            </a:r>
          </a:p>
          <a:p>
            <a:r>
              <a:t/>
            </a:r>
          </a:p>
          <a:p>
            <a:r>
              <a:t>print(reading)</a:t>
            </a:r>
          </a:p>
          <a:p>
            <a:r>
              <a:t>Evaluate the expression inside the parentheses and display it. Displaying is separate from returning a function result.</a:t>
            </a:r>
          </a:p>
          <a:p>
            <a:r>
              <a:t/>
            </a:r>
          </a:p>
          <a:p>
            <a:r>
              <a:t>print("finished")</a:t>
            </a:r>
          </a:p>
          <a:p>
            <a:r>
              <a:t>Evaluate the expression inside the parentheses and display it. Displaying is separate from returning a function result.</a:t>
            </a:r>
          </a:p>
          <a:p>
            <a:r>
              <a:t/>
            </a:r>
          </a:p>
          <a:p>
            <a:r>
              <a:t>Result / continuity</a:t>
            </a:r>
          </a:p>
          <a:p>
            <a:r>
              <a:t>Output: 2; 4; 6; finished</a:t>
            </a:r>
          </a:p>
          <a:p>
            <a:r>
              <a:t/>
            </a:r>
          </a:p>
          <a:p>
            <a:r>
              <a:t>Reference / existing resource</a:t>
            </a:r>
          </a:p>
          <a:p>
            <a:r>
              <a:t>https://docs.python.org/3/tutorial/introduction.html</a:t>
            </a:r>
          </a:p>
          <a:p>
            <a:r>
              <a:t>https://docs.python.org/3/tutorial/controlflow.html;</a:t>
            </a:r>
          </a:p>
          <a:p>
            <a:r>
              <a:t/>
            </a:r>
          </a:p>
          <a:p>
            <a:r>
              <a:t>Continue to</a:t>
            </a:r>
          </a:p>
          <a:p>
            <a:r>
              <a:t>Trace the for loop item by item</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Trace the for loop item by item</a:t>
            </a:r>
          </a:p>
          <a:p>
            <a:r>
              <a:t>CML3112, Week 4, slide 13</a:t>
            </a:r>
          </a:p>
          <a:p>
            <a:r>
              <a:t/>
            </a:r>
          </a:p>
          <a:p>
            <a:r>
              <a:t>Explanation to give</a:t>
            </a:r>
          </a:p>
          <a:p>
            <a:r>
              <a:t>Read for item in values as “take one value, call it item, execute the indented body, then take the next value”. The loop name temporarily refers to the current item.</a:t>
            </a:r>
          </a:p>
          <a:p>
            <a:r>
              <a:t/>
            </a:r>
          </a:p>
          <a:p>
            <a:r>
              <a:t>Worked illustration / lecturer answer</a:t>
            </a:r>
          </a:p>
          <a:p>
            <a:r>
              <a:t>For values [2, 4, 6], print(item) produces 2, then 4, then 6. With count initially zero and one increment per visit, the final count is 3.</a:t>
            </a:r>
          </a:p>
          <a:p>
            <a:r>
              <a:t/>
            </a:r>
          </a:p>
          <a:p>
            <a:r>
              <a:t>Misconception to address</a:t>
            </a:r>
          </a:p>
          <a:p>
            <a:r>
              <a:t>The loop variable does not refer to the whole list. A statement after the indentation ends runs after the loop, not once per item.</a:t>
            </a:r>
          </a:p>
          <a:p>
            <a:r>
              <a:t/>
            </a:r>
          </a:p>
          <a:p>
            <a:r>
              <a:t>On this slide</a:t>
            </a:r>
          </a:p>
          <a:p>
            <a:r>
              <a:t>Step | Current reading | Action</a:t>
            </a:r>
          </a:p>
          <a:p>
            <a:r>
              <a:t>First item | 2 | Print 2</a:t>
            </a:r>
          </a:p>
          <a:p>
            <a:r>
              <a:t>Second item | 4 | Print 4</a:t>
            </a:r>
          </a:p>
          <a:p>
            <a:r>
              <a:t>Third item | 6 | Print 6</a:t>
            </a:r>
          </a:p>
          <a:p>
            <a:r>
              <a:t>No items left | No new item | Leave loop; print finished</a:t>
            </a:r>
          </a:p>
          <a:p>
            <a:r>
              <a:t>An empty list runs the body zero times. It still reaches the outside line.</a:t>
            </a:r>
          </a:p>
          <a:p>
            <a:r>
              <a:t/>
            </a:r>
          </a:p>
          <a:p>
            <a:r>
              <a:t>Reference / existing resource</a:t>
            </a:r>
          </a:p>
          <a:p>
            <a:r>
              <a:t>https://docs.python.org/3/tutorial/introduction.html</a:t>
            </a:r>
          </a:p>
          <a:p>
            <a:r>
              <a:t>https://docs.python.org/3/tutorial/controlflow.html;</a:t>
            </a:r>
          </a:p>
          <a:p>
            <a:r>
              <a:t/>
            </a:r>
          </a:p>
          <a:p>
            <a:r>
              <a:t>Continue to</a:t>
            </a:r>
          </a:p>
          <a:p>
            <a:r>
              <a:t>Updating a counter inside a loop</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Updating a counter inside a loop</a:t>
            </a:r>
          </a:p>
          <a:p>
            <a:r>
              <a:t>CML3112, Week 4, slide 14</a:t>
            </a:r>
          </a:p>
          <a:p>
            <a:r>
              <a:t/>
            </a:r>
          </a:p>
          <a:p>
            <a:r>
              <a:t>Explanation to give</a:t>
            </a:r>
          </a:p>
          <a:p>
            <a:r>
              <a:t>Read the right-hand occurrence of the name as its old value. Calculate the new value, then replace the old association. This is why an update works in programming even though count = count + 1 is not an algebraic equality.</a:t>
            </a:r>
          </a:p>
          <a:p>
            <a:r>
              <a:t/>
            </a:r>
          </a:p>
          <a:p>
            <a:r>
              <a:t>Worked illustration / lecturer answer</a:t>
            </a:r>
          </a:p>
          <a:p>
            <a:r>
              <a:t>Start at count = 2. The update computes 2 + 1 and count becomes 3. Another execution of the update gives 4. Re-executing the initialisation first returns the sequence to 2, then 3.</a:t>
            </a:r>
          </a:p>
          <a:p>
            <a:r>
              <a:t/>
            </a:r>
          </a:p>
          <a:p>
            <a:r>
              <a:t>Misconception to address</a:t>
            </a:r>
          </a:p>
          <a:p>
            <a:r>
              <a:t>Initialise a running counter before the loop. Resetting it inside the loop throws away earlier progress.</a:t>
            </a:r>
          </a:p>
          <a:p>
            <a:r>
              <a:t/>
            </a:r>
          </a:p>
          <a:p>
            <a:r>
              <a:t>On this slide</a:t>
            </a:r>
          </a:p>
          <a:p>
            <a:r>
              <a:t>A counter records how many times an event happens. Set count = 0 before the loop, then count = count + 1 inside it.</a:t>
            </a:r>
          </a:p>
          <a:p>
            <a:r>
              <a:t/>
            </a:r>
          </a:p>
          <a:p>
            <a:r>
              <a:t>count += 1 is a shorter spelling for that numeric update. Similarly, total += reading means total = total + reading.</a:t>
            </a:r>
          </a:p>
          <a:p>
            <a:r>
              <a:t/>
            </a:r>
          </a:p>
          <a:p>
            <a:r>
              <a:t>The initial value belongs outside the loop. Resetting count to zero inside every iteration loses the earlier count.</a:t>
            </a:r>
          </a:p>
          <a:p>
            <a:r>
              <a:t/>
            </a:r>
          </a:p>
          <a:p>
            <a:r>
              <a:t>Reference / existing resource</a:t>
            </a:r>
          </a:p>
          <a:p>
            <a:r>
              <a:t>https://docs.python.org/3/tutorial/introduction.html</a:t>
            </a:r>
          </a:p>
          <a:p>
            <a:r>
              <a:t>https://docs.python.org/3/tutorial/controlflow.html;</a:t>
            </a:r>
          </a:p>
          <a:p>
            <a:r>
              <a:t/>
            </a:r>
          </a:p>
          <a:p>
            <a:r>
              <a:t>Continue to</a:t>
            </a:r>
          </a:p>
          <a:p>
            <a:r>
              <a:t>Count the visited items</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Count the visited items</a:t>
            </a:r>
          </a:p>
          <a:p>
            <a:r>
              <a:t>CML3112, Week 4, slide 15</a:t>
            </a:r>
          </a:p>
          <a:p>
            <a:r>
              <a:t/>
            </a:r>
          </a:p>
          <a:p>
            <a:r>
              <a:t>Explanation to give</a:t>
            </a:r>
          </a:p>
          <a:p>
            <a:r>
              <a:t>Read for item in values as “take one value, call it item, execute the indented body, then take the next value”. The loop name temporarily refers to the current item.</a:t>
            </a:r>
          </a:p>
          <a:p>
            <a:r>
              <a:t/>
            </a:r>
          </a:p>
          <a:p>
            <a:r>
              <a:t>Worked illustration / lecturer answer</a:t>
            </a:r>
          </a:p>
          <a:p>
            <a:r>
              <a:t>For values [2, 4, 6], print(item) produces 2, then 4, then 6. With count initially zero and one increment per visit, the final count is 3.</a:t>
            </a:r>
          </a:p>
          <a:p>
            <a:r>
              <a:t/>
            </a:r>
          </a:p>
          <a:p>
            <a:r>
              <a:t>Misconception to address</a:t>
            </a:r>
          </a:p>
          <a:p>
            <a:r>
              <a:t>The loop variable does not refer to the whole list. A statement after the indentation ends runs after the loop, not once per item.</a:t>
            </a:r>
          </a:p>
          <a:p>
            <a:r>
              <a:t/>
            </a:r>
          </a:p>
          <a:p>
            <a:r>
              <a:t>Read the displayed code line by line</a:t>
            </a:r>
          </a:p>
          <a:p>
            <a:r>
              <a:t>count = 0</a:t>
            </a:r>
          </a:p>
          <a:p>
            <a:r>
              <a:t>Evaluate the complete right-hand expression first, then assign its result to the name or selected field on the left.</a:t>
            </a:r>
          </a:p>
          <a:p>
            <a:r>
              <a:t/>
            </a:r>
          </a:p>
          <a:p>
            <a:r>
              <a:t>for reading in [2, 4, 6]:</a:t>
            </a:r>
          </a:p>
          <a:p>
            <a:r>
              <a:t>Take each item or pair in turn, assign the loop name(s), and repeat the indented body.</a:t>
            </a:r>
          </a:p>
          <a:p>
            <a:r>
              <a:t/>
            </a:r>
          </a:p>
          <a:p>
            <a:r>
              <a:t>count += 1</a:t>
            </a:r>
          </a:p>
          <a:p>
            <a:r>
              <a:t>Add the right-hand amount to the current stored value, then keep the updated value.</a:t>
            </a:r>
          </a:p>
          <a:p>
            <a:r>
              <a:t/>
            </a:r>
          </a:p>
          <a:p>
            <a:r>
              <a:t>print(count)</a:t>
            </a:r>
          </a:p>
          <a:p>
            <a:r>
              <a:t>Evaluate the expression inside the parentheses and display it. Displaying is separate from returning a function result.</a:t>
            </a:r>
          </a:p>
          <a:p>
            <a:r>
              <a:t/>
            </a:r>
          </a:p>
          <a:p>
            <a:r>
              <a:t>Result / continuity</a:t>
            </a:r>
          </a:p>
          <a:p>
            <a:r>
              <a:t>Output: 3</a:t>
            </a:r>
          </a:p>
          <a:p>
            <a:r>
              <a:t/>
            </a:r>
          </a:p>
          <a:p>
            <a:r>
              <a:t>Reference / existing resource</a:t>
            </a:r>
          </a:p>
          <a:p>
            <a:r>
              <a:t>https://docs.python.org/3/tutorial/introduction.html</a:t>
            </a:r>
          </a:p>
          <a:p>
            <a:r>
              <a:t>https://docs.python.org/3/tutorial/controlflow.html;</a:t>
            </a:r>
          </a:p>
          <a:p>
            <a:r>
              <a:t/>
            </a:r>
          </a:p>
          <a:p>
            <a:r>
              <a:t>Continue to</a:t>
            </a:r>
          </a:p>
          <a:p>
            <a:r>
              <a:t>Accumulator</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6.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Accumulator</a:t>
            </a:r>
          </a:p>
          <a:p>
            <a:r>
              <a:t>CML3112, Week 4, slide 16</a:t>
            </a:r>
          </a:p>
          <a:p>
            <a:r>
              <a:t/>
            </a:r>
          </a:p>
          <a:p>
            <a:r>
              <a:t>Explanation to give</a:t>
            </a:r>
          </a:p>
          <a:p>
            <a:r>
              <a:t>An accumulator keeps the result built so far. Initialise total before the loop, add the current reading during each visit, and calculate the mean only after all readings have been counted.</a:t>
            </a:r>
          </a:p>
          <a:p>
            <a:r>
              <a:t/>
            </a:r>
          </a:p>
          <a:p>
            <a:r>
              <a:t>Worked illustration / lecturer answer</a:t>
            </a:r>
          </a:p>
          <a:p>
            <a:r>
              <a:t>For [2, 4, 6], total changes 0 to 2 to 6 to 12. The count is 3, so the mean is 12 / 3 = 4.0. sum, len, min and max report 12, 3, 2 and 6.</a:t>
            </a:r>
          </a:p>
          <a:p>
            <a:r>
              <a:t/>
            </a:r>
          </a:p>
          <a:p>
            <a:r>
              <a:t>Misconception to address</a:t>
            </a:r>
          </a:p>
          <a:p>
            <a:r>
              <a:t>An empty list has count zero, so dividing by its count fails. The issued task must define the empty-data behaviour; do not silently invent a reading.</a:t>
            </a:r>
          </a:p>
          <a:p>
            <a:r>
              <a:t/>
            </a:r>
          </a:p>
          <a:p>
            <a:r>
              <a:t>On this slide</a:t>
            </a:r>
          </a:p>
          <a:p>
            <a:r>
              <a:t>Accumulator: A running total. Set it to zero before the loop, add inside the loop, and read the final total afterward.</a:t>
            </a:r>
          </a:p>
          <a:p>
            <a:r>
              <a:t/>
            </a:r>
          </a:p>
          <a:p>
            <a:r>
              <a:t>Continue to</a:t>
            </a:r>
          </a:p>
          <a:p>
            <a:r>
              <a:t>A loop repeats an indented block</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7.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A loop repeats an indented block</a:t>
            </a:r>
          </a:p>
          <a:p>
            <a:r>
              <a:t>CML3112, Week 4, slide 17</a:t>
            </a:r>
          </a:p>
          <a:p>
            <a:r>
              <a:t/>
            </a:r>
          </a:p>
          <a:p>
            <a:r>
              <a:t>Explanation to give</a:t>
            </a:r>
          </a:p>
          <a:p>
            <a:r>
              <a:t>Read for item in values as “take one value, call it item, execute the indented body, then take the next value”. The loop name temporarily refers to the current item.</a:t>
            </a:r>
          </a:p>
          <a:p>
            <a:r>
              <a:t/>
            </a:r>
          </a:p>
          <a:p>
            <a:r>
              <a:t>Worked illustration / lecturer answer</a:t>
            </a:r>
          </a:p>
          <a:p>
            <a:r>
              <a:t>For values [2, 4, 6], print(item) produces 2, then 4, then 6. With count initially zero and one increment per visit, the final count is 3.</a:t>
            </a:r>
          </a:p>
          <a:p>
            <a:r>
              <a:t/>
            </a:r>
          </a:p>
          <a:p>
            <a:r>
              <a:t>Misconception to address</a:t>
            </a:r>
          </a:p>
          <a:p>
            <a:r>
              <a:t>The loop variable does not refer to the whole list. A statement after the indentation ends runs after the loop, not once per item.</a:t>
            </a:r>
          </a:p>
          <a:p>
            <a:r>
              <a:t/>
            </a:r>
          </a:p>
          <a:p>
            <a:r>
              <a:t>On this slide</a:t>
            </a:r>
          </a:p>
          <a:p>
            <a:r>
              <a:t>for reading in readings: takes one item at a time.</a:t>
            </a:r>
          </a:p>
          <a:p>
            <a:r>
              <a:t/>
            </a:r>
          </a:p>
          <a:p>
            <a:r>
              <a:t>The colon starts the block. Four spaces show which lines repeat.</a:t>
            </a:r>
          </a:p>
          <a:p>
            <a:r>
              <a:t/>
            </a:r>
          </a:p>
          <a:p>
            <a:r>
              <a:t>A running total must start at zero before the loop.</a:t>
            </a:r>
          </a:p>
          <a:p>
            <a:r>
              <a:t/>
            </a:r>
          </a:p>
          <a:p>
            <a:r>
              <a:t>Continue to</a:t>
            </a:r>
          </a:p>
          <a:p>
            <a:r>
              <a:t>A mean uses a total and a count</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8.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A mean uses a total and a count</a:t>
            </a:r>
          </a:p>
          <a:p>
            <a:r>
              <a:t>CML3112, Week 4, slide 18</a:t>
            </a:r>
          </a:p>
          <a:p>
            <a:r>
              <a:t/>
            </a:r>
          </a:p>
          <a:p>
            <a:r>
              <a:t>Explanation to give</a:t>
            </a:r>
          </a:p>
          <a:p>
            <a:r>
              <a:t>An accumulator keeps the result built so far. Initialise total before the loop, add the current reading during each visit, and calculate the mean only after all readings have been counted.</a:t>
            </a:r>
          </a:p>
          <a:p>
            <a:r>
              <a:t/>
            </a:r>
          </a:p>
          <a:p>
            <a:r>
              <a:t>Worked illustration / lecturer answer</a:t>
            </a:r>
          </a:p>
          <a:p>
            <a:r>
              <a:t>For [2, 4, 6], total changes 0 to 2 to 6 to 12. The count is 3, so the mean is 12 / 3 = 4.0. sum, len, min and max report 12, 3, 2 and 6.</a:t>
            </a:r>
          </a:p>
          <a:p>
            <a:r>
              <a:t/>
            </a:r>
          </a:p>
          <a:p>
            <a:r>
              <a:t>Misconception to address</a:t>
            </a:r>
          </a:p>
          <a:p>
            <a:r>
              <a:t>An empty list has count zero, so dividing by its count fails. The issued task must define the empty-data behaviour; do not silently invent a reading.</a:t>
            </a:r>
          </a:p>
          <a:p>
            <a:r>
              <a:t/>
            </a:r>
          </a:p>
          <a:p>
            <a:r>
              <a:t>On this slide</a:t>
            </a:r>
          </a:p>
          <a:p>
            <a:r>
              <a:t>Start the total at 0. Add 2, then 4, then 6.</a:t>
            </a:r>
          </a:p>
          <a:p>
            <a:r>
              <a:t/>
            </a:r>
          </a:p>
          <a:p>
            <a:r>
              <a:t>The final total is 12. The count is 3.</a:t>
            </a:r>
          </a:p>
          <a:p>
            <a:r>
              <a:t/>
            </a:r>
          </a:p>
          <a:p>
            <a:r>
              <a:t>12 / 3 gives the mean 4. An empty list needs a separate rule.</a:t>
            </a:r>
          </a:p>
          <a:p>
            <a:r>
              <a:t/>
            </a:r>
          </a:p>
          <a:p>
            <a:r>
              <a:t>Continue to</a:t>
            </a:r>
          </a:p>
          <a:p>
            <a:r>
              <a:t>A loop changes the running total</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9.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A loop changes the running total</a:t>
            </a:r>
          </a:p>
          <a:p>
            <a:r>
              <a:t>CML3112, Week 4, slide 19</a:t>
            </a:r>
          </a:p>
          <a:p>
            <a:r>
              <a:t/>
            </a:r>
          </a:p>
          <a:p>
            <a:r>
              <a:t>Explanation to give</a:t>
            </a:r>
          </a:p>
          <a:p>
            <a:r>
              <a:t>An accumulator keeps the result built so far. Initialise total before the loop, add the current reading during each visit, and calculate the mean only after all readings have been counted.</a:t>
            </a:r>
          </a:p>
          <a:p>
            <a:r>
              <a:t/>
            </a:r>
          </a:p>
          <a:p>
            <a:r>
              <a:t>Worked illustration / lecturer answer</a:t>
            </a:r>
          </a:p>
          <a:p>
            <a:r>
              <a:t>For [2, 4, 6], total changes 0 to 2 to 6 to 12. The count is 3, so the mean is 12 / 3 = 4.0. sum, len, min and max report 12, 3, 2 and 6.</a:t>
            </a:r>
          </a:p>
          <a:p>
            <a:r>
              <a:t/>
            </a:r>
          </a:p>
          <a:p>
            <a:r>
              <a:t>Misconception to address</a:t>
            </a:r>
          </a:p>
          <a:p>
            <a:r>
              <a:t>An empty list has count zero, so dividing by its count fails. The issued task must define the empty-data behaviour; do not silently invent a reading.</a:t>
            </a:r>
          </a:p>
          <a:p>
            <a:r>
              <a:t/>
            </a:r>
          </a:p>
          <a:p>
            <a:r>
              <a:t>On this slide</a:t>
            </a:r>
          </a:p>
          <a:p>
            <a:r>
              <a:t>This illustration uses six separate readings. Next we trace the smaller list [2, 4, 6] using the same running-total rule.</a:t>
            </a:r>
          </a:p>
          <a:p>
            <a:r>
              <a:t/>
            </a:r>
          </a:p>
          <a:p>
            <a:r>
              <a:t>Continue to</a:t>
            </a:r>
          </a:p>
          <a:p>
            <a:r>
              <a:t>Tracing the loop</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0.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Tracing the loop</a:t>
            </a:r>
          </a:p>
          <a:p>
            <a:r>
              <a:t>CML3112, Week 4, slide 20</a:t>
            </a:r>
          </a:p>
          <a:p>
            <a:r>
              <a:t/>
            </a:r>
          </a:p>
          <a:p>
            <a:r>
              <a:t>Explanation to give</a:t>
            </a:r>
          </a:p>
          <a:p>
            <a:r>
              <a:t>An accumulator keeps the result built so far. Initialise total before the loop, add the current reading during each visit, and calculate the mean only after all readings have been counted.</a:t>
            </a:r>
          </a:p>
          <a:p>
            <a:r>
              <a:t/>
            </a:r>
          </a:p>
          <a:p>
            <a:r>
              <a:t>Worked illustration / lecturer answer</a:t>
            </a:r>
          </a:p>
          <a:p>
            <a:r>
              <a:t>For [2, 4, 6], total changes 0 to 2 to 6 to 12. The count is 3, so the mean is 12 / 3 = 4.0. sum, len, min and max report 12, 3, 2 and 6.</a:t>
            </a:r>
          </a:p>
          <a:p>
            <a:r>
              <a:t/>
            </a:r>
          </a:p>
          <a:p>
            <a:r>
              <a:t>Misconception to address</a:t>
            </a:r>
          </a:p>
          <a:p>
            <a:r>
              <a:t>An empty list has count zero, so dividing by its count fails. The issued task must define the empty-data behaviour; do not silently invent a reading.</a:t>
            </a:r>
          </a:p>
          <a:p>
            <a:r>
              <a:t/>
            </a:r>
          </a:p>
          <a:p>
            <a:r>
              <a:t>On this slide</a:t>
            </a:r>
          </a:p>
          <a:p>
            <a:r>
              <a:t>Step | reading | total after addition</a:t>
            </a:r>
          </a:p>
          <a:p>
            <a:r>
              <a:t>Before loop | — | 0</a:t>
            </a:r>
          </a:p>
          <a:p>
            <a:r>
              <a:t>First | 2 | 2</a:t>
            </a:r>
          </a:p>
          <a:p>
            <a:r>
              <a:t>Second | 4 | 6</a:t>
            </a:r>
          </a:p>
          <a:p>
            <a:r>
              <a:t>Third | 6 | 12</a:t>
            </a:r>
          </a:p>
          <a:p>
            <a:r>
              <a:t>There are three readings.</a:t>
            </a:r>
          </a:p>
          <a:p>
            <a:r>
              <a:t/>
            </a:r>
          </a:p>
          <a:p>
            <a:r>
              <a:t>Continue to</a:t>
            </a:r>
          </a:p>
          <a:p>
            <a:r>
              <a:t>Lists loops and records in Python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Lists loops and records in Python</a:t>
            </a:r>
          </a:p>
          <a:p>
            <a:r>
              <a:t>CML3112, Week 4, slide 21</a:t>
            </a:r>
          </a:p>
          <a:p>
            <a:r>
              <a:t/>
            </a:r>
          </a:p>
          <a:p>
            <a:r>
              <a:t>Explanation to give</a:t>
            </a:r>
          </a:p>
          <a:p>
            <a:r>
              <a:t>An accumulator keeps the result built so far. Initialise total before the loop, add the current reading during each visit, and calculate the mean only after all readings have been counted.</a:t>
            </a:r>
          </a:p>
          <a:p>
            <a:r>
              <a:t/>
            </a:r>
          </a:p>
          <a:p>
            <a:r>
              <a:t>Worked illustration / lecturer answer</a:t>
            </a:r>
          </a:p>
          <a:p>
            <a:r>
              <a:t>For [2, 4, 6], total changes 0 to 2 to 6 to 12. The count is 3, so the mean is 12 / 3 = 4.0. sum, len, min and max report 12, 3, 2 and 6.</a:t>
            </a:r>
          </a:p>
          <a:p>
            <a:r>
              <a:t/>
            </a:r>
          </a:p>
          <a:p>
            <a:r>
              <a:t>Misconception to address</a:t>
            </a:r>
          </a:p>
          <a:p>
            <a:r>
              <a:t>An empty list has count zero, so dividing by its count fails. The issued task must define the empty-data behaviour; do not silently invent a reading.</a:t>
            </a:r>
          </a:p>
          <a:p>
            <a:r>
              <a:t/>
            </a:r>
          </a:p>
          <a:p>
            <a:r>
              <a:t>Read the displayed code line by line</a:t>
            </a:r>
          </a:p>
          <a:p>
            <a:r>
              <a:t>readings = [2, 4, 6]</a:t>
            </a:r>
          </a:p>
          <a:p>
            <a:r>
              <a:t>Evaluate the complete right-hand expression first, then assign its result to the name or selected field on the left.</a:t>
            </a:r>
          </a:p>
          <a:p>
            <a:r>
              <a:t/>
            </a:r>
          </a:p>
          <a:p>
            <a:r>
              <a:t>total = 0</a:t>
            </a:r>
          </a:p>
          <a:p>
            <a:r>
              <a:t>Evaluate the complete right-hand expression first, then assign its result to the name or selected field on the left.</a:t>
            </a:r>
          </a:p>
          <a:p>
            <a:r>
              <a:t/>
            </a:r>
          </a:p>
          <a:p>
            <a:r>
              <a:t>for reading in readings:</a:t>
            </a:r>
          </a:p>
          <a:p>
            <a:r>
              <a:t>Take each item or pair in turn, assign the loop name(s), and repeat the indented body.</a:t>
            </a:r>
          </a:p>
          <a:p>
            <a:r>
              <a:t/>
            </a:r>
          </a:p>
          <a:p>
            <a:r>
              <a:t>total = total + reading</a:t>
            </a:r>
          </a:p>
          <a:p>
            <a:r>
              <a:t>Evaluate the complete right-hand expression first, then assign its result to the name or selected field on the left.</a:t>
            </a:r>
          </a:p>
          <a:p>
            <a:r>
              <a:t/>
            </a:r>
          </a:p>
          <a:p>
            <a:r>
              <a:t>mean = total / len(readings)</a:t>
            </a:r>
          </a:p>
          <a:p>
            <a:r>
              <a:t>Evaluate the complete right-hand expression first, then assign its result to the name or selected field on the left.</a:t>
            </a:r>
          </a:p>
          <a:p>
            <a:r>
              <a:t/>
            </a:r>
          </a:p>
          <a:p>
            <a:r>
              <a:t>print(mean)</a:t>
            </a:r>
          </a:p>
          <a:p>
            <a:r>
              <a:t>Evaluate the expression inside the parentheses and display it. Displaying is separate from returning a function result.</a:t>
            </a:r>
          </a:p>
          <a:p>
            <a:r>
              <a:t/>
            </a:r>
          </a:p>
          <a:p>
            <a:r>
              <a:t>Result / continuity</a:t>
            </a:r>
          </a:p>
          <a:p>
            <a:r>
              <a:t>Read top to bottom. Run the complete example in the matching practice notebook.</a:t>
            </a:r>
          </a:p>
          <a:p>
            <a:r>
              <a:t/>
            </a:r>
          </a:p>
          <a:p>
            <a:r>
              <a:t>Continue to</a:t>
            </a:r>
          </a:p>
          <a:p>
            <a:r>
              <a:t>Lists loops and records results</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Lists loops and records results</a:t>
            </a:r>
          </a:p>
          <a:p>
            <a:r>
              <a:t>CML3112, Week 4, slide 22</a:t>
            </a:r>
          </a:p>
          <a:p>
            <a:r>
              <a:t/>
            </a:r>
          </a:p>
          <a:p>
            <a:r>
              <a:t>Explanation to give</a:t>
            </a:r>
          </a:p>
          <a:p>
            <a:r>
              <a:t>An accumulator keeps the result built so far. Initialise total before the loop, add the current reading during each visit, and calculate the mean only after all readings have been counted.</a:t>
            </a:r>
          </a:p>
          <a:p>
            <a:r>
              <a:t/>
            </a:r>
          </a:p>
          <a:p>
            <a:r>
              <a:t>Worked illustration / lecturer answer</a:t>
            </a:r>
          </a:p>
          <a:p>
            <a:r>
              <a:t>For [2, 4, 6], total changes 0 to 2 to 6 to 12. The count is 3, so the mean is 12 / 3 = 4.0. sum, len, min and max report 12, 3, 2 and 6.</a:t>
            </a:r>
          </a:p>
          <a:p>
            <a:r>
              <a:t/>
            </a:r>
          </a:p>
          <a:p>
            <a:r>
              <a:t>Misconception to address</a:t>
            </a:r>
          </a:p>
          <a:p>
            <a:r>
              <a:t>An empty list has count zero, so dividing by its count fails. The issued task must define the empty-data behaviour; do not silently invent a reading.</a:t>
            </a:r>
          </a:p>
          <a:p>
            <a:r>
              <a:t/>
            </a:r>
          </a:p>
          <a:p>
            <a:r>
              <a:t>On this slide</a:t>
            </a:r>
          </a:p>
          <a:p>
            <a:r>
              <a:t>4.0</a:t>
            </a:r>
          </a:p>
          <a:p>
            <a:r>
              <a:t/>
            </a:r>
          </a:p>
          <a:p>
            <a:r>
              <a:t>Continue to</a:t>
            </a:r>
          </a:p>
          <a:p>
            <a:r>
              <a:t>The built-in summary functions</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The built-in summary functions</a:t>
            </a:r>
          </a:p>
          <a:p>
            <a:r>
              <a:t>CML3112, Week 4, slide 23</a:t>
            </a:r>
          </a:p>
          <a:p>
            <a:r>
              <a:t/>
            </a:r>
          </a:p>
          <a:p>
            <a:r>
              <a:t>Explanation to give</a:t>
            </a:r>
          </a:p>
          <a:p>
            <a:r>
              <a:t>An accumulator keeps the result built so far. Initialise total before the loop, add the current reading during each visit, and calculate the mean only after all readings have been counted.</a:t>
            </a:r>
          </a:p>
          <a:p>
            <a:r>
              <a:t/>
            </a:r>
          </a:p>
          <a:p>
            <a:r>
              <a:t>Worked illustration / lecturer answer</a:t>
            </a:r>
          </a:p>
          <a:p>
            <a:r>
              <a:t>For [2, 4, 6], total changes 0 to 2 to 6 to 12. The count is 3, so the mean is 12 / 3 = 4.0. sum, len, min and max report 12, 3, 2 and 6.</a:t>
            </a:r>
          </a:p>
          <a:p>
            <a:r>
              <a:t/>
            </a:r>
          </a:p>
          <a:p>
            <a:r>
              <a:t>Misconception to address</a:t>
            </a:r>
          </a:p>
          <a:p>
            <a:r>
              <a:t>An empty list has count zero, so dividing by its count fails. The issued task must define the empty-data behaviour; do not silently invent a reading.</a:t>
            </a:r>
          </a:p>
          <a:p>
            <a:r>
              <a:t/>
            </a:r>
          </a:p>
          <a:p>
            <a:r>
              <a:t>On this slide</a:t>
            </a:r>
          </a:p>
          <a:p>
            <a:r>
              <a:t>Function | Question it answers | For [2, 4, 6]</a:t>
            </a:r>
          </a:p>
          <a:p>
            <a:r>
              <a:t>len | How many items? | 3</a:t>
            </a:r>
          </a:p>
          <a:p>
            <a:r>
              <a:t>sum | What is their total? | 12</a:t>
            </a:r>
          </a:p>
          <a:p>
            <a:r>
              <a:t>min | Which is smallest? | 2</a:t>
            </a:r>
          </a:p>
          <a:p>
            <a:r>
              <a:t>max | Which is largest? | 6</a:t>
            </a:r>
          </a:p>
          <a:p>
            <a:r>
              <a:t>These functions already exist in Python. min and max need at least one item unless an explicit default is supplied.</a:t>
            </a:r>
          </a:p>
          <a:p>
            <a:r>
              <a:t/>
            </a:r>
          </a:p>
          <a:p>
            <a:r>
              <a:t>Reference / existing resource</a:t>
            </a:r>
          </a:p>
          <a:p>
            <a:r>
              <a:t>https://docs.python.org/3/tutorial/introduction.html</a:t>
            </a:r>
          </a:p>
          <a:p>
            <a:r>
              <a:t>https://docs.python.org/3/tutorial/controlflow.html;</a:t>
            </a:r>
          </a:p>
          <a:p>
            <a:r>
              <a:t/>
            </a:r>
          </a:p>
          <a:p>
            <a:r>
              <a:t>Continue to</a:t>
            </a:r>
          </a:p>
          <a:p>
            <a:r>
              <a:t>Built-in summaries of a list</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Built-in summaries of a list</a:t>
            </a:r>
          </a:p>
          <a:p>
            <a:r>
              <a:t>CML3112, Week 4, slide 24</a:t>
            </a:r>
          </a:p>
          <a:p>
            <a:r>
              <a:t/>
            </a:r>
          </a:p>
          <a:p>
            <a:r>
              <a:t>Explanation to give</a:t>
            </a:r>
          </a:p>
          <a:p>
            <a:r>
              <a:t>An accumulator keeps the result built so far. Initialise total before the loop, add the current reading during each visit, and calculate the mean only after all readings have been counted.</a:t>
            </a:r>
          </a:p>
          <a:p>
            <a:r>
              <a:t/>
            </a:r>
          </a:p>
          <a:p>
            <a:r>
              <a:t>Worked illustration / lecturer answer</a:t>
            </a:r>
          </a:p>
          <a:p>
            <a:r>
              <a:t>For [2, 4, 6], total changes 0 to 2 to 6 to 12. The count is 3, so the mean is 12 / 3 = 4.0. sum, len, min and max report 12, 3, 2 and 6.</a:t>
            </a:r>
          </a:p>
          <a:p>
            <a:r>
              <a:t/>
            </a:r>
          </a:p>
          <a:p>
            <a:r>
              <a:t>Misconception to address</a:t>
            </a:r>
          </a:p>
          <a:p>
            <a:r>
              <a:t>An empty list has count zero, so dividing by its count fails. The issued task must define the empty-data behaviour; do not silently invent a reading.</a:t>
            </a:r>
          </a:p>
          <a:p>
            <a:r>
              <a:t/>
            </a:r>
          </a:p>
          <a:p>
            <a:r>
              <a:t>Read the displayed code line by line</a:t>
            </a:r>
          </a:p>
          <a:p>
            <a:r>
              <a:t>readings = [2, 4, 6]</a:t>
            </a:r>
          </a:p>
          <a:p>
            <a:r>
              <a:t>Evaluate the complete right-hand expression first, then assign its result to the name or selected field on the left.</a:t>
            </a:r>
          </a:p>
          <a:p>
            <a:r>
              <a:t/>
            </a:r>
          </a:p>
          <a:p>
            <a:r>
              <a:t>print(sum(readings))</a:t>
            </a:r>
          </a:p>
          <a:p>
            <a:r>
              <a:t>Evaluate the expression inside the parentheses and display it. Displaying is separate from returning a function result.</a:t>
            </a:r>
          </a:p>
          <a:p>
            <a:r>
              <a:t/>
            </a:r>
          </a:p>
          <a:p>
            <a:r>
              <a:t>print(len(readings))</a:t>
            </a:r>
          </a:p>
          <a:p>
            <a:r>
              <a:t>Evaluate the expression inside the parentheses and display it. Displaying is separate from returning a function result.</a:t>
            </a:r>
          </a:p>
          <a:p>
            <a:r>
              <a:t/>
            </a:r>
          </a:p>
          <a:p>
            <a:r>
              <a:t>print(min(readings))</a:t>
            </a:r>
          </a:p>
          <a:p>
            <a:r>
              <a:t>Evaluate the expression inside the parentheses and display it. Displaying is separate from returning a function result.</a:t>
            </a:r>
          </a:p>
          <a:p>
            <a:r>
              <a:t/>
            </a:r>
          </a:p>
          <a:p>
            <a:r>
              <a:t>print(max(readings))</a:t>
            </a:r>
          </a:p>
          <a:p>
            <a:r>
              <a:t>Evaluate the expression inside the parentheses and display it. Displaying is separate from returning a function result.</a:t>
            </a:r>
          </a:p>
          <a:p>
            <a:r>
              <a:t/>
            </a:r>
          </a:p>
          <a:p>
            <a:r>
              <a:t>Result / continuity</a:t>
            </a:r>
          </a:p>
          <a:p>
            <a:r>
              <a:t>Output: 12, 3, 2, 6. sum totals; len counts; min and max select the smallest and largest.</a:t>
            </a:r>
          </a:p>
          <a:p>
            <a:r>
              <a:t/>
            </a:r>
          </a:p>
          <a:p>
            <a:r>
              <a:t>Continue to</a:t>
            </a:r>
          </a:p>
          <a:p>
            <a:r>
              <a:t>A while loop checks before each repetition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A while loop checks before each repetition</a:t>
            </a:r>
          </a:p>
          <a:p>
            <a:r>
              <a:t>CML3112, Week 4, slide 25</a:t>
            </a:r>
          </a:p>
          <a:p>
            <a:r>
              <a:t/>
            </a:r>
          </a:p>
          <a:p>
            <a:r>
              <a:t>Explanation to give</a:t>
            </a:r>
          </a:p>
          <a:p>
            <a:r>
              <a:t>while tests a condition before each iteration. Unlike for over a fixed list, it needs a route that eventually makes the condition False. Trace both the test and the state update.</a:t>
            </a:r>
          </a:p>
          <a:p>
            <a:r>
              <a:t/>
            </a:r>
          </a:p>
          <a:p>
            <a:r>
              <a:t>Worked illustration / lecturer answer</a:t>
            </a:r>
          </a:p>
          <a:p>
            <a:r>
              <a:t>With count = 0 and while count &lt; 3, print then increment yields 0, 1 and 2. The next test sees count 3 and stops before printing it.</a:t>
            </a:r>
          </a:p>
          <a:p>
            <a:r>
              <a:t/>
            </a:r>
          </a:p>
          <a:p>
            <a:r>
              <a:t>Misconception to address</a:t>
            </a:r>
          </a:p>
          <a:p>
            <a:r>
              <a:t>If count is never updated, the condition stays True. Interrupt a stuck runtime rather than waiting indefinitely, then identify the missing update.</a:t>
            </a:r>
          </a:p>
          <a:p>
            <a:r>
              <a:t/>
            </a:r>
          </a:p>
          <a:p>
            <a:r>
              <a:t>On this slide</a:t>
            </a:r>
          </a:p>
          <a:p>
            <a:r>
              <a:t>while count &lt; 3: tests the condition before entering its indented block. True enters the block; False skips it and continues after the loop.</a:t>
            </a:r>
          </a:p>
          <a:p>
            <a:r>
              <a:t/>
            </a:r>
          </a:p>
          <a:p>
            <a:r>
              <a:t>At the end of the body, return to the condition and test again. Unlike for, while does not automatically move to the next list item.</a:t>
            </a:r>
          </a:p>
          <a:p>
            <a:r>
              <a:t/>
            </a:r>
          </a:p>
          <a:p>
            <a:r>
              <a:t>Something must make the condition become False, or the loop may continue indefinitely. In our example, count increases on every iteration.</a:t>
            </a:r>
          </a:p>
          <a:p>
            <a:r>
              <a:t/>
            </a:r>
          </a:p>
          <a:p>
            <a:r>
              <a:t>Reference / existing resource</a:t>
            </a:r>
          </a:p>
          <a:p>
            <a:r>
              <a:t>https://docs.python.org/3/tutorial/introduction.html</a:t>
            </a:r>
          </a:p>
          <a:p>
            <a:r>
              <a:t>https://docs.python.org/3/tutorial/controlflow.html;</a:t>
            </a:r>
          </a:p>
          <a:p>
            <a:r>
              <a:t/>
            </a:r>
          </a:p>
          <a:p>
            <a:r>
              <a:t>Continue to</a:t>
            </a:r>
          </a:p>
          <a:p>
            <a:r>
              <a:t>A while loop with a stopping condition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6.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A while loop with a stopping condition</a:t>
            </a:r>
          </a:p>
          <a:p>
            <a:r>
              <a:t>CML3112, Week 4, slide 26</a:t>
            </a:r>
          </a:p>
          <a:p>
            <a:r>
              <a:t/>
            </a:r>
          </a:p>
          <a:p>
            <a:r>
              <a:t>Explanation to give</a:t>
            </a:r>
          </a:p>
          <a:p>
            <a:r>
              <a:t>while tests a condition before each iteration. Unlike for over a fixed list, it needs a route that eventually makes the condition False. Trace both the test and the state update.</a:t>
            </a:r>
          </a:p>
          <a:p>
            <a:r>
              <a:t/>
            </a:r>
          </a:p>
          <a:p>
            <a:r>
              <a:t>Worked illustration / lecturer answer</a:t>
            </a:r>
          </a:p>
          <a:p>
            <a:r>
              <a:t>With count = 0 and while count &lt; 3, print then increment yields 0, 1 and 2. The next test sees count 3 and stops before printing it.</a:t>
            </a:r>
          </a:p>
          <a:p>
            <a:r>
              <a:t/>
            </a:r>
          </a:p>
          <a:p>
            <a:r>
              <a:t>Misconception to address</a:t>
            </a:r>
          </a:p>
          <a:p>
            <a:r>
              <a:t>If count is never updated, the condition stays True. Interrupt a stuck runtime rather than waiting indefinitely, then identify the missing update.</a:t>
            </a:r>
          </a:p>
          <a:p>
            <a:r>
              <a:t/>
            </a:r>
          </a:p>
          <a:p>
            <a:r>
              <a:t>Read the displayed code line by line</a:t>
            </a:r>
          </a:p>
          <a:p>
            <a:r>
              <a:t>count = 0</a:t>
            </a:r>
          </a:p>
          <a:p>
            <a:r>
              <a:t>Evaluate the complete right-hand expression first, then assign its result to the name or selected field on the left.</a:t>
            </a:r>
          </a:p>
          <a:p>
            <a:r>
              <a:t/>
            </a:r>
          </a:p>
          <a:p>
            <a:r>
              <a:t>while count &lt; 3:</a:t>
            </a:r>
          </a:p>
          <a:p>
            <a:r>
              <a:t>Test this condition before each repetition. Stop when it becomes False.</a:t>
            </a:r>
          </a:p>
          <a:p>
            <a:r>
              <a:t/>
            </a:r>
          </a:p>
          <a:p>
            <a:r>
              <a:t>print(count)</a:t>
            </a:r>
          </a:p>
          <a:p>
            <a:r>
              <a:t>Evaluate the expression inside the parentheses and display it. Displaying is separate from returning a function result.</a:t>
            </a:r>
          </a:p>
          <a:p>
            <a:r>
              <a:t/>
            </a:r>
          </a:p>
          <a:p>
            <a:r>
              <a:t>count = count + 1</a:t>
            </a:r>
          </a:p>
          <a:p>
            <a:r>
              <a:t>Evaluate the complete right-hand expression first, then assign its result to the name or selected field on the left.</a:t>
            </a:r>
          </a:p>
          <a:p>
            <a:r>
              <a:t/>
            </a:r>
          </a:p>
          <a:p>
            <a:r>
              <a:t>print("finished")</a:t>
            </a:r>
          </a:p>
          <a:p>
            <a:r>
              <a:t>Evaluate the expression inside the parentheses and display it. Displaying is separate from returning a function result.</a:t>
            </a:r>
          </a:p>
          <a:p>
            <a:r>
              <a:t/>
            </a:r>
          </a:p>
          <a:p>
            <a:r>
              <a:t>Result / continuity</a:t>
            </a:r>
          </a:p>
          <a:p>
            <a:r>
              <a:t>Output: 0; 1; 2; finished</a:t>
            </a:r>
          </a:p>
          <a:p>
            <a:r>
              <a:t/>
            </a:r>
          </a:p>
          <a:p>
            <a:r>
              <a:t>Reference / existing resource</a:t>
            </a:r>
          </a:p>
          <a:p>
            <a:r>
              <a:t>https://docs.python.org/3/tutorial/introduction.html</a:t>
            </a:r>
          </a:p>
          <a:p>
            <a:r>
              <a:t>https://docs.python.org/3/tutorial/controlflow.html;</a:t>
            </a:r>
          </a:p>
          <a:p>
            <a:r>
              <a:t/>
            </a:r>
          </a:p>
          <a:p>
            <a:r>
              <a:t>Continue to</a:t>
            </a:r>
          </a:p>
          <a:p>
            <a:r>
              <a:t>Trace the while condition and update</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7.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Trace the while condition and update</a:t>
            </a:r>
          </a:p>
          <a:p>
            <a:r>
              <a:t>CML3112, Week 4, slide 27</a:t>
            </a:r>
          </a:p>
          <a:p>
            <a:r>
              <a:t/>
            </a:r>
          </a:p>
          <a:p>
            <a:r>
              <a:t>Explanation to give</a:t>
            </a:r>
          </a:p>
          <a:p>
            <a:r>
              <a:t>while tests a condition before each iteration. Unlike for over a fixed list, it needs a route that eventually makes the condition False. Trace both the test and the state update.</a:t>
            </a:r>
          </a:p>
          <a:p>
            <a:r>
              <a:t/>
            </a:r>
          </a:p>
          <a:p>
            <a:r>
              <a:t>Worked illustration / lecturer answer</a:t>
            </a:r>
          </a:p>
          <a:p>
            <a:r>
              <a:t>With count = 0 and while count &lt; 3, print then increment yields 0, 1 and 2. The next test sees count 3 and stops before printing it.</a:t>
            </a:r>
          </a:p>
          <a:p>
            <a:r>
              <a:t/>
            </a:r>
          </a:p>
          <a:p>
            <a:r>
              <a:t>Misconception to address</a:t>
            </a:r>
          </a:p>
          <a:p>
            <a:r>
              <a:t>If count is never updated, the condition stays True. Interrupt a stuck runtime rather than waiting indefinitely, then identify the missing update.</a:t>
            </a:r>
          </a:p>
          <a:p>
            <a:r>
              <a:t/>
            </a:r>
          </a:p>
          <a:p>
            <a:r>
              <a:t>On this slide</a:t>
            </a:r>
          </a:p>
          <a:p>
            <a:r>
              <a:t>count before test | count &lt; 3 | Body and next count</a:t>
            </a:r>
          </a:p>
          <a:p>
            <a:r>
              <a:t>0 | True | Print 0; update to 1</a:t>
            </a:r>
          </a:p>
          <a:p>
            <a:r>
              <a:t>1 | True | Print 1; update to 2</a:t>
            </a:r>
          </a:p>
          <a:p>
            <a:r>
              <a:t>2 | True | Print 2; update to 3</a:t>
            </a:r>
          </a:p>
          <a:p>
            <a:r>
              <a:t>3 | False | Skip body; print finished</a:t>
            </a:r>
          </a:p>
          <a:p>
            <a:r>
              <a:t>If count starts at 3, the body runs zero times. The condition is tested first.</a:t>
            </a:r>
          </a:p>
          <a:p>
            <a:r>
              <a:t/>
            </a:r>
          </a:p>
          <a:p>
            <a:r>
              <a:t>Reference / existing resource</a:t>
            </a:r>
          </a:p>
          <a:p>
            <a:r>
              <a:t>https://docs.python.org/3/tutorial/introduction.html</a:t>
            </a:r>
          </a:p>
          <a:p>
            <a:r>
              <a:t>https://docs.python.org/3/tutorial/controlflow.html;</a:t>
            </a:r>
          </a:p>
          <a:p>
            <a:r>
              <a:t/>
            </a:r>
          </a:p>
          <a:p>
            <a:r>
              <a:t>Continue to</a:t>
            </a:r>
          </a:p>
          <a:p>
            <a:r>
              <a:t>Preventing an endless loop</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8.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Preventing an endless loop</a:t>
            </a:r>
          </a:p>
          <a:p>
            <a:r>
              <a:t>CML3112, Week 4, slide 28</a:t>
            </a:r>
          </a:p>
          <a:p>
            <a:r>
              <a:t/>
            </a:r>
          </a:p>
          <a:p>
            <a:r>
              <a:t>Explanation to give</a:t>
            </a:r>
          </a:p>
          <a:p>
            <a:r>
              <a:t>while tests a condition before each iteration. Unlike for over a fixed list, it needs a route that eventually makes the condition False. Trace both the test and the state update.</a:t>
            </a:r>
          </a:p>
          <a:p>
            <a:r>
              <a:t/>
            </a:r>
          </a:p>
          <a:p>
            <a:r>
              <a:t>Worked illustration / lecturer answer</a:t>
            </a:r>
          </a:p>
          <a:p>
            <a:r>
              <a:t>With count = 0 and while count &lt; 3, print then increment yields 0, 1 and 2. The next test sees count 3 and stops before printing it.</a:t>
            </a:r>
          </a:p>
          <a:p>
            <a:r>
              <a:t/>
            </a:r>
          </a:p>
          <a:p>
            <a:r>
              <a:t>Misconception to address</a:t>
            </a:r>
          </a:p>
          <a:p>
            <a:r>
              <a:t>If count is never updated, the condition stays True. Interrupt a stuck runtime rather than waiting indefinitely, then identify the missing update.</a:t>
            </a:r>
          </a:p>
          <a:p>
            <a:r>
              <a:t/>
            </a:r>
          </a:p>
          <a:p>
            <a:r>
              <a:t>On this slide</a:t>
            </a:r>
          </a:p>
          <a:p>
            <a:r>
              <a:t>If the update is missing, count remains 0. The question 0 &lt; 3 stays True, so the body keeps running.</a:t>
            </a:r>
          </a:p>
          <a:p>
            <a:r>
              <a:t/>
            </a:r>
          </a:p>
          <a:p>
            <a:r>
              <a:t>In Colab, click the running cell’s stop button or use Runtime → Interrupt execution. Fix the condition or update before running again.</a:t>
            </a:r>
          </a:p>
          <a:p>
            <a:r>
              <a:t/>
            </a:r>
          </a:p>
          <a:p>
            <a:r>
              <a:t>Do not run an intentionally endless example. Trace the unchanged value on the slide to see why it would fail.</a:t>
            </a:r>
          </a:p>
          <a:p>
            <a:r>
              <a:t/>
            </a:r>
          </a:p>
          <a:p>
            <a:r>
              <a:t>Reference / existing resource</a:t>
            </a:r>
          </a:p>
          <a:p>
            <a:r>
              <a:t>https://docs.python.org/3/tutorial/introduction.html</a:t>
            </a:r>
          </a:p>
          <a:p>
            <a:r>
              <a:t>https://docs.python.org/3/tutorial/controlflow.html;</a:t>
            </a:r>
          </a:p>
          <a:p>
            <a:r>
              <a:t/>
            </a:r>
          </a:p>
          <a:p>
            <a:r>
              <a:t>Continue to</a:t>
            </a:r>
          </a:p>
          <a:p>
            <a:r>
              <a:t>Choosing if for or while</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9.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Choosing if for or while</a:t>
            </a:r>
          </a:p>
          <a:p>
            <a:r>
              <a:t>CML3112, Week 4, slide 29</a:t>
            </a:r>
          </a:p>
          <a:p>
            <a:r>
              <a:t/>
            </a:r>
          </a:p>
          <a:p>
            <a:r>
              <a:t>Explanation to give</a:t>
            </a:r>
          </a:p>
          <a:p>
            <a:r>
              <a:t>if makes a decision once, for visits members of a collection, and while repeats while a condition remains True. Choose the construct by the job before writing syntax.</a:t>
            </a:r>
          </a:p>
          <a:p>
            <a:r>
              <a:t/>
            </a:r>
          </a:p>
          <a:p>
            <a:r>
              <a:t>Worked illustration / lecturer answer</a:t>
            </a:r>
          </a:p>
          <a:p>
            <a:r>
              <a:t>For three recorded temperatures, for visits all three. Inside it, if reading &gt; 30 decides whether to count that observation. while is appropriate when repetition depends on a changing condition.</a:t>
            </a:r>
          </a:p>
          <a:p>
            <a:r>
              <a:t/>
            </a:r>
          </a:p>
          <a:p>
            <a:r>
              <a:t>Misconception to address</a:t>
            </a:r>
          </a:p>
          <a:p>
            <a:r>
              <a:t>A loop and a condition can appear together. They answer different questions: how often to repeat, and whether this item qualifies.</a:t>
            </a:r>
          </a:p>
          <a:p>
            <a:r>
              <a:t/>
            </a:r>
          </a:p>
          <a:p>
            <a:r>
              <a:t>On this slide</a:t>
            </a:r>
          </a:p>
          <a:p>
            <a:r>
              <a:t>Construct | Purpose | When it finishes</a:t>
            </a:r>
          </a:p>
          <a:p>
            <a:r>
              <a:t>if / else | Choose a path once | After the chosen block</a:t>
            </a:r>
          </a:p>
          <a:p>
            <a:r>
              <a:t>for | Visit supplied items | When items are exhausted</a:t>
            </a:r>
          </a:p>
          <a:p>
            <a:r>
              <a:t>while | Repeat while True | When condition becomes False</a:t>
            </a:r>
          </a:p>
          <a:p>
            <a:r>
              <a:t>A condition alone does not imply repetition: if tests once; while tests again after its body.</a:t>
            </a:r>
          </a:p>
          <a:p>
            <a:r>
              <a:t/>
            </a:r>
          </a:p>
          <a:p>
            <a:r>
              <a:t>Reference / existing resource</a:t>
            </a:r>
          </a:p>
          <a:p>
            <a:r>
              <a:t>https://docs.python.org/3/tutorial/introduction.html</a:t>
            </a:r>
          </a:p>
          <a:p>
            <a:r>
              <a:t>https://docs.python.org/3/tutorial/controlflow.html;</a:t>
            </a:r>
          </a:p>
          <a:p>
            <a:r>
              <a:t/>
            </a:r>
          </a:p>
          <a:p>
            <a:r>
              <a:t>Continue to</a:t>
            </a:r>
          </a:p>
          <a:p>
            <a:r>
              <a:t>range supplies a sequence of integers</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0.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range supplies a sequence of integers</a:t>
            </a:r>
          </a:p>
          <a:p>
            <a:r>
              <a:t>CML3112, Week 4, slide 30</a:t>
            </a:r>
          </a:p>
          <a:p>
            <a:r>
              <a:t/>
            </a:r>
          </a:p>
          <a:p>
            <a:r>
              <a:t>Explanation to give</a:t>
            </a:r>
          </a:p>
          <a:p>
            <a:r>
              <a:t>range supplies integers in order. Its stop value is excluded. Say the sequence out loud before executing the loop so the boundary is visible.</a:t>
            </a:r>
          </a:p>
          <a:p>
            <a:r>
              <a:t/>
            </a:r>
          </a:p>
          <a:p>
            <a:r>
              <a:t>Worked illustration / lecturer answer</a:t>
            </a:r>
          </a:p>
          <a:p>
            <a:r>
              <a:t>range(3) supplies 0, 1, 2. range(1, 4) supplies 1, 2, 3. Both provide three integers but different starting points.</a:t>
            </a:r>
          </a:p>
          <a:p>
            <a:r>
              <a:t/>
            </a:r>
          </a:p>
          <a:p>
            <a:r>
              <a:t>Misconception to address</a:t>
            </a:r>
          </a:p>
          <a:p>
            <a:r>
              <a:t>The stop value itself is not visited. range counts steps and does not automatically retrieve values from a separate list.</a:t>
            </a:r>
          </a:p>
          <a:p>
            <a:r>
              <a:t/>
            </a:r>
          </a:p>
          <a:p>
            <a:r>
              <a:t>On this slide</a:t>
            </a:r>
          </a:p>
          <a:p>
            <a:r>
              <a:t>range(3) supplies 0, 1 and 2. The stop value 3 is excluded. range(1, 4) supplies 1, 2 and 3.</a:t>
            </a:r>
          </a:p>
          <a:p>
            <a:r>
              <a:t/>
            </a:r>
          </a:p>
          <a:p>
            <a:r>
              <a:t>Use range with for when a numbered repetition is useful. The loop still works by taking the next supplied item.</a:t>
            </a:r>
          </a:p>
          <a:p>
            <a:r>
              <a:t/>
            </a:r>
          </a:p>
          <a:p>
            <a:r>
              <a:t>range(0, 6, 2) uses a step of 2 and supplies 0, 2, 4. A step is the change between successive numbers; it cannot be zero.</a:t>
            </a:r>
          </a:p>
          <a:p>
            <a:r>
              <a:t/>
            </a:r>
          </a:p>
          <a:p>
            <a:r>
              <a:t>Reference / existing resource</a:t>
            </a:r>
          </a:p>
          <a:p>
            <a:r>
              <a:t>https://docs.python.org/3/tutorial/introduction.html</a:t>
            </a:r>
          </a:p>
          <a:p>
            <a:r>
              <a:t>https://docs.python.org/3/tutorial/controlflow.html;</a:t>
            </a:r>
          </a:p>
          <a:p>
            <a:r>
              <a:t/>
            </a:r>
          </a:p>
          <a:p>
            <a:r>
              <a:t>Continue to</a:t>
            </a:r>
          </a:p>
          <a:p>
            <a:r>
              <a:t>Repeat with range</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Repeat with range</a:t>
            </a:r>
          </a:p>
          <a:p>
            <a:r>
              <a:t>CML3112, Week 4, slide 31</a:t>
            </a:r>
          </a:p>
          <a:p>
            <a:r>
              <a:t/>
            </a:r>
          </a:p>
          <a:p>
            <a:r>
              <a:t>Explanation to give</a:t>
            </a:r>
          </a:p>
          <a:p>
            <a:r>
              <a:t>range supplies integers in order. Its stop value is excluded. Say the sequence out loud before executing the loop so the boundary is visible.</a:t>
            </a:r>
          </a:p>
          <a:p>
            <a:r>
              <a:t/>
            </a:r>
          </a:p>
          <a:p>
            <a:r>
              <a:t>Worked illustration / lecturer answer</a:t>
            </a:r>
          </a:p>
          <a:p>
            <a:r>
              <a:t>range(3) supplies 0, 1, 2. range(1, 4) supplies 1, 2, 3. Both provide three integers but different starting points.</a:t>
            </a:r>
          </a:p>
          <a:p>
            <a:r>
              <a:t/>
            </a:r>
          </a:p>
          <a:p>
            <a:r>
              <a:t>Misconception to address</a:t>
            </a:r>
          </a:p>
          <a:p>
            <a:r>
              <a:t>The stop value itself is not visited. range counts steps and does not automatically retrieve values from a separate list.</a:t>
            </a:r>
          </a:p>
          <a:p>
            <a:r>
              <a:t/>
            </a:r>
          </a:p>
          <a:p>
            <a:r>
              <a:t>Read the displayed code line by line</a:t>
            </a:r>
          </a:p>
          <a:p>
            <a:r>
              <a:t>for attempt in range(1, 4):</a:t>
            </a:r>
          </a:p>
          <a:p>
            <a:r>
              <a:t>Take each item or pair in turn, assign the loop name(s), and repeat the indented body.</a:t>
            </a:r>
          </a:p>
          <a:p>
            <a:r>
              <a:t/>
            </a:r>
          </a:p>
          <a:p>
            <a:r>
              <a:t>print(attempt)</a:t>
            </a:r>
          </a:p>
          <a:p>
            <a:r>
              <a:t>Evaluate the expression inside the parentheses and display it. Displaying is separate from returning a function result.</a:t>
            </a:r>
          </a:p>
          <a:p>
            <a:r>
              <a:t/>
            </a:r>
          </a:p>
          <a:p>
            <a:r>
              <a:t>Result / continuity</a:t>
            </a:r>
          </a:p>
          <a:p>
            <a:r>
              <a:t>Output: 1; 2; 3</a:t>
            </a:r>
          </a:p>
          <a:p>
            <a:r>
              <a:t/>
            </a:r>
          </a:p>
          <a:p>
            <a:r>
              <a:t>Reference / existing resource</a:t>
            </a:r>
          </a:p>
          <a:p>
            <a:r>
              <a:t>https://docs.python.org/3/tutorial/introduction.html</a:t>
            </a:r>
          </a:p>
          <a:p>
            <a:r>
              <a:t>https://docs.python.org/3/tutorial/controlflow.html;</a:t>
            </a:r>
          </a:p>
          <a:p>
            <a:r>
              <a:t/>
            </a:r>
          </a:p>
          <a:p>
            <a:r>
              <a:t>Continue to</a:t>
            </a:r>
          </a:p>
          <a:p>
            <a:r>
              <a:t>continue and break change a loop’s path</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continue and break change a loop’s path</a:t>
            </a:r>
          </a:p>
          <a:p>
            <a:r>
              <a:t>CML3112, Week 4, slide 32</a:t>
            </a:r>
          </a:p>
          <a:p>
            <a:r>
              <a:t/>
            </a:r>
          </a:p>
          <a:p>
            <a:r>
              <a:t>Explanation to give</a:t>
            </a:r>
          </a:p>
          <a:p>
            <a:r>
              <a:t>continue ends the current iteration and proceeds to the next item. break ends the nearest enclosing loop completely. Trace the same data twice to show the distinction.</a:t>
            </a:r>
          </a:p>
          <a:p>
            <a:r>
              <a:t/>
            </a:r>
          </a:p>
          <a:p>
            <a:r>
              <a:t>Worked illustration / lecturer answer</a:t>
            </a:r>
          </a:p>
          <a:p>
            <a:r>
              <a:t>Over [1, 2, 3], skipping 2 with continue still allows 3 to be processed. Breaking when 2 is reached prevents both 2's remaining work and the later visit to 3.</a:t>
            </a:r>
          </a:p>
          <a:p>
            <a:r>
              <a:t/>
            </a:r>
          </a:p>
          <a:p>
            <a:r>
              <a:t>Misconception to address</a:t>
            </a:r>
          </a:p>
          <a:p>
            <a:r>
              <a:t>Statements below continue or break in that iteration are skipped. Neither word means “restart the whole notebook”.</a:t>
            </a:r>
          </a:p>
          <a:p>
            <a:r>
              <a:t/>
            </a:r>
          </a:p>
          <a:p>
            <a:r>
              <a:t>On this slide</a:t>
            </a:r>
          </a:p>
          <a:p>
            <a:r>
              <a:t>continue skips the rest of the current iteration, then starts the next iteration. It does not end the whole loop.</a:t>
            </a:r>
          </a:p>
          <a:p>
            <a:r>
              <a:t/>
            </a:r>
          </a:p>
          <a:p>
            <a:r>
              <a:t>break exits the nearest enclosing loop immediately. Execution resumes after that loop.</a:t>
            </a:r>
          </a:p>
          <a:p>
            <a:r>
              <a:t/>
            </a:r>
          </a:p>
          <a:p>
            <a:r>
              <a:t>Put the condition inside the loop with four spaces. Its action is inside that condition with eight spaces: an indented block inside another block.</a:t>
            </a:r>
          </a:p>
          <a:p>
            <a:r>
              <a:t/>
            </a:r>
          </a:p>
          <a:p>
            <a:r>
              <a:t>Reference / existing resource</a:t>
            </a:r>
          </a:p>
          <a:p>
            <a:r>
              <a:t>https://docs.python.org/3/tutorial/introduction.html</a:t>
            </a:r>
          </a:p>
          <a:p>
            <a:r>
              <a:t>https://docs.python.org/3/tutorial/controlflow.html;</a:t>
            </a:r>
          </a:p>
          <a:p>
            <a:r>
              <a:t/>
            </a:r>
          </a:p>
          <a:p>
            <a:r>
              <a:t>Continue to</a:t>
            </a:r>
          </a:p>
          <a:p>
            <a:r>
              <a:t>Skip one item using continue</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Skip one item using continue</a:t>
            </a:r>
          </a:p>
          <a:p>
            <a:r>
              <a:t>CML3112, Week 4, slide 33</a:t>
            </a:r>
          </a:p>
          <a:p>
            <a:r>
              <a:t/>
            </a:r>
          </a:p>
          <a:p>
            <a:r>
              <a:t>Explanation to give</a:t>
            </a:r>
          </a:p>
          <a:p>
            <a:r>
              <a:t>continue ends the current iteration and proceeds to the next item. break ends the nearest enclosing loop completely. Trace the same data twice to show the distinction.</a:t>
            </a:r>
          </a:p>
          <a:p>
            <a:r>
              <a:t/>
            </a:r>
          </a:p>
          <a:p>
            <a:r>
              <a:t>Worked illustration / lecturer answer</a:t>
            </a:r>
          </a:p>
          <a:p>
            <a:r>
              <a:t>Over [1, 2, 3], skipping 2 with continue still allows 3 to be processed. Breaking when 2 is reached prevents both 2's remaining work and the later visit to 3.</a:t>
            </a:r>
          </a:p>
          <a:p>
            <a:r>
              <a:t/>
            </a:r>
          </a:p>
          <a:p>
            <a:r>
              <a:t>Misconception to address</a:t>
            </a:r>
          </a:p>
          <a:p>
            <a:r>
              <a:t>Statements below continue or break in that iteration are skipped. Neither word means “restart the whole notebook”.</a:t>
            </a:r>
          </a:p>
          <a:p>
            <a:r>
              <a:t/>
            </a:r>
          </a:p>
          <a:p>
            <a:r>
              <a:t>Read the displayed code line by line</a:t>
            </a:r>
          </a:p>
          <a:p>
            <a:r>
              <a:t>for reading in [2, -1, 6]:</a:t>
            </a:r>
          </a:p>
          <a:p>
            <a:r>
              <a:t>Take each item or pair in turn, assign the loop name(s), and repeat the indented body.</a:t>
            </a:r>
          </a:p>
          <a:p>
            <a:r>
              <a:t/>
            </a:r>
          </a:p>
          <a:p>
            <a:r>
              <a:t>if reading &lt; 0:</a:t>
            </a:r>
          </a:p>
          <a:p>
            <a:r>
              <a:t>Evaluate this yes/no condition. Execute its indented body only on the matching path.</a:t>
            </a:r>
          </a:p>
          <a:p>
            <a:r>
              <a:t/>
            </a:r>
          </a:p>
          <a:p>
            <a:r>
              <a:t>continue</a:t>
            </a:r>
          </a:p>
          <a:p>
            <a:r>
              <a:t>Skip the rest of this iteration and proceed to the next item.</a:t>
            </a:r>
          </a:p>
          <a:p>
            <a:r>
              <a:t/>
            </a:r>
          </a:p>
          <a:p>
            <a:r>
              <a:t>print(reading)</a:t>
            </a:r>
          </a:p>
          <a:p>
            <a:r>
              <a:t>Evaluate the expression inside the parentheses and display it. Displaying is separate from returning a function result.</a:t>
            </a:r>
          </a:p>
          <a:p>
            <a:r>
              <a:t/>
            </a:r>
          </a:p>
          <a:p>
            <a:r>
              <a:t>Result / continuity</a:t>
            </a:r>
          </a:p>
          <a:p>
            <a:r>
              <a:t>Output: 2; 6</a:t>
            </a:r>
          </a:p>
          <a:p>
            <a:r>
              <a:t/>
            </a:r>
          </a:p>
          <a:p>
            <a:r>
              <a:t>Reference / existing resource</a:t>
            </a:r>
          </a:p>
          <a:p>
            <a:r>
              <a:t>https://docs.python.org/3/tutorial/introduction.html</a:t>
            </a:r>
          </a:p>
          <a:p>
            <a:r>
              <a:t>https://docs.python.org/3/tutorial/controlflow.html;</a:t>
            </a:r>
          </a:p>
          <a:p>
            <a:r>
              <a:t/>
            </a:r>
          </a:p>
          <a:p>
            <a:r>
              <a:t>Continue to</a:t>
            </a:r>
          </a:p>
          <a:p>
            <a:r>
              <a:t>Stop at one item using break</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Stop at one item using break</a:t>
            </a:r>
          </a:p>
          <a:p>
            <a:r>
              <a:t>CML3112, Week 4, slide 34</a:t>
            </a:r>
          </a:p>
          <a:p>
            <a:r>
              <a:t/>
            </a:r>
          </a:p>
          <a:p>
            <a:r>
              <a:t>Explanation to give</a:t>
            </a:r>
          </a:p>
          <a:p>
            <a:r>
              <a:t>continue ends the current iteration and proceeds to the next item. break ends the nearest enclosing loop completely. Trace the same data twice to show the distinction.</a:t>
            </a:r>
          </a:p>
          <a:p>
            <a:r>
              <a:t/>
            </a:r>
          </a:p>
          <a:p>
            <a:r>
              <a:t>Worked illustration / lecturer answer</a:t>
            </a:r>
          </a:p>
          <a:p>
            <a:r>
              <a:t>Over [1, 2, 3], skipping 2 with continue still allows 3 to be processed. Breaking when 2 is reached prevents both 2's remaining work and the later visit to 3.</a:t>
            </a:r>
          </a:p>
          <a:p>
            <a:r>
              <a:t/>
            </a:r>
          </a:p>
          <a:p>
            <a:r>
              <a:t>Misconception to address</a:t>
            </a:r>
          </a:p>
          <a:p>
            <a:r>
              <a:t>Statements below continue or break in that iteration are skipped. Neither word means “restart the whole notebook”.</a:t>
            </a:r>
          </a:p>
          <a:p>
            <a:r>
              <a:t/>
            </a:r>
          </a:p>
          <a:p>
            <a:r>
              <a:t>Read the displayed code line by line</a:t>
            </a:r>
          </a:p>
          <a:p>
            <a:r>
              <a:t>for reading in [2, -1, 6]:</a:t>
            </a:r>
          </a:p>
          <a:p>
            <a:r>
              <a:t>Take each item or pair in turn, assign the loop name(s), and repeat the indented body.</a:t>
            </a:r>
          </a:p>
          <a:p>
            <a:r>
              <a:t/>
            </a:r>
          </a:p>
          <a:p>
            <a:r>
              <a:t>if reading &lt; 0:</a:t>
            </a:r>
          </a:p>
          <a:p>
            <a:r>
              <a:t>Evaluate this yes/no condition. Execute its indented body only on the matching path.</a:t>
            </a:r>
          </a:p>
          <a:p>
            <a:r>
              <a:t/>
            </a:r>
          </a:p>
          <a:p>
            <a:r>
              <a:t>break</a:t>
            </a:r>
          </a:p>
          <a:p>
            <a:r>
              <a:t>Exit this loop immediately; later items will not be visited.</a:t>
            </a:r>
          </a:p>
          <a:p>
            <a:r>
              <a:t/>
            </a:r>
          </a:p>
          <a:p>
            <a:r>
              <a:t>print(reading)</a:t>
            </a:r>
          </a:p>
          <a:p>
            <a:r>
              <a:t>Evaluate the expression inside the parentheses and display it. Displaying is separate from returning a function result.</a:t>
            </a:r>
          </a:p>
          <a:p>
            <a:r>
              <a:t/>
            </a:r>
          </a:p>
          <a:p>
            <a:r>
              <a:t>Result / continuity</a:t>
            </a:r>
          </a:p>
          <a:p>
            <a:r>
              <a:t>Output: 2</a:t>
            </a:r>
          </a:p>
          <a:p>
            <a:r>
              <a:t/>
            </a:r>
          </a:p>
          <a:p>
            <a:r>
              <a:t>Reference / existing resource</a:t>
            </a:r>
          </a:p>
          <a:p>
            <a:r>
              <a:t>https://docs.python.org/3/tutorial/introduction.html</a:t>
            </a:r>
          </a:p>
          <a:p>
            <a:r>
              <a:t>https://docs.python.org/3/tutorial/controlflow.html;</a:t>
            </a:r>
          </a:p>
          <a:p>
            <a:r>
              <a:t/>
            </a:r>
          </a:p>
          <a:p>
            <a:r>
              <a:t>Continue to</a:t>
            </a:r>
          </a:p>
          <a:p>
            <a:r>
              <a:t>Trace the two loop controls</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Trace the two loop controls</a:t>
            </a:r>
          </a:p>
          <a:p>
            <a:r>
              <a:t>CML3112, Week 4, slide 35</a:t>
            </a:r>
          </a:p>
          <a:p>
            <a:r>
              <a:t/>
            </a:r>
          </a:p>
          <a:p>
            <a:r>
              <a:t>Explanation to give</a:t>
            </a:r>
          </a:p>
          <a:p>
            <a:r>
              <a:t>continue ends the current iteration and proceeds to the next item. break ends the nearest enclosing loop completely. Trace the same data twice to show the distinction.</a:t>
            </a:r>
          </a:p>
          <a:p>
            <a:r>
              <a:t/>
            </a:r>
          </a:p>
          <a:p>
            <a:r>
              <a:t>Worked illustration / lecturer answer</a:t>
            </a:r>
          </a:p>
          <a:p>
            <a:r>
              <a:t>Over [1, 2, 3], skipping 2 with continue still allows 3 to be processed. Breaking when 2 is reached prevents both 2's remaining work and the later visit to 3.</a:t>
            </a:r>
          </a:p>
          <a:p>
            <a:r>
              <a:t/>
            </a:r>
          </a:p>
          <a:p>
            <a:r>
              <a:t>Misconception to address</a:t>
            </a:r>
          </a:p>
          <a:p>
            <a:r>
              <a:t>Statements below continue or break in that iteration are skipped. Neither word means “restart the whole notebook”.</a:t>
            </a:r>
          </a:p>
          <a:p>
            <a:r>
              <a:t/>
            </a:r>
          </a:p>
          <a:p>
            <a:r>
              <a:t>On this slide</a:t>
            </a:r>
          </a:p>
          <a:p>
            <a:r>
              <a:t>Input | continue version | break version</a:t>
            </a:r>
          </a:p>
          <a:p>
            <a:r>
              <a:t>2 | Print 2 | Print 2</a:t>
            </a:r>
          </a:p>
          <a:p>
            <a:r>
              <a:t>-1 | Skip its print | Exit loop</a:t>
            </a:r>
          </a:p>
          <a:p>
            <a:r>
              <a:t>6 | Print 6 | Never visited</a:t>
            </a:r>
          </a:p>
          <a:p>
            <a:r>
              <a:t>Use continue only when skipping is justified by the stated data rule; do not silently discard evidence.</a:t>
            </a:r>
          </a:p>
          <a:p>
            <a:r>
              <a:t/>
            </a:r>
          </a:p>
          <a:p>
            <a:r>
              <a:t>Reference / existing resource</a:t>
            </a:r>
          </a:p>
          <a:p>
            <a:r>
              <a:t>https://docs.python.org/3/tutorial/introduction.html</a:t>
            </a:r>
          </a:p>
          <a:p>
            <a:r>
              <a:t>https://docs.python.org/3/tutorial/controlflow.html;</a:t>
            </a:r>
          </a:p>
          <a:p>
            <a:r>
              <a:t/>
            </a:r>
          </a:p>
          <a:p>
            <a:r>
              <a:t>Continue to</a:t>
            </a:r>
          </a:p>
          <a:p>
            <a:r>
              <a:t>A dictionary is a record with named fields</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6.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A dictionary is a record with named fields</a:t>
            </a:r>
          </a:p>
          <a:p>
            <a:r>
              <a:t>CML3112, Week 4, slide 36</a:t>
            </a:r>
          </a:p>
          <a:p>
            <a:r>
              <a:t/>
            </a:r>
          </a:p>
          <a:p>
            <a:r>
              <a:t>Explanation to give</a:t>
            </a:r>
          </a:p>
          <a:p>
            <a:r>
              <a:t>A dictionary labels fields with keys. A list organises records by position. Explain each lookup in a nested expression separately rather than saying it all at once.</a:t>
            </a:r>
          </a:p>
          <a:p>
            <a:r>
              <a:t/>
            </a:r>
          </a:p>
          <a:p>
            <a:r>
              <a:t>Worked illustration / lecturer answer</a:t>
            </a:r>
          </a:p>
          <a:p>
            <a:r>
              <a:t>records[0]["reading"] first selects the first record, then finds its reading field. In {"unit": "A", "reading": 4}, the key reading retrieves 4 regardless of its visual position.</a:t>
            </a:r>
          </a:p>
          <a:p>
            <a:r>
              <a:t/>
            </a:r>
          </a:p>
          <a:p>
            <a:r>
              <a:t>Misconception to address</a:t>
            </a:r>
          </a:p>
          <a:p>
            <a:r>
              <a:t>Using a missing key with square brackets raises KeyError. get("missing", 0) uses 0 only if the key is absent, not when its existing value is None.</a:t>
            </a:r>
          </a:p>
          <a:p>
            <a:r>
              <a:t/>
            </a:r>
          </a:p>
          <a:p>
            <a:r>
              <a:t>On this slide</a:t>
            </a:r>
          </a:p>
          <a:p>
            <a:r>
              <a:t>record = {"unit": "A", "reading": 4} stores two key–value pairs. Keys name fields; values hold the information.</a:t>
            </a:r>
          </a:p>
          <a:p>
            <a:r>
              <a:t/>
            </a:r>
          </a:p>
          <a:p>
            <a:r>
              <a:t>Braces enclose the dictionary. A colon separates each key from its value and a comma separates pairs. Each key is unique.</a:t>
            </a:r>
          </a:p>
          <a:p>
            <a:r>
              <a:t/>
            </a:r>
          </a:p>
          <a:p>
            <a:r>
              <a:t>record["reading"] returns 4. Unlike a list position, "reading" names the field we want.</a:t>
            </a:r>
          </a:p>
          <a:p>
            <a:r>
              <a:t/>
            </a:r>
          </a:p>
          <a:p>
            <a:r>
              <a:t>Continue to</a:t>
            </a:r>
          </a:p>
          <a:p>
            <a:r>
              <a:t>A missing dictionary key and get</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7.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A missing dictionary key and get</a:t>
            </a:r>
          </a:p>
          <a:p>
            <a:r>
              <a:t>CML3112, Week 4, slide 37</a:t>
            </a:r>
          </a:p>
          <a:p>
            <a:r>
              <a:t/>
            </a:r>
          </a:p>
          <a:p>
            <a:r>
              <a:t>Explanation to give</a:t>
            </a:r>
          </a:p>
          <a:p>
            <a:r>
              <a:t>A dictionary labels fields with keys. A list organises records by position. Explain each lookup in a nested expression separately rather than saying it all at once.</a:t>
            </a:r>
          </a:p>
          <a:p>
            <a:r>
              <a:t/>
            </a:r>
          </a:p>
          <a:p>
            <a:r>
              <a:t>Worked illustration / lecturer answer</a:t>
            </a:r>
          </a:p>
          <a:p>
            <a:r>
              <a:t>records[0]["reading"] first selects the first record, then finds its reading field. In {"unit": "A", "reading": 4}, the key reading retrieves 4 regardless of its visual position.</a:t>
            </a:r>
          </a:p>
          <a:p>
            <a:r>
              <a:t/>
            </a:r>
          </a:p>
          <a:p>
            <a:r>
              <a:t>Misconception to address</a:t>
            </a:r>
          </a:p>
          <a:p>
            <a:r>
              <a:t>Using a missing key with square brackets raises KeyError. get("missing", 0) uses 0 only if the key is absent, not when its existing value is None.</a:t>
            </a:r>
          </a:p>
          <a:p>
            <a:r>
              <a:t/>
            </a:r>
          </a:p>
          <a:p>
            <a:r>
              <a:t>On this slide</a:t>
            </a:r>
          </a:p>
          <a:p>
            <a:r>
              <a:t>record["reading"] requests a known field. If that key does not exist, square-bracket lookup raises KeyError.</a:t>
            </a:r>
          </a:p>
          <a:p>
            <a:r>
              <a:t/>
            </a:r>
          </a:p>
          <a:p>
            <a:r>
              <a:t>record.get("missing", 0) asks for that key with a fallback: return 0 if it is absent. This does not add a new key.</a:t>
            </a:r>
          </a:p>
          <a:p>
            <a:r>
              <a:t/>
            </a:r>
          </a:p>
          <a:p>
            <a:r>
              <a:t>The second input is the fallback value. Use a fallback only when the task defines what missing information should mean.</a:t>
            </a:r>
          </a:p>
          <a:p>
            <a:r>
              <a:t/>
            </a:r>
          </a:p>
          <a:p>
            <a:r>
              <a:t>Reference / existing resource</a:t>
            </a:r>
          </a:p>
          <a:p>
            <a:r>
              <a:t>https://docs.python.org/3/tutorial/introduction.html</a:t>
            </a:r>
          </a:p>
          <a:p>
            <a:r>
              <a:t>https://docs.python.org/3/tutorial/controlflow.html;</a:t>
            </a:r>
          </a:p>
          <a:p>
            <a:r>
              <a:t/>
            </a:r>
          </a:p>
          <a:p>
            <a:r>
              <a:t>Continue to</a:t>
            </a:r>
          </a:p>
          <a:p>
            <a:r>
              <a:t>Reading and updating a dictionary</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8.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Reading and updating a dictionary</a:t>
            </a:r>
          </a:p>
          <a:p>
            <a:r>
              <a:t>CML3112, Week 4, slide 38</a:t>
            </a:r>
          </a:p>
          <a:p>
            <a:r>
              <a:t/>
            </a:r>
          </a:p>
          <a:p>
            <a:r>
              <a:t>Explanation to give</a:t>
            </a:r>
          </a:p>
          <a:p>
            <a:r>
              <a:t>A dictionary labels fields with keys. A list organises records by position. Explain each lookup in a nested expression separately rather than saying it all at once.</a:t>
            </a:r>
          </a:p>
          <a:p>
            <a:r>
              <a:t/>
            </a:r>
          </a:p>
          <a:p>
            <a:r>
              <a:t>Worked illustration / lecturer answer</a:t>
            </a:r>
          </a:p>
          <a:p>
            <a:r>
              <a:t>records[0]["reading"] first selects the first record, then finds its reading field. In {"unit": "A", "reading": 4}, the key reading retrieves 4 regardless of its visual position.</a:t>
            </a:r>
          </a:p>
          <a:p>
            <a:r>
              <a:t/>
            </a:r>
          </a:p>
          <a:p>
            <a:r>
              <a:t>Misconception to address</a:t>
            </a:r>
          </a:p>
          <a:p>
            <a:r>
              <a:t>Using a missing key with square brackets raises KeyError. get("missing", 0) uses 0 only if the key is absent, not when its existing value is None.</a:t>
            </a:r>
          </a:p>
          <a:p>
            <a:r>
              <a:t/>
            </a:r>
          </a:p>
          <a:p>
            <a:r>
              <a:t>Read the displayed code line by line</a:t>
            </a:r>
          </a:p>
          <a:p>
            <a:r>
              <a:t>record = {"unit": "A", "reading": 4}</a:t>
            </a:r>
          </a:p>
          <a:p>
            <a:r>
              <a:t>Evaluate the complete right-hand expression first, then assign its result to the name or selected field on the left.</a:t>
            </a:r>
          </a:p>
          <a:p>
            <a:r>
              <a:t/>
            </a:r>
          </a:p>
          <a:p>
            <a:r>
              <a:t>print(record["reading"])</a:t>
            </a:r>
          </a:p>
          <a:p>
            <a:r>
              <a:t>Evaluate the expression inside the parentheses and display it. Displaying is separate from returning a function result.</a:t>
            </a:r>
          </a:p>
          <a:p>
            <a:r>
              <a:t/>
            </a:r>
          </a:p>
          <a:p>
            <a:r>
              <a:t>record["reading"] = 6</a:t>
            </a:r>
          </a:p>
          <a:p>
            <a:r>
              <a:t>Evaluate the complete right-hand expression first, then assign its result to the name or selected field on the left.</a:t>
            </a:r>
          </a:p>
          <a:p>
            <a:r>
              <a:t/>
            </a:r>
          </a:p>
          <a:p>
            <a:r>
              <a:t>print(record["reading"])</a:t>
            </a:r>
          </a:p>
          <a:p>
            <a:r>
              <a:t>Evaluate the expression inside the parentheses and display it. Displaying is separate from returning a function result.</a:t>
            </a:r>
          </a:p>
          <a:p>
            <a:r>
              <a:t/>
            </a:r>
          </a:p>
          <a:p>
            <a:r>
              <a:t>print(record.get("missing", 0))</a:t>
            </a:r>
          </a:p>
          <a:p>
            <a:r>
              <a:t>Evaluate the expression inside the parentheses and display it. Displaying is separate from returning a function result.</a:t>
            </a:r>
          </a:p>
          <a:p>
            <a:r>
              <a:t/>
            </a:r>
          </a:p>
          <a:p>
            <a:r>
              <a:t>Result / continuity</a:t>
            </a:r>
          </a:p>
          <a:p>
            <a:r>
              <a:t>Output: 4, then 6, then 0. get uses the fallback only when that key is absent.</a:t>
            </a:r>
          </a:p>
          <a:p>
            <a:r>
              <a:t/>
            </a:r>
          </a:p>
          <a:p>
            <a:r>
              <a:t>Continue to</a:t>
            </a:r>
          </a:p>
          <a:p>
            <a:r>
              <a:t>Tuples and unpacking</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9.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Tuples and unpacking</a:t>
            </a:r>
          </a:p>
          <a:p>
            <a:r>
              <a:t>CML3112, Week 4, slide 39</a:t>
            </a:r>
          </a:p>
          <a:p>
            <a:r>
              <a:t/>
            </a:r>
          </a:p>
          <a:p>
            <a:r>
              <a:t>Explanation to give</a:t>
            </a:r>
          </a:p>
          <a:p>
            <a:r>
              <a:t>A tuple keeps positions that cannot be reassigned. Unpacking assigns the items to several names in the same order. Show the number of items and names before running it.</a:t>
            </a:r>
          </a:p>
          <a:p>
            <a:r>
              <a:t/>
            </a:r>
          </a:p>
          <a:p>
            <a:r>
              <a:t>Worked illustration / lecturer answer</a:t>
            </a:r>
          </a:p>
          <a:p>
            <a:r>
              <a:t>point = (2, 3), then x, y = point gives x = 2 and y = 3. The original tuple still exists. record.items() similarly supplies key/value pairs to two loop names.</a:t>
            </a:r>
          </a:p>
          <a:p>
            <a:r>
              <a:t/>
            </a:r>
          </a:p>
          <a:p>
            <a:r>
              <a:t>Misconception to address</a:t>
            </a:r>
          </a:p>
          <a:p>
            <a:r>
              <a:t>Two names need two items. A tuple containing a mutable object does not freeze that object's contents.</a:t>
            </a:r>
          </a:p>
          <a:p>
            <a:r>
              <a:t/>
            </a:r>
          </a:p>
          <a:p>
            <a:r>
              <a:t>On this slide</a:t>
            </a:r>
          </a:p>
          <a:p>
            <a:r>
              <a:t>A tuple stores items in order. point = (2, 3) stores two coordinates; point[0] is 2. You cannot reassign point[0].</a:t>
            </a:r>
          </a:p>
          <a:p>
            <a:r>
              <a:t/>
            </a:r>
          </a:p>
          <a:p>
            <a:r>
              <a:t>x, y = point gives the first item to x and the second to y. This is unpacking; the number of names must match the number of items.</a:t>
            </a:r>
          </a:p>
          <a:p>
            <a:r>
              <a:t/>
            </a:r>
          </a:p>
          <a:p>
            <a:r>
              <a:t>A tuple prevents replacing its positions. It does not freeze the contents of a mutable object stored inside it.</a:t>
            </a:r>
          </a:p>
          <a:p>
            <a:r>
              <a:t/>
            </a:r>
          </a:p>
          <a:p>
            <a:r>
              <a:t>Continue to</a:t>
            </a:r>
          </a:p>
          <a:p>
            <a:r>
              <a:t>Unpacking a pair</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40.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Unpacking a pair</a:t>
            </a:r>
          </a:p>
          <a:p>
            <a:r>
              <a:t>CML3112, Week 4, slide 40</a:t>
            </a:r>
          </a:p>
          <a:p>
            <a:r>
              <a:t/>
            </a:r>
          </a:p>
          <a:p>
            <a:r>
              <a:t>Explanation to give</a:t>
            </a:r>
          </a:p>
          <a:p>
            <a:r>
              <a:t>A tuple keeps positions that cannot be reassigned. Unpacking assigns the items to several names in the same order. Show the number of items and names before running it.</a:t>
            </a:r>
          </a:p>
          <a:p>
            <a:r>
              <a:t/>
            </a:r>
          </a:p>
          <a:p>
            <a:r>
              <a:t>Worked illustration / lecturer answer</a:t>
            </a:r>
          </a:p>
          <a:p>
            <a:r>
              <a:t>point = (2, 3), then x, y = point gives x = 2 and y = 3. The original tuple still exists. record.items() similarly supplies key/value pairs to two loop names.</a:t>
            </a:r>
          </a:p>
          <a:p>
            <a:r>
              <a:t/>
            </a:r>
          </a:p>
          <a:p>
            <a:r>
              <a:t>Misconception to address</a:t>
            </a:r>
          </a:p>
          <a:p>
            <a:r>
              <a:t>Two names need two items. A tuple containing a mutable object does not freeze that object's contents.</a:t>
            </a:r>
          </a:p>
          <a:p>
            <a:r>
              <a:t/>
            </a:r>
          </a:p>
          <a:p>
            <a:r>
              <a:t>Read the displayed code line by line</a:t>
            </a:r>
          </a:p>
          <a:p>
            <a:r>
              <a:t>point = (2, 3)</a:t>
            </a:r>
          </a:p>
          <a:p>
            <a:r>
              <a:t>Evaluate the complete right-hand expression first, then assign its result to the name or selected field on the left.</a:t>
            </a:r>
          </a:p>
          <a:p>
            <a:r>
              <a:t/>
            </a:r>
          </a:p>
          <a:p>
            <a:r>
              <a:t>x, y = point</a:t>
            </a:r>
          </a:p>
          <a:p>
            <a:r>
              <a:t>Evaluate the complete right-hand expression first, then assign its result to the name or selected field on the left.</a:t>
            </a:r>
          </a:p>
          <a:p>
            <a:r>
              <a:t/>
            </a:r>
          </a:p>
          <a:p>
            <a:r>
              <a:t>print(x)</a:t>
            </a:r>
          </a:p>
          <a:p>
            <a:r>
              <a:t>Evaluate the expression inside the parentheses and display it. Displaying is separate from returning a function result.</a:t>
            </a:r>
          </a:p>
          <a:p>
            <a:r>
              <a:t/>
            </a:r>
          </a:p>
          <a:p>
            <a:r>
              <a:t>print(y)</a:t>
            </a:r>
          </a:p>
          <a:p>
            <a:r>
              <a:t>Evaluate the expression inside the parentheses and display it. Displaying is separate from returning a function result.</a:t>
            </a:r>
          </a:p>
          <a:p>
            <a:r>
              <a:t/>
            </a:r>
          </a:p>
          <a:p>
            <a:r>
              <a:t>Result / continuity</a:t>
            </a:r>
          </a:p>
          <a:p>
            <a:r>
              <a:t>Output: 2, then 3.</a:t>
            </a:r>
          </a:p>
          <a:p>
            <a:r>
              <a:t/>
            </a:r>
          </a:p>
          <a:p>
            <a:r>
              <a:t>Continue to</a:t>
            </a:r>
          </a:p>
          <a:p>
            <a:r>
              <a:t>A set remembers distinct items</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4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A set remembers distinct items</a:t>
            </a:r>
          </a:p>
          <a:p>
            <a:r>
              <a:t>CML3112, Week 4, slide 41</a:t>
            </a:r>
          </a:p>
          <a:p>
            <a:r>
              <a:t/>
            </a:r>
          </a:p>
          <a:p>
            <a:r>
              <a:t>Explanation to give</a:t>
            </a:r>
          </a:p>
          <a:p>
            <a:r>
              <a:t>A set answers whether an item is present and stores each distinct item once. It has no numeric positions. Use it to remember IDs already encountered.</a:t>
            </a:r>
          </a:p>
          <a:p>
            <a:r>
              <a:t/>
            </a:r>
          </a:p>
          <a:p>
            <a:r>
              <a:t>Worked illustration / lecturer answer</a:t>
            </a:r>
          </a:p>
          <a:p>
            <a:r>
              <a:t>Add "A" twice to an empty set: len is still 1. "A" in seen is True and "B" in seen is False. Adding "B" makes the count 2.</a:t>
            </a:r>
          </a:p>
          <a:p>
            <a:r>
              <a:t/>
            </a:r>
          </a:p>
          <a:p>
            <a:r>
              <a:t>Misconception to address</a:t>
            </a:r>
          </a:p>
          <a:p>
            <a:r>
              <a:t>{} creates an empty dictionary. Use set() for an empty set. Sets are unsuitable when duplicate measurements or a particular order must be retained.</a:t>
            </a:r>
          </a:p>
          <a:p>
            <a:r>
              <a:t/>
            </a:r>
          </a:p>
          <a:p>
            <a:r>
              <a:t>On this slide</a:t>
            </a:r>
          </a:p>
          <a:p>
            <a:r>
              <a:t>A set is useful when the question is “Have we seen this ID?” It keeps one instance of each distinct item.</a:t>
            </a:r>
          </a:p>
          <a:p>
            <a:r>
              <a:t/>
            </a:r>
          </a:p>
          <a:p>
            <a:r>
              <a:t>seen = set() creates an empty set. seen.add("A") adds an item. "A" in seen asks whether it is present.</a:t>
            </a:r>
          </a:p>
          <a:p>
            <a:r>
              <a:t/>
            </a:r>
          </a:p>
          <a:p>
            <a:r>
              <a:t>Do not use a set when position or repeated readings matter. Sets cannot be indexed. {} creates an empty dictionary, not an empty set.</a:t>
            </a:r>
          </a:p>
          <a:p>
            <a:r>
              <a:t/>
            </a:r>
          </a:p>
          <a:p>
            <a:r>
              <a:t>Continue to</a:t>
            </a:r>
          </a:p>
          <a:p>
            <a:r>
              <a:t>Set membership and repeated IDs</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4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Set membership and repeated IDs</a:t>
            </a:r>
          </a:p>
          <a:p>
            <a:r>
              <a:t>CML3112, Week 4, slide 42</a:t>
            </a:r>
          </a:p>
          <a:p>
            <a:r>
              <a:t/>
            </a:r>
          </a:p>
          <a:p>
            <a:r>
              <a:t>Explanation to give</a:t>
            </a:r>
          </a:p>
          <a:p>
            <a:r>
              <a:t>A set answers whether an item is present and stores each distinct item once. It has no numeric positions. Use it to remember IDs already encountered.</a:t>
            </a:r>
          </a:p>
          <a:p>
            <a:r>
              <a:t/>
            </a:r>
          </a:p>
          <a:p>
            <a:r>
              <a:t>Worked illustration / lecturer answer</a:t>
            </a:r>
          </a:p>
          <a:p>
            <a:r>
              <a:t>Add "A" twice to an empty set: len is still 1. "A" in seen is True and "B" in seen is False. Adding "B" makes the count 2.</a:t>
            </a:r>
          </a:p>
          <a:p>
            <a:r>
              <a:t/>
            </a:r>
          </a:p>
          <a:p>
            <a:r>
              <a:t>Misconception to address</a:t>
            </a:r>
          </a:p>
          <a:p>
            <a:r>
              <a:t>{} creates an empty dictionary. Use set() for an empty set. Sets are unsuitable when duplicate measurements or a particular order must be retained.</a:t>
            </a:r>
          </a:p>
          <a:p>
            <a:r>
              <a:t/>
            </a:r>
          </a:p>
          <a:p>
            <a:r>
              <a:t>Read the displayed code line by line</a:t>
            </a:r>
          </a:p>
          <a:p>
            <a:r>
              <a:t>seen = set()</a:t>
            </a:r>
          </a:p>
          <a:p>
            <a:r>
              <a:t>Evaluate the complete right-hand expression first, then assign its result to the name or selected field on the left.</a:t>
            </a:r>
          </a:p>
          <a:p>
            <a:r>
              <a:t/>
            </a:r>
          </a:p>
          <a:p>
            <a:r>
              <a:t>seen.add("A")</a:t>
            </a:r>
          </a:p>
          <a:p>
            <a:r>
              <a:t>Remember this item in the set. Adding the same item again does not create a duplicate.</a:t>
            </a:r>
          </a:p>
          <a:p>
            <a:r>
              <a:t/>
            </a:r>
          </a:p>
          <a:p>
            <a:r>
              <a:t>seen.add("A")</a:t>
            </a:r>
          </a:p>
          <a:p>
            <a:r>
              <a:t>Remember this item in the set. Adding the same item again does not create a duplicate.</a:t>
            </a:r>
          </a:p>
          <a:p>
            <a:r>
              <a:t/>
            </a:r>
          </a:p>
          <a:p>
            <a:r>
              <a:t>print(len(seen))</a:t>
            </a:r>
          </a:p>
          <a:p>
            <a:r>
              <a:t>Evaluate the expression inside the parentheses and display it. Displaying is separate from returning a function result.</a:t>
            </a:r>
          </a:p>
          <a:p>
            <a:r>
              <a:t/>
            </a:r>
          </a:p>
          <a:p>
            <a:r>
              <a:t>print("A" in seen)</a:t>
            </a:r>
          </a:p>
          <a:p>
            <a:r>
              <a:t>Evaluate the expression inside the parentheses and display it. Displaying is separate from returning a function result.</a:t>
            </a:r>
          </a:p>
          <a:p>
            <a:r>
              <a:t/>
            </a:r>
          </a:p>
          <a:p>
            <a:r>
              <a:t>print("B" in seen)</a:t>
            </a:r>
          </a:p>
          <a:p>
            <a:r>
              <a:t>Evaluate the expression inside the parentheses and display it. Displaying is separate from returning a function result.</a:t>
            </a:r>
          </a:p>
          <a:p>
            <a:r>
              <a:t/>
            </a:r>
          </a:p>
          <a:p>
            <a:r>
              <a:t>Result / continuity</a:t>
            </a:r>
          </a:p>
          <a:p>
            <a:r>
              <a:t>Output: 1, True, False. Adding the same ID twice keeps one distinct ID.</a:t>
            </a:r>
          </a:p>
          <a:p>
            <a:r>
              <a:t/>
            </a:r>
          </a:p>
          <a:p>
            <a:r>
              <a:t>Continue to</a:t>
            </a:r>
          </a:p>
          <a:p>
            <a:r>
              <a:t>How the four collections differ</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4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How the four collections differ</a:t>
            </a:r>
          </a:p>
          <a:p>
            <a:r>
              <a:t>CML3112, Week 4, slide 43</a:t>
            </a:r>
          </a:p>
          <a:p>
            <a:r>
              <a:t/>
            </a:r>
          </a:p>
          <a:p>
            <a:r>
              <a:t>Explanation to give</a:t>
            </a:r>
          </a:p>
          <a:p>
            <a:r>
              <a:t>Compare the access rule for each collection. Lists and tuples use positions; dictionaries use keys; sets answer membership questions. Lists can change their items, while tuple positions cannot be reassigned.</a:t>
            </a:r>
          </a:p>
          <a:p>
            <a:r>
              <a:t/>
            </a:r>
          </a:p>
          <a:p>
            <a:r>
              <a:t>Worked illustration / lecturer answer</a:t>
            </a:r>
          </a:p>
          <a:p>
            <a:r>
              <a:t>For readings use an ordered list. For a record with unit and reading fields use a dictionary. For a coordinate pair use a tuple. For IDs already seen use a set.</a:t>
            </a:r>
          </a:p>
          <a:p>
            <a:r>
              <a:t/>
            </a:r>
          </a:p>
          <a:p>
            <a:r>
              <a:t>Misconception to address</a:t>
            </a:r>
          </a:p>
          <a:p>
            <a:r>
              <a:t>A set cannot be indexed. Dictionary keys are unique, but values may repeat. {} is an empty dictionary; set() is an empty set.</a:t>
            </a:r>
          </a:p>
          <a:p>
            <a:r>
              <a:t/>
            </a:r>
          </a:p>
          <a:p>
            <a:r>
              <a:t>On this slide</a:t>
            </a:r>
          </a:p>
          <a:p>
            <a:r>
              <a:t>Collection | Find an item by | Repeats / changes</a:t>
            </a:r>
          </a:p>
          <a:p>
            <a:r>
              <a:t>list | Position: values[0] | Repeats allowed; items change</a:t>
            </a:r>
          </a:p>
          <a:p>
            <a:r>
              <a:t>dict | Key: record["reading"] | Keys unique; values change</a:t>
            </a:r>
          </a:p>
          <a:p>
            <a:r>
              <a:t>tuple | Position: point[0] | Repeats allowed; positions fixed</a:t>
            </a:r>
          </a:p>
          <a:p>
            <a:r>
              <a:t>set | Membership: "A" in seen | Distinct items; add or remove</a:t>
            </a:r>
          </a:p>
          <a:p>
            <a:r>
              <a:t>Choose by the question: ordered readings, named fields, fixed positions, or distinct IDs.</a:t>
            </a:r>
          </a:p>
          <a:p>
            <a:r>
              <a:t/>
            </a:r>
          </a:p>
          <a:p>
            <a:r>
              <a:t>Continue to</a:t>
            </a:r>
          </a:p>
          <a:p>
            <a:r>
              <a:t>Dictionary items and two loop names</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4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Dictionary items and two loop names</a:t>
            </a:r>
          </a:p>
          <a:p>
            <a:r>
              <a:t>CML3112, Week 4, slide 44</a:t>
            </a:r>
          </a:p>
          <a:p>
            <a:r>
              <a:t/>
            </a:r>
          </a:p>
          <a:p>
            <a:r>
              <a:t>Explanation to give</a:t>
            </a:r>
          </a:p>
          <a:p>
            <a:r>
              <a:t>A dictionary labels fields with keys. A list organises records by position. Explain each lookup in a nested expression separately rather than saying it all at once.</a:t>
            </a:r>
          </a:p>
          <a:p>
            <a:r>
              <a:t/>
            </a:r>
          </a:p>
          <a:p>
            <a:r>
              <a:t>Worked illustration / lecturer answer</a:t>
            </a:r>
          </a:p>
          <a:p>
            <a:r>
              <a:t>records[0]["reading"] first selects the first record, then finds its reading field. In {"unit": "A", "reading": 4}, the key reading retrieves 4 regardless of its visual position.</a:t>
            </a:r>
          </a:p>
          <a:p>
            <a:r>
              <a:t/>
            </a:r>
          </a:p>
          <a:p>
            <a:r>
              <a:t>Misconception to address</a:t>
            </a:r>
          </a:p>
          <a:p>
            <a:r>
              <a:t>Using a missing key with square brackets raises KeyError. get("missing", 0) uses 0 only if the key is absent, not when its existing value is None.</a:t>
            </a:r>
          </a:p>
          <a:p>
            <a:r>
              <a:t/>
            </a:r>
          </a:p>
          <a:p>
            <a:r>
              <a:t>On this slide</a:t>
            </a:r>
          </a:p>
          <a:p>
            <a:r>
              <a:t>record.items() provides each key with its value as a pair. The loop unpacks each pair into the names key and value.</a:t>
            </a:r>
          </a:p>
          <a:p>
            <a:r>
              <a:t/>
            </a:r>
          </a:p>
          <a:p>
            <a:r>
              <a:t>for key, value in record.items(): repeats the indented body for each field. Use .items() when both the label and its value are needed.</a:t>
            </a:r>
          </a:p>
          <a:p>
            <a:r>
              <a:t/>
            </a:r>
          </a:p>
          <a:p>
            <a:r>
              <a:t>Continue to</a:t>
            </a:r>
          </a:p>
          <a:p>
            <a:r>
              <a:t>Looping through named fields</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4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Looping through named fields</a:t>
            </a:r>
          </a:p>
          <a:p>
            <a:r>
              <a:t>CML3112, Week 4, slide 45</a:t>
            </a:r>
          </a:p>
          <a:p>
            <a:r>
              <a:t/>
            </a:r>
          </a:p>
          <a:p>
            <a:r>
              <a:t>Explanation to give</a:t>
            </a:r>
          </a:p>
          <a:p>
            <a:r>
              <a:t>A dictionary labels fields with keys. A list organises records by position. Explain each lookup in a nested expression separately rather than saying it all at once.</a:t>
            </a:r>
          </a:p>
          <a:p>
            <a:r>
              <a:t/>
            </a:r>
          </a:p>
          <a:p>
            <a:r>
              <a:t>Worked illustration / lecturer answer</a:t>
            </a:r>
          </a:p>
          <a:p>
            <a:r>
              <a:t>records[0]["reading"] first selects the first record, then finds its reading field. In {"unit": "A", "reading": 4}, the key reading retrieves 4 regardless of its visual position.</a:t>
            </a:r>
          </a:p>
          <a:p>
            <a:r>
              <a:t/>
            </a:r>
          </a:p>
          <a:p>
            <a:r>
              <a:t>Misconception to address</a:t>
            </a:r>
          </a:p>
          <a:p>
            <a:r>
              <a:t>Using a missing key with square brackets raises KeyError. get("missing", 0) uses 0 only if the key is absent, not when its existing value is None.</a:t>
            </a:r>
          </a:p>
          <a:p>
            <a:r>
              <a:t/>
            </a:r>
          </a:p>
          <a:p>
            <a:r>
              <a:t>Read the displayed code line by line</a:t>
            </a:r>
          </a:p>
          <a:p>
            <a:r>
              <a:t>record = {"unit": "A", "reading": 6}</a:t>
            </a:r>
          </a:p>
          <a:p>
            <a:r>
              <a:t>Evaluate the complete right-hand expression first, then assign its result to the name or selected field on the left.</a:t>
            </a:r>
          </a:p>
          <a:p>
            <a:r>
              <a:t/>
            </a:r>
          </a:p>
          <a:p>
            <a:r>
              <a:t>for key, value in record.items():</a:t>
            </a:r>
          </a:p>
          <a:p>
            <a:r>
              <a:t>Take each item or pair in turn, assign the loop name(s), and repeat the indented body.</a:t>
            </a:r>
          </a:p>
          <a:p>
            <a:r>
              <a:t/>
            </a:r>
          </a:p>
          <a:p>
            <a:r>
              <a:t>print(key, value)</a:t>
            </a:r>
          </a:p>
          <a:p>
            <a:r>
              <a:t>Evaluate the expression inside the parentheses and display it. Displaying is separate from returning a function result.</a:t>
            </a:r>
          </a:p>
          <a:p>
            <a:r>
              <a:t/>
            </a:r>
          </a:p>
          <a:p>
            <a:r>
              <a:t>Result / continuity</a:t>
            </a:r>
          </a:p>
          <a:p>
            <a:r>
              <a:t>Output: unit A, then reading 6. The dictionary preserves insertion order.</a:t>
            </a:r>
          </a:p>
          <a:p>
            <a:r>
              <a:t/>
            </a:r>
          </a:p>
          <a:p>
            <a:r>
              <a:t>Continue to</a:t>
            </a:r>
          </a:p>
          <a:p>
            <a:r>
              <a:t>A position and a key find different things</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46.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A position and a key find different things</a:t>
            </a:r>
          </a:p>
          <a:p>
            <a:r>
              <a:t>CML3112, Week 4, slide 46</a:t>
            </a:r>
          </a:p>
          <a:p>
            <a:r>
              <a:t/>
            </a:r>
          </a:p>
          <a:p>
            <a:r>
              <a:t>Explanation to give</a:t>
            </a:r>
          </a:p>
          <a:p>
            <a:r>
              <a:t>A dictionary labels fields with keys. A list organises records by position. Explain each lookup in a nested expression separately rather than saying it all at once.</a:t>
            </a:r>
          </a:p>
          <a:p>
            <a:r>
              <a:t/>
            </a:r>
          </a:p>
          <a:p>
            <a:r>
              <a:t>Worked illustration / lecturer answer</a:t>
            </a:r>
          </a:p>
          <a:p>
            <a:r>
              <a:t>records[0]["reading"] first selects the first record, then finds its reading field. In {"unit": "A", "reading": 4}, the key reading retrieves 4 regardless of its visual position.</a:t>
            </a:r>
          </a:p>
          <a:p>
            <a:r>
              <a:t/>
            </a:r>
          </a:p>
          <a:p>
            <a:r>
              <a:t>Misconception to address</a:t>
            </a:r>
          </a:p>
          <a:p>
            <a:r>
              <a:t>Using a missing key with square brackets raises KeyError. get("missing", 0) uses 0 only if the key is absent, not when its existing value is None.</a:t>
            </a:r>
          </a:p>
          <a:p>
            <a:r>
              <a:t/>
            </a:r>
          </a:p>
          <a:p>
            <a:r>
              <a:t>On this slide</a:t>
            </a:r>
          </a:p>
          <a:p>
            <a:r>
              <a:t>Both examples return 4. Explain how each lookup finds it.</a:t>
            </a:r>
          </a:p>
          <a:p>
            <a:r>
              <a:t/>
            </a:r>
          </a:p>
          <a:p>
            <a:r>
              <a:t>Continue to</a:t>
            </a:r>
          </a:p>
          <a:p>
            <a:r>
              <a:t>CSV and header</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47.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CSV and header</a:t>
            </a:r>
          </a:p>
          <a:p>
            <a:r>
              <a:t>CML3112, Week 4, slide 47</a:t>
            </a:r>
          </a:p>
          <a:p>
            <a:r>
              <a:t/>
            </a:r>
          </a:p>
          <a:p>
            <a:r>
              <a:t>Explanation to give</a:t>
            </a:r>
          </a:p>
          <a:p>
            <a:r>
              <a:t>A CSV file stores rows as text separated into fields. Its header provides column names. csv.DictReader turns each data row into a dictionary using those names; numeric-looking cells initially remain strings.</a:t>
            </a:r>
          </a:p>
          <a:p>
            <a:r>
              <a:t/>
            </a:r>
          </a:p>
          <a:p>
            <a:r>
              <a:t>Worked illustration / lecturer answer</a:t>
            </a:r>
          </a:p>
          <a:p>
            <a:r>
              <a:t>A CSV row with reading 2.5 yields the text "2.5". float converts that field to the number 2.5. with open(...) keeps the file available inside the indented block and closes it afterwards.</a:t>
            </a:r>
          </a:p>
          <a:p>
            <a:r>
              <a:t/>
            </a:r>
          </a:p>
          <a:p>
            <a:r>
              <a:t>Misconception to address</a:t>
            </a:r>
          </a:p>
          <a:p>
            <a:r>
              <a:t>Use the exact file from the current week's package and its exact header. A correct formula cannot repair a wrong file, misspelled column or wrong unit.</a:t>
            </a:r>
          </a:p>
          <a:p>
            <a:r>
              <a:t/>
            </a:r>
          </a:p>
          <a:p>
            <a:r>
              <a:t>On this slide</a:t>
            </a:r>
          </a:p>
          <a:p>
            <a:r>
              <a:t>CSV and header: CSV means comma-separated values. One line usually represents one record; a header names the columns. CSV numbers arrive as text and may need float conversion.</a:t>
            </a:r>
          </a:p>
          <a:p>
            <a:r>
              <a:t/>
            </a:r>
          </a:p>
          <a:p>
            <a:r>
              <a:t>Continue to</a:t>
            </a:r>
          </a:p>
          <a:p>
            <a:r>
              <a:t>One record at a time</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48.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One record at a time</a:t>
            </a:r>
          </a:p>
          <a:p>
            <a:r>
              <a:t>CML3112, Week 4, slide 48</a:t>
            </a:r>
          </a:p>
          <a:p>
            <a:r>
              <a:t/>
            </a:r>
          </a:p>
          <a:p>
            <a:r>
              <a:t>Explanation to give</a:t>
            </a:r>
          </a:p>
          <a:p>
            <a:r>
              <a:t>A CSV file stores rows as text separated into fields. Its header provides column names. csv.DictReader turns each data row into a dictionary using those names; numeric-looking cells initially remain strings.</a:t>
            </a:r>
          </a:p>
          <a:p>
            <a:r>
              <a:t/>
            </a:r>
          </a:p>
          <a:p>
            <a:r>
              <a:t>Worked illustration / lecturer answer</a:t>
            </a:r>
          </a:p>
          <a:p>
            <a:r>
              <a:t>A CSV row with reading 2.5 yields the text "2.5". float converts that field to the number 2.5. with open(...) keeps the file available inside the indented block and closes it afterwards.</a:t>
            </a:r>
          </a:p>
          <a:p>
            <a:r>
              <a:t/>
            </a:r>
          </a:p>
          <a:p>
            <a:r>
              <a:t>Misconception to address</a:t>
            </a:r>
          </a:p>
          <a:p>
            <a:r>
              <a:t>Use the exact file from the current week's package and its exact header. A correct formula cannot repair a wrong file, misspelled column or wrong unit.</a:t>
            </a:r>
          </a:p>
          <a:p>
            <a:r>
              <a:t/>
            </a:r>
          </a:p>
          <a:p>
            <a:r>
              <a:t>On this slide</a:t>
            </a:r>
          </a:p>
          <a:p>
            <a:r>
              <a:t>A CSV is a text table with a header row.</a:t>
            </a:r>
          </a:p>
          <a:p>
            <a:r>
              <a:t/>
            </a:r>
          </a:p>
          <a:p>
            <a:r>
              <a:t>DictReader uses that header for dictionary keys.</a:t>
            </a:r>
          </a:p>
          <a:p>
            <a:r>
              <a:t/>
            </a:r>
          </a:p>
          <a:p>
            <a:r>
              <a:t>CSV cells begin as text, even when they look numeric.</a:t>
            </a:r>
          </a:p>
          <a:p>
            <a:r>
              <a:t/>
            </a:r>
          </a:p>
          <a:p>
            <a:r>
              <a:t>float("2.5") converts text into the number 2.5.</a:t>
            </a:r>
          </a:p>
          <a:p>
            <a:r>
              <a:t/>
            </a:r>
          </a:p>
          <a:p>
            <a:r>
              <a:t>Continue to</a:t>
            </a:r>
          </a:p>
          <a:p>
            <a:r>
              <a:t>A CSV file has a header and text values</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49.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A CSV file has a header and text values</a:t>
            </a:r>
          </a:p>
          <a:p>
            <a:r>
              <a:t>CML3112, Week 4, slide 49</a:t>
            </a:r>
          </a:p>
          <a:p>
            <a:r>
              <a:t/>
            </a:r>
          </a:p>
          <a:p>
            <a:r>
              <a:t>Explanation to give</a:t>
            </a:r>
          </a:p>
          <a:p>
            <a:r>
              <a:t>A CSV file stores rows as text separated into fields. Its header provides column names. csv.DictReader turns each data row into a dictionary using those names; numeric-looking cells initially remain strings.</a:t>
            </a:r>
          </a:p>
          <a:p>
            <a:r>
              <a:t/>
            </a:r>
          </a:p>
          <a:p>
            <a:r>
              <a:t>Worked illustration / lecturer answer</a:t>
            </a:r>
          </a:p>
          <a:p>
            <a:r>
              <a:t>A CSV row with reading 2.5 yields the text "2.5". float converts that field to the number 2.5. with open(...) keeps the file available inside the indented block and closes it afterwards.</a:t>
            </a:r>
          </a:p>
          <a:p>
            <a:r>
              <a:t/>
            </a:r>
          </a:p>
          <a:p>
            <a:r>
              <a:t>Misconception to address</a:t>
            </a:r>
          </a:p>
          <a:p>
            <a:r>
              <a:t>Use the exact file from the current week's package and its exact header. A correct formula cannot repair a wrong file, misspelled column or wrong unit.</a:t>
            </a:r>
          </a:p>
          <a:p>
            <a:r>
              <a:t/>
            </a:r>
          </a:p>
          <a:p>
            <a:r>
              <a:t>On this slide</a:t>
            </a:r>
          </a:p>
          <a:p>
            <a:r>
              <a:t>CSV line | Dictionary meaning</a:t>
            </a:r>
          </a:p>
          <a:p>
            <a:r>
              <a:t>unit,reading | Two field names</a:t>
            </a:r>
          </a:p>
          <a:p>
            <a:r>
              <a:t>A,2.5 | {"unit": "A", "reading": "2.5"}</a:t>
            </a:r>
          </a:p>
          <a:p>
            <a:r>
              <a:t>B, | {"unit": "B", "reading": ""}</a:t>
            </a:r>
          </a:p>
          <a:p>
            <a:r>
              <a:t>An empty field is empty text. Check the task’s rule before converting it.</a:t>
            </a:r>
          </a:p>
          <a:p>
            <a:r>
              <a:t/>
            </a:r>
          </a:p>
          <a:p>
            <a:r>
              <a:t>Continue to</a:t>
            </a:r>
          </a:p>
          <a:p>
            <a:r>
              <a:t>A CSV row becomes a dictionary</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50.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A CSV row becomes a dictionary</a:t>
            </a:r>
          </a:p>
          <a:p>
            <a:r>
              <a:t>CML3112, Week 4, slide 50</a:t>
            </a:r>
          </a:p>
          <a:p>
            <a:r>
              <a:t/>
            </a:r>
          </a:p>
          <a:p>
            <a:r>
              <a:t>Explanation to give</a:t>
            </a:r>
          </a:p>
          <a:p>
            <a:r>
              <a:t>A dictionary labels fields with keys. A list organises records by position. Explain each lookup in a nested expression separately rather than saying it all at once.</a:t>
            </a:r>
          </a:p>
          <a:p>
            <a:r>
              <a:t/>
            </a:r>
          </a:p>
          <a:p>
            <a:r>
              <a:t>Worked illustration / lecturer answer</a:t>
            </a:r>
          </a:p>
          <a:p>
            <a:r>
              <a:t>records[0]["reading"] first selects the first record, then finds its reading field. In {"unit": "A", "reading": 4}, the key reading retrieves 4 regardless of its visual position.</a:t>
            </a:r>
          </a:p>
          <a:p>
            <a:r>
              <a:t/>
            </a:r>
          </a:p>
          <a:p>
            <a:r>
              <a:t>Misconception to address</a:t>
            </a:r>
          </a:p>
          <a:p>
            <a:r>
              <a:t>Using a missing key with square brackets raises KeyError. get("missing", 0) uses 0 only if the key is absent, not when its existing value is None.</a:t>
            </a:r>
          </a:p>
          <a:p>
            <a:r>
              <a:t/>
            </a:r>
          </a:p>
          <a:p>
            <a:r>
              <a:t>On this slide</a:t>
            </a:r>
          </a:p>
          <a:p>
            <a:r>
              <a:t>The header gives field names, such as unit and reading.</a:t>
            </a:r>
          </a:p>
          <a:p>
            <a:r>
              <a:t/>
            </a:r>
          </a:p>
          <a:p>
            <a:r>
              <a:t>csv.DictReader returns one dictionary for each data row.</a:t>
            </a:r>
          </a:p>
          <a:p>
            <a:r>
              <a:t/>
            </a:r>
          </a:p>
          <a:p>
            <a:r>
              <a:t>The value "2.5" starts as text. float("2.5") makes the number 2.5.</a:t>
            </a:r>
          </a:p>
          <a:p>
            <a:r>
              <a:t/>
            </a:r>
          </a:p>
          <a:p>
            <a:r>
              <a:t>Continue to</a:t>
            </a:r>
          </a:p>
          <a:p>
            <a:r>
              <a:t>with and import</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5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with and import</a:t>
            </a:r>
          </a:p>
          <a:p>
            <a:r>
              <a:t>CML3112, Week 4, slide 51</a:t>
            </a:r>
          </a:p>
          <a:p>
            <a:r>
              <a:t/>
            </a:r>
          </a:p>
          <a:p>
            <a:r>
              <a:t>Explanation to give</a:t>
            </a:r>
          </a:p>
          <a:p>
            <a:r>
              <a:t>A CSV file stores rows as text separated into fields. Its header provides column names. csv.DictReader turns each data row into a dictionary using those names; numeric-looking cells initially remain strings.</a:t>
            </a:r>
          </a:p>
          <a:p>
            <a:r>
              <a:t/>
            </a:r>
          </a:p>
          <a:p>
            <a:r>
              <a:t>Worked illustration / lecturer answer</a:t>
            </a:r>
          </a:p>
          <a:p>
            <a:r>
              <a:t>A CSV row with reading 2.5 yields the text "2.5". float converts that field to the number 2.5. with open(...) keeps the file available inside the indented block and closes it afterwards.</a:t>
            </a:r>
          </a:p>
          <a:p>
            <a:r>
              <a:t/>
            </a:r>
          </a:p>
          <a:p>
            <a:r>
              <a:t>Misconception to address</a:t>
            </a:r>
          </a:p>
          <a:p>
            <a:r>
              <a:t>Use the exact file from the current week's package and its exact header. A correct formula cannot repair a wrong file, misspelled column or wrong unit.</a:t>
            </a:r>
          </a:p>
          <a:p>
            <a:r>
              <a:t/>
            </a:r>
          </a:p>
          <a:p>
            <a:r>
              <a:t>On this slide</a:t>
            </a:r>
          </a:p>
          <a:p>
            <a:r>
              <a:t>with and import: import makes library tools available. with open(...) opens a file for a block and closes it afterward. A filename must match an existing file in the working folder.</a:t>
            </a:r>
          </a:p>
          <a:p>
            <a:r>
              <a:t/>
            </a:r>
          </a:p>
          <a:p>
            <a:r>
              <a:t>Continue to</a:t>
            </a:r>
          </a:p>
          <a:p>
            <a:r>
              <a:t>Your cohort data</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5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Your cohort data</a:t>
            </a:r>
          </a:p>
          <a:p>
            <a:r>
              <a:t>CML3112, Week 4, slide 52</a:t>
            </a:r>
          </a:p>
          <a:p>
            <a:r>
              <a:t/>
            </a:r>
          </a:p>
          <a:p>
            <a:r>
              <a:t>Explanation to give</a:t>
            </a:r>
          </a:p>
          <a:p>
            <a:r>
              <a:t>Use a room or floor as the physical reference. Length and width are distances in metres. Multiplying them produces area in m²; multiplying by thickness produces volume in m³.</a:t>
            </a:r>
          </a:p>
          <a:p>
            <a:r>
              <a:t/>
            </a:r>
          </a:p>
          <a:p>
            <a:r>
              <a:t>Worked illustration / lecturer answer</a:t>
            </a:r>
          </a:p>
          <a:p>
            <a:r>
              <a:t>Show site_inspection_log.csv in the runtime Files panel. The Week 2 file has four rows for setup; Week 4 uses its own 300-row file. Inspect the header to locate this cohort’s reading field and group field.</a:t>
            </a:r>
          </a:p>
          <a:p>
            <a:r>
              <a:t/>
            </a:r>
          </a:p>
          <a:p>
            <a:r>
              <a:t>Misconception to address</a:t>
            </a:r>
          </a:p>
          <a:p>
            <a:r>
              <a:t>The later assignment uses slab_mass(area_m2, thickness_m). Explain its two inputs before introducing density. A number without its unit can be ambiguous.</a:t>
            </a:r>
          </a:p>
          <a:p>
            <a:r>
              <a:t/>
            </a:r>
          </a:p>
          <a:p>
            <a:r>
              <a:t>On this slide</a:t>
            </a:r>
          </a:p>
          <a:p>
            <a:r>
              <a:t>site_inspection_log.csv</a:t>
            </a:r>
          </a:p>
          <a:p>
            <a:r>
              <a:t/>
            </a:r>
          </a:p>
          <a:p>
            <a:r>
              <a:t>Summarise crack_width_mm (millimetres); group by structure_id.</a:t>
            </a:r>
          </a:p>
          <a:p>
            <a:r>
              <a:t/>
            </a:r>
          </a:p>
          <a:p>
            <a:r>
              <a:t>Read the issued task’s blank-value and threshold rules before calculating.</a:t>
            </a:r>
          </a:p>
          <a:p>
            <a:r>
              <a:t/>
            </a:r>
          </a:p>
          <a:p>
            <a:r>
              <a:t>Continue to</a:t>
            </a:r>
          </a:p>
          <a:p>
            <a:r>
              <a:t>Read the supplied CSV in four steps</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5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Read the supplied CSV in four steps</a:t>
            </a:r>
          </a:p>
          <a:p>
            <a:r>
              <a:t>CML3112, Week 4, slide 53</a:t>
            </a:r>
          </a:p>
          <a:p>
            <a:r>
              <a:t/>
            </a:r>
          </a:p>
          <a:p>
            <a:r>
              <a:t>Explanation to give</a:t>
            </a:r>
          </a:p>
          <a:p>
            <a:r>
              <a:t>A CSV file stores rows as text separated into fields. Its header provides column names. csv.DictReader turns each data row into a dictionary using those names; numeric-looking cells initially remain strings.</a:t>
            </a:r>
          </a:p>
          <a:p>
            <a:r>
              <a:t/>
            </a:r>
          </a:p>
          <a:p>
            <a:r>
              <a:t>Worked illustration / lecturer answer</a:t>
            </a:r>
          </a:p>
          <a:p>
            <a:r>
              <a:t>A CSV row with reading 2.5 yields the text "2.5". float converts that field to the number 2.5. with open(...) keeps the file available inside the indented block and closes it afterwards.</a:t>
            </a:r>
          </a:p>
          <a:p>
            <a:r>
              <a:t/>
            </a:r>
          </a:p>
          <a:p>
            <a:r>
              <a:t>Misconception to address</a:t>
            </a:r>
          </a:p>
          <a:p>
            <a:r>
              <a:t>Use the exact file from the current week's package and its exact header. A correct formula cannot repair a wrong file, misspelled column or wrong unit.</a:t>
            </a:r>
          </a:p>
          <a:p>
            <a:r>
              <a:t/>
            </a:r>
          </a:p>
          <a:p>
            <a:r>
              <a:t>On this slide</a:t>
            </a:r>
          </a:p>
          <a:p>
            <a:r>
              <a:t>Place site_inspection_log.csv beside the notebook, or upload it in Colab’s Files panel.</a:t>
            </a:r>
          </a:p>
          <a:p>
            <a:r>
              <a:t/>
            </a:r>
          </a:p>
          <a:p>
            <a:r>
              <a:t>import csv loads the CSV tools. newline="" lets the reader handle line endings. DictReader uses the header as dictionary keys.</a:t>
            </a:r>
          </a:p>
          <a:p>
            <a:r>
              <a:t/>
            </a:r>
          </a:p>
          <a:p>
            <a:r>
              <a:t>list(...) collects the rows while the file is open. We inspect the first row and the count; the later assignment calculations are your work.</a:t>
            </a:r>
          </a:p>
          <a:p>
            <a:r>
              <a:t/>
            </a:r>
          </a:p>
          <a:p>
            <a:r>
              <a:t>Continue to</a:t>
            </a:r>
          </a:p>
          <a:p>
            <a:r>
              <a:t>What with open as source does</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5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What with open as source does</a:t>
            </a:r>
          </a:p>
          <a:p>
            <a:r>
              <a:t>CML3112, Week 4, slide 54</a:t>
            </a:r>
          </a:p>
          <a:p>
            <a:r>
              <a:t/>
            </a:r>
          </a:p>
          <a:p>
            <a:r>
              <a:t>Explanation to give</a:t>
            </a:r>
          </a:p>
          <a:p>
            <a:r>
              <a:t>A CSV file stores rows as text separated into fields. Its header provides column names. csv.DictReader turns each data row into a dictionary using those names; numeric-looking cells initially remain strings.</a:t>
            </a:r>
          </a:p>
          <a:p>
            <a:r>
              <a:t/>
            </a:r>
          </a:p>
          <a:p>
            <a:r>
              <a:t>Worked illustration / lecturer answer</a:t>
            </a:r>
          </a:p>
          <a:p>
            <a:r>
              <a:t>A CSV row with reading 2.5 yields the text "2.5". float converts that field to the number 2.5. with open(...) keeps the file available inside the indented block and closes it afterwards.</a:t>
            </a:r>
          </a:p>
          <a:p>
            <a:r>
              <a:t/>
            </a:r>
          </a:p>
          <a:p>
            <a:r>
              <a:t>Misconception to address</a:t>
            </a:r>
          </a:p>
          <a:p>
            <a:r>
              <a:t>Use the exact file from the current week's package and its exact header. A correct formula cannot repair a wrong file, misspelled column or wrong unit.</a:t>
            </a:r>
          </a:p>
          <a:p>
            <a:r>
              <a:t/>
            </a:r>
          </a:p>
          <a:p>
            <a:r>
              <a:t>On this slide</a:t>
            </a:r>
          </a:p>
          <a:p>
            <a:r>
              <a:t>open("file.csv", newline="") opens a text file for reading. Use the actual supplied filename, including its .csv extension.</a:t>
            </a:r>
          </a:p>
          <a:p>
            <a:r>
              <a:t/>
            </a:r>
          </a:p>
          <a:p>
            <a:r>
              <a:t>with manages the open file. as source gives that file object a name. Indented lines use it while it is open; leaving the block closes it.</a:t>
            </a:r>
          </a:p>
          <a:p>
            <a:r>
              <a:t/>
            </a:r>
          </a:p>
          <a:p>
            <a:r>
              <a:t>csv.DictReader(source) reads rows using the header names as keys. list(...) collects those rows into memory before the file closes.</a:t>
            </a:r>
          </a:p>
          <a:p>
            <a:r>
              <a:t/>
            </a:r>
          </a:p>
          <a:p>
            <a:r>
              <a:t>Reference / existing resource</a:t>
            </a:r>
          </a:p>
          <a:p>
            <a:r>
              <a:t>https://docs.python.org/3/tutorial/introduction.html</a:t>
            </a:r>
          </a:p>
          <a:p>
            <a:r>
              <a:t>https://docs.python.org/3/tutorial/controlflow.html;</a:t>
            </a:r>
          </a:p>
          <a:p>
            <a:r>
              <a:t/>
            </a:r>
          </a:p>
          <a:p>
            <a:r>
              <a:t>Continue to</a:t>
            </a:r>
          </a:p>
          <a:p>
            <a:r>
              <a:t>Open a real CSV and inspect its first row</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5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Open a real CSV and inspect its first row</a:t>
            </a:r>
          </a:p>
          <a:p>
            <a:r>
              <a:t>CML3112, Week 4, slide 55</a:t>
            </a:r>
          </a:p>
          <a:p>
            <a:r>
              <a:t/>
            </a:r>
          </a:p>
          <a:p>
            <a:r>
              <a:t>Explanation to give</a:t>
            </a:r>
          </a:p>
          <a:p>
            <a:r>
              <a:t>A CSV file stores rows as text separated into fields. Its header provides column names. csv.DictReader turns each data row into a dictionary using those names; numeric-looking cells initially remain strings.</a:t>
            </a:r>
          </a:p>
          <a:p>
            <a:r>
              <a:t/>
            </a:r>
          </a:p>
          <a:p>
            <a:r>
              <a:t>Worked illustration / lecturer answer</a:t>
            </a:r>
          </a:p>
          <a:p>
            <a:r>
              <a:t>A CSV row with reading 2.5 yields the text "2.5". float converts that field to the number 2.5. with open(...) keeps the file available inside the indented block and closes it afterwards.</a:t>
            </a:r>
          </a:p>
          <a:p>
            <a:r>
              <a:t/>
            </a:r>
          </a:p>
          <a:p>
            <a:r>
              <a:t>Misconception to address</a:t>
            </a:r>
          </a:p>
          <a:p>
            <a:r>
              <a:t>Use the exact file from the current week's package and its exact header. A correct formula cannot repair a wrong file, misspelled column or wrong unit.</a:t>
            </a:r>
          </a:p>
          <a:p>
            <a:r>
              <a:t/>
            </a:r>
          </a:p>
          <a:p>
            <a:r>
              <a:t>Read the displayed code line by line</a:t>
            </a:r>
          </a:p>
          <a:p>
            <a:r>
              <a:t>import csv</a:t>
            </a:r>
          </a:p>
          <a:p>
            <a:r>
              <a:t>Load this library. An alias after as is the shorter name used below.</a:t>
            </a:r>
          </a:p>
          <a:p>
            <a:r>
              <a:t/>
            </a:r>
          </a:p>
          <a:p>
            <a:r>
              <a:t>with open("site_inspection_log.csv", newline="") as source:</a:t>
            </a:r>
          </a:p>
          <a:p>
            <a:r>
              <a:t>Open the named resource for the indented block and close it when leaving the block.</a:t>
            </a:r>
          </a:p>
          <a:p>
            <a:r>
              <a:t/>
            </a:r>
          </a:p>
          <a:p>
            <a:r>
              <a:t>rows = list(csv.DictReader(source))</a:t>
            </a:r>
          </a:p>
          <a:p>
            <a:r>
              <a:t>Evaluate the complete right-hand expression first, then assign its result to the name or selected field on the left.</a:t>
            </a:r>
          </a:p>
          <a:p>
            <a:r>
              <a:t/>
            </a:r>
          </a:p>
          <a:p>
            <a:r>
              <a:t>print(rows[0])</a:t>
            </a:r>
          </a:p>
          <a:p>
            <a:r>
              <a:t>Evaluate the expression inside the parentheses and display it. Displaying is separate from returning a function result.</a:t>
            </a:r>
          </a:p>
          <a:p>
            <a:r>
              <a:t/>
            </a:r>
          </a:p>
          <a:p>
            <a:r>
              <a:t>print(len(rows))</a:t>
            </a:r>
          </a:p>
          <a:p>
            <a:r>
              <a:t>Evaluate the expression inside the parentheses and display it. Displaying is separate from returning a function result.</a:t>
            </a:r>
          </a:p>
          <a:p>
            <a:r>
              <a:t/>
            </a:r>
          </a:p>
          <a:p>
            <a:r>
              <a:t>Result / continuity</a:t>
            </a:r>
          </a:p>
          <a:p>
            <a:r>
              <a:t>Read the actual keys and text values. Check the uploaded filename if Python reports FileNotFoundError.</a:t>
            </a:r>
          </a:p>
          <a:p>
            <a:r>
              <a:t/>
            </a:r>
          </a:p>
          <a:p>
            <a:r>
              <a:t>Continue to</a:t>
            </a:r>
          </a:p>
          <a:p>
            <a:r>
              <a:t>A list of dictionaries</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56.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A list of dictionaries</a:t>
            </a:r>
          </a:p>
          <a:p>
            <a:r>
              <a:t>CML3112, Week 4, slide 56</a:t>
            </a:r>
          </a:p>
          <a:p>
            <a:r>
              <a:t/>
            </a:r>
          </a:p>
          <a:p>
            <a:r>
              <a:t>Explanation to give</a:t>
            </a:r>
          </a:p>
          <a:p>
            <a:r>
              <a:t>A dictionary labels fields with keys. A list organises records by position. Explain each lookup in a nested expression separately rather than saying it all at once.</a:t>
            </a:r>
          </a:p>
          <a:p>
            <a:r>
              <a:t/>
            </a:r>
          </a:p>
          <a:p>
            <a:r>
              <a:t>Worked illustration / lecturer answer</a:t>
            </a:r>
          </a:p>
          <a:p>
            <a:r>
              <a:t>records[0]["reading"] first selects the first record, then finds its reading field. In {"unit": "A", "reading": 4}, the key reading retrieves 4 regardless of its visual position.</a:t>
            </a:r>
          </a:p>
          <a:p>
            <a:r>
              <a:t/>
            </a:r>
          </a:p>
          <a:p>
            <a:r>
              <a:t>Misconception to address</a:t>
            </a:r>
          </a:p>
          <a:p>
            <a:r>
              <a:t>Using a missing key with square brackets raises KeyError. get("missing", 0) uses 0 only if the key is absent, not when its existing value is None.</a:t>
            </a:r>
          </a:p>
          <a:p>
            <a:r>
              <a:t/>
            </a:r>
          </a:p>
          <a:p>
            <a:r>
              <a:t>On this slide</a:t>
            </a:r>
          </a:p>
          <a:p>
            <a:r>
              <a:t>A record holds named fields for one observation. A list of records holds several observations in order.</a:t>
            </a:r>
          </a:p>
          <a:p>
            <a:r>
              <a:t/>
            </a:r>
          </a:p>
          <a:p>
            <a:r>
              <a:t>records[0] selects the first dictionary. records[0]["reading"] then selects that dictionary’s reading field.</a:t>
            </a:r>
          </a:p>
          <a:p>
            <a:r>
              <a:t/>
            </a:r>
          </a:p>
          <a:p>
            <a:r>
              <a:t>for row in records takes one dictionary at a time. row["reading"] retrieves that observation’s field; float converts numeric text when needed.</a:t>
            </a:r>
          </a:p>
          <a:p>
            <a:r>
              <a:t/>
            </a:r>
          </a:p>
          <a:p>
            <a:r>
              <a:t>Continue to</a:t>
            </a:r>
          </a:p>
          <a:p>
            <a:r>
              <a:t>A record and a growing list</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57.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A record and a growing list</a:t>
            </a:r>
          </a:p>
          <a:p>
            <a:r>
              <a:t>CML3112, Week 4, slide 57</a:t>
            </a:r>
          </a:p>
          <a:p>
            <a:r>
              <a:t/>
            </a:r>
          </a:p>
          <a:p>
            <a:r>
              <a:t>Explanation to give</a:t>
            </a:r>
          </a:p>
          <a:p>
            <a:r>
              <a:t>A dictionary labels fields with keys. A list organises records by position. Explain each lookup in a nested expression separately rather than saying it all at once.</a:t>
            </a:r>
          </a:p>
          <a:p>
            <a:r>
              <a:t/>
            </a:r>
          </a:p>
          <a:p>
            <a:r>
              <a:t>Worked illustration / lecturer answer</a:t>
            </a:r>
          </a:p>
          <a:p>
            <a:r>
              <a:t>records[0]["reading"] first selects the first record, then finds its reading field. In {"unit": "A", "reading": 4}, the key reading retrieves 4 regardless of its visual position.</a:t>
            </a:r>
          </a:p>
          <a:p>
            <a:r>
              <a:t/>
            </a:r>
          </a:p>
          <a:p>
            <a:r>
              <a:t>Misconception to address</a:t>
            </a:r>
          </a:p>
          <a:p>
            <a:r>
              <a:t>Using a missing key with square brackets raises KeyError. get("missing", 0) uses 0 only if the key is absent, not when its existing value is None.</a:t>
            </a:r>
          </a:p>
          <a:p>
            <a:r>
              <a:t/>
            </a:r>
          </a:p>
          <a:p>
            <a:r>
              <a:t>On this slide</a:t>
            </a:r>
          </a:p>
          <a:p>
            <a:r>
              <a:t>Braces pair a key with its value. append adds one value to the end of a list.</a:t>
            </a:r>
          </a:p>
          <a:p>
            <a:r>
              <a:t/>
            </a:r>
          </a:p>
          <a:p>
            <a:r>
              <a:t>The same pattern works after reading a CSV row.</a:t>
            </a:r>
          </a:p>
          <a:p>
            <a:r>
              <a:t/>
            </a:r>
          </a:p>
          <a:p>
            <a:r>
              <a:t>Continue to</a:t>
            </a:r>
          </a:p>
          <a:p>
            <a:r>
              <a:t>A record and a growing list in Python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58.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A record and a growing list in Python</a:t>
            </a:r>
          </a:p>
          <a:p>
            <a:r>
              <a:t>CML3112, Week 4, slide 58</a:t>
            </a:r>
          </a:p>
          <a:p>
            <a:r>
              <a:t/>
            </a:r>
          </a:p>
          <a:p>
            <a:r>
              <a:t>Explanation to give</a:t>
            </a:r>
          </a:p>
          <a:p>
            <a:r>
              <a:t>A dictionary labels fields with keys. A list organises records by position. Explain each lookup in a nested expression separately rather than saying it all at once.</a:t>
            </a:r>
          </a:p>
          <a:p>
            <a:r>
              <a:t/>
            </a:r>
          </a:p>
          <a:p>
            <a:r>
              <a:t>Worked illustration / lecturer answer</a:t>
            </a:r>
          </a:p>
          <a:p>
            <a:r>
              <a:t>records[0]["reading"] first selects the first record, then finds its reading field. In {"unit": "A", "reading": 4}, the key reading retrieves 4 regardless of its visual position.</a:t>
            </a:r>
          </a:p>
          <a:p>
            <a:r>
              <a:t/>
            </a:r>
          </a:p>
          <a:p>
            <a:r>
              <a:t>Misconception to address</a:t>
            </a:r>
          </a:p>
          <a:p>
            <a:r>
              <a:t>Using a missing key with square brackets raises KeyError. get("missing", 0) uses 0 only if the key is absent, not when its existing value is None.</a:t>
            </a:r>
          </a:p>
          <a:p>
            <a:r>
              <a:t/>
            </a:r>
          </a:p>
          <a:p>
            <a:r>
              <a:t>Read the displayed code line by line</a:t>
            </a:r>
          </a:p>
          <a:p>
            <a:r>
              <a:t>records = [{"sensor": "A", "reading": "2.5"},</a:t>
            </a:r>
          </a:p>
          <a:p>
            <a:r>
              <a:t>Evaluate the complete right-hand expression first, then assign its result to the name or selected field on the left.</a:t>
            </a:r>
          </a:p>
          <a:p>
            <a:r>
              <a:t/>
            </a:r>
          </a:p>
          <a:p>
            <a:r>
              <a:t>{"sensor": "B", "reading": "3.5"}]</a:t>
            </a:r>
          </a:p>
          <a:p>
            <a:r>
              <a:t>This line continues the surrounding expression or block; read it together with the preceding line rather than running it alone.</a:t>
            </a:r>
          </a:p>
          <a:p>
            <a:r>
              <a:t/>
            </a:r>
          </a:p>
          <a:p>
            <a:r>
              <a:t>values = []</a:t>
            </a:r>
          </a:p>
          <a:p>
            <a:r>
              <a:t>Evaluate the complete right-hand expression first, then assign its result to the name or selected field on the left.</a:t>
            </a:r>
          </a:p>
          <a:p>
            <a:r>
              <a:t/>
            </a:r>
          </a:p>
          <a:p>
            <a:r>
              <a:t>for row in records:</a:t>
            </a:r>
          </a:p>
          <a:p>
            <a:r>
              <a:t>Take each item or pair in turn, assign the loop name(s), and repeat the indented body.</a:t>
            </a:r>
          </a:p>
          <a:p>
            <a:r>
              <a:t/>
            </a:r>
          </a:p>
          <a:p>
            <a:r>
              <a:t>values.append(float(row["reading"]))</a:t>
            </a:r>
          </a:p>
          <a:p>
            <a:r>
              <a:t>Evaluate the argument and add it as one new item at the end of this list.</a:t>
            </a:r>
          </a:p>
          <a:p>
            <a:r>
              <a:t/>
            </a:r>
          </a:p>
          <a:p>
            <a:r>
              <a:t>print(values)</a:t>
            </a:r>
          </a:p>
          <a:p>
            <a:r>
              <a:t>Evaluate the expression inside the parentheses and display it. Displaying is separate from returning a function result.</a:t>
            </a:r>
          </a:p>
          <a:p>
            <a:r>
              <a:t/>
            </a:r>
          </a:p>
          <a:p>
            <a:r>
              <a:t>Result / continuity</a:t>
            </a:r>
          </a:p>
          <a:p>
            <a:r>
              <a:t>Read top to bottom. Run the complete example in the matching practice notebook.</a:t>
            </a:r>
          </a:p>
          <a:p>
            <a:r>
              <a:t/>
            </a:r>
          </a:p>
          <a:p>
            <a:r>
              <a:t>Continue to</a:t>
            </a:r>
          </a:p>
          <a:p>
            <a:r>
              <a:t>Skip a blank before converting text</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59.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Skip a blank before converting text</a:t>
            </a:r>
          </a:p>
          <a:p>
            <a:r>
              <a:t>CML3112, Week 4, slide 59</a:t>
            </a:r>
          </a:p>
          <a:p>
            <a:r>
              <a:t/>
            </a:r>
          </a:p>
          <a:p>
            <a:r>
              <a:t>Explanation to give</a:t>
            </a:r>
          </a:p>
          <a:p>
            <a:r>
              <a:t>Inspect a field before converting it. A blank string represents no recorded number here. Converting that blank with float raises ValueError, so handle the missing case explicitly.</a:t>
            </a:r>
          </a:p>
          <a:p>
            <a:r>
              <a:t/>
            </a:r>
          </a:p>
          <a:p>
            <a:r>
              <a:t>Worked illustration / lecturer answer</a:t>
            </a:r>
          </a:p>
          <a:p>
            <a:r>
              <a:t>For text values ["2", "", "4"], skip the blank and convert the other two to 2.0 and 4.0. Their mean is 3.0 using count 2, not count 3.</a:t>
            </a:r>
          </a:p>
          <a:p>
            <a:r>
              <a:t/>
            </a:r>
          </a:p>
          <a:p>
            <a:r>
              <a:t>Misconception to address</a:t>
            </a:r>
          </a:p>
          <a:p>
            <a:r>
              <a:t>Do not convert blank to zero merely to silence an error. Zero is a measurement. Catch only the expected conversion failure so unrelated coding errors remain visible.</a:t>
            </a:r>
          </a:p>
          <a:p>
            <a:r>
              <a:t/>
            </a:r>
          </a:p>
          <a:p>
            <a:r>
              <a:t>On this slide</a:t>
            </a:r>
          </a:p>
          <a:p>
            <a:r>
              <a:t>An empty text field is "". The comparison != means “not equal to”. Only convert a value after the blank check passes.</a:t>
            </a:r>
          </a:p>
          <a:p>
            <a:r>
              <a:t/>
            </a:r>
          </a:p>
          <a:p>
            <a:r>
              <a:t>In this example, values records valid numbers only. Its length is the valid count; the group summaries must use the same valid-record policy.</a:t>
            </a:r>
          </a:p>
          <a:p>
            <a:r>
              <a:t/>
            </a:r>
          </a:p>
          <a:p>
            <a:r>
              <a:t>Continue to</a:t>
            </a:r>
          </a:p>
          <a:p>
            <a:r>
              <a:t>Collect only the recorded numbers</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60.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Collect only the recorded numbers</a:t>
            </a:r>
          </a:p>
          <a:p>
            <a:r>
              <a:t>CML3112, Week 4, slide 60</a:t>
            </a:r>
          </a:p>
          <a:p>
            <a:r>
              <a:t/>
            </a:r>
          </a:p>
          <a:p>
            <a:r>
              <a:t>Explanation to give</a:t>
            </a:r>
          </a:p>
          <a:p>
            <a:r>
              <a:t>Inspect a field before converting it. A blank string represents no recorded number here. Converting that blank with float raises ValueError, so handle the missing case explicitly.</a:t>
            </a:r>
          </a:p>
          <a:p>
            <a:r>
              <a:t/>
            </a:r>
          </a:p>
          <a:p>
            <a:r>
              <a:t>Worked illustration / lecturer answer</a:t>
            </a:r>
          </a:p>
          <a:p>
            <a:r>
              <a:t>For text values ["2", "", "4"], skip the blank and convert the other two to 2.0 and 4.0. Their mean is 3.0 using count 2, not count 3.</a:t>
            </a:r>
          </a:p>
          <a:p>
            <a:r>
              <a:t/>
            </a:r>
          </a:p>
          <a:p>
            <a:r>
              <a:t>Misconception to address</a:t>
            </a:r>
          </a:p>
          <a:p>
            <a:r>
              <a:t>Do not convert blank to zero merely to silence an error. Zero is a measurement. Catch only the expected conversion failure so unrelated coding errors remain visible.</a:t>
            </a:r>
          </a:p>
          <a:p>
            <a:r>
              <a:t/>
            </a:r>
          </a:p>
          <a:p>
            <a:r>
              <a:t>Read the displayed code line by line</a:t>
            </a:r>
          </a:p>
          <a:p>
            <a:r>
              <a:t>text_values = ["2.5", "", "3.5"]</a:t>
            </a:r>
          </a:p>
          <a:p>
            <a:r>
              <a:t>Evaluate the complete right-hand expression first, then assign its result to the name or selected field on the left.</a:t>
            </a:r>
          </a:p>
          <a:p>
            <a:r>
              <a:t/>
            </a:r>
          </a:p>
          <a:p>
            <a:r>
              <a:t>values = []</a:t>
            </a:r>
          </a:p>
          <a:p>
            <a:r>
              <a:t>Evaluate the complete right-hand expression first, then assign its result to the name or selected field on the left.</a:t>
            </a:r>
          </a:p>
          <a:p>
            <a:r>
              <a:t/>
            </a:r>
          </a:p>
          <a:p>
            <a:r>
              <a:t>for text in text_values:</a:t>
            </a:r>
          </a:p>
          <a:p>
            <a:r>
              <a:t>Take each item or pair in turn, assign the loop name(s), and repeat the indented body.</a:t>
            </a:r>
          </a:p>
          <a:p>
            <a:r>
              <a:t/>
            </a:r>
          </a:p>
          <a:p>
            <a:r>
              <a:t>if text != "":</a:t>
            </a:r>
          </a:p>
          <a:p>
            <a:r>
              <a:t>Evaluate this yes/no condition. Execute its indented body only on the matching path.</a:t>
            </a:r>
          </a:p>
          <a:p>
            <a:r>
              <a:t/>
            </a:r>
          </a:p>
          <a:p>
            <a:r>
              <a:t>values.append(float(text))</a:t>
            </a:r>
          </a:p>
          <a:p>
            <a:r>
              <a:t>Evaluate the argument and add it as one new item at the end of this list.</a:t>
            </a:r>
          </a:p>
          <a:p>
            <a:r>
              <a:t/>
            </a:r>
          </a:p>
          <a:p>
            <a:r>
              <a:t>print(len(values), values)</a:t>
            </a:r>
          </a:p>
          <a:p>
            <a:r>
              <a:t>Evaluate the expression inside the parentheses and display it. Displaying is separate from returning a function result.</a:t>
            </a:r>
          </a:p>
          <a:p>
            <a:r>
              <a:t/>
            </a:r>
          </a:p>
          <a:p>
            <a:r>
              <a:t>Result / continuity</a:t>
            </a:r>
          </a:p>
          <a:p>
            <a:r>
              <a:t>Expected: 2 [2.5, 3.5]. A blank is missing, not a recorded zero.</a:t>
            </a:r>
          </a:p>
          <a:p>
            <a:r>
              <a:t/>
            </a:r>
          </a:p>
          <a:p>
            <a:r>
              <a:t>Continue to</a:t>
            </a:r>
          </a:p>
          <a:p>
            <a:r>
              <a:t>Membership in a dictionary</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6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Membership in a dictionary</a:t>
            </a:r>
          </a:p>
          <a:p>
            <a:r>
              <a:t>CML3112, Week 4, slide 61</a:t>
            </a:r>
          </a:p>
          <a:p>
            <a:r>
              <a:t/>
            </a:r>
          </a:p>
          <a:p>
            <a:r>
              <a:t>Explanation to give</a:t>
            </a:r>
          </a:p>
          <a:p>
            <a:r>
              <a:t>A dictionary labels fields with keys. A list organises records by position. Explain each lookup in a nested expression separately rather than saying it all at once.</a:t>
            </a:r>
          </a:p>
          <a:p>
            <a:r>
              <a:t/>
            </a:r>
          </a:p>
          <a:p>
            <a:r>
              <a:t>Worked illustration / lecturer answer</a:t>
            </a:r>
          </a:p>
          <a:p>
            <a:r>
              <a:t>records[0]["reading"] first selects the first record, then finds its reading field. In {"unit": "A", "reading": 4}, the key reading retrieves 4 regardless of its visual position.</a:t>
            </a:r>
          </a:p>
          <a:p>
            <a:r>
              <a:t/>
            </a:r>
          </a:p>
          <a:p>
            <a:r>
              <a:t>Misconception to address</a:t>
            </a:r>
          </a:p>
          <a:p>
            <a:r>
              <a:t>Using a missing key with square brackets raises KeyError. get("missing", 0) uses 0 only if the key is absent, not when its existing value is None.</a:t>
            </a:r>
          </a:p>
          <a:p>
            <a:r>
              <a:t/>
            </a:r>
          </a:p>
          <a:p>
            <a:r>
              <a:t>On this slide</a:t>
            </a:r>
          </a:p>
          <a:p>
            <a:r>
              <a:t>group in totals asks whether group is already a dictionary key. group not in totals asks whether that key is absent.</a:t>
            </a:r>
          </a:p>
          <a:p>
            <a:r>
              <a:t/>
            </a:r>
          </a:p>
          <a:p>
            <a:r>
              <a:t>Before adding to a new group, create its total with totals[group] = 0. Then add the current record’s reading.</a:t>
            </a:r>
          </a:p>
          <a:p>
            <a:r>
              <a:t/>
            </a:r>
          </a:p>
          <a:p>
            <a:r>
              <a:t>The outer for visits records. The inner if runs only for a new group. The addition after the if runs for every record.</a:t>
            </a:r>
          </a:p>
          <a:p>
            <a:r>
              <a:t/>
            </a:r>
          </a:p>
          <a:p>
            <a:r>
              <a:t>Reference / existing resource</a:t>
            </a:r>
          </a:p>
          <a:p>
            <a:r>
              <a:t>https://docs.python.org/3/tutorial/introduction.html</a:t>
            </a:r>
          </a:p>
          <a:p>
            <a:r>
              <a:t>https://docs.python.org/3/tutorial/controlflow.html;</a:t>
            </a:r>
          </a:p>
          <a:p>
            <a:r>
              <a:t/>
            </a:r>
          </a:p>
          <a:p>
            <a:r>
              <a:t>Continue to</a:t>
            </a:r>
          </a:p>
          <a:p>
            <a:r>
              <a:t>Summaries for separate groups</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6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Summaries for separate groups</a:t>
            </a:r>
          </a:p>
          <a:p>
            <a:r>
              <a:t>CML3112, Week 4, slide 62</a:t>
            </a:r>
          </a:p>
          <a:p>
            <a:r>
              <a:t/>
            </a:r>
          </a:p>
          <a:p>
            <a:r>
              <a:t>Explanation to give</a:t>
            </a:r>
          </a:p>
          <a:p>
            <a:r>
              <a:t>Each group needs its own total and count. Identify the group label before updating its stored summary. A total divided by the overall count gives the wrong group mean.</a:t>
            </a:r>
          </a:p>
          <a:p>
            <a:r>
              <a:t/>
            </a:r>
          </a:p>
          <a:p>
            <a:r>
              <a:t>Worked illustration / lecturer answer</a:t>
            </a:r>
          </a:p>
          <a:p>
            <a:r>
              <a:t>Records A:2, A:4 and B:10 give A total 6 and count 2, so A mean 3. B total 10 and count 1 give mean 10.</a:t>
            </a:r>
          </a:p>
          <a:p>
            <a:r>
              <a:t/>
            </a:r>
          </a:p>
          <a:p>
            <a:r>
              <a:t>Misconception to address</a:t>
            </a:r>
          </a:p>
          <a:p>
            <a:r>
              <a:t>Start a new group's total and count once, when first encountered. Resetting them on every record loses earlier observations for that group.</a:t>
            </a:r>
          </a:p>
          <a:p>
            <a:r>
              <a:t/>
            </a:r>
          </a:p>
          <a:p>
            <a:r>
              <a:t>On this slide</a:t>
            </a:r>
          </a:p>
          <a:p>
            <a:r>
              <a:t>A dictionary can hold one running total for each group.</a:t>
            </a:r>
          </a:p>
          <a:p>
            <a:r>
              <a:t/>
            </a:r>
          </a:p>
          <a:p>
            <a:r>
              <a:t>An absent key needs an initial zero.</a:t>
            </a:r>
          </a:p>
          <a:p>
            <a:r>
              <a:t/>
            </a:r>
          </a:p>
          <a:p>
            <a:r>
              <a:t>Then add the reading to that group.</a:t>
            </a:r>
          </a:p>
          <a:p>
            <a:r>
              <a:t/>
            </a:r>
          </a:p>
          <a:p>
            <a:r>
              <a:t>To calculate group means, keep a matching count and divide each group total by its own count.</a:t>
            </a:r>
          </a:p>
          <a:p>
            <a:r>
              <a:t/>
            </a:r>
          </a:p>
          <a:p>
            <a:r>
              <a:t>Continue to</a:t>
            </a:r>
          </a:p>
          <a:p>
            <a:r>
              <a:t>Summaries for separate groups in Python (1/2)</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6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Summaries for separate groups in Python (1/2)</a:t>
            </a:r>
          </a:p>
          <a:p>
            <a:r>
              <a:t>CML3112, Week 4, slide 63</a:t>
            </a:r>
          </a:p>
          <a:p>
            <a:r>
              <a:t/>
            </a:r>
          </a:p>
          <a:p>
            <a:r>
              <a:t>Explanation to give</a:t>
            </a:r>
          </a:p>
          <a:p>
            <a:r>
              <a:t>Each group needs its own total and count. Identify the group label before updating its stored summary. A total divided by the overall count gives the wrong group mean.</a:t>
            </a:r>
          </a:p>
          <a:p>
            <a:r>
              <a:t/>
            </a:r>
          </a:p>
          <a:p>
            <a:r>
              <a:t>Worked illustration / lecturer answer</a:t>
            </a:r>
          </a:p>
          <a:p>
            <a:r>
              <a:t>Records A:2, A:4 and B:10 give A total 6 and count 2, so A mean 3. B total 10 and count 1 give mean 10.</a:t>
            </a:r>
          </a:p>
          <a:p>
            <a:r>
              <a:t/>
            </a:r>
          </a:p>
          <a:p>
            <a:r>
              <a:t>Misconception to address</a:t>
            </a:r>
          </a:p>
          <a:p>
            <a:r>
              <a:t>Start a new group's total and count once, when first encountered. Resetting them on every record loses earlier observations for that group.</a:t>
            </a:r>
          </a:p>
          <a:p>
            <a:r>
              <a:t/>
            </a:r>
          </a:p>
          <a:p>
            <a:r>
              <a:t>Read the displayed code line by line</a:t>
            </a:r>
          </a:p>
          <a:p>
            <a:r>
              <a:t>records = [{"group": "A", "reading": 2},</a:t>
            </a:r>
          </a:p>
          <a:p>
            <a:r>
              <a:t>Evaluate the complete right-hand expression first, then assign its result to the name or selected field on the left.</a:t>
            </a:r>
          </a:p>
          <a:p>
            <a:r>
              <a:t/>
            </a:r>
          </a:p>
          <a:p>
            <a:r>
              <a:t>{"group": "A", "reading": 4},</a:t>
            </a:r>
          </a:p>
          <a:p>
            <a:r>
              <a:t>This line continues the surrounding expression or block; read it together with the preceding line rather than running it alone.</a:t>
            </a:r>
          </a:p>
          <a:p>
            <a:r>
              <a:t/>
            </a:r>
          </a:p>
          <a:p>
            <a:r>
              <a:t>{"group": "B", "reading": 9}]</a:t>
            </a:r>
          </a:p>
          <a:p>
            <a:r>
              <a:t>This line continues the surrounding expression or block; read it together with the preceding line rather than running it alone.</a:t>
            </a:r>
          </a:p>
          <a:p>
            <a:r>
              <a:t/>
            </a:r>
          </a:p>
          <a:p>
            <a:r>
              <a:t>totals = {}</a:t>
            </a:r>
          </a:p>
          <a:p>
            <a:r>
              <a:t>Evaluate the complete right-hand expression first, then assign its result to the name or selected field on the left.</a:t>
            </a:r>
          </a:p>
          <a:p>
            <a:r>
              <a:t/>
            </a:r>
          </a:p>
          <a:p>
            <a:r>
              <a:t>for row in records:</a:t>
            </a:r>
          </a:p>
          <a:p>
            <a:r>
              <a:t>Take each item or pair in turn, assign the loop name(s), and repeat the indented body.</a:t>
            </a:r>
          </a:p>
          <a:p>
            <a:r>
              <a:t/>
            </a:r>
          </a:p>
          <a:p>
            <a:r>
              <a:t>group = row["group"]</a:t>
            </a:r>
          </a:p>
          <a:p>
            <a:r>
              <a:t>Evaluate the complete right-hand expression first, then assign its result to the name or selected field on the left.</a:t>
            </a:r>
          </a:p>
          <a:p>
            <a:r>
              <a:t/>
            </a:r>
          </a:p>
          <a:p>
            <a:r>
              <a:t>if group not in totals:</a:t>
            </a:r>
          </a:p>
          <a:p>
            <a:r>
              <a:t>Evaluate this yes/no condition. Execute its indented body only on the matching path.</a:t>
            </a:r>
          </a:p>
          <a:p>
            <a:r>
              <a:t/>
            </a:r>
          </a:p>
          <a:p>
            <a:r>
              <a:t>totals[group] = 0</a:t>
            </a:r>
          </a:p>
          <a:p>
            <a:r>
              <a:t>Evaluate the complete right-hand expression first, then assign its result to the name or selected field on the left.</a:t>
            </a:r>
          </a:p>
          <a:p>
            <a:r>
              <a:t/>
            </a:r>
          </a:p>
          <a:p>
            <a:r>
              <a:t>totals[group] = totals[group] + row["reading"]</a:t>
            </a:r>
          </a:p>
          <a:p>
            <a:r>
              <a:t>Evaluate the complete right-hand expression first, then assign its result to the name or selected field on the left.</a:t>
            </a:r>
          </a:p>
          <a:p>
            <a:r>
              <a:t/>
            </a:r>
          </a:p>
          <a:p>
            <a:r>
              <a:t>Result / continuity</a:t>
            </a:r>
          </a:p>
          <a:p>
            <a:r>
              <a:t>Read top to bottom. Run the complete example in the matching practice notebook.</a:t>
            </a:r>
          </a:p>
          <a:p>
            <a:r>
              <a:t/>
            </a:r>
          </a:p>
          <a:p>
            <a:r>
              <a:t>Continue to</a:t>
            </a:r>
          </a:p>
          <a:p>
            <a:r>
              <a:t>Summaries for separate groups in Python (2/2)</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6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Summaries for separate groups in Python (2/2)</a:t>
            </a:r>
          </a:p>
          <a:p>
            <a:r>
              <a:t>CML3112, Week 4, slide 64</a:t>
            </a:r>
          </a:p>
          <a:p>
            <a:r>
              <a:t/>
            </a:r>
          </a:p>
          <a:p>
            <a:r>
              <a:t>Explanation to give</a:t>
            </a:r>
          </a:p>
          <a:p>
            <a:r>
              <a:t>Each group needs its own total and count. Identify the group label before updating its stored summary. A total divided by the overall count gives the wrong group mean.</a:t>
            </a:r>
          </a:p>
          <a:p>
            <a:r>
              <a:t/>
            </a:r>
          </a:p>
          <a:p>
            <a:r>
              <a:t>Worked illustration / lecturer answer</a:t>
            </a:r>
          </a:p>
          <a:p>
            <a:r>
              <a:t>Records A:2, A:4 and B:10 give A total 6 and count 2, so A mean 3. B total 10 and count 1 give mean 10.</a:t>
            </a:r>
          </a:p>
          <a:p>
            <a:r>
              <a:t/>
            </a:r>
          </a:p>
          <a:p>
            <a:r>
              <a:t>Misconception to address</a:t>
            </a:r>
          </a:p>
          <a:p>
            <a:r>
              <a:t>Start a new group's total and count once, when first encountered. Resetting them on every record loses earlier observations for that group.</a:t>
            </a:r>
          </a:p>
          <a:p>
            <a:r>
              <a:t/>
            </a:r>
          </a:p>
          <a:p>
            <a:r>
              <a:t>Read the displayed code line by line</a:t>
            </a:r>
          </a:p>
          <a:p>
            <a:r>
              <a:t>print(totals)</a:t>
            </a:r>
          </a:p>
          <a:p>
            <a:r>
              <a:t>Evaluate the expression inside the parentheses and display it. Displaying is separate from returning a function result.</a:t>
            </a:r>
          </a:p>
          <a:p>
            <a:r>
              <a:t/>
            </a:r>
          </a:p>
          <a:p>
            <a:r>
              <a:t>Result / continuity</a:t>
            </a:r>
          </a:p>
          <a:p>
            <a:r>
              <a:t>Continue the SAME cell; keep indentation. Run after all parts are entered.</a:t>
            </a:r>
          </a:p>
          <a:p>
            <a:r>
              <a:t/>
            </a:r>
          </a:p>
          <a:p>
            <a:r>
              <a:t>Continue to</a:t>
            </a:r>
          </a:p>
          <a:p>
            <a:r>
              <a:t>A group mean needs its own count</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6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A group mean needs its own count</a:t>
            </a:r>
          </a:p>
          <a:p>
            <a:r>
              <a:t>CML3112, Week 4, slide 65</a:t>
            </a:r>
          </a:p>
          <a:p>
            <a:r>
              <a:t/>
            </a:r>
          </a:p>
          <a:p>
            <a:r>
              <a:t>Explanation to give</a:t>
            </a:r>
          </a:p>
          <a:p>
            <a:r>
              <a:t>Each group needs its own total and count. Identify the group label before updating its stored summary. A total divided by the overall count gives the wrong group mean.</a:t>
            </a:r>
          </a:p>
          <a:p>
            <a:r>
              <a:t/>
            </a:r>
          </a:p>
          <a:p>
            <a:r>
              <a:t>Worked illustration / lecturer answer</a:t>
            </a:r>
          </a:p>
          <a:p>
            <a:r>
              <a:t>Records A:2, A:4 and B:10 give A total 6 and count 2, so A mean 3. B total 10 and count 1 give mean 10.</a:t>
            </a:r>
          </a:p>
          <a:p>
            <a:r>
              <a:t/>
            </a:r>
          </a:p>
          <a:p>
            <a:r>
              <a:t>Misconception to address</a:t>
            </a:r>
          </a:p>
          <a:p>
            <a:r>
              <a:t>Start a new group's total and count once, when first encountered. Resetting them on every record loses earlier observations for that group.</a:t>
            </a:r>
          </a:p>
          <a:p>
            <a:r>
              <a:t/>
            </a:r>
          </a:p>
          <a:p>
            <a:r>
              <a:t>On this slide</a:t>
            </a:r>
          </a:p>
          <a:p>
            <a:r>
              <a:t>The preceding loop calculated a total for each group. Count records in those same groups, then divide each group total by its own count.</a:t>
            </a:r>
          </a:p>
          <a:p>
            <a:r>
              <a:t/>
            </a:r>
          </a:p>
          <a:p>
            <a:r>
              <a:t>items() supplies the group name and its total together. We use small invented records, not the assignment’s answers.</a:t>
            </a:r>
          </a:p>
          <a:p>
            <a:r>
              <a:t/>
            </a:r>
          </a:p>
          <a:p>
            <a:r>
              <a:t>Continue to</a:t>
            </a:r>
          </a:p>
          <a:p>
            <a:r>
              <a:t>From group totals to group means</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66.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From group totals to group means</a:t>
            </a:r>
          </a:p>
          <a:p>
            <a:r>
              <a:t>CML3112, Week 4, slide 66</a:t>
            </a:r>
          </a:p>
          <a:p>
            <a:r>
              <a:t/>
            </a:r>
          </a:p>
          <a:p>
            <a:r>
              <a:t>Explanation to give</a:t>
            </a:r>
          </a:p>
          <a:p>
            <a:r>
              <a:t>Each group needs its own total and count. Identify the group label before updating its stored summary. A total divided by the overall count gives the wrong group mean.</a:t>
            </a:r>
          </a:p>
          <a:p>
            <a:r>
              <a:t/>
            </a:r>
          </a:p>
          <a:p>
            <a:r>
              <a:t>Worked illustration / lecturer answer</a:t>
            </a:r>
          </a:p>
          <a:p>
            <a:r>
              <a:t>Records A:2, A:4 and B:10 give A total 6 and count 2, so A mean 3. B total 10 and count 1 give mean 10.</a:t>
            </a:r>
          </a:p>
          <a:p>
            <a:r>
              <a:t/>
            </a:r>
          </a:p>
          <a:p>
            <a:r>
              <a:t>Misconception to address</a:t>
            </a:r>
          </a:p>
          <a:p>
            <a:r>
              <a:t>Start a new group's total and count once, when first encountered. Resetting them on every record loses earlier observations for that group.</a:t>
            </a:r>
          </a:p>
          <a:p>
            <a:r>
              <a:t/>
            </a:r>
          </a:p>
          <a:p>
            <a:r>
              <a:t>Read the displayed code line by line</a:t>
            </a:r>
          </a:p>
          <a:p>
            <a:r>
              <a:t>counts = {}</a:t>
            </a:r>
          </a:p>
          <a:p>
            <a:r>
              <a:t>Evaluate the complete right-hand expression first, then assign its result to the name or selected field on the left.</a:t>
            </a:r>
          </a:p>
          <a:p>
            <a:r>
              <a:t/>
            </a:r>
          </a:p>
          <a:p>
            <a:r>
              <a:t>for row in records:</a:t>
            </a:r>
          </a:p>
          <a:p>
            <a:r>
              <a:t>Take each item or pair in turn, assign the loop name(s), and repeat the indented body.</a:t>
            </a:r>
          </a:p>
          <a:p>
            <a:r>
              <a:t/>
            </a:r>
          </a:p>
          <a:p>
            <a:r>
              <a:t>group = row["group"]</a:t>
            </a:r>
          </a:p>
          <a:p>
            <a:r>
              <a:t>Evaluate the complete right-hand expression first, then assign its result to the name or selected field on the left.</a:t>
            </a:r>
          </a:p>
          <a:p>
            <a:r>
              <a:t/>
            </a:r>
          </a:p>
          <a:p>
            <a:r>
              <a:t>counts[group] = counts.get(group, 0) + 1</a:t>
            </a:r>
          </a:p>
          <a:p>
            <a:r>
              <a:t>Evaluate the complete right-hand expression first, then assign its result to the name or selected field on the left.</a:t>
            </a:r>
          </a:p>
          <a:p>
            <a:r>
              <a:t/>
            </a:r>
          </a:p>
          <a:p>
            <a:r>
              <a:t>means = {}</a:t>
            </a:r>
          </a:p>
          <a:p>
            <a:r>
              <a:t>Evaluate the complete right-hand expression first, then assign its result to the name or selected field on the left.</a:t>
            </a:r>
          </a:p>
          <a:p>
            <a:r>
              <a:t/>
            </a:r>
          </a:p>
          <a:p>
            <a:r>
              <a:t>for group, total in totals.items():</a:t>
            </a:r>
          </a:p>
          <a:p>
            <a:r>
              <a:t>Take each item or pair in turn, assign the loop name(s), and repeat the indented body.</a:t>
            </a:r>
          </a:p>
          <a:p>
            <a:r>
              <a:t/>
            </a:r>
          </a:p>
          <a:p>
            <a:r>
              <a:t>means[group] = total / counts[group]</a:t>
            </a:r>
          </a:p>
          <a:p>
            <a:r>
              <a:t>Evaluate the complete right-hand expression first, then assign its result to the name or selected field on the left.</a:t>
            </a:r>
          </a:p>
          <a:p>
            <a:r>
              <a:t/>
            </a:r>
          </a:p>
          <a:p>
            <a:r>
              <a:t>print(means)</a:t>
            </a:r>
          </a:p>
          <a:p>
            <a:r>
              <a:t>Evaluate the expression inside the parentheses and display it. Displaying is separate from returning a function result.</a:t>
            </a:r>
          </a:p>
          <a:p>
            <a:r>
              <a:t/>
            </a:r>
          </a:p>
          <a:p>
            <a:r>
              <a:t>Result / continuity</a:t>
            </a:r>
          </a:p>
          <a:p>
            <a:r>
              <a:t>Expected: A has mean 3.0 and B has mean 9.0. Each group uses its own denominator.</a:t>
            </a:r>
          </a:p>
          <a:p>
            <a:r>
              <a:t/>
            </a:r>
          </a:p>
          <a:p>
            <a:r>
              <a:t>Continue to</a:t>
            </a:r>
          </a:p>
          <a:p>
            <a:r>
              <a:t>When numeric text cannot be converted</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67.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When numeric text cannot be converted</a:t>
            </a:r>
          </a:p>
          <a:p>
            <a:r>
              <a:t>CML3112, Week 4, slide 67</a:t>
            </a:r>
          </a:p>
          <a:p>
            <a:r>
              <a:t/>
            </a:r>
          </a:p>
          <a:p>
            <a:r>
              <a:t>Explanation to give</a:t>
            </a:r>
          </a:p>
          <a:p>
            <a:r>
              <a:t>Inspect a field before converting it. A blank string represents no recorded number here. Converting that blank with float raises ValueError, so handle the missing case explicitly.</a:t>
            </a:r>
          </a:p>
          <a:p>
            <a:r>
              <a:t/>
            </a:r>
          </a:p>
          <a:p>
            <a:r>
              <a:t>Worked illustration / lecturer answer</a:t>
            </a:r>
          </a:p>
          <a:p>
            <a:r>
              <a:t>For text values ["2", "", "4"], skip the blank and convert the other two to 2.0 and 4.0. Their mean is 3.0 using count 2, not count 3.</a:t>
            </a:r>
          </a:p>
          <a:p>
            <a:r>
              <a:t/>
            </a:r>
          </a:p>
          <a:p>
            <a:r>
              <a:t>Misconception to address</a:t>
            </a:r>
          </a:p>
          <a:p>
            <a:r>
              <a:t>Do not convert blank to zero merely to silence an error. Zero is a measurement. Catch only the expected conversion failure so unrelated coding errors remain visible.</a:t>
            </a:r>
          </a:p>
          <a:p>
            <a:r>
              <a:t/>
            </a:r>
          </a:p>
          <a:p>
            <a:r>
              <a:t>On this slide</a:t>
            </a:r>
          </a:p>
          <a:p>
            <a:r>
              <a:t>float("bad") raises ValueError: the text does not represent a number. An exception interrupts ordinary execution.</a:t>
            </a:r>
          </a:p>
          <a:p>
            <a:r>
              <a:t/>
            </a:r>
          </a:p>
          <a:p>
            <a:r>
              <a:t>try contains the operation that might fail. except ValueError runs only for that named failure. Indentation shows the two blocks.</a:t>
            </a:r>
          </a:p>
          <a:p>
            <a:r>
              <a:t/>
            </a:r>
          </a:p>
          <a:p>
            <a:r>
              <a:t>Continue to</a:t>
            </a:r>
          </a:p>
          <a:p>
            <a:r>
              <a:t>Catch one expected conversion failure</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68.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Catch one expected conversion failure</a:t>
            </a:r>
          </a:p>
          <a:p>
            <a:r>
              <a:t>CML3112, Week 4, slide 68</a:t>
            </a:r>
          </a:p>
          <a:p>
            <a:r>
              <a:t/>
            </a:r>
          </a:p>
          <a:p>
            <a:r>
              <a:t>Explanation to give</a:t>
            </a:r>
          </a:p>
          <a:p>
            <a:r>
              <a:t>Inspect a field before converting it. A blank string represents no recorded number here. Converting that blank with float raises ValueError, so handle the missing case explicitly.</a:t>
            </a:r>
          </a:p>
          <a:p>
            <a:r>
              <a:t/>
            </a:r>
          </a:p>
          <a:p>
            <a:r>
              <a:t>Worked illustration / lecturer answer</a:t>
            </a:r>
          </a:p>
          <a:p>
            <a:r>
              <a:t>For text values ["2", "", "4"], skip the blank and convert the other two to 2.0 and 4.0. Their mean is 3.0 using count 2, not count 3.</a:t>
            </a:r>
          </a:p>
          <a:p>
            <a:r>
              <a:t/>
            </a:r>
          </a:p>
          <a:p>
            <a:r>
              <a:t>Misconception to address</a:t>
            </a:r>
          </a:p>
          <a:p>
            <a:r>
              <a:t>Do not convert blank to zero merely to silence an error. Zero is a measurement. Catch only the expected conversion failure so unrelated coding errors remain visible.</a:t>
            </a:r>
          </a:p>
          <a:p>
            <a:r>
              <a:t/>
            </a:r>
          </a:p>
          <a:p>
            <a:r>
              <a:t>Read the displayed code line by line</a:t>
            </a:r>
          </a:p>
          <a:p>
            <a:r>
              <a:t>text = "bad"</a:t>
            </a:r>
          </a:p>
          <a:p>
            <a:r>
              <a:t>Evaluate the complete right-hand expression first, then assign its result to the name or selected field on the left.</a:t>
            </a:r>
          </a:p>
          <a:p>
            <a:r>
              <a:t/>
            </a:r>
          </a:p>
          <a:p>
            <a:r>
              <a:t>try:</a:t>
            </a:r>
          </a:p>
          <a:p>
            <a:r>
              <a:t>Attempt the indented conversion while allowing the specified failure to be handled.</a:t>
            </a:r>
          </a:p>
          <a:p>
            <a:r>
              <a:t/>
            </a:r>
          </a:p>
          <a:p>
            <a:r>
              <a:t>reading = float(text)</a:t>
            </a:r>
          </a:p>
          <a:p>
            <a:r>
              <a:t>Evaluate the complete right-hand expression first, then assign its result to the name or selected field on the left.</a:t>
            </a:r>
          </a:p>
          <a:p>
            <a:r>
              <a:t/>
            </a:r>
          </a:p>
          <a:p>
            <a:r>
              <a:t>except ValueError:</a:t>
            </a:r>
          </a:p>
          <a:p>
            <a:r>
              <a:t>Handle only the named exception from the preceding try block.</a:t>
            </a:r>
          </a:p>
          <a:p>
            <a:r>
              <a:t/>
            </a:r>
          </a:p>
          <a:p>
            <a:r>
              <a:t>reading = None</a:t>
            </a:r>
          </a:p>
          <a:p>
            <a:r>
              <a:t>Evaluate the complete right-hand expression first, then assign its result to the name or selected field on the left.</a:t>
            </a:r>
          </a:p>
          <a:p>
            <a:r>
              <a:t/>
            </a:r>
          </a:p>
          <a:p>
            <a:r>
              <a:t>print(reading)</a:t>
            </a:r>
          </a:p>
          <a:p>
            <a:r>
              <a:t>Evaluate the expression inside the parentheses and display it. Displaying is separate from returning a function result.</a:t>
            </a:r>
          </a:p>
          <a:p>
            <a:r>
              <a:t/>
            </a:r>
          </a:p>
          <a:p>
            <a:r>
              <a:t>Result / continuity</a:t>
            </a:r>
          </a:p>
          <a:p>
            <a:r>
              <a:t>Expected: None. The assignment specifies which invalid records to skip; do not invent a replacement number.</a:t>
            </a:r>
          </a:p>
          <a:p>
            <a:r>
              <a:t/>
            </a:r>
          </a:p>
          <a:p>
            <a:r>
              <a:t>Continue to</a:t>
            </a:r>
          </a:p>
          <a:p>
            <a:r>
              <a:t>Trace conversion success and failure</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69.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Trace conversion success and failure</a:t>
            </a:r>
          </a:p>
          <a:p>
            <a:r>
              <a:t>CML3112, Week 4, slide 69</a:t>
            </a:r>
          </a:p>
          <a:p>
            <a:r>
              <a:t/>
            </a:r>
          </a:p>
          <a:p>
            <a:r>
              <a:t>Explanation to give</a:t>
            </a:r>
          </a:p>
          <a:p>
            <a:r>
              <a:t>Inspect a field before converting it. A blank string represents no recorded number here. Converting that blank with float raises ValueError, so handle the missing case explicitly.</a:t>
            </a:r>
          </a:p>
          <a:p>
            <a:r>
              <a:t/>
            </a:r>
          </a:p>
          <a:p>
            <a:r>
              <a:t>Worked illustration / lecturer answer</a:t>
            </a:r>
          </a:p>
          <a:p>
            <a:r>
              <a:t>For text values ["2", "", "4"], skip the blank and convert the other two to 2.0 and 4.0. Their mean is 3.0 using count 2, not count 3.</a:t>
            </a:r>
          </a:p>
          <a:p>
            <a:r>
              <a:t/>
            </a:r>
          </a:p>
          <a:p>
            <a:r>
              <a:t>Misconception to address</a:t>
            </a:r>
          </a:p>
          <a:p>
            <a:r>
              <a:t>Do not convert blank to zero merely to silence an error. Zero is a measurement. Catch only the expected conversion failure so unrelated coding errors remain visible.</a:t>
            </a:r>
          </a:p>
          <a:p>
            <a:r>
              <a:t/>
            </a:r>
          </a:p>
          <a:p>
            <a:r>
              <a:t>On this slide</a:t>
            </a:r>
          </a:p>
          <a:p>
            <a:r>
              <a:t>Text supplied | try block | Result after except</a:t>
            </a:r>
          </a:p>
          <a:p>
            <a:r>
              <a:t>"2.5" | float succeeds; skip except | 2.5</a:t>
            </a:r>
          </a:p>
          <a:p>
            <a:r>
              <a:t>"bad" | float raises ValueError | None assigned by except</a:t>
            </a:r>
          </a:p>
          <a:p>
            <a:r>
              <a:t>Only the named conversion failure is handled. Do not use except: pass to hide unrelated errors.</a:t>
            </a:r>
          </a:p>
          <a:p>
            <a:r>
              <a:t/>
            </a:r>
          </a:p>
          <a:p>
            <a:r>
              <a:t>Reference / existing resource</a:t>
            </a:r>
          </a:p>
          <a:p>
            <a:r>
              <a:t>https://docs.python.org/3/tutorial/introduction.html</a:t>
            </a:r>
          </a:p>
          <a:p>
            <a:r>
              <a:t>https://docs.python.org/3/tutorial/controlflow.html;</a:t>
            </a:r>
          </a:p>
          <a:p>
            <a:r>
              <a:t/>
            </a:r>
          </a:p>
          <a:p>
            <a:r>
              <a:t>Continue to</a:t>
            </a:r>
          </a:p>
          <a:p>
            <a:r>
              <a:t>Revision example and answer</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70.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Revision example and answer</a:t>
            </a:r>
          </a:p>
          <a:p>
            <a:r>
              <a:t>CML3112, Week 4, slide 70</a:t>
            </a:r>
          </a:p>
          <a:p>
            <a:r>
              <a:t/>
            </a:r>
          </a:p>
          <a:p>
            <a:r>
              <a:t>Explanation to give</a:t>
            </a:r>
          </a:p>
          <a:p>
            <a:r>
              <a:t>Use the displayed example as a short individual revision question, then explain the reasoning behind its answer.</a:t>
            </a:r>
          </a:p>
          <a:p>
            <a:r>
              <a:t/>
            </a:r>
          </a:p>
          <a:p>
            <a:r>
              <a:t>Worked illustration / lecturer answer</a:t>
            </a:r>
          </a:p>
          <a:p>
            <a:r>
              <a:t>Example: Add 8 to the list. Trace the new total and count before running. What happens if total = 0 is moved inside the loop?</a:t>
            </a:r>
          </a:p>
          <a:p>
            <a:r>
              <a:t/>
            </a:r>
          </a:p>
          <a:p>
            <a:r>
              <a:t>Answer: Total 20, count 4, mean 5.0. Resetting inside the loop discards previous additions and leaves only the last value in total.</a:t>
            </a:r>
          </a:p>
          <a:p>
            <a:r>
              <a:t/>
            </a:r>
          </a:p>
          <a:p>
            <a:r>
              <a:t>Misconception to address</a:t>
            </a:r>
          </a:p>
          <a:p>
            <a:r>
              <a:t>Trace the operation that changes the value rather than accepting a memorised output. For notebook-state examples, specify which cell is repeated and whether the initialisation ran again.</a:t>
            </a:r>
          </a:p>
          <a:p>
            <a:r>
              <a:t/>
            </a:r>
          </a:p>
          <a:p>
            <a:r>
              <a:t>Continue to</a:t>
            </a:r>
          </a:p>
          <a:p>
            <a:r>
              <a:t>Preparing for the assignment</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7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Preparing for the assignment</a:t>
            </a:r>
          </a:p>
          <a:p>
            <a:r>
              <a:t>CML3112, Week 4, slide 71</a:t>
            </a:r>
          </a:p>
          <a:p>
            <a:r>
              <a:t/>
            </a:r>
          </a:p>
          <a:p>
            <a:r>
              <a:t>Explanation to give</a:t>
            </a:r>
          </a:p>
          <a:p>
            <a:r>
              <a:t>A4 uses the Week 4 300-row cohort CSV. The required outputs are valid_count, mean_reading, above_limit and group_means. Work only with the rows admitted by the published blank-reading rules.</a:t>
            </a:r>
          </a:p>
          <a:p>
            <a:r>
              <a:t/>
            </a:r>
          </a:p>
          <a:p>
            <a:r>
              <a:t>Worked illustration / lecturer answer</a:t>
            </a:r>
          </a:p>
          <a:p>
            <a:r>
              <a:t>Trace a smaller unrelated dataset first: A readings 2 and 4 yield A mean 3; B reading 9 yields B mean 9. Each group needs its own denominator.</a:t>
            </a:r>
          </a:p>
          <a:p>
            <a:r>
              <a:t/>
            </a:r>
          </a:p>
          <a:p>
            <a:r>
              <a:t>Misconception to address</a:t>
            </a:r>
          </a:p>
          <a:p>
            <a:r>
              <a:t>Despite “Reading report” in the title, A4 is one completed Python notebook, not a separate Word report. Do not use Week 2’s four-row CSV.</a:t>
            </a:r>
          </a:p>
          <a:p>
            <a:r>
              <a:t/>
            </a:r>
          </a:p>
          <a:p>
            <a:r>
              <a:t>On this slide</a:t>
            </a:r>
          </a:p>
          <a:p>
            <a:r>
              <a:t>Open the issued W04 notebook and its cohort CSV.</a:t>
            </a:r>
          </a:p>
          <a:p>
            <a:r>
              <a:t/>
            </a:r>
          </a:p>
          <a:p>
            <a:r>
              <a:t>Compute the requested valid_count, mean_reading, above_limit and group_means using the exact names in the notebook.</a:t>
            </a:r>
          </a:p>
          <a:p>
            <a:r>
              <a:t/>
            </a:r>
          </a:p>
          <a:p>
            <a:r>
              <a:t>First identify the correct field and its unit.</a:t>
            </a:r>
          </a:p>
          <a:p>
            <a:r>
              <a:t/>
            </a:r>
          </a:p>
          <a:p>
            <a:r>
              <a:t>Keep the CSV beside the notebook locally or upload it into the Colab runtime.</a:t>
            </a:r>
          </a:p>
          <a:p>
            <a:r>
              <a:t/>
            </a:r>
          </a:p>
          <a:p>
            <a:r>
              <a:t>Continue to</a:t>
            </a:r>
          </a:p>
          <a:p>
            <a:r>
              <a:t>Preparing for the assignment continued</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7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Preparing for the assignment continued</a:t>
            </a:r>
          </a:p>
          <a:p>
            <a:r>
              <a:t>CML3112, Week 4, slide 72</a:t>
            </a:r>
          </a:p>
          <a:p>
            <a:r>
              <a:t/>
            </a:r>
          </a:p>
          <a:p>
            <a:r>
              <a:t>Explanation to give</a:t>
            </a:r>
          </a:p>
          <a:p>
            <a:r>
              <a:t>A4 uses the Week 4 300-row cohort CSV. The required outputs are valid_count, mean_reading, above_limit and group_means. Work only with the rows admitted by the published blank-reading rules.</a:t>
            </a:r>
          </a:p>
          <a:p>
            <a:r>
              <a:t/>
            </a:r>
          </a:p>
          <a:p>
            <a:r>
              <a:t>Worked illustration / lecturer answer</a:t>
            </a:r>
          </a:p>
          <a:p>
            <a:r>
              <a:t>Trace a smaller unrelated dataset first: A readings 2 and 4 yield A mean 3; B reading 9 yields B mean 9. Each group needs its own denominator.</a:t>
            </a:r>
          </a:p>
          <a:p>
            <a:r>
              <a:t/>
            </a:r>
          </a:p>
          <a:p>
            <a:r>
              <a:t>Misconception to address</a:t>
            </a:r>
          </a:p>
          <a:p>
            <a:r>
              <a:t>Despite “Reading report” in the title, A4 is one completed Python notebook, not a separate Word report. Do not use Week 2’s four-row CSV.</a:t>
            </a:r>
          </a:p>
          <a:p>
            <a:r>
              <a:t/>
            </a:r>
          </a:p>
          <a:p>
            <a:r>
              <a:t>On this slide</a:t>
            </a:r>
          </a:p>
          <a:p>
            <a:r>
              <a:t>The written interpretation is practice.</a:t>
            </a:r>
          </a:p>
          <a:p>
            <a:r>
              <a:t/>
            </a:r>
          </a:p>
          <a:p>
            <a:r>
              <a:t>Continue to</a:t>
            </a:r>
          </a:p>
          <a:p>
            <a:r>
              <a:t>Counting every record</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7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Counting every record</a:t>
            </a:r>
          </a:p>
          <a:p>
            <a:r>
              <a:t>CML3112, Week 4, slide 73</a:t>
            </a:r>
          </a:p>
          <a:p>
            <a:r>
              <a:t/>
            </a:r>
          </a:p>
          <a:p>
            <a:r>
              <a:t>Explanation to give</a:t>
            </a:r>
          </a:p>
          <a:p>
            <a:r>
              <a:t>An audit describes the difference between the received data and the retained data. State what was counted and why a record was removed or a field filled. Return named counts so another reader can verify the accounting.</a:t>
            </a:r>
          </a:p>
          <a:p>
            <a:r>
              <a:t/>
            </a:r>
          </a:p>
          <a:p>
            <a:r>
              <a:t>Worked illustration / lecturer answer</a:t>
            </a:r>
          </a:p>
          <a:p>
            <a:r>
              <a:t>If 5 raw records become 4 after one duplicate removal, raw_count is 5 and cleaned_count is 4. A filled field changes a value but does not by itself remove a record.</a:t>
            </a:r>
          </a:p>
          <a:p>
            <a:r>
              <a:t/>
            </a:r>
          </a:p>
          <a:p>
            <a:r>
              <a:t>Misconception to address</a:t>
            </a:r>
          </a:p>
          <a:p>
            <a:r>
              <a:t>Several defect counts can overlap on the same record. Do not add them as if they were mutually exclusive removals unless your counting rule guarantees that.</a:t>
            </a:r>
          </a:p>
          <a:p>
            <a:r>
              <a:t/>
            </a:r>
          </a:p>
          <a:p>
            <a:r>
              <a:t>On this slide</a:t>
            </a:r>
          </a:p>
          <a:p>
            <a:r>
              <a:t>DictReader already consumes the header; skipping its first yielded row skips real data.</a:t>
            </a:r>
          </a:p>
          <a:p>
            <a:r>
              <a:t/>
            </a:r>
          </a:p>
          <a:p>
            <a:r>
              <a:t>A string such as "unknown" cannot be converted to float.</a:t>
            </a:r>
          </a:p>
          <a:p>
            <a:r>
              <a:t/>
            </a:r>
          </a:p>
          <a:p>
            <a:r>
              <a:t>Catch the expected conversion error, count and record it, then continue under a stated policy.</a:t>
            </a:r>
          </a:p>
          <a:p>
            <a:r>
              <a:t/>
            </a:r>
          </a:p>
          <a:p>
            <a:r>
              <a:t>Inspect whether skipped rows share a source before reporting a mean.</a:t>
            </a:r>
          </a:p>
          <a:p>
            <a:r>
              <a:t/>
            </a:r>
          </a:p>
          <a:p>
            <a:r>
              <a:t>Continue to</a:t>
            </a:r>
          </a:p>
          <a:p>
            <a:r>
              <a:t>Counting every record continued</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7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Counting every record continued</a:t>
            </a:r>
          </a:p>
          <a:p>
            <a:r>
              <a:t>CML3112, Week 4, slide 74</a:t>
            </a:r>
          </a:p>
          <a:p>
            <a:r>
              <a:t/>
            </a:r>
          </a:p>
          <a:p>
            <a:r>
              <a:t>Explanation to give</a:t>
            </a:r>
          </a:p>
          <a:p>
            <a:r>
              <a:t>An audit describes the difference between the received data and the retained data. State what was counted and why a record was removed or a field filled. Return named counts so another reader can verify the accounting.</a:t>
            </a:r>
          </a:p>
          <a:p>
            <a:r>
              <a:t/>
            </a:r>
          </a:p>
          <a:p>
            <a:r>
              <a:t>Worked illustration / lecturer answer</a:t>
            </a:r>
          </a:p>
          <a:p>
            <a:r>
              <a:t>If 5 raw records become 4 after one duplicate removal, raw_count is 5 and cleaned_count is 4. A filled field changes a value but does not by itself remove a record.</a:t>
            </a:r>
          </a:p>
          <a:p>
            <a:r>
              <a:t/>
            </a:r>
          </a:p>
          <a:p>
            <a:r>
              <a:t>Misconception to address</a:t>
            </a:r>
          </a:p>
          <a:p>
            <a:r>
              <a:t>Several defect counts can overlap on the same record. Do not add them as if they were mutually exclusive removals unless your counting rule guarantees that.</a:t>
            </a:r>
          </a:p>
          <a:p>
            <a:r>
              <a:t/>
            </a:r>
          </a:p>
          <a:p>
            <a:r>
              <a:t>On this slide</a:t>
            </a:r>
          </a:p>
          <a:p>
            <a:r>
              <a:t>A sample summary describes observed records, not every possible operating condition.</a:t>
            </a:r>
          </a:p>
          <a:p>
            <a:r>
              <a:t/>
            </a:r>
          </a:p>
          <a:p>
            <a:r>
              <a:t>Continue to</a:t>
            </a:r>
          </a:p>
          <a:p>
            <a:r>
              <a:t>Your issued assignment</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7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Your issued assignment</a:t>
            </a:r>
          </a:p>
          <a:p>
            <a:r>
              <a:t>CML3112, Week 4, slide 75</a:t>
            </a:r>
          </a:p>
          <a:p>
            <a:r>
              <a:t/>
            </a:r>
          </a:p>
          <a:p>
            <a:r>
              <a:t>Explanation to give</a:t>
            </a:r>
          </a:p>
          <a:p>
            <a:r>
              <a:t>A4 uses the Week 4 300-row cohort CSV. The required outputs are valid_count, mean_reading, above_limit and group_means. Work only with the rows admitted by the published blank-reading rules.</a:t>
            </a:r>
          </a:p>
          <a:p>
            <a:r>
              <a:t/>
            </a:r>
          </a:p>
          <a:p>
            <a:r>
              <a:t>Worked illustration / lecturer answer</a:t>
            </a:r>
          </a:p>
          <a:p>
            <a:r>
              <a:t>Trace a smaller unrelated dataset first: A readings 2 and 4 yield A mean 3; B reading 9 yields B mean 9. Each group needs its own denominator.</a:t>
            </a:r>
          </a:p>
          <a:p>
            <a:r>
              <a:t/>
            </a:r>
          </a:p>
          <a:p>
            <a:r>
              <a:t>Misconception to address</a:t>
            </a:r>
          </a:p>
          <a:p>
            <a:r>
              <a:t>Despite “Reading report” in the title, A4 is one completed Python notebook, not a separate Word report. Do not use Week 2’s four-row CSV.</a:t>
            </a:r>
          </a:p>
          <a:p>
            <a:r>
              <a:t/>
            </a:r>
          </a:p>
          <a:p>
            <a:r>
              <a:t>On this slide</a:t>
            </a:r>
          </a:p>
          <a:p>
            <a:r>
              <a:t>Open W04_student.ipynb.</a:t>
            </a:r>
          </a:p>
          <a:p>
            <a:r>
              <a:t/>
            </a:r>
          </a:p>
          <a:p>
            <a:r>
              <a:t>Read every task and its input units before coding.</a:t>
            </a:r>
          </a:p>
          <a:p>
            <a:r>
              <a:t/>
            </a:r>
          </a:p>
          <a:p>
            <a:r>
              <a:t>Keep the required function names and returned outputs.</a:t>
            </a:r>
          </a:p>
          <a:p>
            <a:r>
              <a:t/>
            </a:r>
          </a:p>
          <a:p>
            <a:r>
              <a:t>Restart and run all cells, then save the completed notebook.</a:t>
            </a:r>
          </a:p>
          <a:p>
            <a:r>
              <a:t/>
            </a:r>
          </a:p>
          <a:p>
            <a:r>
              <a:t>Continue to</a:t>
            </a:r>
          </a:p>
          <a:p>
            <a:r>
              <a:t>valid_count (5 marks)</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76.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valid_count (5 marks)</a:t>
            </a:r>
          </a:p>
          <a:p>
            <a:r>
              <a:t>CML3112, Week 4, slide 76</a:t>
            </a:r>
          </a:p>
          <a:p>
            <a:r>
              <a:t/>
            </a:r>
          </a:p>
          <a:p>
            <a:r>
              <a:t>Explanation to give</a:t>
            </a:r>
          </a:p>
          <a:p>
            <a:r>
              <a:t>Count records with a nonblank reading after applying the published rules. A blank is not a measured zero.</a:t>
            </a:r>
          </a:p>
          <a:p>
            <a:r>
              <a:t/>
            </a:r>
          </a:p>
          <a:p>
            <a:r>
              <a:t>Worked illustration / lecturer answer</a:t>
            </a:r>
          </a:p>
          <a:p>
            <a:r>
              <a:t>For numeric text "2", blank, "4", there are two recorded numbers. The assignment uses the current Week 4 300-row CSV.</a:t>
            </a:r>
          </a:p>
          <a:p>
            <a:r>
              <a:t/>
            </a:r>
          </a:p>
          <a:p>
            <a:r>
              <a:t>Misconception to address</a:t>
            </a:r>
          </a:p>
          <a:p>
            <a:r>
              <a:t>Keep the exact output names and required types. Use the task text for the learner’s own assessed answer; the alternate example explains the method without replacing their work.</a:t>
            </a:r>
          </a:p>
          <a:p>
            <a:r>
              <a:t/>
            </a:r>
          </a:p>
          <a:p>
            <a:r>
              <a:t>On this slide</a:t>
            </a:r>
          </a:p>
          <a:p>
            <a:r>
              <a:t>Store an integer count of rows whose crack_width_mm field is nonblank.</a:t>
            </a:r>
          </a:p>
          <a:p>
            <a:r>
              <a:t/>
            </a:r>
          </a:p>
          <a:p>
            <a:r>
              <a:t>Skip blank readings before numeric conversion.</a:t>
            </a:r>
          </a:p>
          <a:p>
            <a:r>
              <a:t/>
            </a:r>
          </a:p>
          <a:p>
            <a:r>
              <a:t>Continue to</a:t>
            </a:r>
          </a:p>
          <a:p>
            <a:r>
              <a:t>mean_reading (5 marks)</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77.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mean_reading (5 marks)</a:t>
            </a:r>
          </a:p>
          <a:p>
            <a:r>
              <a:t>CML3112, Week 4, slide 77</a:t>
            </a:r>
          </a:p>
          <a:p>
            <a:r>
              <a:t/>
            </a:r>
          </a:p>
          <a:p>
            <a:r>
              <a:t>Explanation to give</a:t>
            </a:r>
          </a:p>
          <a:p>
            <a:r>
              <a:t>Add only the readings admitted by the stated validity rule, then divide by their count. Keep the requested numeric return or variable.</a:t>
            </a:r>
          </a:p>
          <a:p>
            <a:r>
              <a:t/>
            </a:r>
          </a:p>
          <a:p>
            <a:r>
              <a:t>Worked illustration / lecturer answer</a:t>
            </a:r>
          </a:p>
          <a:p>
            <a:r>
              <a:t>For recorded readings 2 and 4, mean is 3. The skipped blank does not belong in the denominator.</a:t>
            </a:r>
          </a:p>
          <a:p>
            <a:r>
              <a:t/>
            </a:r>
          </a:p>
          <a:p>
            <a:r>
              <a:t>Misconception to address</a:t>
            </a:r>
          </a:p>
          <a:p>
            <a:r>
              <a:t>Keep the exact output names and required types. Use the task text for the learner’s own assessed answer; the alternate example explains the method without replacing their work.</a:t>
            </a:r>
          </a:p>
          <a:p>
            <a:r>
              <a:t/>
            </a:r>
          </a:p>
          <a:p>
            <a:r>
              <a:t>On this slide</a:t>
            </a:r>
          </a:p>
          <a:p>
            <a:r>
              <a:t>Store the arithmetic mean of the nonblank crack_width_mm values as a number.</a:t>
            </a:r>
          </a:p>
          <a:p>
            <a:r>
              <a:t/>
            </a:r>
          </a:p>
          <a:p>
            <a:r>
              <a:t>Add the valid readings and divide by their count.</a:t>
            </a:r>
          </a:p>
          <a:p>
            <a:r>
              <a:t/>
            </a:r>
          </a:p>
          <a:p>
            <a:r>
              <a:t>Keep full precision.</a:t>
            </a:r>
          </a:p>
          <a:p>
            <a:r>
              <a:t/>
            </a:r>
          </a:p>
          <a:p>
            <a:r>
              <a:t>Continue to</a:t>
            </a:r>
          </a:p>
          <a:p>
            <a:r>
              <a:t>above_limit (5 marks)</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78.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above_limit (5 marks)</a:t>
            </a:r>
          </a:p>
          <a:p>
            <a:r>
              <a:t>CML3112, Week 4, slide 78</a:t>
            </a:r>
          </a:p>
          <a:p>
            <a:r>
              <a:t/>
            </a:r>
          </a:p>
          <a:p>
            <a:r>
              <a:t>Explanation to give</a:t>
            </a:r>
          </a:p>
          <a:p>
            <a:r>
              <a:t>Compare each valid numeric reading against the specified threshold using the exact strict or inclusive relation in the task.</a:t>
            </a:r>
          </a:p>
          <a:p>
            <a:r>
              <a:t/>
            </a:r>
          </a:p>
          <a:p>
            <a:r>
              <a:t>Worked illustration / lecturer answer</a:t>
            </a:r>
          </a:p>
          <a:p>
            <a:r>
              <a:t>For readings 9,10,11 and a strictly-greater-than 10 limit, the count is 1. Using &gt;= would incorrectly count 2.</a:t>
            </a:r>
          </a:p>
          <a:p>
            <a:r>
              <a:t/>
            </a:r>
          </a:p>
          <a:p>
            <a:r>
              <a:t>Misconception to address</a:t>
            </a:r>
          </a:p>
          <a:p>
            <a:r>
              <a:t>Keep the exact output names and required types. Use the task text for the learner’s own assessed answer; the alternate example explains the method without replacing their work.</a:t>
            </a:r>
          </a:p>
          <a:p>
            <a:r>
              <a:t/>
            </a:r>
          </a:p>
          <a:p>
            <a:r>
              <a:t>On this slide</a:t>
            </a:r>
          </a:p>
          <a:p>
            <a:r>
              <a:t>Store an integer count of valid crack_width_mm readings strictly greater than 0.3.</a:t>
            </a:r>
          </a:p>
          <a:p>
            <a:r>
              <a:t/>
            </a:r>
          </a:p>
          <a:p>
            <a:r>
              <a:t>A reading equal to the threshold is not counted.</a:t>
            </a:r>
          </a:p>
          <a:p>
            <a:r>
              <a:t/>
            </a:r>
          </a:p>
          <a:p>
            <a:r>
              <a:t>Continue to</a:t>
            </a:r>
          </a:p>
          <a:p>
            <a:r>
              <a:t>group_means (5 marks)</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79.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group_means (5 marks)</a:t>
            </a:r>
          </a:p>
          <a:p>
            <a:r>
              <a:t>CML3112, Week 4, slide 79</a:t>
            </a:r>
          </a:p>
          <a:p>
            <a:r>
              <a:t/>
            </a:r>
          </a:p>
          <a:p>
            <a:r>
              <a:t>Explanation to give</a:t>
            </a:r>
          </a:p>
          <a:p>
            <a:r>
              <a:t>Produce a dictionary from each group label to its own mean, using each group’s valid count.</a:t>
            </a:r>
          </a:p>
          <a:p>
            <a:r>
              <a:t/>
            </a:r>
          </a:p>
          <a:p>
            <a:r>
              <a:t>Worked illustration / lecturer answer</a:t>
            </a:r>
          </a:p>
          <a:p>
            <a:r>
              <a:t>Group A with readings 2 and 4 has mean 3. Group B with a single 9 has mean 9. Dividing both by the overall count would be wrong.</a:t>
            </a:r>
          </a:p>
          <a:p>
            <a:r>
              <a:t/>
            </a:r>
          </a:p>
          <a:p>
            <a:r>
              <a:t>Misconception to address</a:t>
            </a:r>
          </a:p>
          <a:p>
            <a:r>
              <a:t>Keep the exact output names and required types. Use the task text for the learner’s own assessed answer; the alternate example explains the method without replacing their work.</a:t>
            </a:r>
          </a:p>
          <a:p>
            <a:r>
              <a:t/>
            </a:r>
          </a:p>
          <a:p>
            <a:r>
              <a:t>On this slide</a:t>
            </a:r>
          </a:p>
          <a:p>
            <a:r>
              <a:t>Store a dictionary whose keys are the structure_id labels and whose values are the mean valid crack_width_mm readings within each group.</a:t>
            </a:r>
          </a:p>
          <a:p>
            <a:r>
              <a:t/>
            </a:r>
          </a:p>
          <a:p>
            <a:r>
              <a:t>Divide each group total by its own valid count.</a:t>
            </a:r>
          </a:p>
          <a:p>
            <a:r>
              <a:t/>
            </a:r>
          </a:p>
          <a:p>
            <a:r>
              <a:t>Keep full precision.</a:t>
            </a:r>
          </a:p>
          <a:p>
            <a:r>
              <a:t/>
            </a:r>
          </a:p>
          <a:p>
            <a:r>
              <a:t>Continue to</a:t>
            </a:r>
          </a:p>
          <a:p>
            <a:r>
              <a:t>Week 4 rules</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80.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Week 4 rules</a:t>
            </a:r>
          </a:p>
          <a:p>
            <a:r>
              <a:t>CML3112, Week 4, slide 80</a:t>
            </a:r>
          </a:p>
          <a:p>
            <a:r>
              <a:t/>
            </a:r>
          </a:p>
          <a:p>
            <a:r>
              <a:t>Explanation to give</a:t>
            </a:r>
          </a:p>
          <a:p>
            <a:r>
              <a:t>A4 uses the Week 4 300-row cohort CSV. The required outputs are valid_count, mean_reading, above_limit and group_means. Work only with the rows admitted by the published blank-reading rules.</a:t>
            </a:r>
          </a:p>
          <a:p>
            <a:r>
              <a:t/>
            </a:r>
          </a:p>
          <a:p>
            <a:r>
              <a:t>Worked illustration / lecturer answer</a:t>
            </a:r>
          </a:p>
          <a:p>
            <a:r>
              <a:t>Trace a smaller unrelated dataset first: A readings 2 and 4 yield A mean 3; B reading 9 yields B mean 9. Each group needs its own denominator.</a:t>
            </a:r>
          </a:p>
          <a:p>
            <a:r>
              <a:t/>
            </a:r>
          </a:p>
          <a:p>
            <a:r>
              <a:t>Misconception to address</a:t>
            </a:r>
          </a:p>
          <a:p>
            <a:r>
              <a:t>Despite “Reading report” in the title, A4 is one completed Python notebook, not a separate Word report. Do not use Week 2’s four-row CSV.</a:t>
            </a:r>
          </a:p>
          <a:p>
            <a:r>
              <a:t/>
            </a:r>
          </a:p>
          <a:p>
            <a:r>
              <a:t>On this slide</a:t>
            </a:r>
          </a:p>
          <a:p>
            <a:r>
              <a:t>Fictional teaching data.</a:t>
            </a:r>
          </a:p>
          <a:p>
            <a:r>
              <a:t/>
            </a:r>
          </a:p>
          <a:p>
            <a:r>
              <a:t>300 records.</a:t>
            </a:r>
          </a:p>
          <a:p>
            <a:r>
              <a:t/>
            </a:r>
          </a:p>
          <a:p>
            <a:r>
              <a:t>Three blank crack_width_mm values must be skipped in numerical summaries.</a:t>
            </a:r>
          </a:p>
          <a:p>
            <a:r>
              <a:t/>
            </a:r>
          </a:p>
          <a:p>
            <a:r>
              <a:t>Threshold 0.3 is a teaching assumption.</a:t>
            </a:r>
          </a:p>
          <a:p>
            <a:r>
              <a:t/>
            </a:r>
          </a:p>
          <a:p>
            <a:r>
              <a:t>Continue to</a:t>
            </a:r>
          </a:p>
          <a:p>
            <a:r>
              <a:t>Week 4 rules continued</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8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Week 4 rules continued</a:t>
            </a:r>
          </a:p>
          <a:p>
            <a:r>
              <a:t>CML3112, Week 4, slide 81</a:t>
            </a:r>
          </a:p>
          <a:p>
            <a:r>
              <a:t/>
            </a:r>
          </a:p>
          <a:p>
            <a:r>
              <a:t>Explanation to give</a:t>
            </a:r>
          </a:p>
          <a:p>
            <a:r>
              <a:t>A4 uses the Week 4 300-row cohort CSV. The required outputs are valid_count, mean_reading, above_limit and group_means. Work only with the rows admitted by the published blank-reading rules.</a:t>
            </a:r>
          </a:p>
          <a:p>
            <a:r>
              <a:t/>
            </a:r>
          </a:p>
          <a:p>
            <a:r>
              <a:t>Worked illustration / lecturer answer</a:t>
            </a:r>
          </a:p>
          <a:p>
            <a:r>
              <a:t>Trace a smaller unrelated dataset first: A readings 2 and 4 yield A mean 3; B reading 9 yields B mean 9. Each group needs its own denominator.</a:t>
            </a:r>
          </a:p>
          <a:p>
            <a:r>
              <a:t/>
            </a:r>
          </a:p>
          <a:p>
            <a:r>
              <a:t>Misconception to address</a:t>
            </a:r>
          </a:p>
          <a:p>
            <a:r>
              <a:t>Despite “Reading report” in the title, A4 is one completed Python notebook, not a separate Word report. Do not use Week 2’s four-row CSV.</a:t>
            </a:r>
          </a:p>
          <a:p>
            <a:r>
              <a:t/>
            </a:r>
          </a:p>
          <a:p>
            <a:r>
              <a:t>On this slide</a:t>
            </a:r>
          </a:p>
          <a:p>
            <a:r>
              <a:t>Compute valid_count, mean_reading, above_limit (strictly greater than 0.3) and group_means keyed by structure_id.</a:t>
            </a:r>
          </a:p>
          <a:p>
            <a:r>
              <a:t/>
            </a:r>
          </a:p>
          <a:p>
            <a:r>
              <a:t>Use standard-library csv and collections.</a:t>
            </a:r>
          </a:p>
          <a:p>
            <a:r>
              <a:t/>
            </a:r>
          </a:p>
          <a:p>
            <a:r>
              <a:t>Save a copy using your Student Registration Number with / replaced by _, followed by _W04.ipynb.</a:t>
            </a:r>
          </a:p>
          <a:p>
            <a:r>
              <a:t/>
            </a:r>
          </a:p>
          <a:p>
            <a:r>
              <a:t>STUDENT_ID in the starter code means Student Registration Number.</a:t>
            </a:r>
          </a:p>
          <a:p>
            <a:r>
              <a:t/>
            </a:r>
          </a:p>
          <a:p>
            <a:r>
              <a:t>Continue to</a:t>
            </a:r>
          </a:p>
          <a:p>
            <a:r>
              <a:t>Week 4 rules continued</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8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Week 4 rules continued</a:t>
            </a:r>
          </a:p>
          <a:p>
            <a:r>
              <a:t>CML3112, Week 4, slide 82</a:t>
            </a:r>
          </a:p>
          <a:p>
            <a:r>
              <a:t/>
            </a:r>
          </a:p>
          <a:p>
            <a:r>
              <a:t>Explanation to give</a:t>
            </a:r>
          </a:p>
          <a:p>
            <a:r>
              <a:t>A4 uses the Week 4 300-row cohort CSV. The required outputs are valid_count, mean_reading, above_limit and group_means. Work only with the rows admitted by the published blank-reading rules.</a:t>
            </a:r>
          </a:p>
          <a:p>
            <a:r>
              <a:t/>
            </a:r>
          </a:p>
          <a:p>
            <a:r>
              <a:t>Worked illustration / lecturer answer</a:t>
            </a:r>
          </a:p>
          <a:p>
            <a:r>
              <a:t>Trace a smaller unrelated dataset first: A readings 2 and 4 yield A mean 3; B reading 9 yields B mean 9. Each group needs its own denominator.</a:t>
            </a:r>
          </a:p>
          <a:p>
            <a:r>
              <a:t/>
            </a:r>
          </a:p>
          <a:p>
            <a:r>
              <a:t>Misconception to address</a:t>
            </a:r>
          </a:p>
          <a:p>
            <a:r>
              <a:t>Despite “Reading report” in the title, A4 is one completed Python notebook, not a separate Word report. Do not use Week 2’s four-row CSV.</a:t>
            </a:r>
          </a:p>
          <a:p>
            <a:r>
              <a:t/>
            </a:r>
          </a:p>
          <a:p>
            <a:r>
              <a:t>On this slide</a:t>
            </a:r>
          </a:p>
          <a:p>
            <a:r>
              <a:t>Four checks carry five marks each.</a:t>
            </a:r>
          </a:p>
          <a:p>
            <a:r>
              <a:t/>
            </a:r>
          </a:p>
          <a:p>
            <a:r>
              <a:t>Explain the interesting pattern separately as formative practice.</a:t>
            </a:r>
          </a:p>
          <a:p>
            <a:r>
              <a:t/>
            </a:r>
          </a:p>
          <a:p>
            <a:r>
              <a:t>For beginner step-by-step help, open ASSIGNMENT_INSTRUCTIONS.txt and STUDENT_HOW_TO.md in this folder.</a:t>
            </a:r>
          </a:p>
          <a:p>
            <a:r>
              <a:t/>
            </a:r>
          </a:p>
          <a:p>
            <a:r>
              <a:t>The first names your required files and hand-in checklist; the second explains accounts, Colab, saving and uploads.</a:t>
            </a:r>
          </a:p>
          <a:p>
            <a:r>
              <a:t/>
            </a:r>
          </a:p>
          <a:p>
            <a:r>
              <a:t>Continue to</a:t>
            </a:r>
          </a:p>
          <a:p>
            <a:r>
              <a:t>Reading report submission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8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Reading report submission</a:t>
            </a:r>
          </a:p>
          <a:p>
            <a:r>
              <a:t>CML3112, Week 4, slide 83</a:t>
            </a:r>
          </a:p>
          <a:p>
            <a:r>
              <a:t/>
            </a:r>
          </a:p>
          <a:p>
            <a:r>
              <a:t>Explanation to give</a:t>
            </a:r>
          </a:p>
          <a:p>
            <a:r>
              <a:t>This slide hands over CML3112 W04. Show the exact form title before uploading. The required packet is one completed .ipynb notebook.</a:t>
            </a:r>
          </a:p>
          <a:p>
            <a:r>
              <a:t/>
            </a:r>
          </a:p>
          <a:p>
            <a:r>
              <a:t>Worked illustration / lecturer answer</a:t>
            </a:r>
          </a:p>
          <a:p>
            <a:r>
              <a:t>The recorded cutoff for this form is 2026-10-06T11:00:00+03:00. Check the live form for later changes. A replacement must contain the complete required file set, not just the changed file.</a:t>
            </a:r>
          </a:p>
          <a:p>
            <a:r>
              <a:t/>
            </a:r>
          </a:p>
          <a:p>
            <a:r>
              <a:t>Misconception to address</a:t>
            </a:r>
          </a:p>
          <a:p>
            <a:r>
              <a:t>Students enter their own Student Registration Number as required freeform text. They wait for filenames to appear, press Submit and keep the confirmation. A file saved in Drive or GitHub is not itself a form submission.</a:t>
            </a:r>
          </a:p>
          <a:p>
            <a:r>
              <a:t/>
            </a:r>
          </a:p>
          <a:p>
            <a:r>
              <a:t>On this slide</a:t>
            </a:r>
          </a:p>
          <a:p>
            <a:r>
              <a:t>Opens: 29 Sep 2026, 11:00 Kampala</a:t>
            </a:r>
          </a:p>
          <a:p>
            <a:r>
              <a:t/>
            </a:r>
          </a:p>
          <a:p>
            <a:r>
              <a:t>Deadline: 06 Oct 2026, 11:00 Kampala</a:t>
            </a:r>
          </a:p>
          <a:p>
            <a:r>
              <a:t/>
            </a:r>
          </a:p>
          <a:p>
            <a:r>
              <a:t>Use your full Student Registration Number in the form.</a:t>
            </a:r>
          </a:p>
          <a:p>
            <a:r>
              <a:t/>
            </a:r>
          </a:p>
          <a:p>
            <a:r>
              <a:t>Keep the submitted files and confirmation.</a:t>
            </a:r>
          </a:p>
          <a:p>
            <a:r>
              <a:t/>
            </a:r>
          </a:p>
          <a:p>
            <a:r>
              <a:t>Continue to</a:t>
            </a:r>
          </a:p>
          <a:p>
            <a:r>
              <a:t>Week 4 quiz</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8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Week 4 quiz</a:t>
            </a:r>
          </a:p>
          <a:p>
            <a:r>
              <a:t>CML3112, Week 4, slide 84</a:t>
            </a:r>
          </a:p>
          <a:p>
            <a:r>
              <a:t/>
            </a:r>
          </a:p>
          <a:p>
            <a:r>
              <a:t>Explanation to give</a:t>
            </a:r>
          </a:p>
          <a:p>
            <a:r>
              <a:t>This is the CML3112 Week 4 quiz. The student link opens the response form; it does not activate its window. In Quiz Controls use open_W4_CML3112 when ready and read the logged closing time.</a:t>
            </a:r>
          </a:p>
          <a:p>
            <a:r>
              <a:t/>
            </a:r>
          </a:p>
          <a:p>
            <a:r>
              <a:t>Worked illustration / lecturer answer</a:t>
            </a:r>
          </a:p>
          <a:p>
            <a:r>
              <a:t>Explain the distinction between the expected answering time and availability: five minutes of questions can still be available for 24 hours after activation. Enter the learner’s own Student Registration Number and use the registered Google account.</a:t>
            </a:r>
          </a:p>
          <a:p>
            <a:r>
              <a:t/>
            </a:r>
          </a:p>
          <a:p>
            <a:r>
              <a:t>Misconception to address</a:t>
            </a:r>
          </a:p>
          <a:p>
            <a:r>
              <a:t>Read the exact live cutoff before announcing it. Do not promise a new attempt to somebody who already submitted. Quiz catch-up and assignment uploads are separate forms.</a:t>
            </a:r>
          </a:p>
          <a:p>
            <a:r>
              <a:t/>
            </a:r>
          </a:p>
          <a:p>
            <a:r>
              <a:t>On this slide</a:t>
            </a:r>
          </a:p>
          <a:p>
            <a:r>
              <a:t>Answer individually after the lecturer activates the quiz.</a:t>
            </a:r>
          </a:p>
          <a:p>
            <a:r>
              <a:t/>
            </a:r>
          </a:p>
          <a:p>
            <a:r>
              <a:t>Available for 24 hours from activation.</a:t>
            </a:r>
          </a:p>
          <a:p>
            <a:r>
              <a:t/>
            </a:r>
          </a:p>
          <a:p>
            <a:r>
              <a:t>Use your Student Registration Number and registered account.</a:t>
            </a:r>
          </a:p>
          <a:p>
            <a:r>
              <a:t/>
            </a:r>
          </a:p>
          <a:p>
            <a:r>
              <a:t>Check the announced quiz closing time.</a:t>
            </a:r>
          </a:p>
          <a:p>
            <a:r>
              <a:t/>
            </a:r>
          </a:p>
          <a:p>
            <a:r>
              <a:t>Continue to</a:t>
            </a:r>
          </a:p>
          <a:p>
            <a:r>
              <a:t>Revision and submission checklist</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8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Revision and submission checklist</a:t>
            </a:r>
          </a:p>
          <a:p>
            <a:r>
              <a:t>CML3112, Week 4, slide 85</a:t>
            </a:r>
          </a:p>
          <a:p>
            <a:r>
              <a:t/>
            </a:r>
          </a:p>
          <a:p>
            <a:r>
              <a:t>Explanation to give</a:t>
            </a:r>
          </a:p>
          <a:p>
            <a:r>
              <a:t>Move from one calculation to many records. Lists supply ordered values, loops visit them, dictionaries label fields and CSV files store the observations.</a:t>
            </a:r>
          </a:p>
          <a:p>
            <a:r>
              <a:t/>
            </a:r>
          </a:p>
          <a:p>
            <a:r>
              <a:t>Worked illustration / lecturer answer</a:t>
            </a:r>
          </a:p>
          <a:p>
            <a:r>
              <a:t>For readings 2, 4 and 6, the running total is 2, then 6, then 12. Count 3 gives mean 4.0. A group needs its own total and count.</a:t>
            </a:r>
          </a:p>
          <a:p>
            <a:r>
              <a:t/>
            </a:r>
          </a:p>
          <a:p>
            <a:r>
              <a:t>Misconception to address</a:t>
            </a:r>
          </a:p>
          <a:p>
            <a:r>
              <a:t>Close by identifying the actual saved file and its correct submission route. Read the live deadline. For current weekly notebook tasks, students upload their own work, not the practice notebook, ZIP or grading files.</a:t>
            </a:r>
          </a:p>
          <a:p>
            <a:r>
              <a:t/>
            </a:r>
          </a:p>
          <a:p>
            <a:r>
              <a:t>On this slide</a:t>
            </a:r>
          </a:p>
          <a:p>
            <a:r>
              <a:t>You can show how the total and count change for each record.</a:t>
            </a:r>
          </a:p>
          <a:p>
            <a:r>
              <a:t/>
            </a:r>
          </a:p>
          <a:p>
            <a:r>
              <a:t>Save your work and check the required submission files.</a:t>
            </a:r>
          </a:p>
        </p:txBody>
      </p:sp>
      <p:sp>
        <p:nvSpPr>
          <p:cNvPr id="4" name="Slide Number Placeholder 3"/>
          <p:cNvSpPr>
            <a:spLocks noGrp="1"/>
          </p:cNvSpPr>
          <p:nvPr>
            <p:ph type="sldNum" idx="5"/>
          </p:nvPr>
        </p:nvSpPr>
        <p:spPr/>
        <p:txBody>
          <a:bodyPr/>
          <a:lstStyle/>
          <a:p/>
        </p:txBody>
      </p:sp>
    </p:spTree>
  </p:cSld>
  <p:clrMapOvr>
    <a:masterClrMapping/>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f23032ee57204ffe"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a59c03e71c9f4005"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98fc30f1165f4845"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ca4423bb19094a09"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0a6887832c4e4600"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e4586e0fc2a848fe"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4" name="Accent rule">
            <a:extLst xmlns:a="http://schemas.openxmlformats.org/drawingml/2006/main">
              <a:ext uri="{FF2B5EF4-FFF2-40B4-BE49-F238E27FC236}">
                <a16:creationId xmlns:a16="http://schemas.microsoft.com/office/drawing/2014/main" id="{B77B9D82-B582-409B-8E3C-3FB658D8D526}"/>
              </a:ext>
            </a:extLst>
          </p:cNvPr>
          <p:cNvSpPr>
            <a:spLocks xmlns:a="http://schemas.openxmlformats.org/drawingml/2006/main" noGrp="1"/>
          </p:cNvSpPr>
          <p:nvPr/>
        </p:nvSpPr>
        <p:spPr>
          <a:xfrm xmlns:a="http://schemas.openxmlformats.org/drawingml/2006/main">
            <a:off x="5791055" y="2209800"/>
            <a:ext cx="609585"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CB732D8D-27BE-400D-A8DE-05A82CC6DD99}"/>
              </a:ext>
            </a:extLst>
          </p:cNvPr>
          <p:cNvSpPr>
            <a:spLocks xmlns:a="http://schemas.openxmlformats.org/drawingml/2006/main" noGrp="1"/>
          </p:cNvSpPr>
          <p:nvPr>
            <p:ph type="title" idx="0"/>
          </p:nvPr>
        </p:nvSpPr>
        <p:spPr>
          <a:xfrm xmlns:a="http://schemas.openxmlformats.org/drawingml/2006/main">
            <a:off x="1219170" y="2590800"/>
            <a:ext cx="9753356"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3" name="Subtitle">
            <a:extLst xmlns:a="http://schemas.openxmlformats.org/drawingml/2006/main">
              <a:ext uri="{FF2B5EF4-FFF2-40B4-BE49-F238E27FC236}">
                <a16:creationId xmlns:a16="http://schemas.microsoft.com/office/drawing/2014/main" id="{16BA66D8-3188-4694-B47A-61D45B93B573}"/>
              </a:ext>
            </a:extLst>
          </p:cNvPr>
          <p:cNvSpPr>
            <a:spLocks xmlns:a="http://schemas.openxmlformats.org/drawingml/2006/main" noGrp="1"/>
          </p:cNvSpPr>
          <p:nvPr>
            <p:ph type="subTitle" idx="1"/>
          </p:nvPr>
        </p:nvSpPr>
        <p:spPr>
          <a:xfrm xmlns:a="http://schemas.openxmlformats.org/drawingml/2006/main">
            <a:off x="1828754" y="3771900"/>
            <a:ext cx="8534187"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3" name="Accent rule">
            <a:extLst xmlns:a="http://schemas.openxmlformats.org/drawingml/2006/main">
              <a:ext uri="{FF2B5EF4-FFF2-40B4-BE49-F238E27FC236}">
                <a16:creationId xmlns:a16="http://schemas.microsoft.com/office/drawing/2014/main" id="{5B5B576E-1379-4922-A5D1-F443C02A4E87}"/>
              </a:ext>
            </a:extLst>
          </p:cNvPr>
          <p:cNvSpPr>
            <a:spLocks xmlns:a="http://schemas.openxmlformats.org/drawingml/2006/main" noGrp="1"/>
          </p:cNvSpPr>
          <p:nvPr/>
        </p:nvSpPr>
        <p:spPr>
          <a:xfrm xmlns:a="http://schemas.openxmlformats.org/drawingml/2006/main">
            <a:off x="5791055" y="2476500"/>
            <a:ext cx="609585"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Section title">
            <a:extLst xmlns:a="http://schemas.openxmlformats.org/drawingml/2006/main">
              <a:ext uri="{FF2B5EF4-FFF2-40B4-BE49-F238E27FC236}">
                <a16:creationId xmlns:a16="http://schemas.microsoft.com/office/drawing/2014/main" id="{7A9946B5-583B-4AF5-A0B2-9A5CD0A534B5}"/>
              </a:ext>
            </a:extLst>
          </p:cNvPr>
          <p:cNvSpPr>
            <a:spLocks xmlns:a="http://schemas.openxmlformats.org/drawingml/2006/main" noGrp="1"/>
          </p:cNvSpPr>
          <p:nvPr>
            <p:ph type="title" idx="0"/>
          </p:nvPr>
        </p:nvSpPr>
        <p:spPr>
          <a:xfrm xmlns:a="http://schemas.openxmlformats.org/drawingml/2006/main">
            <a:off x="1219170" y="2857500"/>
            <a:ext cx="9753356"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4" name="Accent rule">
            <a:extLst xmlns:a="http://schemas.openxmlformats.org/drawingml/2006/main">
              <a:ext uri="{FF2B5EF4-FFF2-40B4-BE49-F238E27FC236}">
                <a16:creationId xmlns:a16="http://schemas.microsoft.com/office/drawing/2014/main" id="{E0ECD922-983B-4CB8-B974-35AB25166B5D}"/>
              </a:ext>
            </a:extLst>
          </p:cNvPr>
          <p:cNvSpPr>
            <a:spLocks xmlns:a="http://schemas.openxmlformats.org/drawingml/2006/main" noGrp="1"/>
          </p:cNvSpPr>
          <p:nvPr/>
        </p:nvSpPr>
        <p:spPr>
          <a:xfrm xmlns:a="http://schemas.openxmlformats.org/drawingml/2006/main">
            <a:off x="685783" y="1524000"/>
            <a:ext cx="609585"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76819552-5819-491F-8F2D-945E79601C8C}"/>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3" name="Body">
            <a:extLst xmlns:a="http://schemas.openxmlformats.org/drawingml/2006/main">
              <a:ext uri="{FF2B5EF4-FFF2-40B4-BE49-F238E27FC236}">
                <a16:creationId xmlns:a16="http://schemas.microsoft.com/office/drawing/2014/main" id="{B3C0C1B9-AFDA-4A56-9855-787B58F665E0}"/>
              </a:ext>
            </a:extLst>
          </p:cNvPr>
          <p:cNvSpPr>
            <a:spLocks xmlns:a="http://schemas.openxmlformats.org/drawingml/2006/main" noGrp="1"/>
          </p:cNvSpPr>
          <p:nvPr>
            <p:ph type="body" idx="1"/>
          </p:nvPr>
        </p:nvSpPr>
        <p:spPr>
          <a:xfrm xmlns:a="http://schemas.openxmlformats.org/drawingml/2006/main">
            <a:off x="685783" y="1905000"/>
            <a:ext cx="10820129"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594" indent="-228594">
              <a:lnSpc>
                <a:spcPct val="110000"/>
              </a:lnSpc>
              <a:spcBef>
                <a:spcPts val="0"/>
              </a:spcBef>
              <a:spcAft>
                <a:spcPts val="1200"/>
              </a:spcAft>
              <a:buChar char="•"/>
            </a:lvl1pPr>
            <a:lvl2pPr marL="533387" indent="-228594">
              <a:lnSpc>
                <a:spcPct val="110000"/>
              </a:lnSpc>
              <a:spcBef>
                <a:spcPts val="0"/>
              </a:spcBef>
              <a:spcAft>
                <a:spcPts val="1200"/>
              </a:spcAft>
              <a:buChar char="•"/>
            </a:lvl2pPr>
            <a:lvl3pPr marL="838179" indent="-228594">
              <a:lnSpc>
                <a:spcPct val="110000"/>
              </a:lnSpc>
              <a:spcBef>
                <a:spcPts val="0"/>
              </a:spcBef>
              <a:spcAft>
                <a:spcPts val="1200"/>
              </a:spcAft>
              <a:buChar char="•"/>
            </a:lvl3pPr>
            <a:lvl4pPr marL="1142971" indent="-228594">
              <a:lnSpc>
                <a:spcPct val="110000"/>
              </a:lnSpc>
              <a:spcBef>
                <a:spcPts val="0"/>
              </a:spcBef>
              <a:spcAft>
                <a:spcPts val="1200"/>
              </a:spcAft>
              <a:buChar char="•"/>
            </a:lvl4pPr>
            <a:lvl5pPr marL="1447764" indent="-228594">
              <a:lnSpc>
                <a:spcPct val="110000"/>
              </a:lnSpc>
              <a:spcBef>
                <a:spcPts val="0"/>
              </a:spcBef>
              <a:spcAft>
                <a:spcPts val="1200"/>
              </a:spcAft>
              <a:buChar char="•"/>
            </a:lvl5pPr>
            <a:lvl6pPr marL="1752556" indent="-228594">
              <a:lnSpc>
                <a:spcPct val="110000"/>
              </a:lnSpc>
              <a:spcBef>
                <a:spcPts val="0"/>
              </a:spcBef>
              <a:spcAft>
                <a:spcPts val="1200"/>
              </a:spcAft>
              <a:buChar char="•"/>
            </a:lvl6pPr>
            <a:lvl7pPr marL="2057349" indent="-228594">
              <a:lnSpc>
                <a:spcPct val="110000"/>
              </a:lnSpc>
              <a:spcBef>
                <a:spcPts val="0"/>
              </a:spcBef>
              <a:spcAft>
                <a:spcPts val="1200"/>
              </a:spcAft>
              <a:buChar char="•"/>
            </a:lvl7pPr>
            <a:lvl8pPr marL="2362141" indent="-228594">
              <a:lnSpc>
                <a:spcPct val="110000"/>
              </a:lnSpc>
              <a:spcBef>
                <a:spcPts val="0"/>
              </a:spcBef>
              <a:spcAft>
                <a:spcPts val="1200"/>
              </a:spcAft>
              <a:buChar char="•"/>
            </a:lvl8pPr>
            <a:lvl9pPr marL="2666933" indent="-228594">
              <a:lnSpc>
                <a:spcPct val="110000"/>
              </a:lnSpc>
              <a:spcBef>
                <a:spcPts val="0"/>
              </a:spcBef>
              <a:spcAft>
                <a:spcPts val="1200"/>
              </a:spcAft>
              <a:buChar cha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5" name="Accent rule">
            <a:extLst xmlns:a="http://schemas.openxmlformats.org/drawingml/2006/main">
              <a:ext uri="{FF2B5EF4-FFF2-40B4-BE49-F238E27FC236}">
                <a16:creationId xmlns:a16="http://schemas.microsoft.com/office/drawing/2014/main" id="{305EB5BC-DAFE-4F7D-A4F1-BA064EEFE478}"/>
              </a:ext>
            </a:extLst>
          </p:cNvPr>
          <p:cNvSpPr>
            <a:spLocks xmlns:a="http://schemas.openxmlformats.org/drawingml/2006/main" noGrp="1"/>
          </p:cNvSpPr>
          <p:nvPr/>
        </p:nvSpPr>
        <p:spPr>
          <a:xfrm xmlns:a="http://schemas.openxmlformats.org/drawingml/2006/main">
            <a:off x="685783" y="1524000"/>
            <a:ext cx="609585"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B6B1EE8F-6D31-4CAA-BCD1-82CE4FBA35E9}"/>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3" name="Left column">
            <a:extLst xmlns:a="http://schemas.openxmlformats.org/drawingml/2006/main">
              <a:ext uri="{FF2B5EF4-FFF2-40B4-BE49-F238E27FC236}">
                <a16:creationId xmlns:a16="http://schemas.microsoft.com/office/drawing/2014/main" id="{54C6E514-DDB8-4532-9B08-4D3F0DF84A32}"/>
              </a:ext>
            </a:extLst>
          </p:cNvPr>
          <p:cNvSpPr>
            <a:spLocks xmlns:a="http://schemas.openxmlformats.org/drawingml/2006/main" noGrp="1"/>
          </p:cNvSpPr>
          <p:nvPr>
            <p:ph type="body" idx="1"/>
          </p:nvPr>
        </p:nvSpPr>
        <p:spPr>
          <a:xfrm xmlns:a="http://schemas.openxmlformats.org/drawingml/2006/main">
            <a:off x="685783"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594" indent="-228594">
              <a:lnSpc>
                <a:spcPct val="110000"/>
              </a:lnSpc>
              <a:spcBef>
                <a:spcPts val="0"/>
              </a:spcBef>
              <a:spcAft>
                <a:spcPts val="1200"/>
              </a:spcAft>
              <a:buChar char="•"/>
            </a:lvl1pPr>
            <a:lvl2pPr marL="533387" indent="-228594">
              <a:lnSpc>
                <a:spcPct val="110000"/>
              </a:lnSpc>
              <a:spcBef>
                <a:spcPts val="0"/>
              </a:spcBef>
              <a:spcAft>
                <a:spcPts val="1200"/>
              </a:spcAft>
              <a:buChar char="•"/>
            </a:lvl2pPr>
            <a:lvl3pPr marL="838179" indent="-228594">
              <a:lnSpc>
                <a:spcPct val="110000"/>
              </a:lnSpc>
              <a:spcBef>
                <a:spcPts val="0"/>
              </a:spcBef>
              <a:spcAft>
                <a:spcPts val="1200"/>
              </a:spcAft>
              <a:buChar char="•"/>
            </a:lvl3pPr>
            <a:lvl4pPr marL="1142971" indent="-228594">
              <a:lnSpc>
                <a:spcPct val="110000"/>
              </a:lnSpc>
              <a:spcBef>
                <a:spcPts val="0"/>
              </a:spcBef>
              <a:spcAft>
                <a:spcPts val="1200"/>
              </a:spcAft>
              <a:buChar char="•"/>
            </a:lvl4pPr>
            <a:lvl5pPr marL="1447764" indent="-228594">
              <a:lnSpc>
                <a:spcPct val="110000"/>
              </a:lnSpc>
              <a:spcBef>
                <a:spcPts val="0"/>
              </a:spcBef>
              <a:spcAft>
                <a:spcPts val="1200"/>
              </a:spcAft>
              <a:buChar char="•"/>
            </a:lvl5pPr>
            <a:lvl6pPr marL="1752556" indent="-228594">
              <a:lnSpc>
                <a:spcPct val="110000"/>
              </a:lnSpc>
              <a:spcBef>
                <a:spcPts val="0"/>
              </a:spcBef>
              <a:spcAft>
                <a:spcPts val="1200"/>
              </a:spcAft>
              <a:buChar char="•"/>
            </a:lvl6pPr>
            <a:lvl7pPr marL="2057349" indent="-228594">
              <a:lnSpc>
                <a:spcPct val="110000"/>
              </a:lnSpc>
              <a:spcBef>
                <a:spcPts val="0"/>
              </a:spcBef>
              <a:spcAft>
                <a:spcPts val="1200"/>
              </a:spcAft>
              <a:buChar char="•"/>
            </a:lvl7pPr>
            <a:lvl8pPr marL="2362141" indent="-228594">
              <a:lnSpc>
                <a:spcPct val="110000"/>
              </a:lnSpc>
              <a:spcBef>
                <a:spcPts val="0"/>
              </a:spcBef>
              <a:spcAft>
                <a:spcPts val="1200"/>
              </a:spcAft>
              <a:buChar char="•"/>
            </a:lvl8pPr>
            <a:lvl9pPr marL="2666933" indent="-228594">
              <a:lnSpc>
                <a:spcPct val="110000"/>
              </a:lnSpc>
              <a:spcBef>
                <a:spcPts val="0"/>
              </a:spcBef>
              <a:spcAft>
                <a:spcPts val="1200"/>
              </a:spcAft>
              <a:buChar char="•"/>
            </a:lvl9pPr>
          </a:lstStyle>
          <a:p xmlns:a="http://schemas.openxmlformats.org/drawingml/2006/main"/>
        </p:txBody>
      </p:sp>
      <p:sp>
        <p:nvSpPr>
          <p:cNvPr id="4" name="Right column">
            <a:extLst xmlns:a="http://schemas.openxmlformats.org/drawingml/2006/main">
              <a:ext uri="{FF2B5EF4-FFF2-40B4-BE49-F238E27FC236}">
                <a16:creationId xmlns:a16="http://schemas.microsoft.com/office/drawing/2014/main" id="{1642258B-DC5E-441F-AD68-DD4DC8DDA509}"/>
              </a:ext>
            </a:extLst>
          </p:cNvPr>
          <p:cNvSpPr>
            <a:spLocks xmlns:a="http://schemas.openxmlformats.org/drawingml/2006/main" noGrp="1"/>
          </p:cNvSpPr>
          <p:nvPr>
            <p:ph type="body" idx="2"/>
          </p:nvPr>
        </p:nvSpPr>
        <p:spPr>
          <a:xfrm xmlns:a="http://schemas.openxmlformats.org/drawingml/2006/main">
            <a:off x="6476838"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594" indent="-228594">
              <a:lnSpc>
                <a:spcPct val="110000"/>
              </a:lnSpc>
              <a:spcBef>
                <a:spcPts val="0"/>
              </a:spcBef>
              <a:spcAft>
                <a:spcPts val="1200"/>
              </a:spcAft>
              <a:buChar char="•"/>
            </a:lvl1pPr>
            <a:lvl2pPr marL="533387" indent="-228594">
              <a:lnSpc>
                <a:spcPct val="110000"/>
              </a:lnSpc>
              <a:spcBef>
                <a:spcPts val="0"/>
              </a:spcBef>
              <a:spcAft>
                <a:spcPts val="1200"/>
              </a:spcAft>
              <a:buChar char="•"/>
            </a:lvl2pPr>
            <a:lvl3pPr marL="838179" indent="-228594">
              <a:lnSpc>
                <a:spcPct val="110000"/>
              </a:lnSpc>
              <a:spcBef>
                <a:spcPts val="0"/>
              </a:spcBef>
              <a:spcAft>
                <a:spcPts val="1200"/>
              </a:spcAft>
              <a:buChar char="•"/>
            </a:lvl3pPr>
            <a:lvl4pPr marL="1142971" indent="-228594">
              <a:lnSpc>
                <a:spcPct val="110000"/>
              </a:lnSpc>
              <a:spcBef>
                <a:spcPts val="0"/>
              </a:spcBef>
              <a:spcAft>
                <a:spcPts val="1200"/>
              </a:spcAft>
              <a:buChar char="•"/>
            </a:lvl4pPr>
            <a:lvl5pPr marL="1447764" indent="-228594">
              <a:lnSpc>
                <a:spcPct val="110000"/>
              </a:lnSpc>
              <a:spcBef>
                <a:spcPts val="0"/>
              </a:spcBef>
              <a:spcAft>
                <a:spcPts val="1200"/>
              </a:spcAft>
              <a:buChar char="•"/>
            </a:lvl5pPr>
            <a:lvl6pPr marL="1752556" indent="-228594">
              <a:lnSpc>
                <a:spcPct val="110000"/>
              </a:lnSpc>
              <a:spcBef>
                <a:spcPts val="0"/>
              </a:spcBef>
              <a:spcAft>
                <a:spcPts val="1200"/>
              </a:spcAft>
              <a:buChar char="•"/>
            </a:lvl6pPr>
            <a:lvl7pPr marL="2057349" indent="-228594">
              <a:lnSpc>
                <a:spcPct val="110000"/>
              </a:lnSpc>
              <a:spcBef>
                <a:spcPts val="0"/>
              </a:spcBef>
              <a:spcAft>
                <a:spcPts val="1200"/>
              </a:spcAft>
              <a:buChar char="•"/>
            </a:lvl7pPr>
            <a:lvl8pPr marL="2362141" indent="-228594">
              <a:lnSpc>
                <a:spcPct val="110000"/>
              </a:lnSpc>
              <a:spcBef>
                <a:spcPts val="0"/>
              </a:spcBef>
              <a:spcAft>
                <a:spcPts val="1200"/>
              </a:spcAft>
              <a:buChar char="•"/>
            </a:lvl8pPr>
            <a:lvl9pPr marL="2666933" indent="-228594">
              <a:lnSpc>
                <a:spcPct val="110000"/>
              </a:lnSpc>
              <a:spcBef>
                <a:spcPts val="0"/>
              </a:spcBef>
              <a:spcAft>
                <a:spcPts val="1200"/>
              </a:spcAft>
              <a:buChar cha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4" name="Accent rule">
            <a:extLst xmlns:a="http://schemas.openxmlformats.org/drawingml/2006/main">
              <a:ext uri="{FF2B5EF4-FFF2-40B4-BE49-F238E27FC236}">
                <a16:creationId xmlns:a16="http://schemas.microsoft.com/office/drawing/2014/main" id="{E891333F-B72C-40B0-84EF-E783F3D5ED61}"/>
              </a:ext>
            </a:extLst>
          </p:cNvPr>
          <p:cNvSpPr>
            <a:spLocks xmlns:a="http://schemas.openxmlformats.org/drawingml/2006/main" noGrp="1"/>
          </p:cNvSpPr>
          <p:nvPr/>
        </p:nvSpPr>
        <p:spPr>
          <a:xfrm xmlns:a="http://schemas.openxmlformats.org/drawingml/2006/main">
            <a:off x="685783" y="1524000"/>
            <a:ext cx="609585"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B9CC8EE2-CF89-45FB-8799-62791FB72D90}"/>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3" name="Left column">
            <a:extLst xmlns:a="http://schemas.openxmlformats.org/drawingml/2006/main">
              <a:ext uri="{FF2B5EF4-FFF2-40B4-BE49-F238E27FC236}">
                <a16:creationId xmlns:a16="http://schemas.microsoft.com/office/drawing/2014/main" id="{0AFD7B31-3B7C-424D-ADB7-4D485C24C8D6}"/>
              </a:ext>
            </a:extLst>
          </p:cNvPr>
          <p:cNvSpPr>
            <a:spLocks xmlns:a="http://schemas.openxmlformats.org/drawingml/2006/main" noGrp="1"/>
          </p:cNvSpPr>
          <p:nvPr>
            <p:ph type="body" idx="1"/>
          </p:nvPr>
        </p:nvSpPr>
        <p:spPr>
          <a:xfrm xmlns:a="http://schemas.openxmlformats.org/drawingml/2006/main">
            <a:off x="685783"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594" indent="-228594">
              <a:lnSpc>
                <a:spcPct val="110000"/>
              </a:lnSpc>
              <a:spcBef>
                <a:spcPts val="0"/>
              </a:spcBef>
              <a:spcAft>
                <a:spcPts val="1200"/>
              </a:spcAft>
              <a:buChar char="•"/>
            </a:lvl1pPr>
            <a:lvl2pPr marL="533387" indent="-228594">
              <a:lnSpc>
                <a:spcPct val="110000"/>
              </a:lnSpc>
              <a:spcBef>
                <a:spcPts val="0"/>
              </a:spcBef>
              <a:spcAft>
                <a:spcPts val="1200"/>
              </a:spcAft>
              <a:buChar char="•"/>
            </a:lvl2pPr>
            <a:lvl3pPr marL="838179" indent="-228594">
              <a:lnSpc>
                <a:spcPct val="110000"/>
              </a:lnSpc>
              <a:spcBef>
                <a:spcPts val="0"/>
              </a:spcBef>
              <a:spcAft>
                <a:spcPts val="1200"/>
              </a:spcAft>
              <a:buChar char="•"/>
            </a:lvl3pPr>
            <a:lvl4pPr marL="1142971" indent="-228594">
              <a:lnSpc>
                <a:spcPct val="110000"/>
              </a:lnSpc>
              <a:spcBef>
                <a:spcPts val="0"/>
              </a:spcBef>
              <a:spcAft>
                <a:spcPts val="1200"/>
              </a:spcAft>
              <a:buChar char="•"/>
            </a:lvl4pPr>
            <a:lvl5pPr marL="1447764" indent="-228594">
              <a:lnSpc>
                <a:spcPct val="110000"/>
              </a:lnSpc>
              <a:spcBef>
                <a:spcPts val="0"/>
              </a:spcBef>
              <a:spcAft>
                <a:spcPts val="1200"/>
              </a:spcAft>
              <a:buChar char="•"/>
            </a:lvl5pPr>
            <a:lvl6pPr marL="1752556" indent="-228594">
              <a:lnSpc>
                <a:spcPct val="110000"/>
              </a:lnSpc>
              <a:spcBef>
                <a:spcPts val="0"/>
              </a:spcBef>
              <a:spcAft>
                <a:spcPts val="1200"/>
              </a:spcAft>
              <a:buChar char="•"/>
            </a:lvl6pPr>
            <a:lvl7pPr marL="2057349" indent="-228594">
              <a:lnSpc>
                <a:spcPct val="110000"/>
              </a:lnSpc>
              <a:spcBef>
                <a:spcPts val="0"/>
              </a:spcBef>
              <a:spcAft>
                <a:spcPts val="1200"/>
              </a:spcAft>
              <a:buChar char="•"/>
            </a:lvl7pPr>
            <a:lvl8pPr marL="2362141" indent="-228594">
              <a:lnSpc>
                <a:spcPct val="110000"/>
              </a:lnSpc>
              <a:spcBef>
                <a:spcPts val="0"/>
              </a:spcBef>
              <a:spcAft>
                <a:spcPts val="1200"/>
              </a:spcAft>
              <a:buChar char="•"/>
            </a:lvl8pPr>
            <a:lvl9pPr marL="2666933" indent="-228594">
              <a:lnSpc>
                <a:spcPct val="110000"/>
              </a:lnSpc>
              <a:spcBef>
                <a:spcPts val="0"/>
              </a:spcBef>
              <a:spcAft>
                <a:spcPts val="1200"/>
              </a:spcAft>
              <a:buChar cha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c865fda755914009" /><Relationship Type="http://schemas.openxmlformats.org/officeDocument/2006/relationships/slideLayout" Target="/ppt/slideLayouts/slideLayout1.xml" Id="R8bea438a2d454c2c" /><Relationship Type="http://schemas.openxmlformats.org/officeDocument/2006/relationships/slideLayout" Target="/ppt/slideLayouts/slideLayout2.xml" Id="R5a979bd01cf64b76" /><Relationship Type="http://schemas.openxmlformats.org/officeDocument/2006/relationships/slideLayout" Target="/ppt/slideLayouts/slideLayout3.xml" Id="R303defb05b9f42d1" /><Relationship Type="http://schemas.openxmlformats.org/officeDocument/2006/relationships/slideLayout" Target="/ppt/slideLayouts/slideLayout4.xml" Id="Rb157cbde0fbd42ff" /><Relationship Type="http://schemas.openxmlformats.org/officeDocument/2006/relationships/slideLayout" Target="/ppt/slideLayouts/slideLayout5.xml" Id="R90007acc8405494d" /><Relationship Type="http://schemas.openxmlformats.org/officeDocument/2006/relationships/slideLayout" Target="/ppt/slideLayouts/slideLayout6.xml" Id="Rabb8eb1619ac4d8c"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8bea438a2d454c2c"/>
    <p:sldLayoutId xmlns:r="http://schemas.openxmlformats.org/officeDocument/2006/relationships" id="2147483650" r:id="R5a979bd01cf64b76"/>
    <p:sldLayoutId xmlns:r="http://schemas.openxmlformats.org/officeDocument/2006/relationships" id="2147483651" r:id="R303defb05b9f42d1"/>
    <p:sldLayoutId xmlns:r="http://schemas.openxmlformats.org/officeDocument/2006/relationships" id="2147483652" r:id="Rb157cbde0fbd42ff"/>
    <p:sldLayoutId xmlns:r="http://schemas.openxmlformats.org/officeDocument/2006/relationships" id="2147483653" r:id="R90007acc8405494d"/>
    <p:sldLayoutId xmlns:r="http://schemas.openxmlformats.org/officeDocument/2006/relationships" id="2147483654" r:id="Rabb8eb1619ac4d8c"/>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4daab745b8e94cb3" /><Relationship Type="http://schemas.openxmlformats.org/officeDocument/2006/relationships/image" Target="/ppt/media/image.png" Id="Rae5c7e78f04940fc" /><Relationship Type="http://schemas.openxmlformats.org/officeDocument/2006/relationships/notesSlide" Target="/ppt/notesSlides/notesSlide1.xml" Id="R50c7106a2c344fd8"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971e4f4de58e4a61" /><Relationship Type="http://schemas.openxmlformats.org/officeDocument/2006/relationships/notesSlide" Target="/ppt/notesSlides/notesSlide2.xml" Id="R807f836b2a5a4819"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14a4d9df36f94dcc" /><Relationship Type="http://schemas.openxmlformats.org/officeDocument/2006/relationships/notesSlide" Target="/ppt/notesSlides/notesSlide3.xml" Id="R62870c6e87ee4715"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aaa551dc5bf14050" /><Relationship Type="http://schemas.openxmlformats.org/officeDocument/2006/relationships/notesSlide" Target="/ppt/notesSlides/notesSlide4.xml" Id="R013d30cbad3e4fb2"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a6a1d047ccb34b39" /><Relationship Type="http://schemas.openxmlformats.org/officeDocument/2006/relationships/notesSlide" Target="/ppt/notesSlides/notesSlide5.xml" Id="Rbed4b53690c14d10"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bda2b9ca2f914899" /><Relationship Type="http://schemas.openxmlformats.org/officeDocument/2006/relationships/notesSlide" Target="/ppt/notesSlides/notesSlide6.xml" Id="R25f651b4323347f0"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fefb5af2bb3246cf" /><Relationship Type="http://schemas.openxmlformats.org/officeDocument/2006/relationships/notesSlide" Target="/ppt/notesSlides/notesSlide7.xml" Id="Ree042a9dbd1747e0"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8749c3b2c31b4558" /><Relationship Type="http://schemas.openxmlformats.org/officeDocument/2006/relationships/notesSlide" Target="/ppt/notesSlides/notesSlide8.xml" Id="Rc805bc30fed243bf"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6625d5feefe34fb3" /><Relationship Type="http://schemas.openxmlformats.org/officeDocument/2006/relationships/notesSlide" Target="/ppt/notesSlides/notesSlide9.xml" Id="Rce093d8fd4114faa"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cf9cddcda9e64ba0" /><Relationship Type="http://schemas.openxmlformats.org/officeDocument/2006/relationships/notesSlide" Target="/ppt/notesSlides/notesSlide10.xml" Id="R8a85c68d63434332"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a3d7449cdd524846" /><Relationship Type="http://schemas.openxmlformats.org/officeDocument/2006/relationships/notesSlide" Target="/ppt/notesSlides/notesSlide11.xml" Id="R749c07a96e3b45ac"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9144914031f0448e" /><Relationship Type="http://schemas.openxmlformats.org/officeDocument/2006/relationships/notesSlide" Target="/ppt/notesSlides/notesSlide12.xml" Id="R959d12cdb0ef4160"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aae807f8d3c549d9" /><Relationship Type="http://schemas.openxmlformats.org/officeDocument/2006/relationships/notesSlide" Target="/ppt/notesSlides/notesSlide13.xml" Id="R78fcfb7fe3fe4cb5" /></Relationships>
</file>

<file path=ppt/slides/_rels/slide14.xml.rels>&#65279;<?xml version="1.0" encoding="utf-8"?><Relationships xmlns="http://schemas.openxmlformats.org/package/2006/relationships"><Relationship Type="http://schemas.openxmlformats.org/officeDocument/2006/relationships/slideLayout" Target="/ppt/slideLayouts/slideLayout6.xml" Id="Rfb3d8b6e2b594844" /><Relationship Type="http://schemas.openxmlformats.org/officeDocument/2006/relationships/notesSlide" Target="/ppt/notesSlides/notesSlide14.xml" Id="Rfc9eff7387e84087" /></Relationships>
</file>

<file path=ppt/slides/_rels/slide15.xml.rels>&#65279;<?xml version="1.0" encoding="utf-8"?><Relationships xmlns="http://schemas.openxmlformats.org/package/2006/relationships"><Relationship Type="http://schemas.openxmlformats.org/officeDocument/2006/relationships/slideLayout" Target="/ppt/slideLayouts/slideLayout6.xml" Id="Rbee79085fca74e06" /><Relationship Type="http://schemas.openxmlformats.org/officeDocument/2006/relationships/notesSlide" Target="/ppt/notesSlides/notesSlide15.xml" Id="R3a8ec1206f0a4bd6" /></Relationships>
</file>

<file path=ppt/slides/_rels/slide16.xml.rels>&#65279;<?xml version="1.0" encoding="utf-8"?><Relationships xmlns="http://schemas.openxmlformats.org/package/2006/relationships"><Relationship Type="http://schemas.openxmlformats.org/officeDocument/2006/relationships/slideLayout" Target="/ppt/slideLayouts/slideLayout6.xml" Id="R955c169ee9754d23" /><Relationship Type="http://schemas.openxmlformats.org/officeDocument/2006/relationships/notesSlide" Target="/ppt/notesSlides/notesSlide16.xml" Id="R630e8d28a68f44ab" /></Relationships>
</file>

<file path=ppt/slides/_rels/slide17.xml.rels>&#65279;<?xml version="1.0" encoding="utf-8"?><Relationships xmlns="http://schemas.openxmlformats.org/package/2006/relationships"><Relationship Type="http://schemas.openxmlformats.org/officeDocument/2006/relationships/slideLayout" Target="/ppt/slideLayouts/slideLayout6.xml" Id="R29bfd0643ef444b1" /><Relationship Type="http://schemas.openxmlformats.org/officeDocument/2006/relationships/notesSlide" Target="/ppt/notesSlides/notesSlide17.xml" Id="Rcf4666cfeaa84a3a" /></Relationships>
</file>

<file path=ppt/slides/_rels/slide18.xml.rels>&#65279;<?xml version="1.0" encoding="utf-8"?><Relationships xmlns="http://schemas.openxmlformats.org/package/2006/relationships"><Relationship Type="http://schemas.openxmlformats.org/officeDocument/2006/relationships/slideLayout" Target="/ppt/slideLayouts/slideLayout6.xml" Id="Ra25229ca188846b1" /><Relationship Type="http://schemas.openxmlformats.org/officeDocument/2006/relationships/notesSlide" Target="/ppt/notesSlides/notesSlide18.xml" Id="R95d360e93be54c22" /></Relationships>
</file>

<file path=ppt/slides/_rels/slide19.xml.rels>&#65279;<?xml version="1.0" encoding="utf-8"?><Relationships xmlns="http://schemas.openxmlformats.org/package/2006/relationships"><Relationship Type="http://schemas.openxmlformats.org/officeDocument/2006/relationships/slideLayout" Target="/ppt/slideLayouts/slideLayout6.xml" Id="Red1f2802d8684a1d" /><Relationship Type="http://schemas.openxmlformats.org/officeDocument/2006/relationships/image" Target="/ppt/media/image2.png" Id="Rde1516067f6c4773" /><Relationship Type="http://schemas.openxmlformats.org/officeDocument/2006/relationships/notesSlide" Target="/ppt/notesSlides/notesSlide19.xml" Id="R09916d34ba934e05" /></Relationships>
</file>

<file path=ppt/slides/_rels/slide20.xml.rels>&#65279;<?xml version="1.0" encoding="utf-8"?><Relationships xmlns="http://schemas.openxmlformats.org/package/2006/relationships"><Relationship Type="http://schemas.openxmlformats.org/officeDocument/2006/relationships/slideLayout" Target="/ppt/slideLayouts/slideLayout6.xml" Id="Re8884652da6943fa" /><Relationship Type="http://schemas.openxmlformats.org/officeDocument/2006/relationships/notesSlide" Target="/ppt/notesSlides/notesSlide20.xml" Id="R8da8819992ab46b4" /></Relationships>
</file>

<file path=ppt/slides/_rels/slide21.xml.rels>&#65279;<?xml version="1.0" encoding="utf-8"?><Relationships xmlns="http://schemas.openxmlformats.org/package/2006/relationships"><Relationship Type="http://schemas.openxmlformats.org/officeDocument/2006/relationships/slideLayout" Target="/ppt/slideLayouts/slideLayout6.xml" Id="Rcfd692de1af24a21" /><Relationship Type="http://schemas.openxmlformats.org/officeDocument/2006/relationships/notesSlide" Target="/ppt/notesSlides/notesSlide21.xml" Id="R5108c23dc08940f5" /></Relationships>
</file>

<file path=ppt/slides/_rels/slide22.xml.rels>&#65279;<?xml version="1.0" encoding="utf-8"?><Relationships xmlns="http://schemas.openxmlformats.org/package/2006/relationships"><Relationship Type="http://schemas.openxmlformats.org/officeDocument/2006/relationships/slideLayout" Target="/ppt/slideLayouts/slideLayout6.xml" Id="R6bb9d6d59ac44c44" /><Relationship Type="http://schemas.openxmlformats.org/officeDocument/2006/relationships/notesSlide" Target="/ppt/notesSlides/notesSlide22.xml" Id="Re8cc83676cab4afe" /></Relationships>
</file>

<file path=ppt/slides/_rels/slide23.xml.rels>&#65279;<?xml version="1.0" encoding="utf-8"?><Relationships xmlns="http://schemas.openxmlformats.org/package/2006/relationships"><Relationship Type="http://schemas.openxmlformats.org/officeDocument/2006/relationships/slideLayout" Target="/ppt/slideLayouts/slideLayout6.xml" Id="Rf5a875f3da0e47c6" /><Relationship Type="http://schemas.openxmlformats.org/officeDocument/2006/relationships/notesSlide" Target="/ppt/notesSlides/notesSlide23.xml" Id="Red4df135fe6a4490" /></Relationships>
</file>

<file path=ppt/slides/_rels/slide24.xml.rels>&#65279;<?xml version="1.0" encoding="utf-8"?><Relationships xmlns="http://schemas.openxmlformats.org/package/2006/relationships"><Relationship Type="http://schemas.openxmlformats.org/officeDocument/2006/relationships/slideLayout" Target="/ppt/slideLayouts/slideLayout6.xml" Id="Rf14d171c0e6a407b" /><Relationship Type="http://schemas.openxmlformats.org/officeDocument/2006/relationships/notesSlide" Target="/ppt/notesSlides/notesSlide24.xml" Id="R91be59eed294418e" /></Relationships>
</file>

<file path=ppt/slides/_rels/slide25.xml.rels>&#65279;<?xml version="1.0" encoding="utf-8"?><Relationships xmlns="http://schemas.openxmlformats.org/package/2006/relationships"><Relationship Type="http://schemas.openxmlformats.org/officeDocument/2006/relationships/slideLayout" Target="/ppt/slideLayouts/slideLayout6.xml" Id="R13e28e0af72b4b80" /><Relationship Type="http://schemas.openxmlformats.org/officeDocument/2006/relationships/notesSlide" Target="/ppt/notesSlides/notesSlide25.xml" Id="R05ca3ae025d34aac" /></Relationships>
</file>

<file path=ppt/slides/_rels/slide26.xml.rels>&#65279;<?xml version="1.0" encoding="utf-8"?><Relationships xmlns="http://schemas.openxmlformats.org/package/2006/relationships"><Relationship Type="http://schemas.openxmlformats.org/officeDocument/2006/relationships/slideLayout" Target="/ppt/slideLayouts/slideLayout6.xml" Id="R6ea3547756674989" /><Relationship Type="http://schemas.openxmlformats.org/officeDocument/2006/relationships/notesSlide" Target="/ppt/notesSlides/notesSlide26.xml" Id="Ree020ed432fa4a34" /></Relationships>
</file>

<file path=ppt/slides/_rels/slide27.xml.rels>&#65279;<?xml version="1.0" encoding="utf-8"?><Relationships xmlns="http://schemas.openxmlformats.org/package/2006/relationships"><Relationship Type="http://schemas.openxmlformats.org/officeDocument/2006/relationships/slideLayout" Target="/ppt/slideLayouts/slideLayout6.xml" Id="R0c64dbc959324b80" /><Relationship Type="http://schemas.openxmlformats.org/officeDocument/2006/relationships/notesSlide" Target="/ppt/notesSlides/notesSlide27.xml" Id="Raf105bda81c6482c" /></Relationships>
</file>

<file path=ppt/slides/_rels/slide28.xml.rels>&#65279;<?xml version="1.0" encoding="utf-8"?><Relationships xmlns="http://schemas.openxmlformats.org/package/2006/relationships"><Relationship Type="http://schemas.openxmlformats.org/officeDocument/2006/relationships/slideLayout" Target="/ppt/slideLayouts/slideLayout6.xml" Id="Rfdc99f8cdb5d49bf" /><Relationship Type="http://schemas.openxmlformats.org/officeDocument/2006/relationships/notesSlide" Target="/ppt/notesSlides/notesSlide28.xml" Id="R7eeb3e271ace4f2f" /></Relationships>
</file>

<file path=ppt/slides/_rels/slide29.xml.rels>&#65279;<?xml version="1.0" encoding="utf-8"?><Relationships xmlns="http://schemas.openxmlformats.org/package/2006/relationships"><Relationship Type="http://schemas.openxmlformats.org/officeDocument/2006/relationships/slideLayout" Target="/ppt/slideLayouts/slideLayout6.xml" Id="R5b4dd0ef443b4a1a" /><Relationship Type="http://schemas.openxmlformats.org/officeDocument/2006/relationships/notesSlide" Target="/ppt/notesSlides/notesSlide29.xml" Id="R40c6bf4094aa41dd" /></Relationships>
</file>

<file path=ppt/slides/_rels/slide30.xml.rels>&#65279;<?xml version="1.0" encoding="utf-8"?><Relationships xmlns="http://schemas.openxmlformats.org/package/2006/relationships"><Relationship Type="http://schemas.openxmlformats.org/officeDocument/2006/relationships/slideLayout" Target="/ppt/slideLayouts/slideLayout6.xml" Id="R22a58b9bb5cf42fc" /><Relationship Type="http://schemas.openxmlformats.org/officeDocument/2006/relationships/notesSlide" Target="/ppt/notesSlides/notesSlide30.xml" Id="R34645704f62e4bdc" /></Relationships>
</file>

<file path=ppt/slides/_rels/slide31.xml.rels>&#65279;<?xml version="1.0" encoding="utf-8"?><Relationships xmlns="http://schemas.openxmlformats.org/package/2006/relationships"><Relationship Type="http://schemas.openxmlformats.org/officeDocument/2006/relationships/slideLayout" Target="/ppt/slideLayouts/slideLayout6.xml" Id="R204e1d932ec4443a" /><Relationship Type="http://schemas.openxmlformats.org/officeDocument/2006/relationships/notesSlide" Target="/ppt/notesSlides/notesSlide31.xml" Id="R9838ce85994f4fa4" /></Relationships>
</file>

<file path=ppt/slides/_rels/slide32.xml.rels>&#65279;<?xml version="1.0" encoding="utf-8"?><Relationships xmlns="http://schemas.openxmlformats.org/package/2006/relationships"><Relationship Type="http://schemas.openxmlformats.org/officeDocument/2006/relationships/slideLayout" Target="/ppt/slideLayouts/slideLayout6.xml" Id="Rcc51ef57bb774143" /><Relationship Type="http://schemas.openxmlformats.org/officeDocument/2006/relationships/notesSlide" Target="/ppt/notesSlides/notesSlide32.xml" Id="R745c29747b184cb8" /></Relationships>
</file>

<file path=ppt/slides/_rels/slide33.xml.rels>&#65279;<?xml version="1.0" encoding="utf-8"?><Relationships xmlns="http://schemas.openxmlformats.org/package/2006/relationships"><Relationship Type="http://schemas.openxmlformats.org/officeDocument/2006/relationships/slideLayout" Target="/ppt/slideLayouts/slideLayout6.xml" Id="Rab8be7537e25438b" /><Relationship Type="http://schemas.openxmlformats.org/officeDocument/2006/relationships/notesSlide" Target="/ppt/notesSlides/notesSlide33.xml" Id="R426f7eb440144103" /></Relationships>
</file>

<file path=ppt/slides/_rels/slide34.xml.rels>&#65279;<?xml version="1.0" encoding="utf-8"?><Relationships xmlns="http://schemas.openxmlformats.org/package/2006/relationships"><Relationship Type="http://schemas.openxmlformats.org/officeDocument/2006/relationships/slideLayout" Target="/ppt/slideLayouts/slideLayout6.xml" Id="Rb12f725441e541d2" /><Relationship Type="http://schemas.openxmlformats.org/officeDocument/2006/relationships/notesSlide" Target="/ppt/notesSlides/notesSlide34.xml" Id="Rcd58fcbe25654f36" /></Relationships>
</file>

<file path=ppt/slides/_rels/slide35.xml.rels>&#65279;<?xml version="1.0" encoding="utf-8"?><Relationships xmlns="http://schemas.openxmlformats.org/package/2006/relationships"><Relationship Type="http://schemas.openxmlformats.org/officeDocument/2006/relationships/slideLayout" Target="/ppt/slideLayouts/slideLayout6.xml" Id="R049cb6fd88324ef6" /><Relationship Type="http://schemas.openxmlformats.org/officeDocument/2006/relationships/notesSlide" Target="/ppt/notesSlides/notesSlide35.xml" Id="Rc0120564f0f14d98" /></Relationships>
</file>

<file path=ppt/slides/_rels/slide36.xml.rels>&#65279;<?xml version="1.0" encoding="utf-8"?><Relationships xmlns="http://schemas.openxmlformats.org/package/2006/relationships"><Relationship Type="http://schemas.openxmlformats.org/officeDocument/2006/relationships/slideLayout" Target="/ppt/slideLayouts/slideLayout6.xml" Id="Rf63ae6271b2e4f26" /><Relationship Type="http://schemas.openxmlformats.org/officeDocument/2006/relationships/notesSlide" Target="/ppt/notesSlides/notesSlide36.xml" Id="R3e08bdd5af44481d" /></Relationships>
</file>

<file path=ppt/slides/_rels/slide37.xml.rels>&#65279;<?xml version="1.0" encoding="utf-8"?><Relationships xmlns="http://schemas.openxmlformats.org/package/2006/relationships"><Relationship Type="http://schemas.openxmlformats.org/officeDocument/2006/relationships/slideLayout" Target="/ppt/slideLayouts/slideLayout6.xml" Id="Rd5752c433a2644cd" /><Relationship Type="http://schemas.openxmlformats.org/officeDocument/2006/relationships/notesSlide" Target="/ppt/notesSlides/notesSlide37.xml" Id="Rf52ca819bc124c7a" /></Relationships>
</file>

<file path=ppt/slides/_rels/slide38.xml.rels>&#65279;<?xml version="1.0" encoding="utf-8"?><Relationships xmlns="http://schemas.openxmlformats.org/package/2006/relationships"><Relationship Type="http://schemas.openxmlformats.org/officeDocument/2006/relationships/slideLayout" Target="/ppt/slideLayouts/slideLayout6.xml" Id="R1fed63e9fc38457f" /><Relationship Type="http://schemas.openxmlformats.org/officeDocument/2006/relationships/notesSlide" Target="/ppt/notesSlides/notesSlide38.xml" Id="R4bce899651bd4f61" /></Relationships>
</file>

<file path=ppt/slides/_rels/slide39.xml.rels>&#65279;<?xml version="1.0" encoding="utf-8"?><Relationships xmlns="http://schemas.openxmlformats.org/package/2006/relationships"><Relationship Type="http://schemas.openxmlformats.org/officeDocument/2006/relationships/slideLayout" Target="/ppt/slideLayouts/slideLayout6.xml" Id="R52497cc9a8d74079" /><Relationship Type="http://schemas.openxmlformats.org/officeDocument/2006/relationships/notesSlide" Target="/ppt/notesSlides/notesSlide39.xml" Id="Re2f0fc5dc6eb4500" /></Relationships>
</file>

<file path=ppt/slides/_rels/slide40.xml.rels>&#65279;<?xml version="1.0" encoding="utf-8"?><Relationships xmlns="http://schemas.openxmlformats.org/package/2006/relationships"><Relationship Type="http://schemas.openxmlformats.org/officeDocument/2006/relationships/slideLayout" Target="/ppt/slideLayouts/slideLayout6.xml" Id="R886a6d25b34b4a2e" /><Relationship Type="http://schemas.openxmlformats.org/officeDocument/2006/relationships/notesSlide" Target="/ppt/notesSlides/notesSlide40.xml" Id="Rfb00d50796a7454d" /></Relationships>
</file>

<file path=ppt/slides/_rels/slide41.xml.rels>&#65279;<?xml version="1.0" encoding="utf-8"?><Relationships xmlns="http://schemas.openxmlformats.org/package/2006/relationships"><Relationship Type="http://schemas.openxmlformats.org/officeDocument/2006/relationships/slideLayout" Target="/ppt/slideLayouts/slideLayout6.xml" Id="R789704ba11754452" /><Relationship Type="http://schemas.openxmlformats.org/officeDocument/2006/relationships/notesSlide" Target="/ppt/notesSlides/notesSlide41.xml" Id="R1bba91cb84d04f3d" /></Relationships>
</file>

<file path=ppt/slides/_rels/slide42.xml.rels>&#65279;<?xml version="1.0" encoding="utf-8"?><Relationships xmlns="http://schemas.openxmlformats.org/package/2006/relationships"><Relationship Type="http://schemas.openxmlformats.org/officeDocument/2006/relationships/slideLayout" Target="/ppt/slideLayouts/slideLayout6.xml" Id="Rc4420ff44689415a" /><Relationship Type="http://schemas.openxmlformats.org/officeDocument/2006/relationships/notesSlide" Target="/ppt/notesSlides/notesSlide42.xml" Id="R5302d1b4b25e4ac7" /></Relationships>
</file>

<file path=ppt/slides/_rels/slide43.xml.rels>&#65279;<?xml version="1.0" encoding="utf-8"?><Relationships xmlns="http://schemas.openxmlformats.org/package/2006/relationships"><Relationship Type="http://schemas.openxmlformats.org/officeDocument/2006/relationships/slideLayout" Target="/ppt/slideLayouts/slideLayout6.xml" Id="R68ac333736404e93" /><Relationship Type="http://schemas.openxmlformats.org/officeDocument/2006/relationships/notesSlide" Target="/ppt/notesSlides/notesSlide43.xml" Id="R13f61637308e4844" /></Relationships>
</file>

<file path=ppt/slides/_rels/slide44.xml.rels>&#65279;<?xml version="1.0" encoding="utf-8"?><Relationships xmlns="http://schemas.openxmlformats.org/package/2006/relationships"><Relationship Type="http://schemas.openxmlformats.org/officeDocument/2006/relationships/slideLayout" Target="/ppt/slideLayouts/slideLayout6.xml" Id="Rb8b38429ac444bb3" /><Relationship Type="http://schemas.openxmlformats.org/officeDocument/2006/relationships/notesSlide" Target="/ppt/notesSlides/notesSlide44.xml" Id="Rc6806fa8734448da" /></Relationships>
</file>

<file path=ppt/slides/_rels/slide45.xml.rels>&#65279;<?xml version="1.0" encoding="utf-8"?><Relationships xmlns="http://schemas.openxmlformats.org/package/2006/relationships"><Relationship Type="http://schemas.openxmlformats.org/officeDocument/2006/relationships/slideLayout" Target="/ppt/slideLayouts/slideLayout6.xml" Id="R0ffe73ff6a9d4179" /><Relationship Type="http://schemas.openxmlformats.org/officeDocument/2006/relationships/notesSlide" Target="/ppt/notesSlides/notesSlide45.xml" Id="R689058d28264493d" /></Relationships>
</file>

<file path=ppt/slides/_rels/slide46.xml.rels>&#65279;<?xml version="1.0" encoding="utf-8"?><Relationships xmlns="http://schemas.openxmlformats.org/package/2006/relationships"><Relationship Type="http://schemas.openxmlformats.org/officeDocument/2006/relationships/slideLayout" Target="/ppt/slideLayouts/slideLayout6.xml" Id="R709cd910404a4c99" /><Relationship Type="http://schemas.openxmlformats.org/officeDocument/2006/relationships/image" Target="/ppt/media/image3.png" Id="Rfa5d50e82dea479e" /><Relationship Type="http://schemas.openxmlformats.org/officeDocument/2006/relationships/notesSlide" Target="/ppt/notesSlides/notesSlide46.xml" Id="R557f8257dbc24822" /></Relationships>
</file>

<file path=ppt/slides/_rels/slide47.xml.rels>&#65279;<?xml version="1.0" encoding="utf-8"?><Relationships xmlns="http://schemas.openxmlformats.org/package/2006/relationships"><Relationship Type="http://schemas.openxmlformats.org/officeDocument/2006/relationships/slideLayout" Target="/ppt/slideLayouts/slideLayout6.xml" Id="R38e7673dda8a45b5" /><Relationship Type="http://schemas.openxmlformats.org/officeDocument/2006/relationships/notesSlide" Target="/ppt/notesSlides/notesSlide47.xml" Id="Reeb4e19f9215424f" /></Relationships>
</file>

<file path=ppt/slides/_rels/slide48.xml.rels>&#65279;<?xml version="1.0" encoding="utf-8"?><Relationships xmlns="http://schemas.openxmlformats.org/package/2006/relationships"><Relationship Type="http://schemas.openxmlformats.org/officeDocument/2006/relationships/slideLayout" Target="/ppt/slideLayouts/slideLayout6.xml" Id="Rde47dd565525401d" /><Relationship Type="http://schemas.openxmlformats.org/officeDocument/2006/relationships/notesSlide" Target="/ppt/notesSlides/notesSlide48.xml" Id="Ra03dc93cb8994e8f" /></Relationships>
</file>

<file path=ppt/slides/_rels/slide49.xml.rels>&#65279;<?xml version="1.0" encoding="utf-8"?><Relationships xmlns="http://schemas.openxmlformats.org/package/2006/relationships"><Relationship Type="http://schemas.openxmlformats.org/officeDocument/2006/relationships/slideLayout" Target="/ppt/slideLayouts/slideLayout6.xml" Id="Rb41abfa14e374e34" /><Relationship Type="http://schemas.openxmlformats.org/officeDocument/2006/relationships/notesSlide" Target="/ppt/notesSlides/notesSlide49.xml" Id="R032b7a087e494777" /></Relationships>
</file>

<file path=ppt/slides/_rels/slide50.xml.rels>&#65279;<?xml version="1.0" encoding="utf-8"?><Relationships xmlns="http://schemas.openxmlformats.org/package/2006/relationships"><Relationship Type="http://schemas.openxmlformats.org/officeDocument/2006/relationships/slideLayout" Target="/ppt/slideLayouts/slideLayout6.xml" Id="R1882bc6e72c4463c" /><Relationship Type="http://schemas.openxmlformats.org/officeDocument/2006/relationships/notesSlide" Target="/ppt/notesSlides/notesSlide50.xml" Id="R49b4845013e747e0" /></Relationships>
</file>

<file path=ppt/slides/_rels/slide51.xml.rels>&#65279;<?xml version="1.0" encoding="utf-8"?><Relationships xmlns="http://schemas.openxmlformats.org/package/2006/relationships"><Relationship Type="http://schemas.openxmlformats.org/officeDocument/2006/relationships/slideLayout" Target="/ppt/slideLayouts/slideLayout6.xml" Id="Red9208706b3f4c04" /><Relationship Type="http://schemas.openxmlformats.org/officeDocument/2006/relationships/notesSlide" Target="/ppt/notesSlides/notesSlide51.xml" Id="R86ba6dfac7284226" /></Relationships>
</file>

<file path=ppt/slides/_rels/slide52.xml.rels>&#65279;<?xml version="1.0" encoding="utf-8"?><Relationships xmlns="http://schemas.openxmlformats.org/package/2006/relationships"><Relationship Type="http://schemas.openxmlformats.org/officeDocument/2006/relationships/slideLayout" Target="/ppt/slideLayouts/slideLayout6.xml" Id="R04f5bac69592402d" /><Relationship Type="http://schemas.openxmlformats.org/officeDocument/2006/relationships/notesSlide" Target="/ppt/notesSlides/notesSlide52.xml" Id="R0e3b4cd9834f4eb2" /></Relationships>
</file>

<file path=ppt/slides/_rels/slide53.xml.rels>&#65279;<?xml version="1.0" encoding="utf-8"?><Relationships xmlns="http://schemas.openxmlformats.org/package/2006/relationships"><Relationship Type="http://schemas.openxmlformats.org/officeDocument/2006/relationships/slideLayout" Target="/ppt/slideLayouts/slideLayout6.xml" Id="R8ab9ecf21c284ae5" /><Relationship Type="http://schemas.openxmlformats.org/officeDocument/2006/relationships/notesSlide" Target="/ppt/notesSlides/notesSlide53.xml" Id="R276e3e410c5e4054" /></Relationships>
</file>

<file path=ppt/slides/_rels/slide54.xml.rels>&#65279;<?xml version="1.0" encoding="utf-8"?><Relationships xmlns="http://schemas.openxmlformats.org/package/2006/relationships"><Relationship Type="http://schemas.openxmlformats.org/officeDocument/2006/relationships/slideLayout" Target="/ppt/slideLayouts/slideLayout6.xml" Id="Rda41ff450e1443dd" /><Relationship Type="http://schemas.openxmlformats.org/officeDocument/2006/relationships/notesSlide" Target="/ppt/notesSlides/notesSlide54.xml" Id="Rcb0ffdeb57a140f5" /></Relationships>
</file>

<file path=ppt/slides/_rels/slide55.xml.rels>&#65279;<?xml version="1.0" encoding="utf-8"?><Relationships xmlns="http://schemas.openxmlformats.org/package/2006/relationships"><Relationship Type="http://schemas.openxmlformats.org/officeDocument/2006/relationships/slideLayout" Target="/ppt/slideLayouts/slideLayout6.xml" Id="Re091030568c048f2" /><Relationship Type="http://schemas.openxmlformats.org/officeDocument/2006/relationships/notesSlide" Target="/ppt/notesSlides/notesSlide55.xml" Id="Raf131e0e6b9d4cd1" /></Relationships>
</file>

<file path=ppt/slides/_rels/slide56.xml.rels>&#65279;<?xml version="1.0" encoding="utf-8"?><Relationships xmlns="http://schemas.openxmlformats.org/package/2006/relationships"><Relationship Type="http://schemas.openxmlformats.org/officeDocument/2006/relationships/slideLayout" Target="/ppt/slideLayouts/slideLayout6.xml" Id="R558c0e36d31548ae" /><Relationship Type="http://schemas.openxmlformats.org/officeDocument/2006/relationships/notesSlide" Target="/ppt/notesSlides/notesSlide56.xml" Id="Ra80a6697fb5b4e7d" /></Relationships>
</file>

<file path=ppt/slides/_rels/slide57.xml.rels>&#65279;<?xml version="1.0" encoding="utf-8"?><Relationships xmlns="http://schemas.openxmlformats.org/package/2006/relationships"><Relationship Type="http://schemas.openxmlformats.org/officeDocument/2006/relationships/slideLayout" Target="/ppt/slideLayouts/slideLayout6.xml" Id="R9c57de2c9b314f5c" /><Relationship Type="http://schemas.openxmlformats.org/officeDocument/2006/relationships/notesSlide" Target="/ppt/notesSlides/notesSlide57.xml" Id="R8a2f5178699a4e39" /></Relationships>
</file>

<file path=ppt/slides/_rels/slide58.xml.rels>&#65279;<?xml version="1.0" encoding="utf-8"?><Relationships xmlns="http://schemas.openxmlformats.org/package/2006/relationships"><Relationship Type="http://schemas.openxmlformats.org/officeDocument/2006/relationships/slideLayout" Target="/ppt/slideLayouts/slideLayout6.xml" Id="R2834c9ceedec4eb2" /><Relationship Type="http://schemas.openxmlformats.org/officeDocument/2006/relationships/notesSlide" Target="/ppt/notesSlides/notesSlide58.xml" Id="Rb88811fba9cc40a7" /></Relationships>
</file>

<file path=ppt/slides/_rels/slide59.xml.rels>&#65279;<?xml version="1.0" encoding="utf-8"?><Relationships xmlns="http://schemas.openxmlformats.org/package/2006/relationships"><Relationship Type="http://schemas.openxmlformats.org/officeDocument/2006/relationships/slideLayout" Target="/ppt/slideLayouts/slideLayout6.xml" Id="Rd335e0a7549c4534" /><Relationship Type="http://schemas.openxmlformats.org/officeDocument/2006/relationships/notesSlide" Target="/ppt/notesSlides/notesSlide59.xml" Id="R31556eaaef9845cb" /></Relationships>
</file>

<file path=ppt/slides/_rels/slide60.xml.rels>&#65279;<?xml version="1.0" encoding="utf-8"?><Relationships xmlns="http://schemas.openxmlformats.org/package/2006/relationships"><Relationship Type="http://schemas.openxmlformats.org/officeDocument/2006/relationships/slideLayout" Target="/ppt/slideLayouts/slideLayout6.xml" Id="Rb33f1c6ae7874f0a" /><Relationship Type="http://schemas.openxmlformats.org/officeDocument/2006/relationships/notesSlide" Target="/ppt/notesSlides/notesSlide60.xml" Id="R51d53f2b8fbb4a4b" /></Relationships>
</file>

<file path=ppt/slides/_rels/slide61.xml.rels>&#65279;<?xml version="1.0" encoding="utf-8"?><Relationships xmlns="http://schemas.openxmlformats.org/package/2006/relationships"><Relationship Type="http://schemas.openxmlformats.org/officeDocument/2006/relationships/slideLayout" Target="/ppt/slideLayouts/slideLayout6.xml" Id="R1a8679e120f048bb" /><Relationship Type="http://schemas.openxmlformats.org/officeDocument/2006/relationships/notesSlide" Target="/ppt/notesSlides/notesSlide61.xml" Id="Rb827a83dc38a4ba5" /></Relationships>
</file>

<file path=ppt/slides/_rels/slide62.xml.rels>&#65279;<?xml version="1.0" encoding="utf-8"?><Relationships xmlns="http://schemas.openxmlformats.org/package/2006/relationships"><Relationship Type="http://schemas.openxmlformats.org/officeDocument/2006/relationships/slideLayout" Target="/ppt/slideLayouts/slideLayout6.xml" Id="R6cbf207e8f1e462e" /><Relationship Type="http://schemas.openxmlformats.org/officeDocument/2006/relationships/notesSlide" Target="/ppt/notesSlides/notesSlide62.xml" Id="Rd272688ff9fc4a01" /></Relationships>
</file>

<file path=ppt/slides/_rels/slide63.xml.rels>&#65279;<?xml version="1.0" encoding="utf-8"?><Relationships xmlns="http://schemas.openxmlformats.org/package/2006/relationships"><Relationship Type="http://schemas.openxmlformats.org/officeDocument/2006/relationships/slideLayout" Target="/ppt/slideLayouts/slideLayout6.xml" Id="R0a730f6cc59b41a6" /><Relationship Type="http://schemas.openxmlformats.org/officeDocument/2006/relationships/notesSlide" Target="/ppt/notesSlides/notesSlide63.xml" Id="Rf5c58ea195114c2d" /></Relationships>
</file>

<file path=ppt/slides/_rels/slide64.xml.rels>&#65279;<?xml version="1.0" encoding="utf-8"?><Relationships xmlns="http://schemas.openxmlformats.org/package/2006/relationships"><Relationship Type="http://schemas.openxmlformats.org/officeDocument/2006/relationships/slideLayout" Target="/ppt/slideLayouts/slideLayout6.xml" Id="R22d75209e879494c" /><Relationship Type="http://schemas.openxmlformats.org/officeDocument/2006/relationships/notesSlide" Target="/ppt/notesSlides/notesSlide64.xml" Id="R2823a9c98ad44852" /></Relationships>
</file>

<file path=ppt/slides/_rels/slide65.xml.rels>&#65279;<?xml version="1.0" encoding="utf-8"?><Relationships xmlns="http://schemas.openxmlformats.org/package/2006/relationships"><Relationship Type="http://schemas.openxmlformats.org/officeDocument/2006/relationships/slideLayout" Target="/ppt/slideLayouts/slideLayout6.xml" Id="R19d2ae9232b54d04" /><Relationship Type="http://schemas.openxmlformats.org/officeDocument/2006/relationships/notesSlide" Target="/ppt/notesSlides/notesSlide65.xml" Id="Rba231589cec24001" /></Relationships>
</file>

<file path=ppt/slides/_rels/slide66.xml.rels>&#65279;<?xml version="1.0" encoding="utf-8"?><Relationships xmlns="http://schemas.openxmlformats.org/package/2006/relationships"><Relationship Type="http://schemas.openxmlformats.org/officeDocument/2006/relationships/slideLayout" Target="/ppt/slideLayouts/slideLayout6.xml" Id="Rc37df15b601749e1" /><Relationship Type="http://schemas.openxmlformats.org/officeDocument/2006/relationships/notesSlide" Target="/ppt/notesSlides/notesSlide66.xml" Id="R50bdd0ef5edd4f50" /></Relationships>
</file>

<file path=ppt/slides/_rels/slide67.xml.rels>&#65279;<?xml version="1.0" encoding="utf-8"?><Relationships xmlns="http://schemas.openxmlformats.org/package/2006/relationships"><Relationship Type="http://schemas.openxmlformats.org/officeDocument/2006/relationships/slideLayout" Target="/ppt/slideLayouts/slideLayout6.xml" Id="Rbe7ad4f7f1704ff1" /><Relationship Type="http://schemas.openxmlformats.org/officeDocument/2006/relationships/notesSlide" Target="/ppt/notesSlides/notesSlide67.xml" Id="Ra48deb3d02694430" /></Relationships>
</file>

<file path=ppt/slides/_rels/slide68.xml.rels>&#65279;<?xml version="1.0" encoding="utf-8"?><Relationships xmlns="http://schemas.openxmlformats.org/package/2006/relationships"><Relationship Type="http://schemas.openxmlformats.org/officeDocument/2006/relationships/slideLayout" Target="/ppt/slideLayouts/slideLayout6.xml" Id="R0f84f0b9bd56433a" /><Relationship Type="http://schemas.openxmlformats.org/officeDocument/2006/relationships/notesSlide" Target="/ppt/notesSlides/notesSlide68.xml" Id="R4270c16bbfa445a9" /></Relationships>
</file>

<file path=ppt/slides/_rels/slide69.xml.rels>&#65279;<?xml version="1.0" encoding="utf-8"?><Relationships xmlns="http://schemas.openxmlformats.org/package/2006/relationships"><Relationship Type="http://schemas.openxmlformats.org/officeDocument/2006/relationships/slideLayout" Target="/ppt/slideLayouts/slideLayout6.xml" Id="Rae171cca9ac24e49" /><Relationship Type="http://schemas.openxmlformats.org/officeDocument/2006/relationships/notesSlide" Target="/ppt/notesSlides/notesSlide69.xml" Id="R07273e528e714c7f" /></Relationships>
</file>

<file path=ppt/slides/_rels/slide70.xml.rels>&#65279;<?xml version="1.0" encoding="utf-8"?><Relationships xmlns="http://schemas.openxmlformats.org/package/2006/relationships"><Relationship Type="http://schemas.openxmlformats.org/officeDocument/2006/relationships/slideLayout" Target="/ppt/slideLayouts/slideLayout6.xml" Id="Rbe14e0f28fc44daf" /><Relationship Type="http://schemas.openxmlformats.org/officeDocument/2006/relationships/notesSlide" Target="/ppt/notesSlides/notesSlide70.xml" Id="R151ccb34f9c64155" /></Relationships>
</file>

<file path=ppt/slides/_rels/slide71.xml.rels>&#65279;<?xml version="1.0" encoding="utf-8"?><Relationships xmlns="http://schemas.openxmlformats.org/package/2006/relationships"><Relationship Type="http://schemas.openxmlformats.org/officeDocument/2006/relationships/slideLayout" Target="/ppt/slideLayouts/slideLayout6.xml" Id="R1438c438df8e427f" /><Relationship Type="http://schemas.openxmlformats.org/officeDocument/2006/relationships/notesSlide" Target="/ppt/notesSlides/notesSlide71.xml" Id="R86e5c2b3ab7241cc" /></Relationships>
</file>

<file path=ppt/slides/_rels/slide72.xml.rels>&#65279;<?xml version="1.0" encoding="utf-8"?><Relationships xmlns="http://schemas.openxmlformats.org/package/2006/relationships"><Relationship Type="http://schemas.openxmlformats.org/officeDocument/2006/relationships/slideLayout" Target="/ppt/slideLayouts/slideLayout6.xml" Id="R816b20a345d04fcf" /><Relationship Type="http://schemas.openxmlformats.org/officeDocument/2006/relationships/notesSlide" Target="/ppt/notesSlides/notesSlide72.xml" Id="R8395d7ee638d4f38" /></Relationships>
</file>

<file path=ppt/slides/_rels/slide73.xml.rels>&#65279;<?xml version="1.0" encoding="utf-8"?><Relationships xmlns="http://schemas.openxmlformats.org/package/2006/relationships"><Relationship Type="http://schemas.openxmlformats.org/officeDocument/2006/relationships/slideLayout" Target="/ppt/slideLayouts/slideLayout6.xml" Id="R80c5c3c97ac549da" /><Relationship Type="http://schemas.openxmlformats.org/officeDocument/2006/relationships/notesSlide" Target="/ppt/notesSlides/notesSlide73.xml" Id="Rc0ac3446979349b1" /></Relationships>
</file>

<file path=ppt/slides/_rels/slide74.xml.rels>&#65279;<?xml version="1.0" encoding="utf-8"?><Relationships xmlns="http://schemas.openxmlformats.org/package/2006/relationships"><Relationship Type="http://schemas.openxmlformats.org/officeDocument/2006/relationships/slideLayout" Target="/ppt/slideLayouts/slideLayout6.xml" Id="R8ccd89d37c3f407a" /><Relationship Type="http://schemas.openxmlformats.org/officeDocument/2006/relationships/notesSlide" Target="/ppt/notesSlides/notesSlide74.xml" Id="R316b4d68274c4455" /></Relationships>
</file>

<file path=ppt/slides/_rels/slide75.xml.rels>&#65279;<?xml version="1.0" encoding="utf-8"?><Relationships xmlns="http://schemas.openxmlformats.org/package/2006/relationships"><Relationship Type="http://schemas.openxmlformats.org/officeDocument/2006/relationships/slideLayout" Target="/ppt/slideLayouts/slideLayout6.xml" Id="Re2e9528f0e3c4d6a" /><Relationship Type="http://schemas.openxmlformats.org/officeDocument/2006/relationships/notesSlide" Target="/ppt/notesSlides/notesSlide75.xml" Id="Rd234dc60afcf4c79" /></Relationships>
</file>

<file path=ppt/slides/_rels/slide76.xml.rels>&#65279;<?xml version="1.0" encoding="utf-8"?><Relationships xmlns="http://schemas.openxmlformats.org/package/2006/relationships"><Relationship Type="http://schemas.openxmlformats.org/officeDocument/2006/relationships/slideLayout" Target="/ppt/slideLayouts/slideLayout6.xml" Id="R601941421f5842e5" /><Relationship Type="http://schemas.openxmlformats.org/officeDocument/2006/relationships/notesSlide" Target="/ppt/notesSlides/notesSlide76.xml" Id="Re511f9ae10b34368" /></Relationships>
</file>

<file path=ppt/slides/_rels/slide77.xml.rels>&#65279;<?xml version="1.0" encoding="utf-8"?><Relationships xmlns="http://schemas.openxmlformats.org/package/2006/relationships"><Relationship Type="http://schemas.openxmlformats.org/officeDocument/2006/relationships/slideLayout" Target="/ppt/slideLayouts/slideLayout6.xml" Id="R21adf45e9cb64dff" /><Relationship Type="http://schemas.openxmlformats.org/officeDocument/2006/relationships/notesSlide" Target="/ppt/notesSlides/notesSlide77.xml" Id="R0d6600bfc7d14751" /></Relationships>
</file>

<file path=ppt/slides/_rels/slide78.xml.rels>&#65279;<?xml version="1.0" encoding="utf-8"?><Relationships xmlns="http://schemas.openxmlformats.org/package/2006/relationships"><Relationship Type="http://schemas.openxmlformats.org/officeDocument/2006/relationships/slideLayout" Target="/ppt/slideLayouts/slideLayout6.xml" Id="R991575cc66314d53" /><Relationship Type="http://schemas.openxmlformats.org/officeDocument/2006/relationships/notesSlide" Target="/ppt/notesSlides/notesSlide78.xml" Id="R322d0901da63487e" /></Relationships>
</file>

<file path=ppt/slides/_rels/slide79.xml.rels>&#65279;<?xml version="1.0" encoding="utf-8"?><Relationships xmlns="http://schemas.openxmlformats.org/package/2006/relationships"><Relationship Type="http://schemas.openxmlformats.org/officeDocument/2006/relationships/slideLayout" Target="/ppt/slideLayouts/slideLayout6.xml" Id="R6918b5084f544b0d" /><Relationship Type="http://schemas.openxmlformats.org/officeDocument/2006/relationships/notesSlide" Target="/ppt/notesSlides/notesSlide79.xml" Id="R5eae58530a234423" /></Relationships>
</file>

<file path=ppt/slides/_rels/slide80.xml.rels>&#65279;<?xml version="1.0" encoding="utf-8"?><Relationships xmlns="http://schemas.openxmlformats.org/package/2006/relationships"><Relationship Type="http://schemas.openxmlformats.org/officeDocument/2006/relationships/slideLayout" Target="/ppt/slideLayouts/slideLayout6.xml" Id="R3d9b8e91f0704ed1" /><Relationship Type="http://schemas.openxmlformats.org/officeDocument/2006/relationships/notesSlide" Target="/ppt/notesSlides/notesSlide80.xml" Id="Rd07fb2ba1a2a426c" /></Relationships>
</file>

<file path=ppt/slides/_rels/slide81.xml.rels>&#65279;<?xml version="1.0" encoding="utf-8"?><Relationships xmlns="http://schemas.openxmlformats.org/package/2006/relationships"><Relationship Type="http://schemas.openxmlformats.org/officeDocument/2006/relationships/slideLayout" Target="/ppt/slideLayouts/slideLayout6.xml" Id="R8b9f63d568bf4b3b" /><Relationship Type="http://schemas.openxmlformats.org/officeDocument/2006/relationships/notesSlide" Target="/ppt/notesSlides/notesSlide81.xml" Id="Ra66677af3b724db5" /></Relationships>
</file>

<file path=ppt/slides/_rels/slide82.xml.rels>&#65279;<?xml version="1.0" encoding="utf-8"?><Relationships xmlns="http://schemas.openxmlformats.org/package/2006/relationships"><Relationship Type="http://schemas.openxmlformats.org/officeDocument/2006/relationships/slideLayout" Target="/ppt/slideLayouts/slideLayout6.xml" Id="R716c742395ae4633" /><Relationship Type="http://schemas.openxmlformats.org/officeDocument/2006/relationships/notesSlide" Target="/ppt/notesSlides/notesSlide82.xml" Id="R60e94900ac2c4acf" /></Relationships>
</file>

<file path=ppt/slides/_rels/slide83.xml.rels>&#65279;<?xml version="1.0" encoding="utf-8"?><Relationships xmlns="http://schemas.openxmlformats.org/package/2006/relationships"><Relationship Type="http://schemas.openxmlformats.org/officeDocument/2006/relationships/slideLayout" Target="/ppt/slideLayouts/slideLayout6.xml" Id="Rf0de0f9f11124065" /><Relationship Type="http://schemas.openxmlformats.org/officeDocument/2006/relationships/hyperlink" Target="https://docs.google.com/forms/d/e/1FAIpQLSeZymY0jwFhuwihprLiqEaq2DqmLZD3nIYht1IkN4OcPGeTFg/viewform" TargetMode="External" Id="R7de6a254c4714738" /><Relationship Type="http://schemas.openxmlformats.org/officeDocument/2006/relationships/notesSlide" Target="/ppt/notesSlides/notesSlide83.xml" Id="Rbceff1078dc346c5" /></Relationships>
</file>

<file path=ppt/slides/_rels/slide84.xml.rels>&#65279;<?xml version="1.0" encoding="utf-8"?><Relationships xmlns="http://schemas.openxmlformats.org/package/2006/relationships"><Relationship Type="http://schemas.openxmlformats.org/officeDocument/2006/relationships/slideLayout" Target="/ppt/slideLayouts/slideLayout6.xml" Id="Ref903d7f3d4140fa" /><Relationship Type="http://schemas.openxmlformats.org/officeDocument/2006/relationships/image" Target="/ppt/media/image4.png" Id="R9e8ae20453c342bf" /><Relationship Type="http://schemas.openxmlformats.org/officeDocument/2006/relationships/hyperlink" Target="https://forms.gle/yodGpWvz4b2GioZYA" TargetMode="External" Id="R0e405284388a41e8" /><Relationship Type="http://schemas.openxmlformats.org/officeDocument/2006/relationships/notesSlide" Target="/ppt/notesSlides/notesSlide84.xml" Id="R343adf1fdca14598" /></Relationships>
</file>

<file path=ppt/slides/_rels/slide85.xml.rels>&#65279;<?xml version="1.0" encoding="utf-8"?><Relationships xmlns="http://schemas.openxmlformats.org/package/2006/relationships"><Relationship Type="http://schemas.openxmlformats.org/officeDocument/2006/relationships/slideLayout" Target="/ppt/slideLayouts/slideLayout6.xml" Id="R2c8c620421294ae8" /><Relationship Type="http://schemas.openxmlformats.org/officeDocument/2006/relationships/notesSlide" Target="/ppt/notesSlides/notesSlide85.xml" Id="R2d2490b398064a86" /></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7" name=""/>
          <p:cNvPicPr>
            <a:picLocks xmlns:a="http://schemas.openxmlformats.org/drawingml/2006/main" noChangeAspect="1"/>
          </p:cNvPicPr>
          <p:nvPr/>
        </p:nvPicPr>
        <p:blipFill>
          <a:blip xmlns:r="http://schemas.openxmlformats.org/officeDocument/2006/relationships" xmlns:a="http://schemas.openxmlformats.org/drawingml/2006/main" r:embed="Rae5c7e78f04940fc"/>
          <a:stretch xmlns:a="http://schemas.openxmlformats.org/drawingml/2006/main"/>
        </p:blipFill>
        <p:spPr>
          <a:xfrm xmlns:a="http://schemas.openxmlformats.org/drawingml/2006/main">
            <a:off x="3087" y="0"/>
            <a:ext cx="12185522"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4E4D6AF1-8257-4C09-A59C-A993F29595BC}"/>
              </a:ext>
            </a:extLst>
          </p:cNvPr>
          <p:cNvSpPr>
            <a:spLocks xmlns:a="http://schemas.openxmlformats.org/drawingml/2006/main" noGrp="1"/>
          </p:cNvSpPr>
          <p:nvPr/>
        </p:nvSpPr>
        <p:spPr>
          <a:xfrm xmlns:a="http://schemas.openxmlformats.org/drawingml/2006/main">
            <a:off x="0" y="0"/>
            <a:ext cx="5381625" cy="685800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2451B0C5-E4C6-4C66-8032-F22DD44EADC2}"/>
              </a:ext>
            </a:extLst>
          </p:cNvPr>
          <p:cNvSpPr>
            <a:spLocks xmlns:a="http://schemas.openxmlformats.org/drawingml/2006/main" noGrp="1"/>
          </p:cNvSpPr>
          <p:nvPr/>
        </p:nvSpPr>
        <p:spPr>
          <a:xfrm xmlns:a="http://schemas.openxmlformats.org/drawingml/2006/main">
            <a:off x="552450" y="685800"/>
            <a:ext cx="4762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1">
                <a:solidFill>
                  <a:srgbClr val="E4572E"/>
                </a:solidFill>
                <a:latin typeface="Calibri"/>
                <a:ea typeface="Calibri"/>
                <a:cs typeface="Calibri"/>
              </a:defRPr>
            </a:pPr>
            <a:r>
              <a:rPr sz="1950" b="1">
                <a:solidFill>
                  <a:srgbClr val="E4572E"/>
                </a:solidFill>
                <a:latin typeface="Calibri"/>
                <a:ea typeface="Calibri"/>
                <a:cs typeface="Calibri"/>
              </a:rPr>
              <a:t>CML3112   WEEK 4</a:t>
            </a:r>
          </a:p>
        </p:txBody>
      </p:sp>
      <p:sp>
        <p:nvSpPr>
          <p:cNvPr id="4" name="">
            <a:extLst xmlns:a="http://schemas.openxmlformats.org/drawingml/2006/main">
              <a:ext uri="{FF2B5EF4-FFF2-40B4-BE49-F238E27FC236}">
                <a16:creationId xmlns:a16="http://schemas.microsoft.com/office/drawing/2014/main" id="{988D82EA-940E-4CCF-9C64-37B8F0946438}"/>
              </a:ext>
            </a:extLst>
          </p:cNvPr>
          <p:cNvSpPr>
            <a:spLocks xmlns:a="http://schemas.openxmlformats.org/drawingml/2006/main" noGrp="1"/>
          </p:cNvSpPr>
          <p:nvPr/>
        </p:nvSpPr>
        <p:spPr>
          <a:xfrm xmlns:a="http://schemas.openxmlformats.org/drawingml/2006/main">
            <a:off x="552450" y="1619250"/>
            <a:ext cx="4619625" cy="2333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825" b="1">
                <a:solidFill>
                  <a:srgbClr val="FFFFFF"/>
                </a:solidFill>
                <a:latin typeface="Calibri"/>
                <a:ea typeface="Calibri"/>
                <a:cs typeface="Calibri"/>
              </a:defRPr>
            </a:pPr>
            <a:r>
              <a:rPr sz="3825" b="1">
                <a:solidFill>
                  <a:srgbClr val="FFFFFF"/>
                </a:solidFill>
                <a:latin typeface="Calibri"/>
                <a:ea typeface="Calibri"/>
                <a:cs typeface="Calibri"/>
              </a:rPr>
              <a:t>Lists loops and reading a table</a:t>
            </a:r>
          </a:p>
        </p:txBody>
      </p:sp>
      <p:sp>
        <p:nvSpPr>
          <p:cNvPr id="5" name="">
            <a:extLst xmlns:a="http://schemas.openxmlformats.org/drawingml/2006/main">
              <a:ext uri="{FF2B5EF4-FFF2-40B4-BE49-F238E27FC236}">
                <a16:creationId xmlns:a16="http://schemas.microsoft.com/office/drawing/2014/main" id="{3F9D66EC-B1BC-4399-9CDE-7A0BB305F50E}"/>
              </a:ext>
            </a:extLst>
          </p:cNvPr>
          <p:cNvSpPr>
            <a:spLocks xmlns:a="http://schemas.openxmlformats.org/drawingml/2006/main" noGrp="1"/>
          </p:cNvSpPr>
          <p:nvPr/>
        </p:nvSpPr>
        <p:spPr>
          <a:xfrm xmlns:a="http://schemas.openxmlformats.org/drawingml/2006/main">
            <a:off x="552450" y="4048125"/>
            <a:ext cx="4619625"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D8E3EC"/>
                </a:solidFill>
                <a:latin typeface="Calibri"/>
                <a:ea typeface="Calibri"/>
                <a:cs typeface="Calibri"/>
              </a:defRPr>
            </a:pPr>
            <a:r>
              <a:rPr sz="2100" b="0">
                <a:solidFill>
                  <a:srgbClr val="D8E3EC"/>
                </a:solidFill>
                <a:latin typeface="Calibri"/>
                <a:ea typeface="Calibri"/>
                <a:cs typeface="Calibri"/>
              </a:rPr>
              <a:t>Civil Engineering and Architecture</a:t>
            </a:r>
          </a:p>
        </p:txBody>
      </p:sp>
      <p:sp>
        <p:nvSpPr>
          <p:cNvPr id="6" name="">
            <a:extLst xmlns:a="http://schemas.openxmlformats.org/drawingml/2006/main">
              <a:ext uri="{FF2B5EF4-FFF2-40B4-BE49-F238E27FC236}">
                <a16:creationId xmlns:a16="http://schemas.microsoft.com/office/drawing/2014/main" id="{4F56B21A-F2E1-475E-AEF4-6F00850DEBD1}"/>
              </a:ext>
            </a:extLst>
          </p:cNvPr>
          <p:cNvSpPr>
            <a:spLocks xmlns:a="http://schemas.openxmlformats.org/drawingml/2006/main" noGrp="1"/>
          </p:cNvSpPr>
          <p:nvPr/>
        </p:nvSpPr>
        <p:spPr>
          <a:xfrm xmlns:a="http://schemas.openxmlformats.org/drawingml/2006/main">
            <a:off x="552450" y="5467350"/>
            <a:ext cx="46672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D8E3EC"/>
                </a:solidFill>
                <a:latin typeface="Calibri"/>
                <a:ea typeface="Calibri"/>
                <a:cs typeface="Calibri"/>
              </a:defRPr>
            </a:pPr>
            <a:r>
              <a:rPr sz="1725" b="0">
                <a:solidFill>
                  <a:srgbClr val="D8E3EC"/>
                </a:solidFill>
                <a:latin typeface="Calibri"/>
                <a:ea typeface="Calibri"/>
                <a:cs typeface="Calibri"/>
              </a:rPr>
              <a:t>Tuesday 29 September 2026</a:t>
            </a:r>
          </a:p>
          <a:p xmlns:a="http://schemas.openxmlformats.org/drawingml/2006/main">
            <a:pPr>
              <a:defRPr sz="1725" b="0">
                <a:solidFill>
                  <a:srgbClr val="D8E3EC"/>
                </a:solidFill>
                <a:latin typeface="Calibri"/>
                <a:ea typeface="Calibri"/>
                <a:cs typeface="Calibri"/>
              </a:defRPr>
            </a:pPr>
            <a:r>
              <a:rPr sz="1725" b="0">
                <a:solidFill>
                  <a:srgbClr val="D8E3EC"/>
                </a:solidFill>
                <a:latin typeface="Calibri"/>
                <a:ea typeface="Calibri"/>
                <a:cs typeface="Calibri"/>
              </a:rPr>
              <a:t>Tuesday 11:00–14:00, Room 106</a:t>
            </a:r>
          </a:p>
        </p:txBody>
      </p:sp>
    </p:spTree>
    <p:extLst>
      <p:ext uri="{BB962C8B-B14F-4D97-AF65-F5344CB8AC3E}">
        <p14:creationId xmlns:p14="http://schemas.microsoft.com/office/powerpoint/2010/main" val="868241765"/>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A5830A02-D3E0-4234-A582-AB37051147D7}"/>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8CE17D24-F397-4E44-AE41-FD2B4F7EC3C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TODAY’S DESTINATION</a:t>
            </a:r>
          </a:p>
        </p:txBody>
      </p:sp>
      <p:sp>
        <p:nvSpPr>
          <p:cNvPr id="3" name="">
            <a:extLst xmlns:a="http://schemas.openxmlformats.org/drawingml/2006/main">
              <a:ext uri="{FF2B5EF4-FFF2-40B4-BE49-F238E27FC236}">
                <a16:creationId xmlns:a16="http://schemas.microsoft.com/office/drawing/2014/main" id="{B0448301-CBBC-42A0-8771-BE72CB2739A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Today’s learning</a:t>
            </a:r>
          </a:p>
        </p:txBody>
      </p:sp>
      <p:sp>
        <p:nvSpPr>
          <p:cNvPr id="4" name="">
            <a:extLst xmlns:a="http://schemas.openxmlformats.org/drawingml/2006/main">
              <a:ext uri="{FF2B5EF4-FFF2-40B4-BE49-F238E27FC236}">
                <a16:creationId xmlns:a16="http://schemas.microsoft.com/office/drawing/2014/main" id="{405E13D3-0EAC-47E5-BA74-2CA2669B2C46}"/>
              </a:ext>
            </a:extLst>
          </p:cNvPr>
          <p:cNvSpPr>
            <a:spLocks xmlns:a="http://schemas.openxmlformats.org/drawingml/2006/main" noGrp="1"/>
          </p:cNvSpPr>
          <p:nvPr/>
        </p:nvSpPr>
        <p:spPr>
          <a:xfrm xmlns:a="http://schemas.openxmlformats.org/drawingml/2006/main">
            <a:off x="590550" y="1733550"/>
            <a:ext cx="523875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5DF7D20E-1ECB-4F48-A58E-21DA2EF940DC}"/>
              </a:ext>
            </a:extLst>
          </p:cNvPr>
          <p:cNvSpPr>
            <a:spLocks xmlns:a="http://schemas.openxmlformats.org/drawingml/2006/main" noGrp="1"/>
          </p:cNvSpPr>
          <p:nvPr/>
        </p:nvSpPr>
        <p:spPr>
          <a:xfrm xmlns:a="http://schemas.openxmlformats.org/drawingml/2006/main">
            <a:off x="828675" y="2000250"/>
            <a:ext cx="47434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1">
                <a:solidFill>
                  <a:srgbClr val="E4572E"/>
                </a:solidFill>
                <a:latin typeface="Calibri"/>
                <a:ea typeface="Calibri"/>
                <a:cs typeface="Calibri"/>
              </a:defRPr>
            </a:pPr>
            <a:r>
              <a:rPr sz="1650" b="1">
                <a:solidFill>
                  <a:srgbClr val="E4572E"/>
                </a:solidFill>
                <a:latin typeface="Calibri"/>
                <a:ea typeface="Calibri"/>
                <a:cs typeface="Calibri"/>
              </a:rPr>
              <a:t>WHAT WE WILL DO</a:t>
            </a:r>
          </a:p>
        </p:txBody>
      </p:sp>
      <p:sp>
        <p:nvSpPr>
          <p:cNvPr id="6" name="">
            <a:extLst xmlns:a="http://schemas.openxmlformats.org/drawingml/2006/main">
              <a:ext uri="{FF2B5EF4-FFF2-40B4-BE49-F238E27FC236}">
                <a16:creationId xmlns:a16="http://schemas.microsoft.com/office/drawing/2014/main" id="{A4528DE5-E133-4FCE-956D-6705243AFF7E}"/>
              </a:ext>
            </a:extLst>
          </p:cNvPr>
          <p:cNvSpPr>
            <a:spLocks xmlns:a="http://schemas.openxmlformats.org/drawingml/2006/main" noGrp="1"/>
          </p:cNvSpPr>
          <p:nvPr/>
        </p:nvSpPr>
        <p:spPr>
          <a:xfrm xmlns:a="http://schemas.openxmlformats.org/drawingml/2006/main">
            <a:off x="828675" y="2590800"/>
            <a:ext cx="4743450" cy="2952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Read lists and dictionary fields.</a:t>
            </a:r>
          </a:p>
          <a:p xmlns:a="http://schemas.openxmlformats.org/drawingml/2006/main">
            <a:r>
              <a:t/>
            </a:r>
          </a:p>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Trace a loop, read CSV rows and calculate summaries.</a:t>
            </a:r>
          </a:p>
        </p:txBody>
      </p:sp>
      <p:sp>
        <p:nvSpPr>
          <p:cNvPr id="7" name="">
            <a:extLst xmlns:a="http://schemas.openxmlformats.org/drawingml/2006/main">
              <a:ext uri="{FF2B5EF4-FFF2-40B4-BE49-F238E27FC236}">
                <a16:creationId xmlns:a16="http://schemas.microsoft.com/office/drawing/2014/main" id="{18439477-997A-4C34-81A5-3AA3F76415FC}"/>
              </a:ext>
            </a:extLst>
          </p:cNvPr>
          <p:cNvSpPr>
            <a:spLocks xmlns:a="http://schemas.openxmlformats.org/drawingml/2006/main" noGrp="1"/>
          </p:cNvSpPr>
          <p:nvPr/>
        </p:nvSpPr>
        <p:spPr>
          <a:xfrm xmlns:a="http://schemas.openxmlformats.org/drawingml/2006/main">
            <a:off x="6210300" y="2000250"/>
            <a:ext cx="5143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1">
                <a:solidFill>
                  <a:srgbClr val="2E7D6F"/>
                </a:solidFill>
                <a:latin typeface="Calibri"/>
                <a:ea typeface="Calibri"/>
                <a:cs typeface="Calibri"/>
              </a:defRPr>
            </a:pPr>
            <a:r>
              <a:rPr sz="1650" b="1">
                <a:solidFill>
                  <a:srgbClr val="2E7D6F"/>
                </a:solidFill>
                <a:latin typeface="Calibri"/>
                <a:ea typeface="Calibri"/>
                <a:cs typeface="Calibri"/>
              </a:rPr>
              <a:t>HOW YOU WILL SHOW IT</a:t>
            </a:r>
          </a:p>
        </p:txBody>
      </p:sp>
      <p:sp>
        <p:nvSpPr>
          <p:cNvPr id="8" name="">
            <a:extLst xmlns:a="http://schemas.openxmlformats.org/drawingml/2006/main">
              <a:ext uri="{FF2B5EF4-FFF2-40B4-BE49-F238E27FC236}">
                <a16:creationId xmlns:a16="http://schemas.microsoft.com/office/drawing/2014/main" id="{1BCAD9B6-C68C-417A-90BA-8F3649CAFB07}"/>
              </a:ext>
            </a:extLst>
          </p:cNvPr>
          <p:cNvSpPr>
            <a:spLocks xmlns:a="http://schemas.openxmlformats.org/drawingml/2006/main" noGrp="1"/>
          </p:cNvSpPr>
          <p:nvPr/>
        </p:nvSpPr>
        <p:spPr>
          <a:xfrm xmlns:a="http://schemas.openxmlformats.org/drawingml/2006/main">
            <a:off x="6210300" y="2590800"/>
            <a:ext cx="5095875" cy="2952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You can show how the total and count change for each record.</a:t>
            </a:r>
          </a:p>
        </p:txBody>
      </p:sp>
      <p:sp>
        <p:nvSpPr>
          <p:cNvPr id="9" name="">
            <a:extLst xmlns:a="http://schemas.openxmlformats.org/drawingml/2006/main">
              <a:ext uri="{FF2B5EF4-FFF2-40B4-BE49-F238E27FC236}">
                <a16:creationId xmlns:a16="http://schemas.microsoft.com/office/drawing/2014/main" id="{419B5E6C-E43A-41C5-987C-332B4987E0E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4   2</a:t>
            </a:r>
          </a:p>
        </p:txBody>
      </p:sp>
    </p:spTree>
    <p:extLst>
      <p:ext uri="{BB962C8B-B14F-4D97-AF65-F5344CB8AC3E}">
        <p14:creationId xmlns:p14="http://schemas.microsoft.com/office/powerpoint/2010/main" val="1128822358"/>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7ABC4E7B-C58F-4C14-B8CD-BD890C17B227}"/>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A7E6E501-AF8D-4212-B7EC-8995AFAD39D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650AB42B-D64E-4205-B131-952761BE8FC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Connection to the previous lesson</a:t>
            </a:r>
          </a:p>
        </p:txBody>
      </p:sp>
      <p:sp>
        <p:nvSpPr>
          <p:cNvPr id="4" name="">
            <a:extLst xmlns:a="http://schemas.openxmlformats.org/drawingml/2006/main">
              <a:ext uri="{FF2B5EF4-FFF2-40B4-BE49-F238E27FC236}">
                <a16:creationId xmlns:a16="http://schemas.microsoft.com/office/drawing/2014/main" id="{893C879F-461A-481E-97AA-351481F21672}"/>
              </a:ext>
            </a:extLst>
          </p:cNvPr>
          <p:cNvSpPr>
            <a:spLocks xmlns:a="http://schemas.openxmlformats.org/drawingml/2006/main" noGrp="1"/>
          </p:cNvSpPr>
          <p:nvPr/>
        </p:nvSpPr>
        <p:spPr>
          <a:xfrm xmlns:a="http://schemas.openxmlformats.org/drawingml/2006/main">
            <a:off x="590550" y="1752600"/>
            <a:ext cx="4476750" cy="4200525"/>
          </a:xfrm>
          <a:prstGeom xmlns:a="http://schemas.openxmlformats.org/drawingml/2006/main" prst="rect">
            <a:avLst/>
          </a:prstGeom>
          <a:solidFill xmlns:a="http://schemas.openxmlformats.org/drawingml/2006/main">
            <a:srgbClr val="2E7D6F"/>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962A82C9-7690-4358-8B00-A7EB561A29CF}"/>
              </a:ext>
            </a:extLst>
          </p:cNvPr>
          <p:cNvSpPr>
            <a:spLocks xmlns:a="http://schemas.openxmlformats.org/drawingml/2006/main" noGrp="1"/>
          </p:cNvSpPr>
          <p:nvPr/>
        </p:nvSpPr>
        <p:spPr>
          <a:xfrm xmlns:a="http://schemas.openxmlformats.org/drawingml/2006/main">
            <a:off x="866775" y="2124075"/>
            <a:ext cx="3905250" cy="3419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Week 3 introduced values, function inputs and results, conditions and list positions.</a:t>
            </a:r>
          </a:p>
        </p:txBody>
      </p:sp>
      <p:sp>
        <p:nvSpPr>
          <p:cNvPr id="6" name="">
            <a:extLst xmlns:a="http://schemas.openxmlformats.org/drawingml/2006/main">
              <a:ext uri="{FF2B5EF4-FFF2-40B4-BE49-F238E27FC236}">
                <a16:creationId xmlns:a16="http://schemas.microsoft.com/office/drawing/2014/main" id="{99E4FC20-0DDD-4D68-8B28-2AFDD1290A9F}"/>
              </a:ext>
            </a:extLst>
          </p:cNvPr>
          <p:cNvSpPr>
            <a:spLocks xmlns:a="http://schemas.openxmlformats.org/drawingml/2006/main" noGrp="1"/>
          </p:cNvSpPr>
          <p:nvPr/>
        </p:nvSpPr>
        <p:spPr>
          <a:xfrm xmlns:a="http://schemas.openxmlformats.org/drawingml/2006/main">
            <a:off x="5534025" y="2000250"/>
            <a:ext cx="5905500" cy="3876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Now we repeat a calculation across records, then organise those records by keys.</a:t>
            </a:r>
          </a:p>
        </p:txBody>
      </p:sp>
      <p:sp>
        <p:nvSpPr>
          <p:cNvPr id="7" name="">
            <a:extLst xmlns:a="http://schemas.openxmlformats.org/drawingml/2006/main">
              <a:ext uri="{FF2B5EF4-FFF2-40B4-BE49-F238E27FC236}">
                <a16:creationId xmlns:a16="http://schemas.microsoft.com/office/drawing/2014/main" id="{03E82EB6-5D39-420C-81C2-30CFDD5B38C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4   3</a:t>
            </a:r>
          </a:p>
        </p:txBody>
      </p:sp>
    </p:spTree>
    <p:extLst>
      <p:ext uri="{BB962C8B-B14F-4D97-AF65-F5344CB8AC3E}">
        <p14:creationId xmlns:p14="http://schemas.microsoft.com/office/powerpoint/2010/main" val="1460636750"/>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B17F3EE7-F77D-4161-A0D2-DF98669393B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91826006-3D09-472D-8E87-D9579C683B2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0A9C3E51-B12E-42E2-99BD-56FA0E90F0D5}"/>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Why this week’s tools are needed</a:t>
            </a:r>
          </a:p>
        </p:txBody>
      </p:sp>
      <p:sp>
        <p:nvSpPr>
          <p:cNvPr id="4" name="">
            <a:extLst xmlns:a="http://schemas.openxmlformats.org/drawingml/2006/main">
              <a:ext uri="{FF2B5EF4-FFF2-40B4-BE49-F238E27FC236}">
                <a16:creationId xmlns:a16="http://schemas.microsoft.com/office/drawing/2014/main" id="{A20F2144-539D-4A18-8D2B-9D17EC3A8562}"/>
              </a:ext>
            </a:extLst>
          </p:cNvPr>
          <p:cNvSpPr>
            <a:spLocks xmlns:a="http://schemas.openxmlformats.org/drawingml/2006/main" noGrp="1"/>
          </p:cNvSpPr>
          <p:nvPr/>
        </p:nvSpPr>
        <p:spPr>
          <a:xfrm xmlns:a="http://schemas.openxmlformats.org/drawingml/2006/main">
            <a:off x="590550" y="1752600"/>
            <a:ext cx="4476750" cy="4200525"/>
          </a:xfrm>
          <a:prstGeom xmlns:a="http://schemas.openxmlformats.org/drawingml/2006/main" prst="rect">
            <a:avLst/>
          </a:prstGeom>
          <a:solidFill xmlns:a="http://schemas.openxmlformats.org/drawingml/2006/main">
            <a:srgbClr val="2E7D6F"/>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BE3DEF3E-C8B7-41F7-A6B3-3C9CD3F746DD}"/>
              </a:ext>
            </a:extLst>
          </p:cNvPr>
          <p:cNvSpPr>
            <a:spLocks xmlns:a="http://schemas.openxmlformats.org/drawingml/2006/main" noGrp="1"/>
          </p:cNvSpPr>
          <p:nvPr/>
        </p:nvSpPr>
        <p:spPr>
          <a:xfrm xmlns:a="http://schemas.openxmlformats.org/drawingml/2006/main">
            <a:off x="866775" y="2124075"/>
            <a:ext cx="3905250" cy="3419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Sensor readings arrive as records in a CSV file.</a:t>
            </a:r>
          </a:p>
        </p:txBody>
      </p:sp>
      <p:sp>
        <p:nvSpPr>
          <p:cNvPr id="6" name="">
            <a:extLst xmlns:a="http://schemas.openxmlformats.org/drawingml/2006/main">
              <a:ext uri="{FF2B5EF4-FFF2-40B4-BE49-F238E27FC236}">
                <a16:creationId xmlns:a16="http://schemas.microsoft.com/office/drawing/2014/main" id="{200C124B-3134-4A00-BFA3-8943FB7D76AB}"/>
              </a:ext>
            </a:extLst>
          </p:cNvPr>
          <p:cNvSpPr>
            <a:spLocks xmlns:a="http://schemas.openxmlformats.org/drawingml/2006/main" noGrp="1"/>
          </p:cNvSpPr>
          <p:nvPr/>
        </p:nvSpPr>
        <p:spPr>
          <a:xfrm xmlns:a="http://schemas.openxmlformats.org/drawingml/2006/main">
            <a:off x="5534025" y="2000250"/>
            <a:ext cx="5905500" cy="3876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We first learn the Python collections and loops needed to read those records and summarise them.</a:t>
            </a:r>
          </a:p>
        </p:txBody>
      </p:sp>
      <p:sp>
        <p:nvSpPr>
          <p:cNvPr id="7" name="">
            <a:extLst xmlns:a="http://schemas.openxmlformats.org/drawingml/2006/main">
              <a:ext uri="{FF2B5EF4-FFF2-40B4-BE49-F238E27FC236}">
                <a16:creationId xmlns:a16="http://schemas.microsoft.com/office/drawing/2014/main" id="{998F231F-808F-4C94-AD9D-9DAADA94D80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4   4</a:t>
            </a:r>
          </a:p>
        </p:txBody>
      </p:sp>
    </p:spTree>
    <p:extLst>
      <p:ext uri="{BB962C8B-B14F-4D97-AF65-F5344CB8AC3E}">
        <p14:creationId xmlns:p14="http://schemas.microsoft.com/office/powerpoint/2010/main" val="1575849874"/>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6B267693-ADC8-4372-879E-5C2854978CA4}"/>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D4ABD307-BE90-4111-95C2-60E860A09387}"/>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35B1F966-E7F8-4F92-AE65-E7EBCC757FB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List and index</a:t>
            </a:r>
          </a:p>
        </p:txBody>
      </p:sp>
      <p:sp>
        <p:nvSpPr>
          <p:cNvPr id="4" name="">
            <a:extLst xmlns:a="http://schemas.openxmlformats.org/drawingml/2006/main">
              <a:ext uri="{FF2B5EF4-FFF2-40B4-BE49-F238E27FC236}">
                <a16:creationId xmlns:a16="http://schemas.microsoft.com/office/drawing/2014/main" id="{4D67F5E2-F9B7-4950-8004-C19B68AF2DF3}"/>
              </a:ext>
            </a:extLst>
          </p:cNvPr>
          <p:cNvSpPr>
            <a:spLocks xmlns:a="http://schemas.openxmlformats.org/drawingml/2006/main" noGrp="1"/>
          </p:cNvSpPr>
          <p:nvPr/>
        </p:nvSpPr>
        <p:spPr>
          <a:xfrm xmlns:a="http://schemas.openxmlformats.org/drawingml/2006/main">
            <a:off x="590550" y="1714500"/>
            <a:ext cx="110109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FDA26EC9-53D1-4C78-8B76-9F0B8137B60B}"/>
              </a:ext>
            </a:extLst>
          </p:cNvPr>
          <p:cNvSpPr>
            <a:spLocks xmlns:a="http://schemas.openxmlformats.org/drawingml/2006/main" noGrp="1"/>
          </p:cNvSpPr>
          <p:nvPr/>
        </p:nvSpPr>
        <p:spPr>
          <a:xfrm xmlns:a="http://schemas.openxmlformats.org/drawingml/2006/main">
            <a:off x="828675" y="1952625"/>
            <a:ext cx="104394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E4572E"/>
                </a:solidFill>
                <a:latin typeface="Calibri"/>
                <a:ea typeface="Calibri"/>
                <a:cs typeface="Calibri"/>
              </a:defRPr>
            </a:pPr>
            <a:r>
              <a:rPr sz="3150" b="1">
                <a:solidFill>
                  <a:srgbClr val="E4572E"/>
                </a:solidFill>
                <a:latin typeface="Calibri"/>
                <a:ea typeface="Calibri"/>
                <a:cs typeface="Calibri"/>
              </a:rPr>
              <a:t>List and index</a:t>
            </a:r>
          </a:p>
        </p:txBody>
      </p:sp>
      <p:sp>
        <p:nvSpPr>
          <p:cNvPr id="6" name="">
            <a:extLst xmlns:a="http://schemas.openxmlformats.org/drawingml/2006/main">
              <a:ext uri="{FF2B5EF4-FFF2-40B4-BE49-F238E27FC236}">
                <a16:creationId xmlns:a16="http://schemas.microsoft.com/office/drawing/2014/main" id="{74802F7A-6B5E-4283-B7D0-599BD80964C3}"/>
              </a:ext>
            </a:extLst>
          </p:cNvPr>
          <p:cNvSpPr>
            <a:spLocks xmlns:a="http://schemas.openxmlformats.org/drawingml/2006/main" noGrp="1"/>
          </p:cNvSpPr>
          <p:nvPr/>
        </p:nvSpPr>
        <p:spPr>
          <a:xfrm xmlns:a="http://schemas.openxmlformats.org/drawingml/2006/main">
            <a:off x="828675" y="3067050"/>
            <a:ext cx="10439400"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0">
                <a:solidFill>
                  <a:srgbClr val="1C3144"/>
                </a:solidFill>
                <a:latin typeface="Calibri"/>
                <a:ea typeface="Calibri"/>
                <a:cs typeface="Calibri"/>
              </a:defRPr>
            </a:pPr>
            <a:r>
              <a:rPr sz="2550" b="0">
                <a:solidFill>
                  <a:srgbClr val="1C3144"/>
                </a:solidFill>
                <a:latin typeface="Calibri"/>
                <a:ea typeface="Calibri"/>
                <a:cs typeface="Calibri"/>
              </a:rPr>
              <a:t>A list holds values in order: [2, 4, 6]. Square brackets select a position. readings[0] selects the first item, 2.</a:t>
            </a:r>
          </a:p>
        </p:txBody>
      </p:sp>
      <p:sp>
        <p:nvSpPr>
          <p:cNvPr id="7" name="">
            <a:extLst xmlns:a="http://schemas.openxmlformats.org/drawingml/2006/main">
              <a:ext uri="{FF2B5EF4-FFF2-40B4-BE49-F238E27FC236}">
                <a16:creationId xmlns:a16="http://schemas.microsoft.com/office/drawing/2014/main" id="{914992FF-80C2-404E-BCBD-95F2038A2FA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4   5</a:t>
            </a:r>
          </a:p>
        </p:txBody>
      </p:sp>
    </p:spTree>
    <p:extLst>
      <p:ext uri="{BB962C8B-B14F-4D97-AF65-F5344CB8AC3E}">
        <p14:creationId xmlns:p14="http://schemas.microsoft.com/office/powerpoint/2010/main" val="547788116"/>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CF20ABB3-9F1B-4078-8AC2-694B84C86E5C}"/>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7CF36F11-B396-45A6-99C3-B571AD55D08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3D59F53B-3F61-4914-BCBF-20D5869E112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list position starts at zero</a:t>
            </a:r>
          </a:p>
        </p:txBody>
      </p:sp>
      <p:sp>
        <p:nvSpPr>
          <p:cNvPr id="4" name="">
            <a:extLst xmlns:a="http://schemas.openxmlformats.org/drawingml/2006/main">
              <a:ext uri="{FF2B5EF4-FFF2-40B4-BE49-F238E27FC236}">
                <a16:creationId xmlns:a16="http://schemas.microsoft.com/office/drawing/2014/main" id="{B94F3D53-12DD-41E5-A229-F1BAD1495D2D}"/>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4A8DDBE6-1CC2-403C-879B-A97DFB5FD666}"/>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In [2, 4, 6], position 0 holds 2.</a:t>
            </a:r>
          </a:p>
        </p:txBody>
      </p:sp>
      <p:sp>
        <p:nvSpPr>
          <p:cNvPr id="6" name="">
            <a:extLst xmlns:a="http://schemas.openxmlformats.org/drawingml/2006/main">
              <a:ext uri="{FF2B5EF4-FFF2-40B4-BE49-F238E27FC236}">
                <a16:creationId xmlns:a16="http://schemas.microsoft.com/office/drawing/2014/main" id="{DED2862C-A3A1-4C0E-9309-CC25C837D7E9}"/>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D3ED21EA-13BA-462F-9B23-5314C5135CFE}"/>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Position 1 holds 4. Position 2 holds 6.</a:t>
            </a:r>
          </a:p>
        </p:txBody>
      </p:sp>
      <p:sp>
        <p:nvSpPr>
          <p:cNvPr id="8" name="">
            <a:extLst xmlns:a="http://schemas.openxmlformats.org/drawingml/2006/main">
              <a:ext uri="{FF2B5EF4-FFF2-40B4-BE49-F238E27FC236}">
                <a16:creationId xmlns:a16="http://schemas.microsoft.com/office/drawing/2014/main" id="{9541A1E6-A941-432F-BE85-4161970AE709}"/>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10624C5D-C294-470F-809A-249ADE4E6D3C}"/>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There is no position 3 in this three-item list.</a:t>
            </a:r>
          </a:p>
        </p:txBody>
      </p:sp>
      <p:sp>
        <p:nvSpPr>
          <p:cNvPr id="10" name="">
            <a:extLst xmlns:a="http://schemas.openxmlformats.org/drawingml/2006/main">
              <a:ext uri="{FF2B5EF4-FFF2-40B4-BE49-F238E27FC236}">
                <a16:creationId xmlns:a16="http://schemas.microsoft.com/office/drawing/2014/main" id="{48A93787-22FB-426B-A062-C233A82DE7D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4   6</a:t>
            </a:r>
          </a:p>
        </p:txBody>
      </p:sp>
    </p:spTree>
    <p:extLst>
      <p:ext uri="{BB962C8B-B14F-4D97-AF65-F5344CB8AC3E}">
        <p14:creationId xmlns:p14="http://schemas.microsoft.com/office/powerpoint/2010/main" val="2028199946"/>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1B1D0AE5-D285-4DB8-A6F3-58FB9DF6C929}"/>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A530FDE7-B07B-48A7-9B7D-ABD9DDEF17B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180E3878-1074-4828-9EF6-130980A377D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Read list operations</a:t>
            </a:r>
          </a:p>
        </p:txBody>
      </p:sp>
      <p:sp>
        <p:nvSpPr>
          <p:cNvPr id="4" name="">
            <a:extLst xmlns:a="http://schemas.openxmlformats.org/drawingml/2006/main">
              <a:ext uri="{FF2B5EF4-FFF2-40B4-BE49-F238E27FC236}">
                <a16:creationId xmlns:a16="http://schemas.microsoft.com/office/drawing/2014/main" id="{124EA27E-E646-4F9A-A267-7AE5ADA45281}"/>
              </a:ext>
            </a:extLst>
          </p:cNvPr>
          <p:cNvSpPr>
            <a:spLocks xmlns:a="http://schemas.openxmlformats.org/drawingml/2006/main" noGrp="1"/>
          </p:cNvSpPr>
          <p:nvPr/>
        </p:nvSpPr>
        <p:spPr>
          <a:xfrm xmlns:a="http://schemas.openxmlformats.org/drawingml/2006/main">
            <a:off x="590550" y="1714500"/>
            <a:ext cx="53340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CFE56F3E-BA10-4195-8789-38B35BB8B48A}"/>
              </a:ext>
            </a:extLst>
          </p:cNvPr>
          <p:cNvSpPr>
            <a:spLocks xmlns:a="http://schemas.openxmlformats.org/drawingml/2006/main" noGrp="1"/>
          </p:cNvSpPr>
          <p:nvPr/>
        </p:nvSpPr>
        <p:spPr>
          <a:xfrm xmlns:a="http://schemas.openxmlformats.org/drawingml/2006/main">
            <a:off x="82867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E4572E"/>
                </a:solidFill>
                <a:latin typeface="Calibri"/>
                <a:ea typeface="Calibri"/>
                <a:cs typeface="Calibri"/>
              </a:defRPr>
            </a:pPr>
            <a:r>
              <a:rPr sz="2625" b="1">
                <a:solidFill>
                  <a:srgbClr val="E4572E"/>
                </a:solidFill>
                <a:latin typeface="Calibri"/>
                <a:ea typeface="Calibri"/>
                <a:cs typeface="Calibri"/>
              </a:rPr>
              <a:t>append and len</a:t>
            </a:r>
          </a:p>
        </p:txBody>
      </p:sp>
      <p:sp>
        <p:nvSpPr>
          <p:cNvPr id="6" name="">
            <a:extLst xmlns:a="http://schemas.openxmlformats.org/drawingml/2006/main">
              <a:ext uri="{FF2B5EF4-FFF2-40B4-BE49-F238E27FC236}">
                <a16:creationId xmlns:a16="http://schemas.microsoft.com/office/drawing/2014/main" id="{4AC42FDB-030D-4032-BFF1-68E63AA0C134}"/>
              </a:ext>
            </a:extLst>
          </p:cNvPr>
          <p:cNvSpPr>
            <a:spLocks xmlns:a="http://schemas.openxmlformats.org/drawingml/2006/main" noGrp="1"/>
          </p:cNvSpPr>
          <p:nvPr/>
        </p:nvSpPr>
        <p:spPr>
          <a:xfrm xmlns:a="http://schemas.openxmlformats.org/drawingml/2006/main">
            <a:off x="82867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readings.append(8) adds 8 to the end of the list. len(readings) counts its items. The dot selects an operation belonging to that object; parentheses call it.</a:t>
            </a:r>
          </a:p>
        </p:txBody>
      </p:sp>
      <p:sp>
        <p:nvSpPr>
          <p:cNvPr id="7" name="">
            <a:extLst xmlns:a="http://schemas.openxmlformats.org/drawingml/2006/main">
              <a:ext uri="{FF2B5EF4-FFF2-40B4-BE49-F238E27FC236}">
                <a16:creationId xmlns:a16="http://schemas.microsoft.com/office/drawing/2014/main" id="{B46134A9-CC4B-4FF7-B86F-CE017AAB08FB}"/>
              </a:ext>
            </a:extLst>
          </p:cNvPr>
          <p:cNvSpPr>
            <a:spLocks xmlns:a="http://schemas.openxmlformats.org/drawingml/2006/main" noGrp="1"/>
          </p:cNvSpPr>
          <p:nvPr/>
        </p:nvSpPr>
        <p:spPr>
          <a:xfrm xmlns:a="http://schemas.openxmlformats.org/drawingml/2006/main">
            <a:off x="6210300" y="1714500"/>
            <a:ext cx="5334000" cy="419100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D81F8240-6F06-4FD9-A3D1-6599D121CF67}"/>
              </a:ext>
            </a:extLst>
          </p:cNvPr>
          <p:cNvSpPr>
            <a:spLocks xmlns:a="http://schemas.openxmlformats.org/drawingml/2006/main" noGrp="1"/>
          </p:cNvSpPr>
          <p:nvPr/>
        </p:nvSpPr>
        <p:spPr>
          <a:xfrm xmlns:a="http://schemas.openxmlformats.org/drawingml/2006/main">
            <a:off x="644842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2E7D6F"/>
                </a:solidFill>
                <a:latin typeface="Calibri"/>
                <a:ea typeface="Calibri"/>
                <a:cs typeface="Calibri"/>
              </a:defRPr>
            </a:pPr>
            <a:r>
              <a:rPr sz="2625" b="1">
                <a:solidFill>
                  <a:srgbClr val="2E7D6F"/>
                </a:solidFill>
                <a:latin typeface="Calibri"/>
                <a:ea typeface="Calibri"/>
                <a:cs typeface="Calibri"/>
              </a:rPr>
              <a:t>Slice</a:t>
            </a:r>
          </a:p>
        </p:txBody>
      </p:sp>
      <p:sp>
        <p:nvSpPr>
          <p:cNvPr id="9" name="">
            <a:extLst xmlns:a="http://schemas.openxmlformats.org/drawingml/2006/main">
              <a:ext uri="{FF2B5EF4-FFF2-40B4-BE49-F238E27FC236}">
                <a16:creationId xmlns:a16="http://schemas.microsoft.com/office/drawing/2014/main" id="{FB18FD04-9F0F-449B-894B-EB9D97B0F2FB}"/>
              </a:ext>
            </a:extLst>
          </p:cNvPr>
          <p:cNvSpPr>
            <a:spLocks xmlns:a="http://schemas.openxmlformats.org/drawingml/2006/main" noGrp="1"/>
          </p:cNvSpPr>
          <p:nvPr/>
        </p:nvSpPr>
        <p:spPr>
          <a:xfrm xmlns:a="http://schemas.openxmlformats.org/drawingml/2006/main">
            <a:off x="644842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readings[1:3] selects positions 1 and 2. The stop position 3 is excluded. A slice produces a new list; it does not remove items from the original.</a:t>
            </a:r>
          </a:p>
        </p:txBody>
      </p:sp>
      <p:sp>
        <p:nvSpPr>
          <p:cNvPr id="10" name="">
            <a:extLst xmlns:a="http://schemas.openxmlformats.org/drawingml/2006/main">
              <a:ext uri="{FF2B5EF4-FFF2-40B4-BE49-F238E27FC236}">
                <a16:creationId xmlns:a16="http://schemas.microsoft.com/office/drawing/2014/main" id="{798E1860-17CE-4C86-92D3-5697E28248C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4   7</a:t>
            </a:r>
          </a:p>
        </p:txBody>
      </p:sp>
    </p:spTree>
    <p:extLst>
      <p:ext uri="{BB962C8B-B14F-4D97-AF65-F5344CB8AC3E}">
        <p14:creationId xmlns:p14="http://schemas.microsoft.com/office/powerpoint/2010/main" val="1191471677"/>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AB028049-23C1-4531-927F-79AB400ED2D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C3DD393C-0F94-4D1D-8087-DF5F8FB2C53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3D2D3684-204D-4D15-BFF1-9474EFC18C5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list stores items in order</a:t>
            </a:r>
          </a:p>
        </p:txBody>
      </p:sp>
      <p:sp>
        <p:nvSpPr>
          <p:cNvPr id="4" name="">
            <a:extLst xmlns:a="http://schemas.openxmlformats.org/drawingml/2006/main">
              <a:ext uri="{FF2B5EF4-FFF2-40B4-BE49-F238E27FC236}">
                <a16:creationId xmlns:a16="http://schemas.microsoft.com/office/drawing/2014/main" id="{247D8CCB-859D-4C79-B296-DF0136888295}"/>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C3C0A416-F930-4277-9D1A-3F54EB6D8F4E}"/>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readings = [2, 4, 6]</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print(readings[0])</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readings.append(8)</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print(len(readings))</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print(readings[1:3])</a:t>
            </a:r>
          </a:p>
        </p:txBody>
      </p:sp>
      <p:sp>
        <p:nvSpPr>
          <p:cNvPr id="6" name="">
            <a:extLst xmlns:a="http://schemas.openxmlformats.org/drawingml/2006/main">
              <a:ext uri="{FF2B5EF4-FFF2-40B4-BE49-F238E27FC236}">
                <a16:creationId xmlns:a16="http://schemas.microsoft.com/office/drawing/2014/main" id="{1515C76A-7758-47BF-8E94-3B52B7781700}"/>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8EE07F93-A632-48DB-A23A-0CE777271A35}"/>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print displays a value below the cell.</a:t>
            </a:r>
          </a:p>
        </p:txBody>
      </p:sp>
      <p:sp>
        <p:nvSpPr>
          <p:cNvPr id="8" name="">
            <a:extLst xmlns:a="http://schemas.openxmlformats.org/drawingml/2006/main">
              <a:ext uri="{FF2B5EF4-FFF2-40B4-BE49-F238E27FC236}">
                <a16:creationId xmlns:a16="http://schemas.microsoft.com/office/drawing/2014/main" id="{1A0A4DEC-7392-423B-BA64-55EBD8324E69}"/>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append adds one item to the end of a list.</a:t>
            </a:r>
          </a:p>
        </p:txBody>
      </p:sp>
      <p:sp>
        <p:nvSpPr>
          <p:cNvPr id="9" name="">
            <a:extLst xmlns:a="http://schemas.openxmlformats.org/drawingml/2006/main">
              <a:ext uri="{FF2B5EF4-FFF2-40B4-BE49-F238E27FC236}">
                <a16:creationId xmlns:a16="http://schemas.microsoft.com/office/drawing/2014/main" id="{0B7AEA45-414C-48D2-848A-69FC56C0E46B}"/>
              </a:ext>
            </a:extLst>
          </p:cNvPr>
          <p:cNvSpPr>
            <a:spLocks xmlns:a="http://schemas.openxmlformats.org/drawingml/2006/main" noGrp="1"/>
          </p:cNvSpPr>
          <p:nvPr/>
        </p:nvSpPr>
        <p:spPr>
          <a:xfrm xmlns:a="http://schemas.openxmlformats.org/drawingml/2006/main">
            <a:off x="8096250" y="43434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Square brackets create a list or select an item.</a:t>
            </a:r>
          </a:p>
        </p:txBody>
      </p:sp>
      <p:sp>
        <p:nvSpPr>
          <p:cNvPr id="10" name="">
            <a:extLst xmlns:a="http://schemas.openxmlformats.org/drawingml/2006/main">
              <a:ext uri="{FF2B5EF4-FFF2-40B4-BE49-F238E27FC236}">
                <a16:creationId xmlns:a16="http://schemas.microsoft.com/office/drawing/2014/main" id="{592B156C-EBCE-4EC2-83CA-AE564B3810B3}"/>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 builds a list. Positions start at zero. The slice stops before position 3.</a:t>
            </a:r>
          </a:p>
        </p:txBody>
      </p:sp>
      <p:sp>
        <p:nvSpPr>
          <p:cNvPr id="11" name="">
            <a:extLst xmlns:a="http://schemas.openxmlformats.org/drawingml/2006/main">
              <a:ext uri="{FF2B5EF4-FFF2-40B4-BE49-F238E27FC236}">
                <a16:creationId xmlns:a16="http://schemas.microsoft.com/office/drawing/2014/main" id="{E9466756-3BCB-4509-8597-1EBF3615835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4   8</a:t>
            </a:r>
          </a:p>
        </p:txBody>
      </p:sp>
    </p:spTree>
    <p:extLst>
      <p:ext uri="{BB962C8B-B14F-4D97-AF65-F5344CB8AC3E}">
        <p14:creationId xmlns:p14="http://schemas.microsoft.com/office/powerpoint/2010/main" val="312277594"/>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5872FDE8-90BA-49DC-BDE1-0F6A15FE6DC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CD9B10B9-7588-462B-8F05-07B272CCEAC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READ THE EXAMPLE</a:t>
            </a:r>
          </a:p>
        </p:txBody>
      </p:sp>
      <p:sp>
        <p:nvSpPr>
          <p:cNvPr id="3" name="">
            <a:extLst xmlns:a="http://schemas.openxmlformats.org/drawingml/2006/main">
              <a:ext uri="{FF2B5EF4-FFF2-40B4-BE49-F238E27FC236}">
                <a16:creationId xmlns:a16="http://schemas.microsoft.com/office/drawing/2014/main" id="{AADBC37D-E208-405F-9496-2340674D4EA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Trace the list changes</a:t>
            </a:r>
          </a:p>
        </p:txBody>
      </p:sp>
      <p:graphicFrame>
        <p:nvGraphicFramePr>
          <p:cNvPr id="10" name=""/>
          <p:cNvGraphicFramePr/>
          <p:nvPr/>
        </p:nvGraphicFramePr>
        <p:xfrm>
          <a:off xmlns:a="http://schemas.openxmlformats.org/drawingml/2006/main" x="590550" y="1733550"/>
          <a:ext xmlns:a="http://schemas.openxmlformats.org/drawingml/2006/main" cx="11010900" cy="3333750"/>
        </p:xfrm>
        <a:graphic xmlns:a="http://schemas.openxmlformats.org/drawingml/2006/main">
          <a:graphicData uri="http://schemas.openxmlformats.org/drawingml/2006/table">
            <a:tbl>
              <a:tblPr/>
              <a:tblGrid>
                <a:gridCol w="3670300"/>
                <a:gridCol w="3670300"/>
                <a:gridCol w="3670300"/>
              </a:tblGrid>
              <a:tr h="666750">
                <a:tc>
                  <a:txBody>
                    <a:bodyPr/>
                    <a:lstStyle/>
                    <a:p>
                      <a:r>
                        <a:rPr sz="2025" b="1">
                          <a:solidFill>
                            <a:srgbClr val="FFFFFF"/>
                          </a:solidFill>
                          <a:latin typeface="Calibri"/>
                          <a:ea typeface="Calibri"/>
                          <a:cs typeface="Calibri"/>
                        </a:rPr>
                        <a:t>Instruction</a:t>
                      </a:r>
                    </a:p>
                  </a:txBody>
                  <a:tcPr marL="91440" marR="91440" marT="45720" marB="45720">
                    <a:solidFill>
                      <a:srgbClr val="2E7D6F"/>
                    </a:solidFill>
                  </a:tcPr>
                </a:tc>
                <a:tc>
                  <a:txBody>
                    <a:bodyPr/>
                    <a:lstStyle/>
                    <a:p>
                      <a:r>
                        <a:rPr sz="2025" b="1">
                          <a:solidFill>
                            <a:srgbClr val="FFFFFF"/>
                          </a:solidFill>
                          <a:latin typeface="Calibri"/>
                          <a:ea typeface="Calibri"/>
                          <a:cs typeface="Calibri"/>
                        </a:rPr>
                        <a:t>List afterwards</a:t>
                      </a:r>
                    </a:p>
                  </a:txBody>
                  <a:tcPr marL="91440" marR="91440" marT="45720" marB="45720">
                    <a:solidFill>
                      <a:srgbClr val="2E7D6F"/>
                    </a:solidFill>
                  </a:tcPr>
                </a:tc>
                <a:tc>
                  <a:txBody>
                    <a:bodyPr/>
                    <a:lstStyle/>
                    <a:p>
                      <a:r>
                        <a:rPr sz="2025" b="1">
                          <a:solidFill>
                            <a:srgbClr val="FFFFFF"/>
                          </a:solidFill>
                          <a:latin typeface="Calibri"/>
                          <a:ea typeface="Calibri"/>
                          <a:cs typeface="Calibri"/>
                        </a:rPr>
                        <a:t>Displayed output</a:t>
                      </a:r>
                    </a:p>
                  </a:txBody>
                  <a:tcPr marL="91440" marR="91440" marT="45720" marB="45720">
                    <a:solidFill>
                      <a:srgbClr val="2E7D6F"/>
                    </a:solidFill>
                  </a:tcPr>
                </a:tc>
              </a:tr>
              <a:tr h="666750">
                <a:tc>
                  <a:txBody>
                    <a:bodyPr/>
                    <a:lstStyle/>
                    <a:p>
                      <a:r>
                        <a:rPr sz="2025" b="0">
                          <a:solidFill>
                            <a:srgbClr val="1C3144"/>
                          </a:solidFill>
                          <a:latin typeface="Calibri"/>
                          <a:ea typeface="Calibri"/>
                          <a:cs typeface="Calibri"/>
                        </a:rPr>
                        <a:t>readings = [2, 4, 6]</a:t>
                      </a:r>
                    </a:p>
                  </a:txBody>
                  <a:tcPr marL="91440" marR="91440" marT="45720" marB="45720">
                    <a:solidFill>
                      <a:srgbClr val="EEF3F6"/>
                    </a:solidFill>
                  </a:tcPr>
                </a:tc>
                <a:tc>
                  <a:txBody>
                    <a:bodyPr/>
                    <a:lstStyle/>
                    <a:p>
                      <a:r>
                        <a:rPr sz="2025" b="0">
                          <a:solidFill>
                            <a:srgbClr val="1C3144"/>
                          </a:solidFill>
                          <a:latin typeface="Calibri"/>
                          <a:ea typeface="Calibri"/>
                          <a:cs typeface="Calibri"/>
                        </a:rPr>
                        <a:t>[2, 4, 6]</a:t>
                      </a:r>
                    </a:p>
                  </a:txBody>
                  <a:tcPr marL="91440" marR="91440" marT="45720" marB="45720">
                    <a:solidFill>
                      <a:srgbClr val="EEF3F6"/>
                    </a:solidFill>
                  </a:tcPr>
                </a:tc>
                <a:tc>
                  <a:txBody>
                    <a:bodyPr/>
                    <a:lstStyle/>
                    <a:p>
                      <a:r>
                        <a:rPr sz="2025" b="0">
                          <a:solidFill>
                            <a:srgbClr val="1C3144"/>
                          </a:solidFill>
                          <a:latin typeface="Calibri"/>
                          <a:ea typeface="Calibri"/>
                          <a:cs typeface="Calibri"/>
                        </a:rPr>
                        <a:t>Nothing yet</a:t>
                      </a:r>
                    </a:p>
                  </a:txBody>
                  <a:tcPr marL="91440" marR="91440" marT="45720" marB="45720">
                    <a:solidFill>
                      <a:srgbClr val="EEF3F6"/>
                    </a:solidFill>
                  </a:tcPr>
                </a:tc>
              </a:tr>
              <a:tr h="666750">
                <a:tc>
                  <a:txBody>
                    <a:bodyPr/>
                    <a:lstStyle/>
                    <a:p>
                      <a:r>
                        <a:rPr sz="2025" b="0">
                          <a:solidFill>
                            <a:srgbClr val="1C3144"/>
                          </a:solidFill>
                          <a:latin typeface="Calibri"/>
                          <a:ea typeface="Calibri"/>
                          <a:cs typeface="Calibri"/>
                        </a:rPr>
                        <a:t>print(readings[0])</a:t>
                      </a:r>
                    </a:p>
                  </a:txBody>
                  <a:tcPr marL="91440" marR="91440" marT="45720" marB="45720">
                    <a:solidFill>
                      <a:srgbClr val="FFFFFF"/>
                    </a:solidFill>
                  </a:tcPr>
                </a:tc>
                <a:tc>
                  <a:txBody>
                    <a:bodyPr/>
                    <a:lstStyle/>
                    <a:p>
                      <a:r>
                        <a:rPr sz="2025" b="0">
                          <a:solidFill>
                            <a:srgbClr val="1C3144"/>
                          </a:solidFill>
                          <a:latin typeface="Calibri"/>
                          <a:ea typeface="Calibri"/>
                          <a:cs typeface="Calibri"/>
                        </a:rPr>
                        <a:t>[2, 4, 6]</a:t>
                      </a:r>
                    </a:p>
                  </a:txBody>
                  <a:tcPr marL="91440" marR="91440" marT="45720" marB="45720">
                    <a:solidFill>
                      <a:srgbClr val="FFFFFF"/>
                    </a:solidFill>
                  </a:tcPr>
                </a:tc>
                <a:tc>
                  <a:txBody>
                    <a:bodyPr/>
                    <a:lstStyle/>
                    <a:p>
                      <a:r>
                        <a:rPr sz="2025" b="0">
                          <a:solidFill>
                            <a:srgbClr val="1C3144"/>
                          </a:solidFill>
                          <a:latin typeface="Calibri"/>
                          <a:ea typeface="Calibri"/>
                          <a:cs typeface="Calibri"/>
                        </a:rPr>
                        <a:t>2</a:t>
                      </a:r>
                    </a:p>
                  </a:txBody>
                  <a:tcPr marL="91440" marR="91440" marT="45720" marB="45720">
                    <a:solidFill>
                      <a:srgbClr val="FFFFFF"/>
                    </a:solidFill>
                  </a:tcPr>
                </a:tc>
              </a:tr>
              <a:tr h="666750">
                <a:tc>
                  <a:txBody>
                    <a:bodyPr/>
                    <a:lstStyle/>
                    <a:p>
                      <a:r>
                        <a:rPr sz="2025" b="0">
                          <a:solidFill>
                            <a:srgbClr val="1C3144"/>
                          </a:solidFill>
                          <a:latin typeface="Calibri"/>
                          <a:ea typeface="Calibri"/>
                          <a:cs typeface="Calibri"/>
                        </a:rPr>
                        <a:t>readings.append(8)</a:t>
                      </a:r>
                    </a:p>
                  </a:txBody>
                  <a:tcPr marL="91440" marR="91440" marT="45720" marB="45720">
                    <a:solidFill>
                      <a:srgbClr val="EEF3F6"/>
                    </a:solidFill>
                  </a:tcPr>
                </a:tc>
                <a:tc>
                  <a:txBody>
                    <a:bodyPr/>
                    <a:lstStyle/>
                    <a:p>
                      <a:r>
                        <a:rPr sz="2025" b="0">
                          <a:solidFill>
                            <a:srgbClr val="1C3144"/>
                          </a:solidFill>
                          <a:latin typeface="Calibri"/>
                          <a:ea typeface="Calibri"/>
                          <a:cs typeface="Calibri"/>
                        </a:rPr>
                        <a:t>[2, 4, 6, 8]</a:t>
                      </a:r>
                    </a:p>
                  </a:txBody>
                  <a:tcPr marL="91440" marR="91440" marT="45720" marB="45720">
                    <a:solidFill>
                      <a:srgbClr val="EEF3F6"/>
                    </a:solidFill>
                  </a:tcPr>
                </a:tc>
                <a:tc>
                  <a:txBody>
                    <a:bodyPr/>
                    <a:lstStyle/>
                    <a:p>
                      <a:r>
                        <a:rPr sz="2025" b="0">
                          <a:solidFill>
                            <a:srgbClr val="1C3144"/>
                          </a:solidFill>
                          <a:latin typeface="Calibri"/>
                          <a:ea typeface="Calibri"/>
                          <a:cs typeface="Calibri"/>
                        </a:rPr>
                        <a:t>Nothing yet</a:t>
                      </a:r>
                    </a:p>
                  </a:txBody>
                  <a:tcPr marL="91440" marR="91440" marT="45720" marB="45720">
                    <a:solidFill>
                      <a:srgbClr val="EEF3F6"/>
                    </a:solidFill>
                  </a:tcPr>
                </a:tc>
              </a:tr>
              <a:tr h="666750">
                <a:tc>
                  <a:txBody>
                    <a:bodyPr/>
                    <a:lstStyle/>
                    <a:p>
                      <a:r>
                        <a:rPr sz="2025" b="0">
                          <a:solidFill>
                            <a:srgbClr val="1C3144"/>
                          </a:solidFill>
                          <a:latin typeface="Calibri"/>
                          <a:ea typeface="Calibri"/>
                          <a:cs typeface="Calibri"/>
                        </a:rPr>
                        <a:t>print(readings[1:3])</a:t>
                      </a:r>
                    </a:p>
                  </a:txBody>
                  <a:tcPr marL="91440" marR="91440" marT="45720" marB="45720">
                    <a:solidFill>
                      <a:srgbClr val="FFFFFF"/>
                    </a:solidFill>
                  </a:tcPr>
                </a:tc>
                <a:tc>
                  <a:txBody>
                    <a:bodyPr/>
                    <a:lstStyle/>
                    <a:p>
                      <a:r>
                        <a:rPr sz="2025" b="0">
                          <a:solidFill>
                            <a:srgbClr val="1C3144"/>
                          </a:solidFill>
                          <a:latin typeface="Calibri"/>
                          <a:ea typeface="Calibri"/>
                          <a:cs typeface="Calibri"/>
                        </a:rPr>
                        <a:t>[2, 4, 6, 8]</a:t>
                      </a:r>
                    </a:p>
                  </a:txBody>
                  <a:tcPr marL="91440" marR="91440" marT="45720" marB="45720">
                    <a:solidFill>
                      <a:srgbClr val="FFFFFF"/>
                    </a:solidFill>
                  </a:tcPr>
                </a:tc>
                <a:tc>
                  <a:txBody>
                    <a:bodyPr/>
                    <a:lstStyle/>
                    <a:p>
                      <a:r>
                        <a:rPr sz="2025" b="0">
                          <a:solidFill>
                            <a:srgbClr val="1C3144"/>
                          </a:solidFill>
                          <a:latin typeface="Calibri"/>
                          <a:ea typeface="Calibri"/>
                          <a:cs typeface="Calibri"/>
                        </a:rPr>
                        <a:t>[4, 6]</a:t>
                      </a:r>
                    </a:p>
                  </a:txBody>
                  <a:tcPr marL="91440" marR="91440" marT="45720" marB="45720">
                    <a:solidFill>
                      <a:srgbClr val="FFFFFF"/>
                    </a:solidFill>
                  </a:tcPr>
                </a:tc>
              </a:tr>
            </a:tbl>
          </a:graphicData>
        </a:graphic>
      </p:graphicFrame>
      <p:sp>
        <p:nvSpPr>
          <p:cNvPr id="5" name="">
            <a:extLst xmlns:a="http://schemas.openxmlformats.org/drawingml/2006/main">
              <a:ext uri="{FF2B5EF4-FFF2-40B4-BE49-F238E27FC236}">
                <a16:creationId xmlns:a16="http://schemas.microsoft.com/office/drawing/2014/main" id="{FEA99FC5-8CFD-44DF-B2E7-DDDB79FDEF9C}"/>
              </a:ext>
            </a:extLst>
          </p:cNvPr>
          <p:cNvSpPr>
            <a:spLocks xmlns:a="http://schemas.openxmlformats.org/drawingml/2006/main" noGrp="1"/>
          </p:cNvSpPr>
          <p:nvPr/>
        </p:nvSpPr>
        <p:spPr>
          <a:xfrm xmlns:a="http://schemas.openxmlformats.org/drawingml/2006/main">
            <a:off x="685800" y="5381625"/>
            <a:ext cx="106680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len reports 4 after append. A slice excludes its stop position and leaves the original list intact.</a:t>
            </a:r>
          </a:p>
        </p:txBody>
      </p:sp>
      <p:sp>
        <p:nvSpPr>
          <p:cNvPr id="6" name="">
            <a:extLst xmlns:a="http://schemas.openxmlformats.org/drawingml/2006/main">
              <a:ext uri="{FF2B5EF4-FFF2-40B4-BE49-F238E27FC236}">
                <a16:creationId xmlns:a16="http://schemas.microsoft.com/office/drawing/2014/main" id="{69AEF392-3E43-46B5-8273-808FB57CFA5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4   9</a:t>
            </a:r>
          </a:p>
        </p:txBody>
      </p:sp>
    </p:spTree>
    <p:extLst>
      <p:ext uri="{BB962C8B-B14F-4D97-AF65-F5344CB8AC3E}">
        <p14:creationId xmlns:p14="http://schemas.microsoft.com/office/powerpoint/2010/main" val="1608167955"/>
      </p:ext>
    </p:extLst>
  </p:cSld>
</p:sld>
</file>

<file path=ppt/slides/slide10.xml><?xml version="1.0" encoding="utf-8"?>
<p:sld xmlns:a="http://schemas.openxmlformats.org/drawingml/2006/main" xmlns:ns2="http://schemas.microsoft.com/office/drawing/2014/main" xmlns:ns3="http://schemas.microsoft.com/office/powerpoint/2010/main" xmlns:p="http://schemas.openxmlformats.org/presentationml/2006/main">
  <p:cSld>
    <p:bg>
      <p:bgPr>
        <a:solidFill>
          <a:srgbClr val="FFFFFF"/>
        </a:solidFill>
      </p:bgPr>
    </p:bg>
    <p:spTree>
      <p:nvGrpSpPr>
        <p:cNvPr id="1" name=""/>
        <p:cNvGrpSpPr/>
        <p:nvPr/>
      </p:nvGrpSpPr>
      <p:grpSpPr>
        <a:xfrm/>
      </p:grpSpPr>
      <p:sp>
        <p:nvSpPr>
          <p:cNvPr id="11" name="">
            <a:extLst>
              <a:ext uri="{FF2B5EF4-FFF2-40B4-BE49-F238E27FC236}">
                <ns2:creationId id="{E65B858F-C45E-4FB2-AD95-009B9B557C19}"/>
              </a:ext>
            </a:extLst>
          </p:cNvPr>
          <p:cNvSpPr>
            <a:spLocks noGrp="1"/>
          </p:cNvSpPr>
          <p:nvPr/>
        </p:nvSpPr>
        <p:spPr>
          <a:xfrm>
            <a:off x="0" y="0"/>
            <a:ext cx="12191695" cy="1390650"/>
          </a:xfrm>
          <a:prstGeom prst="rect">
            <a:avLst/>
          </a:prstGeom>
          <a:solidFill>
            <a:srgbClr val="1C3144"/>
          </a:solidFill>
          <a:ln w="0">
            <a:noFill/>
          </a:ln>
        </p:spPr>
      </p:sp>
      <p:sp>
        <p:nvSpPr>
          <p:cNvPr id="2" name="">
            <a:extLst>
              <a:ext uri="{FF2B5EF4-FFF2-40B4-BE49-F238E27FC236}">
                <ns2:creationId id="{7C277BC0-E567-4AFB-A3A4-0E8C29F33AA8}"/>
              </a:ext>
            </a:extLst>
          </p:cNvPr>
          <p:cNvSpPr>
            <a:spLocks noGrp="1"/>
          </p:cNvSpPr>
          <p:nvPr/>
        </p:nvSpPr>
        <p:spPr>
          <a:xfrm>
            <a:off x="590550" y="180975"/>
            <a:ext cx="11049000" cy="285750"/>
          </a:xfrm>
          <a:prstGeom prst="rect">
            <a:avLst/>
          </a:prstGeom>
          <a:noFill/>
          <a:ln w="0">
            <a:noFill/>
          </a:ln>
        </p:spPr>
        <p:txBody>
          <a:bodyPr>
            <a:noAutofit/>
          </a:bodyPr>
          <a:lstStyle/>
          <a:p>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a:ext uri="{FF2B5EF4-FFF2-40B4-BE49-F238E27FC236}">
                <ns2:creationId id="{DB63C132-EBA7-498B-A5C3-65FDA5866B81}"/>
              </a:ext>
            </a:extLst>
          </p:cNvPr>
          <p:cNvSpPr>
            <a:spLocks noGrp="1"/>
          </p:cNvSpPr>
          <p:nvPr/>
        </p:nvSpPr>
        <p:spPr>
          <a:xfrm>
            <a:off x="590550" y="523875"/>
            <a:ext cx="11049000" cy="809625"/>
          </a:xfrm>
          <a:prstGeom prst="rect">
            <a:avLst/>
          </a:prstGeom>
          <a:noFill/>
          <a:ln w="0">
            <a:noFill/>
          </a:ln>
        </p:spPr>
        <p:txBody>
          <a:bodyPr>
            <a:noAutofit/>
          </a:bodyPr>
          <a:lstStyle/>
          <a:p>
            <a:pPr>
              <a:defRPr sz="3150" b="1">
                <a:solidFill>
                  <a:srgbClr val="FFFFFF"/>
                </a:solidFill>
                <a:latin typeface="Calibri"/>
                <a:ea typeface="Calibri"/>
                <a:cs typeface="Calibri"/>
              </a:defRPr>
            </a:pPr>
            <a:r>
              <a:rPr sz="3150" b="1">
                <a:solidFill>
                  <a:srgbClr val="FFFFFF"/>
                </a:solidFill>
                <a:latin typeface="Calibri"/>
                <a:ea typeface="Calibri"/>
                <a:cs typeface="Calibri"/>
              </a:rPr>
              <a:t>A loop repeats instructions</a:t>
            </a:r>
          </a:p>
        </p:txBody>
      </p:sp>
      <p:sp>
        <p:nvSpPr>
          <p:cNvPr id="4" name="">
            <a:extLst>
              <a:ext uri="{FF2B5EF4-FFF2-40B4-BE49-F238E27FC236}">
                <ns2:creationId id="{9E7CF61E-44C4-436B-BFAD-EA6620B2A58B}"/>
              </a:ext>
            </a:extLst>
          </p:cNvPr>
          <p:cNvSpPr>
            <a:spLocks noGrp="1"/>
          </p:cNvSpPr>
          <p:nvPr/>
        </p:nvSpPr>
        <p:spPr>
          <a:xfrm>
            <a:off x="590550" y="1781175"/>
            <a:ext cx="619125" cy="571500"/>
          </a:xfrm>
          <a:prstGeom prst="rect">
            <a:avLst/>
          </a:prstGeom>
          <a:noFill/>
          <a:ln w="0">
            <a:noFill/>
          </a:ln>
        </p:spPr>
        <p:txBody>
          <a:bodyPr>
            <a:noAutofit/>
          </a:bodyPr>
          <a:lstStyle/>
          <a:p>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a:ext uri="{FF2B5EF4-FFF2-40B4-BE49-F238E27FC236}">
                <ns2:creationId id="{75293663-C866-4903-8C5A-6BC8F58152B9}"/>
              </a:ext>
            </a:extLst>
          </p:cNvPr>
          <p:cNvSpPr>
            <a:spLocks noGrp="1"/>
          </p:cNvSpPr>
          <p:nvPr/>
        </p:nvSpPr>
        <p:spPr>
          <a:xfrm>
            <a:off x="1381125" y="1781175"/>
            <a:ext cx="10096500" cy="1352550"/>
          </a:xfrm>
          <a:prstGeom prst="rect">
            <a:avLst/>
          </a:prstGeom>
          <a:noFill/>
          <a:ln w="0">
            <a:noFill/>
          </a:ln>
        </p:spPr>
        <p:txBody>
          <a:bodyPr>
            <a:noAutofit/>
          </a:bodyPr>
          <a:lstStyle/>
          <a:p>
            <a:pPr>
              <a:defRPr sz="2250" b="0">
                <a:solidFill>
                  <a:srgbClr val="1C3144"/>
                </a:solidFill>
                <a:latin typeface="Calibri"/>
                <a:ea typeface="Calibri"/>
                <a:cs typeface="Calibri"/>
              </a:defRPr>
            </a:pPr>
            <a:r>
              <a:rPr sz="2250" b="0">
                <a:solidFill>
                  <a:srgbClr val="1C3144"/>
                </a:solidFill>
                <a:latin typeface="Calibri"/>
                <a:ea typeface="Calibri"/>
                <a:cs typeface="Calibri"/>
              </a:rPr>
              <a:t>A loop runs a block more than once. One execution of the block is called an iteration.</a:t>
            </a:r>
          </a:p>
        </p:txBody>
      </p:sp>
      <p:sp>
        <p:nvSpPr>
          <p:cNvPr id="6" name="">
            <a:extLst>
              <a:ext uri="{FF2B5EF4-FFF2-40B4-BE49-F238E27FC236}">
                <ns2:creationId id="{A9C18DD6-D454-42E8-89D2-C4564F4B7BB0}"/>
              </a:ext>
            </a:extLst>
          </p:cNvPr>
          <p:cNvSpPr>
            <a:spLocks noGrp="1"/>
          </p:cNvSpPr>
          <p:nvPr/>
        </p:nvSpPr>
        <p:spPr>
          <a:xfrm>
            <a:off x="590550" y="3209925"/>
            <a:ext cx="619125" cy="571500"/>
          </a:xfrm>
          <a:prstGeom prst="rect">
            <a:avLst/>
          </a:prstGeom>
          <a:noFill/>
          <a:ln w="0">
            <a:noFill/>
          </a:ln>
        </p:spPr>
        <p:txBody>
          <a:bodyPr>
            <a:noAutofit/>
          </a:bodyPr>
          <a:lstStyle/>
          <a:p>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a:ext uri="{FF2B5EF4-FFF2-40B4-BE49-F238E27FC236}">
                <ns2:creationId id="{A5F5DC48-3E14-4113-95A2-7415E8498D7A}"/>
              </a:ext>
            </a:extLst>
          </p:cNvPr>
          <p:cNvSpPr>
            <a:spLocks noGrp="1"/>
          </p:cNvSpPr>
          <p:nvPr/>
        </p:nvSpPr>
        <p:spPr>
          <a:xfrm>
            <a:off x="1381125" y="3209925"/>
            <a:ext cx="10096500" cy="1352550"/>
          </a:xfrm>
          <a:prstGeom prst="rect">
            <a:avLst/>
          </a:prstGeom>
          <a:noFill/>
          <a:ln w="0">
            <a:noFill/>
          </a:ln>
        </p:spPr>
        <p:txBody>
          <a:bodyPr>
            <a:noAutofit/>
          </a:bodyPr>
          <a:lstStyle/>
          <a:p>
            <a:pPr>
              <a:defRPr sz="2250" b="0">
                <a:solidFill>
                  <a:srgbClr val="1C3144"/>
                </a:solidFill>
                <a:latin typeface="Calibri"/>
                <a:ea typeface="Calibri"/>
                <a:cs typeface="Calibri"/>
              </a:defRPr>
            </a:pPr>
            <a:r>
              <a:rPr sz="2250" b="0">
                <a:solidFill>
                  <a:srgbClr val="1C3144"/>
                </a:solidFill>
                <a:latin typeface="Calibri"/>
                <a:ea typeface="Calibri"/>
                <a:cs typeface="Calibri"/>
              </a:rPr>
              <a:t>for takes one item at a time from a collection. Use it when each item needs the same action.</a:t>
            </a:r>
          </a:p>
        </p:txBody>
      </p:sp>
      <p:sp>
        <p:nvSpPr>
          <p:cNvPr id="8" name="">
            <a:extLst>
              <a:ext uri="{FF2B5EF4-FFF2-40B4-BE49-F238E27FC236}">
                <ns2:creationId id="{906C3280-B2C7-4E84-8339-32B2BB3F056C}"/>
              </a:ext>
            </a:extLst>
          </p:cNvPr>
          <p:cNvSpPr>
            <a:spLocks noGrp="1"/>
          </p:cNvSpPr>
          <p:nvPr/>
        </p:nvSpPr>
        <p:spPr>
          <a:xfrm>
            <a:off x="590550" y="4638675"/>
            <a:ext cx="619125" cy="571500"/>
          </a:xfrm>
          <a:prstGeom prst="rect">
            <a:avLst/>
          </a:prstGeom>
          <a:noFill/>
          <a:ln w="0">
            <a:noFill/>
          </a:ln>
        </p:spPr>
        <p:txBody>
          <a:bodyPr>
            <a:noAutofit/>
          </a:bodyPr>
          <a:lstStyle/>
          <a:p>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a:ext uri="{FF2B5EF4-FFF2-40B4-BE49-F238E27FC236}">
                <ns2:creationId id="{D6AB479F-8885-463C-B173-25E324C03DA5}"/>
              </a:ext>
            </a:extLst>
          </p:cNvPr>
          <p:cNvSpPr>
            <a:spLocks noGrp="1"/>
          </p:cNvSpPr>
          <p:nvPr/>
        </p:nvSpPr>
        <p:spPr>
          <a:xfrm>
            <a:off x="1381125" y="4638675"/>
            <a:ext cx="10096500" cy="1352550"/>
          </a:xfrm>
          <a:prstGeom prst="rect">
            <a:avLst/>
          </a:prstGeom>
          <a:noFill/>
          <a:ln w="0">
            <a:noFill/>
          </a:ln>
        </p:spPr>
        <p:txBody>
          <a:bodyPr>
            <a:noAutofit/>
          </a:bodyPr>
          <a:lstStyle/>
          <a:p>
            <a:pPr>
              <a:defRPr sz="2250" b="0">
                <a:solidFill>
                  <a:srgbClr val="1C3144"/>
                </a:solidFill>
                <a:latin typeface="Calibri"/>
                <a:ea typeface="Calibri"/>
                <a:cs typeface="Calibri"/>
              </a:defRPr>
            </a:pPr>
            <a:r>
              <a:rPr sz="2250" b="0">
                <a:solidFill>
                  <a:srgbClr val="1C3144"/>
                </a:solidFill>
                <a:latin typeface="Calibri"/>
                <a:ea typeface="Calibri"/>
                <a:cs typeface="Calibri"/>
              </a:rPr>
              <a:t>while repeats while a condition stays True. Use it when a condition controls repetition.</a:t>
            </a:r>
          </a:p>
        </p:txBody>
      </p:sp>
      <p:sp>
        <p:nvSpPr>
          <p:cNvPr id="10" name="">
            <a:extLst>
              <a:ext uri="{FF2B5EF4-FFF2-40B4-BE49-F238E27FC236}">
                <ns2:creationId id="{984CBFEC-9E39-4DFD-8EF2-6548E39CD57E}"/>
              </a:ext>
            </a:extLst>
          </p:cNvPr>
          <p:cNvSpPr>
            <a:spLocks noGrp="1"/>
          </p:cNvSpPr>
          <p:nvPr/>
        </p:nvSpPr>
        <p:spPr>
          <a:xfrm>
            <a:off x="590550" y="6524625"/>
            <a:ext cx="10810875" cy="219075"/>
          </a:xfrm>
          <a:prstGeom prst="rect">
            <a:avLst/>
          </a:prstGeom>
          <a:noFill/>
          <a:ln w="0">
            <a:noFill/>
          </a:ln>
        </p:spPr>
        <p:txBody>
          <a:bodyPr>
            <a:noAutofit/>
          </a:bodyPr>
          <a:lstStyle/>
          <a:p>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4   10</a:t>
            </a:r>
          </a:p>
        </p:txBody>
      </p:sp>
    </p:spTree>
    <p:extLst>
      <p:ext uri="{BB962C8B-B14F-4D97-AF65-F5344CB8AC3E}">
        <ns3:creationId val="1571176737"/>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12376806-838F-4296-BBDB-467176C1E196}"/>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A8320BA9-EDD8-4091-9290-8FE5BC7586A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75A64720-F236-48AF-ACBB-432204833E7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Read every part of a for header</a:t>
            </a:r>
          </a:p>
        </p:txBody>
      </p:sp>
      <p:sp>
        <p:nvSpPr>
          <p:cNvPr id="4" name="">
            <a:extLst xmlns:a="http://schemas.openxmlformats.org/drawingml/2006/main">
              <a:ext uri="{FF2B5EF4-FFF2-40B4-BE49-F238E27FC236}">
                <a16:creationId xmlns:a16="http://schemas.microsoft.com/office/drawing/2014/main" id="{87A15DBF-9027-4B9A-A085-D20E509AFB36}"/>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31D11E88-CCAA-4E2A-B9B3-E38116C2DAC5}"/>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In for reading in readings:, for introduces repetition, reading names the current item, and readings is the collection to visit.</a:t>
            </a:r>
          </a:p>
        </p:txBody>
      </p:sp>
      <p:sp>
        <p:nvSpPr>
          <p:cNvPr id="6" name="">
            <a:extLst xmlns:a="http://schemas.openxmlformats.org/drawingml/2006/main">
              <a:ext uri="{FF2B5EF4-FFF2-40B4-BE49-F238E27FC236}">
                <a16:creationId xmlns:a16="http://schemas.microsoft.com/office/drawing/2014/main" id="{962204BB-B996-4049-9E24-A2882FD57A36}"/>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10D2E43A-A818-4F00-B7E7-A7B15F5FBA9C}"/>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in connects the current-item name to that collection. The colon begins the loop body. Four spaces mark each instruction that repeats.</a:t>
            </a:r>
          </a:p>
        </p:txBody>
      </p:sp>
      <p:sp>
        <p:nvSpPr>
          <p:cNvPr id="8" name="">
            <a:extLst xmlns:a="http://schemas.openxmlformats.org/drawingml/2006/main">
              <a:ext uri="{FF2B5EF4-FFF2-40B4-BE49-F238E27FC236}">
                <a16:creationId xmlns:a16="http://schemas.microsoft.com/office/drawing/2014/main" id="{3FE9CE96-44AD-4A9B-BEA9-12C2BFAFB48C}"/>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559E071F-1B3B-4628-95BA-695BCD74B587}"/>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reading is a name we choose; it is assigned the next item automatically. It is not the same name as readings. After the last item, execution leaves the loop.</a:t>
            </a:r>
          </a:p>
        </p:txBody>
      </p:sp>
      <p:sp>
        <p:nvSpPr>
          <p:cNvPr id="10" name="">
            <a:extLst xmlns:a="http://schemas.openxmlformats.org/drawingml/2006/main">
              <a:ext uri="{FF2B5EF4-FFF2-40B4-BE49-F238E27FC236}">
                <a16:creationId xmlns:a16="http://schemas.microsoft.com/office/drawing/2014/main" id="{58CA0581-813C-4C96-9C58-2DD47C59CD39}"/>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4   11</a:t>
            </a:r>
          </a:p>
        </p:txBody>
      </p:sp>
    </p:spTree>
    <p:extLst>
      <p:ext uri="{BB962C8B-B14F-4D97-AF65-F5344CB8AC3E}">
        <p14:creationId xmlns:p14="http://schemas.microsoft.com/office/powerpoint/2010/main" val="627857997"/>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630B8FD5-B359-4901-871F-EF58E30E81F9}"/>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636B5F1D-3103-4341-9E06-5611C595C52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F6BC69B1-3C23-498D-8EB0-BCBC63B19A0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Visit each item without calculating</a:t>
            </a:r>
          </a:p>
        </p:txBody>
      </p:sp>
      <p:sp>
        <p:nvSpPr>
          <p:cNvPr id="4" name="">
            <a:extLst xmlns:a="http://schemas.openxmlformats.org/drawingml/2006/main">
              <a:ext uri="{FF2B5EF4-FFF2-40B4-BE49-F238E27FC236}">
                <a16:creationId xmlns:a16="http://schemas.microsoft.com/office/drawing/2014/main" id="{D3416EDF-60DD-459B-A89C-93BB2A7E3ABB}"/>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C825CB59-9C40-4237-A463-78C6FC20B8D9}"/>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readings = [2, 4, 6]</a:t>
            </a:r>
          </a:p>
          <a:p xmlns:a="http://schemas.openxmlformats.org/drawingml/2006/main">
            <a:pPr>
              <a:defRPr sz="2175" b="0">
                <a:solidFill>
                  <a:srgbClr val="F4F7FA"/>
                </a:solidFill>
                <a:latin typeface="Courier New"/>
                <a:ea typeface="Courier New"/>
                <a:cs typeface="Courier New"/>
              </a:defRPr>
            </a:pPr>
            <a:r>
              <a:rPr sz="2175" b="0">
                <a:solidFill>
                  <a:srgbClr val="FFB080"/>
                </a:solidFill>
                <a:latin typeface="Courier New"/>
                <a:ea typeface="Courier New"/>
                <a:cs typeface="Courier New"/>
              </a:rPr>
              <a:t>for</a:t>
            </a:r>
            <a:r>
              <a:rPr sz="2175" b="0">
                <a:solidFill>
                  <a:srgbClr val="F4F7FA"/>
                </a:solidFill>
                <a:latin typeface="Courier New"/>
                <a:ea typeface="Courier New"/>
                <a:cs typeface="Courier New"/>
              </a:rPr>
              <a:t> reading in readings:</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print(reading)</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print("finished")</a:t>
            </a:r>
          </a:p>
        </p:txBody>
      </p:sp>
      <p:sp>
        <p:nvSpPr>
          <p:cNvPr id="6" name="">
            <a:extLst xmlns:a="http://schemas.openxmlformats.org/drawingml/2006/main">
              <a:ext uri="{FF2B5EF4-FFF2-40B4-BE49-F238E27FC236}">
                <a16:creationId xmlns:a16="http://schemas.microsoft.com/office/drawing/2014/main" id="{38680C16-9A62-48FA-B869-DDD038957CB2}"/>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9B2F6C16-4120-4616-B41D-3018118A50C0}"/>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The body runs once for each item.</a:t>
            </a:r>
          </a:p>
        </p:txBody>
      </p:sp>
      <p:sp>
        <p:nvSpPr>
          <p:cNvPr id="8" name="">
            <a:extLst xmlns:a="http://schemas.openxmlformats.org/drawingml/2006/main">
              <a:ext uri="{FF2B5EF4-FFF2-40B4-BE49-F238E27FC236}">
                <a16:creationId xmlns:a16="http://schemas.microsoft.com/office/drawing/2014/main" id="{D498CDB0-6604-4CE9-9483-386297CA6FF9}"/>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The final line is outside the loop, so it runs once.</a:t>
            </a:r>
          </a:p>
        </p:txBody>
      </p:sp>
      <p:sp>
        <p:nvSpPr>
          <p:cNvPr id="9" name="">
            <a:extLst xmlns:a="http://schemas.openxmlformats.org/drawingml/2006/main">
              <a:ext uri="{FF2B5EF4-FFF2-40B4-BE49-F238E27FC236}">
                <a16:creationId xmlns:a16="http://schemas.microsoft.com/office/drawing/2014/main" id="{BF51FEF4-7300-453D-B80A-91FB912BB976}"/>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Output: 2; 4; 6; finished</a:t>
            </a:r>
          </a:p>
        </p:txBody>
      </p:sp>
      <p:sp>
        <p:nvSpPr>
          <p:cNvPr id="10" name="">
            <a:extLst xmlns:a="http://schemas.openxmlformats.org/drawingml/2006/main">
              <a:ext uri="{FF2B5EF4-FFF2-40B4-BE49-F238E27FC236}">
                <a16:creationId xmlns:a16="http://schemas.microsoft.com/office/drawing/2014/main" id="{D6A319B8-ABAE-4490-AE64-D39F13CA53C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4   12</a:t>
            </a:r>
          </a:p>
        </p:txBody>
      </p:sp>
    </p:spTree>
    <p:extLst>
      <p:ext uri="{BB962C8B-B14F-4D97-AF65-F5344CB8AC3E}">
        <p14:creationId xmlns:p14="http://schemas.microsoft.com/office/powerpoint/2010/main" val="1816955688"/>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8A4483BE-DFDC-46E9-B6EE-CC13323302BC}"/>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F1C4154B-E10B-466C-8705-E89D64BF57A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READ THE EXAMPLE</a:t>
            </a:r>
          </a:p>
        </p:txBody>
      </p:sp>
      <p:sp>
        <p:nvSpPr>
          <p:cNvPr id="3" name="">
            <a:extLst xmlns:a="http://schemas.openxmlformats.org/drawingml/2006/main">
              <a:ext uri="{FF2B5EF4-FFF2-40B4-BE49-F238E27FC236}">
                <a16:creationId xmlns:a16="http://schemas.microsoft.com/office/drawing/2014/main" id="{97DF8A7F-21D9-409F-96FC-680D0D31D0D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Trace the for loop item by item</a:t>
            </a:r>
          </a:p>
        </p:txBody>
      </p:sp>
      <p:graphicFrame>
        <p:nvGraphicFramePr>
          <p:cNvPr id="10" name=""/>
          <p:cNvGraphicFramePr/>
          <p:nvPr/>
        </p:nvGraphicFramePr>
        <p:xfrm>
          <a:off xmlns:a="http://schemas.openxmlformats.org/drawingml/2006/main" x="590550" y="1733550"/>
          <a:ext xmlns:a="http://schemas.openxmlformats.org/drawingml/2006/main" cx="11010900" cy="3333750"/>
        </p:xfrm>
        <a:graphic xmlns:a="http://schemas.openxmlformats.org/drawingml/2006/main">
          <a:graphicData uri="http://schemas.openxmlformats.org/drawingml/2006/table">
            <a:tbl>
              <a:tblPr/>
              <a:tblGrid>
                <a:gridCol w="3670300"/>
                <a:gridCol w="3670300"/>
                <a:gridCol w="3670300"/>
              </a:tblGrid>
              <a:tr h="666750">
                <a:tc>
                  <a:txBody>
                    <a:bodyPr/>
                    <a:lstStyle/>
                    <a:p>
                      <a:r>
                        <a:rPr sz="2025" b="1">
                          <a:solidFill>
                            <a:srgbClr val="FFFFFF"/>
                          </a:solidFill>
                          <a:latin typeface="Calibri"/>
                          <a:ea typeface="Calibri"/>
                          <a:cs typeface="Calibri"/>
                        </a:rPr>
                        <a:t>Step</a:t>
                      </a:r>
                    </a:p>
                  </a:txBody>
                  <a:tcPr marL="91440" marR="91440" marT="45720" marB="45720">
                    <a:solidFill>
                      <a:srgbClr val="2E7D6F"/>
                    </a:solidFill>
                  </a:tcPr>
                </a:tc>
                <a:tc>
                  <a:txBody>
                    <a:bodyPr/>
                    <a:lstStyle/>
                    <a:p>
                      <a:r>
                        <a:rPr sz="2025" b="1">
                          <a:solidFill>
                            <a:srgbClr val="FFFFFF"/>
                          </a:solidFill>
                          <a:latin typeface="Calibri"/>
                          <a:ea typeface="Calibri"/>
                          <a:cs typeface="Calibri"/>
                        </a:rPr>
                        <a:t>Current reading</a:t>
                      </a:r>
                    </a:p>
                  </a:txBody>
                  <a:tcPr marL="91440" marR="91440" marT="45720" marB="45720">
                    <a:solidFill>
                      <a:srgbClr val="2E7D6F"/>
                    </a:solidFill>
                  </a:tcPr>
                </a:tc>
                <a:tc>
                  <a:txBody>
                    <a:bodyPr/>
                    <a:lstStyle/>
                    <a:p>
                      <a:r>
                        <a:rPr sz="2025" b="1">
                          <a:solidFill>
                            <a:srgbClr val="FFFFFF"/>
                          </a:solidFill>
                          <a:latin typeface="Calibri"/>
                          <a:ea typeface="Calibri"/>
                          <a:cs typeface="Calibri"/>
                        </a:rPr>
                        <a:t>Action</a:t>
                      </a:r>
                    </a:p>
                  </a:txBody>
                  <a:tcPr marL="91440" marR="91440" marT="45720" marB="45720">
                    <a:solidFill>
                      <a:srgbClr val="2E7D6F"/>
                    </a:solidFill>
                  </a:tcPr>
                </a:tc>
              </a:tr>
              <a:tr h="666750">
                <a:tc>
                  <a:txBody>
                    <a:bodyPr/>
                    <a:lstStyle/>
                    <a:p>
                      <a:r>
                        <a:rPr sz="2025" b="0">
                          <a:solidFill>
                            <a:srgbClr val="1C3144"/>
                          </a:solidFill>
                          <a:latin typeface="Calibri"/>
                          <a:ea typeface="Calibri"/>
                          <a:cs typeface="Calibri"/>
                        </a:rPr>
                        <a:t>First item</a:t>
                      </a:r>
                    </a:p>
                  </a:txBody>
                  <a:tcPr marL="91440" marR="91440" marT="45720" marB="45720">
                    <a:solidFill>
                      <a:srgbClr val="EEF3F6"/>
                    </a:solidFill>
                  </a:tcPr>
                </a:tc>
                <a:tc>
                  <a:txBody>
                    <a:bodyPr/>
                    <a:lstStyle/>
                    <a:p>
                      <a:r>
                        <a:rPr sz="2025" b="0">
                          <a:solidFill>
                            <a:srgbClr val="1C3144"/>
                          </a:solidFill>
                          <a:latin typeface="Calibri"/>
                          <a:ea typeface="Calibri"/>
                          <a:cs typeface="Calibri"/>
                        </a:rPr>
                        <a:t>2</a:t>
                      </a:r>
                    </a:p>
                  </a:txBody>
                  <a:tcPr marL="91440" marR="91440" marT="45720" marB="45720">
                    <a:solidFill>
                      <a:srgbClr val="EEF3F6"/>
                    </a:solidFill>
                  </a:tcPr>
                </a:tc>
                <a:tc>
                  <a:txBody>
                    <a:bodyPr/>
                    <a:lstStyle/>
                    <a:p>
                      <a:r>
                        <a:rPr sz="2025" b="0">
                          <a:solidFill>
                            <a:srgbClr val="1C3144"/>
                          </a:solidFill>
                          <a:latin typeface="Calibri"/>
                          <a:ea typeface="Calibri"/>
                          <a:cs typeface="Calibri"/>
                        </a:rPr>
                        <a:t>Print 2</a:t>
                      </a:r>
                    </a:p>
                  </a:txBody>
                  <a:tcPr marL="91440" marR="91440" marT="45720" marB="45720">
                    <a:solidFill>
                      <a:srgbClr val="EEF3F6"/>
                    </a:solidFill>
                  </a:tcPr>
                </a:tc>
              </a:tr>
              <a:tr h="666750">
                <a:tc>
                  <a:txBody>
                    <a:bodyPr/>
                    <a:lstStyle/>
                    <a:p>
                      <a:r>
                        <a:rPr sz="2025" b="0">
                          <a:solidFill>
                            <a:srgbClr val="1C3144"/>
                          </a:solidFill>
                          <a:latin typeface="Calibri"/>
                          <a:ea typeface="Calibri"/>
                          <a:cs typeface="Calibri"/>
                        </a:rPr>
                        <a:t>Second item</a:t>
                      </a:r>
                    </a:p>
                  </a:txBody>
                  <a:tcPr marL="91440" marR="91440" marT="45720" marB="45720">
                    <a:solidFill>
                      <a:srgbClr val="FFFFFF"/>
                    </a:solidFill>
                  </a:tcPr>
                </a:tc>
                <a:tc>
                  <a:txBody>
                    <a:bodyPr/>
                    <a:lstStyle/>
                    <a:p>
                      <a:r>
                        <a:rPr sz="2025" b="0">
                          <a:solidFill>
                            <a:srgbClr val="1C3144"/>
                          </a:solidFill>
                          <a:latin typeface="Calibri"/>
                          <a:ea typeface="Calibri"/>
                          <a:cs typeface="Calibri"/>
                        </a:rPr>
                        <a:t>4</a:t>
                      </a:r>
                    </a:p>
                  </a:txBody>
                  <a:tcPr marL="91440" marR="91440" marT="45720" marB="45720">
                    <a:solidFill>
                      <a:srgbClr val="FFFFFF"/>
                    </a:solidFill>
                  </a:tcPr>
                </a:tc>
                <a:tc>
                  <a:txBody>
                    <a:bodyPr/>
                    <a:lstStyle/>
                    <a:p>
                      <a:r>
                        <a:rPr sz="2025" b="0">
                          <a:solidFill>
                            <a:srgbClr val="1C3144"/>
                          </a:solidFill>
                          <a:latin typeface="Calibri"/>
                          <a:ea typeface="Calibri"/>
                          <a:cs typeface="Calibri"/>
                        </a:rPr>
                        <a:t>Print 4</a:t>
                      </a:r>
                    </a:p>
                  </a:txBody>
                  <a:tcPr marL="91440" marR="91440" marT="45720" marB="45720">
                    <a:solidFill>
                      <a:srgbClr val="FFFFFF"/>
                    </a:solidFill>
                  </a:tcPr>
                </a:tc>
              </a:tr>
              <a:tr h="666750">
                <a:tc>
                  <a:txBody>
                    <a:bodyPr/>
                    <a:lstStyle/>
                    <a:p>
                      <a:r>
                        <a:rPr sz="2025" b="0">
                          <a:solidFill>
                            <a:srgbClr val="1C3144"/>
                          </a:solidFill>
                          <a:latin typeface="Calibri"/>
                          <a:ea typeface="Calibri"/>
                          <a:cs typeface="Calibri"/>
                        </a:rPr>
                        <a:t>Third item</a:t>
                      </a:r>
                    </a:p>
                  </a:txBody>
                  <a:tcPr marL="91440" marR="91440" marT="45720" marB="45720">
                    <a:solidFill>
                      <a:srgbClr val="EEF3F6"/>
                    </a:solidFill>
                  </a:tcPr>
                </a:tc>
                <a:tc>
                  <a:txBody>
                    <a:bodyPr/>
                    <a:lstStyle/>
                    <a:p>
                      <a:r>
                        <a:rPr sz="2025" b="0">
                          <a:solidFill>
                            <a:srgbClr val="1C3144"/>
                          </a:solidFill>
                          <a:latin typeface="Calibri"/>
                          <a:ea typeface="Calibri"/>
                          <a:cs typeface="Calibri"/>
                        </a:rPr>
                        <a:t>6</a:t>
                      </a:r>
                    </a:p>
                  </a:txBody>
                  <a:tcPr marL="91440" marR="91440" marT="45720" marB="45720">
                    <a:solidFill>
                      <a:srgbClr val="EEF3F6"/>
                    </a:solidFill>
                  </a:tcPr>
                </a:tc>
                <a:tc>
                  <a:txBody>
                    <a:bodyPr/>
                    <a:lstStyle/>
                    <a:p>
                      <a:r>
                        <a:rPr sz="2025" b="0">
                          <a:solidFill>
                            <a:srgbClr val="1C3144"/>
                          </a:solidFill>
                          <a:latin typeface="Calibri"/>
                          <a:ea typeface="Calibri"/>
                          <a:cs typeface="Calibri"/>
                        </a:rPr>
                        <a:t>Print 6</a:t>
                      </a:r>
                    </a:p>
                  </a:txBody>
                  <a:tcPr marL="91440" marR="91440" marT="45720" marB="45720">
                    <a:solidFill>
                      <a:srgbClr val="EEF3F6"/>
                    </a:solidFill>
                  </a:tcPr>
                </a:tc>
              </a:tr>
              <a:tr h="666750">
                <a:tc>
                  <a:txBody>
                    <a:bodyPr/>
                    <a:lstStyle/>
                    <a:p>
                      <a:r>
                        <a:rPr sz="2025" b="0">
                          <a:solidFill>
                            <a:srgbClr val="1C3144"/>
                          </a:solidFill>
                          <a:latin typeface="Calibri"/>
                          <a:ea typeface="Calibri"/>
                          <a:cs typeface="Calibri"/>
                        </a:rPr>
                        <a:t>No items left</a:t>
                      </a:r>
                    </a:p>
                  </a:txBody>
                  <a:tcPr marL="91440" marR="91440" marT="45720" marB="45720">
                    <a:solidFill>
                      <a:srgbClr val="FFFFFF"/>
                    </a:solidFill>
                  </a:tcPr>
                </a:tc>
                <a:tc>
                  <a:txBody>
                    <a:bodyPr/>
                    <a:lstStyle/>
                    <a:p>
                      <a:r>
                        <a:rPr sz="2025" b="0">
                          <a:solidFill>
                            <a:srgbClr val="1C3144"/>
                          </a:solidFill>
                          <a:latin typeface="Calibri"/>
                          <a:ea typeface="Calibri"/>
                          <a:cs typeface="Calibri"/>
                        </a:rPr>
                        <a:t>No new item</a:t>
                      </a:r>
                    </a:p>
                  </a:txBody>
                  <a:tcPr marL="91440" marR="91440" marT="45720" marB="45720">
                    <a:solidFill>
                      <a:srgbClr val="FFFFFF"/>
                    </a:solidFill>
                  </a:tcPr>
                </a:tc>
                <a:tc>
                  <a:txBody>
                    <a:bodyPr/>
                    <a:lstStyle/>
                    <a:p>
                      <a:r>
                        <a:rPr sz="2025" b="0">
                          <a:solidFill>
                            <a:srgbClr val="1C3144"/>
                          </a:solidFill>
                          <a:latin typeface="Calibri"/>
                          <a:ea typeface="Calibri"/>
                          <a:cs typeface="Calibri"/>
                        </a:rPr>
                        <a:t>Leave loop; print finished</a:t>
                      </a:r>
                    </a:p>
                  </a:txBody>
                  <a:tcPr marL="91440" marR="91440" marT="45720" marB="45720">
                    <a:solidFill>
                      <a:srgbClr val="FFFFFF"/>
                    </a:solidFill>
                  </a:tcPr>
                </a:tc>
              </a:tr>
            </a:tbl>
          </a:graphicData>
        </a:graphic>
      </p:graphicFrame>
      <p:sp>
        <p:nvSpPr>
          <p:cNvPr id="5" name="">
            <a:extLst xmlns:a="http://schemas.openxmlformats.org/drawingml/2006/main">
              <a:ext uri="{FF2B5EF4-FFF2-40B4-BE49-F238E27FC236}">
                <a16:creationId xmlns:a16="http://schemas.microsoft.com/office/drawing/2014/main" id="{25395CF9-F32E-456A-9E2A-56DFD5264A3D}"/>
              </a:ext>
            </a:extLst>
          </p:cNvPr>
          <p:cNvSpPr>
            <a:spLocks xmlns:a="http://schemas.openxmlformats.org/drawingml/2006/main" noGrp="1"/>
          </p:cNvSpPr>
          <p:nvPr/>
        </p:nvSpPr>
        <p:spPr>
          <a:xfrm xmlns:a="http://schemas.openxmlformats.org/drawingml/2006/main">
            <a:off x="685800" y="5381625"/>
            <a:ext cx="106680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An empty list runs the body zero times. It still reaches the outside line.</a:t>
            </a:r>
          </a:p>
        </p:txBody>
      </p:sp>
      <p:sp>
        <p:nvSpPr>
          <p:cNvPr id="6" name="">
            <a:extLst xmlns:a="http://schemas.openxmlformats.org/drawingml/2006/main">
              <a:ext uri="{FF2B5EF4-FFF2-40B4-BE49-F238E27FC236}">
                <a16:creationId xmlns:a16="http://schemas.microsoft.com/office/drawing/2014/main" id="{ADBA769F-7A2A-4C54-B94A-094786BC46E9}"/>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4   13</a:t>
            </a:r>
          </a:p>
        </p:txBody>
      </p:sp>
    </p:spTree>
    <p:extLst>
      <p:ext uri="{BB962C8B-B14F-4D97-AF65-F5344CB8AC3E}">
        <p14:creationId xmlns:p14="http://schemas.microsoft.com/office/powerpoint/2010/main" val="960625632"/>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51837F6A-68CA-4370-823C-8B8D9338F88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C698E8A8-F710-4E02-A593-DFA5E6B8BE8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29B00E37-E7F4-491E-A4AF-C2C835C8313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Updating a counter inside a loop</a:t>
            </a:r>
          </a:p>
        </p:txBody>
      </p:sp>
      <p:sp>
        <p:nvSpPr>
          <p:cNvPr id="4" name="">
            <a:extLst xmlns:a="http://schemas.openxmlformats.org/drawingml/2006/main">
              <a:ext uri="{FF2B5EF4-FFF2-40B4-BE49-F238E27FC236}">
                <a16:creationId xmlns:a16="http://schemas.microsoft.com/office/drawing/2014/main" id="{C6CEFF70-FDC4-4971-ADE7-A3C3D634E792}"/>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2DB2081C-233C-4285-9181-58C9E6D7D777}"/>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counter records how many times an event happens. Set count = 0 before the loop, then count = count + 1 inside it.</a:t>
            </a:r>
          </a:p>
        </p:txBody>
      </p:sp>
      <p:sp>
        <p:nvSpPr>
          <p:cNvPr id="6" name="">
            <a:extLst xmlns:a="http://schemas.openxmlformats.org/drawingml/2006/main">
              <a:ext uri="{FF2B5EF4-FFF2-40B4-BE49-F238E27FC236}">
                <a16:creationId xmlns:a16="http://schemas.microsoft.com/office/drawing/2014/main" id="{0281A1D9-F205-45B1-B713-541E52C11C83}"/>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58189417-7B8F-4673-A072-F9D8E457BD47}"/>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count += 1 is a shorter spelling for that numeric update. Similarly, total += reading means total = total + reading.</a:t>
            </a:r>
          </a:p>
        </p:txBody>
      </p:sp>
      <p:sp>
        <p:nvSpPr>
          <p:cNvPr id="8" name="">
            <a:extLst xmlns:a="http://schemas.openxmlformats.org/drawingml/2006/main">
              <a:ext uri="{FF2B5EF4-FFF2-40B4-BE49-F238E27FC236}">
                <a16:creationId xmlns:a16="http://schemas.microsoft.com/office/drawing/2014/main" id="{4A86540A-5461-4C4A-9387-4D24B117F022}"/>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8C8A1FA8-858E-496D-9975-F37EBF8E1E41}"/>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initial value belongs outside the loop. Resetting count to zero inside every iteration loses the earlier count.</a:t>
            </a:r>
          </a:p>
        </p:txBody>
      </p:sp>
      <p:sp>
        <p:nvSpPr>
          <p:cNvPr id="10" name="">
            <a:extLst xmlns:a="http://schemas.openxmlformats.org/drawingml/2006/main">
              <a:ext uri="{FF2B5EF4-FFF2-40B4-BE49-F238E27FC236}">
                <a16:creationId xmlns:a16="http://schemas.microsoft.com/office/drawing/2014/main" id="{F5CA2481-07C9-409B-94CB-581F7202BC9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4   14</a:t>
            </a:r>
          </a:p>
        </p:txBody>
      </p:sp>
    </p:spTree>
    <p:extLst>
      <p:ext uri="{BB962C8B-B14F-4D97-AF65-F5344CB8AC3E}">
        <p14:creationId xmlns:p14="http://schemas.microsoft.com/office/powerpoint/2010/main" val="2127214422"/>
      </p:ext>
    </p:extLst>
  </p:cSld>
</p:sld>
</file>

<file path=ppt/slides/slide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511EF87D-AE09-4B84-B80B-9D7B11176E17}"/>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E6467531-12C9-4987-85F5-AB798A4A4E1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6A885C59-1501-4080-BB14-35F01F6CB5D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Count the visited items</a:t>
            </a:r>
          </a:p>
        </p:txBody>
      </p:sp>
      <p:sp>
        <p:nvSpPr>
          <p:cNvPr id="4" name="">
            <a:extLst xmlns:a="http://schemas.openxmlformats.org/drawingml/2006/main">
              <a:ext uri="{FF2B5EF4-FFF2-40B4-BE49-F238E27FC236}">
                <a16:creationId xmlns:a16="http://schemas.microsoft.com/office/drawing/2014/main" id="{705A058E-174A-4C12-83BB-1E67D4BDA1F4}"/>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4BE0462F-775D-4104-8923-30D02118B5E1}"/>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count = 0</a:t>
            </a:r>
          </a:p>
          <a:p xmlns:a="http://schemas.openxmlformats.org/drawingml/2006/main">
            <a:pPr>
              <a:defRPr sz="2175" b="0">
                <a:solidFill>
                  <a:srgbClr val="F4F7FA"/>
                </a:solidFill>
                <a:latin typeface="Courier New"/>
                <a:ea typeface="Courier New"/>
                <a:cs typeface="Courier New"/>
              </a:defRPr>
            </a:pPr>
            <a:r>
              <a:rPr sz="2175" b="0">
                <a:solidFill>
                  <a:srgbClr val="FFB080"/>
                </a:solidFill>
                <a:latin typeface="Courier New"/>
                <a:ea typeface="Courier New"/>
                <a:cs typeface="Courier New"/>
              </a:rPr>
              <a:t>for</a:t>
            </a:r>
            <a:r>
              <a:rPr sz="2175" b="0">
                <a:solidFill>
                  <a:srgbClr val="F4F7FA"/>
                </a:solidFill>
                <a:latin typeface="Courier New"/>
                <a:ea typeface="Courier New"/>
                <a:cs typeface="Courier New"/>
              </a:rPr>
              <a:t> reading in [2, 4, 6]:</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count += 1</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print(count)</a:t>
            </a:r>
          </a:p>
        </p:txBody>
      </p:sp>
      <p:sp>
        <p:nvSpPr>
          <p:cNvPr id="6" name="">
            <a:extLst xmlns:a="http://schemas.openxmlformats.org/drawingml/2006/main">
              <a:ext uri="{FF2B5EF4-FFF2-40B4-BE49-F238E27FC236}">
                <a16:creationId xmlns:a16="http://schemas.microsoft.com/office/drawing/2014/main" id="{BEE49979-BFD2-46EA-A298-D7901D3AD34C}"/>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9F0153E1-3DBF-4139-BCA8-1AF8EEBF7FA2}"/>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Updates: 0 to 1, 1 to 2, then 2 to 3.</a:t>
            </a:r>
          </a:p>
        </p:txBody>
      </p:sp>
      <p:sp>
        <p:nvSpPr>
          <p:cNvPr id="8" name="">
            <a:extLst xmlns:a="http://schemas.openxmlformats.org/drawingml/2006/main">
              <a:ext uri="{FF2B5EF4-FFF2-40B4-BE49-F238E27FC236}">
                <a16:creationId xmlns:a16="http://schemas.microsoft.com/office/drawing/2014/main" id="{53B687C1-4276-4F37-A5EE-42619D738241}"/>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Output: 3</a:t>
            </a:r>
          </a:p>
        </p:txBody>
      </p:sp>
      <p:sp>
        <p:nvSpPr>
          <p:cNvPr id="9" name="">
            <a:extLst xmlns:a="http://schemas.openxmlformats.org/drawingml/2006/main">
              <a:ext uri="{FF2B5EF4-FFF2-40B4-BE49-F238E27FC236}">
                <a16:creationId xmlns:a16="http://schemas.microsoft.com/office/drawing/2014/main" id="{894041EA-47B2-49C9-B1C5-D29DFF1833C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4   15</a:t>
            </a:r>
          </a:p>
        </p:txBody>
      </p:sp>
    </p:spTree>
    <p:extLst>
      <p:ext uri="{BB962C8B-B14F-4D97-AF65-F5344CB8AC3E}">
        <p14:creationId xmlns:p14="http://schemas.microsoft.com/office/powerpoint/2010/main" val="542196175"/>
      </p:ext>
    </p:extLst>
  </p:cSld>
</p:sld>
</file>

<file path=ppt/slides/slide1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CFF5B97B-2FB5-494A-96C5-F6B9C2E241F6}"/>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6E33F456-7C17-4912-9806-24009B7A0599}"/>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CB0D3910-39FA-4E86-B6E2-4B5A69924F76}"/>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Accumulator</a:t>
            </a:r>
          </a:p>
        </p:txBody>
      </p:sp>
      <p:sp>
        <p:nvSpPr>
          <p:cNvPr id="4" name="">
            <a:extLst xmlns:a="http://schemas.openxmlformats.org/drawingml/2006/main">
              <a:ext uri="{FF2B5EF4-FFF2-40B4-BE49-F238E27FC236}">
                <a16:creationId xmlns:a16="http://schemas.microsoft.com/office/drawing/2014/main" id="{5F047C63-E48F-4FAD-9D58-53931166D005}"/>
              </a:ext>
            </a:extLst>
          </p:cNvPr>
          <p:cNvSpPr>
            <a:spLocks xmlns:a="http://schemas.openxmlformats.org/drawingml/2006/main" noGrp="1"/>
          </p:cNvSpPr>
          <p:nvPr/>
        </p:nvSpPr>
        <p:spPr>
          <a:xfrm xmlns:a="http://schemas.openxmlformats.org/drawingml/2006/main">
            <a:off x="590550" y="1714500"/>
            <a:ext cx="110109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21A8C1AD-83DE-46FA-84BD-ADDA0C44005C}"/>
              </a:ext>
            </a:extLst>
          </p:cNvPr>
          <p:cNvSpPr>
            <a:spLocks xmlns:a="http://schemas.openxmlformats.org/drawingml/2006/main" noGrp="1"/>
          </p:cNvSpPr>
          <p:nvPr/>
        </p:nvSpPr>
        <p:spPr>
          <a:xfrm xmlns:a="http://schemas.openxmlformats.org/drawingml/2006/main">
            <a:off x="828675" y="1952625"/>
            <a:ext cx="104394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E4572E"/>
                </a:solidFill>
                <a:latin typeface="Calibri"/>
                <a:ea typeface="Calibri"/>
                <a:cs typeface="Calibri"/>
              </a:defRPr>
            </a:pPr>
            <a:r>
              <a:rPr sz="3150" b="1">
                <a:solidFill>
                  <a:srgbClr val="E4572E"/>
                </a:solidFill>
                <a:latin typeface="Calibri"/>
                <a:ea typeface="Calibri"/>
                <a:cs typeface="Calibri"/>
              </a:rPr>
              <a:t>Accumulator</a:t>
            </a:r>
          </a:p>
        </p:txBody>
      </p:sp>
      <p:sp>
        <p:nvSpPr>
          <p:cNvPr id="6" name="">
            <a:extLst xmlns:a="http://schemas.openxmlformats.org/drawingml/2006/main">
              <a:ext uri="{FF2B5EF4-FFF2-40B4-BE49-F238E27FC236}">
                <a16:creationId xmlns:a16="http://schemas.microsoft.com/office/drawing/2014/main" id="{35D274BE-28CC-42A3-A3D8-7F0C4F314856}"/>
              </a:ext>
            </a:extLst>
          </p:cNvPr>
          <p:cNvSpPr>
            <a:spLocks xmlns:a="http://schemas.openxmlformats.org/drawingml/2006/main" noGrp="1"/>
          </p:cNvSpPr>
          <p:nvPr/>
        </p:nvSpPr>
        <p:spPr>
          <a:xfrm xmlns:a="http://schemas.openxmlformats.org/drawingml/2006/main">
            <a:off x="828675" y="3067050"/>
            <a:ext cx="10439400"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0">
                <a:solidFill>
                  <a:srgbClr val="1C3144"/>
                </a:solidFill>
                <a:latin typeface="Calibri"/>
                <a:ea typeface="Calibri"/>
                <a:cs typeface="Calibri"/>
              </a:defRPr>
            </a:pPr>
            <a:r>
              <a:rPr sz="2550" b="0">
                <a:solidFill>
                  <a:srgbClr val="1C3144"/>
                </a:solidFill>
                <a:latin typeface="Calibri"/>
                <a:ea typeface="Calibri"/>
                <a:cs typeface="Calibri"/>
              </a:rPr>
              <a:t>A running total. Set it to zero before the loop, add inside the loop, and read the final total afterward.</a:t>
            </a:r>
          </a:p>
        </p:txBody>
      </p:sp>
      <p:sp>
        <p:nvSpPr>
          <p:cNvPr id="7" name="">
            <a:extLst xmlns:a="http://schemas.openxmlformats.org/drawingml/2006/main">
              <a:ext uri="{FF2B5EF4-FFF2-40B4-BE49-F238E27FC236}">
                <a16:creationId xmlns:a16="http://schemas.microsoft.com/office/drawing/2014/main" id="{9F417088-B2C6-4194-A912-78CBBFB8C2D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4   16</a:t>
            </a:r>
          </a:p>
        </p:txBody>
      </p:sp>
    </p:spTree>
    <p:extLst>
      <p:ext uri="{BB962C8B-B14F-4D97-AF65-F5344CB8AC3E}">
        <p14:creationId xmlns:p14="http://schemas.microsoft.com/office/powerpoint/2010/main" val="1321633056"/>
      </p:ext>
    </p:extLst>
  </p:cSld>
</p:sld>
</file>

<file path=ppt/slides/slide1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11B1E6CB-B1FB-4977-98F5-CF528D60DDFB}"/>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DBE68FC6-A4D7-4C01-8567-2981CBC63C37}"/>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663EBA68-9278-4E66-AA51-C7B3C1F8F6C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loop repeats an indented block</a:t>
            </a:r>
          </a:p>
        </p:txBody>
      </p:sp>
      <p:sp>
        <p:nvSpPr>
          <p:cNvPr id="4" name="">
            <a:extLst xmlns:a="http://schemas.openxmlformats.org/drawingml/2006/main">
              <a:ext uri="{FF2B5EF4-FFF2-40B4-BE49-F238E27FC236}">
                <a16:creationId xmlns:a16="http://schemas.microsoft.com/office/drawing/2014/main" id="{32D02AF5-7FBE-4135-86F9-9DFFA6BD11F6}"/>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0DCF8C18-796E-4D27-B198-A06EC0F8B2EB}"/>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for reading in readings: takes one item at a time.</a:t>
            </a:r>
          </a:p>
        </p:txBody>
      </p:sp>
      <p:sp>
        <p:nvSpPr>
          <p:cNvPr id="6" name="">
            <a:extLst xmlns:a="http://schemas.openxmlformats.org/drawingml/2006/main">
              <a:ext uri="{FF2B5EF4-FFF2-40B4-BE49-F238E27FC236}">
                <a16:creationId xmlns:a16="http://schemas.microsoft.com/office/drawing/2014/main" id="{2F12F17B-1501-46F8-876F-BB605CAA5A9C}"/>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B7B364FB-BBE7-467A-B17D-0C24576DDD8F}"/>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colon starts the block. Four spaces show which lines repeat.</a:t>
            </a:r>
          </a:p>
        </p:txBody>
      </p:sp>
      <p:sp>
        <p:nvSpPr>
          <p:cNvPr id="8" name="">
            <a:extLst xmlns:a="http://schemas.openxmlformats.org/drawingml/2006/main">
              <a:ext uri="{FF2B5EF4-FFF2-40B4-BE49-F238E27FC236}">
                <a16:creationId xmlns:a16="http://schemas.microsoft.com/office/drawing/2014/main" id="{3685AED4-3DA6-40C7-A503-27DE1CFCCE81}"/>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B98A1195-A9C0-4F02-9EBE-FA845FA6725B}"/>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running total must start at zero before the loop.</a:t>
            </a:r>
          </a:p>
        </p:txBody>
      </p:sp>
      <p:sp>
        <p:nvSpPr>
          <p:cNvPr id="10" name="">
            <a:extLst xmlns:a="http://schemas.openxmlformats.org/drawingml/2006/main">
              <a:ext uri="{FF2B5EF4-FFF2-40B4-BE49-F238E27FC236}">
                <a16:creationId xmlns:a16="http://schemas.microsoft.com/office/drawing/2014/main" id="{2913DE21-F38B-4E3A-A268-D52839F4E91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4   17</a:t>
            </a:r>
          </a:p>
        </p:txBody>
      </p:sp>
    </p:spTree>
    <p:extLst>
      <p:ext uri="{BB962C8B-B14F-4D97-AF65-F5344CB8AC3E}">
        <p14:creationId xmlns:p14="http://schemas.microsoft.com/office/powerpoint/2010/main" val="539909277"/>
      </p:ext>
    </p:extLst>
  </p:cSld>
</p:sld>
</file>

<file path=ppt/slides/slide1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4D2657F1-86AB-47EC-B6D5-DE9DDAAB8C2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139CDA4D-6A0D-4E26-9333-E7BFDF003CF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E92E7F4C-792D-48ED-967A-8E820510E53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mean uses a total and a count</a:t>
            </a:r>
          </a:p>
        </p:txBody>
      </p:sp>
      <p:sp>
        <p:nvSpPr>
          <p:cNvPr id="4" name="">
            <a:extLst xmlns:a="http://schemas.openxmlformats.org/drawingml/2006/main">
              <a:ext uri="{FF2B5EF4-FFF2-40B4-BE49-F238E27FC236}">
                <a16:creationId xmlns:a16="http://schemas.microsoft.com/office/drawing/2014/main" id="{14F09B70-C974-438D-A387-319134D21A6B}"/>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805B859B-347C-477A-A4D9-E0AD006871C1}"/>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Start the total at 0. Add 2, then 4, then 6.</a:t>
            </a:r>
          </a:p>
        </p:txBody>
      </p:sp>
      <p:sp>
        <p:nvSpPr>
          <p:cNvPr id="6" name="">
            <a:extLst xmlns:a="http://schemas.openxmlformats.org/drawingml/2006/main">
              <a:ext uri="{FF2B5EF4-FFF2-40B4-BE49-F238E27FC236}">
                <a16:creationId xmlns:a16="http://schemas.microsoft.com/office/drawing/2014/main" id="{63F8C2BF-9879-4EAF-AA5D-D4D9760AC2DE}"/>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A00AAF12-9A14-4F04-838A-704812315CD6}"/>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final total is 12. The count is 3.</a:t>
            </a:r>
          </a:p>
        </p:txBody>
      </p:sp>
      <p:sp>
        <p:nvSpPr>
          <p:cNvPr id="8" name="">
            <a:extLst xmlns:a="http://schemas.openxmlformats.org/drawingml/2006/main">
              <a:ext uri="{FF2B5EF4-FFF2-40B4-BE49-F238E27FC236}">
                <a16:creationId xmlns:a16="http://schemas.microsoft.com/office/drawing/2014/main" id="{91230893-95AF-4EEE-A2AB-442773335101}"/>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44FDCF45-39C4-47C0-AFC6-39F51D722BA5}"/>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12 / 3 gives the mean 4. An empty list needs a separate rule.</a:t>
            </a:r>
          </a:p>
        </p:txBody>
      </p:sp>
      <p:sp>
        <p:nvSpPr>
          <p:cNvPr id="10" name="">
            <a:extLst xmlns:a="http://schemas.openxmlformats.org/drawingml/2006/main">
              <a:ext uri="{FF2B5EF4-FFF2-40B4-BE49-F238E27FC236}">
                <a16:creationId xmlns:a16="http://schemas.microsoft.com/office/drawing/2014/main" id="{2AB9406D-B90D-44A8-AD0F-26036B8DB26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4   18</a:t>
            </a:r>
          </a:p>
        </p:txBody>
      </p:sp>
    </p:spTree>
    <p:extLst>
      <p:ext uri="{BB962C8B-B14F-4D97-AF65-F5344CB8AC3E}">
        <p14:creationId xmlns:p14="http://schemas.microsoft.com/office/powerpoint/2010/main" val="450979559"/>
      </p:ext>
    </p:extLst>
  </p:cSld>
</p:sld>
</file>

<file path=ppt/slides/slide1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D4FD0959-3730-453E-AA7E-7913B615E929}"/>
              </a:ext>
            </a:extLst>
          </p:cNvPr>
          <p:cNvSpPr>
            <a:spLocks xmlns:a="http://schemas.openxmlformats.org/drawingml/2006/main" noGrp="1"/>
          </p:cNvSpPr>
          <p:nvPr/>
        </p:nvSpPr>
        <p:spPr>
          <a:xfrm xmlns:a="http://schemas.openxmlformats.org/drawingml/2006/main">
            <a:off x="0" y="0"/>
            <a:ext cx="12191695" cy="95250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754DB2E4-304F-44FD-A289-9F9F8A8EF605}"/>
              </a:ext>
            </a:extLst>
          </p:cNvPr>
          <p:cNvSpPr>
            <a:spLocks xmlns:a="http://schemas.openxmlformats.org/drawingml/2006/main" noGrp="1"/>
          </p:cNvSpPr>
          <p:nvPr/>
        </p:nvSpPr>
        <p:spPr>
          <a:xfrm xmlns:a="http://schemas.openxmlformats.org/drawingml/2006/main">
            <a:off x="476250" y="190500"/>
            <a:ext cx="11239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925" b="1">
                <a:solidFill>
                  <a:srgbClr val="FFFFFF"/>
                </a:solidFill>
                <a:latin typeface="Calibri"/>
                <a:ea typeface="Calibri"/>
                <a:cs typeface="Calibri"/>
              </a:defRPr>
            </a:pPr>
            <a:r>
              <a:rPr sz="2925" b="1">
                <a:solidFill>
                  <a:srgbClr val="FFFFFF"/>
                </a:solidFill>
                <a:latin typeface="Calibri"/>
                <a:ea typeface="Calibri"/>
                <a:cs typeface="Calibri"/>
              </a:rPr>
              <a:t>A loop changes the running total</a:t>
            </a:r>
          </a:p>
        </p:txBody>
      </p:sp>
      <p:pic>
        <p:nvPicPr>
          <p:cNvPr id="9" name=""/>
          <p:cNvPicPr>
            <a:picLocks xmlns:a="http://schemas.openxmlformats.org/drawingml/2006/main" noChangeAspect="1"/>
          </p:cNvPicPr>
          <p:nvPr/>
        </p:nvPicPr>
        <p:blipFill>
          <a:blip xmlns:r="http://schemas.openxmlformats.org/officeDocument/2006/relationships" xmlns:a="http://schemas.openxmlformats.org/drawingml/2006/main" r:embed="Rde1516067f6c4773"/>
          <a:stretch xmlns:a="http://schemas.openxmlformats.org/drawingml/2006/main"/>
        </p:blipFill>
        <p:spPr>
          <a:xfrm xmlns:a="http://schemas.openxmlformats.org/drawingml/2006/main">
            <a:off x="413728" y="1057275"/>
            <a:ext cx="11364544" cy="4619625"/>
          </a:xfrm>
          <a:prstGeom xmlns:a="http://schemas.openxmlformats.org/drawingml/2006/main" prst="rect">
            <a:avLst/>
          </a:prstGeom>
        </p:spPr>
      </p:pic>
      <p:sp>
        <p:nvSpPr>
          <p:cNvPr id="4" name="">
            <a:extLst xmlns:a="http://schemas.openxmlformats.org/drawingml/2006/main">
              <a:ext uri="{FF2B5EF4-FFF2-40B4-BE49-F238E27FC236}">
                <a16:creationId xmlns:a16="http://schemas.microsoft.com/office/drawing/2014/main" id="{D8797CF2-B3FF-4DA1-94A0-CE87F9FF7EE8}"/>
              </a:ext>
            </a:extLst>
          </p:cNvPr>
          <p:cNvSpPr>
            <a:spLocks xmlns:a="http://schemas.openxmlformats.org/drawingml/2006/main" noGrp="1"/>
          </p:cNvSpPr>
          <p:nvPr/>
        </p:nvSpPr>
        <p:spPr>
          <a:xfrm xmlns:a="http://schemas.openxmlformats.org/drawingml/2006/main">
            <a:off x="0" y="5810250"/>
            <a:ext cx="12191695" cy="5905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C83ACEF3-CCB0-4320-AC32-E5B37637A70D}"/>
              </a:ext>
            </a:extLst>
          </p:cNvPr>
          <p:cNvSpPr>
            <a:spLocks xmlns:a="http://schemas.openxmlformats.org/drawingml/2006/main" noGrp="1"/>
          </p:cNvSpPr>
          <p:nvPr/>
        </p:nvSpPr>
        <p:spPr>
          <a:xfrm xmlns:a="http://schemas.openxmlformats.org/drawingml/2006/main">
            <a:off x="552450" y="5886450"/>
            <a:ext cx="11049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This illustration uses six separate readings. Next we trace the smaller list [2, 4, 6] using the same running-total rule.</a:t>
            </a:r>
          </a:p>
        </p:txBody>
      </p:sp>
      <p:sp>
        <p:nvSpPr>
          <p:cNvPr id="6" name="">
            <a:extLst xmlns:a="http://schemas.openxmlformats.org/drawingml/2006/main">
              <a:ext uri="{FF2B5EF4-FFF2-40B4-BE49-F238E27FC236}">
                <a16:creationId xmlns:a16="http://schemas.microsoft.com/office/drawing/2014/main" id="{EFF24F71-17AD-4148-875D-04717FF963F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4   19</a:t>
            </a:r>
          </a:p>
        </p:txBody>
      </p:sp>
    </p:spTree>
    <p:extLst>
      <p:ext uri="{BB962C8B-B14F-4D97-AF65-F5344CB8AC3E}">
        <p14:creationId xmlns:p14="http://schemas.microsoft.com/office/powerpoint/2010/main" val="1456572887"/>
      </p:ext>
    </p:extLst>
  </p:cSld>
</p:sld>
</file>

<file path=ppt/slides/slide2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3DB0142E-60ED-46A7-B469-43FA375EEE0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336D5223-C03B-41FA-AA98-6EB8020E168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READ THE EXAMPLE</a:t>
            </a:r>
          </a:p>
        </p:txBody>
      </p:sp>
      <p:sp>
        <p:nvSpPr>
          <p:cNvPr id="3" name="">
            <a:extLst xmlns:a="http://schemas.openxmlformats.org/drawingml/2006/main">
              <a:ext uri="{FF2B5EF4-FFF2-40B4-BE49-F238E27FC236}">
                <a16:creationId xmlns:a16="http://schemas.microsoft.com/office/drawing/2014/main" id="{F3396BF5-7B78-4FAE-8159-34398854F114}"/>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Tracing the loop</a:t>
            </a:r>
          </a:p>
        </p:txBody>
      </p:sp>
      <p:graphicFrame>
        <p:nvGraphicFramePr>
          <p:cNvPr id="10" name=""/>
          <p:cNvGraphicFramePr/>
          <p:nvPr/>
        </p:nvGraphicFramePr>
        <p:xfrm>
          <a:off xmlns:a="http://schemas.openxmlformats.org/drawingml/2006/main" x="590550" y="1733550"/>
          <a:ext xmlns:a="http://schemas.openxmlformats.org/drawingml/2006/main" cx="11010900" cy="3333750"/>
        </p:xfrm>
        <a:graphic xmlns:a="http://schemas.openxmlformats.org/drawingml/2006/main">
          <a:graphicData uri="http://schemas.openxmlformats.org/drawingml/2006/table">
            <a:tbl>
              <a:tblPr/>
              <a:tblGrid>
                <a:gridCol w="3670300"/>
                <a:gridCol w="3670300"/>
                <a:gridCol w="3670300"/>
              </a:tblGrid>
              <a:tr h="666750">
                <a:tc>
                  <a:txBody>
                    <a:bodyPr/>
                    <a:lstStyle/>
                    <a:p>
                      <a:r>
                        <a:rPr sz="2025" b="1">
                          <a:solidFill>
                            <a:srgbClr val="FFFFFF"/>
                          </a:solidFill>
                          <a:latin typeface="Calibri"/>
                          <a:ea typeface="Calibri"/>
                          <a:cs typeface="Calibri"/>
                        </a:rPr>
                        <a:t>Step</a:t>
                      </a:r>
                    </a:p>
                  </a:txBody>
                  <a:tcPr marL="91440" marR="91440" marT="45720" marB="45720">
                    <a:solidFill>
                      <a:srgbClr val="2E7D6F"/>
                    </a:solidFill>
                  </a:tcPr>
                </a:tc>
                <a:tc>
                  <a:txBody>
                    <a:bodyPr/>
                    <a:lstStyle/>
                    <a:p>
                      <a:r>
                        <a:rPr sz="2025" b="1">
                          <a:solidFill>
                            <a:srgbClr val="FFFFFF"/>
                          </a:solidFill>
                          <a:latin typeface="Calibri"/>
                          <a:ea typeface="Calibri"/>
                          <a:cs typeface="Calibri"/>
                        </a:rPr>
                        <a:t>reading</a:t>
                      </a:r>
                    </a:p>
                  </a:txBody>
                  <a:tcPr marL="91440" marR="91440" marT="45720" marB="45720">
                    <a:solidFill>
                      <a:srgbClr val="2E7D6F"/>
                    </a:solidFill>
                  </a:tcPr>
                </a:tc>
                <a:tc>
                  <a:txBody>
                    <a:bodyPr/>
                    <a:lstStyle/>
                    <a:p>
                      <a:r>
                        <a:rPr sz="2025" b="1">
                          <a:solidFill>
                            <a:srgbClr val="FFFFFF"/>
                          </a:solidFill>
                          <a:latin typeface="Calibri"/>
                          <a:ea typeface="Calibri"/>
                          <a:cs typeface="Calibri"/>
                        </a:rPr>
                        <a:t>total after addition</a:t>
                      </a:r>
                    </a:p>
                  </a:txBody>
                  <a:tcPr marL="91440" marR="91440" marT="45720" marB="45720">
                    <a:solidFill>
                      <a:srgbClr val="2E7D6F"/>
                    </a:solidFill>
                  </a:tcPr>
                </a:tc>
              </a:tr>
              <a:tr h="666750">
                <a:tc>
                  <a:txBody>
                    <a:bodyPr/>
                    <a:lstStyle/>
                    <a:p>
                      <a:r>
                        <a:rPr sz="2025" b="0">
                          <a:solidFill>
                            <a:srgbClr val="1C3144"/>
                          </a:solidFill>
                          <a:latin typeface="Calibri"/>
                          <a:ea typeface="Calibri"/>
                          <a:cs typeface="Calibri"/>
                        </a:rPr>
                        <a:t>Before loop</a:t>
                      </a:r>
                    </a:p>
                  </a:txBody>
                  <a:tcPr marL="91440" marR="91440" marT="45720" marB="45720">
                    <a:solidFill>
                      <a:srgbClr val="EEF3F6"/>
                    </a:solidFill>
                  </a:tcPr>
                </a:tc>
                <a:tc>
                  <a:txBody>
                    <a:bodyPr/>
                    <a:lstStyle/>
                    <a:p>
                      <a:r>
                        <a:rPr sz="2025" b="0">
                          <a:solidFill>
                            <a:srgbClr val="1C3144"/>
                          </a:solidFill>
                          <a:latin typeface="Calibri"/>
                          <a:ea typeface="Calibri"/>
                          <a:cs typeface="Calibri"/>
                        </a:rPr>
                        <a:t>—</a:t>
                      </a:r>
                    </a:p>
                  </a:txBody>
                  <a:tcPr marL="91440" marR="91440" marT="45720" marB="45720">
                    <a:solidFill>
                      <a:srgbClr val="EEF3F6"/>
                    </a:solidFill>
                  </a:tcPr>
                </a:tc>
                <a:tc>
                  <a:txBody>
                    <a:bodyPr/>
                    <a:lstStyle/>
                    <a:p>
                      <a:r>
                        <a:rPr sz="2025" b="0">
                          <a:solidFill>
                            <a:srgbClr val="1C3144"/>
                          </a:solidFill>
                          <a:latin typeface="Calibri"/>
                          <a:ea typeface="Calibri"/>
                          <a:cs typeface="Calibri"/>
                        </a:rPr>
                        <a:t>0</a:t>
                      </a:r>
                    </a:p>
                  </a:txBody>
                  <a:tcPr marL="91440" marR="91440" marT="45720" marB="45720">
                    <a:solidFill>
                      <a:srgbClr val="EEF3F6"/>
                    </a:solidFill>
                  </a:tcPr>
                </a:tc>
              </a:tr>
              <a:tr h="666750">
                <a:tc>
                  <a:txBody>
                    <a:bodyPr/>
                    <a:lstStyle/>
                    <a:p>
                      <a:r>
                        <a:rPr sz="2025" b="0">
                          <a:solidFill>
                            <a:srgbClr val="1C3144"/>
                          </a:solidFill>
                          <a:latin typeface="Calibri"/>
                          <a:ea typeface="Calibri"/>
                          <a:cs typeface="Calibri"/>
                        </a:rPr>
                        <a:t>First</a:t>
                      </a:r>
                    </a:p>
                  </a:txBody>
                  <a:tcPr marL="91440" marR="91440" marT="45720" marB="45720">
                    <a:solidFill>
                      <a:srgbClr val="FFFFFF"/>
                    </a:solidFill>
                  </a:tcPr>
                </a:tc>
                <a:tc>
                  <a:txBody>
                    <a:bodyPr/>
                    <a:lstStyle/>
                    <a:p>
                      <a:r>
                        <a:rPr sz="2025" b="0">
                          <a:solidFill>
                            <a:srgbClr val="1C3144"/>
                          </a:solidFill>
                          <a:latin typeface="Calibri"/>
                          <a:ea typeface="Calibri"/>
                          <a:cs typeface="Calibri"/>
                        </a:rPr>
                        <a:t>2</a:t>
                      </a:r>
                    </a:p>
                  </a:txBody>
                  <a:tcPr marL="91440" marR="91440" marT="45720" marB="45720">
                    <a:solidFill>
                      <a:srgbClr val="FFFFFF"/>
                    </a:solidFill>
                  </a:tcPr>
                </a:tc>
                <a:tc>
                  <a:txBody>
                    <a:bodyPr/>
                    <a:lstStyle/>
                    <a:p>
                      <a:r>
                        <a:rPr sz="2025" b="0">
                          <a:solidFill>
                            <a:srgbClr val="1C3144"/>
                          </a:solidFill>
                          <a:latin typeface="Calibri"/>
                          <a:ea typeface="Calibri"/>
                          <a:cs typeface="Calibri"/>
                        </a:rPr>
                        <a:t>2</a:t>
                      </a:r>
                    </a:p>
                  </a:txBody>
                  <a:tcPr marL="91440" marR="91440" marT="45720" marB="45720">
                    <a:solidFill>
                      <a:srgbClr val="FFFFFF"/>
                    </a:solidFill>
                  </a:tcPr>
                </a:tc>
              </a:tr>
              <a:tr h="666750">
                <a:tc>
                  <a:txBody>
                    <a:bodyPr/>
                    <a:lstStyle/>
                    <a:p>
                      <a:r>
                        <a:rPr sz="2025" b="0">
                          <a:solidFill>
                            <a:srgbClr val="1C3144"/>
                          </a:solidFill>
                          <a:latin typeface="Calibri"/>
                          <a:ea typeface="Calibri"/>
                          <a:cs typeface="Calibri"/>
                        </a:rPr>
                        <a:t>Second</a:t>
                      </a:r>
                    </a:p>
                  </a:txBody>
                  <a:tcPr marL="91440" marR="91440" marT="45720" marB="45720">
                    <a:solidFill>
                      <a:srgbClr val="EEF3F6"/>
                    </a:solidFill>
                  </a:tcPr>
                </a:tc>
                <a:tc>
                  <a:txBody>
                    <a:bodyPr/>
                    <a:lstStyle/>
                    <a:p>
                      <a:r>
                        <a:rPr sz="2025" b="0">
                          <a:solidFill>
                            <a:srgbClr val="1C3144"/>
                          </a:solidFill>
                          <a:latin typeface="Calibri"/>
                          <a:ea typeface="Calibri"/>
                          <a:cs typeface="Calibri"/>
                        </a:rPr>
                        <a:t>4</a:t>
                      </a:r>
                    </a:p>
                  </a:txBody>
                  <a:tcPr marL="91440" marR="91440" marT="45720" marB="45720">
                    <a:solidFill>
                      <a:srgbClr val="EEF3F6"/>
                    </a:solidFill>
                  </a:tcPr>
                </a:tc>
                <a:tc>
                  <a:txBody>
                    <a:bodyPr/>
                    <a:lstStyle/>
                    <a:p>
                      <a:r>
                        <a:rPr sz="2025" b="0">
                          <a:solidFill>
                            <a:srgbClr val="1C3144"/>
                          </a:solidFill>
                          <a:latin typeface="Calibri"/>
                          <a:ea typeface="Calibri"/>
                          <a:cs typeface="Calibri"/>
                        </a:rPr>
                        <a:t>6</a:t>
                      </a:r>
                    </a:p>
                  </a:txBody>
                  <a:tcPr marL="91440" marR="91440" marT="45720" marB="45720">
                    <a:solidFill>
                      <a:srgbClr val="EEF3F6"/>
                    </a:solidFill>
                  </a:tcPr>
                </a:tc>
              </a:tr>
              <a:tr h="666750">
                <a:tc>
                  <a:txBody>
                    <a:bodyPr/>
                    <a:lstStyle/>
                    <a:p>
                      <a:r>
                        <a:rPr sz="2025" b="0">
                          <a:solidFill>
                            <a:srgbClr val="1C3144"/>
                          </a:solidFill>
                          <a:latin typeface="Calibri"/>
                          <a:ea typeface="Calibri"/>
                          <a:cs typeface="Calibri"/>
                        </a:rPr>
                        <a:t>Third</a:t>
                      </a:r>
                    </a:p>
                  </a:txBody>
                  <a:tcPr marL="91440" marR="91440" marT="45720" marB="45720">
                    <a:solidFill>
                      <a:srgbClr val="FFFFFF"/>
                    </a:solidFill>
                  </a:tcPr>
                </a:tc>
                <a:tc>
                  <a:txBody>
                    <a:bodyPr/>
                    <a:lstStyle/>
                    <a:p>
                      <a:r>
                        <a:rPr sz="2025" b="0">
                          <a:solidFill>
                            <a:srgbClr val="1C3144"/>
                          </a:solidFill>
                          <a:latin typeface="Calibri"/>
                          <a:ea typeface="Calibri"/>
                          <a:cs typeface="Calibri"/>
                        </a:rPr>
                        <a:t>6</a:t>
                      </a:r>
                    </a:p>
                  </a:txBody>
                  <a:tcPr marL="91440" marR="91440" marT="45720" marB="45720">
                    <a:solidFill>
                      <a:srgbClr val="FFFFFF"/>
                    </a:solidFill>
                  </a:tcPr>
                </a:tc>
                <a:tc>
                  <a:txBody>
                    <a:bodyPr/>
                    <a:lstStyle/>
                    <a:p>
                      <a:r>
                        <a:rPr sz="2025" b="0">
                          <a:solidFill>
                            <a:srgbClr val="1C3144"/>
                          </a:solidFill>
                          <a:latin typeface="Calibri"/>
                          <a:ea typeface="Calibri"/>
                          <a:cs typeface="Calibri"/>
                        </a:rPr>
                        <a:t>12</a:t>
                      </a:r>
                    </a:p>
                  </a:txBody>
                  <a:tcPr marL="91440" marR="91440" marT="45720" marB="45720">
                    <a:solidFill>
                      <a:srgbClr val="FFFFFF"/>
                    </a:solidFill>
                  </a:tcPr>
                </a:tc>
              </a:tr>
            </a:tbl>
          </a:graphicData>
        </a:graphic>
      </p:graphicFrame>
      <p:sp>
        <p:nvSpPr>
          <p:cNvPr id="5" name="">
            <a:extLst xmlns:a="http://schemas.openxmlformats.org/drawingml/2006/main">
              <a:ext uri="{FF2B5EF4-FFF2-40B4-BE49-F238E27FC236}">
                <a16:creationId xmlns:a16="http://schemas.microsoft.com/office/drawing/2014/main" id="{C60B0312-5AD3-445D-A54E-04B984522FB4}"/>
              </a:ext>
            </a:extLst>
          </p:cNvPr>
          <p:cNvSpPr>
            <a:spLocks xmlns:a="http://schemas.openxmlformats.org/drawingml/2006/main" noGrp="1"/>
          </p:cNvSpPr>
          <p:nvPr/>
        </p:nvSpPr>
        <p:spPr>
          <a:xfrm xmlns:a="http://schemas.openxmlformats.org/drawingml/2006/main">
            <a:off x="685800" y="5381625"/>
            <a:ext cx="106680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There are three readings.</a:t>
            </a:r>
          </a:p>
        </p:txBody>
      </p:sp>
      <p:sp>
        <p:nvSpPr>
          <p:cNvPr id="6" name="">
            <a:extLst xmlns:a="http://schemas.openxmlformats.org/drawingml/2006/main">
              <a:ext uri="{FF2B5EF4-FFF2-40B4-BE49-F238E27FC236}">
                <a16:creationId xmlns:a16="http://schemas.microsoft.com/office/drawing/2014/main" id="{E6E44D5E-07A0-4B2C-9309-AD12954D7C9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4   20</a:t>
            </a:r>
          </a:p>
        </p:txBody>
      </p:sp>
    </p:spTree>
    <p:extLst>
      <p:ext uri="{BB962C8B-B14F-4D97-AF65-F5344CB8AC3E}">
        <p14:creationId xmlns:p14="http://schemas.microsoft.com/office/powerpoint/2010/main" val="41030044"/>
      </p:ext>
    </p:extLst>
  </p:cSld>
</p:sld>
</file>

<file path=ppt/slides/slide2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0C4C1AB8-3BAA-461D-8AD0-AE26BA634184}"/>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62D27E47-B387-4CCF-BB9B-B1F58B20CFF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6AEEC20B-F736-4B8D-98E2-581D3AD3667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Lists loops and records in Python</a:t>
            </a:r>
          </a:p>
        </p:txBody>
      </p:sp>
      <p:sp>
        <p:nvSpPr>
          <p:cNvPr id="4" name="">
            <a:extLst xmlns:a="http://schemas.openxmlformats.org/drawingml/2006/main">
              <a:ext uri="{FF2B5EF4-FFF2-40B4-BE49-F238E27FC236}">
                <a16:creationId xmlns:a16="http://schemas.microsoft.com/office/drawing/2014/main" id="{19EA467D-B298-4335-A314-5EB8A3BE562B}"/>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427F2A35-E04F-4E67-8BD3-DE91AA7A3D71}"/>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readings = [2, 4, 6]</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total = 0</a:t>
            </a:r>
          </a:p>
          <a:p xmlns:a="http://schemas.openxmlformats.org/drawingml/2006/main">
            <a:pPr>
              <a:defRPr sz="2175" b="0">
                <a:solidFill>
                  <a:srgbClr val="F4F7FA"/>
                </a:solidFill>
                <a:latin typeface="Courier New"/>
                <a:ea typeface="Courier New"/>
                <a:cs typeface="Courier New"/>
              </a:defRPr>
            </a:pPr>
            <a:r>
              <a:rPr sz="2175" b="0">
                <a:solidFill>
                  <a:srgbClr val="FFB080"/>
                </a:solidFill>
                <a:latin typeface="Courier New"/>
                <a:ea typeface="Courier New"/>
                <a:cs typeface="Courier New"/>
              </a:rPr>
              <a:t>for</a:t>
            </a:r>
            <a:r>
              <a:rPr sz="2175" b="0">
                <a:solidFill>
                  <a:srgbClr val="F4F7FA"/>
                </a:solidFill>
                <a:latin typeface="Courier New"/>
                <a:ea typeface="Courier New"/>
                <a:cs typeface="Courier New"/>
              </a:rPr>
              <a:t> reading in readings:</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total = total + reading</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mean = total / len(readings)</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print(mean)</a:t>
            </a:r>
          </a:p>
        </p:txBody>
      </p:sp>
      <p:sp>
        <p:nvSpPr>
          <p:cNvPr id="6" name="">
            <a:extLst xmlns:a="http://schemas.openxmlformats.org/drawingml/2006/main">
              <a:ext uri="{FF2B5EF4-FFF2-40B4-BE49-F238E27FC236}">
                <a16:creationId xmlns:a16="http://schemas.microsoft.com/office/drawing/2014/main" id="{C3F9D02D-D046-4066-94AF-B903916F28AA}"/>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383133FF-50A2-4B84-933F-E9F7B9A9714E}"/>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for takes the next item. The indented block repeats.</a:t>
            </a:r>
          </a:p>
        </p:txBody>
      </p:sp>
      <p:sp>
        <p:nvSpPr>
          <p:cNvPr id="8" name="">
            <a:extLst xmlns:a="http://schemas.openxmlformats.org/drawingml/2006/main">
              <a:ext uri="{FF2B5EF4-FFF2-40B4-BE49-F238E27FC236}">
                <a16:creationId xmlns:a16="http://schemas.microsoft.com/office/drawing/2014/main" id="{D42BB4E2-D9EF-4DB3-98CA-3BDE470A9660}"/>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print displays a value below the cell.</a:t>
            </a:r>
          </a:p>
        </p:txBody>
      </p:sp>
      <p:sp>
        <p:nvSpPr>
          <p:cNvPr id="9" name="">
            <a:extLst xmlns:a="http://schemas.openxmlformats.org/drawingml/2006/main">
              <a:ext uri="{FF2B5EF4-FFF2-40B4-BE49-F238E27FC236}">
                <a16:creationId xmlns:a16="http://schemas.microsoft.com/office/drawing/2014/main" id="{C28ADB9A-B667-46C8-809F-1B9DA5CAB66F}"/>
              </a:ext>
            </a:extLst>
          </p:cNvPr>
          <p:cNvSpPr>
            <a:spLocks xmlns:a="http://schemas.openxmlformats.org/drawingml/2006/main" noGrp="1"/>
          </p:cNvSpPr>
          <p:nvPr/>
        </p:nvSpPr>
        <p:spPr>
          <a:xfrm xmlns:a="http://schemas.openxmlformats.org/drawingml/2006/main">
            <a:off x="8096250" y="43434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Square brackets create a list or select an item.</a:t>
            </a:r>
          </a:p>
        </p:txBody>
      </p:sp>
      <p:sp>
        <p:nvSpPr>
          <p:cNvPr id="10" name="">
            <a:extLst xmlns:a="http://schemas.openxmlformats.org/drawingml/2006/main">
              <a:ext uri="{FF2B5EF4-FFF2-40B4-BE49-F238E27FC236}">
                <a16:creationId xmlns:a16="http://schemas.microsoft.com/office/drawing/2014/main" id="{66D19603-8019-46C5-98E0-0459701981B8}"/>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Read top to bottom. Run the complete example in the matching practice notebook.</a:t>
            </a:r>
          </a:p>
        </p:txBody>
      </p:sp>
      <p:sp>
        <p:nvSpPr>
          <p:cNvPr id="11" name="">
            <a:extLst xmlns:a="http://schemas.openxmlformats.org/drawingml/2006/main">
              <a:ext uri="{FF2B5EF4-FFF2-40B4-BE49-F238E27FC236}">
                <a16:creationId xmlns:a16="http://schemas.microsoft.com/office/drawing/2014/main" id="{3FBEACF0-602C-47D3-99D3-A3F20A085129}"/>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4   21</a:t>
            </a:r>
          </a:p>
        </p:txBody>
      </p:sp>
    </p:spTree>
    <p:extLst>
      <p:ext uri="{BB962C8B-B14F-4D97-AF65-F5344CB8AC3E}">
        <p14:creationId xmlns:p14="http://schemas.microsoft.com/office/powerpoint/2010/main" val="1321198387"/>
      </p:ext>
    </p:extLst>
  </p:cSld>
</p:sld>
</file>

<file path=ppt/slides/slide2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4F9656A1-1646-4B87-85E2-648452022C1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7274F62E-5493-4FE4-9222-5FD150AF1BA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CHECK THE OUTPUT</a:t>
            </a:r>
          </a:p>
        </p:txBody>
      </p:sp>
      <p:sp>
        <p:nvSpPr>
          <p:cNvPr id="3" name="">
            <a:extLst xmlns:a="http://schemas.openxmlformats.org/drawingml/2006/main">
              <a:ext uri="{FF2B5EF4-FFF2-40B4-BE49-F238E27FC236}">
                <a16:creationId xmlns:a16="http://schemas.microsoft.com/office/drawing/2014/main" id="{E773C19C-F427-4FA3-BF7B-A0CE830CFA5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Lists loops and records results</a:t>
            </a:r>
          </a:p>
        </p:txBody>
      </p:sp>
      <p:sp>
        <p:nvSpPr>
          <p:cNvPr id="4" name="">
            <a:extLst xmlns:a="http://schemas.openxmlformats.org/drawingml/2006/main">
              <a:ext uri="{FF2B5EF4-FFF2-40B4-BE49-F238E27FC236}">
                <a16:creationId xmlns:a16="http://schemas.microsoft.com/office/drawing/2014/main" id="{B2EE0825-26F4-4141-9F56-EA8AD879A909}"/>
              </a:ext>
            </a:extLst>
          </p:cNvPr>
          <p:cNvSpPr>
            <a:spLocks xmlns:a="http://schemas.openxmlformats.org/drawingml/2006/main" noGrp="1"/>
          </p:cNvSpPr>
          <p:nvPr/>
        </p:nvSpPr>
        <p:spPr>
          <a:xfrm xmlns:a="http://schemas.openxmlformats.org/drawingml/2006/main">
            <a:off x="590550" y="1752600"/>
            <a:ext cx="11010900" cy="35242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DC8F9371-83DB-42CD-B083-77C231A2AE5E}"/>
              </a:ext>
            </a:extLst>
          </p:cNvPr>
          <p:cNvSpPr>
            <a:spLocks xmlns:a="http://schemas.openxmlformats.org/drawingml/2006/main" noGrp="1"/>
          </p:cNvSpPr>
          <p:nvPr/>
        </p:nvSpPr>
        <p:spPr>
          <a:xfrm xmlns:a="http://schemas.openxmlformats.org/drawingml/2006/main">
            <a:off x="904875" y="2028825"/>
            <a:ext cx="10334625" cy="3048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0">
                <a:solidFill>
                  <a:srgbClr val="2E7D6F"/>
                </a:solidFill>
                <a:latin typeface="Courier New"/>
                <a:ea typeface="Courier New"/>
                <a:cs typeface="Courier New"/>
              </a:defRPr>
            </a:pPr>
            <a:r>
              <a:rPr sz="3150" b="0">
                <a:solidFill>
                  <a:srgbClr val="2E7D6F"/>
                </a:solidFill>
                <a:latin typeface="Courier New"/>
                <a:ea typeface="Courier New"/>
                <a:cs typeface="Courier New"/>
              </a:rPr>
              <a:t>4.0</a:t>
            </a:r>
          </a:p>
        </p:txBody>
      </p:sp>
      <p:sp>
        <p:nvSpPr>
          <p:cNvPr id="6" name="">
            <a:extLst xmlns:a="http://schemas.openxmlformats.org/drawingml/2006/main">
              <a:ext uri="{FF2B5EF4-FFF2-40B4-BE49-F238E27FC236}">
                <a16:creationId xmlns:a16="http://schemas.microsoft.com/office/drawing/2014/main" id="{5D5CBE87-62C2-4823-AA42-F9797DDDD732}"/>
              </a:ext>
            </a:extLst>
          </p:cNvPr>
          <p:cNvSpPr>
            <a:spLocks xmlns:a="http://schemas.openxmlformats.org/drawingml/2006/main" noGrp="1"/>
          </p:cNvSpPr>
          <p:nvPr/>
        </p:nvSpPr>
        <p:spPr>
          <a:xfrm xmlns:a="http://schemas.openxmlformats.org/drawingml/2006/main">
            <a:off x="685800" y="5581650"/>
            <a:ext cx="10668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Which step produced this result? What changes if one input changes?</a:t>
            </a:r>
          </a:p>
        </p:txBody>
      </p:sp>
      <p:sp>
        <p:nvSpPr>
          <p:cNvPr id="7" name="">
            <a:extLst xmlns:a="http://schemas.openxmlformats.org/drawingml/2006/main">
              <a:ext uri="{FF2B5EF4-FFF2-40B4-BE49-F238E27FC236}">
                <a16:creationId xmlns:a16="http://schemas.microsoft.com/office/drawing/2014/main" id="{E3DFACB9-94A1-4ABE-8DB6-F9105AEB385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4   22</a:t>
            </a:r>
          </a:p>
        </p:txBody>
      </p:sp>
    </p:spTree>
    <p:extLst>
      <p:ext uri="{BB962C8B-B14F-4D97-AF65-F5344CB8AC3E}">
        <p14:creationId xmlns:p14="http://schemas.microsoft.com/office/powerpoint/2010/main" val="1849546309"/>
      </p:ext>
    </p:extLst>
  </p:cSld>
</p:sld>
</file>

<file path=ppt/slides/slide2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95DF0402-8A8D-4597-B36F-29957EAB2D6A}"/>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CCE51046-3C80-4F17-B411-43DA86601EE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READ THE EXAMPLE</a:t>
            </a:r>
          </a:p>
        </p:txBody>
      </p:sp>
      <p:sp>
        <p:nvSpPr>
          <p:cNvPr id="3" name="">
            <a:extLst xmlns:a="http://schemas.openxmlformats.org/drawingml/2006/main">
              <a:ext uri="{FF2B5EF4-FFF2-40B4-BE49-F238E27FC236}">
                <a16:creationId xmlns:a16="http://schemas.microsoft.com/office/drawing/2014/main" id="{617473C6-10BC-4533-AE2F-CBBBE64351D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The built-in summary functions</a:t>
            </a:r>
          </a:p>
        </p:txBody>
      </p:sp>
      <p:graphicFrame>
        <p:nvGraphicFramePr>
          <p:cNvPr id="10" name=""/>
          <p:cNvGraphicFramePr/>
          <p:nvPr/>
        </p:nvGraphicFramePr>
        <p:xfrm>
          <a:off xmlns:a="http://schemas.openxmlformats.org/drawingml/2006/main" x="590550" y="1733550"/>
          <a:ext xmlns:a="http://schemas.openxmlformats.org/drawingml/2006/main" cx="11010900" cy="3333750"/>
        </p:xfrm>
        <a:graphic xmlns:a="http://schemas.openxmlformats.org/drawingml/2006/main">
          <a:graphicData uri="http://schemas.openxmlformats.org/drawingml/2006/table">
            <a:tbl>
              <a:tblPr/>
              <a:tblGrid>
                <a:gridCol w="3670300"/>
                <a:gridCol w="3670300"/>
                <a:gridCol w="3670300"/>
              </a:tblGrid>
              <a:tr h="666750">
                <a:tc>
                  <a:txBody>
                    <a:bodyPr/>
                    <a:lstStyle/>
                    <a:p>
                      <a:r>
                        <a:rPr sz="2025" b="1">
                          <a:solidFill>
                            <a:srgbClr val="FFFFFF"/>
                          </a:solidFill>
                          <a:latin typeface="Calibri"/>
                          <a:ea typeface="Calibri"/>
                          <a:cs typeface="Calibri"/>
                        </a:rPr>
                        <a:t>Function</a:t>
                      </a:r>
                    </a:p>
                  </a:txBody>
                  <a:tcPr marL="91440" marR="91440" marT="45720" marB="45720">
                    <a:solidFill>
                      <a:srgbClr val="2E7D6F"/>
                    </a:solidFill>
                  </a:tcPr>
                </a:tc>
                <a:tc>
                  <a:txBody>
                    <a:bodyPr/>
                    <a:lstStyle/>
                    <a:p>
                      <a:r>
                        <a:rPr sz="2025" b="1">
                          <a:solidFill>
                            <a:srgbClr val="FFFFFF"/>
                          </a:solidFill>
                          <a:latin typeface="Calibri"/>
                          <a:ea typeface="Calibri"/>
                          <a:cs typeface="Calibri"/>
                        </a:rPr>
                        <a:t>Question it answers</a:t>
                      </a:r>
                    </a:p>
                  </a:txBody>
                  <a:tcPr marL="91440" marR="91440" marT="45720" marB="45720">
                    <a:solidFill>
                      <a:srgbClr val="2E7D6F"/>
                    </a:solidFill>
                  </a:tcPr>
                </a:tc>
                <a:tc>
                  <a:txBody>
                    <a:bodyPr/>
                    <a:lstStyle/>
                    <a:p>
                      <a:r>
                        <a:rPr sz="2025" b="1">
                          <a:solidFill>
                            <a:srgbClr val="FFFFFF"/>
                          </a:solidFill>
                          <a:latin typeface="Calibri"/>
                          <a:ea typeface="Calibri"/>
                          <a:cs typeface="Calibri"/>
                        </a:rPr>
                        <a:t>For [2, 4, 6]</a:t>
                      </a:r>
                    </a:p>
                  </a:txBody>
                  <a:tcPr marL="91440" marR="91440" marT="45720" marB="45720">
                    <a:solidFill>
                      <a:srgbClr val="2E7D6F"/>
                    </a:solidFill>
                  </a:tcPr>
                </a:tc>
              </a:tr>
              <a:tr h="666750">
                <a:tc>
                  <a:txBody>
                    <a:bodyPr/>
                    <a:lstStyle/>
                    <a:p>
                      <a:r>
                        <a:rPr sz="2025" b="0">
                          <a:solidFill>
                            <a:srgbClr val="1C3144"/>
                          </a:solidFill>
                          <a:latin typeface="Calibri"/>
                          <a:ea typeface="Calibri"/>
                          <a:cs typeface="Calibri"/>
                        </a:rPr>
                        <a:t>len</a:t>
                      </a:r>
                    </a:p>
                  </a:txBody>
                  <a:tcPr marL="91440" marR="91440" marT="45720" marB="45720">
                    <a:solidFill>
                      <a:srgbClr val="EEF3F6"/>
                    </a:solidFill>
                  </a:tcPr>
                </a:tc>
                <a:tc>
                  <a:txBody>
                    <a:bodyPr/>
                    <a:lstStyle/>
                    <a:p>
                      <a:r>
                        <a:rPr sz="2025" b="0">
                          <a:solidFill>
                            <a:srgbClr val="1C3144"/>
                          </a:solidFill>
                          <a:latin typeface="Calibri"/>
                          <a:ea typeface="Calibri"/>
                          <a:cs typeface="Calibri"/>
                        </a:rPr>
                        <a:t>How many items?</a:t>
                      </a:r>
                    </a:p>
                  </a:txBody>
                  <a:tcPr marL="91440" marR="91440" marT="45720" marB="45720">
                    <a:solidFill>
                      <a:srgbClr val="EEF3F6"/>
                    </a:solidFill>
                  </a:tcPr>
                </a:tc>
                <a:tc>
                  <a:txBody>
                    <a:bodyPr/>
                    <a:lstStyle/>
                    <a:p>
                      <a:r>
                        <a:rPr sz="2025" b="0">
                          <a:solidFill>
                            <a:srgbClr val="1C3144"/>
                          </a:solidFill>
                          <a:latin typeface="Calibri"/>
                          <a:ea typeface="Calibri"/>
                          <a:cs typeface="Calibri"/>
                        </a:rPr>
                        <a:t>3</a:t>
                      </a:r>
                    </a:p>
                  </a:txBody>
                  <a:tcPr marL="91440" marR="91440" marT="45720" marB="45720">
                    <a:solidFill>
                      <a:srgbClr val="EEF3F6"/>
                    </a:solidFill>
                  </a:tcPr>
                </a:tc>
              </a:tr>
              <a:tr h="666750">
                <a:tc>
                  <a:txBody>
                    <a:bodyPr/>
                    <a:lstStyle/>
                    <a:p>
                      <a:r>
                        <a:rPr sz="2025" b="0">
                          <a:solidFill>
                            <a:srgbClr val="1C3144"/>
                          </a:solidFill>
                          <a:latin typeface="Calibri"/>
                          <a:ea typeface="Calibri"/>
                          <a:cs typeface="Calibri"/>
                        </a:rPr>
                        <a:t>sum</a:t>
                      </a:r>
                    </a:p>
                  </a:txBody>
                  <a:tcPr marL="91440" marR="91440" marT="45720" marB="45720">
                    <a:solidFill>
                      <a:srgbClr val="FFFFFF"/>
                    </a:solidFill>
                  </a:tcPr>
                </a:tc>
                <a:tc>
                  <a:txBody>
                    <a:bodyPr/>
                    <a:lstStyle/>
                    <a:p>
                      <a:r>
                        <a:rPr sz="2025" b="0">
                          <a:solidFill>
                            <a:srgbClr val="1C3144"/>
                          </a:solidFill>
                          <a:latin typeface="Calibri"/>
                          <a:ea typeface="Calibri"/>
                          <a:cs typeface="Calibri"/>
                        </a:rPr>
                        <a:t>What is their total?</a:t>
                      </a:r>
                    </a:p>
                  </a:txBody>
                  <a:tcPr marL="91440" marR="91440" marT="45720" marB="45720">
                    <a:solidFill>
                      <a:srgbClr val="FFFFFF"/>
                    </a:solidFill>
                  </a:tcPr>
                </a:tc>
                <a:tc>
                  <a:txBody>
                    <a:bodyPr/>
                    <a:lstStyle/>
                    <a:p>
                      <a:r>
                        <a:rPr sz="2025" b="0">
                          <a:solidFill>
                            <a:srgbClr val="1C3144"/>
                          </a:solidFill>
                          <a:latin typeface="Calibri"/>
                          <a:ea typeface="Calibri"/>
                          <a:cs typeface="Calibri"/>
                        </a:rPr>
                        <a:t>12</a:t>
                      </a:r>
                    </a:p>
                  </a:txBody>
                  <a:tcPr marL="91440" marR="91440" marT="45720" marB="45720">
                    <a:solidFill>
                      <a:srgbClr val="FFFFFF"/>
                    </a:solidFill>
                  </a:tcPr>
                </a:tc>
              </a:tr>
              <a:tr h="666750">
                <a:tc>
                  <a:txBody>
                    <a:bodyPr/>
                    <a:lstStyle/>
                    <a:p>
                      <a:r>
                        <a:rPr sz="2025" b="0">
                          <a:solidFill>
                            <a:srgbClr val="1C3144"/>
                          </a:solidFill>
                          <a:latin typeface="Calibri"/>
                          <a:ea typeface="Calibri"/>
                          <a:cs typeface="Calibri"/>
                        </a:rPr>
                        <a:t>min</a:t>
                      </a:r>
                    </a:p>
                  </a:txBody>
                  <a:tcPr marL="91440" marR="91440" marT="45720" marB="45720">
                    <a:solidFill>
                      <a:srgbClr val="EEF3F6"/>
                    </a:solidFill>
                  </a:tcPr>
                </a:tc>
                <a:tc>
                  <a:txBody>
                    <a:bodyPr/>
                    <a:lstStyle/>
                    <a:p>
                      <a:r>
                        <a:rPr sz="2025" b="0">
                          <a:solidFill>
                            <a:srgbClr val="1C3144"/>
                          </a:solidFill>
                          <a:latin typeface="Calibri"/>
                          <a:ea typeface="Calibri"/>
                          <a:cs typeface="Calibri"/>
                        </a:rPr>
                        <a:t>Which is smallest?</a:t>
                      </a:r>
                    </a:p>
                  </a:txBody>
                  <a:tcPr marL="91440" marR="91440" marT="45720" marB="45720">
                    <a:solidFill>
                      <a:srgbClr val="EEF3F6"/>
                    </a:solidFill>
                  </a:tcPr>
                </a:tc>
                <a:tc>
                  <a:txBody>
                    <a:bodyPr/>
                    <a:lstStyle/>
                    <a:p>
                      <a:r>
                        <a:rPr sz="2025" b="0">
                          <a:solidFill>
                            <a:srgbClr val="1C3144"/>
                          </a:solidFill>
                          <a:latin typeface="Calibri"/>
                          <a:ea typeface="Calibri"/>
                          <a:cs typeface="Calibri"/>
                        </a:rPr>
                        <a:t>2</a:t>
                      </a:r>
                    </a:p>
                  </a:txBody>
                  <a:tcPr marL="91440" marR="91440" marT="45720" marB="45720">
                    <a:solidFill>
                      <a:srgbClr val="EEF3F6"/>
                    </a:solidFill>
                  </a:tcPr>
                </a:tc>
              </a:tr>
              <a:tr h="666750">
                <a:tc>
                  <a:txBody>
                    <a:bodyPr/>
                    <a:lstStyle/>
                    <a:p>
                      <a:r>
                        <a:rPr sz="2025" b="0">
                          <a:solidFill>
                            <a:srgbClr val="1C3144"/>
                          </a:solidFill>
                          <a:latin typeface="Calibri"/>
                          <a:ea typeface="Calibri"/>
                          <a:cs typeface="Calibri"/>
                        </a:rPr>
                        <a:t>max</a:t>
                      </a:r>
                    </a:p>
                  </a:txBody>
                  <a:tcPr marL="91440" marR="91440" marT="45720" marB="45720">
                    <a:solidFill>
                      <a:srgbClr val="FFFFFF"/>
                    </a:solidFill>
                  </a:tcPr>
                </a:tc>
                <a:tc>
                  <a:txBody>
                    <a:bodyPr/>
                    <a:lstStyle/>
                    <a:p>
                      <a:r>
                        <a:rPr sz="2025" b="0">
                          <a:solidFill>
                            <a:srgbClr val="1C3144"/>
                          </a:solidFill>
                          <a:latin typeface="Calibri"/>
                          <a:ea typeface="Calibri"/>
                          <a:cs typeface="Calibri"/>
                        </a:rPr>
                        <a:t>Which is largest?</a:t>
                      </a:r>
                    </a:p>
                  </a:txBody>
                  <a:tcPr marL="91440" marR="91440" marT="45720" marB="45720">
                    <a:solidFill>
                      <a:srgbClr val="FFFFFF"/>
                    </a:solidFill>
                  </a:tcPr>
                </a:tc>
                <a:tc>
                  <a:txBody>
                    <a:bodyPr/>
                    <a:lstStyle/>
                    <a:p>
                      <a:r>
                        <a:rPr sz="2025" b="0">
                          <a:solidFill>
                            <a:srgbClr val="1C3144"/>
                          </a:solidFill>
                          <a:latin typeface="Calibri"/>
                          <a:ea typeface="Calibri"/>
                          <a:cs typeface="Calibri"/>
                        </a:rPr>
                        <a:t>6</a:t>
                      </a:r>
                    </a:p>
                  </a:txBody>
                  <a:tcPr marL="91440" marR="91440" marT="45720" marB="45720">
                    <a:solidFill>
                      <a:srgbClr val="FFFFFF"/>
                    </a:solidFill>
                  </a:tcPr>
                </a:tc>
              </a:tr>
            </a:tbl>
          </a:graphicData>
        </a:graphic>
      </p:graphicFrame>
      <p:sp>
        <p:nvSpPr>
          <p:cNvPr id="5" name="">
            <a:extLst xmlns:a="http://schemas.openxmlformats.org/drawingml/2006/main">
              <a:ext uri="{FF2B5EF4-FFF2-40B4-BE49-F238E27FC236}">
                <a16:creationId xmlns:a16="http://schemas.microsoft.com/office/drawing/2014/main" id="{23DFD783-DAF6-43BD-90CB-38D2D0515578}"/>
              </a:ext>
            </a:extLst>
          </p:cNvPr>
          <p:cNvSpPr>
            <a:spLocks xmlns:a="http://schemas.openxmlformats.org/drawingml/2006/main" noGrp="1"/>
          </p:cNvSpPr>
          <p:nvPr/>
        </p:nvSpPr>
        <p:spPr>
          <a:xfrm xmlns:a="http://schemas.openxmlformats.org/drawingml/2006/main">
            <a:off x="685800" y="5381625"/>
            <a:ext cx="106680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These functions already exist in Python. min and max need at least one item unless an explicit default is supplied.</a:t>
            </a:r>
          </a:p>
        </p:txBody>
      </p:sp>
      <p:sp>
        <p:nvSpPr>
          <p:cNvPr id="6" name="">
            <a:extLst xmlns:a="http://schemas.openxmlformats.org/drawingml/2006/main">
              <a:ext uri="{FF2B5EF4-FFF2-40B4-BE49-F238E27FC236}">
                <a16:creationId xmlns:a16="http://schemas.microsoft.com/office/drawing/2014/main" id="{968548C4-33BA-4BE9-80F3-59235778EA2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4   23</a:t>
            </a:r>
          </a:p>
        </p:txBody>
      </p:sp>
    </p:spTree>
    <p:extLst>
      <p:ext uri="{BB962C8B-B14F-4D97-AF65-F5344CB8AC3E}">
        <p14:creationId xmlns:p14="http://schemas.microsoft.com/office/powerpoint/2010/main" val="1698219658"/>
      </p:ext>
    </p:extLst>
  </p:cSld>
</p:sld>
</file>

<file path=ppt/slides/slide2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74296694-C0FB-4015-930D-95F5DDF7EE6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36E113AE-37E8-4515-AFBA-3D07F720F8B7}"/>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8F5B1F23-96D3-4233-A2B2-87F46D3C5EF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Built-in summaries of a list</a:t>
            </a:r>
          </a:p>
        </p:txBody>
      </p:sp>
      <p:sp>
        <p:nvSpPr>
          <p:cNvPr id="4" name="">
            <a:extLst xmlns:a="http://schemas.openxmlformats.org/drawingml/2006/main">
              <a:ext uri="{FF2B5EF4-FFF2-40B4-BE49-F238E27FC236}">
                <a16:creationId xmlns:a16="http://schemas.microsoft.com/office/drawing/2014/main" id="{8100FCB6-782A-4717-80C5-15435C21258F}"/>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B75B36FB-72DF-4726-B901-2CFCF1D54BB1}"/>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readings = [2, 4, 6]</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print(sum(readings))</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print(len(readings))</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print(min(readings))</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print(max(readings))</a:t>
            </a:r>
          </a:p>
        </p:txBody>
      </p:sp>
      <p:sp>
        <p:nvSpPr>
          <p:cNvPr id="6" name="">
            <a:extLst xmlns:a="http://schemas.openxmlformats.org/drawingml/2006/main">
              <a:ext uri="{FF2B5EF4-FFF2-40B4-BE49-F238E27FC236}">
                <a16:creationId xmlns:a16="http://schemas.microsoft.com/office/drawing/2014/main" id="{57DCF108-2F96-4F1D-922B-CA1798E49C83}"/>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D22D57C1-D010-4282-990C-82369E144CD5}"/>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These functions are built into Python.</a:t>
            </a:r>
          </a:p>
        </p:txBody>
      </p:sp>
      <p:sp>
        <p:nvSpPr>
          <p:cNvPr id="8" name="">
            <a:extLst xmlns:a="http://schemas.openxmlformats.org/drawingml/2006/main">
              <a:ext uri="{FF2B5EF4-FFF2-40B4-BE49-F238E27FC236}">
                <a16:creationId xmlns:a16="http://schemas.microsoft.com/office/drawing/2014/main" id="{00EE4A91-4000-41DA-AD6C-4B08BA99E678}"/>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min and max require a nonempty list here.</a:t>
            </a:r>
          </a:p>
        </p:txBody>
      </p:sp>
      <p:sp>
        <p:nvSpPr>
          <p:cNvPr id="9" name="">
            <a:extLst xmlns:a="http://schemas.openxmlformats.org/drawingml/2006/main">
              <a:ext uri="{FF2B5EF4-FFF2-40B4-BE49-F238E27FC236}">
                <a16:creationId xmlns:a16="http://schemas.microsoft.com/office/drawing/2014/main" id="{84D4DED3-F24D-476D-9226-EAEEF4FEF532}"/>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Output: 12, 3, 2, 6. sum totals; len counts; min and max select the smallest and largest.</a:t>
            </a:r>
          </a:p>
        </p:txBody>
      </p:sp>
      <p:sp>
        <p:nvSpPr>
          <p:cNvPr id="10" name="">
            <a:extLst xmlns:a="http://schemas.openxmlformats.org/drawingml/2006/main">
              <a:ext uri="{FF2B5EF4-FFF2-40B4-BE49-F238E27FC236}">
                <a16:creationId xmlns:a16="http://schemas.microsoft.com/office/drawing/2014/main" id="{20F48C87-227F-4568-95B1-363C9585D65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4   24</a:t>
            </a:r>
          </a:p>
        </p:txBody>
      </p:sp>
    </p:spTree>
    <p:extLst>
      <p:ext uri="{BB962C8B-B14F-4D97-AF65-F5344CB8AC3E}">
        <p14:creationId xmlns:p14="http://schemas.microsoft.com/office/powerpoint/2010/main" val="2133187047"/>
      </p:ext>
    </p:extLst>
  </p:cSld>
</p:sld>
</file>

<file path=ppt/slides/slide2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ED7DC734-E183-495E-917F-C77199F98DBB}"/>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0D2B6E7D-D3EA-4736-BDA1-CB3627B0D9D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33227A4B-1BC1-40A0-AFA9-23C7698A4A4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while loop checks before each repetition</a:t>
            </a:r>
          </a:p>
        </p:txBody>
      </p:sp>
      <p:sp>
        <p:nvSpPr>
          <p:cNvPr id="4" name="">
            <a:extLst xmlns:a="http://schemas.openxmlformats.org/drawingml/2006/main">
              <a:ext uri="{FF2B5EF4-FFF2-40B4-BE49-F238E27FC236}">
                <a16:creationId xmlns:a16="http://schemas.microsoft.com/office/drawing/2014/main" id="{3D2EF8A4-E1C2-4BD1-8A9B-EA81C274263B}"/>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DA7465E8-37A5-43A1-B12F-E39B31CCAFFB}"/>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while count &lt; 3: tests the condition before entering its indented block. True enters the block; False skips it and continues after the loop.</a:t>
            </a:r>
          </a:p>
        </p:txBody>
      </p:sp>
      <p:sp>
        <p:nvSpPr>
          <p:cNvPr id="6" name="">
            <a:extLst xmlns:a="http://schemas.openxmlformats.org/drawingml/2006/main">
              <a:ext uri="{FF2B5EF4-FFF2-40B4-BE49-F238E27FC236}">
                <a16:creationId xmlns:a16="http://schemas.microsoft.com/office/drawing/2014/main" id="{21A70CF3-3E02-496D-BA0F-F127D63DC372}"/>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2DBED503-33D6-4C48-A48D-7B725089E5F7}"/>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At the end of the body, return to the condition and test again. Unlike for, while does not automatically move to the next list item.</a:t>
            </a:r>
          </a:p>
        </p:txBody>
      </p:sp>
      <p:sp>
        <p:nvSpPr>
          <p:cNvPr id="8" name="">
            <a:extLst xmlns:a="http://schemas.openxmlformats.org/drawingml/2006/main">
              <a:ext uri="{FF2B5EF4-FFF2-40B4-BE49-F238E27FC236}">
                <a16:creationId xmlns:a16="http://schemas.microsoft.com/office/drawing/2014/main" id="{B9CBA5BA-F28A-4F8A-A856-2E82BF87B860}"/>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F4E3E322-C239-48E5-8793-44C3BC353635}"/>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Something must make the condition become False, or the loop may continue indefinitely. In our example, count increases on every iteration.</a:t>
            </a:r>
          </a:p>
        </p:txBody>
      </p:sp>
      <p:sp>
        <p:nvSpPr>
          <p:cNvPr id="10" name="">
            <a:extLst xmlns:a="http://schemas.openxmlformats.org/drawingml/2006/main">
              <a:ext uri="{FF2B5EF4-FFF2-40B4-BE49-F238E27FC236}">
                <a16:creationId xmlns:a16="http://schemas.microsoft.com/office/drawing/2014/main" id="{9DBA71E8-4B59-4AE0-B3E6-90522B72A1F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4   25</a:t>
            </a:r>
          </a:p>
        </p:txBody>
      </p:sp>
    </p:spTree>
    <p:extLst>
      <p:ext uri="{BB962C8B-B14F-4D97-AF65-F5344CB8AC3E}">
        <p14:creationId xmlns:p14="http://schemas.microsoft.com/office/powerpoint/2010/main" val="2108758734"/>
      </p:ext>
    </p:extLst>
  </p:cSld>
</p:sld>
</file>

<file path=ppt/slides/slide2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03FD8A9E-6E40-4D09-9919-E17AFEB2B249}"/>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198D181B-DB75-4F07-97A3-FAAF478C4BF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47A988A0-FB26-4415-99FA-CA3CEC2C09C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while loop with a stopping condition</a:t>
            </a:r>
          </a:p>
        </p:txBody>
      </p:sp>
      <p:sp>
        <p:nvSpPr>
          <p:cNvPr id="4" name="">
            <a:extLst xmlns:a="http://schemas.openxmlformats.org/drawingml/2006/main">
              <a:ext uri="{FF2B5EF4-FFF2-40B4-BE49-F238E27FC236}">
                <a16:creationId xmlns:a16="http://schemas.microsoft.com/office/drawing/2014/main" id="{A1DD8070-7CCC-488C-AB3B-02656D397786}"/>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3FBB177C-DF3A-49A5-B61F-62B9F95315A3}"/>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count = 0</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while count &lt; 3:</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print(count)</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count = count + 1</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print("finished")</a:t>
            </a:r>
          </a:p>
        </p:txBody>
      </p:sp>
      <p:sp>
        <p:nvSpPr>
          <p:cNvPr id="6" name="">
            <a:extLst xmlns:a="http://schemas.openxmlformats.org/drawingml/2006/main">
              <a:ext uri="{FF2B5EF4-FFF2-40B4-BE49-F238E27FC236}">
                <a16:creationId xmlns:a16="http://schemas.microsoft.com/office/drawing/2014/main" id="{05C22702-AA53-4250-84AF-4EF4BA348E64}"/>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4EE17F49-720C-40A1-A7F6-96AE17C7CBFD}"/>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Initialise, test, run the body, update, test again.</a:t>
            </a:r>
          </a:p>
        </p:txBody>
      </p:sp>
      <p:sp>
        <p:nvSpPr>
          <p:cNvPr id="8" name="">
            <a:extLst xmlns:a="http://schemas.openxmlformats.org/drawingml/2006/main">
              <a:ext uri="{FF2B5EF4-FFF2-40B4-BE49-F238E27FC236}">
                <a16:creationId xmlns:a16="http://schemas.microsoft.com/office/drawing/2014/main" id="{6AB6ACED-3FF5-4884-85B1-AB6D4BBA4A46}"/>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When count becomes 3, the condition is False.</a:t>
            </a:r>
          </a:p>
        </p:txBody>
      </p:sp>
      <p:sp>
        <p:nvSpPr>
          <p:cNvPr id="9" name="">
            <a:extLst xmlns:a="http://schemas.openxmlformats.org/drawingml/2006/main">
              <a:ext uri="{FF2B5EF4-FFF2-40B4-BE49-F238E27FC236}">
                <a16:creationId xmlns:a16="http://schemas.microsoft.com/office/drawing/2014/main" id="{A9B572AD-9DDB-4170-9FC1-BCD45238252E}"/>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Output: 0; 1; 2; finished</a:t>
            </a:r>
          </a:p>
        </p:txBody>
      </p:sp>
      <p:sp>
        <p:nvSpPr>
          <p:cNvPr id="10" name="">
            <a:extLst xmlns:a="http://schemas.openxmlformats.org/drawingml/2006/main">
              <a:ext uri="{FF2B5EF4-FFF2-40B4-BE49-F238E27FC236}">
                <a16:creationId xmlns:a16="http://schemas.microsoft.com/office/drawing/2014/main" id="{02A7D9A3-DFF7-4640-B490-52259BAD7D7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4   26</a:t>
            </a:r>
          </a:p>
        </p:txBody>
      </p:sp>
    </p:spTree>
    <p:extLst>
      <p:ext uri="{BB962C8B-B14F-4D97-AF65-F5344CB8AC3E}">
        <p14:creationId xmlns:p14="http://schemas.microsoft.com/office/powerpoint/2010/main" val="1441511854"/>
      </p:ext>
    </p:extLst>
  </p:cSld>
</p:sld>
</file>

<file path=ppt/slides/slide2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99F3572E-3DA4-4913-A7FB-DF2B0245CB86}"/>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5258710D-6B07-45CA-BFCD-E534F7C8AFF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READ THE EXAMPLE</a:t>
            </a:r>
          </a:p>
        </p:txBody>
      </p:sp>
      <p:sp>
        <p:nvSpPr>
          <p:cNvPr id="3" name="">
            <a:extLst xmlns:a="http://schemas.openxmlformats.org/drawingml/2006/main">
              <a:ext uri="{FF2B5EF4-FFF2-40B4-BE49-F238E27FC236}">
                <a16:creationId xmlns:a16="http://schemas.microsoft.com/office/drawing/2014/main" id="{DF84786A-FE1D-4158-9146-9EF4A6F910C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Trace the while condition and update</a:t>
            </a:r>
          </a:p>
        </p:txBody>
      </p:sp>
      <p:graphicFrame>
        <p:nvGraphicFramePr>
          <p:cNvPr id="10" name=""/>
          <p:cNvGraphicFramePr/>
          <p:nvPr/>
        </p:nvGraphicFramePr>
        <p:xfrm>
          <a:off xmlns:a="http://schemas.openxmlformats.org/drawingml/2006/main" x="590550" y="1733550"/>
          <a:ext xmlns:a="http://schemas.openxmlformats.org/drawingml/2006/main" cx="11010900" cy="3333750"/>
        </p:xfrm>
        <a:graphic xmlns:a="http://schemas.openxmlformats.org/drawingml/2006/main">
          <a:graphicData uri="http://schemas.openxmlformats.org/drawingml/2006/table">
            <a:tbl>
              <a:tblPr/>
              <a:tblGrid>
                <a:gridCol w="3670300"/>
                <a:gridCol w="3670300"/>
                <a:gridCol w="3670300"/>
              </a:tblGrid>
              <a:tr h="666750">
                <a:tc>
                  <a:txBody>
                    <a:bodyPr/>
                    <a:lstStyle/>
                    <a:p>
                      <a:r>
                        <a:rPr sz="2025" b="1">
                          <a:solidFill>
                            <a:srgbClr val="FFFFFF"/>
                          </a:solidFill>
                          <a:latin typeface="Calibri"/>
                          <a:ea typeface="Calibri"/>
                          <a:cs typeface="Calibri"/>
                        </a:rPr>
                        <a:t>count before test</a:t>
                      </a:r>
                    </a:p>
                  </a:txBody>
                  <a:tcPr marL="91440" marR="91440" marT="45720" marB="45720">
                    <a:solidFill>
                      <a:srgbClr val="2E7D6F"/>
                    </a:solidFill>
                  </a:tcPr>
                </a:tc>
                <a:tc>
                  <a:txBody>
                    <a:bodyPr/>
                    <a:lstStyle/>
                    <a:p>
                      <a:r>
                        <a:rPr sz="2025" b="1">
                          <a:solidFill>
                            <a:srgbClr val="FFFFFF"/>
                          </a:solidFill>
                          <a:latin typeface="Calibri"/>
                          <a:ea typeface="Calibri"/>
                          <a:cs typeface="Calibri"/>
                        </a:rPr>
                        <a:t>count &lt; 3</a:t>
                      </a:r>
                    </a:p>
                  </a:txBody>
                  <a:tcPr marL="91440" marR="91440" marT="45720" marB="45720">
                    <a:solidFill>
                      <a:srgbClr val="2E7D6F"/>
                    </a:solidFill>
                  </a:tcPr>
                </a:tc>
                <a:tc>
                  <a:txBody>
                    <a:bodyPr/>
                    <a:lstStyle/>
                    <a:p>
                      <a:r>
                        <a:rPr sz="2025" b="1">
                          <a:solidFill>
                            <a:srgbClr val="FFFFFF"/>
                          </a:solidFill>
                          <a:latin typeface="Calibri"/>
                          <a:ea typeface="Calibri"/>
                          <a:cs typeface="Calibri"/>
                        </a:rPr>
                        <a:t>Body and next count</a:t>
                      </a:r>
                    </a:p>
                  </a:txBody>
                  <a:tcPr marL="91440" marR="91440" marT="45720" marB="45720">
                    <a:solidFill>
                      <a:srgbClr val="2E7D6F"/>
                    </a:solidFill>
                  </a:tcPr>
                </a:tc>
              </a:tr>
              <a:tr h="666750">
                <a:tc>
                  <a:txBody>
                    <a:bodyPr/>
                    <a:lstStyle/>
                    <a:p>
                      <a:r>
                        <a:rPr sz="2025" b="0">
                          <a:solidFill>
                            <a:srgbClr val="1C3144"/>
                          </a:solidFill>
                          <a:latin typeface="Calibri"/>
                          <a:ea typeface="Calibri"/>
                          <a:cs typeface="Calibri"/>
                        </a:rPr>
                        <a:t>0</a:t>
                      </a:r>
                    </a:p>
                  </a:txBody>
                  <a:tcPr marL="91440" marR="91440" marT="45720" marB="45720">
                    <a:solidFill>
                      <a:srgbClr val="EEF3F6"/>
                    </a:solidFill>
                  </a:tcPr>
                </a:tc>
                <a:tc>
                  <a:txBody>
                    <a:bodyPr/>
                    <a:lstStyle/>
                    <a:p>
                      <a:r>
                        <a:rPr sz="2025" b="0">
                          <a:solidFill>
                            <a:srgbClr val="1C3144"/>
                          </a:solidFill>
                          <a:latin typeface="Calibri"/>
                          <a:ea typeface="Calibri"/>
                          <a:cs typeface="Calibri"/>
                        </a:rPr>
                        <a:t>True</a:t>
                      </a:r>
                    </a:p>
                  </a:txBody>
                  <a:tcPr marL="91440" marR="91440" marT="45720" marB="45720">
                    <a:solidFill>
                      <a:srgbClr val="EEF3F6"/>
                    </a:solidFill>
                  </a:tcPr>
                </a:tc>
                <a:tc>
                  <a:txBody>
                    <a:bodyPr/>
                    <a:lstStyle/>
                    <a:p>
                      <a:r>
                        <a:rPr sz="2025" b="0">
                          <a:solidFill>
                            <a:srgbClr val="1C3144"/>
                          </a:solidFill>
                          <a:latin typeface="Calibri"/>
                          <a:ea typeface="Calibri"/>
                          <a:cs typeface="Calibri"/>
                        </a:rPr>
                        <a:t>Print 0; update to 1</a:t>
                      </a:r>
                    </a:p>
                  </a:txBody>
                  <a:tcPr marL="91440" marR="91440" marT="45720" marB="45720">
                    <a:solidFill>
                      <a:srgbClr val="EEF3F6"/>
                    </a:solidFill>
                  </a:tcPr>
                </a:tc>
              </a:tr>
              <a:tr h="666750">
                <a:tc>
                  <a:txBody>
                    <a:bodyPr/>
                    <a:lstStyle/>
                    <a:p>
                      <a:r>
                        <a:rPr sz="2025" b="0">
                          <a:solidFill>
                            <a:srgbClr val="1C3144"/>
                          </a:solidFill>
                          <a:latin typeface="Calibri"/>
                          <a:ea typeface="Calibri"/>
                          <a:cs typeface="Calibri"/>
                        </a:rPr>
                        <a:t>1</a:t>
                      </a:r>
                    </a:p>
                  </a:txBody>
                  <a:tcPr marL="91440" marR="91440" marT="45720" marB="45720">
                    <a:solidFill>
                      <a:srgbClr val="FFFFFF"/>
                    </a:solidFill>
                  </a:tcPr>
                </a:tc>
                <a:tc>
                  <a:txBody>
                    <a:bodyPr/>
                    <a:lstStyle/>
                    <a:p>
                      <a:r>
                        <a:rPr sz="2025" b="0">
                          <a:solidFill>
                            <a:srgbClr val="1C3144"/>
                          </a:solidFill>
                          <a:latin typeface="Calibri"/>
                          <a:ea typeface="Calibri"/>
                          <a:cs typeface="Calibri"/>
                        </a:rPr>
                        <a:t>True</a:t>
                      </a:r>
                    </a:p>
                  </a:txBody>
                  <a:tcPr marL="91440" marR="91440" marT="45720" marB="45720">
                    <a:solidFill>
                      <a:srgbClr val="FFFFFF"/>
                    </a:solidFill>
                  </a:tcPr>
                </a:tc>
                <a:tc>
                  <a:txBody>
                    <a:bodyPr/>
                    <a:lstStyle/>
                    <a:p>
                      <a:r>
                        <a:rPr sz="2025" b="0">
                          <a:solidFill>
                            <a:srgbClr val="1C3144"/>
                          </a:solidFill>
                          <a:latin typeface="Calibri"/>
                          <a:ea typeface="Calibri"/>
                          <a:cs typeface="Calibri"/>
                        </a:rPr>
                        <a:t>Print 1; update to 2</a:t>
                      </a:r>
                    </a:p>
                  </a:txBody>
                  <a:tcPr marL="91440" marR="91440" marT="45720" marB="45720">
                    <a:solidFill>
                      <a:srgbClr val="FFFFFF"/>
                    </a:solidFill>
                  </a:tcPr>
                </a:tc>
              </a:tr>
              <a:tr h="666750">
                <a:tc>
                  <a:txBody>
                    <a:bodyPr/>
                    <a:lstStyle/>
                    <a:p>
                      <a:r>
                        <a:rPr sz="2025" b="0">
                          <a:solidFill>
                            <a:srgbClr val="1C3144"/>
                          </a:solidFill>
                          <a:latin typeface="Calibri"/>
                          <a:ea typeface="Calibri"/>
                          <a:cs typeface="Calibri"/>
                        </a:rPr>
                        <a:t>2</a:t>
                      </a:r>
                    </a:p>
                  </a:txBody>
                  <a:tcPr marL="91440" marR="91440" marT="45720" marB="45720">
                    <a:solidFill>
                      <a:srgbClr val="EEF3F6"/>
                    </a:solidFill>
                  </a:tcPr>
                </a:tc>
                <a:tc>
                  <a:txBody>
                    <a:bodyPr/>
                    <a:lstStyle/>
                    <a:p>
                      <a:r>
                        <a:rPr sz="2025" b="0">
                          <a:solidFill>
                            <a:srgbClr val="1C3144"/>
                          </a:solidFill>
                          <a:latin typeface="Calibri"/>
                          <a:ea typeface="Calibri"/>
                          <a:cs typeface="Calibri"/>
                        </a:rPr>
                        <a:t>True</a:t>
                      </a:r>
                    </a:p>
                  </a:txBody>
                  <a:tcPr marL="91440" marR="91440" marT="45720" marB="45720">
                    <a:solidFill>
                      <a:srgbClr val="EEF3F6"/>
                    </a:solidFill>
                  </a:tcPr>
                </a:tc>
                <a:tc>
                  <a:txBody>
                    <a:bodyPr/>
                    <a:lstStyle/>
                    <a:p>
                      <a:r>
                        <a:rPr sz="2025" b="0">
                          <a:solidFill>
                            <a:srgbClr val="1C3144"/>
                          </a:solidFill>
                          <a:latin typeface="Calibri"/>
                          <a:ea typeface="Calibri"/>
                          <a:cs typeface="Calibri"/>
                        </a:rPr>
                        <a:t>Print 2; update to 3</a:t>
                      </a:r>
                    </a:p>
                  </a:txBody>
                  <a:tcPr marL="91440" marR="91440" marT="45720" marB="45720">
                    <a:solidFill>
                      <a:srgbClr val="EEF3F6"/>
                    </a:solidFill>
                  </a:tcPr>
                </a:tc>
              </a:tr>
              <a:tr h="666750">
                <a:tc>
                  <a:txBody>
                    <a:bodyPr/>
                    <a:lstStyle/>
                    <a:p>
                      <a:r>
                        <a:rPr sz="2025" b="0">
                          <a:solidFill>
                            <a:srgbClr val="1C3144"/>
                          </a:solidFill>
                          <a:latin typeface="Calibri"/>
                          <a:ea typeface="Calibri"/>
                          <a:cs typeface="Calibri"/>
                        </a:rPr>
                        <a:t>3</a:t>
                      </a:r>
                    </a:p>
                  </a:txBody>
                  <a:tcPr marL="91440" marR="91440" marT="45720" marB="45720">
                    <a:solidFill>
                      <a:srgbClr val="FFFFFF"/>
                    </a:solidFill>
                  </a:tcPr>
                </a:tc>
                <a:tc>
                  <a:txBody>
                    <a:bodyPr/>
                    <a:lstStyle/>
                    <a:p>
                      <a:r>
                        <a:rPr sz="2025" b="0">
                          <a:solidFill>
                            <a:srgbClr val="1C3144"/>
                          </a:solidFill>
                          <a:latin typeface="Calibri"/>
                          <a:ea typeface="Calibri"/>
                          <a:cs typeface="Calibri"/>
                        </a:rPr>
                        <a:t>False</a:t>
                      </a:r>
                    </a:p>
                  </a:txBody>
                  <a:tcPr marL="91440" marR="91440" marT="45720" marB="45720">
                    <a:solidFill>
                      <a:srgbClr val="FFFFFF"/>
                    </a:solidFill>
                  </a:tcPr>
                </a:tc>
                <a:tc>
                  <a:txBody>
                    <a:bodyPr/>
                    <a:lstStyle/>
                    <a:p>
                      <a:r>
                        <a:rPr sz="2025" b="0">
                          <a:solidFill>
                            <a:srgbClr val="1C3144"/>
                          </a:solidFill>
                          <a:latin typeface="Calibri"/>
                          <a:ea typeface="Calibri"/>
                          <a:cs typeface="Calibri"/>
                        </a:rPr>
                        <a:t>Skip body; print finished</a:t>
                      </a:r>
                    </a:p>
                  </a:txBody>
                  <a:tcPr marL="91440" marR="91440" marT="45720" marB="45720">
                    <a:solidFill>
                      <a:srgbClr val="FFFFFF"/>
                    </a:solidFill>
                  </a:tcPr>
                </a:tc>
              </a:tr>
            </a:tbl>
          </a:graphicData>
        </a:graphic>
      </p:graphicFrame>
      <p:sp>
        <p:nvSpPr>
          <p:cNvPr id="5" name="">
            <a:extLst xmlns:a="http://schemas.openxmlformats.org/drawingml/2006/main">
              <a:ext uri="{FF2B5EF4-FFF2-40B4-BE49-F238E27FC236}">
                <a16:creationId xmlns:a16="http://schemas.microsoft.com/office/drawing/2014/main" id="{502FC9D6-D739-49FC-8473-13EEBE3D0C59}"/>
              </a:ext>
            </a:extLst>
          </p:cNvPr>
          <p:cNvSpPr>
            <a:spLocks xmlns:a="http://schemas.openxmlformats.org/drawingml/2006/main" noGrp="1"/>
          </p:cNvSpPr>
          <p:nvPr/>
        </p:nvSpPr>
        <p:spPr>
          <a:xfrm xmlns:a="http://schemas.openxmlformats.org/drawingml/2006/main">
            <a:off x="685800" y="5381625"/>
            <a:ext cx="106680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If count starts at 3, the body runs zero times. The condition is tested first.</a:t>
            </a:r>
          </a:p>
        </p:txBody>
      </p:sp>
      <p:sp>
        <p:nvSpPr>
          <p:cNvPr id="6" name="">
            <a:extLst xmlns:a="http://schemas.openxmlformats.org/drawingml/2006/main">
              <a:ext uri="{FF2B5EF4-FFF2-40B4-BE49-F238E27FC236}">
                <a16:creationId xmlns:a16="http://schemas.microsoft.com/office/drawing/2014/main" id="{BF0F9E5C-DB14-4793-AB08-E70591BE8F5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4   27</a:t>
            </a:r>
          </a:p>
        </p:txBody>
      </p:sp>
    </p:spTree>
    <p:extLst>
      <p:ext uri="{BB962C8B-B14F-4D97-AF65-F5344CB8AC3E}">
        <p14:creationId xmlns:p14="http://schemas.microsoft.com/office/powerpoint/2010/main" val="509674860"/>
      </p:ext>
    </p:extLst>
  </p:cSld>
</p:sld>
</file>

<file path=ppt/slides/slide2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D1C9A12A-DE29-4E7A-8381-063B8606F2A6}"/>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2C4C832E-8779-42C9-B584-C3AAB12CDE7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A2CC240B-D20B-466A-B5E1-3FB0EBF064D4}"/>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Preventing an endless loop</a:t>
            </a:r>
          </a:p>
        </p:txBody>
      </p:sp>
      <p:sp>
        <p:nvSpPr>
          <p:cNvPr id="4" name="">
            <a:extLst xmlns:a="http://schemas.openxmlformats.org/drawingml/2006/main">
              <a:ext uri="{FF2B5EF4-FFF2-40B4-BE49-F238E27FC236}">
                <a16:creationId xmlns:a16="http://schemas.microsoft.com/office/drawing/2014/main" id="{6EBC0D8B-8F5E-49BB-8EED-4208C789DC98}"/>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1C296F65-A45E-4A6A-8EF4-BF5FE15533CF}"/>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If the update is missing, count remains 0. The question 0 &lt; 3 stays True, so the body keeps running.</a:t>
            </a:r>
          </a:p>
        </p:txBody>
      </p:sp>
      <p:sp>
        <p:nvSpPr>
          <p:cNvPr id="6" name="">
            <a:extLst xmlns:a="http://schemas.openxmlformats.org/drawingml/2006/main">
              <a:ext uri="{FF2B5EF4-FFF2-40B4-BE49-F238E27FC236}">
                <a16:creationId xmlns:a16="http://schemas.microsoft.com/office/drawing/2014/main" id="{06E80462-A0C1-443C-8074-830E15C494B7}"/>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D43B0222-9CD7-489A-B1F4-164C757521DD}"/>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In Colab, click the running cell’s stop button or use Runtime → Interrupt execution. Fix the condition or update before running again.</a:t>
            </a:r>
          </a:p>
        </p:txBody>
      </p:sp>
      <p:sp>
        <p:nvSpPr>
          <p:cNvPr id="8" name="">
            <a:extLst xmlns:a="http://schemas.openxmlformats.org/drawingml/2006/main">
              <a:ext uri="{FF2B5EF4-FFF2-40B4-BE49-F238E27FC236}">
                <a16:creationId xmlns:a16="http://schemas.microsoft.com/office/drawing/2014/main" id="{E21278AF-5A00-4307-B339-E68983073E94}"/>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8EA181C1-F857-423C-A10C-CF85488ADC8A}"/>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Do not run an intentionally endless example. Trace the unchanged value on the slide to see why it would fail.</a:t>
            </a:r>
          </a:p>
        </p:txBody>
      </p:sp>
      <p:sp>
        <p:nvSpPr>
          <p:cNvPr id="10" name="">
            <a:extLst xmlns:a="http://schemas.openxmlformats.org/drawingml/2006/main">
              <a:ext uri="{FF2B5EF4-FFF2-40B4-BE49-F238E27FC236}">
                <a16:creationId xmlns:a16="http://schemas.microsoft.com/office/drawing/2014/main" id="{1C195B2C-7448-4AAE-B492-4F85B5B12C7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4   28</a:t>
            </a:r>
          </a:p>
        </p:txBody>
      </p:sp>
    </p:spTree>
    <p:extLst>
      <p:ext uri="{BB962C8B-B14F-4D97-AF65-F5344CB8AC3E}">
        <p14:creationId xmlns:p14="http://schemas.microsoft.com/office/powerpoint/2010/main" val="1648652370"/>
      </p:ext>
    </p:extLst>
  </p:cSld>
</p:sld>
</file>

<file path=ppt/slides/slide2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A3BFBBEE-B843-4769-9A7E-DF1F1028507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8517BBC8-10E6-47DF-9C71-95F2EC8B98C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READ THE EXAMPLE</a:t>
            </a:r>
          </a:p>
        </p:txBody>
      </p:sp>
      <p:sp>
        <p:nvSpPr>
          <p:cNvPr id="3" name="">
            <a:extLst xmlns:a="http://schemas.openxmlformats.org/drawingml/2006/main">
              <a:ext uri="{FF2B5EF4-FFF2-40B4-BE49-F238E27FC236}">
                <a16:creationId xmlns:a16="http://schemas.microsoft.com/office/drawing/2014/main" id="{76A741AD-9D26-4F6C-9864-F293860E8FA4}"/>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Choosing if for or while</a:t>
            </a:r>
          </a:p>
        </p:txBody>
      </p:sp>
      <p:graphicFrame>
        <p:nvGraphicFramePr>
          <p:cNvPr id="10" name=""/>
          <p:cNvGraphicFramePr/>
          <p:nvPr/>
        </p:nvGraphicFramePr>
        <p:xfrm>
          <a:off xmlns:a="http://schemas.openxmlformats.org/drawingml/2006/main" x="590550" y="1733550"/>
          <a:ext xmlns:a="http://schemas.openxmlformats.org/drawingml/2006/main" cx="11010900" cy="3333750"/>
        </p:xfrm>
        <a:graphic xmlns:a="http://schemas.openxmlformats.org/drawingml/2006/main">
          <a:graphicData uri="http://schemas.openxmlformats.org/drawingml/2006/table">
            <a:tbl>
              <a:tblPr/>
              <a:tblGrid>
                <a:gridCol w="3670300"/>
                <a:gridCol w="3670300"/>
                <a:gridCol w="3670300"/>
              </a:tblGrid>
              <a:tr h="833438">
                <a:tc>
                  <a:txBody>
                    <a:bodyPr/>
                    <a:lstStyle/>
                    <a:p>
                      <a:r>
                        <a:rPr sz="2025" b="1">
                          <a:solidFill>
                            <a:srgbClr val="FFFFFF"/>
                          </a:solidFill>
                          <a:latin typeface="Calibri"/>
                          <a:ea typeface="Calibri"/>
                          <a:cs typeface="Calibri"/>
                        </a:rPr>
                        <a:t>Construct</a:t>
                      </a:r>
                    </a:p>
                  </a:txBody>
                  <a:tcPr marL="91440" marR="91440" marT="45720" marB="45720">
                    <a:solidFill>
                      <a:srgbClr val="2E7D6F"/>
                    </a:solidFill>
                  </a:tcPr>
                </a:tc>
                <a:tc>
                  <a:txBody>
                    <a:bodyPr/>
                    <a:lstStyle/>
                    <a:p>
                      <a:r>
                        <a:rPr sz="2025" b="1">
                          <a:solidFill>
                            <a:srgbClr val="FFFFFF"/>
                          </a:solidFill>
                          <a:latin typeface="Calibri"/>
                          <a:ea typeface="Calibri"/>
                          <a:cs typeface="Calibri"/>
                        </a:rPr>
                        <a:t>Purpose</a:t>
                      </a:r>
                    </a:p>
                  </a:txBody>
                  <a:tcPr marL="91440" marR="91440" marT="45720" marB="45720">
                    <a:solidFill>
                      <a:srgbClr val="2E7D6F"/>
                    </a:solidFill>
                  </a:tcPr>
                </a:tc>
                <a:tc>
                  <a:txBody>
                    <a:bodyPr/>
                    <a:lstStyle/>
                    <a:p>
                      <a:r>
                        <a:rPr sz="2025" b="1">
                          <a:solidFill>
                            <a:srgbClr val="FFFFFF"/>
                          </a:solidFill>
                          <a:latin typeface="Calibri"/>
                          <a:ea typeface="Calibri"/>
                          <a:cs typeface="Calibri"/>
                        </a:rPr>
                        <a:t>When it finishes</a:t>
                      </a:r>
                    </a:p>
                  </a:txBody>
                  <a:tcPr marL="91440" marR="91440" marT="45720" marB="45720">
                    <a:solidFill>
                      <a:srgbClr val="2E7D6F"/>
                    </a:solidFill>
                  </a:tcPr>
                </a:tc>
              </a:tr>
              <a:tr h="833438">
                <a:tc>
                  <a:txBody>
                    <a:bodyPr/>
                    <a:lstStyle/>
                    <a:p>
                      <a:r>
                        <a:rPr sz="2025" b="0">
                          <a:solidFill>
                            <a:srgbClr val="1C3144"/>
                          </a:solidFill>
                          <a:latin typeface="Calibri"/>
                          <a:ea typeface="Calibri"/>
                          <a:cs typeface="Calibri"/>
                        </a:rPr>
                        <a:t>if / else</a:t>
                      </a:r>
                    </a:p>
                  </a:txBody>
                  <a:tcPr marL="91440" marR="91440" marT="45720" marB="45720">
                    <a:solidFill>
                      <a:srgbClr val="EEF3F6"/>
                    </a:solidFill>
                  </a:tcPr>
                </a:tc>
                <a:tc>
                  <a:txBody>
                    <a:bodyPr/>
                    <a:lstStyle/>
                    <a:p>
                      <a:r>
                        <a:rPr sz="2025" b="0">
                          <a:solidFill>
                            <a:srgbClr val="1C3144"/>
                          </a:solidFill>
                          <a:latin typeface="Calibri"/>
                          <a:ea typeface="Calibri"/>
                          <a:cs typeface="Calibri"/>
                        </a:rPr>
                        <a:t>Choose a path once</a:t>
                      </a:r>
                    </a:p>
                  </a:txBody>
                  <a:tcPr marL="91440" marR="91440" marT="45720" marB="45720">
                    <a:solidFill>
                      <a:srgbClr val="EEF3F6"/>
                    </a:solidFill>
                  </a:tcPr>
                </a:tc>
                <a:tc>
                  <a:txBody>
                    <a:bodyPr/>
                    <a:lstStyle/>
                    <a:p>
                      <a:r>
                        <a:rPr sz="2025" b="0">
                          <a:solidFill>
                            <a:srgbClr val="1C3144"/>
                          </a:solidFill>
                          <a:latin typeface="Calibri"/>
                          <a:ea typeface="Calibri"/>
                          <a:cs typeface="Calibri"/>
                        </a:rPr>
                        <a:t>After the chosen block</a:t>
                      </a:r>
                    </a:p>
                  </a:txBody>
                  <a:tcPr marL="91440" marR="91440" marT="45720" marB="45720">
                    <a:solidFill>
                      <a:srgbClr val="EEF3F6"/>
                    </a:solidFill>
                  </a:tcPr>
                </a:tc>
              </a:tr>
              <a:tr h="833438">
                <a:tc>
                  <a:txBody>
                    <a:bodyPr/>
                    <a:lstStyle/>
                    <a:p>
                      <a:r>
                        <a:rPr sz="2025" b="0">
                          <a:solidFill>
                            <a:srgbClr val="1C3144"/>
                          </a:solidFill>
                          <a:latin typeface="Calibri"/>
                          <a:ea typeface="Calibri"/>
                          <a:cs typeface="Calibri"/>
                        </a:rPr>
                        <a:t>for</a:t>
                      </a:r>
                    </a:p>
                  </a:txBody>
                  <a:tcPr marL="91440" marR="91440" marT="45720" marB="45720">
                    <a:solidFill>
                      <a:srgbClr val="FFFFFF"/>
                    </a:solidFill>
                  </a:tcPr>
                </a:tc>
                <a:tc>
                  <a:txBody>
                    <a:bodyPr/>
                    <a:lstStyle/>
                    <a:p>
                      <a:r>
                        <a:rPr sz="2025" b="0">
                          <a:solidFill>
                            <a:srgbClr val="1C3144"/>
                          </a:solidFill>
                          <a:latin typeface="Calibri"/>
                          <a:ea typeface="Calibri"/>
                          <a:cs typeface="Calibri"/>
                        </a:rPr>
                        <a:t>Visit supplied items</a:t>
                      </a:r>
                    </a:p>
                  </a:txBody>
                  <a:tcPr marL="91440" marR="91440" marT="45720" marB="45720">
                    <a:solidFill>
                      <a:srgbClr val="FFFFFF"/>
                    </a:solidFill>
                  </a:tcPr>
                </a:tc>
                <a:tc>
                  <a:txBody>
                    <a:bodyPr/>
                    <a:lstStyle/>
                    <a:p>
                      <a:r>
                        <a:rPr sz="2025" b="0">
                          <a:solidFill>
                            <a:srgbClr val="1C3144"/>
                          </a:solidFill>
                          <a:latin typeface="Calibri"/>
                          <a:ea typeface="Calibri"/>
                          <a:cs typeface="Calibri"/>
                        </a:rPr>
                        <a:t>When items are exhausted</a:t>
                      </a:r>
                    </a:p>
                  </a:txBody>
                  <a:tcPr marL="91440" marR="91440" marT="45720" marB="45720">
                    <a:solidFill>
                      <a:srgbClr val="FFFFFF"/>
                    </a:solidFill>
                  </a:tcPr>
                </a:tc>
              </a:tr>
              <a:tr h="833438">
                <a:tc>
                  <a:txBody>
                    <a:bodyPr/>
                    <a:lstStyle/>
                    <a:p>
                      <a:r>
                        <a:rPr sz="2025" b="0">
                          <a:solidFill>
                            <a:srgbClr val="1C3144"/>
                          </a:solidFill>
                          <a:latin typeface="Calibri"/>
                          <a:ea typeface="Calibri"/>
                          <a:cs typeface="Calibri"/>
                        </a:rPr>
                        <a:t>while</a:t>
                      </a:r>
                    </a:p>
                  </a:txBody>
                  <a:tcPr marL="91440" marR="91440" marT="45720" marB="45720">
                    <a:solidFill>
                      <a:srgbClr val="EEF3F6"/>
                    </a:solidFill>
                  </a:tcPr>
                </a:tc>
                <a:tc>
                  <a:txBody>
                    <a:bodyPr/>
                    <a:lstStyle/>
                    <a:p>
                      <a:r>
                        <a:rPr sz="2025" b="0">
                          <a:solidFill>
                            <a:srgbClr val="1C3144"/>
                          </a:solidFill>
                          <a:latin typeface="Calibri"/>
                          <a:ea typeface="Calibri"/>
                          <a:cs typeface="Calibri"/>
                        </a:rPr>
                        <a:t>Repeat while True</a:t>
                      </a:r>
                    </a:p>
                  </a:txBody>
                  <a:tcPr marL="91440" marR="91440" marT="45720" marB="45720">
                    <a:solidFill>
                      <a:srgbClr val="EEF3F6"/>
                    </a:solidFill>
                  </a:tcPr>
                </a:tc>
                <a:tc>
                  <a:txBody>
                    <a:bodyPr/>
                    <a:lstStyle/>
                    <a:p>
                      <a:r>
                        <a:rPr sz="2025" b="0">
                          <a:solidFill>
                            <a:srgbClr val="1C3144"/>
                          </a:solidFill>
                          <a:latin typeface="Calibri"/>
                          <a:ea typeface="Calibri"/>
                          <a:cs typeface="Calibri"/>
                        </a:rPr>
                        <a:t>When condition becomes False</a:t>
                      </a:r>
                    </a:p>
                  </a:txBody>
                  <a:tcPr marL="91440" marR="91440" marT="45720" marB="45720">
                    <a:solidFill>
                      <a:srgbClr val="EEF3F6"/>
                    </a:solidFill>
                  </a:tcPr>
                </a:tc>
              </a:tr>
            </a:tbl>
          </a:graphicData>
        </a:graphic>
      </p:graphicFrame>
      <p:sp>
        <p:nvSpPr>
          <p:cNvPr id="5" name="">
            <a:extLst xmlns:a="http://schemas.openxmlformats.org/drawingml/2006/main">
              <a:ext uri="{FF2B5EF4-FFF2-40B4-BE49-F238E27FC236}">
                <a16:creationId xmlns:a16="http://schemas.microsoft.com/office/drawing/2014/main" id="{631E7E72-9AAB-4846-AABC-D10305199BCF}"/>
              </a:ext>
            </a:extLst>
          </p:cNvPr>
          <p:cNvSpPr>
            <a:spLocks xmlns:a="http://schemas.openxmlformats.org/drawingml/2006/main" noGrp="1"/>
          </p:cNvSpPr>
          <p:nvPr/>
        </p:nvSpPr>
        <p:spPr>
          <a:xfrm xmlns:a="http://schemas.openxmlformats.org/drawingml/2006/main">
            <a:off x="685800" y="5381625"/>
            <a:ext cx="106680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A condition alone does not imply repetition: if tests once; while tests again after its body.</a:t>
            </a:r>
          </a:p>
        </p:txBody>
      </p:sp>
      <p:sp>
        <p:nvSpPr>
          <p:cNvPr id="6" name="">
            <a:extLst xmlns:a="http://schemas.openxmlformats.org/drawingml/2006/main">
              <a:ext uri="{FF2B5EF4-FFF2-40B4-BE49-F238E27FC236}">
                <a16:creationId xmlns:a16="http://schemas.microsoft.com/office/drawing/2014/main" id="{E2E53BB1-E251-4946-82E1-966D459589F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4   29</a:t>
            </a:r>
          </a:p>
        </p:txBody>
      </p:sp>
    </p:spTree>
    <p:extLst>
      <p:ext uri="{BB962C8B-B14F-4D97-AF65-F5344CB8AC3E}">
        <p14:creationId xmlns:p14="http://schemas.microsoft.com/office/powerpoint/2010/main" val="1798157101"/>
      </p:ext>
    </p:extLst>
  </p:cSld>
</p:sld>
</file>

<file path=ppt/slides/slide3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9FDBABE4-BB0C-48D1-8464-043A0217832A}"/>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DA908CAA-D8CE-4265-A35E-C9694148F74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1D53141D-4D7B-4074-B3C1-B010A805B83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range supplies a sequence of integers</a:t>
            </a:r>
          </a:p>
        </p:txBody>
      </p:sp>
      <p:sp>
        <p:nvSpPr>
          <p:cNvPr id="4" name="">
            <a:extLst xmlns:a="http://schemas.openxmlformats.org/drawingml/2006/main">
              <a:ext uri="{FF2B5EF4-FFF2-40B4-BE49-F238E27FC236}">
                <a16:creationId xmlns:a16="http://schemas.microsoft.com/office/drawing/2014/main" id="{50BCBC28-8900-4957-A5CA-109CA4FCD01F}"/>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25CA4F91-2AEA-4A79-94D9-D3F514DE622B}"/>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range(3) supplies 0, 1 and 2. The stop value 3 is excluded. range(1, 4) supplies 1, 2 and 3.</a:t>
            </a:r>
          </a:p>
        </p:txBody>
      </p:sp>
      <p:sp>
        <p:nvSpPr>
          <p:cNvPr id="6" name="">
            <a:extLst xmlns:a="http://schemas.openxmlformats.org/drawingml/2006/main">
              <a:ext uri="{FF2B5EF4-FFF2-40B4-BE49-F238E27FC236}">
                <a16:creationId xmlns:a16="http://schemas.microsoft.com/office/drawing/2014/main" id="{523CD30B-183F-497F-86AD-BC79518C998C}"/>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94C9A340-CF22-4C98-9B7C-732CE35509D5}"/>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range with for when a numbered repetition is useful. The loop still works by taking the next supplied item.</a:t>
            </a:r>
          </a:p>
        </p:txBody>
      </p:sp>
      <p:sp>
        <p:nvSpPr>
          <p:cNvPr id="8" name="">
            <a:extLst xmlns:a="http://schemas.openxmlformats.org/drawingml/2006/main">
              <a:ext uri="{FF2B5EF4-FFF2-40B4-BE49-F238E27FC236}">
                <a16:creationId xmlns:a16="http://schemas.microsoft.com/office/drawing/2014/main" id="{EC26B8D2-95FF-40E4-AA8C-F24D04A4F454}"/>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F17AA5F4-0EE7-49FC-A491-662948284C64}"/>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range(0, 6, 2) uses a step of 2 and supplies 0, 2, 4. A step is the change between successive numbers; it cannot be zero.</a:t>
            </a:r>
          </a:p>
        </p:txBody>
      </p:sp>
      <p:sp>
        <p:nvSpPr>
          <p:cNvPr id="10" name="">
            <a:extLst xmlns:a="http://schemas.openxmlformats.org/drawingml/2006/main">
              <a:ext uri="{FF2B5EF4-FFF2-40B4-BE49-F238E27FC236}">
                <a16:creationId xmlns:a16="http://schemas.microsoft.com/office/drawing/2014/main" id="{AACE544C-DD6E-470B-9800-F14384B0579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4   30</a:t>
            </a:r>
          </a:p>
        </p:txBody>
      </p:sp>
    </p:spTree>
    <p:extLst>
      <p:ext uri="{BB962C8B-B14F-4D97-AF65-F5344CB8AC3E}">
        <p14:creationId xmlns:p14="http://schemas.microsoft.com/office/powerpoint/2010/main" val="46781463"/>
      </p:ext>
    </p:extLst>
  </p:cSld>
</p:sld>
</file>

<file path=ppt/slides/slide3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910235B6-E313-4DCC-9CDE-FAFF2FED453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52B163E9-F1A3-41F7-A5C5-CA9F914316E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FAEFBDD2-D351-47A1-8EC2-4D050961A612}"/>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Repeat with range</a:t>
            </a:r>
          </a:p>
        </p:txBody>
      </p:sp>
      <p:sp>
        <p:nvSpPr>
          <p:cNvPr id="4" name="">
            <a:extLst xmlns:a="http://schemas.openxmlformats.org/drawingml/2006/main">
              <a:ext uri="{FF2B5EF4-FFF2-40B4-BE49-F238E27FC236}">
                <a16:creationId xmlns:a16="http://schemas.microsoft.com/office/drawing/2014/main" id="{DC5871FA-28FB-4D25-B13D-491DF22A6A1C}"/>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1F65A23B-FAEE-44B0-96AA-23483F96C0AE}"/>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FB080"/>
                </a:solidFill>
                <a:latin typeface="Courier New"/>
                <a:ea typeface="Courier New"/>
                <a:cs typeface="Courier New"/>
              </a:rPr>
              <a:t>for</a:t>
            </a:r>
            <a:r>
              <a:rPr sz="2175" b="0">
                <a:solidFill>
                  <a:srgbClr val="F4F7FA"/>
                </a:solidFill>
                <a:latin typeface="Courier New"/>
                <a:ea typeface="Courier New"/>
                <a:cs typeface="Courier New"/>
              </a:rPr>
              <a:t> attempt in range(1, 4):</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print(attempt)</a:t>
            </a:r>
          </a:p>
        </p:txBody>
      </p:sp>
      <p:sp>
        <p:nvSpPr>
          <p:cNvPr id="6" name="">
            <a:extLst xmlns:a="http://schemas.openxmlformats.org/drawingml/2006/main">
              <a:ext uri="{FF2B5EF4-FFF2-40B4-BE49-F238E27FC236}">
                <a16:creationId xmlns:a16="http://schemas.microsoft.com/office/drawing/2014/main" id="{B2C02038-45A9-4D4C-987E-ED832C552E48}"/>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407972F3-C389-4D4C-B925-883B8BDD0177}"/>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Start at 1; stop before 4.</a:t>
            </a:r>
          </a:p>
        </p:txBody>
      </p:sp>
      <p:sp>
        <p:nvSpPr>
          <p:cNvPr id="8" name="">
            <a:extLst xmlns:a="http://schemas.openxmlformats.org/drawingml/2006/main">
              <a:ext uri="{FF2B5EF4-FFF2-40B4-BE49-F238E27FC236}">
                <a16:creationId xmlns:a16="http://schemas.microsoft.com/office/drawing/2014/main" id="{533F01F0-2C3A-4154-8A23-3886B2EFBF35}"/>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Output: 1; 2; 3</a:t>
            </a:r>
          </a:p>
        </p:txBody>
      </p:sp>
      <p:sp>
        <p:nvSpPr>
          <p:cNvPr id="9" name="">
            <a:extLst xmlns:a="http://schemas.openxmlformats.org/drawingml/2006/main">
              <a:ext uri="{FF2B5EF4-FFF2-40B4-BE49-F238E27FC236}">
                <a16:creationId xmlns:a16="http://schemas.microsoft.com/office/drawing/2014/main" id="{F1FEF356-29AE-469E-8A89-083DE4FCF75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4   31</a:t>
            </a:r>
          </a:p>
        </p:txBody>
      </p:sp>
    </p:spTree>
    <p:extLst>
      <p:ext uri="{BB962C8B-B14F-4D97-AF65-F5344CB8AC3E}">
        <p14:creationId xmlns:p14="http://schemas.microsoft.com/office/powerpoint/2010/main" val="1537749091"/>
      </p:ext>
    </p:extLst>
  </p:cSld>
</p:sld>
</file>

<file path=ppt/slides/slide3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87A30195-6810-4259-B2F4-0D52AEE40A09}"/>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39DACCB9-F7FE-45BE-9685-62B5510F617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671EA02D-3728-46C7-82A6-0D9CCA36D65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continue and break change a loop’s path</a:t>
            </a:r>
          </a:p>
        </p:txBody>
      </p:sp>
      <p:sp>
        <p:nvSpPr>
          <p:cNvPr id="4" name="">
            <a:extLst xmlns:a="http://schemas.openxmlformats.org/drawingml/2006/main">
              <a:ext uri="{FF2B5EF4-FFF2-40B4-BE49-F238E27FC236}">
                <a16:creationId xmlns:a16="http://schemas.microsoft.com/office/drawing/2014/main" id="{A4C8D456-0119-4D5A-8B81-0C82915A083B}"/>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DE2E1FAC-C5C1-45D2-BDB0-43AEB16DB030}"/>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continue skips the rest of the current iteration, then starts the next iteration. It does not end the whole loop.</a:t>
            </a:r>
          </a:p>
        </p:txBody>
      </p:sp>
      <p:sp>
        <p:nvSpPr>
          <p:cNvPr id="6" name="">
            <a:extLst xmlns:a="http://schemas.openxmlformats.org/drawingml/2006/main">
              <a:ext uri="{FF2B5EF4-FFF2-40B4-BE49-F238E27FC236}">
                <a16:creationId xmlns:a16="http://schemas.microsoft.com/office/drawing/2014/main" id="{B88ACA4B-8399-40FE-B32D-0E6A66CA9657}"/>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299F121E-9383-4B83-AD8E-455E2810C682}"/>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break exits the nearest enclosing loop immediately. Execution resumes after that loop.</a:t>
            </a:r>
          </a:p>
        </p:txBody>
      </p:sp>
      <p:sp>
        <p:nvSpPr>
          <p:cNvPr id="8" name="">
            <a:extLst xmlns:a="http://schemas.openxmlformats.org/drawingml/2006/main">
              <a:ext uri="{FF2B5EF4-FFF2-40B4-BE49-F238E27FC236}">
                <a16:creationId xmlns:a16="http://schemas.microsoft.com/office/drawing/2014/main" id="{916903B9-619B-490E-8C04-5271C21BDECB}"/>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BD61E008-896D-4054-9099-6B6BD074B8B7}"/>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Put the condition inside the loop with four spaces. Its action is inside that condition with eight spaces: an indented block inside another block.</a:t>
            </a:r>
          </a:p>
        </p:txBody>
      </p:sp>
      <p:sp>
        <p:nvSpPr>
          <p:cNvPr id="10" name="">
            <a:extLst xmlns:a="http://schemas.openxmlformats.org/drawingml/2006/main">
              <a:ext uri="{FF2B5EF4-FFF2-40B4-BE49-F238E27FC236}">
                <a16:creationId xmlns:a16="http://schemas.microsoft.com/office/drawing/2014/main" id="{4EA965CE-EFA0-4F38-BDFA-B1380350E2D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4   32</a:t>
            </a:r>
          </a:p>
        </p:txBody>
      </p:sp>
    </p:spTree>
    <p:extLst>
      <p:ext uri="{BB962C8B-B14F-4D97-AF65-F5344CB8AC3E}">
        <p14:creationId xmlns:p14="http://schemas.microsoft.com/office/powerpoint/2010/main" val="986237894"/>
      </p:ext>
    </p:extLst>
  </p:cSld>
</p:sld>
</file>

<file path=ppt/slides/slide3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EFF1EF7B-9EBE-48C0-ADEF-BE6F4B971C8A}"/>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0D6DA016-FC2E-420D-B752-2B7EA7A63F09}"/>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E4C760C3-7B13-4221-9927-C30A565A2F8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Skip one item using continue</a:t>
            </a:r>
          </a:p>
        </p:txBody>
      </p:sp>
      <p:sp>
        <p:nvSpPr>
          <p:cNvPr id="4" name="">
            <a:extLst xmlns:a="http://schemas.openxmlformats.org/drawingml/2006/main">
              <a:ext uri="{FF2B5EF4-FFF2-40B4-BE49-F238E27FC236}">
                <a16:creationId xmlns:a16="http://schemas.microsoft.com/office/drawing/2014/main" id="{75CC4CF5-9ADB-40D9-B35A-A3CF15BB0E43}"/>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EEF18A1F-BD56-4C2C-9747-57A1F3D319FA}"/>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FB080"/>
                </a:solidFill>
                <a:latin typeface="Courier New"/>
                <a:ea typeface="Courier New"/>
                <a:cs typeface="Courier New"/>
              </a:rPr>
              <a:t>for</a:t>
            </a:r>
            <a:r>
              <a:rPr sz="2175" b="0">
                <a:solidFill>
                  <a:srgbClr val="F4F7FA"/>
                </a:solidFill>
                <a:latin typeface="Courier New"/>
                <a:ea typeface="Courier New"/>
                <a:cs typeface="Courier New"/>
              </a:rPr>
              <a:t> reading in [2, -1, 6]:</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a:t>
            </a:r>
            <a:r>
              <a:rPr sz="2175" b="0">
                <a:solidFill>
                  <a:srgbClr val="FFB080"/>
                </a:solidFill>
                <a:latin typeface="Courier New"/>
                <a:ea typeface="Courier New"/>
                <a:cs typeface="Courier New"/>
              </a:rPr>
              <a:t>if</a:t>
            </a:r>
            <a:r>
              <a:rPr sz="2175" b="0">
                <a:solidFill>
                  <a:srgbClr val="F4F7FA"/>
                </a:solidFill>
                <a:latin typeface="Courier New"/>
                <a:ea typeface="Courier New"/>
                <a:cs typeface="Courier New"/>
              </a:rPr>
              <a:t> reading &lt; 0:</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continue</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print(reading)</a:t>
            </a:r>
          </a:p>
        </p:txBody>
      </p:sp>
      <p:sp>
        <p:nvSpPr>
          <p:cNvPr id="6" name="">
            <a:extLst xmlns:a="http://schemas.openxmlformats.org/drawingml/2006/main">
              <a:ext uri="{FF2B5EF4-FFF2-40B4-BE49-F238E27FC236}">
                <a16:creationId xmlns:a16="http://schemas.microsoft.com/office/drawing/2014/main" id="{D6C9BE10-D186-4A3A-A818-97B7E606B169}"/>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05DCF9E7-DE6C-4C43-A14C-92D1AA3610E0}"/>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-1 takes continue, so its print is skipped.</a:t>
            </a:r>
          </a:p>
        </p:txBody>
      </p:sp>
      <p:sp>
        <p:nvSpPr>
          <p:cNvPr id="8" name="">
            <a:extLst xmlns:a="http://schemas.openxmlformats.org/drawingml/2006/main">
              <a:ext uri="{FF2B5EF4-FFF2-40B4-BE49-F238E27FC236}">
                <a16:creationId xmlns:a16="http://schemas.microsoft.com/office/drawing/2014/main" id="{1C999D38-D0B7-4A16-BBC8-987FB0A23A47}"/>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2 and 6 reach print.</a:t>
            </a:r>
          </a:p>
        </p:txBody>
      </p:sp>
      <p:sp>
        <p:nvSpPr>
          <p:cNvPr id="9" name="">
            <a:extLst xmlns:a="http://schemas.openxmlformats.org/drawingml/2006/main">
              <a:ext uri="{FF2B5EF4-FFF2-40B4-BE49-F238E27FC236}">
                <a16:creationId xmlns:a16="http://schemas.microsoft.com/office/drawing/2014/main" id="{DA64F9EA-7B96-4745-9868-5F160E00FE1B}"/>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Output: 2; 6</a:t>
            </a:r>
          </a:p>
        </p:txBody>
      </p:sp>
      <p:sp>
        <p:nvSpPr>
          <p:cNvPr id="10" name="">
            <a:extLst xmlns:a="http://schemas.openxmlformats.org/drawingml/2006/main">
              <a:ext uri="{FF2B5EF4-FFF2-40B4-BE49-F238E27FC236}">
                <a16:creationId xmlns:a16="http://schemas.microsoft.com/office/drawing/2014/main" id="{58AE464C-82BA-425A-968B-80DB624BAEF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4   33</a:t>
            </a:r>
          </a:p>
        </p:txBody>
      </p:sp>
    </p:spTree>
    <p:extLst>
      <p:ext uri="{BB962C8B-B14F-4D97-AF65-F5344CB8AC3E}">
        <p14:creationId xmlns:p14="http://schemas.microsoft.com/office/powerpoint/2010/main" val="786429343"/>
      </p:ext>
    </p:extLst>
  </p:cSld>
</p:sld>
</file>

<file path=ppt/slides/slide3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B4408EA5-8DE7-4100-AAEA-6458DF14832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CF1EBFD6-D0F3-4931-B090-45914EDC5E0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E897F55C-A5EB-442A-9AD8-E10CD6154D6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Stop at one item using break</a:t>
            </a:r>
          </a:p>
        </p:txBody>
      </p:sp>
      <p:sp>
        <p:nvSpPr>
          <p:cNvPr id="4" name="">
            <a:extLst xmlns:a="http://schemas.openxmlformats.org/drawingml/2006/main">
              <a:ext uri="{FF2B5EF4-FFF2-40B4-BE49-F238E27FC236}">
                <a16:creationId xmlns:a16="http://schemas.microsoft.com/office/drawing/2014/main" id="{8C343C7B-6EFA-48A7-9FD3-ACB9D3912297}"/>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224E614B-6CEB-4D4E-BABB-821E848F0CB8}"/>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FB080"/>
                </a:solidFill>
                <a:latin typeface="Courier New"/>
                <a:ea typeface="Courier New"/>
                <a:cs typeface="Courier New"/>
              </a:rPr>
              <a:t>for</a:t>
            </a:r>
            <a:r>
              <a:rPr sz="2175" b="0">
                <a:solidFill>
                  <a:srgbClr val="F4F7FA"/>
                </a:solidFill>
                <a:latin typeface="Courier New"/>
                <a:ea typeface="Courier New"/>
                <a:cs typeface="Courier New"/>
              </a:rPr>
              <a:t> reading in [2, -1, 6]:</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a:t>
            </a:r>
            <a:r>
              <a:rPr sz="2175" b="0">
                <a:solidFill>
                  <a:srgbClr val="FFB080"/>
                </a:solidFill>
                <a:latin typeface="Courier New"/>
                <a:ea typeface="Courier New"/>
                <a:cs typeface="Courier New"/>
              </a:rPr>
              <a:t>if</a:t>
            </a:r>
            <a:r>
              <a:rPr sz="2175" b="0">
                <a:solidFill>
                  <a:srgbClr val="F4F7FA"/>
                </a:solidFill>
                <a:latin typeface="Courier New"/>
                <a:ea typeface="Courier New"/>
                <a:cs typeface="Courier New"/>
              </a:rPr>
              <a:t> reading &lt; 0:</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break</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print(reading)</a:t>
            </a:r>
          </a:p>
        </p:txBody>
      </p:sp>
      <p:sp>
        <p:nvSpPr>
          <p:cNvPr id="6" name="">
            <a:extLst xmlns:a="http://schemas.openxmlformats.org/drawingml/2006/main">
              <a:ext uri="{FF2B5EF4-FFF2-40B4-BE49-F238E27FC236}">
                <a16:creationId xmlns:a16="http://schemas.microsoft.com/office/drawing/2014/main" id="{9465BB87-1F5C-4247-8D30-EA683F27C92C}"/>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8BF0C77A-8509-420F-A42C-EDF2DFEA7702}"/>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-1 triggers break. The loop never visits 6.</a:t>
            </a:r>
          </a:p>
        </p:txBody>
      </p:sp>
      <p:sp>
        <p:nvSpPr>
          <p:cNvPr id="8" name="">
            <a:extLst xmlns:a="http://schemas.openxmlformats.org/drawingml/2006/main">
              <a:ext uri="{FF2B5EF4-FFF2-40B4-BE49-F238E27FC236}">
                <a16:creationId xmlns:a16="http://schemas.microsoft.com/office/drawing/2014/main" id="{200A8556-4350-4A16-9556-4AF21042390B}"/>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Output: 2</a:t>
            </a:r>
          </a:p>
        </p:txBody>
      </p:sp>
      <p:sp>
        <p:nvSpPr>
          <p:cNvPr id="9" name="">
            <a:extLst xmlns:a="http://schemas.openxmlformats.org/drawingml/2006/main">
              <a:ext uri="{FF2B5EF4-FFF2-40B4-BE49-F238E27FC236}">
                <a16:creationId xmlns:a16="http://schemas.microsoft.com/office/drawing/2014/main" id="{C7673C48-D233-4A61-B89D-2E23EE5C40C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4   34</a:t>
            </a:r>
          </a:p>
        </p:txBody>
      </p:sp>
    </p:spTree>
    <p:extLst>
      <p:ext uri="{BB962C8B-B14F-4D97-AF65-F5344CB8AC3E}">
        <p14:creationId xmlns:p14="http://schemas.microsoft.com/office/powerpoint/2010/main" val="698777979"/>
      </p:ext>
    </p:extLst>
  </p:cSld>
</p:sld>
</file>

<file path=ppt/slides/slide3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F4685BA7-EC2C-4098-A37B-93BBF0589C74}"/>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A2968EEF-7748-42A2-B980-A3DC1BAB14E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READ THE EXAMPLE</a:t>
            </a:r>
          </a:p>
        </p:txBody>
      </p:sp>
      <p:sp>
        <p:nvSpPr>
          <p:cNvPr id="3" name="">
            <a:extLst xmlns:a="http://schemas.openxmlformats.org/drawingml/2006/main">
              <a:ext uri="{FF2B5EF4-FFF2-40B4-BE49-F238E27FC236}">
                <a16:creationId xmlns:a16="http://schemas.microsoft.com/office/drawing/2014/main" id="{F9D33A57-3DA6-4B3C-9563-D834F570874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Trace the two loop controls</a:t>
            </a:r>
          </a:p>
        </p:txBody>
      </p:sp>
      <p:graphicFrame>
        <p:nvGraphicFramePr>
          <p:cNvPr id="10" name=""/>
          <p:cNvGraphicFramePr/>
          <p:nvPr/>
        </p:nvGraphicFramePr>
        <p:xfrm>
          <a:off xmlns:a="http://schemas.openxmlformats.org/drawingml/2006/main" x="590550" y="1733550"/>
          <a:ext xmlns:a="http://schemas.openxmlformats.org/drawingml/2006/main" cx="11010900" cy="3333750"/>
        </p:xfrm>
        <a:graphic xmlns:a="http://schemas.openxmlformats.org/drawingml/2006/main">
          <a:graphicData uri="http://schemas.openxmlformats.org/drawingml/2006/table">
            <a:tbl>
              <a:tblPr/>
              <a:tblGrid>
                <a:gridCol w="3670300"/>
                <a:gridCol w="3670300"/>
                <a:gridCol w="3670300"/>
              </a:tblGrid>
              <a:tr h="833438">
                <a:tc>
                  <a:txBody>
                    <a:bodyPr/>
                    <a:lstStyle/>
                    <a:p>
                      <a:r>
                        <a:rPr sz="2025" b="1">
                          <a:solidFill>
                            <a:srgbClr val="FFFFFF"/>
                          </a:solidFill>
                          <a:latin typeface="Calibri"/>
                          <a:ea typeface="Calibri"/>
                          <a:cs typeface="Calibri"/>
                        </a:rPr>
                        <a:t>Input</a:t>
                      </a:r>
                    </a:p>
                  </a:txBody>
                  <a:tcPr marL="91440" marR="91440" marT="45720" marB="45720">
                    <a:solidFill>
                      <a:srgbClr val="2E7D6F"/>
                    </a:solidFill>
                  </a:tcPr>
                </a:tc>
                <a:tc>
                  <a:txBody>
                    <a:bodyPr/>
                    <a:lstStyle/>
                    <a:p>
                      <a:r>
                        <a:rPr sz="2025" b="1">
                          <a:solidFill>
                            <a:srgbClr val="FFFFFF"/>
                          </a:solidFill>
                          <a:latin typeface="Calibri"/>
                          <a:ea typeface="Calibri"/>
                          <a:cs typeface="Calibri"/>
                        </a:rPr>
                        <a:t>continue version</a:t>
                      </a:r>
                    </a:p>
                  </a:txBody>
                  <a:tcPr marL="91440" marR="91440" marT="45720" marB="45720">
                    <a:solidFill>
                      <a:srgbClr val="2E7D6F"/>
                    </a:solidFill>
                  </a:tcPr>
                </a:tc>
                <a:tc>
                  <a:txBody>
                    <a:bodyPr/>
                    <a:lstStyle/>
                    <a:p>
                      <a:r>
                        <a:rPr sz="2025" b="1">
                          <a:solidFill>
                            <a:srgbClr val="FFFFFF"/>
                          </a:solidFill>
                          <a:latin typeface="Calibri"/>
                          <a:ea typeface="Calibri"/>
                          <a:cs typeface="Calibri"/>
                        </a:rPr>
                        <a:t>break version</a:t>
                      </a:r>
                    </a:p>
                  </a:txBody>
                  <a:tcPr marL="91440" marR="91440" marT="45720" marB="45720">
                    <a:solidFill>
                      <a:srgbClr val="2E7D6F"/>
                    </a:solidFill>
                  </a:tcPr>
                </a:tc>
              </a:tr>
              <a:tr h="833438">
                <a:tc>
                  <a:txBody>
                    <a:bodyPr/>
                    <a:lstStyle/>
                    <a:p>
                      <a:r>
                        <a:rPr sz="2025" b="0">
                          <a:solidFill>
                            <a:srgbClr val="1C3144"/>
                          </a:solidFill>
                          <a:latin typeface="Calibri"/>
                          <a:ea typeface="Calibri"/>
                          <a:cs typeface="Calibri"/>
                        </a:rPr>
                        <a:t>2</a:t>
                      </a:r>
                    </a:p>
                  </a:txBody>
                  <a:tcPr marL="91440" marR="91440" marT="45720" marB="45720">
                    <a:solidFill>
                      <a:srgbClr val="EEF3F6"/>
                    </a:solidFill>
                  </a:tcPr>
                </a:tc>
                <a:tc>
                  <a:txBody>
                    <a:bodyPr/>
                    <a:lstStyle/>
                    <a:p>
                      <a:r>
                        <a:rPr sz="2025" b="0">
                          <a:solidFill>
                            <a:srgbClr val="1C3144"/>
                          </a:solidFill>
                          <a:latin typeface="Calibri"/>
                          <a:ea typeface="Calibri"/>
                          <a:cs typeface="Calibri"/>
                        </a:rPr>
                        <a:t>Print 2</a:t>
                      </a:r>
                    </a:p>
                  </a:txBody>
                  <a:tcPr marL="91440" marR="91440" marT="45720" marB="45720">
                    <a:solidFill>
                      <a:srgbClr val="EEF3F6"/>
                    </a:solidFill>
                  </a:tcPr>
                </a:tc>
                <a:tc>
                  <a:txBody>
                    <a:bodyPr/>
                    <a:lstStyle/>
                    <a:p>
                      <a:r>
                        <a:rPr sz="2025" b="0">
                          <a:solidFill>
                            <a:srgbClr val="1C3144"/>
                          </a:solidFill>
                          <a:latin typeface="Calibri"/>
                          <a:ea typeface="Calibri"/>
                          <a:cs typeface="Calibri"/>
                        </a:rPr>
                        <a:t>Print 2</a:t>
                      </a:r>
                    </a:p>
                  </a:txBody>
                  <a:tcPr marL="91440" marR="91440" marT="45720" marB="45720">
                    <a:solidFill>
                      <a:srgbClr val="EEF3F6"/>
                    </a:solidFill>
                  </a:tcPr>
                </a:tc>
              </a:tr>
              <a:tr h="833438">
                <a:tc>
                  <a:txBody>
                    <a:bodyPr/>
                    <a:lstStyle/>
                    <a:p>
                      <a:r>
                        <a:rPr sz="2025" b="0">
                          <a:solidFill>
                            <a:srgbClr val="1C3144"/>
                          </a:solidFill>
                          <a:latin typeface="Calibri"/>
                          <a:ea typeface="Calibri"/>
                          <a:cs typeface="Calibri"/>
                        </a:rPr>
                        <a:t>-1</a:t>
                      </a:r>
                    </a:p>
                  </a:txBody>
                  <a:tcPr marL="91440" marR="91440" marT="45720" marB="45720">
                    <a:solidFill>
                      <a:srgbClr val="FFFFFF"/>
                    </a:solidFill>
                  </a:tcPr>
                </a:tc>
                <a:tc>
                  <a:txBody>
                    <a:bodyPr/>
                    <a:lstStyle/>
                    <a:p>
                      <a:r>
                        <a:rPr sz="2025" b="0">
                          <a:solidFill>
                            <a:srgbClr val="1C3144"/>
                          </a:solidFill>
                          <a:latin typeface="Calibri"/>
                          <a:ea typeface="Calibri"/>
                          <a:cs typeface="Calibri"/>
                        </a:rPr>
                        <a:t>Skip its print</a:t>
                      </a:r>
                    </a:p>
                  </a:txBody>
                  <a:tcPr marL="91440" marR="91440" marT="45720" marB="45720">
                    <a:solidFill>
                      <a:srgbClr val="FFFFFF"/>
                    </a:solidFill>
                  </a:tcPr>
                </a:tc>
                <a:tc>
                  <a:txBody>
                    <a:bodyPr/>
                    <a:lstStyle/>
                    <a:p>
                      <a:r>
                        <a:rPr sz="2025" b="0">
                          <a:solidFill>
                            <a:srgbClr val="1C3144"/>
                          </a:solidFill>
                          <a:latin typeface="Calibri"/>
                          <a:ea typeface="Calibri"/>
                          <a:cs typeface="Calibri"/>
                        </a:rPr>
                        <a:t>Exit loop</a:t>
                      </a:r>
                    </a:p>
                  </a:txBody>
                  <a:tcPr marL="91440" marR="91440" marT="45720" marB="45720">
                    <a:solidFill>
                      <a:srgbClr val="FFFFFF"/>
                    </a:solidFill>
                  </a:tcPr>
                </a:tc>
              </a:tr>
              <a:tr h="833438">
                <a:tc>
                  <a:txBody>
                    <a:bodyPr/>
                    <a:lstStyle/>
                    <a:p>
                      <a:r>
                        <a:rPr sz="2025" b="0">
                          <a:solidFill>
                            <a:srgbClr val="1C3144"/>
                          </a:solidFill>
                          <a:latin typeface="Calibri"/>
                          <a:ea typeface="Calibri"/>
                          <a:cs typeface="Calibri"/>
                        </a:rPr>
                        <a:t>6</a:t>
                      </a:r>
                    </a:p>
                  </a:txBody>
                  <a:tcPr marL="91440" marR="91440" marT="45720" marB="45720">
                    <a:solidFill>
                      <a:srgbClr val="EEF3F6"/>
                    </a:solidFill>
                  </a:tcPr>
                </a:tc>
                <a:tc>
                  <a:txBody>
                    <a:bodyPr/>
                    <a:lstStyle/>
                    <a:p>
                      <a:r>
                        <a:rPr sz="2025" b="0">
                          <a:solidFill>
                            <a:srgbClr val="1C3144"/>
                          </a:solidFill>
                          <a:latin typeface="Calibri"/>
                          <a:ea typeface="Calibri"/>
                          <a:cs typeface="Calibri"/>
                        </a:rPr>
                        <a:t>Print 6</a:t>
                      </a:r>
                    </a:p>
                  </a:txBody>
                  <a:tcPr marL="91440" marR="91440" marT="45720" marB="45720">
                    <a:solidFill>
                      <a:srgbClr val="EEF3F6"/>
                    </a:solidFill>
                  </a:tcPr>
                </a:tc>
                <a:tc>
                  <a:txBody>
                    <a:bodyPr/>
                    <a:lstStyle/>
                    <a:p>
                      <a:r>
                        <a:rPr sz="2025" b="0">
                          <a:solidFill>
                            <a:srgbClr val="1C3144"/>
                          </a:solidFill>
                          <a:latin typeface="Calibri"/>
                          <a:ea typeface="Calibri"/>
                          <a:cs typeface="Calibri"/>
                        </a:rPr>
                        <a:t>Never visited</a:t>
                      </a:r>
                    </a:p>
                  </a:txBody>
                  <a:tcPr marL="91440" marR="91440" marT="45720" marB="45720">
                    <a:solidFill>
                      <a:srgbClr val="EEF3F6"/>
                    </a:solidFill>
                  </a:tcPr>
                </a:tc>
              </a:tr>
            </a:tbl>
          </a:graphicData>
        </a:graphic>
      </p:graphicFrame>
      <p:sp>
        <p:nvSpPr>
          <p:cNvPr id="5" name="">
            <a:extLst xmlns:a="http://schemas.openxmlformats.org/drawingml/2006/main">
              <a:ext uri="{FF2B5EF4-FFF2-40B4-BE49-F238E27FC236}">
                <a16:creationId xmlns:a16="http://schemas.microsoft.com/office/drawing/2014/main" id="{30087D98-BC04-4A06-9238-9D83C13E91DE}"/>
              </a:ext>
            </a:extLst>
          </p:cNvPr>
          <p:cNvSpPr>
            <a:spLocks xmlns:a="http://schemas.openxmlformats.org/drawingml/2006/main" noGrp="1"/>
          </p:cNvSpPr>
          <p:nvPr/>
        </p:nvSpPr>
        <p:spPr>
          <a:xfrm xmlns:a="http://schemas.openxmlformats.org/drawingml/2006/main">
            <a:off x="685800" y="5381625"/>
            <a:ext cx="106680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Use continue only when skipping is justified by the stated data rule; do not silently discard evidence.</a:t>
            </a:r>
          </a:p>
        </p:txBody>
      </p:sp>
      <p:sp>
        <p:nvSpPr>
          <p:cNvPr id="6" name="">
            <a:extLst xmlns:a="http://schemas.openxmlformats.org/drawingml/2006/main">
              <a:ext uri="{FF2B5EF4-FFF2-40B4-BE49-F238E27FC236}">
                <a16:creationId xmlns:a16="http://schemas.microsoft.com/office/drawing/2014/main" id="{0999CF47-FF83-487D-A3CB-6957525C5849}"/>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4   35</a:t>
            </a:r>
          </a:p>
        </p:txBody>
      </p:sp>
    </p:spTree>
    <p:extLst>
      <p:ext uri="{BB962C8B-B14F-4D97-AF65-F5344CB8AC3E}">
        <p14:creationId xmlns:p14="http://schemas.microsoft.com/office/powerpoint/2010/main" val="818673775"/>
      </p:ext>
    </p:extLst>
  </p:cSld>
</p:sld>
</file>

<file path=ppt/slides/slide3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F5E6EF15-5A6B-49B9-9228-1C70E89732F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D5D60627-DB64-4029-BA9C-623B3F14BC7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8D30F92B-21E8-463E-B48D-2FC23FC5342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dictionary is a record with named fields</a:t>
            </a:r>
          </a:p>
        </p:txBody>
      </p:sp>
      <p:sp>
        <p:nvSpPr>
          <p:cNvPr id="4" name="">
            <a:extLst xmlns:a="http://schemas.openxmlformats.org/drawingml/2006/main">
              <a:ext uri="{FF2B5EF4-FFF2-40B4-BE49-F238E27FC236}">
                <a16:creationId xmlns:a16="http://schemas.microsoft.com/office/drawing/2014/main" id="{99D1C4C4-3344-498F-9F00-1BA398923E34}"/>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8DBC5FC1-F189-4297-8A2A-7292D74F64BD}"/>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record = {"unit": "A", "reading": 4} stores two key–value pairs. Keys name fields; values hold the information.</a:t>
            </a:r>
          </a:p>
        </p:txBody>
      </p:sp>
      <p:sp>
        <p:nvSpPr>
          <p:cNvPr id="6" name="">
            <a:extLst xmlns:a="http://schemas.openxmlformats.org/drawingml/2006/main">
              <a:ext uri="{FF2B5EF4-FFF2-40B4-BE49-F238E27FC236}">
                <a16:creationId xmlns:a16="http://schemas.microsoft.com/office/drawing/2014/main" id="{0A255320-2E35-4CA1-861E-1A8410455440}"/>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8E5AE0A4-6F47-4BB5-B11F-7310ADD85834}"/>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Braces enclose the dictionary. A colon separates each key from its value and a comma separates pairs. Each key is unique.</a:t>
            </a:r>
          </a:p>
        </p:txBody>
      </p:sp>
      <p:sp>
        <p:nvSpPr>
          <p:cNvPr id="8" name="">
            <a:extLst xmlns:a="http://schemas.openxmlformats.org/drawingml/2006/main">
              <a:ext uri="{FF2B5EF4-FFF2-40B4-BE49-F238E27FC236}">
                <a16:creationId xmlns:a16="http://schemas.microsoft.com/office/drawing/2014/main" id="{E10945DC-3562-42CC-B043-34D2517A038E}"/>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3AD777AE-6297-4142-9544-1057F8CE7222}"/>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record["reading"] returns 4. Unlike a list position, "reading" names the field we want.</a:t>
            </a:r>
          </a:p>
        </p:txBody>
      </p:sp>
      <p:sp>
        <p:nvSpPr>
          <p:cNvPr id="10" name="">
            <a:extLst xmlns:a="http://schemas.openxmlformats.org/drawingml/2006/main">
              <a:ext uri="{FF2B5EF4-FFF2-40B4-BE49-F238E27FC236}">
                <a16:creationId xmlns:a16="http://schemas.microsoft.com/office/drawing/2014/main" id="{373A1D2D-AA81-4D22-88F9-319F37346EED}"/>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4   36</a:t>
            </a:r>
          </a:p>
        </p:txBody>
      </p:sp>
    </p:spTree>
    <p:extLst>
      <p:ext uri="{BB962C8B-B14F-4D97-AF65-F5344CB8AC3E}">
        <p14:creationId xmlns:p14="http://schemas.microsoft.com/office/powerpoint/2010/main" val="376691486"/>
      </p:ext>
    </p:extLst>
  </p:cSld>
</p:sld>
</file>

<file path=ppt/slides/slide3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117590C5-4C16-4C02-B4A0-A13A6FF4B89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3516AFF9-B947-49C9-99C3-670B4942A35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414FEAF5-D413-42D7-96CD-F5D185FA11E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missing dictionary key and get</a:t>
            </a:r>
          </a:p>
        </p:txBody>
      </p:sp>
      <p:sp>
        <p:nvSpPr>
          <p:cNvPr id="4" name="">
            <a:extLst xmlns:a="http://schemas.openxmlformats.org/drawingml/2006/main">
              <a:ext uri="{FF2B5EF4-FFF2-40B4-BE49-F238E27FC236}">
                <a16:creationId xmlns:a16="http://schemas.microsoft.com/office/drawing/2014/main" id="{1C7188C3-1A4A-4858-A417-4674152437E5}"/>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A124154D-3EE7-40FE-B3BE-81D1BC157E02}"/>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record["reading"] requests a known field. If that key does not exist, square-bracket lookup raises KeyError.</a:t>
            </a:r>
          </a:p>
        </p:txBody>
      </p:sp>
      <p:sp>
        <p:nvSpPr>
          <p:cNvPr id="6" name="">
            <a:extLst xmlns:a="http://schemas.openxmlformats.org/drawingml/2006/main">
              <a:ext uri="{FF2B5EF4-FFF2-40B4-BE49-F238E27FC236}">
                <a16:creationId xmlns:a16="http://schemas.microsoft.com/office/drawing/2014/main" id="{B098C4EF-FFEB-4A90-9966-0A220F110873}"/>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1B368D56-8472-480C-9D98-37502F528E90}"/>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record.get("missing", 0) asks for that key with a fallback: return 0 if it is absent. This does not add a new key.</a:t>
            </a:r>
          </a:p>
        </p:txBody>
      </p:sp>
      <p:sp>
        <p:nvSpPr>
          <p:cNvPr id="8" name="">
            <a:extLst xmlns:a="http://schemas.openxmlformats.org/drawingml/2006/main">
              <a:ext uri="{FF2B5EF4-FFF2-40B4-BE49-F238E27FC236}">
                <a16:creationId xmlns:a16="http://schemas.microsoft.com/office/drawing/2014/main" id="{E599DDEF-DDE6-408D-8026-B107C08EDF95}"/>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C76516E3-FEDE-4262-863C-2307EB571D88}"/>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second input is the fallback value. Use a fallback only when the task defines what missing information should mean.</a:t>
            </a:r>
          </a:p>
        </p:txBody>
      </p:sp>
      <p:sp>
        <p:nvSpPr>
          <p:cNvPr id="10" name="">
            <a:extLst xmlns:a="http://schemas.openxmlformats.org/drawingml/2006/main">
              <a:ext uri="{FF2B5EF4-FFF2-40B4-BE49-F238E27FC236}">
                <a16:creationId xmlns:a16="http://schemas.microsoft.com/office/drawing/2014/main" id="{E8C1B6D2-D3CE-4195-9B04-3A3AE6A2479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4   37</a:t>
            </a:r>
          </a:p>
        </p:txBody>
      </p:sp>
    </p:spTree>
    <p:extLst>
      <p:ext uri="{BB962C8B-B14F-4D97-AF65-F5344CB8AC3E}">
        <p14:creationId xmlns:p14="http://schemas.microsoft.com/office/powerpoint/2010/main" val="1580007664"/>
      </p:ext>
    </p:extLst>
  </p:cSld>
</p:sld>
</file>

<file path=ppt/slides/slide3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E5A5E5B8-3E1F-4F1D-BE5E-E9D52083C3C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84A22E74-7844-48E3-8F25-482CD7B61287}"/>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5CC51E9B-A672-442F-8371-B61849DB1612}"/>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Reading and updating a dictionary</a:t>
            </a:r>
          </a:p>
        </p:txBody>
      </p:sp>
      <p:sp>
        <p:nvSpPr>
          <p:cNvPr id="4" name="">
            <a:extLst xmlns:a="http://schemas.openxmlformats.org/drawingml/2006/main">
              <a:ext uri="{FF2B5EF4-FFF2-40B4-BE49-F238E27FC236}">
                <a16:creationId xmlns:a16="http://schemas.microsoft.com/office/drawing/2014/main" id="{E12B4EDA-BF0E-4196-B028-FD6A4D76533F}"/>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66BBE65D-A08F-4197-AFB4-D0A058B87A69}"/>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record = {"unit": "A", "reading": 4}</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print(record["reading"])</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record["reading"] = 6</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print(record["reading"])</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print(record.get("missing", 0))</a:t>
            </a:r>
          </a:p>
        </p:txBody>
      </p:sp>
      <p:sp>
        <p:nvSpPr>
          <p:cNvPr id="6" name="">
            <a:extLst xmlns:a="http://schemas.openxmlformats.org/drawingml/2006/main">
              <a:ext uri="{FF2B5EF4-FFF2-40B4-BE49-F238E27FC236}">
                <a16:creationId xmlns:a16="http://schemas.microsoft.com/office/drawing/2014/main" id="{9398FFF6-20F4-4ECC-962D-F248EC35BB52}"/>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CB447507-4947-41FA-B269-E840DF4A26D0}"/>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["reading"] selects a key, not a position.</a:t>
            </a:r>
          </a:p>
        </p:txBody>
      </p:sp>
      <p:sp>
        <p:nvSpPr>
          <p:cNvPr id="8" name="">
            <a:extLst xmlns:a="http://schemas.openxmlformats.org/drawingml/2006/main">
              <a:ext uri="{FF2B5EF4-FFF2-40B4-BE49-F238E27FC236}">
                <a16:creationId xmlns:a16="http://schemas.microsoft.com/office/drawing/2014/main" id="{80CB8578-11F5-4235-82AA-EE8C133F59F1}"/>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Assigning through the key updates its value.</a:t>
            </a:r>
          </a:p>
        </p:txBody>
      </p:sp>
      <p:sp>
        <p:nvSpPr>
          <p:cNvPr id="9" name="">
            <a:extLst xmlns:a="http://schemas.openxmlformats.org/drawingml/2006/main">
              <a:ext uri="{FF2B5EF4-FFF2-40B4-BE49-F238E27FC236}">
                <a16:creationId xmlns:a16="http://schemas.microsoft.com/office/drawing/2014/main" id="{693B78DD-BDBF-44F6-B44E-B3F8FD401D1A}"/>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Output: 4, then 6, then 0. get uses the fallback only when that key is absent.</a:t>
            </a:r>
          </a:p>
        </p:txBody>
      </p:sp>
      <p:sp>
        <p:nvSpPr>
          <p:cNvPr id="10" name="">
            <a:extLst xmlns:a="http://schemas.openxmlformats.org/drawingml/2006/main">
              <a:ext uri="{FF2B5EF4-FFF2-40B4-BE49-F238E27FC236}">
                <a16:creationId xmlns:a16="http://schemas.microsoft.com/office/drawing/2014/main" id="{0ED66E33-FE48-4DEA-9B79-AF4660959AA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4   38</a:t>
            </a:r>
          </a:p>
        </p:txBody>
      </p:sp>
    </p:spTree>
    <p:extLst>
      <p:ext uri="{BB962C8B-B14F-4D97-AF65-F5344CB8AC3E}">
        <p14:creationId xmlns:p14="http://schemas.microsoft.com/office/powerpoint/2010/main" val="1684902999"/>
      </p:ext>
    </p:extLst>
  </p:cSld>
</p:sld>
</file>

<file path=ppt/slides/slide3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E82DF814-F631-4497-8748-8E9556CDF583}"/>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34DFB74A-3127-41C9-8983-68D02769120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38BBB044-7648-4B0F-9C92-81A5604A4F1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Tuples and unpacking</a:t>
            </a:r>
          </a:p>
        </p:txBody>
      </p:sp>
      <p:sp>
        <p:nvSpPr>
          <p:cNvPr id="4" name="">
            <a:extLst xmlns:a="http://schemas.openxmlformats.org/drawingml/2006/main">
              <a:ext uri="{FF2B5EF4-FFF2-40B4-BE49-F238E27FC236}">
                <a16:creationId xmlns:a16="http://schemas.microsoft.com/office/drawing/2014/main" id="{2CA55825-A93E-4AB0-A072-C7E9873D52B3}"/>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02622DD8-66EF-4A43-A6BC-853002481C5C}"/>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tuple stores items in order. point = (2, 3) stores two coordinates; point[0] is 2. You cannot reassign point[0].</a:t>
            </a:r>
          </a:p>
        </p:txBody>
      </p:sp>
      <p:sp>
        <p:nvSpPr>
          <p:cNvPr id="6" name="">
            <a:extLst xmlns:a="http://schemas.openxmlformats.org/drawingml/2006/main">
              <a:ext uri="{FF2B5EF4-FFF2-40B4-BE49-F238E27FC236}">
                <a16:creationId xmlns:a16="http://schemas.microsoft.com/office/drawing/2014/main" id="{9204C274-0602-448A-83ED-A315381DD0E3}"/>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5B451916-1975-44D6-A817-CEFB2DFD0CA3}"/>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x, y = point gives the first item to x and the second to y. This is unpacking; the number of names must match the number of items.</a:t>
            </a:r>
          </a:p>
        </p:txBody>
      </p:sp>
      <p:sp>
        <p:nvSpPr>
          <p:cNvPr id="8" name="">
            <a:extLst xmlns:a="http://schemas.openxmlformats.org/drawingml/2006/main">
              <a:ext uri="{FF2B5EF4-FFF2-40B4-BE49-F238E27FC236}">
                <a16:creationId xmlns:a16="http://schemas.microsoft.com/office/drawing/2014/main" id="{7A871735-769B-4DA0-955B-D29990131B7D}"/>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089AEBFE-4532-4325-BD5B-1F03675406EF}"/>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tuple prevents replacing its positions. It does not freeze the contents of a mutable object stored inside it.</a:t>
            </a:r>
          </a:p>
        </p:txBody>
      </p:sp>
      <p:sp>
        <p:nvSpPr>
          <p:cNvPr id="10" name="">
            <a:extLst xmlns:a="http://schemas.openxmlformats.org/drawingml/2006/main">
              <a:ext uri="{FF2B5EF4-FFF2-40B4-BE49-F238E27FC236}">
                <a16:creationId xmlns:a16="http://schemas.microsoft.com/office/drawing/2014/main" id="{F4BD5600-4048-4E6D-BB26-803933ADF78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4   39</a:t>
            </a:r>
          </a:p>
        </p:txBody>
      </p:sp>
    </p:spTree>
    <p:extLst>
      <p:ext uri="{BB962C8B-B14F-4D97-AF65-F5344CB8AC3E}">
        <p14:creationId xmlns:p14="http://schemas.microsoft.com/office/powerpoint/2010/main" val="513131593"/>
      </p:ext>
    </p:extLst>
  </p:cSld>
</p:sld>
</file>

<file path=ppt/slides/slide4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1D1B1A18-1125-4798-92A5-B635AC49A84B}"/>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3936DF9A-B7E5-4435-B3A6-83D00A75AF6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E33F944E-088E-46F4-89F7-35212F9BFAF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Unpacking a pair</a:t>
            </a:r>
          </a:p>
        </p:txBody>
      </p:sp>
      <p:sp>
        <p:nvSpPr>
          <p:cNvPr id="4" name="">
            <a:extLst xmlns:a="http://schemas.openxmlformats.org/drawingml/2006/main">
              <a:ext uri="{FF2B5EF4-FFF2-40B4-BE49-F238E27FC236}">
                <a16:creationId xmlns:a16="http://schemas.microsoft.com/office/drawing/2014/main" id="{F96DDFE8-A3D3-47C4-8BA7-95DA05445FFC}"/>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2B1FE92A-C0EE-4E09-8E20-FDD7F670D081}"/>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point = (2, 3)</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x, y = point</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print(x)</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print(y)</a:t>
            </a:r>
          </a:p>
        </p:txBody>
      </p:sp>
      <p:sp>
        <p:nvSpPr>
          <p:cNvPr id="6" name="">
            <a:extLst xmlns:a="http://schemas.openxmlformats.org/drawingml/2006/main">
              <a:ext uri="{FF2B5EF4-FFF2-40B4-BE49-F238E27FC236}">
                <a16:creationId xmlns:a16="http://schemas.microsoft.com/office/drawing/2014/main" id="{E74F2291-5F7E-441C-9906-5C9A9EC395B9}"/>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69E0E27A-60CB-4F2C-95DD-1588A947FC66}"/>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Two names receive the two items in order.</a:t>
            </a:r>
          </a:p>
        </p:txBody>
      </p:sp>
      <p:sp>
        <p:nvSpPr>
          <p:cNvPr id="8" name="">
            <a:extLst xmlns:a="http://schemas.openxmlformats.org/drawingml/2006/main">
              <a:ext uri="{FF2B5EF4-FFF2-40B4-BE49-F238E27FC236}">
                <a16:creationId xmlns:a16="http://schemas.microsoft.com/office/drawing/2014/main" id="{C0417ABA-19BB-43F9-A012-A3E9C8FF8FE2}"/>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Output: 2, then 3.</a:t>
            </a:r>
          </a:p>
        </p:txBody>
      </p:sp>
      <p:sp>
        <p:nvSpPr>
          <p:cNvPr id="9" name="">
            <a:extLst xmlns:a="http://schemas.openxmlformats.org/drawingml/2006/main">
              <a:ext uri="{FF2B5EF4-FFF2-40B4-BE49-F238E27FC236}">
                <a16:creationId xmlns:a16="http://schemas.microsoft.com/office/drawing/2014/main" id="{BB045882-DDE5-4AD3-9F9D-29638D10818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4   40</a:t>
            </a:r>
          </a:p>
        </p:txBody>
      </p:sp>
    </p:spTree>
    <p:extLst>
      <p:ext uri="{BB962C8B-B14F-4D97-AF65-F5344CB8AC3E}">
        <p14:creationId xmlns:p14="http://schemas.microsoft.com/office/powerpoint/2010/main" val="1805805857"/>
      </p:ext>
    </p:extLst>
  </p:cSld>
</p:sld>
</file>

<file path=ppt/slides/slide4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4C94874C-02C2-4E40-AC66-62F831DA52E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63CCCBAC-8E3B-4323-BD4B-A15F6A89166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6C5B9AC3-A4BE-4DC0-8696-780546B08B5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set remembers distinct items</a:t>
            </a:r>
          </a:p>
        </p:txBody>
      </p:sp>
      <p:sp>
        <p:nvSpPr>
          <p:cNvPr id="4" name="">
            <a:extLst xmlns:a="http://schemas.openxmlformats.org/drawingml/2006/main">
              <a:ext uri="{FF2B5EF4-FFF2-40B4-BE49-F238E27FC236}">
                <a16:creationId xmlns:a16="http://schemas.microsoft.com/office/drawing/2014/main" id="{F5E0A778-DD73-462B-99F9-8D0F45A57C2C}"/>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A6F9EAC6-F314-467F-9562-30FB7B695A3F}"/>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set is useful when the question is “Have we seen this ID?” It keeps one instance of each distinct item.</a:t>
            </a:r>
          </a:p>
        </p:txBody>
      </p:sp>
      <p:sp>
        <p:nvSpPr>
          <p:cNvPr id="6" name="">
            <a:extLst xmlns:a="http://schemas.openxmlformats.org/drawingml/2006/main">
              <a:ext uri="{FF2B5EF4-FFF2-40B4-BE49-F238E27FC236}">
                <a16:creationId xmlns:a16="http://schemas.microsoft.com/office/drawing/2014/main" id="{5921B82E-CA7C-4171-BD4F-F10A82C6DD88}"/>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46C61F88-BA25-4B12-9EF2-D520DD21AA70}"/>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seen = set() creates an empty set. seen.add("A") adds an item. "A" in seen asks whether it is present.</a:t>
            </a:r>
          </a:p>
        </p:txBody>
      </p:sp>
      <p:sp>
        <p:nvSpPr>
          <p:cNvPr id="8" name="">
            <a:extLst xmlns:a="http://schemas.openxmlformats.org/drawingml/2006/main">
              <a:ext uri="{FF2B5EF4-FFF2-40B4-BE49-F238E27FC236}">
                <a16:creationId xmlns:a16="http://schemas.microsoft.com/office/drawing/2014/main" id="{E85C527A-38CB-47E3-BF93-BC840BC2623A}"/>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4F1049F4-6C09-424E-8646-ECFA28B32603}"/>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Do not use a set when position or repeated readings matter. Sets cannot be indexed. {} creates an empty dictionary, not an empty set.</a:t>
            </a:r>
          </a:p>
        </p:txBody>
      </p:sp>
      <p:sp>
        <p:nvSpPr>
          <p:cNvPr id="10" name="">
            <a:extLst xmlns:a="http://schemas.openxmlformats.org/drawingml/2006/main">
              <a:ext uri="{FF2B5EF4-FFF2-40B4-BE49-F238E27FC236}">
                <a16:creationId xmlns:a16="http://schemas.microsoft.com/office/drawing/2014/main" id="{CE50E34A-BB92-4ED8-80E3-7FE5E309759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4   41</a:t>
            </a:r>
          </a:p>
        </p:txBody>
      </p:sp>
    </p:spTree>
    <p:extLst>
      <p:ext uri="{BB962C8B-B14F-4D97-AF65-F5344CB8AC3E}">
        <p14:creationId xmlns:p14="http://schemas.microsoft.com/office/powerpoint/2010/main" val="487893456"/>
      </p:ext>
    </p:extLst>
  </p:cSld>
</p:sld>
</file>

<file path=ppt/slides/slide4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DF3DD156-D358-4DB0-A918-37ECD6674477}"/>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237830E0-71AD-4786-A5E0-39578B678ED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0F8A7D89-3B2D-439C-BFF5-522C2E7BBFB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Set membership and repeated IDs</a:t>
            </a:r>
          </a:p>
        </p:txBody>
      </p:sp>
      <p:sp>
        <p:nvSpPr>
          <p:cNvPr id="4" name="">
            <a:extLst xmlns:a="http://schemas.openxmlformats.org/drawingml/2006/main">
              <a:ext uri="{FF2B5EF4-FFF2-40B4-BE49-F238E27FC236}">
                <a16:creationId xmlns:a16="http://schemas.microsoft.com/office/drawing/2014/main" id="{7294648C-9776-4AFC-B865-2EC92838CF83}"/>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C2AE68A3-B133-4633-86E1-1D7CCE61FCD1}"/>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seen = set()</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seen.add("A")</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seen.add("A")</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print(len(seen))</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print("A" in seen)</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print("B" in seen)</a:t>
            </a:r>
          </a:p>
        </p:txBody>
      </p:sp>
      <p:sp>
        <p:nvSpPr>
          <p:cNvPr id="6" name="">
            <a:extLst xmlns:a="http://schemas.openxmlformats.org/drawingml/2006/main">
              <a:ext uri="{FF2B5EF4-FFF2-40B4-BE49-F238E27FC236}">
                <a16:creationId xmlns:a16="http://schemas.microsoft.com/office/drawing/2014/main" id="{FDA7C0A4-2866-433E-987A-68C87D4328F5}"/>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43889FCC-8D50-4EC1-B237-860626963238}"/>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in returns True or False.</a:t>
            </a:r>
          </a:p>
        </p:txBody>
      </p:sp>
      <p:sp>
        <p:nvSpPr>
          <p:cNvPr id="8" name="">
            <a:extLst xmlns:a="http://schemas.openxmlformats.org/drawingml/2006/main">
              <a:ext uri="{FF2B5EF4-FFF2-40B4-BE49-F238E27FC236}">
                <a16:creationId xmlns:a16="http://schemas.microsoft.com/office/drawing/2014/main" id="{81425825-F96F-446B-90BB-9C7C92ECBA38}"/>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A set answers membership questions.</a:t>
            </a:r>
          </a:p>
        </p:txBody>
      </p:sp>
      <p:sp>
        <p:nvSpPr>
          <p:cNvPr id="9" name="">
            <a:extLst xmlns:a="http://schemas.openxmlformats.org/drawingml/2006/main">
              <a:ext uri="{FF2B5EF4-FFF2-40B4-BE49-F238E27FC236}">
                <a16:creationId xmlns:a16="http://schemas.microsoft.com/office/drawing/2014/main" id="{FBC8EDAB-EE00-4A10-83B1-D8202F1E6418}"/>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Output: 1, True, False. Adding the same ID twice keeps one distinct ID.</a:t>
            </a:r>
          </a:p>
        </p:txBody>
      </p:sp>
      <p:sp>
        <p:nvSpPr>
          <p:cNvPr id="10" name="">
            <a:extLst xmlns:a="http://schemas.openxmlformats.org/drawingml/2006/main">
              <a:ext uri="{FF2B5EF4-FFF2-40B4-BE49-F238E27FC236}">
                <a16:creationId xmlns:a16="http://schemas.microsoft.com/office/drawing/2014/main" id="{F3745AA2-3A48-4BBE-87A0-B8C1D0FD32BD}"/>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4   42</a:t>
            </a:r>
          </a:p>
        </p:txBody>
      </p:sp>
    </p:spTree>
    <p:extLst>
      <p:ext uri="{BB962C8B-B14F-4D97-AF65-F5344CB8AC3E}">
        <p14:creationId xmlns:p14="http://schemas.microsoft.com/office/powerpoint/2010/main" val="1557069652"/>
      </p:ext>
    </p:extLst>
  </p:cSld>
</p:sld>
</file>

<file path=ppt/slides/slide4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F3FF17CA-2554-491D-8D55-FFB6BAAF7DE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03E3B49C-2F3F-40A1-ADBA-6F8801D89C9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READ THE EXAMPLE</a:t>
            </a:r>
          </a:p>
        </p:txBody>
      </p:sp>
      <p:sp>
        <p:nvSpPr>
          <p:cNvPr id="3" name="">
            <a:extLst xmlns:a="http://schemas.openxmlformats.org/drawingml/2006/main">
              <a:ext uri="{FF2B5EF4-FFF2-40B4-BE49-F238E27FC236}">
                <a16:creationId xmlns:a16="http://schemas.microsoft.com/office/drawing/2014/main" id="{60B7413F-39D7-4282-860F-D9E4279DC4E4}"/>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How the four collections differ</a:t>
            </a:r>
          </a:p>
        </p:txBody>
      </p:sp>
      <p:graphicFrame>
        <p:nvGraphicFramePr>
          <p:cNvPr id="10" name=""/>
          <p:cNvGraphicFramePr/>
          <p:nvPr/>
        </p:nvGraphicFramePr>
        <p:xfrm>
          <a:off xmlns:a="http://schemas.openxmlformats.org/drawingml/2006/main" x="590550" y="1733550"/>
          <a:ext xmlns:a="http://schemas.openxmlformats.org/drawingml/2006/main" cx="11010900" cy="3333750"/>
        </p:xfrm>
        <a:graphic xmlns:a="http://schemas.openxmlformats.org/drawingml/2006/main">
          <a:graphicData uri="http://schemas.openxmlformats.org/drawingml/2006/table">
            <a:tbl>
              <a:tblPr/>
              <a:tblGrid>
                <a:gridCol w="3670300"/>
                <a:gridCol w="3670300"/>
                <a:gridCol w="3670300"/>
              </a:tblGrid>
              <a:tr h="666750">
                <a:tc>
                  <a:txBody>
                    <a:bodyPr/>
                    <a:lstStyle/>
                    <a:p>
                      <a:r>
                        <a:rPr sz="2025" b="1">
                          <a:solidFill>
                            <a:srgbClr val="FFFFFF"/>
                          </a:solidFill>
                          <a:latin typeface="Calibri"/>
                          <a:ea typeface="Calibri"/>
                          <a:cs typeface="Calibri"/>
                        </a:rPr>
                        <a:t>Collection</a:t>
                      </a:r>
                    </a:p>
                  </a:txBody>
                  <a:tcPr marL="91440" marR="91440" marT="45720" marB="45720">
                    <a:solidFill>
                      <a:srgbClr val="2E7D6F"/>
                    </a:solidFill>
                  </a:tcPr>
                </a:tc>
                <a:tc>
                  <a:txBody>
                    <a:bodyPr/>
                    <a:lstStyle/>
                    <a:p>
                      <a:r>
                        <a:rPr sz="2025" b="1">
                          <a:solidFill>
                            <a:srgbClr val="FFFFFF"/>
                          </a:solidFill>
                          <a:latin typeface="Calibri"/>
                          <a:ea typeface="Calibri"/>
                          <a:cs typeface="Calibri"/>
                        </a:rPr>
                        <a:t>Find an item by</a:t>
                      </a:r>
                    </a:p>
                  </a:txBody>
                  <a:tcPr marL="91440" marR="91440" marT="45720" marB="45720">
                    <a:solidFill>
                      <a:srgbClr val="2E7D6F"/>
                    </a:solidFill>
                  </a:tcPr>
                </a:tc>
                <a:tc>
                  <a:txBody>
                    <a:bodyPr/>
                    <a:lstStyle/>
                    <a:p>
                      <a:r>
                        <a:rPr sz="2025" b="1">
                          <a:solidFill>
                            <a:srgbClr val="FFFFFF"/>
                          </a:solidFill>
                          <a:latin typeface="Calibri"/>
                          <a:ea typeface="Calibri"/>
                          <a:cs typeface="Calibri"/>
                        </a:rPr>
                        <a:t>Repeats / changes</a:t>
                      </a:r>
                    </a:p>
                  </a:txBody>
                  <a:tcPr marL="91440" marR="91440" marT="45720" marB="45720">
                    <a:solidFill>
                      <a:srgbClr val="2E7D6F"/>
                    </a:solidFill>
                  </a:tcPr>
                </a:tc>
              </a:tr>
              <a:tr h="666750">
                <a:tc>
                  <a:txBody>
                    <a:bodyPr/>
                    <a:lstStyle/>
                    <a:p>
                      <a:r>
                        <a:rPr sz="2025" b="0">
                          <a:solidFill>
                            <a:srgbClr val="1C3144"/>
                          </a:solidFill>
                          <a:latin typeface="Calibri"/>
                          <a:ea typeface="Calibri"/>
                          <a:cs typeface="Calibri"/>
                        </a:rPr>
                        <a:t>list</a:t>
                      </a:r>
                    </a:p>
                  </a:txBody>
                  <a:tcPr marL="91440" marR="91440" marT="45720" marB="45720">
                    <a:solidFill>
                      <a:srgbClr val="EEF3F6"/>
                    </a:solidFill>
                  </a:tcPr>
                </a:tc>
                <a:tc>
                  <a:txBody>
                    <a:bodyPr/>
                    <a:lstStyle/>
                    <a:p>
                      <a:r>
                        <a:rPr sz="2025" b="0">
                          <a:solidFill>
                            <a:srgbClr val="1C3144"/>
                          </a:solidFill>
                          <a:latin typeface="Calibri"/>
                          <a:ea typeface="Calibri"/>
                          <a:cs typeface="Calibri"/>
                        </a:rPr>
                        <a:t>Position: values[0]</a:t>
                      </a:r>
                    </a:p>
                  </a:txBody>
                  <a:tcPr marL="91440" marR="91440" marT="45720" marB="45720">
                    <a:solidFill>
                      <a:srgbClr val="EEF3F6"/>
                    </a:solidFill>
                  </a:tcPr>
                </a:tc>
                <a:tc>
                  <a:txBody>
                    <a:bodyPr/>
                    <a:lstStyle/>
                    <a:p>
                      <a:r>
                        <a:rPr sz="2025" b="0">
                          <a:solidFill>
                            <a:srgbClr val="1C3144"/>
                          </a:solidFill>
                          <a:latin typeface="Calibri"/>
                          <a:ea typeface="Calibri"/>
                          <a:cs typeface="Calibri"/>
                        </a:rPr>
                        <a:t>Repeats allowed; items change</a:t>
                      </a:r>
                    </a:p>
                  </a:txBody>
                  <a:tcPr marL="91440" marR="91440" marT="45720" marB="45720">
                    <a:solidFill>
                      <a:srgbClr val="EEF3F6"/>
                    </a:solidFill>
                  </a:tcPr>
                </a:tc>
              </a:tr>
              <a:tr h="666750">
                <a:tc>
                  <a:txBody>
                    <a:bodyPr/>
                    <a:lstStyle/>
                    <a:p>
                      <a:r>
                        <a:rPr sz="2025" b="0">
                          <a:solidFill>
                            <a:srgbClr val="1C3144"/>
                          </a:solidFill>
                          <a:latin typeface="Calibri"/>
                          <a:ea typeface="Calibri"/>
                          <a:cs typeface="Calibri"/>
                        </a:rPr>
                        <a:t>dict</a:t>
                      </a:r>
                    </a:p>
                  </a:txBody>
                  <a:tcPr marL="91440" marR="91440" marT="45720" marB="45720">
                    <a:solidFill>
                      <a:srgbClr val="FFFFFF"/>
                    </a:solidFill>
                  </a:tcPr>
                </a:tc>
                <a:tc>
                  <a:txBody>
                    <a:bodyPr/>
                    <a:lstStyle/>
                    <a:p>
                      <a:r>
                        <a:rPr sz="2025" b="0">
                          <a:solidFill>
                            <a:srgbClr val="1C3144"/>
                          </a:solidFill>
                          <a:latin typeface="Calibri"/>
                          <a:ea typeface="Calibri"/>
                          <a:cs typeface="Calibri"/>
                        </a:rPr>
                        <a:t>Key: record["reading"]</a:t>
                      </a:r>
                    </a:p>
                  </a:txBody>
                  <a:tcPr marL="91440" marR="91440" marT="45720" marB="45720">
                    <a:solidFill>
                      <a:srgbClr val="FFFFFF"/>
                    </a:solidFill>
                  </a:tcPr>
                </a:tc>
                <a:tc>
                  <a:txBody>
                    <a:bodyPr/>
                    <a:lstStyle/>
                    <a:p>
                      <a:r>
                        <a:rPr sz="2025" b="0">
                          <a:solidFill>
                            <a:srgbClr val="1C3144"/>
                          </a:solidFill>
                          <a:latin typeface="Calibri"/>
                          <a:ea typeface="Calibri"/>
                          <a:cs typeface="Calibri"/>
                        </a:rPr>
                        <a:t>Keys unique; values change</a:t>
                      </a:r>
                    </a:p>
                  </a:txBody>
                  <a:tcPr marL="91440" marR="91440" marT="45720" marB="45720">
                    <a:solidFill>
                      <a:srgbClr val="FFFFFF"/>
                    </a:solidFill>
                  </a:tcPr>
                </a:tc>
              </a:tr>
              <a:tr h="666750">
                <a:tc>
                  <a:txBody>
                    <a:bodyPr/>
                    <a:lstStyle/>
                    <a:p>
                      <a:r>
                        <a:rPr sz="2025" b="0">
                          <a:solidFill>
                            <a:srgbClr val="1C3144"/>
                          </a:solidFill>
                          <a:latin typeface="Calibri"/>
                          <a:ea typeface="Calibri"/>
                          <a:cs typeface="Calibri"/>
                        </a:rPr>
                        <a:t>tuple</a:t>
                      </a:r>
                    </a:p>
                  </a:txBody>
                  <a:tcPr marL="91440" marR="91440" marT="45720" marB="45720">
                    <a:solidFill>
                      <a:srgbClr val="EEF3F6"/>
                    </a:solidFill>
                  </a:tcPr>
                </a:tc>
                <a:tc>
                  <a:txBody>
                    <a:bodyPr/>
                    <a:lstStyle/>
                    <a:p>
                      <a:r>
                        <a:rPr sz="2025" b="0">
                          <a:solidFill>
                            <a:srgbClr val="1C3144"/>
                          </a:solidFill>
                          <a:latin typeface="Calibri"/>
                          <a:ea typeface="Calibri"/>
                          <a:cs typeface="Calibri"/>
                        </a:rPr>
                        <a:t>Position: point[0]</a:t>
                      </a:r>
                    </a:p>
                  </a:txBody>
                  <a:tcPr marL="91440" marR="91440" marT="45720" marB="45720">
                    <a:solidFill>
                      <a:srgbClr val="EEF3F6"/>
                    </a:solidFill>
                  </a:tcPr>
                </a:tc>
                <a:tc>
                  <a:txBody>
                    <a:bodyPr/>
                    <a:lstStyle/>
                    <a:p>
                      <a:r>
                        <a:rPr sz="2025" b="0">
                          <a:solidFill>
                            <a:srgbClr val="1C3144"/>
                          </a:solidFill>
                          <a:latin typeface="Calibri"/>
                          <a:ea typeface="Calibri"/>
                          <a:cs typeface="Calibri"/>
                        </a:rPr>
                        <a:t>Repeats allowed; positions fixed</a:t>
                      </a:r>
                    </a:p>
                  </a:txBody>
                  <a:tcPr marL="91440" marR="91440" marT="45720" marB="45720">
                    <a:solidFill>
                      <a:srgbClr val="EEF3F6"/>
                    </a:solidFill>
                  </a:tcPr>
                </a:tc>
              </a:tr>
              <a:tr h="666750">
                <a:tc>
                  <a:txBody>
                    <a:bodyPr/>
                    <a:lstStyle/>
                    <a:p>
                      <a:r>
                        <a:rPr sz="2025" b="0">
                          <a:solidFill>
                            <a:srgbClr val="1C3144"/>
                          </a:solidFill>
                          <a:latin typeface="Calibri"/>
                          <a:ea typeface="Calibri"/>
                          <a:cs typeface="Calibri"/>
                        </a:rPr>
                        <a:t>set</a:t>
                      </a:r>
                    </a:p>
                  </a:txBody>
                  <a:tcPr marL="91440" marR="91440" marT="45720" marB="45720">
                    <a:solidFill>
                      <a:srgbClr val="FFFFFF"/>
                    </a:solidFill>
                  </a:tcPr>
                </a:tc>
                <a:tc>
                  <a:txBody>
                    <a:bodyPr/>
                    <a:lstStyle/>
                    <a:p>
                      <a:r>
                        <a:rPr sz="2025" b="0">
                          <a:solidFill>
                            <a:srgbClr val="1C3144"/>
                          </a:solidFill>
                          <a:latin typeface="Calibri"/>
                          <a:ea typeface="Calibri"/>
                          <a:cs typeface="Calibri"/>
                        </a:rPr>
                        <a:t>Membership: "A" in seen</a:t>
                      </a:r>
                    </a:p>
                  </a:txBody>
                  <a:tcPr marL="91440" marR="91440" marT="45720" marB="45720">
                    <a:solidFill>
                      <a:srgbClr val="FFFFFF"/>
                    </a:solidFill>
                  </a:tcPr>
                </a:tc>
                <a:tc>
                  <a:txBody>
                    <a:bodyPr/>
                    <a:lstStyle/>
                    <a:p>
                      <a:r>
                        <a:rPr sz="2025" b="0">
                          <a:solidFill>
                            <a:srgbClr val="1C3144"/>
                          </a:solidFill>
                          <a:latin typeface="Calibri"/>
                          <a:ea typeface="Calibri"/>
                          <a:cs typeface="Calibri"/>
                        </a:rPr>
                        <a:t>Distinct items; add or remove</a:t>
                      </a:r>
                    </a:p>
                  </a:txBody>
                  <a:tcPr marL="91440" marR="91440" marT="45720" marB="45720">
                    <a:solidFill>
                      <a:srgbClr val="FFFFFF"/>
                    </a:solidFill>
                  </a:tcPr>
                </a:tc>
              </a:tr>
            </a:tbl>
          </a:graphicData>
        </a:graphic>
      </p:graphicFrame>
      <p:sp>
        <p:nvSpPr>
          <p:cNvPr id="5" name="">
            <a:extLst xmlns:a="http://schemas.openxmlformats.org/drawingml/2006/main">
              <a:ext uri="{FF2B5EF4-FFF2-40B4-BE49-F238E27FC236}">
                <a16:creationId xmlns:a16="http://schemas.microsoft.com/office/drawing/2014/main" id="{972A4C7A-9F10-41AC-8F84-EBC085034A27}"/>
              </a:ext>
            </a:extLst>
          </p:cNvPr>
          <p:cNvSpPr>
            <a:spLocks xmlns:a="http://schemas.openxmlformats.org/drawingml/2006/main" noGrp="1"/>
          </p:cNvSpPr>
          <p:nvPr/>
        </p:nvSpPr>
        <p:spPr>
          <a:xfrm xmlns:a="http://schemas.openxmlformats.org/drawingml/2006/main">
            <a:off x="685800" y="5381625"/>
            <a:ext cx="106680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Choose by the question: ordered readings, named fields, fixed positions, or distinct IDs.</a:t>
            </a:r>
          </a:p>
        </p:txBody>
      </p:sp>
      <p:sp>
        <p:nvSpPr>
          <p:cNvPr id="6" name="">
            <a:extLst xmlns:a="http://schemas.openxmlformats.org/drawingml/2006/main">
              <a:ext uri="{FF2B5EF4-FFF2-40B4-BE49-F238E27FC236}">
                <a16:creationId xmlns:a16="http://schemas.microsoft.com/office/drawing/2014/main" id="{BA3DEA19-2208-4444-B52E-8BBBA15DD629}"/>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4   43</a:t>
            </a:r>
          </a:p>
        </p:txBody>
      </p:sp>
    </p:spTree>
    <p:extLst>
      <p:ext uri="{BB962C8B-B14F-4D97-AF65-F5344CB8AC3E}">
        <p14:creationId xmlns:p14="http://schemas.microsoft.com/office/powerpoint/2010/main" val="1010052347"/>
      </p:ext>
    </p:extLst>
  </p:cSld>
</p:sld>
</file>

<file path=ppt/slides/slide4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A7E999CE-3ED4-485C-B356-A0AA30026C09}"/>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5016E93B-E24B-406D-9789-2890752BC03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66F6B798-D055-4578-8759-E21E3209C51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Dictionary items and two loop names</a:t>
            </a:r>
          </a:p>
        </p:txBody>
      </p:sp>
      <p:sp>
        <p:nvSpPr>
          <p:cNvPr id="4" name="">
            <a:extLst xmlns:a="http://schemas.openxmlformats.org/drawingml/2006/main">
              <a:ext uri="{FF2B5EF4-FFF2-40B4-BE49-F238E27FC236}">
                <a16:creationId xmlns:a16="http://schemas.microsoft.com/office/drawing/2014/main" id="{632157EB-BF2E-42FF-873E-AFB39D69FCF7}"/>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58D6BC70-958C-4ECA-9DD2-E4E14EDD1D7E}"/>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44897967-50FF-4BF0-A51B-FDBFDF604C36}"/>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record.items() provides each key with its value as a pair. The loop unpacks each pair into the names key and value.</a:t>
            </a:r>
          </a:p>
        </p:txBody>
      </p:sp>
      <p:sp>
        <p:nvSpPr>
          <p:cNvPr id="7" name="">
            <a:extLst xmlns:a="http://schemas.openxmlformats.org/drawingml/2006/main">
              <a:ext uri="{FF2B5EF4-FFF2-40B4-BE49-F238E27FC236}">
                <a16:creationId xmlns:a16="http://schemas.microsoft.com/office/drawing/2014/main" id="{672ACA65-9184-4128-93E3-17339D944729}"/>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for key, value in record.items(): repeats the indented body for each field. Use .items() when both the label and its value are needed.</a:t>
            </a:r>
          </a:p>
        </p:txBody>
      </p:sp>
      <p:sp>
        <p:nvSpPr>
          <p:cNvPr id="8" name="">
            <a:extLst xmlns:a="http://schemas.openxmlformats.org/drawingml/2006/main">
              <a:ext uri="{FF2B5EF4-FFF2-40B4-BE49-F238E27FC236}">
                <a16:creationId xmlns:a16="http://schemas.microsoft.com/office/drawing/2014/main" id="{38001BB0-D5C5-4583-A78F-D0A10258441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4   44</a:t>
            </a:r>
          </a:p>
        </p:txBody>
      </p:sp>
    </p:spTree>
    <p:extLst>
      <p:ext uri="{BB962C8B-B14F-4D97-AF65-F5344CB8AC3E}">
        <p14:creationId xmlns:p14="http://schemas.microsoft.com/office/powerpoint/2010/main" val="1414025064"/>
      </p:ext>
    </p:extLst>
  </p:cSld>
</p:sld>
</file>

<file path=ppt/slides/slide4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D66F17B9-111C-43BA-B826-09836F2A5833}"/>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DC61E719-F148-408E-8E00-C512A032CAF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B2151360-A16A-4052-B5B9-0432EF151F5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Looping through named fields</a:t>
            </a:r>
          </a:p>
        </p:txBody>
      </p:sp>
      <p:sp>
        <p:nvSpPr>
          <p:cNvPr id="4" name="">
            <a:extLst xmlns:a="http://schemas.openxmlformats.org/drawingml/2006/main">
              <a:ext uri="{FF2B5EF4-FFF2-40B4-BE49-F238E27FC236}">
                <a16:creationId xmlns:a16="http://schemas.microsoft.com/office/drawing/2014/main" id="{A3CF53BC-BACC-4A9E-8108-8DEE6AFEF2A3}"/>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AB24B32D-ACE8-4B8F-8425-F549F1A86CC6}"/>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record = {"unit": "A", "reading": 6}</a:t>
            </a:r>
          </a:p>
          <a:p xmlns:a="http://schemas.openxmlformats.org/drawingml/2006/main">
            <a:pPr>
              <a:defRPr sz="2175" b="0">
                <a:solidFill>
                  <a:srgbClr val="F4F7FA"/>
                </a:solidFill>
                <a:latin typeface="Courier New"/>
                <a:ea typeface="Courier New"/>
                <a:cs typeface="Courier New"/>
              </a:defRPr>
            </a:pPr>
            <a:r>
              <a:rPr sz="2175" b="0">
                <a:solidFill>
                  <a:srgbClr val="FFB080"/>
                </a:solidFill>
                <a:latin typeface="Courier New"/>
                <a:ea typeface="Courier New"/>
                <a:cs typeface="Courier New"/>
              </a:rPr>
              <a:t>for</a:t>
            </a:r>
            <a:r>
              <a:rPr sz="2175" b="0">
                <a:solidFill>
                  <a:srgbClr val="F4F7FA"/>
                </a:solidFill>
                <a:latin typeface="Courier New"/>
                <a:ea typeface="Courier New"/>
                <a:cs typeface="Courier New"/>
              </a:rPr>
              <a:t> key, value in record.items():</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print(key, value)</a:t>
            </a:r>
          </a:p>
        </p:txBody>
      </p:sp>
      <p:sp>
        <p:nvSpPr>
          <p:cNvPr id="6" name="">
            <a:extLst xmlns:a="http://schemas.openxmlformats.org/drawingml/2006/main">
              <a:ext uri="{FF2B5EF4-FFF2-40B4-BE49-F238E27FC236}">
                <a16:creationId xmlns:a16="http://schemas.microsoft.com/office/drawing/2014/main" id="{A4D38AA3-4578-4180-A8A1-E14029135FB3}"/>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53781BB9-F7ED-4CBC-BD3A-EDC4031EB0D4}"/>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.items() supplies pairs.</a:t>
            </a:r>
          </a:p>
        </p:txBody>
      </p:sp>
      <p:sp>
        <p:nvSpPr>
          <p:cNvPr id="8" name="">
            <a:extLst xmlns:a="http://schemas.openxmlformats.org/drawingml/2006/main">
              <a:ext uri="{FF2B5EF4-FFF2-40B4-BE49-F238E27FC236}">
                <a16:creationId xmlns:a16="http://schemas.microsoft.com/office/drawing/2014/main" id="{2BA9FB20-F5C2-4E6D-BD6E-27CE22C31952}"/>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key and value are names chosen for this loop.</a:t>
            </a:r>
          </a:p>
        </p:txBody>
      </p:sp>
      <p:sp>
        <p:nvSpPr>
          <p:cNvPr id="9" name="">
            <a:extLst xmlns:a="http://schemas.openxmlformats.org/drawingml/2006/main">
              <a:ext uri="{FF2B5EF4-FFF2-40B4-BE49-F238E27FC236}">
                <a16:creationId xmlns:a16="http://schemas.microsoft.com/office/drawing/2014/main" id="{8F0F9C8E-6D10-4DBD-BE2E-255281D46467}"/>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Output: unit A, then reading 6. The dictionary preserves insertion order.</a:t>
            </a:r>
          </a:p>
        </p:txBody>
      </p:sp>
      <p:sp>
        <p:nvSpPr>
          <p:cNvPr id="10" name="">
            <a:extLst xmlns:a="http://schemas.openxmlformats.org/drawingml/2006/main">
              <a:ext uri="{FF2B5EF4-FFF2-40B4-BE49-F238E27FC236}">
                <a16:creationId xmlns:a16="http://schemas.microsoft.com/office/drawing/2014/main" id="{C23851B3-CDF5-48D6-9DA0-1771FD4D47E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4   45</a:t>
            </a:r>
          </a:p>
        </p:txBody>
      </p:sp>
    </p:spTree>
    <p:extLst>
      <p:ext uri="{BB962C8B-B14F-4D97-AF65-F5344CB8AC3E}">
        <p14:creationId xmlns:p14="http://schemas.microsoft.com/office/powerpoint/2010/main" val="1787151877"/>
      </p:ext>
    </p:extLst>
  </p:cSld>
</p:sld>
</file>

<file path=ppt/slides/slide4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F50F81B3-8C7C-4A17-9F3A-2D4D83ACBE82}"/>
              </a:ext>
            </a:extLst>
          </p:cNvPr>
          <p:cNvSpPr>
            <a:spLocks xmlns:a="http://schemas.openxmlformats.org/drawingml/2006/main" noGrp="1"/>
          </p:cNvSpPr>
          <p:nvPr/>
        </p:nvSpPr>
        <p:spPr>
          <a:xfrm xmlns:a="http://schemas.openxmlformats.org/drawingml/2006/main">
            <a:off x="0" y="0"/>
            <a:ext cx="12191695" cy="95250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64D18F78-767A-46C5-9E47-49C74A4F11CD}"/>
              </a:ext>
            </a:extLst>
          </p:cNvPr>
          <p:cNvSpPr>
            <a:spLocks xmlns:a="http://schemas.openxmlformats.org/drawingml/2006/main" noGrp="1"/>
          </p:cNvSpPr>
          <p:nvPr/>
        </p:nvSpPr>
        <p:spPr>
          <a:xfrm xmlns:a="http://schemas.openxmlformats.org/drawingml/2006/main">
            <a:off x="476250" y="190500"/>
            <a:ext cx="11239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925" b="1">
                <a:solidFill>
                  <a:srgbClr val="FFFFFF"/>
                </a:solidFill>
                <a:latin typeface="Calibri"/>
                <a:ea typeface="Calibri"/>
                <a:cs typeface="Calibri"/>
              </a:defRPr>
            </a:pPr>
            <a:r>
              <a:rPr sz="2925" b="1">
                <a:solidFill>
                  <a:srgbClr val="FFFFFF"/>
                </a:solidFill>
                <a:latin typeface="Calibri"/>
                <a:ea typeface="Calibri"/>
                <a:cs typeface="Calibri"/>
              </a:rPr>
              <a:t>A position and a key find different things</a:t>
            </a:r>
          </a:p>
        </p:txBody>
      </p:sp>
      <p:pic>
        <p:nvPicPr>
          <p:cNvPr id="9" name=""/>
          <p:cNvPicPr>
            <a:picLocks xmlns:a="http://schemas.openxmlformats.org/drawingml/2006/main" noChangeAspect="1"/>
          </p:cNvPicPr>
          <p:nvPr/>
        </p:nvPicPr>
        <p:blipFill>
          <a:blip xmlns:r="http://schemas.openxmlformats.org/officeDocument/2006/relationships" xmlns:a="http://schemas.openxmlformats.org/drawingml/2006/main" r:embed="Rfa5d50e82dea479e"/>
          <a:stretch xmlns:a="http://schemas.openxmlformats.org/drawingml/2006/main"/>
        </p:blipFill>
        <p:spPr>
          <a:xfrm xmlns:a="http://schemas.openxmlformats.org/drawingml/2006/main">
            <a:off x="1991849" y="1057275"/>
            <a:ext cx="8208303" cy="4619625"/>
          </a:xfrm>
          <a:prstGeom xmlns:a="http://schemas.openxmlformats.org/drawingml/2006/main" prst="rect">
            <a:avLst/>
          </a:prstGeom>
        </p:spPr>
      </p:pic>
      <p:sp>
        <p:nvSpPr>
          <p:cNvPr id="4" name="">
            <a:extLst xmlns:a="http://schemas.openxmlformats.org/drawingml/2006/main">
              <a:ext uri="{FF2B5EF4-FFF2-40B4-BE49-F238E27FC236}">
                <a16:creationId xmlns:a16="http://schemas.microsoft.com/office/drawing/2014/main" id="{70B30FA1-F5D9-4AF2-B4DC-3F2C56CD1848}"/>
              </a:ext>
            </a:extLst>
          </p:cNvPr>
          <p:cNvSpPr>
            <a:spLocks xmlns:a="http://schemas.openxmlformats.org/drawingml/2006/main" noGrp="1"/>
          </p:cNvSpPr>
          <p:nvPr/>
        </p:nvSpPr>
        <p:spPr>
          <a:xfrm xmlns:a="http://schemas.openxmlformats.org/drawingml/2006/main">
            <a:off x="0" y="5810250"/>
            <a:ext cx="12191695" cy="5905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8B5E0C7A-0A78-4B01-9055-C335A34D8659}"/>
              </a:ext>
            </a:extLst>
          </p:cNvPr>
          <p:cNvSpPr>
            <a:spLocks xmlns:a="http://schemas.openxmlformats.org/drawingml/2006/main" noGrp="1"/>
          </p:cNvSpPr>
          <p:nvPr/>
        </p:nvSpPr>
        <p:spPr>
          <a:xfrm xmlns:a="http://schemas.openxmlformats.org/drawingml/2006/main">
            <a:off x="552450" y="5886450"/>
            <a:ext cx="11049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Both examples return 4. Explain how each lookup finds it.</a:t>
            </a:r>
          </a:p>
        </p:txBody>
      </p:sp>
      <p:sp>
        <p:nvSpPr>
          <p:cNvPr id="6" name="">
            <a:extLst xmlns:a="http://schemas.openxmlformats.org/drawingml/2006/main">
              <a:ext uri="{FF2B5EF4-FFF2-40B4-BE49-F238E27FC236}">
                <a16:creationId xmlns:a16="http://schemas.microsoft.com/office/drawing/2014/main" id="{53E1A9B4-8BF6-41FE-9F93-8E40DD4B9D9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4   46</a:t>
            </a:r>
          </a:p>
        </p:txBody>
      </p:sp>
    </p:spTree>
    <p:extLst>
      <p:ext uri="{BB962C8B-B14F-4D97-AF65-F5344CB8AC3E}">
        <p14:creationId xmlns:p14="http://schemas.microsoft.com/office/powerpoint/2010/main" val="1297078246"/>
      </p:ext>
    </p:extLst>
  </p:cSld>
</p:sld>
</file>

<file path=ppt/slides/slide4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93B39E21-2F7F-46DC-B1FF-B765B728991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5010A880-54BE-4EE1-9270-DB35798E8C9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2DBD32A2-659A-4973-9CCB-C516E3412C6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CSV and header</a:t>
            </a:r>
          </a:p>
        </p:txBody>
      </p:sp>
      <p:sp>
        <p:nvSpPr>
          <p:cNvPr id="4" name="">
            <a:extLst xmlns:a="http://schemas.openxmlformats.org/drawingml/2006/main">
              <a:ext uri="{FF2B5EF4-FFF2-40B4-BE49-F238E27FC236}">
                <a16:creationId xmlns:a16="http://schemas.microsoft.com/office/drawing/2014/main" id="{5E28D6C8-7A0A-454D-9A96-1227A90BBE3C}"/>
              </a:ext>
            </a:extLst>
          </p:cNvPr>
          <p:cNvSpPr>
            <a:spLocks xmlns:a="http://schemas.openxmlformats.org/drawingml/2006/main" noGrp="1"/>
          </p:cNvSpPr>
          <p:nvPr/>
        </p:nvSpPr>
        <p:spPr>
          <a:xfrm xmlns:a="http://schemas.openxmlformats.org/drawingml/2006/main">
            <a:off x="590550" y="1714500"/>
            <a:ext cx="110109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99D42E8A-EBFE-4EF5-BF8A-5C13D3CBE5B6}"/>
              </a:ext>
            </a:extLst>
          </p:cNvPr>
          <p:cNvSpPr>
            <a:spLocks xmlns:a="http://schemas.openxmlformats.org/drawingml/2006/main" noGrp="1"/>
          </p:cNvSpPr>
          <p:nvPr/>
        </p:nvSpPr>
        <p:spPr>
          <a:xfrm xmlns:a="http://schemas.openxmlformats.org/drawingml/2006/main">
            <a:off x="828675" y="1952625"/>
            <a:ext cx="104394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E4572E"/>
                </a:solidFill>
                <a:latin typeface="Calibri"/>
                <a:ea typeface="Calibri"/>
                <a:cs typeface="Calibri"/>
              </a:defRPr>
            </a:pPr>
            <a:r>
              <a:rPr sz="3150" b="1">
                <a:solidFill>
                  <a:srgbClr val="E4572E"/>
                </a:solidFill>
                <a:latin typeface="Calibri"/>
                <a:ea typeface="Calibri"/>
                <a:cs typeface="Calibri"/>
              </a:rPr>
              <a:t>CSV and header</a:t>
            </a:r>
          </a:p>
        </p:txBody>
      </p:sp>
      <p:sp>
        <p:nvSpPr>
          <p:cNvPr id="6" name="">
            <a:extLst xmlns:a="http://schemas.openxmlformats.org/drawingml/2006/main">
              <a:ext uri="{FF2B5EF4-FFF2-40B4-BE49-F238E27FC236}">
                <a16:creationId xmlns:a16="http://schemas.microsoft.com/office/drawing/2014/main" id="{D7A617BF-805A-4869-A7C9-7D319CBFC3A8}"/>
              </a:ext>
            </a:extLst>
          </p:cNvPr>
          <p:cNvSpPr>
            <a:spLocks xmlns:a="http://schemas.openxmlformats.org/drawingml/2006/main" noGrp="1"/>
          </p:cNvSpPr>
          <p:nvPr/>
        </p:nvSpPr>
        <p:spPr>
          <a:xfrm xmlns:a="http://schemas.openxmlformats.org/drawingml/2006/main">
            <a:off x="828675" y="3067050"/>
            <a:ext cx="10439400"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0">
                <a:solidFill>
                  <a:srgbClr val="1C3144"/>
                </a:solidFill>
                <a:latin typeface="Calibri"/>
                <a:ea typeface="Calibri"/>
                <a:cs typeface="Calibri"/>
              </a:defRPr>
            </a:pPr>
            <a:r>
              <a:rPr sz="2550" b="0">
                <a:solidFill>
                  <a:srgbClr val="1C3144"/>
                </a:solidFill>
                <a:latin typeface="Calibri"/>
                <a:ea typeface="Calibri"/>
                <a:cs typeface="Calibri"/>
              </a:rPr>
              <a:t>CSV means comma-separated values. One line usually represents one record; a header names the columns. CSV numbers arrive as text and may need float conversion.</a:t>
            </a:r>
          </a:p>
        </p:txBody>
      </p:sp>
      <p:sp>
        <p:nvSpPr>
          <p:cNvPr id="7" name="">
            <a:extLst xmlns:a="http://schemas.openxmlformats.org/drawingml/2006/main">
              <a:ext uri="{FF2B5EF4-FFF2-40B4-BE49-F238E27FC236}">
                <a16:creationId xmlns:a16="http://schemas.microsoft.com/office/drawing/2014/main" id="{846D9C8A-0503-4D50-B894-6AD5A810FF8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4   47</a:t>
            </a:r>
          </a:p>
        </p:txBody>
      </p:sp>
    </p:spTree>
    <p:extLst>
      <p:ext uri="{BB962C8B-B14F-4D97-AF65-F5344CB8AC3E}">
        <p14:creationId xmlns:p14="http://schemas.microsoft.com/office/powerpoint/2010/main" val="1653001609"/>
      </p:ext>
    </p:extLst>
  </p:cSld>
</p:sld>
</file>

<file path=ppt/slides/slide4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BE6379AB-EFA0-4C38-A5E6-F6CB03B6A07C}"/>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C5A62C72-C3F5-4ED8-93F9-F53DCC4E750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5DE5657F-391A-42CD-A973-8BDB1843C105}"/>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One record at a time</a:t>
            </a:r>
          </a:p>
        </p:txBody>
      </p:sp>
      <p:sp>
        <p:nvSpPr>
          <p:cNvPr id="4" name="">
            <a:extLst xmlns:a="http://schemas.openxmlformats.org/drawingml/2006/main">
              <a:ext uri="{FF2B5EF4-FFF2-40B4-BE49-F238E27FC236}">
                <a16:creationId xmlns:a16="http://schemas.microsoft.com/office/drawing/2014/main" id="{13315C42-8DB2-4A16-95E8-01EEDA08E705}"/>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6067B7AA-3BD5-4954-8FC0-88422A85881A}"/>
              </a:ext>
            </a:extLst>
          </p:cNvPr>
          <p:cNvSpPr>
            <a:spLocks xmlns:a="http://schemas.openxmlformats.org/drawingml/2006/main" noGrp="1"/>
          </p:cNvSpPr>
          <p:nvPr/>
        </p:nvSpPr>
        <p:spPr>
          <a:xfrm xmlns:a="http://schemas.openxmlformats.org/drawingml/2006/main">
            <a:off x="1381125" y="1781175"/>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CSV is a text table with a header row.</a:t>
            </a:r>
          </a:p>
        </p:txBody>
      </p:sp>
      <p:sp>
        <p:nvSpPr>
          <p:cNvPr id="6" name="">
            <a:extLst xmlns:a="http://schemas.openxmlformats.org/drawingml/2006/main">
              <a:ext uri="{FF2B5EF4-FFF2-40B4-BE49-F238E27FC236}">
                <a16:creationId xmlns:a16="http://schemas.microsoft.com/office/drawing/2014/main" id="{65EE1219-691E-4021-895C-A11175DD24F5}"/>
              </a:ext>
            </a:extLst>
          </p:cNvPr>
          <p:cNvSpPr>
            <a:spLocks xmlns:a="http://schemas.openxmlformats.org/drawingml/2006/main" noGrp="1"/>
          </p:cNvSpPr>
          <p:nvPr/>
        </p:nvSpPr>
        <p:spPr>
          <a:xfrm xmlns:a="http://schemas.openxmlformats.org/drawingml/2006/main">
            <a:off x="590550" y="28527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7DCE6584-CF14-4AE4-883F-C85544AB56F7}"/>
              </a:ext>
            </a:extLst>
          </p:cNvPr>
          <p:cNvSpPr>
            <a:spLocks xmlns:a="http://schemas.openxmlformats.org/drawingml/2006/main" noGrp="1"/>
          </p:cNvSpPr>
          <p:nvPr/>
        </p:nvSpPr>
        <p:spPr>
          <a:xfrm xmlns:a="http://schemas.openxmlformats.org/drawingml/2006/main">
            <a:off x="1381125" y="2852738"/>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DictReader uses that header for dictionary keys.</a:t>
            </a:r>
          </a:p>
        </p:txBody>
      </p:sp>
      <p:sp>
        <p:nvSpPr>
          <p:cNvPr id="8" name="">
            <a:extLst xmlns:a="http://schemas.openxmlformats.org/drawingml/2006/main">
              <a:ext uri="{FF2B5EF4-FFF2-40B4-BE49-F238E27FC236}">
                <a16:creationId xmlns:a16="http://schemas.microsoft.com/office/drawing/2014/main" id="{C411C679-07CE-4882-AA00-AAC28BBDE705}"/>
              </a:ext>
            </a:extLst>
          </p:cNvPr>
          <p:cNvSpPr>
            <a:spLocks xmlns:a="http://schemas.openxmlformats.org/drawingml/2006/main" noGrp="1"/>
          </p:cNvSpPr>
          <p:nvPr/>
        </p:nvSpPr>
        <p:spPr>
          <a:xfrm xmlns:a="http://schemas.openxmlformats.org/drawingml/2006/main">
            <a:off x="590550" y="392430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6F05C8CC-F1A4-4ABB-9EDB-33FFABADDE5B}"/>
              </a:ext>
            </a:extLst>
          </p:cNvPr>
          <p:cNvSpPr>
            <a:spLocks xmlns:a="http://schemas.openxmlformats.org/drawingml/2006/main" noGrp="1"/>
          </p:cNvSpPr>
          <p:nvPr/>
        </p:nvSpPr>
        <p:spPr>
          <a:xfrm xmlns:a="http://schemas.openxmlformats.org/drawingml/2006/main">
            <a:off x="1381125" y="3924300"/>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CSV cells begin as text, even when they look numeric.</a:t>
            </a:r>
          </a:p>
        </p:txBody>
      </p:sp>
      <p:sp>
        <p:nvSpPr>
          <p:cNvPr id="10" name="">
            <a:extLst xmlns:a="http://schemas.openxmlformats.org/drawingml/2006/main">
              <a:ext uri="{FF2B5EF4-FFF2-40B4-BE49-F238E27FC236}">
                <a16:creationId xmlns:a16="http://schemas.microsoft.com/office/drawing/2014/main" id="{E4C6FF7D-501F-4721-B51F-15CC225E4C36}"/>
              </a:ext>
            </a:extLst>
          </p:cNvPr>
          <p:cNvSpPr>
            <a:spLocks xmlns:a="http://schemas.openxmlformats.org/drawingml/2006/main" noGrp="1"/>
          </p:cNvSpPr>
          <p:nvPr/>
        </p:nvSpPr>
        <p:spPr>
          <a:xfrm xmlns:a="http://schemas.openxmlformats.org/drawingml/2006/main">
            <a:off x="590550" y="49958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CAD975C6-2454-4543-9603-DE42D037678E}"/>
              </a:ext>
            </a:extLst>
          </p:cNvPr>
          <p:cNvSpPr>
            <a:spLocks xmlns:a="http://schemas.openxmlformats.org/drawingml/2006/main" noGrp="1"/>
          </p:cNvSpPr>
          <p:nvPr/>
        </p:nvSpPr>
        <p:spPr>
          <a:xfrm xmlns:a="http://schemas.openxmlformats.org/drawingml/2006/main">
            <a:off x="1381125" y="4995863"/>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float("2.5") converts text into the number 2.5.</a:t>
            </a:r>
          </a:p>
        </p:txBody>
      </p:sp>
      <p:sp>
        <p:nvSpPr>
          <p:cNvPr id="12" name="">
            <a:extLst xmlns:a="http://schemas.openxmlformats.org/drawingml/2006/main">
              <a:ext uri="{FF2B5EF4-FFF2-40B4-BE49-F238E27FC236}">
                <a16:creationId xmlns:a16="http://schemas.microsoft.com/office/drawing/2014/main" id="{14608B0B-581D-4A07-BF01-D4EA3F3AA179}"/>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4   48</a:t>
            </a:r>
          </a:p>
        </p:txBody>
      </p:sp>
    </p:spTree>
    <p:extLst>
      <p:ext uri="{BB962C8B-B14F-4D97-AF65-F5344CB8AC3E}">
        <p14:creationId xmlns:p14="http://schemas.microsoft.com/office/powerpoint/2010/main" val="1007910439"/>
      </p:ext>
    </p:extLst>
  </p:cSld>
</p:sld>
</file>

<file path=ppt/slides/slide4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99226924-37C2-4012-B810-5F746E077AE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AEDCA9DD-E598-469B-8365-2863129AC74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READ THE EXAMPLE</a:t>
            </a:r>
          </a:p>
        </p:txBody>
      </p:sp>
      <p:sp>
        <p:nvSpPr>
          <p:cNvPr id="3" name="">
            <a:extLst xmlns:a="http://schemas.openxmlformats.org/drawingml/2006/main">
              <a:ext uri="{FF2B5EF4-FFF2-40B4-BE49-F238E27FC236}">
                <a16:creationId xmlns:a16="http://schemas.microsoft.com/office/drawing/2014/main" id="{E46A40A9-BC07-4956-8C71-677AE9BC38C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CSV file has a header and text values</a:t>
            </a:r>
          </a:p>
        </p:txBody>
      </p:sp>
      <p:graphicFrame>
        <p:nvGraphicFramePr>
          <p:cNvPr id="10" name=""/>
          <p:cNvGraphicFramePr/>
          <p:nvPr/>
        </p:nvGraphicFramePr>
        <p:xfrm>
          <a:off xmlns:a="http://schemas.openxmlformats.org/drawingml/2006/main" x="590550" y="1733550"/>
          <a:ext xmlns:a="http://schemas.openxmlformats.org/drawingml/2006/main" cx="11010900" cy="3333750"/>
        </p:xfrm>
        <a:graphic xmlns:a="http://schemas.openxmlformats.org/drawingml/2006/main">
          <a:graphicData uri="http://schemas.openxmlformats.org/drawingml/2006/table">
            <a:tbl>
              <a:tblPr/>
              <a:tblGrid>
                <a:gridCol w="5505450"/>
                <a:gridCol w="5505450"/>
              </a:tblGrid>
              <a:tr h="833438">
                <a:tc>
                  <a:txBody>
                    <a:bodyPr/>
                    <a:lstStyle/>
                    <a:p>
                      <a:r>
                        <a:rPr sz="2025" b="1">
                          <a:solidFill>
                            <a:srgbClr val="FFFFFF"/>
                          </a:solidFill>
                          <a:latin typeface="Calibri"/>
                          <a:ea typeface="Calibri"/>
                          <a:cs typeface="Calibri"/>
                        </a:rPr>
                        <a:t>CSV line</a:t>
                      </a:r>
                    </a:p>
                  </a:txBody>
                  <a:tcPr marL="91440" marR="91440" marT="45720" marB="45720">
                    <a:solidFill>
                      <a:srgbClr val="2E7D6F"/>
                    </a:solidFill>
                  </a:tcPr>
                </a:tc>
                <a:tc>
                  <a:txBody>
                    <a:bodyPr/>
                    <a:lstStyle/>
                    <a:p>
                      <a:r>
                        <a:rPr sz="2025" b="1">
                          <a:solidFill>
                            <a:srgbClr val="FFFFFF"/>
                          </a:solidFill>
                          <a:latin typeface="Calibri"/>
                          <a:ea typeface="Calibri"/>
                          <a:cs typeface="Calibri"/>
                        </a:rPr>
                        <a:t>Dictionary meaning</a:t>
                      </a:r>
                    </a:p>
                  </a:txBody>
                  <a:tcPr marL="91440" marR="91440" marT="45720" marB="45720">
                    <a:solidFill>
                      <a:srgbClr val="2E7D6F"/>
                    </a:solidFill>
                  </a:tcPr>
                </a:tc>
              </a:tr>
              <a:tr h="833438">
                <a:tc>
                  <a:txBody>
                    <a:bodyPr/>
                    <a:lstStyle/>
                    <a:p>
                      <a:r>
                        <a:rPr sz="2025" b="0">
                          <a:solidFill>
                            <a:srgbClr val="1C3144"/>
                          </a:solidFill>
                          <a:latin typeface="Calibri"/>
                          <a:ea typeface="Calibri"/>
                          <a:cs typeface="Calibri"/>
                        </a:rPr>
                        <a:t>unit,reading</a:t>
                      </a:r>
                    </a:p>
                  </a:txBody>
                  <a:tcPr marL="91440" marR="91440" marT="45720" marB="45720">
                    <a:solidFill>
                      <a:srgbClr val="EEF3F6"/>
                    </a:solidFill>
                  </a:tcPr>
                </a:tc>
                <a:tc>
                  <a:txBody>
                    <a:bodyPr/>
                    <a:lstStyle/>
                    <a:p>
                      <a:r>
                        <a:rPr sz="2025" b="0">
                          <a:solidFill>
                            <a:srgbClr val="1C3144"/>
                          </a:solidFill>
                          <a:latin typeface="Calibri"/>
                          <a:ea typeface="Calibri"/>
                          <a:cs typeface="Calibri"/>
                        </a:rPr>
                        <a:t>Two field names</a:t>
                      </a:r>
                    </a:p>
                  </a:txBody>
                  <a:tcPr marL="91440" marR="91440" marT="45720" marB="45720">
                    <a:solidFill>
                      <a:srgbClr val="EEF3F6"/>
                    </a:solidFill>
                  </a:tcPr>
                </a:tc>
              </a:tr>
              <a:tr h="833438">
                <a:tc>
                  <a:txBody>
                    <a:bodyPr/>
                    <a:lstStyle/>
                    <a:p>
                      <a:r>
                        <a:rPr sz="2025" b="0">
                          <a:solidFill>
                            <a:srgbClr val="1C3144"/>
                          </a:solidFill>
                          <a:latin typeface="Calibri"/>
                          <a:ea typeface="Calibri"/>
                          <a:cs typeface="Calibri"/>
                        </a:rPr>
                        <a:t>A,2.5</a:t>
                      </a:r>
                    </a:p>
                  </a:txBody>
                  <a:tcPr marL="91440" marR="91440" marT="45720" marB="45720">
                    <a:solidFill>
                      <a:srgbClr val="FFFFFF"/>
                    </a:solidFill>
                  </a:tcPr>
                </a:tc>
                <a:tc>
                  <a:txBody>
                    <a:bodyPr/>
                    <a:lstStyle/>
                    <a:p>
                      <a:r>
                        <a:rPr sz="2025" b="0">
                          <a:solidFill>
                            <a:srgbClr val="1C3144"/>
                          </a:solidFill>
                          <a:latin typeface="Calibri"/>
                          <a:ea typeface="Calibri"/>
                          <a:cs typeface="Calibri"/>
                        </a:rPr>
                        <a:t>{"unit": "A", "reading": "2.5"}</a:t>
                      </a:r>
                    </a:p>
                  </a:txBody>
                  <a:tcPr marL="91440" marR="91440" marT="45720" marB="45720">
                    <a:solidFill>
                      <a:srgbClr val="FFFFFF"/>
                    </a:solidFill>
                  </a:tcPr>
                </a:tc>
              </a:tr>
              <a:tr h="833438">
                <a:tc>
                  <a:txBody>
                    <a:bodyPr/>
                    <a:lstStyle/>
                    <a:p>
                      <a:r>
                        <a:rPr sz="2025" b="0">
                          <a:solidFill>
                            <a:srgbClr val="1C3144"/>
                          </a:solidFill>
                          <a:latin typeface="Calibri"/>
                          <a:ea typeface="Calibri"/>
                          <a:cs typeface="Calibri"/>
                        </a:rPr>
                        <a:t>B,</a:t>
                      </a:r>
                    </a:p>
                  </a:txBody>
                  <a:tcPr marL="91440" marR="91440" marT="45720" marB="45720">
                    <a:solidFill>
                      <a:srgbClr val="EEF3F6"/>
                    </a:solidFill>
                  </a:tcPr>
                </a:tc>
                <a:tc>
                  <a:txBody>
                    <a:bodyPr/>
                    <a:lstStyle/>
                    <a:p>
                      <a:r>
                        <a:rPr sz="2025" b="0">
                          <a:solidFill>
                            <a:srgbClr val="1C3144"/>
                          </a:solidFill>
                          <a:latin typeface="Calibri"/>
                          <a:ea typeface="Calibri"/>
                          <a:cs typeface="Calibri"/>
                        </a:rPr>
                        <a:t>{"unit": "B", "reading": ""}</a:t>
                      </a:r>
                    </a:p>
                  </a:txBody>
                  <a:tcPr marL="91440" marR="91440" marT="45720" marB="45720">
                    <a:solidFill>
                      <a:srgbClr val="EEF3F6"/>
                    </a:solidFill>
                  </a:tcPr>
                </a:tc>
              </a:tr>
            </a:tbl>
          </a:graphicData>
        </a:graphic>
      </p:graphicFrame>
      <p:sp>
        <p:nvSpPr>
          <p:cNvPr id="5" name="">
            <a:extLst xmlns:a="http://schemas.openxmlformats.org/drawingml/2006/main">
              <a:ext uri="{FF2B5EF4-FFF2-40B4-BE49-F238E27FC236}">
                <a16:creationId xmlns:a16="http://schemas.microsoft.com/office/drawing/2014/main" id="{C8E2B25C-FEB1-4A0B-93CE-EE74277C70DC}"/>
              </a:ext>
            </a:extLst>
          </p:cNvPr>
          <p:cNvSpPr>
            <a:spLocks xmlns:a="http://schemas.openxmlformats.org/drawingml/2006/main" noGrp="1"/>
          </p:cNvSpPr>
          <p:nvPr/>
        </p:nvSpPr>
        <p:spPr>
          <a:xfrm xmlns:a="http://schemas.openxmlformats.org/drawingml/2006/main">
            <a:off x="685800" y="5381625"/>
            <a:ext cx="106680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An empty field is empty text. Check the task’s rule before converting it.</a:t>
            </a:r>
          </a:p>
        </p:txBody>
      </p:sp>
      <p:sp>
        <p:nvSpPr>
          <p:cNvPr id="6" name="">
            <a:extLst xmlns:a="http://schemas.openxmlformats.org/drawingml/2006/main">
              <a:ext uri="{FF2B5EF4-FFF2-40B4-BE49-F238E27FC236}">
                <a16:creationId xmlns:a16="http://schemas.microsoft.com/office/drawing/2014/main" id="{9CF3AD23-37B8-488B-B437-2141EE5C8D5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4   49</a:t>
            </a:r>
          </a:p>
        </p:txBody>
      </p:sp>
    </p:spTree>
    <p:extLst>
      <p:ext uri="{BB962C8B-B14F-4D97-AF65-F5344CB8AC3E}">
        <p14:creationId xmlns:p14="http://schemas.microsoft.com/office/powerpoint/2010/main" val="1082029373"/>
      </p:ext>
    </p:extLst>
  </p:cSld>
</p:sld>
</file>

<file path=ppt/slides/slide5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E365F5CB-CA97-4E78-80F5-7A6A3ECADAE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26EC654B-F14F-4506-8E0D-003E51584C4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829AC1FA-9D4B-452A-9A25-98A7149819C5}"/>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CSV row becomes a dictionary</a:t>
            </a:r>
          </a:p>
        </p:txBody>
      </p:sp>
      <p:sp>
        <p:nvSpPr>
          <p:cNvPr id="4" name="">
            <a:extLst xmlns:a="http://schemas.openxmlformats.org/drawingml/2006/main">
              <a:ext uri="{FF2B5EF4-FFF2-40B4-BE49-F238E27FC236}">
                <a16:creationId xmlns:a16="http://schemas.microsoft.com/office/drawing/2014/main" id="{1BAB099F-0028-4220-927E-6A59E6E93FA6}"/>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C72E9EDF-85E6-47A5-A0EA-A03EC58BA2AD}"/>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header gives field names, such as unit and reading.</a:t>
            </a:r>
          </a:p>
        </p:txBody>
      </p:sp>
      <p:sp>
        <p:nvSpPr>
          <p:cNvPr id="6" name="">
            <a:extLst xmlns:a="http://schemas.openxmlformats.org/drawingml/2006/main">
              <a:ext uri="{FF2B5EF4-FFF2-40B4-BE49-F238E27FC236}">
                <a16:creationId xmlns:a16="http://schemas.microsoft.com/office/drawing/2014/main" id="{49A6AAE2-B34A-425B-B205-EDA1A50FFAE9}"/>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3FBCEB2C-22EA-4B55-A9DE-83105F2728A2}"/>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csv.DictReader returns one dictionary for each data row.</a:t>
            </a:r>
          </a:p>
        </p:txBody>
      </p:sp>
      <p:sp>
        <p:nvSpPr>
          <p:cNvPr id="8" name="">
            <a:extLst xmlns:a="http://schemas.openxmlformats.org/drawingml/2006/main">
              <a:ext uri="{FF2B5EF4-FFF2-40B4-BE49-F238E27FC236}">
                <a16:creationId xmlns:a16="http://schemas.microsoft.com/office/drawing/2014/main" id="{5DB6FAFB-3B95-4EB3-845C-F0AF7AE14EBC}"/>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498AB56A-6D12-4C8E-846D-15C26847DA29}"/>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value "2.5" starts as text. float("2.5") makes the number 2.5.</a:t>
            </a:r>
          </a:p>
        </p:txBody>
      </p:sp>
      <p:sp>
        <p:nvSpPr>
          <p:cNvPr id="10" name="">
            <a:extLst xmlns:a="http://schemas.openxmlformats.org/drawingml/2006/main">
              <a:ext uri="{FF2B5EF4-FFF2-40B4-BE49-F238E27FC236}">
                <a16:creationId xmlns:a16="http://schemas.microsoft.com/office/drawing/2014/main" id="{1EDDDF15-1308-4924-A717-5D5BF9E3578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4   50</a:t>
            </a:r>
          </a:p>
        </p:txBody>
      </p:sp>
    </p:spTree>
    <p:extLst>
      <p:ext uri="{BB962C8B-B14F-4D97-AF65-F5344CB8AC3E}">
        <p14:creationId xmlns:p14="http://schemas.microsoft.com/office/powerpoint/2010/main" val="479915713"/>
      </p:ext>
    </p:extLst>
  </p:cSld>
</p:sld>
</file>

<file path=ppt/slides/slide5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6C8F9919-456E-486B-B883-A5CF6F971879}"/>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EB925684-B287-480A-B719-534165668DD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1EED486C-AC05-4118-B5FE-B6F52E41C45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with and import</a:t>
            </a:r>
          </a:p>
        </p:txBody>
      </p:sp>
      <p:sp>
        <p:nvSpPr>
          <p:cNvPr id="4" name="">
            <a:extLst xmlns:a="http://schemas.openxmlformats.org/drawingml/2006/main">
              <a:ext uri="{FF2B5EF4-FFF2-40B4-BE49-F238E27FC236}">
                <a16:creationId xmlns:a16="http://schemas.microsoft.com/office/drawing/2014/main" id="{BD19DB5E-DA3C-4AB0-BE3A-9B4D7EA0757A}"/>
              </a:ext>
            </a:extLst>
          </p:cNvPr>
          <p:cNvSpPr>
            <a:spLocks xmlns:a="http://schemas.openxmlformats.org/drawingml/2006/main" noGrp="1"/>
          </p:cNvSpPr>
          <p:nvPr/>
        </p:nvSpPr>
        <p:spPr>
          <a:xfrm xmlns:a="http://schemas.openxmlformats.org/drawingml/2006/main">
            <a:off x="590550" y="1714500"/>
            <a:ext cx="110109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EE41F100-D162-4F71-84E1-AF69AF8B03D3}"/>
              </a:ext>
            </a:extLst>
          </p:cNvPr>
          <p:cNvSpPr>
            <a:spLocks xmlns:a="http://schemas.openxmlformats.org/drawingml/2006/main" noGrp="1"/>
          </p:cNvSpPr>
          <p:nvPr/>
        </p:nvSpPr>
        <p:spPr>
          <a:xfrm xmlns:a="http://schemas.openxmlformats.org/drawingml/2006/main">
            <a:off x="828675" y="1952625"/>
            <a:ext cx="104394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E4572E"/>
                </a:solidFill>
                <a:latin typeface="Calibri"/>
                <a:ea typeface="Calibri"/>
                <a:cs typeface="Calibri"/>
              </a:defRPr>
            </a:pPr>
            <a:r>
              <a:rPr sz="3150" b="1">
                <a:solidFill>
                  <a:srgbClr val="E4572E"/>
                </a:solidFill>
                <a:latin typeface="Calibri"/>
                <a:ea typeface="Calibri"/>
                <a:cs typeface="Calibri"/>
              </a:rPr>
              <a:t>with and import</a:t>
            </a:r>
          </a:p>
        </p:txBody>
      </p:sp>
      <p:sp>
        <p:nvSpPr>
          <p:cNvPr id="6" name="">
            <a:extLst xmlns:a="http://schemas.openxmlformats.org/drawingml/2006/main">
              <a:ext uri="{FF2B5EF4-FFF2-40B4-BE49-F238E27FC236}">
                <a16:creationId xmlns:a16="http://schemas.microsoft.com/office/drawing/2014/main" id="{5E8ACC84-723A-41DE-A642-99021E80DEF6}"/>
              </a:ext>
            </a:extLst>
          </p:cNvPr>
          <p:cNvSpPr>
            <a:spLocks xmlns:a="http://schemas.openxmlformats.org/drawingml/2006/main" noGrp="1"/>
          </p:cNvSpPr>
          <p:nvPr/>
        </p:nvSpPr>
        <p:spPr>
          <a:xfrm xmlns:a="http://schemas.openxmlformats.org/drawingml/2006/main">
            <a:off x="828675" y="3067050"/>
            <a:ext cx="10439400"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0">
                <a:solidFill>
                  <a:srgbClr val="1C3144"/>
                </a:solidFill>
                <a:latin typeface="Calibri"/>
                <a:ea typeface="Calibri"/>
                <a:cs typeface="Calibri"/>
              </a:defRPr>
            </a:pPr>
            <a:r>
              <a:rPr sz="2550" b="0">
                <a:solidFill>
                  <a:srgbClr val="1C3144"/>
                </a:solidFill>
                <a:latin typeface="Calibri"/>
                <a:ea typeface="Calibri"/>
                <a:cs typeface="Calibri"/>
              </a:rPr>
              <a:t>import makes library tools available. with open(...) opens a file for a block and closes it afterward. A filename must match an existing file in the working folder.</a:t>
            </a:r>
          </a:p>
        </p:txBody>
      </p:sp>
      <p:sp>
        <p:nvSpPr>
          <p:cNvPr id="7" name="">
            <a:extLst xmlns:a="http://schemas.openxmlformats.org/drawingml/2006/main">
              <a:ext uri="{FF2B5EF4-FFF2-40B4-BE49-F238E27FC236}">
                <a16:creationId xmlns:a16="http://schemas.microsoft.com/office/drawing/2014/main" id="{B6A33827-B2AC-4642-96BB-484A87C7E61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4   51</a:t>
            </a:r>
          </a:p>
        </p:txBody>
      </p:sp>
    </p:spTree>
    <p:extLst>
      <p:ext uri="{BB962C8B-B14F-4D97-AF65-F5344CB8AC3E}">
        <p14:creationId xmlns:p14="http://schemas.microsoft.com/office/powerpoint/2010/main" val="1221064743"/>
      </p:ext>
    </p:extLst>
  </p:cSld>
</p:sld>
</file>

<file path=ppt/slides/slide5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CC9AC6A4-1D63-4181-9B08-99038E4A1E43}"/>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32A15FFE-ACF0-450D-A1D3-9A10F79BA34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C8029CA5-A673-40C2-BE0B-C75DB927269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Your cohort data</a:t>
            </a:r>
          </a:p>
        </p:txBody>
      </p:sp>
      <p:sp>
        <p:nvSpPr>
          <p:cNvPr id="4" name="">
            <a:extLst xmlns:a="http://schemas.openxmlformats.org/drawingml/2006/main">
              <a:ext uri="{FF2B5EF4-FFF2-40B4-BE49-F238E27FC236}">
                <a16:creationId xmlns:a16="http://schemas.microsoft.com/office/drawing/2014/main" id="{8F6D9415-3936-4D19-84E2-0F62727FB53B}"/>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B539B219-4185-4422-91DE-B82A52AC7AF8}"/>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site_inspection_log.csv</a:t>
            </a:r>
          </a:p>
        </p:txBody>
      </p:sp>
      <p:sp>
        <p:nvSpPr>
          <p:cNvPr id="6" name="">
            <a:extLst xmlns:a="http://schemas.openxmlformats.org/drawingml/2006/main">
              <a:ext uri="{FF2B5EF4-FFF2-40B4-BE49-F238E27FC236}">
                <a16:creationId xmlns:a16="http://schemas.microsoft.com/office/drawing/2014/main" id="{B485B74A-7325-419A-925C-A179F6D0FA28}"/>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871036B7-9AD3-474E-91FB-3D22606207FA}"/>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Summarise crack_width_mm (millimetres); group by structure_id.</a:t>
            </a:r>
          </a:p>
        </p:txBody>
      </p:sp>
      <p:sp>
        <p:nvSpPr>
          <p:cNvPr id="8" name="">
            <a:extLst xmlns:a="http://schemas.openxmlformats.org/drawingml/2006/main">
              <a:ext uri="{FF2B5EF4-FFF2-40B4-BE49-F238E27FC236}">
                <a16:creationId xmlns:a16="http://schemas.microsoft.com/office/drawing/2014/main" id="{BE233FEC-836C-45E8-85D3-12B37C16A0FF}"/>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1D6DD57B-AB11-435A-800A-E8AC52CA1468}"/>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Read the issued task’s blank-value and threshold rules before calculating.</a:t>
            </a:r>
          </a:p>
        </p:txBody>
      </p:sp>
      <p:sp>
        <p:nvSpPr>
          <p:cNvPr id="10" name="">
            <a:extLst xmlns:a="http://schemas.openxmlformats.org/drawingml/2006/main">
              <a:ext uri="{FF2B5EF4-FFF2-40B4-BE49-F238E27FC236}">
                <a16:creationId xmlns:a16="http://schemas.microsoft.com/office/drawing/2014/main" id="{D5DE8EFD-8BD8-475C-B91E-6BD2885367A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4   52</a:t>
            </a:r>
          </a:p>
        </p:txBody>
      </p:sp>
    </p:spTree>
    <p:extLst>
      <p:ext uri="{BB962C8B-B14F-4D97-AF65-F5344CB8AC3E}">
        <p14:creationId xmlns:p14="http://schemas.microsoft.com/office/powerpoint/2010/main" val="847806669"/>
      </p:ext>
    </p:extLst>
  </p:cSld>
</p:sld>
</file>

<file path=ppt/slides/slide5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B7B2566D-1D85-478D-AFF2-A0840EBFE97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57B37E93-FF67-4661-8619-5F8DA6A6AC2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935B1B0B-FCE0-453F-94AC-60EFB748749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Read the supplied CSV in four steps</a:t>
            </a:r>
          </a:p>
        </p:txBody>
      </p:sp>
      <p:sp>
        <p:nvSpPr>
          <p:cNvPr id="4" name="">
            <a:extLst xmlns:a="http://schemas.openxmlformats.org/drawingml/2006/main">
              <a:ext uri="{FF2B5EF4-FFF2-40B4-BE49-F238E27FC236}">
                <a16:creationId xmlns:a16="http://schemas.microsoft.com/office/drawing/2014/main" id="{166F4D4C-57D0-4733-A332-2703F4957247}"/>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C08F5D11-40EA-4AE6-85BA-2EFC54F7A253}"/>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Place site_inspection_log.csv beside the notebook, or upload it in Colab’s Files panel.</a:t>
            </a:r>
          </a:p>
        </p:txBody>
      </p:sp>
      <p:sp>
        <p:nvSpPr>
          <p:cNvPr id="6" name="">
            <a:extLst xmlns:a="http://schemas.openxmlformats.org/drawingml/2006/main">
              <a:ext uri="{FF2B5EF4-FFF2-40B4-BE49-F238E27FC236}">
                <a16:creationId xmlns:a16="http://schemas.microsoft.com/office/drawing/2014/main" id="{F8A89225-1F4F-448B-AFC4-5A3117176915}"/>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3C504FAB-B9FD-43B9-8EBB-C948F9ABD02D}"/>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import csv loads the CSV tools. newline="" lets the reader handle line endings. DictReader uses the header as dictionary keys.</a:t>
            </a:r>
          </a:p>
        </p:txBody>
      </p:sp>
      <p:sp>
        <p:nvSpPr>
          <p:cNvPr id="8" name="">
            <a:extLst xmlns:a="http://schemas.openxmlformats.org/drawingml/2006/main">
              <a:ext uri="{FF2B5EF4-FFF2-40B4-BE49-F238E27FC236}">
                <a16:creationId xmlns:a16="http://schemas.microsoft.com/office/drawing/2014/main" id="{0EEFD040-2397-4932-8773-57B9612253D9}"/>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52B4E29A-013C-4091-8146-7A33307D075E}"/>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list(...) collects the rows while the file is open. We inspect the first row and the count; the later assignment calculations are your work.</a:t>
            </a:r>
          </a:p>
        </p:txBody>
      </p:sp>
      <p:sp>
        <p:nvSpPr>
          <p:cNvPr id="10" name="">
            <a:extLst xmlns:a="http://schemas.openxmlformats.org/drawingml/2006/main">
              <a:ext uri="{FF2B5EF4-FFF2-40B4-BE49-F238E27FC236}">
                <a16:creationId xmlns:a16="http://schemas.microsoft.com/office/drawing/2014/main" id="{08226A37-76E2-42A9-A584-676A68190D7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4   53</a:t>
            </a:r>
          </a:p>
        </p:txBody>
      </p:sp>
    </p:spTree>
    <p:extLst>
      <p:ext uri="{BB962C8B-B14F-4D97-AF65-F5344CB8AC3E}">
        <p14:creationId xmlns:p14="http://schemas.microsoft.com/office/powerpoint/2010/main" val="277895125"/>
      </p:ext>
    </p:extLst>
  </p:cSld>
</p:sld>
</file>

<file path=ppt/slides/slide5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91639E44-CE7D-4341-883C-9AD771822B1B}"/>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D1DBA11C-EF1F-46E0-BEE7-89AF7E5843B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BCFCA11F-7566-44BE-AB09-279F67DAA4B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What with open as source does</a:t>
            </a:r>
          </a:p>
        </p:txBody>
      </p:sp>
      <p:sp>
        <p:nvSpPr>
          <p:cNvPr id="4" name="">
            <a:extLst xmlns:a="http://schemas.openxmlformats.org/drawingml/2006/main">
              <a:ext uri="{FF2B5EF4-FFF2-40B4-BE49-F238E27FC236}">
                <a16:creationId xmlns:a16="http://schemas.microsoft.com/office/drawing/2014/main" id="{4BAC175F-4D0B-4616-A644-FC7A446C90D0}"/>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08A26A9D-8F87-49FC-ADD9-AEB2AB2DD727}"/>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open("file.csv", newline="") opens a text file for reading. Use the actual supplied filename, including its .csv extension.</a:t>
            </a:r>
          </a:p>
        </p:txBody>
      </p:sp>
      <p:sp>
        <p:nvSpPr>
          <p:cNvPr id="6" name="">
            <a:extLst xmlns:a="http://schemas.openxmlformats.org/drawingml/2006/main">
              <a:ext uri="{FF2B5EF4-FFF2-40B4-BE49-F238E27FC236}">
                <a16:creationId xmlns:a16="http://schemas.microsoft.com/office/drawing/2014/main" id="{C4D03D29-5D2B-4224-8F4A-7CEDAB768939}"/>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54492CFD-1D44-42DA-A865-07366DB1E1A2}"/>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with manages the open file. as source gives that file object a name. Indented lines use it while it is open; leaving the block closes it.</a:t>
            </a:r>
          </a:p>
        </p:txBody>
      </p:sp>
      <p:sp>
        <p:nvSpPr>
          <p:cNvPr id="8" name="">
            <a:extLst xmlns:a="http://schemas.openxmlformats.org/drawingml/2006/main">
              <a:ext uri="{FF2B5EF4-FFF2-40B4-BE49-F238E27FC236}">
                <a16:creationId xmlns:a16="http://schemas.microsoft.com/office/drawing/2014/main" id="{82EABD81-D964-4253-96BD-8716D8FBAD9D}"/>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3BE26248-C6A2-43F4-ADB6-60ECE72C60C7}"/>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csv.DictReader(source) reads rows using the header names as keys. list(...) collects those rows into memory before the file closes.</a:t>
            </a:r>
          </a:p>
        </p:txBody>
      </p:sp>
      <p:sp>
        <p:nvSpPr>
          <p:cNvPr id="10" name="">
            <a:extLst xmlns:a="http://schemas.openxmlformats.org/drawingml/2006/main">
              <a:ext uri="{FF2B5EF4-FFF2-40B4-BE49-F238E27FC236}">
                <a16:creationId xmlns:a16="http://schemas.microsoft.com/office/drawing/2014/main" id="{47368714-8862-48E1-BB41-F20BBAA689F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4   54</a:t>
            </a:r>
          </a:p>
        </p:txBody>
      </p:sp>
    </p:spTree>
    <p:extLst>
      <p:ext uri="{BB962C8B-B14F-4D97-AF65-F5344CB8AC3E}">
        <p14:creationId xmlns:p14="http://schemas.microsoft.com/office/powerpoint/2010/main" val="1558005500"/>
      </p:ext>
    </p:extLst>
  </p:cSld>
</p:sld>
</file>

<file path=ppt/slides/slide5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1D744C3F-57A1-4292-9FAF-CFF15EDA8DE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1E149EB6-2857-4D5E-BDFC-B94EDC519BD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A8A1597A-B3BA-41E5-9AEA-1625524729D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Open a real CSV and inspect its first row</a:t>
            </a:r>
          </a:p>
        </p:txBody>
      </p:sp>
      <p:sp>
        <p:nvSpPr>
          <p:cNvPr id="4" name="">
            <a:extLst xmlns:a="http://schemas.openxmlformats.org/drawingml/2006/main">
              <a:ext uri="{FF2B5EF4-FFF2-40B4-BE49-F238E27FC236}">
                <a16:creationId xmlns:a16="http://schemas.microsoft.com/office/drawing/2014/main" id="{54FA2BB6-5160-4FFD-9B86-A203681FABDB}"/>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4F01D14A-262A-450A-8735-A60511CA73E3}"/>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3" b="0">
                <a:solidFill>
                  <a:srgbClr val="F4F7FA"/>
                </a:solidFill>
                <a:latin typeface="Courier New"/>
                <a:ea typeface="Courier New"/>
                <a:cs typeface="Courier New"/>
              </a:defRPr>
            </a:pPr>
            <a:r>
              <a:rPr sz="2173" b="0">
                <a:solidFill>
                  <a:srgbClr val="FFB080"/>
                </a:solidFill>
                <a:latin typeface="Courier New"/>
                <a:ea typeface="Courier New"/>
                <a:cs typeface="Courier New"/>
              </a:rPr>
              <a:t>import</a:t>
            </a:r>
            <a:r>
              <a:rPr sz="2173" b="0">
                <a:solidFill>
                  <a:srgbClr val="F4F7FA"/>
                </a:solidFill>
                <a:latin typeface="Courier New"/>
                <a:ea typeface="Courier New"/>
                <a:cs typeface="Courier New"/>
              </a:rPr>
              <a:t> csv</a:t>
            </a:r>
          </a:p>
          <a:p xmlns:a="http://schemas.openxmlformats.org/drawingml/2006/main">
            <a:pPr>
              <a:defRPr sz="2173" b="0">
                <a:solidFill>
                  <a:srgbClr val="F4F7FA"/>
                </a:solidFill>
                <a:latin typeface="Courier New"/>
                <a:ea typeface="Courier New"/>
                <a:cs typeface="Courier New"/>
              </a:defRPr>
            </a:pPr>
            <a:r>
              <a:rPr sz="2173" b="0">
                <a:solidFill>
                  <a:srgbClr val="F4F7FA"/>
                </a:solidFill>
                <a:latin typeface="Courier New"/>
                <a:ea typeface="Courier New"/>
                <a:cs typeface="Courier New"/>
              </a:rPr>
              <a:t>with open("site_inspection_log.csv", newline="") as source:</a:t>
            </a:r>
          </a:p>
          <a:p xmlns:a="http://schemas.openxmlformats.org/drawingml/2006/main">
            <a:pPr>
              <a:defRPr sz="2173" b="0">
                <a:solidFill>
                  <a:srgbClr val="F4F7FA"/>
                </a:solidFill>
                <a:latin typeface="Courier New"/>
                <a:ea typeface="Courier New"/>
                <a:cs typeface="Courier New"/>
              </a:defRPr>
            </a:pPr>
            <a:r>
              <a:rPr sz="2173" b="0">
                <a:solidFill>
                  <a:srgbClr val="F4F7FA"/>
                </a:solidFill>
                <a:latin typeface="Courier New"/>
                <a:ea typeface="Courier New"/>
                <a:cs typeface="Courier New"/>
              </a:rPr>
              <a:t>    rows = list(csv.DictReader(source))</a:t>
            </a:r>
          </a:p>
          <a:p xmlns:a="http://schemas.openxmlformats.org/drawingml/2006/main">
            <a:pPr>
              <a:defRPr sz="2173" b="0">
                <a:solidFill>
                  <a:srgbClr val="F4F7FA"/>
                </a:solidFill>
                <a:latin typeface="Courier New"/>
                <a:ea typeface="Courier New"/>
                <a:cs typeface="Courier New"/>
              </a:defRPr>
            </a:pPr>
            <a:r>
              <a:rPr sz="2173" b="0">
                <a:solidFill>
                  <a:srgbClr val="F4F7FA"/>
                </a:solidFill>
                <a:latin typeface="Courier New"/>
                <a:ea typeface="Courier New"/>
                <a:cs typeface="Courier New"/>
              </a:rPr>
              <a:t>print(rows[0])</a:t>
            </a:r>
          </a:p>
          <a:p xmlns:a="http://schemas.openxmlformats.org/drawingml/2006/main">
            <a:pPr>
              <a:defRPr sz="2173" b="0">
                <a:solidFill>
                  <a:srgbClr val="F4F7FA"/>
                </a:solidFill>
                <a:latin typeface="Courier New"/>
                <a:ea typeface="Courier New"/>
                <a:cs typeface="Courier New"/>
              </a:defRPr>
            </a:pPr>
            <a:r>
              <a:rPr sz="2173" b="0">
                <a:solidFill>
                  <a:srgbClr val="F4F7FA"/>
                </a:solidFill>
                <a:latin typeface="Courier New"/>
                <a:ea typeface="Courier New"/>
                <a:cs typeface="Courier New"/>
              </a:rPr>
              <a:t>print(len(rows))</a:t>
            </a:r>
          </a:p>
        </p:txBody>
      </p:sp>
      <p:sp>
        <p:nvSpPr>
          <p:cNvPr id="6" name="">
            <a:extLst xmlns:a="http://schemas.openxmlformats.org/drawingml/2006/main">
              <a:ext uri="{FF2B5EF4-FFF2-40B4-BE49-F238E27FC236}">
                <a16:creationId xmlns:a16="http://schemas.microsoft.com/office/drawing/2014/main" id="{04FF5EE1-15ED-438E-BA6B-673879FF2AE2}"/>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import loads a library. from selects a tool from it.</a:t>
            </a:r>
          </a:p>
        </p:txBody>
      </p:sp>
      <p:sp>
        <p:nvSpPr>
          <p:cNvPr id="7" name="">
            <a:extLst xmlns:a="http://schemas.openxmlformats.org/drawingml/2006/main">
              <a:ext uri="{FF2B5EF4-FFF2-40B4-BE49-F238E27FC236}">
                <a16:creationId xmlns:a16="http://schemas.microsoft.com/office/drawing/2014/main" id="{278BE17A-A78F-452A-8943-FB77FEF989E1}"/>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Read the actual keys and text values. Check the uploaded filename if Python reports FileNotFoundError.</a:t>
            </a:r>
          </a:p>
        </p:txBody>
      </p:sp>
      <p:sp>
        <p:nvSpPr>
          <p:cNvPr id="8" name="">
            <a:extLst xmlns:a="http://schemas.openxmlformats.org/drawingml/2006/main">
              <a:ext uri="{FF2B5EF4-FFF2-40B4-BE49-F238E27FC236}">
                <a16:creationId xmlns:a16="http://schemas.microsoft.com/office/drawing/2014/main" id="{8FA309D5-DC57-446E-8B8B-DBB22933E58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4   55</a:t>
            </a:r>
          </a:p>
        </p:txBody>
      </p:sp>
    </p:spTree>
    <p:extLst>
      <p:ext uri="{BB962C8B-B14F-4D97-AF65-F5344CB8AC3E}">
        <p14:creationId xmlns:p14="http://schemas.microsoft.com/office/powerpoint/2010/main" val="2044387583"/>
      </p:ext>
    </p:extLst>
  </p:cSld>
</p:sld>
</file>

<file path=ppt/slides/slide5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2AA5B03E-9850-4967-80C3-988A693C2613}"/>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77B89014-7321-4820-BC1E-1A9493E3D40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D0790A3C-B8EC-462E-A89A-3ACAEBE7DBB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list of dictionaries</a:t>
            </a:r>
          </a:p>
        </p:txBody>
      </p:sp>
      <p:sp>
        <p:nvSpPr>
          <p:cNvPr id="4" name="">
            <a:extLst xmlns:a="http://schemas.openxmlformats.org/drawingml/2006/main">
              <a:ext uri="{FF2B5EF4-FFF2-40B4-BE49-F238E27FC236}">
                <a16:creationId xmlns:a16="http://schemas.microsoft.com/office/drawing/2014/main" id="{5B473EB0-9019-4206-A0B1-F6B39F749465}"/>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14520586-0B3D-4253-A518-8E898658E9B5}"/>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record holds named fields for one observation. A list of records holds several observations in order.</a:t>
            </a:r>
          </a:p>
        </p:txBody>
      </p:sp>
      <p:sp>
        <p:nvSpPr>
          <p:cNvPr id="6" name="">
            <a:extLst xmlns:a="http://schemas.openxmlformats.org/drawingml/2006/main">
              <a:ext uri="{FF2B5EF4-FFF2-40B4-BE49-F238E27FC236}">
                <a16:creationId xmlns:a16="http://schemas.microsoft.com/office/drawing/2014/main" id="{9357F098-53F4-4D88-A94D-27A5E7049A19}"/>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32DD2098-43A7-4D55-B1F9-C0F3C8946431}"/>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records[0] selects the first dictionary. records[0]["reading"] then selects that dictionary’s reading field.</a:t>
            </a:r>
          </a:p>
        </p:txBody>
      </p:sp>
      <p:sp>
        <p:nvSpPr>
          <p:cNvPr id="8" name="">
            <a:extLst xmlns:a="http://schemas.openxmlformats.org/drawingml/2006/main">
              <a:ext uri="{FF2B5EF4-FFF2-40B4-BE49-F238E27FC236}">
                <a16:creationId xmlns:a16="http://schemas.microsoft.com/office/drawing/2014/main" id="{1DFFE1BB-92A4-495F-A6C9-856AD5246905}"/>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D119A1C9-9376-4911-9003-15ED63929187}"/>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for row in records takes one dictionary at a time. row["reading"] retrieves that observation’s field; float converts numeric text when needed.</a:t>
            </a:r>
          </a:p>
        </p:txBody>
      </p:sp>
      <p:sp>
        <p:nvSpPr>
          <p:cNvPr id="10" name="">
            <a:extLst xmlns:a="http://schemas.openxmlformats.org/drawingml/2006/main">
              <a:ext uri="{FF2B5EF4-FFF2-40B4-BE49-F238E27FC236}">
                <a16:creationId xmlns:a16="http://schemas.microsoft.com/office/drawing/2014/main" id="{CFFCA101-7792-4A9C-9AD8-D08947E6EAA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4   56</a:t>
            </a:r>
          </a:p>
        </p:txBody>
      </p:sp>
    </p:spTree>
    <p:extLst>
      <p:ext uri="{BB962C8B-B14F-4D97-AF65-F5344CB8AC3E}">
        <p14:creationId xmlns:p14="http://schemas.microsoft.com/office/powerpoint/2010/main" val="532959248"/>
      </p:ext>
    </p:extLst>
  </p:cSld>
</p:sld>
</file>

<file path=ppt/slides/slide5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3C6DD4F7-0E9D-412B-93C4-1DC744DF408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C33AE56-7BA6-4F1F-B0A9-DDF8A6E3063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66F436D2-8DFB-4C81-B016-3F5C9E06CC82}"/>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record and a growing list</a:t>
            </a:r>
          </a:p>
        </p:txBody>
      </p:sp>
      <p:sp>
        <p:nvSpPr>
          <p:cNvPr id="4" name="">
            <a:extLst xmlns:a="http://schemas.openxmlformats.org/drawingml/2006/main">
              <a:ext uri="{FF2B5EF4-FFF2-40B4-BE49-F238E27FC236}">
                <a16:creationId xmlns:a16="http://schemas.microsoft.com/office/drawing/2014/main" id="{0E947D09-69B5-401E-8FBB-DCAF7DCC08F3}"/>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E8200414-6879-4E8D-9BDC-471C44523DDF}"/>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C32E9C3A-A81A-4605-972B-C9143B50783A}"/>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Braces pair a key with its value. append adds one value to the end of a list.</a:t>
            </a:r>
          </a:p>
        </p:txBody>
      </p:sp>
      <p:sp>
        <p:nvSpPr>
          <p:cNvPr id="7" name="">
            <a:extLst xmlns:a="http://schemas.openxmlformats.org/drawingml/2006/main">
              <a:ext uri="{FF2B5EF4-FFF2-40B4-BE49-F238E27FC236}">
                <a16:creationId xmlns:a16="http://schemas.microsoft.com/office/drawing/2014/main" id="{B2CB5533-F08B-4B40-9004-15607825FCBC}"/>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The same pattern works after reading a CSV row.</a:t>
            </a:r>
          </a:p>
        </p:txBody>
      </p:sp>
      <p:sp>
        <p:nvSpPr>
          <p:cNvPr id="8" name="">
            <a:extLst xmlns:a="http://schemas.openxmlformats.org/drawingml/2006/main">
              <a:ext uri="{FF2B5EF4-FFF2-40B4-BE49-F238E27FC236}">
                <a16:creationId xmlns:a16="http://schemas.microsoft.com/office/drawing/2014/main" id="{3BD04C2D-C4E1-4E30-BA7B-4A2A036D957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4   57</a:t>
            </a:r>
          </a:p>
        </p:txBody>
      </p:sp>
    </p:spTree>
    <p:extLst>
      <p:ext uri="{BB962C8B-B14F-4D97-AF65-F5344CB8AC3E}">
        <p14:creationId xmlns:p14="http://schemas.microsoft.com/office/powerpoint/2010/main" val="702930335"/>
      </p:ext>
    </p:extLst>
  </p:cSld>
</p:sld>
</file>

<file path=ppt/slides/slide5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1D28714F-B8FF-4E46-BA3E-75CBB4CE704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390E6F22-FAF6-418D-8A3F-CE25A2EED1B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B05951A9-A490-48BF-A8B8-AD7D8E2E268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record and a growing list in Python</a:t>
            </a:r>
          </a:p>
        </p:txBody>
      </p:sp>
      <p:sp>
        <p:nvSpPr>
          <p:cNvPr id="4" name="">
            <a:extLst xmlns:a="http://schemas.openxmlformats.org/drawingml/2006/main">
              <a:ext uri="{FF2B5EF4-FFF2-40B4-BE49-F238E27FC236}">
                <a16:creationId xmlns:a16="http://schemas.microsoft.com/office/drawing/2014/main" id="{17EF7336-BD59-43CF-8F72-7CA499177429}"/>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3F96D45B-743A-47CB-A2E4-939C9B305C77}"/>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records = [{"sensor": "A", "reading": "2.5"},</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{"sensor": "B", "reading": "3.5"}]</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values = []</a:t>
            </a:r>
          </a:p>
          <a:p xmlns:a="http://schemas.openxmlformats.org/drawingml/2006/main">
            <a:pPr>
              <a:defRPr sz="2175" b="0">
                <a:solidFill>
                  <a:srgbClr val="F4F7FA"/>
                </a:solidFill>
                <a:latin typeface="Courier New"/>
                <a:ea typeface="Courier New"/>
                <a:cs typeface="Courier New"/>
              </a:defRPr>
            </a:pPr>
            <a:r>
              <a:rPr sz="2175" b="0">
                <a:solidFill>
                  <a:srgbClr val="FFB080"/>
                </a:solidFill>
                <a:latin typeface="Courier New"/>
                <a:ea typeface="Courier New"/>
                <a:cs typeface="Courier New"/>
              </a:rPr>
              <a:t>for</a:t>
            </a:r>
            <a:r>
              <a:rPr sz="2175" b="0">
                <a:solidFill>
                  <a:srgbClr val="F4F7FA"/>
                </a:solidFill>
                <a:latin typeface="Courier New"/>
                <a:ea typeface="Courier New"/>
                <a:cs typeface="Courier New"/>
              </a:rPr>
              <a:t> row in records:</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values.append(float(row["reading"]))</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print(values)</a:t>
            </a:r>
          </a:p>
        </p:txBody>
      </p:sp>
      <p:sp>
        <p:nvSpPr>
          <p:cNvPr id="6" name="">
            <a:extLst xmlns:a="http://schemas.openxmlformats.org/drawingml/2006/main">
              <a:ext uri="{FF2B5EF4-FFF2-40B4-BE49-F238E27FC236}">
                <a16:creationId xmlns:a16="http://schemas.microsoft.com/office/drawing/2014/main" id="{6AF3073F-D64B-4E89-837E-8CD6F309D859}"/>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for takes the next item. The indented block repeats.</a:t>
            </a:r>
          </a:p>
        </p:txBody>
      </p:sp>
      <p:sp>
        <p:nvSpPr>
          <p:cNvPr id="7" name="">
            <a:extLst xmlns:a="http://schemas.openxmlformats.org/drawingml/2006/main">
              <a:ext uri="{FF2B5EF4-FFF2-40B4-BE49-F238E27FC236}">
                <a16:creationId xmlns:a16="http://schemas.microsoft.com/office/drawing/2014/main" id="{341FA15F-6CF9-4DC5-B1E5-BDC9D5B7873E}"/>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Read top to bottom. Run the complete example in the matching practice notebook.</a:t>
            </a:r>
          </a:p>
        </p:txBody>
      </p:sp>
      <p:sp>
        <p:nvSpPr>
          <p:cNvPr id="8" name="">
            <a:extLst xmlns:a="http://schemas.openxmlformats.org/drawingml/2006/main">
              <a:ext uri="{FF2B5EF4-FFF2-40B4-BE49-F238E27FC236}">
                <a16:creationId xmlns:a16="http://schemas.microsoft.com/office/drawing/2014/main" id="{944A0914-AE19-4431-A738-9EEB25D1345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4   58</a:t>
            </a:r>
          </a:p>
        </p:txBody>
      </p:sp>
    </p:spTree>
    <p:extLst>
      <p:ext uri="{BB962C8B-B14F-4D97-AF65-F5344CB8AC3E}">
        <p14:creationId xmlns:p14="http://schemas.microsoft.com/office/powerpoint/2010/main" val="880219140"/>
      </p:ext>
    </p:extLst>
  </p:cSld>
</p:sld>
</file>

<file path=ppt/slides/slide5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5393F0A0-6A99-44B5-B5BC-3CD643CC1DA6}"/>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8BB42817-25F9-41DD-85F2-6CCC73D70CA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4B02D39F-80CD-4EB7-AADB-C3C2F45E3E1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Skip a blank before converting text</a:t>
            </a:r>
          </a:p>
        </p:txBody>
      </p:sp>
      <p:sp>
        <p:nvSpPr>
          <p:cNvPr id="4" name="">
            <a:extLst xmlns:a="http://schemas.openxmlformats.org/drawingml/2006/main">
              <a:ext uri="{FF2B5EF4-FFF2-40B4-BE49-F238E27FC236}">
                <a16:creationId xmlns:a16="http://schemas.microsoft.com/office/drawing/2014/main" id="{90C5817A-5E67-4838-AA84-114CF1A1FA73}"/>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276F70F6-84C1-408F-8350-EBACCAF74B11}"/>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D1C4923F-6145-4567-8716-48831BA52027}"/>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An empty text field is "". The comparison != means “not equal to”. Only convert a value after the blank check passes.</a:t>
            </a:r>
          </a:p>
        </p:txBody>
      </p:sp>
      <p:sp>
        <p:nvSpPr>
          <p:cNvPr id="7" name="">
            <a:extLst xmlns:a="http://schemas.openxmlformats.org/drawingml/2006/main">
              <a:ext uri="{FF2B5EF4-FFF2-40B4-BE49-F238E27FC236}">
                <a16:creationId xmlns:a16="http://schemas.microsoft.com/office/drawing/2014/main" id="{74457CB0-0BDB-4DD5-8046-54A53015C2D3}"/>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In this example, values records valid numbers only. Its length is the valid count; the group summaries must use the same valid-record policy.</a:t>
            </a:r>
          </a:p>
        </p:txBody>
      </p:sp>
      <p:sp>
        <p:nvSpPr>
          <p:cNvPr id="8" name="">
            <a:extLst xmlns:a="http://schemas.openxmlformats.org/drawingml/2006/main">
              <a:ext uri="{FF2B5EF4-FFF2-40B4-BE49-F238E27FC236}">
                <a16:creationId xmlns:a16="http://schemas.microsoft.com/office/drawing/2014/main" id="{2D7E15A8-A0BB-4E04-A7D0-0C325F8F00A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4   59</a:t>
            </a:r>
          </a:p>
        </p:txBody>
      </p:sp>
    </p:spTree>
    <p:extLst>
      <p:ext uri="{BB962C8B-B14F-4D97-AF65-F5344CB8AC3E}">
        <p14:creationId xmlns:p14="http://schemas.microsoft.com/office/powerpoint/2010/main" val="497766144"/>
      </p:ext>
    </p:extLst>
  </p:cSld>
</p:sld>
</file>

<file path=ppt/slides/slide6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166C0E8C-202F-474A-B8D8-6C83820F413B}"/>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CDB3FBB2-2DF9-42B7-B4A8-FD79A3634B4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D12925B0-E6C9-492D-A3E5-2833903B958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Collect only the recorded numbers</a:t>
            </a:r>
          </a:p>
        </p:txBody>
      </p:sp>
      <p:sp>
        <p:nvSpPr>
          <p:cNvPr id="4" name="">
            <a:extLst xmlns:a="http://schemas.openxmlformats.org/drawingml/2006/main">
              <a:ext uri="{FF2B5EF4-FFF2-40B4-BE49-F238E27FC236}">
                <a16:creationId xmlns:a16="http://schemas.microsoft.com/office/drawing/2014/main" id="{1B3AC215-6C9B-4560-8DDA-5C526D0D2AAC}"/>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876356F6-529D-4214-BF85-3A4643C54145}"/>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text_values = ["2.5", "", "3.5"]</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values = []</a:t>
            </a:r>
          </a:p>
          <a:p xmlns:a="http://schemas.openxmlformats.org/drawingml/2006/main">
            <a:pPr>
              <a:defRPr sz="2175" b="0">
                <a:solidFill>
                  <a:srgbClr val="F4F7FA"/>
                </a:solidFill>
                <a:latin typeface="Courier New"/>
                <a:ea typeface="Courier New"/>
                <a:cs typeface="Courier New"/>
              </a:defRPr>
            </a:pPr>
            <a:r>
              <a:rPr sz="2175" b="0">
                <a:solidFill>
                  <a:srgbClr val="FFB080"/>
                </a:solidFill>
                <a:latin typeface="Courier New"/>
                <a:ea typeface="Courier New"/>
                <a:cs typeface="Courier New"/>
              </a:rPr>
              <a:t>for</a:t>
            </a:r>
            <a:r>
              <a:rPr sz="2175" b="0">
                <a:solidFill>
                  <a:srgbClr val="F4F7FA"/>
                </a:solidFill>
                <a:latin typeface="Courier New"/>
                <a:ea typeface="Courier New"/>
                <a:cs typeface="Courier New"/>
              </a:rPr>
              <a:t> text in text_values:</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a:t>
            </a:r>
            <a:r>
              <a:rPr sz="2175" b="0">
                <a:solidFill>
                  <a:srgbClr val="FFB080"/>
                </a:solidFill>
                <a:latin typeface="Courier New"/>
                <a:ea typeface="Courier New"/>
                <a:cs typeface="Courier New"/>
              </a:rPr>
              <a:t>if</a:t>
            </a:r>
            <a:r>
              <a:rPr sz="2175" b="0">
                <a:solidFill>
                  <a:srgbClr val="F4F7FA"/>
                </a:solidFill>
                <a:latin typeface="Courier New"/>
                <a:ea typeface="Courier New"/>
                <a:cs typeface="Courier New"/>
              </a:rPr>
              <a:t> text != "":</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values.append(float(text))</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print(len(values), values)</a:t>
            </a:r>
          </a:p>
        </p:txBody>
      </p:sp>
      <p:sp>
        <p:nvSpPr>
          <p:cNvPr id="6" name="">
            <a:extLst xmlns:a="http://schemas.openxmlformats.org/drawingml/2006/main">
              <a:ext uri="{FF2B5EF4-FFF2-40B4-BE49-F238E27FC236}">
                <a16:creationId xmlns:a16="http://schemas.microsoft.com/office/drawing/2014/main" id="{507AA9BB-80DD-4D7F-8C44-D398A6C5C00B}"/>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16BB760C-E279-47C0-BEF3-A870CF5E9751}"/>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for takes the next item. The indented block repeats.</a:t>
            </a:r>
          </a:p>
        </p:txBody>
      </p:sp>
      <p:sp>
        <p:nvSpPr>
          <p:cNvPr id="8" name="">
            <a:extLst xmlns:a="http://schemas.openxmlformats.org/drawingml/2006/main">
              <a:ext uri="{FF2B5EF4-FFF2-40B4-BE49-F238E27FC236}">
                <a16:creationId xmlns:a16="http://schemas.microsoft.com/office/drawing/2014/main" id="{B0AA9232-7254-43C0-AC3C-411B177F91AD}"/>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if tests a condition. The chosen indented block runs.</a:t>
            </a:r>
          </a:p>
        </p:txBody>
      </p:sp>
      <p:sp>
        <p:nvSpPr>
          <p:cNvPr id="9" name="">
            <a:extLst xmlns:a="http://schemas.openxmlformats.org/drawingml/2006/main">
              <a:ext uri="{FF2B5EF4-FFF2-40B4-BE49-F238E27FC236}">
                <a16:creationId xmlns:a16="http://schemas.microsoft.com/office/drawing/2014/main" id="{C6481360-8A29-4FB7-A6B7-61A91753726B}"/>
              </a:ext>
            </a:extLst>
          </p:cNvPr>
          <p:cNvSpPr>
            <a:spLocks xmlns:a="http://schemas.openxmlformats.org/drawingml/2006/main" noGrp="1"/>
          </p:cNvSpPr>
          <p:nvPr/>
        </p:nvSpPr>
        <p:spPr>
          <a:xfrm xmlns:a="http://schemas.openxmlformats.org/drawingml/2006/main">
            <a:off x="8096250" y="43434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float converts numeric text into a decimal number.</a:t>
            </a:r>
          </a:p>
        </p:txBody>
      </p:sp>
      <p:sp>
        <p:nvSpPr>
          <p:cNvPr id="10" name="">
            <a:extLst xmlns:a="http://schemas.openxmlformats.org/drawingml/2006/main">
              <a:ext uri="{FF2B5EF4-FFF2-40B4-BE49-F238E27FC236}">
                <a16:creationId xmlns:a16="http://schemas.microsoft.com/office/drawing/2014/main" id="{B304D82F-6181-4625-BFCC-6FBA11F5CCA9}"/>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Expected: 2 [2.5, 3.5]. A blank is missing, not a recorded zero.</a:t>
            </a:r>
          </a:p>
        </p:txBody>
      </p:sp>
      <p:sp>
        <p:nvSpPr>
          <p:cNvPr id="11" name="">
            <a:extLst xmlns:a="http://schemas.openxmlformats.org/drawingml/2006/main">
              <a:ext uri="{FF2B5EF4-FFF2-40B4-BE49-F238E27FC236}">
                <a16:creationId xmlns:a16="http://schemas.microsoft.com/office/drawing/2014/main" id="{1CBA7F7B-C098-4A54-A563-E25ED04EE61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4   60</a:t>
            </a:r>
          </a:p>
        </p:txBody>
      </p:sp>
    </p:spTree>
    <p:extLst>
      <p:ext uri="{BB962C8B-B14F-4D97-AF65-F5344CB8AC3E}">
        <p14:creationId xmlns:p14="http://schemas.microsoft.com/office/powerpoint/2010/main" val="2051479462"/>
      </p:ext>
    </p:extLst>
  </p:cSld>
</p:sld>
</file>

<file path=ppt/slides/slide6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8BD44D37-0EFF-48BE-94A9-1C13D473409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6884ABEC-BF40-4999-9BE1-3C94C60C3B2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6548676A-BE54-40ED-8E3A-18B3FA26F15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Membership in a dictionary</a:t>
            </a:r>
          </a:p>
        </p:txBody>
      </p:sp>
      <p:sp>
        <p:nvSpPr>
          <p:cNvPr id="4" name="">
            <a:extLst xmlns:a="http://schemas.openxmlformats.org/drawingml/2006/main">
              <a:ext uri="{FF2B5EF4-FFF2-40B4-BE49-F238E27FC236}">
                <a16:creationId xmlns:a16="http://schemas.microsoft.com/office/drawing/2014/main" id="{672594C0-694A-4073-B470-426524453D8F}"/>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695335ED-B1D4-4F30-826C-B7B884FAA837}"/>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group in totals asks whether group is already a dictionary key. group not in totals asks whether that key is absent.</a:t>
            </a:r>
          </a:p>
        </p:txBody>
      </p:sp>
      <p:sp>
        <p:nvSpPr>
          <p:cNvPr id="6" name="">
            <a:extLst xmlns:a="http://schemas.openxmlformats.org/drawingml/2006/main">
              <a:ext uri="{FF2B5EF4-FFF2-40B4-BE49-F238E27FC236}">
                <a16:creationId xmlns:a16="http://schemas.microsoft.com/office/drawing/2014/main" id="{A9E550A8-B908-404D-BC59-F650D19308AE}"/>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D89DDCD5-C7CA-4294-85AF-47F3B37EC97C}"/>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Before adding to a new group, create its total with totals[group] = 0. Then add the current record’s reading.</a:t>
            </a:r>
          </a:p>
        </p:txBody>
      </p:sp>
      <p:sp>
        <p:nvSpPr>
          <p:cNvPr id="8" name="">
            <a:extLst xmlns:a="http://schemas.openxmlformats.org/drawingml/2006/main">
              <a:ext uri="{FF2B5EF4-FFF2-40B4-BE49-F238E27FC236}">
                <a16:creationId xmlns:a16="http://schemas.microsoft.com/office/drawing/2014/main" id="{29AAD563-0D32-4176-AC19-8AADA1D472D3}"/>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1EEC6EF5-445E-4C7D-BBE6-B544D78D2920}"/>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outer for visits records. The inner if runs only for a new group. The addition after the if runs for every record.</a:t>
            </a:r>
          </a:p>
        </p:txBody>
      </p:sp>
      <p:sp>
        <p:nvSpPr>
          <p:cNvPr id="10" name="">
            <a:extLst xmlns:a="http://schemas.openxmlformats.org/drawingml/2006/main">
              <a:ext uri="{FF2B5EF4-FFF2-40B4-BE49-F238E27FC236}">
                <a16:creationId xmlns:a16="http://schemas.microsoft.com/office/drawing/2014/main" id="{BD9D902A-D737-40ED-BDD1-5D63C674E309}"/>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4   61</a:t>
            </a:r>
          </a:p>
        </p:txBody>
      </p:sp>
    </p:spTree>
    <p:extLst>
      <p:ext uri="{BB962C8B-B14F-4D97-AF65-F5344CB8AC3E}">
        <p14:creationId xmlns:p14="http://schemas.microsoft.com/office/powerpoint/2010/main" val="1286474325"/>
      </p:ext>
    </p:extLst>
  </p:cSld>
</p:sld>
</file>

<file path=ppt/slides/slide6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5A4DA13B-094B-415F-880A-6EC068483756}"/>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7EA05744-E014-4B41-9D5A-81C6DC860EE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6B7C331B-6F9C-4359-8B39-FA07ECA1570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Summaries for separate groups</a:t>
            </a:r>
          </a:p>
        </p:txBody>
      </p:sp>
      <p:sp>
        <p:nvSpPr>
          <p:cNvPr id="4" name="">
            <a:extLst xmlns:a="http://schemas.openxmlformats.org/drawingml/2006/main">
              <a:ext uri="{FF2B5EF4-FFF2-40B4-BE49-F238E27FC236}">
                <a16:creationId xmlns:a16="http://schemas.microsoft.com/office/drawing/2014/main" id="{8FA771EE-B77E-4DC9-9DD9-22EE79798C6A}"/>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F2AA6777-BE75-47CE-BF26-2E0968B02AF4}"/>
              </a:ext>
            </a:extLst>
          </p:cNvPr>
          <p:cNvSpPr>
            <a:spLocks xmlns:a="http://schemas.openxmlformats.org/drawingml/2006/main" noGrp="1"/>
          </p:cNvSpPr>
          <p:nvPr/>
        </p:nvSpPr>
        <p:spPr>
          <a:xfrm xmlns:a="http://schemas.openxmlformats.org/drawingml/2006/main">
            <a:off x="1381125" y="1781175"/>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dictionary can hold one running total for each group.</a:t>
            </a:r>
          </a:p>
        </p:txBody>
      </p:sp>
      <p:sp>
        <p:nvSpPr>
          <p:cNvPr id="6" name="">
            <a:extLst xmlns:a="http://schemas.openxmlformats.org/drawingml/2006/main">
              <a:ext uri="{FF2B5EF4-FFF2-40B4-BE49-F238E27FC236}">
                <a16:creationId xmlns:a16="http://schemas.microsoft.com/office/drawing/2014/main" id="{07BDD257-DA09-4ED9-93F8-7045BF30BA5F}"/>
              </a:ext>
            </a:extLst>
          </p:cNvPr>
          <p:cNvSpPr>
            <a:spLocks xmlns:a="http://schemas.openxmlformats.org/drawingml/2006/main" noGrp="1"/>
          </p:cNvSpPr>
          <p:nvPr/>
        </p:nvSpPr>
        <p:spPr>
          <a:xfrm xmlns:a="http://schemas.openxmlformats.org/drawingml/2006/main">
            <a:off x="590550" y="28527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C253BDC9-ED9B-4B31-8323-8B59BB348F0A}"/>
              </a:ext>
            </a:extLst>
          </p:cNvPr>
          <p:cNvSpPr>
            <a:spLocks xmlns:a="http://schemas.openxmlformats.org/drawingml/2006/main" noGrp="1"/>
          </p:cNvSpPr>
          <p:nvPr/>
        </p:nvSpPr>
        <p:spPr>
          <a:xfrm xmlns:a="http://schemas.openxmlformats.org/drawingml/2006/main">
            <a:off x="1381125" y="2852738"/>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An absent key needs an initial zero.</a:t>
            </a:r>
          </a:p>
        </p:txBody>
      </p:sp>
      <p:sp>
        <p:nvSpPr>
          <p:cNvPr id="8" name="">
            <a:extLst xmlns:a="http://schemas.openxmlformats.org/drawingml/2006/main">
              <a:ext uri="{FF2B5EF4-FFF2-40B4-BE49-F238E27FC236}">
                <a16:creationId xmlns:a16="http://schemas.microsoft.com/office/drawing/2014/main" id="{095B5F86-5A68-462C-8FFF-9B59302BAF65}"/>
              </a:ext>
            </a:extLst>
          </p:cNvPr>
          <p:cNvSpPr>
            <a:spLocks xmlns:a="http://schemas.openxmlformats.org/drawingml/2006/main" noGrp="1"/>
          </p:cNvSpPr>
          <p:nvPr/>
        </p:nvSpPr>
        <p:spPr>
          <a:xfrm xmlns:a="http://schemas.openxmlformats.org/drawingml/2006/main">
            <a:off x="590550" y="392430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B1C952D4-1771-4A0B-95BF-E74C7A6DA6DA}"/>
              </a:ext>
            </a:extLst>
          </p:cNvPr>
          <p:cNvSpPr>
            <a:spLocks xmlns:a="http://schemas.openxmlformats.org/drawingml/2006/main" noGrp="1"/>
          </p:cNvSpPr>
          <p:nvPr/>
        </p:nvSpPr>
        <p:spPr>
          <a:xfrm xmlns:a="http://schemas.openxmlformats.org/drawingml/2006/main">
            <a:off x="1381125" y="3924300"/>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Then add the reading to that group.</a:t>
            </a:r>
          </a:p>
        </p:txBody>
      </p:sp>
      <p:sp>
        <p:nvSpPr>
          <p:cNvPr id="10" name="">
            <a:extLst xmlns:a="http://schemas.openxmlformats.org/drawingml/2006/main">
              <a:ext uri="{FF2B5EF4-FFF2-40B4-BE49-F238E27FC236}">
                <a16:creationId xmlns:a16="http://schemas.microsoft.com/office/drawing/2014/main" id="{8494C2F5-744E-4D78-B336-950F65C6D3AE}"/>
              </a:ext>
            </a:extLst>
          </p:cNvPr>
          <p:cNvSpPr>
            <a:spLocks xmlns:a="http://schemas.openxmlformats.org/drawingml/2006/main" noGrp="1"/>
          </p:cNvSpPr>
          <p:nvPr/>
        </p:nvSpPr>
        <p:spPr>
          <a:xfrm xmlns:a="http://schemas.openxmlformats.org/drawingml/2006/main">
            <a:off x="590550" y="49958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E54F868A-2EC2-44F5-B16E-44A700904129}"/>
              </a:ext>
            </a:extLst>
          </p:cNvPr>
          <p:cNvSpPr>
            <a:spLocks xmlns:a="http://schemas.openxmlformats.org/drawingml/2006/main" noGrp="1"/>
          </p:cNvSpPr>
          <p:nvPr/>
        </p:nvSpPr>
        <p:spPr>
          <a:xfrm xmlns:a="http://schemas.openxmlformats.org/drawingml/2006/main">
            <a:off x="1381125" y="4995863"/>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To calculate group means, keep a matching count and divide each group total by its own count.</a:t>
            </a:r>
          </a:p>
        </p:txBody>
      </p:sp>
      <p:sp>
        <p:nvSpPr>
          <p:cNvPr id="12" name="">
            <a:extLst xmlns:a="http://schemas.openxmlformats.org/drawingml/2006/main">
              <a:ext uri="{FF2B5EF4-FFF2-40B4-BE49-F238E27FC236}">
                <a16:creationId xmlns:a16="http://schemas.microsoft.com/office/drawing/2014/main" id="{38002707-F6D4-4703-B6B2-234207034ECD}"/>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4   62</a:t>
            </a:r>
          </a:p>
        </p:txBody>
      </p:sp>
    </p:spTree>
    <p:extLst>
      <p:ext uri="{BB962C8B-B14F-4D97-AF65-F5344CB8AC3E}">
        <p14:creationId xmlns:p14="http://schemas.microsoft.com/office/powerpoint/2010/main" val="842742537"/>
      </p:ext>
    </p:extLst>
  </p:cSld>
</p:sld>
</file>

<file path=ppt/slides/slide6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0F24DB87-ACCD-447D-A28A-9F7230E57AA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A6A06FA6-2C98-4E20-B0E0-5B278FAB0CF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17A97E73-C587-4E4F-A27E-C3BE0EBA1322}"/>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Summaries for separate groups in Python (1/2)</a:t>
            </a:r>
          </a:p>
        </p:txBody>
      </p:sp>
      <p:sp>
        <p:nvSpPr>
          <p:cNvPr id="4" name="">
            <a:extLst xmlns:a="http://schemas.openxmlformats.org/drawingml/2006/main">
              <a:ext uri="{FF2B5EF4-FFF2-40B4-BE49-F238E27FC236}">
                <a16:creationId xmlns:a16="http://schemas.microsoft.com/office/drawing/2014/main" id="{115446DD-F65F-4309-A796-F3947F6ADC8D}"/>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E702BECD-B728-4055-985C-22B02DC7CED3}"/>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records = [{"group": "A", "reading": 2},</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{"group": "A", "reading": 4},</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{"group": "B", "reading": 9}]</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totals = {}</a:t>
            </a:r>
          </a:p>
          <a:p xmlns:a="http://schemas.openxmlformats.org/drawingml/2006/main">
            <a:pPr>
              <a:defRPr sz="2175" b="0">
                <a:solidFill>
                  <a:srgbClr val="F4F7FA"/>
                </a:solidFill>
                <a:latin typeface="Courier New"/>
                <a:ea typeface="Courier New"/>
                <a:cs typeface="Courier New"/>
              </a:defRPr>
            </a:pPr>
            <a:r>
              <a:rPr sz="2175" b="0">
                <a:solidFill>
                  <a:srgbClr val="FFB080"/>
                </a:solidFill>
                <a:latin typeface="Courier New"/>
                <a:ea typeface="Courier New"/>
                <a:cs typeface="Courier New"/>
              </a:rPr>
              <a:t>for</a:t>
            </a:r>
            <a:r>
              <a:rPr sz="2175" b="0">
                <a:solidFill>
                  <a:srgbClr val="F4F7FA"/>
                </a:solidFill>
                <a:latin typeface="Courier New"/>
                <a:ea typeface="Courier New"/>
                <a:cs typeface="Courier New"/>
              </a:rPr>
              <a:t> row in records:</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group = row["group"]</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a:t>
            </a:r>
            <a:r>
              <a:rPr sz="2175" b="0">
                <a:solidFill>
                  <a:srgbClr val="FFB080"/>
                </a:solidFill>
                <a:latin typeface="Courier New"/>
                <a:ea typeface="Courier New"/>
                <a:cs typeface="Courier New"/>
              </a:rPr>
              <a:t>if</a:t>
            </a:r>
            <a:r>
              <a:rPr sz="2175" b="0">
                <a:solidFill>
                  <a:srgbClr val="F4F7FA"/>
                </a:solidFill>
                <a:latin typeface="Courier New"/>
                <a:ea typeface="Courier New"/>
                <a:cs typeface="Courier New"/>
              </a:rPr>
              <a:t> group not in totals:</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totals[group] = 0</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totals[group] = totals[group] + row["reading"]</a:t>
            </a:r>
          </a:p>
        </p:txBody>
      </p:sp>
      <p:sp>
        <p:nvSpPr>
          <p:cNvPr id="6" name="">
            <a:extLst xmlns:a="http://schemas.openxmlformats.org/drawingml/2006/main">
              <a:ext uri="{FF2B5EF4-FFF2-40B4-BE49-F238E27FC236}">
                <a16:creationId xmlns:a16="http://schemas.microsoft.com/office/drawing/2014/main" id="{F0F092B6-3D16-4811-BCD3-AEA176F8BE97}"/>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for takes the next item. The indented block repeats.</a:t>
            </a:r>
          </a:p>
        </p:txBody>
      </p:sp>
      <p:sp>
        <p:nvSpPr>
          <p:cNvPr id="7" name="">
            <a:extLst xmlns:a="http://schemas.openxmlformats.org/drawingml/2006/main">
              <a:ext uri="{FF2B5EF4-FFF2-40B4-BE49-F238E27FC236}">
                <a16:creationId xmlns:a16="http://schemas.microsoft.com/office/drawing/2014/main" id="{95C70BA8-F0D0-460D-8654-3EAA0410B50A}"/>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Read top to bottom. Run the complete example in the matching practice notebook.</a:t>
            </a:r>
          </a:p>
        </p:txBody>
      </p:sp>
      <p:sp>
        <p:nvSpPr>
          <p:cNvPr id="8" name="">
            <a:extLst xmlns:a="http://schemas.openxmlformats.org/drawingml/2006/main">
              <a:ext uri="{FF2B5EF4-FFF2-40B4-BE49-F238E27FC236}">
                <a16:creationId xmlns:a16="http://schemas.microsoft.com/office/drawing/2014/main" id="{529655D5-81F1-4992-AE64-D3440E0F310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4   63</a:t>
            </a:r>
          </a:p>
        </p:txBody>
      </p:sp>
    </p:spTree>
    <p:extLst>
      <p:ext uri="{BB962C8B-B14F-4D97-AF65-F5344CB8AC3E}">
        <p14:creationId xmlns:p14="http://schemas.microsoft.com/office/powerpoint/2010/main" val="618230708"/>
      </p:ext>
    </p:extLst>
  </p:cSld>
</p:sld>
</file>

<file path=ppt/slides/slide6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25FAAC74-4C6C-44A5-9832-2C5CE70B9939}"/>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4E5A7656-E667-4945-AD8A-AB96C5E7B55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5ABEF540-CFB3-4C55-A57C-B9BD51BAA86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Summaries for separate groups in Python (2/2)</a:t>
            </a:r>
          </a:p>
        </p:txBody>
      </p:sp>
      <p:sp>
        <p:nvSpPr>
          <p:cNvPr id="4" name="">
            <a:extLst xmlns:a="http://schemas.openxmlformats.org/drawingml/2006/main">
              <a:ext uri="{FF2B5EF4-FFF2-40B4-BE49-F238E27FC236}">
                <a16:creationId xmlns:a16="http://schemas.microsoft.com/office/drawing/2014/main" id="{ADB3939A-1661-4B82-8F29-9920A2755688}"/>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DC2F931E-28B6-43D2-B995-57CAF95B1A4E}"/>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print(totals)</a:t>
            </a:r>
          </a:p>
        </p:txBody>
      </p:sp>
      <p:sp>
        <p:nvSpPr>
          <p:cNvPr id="6" name="">
            <a:extLst xmlns:a="http://schemas.openxmlformats.org/drawingml/2006/main">
              <a:ext uri="{FF2B5EF4-FFF2-40B4-BE49-F238E27FC236}">
                <a16:creationId xmlns:a16="http://schemas.microsoft.com/office/drawing/2014/main" id="{2538B504-0D09-4B9C-941D-FC74D5A27175}"/>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66B00663-6D32-46A5-A4BE-48EE6069A472}"/>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print displays a value below the cell.</a:t>
            </a:r>
          </a:p>
        </p:txBody>
      </p:sp>
      <p:sp>
        <p:nvSpPr>
          <p:cNvPr id="8" name="">
            <a:extLst xmlns:a="http://schemas.openxmlformats.org/drawingml/2006/main">
              <a:ext uri="{FF2B5EF4-FFF2-40B4-BE49-F238E27FC236}">
                <a16:creationId xmlns:a16="http://schemas.microsoft.com/office/drawing/2014/main" id="{B1F5FC3A-FAF4-469B-92C3-E2EAA9E0E003}"/>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Continue the SAME cell; keep indentation. Run after all parts are entered.</a:t>
            </a:r>
          </a:p>
        </p:txBody>
      </p:sp>
      <p:sp>
        <p:nvSpPr>
          <p:cNvPr id="9" name="">
            <a:extLst xmlns:a="http://schemas.openxmlformats.org/drawingml/2006/main">
              <a:ext uri="{FF2B5EF4-FFF2-40B4-BE49-F238E27FC236}">
                <a16:creationId xmlns:a16="http://schemas.microsoft.com/office/drawing/2014/main" id="{2F6568E5-C55E-483C-89DA-61A53DD123E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4   64</a:t>
            </a:r>
          </a:p>
        </p:txBody>
      </p:sp>
    </p:spTree>
    <p:extLst>
      <p:ext uri="{BB962C8B-B14F-4D97-AF65-F5344CB8AC3E}">
        <p14:creationId xmlns:p14="http://schemas.microsoft.com/office/powerpoint/2010/main" val="1935555786"/>
      </p:ext>
    </p:extLst>
  </p:cSld>
</p:sld>
</file>

<file path=ppt/slides/slide6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4BADA5A0-A2F8-4C74-86EC-3418B62E1DC4}"/>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9A4B3C2B-F504-42C6-A7B0-297EC12903C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7E87C00B-4144-420B-90DA-FBE4C6BC2F1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group mean needs its own count</a:t>
            </a:r>
          </a:p>
        </p:txBody>
      </p:sp>
      <p:sp>
        <p:nvSpPr>
          <p:cNvPr id="4" name="">
            <a:extLst xmlns:a="http://schemas.openxmlformats.org/drawingml/2006/main">
              <a:ext uri="{FF2B5EF4-FFF2-40B4-BE49-F238E27FC236}">
                <a16:creationId xmlns:a16="http://schemas.microsoft.com/office/drawing/2014/main" id="{9C08A991-0A9B-4B6E-85D4-3FDE0DBF4C53}"/>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E0FE05FB-06F0-4C2C-9408-D5208AB56361}"/>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872D8B1A-E0C6-4915-9EAE-E9803A2ED40C}"/>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The preceding loop calculated a total for each group. Count records in those same groups, then divide each group total by its own count.</a:t>
            </a:r>
          </a:p>
        </p:txBody>
      </p:sp>
      <p:sp>
        <p:nvSpPr>
          <p:cNvPr id="7" name="">
            <a:extLst xmlns:a="http://schemas.openxmlformats.org/drawingml/2006/main">
              <a:ext uri="{FF2B5EF4-FFF2-40B4-BE49-F238E27FC236}">
                <a16:creationId xmlns:a16="http://schemas.microsoft.com/office/drawing/2014/main" id="{4D5D70FC-D97D-4271-8704-579ED575056C}"/>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items() supplies the group name and its total together. We use small invented records, not the assignment’s answers.</a:t>
            </a:r>
          </a:p>
        </p:txBody>
      </p:sp>
      <p:sp>
        <p:nvSpPr>
          <p:cNvPr id="8" name="">
            <a:extLst xmlns:a="http://schemas.openxmlformats.org/drawingml/2006/main">
              <a:ext uri="{FF2B5EF4-FFF2-40B4-BE49-F238E27FC236}">
                <a16:creationId xmlns:a16="http://schemas.microsoft.com/office/drawing/2014/main" id="{B7CB2246-4C84-4A83-B8EF-E2B865F86B9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4   65</a:t>
            </a:r>
          </a:p>
        </p:txBody>
      </p:sp>
    </p:spTree>
    <p:extLst>
      <p:ext uri="{BB962C8B-B14F-4D97-AF65-F5344CB8AC3E}">
        <p14:creationId xmlns:p14="http://schemas.microsoft.com/office/powerpoint/2010/main" val="171469243"/>
      </p:ext>
    </p:extLst>
  </p:cSld>
</p:sld>
</file>

<file path=ppt/slides/slide6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53C16347-7D8D-440E-A705-094C5171BCEC}"/>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7228F4F6-6ED5-4A89-A4BC-D366B9E85CE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69D22A56-B115-4FAE-9F82-6AC3E4459F8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From group totals to group means</a:t>
            </a:r>
          </a:p>
        </p:txBody>
      </p:sp>
      <p:sp>
        <p:nvSpPr>
          <p:cNvPr id="4" name="">
            <a:extLst xmlns:a="http://schemas.openxmlformats.org/drawingml/2006/main">
              <a:ext uri="{FF2B5EF4-FFF2-40B4-BE49-F238E27FC236}">
                <a16:creationId xmlns:a16="http://schemas.microsoft.com/office/drawing/2014/main" id="{BAD67A46-533C-454C-AB65-F42AC0760087}"/>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CA44CD88-9B4E-4351-988D-72225F09BB35}"/>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00" b="0">
                <a:solidFill>
                  <a:srgbClr val="F4F7FA"/>
                </a:solidFill>
                <a:latin typeface="Courier New"/>
                <a:ea typeface="Courier New"/>
                <a:cs typeface="Courier New"/>
              </a:defRPr>
            </a:pPr>
            <a:r>
              <a:rPr sz="1900" b="0">
                <a:solidFill>
                  <a:srgbClr val="F4F7FA"/>
                </a:solidFill>
                <a:latin typeface="Courier New"/>
                <a:ea typeface="Courier New"/>
                <a:cs typeface="Courier New"/>
              </a:rPr>
              <a:t>counts = {}</a:t>
            </a:r>
          </a:p>
          <a:p xmlns:a="http://schemas.openxmlformats.org/drawingml/2006/main">
            <a:pPr>
              <a:defRPr sz="1900" b="0">
                <a:solidFill>
                  <a:srgbClr val="F4F7FA"/>
                </a:solidFill>
                <a:latin typeface="Courier New"/>
                <a:ea typeface="Courier New"/>
                <a:cs typeface="Courier New"/>
              </a:defRPr>
            </a:pPr>
            <a:r>
              <a:rPr sz="1900" b="0">
                <a:solidFill>
                  <a:srgbClr val="FFB080"/>
                </a:solidFill>
                <a:latin typeface="Courier New"/>
                <a:ea typeface="Courier New"/>
                <a:cs typeface="Courier New"/>
              </a:rPr>
              <a:t>for</a:t>
            </a:r>
            <a:r>
              <a:rPr sz="1900" b="0">
                <a:solidFill>
                  <a:srgbClr val="F4F7FA"/>
                </a:solidFill>
                <a:latin typeface="Courier New"/>
                <a:ea typeface="Courier New"/>
                <a:cs typeface="Courier New"/>
              </a:rPr>
              <a:t> row in records:</a:t>
            </a:r>
          </a:p>
          <a:p xmlns:a="http://schemas.openxmlformats.org/drawingml/2006/main">
            <a:pPr>
              <a:defRPr sz="1900" b="0">
                <a:solidFill>
                  <a:srgbClr val="F4F7FA"/>
                </a:solidFill>
                <a:latin typeface="Courier New"/>
                <a:ea typeface="Courier New"/>
                <a:cs typeface="Courier New"/>
              </a:defRPr>
            </a:pPr>
            <a:r>
              <a:rPr sz="1900" b="0">
                <a:solidFill>
                  <a:srgbClr val="F4F7FA"/>
                </a:solidFill>
                <a:latin typeface="Courier New"/>
                <a:ea typeface="Courier New"/>
                <a:cs typeface="Courier New"/>
              </a:rPr>
              <a:t>    group = row["group"]</a:t>
            </a:r>
          </a:p>
          <a:p xmlns:a="http://schemas.openxmlformats.org/drawingml/2006/main">
            <a:pPr>
              <a:defRPr sz="1900" b="0">
                <a:solidFill>
                  <a:srgbClr val="F4F7FA"/>
                </a:solidFill>
                <a:latin typeface="Courier New"/>
                <a:ea typeface="Courier New"/>
                <a:cs typeface="Courier New"/>
              </a:defRPr>
            </a:pPr>
            <a:r>
              <a:rPr sz="1900" b="0">
                <a:solidFill>
                  <a:srgbClr val="F4F7FA"/>
                </a:solidFill>
                <a:latin typeface="Courier New"/>
                <a:ea typeface="Courier New"/>
                <a:cs typeface="Courier New"/>
              </a:rPr>
              <a:t>    counts[group] = counts.get(group, 0) + 1</a:t>
            </a:r>
          </a:p>
          <a:p xmlns:a="http://schemas.openxmlformats.org/drawingml/2006/main">
            <a:pPr>
              <a:defRPr sz="1900" b="0">
                <a:solidFill>
                  <a:srgbClr val="F4F7FA"/>
                </a:solidFill>
                <a:latin typeface="Courier New"/>
                <a:ea typeface="Courier New"/>
                <a:cs typeface="Courier New"/>
              </a:defRPr>
            </a:pPr>
            <a:r>
              <a:rPr sz="1900" b="0">
                <a:solidFill>
                  <a:srgbClr val="F4F7FA"/>
                </a:solidFill>
                <a:latin typeface="Courier New"/>
                <a:ea typeface="Courier New"/>
                <a:cs typeface="Courier New"/>
              </a:rPr>
              <a:t>means = {}</a:t>
            </a:r>
          </a:p>
          <a:p xmlns:a="http://schemas.openxmlformats.org/drawingml/2006/main">
            <a:pPr>
              <a:defRPr sz="1900" b="0">
                <a:solidFill>
                  <a:srgbClr val="F4F7FA"/>
                </a:solidFill>
                <a:latin typeface="Courier New"/>
                <a:ea typeface="Courier New"/>
                <a:cs typeface="Courier New"/>
              </a:defRPr>
            </a:pPr>
            <a:r>
              <a:rPr sz="1900" b="0">
                <a:solidFill>
                  <a:srgbClr val="F4F7FA"/>
                </a:solidFill>
                <a:latin typeface="Courier New"/>
                <a:ea typeface="Courier New"/>
                <a:cs typeface="Courier New"/>
              </a:rPr>
              <a:t>for group, total in totals.items():</a:t>
            </a:r>
          </a:p>
          <a:p xmlns:a="http://schemas.openxmlformats.org/drawingml/2006/main">
            <a:pPr>
              <a:defRPr sz="1900" b="0">
                <a:solidFill>
                  <a:srgbClr val="F4F7FA"/>
                </a:solidFill>
                <a:latin typeface="Courier New"/>
                <a:ea typeface="Courier New"/>
                <a:cs typeface="Courier New"/>
              </a:defRPr>
            </a:pPr>
            <a:r>
              <a:rPr sz="1900" b="0">
                <a:solidFill>
                  <a:srgbClr val="F4F7FA"/>
                </a:solidFill>
                <a:latin typeface="Courier New"/>
                <a:ea typeface="Courier New"/>
                <a:cs typeface="Courier New"/>
              </a:rPr>
              <a:t>    means[group] = total / counts[group]</a:t>
            </a:r>
          </a:p>
          <a:p xmlns:a="http://schemas.openxmlformats.org/drawingml/2006/main">
            <a:pPr>
              <a:defRPr sz="1900" b="0">
                <a:solidFill>
                  <a:srgbClr val="F4F7FA"/>
                </a:solidFill>
                <a:latin typeface="Courier New"/>
                <a:ea typeface="Courier New"/>
                <a:cs typeface="Courier New"/>
              </a:defRPr>
            </a:pPr>
            <a:r>
              <a:rPr sz="1900" b="0">
                <a:solidFill>
                  <a:srgbClr val="F4F7FA"/>
                </a:solidFill>
                <a:latin typeface="Courier New"/>
                <a:ea typeface="Courier New"/>
                <a:cs typeface="Courier New"/>
              </a:rPr>
              <a:t>print(means)</a:t>
            </a:r>
          </a:p>
        </p:txBody>
      </p:sp>
      <p:sp>
        <p:nvSpPr>
          <p:cNvPr id="6" name="">
            <a:extLst xmlns:a="http://schemas.openxmlformats.org/drawingml/2006/main">
              <a:ext uri="{FF2B5EF4-FFF2-40B4-BE49-F238E27FC236}">
                <a16:creationId xmlns:a16="http://schemas.microsoft.com/office/drawing/2014/main" id="{B4002C60-6E52-414F-AD24-883579C10D74}"/>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D46DB917-CFF9-4C8C-AB3F-CCE408C308E8}"/>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for takes the next item. The indented block repeats.</a:t>
            </a:r>
          </a:p>
        </p:txBody>
      </p:sp>
      <p:sp>
        <p:nvSpPr>
          <p:cNvPr id="8" name="">
            <a:extLst xmlns:a="http://schemas.openxmlformats.org/drawingml/2006/main">
              <a:ext uri="{FF2B5EF4-FFF2-40B4-BE49-F238E27FC236}">
                <a16:creationId xmlns:a16="http://schemas.microsoft.com/office/drawing/2014/main" id="{FE97A143-8DB7-4B42-A4BD-41926CB288C1}"/>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print displays a value below the cell.</a:t>
            </a:r>
          </a:p>
        </p:txBody>
      </p:sp>
      <p:sp>
        <p:nvSpPr>
          <p:cNvPr id="9" name="">
            <a:extLst xmlns:a="http://schemas.openxmlformats.org/drawingml/2006/main">
              <a:ext uri="{FF2B5EF4-FFF2-40B4-BE49-F238E27FC236}">
                <a16:creationId xmlns:a16="http://schemas.microsoft.com/office/drawing/2014/main" id="{CFEC447D-F7F9-40E4-B557-432D22756AD4}"/>
              </a:ext>
            </a:extLst>
          </p:cNvPr>
          <p:cNvSpPr>
            <a:spLocks xmlns:a="http://schemas.openxmlformats.org/drawingml/2006/main" noGrp="1"/>
          </p:cNvSpPr>
          <p:nvPr/>
        </p:nvSpPr>
        <p:spPr>
          <a:xfrm xmlns:a="http://schemas.openxmlformats.org/drawingml/2006/main">
            <a:off x="8096250" y="43434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Square brackets create a list or select an item.</a:t>
            </a:r>
          </a:p>
        </p:txBody>
      </p:sp>
      <p:sp>
        <p:nvSpPr>
          <p:cNvPr id="10" name="">
            <a:extLst xmlns:a="http://schemas.openxmlformats.org/drawingml/2006/main">
              <a:ext uri="{FF2B5EF4-FFF2-40B4-BE49-F238E27FC236}">
                <a16:creationId xmlns:a16="http://schemas.microsoft.com/office/drawing/2014/main" id="{47091B17-F6A9-41A8-B68D-279B27455885}"/>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Expected: A has mean 3.0 and B has mean 9.0. Each group uses its own denominator.</a:t>
            </a:r>
          </a:p>
        </p:txBody>
      </p:sp>
      <p:sp>
        <p:nvSpPr>
          <p:cNvPr id="11" name="">
            <a:extLst xmlns:a="http://schemas.openxmlformats.org/drawingml/2006/main">
              <a:ext uri="{FF2B5EF4-FFF2-40B4-BE49-F238E27FC236}">
                <a16:creationId xmlns:a16="http://schemas.microsoft.com/office/drawing/2014/main" id="{9D820C92-3CF4-47CF-86B2-73E7DE29C9C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4   66</a:t>
            </a:r>
          </a:p>
        </p:txBody>
      </p:sp>
    </p:spTree>
    <p:extLst>
      <p:ext uri="{BB962C8B-B14F-4D97-AF65-F5344CB8AC3E}">
        <p14:creationId xmlns:p14="http://schemas.microsoft.com/office/powerpoint/2010/main" val="1062749835"/>
      </p:ext>
    </p:extLst>
  </p:cSld>
</p:sld>
</file>

<file path=ppt/slides/slide6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044BA3CD-2925-4F94-B8D6-23C249AF466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58EC4741-2B7C-4ADC-821C-CF19A759CCD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74FC22B4-1001-4BF0-8794-433F5B7FEAA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When numeric text cannot be converted</a:t>
            </a:r>
          </a:p>
        </p:txBody>
      </p:sp>
      <p:sp>
        <p:nvSpPr>
          <p:cNvPr id="4" name="">
            <a:extLst xmlns:a="http://schemas.openxmlformats.org/drawingml/2006/main">
              <a:ext uri="{FF2B5EF4-FFF2-40B4-BE49-F238E27FC236}">
                <a16:creationId xmlns:a16="http://schemas.microsoft.com/office/drawing/2014/main" id="{BECAD89D-8723-460B-AA71-F19376D84CF7}"/>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A81541E0-0651-41BD-9AA0-8F45ABBBE387}"/>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25273D8B-C88A-4F92-B8C3-96AD78DE785D}"/>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float("bad") raises ValueError: the text does not represent a number. An exception interrupts ordinary execution.</a:t>
            </a:r>
          </a:p>
        </p:txBody>
      </p:sp>
      <p:sp>
        <p:nvSpPr>
          <p:cNvPr id="7" name="">
            <a:extLst xmlns:a="http://schemas.openxmlformats.org/drawingml/2006/main">
              <a:ext uri="{FF2B5EF4-FFF2-40B4-BE49-F238E27FC236}">
                <a16:creationId xmlns:a16="http://schemas.microsoft.com/office/drawing/2014/main" id="{60A4222A-F86B-4BDD-87B1-77FA1D80D064}"/>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try contains the operation that might fail. except ValueError runs only for that named failure. Indentation shows the two blocks.</a:t>
            </a:r>
          </a:p>
        </p:txBody>
      </p:sp>
      <p:sp>
        <p:nvSpPr>
          <p:cNvPr id="8" name="">
            <a:extLst xmlns:a="http://schemas.openxmlformats.org/drawingml/2006/main">
              <a:ext uri="{FF2B5EF4-FFF2-40B4-BE49-F238E27FC236}">
                <a16:creationId xmlns:a16="http://schemas.microsoft.com/office/drawing/2014/main" id="{49C9E01A-BBB7-4612-B48B-FC6AE2AD5CF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4   67</a:t>
            </a:r>
          </a:p>
        </p:txBody>
      </p:sp>
    </p:spTree>
    <p:extLst>
      <p:ext uri="{BB962C8B-B14F-4D97-AF65-F5344CB8AC3E}">
        <p14:creationId xmlns:p14="http://schemas.microsoft.com/office/powerpoint/2010/main" val="722427196"/>
      </p:ext>
    </p:extLst>
  </p:cSld>
</p:sld>
</file>

<file path=ppt/slides/slide6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4A00B3CA-4D53-4BD1-9555-7A5D33BEC47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6DDCE430-C8BF-4BE0-A95C-2846A347357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0C3995E9-AB66-4858-835E-CF4BA00C348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Catch one expected conversion failure</a:t>
            </a:r>
          </a:p>
        </p:txBody>
      </p:sp>
      <p:sp>
        <p:nvSpPr>
          <p:cNvPr id="4" name="">
            <a:extLst xmlns:a="http://schemas.openxmlformats.org/drawingml/2006/main">
              <a:ext uri="{FF2B5EF4-FFF2-40B4-BE49-F238E27FC236}">
                <a16:creationId xmlns:a16="http://schemas.microsoft.com/office/drawing/2014/main" id="{01F71C63-D82F-46C7-BFFB-6557C75B0467}"/>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61BF15DE-2850-4D1D-9345-380FF4BF673C}"/>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text = "bad"</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try:</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reading = float(text)</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except ValueError:</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reading = </a:t>
            </a:r>
            <a:r>
              <a:rPr sz="2175" b="0">
                <a:solidFill>
                  <a:srgbClr val="FFB080"/>
                </a:solidFill>
                <a:latin typeface="Courier New"/>
                <a:ea typeface="Courier New"/>
                <a:cs typeface="Courier New"/>
              </a:rPr>
              <a:t>None</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print(reading)</a:t>
            </a:r>
          </a:p>
        </p:txBody>
      </p:sp>
      <p:sp>
        <p:nvSpPr>
          <p:cNvPr id="6" name="">
            <a:extLst xmlns:a="http://schemas.openxmlformats.org/drawingml/2006/main">
              <a:ext uri="{FF2B5EF4-FFF2-40B4-BE49-F238E27FC236}">
                <a16:creationId xmlns:a16="http://schemas.microsoft.com/office/drawing/2014/main" id="{9B5CE247-1B6B-4281-A617-65D593FC2A25}"/>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6D04E736-2348-43EB-9D38-9D04AA48DE50}"/>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float converts numeric text into a decimal number.</a:t>
            </a:r>
          </a:p>
        </p:txBody>
      </p:sp>
      <p:sp>
        <p:nvSpPr>
          <p:cNvPr id="8" name="">
            <a:extLst xmlns:a="http://schemas.openxmlformats.org/drawingml/2006/main">
              <a:ext uri="{FF2B5EF4-FFF2-40B4-BE49-F238E27FC236}">
                <a16:creationId xmlns:a16="http://schemas.microsoft.com/office/drawing/2014/main" id="{BAA4F5C3-267F-4AA9-AC42-6650C24D3615}"/>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print displays a value below the cell.</a:t>
            </a:r>
          </a:p>
        </p:txBody>
      </p:sp>
      <p:sp>
        <p:nvSpPr>
          <p:cNvPr id="9" name="">
            <a:extLst xmlns:a="http://schemas.openxmlformats.org/drawingml/2006/main">
              <a:ext uri="{FF2B5EF4-FFF2-40B4-BE49-F238E27FC236}">
                <a16:creationId xmlns:a16="http://schemas.microsoft.com/office/drawing/2014/main" id="{421022AC-AD3F-4571-9231-E36AD7CF2ED8}"/>
              </a:ext>
            </a:extLst>
          </p:cNvPr>
          <p:cNvSpPr>
            <a:spLocks xmlns:a="http://schemas.openxmlformats.org/drawingml/2006/main" noGrp="1"/>
          </p:cNvSpPr>
          <p:nvPr/>
        </p:nvSpPr>
        <p:spPr>
          <a:xfrm xmlns:a="http://schemas.openxmlformats.org/drawingml/2006/main">
            <a:off x="8096250" y="43434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 assigns the value on the right to the name on the left.</a:t>
            </a:r>
          </a:p>
        </p:txBody>
      </p:sp>
      <p:sp>
        <p:nvSpPr>
          <p:cNvPr id="10" name="">
            <a:extLst xmlns:a="http://schemas.openxmlformats.org/drawingml/2006/main">
              <a:ext uri="{FF2B5EF4-FFF2-40B4-BE49-F238E27FC236}">
                <a16:creationId xmlns:a16="http://schemas.microsoft.com/office/drawing/2014/main" id="{5D336F70-8FE2-4C0F-8339-99637A799643}"/>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Expected: None. The assignment specifies which invalid records to skip; do not invent a replacement number.</a:t>
            </a:r>
          </a:p>
        </p:txBody>
      </p:sp>
      <p:sp>
        <p:nvSpPr>
          <p:cNvPr id="11" name="">
            <a:extLst xmlns:a="http://schemas.openxmlformats.org/drawingml/2006/main">
              <a:ext uri="{FF2B5EF4-FFF2-40B4-BE49-F238E27FC236}">
                <a16:creationId xmlns:a16="http://schemas.microsoft.com/office/drawing/2014/main" id="{F2F010DD-5EB0-49B8-8D81-E4A93D58097D}"/>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4   68</a:t>
            </a:r>
          </a:p>
        </p:txBody>
      </p:sp>
    </p:spTree>
    <p:extLst>
      <p:ext uri="{BB962C8B-B14F-4D97-AF65-F5344CB8AC3E}">
        <p14:creationId xmlns:p14="http://schemas.microsoft.com/office/powerpoint/2010/main" val="1320434101"/>
      </p:ext>
    </p:extLst>
  </p:cSld>
</p:sld>
</file>

<file path=ppt/slides/slide6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3C2D9084-B80B-48F9-856E-4328C425B669}"/>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824540A-CB53-4772-86CA-E832BF555AA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READ THE EXAMPLE</a:t>
            </a:r>
          </a:p>
        </p:txBody>
      </p:sp>
      <p:sp>
        <p:nvSpPr>
          <p:cNvPr id="3" name="">
            <a:extLst xmlns:a="http://schemas.openxmlformats.org/drawingml/2006/main">
              <a:ext uri="{FF2B5EF4-FFF2-40B4-BE49-F238E27FC236}">
                <a16:creationId xmlns:a16="http://schemas.microsoft.com/office/drawing/2014/main" id="{ABD70C4F-7927-4418-BE0B-288F9311E21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Trace conversion success and failure</a:t>
            </a:r>
          </a:p>
        </p:txBody>
      </p:sp>
      <p:graphicFrame>
        <p:nvGraphicFramePr>
          <p:cNvPr id="10" name=""/>
          <p:cNvGraphicFramePr/>
          <p:nvPr/>
        </p:nvGraphicFramePr>
        <p:xfrm>
          <a:off xmlns:a="http://schemas.openxmlformats.org/drawingml/2006/main" x="590550" y="1733550"/>
          <a:ext xmlns:a="http://schemas.openxmlformats.org/drawingml/2006/main" cx="11010900" cy="2286000"/>
        </p:xfrm>
        <a:graphic xmlns:a="http://schemas.openxmlformats.org/drawingml/2006/main">
          <a:graphicData uri="http://schemas.openxmlformats.org/drawingml/2006/table">
            <a:tbl>
              <a:tblPr/>
              <a:tblGrid>
                <a:gridCol w="3670300"/>
                <a:gridCol w="3670300"/>
                <a:gridCol w="3670300"/>
              </a:tblGrid>
              <a:tr h="762000">
                <a:tc>
                  <a:txBody>
                    <a:bodyPr/>
                    <a:lstStyle/>
                    <a:p>
                      <a:r>
                        <a:rPr sz="2025" b="1">
                          <a:solidFill>
                            <a:srgbClr val="FFFFFF"/>
                          </a:solidFill>
                          <a:latin typeface="Calibri"/>
                          <a:ea typeface="Calibri"/>
                          <a:cs typeface="Calibri"/>
                        </a:rPr>
                        <a:t>Text supplied</a:t>
                      </a:r>
                    </a:p>
                  </a:txBody>
                  <a:tcPr marL="91440" marR="91440" marT="45720" marB="45720">
                    <a:solidFill>
                      <a:srgbClr val="2E7D6F"/>
                    </a:solidFill>
                  </a:tcPr>
                </a:tc>
                <a:tc>
                  <a:txBody>
                    <a:bodyPr/>
                    <a:lstStyle/>
                    <a:p>
                      <a:r>
                        <a:rPr sz="2025" b="1">
                          <a:solidFill>
                            <a:srgbClr val="FFFFFF"/>
                          </a:solidFill>
                          <a:latin typeface="Calibri"/>
                          <a:ea typeface="Calibri"/>
                          <a:cs typeface="Calibri"/>
                        </a:rPr>
                        <a:t>try block</a:t>
                      </a:r>
                    </a:p>
                  </a:txBody>
                  <a:tcPr marL="91440" marR="91440" marT="45720" marB="45720">
                    <a:solidFill>
                      <a:srgbClr val="2E7D6F"/>
                    </a:solidFill>
                  </a:tcPr>
                </a:tc>
                <a:tc>
                  <a:txBody>
                    <a:bodyPr/>
                    <a:lstStyle/>
                    <a:p>
                      <a:r>
                        <a:rPr sz="2025" b="1">
                          <a:solidFill>
                            <a:srgbClr val="FFFFFF"/>
                          </a:solidFill>
                          <a:latin typeface="Calibri"/>
                          <a:ea typeface="Calibri"/>
                          <a:cs typeface="Calibri"/>
                        </a:rPr>
                        <a:t>Result after except</a:t>
                      </a:r>
                    </a:p>
                  </a:txBody>
                  <a:tcPr marL="91440" marR="91440" marT="45720" marB="45720">
                    <a:solidFill>
                      <a:srgbClr val="2E7D6F"/>
                    </a:solidFill>
                  </a:tcPr>
                </a:tc>
              </a:tr>
              <a:tr h="762000">
                <a:tc>
                  <a:txBody>
                    <a:bodyPr/>
                    <a:lstStyle/>
                    <a:p>
                      <a:r>
                        <a:rPr sz="2025" b="0">
                          <a:solidFill>
                            <a:srgbClr val="1C3144"/>
                          </a:solidFill>
                          <a:latin typeface="Calibri"/>
                          <a:ea typeface="Calibri"/>
                          <a:cs typeface="Calibri"/>
                        </a:rPr>
                        <a:t>"2.5"</a:t>
                      </a:r>
                    </a:p>
                  </a:txBody>
                  <a:tcPr marL="91440" marR="91440" marT="45720" marB="45720">
                    <a:solidFill>
                      <a:srgbClr val="EEF3F6"/>
                    </a:solidFill>
                  </a:tcPr>
                </a:tc>
                <a:tc>
                  <a:txBody>
                    <a:bodyPr/>
                    <a:lstStyle/>
                    <a:p>
                      <a:r>
                        <a:rPr sz="2025" b="0">
                          <a:solidFill>
                            <a:srgbClr val="1C3144"/>
                          </a:solidFill>
                          <a:latin typeface="Calibri"/>
                          <a:ea typeface="Calibri"/>
                          <a:cs typeface="Calibri"/>
                        </a:rPr>
                        <a:t>float succeeds; skip except</a:t>
                      </a:r>
                    </a:p>
                  </a:txBody>
                  <a:tcPr marL="91440" marR="91440" marT="45720" marB="45720">
                    <a:solidFill>
                      <a:srgbClr val="EEF3F6"/>
                    </a:solidFill>
                  </a:tcPr>
                </a:tc>
                <a:tc>
                  <a:txBody>
                    <a:bodyPr/>
                    <a:lstStyle/>
                    <a:p>
                      <a:r>
                        <a:rPr sz="2025" b="0">
                          <a:solidFill>
                            <a:srgbClr val="1C3144"/>
                          </a:solidFill>
                          <a:latin typeface="Calibri"/>
                          <a:ea typeface="Calibri"/>
                          <a:cs typeface="Calibri"/>
                        </a:rPr>
                        <a:t>2.5</a:t>
                      </a:r>
                    </a:p>
                  </a:txBody>
                  <a:tcPr marL="91440" marR="91440" marT="45720" marB="45720">
                    <a:solidFill>
                      <a:srgbClr val="EEF3F6"/>
                    </a:solidFill>
                  </a:tcPr>
                </a:tc>
              </a:tr>
              <a:tr h="762000">
                <a:tc>
                  <a:txBody>
                    <a:bodyPr/>
                    <a:lstStyle/>
                    <a:p>
                      <a:r>
                        <a:rPr sz="2025" b="0">
                          <a:solidFill>
                            <a:srgbClr val="1C3144"/>
                          </a:solidFill>
                          <a:latin typeface="Calibri"/>
                          <a:ea typeface="Calibri"/>
                          <a:cs typeface="Calibri"/>
                        </a:rPr>
                        <a:t>"bad"</a:t>
                      </a:r>
                    </a:p>
                  </a:txBody>
                  <a:tcPr marL="91440" marR="91440" marT="45720" marB="45720">
                    <a:solidFill>
                      <a:srgbClr val="FFFFFF"/>
                    </a:solidFill>
                  </a:tcPr>
                </a:tc>
                <a:tc>
                  <a:txBody>
                    <a:bodyPr/>
                    <a:lstStyle/>
                    <a:p>
                      <a:r>
                        <a:rPr sz="2025" b="0">
                          <a:solidFill>
                            <a:srgbClr val="1C3144"/>
                          </a:solidFill>
                          <a:latin typeface="Calibri"/>
                          <a:ea typeface="Calibri"/>
                          <a:cs typeface="Calibri"/>
                        </a:rPr>
                        <a:t>float raises ValueError</a:t>
                      </a:r>
                    </a:p>
                  </a:txBody>
                  <a:tcPr marL="91440" marR="91440" marT="45720" marB="45720">
                    <a:solidFill>
                      <a:srgbClr val="FFFFFF"/>
                    </a:solidFill>
                  </a:tcPr>
                </a:tc>
                <a:tc>
                  <a:txBody>
                    <a:bodyPr/>
                    <a:lstStyle/>
                    <a:p>
                      <a:r>
                        <a:rPr sz="2025" b="0">
                          <a:solidFill>
                            <a:srgbClr val="1C3144"/>
                          </a:solidFill>
                          <a:latin typeface="Calibri"/>
                          <a:ea typeface="Calibri"/>
                          <a:cs typeface="Calibri"/>
                        </a:rPr>
                        <a:t>None assigned by except</a:t>
                      </a:r>
                    </a:p>
                  </a:txBody>
                  <a:tcPr marL="91440" marR="91440" marT="45720" marB="45720">
                    <a:solidFill>
                      <a:srgbClr val="FFFFFF"/>
                    </a:solidFill>
                  </a:tcPr>
                </a:tc>
              </a:tr>
            </a:tbl>
          </a:graphicData>
        </a:graphic>
      </p:graphicFrame>
      <p:sp>
        <p:nvSpPr>
          <p:cNvPr id="5" name="">
            <a:extLst xmlns:a="http://schemas.openxmlformats.org/drawingml/2006/main">
              <a:ext uri="{FF2B5EF4-FFF2-40B4-BE49-F238E27FC236}">
                <a16:creationId xmlns:a16="http://schemas.microsoft.com/office/drawing/2014/main" id="{553BC020-D535-4C1C-B013-4BB99BE1E41B}"/>
              </a:ext>
            </a:extLst>
          </p:cNvPr>
          <p:cNvSpPr>
            <a:spLocks xmlns:a="http://schemas.openxmlformats.org/drawingml/2006/main" noGrp="1"/>
          </p:cNvSpPr>
          <p:nvPr/>
        </p:nvSpPr>
        <p:spPr>
          <a:xfrm xmlns:a="http://schemas.openxmlformats.org/drawingml/2006/main">
            <a:off x="685800" y="4333875"/>
            <a:ext cx="106680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Only the named conversion failure is handled. Do not use except: pass to hide unrelated errors.</a:t>
            </a:r>
          </a:p>
        </p:txBody>
      </p:sp>
      <p:sp>
        <p:nvSpPr>
          <p:cNvPr id="6" name="">
            <a:extLst xmlns:a="http://schemas.openxmlformats.org/drawingml/2006/main">
              <a:ext uri="{FF2B5EF4-FFF2-40B4-BE49-F238E27FC236}">
                <a16:creationId xmlns:a16="http://schemas.microsoft.com/office/drawing/2014/main" id="{AE7780E7-AAB9-4799-BD72-6F8C8B3C125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4   69</a:t>
            </a:r>
          </a:p>
        </p:txBody>
      </p:sp>
    </p:spTree>
    <p:extLst>
      <p:ext uri="{BB962C8B-B14F-4D97-AF65-F5344CB8AC3E}">
        <p14:creationId xmlns:p14="http://schemas.microsoft.com/office/powerpoint/2010/main" val="1990336549"/>
      </p:ext>
    </p:extLst>
  </p:cSld>
</p:sld>
</file>

<file path=ppt/slides/slide7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046CC382-74F3-4BD5-A059-DB79282AA4B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ADB9F799-C86F-441C-B52B-1C162E91817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1642D80A-8773-4106-AA95-4381C3124836}"/>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Revision example and answer</a:t>
            </a:r>
          </a:p>
        </p:txBody>
      </p:sp>
      <p:sp>
        <p:nvSpPr>
          <p:cNvPr id="4" name="">
            <a:extLst xmlns:a="http://schemas.openxmlformats.org/drawingml/2006/main">
              <a:ext uri="{FF2B5EF4-FFF2-40B4-BE49-F238E27FC236}">
                <a16:creationId xmlns:a16="http://schemas.microsoft.com/office/drawing/2014/main" id="{28472168-9E55-4BBE-9D88-C06E4C82FB7B}"/>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C9BB879F-CA6E-46E2-97A8-508D324FA7CA}"/>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885BEBBF-075C-4F71-85B0-023D9B50734D}"/>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Example: Add 8 to the list. Trace the new total and count before running. What happens if total = 0 is moved inside the loop?</a:t>
            </a:r>
          </a:p>
        </p:txBody>
      </p:sp>
      <p:sp>
        <p:nvSpPr>
          <p:cNvPr id="7" name="">
            <a:extLst xmlns:a="http://schemas.openxmlformats.org/drawingml/2006/main">
              <a:ext uri="{FF2B5EF4-FFF2-40B4-BE49-F238E27FC236}">
                <a16:creationId xmlns:a16="http://schemas.microsoft.com/office/drawing/2014/main" id="{1E59AC41-390D-4A51-97F3-FDCEC6FAE2F6}"/>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Answer: Total 20, count 4, mean 5.0. Resetting inside the loop discards previous additions and leaves only the last value in total.</a:t>
            </a:r>
          </a:p>
        </p:txBody>
      </p:sp>
      <p:sp>
        <p:nvSpPr>
          <p:cNvPr id="8" name="">
            <a:extLst xmlns:a="http://schemas.openxmlformats.org/drawingml/2006/main">
              <a:ext uri="{FF2B5EF4-FFF2-40B4-BE49-F238E27FC236}">
                <a16:creationId xmlns:a16="http://schemas.microsoft.com/office/drawing/2014/main" id="{B77FB8A0-298B-4FDE-9C30-B9216B10644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4   70</a:t>
            </a:r>
          </a:p>
        </p:txBody>
      </p:sp>
    </p:spTree>
    <p:extLst>
      <p:ext uri="{BB962C8B-B14F-4D97-AF65-F5344CB8AC3E}">
        <p14:creationId xmlns:p14="http://schemas.microsoft.com/office/powerpoint/2010/main" val="1904565906"/>
      </p:ext>
    </p:extLst>
  </p:cSld>
</p:sld>
</file>

<file path=ppt/slides/slide7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3BAC6B2F-E406-48AA-96EE-579D7D430B2C}"/>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07E290C6-181C-46E5-A7C6-B8856A219497}"/>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E45367FD-5076-4DD3-B04E-8B1A626DB02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Preparing for the assignment</a:t>
            </a:r>
          </a:p>
        </p:txBody>
      </p:sp>
      <p:sp>
        <p:nvSpPr>
          <p:cNvPr id="4" name="">
            <a:extLst xmlns:a="http://schemas.openxmlformats.org/drawingml/2006/main">
              <a:ext uri="{FF2B5EF4-FFF2-40B4-BE49-F238E27FC236}">
                <a16:creationId xmlns:a16="http://schemas.microsoft.com/office/drawing/2014/main" id="{84575B82-DD2C-4EBE-81C7-3E48E2BECE91}"/>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73FACD17-256E-4CDD-B39D-71ED239706BC}"/>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Open the issued W04 notebook and its cohort CSV.</a:t>
            </a:r>
          </a:p>
        </p:txBody>
      </p:sp>
      <p:sp>
        <p:nvSpPr>
          <p:cNvPr id="6" name="">
            <a:extLst xmlns:a="http://schemas.openxmlformats.org/drawingml/2006/main">
              <a:ext uri="{FF2B5EF4-FFF2-40B4-BE49-F238E27FC236}">
                <a16:creationId xmlns:a16="http://schemas.microsoft.com/office/drawing/2014/main" id="{9483E035-39F6-4586-A77E-ECE388D82129}"/>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75B4A3B1-463F-476C-B2D8-D85231C41E48}"/>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Compute the requested valid_count, mean_reading, above_limit and group_means using the exact names in the notebook.</a:t>
            </a:r>
          </a:p>
        </p:txBody>
      </p:sp>
      <p:sp>
        <p:nvSpPr>
          <p:cNvPr id="8" name="">
            <a:extLst xmlns:a="http://schemas.openxmlformats.org/drawingml/2006/main">
              <a:ext uri="{FF2B5EF4-FFF2-40B4-BE49-F238E27FC236}">
                <a16:creationId xmlns:a16="http://schemas.microsoft.com/office/drawing/2014/main" id="{1A0FCD58-943D-4B95-B333-29AF384F88CC}"/>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864D4EEE-DEB7-4499-805D-3D93D1647241}"/>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First identify the correct field and its unit.</a:t>
            </a:r>
          </a:p>
        </p:txBody>
      </p:sp>
      <p:sp>
        <p:nvSpPr>
          <p:cNvPr id="10" name="">
            <a:extLst xmlns:a="http://schemas.openxmlformats.org/drawingml/2006/main">
              <a:ext uri="{FF2B5EF4-FFF2-40B4-BE49-F238E27FC236}">
                <a16:creationId xmlns:a16="http://schemas.microsoft.com/office/drawing/2014/main" id="{1010B45A-CD25-4912-8DF2-95D3A5419124}"/>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A91DB4A1-9BA5-410D-A6CA-C5C6850769DD}"/>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Keep the CSV beside the notebook locally or upload it into the Colab runtime.</a:t>
            </a:r>
          </a:p>
        </p:txBody>
      </p:sp>
      <p:sp>
        <p:nvSpPr>
          <p:cNvPr id="12" name="">
            <a:extLst xmlns:a="http://schemas.openxmlformats.org/drawingml/2006/main">
              <a:ext uri="{FF2B5EF4-FFF2-40B4-BE49-F238E27FC236}">
                <a16:creationId xmlns:a16="http://schemas.microsoft.com/office/drawing/2014/main" id="{1973180D-4956-4110-A0C4-3AEE3109085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4   71</a:t>
            </a:r>
          </a:p>
        </p:txBody>
      </p:sp>
    </p:spTree>
    <p:extLst>
      <p:ext uri="{BB962C8B-B14F-4D97-AF65-F5344CB8AC3E}">
        <p14:creationId xmlns:p14="http://schemas.microsoft.com/office/powerpoint/2010/main" val="296277292"/>
      </p:ext>
    </p:extLst>
  </p:cSld>
</p:sld>
</file>

<file path=ppt/slides/slide7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C8B581FC-BCEF-45F6-B4FA-2A692AA4A51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AABBB4DB-BCC5-4706-9AAA-4047322F284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FE5B2539-17B2-4722-B59C-CFCAFA64BA6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Preparing for the assignment continued</a:t>
            </a:r>
          </a:p>
        </p:txBody>
      </p:sp>
      <p:sp>
        <p:nvSpPr>
          <p:cNvPr id="4" name="">
            <a:extLst xmlns:a="http://schemas.openxmlformats.org/drawingml/2006/main">
              <a:ext uri="{FF2B5EF4-FFF2-40B4-BE49-F238E27FC236}">
                <a16:creationId xmlns:a16="http://schemas.microsoft.com/office/drawing/2014/main" id="{97E3F3D0-46C4-43EF-9980-322302863A8A}"/>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35539405-9A7F-45E6-BD23-6921C81FD174}"/>
              </a:ext>
            </a:extLst>
          </p:cNvPr>
          <p:cNvSpPr>
            <a:spLocks xmlns:a="http://schemas.openxmlformats.org/drawingml/2006/main" noGrp="1"/>
          </p:cNvSpPr>
          <p:nvPr/>
        </p:nvSpPr>
        <p:spPr>
          <a:xfrm xmlns:a="http://schemas.openxmlformats.org/drawingml/2006/main">
            <a:off x="1381125" y="1781175"/>
            <a:ext cx="10096500" cy="420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written interpretation is practice.</a:t>
            </a:r>
          </a:p>
        </p:txBody>
      </p:sp>
      <p:sp>
        <p:nvSpPr>
          <p:cNvPr id="6" name="">
            <a:extLst xmlns:a="http://schemas.openxmlformats.org/drawingml/2006/main">
              <a:ext uri="{FF2B5EF4-FFF2-40B4-BE49-F238E27FC236}">
                <a16:creationId xmlns:a16="http://schemas.microsoft.com/office/drawing/2014/main" id="{974F57C1-A2EF-4366-9660-F21586298C4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4   72</a:t>
            </a:r>
          </a:p>
        </p:txBody>
      </p:sp>
    </p:spTree>
    <p:extLst>
      <p:ext uri="{BB962C8B-B14F-4D97-AF65-F5344CB8AC3E}">
        <p14:creationId xmlns:p14="http://schemas.microsoft.com/office/powerpoint/2010/main" val="1974319402"/>
      </p:ext>
    </p:extLst>
  </p:cSld>
</p:sld>
</file>

<file path=ppt/slides/slide73.xml><?xml version="1.0" encoding="utf-8"?>
<p:sld xmlns:a="http://schemas.openxmlformats.org/drawingml/2006/main" xmlns:ns2="http://schemas.microsoft.com/office/drawing/2014/main" xmlns:ns3="http://schemas.microsoft.com/office/powerpoint/2010/main" xmlns:p="http://schemas.openxmlformats.org/presentationml/2006/main">
  <p:cSld>
    <p:bg>
      <p:bgPr>
        <a:solidFill>
          <a:srgbClr val="FFFFFF"/>
        </a:solidFill>
      </p:bgPr>
    </p:bg>
    <p:spTree>
      <p:nvGrpSpPr>
        <p:cNvPr id="1" name=""/>
        <p:cNvGrpSpPr/>
        <p:nvPr/>
      </p:nvGrpSpPr>
      <p:grpSpPr>
        <a:xfrm/>
      </p:grpSpPr>
      <p:sp>
        <p:nvSpPr>
          <p:cNvPr id="13" name="">
            <a:extLst>
              <a:ext uri="{FF2B5EF4-FFF2-40B4-BE49-F238E27FC236}">
                <ns2:creationId id="{BAA391F7-62D9-4F8D-BC2C-C41C3B0DE3CB}"/>
              </a:ext>
            </a:extLst>
          </p:cNvPr>
          <p:cNvSpPr>
            <a:spLocks noGrp="1"/>
          </p:cNvSpPr>
          <p:nvPr/>
        </p:nvSpPr>
        <p:spPr>
          <a:xfrm>
            <a:off x="0" y="0"/>
            <a:ext cx="12191695" cy="1390650"/>
          </a:xfrm>
          <a:prstGeom prst="rect">
            <a:avLst/>
          </a:prstGeom>
          <a:solidFill>
            <a:srgbClr val="1C3144"/>
          </a:solidFill>
          <a:ln w="0">
            <a:noFill/>
          </a:ln>
        </p:spPr>
      </p:sp>
      <p:sp>
        <p:nvSpPr>
          <p:cNvPr id="2" name="">
            <a:extLst>
              <a:ext uri="{FF2B5EF4-FFF2-40B4-BE49-F238E27FC236}">
                <ns2:creationId id="{D953126F-FAC3-4FEE-A774-62D8495B80C1}"/>
              </a:ext>
            </a:extLst>
          </p:cNvPr>
          <p:cNvSpPr>
            <a:spLocks noGrp="1"/>
          </p:cNvSpPr>
          <p:nvPr/>
        </p:nvSpPr>
        <p:spPr>
          <a:xfrm>
            <a:off x="590550" y="180975"/>
            <a:ext cx="11049000" cy="285750"/>
          </a:xfrm>
          <a:prstGeom prst="rect">
            <a:avLst/>
          </a:prstGeom>
          <a:noFill/>
          <a:ln w="0">
            <a:noFill/>
          </a:ln>
        </p:spPr>
        <p:txBody>
          <a:bodyPr>
            <a:noAutofit/>
          </a:bodyPr>
          <a:lstStyle/>
          <a:p>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a:ext uri="{FF2B5EF4-FFF2-40B4-BE49-F238E27FC236}">
                <ns2:creationId id="{3E952D99-49A1-49F4-8E80-7C8E64BE00C9}"/>
              </a:ext>
            </a:extLst>
          </p:cNvPr>
          <p:cNvSpPr>
            <a:spLocks noGrp="1"/>
          </p:cNvSpPr>
          <p:nvPr/>
        </p:nvSpPr>
        <p:spPr>
          <a:xfrm>
            <a:off x="590550" y="523875"/>
            <a:ext cx="11049000" cy="809625"/>
          </a:xfrm>
          <a:prstGeom prst="rect">
            <a:avLst/>
          </a:prstGeom>
          <a:noFill/>
          <a:ln w="0">
            <a:noFill/>
          </a:ln>
        </p:spPr>
        <p:txBody>
          <a:bodyPr>
            <a:noAutofit/>
          </a:bodyPr>
          <a:lstStyle/>
          <a:p>
            <a:pPr>
              <a:defRPr sz="3150" b="1">
                <a:solidFill>
                  <a:srgbClr val="FFFFFF"/>
                </a:solidFill>
                <a:latin typeface="Calibri"/>
                <a:ea typeface="Calibri"/>
                <a:cs typeface="Calibri"/>
              </a:defRPr>
            </a:pPr>
            <a:r>
              <a:rPr sz="3150" b="1">
                <a:solidFill>
                  <a:srgbClr val="FFFFFF"/>
                </a:solidFill>
                <a:latin typeface="Calibri"/>
                <a:ea typeface="Calibri"/>
                <a:cs typeface="Calibri"/>
              </a:rPr>
              <a:t>Counting every record</a:t>
            </a:r>
          </a:p>
        </p:txBody>
      </p:sp>
      <p:sp>
        <p:nvSpPr>
          <p:cNvPr id="4" name="">
            <a:extLst>
              <a:ext uri="{FF2B5EF4-FFF2-40B4-BE49-F238E27FC236}">
                <ns2:creationId id="{330C30C1-12F4-426E-BCA3-C0043D74D999}"/>
              </a:ext>
            </a:extLst>
          </p:cNvPr>
          <p:cNvSpPr>
            <a:spLocks noGrp="1"/>
          </p:cNvSpPr>
          <p:nvPr/>
        </p:nvSpPr>
        <p:spPr>
          <a:xfrm>
            <a:off x="590550" y="1781175"/>
            <a:ext cx="619125" cy="571500"/>
          </a:xfrm>
          <a:prstGeom prst="rect">
            <a:avLst/>
          </a:prstGeom>
          <a:noFill/>
          <a:ln w="0">
            <a:noFill/>
          </a:ln>
        </p:spPr>
        <p:txBody>
          <a:bodyPr>
            <a:noAutofit/>
          </a:bodyPr>
          <a:lstStyle/>
          <a:p>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a:ext uri="{FF2B5EF4-FFF2-40B4-BE49-F238E27FC236}">
                <ns2:creationId id="{72D67BAB-E927-4D20-AD25-9C62854D9F5F}"/>
              </a:ext>
            </a:extLst>
          </p:cNvPr>
          <p:cNvSpPr>
            <a:spLocks noGrp="1"/>
          </p:cNvSpPr>
          <p:nvPr/>
        </p:nvSpPr>
        <p:spPr>
          <a:xfrm>
            <a:off x="1381125" y="1781175"/>
            <a:ext cx="10096500" cy="995363"/>
          </a:xfrm>
          <a:prstGeom prst="rect">
            <a:avLst/>
          </a:prstGeom>
          <a:noFill/>
          <a:ln w="0">
            <a:noFill/>
          </a:ln>
        </p:spPr>
        <p:txBody>
          <a:bodyPr>
            <a:noAutofit/>
          </a:bodyPr>
          <a:lstStyle/>
          <a:p>
            <a:pPr>
              <a:defRPr sz="2250" b="0">
                <a:solidFill>
                  <a:srgbClr val="1C3144"/>
                </a:solidFill>
                <a:latin typeface="Calibri"/>
                <a:ea typeface="Calibri"/>
                <a:cs typeface="Calibri"/>
              </a:defRPr>
            </a:pPr>
            <a:r>
              <a:rPr sz="2250" b="0">
                <a:solidFill>
                  <a:srgbClr val="1C3144"/>
                </a:solidFill>
                <a:latin typeface="Calibri"/>
                <a:ea typeface="Calibri"/>
                <a:cs typeface="Calibri"/>
              </a:rPr>
              <a:t>DictReader already consumes the header; skipping its first yielded row skips real data.</a:t>
            </a:r>
          </a:p>
        </p:txBody>
      </p:sp>
      <p:sp>
        <p:nvSpPr>
          <p:cNvPr id="6" name="">
            <a:extLst>
              <a:ext uri="{FF2B5EF4-FFF2-40B4-BE49-F238E27FC236}">
                <ns2:creationId id="{1B6C6901-253E-4308-A80A-55C011D50B98}"/>
              </a:ext>
            </a:extLst>
          </p:cNvPr>
          <p:cNvSpPr>
            <a:spLocks noGrp="1"/>
          </p:cNvSpPr>
          <p:nvPr/>
        </p:nvSpPr>
        <p:spPr>
          <a:xfrm>
            <a:off x="590550" y="2852738"/>
            <a:ext cx="619125" cy="571500"/>
          </a:xfrm>
          <a:prstGeom prst="rect">
            <a:avLst/>
          </a:prstGeom>
          <a:noFill/>
          <a:ln w="0">
            <a:noFill/>
          </a:ln>
        </p:spPr>
        <p:txBody>
          <a:bodyPr>
            <a:noAutofit/>
          </a:bodyPr>
          <a:lstStyle/>
          <a:p>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a:ext uri="{FF2B5EF4-FFF2-40B4-BE49-F238E27FC236}">
                <ns2:creationId id="{3C314EB2-34A2-4E30-89DE-DDBC5411EE97}"/>
              </a:ext>
            </a:extLst>
          </p:cNvPr>
          <p:cNvSpPr>
            <a:spLocks noGrp="1"/>
          </p:cNvSpPr>
          <p:nvPr/>
        </p:nvSpPr>
        <p:spPr>
          <a:xfrm>
            <a:off x="1381125" y="2852738"/>
            <a:ext cx="10096500" cy="995363"/>
          </a:xfrm>
          <a:prstGeom prst="rect">
            <a:avLst/>
          </a:prstGeom>
          <a:noFill/>
          <a:ln w="0">
            <a:noFill/>
          </a:ln>
        </p:spPr>
        <p:txBody>
          <a:bodyPr>
            <a:noAutofit/>
          </a:bodyPr>
          <a:lstStyle/>
          <a:p>
            <a:pPr>
              <a:defRPr sz="2250" b="0">
                <a:solidFill>
                  <a:srgbClr val="1C3144"/>
                </a:solidFill>
                <a:latin typeface="Calibri"/>
                <a:ea typeface="Calibri"/>
                <a:cs typeface="Calibri"/>
              </a:defRPr>
            </a:pPr>
            <a:r>
              <a:rPr sz="2250" b="0">
                <a:solidFill>
                  <a:srgbClr val="1C3144"/>
                </a:solidFill>
                <a:latin typeface="Calibri"/>
                <a:ea typeface="Calibri"/>
                <a:cs typeface="Calibri"/>
              </a:rPr>
              <a:t>A string such as "unknown" cannot be converted to float.</a:t>
            </a:r>
          </a:p>
        </p:txBody>
      </p:sp>
      <p:sp>
        <p:nvSpPr>
          <p:cNvPr id="8" name="">
            <a:extLst>
              <a:ext uri="{FF2B5EF4-FFF2-40B4-BE49-F238E27FC236}">
                <ns2:creationId id="{C20863A4-7CA5-488B-97F1-186D196D2B34}"/>
              </a:ext>
            </a:extLst>
          </p:cNvPr>
          <p:cNvSpPr>
            <a:spLocks noGrp="1"/>
          </p:cNvSpPr>
          <p:nvPr/>
        </p:nvSpPr>
        <p:spPr>
          <a:xfrm>
            <a:off x="590550" y="3924300"/>
            <a:ext cx="619125" cy="571500"/>
          </a:xfrm>
          <a:prstGeom prst="rect">
            <a:avLst/>
          </a:prstGeom>
          <a:noFill/>
          <a:ln w="0">
            <a:noFill/>
          </a:ln>
        </p:spPr>
        <p:txBody>
          <a:bodyPr>
            <a:noAutofit/>
          </a:bodyPr>
          <a:lstStyle/>
          <a:p>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a:ext uri="{FF2B5EF4-FFF2-40B4-BE49-F238E27FC236}">
                <ns2:creationId id="{5803E059-0396-4DFD-8C7B-FC1920586B43}"/>
              </a:ext>
            </a:extLst>
          </p:cNvPr>
          <p:cNvSpPr>
            <a:spLocks noGrp="1"/>
          </p:cNvSpPr>
          <p:nvPr/>
        </p:nvSpPr>
        <p:spPr>
          <a:xfrm>
            <a:off x="1381125" y="3924300"/>
            <a:ext cx="10096500" cy="995363"/>
          </a:xfrm>
          <a:prstGeom prst="rect">
            <a:avLst/>
          </a:prstGeom>
          <a:noFill/>
          <a:ln w="0">
            <a:noFill/>
          </a:ln>
        </p:spPr>
        <p:txBody>
          <a:bodyPr>
            <a:noAutofit/>
          </a:bodyPr>
          <a:lstStyle/>
          <a:p>
            <a:pPr>
              <a:defRPr sz="2250" b="0">
                <a:solidFill>
                  <a:srgbClr val="1C3144"/>
                </a:solidFill>
                <a:latin typeface="Calibri"/>
                <a:ea typeface="Calibri"/>
                <a:cs typeface="Calibri"/>
              </a:defRPr>
            </a:pPr>
            <a:r>
              <a:rPr sz="2250" b="0">
                <a:solidFill>
                  <a:srgbClr val="1C3144"/>
                </a:solidFill>
                <a:latin typeface="Calibri"/>
                <a:ea typeface="Calibri"/>
                <a:cs typeface="Calibri"/>
              </a:rPr>
              <a:t>Catch the expected conversion error, count and record it, then continue under a stated policy.</a:t>
            </a:r>
          </a:p>
        </p:txBody>
      </p:sp>
      <p:sp>
        <p:nvSpPr>
          <p:cNvPr id="10" name="">
            <a:extLst>
              <a:ext uri="{FF2B5EF4-FFF2-40B4-BE49-F238E27FC236}">
                <ns2:creationId id="{1941B854-7D99-4800-9C6A-D7B7D61F6E8A}"/>
              </a:ext>
            </a:extLst>
          </p:cNvPr>
          <p:cNvSpPr>
            <a:spLocks noGrp="1"/>
          </p:cNvSpPr>
          <p:nvPr/>
        </p:nvSpPr>
        <p:spPr>
          <a:xfrm>
            <a:off x="590550" y="4995863"/>
            <a:ext cx="619125" cy="571500"/>
          </a:xfrm>
          <a:prstGeom prst="rect">
            <a:avLst/>
          </a:prstGeom>
          <a:noFill/>
          <a:ln w="0">
            <a:noFill/>
          </a:ln>
        </p:spPr>
        <p:txBody>
          <a:bodyPr>
            <a:noAutofit/>
          </a:bodyPr>
          <a:lstStyle/>
          <a:p>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a:ext uri="{FF2B5EF4-FFF2-40B4-BE49-F238E27FC236}">
                <ns2:creationId id="{1D2B3372-818D-4E67-88A2-F9228A329B3D}"/>
              </a:ext>
            </a:extLst>
          </p:cNvPr>
          <p:cNvSpPr>
            <a:spLocks noGrp="1"/>
          </p:cNvSpPr>
          <p:nvPr/>
        </p:nvSpPr>
        <p:spPr>
          <a:xfrm>
            <a:off x="1381125" y="4995863"/>
            <a:ext cx="10096500" cy="995363"/>
          </a:xfrm>
          <a:prstGeom prst="rect">
            <a:avLst/>
          </a:prstGeom>
          <a:noFill/>
          <a:ln w="0">
            <a:noFill/>
          </a:ln>
        </p:spPr>
        <p:txBody>
          <a:bodyPr>
            <a:noAutofit/>
          </a:bodyPr>
          <a:lstStyle/>
          <a:p>
            <a:pPr>
              <a:defRPr sz="2250" b="0">
                <a:solidFill>
                  <a:srgbClr val="1C3144"/>
                </a:solidFill>
                <a:latin typeface="Calibri"/>
                <a:ea typeface="Calibri"/>
                <a:cs typeface="Calibri"/>
              </a:defRPr>
            </a:pPr>
            <a:r>
              <a:rPr sz="2250" b="0">
                <a:solidFill>
                  <a:srgbClr val="1C3144"/>
                </a:solidFill>
                <a:latin typeface="Calibri"/>
                <a:ea typeface="Calibri"/>
                <a:cs typeface="Calibri"/>
              </a:rPr>
              <a:t>Inspect whether skipped rows share a source before reporting a mean.</a:t>
            </a:r>
          </a:p>
        </p:txBody>
      </p:sp>
      <p:sp>
        <p:nvSpPr>
          <p:cNvPr id="12" name="">
            <a:extLst>
              <a:ext uri="{FF2B5EF4-FFF2-40B4-BE49-F238E27FC236}">
                <ns2:creationId id="{0FE35ED6-DF59-4A0B-A20B-89D58D88E7C9}"/>
              </a:ext>
            </a:extLst>
          </p:cNvPr>
          <p:cNvSpPr>
            <a:spLocks noGrp="1"/>
          </p:cNvSpPr>
          <p:nvPr/>
        </p:nvSpPr>
        <p:spPr>
          <a:xfrm>
            <a:off x="590550" y="6524625"/>
            <a:ext cx="10810875" cy="219075"/>
          </a:xfrm>
          <a:prstGeom prst="rect">
            <a:avLst/>
          </a:prstGeom>
          <a:noFill/>
          <a:ln w="0">
            <a:noFill/>
          </a:ln>
        </p:spPr>
        <p:txBody>
          <a:bodyPr>
            <a:noAutofit/>
          </a:bodyPr>
          <a:lstStyle/>
          <a:p>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4   73</a:t>
            </a:r>
          </a:p>
        </p:txBody>
      </p:sp>
    </p:spTree>
    <p:extLst>
      <p:ext uri="{BB962C8B-B14F-4D97-AF65-F5344CB8AC3E}">
        <ns3:creationId val="152258010"/>
      </p:ext>
    </p:extLst>
  </p:cSld>
</p:sld>
</file>

<file path=ppt/slides/slide74.xml><?xml version="1.0" encoding="utf-8"?>
<p:sld xmlns:a="http://schemas.openxmlformats.org/drawingml/2006/main" xmlns:ns2="http://schemas.microsoft.com/office/drawing/2014/main" xmlns:ns3="http://schemas.microsoft.com/office/powerpoint/2010/main" xmlns:p="http://schemas.openxmlformats.org/presentationml/2006/main">
  <p:cSld>
    <p:bg>
      <p:bgPr>
        <a:solidFill>
          <a:srgbClr val="FFFFFF"/>
        </a:solidFill>
      </p:bgPr>
    </p:bg>
    <p:spTree>
      <p:nvGrpSpPr>
        <p:cNvPr id="1" name=""/>
        <p:cNvGrpSpPr/>
        <p:nvPr/>
      </p:nvGrpSpPr>
      <p:grpSpPr>
        <a:xfrm/>
      </p:grpSpPr>
      <p:sp>
        <p:nvSpPr>
          <p:cNvPr id="7" name="">
            <a:extLst>
              <a:ext uri="{FF2B5EF4-FFF2-40B4-BE49-F238E27FC236}">
                <ns2:creationId id="{6E9859FC-8B7E-48C2-AB9D-6AD24B9434B7}"/>
              </a:ext>
            </a:extLst>
          </p:cNvPr>
          <p:cNvSpPr>
            <a:spLocks noGrp="1"/>
          </p:cNvSpPr>
          <p:nvPr/>
        </p:nvSpPr>
        <p:spPr>
          <a:xfrm>
            <a:off x="0" y="0"/>
            <a:ext cx="12191695" cy="1390650"/>
          </a:xfrm>
          <a:prstGeom prst="rect">
            <a:avLst/>
          </a:prstGeom>
          <a:solidFill>
            <a:srgbClr val="1C3144"/>
          </a:solidFill>
          <a:ln w="0">
            <a:noFill/>
          </a:ln>
        </p:spPr>
      </p:sp>
      <p:sp>
        <p:nvSpPr>
          <p:cNvPr id="2" name="">
            <a:extLst>
              <a:ext uri="{FF2B5EF4-FFF2-40B4-BE49-F238E27FC236}">
                <ns2:creationId id="{BD3DC10C-BFE5-4341-A3E4-BA60601E6B9A}"/>
              </a:ext>
            </a:extLst>
          </p:cNvPr>
          <p:cNvSpPr>
            <a:spLocks noGrp="1"/>
          </p:cNvSpPr>
          <p:nvPr/>
        </p:nvSpPr>
        <p:spPr>
          <a:xfrm>
            <a:off x="590550" y="180975"/>
            <a:ext cx="11049000" cy="285750"/>
          </a:xfrm>
          <a:prstGeom prst="rect">
            <a:avLst/>
          </a:prstGeom>
          <a:noFill/>
          <a:ln w="0">
            <a:noFill/>
          </a:ln>
        </p:spPr>
        <p:txBody>
          <a:bodyPr>
            <a:noAutofit/>
          </a:bodyPr>
          <a:lstStyle/>
          <a:p>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a:ext uri="{FF2B5EF4-FFF2-40B4-BE49-F238E27FC236}">
                <ns2:creationId id="{DC539CDF-F4C4-4408-9879-7CA66CB956BF}"/>
              </a:ext>
            </a:extLst>
          </p:cNvPr>
          <p:cNvSpPr>
            <a:spLocks noGrp="1"/>
          </p:cNvSpPr>
          <p:nvPr/>
        </p:nvSpPr>
        <p:spPr>
          <a:xfrm>
            <a:off x="590550" y="523875"/>
            <a:ext cx="11049000" cy="809625"/>
          </a:xfrm>
          <a:prstGeom prst="rect">
            <a:avLst/>
          </a:prstGeom>
          <a:noFill/>
          <a:ln w="0">
            <a:noFill/>
          </a:ln>
        </p:spPr>
        <p:txBody>
          <a:bodyPr>
            <a:noAutofit/>
          </a:bodyPr>
          <a:lstStyle/>
          <a:p>
            <a:pPr>
              <a:defRPr sz="3150" b="1">
                <a:solidFill>
                  <a:srgbClr val="FFFFFF"/>
                </a:solidFill>
                <a:latin typeface="Calibri"/>
                <a:ea typeface="Calibri"/>
                <a:cs typeface="Calibri"/>
              </a:defRPr>
            </a:pPr>
            <a:r>
              <a:rPr sz="3150" b="1">
                <a:solidFill>
                  <a:srgbClr val="FFFFFF"/>
                </a:solidFill>
                <a:latin typeface="Calibri"/>
                <a:ea typeface="Calibri"/>
                <a:cs typeface="Calibri"/>
              </a:rPr>
              <a:t>Counting every record continued</a:t>
            </a:r>
          </a:p>
        </p:txBody>
      </p:sp>
      <p:sp>
        <p:nvSpPr>
          <p:cNvPr id="4" name="">
            <a:extLst>
              <a:ext uri="{FF2B5EF4-FFF2-40B4-BE49-F238E27FC236}">
                <ns2:creationId id="{B80FF33C-BE7C-485F-BADA-404343130D90}"/>
              </a:ext>
            </a:extLst>
          </p:cNvPr>
          <p:cNvSpPr>
            <a:spLocks noGrp="1"/>
          </p:cNvSpPr>
          <p:nvPr/>
        </p:nvSpPr>
        <p:spPr>
          <a:xfrm>
            <a:off x="590550" y="1752600"/>
            <a:ext cx="11010900" cy="4171950"/>
          </a:xfrm>
          <a:prstGeom prst="rect">
            <a:avLst/>
          </a:prstGeom>
          <a:solidFill>
            <a:srgbClr val="EEF3F6"/>
          </a:solidFill>
          <a:ln w="0">
            <a:noFill/>
          </a:ln>
        </p:spPr>
      </p:sp>
      <p:sp>
        <p:nvSpPr>
          <p:cNvPr id="5" name="">
            <a:extLst>
              <a:ext uri="{FF2B5EF4-FFF2-40B4-BE49-F238E27FC236}">
                <ns2:creationId id="{75B2A4EC-A736-4134-8F1F-BE4A25AC0E56}"/>
              </a:ext>
            </a:extLst>
          </p:cNvPr>
          <p:cNvSpPr>
            <a:spLocks noGrp="1"/>
          </p:cNvSpPr>
          <p:nvPr/>
        </p:nvSpPr>
        <p:spPr>
          <a:xfrm>
            <a:off x="914400" y="2228850"/>
            <a:ext cx="10334625" cy="3095625"/>
          </a:xfrm>
          <a:prstGeom prst="rect">
            <a:avLst/>
          </a:prstGeom>
          <a:noFill/>
          <a:ln w="0">
            <a:noFill/>
          </a:ln>
        </p:spPr>
        <p:txBody>
          <a:bodyPr>
            <a:noAutofit/>
          </a:bodyPr>
          <a:lstStyle/>
          <a:p>
            <a:pPr>
              <a:defRPr sz="3000" b="1">
                <a:solidFill>
                  <a:srgbClr val="1C3144"/>
                </a:solidFill>
                <a:latin typeface="Calibri"/>
                <a:ea typeface="Calibri"/>
                <a:cs typeface="Calibri"/>
              </a:defRPr>
            </a:pPr>
            <a:r>
              <a:rPr sz="3000" b="1">
                <a:solidFill>
                  <a:srgbClr val="1C3144"/>
                </a:solidFill>
                <a:latin typeface="Calibri"/>
                <a:ea typeface="Calibri"/>
                <a:cs typeface="Calibri"/>
              </a:rPr>
              <a:t>A sample summary describes observed records, not every possible operating condition.</a:t>
            </a:r>
          </a:p>
        </p:txBody>
      </p:sp>
      <p:sp>
        <p:nvSpPr>
          <p:cNvPr id="6" name="">
            <a:extLst>
              <a:ext uri="{FF2B5EF4-FFF2-40B4-BE49-F238E27FC236}">
                <ns2:creationId id="{957F2F6C-65F0-49B2-9CCF-84E99EA271E9}"/>
              </a:ext>
            </a:extLst>
          </p:cNvPr>
          <p:cNvSpPr>
            <a:spLocks noGrp="1"/>
          </p:cNvSpPr>
          <p:nvPr/>
        </p:nvSpPr>
        <p:spPr>
          <a:xfrm>
            <a:off x="590550" y="6524625"/>
            <a:ext cx="10810875" cy="219075"/>
          </a:xfrm>
          <a:prstGeom prst="rect">
            <a:avLst/>
          </a:prstGeom>
          <a:noFill/>
          <a:ln w="0">
            <a:noFill/>
          </a:ln>
        </p:spPr>
        <p:txBody>
          <a:bodyPr>
            <a:noAutofit/>
          </a:bodyPr>
          <a:lstStyle/>
          <a:p>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4   74</a:t>
            </a:r>
          </a:p>
        </p:txBody>
      </p:sp>
    </p:spTree>
    <p:extLst>
      <p:ext uri="{BB962C8B-B14F-4D97-AF65-F5344CB8AC3E}">
        <ns3:creationId val="1410529360"/>
      </p:ext>
    </p:extLst>
  </p:cSld>
</p:sld>
</file>

<file path=ppt/slides/slide75.xml><?xml version="1.0" encoding="utf-8"?>
<p:sld xmlns:a="http://schemas.openxmlformats.org/drawingml/2006/main" xmlns:ns2="http://schemas.microsoft.com/office/drawing/2014/main" xmlns:ns3="http://schemas.microsoft.com/office/powerpoint/2010/main" xmlns:p="http://schemas.openxmlformats.org/presentationml/2006/main">
  <p:cSld>
    <p:bg>
      <p:bgPr>
        <a:solidFill>
          <a:srgbClr val="FFFFFF"/>
        </a:solidFill>
      </p:bgPr>
    </p:bg>
    <p:spTree>
      <p:nvGrpSpPr>
        <p:cNvPr id="1" name=""/>
        <p:cNvGrpSpPr/>
        <p:nvPr/>
      </p:nvGrpSpPr>
      <p:grpSpPr>
        <a:xfrm/>
      </p:grpSpPr>
      <p:sp>
        <p:nvSpPr>
          <p:cNvPr id="13" name="">
            <a:extLst>
              <a:ext uri="{FF2B5EF4-FFF2-40B4-BE49-F238E27FC236}">
                <ns2:creationId id="{3C46D5ED-56B8-4BCE-9148-8DB63494975A}"/>
              </a:ext>
            </a:extLst>
          </p:cNvPr>
          <p:cNvSpPr>
            <a:spLocks noGrp="1"/>
          </p:cNvSpPr>
          <p:nvPr/>
        </p:nvSpPr>
        <p:spPr>
          <a:xfrm>
            <a:off x="0" y="0"/>
            <a:ext cx="12191695" cy="1390650"/>
          </a:xfrm>
          <a:prstGeom prst="rect">
            <a:avLst/>
          </a:prstGeom>
          <a:solidFill>
            <a:srgbClr val="1C3144"/>
          </a:solidFill>
          <a:ln w="0">
            <a:noFill/>
          </a:ln>
        </p:spPr>
      </p:sp>
      <p:sp>
        <p:nvSpPr>
          <p:cNvPr id="2" name="">
            <a:extLst>
              <a:ext uri="{FF2B5EF4-FFF2-40B4-BE49-F238E27FC236}">
                <ns2:creationId id="{FDE5C60E-6394-46B5-864D-441E636006FB}"/>
              </a:ext>
            </a:extLst>
          </p:cNvPr>
          <p:cNvSpPr>
            <a:spLocks noGrp="1"/>
          </p:cNvSpPr>
          <p:nvPr/>
        </p:nvSpPr>
        <p:spPr>
          <a:xfrm>
            <a:off x="590550" y="180975"/>
            <a:ext cx="11049000" cy="285750"/>
          </a:xfrm>
          <a:prstGeom prst="rect">
            <a:avLst/>
          </a:prstGeom>
          <a:noFill/>
          <a:ln w="0">
            <a:noFill/>
          </a:ln>
        </p:spPr>
        <p:txBody>
          <a:bodyPr>
            <a:noAutofit/>
          </a:bodyPr>
          <a:lstStyle/>
          <a:p>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a:ext uri="{FF2B5EF4-FFF2-40B4-BE49-F238E27FC236}">
                <ns2:creationId id="{BD8D8C0C-8732-45FC-A84F-E27AD671D712}"/>
              </a:ext>
            </a:extLst>
          </p:cNvPr>
          <p:cNvSpPr>
            <a:spLocks noGrp="1"/>
          </p:cNvSpPr>
          <p:nvPr/>
        </p:nvSpPr>
        <p:spPr>
          <a:xfrm>
            <a:off x="590550" y="523875"/>
            <a:ext cx="11049000" cy="809625"/>
          </a:xfrm>
          <a:prstGeom prst="rect">
            <a:avLst/>
          </a:prstGeom>
          <a:noFill/>
          <a:ln w="0">
            <a:noFill/>
          </a:ln>
        </p:spPr>
        <p:txBody>
          <a:bodyPr>
            <a:noAutofit/>
          </a:bodyPr>
          <a:lstStyle/>
          <a:p>
            <a:pPr>
              <a:defRPr sz="3150" b="1">
                <a:solidFill>
                  <a:srgbClr val="FFFFFF"/>
                </a:solidFill>
                <a:latin typeface="Calibri"/>
                <a:ea typeface="Calibri"/>
                <a:cs typeface="Calibri"/>
              </a:defRPr>
            </a:pPr>
            <a:r>
              <a:rPr sz="3150" b="1">
                <a:solidFill>
                  <a:srgbClr val="FFFFFF"/>
                </a:solidFill>
                <a:latin typeface="Calibri"/>
                <a:ea typeface="Calibri"/>
                <a:cs typeface="Calibri"/>
              </a:rPr>
              <a:t>Your issued assignment</a:t>
            </a:r>
          </a:p>
        </p:txBody>
      </p:sp>
      <p:sp>
        <p:nvSpPr>
          <p:cNvPr id="4" name="">
            <a:extLst>
              <a:ext uri="{FF2B5EF4-FFF2-40B4-BE49-F238E27FC236}">
                <ns2:creationId id="{829EF8AE-7F11-49BB-BA11-6DBEFF05D3C6}"/>
              </a:ext>
            </a:extLst>
          </p:cNvPr>
          <p:cNvSpPr>
            <a:spLocks noGrp="1"/>
          </p:cNvSpPr>
          <p:nvPr/>
        </p:nvSpPr>
        <p:spPr>
          <a:xfrm>
            <a:off x="590550" y="1781175"/>
            <a:ext cx="619125" cy="571500"/>
          </a:xfrm>
          <a:prstGeom prst="rect">
            <a:avLst/>
          </a:prstGeom>
          <a:noFill/>
          <a:ln w="0">
            <a:noFill/>
          </a:ln>
        </p:spPr>
        <p:txBody>
          <a:bodyPr>
            <a:noAutofit/>
          </a:bodyPr>
          <a:lstStyle/>
          <a:p>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a:ext uri="{FF2B5EF4-FFF2-40B4-BE49-F238E27FC236}">
                <ns2:creationId id="{E2A37006-DD8A-43B2-A696-E8EB3D42FA64}"/>
              </a:ext>
            </a:extLst>
          </p:cNvPr>
          <p:cNvSpPr>
            <a:spLocks noGrp="1"/>
          </p:cNvSpPr>
          <p:nvPr/>
        </p:nvSpPr>
        <p:spPr>
          <a:xfrm>
            <a:off x="1381125" y="1781175"/>
            <a:ext cx="10096500" cy="992981"/>
          </a:xfrm>
          <a:prstGeom prst="rect">
            <a:avLst/>
          </a:prstGeom>
          <a:noFill/>
          <a:ln w="0">
            <a:noFill/>
          </a:ln>
        </p:spPr>
        <p:txBody>
          <a:bodyPr>
            <a:noAutofit/>
          </a:bodyPr>
          <a:lstStyle/>
          <a:p>
            <a:pPr>
              <a:defRPr sz="2250" b="0">
                <a:solidFill>
                  <a:srgbClr val="1C3144"/>
                </a:solidFill>
                <a:latin typeface="Calibri"/>
                <a:ea typeface="Calibri"/>
                <a:cs typeface="Calibri"/>
              </a:defRPr>
            </a:pPr>
            <a:r>
              <a:rPr sz="2250" b="0">
                <a:solidFill>
                  <a:srgbClr val="1C3144"/>
                </a:solidFill>
                <a:latin typeface="Calibri"/>
                <a:ea typeface="Calibri"/>
                <a:cs typeface="Calibri"/>
              </a:rPr>
              <a:t>Open W04_student.ipynb.</a:t>
            </a:r>
          </a:p>
        </p:txBody>
      </p:sp>
      <p:sp>
        <p:nvSpPr>
          <p:cNvPr id="6" name="">
            <a:extLst>
              <a:ext uri="{FF2B5EF4-FFF2-40B4-BE49-F238E27FC236}">
                <ns2:creationId id="{D092F600-5137-4E3A-8F84-0E565E2914E8}"/>
              </a:ext>
            </a:extLst>
          </p:cNvPr>
          <p:cNvSpPr>
            <a:spLocks noGrp="1"/>
          </p:cNvSpPr>
          <p:nvPr/>
        </p:nvSpPr>
        <p:spPr>
          <a:xfrm>
            <a:off x="590550" y="2850356"/>
            <a:ext cx="619125" cy="571500"/>
          </a:xfrm>
          <a:prstGeom prst="rect">
            <a:avLst/>
          </a:prstGeom>
          <a:noFill/>
          <a:ln w="0">
            <a:noFill/>
          </a:ln>
        </p:spPr>
        <p:txBody>
          <a:bodyPr>
            <a:noAutofit/>
          </a:bodyPr>
          <a:lstStyle/>
          <a:p>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a:ext uri="{FF2B5EF4-FFF2-40B4-BE49-F238E27FC236}">
                <ns2:creationId id="{33A7F2A4-252E-44A9-AB60-BBC771452394}"/>
              </a:ext>
            </a:extLst>
          </p:cNvPr>
          <p:cNvSpPr>
            <a:spLocks noGrp="1"/>
          </p:cNvSpPr>
          <p:nvPr/>
        </p:nvSpPr>
        <p:spPr>
          <a:xfrm>
            <a:off x="1381125" y="2850356"/>
            <a:ext cx="10096500" cy="992981"/>
          </a:xfrm>
          <a:prstGeom prst="rect">
            <a:avLst/>
          </a:prstGeom>
          <a:noFill/>
          <a:ln w="0">
            <a:noFill/>
          </a:ln>
        </p:spPr>
        <p:txBody>
          <a:bodyPr>
            <a:noAutofit/>
          </a:bodyPr>
          <a:lstStyle/>
          <a:p>
            <a:pPr>
              <a:defRPr sz="2250" b="0">
                <a:solidFill>
                  <a:srgbClr val="1C3144"/>
                </a:solidFill>
                <a:latin typeface="Calibri"/>
                <a:ea typeface="Calibri"/>
                <a:cs typeface="Calibri"/>
              </a:defRPr>
            </a:pPr>
            <a:r>
              <a:rPr sz="2250" b="0">
                <a:solidFill>
                  <a:srgbClr val="1C3144"/>
                </a:solidFill>
                <a:latin typeface="Calibri"/>
                <a:ea typeface="Calibri"/>
                <a:cs typeface="Calibri"/>
              </a:rPr>
              <a:t>Read every task and its input units before coding.</a:t>
            </a:r>
          </a:p>
        </p:txBody>
      </p:sp>
      <p:sp>
        <p:nvSpPr>
          <p:cNvPr id="8" name="">
            <a:extLst>
              <a:ext uri="{FF2B5EF4-FFF2-40B4-BE49-F238E27FC236}">
                <ns2:creationId id="{D6F10E58-12B8-4638-BDDD-1D27F46E2189}"/>
              </a:ext>
            </a:extLst>
          </p:cNvPr>
          <p:cNvSpPr>
            <a:spLocks noGrp="1"/>
          </p:cNvSpPr>
          <p:nvPr/>
        </p:nvSpPr>
        <p:spPr>
          <a:xfrm>
            <a:off x="590550" y="3919538"/>
            <a:ext cx="619125" cy="571500"/>
          </a:xfrm>
          <a:prstGeom prst="rect">
            <a:avLst/>
          </a:prstGeom>
          <a:noFill/>
          <a:ln w="0">
            <a:noFill/>
          </a:ln>
        </p:spPr>
        <p:txBody>
          <a:bodyPr>
            <a:noAutofit/>
          </a:bodyPr>
          <a:lstStyle/>
          <a:p>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a:ext uri="{FF2B5EF4-FFF2-40B4-BE49-F238E27FC236}">
                <ns2:creationId id="{B4EFFD40-B5B2-4A83-B485-516E0FB48DA9}"/>
              </a:ext>
            </a:extLst>
          </p:cNvPr>
          <p:cNvSpPr>
            <a:spLocks noGrp="1"/>
          </p:cNvSpPr>
          <p:nvPr/>
        </p:nvSpPr>
        <p:spPr>
          <a:xfrm>
            <a:off x="1381125" y="3919538"/>
            <a:ext cx="10096500" cy="992981"/>
          </a:xfrm>
          <a:prstGeom prst="rect">
            <a:avLst/>
          </a:prstGeom>
          <a:noFill/>
          <a:ln w="0">
            <a:noFill/>
          </a:ln>
        </p:spPr>
        <p:txBody>
          <a:bodyPr>
            <a:noAutofit/>
          </a:bodyPr>
          <a:lstStyle/>
          <a:p>
            <a:pPr>
              <a:defRPr sz="2250" b="0">
                <a:solidFill>
                  <a:srgbClr val="1C3144"/>
                </a:solidFill>
                <a:latin typeface="Calibri"/>
                <a:ea typeface="Calibri"/>
                <a:cs typeface="Calibri"/>
              </a:defRPr>
            </a:pPr>
            <a:r>
              <a:rPr sz="2250" b="0">
                <a:solidFill>
                  <a:srgbClr val="1C3144"/>
                </a:solidFill>
                <a:latin typeface="Calibri"/>
                <a:ea typeface="Calibri"/>
                <a:cs typeface="Calibri"/>
              </a:rPr>
              <a:t>Keep the required function names and returned outputs.</a:t>
            </a:r>
          </a:p>
        </p:txBody>
      </p:sp>
      <p:sp>
        <p:nvSpPr>
          <p:cNvPr id="10" name="">
            <a:extLst>
              <a:ext uri="{FF2B5EF4-FFF2-40B4-BE49-F238E27FC236}">
                <ns2:creationId id="{4C523DB3-33AA-4BC4-BADD-224EF4503D54}"/>
              </a:ext>
            </a:extLst>
          </p:cNvPr>
          <p:cNvSpPr>
            <a:spLocks noGrp="1"/>
          </p:cNvSpPr>
          <p:nvPr/>
        </p:nvSpPr>
        <p:spPr>
          <a:xfrm>
            <a:off x="590550" y="4988719"/>
            <a:ext cx="619125" cy="571500"/>
          </a:xfrm>
          <a:prstGeom prst="rect">
            <a:avLst/>
          </a:prstGeom>
          <a:noFill/>
          <a:ln w="0">
            <a:noFill/>
          </a:ln>
        </p:spPr>
        <p:txBody>
          <a:bodyPr>
            <a:noAutofit/>
          </a:bodyPr>
          <a:lstStyle/>
          <a:p>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a:ext uri="{FF2B5EF4-FFF2-40B4-BE49-F238E27FC236}">
                <ns2:creationId id="{6F8E8C3B-76A0-41A7-BDB1-A7E6E151897F}"/>
              </a:ext>
            </a:extLst>
          </p:cNvPr>
          <p:cNvSpPr>
            <a:spLocks noGrp="1"/>
          </p:cNvSpPr>
          <p:nvPr/>
        </p:nvSpPr>
        <p:spPr>
          <a:xfrm>
            <a:off x="1381125" y="4988719"/>
            <a:ext cx="10096500" cy="992981"/>
          </a:xfrm>
          <a:prstGeom prst="rect">
            <a:avLst/>
          </a:prstGeom>
          <a:noFill/>
          <a:ln w="0">
            <a:noFill/>
          </a:ln>
        </p:spPr>
        <p:txBody>
          <a:bodyPr>
            <a:noAutofit/>
          </a:bodyPr>
          <a:lstStyle/>
          <a:p>
            <a:pPr>
              <a:defRPr sz="2250" b="0">
                <a:solidFill>
                  <a:srgbClr val="1C3144"/>
                </a:solidFill>
                <a:latin typeface="Calibri"/>
                <a:ea typeface="Calibri"/>
                <a:cs typeface="Calibri"/>
              </a:defRPr>
            </a:pPr>
            <a:r>
              <a:rPr sz="2250" b="0">
                <a:solidFill>
                  <a:srgbClr val="1C3144"/>
                </a:solidFill>
                <a:latin typeface="Calibri"/>
                <a:ea typeface="Calibri"/>
                <a:cs typeface="Calibri"/>
              </a:rPr>
              <a:t>Restart and run all cells, then save the completed notebook.</a:t>
            </a:r>
          </a:p>
        </p:txBody>
      </p:sp>
      <p:sp>
        <p:nvSpPr>
          <p:cNvPr id="12" name="">
            <a:extLst>
              <a:ext uri="{FF2B5EF4-FFF2-40B4-BE49-F238E27FC236}">
                <ns2:creationId id="{DF9D35E5-0C2A-41CA-9610-89A9CFF8143D}"/>
              </a:ext>
            </a:extLst>
          </p:cNvPr>
          <p:cNvSpPr>
            <a:spLocks noGrp="1"/>
          </p:cNvSpPr>
          <p:nvPr/>
        </p:nvSpPr>
        <p:spPr>
          <a:xfrm>
            <a:off x="590550" y="6524625"/>
            <a:ext cx="10810875" cy="219075"/>
          </a:xfrm>
          <a:prstGeom prst="rect">
            <a:avLst/>
          </a:prstGeom>
          <a:noFill/>
          <a:ln w="0">
            <a:noFill/>
          </a:ln>
        </p:spPr>
        <p:txBody>
          <a:bodyPr>
            <a:noAutofit/>
          </a:bodyPr>
          <a:lstStyle/>
          <a:p>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4   75</a:t>
            </a:r>
          </a:p>
        </p:txBody>
      </p:sp>
    </p:spTree>
    <p:extLst>
      <p:ext uri="{BB962C8B-B14F-4D97-AF65-F5344CB8AC3E}">
        <ns3:creationId val="523610756"/>
      </p:ext>
    </p:extLst>
  </p:cSld>
</p:sld>
</file>

<file path=ppt/slides/slide7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272C4B09-3B43-4D5A-A5C2-971FBDEB6234}"/>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4CA44335-CF79-47A9-88F9-D190180FE0F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4F1B90BF-126D-41D4-BC96-B46D1C4CB2A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valid_count (5 marks)</a:t>
            </a:r>
          </a:p>
        </p:txBody>
      </p:sp>
      <p:sp>
        <p:nvSpPr>
          <p:cNvPr id="4" name="">
            <a:extLst xmlns:a="http://schemas.openxmlformats.org/drawingml/2006/main">
              <a:ext uri="{FF2B5EF4-FFF2-40B4-BE49-F238E27FC236}">
                <a16:creationId xmlns:a16="http://schemas.microsoft.com/office/drawing/2014/main" id="{E3853BEF-E7B7-4A74-95E5-F46B23889954}"/>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F3602457-9C94-4B84-BDB9-4A11047F40E8}"/>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EC076AFC-C55F-4179-BCA4-5003C7572AF5}"/>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Store an integer count of rows whose crack_width_mm field is nonblank.</a:t>
            </a:r>
          </a:p>
        </p:txBody>
      </p:sp>
      <p:sp>
        <p:nvSpPr>
          <p:cNvPr id="7" name="">
            <a:extLst xmlns:a="http://schemas.openxmlformats.org/drawingml/2006/main">
              <a:ext uri="{FF2B5EF4-FFF2-40B4-BE49-F238E27FC236}">
                <a16:creationId xmlns:a16="http://schemas.microsoft.com/office/drawing/2014/main" id="{0887FB44-F5A4-40AA-8CE5-3D7EAB9D8BCA}"/>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Skip blank readings before numeric conversion.</a:t>
            </a:r>
          </a:p>
        </p:txBody>
      </p:sp>
      <p:sp>
        <p:nvSpPr>
          <p:cNvPr id="8" name="">
            <a:extLst xmlns:a="http://schemas.openxmlformats.org/drawingml/2006/main">
              <a:ext uri="{FF2B5EF4-FFF2-40B4-BE49-F238E27FC236}">
                <a16:creationId xmlns:a16="http://schemas.microsoft.com/office/drawing/2014/main" id="{B02383BF-858F-48FD-A924-5C69143EAE1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4   76</a:t>
            </a:r>
          </a:p>
        </p:txBody>
      </p:sp>
    </p:spTree>
    <p:extLst>
      <p:ext uri="{BB962C8B-B14F-4D97-AF65-F5344CB8AC3E}">
        <p14:creationId xmlns:p14="http://schemas.microsoft.com/office/powerpoint/2010/main" val="1490776359"/>
      </p:ext>
    </p:extLst>
  </p:cSld>
</p:sld>
</file>

<file path=ppt/slides/slide7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FD9267EF-9C42-4848-8AF5-0A21F6AB9719}"/>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054BC501-2487-4601-954F-5D5BC0A1B4A7}"/>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A2D648D0-B2C8-4BF8-B140-901136E5EE1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mean_reading (5 marks)</a:t>
            </a:r>
          </a:p>
        </p:txBody>
      </p:sp>
      <p:sp>
        <p:nvSpPr>
          <p:cNvPr id="4" name="">
            <a:extLst xmlns:a="http://schemas.openxmlformats.org/drawingml/2006/main">
              <a:ext uri="{FF2B5EF4-FFF2-40B4-BE49-F238E27FC236}">
                <a16:creationId xmlns:a16="http://schemas.microsoft.com/office/drawing/2014/main" id="{417E1B7D-0764-4782-B534-4F6BC94B1417}"/>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4B117689-9A0C-427A-965F-524DAF57A5D9}"/>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Store the arithmetic mean of the nonblank crack_width_mm values as a number.</a:t>
            </a:r>
          </a:p>
        </p:txBody>
      </p:sp>
      <p:sp>
        <p:nvSpPr>
          <p:cNvPr id="6" name="">
            <a:extLst xmlns:a="http://schemas.openxmlformats.org/drawingml/2006/main">
              <a:ext uri="{FF2B5EF4-FFF2-40B4-BE49-F238E27FC236}">
                <a16:creationId xmlns:a16="http://schemas.microsoft.com/office/drawing/2014/main" id="{715C9BA8-985D-4F12-A09E-6ACB163DF05A}"/>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E045276F-C2B6-411B-9D1F-693AF2BD5343}"/>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Add the valid readings and divide by their count.</a:t>
            </a:r>
          </a:p>
        </p:txBody>
      </p:sp>
      <p:sp>
        <p:nvSpPr>
          <p:cNvPr id="8" name="">
            <a:extLst xmlns:a="http://schemas.openxmlformats.org/drawingml/2006/main">
              <a:ext uri="{FF2B5EF4-FFF2-40B4-BE49-F238E27FC236}">
                <a16:creationId xmlns:a16="http://schemas.microsoft.com/office/drawing/2014/main" id="{4DAB584D-5056-4FAF-9522-E412CEBB527D}"/>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D63CD4DB-2D36-4A48-A8FD-5328E5335620}"/>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Keep full precision.</a:t>
            </a:r>
          </a:p>
        </p:txBody>
      </p:sp>
      <p:sp>
        <p:nvSpPr>
          <p:cNvPr id="10" name="">
            <a:extLst xmlns:a="http://schemas.openxmlformats.org/drawingml/2006/main">
              <a:ext uri="{FF2B5EF4-FFF2-40B4-BE49-F238E27FC236}">
                <a16:creationId xmlns:a16="http://schemas.microsoft.com/office/drawing/2014/main" id="{1DAB259B-38B2-4E8E-8C3C-26975A943DCD}"/>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4   77</a:t>
            </a:r>
          </a:p>
        </p:txBody>
      </p:sp>
    </p:spTree>
    <p:extLst>
      <p:ext uri="{BB962C8B-B14F-4D97-AF65-F5344CB8AC3E}">
        <p14:creationId xmlns:p14="http://schemas.microsoft.com/office/powerpoint/2010/main" val="1369151788"/>
      </p:ext>
    </p:extLst>
  </p:cSld>
</p:sld>
</file>

<file path=ppt/slides/slide7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94F82D1B-CF37-4159-88CA-C5DF23658C7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AF7C84F-1717-41E0-95EA-AFB077A60F8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7A454218-4774-4F07-9900-0B39D8BF7F9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above_limit (5 marks)</a:t>
            </a:r>
          </a:p>
        </p:txBody>
      </p:sp>
      <p:sp>
        <p:nvSpPr>
          <p:cNvPr id="4" name="">
            <a:extLst xmlns:a="http://schemas.openxmlformats.org/drawingml/2006/main">
              <a:ext uri="{FF2B5EF4-FFF2-40B4-BE49-F238E27FC236}">
                <a16:creationId xmlns:a16="http://schemas.microsoft.com/office/drawing/2014/main" id="{F2F04AFF-7475-4904-A118-E0FB46FEDD0B}"/>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66485305-7505-44D9-96C7-1BAF041F8C0B}"/>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874C9E4E-B4C1-41DA-8D0D-A0CE56C01724}"/>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Store an integer count of valid crack_width_mm readings strictly greater than 0.3.</a:t>
            </a:r>
          </a:p>
        </p:txBody>
      </p:sp>
      <p:sp>
        <p:nvSpPr>
          <p:cNvPr id="7" name="">
            <a:extLst xmlns:a="http://schemas.openxmlformats.org/drawingml/2006/main">
              <a:ext uri="{FF2B5EF4-FFF2-40B4-BE49-F238E27FC236}">
                <a16:creationId xmlns:a16="http://schemas.microsoft.com/office/drawing/2014/main" id="{F16ACADF-88EE-4E0C-AA5F-289DC23A9B52}"/>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A reading equal to the threshold is not counted.</a:t>
            </a:r>
          </a:p>
        </p:txBody>
      </p:sp>
      <p:sp>
        <p:nvSpPr>
          <p:cNvPr id="8" name="">
            <a:extLst xmlns:a="http://schemas.openxmlformats.org/drawingml/2006/main">
              <a:ext uri="{FF2B5EF4-FFF2-40B4-BE49-F238E27FC236}">
                <a16:creationId xmlns:a16="http://schemas.microsoft.com/office/drawing/2014/main" id="{560959E8-C30A-491B-AF57-F7DC490E185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4   78</a:t>
            </a:r>
          </a:p>
        </p:txBody>
      </p:sp>
    </p:spTree>
    <p:extLst>
      <p:ext uri="{BB962C8B-B14F-4D97-AF65-F5344CB8AC3E}">
        <p14:creationId xmlns:p14="http://schemas.microsoft.com/office/powerpoint/2010/main" val="537319250"/>
      </p:ext>
    </p:extLst>
  </p:cSld>
</p:sld>
</file>

<file path=ppt/slides/slide7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8311787F-E245-458A-A2A2-69282491E50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899C927A-6103-4B38-928B-A9F04A7FD71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07447605-5DFB-4E2C-A76C-68168FE1B3F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group_means (5 marks)</a:t>
            </a:r>
          </a:p>
        </p:txBody>
      </p:sp>
      <p:sp>
        <p:nvSpPr>
          <p:cNvPr id="4" name="">
            <a:extLst xmlns:a="http://schemas.openxmlformats.org/drawingml/2006/main">
              <a:ext uri="{FF2B5EF4-FFF2-40B4-BE49-F238E27FC236}">
                <a16:creationId xmlns:a16="http://schemas.microsoft.com/office/drawing/2014/main" id="{E222EA60-6864-4726-A22A-EA375764FD7D}"/>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AC723FF5-AB98-4FAB-8D31-F1379DF358D0}"/>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Store a dictionary whose keys are the structure_id labels and whose values are the mean valid crack_width_mm readings within each group.</a:t>
            </a:r>
          </a:p>
        </p:txBody>
      </p:sp>
      <p:sp>
        <p:nvSpPr>
          <p:cNvPr id="6" name="">
            <a:extLst xmlns:a="http://schemas.openxmlformats.org/drawingml/2006/main">
              <a:ext uri="{FF2B5EF4-FFF2-40B4-BE49-F238E27FC236}">
                <a16:creationId xmlns:a16="http://schemas.microsoft.com/office/drawing/2014/main" id="{4A22D1C6-6963-420E-9A94-36824C28E403}"/>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7E79B144-DDED-4BF8-8349-DC6241F972D5}"/>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Divide each group total by its own valid count.</a:t>
            </a:r>
          </a:p>
        </p:txBody>
      </p:sp>
      <p:sp>
        <p:nvSpPr>
          <p:cNvPr id="8" name="">
            <a:extLst xmlns:a="http://schemas.openxmlformats.org/drawingml/2006/main">
              <a:ext uri="{FF2B5EF4-FFF2-40B4-BE49-F238E27FC236}">
                <a16:creationId xmlns:a16="http://schemas.microsoft.com/office/drawing/2014/main" id="{E0ED4896-1845-4798-B0BF-CD8C5823D604}"/>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E2E80EEA-9CF0-421D-9B92-DF331215D9D5}"/>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Keep full precision.</a:t>
            </a:r>
          </a:p>
        </p:txBody>
      </p:sp>
      <p:sp>
        <p:nvSpPr>
          <p:cNvPr id="10" name="">
            <a:extLst xmlns:a="http://schemas.openxmlformats.org/drawingml/2006/main">
              <a:ext uri="{FF2B5EF4-FFF2-40B4-BE49-F238E27FC236}">
                <a16:creationId xmlns:a16="http://schemas.microsoft.com/office/drawing/2014/main" id="{F07C3F5D-292A-48DB-81F0-E9B65769E77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4   79</a:t>
            </a:r>
          </a:p>
        </p:txBody>
      </p:sp>
    </p:spTree>
    <p:extLst>
      <p:ext uri="{BB962C8B-B14F-4D97-AF65-F5344CB8AC3E}">
        <p14:creationId xmlns:p14="http://schemas.microsoft.com/office/powerpoint/2010/main" val="42940646"/>
      </p:ext>
    </p:extLst>
  </p:cSld>
</p:sld>
</file>

<file path=ppt/slides/slide8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CA750A29-396E-48B4-9BF8-3E9CA9E5599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5105FEC1-3E18-4A5F-A4D5-17A463C2099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E9CB223E-D2C6-4AA6-A6E9-5252C9C0D11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Week 4 rules</a:t>
            </a:r>
          </a:p>
        </p:txBody>
      </p:sp>
      <p:sp>
        <p:nvSpPr>
          <p:cNvPr id="4" name="">
            <a:extLst xmlns:a="http://schemas.openxmlformats.org/drawingml/2006/main">
              <a:ext uri="{FF2B5EF4-FFF2-40B4-BE49-F238E27FC236}">
                <a16:creationId xmlns:a16="http://schemas.microsoft.com/office/drawing/2014/main" id="{D4D89069-4C03-49A8-96CD-0D4A4BFC1219}"/>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1CCF22C2-932F-493B-AEDE-E3C920C0121A}"/>
              </a:ext>
            </a:extLst>
          </p:cNvPr>
          <p:cNvSpPr>
            <a:spLocks xmlns:a="http://schemas.openxmlformats.org/drawingml/2006/main" noGrp="1"/>
          </p:cNvSpPr>
          <p:nvPr/>
        </p:nvSpPr>
        <p:spPr>
          <a:xfrm xmlns:a="http://schemas.openxmlformats.org/drawingml/2006/main">
            <a:off x="1381125" y="1781175"/>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Fictional teaching data.</a:t>
            </a:r>
          </a:p>
        </p:txBody>
      </p:sp>
      <p:sp>
        <p:nvSpPr>
          <p:cNvPr id="6" name="">
            <a:extLst xmlns:a="http://schemas.openxmlformats.org/drawingml/2006/main">
              <a:ext uri="{FF2B5EF4-FFF2-40B4-BE49-F238E27FC236}">
                <a16:creationId xmlns:a16="http://schemas.microsoft.com/office/drawing/2014/main" id="{F5EFE8FF-A517-46A4-A864-7EFE47214151}"/>
              </a:ext>
            </a:extLst>
          </p:cNvPr>
          <p:cNvSpPr>
            <a:spLocks xmlns:a="http://schemas.openxmlformats.org/drawingml/2006/main" noGrp="1"/>
          </p:cNvSpPr>
          <p:nvPr/>
        </p:nvSpPr>
        <p:spPr>
          <a:xfrm xmlns:a="http://schemas.openxmlformats.org/drawingml/2006/main">
            <a:off x="590550" y="28527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DA67BDD5-623E-4DB0-BD17-2444BD7648C1}"/>
              </a:ext>
            </a:extLst>
          </p:cNvPr>
          <p:cNvSpPr>
            <a:spLocks xmlns:a="http://schemas.openxmlformats.org/drawingml/2006/main" noGrp="1"/>
          </p:cNvSpPr>
          <p:nvPr/>
        </p:nvSpPr>
        <p:spPr>
          <a:xfrm xmlns:a="http://schemas.openxmlformats.org/drawingml/2006/main">
            <a:off x="1381125" y="2852738"/>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300 records.</a:t>
            </a:r>
          </a:p>
        </p:txBody>
      </p:sp>
      <p:sp>
        <p:nvSpPr>
          <p:cNvPr id="8" name="">
            <a:extLst xmlns:a="http://schemas.openxmlformats.org/drawingml/2006/main">
              <a:ext uri="{FF2B5EF4-FFF2-40B4-BE49-F238E27FC236}">
                <a16:creationId xmlns:a16="http://schemas.microsoft.com/office/drawing/2014/main" id="{769D11A4-F5C5-477D-A7D7-F7E03070D6F9}"/>
              </a:ext>
            </a:extLst>
          </p:cNvPr>
          <p:cNvSpPr>
            <a:spLocks xmlns:a="http://schemas.openxmlformats.org/drawingml/2006/main" noGrp="1"/>
          </p:cNvSpPr>
          <p:nvPr/>
        </p:nvSpPr>
        <p:spPr>
          <a:xfrm xmlns:a="http://schemas.openxmlformats.org/drawingml/2006/main">
            <a:off x="590550" y="392430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D13CCC3C-553C-4737-AAC3-21558288D1D1}"/>
              </a:ext>
            </a:extLst>
          </p:cNvPr>
          <p:cNvSpPr>
            <a:spLocks xmlns:a="http://schemas.openxmlformats.org/drawingml/2006/main" noGrp="1"/>
          </p:cNvSpPr>
          <p:nvPr/>
        </p:nvSpPr>
        <p:spPr>
          <a:xfrm xmlns:a="http://schemas.openxmlformats.org/drawingml/2006/main">
            <a:off x="1381125" y="3924300"/>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Three blank crack_width_mm values must be skipped in numerical summaries.</a:t>
            </a:r>
          </a:p>
        </p:txBody>
      </p:sp>
      <p:sp>
        <p:nvSpPr>
          <p:cNvPr id="10" name="">
            <a:extLst xmlns:a="http://schemas.openxmlformats.org/drawingml/2006/main">
              <a:ext uri="{FF2B5EF4-FFF2-40B4-BE49-F238E27FC236}">
                <a16:creationId xmlns:a16="http://schemas.microsoft.com/office/drawing/2014/main" id="{F2576BD0-DAB4-44D8-ADF9-A0B98241CA97}"/>
              </a:ext>
            </a:extLst>
          </p:cNvPr>
          <p:cNvSpPr>
            <a:spLocks xmlns:a="http://schemas.openxmlformats.org/drawingml/2006/main" noGrp="1"/>
          </p:cNvSpPr>
          <p:nvPr/>
        </p:nvSpPr>
        <p:spPr>
          <a:xfrm xmlns:a="http://schemas.openxmlformats.org/drawingml/2006/main">
            <a:off x="590550" y="49958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3CE94CCD-2F83-4285-A023-F63EA379BA03}"/>
              </a:ext>
            </a:extLst>
          </p:cNvPr>
          <p:cNvSpPr>
            <a:spLocks xmlns:a="http://schemas.openxmlformats.org/drawingml/2006/main" noGrp="1"/>
          </p:cNvSpPr>
          <p:nvPr/>
        </p:nvSpPr>
        <p:spPr>
          <a:xfrm xmlns:a="http://schemas.openxmlformats.org/drawingml/2006/main">
            <a:off x="1381125" y="4995863"/>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Threshold 0.3 is a teaching assumption.</a:t>
            </a:r>
          </a:p>
        </p:txBody>
      </p:sp>
      <p:sp>
        <p:nvSpPr>
          <p:cNvPr id="12" name="">
            <a:extLst xmlns:a="http://schemas.openxmlformats.org/drawingml/2006/main">
              <a:ext uri="{FF2B5EF4-FFF2-40B4-BE49-F238E27FC236}">
                <a16:creationId xmlns:a16="http://schemas.microsoft.com/office/drawing/2014/main" id="{94FEFEB7-8EF7-4D2A-BB98-63DE4000483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4   80</a:t>
            </a:r>
          </a:p>
        </p:txBody>
      </p:sp>
    </p:spTree>
    <p:extLst>
      <p:ext uri="{BB962C8B-B14F-4D97-AF65-F5344CB8AC3E}">
        <p14:creationId xmlns:p14="http://schemas.microsoft.com/office/powerpoint/2010/main" val="329338978"/>
      </p:ext>
    </p:extLst>
  </p:cSld>
</p:sld>
</file>

<file path=ppt/slides/slide8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0702C35F-4114-41A8-BE66-8B443A7EAE4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C2A915ED-FED9-4CFF-A945-8FB2C9BC308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9B7D2724-CA2C-491D-930C-75B606F4D20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Week 4 rules continued</a:t>
            </a:r>
          </a:p>
        </p:txBody>
      </p:sp>
      <p:sp>
        <p:nvSpPr>
          <p:cNvPr id="4" name="">
            <a:extLst xmlns:a="http://schemas.openxmlformats.org/drawingml/2006/main">
              <a:ext uri="{FF2B5EF4-FFF2-40B4-BE49-F238E27FC236}">
                <a16:creationId xmlns:a16="http://schemas.microsoft.com/office/drawing/2014/main" id="{4178B757-AC79-4F7F-8810-6C7C8D2C01C7}"/>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5FD0C4FF-AB45-4881-A11B-FF2D08C5A6C7}"/>
              </a:ext>
            </a:extLst>
          </p:cNvPr>
          <p:cNvSpPr>
            <a:spLocks xmlns:a="http://schemas.openxmlformats.org/drawingml/2006/main" noGrp="1"/>
          </p:cNvSpPr>
          <p:nvPr/>
        </p:nvSpPr>
        <p:spPr>
          <a:xfrm xmlns:a="http://schemas.openxmlformats.org/drawingml/2006/main">
            <a:off x="1381125" y="1781175"/>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Compute valid_count, mean_reading, above_limit (strictly greater than 0.3) and group_means keyed by structure_id.</a:t>
            </a:r>
          </a:p>
        </p:txBody>
      </p:sp>
      <p:sp>
        <p:nvSpPr>
          <p:cNvPr id="6" name="">
            <a:extLst xmlns:a="http://schemas.openxmlformats.org/drawingml/2006/main">
              <a:ext uri="{FF2B5EF4-FFF2-40B4-BE49-F238E27FC236}">
                <a16:creationId xmlns:a16="http://schemas.microsoft.com/office/drawing/2014/main" id="{14418289-B3B9-4A53-9737-9A87B895EA96}"/>
              </a:ext>
            </a:extLst>
          </p:cNvPr>
          <p:cNvSpPr>
            <a:spLocks xmlns:a="http://schemas.openxmlformats.org/drawingml/2006/main" noGrp="1"/>
          </p:cNvSpPr>
          <p:nvPr/>
        </p:nvSpPr>
        <p:spPr>
          <a:xfrm xmlns:a="http://schemas.openxmlformats.org/drawingml/2006/main">
            <a:off x="590550" y="28527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55C56217-80D2-41B7-8ECB-2E16E9A3C549}"/>
              </a:ext>
            </a:extLst>
          </p:cNvPr>
          <p:cNvSpPr>
            <a:spLocks xmlns:a="http://schemas.openxmlformats.org/drawingml/2006/main" noGrp="1"/>
          </p:cNvSpPr>
          <p:nvPr/>
        </p:nvSpPr>
        <p:spPr>
          <a:xfrm xmlns:a="http://schemas.openxmlformats.org/drawingml/2006/main">
            <a:off x="1381125" y="2852738"/>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standard-library csv and collections.</a:t>
            </a:r>
          </a:p>
        </p:txBody>
      </p:sp>
      <p:sp>
        <p:nvSpPr>
          <p:cNvPr id="8" name="">
            <a:extLst xmlns:a="http://schemas.openxmlformats.org/drawingml/2006/main">
              <a:ext uri="{FF2B5EF4-FFF2-40B4-BE49-F238E27FC236}">
                <a16:creationId xmlns:a16="http://schemas.microsoft.com/office/drawing/2014/main" id="{4688DB93-3189-4745-A4C9-13F337CE54A4}"/>
              </a:ext>
            </a:extLst>
          </p:cNvPr>
          <p:cNvSpPr>
            <a:spLocks xmlns:a="http://schemas.openxmlformats.org/drawingml/2006/main" noGrp="1"/>
          </p:cNvSpPr>
          <p:nvPr/>
        </p:nvSpPr>
        <p:spPr>
          <a:xfrm xmlns:a="http://schemas.openxmlformats.org/drawingml/2006/main">
            <a:off x="590550" y="392430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202A8F59-B394-430E-92C5-3FE7AC9C6B08}"/>
              </a:ext>
            </a:extLst>
          </p:cNvPr>
          <p:cNvSpPr>
            <a:spLocks xmlns:a="http://schemas.openxmlformats.org/drawingml/2006/main" noGrp="1"/>
          </p:cNvSpPr>
          <p:nvPr/>
        </p:nvSpPr>
        <p:spPr>
          <a:xfrm xmlns:a="http://schemas.openxmlformats.org/drawingml/2006/main">
            <a:off x="1381125" y="3924300"/>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Save a copy using your Student Registration Number with / replaced by _, followed by _W04.ipynb.</a:t>
            </a:r>
          </a:p>
        </p:txBody>
      </p:sp>
      <p:sp>
        <p:nvSpPr>
          <p:cNvPr id="10" name="">
            <a:extLst xmlns:a="http://schemas.openxmlformats.org/drawingml/2006/main">
              <a:ext uri="{FF2B5EF4-FFF2-40B4-BE49-F238E27FC236}">
                <a16:creationId xmlns:a16="http://schemas.microsoft.com/office/drawing/2014/main" id="{C80A5483-E822-4FC1-B506-BF7F10180D7B}"/>
              </a:ext>
            </a:extLst>
          </p:cNvPr>
          <p:cNvSpPr>
            <a:spLocks xmlns:a="http://schemas.openxmlformats.org/drawingml/2006/main" noGrp="1"/>
          </p:cNvSpPr>
          <p:nvPr/>
        </p:nvSpPr>
        <p:spPr>
          <a:xfrm xmlns:a="http://schemas.openxmlformats.org/drawingml/2006/main">
            <a:off x="590550" y="49958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A012A5E6-E748-48D0-8299-4E3A72A48CD9}"/>
              </a:ext>
            </a:extLst>
          </p:cNvPr>
          <p:cNvSpPr>
            <a:spLocks xmlns:a="http://schemas.openxmlformats.org/drawingml/2006/main" noGrp="1"/>
          </p:cNvSpPr>
          <p:nvPr/>
        </p:nvSpPr>
        <p:spPr>
          <a:xfrm xmlns:a="http://schemas.openxmlformats.org/drawingml/2006/main">
            <a:off x="1381125" y="4995863"/>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STUDENT_ID in the starter code means Student Registration Number.</a:t>
            </a:r>
          </a:p>
        </p:txBody>
      </p:sp>
      <p:sp>
        <p:nvSpPr>
          <p:cNvPr id="12" name="">
            <a:extLst xmlns:a="http://schemas.openxmlformats.org/drawingml/2006/main">
              <a:ext uri="{FF2B5EF4-FFF2-40B4-BE49-F238E27FC236}">
                <a16:creationId xmlns:a16="http://schemas.microsoft.com/office/drawing/2014/main" id="{A291DC8A-F9FB-49F6-B0D8-EC262831E75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4   81</a:t>
            </a:r>
          </a:p>
        </p:txBody>
      </p:sp>
    </p:spTree>
    <p:extLst>
      <p:ext uri="{BB962C8B-B14F-4D97-AF65-F5344CB8AC3E}">
        <p14:creationId xmlns:p14="http://schemas.microsoft.com/office/powerpoint/2010/main" val="255889212"/>
      </p:ext>
    </p:extLst>
  </p:cSld>
</p:sld>
</file>

<file path=ppt/slides/slide8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0A7FE329-45AF-40D1-B039-43F3892AC8B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0E16CA3-4870-4736-8F58-FEDCEFB8273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0DC4AB30-5E80-4BAF-8099-92F4AB3371D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Week 4 rules continued</a:t>
            </a:r>
          </a:p>
        </p:txBody>
      </p:sp>
      <p:sp>
        <p:nvSpPr>
          <p:cNvPr id="4" name="">
            <a:extLst xmlns:a="http://schemas.openxmlformats.org/drawingml/2006/main">
              <a:ext uri="{FF2B5EF4-FFF2-40B4-BE49-F238E27FC236}">
                <a16:creationId xmlns:a16="http://schemas.microsoft.com/office/drawing/2014/main" id="{A0C90882-E515-4DB5-8CC3-0D270C2CCCAC}"/>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515C1BBA-8C1E-4069-AE19-55E9648820C5}"/>
              </a:ext>
            </a:extLst>
          </p:cNvPr>
          <p:cNvSpPr>
            <a:spLocks xmlns:a="http://schemas.openxmlformats.org/drawingml/2006/main" noGrp="1"/>
          </p:cNvSpPr>
          <p:nvPr/>
        </p:nvSpPr>
        <p:spPr>
          <a:xfrm xmlns:a="http://schemas.openxmlformats.org/drawingml/2006/main">
            <a:off x="1381125" y="1781175"/>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Four checks carry five marks each.</a:t>
            </a:r>
          </a:p>
        </p:txBody>
      </p:sp>
      <p:sp>
        <p:nvSpPr>
          <p:cNvPr id="6" name="">
            <a:extLst xmlns:a="http://schemas.openxmlformats.org/drawingml/2006/main">
              <a:ext uri="{FF2B5EF4-FFF2-40B4-BE49-F238E27FC236}">
                <a16:creationId xmlns:a16="http://schemas.microsoft.com/office/drawing/2014/main" id="{B6111260-A682-454C-A78F-FF7E5388534E}"/>
              </a:ext>
            </a:extLst>
          </p:cNvPr>
          <p:cNvSpPr>
            <a:spLocks xmlns:a="http://schemas.openxmlformats.org/drawingml/2006/main" noGrp="1"/>
          </p:cNvSpPr>
          <p:nvPr/>
        </p:nvSpPr>
        <p:spPr>
          <a:xfrm xmlns:a="http://schemas.openxmlformats.org/drawingml/2006/main">
            <a:off x="590550" y="28527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1472EA96-C38A-4E0E-9AB4-71918775654D}"/>
              </a:ext>
            </a:extLst>
          </p:cNvPr>
          <p:cNvSpPr>
            <a:spLocks xmlns:a="http://schemas.openxmlformats.org/drawingml/2006/main" noGrp="1"/>
          </p:cNvSpPr>
          <p:nvPr/>
        </p:nvSpPr>
        <p:spPr>
          <a:xfrm xmlns:a="http://schemas.openxmlformats.org/drawingml/2006/main">
            <a:off x="1381125" y="2852738"/>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Explain the interesting pattern separately as formative practice.</a:t>
            </a:r>
          </a:p>
        </p:txBody>
      </p:sp>
      <p:sp>
        <p:nvSpPr>
          <p:cNvPr id="8" name="">
            <a:extLst xmlns:a="http://schemas.openxmlformats.org/drawingml/2006/main">
              <a:ext uri="{FF2B5EF4-FFF2-40B4-BE49-F238E27FC236}">
                <a16:creationId xmlns:a16="http://schemas.microsoft.com/office/drawing/2014/main" id="{FDACB81F-C4B5-43D7-A61A-451880DBFAA0}"/>
              </a:ext>
            </a:extLst>
          </p:cNvPr>
          <p:cNvSpPr>
            <a:spLocks xmlns:a="http://schemas.openxmlformats.org/drawingml/2006/main" noGrp="1"/>
          </p:cNvSpPr>
          <p:nvPr/>
        </p:nvSpPr>
        <p:spPr>
          <a:xfrm xmlns:a="http://schemas.openxmlformats.org/drawingml/2006/main">
            <a:off x="590550" y="392430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C10C2DD1-8C50-489A-8FC9-7149B069D2B8}"/>
              </a:ext>
            </a:extLst>
          </p:cNvPr>
          <p:cNvSpPr>
            <a:spLocks xmlns:a="http://schemas.openxmlformats.org/drawingml/2006/main" noGrp="1"/>
          </p:cNvSpPr>
          <p:nvPr/>
        </p:nvSpPr>
        <p:spPr>
          <a:xfrm xmlns:a="http://schemas.openxmlformats.org/drawingml/2006/main">
            <a:off x="1381125" y="3924300"/>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For beginner step-by-step help, open ASSIGNMENT_INSTRUCTIONS.txt and STUDENT_HOW_TO.md in this folder.</a:t>
            </a:r>
          </a:p>
        </p:txBody>
      </p:sp>
      <p:sp>
        <p:nvSpPr>
          <p:cNvPr id="10" name="">
            <a:extLst xmlns:a="http://schemas.openxmlformats.org/drawingml/2006/main">
              <a:ext uri="{FF2B5EF4-FFF2-40B4-BE49-F238E27FC236}">
                <a16:creationId xmlns:a16="http://schemas.microsoft.com/office/drawing/2014/main" id="{8ADD50E2-9E85-4919-9F81-6B4C57BCD0CC}"/>
              </a:ext>
            </a:extLst>
          </p:cNvPr>
          <p:cNvSpPr>
            <a:spLocks xmlns:a="http://schemas.openxmlformats.org/drawingml/2006/main" noGrp="1"/>
          </p:cNvSpPr>
          <p:nvPr/>
        </p:nvSpPr>
        <p:spPr>
          <a:xfrm xmlns:a="http://schemas.openxmlformats.org/drawingml/2006/main">
            <a:off x="590550" y="49958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6E429852-4BFB-455D-9F6A-EAA031D15AA7}"/>
              </a:ext>
            </a:extLst>
          </p:cNvPr>
          <p:cNvSpPr>
            <a:spLocks xmlns:a="http://schemas.openxmlformats.org/drawingml/2006/main" noGrp="1"/>
          </p:cNvSpPr>
          <p:nvPr/>
        </p:nvSpPr>
        <p:spPr>
          <a:xfrm xmlns:a="http://schemas.openxmlformats.org/drawingml/2006/main">
            <a:off x="1381125" y="4995863"/>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first names your required files and hand-in checklist; the second explains accounts, Colab, saving and uploads.</a:t>
            </a:r>
          </a:p>
        </p:txBody>
      </p:sp>
      <p:sp>
        <p:nvSpPr>
          <p:cNvPr id="12" name="">
            <a:extLst xmlns:a="http://schemas.openxmlformats.org/drawingml/2006/main">
              <a:ext uri="{FF2B5EF4-FFF2-40B4-BE49-F238E27FC236}">
                <a16:creationId xmlns:a16="http://schemas.microsoft.com/office/drawing/2014/main" id="{64E5629B-0C59-4875-A0BF-6F8F8C8D20A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4   82</a:t>
            </a:r>
          </a:p>
        </p:txBody>
      </p:sp>
    </p:spTree>
    <p:extLst>
      <p:ext uri="{BB962C8B-B14F-4D97-AF65-F5344CB8AC3E}">
        <p14:creationId xmlns:p14="http://schemas.microsoft.com/office/powerpoint/2010/main" val="328886814"/>
      </p:ext>
    </p:extLst>
  </p:cSld>
</p:sld>
</file>

<file path=ppt/slides/slide8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4A7FD3FD-2048-4FB0-8960-2AD92D96821A}"/>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F3FE79E2-207B-45A6-A807-F194C12A6FE7}"/>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ASSIGNMENT SUBMISSION</a:t>
            </a:r>
          </a:p>
        </p:txBody>
      </p:sp>
      <p:sp>
        <p:nvSpPr>
          <p:cNvPr id="3" name="">
            <a:extLst xmlns:a="http://schemas.openxmlformats.org/drawingml/2006/main">
              <a:ext uri="{FF2B5EF4-FFF2-40B4-BE49-F238E27FC236}">
                <a16:creationId xmlns:a16="http://schemas.microsoft.com/office/drawing/2014/main" id="{675CCED1-7E8A-4594-A421-88DD819E8D9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Reading report submission</a:t>
            </a:r>
          </a:p>
        </p:txBody>
      </p:sp>
      <p:sp>
        <p:nvSpPr>
          <p:cNvPr id="4" name="">
            <a:extLst xmlns:a="http://schemas.openxmlformats.org/drawingml/2006/main">
              <a:ext uri="{FF2B5EF4-FFF2-40B4-BE49-F238E27FC236}">
                <a16:creationId xmlns:a16="http://schemas.microsoft.com/office/drawing/2014/main" id="{726586D4-6E90-4FFD-ADB7-CBD869821A66}"/>
              </a:ext>
            </a:extLst>
          </p:cNvPr>
          <p:cNvSpPr>
            <a:spLocks xmlns:a="http://schemas.openxmlformats.org/drawingml/2006/main" noGrp="1"/>
          </p:cNvSpPr>
          <p:nvPr/>
        </p:nvSpPr>
        <p:spPr>
          <a:xfrm xmlns:a="http://schemas.openxmlformats.org/drawingml/2006/main">
            <a:off x="590550" y="17240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291CF6DB-6EC4-4F1C-8661-439ECC4ACAF3}"/>
              </a:ext>
            </a:extLst>
          </p:cNvPr>
          <p:cNvSpPr>
            <a:spLocks xmlns:a="http://schemas.openxmlformats.org/drawingml/2006/main" noGrp="1"/>
          </p:cNvSpPr>
          <p:nvPr/>
        </p:nvSpPr>
        <p:spPr>
          <a:xfrm xmlns:a="http://schemas.openxmlformats.org/drawingml/2006/main">
            <a:off x="1381125" y="1724025"/>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Opens: 29 Sep 2026, 11:00 Kampala</a:t>
            </a:r>
          </a:p>
        </p:txBody>
      </p:sp>
      <p:sp>
        <p:nvSpPr>
          <p:cNvPr id="6" name="">
            <a:extLst xmlns:a="http://schemas.openxmlformats.org/drawingml/2006/main">
              <a:ext uri="{FF2B5EF4-FFF2-40B4-BE49-F238E27FC236}">
                <a16:creationId xmlns:a16="http://schemas.microsoft.com/office/drawing/2014/main" id="{9074C8FE-CF64-40B7-AFC9-602AFF8ECFB9}"/>
              </a:ext>
            </a:extLst>
          </p:cNvPr>
          <p:cNvSpPr>
            <a:spLocks xmlns:a="http://schemas.openxmlformats.org/drawingml/2006/main" noGrp="1"/>
          </p:cNvSpPr>
          <p:nvPr/>
        </p:nvSpPr>
        <p:spPr>
          <a:xfrm xmlns:a="http://schemas.openxmlformats.org/drawingml/2006/main">
            <a:off x="590550" y="2521744"/>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2E9645A2-A246-4AEB-A9E2-47582F985386}"/>
              </a:ext>
            </a:extLst>
          </p:cNvPr>
          <p:cNvSpPr>
            <a:spLocks xmlns:a="http://schemas.openxmlformats.org/drawingml/2006/main" noGrp="1"/>
          </p:cNvSpPr>
          <p:nvPr/>
        </p:nvSpPr>
        <p:spPr>
          <a:xfrm xmlns:a="http://schemas.openxmlformats.org/drawingml/2006/main">
            <a:off x="1381125" y="2521744"/>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Deadline: 06 Oct 2026, 11:00 Kampala</a:t>
            </a:r>
          </a:p>
        </p:txBody>
      </p:sp>
      <p:sp>
        <p:nvSpPr>
          <p:cNvPr id="8" name="">
            <a:extLst xmlns:a="http://schemas.openxmlformats.org/drawingml/2006/main">
              <a:ext uri="{FF2B5EF4-FFF2-40B4-BE49-F238E27FC236}">
                <a16:creationId xmlns:a16="http://schemas.microsoft.com/office/drawing/2014/main" id="{14AFC5F0-DC5E-49F8-B470-22D6E5E49D46}"/>
              </a:ext>
            </a:extLst>
          </p:cNvPr>
          <p:cNvSpPr>
            <a:spLocks xmlns:a="http://schemas.openxmlformats.org/drawingml/2006/main" noGrp="1"/>
          </p:cNvSpPr>
          <p:nvPr/>
        </p:nvSpPr>
        <p:spPr>
          <a:xfrm xmlns:a="http://schemas.openxmlformats.org/drawingml/2006/main">
            <a:off x="590550" y="33194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CB1CAD82-692E-47BD-9AAE-F1E5F7C5EB14}"/>
              </a:ext>
            </a:extLst>
          </p:cNvPr>
          <p:cNvSpPr>
            <a:spLocks xmlns:a="http://schemas.openxmlformats.org/drawingml/2006/main" noGrp="1"/>
          </p:cNvSpPr>
          <p:nvPr/>
        </p:nvSpPr>
        <p:spPr>
          <a:xfrm xmlns:a="http://schemas.openxmlformats.org/drawingml/2006/main">
            <a:off x="1381125" y="3319463"/>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your full Student Registration Number in the form.</a:t>
            </a:r>
          </a:p>
        </p:txBody>
      </p:sp>
      <p:sp>
        <p:nvSpPr>
          <p:cNvPr id="10" name="">
            <a:extLst xmlns:a="http://schemas.openxmlformats.org/drawingml/2006/main">
              <a:ext uri="{FF2B5EF4-FFF2-40B4-BE49-F238E27FC236}">
                <a16:creationId xmlns:a16="http://schemas.microsoft.com/office/drawing/2014/main" id="{331C674D-625B-4E6B-AE2D-CC4696BFAABA}"/>
              </a:ext>
            </a:extLst>
          </p:cNvPr>
          <p:cNvSpPr>
            <a:spLocks xmlns:a="http://schemas.openxmlformats.org/drawingml/2006/main" noGrp="1"/>
          </p:cNvSpPr>
          <p:nvPr/>
        </p:nvSpPr>
        <p:spPr>
          <a:xfrm xmlns:a="http://schemas.openxmlformats.org/drawingml/2006/main">
            <a:off x="590550" y="4117181"/>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82DE6EBD-9881-498A-9DC9-6EA1C55F59CB}"/>
              </a:ext>
            </a:extLst>
          </p:cNvPr>
          <p:cNvSpPr>
            <a:spLocks xmlns:a="http://schemas.openxmlformats.org/drawingml/2006/main" noGrp="1"/>
          </p:cNvSpPr>
          <p:nvPr/>
        </p:nvSpPr>
        <p:spPr>
          <a:xfrm xmlns:a="http://schemas.openxmlformats.org/drawingml/2006/main">
            <a:off x="1381125" y="4117181"/>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Keep the submitted files and confirmation.</a:t>
            </a:r>
          </a:p>
        </p:txBody>
      </p:sp>
      <p:sp>
        <p:nvSpPr>
          <p:cNvPr id="12" name="">
            <a:extLst xmlns:a="http://schemas.openxmlformats.org/drawingml/2006/main">
              <a:ext uri="{FF2B5EF4-FFF2-40B4-BE49-F238E27FC236}">
                <a16:creationId xmlns:a16="http://schemas.microsoft.com/office/drawing/2014/main" id="{E6505553-C38E-4BDB-9395-98AECC6FBC15}"/>
              </a:ext>
            </a:extLst>
          </p:cNvPr>
          <p:cNvSpPr>
            <a:spLocks xmlns:a="http://schemas.openxmlformats.org/drawingml/2006/main" noGrp="1"/>
          </p:cNvSpPr>
          <p:nvPr/>
        </p:nvSpPr>
        <p:spPr>
          <a:xfrm xmlns:a="http://schemas.openxmlformats.org/drawingml/2006/main">
            <a:off x="590550" y="5143500"/>
            <a:ext cx="11010900" cy="6572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C59E9DAB-0740-455E-9ED0-25A6D482994E}"/>
              </a:ext>
            </a:extLst>
          </p:cNvPr>
          <p:cNvSpPr>
            <a:spLocks xmlns:a="http://schemas.openxmlformats.org/drawingml/2006/main" noGrp="1"/>
          </p:cNvSpPr>
          <p:nvPr/>
        </p:nvSpPr>
        <p:spPr>
          <a:xfrm xmlns:a="http://schemas.openxmlformats.org/drawingml/2006/main">
            <a:off x="800100" y="5267325"/>
            <a:ext cx="10572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1">
                <a:solidFill>
                  <a:srgbClr val="2E7D6F"/>
                </a:solidFill>
                <a:latin typeface="Calibri"/>
                <a:ea typeface="Calibri"/>
                <a:cs typeface="Calibri"/>
              </a:defRPr>
            </a:pPr>
            <a:r>
              <a:rPr sz="2250" b="1">
                <a:solidFill>
                  <a:srgbClr val="2E7D6F"/>
                </a:solidFill>
                <a:latin typeface="Calibri"/>
                <a:ea typeface="Calibri"/>
                <a:cs typeface="Calibri"/>
                <a:hlinkClick xmlns:r="http://schemas.openxmlformats.org/officeDocument/2006/relationships" r:id="R7de6a254c4714738"/>
              </a:rPr>
              <a:t>Open W04 assignment form</a:t>
            </a:r>
          </a:p>
        </p:txBody>
      </p:sp>
      <p:sp>
        <p:nvSpPr>
          <p:cNvPr id="14" name="">
            <a:extLst xmlns:a="http://schemas.openxmlformats.org/drawingml/2006/main">
              <a:ext uri="{FF2B5EF4-FFF2-40B4-BE49-F238E27FC236}">
                <a16:creationId xmlns:a16="http://schemas.microsoft.com/office/drawing/2014/main" id="{3A014DE8-E92B-4F90-8BE2-3737CF6BA351}"/>
              </a:ext>
            </a:extLst>
          </p:cNvPr>
          <p:cNvSpPr>
            <a:spLocks xmlns:a="http://schemas.openxmlformats.org/drawingml/2006/main" noGrp="1"/>
          </p:cNvSpPr>
          <p:nvPr/>
        </p:nvSpPr>
        <p:spPr>
          <a:xfrm xmlns:a="http://schemas.openxmlformats.org/drawingml/2006/main">
            <a:off x="685800" y="5972175"/>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0">
                <a:solidFill>
                  <a:srgbClr val="6B7A8A"/>
                </a:solidFill>
                <a:latin typeface="Calibri"/>
                <a:ea typeface="Calibri"/>
                <a:cs typeface="Calibri"/>
              </a:defRPr>
            </a:pPr>
            <a:r>
              <a:rPr sz="1275" b="0">
                <a:solidFill>
                  <a:srgbClr val="6B7A8A"/>
                </a:solidFill>
                <a:latin typeface="Calibri"/>
                <a:ea typeface="Calibri"/>
                <a:cs typeface="Calibri"/>
              </a:rPr>
              <a:t>https://docs.google.com/forms/d/e/1FAIpQLSeZymY0jwFhuwihprLiqEaq2DqmLZD3nIYht1IkN4OcPGeTFg/viewform</a:t>
            </a:r>
          </a:p>
        </p:txBody>
      </p:sp>
      <p:sp>
        <p:nvSpPr>
          <p:cNvPr id="15" name="">
            <a:extLst xmlns:a="http://schemas.openxmlformats.org/drawingml/2006/main">
              <a:ext uri="{FF2B5EF4-FFF2-40B4-BE49-F238E27FC236}">
                <a16:creationId xmlns:a16="http://schemas.microsoft.com/office/drawing/2014/main" id="{73548268-AF42-4941-A12C-CDE907D48F7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4   83</a:t>
            </a:r>
          </a:p>
        </p:txBody>
      </p:sp>
    </p:spTree>
    <p:extLst>
      <p:ext uri="{BB962C8B-B14F-4D97-AF65-F5344CB8AC3E}">
        <p14:creationId xmlns:p14="http://schemas.microsoft.com/office/powerpoint/2010/main" val="1673666813"/>
      </p:ext>
    </p:extLst>
  </p:cSld>
</p:sld>
</file>

<file path=ppt/slides/slide84.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FFFFF"/>
        </a:solidFill>
      </p:bgPr>
    </p:bg>
    <p:spTree>
      <p:nvGrpSpPr>
        <p:cNvPr id="1" name=""/>
        <p:cNvGrpSpPr/>
        <p:nvPr/>
      </p:nvGrpSpPr>
      <p:grpSpPr>
        <a:xfrm/>
      </p:grpSpPr>
      <p:sp>
        <p:nvSpPr>
          <p:cNvPr id="18" name="">
            <a:extLst>
              <a:ext uri="{FF2B5EF4-FFF2-40B4-BE49-F238E27FC236}">
                <ns2:creationId id="{F581F7DB-BAE3-410F-A7F6-B42DA3485063}"/>
              </a:ext>
            </a:extLst>
          </p:cNvPr>
          <p:cNvSpPr>
            <a:spLocks noGrp="1"/>
          </p:cNvSpPr>
          <p:nvPr/>
        </p:nvSpPr>
        <p:spPr>
          <a:xfrm>
            <a:off x="0" y="0"/>
            <a:ext cx="12191695" cy="1390650"/>
          </a:xfrm>
          <a:prstGeom prst="rect">
            <a:avLst/>
          </a:prstGeom>
          <a:solidFill>
            <a:srgbClr val="1C3144"/>
          </a:solidFill>
          <a:ln w="0">
            <a:noFill/>
          </a:ln>
        </p:spPr>
      </p:sp>
      <p:sp>
        <p:nvSpPr>
          <p:cNvPr id="2" name="">
            <a:extLst>
              <a:ext uri="{FF2B5EF4-FFF2-40B4-BE49-F238E27FC236}">
                <ns2:creationId id="{82F53398-3854-4C07-B741-1F2886B25601}"/>
              </a:ext>
            </a:extLst>
          </p:cNvPr>
          <p:cNvSpPr>
            <a:spLocks noGrp="1"/>
          </p:cNvSpPr>
          <p:nvPr/>
        </p:nvSpPr>
        <p:spPr>
          <a:xfrm>
            <a:off x="590550" y="180975"/>
            <a:ext cx="11049000" cy="285750"/>
          </a:xfrm>
          <a:prstGeom prst="rect">
            <a:avLst/>
          </a:prstGeom>
          <a:noFill/>
          <a:ln w="0">
            <a:noFill/>
          </a:ln>
        </p:spPr>
        <p:txBody>
          <a:bodyPr>
            <a:noAutofit/>
          </a:bodyPr>
          <a:lstStyle/>
          <a:p>
            <a:pPr>
              <a:defRPr sz="1500" b="1">
                <a:solidFill>
                  <a:srgbClr val="E4572E"/>
                </a:solidFill>
                <a:latin typeface="Calibri"/>
                <a:ea typeface="Calibri"/>
                <a:cs typeface="Calibri"/>
              </a:defRPr>
            </a:pPr>
            <a:r>
              <a:rPr sz="1500" b="1">
                <a:solidFill>
                  <a:srgbClr val="E4572E"/>
                </a:solidFill>
                <a:latin typeface="Calibri"/>
                <a:ea typeface="Calibri"/>
                <a:cs typeface="Calibri"/>
              </a:rPr>
              <a:t>QUIZ ACCESS</a:t>
            </a:r>
          </a:p>
        </p:txBody>
      </p:sp>
      <p:sp>
        <p:nvSpPr>
          <p:cNvPr id="3" name="">
            <a:extLst>
              <a:ext uri="{FF2B5EF4-FFF2-40B4-BE49-F238E27FC236}">
                <ns2:creationId id="{E7C5BD30-B737-4BA3-8F71-39BA09A7BD4F}"/>
              </a:ext>
            </a:extLst>
          </p:cNvPr>
          <p:cNvSpPr>
            <a:spLocks noGrp="1"/>
          </p:cNvSpPr>
          <p:nvPr/>
        </p:nvSpPr>
        <p:spPr>
          <a:xfrm>
            <a:off x="590550" y="523875"/>
            <a:ext cx="11049000" cy="809625"/>
          </a:xfrm>
          <a:prstGeom prst="rect">
            <a:avLst/>
          </a:prstGeom>
          <a:noFill/>
          <a:ln w="0">
            <a:noFill/>
          </a:ln>
        </p:spPr>
        <p:txBody>
          <a:bodyPr>
            <a:noAutofit/>
          </a:bodyPr>
          <a:lstStyle/>
          <a:p>
            <a:pPr>
              <a:defRPr sz="3150" b="1">
                <a:solidFill>
                  <a:srgbClr val="FFFFFF"/>
                </a:solidFill>
                <a:latin typeface="Calibri"/>
                <a:ea typeface="Calibri"/>
                <a:cs typeface="Calibri"/>
              </a:defRPr>
            </a:pPr>
            <a:r>
              <a:rPr sz="3150" b="1">
                <a:solidFill>
                  <a:srgbClr val="FFFFFF"/>
                </a:solidFill>
                <a:latin typeface="Calibri"/>
                <a:ea typeface="Calibri"/>
                <a:cs typeface="Calibri"/>
              </a:rPr>
              <a:t>Week 4 quiz</a:t>
            </a:r>
          </a:p>
        </p:txBody>
      </p:sp>
      <p:sp>
        <p:nvSpPr>
          <p:cNvPr id="4" name="">
            <a:extLst>
              <a:ext uri="{FF2B5EF4-FFF2-40B4-BE49-F238E27FC236}">
                <ns2:creationId id="{5614C04B-5FAE-4692-BC97-28F152952766}"/>
              </a:ext>
            </a:extLst>
          </p:cNvPr>
          <p:cNvSpPr>
            <a:spLocks noGrp="1"/>
          </p:cNvSpPr>
          <p:nvPr/>
        </p:nvSpPr>
        <p:spPr>
          <a:xfrm>
            <a:off x="590550" y="1724025"/>
            <a:ext cx="619125" cy="571500"/>
          </a:xfrm>
          <a:prstGeom prst="rect">
            <a:avLst/>
          </a:prstGeom>
          <a:noFill/>
          <a:ln w="0">
            <a:noFill/>
          </a:ln>
        </p:spPr>
        <p:txBody>
          <a:bodyPr>
            <a:noAutofit/>
          </a:bodyPr>
          <a:lstStyle/>
          <a:p>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a:ext uri="{FF2B5EF4-FFF2-40B4-BE49-F238E27FC236}">
                <ns2:creationId id="{38F4E6C2-748B-4015-98F8-F323142C2352}"/>
              </a:ext>
            </a:extLst>
          </p:cNvPr>
          <p:cNvSpPr>
            <a:spLocks noGrp="1"/>
          </p:cNvSpPr>
          <p:nvPr/>
        </p:nvSpPr>
        <p:spPr>
          <a:xfrm>
            <a:off x="1381125" y="1724025"/>
            <a:ext cx="7143750" cy="721519"/>
          </a:xfrm>
          <a:prstGeom prst="rect">
            <a:avLst/>
          </a:prstGeom>
          <a:noFill/>
          <a:ln w="0">
            <a:noFill/>
          </a:ln>
        </p:spPr>
        <p:txBody>
          <a:bodyPr>
            <a:noAutofit/>
          </a:bodyPr>
          <a:lstStyle/>
          <a:p>
            <a:pPr>
              <a:defRPr sz="2250" b="0">
                <a:solidFill>
                  <a:srgbClr val="1C3144"/>
                </a:solidFill>
                <a:latin typeface="Calibri"/>
                <a:ea typeface="Calibri"/>
                <a:cs typeface="Calibri"/>
              </a:defRPr>
            </a:pPr>
            <a:r>
              <a:rPr sz="2250" b="0">
                <a:solidFill>
                  <a:srgbClr val="1C3144"/>
                </a:solidFill>
                <a:latin typeface="Calibri"/>
                <a:ea typeface="Calibri"/>
                <a:cs typeface="Calibri"/>
              </a:rPr>
              <a:t>Answer individually after the lecturer activates the quiz.</a:t>
            </a:r>
          </a:p>
        </p:txBody>
      </p:sp>
      <p:sp>
        <p:nvSpPr>
          <p:cNvPr id="6" name="">
            <a:extLst>
              <a:ext uri="{FF2B5EF4-FFF2-40B4-BE49-F238E27FC236}">
                <ns2:creationId id="{64426060-01FB-4600-A22D-9F72D7D1E6DB}"/>
              </a:ext>
            </a:extLst>
          </p:cNvPr>
          <p:cNvSpPr>
            <a:spLocks noGrp="1"/>
          </p:cNvSpPr>
          <p:nvPr/>
        </p:nvSpPr>
        <p:spPr>
          <a:xfrm>
            <a:off x="590550" y="2521744"/>
            <a:ext cx="619125" cy="571500"/>
          </a:xfrm>
          <a:prstGeom prst="rect">
            <a:avLst/>
          </a:prstGeom>
          <a:noFill/>
          <a:ln w="0">
            <a:noFill/>
          </a:ln>
        </p:spPr>
        <p:txBody>
          <a:bodyPr>
            <a:noAutofit/>
          </a:bodyPr>
          <a:lstStyle/>
          <a:p>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a:ext uri="{FF2B5EF4-FFF2-40B4-BE49-F238E27FC236}">
                <ns2:creationId id="{D4EFEBAA-D615-42A3-853D-30CB328C6014}"/>
              </a:ext>
            </a:extLst>
          </p:cNvPr>
          <p:cNvSpPr>
            <a:spLocks noGrp="1"/>
          </p:cNvSpPr>
          <p:nvPr/>
        </p:nvSpPr>
        <p:spPr>
          <a:xfrm>
            <a:off x="1381125" y="2521744"/>
            <a:ext cx="7143750" cy="721519"/>
          </a:xfrm>
          <a:prstGeom prst="rect">
            <a:avLst/>
          </a:prstGeom>
          <a:noFill/>
          <a:ln w="0">
            <a:noFill/>
          </a:ln>
        </p:spPr>
        <p:txBody>
          <a:bodyPr>
            <a:noAutofit/>
          </a:bodyPr>
          <a:lstStyle/>
          <a:p>
            <a:pPr>
              <a:defRPr sz="2250" b="0">
                <a:solidFill>
                  <a:srgbClr val="1C3144"/>
                </a:solidFill>
                <a:latin typeface="Calibri"/>
                <a:ea typeface="Calibri"/>
                <a:cs typeface="Calibri"/>
              </a:defRPr>
            </a:pPr>
            <a:r>
              <a:rPr sz="2250" b="0">
                <a:solidFill>
                  <a:srgbClr val="1C3144"/>
                </a:solidFill>
                <a:latin typeface="Calibri"/>
                <a:ea typeface="Calibri"/>
                <a:cs typeface="Calibri"/>
              </a:rPr>
              <a:t>Available for 24 hours from activation.</a:t>
            </a:r>
          </a:p>
        </p:txBody>
      </p:sp>
      <p:sp>
        <p:nvSpPr>
          <p:cNvPr id="8" name="">
            <a:extLst>
              <a:ext uri="{FF2B5EF4-FFF2-40B4-BE49-F238E27FC236}">
                <ns2:creationId id="{981F22DB-E48F-4A74-8268-77377660D107}"/>
              </a:ext>
            </a:extLst>
          </p:cNvPr>
          <p:cNvSpPr>
            <a:spLocks noGrp="1"/>
          </p:cNvSpPr>
          <p:nvPr/>
        </p:nvSpPr>
        <p:spPr>
          <a:xfrm>
            <a:off x="590550" y="3319463"/>
            <a:ext cx="619125" cy="571500"/>
          </a:xfrm>
          <a:prstGeom prst="rect">
            <a:avLst/>
          </a:prstGeom>
          <a:noFill/>
          <a:ln w="0">
            <a:noFill/>
          </a:ln>
        </p:spPr>
        <p:txBody>
          <a:bodyPr>
            <a:noAutofit/>
          </a:bodyPr>
          <a:lstStyle/>
          <a:p>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a:ext uri="{FF2B5EF4-FFF2-40B4-BE49-F238E27FC236}">
                <ns2:creationId id="{BD7ED3BA-FFCA-4E03-B8B7-BCD53B6A4D2B}"/>
              </a:ext>
            </a:extLst>
          </p:cNvPr>
          <p:cNvSpPr>
            <a:spLocks noGrp="1"/>
          </p:cNvSpPr>
          <p:nvPr/>
        </p:nvSpPr>
        <p:spPr>
          <a:xfrm>
            <a:off x="1381125" y="3319463"/>
            <a:ext cx="7143750" cy="721519"/>
          </a:xfrm>
          <a:prstGeom prst="rect">
            <a:avLst/>
          </a:prstGeom>
          <a:noFill/>
          <a:ln w="0">
            <a:noFill/>
          </a:ln>
        </p:spPr>
        <p:txBody>
          <a:bodyPr>
            <a:noAutofit/>
          </a:bodyPr>
          <a:lstStyle/>
          <a:p>
            <a:pPr>
              <a:defRPr sz="2250" b="0">
                <a:solidFill>
                  <a:srgbClr val="1C3144"/>
                </a:solidFill>
                <a:latin typeface="Calibri"/>
                <a:ea typeface="Calibri"/>
                <a:cs typeface="Calibri"/>
              </a:defRPr>
            </a:pPr>
            <a:r>
              <a:rPr sz="2250" b="0">
                <a:solidFill>
                  <a:srgbClr val="1C3144"/>
                </a:solidFill>
                <a:latin typeface="Calibri"/>
                <a:ea typeface="Calibri"/>
                <a:cs typeface="Calibri"/>
              </a:rPr>
              <a:t>Use your Student Registration Number and registered account.</a:t>
            </a:r>
          </a:p>
        </p:txBody>
      </p:sp>
      <p:sp>
        <p:nvSpPr>
          <p:cNvPr id="10" name="">
            <a:extLst>
              <a:ext uri="{FF2B5EF4-FFF2-40B4-BE49-F238E27FC236}">
                <ns2:creationId id="{CFD777D7-3C46-4C36-B0BF-01F0312261BF}"/>
              </a:ext>
            </a:extLst>
          </p:cNvPr>
          <p:cNvSpPr>
            <a:spLocks noGrp="1"/>
          </p:cNvSpPr>
          <p:nvPr/>
        </p:nvSpPr>
        <p:spPr>
          <a:xfrm>
            <a:off x="590550" y="4117181"/>
            <a:ext cx="619125" cy="571500"/>
          </a:xfrm>
          <a:prstGeom prst="rect">
            <a:avLst/>
          </a:prstGeom>
          <a:noFill/>
          <a:ln w="0">
            <a:noFill/>
          </a:ln>
        </p:spPr>
        <p:txBody>
          <a:bodyPr>
            <a:noAutofit/>
          </a:bodyPr>
          <a:lstStyle/>
          <a:p>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a:ext uri="{FF2B5EF4-FFF2-40B4-BE49-F238E27FC236}">
                <ns2:creationId id="{DF7FA5F8-39B6-471A-A441-7A74A21F25E2}"/>
              </a:ext>
            </a:extLst>
          </p:cNvPr>
          <p:cNvSpPr>
            <a:spLocks noGrp="1"/>
          </p:cNvSpPr>
          <p:nvPr/>
        </p:nvSpPr>
        <p:spPr>
          <a:xfrm>
            <a:off x="1381125" y="4117181"/>
            <a:ext cx="7143750" cy="721519"/>
          </a:xfrm>
          <a:prstGeom prst="rect">
            <a:avLst/>
          </a:prstGeom>
          <a:noFill/>
          <a:ln w="0">
            <a:noFill/>
          </a:ln>
        </p:spPr>
        <p:txBody>
          <a:bodyPr>
            <a:noAutofit/>
          </a:bodyPr>
          <a:lstStyle/>
          <a:p>
            <a:pPr>
              <a:defRPr sz="2250" b="0">
                <a:solidFill>
                  <a:srgbClr val="1C3144"/>
                </a:solidFill>
                <a:latin typeface="Calibri"/>
                <a:ea typeface="Calibri"/>
                <a:cs typeface="Calibri"/>
              </a:defRPr>
            </a:pPr>
            <a:r>
              <a:rPr sz="2250" b="0">
                <a:solidFill>
                  <a:srgbClr val="1C3144"/>
                </a:solidFill>
                <a:latin typeface="Calibri"/>
                <a:ea typeface="Calibri"/>
                <a:cs typeface="Calibri"/>
              </a:rPr>
              <a:t>Check the announced quiz closing time.</a:t>
            </a:r>
          </a:p>
        </p:txBody>
      </p:sp>
      <p:pic>
        <p:nvPicPr>
          <p:cNvPr id="29" name=""/>
          <p:cNvPicPr>
            <a:picLocks noChangeAspect="1"/>
          </p:cNvPicPr>
          <p:nvPr/>
        </p:nvPicPr>
        <p:blipFill>
          <a:blip r:embed="R9e8ae20453c342bf"/>
          <a:stretch/>
        </p:blipFill>
        <p:spPr>
          <a:xfrm>
            <a:off x="9134475" y="2095500"/>
            <a:ext cx="2190750" cy="2190750"/>
          </a:xfrm>
          <a:prstGeom prst="rect">
            <a:avLst/>
          </a:prstGeom>
        </p:spPr>
      </p:pic>
      <p:sp>
        <p:nvSpPr>
          <p:cNvPr id="13" name="">
            <a:extLst>
              <a:ext uri="{FF2B5EF4-FFF2-40B4-BE49-F238E27FC236}">
                <ns2:creationId id="{1E2ECA17-5475-4087-B3BB-E23B5E44A735}"/>
              </a:ext>
            </a:extLst>
          </p:cNvPr>
          <p:cNvSpPr>
            <a:spLocks noGrp="1"/>
          </p:cNvSpPr>
          <p:nvPr/>
        </p:nvSpPr>
        <p:spPr>
          <a:xfrm>
            <a:off x="9239250" y="4400550"/>
            <a:ext cx="2190750" cy="381000"/>
          </a:xfrm>
          <a:prstGeom prst="rect">
            <a:avLst/>
          </a:prstGeom>
          <a:noFill/>
          <a:ln w="0">
            <a:noFill/>
          </a:ln>
        </p:spPr>
        <p:txBody>
          <a:bodyPr>
            <a:noAutofit/>
          </a:bodyPr>
          <a:lstStyle/>
          <a:p>
            <a:pPr>
              <a:defRPr sz="2100" b="1">
                <a:solidFill>
                  <a:srgbClr val="E4572E"/>
                </a:solidFill>
                <a:latin typeface="Calibri"/>
                <a:ea typeface="Calibri"/>
                <a:cs typeface="Calibri"/>
              </a:defRPr>
            </a:pPr>
            <a:r>
              <a:rPr sz="2100" b="1">
                <a:solidFill>
                  <a:srgbClr val="E4572E"/>
                </a:solidFill>
                <a:latin typeface="Calibri"/>
                <a:ea typeface="Calibri"/>
                <a:cs typeface="Calibri"/>
              </a:rPr>
              <a:t>24 HOURS</a:t>
            </a:r>
          </a:p>
        </p:txBody>
      </p:sp>
      <p:sp>
        <p:nvSpPr>
          <p:cNvPr id="14" name="">
            <a:extLst>
              <a:ext uri="{FF2B5EF4-FFF2-40B4-BE49-F238E27FC236}">
                <ns2:creationId id="{FCED2F88-E3F5-429D-894A-B95FEDAF75E5}"/>
              </a:ext>
            </a:extLst>
          </p:cNvPr>
          <p:cNvSpPr>
            <a:spLocks noGrp="1"/>
          </p:cNvSpPr>
          <p:nvPr/>
        </p:nvSpPr>
        <p:spPr>
          <a:xfrm>
            <a:off x="590550" y="5143500"/>
            <a:ext cx="11010900" cy="657225"/>
          </a:xfrm>
          <a:prstGeom prst="rect">
            <a:avLst/>
          </a:prstGeom>
          <a:solidFill>
            <a:srgbClr val="E5F1EE"/>
          </a:solidFill>
          <a:ln w="0">
            <a:noFill/>
          </a:ln>
        </p:spPr>
      </p:sp>
      <p:sp>
        <p:nvSpPr>
          <p:cNvPr id="15" name="">
            <a:extLst>
              <a:ext uri="{FF2B5EF4-FFF2-40B4-BE49-F238E27FC236}">
                <ns2:creationId id="{05A1DD46-9A36-4B3E-87BF-B637FC5C668F}"/>
              </a:ext>
            </a:extLst>
          </p:cNvPr>
          <p:cNvSpPr>
            <a:spLocks noGrp="1"/>
          </p:cNvSpPr>
          <p:nvPr/>
        </p:nvSpPr>
        <p:spPr>
          <a:xfrm>
            <a:off x="800100" y="5267325"/>
            <a:ext cx="10572750" cy="457200"/>
          </a:xfrm>
          <a:prstGeom prst="rect">
            <a:avLst/>
          </a:prstGeom>
          <a:noFill/>
          <a:ln w="0">
            <a:noFill/>
          </a:ln>
        </p:spPr>
        <p:txBody>
          <a:bodyPr>
            <a:noAutofit/>
          </a:bodyPr>
          <a:lstStyle/>
          <a:p>
            <a:pPr>
              <a:defRPr sz="2250" b="1">
                <a:solidFill>
                  <a:srgbClr val="2E7D6F"/>
                </a:solidFill>
                <a:latin typeface="Calibri"/>
                <a:ea typeface="Calibri"/>
                <a:cs typeface="Calibri"/>
              </a:defRPr>
            </a:pPr>
            <a:r>
              <a:rPr sz="2250" b="1">
                <a:solidFill>
                  <a:srgbClr val="2E7D6F"/>
                </a:solidFill>
                <a:latin typeface="Calibri"/>
                <a:ea typeface="Calibri"/>
                <a:cs typeface="Calibri"/>
                <a:hlinkClick r:id="R0e405284388a41e8"/>
              </a:rPr>
              <a:t>Open this week’s quiz</a:t>
            </a:r>
          </a:p>
        </p:txBody>
      </p:sp>
      <p:sp>
        <p:nvSpPr>
          <p:cNvPr id="16" name="">
            <a:extLst>
              <a:ext uri="{FF2B5EF4-FFF2-40B4-BE49-F238E27FC236}">
                <ns2:creationId id="{3CD948A6-2CD7-4F96-86EF-AE93B8E966C7}"/>
              </a:ext>
            </a:extLst>
          </p:cNvPr>
          <p:cNvSpPr>
            <a:spLocks noGrp="1"/>
          </p:cNvSpPr>
          <p:nvPr/>
        </p:nvSpPr>
        <p:spPr>
          <a:xfrm>
            <a:off x="685800" y="5972175"/>
            <a:ext cx="10668000" cy="304800"/>
          </a:xfrm>
          <a:prstGeom prst="rect">
            <a:avLst/>
          </a:prstGeom>
          <a:noFill/>
          <a:ln w="0">
            <a:noFill/>
          </a:ln>
        </p:spPr>
        <p:txBody>
          <a:bodyPr>
            <a:noAutofit/>
          </a:bodyPr>
          <a:lstStyle/>
          <a:p>
            <a:pPr>
              <a:defRPr sz="1275" b="0">
                <a:solidFill>
                  <a:srgbClr val="6B7A8A"/>
                </a:solidFill>
                <a:latin typeface="Calibri"/>
                <a:ea typeface="Calibri"/>
                <a:cs typeface="Calibri"/>
              </a:defRPr>
            </a:pPr>
            <a:r>
              <a:rPr sz="1275" b="0">
                <a:solidFill>
                  <a:srgbClr val="6B7A8A"/>
                </a:solidFill>
                <a:latin typeface="Calibri"/>
                <a:ea typeface="Calibri"/>
                <a:cs typeface="Calibri"/>
              </a:rPr>
              <a:t>https://forms.gle/yodGpWvz4b2GioZYA</a:t>
            </a:r>
          </a:p>
        </p:txBody>
      </p:sp>
      <p:sp>
        <p:nvSpPr>
          <p:cNvPr id="17" name="">
            <a:extLst>
              <a:ext uri="{FF2B5EF4-FFF2-40B4-BE49-F238E27FC236}">
                <ns2:creationId id="{EE918090-0E85-414B-A955-8A37937DAEA4}"/>
              </a:ext>
            </a:extLst>
          </p:cNvPr>
          <p:cNvSpPr>
            <a:spLocks noGrp="1"/>
          </p:cNvSpPr>
          <p:nvPr/>
        </p:nvSpPr>
        <p:spPr>
          <a:xfrm>
            <a:off x="590550" y="6524625"/>
            <a:ext cx="10810875" cy="219075"/>
          </a:xfrm>
          <a:prstGeom prst="rect">
            <a:avLst/>
          </a:prstGeom>
          <a:noFill/>
          <a:ln w="0">
            <a:noFill/>
          </a:ln>
        </p:spPr>
        <p:txBody>
          <a:bodyPr>
            <a:noAutofit/>
          </a:bodyPr>
          <a:lstStyle/>
          <a:p>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4   84</a:t>
            </a:r>
          </a:p>
        </p:txBody>
      </p:sp>
    </p:spTree>
    <p:extLst>
      <p:ext uri="{BB962C8B-B14F-4D97-AF65-F5344CB8AC3E}">
        <ns4:creationId val="1463366478"/>
      </p:ext>
    </p:extLst>
  </p:cSld>
</p:sld>
</file>

<file path=ppt/slides/slide85.xml><?xml version="1.0" encoding="utf-8"?>
<p:sld xmlns:a="http://schemas.openxmlformats.org/drawingml/2006/main" xmlns:ns2="http://schemas.microsoft.com/office/drawing/2014/main" xmlns:ns3="http://schemas.microsoft.com/office/powerpoint/2010/main" xmlns:p="http://schemas.openxmlformats.org/presentationml/2006/main">
  <p:cSld>
    <p:bg>
      <p:bgPr>
        <a:solidFill>
          <a:srgbClr val="1C3144"/>
        </a:solidFill>
      </p:bgPr>
    </p:bg>
    <p:spTree>
      <p:nvGrpSpPr>
        <p:cNvPr id="1" name=""/>
        <p:cNvGrpSpPr/>
        <p:nvPr/>
      </p:nvGrpSpPr>
      <p:grpSpPr>
        <a:xfrm/>
      </p:grpSpPr>
      <p:sp>
        <p:nvSpPr>
          <p:cNvPr id="7" name="">
            <a:extLst>
              <a:ext uri="{FF2B5EF4-FFF2-40B4-BE49-F238E27FC236}">
                <ns2:creationId id="{E2670A00-806C-4CF6-A8D4-150D241AB50A}"/>
              </a:ext>
            </a:extLst>
          </p:cNvPr>
          <p:cNvSpPr>
            <a:spLocks noGrp="1"/>
          </p:cNvSpPr>
          <p:nvPr/>
        </p:nvSpPr>
        <p:spPr>
          <a:xfrm>
            <a:off x="590550" y="180975"/>
            <a:ext cx="11049000" cy="285750"/>
          </a:xfrm>
          <a:prstGeom prst="rect">
            <a:avLst/>
          </a:prstGeom>
          <a:noFill/>
          <a:ln w="0">
            <a:noFill/>
          </a:ln>
        </p:spPr>
        <p:txBody>
          <a:bodyPr>
            <a:noAutofit/>
          </a:bodyPr>
          <a:lstStyle/>
          <a:p>
            <a:pPr>
              <a:defRPr sz="1500" b="1">
                <a:solidFill>
                  <a:srgbClr val="E4572E"/>
                </a:solidFill>
                <a:latin typeface="Calibri"/>
                <a:ea typeface="Calibri"/>
                <a:cs typeface="Calibri"/>
              </a:defRPr>
            </a:pPr>
            <a:r>
              <a:rPr sz="1500" b="1">
                <a:solidFill>
                  <a:srgbClr val="E4572E"/>
                </a:solidFill>
                <a:latin typeface="Calibri"/>
                <a:ea typeface="Calibri"/>
                <a:cs typeface="Calibri"/>
              </a:rPr>
              <a:t>INDIVIDUAL EXIT CHECK</a:t>
            </a:r>
          </a:p>
        </p:txBody>
      </p:sp>
      <p:sp>
        <p:nvSpPr>
          <p:cNvPr id="2" name="">
            <a:extLst>
              <a:ext uri="{FF2B5EF4-FFF2-40B4-BE49-F238E27FC236}">
                <ns2:creationId id="{585B759B-44A3-4F3B-80ED-E391F8109664}"/>
              </a:ext>
            </a:extLst>
          </p:cNvPr>
          <p:cNvSpPr>
            <a:spLocks noGrp="1"/>
          </p:cNvSpPr>
          <p:nvPr/>
        </p:nvSpPr>
        <p:spPr>
          <a:xfrm>
            <a:off x="590550" y="523875"/>
            <a:ext cx="11049000" cy="809625"/>
          </a:xfrm>
          <a:prstGeom prst="rect">
            <a:avLst/>
          </a:prstGeom>
          <a:noFill/>
          <a:ln w="0">
            <a:noFill/>
          </a:ln>
        </p:spPr>
        <p:txBody>
          <a:bodyPr>
            <a:noAutofit/>
          </a:bodyPr>
          <a:lstStyle/>
          <a:p>
            <a:pPr>
              <a:defRPr sz="3150" b="1">
                <a:solidFill>
                  <a:srgbClr val="FFFFFF"/>
                </a:solidFill>
                <a:latin typeface="Calibri"/>
                <a:ea typeface="Calibri"/>
                <a:cs typeface="Calibri"/>
              </a:defRPr>
            </a:pPr>
            <a:r>
              <a:rPr sz="3150" b="1">
                <a:solidFill>
                  <a:srgbClr val="FFFFFF"/>
                </a:solidFill>
                <a:latin typeface="Calibri"/>
                <a:ea typeface="Calibri"/>
                <a:cs typeface="Calibri"/>
              </a:rPr>
              <a:t>Revision and submission checklist</a:t>
            </a:r>
          </a:p>
        </p:txBody>
      </p:sp>
      <p:sp>
        <p:nvSpPr>
          <p:cNvPr id="3" name="">
            <a:extLst>
              <a:ext uri="{FF2B5EF4-FFF2-40B4-BE49-F238E27FC236}">
                <ns2:creationId id="{F75877F0-DBF1-41CD-9AD3-DE9C749446B4}"/>
              </a:ext>
            </a:extLst>
          </p:cNvPr>
          <p:cNvSpPr>
            <a:spLocks noGrp="1"/>
          </p:cNvSpPr>
          <p:nvPr/>
        </p:nvSpPr>
        <p:spPr>
          <a:xfrm>
            <a:off x="619125" y="1619250"/>
            <a:ext cx="2857500" cy="495300"/>
          </a:xfrm>
          <a:prstGeom prst="rect">
            <a:avLst/>
          </a:prstGeom>
          <a:noFill/>
          <a:ln w="0">
            <a:noFill/>
          </a:ln>
        </p:spPr>
        <p:txBody>
          <a:bodyPr>
            <a:noAutofit/>
          </a:bodyPr>
          <a:lstStyle/>
          <a:p>
            <a:pPr>
              <a:defRPr sz="1950" b="1">
                <a:solidFill>
                  <a:srgbClr val="E4572E"/>
                </a:solidFill>
                <a:latin typeface="Calibri"/>
                <a:ea typeface="Calibri"/>
                <a:cs typeface="Calibri"/>
              </a:defRPr>
            </a:pPr>
            <a:r>
              <a:rPr sz="1950" b="1">
                <a:solidFill>
                  <a:srgbClr val="E4572E"/>
                </a:solidFill>
                <a:latin typeface="Calibri"/>
                <a:ea typeface="Calibri"/>
                <a:cs typeface="Calibri"/>
              </a:rPr>
              <a:t>EXPLAIN IT</a:t>
            </a:r>
          </a:p>
        </p:txBody>
      </p:sp>
      <p:sp>
        <p:nvSpPr>
          <p:cNvPr id="4" name="">
            <a:extLst>
              <a:ext uri="{FF2B5EF4-FFF2-40B4-BE49-F238E27FC236}">
                <ns2:creationId id="{9D8111D7-B025-4456-8CEB-FB2C2CFE1EC7}"/>
              </a:ext>
            </a:extLst>
          </p:cNvPr>
          <p:cNvSpPr>
            <a:spLocks noGrp="1"/>
          </p:cNvSpPr>
          <p:nvPr/>
        </p:nvSpPr>
        <p:spPr>
          <a:xfrm>
            <a:off x="619125" y="2295525"/>
            <a:ext cx="10810875" cy="3095625"/>
          </a:xfrm>
          <a:prstGeom prst="rect">
            <a:avLst/>
          </a:prstGeom>
          <a:noFill/>
          <a:ln w="0">
            <a:noFill/>
          </a:ln>
        </p:spPr>
        <p:txBody>
          <a:bodyPr>
            <a:noAutofit/>
          </a:bodyPr>
          <a:lstStyle/>
          <a:p>
            <a:pPr>
              <a:defRPr sz="2850" b="0">
                <a:solidFill>
                  <a:srgbClr val="FFFFFF"/>
                </a:solidFill>
                <a:latin typeface="Calibri"/>
                <a:ea typeface="Calibri"/>
                <a:cs typeface="Calibri"/>
              </a:defRPr>
            </a:pPr>
            <a:r>
              <a:rPr sz="2850" b="0">
                <a:solidFill>
                  <a:srgbClr val="FFFFFF"/>
                </a:solidFill>
                <a:latin typeface="Calibri"/>
                <a:ea typeface="Calibri"/>
                <a:cs typeface="Calibri"/>
              </a:rPr>
              <a:t>You can show how the total and count change for each record.</a:t>
            </a:r>
          </a:p>
          <a:p>
            <a:r>
              <a:t/>
            </a:r>
          </a:p>
          <a:p>
            <a:pPr>
              <a:defRPr sz="2850" b="0">
                <a:solidFill>
                  <a:srgbClr val="FFFFFF"/>
                </a:solidFill>
                <a:latin typeface="Calibri"/>
                <a:ea typeface="Calibri"/>
                <a:cs typeface="Calibri"/>
              </a:defRPr>
            </a:pPr>
            <a:r>
              <a:rPr sz="2850" b="0">
                <a:solidFill>
                  <a:srgbClr val="FFFFFF"/>
                </a:solidFill>
                <a:latin typeface="Calibri"/>
                <a:ea typeface="Calibri"/>
                <a:cs typeface="Calibri"/>
              </a:rPr>
              <a:t>Save your work and check the required submission files.</a:t>
            </a:r>
          </a:p>
        </p:txBody>
      </p:sp>
      <p:sp>
        <p:nvSpPr>
          <p:cNvPr id="5" name="">
            <a:extLst>
              <a:ext uri="{FF2B5EF4-FFF2-40B4-BE49-F238E27FC236}">
                <ns2:creationId id="{4CC1ED96-9A3B-42C3-9064-D1E1511C47D5}"/>
              </a:ext>
            </a:extLst>
          </p:cNvPr>
          <p:cNvSpPr>
            <a:spLocks noGrp="1"/>
          </p:cNvSpPr>
          <p:nvPr/>
        </p:nvSpPr>
        <p:spPr>
          <a:xfrm>
            <a:off x="619125" y="5791200"/>
            <a:ext cx="10810875" cy="542925"/>
          </a:xfrm>
          <a:prstGeom prst="rect">
            <a:avLst/>
          </a:prstGeom>
          <a:noFill/>
          <a:ln w="0">
            <a:noFill/>
          </a:ln>
        </p:spPr>
        <p:txBody>
          <a:bodyPr>
            <a:noAutofit/>
          </a:bodyPr>
          <a:lstStyle/>
          <a:p>
            <a:pPr>
              <a:defRPr sz="1800" b="0">
                <a:solidFill>
                  <a:srgbClr val="BBCDD9"/>
                </a:solidFill>
                <a:latin typeface="Calibri"/>
                <a:ea typeface="Calibri"/>
                <a:cs typeface="Calibri"/>
              </a:defRPr>
            </a:pPr>
            <a:r>
              <a:rPr sz="1800" b="0">
                <a:solidFill>
                  <a:srgbClr val="BBCDD9"/>
                </a:solidFill>
                <a:latin typeface="Calibri"/>
                <a:ea typeface="Calibri"/>
                <a:cs typeface="Calibri"/>
              </a:rPr>
              <a:t>Check your answers against the example, then save your work.</a:t>
            </a:r>
          </a:p>
        </p:txBody>
      </p:sp>
      <p:sp>
        <p:nvSpPr>
          <p:cNvPr id="6" name="">
            <a:extLst>
              <a:ext uri="{FF2B5EF4-FFF2-40B4-BE49-F238E27FC236}">
                <ns2:creationId id="{3A584BF9-AC2E-46D6-BAA2-D52051E97903}"/>
              </a:ext>
            </a:extLst>
          </p:cNvPr>
          <p:cNvSpPr>
            <a:spLocks noGrp="1"/>
          </p:cNvSpPr>
          <p:nvPr/>
        </p:nvSpPr>
        <p:spPr>
          <a:xfrm>
            <a:off x="590550" y="6524625"/>
            <a:ext cx="10810875" cy="219075"/>
          </a:xfrm>
          <a:prstGeom prst="rect">
            <a:avLst/>
          </a:prstGeom>
          <a:noFill/>
          <a:ln w="0">
            <a:noFill/>
          </a:ln>
        </p:spPr>
        <p:txBody>
          <a:bodyPr>
            <a:noAutofit/>
          </a:bodyPr>
          <a:lstStyle/>
          <a:p>
            <a:pPr>
              <a:defRPr sz="1200" b="0">
                <a:solidFill>
                  <a:srgbClr val="BBCDD9"/>
                </a:solidFill>
                <a:latin typeface="Calibri"/>
                <a:ea typeface="Calibri"/>
                <a:cs typeface="Calibri"/>
              </a:defRPr>
            </a:pPr>
            <a:r>
              <a:rPr sz="1200" b="0">
                <a:solidFill>
                  <a:srgbClr val="BBCDD9"/>
                </a:solidFill>
                <a:latin typeface="Calibri"/>
                <a:ea typeface="Calibri"/>
                <a:cs typeface="Calibri"/>
              </a:rPr>
              <a:t>CML3112   Week 4   85</a:t>
            </a:r>
          </a:p>
        </p:txBody>
      </p:sp>
    </p:spTree>
    <p:extLst>
      <p:ext uri="{BB962C8B-B14F-4D97-AF65-F5344CB8AC3E}">
        <ns3:creationId val="1826599855"/>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2026-09-28T21:44:55.6490000Z</dcterms:created>
  <dcterms:modified xsi:type="dcterms:W3CDTF">2026-09-28T21:44:55.6490000Z</dcterms:modified>
</coreProperties>
</file>