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47734d755bc646d2" Type="http://schemas.openxmlformats.org/officeDocument/2006/relationships/extended-properties" Target="docProps/app.xml"/><Relationship Id="R5d6bff85869145b0" Type="http://schemas.openxmlformats.org/officeDocument/2006/relationships/officeDocument" Target="ppt/presentation.xml"/><Relationship Id="Rc7c73ffc3a664803"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5912c77326134937"/>
  </p:sldMasterIdLst>
  <p:notesMasterIdLst>
    <p:notesMasterId xmlns:r="http://schemas.openxmlformats.org/officeDocument/2006/relationships" r:id="Rc0ad1888b1c34d89"/>
  </p:notesMasterIdLst>
  <p:sldIdLst>
    <p:sldId xmlns:r="http://schemas.openxmlformats.org/officeDocument/2006/relationships" id="256" r:id="R2508220402fc4913"/>
    <p:sldId xmlns:r="http://schemas.openxmlformats.org/officeDocument/2006/relationships" id="257" r:id="Rc694ae04fb4645f6"/>
    <p:sldId xmlns:r="http://schemas.openxmlformats.org/officeDocument/2006/relationships" id="258" r:id="R592de8ec39cc4fb2"/>
    <p:sldId xmlns:r="http://schemas.openxmlformats.org/officeDocument/2006/relationships" id="259" r:id="Red00f092ec0a453a"/>
    <p:sldId xmlns:r="http://schemas.openxmlformats.org/officeDocument/2006/relationships" id="260" r:id="Rbe41c1898ccf401d"/>
    <p:sldId xmlns:r="http://schemas.openxmlformats.org/officeDocument/2006/relationships" id="261" r:id="R9447488e2dbe42d4"/>
    <p:sldId xmlns:r="http://schemas.openxmlformats.org/officeDocument/2006/relationships" id="262" r:id="R995b45a2be2f4f2f"/>
    <p:sldId xmlns:r="http://schemas.openxmlformats.org/officeDocument/2006/relationships" id="263" r:id="R0d1c4253f18841a2"/>
    <p:sldId xmlns:r="http://schemas.openxmlformats.org/officeDocument/2006/relationships" id="264" r:id="R974631176fca4240"/>
    <p:sldId xmlns:r="http://schemas.openxmlformats.org/officeDocument/2006/relationships" id="265" r:id="R7d25f91e8d454ad4"/>
    <p:sldId xmlns:r="http://schemas.openxmlformats.org/officeDocument/2006/relationships" id="266" r:id="Rb1adc77f7d8b48c8"/>
    <p:sldId xmlns:r="http://schemas.openxmlformats.org/officeDocument/2006/relationships" id="267" r:id="Rc74a6e2c0cac4fa0"/>
    <p:sldId xmlns:r="http://schemas.openxmlformats.org/officeDocument/2006/relationships" id="268" r:id="R99b0393f11ae444b"/>
    <p:sldId xmlns:r="http://schemas.openxmlformats.org/officeDocument/2006/relationships" id="269" r:id="R96358465c4db4e1a"/>
    <p:sldId xmlns:r="http://schemas.openxmlformats.org/officeDocument/2006/relationships" id="270" r:id="R2a32c0dc4bfe415e"/>
    <p:sldId xmlns:r="http://schemas.openxmlformats.org/officeDocument/2006/relationships" id="271" r:id="R240026ca6fb34085"/>
    <p:sldId xmlns:r="http://schemas.openxmlformats.org/officeDocument/2006/relationships" id="272" r:id="R89d83c9a48834c00"/>
    <p:sldId xmlns:r="http://schemas.openxmlformats.org/officeDocument/2006/relationships" id="273" r:id="R8606ce09dff64ea3"/>
    <p:sldId xmlns:r="http://schemas.openxmlformats.org/officeDocument/2006/relationships" id="274" r:id="Rc8a23d8de83b4d20"/>
    <p:sldId xmlns:r="http://schemas.openxmlformats.org/officeDocument/2006/relationships" id="275" r:id="R0bbfb9074fa043bc"/>
    <p:sldId xmlns:r="http://schemas.openxmlformats.org/officeDocument/2006/relationships" id="276" r:id="Re618c02f8616465d"/>
    <p:sldId xmlns:r="http://schemas.openxmlformats.org/officeDocument/2006/relationships" id="277" r:id="Reeaf586323c84eeb"/>
    <p:sldId xmlns:r="http://schemas.openxmlformats.org/officeDocument/2006/relationships" id="278" r:id="Rcd6fd77c5ceb4f70"/>
    <p:sldId xmlns:r="http://schemas.openxmlformats.org/officeDocument/2006/relationships" id="279" r:id="Rb9a382fdcbcf49eb"/>
    <p:sldId xmlns:r="http://schemas.openxmlformats.org/officeDocument/2006/relationships" id="280" r:id="Re726f9373ae94676"/>
    <p:sldId xmlns:r="http://schemas.openxmlformats.org/officeDocument/2006/relationships" id="281" r:id="R483455ecc6d143ae"/>
    <p:sldId xmlns:r="http://schemas.openxmlformats.org/officeDocument/2006/relationships" id="282" r:id="Rffeee960a19346cb"/>
    <p:sldId xmlns:r="http://schemas.openxmlformats.org/officeDocument/2006/relationships" id="283" r:id="Rbec2d7e6f2c24ee6"/>
    <p:sldId xmlns:r="http://schemas.openxmlformats.org/officeDocument/2006/relationships" id="284" r:id="R22e494d33c2a4e41"/>
    <p:sldId xmlns:r="http://schemas.openxmlformats.org/officeDocument/2006/relationships" id="285" r:id="R8f22509c2a4b4688"/>
    <p:sldId xmlns:r="http://schemas.openxmlformats.org/officeDocument/2006/relationships" id="286" r:id="Rcc8d4106b5764f6a"/>
    <p:sldId xmlns:r="http://schemas.openxmlformats.org/officeDocument/2006/relationships" id="287" r:id="R9e71d8327d794557"/>
    <p:sldId xmlns:r="http://schemas.openxmlformats.org/officeDocument/2006/relationships" id="288" r:id="Rfaa0619cde844953"/>
    <p:sldId xmlns:r="http://schemas.openxmlformats.org/officeDocument/2006/relationships" id="289" r:id="R8f67e9e4ccdd43c0"/>
    <p:sldId xmlns:r="http://schemas.openxmlformats.org/officeDocument/2006/relationships" id="290" r:id="Re0a3496b88934c29"/>
    <p:sldId xmlns:r="http://schemas.openxmlformats.org/officeDocument/2006/relationships" id="291" r:id="R3b65235efd564eed"/>
    <p:sldId xmlns:r="http://schemas.openxmlformats.org/officeDocument/2006/relationships" id="292" r:id="R95facc3daa3a4970"/>
    <p:sldId xmlns:r="http://schemas.openxmlformats.org/officeDocument/2006/relationships" id="293" r:id="R75cbc04a8520438e"/>
    <p:sldId xmlns:r="http://schemas.openxmlformats.org/officeDocument/2006/relationships" id="294" r:id="R97fe5ce2c7b74799"/>
    <p:sldId xmlns:r="http://schemas.openxmlformats.org/officeDocument/2006/relationships" id="295" r:id="Re5cffac4dbce4d23"/>
    <p:sldId xmlns:r="http://schemas.openxmlformats.org/officeDocument/2006/relationships" id="296" r:id="R0685c5c25b3d4589"/>
    <p:sldId xmlns:r="http://schemas.openxmlformats.org/officeDocument/2006/relationships" id="297" r:id="Rcd9d3e1680e04040"/>
    <p:sldId xmlns:r="http://schemas.openxmlformats.org/officeDocument/2006/relationships" id="298" r:id="R94473c848f7f4097"/>
    <p:sldId xmlns:r="http://schemas.openxmlformats.org/officeDocument/2006/relationships" id="299" r:id="R1d2b33fffb08474a"/>
    <p:sldId xmlns:r="http://schemas.openxmlformats.org/officeDocument/2006/relationships" id="300" r:id="R77ef6f42e28249b4"/>
    <p:sldId xmlns:r="http://schemas.openxmlformats.org/officeDocument/2006/relationships" id="301" r:id="R3c35231f838144a9"/>
    <p:sldId xmlns:r="http://schemas.openxmlformats.org/officeDocument/2006/relationships" id="302" r:id="R79a1816b278b4bb3"/>
    <p:sldId xmlns:r="http://schemas.openxmlformats.org/officeDocument/2006/relationships" id="303" r:id="R6c2c0c55199343fd"/>
    <p:sldId xmlns:r="http://schemas.openxmlformats.org/officeDocument/2006/relationships" id="304" r:id="Rd1ed517116414bc8"/>
    <p:sldId xmlns:r="http://schemas.openxmlformats.org/officeDocument/2006/relationships" id="305" r:id="R6184a2d503f14248"/>
    <p:sldId xmlns:r="http://schemas.openxmlformats.org/officeDocument/2006/relationships" id="306" r:id="Re0dcee6916a041fc"/>
    <p:sldId xmlns:r="http://schemas.openxmlformats.org/officeDocument/2006/relationships" id="307" r:id="R259e6b1d5bfa49e8"/>
    <p:sldId xmlns:r="http://schemas.openxmlformats.org/officeDocument/2006/relationships" id="308" r:id="R645364d67bc84e6a"/>
    <p:sldId xmlns:r="http://schemas.openxmlformats.org/officeDocument/2006/relationships" id="309" r:id="Rbe34a04249474d64"/>
    <p:sldId xmlns:r="http://schemas.openxmlformats.org/officeDocument/2006/relationships" id="310" r:id="R9a1c22ec93b849b2"/>
    <p:sldId xmlns:r="http://schemas.openxmlformats.org/officeDocument/2006/relationships" id="311" r:id="R6879c2fbde744e26"/>
    <p:sldId xmlns:r="http://schemas.openxmlformats.org/officeDocument/2006/relationships" id="312" r:id="Ra5b9ffa2f0294376"/>
    <p:sldId xmlns:r="http://schemas.openxmlformats.org/officeDocument/2006/relationships" id="313" r:id="R20216cef4b0945ca"/>
    <p:sldId xmlns:r="http://schemas.openxmlformats.org/officeDocument/2006/relationships" id="314" r:id="Rc3728e4ce9614706"/>
    <p:sldId xmlns:r="http://schemas.openxmlformats.org/officeDocument/2006/relationships" id="315" r:id="R6ac07804bc1f42f4"/>
    <p:sldId xmlns:r="http://schemas.openxmlformats.org/officeDocument/2006/relationships" id="316" r:id="R5f9ba7740a8b4191"/>
    <p:sldId xmlns:r="http://schemas.openxmlformats.org/officeDocument/2006/relationships" id="317" r:id="R94ea1e444ba340c0"/>
    <p:sldId xmlns:r="http://schemas.openxmlformats.org/officeDocument/2006/relationships" id="318" r:id="R157df986b18a4777"/>
    <p:sldId xmlns:r="http://schemas.openxmlformats.org/officeDocument/2006/relationships" id="319" r:id="R9b149708ca814417"/>
    <p:sldId xmlns:r="http://schemas.openxmlformats.org/officeDocument/2006/relationships" id="320" r:id="Rdc59f4b3c160413a"/>
    <p:sldId xmlns:r="http://schemas.openxmlformats.org/officeDocument/2006/relationships" id="321" r:id="Rbe18b68216254b3f"/>
    <p:sldId xmlns:r="http://schemas.openxmlformats.org/officeDocument/2006/relationships" id="322" r:id="Ra7cd8e9e4d484785"/>
    <p:sldId xmlns:r="http://schemas.openxmlformats.org/officeDocument/2006/relationships" id="323" r:id="R7caf34ec0d684611"/>
    <p:sldId xmlns:r="http://schemas.openxmlformats.org/officeDocument/2006/relationships" id="324" r:id="R847235a3031a4cc0"/>
    <p:sldId xmlns:r="http://schemas.openxmlformats.org/officeDocument/2006/relationships" id="325" r:id="Rbb5a74eaa6554ed2"/>
    <p:sldId xmlns:r="http://schemas.openxmlformats.org/officeDocument/2006/relationships" id="326" r:id="Rc3842f6a83c44608"/>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685c5c25b3d4589" Type="http://schemas.openxmlformats.org/officeDocument/2006/relationships/slide" Target="slides/slide41.xml"/><Relationship Id="R0bbfb9074fa043bc" Type="http://schemas.openxmlformats.org/officeDocument/2006/relationships/slide" Target="slides/slide20.xml"/><Relationship Id="R0d1c4253f18841a2" Type="http://schemas.openxmlformats.org/officeDocument/2006/relationships/slide" Target="slides/slide8.xml"/><Relationship Id="R157df986b18a4777" Type="http://schemas.openxmlformats.org/officeDocument/2006/relationships/slide" Target="slides/slide63.xml"/><Relationship Id="R1d2b33fffb08474a" Type="http://schemas.openxmlformats.org/officeDocument/2006/relationships/slide" Target="slides/slide44.xml"/><Relationship Id="R20216cef4b0945ca" Type="http://schemas.openxmlformats.org/officeDocument/2006/relationships/slide" Target="slides/slide58.xml"/><Relationship Id="R22e494d33c2a4e41" Type="http://schemas.openxmlformats.org/officeDocument/2006/relationships/slide" Target="slides/slide29.xml"/><Relationship Id="R240026ca6fb34085" Type="http://schemas.openxmlformats.org/officeDocument/2006/relationships/slide" Target="slides/slide16.xml"/><Relationship Id="R2508220402fc4913" Type="http://schemas.openxmlformats.org/officeDocument/2006/relationships/slide" Target="slides/slide1.xml"/><Relationship Id="R259e6b1d5bfa49e8" Type="http://schemas.openxmlformats.org/officeDocument/2006/relationships/slide" Target="slides/slide52.xml"/><Relationship Id="R2a32c0dc4bfe415e" Type="http://schemas.openxmlformats.org/officeDocument/2006/relationships/slide" Target="slides/slide15.xml"/><Relationship Id="R3b65235efd564eed" Type="http://schemas.openxmlformats.org/officeDocument/2006/relationships/slide" Target="slides/slide36.xml"/><Relationship Id="R3c35231f838144a9" Type="http://schemas.openxmlformats.org/officeDocument/2006/relationships/slide" Target="slides/slide46.xml"/><Relationship Id="R483455ecc6d143ae" Type="http://schemas.openxmlformats.org/officeDocument/2006/relationships/slide" Target="slides/slide26.xml"/><Relationship Id="R5912c77326134937" Type="http://schemas.openxmlformats.org/officeDocument/2006/relationships/slideMaster" Target="slideMasters/slideMaster1.xml"/><Relationship Id="R592de8ec39cc4fb2" Type="http://schemas.openxmlformats.org/officeDocument/2006/relationships/slide" Target="slides/slide3.xml"/><Relationship Id="R5f9ba7740a8b4191" Type="http://schemas.openxmlformats.org/officeDocument/2006/relationships/slide" Target="slides/slide61.xml"/><Relationship Id="R6184a2d503f14248" Type="http://schemas.openxmlformats.org/officeDocument/2006/relationships/slide" Target="slides/slide50.xml"/><Relationship Id="R645364d67bc84e6a" Type="http://schemas.openxmlformats.org/officeDocument/2006/relationships/slide" Target="slides/slide53.xml"/><Relationship Id="R6879c2fbde744e26" Type="http://schemas.openxmlformats.org/officeDocument/2006/relationships/slide" Target="slides/slide56.xml"/><Relationship Id="R6ac07804bc1f42f4" Type="http://schemas.openxmlformats.org/officeDocument/2006/relationships/slide" Target="slides/slide60.xml"/><Relationship Id="R6c2c0c55199343fd" Type="http://schemas.openxmlformats.org/officeDocument/2006/relationships/slide" Target="slides/slide48.xml"/><Relationship Id="R6f42b7c0744740b0" Type="http://schemas.openxmlformats.org/officeDocument/2006/relationships/theme" Target="theme/theme1.xml"/><Relationship Id="R75cbc04a8520438e" Type="http://schemas.openxmlformats.org/officeDocument/2006/relationships/slide" Target="slides/slide38.xml"/><Relationship Id="R77ef6f42e28249b4" Type="http://schemas.openxmlformats.org/officeDocument/2006/relationships/slide" Target="slides/slide45.xml"/><Relationship Id="R79a1816b278b4bb3" Type="http://schemas.openxmlformats.org/officeDocument/2006/relationships/slide" Target="slides/slide47.xml"/><Relationship Id="R7caf34ec0d684611" Type="http://schemas.openxmlformats.org/officeDocument/2006/relationships/slide" Target="slides/slide68.xml"/><Relationship Id="R7d25f91e8d454ad4" Type="http://schemas.openxmlformats.org/officeDocument/2006/relationships/slide" Target="slides/slide10.xml"/><Relationship Id="R847235a3031a4cc0" Type="http://schemas.openxmlformats.org/officeDocument/2006/relationships/slide" Target="slides/slide69.xml"/><Relationship Id="R8606ce09dff64ea3" Type="http://schemas.openxmlformats.org/officeDocument/2006/relationships/slide" Target="slides/slide18.xml"/><Relationship Id="R89d83c9a48834c00" Type="http://schemas.openxmlformats.org/officeDocument/2006/relationships/slide" Target="slides/slide17.xml"/><Relationship Id="R8f22509c2a4b4688" Type="http://schemas.openxmlformats.org/officeDocument/2006/relationships/slide" Target="slides/slide30.xml"/><Relationship Id="R8f67e9e4ccdd43c0" Type="http://schemas.openxmlformats.org/officeDocument/2006/relationships/slide" Target="slides/slide34.xml"/><Relationship Id="R94473c848f7f4097" Type="http://schemas.openxmlformats.org/officeDocument/2006/relationships/slide" Target="slides/slide43.xml"/><Relationship Id="R9447488e2dbe42d4" Type="http://schemas.openxmlformats.org/officeDocument/2006/relationships/slide" Target="slides/slide6.xml"/><Relationship Id="R94ea1e444ba340c0" Type="http://schemas.openxmlformats.org/officeDocument/2006/relationships/slide" Target="slides/slide62.xml"/><Relationship Id="R95facc3daa3a4970" Type="http://schemas.openxmlformats.org/officeDocument/2006/relationships/slide" Target="slides/slide37.xml"/><Relationship Id="R96358465c4db4e1a" Type="http://schemas.openxmlformats.org/officeDocument/2006/relationships/slide" Target="slides/slide14.xml"/><Relationship Id="R974631176fca4240" Type="http://schemas.openxmlformats.org/officeDocument/2006/relationships/slide" Target="slides/slide9.xml"/><Relationship Id="R97fe5ce2c7b74799" Type="http://schemas.openxmlformats.org/officeDocument/2006/relationships/slide" Target="slides/slide39.xml"/><Relationship Id="R995b45a2be2f4f2f" Type="http://schemas.openxmlformats.org/officeDocument/2006/relationships/slide" Target="slides/slide7.xml"/><Relationship Id="R99b0393f11ae444b" Type="http://schemas.openxmlformats.org/officeDocument/2006/relationships/slide" Target="slides/slide13.xml"/><Relationship Id="R9a1c22ec93b849b2" Type="http://schemas.openxmlformats.org/officeDocument/2006/relationships/slide" Target="slides/slide55.xml"/><Relationship Id="R9b149708ca814417" Type="http://schemas.openxmlformats.org/officeDocument/2006/relationships/slide" Target="slides/slide64.xml"/><Relationship Id="R9dd7ab1b4c8b4e20" Type="http://schemas.openxmlformats.org/officeDocument/2006/relationships/presProps" Target="presProps.xml"/><Relationship Id="R9e71d8327d794557" Type="http://schemas.openxmlformats.org/officeDocument/2006/relationships/slide" Target="slides/slide32.xml"/><Relationship Id="Ra5b9ffa2f0294376" Type="http://schemas.openxmlformats.org/officeDocument/2006/relationships/slide" Target="slides/slide57.xml"/><Relationship Id="Ra7cd8e9e4d484785" Type="http://schemas.openxmlformats.org/officeDocument/2006/relationships/slide" Target="slides/slide67.xml"/><Relationship Id="Rb1adc77f7d8b48c8" Type="http://schemas.openxmlformats.org/officeDocument/2006/relationships/slide" Target="slides/slide11.xml"/><Relationship Id="Rb9a382fdcbcf49eb" Type="http://schemas.openxmlformats.org/officeDocument/2006/relationships/slide" Target="slides/slide24.xml"/><Relationship Id="Rbb5a74eaa6554ed2" Type="http://schemas.openxmlformats.org/officeDocument/2006/relationships/slide" Target="slides/slide70.xml"/><Relationship Id="Rbe18b68216254b3f" Type="http://schemas.openxmlformats.org/officeDocument/2006/relationships/slide" Target="slides/slide66.xml"/><Relationship Id="Rbe34a04249474d64" Type="http://schemas.openxmlformats.org/officeDocument/2006/relationships/slide" Target="slides/slide54.xml"/><Relationship Id="Rbe41c1898ccf401d" Type="http://schemas.openxmlformats.org/officeDocument/2006/relationships/slide" Target="slides/slide5.xml"/><Relationship Id="Rbec2d7e6f2c24ee6" Type="http://schemas.openxmlformats.org/officeDocument/2006/relationships/slide" Target="slides/slide28.xml"/><Relationship Id="Rc0ad1888b1c34d89" Type="http://schemas.openxmlformats.org/officeDocument/2006/relationships/notesMaster" Target="notesMasters/notesMaster1.xml"/><Relationship Id="Rc122390cc3df4ae0" Type="http://schemas.openxmlformats.org/officeDocument/2006/relationships/tableStyles" Target="tableStyles.xml"/><Relationship Id="Rc3728e4ce9614706" Type="http://schemas.openxmlformats.org/officeDocument/2006/relationships/slide" Target="slides/slide59.xml"/><Relationship Id="Rc3842f6a83c44608" Type="http://schemas.openxmlformats.org/officeDocument/2006/relationships/slide" Target="slides/slide71.xml"/><Relationship Id="Rc694ae04fb4645f6" Type="http://schemas.openxmlformats.org/officeDocument/2006/relationships/slide" Target="slides/slide2.xml"/><Relationship Id="Rc74a6e2c0cac4fa0" Type="http://schemas.openxmlformats.org/officeDocument/2006/relationships/slide" Target="slides/slide12.xml"/><Relationship Id="Rc8a23d8de83b4d20" Type="http://schemas.openxmlformats.org/officeDocument/2006/relationships/slide" Target="slides/slide19.xml"/><Relationship Id="Rcc8d4106b5764f6a" Type="http://schemas.openxmlformats.org/officeDocument/2006/relationships/slide" Target="slides/slide31.xml"/><Relationship Id="Rcd6fd77c5ceb4f70" Type="http://schemas.openxmlformats.org/officeDocument/2006/relationships/slide" Target="slides/slide23.xml"/><Relationship Id="Rcd9d3e1680e04040" Type="http://schemas.openxmlformats.org/officeDocument/2006/relationships/slide" Target="slides/slide42.xml"/><Relationship Id="Rd1ed517116414bc8" Type="http://schemas.openxmlformats.org/officeDocument/2006/relationships/slide" Target="slides/slide49.xml"/><Relationship Id="Rdc59f4b3c160413a" Type="http://schemas.openxmlformats.org/officeDocument/2006/relationships/slide" Target="slides/slide65.xml"/><Relationship Id="Re0a3496b88934c29" Type="http://schemas.openxmlformats.org/officeDocument/2006/relationships/slide" Target="slides/slide35.xml"/><Relationship Id="Re0dcee6916a041fc" Type="http://schemas.openxmlformats.org/officeDocument/2006/relationships/slide" Target="slides/slide51.xml"/><Relationship Id="Re5cffac4dbce4d23" Type="http://schemas.openxmlformats.org/officeDocument/2006/relationships/slide" Target="slides/slide40.xml"/><Relationship Id="Re618c02f8616465d" Type="http://schemas.openxmlformats.org/officeDocument/2006/relationships/slide" Target="slides/slide21.xml"/><Relationship Id="Re726f9373ae94676" Type="http://schemas.openxmlformats.org/officeDocument/2006/relationships/slide" Target="slides/slide25.xml"/><Relationship Id="Red00f092ec0a453a" Type="http://schemas.openxmlformats.org/officeDocument/2006/relationships/slide" Target="slides/slide4.xml"/><Relationship Id="Reeaf586323c84eeb" Type="http://schemas.openxmlformats.org/officeDocument/2006/relationships/slide" Target="slides/slide22.xml"/><Relationship Id="Rfaa0619cde844953" Type="http://schemas.openxmlformats.org/officeDocument/2006/relationships/slide" Target="slides/slide33.xml"/><Relationship Id="Rffeee960a19346cb"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c67fdfcb4b1941d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086fe3e0d6a2403b" Type="http://schemas.openxmlformats.org/officeDocument/2006/relationships/slide" Target="../slides/slide1.xml"/><Relationship Id="Rb3575a9c5f1546df"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0635bce8454e481b" Type="http://schemas.openxmlformats.org/officeDocument/2006/relationships/notesMaster" Target="../notesMasters/notesMaster1.xml"/><Relationship Id="Ra02b873642dd466d"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6d3098d7a92a4937" Type="http://schemas.openxmlformats.org/officeDocument/2006/relationships/notesMaster" Target="../notesMasters/notesMaster1.xml"/><Relationship Id="Ra152e1a824944753"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3cb9207ec3d04a2e" Type="http://schemas.openxmlformats.org/officeDocument/2006/relationships/slide" Target="../slides/slide4.xml"/><Relationship Id="Rc996d254fc7b48ea"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28dd81bd852e46bb" Type="http://schemas.openxmlformats.org/officeDocument/2006/relationships/notesMaster" Target="../notesMasters/notesMaster1.xml"/><Relationship Id="Rd6bd95e922d64bc5"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ace0f768c6ee471e" Type="http://schemas.openxmlformats.org/officeDocument/2006/relationships/notesMaster" Target="../notesMasters/notesMaster1.xml"/><Relationship Id="Rcc677c314f4245b6"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6674f372b5124d6e" Type="http://schemas.openxmlformats.org/officeDocument/2006/relationships/notesMaster" Target="../notesMasters/notesMaster1.xml"/><Relationship Id="Rde5fe1be5b3c4407"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172bfb85346b4de1" Type="http://schemas.openxmlformats.org/officeDocument/2006/relationships/notesMaster" Target="../notesMasters/notesMaster1.xml"/><Relationship Id="R2a0e6b586e634153"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0aa8144b4d0e4002" Type="http://schemas.openxmlformats.org/officeDocument/2006/relationships/slide" Target="../slides/slide9.xml"/><Relationship Id="Rd65b0670867d4740"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650dcef591cf4dec" Type="http://schemas.openxmlformats.org/officeDocument/2006/relationships/slide" Target="../slides/slide10.xml"/><Relationship Id="R83e18398688a4200"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5187cc47e56b4fba" Type="http://schemas.openxmlformats.org/officeDocument/2006/relationships/slide" Target="../slides/slide11.xml"/><Relationship Id="R74b060c96fa14ce5"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9fae6aa619074f52" Type="http://schemas.openxmlformats.org/officeDocument/2006/relationships/notesMaster" Target="../notesMasters/notesMaster1.xml"/><Relationship Id="Re9a714805f994ff9"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37b0d90d723d490c" Type="http://schemas.openxmlformats.org/officeDocument/2006/relationships/notesMaster" Target="../notesMasters/notesMaster1.xml"/><Relationship Id="Ra2bb3a3e760c4f1e"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8ae4abb83fac401d" Type="http://schemas.openxmlformats.org/officeDocument/2006/relationships/notesMaster" Target="../notesMasters/notesMaster1.xml"/><Relationship Id="Rc8cc143cdd934d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e073ee004c644a33" Type="http://schemas.openxmlformats.org/officeDocument/2006/relationships/slide" Target="../slides/slide15.xml"/><Relationship Id="Rfc2874afb5e140c5"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27adda8e3cbb40ea" Type="http://schemas.openxmlformats.org/officeDocument/2006/relationships/notesMaster" Target="../notesMasters/notesMaster1.xml"/><Relationship Id="R673b62d8d4c84c79"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80c9be59ab1d43cc" Type="http://schemas.openxmlformats.org/officeDocument/2006/relationships/slide" Target="../slides/slide17.xml"/><Relationship Id="Raa9ab9f9828a4bdb"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343e41ef2d80478b" Type="http://schemas.openxmlformats.org/officeDocument/2006/relationships/slide" Target="../slides/slide18.xml"/><Relationship Id="R7ca1cf7a3abc4210"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a0f1f000fd1b448e" Type="http://schemas.openxmlformats.org/officeDocument/2006/relationships/notesMaster" Target="../notesMasters/notesMaster1.xml"/><Relationship Id="Ref5b05c51f7d4768"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31b60b4bc1844918" Type="http://schemas.openxmlformats.org/officeDocument/2006/relationships/slide" Target="../slides/slide20.xml"/><Relationship Id="Rf8ad1054e25d476d"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16e75f44ce074476" Type="http://schemas.openxmlformats.org/officeDocument/2006/relationships/notesMaster" Target="../notesMasters/notesMaster1.xml"/><Relationship Id="R6e8578893ad944c7"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ba68f4bd475a4835" Type="http://schemas.openxmlformats.org/officeDocument/2006/relationships/slide" Target="../slides/slide22.xml"/><Relationship Id="Rf78d52a579264c17"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4123fe01fab14a70" Type="http://schemas.openxmlformats.org/officeDocument/2006/relationships/slide" Target="../slides/slide23.xml"/><Relationship Id="R5c1e9c2b7d754028"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2eed784078964440" Type="http://schemas.openxmlformats.org/officeDocument/2006/relationships/slide" Target="../slides/slide24.xml"/><Relationship Id="Rdad65c7c531745a3"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3d9ed36383304d49" Type="http://schemas.openxmlformats.org/officeDocument/2006/relationships/notesMaster" Target="../notesMasters/notesMaster1.xml"/><Relationship Id="Rb00e3272cd984209"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22a60033c7ca4681" Type="http://schemas.openxmlformats.org/officeDocument/2006/relationships/notesMaster" Target="../notesMasters/notesMaster1.xml"/><Relationship Id="Recfdda41b52e4397"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38b2063ec0d9457c" Type="http://schemas.openxmlformats.org/officeDocument/2006/relationships/notesMaster" Target="../notesMasters/notesMaster1.xml"/><Relationship Id="R5eaf1a4bb14d4d94"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568e5c2bee274492" Type="http://schemas.openxmlformats.org/officeDocument/2006/relationships/slide" Target="../slides/slide28.xml"/><Relationship Id="Rfa077fea37ce4a2f"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2a7bbac35e164461" Type="http://schemas.openxmlformats.org/officeDocument/2006/relationships/slide" Target="../slides/slide29.xml"/><Relationship Id="R8a456aee18894605"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7891ee7c16264117" Type="http://schemas.openxmlformats.org/officeDocument/2006/relationships/notesMaster" Target="../notesMasters/notesMaster1.xml"/><Relationship Id="Rf2631f39e2dc49ed"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0b88297b62704743" Type="http://schemas.openxmlformats.org/officeDocument/2006/relationships/slide" Target="../slides/slide31.xml"/><Relationship Id="Rf0eb9a0219544df3"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3f29773b139d40c5" Type="http://schemas.openxmlformats.org/officeDocument/2006/relationships/notesMaster" Target="../notesMasters/notesMaster1.xml"/><Relationship Id="Ra00d96a6270e4bc5"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3d881cd3d4b540ce" Type="http://schemas.openxmlformats.org/officeDocument/2006/relationships/notesMaster" Target="../notesMasters/notesMaster1.xml"/><Relationship Id="Rfdac9e2dda584e6c"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0abde71fa99349dc" Type="http://schemas.openxmlformats.org/officeDocument/2006/relationships/slide" Target="../slides/slide34.xml"/><Relationship Id="Re38ba7ff1407480a"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058d6325e98d4cde" Type="http://schemas.openxmlformats.org/officeDocument/2006/relationships/slide" Target="../slides/slide35.xml"/><Relationship Id="Rb83744304b324c7e"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8b46422d0ffa40b8" Type="http://schemas.openxmlformats.org/officeDocument/2006/relationships/notesMaster" Target="../notesMasters/notesMaster1.xml"/><Relationship Id="Ra5d5fa6a85a9457b"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58f2f7554283409a" Type="http://schemas.openxmlformats.org/officeDocument/2006/relationships/slide" Target="../slides/slide37.xml"/><Relationship Id="Rbd9b60a7f7924ee6"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9e3ad2c235ff4acb" Type="http://schemas.openxmlformats.org/officeDocument/2006/relationships/notesMaster" Target="../notesMasters/notesMaster1.xml"/><Relationship Id="Rdda03e4b33bd4138"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4f01f39b654b4fda" Type="http://schemas.openxmlformats.org/officeDocument/2006/relationships/slide" Target="../slides/slide39.xml"/><Relationship Id="R7c4c702b180645b9"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b54698a2414c40f7" Type="http://schemas.openxmlformats.org/officeDocument/2006/relationships/notesMaster" Target="../notesMasters/notesMaster1.xml"/><Relationship Id="Rd69e5501bd45409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1a459b00c3ca4458" Type="http://schemas.openxmlformats.org/officeDocument/2006/relationships/notesMaster" Target="../notesMasters/notesMaster1.xml"/><Relationship Id="Re5bad44a4752450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627bcfa5e33f4978" Type="http://schemas.openxmlformats.org/officeDocument/2006/relationships/notesMaster" Target="../notesMasters/notesMaster1.xml"/><Relationship Id="Rdd78126b24d1484b"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70009b0edcb042b6" Type="http://schemas.openxmlformats.org/officeDocument/2006/relationships/slide" Target="../slides/slide43.xml"/><Relationship Id="Re47650f9adc44f08"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52cfaa428e184517" Type="http://schemas.openxmlformats.org/officeDocument/2006/relationships/slide" Target="../slides/slide44.xml"/><Relationship Id="Rbb553b276c5f4a0b"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6e3d39311b934256" Type="http://schemas.openxmlformats.org/officeDocument/2006/relationships/notesMaster" Target="../notesMasters/notesMaster1.xml"/><Relationship Id="Rdb0ec6a5594a4a74"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751a8a07a10d4e20" Type="http://schemas.openxmlformats.org/officeDocument/2006/relationships/slide" Target="../slides/slide46.xml"/><Relationship Id="R95149c6ccadd4c24"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7a4730e4cd5343a1" Type="http://schemas.openxmlformats.org/officeDocument/2006/relationships/notesMaster" Target="../notesMasters/notesMaster1.xml"/><Relationship Id="Rb156919178c54843"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cc4c3d965beb4c8f" Type="http://schemas.openxmlformats.org/officeDocument/2006/relationships/slide" Target="../slides/slide48.xml"/><Relationship Id="Rebe90570ed354d89"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156315cfc35f45f7" Type="http://schemas.openxmlformats.org/officeDocument/2006/relationships/slide" Target="../slides/slide49.xml"/><Relationship Id="R4c3e0ce6f67d4ef4"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2db1c0cd8fb2478a" Type="http://schemas.openxmlformats.org/officeDocument/2006/relationships/slide" Target="../slides/slide50.xml"/><Relationship Id="Rd5a0466d5d964ad5"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767f52af5cae4088" Type="http://schemas.openxmlformats.org/officeDocument/2006/relationships/slide" Target="../slides/slide51.xml"/><Relationship Id="Ra03c87d1073249db"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0700afdb205c415f" Type="http://schemas.openxmlformats.org/officeDocument/2006/relationships/notesMaster" Target="../notesMasters/notesMaster1.xml"/><Relationship Id="R9f17ce71937148db"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153954a25e0d4d6d" Type="http://schemas.openxmlformats.org/officeDocument/2006/relationships/notesMaster" Target="../notesMasters/notesMaster1.xml"/><Relationship Id="Rb86a8e3056044217"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c94ea695bba14280" Type="http://schemas.openxmlformats.org/officeDocument/2006/relationships/slide" Target="../slides/slide54.xml"/><Relationship Id="Rd8401a3ec5b145c0"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64a65ce0fb8e4ea3" Type="http://schemas.openxmlformats.org/officeDocument/2006/relationships/notesMaster" Target="../notesMasters/notesMaster1.xml"/><Relationship Id="R64a8f6f80e394de1"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02bcbc33ecce4b9a" Type="http://schemas.openxmlformats.org/officeDocument/2006/relationships/slide" Target="../slides/slide56.xml"/><Relationship Id="R35cc429b42364715"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a768d774303346ec" Type="http://schemas.openxmlformats.org/officeDocument/2006/relationships/notesMaster" Target="../notesMasters/notesMaster1.xml"/><Relationship Id="Rc97a2d8205624871"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528a99c2497f4d2d" Type="http://schemas.openxmlformats.org/officeDocument/2006/relationships/notesMaster" Target="../notesMasters/notesMaster1.xml"/><Relationship Id="Rc806e824c9284064"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8ffd688e7e8844bc" Type="http://schemas.openxmlformats.org/officeDocument/2006/relationships/slide" Target="../slides/slide59.xml"/><Relationship Id="R94c05efedb7d4584"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5e38f06f1feb4105" Type="http://schemas.openxmlformats.org/officeDocument/2006/relationships/notesMaster" Target="../notesMasters/notesMaster1.xml"/><Relationship Id="R6a7d07446804422d"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9330b4234ff94c03" Type="http://schemas.openxmlformats.org/officeDocument/2006/relationships/notesMaster" Target="../notesMasters/notesMaster1.xml"/><Relationship Id="R986cc7f19a934b76"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1f210a0626714679" Type="http://schemas.openxmlformats.org/officeDocument/2006/relationships/slide" Target="../slides/slide62.xml"/><Relationship Id="Rb4230e9917fb4624"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aefa15db4e6848fc" Type="http://schemas.openxmlformats.org/officeDocument/2006/relationships/notesMaster" Target="../notesMasters/notesMaster1.xml"/><Relationship Id="Re593cbc662314ab5"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1a0cf14743aa4acb" Type="http://schemas.openxmlformats.org/officeDocument/2006/relationships/notesMaster" Target="../notesMasters/notesMaster1.xml"/><Relationship Id="Rd88fa0b1e4684fb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3ef1b379208045f2" Type="http://schemas.openxmlformats.org/officeDocument/2006/relationships/notesMaster" Target="../notesMasters/notesMaster1.xml"/><Relationship Id="Re3e70c9a09d34b6a"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bd1ca3b88a9346f1" Type="http://schemas.openxmlformats.org/officeDocument/2006/relationships/notesMaster" Target="../notesMasters/notesMaster1.xml"/><Relationship Id="Rbf015ea59efd4195"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73adcb9a9b1347ee" Type="http://schemas.openxmlformats.org/officeDocument/2006/relationships/notesMaster" Target="../notesMasters/notesMaster1.xml"/><Relationship Id="Rd6be07a73f504a71"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7453867a39134071" Type="http://schemas.openxmlformats.org/officeDocument/2006/relationships/notesMaster" Target="../notesMasters/notesMaster1.xml"/><Relationship Id="Red6afe3f62704b1e"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7de68b12933a4524" Type="http://schemas.openxmlformats.org/officeDocument/2006/relationships/notesMaster" Target="../notesMasters/notesMaster1.xml"/><Relationship Id="Rfdfd4af0fc28473a"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45abea01a76b426f" Type="http://schemas.openxmlformats.org/officeDocument/2006/relationships/slide" Target="../slides/slide70.xml"/><Relationship Id="Rb0bc949a030845d7"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89e860ecbfc94b23" Type="http://schemas.openxmlformats.org/officeDocument/2006/relationships/slide" Target="../slides/slide71.xml"/><Relationship Id="Rd0ced4ed089e4f3c"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four. This week we learn how to handle many readings at once instead of one number at a time.</a:t>
            </a:r>
          </a:p>
          <a:p xmlns:a="http://schemas.openxmlformats.org/drawingml/2006/main"/>
          <a:p xmlns:a="http://schemas.openxmlformats.org/drawingml/2006/main">
            <a:r>
              <a:t>We start with lists, which hold values in order. Then we learn loops, which repeat a step for every value. After that we meet dictionaries, tuples and sets. We finish by reading a table of measurements from a CSV file and calculating averages for each group.</a:t>
            </a:r>
          </a:p>
          <a:p xmlns:a="http://schemas.openxmlformats.org/drawingml/2006/main"/>
          <a:p xmlns:a="http://schemas.openxmlformats.org/drawingml/2006/main">
            <a:r>
              <a:t>This session is for the civil engineering and architecture group.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tells us where we are going today. There are two parts.</a:t>
            </a:r>
          </a:p>
          <a:p xmlns:a="http://schemas.openxmlformats.org/drawingml/2006/main"/>
          <a:p xmlns:a="http://schemas.openxmlformats.org/drawingml/2006/main">
            <a:r>
              <a:t>The first part is what we will do. We will read lists and dictionary fields. A dictionary is a way to store a value under a name, such as a reading under the word reading. We will also trace a loop, which means following it one step at a time. Then we will read the rows of a CSV file and calculate summaries from them.</a:t>
            </a:r>
          </a:p>
          <a:p xmlns:a="http://schemas.openxmlformats.org/drawingml/2006/main"/>
          <a:p xmlns:a="http://schemas.openxmlformats.org/drawingml/2006/main">
            <a:r>
              <a:t>The second part is how you will show it. You will show how the total and the count change as each record is processed. If you can say what the two numbers are after every record, you have understood the main idea of today.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Last week we met values, function inputs and results, conditions, and list positions. A value is a piece of data such as a number. A function takes inputs and gives back a result. A condition is a true or false question that decides which path the program takes.</a:t>
            </a:r>
          </a:p>
          <a:p xmlns:a="http://schemas.openxmlformats.org/drawingml/2006/main"/>
          <a:p xmlns:a="http://schemas.openxmlformats.org/drawingml/2006/main">
            <a:r>
              <a:t>Today we build on those. First we repeat a calculation across many records, so that we do not have to write the same line again and again. Then we organise each record using keys. A key is a name that labels one piece of information in a record. Both steps start from the lists and conditions you already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Think about a sensor that measures something every minute and writes the results to a file. That file is a CSV file. Each line is one record, and the values on a line are separated by commas.</a:t>
            </a:r>
          </a:p>
          <a:p xmlns:a="http://schemas.openxmlformats.org/drawingml/2006/main"/>
          <a:p xmlns:a="http://schemas.openxmlformats.org/drawingml/2006/main">
            <a:r>
              <a:t>A real file can hold hundreds or thousands of records. We cannot type each one into our program by hand. We need a way to read them in, visit each one, and add them up.</a:t>
            </a:r>
          </a:p>
          <a:p xmlns:a="http://schemas.openxmlformats.org/drawingml/2006/main"/>
          <a:p xmlns:a="http://schemas.openxmlformats.org/drawingml/2006/main">
            <a:r>
              <a:t>So first we learn the Python tools for that job. Lists hold the readings. Loops visit them one by one. Dictionaries label the fields of a record. With those in place, we can read a whole file and summarise it in a few lines.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list holds several values in order. We write it with square brackets and commas between the values. Our example is the list two, four, six, and we give it the name readings.</a:t>
            </a:r>
          </a:p>
          <a:p xmlns:a="http://schemas.openxmlformats.org/drawingml/2006/main"/>
          <a:p xmlns:a="http://schemas.openxmlformats.org/drawingml/2006/main">
            <a:r>
              <a:t>Every item in a list has a position, and Python calls this position the index. The first item sits at position zero, the second at position one, and the third at position two. We count from zero.</a:t>
            </a:r>
          </a:p>
          <a:p xmlns:a="http://schemas.openxmlformats.org/drawingml/2006/main"/>
          <a:p xmlns:a="http://schemas.openxmlformats.org/drawingml/2006/main">
            <a:r>
              <a:t>To pick one item, we write the list name followed by square brackets with the position inside. So readings, open square bracket, zero, close square bracket, selects the first item, which is two.</a:t>
            </a:r>
          </a:p>
          <a:p xmlns:a="http://schemas.openxmlformats.org/drawingml/2006/main"/>
          <a:p xmlns:a="http://schemas.openxmlformats.org/drawingml/2006/main">
            <a:r>
              <a:t>Notice that square brackets appear in two jobs. Around values they build a list. After a name they select an item.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look at the list two, four, six one position at a time.</a:t>
            </a:r>
          </a:p>
          <a:p xmlns:a="http://schemas.openxmlformats.org/drawingml/2006/main"/>
          <a:p xmlns:a="http://schemas.openxmlformats.org/drawingml/2006/main">
            <a:r>
              <a:t>Position zero holds the value two. This is the first item in the list. Many people expect the first position to be one, so it takes practice to count from zero.</a:t>
            </a:r>
          </a:p>
          <a:p xmlns:a="http://schemas.openxmlformats.org/drawingml/2006/main"/>
          <a:p xmlns:a="http://schemas.openxmlformats.org/drawingml/2006/main">
            <a:r>
              <a:t>Position one holds four, and position two holds six.</a:t>
            </a:r>
          </a:p>
          <a:p xmlns:a="http://schemas.openxmlformats.org/drawingml/2006/main"/>
          <a:p xmlns:a="http://schemas.openxmlformats.org/drawingml/2006/main">
            <a:r>
              <a:t>This list has three items, so there is no position three. If we ask for position three, Python stops with an error message. The last position is always one less than the number of items. In this list the last position is two.</a:t>
            </a:r>
          </a:p>
          <a:p xmlns:a="http://schemas.openxmlformats.org/drawingml/2006/main"/>
          <a:p xmlns:a="http://schemas.openxmlformats.org/drawingml/2006/main">
            <a:r>
              <a:t>Keep this picture of positions zero, one and two in mind, because every list in this course works the same way.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three things we can do with a list.</a:t>
            </a:r>
          </a:p>
          <a:p xmlns:a="http://schemas.openxmlformats.org/drawingml/2006/main"/>
          <a:p xmlns:a="http://schemas.openxmlformats.org/drawingml/2006/main">
            <a:r>
              <a:t>First, append. We write readings, dot, append, and put the new value in parentheses. For example, append eight adds eight to the end of the list. The dot means we are using an operation that belongs to the list. The parentheses mean we are calling that operation, in other words asking it to run.</a:t>
            </a:r>
          </a:p>
          <a:p xmlns:a="http://schemas.openxmlformats.org/drawingml/2006/main"/>
          <a:p xmlns:a="http://schemas.openxmlformats.org/drawingml/2006/main">
            <a:r>
              <a:t>Second, len. Writing len of readings counts the items in the list.</a:t>
            </a:r>
          </a:p>
          <a:p xmlns:a="http://schemas.openxmlformats.org/drawingml/2006/main"/>
          <a:p xmlns:a="http://schemas.openxmlformats.org/drawingml/2006/main">
            <a:r>
              <a:t>Third, a slice. A slice picks a range of positions. Readings, open bracket, one, colon, three, close bracket, picks positions one and two. It stops before position three. The stop position is always left out.</a:t>
            </a:r>
          </a:p>
          <a:p xmlns:a="http://schemas.openxmlformats.org/drawingml/2006/main"/>
          <a:p xmlns:a="http://schemas.openxmlformats.org/drawingml/2006/main">
            <a:r>
              <a:t>A slice makes a new list. The original list stays as it was.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this example one line at a time.</a:t>
            </a:r>
          </a:p>
          <a:p xmlns:a="http://schemas.openxmlformats.org/drawingml/2006/main"/>
          <a:p xmlns:a="http://schemas.openxmlformats.org/drawingml/2006/main">
            <a:r>
              <a:t>The first line builds a list called readings with the values two, four and six.</a:t>
            </a:r>
          </a:p>
          <a:p xmlns:a="http://schemas.openxmlformats.org/drawingml/2006/main"/>
          <a:p xmlns:a="http://schemas.openxmlformats.org/drawingml/2006/main">
            <a:r>
              <a:t>The second line prints readings at position zero. Print shows a value below the cell. Position zero is the first item, so this shows two.</a:t>
            </a:r>
          </a:p>
          <a:p xmlns:a="http://schemas.openxmlformats.org/drawingml/2006/main"/>
          <a:p xmlns:a="http://schemas.openxmlformats.org/drawingml/2006/main">
            <a:r>
              <a:t>The third line appends eight. Append adds one item to the end, so the list becomes two, four, six, eight.</a:t>
            </a:r>
          </a:p>
          <a:p xmlns:a="http://schemas.openxmlformats.org/drawingml/2006/main"/>
          <a:p xmlns:a="http://schemas.openxmlformats.org/drawingml/2006/main">
            <a:r>
              <a:t>The fourth line prints len of readings, which counts the items. There are now four, so this shows four.</a:t>
            </a:r>
          </a:p>
          <a:p xmlns:a="http://schemas.openxmlformats.org/drawingml/2006/main"/>
          <a:p xmlns:a="http://schemas.openxmlformats.org/drawingml/2006/main">
            <a:r>
              <a:t>The last line prints readings from position one up to, but excluding, position three. That means positions one and two, which hold four and six. The output is the small list four, six.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follows the list after each instruction, so we can see exactly when it changes.</a:t>
            </a:r>
          </a:p>
          <a:p xmlns:a="http://schemas.openxmlformats.org/drawingml/2006/main"/>
          <a:p xmlns:a="http://schemas.openxmlformats.org/drawingml/2006/main">
            <a:r>
              <a:t>After the first line the list is two, four, six, and nothing is displayed yet because we only created it.</a:t>
            </a:r>
          </a:p>
          <a:p xmlns:a="http://schemas.openxmlformats.org/drawingml/2006/main"/>
          <a:p xmlns:a="http://schemas.openxmlformats.org/drawingml/2006/main">
            <a:r>
              <a:t>The second line prints the item at position zero. It shows two, and the list stays the same.</a:t>
            </a:r>
          </a:p>
          <a:p xmlns:a="http://schemas.openxmlformats.org/drawingml/2006/main"/>
          <a:p xmlns:a="http://schemas.openxmlformats.org/drawingml/2006/main">
            <a:r>
              <a:t>The third line appends eight. The list becomes two, four, six, eight. Nothing is displayed, because append changes the list but prints nothing.</a:t>
            </a:r>
          </a:p>
          <a:p xmlns:a="http://schemas.openxmlformats.org/drawingml/2006/main"/>
          <a:p xmlns:a="http://schemas.openxmlformats.org/drawingml/2006/main">
            <a:r>
              <a:t>The fourth line prints len, which shows four. The fifth line prints a slice from position one up to, but not including, position three, which shows four, six. It shows four, six. The list is still two, four, six, eight.</a:t>
            </a:r>
          </a:p>
          <a:p xmlns:a="http://schemas.openxmlformats.org/drawingml/2006/main"/>
          <a:p xmlns:a="http://schemas.openxmlformats.org/drawingml/2006/main">
            <a:r>
              <a:t>Len reports four after the append, because there are four items. The slice leaves the original list intact.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loop runs a block of instructions more than once. One run through the block is called an iteration.</a:t>
            </a:r>
          </a:p>
          <a:p xmlns:a="http://schemas.openxmlformats.org/drawingml/2006/main"/>
          <a:p xmlns:a="http://schemas.openxmlformats.org/drawingml/2006/main">
            <a:r>
              <a:t>Python gives us two kinds of loop. The first is the for loop. It takes one item at a time from a collection, such as a list, and runs the same action on each item. We use it when every item needs the same treatment.</a:t>
            </a:r>
          </a:p>
          <a:p xmlns:a="http://schemas.openxmlformats.org/drawingml/2006/main"/>
          <a:p xmlns:a="http://schemas.openxmlformats.org/drawingml/2006/main">
            <a:r>
              <a:t>The second is the while loop. It keeps repeating as long as a condition stays true. A condition is a true or false question. We use while when a condition decides how long the repetition lasts.</a:t>
            </a:r>
          </a:p>
          <a:p xmlns:a="http://schemas.openxmlformats.org/drawingml/2006/main"/>
          <a:p xmlns:a="http://schemas.openxmlformats.org/drawingml/2006/main">
            <a:r>
              <a:t>Today we begin with for, because summing a list of readings is a job where every item gets the same treatment.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take apart the first line of a for loop, which reads for reading in readings, colon.</a:t>
            </a:r>
          </a:p>
          <a:p xmlns:a="http://schemas.openxmlformats.org/drawingml/2006/main"/>
          <a:p xmlns:a="http://schemas.openxmlformats.org/drawingml/2006/main">
            <a:r>
              <a:t>The word for tells Python we are starting a repetition.</a:t>
            </a:r>
          </a:p>
          <a:p xmlns:a="http://schemas.openxmlformats.org/drawingml/2006/main"/>
          <a:p xmlns:a="http://schemas.openxmlformats.org/drawingml/2006/main">
            <a:r>
              <a:t>Reading is a name for the current item. Python gives this name the next item automatically each time round. We choose the name ourselves. Readings with an s is the list we are visiting. These are two different names. One is a single item and the other is the whole collection.</a:t>
            </a:r>
          </a:p>
          <a:p xmlns:a="http://schemas.openxmlformats.org/drawingml/2006/main"/>
          <a:p xmlns:a="http://schemas.openxmlformats.org/drawingml/2006/main">
            <a:r>
              <a:t>The word in links the item name to the collection.</a:t>
            </a:r>
          </a:p>
          <a:p xmlns:a="http://schemas.openxmlformats.org/drawingml/2006/main"/>
          <a:p xmlns:a="http://schemas.openxmlformats.org/drawingml/2006/main">
            <a:r>
              <a:t>The colon begins the loop body. The body is the set of lines that repeat, and we mark them with four spaces at the start of each line.</a:t>
            </a:r>
          </a:p>
          <a:p xmlns:a="http://schemas.openxmlformats.org/drawingml/2006/main"/>
          <a:p xmlns:a="http://schemas.openxmlformats.org/drawingml/2006/main">
            <a:r>
              <a:t>After the last item has been visited, Python leaves the loop and carries on below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this loop line by line.</a:t>
            </a:r>
          </a:p>
          <a:p xmlns:a="http://schemas.openxmlformats.org/drawingml/2006/main"/>
          <a:p xmlns:a="http://schemas.openxmlformats.org/drawingml/2006/main">
            <a:r>
              <a:t>The first line makes the list two, four, six.</a:t>
            </a:r>
          </a:p>
          <a:p xmlns:a="http://schemas.openxmlformats.org/drawingml/2006/main"/>
          <a:p xmlns:a="http://schemas.openxmlformats.org/drawingml/2006/main">
            <a:r>
              <a:t>The second line starts the loop. Python takes the first item, two, and calls it reading.</a:t>
            </a:r>
          </a:p>
          <a:p xmlns:a="http://schemas.openxmlformats.org/drawingml/2006/main"/>
          <a:p xmlns:a="http://schemas.openxmlformats.org/drawingml/2006/main">
            <a:r>
              <a:t>The third line is indented by four spaces, so it belongs to the loop body. It prints the current reading. On the first pass it prints two. Python then goes back, takes four, and prints four. On the third pass it takes six and prints six.</a:t>
            </a:r>
          </a:p>
          <a:p xmlns:a="http://schemas.openxmlformats.org/drawingml/2006/main"/>
          <a:p xmlns:a="http://schemas.openxmlformats.org/drawingml/2006/main">
            <a:r>
              <a:t>The last line prints the word finished. It has no indentation, so it sits outside the loop. It runs once, after the loop is done.</a:t>
            </a:r>
          </a:p>
          <a:p xmlns:a="http://schemas.openxmlformats.org/drawingml/2006/main"/>
          <a:p xmlns:a="http://schemas.openxmlformats.org/drawingml/2006/main">
            <a:r>
              <a:t>The output is two, four, six, finished. The body ran three times because the list has three items.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traces the same loop step by step.</a:t>
            </a:r>
          </a:p>
          <a:p xmlns:a="http://schemas.openxmlformats.org/drawingml/2006/main"/>
          <a:p xmlns:a="http://schemas.openxmlformats.org/drawingml/2006/main">
            <a:r>
              <a:t>In the first step, the current reading is two, and the action is to print two.</a:t>
            </a:r>
          </a:p>
          <a:p xmlns:a="http://schemas.openxmlformats.org/drawingml/2006/main"/>
          <a:p xmlns:a="http://schemas.openxmlformats.org/drawingml/2006/main">
            <a:r>
              <a:t>In the second step, the current reading is four, and we print four.</a:t>
            </a:r>
          </a:p>
          <a:p xmlns:a="http://schemas.openxmlformats.org/drawingml/2006/main"/>
          <a:p xmlns:a="http://schemas.openxmlformats.org/drawingml/2006/main">
            <a:r>
              <a:t>In the third step, the current reading is six, and we print six.</a:t>
            </a:r>
          </a:p>
          <a:p xmlns:a="http://schemas.openxmlformats.org/drawingml/2006/main"/>
          <a:p xmlns:a="http://schemas.openxmlformats.org/drawingml/2006/main">
            <a:r>
              <a:t>Then there are no items left, so there is no new reading. Python leaves the loop and prints finished.</a:t>
            </a:r>
          </a:p>
          <a:p xmlns:a="http://schemas.openxmlformats.org/drawingml/2006/main"/>
          <a:p xmlns:a="http://schemas.openxmlformats.org/drawingml/2006/main">
            <a:r>
              <a:t>The slide also tells us what happens with an empty list, which is a list with nothing in it. The body runs zero times, because there is no item to visit. Python still reaches the outside line and prints finished.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counter records how many times something happens. We build one in two steps.</a:t>
            </a:r>
          </a:p>
          <a:p xmlns:a="http://schemas.openxmlformats.org/drawingml/2006/main"/>
          <a:p xmlns:a="http://schemas.openxmlformats.org/drawingml/2006/main">
            <a:r>
              <a:t>First, before the loop, we write count equals zero. This gives the counter a starting value.</a:t>
            </a:r>
          </a:p>
          <a:p xmlns:a="http://schemas.openxmlformats.org/drawingml/2006/main"/>
          <a:p xmlns:a="http://schemas.openxmlformats.org/drawingml/2006/main">
            <a:r>
              <a:t>Second, inside the loop, we write count equals count plus one. Python reads the right side first, takes the current count and adds one, and then stores the answer back in count.</a:t>
            </a:r>
          </a:p>
          <a:p xmlns:a="http://schemas.openxmlformats.org/drawingml/2006/main"/>
          <a:p xmlns:a="http://schemas.openxmlformats.org/drawingml/2006/main">
            <a:r>
              <a:t>There is a shorter way to write the same update. Count plus equals one means the same as count equals count plus one. In the same way, total plus equals reading means total equals total plus reading.</a:t>
            </a:r>
          </a:p>
          <a:p xmlns:a="http://schemas.openxmlformats.org/drawingml/2006/main"/>
          <a:p xmlns:a="http://schemas.openxmlformats.org/drawingml/2006/main">
            <a:r>
              <a:t>The starting value must be set outside the loop. If we reset count to zero inside the loop, it goes back to zero on every pass, and we lose the earlier count.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counts how many items a list has by visiting each one.</a:t>
            </a:r>
          </a:p>
          <a:p xmlns:a="http://schemas.openxmlformats.org/drawingml/2006/main"/>
          <a:p xmlns:a="http://schemas.openxmlformats.org/drawingml/2006/main">
            <a:r>
              <a:t>The first line sets count to zero, before the loop starts.</a:t>
            </a:r>
          </a:p>
          <a:p xmlns:a="http://schemas.openxmlformats.org/drawingml/2006/main"/>
          <a:p xmlns:a="http://schemas.openxmlformats.org/drawingml/2006/main">
            <a:r>
              <a:t>The second line starts a for loop over the list two, four, six. On each pass, reading holds the current item.</a:t>
            </a:r>
          </a:p>
          <a:p xmlns:a="http://schemas.openxmlformats.org/drawingml/2006/main"/>
          <a:p xmlns:a="http://schemas.openxmlformats.org/drawingml/2006/main">
            <a:r>
              <a:t>The third line is inside the loop. It adds one to count. We never use the value of reading here, because we only want to know how many items we visited.</a:t>
            </a:r>
          </a:p>
          <a:p xmlns:a="http://schemas.openxmlformats.org/drawingml/2006/main"/>
          <a:p xmlns:a="http://schemas.openxmlformats.org/drawingml/2006/main">
            <a:r>
              <a:t>The count changes from zero to one on the first pass, from one to two on the second pass, and from two to three on the third.</a:t>
            </a:r>
          </a:p>
          <a:p xmlns:a="http://schemas.openxmlformats.org/drawingml/2006/main"/>
          <a:p xmlns:a="http://schemas.openxmlformats.org/drawingml/2006/main">
            <a:r>
              <a:t>The last line is outside the loop and prints count. The output is three, which matches the three items in the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accumulator is a running total. It is a variable that collects a result a little at a time as a loop visits each item.</a:t>
            </a:r>
          </a:p>
          <a:p xmlns:a="http://schemas.openxmlformats.org/drawingml/2006/main"/>
          <a:p xmlns:a="http://schemas.openxmlformats.org/drawingml/2006/main">
            <a:r>
              <a:t>We build it in three steps. Before the loop, we set it to zero. Inside the loop, we add the current item to it. After the loop finishes, we read the final total.</a:t>
            </a:r>
          </a:p>
          <a:p xmlns:a="http://schemas.openxmlformats.org/drawingml/2006/main"/>
          <a:p xmlns:a="http://schemas.openxmlformats.org/drawingml/2006/main">
            <a:r>
              <a:t>Think of a cashier adding up a customer's items. The till starts at zero, each item adds to the total, and the last number on the screen is the answer.</a:t>
            </a:r>
          </a:p>
          <a:p xmlns:a="http://schemas.openxmlformats.org/drawingml/2006/main"/>
          <a:p xmlns:a="http://schemas.openxmlformats.org/drawingml/2006/main">
            <a:r>
              <a:t>The counter we saw a moment ago is an accumulator too. It adds one each time instead of adding the item's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pull the loop ideas together before we use them for adding.</a:t>
            </a:r>
          </a:p>
          <a:p xmlns:a="http://schemas.openxmlformats.org/drawingml/2006/main"/>
          <a:p xmlns:a="http://schemas.openxmlformats.org/drawingml/2006/main">
            <a:r>
              <a:t>The line for reading in readings, colon, takes one item at a time from the list and gives it the name reading.</a:t>
            </a:r>
          </a:p>
          <a:p xmlns:a="http://schemas.openxmlformats.org/drawingml/2006/main"/>
          <a:p xmlns:a="http://schemas.openxmlformats.org/drawingml/2006/main">
            <a:r>
              <a:t>The colon starts the block, which is the group of lines that repeat. Four spaces at the start of a line show that the line belongs to the block. A line without those spaces is outside the loop.</a:t>
            </a:r>
          </a:p>
          <a:p xmlns:a="http://schemas.openxmlformats.org/drawingml/2006/main"/>
          <a:p xmlns:a="http://schemas.openxmlformats.org/drawingml/2006/main">
            <a:r>
              <a:t>The last idea is about running totals. A running total must start at zero before the loop. If we forget this, Python does not know what to add to, and we get an error. If we start it inside the loop, it resets on every pass.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mean is the total of the values divided by how many values there are. To find it for our list, we need two numbers from the loop, a total and a count.</a:t>
            </a:r>
          </a:p>
          <a:p xmlns:a="http://schemas.openxmlformats.org/drawingml/2006/main"/>
          <a:p xmlns:a="http://schemas.openxmlformats.org/drawingml/2006/main">
            <a:r>
              <a:t>In the first step we start the total at zero and add two, then four, then six.</a:t>
            </a:r>
          </a:p>
          <a:p xmlns:a="http://schemas.openxmlformats.org/drawingml/2006/main"/>
          <a:p xmlns:a="http://schemas.openxmlformats.org/drawingml/2006/main">
            <a:r>
              <a:t>In the second step we look at the results. The final total is twelve, and the count is three because we visited three items.</a:t>
            </a:r>
          </a:p>
          <a:p xmlns:a="http://schemas.openxmlformats.org/drawingml/2006/main"/>
          <a:p xmlns:a="http://schemas.openxmlformats.org/drawingml/2006/main">
            <a:r>
              <a:t>In the third step we divide. Twelve divided by three gives a mean of four.</a:t>
            </a:r>
          </a:p>
          <a:p xmlns:a="http://schemas.openxmlformats.org/drawingml/2006/main"/>
          <a:p xmlns:a="http://schemas.openxmlformats.org/drawingml/2006/main">
            <a:r>
              <a:t>The slide also warns that an empty list needs a separate rule. An empty list has a count of zero, and dividing by zero is an error, so we must decide what the program does in that case before we divide.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picture shows a loop changing a running total. It uses six separate readings, so we can see the total grow as each reading is added.</a:t>
            </a:r>
          </a:p>
          <a:p xmlns:a="http://schemas.openxmlformats.org/drawingml/2006/main"/>
          <a:p xmlns:a="http://schemas.openxmlformats.org/drawingml/2006/main">
            <a:r>
              <a:t>Before the first reading, the total is zero. Each time the loop visits a reading, it adds that reading to the total, and the total gets bigger.</a:t>
            </a:r>
          </a:p>
          <a:p xmlns:a="http://schemas.openxmlformats.org/drawingml/2006/main"/>
          <a:p xmlns:a="http://schemas.openxmlformats.org/drawingml/2006/main">
            <a:r>
              <a:t>Next we trace a smaller list, two, four, six, using the same rule. With only three readings, we can follow every number on the table and check each step ourselves.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traces the running total through the list two, four, six.</a:t>
            </a:r>
          </a:p>
          <a:p xmlns:a="http://schemas.openxmlformats.org/drawingml/2006/main"/>
          <a:p xmlns:a="http://schemas.openxmlformats.org/drawingml/2006/main">
            <a:r>
              <a:t>Before the loop starts, there is no reading yet, and the total is zero.</a:t>
            </a:r>
          </a:p>
          <a:p xmlns:a="http://schemas.openxmlformats.org/drawingml/2006/main"/>
          <a:p xmlns:a="http://schemas.openxmlformats.org/drawingml/2006/main">
            <a:r>
              <a:t>On the first pass the reading is two. We add it, and the total becomes two.</a:t>
            </a:r>
          </a:p>
          <a:p xmlns:a="http://schemas.openxmlformats.org/drawingml/2006/main"/>
          <a:p xmlns:a="http://schemas.openxmlformats.org/drawingml/2006/main">
            <a:r>
              <a:t>On the second pass the reading is four. We add it to the two already in the total, and the total becomes six.</a:t>
            </a:r>
          </a:p>
          <a:p xmlns:a="http://schemas.openxmlformats.org/drawingml/2006/main"/>
          <a:p xmlns:a="http://schemas.openxmlformats.org/drawingml/2006/main">
            <a:r>
              <a:t>On the third pass the reading is six. We add it, and the total becomes twelve.</a:t>
            </a:r>
          </a:p>
          <a:p xmlns:a="http://schemas.openxmlformats.org/drawingml/2006/main"/>
          <a:p xmlns:a="http://schemas.openxmlformats.org/drawingml/2006/main">
            <a:r>
              <a:t>There are three readings, so the count is three. The total of twelve and the count of three are the two numbers we need for the mean. Twelve divided by three is four.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full program that puts together everything we have seen so far. We read it from top to bottom.</a:t>
            </a:r>
          </a:p>
          <a:p xmlns:a="http://schemas.openxmlformats.org/drawingml/2006/main"/>
          <a:p xmlns:a="http://schemas.openxmlformats.org/drawingml/2006/main">
            <a:r>
              <a:t>The first line builds the list of readings, two, four, six.</a:t>
            </a:r>
          </a:p>
          <a:p xmlns:a="http://schemas.openxmlformats.org/drawingml/2006/main"/>
          <a:p xmlns:a="http://schemas.openxmlformats.org/drawingml/2006/main">
            <a:r>
              <a:t>The second line sets total to zero. This is the accumulator, and it starts before the loop.</a:t>
            </a:r>
          </a:p>
          <a:p xmlns:a="http://schemas.openxmlformats.org/drawingml/2006/main"/>
          <a:p xmlns:a="http://schemas.openxmlformats.org/drawingml/2006/main">
            <a:r>
              <a:t>The third line starts the for loop. Each pass gives us the next item, called reading.</a:t>
            </a:r>
          </a:p>
          <a:p xmlns:a="http://schemas.openxmlformats.org/drawingml/2006/main"/>
          <a:p xmlns:a="http://schemas.openxmlformats.org/drawingml/2006/main">
            <a:r>
              <a:t>The fourth line is indented, so it is in the loop body. It sets total to the old total plus the current reading.</a:t>
            </a:r>
          </a:p>
          <a:p xmlns:a="http://schemas.openxmlformats.org/drawingml/2006/main"/>
          <a:p xmlns:a="http://schemas.openxmlformats.org/drawingml/2006/main">
            <a:r>
              <a:t>The fifth line is outside the loop. It divides the total by len of readings, which is the number of items, and stores the answer in mean.</a:t>
            </a:r>
          </a:p>
          <a:p xmlns:a="http://schemas.openxmlformats.org/drawingml/2006/main"/>
          <a:p xmlns:a="http://schemas.openxmlformats.org/drawingml/2006/main">
            <a:r>
              <a:t>The last line prints the mean. We should run this complete example in the matching practice notebook and check the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output of the program we just read. It shows four point zero.</a:t>
            </a:r>
          </a:p>
          <a:p xmlns:a="http://schemas.openxmlformats.org/drawingml/2006/main"/>
          <a:p xmlns:a="http://schemas.openxmlformats.org/drawingml/2006/main">
            <a:r>
              <a:t>That is the mean of two, four and six. The total of twelve divided by the count of three gives four. Python shows it as four point zero because dividing with the slash always gives a decimal number, even when the answer is whole.</a:t>
            </a:r>
          </a:p>
          <a:p xmlns:a="http://schemas.openxmlformats.org/drawingml/2006/main"/>
          <a:p xmlns:a="http://schemas.openxmlformats.org/drawingml/2006/main">
            <a:r>
              <a:t>Look back at the code and say which step produced this result. The answer is the last division, total divided by len of readings.</a:t>
            </a:r>
          </a:p>
          <a:p xmlns:a="http://schemas.openxmlformats.org/drawingml/2006/main"/>
          <a:p xmlns:a="http://schemas.openxmlformats.org/drawingml/2006/main">
            <a:r>
              <a:t>Then think about what changes if one input changes. If we changed six to nine, the total would change, so the mean would change too. The count would stay the same, because we still have three readings.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Python already has built-in functions for the most common summaries, so we do not always need to write a loop ourselves.</a:t>
            </a:r>
          </a:p>
          <a:p xmlns:a="http://schemas.openxmlformats.org/drawingml/2006/main"/>
          <a:p xmlns:a="http://schemas.openxmlformats.org/drawingml/2006/main">
            <a:r>
              <a:t>Len answers how many items there are. For our list two, four, six, it gives three.</a:t>
            </a:r>
          </a:p>
          <a:p xmlns:a="http://schemas.openxmlformats.org/drawingml/2006/main"/>
          <a:p xmlns:a="http://schemas.openxmlformats.org/drawingml/2006/main">
            <a:r>
              <a:t>Sum answers what the total is. It gives twelve.</a:t>
            </a:r>
          </a:p>
          <a:p xmlns:a="http://schemas.openxmlformats.org/drawingml/2006/main"/>
          <a:p xmlns:a="http://schemas.openxmlformats.org/drawingml/2006/main">
            <a:r>
              <a:t>Min answers which item is smallest. It gives two.</a:t>
            </a:r>
          </a:p>
          <a:p xmlns:a="http://schemas.openxmlformats.org/drawingml/2006/main"/>
          <a:p xmlns:a="http://schemas.openxmlformats.org/drawingml/2006/main">
            <a:r>
              <a:t>Max answers which item is largest. It gives six.</a:t>
            </a:r>
          </a:p>
          <a:p xmlns:a="http://schemas.openxmlformats.org/drawingml/2006/main"/>
          <a:p xmlns:a="http://schemas.openxmlformats.org/drawingml/2006/main">
            <a:r>
              <a:t>There is one condition. Min and max need at least one item in the list. If the list is empty, they have nothing to choose from, so Python reports an error, unless we supply an explicit default value to use instead.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uses the built-in summary functions on our list.</a:t>
            </a:r>
          </a:p>
          <a:p xmlns:a="http://schemas.openxmlformats.org/drawingml/2006/main"/>
          <a:p xmlns:a="http://schemas.openxmlformats.org/drawingml/2006/main">
            <a:r>
              <a:t>The first line makes the list two, four, six.</a:t>
            </a:r>
          </a:p>
          <a:p xmlns:a="http://schemas.openxmlformats.org/drawingml/2006/main"/>
          <a:p xmlns:a="http://schemas.openxmlformats.org/drawingml/2006/main">
            <a:r>
              <a:t>The second line prints sum of readings. Sum adds all the items, so it shows twelve.</a:t>
            </a:r>
          </a:p>
          <a:p xmlns:a="http://schemas.openxmlformats.org/drawingml/2006/main"/>
          <a:p xmlns:a="http://schemas.openxmlformats.org/drawingml/2006/main">
            <a:r>
              <a:t>The third line prints len of readings, which counts the items. It shows three.</a:t>
            </a:r>
          </a:p>
          <a:p xmlns:a="http://schemas.openxmlformats.org/drawingml/2006/main"/>
          <a:p xmlns:a="http://schemas.openxmlformats.org/drawingml/2006/main">
            <a:r>
              <a:t>The fourth line prints min of readings, the smallest item. It shows two.</a:t>
            </a:r>
          </a:p>
          <a:p xmlns:a="http://schemas.openxmlformats.org/drawingml/2006/main"/>
          <a:p xmlns:a="http://schemas.openxmlformats.org/drawingml/2006/main">
            <a:r>
              <a:t>The last line prints max of readings, the largest item. It shows six.</a:t>
            </a:r>
          </a:p>
          <a:p xmlns:a="http://schemas.openxmlformats.org/drawingml/2006/main"/>
          <a:p xmlns:a="http://schemas.openxmlformats.org/drawingml/2006/main">
            <a:r>
              <a:t>The output is twelve, three, two, six. These functions are built into Python, so we can use them without any setup. Min and max need a list with at least one item, and our list has three, so both work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while loop checks a condition before each repetition. The condition here is count is less than three.</a:t>
            </a:r>
          </a:p>
          <a:p xmlns:a="http://schemas.openxmlformats.org/drawingml/2006/main"/>
          <a:p xmlns:a="http://schemas.openxmlformats.org/drawingml/2006/main">
            <a:r>
              <a:t>In the first step, Python tests the condition before entering the block. If the answer is true, it enters the block. If the answer is false, it skips the block and continues after the loop.</a:t>
            </a:r>
          </a:p>
          <a:p xmlns:a="http://schemas.openxmlformats.org/drawingml/2006/main"/>
          <a:p xmlns:a="http://schemas.openxmlformats.org/drawingml/2006/main">
            <a:r>
              <a:t>In the second step, at the end of the body, Python returns to the condition and tests it again. A for loop moves to the next item in a list by itself. A while loop does not do that. It only repeats the test.</a:t>
            </a:r>
          </a:p>
          <a:p xmlns:a="http://schemas.openxmlformats.org/drawingml/2006/main"/>
          <a:p xmlns:a="http://schemas.openxmlformats.org/drawingml/2006/main">
            <a:r>
              <a:t>The third step is about stopping. Something inside the loop must make the condition become false, or the loop may continue forever. In our example, count goes up by one on every iteration, so it eventually reaches three.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this while loop line by line.</a:t>
            </a:r>
          </a:p>
          <a:p xmlns:a="http://schemas.openxmlformats.org/drawingml/2006/main"/>
          <a:p xmlns:a="http://schemas.openxmlformats.org/drawingml/2006/main">
            <a:r>
              <a:t>The first line sets count to zero. This is the starting value.</a:t>
            </a:r>
          </a:p>
          <a:p xmlns:a="http://schemas.openxmlformats.org/drawingml/2006/main"/>
          <a:p xmlns:a="http://schemas.openxmlformats.org/drawingml/2006/main">
            <a:r>
              <a:t>The second line is the test. While count is less than three, the loop body runs.</a:t>
            </a:r>
          </a:p>
          <a:p xmlns:a="http://schemas.openxmlformats.org/drawingml/2006/main"/>
          <a:p xmlns:a="http://schemas.openxmlformats.org/drawingml/2006/main">
            <a:r>
              <a:t>The third line prints the current count.</a:t>
            </a:r>
          </a:p>
          <a:p xmlns:a="http://schemas.openxmlformats.org/drawingml/2006/main"/>
          <a:p xmlns:a="http://schemas.openxmlformats.org/drawingml/2006/main">
            <a:r>
              <a:t>The fourth line adds one to count. This update is what eventually ends the loop.</a:t>
            </a:r>
          </a:p>
          <a:p xmlns:a="http://schemas.openxmlformats.org/drawingml/2006/main"/>
          <a:p xmlns:a="http://schemas.openxmlformats.org/drawingml/2006/main">
            <a:r>
              <a:t>The last line has no indentation, so it runs once, after the loop ends.</a:t>
            </a:r>
          </a:p>
          <a:p xmlns:a="http://schemas.openxmlformats.org/drawingml/2006/main"/>
          <a:p xmlns:a="http://schemas.openxmlformats.org/drawingml/2006/main">
            <a:r>
              <a:t>The order is to set up, test, run the body, update, and test again. When count reaches three, the test is false and the loop stops. The output is zero, one, two, finished.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follows the while loop by the value of count at each test.</a:t>
            </a:r>
          </a:p>
          <a:p xmlns:a="http://schemas.openxmlformats.org/drawingml/2006/main"/>
          <a:p xmlns:a="http://schemas.openxmlformats.org/drawingml/2006/main">
            <a:r>
              <a:t>When count is zero, the test count less than three is true. We print zero and update count to one.</a:t>
            </a:r>
          </a:p>
          <a:p xmlns:a="http://schemas.openxmlformats.org/drawingml/2006/main"/>
          <a:p xmlns:a="http://schemas.openxmlformats.org/drawingml/2006/main">
            <a:r>
              <a:t>When count is one, the test is true again. We print one and update count to two.</a:t>
            </a:r>
          </a:p>
          <a:p xmlns:a="http://schemas.openxmlformats.org/drawingml/2006/main"/>
          <a:p xmlns:a="http://schemas.openxmlformats.org/drawingml/2006/main">
            <a:r>
              <a:t>When count is two, the test is still true. We print two and update count to three.</a:t>
            </a:r>
          </a:p>
          <a:p xmlns:a="http://schemas.openxmlformats.org/drawingml/2006/main"/>
          <a:p xmlns:a="http://schemas.openxmlformats.org/drawingml/2006/main">
            <a:r>
              <a:t>When count is three, the test is false. Python skips the body and goes on to print finished.</a:t>
            </a:r>
          </a:p>
          <a:p xmlns:a="http://schemas.openxmlformats.org/drawingml/2006/main"/>
          <a:p xmlns:a="http://schemas.openxmlformats.org/drawingml/2006/main">
            <a:r>
              <a:t>The slide also says what happens if count starts at three. The test is made first, and it is false right away, so the body runs zero times.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endless loop is one that never stops. Here is how it happens with our example.</a:t>
            </a:r>
          </a:p>
          <a:p xmlns:a="http://schemas.openxmlformats.org/drawingml/2006/main"/>
          <a:p xmlns:a="http://schemas.openxmlformats.org/drawingml/2006/main">
            <a:r>
              <a:t>Suppose we forget the update line. Then count stays at zero for ever. The question zero less than three stays true on every test, so the body keeps running and never finishes.</a:t>
            </a:r>
          </a:p>
          <a:p xmlns:a="http://schemas.openxmlformats.org/drawingml/2006/main"/>
          <a:p xmlns:a="http://schemas.openxmlformats.org/drawingml/2006/main">
            <a:r>
              <a:t>If that happens in Colab, click the stop button on the running cell, or use the Runtime menu and choose Interrupt execution. Then fix the condition or the update before you run the cell again.</a:t>
            </a:r>
          </a:p>
          <a:p xmlns:a="http://schemas.openxmlformats.org/drawingml/2006/main"/>
          <a:p xmlns:a="http://schemas.openxmlformats.org/drawingml/2006/main">
            <a:r>
              <a:t>Please do not run an endless example on purpose. Instead, trace the unchanged value on the slide. Count is zero, the test is true, count is still zero, and the test is true again. That tells us the loop would never 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have three ways to control a program, and this table compares them.</a:t>
            </a:r>
          </a:p>
          <a:p xmlns:a="http://schemas.openxmlformats.org/drawingml/2006/main"/>
          <a:p xmlns:a="http://schemas.openxmlformats.org/drawingml/2006/main">
            <a:r>
              <a:t>An if statement chooses a path once. When the chosen block is done, the program moves on.</a:t>
            </a:r>
          </a:p>
          <a:p xmlns:a="http://schemas.openxmlformats.org/drawingml/2006/main"/>
          <a:p xmlns:a="http://schemas.openxmlformats.org/drawingml/2006/main">
            <a:r>
              <a:t>A for loop visits supplied items, such as the items of a list. It finishes when the items run out.</a:t>
            </a:r>
          </a:p>
          <a:p xmlns:a="http://schemas.openxmlformats.org/drawingml/2006/main"/>
          <a:p xmlns:a="http://schemas.openxmlformats.org/drawingml/2006/main">
            <a:r>
              <a:t>A while loop repeats as long as its condition is true. It finishes when the condition becomes false.</a:t>
            </a:r>
          </a:p>
          <a:p xmlns:a="http://schemas.openxmlformats.org/drawingml/2006/main"/>
          <a:p xmlns:a="http://schemas.openxmlformats.org/drawingml/2006/main">
            <a:r>
              <a:t>The key difference is between if and while. Both test a condition, but if tests it a single time. A while loop tests it again after each run of its body. So a condition alone does not mean a program repeats.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Range gives us a sequence of whole numbers, which is useful when we want a loop to repeat a set number of times.</a:t>
            </a:r>
          </a:p>
          <a:p xmlns:a="http://schemas.openxmlformats.org/drawingml/2006/main"/>
          <a:p xmlns:a="http://schemas.openxmlformats.org/drawingml/2006/main">
            <a:r>
              <a:t>In the first step, range of three supplies zero, one and two. The stop value, three, is left out. Range of one, comma, four supplies one, two and three, because it starts at one and stops before four.</a:t>
            </a:r>
          </a:p>
          <a:p xmlns:a="http://schemas.openxmlformats.org/drawingml/2006/main"/>
          <a:p xmlns:a="http://schemas.openxmlformats.org/drawingml/2006/main">
            <a:r>
              <a:t>In the second step, we use range with a for loop. The loop still works the same way. It takes the next supplied number each time.</a:t>
            </a:r>
          </a:p>
          <a:p xmlns:a="http://schemas.openxmlformats.org/drawingml/2006/main"/>
          <a:p xmlns:a="http://schemas.openxmlformats.org/drawingml/2006/main">
            <a:r>
              <a:t>In the third step, a third value is the step. Range of zero, six, two supplies zero, two and four. The step is the amount we move between one number and the next. The step can never be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repeats an action using range.</a:t>
            </a:r>
          </a:p>
          <a:p xmlns:a="http://schemas.openxmlformats.org/drawingml/2006/main"/>
          <a:p xmlns:a="http://schemas.openxmlformats.org/drawingml/2006/main">
            <a:r>
              <a:t>The first line says for attempt in range of one, comma, four. Attempt is the name we give to the current number. Range of one to four starts at one and stops before four, so it supplies one, two and three.</a:t>
            </a:r>
          </a:p>
          <a:p xmlns:a="http://schemas.openxmlformats.org/drawingml/2006/main"/>
          <a:p xmlns:a="http://schemas.openxmlformats.org/drawingml/2006/main">
            <a:r>
              <a:t>The second line is indented, so it is the loop body. It prints the current attempt.</a:t>
            </a:r>
          </a:p>
          <a:p xmlns:a="http://schemas.openxmlformats.org/drawingml/2006/main"/>
          <a:p xmlns:a="http://schemas.openxmlformats.org/drawingml/2006/main">
            <a:r>
              <a:t>The loop runs three times. The output is one, two, three.</a:t>
            </a:r>
          </a:p>
          <a:p xmlns:a="http://schemas.openxmlformats.org/drawingml/2006/main"/>
          <a:p xmlns:a="http://schemas.openxmlformats.org/drawingml/2006/main">
            <a:r>
              <a:t>If we wanted it to start at zero we could write range of 3 on its own, with no start value. Here we chose to start at one, which suits counting attempts the way people count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we need to change the normal path of a loop. Python has two words for this.</a:t>
            </a:r>
          </a:p>
          <a:p xmlns:a="http://schemas.openxmlformats.org/drawingml/2006/main"/>
          <a:p xmlns:a="http://schemas.openxmlformats.org/drawingml/2006/main">
            <a:r>
              <a:t>The first is continue. It skips the rest of the current iteration and starts the next one. The loop carries on with the next item.</a:t>
            </a:r>
          </a:p>
          <a:p xmlns:a="http://schemas.openxmlformats.org/drawingml/2006/main"/>
          <a:p xmlns:a="http://schemas.openxmlformats.org/drawingml/2006/main">
            <a:r>
              <a:t>The second is break. It exits the loop immediately. Python resumes with the line after the loop. If there are loops inside loops, break exits only the nearest one.</a:t>
            </a:r>
          </a:p>
          <a:p xmlns:a="http://schemas.openxmlformats.org/drawingml/2006/main"/>
          <a:p xmlns:a="http://schemas.openxmlformats.org/drawingml/2006/main">
            <a:r>
              <a:t>The third point is about layout. The if condition sits inside the loop with four spaces. Its action, continue or break, sits inside the condition with eight spaces. That is an indented block inside another block. Each level of indentation tells Python what belongs to what.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skips one item using continue.</a:t>
            </a:r>
          </a:p>
          <a:p xmlns:a="http://schemas.openxmlformats.org/drawingml/2006/main"/>
          <a:p xmlns:a="http://schemas.openxmlformats.org/drawingml/2006/main">
            <a:r>
              <a:t>The first line loops over the list two, minus one, six. Each pass, reading holds the current item.</a:t>
            </a:r>
          </a:p>
          <a:p xmlns:a="http://schemas.openxmlformats.org/drawingml/2006/main"/>
          <a:p xmlns:a="http://schemas.openxmlformats.org/drawingml/2006/main">
            <a:r>
              <a:t>The second line is an if statement. It asks whether reading is less than zero, in other words whether it is negative.</a:t>
            </a:r>
          </a:p>
          <a:p xmlns:a="http://schemas.openxmlformats.org/drawingml/2006/main"/>
          <a:p xmlns:a="http://schemas.openxmlformats.org/drawingml/2006/main">
            <a:r>
              <a:t>The third line has eight spaces. It runs only when the condition is true, and it says continue. This sends Python straight to the next item.</a:t>
            </a:r>
          </a:p>
          <a:p xmlns:a="http://schemas.openxmlformats.org/drawingml/2006/main"/>
          <a:p xmlns:a="http://schemas.openxmlformats.org/drawingml/2006/main">
            <a:r>
              <a:t>The last line prints the reading, and it has four spaces, so it is part of the loop body.</a:t>
            </a:r>
          </a:p>
          <a:p xmlns:a="http://schemas.openxmlformats.org/drawingml/2006/main"/>
          <a:p xmlns:a="http://schemas.openxmlformats.org/drawingml/2006/main">
            <a:r>
              <a:t>The reading two is positive, so it is printed. The reading minus one is negative, so continue skips its print. The reading six is printed. The output is two, six.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is almost the same as the last one, but it uses break instead of continue.</a:t>
            </a:r>
          </a:p>
          <a:p xmlns:a="http://schemas.openxmlformats.org/drawingml/2006/main"/>
          <a:p xmlns:a="http://schemas.openxmlformats.org/drawingml/2006/main">
            <a:r>
              <a:t>The loop goes over the list two, minus one, six. For each item, the if line asks whether reading is less than zero.</a:t>
            </a:r>
          </a:p>
          <a:p xmlns:a="http://schemas.openxmlformats.org/drawingml/2006/main"/>
          <a:p xmlns:a="http://schemas.openxmlformats.org/drawingml/2006/main">
            <a:r>
              <a:t>For two, the answer is false, so the print line runs and shows two.</a:t>
            </a:r>
          </a:p>
          <a:p xmlns:a="http://schemas.openxmlformats.org/drawingml/2006/main"/>
          <a:p xmlns:a="http://schemas.openxmlformats.org/drawingml/2006/main">
            <a:r>
              <a:t>For minus one, the answer is true, so break runs. The loop ends immediately.</a:t>
            </a:r>
          </a:p>
          <a:p xmlns:a="http://schemas.openxmlformats.org/drawingml/2006/main"/>
          <a:p xmlns:a="http://schemas.openxmlformats.org/drawingml/2006/main">
            <a:r>
              <a:t>The loop never visits six, because it has already finished.</a:t>
            </a:r>
          </a:p>
          <a:p xmlns:a="http://schemas.openxmlformats.org/drawingml/2006/main"/>
          <a:p xmlns:a="http://schemas.openxmlformats.org/drawingml/2006/main">
            <a:r>
              <a:t>The output is just two.</a:t>
            </a:r>
          </a:p>
          <a:p xmlns:a="http://schemas.openxmlformats.org/drawingml/2006/main"/>
          <a:p xmlns:a="http://schemas.openxmlformats.org/drawingml/2006/main">
            <a:r>
              <a:t>The only change from the last slide is one word, and it changes the result from two and six to two alone.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compares the two loop controls on the same input, the list two, minus one, six.</a:t>
            </a:r>
          </a:p>
          <a:p xmlns:a="http://schemas.openxmlformats.org/drawingml/2006/main"/>
          <a:p xmlns:a="http://schemas.openxmlformats.org/drawingml/2006/main">
            <a:r>
              <a:t>For the item two, both versions print two.</a:t>
            </a:r>
          </a:p>
          <a:p xmlns:a="http://schemas.openxmlformats.org/drawingml/2006/main"/>
          <a:p xmlns:a="http://schemas.openxmlformats.org/drawingml/2006/main">
            <a:r>
              <a:t>For minus one, the continue version skips its print and goes on. The break version exits the loop.</a:t>
            </a:r>
          </a:p>
          <a:p xmlns:a="http://schemas.openxmlformats.org/drawingml/2006/main"/>
          <a:p xmlns:a="http://schemas.openxmlformats.org/drawingml/2006/main">
            <a:r>
              <a:t>For six, the continue version prints six. The break version never reaches it.</a:t>
            </a:r>
          </a:p>
          <a:p xmlns:a="http://schemas.openxmlformats.org/drawingml/2006/main"/>
          <a:p xmlns:a="http://schemas.openxmlformats.org/drawingml/2006/main">
            <a:r>
              <a:t>The slide gives a rule for using these. Use continue only when the data rule we were given justifies skipping an item. An example is a rule that says negative readings are invalid. We should avoid quietly throwing away data, because we might lose evidence that something is wrong.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dictionary is a record with named fields. In a list we find items by position. In a dictionary we find them by name.</a:t>
            </a:r>
          </a:p>
          <a:p xmlns:a="http://schemas.openxmlformats.org/drawingml/2006/main"/>
          <a:p xmlns:a="http://schemas.openxmlformats.org/drawingml/2006/main">
            <a:r>
              <a:t>Our example is record equals braces, with the word unit, a colon, and the letter A, then a comma, then the word reading, a colon and four. This stores two key and value pairs. The keys are the names of the fields, and the values hold the information.</a:t>
            </a:r>
          </a:p>
          <a:p xmlns:a="http://schemas.openxmlformats.org/drawingml/2006/main"/>
          <a:p xmlns:a="http://schemas.openxmlformats.org/drawingml/2006/main">
            <a:r>
              <a:t>The braces enclose the dictionary. A colon separates each key from its value, and a comma separates one pair from the next. Each key can appear only once.</a:t>
            </a:r>
          </a:p>
          <a:p xmlns:a="http://schemas.openxmlformats.org/drawingml/2006/main"/>
          <a:p xmlns:a="http://schemas.openxmlformats.org/drawingml/2006/main">
            <a:r>
              <a:t>To read a value, we write record, then square brackets with the key in quotation marks. Record with the key reading gives four. We ask for the field by its name, so we do not need to remember a position.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we ask a dictionary for a key that is not there. Take a record that holds a unit and a reading. When we write record, then square brackets with the word reading in quotes, Python looks for the key called reading and gives back its value. If that key does not exist, Python stops with an error called KeyError.</a:t>
            </a:r>
          </a:p>
          <a:p xmlns:a="http://schemas.openxmlformats.org/drawingml/2006/main"/>
          <a:p xmlns:a="http://schemas.openxmlformats.org/drawingml/2006/main">
            <a:r>
              <a:t>There is a gentler way to ask. Record dot get, with the word missing in quotes and then zero, asks for the key called missing and says, if it is absent, give me zero instead. This call does not add a new key to the dictionary. It only hands back the fallback.</a:t>
            </a:r>
          </a:p>
          <a:p xmlns:a="http://schemas.openxmlformats.org/drawingml/2006/main"/>
          <a:p xmlns:a="http://schemas.openxmlformats.org/drawingml/2006/main">
            <a:r>
              <a:t>The second input to get is the fallback value. We use a fallback only when the task tells us what missing information should mean. In a count, for example, a missing key can sensibly mean zero so far.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build a record with two fields, a unit with the value A and a reading with the value 4. The curly brackets hold pairs, and each pair is a key, a colon, and its value.</a:t>
            </a:r>
          </a:p>
          <a:p xmlns:a="http://schemas.openxmlformats.org/drawingml/2006/main"/>
          <a:p xmlns:a="http://schemas.openxmlformats.org/drawingml/2006/main">
            <a:r>
              <a:t>The first print asks for the key reading, so we see 4. The square brackets select a key. They pick out the field by its name.</a:t>
            </a:r>
          </a:p>
          <a:p xmlns:a="http://schemas.openxmlformats.org/drawingml/2006/main"/>
          <a:p xmlns:a="http://schemas.openxmlformats.org/drawingml/2006/main">
            <a:r>
              <a:t>The next line assigns through the key. Record, reading in square brackets, equals 6, replaces the old value stored under that key. The second print now shows 6.</a:t>
            </a:r>
          </a:p>
          <a:p xmlns:a="http://schemas.openxmlformats.org/drawingml/2006/main"/>
          <a:p xmlns:a="http://schemas.openxmlformats.org/drawingml/2006/main">
            <a:r>
              <a:t>The last print uses get with the key missing and a fallback of zero. The record has no key called missing, so get gives back zero. If the key had been present, get would have returned its real value.</a:t>
            </a:r>
          </a:p>
          <a:p xmlns:a="http://schemas.openxmlformats.org/drawingml/2006/main"/>
          <a:p xmlns:a="http://schemas.openxmlformats.org/drawingml/2006/main">
            <a:r>
              <a:t>The output is 4, then 6, then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tuple stores items in order, like a list, but its positions cannot be reassigned. We write one with round brackets. Point equals open bracket 2, comma, 3, close bracket stores two coordinates. Point with zero in square brackets is 2, because counting starts at zero. If we try to put a new value into point at position zero, Python refuses.</a:t>
            </a:r>
          </a:p>
          <a:p xmlns:a="http://schemas.openxmlformats.org/drawingml/2006/main"/>
          <a:p xmlns:a="http://schemas.openxmlformats.org/drawingml/2006/main">
            <a:r>
              <a:t>Unpacking means giving the items of a tuple to separate names in one line. X comma y equals point gives the first item to x and the second to y. The number of names must match the number of items, otherwise Python reports an error.</a:t>
            </a:r>
          </a:p>
          <a:p xmlns:a="http://schemas.openxmlformats.org/drawingml/2006/main"/>
          <a:p xmlns:a="http://schemas.openxmlformats.org/drawingml/2006/main">
            <a:r>
              <a:t>A tuple stops us replacing its positions. If a tuple holds a list inside it, the items of that list can still change, because the tuple only fixes which object sits at each position.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create a tuple called point holding 2 and 3. Then x comma y equals point is the unpacking line. There are two names on the left and two items on the right, so they match. Python gives the first item to x and the second item to y, in order.</a:t>
            </a:r>
          </a:p>
          <a:p xmlns:a="http://schemas.openxmlformats.org/drawingml/2006/main"/>
          <a:p xmlns:a="http://schemas.openxmlformats.org/drawingml/2006/main">
            <a:r>
              <a:t>The first print shows x, which is 2. The second print shows y, which is 3.</a:t>
            </a:r>
          </a:p>
          <a:p xmlns:a="http://schemas.openxmlformats.org/drawingml/2006/main"/>
          <a:p xmlns:a="http://schemas.openxmlformats.org/drawingml/2006/main">
            <a:r>
              <a:t>The original tuple still exists after unpacking. We have only copied its items into two names so that we can use them separately.</a:t>
            </a:r>
          </a:p>
          <a:p xmlns:a="http://schemas.openxmlformats.org/drawingml/2006/main"/>
          <a:p xmlns:a="http://schemas.openxmlformats.org/drawingml/2006/main">
            <a:r>
              <a:t>The output is 2, then 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set is a collection that keeps one copy of each distinct item. It is useful when the question is, have we seen this ID before? A sensor ID might appear fifty times in a file, and the set keeps it once.</a:t>
            </a:r>
          </a:p>
          <a:p xmlns:a="http://schemas.openxmlformats.org/drawingml/2006/main"/>
          <a:p xmlns:a="http://schemas.openxmlformats.org/drawingml/2006/main">
            <a:r>
              <a:t>To make an empty set we write seen equals set with empty brackets. Seen dot add with the letter A in quotes puts A into the set. To ask whether something is inside, we write the item, then the word in, then the set. Python answers True or False.</a:t>
            </a:r>
          </a:p>
          <a:p xmlns:a="http://schemas.openxmlformats.org/drawingml/2006/main"/>
          <a:p xmlns:a="http://schemas.openxmlformats.org/drawingml/2006/main">
            <a:r>
              <a:t>A set is the wrong tool when position or repeated readings matter, because a set has no positions and we cannot index it. One trap to remember is that empty curly brackets create an empty dictionary. For an empty set we always write set with brackets.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with an empty set called seen. Then we add the letter A. We add the letter A a second time. A set keeps only one copy of each item, so the second add changes nothing.</a:t>
            </a:r>
          </a:p>
          <a:p xmlns:a="http://schemas.openxmlformats.org/drawingml/2006/main"/>
          <a:p xmlns:a="http://schemas.openxmlformats.org/drawingml/2006/main">
            <a:r>
              <a:t>The first print shows len of seen, which counts the items. The answer is 1, because only one distinct ID is stored.</a:t>
            </a:r>
          </a:p>
          <a:p xmlns:a="http://schemas.openxmlformats.org/drawingml/2006/main"/>
          <a:p xmlns:a="http://schemas.openxmlformats.org/drawingml/2006/main">
            <a:r>
              <a:t>The second print asks whether A is in seen. The word in gives back True or False, and here it is True.</a:t>
            </a:r>
          </a:p>
          <a:p xmlns:a="http://schemas.openxmlformats.org/drawingml/2006/main"/>
          <a:p xmlns:a="http://schemas.openxmlformats.org/drawingml/2006/main">
            <a:r>
              <a:t>The third print asks about B. We never added B, so the answer is False.</a:t>
            </a:r>
          </a:p>
          <a:p xmlns:a="http://schemas.openxmlformats.org/drawingml/2006/main"/>
          <a:p xmlns:a="http://schemas.openxmlformats.org/drawingml/2006/main">
            <a:r>
              <a:t>The output is 1, True, False. This is how a set answers membership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have four collections, and each answers a different kind of question. We choose by the question we are asking.</a:t>
            </a:r>
          </a:p>
          <a:p xmlns:a="http://schemas.openxmlformats.org/drawingml/2006/main"/>
          <a:p xmlns:a="http://schemas.openxmlformats.org/drawingml/2006/main">
            <a:r>
              <a:t>If we have ordered readings, we use a list. We find items by position and the list can change.</a:t>
            </a:r>
          </a:p>
          <a:p xmlns:a="http://schemas.openxmlformats.org/drawingml/2006/main"/>
          <a:p xmlns:a="http://schemas.openxmlformats.org/drawingml/2006/main">
            <a:r>
              <a:t>If we have named fields, such as a unit and a reading belonging to one record, we use a dictionary. We find items by their key.</a:t>
            </a:r>
          </a:p>
          <a:p xmlns:a="http://schemas.openxmlformats.org/drawingml/2006/main"/>
          <a:p xmlns:a="http://schemas.openxmlformats.org/drawingml/2006/main">
            <a:r>
              <a:t>If we have fixed positions, such as a pair of coordinates, we use a tuple. Its positions cannot be reassigned.</a:t>
            </a:r>
          </a:p>
          <a:p xmlns:a="http://schemas.openxmlformats.org/drawingml/2006/main"/>
          <a:p xmlns:a="http://schemas.openxmlformats.org/drawingml/2006/main">
            <a:r>
              <a:t>If we only need to know which IDs we have already seen, we use a set. It keeps each distinct item once and answers yes or no.</a:t>
            </a:r>
          </a:p>
          <a:p xmlns:a="http://schemas.openxmlformats.org/drawingml/2006/main"/>
          <a:p xmlns:a="http://schemas.openxmlformats.org/drawingml/2006/main">
            <a:r>
              <a:t>Before writing code, we say the question aloud and pick the collection that fits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Often we need both the label and the value of every field in a dictionary. For that we use dot items. Record dot items gives each key together with its value as a pair.</a:t>
            </a:r>
          </a:p>
          <a:p xmlns:a="http://schemas.openxmlformats.org/drawingml/2006/main"/>
          <a:p xmlns:a="http://schemas.openxmlformats.org/drawingml/2006/main">
            <a:r>
              <a:t>The for line has two names after the word for, key and value, separated by a comma. Python takes each pair and unpacks it, exactly like unpacking a tuple. The first name receives the key and the second name receives the value.</a:t>
            </a:r>
          </a:p>
          <a:p xmlns:a="http://schemas.openxmlformats.org/drawingml/2006/main"/>
          <a:p xmlns:a="http://schemas.openxmlformats.org/drawingml/2006/main">
            <a:r>
              <a:t>The line ends with a colon, and the indented lines below it run once for every field in the record.</a:t>
            </a:r>
          </a:p>
          <a:p xmlns:a="http://schemas.openxmlformats.org/drawingml/2006/main"/>
          <a:p xmlns:a="http://schemas.openxmlformats.org/drawingml/2006/main">
            <a:r>
              <a:t>We use dot items when we need both the label and its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record has a unit with the value A and a reading with the value 6. The for line says, for key comma value in record dot items. Dot items hands over one pair at a time.</a:t>
            </a:r>
          </a:p>
          <a:p xmlns:a="http://schemas.openxmlformats.org/drawingml/2006/main"/>
          <a:p xmlns:a="http://schemas.openxmlformats.org/drawingml/2006/main">
            <a:r>
              <a:t>Inside the loop, print key value prints the two names side by side. On the first pass, key holds the word unit and value holds A. On the second pass, key holds the word reading and value holds 6.</a:t>
            </a:r>
          </a:p>
          <a:p xmlns:a="http://schemas.openxmlformats.org/drawingml/2006/main"/>
          <a:p xmlns:a="http://schemas.openxmlformats.org/drawingml/2006/main">
            <a:r>
              <a:t>The names key and value were chosen by us for this loop. We could pick other names, as long as there are two of them, one for each part of the pair.</a:t>
            </a:r>
          </a:p>
          <a:p xmlns:a="http://schemas.openxmlformats.org/drawingml/2006/main"/>
          <a:p xmlns:a="http://schemas.openxmlformats.org/drawingml/2006/main">
            <a:r>
              <a:t>The output is unit A, then reading 6. The dictionary keeps its fields in the order we inserted them, so the loop visits them in that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two ways to reach the same number, 4. One uses a position and one uses a key, and they find it differently.</a:t>
            </a:r>
          </a:p>
          <a:p xmlns:a="http://schemas.openxmlformats.org/drawingml/2006/main"/>
          <a:p xmlns:a="http://schemas.openxmlformats.org/drawingml/2006/main">
            <a:r>
              <a:t>A list keeps items in order and numbers them starting at zero. When we ask for a position, Python counts along the list and returns whatever sits there. We need to know where the item is.</a:t>
            </a:r>
          </a:p>
          <a:p xmlns:a="http://schemas.openxmlformats.org/drawingml/2006/main"/>
          <a:p xmlns:a="http://schemas.openxmlformats.org/drawingml/2006/main">
            <a:r>
              <a:t>A dictionary keeps labels. When we ask for a key, Python looks up that label and returns the value stored under it. The place where the field was written does not matter. We need to know the label.</a:t>
            </a:r>
          </a:p>
          <a:p xmlns:a="http://schemas.openxmlformats.org/drawingml/2006/main"/>
          <a:p xmlns:a="http://schemas.openxmlformats.org/drawingml/2006/main">
            <a:r>
              <a:t>Both examples return 4. If a new item were added to the front of a list, the positions would shift. The label in a dictionary keeps pointing at its own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CSV stands for comma-separated values. It is a plain text file where each line is usually one record, and the commas separate the fields on that line.</a:t>
            </a:r>
          </a:p>
          <a:p xmlns:a="http://schemas.openxmlformats.org/drawingml/2006/main"/>
          <a:p xmlns:a="http://schemas.openxmlformats.org/drawingml/2006/main">
            <a:r>
              <a:t>The first line is the header. It gives a name to each column, for example unit and reading. Every line after the header is data.</a:t>
            </a:r>
          </a:p>
          <a:p xmlns:a="http://schemas.openxmlformats.org/drawingml/2006/main"/>
          <a:p xmlns:a="http://schemas.openxmlformats.org/drawingml/2006/main">
            <a:r>
              <a:t>There is one important detail. Everything we read from a CSV file arrives as text, even a cell that looks like a number. The text two point five is not yet a number we can add. We have to convert it with float.</a:t>
            </a:r>
          </a:p>
          <a:p xmlns:a="http://schemas.openxmlformats.org/drawingml/2006/main"/>
          <a:p xmlns:a="http://schemas.openxmlformats.org/drawingml/2006/main">
            <a:r>
              <a:t>So when we read a CSV, we remember two things. The header gives us names for the columns, and every cell starts out as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a CSV file one record at a time, and there are four small ideas.</a:t>
            </a:r>
          </a:p>
          <a:p xmlns:a="http://schemas.openxmlformats.org/drawingml/2006/main"/>
          <a:p xmlns:a="http://schemas.openxmlformats.org/drawingml/2006/main">
            <a:r>
              <a:t>First, a CSV file is a text table, and its first line is the header row.</a:t>
            </a:r>
          </a:p>
          <a:p xmlns:a="http://schemas.openxmlformats.org/drawingml/2006/main"/>
          <a:p xmlns:a="http://schemas.openxmlformats.org/drawingml/2006/main">
            <a:r>
              <a:t>Second, DictReader is a tool from the csv library. It uses the header to build a dictionary for each data row, so each column name becomes a key.</a:t>
            </a:r>
          </a:p>
          <a:p xmlns:a="http://schemas.openxmlformats.org/drawingml/2006/main"/>
          <a:p xmlns:a="http://schemas.openxmlformats.org/drawingml/2006/main">
            <a:r>
              <a:t>Third, the cells begin as text, even when they look like numbers. If a cell holds two point five, Python holds the text, which is the characters two, a dot, and five.</a:t>
            </a:r>
          </a:p>
          <a:p xmlns:a="http://schemas.openxmlformats.org/drawingml/2006/main"/>
          <a:p xmlns:a="http://schemas.openxmlformats.org/drawingml/2006/main">
            <a:r>
              <a:t>Fourth, float with the text two point five in quotes converts it into the number 2.5. After that we can add it, compare it and average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CSV file has a header and text values. The header gives the column names, and each cell below it is a piece of text.</a:t>
            </a:r>
          </a:p>
          <a:p xmlns:a="http://schemas.openxmlformats.org/drawingml/2006/main"/>
          <a:p xmlns:a="http://schemas.openxmlformats.org/drawingml/2006/main">
            <a:r>
              <a:t>A cell can also be empty. An empty field is empty text, which is a string with nothing in it. A blank cell means that no reading was recorded, and it holds no number at all.</a:t>
            </a:r>
          </a:p>
          <a:p xmlns:a="http://schemas.openxmlformats.org/drawingml/2006/main"/>
          <a:p xmlns:a="http://schemas.openxmlformats.org/drawingml/2006/main">
            <a:r>
              <a:t>If we ask float to convert empty text, Python stops with an error. So before converting we check the rule in the task. The task tells us whether to skip blank cells or treat them in some other way.</a:t>
            </a:r>
          </a:p>
          <a:p xmlns:a="http://schemas.openxmlformats.org/drawingml/2006/main"/>
          <a:p xmlns:a="http://schemas.openxmlformats.org/drawingml/2006/main">
            <a:r>
              <a:t>We carry this habit into the assignment. We look at the value as text first and decide what to do with it before converting.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CSV row becomes a dictionary through three steps.</a:t>
            </a:r>
          </a:p>
          <a:p xmlns:a="http://schemas.openxmlformats.org/drawingml/2006/main"/>
          <a:p xmlns:a="http://schemas.openxmlformats.org/drawingml/2006/main">
            <a:r>
              <a:t>The header gives the field names. If the header line says unit comma reading, then unit and reading are the names for the two columns.</a:t>
            </a:r>
          </a:p>
          <a:p xmlns:a="http://schemas.openxmlformats.org/drawingml/2006/main"/>
          <a:p xmlns:a="http://schemas.openxmlformats.org/drawingml/2006/main">
            <a:r>
              <a:t>Then csv dot DictReader returns one dictionary for each data row. For a row holding A and 2.5, we get a dictionary with the key unit holding A and the key reading holding 2.5.</a:t>
            </a:r>
          </a:p>
          <a:p xmlns:a="http://schemas.openxmlformats.org/drawingml/2006/main"/>
          <a:p xmlns:a="http://schemas.openxmlformats.org/drawingml/2006/main">
            <a:r>
              <a:t>The value 2.5 starts out as text. It sits in the dictionary in quotes. To use it as a number we write float with that text inside brackets, and we receive the number 2.5.</a:t>
            </a:r>
          </a:p>
          <a:p xmlns:a="http://schemas.openxmlformats.org/drawingml/2006/main"/>
          <a:p xmlns:a="http://schemas.openxmlformats.org/drawingml/2006/main">
            <a:r>
              <a:t>Once a row is a dictionary, we can ask it for any field by its key.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words appear in nearly every file-reading program, import and with.</a:t>
            </a:r>
          </a:p>
          <a:p xmlns:a="http://schemas.openxmlformats.org/drawingml/2006/main"/>
          <a:p xmlns:a="http://schemas.openxmlformats.org/drawingml/2006/main">
            <a:r>
              <a:t>Import makes a library's tools available to our program. When we write import csv, we can then use the tools of the csv library, such as DictReader.</a:t>
            </a:r>
          </a:p>
          <a:p xmlns:a="http://schemas.openxmlformats.org/drawingml/2006/main"/>
          <a:p xmlns:a="http://schemas.openxmlformats.org/drawingml/2006/main">
            <a:r>
              <a:t>With open, followed by the file name, opens a file for the indented block that follows. When Python leaves that block, the file is closed automatically, so we never forget to close it.</a:t>
            </a:r>
          </a:p>
          <a:p xmlns:a="http://schemas.openxmlformats.org/drawingml/2006/main"/>
          <a:p xmlns:a="http://schemas.openxmlformats.org/drawingml/2006/main">
            <a:r>
              <a:t>The file name in the quotes must match an existing file in the working folder. If the spelling is different, or the file has not been uploaded, Python cannot find it and reports an error. Whenever a file fails to open, the first thing we check is the exact 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look at the data that your cohort will use. The file is site underscore inspection underscore log dot csv.</a:t>
            </a:r>
          </a:p>
          <a:p xmlns:a="http://schemas.openxmlformats.org/drawingml/2006/main"/>
          <a:p xmlns:a="http://schemas.openxmlformats.org/drawingml/2006/main">
            <a:r>
              <a:t>We will summarise the column crack underscore width underscore mm, which is measured in millimetres. We will group the rows by structure underscore ID. Grouping means that we calculate one summary for each distinct label in that column.</a:t>
            </a:r>
          </a:p>
          <a:p xmlns:a="http://schemas.openxmlformats.org/drawingml/2006/main"/>
          <a:p xmlns:a="http://schemas.openxmlformats.org/drawingml/2006/main">
            <a:r>
              <a:t>Before calculating anything, read the issued task. It states what to do with blank values and which threshold to use. We follow those rules exactly.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the supplied CSV in steps.</a:t>
            </a:r>
          </a:p>
          <a:p xmlns:a="http://schemas.openxmlformats.org/drawingml/2006/main"/>
          <a:p xmlns:a="http://schemas.openxmlformats.org/drawingml/2006/main">
            <a:r>
              <a:t>First, place site underscore inspection underscore log dot csv in the same folder as the notebook, or upload it in the Files panel in Colab.</a:t>
            </a:r>
          </a:p>
          <a:p xmlns:a="http://schemas.openxmlformats.org/drawingml/2006/main"/>
          <a:p xmlns:a="http://schemas.openxmlformats.org/drawingml/2006/main">
            <a:r>
              <a:t>Second, import csv loads the CSV tools. The newline equals empty quotes part lets the reader handle line endings correctly. DictReader then uses the header row as the dictionary keys.</a:t>
            </a:r>
          </a:p>
          <a:p xmlns:a="http://schemas.openxmlformats.org/drawingml/2006/main"/>
          <a:p xmlns:a="http://schemas.openxmlformats.org/drawingml/2006/main">
            <a:r>
              <a:t>Third, list with the reader inside collects all the rows into one list while the file is still open. We then inspect the first row and the count of rows.</a:t>
            </a:r>
          </a:p>
          <a:p xmlns:a="http://schemas.openxmlformats.org/drawingml/2006/main"/>
          <a:p xmlns:a="http://schemas.openxmlformats.org/drawingml/2006/main">
            <a:r>
              <a:t>The later calculations belong to the assignment, and they are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explains the line with open, as source.</a:t>
            </a:r>
          </a:p>
          <a:p xmlns:a="http://schemas.openxmlformats.org/drawingml/2006/main"/>
          <a:p xmlns:a="http://schemas.openxmlformats.org/drawingml/2006/main">
            <a:r>
              <a:t>Open, with the file name in quotes and newline equals empty quotes, opens a text file for reading. We write the real file name, including the dot csv ending.</a:t>
            </a:r>
          </a:p>
          <a:p xmlns:a="http://schemas.openxmlformats.org/drawingml/2006/main"/>
          <a:p xmlns:a="http://schemas.openxmlformats.org/drawingml/2006/main">
            <a:r>
              <a:t>The word with manages the open file. As source gives the file a name that we can use, here source. The indented lines below use the file while it is open. When we leave that block, Python closes the file for us.</a:t>
            </a:r>
          </a:p>
          <a:p xmlns:a="http://schemas.openxmlformats.org/drawingml/2006/main"/>
          <a:p xmlns:a="http://schemas.openxmlformats.org/drawingml/2006/main">
            <a:r>
              <a:t>Inside, csv dot DictReader with source reads the rows, using the header names as keys. List around it collects all the rows into memory. We collect them before the file closes, because after that the reader can no longer read from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code for opening a real file.</a:t>
            </a:r>
          </a:p>
          <a:p xmlns:a="http://schemas.openxmlformats.org/drawingml/2006/main"/>
          <a:p xmlns:a="http://schemas.openxmlformats.org/drawingml/2006/main">
            <a:r>
              <a:t>Import csv loads the CSV tools. The with line opens site underscore inspection underscore log dot csv for reading and calls the open file source.</a:t>
            </a:r>
          </a:p>
          <a:p xmlns:a="http://schemas.openxmlformats.org/drawingml/2006/main"/>
          <a:p xmlns:a="http://schemas.openxmlformats.org/drawingml/2006/main">
            <a:r>
              <a:t>The indented line builds a list called rows. DictReader turns every data row into a dictionary, and list collects them all while the file is open.</a:t>
            </a:r>
          </a:p>
          <a:p xmlns:a="http://schemas.openxmlformats.org/drawingml/2006/main"/>
          <a:p xmlns:a="http://schemas.openxmlformats.org/drawingml/2006/main">
            <a:r>
              <a:t>Print rows with zero in square brackets shows the first row. Since counting starts at zero, this is the first data row. We read the actual keys, and notice that the values are still text.</a:t>
            </a:r>
          </a:p>
          <a:p xmlns:a="http://schemas.openxmlformats.org/drawingml/2006/main"/>
          <a:p xmlns:a="http://schemas.openxmlformats.org/drawingml/2006/main">
            <a:r>
              <a:t>Print len of rows shows how many records were read.</a:t>
            </a:r>
          </a:p>
          <a:p xmlns:a="http://schemas.openxmlformats.org/drawingml/2006/main"/>
          <a:p xmlns:a="http://schemas.openxmlformats.org/drawingml/2006/main">
            <a:r>
              <a:t>If Python reports FileNotFoundError, we check that the uploaded file name matches the one in the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DictReader reads each row as a dictionary. The values in those dictionaries begin as text. When a field holds a recorded number, we use float to convert it into a number.</a:t>
            </a:r>
          </a:p>
          <a:p xmlns:a="http://schemas.openxmlformats.org/drawingml/2006/main"/>
          <a:p xmlns:a="http://schemas.openxmlformats.org/drawingml/2006/main">
            <a:r>
              <a:t>Some cells are blank. A blank cell is an empty string, and float cannot convert an empty string. So before converting, we check for an empty string and skip the blank cell.</a:t>
            </a:r>
          </a:p>
          <a:p xmlns:a="http://schemas.openxmlformats.org/drawingml/2006/main"/>
          <a:p xmlns:a="http://schemas.openxmlformats.org/drawingml/2006/main">
            <a:r>
              <a:t>The list called rows from the previous example already holds all the records from the supplied file. We use the real header names we saw there as our keys.</a:t>
            </a:r>
          </a:p>
          <a:p xmlns:a="http://schemas.openxmlformats.org/drawingml/2006/main"/>
          <a:p xmlns:a="http://schemas.openxmlformats.org/drawingml/2006/main">
            <a:r>
              <a:t>The pattern is the same each time. We take the text from the field, check that it is not empty, and then convert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collect the recorded numbers from the supplied rows.</a:t>
            </a:r>
          </a:p>
          <a:p xmlns:a="http://schemas.openxmlformats.org/drawingml/2006/main"/>
          <a:p xmlns:a="http://schemas.openxmlformats.org/drawingml/2006/main">
            <a:r>
              <a:t>Values equals empty square brackets starts an empty list. The for line visits each row in rows. Inside the loop, text equals row with crack underscore width underscore mm in square brackets takes that row's reading, still as text.</a:t>
            </a:r>
          </a:p>
          <a:p xmlns:a="http://schemas.openxmlformats.org/drawingml/2006/main"/>
          <a:p xmlns:a="http://schemas.openxmlformats.org/drawingml/2006/main">
            <a:r>
              <a:t>The if line checks that the text is not equal to an empty string. A blank cell fails this check and is skipped. When a cell passes, float turns the text into a number, and values dot append adds it to the list.</a:t>
            </a:r>
          </a:p>
          <a:p xmlns:a="http://schemas.openxmlformats.org/drawingml/2006/main"/>
          <a:p xmlns:a="http://schemas.openxmlformats.org/drawingml/2006/main">
            <a:r>
              <a:t>After the loop, print len of values shows how many numbers were kept. Leaving out the number before the colon means start at the beginning, so values with colon 5 takes positions zero to four, and it shows fewer than five items if the list is shorter.</a:t>
            </a:r>
          </a:p>
          <a:p xmlns:a="http://schemas.openxmlformats.org/drawingml/2006/main"/>
          <a:p xmlns:a="http://schemas.openxmlformats.org/drawingml/2006/main">
            <a:r>
              <a:t>Run this cell on your own file and read the output below the cell. Each number comes directly from a row in your 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get one summary for each group, we keep two dictionaries. One is a totals dictionary and the other is a counts dictionary. The keys are the group labels.</a:t>
            </a:r>
          </a:p>
          <a:p xmlns:a="http://schemas.openxmlformats.org/drawingml/2006/main"/>
          <a:p xmlns:a="http://schemas.openxmlformats.org/drawingml/2006/main">
            <a:r>
              <a:t>When a group appears for the first time, it has no entry yet. We start it at zero before adding its first reading. The get function helps us do this in one step.</a:t>
            </a:r>
          </a:p>
          <a:p xmlns:a="http://schemas.openxmlformats.org/drawingml/2006/main"/>
          <a:p xmlns:a="http://schemas.openxmlformats.org/drawingml/2006/main">
            <a:r>
              <a:t>For every valid row we do two things. We add the recorded value to that group's total, and we add one to that group's count.</a:t>
            </a:r>
          </a:p>
          <a:p xmlns:a="http://schemas.openxmlformats.org/drawingml/2006/main"/>
          <a:p xmlns:a="http://schemas.openxmlformats.org/drawingml/2006/main">
            <a:r>
              <a:t>When all the rows are done, we divide each group's total by its own count. That gives the mean for each group. Every group uses its own count as the divisor.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first half of the grouped mean calculation. We make two empty dictionaries, totals and counts.</a:t>
            </a:r>
          </a:p>
          <a:p xmlns:a="http://schemas.openxmlformats.org/drawingml/2006/main"/>
          <a:p xmlns:a="http://schemas.openxmlformats.org/drawingml/2006/main">
            <a:r>
              <a:t>The loop visits each row. The line group equals row with structure underscore ID in square brackets picks the group label of this row.</a:t>
            </a:r>
          </a:p>
          <a:p xmlns:a="http://schemas.openxmlformats.org/drawingml/2006/main"/>
          <a:p xmlns:a="http://schemas.openxmlformats.org/drawingml/2006/main">
            <a:r>
              <a:t>The if line skips rows where crack underscore width underscore mm is blank. For every other row, value equals float of that field turns the text into a number.</a:t>
            </a:r>
          </a:p>
          <a:p xmlns:a="http://schemas.openxmlformats.org/drawingml/2006/main"/>
          <a:p xmlns:a="http://schemas.openxmlformats.org/drawingml/2006/main">
            <a:r>
              <a:t>The next line updates the total. Totals with group in square brackets equals totals dot get of group and zero, plus value. If this group has no total yet, get returns zero, so a new group starts from zero. Otherwise it returns the running total, and we add the new value.</a:t>
            </a:r>
          </a:p>
          <a:p xmlns:a="http://schemas.openxmlformats.org/drawingml/2006/main"/>
          <a:p xmlns:a="http://schemas.openxmlformats.org/drawingml/2006/main">
            <a:r>
              <a:t>The count line works the same way and adds one each time.</a:t>
            </a:r>
          </a:p>
          <a:p xmlns:a="http://schemas.openxmlformats.org/drawingml/2006/main"/>
          <a:p xmlns:a="http://schemas.openxmlformats.org/drawingml/2006/main">
            <a:r>
              <a:t>Run this cell on your own file. It prints nothing yet.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second half of the grouped mean calculation, and we continue in the same cell with the same indentation.</a:t>
            </a:r>
          </a:p>
          <a:p xmlns:a="http://schemas.openxmlformats.org/drawingml/2006/main"/>
          <a:p xmlns:a="http://schemas.openxmlformats.org/drawingml/2006/main">
            <a:r>
              <a:t>Means equals empty curly brackets starts a new dictionary for the answers. The for line goes through the keys of totals, which are the group labels, one at a time. For each group, means with the group in square brackets receives that group's total divided by that group's count.</a:t>
            </a:r>
          </a:p>
          <a:p xmlns:a="http://schemas.openxmlformats.org/drawingml/2006/main"/>
          <a:p xmlns:a="http://schemas.openxmlformats.org/drawingml/2006/main">
            <a:r>
              <a:t>Each group uses its own count as the divisor. Each group's total is divided by its own count.</a:t>
            </a:r>
          </a:p>
          <a:p xmlns:a="http://schemas.openxmlformats.org/drawingml/2006/main"/>
          <a:p xmlns:a="http://schemas.openxmlformats.org/drawingml/2006/main">
            <a:r>
              <a:t>Print means shows the finished dictionary. It has one entry for every group, with the group label as the key and the mean as the value.</a:t>
            </a:r>
          </a:p>
          <a:p xmlns:a="http://schemas.openxmlformats.org/drawingml/2006/main"/>
          <a:p xmlns:a="http://schemas.openxmlformats.org/drawingml/2006/main">
            <a:r>
              <a:t>This is the pattern we use for the group means task in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describes your issued assignment.</a:t>
            </a:r>
          </a:p>
          <a:p xmlns:a="http://schemas.openxmlformats.org/drawingml/2006/main"/>
          <a:p xmlns:a="http://schemas.openxmlformats.org/drawingml/2006/main">
            <a:r>
              <a:t>First, open the notebook called W04 underscore student dot ipynb.</a:t>
            </a:r>
          </a:p>
          <a:p xmlns:a="http://schemas.openxmlformats.org/drawingml/2006/main"/>
          <a:p xmlns:a="http://schemas.openxmlformats.org/drawingml/2006/main">
            <a:r>
              <a:t>Second, read every task and its input units before you start coding. Knowing what goes in and what should come out saves time.</a:t>
            </a:r>
          </a:p>
          <a:p xmlns:a="http://schemas.openxmlformats.org/drawingml/2006/main"/>
          <a:p xmlns:a="http://schemas.openxmlformats.org/drawingml/2006/main">
            <a:r>
              <a:t>Third, keep the required function names and the returned outputs exactly as they are in the starter code. The checks look for those names.</a:t>
            </a:r>
          </a:p>
          <a:p xmlns:a="http://schemas.openxmlformats.org/drawingml/2006/main"/>
          <a:p xmlns:a="http://schemas.openxmlformats.org/drawingml/2006/main">
            <a:r>
              <a:t>Fourth, when you finish, restart the notebook and run all cells from the top, to confirm that everything works in order. Then save the completed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output is valid underscore count, worth five marks.</a:t>
            </a:r>
          </a:p>
          <a:p xmlns:a="http://schemas.openxmlformats.org/drawingml/2006/main"/>
          <a:p xmlns:a="http://schemas.openxmlformats.org/drawingml/2006/main">
            <a:r>
              <a:t>It must be an integer, a whole number. It counts the rows where the crack underscore width underscore mm field is nonblank.</a:t>
            </a:r>
          </a:p>
          <a:p xmlns:a="http://schemas.openxmlformats.org/drawingml/2006/main"/>
          <a:p xmlns:a="http://schemas.openxmlformats.org/drawingml/2006/main">
            <a:r>
              <a:t>Valid means a recorded reading exists. A blank cell is a missing reading. It is no measured zero, so it is left out of the count.</a:t>
            </a:r>
          </a:p>
          <a:p xmlns:a="http://schemas.openxmlformats.org/drawingml/2006/main"/>
          <a:p xmlns:a="http://schemas.openxmlformats.org/drawingml/2006/main">
            <a:r>
              <a:t>We skip blank readings before any numeric conversion. If we try to convert a blank, Python raises an error.</a:t>
            </a:r>
          </a:p>
          <a:p xmlns:a="http://schemas.openxmlformats.org/drawingml/2006/main"/>
          <a:p xmlns:a="http://schemas.openxmlformats.org/drawingml/2006/main">
            <a:r>
              <a:t>For a small example, a column holding two, blank, four has a valid count of two.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output is mean underscore reading, worth five marks.</a:t>
            </a:r>
          </a:p>
          <a:p xmlns:a="http://schemas.openxmlformats.org/drawingml/2006/main"/>
          <a:p xmlns:a="http://schemas.openxmlformats.org/drawingml/2006/main">
            <a:r>
              <a:t>It is the arithmetic mean of the nonblank crack underscore width underscore mm values, stored as a number.</a:t>
            </a:r>
          </a:p>
          <a:p xmlns:a="http://schemas.openxmlformats.org/drawingml/2006/main"/>
          <a:p xmlns:a="http://schemas.openxmlformats.org/drawingml/2006/main">
            <a:r>
              <a:t>First we add up the valid readings. Then we divide that total by the number of valid readings. Blank cells are left out of both the total and the count.</a:t>
            </a:r>
          </a:p>
          <a:p xmlns:a="http://schemas.openxmlformats.org/drawingml/2006/main"/>
          <a:p xmlns:a="http://schemas.openxmlformats.org/drawingml/2006/main">
            <a:r>
              <a:t>Keep full precision. This means we do not round the answer ourselves.</a:t>
            </a:r>
          </a:p>
          <a:p xmlns:a="http://schemas.openxmlformats.org/drawingml/2006/main"/>
          <a:p xmlns:a="http://schemas.openxmlformats.org/drawingml/2006/main">
            <a:r>
              <a:t>For a small example, readings two and four have a mean of three.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third output is above underscore limit, worth five marks.</a:t>
            </a:r>
          </a:p>
          <a:p xmlns:a="http://schemas.openxmlformats.org/drawingml/2006/main"/>
          <a:p xmlns:a="http://schemas.openxmlformats.org/drawingml/2006/main">
            <a:r>
              <a:t>It is an integer count of valid crack underscore width underscore mm readings that are strictly greater than 0.3.</a:t>
            </a:r>
          </a:p>
          <a:p xmlns:a="http://schemas.openxmlformats.org/drawingml/2006/main"/>
          <a:p xmlns:a="http://schemas.openxmlformats.org/drawingml/2006/main">
            <a:r>
              <a:t>Strictly greater than means that a reading equal to the threshold is left out of the count. We use the greater-than sign, with no equals sign next to it.</a:t>
            </a:r>
          </a:p>
          <a:p xmlns:a="http://schemas.openxmlformats.org/drawingml/2006/main"/>
          <a:p xmlns:a="http://schemas.openxmlformats.org/drawingml/2006/main">
            <a:r>
              <a:t>Blank cells are not valid readings, so they are skipped.</a:t>
            </a:r>
          </a:p>
          <a:p xmlns:a="http://schemas.openxmlformats.org/drawingml/2006/main"/>
          <a:p xmlns:a="http://schemas.openxmlformats.org/drawingml/2006/main">
            <a:r>
              <a:t>For a small example, with readings nine, ten and eleven and a limit of ten, only eleven is above the limit, so the count is one. If we used greater than or equal to, we would count two, which would be wrong.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fourth output is group underscore means, worth five marks.</a:t>
            </a:r>
          </a:p>
          <a:p xmlns:a="http://schemas.openxmlformats.org/drawingml/2006/main"/>
          <a:p xmlns:a="http://schemas.openxmlformats.org/drawingml/2006/main">
            <a:r>
              <a:t>It is a dictionary. Its keys are the structure underscore ID labels, and each value is the mean of the valid crack underscore width underscore mm readings within that group.</a:t>
            </a:r>
          </a:p>
          <a:p xmlns:a="http://schemas.openxmlformats.org/drawingml/2006/main"/>
          <a:p xmlns:a="http://schemas.openxmlformats.org/drawingml/2006/main">
            <a:r>
              <a:t>Each group has its own total and its own count. We divide each group's total by that group's valid count.</a:t>
            </a:r>
          </a:p>
          <a:p xmlns:a="http://schemas.openxmlformats.org/drawingml/2006/main"/>
          <a:p xmlns:a="http://schemas.openxmlformats.org/drawingml/2006/main">
            <a:r>
              <a:t>Keep full precision, which means we do not round.</a:t>
            </a:r>
          </a:p>
          <a:p xmlns:a="http://schemas.openxmlformats.org/drawingml/2006/main"/>
          <a:p xmlns:a="http://schemas.openxmlformats.org/drawingml/2006/main">
            <a:r>
              <a:t>For a small example, group A with readings two and four has a mean of three. Group B with a single reading of nine has a mean of nine. Dividing both totals by the overall count would give wrong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rules for the Week 4 assignment.</a:t>
            </a:r>
          </a:p>
          <a:p xmlns:a="http://schemas.openxmlformats.org/drawingml/2006/main"/>
          <a:p xmlns:a="http://schemas.openxmlformats.org/drawingml/2006/main">
            <a:r>
              <a:t>The data is fictional teaching data. It does not come from a real site inspection.</a:t>
            </a:r>
          </a:p>
          <a:p xmlns:a="http://schemas.openxmlformats.org/drawingml/2006/main"/>
          <a:p xmlns:a="http://schemas.openxmlformats.org/drawingml/2006/main">
            <a:r>
              <a:t>The file has 300 records.</a:t>
            </a:r>
          </a:p>
          <a:p xmlns:a="http://schemas.openxmlformats.org/drawingml/2006/main"/>
          <a:p xmlns:a="http://schemas.openxmlformats.org/drawingml/2006/main">
            <a:r>
              <a:t>Three crack underscore width underscore mm values are blank. Those must be skipped in any numerical summary, so they are left out of the totals and of the counts.</a:t>
            </a:r>
          </a:p>
          <a:p xmlns:a="http://schemas.openxmlformats.org/drawingml/2006/main"/>
          <a:p xmlns:a="http://schemas.openxmlformats.org/drawingml/2006/main">
            <a:r>
              <a:t>The threshold of 0.3 is a teaching assumption. It is a value chosen for this exercise. We use it exactly as the task states.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remaining rules for the assignment.</a:t>
            </a:r>
          </a:p>
          <a:p xmlns:a="http://schemas.openxmlformats.org/drawingml/2006/main"/>
          <a:p xmlns:a="http://schemas.openxmlformats.org/drawingml/2006/main">
            <a:r>
              <a:t>Compute valid underscore count, mean underscore reading, above underscore limit and group underscore means. The above limit count uses strictly greater than 0.3, and the group means are keyed by structure underscore ID.</a:t>
            </a:r>
          </a:p>
          <a:p xmlns:a="http://schemas.openxmlformats.org/drawingml/2006/main"/>
          <a:p xmlns:a="http://schemas.openxmlformats.org/drawingml/2006/main">
            <a:r>
              <a:t>The csv module is the toolbox for reading the file, and it comes with Python. The collections module is another built-in toolbox that you may use, though nothing this week requires it. They come with Python, so nothing needs installing.</a:t>
            </a:r>
          </a:p>
          <a:p xmlns:a="http://schemas.openxmlformats.org/drawingml/2006/main"/>
          <a:p xmlns:a="http://schemas.openxmlformats.org/drawingml/2006/main">
            <a:r>
              <a:t>Save a copy of the notebook named with your Student Registration Number, where the forward slash is replaced by an underscore, followed by underscore W04 dot ipynb.</a:t>
            </a:r>
          </a:p>
          <a:p xmlns:a="http://schemas.openxmlformats.org/drawingml/2006/main"/>
          <a:p xmlns:a="http://schemas.openxmlformats.org/drawingml/2006/main">
            <a:r>
              <a:t>In the starter code, STUDENT underscore ID means your Student Registration Number. Enter your own number there.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last rules for the assignment.</a:t>
            </a:r>
          </a:p>
          <a:p xmlns:a="http://schemas.openxmlformats.org/drawingml/2006/main"/>
          <a:p xmlns:a="http://schemas.openxmlformats.org/drawingml/2006/main">
            <a:r>
              <a:t>There are four checks, and each carries five marks.</a:t>
            </a:r>
          </a:p>
          <a:p xmlns:a="http://schemas.openxmlformats.org/drawingml/2006/main"/>
          <a:p xmlns:a="http://schemas.openxmlformats.org/drawingml/2006/main">
            <a:r>
              <a:t>Explaining the interesting pattern you find in the data is separate. It is formative practice, so it helps your learning, and it sits outside the four marked checks.</a:t>
            </a:r>
          </a:p>
          <a:p xmlns:a="http://schemas.openxmlformats.org/drawingml/2006/main"/>
          <a:p xmlns:a="http://schemas.openxmlformats.org/drawingml/2006/main">
            <a:r>
              <a:t>If you want step-by-step help as a beginner, open the two files in this folder, ASSIGNMENT underscore INSTRUCTIONS dot txt and STUDENT underscore HOW underscore TO dot md.</a:t>
            </a:r>
          </a:p>
          <a:p xmlns:a="http://schemas.openxmlformats.org/drawingml/2006/main"/>
          <a:p xmlns:a="http://schemas.openxmlformats.org/drawingml/2006/main">
            <a:r>
              <a:t>The first one names your required files and the hand-in checklist. The second explains accounts, Colab, saving and uploads.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for submitting your Week 4 assignment. Check the opening time and the deadline shown on the slide, and use the button to open the form.</a:t>
            </a:r>
          </a:p>
          <a:p xmlns:a="http://schemas.openxmlformats.org/drawingml/2006/main"/>
          <a:p xmlns:a="http://schemas.openxmlformats.org/drawingml/2006/main">
            <a:r>
              <a:t>In the form, type your full Student Registration Number. Then upload your completed notebook.</a:t>
            </a:r>
          </a:p>
          <a:p xmlns:a="http://schemas.openxmlformats.org/drawingml/2006/main"/>
          <a:p xmlns:a="http://schemas.openxmlformats.org/drawingml/2006/main">
            <a:r>
              <a:t>Keep the files you submitted and the confirmation the form gives you. If something goes wrong, they are your evidence of what you handed 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Week 4 quiz. You answer it individually, and you open it using the link on the slide.</a:t>
            </a:r>
          </a:p>
          <a:p xmlns:a="http://schemas.openxmlformats.org/drawingml/2006/main"/>
          <a:p xmlns:a="http://schemas.openxmlformats.org/drawingml/2006/main">
            <a:r>
              <a:t>The quiz opens when the lecturer activates it. It then stays open for 24 hours. The closing time is the one the lecturer announces.</a:t>
            </a:r>
          </a:p>
          <a:p xmlns:a="http://schemas.openxmlformats.org/drawingml/2006/main"/>
          <a:p xmlns:a="http://schemas.openxmlformats.org/drawingml/2006/main">
            <a:r>
              <a:t>Use your Student Registration Number and your registered account when you enter your answers.</a:t>
            </a:r>
          </a:p>
          <a:p xmlns:a="http://schemas.openxmlformats.org/drawingml/2006/main"/>
          <a:p xmlns:a="http://schemas.openxmlformats.org/drawingml/2006/main">
            <a:r>
              <a:t>The quiz stays available for the full 24 hours, so you do not need to rush.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close with a checklist for revising this week and for submitting your work.</a:t>
            </a:r>
          </a:p>
          <a:p xmlns:a="http://schemas.openxmlformats.org/drawingml/2006/main"/>
          <a:p xmlns:a="http://schemas.openxmlformats.org/drawingml/2006/main">
            <a:r>
              <a:t>You can explain how the total and the count change for each record. Take readings two, four and six. The running total goes two, then six, then twelve. The count reaches three, and the mean is twelve divided by three, which is four. With groups, each group has its own total and its own count.</a:t>
            </a:r>
          </a:p>
          <a:p xmlns:a="http://schemas.openxmlformats.org/drawingml/2006/main"/>
          <a:p xmlns:a="http://schemas.openxmlformats.org/drawingml/2006/main">
            <a:r>
              <a:t>You can say what each collection is for. Lists keep ordered values. Loops visit them. Dictionaries label the fields. CSV files store the observations.</a:t>
            </a:r>
          </a:p>
          <a:p xmlns:a="http://schemas.openxmlformats.org/drawingml/2006/main"/>
          <a:p xmlns:a="http://schemas.openxmlformats.org/drawingml/2006/main">
            <a:r>
              <a:t>Save your work. Then check that you have the required submission files, and point to them as evidence that the work is done.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27658423f5d6459b"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e32e0d6af76a4c5f"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5274b426c4174968"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adcefd6a66244869"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a32e84e0755a4128"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8ce72cbaad6a4962"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9C1EBD5-1413-44F3-959A-ED3D91F5C0F7}"/>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107983C-F1AF-4506-ADB0-3097DB406A7C}"/>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9D032A1-D4A1-4836-B35B-39417693C861}"/>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93316DB-A446-489C-B16B-669FFE4190B4}"/>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F3CD558-2156-4E43-A7A1-8CB471AC3C8F}"/>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0D29F7B-3C1F-49C6-9112-8A4B33ABC1D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5B4D5E8-7454-4A76-AAB4-BA29E1C48142}"/>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427E3D2-E3C4-4AE9-823E-51D000E887E8}"/>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918D76D-BE85-475A-B6AD-2AC105056DF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D45077D-E790-40BC-8189-31F90B8380A1}"/>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83e92c47dca4692" Type="http://schemas.openxmlformats.org/officeDocument/2006/relationships/slideLayout" Target="../slideLayouts/slideLayout4.xml"/><Relationship Id="R2b3a2ed5b51245d7" Type="http://schemas.openxmlformats.org/officeDocument/2006/relationships/slideLayout" Target="../slideLayouts/slideLayout6.xml"/><Relationship Id="R44a1167b970649ed" Type="http://schemas.openxmlformats.org/officeDocument/2006/relationships/theme" Target="theme/theme2.xml"/><Relationship Id="R62799b4541d54c26" Type="http://schemas.openxmlformats.org/officeDocument/2006/relationships/slideLayout" Target="../slideLayouts/slideLayout2.xml"/><Relationship Id="R7028d45b36ae4356" Type="http://schemas.openxmlformats.org/officeDocument/2006/relationships/slideLayout" Target="../slideLayouts/slideLayout3.xml"/><Relationship Id="R98a06e11fb324493" Type="http://schemas.openxmlformats.org/officeDocument/2006/relationships/slideLayout" Target="../slideLayouts/slideLayout5.xml"/><Relationship Id="Re6701fee251e4d75"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6701fee251e4d75"/>
    <p:sldLayoutId xmlns:r="http://schemas.openxmlformats.org/officeDocument/2006/relationships" id="2147483650" r:id="R62799b4541d54c26"/>
    <p:sldLayoutId xmlns:r="http://schemas.openxmlformats.org/officeDocument/2006/relationships" id="2147483651" r:id="R7028d45b36ae4356"/>
    <p:sldLayoutId xmlns:r="http://schemas.openxmlformats.org/officeDocument/2006/relationships" id="2147483652" r:id="R083e92c47dca4692"/>
    <p:sldLayoutId xmlns:r="http://schemas.openxmlformats.org/officeDocument/2006/relationships" id="2147483653" r:id="R98a06e11fb324493"/>
    <p:sldLayoutId xmlns:r="http://schemas.openxmlformats.org/officeDocument/2006/relationships" id="2147483654" r:id="R2b3a2ed5b51245d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499785779ab34417" Type="http://schemas.openxmlformats.org/officeDocument/2006/relationships/slideLayout" Target="../slideLayouts/slideLayout6.xml"/><Relationship Id="R5b862652f6884d63" Type="http://schemas.openxmlformats.org/officeDocument/2006/relationships/image" Target="../media/image.png"/><Relationship Id="R5cdd58f4e7ed401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2055c2f6b9bd4fb6" Type="http://schemas.openxmlformats.org/officeDocument/2006/relationships/notesSlide" Target="../notesSlides/notesSlide2.xml"/><Relationship Id="R67b7eed1a3634420"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4247c114bd2a41dc" Type="http://schemas.openxmlformats.org/officeDocument/2006/relationships/notesSlide" Target="../notesSlides/notesSlide3.xml"/><Relationship Id="R8281b3c837c34b2b"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281a61e2f8cf4625" Type="http://schemas.openxmlformats.org/officeDocument/2006/relationships/notesSlide" Target="../notesSlides/notesSlide4.xml"/><Relationship Id="R9c9a569fd7ea4f43"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1a049384017f4f50" Type="http://schemas.openxmlformats.org/officeDocument/2006/relationships/notesSlide" Target="../notesSlides/notesSlide5.xml"/><Relationship Id="R6ef0b92fd3b44659"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4e2e81971c814c79" Type="http://schemas.openxmlformats.org/officeDocument/2006/relationships/notesSlide" Target="../notesSlides/notesSlide6.xml"/><Relationship Id="Ra484b6f2eed24a92"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7434c9fc5a734d88" Type="http://schemas.openxmlformats.org/officeDocument/2006/relationships/notesSlide" Target="../notesSlides/notesSlide7.xml"/><Relationship Id="Raeb33644dbd54c56"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1e671b8035d74703" Type="http://schemas.openxmlformats.org/officeDocument/2006/relationships/slideLayout" Target="../slideLayouts/slideLayout6.xml"/><Relationship Id="Rdb72c08a5fa8411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766f95a27b0d43f6" Type="http://schemas.openxmlformats.org/officeDocument/2006/relationships/notesSlide" Target="../notesSlides/notesSlide9.xml"/><Relationship Id="Rb5f74a70096449fe"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72a8fbf2ff4244b1" Type="http://schemas.openxmlformats.org/officeDocument/2006/relationships/notesSlide" Target="../notesSlides/notesSlide10.xml"/><Relationship Id="Rb61710361628494c"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0e479527323e4937" Type="http://schemas.openxmlformats.org/officeDocument/2006/relationships/notesSlide" Target="../notesSlides/notesSlide11.xml"/><Relationship Id="Rae6688ac69fa4a8e"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12f741f9918d41b0" Type="http://schemas.openxmlformats.org/officeDocument/2006/relationships/slideLayout" Target="../slideLayouts/slideLayout6.xml"/><Relationship Id="R6884082bf8254ae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85e58ad13aae4ff9" Type="http://schemas.openxmlformats.org/officeDocument/2006/relationships/notesSlide" Target="../notesSlides/notesSlide13.xml"/><Relationship Id="Rcb97fce6a6044f45"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7ea0fd4c543d4258" Type="http://schemas.openxmlformats.org/officeDocument/2006/relationships/slideLayout" Target="../slideLayouts/slideLayout6.xml"/><Relationship Id="R7eb310995fb34b7f"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5382e2c0232e44f5" Type="http://schemas.openxmlformats.org/officeDocument/2006/relationships/notesSlide" Target="../notesSlides/notesSlide15.xml"/><Relationship Id="Rb870b05099c846b5"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9e1e1761830f4b02" Type="http://schemas.openxmlformats.org/officeDocument/2006/relationships/notesSlide" Target="../notesSlides/notesSlide16.xml"/><Relationship Id="Rcad37dd820974a78"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43bd55abdfe24544" Type="http://schemas.openxmlformats.org/officeDocument/2006/relationships/slideLayout" Target="../slideLayouts/slideLayout6.xml"/><Relationship Id="R5391571948834ec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66c2b8560418413b" Type="http://schemas.openxmlformats.org/officeDocument/2006/relationships/slideLayout" Target="../slideLayouts/slideLayout6.xml"/><Relationship Id="Rc77c9b933ce24cc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3d688ca8a96c454e" Type="http://schemas.openxmlformats.org/officeDocument/2006/relationships/notesSlide" Target="../notesSlides/notesSlide19.xml"/><Relationship Id="Rbffb327bff1f4571" Type="http://schemas.openxmlformats.org/officeDocument/2006/relationships/image" Target="../media/image2.png"/><Relationship Id="Rd98cd05d587d4c1f"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155f244cdf314965" Type="http://schemas.openxmlformats.org/officeDocument/2006/relationships/notesSlide" Target="../notesSlides/notesSlide20.xml"/><Relationship Id="Rd48fc74abfe44f9f"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7c9dc4eeced94d0c" Type="http://schemas.openxmlformats.org/officeDocument/2006/relationships/notesSlide" Target="../notesSlides/notesSlide21.xml"/><Relationship Id="Rb8d5c44eedc347ba"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4943cba21f28484b" Type="http://schemas.openxmlformats.org/officeDocument/2006/relationships/slideLayout" Target="../slideLayouts/slideLayout6.xml"/><Relationship Id="R62e1e3c3cf83473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11cca971937f48ac" Type="http://schemas.openxmlformats.org/officeDocument/2006/relationships/slideLayout" Target="../slideLayouts/slideLayout6.xml"/><Relationship Id="R2e817a0b634544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d953fcf075bc45f3" Type="http://schemas.openxmlformats.org/officeDocument/2006/relationships/notesSlide" Target="../notesSlides/notesSlide24.xml"/><Relationship Id="Rdfd70488db1d4c4a"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190a7c080fce4d3a" Type="http://schemas.openxmlformats.org/officeDocument/2006/relationships/slideLayout" Target="../slideLayouts/slideLayout6.xml"/><Relationship Id="R731074849a084f2d"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30c7110618a94559" Type="http://schemas.openxmlformats.org/officeDocument/2006/relationships/slideLayout" Target="../slideLayouts/slideLayout6.xml"/><Relationship Id="Rb9363967351740aa"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604cfb4cc1494c8e" Type="http://schemas.openxmlformats.org/officeDocument/2006/relationships/notesSlide" Target="../notesSlides/notesSlide27.xml"/><Relationship Id="Rf9e2eca478184f28"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6dde3b1305274f32" Type="http://schemas.openxmlformats.org/officeDocument/2006/relationships/notesSlide" Target="../notesSlides/notesSlide28.xml"/><Relationship Id="Rd608ca589d0c4223"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b749f387ed4b4125" Type="http://schemas.openxmlformats.org/officeDocument/2006/relationships/slideLayout" Target="../slideLayouts/slideLayout6.xml"/><Relationship Id="Rd771deaed5f44cb0"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f20c9d8f27b84bbb" Type="http://schemas.openxmlformats.org/officeDocument/2006/relationships/notesSlide" Target="../notesSlides/notesSlide30.xml"/><Relationship Id="Rfa2b8375c9a742da"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64acca537c3546c1" Type="http://schemas.openxmlformats.org/officeDocument/2006/relationships/notesSlide" Target="../notesSlides/notesSlide31.xml"/><Relationship Id="Rc6f1263373044439"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26eee88efaf4455a" Type="http://schemas.openxmlformats.org/officeDocument/2006/relationships/slideLayout" Target="../slideLayouts/slideLayout6.xml"/><Relationship Id="Rc7185ed9477743c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3dba7827786b45fc" Type="http://schemas.openxmlformats.org/officeDocument/2006/relationships/notesSlide" Target="../notesSlides/notesSlide33.xml"/><Relationship Id="Rd36a7531471d46df"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366b729c63684eed" Type="http://schemas.openxmlformats.org/officeDocument/2006/relationships/notesSlide" Target="../notesSlides/notesSlide34.xml"/><Relationship Id="R5e162130883b4d93"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0deb965021b644cf" Type="http://schemas.openxmlformats.org/officeDocument/2006/relationships/notesSlide" Target="../notesSlides/notesSlide35.xml"/><Relationship Id="Rb037a78222424eb7"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435452f3be3848c0" Type="http://schemas.openxmlformats.org/officeDocument/2006/relationships/notesSlide" Target="../notesSlides/notesSlide36.xml"/><Relationship Id="R75d6544bcd2a49bc"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672a972c777246a0" Type="http://schemas.openxmlformats.org/officeDocument/2006/relationships/slideLayout" Target="../slideLayouts/slideLayout6.xml"/><Relationship Id="R8b9d845d26e4420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8f692e1b8c874d86" Type="http://schemas.openxmlformats.org/officeDocument/2006/relationships/notesSlide" Target="../notesSlides/notesSlide38.xml"/><Relationship Id="Rf331b4191d534c46"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441d8e52b78f4e02" Type="http://schemas.openxmlformats.org/officeDocument/2006/relationships/notesSlide" Target="../notesSlides/notesSlide39.xml"/><Relationship Id="Rab420ce6bf164ed3"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33b1fcfa5f1b4a88" Type="http://schemas.openxmlformats.org/officeDocument/2006/relationships/slideLayout" Target="../slideLayouts/slideLayout6.xml"/><Relationship Id="R57ca4366b5c347ba"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3b759a8e4d404556" Type="http://schemas.openxmlformats.org/officeDocument/2006/relationships/slideLayout" Target="../slideLayouts/slideLayout6.xml"/><Relationship Id="Reb26cda9386b4eed"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599782e415f94ce5" Type="http://schemas.openxmlformats.org/officeDocument/2006/relationships/slideLayout" Target="../slideLayouts/slideLayout6.xml"/><Relationship Id="R5f3a3a9d024a4a41"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5b8c34d49f4741b7" Type="http://schemas.openxmlformats.org/officeDocument/2006/relationships/slideLayout" Target="../slideLayouts/slideLayout6.xml"/><Relationship Id="Rb996f4b26a11455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171634bf84034c6e" Type="http://schemas.openxmlformats.org/officeDocument/2006/relationships/notesSlide" Target="../notesSlides/notesSlide44.xml"/><Relationship Id="R5661ee41581e4788"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221b4306e5754756" Type="http://schemas.openxmlformats.org/officeDocument/2006/relationships/slideLayout" Target="../slideLayouts/slideLayout6.xml"/><Relationship Id="Rc79ea7e84efd417a"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4277fae793c9400e" Type="http://schemas.openxmlformats.org/officeDocument/2006/relationships/notesSlide" Target="../notesSlides/notesSlide46.xml"/><Relationship Id="R4893b51fa1684f6b" Type="http://schemas.openxmlformats.org/officeDocument/2006/relationships/image" Target="../media/image3.png"/><Relationship Id="Rdc097668f3b04f55"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d1fbfd94c06a45fa" Type="http://schemas.openxmlformats.org/officeDocument/2006/relationships/slideLayout" Target="../slideLayouts/slideLayout6.xml"/><Relationship Id="Rd5b515f26df44f5b"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56ac8200880b46b6" Type="http://schemas.openxmlformats.org/officeDocument/2006/relationships/notesSlide" Target="../notesSlides/notesSlide48.xml"/><Relationship Id="Rf1125e2e33064a55"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77f51b1082f241d9" Type="http://schemas.openxmlformats.org/officeDocument/2006/relationships/notesSlide" Target="../notesSlides/notesSlide49.xml"/><Relationship Id="Reaaa50fcdb824267"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2b2930db8af24143" Type="http://schemas.openxmlformats.org/officeDocument/2006/relationships/slideLayout" Target="../slideLayouts/slideLayout6.xml"/><Relationship Id="Rf0e11a45f26c452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010778b1a0ef4865" Type="http://schemas.openxmlformats.org/officeDocument/2006/relationships/slideLayout" Target="../slideLayouts/slideLayout6.xml"/><Relationship Id="R6ff62acd5d4f494b"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af311562db0e42c3" Type="http://schemas.openxmlformats.org/officeDocument/2006/relationships/notesSlide" Target="../notesSlides/notesSlide52.xml"/><Relationship Id="Rf70f604a8a1942e0"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50ac665771164a8b" Type="http://schemas.openxmlformats.org/officeDocument/2006/relationships/notesSlide" Target="../notesSlides/notesSlide53.xml"/><Relationship Id="Ree32cb6829f64df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2a1d39b7c2f84980" Type="http://schemas.openxmlformats.org/officeDocument/2006/relationships/slideLayout" Target="../slideLayouts/slideLayout6.xml"/><Relationship Id="Rb10ce6bfec5442cc"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5659b337d2cf4b2c" Type="http://schemas.openxmlformats.org/officeDocument/2006/relationships/slideLayout" Target="../slideLayouts/slideLayout6.xml"/><Relationship Id="Rdab01d3b67b24ca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11153cdfb48440f5" Type="http://schemas.openxmlformats.org/officeDocument/2006/relationships/notesSlide" Target="../notesSlides/notesSlide56.xml"/><Relationship Id="Rddecc26094a2444a"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29a45e22fbe14e93" Type="http://schemas.openxmlformats.org/officeDocument/2006/relationships/slideLayout" Target="../slideLayouts/slideLayout6.xml"/><Relationship Id="Rcf221de733b849ec"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2222c99cb391422a" Type="http://schemas.openxmlformats.org/officeDocument/2006/relationships/notesSlide" Target="../notesSlides/notesSlide58.xml"/><Relationship Id="R5232e7b80cfb4846"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b3db91b8d7e943e3" Type="http://schemas.openxmlformats.org/officeDocument/2006/relationships/notesSlide" Target="../notesSlides/notesSlide59.xml"/><Relationship Id="Rde9b82877865452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64b0006766b94f26" Type="http://schemas.openxmlformats.org/officeDocument/2006/relationships/slideLayout" Target="../slideLayouts/slideLayout6.xml"/><Relationship Id="Ref4122df7d5046e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93e0e7b1f9a74cff" Type="http://schemas.openxmlformats.org/officeDocument/2006/relationships/notesSlide" Target="../notesSlides/notesSlide61.xml"/><Relationship Id="Rf2747203df254953"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6f86890449b14a67" Type="http://schemas.openxmlformats.org/officeDocument/2006/relationships/slideLayout" Target="../slideLayouts/slideLayout6.xml"/><Relationship Id="R8cfc7e2c1dc84fcf"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053d010886f54ed9" Type="http://schemas.openxmlformats.org/officeDocument/2006/relationships/notesSlide" Target="../notesSlides/notesSlide63.xml"/><Relationship Id="R9797d690a8554c1c"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17835f8766554861" Type="http://schemas.openxmlformats.org/officeDocument/2006/relationships/slideLayout" Target="../slideLayouts/slideLayout6.xml"/><Relationship Id="Rc883d87e4d054e3c"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1f662f6067104c5d" Type="http://schemas.openxmlformats.org/officeDocument/2006/relationships/slideLayout" Target="../slideLayouts/slideLayout6.xml"/><Relationship Id="R8fa8e9f343384d5a"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69d529958b504d5d" Type="http://schemas.openxmlformats.org/officeDocument/2006/relationships/slideLayout" Target="../slideLayouts/slideLayout6.xml"/><Relationship Id="R76c12dccb5db4e60"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5e3905a8f1f74f0f" Type="http://schemas.openxmlformats.org/officeDocument/2006/relationships/slideLayout" Target="../slideLayouts/slideLayout6.xml"/><Relationship Id="R8028d90334344dc0"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b32a04902f7240e0" Type="http://schemas.openxmlformats.org/officeDocument/2006/relationships/notesSlide" Target="../notesSlides/notesSlide68.xml"/><Relationship Id="Refa1bb7b0c6e4614"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6f8541f27af94cee" Type="http://schemas.openxmlformats.org/officeDocument/2006/relationships/notesSlide" Target="../notesSlides/notesSlide69.xml"/><Relationship Id="R8413e61ff7c34f81" Type="http://schemas.openxmlformats.org/officeDocument/2006/relationships/slideLayout" Target="../slideLayouts/slideLayout6.xml"/><Relationship Id="Rb1046007e62d4d82" Type="http://schemas.openxmlformats.org/officeDocument/2006/relationships/hyperlink" Target="https://docs.google.com/forms/d/e/1FAIpQLSeZymY0jwFhuwihprLiqEaq2DqmLZD3nIYht1IkN4OcPGeTFg/viewform" TargetMode="External"/></Relationships>
</file>

<file path=ppt/slides/_rels/slide70.xml.rels><?xml version='1.0' encoding='UTF-8' standalone='yes'?>
<Relationships xmlns="http://schemas.openxmlformats.org/package/2006/relationships"><Relationship Id="R4b2b25f882754ede" Type="http://schemas.openxmlformats.org/officeDocument/2006/relationships/hyperlink" Target="https://forms.gle/yodGpWvz4b2GioZYA" TargetMode="External"/><Relationship Id="R93eb5d3d2e2f4f44" Type="http://schemas.openxmlformats.org/officeDocument/2006/relationships/image" Target="../media/image4.png"/><Relationship Id="Rab1f893e0a3c4f1c" Type="http://schemas.openxmlformats.org/officeDocument/2006/relationships/notesSlide" Target="../notesSlides/notesSlide70.xml"/><Relationship Id="Rfe28eb5bfda24630"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08e1bd65fde34099" Type="http://schemas.openxmlformats.org/officeDocument/2006/relationships/slideLayout" Target="../slideLayouts/slideLayout6.xml"/><Relationship Id="R201782d81e0640be" Type="http://schemas.openxmlformats.org/officeDocument/2006/relationships/notesSlide" Target="../notesSlides/notesSlide71.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276D4378-2471-422B-AD4D-7C767D78C48A}"/>
              </a:ext>
            </a:extLst>
          </p:cNvPr>
          <p:cNvPicPr>
            <a:picLocks xmlns:a="http://schemas.openxmlformats.org/drawingml/2006/main" noChangeAspect="1"/>
          </p:cNvPicPr>
          <p:nvPr/>
        </p:nvPicPr>
        <p:blipFill>
          <a:blip xmlns:r="http://schemas.openxmlformats.org/officeDocument/2006/relationships" xmlns:a="http://schemas.openxmlformats.org/drawingml/2006/main" r:embed="R5b862652f6884d63"/>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2290BEF-3F86-45B9-8953-A2C5EA003EF6}"/>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55855ABF-248A-44E1-8C4E-9D9AD01F217E}"/>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4</a:t>
            </a:r>
          </a:p>
        </p:txBody>
      </p:sp>
      <p:sp>
        <p:nvSpPr>
          <p:cNvPr id="4" name="">
            <a:extLst xmlns:a="http://schemas.openxmlformats.org/drawingml/2006/main">
              <a:ext uri="{FF2B5EF4-FFF2-40B4-BE49-F238E27FC236}">
                <a16:creationId xmlns:a16="http://schemas.microsoft.com/office/drawing/2014/main" id="{8E2B5749-5A37-4819-BB80-25B28CB93AD7}"/>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Lists loops and reading a table</a:t>
            </a:r>
          </a:p>
        </p:txBody>
      </p:sp>
      <p:sp>
        <p:nvSpPr>
          <p:cNvPr id="5" name="">
            <a:extLst xmlns:a="http://schemas.openxmlformats.org/drawingml/2006/main">
              <a:ext uri="{FF2B5EF4-FFF2-40B4-BE49-F238E27FC236}">
                <a16:creationId xmlns:a16="http://schemas.microsoft.com/office/drawing/2014/main" id="{C17ED83F-9B78-46C0-B9CD-5E600CBBF860}"/>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FE1FC056-F26A-4126-933F-7A7B469D52AC}"/>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29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62573151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7121AC2-5319-401E-A812-264729457D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B3251A3-B96C-458F-AC38-6FC6054D3E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A9099732-0397-4221-BA17-5B25464150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839ED829-6F14-4EB1-B17A-058C73F5A9EC}"/>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341FDCD-45A7-4017-8645-AED3DC3C6572}"/>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BE52286A-B3ED-4339-802E-E5CE5FB57E7A}"/>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lists and dictionary fields.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Trace a loop, read CSV rows and calculate summaries.</a:t>
            </a:r>
          </a:p>
        </p:txBody>
      </p:sp>
      <p:sp>
        <p:nvSpPr>
          <p:cNvPr id="7" name="">
            <a:extLst xmlns:a="http://schemas.openxmlformats.org/drawingml/2006/main">
              <a:ext uri="{FF2B5EF4-FFF2-40B4-BE49-F238E27FC236}">
                <a16:creationId xmlns:a16="http://schemas.microsoft.com/office/drawing/2014/main" id="{93D6760F-2ACC-43E5-A869-17F68E570B3B}"/>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E3F65E7F-05BC-4A0B-A6EF-15B072C5D025}"/>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show how the total and count change for each record.</a:t>
            </a:r>
          </a:p>
        </p:txBody>
      </p:sp>
      <p:sp>
        <p:nvSpPr>
          <p:cNvPr id="9" name="">
            <a:extLst xmlns:a="http://schemas.openxmlformats.org/drawingml/2006/main">
              <a:ext uri="{FF2B5EF4-FFF2-40B4-BE49-F238E27FC236}">
                <a16:creationId xmlns:a16="http://schemas.microsoft.com/office/drawing/2014/main" id="{90CD63A1-33DC-4B03-8281-DB44954D49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a:t>
            </a:r>
          </a:p>
        </p:txBody>
      </p:sp>
    </p:spTree>
    <p:extLst>
      <p:ext uri="{BB962C8B-B14F-4D97-AF65-F5344CB8AC3E}">
        <p14:creationId xmlns:p14="http://schemas.microsoft.com/office/powerpoint/2010/main" val="91285621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894EB9B-55AA-42BB-9484-D851B122C66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6C39B32-A2FE-460F-BA79-E8B79849A7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1446AD5-5BE2-4BDD-BE18-C300442F3D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8C4BE016-9079-4D53-A7ED-11714B7601FE}"/>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9EE8A06-5506-4B77-A728-74AFB5C8DDB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 3 introduced values, function inputs and results, conditions and list positions.</a:t>
            </a:r>
          </a:p>
        </p:txBody>
      </p:sp>
      <p:sp>
        <p:nvSpPr>
          <p:cNvPr id="6" name="">
            <a:extLst xmlns:a="http://schemas.openxmlformats.org/drawingml/2006/main">
              <a:ext uri="{FF2B5EF4-FFF2-40B4-BE49-F238E27FC236}">
                <a16:creationId xmlns:a16="http://schemas.microsoft.com/office/drawing/2014/main" id="{585FF83A-938D-43E9-94AD-F191E195A0A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repeat a calculation across records, then organise those records by keys.</a:t>
            </a:r>
          </a:p>
        </p:txBody>
      </p:sp>
      <p:sp>
        <p:nvSpPr>
          <p:cNvPr id="7" name="">
            <a:extLst xmlns:a="http://schemas.openxmlformats.org/drawingml/2006/main">
              <a:ext uri="{FF2B5EF4-FFF2-40B4-BE49-F238E27FC236}">
                <a16:creationId xmlns:a16="http://schemas.microsoft.com/office/drawing/2014/main" id="{FBADFA19-4A8B-40AF-B54C-4F515CDAA9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a:t>
            </a:r>
          </a:p>
        </p:txBody>
      </p:sp>
    </p:spTree>
    <p:extLst>
      <p:ext uri="{BB962C8B-B14F-4D97-AF65-F5344CB8AC3E}">
        <p14:creationId xmlns:p14="http://schemas.microsoft.com/office/powerpoint/2010/main" val="56717782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B7C053E-F309-4885-9891-15BCAC7F71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28ADF8A-650D-47E7-B0E1-E2AD42C453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83983FE-21CC-4AB0-822D-A366452988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1A366D64-47DF-4783-9354-3E776EFE60B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0488598-2E46-499E-A958-74DB8B300972}"/>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Sensor readings arrive as records in a CSV file.</a:t>
            </a:r>
          </a:p>
        </p:txBody>
      </p:sp>
      <p:sp>
        <p:nvSpPr>
          <p:cNvPr id="6" name="">
            <a:extLst xmlns:a="http://schemas.openxmlformats.org/drawingml/2006/main">
              <a:ext uri="{FF2B5EF4-FFF2-40B4-BE49-F238E27FC236}">
                <a16:creationId xmlns:a16="http://schemas.microsoft.com/office/drawing/2014/main" id="{C5C6545B-B2BC-492A-BDE7-27E17B8B05F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first learn the Python collections and loops needed to read those records and summarise them.</a:t>
            </a:r>
          </a:p>
        </p:txBody>
      </p:sp>
      <p:sp>
        <p:nvSpPr>
          <p:cNvPr id="7" name="">
            <a:extLst xmlns:a="http://schemas.openxmlformats.org/drawingml/2006/main">
              <a:ext uri="{FF2B5EF4-FFF2-40B4-BE49-F238E27FC236}">
                <a16:creationId xmlns:a16="http://schemas.microsoft.com/office/drawing/2014/main" id="{A103B27A-8BED-4128-A114-544A1F55C4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a:t>
            </a:r>
          </a:p>
        </p:txBody>
      </p:sp>
    </p:spTree>
    <p:extLst>
      <p:ext uri="{BB962C8B-B14F-4D97-AF65-F5344CB8AC3E}">
        <p14:creationId xmlns:p14="http://schemas.microsoft.com/office/powerpoint/2010/main" val="89175072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A697E57-D59B-4E79-8C0B-30BCB712B1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BCD29C3-3526-4954-95BD-EC79F10AC7E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FF97F52-C9CA-43C6-BD4F-CDF0C550E6C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 and index</a:t>
            </a:r>
          </a:p>
        </p:txBody>
      </p:sp>
      <p:sp>
        <p:nvSpPr>
          <p:cNvPr id="4" name="">
            <a:extLst xmlns:a="http://schemas.openxmlformats.org/drawingml/2006/main">
              <a:ext uri="{FF2B5EF4-FFF2-40B4-BE49-F238E27FC236}">
                <a16:creationId xmlns:a16="http://schemas.microsoft.com/office/drawing/2014/main" id="{23C0C3B0-58FA-42D8-B41A-78F48BEEDCCA}"/>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729227E-F6FC-4455-8A88-F08D130A4ADE}"/>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List and index</a:t>
            </a:r>
          </a:p>
        </p:txBody>
      </p:sp>
      <p:sp>
        <p:nvSpPr>
          <p:cNvPr id="6" name="">
            <a:extLst xmlns:a="http://schemas.openxmlformats.org/drawingml/2006/main">
              <a:ext uri="{FF2B5EF4-FFF2-40B4-BE49-F238E27FC236}">
                <a16:creationId xmlns:a16="http://schemas.microsoft.com/office/drawing/2014/main" id="{AEF43173-56C0-4F0B-8B0D-ED73FB4470F9}"/>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list holds values in order: [2, 4, 6]. Square brackets select a position. readings[0] selects the first item, 2.</a:t>
            </a:r>
          </a:p>
        </p:txBody>
      </p:sp>
      <p:sp>
        <p:nvSpPr>
          <p:cNvPr id="7" name="">
            <a:extLst xmlns:a="http://schemas.openxmlformats.org/drawingml/2006/main">
              <a:ext uri="{FF2B5EF4-FFF2-40B4-BE49-F238E27FC236}">
                <a16:creationId xmlns:a16="http://schemas.microsoft.com/office/drawing/2014/main" id="{6607E7DF-F2A5-421A-B496-17F3627F668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a:t>
            </a:r>
          </a:p>
        </p:txBody>
      </p:sp>
    </p:spTree>
    <p:extLst>
      <p:ext uri="{BB962C8B-B14F-4D97-AF65-F5344CB8AC3E}">
        <p14:creationId xmlns:p14="http://schemas.microsoft.com/office/powerpoint/2010/main" val="141796416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85530A4-EA96-4F9B-B909-33E129E7AD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4130677-B316-469A-8663-1DB1975BB2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44D7FD1-B7E4-4F34-9B04-85E153D1D6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position starts at zero</a:t>
            </a:r>
          </a:p>
        </p:txBody>
      </p:sp>
      <p:sp>
        <p:nvSpPr>
          <p:cNvPr id="4" name="">
            <a:extLst xmlns:a="http://schemas.openxmlformats.org/drawingml/2006/main">
              <a:ext uri="{FF2B5EF4-FFF2-40B4-BE49-F238E27FC236}">
                <a16:creationId xmlns:a16="http://schemas.microsoft.com/office/drawing/2014/main" id="{2689BD1C-4B9C-4EC8-A58C-DC037EF7F28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320015E-A8D0-43F0-8598-C6CD1A7CB9A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[2, 4, 6], position 0 holds 2.</a:t>
            </a:r>
          </a:p>
        </p:txBody>
      </p:sp>
      <p:sp>
        <p:nvSpPr>
          <p:cNvPr id="6" name="">
            <a:extLst xmlns:a="http://schemas.openxmlformats.org/drawingml/2006/main">
              <a:ext uri="{FF2B5EF4-FFF2-40B4-BE49-F238E27FC236}">
                <a16:creationId xmlns:a16="http://schemas.microsoft.com/office/drawing/2014/main" id="{9923671E-5A02-45F5-8FFA-A3B878D16A2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D9C0A5F-6B2B-4635-8BFE-A96A03DB22F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Position 1 holds 4. Position 2 holds 6.</a:t>
            </a:r>
          </a:p>
        </p:txBody>
      </p:sp>
      <p:sp>
        <p:nvSpPr>
          <p:cNvPr id="8" name="">
            <a:extLst xmlns:a="http://schemas.openxmlformats.org/drawingml/2006/main">
              <a:ext uri="{FF2B5EF4-FFF2-40B4-BE49-F238E27FC236}">
                <a16:creationId xmlns:a16="http://schemas.microsoft.com/office/drawing/2014/main" id="{1A4ED2A1-CC87-47CE-BA8B-7FF3F4BA23D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B2BF447-AB87-4635-8F56-7236F2441D9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There is no position 3 in this three-item list.</a:t>
            </a:r>
          </a:p>
        </p:txBody>
      </p:sp>
      <p:sp>
        <p:nvSpPr>
          <p:cNvPr id="10" name="">
            <a:extLst xmlns:a="http://schemas.openxmlformats.org/drawingml/2006/main">
              <a:ext uri="{FF2B5EF4-FFF2-40B4-BE49-F238E27FC236}">
                <a16:creationId xmlns:a16="http://schemas.microsoft.com/office/drawing/2014/main" id="{86F04B80-90AA-436C-B928-9D77E4346C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a:t>
            </a:r>
          </a:p>
        </p:txBody>
      </p:sp>
    </p:spTree>
    <p:extLst>
      <p:ext uri="{BB962C8B-B14F-4D97-AF65-F5344CB8AC3E}">
        <p14:creationId xmlns:p14="http://schemas.microsoft.com/office/powerpoint/2010/main" val="105090297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FFF354B-AC92-4E2A-93C7-386FBAD76C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F06501D-EF50-44EC-BE9C-F2B3B67F7E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6C49569-7F6C-4964-A8C5-31864EDD4A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list operations</a:t>
            </a:r>
          </a:p>
        </p:txBody>
      </p:sp>
      <p:sp>
        <p:nvSpPr>
          <p:cNvPr id="4" name="">
            <a:extLst xmlns:a="http://schemas.openxmlformats.org/drawingml/2006/main">
              <a:ext uri="{FF2B5EF4-FFF2-40B4-BE49-F238E27FC236}">
                <a16:creationId xmlns:a16="http://schemas.microsoft.com/office/drawing/2014/main" id="{83C8B61B-02AD-4F31-A276-CE59ED27F77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3F9979E-137C-4B90-8130-A352988B4FB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append and len</a:t>
            </a:r>
          </a:p>
        </p:txBody>
      </p:sp>
      <p:sp>
        <p:nvSpPr>
          <p:cNvPr id="6" name="">
            <a:extLst xmlns:a="http://schemas.openxmlformats.org/drawingml/2006/main">
              <a:ext uri="{FF2B5EF4-FFF2-40B4-BE49-F238E27FC236}">
                <a16:creationId xmlns:a16="http://schemas.microsoft.com/office/drawing/2014/main" id="{621EDD11-0FEC-46FB-AD4B-B8D2E9A0423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readings.append(8) adds 8 to the end of the list. len(readings) counts its items. The dot selects an operation belonging to that object; parentheses call it.</a:t>
            </a:r>
          </a:p>
        </p:txBody>
      </p:sp>
      <p:sp>
        <p:nvSpPr>
          <p:cNvPr id="7" name="">
            <a:extLst xmlns:a="http://schemas.openxmlformats.org/drawingml/2006/main">
              <a:ext uri="{FF2B5EF4-FFF2-40B4-BE49-F238E27FC236}">
                <a16:creationId xmlns:a16="http://schemas.microsoft.com/office/drawing/2014/main" id="{C6F1420C-3890-4731-810D-46BF259AEDD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BAA19A7C-FC3A-4DC6-9B70-A2BD5FDED18A}"/>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Slice</a:t>
            </a:r>
          </a:p>
        </p:txBody>
      </p:sp>
      <p:sp>
        <p:nvSpPr>
          <p:cNvPr id="9" name="">
            <a:extLst xmlns:a="http://schemas.openxmlformats.org/drawingml/2006/main">
              <a:ext uri="{FF2B5EF4-FFF2-40B4-BE49-F238E27FC236}">
                <a16:creationId xmlns:a16="http://schemas.microsoft.com/office/drawing/2014/main" id="{4D2FA9CB-3590-42BF-8F42-008E5E04BA4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readings[1:3] selects positions 1 and 2. The stop position 3 is excluded. A slice produces a new list; it does not remove items from the original.</a:t>
            </a:r>
          </a:p>
        </p:txBody>
      </p:sp>
      <p:sp>
        <p:nvSpPr>
          <p:cNvPr id="10" name="">
            <a:extLst xmlns:a="http://schemas.openxmlformats.org/drawingml/2006/main">
              <a:ext uri="{FF2B5EF4-FFF2-40B4-BE49-F238E27FC236}">
                <a16:creationId xmlns:a16="http://schemas.microsoft.com/office/drawing/2014/main" id="{E54FB84E-5FDC-4CE0-A1D5-8B558938B9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7</a:t>
            </a:r>
          </a:p>
        </p:txBody>
      </p:sp>
    </p:spTree>
    <p:extLst>
      <p:ext uri="{BB962C8B-B14F-4D97-AF65-F5344CB8AC3E}">
        <p14:creationId xmlns:p14="http://schemas.microsoft.com/office/powerpoint/2010/main" val="558280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C113A2D-ED56-4188-9971-9070DC24EBB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0C9CEA8-5EB8-4190-9F4B-961A09E27F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AF2AD0B-5DD0-4836-94EA-3D549D2305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items in order</a:t>
            </a:r>
          </a:p>
        </p:txBody>
      </p:sp>
      <p:sp>
        <p:nvSpPr>
          <p:cNvPr id="4" name="">
            <a:extLst xmlns:a="http://schemas.openxmlformats.org/drawingml/2006/main">
              <a:ext uri="{FF2B5EF4-FFF2-40B4-BE49-F238E27FC236}">
                <a16:creationId xmlns:a16="http://schemas.microsoft.com/office/drawing/2014/main" id="{A85E71CF-B2C0-4653-B6D8-FAAF3BC808C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D12B0F0-A362-4159-8E37-5DE5AB8F530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readings.append(8)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print(readings[1:3])</a:t>
            </a:r>
          </a:p>
        </p:txBody>
      </p:sp>
      <p:sp>
        <p:nvSpPr>
          <p:cNvPr id="6" name="">
            <a:extLst xmlns:a="http://schemas.openxmlformats.org/drawingml/2006/main">
              <a:ext uri="{FF2B5EF4-FFF2-40B4-BE49-F238E27FC236}">
                <a16:creationId xmlns:a16="http://schemas.microsoft.com/office/drawing/2014/main" id="{2FBE7F60-7CC5-4A93-9DC4-625684BC073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B4B10CD-5766-4A89-B214-434C07ECB27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A7C3944B-FEFD-4ED0-9871-96767F620CE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append adds one item to the end of a list.</a:t>
            </a:r>
          </a:p>
        </p:txBody>
      </p:sp>
      <p:sp>
        <p:nvSpPr>
          <p:cNvPr id="9" name="">
            <a:extLst xmlns:a="http://schemas.openxmlformats.org/drawingml/2006/main">
              <a:ext uri="{FF2B5EF4-FFF2-40B4-BE49-F238E27FC236}">
                <a16:creationId xmlns:a16="http://schemas.microsoft.com/office/drawing/2014/main" id="{8D6D7E91-6BE7-4EA1-A51D-2E29DF5C057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87C768F3-1494-48FB-9BD7-200678631D5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 builds a list. Positions start at zero. The slice stops before position 3.</a:t>
            </a:r>
          </a:p>
        </p:txBody>
      </p:sp>
      <p:sp>
        <p:nvSpPr>
          <p:cNvPr id="11" name="">
            <a:extLst xmlns:a="http://schemas.openxmlformats.org/drawingml/2006/main">
              <a:ext uri="{FF2B5EF4-FFF2-40B4-BE49-F238E27FC236}">
                <a16:creationId xmlns:a16="http://schemas.microsoft.com/office/drawing/2014/main" id="{A44253E3-C49E-418E-B573-A6E4201199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8</a:t>
            </a:r>
          </a:p>
        </p:txBody>
      </p:sp>
    </p:spTree>
    <p:extLst>
      <p:ext uri="{BB962C8B-B14F-4D97-AF65-F5344CB8AC3E}">
        <p14:creationId xmlns:p14="http://schemas.microsoft.com/office/powerpoint/2010/main" val="152316819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71F1FFD-F1DB-49C5-97B0-63E4100B3D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89BDB5E-D9B0-435F-B78C-40F3993D12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A0517EC-13A6-453E-BFAC-FAEF499F13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list changes</a:t>
            </a:r>
          </a:p>
        </p:txBody>
      </p:sp>
      <p:graphicFrame>
        <p:nvGraphicFramePr>
          <p:cNvPr id="4" name="">
            <a:extLst xmlns:a="http://schemas.openxmlformats.org/drawingml/2006/main">
              <a:ext uri="{FF2B5EF4-FFF2-40B4-BE49-F238E27FC236}">
                <a16:creationId xmlns:a16="http://schemas.microsoft.com/office/drawing/2014/main" id="{CB97BEF4-E4D8-4509-8E97-A35640E662E6}"/>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Instruction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List afterwards</a:t>
                      </a:r>
                    </a:p>
                  </a:txBody>
                  <a:tcPr marL="91440" marR="91440" marT="45720" marB="45720">
                    <a:solidFill>
                      <a:srgbClr val="2E7D6F"/>
                    </a:solidFill>
                  </a:tcPr>
                </a:tc>
                <a:tc>
                  <a:txBody>
                    <a:bodyPr/>
                    <a:lstStyle/>
                    <a:p>
                      <a:r>
                        <a:rPr sz="2025" b="1">
                          <a:solidFill>
                            <a:srgbClr val="FFFFFF"/>
                          </a:solidFill>
                          <a:latin typeface="Calibri"/>
                          <a:ea typeface="Calibri"/>
                          <a:cs typeface="Calibri"/>
                        </a:rPr>
                        <a:t>Displayed output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readings = [2,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Nothing yet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print(readings[0])</a:t>
                      </a:r>
                    </a:p>
                  </a:txBody>
                  <a:tcPr marL="91440" marR="91440" marT="45720" marB="45720">
                    <a:solidFill>
                      <a:srgbClr val="FFFFFF"/>
                    </a:solidFill>
                  </a:tcPr>
                </a:tc>
                <a:tc>
                  <a:txBody>
                    <a:bodyPr/>
                    <a:lstStyle/>
                    <a:p>
                      <a:r>
                        <a:rPr sz="2025" b="0">
                          <a:solidFill>
                            <a:srgbClr val="1C3144"/>
                          </a:solidFill>
                          <a:latin typeface="Calibri"/>
                          <a:ea typeface="Calibri"/>
                          <a:cs typeface="Calibri"/>
                        </a:rPr>
                        <a:t>[2, 4, 6]</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readings.append(8)</a:t>
                      </a:r>
                    </a:p>
                  </a:txBody>
                  <a:tcPr marL="91440" marR="91440" marT="45720" marB="45720">
                    <a:solidFill>
                      <a:srgbClr val="EEF3F6"/>
                    </a:solidFill>
                  </a:tcPr>
                </a:tc>
                <a:tc>
                  <a:txBody>
                    <a:bodyPr/>
                    <a:lstStyle/>
                    <a:p>
                      <a:r>
                        <a:rPr sz="2025" b="0">
                          <a:solidFill>
                            <a:srgbClr val="1C3144"/>
                          </a:solidFill>
                          <a:latin typeface="Calibri"/>
                          <a:ea typeface="Calibri"/>
                          <a:cs typeface="Calibri"/>
                        </a:rPr>
                        <a:t>[2, 4, 6, 8]</a:t>
                      </a:r>
                    </a:p>
                  </a:txBody>
                  <a:tcPr marL="91440" marR="91440" marT="45720" marB="45720">
                    <a:solidFill>
                      <a:srgbClr val="EEF3F6"/>
                    </a:solidFill>
                  </a:tcPr>
                </a:tc>
                <a:tc>
                  <a:txBody>
                    <a:bodyPr/>
                    <a:lstStyle/>
                    <a:p>
                      <a:r>
                        <a:rPr sz="2025" b="0">
                          <a:solidFill>
                            <a:srgbClr val="1C3144"/>
                          </a:solidFill>
                          <a:latin typeface="Calibri"/>
                          <a:ea typeface="Calibri"/>
                          <a:cs typeface="Calibri"/>
                        </a:rPr>
                        <a:t>Nothing yet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print(readings[1:3])</a:t>
                      </a:r>
                    </a:p>
                  </a:txBody>
                  <a:tcPr marL="91440" marR="91440" marT="45720" marB="45720">
                    <a:solidFill>
                      <a:srgbClr val="FFFFFF"/>
                    </a:solidFill>
                  </a:tcPr>
                </a:tc>
                <a:tc>
                  <a:txBody>
                    <a:bodyPr/>
                    <a:lstStyle/>
                    <a:p>
                      <a:r>
                        <a:rPr sz="2025" b="0">
                          <a:solidFill>
                            <a:srgbClr val="1C3144"/>
                          </a:solidFill>
                          <a:latin typeface="Calibri"/>
                          <a:ea typeface="Calibri"/>
                          <a:cs typeface="Calibri"/>
                        </a:rPr>
                        <a:t>[2, 4, 6, 8]</a:t>
                      </a:r>
                    </a:p>
                  </a:txBody>
                  <a:tcPr marL="91440" marR="91440" marT="45720" marB="45720">
                    <a:solidFill>
                      <a:srgbClr val="FFFFFF"/>
                    </a:solidFill>
                  </a:tcPr>
                </a:tc>
                <a:tc>
                  <a:txBody>
                    <a:bodyPr/>
                    <a:lstStyle/>
                    <a:p>
                      <a:r>
                        <a:rPr sz="2025" b="0">
                          <a:solidFill>
                            <a:srgbClr val="1C3144"/>
                          </a:solidFill>
                          <a:latin typeface="Calibri"/>
                          <a:ea typeface="Calibri"/>
                          <a:cs typeface="Calibri"/>
                        </a:rPr>
                        <a:t>[4, 6]</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5F339337-0115-4651-B146-114496D5308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len reports 4 after append. A slice excludes its stop position and leaves the original list intact.</a:t>
            </a:r>
          </a:p>
        </p:txBody>
      </p:sp>
      <p:sp>
        <p:nvSpPr>
          <p:cNvPr id="6" name="">
            <a:extLst xmlns:a="http://schemas.openxmlformats.org/drawingml/2006/main">
              <a:ext uri="{FF2B5EF4-FFF2-40B4-BE49-F238E27FC236}">
                <a16:creationId xmlns:a16="http://schemas.microsoft.com/office/drawing/2014/main" id="{E8CD4842-7B8A-495B-AE09-EBFCF40CE6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9</a:t>
            </a:r>
          </a:p>
        </p:txBody>
      </p:sp>
    </p:spTree>
    <p:extLst>
      <p:ext uri="{BB962C8B-B14F-4D97-AF65-F5344CB8AC3E}">
        <p14:creationId xmlns:p14="http://schemas.microsoft.com/office/powerpoint/2010/main" val="157402855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F11215C-BE47-4934-864D-6B12140573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B9830FD-1784-4F34-9BB5-A52A9C87B3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4C4E32E-1738-42E2-B796-CD41E89536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loop repeats instructions</a:t>
            </a:r>
          </a:p>
        </p:txBody>
      </p:sp>
      <p:sp>
        <p:nvSpPr>
          <p:cNvPr id="4" name="">
            <a:extLst xmlns:a="http://schemas.openxmlformats.org/drawingml/2006/main">
              <a:ext uri="{FF2B5EF4-FFF2-40B4-BE49-F238E27FC236}">
                <a16:creationId xmlns:a16="http://schemas.microsoft.com/office/drawing/2014/main" id="{A6737344-D7FC-4023-AC8F-D6D5A50CBC1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553A163-2F4B-4EE8-BF35-1CDFC9C03C6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loop runs a block more than once. One execution of the block is called an iteration.</a:t>
            </a:r>
          </a:p>
        </p:txBody>
      </p:sp>
      <p:sp>
        <p:nvSpPr>
          <p:cNvPr id="6" name="">
            <a:extLst xmlns:a="http://schemas.openxmlformats.org/drawingml/2006/main">
              <a:ext uri="{FF2B5EF4-FFF2-40B4-BE49-F238E27FC236}">
                <a16:creationId xmlns:a16="http://schemas.microsoft.com/office/drawing/2014/main" id="{7003C9D2-BEC2-4617-B1BC-0C45BDA9E82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FB991EF-3E26-4302-974A-F624CB592DF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takes one item at a time from a collection. Use it when each item needs the same action.</a:t>
            </a:r>
          </a:p>
        </p:txBody>
      </p:sp>
      <p:sp>
        <p:nvSpPr>
          <p:cNvPr id="8" name="">
            <a:extLst xmlns:a="http://schemas.openxmlformats.org/drawingml/2006/main">
              <a:ext uri="{FF2B5EF4-FFF2-40B4-BE49-F238E27FC236}">
                <a16:creationId xmlns:a16="http://schemas.microsoft.com/office/drawing/2014/main" id="{D92C9D71-B6ED-421E-83A8-08386CB42D4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2BE8BD5-A798-4E56-BBD3-F181EFD06A3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while repeats while a condition stays True. Use it when a condition controls repetition.</a:t>
            </a:r>
          </a:p>
        </p:txBody>
      </p:sp>
      <p:sp>
        <p:nvSpPr>
          <p:cNvPr id="10" name="">
            <a:extLst xmlns:a="http://schemas.openxmlformats.org/drawingml/2006/main">
              <a:ext uri="{FF2B5EF4-FFF2-40B4-BE49-F238E27FC236}">
                <a16:creationId xmlns:a16="http://schemas.microsoft.com/office/drawing/2014/main" id="{D806C3FB-CD47-4388-84EA-F502DC182D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10</a:t>
            </a:r>
          </a:p>
        </p:txBody>
      </p:sp>
    </p:spTree>
    <p:extLst>
      <p:ext uri="{BB962C8B-B14F-4D97-AF65-F5344CB8AC3E}">
        <p14:creationId xmlns:p14="http://schemas.microsoft.com/office/powerpoint/2010/main" val="10044518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EA58576-C15F-4F49-AC83-23F09169D28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AEE4523-2288-4F5F-ABA0-47C2BDADD6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082E266-465F-4DD7-9BAB-D4C2A4734D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every part of a for header</a:t>
            </a:r>
          </a:p>
        </p:txBody>
      </p:sp>
      <p:sp>
        <p:nvSpPr>
          <p:cNvPr id="4" name="">
            <a:extLst xmlns:a="http://schemas.openxmlformats.org/drawingml/2006/main">
              <a:ext uri="{FF2B5EF4-FFF2-40B4-BE49-F238E27FC236}">
                <a16:creationId xmlns:a16="http://schemas.microsoft.com/office/drawing/2014/main" id="{4F351AEF-D7F7-4C2E-B83F-BBDC3DCA739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4DBF2EA-BAAB-4A3E-A62D-08F0233059F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for reading in readings:, for introduces repetition, reading names the current item, and readings is the collection to visit.</a:t>
            </a:r>
          </a:p>
        </p:txBody>
      </p:sp>
      <p:sp>
        <p:nvSpPr>
          <p:cNvPr id="6" name="">
            <a:extLst xmlns:a="http://schemas.openxmlformats.org/drawingml/2006/main">
              <a:ext uri="{FF2B5EF4-FFF2-40B4-BE49-F238E27FC236}">
                <a16:creationId xmlns:a16="http://schemas.microsoft.com/office/drawing/2014/main" id="{D23C9C34-B9DF-4CE0-BFB2-4E7C3B01246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B6AD2D3-C028-41C6-B41A-0C0DE070E18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connects the current-item name to that collection. The colon begins the loop body. Four spaces mark each instruction that repeats.</a:t>
            </a:r>
          </a:p>
        </p:txBody>
      </p:sp>
      <p:sp>
        <p:nvSpPr>
          <p:cNvPr id="8" name="">
            <a:extLst xmlns:a="http://schemas.openxmlformats.org/drawingml/2006/main">
              <a:ext uri="{FF2B5EF4-FFF2-40B4-BE49-F238E27FC236}">
                <a16:creationId xmlns:a16="http://schemas.microsoft.com/office/drawing/2014/main" id="{1255B082-BCA2-4A2A-8E7E-2035C55A90A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8944FAF-4940-4BFC-AF1E-6A555574A18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is a name we choose; it is assigned the next item automatically. It is not the same name as readings. After the last item, execution leaves the loop.</a:t>
            </a:r>
          </a:p>
        </p:txBody>
      </p:sp>
      <p:sp>
        <p:nvSpPr>
          <p:cNvPr id="10" name="">
            <a:extLst xmlns:a="http://schemas.openxmlformats.org/drawingml/2006/main">
              <a:ext uri="{FF2B5EF4-FFF2-40B4-BE49-F238E27FC236}">
                <a16:creationId xmlns:a16="http://schemas.microsoft.com/office/drawing/2014/main" id="{E0FCAD42-D2A6-4BD7-A18C-F79BB81A5D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11</a:t>
            </a:r>
          </a:p>
        </p:txBody>
      </p:sp>
    </p:spTree>
    <p:extLst>
      <p:ext uri="{BB962C8B-B14F-4D97-AF65-F5344CB8AC3E}">
        <p14:creationId xmlns:p14="http://schemas.microsoft.com/office/powerpoint/2010/main" val="24625015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B71FAAC-98F5-42E6-8F7A-6E9E77D437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E9A5D3F-A1C0-469C-AE19-AB80BB8B39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DDA4EE7-E731-4310-95A2-424474E729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Visit each item without calculating</a:t>
            </a:r>
          </a:p>
        </p:txBody>
      </p:sp>
      <p:sp>
        <p:nvSpPr>
          <p:cNvPr id="4" name="">
            <a:extLst xmlns:a="http://schemas.openxmlformats.org/drawingml/2006/main">
              <a:ext uri="{FF2B5EF4-FFF2-40B4-BE49-F238E27FC236}">
                <a16:creationId xmlns:a16="http://schemas.microsoft.com/office/drawing/2014/main" id="{19ED302F-81F2-4AA0-A893-79306111E1E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593F278-2938-46E1-BF89-FA2B682BDDB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print("finished")</a:t>
            </a:r>
          </a:p>
        </p:txBody>
      </p:sp>
      <p:sp>
        <p:nvSpPr>
          <p:cNvPr id="6" name="">
            <a:extLst xmlns:a="http://schemas.openxmlformats.org/drawingml/2006/main">
              <a:ext uri="{FF2B5EF4-FFF2-40B4-BE49-F238E27FC236}">
                <a16:creationId xmlns:a16="http://schemas.microsoft.com/office/drawing/2014/main" id="{640BDBE4-1F39-45BA-A214-59552DE950E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411F235-0EA9-42DE-88D4-0933220A84F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body runs once for each item.</a:t>
            </a:r>
          </a:p>
        </p:txBody>
      </p:sp>
      <p:sp>
        <p:nvSpPr>
          <p:cNvPr id="8" name="">
            <a:extLst xmlns:a="http://schemas.openxmlformats.org/drawingml/2006/main">
              <a:ext uri="{FF2B5EF4-FFF2-40B4-BE49-F238E27FC236}">
                <a16:creationId xmlns:a16="http://schemas.microsoft.com/office/drawing/2014/main" id="{E43BEC9C-E68A-487A-A2AB-C3F84D35398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final line is outside the loop, so it runs once.</a:t>
            </a:r>
          </a:p>
        </p:txBody>
      </p:sp>
      <p:sp>
        <p:nvSpPr>
          <p:cNvPr id="9" name="">
            <a:extLst xmlns:a="http://schemas.openxmlformats.org/drawingml/2006/main">
              <a:ext uri="{FF2B5EF4-FFF2-40B4-BE49-F238E27FC236}">
                <a16:creationId xmlns:a16="http://schemas.microsoft.com/office/drawing/2014/main" id="{5FCFE8BC-C1E4-4E57-9C15-72FDF6B0F6D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4; 6; finished</a:t>
            </a:r>
          </a:p>
        </p:txBody>
      </p:sp>
      <p:sp>
        <p:nvSpPr>
          <p:cNvPr id="10" name="">
            <a:extLst xmlns:a="http://schemas.openxmlformats.org/drawingml/2006/main">
              <a:ext uri="{FF2B5EF4-FFF2-40B4-BE49-F238E27FC236}">
                <a16:creationId xmlns:a16="http://schemas.microsoft.com/office/drawing/2014/main" id="{E61F5C15-D48C-4C28-851A-2DA92445CB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12</a:t>
            </a:r>
          </a:p>
        </p:txBody>
      </p:sp>
    </p:spTree>
    <p:extLst>
      <p:ext uri="{BB962C8B-B14F-4D97-AF65-F5344CB8AC3E}">
        <p14:creationId xmlns:p14="http://schemas.microsoft.com/office/powerpoint/2010/main" val="63442799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C6A9C26-97E8-40B9-8FF8-15FB7135CD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14E5AE3-A2C2-4CC2-9284-C698B82BC32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3670BC8-5B24-4EA6-9830-70EC9BAA87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for loop item by item</a:t>
            </a:r>
          </a:p>
        </p:txBody>
      </p:sp>
      <p:graphicFrame>
        <p:nvGraphicFramePr>
          <p:cNvPr id="4" name="">
            <a:extLst xmlns:a="http://schemas.openxmlformats.org/drawingml/2006/main">
              <a:ext uri="{FF2B5EF4-FFF2-40B4-BE49-F238E27FC236}">
                <a16:creationId xmlns:a16="http://schemas.microsoft.com/office/drawing/2014/main" id="{78670A95-9D7C-4161-98FE-6365DF0B6D2D}"/>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Current 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Action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First item</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Second item</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Print 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Third item</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No items left</a:t>
                      </a:r>
                    </a:p>
                  </a:txBody>
                  <a:tcPr marL="91440" marR="91440" marT="45720" marB="45720">
                    <a:solidFill>
                      <a:srgbClr val="FFFFFF"/>
                    </a:solidFill>
                  </a:tcPr>
                </a:tc>
                <a:tc>
                  <a:txBody>
                    <a:bodyPr/>
                    <a:lstStyle/>
                    <a:p>
                      <a:r>
                        <a:rPr sz="2025" b="0">
                          <a:solidFill>
                            <a:srgbClr val="1C3144"/>
                          </a:solidFill>
                          <a:latin typeface="Calibri"/>
                          <a:ea typeface="Calibri"/>
                          <a:cs typeface="Calibri"/>
                        </a:rPr>
                        <a:t>No new item</a:t>
                      </a:r>
                    </a:p>
                  </a:txBody>
                  <a:tcPr marL="91440" marR="91440" marT="45720" marB="45720">
                    <a:solidFill>
                      <a:srgbClr val="FFFFFF"/>
                    </a:solidFill>
                  </a:tcPr>
                </a:tc>
                <a:tc>
                  <a:txBody>
                    <a:bodyPr/>
                    <a:lstStyle/>
                    <a:p>
                      <a:r>
                        <a:rPr sz="2025" b="0">
                          <a:solidFill>
                            <a:srgbClr val="1C3144"/>
                          </a:solidFill>
                          <a:latin typeface="Calibri"/>
                          <a:ea typeface="Calibri"/>
                          <a:cs typeface="Calibri"/>
                        </a:rPr>
                        <a:t>Leave loop; print finished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C9D5FD9-0760-4228-9076-1B9C42747F2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list runs the body zero times. It still reaches the outside line.</a:t>
            </a:r>
          </a:p>
        </p:txBody>
      </p:sp>
      <p:sp>
        <p:nvSpPr>
          <p:cNvPr id="6" name="">
            <a:extLst xmlns:a="http://schemas.openxmlformats.org/drawingml/2006/main">
              <a:ext uri="{FF2B5EF4-FFF2-40B4-BE49-F238E27FC236}">
                <a16:creationId xmlns:a16="http://schemas.microsoft.com/office/drawing/2014/main" id="{4A5E2C8F-0A59-40A3-8E96-271DBC8725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13</a:t>
            </a:r>
          </a:p>
        </p:txBody>
      </p:sp>
    </p:spTree>
    <p:extLst>
      <p:ext uri="{BB962C8B-B14F-4D97-AF65-F5344CB8AC3E}">
        <p14:creationId xmlns:p14="http://schemas.microsoft.com/office/powerpoint/2010/main" val="72806425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9A5ECBA-8A2E-426D-9AA4-FE93514CCC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4647D7D-BA6A-4103-8DC7-F514C1C327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A52BE7C-999D-4938-9841-AAC8369017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Updating a counter inside a loop</a:t>
            </a:r>
          </a:p>
        </p:txBody>
      </p:sp>
      <p:sp>
        <p:nvSpPr>
          <p:cNvPr id="4" name="">
            <a:extLst xmlns:a="http://schemas.openxmlformats.org/drawingml/2006/main">
              <a:ext uri="{FF2B5EF4-FFF2-40B4-BE49-F238E27FC236}">
                <a16:creationId xmlns:a16="http://schemas.microsoft.com/office/drawing/2014/main" id="{127FBAA3-986D-4970-8A72-A8A9160ED6D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8984828-2BAA-4786-BB84-06F9780E995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counter records how many times an event happens. Set count = 0 before the loop, then count = count + 1 inside it.</a:t>
            </a:r>
          </a:p>
        </p:txBody>
      </p:sp>
      <p:sp>
        <p:nvSpPr>
          <p:cNvPr id="6" name="">
            <a:extLst xmlns:a="http://schemas.openxmlformats.org/drawingml/2006/main">
              <a:ext uri="{FF2B5EF4-FFF2-40B4-BE49-F238E27FC236}">
                <a16:creationId xmlns:a16="http://schemas.microsoft.com/office/drawing/2014/main" id="{6FC273BE-C8DD-4B82-9F49-7FF3688DCFF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C3A892C-AD39-40C6-BA8F-0B96BEFD071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1 is a shorter spelling for that numeric update. Similarly, total += reading means total = total + reading.</a:t>
            </a:r>
          </a:p>
        </p:txBody>
      </p:sp>
      <p:sp>
        <p:nvSpPr>
          <p:cNvPr id="8" name="">
            <a:extLst xmlns:a="http://schemas.openxmlformats.org/drawingml/2006/main">
              <a:ext uri="{FF2B5EF4-FFF2-40B4-BE49-F238E27FC236}">
                <a16:creationId xmlns:a16="http://schemas.microsoft.com/office/drawing/2014/main" id="{0E818AF3-21D9-4E87-AB2B-4CE8B0DF754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E9AB321-9F7E-4391-840E-113AD0BE1BA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initial value belongs outside the loop. Resetting count to zero inside every iteration loses the earlier count.</a:t>
            </a:r>
          </a:p>
        </p:txBody>
      </p:sp>
      <p:sp>
        <p:nvSpPr>
          <p:cNvPr id="10" name="">
            <a:extLst xmlns:a="http://schemas.openxmlformats.org/drawingml/2006/main">
              <a:ext uri="{FF2B5EF4-FFF2-40B4-BE49-F238E27FC236}">
                <a16:creationId xmlns:a16="http://schemas.microsoft.com/office/drawing/2014/main" id="{B0EE336D-6F1B-4BB5-AF02-5659FAEBDA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14</a:t>
            </a:r>
          </a:p>
        </p:txBody>
      </p:sp>
    </p:spTree>
    <p:extLst>
      <p:ext uri="{BB962C8B-B14F-4D97-AF65-F5344CB8AC3E}">
        <p14:creationId xmlns:p14="http://schemas.microsoft.com/office/powerpoint/2010/main" val="90979902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BD838FB-6F30-40EF-A1B7-EF034785E6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AB0A5CC-9129-4DD3-AAC6-AE3BBF90DD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3DE2A3B-33D8-4762-95EB-053EFA00B1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the visited items</a:t>
            </a:r>
          </a:p>
        </p:txBody>
      </p:sp>
      <p:sp>
        <p:nvSpPr>
          <p:cNvPr id="4" name="">
            <a:extLst xmlns:a="http://schemas.openxmlformats.org/drawingml/2006/main">
              <a:ext uri="{FF2B5EF4-FFF2-40B4-BE49-F238E27FC236}">
                <a16:creationId xmlns:a16="http://schemas.microsoft.com/office/drawing/2014/main" id="{E1AC6816-593B-4001-B7B2-503D8D8831A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2899FA1-F8EA-40E6-80D3-F910007601F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p:txBody>
      </p:sp>
      <p:sp>
        <p:nvSpPr>
          <p:cNvPr id="6" name="">
            <a:extLst xmlns:a="http://schemas.openxmlformats.org/drawingml/2006/main">
              <a:ext uri="{FF2B5EF4-FFF2-40B4-BE49-F238E27FC236}">
                <a16:creationId xmlns:a16="http://schemas.microsoft.com/office/drawing/2014/main" id="{6F386D9B-233A-4629-83EA-C28E42F2AD9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B39CDC7-73F7-41F5-B76C-9CA0BEE919C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Updates: 0 to 1, 1 to 2, then 2 to 3.</a:t>
            </a:r>
          </a:p>
        </p:txBody>
      </p:sp>
      <p:sp>
        <p:nvSpPr>
          <p:cNvPr id="8" name="">
            <a:extLst xmlns:a="http://schemas.openxmlformats.org/drawingml/2006/main">
              <a:ext uri="{FF2B5EF4-FFF2-40B4-BE49-F238E27FC236}">
                <a16:creationId xmlns:a16="http://schemas.microsoft.com/office/drawing/2014/main" id="{097135A7-3E49-4382-BB13-FB7DCCF39A4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3</a:t>
            </a:r>
          </a:p>
        </p:txBody>
      </p:sp>
      <p:sp>
        <p:nvSpPr>
          <p:cNvPr id="9" name="">
            <a:extLst xmlns:a="http://schemas.openxmlformats.org/drawingml/2006/main">
              <a:ext uri="{FF2B5EF4-FFF2-40B4-BE49-F238E27FC236}">
                <a16:creationId xmlns:a16="http://schemas.microsoft.com/office/drawing/2014/main" id="{5D6BE745-350E-4EDC-971D-12F2879FE8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15</a:t>
            </a:r>
          </a:p>
        </p:txBody>
      </p:sp>
    </p:spTree>
    <p:extLst>
      <p:ext uri="{BB962C8B-B14F-4D97-AF65-F5344CB8AC3E}">
        <p14:creationId xmlns:p14="http://schemas.microsoft.com/office/powerpoint/2010/main" val="177906455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3FB3662-94F9-4F85-B539-46EDA8F0E5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EF32DCC-9022-4FD9-BF1B-3D08CC1AC3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E23F977-7E1F-44B3-8D16-77BC91134C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Accumulator</a:t>
            </a:r>
          </a:p>
        </p:txBody>
      </p:sp>
      <p:sp>
        <p:nvSpPr>
          <p:cNvPr id="4" name="">
            <a:extLst xmlns:a="http://schemas.openxmlformats.org/drawingml/2006/main">
              <a:ext uri="{FF2B5EF4-FFF2-40B4-BE49-F238E27FC236}">
                <a16:creationId xmlns:a16="http://schemas.microsoft.com/office/drawing/2014/main" id="{DCF41E53-0CB1-411A-8FF4-7B5565A74285}"/>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35583CC-2A77-4C4C-8DD5-D6E112D98731}"/>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Accumulator</a:t>
            </a:r>
          </a:p>
        </p:txBody>
      </p:sp>
      <p:sp>
        <p:nvSpPr>
          <p:cNvPr id="6" name="">
            <a:extLst xmlns:a="http://schemas.openxmlformats.org/drawingml/2006/main">
              <a:ext uri="{FF2B5EF4-FFF2-40B4-BE49-F238E27FC236}">
                <a16:creationId xmlns:a16="http://schemas.microsoft.com/office/drawing/2014/main" id="{841E3463-E100-4762-ABAF-BC82B546612A}"/>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running total. Set it to zero before the loop, add inside the loop, and read the final total afterward.</a:t>
            </a:r>
          </a:p>
        </p:txBody>
      </p:sp>
      <p:sp>
        <p:nvSpPr>
          <p:cNvPr id="7" name="">
            <a:extLst xmlns:a="http://schemas.openxmlformats.org/drawingml/2006/main">
              <a:ext uri="{FF2B5EF4-FFF2-40B4-BE49-F238E27FC236}">
                <a16:creationId xmlns:a16="http://schemas.microsoft.com/office/drawing/2014/main" id="{ECB430BC-3418-4FBB-AB3E-79D9104933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16</a:t>
            </a:r>
          </a:p>
        </p:txBody>
      </p:sp>
    </p:spTree>
    <p:extLst>
      <p:ext uri="{BB962C8B-B14F-4D97-AF65-F5344CB8AC3E}">
        <p14:creationId xmlns:p14="http://schemas.microsoft.com/office/powerpoint/2010/main" val="207293627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D9A6EA6-C950-439F-BD90-D565D1157E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5359DCB-3AD7-42CC-B049-8247D3827D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FFCB927-E789-4002-A933-3DD515A8AD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loop repeats an indented block</a:t>
            </a:r>
          </a:p>
        </p:txBody>
      </p:sp>
      <p:sp>
        <p:nvSpPr>
          <p:cNvPr id="4" name="">
            <a:extLst xmlns:a="http://schemas.openxmlformats.org/drawingml/2006/main">
              <a:ext uri="{FF2B5EF4-FFF2-40B4-BE49-F238E27FC236}">
                <a16:creationId xmlns:a16="http://schemas.microsoft.com/office/drawing/2014/main" id="{21719BB6-62CC-4758-93AE-E1343B6E231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1EF7AE6-4549-43C6-9179-1F5C01E1FC0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reading in readings: takes one item at a time.</a:t>
            </a:r>
          </a:p>
        </p:txBody>
      </p:sp>
      <p:sp>
        <p:nvSpPr>
          <p:cNvPr id="6" name="">
            <a:extLst xmlns:a="http://schemas.openxmlformats.org/drawingml/2006/main">
              <a:ext uri="{FF2B5EF4-FFF2-40B4-BE49-F238E27FC236}">
                <a16:creationId xmlns:a16="http://schemas.microsoft.com/office/drawing/2014/main" id="{436370B2-DFFC-49A0-A6C2-2F55616971B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E8E9DB2-0C07-465B-BBD6-5D275FEDB28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colon starts the block. Four spaces show which lines repeat.</a:t>
            </a:r>
          </a:p>
        </p:txBody>
      </p:sp>
      <p:sp>
        <p:nvSpPr>
          <p:cNvPr id="8" name="">
            <a:extLst xmlns:a="http://schemas.openxmlformats.org/drawingml/2006/main">
              <a:ext uri="{FF2B5EF4-FFF2-40B4-BE49-F238E27FC236}">
                <a16:creationId xmlns:a16="http://schemas.microsoft.com/office/drawing/2014/main" id="{3E3A88B2-6B4A-45C2-8EBF-BA559FB7111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3A615DD-726B-4A66-AFAD-F318B87636A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running total must start at zero before the loop.</a:t>
            </a:r>
          </a:p>
        </p:txBody>
      </p:sp>
      <p:sp>
        <p:nvSpPr>
          <p:cNvPr id="10" name="">
            <a:extLst xmlns:a="http://schemas.openxmlformats.org/drawingml/2006/main">
              <a:ext uri="{FF2B5EF4-FFF2-40B4-BE49-F238E27FC236}">
                <a16:creationId xmlns:a16="http://schemas.microsoft.com/office/drawing/2014/main" id="{C9EE835C-39F6-459E-BD96-9D9373FF48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17</a:t>
            </a:r>
          </a:p>
        </p:txBody>
      </p:sp>
    </p:spTree>
    <p:extLst>
      <p:ext uri="{BB962C8B-B14F-4D97-AF65-F5344CB8AC3E}">
        <p14:creationId xmlns:p14="http://schemas.microsoft.com/office/powerpoint/2010/main" val="13735710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347F69A-8DB5-42FD-A1CC-723C33F9CF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C031F6F-4032-421C-822B-9D8E93C8CC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6D2EB17-CF55-457C-A855-DDAD356DD1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mean uses a total and a count</a:t>
            </a:r>
          </a:p>
        </p:txBody>
      </p:sp>
      <p:sp>
        <p:nvSpPr>
          <p:cNvPr id="4" name="">
            <a:extLst xmlns:a="http://schemas.openxmlformats.org/drawingml/2006/main">
              <a:ext uri="{FF2B5EF4-FFF2-40B4-BE49-F238E27FC236}">
                <a16:creationId xmlns:a16="http://schemas.microsoft.com/office/drawing/2014/main" id="{AD61D5C6-1AFE-44DB-8BDF-4F92F5E458F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D13C79B-B461-4337-8ECE-8F836EEFE14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Start the total at 0. Add 2, then 4, then 6.</a:t>
            </a:r>
          </a:p>
        </p:txBody>
      </p:sp>
      <p:sp>
        <p:nvSpPr>
          <p:cNvPr id="6" name="">
            <a:extLst xmlns:a="http://schemas.openxmlformats.org/drawingml/2006/main">
              <a:ext uri="{FF2B5EF4-FFF2-40B4-BE49-F238E27FC236}">
                <a16:creationId xmlns:a16="http://schemas.microsoft.com/office/drawing/2014/main" id="{EF147BF7-FBA0-46E7-95A9-02F683CAF23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C0D2DDA-5532-4200-A236-ED09C4CCB49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final total is 12. The count is 3.</a:t>
            </a:r>
          </a:p>
        </p:txBody>
      </p:sp>
      <p:sp>
        <p:nvSpPr>
          <p:cNvPr id="8" name="">
            <a:extLst xmlns:a="http://schemas.openxmlformats.org/drawingml/2006/main">
              <a:ext uri="{FF2B5EF4-FFF2-40B4-BE49-F238E27FC236}">
                <a16:creationId xmlns:a16="http://schemas.microsoft.com/office/drawing/2014/main" id="{8F0B8238-9ACE-4150-80F4-692B1D12885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E63CE90-D72B-432F-8734-4A31EBA30E5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12 / 3 gives the mean 4. An empty list needs a separate rule.</a:t>
            </a:r>
          </a:p>
        </p:txBody>
      </p:sp>
      <p:sp>
        <p:nvSpPr>
          <p:cNvPr id="10" name="">
            <a:extLst xmlns:a="http://schemas.openxmlformats.org/drawingml/2006/main">
              <a:ext uri="{FF2B5EF4-FFF2-40B4-BE49-F238E27FC236}">
                <a16:creationId xmlns:a16="http://schemas.microsoft.com/office/drawing/2014/main" id="{0A7858B0-8129-4D96-A685-3CD0D341E7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18</a:t>
            </a:r>
          </a:p>
        </p:txBody>
      </p:sp>
    </p:spTree>
    <p:extLst>
      <p:ext uri="{BB962C8B-B14F-4D97-AF65-F5344CB8AC3E}">
        <p14:creationId xmlns:p14="http://schemas.microsoft.com/office/powerpoint/2010/main" val="120769572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A46EC8C-A7BA-4B5C-B6BF-8975DF58D909}"/>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B7317C4-AAF9-4863-8785-81D00FF12730}"/>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loop changes the running total</a:t>
            </a:r>
          </a:p>
        </p:txBody>
      </p:sp>
      <p:pic>
        <p:nvPicPr>
          <p:cNvPr id="3" name="">
            <a:extLst xmlns:a="http://schemas.openxmlformats.org/drawingml/2006/main">
              <a:ext uri="{FF2B5EF4-FFF2-40B4-BE49-F238E27FC236}">
                <a16:creationId xmlns:a16="http://schemas.microsoft.com/office/drawing/2014/main" id="{EEC002E6-887C-446E-8B14-CEFB3D704DC5}"/>
              </a:ext>
            </a:extLst>
          </p:cNvPr>
          <p:cNvPicPr>
            <a:picLocks xmlns:a="http://schemas.openxmlformats.org/drawingml/2006/main" noChangeAspect="1"/>
          </p:cNvPicPr>
          <p:nvPr/>
        </p:nvPicPr>
        <p:blipFill>
          <a:blip xmlns:r="http://schemas.openxmlformats.org/officeDocument/2006/relationships" xmlns:a="http://schemas.openxmlformats.org/drawingml/2006/main" r:embed="Rbffb327bff1f4571"/>
          <a:stretch xmlns:a="http://schemas.openxmlformats.org/drawingml/2006/main"/>
        </p:blipFill>
        <p:spPr>
          <a:xfrm xmlns:a="http://schemas.openxmlformats.org/drawingml/2006/main">
            <a:off x="413728" y="1057275"/>
            <a:ext cx="11364544"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A51D4A58-4908-42D7-9342-FD7D052F5E1E}"/>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4DA83B3-3E26-4C50-9B01-A4FD5E76A0F4}"/>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This illustration uses six separate readings. Next we trace the smaller list [2, 4, 6] using the same running-total rule.</a:t>
            </a:r>
          </a:p>
        </p:txBody>
      </p:sp>
      <p:sp>
        <p:nvSpPr>
          <p:cNvPr id="6" name="">
            <a:extLst xmlns:a="http://schemas.openxmlformats.org/drawingml/2006/main">
              <a:ext uri="{FF2B5EF4-FFF2-40B4-BE49-F238E27FC236}">
                <a16:creationId xmlns:a16="http://schemas.microsoft.com/office/drawing/2014/main" id="{713F7A27-B191-4A3E-BCA7-A91CD7C34B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19</a:t>
            </a:r>
          </a:p>
        </p:txBody>
      </p:sp>
    </p:spTree>
    <p:extLst>
      <p:ext uri="{BB962C8B-B14F-4D97-AF65-F5344CB8AC3E}">
        <p14:creationId xmlns:p14="http://schemas.microsoft.com/office/powerpoint/2010/main" val="129856922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CACCA98-A0C4-4706-8B1B-AEF43E6BF5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0C91FE4-5A31-4D47-9533-9B8CE88605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A0F0BF0-B936-43C5-BF16-E38D747D36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the loop</a:t>
            </a:r>
          </a:p>
        </p:txBody>
      </p:sp>
      <p:graphicFrame>
        <p:nvGraphicFramePr>
          <p:cNvPr id="4" name="">
            <a:extLst xmlns:a="http://schemas.openxmlformats.org/drawingml/2006/main">
              <a:ext uri="{FF2B5EF4-FFF2-40B4-BE49-F238E27FC236}">
                <a16:creationId xmlns:a16="http://schemas.microsoft.com/office/drawing/2014/main" id="{A5C8C118-D79D-408E-B8DA-9C5CD4783D19}"/>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total after addition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Before loop</a:t>
                      </a:r>
                    </a:p>
                  </a:txBody>
                  <a:tcPr marL="91440" marR="91440" marT="45720" marB="45720">
                    <a:solidFill>
                      <a:srgbClr val="EEF3F6"/>
                    </a:solidFill>
                  </a:tcPr>
                </a:tc>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First</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Second</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Third</a:t>
                      </a:r>
                    </a:p>
                  </a:txBody>
                  <a:tcPr marL="91440" marR="91440" marT="45720" marB="45720">
                    <a:solidFill>
                      <a:srgbClr val="FFFFFF"/>
                    </a:solidFill>
                  </a:tcPr>
                </a:tc>
                <a:tc>
                  <a:txBody>
                    <a:bodyPr/>
                    <a:lstStyle/>
                    <a:p>
                      <a:r>
                        <a:rPr sz="2025" b="0">
                          <a:solidFill>
                            <a:srgbClr val="1C3144"/>
                          </a:solidFill>
                          <a:latin typeface="Calibri"/>
                          <a:ea typeface="Calibri"/>
                          <a:cs typeface="Calibri"/>
                        </a:rPr>
                        <a:t>6</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B2FB926-FB3C-44B7-AA18-97FC7A2D172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There are three readings.</a:t>
            </a:r>
          </a:p>
        </p:txBody>
      </p:sp>
      <p:sp>
        <p:nvSpPr>
          <p:cNvPr id="6" name="">
            <a:extLst xmlns:a="http://schemas.openxmlformats.org/drawingml/2006/main">
              <a:ext uri="{FF2B5EF4-FFF2-40B4-BE49-F238E27FC236}">
                <a16:creationId xmlns:a16="http://schemas.microsoft.com/office/drawing/2014/main" id="{0D20D128-2798-456C-8CF1-DE719BF739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20</a:t>
            </a:r>
          </a:p>
        </p:txBody>
      </p:sp>
    </p:spTree>
    <p:extLst>
      <p:ext uri="{BB962C8B-B14F-4D97-AF65-F5344CB8AC3E}">
        <p14:creationId xmlns:p14="http://schemas.microsoft.com/office/powerpoint/2010/main" val="60501257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71C4BB2-1F68-4B4F-8BFD-D1982A0405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569077E-06AD-429E-A0E4-C4EE6B795D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89D27FE-3BD5-4F3B-9442-81405FC3E8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loops and records in Python</a:t>
            </a:r>
          </a:p>
        </p:txBody>
      </p:sp>
      <p:sp>
        <p:nvSpPr>
          <p:cNvPr id="4" name="">
            <a:extLst xmlns:a="http://schemas.openxmlformats.org/drawingml/2006/main">
              <a:ext uri="{FF2B5EF4-FFF2-40B4-BE49-F238E27FC236}">
                <a16:creationId xmlns:a16="http://schemas.microsoft.com/office/drawing/2014/main" id="{AC48933B-C735-422E-934C-6378EF23972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D6B13DA-C4D1-456F-A17F-DDB306B4FC7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 =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 = total + 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 = total / 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print(mean)</a:t>
            </a:r>
          </a:p>
        </p:txBody>
      </p:sp>
      <p:sp>
        <p:nvSpPr>
          <p:cNvPr id="6" name="">
            <a:extLst xmlns:a="http://schemas.openxmlformats.org/drawingml/2006/main">
              <a:ext uri="{FF2B5EF4-FFF2-40B4-BE49-F238E27FC236}">
                <a16:creationId xmlns:a16="http://schemas.microsoft.com/office/drawing/2014/main" id="{A3769776-CC21-4836-99CC-2E537AD86F0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2CBEC81-33CB-488D-8C7D-C87F60C2ADF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2EEBA9F4-98E0-4250-A45C-C648C7CADD8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37BF83B3-8A89-406D-A8DA-80183638EEA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EE2F4722-9EFD-41BF-90D8-6D33B485EDC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C39020FC-E242-4D76-AF5A-89ED9C0D87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21</a:t>
            </a:r>
          </a:p>
        </p:txBody>
      </p:sp>
    </p:spTree>
    <p:extLst>
      <p:ext uri="{BB962C8B-B14F-4D97-AF65-F5344CB8AC3E}">
        <p14:creationId xmlns:p14="http://schemas.microsoft.com/office/powerpoint/2010/main" val="169328028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C0E44E6-4B59-426B-AEA5-444FF0F3E0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ABE8D77-5906-4CCE-8D63-043877AABA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1D4C2DFD-623E-48E6-A7B4-1D85288470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loops and records results</a:t>
            </a:r>
          </a:p>
        </p:txBody>
      </p:sp>
      <p:sp>
        <p:nvSpPr>
          <p:cNvPr id="4" name="">
            <a:extLst xmlns:a="http://schemas.openxmlformats.org/drawingml/2006/main">
              <a:ext uri="{FF2B5EF4-FFF2-40B4-BE49-F238E27FC236}">
                <a16:creationId xmlns:a16="http://schemas.microsoft.com/office/drawing/2014/main" id="{16214572-3EE1-4E2F-BF38-EB7EF8FFFF6F}"/>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9F4DA9F-92E8-4E4A-8611-83AF6504E5EB}"/>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0">
                <a:solidFill>
                  <a:srgbClr val="2E7D6F"/>
                </a:solidFill>
                <a:latin typeface="Courier New"/>
                <a:ea typeface="Courier New"/>
                <a:cs typeface="Courier New"/>
              </a:defRPr>
            </a:defPPr>
            <a:lvl1pPr>
              <a:defRPr sz="3150" b="0">
                <a:solidFill>
                  <a:srgbClr val="2E7D6F"/>
                </a:solidFill>
                <a:latin typeface="Courier New"/>
                <a:ea typeface="Courier New"/>
                <a:cs typeface="Courier New"/>
              </a:defRPr>
            </a:lvl1pPr>
            <a:lvl2pPr>
              <a:defRPr sz="3150" b="0">
                <a:solidFill>
                  <a:srgbClr val="2E7D6F"/>
                </a:solidFill>
                <a:latin typeface="Courier New"/>
                <a:ea typeface="Courier New"/>
                <a:cs typeface="Courier New"/>
              </a:defRPr>
            </a:lvl2pPr>
            <a:lvl3pPr>
              <a:defRPr sz="3150" b="0">
                <a:solidFill>
                  <a:srgbClr val="2E7D6F"/>
                </a:solidFill>
                <a:latin typeface="Courier New"/>
                <a:ea typeface="Courier New"/>
                <a:cs typeface="Courier New"/>
              </a:defRPr>
            </a:lvl3pPr>
            <a:lvl4pPr>
              <a:defRPr sz="3150" b="0">
                <a:solidFill>
                  <a:srgbClr val="2E7D6F"/>
                </a:solidFill>
                <a:latin typeface="Courier New"/>
                <a:ea typeface="Courier New"/>
                <a:cs typeface="Courier New"/>
              </a:defRPr>
            </a:lvl4pPr>
            <a:lvl5pPr>
              <a:defRPr sz="3150" b="0">
                <a:solidFill>
                  <a:srgbClr val="2E7D6F"/>
                </a:solidFill>
                <a:latin typeface="Courier New"/>
                <a:ea typeface="Courier New"/>
                <a:cs typeface="Courier New"/>
              </a:defRPr>
            </a:lvl5pPr>
            <a:lvl6pPr>
              <a:defRPr sz="3150" b="0">
                <a:solidFill>
                  <a:srgbClr val="2E7D6F"/>
                </a:solidFill>
                <a:latin typeface="Courier New"/>
                <a:ea typeface="Courier New"/>
                <a:cs typeface="Courier New"/>
              </a:defRPr>
            </a:lvl6pPr>
            <a:lvl7pPr>
              <a:defRPr sz="3150" b="0">
                <a:solidFill>
                  <a:srgbClr val="2E7D6F"/>
                </a:solidFill>
                <a:latin typeface="Courier New"/>
                <a:ea typeface="Courier New"/>
                <a:cs typeface="Courier New"/>
              </a:defRPr>
            </a:lvl7pPr>
            <a:lvl8pPr>
              <a:defRPr sz="3150" b="0">
                <a:solidFill>
                  <a:srgbClr val="2E7D6F"/>
                </a:solidFill>
                <a:latin typeface="Courier New"/>
                <a:ea typeface="Courier New"/>
                <a:cs typeface="Courier New"/>
              </a:defRPr>
            </a:lvl8pPr>
            <a:lvl9pPr>
              <a:defRPr sz="3150" b="0">
                <a:solidFill>
                  <a:srgbClr val="2E7D6F"/>
                </a:solidFill>
                <a:latin typeface="Courier New"/>
                <a:ea typeface="Courier New"/>
                <a:cs typeface="Courier New"/>
              </a:defRPr>
            </a:lvl9pPr>
          </a:lstStyle>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4.0</a:t>
            </a:r>
          </a:p>
        </p:txBody>
      </p:sp>
      <p:sp>
        <p:nvSpPr>
          <p:cNvPr id="6" name="">
            <a:extLst xmlns:a="http://schemas.openxmlformats.org/drawingml/2006/main">
              <a:ext uri="{FF2B5EF4-FFF2-40B4-BE49-F238E27FC236}">
                <a16:creationId xmlns:a16="http://schemas.microsoft.com/office/drawing/2014/main" id="{6E225869-6E18-4198-B56D-E2A92B17E926}"/>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6E8D7444-AF0C-450D-97FD-58234D4B54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22</a:t>
            </a:r>
          </a:p>
        </p:txBody>
      </p:sp>
    </p:spTree>
    <p:extLst>
      <p:ext uri="{BB962C8B-B14F-4D97-AF65-F5344CB8AC3E}">
        <p14:creationId xmlns:p14="http://schemas.microsoft.com/office/powerpoint/2010/main" val="144151658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5B1AF94-D49D-4275-8F2A-7DC05AD734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76F6FC6-A61C-461A-BE6C-5E1DF96F8C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C4AD487-3056-44E2-81AB-A9FD5140E1A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built-in summary functions</a:t>
            </a:r>
          </a:p>
        </p:txBody>
      </p:sp>
      <p:graphicFrame>
        <p:nvGraphicFramePr>
          <p:cNvPr id="4" name="">
            <a:extLst xmlns:a="http://schemas.openxmlformats.org/drawingml/2006/main">
              <a:ext uri="{FF2B5EF4-FFF2-40B4-BE49-F238E27FC236}">
                <a16:creationId xmlns:a16="http://schemas.microsoft.com/office/drawing/2014/main" id="{B7D60091-BE03-4853-826F-54B3EB961190}"/>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Function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 it answers</a:t>
                      </a:r>
                    </a:p>
                  </a:txBody>
                  <a:tcPr marL="91440" marR="91440" marT="45720" marB="45720">
                    <a:solidFill>
                      <a:srgbClr val="2E7D6F"/>
                    </a:solidFill>
                  </a:tcPr>
                </a:tc>
                <a:tc>
                  <a:txBody>
                    <a:bodyPr/>
                    <a:lstStyle/>
                    <a:p>
                      <a:r>
                        <a:rPr sz="2025" b="1">
                          <a:solidFill>
                            <a:srgbClr val="FFFFFF"/>
                          </a:solidFill>
                          <a:latin typeface="Calibri"/>
                          <a:ea typeface="Calibri"/>
                          <a:cs typeface="Calibri"/>
                        </a:rPr>
                        <a:t>For [2, 4, 6]</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len</a:t>
                      </a:r>
                    </a:p>
                  </a:txBody>
                  <a:tcPr marL="91440" marR="91440" marT="45720" marB="45720">
                    <a:solidFill>
                      <a:srgbClr val="EEF3F6"/>
                    </a:solidFill>
                  </a:tcPr>
                </a:tc>
                <a:tc>
                  <a:txBody>
                    <a:bodyPr/>
                    <a:lstStyle/>
                    <a:p>
                      <a:r>
                        <a:rPr sz="2025" b="0">
                          <a:solidFill>
                            <a:srgbClr val="1C3144"/>
                          </a:solidFill>
                          <a:latin typeface="Calibri"/>
                          <a:ea typeface="Calibri"/>
                          <a:cs typeface="Calibri"/>
                        </a:rPr>
                        <a:t>How many items?</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sum</a:t>
                      </a:r>
                    </a:p>
                  </a:txBody>
                  <a:tcPr marL="91440" marR="91440" marT="45720" marB="45720">
                    <a:solidFill>
                      <a:srgbClr val="FFFFFF"/>
                    </a:solidFill>
                  </a:tcPr>
                </a:tc>
                <a:tc>
                  <a:txBody>
                    <a:bodyPr/>
                    <a:lstStyle/>
                    <a:p>
                      <a:r>
                        <a:rPr sz="2025" b="0">
                          <a:solidFill>
                            <a:srgbClr val="1C3144"/>
                          </a:solidFill>
                          <a:latin typeface="Calibri"/>
                          <a:ea typeface="Calibri"/>
                          <a:cs typeface="Calibri"/>
                        </a:rPr>
                        <a:t>What is their total?</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min</a:t>
                      </a:r>
                    </a:p>
                  </a:txBody>
                  <a:tcPr marL="91440" marR="91440" marT="45720" marB="45720">
                    <a:solidFill>
                      <a:srgbClr val="EEF3F6"/>
                    </a:solidFill>
                  </a:tcPr>
                </a:tc>
                <a:tc>
                  <a:txBody>
                    <a:bodyPr/>
                    <a:lstStyle/>
                    <a:p>
                      <a:r>
                        <a:rPr sz="2025" b="0">
                          <a:solidFill>
                            <a:srgbClr val="1C3144"/>
                          </a:solidFill>
                          <a:latin typeface="Calibri"/>
                          <a:ea typeface="Calibri"/>
                          <a:cs typeface="Calibri"/>
                        </a:rPr>
                        <a:t>Which is smallest?</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max</a:t>
                      </a:r>
                    </a:p>
                  </a:txBody>
                  <a:tcPr marL="91440" marR="91440" marT="45720" marB="45720">
                    <a:solidFill>
                      <a:srgbClr val="FFFFFF"/>
                    </a:solidFill>
                  </a:tcPr>
                </a:tc>
                <a:tc>
                  <a:txBody>
                    <a:bodyPr/>
                    <a:lstStyle/>
                    <a:p>
                      <a:r>
                        <a:rPr sz="2025" b="0">
                          <a:solidFill>
                            <a:srgbClr val="1C3144"/>
                          </a:solidFill>
                          <a:latin typeface="Calibri"/>
                          <a:ea typeface="Calibri"/>
                          <a:cs typeface="Calibri"/>
                        </a:rPr>
                        <a:t>Which is largest?</a:t>
                      </a:r>
                    </a:p>
                  </a:txBody>
                  <a:tcPr marL="91440" marR="91440" marT="45720" marB="45720">
                    <a:solidFill>
                      <a:srgbClr val="FFFFFF"/>
                    </a:solidFill>
                  </a:tcPr>
                </a:tc>
                <a:tc>
                  <a:txBody>
                    <a:bodyPr/>
                    <a:lstStyle/>
                    <a:p>
                      <a:r>
                        <a:rPr sz="2025" b="0">
                          <a:solidFill>
                            <a:srgbClr val="1C3144"/>
                          </a:solidFill>
                          <a:latin typeface="Calibri"/>
                          <a:ea typeface="Calibri"/>
                          <a:cs typeface="Calibri"/>
                        </a:rPr>
                        <a:t>6</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5958468-527B-4093-852D-CE95F1D00C2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These functions already exist in Python. min and max need at least one item unless an explicit default is supplied.</a:t>
            </a:r>
          </a:p>
        </p:txBody>
      </p:sp>
      <p:sp>
        <p:nvSpPr>
          <p:cNvPr id="6" name="">
            <a:extLst xmlns:a="http://schemas.openxmlformats.org/drawingml/2006/main">
              <a:ext uri="{FF2B5EF4-FFF2-40B4-BE49-F238E27FC236}">
                <a16:creationId xmlns:a16="http://schemas.microsoft.com/office/drawing/2014/main" id="{44015FB6-99FA-41B7-9F46-BDCD119D1E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23</a:t>
            </a:r>
          </a:p>
        </p:txBody>
      </p:sp>
    </p:spTree>
    <p:extLst>
      <p:ext uri="{BB962C8B-B14F-4D97-AF65-F5344CB8AC3E}">
        <p14:creationId xmlns:p14="http://schemas.microsoft.com/office/powerpoint/2010/main" val="98370664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D592B89-4A27-42F1-9803-F413614A33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519B944-02D7-4DED-89CF-DD1789DF44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3F66B36-BBF7-4303-B389-DFEFB9BE96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Built-in summaries of a list</a:t>
            </a:r>
          </a:p>
        </p:txBody>
      </p:sp>
      <p:sp>
        <p:nvSpPr>
          <p:cNvPr id="4" name="">
            <a:extLst xmlns:a="http://schemas.openxmlformats.org/drawingml/2006/main">
              <a:ext uri="{FF2B5EF4-FFF2-40B4-BE49-F238E27FC236}">
                <a16:creationId xmlns:a16="http://schemas.microsoft.com/office/drawing/2014/main" id="{1D3EEE6A-B81F-4EAF-9389-74570AF8802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DFCA55C-6A5D-410B-99EA-6492A056982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print(min(readings))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print(max(readings))</a:t>
            </a:r>
          </a:p>
        </p:txBody>
      </p:sp>
      <p:sp>
        <p:nvSpPr>
          <p:cNvPr id="6" name="">
            <a:extLst xmlns:a="http://schemas.openxmlformats.org/drawingml/2006/main">
              <a:ext uri="{FF2B5EF4-FFF2-40B4-BE49-F238E27FC236}">
                <a16:creationId xmlns:a16="http://schemas.microsoft.com/office/drawing/2014/main" id="{3845189D-5762-41A0-8B2E-123B8B62E96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E579387-35E9-420F-9981-C68EBDFB6C8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These functions are built into Python.</a:t>
            </a:r>
          </a:p>
        </p:txBody>
      </p:sp>
      <p:sp>
        <p:nvSpPr>
          <p:cNvPr id="8" name="">
            <a:extLst xmlns:a="http://schemas.openxmlformats.org/drawingml/2006/main">
              <a:ext uri="{FF2B5EF4-FFF2-40B4-BE49-F238E27FC236}">
                <a16:creationId xmlns:a16="http://schemas.microsoft.com/office/drawing/2014/main" id="{05CCB9E6-FEA9-4F63-8473-BD388175DD9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min and max require a nonempty list here.</a:t>
            </a:r>
          </a:p>
        </p:txBody>
      </p:sp>
      <p:sp>
        <p:nvSpPr>
          <p:cNvPr id="9" name="">
            <a:extLst xmlns:a="http://schemas.openxmlformats.org/drawingml/2006/main">
              <a:ext uri="{FF2B5EF4-FFF2-40B4-BE49-F238E27FC236}">
                <a16:creationId xmlns:a16="http://schemas.microsoft.com/office/drawing/2014/main" id="{FD3B5C0B-8608-495E-A35E-D27FDEE8A02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12, 3, 2, 6. sum totals; len counts; min and max select the smallest and largest.</a:t>
            </a:r>
          </a:p>
        </p:txBody>
      </p:sp>
      <p:sp>
        <p:nvSpPr>
          <p:cNvPr id="10" name="">
            <a:extLst xmlns:a="http://schemas.openxmlformats.org/drawingml/2006/main">
              <a:ext uri="{FF2B5EF4-FFF2-40B4-BE49-F238E27FC236}">
                <a16:creationId xmlns:a16="http://schemas.microsoft.com/office/drawing/2014/main" id="{34B4BFF3-531F-4EC8-B67C-01B0DED8D4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24</a:t>
            </a:r>
          </a:p>
        </p:txBody>
      </p:sp>
    </p:spTree>
    <p:extLst>
      <p:ext uri="{BB962C8B-B14F-4D97-AF65-F5344CB8AC3E}">
        <p14:creationId xmlns:p14="http://schemas.microsoft.com/office/powerpoint/2010/main" val="155554647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AB1222C-A86C-4D15-8C2B-A5B542A868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5334DC2-CD4D-4131-B5C9-FC1130EF432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DE99458-603C-4CCF-BEDA-9A6EEFFB7A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while loop checks before each repetition</a:t>
            </a:r>
          </a:p>
        </p:txBody>
      </p:sp>
      <p:sp>
        <p:nvSpPr>
          <p:cNvPr id="4" name="">
            <a:extLst xmlns:a="http://schemas.openxmlformats.org/drawingml/2006/main">
              <a:ext uri="{FF2B5EF4-FFF2-40B4-BE49-F238E27FC236}">
                <a16:creationId xmlns:a16="http://schemas.microsoft.com/office/drawing/2014/main" id="{91B6E612-889B-4F6B-9A45-631BD9ADBB8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6F8D0A8-E063-4D75-AA85-A8F3DF9EDD0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while count &lt; 3: tests the condition before entering its indented block. True enters the block; False skips it and continues after the loop.</a:t>
            </a:r>
          </a:p>
        </p:txBody>
      </p:sp>
      <p:sp>
        <p:nvSpPr>
          <p:cNvPr id="6" name="">
            <a:extLst xmlns:a="http://schemas.openxmlformats.org/drawingml/2006/main">
              <a:ext uri="{FF2B5EF4-FFF2-40B4-BE49-F238E27FC236}">
                <a16:creationId xmlns:a16="http://schemas.microsoft.com/office/drawing/2014/main" id="{66E22B0E-423F-43F5-AB33-7FAC2617523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CDA7CB8-7374-45CD-B1F8-ADFFB1CDA6E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At the end of the body, return to the condition and test again. Unlike for, while does not automatically move to the next list item.</a:t>
            </a:r>
          </a:p>
        </p:txBody>
      </p:sp>
      <p:sp>
        <p:nvSpPr>
          <p:cNvPr id="8" name="">
            <a:extLst xmlns:a="http://schemas.openxmlformats.org/drawingml/2006/main">
              <a:ext uri="{FF2B5EF4-FFF2-40B4-BE49-F238E27FC236}">
                <a16:creationId xmlns:a16="http://schemas.microsoft.com/office/drawing/2014/main" id="{2AB0F4F6-BEC6-4968-8433-51394B5AEFA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836F159-753B-4DAE-B8F2-743E3D4CB3C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Something must make the condition become False, or the loop may continue indefinitely. In our example, count increases on every iteration.</a:t>
            </a:r>
          </a:p>
        </p:txBody>
      </p:sp>
      <p:sp>
        <p:nvSpPr>
          <p:cNvPr id="10" name="">
            <a:extLst xmlns:a="http://schemas.openxmlformats.org/drawingml/2006/main">
              <a:ext uri="{FF2B5EF4-FFF2-40B4-BE49-F238E27FC236}">
                <a16:creationId xmlns:a16="http://schemas.microsoft.com/office/drawing/2014/main" id="{320127DB-9C27-4BD6-855B-B499620149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25</a:t>
            </a:r>
          </a:p>
        </p:txBody>
      </p:sp>
    </p:spTree>
    <p:extLst>
      <p:ext uri="{BB962C8B-B14F-4D97-AF65-F5344CB8AC3E}">
        <p14:creationId xmlns:p14="http://schemas.microsoft.com/office/powerpoint/2010/main" val="121433993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BE0BC2A-520E-4F9E-A613-D127B363EF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6A81381-59B2-46A4-8F45-E149FA911F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D1CB3CA-5D48-494F-A3F7-C4EA7E6985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while loop with a stopping condition</a:t>
            </a:r>
          </a:p>
        </p:txBody>
      </p:sp>
      <p:sp>
        <p:nvSpPr>
          <p:cNvPr id="4" name="">
            <a:extLst xmlns:a="http://schemas.openxmlformats.org/drawingml/2006/main">
              <a:ext uri="{FF2B5EF4-FFF2-40B4-BE49-F238E27FC236}">
                <a16:creationId xmlns:a16="http://schemas.microsoft.com/office/drawing/2014/main" id="{9E445BCC-2872-4A0D-8DD2-857B149DC0D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7CC5915-85E5-4F30-8764-246D2666CC3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while count &lt;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print(count)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print("finished")</a:t>
            </a:r>
          </a:p>
        </p:txBody>
      </p:sp>
      <p:sp>
        <p:nvSpPr>
          <p:cNvPr id="6" name="">
            <a:extLst xmlns:a="http://schemas.openxmlformats.org/drawingml/2006/main">
              <a:ext uri="{FF2B5EF4-FFF2-40B4-BE49-F238E27FC236}">
                <a16:creationId xmlns:a16="http://schemas.microsoft.com/office/drawing/2014/main" id="{887D6726-1E8F-45E8-8123-D58179C81D9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C2780EE-C372-4834-A6D1-F62CBA28D6B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Initialise, test, run the body, update, test again.</a:t>
            </a:r>
          </a:p>
        </p:txBody>
      </p:sp>
      <p:sp>
        <p:nvSpPr>
          <p:cNvPr id="8" name="">
            <a:extLst xmlns:a="http://schemas.openxmlformats.org/drawingml/2006/main">
              <a:ext uri="{FF2B5EF4-FFF2-40B4-BE49-F238E27FC236}">
                <a16:creationId xmlns:a16="http://schemas.microsoft.com/office/drawing/2014/main" id="{48AC0A6E-C544-40EA-9E64-F20F50E33F9E}"/>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When count becomes 3, the condition is False.</a:t>
            </a:r>
          </a:p>
        </p:txBody>
      </p:sp>
      <p:sp>
        <p:nvSpPr>
          <p:cNvPr id="9" name="">
            <a:extLst xmlns:a="http://schemas.openxmlformats.org/drawingml/2006/main">
              <a:ext uri="{FF2B5EF4-FFF2-40B4-BE49-F238E27FC236}">
                <a16:creationId xmlns:a16="http://schemas.microsoft.com/office/drawing/2014/main" id="{6BF521B1-89D8-4429-924F-B23402CA946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0; 1; 2; finished</a:t>
            </a:r>
          </a:p>
        </p:txBody>
      </p:sp>
      <p:sp>
        <p:nvSpPr>
          <p:cNvPr id="10" name="">
            <a:extLst xmlns:a="http://schemas.openxmlformats.org/drawingml/2006/main">
              <a:ext uri="{FF2B5EF4-FFF2-40B4-BE49-F238E27FC236}">
                <a16:creationId xmlns:a16="http://schemas.microsoft.com/office/drawing/2014/main" id="{16916A74-4BAD-4B90-997D-7CC4D6F6C3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26</a:t>
            </a:r>
          </a:p>
        </p:txBody>
      </p:sp>
    </p:spTree>
    <p:extLst>
      <p:ext uri="{BB962C8B-B14F-4D97-AF65-F5344CB8AC3E}">
        <p14:creationId xmlns:p14="http://schemas.microsoft.com/office/powerpoint/2010/main" val="67408498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134F9B0-01ED-47C8-92F6-7F923A05B9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61B396C-3F5B-4427-952A-4C1F92F206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9D8F0D17-47AF-4859-991A-6244767017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while condition and update</a:t>
            </a:r>
          </a:p>
        </p:txBody>
      </p:sp>
      <p:graphicFrame>
        <p:nvGraphicFramePr>
          <p:cNvPr id="4" name="">
            <a:extLst xmlns:a="http://schemas.openxmlformats.org/drawingml/2006/main">
              <a:ext uri="{FF2B5EF4-FFF2-40B4-BE49-F238E27FC236}">
                <a16:creationId xmlns:a16="http://schemas.microsoft.com/office/drawing/2014/main" id="{0516133B-1755-427B-A389-6DED6850AC0D}"/>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count before test</a:t>
                      </a:r>
                    </a:p>
                  </a:txBody>
                  <a:tcPr marL="91440" marR="91440" marT="45720" marB="45720">
                    <a:solidFill>
                      <a:srgbClr val="2E7D6F"/>
                    </a:solidFill>
                  </a:tcPr>
                </a:tc>
                <a:tc>
                  <a:txBody>
                    <a:bodyPr/>
                    <a:lstStyle/>
                    <a:p>
                      <a:r>
                        <a:rPr sz="2025" b="1">
                          <a:solidFill>
                            <a:srgbClr val="FFFFFF"/>
                          </a:solidFill>
                          <a:latin typeface="Calibri"/>
                          <a:ea typeface="Calibri"/>
                          <a:cs typeface="Calibri"/>
                        </a:rPr>
                        <a:t>count &lt; 3</a:t>
                      </a:r>
                    </a:p>
                  </a:txBody>
                  <a:tcPr marL="91440" marR="91440" marT="45720" marB="45720">
                    <a:solidFill>
                      <a:srgbClr val="2E7D6F"/>
                    </a:solidFill>
                  </a:tcPr>
                </a:tc>
                <a:tc>
                  <a:txBody>
                    <a:bodyPr/>
                    <a:lstStyle/>
                    <a:p>
                      <a:r>
                        <a:rPr sz="2025" b="1">
                          <a:solidFill>
                            <a:srgbClr val="FFFFFF"/>
                          </a:solidFill>
                          <a:latin typeface="Calibri"/>
                          <a:ea typeface="Calibri"/>
                          <a:cs typeface="Calibri"/>
                        </a:rPr>
                        <a:t>Body and next count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0; update to 1</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Print 1; update to 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 update to 3</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3</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Skip body; print finished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843554C-38FF-49FF-9B78-FD3CFEC8F1B9}"/>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If count starts at 3, the body runs zero times. The condition is tested first.</a:t>
            </a:r>
          </a:p>
        </p:txBody>
      </p:sp>
      <p:sp>
        <p:nvSpPr>
          <p:cNvPr id="6" name="">
            <a:extLst xmlns:a="http://schemas.openxmlformats.org/drawingml/2006/main">
              <a:ext uri="{FF2B5EF4-FFF2-40B4-BE49-F238E27FC236}">
                <a16:creationId xmlns:a16="http://schemas.microsoft.com/office/drawing/2014/main" id="{7507C7BA-B040-4ED1-AA28-D3F9DC09102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27</a:t>
            </a:r>
          </a:p>
        </p:txBody>
      </p:sp>
    </p:spTree>
    <p:extLst>
      <p:ext uri="{BB962C8B-B14F-4D97-AF65-F5344CB8AC3E}">
        <p14:creationId xmlns:p14="http://schemas.microsoft.com/office/powerpoint/2010/main" val="123820731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74C6194-0C62-40FE-94F4-71E6E1F55B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6205FC2-EDA1-4F20-A5BF-93F7D576DD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D28D25D-6B16-4FFD-9F82-CC6EF1D4EF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Preventing an endless loop</a:t>
            </a:r>
          </a:p>
        </p:txBody>
      </p:sp>
      <p:sp>
        <p:nvSpPr>
          <p:cNvPr id="4" name="">
            <a:extLst xmlns:a="http://schemas.openxmlformats.org/drawingml/2006/main">
              <a:ext uri="{FF2B5EF4-FFF2-40B4-BE49-F238E27FC236}">
                <a16:creationId xmlns:a16="http://schemas.microsoft.com/office/drawing/2014/main" id="{B47DBDBD-7BA5-47E8-91B2-74ED9EACB80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D0D4400-31EF-417A-8AB0-B1A2EC59906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update is missing, count remains 0. The question 0 &lt; 3 stays True, so the body keeps running.</a:t>
            </a:r>
          </a:p>
        </p:txBody>
      </p:sp>
      <p:sp>
        <p:nvSpPr>
          <p:cNvPr id="6" name="">
            <a:extLst xmlns:a="http://schemas.openxmlformats.org/drawingml/2006/main">
              <a:ext uri="{FF2B5EF4-FFF2-40B4-BE49-F238E27FC236}">
                <a16:creationId xmlns:a16="http://schemas.microsoft.com/office/drawing/2014/main" id="{ACA64CCF-08CB-4AA1-81E3-4DAC8887113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343CF3E-19E7-490C-9912-A6D2AC0CFD9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click the running cell’s stop button or use Runtime → Interrupt execution. Fix the condition or update before running again.</a:t>
            </a:r>
          </a:p>
        </p:txBody>
      </p:sp>
      <p:sp>
        <p:nvSpPr>
          <p:cNvPr id="8" name="">
            <a:extLst xmlns:a="http://schemas.openxmlformats.org/drawingml/2006/main">
              <a:ext uri="{FF2B5EF4-FFF2-40B4-BE49-F238E27FC236}">
                <a16:creationId xmlns:a16="http://schemas.microsoft.com/office/drawing/2014/main" id="{27FE9970-0E6C-4D78-8C6A-4EF59D2AFE9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D775A99-A608-4570-BA67-4FFA09D75B4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run an intentionally endless example. Trace the unchanged value on the slide to see why it would fail.</a:t>
            </a:r>
          </a:p>
        </p:txBody>
      </p:sp>
      <p:sp>
        <p:nvSpPr>
          <p:cNvPr id="10" name="">
            <a:extLst xmlns:a="http://schemas.openxmlformats.org/drawingml/2006/main">
              <a:ext uri="{FF2B5EF4-FFF2-40B4-BE49-F238E27FC236}">
                <a16:creationId xmlns:a16="http://schemas.microsoft.com/office/drawing/2014/main" id="{26D12BDD-4414-40F2-89A4-1239A64F76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28</a:t>
            </a:r>
          </a:p>
        </p:txBody>
      </p:sp>
    </p:spTree>
    <p:extLst>
      <p:ext uri="{BB962C8B-B14F-4D97-AF65-F5344CB8AC3E}">
        <p14:creationId xmlns:p14="http://schemas.microsoft.com/office/powerpoint/2010/main" val="28061309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A371BF5-F091-46C3-A6B5-BA545FE684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AC9A423-32C9-4F44-9720-249F31988C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DE0E42E-795B-4A9D-B045-C38C169CE0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Choosing if for or while</a:t>
            </a:r>
          </a:p>
        </p:txBody>
      </p:sp>
      <p:graphicFrame>
        <p:nvGraphicFramePr>
          <p:cNvPr id="4" name="">
            <a:extLst xmlns:a="http://schemas.openxmlformats.org/drawingml/2006/main">
              <a:ext uri="{FF2B5EF4-FFF2-40B4-BE49-F238E27FC236}">
                <a16:creationId xmlns:a16="http://schemas.microsoft.com/office/drawing/2014/main" id="{2BA4CE95-9ECD-48A3-8028-C0FF8EEFD381}"/>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Construct</a:t>
                      </a:r>
                    </a:p>
                  </a:txBody>
                  <a:tcPr marL="91440" marR="91440" marT="45720" marB="45720">
                    <a:solidFill>
                      <a:srgbClr val="2E7D6F"/>
                    </a:solidFill>
                  </a:tcPr>
                </a:tc>
                <a:tc>
                  <a:txBody>
                    <a:bodyPr/>
                    <a:lstStyle/>
                    <a:p>
                      <a:r>
                        <a:rPr sz="2025" b="1">
                          <a:solidFill>
                            <a:srgbClr val="FFFFFF"/>
                          </a:solidFill>
                          <a:latin typeface="Calibri"/>
                          <a:ea typeface="Calibri"/>
                          <a:cs typeface="Calibri"/>
                        </a:rPr>
                        <a:t>Purpose</a:t>
                      </a:r>
                    </a:p>
                  </a:txBody>
                  <a:tcPr marL="91440" marR="91440" marT="45720" marB="45720">
                    <a:solidFill>
                      <a:srgbClr val="2E7D6F"/>
                    </a:solidFill>
                  </a:tcPr>
                </a:tc>
                <a:tc>
                  <a:txBody>
                    <a:bodyPr/>
                    <a:lstStyle/>
                    <a:p>
                      <a:r>
                        <a:rPr sz="2025" b="1">
                          <a:solidFill>
                            <a:srgbClr val="FFFFFF"/>
                          </a:solidFill>
                          <a:latin typeface="Calibri"/>
                          <a:ea typeface="Calibri"/>
                          <a:cs typeface="Calibri"/>
                        </a:rPr>
                        <a:t>When it finishes</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if / else</a:t>
                      </a:r>
                    </a:p>
                  </a:txBody>
                  <a:tcPr marL="91440" marR="91440" marT="45720" marB="45720">
                    <a:solidFill>
                      <a:srgbClr val="EEF3F6"/>
                    </a:solidFill>
                  </a:tcPr>
                </a:tc>
                <a:tc>
                  <a:txBody>
                    <a:bodyPr/>
                    <a:lstStyle/>
                    <a:p>
                      <a:r>
                        <a:rPr sz="2025" b="0">
                          <a:solidFill>
                            <a:srgbClr val="1C3144"/>
                          </a:solidFill>
                          <a:latin typeface="Calibri"/>
                          <a:ea typeface="Calibri"/>
                          <a:cs typeface="Calibri"/>
                        </a:rPr>
                        <a:t>Choose a path once</a:t>
                      </a:r>
                    </a:p>
                  </a:txBody>
                  <a:tcPr marL="91440" marR="91440" marT="45720" marB="45720">
                    <a:solidFill>
                      <a:srgbClr val="EEF3F6"/>
                    </a:solidFill>
                  </a:tcPr>
                </a:tc>
                <a:tc>
                  <a:txBody>
                    <a:bodyPr/>
                    <a:lstStyle/>
                    <a:p>
                      <a:r>
                        <a:rPr sz="2025" b="0">
                          <a:solidFill>
                            <a:srgbClr val="1C3144"/>
                          </a:solidFill>
                          <a:latin typeface="Calibri"/>
                          <a:ea typeface="Calibri"/>
                          <a:cs typeface="Calibri"/>
                        </a:rPr>
                        <a:t>After the chosen block</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for</a:t>
                      </a:r>
                    </a:p>
                  </a:txBody>
                  <a:tcPr marL="91440" marR="91440" marT="45720" marB="45720">
                    <a:solidFill>
                      <a:srgbClr val="FFFFFF"/>
                    </a:solidFill>
                  </a:tcPr>
                </a:tc>
                <a:tc>
                  <a:txBody>
                    <a:bodyPr/>
                    <a:lstStyle/>
                    <a:p>
                      <a:r>
                        <a:rPr sz="2025" b="0">
                          <a:solidFill>
                            <a:srgbClr val="1C3144"/>
                          </a:solidFill>
                          <a:latin typeface="Calibri"/>
                          <a:ea typeface="Calibri"/>
                          <a:cs typeface="Calibri"/>
                        </a:rPr>
                        <a:t>Visit supplied items</a:t>
                      </a:r>
                    </a:p>
                  </a:txBody>
                  <a:tcPr marL="91440" marR="91440" marT="45720" marB="45720">
                    <a:solidFill>
                      <a:srgbClr val="FFFFFF"/>
                    </a:solidFill>
                  </a:tcPr>
                </a:tc>
                <a:tc>
                  <a:txBody>
                    <a:bodyPr/>
                    <a:lstStyle/>
                    <a:p>
                      <a:r>
                        <a:rPr sz="2025" b="0">
                          <a:solidFill>
                            <a:srgbClr val="1C3144"/>
                          </a:solidFill>
                          <a:latin typeface="Calibri"/>
                          <a:ea typeface="Calibri"/>
                          <a:cs typeface="Calibri"/>
                        </a:rPr>
                        <a:t>When items are exhausted</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while</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 while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When condition becomes False</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95C5F5FA-2AD4-4397-BC93-A2B04228012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condition alone does not imply repetition: if tests once; while tests again after its body.</a:t>
            </a:r>
          </a:p>
        </p:txBody>
      </p:sp>
      <p:sp>
        <p:nvSpPr>
          <p:cNvPr id="6" name="">
            <a:extLst xmlns:a="http://schemas.openxmlformats.org/drawingml/2006/main">
              <a:ext uri="{FF2B5EF4-FFF2-40B4-BE49-F238E27FC236}">
                <a16:creationId xmlns:a16="http://schemas.microsoft.com/office/drawing/2014/main" id="{7E34F32A-BBBD-430B-88D4-767B8A3623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29</a:t>
            </a:r>
          </a:p>
        </p:txBody>
      </p:sp>
    </p:spTree>
    <p:extLst>
      <p:ext uri="{BB962C8B-B14F-4D97-AF65-F5344CB8AC3E}">
        <p14:creationId xmlns:p14="http://schemas.microsoft.com/office/powerpoint/2010/main" val="47322868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AF5846B-D569-479A-AB34-3DCBE01022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68E0F0A-633F-4832-88B6-6DEA45537C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4E9EAF9-8D4D-4887-8046-E496B4996B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range supplies a sequence of integers</a:t>
            </a:r>
          </a:p>
        </p:txBody>
      </p:sp>
      <p:sp>
        <p:nvSpPr>
          <p:cNvPr id="4" name="">
            <a:extLst xmlns:a="http://schemas.openxmlformats.org/drawingml/2006/main">
              <a:ext uri="{FF2B5EF4-FFF2-40B4-BE49-F238E27FC236}">
                <a16:creationId xmlns:a16="http://schemas.microsoft.com/office/drawing/2014/main" id="{EBD4B9BA-7225-42B3-932D-F251104BF79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CDBBF8A-3998-4995-84E5-6C023BE34B4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range(3) supplies 0, 1 and 2. The stop value 3 is excluded. range(1, 4) supplies 1, 2 and 3.</a:t>
            </a:r>
          </a:p>
        </p:txBody>
      </p:sp>
      <p:sp>
        <p:nvSpPr>
          <p:cNvPr id="6" name="">
            <a:extLst xmlns:a="http://schemas.openxmlformats.org/drawingml/2006/main">
              <a:ext uri="{FF2B5EF4-FFF2-40B4-BE49-F238E27FC236}">
                <a16:creationId xmlns:a16="http://schemas.microsoft.com/office/drawing/2014/main" id="{C7FFF6D2-7A69-44C8-861D-A28D669960E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AE45FE7-2E73-4A91-9ABC-857A14B99C1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range with for when a numbered repetition is useful. The loop still works by taking the next supplied item.</a:t>
            </a:r>
          </a:p>
        </p:txBody>
      </p:sp>
      <p:sp>
        <p:nvSpPr>
          <p:cNvPr id="8" name="">
            <a:extLst xmlns:a="http://schemas.openxmlformats.org/drawingml/2006/main">
              <a:ext uri="{FF2B5EF4-FFF2-40B4-BE49-F238E27FC236}">
                <a16:creationId xmlns:a16="http://schemas.microsoft.com/office/drawing/2014/main" id="{C9419A0C-6869-41EE-B158-9DC0EAAB353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CE1883A-ACAD-4E00-BB82-1435C0FE71A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range(0, 6, 2) uses a step of 2 and supplies 0, 2, 4. A step is the change between successive numbers; it cannot be zero.</a:t>
            </a:r>
          </a:p>
        </p:txBody>
      </p:sp>
      <p:sp>
        <p:nvSpPr>
          <p:cNvPr id="10" name="">
            <a:extLst xmlns:a="http://schemas.openxmlformats.org/drawingml/2006/main">
              <a:ext uri="{FF2B5EF4-FFF2-40B4-BE49-F238E27FC236}">
                <a16:creationId xmlns:a16="http://schemas.microsoft.com/office/drawing/2014/main" id="{26AB834C-DA6C-4974-9044-C6122ADEE8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30</a:t>
            </a:r>
          </a:p>
        </p:txBody>
      </p:sp>
    </p:spTree>
    <p:extLst>
      <p:ext uri="{BB962C8B-B14F-4D97-AF65-F5344CB8AC3E}">
        <p14:creationId xmlns:p14="http://schemas.microsoft.com/office/powerpoint/2010/main" val="59951625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BC30BA2-647D-4938-9056-9DAB99E7E4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69A5C56-FD60-4960-94CF-A267D8264C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CA289BC-29D1-4E87-B972-338F478471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 with range</a:t>
            </a:r>
          </a:p>
        </p:txBody>
      </p:sp>
      <p:sp>
        <p:nvSpPr>
          <p:cNvPr id="4" name="">
            <a:extLst xmlns:a="http://schemas.openxmlformats.org/drawingml/2006/main">
              <a:ext uri="{FF2B5EF4-FFF2-40B4-BE49-F238E27FC236}">
                <a16:creationId xmlns:a16="http://schemas.microsoft.com/office/drawing/2014/main" id="{03709642-7D1C-478A-A43F-6D110B837CC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CB1B523-E4FD-43C2-BCC9-ED18E29F4BD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attempt in range(1,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print(attempt)</a:t>
            </a:r>
          </a:p>
        </p:txBody>
      </p:sp>
      <p:sp>
        <p:nvSpPr>
          <p:cNvPr id="6" name="">
            <a:extLst xmlns:a="http://schemas.openxmlformats.org/drawingml/2006/main">
              <a:ext uri="{FF2B5EF4-FFF2-40B4-BE49-F238E27FC236}">
                <a16:creationId xmlns:a16="http://schemas.microsoft.com/office/drawing/2014/main" id="{5686F1D1-A64E-4521-B7CC-74A5DE1E0AC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2ED0E48-A649-41E0-B73B-CFB095F94EB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Start at 1; stop before 4.</a:t>
            </a:r>
          </a:p>
        </p:txBody>
      </p:sp>
      <p:sp>
        <p:nvSpPr>
          <p:cNvPr id="8" name="">
            <a:extLst xmlns:a="http://schemas.openxmlformats.org/drawingml/2006/main">
              <a:ext uri="{FF2B5EF4-FFF2-40B4-BE49-F238E27FC236}">
                <a16:creationId xmlns:a16="http://schemas.microsoft.com/office/drawing/2014/main" id="{C841962F-924B-424A-8E87-64BBCB266EF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 2; 3</a:t>
            </a:r>
          </a:p>
        </p:txBody>
      </p:sp>
      <p:sp>
        <p:nvSpPr>
          <p:cNvPr id="9" name="">
            <a:extLst xmlns:a="http://schemas.openxmlformats.org/drawingml/2006/main">
              <a:ext uri="{FF2B5EF4-FFF2-40B4-BE49-F238E27FC236}">
                <a16:creationId xmlns:a16="http://schemas.microsoft.com/office/drawing/2014/main" id="{065387FB-3550-4013-9C1E-EDB3009CF0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31</a:t>
            </a:r>
          </a:p>
        </p:txBody>
      </p:sp>
    </p:spTree>
    <p:extLst>
      <p:ext uri="{BB962C8B-B14F-4D97-AF65-F5344CB8AC3E}">
        <p14:creationId xmlns:p14="http://schemas.microsoft.com/office/powerpoint/2010/main" val="213854656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A28630D-9D67-44EE-B989-D01070486E8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F5628B9-55A3-493A-AAFA-400C9E26FD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DBE5F5D-C960-47D2-8C98-A9DDB8A6B1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continue and break change a loop’s path</a:t>
            </a:r>
          </a:p>
        </p:txBody>
      </p:sp>
      <p:sp>
        <p:nvSpPr>
          <p:cNvPr id="4" name="">
            <a:extLst xmlns:a="http://schemas.openxmlformats.org/drawingml/2006/main">
              <a:ext uri="{FF2B5EF4-FFF2-40B4-BE49-F238E27FC236}">
                <a16:creationId xmlns:a16="http://schemas.microsoft.com/office/drawing/2014/main" id="{45A740D0-3538-4A78-98EE-EAA0FCC7D61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837A5F4-B544-49B8-9E58-60F3B8F4BE8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continue skips the rest of the current iteration, then starts the next iteration. It does not end the whole loop.</a:t>
            </a:r>
          </a:p>
        </p:txBody>
      </p:sp>
      <p:sp>
        <p:nvSpPr>
          <p:cNvPr id="6" name="">
            <a:extLst xmlns:a="http://schemas.openxmlformats.org/drawingml/2006/main">
              <a:ext uri="{FF2B5EF4-FFF2-40B4-BE49-F238E27FC236}">
                <a16:creationId xmlns:a16="http://schemas.microsoft.com/office/drawing/2014/main" id="{8284724C-0581-425F-9F83-BBC3ACB307F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F5CB0A7-2E09-40AD-9F27-B66B09D3D3A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break exits the nearest enclosing loop immediately. Execution resumes after that loop.</a:t>
            </a:r>
          </a:p>
        </p:txBody>
      </p:sp>
      <p:sp>
        <p:nvSpPr>
          <p:cNvPr id="8" name="">
            <a:extLst xmlns:a="http://schemas.openxmlformats.org/drawingml/2006/main">
              <a:ext uri="{FF2B5EF4-FFF2-40B4-BE49-F238E27FC236}">
                <a16:creationId xmlns:a16="http://schemas.microsoft.com/office/drawing/2014/main" id="{A80F49A6-0493-4783-BFCD-1776F425055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F2C06E7-3A2D-4A75-86E1-03EDBDE3A4F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Put the condition inside the loop with four spaces. Its action is inside that condition with eight spaces: an indented block inside another block.</a:t>
            </a:r>
          </a:p>
        </p:txBody>
      </p:sp>
      <p:sp>
        <p:nvSpPr>
          <p:cNvPr id="10" name="">
            <a:extLst xmlns:a="http://schemas.openxmlformats.org/drawingml/2006/main">
              <a:ext uri="{FF2B5EF4-FFF2-40B4-BE49-F238E27FC236}">
                <a16:creationId xmlns:a16="http://schemas.microsoft.com/office/drawing/2014/main" id="{F83E4517-4D69-44E4-90D7-39EEEB5134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32</a:t>
            </a:r>
          </a:p>
        </p:txBody>
      </p:sp>
    </p:spTree>
    <p:extLst>
      <p:ext uri="{BB962C8B-B14F-4D97-AF65-F5344CB8AC3E}">
        <p14:creationId xmlns:p14="http://schemas.microsoft.com/office/powerpoint/2010/main" val="80003863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E91A725-649D-40BD-B39F-DF74E88076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59E70D6-F4A8-4833-BA97-45176ACEA1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6F3BB73-81CE-4AFA-BBFC-045A837F71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Skip one item using continue</a:t>
            </a:r>
          </a:p>
        </p:txBody>
      </p:sp>
      <p:sp>
        <p:nvSpPr>
          <p:cNvPr id="4" name="">
            <a:extLst xmlns:a="http://schemas.openxmlformats.org/drawingml/2006/main">
              <a:ext uri="{FF2B5EF4-FFF2-40B4-BE49-F238E27FC236}">
                <a16:creationId xmlns:a16="http://schemas.microsoft.com/office/drawing/2014/main" id="{791906BC-938C-494E-9045-5D438B7AAE2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EFDA5DB-0DD5-4CBD-9178-760DCEB00DA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-1,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&lt;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continue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p:txBody>
      </p:sp>
      <p:sp>
        <p:nvSpPr>
          <p:cNvPr id="6" name="">
            <a:extLst xmlns:a="http://schemas.openxmlformats.org/drawingml/2006/main">
              <a:ext uri="{FF2B5EF4-FFF2-40B4-BE49-F238E27FC236}">
                <a16:creationId xmlns:a16="http://schemas.microsoft.com/office/drawing/2014/main" id="{B5594F0B-960E-4FCA-BB36-CB732F9C051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AA7D494-8A51-4E3E-AF0F-C8E994C703E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-1 takes continue, so its print is skipped.</a:t>
            </a:r>
          </a:p>
        </p:txBody>
      </p:sp>
      <p:sp>
        <p:nvSpPr>
          <p:cNvPr id="8" name="">
            <a:extLst xmlns:a="http://schemas.openxmlformats.org/drawingml/2006/main">
              <a:ext uri="{FF2B5EF4-FFF2-40B4-BE49-F238E27FC236}">
                <a16:creationId xmlns:a16="http://schemas.microsoft.com/office/drawing/2014/main" id="{EB051C42-44FC-47A1-8AD9-7FF022A927B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2 and 6 reach print.</a:t>
            </a:r>
          </a:p>
        </p:txBody>
      </p:sp>
      <p:sp>
        <p:nvSpPr>
          <p:cNvPr id="9" name="">
            <a:extLst xmlns:a="http://schemas.openxmlformats.org/drawingml/2006/main">
              <a:ext uri="{FF2B5EF4-FFF2-40B4-BE49-F238E27FC236}">
                <a16:creationId xmlns:a16="http://schemas.microsoft.com/office/drawing/2014/main" id="{E2713FE5-A257-47FD-B7DC-688B45015AA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6</a:t>
            </a:r>
          </a:p>
        </p:txBody>
      </p:sp>
      <p:sp>
        <p:nvSpPr>
          <p:cNvPr id="10" name="">
            <a:extLst xmlns:a="http://schemas.openxmlformats.org/drawingml/2006/main">
              <a:ext uri="{FF2B5EF4-FFF2-40B4-BE49-F238E27FC236}">
                <a16:creationId xmlns:a16="http://schemas.microsoft.com/office/drawing/2014/main" id="{5F8F0B43-3C41-4E8E-8709-D4BD0C29C5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33</a:t>
            </a:r>
          </a:p>
        </p:txBody>
      </p:sp>
    </p:spTree>
    <p:extLst>
      <p:ext uri="{BB962C8B-B14F-4D97-AF65-F5344CB8AC3E}">
        <p14:creationId xmlns:p14="http://schemas.microsoft.com/office/powerpoint/2010/main" val="1231474226"/>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D2B0673-0787-44D9-B1C1-7FE7F04C51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4DEDA97-B536-4C6F-9152-54F8B4194D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C65C34E-9411-4DAF-85F7-80C47EE902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Stop at one item using break</a:t>
            </a:r>
          </a:p>
        </p:txBody>
      </p:sp>
      <p:sp>
        <p:nvSpPr>
          <p:cNvPr id="4" name="">
            <a:extLst xmlns:a="http://schemas.openxmlformats.org/drawingml/2006/main">
              <a:ext uri="{FF2B5EF4-FFF2-40B4-BE49-F238E27FC236}">
                <a16:creationId xmlns:a16="http://schemas.microsoft.com/office/drawing/2014/main" id="{073CE71D-5A4B-4500-99BF-26418DB9D73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EC2C403-C469-4D7D-BB31-548807B2C88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-1,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&lt;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break</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p:txBody>
      </p:sp>
      <p:sp>
        <p:nvSpPr>
          <p:cNvPr id="6" name="">
            <a:extLst xmlns:a="http://schemas.openxmlformats.org/drawingml/2006/main">
              <a:ext uri="{FF2B5EF4-FFF2-40B4-BE49-F238E27FC236}">
                <a16:creationId xmlns:a16="http://schemas.microsoft.com/office/drawing/2014/main" id="{DC4E2B3D-8AD8-4D85-8DF2-0990E69C470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60AEC65-80F2-4E28-B2EF-35CABD6B291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-1 triggers break. The loop never visits 6.</a:t>
            </a:r>
          </a:p>
        </p:txBody>
      </p:sp>
      <p:sp>
        <p:nvSpPr>
          <p:cNvPr id="8" name="">
            <a:extLst xmlns:a="http://schemas.openxmlformats.org/drawingml/2006/main">
              <a:ext uri="{FF2B5EF4-FFF2-40B4-BE49-F238E27FC236}">
                <a16:creationId xmlns:a16="http://schemas.microsoft.com/office/drawing/2014/main" id="{7838EBA7-ED29-446E-9379-709EE50A534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a:t>
            </a:r>
          </a:p>
        </p:txBody>
      </p:sp>
      <p:sp>
        <p:nvSpPr>
          <p:cNvPr id="9" name="">
            <a:extLst xmlns:a="http://schemas.openxmlformats.org/drawingml/2006/main">
              <a:ext uri="{FF2B5EF4-FFF2-40B4-BE49-F238E27FC236}">
                <a16:creationId xmlns:a16="http://schemas.microsoft.com/office/drawing/2014/main" id="{1D3B2893-29CD-47D7-8626-A1330B71D7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34</a:t>
            </a:r>
          </a:p>
        </p:txBody>
      </p:sp>
    </p:spTree>
    <p:extLst>
      <p:ext uri="{BB962C8B-B14F-4D97-AF65-F5344CB8AC3E}">
        <p14:creationId xmlns:p14="http://schemas.microsoft.com/office/powerpoint/2010/main" val="12772115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0D5252D-9C51-465C-8685-B56DCD68DA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2BB1B0E-1CD1-48CB-ABAF-294E145F39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679F5B0-CFC2-426D-9B1C-406C76D7E3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two loop controls</a:t>
            </a:r>
          </a:p>
        </p:txBody>
      </p:sp>
      <p:graphicFrame>
        <p:nvGraphicFramePr>
          <p:cNvPr id="4" name="">
            <a:extLst xmlns:a="http://schemas.openxmlformats.org/drawingml/2006/main">
              <a:ext uri="{FF2B5EF4-FFF2-40B4-BE49-F238E27FC236}">
                <a16:creationId xmlns:a16="http://schemas.microsoft.com/office/drawing/2014/main" id="{4D57A584-CC0E-4B18-82D6-4EA78D679A9F}"/>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Input</a:t>
                      </a:r>
                    </a:p>
                  </a:txBody>
                  <a:tcPr marL="91440" marR="91440" marT="45720" marB="45720">
                    <a:solidFill>
                      <a:srgbClr val="2E7D6F"/>
                    </a:solidFill>
                  </a:tcPr>
                </a:tc>
                <a:tc>
                  <a:txBody>
                    <a:bodyPr/>
                    <a:lstStyle/>
                    <a:p>
                      <a:r>
                        <a:rPr sz="2025" b="1">
                          <a:solidFill>
                            <a:srgbClr val="FFFFFF"/>
                          </a:solidFill>
                          <a:latin typeface="Calibri"/>
                          <a:ea typeface="Calibri"/>
                          <a:cs typeface="Calibri"/>
                        </a:rPr>
                        <a:t>continue version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break version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Skip its print</a:t>
                      </a:r>
                    </a:p>
                  </a:txBody>
                  <a:tcPr marL="91440" marR="91440" marT="45720" marB="45720">
                    <a:solidFill>
                      <a:srgbClr val="FFFFFF"/>
                    </a:solidFill>
                  </a:tcPr>
                </a:tc>
                <a:tc>
                  <a:txBody>
                    <a:bodyPr/>
                    <a:lstStyle/>
                    <a:p>
                      <a:r>
                        <a:rPr sz="2025" b="0">
                          <a:solidFill>
                            <a:srgbClr val="1C3144"/>
                          </a:solidFill>
                          <a:latin typeface="Calibri"/>
                          <a:ea typeface="Calibri"/>
                          <a:cs typeface="Calibri"/>
                        </a:rPr>
                        <a:t>Exit loop</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6</a:t>
                      </a:r>
                    </a:p>
                  </a:txBody>
                  <a:tcPr marL="91440" marR="91440" marT="45720" marB="45720">
                    <a:solidFill>
                      <a:srgbClr val="EEF3F6"/>
                    </a:solidFill>
                  </a:tcPr>
                </a:tc>
                <a:tc>
                  <a:txBody>
                    <a:bodyPr/>
                    <a:lstStyle/>
                    <a:p>
                      <a:r>
                        <a:rPr sz="2025" b="0">
                          <a:solidFill>
                            <a:srgbClr val="1C3144"/>
                          </a:solidFill>
                          <a:latin typeface="Calibri"/>
                          <a:ea typeface="Calibri"/>
                          <a:cs typeface="Calibri"/>
                        </a:rPr>
                        <a:t>Never visited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F3930427-44AF-4BAC-9B8B-880F76BEC132}"/>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Use continue only when skipping is justified by the stated data rule; do not silently discard evidence.</a:t>
            </a:r>
          </a:p>
        </p:txBody>
      </p:sp>
      <p:sp>
        <p:nvSpPr>
          <p:cNvPr id="6" name="">
            <a:extLst xmlns:a="http://schemas.openxmlformats.org/drawingml/2006/main">
              <a:ext uri="{FF2B5EF4-FFF2-40B4-BE49-F238E27FC236}">
                <a16:creationId xmlns:a16="http://schemas.microsoft.com/office/drawing/2014/main" id="{4006E969-4280-417A-94FE-CAF77710C1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35</a:t>
            </a:r>
          </a:p>
        </p:txBody>
      </p:sp>
    </p:spTree>
    <p:extLst>
      <p:ext uri="{BB962C8B-B14F-4D97-AF65-F5344CB8AC3E}">
        <p14:creationId xmlns:p14="http://schemas.microsoft.com/office/powerpoint/2010/main" val="1747692364"/>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62BDA0F-BA4A-4917-BE3C-0CDBB024FC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ABDB304-5BF2-46FB-9938-4A28A61F4A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F2261EC-7C73-41C5-83B6-DD32B3BC77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dictionary is a record with named fields</a:t>
            </a:r>
          </a:p>
        </p:txBody>
      </p:sp>
      <p:sp>
        <p:nvSpPr>
          <p:cNvPr id="4" name="">
            <a:extLst xmlns:a="http://schemas.openxmlformats.org/drawingml/2006/main">
              <a:ext uri="{FF2B5EF4-FFF2-40B4-BE49-F238E27FC236}">
                <a16:creationId xmlns:a16="http://schemas.microsoft.com/office/drawing/2014/main" id="{C6F25558-5962-4D9B-BF9A-667A363E788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70363DF-F245-4082-B028-54A062724D3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 {"unit": "A", "reading": 4} stores two key–value pairs. Keys name fields; values hold the information.</a:t>
            </a:r>
          </a:p>
        </p:txBody>
      </p:sp>
      <p:sp>
        <p:nvSpPr>
          <p:cNvPr id="6" name="">
            <a:extLst xmlns:a="http://schemas.openxmlformats.org/drawingml/2006/main">
              <a:ext uri="{FF2B5EF4-FFF2-40B4-BE49-F238E27FC236}">
                <a16:creationId xmlns:a16="http://schemas.microsoft.com/office/drawing/2014/main" id="{65687D9F-ECE0-4C54-89C7-2885991A1AA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1FA726D-D69A-4E9B-B5F7-A703D15A8A0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Braces enclose the dictionary. A colon separates each key from its value and a comma separates pairs. Each key is unique.</a:t>
            </a:r>
          </a:p>
        </p:txBody>
      </p:sp>
      <p:sp>
        <p:nvSpPr>
          <p:cNvPr id="8" name="">
            <a:extLst xmlns:a="http://schemas.openxmlformats.org/drawingml/2006/main">
              <a:ext uri="{FF2B5EF4-FFF2-40B4-BE49-F238E27FC236}">
                <a16:creationId xmlns:a16="http://schemas.microsoft.com/office/drawing/2014/main" id="{973A11C2-E7D7-4BA4-B430-B6EEC492656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47C0A0D-2A3E-4873-B4AB-328372AF475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record["reading"] returns 4. Unlike a list position, "reading" names the field we want.</a:t>
            </a:r>
          </a:p>
        </p:txBody>
      </p:sp>
      <p:sp>
        <p:nvSpPr>
          <p:cNvPr id="10" name="">
            <a:extLst xmlns:a="http://schemas.openxmlformats.org/drawingml/2006/main">
              <a:ext uri="{FF2B5EF4-FFF2-40B4-BE49-F238E27FC236}">
                <a16:creationId xmlns:a16="http://schemas.microsoft.com/office/drawing/2014/main" id="{C9F5CE9B-96FB-43BA-A7E1-F2E414282B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36</a:t>
            </a:r>
          </a:p>
        </p:txBody>
      </p:sp>
    </p:spTree>
    <p:extLst>
      <p:ext uri="{BB962C8B-B14F-4D97-AF65-F5344CB8AC3E}">
        <p14:creationId xmlns:p14="http://schemas.microsoft.com/office/powerpoint/2010/main" val="2029339949"/>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07FC372-D145-4500-8480-9D283978ED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8AAAEBA-2D6A-476D-B5C7-23143E3368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D754FC5-8EDC-461D-836E-FF909C15A3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missing dictionary key and get</a:t>
            </a:r>
          </a:p>
        </p:txBody>
      </p:sp>
      <p:sp>
        <p:nvSpPr>
          <p:cNvPr id="4" name="">
            <a:extLst xmlns:a="http://schemas.openxmlformats.org/drawingml/2006/main">
              <a:ext uri="{FF2B5EF4-FFF2-40B4-BE49-F238E27FC236}">
                <a16:creationId xmlns:a16="http://schemas.microsoft.com/office/drawing/2014/main" id="{F88DA67A-E56E-4FDE-B3E0-37FCD16B348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FB68C0E-18FC-4E5B-B989-D9C89D3AEA8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record["reading"] requests a known field. If that key does not exist, square-bracket lookup raises KeyError.</a:t>
            </a:r>
          </a:p>
        </p:txBody>
      </p:sp>
      <p:sp>
        <p:nvSpPr>
          <p:cNvPr id="6" name="">
            <a:extLst xmlns:a="http://schemas.openxmlformats.org/drawingml/2006/main">
              <a:ext uri="{FF2B5EF4-FFF2-40B4-BE49-F238E27FC236}">
                <a16:creationId xmlns:a16="http://schemas.microsoft.com/office/drawing/2014/main" id="{089EC680-24FF-4844-9114-71F16B16A4A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0167018-9D57-408B-A371-7DD6EB5BF1D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record.get("missing", 0) asks for that key with a fallback: return 0 if it is absent. This does not add a new key.</a:t>
            </a:r>
          </a:p>
        </p:txBody>
      </p:sp>
      <p:sp>
        <p:nvSpPr>
          <p:cNvPr id="8" name="">
            <a:extLst xmlns:a="http://schemas.openxmlformats.org/drawingml/2006/main">
              <a:ext uri="{FF2B5EF4-FFF2-40B4-BE49-F238E27FC236}">
                <a16:creationId xmlns:a16="http://schemas.microsoft.com/office/drawing/2014/main" id="{0E7B3EC5-F805-496F-BD84-F0CF36E2E11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D377400-BE75-41D0-A42D-3190B57953A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second input is the fallback value. Use a fallback only when the task defines what missing information should mean.</a:t>
            </a:r>
          </a:p>
        </p:txBody>
      </p:sp>
      <p:sp>
        <p:nvSpPr>
          <p:cNvPr id="10" name="">
            <a:extLst xmlns:a="http://schemas.openxmlformats.org/drawingml/2006/main">
              <a:ext uri="{FF2B5EF4-FFF2-40B4-BE49-F238E27FC236}">
                <a16:creationId xmlns:a16="http://schemas.microsoft.com/office/drawing/2014/main" id="{FD88A8F0-CA19-4643-844D-99A749E180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37</a:t>
            </a:r>
          </a:p>
        </p:txBody>
      </p:sp>
    </p:spTree>
    <p:extLst>
      <p:ext uri="{BB962C8B-B14F-4D97-AF65-F5344CB8AC3E}">
        <p14:creationId xmlns:p14="http://schemas.microsoft.com/office/powerpoint/2010/main" val="1450750348"/>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D5ABDB2-1656-4200-9BAD-BE61E6B25F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23D0300-202A-4068-AA27-F1662EEDDD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FEDCD1A-743D-468A-9C0C-881139F343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and updating a dictionary</a:t>
            </a:r>
          </a:p>
        </p:txBody>
      </p:sp>
      <p:sp>
        <p:nvSpPr>
          <p:cNvPr id="4" name="">
            <a:extLst xmlns:a="http://schemas.openxmlformats.org/drawingml/2006/main">
              <a:ext uri="{FF2B5EF4-FFF2-40B4-BE49-F238E27FC236}">
                <a16:creationId xmlns:a16="http://schemas.microsoft.com/office/drawing/2014/main" id="{484F942C-CF02-4C81-A420-A7F92E67D9E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3E273EB-6C3F-453F-8BEA-E4A5F01DDF2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record["reading"] =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print(record.get("missing", 0))</a:t>
            </a:r>
          </a:p>
        </p:txBody>
      </p:sp>
      <p:sp>
        <p:nvSpPr>
          <p:cNvPr id="6" name="">
            <a:extLst xmlns:a="http://schemas.openxmlformats.org/drawingml/2006/main">
              <a:ext uri="{FF2B5EF4-FFF2-40B4-BE49-F238E27FC236}">
                <a16:creationId xmlns:a16="http://schemas.microsoft.com/office/drawing/2014/main" id="{62373AAC-1A47-4880-B27B-556A987E732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685748C-0F84-4AFA-AF85-C149F7742A2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["reading"] selects a key, not a position.</a:t>
            </a:r>
          </a:p>
        </p:txBody>
      </p:sp>
      <p:sp>
        <p:nvSpPr>
          <p:cNvPr id="8" name="">
            <a:extLst xmlns:a="http://schemas.openxmlformats.org/drawingml/2006/main">
              <a:ext uri="{FF2B5EF4-FFF2-40B4-BE49-F238E27FC236}">
                <a16:creationId xmlns:a16="http://schemas.microsoft.com/office/drawing/2014/main" id="{56A44412-473A-4334-9696-90C0A1AAA39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Assigning through the key updates its value.</a:t>
            </a:r>
          </a:p>
        </p:txBody>
      </p:sp>
      <p:sp>
        <p:nvSpPr>
          <p:cNvPr id="9" name="">
            <a:extLst xmlns:a="http://schemas.openxmlformats.org/drawingml/2006/main">
              <a:ext uri="{FF2B5EF4-FFF2-40B4-BE49-F238E27FC236}">
                <a16:creationId xmlns:a16="http://schemas.microsoft.com/office/drawing/2014/main" id="{8D13C3C7-DDA2-4CBC-886C-046466F7C03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4, then 6, then 0. get uses the fallback only when that key is absent.</a:t>
            </a:r>
          </a:p>
        </p:txBody>
      </p:sp>
      <p:sp>
        <p:nvSpPr>
          <p:cNvPr id="10" name="">
            <a:extLst xmlns:a="http://schemas.openxmlformats.org/drawingml/2006/main">
              <a:ext uri="{FF2B5EF4-FFF2-40B4-BE49-F238E27FC236}">
                <a16:creationId xmlns:a16="http://schemas.microsoft.com/office/drawing/2014/main" id="{2C5AC39E-E69D-4E34-8493-7E73061856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38</a:t>
            </a:r>
          </a:p>
        </p:txBody>
      </p:sp>
    </p:spTree>
    <p:extLst>
      <p:ext uri="{BB962C8B-B14F-4D97-AF65-F5344CB8AC3E}">
        <p14:creationId xmlns:p14="http://schemas.microsoft.com/office/powerpoint/2010/main" val="627382551"/>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E0FBE77-5F22-48A4-8771-33168E4A89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DD9BDED-4D04-455C-BF1E-FC3C7A6A5A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17DB3C3-3B95-4FCE-A96F-548DB654AC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Tuples and unpacking</a:t>
            </a:r>
          </a:p>
        </p:txBody>
      </p:sp>
      <p:sp>
        <p:nvSpPr>
          <p:cNvPr id="4" name="">
            <a:extLst xmlns:a="http://schemas.openxmlformats.org/drawingml/2006/main">
              <a:ext uri="{FF2B5EF4-FFF2-40B4-BE49-F238E27FC236}">
                <a16:creationId xmlns:a16="http://schemas.microsoft.com/office/drawing/2014/main" id="{F029E033-2646-4187-8276-5DF748C912D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0936B4B-08C1-42C4-878F-88C14D1AC49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stores items in order. point = (2, 3) stores two coordinates; point[0] is 2. You cannot reassign point[0].</a:t>
            </a:r>
          </a:p>
        </p:txBody>
      </p:sp>
      <p:sp>
        <p:nvSpPr>
          <p:cNvPr id="6" name="">
            <a:extLst xmlns:a="http://schemas.openxmlformats.org/drawingml/2006/main">
              <a:ext uri="{FF2B5EF4-FFF2-40B4-BE49-F238E27FC236}">
                <a16:creationId xmlns:a16="http://schemas.microsoft.com/office/drawing/2014/main" id="{FD34799A-39F1-449B-80FA-B1D51122F0E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3C18189-E4EE-43B7-AA4C-5C4D9421905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 y = point gives the first item to x and the second to y. This is unpacking; the number of names must match the number of items.</a:t>
            </a:r>
          </a:p>
        </p:txBody>
      </p:sp>
      <p:sp>
        <p:nvSpPr>
          <p:cNvPr id="8" name="">
            <a:extLst xmlns:a="http://schemas.openxmlformats.org/drawingml/2006/main">
              <a:ext uri="{FF2B5EF4-FFF2-40B4-BE49-F238E27FC236}">
                <a16:creationId xmlns:a16="http://schemas.microsoft.com/office/drawing/2014/main" id="{B7C28603-CBC0-4417-8C07-D3A94981FC0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1B2A23E-6E32-43AF-83F1-C197A76AE07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prevents replacing its positions. It does not freeze the contents of a mutable object stored inside it.</a:t>
            </a:r>
          </a:p>
        </p:txBody>
      </p:sp>
      <p:sp>
        <p:nvSpPr>
          <p:cNvPr id="10" name="">
            <a:extLst xmlns:a="http://schemas.openxmlformats.org/drawingml/2006/main">
              <a:ext uri="{FF2B5EF4-FFF2-40B4-BE49-F238E27FC236}">
                <a16:creationId xmlns:a16="http://schemas.microsoft.com/office/drawing/2014/main" id="{562825AA-AE09-4057-A23B-FA3ECE26DC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39</a:t>
            </a:r>
          </a:p>
        </p:txBody>
      </p:sp>
    </p:spTree>
    <p:extLst>
      <p:ext uri="{BB962C8B-B14F-4D97-AF65-F5344CB8AC3E}">
        <p14:creationId xmlns:p14="http://schemas.microsoft.com/office/powerpoint/2010/main" val="1901934595"/>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83EFA7B-F75F-48C4-8A4F-0045999845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82A88CD-9952-4451-8B3A-DA19587A95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683D0A4-9B18-4FD1-81ED-57B6CA6E2C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Unpacking a pair</a:t>
            </a:r>
          </a:p>
        </p:txBody>
      </p:sp>
      <p:sp>
        <p:nvSpPr>
          <p:cNvPr id="4" name="">
            <a:extLst xmlns:a="http://schemas.openxmlformats.org/drawingml/2006/main">
              <a:ext uri="{FF2B5EF4-FFF2-40B4-BE49-F238E27FC236}">
                <a16:creationId xmlns:a16="http://schemas.microsoft.com/office/drawing/2014/main" id="{BF3B5386-2C1E-4813-A8B9-F55AFB97ACD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D8506A3-1381-4C7F-A5D6-F8342974D43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point = (2,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y = point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a:t>
            </a:r>
          </a:p>
        </p:txBody>
      </p:sp>
      <p:sp>
        <p:nvSpPr>
          <p:cNvPr id="6" name="">
            <a:extLst xmlns:a="http://schemas.openxmlformats.org/drawingml/2006/main">
              <a:ext uri="{FF2B5EF4-FFF2-40B4-BE49-F238E27FC236}">
                <a16:creationId xmlns:a16="http://schemas.microsoft.com/office/drawing/2014/main" id="{72E2B4FD-3893-4E91-B39F-D475366C79E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131382F-95D7-4879-BDC0-B12FE489A19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Two names receive the two items in order.</a:t>
            </a:r>
          </a:p>
        </p:txBody>
      </p:sp>
      <p:sp>
        <p:nvSpPr>
          <p:cNvPr id="8" name="">
            <a:extLst xmlns:a="http://schemas.openxmlformats.org/drawingml/2006/main">
              <a:ext uri="{FF2B5EF4-FFF2-40B4-BE49-F238E27FC236}">
                <a16:creationId xmlns:a16="http://schemas.microsoft.com/office/drawing/2014/main" id="{8247127E-34A0-4C50-B289-942F6B5E2D7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then 3.</a:t>
            </a:r>
          </a:p>
        </p:txBody>
      </p:sp>
      <p:sp>
        <p:nvSpPr>
          <p:cNvPr id="9" name="">
            <a:extLst xmlns:a="http://schemas.openxmlformats.org/drawingml/2006/main">
              <a:ext uri="{FF2B5EF4-FFF2-40B4-BE49-F238E27FC236}">
                <a16:creationId xmlns:a16="http://schemas.microsoft.com/office/drawing/2014/main" id="{90C4CDBE-D31A-42C3-809E-EEA0862AF1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40</a:t>
            </a:r>
          </a:p>
        </p:txBody>
      </p:sp>
    </p:spTree>
    <p:extLst>
      <p:ext uri="{BB962C8B-B14F-4D97-AF65-F5344CB8AC3E}">
        <p14:creationId xmlns:p14="http://schemas.microsoft.com/office/powerpoint/2010/main" val="1119918893"/>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7AA1CE5-F765-4A8B-8CE8-E75A19A3E2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970DEE0-451D-4AD1-BB4A-71B806DD48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C35DD42-9EA0-4621-8218-742E1590CA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set remembers distinct items</a:t>
            </a:r>
          </a:p>
        </p:txBody>
      </p:sp>
      <p:sp>
        <p:nvSpPr>
          <p:cNvPr id="4" name="">
            <a:extLst xmlns:a="http://schemas.openxmlformats.org/drawingml/2006/main">
              <a:ext uri="{FF2B5EF4-FFF2-40B4-BE49-F238E27FC236}">
                <a16:creationId xmlns:a16="http://schemas.microsoft.com/office/drawing/2014/main" id="{2F6734B0-3628-478F-9466-5198BF0ED99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9C257EB-2421-4FF6-A77C-FB6150C1ED4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set is useful when the question is “Have we seen this ID?” It keeps one instance of each distinct item.</a:t>
            </a:r>
          </a:p>
        </p:txBody>
      </p:sp>
      <p:sp>
        <p:nvSpPr>
          <p:cNvPr id="6" name="">
            <a:extLst xmlns:a="http://schemas.openxmlformats.org/drawingml/2006/main">
              <a:ext uri="{FF2B5EF4-FFF2-40B4-BE49-F238E27FC236}">
                <a16:creationId xmlns:a16="http://schemas.microsoft.com/office/drawing/2014/main" id="{1F2FBFE9-D775-4872-9795-85145E612D0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12F27EA-53BF-4664-A8AB-0E8AA794E54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seen = set() creates an empty set. seen.add("A") adds an item. "A" in seen asks whether it is present.</a:t>
            </a:r>
          </a:p>
        </p:txBody>
      </p:sp>
      <p:sp>
        <p:nvSpPr>
          <p:cNvPr id="8" name="">
            <a:extLst xmlns:a="http://schemas.openxmlformats.org/drawingml/2006/main">
              <a:ext uri="{FF2B5EF4-FFF2-40B4-BE49-F238E27FC236}">
                <a16:creationId xmlns:a16="http://schemas.microsoft.com/office/drawing/2014/main" id="{CAB91FC5-1938-4CD3-9FEE-16A01606B8F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6A3A6FE-B194-4F46-AF1F-A934EEA388F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use a set when position or repeated readings matter. Sets cannot be indexed. {} creates an empty dictionary, not an empty set.</a:t>
            </a:r>
          </a:p>
        </p:txBody>
      </p:sp>
      <p:sp>
        <p:nvSpPr>
          <p:cNvPr id="10" name="">
            <a:extLst xmlns:a="http://schemas.openxmlformats.org/drawingml/2006/main">
              <a:ext uri="{FF2B5EF4-FFF2-40B4-BE49-F238E27FC236}">
                <a16:creationId xmlns:a16="http://schemas.microsoft.com/office/drawing/2014/main" id="{442AFC27-4CC1-4638-AE59-F761C6BA56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41</a:t>
            </a:r>
          </a:p>
        </p:txBody>
      </p:sp>
    </p:spTree>
    <p:extLst>
      <p:ext uri="{BB962C8B-B14F-4D97-AF65-F5344CB8AC3E}">
        <p14:creationId xmlns:p14="http://schemas.microsoft.com/office/powerpoint/2010/main" val="181833074"/>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B69B3AB-B23B-4097-A578-59191D1C154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BF386D3-4BAC-45EA-AD75-B260A513AE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F63BA33-CAA6-4E9B-B98F-BC22E8D6BE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Set membership and repeated IDs</a:t>
            </a:r>
          </a:p>
        </p:txBody>
      </p:sp>
      <p:sp>
        <p:nvSpPr>
          <p:cNvPr id="4" name="">
            <a:extLst xmlns:a="http://schemas.openxmlformats.org/drawingml/2006/main">
              <a:ext uri="{FF2B5EF4-FFF2-40B4-BE49-F238E27FC236}">
                <a16:creationId xmlns:a16="http://schemas.microsoft.com/office/drawing/2014/main" id="{01A73B18-E076-4CC1-A1C6-338F3497EC1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07733AE-3F82-43C6-BBF7-7BFAD454A96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 in 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print("B" in seen)</a:t>
            </a:r>
          </a:p>
        </p:txBody>
      </p:sp>
      <p:sp>
        <p:nvSpPr>
          <p:cNvPr id="6" name="">
            <a:extLst xmlns:a="http://schemas.openxmlformats.org/drawingml/2006/main">
              <a:ext uri="{FF2B5EF4-FFF2-40B4-BE49-F238E27FC236}">
                <a16:creationId xmlns:a16="http://schemas.microsoft.com/office/drawing/2014/main" id="{5DCC6ABD-EC19-42C2-AB46-43CEC579535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F24D89F-77CE-4DDE-9950-EC395633614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in returns True or False.</a:t>
            </a:r>
          </a:p>
        </p:txBody>
      </p:sp>
      <p:sp>
        <p:nvSpPr>
          <p:cNvPr id="8" name="">
            <a:extLst xmlns:a="http://schemas.openxmlformats.org/drawingml/2006/main">
              <a:ext uri="{FF2B5EF4-FFF2-40B4-BE49-F238E27FC236}">
                <a16:creationId xmlns:a16="http://schemas.microsoft.com/office/drawing/2014/main" id="{A1A12EAF-2944-472A-BD40-39232589483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 set answers membership questions.</a:t>
            </a:r>
          </a:p>
        </p:txBody>
      </p:sp>
      <p:sp>
        <p:nvSpPr>
          <p:cNvPr id="9" name="">
            <a:extLst xmlns:a="http://schemas.openxmlformats.org/drawingml/2006/main">
              <a:ext uri="{FF2B5EF4-FFF2-40B4-BE49-F238E27FC236}">
                <a16:creationId xmlns:a16="http://schemas.microsoft.com/office/drawing/2014/main" id="{FE07878F-85D6-4F8E-8122-B091AE4F43B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 True, False. Adding the same ID twice keeps one distinct ID.</a:t>
            </a:r>
          </a:p>
        </p:txBody>
      </p:sp>
      <p:sp>
        <p:nvSpPr>
          <p:cNvPr id="10" name="">
            <a:extLst xmlns:a="http://schemas.openxmlformats.org/drawingml/2006/main">
              <a:ext uri="{FF2B5EF4-FFF2-40B4-BE49-F238E27FC236}">
                <a16:creationId xmlns:a16="http://schemas.microsoft.com/office/drawing/2014/main" id="{047E5D54-B659-4B05-A4A4-A2E7C1AEB8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42</a:t>
            </a:r>
          </a:p>
        </p:txBody>
      </p:sp>
    </p:spTree>
    <p:extLst>
      <p:ext uri="{BB962C8B-B14F-4D97-AF65-F5344CB8AC3E}">
        <p14:creationId xmlns:p14="http://schemas.microsoft.com/office/powerpoint/2010/main" val="815682032"/>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DC4EF04-0D83-403D-B1AA-9D9107C02B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CEFC6B1-F99D-419F-8977-E275DC0022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E24E455-758E-4796-9F89-67B008742B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the four collections differ</a:t>
            </a:r>
          </a:p>
        </p:txBody>
      </p:sp>
      <p:graphicFrame>
        <p:nvGraphicFramePr>
          <p:cNvPr id="4" name="">
            <a:extLst xmlns:a="http://schemas.openxmlformats.org/drawingml/2006/main">
              <a:ext uri="{FF2B5EF4-FFF2-40B4-BE49-F238E27FC236}">
                <a16:creationId xmlns:a16="http://schemas.microsoft.com/office/drawing/2014/main" id="{8A1242CE-17F6-4A04-BA42-366E6548CFF2}"/>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Collection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Find an item by</a:t>
                      </a:r>
                    </a:p>
                  </a:txBody>
                  <a:tcPr marL="91440" marR="91440" marT="45720" marB="45720">
                    <a:solidFill>
                      <a:srgbClr val="2E7D6F"/>
                    </a:solidFill>
                  </a:tcPr>
                </a:tc>
                <a:tc>
                  <a:txBody>
                    <a:bodyPr/>
                    <a:lstStyle/>
                    <a:p>
                      <a:r>
                        <a:rPr sz="2025" b="1">
                          <a:solidFill>
                            <a:srgbClr val="FFFFFF"/>
                          </a:solidFill>
                          <a:latin typeface="Calibri"/>
                          <a:ea typeface="Calibri"/>
                          <a:cs typeface="Calibri"/>
                        </a:rPr>
                        <a:t>Repeats / changes</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 values[0]</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Repeats allowed; items change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dict</a:t>
                      </a:r>
                    </a:p>
                  </a:txBody>
                  <a:tcPr marL="91440" marR="91440" marT="45720" marB="45720">
                    <a:solidFill>
                      <a:srgbClr val="FFFFFF"/>
                    </a:solidFill>
                  </a:tcPr>
                </a:tc>
                <a:tc>
                  <a:txBody>
                    <a:bodyPr/>
                    <a:lstStyle/>
                    <a:p>
                      <a:r>
                        <a:rPr sz="2025" b="0">
                          <a:solidFill>
                            <a:srgbClr val="1C3144"/>
                          </a:solidFill>
                          <a:latin typeface="Calibri"/>
                          <a:ea typeface="Calibri"/>
                          <a:cs typeface="Calibri"/>
                        </a:rPr>
                        <a:t>Key: record["reading"]</a:t>
                      </a:r>
                    </a:p>
                  </a:txBody>
                  <a:tcPr marL="91440" marR="91440" marT="45720" marB="45720">
                    <a:solidFill>
                      <a:srgbClr val="FFFFFF"/>
                    </a:solidFill>
                  </a:tcPr>
                </a:tc>
                <a:tc>
                  <a:txBody>
                    <a:bodyPr/>
                    <a:lstStyle/>
                    <a:p>
                      <a:r>
                        <a:rPr sz="2025" b="0">
                          <a:solidFill>
                            <a:srgbClr val="1C3144"/>
                          </a:solidFill>
                          <a:latin typeface="Calibri"/>
                          <a:ea typeface="Calibri"/>
                          <a:cs typeface="Calibri"/>
                        </a:rPr>
                        <a:t>Keys unique; values change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tuple</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 point[0]</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Repeats allowed; positions fixed</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set</a:t>
                      </a:r>
                    </a:p>
                  </a:txBody>
                  <a:tcPr marL="91440" marR="91440" marT="45720" marB="45720">
                    <a:solidFill>
                      <a:srgbClr val="FFFFFF"/>
                    </a:solidFill>
                  </a:tcPr>
                </a:tc>
                <a:tc>
                  <a:txBody>
                    <a:bodyPr/>
                    <a:lstStyle/>
                    <a:p>
                      <a:r>
                        <a:rPr sz="2025" b="0">
                          <a:solidFill>
                            <a:srgbClr val="1C3144"/>
                          </a:solidFill>
                          <a:latin typeface="Calibri"/>
                          <a:ea typeface="Calibri"/>
                          <a:cs typeface="Calibri"/>
                        </a:rPr>
                        <a:t>Membership: "A" in seen</a:t>
                      </a:r>
                    </a:p>
                  </a:txBody>
                  <a:tcPr marL="91440" marR="91440" marT="45720" marB="45720">
                    <a:solidFill>
                      <a:srgbClr val="FFFFFF"/>
                    </a:solidFill>
                  </a:tcPr>
                </a:tc>
                <a:tc>
                  <a:txBody>
                    <a:bodyPr/>
                    <a:lstStyle/>
                    <a:p>
                      <a:r>
                        <a:rPr sz="2025" b="0">
                          <a:solidFill>
                            <a:srgbClr val="1C3144"/>
                          </a:solidFill>
                          <a:latin typeface="Calibri"/>
                          <a:ea typeface="Calibri"/>
                          <a:cs typeface="Calibri"/>
                        </a:rPr>
                        <a:t>Distinct items; add or remove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5876017-A2FF-4CBE-9806-9C8B4AB6F2BF}"/>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Choose by the question: ordered readings, named fields, fixed positions, or distinct IDs.</a:t>
            </a:r>
          </a:p>
        </p:txBody>
      </p:sp>
      <p:sp>
        <p:nvSpPr>
          <p:cNvPr id="6" name="">
            <a:extLst xmlns:a="http://schemas.openxmlformats.org/drawingml/2006/main">
              <a:ext uri="{FF2B5EF4-FFF2-40B4-BE49-F238E27FC236}">
                <a16:creationId xmlns:a16="http://schemas.microsoft.com/office/drawing/2014/main" id="{422017D0-DB89-49DE-97D0-1BAB91BBEB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43</a:t>
            </a:r>
          </a:p>
        </p:txBody>
      </p:sp>
    </p:spTree>
    <p:extLst>
      <p:ext uri="{BB962C8B-B14F-4D97-AF65-F5344CB8AC3E}">
        <p14:creationId xmlns:p14="http://schemas.microsoft.com/office/powerpoint/2010/main" val="430716231"/>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C11A2D7-47D4-4E8C-B032-9723AC3099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86F3788-686A-4DBA-8722-0134D6DF34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F501B26-7A54-48C2-8D0B-B94BE183C1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Dictionary items and two loop names</a:t>
            </a:r>
          </a:p>
        </p:txBody>
      </p:sp>
      <p:sp>
        <p:nvSpPr>
          <p:cNvPr id="4" name="">
            <a:extLst xmlns:a="http://schemas.openxmlformats.org/drawingml/2006/main">
              <a:ext uri="{FF2B5EF4-FFF2-40B4-BE49-F238E27FC236}">
                <a16:creationId xmlns:a16="http://schemas.microsoft.com/office/drawing/2014/main" id="{D5315BB3-6BF0-45A3-A5F7-B614681757F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12E3D28-8CDC-4005-B95A-8CF3994C5EF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9C1C03E-868D-4602-BF2C-D483F183B8F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record.items() provides each key with its value as a pair. The loop unpacks each pair into the names key and value.</a:t>
            </a:r>
          </a:p>
        </p:txBody>
      </p:sp>
      <p:sp>
        <p:nvSpPr>
          <p:cNvPr id="7" name="">
            <a:extLst xmlns:a="http://schemas.openxmlformats.org/drawingml/2006/main">
              <a:ext uri="{FF2B5EF4-FFF2-40B4-BE49-F238E27FC236}">
                <a16:creationId xmlns:a16="http://schemas.microsoft.com/office/drawing/2014/main" id="{70F38983-40ED-4E2B-8805-2FEFE09C04E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key, value in record.items(): repeats the indented body for each field. Use .items() when both the label and its value are needed.</a:t>
            </a:r>
          </a:p>
        </p:txBody>
      </p:sp>
      <p:sp>
        <p:nvSpPr>
          <p:cNvPr id="8" name="">
            <a:extLst xmlns:a="http://schemas.openxmlformats.org/drawingml/2006/main">
              <a:ext uri="{FF2B5EF4-FFF2-40B4-BE49-F238E27FC236}">
                <a16:creationId xmlns:a16="http://schemas.microsoft.com/office/drawing/2014/main" id="{F942F008-32B1-4D00-85E8-8336AF82B7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44</a:t>
            </a:r>
          </a:p>
        </p:txBody>
      </p:sp>
    </p:spTree>
    <p:extLst>
      <p:ext uri="{BB962C8B-B14F-4D97-AF65-F5344CB8AC3E}">
        <p14:creationId xmlns:p14="http://schemas.microsoft.com/office/powerpoint/2010/main" val="2099547047"/>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B49C94A-806D-4C1E-ADC6-99A0379ED28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F5B90FC-7588-4FB9-98EB-AA0CB3A258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8778F11-BC37-4FB2-84CD-1C895572A0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Looping through named fields</a:t>
            </a:r>
          </a:p>
        </p:txBody>
      </p:sp>
      <p:sp>
        <p:nvSpPr>
          <p:cNvPr id="4" name="">
            <a:extLst xmlns:a="http://schemas.openxmlformats.org/drawingml/2006/main">
              <a:ext uri="{FF2B5EF4-FFF2-40B4-BE49-F238E27FC236}">
                <a16:creationId xmlns:a16="http://schemas.microsoft.com/office/drawing/2014/main" id="{1DA6EAE3-2C7F-4B5E-9728-7D45D7D0F7B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B101234-0860-4541-B28E-7D24FD2925E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6}</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key, value in record.items():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print(key, value)</a:t>
            </a:r>
          </a:p>
        </p:txBody>
      </p:sp>
      <p:sp>
        <p:nvSpPr>
          <p:cNvPr id="6" name="">
            <a:extLst xmlns:a="http://schemas.openxmlformats.org/drawingml/2006/main">
              <a:ext uri="{FF2B5EF4-FFF2-40B4-BE49-F238E27FC236}">
                <a16:creationId xmlns:a16="http://schemas.microsoft.com/office/drawing/2014/main" id="{BD1F0378-96D0-46DA-B1F1-35BFB73754F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955337E-B6D5-4855-9E6E-4BD29DAC050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.items() supplies pairs.</a:t>
            </a:r>
          </a:p>
        </p:txBody>
      </p:sp>
      <p:sp>
        <p:nvSpPr>
          <p:cNvPr id="8" name="">
            <a:extLst xmlns:a="http://schemas.openxmlformats.org/drawingml/2006/main">
              <a:ext uri="{FF2B5EF4-FFF2-40B4-BE49-F238E27FC236}">
                <a16:creationId xmlns:a16="http://schemas.microsoft.com/office/drawing/2014/main" id="{FBA45AE3-2AC6-4591-B431-E0E0EA984E1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key and value are names chosen for this loop.</a:t>
            </a:r>
          </a:p>
        </p:txBody>
      </p:sp>
      <p:sp>
        <p:nvSpPr>
          <p:cNvPr id="9" name="">
            <a:extLst xmlns:a="http://schemas.openxmlformats.org/drawingml/2006/main">
              <a:ext uri="{FF2B5EF4-FFF2-40B4-BE49-F238E27FC236}">
                <a16:creationId xmlns:a16="http://schemas.microsoft.com/office/drawing/2014/main" id="{421F1F72-C34A-4627-A2B5-ABB33322987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unit A, then reading 6. The dictionary preserves insertion order.</a:t>
            </a:r>
          </a:p>
        </p:txBody>
      </p:sp>
      <p:sp>
        <p:nvSpPr>
          <p:cNvPr id="10" name="">
            <a:extLst xmlns:a="http://schemas.openxmlformats.org/drawingml/2006/main">
              <a:ext uri="{FF2B5EF4-FFF2-40B4-BE49-F238E27FC236}">
                <a16:creationId xmlns:a16="http://schemas.microsoft.com/office/drawing/2014/main" id="{AD2549B1-F2B9-4802-8875-BF14CBB0AE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45</a:t>
            </a:r>
          </a:p>
        </p:txBody>
      </p:sp>
    </p:spTree>
    <p:extLst>
      <p:ext uri="{BB962C8B-B14F-4D97-AF65-F5344CB8AC3E}">
        <p14:creationId xmlns:p14="http://schemas.microsoft.com/office/powerpoint/2010/main" val="801431446"/>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7233384-CD30-4185-99A8-ECBA3A166CD1}"/>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0847A2E-E198-40CD-B3D2-509D83BCDC1B}"/>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position and a key find different things</a:t>
            </a:r>
          </a:p>
        </p:txBody>
      </p:sp>
      <p:pic>
        <p:nvPicPr>
          <p:cNvPr id="3" name="">
            <a:extLst xmlns:a="http://schemas.openxmlformats.org/drawingml/2006/main">
              <a:ext uri="{FF2B5EF4-FFF2-40B4-BE49-F238E27FC236}">
                <a16:creationId xmlns:a16="http://schemas.microsoft.com/office/drawing/2014/main" id="{8F7979D7-613F-4430-8A3E-D9C2DDBF625B}"/>
              </a:ext>
            </a:extLst>
          </p:cNvPr>
          <p:cNvPicPr>
            <a:picLocks xmlns:a="http://schemas.openxmlformats.org/drawingml/2006/main" noChangeAspect="1"/>
          </p:cNvPicPr>
          <p:nvPr/>
        </p:nvPicPr>
        <p:blipFill>
          <a:blip xmlns:r="http://schemas.openxmlformats.org/officeDocument/2006/relationships" xmlns:a="http://schemas.openxmlformats.org/drawingml/2006/main" r:embed="R4893b51fa1684f6b"/>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FCD4349-DE74-4852-8579-BA9FBEBFBD7C}"/>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3B95E0B-3562-4B1D-BDBB-BBA0C53795D2}"/>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Both examples return 4. Explain how each lookup finds it.</a:t>
            </a:r>
          </a:p>
        </p:txBody>
      </p:sp>
      <p:sp>
        <p:nvSpPr>
          <p:cNvPr id="6" name="">
            <a:extLst xmlns:a="http://schemas.openxmlformats.org/drawingml/2006/main">
              <a:ext uri="{FF2B5EF4-FFF2-40B4-BE49-F238E27FC236}">
                <a16:creationId xmlns:a16="http://schemas.microsoft.com/office/drawing/2014/main" id="{3DCE3B24-706A-4913-A07E-D4DA7F9D24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46</a:t>
            </a:r>
          </a:p>
        </p:txBody>
      </p:sp>
    </p:spTree>
    <p:extLst>
      <p:ext uri="{BB962C8B-B14F-4D97-AF65-F5344CB8AC3E}">
        <p14:creationId xmlns:p14="http://schemas.microsoft.com/office/powerpoint/2010/main" val="2005278537"/>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441C462-1339-4C63-BF66-22E99E5860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9034957-14A1-410E-A013-DC15F90EF5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0C2BFF3-065D-48C2-9A16-872311AECC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CSV and header</a:t>
            </a:r>
          </a:p>
        </p:txBody>
      </p:sp>
      <p:sp>
        <p:nvSpPr>
          <p:cNvPr id="4" name="">
            <a:extLst xmlns:a="http://schemas.openxmlformats.org/drawingml/2006/main">
              <a:ext uri="{FF2B5EF4-FFF2-40B4-BE49-F238E27FC236}">
                <a16:creationId xmlns:a16="http://schemas.microsoft.com/office/drawing/2014/main" id="{1760B436-DE9D-455B-B2BE-1D31043E59D8}"/>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AE32802-BCA7-4D7D-BC7F-95D05DCE3105}"/>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CSV and header</a:t>
            </a:r>
          </a:p>
        </p:txBody>
      </p:sp>
      <p:sp>
        <p:nvSpPr>
          <p:cNvPr id="6" name="">
            <a:extLst xmlns:a="http://schemas.openxmlformats.org/drawingml/2006/main">
              <a:ext uri="{FF2B5EF4-FFF2-40B4-BE49-F238E27FC236}">
                <a16:creationId xmlns:a16="http://schemas.microsoft.com/office/drawing/2014/main" id="{CDA00027-DA9F-4BAE-B7DD-C9635699E97E}"/>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CSV means comma-separated values. One line usually represents one record; a header names the columns. CSV numbers arrive as text and may need float conversion.</a:t>
            </a:r>
          </a:p>
        </p:txBody>
      </p:sp>
      <p:sp>
        <p:nvSpPr>
          <p:cNvPr id="7" name="">
            <a:extLst xmlns:a="http://schemas.openxmlformats.org/drawingml/2006/main">
              <a:ext uri="{FF2B5EF4-FFF2-40B4-BE49-F238E27FC236}">
                <a16:creationId xmlns:a16="http://schemas.microsoft.com/office/drawing/2014/main" id="{DC14B9F7-8A49-4E1A-9F9E-FE142C354D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47</a:t>
            </a:r>
          </a:p>
        </p:txBody>
      </p:sp>
    </p:spTree>
    <p:extLst>
      <p:ext uri="{BB962C8B-B14F-4D97-AF65-F5344CB8AC3E}">
        <p14:creationId xmlns:p14="http://schemas.microsoft.com/office/powerpoint/2010/main" val="1377805844"/>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191973E-A853-4F6C-AE91-515DA5B578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46428A3-C320-4A08-8768-E22EB2DC53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0018689-6E6F-47C5-B458-FBE43D7309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record at a time</a:t>
            </a:r>
          </a:p>
        </p:txBody>
      </p:sp>
      <p:sp>
        <p:nvSpPr>
          <p:cNvPr id="4" name="">
            <a:extLst xmlns:a="http://schemas.openxmlformats.org/drawingml/2006/main">
              <a:ext uri="{FF2B5EF4-FFF2-40B4-BE49-F238E27FC236}">
                <a16:creationId xmlns:a16="http://schemas.microsoft.com/office/drawing/2014/main" id="{ABA8C424-CA80-46D7-95CD-C4ED0804F7D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F4F2E3C-C298-450B-9F44-11EAE5449CA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CSV is a text table with a header row.</a:t>
            </a:r>
          </a:p>
        </p:txBody>
      </p:sp>
      <p:sp>
        <p:nvSpPr>
          <p:cNvPr id="6" name="">
            <a:extLst xmlns:a="http://schemas.openxmlformats.org/drawingml/2006/main">
              <a:ext uri="{FF2B5EF4-FFF2-40B4-BE49-F238E27FC236}">
                <a16:creationId xmlns:a16="http://schemas.microsoft.com/office/drawing/2014/main" id="{1A3E90A9-8522-4703-8201-87433AF2575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FF11ADF-4FAA-43F6-9851-BC07068C349F}"/>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DictReader uses that header for dictionary keys.</a:t>
            </a:r>
          </a:p>
        </p:txBody>
      </p:sp>
      <p:sp>
        <p:nvSpPr>
          <p:cNvPr id="8" name="">
            <a:extLst xmlns:a="http://schemas.openxmlformats.org/drawingml/2006/main">
              <a:ext uri="{FF2B5EF4-FFF2-40B4-BE49-F238E27FC236}">
                <a16:creationId xmlns:a16="http://schemas.microsoft.com/office/drawing/2014/main" id="{8477E6E8-3483-4FE1-9947-32001A9861E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9BBE5AA-F9C8-49E5-869D-DD64010DDD5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 cells begin as text, even when they look numeric.</a:t>
            </a:r>
          </a:p>
        </p:txBody>
      </p:sp>
      <p:sp>
        <p:nvSpPr>
          <p:cNvPr id="10" name="">
            <a:extLst xmlns:a="http://schemas.openxmlformats.org/drawingml/2006/main">
              <a:ext uri="{FF2B5EF4-FFF2-40B4-BE49-F238E27FC236}">
                <a16:creationId xmlns:a16="http://schemas.microsoft.com/office/drawing/2014/main" id="{55E2F9DD-A944-4373-BDA4-A2CC5A4DE3B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7D5EABC-6EBB-4200-84D4-97655EEE3B4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float("2.5") converts text into the number 2.5.</a:t>
            </a:r>
          </a:p>
        </p:txBody>
      </p:sp>
      <p:sp>
        <p:nvSpPr>
          <p:cNvPr id="12" name="">
            <a:extLst xmlns:a="http://schemas.openxmlformats.org/drawingml/2006/main">
              <a:ext uri="{FF2B5EF4-FFF2-40B4-BE49-F238E27FC236}">
                <a16:creationId xmlns:a16="http://schemas.microsoft.com/office/drawing/2014/main" id="{9D92B031-CD5B-4069-8920-FE1EB500B5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48</a:t>
            </a:r>
          </a:p>
        </p:txBody>
      </p:sp>
    </p:spTree>
    <p:extLst>
      <p:ext uri="{BB962C8B-B14F-4D97-AF65-F5344CB8AC3E}">
        <p14:creationId xmlns:p14="http://schemas.microsoft.com/office/powerpoint/2010/main" val="105125227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4F7672E-3F15-4C68-BFEF-0066B46010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2CF019F-C3BD-4090-8BCE-1219F025A2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159EA244-2C84-4B91-B486-923D947F1B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file has a header and text values</a:t>
            </a:r>
          </a:p>
        </p:txBody>
      </p:sp>
      <p:graphicFrame>
        <p:nvGraphicFramePr>
          <p:cNvPr id="4" name="">
            <a:extLst xmlns:a="http://schemas.openxmlformats.org/drawingml/2006/main">
              <a:ext uri="{FF2B5EF4-FFF2-40B4-BE49-F238E27FC236}">
                <a16:creationId xmlns:a16="http://schemas.microsoft.com/office/drawing/2014/main" id="{468A8AFE-1BA9-481D-8424-1486B5574E20}"/>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833438">
                <a:tc>
                  <a:txBody>
                    <a:bodyPr/>
                    <a:lstStyle/>
                    <a:p>
                      <a:r>
                        <a:rPr sz="2025" b="1">
                          <a:solidFill>
                            <a:srgbClr val="FFFFFF"/>
                          </a:solidFill>
                          <a:latin typeface="Calibri"/>
                          <a:ea typeface="Calibri"/>
                          <a:cs typeface="Calibri"/>
                        </a:rPr>
                        <a:t>CSV line</a:t>
                      </a:r>
                    </a:p>
                  </a:txBody>
                  <a:tcPr marL="91440" marR="91440" marT="45720" marB="45720">
                    <a:solidFill>
                      <a:srgbClr val="2E7D6F"/>
                    </a:solidFill>
                  </a:tcPr>
                </a:tc>
                <a:tc>
                  <a:txBody>
                    <a:bodyPr/>
                    <a:lstStyle/>
                    <a:p>
                      <a:r>
                        <a:rPr sz="2025" b="1">
                          <a:solidFill>
                            <a:srgbClr val="FFFFFF"/>
                          </a:solidFill>
                          <a:latin typeface="Calibri"/>
                          <a:ea typeface="Calibri"/>
                          <a:cs typeface="Calibri"/>
                        </a:rPr>
                        <a:t>Dictionary meaning</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unit,reading</a:t>
                      </a:r>
                    </a:p>
                  </a:txBody>
                  <a:tcPr marL="91440" marR="91440" marT="45720" marB="45720">
                    <a:solidFill>
                      <a:srgbClr val="EEF3F6"/>
                    </a:solidFill>
                  </a:tcPr>
                </a:tc>
                <a:tc>
                  <a:txBody>
                    <a:bodyPr/>
                    <a:lstStyle/>
                    <a:p>
                      <a:r>
                        <a:rPr sz="2025" b="0">
                          <a:solidFill>
                            <a:srgbClr val="1C3144"/>
                          </a:solidFill>
                          <a:latin typeface="Calibri"/>
                          <a:ea typeface="Calibri"/>
                          <a:cs typeface="Calibri"/>
                        </a:rPr>
                        <a:t>Two field names</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A,2.5</a:t>
                      </a:r>
                    </a:p>
                  </a:txBody>
                  <a:tcPr marL="91440" marR="91440" marT="45720" marB="45720">
                    <a:solidFill>
                      <a:srgbClr val="FFFFFF"/>
                    </a:solidFill>
                  </a:tcPr>
                </a:tc>
                <a:tc>
                  <a:txBody>
                    <a:bodyPr/>
                    <a:lstStyle/>
                    <a:p>
                      <a:r>
                        <a:rPr sz="2025" b="0">
                          <a:solidFill>
                            <a:srgbClr val="1C3144"/>
                          </a:solidFill>
                          <a:latin typeface="Calibri"/>
                          <a:ea typeface="Calibri"/>
                          <a:cs typeface="Calibri"/>
                        </a:rPr>
                        <a:t>{"unit": "A", "reading": "2.5"}</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{"unit": "B", "reading": ""}</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5062B1E1-03CD-4ABC-990A-90AC613BE19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field is empty text. Check the task’s rule before converting it.</a:t>
            </a:r>
          </a:p>
        </p:txBody>
      </p:sp>
      <p:sp>
        <p:nvSpPr>
          <p:cNvPr id="6" name="">
            <a:extLst xmlns:a="http://schemas.openxmlformats.org/drawingml/2006/main">
              <a:ext uri="{FF2B5EF4-FFF2-40B4-BE49-F238E27FC236}">
                <a16:creationId xmlns:a16="http://schemas.microsoft.com/office/drawing/2014/main" id="{C39B4683-C153-4531-BB3F-B322BE8D55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49</a:t>
            </a:r>
          </a:p>
        </p:txBody>
      </p:sp>
    </p:spTree>
    <p:extLst>
      <p:ext uri="{BB962C8B-B14F-4D97-AF65-F5344CB8AC3E}">
        <p14:creationId xmlns:p14="http://schemas.microsoft.com/office/powerpoint/2010/main" val="1284118079"/>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6B9232B-7D87-466A-8CE1-5C2A60B790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F9B81A3-37DA-4BB3-9DD6-A338E73CB7E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784828C-BD7C-4FD7-95E8-51266E496C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row becomes a dictionary</a:t>
            </a:r>
          </a:p>
        </p:txBody>
      </p:sp>
      <p:sp>
        <p:nvSpPr>
          <p:cNvPr id="4" name="">
            <a:extLst xmlns:a="http://schemas.openxmlformats.org/drawingml/2006/main">
              <a:ext uri="{FF2B5EF4-FFF2-40B4-BE49-F238E27FC236}">
                <a16:creationId xmlns:a16="http://schemas.microsoft.com/office/drawing/2014/main" id="{B5332B75-E84C-43EF-8AF1-820ECA31648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D49F135-E78B-485B-B137-093F7F848AD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header gives field names, such as unit and reading.</a:t>
            </a:r>
          </a:p>
        </p:txBody>
      </p:sp>
      <p:sp>
        <p:nvSpPr>
          <p:cNvPr id="6" name="">
            <a:extLst xmlns:a="http://schemas.openxmlformats.org/drawingml/2006/main">
              <a:ext uri="{FF2B5EF4-FFF2-40B4-BE49-F238E27FC236}">
                <a16:creationId xmlns:a16="http://schemas.microsoft.com/office/drawing/2014/main" id="{34CB23B5-5653-42CD-82E6-1D416964660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C1ADBBC-A1DD-4A19-A9E9-A8715C66B4D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csv.DictReader returns one dictionary for each data row.</a:t>
            </a:r>
          </a:p>
        </p:txBody>
      </p:sp>
      <p:sp>
        <p:nvSpPr>
          <p:cNvPr id="8" name="">
            <a:extLst xmlns:a="http://schemas.openxmlformats.org/drawingml/2006/main">
              <a:ext uri="{FF2B5EF4-FFF2-40B4-BE49-F238E27FC236}">
                <a16:creationId xmlns:a16="http://schemas.microsoft.com/office/drawing/2014/main" id="{82512148-51F2-4C01-8F9C-4496C2E66DF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7AEEF8E-D887-453E-80D0-4B581D19939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value "2.5" starts as text. float("2.5") makes the number 2.5.</a:t>
            </a:r>
          </a:p>
        </p:txBody>
      </p:sp>
      <p:sp>
        <p:nvSpPr>
          <p:cNvPr id="10" name="">
            <a:extLst xmlns:a="http://schemas.openxmlformats.org/drawingml/2006/main">
              <a:ext uri="{FF2B5EF4-FFF2-40B4-BE49-F238E27FC236}">
                <a16:creationId xmlns:a16="http://schemas.microsoft.com/office/drawing/2014/main" id="{CF7B58DD-A193-47C2-8772-3366F32907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50</a:t>
            </a:r>
          </a:p>
        </p:txBody>
      </p:sp>
    </p:spTree>
    <p:extLst>
      <p:ext uri="{BB962C8B-B14F-4D97-AF65-F5344CB8AC3E}">
        <p14:creationId xmlns:p14="http://schemas.microsoft.com/office/powerpoint/2010/main" val="1740393258"/>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F79399F-D956-4A22-8F38-97EE9F70B4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0321CAF-DFFD-4082-B327-874F224BAC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C60CEBA-8739-48C5-A6EB-BF37B12EE9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with and import</a:t>
            </a:r>
          </a:p>
        </p:txBody>
      </p:sp>
      <p:sp>
        <p:nvSpPr>
          <p:cNvPr id="4" name="">
            <a:extLst xmlns:a="http://schemas.openxmlformats.org/drawingml/2006/main">
              <a:ext uri="{FF2B5EF4-FFF2-40B4-BE49-F238E27FC236}">
                <a16:creationId xmlns:a16="http://schemas.microsoft.com/office/drawing/2014/main" id="{6D0AB665-1381-4A96-8C70-8F0D37EB0752}"/>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76B03F3-DD7C-4CE4-B2E1-55BBE400E9DC}"/>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with and import</a:t>
            </a:r>
          </a:p>
        </p:txBody>
      </p:sp>
      <p:sp>
        <p:nvSpPr>
          <p:cNvPr id="6" name="">
            <a:extLst xmlns:a="http://schemas.openxmlformats.org/drawingml/2006/main">
              <a:ext uri="{FF2B5EF4-FFF2-40B4-BE49-F238E27FC236}">
                <a16:creationId xmlns:a16="http://schemas.microsoft.com/office/drawing/2014/main" id="{94C780D0-01BB-49C0-BC06-C79E9BB55A9E}"/>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import makes library tools available. with open(...) opens a file for a block and closes it afterward. A filename must match an existing file in the working folder.</a:t>
            </a:r>
          </a:p>
        </p:txBody>
      </p:sp>
      <p:sp>
        <p:nvSpPr>
          <p:cNvPr id="7" name="">
            <a:extLst xmlns:a="http://schemas.openxmlformats.org/drawingml/2006/main">
              <a:ext uri="{FF2B5EF4-FFF2-40B4-BE49-F238E27FC236}">
                <a16:creationId xmlns:a16="http://schemas.microsoft.com/office/drawing/2014/main" id="{B3FD06F8-C245-4A4F-A53B-BF98354D169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51</a:t>
            </a:r>
          </a:p>
        </p:txBody>
      </p:sp>
    </p:spTree>
    <p:extLst>
      <p:ext uri="{BB962C8B-B14F-4D97-AF65-F5344CB8AC3E}">
        <p14:creationId xmlns:p14="http://schemas.microsoft.com/office/powerpoint/2010/main" val="1749023109"/>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A2182B6-3E68-4A31-BA13-23306C0688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01C97F0-0CF9-4E3A-9958-0914F1E98E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5CC37AC-F4EE-42F5-88DE-D37C024B9A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cohort data</a:t>
            </a:r>
          </a:p>
        </p:txBody>
      </p:sp>
      <p:sp>
        <p:nvSpPr>
          <p:cNvPr id="4" name="">
            <a:extLst xmlns:a="http://schemas.openxmlformats.org/drawingml/2006/main">
              <a:ext uri="{FF2B5EF4-FFF2-40B4-BE49-F238E27FC236}">
                <a16:creationId xmlns:a16="http://schemas.microsoft.com/office/drawing/2014/main" id="{936C1230-069B-4DAA-B633-4E5EF6C6838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6151B1C-4208-4EC2-8FC5-C64C19B6392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site_inspection_log.csv</a:t>
            </a:r>
          </a:p>
        </p:txBody>
      </p:sp>
      <p:sp>
        <p:nvSpPr>
          <p:cNvPr id="6" name="">
            <a:extLst xmlns:a="http://schemas.openxmlformats.org/drawingml/2006/main">
              <a:ext uri="{FF2B5EF4-FFF2-40B4-BE49-F238E27FC236}">
                <a16:creationId xmlns:a16="http://schemas.microsoft.com/office/drawing/2014/main" id="{7CDE746B-A239-40E9-B1D6-2661B1787D8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36F4159-F7ED-4C03-80D4-B7C1E96C0DC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Summarise crack_width_mm (millimetres); group by structure_id.</a:t>
            </a:r>
          </a:p>
        </p:txBody>
      </p:sp>
      <p:sp>
        <p:nvSpPr>
          <p:cNvPr id="8" name="">
            <a:extLst xmlns:a="http://schemas.openxmlformats.org/drawingml/2006/main">
              <a:ext uri="{FF2B5EF4-FFF2-40B4-BE49-F238E27FC236}">
                <a16:creationId xmlns:a16="http://schemas.microsoft.com/office/drawing/2014/main" id="{ABD29EFC-B26B-4FAA-9C5F-734EEBC927C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422693A-3996-4093-8148-C39EA4674D0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issued task’s blank-value and threshold rules before calculating.</a:t>
            </a:r>
          </a:p>
        </p:txBody>
      </p:sp>
      <p:sp>
        <p:nvSpPr>
          <p:cNvPr id="10" name="">
            <a:extLst xmlns:a="http://schemas.openxmlformats.org/drawingml/2006/main">
              <a:ext uri="{FF2B5EF4-FFF2-40B4-BE49-F238E27FC236}">
                <a16:creationId xmlns:a16="http://schemas.microsoft.com/office/drawing/2014/main" id="{068C4207-9143-4C3E-861B-2A834D79CA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52</a:t>
            </a:r>
          </a:p>
        </p:txBody>
      </p:sp>
    </p:spTree>
    <p:extLst>
      <p:ext uri="{BB962C8B-B14F-4D97-AF65-F5344CB8AC3E}">
        <p14:creationId xmlns:p14="http://schemas.microsoft.com/office/powerpoint/2010/main" val="1803891911"/>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13B0907-5989-4DFE-AFA0-38C9DCF29A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788E19C-DB63-4DD0-B6B2-08540D055F6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B707FBD-2CA2-4E23-BEE4-1DEE5E8EF0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supplied CSV in four steps</a:t>
            </a:r>
          </a:p>
        </p:txBody>
      </p:sp>
      <p:sp>
        <p:nvSpPr>
          <p:cNvPr id="4" name="">
            <a:extLst xmlns:a="http://schemas.openxmlformats.org/drawingml/2006/main">
              <a:ext uri="{FF2B5EF4-FFF2-40B4-BE49-F238E27FC236}">
                <a16:creationId xmlns:a16="http://schemas.microsoft.com/office/drawing/2014/main" id="{52AC5623-97B8-45FE-950C-1B72D655CB6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8609229-C0DC-4EC8-91C0-5D4ED9D7FA0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Place site_inspection_log.csv beside the notebook, or upload it in Colab’s Files panel.</a:t>
            </a:r>
          </a:p>
        </p:txBody>
      </p:sp>
      <p:sp>
        <p:nvSpPr>
          <p:cNvPr id="6" name="">
            <a:extLst xmlns:a="http://schemas.openxmlformats.org/drawingml/2006/main">
              <a:ext uri="{FF2B5EF4-FFF2-40B4-BE49-F238E27FC236}">
                <a16:creationId xmlns:a16="http://schemas.microsoft.com/office/drawing/2014/main" id="{E24EB784-E2D2-464F-AA21-971977FB4EC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0A4A86-3251-467A-9C95-2A315C36FE6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csv loads the CSV tools. newline="" lets the reader handle line endings. DictReader uses the header as dictionary keys.</a:t>
            </a:r>
          </a:p>
        </p:txBody>
      </p:sp>
      <p:sp>
        <p:nvSpPr>
          <p:cNvPr id="8" name="">
            <a:extLst xmlns:a="http://schemas.openxmlformats.org/drawingml/2006/main">
              <a:ext uri="{FF2B5EF4-FFF2-40B4-BE49-F238E27FC236}">
                <a16:creationId xmlns:a16="http://schemas.microsoft.com/office/drawing/2014/main" id="{693D14D5-1FED-4546-96F7-3F4DA7A2C00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7D49C17-E364-45C6-9F72-B49DF19E829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collects the rows while the file is open. We inspect the first row and the count; the later assignment calculations are your work.</a:t>
            </a:r>
          </a:p>
        </p:txBody>
      </p:sp>
      <p:sp>
        <p:nvSpPr>
          <p:cNvPr id="10" name="">
            <a:extLst xmlns:a="http://schemas.openxmlformats.org/drawingml/2006/main">
              <a:ext uri="{FF2B5EF4-FFF2-40B4-BE49-F238E27FC236}">
                <a16:creationId xmlns:a16="http://schemas.microsoft.com/office/drawing/2014/main" id="{03BEF720-259F-4274-A25D-BC9EA8F61B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53</a:t>
            </a:r>
          </a:p>
        </p:txBody>
      </p:sp>
    </p:spTree>
    <p:extLst>
      <p:ext uri="{BB962C8B-B14F-4D97-AF65-F5344CB8AC3E}">
        <p14:creationId xmlns:p14="http://schemas.microsoft.com/office/powerpoint/2010/main" val="1349482663"/>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D96E152-1E8C-4125-B8C8-B54D43E99C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3F071AA-5AA0-40AE-8E4D-8AA4E85D4C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A45461D-982E-4D86-870B-3F39E6576EC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with open as source does</a:t>
            </a:r>
          </a:p>
        </p:txBody>
      </p:sp>
      <p:sp>
        <p:nvSpPr>
          <p:cNvPr id="4" name="">
            <a:extLst xmlns:a="http://schemas.openxmlformats.org/drawingml/2006/main">
              <a:ext uri="{FF2B5EF4-FFF2-40B4-BE49-F238E27FC236}">
                <a16:creationId xmlns:a16="http://schemas.microsoft.com/office/drawing/2014/main" id="{C383ABAC-799D-425E-9675-CB981B88B1E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3D2E1DE-2807-4BE6-8544-6B5510B4772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open("file.csv", newline="") opens a text file for reading. Use the actual supplied filename, including its .csv extension.</a:t>
            </a:r>
          </a:p>
        </p:txBody>
      </p:sp>
      <p:sp>
        <p:nvSpPr>
          <p:cNvPr id="6" name="">
            <a:extLst xmlns:a="http://schemas.openxmlformats.org/drawingml/2006/main">
              <a:ext uri="{FF2B5EF4-FFF2-40B4-BE49-F238E27FC236}">
                <a16:creationId xmlns:a16="http://schemas.microsoft.com/office/drawing/2014/main" id="{B3602A7B-371A-427A-B4FE-72FB6637E31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B2EAE8-CD85-48FF-B762-009E82017FA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 manages the open file. as source gives that file object a name. Indented lines use it while it is open; leaving the block closes it.</a:t>
            </a:r>
          </a:p>
        </p:txBody>
      </p:sp>
      <p:sp>
        <p:nvSpPr>
          <p:cNvPr id="8" name="">
            <a:extLst xmlns:a="http://schemas.openxmlformats.org/drawingml/2006/main">
              <a:ext uri="{FF2B5EF4-FFF2-40B4-BE49-F238E27FC236}">
                <a16:creationId xmlns:a16="http://schemas.microsoft.com/office/drawing/2014/main" id="{65852224-F5A7-4624-A133-2E1C3CA8F8A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F8189DA-F925-446B-B913-BA2C559F54A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csv.DictReader(source) reads rows using the header names as keys. list(...) collects those rows into memory before the file closes.</a:t>
            </a:r>
          </a:p>
        </p:txBody>
      </p:sp>
      <p:sp>
        <p:nvSpPr>
          <p:cNvPr id="10" name="">
            <a:extLst xmlns:a="http://schemas.openxmlformats.org/drawingml/2006/main">
              <a:ext uri="{FF2B5EF4-FFF2-40B4-BE49-F238E27FC236}">
                <a16:creationId xmlns:a16="http://schemas.microsoft.com/office/drawing/2014/main" id="{942D0604-449D-4C6F-A6F0-71CA9EBEA1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54</a:t>
            </a:r>
          </a:p>
        </p:txBody>
      </p:sp>
    </p:spTree>
    <p:extLst>
      <p:ext uri="{BB962C8B-B14F-4D97-AF65-F5344CB8AC3E}">
        <p14:creationId xmlns:p14="http://schemas.microsoft.com/office/powerpoint/2010/main" val="1813391535"/>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BB03E44-3B6C-4C23-BC79-7EB8F9954A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325E66D-A9CC-4009-A80B-C1E86EC505F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C187534-7133-4465-948C-9A727BF787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 a real CSV and inspect its first row</a:t>
            </a:r>
          </a:p>
        </p:txBody>
      </p:sp>
      <p:sp>
        <p:nvSpPr>
          <p:cNvPr id="4" name="">
            <a:extLst xmlns:a="http://schemas.openxmlformats.org/drawingml/2006/main">
              <a:ext uri="{FF2B5EF4-FFF2-40B4-BE49-F238E27FC236}">
                <a16:creationId xmlns:a16="http://schemas.microsoft.com/office/drawing/2014/main" id="{BB42F809-F5DE-4B61-9115-7E1709B0269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D5988C3-A3CC-4581-88E3-BD83AE5F642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3" b="0">
                <a:solidFill>
                  <a:srgbClr val="F4F7FA"/>
                </a:solidFill>
                <a:latin typeface="Courier New"/>
                <a:ea typeface="Courier New"/>
                <a:cs typeface="Courier New"/>
              </a:defRPr>
            </a:defPPr>
            <a:lvl1pPr>
              <a:defRPr sz="2173" b="0">
                <a:solidFill>
                  <a:srgbClr val="F4F7FA"/>
                </a:solidFill>
                <a:latin typeface="Courier New"/>
                <a:ea typeface="Courier New"/>
                <a:cs typeface="Courier New"/>
              </a:defRPr>
            </a:lvl1pPr>
            <a:lvl2pPr>
              <a:defRPr sz="2173" b="0">
                <a:solidFill>
                  <a:srgbClr val="F4F7FA"/>
                </a:solidFill>
                <a:latin typeface="Courier New"/>
                <a:ea typeface="Courier New"/>
                <a:cs typeface="Courier New"/>
              </a:defRPr>
            </a:lvl2pPr>
            <a:lvl3pPr>
              <a:defRPr sz="2173" b="0">
                <a:solidFill>
                  <a:srgbClr val="F4F7FA"/>
                </a:solidFill>
                <a:latin typeface="Courier New"/>
                <a:ea typeface="Courier New"/>
                <a:cs typeface="Courier New"/>
              </a:defRPr>
            </a:lvl3pPr>
            <a:lvl4pPr>
              <a:defRPr sz="2173" b="0">
                <a:solidFill>
                  <a:srgbClr val="F4F7FA"/>
                </a:solidFill>
                <a:latin typeface="Courier New"/>
                <a:ea typeface="Courier New"/>
                <a:cs typeface="Courier New"/>
              </a:defRPr>
            </a:lvl4pPr>
            <a:lvl5pPr>
              <a:defRPr sz="2173" b="0">
                <a:solidFill>
                  <a:srgbClr val="F4F7FA"/>
                </a:solidFill>
                <a:latin typeface="Courier New"/>
                <a:ea typeface="Courier New"/>
                <a:cs typeface="Courier New"/>
              </a:defRPr>
            </a:lvl5pPr>
            <a:lvl6pPr>
              <a:defRPr sz="2173" b="0">
                <a:solidFill>
                  <a:srgbClr val="F4F7FA"/>
                </a:solidFill>
                <a:latin typeface="Courier New"/>
                <a:ea typeface="Courier New"/>
                <a:cs typeface="Courier New"/>
              </a:defRPr>
            </a:lvl6pPr>
            <a:lvl7pPr>
              <a:defRPr sz="2173" b="0">
                <a:solidFill>
                  <a:srgbClr val="F4F7FA"/>
                </a:solidFill>
                <a:latin typeface="Courier New"/>
                <a:ea typeface="Courier New"/>
                <a:cs typeface="Courier New"/>
              </a:defRPr>
            </a:lvl7pPr>
            <a:lvl8pPr>
              <a:defRPr sz="2173" b="0">
                <a:solidFill>
                  <a:srgbClr val="F4F7FA"/>
                </a:solidFill>
                <a:latin typeface="Courier New"/>
                <a:ea typeface="Courier New"/>
                <a:cs typeface="Courier New"/>
              </a:defRPr>
            </a:lvl8pPr>
            <a:lvl9pPr>
              <a:defRPr sz="2173" b="0">
                <a:solidFill>
                  <a:srgbClr val="F4F7FA"/>
                </a:solidFill>
                <a:latin typeface="Courier New"/>
                <a:ea typeface="Courier New"/>
                <a:cs typeface="Courier New"/>
              </a:defRPr>
            </a:lvl9pPr>
          </a:lstStyle>
          <a:p xmlns:a="http://schemas.openxmlformats.org/drawingml/2006/main">
            <a:pPr>
              <a:defRPr sz="2173" b="0">
                <a:solidFill>
                  <a:srgbClr val="F4F7FA"/>
                </a:solidFill>
                <a:latin typeface="Courier New"/>
                <a:ea typeface="Courier New"/>
                <a:cs typeface="Courier New"/>
              </a:defRPr>
            </a:pPr>
            <a:r>
              <a:rPr sz="2173" b="0">
                <a:solidFill>
                  <a:srgbClr val="FFB080"/>
                </a:solidFill>
                <a:latin typeface="Courier New"/>
                <a:ea typeface="Courier New"/>
                <a:cs typeface="Courier New"/>
              </a:rPr>
              <a:t>import</a:t>
            </a:r>
            <a:r>
              <a:rPr sz="2173" b="0">
                <a:solidFill>
                  <a:srgbClr val="F4F7FA"/>
                </a:solidFill>
                <a:latin typeface="Courier New"/>
                <a:ea typeface="Courier New"/>
                <a:cs typeface="Courier New"/>
              </a:rPr>
              <a:t> csv</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with open("site_inspection_log.csv", newline="") as source:</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rows = list(csv.DictReader(source))</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print(rows[0])</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print(len(rows))</a:t>
            </a:r>
          </a:p>
        </p:txBody>
      </p:sp>
      <p:sp>
        <p:nvSpPr>
          <p:cNvPr id="6" name="">
            <a:extLst xmlns:a="http://schemas.openxmlformats.org/drawingml/2006/main">
              <a:ext uri="{FF2B5EF4-FFF2-40B4-BE49-F238E27FC236}">
                <a16:creationId xmlns:a16="http://schemas.microsoft.com/office/drawing/2014/main" id="{D535220E-D6EC-4855-9A1A-00E38368BBD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with open(...) as source opens the file. as gives the open file the name source.</a:t>
            </a:r>
          </a:p>
        </p:txBody>
      </p:sp>
      <p:sp>
        <p:nvSpPr>
          <p:cNvPr id="7" name="">
            <a:extLst xmlns:a="http://schemas.openxmlformats.org/drawingml/2006/main">
              <a:ext uri="{FF2B5EF4-FFF2-40B4-BE49-F238E27FC236}">
                <a16:creationId xmlns:a16="http://schemas.microsoft.com/office/drawing/2014/main" id="{177791F4-1E5C-43D2-B954-F237F7C61C3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actual keys and text values. Check the uploaded filename if Python reports FileNotFoundError.</a:t>
            </a:r>
          </a:p>
        </p:txBody>
      </p:sp>
      <p:sp>
        <p:nvSpPr>
          <p:cNvPr id="8" name="">
            <a:extLst xmlns:a="http://schemas.openxmlformats.org/drawingml/2006/main">
              <a:ext uri="{FF2B5EF4-FFF2-40B4-BE49-F238E27FC236}">
                <a16:creationId xmlns:a16="http://schemas.microsoft.com/office/drawing/2014/main" id="{781BF4C1-7200-433A-B251-C4BA8D3AD5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55</a:t>
            </a:r>
          </a:p>
        </p:txBody>
      </p:sp>
    </p:spTree>
    <p:extLst>
      <p:ext uri="{BB962C8B-B14F-4D97-AF65-F5344CB8AC3E}">
        <p14:creationId xmlns:p14="http://schemas.microsoft.com/office/powerpoint/2010/main" val="1888435908"/>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E42568C-6E5E-4AA7-BCCC-1E185B3CA3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21AA056-B5E3-4A9A-BDCB-ACFFE9E924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50A0CC7-6772-495C-A288-1AF4ABBC15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Numbers read from CSV</a:t>
            </a:r>
          </a:p>
        </p:txBody>
      </p:sp>
      <p:sp>
        <p:nvSpPr>
          <p:cNvPr id="4" name="">
            <a:extLst xmlns:a="http://schemas.openxmlformats.org/drawingml/2006/main">
              <a:ext uri="{FF2B5EF4-FFF2-40B4-BE49-F238E27FC236}">
                <a16:creationId xmlns:a16="http://schemas.microsoft.com/office/drawing/2014/main" id="{B5975DC0-A9B0-456C-BD4F-7AADACD7030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F69FBDB-9BF6-4EFA-A17A-57575969238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8BAFC37-2AAB-4BBA-BD75-B47A03B4D14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DictReader reads each row as a dictionary. CSV field values start as text. float converts a recorded numeric field to a number.</a:t>
            </a:r>
          </a:p>
        </p:txBody>
      </p:sp>
      <p:sp>
        <p:nvSpPr>
          <p:cNvPr id="7" name="">
            <a:extLst xmlns:a="http://schemas.openxmlformats.org/drawingml/2006/main">
              <a:ext uri="{FF2B5EF4-FFF2-40B4-BE49-F238E27FC236}">
                <a16:creationId xmlns:a16="http://schemas.microsoft.com/office/drawing/2014/main" id="{252D42FD-6BD9-4816-B6DF-FFBB32CC693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Check for an empty string before converting a blank cell.</a:t>
            </a:r>
          </a:p>
        </p:txBody>
      </p:sp>
      <p:sp>
        <p:nvSpPr>
          <p:cNvPr id="8" name="">
            <a:extLst xmlns:a="http://schemas.openxmlformats.org/drawingml/2006/main">
              <a:ext uri="{FF2B5EF4-FFF2-40B4-BE49-F238E27FC236}">
                <a16:creationId xmlns:a16="http://schemas.microsoft.com/office/drawing/2014/main" id="{619BC92B-4D87-4455-A22B-CBCF61C814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56</a:t>
            </a:r>
          </a:p>
        </p:txBody>
      </p:sp>
    </p:spTree>
    <p:extLst>
      <p:ext uri="{BB962C8B-B14F-4D97-AF65-F5344CB8AC3E}">
        <p14:creationId xmlns:p14="http://schemas.microsoft.com/office/powerpoint/2010/main" val="1743597316"/>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762E806-B5AE-452F-838B-CB07FE5999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89B7B38-BC87-432D-844C-A9F3BAA612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9C3E217-9507-4E3C-84A8-90E3016204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Recorded values from the supplied rows</a:t>
            </a:r>
          </a:p>
        </p:txBody>
      </p:sp>
      <p:sp>
        <p:nvSpPr>
          <p:cNvPr id="4" name="">
            <a:extLst xmlns:a="http://schemas.openxmlformats.org/drawingml/2006/main">
              <a:ext uri="{FF2B5EF4-FFF2-40B4-BE49-F238E27FC236}">
                <a16:creationId xmlns:a16="http://schemas.microsoft.com/office/drawing/2014/main" id="{A7B4C837-8472-48D6-9DFB-C55A7D4B3E7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13A39E8-58CF-48F8-B2D0-8B47FD01E23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text = row["crack_width_mm"]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text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values.append(float(text))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print(values[:5])</a:t>
            </a:r>
          </a:p>
        </p:txBody>
      </p:sp>
      <p:sp>
        <p:nvSpPr>
          <p:cNvPr id="6" name="">
            <a:extLst xmlns:a="http://schemas.openxmlformats.org/drawingml/2006/main">
              <a:ext uri="{FF2B5EF4-FFF2-40B4-BE49-F238E27FC236}">
                <a16:creationId xmlns:a16="http://schemas.microsoft.com/office/drawing/2014/main" id="{23D2EB20-9DCC-46F8-A43D-6AC7C3B42F5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C49F7CD-3D7A-4CE8-820C-39E49D7EFC2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retained number comes directly from a CSV row.</a:t>
            </a:r>
          </a:p>
        </p:txBody>
      </p:sp>
      <p:sp>
        <p:nvSpPr>
          <p:cNvPr id="8" name="">
            <a:extLst xmlns:a="http://schemas.openxmlformats.org/drawingml/2006/main">
              <a:ext uri="{FF2B5EF4-FFF2-40B4-BE49-F238E27FC236}">
                <a16:creationId xmlns:a16="http://schemas.microsoft.com/office/drawing/2014/main" id="{60E0C789-786B-4EBE-933F-D501B50B681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9" name="">
            <a:extLst xmlns:a="http://schemas.openxmlformats.org/drawingml/2006/main">
              <a:ext uri="{FF2B5EF4-FFF2-40B4-BE49-F238E27FC236}">
                <a16:creationId xmlns:a16="http://schemas.microsoft.com/office/drawing/2014/main" id="{1CB0169F-CDC2-46AD-BB38-7C141583B0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57</a:t>
            </a:r>
          </a:p>
        </p:txBody>
      </p:sp>
    </p:spTree>
    <p:extLst>
      <p:ext uri="{BB962C8B-B14F-4D97-AF65-F5344CB8AC3E}">
        <p14:creationId xmlns:p14="http://schemas.microsoft.com/office/powerpoint/2010/main" val="909521474"/>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47F68CD-44C4-4BA0-BF51-F56B7C39EE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EA505B7-FAE0-4541-9D6D-DCBAE5EEBE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B1E2104-50C2-404B-8ECD-E4399B4754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summary for each group</a:t>
            </a:r>
          </a:p>
        </p:txBody>
      </p:sp>
      <p:sp>
        <p:nvSpPr>
          <p:cNvPr id="4" name="">
            <a:extLst xmlns:a="http://schemas.openxmlformats.org/drawingml/2006/main">
              <a:ext uri="{FF2B5EF4-FFF2-40B4-BE49-F238E27FC236}">
                <a16:creationId xmlns:a16="http://schemas.microsoft.com/office/drawing/2014/main" id="{E195C9DF-3504-4882-B8FC-A61E55DB316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66C55B3-3814-4DA7-AC3F-73B02569967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29E86AC-611D-4D37-9D3A-FBA6F4F671F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a totals dictionary and a counts dictionary. Initialise a new group before adding its first reading.</a:t>
            </a:r>
          </a:p>
        </p:txBody>
      </p:sp>
      <p:sp>
        <p:nvSpPr>
          <p:cNvPr id="7" name="">
            <a:extLst xmlns:a="http://schemas.openxmlformats.org/drawingml/2006/main">
              <a:ext uri="{FF2B5EF4-FFF2-40B4-BE49-F238E27FC236}">
                <a16:creationId xmlns:a16="http://schemas.microsoft.com/office/drawing/2014/main" id="{C0445097-F92A-4CF5-95A1-41A0DF52742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Add the recorded value and increment its count. Divide each total by its count to obtain the group mean.</a:t>
            </a:r>
          </a:p>
        </p:txBody>
      </p:sp>
      <p:sp>
        <p:nvSpPr>
          <p:cNvPr id="8" name="">
            <a:extLst xmlns:a="http://schemas.openxmlformats.org/drawingml/2006/main">
              <a:ext uri="{FF2B5EF4-FFF2-40B4-BE49-F238E27FC236}">
                <a16:creationId xmlns:a16="http://schemas.microsoft.com/office/drawing/2014/main" id="{91D0C20E-894E-4094-BFD5-A677C989A7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58</a:t>
            </a:r>
          </a:p>
        </p:txBody>
      </p:sp>
    </p:spTree>
    <p:extLst>
      <p:ext uri="{BB962C8B-B14F-4D97-AF65-F5344CB8AC3E}">
        <p14:creationId xmlns:p14="http://schemas.microsoft.com/office/powerpoint/2010/main" val="182662838"/>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1260C3D-D453-4A75-B282-284E4613B8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E550686-9265-48D1-939B-BC404F6745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AE09AAD-8A12-4DC3-AF23-E8C213D5EC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Grouped means from the supplied rows (1/2)</a:t>
            </a:r>
          </a:p>
        </p:txBody>
      </p:sp>
      <p:sp>
        <p:nvSpPr>
          <p:cNvPr id="4" name="">
            <a:extLst xmlns:a="http://schemas.openxmlformats.org/drawingml/2006/main">
              <a:ext uri="{FF2B5EF4-FFF2-40B4-BE49-F238E27FC236}">
                <a16:creationId xmlns:a16="http://schemas.microsoft.com/office/drawing/2014/main" id="{971F7F8F-F668-4543-8158-2BB9441D473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22D9CF4-9BE1-4F20-A0EE-77BEEE5BD13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totals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 row["structure_id"]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row["crack_width_mm"]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 = float(row["crack_width_mm"])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totals[group] = totals.get(group, 0) + 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counts[group] = counts.get(group, 0) + 1</a:t>
            </a:r>
          </a:p>
        </p:txBody>
      </p:sp>
      <p:sp>
        <p:nvSpPr>
          <p:cNvPr id="6" name="">
            <a:extLst xmlns:a="http://schemas.openxmlformats.org/drawingml/2006/main">
              <a:ext uri="{FF2B5EF4-FFF2-40B4-BE49-F238E27FC236}">
                <a16:creationId xmlns:a16="http://schemas.microsoft.com/office/drawing/2014/main" id="{E583FBC4-687B-48A9-A1C7-9A8F71BFB37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get(group, 0) returns the existing value or zero for a new group.</a:t>
            </a:r>
          </a:p>
        </p:txBody>
      </p:sp>
      <p:sp>
        <p:nvSpPr>
          <p:cNvPr id="7" name="">
            <a:extLst xmlns:a="http://schemas.openxmlformats.org/drawingml/2006/main">
              <a:ext uri="{FF2B5EF4-FFF2-40B4-BE49-F238E27FC236}">
                <a16:creationId xmlns:a16="http://schemas.microsoft.com/office/drawing/2014/main" id="{0B74FADD-8C1D-4E1D-B17E-70A4D038E50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8" name="">
            <a:extLst xmlns:a="http://schemas.openxmlformats.org/drawingml/2006/main">
              <a:ext uri="{FF2B5EF4-FFF2-40B4-BE49-F238E27FC236}">
                <a16:creationId xmlns:a16="http://schemas.microsoft.com/office/drawing/2014/main" id="{B0CE793A-53E7-4EC3-9D5C-7DC6DA61A1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59</a:t>
            </a:r>
          </a:p>
        </p:txBody>
      </p:sp>
    </p:spTree>
    <p:extLst>
      <p:ext uri="{BB962C8B-B14F-4D97-AF65-F5344CB8AC3E}">
        <p14:creationId xmlns:p14="http://schemas.microsoft.com/office/powerpoint/2010/main" val="429019210"/>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859855F-04D1-4BD1-AA59-92A4A648C14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2043308-22CE-4FEB-A832-E29AB37435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E1D5DEF-5E08-43C1-9739-D14255FA39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Grouped means from the supplied rows (2/2)</a:t>
            </a:r>
          </a:p>
        </p:txBody>
      </p:sp>
      <p:sp>
        <p:nvSpPr>
          <p:cNvPr id="4" name="">
            <a:extLst xmlns:a="http://schemas.openxmlformats.org/drawingml/2006/main">
              <a:ext uri="{FF2B5EF4-FFF2-40B4-BE49-F238E27FC236}">
                <a16:creationId xmlns:a16="http://schemas.microsoft.com/office/drawing/2014/main" id="{40BEF910-4064-4228-80C7-E8DCCA21222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DE2A966-C537-4842-A980-A386A4B6154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group in totals: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means[group] = totals[group] / counts[group]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print(means)</a:t>
            </a:r>
          </a:p>
        </p:txBody>
      </p:sp>
      <p:sp>
        <p:nvSpPr>
          <p:cNvPr id="6" name="">
            <a:extLst xmlns:a="http://schemas.openxmlformats.org/drawingml/2006/main">
              <a:ext uri="{FF2B5EF4-FFF2-40B4-BE49-F238E27FC236}">
                <a16:creationId xmlns:a16="http://schemas.microsoft.com/office/drawing/2014/main" id="{E12FFA5C-3DBC-4118-8E9F-7FA5617D717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get(group, 0) returns the existing value or zero for a new group.</a:t>
            </a:r>
          </a:p>
        </p:txBody>
      </p:sp>
      <p:sp>
        <p:nvSpPr>
          <p:cNvPr id="7" name="">
            <a:extLst xmlns:a="http://schemas.openxmlformats.org/drawingml/2006/main">
              <a:ext uri="{FF2B5EF4-FFF2-40B4-BE49-F238E27FC236}">
                <a16:creationId xmlns:a16="http://schemas.microsoft.com/office/drawing/2014/main" id="{AFE43D24-D92D-49DF-8C7E-F7F985F4135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with the indentation shown.</a:t>
            </a:r>
          </a:p>
        </p:txBody>
      </p:sp>
      <p:sp>
        <p:nvSpPr>
          <p:cNvPr id="8" name="">
            <a:extLst xmlns:a="http://schemas.openxmlformats.org/drawingml/2006/main">
              <a:ext uri="{FF2B5EF4-FFF2-40B4-BE49-F238E27FC236}">
                <a16:creationId xmlns:a16="http://schemas.microsoft.com/office/drawing/2014/main" id="{7E41C7F8-66EB-4234-8C9C-288CBAB2BB2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60</a:t>
            </a:r>
          </a:p>
        </p:txBody>
      </p:sp>
    </p:spTree>
    <p:extLst>
      <p:ext uri="{BB962C8B-B14F-4D97-AF65-F5344CB8AC3E}">
        <p14:creationId xmlns:p14="http://schemas.microsoft.com/office/powerpoint/2010/main" val="281607175"/>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11B7D1D-ABC7-4A2A-82B0-6C463BF99A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5F0195C-FE3A-4D5C-BA22-7FF2AF3F0C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6AFA2D3-6E26-454D-A2DD-22DCDB1102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CD796373-54BF-4377-88A6-E45225435FF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127E6BE-348E-4A5D-AAC8-CB51DCB1B31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W04_student.ipynb.</a:t>
            </a:r>
          </a:p>
        </p:txBody>
      </p:sp>
      <p:sp>
        <p:nvSpPr>
          <p:cNvPr id="6" name="">
            <a:extLst xmlns:a="http://schemas.openxmlformats.org/drawingml/2006/main">
              <a:ext uri="{FF2B5EF4-FFF2-40B4-BE49-F238E27FC236}">
                <a16:creationId xmlns:a16="http://schemas.microsoft.com/office/drawing/2014/main" id="{99748814-21E8-4586-9358-50006C59EC3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485914F-1AFD-41DE-A277-5B1E26711BA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F5E2A317-3254-4327-BCF6-C7FB47C1C91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A39F231-BE3D-4127-B33F-DF5BD8E6A58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45F1EC71-133D-4C18-B448-3E1C737D002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A8F385F-5D0A-4CA6-BF9C-49E8D125D83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all cells, then save the completed notebook.</a:t>
            </a:r>
          </a:p>
        </p:txBody>
      </p:sp>
      <p:sp>
        <p:nvSpPr>
          <p:cNvPr id="12" name="">
            <a:extLst xmlns:a="http://schemas.openxmlformats.org/drawingml/2006/main">
              <a:ext uri="{FF2B5EF4-FFF2-40B4-BE49-F238E27FC236}">
                <a16:creationId xmlns:a16="http://schemas.microsoft.com/office/drawing/2014/main" id="{FDED40B0-ED4E-44AC-8D69-E12F9192C8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61</a:t>
            </a:r>
          </a:p>
        </p:txBody>
      </p:sp>
    </p:spTree>
    <p:extLst>
      <p:ext uri="{BB962C8B-B14F-4D97-AF65-F5344CB8AC3E}">
        <p14:creationId xmlns:p14="http://schemas.microsoft.com/office/powerpoint/2010/main" val="1635866576"/>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A570150-F84F-4595-ABAC-D6EF8F1E49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4B1150B-ADDF-4295-BA0F-A729198960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DBAC4D4-674C-4E74-B9B1-F1555EBFC9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valid_count (5 marks)</a:t>
            </a:r>
          </a:p>
        </p:txBody>
      </p:sp>
      <p:sp>
        <p:nvSpPr>
          <p:cNvPr id="4" name="">
            <a:extLst xmlns:a="http://schemas.openxmlformats.org/drawingml/2006/main">
              <a:ext uri="{FF2B5EF4-FFF2-40B4-BE49-F238E27FC236}">
                <a16:creationId xmlns:a16="http://schemas.microsoft.com/office/drawing/2014/main" id="{5707F23A-ACD8-4E4C-88A9-895499CEF64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ABD42C2-104A-4E11-B8F1-69A92791732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ABA8825-4F41-4D48-9F59-B2C7A49DFE7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rows whose crack_width_mm field is nonblank.</a:t>
            </a:r>
          </a:p>
        </p:txBody>
      </p:sp>
      <p:sp>
        <p:nvSpPr>
          <p:cNvPr id="7" name="">
            <a:extLst xmlns:a="http://schemas.openxmlformats.org/drawingml/2006/main">
              <a:ext uri="{FF2B5EF4-FFF2-40B4-BE49-F238E27FC236}">
                <a16:creationId xmlns:a16="http://schemas.microsoft.com/office/drawing/2014/main" id="{AA2FF3EC-6F63-41AB-83AB-A60DBCA7CC6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Skip blank readings before numeric conversion.</a:t>
            </a:r>
          </a:p>
        </p:txBody>
      </p:sp>
      <p:sp>
        <p:nvSpPr>
          <p:cNvPr id="8" name="">
            <a:extLst xmlns:a="http://schemas.openxmlformats.org/drawingml/2006/main">
              <a:ext uri="{FF2B5EF4-FFF2-40B4-BE49-F238E27FC236}">
                <a16:creationId xmlns:a16="http://schemas.microsoft.com/office/drawing/2014/main" id="{11FA1095-4DA3-4BCA-80F0-CC2D9FE6C9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62</a:t>
            </a:r>
          </a:p>
        </p:txBody>
      </p:sp>
    </p:spTree>
    <p:extLst>
      <p:ext uri="{BB962C8B-B14F-4D97-AF65-F5344CB8AC3E}">
        <p14:creationId xmlns:p14="http://schemas.microsoft.com/office/powerpoint/2010/main" val="1291464570"/>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BA597B9-295E-4636-9A57-AFAE738B54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4ADA484-E662-44AE-837A-633D4BBA1C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0922259-B55E-40BD-83BE-0E75309DD9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mean_reading (5 marks)</a:t>
            </a:r>
          </a:p>
        </p:txBody>
      </p:sp>
      <p:sp>
        <p:nvSpPr>
          <p:cNvPr id="4" name="">
            <a:extLst xmlns:a="http://schemas.openxmlformats.org/drawingml/2006/main">
              <a:ext uri="{FF2B5EF4-FFF2-40B4-BE49-F238E27FC236}">
                <a16:creationId xmlns:a16="http://schemas.microsoft.com/office/drawing/2014/main" id="{C2A321FC-CCD3-4A63-AF9D-81F22B1DBC5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6485856-3026-479A-96E3-8FDC2049F80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the arithmetic mean of the nonblank crack_width_mm values as a number.</a:t>
            </a:r>
          </a:p>
        </p:txBody>
      </p:sp>
      <p:sp>
        <p:nvSpPr>
          <p:cNvPr id="6" name="">
            <a:extLst xmlns:a="http://schemas.openxmlformats.org/drawingml/2006/main">
              <a:ext uri="{FF2B5EF4-FFF2-40B4-BE49-F238E27FC236}">
                <a16:creationId xmlns:a16="http://schemas.microsoft.com/office/drawing/2014/main" id="{3E1328B0-6ECE-4A77-9E27-489B5AE5B99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3BD201D-2A0C-4BBF-950A-0D0832F469F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the valid readings and divide by their count.</a:t>
            </a:r>
          </a:p>
        </p:txBody>
      </p:sp>
      <p:sp>
        <p:nvSpPr>
          <p:cNvPr id="8" name="">
            <a:extLst xmlns:a="http://schemas.openxmlformats.org/drawingml/2006/main">
              <a:ext uri="{FF2B5EF4-FFF2-40B4-BE49-F238E27FC236}">
                <a16:creationId xmlns:a16="http://schemas.microsoft.com/office/drawing/2014/main" id="{1AA4ED14-3862-4BD1-8289-DB08EA76D48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A025CF9-EAF2-45E6-ABCC-66FEE98ADCC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8A93D08E-384C-422D-AE2D-D9C814112B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63</a:t>
            </a:r>
          </a:p>
        </p:txBody>
      </p:sp>
    </p:spTree>
    <p:extLst>
      <p:ext uri="{BB962C8B-B14F-4D97-AF65-F5344CB8AC3E}">
        <p14:creationId xmlns:p14="http://schemas.microsoft.com/office/powerpoint/2010/main" val="1104366040"/>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936E010-1884-42CB-968E-25228C788B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0641299-659E-46C1-871C-17EE45D31D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9A5BB2D-911E-4027-8B55-63D991A790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above_limit (5 marks)</a:t>
            </a:r>
          </a:p>
        </p:txBody>
      </p:sp>
      <p:sp>
        <p:nvSpPr>
          <p:cNvPr id="4" name="">
            <a:extLst xmlns:a="http://schemas.openxmlformats.org/drawingml/2006/main">
              <a:ext uri="{FF2B5EF4-FFF2-40B4-BE49-F238E27FC236}">
                <a16:creationId xmlns:a16="http://schemas.microsoft.com/office/drawing/2014/main" id="{7ED9BEC8-46A8-4A2C-8F5E-3862068F9BD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BFC812C-61B2-4C38-B5D5-2CAB97C91EC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6729E87-E96B-4FA8-9A1F-1A05FE9D3FA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valid crack_width_mm readings strictly greater than 0.3.</a:t>
            </a:r>
          </a:p>
        </p:txBody>
      </p:sp>
      <p:sp>
        <p:nvSpPr>
          <p:cNvPr id="7" name="">
            <a:extLst xmlns:a="http://schemas.openxmlformats.org/drawingml/2006/main">
              <a:ext uri="{FF2B5EF4-FFF2-40B4-BE49-F238E27FC236}">
                <a16:creationId xmlns:a16="http://schemas.microsoft.com/office/drawing/2014/main" id="{DA74B704-B4D2-4C1A-AE64-9BFF479A722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reading equal to the threshold is not counted.</a:t>
            </a:r>
          </a:p>
        </p:txBody>
      </p:sp>
      <p:sp>
        <p:nvSpPr>
          <p:cNvPr id="8" name="">
            <a:extLst xmlns:a="http://schemas.openxmlformats.org/drawingml/2006/main">
              <a:ext uri="{FF2B5EF4-FFF2-40B4-BE49-F238E27FC236}">
                <a16:creationId xmlns:a16="http://schemas.microsoft.com/office/drawing/2014/main" id="{257AFFFB-DDBF-4A25-BFC5-6EF71ADF1CA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64</a:t>
            </a:r>
          </a:p>
        </p:txBody>
      </p:sp>
    </p:spTree>
    <p:extLst>
      <p:ext uri="{BB962C8B-B14F-4D97-AF65-F5344CB8AC3E}">
        <p14:creationId xmlns:p14="http://schemas.microsoft.com/office/powerpoint/2010/main" val="1002101612"/>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CA2367D-9F82-4350-BA05-4605A8259A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D0ADF90-6187-4069-A60A-CEAAE75604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0E181F1-7CB1-47CD-94CD-CED68AFFF5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group_means (5 marks)</a:t>
            </a:r>
          </a:p>
        </p:txBody>
      </p:sp>
      <p:sp>
        <p:nvSpPr>
          <p:cNvPr id="4" name="">
            <a:extLst xmlns:a="http://schemas.openxmlformats.org/drawingml/2006/main">
              <a:ext uri="{FF2B5EF4-FFF2-40B4-BE49-F238E27FC236}">
                <a16:creationId xmlns:a16="http://schemas.microsoft.com/office/drawing/2014/main" id="{274B4C1B-B087-4E58-BFE5-0A5EB809E2F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3EEEBE6-19AD-4A72-8387-641DB7696E1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a dictionary whose keys are the structure_id labels and whose values are the mean valid crack_width_mm readings within each group.</a:t>
            </a:r>
          </a:p>
        </p:txBody>
      </p:sp>
      <p:sp>
        <p:nvSpPr>
          <p:cNvPr id="6" name="">
            <a:extLst xmlns:a="http://schemas.openxmlformats.org/drawingml/2006/main">
              <a:ext uri="{FF2B5EF4-FFF2-40B4-BE49-F238E27FC236}">
                <a16:creationId xmlns:a16="http://schemas.microsoft.com/office/drawing/2014/main" id="{D26BBF14-5350-426F-9AC9-E3F4A55B672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D0C8DFE-DA0A-4D5E-A250-CFB3C073E1E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each group total by its own valid count.</a:t>
            </a:r>
          </a:p>
        </p:txBody>
      </p:sp>
      <p:sp>
        <p:nvSpPr>
          <p:cNvPr id="8" name="">
            <a:extLst xmlns:a="http://schemas.openxmlformats.org/drawingml/2006/main">
              <a:ext uri="{FF2B5EF4-FFF2-40B4-BE49-F238E27FC236}">
                <a16:creationId xmlns:a16="http://schemas.microsoft.com/office/drawing/2014/main" id="{5DDD15B6-2E2F-4ECD-A1FD-CFEAF3865B2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E74984B-BFD6-40F8-8920-7986132A790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8870F0F5-5991-4533-9905-8841F418907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65</a:t>
            </a:r>
          </a:p>
        </p:txBody>
      </p:sp>
    </p:spTree>
    <p:extLst>
      <p:ext uri="{BB962C8B-B14F-4D97-AF65-F5344CB8AC3E}">
        <p14:creationId xmlns:p14="http://schemas.microsoft.com/office/powerpoint/2010/main" val="154864614"/>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F1DBF7E-C9D5-454C-AFD2-CD538E144D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09CB477-4B9F-408D-A3C5-6E01F4FA984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24BBB61-15BC-46C6-A618-DB7F8B92613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a:t>
            </a:r>
          </a:p>
        </p:txBody>
      </p:sp>
      <p:sp>
        <p:nvSpPr>
          <p:cNvPr id="4" name="">
            <a:extLst xmlns:a="http://schemas.openxmlformats.org/drawingml/2006/main">
              <a:ext uri="{FF2B5EF4-FFF2-40B4-BE49-F238E27FC236}">
                <a16:creationId xmlns:a16="http://schemas.microsoft.com/office/drawing/2014/main" id="{4DD09D37-0F4F-4E93-8906-05D7E3729E4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699DE42-0EB9-4F21-ACF5-04A70A20757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Fictional teaching data.</a:t>
            </a:r>
          </a:p>
        </p:txBody>
      </p:sp>
      <p:sp>
        <p:nvSpPr>
          <p:cNvPr id="6" name="">
            <a:extLst xmlns:a="http://schemas.openxmlformats.org/drawingml/2006/main">
              <a:ext uri="{FF2B5EF4-FFF2-40B4-BE49-F238E27FC236}">
                <a16:creationId xmlns:a16="http://schemas.microsoft.com/office/drawing/2014/main" id="{37DB61C5-2508-4F06-8296-C528CDADCA1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322B556-44DA-436D-B736-9907345A976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300 records.</a:t>
            </a:r>
          </a:p>
        </p:txBody>
      </p:sp>
      <p:sp>
        <p:nvSpPr>
          <p:cNvPr id="8" name="">
            <a:extLst xmlns:a="http://schemas.openxmlformats.org/drawingml/2006/main">
              <a:ext uri="{FF2B5EF4-FFF2-40B4-BE49-F238E27FC236}">
                <a16:creationId xmlns:a16="http://schemas.microsoft.com/office/drawing/2014/main" id="{CBD4A2E3-3797-4C08-B091-8F0C9F0095A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4C080AB-E9D9-4C0B-AF8E-C2EB90AF693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blank crack_width_mm values must be skipped in numerical summaries.</a:t>
            </a:r>
          </a:p>
        </p:txBody>
      </p:sp>
      <p:sp>
        <p:nvSpPr>
          <p:cNvPr id="10" name="">
            <a:extLst xmlns:a="http://schemas.openxmlformats.org/drawingml/2006/main">
              <a:ext uri="{FF2B5EF4-FFF2-40B4-BE49-F238E27FC236}">
                <a16:creationId xmlns:a16="http://schemas.microsoft.com/office/drawing/2014/main" id="{F46A427E-D0B7-41B1-A1A6-AC170043AA1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70F9092-5288-4C07-9DAC-FC1648C186A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Threshold 0.3 is a teaching assumption.</a:t>
            </a:r>
          </a:p>
        </p:txBody>
      </p:sp>
      <p:sp>
        <p:nvSpPr>
          <p:cNvPr id="12" name="">
            <a:extLst xmlns:a="http://schemas.openxmlformats.org/drawingml/2006/main">
              <a:ext uri="{FF2B5EF4-FFF2-40B4-BE49-F238E27FC236}">
                <a16:creationId xmlns:a16="http://schemas.microsoft.com/office/drawing/2014/main" id="{8E88C512-E282-48D4-90E2-0B25D0013E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66</a:t>
            </a:r>
          </a:p>
        </p:txBody>
      </p:sp>
    </p:spTree>
    <p:extLst>
      <p:ext uri="{BB962C8B-B14F-4D97-AF65-F5344CB8AC3E}">
        <p14:creationId xmlns:p14="http://schemas.microsoft.com/office/powerpoint/2010/main" val="1558398428"/>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241F54D-9B4C-476B-A243-AC031272A6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3080656-EE5B-479B-AC9E-F704981A11A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DE97A0A-2F33-4CA8-8A00-8C47E7229C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27F7DD50-7C78-4A07-B226-28EA5132F3E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F46A3FB-3DD5-41EE-8EE2-34050F9344B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valid_count, mean_reading, above_limit (strictly greater than 0.3) and group_means keyed by structure_id.</a:t>
            </a:r>
          </a:p>
        </p:txBody>
      </p:sp>
      <p:sp>
        <p:nvSpPr>
          <p:cNvPr id="6" name="">
            <a:extLst xmlns:a="http://schemas.openxmlformats.org/drawingml/2006/main">
              <a:ext uri="{FF2B5EF4-FFF2-40B4-BE49-F238E27FC236}">
                <a16:creationId xmlns:a16="http://schemas.microsoft.com/office/drawing/2014/main" id="{C3D145ED-6851-4E0A-8F34-A11B114C418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F8A7C20-A60E-4F05-A382-E41ADE85EC58}"/>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standard-library csv and collections.</a:t>
            </a:r>
          </a:p>
        </p:txBody>
      </p:sp>
      <p:sp>
        <p:nvSpPr>
          <p:cNvPr id="8" name="">
            <a:extLst xmlns:a="http://schemas.openxmlformats.org/drawingml/2006/main">
              <a:ext uri="{FF2B5EF4-FFF2-40B4-BE49-F238E27FC236}">
                <a16:creationId xmlns:a16="http://schemas.microsoft.com/office/drawing/2014/main" id="{4A5B6265-9023-4574-BDAA-8C1EA2C13109}"/>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8FCE8ED-1975-43A0-8CC7-1FD56E2F626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 copy using your Student Registration Number with / replaced by _, followed by _W04.ipynb.</a:t>
            </a:r>
          </a:p>
        </p:txBody>
      </p:sp>
      <p:sp>
        <p:nvSpPr>
          <p:cNvPr id="10" name="">
            <a:extLst xmlns:a="http://schemas.openxmlformats.org/drawingml/2006/main">
              <a:ext uri="{FF2B5EF4-FFF2-40B4-BE49-F238E27FC236}">
                <a16:creationId xmlns:a16="http://schemas.microsoft.com/office/drawing/2014/main" id="{AC298F0C-70F5-4E17-9658-8A34D9F84FB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DA2C742-8995-4C22-9402-02CA82FA170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STUDENT_ID in the starter code means Student Registration Number.</a:t>
            </a:r>
          </a:p>
        </p:txBody>
      </p:sp>
      <p:sp>
        <p:nvSpPr>
          <p:cNvPr id="12" name="">
            <a:extLst xmlns:a="http://schemas.openxmlformats.org/drawingml/2006/main">
              <a:ext uri="{FF2B5EF4-FFF2-40B4-BE49-F238E27FC236}">
                <a16:creationId xmlns:a16="http://schemas.microsoft.com/office/drawing/2014/main" id="{A496A2C9-E24E-4271-A618-0CCAD4BFF9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67</a:t>
            </a:r>
          </a:p>
        </p:txBody>
      </p:sp>
    </p:spTree>
    <p:extLst>
      <p:ext uri="{BB962C8B-B14F-4D97-AF65-F5344CB8AC3E}">
        <p14:creationId xmlns:p14="http://schemas.microsoft.com/office/powerpoint/2010/main" val="2071884892"/>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BD4ABAC-84F6-4578-9B79-A25898B7E0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77D7111-D485-4294-BCDB-1953B6A984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B6A1559-B1DC-4465-B1F0-3E91DCD096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31627187-A5E6-418D-A548-8AA4E930915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EEB05C4-BA36-4BBD-81A8-A8900ECA132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Four checks carry five marks each.</a:t>
            </a:r>
          </a:p>
        </p:txBody>
      </p:sp>
      <p:sp>
        <p:nvSpPr>
          <p:cNvPr id="6" name="">
            <a:extLst xmlns:a="http://schemas.openxmlformats.org/drawingml/2006/main">
              <a:ext uri="{FF2B5EF4-FFF2-40B4-BE49-F238E27FC236}">
                <a16:creationId xmlns:a16="http://schemas.microsoft.com/office/drawing/2014/main" id="{37594258-8398-40CD-A5C9-54398612816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6D14BA5-C5D5-497F-9E66-7093C1206F9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interesting pattern separately as formative practice.</a:t>
            </a:r>
          </a:p>
        </p:txBody>
      </p:sp>
      <p:sp>
        <p:nvSpPr>
          <p:cNvPr id="8" name="">
            <a:extLst xmlns:a="http://schemas.openxmlformats.org/drawingml/2006/main">
              <a:ext uri="{FF2B5EF4-FFF2-40B4-BE49-F238E27FC236}">
                <a16:creationId xmlns:a16="http://schemas.microsoft.com/office/drawing/2014/main" id="{CA1BF666-63EB-4C56-A537-45D53C34EB9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9D6F02D-065A-4FA7-87AB-AD2D9B20747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beginner step-by-step help, open ASSIGNMENT_INSTRUCTIONS.txt and STUDENT_HOW_TO.md in this folder.</a:t>
            </a:r>
          </a:p>
        </p:txBody>
      </p:sp>
      <p:sp>
        <p:nvSpPr>
          <p:cNvPr id="10" name="">
            <a:extLst xmlns:a="http://schemas.openxmlformats.org/drawingml/2006/main">
              <a:ext uri="{FF2B5EF4-FFF2-40B4-BE49-F238E27FC236}">
                <a16:creationId xmlns:a16="http://schemas.microsoft.com/office/drawing/2014/main" id="{E607B70F-3994-47D7-A74D-41C0CF00AB5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95EEE92-9954-4BAD-A286-54CC33D608EA}"/>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first names your required files and hand-in checklist; the second explains accounts, Colab, saving and uploads.</a:t>
            </a:r>
          </a:p>
        </p:txBody>
      </p:sp>
      <p:sp>
        <p:nvSpPr>
          <p:cNvPr id="12" name="">
            <a:extLst xmlns:a="http://schemas.openxmlformats.org/drawingml/2006/main">
              <a:ext uri="{FF2B5EF4-FFF2-40B4-BE49-F238E27FC236}">
                <a16:creationId xmlns:a16="http://schemas.microsoft.com/office/drawing/2014/main" id="{F706A8F5-650D-4E11-B4AB-AF81EA3617A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68</a:t>
            </a:r>
          </a:p>
        </p:txBody>
      </p:sp>
    </p:spTree>
    <p:extLst>
      <p:ext uri="{BB962C8B-B14F-4D97-AF65-F5344CB8AC3E}">
        <p14:creationId xmlns:p14="http://schemas.microsoft.com/office/powerpoint/2010/main" val="918438945"/>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3AB7846-3209-4399-991F-0E0BC119B5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91868A5-2CAD-4317-9988-B79FD11598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AF660BCC-BA6E-4E96-BA7B-462CF6843D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report submission</a:t>
            </a:r>
          </a:p>
        </p:txBody>
      </p:sp>
      <p:sp>
        <p:nvSpPr>
          <p:cNvPr id="4" name="">
            <a:extLst xmlns:a="http://schemas.openxmlformats.org/drawingml/2006/main">
              <a:ext uri="{FF2B5EF4-FFF2-40B4-BE49-F238E27FC236}">
                <a16:creationId xmlns:a16="http://schemas.microsoft.com/office/drawing/2014/main" id="{229C2540-A649-49C4-852A-881BFE03BEC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0E0C8FC-312C-41E1-BD4E-1CB4F75A300C}"/>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29 Sep 2026, 11:00 Kampala</a:t>
            </a:r>
          </a:p>
        </p:txBody>
      </p:sp>
      <p:sp>
        <p:nvSpPr>
          <p:cNvPr id="6" name="">
            <a:extLst xmlns:a="http://schemas.openxmlformats.org/drawingml/2006/main">
              <a:ext uri="{FF2B5EF4-FFF2-40B4-BE49-F238E27FC236}">
                <a16:creationId xmlns:a16="http://schemas.microsoft.com/office/drawing/2014/main" id="{E3423948-1542-436F-AEB2-389DC3C90380}"/>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B7320F7-2911-4855-93AF-B19094AB771C}"/>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06 Oct 2026, 11:00 Kampala</a:t>
            </a:r>
          </a:p>
        </p:txBody>
      </p:sp>
      <p:sp>
        <p:nvSpPr>
          <p:cNvPr id="8" name="">
            <a:extLst xmlns:a="http://schemas.openxmlformats.org/drawingml/2006/main">
              <a:ext uri="{FF2B5EF4-FFF2-40B4-BE49-F238E27FC236}">
                <a16:creationId xmlns:a16="http://schemas.microsoft.com/office/drawing/2014/main" id="{A8F8D119-B674-4EDC-95E2-377F9C004EEA}"/>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65BEBB1-54E3-49F5-B543-188CB84E126E}"/>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37BEAFF0-3B19-4E52-AE48-906AF913CE7F}"/>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0201572-E620-47DD-ACEB-CE234D54ACB8}"/>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C0E19452-CA30-443D-A495-B8F0727A609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629F045B-8683-4F0C-A57C-BCE0F02CA0B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1046007e62d4d82"/>
              </a:rPr>
              <a:t>Open W04 assignment form</a:t>
            </a:r>
          </a:p>
        </p:txBody>
      </p:sp>
      <p:sp>
        <p:nvSpPr>
          <p:cNvPr id="14" name="">
            <a:extLst xmlns:a="http://schemas.openxmlformats.org/drawingml/2006/main">
              <a:ext uri="{FF2B5EF4-FFF2-40B4-BE49-F238E27FC236}">
                <a16:creationId xmlns:a16="http://schemas.microsoft.com/office/drawing/2014/main" id="{09F9CA54-9DC1-432E-AC9A-ED172581E59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https://docs.google.com/forms/d/e/1FAIpQLSeZymY0jwFhuwihprLiqEaq2DqmLZD3nIYht1IkN4OcPGeTFg/viewform</a:t>
            </a:r>
          </a:p>
        </p:txBody>
      </p:sp>
      <p:sp>
        <p:nvSpPr>
          <p:cNvPr id="15" name="">
            <a:extLst xmlns:a="http://schemas.openxmlformats.org/drawingml/2006/main">
              <a:ext uri="{FF2B5EF4-FFF2-40B4-BE49-F238E27FC236}">
                <a16:creationId xmlns:a16="http://schemas.microsoft.com/office/drawing/2014/main" id="{9ECACC91-1FDB-442D-AC55-0BF8785F3E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69</a:t>
            </a:r>
          </a:p>
        </p:txBody>
      </p:sp>
    </p:spTree>
    <p:extLst>
      <p:ext uri="{BB962C8B-B14F-4D97-AF65-F5344CB8AC3E}">
        <p14:creationId xmlns:p14="http://schemas.microsoft.com/office/powerpoint/2010/main" val="1688603730"/>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9476331-4296-42B2-9605-8422AB621A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4989D38-0BD0-4898-BFE5-907768ECFC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76B8EF98-8560-4E2D-96AC-0493AE49CB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quiz</a:t>
            </a:r>
          </a:p>
        </p:txBody>
      </p:sp>
      <p:sp>
        <p:nvSpPr>
          <p:cNvPr id="4" name="">
            <a:extLst xmlns:a="http://schemas.openxmlformats.org/drawingml/2006/main">
              <a:ext uri="{FF2B5EF4-FFF2-40B4-BE49-F238E27FC236}">
                <a16:creationId xmlns:a16="http://schemas.microsoft.com/office/drawing/2014/main" id="{3649E2CD-7C75-4B91-AAC7-29A3D559008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EA0BD72-D674-4B60-BB99-A6168050616D}"/>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09D6BBD0-90D4-4F65-ACAF-BF8D9C7C660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4F8031F-A5CD-4227-B557-576A1310B570}"/>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5FC58044-8F42-42FB-ADA8-A31653F95AD7}"/>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30D20FD-2DAC-4DB7-B9D7-243622184290}"/>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E1A397DC-738E-4087-8946-953613E0859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E4F6876-DB3C-4F81-BF43-DF58AB6FAB91}"/>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DB27B33C-C71C-433F-9539-2BEEA49031DC}"/>
              </a:ext>
            </a:extLst>
          </p:cNvPr>
          <p:cNvPicPr>
            <a:picLocks xmlns:a="http://schemas.openxmlformats.org/drawingml/2006/main" noChangeAspect="1"/>
          </p:cNvPicPr>
          <p:nvPr/>
        </p:nvPicPr>
        <p:blipFill>
          <a:blip xmlns:r="http://schemas.openxmlformats.org/officeDocument/2006/relationships" xmlns:a="http://schemas.openxmlformats.org/drawingml/2006/main" r:embed="R93eb5d3d2e2f4f44"/>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E4DE8895-2ED1-4505-8D01-FD5BBF857C48}"/>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5E107483-4568-42EB-8CD5-BC6094C93FD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73001AC9-177C-429D-92EC-3B10C7F4082F}"/>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4b2b25f882754ede"/>
              </a:rPr>
              <a:t>Open this week’s quiz</a:t>
            </a:r>
          </a:p>
        </p:txBody>
      </p:sp>
      <p:sp>
        <p:nvSpPr>
          <p:cNvPr id="16" name="">
            <a:extLst xmlns:a="http://schemas.openxmlformats.org/drawingml/2006/main">
              <a:ext uri="{FF2B5EF4-FFF2-40B4-BE49-F238E27FC236}">
                <a16:creationId xmlns:a16="http://schemas.microsoft.com/office/drawing/2014/main" id="{4C10DB8B-546A-4564-8D91-EAC87B9BF5D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https://forms.gle/yodGpWvz4b2GioZYA</a:t>
            </a:r>
          </a:p>
        </p:txBody>
      </p:sp>
      <p:sp>
        <p:nvSpPr>
          <p:cNvPr id="17" name="">
            <a:extLst xmlns:a="http://schemas.openxmlformats.org/drawingml/2006/main">
              <a:ext uri="{FF2B5EF4-FFF2-40B4-BE49-F238E27FC236}">
                <a16:creationId xmlns:a16="http://schemas.microsoft.com/office/drawing/2014/main" id="{C56749D4-9EA8-4171-84EE-4F2220B251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70</a:t>
            </a:r>
          </a:p>
        </p:txBody>
      </p:sp>
    </p:spTree>
    <p:extLst>
      <p:ext uri="{BB962C8B-B14F-4D97-AF65-F5344CB8AC3E}">
        <p14:creationId xmlns:p14="http://schemas.microsoft.com/office/powerpoint/2010/main" val="1316349240"/>
      </p:ext>
    </p:extLst>
  </p:cSld>
</p:sld>
</file>

<file path=ppt/slides/slide71.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AC6E911-2546-4F14-BF33-2A9F37D761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07C314E9-5583-4FDA-9A89-B8A50F36A73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8CFC9AF0-5296-4953-AEA7-65A32058E22F}"/>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3D65305F-7BFB-436C-819B-F9FB58B4D856}"/>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show how the total and count change for each record.</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Check that the required files are in place.</a:t>
            </a:r>
          </a:p>
        </p:txBody>
      </p:sp>
      <p:sp>
        <p:nvSpPr>
          <p:cNvPr id="5" name="">
            <a:extLst xmlns:a="http://schemas.openxmlformats.org/drawingml/2006/main">
              <a:ext uri="{FF2B5EF4-FFF2-40B4-BE49-F238E27FC236}">
                <a16:creationId xmlns:a16="http://schemas.microsoft.com/office/drawing/2014/main" id="{6A811DF2-9EE8-4819-B13B-119B997B9173}"/>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20DE2D3A-7A62-4D31-A278-1C97F989D5B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4   71</a:t>
            </a:r>
          </a:p>
        </p:txBody>
      </p:sp>
    </p:spTree>
    <p:extLst>
      <p:ext uri="{BB962C8B-B14F-4D97-AF65-F5344CB8AC3E}">
        <p14:creationId xmlns:p14="http://schemas.microsoft.com/office/powerpoint/2010/main" val="8299873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2026-10-20T17:59:34.1580000Z</dcterms:created>
  <dcterms:modified xsi:type="dcterms:W3CDTF">2026-10-20T17:59:34.1580000Z</dcterms:modified>
</coreProperties>
</file>