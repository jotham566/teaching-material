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386cbfc5a04ceb" /><Relationship Type="http://schemas.openxmlformats.org/officeDocument/2006/relationships/extended-properties" Target="/docProps/app.xml" Id="R9ed28b6d0ad64f22" /><Relationship Type="http://schemas.openxmlformats.org/officeDocument/2006/relationships/officeDocument" Target="/ppt/presentation.xml" Id="R4f71e5e85efe4355" /></Relationships>
</file>

<file path=ppt/presentation.xml><?xml version="1.0" encoding="utf-8"?>
<p:presentation xmlns:p="http://schemas.openxmlformats.org/presentationml/2006/main">
  <p:sldMasterIdLst>
    <p:sldMasterId xmlns:r="http://schemas.openxmlformats.org/officeDocument/2006/relationships" id="2147483648" r:id="Rc933f4a8ec0f4297"/>
  </p:sldMasterIdLst>
  <p:notesMasterIdLst>
    <p:notesMasterId xmlns:r="http://schemas.openxmlformats.org/officeDocument/2006/relationships" r:id="Rdc390bc4c9cc45c2"/>
  </p:notesMasterIdLst>
  <p:sldIdLst>
    <p:sldId xmlns:r="http://schemas.openxmlformats.org/officeDocument/2006/relationships" id="256" r:id="Rfbe99b0afe5b4677"/>
    <p:sldId xmlns:r="http://schemas.openxmlformats.org/officeDocument/2006/relationships" id="257" r:id="R231fb7b790c0495d"/>
    <p:sldId xmlns:r="http://schemas.openxmlformats.org/officeDocument/2006/relationships" id="258" r:id="Rbdc614fd727948fd"/>
    <p:sldId xmlns:r="http://schemas.openxmlformats.org/officeDocument/2006/relationships" id="259" r:id="Rbc2a3d8487764201"/>
    <p:sldId xmlns:r="http://schemas.openxmlformats.org/officeDocument/2006/relationships" id="260" r:id="Rd008e2ffd9434d51"/>
    <p:sldId xmlns:r="http://schemas.openxmlformats.org/officeDocument/2006/relationships" id="261" r:id="R4b132ec5765a4e55"/>
    <p:sldId xmlns:r="http://schemas.openxmlformats.org/officeDocument/2006/relationships" id="262" r:id="R16149511595643ab"/>
    <p:sldId xmlns:r="http://schemas.openxmlformats.org/officeDocument/2006/relationships" id="263" r:id="R20f8a2ec02fa48e9"/>
    <p:sldId xmlns:r="http://schemas.openxmlformats.org/officeDocument/2006/relationships" id="264" r:id="R4453bf6f9443424b"/>
    <p:sldId xmlns:r="http://schemas.openxmlformats.org/officeDocument/2006/relationships" id="265" r:id="R4ec06307b0fe4e6a"/>
    <p:sldId xmlns:r="http://schemas.openxmlformats.org/officeDocument/2006/relationships" id="266" r:id="Re8db8dda5c844232"/>
    <p:sldId xmlns:r="http://schemas.openxmlformats.org/officeDocument/2006/relationships" id="267" r:id="R4014f41b1aef4b33"/>
    <p:sldId xmlns:r="http://schemas.openxmlformats.org/officeDocument/2006/relationships" id="268" r:id="R0bb49147073d44a3"/>
    <p:sldId xmlns:r="http://schemas.openxmlformats.org/officeDocument/2006/relationships" id="269" r:id="Re5e01aec02914bce"/>
    <p:sldId xmlns:r="http://schemas.openxmlformats.org/officeDocument/2006/relationships" id="270" r:id="R7778238bb5ea4cc5"/>
    <p:sldId xmlns:r="http://schemas.openxmlformats.org/officeDocument/2006/relationships" id="271" r:id="R17a4cb4c7c054cec"/>
    <p:sldId xmlns:r="http://schemas.openxmlformats.org/officeDocument/2006/relationships" id="272" r:id="R70c453da57bf4794"/>
    <p:sldId xmlns:r="http://schemas.openxmlformats.org/officeDocument/2006/relationships" id="273" r:id="R5010aa07fa5740c1"/>
    <p:sldId xmlns:r="http://schemas.openxmlformats.org/officeDocument/2006/relationships" id="274" r:id="Ra33e475a210d402e"/>
    <p:sldId xmlns:r="http://schemas.openxmlformats.org/officeDocument/2006/relationships" id="275" r:id="Ra508374d81484ffd"/>
    <p:sldId xmlns:r="http://schemas.openxmlformats.org/officeDocument/2006/relationships" id="276" r:id="Ra3d423ae17354e3a"/>
    <p:sldId xmlns:r="http://schemas.openxmlformats.org/officeDocument/2006/relationships" id="277" r:id="R2df28188b7944a05"/>
    <p:sldId xmlns:r="http://schemas.openxmlformats.org/officeDocument/2006/relationships" id="278" r:id="Red1c324259614b7b"/>
    <p:sldId xmlns:r="http://schemas.openxmlformats.org/officeDocument/2006/relationships" id="279" r:id="R86323c29c7454aa3"/>
    <p:sldId xmlns:r="http://schemas.openxmlformats.org/officeDocument/2006/relationships" id="280" r:id="R01174cdf6893427c"/>
    <p:sldId xmlns:r="http://schemas.openxmlformats.org/officeDocument/2006/relationships" id="281" r:id="Rf73760c9f9df498f"/>
    <p:sldId xmlns:r="http://schemas.openxmlformats.org/officeDocument/2006/relationships" id="282" r:id="R5643cc25686346f8"/>
    <p:sldId xmlns:r="http://schemas.openxmlformats.org/officeDocument/2006/relationships" id="283" r:id="Rdc81c03cf37e4578"/>
    <p:sldId xmlns:r="http://schemas.openxmlformats.org/officeDocument/2006/relationships" id="284" r:id="Rc007cd955e964a77"/>
    <p:sldId xmlns:r="http://schemas.openxmlformats.org/officeDocument/2006/relationships" id="285" r:id="R3a3f26d5414e4b4e"/>
    <p:sldId xmlns:r="http://schemas.openxmlformats.org/officeDocument/2006/relationships" id="286" r:id="R3cf97201cafd44d6"/>
    <p:sldId xmlns:r="http://schemas.openxmlformats.org/officeDocument/2006/relationships" id="287" r:id="R5e70aeab475840af"/>
    <p:sldId xmlns:r="http://schemas.openxmlformats.org/officeDocument/2006/relationships" id="288" r:id="R58e1f229213d42f3"/>
    <p:sldId xmlns:r="http://schemas.openxmlformats.org/officeDocument/2006/relationships" id="289" r:id="R31b3debd33b040d1"/>
    <p:sldId xmlns:r="http://schemas.openxmlformats.org/officeDocument/2006/relationships" id="290" r:id="Ra69c3cf1173041a4"/>
    <p:sldId xmlns:r="http://schemas.openxmlformats.org/officeDocument/2006/relationships" id="291" r:id="R22d9dc52243c44e2"/>
    <p:sldId xmlns:r="http://schemas.openxmlformats.org/officeDocument/2006/relationships" id="292" r:id="R70e5a4d989014b09"/>
    <p:sldId xmlns:r="http://schemas.openxmlformats.org/officeDocument/2006/relationships" id="293" r:id="R6500a79056c548b4"/>
    <p:sldId xmlns:r="http://schemas.openxmlformats.org/officeDocument/2006/relationships" id="294" r:id="Ra5b80c785322431d"/>
    <p:sldId xmlns:r="http://schemas.openxmlformats.org/officeDocument/2006/relationships" id="295" r:id="R4fe710065b11451c"/>
    <p:sldId xmlns:r="http://schemas.openxmlformats.org/officeDocument/2006/relationships" id="296" r:id="R2f73e1bbdced4654"/>
    <p:sldId xmlns:r="http://schemas.openxmlformats.org/officeDocument/2006/relationships" id="297" r:id="Recad0358f9b74f5f"/>
    <p:sldId xmlns:r="http://schemas.openxmlformats.org/officeDocument/2006/relationships" id="298" r:id="R6cae29c071184bdd"/>
    <p:sldId xmlns:r="http://schemas.openxmlformats.org/officeDocument/2006/relationships" id="299" r:id="R3463cb4bca92492c"/>
    <p:sldId xmlns:r="http://schemas.openxmlformats.org/officeDocument/2006/relationships" id="300" r:id="R301f541dd1564383"/>
    <p:sldId xmlns:r="http://schemas.openxmlformats.org/officeDocument/2006/relationships" id="301" r:id="R3302ed96c1504428"/>
    <p:sldId xmlns:r="http://schemas.openxmlformats.org/officeDocument/2006/relationships" id="302" r:id="R383bde8d6a164b38"/>
    <p:sldId xmlns:r="http://schemas.openxmlformats.org/officeDocument/2006/relationships" id="303" r:id="R8a5c8e49a2714560"/>
    <p:sldId xmlns:r="http://schemas.openxmlformats.org/officeDocument/2006/relationships" id="304" r:id="R3a849dfb1abc4a9a"/>
    <p:sldId xmlns:r="http://schemas.openxmlformats.org/officeDocument/2006/relationships" id="305" r:id="R2b54d7f58b854c7b"/>
    <p:sldId xmlns:r="http://schemas.openxmlformats.org/officeDocument/2006/relationships" id="306" r:id="R6308d1323f454df4"/>
    <p:sldId xmlns:r="http://schemas.openxmlformats.org/officeDocument/2006/relationships" id="307" r:id="R1ae9b8154af14af5"/>
    <p:sldId xmlns:r="http://schemas.openxmlformats.org/officeDocument/2006/relationships" id="308" r:id="R5fbdad923ddc44d1"/>
    <p:sldId xmlns:r="http://schemas.openxmlformats.org/officeDocument/2006/relationships" id="309" r:id="Re3c9c18252a9413f"/>
    <p:sldId xmlns:r="http://schemas.openxmlformats.org/officeDocument/2006/relationships" id="310" r:id="Rb56215db096a4820"/>
    <p:sldId xmlns:r="http://schemas.openxmlformats.org/officeDocument/2006/relationships" id="311" r:id="Rd9aea049209a4f07"/>
    <p:sldId xmlns:r="http://schemas.openxmlformats.org/officeDocument/2006/relationships" id="312" r:id="R6cfc74e1b8bc4184"/>
    <p:sldId xmlns:r="http://schemas.openxmlformats.org/officeDocument/2006/relationships" id="313" r:id="Rf3c69ed5cd934b3e"/>
    <p:sldId xmlns:r="http://schemas.openxmlformats.org/officeDocument/2006/relationships" id="314" r:id="Rf621d8c64c4f4cc8"/>
    <p:sldId xmlns:r="http://schemas.openxmlformats.org/officeDocument/2006/relationships" id="315" r:id="Rcea426043d634f10"/>
    <p:sldId xmlns:r="http://schemas.openxmlformats.org/officeDocument/2006/relationships" id="316" r:id="Rb7659c918734407c"/>
    <p:sldId xmlns:r="http://schemas.openxmlformats.org/officeDocument/2006/relationships" id="317" r:id="R612b8d9ece8a41e4"/>
    <p:sldId xmlns:r="http://schemas.openxmlformats.org/officeDocument/2006/relationships" id="318" r:id="R64fbcd7b8507439b"/>
    <p:sldId xmlns:r="http://schemas.openxmlformats.org/officeDocument/2006/relationships" id="319" r:id="R894ddd9da19747e2"/>
    <p:sldId xmlns:r="http://schemas.openxmlformats.org/officeDocument/2006/relationships" id="320" r:id="Rfa25f7d556184847"/>
    <p:sldId xmlns:r="http://schemas.openxmlformats.org/officeDocument/2006/relationships" id="321" r:id="Rd2e0f149b5094bea"/>
    <p:sldId xmlns:r="http://schemas.openxmlformats.org/officeDocument/2006/relationships" id="322" r:id="Reac6fe256a91458f"/>
    <p:sldId xmlns:r="http://schemas.openxmlformats.org/officeDocument/2006/relationships" id="323" r:id="R57163a76b39f4985"/>
    <p:sldId xmlns:r="http://schemas.openxmlformats.org/officeDocument/2006/relationships" id="324" r:id="R02eaf7bd4b0041b5"/>
    <p:sldId xmlns:r="http://schemas.openxmlformats.org/officeDocument/2006/relationships" id="325" r:id="R71dc6e5c669049a4"/>
    <p:sldId xmlns:r="http://schemas.openxmlformats.org/officeDocument/2006/relationships" id="326" r:id="R696fafe2489044ae"/>
    <p:sldId xmlns:r="http://schemas.openxmlformats.org/officeDocument/2006/relationships" id="327" r:id="R9337573b42014830"/>
    <p:sldId xmlns:r="http://schemas.openxmlformats.org/officeDocument/2006/relationships" id="328" r:id="R4c348b3f50e04b99"/>
    <p:sldId xmlns:r="http://schemas.openxmlformats.org/officeDocument/2006/relationships" id="329" r:id="R72abb7c74e1d4f63"/>
    <p:sldId xmlns:r="http://schemas.openxmlformats.org/officeDocument/2006/relationships" id="330" r:id="R41c4946f0be24669"/>
    <p:sldId xmlns:r="http://schemas.openxmlformats.org/officeDocument/2006/relationships" id="331" r:id="Rbd5f09d000b7425e"/>
    <p:sldId xmlns:r="http://schemas.openxmlformats.org/officeDocument/2006/relationships" id="332" r:id="R8e2bac0643864017"/>
    <p:sldId xmlns:r="http://schemas.openxmlformats.org/officeDocument/2006/relationships" id="333" r:id="Ra12a243ff5254690"/>
    <p:sldId xmlns:r="http://schemas.openxmlformats.org/officeDocument/2006/relationships" id="334" r:id="R3c4b0733e1f448c1"/>
    <p:sldId xmlns:r="http://schemas.openxmlformats.org/officeDocument/2006/relationships" id="335" r:id="Rc83e6e39d2bb49ac"/>
    <p:sldId xmlns:r="http://schemas.openxmlformats.org/officeDocument/2006/relationships" id="336" r:id="R93891153b7a24620"/>
    <p:sldId xmlns:r="http://schemas.openxmlformats.org/officeDocument/2006/relationships" id="337" r:id="Rd39fb890e51e4853"/>
    <p:sldId xmlns:r="http://schemas.openxmlformats.org/officeDocument/2006/relationships" id="338" r:id="R8a4d54267dd24f7a"/>
    <p:sldId xmlns:r="http://schemas.openxmlformats.org/officeDocument/2006/relationships" id="339" r:id="R2dfec4a3ccae4efb"/>
    <p:sldId xmlns:r="http://schemas.openxmlformats.org/officeDocument/2006/relationships" id="340" r:id="Rcad416097a874737"/>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ecff90b94044d2" /><Relationship Type="http://schemas.openxmlformats.org/officeDocument/2006/relationships/slideMaster" Target="/ppt/slideMasters/slideMaster1.xml" Id="Rc933f4a8ec0f4297" /><Relationship Type="http://schemas.openxmlformats.org/officeDocument/2006/relationships/notesMaster" Target="/ppt/notesMasters/notesMaster1.xml" Id="Rdc390bc4c9cc45c2" /><Relationship Type="http://schemas.openxmlformats.org/officeDocument/2006/relationships/presProps" Target="/ppt/presProps.xml" Id="Rc57eee66fc7e4102" /><Relationship Type="http://schemas.openxmlformats.org/officeDocument/2006/relationships/tableStyles" Target="/ppt/tableStyles.xml" Id="Radc1f8b0fcec4fd3" /><Relationship Type="http://schemas.openxmlformats.org/officeDocument/2006/relationships/slide" Target="/ppt/slides/slide1.xml" Id="Rfbe99b0afe5b4677" /><Relationship Type="http://schemas.openxmlformats.org/officeDocument/2006/relationships/slide" Target="/ppt/slides/slide2.xml" Id="R231fb7b790c0495d" /><Relationship Type="http://schemas.openxmlformats.org/officeDocument/2006/relationships/slide" Target="/ppt/slides/slide3.xml" Id="Rbdc614fd727948fd" /><Relationship Type="http://schemas.openxmlformats.org/officeDocument/2006/relationships/slide" Target="/ppt/slides/slide4.xml" Id="Rbc2a3d8487764201" /><Relationship Type="http://schemas.openxmlformats.org/officeDocument/2006/relationships/slide" Target="/ppt/slides/slide5.xml" Id="Rd008e2ffd9434d51" /><Relationship Type="http://schemas.openxmlformats.org/officeDocument/2006/relationships/slide" Target="/ppt/slides/slide6.xml" Id="R4b132ec5765a4e55" /><Relationship Type="http://schemas.openxmlformats.org/officeDocument/2006/relationships/slide" Target="/ppt/slides/slide7.xml" Id="R16149511595643ab" /><Relationship Type="http://schemas.openxmlformats.org/officeDocument/2006/relationships/slide" Target="/ppt/slides/slide8.xml" Id="R20f8a2ec02fa48e9" /><Relationship Type="http://schemas.openxmlformats.org/officeDocument/2006/relationships/slide" Target="/ppt/slides/slide9.xml" Id="R4453bf6f9443424b" /><Relationship Type="http://schemas.openxmlformats.org/officeDocument/2006/relationships/slide" Target="/ppt/slides/slide10.xml" Id="R4ec06307b0fe4e6a" /><Relationship Type="http://schemas.openxmlformats.org/officeDocument/2006/relationships/slide" Target="/ppt/slides/slide11.xml" Id="Re8db8dda5c844232" /><Relationship Type="http://schemas.openxmlformats.org/officeDocument/2006/relationships/slide" Target="/ppt/slides/slide12.xml" Id="R4014f41b1aef4b33" /><Relationship Type="http://schemas.openxmlformats.org/officeDocument/2006/relationships/slide" Target="/ppt/slides/slide13.xml" Id="R0bb49147073d44a3" /><Relationship Type="http://schemas.openxmlformats.org/officeDocument/2006/relationships/slide" Target="/ppt/slides/slide14.xml" Id="Re5e01aec02914bce" /><Relationship Type="http://schemas.openxmlformats.org/officeDocument/2006/relationships/slide" Target="/ppt/slides/slide15.xml" Id="R7778238bb5ea4cc5" /><Relationship Type="http://schemas.openxmlformats.org/officeDocument/2006/relationships/slide" Target="/ppt/slides/slide16.xml" Id="R17a4cb4c7c054cec" /><Relationship Type="http://schemas.openxmlformats.org/officeDocument/2006/relationships/slide" Target="/ppt/slides/slide17.xml" Id="R70c453da57bf4794" /><Relationship Type="http://schemas.openxmlformats.org/officeDocument/2006/relationships/slide" Target="/ppt/slides/slide18.xml" Id="R5010aa07fa5740c1" /><Relationship Type="http://schemas.openxmlformats.org/officeDocument/2006/relationships/slide" Target="/ppt/slides/slide19.xml" Id="Ra33e475a210d402e" /><Relationship Type="http://schemas.openxmlformats.org/officeDocument/2006/relationships/slide" Target="/ppt/slides/slide20.xml" Id="Ra508374d81484ffd" /><Relationship Type="http://schemas.openxmlformats.org/officeDocument/2006/relationships/slide" Target="/ppt/slides/slide21.xml" Id="Ra3d423ae17354e3a" /><Relationship Type="http://schemas.openxmlformats.org/officeDocument/2006/relationships/slide" Target="/ppt/slides/slide22.xml" Id="R2df28188b7944a05" /><Relationship Type="http://schemas.openxmlformats.org/officeDocument/2006/relationships/slide" Target="/ppt/slides/slide23.xml" Id="Red1c324259614b7b" /><Relationship Type="http://schemas.openxmlformats.org/officeDocument/2006/relationships/slide" Target="/ppt/slides/slide24.xml" Id="R86323c29c7454aa3" /><Relationship Type="http://schemas.openxmlformats.org/officeDocument/2006/relationships/slide" Target="/ppt/slides/slide25.xml" Id="R01174cdf6893427c" /><Relationship Type="http://schemas.openxmlformats.org/officeDocument/2006/relationships/slide" Target="/ppt/slides/slide26.xml" Id="Rf73760c9f9df498f" /><Relationship Type="http://schemas.openxmlformats.org/officeDocument/2006/relationships/slide" Target="/ppt/slides/slide27.xml" Id="R5643cc25686346f8" /><Relationship Type="http://schemas.openxmlformats.org/officeDocument/2006/relationships/slide" Target="/ppt/slides/slide28.xml" Id="Rdc81c03cf37e4578" /><Relationship Type="http://schemas.openxmlformats.org/officeDocument/2006/relationships/slide" Target="/ppt/slides/slide29.xml" Id="Rc007cd955e964a77" /><Relationship Type="http://schemas.openxmlformats.org/officeDocument/2006/relationships/slide" Target="/ppt/slides/slide30.xml" Id="R3a3f26d5414e4b4e" /><Relationship Type="http://schemas.openxmlformats.org/officeDocument/2006/relationships/slide" Target="/ppt/slides/slide31.xml" Id="R3cf97201cafd44d6" /><Relationship Type="http://schemas.openxmlformats.org/officeDocument/2006/relationships/slide" Target="/ppt/slides/slide32.xml" Id="R5e70aeab475840af" /><Relationship Type="http://schemas.openxmlformats.org/officeDocument/2006/relationships/slide" Target="/ppt/slides/slide33.xml" Id="R58e1f229213d42f3" /><Relationship Type="http://schemas.openxmlformats.org/officeDocument/2006/relationships/slide" Target="/ppt/slides/slide34.xml" Id="R31b3debd33b040d1" /><Relationship Type="http://schemas.openxmlformats.org/officeDocument/2006/relationships/slide" Target="/ppt/slides/slide35.xml" Id="Ra69c3cf1173041a4" /><Relationship Type="http://schemas.openxmlformats.org/officeDocument/2006/relationships/slide" Target="/ppt/slides/slide36.xml" Id="R22d9dc52243c44e2" /><Relationship Type="http://schemas.openxmlformats.org/officeDocument/2006/relationships/slide" Target="/ppt/slides/slide37.xml" Id="R70e5a4d989014b09" /><Relationship Type="http://schemas.openxmlformats.org/officeDocument/2006/relationships/slide" Target="/ppt/slides/slide38.xml" Id="R6500a79056c548b4" /><Relationship Type="http://schemas.openxmlformats.org/officeDocument/2006/relationships/slide" Target="/ppt/slides/slide39.xml" Id="Ra5b80c785322431d" /><Relationship Type="http://schemas.openxmlformats.org/officeDocument/2006/relationships/slide" Target="/ppt/slides/slide40.xml" Id="R4fe710065b11451c" /><Relationship Type="http://schemas.openxmlformats.org/officeDocument/2006/relationships/slide" Target="/ppt/slides/slide41.xml" Id="R2f73e1bbdced4654" /><Relationship Type="http://schemas.openxmlformats.org/officeDocument/2006/relationships/slide" Target="/ppt/slides/slide42.xml" Id="Recad0358f9b74f5f" /><Relationship Type="http://schemas.openxmlformats.org/officeDocument/2006/relationships/slide" Target="/ppt/slides/slide43.xml" Id="R6cae29c071184bdd" /><Relationship Type="http://schemas.openxmlformats.org/officeDocument/2006/relationships/slide" Target="/ppt/slides/slide44.xml" Id="R3463cb4bca92492c" /><Relationship Type="http://schemas.openxmlformats.org/officeDocument/2006/relationships/slide" Target="/ppt/slides/slide45.xml" Id="R301f541dd1564383" /><Relationship Type="http://schemas.openxmlformats.org/officeDocument/2006/relationships/slide" Target="/ppt/slides/slide46.xml" Id="R3302ed96c1504428" /><Relationship Type="http://schemas.openxmlformats.org/officeDocument/2006/relationships/slide" Target="/ppt/slides/slide47.xml" Id="R383bde8d6a164b38" /><Relationship Type="http://schemas.openxmlformats.org/officeDocument/2006/relationships/slide" Target="/ppt/slides/slide48.xml" Id="R8a5c8e49a2714560" /><Relationship Type="http://schemas.openxmlformats.org/officeDocument/2006/relationships/slide" Target="/ppt/slides/slide49.xml" Id="R3a849dfb1abc4a9a" /><Relationship Type="http://schemas.openxmlformats.org/officeDocument/2006/relationships/slide" Target="/ppt/slides/slide50.xml" Id="R2b54d7f58b854c7b" /><Relationship Type="http://schemas.openxmlformats.org/officeDocument/2006/relationships/slide" Target="/ppt/slides/slide51.xml" Id="R6308d1323f454df4" /><Relationship Type="http://schemas.openxmlformats.org/officeDocument/2006/relationships/slide" Target="/ppt/slides/slide52.xml" Id="R1ae9b8154af14af5" /><Relationship Type="http://schemas.openxmlformats.org/officeDocument/2006/relationships/slide" Target="/ppt/slides/slide53.xml" Id="R5fbdad923ddc44d1" /><Relationship Type="http://schemas.openxmlformats.org/officeDocument/2006/relationships/slide" Target="/ppt/slides/slide54.xml" Id="Re3c9c18252a9413f" /><Relationship Type="http://schemas.openxmlformats.org/officeDocument/2006/relationships/slide" Target="/ppt/slides/slide55.xml" Id="Rb56215db096a4820" /><Relationship Type="http://schemas.openxmlformats.org/officeDocument/2006/relationships/slide" Target="/ppt/slides/slide56.xml" Id="Rd9aea049209a4f07" /><Relationship Type="http://schemas.openxmlformats.org/officeDocument/2006/relationships/slide" Target="/ppt/slides/slide57.xml" Id="R6cfc74e1b8bc4184" /><Relationship Type="http://schemas.openxmlformats.org/officeDocument/2006/relationships/slide" Target="/ppt/slides/slide58.xml" Id="Rf3c69ed5cd934b3e" /><Relationship Type="http://schemas.openxmlformats.org/officeDocument/2006/relationships/slide" Target="/ppt/slides/slide59.xml" Id="Rf621d8c64c4f4cc8" /><Relationship Type="http://schemas.openxmlformats.org/officeDocument/2006/relationships/slide" Target="/ppt/slides/slide60.xml" Id="Rcea426043d634f10" /><Relationship Type="http://schemas.openxmlformats.org/officeDocument/2006/relationships/slide" Target="/ppt/slides/slide61.xml" Id="Rb7659c918734407c" /><Relationship Type="http://schemas.openxmlformats.org/officeDocument/2006/relationships/slide" Target="/ppt/slides/slide62.xml" Id="R612b8d9ece8a41e4" /><Relationship Type="http://schemas.openxmlformats.org/officeDocument/2006/relationships/slide" Target="/ppt/slides/slide63.xml" Id="R64fbcd7b8507439b" /><Relationship Type="http://schemas.openxmlformats.org/officeDocument/2006/relationships/slide" Target="/ppt/slides/slide64.xml" Id="R894ddd9da19747e2" /><Relationship Type="http://schemas.openxmlformats.org/officeDocument/2006/relationships/slide" Target="/ppt/slides/slide65.xml" Id="Rfa25f7d556184847" /><Relationship Type="http://schemas.openxmlformats.org/officeDocument/2006/relationships/slide" Target="/ppt/slides/slide66.xml" Id="Rd2e0f149b5094bea" /><Relationship Type="http://schemas.openxmlformats.org/officeDocument/2006/relationships/slide" Target="/ppt/slides/slide67.xml" Id="Reac6fe256a91458f" /><Relationship Type="http://schemas.openxmlformats.org/officeDocument/2006/relationships/slide" Target="/ppt/slides/slide68.xml" Id="R57163a76b39f4985" /><Relationship Type="http://schemas.openxmlformats.org/officeDocument/2006/relationships/slide" Target="/ppt/slides/slide69.xml" Id="R02eaf7bd4b0041b5" /><Relationship Type="http://schemas.openxmlformats.org/officeDocument/2006/relationships/slide" Target="/ppt/slides/slide70.xml" Id="R71dc6e5c669049a4" /><Relationship Type="http://schemas.openxmlformats.org/officeDocument/2006/relationships/slide" Target="/ppt/slides/slide71.xml" Id="R696fafe2489044ae" /><Relationship Type="http://schemas.openxmlformats.org/officeDocument/2006/relationships/slide" Target="/ppt/slides/slide72.xml" Id="R9337573b42014830" /><Relationship Type="http://schemas.openxmlformats.org/officeDocument/2006/relationships/slide" Target="/ppt/slides/slide73.xml" Id="R4c348b3f50e04b99" /><Relationship Type="http://schemas.openxmlformats.org/officeDocument/2006/relationships/slide" Target="/ppt/slides/slide74.xml" Id="R72abb7c74e1d4f63" /><Relationship Type="http://schemas.openxmlformats.org/officeDocument/2006/relationships/slide" Target="/ppt/slides/slide75.xml" Id="R41c4946f0be24669" /><Relationship Type="http://schemas.openxmlformats.org/officeDocument/2006/relationships/slide" Target="/ppt/slides/slide76.xml" Id="Rbd5f09d000b7425e" /><Relationship Type="http://schemas.openxmlformats.org/officeDocument/2006/relationships/slide" Target="/ppt/slides/slide77.xml" Id="R8e2bac0643864017" /><Relationship Type="http://schemas.openxmlformats.org/officeDocument/2006/relationships/slide" Target="/ppt/slides/slide78.xml" Id="Ra12a243ff5254690" /><Relationship Type="http://schemas.openxmlformats.org/officeDocument/2006/relationships/slide" Target="/ppt/slides/slide79.xml" Id="R3c4b0733e1f448c1" /><Relationship Type="http://schemas.openxmlformats.org/officeDocument/2006/relationships/slide" Target="/ppt/slides/slide80.xml" Id="Rc83e6e39d2bb49ac" /><Relationship Type="http://schemas.openxmlformats.org/officeDocument/2006/relationships/slide" Target="/ppt/slides/slide81.xml" Id="R93891153b7a24620" /><Relationship Type="http://schemas.openxmlformats.org/officeDocument/2006/relationships/slide" Target="/ppt/slides/slide82.xml" Id="Rd39fb890e51e4853" /><Relationship Type="http://schemas.openxmlformats.org/officeDocument/2006/relationships/slide" Target="/ppt/slides/slide83.xml" Id="R8a4d54267dd24f7a" /><Relationship Type="http://schemas.openxmlformats.org/officeDocument/2006/relationships/slide" Target="/ppt/slides/slide84.xml" Id="R2dfec4a3ccae4efb" /><Relationship Type="http://schemas.openxmlformats.org/officeDocument/2006/relationships/slide" Target="/ppt/slides/slide85.xml" Id="Rcad416097a8747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f41c7acb7249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ff467c0c6e4b12" /><Relationship Type="http://schemas.openxmlformats.org/officeDocument/2006/relationships/notesMaster" Target="/ppt/notesMasters/notesMaster1.xml" Id="Ra5dea4e0a8454a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c22393713245a9" /><Relationship Type="http://schemas.openxmlformats.org/officeDocument/2006/relationships/notesMaster" Target="/ppt/notesMasters/notesMaster1.xml" Id="R2c11a4fcec9d49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646aee2a5e4a04" /><Relationship Type="http://schemas.openxmlformats.org/officeDocument/2006/relationships/notesMaster" Target="/ppt/notesMasters/notesMaster1.xml" Id="Rbe72de241b874a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ac3e5c18724890" /><Relationship Type="http://schemas.openxmlformats.org/officeDocument/2006/relationships/notesMaster" Target="/ppt/notesMasters/notesMaster1.xml" Id="Reaf35b6b976844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9f10a2603e4b47" /><Relationship Type="http://schemas.openxmlformats.org/officeDocument/2006/relationships/notesMaster" Target="/ppt/notesMasters/notesMaster1.xml" Id="Rf511664d32ca41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d6a134b9d04d8a" /><Relationship Type="http://schemas.openxmlformats.org/officeDocument/2006/relationships/notesMaster" Target="/ppt/notesMasters/notesMaster1.xml" Id="R4b04a23045e34e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6226aa84f443e4" /><Relationship Type="http://schemas.openxmlformats.org/officeDocument/2006/relationships/notesMaster" Target="/ppt/notesMasters/notesMaster1.xml" Id="R3e377914c95d40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e307ac897448c8" /><Relationship Type="http://schemas.openxmlformats.org/officeDocument/2006/relationships/notesMaster" Target="/ppt/notesMasters/notesMaster1.xml" Id="Rb48c113091ca46c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d72c89e7e94aac" /><Relationship Type="http://schemas.openxmlformats.org/officeDocument/2006/relationships/notesMaster" Target="/ppt/notesMasters/notesMaster1.xml" Id="R06dd7e65ae1d4d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0c9a858b3a42da" /><Relationship Type="http://schemas.openxmlformats.org/officeDocument/2006/relationships/notesMaster" Target="/ppt/notesMasters/notesMaster1.xml" Id="R8ad403fc9fd544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2abbc5127842d8" /><Relationship Type="http://schemas.openxmlformats.org/officeDocument/2006/relationships/notesMaster" Target="/ppt/notesMasters/notesMaster1.xml" Id="Rb7e15eb375b848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a01b1f093a4ee0" /><Relationship Type="http://schemas.openxmlformats.org/officeDocument/2006/relationships/notesMaster" Target="/ppt/notesMasters/notesMaster1.xml" Id="Ra9c2e19f8aaf49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b325b5134046ff" /><Relationship Type="http://schemas.openxmlformats.org/officeDocument/2006/relationships/notesMaster" Target="/ppt/notesMasters/notesMaster1.xml" Id="R577f573facb1483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d36fe00cc346e8" /><Relationship Type="http://schemas.openxmlformats.org/officeDocument/2006/relationships/notesMaster" Target="/ppt/notesMasters/notesMaster1.xml" Id="R25a98e7a721d4e5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62fd0f64fba42cc" /><Relationship Type="http://schemas.openxmlformats.org/officeDocument/2006/relationships/notesMaster" Target="/ppt/notesMasters/notesMaster1.xml" Id="R3eae9cd33efd42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f6808c16ec64572" /><Relationship Type="http://schemas.openxmlformats.org/officeDocument/2006/relationships/notesMaster" Target="/ppt/notesMasters/notesMaster1.xml" Id="Rdeda7381b1b8407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327fbf5bb754d64" /><Relationship Type="http://schemas.openxmlformats.org/officeDocument/2006/relationships/notesMaster" Target="/ppt/notesMasters/notesMaster1.xml" Id="R3d926362668f4c2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a6dc8793eb548f3" /><Relationship Type="http://schemas.openxmlformats.org/officeDocument/2006/relationships/notesMaster" Target="/ppt/notesMasters/notesMaster1.xml" Id="R34fed4ee7e0c439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ad0242c98304888" /><Relationship Type="http://schemas.openxmlformats.org/officeDocument/2006/relationships/notesMaster" Target="/ppt/notesMasters/notesMaster1.xml" Id="R7d9b69e2e3f648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3e29e650fba4501" /><Relationship Type="http://schemas.openxmlformats.org/officeDocument/2006/relationships/notesMaster" Target="/ppt/notesMasters/notesMaster1.xml" Id="Rdac54cc3ee9d472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6ab0cbb4dae4edb" /><Relationship Type="http://schemas.openxmlformats.org/officeDocument/2006/relationships/notesMaster" Target="/ppt/notesMasters/notesMaster1.xml" Id="Rc6ad88ed57ac431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7c3688e54b14bda" /><Relationship Type="http://schemas.openxmlformats.org/officeDocument/2006/relationships/notesMaster" Target="/ppt/notesMasters/notesMaster1.xml" Id="R6b8fad20b6a14e3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a52c0201f9e4fa1" /><Relationship Type="http://schemas.openxmlformats.org/officeDocument/2006/relationships/notesMaster" Target="/ppt/notesMasters/notesMaster1.xml" Id="Rb8866bef2a1642f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b3fcd5dda594a56" /><Relationship Type="http://schemas.openxmlformats.org/officeDocument/2006/relationships/notesMaster" Target="/ppt/notesMasters/notesMaster1.xml" Id="R1b2f7e1519cf4d7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4b2dbc9370048b4" /><Relationship Type="http://schemas.openxmlformats.org/officeDocument/2006/relationships/notesMaster" Target="/ppt/notesMasters/notesMaster1.xml" Id="Rd4300139cc67420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7bc5b04a2774163" /><Relationship Type="http://schemas.openxmlformats.org/officeDocument/2006/relationships/notesMaster" Target="/ppt/notesMasters/notesMaster1.xml" Id="R1fdb32ddc6324f2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7570d162929480d" /><Relationship Type="http://schemas.openxmlformats.org/officeDocument/2006/relationships/notesMaster" Target="/ppt/notesMasters/notesMaster1.xml" Id="R02c0ccadef83479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6636d4e566047e5" /><Relationship Type="http://schemas.openxmlformats.org/officeDocument/2006/relationships/notesMaster" Target="/ppt/notesMasters/notesMaster1.xml" Id="R8a031819b7aa49a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a545294e7c249d6" /><Relationship Type="http://schemas.openxmlformats.org/officeDocument/2006/relationships/notesMaster" Target="/ppt/notesMasters/notesMaster1.xml" Id="R75da20e268814ba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e626e970f4a446b" /><Relationship Type="http://schemas.openxmlformats.org/officeDocument/2006/relationships/notesMaster" Target="/ppt/notesMasters/notesMaster1.xml" Id="R514e6d2d9d5d4b4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7d8f4cd4ee04abc" /><Relationship Type="http://schemas.openxmlformats.org/officeDocument/2006/relationships/notesMaster" Target="/ppt/notesMasters/notesMaster1.xml" Id="R982232450831489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ff27fa3790a4c07" /><Relationship Type="http://schemas.openxmlformats.org/officeDocument/2006/relationships/notesMaster" Target="/ppt/notesMasters/notesMaster1.xml" Id="R0681a453a32f4c8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a164423717743ee" /><Relationship Type="http://schemas.openxmlformats.org/officeDocument/2006/relationships/notesMaster" Target="/ppt/notesMasters/notesMaster1.xml" Id="R13113fd393cb4ef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61b5dd065e84d0b" /><Relationship Type="http://schemas.openxmlformats.org/officeDocument/2006/relationships/notesMaster" Target="/ppt/notesMasters/notesMaster1.xml" Id="R0f601efaa99f4a9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f1c12dd35da4939" /><Relationship Type="http://schemas.openxmlformats.org/officeDocument/2006/relationships/notesMaster" Target="/ppt/notesMasters/notesMaster1.xml" Id="Rab9c05560aad4d6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e5a991b114d4336" /><Relationship Type="http://schemas.openxmlformats.org/officeDocument/2006/relationships/notesMaster" Target="/ppt/notesMasters/notesMaster1.xml" Id="R725e25e6857b4b1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52f318f93754e2e" /><Relationship Type="http://schemas.openxmlformats.org/officeDocument/2006/relationships/notesMaster" Target="/ppt/notesMasters/notesMaster1.xml" Id="R5a40fa7964bb4e4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b12645aba354220" /><Relationship Type="http://schemas.openxmlformats.org/officeDocument/2006/relationships/notesMaster" Target="/ppt/notesMasters/notesMaster1.xml" Id="Raee2d98006bc471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aee2d3981024e63" /><Relationship Type="http://schemas.openxmlformats.org/officeDocument/2006/relationships/notesMaster" Target="/ppt/notesMasters/notesMaster1.xml" Id="Re6b171e940fc4d6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6e221a0d6c040df" /><Relationship Type="http://schemas.openxmlformats.org/officeDocument/2006/relationships/notesMaster" Target="/ppt/notesMasters/notesMaster1.xml" Id="R7fcd8cff6ac14d3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5f5948a5ce744a2" /><Relationship Type="http://schemas.openxmlformats.org/officeDocument/2006/relationships/notesMaster" Target="/ppt/notesMasters/notesMaster1.xml" Id="R0ad226866a584eb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b2107f6e6d04787" /><Relationship Type="http://schemas.openxmlformats.org/officeDocument/2006/relationships/notesMaster" Target="/ppt/notesMasters/notesMaster1.xml" Id="Rf8817754c6bd413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5af8bdbcb004fa6" /><Relationship Type="http://schemas.openxmlformats.org/officeDocument/2006/relationships/notesMaster" Target="/ppt/notesMasters/notesMaster1.xml" Id="Rdedb043334cb467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d21fd07558f4413" /><Relationship Type="http://schemas.openxmlformats.org/officeDocument/2006/relationships/notesMaster" Target="/ppt/notesMasters/notesMaster1.xml" Id="R17722953db15423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212686e8b3d44cc" /><Relationship Type="http://schemas.openxmlformats.org/officeDocument/2006/relationships/notesMaster" Target="/ppt/notesMasters/notesMaster1.xml" Id="R292de8663ed34ab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1dcf2b152324c2f" /><Relationship Type="http://schemas.openxmlformats.org/officeDocument/2006/relationships/notesMaster" Target="/ppt/notesMasters/notesMaster1.xml" Id="R7f7e201bffce4d3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15c00181c6c4e04" /><Relationship Type="http://schemas.openxmlformats.org/officeDocument/2006/relationships/notesMaster" Target="/ppt/notesMasters/notesMaster1.xml" Id="R75dc606be6c0402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88d28fbad9e4816" /><Relationship Type="http://schemas.openxmlformats.org/officeDocument/2006/relationships/notesMaster" Target="/ppt/notesMasters/notesMaster1.xml" Id="Rb4aa60c4a748497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d269cb24c4e4875" /><Relationship Type="http://schemas.openxmlformats.org/officeDocument/2006/relationships/notesMaster" Target="/ppt/notesMasters/notesMaster1.xml" Id="Ra8b6fdfd9fe14a1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3c7b8788e2b4cb6" /><Relationship Type="http://schemas.openxmlformats.org/officeDocument/2006/relationships/notesMaster" Target="/ppt/notesMasters/notesMaster1.xml" Id="R94f46fe36ce44bf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43ad895eb2242dc" /><Relationship Type="http://schemas.openxmlformats.org/officeDocument/2006/relationships/notesMaster" Target="/ppt/notesMasters/notesMaster1.xml" Id="Rd52d93eb7790487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9f612c645ab47f4" /><Relationship Type="http://schemas.openxmlformats.org/officeDocument/2006/relationships/notesMaster" Target="/ppt/notesMasters/notesMaster1.xml" Id="Re7dab53f3f034e1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68717e3924641f7" /><Relationship Type="http://schemas.openxmlformats.org/officeDocument/2006/relationships/notesMaster" Target="/ppt/notesMasters/notesMaster1.xml" Id="R1cf881aa9b31446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cae87366f6f4453" /><Relationship Type="http://schemas.openxmlformats.org/officeDocument/2006/relationships/notesMaster" Target="/ppt/notesMasters/notesMaster1.xml" Id="R5e21f621421e485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b8520fbf0754b0b" /><Relationship Type="http://schemas.openxmlformats.org/officeDocument/2006/relationships/notesMaster" Target="/ppt/notesMasters/notesMaster1.xml" Id="Rd89d2472c66d40f4"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8c5811d47cf4747" /><Relationship Type="http://schemas.openxmlformats.org/officeDocument/2006/relationships/notesMaster" Target="/ppt/notesMasters/notesMaster1.xml" Id="R4a3908816ba34ab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9145c55075a4a36" /><Relationship Type="http://schemas.openxmlformats.org/officeDocument/2006/relationships/notesMaster" Target="/ppt/notesMasters/notesMaster1.xml" Id="R8a9b713ebf2146a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5d496855bee4654" /><Relationship Type="http://schemas.openxmlformats.org/officeDocument/2006/relationships/notesMaster" Target="/ppt/notesMasters/notesMaster1.xml" Id="Rdf8a8104bf5443fe"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5f3ace638f2641a8" /><Relationship Type="http://schemas.openxmlformats.org/officeDocument/2006/relationships/notesMaster" Target="/ppt/notesMasters/notesMaster1.xml" Id="R44e70af5e89c4f2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10acef79502d40b5" /><Relationship Type="http://schemas.openxmlformats.org/officeDocument/2006/relationships/notesMaster" Target="/ppt/notesMasters/notesMaster1.xml" Id="R5111f63a715645b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12dd24ea5e5426f" /><Relationship Type="http://schemas.openxmlformats.org/officeDocument/2006/relationships/notesMaster" Target="/ppt/notesMasters/notesMaster1.xml" Id="Rd68e1ff9059e4c2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a338a6acc4d4285" /><Relationship Type="http://schemas.openxmlformats.org/officeDocument/2006/relationships/notesMaster" Target="/ppt/notesMasters/notesMaster1.xml" Id="Rb4b62a1e73e6430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378f6e14c87c40ec" /><Relationship Type="http://schemas.openxmlformats.org/officeDocument/2006/relationships/notesMaster" Target="/ppt/notesMasters/notesMaster1.xml" Id="R28a4d344837a4299"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bb3b462b4ec74a14" /><Relationship Type="http://schemas.openxmlformats.org/officeDocument/2006/relationships/notesMaster" Target="/ppt/notesMasters/notesMaster1.xml" Id="R943904429db74487"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fd038a6dab04434c" /><Relationship Type="http://schemas.openxmlformats.org/officeDocument/2006/relationships/notesMaster" Target="/ppt/notesMasters/notesMaster1.xml" Id="Rb7264e0578794a6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e6ea8b51136c4a01" /><Relationship Type="http://schemas.openxmlformats.org/officeDocument/2006/relationships/notesMaster" Target="/ppt/notesMasters/notesMaster1.xml" Id="Reeadf3bb44f94c86"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cf4a1c2ce9e64070" /><Relationship Type="http://schemas.openxmlformats.org/officeDocument/2006/relationships/notesMaster" Target="/ppt/notesMasters/notesMaster1.xml" Id="R6278d3b28dea42a3"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9312333a92dd4d3c" /><Relationship Type="http://schemas.openxmlformats.org/officeDocument/2006/relationships/notesMaster" Target="/ppt/notesMasters/notesMaster1.xml" Id="R3fe2f8ee03b44773"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0fd8eced16234632" /><Relationship Type="http://schemas.openxmlformats.org/officeDocument/2006/relationships/notesMaster" Target="/ppt/notesMasters/notesMaster1.xml" Id="Rd2a033387d944b2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87060324d844453a" /><Relationship Type="http://schemas.openxmlformats.org/officeDocument/2006/relationships/notesMaster" Target="/ppt/notesMasters/notesMaster1.xml" Id="Re3c94f56aabd4aa2"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49fe88ac5cca49e2" /><Relationship Type="http://schemas.openxmlformats.org/officeDocument/2006/relationships/notesMaster" Target="/ppt/notesMasters/notesMaster1.xml" Id="Rc6ef046125004fc5"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e4a0d34d126d4553" /><Relationship Type="http://schemas.openxmlformats.org/officeDocument/2006/relationships/notesMaster" Target="/ppt/notesMasters/notesMaster1.xml" Id="R250d26a83a10411f"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da571f4ceefc4e0f" /><Relationship Type="http://schemas.openxmlformats.org/officeDocument/2006/relationships/notesMaster" Target="/ppt/notesMasters/notesMaster1.xml" Id="R0f44dfa0368f4aab"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b92b99c2dc5d4803" /><Relationship Type="http://schemas.openxmlformats.org/officeDocument/2006/relationships/notesMaster" Target="/ppt/notesMasters/notesMaster1.xml" Id="Rfce7ae148e6a4bec"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fac564211c164218" /><Relationship Type="http://schemas.openxmlformats.org/officeDocument/2006/relationships/notesMaster" Target="/ppt/notesMasters/notesMaster1.xml" Id="Rcd297c2c04634fe6"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5d0544ea4c714b9f" /><Relationship Type="http://schemas.openxmlformats.org/officeDocument/2006/relationships/notesMaster" Target="/ppt/notesMasters/notesMaster1.xml" Id="R89a295d6d0e64023"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9c9312a9eac941e2" /><Relationship Type="http://schemas.openxmlformats.org/officeDocument/2006/relationships/notesMaster" Target="/ppt/notesMasters/notesMaster1.xml" Id="Rd0daf9ba0b364c33"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e391d9d47c8d4546" /><Relationship Type="http://schemas.openxmlformats.org/officeDocument/2006/relationships/notesMaster" Target="/ppt/notesMasters/notesMaster1.xml" Id="Rf58a9507e3de442d"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172379ad5b50468c" /><Relationship Type="http://schemas.openxmlformats.org/officeDocument/2006/relationships/notesMaster" Target="/ppt/notesMasters/notesMaster1.xml" Id="R1c10771674574e0b"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0233fdb12e0540a6" /><Relationship Type="http://schemas.openxmlformats.org/officeDocument/2006/relationships/notesMaster" Target="/ppt/notesMasters/notesMaster1.xml" Id="R5adf2522c36a42d3"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e83b6097d4884362" /><Relationship Type="http://schemas.openxmlformats.org/officeDocument/2006/relationships/notesMaster" Target="/ppt/notesMasters/notesMaster1.xml" Id="R097450a7ec8f47ef"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b6260fdb7a9247cf" /><Relationship Type="http://schemas.openxmlformats.org/officeDocument/2006/relationships/notesMaster" Target="/ppt/notesMasters/notesMaster1.xml" Id="R90a4b629fa4940c0"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e2056ef6883849f5" /><Relationship Type="http://schemas.openxmlformats.org/officeDocument/2006/relationships/notesMaster" Target="/ppt/notesMasters/notesMaster1.xml" Id="Redf766299a1d4509"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76c8103b457248e4" /><Relationship Type="http://schemas.openxmlformats.org/officeDocument/2006/relationships/notesMaster" Target="/ppt/notesMasters/notesMaster1.xml" Id="Rc9d8271ace874352"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715e7e4bb8104f0a" /><Relationship Type="http://schemas.openxmlformats.org/officeDocument/2006/relationships/notesMaster" Target="/ppt/notesMasters/notesMaster1.xml" Id="R869f67034db04c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Lists loops and reading a table</a:t>
            </a:r>
          </a:p>
          <a:p xmlns:a="http://schemas.openxmlformats.org/drawingml/2006/main">
            <a:r>
              <a:t/>
            </a:r>
          </a:p>
          <a:p xmlns:a="http://schemas.openxmlformats.org/drawingml/2006/main">
            <a:r>
              <a:t>CONNECT</a:t>
            </a:r>
          </a:p>
          <a:p xmlns:a="http://schemas.openxmlformats.org/drawingml/2006/main">
            <a:r>
              <a:t>Previous slide: the preceding week.</a:t>
            </a:r>
          </a:p>
          <a:p xmlns:a="http://schemas.openxmlformats.org/drawingml/2006/main">
            <a:r>
              <a:t/>
            </a:r>
          </a:p>
          <a:p xmlns:a="http://schemas.openxmlformats.org/drawingml/2006/main">
            <a:r>
              <a:t>EXPLAIN</a:t>
            </a:r>
          </a:p>
          <a:p xmlns:a="http://schemas.openxmlformats.org/drawingml/2006/main">
            <a:r>
              <a:t>Civil Engineering and Architecture</a:t>
            </a:r>
          </a:p>
          <a:p xmlns:a="http://schemas.openxmlformats.org/drawingml/2006/main">
            <a:r>
              <a:t/>
            </a:r>
          </a:p>
          <a:p xmlns:a="http://schemas.openxmlformats.org/drawingml/2006/main">
            <a:r>
              <a:t>LECTURER CUE</a:t>
            </a:r>
          </a:p>
          <a:p xmlns:a="http://schemas.openxmlformats.org/drawingml/2006/main">
            <a:r>
              <a:t>Use PowerPoint Presenter View for these notes. Teach one example, pause for every learner to predict, then work an analogous example together. The practice notebook is a learning aid, not an extra graded upload.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Today’s learning.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Today’s learning</a:t>
            </a:r>
          </a:p>
          <a:p xmlns:a="http://schemas.openxmlformats.org/drawingml/2006/main">
            <a:r>
              <a:t/>
            </a:r>
          </a:p>
          <a:p xmlns:a="http://schemas.openxmlformats.org/drawingml/2006/main">
            <a:r>
              <a:t>CONNECT</a:t>
            </a:r>
          </a:p>
          <a:p xmlns:a="http://schemas.openxmlformats.org/drawingml/2006/main">
            <a:r>
              <a:t>Previous slide: Lists loops and reading a table.</a:t>
            </a:r>
          </a:p>
          <a:p xmlns:a="http://schemas.openxmlformats.org/drawingml/2006/main">
            <a:r>
              <a:t/>
            </a:r>
          </a:p>
          <a:p xmlns:a="http://schemas.openxmlformats.org/drawingml/2006/main">
            <a:r>
              <a:t>EXPLAIN</a:t>
            </a:r>
          </a:p>
          <a:p xmlns:a="http://schemas.openxmlformats.org/drawingml/2006/main">
            <a:r>
              <a:t>Read lists and dictionary fields.</a:t>
            </a:r>
          </a:p>
          <a:p xmlns:a="http://schemas.openxmlformats.org/drawingml/2006/main">
            <a:r>
              <a:t/>
            </a:r>
          </a:p>
          <a:p xmlns:a="http://schemas.openxmlformats.org/drawingml/2006/main">
            <a:r>
              <a:t>Trace a loop, read CSV rows and calculate summaries.</a:t>
            </a:r>
          </a:p>
          <a:p xmlns:a="http://schemas.openxmlformats.org/drawingml/2006/main">
            <a:r>
              <a:t/>
            </a:r>
          </a:p>
          <a:p xmlns:a="http://schemas.openxmlformats.org/drawingml/2006/main">
            <a:r>
              <a:t>LECTURER CUE</a:t>
            </a:r>
          </a:p>
          <a:p xmlns:a="http://schemas.openxmlformats.org/drawingml/2006/main">
            <a:r>
              <a:t>Ask learners to explain this goal in ordinary language. The first successful attempt matters more than covering optional extensions. Defer: Nested comprehensions, arbitrary exception handling, a blank-page investigation and data-source hunting are later practice. Never use except: pass to silently erase evidence.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Connection to the previous lesson.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Connection to the previous lesson</a:t>
            </a:r>
          </a:p>
          <a:p xmlns:a="http://schemas.openxmlformats.org/drawingml/2006/main">
            <a:r>
              <a:t/>
            </a:r>
          </a:p>
          <a:p xmlns:a="http://schemas.openxmlformats.org/drawingml/2006/main">
            <a:r>
              <a:t>CONNECT</a:t>
            </a:r>
          </a:p>
          <a:p xmlns:a="http://schemas.openxmlformats.org/drawingml/2006/main">
            <a:r>
              <a:t>Previous slide: Today’s learning.</a:t>
            </a:r>
          </a:p>
          <a:p xmlns:a="http://schemas.openxmlformats.org/drawingml/2006/main">
            <a:r>
              <a:t/>
            </a:r>
          </a:p>
          <a:p xmlns:a="http://schemas.openxmlformats.org/drawingml/2006/main">
            <a:r>
              <a:t>EXPLAIN</a:t>
            </a:r>
          </a:p>
          <a:p xmlns:a="http://schemas.openxmlformats.org/drawingml/2006/main">
            <a:r>
              <a:t>Week 3 introduced values, function inputs and results, conditions and list positions. Now we repeat a calculation across records, then organise those records by keys.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Why this week’s tools are needed.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Why this week’s tools are needed</a:t>
            </a:r>
          </a:p>
          <a:p xmlns:a="http://schemas.openxmlformats.org/drawingml/2006/main">
            <a:r>
              <a:t/>
            </a:r>
          </a:p>
          <a:p xmlns:a="http://schemas.openxmlformats.org/drawingml/2006/main">
            <a:r>
              <a:t>CONNECT</a:t>
            </a:r>
          </a:p>
          <a:p xmlns:a="http://schemas.openxmlformats.org/drawingml/2006/main">
            <a:r>
              <a:t>Previous slide: Connection to the previous lesson.</a:t>
            </a:r>
          </a:p>
          <a:p xmlns:a="http://schemas.openxmlformats.org/drawingml/2006/main">
            <a:r>
              <a:t/>
            </a:r>
          </a:p>
          <a:p xmlns:a="http://schemas.openxmlformats.org/drawingml/2006/main">
            <a:r>
              <a:t>EXPLAIN</a:t>
            </a:r>
          </a:p>
          <a:p xmlns:a="http://schemas.openxmlformats.org/drawingml/2006/main">
            <a:r>
              <a:t>Sensor readings arrive as records in a CSV file. We first learn the Python collections and loops needed to read those records and summarise them.</a:t>
            </a:r>
          </a:p>
          <a:p xmlns:a="http://schemas.openxmlformats.org/drawingml/2006/main">
            <a:r>
              <a:t/>
            </a:r>
          </a:p>
          <a:p xmlns:a="http://schemas.openxmlformats.org/drawingml/2006/main">
            <a:r>
              <a:t>LECTURER CUE</a:t>
            </a:r>
          </a:p>
          <a:p xmlns:a="http://schemas.openxmlformats.org/drawingml/2006/main">
            <a:r>
              <a:t>A building team records indoor temperature to investigate comfort. Civil students can discuss construction and inspection; architecture students can discuss shading and ventilation. Explain the quantities before using them.</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List and index.</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List and index</a:t>
            </a:r>
          </a:p>
          <a:p xmlns:a="http://schemas.openxmlformats.org/drawingml/2006/main">
            <a:r>
              <a:t/>
            </a:r>
          </a:p>
          <a:p xmlns:a="http://schemas.openxmlformats.org/drawingml/2006/main">
            <a:r>
              <a:t>CONNECT</a:t>
            </a:r>
          </a:p>
          <a:p xmlns:a="http://schemas.openxmlformats.org/drawingml/2006/main">
            <a:r>
              <a:t>Previous slide: Why this week’s tools are needed.</a:t>
            </a:r>
          </a:p>
          <a:p xmlns:a="http://schemas.openxmlformats.org/drawingml/2006/main">
            <a:r>
              <a:t/>
            </a:r>
          </a:p>
          <a:p xmlns:a="http://schemas.openxmlformats.org/drawingml/2006/main">
            <a:r>
              <a:t>EXPLAIN</a:t>
            </a:r>
          </a:p>
          <a:p xmlns:a="http://schemas.openxmlformats.org/drawingml/2006/main">
            <a:r>
              <a:t>List and index: A list holds values in order: [2, 4, 6]. Square brackets select a position. readings[0] selects the first item, 2.</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list position starts at zero.</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list position starts at zero</a:t>
            </a:r>
          </a:p>
          <a:p xmlns:a="http://schemas.openxmlformats.org/drawingml/2006/main">
            <a:r>
              <a:t/>
            </a:r>
          </a:p>
          <a:p xmlns:a="http://schemas.openxmlformats.org/drawingml/2006/main">
            <a:r>
              <a:t>CONNECT</a:t>
            </a:r>
          </a:p>
          <a:p xmlns:a="http://schemas.openxmlformats.org/drawingml/2006/main">
            <a:r>
              <a:t>Previous slide: List and index.</a:t>
            </a:r>
          </a:p>
          <a:p xmlns:a="http://schemas.openxmlformats.org/drawingml/2006/main">
            <a:r>
              <a:t/>
            </a:r>
          </a:p>
          <a:p xmlns:a="http://schemas.openxmlformats.org/drawingml/2006/main">
            <a:r>
              <a:t>EXPLAIN</a:t>
            </a:r>
          </a:p>
          <a:p xmlns:a="http://schemas.openxmlformats.org/drawingml/2006/main">
            <a:r>
              <a:t>In [2, 4, 6], position 0 holds 2.</a:t>
            </a:r>
          </a:p>
          <a:p xmlns:a="http://schemas.openxmlformats.org/drawingml/2006/main">
            <a:r>
              <a:t/>
            </a:r>
          </a:p>
          <a:p xmlns:a="http://schemas.openxmlformats.org/drawingml/2006/main">
            <a:r>
              <a:t>Position 1 holds 4. Position 2 holds 6.</a:t>
            </a:r>
          </a:p>
          <a:p xmlns:a="http://schemas.openxmlformats.org/drawingml/2006/main">
            <a:r>
              <a:t/>
            </a:r>
          </a:p>
          <a:p xmlns:a="http://schemas.openxmlformats.org/drawingml/2006/main">
            <a:r>
              <a:t>There is no position 3 in this three-item list.</a:t>
            </a:r>
          </a:p>
          <a:p xmlns:a="http://schemas.openxmlformats.org/drawingml/2006/main">
            <a:r>
              <a:t/>
            </a:r>
          </a:p>
          <a:p xmlns:a="http://schemas.openxmlformats.org/drawingml/2006/main">
            <a:r>
              <a:t>LECTURER CUE</a:t>
            </a:r>
          </a:p>
          <a:p xmlns:a="http://schemas.openxmlformats.org/drawingml/2006/main">
            <a:r>
              <a:t>Draw three boxes labelled 0, 1 and 2 holding 2, 4 and 6. Read the first item aloud, then trace the loop by hand.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 list operations.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 list operations</a:t>
            </a:r>
          </a:p>
          <a:p xmlns:a="http://schemas.openxmlformats.org/drawingml/2006/main">
            <a:r>
              <a:t/>
            </a:r>
          </a:p>
          <a:p xmlns:a="http://schemas.openxmlformats.org/drawingml/2006/main">
            <a:r>
              <a:t>CONNECT</a:t>
            </a:r>
          </a:p>
          <a:p xmlns:a="http://schemas.openxmlformats.org/drawingml/2006/main">
            <a:r>
              <a:t>Previous slide: A list position starts at zero.</a:t>
            </a:r>
          </a:p>
          <a:p xmlns:a="http://schemas.openxmlformats.org/drawingml/2006/main">
            <a:r>
              <a:t/>
            </a:r>
          </a:p>
          <a:p xmlns:a="http://schemas.openxmlformats.org/drawingml/2006/main">
            <a:r>
              <a:t>EXPLAIN</a:t>
            </a:r>
          </a:p>
          <a:p xmlns:a="http://schemas.openxmlformats.org/drawingml/2006/main">
            <a:r>
              <a:t>append and len: readings.append(8) adds 8 to the end of the list. len(readings) counts its items. The dot selects an operation belonging to that object; parentheses call it.</a:t>
            </a:r>
          </a:p>
          <a:p xmlns:a="http://schemas.openxmlformats.org/drawingml/2006/main">
            <a:r>
              <a:t/>
            </a:r>
          </a:p>
          <a:p xmlns:a="http://schemas.openxmlformats.org/drawingml/2006/main">
            <a:r>
              <a:t>Slice: readings[1:3] selects positions 1 and 2. The stop position 3 is excluded. A slice produces a new list; it does not remove items from the original.</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list stores items in order.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list stores items in order</a:t>
            </a:r>
          </a:p>
          <a:p xmlns:a="http://schemas.openxmlformats.org/drawingml/2006/main">
            <a:r>
              <a:t/>
            </a:r>
          </a:p>
          <a:p xmlns:a="http://schemas.openxmlformats.org/drawingml/2006/main">
            <a:r>
              <a:t>CONNECT</a:t>
            </a:r>
          </a:p>
          <a:p xmlns:a="http://schemas.openxmlformats.org/drawingml/2006/main">
            <a:r>
              <a:t>Previous slide: Read list operations.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readings = [2, 4, 6]</a:t>
            </a:r>
          </a:p>
          <a:p xmlns:a="http://schemas.openxmlformats.org/drawingml/2006/main">
            <a:r>
              <a:t>print(readings[0])</a:t>
            </a:r>
          </a:p>
          <a:p xmlns:a="http://schemas.openxmlformats.org/drawingml/2006/main">
            <a:r>
              <a:t>readings.append(8)</a:t>
            </a:r>
          </a:p>
          <a:p xmlns:a="http://schemas.openxmlformats.org/drawingml/2006/main">
            <a:r>
              <a:t>print(len(readings))</a:t>
            </a:r>
          </a:p>
          <a:p xmlns:a="http://schemas.openxmlformats.org/drawingml/2006/main">
            <a:r>
              <a:t>print(readings[1:3])</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append adds one item to the end of a list.</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 builds a list. Positions start at zero. The slice stops before position 3.</a:t>
            </a:r>
          </a:p>
          <a:p xmlns:a="http://schemas.openxmlformats.org/drawingml/2006/main">
            <a:r>
              <a:t/>
            </a:r>
          </a:p>
          <a:p xmlns:a="http://schemas.openxmlformats.org/drawingml/2006/main">
            <a:r>
              <a:t>LECTURER CUE</a:t>
            </a:r>
          </a:p>
          <a:p xmlns:a="http://schemas.openxmlformats.org/drawingml/2006/main">
            <a:r>
              <a:t>Read each symbol before running. Ask everyone to predict. Expected output: 2 then 4 then [4, 6]. readings[4] would raise IndexError.</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the list changes.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the list changes</a:t>
            </a:r>
          </a:p>
          <a:p xmlns:a="http://schemas.openxmlformats.org/drawingml/2006/main">
            <a:r>
              <a:t/>
            </a:r>
          </a:p>
          <a:p xmlns:a="http://schemas.openxmlformats.org/drawingml/2006/main">
            <a:r>
              <a:t>CONNECT</a:t>
            </a:r>
          </a:p>
          <a:p xmlns:a="http://schemas.openxmlformats.org/drawingml/2006/main">
            <a:r>
              <a:t>Previous slide: A list stores items in order.</a:t>
            </a:r>
          </a:p>
          <a:p xmlns:a="http://schemas.openxmlformats.org/drawingml/2006/main">
            <a:r>
              <a:t/>
            </a:r>
          </a:p>
          <a:p xmlns:a="http://schemas.openxmlformats.org/drawingml/2006/main">
            <a:r>
              <a:t>EXPLAIN</a:t>
            </a:r>
          </a:p>
          <a:p xmlns:a="http://schemas.openxmlformats.org/drawingml/2006/main">
            <a:r>
              <a:t>Instruction | List afterwards | Displayed output</a:t>
            </a:r>
          </a:p>
          <a:p xmlns:a="http://schemas.openxmlformats.org/drawingml/2006/main">
            <a:r>
              <a:t/>
            </a:r>
          </a:p>
          <a:p xmlns:a="http://schemas.openxmlformats.org/drawingml/2006/main">
            <a:r>
              <a:t>readings = [2, 4, 6] | [2, 4, 6] | Nothing yet</a:t>
            </a:r>
          </a:p>
          <a:p xmlns:a="http://schemas.openxmlformats.org/drawingml/2006/main">
            <a:r>
              <a:t/>
            </a:r>
          </a:p>
          <a:p xmlns:a="http://schemas.openxmlformats.org/drawingml/2006/main">
            <a:r>
              <a:t>print(readings[0]) | [2, 4, 6] | 2</a:t>
            </a:r>
          </a:p>
          <a:p xmlns:a="http://schemas.openxmlformats.org/drawingml/2006/main">
            <a:r>
              <a:t/>
            </a:r>
          </a:p>
          <a:p xmlns:a="http://schemas.openxmlformats.org/drawingml/2006/main">
            <a:r>
              <a:t>readings.append(8) | [2, 4, 6, 8] | Nothing yet</a:t>
            </a:r>
          </a:p>
          <a:p xmlns:a="http://schemas.openxmlformats.org/drawingml/2006/main">
            <a:r>
              <a:t/>
            </a:r>
          </a:p>
          <a:p xmlns:a="http://schemas.openxmlformats.org/drawingml/2006/main">
            <a:r>
              <a:t>print(readings[1:3]) | [2, 4, 6, 8] | [4, 6]</a:t>
            </a:r>
          </a:p>
          <a:p xmlns:a="http://schemas.openxmlformats.org/drawingml/2006/main">
            <a:r>
              <a:t/>
            </a:r>
          </a:p>
          <a:p xmlns:a="http://schemas.openxmlformats.org/drawingml/2006/main">
            <a:r>
              <a:t>len reports 4 after append. A slice excludes its stop position and leaves the original list intact.</a:t>
            </a:r>
          </a:p>
          <a:p xmlns:a="http://schemas.openxmlformats.org/drawingml/2006/main">
            <a:r>
              <a:t/>
            </a:r>
          </a:p>
          <a:p xmlns:a="http://schemas.openxmlformats.org/drawingml/2006/main">
            <a:r>
              <a:t>Read the rows in order. len reports 4 after append. A slice excludes its stop position and leaves the original list intact.</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loop repeats instructions.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loop repeats instructions</a:t>
            </a:r>
          </a:p>
          <a:p xmlns:a="http://schemas.openxmlformats.org/drawingml/2006/main">
            <a:r>
              <a:t/>
            </a:r>
          </a:p>
          <a:p xmlns:a="http://schemas.openxmlformats.org/drawingml/2006/main">
            <a:r>
              <a:t>CONNECT</a:t>
            </a:r>
          </a:p>
          <a:p xmlns:a="http://schemas.openxmlformats.org/drawingml/2006/main">
            <a:r>
              <a:t>Previous slide: Trace the list changes.</a:t>
            </a:r>
          </a:p>
          <a:p xmlns:a="http://schemas.openxmlformats.org/drawingml/2006/main">
            <a:r>
              <a:t/>
            </a:r>
          </a:p>
          <a:p xmlns:a="http://schemas.openxmlformats.org/drawingml/2006/main">
            <a:r>
              <a:t>EXPLAIN</a:t>
            </a:r>
          </a:p>
          <a:p xmlns:a="http://schemas.openxmlformats.org/drawingml/2006/main">
            <a:r>
              <a:t>A loop runs a block more than once. One execution of the block is called an iteration.</a:t>
            </a:r>
          </a:p>
          <a:p xmlns:a="http://schemas.openxmlformats.org/drawingml/2006/main">
            <a:r>
              <a:t/>
            </a:r>
          </a:p>
          <a:p xmlns:a="http://schemas.openxmlformats.org/drawingml/2006/main">
            <a:r>
              <a:t>for takes one item at a time from a collection. Use it when each item needs the same action.</a:t>
            </a:r>
          </a:p>
          <a:p xmlns:a="http://schemas.openxmlformats.org/drawingml/2006/main">
            <a:r>
              <a:t/>
            </a:r>
          </a:p>
          <a:p xmlns:a="http://schemas.openxmlformats.org/drawingml/2006/main">
            <a:r>
              <a:t>while repeats while a condition stays True. Use it when a condition controls repetition. We will trace each kind before using it in a calculation.</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 every part of a for header.</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 every part of a for header</a:t>
            </a:r>
          </a:p>
          <a:p xmlns:a="http://schemas.openxmlformats.org/drawingml/2006/main">
            <a:r>
              <a:t/>
            </a:r>
          </a:p>
          <a:p xmlns:a="http://schemas.openxmlformats.org/drawingml/2006/main">
            <a:r>
              <a:t>CONNECT</a:t>
            </a:r>
          </a:p>
          <a:p xmlns:a="http://schemas.openxmlformats.org/drawingml/2006/main">
            <a:r>
              <a:t>Previous slide: A loop repeats instructions.</a:t>
            </a:r>
          </a:p>
          <a:p xmlns:a="http://schemas.openxmlformats.org/drawingml/2006/main">
            <a:r>
              <a:t/>
            </a:r>
          </a:p>
          <a:p xmlns:a="http://schemas.openxmlformats.org/drawingml/2006/main">
            <a:r>
              <a:t>EXPLAIN</a:t>
            </a:r>
          </a:p>
          <a:p xmlns:a="http://schemas.openxmlformats.org/drawingml/2006/main">
            <a:r>
              <a:t>In for reading in readings:, for introduces repetition, reading names the current item, and readings is the collection to visit.</a:t>
            </a:r>
          </a:p>
          <a:p xmlns:a="http://schemas.openxmlformats.org/drawingml/2006/main">
            <a:r>
              <a:t/>
            </a:r>
          </a:p>
          <a:p xmlns:a="http://schemas.openxmlformats.org/drawingml/2006/main">
            <a:r>
              <a:t>in connects the current-item name to that collection. The colon begins the loop body. Four spaces mark each instruction that repeats.</a:t>
            </a:r>
          </a:p>
          <a:p xmlns:a="http://schemas.openxmlformats.org/drawingml/2006/main">
            <a:r>
              <a:t/>
            </a:r>
          </a:p>
          <a:p xmlns:a="http://schemas.openxmlformats.org/drawingml/2006/main">
            <a:r>
              <a:t>reading is a name we choose; it is assigned the next item automatically. It is not the same name as readings. After the last item, execution leaves the loop.</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Visit each item without calculating.</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Visit each item without calculating</a:t>
            </a:r>
          </a:p>
          <a:p xmlns:a="http://schemas.openxmlformats.org/drawingml/2006/main">
            <a:r>
              <a:t/>
            </a:r>
          </a:p>
          <a:p xmlns:a="http://schemas.openxmlformats.org/drawingml/2006/main">
            <a:r>
              <a:t>CONNECT</a:t>
            </a:r>
          </a:p>
          <a:p xmlns:a="http://schemas.openxmlformats.org/drawingml/2006/main">
            <a:r>
              <a:t>Previous slide: Read every part of a for header.</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readings = [2, 4, 6]</a:t>
            </a:r>
          </a:p>
          <a:p xmlns:a="http://schemas.openxmlformats.org/drawingml/2006/main">
            <a:r>
              <a:t>for reading in readings:</a:t>
            </a:r>
          </a:p>
          <a:p xmlns:a="http://schemas.openxmlformats.org/drawingml/2006/main">
            <a:r>
              <a:t>    print(reading)</a:t>
            </a:r>
          </a:p>
          <a:p xmlns:a="http://schemas.openxmlformats.org/drawingml/2006/main">
            <a:r>
              <a:t>print("finished")</a:t>
            </a:r>
          </a:p>
          <a:p xmlns:a="http://schemas.openxmlformats.org/drawingml/2006/main">
            <a:r>
              <a:t/>
            </a:r>
          </a:p>
          <a:p xmlns:a="http://schemas.openxmlformats.org/drawingml/2006/main">
            <a:r>
              <a:t>The body runs once for each item.</a:t>
            </a:r>
          </a:p>
          <a:p xmlns:a="http://schemas.openxmlformats.org/drawingml/2006/main">
            <a:r>
              <a:t/>
            </a:r>
          </a:p>
          <a:p xmlns:a="http://schemas.openxmlformats.org/drawingml/2006/main">
            <a:r>
              <a:t>The final line is outside the loop, so it runs once.</a:t>
            </a:r>
          </a:p>
          <a:p xmlns:a="http://schemas.openxmlformats.org/drawingml/2006/main">
            <a:r>
              <a:t/>
            </a:r>
          </a:p>
          <a:p xmlns:a="http://schemas.openxmlformats.org/drawingml/2006/main">
            <a:r>
              <a:t>Output: 2; 4; 6; finished</a:t>
            </a:r>
          </a:p>
          <a:p xmlns:a="http://schemas.openxmlformats.org/drawingml/2006/main">
            <a:r>
              <a:t/>
            </a:r>
          </a:p>
          <a:p xmlns:a="http://schemas.openxmlformats.org/drawingml/2006/main">
            <a:r>
              <a:t>Expected printed output:</a:t>
            </a:r>
          </a:p>
          <a:p xmlns:a="http://schemas.openxmlformats.org/drawingml/2006/main">
            <a:r>
              <a:t>2</a:t>
            </a:r>
          </a:p>
          <a:p xmlns:a="http://schemas.openxmlformats.org/drawingml/2006/main">
            <a:r>
              <a:t>4</a:t>
            </a:r>
          </a:p>
          <a:p xmlns:a="http://schemas.openxmlformats.org/drawingml/2006/main">
            <a:r>
              <a:t>6</a:t>
            </a:r>
          </a:p>
          <a:p xmlns:a="http://schemas.openxmlformats.org/drawingml/2006/main">
            <a:r>
              <a:t>finished</a:t>
            </a:r>
          </a:p>
          <a:p xmlns:a="http://schemas.openxmlformats.org/drawingml/2006/main">
            <a:r>
              <a:t/>
            </a:r>
          </a:p>
          <a:p xmlns:a="http://schemas.openxmlformats.org/drawingml/2006/main">
            <a:r>
              <a:t>Run the complete cell, then trace each line. Expected output:</a:t>
            </a:r>
          </a:p>
          <a:p xmlns:a="http://schemas.openxmlformats.org/drawingml/2006/main">
            <a:r>
              <a:t>2</a:t>
            </a:r>
          </a:p>
          <a:p xmlns:a="http://schemas.openxmlformats.org/drawingml/2006/main">
            <a:r>
              <a:t>4</a:t>
            </a:r>
          </a:p>
          <a:p xmlns:a="http://schemas.openxmlformats.org/drawingml/2006/main">
            <a:r>
              <a:t>6</a:t>
            </a:r>
          </a:p>
          <a:p xmlns:a="http://schemas.openxmlformats.org/drawingml/2006/main">
            <a:r>
              <a:t>finished</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the for loop item by item.</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the for loop item by item</a:t>
            </a:r>
          </a:p>
          <a:p xmlns:a="http://schemas.openxmlformats.org/drawingml/2006/main">
            <a:r>
              <a:t/>
            </a:r>
          </a:p>
          <a:p xmlns:a="http://schemas.openxmlformats.org/drawingml/2006/main">
            <a:r>
              <a:t>CONNECT</a:t>
            </a:r>
          </a:p>
          <a:p xmlns:a="http://schemas.openxmlformats.org/drawingml/2006/main">
            <a:r>
              <a:t>Previous slide: Visit each item without calculating.</a:t>
            </a:r>
          </a:p>
          <a:p xmlns:a="http://schemas.openxmlformats.org/drawingml/2006/main">
            <a:r>
              <a:t/>
            </a:r>
          </a:p>
          <a:p xmlns:a="http://schemas.openxmlformats.org/drawingml/2006/main">
            <a:r>
              <a:t>EXPLAIN</a:t>
            </a:r>
          </a:p>
          <a:p xmlns:a="http://schemas.openxmlformats.org/drawingml/2006/main">
            <a:r>
              <a:t>Step | Current reading | Action</a:t>
            </a:r>
          </a:p>
          <a:p xmlns:a="http://schemas.openxmlformats.org/drawingml/2006/main">
            <a:r>
              <a:t/>
            </a:r>
          </a:p>
          <a:p xmlns:a="http://schemas.openxmlformats.org/drawingml/2006/main">
            <a:r>
              <a:t>First item | 2 | Print 2</a:t>
            </a:r>
          </a:p>
          <a:p xmlns:a="http://schemas.openxmlformats.org/drawingml/2006/main">
            <a:r>
              <a:t/>
            </a:r>
          </a:p>
          <a:p xmlns:a="http://schemas.openxmlformats.org/drawingml/2006/main">
            <a:r>
              <a:t>Second item | 4 | Print 4</a:t>
            </a:r>
          </a:p>
          <a:p xmlns:a="http://schemas.openxmlformats.org/drawingml/2006/main">
            <a:r>
              <a:t/>
            </a:r>
          </a:p>
          <a:p xmlns:a="http://schemas.openxmlformats.org/drawingml/2006/main">
            <a:r>
              <a:t>Third item | 6 | Print 6</a:t>
            </a:r>
          </a:p>
          <a:p xmlns:a="http://schemas.openxmlformats.org/drawingml/2006/main">
            <a:r>
              <a:t/>
            </a:r>
          </a:p>
          <a:p xmlns:a="http://schemas.openxmlformats.org/drawingml/2006/main">
            <a:r>
              <a:t>No items left | No new item | Leave loop; print finished</a:t>
            </a:r>
          </a:p>
          <a:p xmlns:a="http://schemas.openxmlformats.org/drawingml/2006/main">
            <a:r>
              <a:t/>
            </a:r>
          </a:p>
          <a:p xmlns:a="http://schemas.openxmlformats.org/drawingml/2006/main">
            <a:r>
              <a:t>An empty list runs the body zero times. It still reaches the outside line.</a:t>
            </a:r>
          </a:p>
          <a:p xmlns:a="http://schemas.openxmlformats.org/drawingml/2006/main">
            <a:r>
              <a:t/>
            </a:r>
          </a:p>
          <a:p xmlns:a="http://schemas.openxmlformats.org/drawingml/2006/main">
            <a:r>
              <a:t>Read the rows in order. An empty list runs the body zero times. It still reaches the outside line.</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Updating a counter inside a loop.</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Updating a counter inside a loop</a:t>
            </a:r>
          </a:p>
          <a:p xmlns:a="http://schemas.openxmlformats.org/drawingml/2006/main">
            <a:r>
              <a:t/>
            </a:r>
          </a:p>
          <a:p xmlns:a="http://schemas.openxmlformats.org/drawingml/2006/main">
            <a:r>
              <a:t>CONNECT</a:t>
            </a:r>
          </a:p>
          <a:p xmlns:a="http://schemas.openxmlformats.org/drawingml/2006/main">
            <a:r>
              <a:t>Previous slide: Trace the for loop item by item.</a:t>
            </a:r>
          </a:p>
          <a:p xmlns:a="http://schemas.openxmlformats.org/drawingml/2006/main">
            <a:r>
              <a:t/>
            </a:r>
          </a:p>
          <a:p xmlns:a="http://schemas.openxmlformats.org/drawingml/2006/main">
            <a:r>
              <a:t>EXPLAIN</a:t>
            </a:r>
          </a:p>
          <a:p xmlns:a="http://schemas.openxmlformats.org/drawingml/2006/main">
            <a:r>
              <a:t>A counter records how many times an event happens. Set count = 0 before the loop, then count = count + 1 inside it.</a:t>
            </a:r>
          </a:p>
          <a:p xmlns:a="http://schemas.openxmlformats.org/drawingml/2006/main">
            <a:r>
              <a:t/>
            </a:r>
          </a:p>
          <a:p xmlns:a="http://schemas.openxmlformats.org/drawingml/2006/main">
            <a:r>
              <a:t>count += 1 is a shorter spelling for that numeric update. Similarly, total += reading means total = total + reading.</a:t>
            </a:r>
          </a:p>
          <a:p xmlns:a="http://schemas.openxmlformats.org/drawingml/2006/main">
            <a:r>
              <a:t/>
            </a:r>
          </a:p>
          <a:p xmlns:a="http://schemas.openxmlformats.org/drawingml/2006/main">
            <a:r>
              <a:t>The initial value belongs outside the loop. Resetting count to zero inside every iteration loses the earlier count.</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 the visited items.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 the visited items</a:t>
            </a:r>
          </a:p>
          <a:p xmlns:a="http://schemas.openxmlformats.org/drawingml/2006/main">
            <a:r>
              <a:t/>
            </a:r>
          </a:p>
          <a:p xmlns:a="http://schemas.openxmlformats.org/drawingml/2006/main">
            <a:r>
              <a:t>CONNECT</a:t>
            </a:r>
          </a:p>
          <a:p xmlns:a="http://schemas.openxmlformats.org/drawingml/2006/main">
            <a:r>
              <a:t>Previous slide: Updating a counter inside a loop.</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count = 0</a:t>
            </a:r>
          </a:p>
          <a:p xmlns:a="http://schemas.openxmlformats.org/drawingml/2006/main">
            <a:r>
              <a:t>for reading in [2, 4, 6]:</a:t>
            </a:r>
          </a:p>
          <a:p xmlns:a="http://schemas.openxmlformats.org/drawingml/2006/main">
            <a:r>
              <a:t>    count += 1</a:t>
            </a:r>
          </a:p>
          <a:p xmlns:a="http://schemas.openxmlformats.org/drawingml/2006/main">
            <a:r>
              <a:t>print(count)</a:t>
            </a:r>
          </a:p>
          <a:p xmlns:a="http://schemas.openxmlformats.org/drawingml/2006/main">
            <a:r>
              <a:t/>
            </a:r>
          </a:p>
          <a:p xmlns:a="http://schemas.openxmlformats.org/drawingml/2006/main">
            <a:r>
              <a:t>Updates: 0 to 1, 1 to 2, then 2 to 3.</a:t>
            </a:r>
          </a:p>
          <a:p xmlns:a="http://schemas.openxmlformats.org/drawingml/2006/main">
            <a:r>
              <a:t/>
            </a:r>
          </a:p>
          <a:p xmlns:a="http://schemas.openxmlformats.org/drawingml/2006/main">
            <a:r>
              <a:t>Output: 3</a:t>
            </a:r>
          </a:p>
          <a:p xmlns:a="http://schemas.openxmlformats.org/drawingml/2006/main">
            <a:r>
              <a:t/>
            </a:r>
          </a:p>
          <a:p xmlns:a="http://schemas.openxmlformats.org/drawingml/2006/main">
            <a:r>
              <a:t>Expected printed output:</a:t>
            </a:r>
          </a:p>
          <a:p xmlns:a="http://schemas.openxmlformats.org/drawingml/2006/main">
            <a:r>
              <a:t>3</a:t>
            </a:r>
          </a:p>
          <a:p xmlns:a="http://schemas.openxmlformats.org/drawingml/2006/main">
            <a:r>
              <a:t/>
            </a:r>
          </a:p>
          <a:p xmlns:a="http://schemas.openxmlformats.org/drawingml/2006/main">
            <a:r>
              <a:t>Run the complete cell, then trace each line. Expected output:</a:t>
            </a:r>
          </a:p>
          <a:p xmlns:a="http://schemas.openxmlformats.org/drawingml/2006/main">
            <a:r>
              <a:t>3</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Accumulator.</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Accumulator</a:t>
            </a:r>
          </a:p>
          <a:p xmlns:a="http://schemas.openxmlformats.org/drawingml/2006/main">
            <a:r>
              <a:t/>
            </a:r>
          </a:p>
          <a:p xmlns:a="http://schemas.openxmlformats.org/drawingml/2006/main">
            <a:r>
              <a:t>CONNECT</a:t>
            </a:r>
          </a:p>
          <a:p xmlns:a="http://schemas.openxmlformats.org/drawingml/2006/main">
            <a:r>
              <a:t>Previous slide: Count the visited items.</a:t>
            </a:r>
          </a:p>
          <a:p xmlns:a="http://schemas.openxmlformats.org/drawingml/2006/main">
            <a:r>
              <a:t/>
            </a:r>
          </a:p>
          <a:p xmlns:a="http://schemas.openxmlformats.org/drawingml/2006/main">
            <a:r>
              <a:t>EXPLAIN</a:t>
            </a:r>
          </a:p>
          <a:p xmlns:a="http://schemas.openxmlformats.org/drawingml/2006/main">
            <a:r>
              <a:t>Accumulator: A running total. Set it to zero before the loop, add inside the loop, and read the final total afterward.</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loop repeats an indented block.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loop repeats an indented block</a:t>
            </a:r>
          </a:p>
          <a:p xmlns:a="http://schemas.openxmlformats.org/drawingml/2006/main">
            <a:r>
              <a:t/>
            </a:r>
          </a:p>
          <a:p xmlns:a="http://schemas.openxmlformats.org/drawingml/2006/main">
            <a:r>
              <a:t>CONNECT</a:t>
            </a:r>
          </a:p>
          <a:p xmlns:a="http://schemas.openxmlformats.org/drawingml/2006/main">
            <a:r>
              <a:t>Previous slide: Accumulator.</a:t>
            </a:r>
          </a:p>
          <a:p xmlns:a="http://schemas.openxmlformats.org/drawingml/2006/main">
            <a:r>
              <a:t/>
            </a:r>
          </a:p>
          <a:p xmlns:a="http://schemas.openxmlformats.org/drawingml/2006/main">
            <a:r>
              <a:t>EXPLAIN</a:t>
            </a:r>
          </a:p>
          <a:p xmlns:a="http://schemas.openxmlformats.org/drawingml/2006/main">
            <a:r>
              <a:t>for reading in readings: takes one item at a time.</a:t>
            </a:r>
          </a:p>
          <a:p xmlns:a="http://schemas.openxmlformats.org/drawingml/2006/main">
            <a:r>
              <a:t/>
            </a:r>
          </a:p>
          <a:p xmlns:a="http://schemas.openxmlformats.org/drawingml/2006/main">
            <a:r>
              <a:t>The colon starts the block. Four spaces show which lines repeat.</a:t>
            </a:r>
          </a:p>
          <a:p xmlns:a="http://schemas.openxmlformats.org/drawingml/2006/main">
            <a:r>
              <a:t/>
            </a:r>
          </a:p>
          <a:p xmlns:a="http://schemas.openxmlformats.org/drawingml/2006/main">
            <a:r>
              <a:t>A running total must start at zero before the loop.</a:t>
            </a:r>
          </a:p>
          <a:p xmlns:a="http://schemas.openxmlformats.org/drawingml/2006/main">
            <a:r>
              <a:t/>
            </a:r>
          </a:p>
          <a:p xmlns:a="http://schemas.openxmlformats.org/drawingml/2006/main">
            <a:r>
              <a:t>LECTURER CUE</a:t>
            </a:r>
          </a:p>
          <a:p xmlns:a="http://schemas.openxmlformats.org/drawingml/2006/main">
            <a:r>
              <a:t>Trace the native loop table that follows. Predict total after each item. An empty list needs a guard before dividing by its length.</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mean uses a total and a count.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mean uses a total and a count</a:t>
            </a:r>
          </a:p>
          <a:p xmlns:a="http://schemas.openxmlformats.org/drawingml/2006/main">
            <a:r>
              <a:t/>
            </a:r>
          </a:p>
          <a:p xmlns:a="http://schemas.openxmlformats.org/drawingml/2006/main">
            <a:r>
              <a:t>CONNECT</a:t>
            </a:r>
          </a:p>
          <a:p xmlns:a="http://schemas.openxmlformats.org/drawingml/2006/main">
            <a:r>
              <a:t>Previous slide: A loop repeats an indented block.</a:t>
            </a:r>
          </a:p>
          <a:p xmlns:a="http://schemas.openxmlformats.org/drawingml/2006/main">
            <a:r>
              <a:t/>
            </a:r>
          </a:p>
          <a:p xmlns:a="http://schemas.openxmlformats.org/drawingml/2006/main">
            <a:r>
              <a:t>EXPLAIN</a:t>
            </a:r>
          </a:p>
          <a:p xmlns:a="http://schemas.openxmlformats.org/drawingml/2006/main">
            <a:r>
              <a:t>Start the total at 0. Add 2, then 4, then 6.</a:t>
            </a:r>
          </a:p>
          <a:p xmlns:a="http://schemas.openxmlformats.org/drawingml/2006/main">
            <a:r>
              <a:t/>
            </a:r>
          </a:p>
          <a:p xmlns:a="http://schemas.openxmlformats.org/drawingml/2006/main">
            <a:r>
              <a:t>The final total is 12. The count is 3.</a:t>
            </a:r>
          </a:p>
          <a:p xmlns:a="http://schemas.openxmlformats.org/drawingml/2006/main">
            <a:r>
              <a:t/>
            </a:r>
          </a:p>
          <a:p xmlns:a="http://schemas.openxmlformats.org/drawingml/2006/main">
            <a:r>
              <a:t>12 / 3 gives the mean 4. An empty list needs a separate rule.</a:t>
            </a:r>
          </a:p>
          <a:p xmlns:a="http://schemas.openxmlformats.org/drawingml/2006/main">
            <a:r>
              <a:t/>
            </a:r>
          </a:p>
          <a:p xmlns:a="http://schemas.openxmlformats.org/drawingml/2006/main">
            <a:r>
              <a:t>LECTURER CUE</a:t>
            </a:r>
          </a:p>
          <a:p xmlns:a="http://schemas.openxmlformats.org/drawingml/2006/main">
            <a:r>
              <a:t>Make a table with columns reading and total: (2,2), (4,6), (6,12). len(readings) counts three items. 12 / 3 is 4.</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loop changes the running total.</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loop changes the running total</a:t>
            </a:r>
          </a:p>
          <a:p xmlns:a="http://schemas.openxmlformats.org/drawingml/2006/main">
            <a:r>
              <a:t/>
            </a:r>
          </a:p>
          <a:p xmlns:a="http://schemas.openxmlformats.org/drawingml/2006/main">
            <a:r>
              <a:t>CONNECT</a:t>
            </a:r>
          </a:p>
          <a:p xmlns:a="http://schemas.openxmlformats.org/drawingml/2006/main">
            <a:r>
              <a:t>Previous slide: A mean uses a total and a count.</a:t>
            </a:r>
          </a:p>
          <a:p xmlns:a="http://schemas.openxmlformats.org/drawingml/2006/main">
            <a:r>
              <a:t/>
            </a:r>
          </a:p>
          <a:p xmlns:a="http://schemas.openxmlformats.org/drawingml/2006/main">
            <a:r>
              <a:t>EXPLAIN</a:t>
            </a:r>
          </a:p>
          <a:p xmlns:a="http://schemas.openxmlformats.org/drawingml/2006/main">
            <a:r>
              <a:t>This illustration uses six separate readings. Next we trace the smaller list [2, 4, 6] using the same running-total rule.</a:t>
            </a:r>
          </a:p>
          <a:p xmlns:a="http://schemas.openxmlformats.org/drawingml/2006/main">
            <a:r>
              <a:t/>
            </a:r>
          </a:p>
          <a:p xmlns:a="http://schemas.openxmlformats.org/drawingml/2006/main">
            <a:r>
              <a:t>LECTURER CUE</a:t>
            </a:r>
          </a:p>
          <a:p xmlns:a="http://schemas.openxmlformats.org/drawingml/2006/main">
            <a:r>
              <a:t>The displayed mean is rounded to two decimals. Keep full precision in calculations. This larger illustration follows the same rule as our smaller 2, 4, 6 example.</a:t>
            </a:r>
          </a:p>
          <a:p xmlns:a="http://schemas.openxmlformats.org/drawingml/2006/main">
            <a:r>
              <a:t>Source: existing course illustration figs/accumulator_trace.png. These are illustrative examples, not this cohort’s assessed results.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Tracing the loop.</a:t>
            </a:r>
          </a:p>
          <a:p xmlns:a="http://schemas.openxmlformats.org/drawingml/2006/main">
            <a:r>
              <a:t/>
            </a:r>
          </a:p>
          <a:p xmlns:a="http://schemas.openxmlformats.org/drawingml/2006/main">
            <a:r>
              <a:t>REFERENCES</a:t>
            </a:r>
          </a:p>
          <a:p xmlns:a="http://schemas.openxmlformats.org/drawingml/2006/main">
            <a:r>
              <a:t>Source: existing course illustration figs/accumulator_trace.png. These are illustrative examples, not this cohort’s assessed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Tracing the loop</a:t>
            </a:r>
          </a:p>
          <a:p xmlns:a="http://schemas.openxmlformats.org/drawingml/2006/main">
            <a:r>
              <a:t/>
            </a:r>
          </a:p>
          <a:p xmlns:a="http://schemas.openxmlformats.org/drawingml/2006/main">
            <a:r>
              <a:t>CONNECT</a:t>
            </a:r>
          </a:p>
          <a:p xmlns:a="http://schemas.openxmlformats.org/drawingml/2006/main">
            <a:r>
              <a:t>Previous slide: A loop changes the running total.</a:t>
            </a:r>
          </a:p>
          <a:p xmlns:a="http://schemas.openxmlformats.org/drawingml/2006/main">
            <a:r>
              <a:t/>
            </a:r>
          </a:p>
          <a:p xmlns:a="http://schemas.openxmlformats.org/drawingml/2006/main">
            <a:r>
              <a:t>EXPLAIN</a:t>
            </a:r>
          </a:p>
          <a:p xmlns:a="http://schemas.openxmlformats.org/drawingml/2006/main">
            <a:r>
              <a:t>Step | reading | total after addition</a:t>
            </a:r>
          </a:p>
          <a:p xmlns:a="http://schemas.openxmlformats.org/drawingml/2006/main">
            <a:r>
              <a:t/>
            </a:r>
          </a:p>
          <a:p xmlns:a="http://schemas.openxmlformats.org/drawingml/2006/main">
            <a:r>
              <a:t>Before loop | — | 0</a:t>
            </a:r>
          </a:p>
          <a:p xmlns:a="http://schemas.openxmlformats.org/drawingml/2006/main">
            <a:r>
              <a:t/>
            </a:r>
          </a:p>
          <a:p xmlns:a="http://schemas.openxmlformats.org/drawingml/2006/main">
            <a:r>
              <a:t>First | 2 | 2</a:t>
            </a:r>
          </a:p>
          <a:p xmlns:a="http://schemas.openxmlformats.org/drawingml/2006/main">
            <a:r>
              <a:t/>
            </a:r>
          </a:p>
          <a:p xmlns:a="http://schemas.openxmlformats.org/drawingml/2006/main">
            <a:r>
              <a:t>Second | 4 | 6</a:t>
            </a:r>
          </a:p>
          <a:p xmlns:a="http://schemas.openxmlformats.org/drawingml/2006/main">
            <a:r>
              <a:t/>
            </a:r>
          </a:p>
          <a:p xmlns:a="http://schemas.openxmlformats.org/drawingml/2006/main">
            <a:r>
              <a:t>Third | 6 | 12</a:t>
            </a:r>
          </a:p>
          <a:p xmlns:a="http://schemas.openxmlformats.org/drawingml/2006/main">
            <a:r>
              <a:t/>
            </a:r>
          </a:p>
          <a:p xmlns:a="http://schemas.openxmlformats.org/drawingml/2006/main">
            <a:r>
              <a:t>There are three readings.</a:t>
            </a:r>
          </a:p>
          <a:p xmlns:a="http://schemas.openxmlformats.org/drawingml/2006/main">
            <a:r>
              <a:t/>
            </a:r>
          </a:p>
          <a:p xmlns:a="http://schemas.openxmlformats.org/drawingml/2006/main">
            <a:r>
              <a:t>LECTURER CUE</a:t>
            </a:r>
          </a:p>
          <a:p xmlns:a="http://schemas.openxmlformats.org/drawingml/2006/main">
            <a:r>
              <a:t>There are three readings. The mean is 12 / 3 = 4. Reset total before repeating the calculation.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Worked example.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Lists loops and records in Python</a:t>
            </a:r>
          </a:p>
          <a:p xmlns:a="http://schemas.openxmlformats.org/drawingml/2006/main">
            <a:r>
              <a:t/>
            </a:r>
          </a:p>
          <a:p xmlns:a="http://schemas.openxmlformats.org/drawingml/2006/main">
            <a:r>
              <a:t>CONNECT</a:t>
            </a:r>
          </a:p>
          <a:p xmlns:a="http://schemas.openxmlformats.org/drawingml/2006/main">
            <a:r>
              <a:t>Previous slide: Tracing the loop.</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readings = [2, 4, 6]</a:t>
            </a:r>
          </a:p>
          <a:p xmlns:a="http://schemas.openxmlformats.org/drawingml/2006/main">
            <a:r>
              <a:t>total = 0</a:t>
            </a:r>
          </a:p>
          <a:p xmlns:a="http://schemas.openxmlformats.org/drawingml/2006/main">
            <a:r>
              <a:t>for reading in readings:</a:t>
            </a:r>
          </a:p>
          <a:p xmlns:a="http://schemas.openxmlformats.org/drawingml/2006/main">
            <a:r>
              <a:t>    total = total + reading</a:t>
            </a:r>
          </a:p>
          <a:p xmlns:a="http://schemas.openxmlformats.org/drawingml/2006/main">
            <a:r>
              <a:t>mean = total / len(readings)</a:t>
            </a:r>
          </a:p>
          <a:p xmlns:a="http://schemas.openxmlformats.org/drawingml/2006/main">
            <a:r>
              <a:t>print(mean)</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Draw three boxes labelled 0, 1 and 2 holding 2, 4 and 6. Read the first item aloud, then trace the loop by hand. Make a table with columns reading and total: (2,2), (4,6), (6,12). len(readings) counts three items. 12 / 3 is 4. Before a real CSV, show a two-line text extract and name its header. Open the issued CSV together. Explain csv.DictReader as one dictionary per row. Convert only the numeric column and state what should happen to an invalid value.</a:t>
            </a:r>
          </a:p>
          <a:p xmlns:a="http://schemas.openxmlformats.org/drawingml/2006/main">
            <a:r>
              <a:t/>
            </a:r>
          </a:p>
          <a:p xmlns:a="http://schemas.openxmlformats.org/drawingml/2006/main">
            <a:r>
              <a:t>Complete practice code:</a:t>
            </a:r>
          </a:p>
          <a:p xmlns:a="http://schemas.openxmlformats.org/drawingml/2006/main">
            <a:r>
              <a:t>readings = [2, 4, 6]</a:t>
            </a:r>
          </a:p>
          <a:p xmlns:a="http://schemas.openxmlformats.org/drawingml/2006/main">
            <a:r>
              <a:t>total = 0</a:t>
            </a:r>
          </a:p>
          <a:p xmlns:a="http://schemas.openxmlformats.org/drawingml/2006/main">
            <a:r>
              <a:t>for reading in readings:</a:t>
            </a:r>
          </a:p>
          <a:p xmlns:a="http://schemas.openxmlformats.org/drawingml/2006/main">
            <a:r>
              <a:t>    total = total + reading</a:t>
            </a:r>
          </a:p>
          <a:p xmlns:a="http://schemas.openxmlformats.org/drawingml/2006/main">
            <a:r>
              <a:t>mean = total / len(readings)</a:t>
            </a:r>
          </a:p>
          <a:p xmlns:a="http://schemas.openxmlformats.org/drawingml/2006/main">
            <a:r>
              <a:t>print(mean)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Expected output.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Lists loops and records results</a:t>
            </a:r>
          </a:p>
          <a:p xmlns:a="http://schemas.openxmlformats.org/drawingml/2006/main">
            <a:r>
              <a:t/>
            </a:r>
          </a:p>
          <a:p xmlns:a="http://schemas.openxmlformats.org/drawingml/2006/main">
            <a:r>
              <a:t>CONNECT</a:t>
            </a:r>
          </a:p>
          <a:p xmlns:a="http://schemas.openxmlformats.org/drawingml/2006/main">
            <a:r>
              <a:t>Previous slide: Lists loops and records in Python.</a:t>
            </a:r>
          </a:p>
          <a:p xmlns:a="http://schemas.openxmlformats.org/drawingml/2006/main">
            <a:r>
              <a:t/>
            </a:r>
          </a:p>
          <a:p xmlns:a="http://schemas.openxmlformats.org/drawingml/2006/main">
            <a:r>
              <a:t>EXPLAIN</a:t>
            </a:r>
          </a:p>
          <a:p xmlns:a="http://schemas.openxmlformats.org/drawingml/2006/main">
            <a:r>
              <a:t>4.0</a:t>
            </a:r>
          </a:p>
          <a:p xmlns:a="http://schemas.openxmlformats.org/drawingml/2006/main">
            <a:r>
              <a:t/>
            </a:r>
          </a:p>
          <a:p xmlns:a="http://schemas.openxmlformats.org/drawingml/2006/main">
            <a:r>
              <a:t>LECTURER CUE</a:t>
            </a:r>
          </a:p>
          <a:p xmlns:a="http://schemas.openxmlformats.org/drawingml/2006/main">
            <a:r>
              <a:t>Compare the actual output character by character with this practice result. If it differs, read the first error and check the input, units, names and execution order. Do not copy this practice output into a graded answer.</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The built-in summary functions.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The built-in summary functions</a:t>
            </a:r>
          </a:p>
          <a:p xmlns:a="http://schemas.openxmlformats.org/drawingml/2006/main">
            <a:r>
              <a:t/>
            </a:r>
          </a:p>
          <a:p xmlns:a="http://schemas.openxmlformats.org/drawingml/2006/main">
            <a:r>
              <a:t>CONNECT</a:t>
            </a:r>
          </a:p>
          <a:p xmlns:a="http://schemas.openxmlformats.org/drawingml/2006/main">
            <a:r>
              <a:t>Previous slide: Lists loops and records results.</a:t>
            </a:r>
          </a:p>
          <a:p xmlns:a="http://schemas.openxmlformats.org/drawingml/2006/main">
            <a:r>
              <a:t/>
            </a:r>
          </a:p>
          <a:p xmlns:a="http://schemas.openxmlformats.org/drawingml/2006/main">
            <a:r>
              <a:t>EXPLAIN</a:t>
            </a:r>
          </a:p>
          <a:p xmlns:a="http://schemas.openxmlformats.org/drawingml/2006/main">
            <a:r>
              <a:t>Function | Question it answers | For [2, 4, 6]</a:t>
            </a:r>
          </a:p>
          <a:p xmlns:a="http://schemas.openxmlformats.org/drawingml/2006/main">
            <a:r>
              <a:t/>
            </a:r>
          </a:p>
          <a:p xmlns:a="http://schemas.openxmlformats.org/drawingml/2006/main">
            <a:r>
              <a:t>len | How many items? | 3</a:t>
            </a:r>
          </a:p>
          <a:p xmlns:a="http://schemas.openxmlformats.org/drawingml/2006/main">
            <a:r>
              <a:t/>
            </a:r>
          </a:p>
          <a:p xmlns:a="http://schemas.openxmlformats.org/drawingml/2006/main">
            <a:r>
              <a:t>sum | What is their total? | 12</a:t>
            </a:r>
          </a:p>
          <a:p xmlns:a="http://schemas.openxmlformats.org/drawingml/2006/main">
            <a:r>
              <a:t/>
            </a:r>
          </a:p>
          <a:p xmlns:a="http://schemas.openxmlformats.org/drawingml/2006/main">
            <a:r>
              <a:t>min | Which is smallest? | 2</a:t>
            </a:r>
          </a:p>
          <a:p xmlns:a="http://schemas.openxmlformats.org/drawingml/2006/main">
            <a:r>
              <a:t/>
            </a:r>
          </a:p>
          <a:p xmlns:a="http://schemas.openxmlformats.org/drawingml/2006/main">
            <a:r>
              <a:t>max | Which is largest? | 6</a:t>
            </a:r>
          </a:p>
          <a:p xmlns:a="http://schemas.openxmlformats.org/drawingml/2006/main">
            <a:r>
              <a:t/>
            </a:r>
          </a:p>
          <a:p xmlns:a="http://schemas.openxmlformats.org/drawingml/2006/main">
            <a:r>
              <a:t>These functions already exist in Python. min and max need at least one item unless an explicit default is supplied.</a:t>
            </a:r>
          </a:p>
          <a:p xmlns:a="http://schemas.openxmlformats.org/drawingml/2006/main">
            <a:r>
              <a:t/>
            </a:r>
          </a:p>
          <a:p xmlns:a="http://schemas.openxmlformats.org/drawingml/2006/main">
            <a:r>
              <a:t>Read the rows in order. These functions already exist in Python. min and max need at least one item unless an explicit default is supplied.</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Built-in summaries of a list.</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Built-in summaries of a list</a:t>
            </a:r>
          </a:p>
          <a:p xmlns:a="http://schemas.openxmlformats.org/drawingml/2006/main">
            <a:r>
              <a:t/>
            </a:r>
          </a:p>
          <a:p xmlns:a="http://schemas.openxmlformats.org/drawingml/2006/main">
            <a:r>
              <a:t>CONNECT</a:t>
            </a:r>
          </a:p>
          <a:p xmlns:a="http://schemas.openxmlformats.org/drawingml/2006/main">
            <a:r>
              <a:t>Previous slide: The built-in summary functions.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readings = [2, 4, 6]</a:t>
            </a:r>
          </a:p>
          <a:p xmlns:a="http://schemas.openxmlformats.org/drawingml/2006/main">
            <a:r>
              <a:t>print(sum(readings))</a:t>
            </a:r>
          </a:p>
          <a:p xmlns:a="http://schemas.openxmlformats.org/drawingml/2006/main">
            <a:r>
              <a:t>print(len(readings))</a:t>
            </a:r>
          </a:p>
          <a:p xmlns:a="http://schemas.openxmlformats.org/drawingml/2006/main">
            <a:r>
              <a:t>print(min(readings))</a:t>
            </a:r>
          </a:p>
          <a:p xmlns:a="http://schemas.openxmlformats.org/drawingml/2006/main">
            <a:r>
              <a:t>print(max(readings))</a:t>
            </a:r>
          </a:p>
          <a:p xmlns:a="http://schemas.openxmlformats.org/drawingml/2006/main">
            <a:r>
              <a:t/>
            </a:r>
          </a:p>
          <a:p xmlns:a="http://schemas.openxmlformats.org/drawingml/2006/main">
            <a:r>
              <a:t>These functions are built into Python.</a:t>
            </a:r>
          </a:p>
          <a:p xmlns:a="http://schemas.openxmlformats.org/drawingml/2006/main">
            <a:r>
              <a:t/>
            </a:r>
          </a:p>
          <a:p xmlns:a="http://schemas.openxmlformats.org/drawingml/2006/main">
            <a:r>
              <a:t>min and max require a nonempty list here.</a:t>
            </a:r>
          </a:p>
          <a:p xmlns:a="http://schemas.openxmlformats.org/drawingml/2006/main">
            <a:r>
              <a:t/>
            </a:r>
          </a:p>
          <a:p xmlns:a="http://schemas.openxmlformats.org/drawingml/2006/main">
            <a:r>
              <a:t>Output: 12, 3, 2, 6. sum totals; len counts; min and max select the smallest and largest.</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while loop checks before each repetition.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while loop checks before each repetition</a:t>
            </a:r>
          </a:p>
          <a:p xmlns:a="http://schemas.openxmlformats.org/drawingml/2006/main">
            <a:r>
              <a:t/>
            </a:r>
          </a:p>
          <a:p xmlns:a="http://schemas.openxmlformats.org/drawingml/2006/main">
            <a:r>
              <a:t>CONNECT</a:t>
            </a:r>
          </a:p>
          <a:p xmlns:a="http://schemas.openxmlformats.org/drawingml/2006/main">
            <a:r>
              <a:t>Previous slide: Built-in summaries of a list.</a:t>
            </a:r>
          </a:p>
          <a:p xmlns:a="http://schemas.openxmlformats.org/drawingml/2006/main">
            <a:r>
              <a:t/>
            </a:r>
          </a:p>
          <a:p xmlns:a="http://schemas.openxmlformats.org/drawingml/2006/main">
            <a:r>
              <a:t>EXPLAIN</a:t>
            </a:r>
          </a:p>
          <a:p xmlns:a="http://schemas.openxmlformats.org/drawingml/2006/main">
            <a:r>
              <a:t>while count &lt; 3: tests the condition before entering its indented block. True enters the block; False skips it and continues after the loop.</a:t>
            </a:r>
          </a:p>
          <a:p xmlns:a="http://schemas.openxmlformats.org/drawingml/2006/main">
            <a:r>
              <a:t/>
            </a:r>
          </a:p>
          <a:p xmlns:a="http://schemas.openxmlformats.org/drawingml/2006/main">
            <a:r>
              <a:t>At the end of the body, return to the condition and test again. Unlike for, while does not automatically move to the next list item.</a:t>
            </a:r>
          </a:p>
          <a:p xmlns:a="http://schemas.openxmlformats.org/drawingml/2006/main">
            <a:r>
              <a:t/>
            </a:r>
          </a:p>
          <a:p xmlns:a="http://schemas.openxmlformats.org/drawingml/2006/main">
            <a:r>
              <a:t>Something must make the condition become False, or the loop may continue indefinitely. In our example, count increases on every iteration.</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while loop with a stopping condition.</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while loop with a stopping condition</a:t>
            </a:r>
          </a:p>
          <a:p xmlns:a="http://schemas.openxmlformats.org/drawingml/2006/main">
            <a:r>
              <a:t/>
            </a:r>
          </a:p>
          <a:p xmlns:a="http://schemas.openxmlformats.org/drawingml/2006/main">
            <a:r>
              <a:t>CONNECT</a:t>
            </a:r>
          </a:p>
          <a:p xmlns:a="http://schemas.openxmlformats.org/drawingml/2006/main">
            <a:r>
              <a:t>Previous slide: A while loop checks before each repetition.</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count = 0</a:t>
            </a:r>
          </a:p>
          <a:p xmlns:a="http://schemas.openxmlformats.org/drawingml/2006/main">
            <a:r>
              <a:t>while count &lt; 3:</a:t>
            </a:r>
          </a:p>
          <a:p xmlns:a="http://schemas.openxmlformats.org/drawingml/2006/main">
            <a:r>
              <a:t>    print(count)</a:t>
            </a:r>
          </a:p>
          <a:p xmlns:a="http://schemas.openxmlformats.org/drawingml/2006/main">
            <a:r>
              <a:t>    count = count + 1</a:t>
            </a:r>
          </a:p>
          <a:p xmlns:a="http://schemas.openxmlformats.org/drawingml/2006/main">
            <a:r>
              <a:t>print("finished")</a:t>
            </a:r>
          </a:p>
          <a:p xmlns:a="http://schemas.openxmlformats.org/drawingml/2006/main">
            <a:r>
              <a:t/>
            </a:r>
          </a:p>
          <a:p xmlns:a="http://schemas.openxmlformats.org/drawingml/2006/main">
            <a:r>
              <a:t>Initialise, test, run the body, update, test again.</a:t>
            </a:r>
          </a:p>
          <a:p xmlns:a="http://schemas.openxmlformats.org/drawingml/2006/main">
            <a:r>
              <a:t/>
            </a:r>
          </a:p>
          <a:p xmlns:a="http://schemas.openxmlformats.org/drawingml/2006/main">
            <a:r>
              <a:t>When count becomes 3, the condition is False.</a:t>
            </a:r>
          </a:p>
          <a:p xmlns:a="http://schemas.openxmlformats.org/drawingml/2006/main">
            <a:r>
              <a:t/>
            </a:r>
          </a:p>
          <a:p xmlns:a="http://schemas.openxmlformats.org/drawingml/2006/main">
            <a:r>
              <a:t>Output: 0; 1; 2; finished</a:t>
            </a:r>
          </a:p>
          <a:p xmlns:a="http://schemas.openxmlformats.org/drawingml/2006/main">
            <a:r>
              <a:t/>
            </a:r>
          </a:p>
          <a:p xmlns:a="http://schemas.openxmlformats.org/drawingml/2006/main">
            <a:r>
              <a:t>Expected printed output:</a:t>
            </a:r>
          </a:p>
          <a:p xmlns:a="http://schemas.openxmlformats.org/drawingml/2006/main">
            <a:r>
              <a:t>0</a:t>
            </a:r>
          </a:p>
          <a:p xmlns:a="http://schemas.openxmlformats.org/drawingml/2006/main">
            <a:r>
              <a:t>1</a:t>
            </a:r>
          </a:p>
          <a:p xmlns:a="http://schemas.openxmlformats.org/drawingml/2006/main">
            <a:r>
              <a:t>2</a:t>
            </a:r>
          </a:p>
          <a:p xmlns:a="http://schemas.openxmlformats.org/drawingml/2006/main">
            <a:r>
              <a:t>finished</a:t>
            </a:r>
          </a:p>
          <a:p xmlns:a="http://schemas.openxmlformats.org/drawingml/2006/main">
            <a:r>
              <a:t/>
            </a:r>
          </a:p>
          <a:p xmlns:a="http://schemas.openxmlformats.org/drawingml/2006/main">
            <a:r>
              <a:t>Run the complete cell, then trace each line. Expected output:</a:t>
            </a:r>
          </a:p>
          <a:p xmlns:a="http://schemas.openxmlformats.org/drawingml/2006/main">
            <a:r>
              <a:t>0</a:t>
            </a:r>
          </a:p>
          <a:p xmlns:a="http://schemas.openxmlformats.org/drawingml/2006/main">
            <a:r>
              <a:t>1</a:t>
            </a:r>
          </a:p>
          <a:p xmlns:a="http://schemas.openxmlformats.org/drawingml/2006/main">
            <a:r>
              <a:t>2</a:t>
            </a:r>
          </a:p>
          <a:p xmlns:a="http://schemas.openxmlformats.org/drawingml/2006/main">
            <a:r>
              <a:t>finished</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the while condition and update.</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the while condition and update</a:t>
            </a:r>
          </a:p>
          <a:p xmlns:a="http://schemas.openxmlformats.org/drawingml/2006/main">
            <a:r>
              <a:t/>
            </a:r>
          </a:p>
          <a:p xmlns:a="http://schemas.openxmlformats.org/drawingml/2006/main">
            <a:r>
              <a:t>CONNECT</a:t>
            </a:r>
          </a:p>
          <a:p xmlns:a="http://schemas.openxmlformats.org/drawingml/2006/main">
            <a:r>
              <a:t>Previous slide: A while loop with a stopping condition.</a:t>
            </a:r>
          </a:p>
          <a:p xmlns:a="http://schemas.openxmlformats.org/drawingml/2006/main">
            <a:r>
              <a:t/>
            </a:r>
          </a:p>
          <a:p xmlns:a="http://schemas.openxmlformats.org/drawingml/2006/main">
            <a:r>
              <a:t>EXPLAIN</a:t>
            </a:r>
          </a:p>
          <a:p xmlns:a="http://schemas.openxmlformats.org/drawingml/2006/main">
            <a:r>
              <a:t>count before test | count &lt; 3 | Body and next count</a:t>
            </a:r>
          </a:p>
          <a:p xmlns:a="http://schemas.openxmlformats.org/drawingml/2006/main">
            <a:r>
              <a:t/>
            </a:r>
          </a:p>
          <a:p xmlns:a="http://schemas.openxmlformats.org/drawingml/2006/main">
            <a:r>
              <a:t>0 | True | Print 0; update to 1</a:t>
            </a:r>
          </a:p>
          <a:p xmlns:a="http://schemas.openxmlformats.org/drawingml/2006/main">
            <a:r>
              <a:t/>
            </a:r>
          </a:p>
          <a:p xmlns:a="http://schemas.openxmlformats.org/drawingml/2006/main">
            <a:r>
              <a:t>1 | True | Print 1; update to 2</a:t>
            </a:r>
          </a:p>
          <a:p xmlns:a="http://schemas.openxmlformats.org/drawingml/2006/main">
            <a:r>
              <a:t/>
            </a:r>
          </a:p>
          <a:p xmlns:a="http://schemas.openxmlformats.org/drawingml/2006/main">
            <a:r>
              <a:t>2 | True | Print 2; update to 3</a:t>
            </a:r>
          </a:p>
          <a:p xmlns:a="http://schemas.openxmlformats.org/drawingml/2006/main">
            <a:r>
              <a:t/>
            </a:r>
          </a:p>
          <a:p xmlns:a="http://schemas.openxmlformats.org/drawingml/2006/main">
            <a:r>
              <a:t>3 | False | Skip body; print finished</a:t>
            </a:r>
          </a:p>
          <a:p xmlns:a="http://schemas.openxmlformats.org/drawingml/2006/main">
            <a:r>
              <a:t/>
            </a:r>
          </a:p>
          <a:p xmlns:a="http://schemas.openxmlformats.org/drawingml/2006/main">
            <a:r>
              <a:t>If count starts at 3, the body runs zero times. The condition is tested first.</a:t>
            </a:r>
          </a:p>
          <a:p xmlns:a="http://schemas.openxmlformats.org/drawingml/2006/main">
            <a:r>
              <a:t/>
            </a:r>
          </a:p>
          <a:p xmlns:a="http://schemas.openxmlformats.org/drawingml/2006/main">
            <a:r>
              <a:t>Read the rows in order. If count starts at 3, the body runs zero times. The condition is tested first.</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Preventing an endless loop.</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Preventing an endless loop</a:t>
            </a:r>
          </a:p>
          <a:p xmlns:a="http://schemas.openxmlformats.org/drawingml/2006/main">
            <a:r>
              <a:t/>
            </a:r>
          </a:p>
          <a:p xmlns:a="http://schemas.openxmlformats.org/drawingml/2006/main">
            <a:r>
              <a:t>CONNECT</a:t>
            </a:r>
          </a:p>
          <a:p xmlns:a="http://schemas.openxmlformats.org/drawingml/2006/main">
            <a:r>
              <a:t>Previous slide: Trace the while condition and update.</a:t>
            </a:r>
          </a:p>
          <a:p xmlns:a="http://schemas.openxmlformats.org/drawingml/2006/main">
            <a:r>
              <a:t/>
            </a:r>
          </a:p>
          <a:p xmlns:a="http://schemas.openxmlformats.org/drawingml/2006/main">
            <a:r>
              <a:t>EXPLAIN</a:t>
            </a:r>
          </a:p>
          <a:p xmlns:a="http://schemas.openxmlformats.org/drawingml/2006/main">
            <a:r>
              <a:t>If the update is missing, count remains 0. The question 0 &lt; 3 stays True, so the body keeps running.</a:t>
            </a:r>
          </a:p>
          <a:p xmlns:a="http://schemas.openxmlformats.org/drawingml/2006/main">
            <a:r>
              <a:t/>
            </a:r>
          </a:p>
          <a:p xmlns:a="http://schemas.openxmlformats.org/drawingml/2006/main">
            <a:r>
              <a:t>In Colab, click the running cell’s stop button or use Runtime → Interrupt execution. Fix the condition or update before running again.</a:t>
            </a:r>
          </a:p>
          <a:p xmlns:a="http://schemas.openxmlformats.org/drawingml/2006/main">
            <a:r>
              <a:t/>
            </a:r>
          </a:p>
          <a:p xmlns:a="http://schemas.openxmlformats.org/drawingml/2006/main">
            <a:r>
              <a:t>Do not run an intentionally endless example. Trace the unchanged value on the slide to see why it would fail.</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Choosing if for or while.</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Choosing if for or while</a:t>
            </a:r>
          </a:p>
          <a:p xmlns:a="http://schemas.openxmlformats.org/drawingml/2006/main">
            <a:r>
              <a:t/>
            </a:r>
          </a:p>
          <a:p xmlns:a="http://schemas.openxmlformats.org/drawingml/2006/main">
            <a:r>
              <a:t>CONNECT</a:t>
            </a:r>
          </a:p>
          <a:p xmlns:a="http://schemas.openxmlformats.org/drawingml/2006/main">
            <a:r>
              <a:t>Previous slide: Preventing an endless loop.</a:t>
            </a:r>
          </a:p>
          <a:p xmlns:a="http://schemas.openxmlformats.org/drawingml/2006/main">
            <a:r>
              <a:t/>
            </a:r>
          </a:p>
          <a:p xmlns:a="http://schemas.openxmlformats.org/drawingml/2006/main">
            <a:r>
              <a:t>EXPLAIN</a:t>
            </a:r>
          </a:p>
          <a:p xmlns:a="http://schemas.openxmlformats.org/drawingml/2006/main">
            <a:r>
              <a:t>Construct | Purpose | When it finishes</a:t>
            </a:r>
          </a:p>
          <a:p xmlns:a="http://schemas.openxmlformats.org/drawingml/2006/main">
            <a:r>
              <a:t/>
            </a:r>
          </a:p>
          <a:p xmlns:a="http://schemas.openxmlformats.org/drawingml/2006/main">
            <a:r>
              <a:t>if / else | Choose a path once | After the chosen block</a:t>
            </a:r>
          </a:p>
          <a:p xmlns:a="http://schemas.openxmlformats.org/drawingml/2006/main">
            <a:r>
              <a:t/>
            </a:r>
          </a:p>
          <a:p xmlns:a="http://schemas.openxmlformats.org/drawingml/2006/main">
            <a:r>
              <a:t>for | Visit supplied items | When items are exhausted</a:t>
            </a:r>
          </a:p>
          <a:p xmlns:a="http://schemas.openxmlformats.org/drawingml/2006/main">
            <a:r>
              <a:t/>
            </a:r>
          </a:p>
          <a:p xmlns:a="http://schemas.openxmlformats.org/drawingml/2006/main">
            <a:r>
              <a:t>while | Repeat while True | When condition becomes False</a:t>
            </a:r>
          </a:p>
          <a:p xmlns:a="http://schemas.openxmlformats.org/drawingml/2006/main">
            <a:r>
              <a:t/>
            </a:r>
          </a:p>
          <a:p xmlns:a="http://schemas.openxmlformats.org/drawingml/2006/main">
            <a:r>
              <a:t>A condition alone does not imply repetition: if tests once; while tests again after its body.</a:t>
            </a:r>
          </a:p>
          <a:p xmlns:a="http://schemas.openxmlformats.org/drawingml/2006/main">
            <a:r>
              <a:t/>
            </a:r>
          </a:p>
          <a:p xmlns:a="http://schemas.openxmlformats.org/drawingml/2006/main">
            <a:r>
              <a:t>Read the rows in order. A condition alone does not imply repetition: if tests once; while tests again after its body.</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range supplies a sequence of integers.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range supplies a sequence of integers</a:t>
            </a:r>
          </a:p>
          <a:p xmlns:a="http://schemas.openxmlformats.org/drawingml/2006/main">
            <a:r>
              <a:t/>
            </a:r>
          </a:p>
          <a:p xmlns:a="http://schemas.openxmlformats.org/drawingml/2006/main">
            <a:r>
              <a:t>CONNECT</a:t>
            </a:r>
          </a:p>
          <a:p xmlns:a="http://schemas.openxmlformats.org/drawingml/2006/main">
            <a:r>
              <a:t>Previous slide: Choosing if for or while.</a:t>
            </a:r>
          </a:p>
          <a:p xmlns:a="http://schemas.openxmlformats.org/drawingml/2006/main">
            <a:r>
              <a:t/>
            </a:r>
          </a:p>
          <a:p xmlns:a="http://schemas.openxmlformats.org/drawingml/2006/main">
            <a:r>
              <a:t>EXPLAIN</a:t>
            </a:r>
          </a:p>
          <a:p xmlns:a="http://schemas.openxmlformats.org/drawingml/2006/main">
            <a:r>
              <a:t>range(3) supplies 0, 1 and 2. The stop value 3 is excluded. range(1, 4) supplies 1, 2 and 3.</a:t>
            </a:r>
          </a:p>
          <a:p xmlns:a="http://schemas.openxmlformats.org/drawingml/2006/main">
            <a:r>
              <a:t/>
            </a:r>
          </a:p>
          <a:p xmlns:a="http://schemas.openxmlformats.org/drawingml/2006/main">
            <a:r>
              <a:t>Use range with for when a numbered repetition is useful. The loop still works by taking the next supplied item.</a:t>
            </a:r>
          </a:p>
          <a:p xmlns:a="http://schemas.openxmlformats.org/drawingml/2006/main">
            <a:r>
              <a:t/>
            </a:r>
          </a:p>
          <a:p xmlns:a="http://schemas.openxmlformats.org/drawingml/2006/main">
            <a:r>
              <a:t>range(0, 6, 2) uses a step of 2 and supplies 0, 2, 4. A step is the change between successive numbers; it cannot be zero.</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Repeat with range.</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Repeat with range</a:t>
            </a:r>
          </a:p>
          <a:p xmlns:a="http://schemas.openxmlformats.org/drawingml/2006/main">
            <a:r>
              <a:t/>
            </a:r>
          </a:p>
          <a:p xmlns:a="http://schemas.openxmlformats.org/drawingml/2006/main">
            <a:r>
              <a:t>CONNECT</a:t>
            </a:r>
          </a:p>
          <a:p xmlns:a="http://schemas.openxmlformats.org/drawingml/2006/main">
            <a:r>
              <a:t>Previous slide: range supplies a sequence of integers.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for attempt in range(1, 4):</a:t>
            </a:r>
          </a:p>
          <a:p xmlns:a="http://schemas.openxmlformats.org/drawingml/2006/main">
            <a:r>
              <a:t>    print(attempt)</a:t>
            </a:r>
          </a:p>
          <a:p xmlns:a="http://schemas.openxmlformats.org/drawingml/2006/main">
            <a:r>
              <a:t/>
            </a:r>
          </a:p>
          <a:p xmlns:a="http://schemas.openxmlformats.org/drawingml/2006/main">
            <a:r>
              <a:t>Start at 1; stop before 4.</a:t>
            </a:r>
          </a:p>
          <a:p xmlns:a="http://schemas.openxmlformats.org/drawingml/2006/main">
            <a:r>
              <a:t/>
            </a:r>
          </a:p>
          <a:p xmlns:a="http://schemas.openxmlformats.org/drawingml/2006/main">
            <a:r>
              <a:t>Output: 1; 2; 3</a:t>
            </a:r>
          </a:p>
          <a:p xmlns:a="http://schemas.openxmlformats.org/drawingml/2006/main">
            <a:r>
              <a:t/>
            </a:r>
          </a:p>
          <a:p xmlns:a="http://schemas.openxmlformats.org/drawingml/2006/main">
            <a:r>
              <a:t>Expected printed output:</a:t>
            </a:r>
          </a:p>
          <a:p xmlns:a="http://schemas.openxmlformats.org/drawingml/2006/main">
            <a:r>
              <a:t>1</a:t>
            </a:r>
          </a:p>
          <a:p xmlns:a="http://schemas.openxmlformats.org/drawingml/2006/main">
            <a:r>
              <a:t>2</a:t>
            </a:r>
          </a:p>
          <a:p xmlns:a="http://schemas.openxmlformats.org/drawingml/2006/main">
            <a:r>
              <a:t>3</a:t>
            </a:r>
          </a:p>
          <a:p xmlns:a="http://schemas.openxmlformats.org/drawingml/2006/main">
            <a:r>
              <a:t/>
            </a:r>
          </a:p>
          <a:p xmlns:a="http://schemas.openxmlformats.org/drawingml/2006/main">
            <a:r>
              <a:t>Run the complete cell, then trace each line. Expected output:</a:t>
            </a:r>
          </a:p>
          <a:p xmlns:a="http://schemas.openxmlformats.org/drawingml/2006/main">
            <a:r>
              <a:t>1</a:t>
            </a:r>
          </a:p>
          <a:p xmlns:a="http://schemas.openxmlformats.org/drawingml/2006/main">
            <a:r>
              <a:t>2</a:t>
            </a:r>
          </a:p>
          <a:p xmlns:a="http://schemas.openxmlformats.org/drawingml/2006/main">
            <a:r>
              <a:t>3</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continue and break change a loop’s path.</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continue and break change a loop’s path</a:t>
            </a:r>
          </a:p>
          <a:p xmlns:a="http://schemas.openxmlformats.org/drawingml/2006/main">
            <a:r>
              <a:t/>
            </a:r>
          </a:p>
          <a:p xmlns:a="http://schemas.openxmlformats.org/drawingml/2006/main">
            <a:r>
              <a:t>CONNECT</a:t>
            </a:r>
          </a:p>
          <a:p xmlns:a="http://schemas.openxmlformats.org/drawingml/2006/main">
            <a:r>
              <a:t>Previous slide: Repeat with range.</a:t>
            </a:r>
          </a:p>
          <a:p xmlns:a="http://schemas.openxmlformats.org/drawingml/2006/main">
            <a:r>
              <a:t/>
            </a:r>
          </a:p>
          <a:p xmlns:a="http://schemas.openxmlformats.org/drawingml/2006/main">
            <a:r>
              <a:t>EXPLAIN</a:t>
            </a:r>
          </a:p>
          <a:p xmlns:a="http://schemas.openxmlformats.org/drawingml/2006/main">
            <a:r>
              <a:t>continue skips the rest of the current iteration, then starts the next iteration. It does not end the whole loop.</a:t>
            </a:r>
          </a:p>
          <a:p xmlns:a="http://schemas.openxmlformats.org/drawingml/2006/main">
            <a:r>
              <a:t/>
            </a:r>
          </a:p>
          <a:p xmlns:a="http://schemas.openxmlformats.org/drawingml/2006/main">
            <a:r>
              <a:t>break exits the nearest enclosing loop immediately. Execution resumes after that loop.</a:t>
            </a:r>
          </a:p>
          <a:p xmlns:a="http://schemas.openxmlformats.org/drawingml/2006/main">
            <a:r>
              <a:t/>
            </a:r>
          </a:p>
          <a:p xmlns:a="http://schemas.openxmlformats.org/drawingml/2006/main">
            <a:r>
              <a:t>Put the condition inside the loop with four spaces. Its action is inside that condition with eight spaces: an indented block inside another block.</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Skip one item using continue.</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Skip one item using continue</a:t>
            </a:r>
          </a:p>
          <a:p xmlns:a="http://schemas.openxmlformats.org/drawingml/2006/main">
            <a:r>
              <a:t/>
            </a:r>
          </a:p>
          <a:p xmlns:a="http://schemas.openxmlformats.org/drawingml/2006/main">
            <a:r>
              <a:t>CONNECT</a:t>
            </a:r>
          </a:p>
          <a:p xmlns:a="http://schemas.openxmlformats.org/drawingml/2006/main">
            <a:r>
              <a:t>Previous slide: continue and break change a loop’s path.</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for reading in [2, -1, 6]:</a:t>
            </a:r>
          </a:p>
          <a:p xmlns:a="http://schemas.openxmlformats.org/drawingml/2006/main">
            <a:r>
              <a:t>    if reading &lt; 0:</a:t>
            </a:r>
          </a:p>
          <a:p xmlns:a="http://schemas.openxmlformats.org/drawingml/2006/main">
            <a:r>
              <a:t>        continue</a:t>
            </a:r>
          </a:p>
          <a:p xmlns:a="http://schemas.openxmlformats.org/drawingml/2006/main">
            <a:r>
              <a:t>    print(reading)</a:t>
            </a:r>
          </a:p>
          <a:p xmlns:a="http://schemas.openxmlformats.org/drawingml/2006/main">
            <a:r>
              <a:t/>
            </a:r>
          </a:p>
          <a:p xmlns:a="http://schemas.openxmlformats.org/drawingml/2006/main">
            <a:r>
              <a:t>-1 takes continue, so its print is skipped.</a:t>
            </a:r>
          </a:p>
          <a:p xmlns:a="http://schemas.openxmlformats.org/drawingml/2006/main">
            <a:r>
              <a:t/>
            </a:r>
          </a:p>
          <a:p xmlns:a="http://schemas.openxmlformats.org/drawingml/2006/main">
            <a:r>
              <a:t>2 and 6 reach print.</a:t>
            </a:r>
          </a:p>
          <a:p xmlns:a="http://schemas.openxmlformats.org/drawingml/2006/main">
            <a:r>
              <a:t/>
            </a:r>
          </a:p>
          <a:p xmlns:a="http://schemas.openxmlformats.org/drawingml/2006/main">
            <a:r>
              <a:t>Output: 2; 6</a:t>
            </a:r>
          </a:p>
          <a:p xmlns:a="http://schemas.openxmlformats.org/drawingml/2006/main">
            <a:r>
              <a:t/>
            </a:r>
          </a:p>
          <a:p xmlns:a="http://schemas.openxmlformats.org/drawingml/2006/main">
            <a:r>
              <a:t>Expected printed output:</a:t>
            </a:r>
          </a:p>
          <a:p xmlns:a="http://schemas.openxmlformats.org/drawingml/2006/main">
            <a:r>
              <a:t>2</a:t>
            </a:r>
          </a:p>
          <a:p xmlns:a="http://schemas.openxmlformats.org/drawingml/2006/main">
            <a:r>
              <a:t>6</a:t>
            </a:r>
          </a:p>
          <a:p xmlns:a="http://schemas.openxmlformats.org/drawingml/2006/main">
            <a:r>
              <a:t/>
            </a:r>
          </a:p>
          <a:p xmlns:a="http://schemas.openxmlformats.org/drawingml/2006/main">
            <a:r>
              <a:t>Run the complete cell, then trace each line. Expected output:</a:t>
            </a:r>
          </a:p>
          <a:p xmlns:a="http://schemas.openxmlformats.org/drawingml/2006/main">
            <a:r>
              <a:t>2</a:t>
            </a:r>
          </a:p>
          <a:p xmlns:a="http://schemas.openxmlformats.org/drawingml/2006/main">
            <a:r>
              <a:t>6</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Stop at one item using break.</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Stop at one item using break</a:t>
            </a:r>
          </a:p>
          <a:p xmlns:a="http://schemas.openxmlformats.org/drawingml/2006/main">
            <a:r>
              <a:t/>
            </a:r>
          </a:p>
          <a:p xmlns:a="http://schemas.openxmlformats.org/drawingml/2006/main">
            <a:r>
              <a:t>CONNECT</a:t>
            </a:r>
          </a:p>
          <a:p xmlns:a="http://schemas.openxmlformats.org/drawingml/2006/main">
            <a:r>
              <a:t>Previous slide: Skip one item using continue.</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for reading in [2, -1, 6]:</a:t>
            </a:r>
          </a:p>
          <a:p xmlns:a="http://schemas.openxmlformats.org/drawingml/2006/main">
            <a:r>
              <a:t>    if reading &lt; 0:</a:t>
            </a:r>
          </a:p>
          <a:p xmlns:a="http://schemas.openxmlformats.org/drawingml/2006/main">
            <a:r>
              <a:t>        break</a:t>
            </a:r>
          </a:p>
          <a:p xmlns:a="http://schemas.openxmlformats.org/drawingml/2006/main">
            <a:r>
              <a:t>    print(reading)</a:t>
            </a:r>
          </a:p>
          <a:p xmlns:a="http://schemas.openxmlformats.org/drawingml/2006/main">
            <a:r>
              <a:t/>
            </a:r>
          </a:p>
          <a:p xmlns:a="http://schemas.openxmlformats.org/drawingml/2006/main">
            <a:r>
              <a:t>-1 triggers break. The loop never visits 6.</a:t>
            </a:r>
          </a:p>
          <a:p xmlns:a="http://schemas.openxmlformats.org/drawingml/2006/main">
            <a:r>
              <a:t/>
            </a:r>
          </a:p>
          <a:p xmlns:a="http://schemas.openxmlformats.org/drawingml/2006/main">
            <a:r>
              <a:t>Output: 2</a:t>
            </a:r>
          </a:p>
          <a:p xmlns:a="http://schemas.openxmlformats.org/drawingml/2006/main">
            <a:r>
              <a:t/>
            </a:r>
          </a:p>
          <a:p xmlns:a="http://schemas.openxmlformats.org/drawingml/2006/main">
            <a:r>
              <a:t>Expected printed output:</a:t>
            </a:r>
          </a:p>
          <a:p xmlns:a="http://schemas.openxmlformats.org/drawingml/2006/main">
            <a:r>
              <a:t>2</a:t>
            </a:r>
          </a:p>
          <a:p xmlns:a="http://schemas.openxmlformats.org/drawingml/2006/main">
            <a:r>
              <a:t/>
            </a:r>
          </a:p>
          <a:p xmlns:a="http://schemas.openxmlformats.org/drawingml/2006/main">
            <a:r>
              <a:t>Run the complete cell, then trace each line. Expected output:</a:t>
            </a:r>
          </a:p>
          <a:p xmlns:a="http://schemas.openxmlformats.org/drawingml/2006/main">
            <a:r>
              <a:t>2</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the two loop controls.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the two loop controls</a:t>
            </a:r>
          </a:p>
          <a:p xmlns:a="http://schemas.openxmlformats.org/drawingml/2006/main">
            <a:r>
              <a:t/>
            </a:r>
          </a:p>
          <a:p xmlns:a="http://schemas.openxmlformats.org/drawingml/2006/main">
            <a:r>
              <a:t>CONNECT</a:t>
            </a:r>
          </a:p>
          <a:p xmlns:a="http://schemas.openxmlformats.org/drawingml/2006/main">
            <a:r>
              <a:t>Previous slide: Stop at one item using break.</a:t>
            </a:r>
          </a:p>
          <a:p xmlns:a="http://schemas.openxmlformats.org/drawingml/2006/main">
            <a:r>
              <a:t/>
            </a:r>
          </a:p>
          <a:p xmlns:a="http://schemas.openxmlformats.org/drawingml/2006/main">
            <a:r>
              <a:t>EXPLAIN</a:t>
            </a:r>
          </a:p>
          <a:p xmlns:a="http://schemas.openxmlformats.org/drawingml/2006/main">
            <a:r>
              <a:t>Input | continue version | break version</a:t>
            </a:r>
          </a:p>
          <a:p xmlns:a="http://schemas.openxmlformats.org/drawingml/2006/main">
            <a:r>
              <a:t/>
            </a:r>
          </a:p>
          <a:p xmlns:a="http://schemas.openxmlformats.org/drawingml/2006/main">
            <a:r>
              <a:t>2 | Print 2 | Print 2</a:t>
            </a:r>
          </a:p>
          <a:p xmlns:a="http://schemas.openxmlformats.org/drawingml/2006/main">
            <a:r>
              <a:t/>
            </a:r>
          </a:p>
          <a:p xmlns:a="http://schemas.openxmlformats.org/drawingml/2006/main">
            <a:r>
              <a:t>-1 | Skip its print | Exit loop</a:t>
            </a:r>
          </a:p>
          <a:p xmlns:a="http://schemas.openxmlformats.org/drawingml/2006/main">
            <a:r>
              <a:t/>
            </a:r>
          </a:p>
          <a:p xmlns:a="http://schemas.openxmlformats.org/drawingml/2006/main">
            <a:r>
              <a:t>6 | Print 6 | Never visited</a:t>
            </a:r>
          </a:p>
          <a:p xmlns:a="http://schemas.openxmlformats.org/drawingml/2006/main">
            <a:r>
              <a:t/>
            </a:r>
          </a:p>
          <a:p xmlns:a="http://schemas.openxmlformats.org/drawingml/2006/main">
            <a:r>
              <a:t>Use continue only when skipping is justified by the stated data rule; do not silently discard evidence.</a:t>
            </a:r>
          </a:p>
          <a:p xmlns:a="http://schemas.openxmlformats.org/drawingml/2006/main">
            <a:r>
              <a:t/>
            </a:r>
          </a:p>
          <a:p xmlns:a="http://schemas.openxmlformats.org/drawingml/2006/main">
            <a:r>
              <a:t>Read the rows in order. Use continue only when skipping is justified by the stated data rule; do not silently discard evidence.</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dictionary is a record with named fields.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dictionary is a record with named fields</a:t>
            </a:r>
          </a:p>
          <a:p xmlns:a="http://schemas.openxmlformats.org/drawingml/2006/main">
            <a:r>
              <a:t/>
            </a:r>
          </a:p>
          <a:p xmlns:a="http://schemas.openxmlformats.org/drawingml/2006/main">
            <a:r>
              <a:t>CONNECT</a:t>
            </a:r>
          </a:p>
          <a:p xmlns:a="http://schemas.openxmlformats.org/drawingml/2006/main">
            <a:r>
              <a:t>Previous slide: Trace the two loop controls.</a:t>
            </a:r>
          </a:p>
          <a:p xmlns:a="http://schemas.openxmlformats.org/drawingml/2006/main">
            <a:r>
              <a:t/>
            </a:r>
          </a:p>
          <a:p xmlns:a="http://schemas.openxmlformats.org/drawingml/2006/main">
            <a:r>
              <a:t>EXPLAIN</a:t>
            </a:r>
          </a:p>
          <a:p xmlns:a="http://schemas.openxmlformats.org/drawingml/2006/main">
            <a:r>
              <a:t>record = {"unit": "A", "reading": 4} stores two key–value pairs. Keys name fields; values hold the information.</a:t>
            </a:r>
          </a:p>
          <a:p xmlns:a="http://schemas.openxmlformats.org/drawingml/2006/main">
            <a:r>
              <a:t/>
            </a:r>
          </a:p>
          <a:p xmlns:a="http://schemas.openxmlformats.org/drawingml/2006/main">
            <a:r>
              <a:t>Braces enclose the dictionary. A colon separates each key from its value and a comma separates pairs. Each key is unique.</a:t>
            </a:r>
          </a:p>
          <a:p xmlns:a="http://schemas.openxmlformats.org/drawingml/2006/main">
            <a:r>
              <a:t/>
            </a:r>
          </a:p>
          <a:p xmlns:a="http://schemas.openxmlformats.org/drawingml/2006/main">
            <a:r>
              <a:t>record["reading"] returns 4. Unlike a list position, "reading" names the field we want.</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missing dictionary key and get.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missing dictionary key and get</a:t>
            </a:r>
          </a:p>
          <a:p xmlns:a="http://schemas.openxmlformats.org/drawingml/2006/main">
            <a:r>
              <a:t/>
            </a:r>
          </a:p>
          <a:p xmlns:a="http://schemas.openxmlformats.org/drawingml/2006/main">
            <a:r>
              <a:t>CONNECT</a:t>
            </a:r>
          </a:p>
          <a:p xmlns:a="http://schemas.openxmlformats.org/drawingml/2006/main">
            <a:r>
              <a:t>Previous slide: A dictionary is a record with named fields.</a:t>
            </a:r>
          </a:p>
          <a:p xmlns:a="http://schemas.openxmlformats.org/drawingml/2006/main">
            <a:r>
              <a:t/>
            </a:r>
          </a:p>
          <a:p xmlns:a="http://schemas.openxmlformats.org/drawingml/2006/main">
            <a:r>
              <a:t>EXPLAIN</a:t>
            </a:r>
          </a:p>
          <a:p xmlns:a="http://schemas.openxmlformats.org/drawingml/2006/main">
            <a:r>
              <a:t>record["reading"] requests a known field. If that key does not exist, square-bracket lookup raises KeyError.</a:t>
            </a:r>
          </a:p>
          <a:p xmlns:a="http://schemas.openxmlformats.org/drawingml/2006/main">
            <a:r>
              <a:t/>
            </a:r>
          </a:p>
          <a:p xmlns:a="http://schemas.openxmlformats.org/drawingml/2006/main">
            <a:r>
              <a:t>record.get("missing", 0) asks for that key with a fallback: return 0 if it is absent. This does not add a new key.</a:t>
            </a:r>
          </a:p>
          <a:p xmlns:a="http://schemas.openxmlformats.org/drawingml/2006/main">
            <a:r>
              <a:t/>
            </a:r>
          </a:p>
          <a:p xmlns:a="http://schemas.openxmlformats.org/drawingml/2006/main">
            <a:r>
              <a:t>The second input is the fallback value. Use a fallback only when the task defines what missing information should mean.</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Reading and updating a dictionary.</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Reading and updating a dictionary</a:t>
            </a:r>
          </a:p>
          <a:p xmlns:a="http://schemas.openxmlformats.org/drawingml/2006/main">
            <a:r>
              <a:t/>
            </a:r>
          </a:p>
          <a:p xmlns:a="http://schemas.openxmlformats.org/drawingml/2006/main">
            <a:r>
              <a:t>CONNECT</a:t>
            </a:r>
          </a:p>
          <a:p xmlns:a="http://schemas.openxmlformats.org/drawingml/2006/main">
            <a:r>
              <a:t>Previous slide: A missing dictionary key and get.</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record = {"unit": "A", "reading": 4}</a:t>
            </a:r>
          </a:p>
          <a:p xmlns:a="http://schemas.openxmlformats.org/drawingml/2006/main">
            <a:r>
              <a:t>print(record["reading"])</a:t>
            </a:r>
          </a:p>
          <a:p xmlns:a="http://schemas.openxmlformats.org/drawingml/2006/main">
            <a:r>
              <a:t>record["reading"] = 6</a:t>
            </a:r>
          </a:p>
          <a:p xmlns:a="http://schemas.openxmlformats.org/drawingml/2006/main">
            <a:r>
              <a:t>print(record["reading"])</a:t>
            </a:r>
          </a:p>
          <a:p xmlns:a="http://schemas.openxmlformats.org/drawingml/2006/main">
            <a:r>
              <a:t>print(record.get("missing", 0))</a:t>
            </a:r>
          </a:p>
          <a:p xmlns:a="http://schemas.openxmlformats.org/drawingml/2006/main">
            <a:r>
              <a:t/>
            </a:r>
          </a:p>
          <a:p xmlns:a="http://schemas.openxmlformats.org/drawingml/2006/main">
            <a:r>
              <a:t>["reading"] selects a key, not a position.</a:t>
            </a:r>
          </a:p>
          <a:p xmlns:a="http://schemas.openxmlformats.org/drawingml/2006/main">
            <a:r>
              <a:t/>
            </a:r>
          </a:p>
          <a:p xmlns:a="http://schemas.openxmlformats.org/drawingml/2006/main">
            <a:r>
              <a:t>Assigning through the key updates its value.</a:t>
            </a:r>
          </a:p>
          <a:p xmlns:a="http://schemas.openxmlformats.org/drawingml/2006/main">
            <a:r>
              <a:t/>
            </a:r>
          </a:p>
          <a:p xmlns:a="http://schemas.openxmlformats.org/drawingml/2006/main">
            <a:r>
              <a:t>Output: 4, then 6, then 0. get uses the fallback only when that key is absent.</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Tuples and unpacking.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Tuples and unpacking</a:t>
            </a:r>
          </a:p>
          <a:p xmlns:a="http://schemas.openxmlformats.org/drawingml/2006/main">
            <a:r>
              <a:t/>
            </a:r>
          </a:p>
          <a:p xmlns:a="http://schemas.openxmlformats.org/drawingml/2006/main">
            <a:r>
              <a:t>CONNECT</a:t>
            </a:r>
          </a:p>
          <a:p xmlns:a="http://schemas.openxmlformats.org/drawingml/2006/main">
            <a:r>
              <a:t>Previous slide: Reading and updating a dictionary.</a:t>
            </a:r>
          </a:p>
          <a:p xmlns:a="http://schemas.openxmlformats.org/drawingml/2006/main">
            <a:r>
              <a:t/>
            </a:r>
          </a:p>
          <a:p xmlns:a="http://schemas.openxmlformats.org/drawingml/2006/main">
            <a:r>
              <a:t>EXPLAIN</a:t>
            </a:r>
          </a:p>
          <a:p xmlns:a="http://schemas.openxmlformats.org/drawingml/2006/main">
            <a:r>
              <a:t>A tuple stores items in order. point = (2, 3) stores two coordinates; point[0] is 2. You cannot reassign point[0].</a:t>
            </a:r>
          </a:p>
          <a:p xmlns:a="http://schemas.openxmlformats.org/drawingml/2006/main">
            <a:r>
              <a:t/>
            </a:r>
          </a:p>
          <a:p xmlns:a="http://schemas.openxmlformats.org/drawingml/2006/main">
            <a:r>
              <a:t>x, y = point gives the first item to x and the second to y. This is unpacking; the number of names must match the number of items.</a:t>
            </a:r>
          </a:p>
          <a:p xmlns:a="http://schemas.openxmlformats.org/drawingml/2006/main">
            <a:r>
              <a:t/>
            </a:r>
          </a:p>
          <a:p xmlns:a="http://schemas.openxmlformats.org/drawingml/2006/main">
            <a:r>
              <a:t>A tuple prevents replacing its positions. It does not freeze the contents of a mutable object stored inside it.</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Unpacking a pair.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Unpacking a pair</a:t>
            </a:r>
          </a:p>
          <a:p xmlns:a="http://schemas.openxmlformats.org/drawingml/2006/main">
            <a:r>
              <a:t/>
            </a:r>
          </a:p>
          <a:p xmlns:a="http://schemas.openxmlformats.org/drawingml/2006/main">
            <a:r>
              <a:t>CONNECT</a:t>
            </a:r>
          </a:p>
          <a:p xmlns:a="http://schemas.openxmlformats.org/drawingml/2006/main">
            <a:r>
              <a:t>Previous slide: Tuples and unpacking.</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point = (2, 3)</a:t>
            </a:r>
          </a:p>
          <a:p xmlns:a="http://schemas.openxmlformats.org/drawingml/2006/main">
            <a:r>
              <a:t>x, y = point</a:t>
            </a:r>
          </a:p>
          <a:p xmlns:a="http://schemas.openxmlformats.org/drawingml/2006/main">
            <a:r>
              <a:t>print(x)</a:t>
            </a:r>
          </a:p>
          <a:p xmlns:a="http://schemas.openxmlformats.org/drawingml/2006/main">
            <a:r>
              <a:t>print(y)</a:t>
            </a:r>
          </a:p>
          <a:p xmlns:a="http://schemas.openxmlformats.org/drawingml/2006/main">
            <a:r>
              <a:t/>
            </a:r>
          </a:p>
          <a:p xmlns:a="http://schemas.openxmlformats.org/drawingml/2006/main">
            <a:r>
              <a:t>Two names receive the two items in order.</a:t>
            </a:r>
          </a:p>
          <a:p xmlns:a="http://schemas.openxmlformats.org/drawingml/2006/main">
            <a:r>
              <a:t/>
            </a:r>
          </a:p>
          <a:p xmlns:a="http://schemas.openxmlformats.org/drawingml/2006/main">
            <a:r>
              <a:t>Output: 2, then 3.</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set remembers distinct items.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set remembers distinct items</a:t>
            </a:r>
          </a:p>
          <a:p xmlns:a="http://schemas.openxmlformats.org/drawingml/2006/main">
            <a:r>
              <a:t/>
            </a:r>
          </a:p>
          <a:p xmlns:a="http://schemas.openxmlformats.org/drawingml/2006/main">
            <a:r>
              <a:t>CONNECT</a:t>
            </a:r>
          </a:p>
          <a:p xmlns:a="http://schemas.openxmlformats.org/drawingml/2006/main">
            <a:r>
              <a:t>Previous slide: Unpacking a pair.</a:t>
            </a:r>
          </a:p>
          <a:p xmlns:a="http://schemas.openxmlformats.org/drawingml/2006/main">
            <a:r>
              <a:t/>
            </a:r>
          </a:p>
          <a:p xmlns:a="http://schemas.openxmlformats.org/drawingml/2006/main">
            <a:r>
              <a:t>EXPLAIN</a:t>
            </a:r>
          </a:p>
          <a:p xmlns:a="http://schemas.openxmlformats.org/drawingml/2006/main">
            <a:r>
              <a:t>A set is useful when the question is “Have we seen this ID?” It keeps one instance of each distinct item.</a:t>
            </a:r>
          </a:p>
          <a:p xmlns:a="http://schemas.openxmlformats.org/drawingml/2006/main">
            <a:r>
              <a:t/>
            </a:r>
          </a:p>
          <a:p xmlns:a="http://schemas.openxmlformats.org/drawingml/2006/main">
            <a:r>
              <a:t>seen = set() creates an empty set. seen.add("A") adds an item. "A" in seen asks whether it is present.</a:t>
            </a:r>
          </a:p>
          <a:p xmlns:a="http://schemas.openxmlformats.org/drawingml/2006/main">
            <a:r>
              <a:t/>
            </a:r>
          </a:p>
          <a:p xmlns:a="http://schemas.openxmlformats.org/drawingml/2006/main">
            <a:r>
              <a:t>Do not use a set when position or repeated readings matter. Sets cannot be indexed. {} creates an empty dictionary, not an empty set.</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Set membership and repeated IDs.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Set membership and repeated IDs</a:t>
            </a:r>
          </a:p>
          <a:p xmlns:a="http://schemas.openxmlformats.org/drawingml/2006/main">
            <a:r>
              <a:t/>
            </a:r>
          </a:p>
          <a:p xmlns:a="http://schemas.openxmlformats.org/drawingml/2006/main">
            <a:r>
              <a:t>CONNECT</a:t>
            </a:r>
          </a:p>
          <a:p xmlns:a="http://schemas.openxmlformats.org/drawingml/2006/main">
            <a:r>
              <a:t>Previous slide: A set remembers distinct items.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seen = set()</a:t>
            </a:r>
          </a:p>
          <a:p xmlns:a="http://schemas.openxmlformats.org/drawingml/2006/main">
            <a:r>
              <a:t>seen.add("A")</a:t>
            </a:r>
          </a:p>
          <a:p xmlns:a="http://schemas.openxmlformats.org/drawingml/2006/main">
            <a:r>
              <a:t>seen.add("A")</a:t>
            </a:r>
          </a:p>
          <a:p xmlns:a="http://schemas.openxmlformats.org/drawingml/2006/main">
            <a:r>
              <a:t>print(len(seen))</a:t>
            </a:r>
          </a:p>
          <a:p xmlns:a="http://schemas.openxmlformats.org/drawingml/2006/main">
            <a:r>
              <a:t>print("A" in seen)</a:t>
            </a:r>
          </a:p>
          <a:p xmlns:a="http://schemas.openxmlformats.org/drawingml/2006/main">
            <a:r>
              <a:t>print("B" in seen)</a:t>
            </a:r>
          </a:p>
          <a:p xmlns:a="http://schemas.openxmlformats.org/drawingml/2006/main">
            <a:r>
              <a:t/>
            </a:r>
          </a:p>
          <a:p xmlns:a="http://schemas.openxmlformats.org/drawingml/2006/main">
            <a:r>
              <a:t>in returns True or False.</a:t>
            </a:r>
          </a:p>
          <a:p xmlns:a="http://schemas.openxmlformats.org/drawingml/2006/main">
            <a:r>
              <a:t/>
            </a:r>
          </a:p>
          <a:p xmlns:a="http://schemas.openxmlformats.org/drawingml/2006/main">
            <a:r>
              <a:t>A set answers membership questions.</a:t>
            </a:r>
          </a:p>
          <a:p xmlns:a="http://schemas.openxmlformats.org/drawingml/2006/main">
            <a:r>
              <a:t/>
            </a:r>
          </a:p>
          <a:p xmlns:a="http://schemas.openxmlformats.org/drawingml/2006/main">
            <a:r>
              <a:t>Output: 1, True, False. Adding the same ID twice keeps one distinct ID.</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How the four collections differ.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How the four collections differ</a:t>
            </a:r>
          </a:p>
          <a:p xmlns:a="http://schemas.openxmlformats.org/drawingml/2006/main">
            <a:r>
              <a:t/>
            </a:r>
          </a:p>
          <a:p xmlns:a="http://schemas.openxmlformats.org/drawingml/2006/main">
            <a:r>
              <a:t>CONNECT</a:t>
            </a:r>
          </a:p>
          <a:p xmlns:a="http://schemas.openxmlformats.org/drawingml/2006/main">
            <a:r>
              <a:t>Previous slide: Set membership and repeated IDs.</a:t>
            </a:r>
          </a:p>
          <a:p xmlns:a="http://schemas.openxmlformats.org/drawingml/2006/main">
            <a:r>
              <a:t/>
            </a:r>
          </a:p>
          <a:p xmlns:a="http://schemas.openxmlformats.org/drawingml/2006/main">
            <a:r>
              <a:t>EXPLAIN</a:t>
            </a:r>
          </a:p>
          <a:p xmlns:a="http://schemas.openxmlformats.org/drawingml/2006/main">
            <a:r>
              <a:t>Collection | Find an item by | Repeats / changes</a:t>
            </a:r>
          </a:p>
          <a:p xmlns:a="http://schemas.openxmlformats.org/drawingml/2006/main">
            <a:r>
              <a:t/>
            </a:r>
          </a:p>
          <a:p xmlns:a="http://schemas.openxmlformats.org/drawingml/2006/main">
            <a:r>
              <a:t>list | Position: values[0] | Repeats allowed; items change</a:t>
            </a:r>
          </a:p>
          <a:p xmlns:a="http://schemas.openxmlformats.org/drawingml/2006/main">
            <a:r>
              <a:t/>
            </a:r>
          </a:p>
          <a:p xmlns:a="http://schemas.openxmlformats.org/drawingml/2006/main">
            <a:r>
              <a:t>dict | Key: record["reading"] | Keys unique; values change</a:t>
            </a:r>
          </a:p>
          <a:p xmlns:a="http://schemas.openxmlformats.org/drawingml/2006/main">
            <a:r>
              <a:t/>
            </a:r>
          </a:p>
          <a:p xmlns:a="http://schemas.openxmlformats.org/drawingml/2006/main">
            <a:r>
              <a:t>tuple | Position: point[0] | Repeats allowed; positions fixed</a:t>
            </a:r>
          </a:p>
          <a:p xmlns:a="http://schemas.openxmlformats.org/drawingml/2006/main">
            <a:r>
              <a:t/>
            </a:r>
          </a:p>
          <a:p xmlns:a="http://schemas.openxmlformats.org/drawingml/2006/main">
            <a:r>
              <a:t>set | Membership: "A" in seen | Distinct items; add or remove</a:t>
            </a:r>
          </a:p>
          <a:p xmlns:a="http://schemas.openxmlformats.org/drawingml/2006/main">
            <a:r>
              <a:t/>
            </a:r>
          </a:p>
          <a:p xmlns:a="http://schemas.openxmlformats.org/drawingml/2006/main">
            <a:r>
              <a:t>Choose by the question: ordered readings, named fields, fixed positions, or distinct IDs.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Dictionary items and two loop names.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Dictionary items and two loop names</a:t>
            </a:r>
          </a:p>
          <a:p xmlns:a="http://schemas.openxmlformats.org/drawingml/2006/main">
            <a:r>
              <a:t/>
            </a:r>
          </a:p>
          <a:p xmlns:a="http://schemas.openxmlformats.org/drawingml/2006/main">
            <a:r>
              <a:t>CONNECT</a:t>
            </a:r>
          </a:p>
          <a:p xmlns:a="http://schemas.openxmlformats.org/drawingml/2006/main">
            <a:r>
              <a:t>Previous slide: How the four collections differ.</a:t>
            </a:r>
          </a:p>
          <a:p xmlns:a="http://schemas.openxmlformats.org/drawingml/2006/main">
            <a:r>
              <a:t/>
            </a:r>
          </a:p>
          <a:p xmlns:a="http://schemas.openxmlformats.org/drawingml/2006/main">
            <a:r>
              <a:t>EXPLAIN</a:t>
            </a:r>
          </a:p>
          <a:p xmlns:a="http://schemas.openxmlformats.org/drawingml/2006/main">
            <a:r>
              <a:t>record.items() provides each key with its value as a pair. The loop unpacks each pair into the names key and value.</a:t>
            </a:r>
          </a:p>
          <a:p xmlns:a="http://schemas.openxmlformats.org/drawingml/2006/main">
            <a:r>
              <a:t/>
            </a:r>
          </a:p>
          <a:p xmlns:a="http://schemas.openxmlformats.org/drawingml/2006/main">
            <a:r>
              <a:t>for key, value in record.items(): repeats the indented body for each field. Use .items() when both the label and its value are needed.</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Looping through named fields.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Looping through named fields</a:t>
            </a:r>
          </a:p>
          <a:p xmlns:a="http://schemas.openxmlformats.org/drawingml/2006/main">
            <a:r>
              <a:t/>
            </a:r>
          </a:p>
          <a:p xmlns:a="http://schemas.openxmlformats.org/drawingml/2006/main">
            <a:r>
              <a:t>CONNECT</a:t>
            </a:r>
          </a:p>
          <a:p xmlns:a="http://schemas.openxmlformats.org/drawingml/2006/main">
            <a:r>
              <a:t>Previous slide: Dictionary items and two loop names.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record = {"unit": "A", "reading": 6}</a:t>
            </a:r>
          </a:p>
          <a:p xmlns:a="http://schemas.openxmlformats.org/drawingml/2006/main">
            <a:r>
              <a:t>for key, value in record.items():</a:t>
            </a:r>
          </a:p>
          <a:p xmlns:a="http://schemas.openxmlformats.org/drawingml/2006/main">
            <a:r>
              <a:t>    print(key, value)</a:t>
            </a:r>
          </a:p>
          <a:p xmlns:a="http://schemas.openxmlformats.org/drawingml/2006/main">
            <a:r>
              <a:t/>
            </a:r>
          </a:p>
          <a:p xmlns:a="http://schemas.openxmlformats.org/drawingml/2006/main">
            <a:r>
              <a:t>.items() supplies pairs.</a:t>
            </a:r>
          </a:p>
          <a:p xmlns:a="http://schemas.openxmlformats.org/drawingml/2006/main">
            <a:r>
              <a:t/>
            </a:r>
          </a:p>
          <a:p xmlns:a="http://schemas.openxmlformats.org/drawingml/2006/main">
            <a:r>
              <a:t>key and value are names chosen for this loop.</a:t>
            </a:r>
          </a:p>
          <a:p xmlns:a="http://schemas.openxmlformats.org/drawingml/2006/main">
            <a:r>
              <a:t/>
            </a:r>
          </a:p>
          <a:p xmlns:a="http://schemas.openxmlformats.org/drawingml/2006/main">
            <a:r>
              <a:t>Output: unit A, then reading 6. The dictionary preserves insertion order.</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position and a key find different things.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position and a key find different things</a:t>
            </a:r>
          </a:p>
          <a:p xmlns:a="http://schemas.openxmlformats.org/drawingml/2006/main">
            <a:r>
              <a:t/>
            </a:r>
          </a:p>
          <a:p xmlns:a="http://schemas.openxmlformats.org/drawingml/2006/main">
            <a:r>
              <a:t>CONNECT</a:t>
            </a:r>
          </a:p>
          <a:p xmlns:a="http://schemas.openxmlformats.org/drawingml/2006/main">
            <a:r>
              <a:t>Previous slide: Looping through named fields.</a:t>
            </a:r>
          </a:p>
          <a:p xmlns:a="http://schemas.openxmlformats.org/drawingml/2006/main">
            <a:r>
              <a:t/>
            </a:r>
          </a:p>
          <a:p xmlns:a="http://schemas.openxmlformats.org/drawingml/2006/main">
            <a:r>
              <a:t>EXPLAIN</a:t>
            </a:r>
          </a:p>
          <a:p xmlns:a="http://schemas.openxmlformats.org/drawingml/2006/main">
            <a:r>
              <a:t>Both examples return 4. Explain how each lookup finds it.</a:t>
            </a:r>
          </a:p>
          <a:p xmlns:a="http://schemas.openxmlformats.org/drawingml/2006/main">
            <a:r>
              <a:t/>
            </a:r>
          </a:p>
          <a:p xmlns:a="http://schemas.openxmlformats.org/drawingml/2006/main">
            <a:r>
              <a:t>LECTURER CUE</a:t>
            </a:r>
          </a:p>
          <a:p xmlns:a="http://schemas.openxmlformats.org/drawingml/2006/main">
            <a:r>
              <a:t>Ask students to describe what they see before introducing terminology. Generated conceptual teaching illustration.  Source: figs/experiential/ASSET_SOURCES.md.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CSV and header.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CSV and header</a:t>
            </a:r>
          </a:p>
          <a:p xmlns:a="http://schemas.openxmlformats.org/drawingml/2006/main">
            <a:r>
              <a:t/>
            </a:r>
          </a:p>
          <a:p xmlns:a="http://schemas.openxmlformats.org/drawingml/2006/main">
            <a:r>
              <a:t>CONNECT</a:t>
            </a:r>
          </a:p>
          <a:p xmlns:a="http://schemas.openxmlformats.org/drawingml/2006/main">
            <a:r>
              <a:t>Previous slide: A position and a key find different things.</a:t>
            </a:r>
          </a:p>
          <a:p xmlns:a="http://schemas.openxmlformats.org/drawingml/2006/main">
            <a:r>
              <a:t/>
            </a:r>
          </a:p>
          <a:p xmlns:a="http://schemas.openxmlformats.org/drawingml/2006/main">
            <a:r>
              <a:t>EXPLAIN</a:t>
            </a:r>
          </a:p>
          <a:p xmlns:a="http://schemas.openxmlformats.org/drawingml/2006/main">
            <a:r>
              <a:t>CSV and header: CSV means comma-separated values. One line usually represents one record; a header names the columns. CSV numbers arrive as text and may need float conversion.</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One record at a time.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One record at a time</a:t>
            </a:r>
          </a:p>
          <a:p xmlns:a="http://schemas.openxmlformats.org/drawingml/2006/main">
            <a:r>
              <a:t/>
            </a:r>
          </a:p>
          <a:p xmlns:a="http://schemas.openxmlformats.org/drawingml/2006/main">
            <a:r>
              <a:t>CONNECT</a:t>
            </a:r>
          </a:p>
          <a:p xmlns:a="http://schemas.openxmlformats.org/drawingml/2006/main">
            <a:r>
              <a:t>Previous slide: CSV and header.</a:t>
            </a:r>
          </a:p>
          <a:p xmlns:a="http://schemas.openxmlformats.org/drawingml/2006/main">
            <a:r>
              <a:t/>
            </a:r>
          </a:p>
          <a:p xmlns:a="http://schemas.openxmlformats.org/drawingml/2006/main">
            <a:r>
              <a:t>EXPLAIN</a:t>
            </a:r>
          </a:p>
          <a:p xmlns:a="http://schemas.openxmlformats.org/drawingml/2006/main">
            <a:r>
              <a:t>A CSV is a text table with a header row.</a:t>
            </a:r>
          </a:p>
          <a:p xmlns:a="http://schemas.openxmlformats.org/drawingml/2006/main">
            <a:r>
              <a:t/>
            </a:r>
          </a:p>
          <a:p xmlns:a="http://schemas.openxmlformats.org/drawingml/2006/main">
            <a:r>
              <a:t>DictReader uses that header for dictionary keys.</a:t>
            </a:r>
          </a:p>
          <a:p xmlns:a="http://schemas.openxmlformats.org/drawingml/2006/main">
            <a:r>
              <a:t/>
            </a:r>
          </a:p>
          <a:p xmlns:a="http://schemas.openxmlformats.org/drawingml/2006/main">
            <a:r>
              <a:t>CSV cells begin as text, even when they look numeric.</a:t>
            </a:r>
          </a:p>
          <a:p xmlns:a="http://schemas.openxmlformats.org/drawingml/2006/main">
            <a:r>
              <a:t/>
            </a:r>
          </a:p>
          <a:p xmlns:a="http://schemas.openxmlformats.org/drawingml/2006/main">
            <a:r>
              <a:t>float("2.5") converts text into the number 2.5.</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CSV file has a header and text values.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CSV file has a header and text values</a:t>
            </a:r>
          </a:p>
          <a:p xmlns:a="http://schemas.openxmlformats.org/drawingml/2006/main">
            <a:r>
              <a:t/>
            </a:r>
          </a:p>
          <a:p xmlns:a="http://schemas.openxmlformats.org/drawingml/2006/main">
            <a:r>
              <a:t>CONNECT</a:t>
            </a:r>
          </a:p>
          <a:p xmlns:a="http://schemas.openxmlformats.org/drawingml/2006/main">
            <a:r>
              <a:t>Previous slide: One record at a time.</a:t>
            </a:r>
          </a:p>
          <a:p xmlns:a="http://schemas.openxmlformats.org/drawingml/2006/main">
            <a:r>
              <a:t/>
            </a:r>
          </a:p>
          <a:p xmlns:a="http://schemas.openxmlformats.org/drawingml/2006/main">
            <a:r>
              <a:t>EXPLAIN</a:t>
            </a:r>
          </a:p>
          <a:p xmlns:a="http://schemas.openxmlformats.org/drawingml/2006/main">
            <a:r>
              <a:t>CSV line | Dictionary meaning</a:t>
            </a:r>
          </a:p>
          <a:p xmlns:a="http://schemas.openxmlformats.org/drawingml/2006/main">
            <a:r>
              <a:t/>
            </a:r>
          </a:p>
          <a:p xmlns:a="http://schemas.openxmlformats.org/drawingml/2006/main">
            <a:r>
              <a:t>unit,reading | Two field names</a:t>
            </a:r>
          </a:p>
          <a:p xmlns:a="http://schemas.openxmlformats.org/drawingml/2006/main">
            <a:r>
              <a:t/>
            </a:r>
          </a:p>
          <a:p xmlns:a="http://schemas.openxmlformats.org/drawingml/2006/main">
            <a:r>
              <a:t>A,2.5 | {"unit": "A", "reading": "2.5"}</a:t>
            </a:r>
          </a:p>
          <a:p xmlns:a="http://schemas.openxmlformats.org/drawingml/2006/main">
            <a:r>
              <a:t/>
            </a:r>
          </a:p>
          <a:p xmlns:a="http://schemas.openxmlformats.org/drawingml/2006/main">
            <a:r>
              <a:t>B, | {"unit": "B", "reading": ""}</a:t>
            </a:r>
          </a:p>
          <a:p xmlns:a="http://schemas.openxmlformats.org/drawingml/2006/main">
            <a:r>
              <a:t/>
            </a:r>
          </a:p>
          <a:p xmlns:a="http://schemas.openxmlformats.org/drawingml/2006/main">
            <a:r>
              <a:t>An empty field is empty text. Check the task’s rule before converting it.</a:t>
            </a:r>
          </a:p>
          <a:p xmlns:a="http://schemas.openxmlformats.org/drawingml/2006/main">
            <a:r>
              <a:t/>
            </a:r>
          </a:p>
          <a:p xmlns:a="http://schemas.openxmlformats.org/drawingml/2006/main">
            <a:r>
              <a:t>LECTURER CUE</a:t>
            </a:r>
          </a:p>
          <a:p xmlns:a="http://schemas.openxmlformats.org/drawingml/2006/main">
            <a:r>
              <a:t>Read one row at a time and use a changed value. This is a syntax reference for the worked examples.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CSV row becomes a dictionary.</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CSV row becomes a dictionary</a:t>
            </a:r>
          </a:p>
          <a:p xmlns:a="http://schemas.openxmlformats.org/drawingml/2006/main">
            <a:r>
              <a:t/>
            </a:r>
          </a:p>
          <a:p xmlns:a="http://schemas.openxmlformats.org/drawingml/2006/main">
            <a:r>
              <a:t>CONNECT</a:t>
            </a:r>
          </a:p>
          <a:p xmlns:a="http://schemas.openxmlformats.org/drawingml/2006/main">
            <a:r>
              <a:t>Previous slide: A CSV file has a header and text values.</a:t>
            </a:r>
          </a:p>
          <a:p xmlns:a="http://schemas.openxmlformats.org/drawingml/2006/main">
            <a:r>
              <a:t/>
            </a:r>
          </a:p>
          <a:p xmlns:a="http://schemas.openxmlformats.org/drawingml/2006/main">
            <a:r>
              <a:t>EXPLAIN</a:t>
            </a:r>
          </a:p>
          <a:p xmlns:a="http://schemas.openxmlformats.org/drawingml/2006/main">
            <a:r>
              <a:t>The header gives field names, such as unit and reading.</a:t>
            </a:r>
          </a:p>
          <a:p xmlns:a="http://schemas.openxmlformats.org/drawingml/2006/main">
            <a:r>
              <a:t/>
            </a:r>
          </a:p>
          <a:p xmlns:a="http://schemas.openxmlformats.org/drawingml/2006/main">
            <a:r>
              <a:t>csv.DictReader returns one dictionary for each data row.</a:t>
            </a:r>
          </a:p>
          <a:p xmlns:a="http://schemas.openxmlformats.org/drawingml/2006/main">
            <a:r>
              <a:t/>
            </a:r>
          </a:p>
          <a:p xmlns:a="http://schemas.openxmlformats.org/drawingml/2006/main">
            <a:r>
              <a:t>The value "2.5" starts as text. float("2.5") makes the number 2.5.</a:t>
            </a:r>
          </a:p>
          <a:p xmlns:a="http://schemas.openxmlformats.org/drawingml/2006/main">
            <a:r>
              <a:t/>
            </a:r>
          </a:p>
          <a:p xmlns:a="http://schemas.openxmlformats.org/drawingml/2006/main">
            <a:r>
              <a:t>LECTURER CUE</a:t>
            </a:r>
          </a:p>
          <a:p xmlns:a="http://schemas.openxmlformats.org/drawingml/2006/main">
            <a:r>
              <a:t>Before a real CSV, show a two-line text extract and name its header. Open the issued CSV together. Explain csv.DictReader as one dictionary per row. Convert only the numeric column and state what should happen to an invalid value.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with and import.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with and import</a:t>
            </a:r>
          </a:p>
          <a:p xmlns:a="http://schemas.openxmlformats.org/drawingml/2006/main">
            <a:r>
              <a:t/>
            </a:r>
          </a:p>
          <a:p xmlns:a="http://schemas.openxmlformats.org/drawingml/2006/main">
            <a:r>
              <a:t>CONNECT</a:t>
            </a:r>
          </a:p>
          <a:p xmlns:a="http://schemas.openxmlformats.org/drawingml/2006/main">
            <a:r>
              <a:t>Previous slide: A CSV row becomes a dictionary.</a:t>
            </a:r>
          </a:p>
          <a:p xmlns:a="http://schemas.openxmlformats.org/drawingml/2006/main">
            <a:r>
              <a:t/>
            </a:r>
          </a:p>
          <a:p xmlns:a="http://schemas.openxmlformats.org/drawingml/2006/main">
            <a:r>
              <a:t>EXPLAIN</a:t>
            </a:r>
          </a:p>
          <a:p xmlns:a="http://schemas.openxmlformats.org/drawingml/2006/main">
            <a:r>
              <a:t>with and import: import makes library tools available. with open(...) opens a file for a block and closes it afterward. A filename must match an existing file in the working folder.</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Your cohort data.</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cohort data</a:t>
            </a:r>
          </a:p>
          <a:p xmlns:a="http://schemas.openxmlformats.org/drawingml/2006/main">
            <a:r>
              <a:t/>
            </a:r>
          </a:p>
          <a:p xmlns:a="http://schemas.openxmlformats.org/drawingml/2006/main">
            <a:r>
              <a:t>CONNECT</a:t>
            </a:r>
          </a:p>
          <a:p xmlns:a="http://schemas.openxmlformats.org/drawingml/2006/main">
            <a:r>
              <a:t>Previous slide: with and import.</a:t>
            </a:r>
          </a:p>
          <a:p xmlns:a="http://schemas.openxmlformats.org/drawingml/2006/main">
            <a:r>
              <a:t/>
            </a:r>
          </a:p>
          <a:p xmlns:a="http://schemas.openxmlformats.org/drawingml/2006/main">
            <a:r>
              <a:t>EXPLAIN</a:t>
            </a:r>
          </a:p>
          <a:p xmlns:a="http://schemas.openxmlformats.org/drawingml/2006/main">
            <a:r>
              <a:t>site_inspection_log.csv</a:t>
            </a:r>
          </a:p>
          <a:p xmlns:a="http://schemas.openxmlformats.org/drawingml/2006/main">
            <a:r>
              <a:t/>
            </a:r>
          </a:p>
          <a:p xmlns:a="http://schemas.openxmlformats.org/drawingml/2006/main">
            <a:r>
              <a:t>Summarise crack_width_mm (millimetres); group by structure_id.</a:t>
            </a:r>
          </a:p>
          <a:p xmlns:a="http://schemas.openxmlformats.org/drawingml/2006/main">
            <a:r>
              <a:t/>
            </a:r>
          </a:p>
          <a:p xmlns:a="http://schemas.openxmlformats.org/drawingml/2006/main">
            <a:r>
              <a:t>Read the issued task’s blank-value and threshold rules before calculating.</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 the supplied CSV in four steps.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 the supplied CSV in four steps</a:t>
            </a:r>
          </a:p>
          <a:p xmlns:a="http://schemas.openxmlformats.org/drawingml/2006/main">
            <a:r>
              <a:t/>
            </a:r>
          </a:p>
          <a:p xmlns:a="http://schemas.openxmlformats.org/drawingml/2006/main">
            <a:r>
              <a:t>CONNECT</a:t>
            </a:r>
          </a:p>
          <a:p xmlns:a="http://schemas.openxmlformats.org/drawingml/2006/main">
            <a:r>
              <a:t>Previous slide: Your cohort data.</a:t>
            </a:r>
          </a:p>
          <a:p xmlns:a="http://schemas.openxmlformats.org/drawingml/2006/main">
            <a:r>
              <a:t/>
            </a:r>
          </a:p>
          <a:p xmlns:a="http://schemas.openxmlformats.org/drawingml/2006/main">
            <a:r>
              <a:t>EXPLAIN</a:t>
            </a:r>
          </a:p>
          <a:p xmlns:a="http://schemas.openxmlformats.org/drawingml/2006/main">
            <a:r>
              <a:t>Place site_inspection_log.csv beside the notebook, or upload it in Colab’s Files panel.</a:t>
            </a:r>
          </a:p>
          <a:p xmlns:a="http://schemas.openxmlformats.org/drawingml/2006/main">
            <a:r>
              <a:t/>
            </a:r>
          </a:p>
          <a:p xmlns:a="http://schemas.openxmlformats.org/drawingml/2006/main">
            <a:r>
              <a:t>import csv loads the CSV tools. newline="" lets the reader handle line endings. DictReader uses the header as dictionary keys.</a:t>
            </a:r>
          </a:p>
          <a:p xmlns:a="http://schemas.openxmlformats.org/drawingml/2006/main">
            <a:r>
              <a:t/>
            </a:r>
          </a:p>
          <a:p xmlns:a="http://schemas.openxmlformats.org/drawingml/2006/main">
            <a:r>
              <a:t>list(...) collects the rows while the file is open. We inspect the first row and the count; the later assignment calculations are your work.</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What with open as source does.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What with open as source does</a:t>
            </a:r>
          </a:p>
          <a:p xmlns:a="http://schemas.openxmlformats.org/drawingml/2006/main">
            <a:r>
              <a:t/>
            </a:r>
          </a:p>
          <a:p xmlns:a="http://schemas.openxmlformats.org/drawingml/2006/main">
            <a:r>
              <a:t>CONNECT</a:t>
            </a:r>
          </a:p>
          <a:p xmlns:a="http://schemas.openxmlformats.org/drawingml/2006/main">
            <a:r>
              <a:t>Previous slide: Read the supplied CSV in four steps.</a:t>
            </a:r>
          </a:p>
          <a:p xmlns:a="http://schemas.openxmlformats.org/drawingml/2006/main">
            <a:r>
              <a:t/>
            </a:r>
          </a:p>
          <a:p xmlns:a="http://schemas.openxmlformats.org/drawingml/2006/main">
            <a:r>
              <a:t>EXPLAIN</a:t>
            </a:r>
          </a:p>
          <a:p xmlns:a="http://schemas.openxmlformats.org/drawingml/2006/main">
            <a:r>
              <a:t>open("file.csv", newline="") opens a text file for reading. Use the actual supplied filename, including its .csv extension.</a:t>
            </a:r>
          </a:p>
          <a:p xmlns:a="http://schemas.openxmlformats.org/drawingml/2006/main">
            <a:r>
              <a:t/>
            </a:r>
          </a:p>
          <a:p xmlns:a="http://schemas.openxmlformats.org/drawingml/2006/main">
            <a:r>
              <a:t>with manages the open file. as source gives that file object a name. Indented lines use it while it is open; leaving the block closes it.</a:t>
            </a:r>
          </a:p>
          <a:p xmlns:a="http://schemas.openxmlformats.org/drawingml/2006/main">
            <a:r>
              <a:t/>
            </a:r>
          </a:p>
          <a:p xmlns:a="http://schemas.openxmlformats.org/drawingml/2006/main">
            <a:r>
              <a:t>csv.DictReader(source) reads rows using the header names as keys. list(...) collects those rows into memory before the file closes.</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Open a real CSV and inspect its first row.</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Open a real CSV and inspect its first row</a:t>
            </a:r>
          </a:p>
          <a:p xmlns:a="http://schemas.openxmlformats.org/drawingml/2006/main">
            <a:r>
              <a:t/>
            </a:r>
          </a:p>
          <a:p xmlns:a="http://schemas.openxmlformats.org/drawingml/2006/main">
            <a:r>
              <a:t>CONNECT</a:t>
            </a:r>
          </a:p>
          <a:p xmlns:a="http://schemas.openxmlformats.org/drawingml/2006/main">
            <a:r>
              <a:t>Previous slide: What with open as source does.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import csv</a:t>
            </a:r>
          </a:p>
          <a:p xmlns:a="http://schemas.openxmlformats.org/drawingml/2006/main">
            <a:r>
              <a:t>with open("site_inspection_log.csv", newline="") as source:</a:t>
            </a:r>
          </a:p>
          <a:p xmlns:a="http://schemas.openxmlformats.org/drawingml/2006/main">
            <a:r>
              <a:t>    rows = list(csv.DictReader(source))</a:t>
            </a:r>
          </a:p>
          <a:p xmlns:a="http://schemas.openxmlformats.org/drawingml/2006/main">
            <a:r>
              <a:t>print(rows[0])</a:t>
            </a:r>
          </a:p>
          <a:p xmlns:a="http://schemas.openxmlformats.org/drawingml/2006/main">
            <a:r>
              <a:t>print(len(rows))</a:t>
            </a:r>
          </a:p>
          <a:p xmlns:a="http://schemas.openxmlformats.org/drawingml/2006/main">
            <a:r>
              <a:t/>
            </a:r>
          </a:p>
          <a:p xmlns:a="http://schemas.openxmlformats.org/drawingml/2006/main">
            <a:r>
              <a:t>import loads a library. from selects a tool from it.</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Read the actual keys and text values. Check the uploaded filename if Python reports FileNotFoundError.</a:t>
            </a:r>
          </a:p>
          <a:p xmlns:a="http://schemas.openxmlformats.org/drawingml/2006/main">
            <a:r>
              <a:t/>
            </a:r>
          </a:p>
          <a:p xmlns:a="http://schemas.openxmlformats.org/drawingml/2006/main">
            <a:r>
              <a:t>LECTURER CUE</a:t>
            </a:r>
          </a:p>
          <a:p xmlns:a="http://schemas.openxmlformats.org/drawingml/2006/main">
            <a:r>
              <a:t>Read the actual keys and text values. Check the uploaded filename if Python reports FileNotFoundError.</a:t>
            </a:r>
          </a:p>
          <a:p xmlns:a="http://schemas.openxmlformats.org/drawingml/2006/main">
            <a:r>
              <a:t/>
            </a:r>
          </a:p>
          <a:p xmlns:a="http://schemas.openxmlformats.org/drawingml/2006/main">
            <a:r>
              <a:t>Complete practice code:</a:t>
            </a:r>
          </a:p>
          <a:p xmlns:a="http://schemas.openxmlformats.org/drawingml/2006/main">
            <a:r>
              <a:t>import csv</a:t>
            </a:r>
          </a:p>
          <a:p xmlns:a="http://schemas.openxmlformats.org/drawingml/2006/main">
            <a:r>
              <a:t>with open("site_inspection_log.csv", newline="") as source:</a:t>
            </a:r>
          </a:p>
          <a:p xmlns:a="http://schemas.openxmlformats.org/drawingml/2006/main">
            <a:r>
              <a:t>    rows = list(csv.DictReader(source))</a:t>
            </a:r>
          </a:p>
          <a:p xmlns:a="http://schemas.openxmlformats.org/drawingml/2006/main">
            <a:r>
              <a:t>print(rows[0])</a:t>
            </a:r>
          </a:p>
          <a:p xmlns:a="http://schemas.openxmlformats.org/drawingml/2006/main">
            <a:r>
              <a:t>print(len(rows))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list of dictionaries.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list of dictionaries</a:t>
            </a:r>
          </a:p>
          <a:p xmlns:a="http://schemas.openxmlformats.org/drawingml/2006/main">
            <a:r>
              <a:t/>
            </a:r>
          </a:p>
          <a:p xmlns:a="http://schemas.openxmlformats.org/drawingml/2006/main">
            <a:r>
              <a:t>CONNECT</a:t>
            </a:r>
          </a:p>
          <a:p xmlns:a="http://schemas.openxmlformats.org/drawingml/2006/main">
            <a:r>
              <a:t>Previous slide: Open a real CSV and inspect its first row.</a:t>
            </a:r>
          </a:p>
          <a:p xmlns:a="http://schemas.openxmlformats.org/drawingml/2006/main">
            <a:r>
              <a:t/>
            </a:r>
          </a:p>
          <a:p xmlns:a="http://schemas.openxmlformats.org/drawingml/2006/main">
            <a:r>
              <a:t>EXPLAIN</a:t>
            </a:r>
          </a:p>
          <a:p xmlns:a="http://schemas.openxmlformats.org/drawingml/2006/main">
            <a:r>
              <a:t>A record holds named fields for one observation. A list of records holds several observations in order.</a:t>
            </a:r>
          </a:p>
          <a:p xmlns:a="http://schemas.openxmlformats.org/drawingml/2006/main">
            <a:r>
              <a:t/>
            </a:r>
          </a:p>
          <a:p xmlns:a="http://schemas.openxmlformats.org/drawingml/2006/main">
            <a:r>
              <a:t>records[0] selects the first dictionary. records[0]["reading"] then selects that dictionary’s reading field.</a:t>
            </a:r>
          </a:p>
          <a:p xmlns:a="http://schemas.openxmlformats.org/drawingml/2006/main">
            <a:r>
              <a:t/>
            </a:r>
          </a:p>
          <a:p xmlns:a="http://schemas.openxmlformats.org/drawingml/2006/main">
            <a:r>
              <a:t>for row in records takes one dictionary at a time. row["reading"] retrieves that observation’s field; float converts numeric text when needed.</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record and a growing list.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record and a growing list</a:t>
            </a:r>
          </a:p>
          <a:p xmlns:a="http://schemas.openxmlformats.org/drawingml/2006/main">
            <a:r>
              <a:t/>
            </a:r>
          </a:p>
          <a:p xmlns:a="http://schemas.openxmlformats.org/drawingml/2006/main">
            <a:r>
              <a:t>CONNECT</a:t>
            </a:r>
          </a:p>
          <a:p xmlns:a="http://schemas.openxmlformats.org/drawingml/2006/main">
            <a:r>
              <a:t>Previous slide: A list of dictionaries.</a:t>
            </a:r>
          </a:p>
          <a:p xmlns:a="http://schemas.openxmlformats.org/drawingml/2006/main">
            <a:r>
              <a:t/>
            </a:r>
          </a:p>
          <a:p xmlns:a="http://schemas.openxmlformats.org/drawingml/2006/main">
            <a:r>
              <a:t>EXPLAIN</a:t>
            </a:r>
          </a:p>
          <a:p xmlns:a="http://schemas.openxmlformats.org/drawingml/2006/main">
            <a:r>
              <a:t>Braces pair a key with its value. append adds one value to the end of a list.</a:t>
            </a:r>
          </a:p>
          <a:p xmlns:a="http://schemas.openxmlformats.org/drawingml/2006/main">
            <a:r>
              <a:t/>
            </a:r>
          </a:p>
          <a:p xmlns:a="http://schemas.openxmlformats.org/drawingml/2006/main">
            <a:r>
              <a:t>The same pattern works after reading a CSV row.</a:t>
            </a:r>
          </a:p>
          <a:p xmlns:a="http://schemas.openxmlformats.org/drawingml/2006/main">
            <a:r>
              <a:t/>
            </a:r>
          </a:p>
          <a:p xmlns:a="http://schemas.openxmlformats.org/drawingml/2006/main">
            <a:r>
              <a:t>LECTURER CUE</a:t>
            </a:r>
          </a:p>
          <a:p xmlns:a="http://schemas.openxmlformats.org/drawingml/2006/main">
            <a:r>
              <a:t>Braces pair a key with its value. append adds one value to the end of a list. The same pattern works after reading a CSV row.</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record and a growing list in Python.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record and a growing list in Python</a:t>
            </a:r>
          </a:p>
          <a:p xmlns:a="http://schemas.openxmlformats.org/drawingml/2006/main">
            <a:r>
              <a:t/>
            </a:r>
          </a:p>
          <a:p xmlns:a="http://schemas.openxmlformats.org/drawingml/2006/main">
            <a:r>
              <a:t>CONNECT</a:t>
            </a:r>
          </a:p>
          <a:p xmlns:a="http://schemas.openxmlformats.org/drawingml/2006/main">
            <a:r>
              <a:t>Previous slide: A record and a growing list.</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records = [{"sensor": "A", "reading": "2.5"},</a:t>
            </a:r>
          </a:p>
          <a:p xmlns:a="http://schemas.openxmlformats.org/drawingml/2006/main">
            <a:r>
              <a:t>           {"sensor": "B", "reading": "3.5"}]</a:t>
            </a:r>
          </a:p>
          <a:p xmlns:a="http://schemas.openxmlformats.org/drawingml/2006/main">
            <a:r>
              <a:t>values = []</a:t>
            </a:r>
          </a:p>
          <a:p xmlns:a="http://schemas.openxmlformats.org/drawingml/2006/main">
            <a:r>
              <a:t>for row in records:</a:t>
            </a:r>
          </a:p>
          <a:p xmlns:a="http://schemas.openxmlformats.org/drawingml/2006/main">
            <a:r>
              <a:t>    values.append(float(row["reading"]))</a:t>
            </a:r>
          </a:p>
          <a:p xmlns:a="http://schemas.openxmlformats.org/drawingml/2006/main">
            <a:r>
              <a:t>print(values)</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float converts numeric text into a decimal number.</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Braces pair a key with its value. append adds one value to the end of a list. The same pattern works after reading a CSV row.</a:t>
            </a:r>
          </a:p>
          <a:p xmlns:a="http://schemas.openxmlformats.org/drawingml/2006/main">
            <a:r>
              <a:t/>
            </a:r>
          </a:p>
          <a:p xmlns:a="http://schemas.openxmlformats.org/drawingml/2006/main">
            <a:r>
              <a:t>Complete practice code:</a:t>
            </a:r>
          </a:p>
          <a:p xmlns:a="http://schemas.openxmlformats.org/drawingml/2006/main">
            <a:r>
              <a:t>records = [{"sensor": "A", "reading": "2.5"},</a:t>
            </a:r>
          </a:p>
          <a:p xmlns:a="http://schemas.openxmlformats.org/drawingml/2006/main">
            <a:r>
              <a:t>           {"sensor": "B", "reading": "3.5"}]</a:t>
            </a:r>
          </a:p>
          <a:p xmlns:a="http://schemas.openxmlformats.org/drawingml/2006/main">
            <a:r>
              <a:t>values = []</a:t>
            </a:r>
          </a:p>
          <a:p xmlns:a="http://schemas.openxmlformats.org/drawingml/2006/main">
            <a:r>
              <a:t>for row in records:</a:t>
            </a:r>
          </a:p>
          <a:p xmlns:a="http://schemas.openxmlformats.org/drawingml/2006/main">
            <a:r>
              <a:t>    values.append(float(row["reading"]))</a:t>
            </a:r>
          </a:p>
          <a:p xmlns:a="http://schemas.openxmlformats.org/drawingml/2006/main">
            <a:r>
              <a:t>print(values)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Skip a blank before converting text.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Skip a blank before converting text</a:t>
            </a:r>
          </a:p>
          <a:p xmlns:a="http://schemas.openxmlformats.org/drawingml/2006/main">
            <a:r>
              <a:t/>
            </a:r>
          </a:p>
          <a:p xmlns:a="http://schemas.openxmlformats.org/drawingml/2006/main">
            <a:r>
              <a:t>CONNECT</a:t>
            </a:r>
          </a:p>
          <a:p xmlns:a="http://schemas.openxmlformats.org/drawingml/2006/main">
            <a:r>
              <a:t>Previous slide: A record and a growing list in Python.</a:t>
            </a:r>
          </a:p>
          <a:p xmlns:a="http://schemas.openxmlformats.org/drawingml/2006/main">
            <a:r>
              <a:t/>
            </a:r>
          </a:p>
          <a:p xmlns:a="http://schemas.openxmlformats.org/drawingml/2006/main">
            <a:r>
              <a:t>EXPLAIN</a:t>
            </a:r>
          </a:p>
          <a:p xmlns:a="http://schemas.openxmlformats.org/drawingml/2006/main">
            <a:r>
              <a:t>An empty text field is "". The comparison != means “not equal to”. Only convert a value after the blank check passes.</a:t>
            </a:r>
          </a:p>
          <a:p xmlns:a="http://schemas.openxmlformats.org/drawingml/2006/main">
            <a:r>
              <a:t/>
            </a:r>
          </a:p>
          <a:p xmlns:a="http://schemas.openxmlformats.org/drawingml/2006/main">
            <a:r>
              <a:t>In this example, values records valid numbers only. Its length is the valid count; the group summaries must use the same valid-record policy.</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Collect only the recorded numbers.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Collect only the recorded numbers</a:t>
            </a:r>
          </a:p>
          <a:p xmlns:a="http://schemas.openxmlformats.org/drawingml/2006/main">
            <a:r>
              <a:t/>
            </a:r>
          </a:p>
          <a:p xmlns:a="http://schemas.openxmlformats.org/drawingml/2006/main">
            <a:r>
              <a:t>CONNECT</a:t>
            </a:r>
          </a:p>
          <a:p xmlns:a="http://schemas.openxmlformats.org/drawingml/2006/main">
            <a:r>
              <a:t>Previous slide: Skip a blank before converting text.</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text_values = ["2.5", "", "3.5"]</a:t>
            </a:r>
          </a:p>
          <a:p xmlns:a="http://schemas.openxmlformats.org/drawingml/2006/main">
            <a:r>
              <a:t>values = []</a:t>
            </a:r>
          </a:p>
          <a:p xmlns:a="http://schemas.openxmlformats.org/drawingml/2006/main">
            <a:r>
              <a:t>for text in text_values:</a:t>
            </a:r>
          </a:p>
          <a:p xmlns:a="http://schemas.openxmlformats.org/drawingml/2006/main">
            <a:r>
              <a:t>    if text != "":</a:t>
            </a:r>
          </a:p>
          <a:p xmlns:a="http://schemas.openxmlformats.org/drawingml/2006/main">
            <a:r>
              <a:t>        values.append(float(text))</a:t>
            </a:r>
          </a:p>
          <a:p xmlns:a="http://schemas.openxmlformats.org/drawingml/2006/main">
            <a:r>
              <a:t>print(len(values), values)</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if tests a condition. The chosen indented block runs.</a:t>
            </a:r>
          </a:p>
          <a:p xmlns:a="http://schemas.openxmlformats.org/drawingml/2006/main">
            <a:r>
              <a:t/>
            </a:r>
          </a:p>
          <a:p xmlns:a="http://schemas.openxmlformats.org/drawingml/2006/main">
            <a:r>
              <a:t>float converts numeric text into a decimal number.</a:t>
            </a:r>
          </a:p>
          <a:p xmlns:a="http://schemas.openxmlformats.org/drawingml/2006/main">
            <a:r>
              <a:t/>
            </a:r>
          </a:p>
          <a:p xmlns:a="http://schemas.openxmlformats.org/drawingml/2006/main">
            <a:r>
              <a:t>Expected: 2 [2.5, 3.5]. A blank is missing, not a recorded zero.</a:t>
            </a:r>
          </a:p>
          <a:p xmlns:a="http://schemas.openxmlformats.org/drawingml/2006/main">
            <a:r>
              <a:t/>
            </a:r>
          </a:p>
          <a:p xmlns:a="http://schemas.openxmlformats.org/drawingml/2006/main">
            <a:r>
              <a:t>LECTURER CUE</a:t>
            </a:r>
          </a:p>
          <a:p xmlns:a="http://schemas.openxmlformats.org/drawingml/2006/main">
            <a:r>
              <a:t>Expected: 2 [2.5, 3.5]. A blank is missing, not a recorded zero.</a:t>
            </a:r>
          </a:p>
          <a:p xmlns:a="http://schemas.openxmlformats.org/drawingml/2006/main">
            <a:r>
              <a:t/>
            </a:r>
          </a:p>
          <a:p xmlns:a="http://schemas.openxmlformats.org/drawingml/2006/main">
            <a:r>
              <a:t>Complete practice code:</a:t>
            </a:r>
          </a:p>
          <a:p xmlns:a="http://schemas.openxmlformats.org/drawingml/2006/main">
            <a:r>
              <a:t>text_values = ["2.5", "", "3.5"]</a:t>
            </a:r>
          </a:p>
          <a:p xmlns:a="http://schemas.openxmlformats.org/drawingml/2006/main">
            <a:r>
              <a:t>values = []</a:t>
            </a:r>
          </a:p>
          <a:p xmlns:a="http://schemas.openxmlformats.org/drawingml/2006/main">
            <a:r>
              <a:t>for text in text_values:</a:t>
            </a:r>
          </a:p>
          <a:p xmlns:a="http://schemas.openxmlformats.org/drawingml/2006/main">
            <a:r>
              <a:t>    if text != "":</a:t>
            </a:r>
          </a:p>
          <a:p xmlns:a="http://schemas.openxmlformats.org/drawingml/2006/main">
            <a:r>
              <a:t>        values.append(float(text))</a:t>
            </a:r>
          </a:p>
          <a:p xmlns:a="http://schemas.openxmlformats.org/drawingml/2006/main">
            <a:r>
              <a:t>print(len(values), values)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Membership in a dictionary.</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Membership in a dictionary</a:t>
            </a:r>
          </a:p>
          <a:p xmlns:a="http://schemas.openxmlformats.org/drawingml/2006/main">
            <a:r>
              <a:t/>
            </a:r>
          </a:p>
          <a:p xmlns:a="http://schemas.openxmlformats.org/drawingml/2006/main">
            <a:r>
              <a:t>CONNECT</a:t>
            </a:r>
          </a:p>
          <a:p xmlns:a="http://schemas.openxmlformats.org/drawingml/2006/main">
            <a:r>
              <a:t>Previous slide: Collect only the recorded numbers.</a:t>
            </a:r>
          </a:p>
          <a:p xmlns:a="http://schemas.openxmlformats.org/drawingml/2006/main">
            <a:r>
              <a:t/>
            </a:r>
          </a:p>
          <a:p xmlns:a="http://schemas.openxmlformats.org/drawingml/2006/main">
            <a:r>
              <a:t>EXPLAIN</a:t>
            </a:r>
          </a:p>
          <a:p xmlns:a="http://schemas.openxmlformats.org/drawingml/2006/main">
            <a:r>
              <a:t>group in totals asks whether group is already a dictionary key. group not in totals asks whether that key is absent.</a:t>
            </a:r>
          </a:p>
          <a:p xmlns:a="http://schemas.openxmlformats.org/drawingml/2006/main">
            <a:r>
              <a:t/>
            </a:r>
          </a:p>
          <a:p xmlns:a="http://schemas.openxmlformats.org/drawingml/2006/main">
            <a:r>
              <a:t>Before adding to a new group, create its total with totals[group] = 0. Then add the current record’s reading.</a:t>
            </a:r>
          </a:p>
          <a:p xmlns:a="http://schemas.openxmlformats.org/drawingml/2006/main">
            <a:r>
              <a:t/>
            </a:r>
          </a:p>
          <a:p xmlns:a="http://schemas.openxmlformats.org/drawingml/2006/main">
            <a:r>
              <a:t>The outer for visits records. The inner if runs only for a new group. The addition after the if runs for every record.</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Summaries for separate groups.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Summaries for separate groups</a:t>
            </a:r>
          </a:p>
          <a:p xmlns:a="http://schemas.openxmlformats.org/drawingml/2006/main">
            <a:r>
              <a:t/>
            </a:r>
          </a:p>
          <a:p xmlns:a="http://schemas.openxmlformats.org/drawingml/2006/main">
            <a:r>
              <a:t>CONNECT</a:t>
            </a:r>
          </a:p>
          <a:p xmlns:a="http://schemas.openxmlformats.org/drawingml/2006/main">
            <a:r>
              <a:t>Previous slide: Membership in a dictionary.</a:t>
            </a:r>
          </a:p>
          <a:p xmlns:a="http://schemas.openxmlformats.org/drawingml/2006/main">
            <a:r>
              <a:t/>
            </a:r>
          </a:p>
          <a:p xmlns:a="http://schemas.openxmlformats.org/drawingml/2006/main">
            <a:r>
              <a:t>EXPLAIN</a:t>
            </a:r>
          </a:p>
          <a:p xmlns:a="http://schemas.openxmlformats.org/drawingml/2006/main">
            <a:r>
              <a:t>A dictionary can hold one running total for each group.</a:t>
            </a:r>
          </a:p>
          <a:p xmlns:a="http://schemas.openxmlformats.org/drawingml/2006/main">
            <a:r>
              <a:t/>
            </a:r>
          </a:p>
          <a:p xmlns:a="http://schemas.openxmlformats.org/drawingml/2006/main">
            <a:r>
              <a:t>An absent key needs an initial zero.</a:t>
            </a:r>
          </a:p>
          <a:p xmlns:a="http://schemas.openxmlformats.org/drawingml/2006/main">
            <a:r>
              <a:t/>
            </a:r>
          </a:p>
          <a:p xmlns:a="http://schemas.openxmlformats.org/drawingml/2006/main">
            <a:r>
              <a:t>Then add the reading to that group.</a:t>
            </a:r>
          </a:p>
          <a:p xmlns:a="http://schemas.openxmlformats.org/drawingml/2006/main">
            <a:r>
              <a:t/>
            </a:r>
          </a:p>
          <a:p xmlns:a="http://schemas.openxmlformats.org/drawingml/2006/main">
            <a:r>
              <a:t>To calculate group means, keep a matching count and divide each group total by its own count.</a:t>
            </a:r>
          </a:p>
          <a:p xmlns:a="http://schemas.openxmlformats.org/drawingml/2006/main">
            <a:r>
              <a:t/>
            </a:r>
          </a:p>
          <a:p xmlns:a="http://schemas.openxmlformats.org/drawingml/2006/main">
            <a:r>
              <a:t>LECTURER CUE</a:t>
            </a:r>
          </a:p>
          <a:p xmlns:a="http://schemas.openxmlformats.org/drawingml/2006/main">
            <a:r>
              <a:t>A dictionary can hold one running total for each group. An absent key needs an initial zero. Then add the reading to that group. To calculate group means, keep a matching count and divide each group total by its own count.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Summaries for separate groups in Python (1/2).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Summaries for separate groups in Python (1/2)</a:t>
            </a:r>
          </a:p>
          <a:p xmlns:a="http://schemas.openxmlformats.org/drawingml/2006/main">
            <a:r>
              <a:t/>
            </a:r>
          </a:p>
          <a:p xmlns:a="http://schemas.openxmlformats.org/drawingml/2006/main">
            <a:r>
              <a:t>CONNECT</a:t>
            </a:r>
          </a:p>
          <a:p xmlns:a="http://schemas.openxmlformats.org/drawingml/2006/main">
            <a:r>
              <a:t>Previous slide: Summaries for separate groups.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records = [{"group": "A", "reading": 2},</a:t>
            </a:r>
          </a:p>
          <a:p xmlns:a="http://schemas.openxmlformats.org/drawingml/2006/main">
            <a:r>
              <a:t>           {"group": "A", "reading": 4},</a:t>
            </a:r>
          </a:p>
          <a:p xmlns:a="http://schemas.openxmlformats.org/drawingml/2006/main">
            <a:r>
              <a:t>           {"group": "B", "reading": 9}]</a:t>
            </a:r>
          </a:p>
          <a:p xmlns:a="http://schemas.openxmlformats.org/drawingml/2006/main">
            <a:r>
              <a:t>totals = {}</a:t>
            </a:r>
          </a:p>
          <a:p xmlns:a="http://schemas.openxmlformats.org/drawingml/2006/main">
            <a:r>
              <a:t>for row in records:</a:t>
            </a:r>
          </a:p>
          <a:p xmlns:a="http://schemas.openxmlformats.org/drawingml/2006/main">
            <a:r>
              <a:t>    group = row["group"]</a:t>
            </a:r>
          </a:p>
          <a:p xmlns:a="http://schemas.openxmlformats.org/drawingml/2006/main">
            <a:r>
              <a:t>    if group not in totals:</a:t>
            </a:r>
          </a:p>
          <a:p xmlns:a="http://schemas.openxmlformats.org/drawingml/2006/main">
            <a:r>
              <a:t>        totals[group] = 0</a:t>
            </a:r>
          </a:p>
          <a:p xmlns:a="http://schemas.openxmlformats.org/drawingml/2006/main">
            <a:r>
              <a:t>    totals[group] = totals[group] + row["reading"]</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if tests a condition. The chosen indented block runs.</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A dictionary can hold one running total for each group. An absent key needs an initial zero. Then add the reading to that group. To calculate group means, keep a matching count and divide each group total by its own count.</a:t>
            </a:r>
          </a:p>
          <a:p xmlns:a="http://schemas.openxmlformats.org/drawingml/2006/main">
            <a:r>
              <a:t/>
            </a:r>
          </a:p>
          <a:p xmlns:a="http://schemas.openxmlformats.org/drawingml/2006/main">
            <a:r>
              <a:t>Complete practice code:</a:t>
            </a:r>
          </a:p>
          <a:p xmlns:a="http://schemas.openxmlformats.org/drawingml/2006/main">
            <a:r>
              <a:t>records = [{"group": "A", "reading": 2},</a:t>
            </a:r>
          </a:p>
          <a:p xmlns:a="http://schemas.openxmlformats.org/drawingml/2006/main">
            <a:r>
              <a:t>           {"group": "A", "reading": 4},</a:t>
            </a:r>
          </a:p>
          <a:p xmlns:a="http://schemas.openxmlformats.org/drawingml/2006/main">
            <a:r>
              <a:t>           {"group": "B", "reading": 9}]</a:t>
            </a:r>
          </a:p>
          <a:p xmlns:a="http://schemas.openxmlformats.org/drawingml/2006/main">
            <a:r>
              <a:t>totals = {}</a:t>
            </a:r>
          </a:p>
          <a:p xmlns:a="http://schemas.openxmlformats.org/drawingml/2006/main">
            <a:r>
              <a:t>for row in records:</a:t>
            </a:r>
          </a:p>
          <a:p xmlns:a="http://schemas.openxmlformats.org/drawingml/2006/main">
            <a:r>
              <a:t>    group = row["group"]</a:t>
            </a:r>
          </a:p>
          <a:p xmlns:a="http://schemas.openxmlformats.org/drawingml/2006/main">
            <a:r>
              <a:t>    if group not in totals:</a:t>
            </a:r>
          </a:p>
          <a:p xmlns:a="http://schemas.openxmlformats.org/drawingml/2006/main">
            <a:r>
              <a:t>        totals[group] = 0</a:t>
            </a:r>
          </a:p>
          <a:p xmlns:a="http://schemas.openxmlformats.org/drawingml/2006/main">
            <a:r>
              <a:t>    totals[group] = totals[group] + row["reading"]</a:t>
            </a:r>
          </a:p>
          <a:p xmlns:a="http://schemas.openxmlformats.org/drawingml/2006/main">
            <a:r>
              <a:t>print(totals)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Summaries for separate groups in Python (2/2).</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Summaries for separate groups in Python (2/2)</a:t>
            </a:r>
          </a:p>
          <a:p xmlns:a="http://schemas.openxmlformats.org/drawingml/2006/main">
            <a:r>
              <a:t/>
            </a:r>
          </a:p>
          <a:p xmlns:a="http://schemas.openxmlformats.org/drawingml/2006/main">
            <a:r>
              <a:t>CONNECT</a:t>
            </a:r>
          </a:p>
          <a:p xmlns:a="http://schemas.openxmlformats.org/drawingml/2006/main">
            <a:r>
              <a:t>Previous slide: Summaries for separate groups in Python (1/2).</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print(totals)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CUE</a:t>
            </a:r>
          </a:p>
          <a:p xmlns:a="http://schemas.openxmlformats.org/drawingml/2006/main">
            <a:r>
              <a:t>A dictionary can hold one running total for each group. An absent key needs an initial zero. Then add the reading to that group. To calculate group means, keep a matching count and divide each group total by its own count.</a:t>
            </a:r>
          </a:p>
          <a:p xmlns:a="http://schemas.openxmlformats.org/drawingml/2006/main">
            <a:r>
              <a:t/>
            </a:r>
          </a:p>
          <a:p xmlns:a="http://schemas.openxmlformats.org/drawingml/2006/main">
            <a:r>
              <a:t>Complete practice code:</a:t>
            </a:r>
          </a:p>
          <a:p xmlns:a="http://schemas.openxmlformats.org/drawingml/2006/main">
            <a:r>
              <a:t>records = [{"group": "A", "reading": 2},</a:t>
            </a:r>
          </a:p>
          <a:p xmlns:a="http://schemas.openxmlformats.org/drawingml/2006/main">
            <a:r>
              <a:t>           {"group": "A", "reading": 4},</a:t>
            </a:r>
          </a:p>
          <a:p xmlns:a="http://schemas.openxmlformats.org/drawingml/2006/main">
            <a:r>
              <a:t>           {"group": "B", "reading": 9}]</a:t>
            </a:r>
          </a:p>
          <a:p xmlns:a="http://schemas.openxmlformats.org/drawingml/2006/main">
            <a:r>
              <a:t>totals = {}</a:t>
            </a:r>
          </a:p>
          <a:p xmlns:a="http://schemas.openxmlformats.org/drawingml/2006/main">
            <a:r>
              <a:t>for row in records:</a:t>
            </a:r>
          </a:p>
          <a:p xmlns:a="http://schemas.openxmlformats.org/drawingml/2006/main">
            <a:r>
              <a:t>    group = row["group"]</a:t>
            </a:r>
          </a:p>
          <a:p xmlns:a="http://schemas.openxmlformats.org/drawingml/2006/main">
            <a:r>
              <a:t>    if group not in totals:</a:t>
            </a:r>
          </a:p>
          <a:p xmlns:a="http://schemas.openxmlformats.org/drawingml/2006/main">
            <a:r>
              <a:t>        totals[group] = 0</a:t>
            </a:r>
          </a:p>
          <a:p xmlns:a="http://schemas.openxmlformats.org/drawingml/2006/main">
            <a:r>
              <a:t>    totals[group] = totals[group] + row["reading"]</a:t>
            </a:r>
          </a:p>
          <a:p xmlns:a="http://schemas.openxmlformats.org/drawingml/2006/main">
            <a:r>
              <a:t>print(totals)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group mean needs its own count.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group mean needs its own count</a:t>
            </a:r>
          </a:p>
          <a:p xmlns:a="http://schemas.openxmlformats.org/drawingml/2006/main">
            <a:r>
              <a:t/>
            </a:r>
          </a:p>
          <a:p xmlns:a="http://schemas.openxmlformats.org/drawingml/2006/main">
            <a:r>
              <a:t>CONNECT</a:t>
            </a:r>
          </a:p>
          <a:p xmlns:a="http://schemas.openxmlformats.org/drawingml/2006/main">
            <a:r>
              <a:t>Previous slide: Summaries for separate groups in Python (2/2).</a:t>
            </a:r>
          </a:p>
          <a:p xmlns:a="http://schemas.openxmlformats.org/drawingml/2006/main">
            <a:r>
              <a:t/>
            </a:r>
          </a:p>
          <a:p xmlns:a="http://schemas.openxmlformats.org/drawingml/2006/main">
            <a:r>
              <a:t>EXPLAIN</a:t>
            </a:r>
          </a:p>
          <a:p xmlns:a="http://schemas.openxmlformats.org/drawingml/2006/main">
            <a:r>
              <a:t>The preceding loop calculated a total for each group. Count records in those same groups, then divide each group total by its own count.</a:t>
            </a:r>
          </a:p>
          <a:p xmlns:a="http://schemas.openxmlformats.org/drawingml/2006/main">
            <a:r>
              <a:t/>
            </a:r>
          </a:p>
          <a:p xmlns:a="http://schemas.openxmlformats.org/drawingml/2006/main">
            <a:r>
              <a:t>items() supplies the group name and its total together. We use small invented records, not the assignment’s answers.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From group totals to group means.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From group totals to group means</a:t>
            </a:r>
          </a:p>
          <a:p xmlns:a="http://schemas.openxmlformats.org/drawingml/2006/main">
            <a:r>
              <a:t/>
            </a:r>
          </a:p>
          <a:p xmlns:a="http://schemas.openxmlformats.org/drawingml/2006/main">
            <a:r>
              <a:t>CONNECT</a:t>
            </a:r>
          </a:p>
          <a:p xmlns:a="http://schemas.openxmlformats.org/drawingml/2006/main">
            <a:r>
              <a:t>Previous slide: A group mean needs its own count.</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counts = {}</a:t>
            </a:r>
          </a:p>
          <a:p xmlns:a="http://schemas.openxmlformats.org/drawingml/2006/main">
            <a:r>
              <a:t>for row in records:</a:t>
            </a:r>
          </a:p>
          <a:p xmlns:a="http://schemas.openxmlformats.org/drawingml/2006/main">
            <a:r>
              <a:t>    group = row["group"]</a:t>
            </a:r>
          </a:p>
          <a:p xmlns:a="http://schemas.openxmlformats.org/drawingml/2006/main">
            <a:r>
              <a:t>    counts[group] = counts.get(group, 0) + 1</a:t>
            </a:r>
          </a:p>
          <a:p xmlns:a="http://schemas.openxmlformats.org/drawingml/2006/main">
            <a:r>
              <a:t>means = {}</a:t>
            </a:r>
          </a:p>
          <a:p xmlns:a="http://schemas.openxmlformats.org/drawingml/2006/main">
            <a:r>
              <a:t>for group, total in totals.items():</a:t>
            </a:r>
          </a:p>
          <a:p xmlns:a="http://schemas.openxmlformats.org/drawingml/2006/main">
            <a:r>
              <a:t>    means[group] = total / counts[group]</a:t>
            </a:r>
          </a:p>
          <a:p xmlns:a="http://schemas.openxmlformats.org/drawingml/2006/main">
            <a:r>
              <a:t>print(means)</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Expected: A has mean 3.0 and B has mean 9.0. Each group uses its own denominator.</a:t>
            </a:r>
          </a:p>
          <a:p xmlns:a="http://schemas.openxmlformats.org/drawingml/2006/main">
            <a:r>
              <a:t/>
            </a:r>
          </a:p>
          <a:p xmlns:a="http://schemas.openxmlformats.org/drawingml/2006/main">
            <a:r>
              <a:t>LECTURER CUE</a:t>
            </a:r>
          </a:p>
          <a:p xmlns:a="http://schemas.openxmlformats.org/drawingml/2006/main">
            <a:r>
              <a:t>Expected: A has mean 3.0 and B has mean 9.0. Each group uses its own denominator.</a:t>
            </a:r>
          </a:p>
          <a:p xmlns:a="http://schemas.openxmlformats.org/drawingml/2006/main">
            <a:r>
              <a:t/>
            </a:r>
          </a:p>
          <a:p xmlns:a="http://schemas.openxmlformats.org/drawingml/2006/main">
            <a:r>
              <a:t>Complete practice code:</a:t>
            </a:r>
          </a:p>
          <a:p xmlns:a="http://schemas.openxmlformats.org/drawingml/2006/main">
            <a:r>
              <a:t>counts = {}</a:t>
            </a:r>
          </a:p>
          <a:p xmlns:a="http://schemas.openxmlformats.org/drawingml/2006/main">
            <a:r>
              <a:t>for row in records:</a:t>
            </a:r>
          </a:p>
          <a:p xmlns:a="http://schemas.openxmlformats.org/drawingml/2006/main">
            <a:r>
              <a:t>    group = row["group"]</a:t>
            </a:r>
          </a:p>
          <a:p xmlns:a="http://schemas.openxmlformats.org/drawingml/2006/main">
            <a:r>
              <a:t>    counts[group] = counts.get(group, 0) + 1</a:t>
            </a:r>
          </a:p>
          <a:p xmlns:a="http://schemas.openxmlformats.org/drawingml/2006/main">
            <a:r>
              <a:t>means = {}</a:t>
            </a:r>
          </a:p>
          <a:p xmlns:a="http://schemas.openxmlformats.org/drawingml/2006/main">
            <a:r>
              <a:t>for group, total in totals.items():</a:t>
            </a:r>
          </a:p>
          <a:p xmlns:a="http://schemas.openxmlformats.org/drawingml/2006/main">
            <a:r>
              <a:t>    means[group] = total / counts[group]</a:t>
            </a:r>
          </a:p>
          <a:p xmlns:a="http://schemas.openxmlformats.org/drawingml/2006/main">
            <a:r>
              <a:t>print(means)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When numeric text cannot be converted.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When numeric text cannot be converted</a:t>
            </a:r>
          </a:p>
          <a:p xmlns:a="http://schemas.openxmlformats.org/drawingml/2006/main">
            <a:r>
              <a:t/>
            </a:r>
          </a:p>
          <a:p xmlns:a="http://schemas.openxmlformats.org/drawingml/2006/main">
            <a:r>
              <a:t>CONNECT</a:t>
            </a:r>
          </a:p>
          <a:p xmlns:a="http://schemas.openxmlformats.org/drawingml/2006/main">
            <a:r>
              <a:t>Previous slide: From group totals to group means.</a:t>
            </a:r>
          </a:p>
          <a:p xmlns:a="http://schemas.openxmlformats.org/drawingml/2006/main">
            <a:r>
              <a:t/>
            </a:r>
          </a:p>
          <a:p xmlns:a="http://schemas.openxmlformats.org/drawingml/2006/main">
            <a:r>
              <a:t>EXPLAIN</a:t>
            </a:r>
          </a:p>
          <a:p xmlns:a="http://schemas.openxmlformats.org/drawingml/2006/main">
            <a:r>
              <a:t>float("bad") raises ValueError: the text does not represent a number. An exception interrupts ordinary execution.</a:t>
            </a:r>
          </a:p>
          <a:p xmlns:a="http://schemas.openxmlformats.org/drawingml/2006/main">
            <a:r>
              <a:t/>
            </a:r>
          </a:p>
          <a:p xmlns:a="http://schemas.openxmlformats.org/drawingml/2006/main">
            <a:r>
              <a:t>try contains the operation that might fail. except ValueError runs only for that named failure. Indentation shows the two blocks.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Catch one expected conversion failure.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Catch one expected conversion failure</a:t>
            </a:r>
          </a:p>
          <a:p xmlns:a="http://schemas.openxmlformats.org/drawingml/2006/main">
            <a:r>
              <a:t/>
            </a:r>
          </a:p>
          <a:p xmlns:a="http://schemas.openxmlformats.org/drawingml/2006/main">
            <a:r>
              <a:t>CONNECT</a:t>
            </a:r>
          </a:p>
          <a:p xmlns:a="http://schemas.openxmlformats.org/drawingml/2006/main">
            <a:r>
              <a:t>Previous slide: When numeric text cannot be converted.</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text = "bad"</a:t>
            </a:r>
          </a:p>
          <a:p xmlns:a="http://schemas.openxmlformats.org/drawingml/2006/main">
            <a:r>
              <a:t>try:</a:t>
            </a:r>
          </a:p>
          <a:p xmlns:a="http://schemas.openxmlformats.org/drawingml/2006/main">
            <a:r>
              <a:t>    reading = float(text)</a:t>
            </a:r>
          </a:p>
          <a:p xmlns:a="http://schemas.openxmlformats.org/drawingml/2006/main">
            <a:r>
              <a:t>except ValueError:</a:t>
            </a:r>
          </a:p>
          <a:p xmlns:a="http://schemas.openxmlformats.org/drawingml/2006/main">
            <a:r>
              <a:t>    reading = None</a:t>
            </a:r>
          </a:p>
          <a:p xmlns:a="http://schemas.openxmlformats.org/drawingml/2006/main">
            <a:r>
              <a:t>print(reading)</a:t>
            </a:r>
          </a:p>
          <a:p xmlns:a="http://schemas.openxmlformats.org/drawingml/2006/main">
            <a:r>
              <a:t/>
            </a:r>
          </a:p>
          <a:p xmlns:a="http://schemas.openxmlformats.org/drawingml/2006/main">
            <a:r>
              <a:t>float converts numeric text into a decimal number.</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 assigns the value on the right to the name on the left.</a:t>
            </a:r>
          </a:p>
          <a:p xmlns:a="http://schemas.openxmlformats.org/drawingml/2006/main">
            <a:r>
              <a:t/>
            </a:r>
          </a:p>
          <a:p xmlns:a="http://schemas.openxmlformats.org/drawingml/2006/main">
            <a:r>
              <a:t>Expected: None. The assignment specifies which invalid records to skip; do not invent a replacement number.</a:t>
            </a:r>
          </a:p>
          <a:p xmlns:a="http://schemas.openxmlformats.org/drawingml/2006/main">
            <a:r>
              <a:t/>
            </a:r>
          </a:p>
          <a:p xmlns:a="http://schemas.openxmlformats.org/drawingml/2006/main">
            <a:r>
              <a:t>LECTURER CUE</a:t>
            </a:r>
          </a:p>
          <a:p xmlns:a="http://schemas.openxmlformats.org/drawingml/2006/main">
            <a:r>
              <a:t>Expected: None. The assignment specifies which invalid records to skip; do not invent a replacement number.</a:t>
            </a:r>
          </a:p>
          <a:p xmlns:a="http://schemas.openxmlformats.org/drawingml/2006/main">
            <a:r>
              <a:t/>
            </a:r>
          </a:p>
          <a:p xmlns:a="http://schemas.openxmlformats.org/drawingml/2006/main">
            <a:r>
              <a:t>Complete practice code:</a:t>
            </a:r>
          </a:p>
          <a:p xmlns:a="http://schemas.openxmlformats.org/drawingml/2006/main">
            <a:r>
              <a:t>text = "bad"</a:t>
            </a:r>
          </a:p>
          <a:p xmlns:a="http://schemas.openxmlformats.org/drawingml/2006/main">
            <a:r>
              <a:t>try:</a:t>
            </a:r>
          </a:p>
          <a:p xmlns:a="http://schemas.openxmlformats.org/drawingml/2006/main">
            <a:r>
              <a:t>    reading = float(text)</a:t>
            </a:r>
          </a:p>
          <a:p xmlns:a="http://schemas.openxmlformats.org/drawingml/2006/main">
            <a:r>
              <a:t>except ValueError:</a:t>
            </a:r>
          </a:p>
          <a:p xmlns:a="http://schemas.openxmlformats.org/drawingml/2006/main">
            <a:r>
              <a:t>    reading = None</a:t>
            </a:r>
          </a:p>
          <a:p xmlns:a="http://schemas.openxmlformats.org/drawingml/2006/main">
            <a:r>
              <a:t>print(reading)</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conversion success and failure.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conversion success and failure</a:t>
            </a:r>
          </a:p>
          <a:p xmlns:a="http://schemas.openxmlformats.org/drawingml/2006/main">
            <a:r>
              <a:t/>
            </a:r>
          </a:p>
          <a:p xmlns:a="http://schemas.openxmlformats.org/drawingml/2006/main">
            <a:r>
              <a:t>CONNECT</a:t>
            </a:r>
          </a:p>
          <a:p xmlns:a="http://schemas.openxmlformats.org/drawingml/2006/main">
            <a:r>
              <a:t>Previous slide: Catch one expected conversion failure.</a:t>
            </a:r>
          </a:p>
          <a:p xmlns:a="http://schemas.openxmlformats.org/drawingml/2006/main">
            <a:r>
              <a:t/>
            </a:r>
          </a:p>
          <a:p xmlns:a="http://schemas.openxmlformats.org/drawingml/2006/main">
            <a:r>
              <a:t>EXPLAIN</a:t>
            </a:r>
          </a:p>
          <a:p xmlns:a="http://schemas.openxmlformats.org/drawingml/2006/main">
            <a:r>
              <a:t>Text supplied | try block | Result after except</a:t>
            </a:r>
          </a:p>
          <a:p xmlns:a="http://schemas.openxmlformats.org/drawingml/2006/main">
            <a:r>
              <a:t/>
            </a:r>
          </a:p>
          <a:p xmlns:a="http://schemas.openxmlformats.org/drawingml/2006/main">
            <a:r>
              <a:t>"2.5" | float succeeds; skip except | 2.5</a:t>
            </a:r>
          </a:p>
          <a:p xmlns:a="http://schemas.openxmlformats.org/drawingml/2006/main">
            <a:r>
              <a:t/>
            </a:r>
          </a:p>
          <a:p xmlns:a="http://schemas.openxmlformats.org/drawingml/2006/main">
            <a:r>
              <a:t>"bad" | float raises ValueError | None assigned by except</a:t>
            </a:r>
          </a:p>
          <a:p xmlns:a="http://schemas.openxmlformats.org/drawingml/2006/main">
            <a:r>
              <a:t/>
            </a:r>
          </a:p>
          <a:p xmlns:a="http://schemas.openxmlformats.org/drawingml/2006/main">
            <a:r>
              <a:t>Only the named conversion failure is handled. Do not use except: pass to hide unrelated errors.</a:t>
            </a:r>
          </a:p>
          <a:p xmlns:a="http://schemas.openxmlformats.org/drawingml/2006/main">
            <a:r>
              <a:t/>
            </a:r>
          </a:p>
          <a:p xmlns:a="http://schemas.openxmlformats.org/drawingml/2006/main">
            <a:r>
              <a:t>Read the rows in order. Only the named conversion failure is handled. Do not use except: pass to hide unrelated errors.</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Revision example and answer.</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example and answer</a:t>
            </a:r>
          </a:p>
          <a:p xmlns:a="http://schemas.openxmlformats.org/drawingml/2006/main">
            <a:r>
              <a:t/>
            </a:r>
          </a:p>
          <a:p xmlns:a="http://schemas.openxmlformats.org/drawingml/2006/main">
            <a:r>
              <a:t>CONNECT</a:t>
            </a:r>
          </a:p>
          <a:p xmlns:a="http://schemas.openxmlformats.org/drawingml/2006/main">
            <a:r>
              <a:t>Previous slide: Trace conversion success and failure.</a:t>
            </a:r>
          </a:p>
          <a:p xmlns:a="http://schemas.openxmlformats.org/drawingml/2006/main">
            <a:r>
              <a:t/>
            </a:r>
          </a:p>
          <a:p xmlns:a="http://schemas.openxmlformats.org/drawingml/2006/main">
            <a:r>
              <a:t>EXPLAIN</a:t>
            </a:r>
          </a:p>
          <a:p xmlns:a="http://schemas.openxmlformats.org/drawingml/2006/main">
            <a:r>
              <a:t>Example: Add 8 to the list. Trace the new total and count before running. What happens if total = 0 is moved inside the loop?</a:t>
            </a:r>
          </a:p>
          <a:p xmlns:a="http://schemas.openxmlformats.org/drawingml/2006/main">
            <a:r>
              <a:t/>
            </a:r>
          </a:p>
          <a:p xmlns:a="http://schemas.openxmlformats.org/drawingml/2006/main">
            <a:r>
              <a:t>Answer: Total 20, count 4, mean 5.0. Resetting inside the loop discards previous additions and leaves only the last value in total.</a:t>
            </a:r>
          </a:p>
          <a:p xmlns:a="http://schemas.openxmlformats.org/drawingml/2006/main">
            <a:r>
              <a:t/>
            </a:r>
          </a:p>
          <a:p xmlns:a="http://schemas.openxmlformats.org/drawingml/2006/main">
            <a:r>
              <a:t>LECTURER CUE</a:t>
            </a:r>
          </a:p>
          <a:p xmlns:a="http://schemas.openxmlformats.org/drawingml/2006/main">
            <a:r>
              <a:t>Give silent thinking time, then let pairs discuss. Rotate who types. This is practice, not a graded quiz. Expected response: Total 20, count 4, mean 5.0. Resetting inside the loop discards previous additions and leaves only the last value in total.</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Preparing for the assignment.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a:t>
            </a:r>
          </a:p>
          <a:p xmlns:a="http://schemas.openxmlformats.org/drawingml/2006/main">
            <a:r>
              <a:t/>
            </a:r>
          </a:p>
          <a:p xmlns:a="http://schemas.openxmlformats.org/drawingml/2006/main">
            <a:r>
              <a:t>CONNECT</a:t>
            </a:r>
          </a:p>
          <a:p xmlns:a="http://schemas.openxmlformats.org/drawingml/2006/main">
            <a:r>
              <a:t>Previous slide: Revision example and answer.</a:t>
            </a:r>
          </a:p>
          <a:p xmlns:a="http://schemas.openxmlformats.org/drawingml/2006/main">
            <a:r>
              <a:t/>
            </a:r>
          </a:p>
          <a:p xmlns:a="http://schemas.openxmlformats.org/drawingml/2006/main">
            <a:r>
              <a:t>EXPLAIN</a:t>
            </a:r>
          </a:p>
          <a:p xmlns:a="http://schemas.openxmlformats.org/drawingml/2006/main">
            <a:r>
              <a:t>Open the issued W04 notebook and its cohort CSV.</a:t>
            </a:r>
          </a:p>
          <a:p xmlns:a="http://schemas.openxmlformats.org/drawingml/2006/main">
            <a:r>
              <a:t/>
            </a:r>
          </a:p>
          <a:p xmlns:a="http://schemas.openxmlformats.org/drawingml/2006/main">
            <a:r>
              <a:t>Compute the requested valid_count, mean_reading, above_limit and group_means using the exact names in the notebook.</a:t>
            </a:r>
          </a:p>
          <a:p xmlns:a="http://schemas.openxmlformats.org/drawingml/2006/main">
            <a:r>
              <a:t/>
            </a:r>
          </a:p>
          <a:p xmlns:a="http://schemas.openxmlformats.org/drawingml/2006/main">
            <a:r>
              <a:t>First identify the correct field and its unit.</a:t>
            </a:r>
          </a:p>
          <a:p xmlns:a="http://schemas.openxmlformats.org/drawingml/2006/main">
            <a:r>
              <a:t/>
            </a:r>
          </a:p>
          <a:p xmlns:a="http://schemas.openxmlformats.org/drawingml/2006/main">
            <a:r>
              <a:t>Keep the CSV beside the notebook locally or upload it into the Colab runtime.</a:t>
            </a:r>
          </a:p>
          <a:p xmlns:a="http://schemas.openxmlformats.org/drawingml/2006/main">
            <a:r>
              <a:t/>
            </a:r>
          </a:p>
          <a:p xmlns:a="http://schemas.openxmlformats.org/drawingml/2006/main">
            <a:r>
              <a:t>LECTURER CUE</a:t>
            </a:r>
          </a:p>
          <a:p xmlns:a="http://schemas.openxmlformats.org/drawingml/2006/main">
            <a:r>
              <a:t>Open the issued W04 notebook and its cohort CSV. Compute the requested valid_count, mean_reading, above_limit and group_means using the exact names in the notebook. First identify the correct field and its unit. Keep the CSV beside the notebook locally or upload it into the Colab runtime. The written interpretation is practice.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Preparing for the assignment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 continued</a:t>
            </a:r>
          </a:p>
          <a:p xmlns:a="http://schemas.openxmlformats.org/drawingml/2006/main">
            <a:r>
              <a:t/>
            </a:r>
          </a:p>
          <a:p xmlns:a="http://schemas.openxmlformats.org/drawingml/2006/main">
            <a:r>
              <a:t>CONNECT</a:t>
            </a:r>
          </a:p>
          <a:p xmlns:a="http://schemas.openxmlformats.org/drawingml/2006/main">
            <a:r>
              <a:t>Previous slide: Preparing for the assignment.</a:t>
            </a:r>
          </a:p>
          <a:p xmlns:a="http://schemas.openxmlformats.org/drawingml/2006/main">
            <a:r>
              <a:t/>
            </a:r>
          </a:p>
          <a:p xmlns:a="http://schemas.openxmlformats.org/drawingml/2006/main">
            <a:r>
              <a:t>EXPLAIN</a:t>
            </a:r>
          </a:p>
          <a:p xmlns:a="http://schemas.openxmlformats.org/drawingml/2006/main">
            <a:r>
              <a:t>The written interpretation is practice.</a:t>
            </a:r>
          </a:p>
          <a:p xmlns:a="http://schemas.openxmlformats.org/drawingml/2006/main">
            <a:r>
              <a:t/>
            </a:r>
          </a:p>
          <a:p xmlns:a="http://schemas.openxmlformats.org/drawingml/2006/main">
            <a:r>
              <a:t>LECTURER CUE</a:t>
            </a:r>
          </a:p>
          <a:p xmlns:a="http://schemas.openxmlformats.org/drawingml/2006/main">
            <a:r>
              <a:t>Open the issued W04 notebook and its cohort CSV. Compute the requested valid_count, mean_reading, above_limit and group_means using the exact names in the notebook. First identify the correct field and its unit. Keep the CSV beside the notebook locally or upload it into the Colab runtime. The written interpretation is practice.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every record honestly.</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every record honestly</a:t>
            </a:r>
          </a:p>
          <a:p xmlns:a="http://schemas.openxmlformats.org/drawingml/2006/main">
            <a:r>
              <a:t/>
            </a:r>
          </a:p>
          <a:p xmlns:a="http://schemas.openxmlformats.org/drawingml/2006/main">
            <a:r>
              <a:t>CONNECT</a:t>
            </a:r>
          </a:p>
          <a:p xmlns:a="http://schemas.openxmlformats.org/drawingml/2006/main">
            <a:r>
              <a:t>Previous slide: Preparing for the assignment continued.</a:t>
            </a:r>
          </a:p>
          <a:p xmlns:a="http://schemas.openxmlformats.org/drawingml/2006/main">
            <a:r>
              <a:t/>
            </a:r>
          </a:p>
          <a:p xmlns:a="http://schemas.openxmlformats.org/drawingml/2006/main">
            <a:r>
              <a:t>EXPLAIN</a:t>
            </a:r>
          </a:p>
          <a:p xmlns:a="http://schemas.openxmlformats.org/drawingml/2006/main">
            <a:r>
              <a:t>DictReader already consumes the header; skipping its first yielded row skips real data.</a:t>
            </a:r>
          </a:p>
          <a:p xmlns:a="http://schemas.openxmlformats.org/drawingml/2006/main">
            <a:r>
              <a:t/>
            </a:r>
          </a:p>
          <a:p xmlns:a="http://schemas.openxmlformats.org/drawingml/2006/main">
            <a:r>
              <a:t>A string such as "unknown" cannot be converted to float.</a:t>
            </a:r>
          </a:p>
          <a:p xmlns:a="http://schemas.openxmlformats.org/drawingml/2006/main">
            <a:r>
              <a:t/>
            </a:r>
          </a:p>
          <a:p xmlns:a="http://schemas.openxmlformats.org/drawingml/2006/main">
            <a:r>
              <a:t>Catch the expected conversion error, count and record it, then continue under a stated policy.</a:t>
            </a:r>
          </a:p>
          <a:p xmlns:a="http://schemas.openxmlformats.org/drawingml/2006/main">
            <a:r>
              <a:t/>
            </a:r>
          </a:p>
          <a:p xmlns:a="http://schemas.openxmlformats.org/drawingml/2006/main">
            <a:r>
              <a:t>Inspect whether skipped rows share a source before reporting a mean.</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every record honestly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every record honestly continued</a:t>
            </a:r>
          </a:p>
          <a:p xmlns:a="http://schemas.openxmlformats.org/drawingml/2006/main">
            <a:r>
              <a:t/>
            </a:r>
          </a:p>
          <a:p xmlns:a="http://schemas.openxmlformats.org/drawingml/2006/main">
            <a:r>
              <a:t>CONNECT</a:t>
            </a:r>
          </a:p>
          <a:p xmlns:a="http://schemas.openxmlformats.org/drawingml/2006/main">
            <a:r>
              <a:t>Previous slide: Counting every record honestly.</a:t>
            </a:r>
          </a:p>
          <a:p xmlns:a="http://schemas.openxmlformats.org/drawingml/2006/main">
            <a:r>
              <a:t/>
            </a:r>
          </a:p>
          <a:p xmlns:a="http://schemas.openxmlformats.org/drawingml/2006/main">
            <a:r>
              <a:t>EXPLAIN</a:t>
            </a:r>
          </a:p>
          <a:p xmlns:a="http://schemas.openxmlformats.org/drawingml/2006/main">
            <a:r>
              <a:t>A sample summary describes observed records, not every possible operating condition.</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Your issued assignment.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issued assignment</a:t>
            </a:r>
          </a:p>
          <a:p xmlns:a="http://schemas.openxmlformats.org/drawingml/2006/main">
            <a:r>
              <a:t/>
            </a:r>
          </a:p>
          <a:p xmlns:a="http://schemas.openxmlformats.org/drawingml/2006/main">
            <a:r>
              <a:t>CONNECT</a:t>
            </a:r>
          </a:p>
          <a:p xmlns:a="http://schemas.openxmlformats.org/drawingml/2006/main">
            <a:r>
              <a:t>Previous slide: Counting every record honestly continued.</a:t>
            </a:r>
          </a:p>
          <a:p xmlns:a="http://schemas.openxmlformats.org/drawingml/2006/main">
            <a:r>
              <a:t/>
            </a:r>
          </a:p>
          <a:p xmlns:a="http://schemas.openxmlformats.org/drawingml/2006/main">
            <a:r>
              <a:t>EXPLAIN</a:t>
            </a:r>
          </a:p>
          <a:p xmlns:a="http://schemas.openxmlformats.org/drawingml/2006/main">
            <a:r>
              <a:t>Open W04_student.ipynb.</a:t>
            </a:r>
          </a:p>
          <a:p xmlns:a="http://schemas.openxmlformats.org/drawingml/2006/main">
            <a:r>
              <a:t/>
            </a:r>
          </a:p>
          <a:p xmlns:a="http://schemas.openxmlformats.org/drawingml/2006/main">
            <a:r>
              <a:t>Read every task and its input units before coding.</a:t>
            </a:r>
          </a:p>
          <a:p xmlns:a="http://schemas.openxmlformats.org/drawingml/2006/main">
            <a:r>
              <a:t/>
            </a:r>
          </a:p>
          <a:p xmlns:a="http://schemas.openxmlformats.org/drawingml/2006/main">
            <a:r>
              <a:t>Keep the required function names and returned outputs.</a:t>
            </a:r>
          </a:p>
          <a:p xmlns:a="http://schemas.openxmlformats.org/drawingml/2006/main">
            <a:r>
              <a:t/>
            </a:r>
          </a:p>
          <a:p xmlns:a="http://schemas.openxmlformats.org/drawingml/2006/main">
            <a:r>
              <a:t>Run the supplied visible checks, then restart and run all.</a:t>
            </a:r>
          </a:p>
          <a:p xmlns:a="http://schemas.openxmlformats.org/drawingml/2006/main">
            <a:r>
              <a:t/>
            </a:r>
          </a:p>
          <a:p xmlns:a="http://schemas.openxmlformats.org/drawingml/2006/main">
            <a:r>
              <a:t>LECTURER CUE</a:t>
            </a:r>
          </a:p>
          <a:p xmlns:a="http://schemas.openxmlformats.org/drawingml/2006/main">
            <a:r>
              <a:t># Week 4 reading report</a:t>
            </a:r>
          </a:p>
          <a:p xmlns:a="http://schemas.openxmlformats.org/drawingml/2006/main">
            <a:r>
              <a:t>Read README.md. Keep units in your explanation.</a:t>
            </a:r>
          </a:p>
          <a:p xmlns:a="http://schemas.openxmlformats.org/drawingml/2006/main">
            <a:r>
              <a:t/>
            </a:r>
          </a:p>
          <a:p xmlns:a="http://schemas.openxmlformats.org/drawingml/2006/main">
            <a:r>
              <a:t>## valid_count (5 marks)</a:t>
            </a:r>
          </a:p>
          <a:p xmlns:a="http://schemas.openxmlformats.org/drawingml/2006/main">
            <a:r>
              <a:t>Store an integer count of rows whose crack_width_mm field is nonblank. Skip blank readings before numeric conversion.</a:t>
            </a:r>
          </a:p>
          <a:p xmlns:a="http://schemas.openxmlformats.org/drawingml/2006/main">
            <a:r>
              <a:t/>
            </a:r>
          </a:p>
          <a:p xmlns:a="http://schemas.openxmlformats.org/drawingml/2006/main">
            <a:r>
              <a:t>## mean_reading (5 marks)</a:t>
            </a:r>
          </a:p>
          <a:p xmlns:a="http://schemas.openxmlformats.org/drawingml/2006/main">
            <a:r>
              <a:t>Store the arithmetic mean of the nonblank crack_width_mm values as a number. Add the valid readings and divide by their count. Keep full precision.</a:t>
            </a:r>
          </a:p>
          <a:p xmlns:a="http://schemas.openxmlformats.org/drawingml/2006/main">
            <a:r>
              <a:t/>
            </a:r>
          </a:p>
          <a:p xmlns:a="http://schemas.openxmlformats.org/drawingml/2006/main">
            <a:r>
              <a:t>## above_limit (5 marks)</a:t>
            </a:r>
          </a:p>
          <a:p xmlns:a="http://schemas.openxmlformats.org/drawingml/2006/main">
            <a:r>
              <a:t>Store an integer count of valid crack_width_mm readings strictly greater than 0.3. A reading equal to the threshold is not counted.</a:t>
            </a:r>
          </a:p>
          <a:p xmlns:a="http://schemas.openxmlformats.org/drawingml/2006/main">
            <a:r>
              <a:t/>
            </a:r>
          </a:p>
          <a:p xmlns:a="http://schemas.openxmlformats.org/drawingml/2006/main">
            <a:r>
              <a:t>## group_means (5 marks)</a:t>
            </a:r>
          </a:p>
          <a:p xmlns:a="http://schemas.openxmlformats.org/drawingml/2006/main">
            <a:r>
              <a:t>Store a dictionary whose keys are the structure_id labels and whose values are the mean valid crack_width_mm readings within each group. Divide each group total by its own valid count. Keep full precision.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valid_count (5 marks).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valid_count (5 marks)</a:t>
            </a:r>
          </a:p>
          <a:p xmlns:a="http://schemas.openxmlformats.org/drawingml/2006/main">
            <a:r>
              <a:t/>
            </a:r>
          </a:p>
          <a:p xmlns:a="http://schemas.openxmlformats.org/drawingml/2006/main">
            <a:r>
              <a:t>CONNECT</a:t>
            </a:r>
          </a:p>
          <a:p xmlns:a="http://schemas.openxmlformats.org/drawingml/2006/main">
            <a:r>
              <a:t>Previous slide: Your issued assignment.</a:t>
            </a:r>
          </a:p>
          <a:p xmlns:a="http://schemas.openxmlformats.org/drawingml/2006/main">
            <a:r>
              <a:t/>
            </a:r>
          </a:p>
          <a:p xmlns:a="http://schemas.openxmlformats.org/drawingml/2006/main">
            <a:r>
              <a:t>EXPLAIN</a:t>
            </a:r>
          </a:p>
          <a:p xmlns:a="http://schemas.openxmlformats.org/drawingml/2006/main">
            <a:r>
              <a:t>Store an integer count of rows whose crack_width_mm field is nonblank.</a:t>
            </a:r>
          </a:p>
          <a:p xmlns:a="http://schemas.openxmlformats.org/drawingml/2006/main">
            <a:r>
              <a:t/>
            </a:r>
          </a:p>
          <a:p xmlns:a="http://schemas.openxmlformats.org/drawingml/2006/main">
            <a:r>
              <a:t>Skip blank readings before numeric conversion.</a:t>
            </a:r>
          </a:p>
          <a:p xmlns:a="http://schemas.openxmlformats.org/drawingml/2006/main">
            <a:r>
              <a:t/>
            </a:r>
          </a:p>
          <a:p xmlns:a="http://schemas.openxmlformats.org/drawingml/2006/main">
            <a:r>
              <a:t>LECTURER CUE</a:t>
            </a:r>
          </a:p>
          <a:p xmlns:a="http://schemas.openxmlformats.org/drawingml/2006/main">
            <a:r>
              <a:t># Week 4 reading report</a:t>
            </a:r>
          </a:p>
          <a:p xmlns:a="http://schemas.openxmlformats.org/drawingml/2006/main">
            <a:r>
              <a:t>Read README.md. Keep units in your explanation.</a:t>
            </a:r>
          </a:p>
          <a:p xmlns:a="http://schemas.openxmlformats.org/drawingml/2006/main">
            <a:r>
              <a:t/>
            </a:r>
          </a:p>
          <a:p xmlns:a="http://schemas.openxmlformats.org/drawingml/2006/main">
            <a:r>
              <a:t>## valid_count (5 marks)</a:t>
            </a:r>
          </a:p>
          <a:p xmlns:a="http://schemas.openxmlformats.org/drawingml/2006/main">
            <a:r>
              <a:t>Store an integer count of rows whose crack_width_mm field is nonblank. Skip blank readings before numeric conversion.</a:t>
            </a:r>
          </a:p>
          <a:p xmlns:a="http://schemas.openxmlformats.org/drawingml/2006/main">
            <a:r>
              <a:t/>
            </a:r>
          </a:p>
          <a:p xmlns:a="http://schemas.openxmlformats.org/drawingml/2006/main">
            <a:r>
              <a:t>## mean_reading (5 marks)</a:t>
            </a:r>
          </a:p>
          <a:p xmlns:a="http://schemas.openxmlformats.org/drawingml/2006/main">
            <a:r>
              <a:t>Store the arithmetic mean of the nonblank crack_width_mm values as a number. Add the valid readings and divide by their count. Keep full precision.</a:t>
            </a:r>
          </a:p>
          <a:p xmlns:a="http://schemas.openxmlformats.org/drawingml/2006/main">
            <a:r>
              <a:t/>
            </a:r>
          </a:p>
          <a:p xmlns:a="http://schemas.openxmlformats.org/drawingml/2006/main">
            <a:r>
              <a:t>## above_limit (5 marks)</a:t>
            </a:r>
          </a:p>
          <a:p xmlns:a="http://schemas.openxmlformats.org/drawingml/2006/main">
            <a:r>
              <a:t>Store an integer count of valid crack_width_mm readings strictly greater than 0.3. A reading equal to the threshold is not counted.</a:t>
            </a:r>
          </a:p>
          <a:p xmlns:a="http://schemas.openxmlformats.org/drawingml/2006/main">
            <a:r>
              <a:t/>
            </a:r>
          </a:p>
          <a:p xmlns:a="http://schemas.openxmlformats.org/drawingml/2006/main">
            <a:r>
              <a:t>## group_means (5 marks)</a:t>
            </a:r>
          </a:p>
          <a:p xmlns:a="http://schemas.openxmlformats.org/drawingml/2006/main">
            <a:r>
              <a:t>Store a dictionary whose keys are the structure_id labels and whose values are the mean valid crack_width_mm readings within each group. Divide each group total by its own valid count. Keep full precision.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mean_reading (5 marks).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mean_reading (5 marks)</a:t>
            </a:r>
          </a:p>
          <a:p xmlns:a="http://schemas.openxmlformats.org/drawingml/2006/main">
            <a:r>
              <a:t/>
            </a:r>
          </a:p>
          <a:p xmlns:a="http://schemas.openxmlformats.org/drawingml/2006/main">
            <a:r>
              <a:t>CONNECT</a:t>
            </a:r>
          </a:p>
          <a:p xmlns:a="http://schemas.openxmlformats.org/drawingml/2006/main">
            <a:r>
              <a:t>Previous slide: valid_count (5 marks).</a:t>
            </a:r>
          </a:p>
          <a:p xmlns:a="http://schemas.openxmlformats.org/drawingml/2006/main">
            <a:r>
              <a:t/>
            </a:r>
          </a:p>
          <a:p xmlns:a="http://schemas.openxmlformats.org/drawingml/2006/main">
            <a:r>
              <a:t>EXPLAIN</a:t>
            </a:r>
          </a:p>
          <a:p xmlns:a="http://schemas.openxmlformats.org/drawingml/2006/main">
            <a:r>
              <a:t>Store the arithmetic mean of the nonblank crack_width_mm values as a number.</a:t>
            </a:r>
          </a:p>
          <a:p xmlns:a="http://schemas.openxmlformats.org/drawingml/2006/main">
            <a:r>
              <a:t/>
            </a:r>
          </a:p>
          <a:p xmlns:a="http://schemas.openxmlformats.org/drawingml/2006/main">
            <a:r>
              <a:t>Add the valid readings and divide by their count.</a:t>
            </a:r>
          </a:p>
          <a:p xmlns:a="http://schemas.openxmlformats.org/drawingml/2006/main">
            <a:r>
              <a:t/>
            </a:r>
          </a:p>
          <a:p xmlns:a="http://schemas.openxmlformats.org/drawingml/2006/main">
            <a:r>
              <a:t>Keep full precision.</a:t>
            </a:r>
          </a:p>
          <a:p xmlns:a="http://schemas.openxmlformats.org/drawingml/2006/main">
            <a:r>
              <a:t/>
            </a:r>
          </a:p>
          <a:p xmlns:a="http://schemas.openxmlformats.org/drawingml/2006/main">
            <a:r>
              <a:t>LECTURER CUE</a:t>
            </a:r>
          </a:p>
          <a:p xmlns:a="http://schemas.openxmlformats.org/drawingml/2006/main">
            <a:r>
              <a:t># Week 4 reading report</a:t>
            </a:r>
          </a:p>
          <a:p xmlns:a="http://schemas.openxmlformats.org/drawingml/2006/main">
            <a:r>
              <a:t>Read README.md. Keep units in your explanation.</a:t>
            </a:r>
          </a:p>
          <a:p xmlns:a="http://schemas.openxmlformats.org/drawingml/2006/main">
            <a:r>
              <a:t/>
            </a:r>
          </a:p>
          <a:p xmlns:a="http://schemas.openxmlformats.org/drawingml/2006/main">
            <a:r>
              <a:t>## valid_count (5 marks)</a:t>
            </a:r>
          </a:p>
          <a:p xmlns:a="http://schemas.openxmlformats.org/drawingml/2006/main">
            <a:r>
              <a:t>Store an integer count of rows whose crack_width_mm field is nonblank. Skip blank readings before numeric conversion.</a:t>
            </a:r>
          </a:p>
          <a:p xmlns:a="http://schemas.openxmlformats.org/drawingml/2006/main">
            <a:r>
              <a:t/>
            </a:r>
          </a:p>
          <a:p xmlns:a="http://schemas.openxmlformats.org/drawingml/2006/main">
            <a:r>
              <a:t>## mean_reading (5 marks)</a:t>
            </a:r>
          </a:p>
          <a:p xmlns:a="http://schemas.openxmlformats.org/drawingml/2006/main">
            <a:r>
              <a:t>Store the arithmetic mean of the nonblank crack_width_mm values as a number. Add the valid readings and divide by their count. Keep full precision.</a:t>
            </a:r>
          </a:p>
          <a:p xmlns:a="http://schemas.openxmlformats.org/drawingml/2006/main">
            <a:r>
              <a:t/>
            </a:r>
          </a:p>
          <a:p xmlns:a="http://schemas.openxmlformats.org/drawingml/2006/main">
            <a:r>
              <a:t>## above_limit (5 marks)</a:t>
            </a:r>
          </a:p>
          <a:p xmlns:a="http://schemas.openxmlformats.org/drawingml/2006/main">
            <a:r>
              <a:t>Store an integer count of valid crack_width_mm readings strictly greater than 0.3. A reading equal to the threshold is not counted.</a:t>
            </a:r>
          </a:p>
          <a:p xmlns:a="http://schemas.openxmlformats.org/drawingml/2006/main">
            <a:r>
              <a:t/>
            </a:r>
          </a:p>
          <a:p xmlns:a="http://schemas.openxmlformats.org/drawingml/2006/main">
            <a:r>
              <a:t>## group_means (5 marks)</a:t>
            </a:r>
          </a:p>
          <a:p xmlns:a="http://schemas.openxmlformats.org/drawingml/2006/main">
            <a:r>
              <a:t>Store a dictionary whose keys are the structure_id labels and whose values are the mean valid crack_width_mm readings within each group. Divide each group total by its own valid count. Keep full precision.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above_limit (5 marks).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above_limit (5 marks)</a:t>
            </a:r>
          </a:p>
          <a:p xmlns:a="http://schemas.openxmlformats.org/drawingml/2006/main">
            <a:r>
              <a:t/>
            </a:r>
          </a:p>
          <a:p xmlns:a="http://schemas.openxmlformats.org/drawingml/2006/main">
            <a:r>
              <a:t>CONNECT</a:t>
            </a:r>
          </a:p>
          <a:p xmlns:a="http://schemas.openxmlformats.org/drawingml/2006/main">
            <a:r>
              <a:t>Previous slide: mean_reading (5 marks).</a:t>
            </a:r>
          </a:p>
          <a:p xmlns:a="http://schemas.openxmlformats.org/drawingml/2006/main">
            <a:r>
              <a:t/>
            </a:r>
          </a:p>
          <a:p xmlns:a="http://schemas.openxmlformats.org/drawingml/2006/main">
            <a:r>
              <a:t>EXPLAIN</a:t>
            </a:r>
          </a:p>
          <a:p xmlns:a="http://schemas.openxmlformats.org/drawingml/2006/main">
            <a:r>
              <a:t>Store an integer count of valid crack_width_mm readings strictly greater than 0.3.</a:t>
            </a:r>
          </a:p>
          <a:p xmlns:a="http://schemas.openxmlformats.org/drawingml/2006/main">
            <a:r>
              <a:t/>
            </a:r>
          </a:p>
          <a:p xmlns:a="http://schemas.openxmlformats.org/drawingml/2006/main">
            <a:r>
              <a:t>A reading equal to the threshold is not counted.</a:t>
            </a:r>
          </a:p>
          <a:p xmlns:a="http://schemas.openxmlformats.org/drawingml/2006/main">
            <a:r>
              <a:t/>
            </a:r>
          </a:p>
          <a:p xmlns:a="http://schemas.openxmlformats.org/drawingml/2006/main">
            <a:r>
              <a:t>LECTURER CUE</a:t>
            </a:r>
          </a:p>
          <a:p xmlns:a="http://schemas.openxmlformats.org/drawingml/2006/main">
            <a:r>
              <a:t># Week 4 reading report</a:t>
            </a:r>
          </a:p>
          <a:p xmlns:a="http://schemas.openxmlformats.org/drawingml/2006/main">
            <a:r>
              <a:t>Read README.md. Keep units in your explanation.</a:t>
            </a:r>
          </a:p>
          <a:p xmlns:a="http://schemas.openxmlformats.org/drawingml/2006/main">
            <a:r>
              <a:t/>
            </a:r>
          </a:p>
          <a:p xmlns:a="http://schemas.openxmlformats.org/drawingml/2006/main">
            <a:r>
              <a:t>## valid_count (5 marks)</a:t>
            </a:r>
          </a:p>
          <a:p xmlns:a="http://schemas.openxmlformats.org/drawingml/2006/main">
            <a:r>
              <a:t>Store an integer count of rows whose crack_width_mm field is nonblank. Skip blank readings before numeric conversion.</a:t>
            </a:r>
          </a:p>
          <a:p xmlns:a="http://schemas.openxmlformats.org/drawingml/2006/main">
            <a:r>
              <a:t/>
            </a:r>
          </a:p>
          <a:p xmlns:a="http://schemas.openxmlformats.org/drawingml/2006/main">
            <a:r>
              <a:t>## mean_reading (5 marks)</a:t>
            </a:r>
          </a:p>
          <a:p xmlns:a="http://schemas.openxmlformats.org/drawingml/2006/main">
            <a:r>
              <a:t>Store the arithmetic mean of the nonblank crack_width_mm values as a number. Add the valid readings and divide by their count. Keep full precision.</a:t>
            </a:r>
          </a:p>
          <a:p xmlns:a="http://schemas.openxmlformats.org/drawingml/2006/main">
            <a:r>
              <a:t/>
            </a:r>
          </a:p>
          <a:p xmlns:a="http://schemas.openxmlformats.org/drawingml/2006/main">
            <a:r>
              <a:t>## above_limit (5 marks)</a:t>
            </a:r>
          </a:p>
          <a:p xmlns:a="http://schemas.openxmlformats.org/drawingml/2006/main">
            <a:r>
              <a:t>Store an integer count of valid crack_width_mm readings strictly greater than 0.3. A reading equal to the threshold is not counted.</a:t>
            </a:r>
          </a:p>
          <a:p xmlns:a="http://schemas.openxmlformats.org/drawingml/2006/main">
            <a:r>
              <a:t/>
            </a:r>
          </a:p>
          <a:p xmlns:a="http://schemas.openxmlformats.org/drawingml/2006/main">
            <a:r>
              <a:t>## group_means (5 marks)</a:t>
            </a:r>
          </a:p>
          <a:p xmlns:a="http://schemas.openxmlformats.org/drawingml/2006/main">
            <a:r>
              <a:t>Store a dictionary whose keys are the structure_id labels and whose values are the mean valid crack_width_mm readings within each group. Divide each group total by its own valid count. Keep full precision.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group_means (5 marks).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group_means (5 marks)</a:t>
            </a:r>
          </a:p>
          <a:p xmlns:a="http://schemas.openxmlformats.org/drawingml/2006/main">
            <a:r>
              <a:t/>
            </a:r>
          </a:p>
          <a:p xmlns:a="http://schemas.openxmlformats.org/drawingml/2006/main">
            <a:r>
              <a:t>CONNECT</a:t>
            </a:r>
          </a:p>
          <a:p xmlns:a="http://schemas.openxmlformats.org/drawingml/2006/main">
            <a:r>
              <a:t>Previous slide: above_limit (5 marks).</a:t>
            </a:r>
          </a:p>
          <a:p xmlns:a="http://schemas.openxmlformats.org/drawingml/2006/main">
            <a:r>
              <a:t/>
            </a:r>
          </a:p>
          <a:p xmlns:a="http://schemas.openxmlformats.org/drawingml/2006/main">
            <a:r>
              <a:t>EXPLAIN</a:t>
            </a:r>
          </a:p>
          <a:p xmlns:a="http://schemas.openxmlformats.org/drawingml/2006/main">
            <a:r>
              <a:t>Store a dictionary whose keys are the structure_id labels and whose values are the mean valid crack_width_mm readings within each group.</a:t>
            </a:r>
          </a:p>
          <a:p xmlns:a="http://schemas.openxmlformats.org/drawingml/2006/main">
            <a:r>
              <a:t/>
            </a:r>
          </a:p>
          <a:p xmlns:a="http://schemas.openxmlformats.org/drawingml/2006/main">
            <a:r>
              <a:t>Divide each group total by its own valid count.</a:t>
            </a:r>
          </a:p>
          <a:p xmlns:a="http://schemas.openxmlformats.org/drawingml/2006/main">
            <a:r>
              <a:t/>
            </a:r>
          </a:p>
          <a:p xmlns:a="http://schemas.openxmlformats.org/drawingml/2006/main">
            <a:r>
              <a:t>Keep full precision.</a:t>
            </a:r>
          </a:p>
          <a:p xmlns:a="http://schemas.openxmlformats.org/drawingml/2006/main">
            <a:r>
              <a:t/>
            </a:r>
          </a:p>
          <a:p xmlns:a="http://schemas.openxmlformats.org/drawingml/2006/main">
            <a:r>
              <a:t>LECTURER CUE</a:t>
            </a:r>
          </a:p>
          <a:p xmlns:a="http://schemas.openxmlformats.org/drawingml/2006/main">
            <a:r>
              <a:t># Week 4 reading report</a:t>
            </a:r>
          </a:p>
          <a:p xmlns:a="http://schemas.openxmlformats.org/drawingml/2006/main">
            <a:r>
              <a:t>Read README.md. Keep units in your explanation.</a:t>
            </a:r>
          </a:p>
          <a:p xmlns:a="http://schemas.openxmlformats.org/drawingml/2006/main">
            <a:r>
              <a:t/>
            </a:r>
          </a:p>
          <a:p xmlns:a="http://schemas.openxmlformats.org/drawingml/2006/main">
            <a:r>
              <a:t>## valid_count (5 marks)</a:t>
            </a:r>
          </a:p>
          <a:p xmlns:a="http://schemas.openxmlformats.org/drawingml/2006/main">
            <a:r>
              <a:t>Store an integer count of rows whose crack_width_mm field is nonblank. Skip blank readings before numeric conversion.</a:t>
            </a:r>
          </a:p>
          <a:p xmlns:a="http://schemas.openxmlformats.org/drawingml/2006/main">
            <a:r>
              <a:t/>
            </a:r>
          </a:p>
          <a:p xmlns:a="http://schemas.openxmlformats.org/drawingml/2006/main">
            <a:r>
              <a:t>## mean_reading (5 marks)</a:t>
            </a:r>
          </a:p>
          <a:p xmlns:a="http://schemas.openxmlformats.org/drawingml/2006/main">
            <a:r>
              <a:t>Store the arithmetic mean of the nonblank crack_width_mm values as a number. Add the valid readings and divide by their count. Keep full precision.</a:t>
            </a:r>
          </a:p>
          <a:p xmlns:a="http://schemas.openxmlformats.org/drawingml/2006/main">
            <a:r>
              <a:t/>
            </a:r>
          </a:p>
          <a:p xmlns:a="http://schemas.openxmlformats.org/drawingml/2006/main">
            <a:r>
              <a:t>## above_limit (5 marks)</a:t>
            </a:r>
          </a:p>
          <a:p xmlns:a="http://schemas.openxmlformats.org/drawingml/2006/main">
            <a:r>
              <a:t>Store an integer count of valid crack_width_mm readings strictly greater than 0.3. A reading equal to the threshold is not counted.</a:t>
            </a:r>
          </a:p>
          <a:p xmlns:a="http://schemas.openxmlformats.org/drawingml/2006/main">
            <a:r>
              <a:t/>
            </a:r>
          </a:p>
          <a:p xmlns:a="http://schemas.openxmlformats.org/drawingml/2006/main">
            <a:r>
              <a:t>## group_means (5 marks)</a:t>
            </a:r>
          </a:p>
          <a:p xmlns:a="http://schemas.openxmlformats.org/drawingml/2006/main">
            <a:r>
              <a:t>Store a dictionary whose keys are the structure_id labels and whose values are the mean valid crack_width_mm readings within each group. Divide each group total by its own valid count. Keep full precision.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Week 4 rules.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4 rules</a:t>
            </a:r>
          </a:p>
          <a:p xmlns:a="http://schemas.openxmlformats.org/drawingml/2006/main">
            <a:r>
              <a:t/>
            </a:r>
          </a:p>
          <a:p xmlns:a="http://schemas.openxmlformats.org/drawingml/2006/main">
            <a:r>
              <a:t>CONNECT</a:t>
            </a:r>
          </a:p>
          <a:p xmlns:a="http://schemas.openxmlformats.org/drawingml/2006/main">
            <a:r>
              <a:t>Previous slide: group_means (5 marks).</a:t>
            </a:r>
          </a:p>
          <a:p xmlns:a="http://schemas.openxmlformats.org/drawingml/2006/main">
            <a:r>
              <a:t/>
            </a:r>
          </a:p>
          <a:p xmlns:a="http://schemas.openxmlformats.org/drawingml/2006/main">
            <a:r>
              <a:t>EXPLAIN</a:t>
            </a:r>
          </a:p>
          <a:p xmlns:a="http://schemas.openxmlformats.org/drawingml/2006/main">
            <a:r>
              <a:t>Fictional teaching data.</a:t>
            </a:r>
          </a:p>
          <a:p xmlns:a="http://schemas.openxmlformats.org/drawingml/2006/main">
            <a:r>
              <a:t/>
            </a:r>
          </a:p>
          <a:p xmlns:a="http://schemas.openxmlformats.org/drawingml/2006/main">
            <a:r>
              <a:t>300 records.</a:t>
            </a:r>
          </a:p>
          <a:p xmlns:a="http://schemas.openxmlformats.org/drawingml/2006/main">
            <a:r>
              <a:t/>
            </a:r>
          </a:p>
          <a:p xmlns:a="http://schemas.openxmlformats.org/drawingml/2006/main">
            <a:r>
              <a:t>Three blank crack_width_mm values must be skipped in numerical summaries.</a:t>
            </a:r>
          </a:p>
          <a:p xmlns:a="http://schemas.openxmlformats.org/drawingml/2006/main">
            <a:r>
              <a:t/>
            </a:r>
          </a:p>
          <a:p xmlns:a="http://schemas.openxmlformats.org/drawingml/2006/main">
            <a:r>
              <a:t>Threshold 0.3 is a teaching assumption.</a:t>
            </a:r>
          </a:p>
          <a:p xmlns:a="http://schemas.openxmlformats.org/drawingml/2006/main">
            <a:r>
              <a:t/>
            </a:r>
          </a:p>
          <a:p xmlns:a="http://schemas.openxmlformats.org/drawingml/2006/main">
            <a:r>
              <a:t>LECTURER CUE</a:t>
            </a:r>
          </a:p>
          <a:p xmlns:a="http://schemas.openxmlformats.org/drawingml/2006/main">
            <a:r>
              <a:t>Fictional teaching data. 300 records. Three blank crack_width_mm values must be skipped in numerical summaries. Threshold 0.3 is a teaching assumption.</a:t>
            </a:r>
          </a:p>
          <a:p xmlns:a="http://schemas.openxmlformats.org/drawingml/2006/main">
            <a:r>
              <a:t/>
            </a:r>
          </a:p>
          <a:p xmlns:a="http://schemas.openxmlformats.org/drawingml/2006/main">
            <a:r>
              <a:t>Compute valid_count, mean_reading, above_limit (strictly greater than 0.3) and group_means keyed by structure_id. Use standard-library csv and collections. Save a copy using your Student Registration Number with / replaced by _, followed by _W04.ipynb. STUDENT_ID in the starter code means Student Registration Number. Four checks carry five marks each. Explain the interesting pattern separately as formative practice.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Week 4 rules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4 rules continued</a:t>
            </a:r>
          </a:p>
          <a:p xmlns:a="http://schemas.openxmlformats.org/drawingml/2006/main">
            <a:r>
              <a:t/>
            </a:r>
          </a:p>
          <a:p xmlns:a="http://schemas.openxmlformats.org/drawingml/2006/main">
            <a:r>
              <a:t>CONNECT</a:t>
            </a:r>
          </a:p>
          <a:p xmlns:a="http://schemas.openxmlformats.org/drawingml/2006/main">
            <a:r>
              <a:t>Previous slide: Week 4 rules.</a:t>
            </a:r>
          </a:p>
          <a:p xmlns:a="http://schemas.openxmlformats.org/drawingml/2006/main">
            <a:r>
              <a:t/>
            </a:r>
          </a:p>
          <a:p xmlns:a="http://schemas.openxmlformats.org/drawingml/2006/main">
            <a:r>
              <a:t>EXPLAIN</a:t>
            </a:r>
          </a:p>
          <a:p xmlns:a="http://schemas.openxmlformats.org/drawingml/2006/main">
            <a:r>
              <a:t>Compute valid_count, mean_reading, above_limit (strictly greater than 0.3) and group_means keyed by structure_id.</a:t>
            </a:r>
          </a:p>
          <a:p xmlns:a="http://schemas.openxmlformats.org/drawingml/2006/main">
            <a:r>
              <a:t/>
            </a:r>
          </a:p>
          <a:p xmlns:a="http://schemas.openxmlformats.org/drawingml/2006/main">
            <a:r>
              <a:t>Use standard-library csv and collections.</a:t>
            </a:r>
          </a:p>
          <a:p xmlns:a="http://schemas.openxmlformats.org/drawingml/2006/main">
            <a:r>
              <a:t/>
            </a:r>
          </a:p>
          <a:p xmlns:a="http://schemas.openxmlformats.org/drawingml/2006/main">
            <a:r>
              <a:t>Save a copy using your Student Registration Number with / replaced by _, followed by _W04.ipynb.</a:t>
            </a:r>
          </a:p>
          <a:p xmlns:a="http://schemas.openxmlformats.org/drawingml/2006/main">
            <a:r>
              <a:t/>
            </a:r>
          </a:p>
          <a:p xmlns:a="http://schemas.openxmlformats.org/drawingml/2006/main">
            <a:r>
              <a:t>STUDENT_ID in the starter code means Student Registration Number.</a:t>
            </a:r>
          </a:p>
          <a:p xmlns:a="http://schemas.openxmlformats.org/drawingml/2006/main">
            <a:r>
              <a:t/>
            </a:r>
          </a:p>
          <a:p xmlns:a="http://schemas.openxmlformats.org/drawingml/2006/main">
            <a:r>
              <a:t>LECTURER CUE</a:t>
            </a:r>
          </a:p>
          <a:p xmlns:a="http://schemas.openxmlformats.org/drawingml/2006/main">
            <a:r>
              <a:t>Fictional teaching data. 300 records. Three blank crack_width_mm values must be skipped in numerical summaries. Threshold 0.3 is a teaching assumption.</a:t>
            </a:r>
          </a:p>
          <a:p xmlns:a="http://schemas.openxmlformats.org/drawingml/2006/main">
            <a:r>
              <a:t/>
            </a:r>
          </a:p>
          <a:p xmlns:a="http://schemas.openxmlformats.org/drawingml/2006/main">
            <a:r>
              <a:t>Compute valid_count, mean_reading, above_limit (strictly greater than 0.3) and group_means keyed by structure_id. Use standard-library csv and collections. Save a copy using your Student Registration Number with / replaced by _, followed by _W04.ipynb. STUDENT_ID in the starter code means Student Registration Number. Four checks carry five marks each. Explain the interesting pattern separately as formative practice.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Week 4 rules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4 rules continued</a:t>
            </a:r>
          </a:p>
          <a:p xmlns:a="http://schemas.openxmlformats.org/drawingml/2006/main">
            <a:r>
              <a:t/>
            </a:r>
          </a:p>
          <a:p xmlns:a="http://schemas.openxmlformats.org/drawingml/2006/main">
            <a:r>
              <a:t>CONNECT</a:t>
            </a:r>
          </a:p>
          <a:p xmlns:a="http://schemas.openxmlformats.org/drawingml/2006/main">
            <a:r>
              <a:t>Previous slide: Week 4 rules continued.</a:t>
            </a:r>
          </a:p>
          <a:p xmlns:a="http://schemas.openxmlformats.org/drawingml/2006/main">
            <a:r>
              <a:t/>
            </a:r>
          </a:p>
          <a:p xmlns:a="http://schemas.openxmlformats.org/drawingml/2006/main">
            <a:r>
              <a:t>EXPLAIN</a:t>
            </a:r>
          </a:p>
          <a:p xmlns:a="http://schemas.openxmlformats.org/drawingml/2006/main">
            <a:r>
              <a:t>Four checks carry five marks each.</a:t>
            </a:r>
          </a:p>
          <a:p xmlns:a="http://schemas.openxmlformats.org/drawingml/2006/main">
            <a:r>
              <a:t/>
            </a:r>
          </a:p>
          <a:p xmlns:a="http://schemas.openxmlformats.org/drawingml/2006/main">
            <a:r>
              <a:t>Explain the interesting pattern separately as formative practice.</a:t>
            </a:r>
          </a:p>
          <a:p xmlns:a="http://schemas.openxmlformats.org/drawingml/2006/main">
            <a:r>
              <a:t/>
            </a:r>
          </a:p>
          <a:p xmlns:a="http://schemas.openxmlformats.org/drawingml/2006/main">
            <a:r>
              <a:t>For beginner step-by-step help, open ASSIGNMENT_INSTRUCTIONS.txt and STUDENT_HOW_TO.md in this folder.</a:t>
            </a:r>
          </a:p>
          <a:p xmlns:a="http://schemas.openxmlformats.org/drawingml/2006/main">
            <a:r>
              <a:t/>
            </a:r>
          </a:p>
          <a:p xmlns:a="http://schemas.openxmlformats.org/drawingml/2006/main">
            <a:r>
              <a:t>The first names your required files and hand-in checklist; the second explains accounts, Colab, saving and uploads.</a:t>
            </a:r>
          </a:p>
          <a:p xmlns:a="http://schemas.openxmlformats.org/drawingml/2006/main">
            <a:r>
              <a:t/>
            </a:r>
          </a:p>
          <a:p xmlns:a="http://schemas.openxmlformats.org/drawingml/2006/main">
            <a:r>
              <a:t>LECTURER CUE</a:t>
            </a:r>
          </a:p>
          <a:p xmlns:a="http://schemas.openxmlformats.org/drawingml/2006/main">
            <a:r>
              <a:t>Fictional teaching data. 300 records. Three blank crack_width_mm values must be skipped in numerical summaries. Threshold 0.3 is a teaching assumption.</a:t>
            </a:r>
          </a:p>
          <a:p xmlns:a="http://schemas.openxmlformats.org/drawingml/2006/main">
            <a:r>
              <a:t/>
            </a:r>
          </a:p>
          <a:p xmlns:a="http://schemas.openxmlformats.org/drawingml/2006/main">
            <a:r>
              <a:t>Compute valid_count, mean_reading, above_limit (strictly greater than 0.3) and group_means keyed by structure_id. Use standard-library csv and collections. Save a copy using your Student Registration Number with / replaced by _, followed by _W04.ipynb. STUDENT_ID in the starter code means Student Registration Number. Four checks carry five marks each. Explain the interesting pattern separately as formative practice.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Reading report submission.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Reading report submission</a:t>
            </a:r>
          </a:p>
          <a:p xmlns:a="http://schemas.openxmlformats.org/drawingml/2006/main">
            <a:r>
              <a:t/>
            </a:r>
          </a:p>
          <a:p xmlns:a="http://schemas.openxmlformats.org/drawingml/2006/main">
            <a:r>
              <a:t>CONNECT</a:t>
            </a:r>
          </a:p>
          <a:p xmlns:a="http://schemas.openxmlformats.org/drawingml/2006/main">
            <a:r>
              <a:t>Previous slide: Week 4 rules continued.</a:t>
            </a:r>
          </a:p>
          <a:p xmlns:a="http://schemas.openxmlformats.org/drawingml/2006/main">
            <a:r>
              <a:t/>
            </a:r>
          </a:p>
          <a:p xmlns:a="http://schemas.openxmlformats.org/drawingml/2006/main">
            <a:r>
              <a:t>EXPLAIN</a:t>
            </a:r>
          </a:p>
          <a:p xmlns:a="http://schemas.openxmlformats.org/drawingml/2006/main">
            <a:r>
              <a:t>Opens: 29 Sep 2026, 11:00 Kampala</a:t>
            </a:r>
          </a:p>
          <a:p xmlns:a="http://schemas.openxmlformats.org/drawingml/2006/main">
            <a:r>
              <a:t/>
            </a:r>
          </a:p>
          <a:p xmlns:a="http://schemas.openxmlformats.org/drawingml/2006/main">
            <a:r>
              <a:t>Deadline: 06 Oct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LECTURER CUE</a:t>
            </a:r>
          </a:p>
          <a:p xmlns:a="http://schemas.openxmlformats.org/drawingml/2006/main">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Week 4 quiz.</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4 quiz</a:t>
            </a:r>
          </a:p>
          <a:p xmlns:a="http://schemas.openxmlformats.org/drawingml/2006/main">
            <a:r>
              <a:t/>
            </a:r>
          </a:p>
          <a:p xmlns:a="http://schemas.openxmlformats.org/drawingml/2006/main">
            <a:r>
              <a:t>CONNECT</a:t>
            </a:r>
          </a:p>
          <a:p xmlns:a="http://schemas.openxmlformats.org/drawingml/2006/main">
            <a:r>
              <a:t>Previous slide: Reading report submission.</a:t>
            </a:r>
          </a:p>
          <a:p xmlns:a="http://schemas.openxmlformats.org/drawingml/2006/main">
            <a:r>
              <a:t/>
            </a:r>
          </a:p>
          <a:p xmlns:a="http://schemas.openxmlformats.org/drawingml/2006/main">
            <a:r>
              <a:t>EXPLAIN</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The lecturer will confirm the exact closing time.</a:t>
            </a:r>
          </a:p>
          <a:p xmlns:a="http://schemas.openxmlformats.org/drawingml/2006/main">
            <a:r>
              <a:t/>
            </a:r>
          </a:p>
          <a:p xmlns:a="http://schemas.openxmlformats.org/drawingml/2006/main">
            <a:r>
              <a:t>LECTURER CUE</a:t>
            </a:r>
          </a:p>
          <a:p xmlns:a="http://schemas.openxmlformats.org/drawingml/2006/main">
            <a:r>
              <a:t>Activate the matching open_W4_CML3112 function in Quiz Controls, then confirm the 24-hour close time. Opening this slide or clicking its link does not activate the form. The 24 hours is the availability window. Keep existing quiz scoring and form rules. Do not show private answer keys.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Before you leave.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and submission checklist</a:t>
            </a:r>
          </a:p>
          <a:p xmlns:a="http://schemas.openxmlformats.org/drawingml/2006/main">
            <a:r>
              <a:t/>
            </a:r>
          </a:p>
          <a:p xmlns:a="http://schemas.openxmlformats.org/drawingml/2006/main">
            <a:r>
              <a:t>CONNECT</a:t>
            </a:r>
          </a:p>
          <a:p xmlns:a="http://schemas.openxmlformats.org/drawingml/2006/main">
            <a:r>
              <a:t>Previous slide: Week 4 quiz.</a:t>
            </a:r>
          </a:p>
          <a:p xmlns:a="http://schemas.openxmlformats.org/drawingml/2006/main">
            <a:r>
              <a:t/>
            </a:r>
          </a:p>
          <a:p xmlns:a="http://schemas.openxmlformats.org/drawingml/2006/main">
            <a:r>
              <a:t>EXPLAIN</a:t>
            </a:r>
          </a:p>
          <a:p xmlns:a="http://schemas.openxmlformats.org/drawingml/2006/main">
            <a:r>
              <a:t>You can show how the total and count change for each record.</a:t>
            </a:r>
          </a:p>
          <a:p xmlns:a="http://schemas.openxmlformats.org/drawingml/2006/main">
            <a:r>
              <a:t/>
            </a:r>
          </a:p>
          <a:p xmlns:a="http://schemas.openxmlformats.org/drawingml/2006/main">
            <a:r>
              <a:t>Save your work and check the required submission files.</a:t>
            </a:r>
          </a:p>
          <a:p xmlns:a="http://schemas.openxmlformats.org/drawingml/2006/main">
            <a:r>
              <a:t/>
            </a:r>
          </a:p>
          <a:p xmlns:a="http://schemas.openxmlformats.org/drawingml/2006/main">
            <a:r>
              <a:t>LECTURER CUE</a:t>
            </a:r>
          </a:p>
          <a:p xmlns:a="http://schemas.openxmlformats.org/drawingml/2006/main">
            <a:r>
              <a:t>Ask every learner for an individual response. Record one misconception to revisit at the start of the next class. If a deadline changed, announce the exact Kampala date and update the source registry before rebuilding slides.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independent revision and the issued task.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3032ee57204ff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9c03e71c9f400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fc30f1165f48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4423bb19094a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6887832c4e46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4586e0fc2a848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77B9D82-B582-409B-8E3C-3FB658D8D526}"/>
              </a:ext>
            </a:extLst>
          </p:cNvPr>
          <p:cNvSpPr>
            <a:spLocks xmlns:a="http://schemas.openxmlformats.org/drawingml/2006/main" noGrp="1"/>
          </p:cNvSpPr>
          <p:nvPr/>
        </p:nvSpPr>
        <p:spPr>
          <a:xfrm xmlns:a="http://schemas.openxmlformats.org/drawingml/2006/main">
            <a:off x="5791055" y="22098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B732D8D-27BE-400D-A8DE-05A82CC6DD99}"/>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16BA66D8-3188-4694-B47A-61D45B93B573}"/>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5B5B576E-1379-4922-A5D1-F443C02A4E87}"/>
              </a:ext>
            </a:extLst>
          </p:cNvPr>
          <p:cNvSpPr>
            <a:spLocks xmlns:a="http://schemas.openxmlformats.org/drawingml/2006/main" noGrp="1"/>
          </p:cNvSpPr>
          <p:nvPr/>
        </p:nvSpPr>
        <p:spPr>
          <a:xfrm xmlns:a="http://schemas.openxmlformats.org/drawingml/2006/main">
            <a:off x="5791055" y="24765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7A9946B5-583B-4AF5-A0B2-9A5CD0A534B5}"/>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0ECD922-983B-4CB8-B974-35AB25166B5D}"/>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6819552-5819-491F-8F2D-945E79601C8C}"/>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B3C0C1B9-AFDA-4A56-9855-787B58F665E0}"/>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305EB5BC-DAFE-4F7D-A4F1-BA064EEFE478}"/>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6B1EE8F-6D31-4CAA-BCD1-82CE4FBA35E9}"/>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4C6E514-DDB8-4532-9B08-4D3F0DF84A32}"/>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1642258B-DC5E-441F-AD68-DD4DC8DDA509}"/>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891333F-B72C-40B0-84EF-E783F3D5ED61}"/>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9CC8EE2-CF89-45FB-8799-62791FB72D90}"/>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AFD7B31-3B7C-424D-ADB7-4D485C24C8D6}"/>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65fda755914009" /><Relationship Type="http://schemas.openxmlformats.org/officeDocument/2006/relationships/slideLayout" Target="/ppt/slideLayouts/slideLayout1.xml" Id="R8bea438a2d454c2c" /><Relationship Type="http://schemas.openxmlformats.org/officeDocument/2006/relationships/slideLayout" Target="/ppt/slideLayouts/slideLayout2.xml" Id="R5a979bd01cf64b76" /><Relationship Type="http://schemas.openxmlformats.org/officeDocument/2006/relationships/slideLayout" Target="/ppt/slideLayouts/slideLayout3.xml" Id="R303defb05b9f42d1" /><Relationship Type="http://schemas.openxmlformats.org/officeDocument/2006/relationships/slideLayout" Target="/ppt/slideLayouts/slideLayout4.xml" Id="Rb157cbde0fbd42ff" /><Relationship Type="http://schemas.openxmlformats.org/officeDocument/2006/relationships/slideLayout" Target="/ppt/slideLayouts/slideLayout5.xml" Id="R90007acc8405494d" /><Relationship Type="http://schemas.openxmlformats.org/officeDocument/2006/relationships/slideLayout" Target="/ppt/slideLayouts/slideLayout6.xml" Id="Rabb8eb1619ac4d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ea438a2d454c2c"/>
    <p:sldLayoutId xmlns:r="http://schemas.openxmlformats.org/officeDocument/2006/relationships" id="2147483650" r:id="R5a979bd01cf64b76"/>
    <p:sldLayoutId xmlns:r="http://schemas.openxmlformats.org/officeDocument/2006/relationships" id="2147483651" r:id="R303defb05b9f42d1"/>
    <p:sldLayoutId xmlns:r="http://schemas.openxmlformats.org/officeDocument/2006/relationships" id="2147483652" r:id="Rb157cbde0fbd42ff"/>
    <p:sldLayoutId xmlns:r="http://schemas.openxmlformats.org/officeDocument/2006/relationships" id="2147483653" r:id="R90007acc8405494d"/>
    <p:sldLayoutId xmlns:r="http://schemas.openxmlformats.org/officeDocument/2006/relationships" id="2147483654" r:id="Rabb8eb1619ac4d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daab745b8e94cb3" /><Relationship Type="http://schemas.openxmlformats.org/officeDocument/2006/relationships/image" Target="/ppt/media/image.png" Id="Rae5c7e78f04940fc" /><Relationship Type="http://schemas.openxmlformats.org/officeDocument/2006/relationships/notesSlide" Target="/ppt/notesSlides/notesSlide1.xml" Id="R50c7106a2c344f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71e4f4de58e4a61" /><Relationship Type="http://schemas.openxmlformats.org/officeDocument/2006/relationships/notesSlide" Target="/ppt/notesSlides/notesSlide2.xml" Id="R807f836b2a5a48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a4d9df36f94dcc" /><Relationship Type="http://schemas.openxmlformats.org/officeDocument/2006/relationships/notesSlide" Target="/ppt/notesSlides/notesSlide3.xml" Id="R62870c6e87ee47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a551dc5bf14050" /><Relationship Type="http://schemas.openxmlformats.org/officeDocument/2006/relationships/notesSlide" Target="/ppt/notesSlides/notesSlide4.xml" Id="R013d30cbad3e4f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a1d047ccb34b39" /><Relationship Type="http://schemas.openxmlformats.org/officeDocument/2006/relationships/notesSlide" Target="/ppt/notesSlides/notesSlide5.xml" Id="Rbed4b53690c14d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da2b9ca2f914899" /><Relationship Type="http://schemas.openxmlformats.org/officeDocument/2006/relationships/notesSlide" Target="/ppt/notesSlides/notesSlide6.xml" Id="R25f651b4323347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efb5af2bb3246cf" /><Relationship Type="http://schemas.openxmlformats.org/officeDocument/2006/relationships/notesSlide" Target="/ppt/notesSlides/notesSlide7.xml" Id="Ree042a9dbd1747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749c3b2c31b4558" /><Relationship Type="http://schemas.openxmlformats.org/officeDocument/2006/relationships/notesSlide" Target="/ppt/notesSlides/notesSlide8.xml" Id="Rc805bc30fed243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625d5feefe34fb3" /><Relationship Type="http://schemas.openxmlformats.org/officeDocument/2006/relationships/notesSlide" Target="/ppt/notesSlides/notesSlide9.xml" Id="Rce093d8fd4114f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f9cddcda9e64ba0" /><Relationship Type="http://schemas.openxmlformats.org/officeDocument/2006/relationships/notesSlide" Target="/ppt/notesSlides/notesSlide10.xml" Id="R8a85c68d634343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3d7449cdd524846" /><Relationship Type="http://schemas.openxmlformats.org/officeDocument/2006/relationships/notesSlide" Target="/ppt/notesSlides/notesSlide11.xml" Id="R749c07a96e3b45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144914031f0448e" /><Relationship Type="http://schemas.openxmlformats.org/officeDocument/2006/relationships/notesSlide" Target="/ppt/notesSlides/notesSlide12.xml" Id="R959d12cdb0ef416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ae807f8d3c549d9" /><Relationship Type="http://schemas.openxmlformats.org/officeDocument/2006/relationships/notesSlide" Target="/ppt/notesSlides/notesSlide13.xml" Id="R78fcfb7fe3fe4c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b3d8b6e2b594844" /><Relationship Type="http://schemas.openxmlformats.org/officeDocument/2006/relationships/notesSlide" Target="/ppt/notesSlides/notesSlide14.xml" Id="Rfc9eff7387e840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ee79085fca74e06" /><Relationship Type="http://schemas.openxmlformats.org/officeDocument/2006/relationships/notesSlide" Target="/ppt/notesSlides/notesSlide15.xml" Id="R3a8ec1206f0a4bd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55c169ee9754d23" /><Relationship Type="http://schemas.openxmlformats.org/officeDocument/2006/relationships/notesSlide" Target="/ppt/notesSlides/notesSlide16.xml" Id="R630e8d28a68f44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9bfd0643ef444b1" /><Relationship Type="http://schemas.openxmlformats.org/officeDocument/2006/relationships/notesSlide" Target="/ppt/notesSlides/notesSlide17.xml" Id="Rcf4666cfeaa84a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25229ca188846b1" /><Relationship Type="http://schemas.openxmlformats.org/officeDocument/2006/relationships/notesSlide" Target="/ppt/notesSlides/notesSlide18.xml" Id="R95d360e93be54c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d1f2802d8684a1d" /><Relationship Type="http://schemas.openxmlformats.org/officeDocument/2006/relationships/image" Target="/ppt/media/image2.png" Id="Rde1516067f6c4773" /><Relationship Type="http://schemas.openxmlformats.org/officeDocument/2006/relationships/notesSlide" Target="/ppt/notesSlides/notesSlide19.xml" Id="R09916d34ba934e0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8884652da6943fa" /><Relationship Type="http://schemas.openxmlformats.org/officeDocument/2006/relationships/notesSlide" Target="/ppt/notesSlides/notesSlide20.xml" Id="R8da8819992ab46b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fd692de1af24a21" /><Relationship Type="http://schemas.openxmlformats.org/officeDocument/2006/relationships/notesSlide" Target="/ppt/notesSlides/notesSlide21.xml" Id="R5108c23dc08940f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bb9d6d59ac44c44" /><Relationship Type="http://schemas.openxmlformats.org/officeDocument/2006/relationships/notesSlide" Target="/ppt/notesSlides/notesSlide22.xml" Id="Re8cc83676cab4af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5a875f3da0e47c6" /><Relationship Type="http://schemas.openxmlformats.org/officeDocument/2006/relationships/notesSlide" Target="/ppt/notesSlides/notesSlide23.xml" Id="Red4df135fe6a44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14d171c0e6a407b" /><Relationship Type="http://schemas.openxmlformats.org/officeDocument/2006/relationships/notesSlide" Target="/ppt/notesSlides/notesSlide24.xml" Id="R91be59eed294418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3e28e0af72b4b80" /><Relationship Type="http://schemas.openxmlformats.org/officeDocument/2006/relationships/notesSlide" Target="/ppt/notesSlides/notesSlide25.xml" Id="R05ca3ae025d34aa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ea3547756674989" /><Relationship Type="http://schemas.openxmlformats.org/officeDocument/2006/relationships/notesSlide" Target="/ppt/notesSlides/notesSlide26.xml" Id="Ree020ed432fa4a3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c64dbc959324b80" /><Relationship Type="http://schemas.openxmlformats.org/officeDocument/2006/relationships/notesSlide" Target="/ppt/notesSlides/notesSlide27.xml" Id="Raf105bda81c6482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dc99f8cdb5d49bf" /><Relationship Type="http://schemas.openxmlformats.org/officeDocument/2006/relationships/notesSlide" Target="/ppt/notesSlides/notesSlide28.xml" Id="R7eeb3e271ace4f2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b4dd0ef443b4a1a" /><Relationship Type="http://schemas.openxmlformats.org/officeDocument/2006/relationships/notesSlide" Target="/ppt/notesSlides/notesSlide29.xml" Id="R40c6bf4094aa41d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2a58b9bb5cf42fc" /><Relationship Type="http://schemas.openxmlformats.org/officeDocument/2006/relationships/notesSlide" Target="/ppt/notesSlides/notesSlide30.xml" Id="R34645704f62e4bd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04e1d932ec4443a" /><Relationship Type="http://schemas.openxmlformats.org/officeDocument/2006/relationships/notesSlide" Target="/ppt/notesSlides/notesSlide31.xml" Id="R9838ce85994f4f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c51ef57bb774143" /><Relationship Type="http://schemas.openxmlformats.org/officeDocument/2006/relationships/notesSlide" Target="/ppt/notesSlides/notesSlide32.xml" Id="R745c29747b184cb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b8be7537e25438b" /><Relationship Type="http://schemas.openxmlformats.org/officeDocument/2006/relationships/notesSlide" Target="/ppt/notesSlides/notesSlide33.xml" Id="R426f7eb44014410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12f725441e541d2" /><Relationship Type="http://schemas.openxmlformats.org/officeDocument/2006/relationships/notesSlide" Target="/ppt/notesSlides/notesSlide34.xml" Id="Rcd58fcbe25654f3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49cb6fd88324ef6" /><Relationship Type="http://schemas.openxmlformats.org/officeDocument/2006/relationships/notesSlide" Target="/ppt/notesSlides/notesSlide35.xml" Id="Rc0120564f0f14d9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63ae6271b2e4f26" /><Relationship Type="http://schemas.openxmlformats.org/officeDocument/2006/relationships/notesSlide" Target="/ppt/notesSlides/notesSlide36.xml" Id="R3e08bdd5af44481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5752c433a2644cd" /><Relationship Type="http://schemas.openxmlformats.org/officeDocument/2006/relationships/notesSlide" Target="/ppt/notesSlides/notesSlide37.xml" Id="Rf52ca819bc124c7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fed63e9fc38457f" /><Relationship Type="http://schemas.openxmlformats.org/officeDocument/2006/relationships/notesSlide" Target="/ppt/notesSlides/notesSlide38.xml" Id="R4bce899651bd4f6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52497cc9a8d74079" /><Relationship Type="http://schemas.openxmlformats.org/officeDocument/2006/relationships/notesSlide" Target="/ppt/notesSlides/notesSlide39.xml" Id="Re2f0fc5dc6eb450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86a6d25b34b4a2e" /><Relationship Type="http://schemas.openxmlformats.org/officeDocument/2006/relationships/notesSlide" Target="/ppt/notesSlides/notesSlide40.xml" Id="Rfb00d50796a7454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789704ba11754452" /><Relationship Type="http://schemas.openxmlformats.org/officeDocument/2006/relationships/notesSlide" Target="/ppt/notesSlides/notesSlide41.xml" Id="R1bba91cb84d04f3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c4420ff44689415a" /><Relationship Type="http://schemas.openxmlformats.org/officeDocument/2006/relationships/notesSlide" Target="/ppt/notesSlides/notesSlide42.xml" Id="R5302d1b4b25e4ac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8ac333736404e93" /><Relationship Type="http://schemas.openxmlformats.org/officeDocument/2006/relationships/notesSlide" Target="/ppt/notesSlides/notesSlide43.xml" Id="R13f61637308e484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8b38429ac444bb3" /><Relationship Type="http://schemas.openxmlformats.org/officeDocument/2006/relationships/notesSlide" Target="/ppt/notesSlides/notesSlide44.xml" Id="Rc6806fa8734448d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ffe73ff6a9d4179" /><Relationship Type="http://schemas.openxmlformats.org/officeDocument/2006/relationships/notesSlide" Target="/ppt/notesSlides/notesSlide45.xml" Id="R689058d28264493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09cd910404a4c99" /><Relationship Type="http://schemas.openxmlformats.org/officeDocument/2006/relationships/image" Target="/ppt/media/image3.png" Id="Rfa5d50e82dea479e" /><Relationship Type="http://schemas.openxmlformats.org/officeDocument/2006/relationships/notesSlide" Target="/ppt/notesSlides/notesSlide46.xml" Id="R557f8257dbc2482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38e7673dda8a45b5" /><Relationship Type="http://schemas.openxmlformats.org/officeDocument/2006/relationships/notesSlide" Target="/ppt/notesSlides/notesSlide47.xml" Id="Reeb4e19f9215424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de47dd565525401d" /><Relationship Type="http://schemas.openxmlformats.org/officeDocument/2006/relationships/notesSlide" Target="/ppt/notesSlides/notesSlide48.xml" Id="Ra03dc93cb8994e8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b41abfa14e374e34" /><Relationship Type="http://schemas.openxmlformats.org/officeDocument/2006/relationships/notesSlide" Target="/ppt/notesSlides/notesSlide49.xml" Id="R032b7a087e49477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1882bc6e72c4463c" /><Relationship Type="http://schemas.openxmlformats.org/officeDocument/2006/relationships/notesSlide" Target="/ppt/notesSlides/notesSlide50.xml" Id="R49b4845013e747e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ed9208706b3f4c04" /><Relationship Type="http://schemas.openxmlformats.org/officeDocument/2006/relationships/notesSlide" Target="/ppt/notesSlides/notesSlide51.xml" Id="R86ba6dfac728422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04f5bac69592402d" /><Relationship Type="http://schemas.openxmlformats.org/officeDocument/2006/relationships/notesSlide" Target="/ppt/notesSlides/notesSlide52.xml" Id="R0e3b4cd9834f4eb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8ab9ecf21c284ae5" /><Relationship Type="http://schemas.openxmlformats.org/officeDocument/2006/relationships/notesSlide" Target="/ppt/notesSlides/notesSlide53.xml" Id="R276e3e410c5e405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da41ff450e1443dd" /><Relationship Type="http://schemas.openxmlformats.org/officeDocument/2006/relationships/notesSlide" Target="/ppt/notesSlides/notesSlide54.xml" Id="Rcb0ffdeb57a140f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e091030568c048f2" /><Relationship Type="http://schemas.openxmlformats.org/officeDocument/2006/relationships/notesSlide" Target="/ppt/notesSlides/notesSlide55.xml" Id="Raf131e0e6b9d4cd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558c0e36d31548ae" /><Relationship Type="http://schemas.openxmlformats.org/officeDocument/2006/relationships/notesSlide" Target="/ppt/notesSlides/notesSlide56.xml" Id="Ra80a6697fb5b4e7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9c57de2c9b314f5c" /><Relationship Type="http://schemas.openxmlformats.org/officeDocument/2006/relationships/notesSlide" Target="/ppt/notesSlides/notesSlide57.xml" Id="R8a2f5178699a4e39"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2834c9ceedec4eb2" /><Relationship Type="http://schemas.openxmlformats.org/officeDocument/2006/relationships/notesSlide" Target="/ppt/notesSlides/notesSlide58.xml" Id="Rb88811fba9cc40a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d335e0a7549c4534" /><Relationship Type="http://schemas.openxmlformats.org/officeDocument/2006/relationships/notesSlide" Target="/ppt/notesSlides/notesSlide59.xml" Id="R31556eaaef9845c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b33f1c6ae7874f0a" /><Relationship Type="http://schemas.openxmlformats.org/officeDocument/2006/relationships/notesSlide" Target="/ppt/notesSlides/notesSlide60.xml" Id="R51d53f2b8fbb4a4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1a8679e120f048bb" /><Relationship Type="http://schemas.openxmlformats.org/officeDocument/2006/relationships/notesSlide" Target="/ppt/notesSlides/notesSlide61.xml" Id="Rb827a83dc38a4ba5"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6cbf207e8f1e462e" /><Relationship Type="http://schemas.openxmlformats.org/officeDocument/2006/relationships/notesSlide" Target="/ppt/notesSlides/notesSlide62.xml" Id="Rd272688ff9fc4a0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0a730f6cc59b41a6" /><Relationship Type="http://schemas.openxmlformats.org/officeDocument/2006/relationships/notesSlide" Target="/ppt/notesSlides/notesSlide63.xml" Id="Rf5c58ea195114c2d"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22d75209e879494c" /><Relationship Type="http://schemas.openxmlformats.org/officeDocument/2006/relationships/notesSlide" Target="/ppt/notesSlides/notesSlide64.xml" Id="R2823a9c98ad44852"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19d2ae9232b54d04" /><Relationship Type="http://schemas.openxmlformats.org/officeDocument/2006/relationships/notesSlide" Target="/ppt/notesSlides/notesSlide65.xml" Id="Rba231589cec24001"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c37df15b601749e1" /><Relationship Type="http://schemas.openxmlformats.org/officeDocument/2006/relationships/notesSlide" Target="/ppt/notesSlides/notesSlide66.xml" Id="R50bdd0ef5edd4f50"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be7ad4f7f1704ff1" /><Relationship Type="http://schemas.openxmlformats.org/officeDocument/2006/relationships/notesSlide" Target="/ppt/notesSlides/notesSlide67.xml" Id="Ra48deb3d02694430"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0f84f0b9bd56433a" /><Relationship Type="http://schemas.openxmlformats.org/officeDocument/2006/relationships/notesSlide" Target="/ppt/notesSlides/notesSlide68.xml" Id="R4270c16bbfa445a9"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ae171cca9ac24e49" /><Relationship Type="http://schemas.openxmlformats.org/officeDocument/2006/relationships/notesSlide" Target="/ppt/notesSlides/notesSlide69.xml" Id="R07273e528e714c7f"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be14e0f28fc44daf" /><Relationship Type="http://schemas.openxmlformats.org/officeDocument/2006/relationships/notesSlide" Target="/ppt/notesSlides/notesSlide70.xml" Id="R151ccb34f9c64155"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1438c438df8e427f" /><Relationship Type="http://schemas.openxmlformats.org/officeDocument/2006/relationships/notesSlide" Target="/ppt/notesSlides/notesSlide71.xml" Id="R86e5c2b3ab7241cc"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816b20a345d04fcf" /><Relationship Type="http://schemas.openxmlformats.org/officeDocument/2006/relationships/notesSlide" Target="/ppt/notesSlides/notesSlide72.xml" Id="R8395d7ee638d4f38"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80c5c3c97ac549da" /><Relationship Type="http://schemas.openxmlformats.org/officeDocument/2006/relationships/notesSlide" Target="/ppt/notesSlides/notesSlide73.xml" Id="Rc0ac3446979349b1"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8ccd89d37c3f407a" /><Relationship Type="http://schemas.openxmlformats.org/officeDocument/2006/relationships/notesSlide" Target="/ppt/notesSlides/notesSlide74.xml" Id="R316b4d68274c4455"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e2e9528f0e3c4d6a" /><Relationship Type="http://schemas.openxmlformats.org/officeDocument/2006/relationships/notesSlide" Target="/ppt/notesSlides/notesSlide75.xml" Id="Rd234dc60afcf4c79"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601941421f5842e5" /><Relationship Type="http://schemas.openxmlformats.org/officeDocument/2006/relationships/notesSlide" Target="/ppt/notesSlides/notesSlide76.xml" Id="Re511f9ae10b34368"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21adf45e9cb64dff" /><Relationship Type="http://schemas.openxmlformats.org/officeDocument/2006/relationships/notesSlide" Target="/ppt/notesSlides/notesSlide77.xml" Id="R0d6600bfc7d14751"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991575cc66314d53" /><Relationship Type="http://schemas.openxmlformats.org/officeDocument/2006/relationships/notesSlide" Target="/ppt/notesSlides/notesSlide78.xml" Id="R322d0901da63487e"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6918b5084f544b0d" /><Relationship Type="http://schemas.openxmlformats.org/officeDocument/2006/relationships/notesSlide" Target="/ppt/notesSlides/notesSlide79.xml" Id="R5eae58530a234423"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3d9b8e91f0704ed1" /><Relationship Type="http://schemas.openxmlformats.org/officeDocument/2006/relationships/notesSlide" Target="/ppt/notesSlides/notesSlide80.xml" Id="Rd07fb2ba1a2a426c"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8b9f63d568bf4b3b" /><Relationship Type="http://schemas.openxmlformats.org/officeDocument/2006/relationships/notesSlide" Target="/ppt/notesSlides/notesSlide81.xml" Id="Ra66677af3b724db5"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716c742395ae4633" /><Relationship Type="http://schemas.openxmlformats.org/officeDocument/2006/relationships/notesSlide" Target="/ppt/notesSlides/notesSlide82.xml" Id="R60e94900ac2c4acf"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f0de0f9f11124065" /><Relationship Type="http://schemas.openxmlformats.org/officeDocument/2006/relationships/hyperlink" Target="https://docs.google.com/forms/d/e/1FAIpQLSeZymY0jwFhuwihprLiqEaq2DqmLZD3nIYht1IkN4OcPGeTFg/viewform" TargetMode="External" Id="R7de6a254c4714738" /><Relationship Type="http://schemas.openxmlformats.org/officeDocument/2006/relationships/notesSlide" Target="/ppt/notesSlides/notesSlide83.xml" Id="Rbceff1078dc346c5"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ef903d7f3d4140fa" /><Relationship Type="http://schemas.openxmlformats.org/officeDocument/2006/relationships/image" Target="/ppt/media/image4.png" Id="R9e8ae20453c342bf" /><Relationship Type="http://schemas.openxmlformats.org/officeDocument/2006/relationships/hyperlink" Target="https://forms.gle/yodGpWvz4b2GioZYA" TargetMode="External" Id="R0e405284388a41e8" /><Relationship Type="http://schemas.openxmlformats.org/officeDocument/2006/relationships/notesSlide" Target="/ppt/notesSlides/notesSlide84.xml" Id="R343adf1fdca14598"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2c8c620421294ae8" /><Relationship Type="http://schemas.openxmlformats.org/officeDocument/2006/relationships/notesSlide" Target="/ppt/notesSlides/notesSlide85.xml" Id="R2d2490b398064a8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e5c7e78f04940fc"/>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4D6AF1-8257-4C09-A59C-A993F29595BC}"/>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51B0C5-E4C6-4C66-8032-F22DD44EADC2}"/>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4</a:t>
            </a:r>
          </a:p>
        </p:txBody>
      </p:sp>
      <p:sp>
        <p:nvSpPr>
          <p:cNvPr id="4" name="">
            <a:extLst xmlns:a="http://schemas.openxmlformats.org/drawingml/2006/main">
              <a:ext uri="{FF2B5EF4-FFF2-40B4-BE49-F238E27FC236}">
                <a16:creationId xmlns:a16="http://schemas.microsoft.com/office/drawing/2014/main" id="{988D82EA-940E-4CCF-9C64-37B8F0946438}"/>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Lists loops and reading a table</a:t>
            </a:r>
          </a:p>
        </p:txBody>
      </p:sp>
      <p:sp>
        <p:nvSpPr>
          <p:cNvPr id="5" name="">
            <a:extLst xmlns:a="http://schemas.openxmlformats.org/drawingml/2006/main">
              <a:ext uri="{FF2B5EF4-FFF2-40B4-BE49-F238E27FC236}">
                <a16:creationId xmlns:a16="http://schemas.microsoft.com/office/drawing/2014/main" id="{3F9D66EC-B1BC-4399-9CDE-7A0BB305F50E}"/>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4F56B21A-F2E1-475E-AEF4-6F00850DEBD1}"/>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29 September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8682417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830A02-D3E0-4234-A582-AB37051147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E17D24-F397-4E44-AE41-FD2B4F7EC3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B0448301-CBBC-42A0-8771-BE72CB2739A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405E13D3-0EAC-47E5-BA74-2CA2669B2C46}"/>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DF7D20E-1ECB-4F48-A58E-21DA2EF940DC}"/>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A4528DE5-E133-4FCE-956D-6705243AFF7E}"/>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lists and dictionary fields.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Trace a loop, read CSV rows and calculate summaries.</a:t>
            </a:r>
          </a:p>
        </p:txBody>
      </p:sp>
      <p:sp>
        <p:nvSpPr>
          <p:cNvPr id="7" name="">
            <a:extLst xmlns:a="http://schemas.openxmlformats.org/drawingml/2006/main">
              <a:ext uri="{FF2B5EF4-FFF2-40B4-BE49-F238E27FC236}">
                <a16:creationId xmlns:a16="http://schemas.microsoft.com/office/drawing/2014/main" id="{18439477-997A-4C34-81A5-3AA3F76415FC}"/>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1BCAD9B6-C68C-417A-90BA-8F3649CAFB07}"/>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show how the total and count change for each record.</a:t>
            </a:r>
          </a:p>
        </p:txBody>
      </p:sp>
      <p:sp>
        <p:nvSpPr>
          <p:cNvPr id="9" name="">
            <a:extLst xmlns:a="http://schemas.openxmlformats.org/drawingml/2006/main">
              <a:ext uri="{FF2B5EF4-FFF2-40B4-BE49-F238E27FC236}">
                <a16:creationId xmlns:a16="http://schemas.microsoft.com/office/drawing/2014/main" id="{419B5E6C-E43A-41C5-987C-332B4987E0E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2</a:t>
            </a:r>
          </a:p>
        </p:txBody>
      </p:sp>
    </p:spTree>
    <p:extLst>
      <p:ext uri="{BB962C8B-B14F-4D97-AF65-F5344CB8AC3E}">
        <p14:creationId xmlns:p14="http://schemas.microsoft.com/office/powerpoint/2010/main" val="11288223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BC4E7B-C58F-4C14-B8CD-BD890C17B22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E6E501-AF8D-4212-B7EC-8995AFAD39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50AB42B-D64E-4205-B131-952761BE8FC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893C879F-461A-481E-97AA-351481F21672}"/>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62A82C9-7690-4358-8B00-A7EB561A29CF}"/>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Week 3 introduced values, function inputs and results, conditions and list positions.</a:t>
            </a:r>
          </a:p>
        </p:txBody>
      </p:sp>
      <p:sp>
        <p:nvSpPr>
          <p:cNvPr id="6" name="">
            <a:extLst xmlns:a="http://schemas.openxmlformats.org/drawingml/2006/main">
              <a:ext uri="{FF2B5EF4-FFF2-40B4-BE49-F238E27FC236}">
                <a16:creationId xmlns:a16="http://schemas.microsoft.com/office/drawing/2014/main" id="{99E4FC20-0DDD-4D68-8B28-2AFDD1290A9F}"/>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Now we repeat a calculation across records, then organise those records by keys.</a:t>
            </a:r>
          </a:p>
        </p:txBody>
      </p:sp>
      <p:sp>
        <p:nvSpPr>
          <p:cNvPr id="7" name="">
            <a:extLst xmlns:a="http://schemas.openxmlformats.org/drawingml/2006/main">
              <a:ext uri="{FF2B5EF4-FFF2-40B4-BE49-F238E27FC236}">
                <a16:creationId xmlns:a16="http://schemas.microsoft.com/office/drawing/2014/main" id="{03E82EB6-5D39-420C-81C2-30CFDD5B38C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3</a:t>
            </a:r>
          </a:p>
        </p:txBody>
      </p:sp>
    </p:spTree>
    <p:extLst>
      <p:ext uri="{BB962C8B-B14F-4D97-AF65-F5344CB8AC3E}">
        <p14:creationId xmlns:p14="http://schemas.microsoft.com/office/powerpoint/2010/main" val="14606367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7F3EE7-F77D-4161-A0D2-DF98669393B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826006-3D09-472D-8E87-D9579C683B2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A9C3E51-B12E-42E2-99BD-56FA0E90F0D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A20F2144-539D-4A18-8D2B-9D17EC3A8562}"/>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3DEF3E-C8B7-41F7-A6B3-3C9CD3F746DD}"/>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Sensor readings arrive as records in a CSV file.</a:t>
            </a:r>
          </a:p>
        </p:txBody>
      </p:sp>
      <p:sp>
        <p:nvSpPr>
          <p:cNvPr id="6" name="">
            <a:extLst xmlns:a="http://schemas.openxmlformats.org/drawingml/2006/main">
              <a:ext uri="{FF2B5EF4-FFF2-40B4-BE49-F238E27FC236}">
                <a16:creationId xmlns:a16="http://schemas.microsoft.com/office/drawing/2014/main" id="{200C124B-3134-4A00-BFA3-8943FB7D76AB}"/>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first learn the Python collections and loops needed to read those records and summarise them.</a:t>
            </a:r>
          </a:p>
        </p:txBody>
      </p:sp>
      <p:sp>
        <p:nvSpPr>
          <p:cNvPr id="7" name="">
            <a:extLst xmlns:a="http://schemas.openxmlformats.org/drawingml/2006/main">
              <a:ext uri="{FF2B5EF4-FFF2-40B4-BE49-F238E27FC236}">
                <a16:creationId xmlns:a16="http://schemas.microsoft.com/office/drawing/2014/main" id="{998F231F-808F-4C94-AD9D-9DAADA94D80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4</a:t>
            </a:r>
          </a:p>
        </p:txBody>
      </p:sp>
    </p:spTree>
    <p:extLst>
      <p:ext uri="{BB962C8B-B14F-4D97-AF65-F5344CB8AC3E}">
        <p14:creationId xmlns:p14="http://schemas.microsoft.com/office/powerpoint/2010/main" val="15758498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267693-ADC8-4372-879E-5C2854978C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ABD307-BE90-4111-95C2-60E860A0938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35B1F966-E7F8-4F92-AE65-E7EBCC757FB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List and index</a:t>
            </a:r>
          </a:p>
        </p:txBody>
      </p:sp>
      <p:sp>
        <p:nvSpPr>
          <p:cNvPr id="4" name="">
            <a:extLst xmlns:a="http://schemas.openxmlformats.org/drawingml/2006/main">
              <a:ext uri="{FF2B5EF4-FFF2-40B4-BE49-F238E27FC236}">
                <a16:creationId xmlns:a16="http://schemas.microsoft.com/office/drawing/2014/main" id="{4D67F5E2-F9B7-4950-8004-C19B68AF2DF3}"/>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DA26EC9-53D1-4C78-8B76-9F0B8137B60B}"/>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List and index</a:t>
            </a:r>
          </a:p>
        </p:txBody>
      </p:sp>
      <p:sp>
        <p:nvSpPr>
          <p:cNvPr id="6" name="">
            <a:extLst xmlns:a="http://schemas.openxmlformats.org/drawingml/2006/main">
              <a:ext uri="{FF2B5EF4-FFF2-40B4-BE49-F238E27FC236}">
                <a16:creationId xmlns:a16="http://schemas.microsoft.com/office/drawing/2014/main" id="{74802F7A-6B5E-4283-B7D0-599BD80964C3}"/>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list holds values in order: [2, 4, 6]. Square brackets select a position. readings[0] selects the first item, 2.</a:t>
            </a:r>
          </a:p>
        </p:txBody>
      </p:sp>
      <p:sp>
        <p:nvSpPr>
          <p:cNvPr id="7" name="">
            <a:extLst xmlns:a="http://schemas.openxmlformats.org/drawingml/2006/main">
              <a:ext uri="{FF2B5EF4-FFF2-40B4-BE49-F238E27FC236}">
                <a16:creationId xmlns:a16="http://schemas.microsoft.com/office/drawing/2014/main" id="{914992FF-80C2-404E-BCBD-95F2038A2FA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5</a:t>
            </a:r>
          </a:p>
        </p:txBody>
      </p:sp>
    </p:spTree>
    <p:extLst>
      <p:ext uri="{BB962C8B-B14F-4D97-AF65-F5344CB8AC3E}">
        <p14:creationId xmlns:p14="http://schemas.microsoft.com/office/powerpoint/2010/main" val="5477881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F20ABB3-9F1B-4078-8AC2-694B84C86E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F36F11-B396-45A6-99C3-B571AD55D08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D59F53B-3F61-4914-BCBF-20D5869E112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list position starts at zero</a:t>
            </a:r>
          </a:p>
        </p:txBody>
      </p:sp>
      <p:sp>
        <p:nvSpPr>
          <p:cNvPr id="4" name="">
            <a:extLst xmlns:a="http://schemas.openxmlformats.org/drawingml/2006/main">
              <a:ext uri="{FF2B5EF4-FFF2-40B4-BE49-F238E27FC236}">
                <a16:creationId xmlns:a16="http://schemas.microsoft.com/office/drawing/2014/main" id="{B94F3D53-12DD-41E5-A229-F1BAD1495D2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A8DDBE6-1CC2-403C-879B-A97DFB5FD66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[2, 4, 6], position 0 holds 2.</a:t>
            </a:r>
          </a:p>
        </p:txBody>
      </p:sp>
      <p:sp>
        <p:nvSpPr>
          <p:cNvPr id="6" name="">
            <a:extLst xmlns:a="http://schemas.openxmlformats.org/drawingml/2006/main">
              <a:ext uri="{FF2B5EF4-FFF2-40B4-BE49-F238E27FC236}">
                <a16:creationId xmlns:a16="http://schemas.microsoft.com/office/drawing/2014/main" id="{DED2862C-A3A1-4C0E-9309-CC25C837D7E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3ED21EA-13BA-462F-9B23-5314C5135CF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Position 1 holds 4. Position 2 holds 6.</a:t>
            </a:r>
          </a:p>
        </p:txBody>
      </p:sp>
      <p:sp>
        <p:nvSpPr>
          <p:cNvPr id="8" name="">
            <a:extLst xmlns:a="http://schemas.openxmlformats.org/drawingml/2006/main">
              <a:ext uri="{FF2B5EF4-FFF2-40B4-BE49-F238E27FC236}">
                <a16:creationId xmlns:a16="http://schemas.microsoft.com/office/drawing/2014/main" id="{9541A1E6-A941-432F-BE85-4161970AE709}"/>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0624C5D-C294-470F-809A-249ADE4E6D3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There is no position 3 in this three-item list.</a:t>
            </a:r>
          </a:p>
        </p:txBody>
      </p:sp>
      <p:sp>
        <p:nvSpPr>
          <p:cNvPr id="10" name="">
            <a:extLst xmlns:a="http://schemas.openxmlformats.org/drawingml/2006/main">
              <a:ext uri="{FF2B5EF4-FFF2-40B4-BE49-F238E27FC236}">
                <a16:creationId xmlns:a16="http://schemas.microsoft.com/office/drawing/2014/main" id="{48A93787-22FB-426B-A062-C233A82DE7D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6</a:t>
            </a:r>
          </a:p>
        </p:txBody>
      </p:sp>
    </p:spTree>
    <p:extLst>
      <p:ext uri="{BB962C8B-B14F-4D97-AF65-F5344CB8AC3E}">
        <p14:creationId xmlns:p14="http://schemas.microsoft.com/office/powerpoint/2010/main" val="20281999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1D0AE5-D285-4DB8-A6F3-58FB9DF6C92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30FDE7-B07B-48A7-9B7D-ABD9DDEF17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180E3878-1074-4828-9EF6-130980A377D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list operations</a:t>
            </a:r>
          </a:p>
        </p:txBody>
      </p:sp>
      <p:sp>
        <p:nvSpPr>
          <p:cNvPr id="4" name="">
            <a:extLst xmlns:a="http://schemas.openxmlformats.org/drawingml/2006/main">
              <a:ext uri="{FF2B5EF4-FFF2-40B4-BE49-F238E27FC236}">
                <a16:creationId xmlns:a16="http://schemas.microsoft.com/office/drawing/2014/main" id="{124EA27E-E646-4F9A-A267-7AE5ADA45281}"/>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FE56F3E-BA10-4195-8789-38B35BB8B48A}"/>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append and len</a:t>
            </a:r>
          </a:p>
        </p:txBody>
      </p:sp>
      <p:sp>
        <p:nvSpPr>
          <p:cNvPr id="6" name="">
            <a:extLst xmlns:a="http://schemas.openxmlformats.org/drawingml/2006/main">
              <a:ext uri="{FF2B5EF4-FFF2-40B4-BE49-F238E27FC236}">
                <a16:creationId xmlns:a16="http://schemas.microsoft.com/office/drawing/2014/main" id="{4AC42FDB-030D-4032-BFF1-68E63AA0C134}"/>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readings.append(8) adds 8 to the end of the list. len(readings) counts its items. The dot selects an operation belonging to that object; parentheses call it.</a:t>
            </a:r>
          </a:p>
        </p:txBody>
      </p:sp>
      <p:sp>
        <p:nvSpPr>
          <p:cNvPr id="7" name="">
            <a:extLst xmlns:a="http://schemas.openxmlformats.org/drawingml/2006/main">
              <a:ext uri="{FF2B5EF4-FFF2-40B4-BE49-F238E27FC236}">
                <a16:creationId xmlns:a16="http://schemas.microsoft.com/office/drawing/2014/main" id="{B46134A9-CC4B-4FF7-B86F-CE017AAB08FB}"/>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81F8240-6F06-4FD9-A3D1-6599D121CF67}"/>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Slice</a:t>
            </a:r>
          </a:p>
        </p:txBody>
      </p:sp>
      <p:sp>
        <p:nvSpPr>
          <p:cNvPr id="9" name="">
            <a:extLst xmlns:a="http://schemas.openxmlformats.org/drawingml/2006/main">
              <a:ext uri="{FF2B5EF4-FFF2-40B4-BE49-F238E27FC236}">
                <a16:creationId xmlns:a16="http://schemas.microsoft.com/office/drawing/2014/main" id="{FB18FD04-9F0F-449B-894B-EB9D97B0F2FB}"/>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readings[1:3] selects positions 1 and 2. The stop position 3 is excluded. A slice produces a new list; it does not remove items from the original.</a:t>
            </a:r>
          </a:p>
        </p:txBody>
      </p:sp>
      <p:sp>
        <p:nvSpPr>
          <p:cNvPr id="10" name="">
            <a:extLst xmlns:a="http://schemas.openxmlformats.org/drawingml/2006/main">
              <a:ext uri="{FF2B5EF4-FFF2-40B4-BE49-F238E27FC236}">
                <a16:creationId xmlns:a16="http://schemas.microsoft.com/office/drawing/2014/main" id="{798E1860-17CE-4C86-92D3-5697E28248C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7</a:t>
            </a:r>
          </a:p>
        </p:txBody>
      </p:sp>
    </p:spTree>
    <p:extLst>
      <p:ext uri="{BB962C8B-B14F-4D97-AF65-F5344CB8AC3E}">
        <p14:creationId xmlns:p14="http://schemas.microsoft.com/office/powerpoint/2010/main" val="11914716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B028049-23C1-4531-927F-79AB400ED2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DD393C-0F94-4D1D-8087-DF5F8FB2C53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D2D3684-204D-4D15-BFF1-9474EFC18C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list stores items in order</a:t>
            </a:r>
          </a:p>
        </p:txBody>
      </p:sp>
      <p:sp>
        <p:nvSpPr>
          <p:cNvPr id="4" name="">
            <a:extLst xmlns:a="http://schemas.openxmlformats.org/drawingml/2006/main">
              <a:ext uri="{FF2B5EF4-FFF2-40B4-BE49-F238E27FC236}">
                <a16:creationId xmlns:a16="http://schemas.microsoft.com/office/drawing/2014/main" id="{247D8CCB-859D-4C79-B296-DF0136888295}"/>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3C0A416-F930-4277-9D1A-3F54EB6D8F4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[2, 4,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readings.append(8)</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print(readings[1:3])</a:t>
            </a:r>
          </a:p>
        </p:txBody>
      </p:sp>
      <p:sp>
        <p:nvSpPr>
          <p:cNvPr id="6" name="">
            <a:extLst xmlns:a="http://schemas.openxmlformats.org/drawingml/2006/main">
              <a:ext uri="{FF2B5EF4-FFF2-40B4-BE49-F238E27FC236}">
                <a16:creationId xmlns:a16="http://schemas.microsoft.com/office/drawing/2014/main" id="{1515C76A-7758-47BF-8E94-3B52B7781700}"/>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8EE07F93-A632-48DB-A23A-0CE777271A3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1A0A4DEC-7392-423B-BA64-55EBD8324E6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append adds one item to the end of a list.</a:t>
            </a:r>
          </a:p>
        </p:txBody>
      </p:sp>
      <p:sp>
        <p:nvSpPr>
          <p:cNvPr id="9" name="">
            <a:extLst xmlns:a="http://schemas.openxmlformats.org/drawingml/2006/main">
              <a:ext uri="{FF2B5EF4-FFF2-40B4-BE49-F238E27FC236}">
                <a16:creationId xmlns:a16="http://schemas.microsoft.com/office/drawing/2014/main" id="{0B7AEA45-414C-48D2-848A-69FC56C0E46B}"/>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10" name="">
            <a:extLst xmlns:a="http://schemas.openxmlformats.org/drawingml/2006/main">
              <a:ext uri="{FF2B5EF4-FFF2-40B4-BE49-F238E27FC236}">
                <a16:creationId xmlns:a16="http://schemas.microsoft.com/office/drawing/2014/main" id="{592B156C-EBCE-4EC2-83CA-AE564B3810B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 builds a list. Positions start at zero. The slice stops before position 3.</a:t>
            </a:r>
          </a:p>
        </p:txBody>
      </p:sp>
      <p:sp>
        <p:nvSpPr>
          <p:cNvPr id="11" name="">
            <a:extLst xmlns:a="http://schemas.openxmlformats.org/drawingml/2006/main">
              <a:ext uri="{FF2B5EF4-FFF2-40B4-BE49-F238E27FC236}">
                <a16:creationId xmlns:a16="http://schemas.microsoft.com/office/drawing/2014/main" id="{E9466756-3BCB-4509-8597-1EBF3615835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8</a:t>
            </a:r>
          </a:p>
        </p:txBody>
      </p:sp>
    </p:spTree>
    <p:extLst>
      <p:ext uri="{BB962C8B-B14F-4D97-AF65-F5344CB8AC3E}">
        <p14:creationId xmlns:p14="http://schemas.microsoft.com/office/powerpoint/2010/main" val="3122775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72FDE8-90BA-49DC-BDE1-0F6A15FE6DC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9B10B9-7588-462B-8F05-07B272CCEAC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AADBC37D-E208-405F-9496-2340674D4E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list changes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Instruction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List afterwards</a:t>
                      </a:r>
                    </a:p>
                  </a:txBody>
                  <a:tcPr marL="91440" marR="91440" marT="45720" marB="45720">
                    <a:solidFill>
                      <a:srgbClr val="2E7D6F"/>
                    </a:solidFill>
                  </a:tcPr>
                </a:tc>
                <a:tc>
                  <a:txBody>
                    <a:bodyPr/>
                    <a:lstStyle/>
                    <a:p>
                      <a:r>
                        <a:rPr sz="2025" b="1">
                          <a:solidFill>
                            <a:srgbClr val="FFFFFF"/>
                          </a:solidFill>
                          <a:latin typeface="Calibri"/>
                          <a:ea typeface="Calibri"/>
                          <a:cs typeface="Calibri"/>
                        </a:rPr>
                        <a:t>Displayed output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readings = [2, 4, 6]</a:t>
                      </a:r>
                    </a:p>
                  </a:txBody>
                  <a:tcPr marL="91440" marR="91440" marT="45720" marB="45720">
                    <a:solidFill>
                      <a:srgbClr val="EEF3F6"/>
                    </a:solidFill>
                  </a:tcPr>
                </a:tc>
                <a:tc>
                  <a:txBody>
                    <a:bodyPr/>
                    <a:lstStyle/>
                    <a:p>
                      <a:r>
                        <a:rPr sz="2025" b="0">
                          <a:solidFill>
                            <a:srgbClr val="1C3144"/>
                          </a:solidFill>
                          <a:latin typeface="Calibri"/>
                          <a:ea typeface="Calibri"/>
                          <a:cs typeface="Calibri"/>
                        </a:rPr>
                        <a:t>[2, 4, 6]</a:t>
                      </a:r>
                    </a:p>
                  </a:txBody>
                  <a:tcPr marL="91440" marR="91440" marT="45720" marB="45720">
                    <a:solidFill>
                      <a:srgbClr val="EEF3F6"/>
                    </a:solidFill>
                  </a:tcPr>
                </a:tc>
                <a:tc>
                  <a:txBody>
                    <a:bodyPr/>
                    <a:lstStyle/>
                    <a:p>
                      <a:r>
                        <a:rPr sz="2025" b="0">
                          <a:solidFill>
                            <a:srgbClr val="1C3144"/>
                          </a:solidFill>
                          <a:latin typeface="Calibri"/>
                          <a:ea typeface="Calibri"/>
                          <a:cs typeface="Calibri"/>
                        </a:rPr>
                        <a:t>Nothing yet</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print(readings[0])</a:t>
                      </a:r>
                    </a:p>
                  </a:txBody>
                  <a:tcPr marL="91440" marR="91440" marT="45720" marB="45720">
                    <a:solidFill>
                      <a:srgbClr val="FFFFFF"/>
                    </a:solidFill>
                  </a:tcPr>
                </a:tc>
                <a:tc>
                  <a:txBody>
                    <a:bodyPr/>
                    <a:lstStyle/>
                    <a:p>
                      <a:r>
                        <a:rPr sz="2025" b="0">
                          <a:solidFill>
                            <a:srgbClr val="1C3144"/>
                          </a:solidFill>
                          <a:latin typeface="Calibri"/>
                          <a:ea typeface="Calibri"/>
                          <a:cs typeface="Calibri"/>
                        </a:rPr>
                        <a:t>[2, 4, 6]</a:t>
                      </a:r>
                    </a:p>
                  </a:txBody>
                  <a:tcPr marL="91440" marR="91440" marT="45720" marB="45720">
                    <a:solidFill>
                      <a:srgbClr val="FFFFFF"/>
                    </a:solidFill>
                  </a:tcPr>
                </a:tc>
                <a:tc>
                  <a:txBody>
                    <a:bodyPr/>
                    <a:lstStyle/>
                    <a:p>
                      <a:r>
                        <a:rPr sz="2025" b="0">
                          <a:solidFill>
                            <a:srgbClr val="1C3144"/>
                          </a:solidFill>
                          <a:latin typeface="Calibri"/>
                          <a:ea typeface="Calibri"/>
                          <a:cs typeface="Calibri"/>
                        </a:rPr>
                        <a:t>2</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readings.append(8)</a:t>
                      </a:r>
                    </a:p>
                  </a:txBody>
                  <a:tcPr marL="91440" marR="91440" marT="45720" marB="45720">
                    <a:solidFill>
                      <a:srgbClr val="EEF3F6"/>
                    </a:solidFill>
                  </a:tcPr>
                </a:tc>
                <a:tc>
                  <a:txBody>
                    <a:bodyPr/>
                    <a:lstStyle/>
                    <a:p>
                      <a:r>
                        <a:rPr sz="2025" b="0">
                          <a:solidFill>
                            <a:srgbClr val="1C3144"/>
                          </a:solidFill>
                          <a:latin typeface="Calibri"/>
                          <a:ea typeface="Calibri"/>
                          <a:cs typeface="Calibri"/>
                        </a:rPr>
                        <a:t>[2, 4, 6, 8]</a:t>
                      </a:r>
                    </a:p>
                  </a:txBody>
                  <a:tcPr marL="91440" marR="91440" marT="45720" marB="45720">
                    <a:solidFill>
                      <a:srgbClr val="EEF3F6"/>
                    </a:solidFill>
                  </a:tcPr>
                </a:tc>
                <a:tc>
                  <a:txBody>
                    <a:bodyPr/>
                    <a:lstStyle/>
                    <a:p>
                      <a:r>
                        <a:rPr sz="2025" b="0">
                          <a:solidFill>
                            <a:srgbClr val="1C3144"/>
                          </a:solidFill>
                          <a:latin typeface="Calibri"/>
                          <a:ea typeface="Calibri"/>
                          <a:cs typeface="Calibri"/>
                        </a:rPr>
                        <a:t>Nothing yet</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print(readings[1:3])</a:t>
                      </a:r>
                    </a:p>
                  </a:txBody>
                  <a:tcPr marL="91440" marR="91440" marT="45720" marB="45720">
                    <a:solidFill>
                      <a:srgbClr val="FFFFFF"/>
                    </a:solidFill>
                  </a:tcPr>
                </a:tc>
                <a:tc>
                  <a:txBody>
                    <a:bodyPr/>
                    <a:lstStyle/>
                    <a:p>
                      <a:r>
                        <a:rPr sz="2025" b="0">
                          <a:solidFill>
                            <a:srgbClr val="1C3144"/>
                          </a:solidFill>
                          <a:latin typeface="Calibri"/>
                          <a:ea typeface="Calibri"/>
                          <a:cs typeface="Calibri"/>
                        </a:rPr>
                        <a:t>[2, 4, 6, 8]</a:t>
                      </a:r>
                    </a:p>
                  </a:txBody>
                  <a:tcPr marL="91440" marR="91440" marT="45720" marB="45720">
                    <a:solidFill>
                      <a:srgbClr val="FFFFFF"/>
                    </a:solidFill>
                  </a:tcPr>
                </a:tc>
                <a:tc>
                  <a:txBody>
                    <a:bodyPr/>
                    <a:lstStyle/>
                    <a:p>
                      <a:r>
                        <a:rPr sz="2025" b="0">
                          <a:solidFill>
                            <a:srgbClr val="1C3144"/>
                          </a:solidFill>
                          <a:latin typeface="Calibri"/>
                          <a:ea typeface="Calibri"/>
                          <a:cs typeface="Calibri"/>
                        </a:rPr>
                        <a:t>[4, 6]</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EA99FC5-8CFD-44DF-B2E7-DDDB79FDEF9C}"/>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len reports 4 after append. A slice excludes its stop position and leaves the original list intact.</a:t>
            </a:r>
          </a:p>
        </p:txBody>
      </p:sp>
      <p:sp>
        <p:nvSpPr>
          <p:cNvPr id="6" name="">
            <a:extLst xmlns:a="http://schemas.openxmlformats.org/drawingml/2006/main">
              <a:ext uri="{FF2B5EF4-FFF2-40B4-BE49-F238E27FC236}">
                <a16:creationId xmlns:a16="http://schemas.microsoft.com/office/drawing/2014/main" id="{69AEF392-3E43-46B5-8273-808FB57CFA5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9</a:t>
            </a:r>
          </a:p>
        </p:txBody>
      </p:sp>
    </p:spTree>
    <p:extLst>
      <p:ext uri="{BB962C8B-B14F-4D97-AF65-F5344CB8AC3E}">
        <p14:creationId xmlns:p14="http://schemas.microsoft.com/office/powerpoint/2010/main" val="16081679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5B858F-C45E-4FB2-AD95-009B9B557C1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277BC0-E567-4AFB-A3A4-0E8C29F33AA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B63C132-EBA7-498B-A5C3-65FDA5866B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loop repeats instructions</a:t>
            </a:r>
          </a:p>
        </p:txBody>
      </p:sp>
      <p:sp>
        <p:nvSpPr>
          <p:cNvPr id="4" name="">
            <a:extLst xmlns:a="http://schemas.openxmlformats.org/drawingml/2006/main">
              <a:ext uri="{FF2B5EF4-FFF2-40B4-BE49-F238E27FC236}">
                <a16:creationId xmlns:a16="http://schemas.microsoft.com/office/drawing/2014/main" id="{9E7CF61E-44C4-436B-BFAD-EA6620B2A58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5293663-C866-4903-8C5A-6BC8F58152B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loop runs a block more than once. One execution of the block is called an iteration.</a:t>
            </a:r>
          </a:p>
        </p:txBody>
      </p:sp>
      <p:sp>
        <p:nvSpPr>
          <p:cNvPr id="6" name="">
            <a:extLst xmlns:a="http://schemas.openxmlformats.org/drawingml/2006/main">
              <a:ext uri="{FF2B5EF4-FFF2-40B4-BE49-F238E27FC236}">
                <a16:creationId xmlns:a16="http://schemas.microsoft.com/office/drawing/2014/main" id="{A9C18DD6-D454-42E8-89D2-C4564F4B7BB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5F5DC48-3E14-4113-95A2-7415E8498D7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takes one item at a time from a collection. Use it when each item needs the same action.</a:t>
            </a:r>
          </a:p>
        </p:txBody>
      </p:sp>
      <p:sp>
        <p:nvSpPr>
          <p:cNvPr id="8" name="">
            <a:extLst xmlns:a="http://schemas.openxmlformats.org/drawingml/2006/main">
              <a:ext uri="{FF2B5EF4-FFF2-40B4-BE49-F238E27FC236}">
                <a16:creationId xmlns:a16="http://schemas.microsoft.com/office/drawing/2014/main" id="{906C3280-B2C7-4E84-8339-32B2BB3F056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6AB479F-8885-463C-B173-25E324C03DA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while repeats while a condition stays True. Use it when a condition controls repetition. We will trace each kind before using it in a calculation.</a:t>
            </a:r>
          </a:p>
        </p:txBody>
      </p:sp>
      <p:sp>
        <p:nvSpPr>
          <p:cNvPr id="10" name="">
            <a:extLst xmlns:a="http://schemas.openxmlformats.org/drawingml/2006/main">
              <a:ext uri="{FF2B5EF4-FFF2-40B4-BE49-F238E27FC236}">
                <a16:creationId xmlns:a16="http://schemas.microsoft.com/office/drawing/2014/main" id="{984CBFEC-9E39-4DFD-8EF2-6548E39CD57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10</a:t>
            </a:r>
          </a:p>
        </p:txBody>
      </p:sp>
    </p:spTree>
    <p:extLst>
      <p:ext uri="{BB962C8B-B14F-4D97-AF65-F5344CB8AC3E}">
        <p14:creationId xmlns:p14="http://schemas.microsoft.com/office/powerpoint/2010/main" val="15711767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376806-838F-4296-BBDB-467176C1E19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320BA9-EDD8-4091-9290-8FE5BC7586A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5A64720-F236-48AF-ACBB-432204833E7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every part of a for header</a:t>
            </a:r>
          </a:p>
        </p:txBody>
      </p:sp>
      <p:sp>
        <p:nvSpPr>
          <p:cNvPr id="4" name="">
            <a:extLst xmlns:a="http://schemas.openxmlformats.org/drawingml/2006/main">
              <a:ext uri="{FF2B5EF4-FFF2-40B4-BE49-F238E27FC236}">
                <a16:creationId xmlns:a16="http://schemas.microsoft.com/office/drawing/2014/main" id="{87A15DBF-9027-4B9A-A085-D20E509AFB3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1D11E88-CCAA-4E2A-B9B3-E38116C2DAC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for reading in readings:, for introduces repetition, reading names the current item, and readings is the collection to visit.</a:t>
            </a:r>
          </a:p>
        </p:txBody>
      </p:sp>
      <p:sp>
        <p:nvSpPr>
          <p:cNvPr id="6" name="">
            <a:extLst xmlns:a="http://schemas.openxmlformats.org/drawingml/2006/main">
              <a:ext uri="{FF2B5EF4-FFF2-40B4-BE49-F238E27FC236}">
                <a16:creationId xmlns:a16="http://schemas.microsoft.com/office/drawing/2014/main" id="{962204BB-B996-4049-9E24-A2882FD57A3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0D2E43A-A818-4F00-B7E7-A7B15F5FBA9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connects the current-item name to that collection. The colon begins the loop body. Four spaces mark each instruction that repeats.</a:t>
            </a:r>
          </a:p>
        </p:txBody>
      </p:sp>
      <p:sp>
        <p:nvSpPr>
          <p:cNvPr id="8" name="">
            <a:extLst xmlns:a="http://schemas.openxmlformats.org/drawingml/2006/main">
              <a:ext uri="{FF2B5EF4-FFF2-40B4-BE49-F238E27FC236}">
                <a16:creationId xmlns:a16="http://schemas.microsoft.com/office/drawing/2014/main" id="{3FE9CE96-44AD-4A9B-BEA9-12C2BFAFB48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59E071F-1B3B-4628-95BA-695BCD74B58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is a name we choose; it is assigned the next item automatically. It is not the same name as readings. After the last item, execution leaves the loop.</a:t>
            </a:r>
          </a:p>
        </p:txBody>
      </p:sp>
      <p:sp>
        <p:nvSpPr>
          <p:cNvPr id="10" name="">
            <a:extLst xmlns:a="http://schemas.openxmlformats.org/drawingml/2006/main">
              <a:ext uri="{FF2B5EF4-FFF2-40B4-BE49-F238E27FC236}">
                <a16:creationId xmlns:a16="http://schemas.microsoft.com/office/drawing/2014/main" id="{58CA0581-813C-4C96-9C58-2DD47C59CD3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11</a:t>
            </a:r>
          </a:p>
        </p:txBody>
      </p:sp>
    </p:spTree>
    <p:extLst>
      <p:ext uri="{BB962C8B-B14F-4D97-AF65-F5344CB8AC3E}">
        <p14:creationId xmlns:p14="http://schemas.microsoft.com/office/powerpoint/2010/main" val="6278579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0B8FD5-B359-4901-871F-EF58E30E81F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6B5F1D-3103-4341-9E06-5611C595C5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6BC69B1-3C23-498D-8EB0-BCBC63B19A0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Visit each item without calculating</a:t>
            </a:r>
          </a:p>
        </p:txBody>
      </p:sp>
      <p:sp>
        <p:nvSpPr>
          <p:cNvPr id="4" name="">
            <a:extLst xmlns:a="http://schemas.openxmlformats.org/drawingml/2006/main">
              <a:ext uri="{FF2B5EF4-FFF2-40B4-BE49-F238E27FC236}">
                <a16:creationId xmlns:a16="http://schemas.microsoft.com/office/drawing/2014/main" id="{D3416EDF-60DD-459B-A89C-93BB2A7E3ABB}"/>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25CB59-9C40-4237-A463-78C6FC20B8D9}"/>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[2, 4, 6]</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print("finished")</a:t>
            </a:r>
          </a:p>
        </p:txBody>
      </p:sp>
      <p:sp>
        <p:nvSpPr>
          <p:cNvPr id="6" name="">
            <a:extLst xmlns:a="http://schemas.openxmlformats.org/drawingml/2006/main">
              <a:ext uri="{FF2B5EF4-FFF2-40B4-BE49-F238E27FC236}">
                <a16:creationId xmlns:a16="http://schemas.microsoft.com/office/drawing/2014/main" id="{38680C16-9A62-48FA-B869-DDD038957CB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B2F6C16-4120-4616-B41D-3018118A50C0}"/>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body runs once for each item.</a:t>
            </a:r>
          </a:p>
        </p:txBody>
      </p:sp>
      <p:sp>
        <p:nvSpPr>
          <p:cNvPr id="8" name="">
            <a:extLst xmlns:a="http://schemas.openxmlformats.org/drawingml/2006/main">
              <a:ext uri="{FF2B5EF4-FFF2-40B4-BE49-F238E27FC236}">
                <a16:creationId xmlns:a16="http://schemas.microsoft.com/office/drawing/2014/main" id="{D498CDB0-6604-4CE9-9483-386297CA6FF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final line is outside the loop, so it runs once.</a:t>
            </a:r>
          </a:p>
        </p:txBody>
      </p:sp>
      <p:sp>
        <p:nvSpPr>
          <p:cNvPr id="9" name="">
            <a:extLst xmlns:a="http://schemas.openxmlformats.org/drawingml/2006/main">
              <a:ext uri="{FF2B5EF4-FFF2-40B4-BE49-F238E27FC236}">
                <a16:creationId xmlns:a16="http://schemas.microsoft.com/office/drawing/2014/main" id="{BF51FEF4-7300-453D-B80A-91FB912BB97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 4; 6; finished</a:t>
            </a:r>
          </a:p>
        </p:txBody>
      </p:sp>
      <p:sp>
        <p:nvSpPr>
          <p:cNvPr id="10" name="">
            <a:extLst xmlns:a="http://schemas.openxmlformats.org/drawingml/2006/main">
              <a:ext uri="{FF2B5EF4-FFF2-40B4-BE49-F238E27FC236}">
                <a16:creationId xmlns:a16="http://schemas.microsoft.com/office/drawing/2014/main" id="{D6A319B8-ABAE-4490-AE64-D39F13CA53C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12</a:t>
            </a:r>
          </a:p>
        </p:txBody>
      </p:sp>
    </p:spTree>
    <p:extLst>
      <p:ext uri="{BB962C8B-B14F-4D97-AF65-F5344CB8AC3E}">
        <p14:creationId xmlns:p14="http://schemas.microsoft.com/office/powerpoint/2010/main" val="181695568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4483BE-DFDC-46E9-B6EE-CC13323302B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C4154B-E10B-466C-8705-E89D64BF57A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97DF8A7F-21D9-409F-96FC-680D0D31D0D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for loop item by item</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Step</a:t>
                      </a:r>
                    </a:p>
                  </a:txBody>
                  <a:tcPr marL="91440" marR="91440" marT="45720" marB="45720">
                    <a:solidFill>
                      <a:srgbClr val="2E7D6F"/>
                    </a:solidFill>
                  </a:tcPr>
                </a:tc>
                <a:tc>
                  <a:txBody>
                    <a:bodyPr/>
                    <a:lstStyle/>
                    <a:p>
                      <a:r>
                        <a:rPr sz="2025" b="1">
                          <a:solidFill>
                            <a:srgbClr val="FFFFFF"/>
                          </a:solidFill>
                          <a:latin typeface="Calibri"/>
                          <a:ea typeface="Calibri"/>
                          <a:cs typeface="Calibri"/>
                        </a:rPr>
                        <a:t>Current reading</a:t>
                      </a:r>
                    </a:p>
                  </a:txBody>
                  <a:tcPr marL="91440" marR="91440" marT="45720" marB="45720">
                    <a:solidFill>
                      <a:srgbClr val="2E7D6F"/>
                    </a:solidFill>
                  </a:tcPr>
                </a:tc>
                <a:tc>
                  <a:txBody>
                    <a:bodyPr/>
                    <a:lstStyle/>
                    <a:p>
                      <a:r>
                        <a:rPr sz="2025" b="1">
                          <a:solidFill>
                            <a:srgbClr val="FFFFFF"/>
                          </a:solidFill>
                          <a:latin typeface="Calibri"/>
                          <a:ea typeface="Calibri"/>
                          <a:cs typeface="Calibri"/>
                        </a:rPr>
                        <a:t>Action</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First item</a:t>
                      </a:r>
                    </a:p>
                  </a:txBody>
                  <a:tcPr marL="91440" marR="91440" marT="45720" marB="45720">
                    <a:solidFill>
                      <a:srgbClr val="EEF3F6"/>
                    </a:solidFill>
                  </a:tcPr>
                </a:tc>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2</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Second item</a:t>
                      </a:r>
                    </a:p>
                  </a:txBody>
                  <a:tcPr marL="91440" marR="91440" marT="45720" marB="45720">
                    <a:solidFill>
                      <a:srgbClr val="FFFFFF"/>
                    </a:solidFill>
                  </a:tcPr>
                </a:tc>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c>
                  <a:txBody>
                    <a:bodyPr/>
                    <a:lstStyle/>
                    <a:p>
                      <a:r>
                        <a:rPr sz="2025" b="0">
                          <a:solidFill>
                            <a:srgbClr val="1C3144"/>
                          </a:solidFill>
                          <a:latin typeface="Calibri"/>
                          <a:ea typeface="Calibri"/>
                          <a:cs typeface="Calibri"/>
                        </a:rPr>
                        <a:t>Print 4</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Third item</a:t>
                      </a:r>
                    </a:p>
                  </a:txBody>
                  <a:tcPr marL="91440" marR="91440" marT="45720" marB="45720">
                    <a:solidFill>
                      <a:srgbClr val="EEF3F6"/>
                    </a:solidFill>
                  </a:tcPr>
                </a:tc>
                <a:tc>
                  <a:txBody>
                    <a:bodyPr/>
                    <a:lstStyle/>
                    <a:p>
                      <a:r>
                        <a:rPr sz="2025" b="0">
                          <a:solidFill>
                            <a:srgbClr val="1C3144"/>
                          </a:solidFill>
                          <a:latin typeface="Calibri"/>
                          <a:ea typeface="Calibri"/>
                          <a:cs typeface="Calibri"/>
                        </a:rPr>
                        <a:t>6</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6</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No items left</a:t>
                      </a:r>
                    </a:p>
                  </a:txBody>
                  <a:tcPr marL="91440" marR="91440" marT="45720" marB="45720">
                    <a:solidFill>
                      <a:srgbClr val="FFFFFF"/>
                    </a:solidFill>
                  </a:tcPr>
                </a:tc>
                <a:tc>
                  <a:txBody>
                    <a:bodyPr/>
                    <a:lstStyle/>
                    <a:p>
                      <a:r>
                        <a:rPr sz="2025" b="0">
                          <a:solidFill>
                            <a:srgbClr val="1C3144"/>
                          </a:solidFill>
                          <a:latin typeface="Calibri"/>
                          <a:ea typeface="Calibri"/>
                          <a:cs typeface="Calibri"/>
                        </a:rPr>
                        <a:t>No new item</a:t>
                      </a:r>
                    </a:p>
                  </a:txBody>
                  <a:tcPr marL="91440" marR="91440" marT="45720" marB="45720">
                    <a:solidFill>
                      <a:srgbClr val="FFFFFF"/>
                    </a:solidFill>
                  </a:tcPr>
                </a:tc>
                <a:tc>
                  <a:txBody>
                    <a:bodyPr/>
                    <a:lstStyle/>
                    <a:p>
                      <a:r>
                        <a:rPr sz="2025" b="0">
                          <a:solidFill>
                            <a:srgbClr val="1C3144"/>
                          </a:solidFill>
                          <a:latin typeface="Calibri"/>
                          <a:ea typeface="Calibri"/>
                          <a:cs typeface="Calibri"/>
                        </a:rPr>
                        <a:t>Leave loop; print finished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5395CF9-F32E-456A-9E2A-56DFD5264A3D}"/>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An empty list runs the body zero times. It still reaches the outside line.</a:t>
            </a:r>
          </a:p>
        </p:txBody>
      </p:sp>
      <p:sp>
        <p:nvSpPr>
          <p:cNvPr id="6" name="">
            <a:extLst xmlns:a="http://schemas.openxmlformats.org/drawingml/2006/main">
              <a:ext uri="{FF2B5EF4-FFF2-40B4-BE49-F238E27FC236}">
                <a16:creationId xmlns:a16="http://schemas.microsoft.com/office/drawing/2014/main" id="{ADBA769F-7A2A-4C54-B94A-094786BC46E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13</a:t>
            </a:r>
          </a:p>
        </p:txBody>
      </p:sp>
    </p:spTree>
    <p:extLst>
      <p:ext uri="{BB962C8B-B14F-4D97-AF65-F5344CB8AC3E}">
        <p14:creationId xmlns:p14="http://schemas.microsoft.com/office/powerpoint/2010/main" val="96062563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1837F6A-68CA-4370-823C-8B8D9338F8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98E8A8-F710-4E02-A593-DFA5E6B8BE8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9B00E37-E7F4-491E-A4AF-C2C835C831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Updating a counter inside a loop</a:t>
            </a:r>
          </a:p>
        </p:txBody>
      </p:sp>
      <p:sp>
        <p:nvSpPr>
          <p:cNvPr id="4" name="">
            <a:extLst xmlns:a="http://schemas.openxmlformats.org/drawingml/2006/main">
              <a:ext uri="{FF2B5EF4-FFF2-40B4-BE49-F238E27FC236}">
                <a16:creationId xmlns:a16="http://schemas.microsoft.com/office/drawing/2014/main" id="{C6CEFF70-FDC4-4971-ADE7-A3C3D634E79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DB2081C-233C-4285-9181-58C9E6D7D77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counter records how many times an event happens. Set count = 0 before the loop, then count = count + 1 inside it.</a:t>
            </a:r>
          </a:p>
        </p:txBody>
      </p:sp>
      <p:sp>
        <p:nvSpPr>
          <p:cNvPr id="6" name="">
            <a:extLst xmlns:a="http://schemas.openxmlformats.org/drawingml/2006/main">
              <a:ext uri="{FF2B5EF4-FFF2-40B4-BE49-F238E27FC236}">
                <a16:creationId xmlns:a16="http://schemas.microsoft.com/office/drawing/2014/main" id="{0281A1D9-F205-45B1-B713-541E52C11C8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8189417-7B8F-4673-A072-F9D8E457BD4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 += 1 is a shorter spelling for that numeric update. Similarly, total += reading means total = total + reading.</a:t>
            </a:r>
          </a:p>
        </p:txBody>
      </p:sp>
      <p:sp>
        <p:nvSpPr>
          <p:cNvPr id="8" name="">
            <a:extLst xmlns:a="http://schemas.openxmlformats.org/drawingml/2006/main">
              <a:ext uri="{FF2B5EF4-FFF2-40B4-BE49-F238E27FC236}">
                <a16:creationId xmlns:a16="http://schemas.microsoft.com/office/drawing/2014/main" id="{4A86540A-5461-4C4A-9387-4D24B117F02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C8A1FA8-858E-496D-9975-F37EBF8E1E4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initial value belongs outside the loop. Resetting count to zero inside every iteration loses the earlier count.</a:t>
            </a:r>
          </a:p>
        </p:txBody>
      </p:sp>
      <p:sp>
        <p:nvSpPr>
          <p:cNvPr id="10" name="">
            <a:extLst xmlns:a="http://schemas.openxmlformats.org/drawingml/2006/main">
              <a:ext uri="{FF2B5EF4-FFF2-40B4-BE49-F238E27FC236}">
                <a16:creationId xmlns:a16="http://schemas.microsoft.com/office/drawing/2014/main" id="{F5CA2481-07C9-409B-94CB-581F7202BC9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14</a:t>
            </a:r>
          </a:p>
        </p:txBody>
      </p:sp>
    </p:spTree>
    <p:extLst>
      <p:ext uri="{BB962C8B-B14F-4D97-AF65-F5344CB8AC3E}">
        <p14:creationId xmlns:p14="http://schemas.microsoft.com/office/powerpoint/2010/main" val="212721442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1EF87D-AE09-4B84-B80B-9D7B11176E1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467531-12C9-4987-85F5-AB798A4A4E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A885C59-1501-4080-BB14-35F01F6CB5D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the visited items</a:t>
            </a:r>
          </a:p>
        </p:txBody>
      </p:sp>
      <p:sp>
        <p:nvSpPr>
          <p:cNvPr id="4" name="">
            <a:extLst xmlns:a="http://schemas.openxmlformats.org/drawingml/2006/main">
              <a:ext uri="{FF2B5EF4-FFF2-40B4-BE49-F238E27FC236}">
                <a16:creationId xmlns:a16="http://schemas.microsoft.com/office/drawing/2014/main" id="{705A058E-174A-4C12-83BB-1E67D4BDA1F4}"/>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BE0462F-775D-4104-8923-30D02118B5E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0</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[2, 4,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count += 1</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print(count)</a:t>
            </a:r>
          </a:p>
        </p:txBody>
      </p:sp>
      <p:sp>
        <p:nvSpPr>
          <p:cNvPr id="6" name="">
            <a:extLst xmlns:a="http://schemas.openxmlformats.org/drawingml/2006/main">
              <a:ext uri="{FF2B5EF4-FFF2-40B4-BE49-F238E27FC236}">
                <a16:creationId xmlns:a16="http://schemas.microsoft.com/office/drawing/2014/main" id="{BEE49979-BFD2-46EA-A298-D7901D3AD34C}"/>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F0153E1-3DBF-4139-BCA8-1AF8EEBF7FA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Updates: 0 to 1, 1 to 2, then 2 to 3.</a:t>
            </a:r>
          </a:p>
        </p:txBody>
      </p:sp>
      <p:sp>
        <p:nvSpPr>
          <p:cNvPr id="8" name="">
            <a:extLst xmlns:a="http://schemas.openxmlformats.org/drawingml/2006/main">
              <a:ext uri="{FF2B5EF4-FFF2-40B4-BE49-F238E27FC236}">
                <a16:creationId xmlns:a16="http://schemas.microsoft.com/office/drawing/2014/main" id="{53B687C1-4276-4F37-A5EE-42619D73824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3</a:t>
            </a:r>
          </a:p>
        </p:txBody>
      </p:sp>
      <p:sp>
        <p:nvSpPr>
          <p:cNvPr id="9" name="">
            <a:extLst xmlns:a="http://schemas.openxmlformats.org/drawingml/2006/main">
              <a:ext uri="{FF2B5EF4-FFF2-40B4-BE49-F238E27FC236}">
                <a16:creationId xmlns:a16="http://schemas.microsoft.com/office/drawing/2014/main" id="{894041EA-47B2-49C9-B1C5-D29DFF1833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15</a:t>
            </a:r>
          </a:p>
        </p:txBody>
      </p:sp>
    </p:spTree>
    <p:extLst>
      <p:ext uri="{BB962C8B-B14F-4D97-AF65-F5344CB8AC3E}">
        <p14:creationId xmlns:p14="http://schemas.microsoft.com/office/powerpoint/2010/main" val="5421961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F5B97B-2FB5-494A-96C5-F6B9C2E241F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33F456-7C17-4912-9806-24009B7A059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CB0D3910-39FA-4E86-B6E2-4B5A69924F7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Accumulator</a:t>
            </a:r>
          </a:p>
        </p:txBody>
      </p:sp>
      <p:sp>
        <p:nvSpPr>
          <p:cNvPr id="4" name="">
            <a:extLst xmlns:a="http://schemas.openxmlformats.org/drawingml/2006/main">
              <a:ext uri="{FF2B5EF4-FFF2-40B4-BE49-F238E27FC236}">
                <a16:creationId xmlns:a16="http://schemas.microsoft.com/office/drawing/2014/main" id="{5F047C63-E48F-4FAD-9D58-53931166D005}"/>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1A8C1AD-83DE-46FA-84BD-ADDA0C44005C}"/>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Accumulator</a:t>
            </a:r>
          </a:p>
        </p:txBody>
      </p:sp>
      <p:sp>
        <p:nvSpPr>
          <p:cNvPr id="6" name="">
            <a:extLst xmlns:a="http://schemas.openxmlformats.org/drawingml/2006/main">
              <a:ext uri="{FF2B5EF4-FFF2-40B4-BE49-F238E27FC236}">
                <a16:creationId xmlns:a16="http://schemas.microsoft.com/office/drawing/2014/main" id="{35D274BE-28CC-42A3-A3D8-7F0C4F314856}"/>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running total. Set it to zero before the loop, add inside the loop, and read the final total afterward.</a:t>
            </a:r>
          </a:p>
        </p:txBody>
      </p:sp>
      <p:sp>
        <p:nvSpPr>
          <p:cNvPr id="7" name="">
            <a:extLst xmlns:a="http://schemas.openxmlformats.org/drawingml/2006/main">
              <a:ext uri="{FF2B5EF4-FFF2-40B4-BE49-F238E27FC236}">
                <a16:creationId xmlns:a16="http://schemas.microsoft.com/office/drawing/2014/main" id="{9F417088-B2C6-4194-A912-78CBBFB8C2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16</a:t>
            </a:r>
          </a:p>
        </p:txBody>
      </p:sp>
    </p:spTree>
    <p:extLst>
      <p:ext uri="{BB962C8B-B14F-4D97-AF65-F5344CB8AC3E}">
        <p14:creationId xmlns:p14="http://schemas.microsoft.com/office/powerpoint/2010/main" val="13216330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B1E6CB-B1FB-4977-98F5-CF528D60DDF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E68FC6-A4D7-4C01-8567-2981CBC63C3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63EBA68-9278-4E66-AA51-C7B3C1F8F6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loop repeats an indented block</a:t>
            </a:r>
          </a:p>
        </p:txBody>
      </p:sp>
      <p:sp>
        <p:nvSpPr>
          <p:cNvPr id="4" name="">
            <a:extLst xmlns:a="http://schemas.openxmlformats.org/drawingml/2006/main">
              <a:ext uri="{FF2B5EF4-FFF2-40B4-BE49-F238E27FC236}">
                <a16:creationId xmlns:a16="http://schemas.microsoft.com/office/drawing/2014/main" id="{32D02AF5-7FBE-4135-86F9-9DFFA6BD11F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DCF8C18-796E-4D27-B198-A06EC0F8B2E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reading in readings: takes one item at a time.</a:t>
            </a:r>
          </a:p>
        </p:txBody>
      </p:sp>
      <p:sp>
        <p:nvSpPr>
          <p:cNvPr id="6" name="">
            <a:extLst xmlns:a="http://schemas.openxmlformats.org/drawingml/2006/main">
              <a:ext uri="{FF2B5EF4-FFF2-40B4-BE49-F238E27FC236}">
                <a16:creationId xmlns:a16="http://schemas.microsoft.com/office/drawing/2014/main" id="{2F12F17B-1501-46F8-876F-BB605CAA5A9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7B364FB-BBE7-467A-B17D-0C24576DDD8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colon starts the block. Four spaces show which lines repeat.</a:t>
            </a:r>
          </a:p>
        </p:txBody>
      </p:sp>
      <p:sp>
        <p:nvSpPr>
          <p:cNvPr id="8" name="">
            <a:extLst xmlns:a="http://schemas.openxmlformats.org/drawingml/2006/main">
              <a:ext uri="{FF2B5EF4-FFF2-40B4-BE49-F238E27FC236}">
                <a16:creationId xmlns:a16="http://schemas.microsoft.com/office/drawing/2014/main" id="{3685AED4-3DA6-40C7-A503-27DE1CFCCE8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98A1195-A9C0-4F02-9EBE-FA845FA6725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running total must start at zero before the loop.</a:t>
            </a:r>
          </a:p>
        </p:txBody>
      </p:sp>
      <p:sp>
        <p:nvSpPr>
          <p:cNvPr id="10" name="">
            <a:extLst xmlns:a="http://schemas.openxmlformats.org/drawingml/2006/main">
              <a:ext uri="{FF2B5EF4-FFF2-40B4-BE49-F238E27FC236}">
                <a16:creationId xmlns:a16="http://schemas.microsoft.com/office/drawing/2014/main" id="{2913DE21-F38B-4E3A-A268-D52839F4E9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17</a:t>
            </a:r>
          </a:p>
        </p:txBody>
      </p:sp>
    </p:spTree>
    <p:extLst>
      <p:ext uri="{BB962C8B-B14F-4D97-AF65-F5344CB8AC3E}">
        <p14:creationId xmlns:p14="http://schemas.microsoft.com/office/powerpoint/2010/main" val="5399092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D2657F1-86AB-47EC-B6D5-DE9DDAAB8C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9CDA4D-6A0D-4E26-9333-E7BFDF003CF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92E7F4C-792D-48ED-967A-8E820510E53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mean uses a total and a count</a:t>
            </a:r>
          </a:p>
        </p:txBody>
      </p:sp>
      <p:sp>
        <p:nvSpPr>
          <p:cNvPr id="4" name="">
            <a:extLst xmlns:a="http://schemas.openxmlformats.org/drawingml/2006/main">
              <a:ext uri="{FF2B5EF4-FFF2-40B4-BE49-F238E27FC236}">
                <a16:creationId xmlns:a16="http://schemas.microsoft.com/office/drawing/2014/main" id="{14F09B70-C974-438D-A387-319134D21A6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05B859B-347C-477A-A4D9-E0AD006871C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Start the total at 0. Add 2, then 4, then 6.</a:t>
            </a:r>
          </a:p>
        </p:txBody>
      </p:sp>
      <p:sp>
        <p:nvSpPr>
          <p:cNvPr id="6" name="">
            <a:extLst xmlns:a="http://schemas.openxmlformats.org/drawingml/2006/main">
              <a:ext uri="{FF2B5EF4-FFF2-40B4-BE49-F238E27FC236}">
                <a16:creationId xmlns:a16="http://schemas.microsoft.com/office/drawing/2014/main" id="{63F8C2BF-9879-4EAF-AA5D-D4D9760AC2D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00AAF12-9A14-4F04-838A-704812315CD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final total is 12. The count is 3.</a:t>
            </a:r>
          </a:p>
        </p:txBody>
      </p:sp>
      <p:sp>
        <p:nvSpPr>
          <p:cNvPr id="8" name="">
            <a:extLst xmlns:a="http://schemas.openxmlformats.org/drawingml/2006/main">
              <a:ext uri="{FF2B5EF4-FFF2-40B4-BE49-F238E27FC236}">
                <a16:creationId xmlns:a16="http://schemas.microsoft.com/office/drawing/2014/main" id="{91230893-95AF-4EEE-A2AB-44277333510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4FDCF45-39C4-47C0-AFC6-39F51D722BA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12 / 3 gives the mean 4. An empty list needs a separate rule.</a:t>
            </a:r>
          </a:p>
        </p:txBody>
      </p:sp>
      <p:sp>
        <p:nvSpPr>
          <p:cNvPr id="10" name="">
            <a:extLst xmlns:a="http://schemas.openxmlformats.org/drawingml/2006/main">
              <a:ext uri="{FF2B5EF4-FFF2-40B4-BE49-F238E27FC236}">
                <a16:creationId xmlns:a16="http://schemas.microsoft.com/office/drawing/2014/main" id="{2AB9406D-B90D-44A8-AD0F-26036B8DB26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18</a:t>
            </a:r>
          </a:p>
        </p:txBody>
      </p:sp>
    </p:spTree>
    <p:extLst>
      <p:ext uri="{BB962C8B-B14F-4D97-AF65-F5344CB8AC3E}">
        <p14:creationId xmlns:p14="http://schemas.microsoft.com/office/powerpoint/2010/main" val="45097955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FD0959-3730-453E-AA7E-7913B615E929}"/>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4DB2E4-304F-44FD-A289-9F9F8A8EF605}"/>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loop changes the running total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e1516067f6c4773"/>
          <a:stretch xmlns:a="http://schemas.openxmlformats.org/drawingml/2006/main"/>
        </p:blipFill>
        <p:spPr>
          <a:xfrm xmlns:a="http://schemas.openxmlformats.org/drawingml/2006/main">
            <a:off x="413728" y="1057275"/>
            <a:ext cx="11364544"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8797CF2-B3FF-4DA1-94A0-CE87F9FF7EE8}"/>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3ACEF3-CCB0-4320-AC32-E5B37637A70D}"/>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This illustration uses six separate readings. Next we trace the smaller list [2, 4, 6] using the same running-total rule.</a:t>
            </a:r>
          </a:p>
        </p:txBody>
      </p:sp>
      <p:sp>
        <p:nvSpPr>
          <p:cNvPr id="6" name="">
            <a:extLst xmlns:a="http://schemas.openxmlformats.org/drawingml/2006/main">
              <a:ext uri="{FF2B5EF4-FFF2-40B4-BE49-F238E27FC236}">
                <a16:creationId xmlns:a16="http://schemas.microsoft.com/office/drawing/2014/main" id="{EFF24F71-17AD-4148-875D-04717FF963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19</a:t>
            </a:r>
          </a:p>
        </p:txBody>
      </p:sp>
    </p:spTree>
    <p:extLst>
      <p:ext uri="{BB962C8B-B14F-4D97-AF65-F5344CB8AC3E}">
        <p14:creationId xmlns:p14="http://schemas.microsoft.com/office/powerpoint/2010/main" val="145657288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B0142E-60ED-46A7-B469-43FA375EEE0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6D5223-C03B-41FA-AA98-6EB8020E16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F3396BF5-7B78-4FAE-8159-34398854F11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Tracing the loop</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Step</a:t>
                      </a:r>
                    </a:p>
                  </a:txBody>
                  <a:tcPr marL="91440" marR="91440" marT="45720" marB="45720">
                    <a:solidFill>
                      <a:srgbClr val="2E7D6F"/>
                    </a:solidFill>
                  </a:tcPr>
                </a:tc>
                <a:tc>
                  <a:txBody>
                    <a:bodyPr/>
                    <a:lstStyle/>
                    <a:p>
                      <a:r>
                        <a:rPr sz="2025" b="1">
                          <a:solidFill>
                            <a:srgbClr val="FFFFFF"/>
                          </a:solidFill>
                          <a:latin typeface="Calibri"/>
                          <a:ea typeface="Calibri"/>
                          <a:cs typeface="Calibri"/>
                        </a:rPr>
                        <a:t>reading</a:t>
                      </a:r>
                    </a:p>
                  </a:txBody>
                  <a:tcPr marL="91440" marR="91440" marT="45720" marB="45720">
                    <a:solidFill>
                      <a:srgbClr val="2E7D6F"/>
                    </a:solidFill>
                  </a:tcPr>
                </a:tc>
                <a:tc>
                  <a:txBody>
                    <a:bodyPr/>
                    <a:lstStyle/>
                    <a:p>
                      <a:r>
                        <a:rPr sz="2025" b="1">
                          <a:solidFill>
                            <a:srgbClr val="FFFFFF"/>
                          </a:solidFill>
                          <a:latin typeface="Calibri"/>
                          <a:ea typeface="Calibri"/>
                          <a:cs typeface="Calibri"/>
                        </a:rPr>
                        <a:t>total after addition</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Before loop</a:t>
                      </a:r>
                    </a:p>
                  </a:txBody>
                  <a:tcPr marL="91440" marR="91440" marT="45720" marB="45720">
                    <a:solidFill>
                      <a:srgbClr val="EEF3F6"/>
                    </a:solidFill>
                  </a:tcPr>
                </a:tc>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0</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First</a:t>
                      </a:r>
                    </a:p>
                  </a:txBody>
                  <a:tcPr marL="91440" marR="91440" marT="45720" marB="45720">
                    <a:solidFill>
                      <a:srgbClr val="FFFFFF"/>
                    </a:solidFill>
                  </a:tcPr>
                </a:tc>
                <a:tc>
                  <a:txBody>
                    <a:bodyPr/>
                    <a:lstStyle/>
                    <a:p>
                      <a:r>
                        <a:rPr sz="2025" b="0">
                          <a:solidFill>
                            <a:srgbClr val="1C3144"/>
                          </a:solidFill>
                          <a:latin typeface="Calibri"/>
                          <a:ea typeface="Calibri"/>
                          <a:cs typeface="Calibri"/>
                        </a:rPr>
                        <a:t>2</a:t>
                      </a:r>
                    </a:p>
                  </a:txBody>
                  <a:tcPr marL="91440" marR="91440" marT="45720" marB="45720">
                    <a:solidFill>
                      <a:srgbClr val="FFFFFF"/>
                    </a:solidFill>
                  </a:tcPr>
                </a:tc>
                <a:tc>
                  <a:txBody>
                    <a:bodyPr/>
                    <a:lstStyle/>
                    <a:p>
                      <a:r>
                        <a:rPr sz="2025" b="0">
                          <a:solidFill>
                            <a:srgbClr val="1C3144"/>
                          </a:solidFill>
                          <a:latin typeface="Calibri"/>
                          <a:ea typeface="Calibri"/>
                          <a:cs typeface="Calibri"/>
                        </a:rPr>
                        <a:t>2</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Second</a:t>
                      </a:r>
                    </a:p>
                  </a:txBody>
                  <a:tcPr marL="91440" marR="91440" marT="45720" marB="45720">
                    <a:solidFill>
                      <a:srgbClr val="EEF3F6"/>
                    </a:solidFill>
                  </a:tcPr>
                </a:tc>
                <a:tc>
                  <a:txBody>
                    <a:bodyPr/>
                    <a:lstStyle/>
                    <a:p>
                      <a:r>
                        <a:rPr sz="2025" b="0">
                          <a:solidFill>
                            <a:srgbClr val="1C3144"/>
                          </a:solidFill>
                          <a:latin typeface="Calibri"/>
                          <a:ea typeface="Calibri"/>
                          <a:cs typeface="Calibri"/>
                        </a:rPr>
                        <a:t>4</a:t>
                      </a:r>
                    </a:p>
                  </a:txBody>
                  <a:tcPr marL="91440" marR="91440" marT="45720" marB="45720">
                    <a:solidFill>
                      <a:srgbClr val="EEF3F6"/>
                    </a:solidFill>
                  </a:tcPr>
                </a:tc>
                <a:tc>
                  <a:txBody>
                    <a:bodyPr/>
                    <a:lstStyle/>
                    <a:p>
                      <a:r>
                        <a:rPr sz="2025" b="0">
                          <a:solidFill>
                            <a:srgbClr val="1C3144"/>
                          </a:solidFill>
                          <a:latin typeface="Calibri"/>
                          <a:ea typeface="Calibri"/>
                          <a:cs typeface="Calibri"/>
                        </a:rPr>
                        <a:t>6</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Third</a:t>
                      </a:r>
                    </a:p>
                  </a:txBody>
                  <a:tcPr marL="91440" marR="91440" marT="45720" marB="45720">
                    <a:solidFill>
                      <a:srgbClr val="FFFFFF"/>
                    </a:solidFill>
                  </a:tcPr>
                </a:tc>
                <a:tc>
                  <a:txBody>
                    <a:bodyPr/>
                    <a:lstStyle/>
                    <a:p>
                      <a:r>
                        <a:rPr sz="2025" b="0">
                          <a:solidFill>
                            <a:srgbClr val="1C3144"/>
                          </a:solidFill>
                          <a:latin typeface="Calibri"/>
                          <a:ea typeface="Calibri"/>
                          <a:cs typeface="Calibri"/>
                        </a:rPr>
                        <a:t>6</a:t>
                      </a:r>
                    </a:p>
                  </a:txBody>
                  <a:tcPr marL="91440" marR="91440" marT="45720" marB="45720">
                    <a:solidFill>
                      <a:srgbClr val="FFFFFF"/>
                    </a:solidFill>
                  </a:tcPr>
                </a:tc>
                <a:tc>
                  <a:txBody>
                    <a:bodyPr/>
                    <a:lstStyle/>
                    <a:p>
                      <a:r>
                        <a:rPr sz="2025" b="0">
                          <a:solidFill>
                            <a:srgbClr val="1C3144"/>
                          </a:solidFill>
                          <a:latin typeface="Calibri"/>
                          <a:ea typeface="Calibri"/>
                          <a:cs typeface="Calibri"/>
                        </a:rPr>
                        <a:t>12</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60B0312-5AD3-445D-A54E-04B984522FB4}"/>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There are three readings.</a:t>
            </a:r>
          </a:p>
        </p:txBody>
      </p:sp>
      <p:sp>
        <p:nvSpPr>
          <p:cNvPr id="6" name="">
            <a:extLst xmlns:a="http://schemas.openxmlformats.org/drawingml/2006/main">
              <a:ext uri="{FF2B5EF4-FFF2-40B4-BE49-F238E27FC236}">
                <a16:creationId xmlns:a16="http://schemas.microsoft.com/office/drawing/2014/main" id="{E6E44D5E-07A0-4B2C-9309-AD12954D7C9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20</a:t>
            </a:r>
          </a:p>
        </p:txBody>
      </p:sp>
    </p:spTree>
    <p:extLst>
      <p:ext uri="{BB962C8B-B14F-4D97-AF65-F5344CB8AC3E}">
        <p14:creationId xmlns:p14="http://schemas.microsoft.com/office/powerpoint/2010/main" val="4103004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C4C1AB8-3BAA-461D-8AD0-AE26BA63418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D27E47-B387-4CCF-BB9B-B1F58B20CF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AEEC20B-F736-4B8D-98E2-581D3AD3667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Lists loops and records in Python</a:t>
            </a:r>
          </a:p>
        </p:txBody>
      </p:sp>
      <p:sp>
        <p:nvSpPr>
          <p:cNvPr id="4" name="">
            <a:extLst xmlns:a="http://schemas.openxmlformats.org/drawingml/2006/main">
              <a:ext uri="{FF2B5EF4-FFF2-40B4-BE49-F238E27FC236}">
                <a16:creationId xmlns:a16="http://schemas.microsoft.com/office/drawing/2014/main" id="{19EA467D-B298-4335-A314-5EB8A3BE562B}"/>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7F2A35-E04F-4E67-8BD3-DE91AA7A3D7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[2, 4,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total = 0</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total = total + 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mean = total / len(readings)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print(mean)</a:t>
            </a:r>
          </a:p>
        </p:txBody>
      </p:sp>
      <p:sp>
        <p:nvSpPr>
          <p:cNvPr id="6" name="">
            <a:extLst xmlns:a="http://schemas.openxmlformats.org/drawingml/2006/main">
              <a:ext uri="{FF2B5EF4-FFF2-40B4-BE49-F238E27FC236}">
                <a16:creationId xmlns:a16="http://schemas.microsoft.com/office/drawing/2014/main" id="{C3F9D02D-D046-4066-94AF-B903916F28A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383133FF-50A2-4B84-933F-E9F7B9A9714E}"/>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D42BB4E2-D9EF-4DB3-98CA-3BDE470A9660}"/>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C28ADB9A-B667-46C8-809F-1B9DA5CAB66F}"/>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10" name="">
            <a:extLst xmlns:a="http://schemas.openxmlformats.org/drawingml/2006/main">
              <a:ext uri="{FF2B5EF4-FFF2-40B4-BE49-F238E27FC236}">
                <a16:creationId xmlns:a16="http://schemas.microsoft.com/office/drawing/2014/main" id="{66D19603-8019-46C5-98E0-0459701981B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3FBEACF0-602C-47D3-99D3-A3F20A08512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21</a:t>
            </a:r>
          </a:p>
        </p:txBody>
      </p:sp>
    </p:spTree>
    <p:extLst>
      <p:ext uri="{BB962C8B-B14F-4D97-AF65-F5344CB8AC3E}">
        <p14:creationId xmlns:p14="http://schemas.microsoft.com/office/powerpoint/2010/main" val="132119838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9656A1-1646-4B87-85E2-648452022C1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74F62E-5493-4FE4-9222-5FD150AF1BA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E773C19C-F427-4FA3-BF7B-A0CE830CFA5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Lists loops and records results</a:t>
            </a:r>
          </a:p>
        </p:txBody>
      </p:sp>
      <p:sp>
        <p:nvSpPr>
          <p:cNvPr id="4" name="">
            <a:extLst xmlns:a="http://schemas.openxmlformats.org/drawingml/2006/main">
              <a:ext uri="{FF2B5EF4-FFF2-40B4-BE49-F238E27FC236}">
                <a16:creationId xmlns:a16="http://schemas.microsoft.com/office/drawing/2014/main" id="{B2EE0825-26F4-4141-9F56-EA8AD879A909}"/>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8F9371-83DB-42CD-B083-77C231A2AE5E}"/>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4.0</a:t>
            </a:r>
          </a:p>
        </p:txBody>
      </p:sp>
      <p:sp>
        <p:nvSpPr>
          <p:cNvPr id="6" name="">
            <a:extLst xmlns:a="http://schemas.openxmlformats.org/drawingml/2006/main">
              <a:ext uri="{FF2B5EF4-FFF2-40B4-BE49-F238E27FC236}">
                <a16:creationId xmlns:a16="http://schemas.microsoft.com/office/drawing/2014/main" id="{5D5CBE87-62C2-4823-AA42-F9797DDDD732}"/>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E3DFACB9-94A1-4ABE-8DB6-F9105AEB385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22</a:t>
            </a:r>
          </a:p>
        </p:txBody>
      </p:sp>
    </p:spTree>
    <p:extLst>
      <p:ext uri="{BB962C8B-B14F-4D97-AF65-F5344CB8AC3E}">
        <p14:creationId xmlns:p14="http://schemas.microsoft.com/office/powerpoint/2010/main" val="184954630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DF0402-8A8D-4597-B36F-29957EAB2D6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E51046-3C80-4F17-B411-43DA86601EE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617473C6-10BC-4533-AE2F-CBBBE64351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built-in summary functions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Function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Question it answers</a:t>
                      </a:r>
                    </a:p>
                  </a:txBody>
                  <a:tcPr marL="91440" marR="91440" marT="45720" marB="45720">
                    <a:solidFill>
                      <a:srgbClr val="2E7D6F"/>
                    </a:solidFill>
                  </a:tcPr>
                </a:tc>
                <a:tc>
                  <a:txBody>
                    <a:bodyPr/>
                    <a:lstStyle/>
                    <a:p>
                      <a:r>
                        <a:rPr sz="2025" b="1">
                          <a:solidFill>
                            <a:srgbClr val="FFFFFF"/>
                          </a:solidFill>
                          <a:latin typeface="Calibri"/>
                          <a:ea typeface="Calibri"/>
                          <a:cs typeface="Calibri"/>
                        </a:rPr>
                        <a:t>For [2, 4, 6]</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len</a:t>
                      </a:r>
                    </a:p>
                  </a:txBody>
                  <a:tcPr marL="91440" marR="91440" marT="45720" marB="45720">
                    <a:solidFill>
                      <a:srgbClr val="EEF3F6"/>
                    </a:solidFill>
                  </a:tcPr>
                </a:tc>
                <a:tc>
                  <a:txBody>
                    <a:bodyPr/>
                    <a:lstStyle/>
                    <a:p>
                      <a:r>
                        <a:rPr sz="2025" b="0">
                          <a:solidFill>
                            <a:srgbClr val="1C3144"/>
                          </a:solidFill>
                          <a:latin typeface="Calibri"/>
                          <a:ea typeface="Calibri"/>
                          <a:cs typeface="Calibri"/>
                        </a:rPr>
                        <a:t>How many items?</a:t>
                      </a:r>
                    </a:p>
                  </a:txBody>
                  <a:tcPr marL="91440" marR="91440" marT="45720" marB="45720">
                    <a:solidFill>
                      <a:srgbClr val="EEF3F6"/>
                    </a:solidFill>
                  </a:tcPr>
                </a:tc>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sum</a:t>
                      </a:r>
                    </a:p>
                  </a:txBody>
                  <a:tcPr marL="91440" marR="91440" marT="45720" marB="45720">
                    <a:solidFill>
                      <a:srgbClr val="FFFFFF"/>
                    </a:solidFill>
                  </a:tcPr>
                </a:tc>
                <a:tc>
                  <a:txBody>
                    <a:bodyPr/>
                    <a:lstStyle/>
                    <a:p>
                      <a:r>
                        <a:rPr sz="2025" b="0">
                          <a:solidFill>
                            <a:srgbClr val="1C3144"/>
                          </a:solidFill>
                          <a:latin typeface="Calibri"/>
                          <a:ea typeface="Calibri"/>
                          <a:cs typeface="Calibri"/>
                        </a:rPr>
                        <a:t>What is their total?</a:t>
                      </a:r>
                    </a:p>
                  </a:txBody>
                  <a:tcPr marL="91440" marR="91440" marT="45720" marB="45720">
                    <a:solidFill>
                      <a:srgbClr val="FFFFFF"/>
                    </a:solidFill>
                  </a:tcPr>
                </a:tc>
                <a:tc>
                  <a:txBody>
                    <a:bodyPr/>
                    <a:lstStyle/>
                    <a:p>
                      <a:r>
                        <a:rPr sz="2025" b="0">
                          <a:solidFill>
                            <a:srgbClr val="1C3144"/>
                          </a:solidFill>
                          <a:latin typeface="Calibri"/>
                          <a:ea typeface="Calibri"/>
                          <a:cs typeface="Calibri"/>
                        </a:rPr>
                        <a:t>12</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min</a:t>
                      </a:r>
                    </a:p>
                  </a:txBody>
                  <a:tcPr marL="91440" marR="91440" marT="45720" marB="45720">
                    <a:solidFill>
                      <a:srgbClr val="EEF3F6"/>
                    </a:solidFill>
                  </a:tcPr>
                </a:tc>
                <a:tc>
                  <a:txBody>
                    <a:bodyPr/>
                    <a:lstStyle/>
                    <a:p>
                      <a:r>
                        <a:rPr sz="2025" b="0">
                          <a:solidFill>
                            <a:srgbClr val="1C3144"/>
                          </a:solidFill>
                          <a:latin typeface="Calibri"/>
                          <a:ea typeface="Calibri"/>
                          <a:cs typeface="Calibri"/>
                        </a:rPr>
                        <a:t>Which is smallest?</a:t>
                      </a:r>
                    </a:p>
                  </a:txBody>
                  <a:tcPr marL="91440" marR="91440" marT="45720" marB="45720">
                    <a:solidFill>
                      <a:srgbClr val="EEF3F6"/>
                    </a:solidFill>
                  </a:tcPr>
                </a:tc>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max</a:t>
                      </a:r>
                    </a:p>
                  </a:txBody>
                  <a:tcPr marL="91440" marR="91440" marT="45720" marB="45720">
                    <a:solidFill>
                      <a:srgbClr val="FFFFFF"/>
                    </a:solidFill>
                  </a:tcPr>
                </a:tc>
                <a:tc>
                  <a:txBody>
                    <a:bodyPr/>
                    <a:lstStyle/>
                    <a:p>
                      <a:r>
                        <a:rPr sz="2025" b="0">
                          <a:solidFill>
                            <a:srgbClr val="1C3144"/>
                          </a:solidFill>
                          <a:latin typeface="Calibri"/>
                          <a:ea typeface="Calibri"/>
                          <a:cs typeface="Calibri"/>
                        </a:rPr>
                        <a:t>Which is largest?</a:t>
                      </a:r>
                    </a:p>
                  </a:txBody>
                  <a:tcPr marL="91440" marR="91440" marT="45720" marB="45720">
                    <a:solidFill>
                      <a:srgbClr val="FFFFFF"/>
                    </a:solidFill>
                  </a:tcPr>
                </a:tc>
                <a:tc>
                  <a:txBody>
                    <a:bodyPr/>
                    <a:lstStyle/>
                    <a:p>
                      <a:r>
                        <a:rPr sz="2025" b="0">
                          <a:solidFill>
                            <a:srgbClr val="1C3144"/>
                          </a:solidFill>
                          <a:latin typeface="Calibri"/>
                          <a:ea typeface="Calibri"/>
                          <a:cs typeface="Calibri"/>
                        </a:rPr>
                        <a:t>6</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3DFD783-DAF6-43BD-90CB-38D2D0515578}"/>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These functions already exist in Python. min and max need at least one item unless an explicit default is supplied.</a:t>
            </a:r>
          </a:p>
        </p:txBody>
      </p:sp>
      <p:sp>
        <p:nvSpPr>
          <p:cNvPr id="6" name="">
            <a:extLst xmlns:a="http://schemas.openxmlformats.org/drawingml/2006/main">
              <a:ext uri="{FF2B5EF4-FFF2-40B4-BE49-F238E27FC236}">
                <a16:creationId xmlns:a16="http://schemas.microsoft.com/office/drawing/2014/main" id="{968548C4-33BA-4BE9-80F3-59235778EA2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23</a:t>
            </a:r>
          </a:p>
        </p:txBody>
      </p:sp>
    </p:spTree>
    <p:extLst>
      <p:ext uri="{BB962C8B-B14F-4D97-AF65-F5344CB8AC3E}">
        <p14:creationId xmlns:p14="http://schemas.microsoft.com/office/powerpoint/2010/main" val="16982196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4296694-C0FB-4015-930D-95F5DDF7EE6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E113AE-37E8-4515-AFBA-3D07F720F8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F5B1F23-96D3-4233-A2B2-87F46D3C5E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Built-in summaries of a list</a:t>
            </a:r>
          </a:p>
        </p:txBody>
      </p:sp>
      <p:sp>
        <p:nvSpPr>
          <p:cNvPr id="4" name="">
            <a:extLst xmlns:a="http://schemas.openxmlformats.org/drawingml/2006/main">
              <a:ext uri="{FF2B5EF4-FFF2-40B4-BE49-F238E27FC236}">
                <a16:creationId xmlns:a16="http://schemas.microsoft.com/office/drawing/2014/main" id="{8100FCB6-782A-4717-80C5-15435C21258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5B36FB-72DF-4726-B901-2CFCF1D54BB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[2, 4,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print(min(readings))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print(max(readings))</a:t>
            </a:r>
          </a:p>
        </p:txBody>
      </p:sp>
      <p:sp>
        <p:nvSpPr>
          <p:cNvPr id="6" name="">
            <a:extLst xmlns:a="http://schemas.openxmlformats.org/drawingml/2006/main">
              <a:ext uri="{FF2B5EF4-FFF2-40B4-BE49-F238E27FC236}">
                <a16:creationId xmlns:a16="http://schemas.microsoft.com/office/drawing/2014/main" id="{57DCF108-2F96-4F1D-922B-CA1798E49C83}"/>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D22D57C1-D010-4282-990C-82369E144CD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These functions are built into Python.</a:t>
            </a:r>
          </a:p>
        </p:txBody>
      </p:sp>
      <p:sp>
        <p:nvSpPr>
          <p:cNvPr id="8" name="">
            <a:extLst xmlns:a="http://schemas.openxmlformats.org/drawingml/2006/main">
              <a:ext uri="{FF2B5EF4-FFF2-40B4-BE49-F238E27FC236}">
                <a16:creationId xmlns:a16="http://schemas.microsoft.com/office/drawing/2014/main" id="{00EE4A91-4000-41DA-AD6C-4B08BA99E678}"/>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min and max require a nonempty list here.</a:t>
            </a:r>
          </a:p>
        </p:txBody>
      </p:sp>
      <p:sp>
        <p:nvSpPr>
          <p:cNvPr id="9" name="">
            <a:extLst xmlns:a="http://schemas.openxmlformats.org/drawingml/2006/main">
              <a:ext uri="{FF2B5EF4-FFF2-40B4-BE49-F238E27FC236}">
                <a16:creationId xmlns:a16="http://schemas.microsoft.com/office/drawing/2014/main" id="{84D4DED3-F24D-476D-9226-EAEEF4FEF53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12, 3, 2, 6. sum totals; len counts; min and max select the smallest and largest.</a:t>
            </a:r>
          </a:p>
        </p:txBody>
      </p:sp>
      <p:sp>
        <p:nvSpPr>
          <p:cNvPr id="10" name="">
            <a:extLst xmlns:a="http://schemas.openxmlformats.org/drawingml/2006/main">
              <a:ext uri="{FF2B5EF4-FFF2-40B4-BE49-F238E27FC236}">
                <a16:creationId xmlns:a16="http://schemas.microsoft.com/office/drawing/2014/main" id="{20F48C87-227F-4568-95B1-363C9585D65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24</a:t>
            </a:r>
          </a:p>
        </p:txBody>
      </p:sp>
    </p:spTree>
    <p:extLst>
      <p:ext uri="{BB962C8B-B14F-4D97-AF65-F5344CB8AC3E}">
        <p14:creationId xmlns:p14="http://schemas.microsoft.com/office/powerpoint/2010/main" val="213318704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7DC734-E183-495E-917F-C77199F98DB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2B6E7D-D3EA-4736-BDA1-CB3627B0D9D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3227A4B-1BC1-40A0-AFA9-23C7698A4A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while loop checks before each repetition</a:t>
            </a:r>
          </a:p>
        </p:txBody>
      </p:sp>
      <p:sp>
        <p:nvSpPr>
          <p:cNvPr id="4" name="">
            <a:extLst xmlns:a="http://schemas.openxmlformats.org/drawingml/2006/main">
              <a:ext uri="{FF2B5EF4-FFF2-40B4-BE49-F238E27FC236}">
                <a16:creationId xmlns:a16="http://schemas.microsoft.com/office/drawing/2014/main" id="{3D2EF8A4-E1C2-4BD1-8A9B-EA81C274263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A7465E8-37A5-43A1-B12F-E39B31CCAFF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while count &lt; 3: tests the condition before entering its indented block. True enters the block; False skips it and continues after the loop.</a:t>
            </a:r>
          </a:p>
        </p:txBody>
      </p:sp>
      <p:sp>
        <p:nvSpPr>
          <p:cNvPr id="6" name="">
            <a:extLst xmlns:a="http://schemas.openxmlformats.org/drawingml/2006/main">
              <a:ext uri="{FF2B5EF4-FFF2-40B4-BE49-F238E27FC236}">
                <a16:creationId xmlns:a16="http://schemas.microsoft.com/office/drawing/2014/main" id="{21A70CF3-3E02-496D-BA0F-F127D63DC37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DBED503-33D6-4C48-A48D-7B725089E5F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At the end of the body, return to the condition and test again. Unlike for, while does not automatically move to the next list item.</a:t>
            </a:r>
          </a:p>
        </p:txBody>
      </p:sp>
      <p:sp>
        <p:nvSpPr>
          <p:cNvPr id="8" name="">
            <a:extLst xmlns:a="http://schemas.openxmlformats.org/drawingml/2006/main">
              <a:ext uri="{FF2B5EF4-FFF2-40B4-BE49-F238E27FC236}">
                <a16:creationId xmlns:a16="http://schemas.microsoft.com/office/drawing/2014/main" id="{B9CBA5BA-F28A-4F8A-A856-2E82BF87B86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4E3E322-C239-48E5-8793-44C3BC35363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Something must make the condition become False, or the loop may continue indefinitely. In our example, count increases on every iteration.</a:t>
            </a:r>
          </a:p>
        </p:txBody>
      </p:sp>
      <p:sp>
        <p:nvSpPr>
          <p:cNvPr id="10" name="">
            <a:extLst xmlns:a="http://schemas.openxmlformats.org/drawingml/2006/main">
              <a:ext uri="{FF2B5EF4-FFF2-40B4-BE49-F238E27FC236}">
                <a16:creationId xmlns:a16="http://schemas.microsoft.com/office/drawing/2014/main" id="{9DBA71E8-4B59-4AE0-B3E6-90522B72A1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25</a:t>
            </a:r>
          </a:p>
        </p:txBody>
      </p:sp>
    </p:spTree>
    <p:extLst>
      <p:ext uri="{BB962C8B-B14F-4D97-AF65-F5344CB8AC3E}">
        <p14:creationId xmlns:p14="http://schemas.microsoft.com/office/powerpoint/2010/main" val="210875873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FD8A9E-6E40-4D09-9919-E17AFEB2B24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8D181B-DB75-4F07-97A3-FAAF478C4BF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7A988A0-FB26-4415-99FA-CA3CEC2C09C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while loop with a stopping condition</a:t>
            </a:r>
          </a:p>
        </p:txBody>
      </p:sp>
      <p:sp>
        <p:nvSpPr>
          <p:cNvPr id="4" name="">
            <a:extLst xmlns:a="http://schemas.openxmlformats.org/drawingml/2006/main">
              <a:ext uri="{FF2B5EF4-FFF2-40B4-BE49-F238E27FC236}">
                <a16:creationId xmlns:a16="http://schemas.microsoft.com/office/drawing/2014/main" id="{A1DD8070-7CCC-488C-AB3B-02656D39778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BB177C-DF3A-49A5-B61F-62B9F95315A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while count &lt;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print(count)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count = count + 1</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print("finished")</a:t>
            </a:r>
          </a:p>
        </p:txBody>
      </p:sp>
      <p:sp>
        <p:nvSpPr>
          <p:cNvPr id="6" name="">
            <a:extLst xmlns:a="http://schemas.openxmlformats.org/drawingml/2006/main">
              <a:ext uri="{FF2B5EF4-FFF2-40B4-BE49-F238E27FC236}">
                <a16:creationId xmlns:a16="http://schemas.microsoft.com/office/drawing/2014/main" id="{05C22702-AA53-4250-84AF-4EF4BA348E6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4EE17F49-720C-40A1-A7F6-96AE17C7CBF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Initialise, test, run the body, update, test again.</a:t>
            </a:r>
          </a:p>
        </p:txBody>
      </p:sp>
      <p:sp>
        <p:nvSpPr>
          <p:cNvPr id="8" name="">
            <a:extLst xmlns:a="http://schemas.openxmlformats.org/drawingml/2006/main">
              <a:ext uri="{FF2B5EF4-FFF2-40B4-BE49-F238E27FC236}">
                <a16:creationId xmlns:a16="http://schemas.microsoft.com/office/drawing/2014/main" id="{6AB6ACED-3FF5-4884-85B1-AB6D4BBA4A46}"/>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When count becomes 3, the condition is False.</a:t>
            </a:r>
          </a:p>
        </p:txBody>
      </p:sp>
      <p:sp>
        <p:nvSpPr>
          <p:cNvPr id="9" name="">
            <a:extLst xmlns:a="http://schemas.openxmlformats.org/drawingml/2006/main">
              <a:ext uri="{FF2B5EF4-FFF2-40B4-BE49-F238E27FC236}">
                <a16:creationId xmlns:a16="http://schemas.microsoft.com/office/drawing/2014/main" id="{A9B572AD-9DDB-4170-9FC1-BCD45238252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0; 1; 2; finished</a:t>
            </a:r>
          </a:p>
        </p:txBody>
      </p:sp>
      <p:sp>
        <p:nvSpPr>
          <p:cNvPr id="10" name="">
            <a:extLst xmlns:a="http://schemas.openxmlformats.org/drawingml/2006/main">
              <a:ext uri="{FF2B5EF4-FFF2-40B4-BE49-F238E27FC236}">
                <a16:creationId xmlns:a16="http://schemas.microsoft.com/office/drawing/2014/main" id="{02A7D9A3-DFF7-4640-B490-52259BAD7D7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26</a:t>
            </a:r>
          </a:p>
        </p:txBody>
      </p:sp>
    </p:spTree>
    <p:extLst>
      <p:ext uri="{BB962C8B-B14F-4D97-AF65-F5344CB8AC3E}">
        <p14:creationId xmlns:p14="http://schemas.microsoft.com/office/powerpoint/2010/main" val="144151185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F3572E-3DA4-4913-A7FB-DF2B0245CB8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58710D-6B07-45CA-BFCD-E534F7C8AFF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DF84786A-FE1D-4158-9146-9EF4A6F910C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while condition and update</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count before test</a:t>
                      </a:r>
                    </a:p>
                  </a:txBody>
                  <a:tcPr marL="91440" marR="91440" marT="45720" marB="45720">
                    <a:solidFill>
                      <a:srgbClr val="2E7D6F"/>
                    </a:solidFill>
                  </a:tcPr>
                </a:tc>
                <a:tc>
                  <a:txBody>
                    <a:bodyPr/>
                    <a:lstStyle/>
                    <a:p>
                      <a:r>
                        <a:rPr sz="2025" b="1">
                          <a:solidFill>
                            <a:srgbClr val="FFFFFF"/>
                          </a:solidFill>
                          <a:latin typeface="Calibri"/>
                          <a:ea typeface="Calibri"/>
                          <a:cs typeface="Calibri"/>
                        </a:rPr>
                        <a:t>count &lt; 3</a:t>
                      </a:r>
                    </a:p>
                  </a:txBody>
                  <a:tcPr marL="91440" marR="91440" marT="45720" marB="45720">
                    <a:solidFill>
                      <a:srgbClr val="2E7D6F"/>
                    </a:solidFill>
                  </a:tcPr>
                </a:tc>
                <a:tc>
                  <a:txBody>
                    <a:bodyPr/>
                    <a:lstStyle/>
                    <a:p>
                      <a:r>
                        <a:rPr sz="2025" b="1">
                          <a:solidFill>
                            <a:srgbClr val="FFFFFF"/>
                          </a:solidFill>
                          <a:latin typeface="Calibri"/>
                          <a:ea typeface="Calibri"/>
                          <a:cs typeface="Calibri"/>
                        </a:rPr>
                        <a:t>Body and next count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0</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0; update to 1</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1</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Print 1; update to 2</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2; update to 3</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3</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Skip body; print finished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02FC9D6-D739-49FC-8473-13EEBE3D0C59}"/>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If count starts at 3, the body runs zero times. The condition is tested first.</a:t>
            </a:r>
          </a:p>
        </p:txBody>
      </p:sp>
      <p:sp>
        <p:nvSpPr>
          <p:cNvPr id="6" name="">
            <a:extLst xmlns:a="http://schemas.openxmlformats.org/drawingml/2006/main">
              <a:ext uri="{FF2B5EF4-FFF2-40B4-BE49-F238E27FC236}">
                <a16:creationId xmlns:a16="http://schemas.microsoft.com/office/drawing/2014/main" id="{BF0F9E5C-DB14-4793-AB08-E70591BE8F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27</a:t>
            </a:r>
          </a:p>
        </p:txBody>
      </p:sp>
    </p:spTree>
    <p:extLst>
      <p:ext uri="{BB962C8B-B14F-4D97-AF65-F5344CB8AC3E}">
        <p14:creationId xmlns:p14="http://schemas.microsoft.com/office/powerpoint/2010/main" val="50967486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C9A12A-DE29-4E7A-8381-063B8606F2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4C832E-8779-42C9-B584-C3AAB12CDE7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2CC240B-D20B-466A-B5E1-3FB0EBF064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Preventing an endless loop</a:t>
            </a:r>
          </a:p>
        </p:txBody>
      </p:sp>
      <p:sp>
        <p:nvSpPr>
          <p:cNvPr id="4" name="">
            <a:extLst xmlns:a="http://schemas.openxmlformats.org/drawingml/2006/main">
              <a:ext uri="{FF2B5EF4-FFF2-40B4-BE49-F238E27FC236}">
                <a16:creationId xmlns:a16="http://schemas.microsoft.com/office/drawing/2014/main" id="{6EBC0D8B-8F5E-49BB-8EED-4208C789DC9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C296F65-A45E-4A6A-8EF4-BF5FE15533C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the update is missing, count remains 0. The question 0 &lt; 3 stays True, so the body keeps running.</a:t>
            </a:r>
          </a:p>
        </p:txBody>
      </p:sp>
      <p:sp>
        <p:nvSpPr>
          <p:cNvPr id="6" name="">
            <a:extLst xmlns:a="http://schemas.openxmlformats.org/drawingml/2006/main">
              <a:ext uri="{FF2B5EF4-FFF2-40B4-BE49-F238E27FC236}">
                <a16:creationId xmlns:a16="http://schemas.microsoft.com/office/drawing/2014/main" id="{06E80462-A0C1-443C-8074-830E15C494B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43B0222-9CD7-489A-B1F4-164C757521D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click the running cell’s stop button or use Runtime → Interrupt execution. Fix the condition or update before running again.</a:t>
            </a:r>
          </a:p>
        </p:txBody>
      </p:sp>
      <p:sp>
        <p:nvSpPr>
          <p:cNvPr id="8" name="">
            <a:extLst xmlns:a="http://schemas.openxmlformats.org/drawingml/2006/main">
              <a:ext uri="{FF2B5EF4-FFF2-40B4-BE49-F238E27FC236}">
                <a16:creationId xmlns:a16="http://schemas.microsoft.com/office/drawing/2014/main" id="{E21278AF-5A00-4307-B339-E68983073E9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EA181C1-F857-423C-A10C-CF85488ADC8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 not run an intentionally endless example. Trace the unchanged value on the slide to see why it would fail.</a:t>
            </a:r>
          </a:p>
        </p:txBody>
      </p:sp>
      <p:sp>
        <p:nvSpPr>
          <p:cNvPr id="10" name="">
            <a:extLst xmlns:a="http://schemas.openxmlformats.org/drawingml/2006/main">
              <a:ext uri="{FF2B5EF4-FFF2-40B4-BE49-F238E27FC236}">
                <a16:creationId xmlns:a16="http://schemas.microsoft.com/office/drawing/2014/main" id="{1C195B2C-7448-4AAE-B492-4F85B5B12C7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28</a:t>
            </a:r>
          </a:p>
        </p:txBody>
      </p:sp>
    </p:spTree>
    <p:extLst>
      <p:ext uri="{BB962C8B-B14F-4D97-AF65-F5344CB8AC3E}">
        <p14:creationId xmlns:p14="http://schemas.microsoft.com/office/powerpoint/2010/main" val="164865237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BFBBEE-B843-4769-9A7E-DF1F1028507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17BBC8-10E6-47DF-9C71-95F2EC8B98C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76A741AD-9D26-4F6C-9864-F293860E8FA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Choosing if for or while</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Construct</a:t>
                      </a:r>
                    </a:p>
                  </a:txBody>
                  <a:tcPr marL="91440" marR="91440" marT="45720" marB="45720">
                    <a:solidFill>
                      <a:srgbClr val="2E7D6F"/>
                    </a:solidFill>
                  </a:tcPr>
                </a:tc>
                <a:tc>
                  <a:txBody>
                    <a:bodyPr/>
                    <a:lstStyle/>
                    <a:p>
                      <a:r>
                        <a:rPr sz="2025" b="1">
                          <a:solidFill>
                            <a:srgbClr val="FFFFFF"/>
                          </a:solidFill>
                          <a:latin typeface="Calibri"/>
                          <a:ea typeface="Calibri"/>
                          <a:cs typeface="Calibri"/>
                        </a:rPr>
                        <a:t>Purpose</a:t>
                      </a:r>
                    </a:p>
                  </a:txBody>
                  <a:tcPr marL="91440" marR="91440" marT="45720" marB="45720">
                    <a:solidFill>
                      <a:srgbClr val="2E7D6F"/>
                    </a:solidFill>
                  </a:tcPr>
                </a:tc>
                <a:tc>
                  <a:txBody>
                    <a:bodyPr/>
                    <a:lstStyle/>
                    <a:p>
                      <a:r>
                        <a:rPr sz="2025" b="1">
                          <a:solidFill>
                            <a:srgbClr val="FFFFFF"/>
                          </a:solidFill>
                          <a:latin typeface="Calibri"/>
                          <a:ea typeface="Calibri"/>
                          <a:cs typeface="Calibri"/>
                        </a:rPr>
                        <a:t>When it finishes</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if / else</a:t>
                      </a:r>
                    </a:p>
                  </a:txBody>
                  <a:tcPr marL="91440" marR="91440" marT="45720" marB="45720">
                    <a:solidFill>
                      <a:srgbClr val="EEF3F6"/>
                    </a:solidFill>
                  </a:tcPr>
                </a:tc>
                <a:tc>
                  <a:txBody>
                    <a:bodyPr/>
                    <a:lstStyle/>
                    <a:p>
                      <a:r>
                        <a:rPr sz="2025" b="0">
                          <a:solidFill>
                            <a:srgbClr val="1C3144"/>
                          </a:solidFill>
                          <a:latin typeface="Calibri"/>
                          <a:ea typeface="Calibri"/>
                          <a:cs typeface="Calibri"/>
                        </a:rPr>
                        <a:t>Choose a path once</a:t>
                      </a:r>
                    </a:p>
                  </a:txBody>
                  <a:tcPr marL="91440" marR="91440" marT="45720" marB="45720">
                    <a:solidFill>
                      <a:srgbClr val="EEF3F6"/>
                    </a:solidFill>
                  </a:tcPr>
                </a:tc>
                <a:tc>
                  <a:txBody>
                    <a:bodyPr/>
                    <a:lstStyle/>
                    <a:p>
                      <a:r>
                        <a:rPr sz="2025" b="0">
                          <a:solidFill>
                            <a:srgbClr val="1C3144"/>
                          </a:solidFill>
                          <a:latin typeface="Calibri"/>
                          <a:ea typeface="Calibri"/>
                          <a:cs typeface="Calibri"/>
                        </a:rPr>
                        <a:t>After the chosen block</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for</a:t>
                      </a:r>
                    </a:p>
                  </a:txBody>
                  <a:tcPr marL="91440" marR="91440" marT="45720" marB="45720">
                    <a:solidFill>
                      <a:srgbClr val="FFFFFF"/>
                    </a:solidFill>
                  </a:tcPr>
                </a:tc>
                <a:tc>
                  <a:txBody>
                    <a:bodyPr/>
                    <a:lstStyle/>
                    <a:p>
                      <a:r>
                        <a:rPr sz="2025" b="0">
                          <a:solidFill>
                            <a:srgbClr val="1C3144"/>
                          </a:solidFill>
                          <a:latin typeface="Calibri"/>
                          <a:ea typeface="Calibri"/>
                          <a:cs typeface="Calibri"/>
                        </a:rPr>
                        <a:t>Visit supplied items</a:t>
                      </a:r>
                    </a:p>
                  </a:txBody>
                  <a:tcPr marL="91440" marR="91440" marT="45720" marB="45720">
                    <a:solidFill>
                      <a:srgbClr val="FFFFFF"/>
                    </a:solidFill>
                  </a:tcPr>
                </a:tc>
                <a:tc>
                  <a:txBody>
                    <a:bodyPr/>
                    <a:lstStyle/>
                    <a:p>
                      <a:r>
                        <a:rPr sz="2025" b="0">
                          <a:solidFill>
                            <a:srgbClr val="1C3144"/>
                          </a:solidFill>
                          <a:latin typeface="Calibri"/>
                          <a:ea typeface="Calibri"/>
                          <a:cs typeface="Calibri"/>
                        </a:rPr>
                        <a:t>When items are exhausted</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while</a:t>
                      </a:r>
                    </a:p>
                  </a:txBody>
                  <a:tcPr marL="91440" marR="91440" marT="45720" marB="45720">
                    <a:solidFill>
                      <a:srgbClr val="EEF3F6"/>
                    </a:solidFill>
                  </a:tcPr>
                </a:tc>
                <a:tc>
                  <a:txBody>
                    <a:bodyPr/>
                    <a:lstStyle/>
                    <a:p>
                      <a:r>
                        <a:rPr sz="2025" b="0">
                          <a:solidFill>
                            <a:srgbClr val="1C3144"/>
                          </a:solidFill>
                          <a:latin typeface="Calibri"/>
                          <a:ea typeface="Calibri"/>
                          <a:cs typeface="Calibri"/>
                        </a:rPr>
                        <a:t>Repeat while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When condition becomes False</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631E7E72-9AAB-4846-AABC-D10305199BCF}"/>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 condition alone does not imply repetition: if tests once; while tests again after its body.</a:t>
            </a:r>
          </a:p>
        </p:txBody>
      </p:sp>
      <p:sp>
        <p:nvSpPr>
          <p:cNvPr id="6" name="">
            <a:extLst xmlns:a="http://schemas.openxmlformats.org/drawingml/2006/main">
              <a:ext uri="{FF2B5EF4-FFF2-40B4-BE49-F238E27FC236}">
                <a16:creationId xmlns:a16="http://schemas.microsoft.com/office/drawing/2014/main" id="{E2E53BB1-E251-4946-82E1-966D459589F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29</a:t>
            </a:r>
          </a:p>
        </p:txBody>
      </p:sp>
    </p:spTree>
    <p:extLst>
      <p:ext uri="{BB962C8B-B14F-4D97-AF65-F5344CB8AC3E}">
        <p14:creationId xmlns:p14="http://schemas.microsoft.com/office/powerpoint/2010/main" val="179815710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FDBABE4-BB0C-48D1-8464-043A0217832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908CAA-D8CE-4265-A35E-C9694148F7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D53141D-4D7B-4074-B3C1-B010A805B83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range supplies a sequence of integers</a:t>
            </a:r>
          </a:p>
        </p:txBody>
      </p:sp>
      <p:sp>
        <p:nvSpPr>
          <p:cNvPr id="4" name="">
            <a:extLst xmlns:a="http://schemas.openxmlformats.org/drawingml/2006/main">
              <a:ext uri="{FF2B5EF4-FFF2-40B4-BE49-F238E27FC236}">
                <a16:creationId xmlns:a16="http://schemas.microsoft.com/office/drawing/2014/main" id="{50BCBC28-8900-4957-A5CA-109CA4FCD01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5CA4F91-2AEA-4A79-94D9-D3F514DE622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range(3) supplies 0, 1 and 2. The stop value 3 is excluded. range(1, 4) supplies 1, 2 and 3.</a:t>
            </a:r>
          </a:p>
        </p:txBody>
      </p:sp>
      <p:sp>
        <p:nvSpPr>
          <p:cNvPr id="6" name="">
            <a:extLst xmlns:a="http://schemas.openxmlformats.org/drawingml/2006/main">
              <a:ext uri="{FF2B5EF4-FFF2-40B4-BE49-F238E27FC236}">
                <a16:creationId xmlns:a16="http://schemas.microsoft.com/office/drawing/2014/main" id="{523CD30B-183F-497F-86AD-BC79518C998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4C9A340-CF22-4C98-9B7C-732CE35509D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range with for when a numbered repetition is useful. The loop still works by taking the next supplied item.</a:t>
            </a:r>
          </a:p>
        </p:txBody>
      </p:sp>
      <p:sp>
        <p:nvSpPr>
          <p:cNvPr id="8" name="">
            <a:extLst xmlns:a="http://schemas.openxmlformats.org/drawingml/2006/main">
              <a:ext uri="{FF2B5EF4-FFF2-40B4-BE49-F238E27FC236}">
                <a16:creationId xmlns:a16="http://schemas.microsoft.com/office/drawing/2014/main" id="{EC26B8D2-95FF-40E4-AA8C-F24D04A4F45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17AA5F4-0EE7-49FC-A491-662948284C6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range(0, 6, 2) uses a step of 2 and supplies 0, 2, 4. A step is the change between successive numbers; it cannot be zero.</a:t>
            </a:r>
          </a:p>
        </p:txBody>
      </p:sp>
      <p:sp>
        <p:nvSpPr>
          <p:cNvPr id="10" name="">
            <a:extLst xmlns:a="http://schemas.openxmlformats.org/drawingml/2006/main">
              <a:ext uri="{FF2B5EF4-FFF2-40B4-BE49-F238E27FC236}">
                <a16:creationId xmlns:a16="http://schemas.microsoft.com/office/drawing/2014/main" id="{AACE544C-DD6E-470B-9800-F14384B0579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30</a:t>
            </a:r>
          </a:p>
        </p:txBody>
      </p:sp>
    </p:spTree>
    <p:extLst>
      <p:ext uri="{BB962C8B-B14F-4D97-AF65-F5344CB8AC3E}">
        <p14:creationId xmlns:p14="http://schemas.microsoft.com/office/powerpoint/2010/main" val="4678146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10235B6-E313-4DCC-9CDE-FAFF2FED453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B163E9-F1A3-41F7-A5C5-CA9F914316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AEFBDD2-D351-47A1-8EC2-4D050961A6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Repeat with range</a:t>
            </a:r>
          </a:p>
        </p:txBody>
      </p:sp>
      <p:sp>
        <p:nvSpPr>
          <p:cNvPr id="4" name="">
            <a:extLst xmlns:a="http://schemas.openxmlformats.org/drawingml/2006/main">
              <a:ext uri="{FF2B5EF4-FFF2-40B4-BE49-F238E27FC236}">
                <a16:creationId xmlns:a16="http://schemas.microsoft.com/office/drawing/2014/main" id="{DC5871FA-28FB-4D25-B13D-491DF22A6A1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65A23B-FAEE-44B0-96AA-23483F96C0A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attempt in range(1,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print(attempt)</a:t>
            </a:r>
          </a:p>
        </p:txBody>
      </p:sp>
      <p:sp>
        <p:nvSpPr>
          <p:cNvPr id="6" name="">
            <a:extLst xmlns:a="http://schemas.openxmlformats.org/drawingml/2006/main">
              <a:ext uri="{FF2B5EF4-FFF2-40B4-BE49-F238E27FC236}">
                <a16:creationId xmlns:a16="http://schemas.microsoft.com/office/drawing/2014/main" id="{B2C02038-45A9-4D4C-987E-ED832C552E48}"/>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407972F3-C389-4D4C-B925-883B8BDD0177}"/>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Start at 1; stop before 4.</a:t>
            </a:r>
          </a:p>
        </p:txBody>
      </p:sp>
      <p:sp>
        <p:nvSpPr>
          <p:cNvPr id="8" name="">
            <a:extLst xmlns:a="http://schemas.openxmlformats.org/drawingml/2006/main">
              <a:ext uri="{FF2B5EF4-FFF2-40B4-BE49-F238E27FC236}">
                <a16:creationId xmlns:a16="http://schemas.microsoft.com/office/drawing/2014/main" id="{533F01F0-2C3A-4154-8A23-3886B2EFBF3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1; 2; 3</a:t>
            </a:r>
          </a:p>
        </p:txBody>
      </p:sp>
      <p:sp>
        <p:nvSpPr>
          <p:cNvPr id="9" name="">
            <a:extLst xmlns:a="http://schemas.openxmlformats.org/drawingml/2006/main">
              <a:ext uri="{FF2B5EF4-FFF2-40B4-BE49-F238E27FC236}">
                <a16:creationId xmlns:a16="http://schemas.microsoft.com/office/drawing/2014/main" id="{F1FEF356-29AE-469E-8A89-083DE4FCF75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31</a:t>
            </a:r>
          </a:p>
        </p:txBody>
      </p:sp>
    </p:spTree>
    <p:extLst>
      <p:ext uri="{BB962C8B-B14F-4D97-AF65-F5344CB8AC3E}">
        <p14:creationId xmlns:p14="http://schemas.microsoft.com/office/powerpoint/2010/main" val="153774909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A30195-6810-4259-B2F4-0D52AEE40A0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DACCB9-F7FE-45BE-9685-62B5510F61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71EA02D-3728-46C7-82A6-0D9CCA36D65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continue and break change a loop’s path</a:t>
            </a:r>
          </a:p>
        </p:txBody>
      </p:sp>
      <p:sp>
        <p:nvSpPr>
          <p:cNvPr id="4" name="">
            <a:extLst xmlns:a="http://schemas.openxmlformats.org/drawingml/2006/main">
              <a:ext uri="{FF2B5EF4-FFF2-40B4-BE49-F238E27FC236}">
                <a16:creationId xmlns:a16="http://schemas.microsoft.com/office/drawing/2014/main" id="{A4C8D456-0119-4D5A-8B81-0C82915A083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E2E1FAC-C5C1-45D2-BDB0-43AEB16DB03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continue skips the rest of the current iteration, then starts the next iteration. It does not end the whole loop.</a:t>
            </a:r>
          </a:p>
        </p:txBody>
      </p:sp>
      <p:sp>
        <p:nvSpPr>
          <p:cNvPr id="6" name="">
            <a:extLst xmlns:a="http://schemas.openxmlformats.org/drawingml/2006/main">
              <a:ext uri="{FF2B5EF4-FFF2-40B4-BE49-F238E27FC236}">
                <a16:creationId xmlns:a16="http://schemas.microsoft.com/office/drawing/2014/main" id="{B88ACA4B-8399-40FE-B32D-0E6A66CA965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99F121E-9383-4B83-AD8E-455E2810C68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break exits the nearest enclosing loop immediately. Execution resumes after that loop.</a:t>
            </a:r>
          </a:p>
        </p:txBody>
      </p:sp>
      <p:sp>
        <p:nvSpPr>
          <p:cNvPr id="8" name="">
            <a:extLst xmlns:a="http://schemas.openxmlformats.org/drawingml/2006/main">
              <a:ext uri="{FF2B5EF4-FFF2-40B4-BE49-F238E27FC236}">
                <a16:creationId xmlns:a16="http://schemas.microsoft.com/office/drawing/2014/main" id="{916903B9-619B-490E-8C04-5271C21BDEC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D61E008-896D-4054-9099-6B6BD074B8B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Put the condition inside the loop with four spaces. Its action is inside that condition with eight spaces: an indented block inside another block.</a:t>
            </a:r>
          </a:p>
        </p:txBody>
      </p:sp>
      <p:sp>
        <p:nvSpPr>
          <p:cNvPr id="10" name="">
            <a:extLst xmlns:a="http://schemas.openxmlformats.org/drawingml/2006/main">
              <a:ext uri="{FF2B5EF4-FFF2-40B4-BE49-F238E27FC236}">
                <a16:creationId xmlns:a16="http://schemas.microsoft.com/office/drawing/2014/main" id="{4EA965CE-EFA0-4F38-BDFA-B1380350E2D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32</a:t>
            </a:r>
          </a:p>
        </p:txBody>
      </p:sp>
    </p:spTree>
    <p:extLst>
      <p:ext uri="{BB962C8B-B14F-4D97-AF65-F5344CB8AC3E}">
        <p14:creationId xmlns:p14="http://schemas.microsoft.com/office/powerpoint/2010/main" val="98623789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F1EF7B-9EBE-48C0-ADEF-BE6F4B971C8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6DA016-FC2E-420D-B752-2B7EA7A63F0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4C760C3-7B13-4221-9927-C30A565A2F8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Skip one item using continue</a:t>
            </a:r>
          </a:p>
        </p:txBody>
      </p:sp>
      <p:sp>
        <p:nvSpPr>
          <p:cNvPr id="4" name="">
            <a:extLst xmlns:a="http://schemas.openxmlformats.org/drawingml/2006/main">
              <a:ext uri="{FF2B5EF4-FFF2-40B4-BE49-F238E27FC236}">
                <a16:creationId xmlns:a16="http://schemas.microsoft.com/office/drawing/2014/main" id="{75CC4CF5-9ADB-40D9-B35A-A3CF15BB0E4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F18A1F-BD56-4C2C-9747-57A1F3D319F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[2, -1,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reading &lt;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continue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print(reading)</a:t>
            </a:r>
          </a:p>
        </p:txBody>
      </p:sp>
      <p:sp>
        <p:nvSpPr>
          <p:cNvPr id="6" name="">
            <a:extLst xmlns:a="http://schemas.openxmlformats.org/drawingml/2006/main">
              <a:ext uri="{FF2B5EF4-FFF2-40B4-BE49-F238E27FC236}">
                <a16:creationId xmlns:a16="http://schemas.microsoft.com/office/drawing/2014/main" id="{D6C9BE10-D186-4A3A-A818-97B7E606B16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5DCF9E7-DE6C-4C43-A14C-92D1AA3610E0}"/>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-1 takes continue, so its print is skipped.</a:t>
            </a:r>
          </a:p>
        </p:txBody>
      </p:sp>
      <p:sp>
        <p:nvSpPr>
          <p:cNvPr id="8" name="">
            <a:extLst xmlns:a="http://schemas.openxmlformats.org/drawingml/2006/main">
              <a:ext uri="{FF2B5EF4-FFF2-40B4-BE49-F238E27FC236}">
                <a16:creationId xmlns:a16="http://schemas.microsoft.com/office/drawing/2014/main" id="{1C999D38-D0B7-4A16-BBC8-987FB0A23A47}"/>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2 and 6 reach print.</a:t>
            </a:r>
          </a:p>
        </p:txBody>
      </p:sp>
      <p:sp>
        <p:nvSpPr>
          <p:cNvPr id="9" name="">
            <a:extLst xmlns:a="http://schemas.openxmlformats.org/drawingml/2006/main">
              <a:ext uri="{FF2B5EF4-FFF2-40B4-BE49-F238E27FC236}">
                <a16:creationId xmlns:a16="http://schemas.microsoft.com/office/drawing/2014/main" id="{DA64F9EA-7B96-4745-9868-5F160E00FE1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 6</a:t>
            </a:r>
          </a:p>
        </p:txBody>
      </p:sp>
      <p:sp>
        <p:nvSpPr>
          <p:cNvPr id="10" name="">
            <a:extLst xmlns:a="http://schemas.openxmlformats.org/drawingml/2006/main">
              <a:ext uri="{FF2B5EF4-FFF2-40B4-BE49-F238E27FC236}">
                <a16:creationId xmlns:a16="http://schemas.microsoft.com/office/drawing/2014/main" id="{58AE464C-82BA-425A-968B-80DB624BAEF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33</a:t>
            </a:r>
          </a:p>
        </p:txBody>
      </p:sp>
    </p:spTree>
    <p:extLst>
      <p:ext uri="{BB962C8B-B14F-4D97-AF65-F5344CB8AC3E}">
        <p14:creationId xmlns:p14="http://schemas.microsoft.com/office/powerpoint/2010/main" val="78642934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408EA5-8DE7-4100-AAEA-6458DF14832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1EBFD6-D0F3-4931-B090-45914EDC5E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897F55C-A5EB-442A-9AD8-E10CD6154D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Stop at one item using break</a:t>
            </a:r>
          </a:p>
        </p:txBody>
      </p:sp>
      <p:sp>
        <p:nvSpPr>
          <p:cNvPr id="4" name="">
            <a:extLst xmlns:a="http://schemas.openxmlformats.org/drawingml/2006/main">
              <a:ext uri="{FF2B5EF4-FFF2-40B4-BE49-F238E27FC236}">
                <a16:creationId xmlns:a16="http://schemas.microsoft.com/office/drawing/2014/main" id="{8C343C7B-6EFA-48A7-9FD3-ACB9D3912297}"/>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24E614B-6CEB-4D4E-BABB-821E848F0CB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reading in [2, -1,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reading &lt;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break</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print(reading)</a:t>
            </a:r>
          </a:p>
        </p:txBody>
      </p:sp>
      <p:sp>
        <p:nvSpPr>
          <p:cNvPr id="6" name="">
            <a:extLst xmlns:a="http://schemas.openxmlformats.org/drawingml/2006/main">
              <a:ext uri="{FF2B5EF4-FFF2-40B4-BE49-F238E27FC236}">
                <a16:creationId xmlns:a16="http://schemas.microsoft.com/office/drawing/2014/main" id="{9465BB87-1F5C-4247-8D30-EA683F27C92C}"/>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8BF0C77A-8509-420F-A42C-EDF2DFEA770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-1 triggers break. The loop never visits 6.</a:t>
            </a:r>
          </a:p>
        </p:txBody>
      </p:sp>
      <p:sp>
        <p:nvSpPr>
          <p:cNvPr id="8" name="">
            <a:extLst xmlns:a="http://schemas.openxmlformats.org/drawingml/2006/main">
              <a:ext uri="{FF2B5EF4-FFF2-40B4-BE49-F238E27FC236}">
                <a16:creationId xmlns:a16="http://schemas.microsoft.com/office/drawing/2014/main" id="{200A8556-4350-4A16-9556-4AF21042390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a:t>
            </a:r>
          </a:p>
        </p:txBody>
      </p:sp>
      <p:sp>
        <p:nvSpPr>
          <p:cNvPr id="9" name="">
            <a:extLst xmlns:a="http://schemas.openxmlformats.org/drawingml/2006/main">
              <a:ext uri="{FF2B5EF4-FFF2-40B4-BE49-F238E27FC236}">
                <a16:creationId xmlns:a16="http://schemas.microsoft.com/office/drawing/2014/main" id="{C7673C48-D233-4A61-B89D-2E23EE5C40C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34</a:t>
            </a:r>
          </a:p>
        </p:txBody>
      </p:sp>
    </p:spTree>
    <p:extLst>
      <p:ext uri="{BB962C8B-B14F-4D97-AF65-F5344CB8AC3E}">
        <p14:creationId xmlns:p14="http://schemas.microsoft.com/office/powerpoint/2010/main" val="69877797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685BA7-EC2C-4098-A37B-93BBF0589C7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968EEF-7748-42A2-B980-A3DC1BAB14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F9D33A57-3DA6-4B3C-9563-D834F57087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two loop controls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Input</a:t>
                      </a:r>
                    </a:p>
                  </a:txBody>
                  <a:tcPr marL="91440" marR="91440" marT="45720" marB="45720">
                    <a:solidFill>
                      <a:srgbClr val="2E7D6F"/>
                    </a:solidFill>
                  </a:tcPr>
                </a:tc>
                <a:tc>
                  <a:txBody>
                    <a:bodyPr/>
                    <a:lstStyle/>
                    <a:p>
                      <a:r>
                        <a:rPr sz="2025" b="1">
                          <a:solidFill>
                            <a:srgbClr val="FFFFFF"/>
                          </a:solidFill>
                          <a:latin typeface="Calibri"/>
                          <a:ea typeface="Calibri"/>
                          <a:cs typeface="Calibri"/>
                        </a:rPr>
                        <a:t>continue version</a:t>
                      </a:r>
                    </a:p>
                  </a:txBody>
                  <a:tcPr marL="91440" marR="91440" marT="45720" marB="45720">
                    <a:solidFill>
                      <a:srgbClr val="2E7D6F"/>
                    </a:solidFill>
                  </a:tcPr>
                </a:tc>
                <a:tc>
                  <a:txBody>
                    <a:bodyPr/>
                    <a:lstStyle/>
                    <a:p>
                      <a:r>
                        <a:rPr sz="2025" b="1">
                          <a:solidFill>
                            <a:srgbClr val="FFFFFF"/>
                          </a:solidFill>
                          <a:latin typeface="Calibri"/>
                          <a:ea typeface="Calibri"/>
                          <a:cs typeface="Calibri"/>
                        </a:rPr>
                        <a:t>break version</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2</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2</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-1</a:t>
                      </a:r>
                    </a:p>
                  </a:txBody>
                  <a:tcPr marL="91440" marR="91440" marT="45720" marB="45720">
                    <a:solidFill>
                      <a:srgbClr val="FFFFFF"/>
                    </a:solidFill>
                  </a:tcPr>
                </a:tc>
                <a:tc>
                  <a:txBody>
                    <a:bodyPr/>
                    <a:lstStyle/>
                    <a:p>
                      <a:r>
                        <a:rPr sz="2025" b="0">
                          <a:solidFill>
                            <a:srgbClr val="1C3144"/>
                          </a:solidFill>
                          <a:latin typeface="Calibri"/>
                          <a:ea typeface="Calibri"/>
                          <a:cs typeface="Calibri"/>
                        </a:rPr>
                        <a:t>Skip its print</a:t>
                      </a:r>
                    </a:p>
                  </a:txBody>
                  <a:tcPr marL="91440" marR="91440" marT="45720" marB="45720">
                    <a:solidFill>
                      <a:srgbClr val="FFFFFF"/>
                    </a:solidFill>
                  </a:tcPr>
                </a:tc>
                <a:tc>
                  <a:txBody>
                    <a:bodyPr/>
                    <a:lstStyle/>
                    <a:p>
                      <a:r>
                        <a:rPr sz="2025" b="0">
                          <a:solidFill>
                            <a:srgbClr val="1C3144"/>
                          </a:solidFill>
                          <a:latin typeface="Calibri"/>
                          <a:ea typeface="Calibri"/>
                          <a:cs typeface="Calibri"/>
                        </a:rPr>
                        <a:t>Exit loop</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6</a:t>
                      </a:r>
                    </a:p>
                  </a:txBody>
                  <a:tcPr marL="91440" marR="91440" marT="45720" marB="45720">
                    <a:solidFill>
                      <a:srgbClr val="EEF3F6"/>
                    </a:solidFill>
                  </a:tcPr>
                </a:tc>
                <a:tc>
                  <a:txBody>
                    <a:bodyPr/>
                    <a:lstStyle/>
                    <a:p>
                      <a:r>
                        <a:rPr sz="2025" b="0">
                          <a:solidFill>
                            <a:srgbClr val="1C3144"/>
                          </a:solidFill>
                          <a:latin typeface="Calibri"/>
                          <a:ea typeface="Calibri"/>
                          <a:cs typeface="Calibri"/>
                        </a:rPr>
                        <a:t>Print 6</a:t>
                      </a:r>
                    </a:p>
                  </a:txBody>
                  <a:tcPr marL="91440" marR="91440" marT="45720" marB="45720">
                    <a:solidFill>
                      <a:srgbClr val="EEF3F6"/>
                    </a:solidFill>
                  </a:tcPr>
                </a:tc>
                <a:tc>
                  <a:txBody>
                    <a:bodyPr/>
                    <a:lstStyle/>
                    <a:p>
                      <a:r>
                        <a:rPr sz="2025" b="0">
                          <a:solidFill>
                            <a:srgbClr val="1C3144"/>
                          </a:solidFill>
                          <a:latin typeface="Calibri"/>
                          <a:ea typeface="Calibri"/>
                          <a:cs typeface="Calibri"/>
                        </a:rPr>
                        <a:t>Never visited</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30087D98-BC04-4A06-9238-9D83C13E91DE}"/>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Use continue only when skipping is justified by the stated data rule; do not silently discard evidence.</a:t>
            </a:r>
          </a:p>
        </p:txBody>
      </p:sp>
      <p:sp>
        <p:nvSpPr>
          <p:cNvPr id="6" name="">
            <a:extLst xmlns:a="http://schemas.openxmlformats.org/drawingml/2006/main">
              <a:ext uri="{FF2B5EF4-FFF2-40B4-BE49-F238E27FC236}">
                <a16:creationId xmlns:a16="http://schemas.microsoft.com/office/drawing/2014/main" id="{0999CF47-FF83-487D-A3CB-6957525C58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35</a:t>
            </a:r>
          </a:p>
        </p:txBody>
      </p:sp>
    </p:spTree>
    <p:extLst>
      <p:ext uri="{BB962C8B-B14F-4D97-AF65-F5344CB8AC3E}">
        <p14:creationId xmlns:p14="http://schemas.microsoft.com/office/powerpoint/2010/main" val="81867377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E6EF15-5A6B-49B9-9228-1C70E89732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D60627-DB64-4029-BA9C-623B3F14BC7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D30F92B-21E8-463E-B48D-2FC23FC5342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dictionary is a record with named fields</a:t>
            </a:r>
          </a:p>
        </p:txBody>
      </p:sp>
      <p:sp>
        <p:nvSpPr>
          <p:cNvPr id="4" name="">
            <a:extLst xmlns:a="http://schemas.openxmlformats.org/drawingml/2006/main">
              <a:ext uri="{FF2B5EF4-FFF2-40B4-BE49-F238E27FC236}">
                <a16:creationId xmlns:a16="http://schemas.microsoft.com/office/drawing/2014/main" id="{99D1C4C4-3344-498F-9F00-1BA398923E3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DBC5FC1-F189-4297-8A2A-7292D74F64B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 = {"unit": "A", "reading": 4} stores two key–value pairs. Keys name fields; values hold the information.</a:t>
            </a:r>
          </a:p>
        </p:txBody>
      </p:sp>
      <p:sp>
        <p:nvSpPr>
          <p:cNvPr id="6" name="">
            <a:extLst xmlns:a="http://schemas.openxmlformats.org/drawingml/2006/main">
              <a:ext uri="{FF2B5EF4-FFF2-40B4-BE49-F238E27FC236}">
                <a16:creationId xmlns:a16="http://schemas.microsoft.com/office/drawing/2014/main" id="{0A255320-2E35-4CA1-861E-1A841045544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E5AE0A4-6F47-4BB5-B11F-7310ADD8583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Braces enclose the dictionary. A colon separates each key from its value and a comma separates pairs. Each key is unique.</a:t>
            </a:r>
          </a:p>
        </p:txBody>
      </p:sp>
      <p:sp>
        <p:nvSpPr>
          <p:cNvPr id="8" name="">
            <a:extLst xmlns:a="http://schemas.openxmlformats.org/drawingml/2006/main">
              <a:ext uri="{FF2B5EF4-FFF2-40B4-BE49-F238E27FC236}">
                <a16:creationId xmlns:a16="http://schemas.microsoft.com/office/drawing/2014/main" id="{E10945DC-3562-42CC-B043-34D2517A038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AD777AE-6297-4142-9544-1057F8CE722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record["reading"] returns 4. Unlike a list position, "reading" names the field we want.</a:t>
            </a:r>
          </a:p>
        </p:txBody>
      </p:sp>
      <p:sp>
        <p:nvSpPr>
          <p:cNvPr id="10" name="">
            <a:extLst xmlns:a="http://schemas.openxmlformats.org/drawingml/2006/main">
              <a:ext uri="{FF2B5EF4-FFF2-40B4-BE49-F238E27FC236}">
                <a16:creationId xmlns:a16="http://schemas.microsoft.com/office/drawing/2014/main" id="{373A1D2D-AA81-4D22-88F9-319F37346EE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36</a:t>
            </a:r>
          </a:p>
        </p:txBody>
      </p:sp>
    </p:spTree>
    <p:extLst>
      <p:ext uri="{BB962C8B-B14F-4D97-AF65-F5344CB8AC3E}">
        <p14:creationId xmlns:p14="http://schemas.microsoft.com/office/powerpoint/2010/main" val="37669148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7590C5-4C16-4C02-B4A0-A13A6FF4B89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16AFF9-B947-49C9-99C3-670B4942A35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14FEAF5-D413-42D7-96CD-F5D185FA11E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missing dictionary key and get</a:t>
            </a:r>
          </a:p>
        </p:txBody>
      </p:sp>
      <p:sp>
        <p:nvSpPr>
          <p:cNvPr id="4" name="">
            <a:extLst xmlns:a="http://schemas.openxmlformats.org/drawingml/2006/main">
              <a:ext uri="{FF2B5EF4-FFF2-40B4-BE49-F238E27FC236}">
                <a16:creationId xmlns:a16="http://schemas.microsoft.com/office/drawing/2014/main" id="{1C7188C3-1A4A-4858-A417-4674152437E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124154D-3EE7-40FE-B3BE-81D1BC157E0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record["reading"] requests a known field. If that key does not exist, square-bracket lookup raises KeyError.</a:t>
            </a:r>
          </a:p>
        </p:txBody>
      </p:sp>
      <p:sp>
        <p:nvSpPr>
          <p:cNvPr id="6" name="">
            <a:extLst xmlns:a="http://schemas.openxmlformats.org/drawingml/2006/main">
              <a:ext uri="{FF2B5EF4-FFF2-40B4-BE49-F238E27FC236}">
                <a16:creationId xmlns:a16="http://schemas.microsoft.com/office/drawing/2014/main" id="{B098C4EF-FFEB-4A90-9966-0A220F11087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B368D56-8472-480C-9D98-37502F528E9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record.get("missing", 0) asks for that key with a fallback: return 0 if it is absent. This does not add a new key.</a:t>
            </a:r>
          </a:p>
        </p:txBody>
      </p:sp>
      <p:sp>
        <p:nvSpPr>
          <p:cNvPr id="8" name="">
            <a:extLst xmlns:a="http://schemas.openxmlformats.org/drawingml/2006/main">
              <a:ext uri="{FF2B5EF4-FFF2-40B4-BE49-F238E27FC236}">
                <a16:creationId xmlns:a16="http://schemas.microsoft.com/office/drawing/2014/main" id="{E599DDEF-DDE6-408D-8026-B107C08EDF9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76516E3-FEDE-4262-863C-2307EB571D8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second input is the fallback value. Use a fallback only when the task defines what missing information should mean.</a:t>
            </a:r>
          </a:p>
        </p:txBody>
      </p:sp>
      <p:sp>
        <p:nvSpPr>
          <p:cNvPr id="10" name="">
            <a:extLst xmlns:a="http://schemas.openxmlformats.org/drawingml/2006/main">
              <a:ext uri="{FF2B5EF4-FFF2-40B4-BE49-F238E27FC236}">
                <a16:creationId xmlns:a16="http://schemas.microsoft.com/office/drawing/2014/main" id="{E8C1B6D2-D3CE-4195-9B04-3A3AE6A2479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37</a:t>
            </a:r>
          </a:p>
        </p:txBody>
      </p:sp>
    </p:spTree>
    <p:extLst>
      <p:ext uri="{BB962C8B-B14F-4D97-AF65-F5344CB8AC3E}">
        <p14:creationId xmlns:p14="http://schemas.microsoft.com/office/powerpoint/2010/main" val="158000766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A5E5B8-3E1F-4F1D-BE5E-E9D52083C3C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A22E74-7844-48E3-8F25-482CD7B6128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CC51E9B-A672-442F-8371-B61849DB16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and updating a dictionary</a:t>
            </a:r>
          </a:p>
        </p:txBody>
      </p:sp>
      <p:sp>
        <p:nvSpPr>
          <p:cNvPr id="4" name="">
            <a:extLst xmlns:a="http://schemas.openxmlformats.org/drawingml/2006/main">
              <a:ext uri="{FF2B5EF4-FFF2-40B4-BE49-F238E27FC236}">
                <a16:creationId xmlns:a16="http://schemas.microsoft.com/office/drawing/2014/main" id="{E12B4EDA-BF0E-4196-B028-FD6A4D76533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BBE65D-A08F-4197-AFB4-D0A058B87A69}"/>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record = {"unit": "A", "reading":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print(record["reading"])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record["reading"] =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print(record["reading"])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print(record.get("missing", 0))</a:t>
            </a:r>
          </a:p>
        </p:txBody>
      </p:sp>
      <p:sp>
        <p:nvSpPr>
          <p:cNvPr id="6" name="">
            <a:extLst xmlns:a="http://schemas.openxmlformats.org/drawingml/2006/main">
              <a:ext uri="{FF2B5EF4-FFF2-40B4-BE49-F238E27FC236}">
                <a16:creationId xmlns:a16="http://schemas.microsoft.com/office/drawing/2014/main" id="{9398FFF6-20F4-4ECC-962D-F248EC35BB5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B447507-4947-41FA-B269-E840DF4A26D0}"/>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["reading"] selects a key, not a position.</a:t>
            </a:r>
          </a:p>
        </p:txBody>
      </p:sp>
      <p:sp>
        <p:nvSpPr>
          <p:cNvPr id="8" name="">
            <a:extLst xmlns:a="http://schemas.openxmlformats.org/drawingml/2006/main">
              <a:ext uri="{FF2B5EF4-FFF2-40B4-BE49-F238E27FC236}">
                <a16:creationId xmlns:a16="http://schemas.microsoft.com/office/drawing/2014/main" id="{80CB8578-11F5-4235-82AA-EE8C133F59F1}"/>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Assigning through the key updates its value.</a:t>
            </a:r>
          </a:p>
        </p:txBody>
      </p:sp>
      <p:sp>
        <p:nvSpPr>
          <p:cNvPr id="9" name="">
            <a:extLst xmlns:a="http://schemas.openxmlformats.org/drawingml/2006/main">
              <a:ext uri="{FF2B5EF4-FFF2-40B4-BE49-F238E27FC236}">
                <a16:creationId xmlns:a16="http://schemas.microsoft.com/office/drawing/2014/main" id="{693B78DD-BDBF-44F6-B44E-B3F8FD401D1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4, then 6, then 0. get uses the fallback only when that key is absent.</a:t>
            </a:r>
          </a:p>
        </p:txBody>
      </p:sp>
      <p:sp>
        <p:nvSpPr>
          <p:cNvPr id="10" name="">
            <a:extLst xmlns:a="http://schemas.openxmlformats.org/drawingml/2006/main">
              <a:ext uri="{FF2B5EF4-FFF2-40B4-BE49-F238E27FC236}">
                <a16:creationId xmlns:a16="http://schemas.microsoft.com/office/drawing/2014/main" id="{0ED66E33-FE48-4DEA-9B79-AF4660959A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38</a:t>
            </a:r>
          </a:p>
        </p:txBody>
      </p:sp>
    </p:spTree>
    <p:extLst>
      <p:ext uri="{BB962C8B-B14F-4D97-AF65-F5344CB8AC3E}">
        <p14:creationId xmlns:p14="http://schemas.microsoft.com/office/powerpoint/2010/main" val="168490299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2DF814-F631-4497-8748-8E9556CDF58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DFB74A-3127-41C9-8983-68D02769120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8BBB044-7648-4B0F-9C92-81A5604A4F1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Tuples and unpacking</a:t>
            </a:r>
          </a:p>
        </p:txBody>
      </p:sp>
      <p:sp>
        <p:nvSpPr>
          <p:cNvPr id="4" name="">
            <a:extLst xmlns:a="http://schemas.openxmlformats.org/drawingml/2006/main">
              <a:ext uri="{FF2B5EF4-FFF2-40B4-BE49-F238E27FC236}">
                <a16:creationId xmlns:a16="http://schemas.microsoft.com/office/drawing/2014/main" id="{2CA55825-A93E-4AB0-A072-C7E9873D52B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2622DD8-66EF-4A43-A6BC-853002481C5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tuple stores items in order. point = (2, 3) stores two coordinates; point[0] is 2. You cannot reassign point[0].</a:t>
            </a:r>
          </a:p>
        </p:txBody>
      </p:sp>
      <p:sp>
        <p:nvSpPr>
          <p:cNvPr id="6" name="">
            <a:extLst xmlns:a="http://schemas.openxmlformats.org/drawingml/2006/main">
              <a:ext uri="{FF2B5EF4-FFF2-40B4-BE49-F238E27FC236}">
                <a16:creationId xmlns:a16="http://schemas.microsoft.com/office/drawing/2014/main" id="{9204C274-0602-448A-83ED-A315381DD0E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B451916-1975-44D6-A817-CEFB2DFD0CA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 y = point gives the first item to x and the second to y. This is unpacking; the number of names must match the number of items.</a:t>
            </a:r>
          </a:p>
        </p:txBody>
      </p:sp>
      <p:sp>
        <p:nvSpPr>
          <p:cNvPr id="8" name="">
            <a:extLst xmlns:a="http://schemas.openxmlformats.org/drawingml/2006/main">
              <a:ext uri="{FF2B5EF4-FFF2-40B4-BE49-F238E27FC236}">
                <a16:creationId xmlns:a16="http://schemas.microsoft.com/office/drawing/2014/main" id="{7A871735-769B-4DA0-955B-D29990131B7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89AEBFE-4532-4325-BD5B-1F03675406E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tuple prevents replacing its positions. It does not freeze the contents of a mutable object stored inside it.</a:t>
            </a:r>
          </a:p>
        </p:txBody>
      </p:sp>
      <p:sp>
        <p:nvSpPr>
          <p:cNvPr id="10" name="">
            <a:extLst xmlns:a="http://schemas.openxmlformats.org/drawingml/2006/main">
              <a:ext uri="{FF2B5EF4-FFF2-40B4-BE49-F238E27FC236}">
                <a16:creationId xmlns:a16="http://schemas.microsoft.com/office/drawing/2014/main" id="{F4BD5600-4048-4E6D-BB26-803933ADF78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39</a:t>
            </a:r>
          </a:p>
        </p:txBody>
      </p:sp>
    </p:spTree>
    <p:extLst>
      <p:ext uri="{BB962C8B-B14F-4D97-AF65-F5344CB8AC3E}">
        <p14:creationId xmlns:p14="http://schemas.microsoft.com/office/powerpoint/2010/main" val="51313159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1B1A18-1125-4798-92A5-B635AC49A8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36DF9A-B7E5-4435-B3A6-83D00A75AF6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33F944E-088E-46F4-89F7-35212F9BFAF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Unpacking a pair</a:t>
            </a:r>
          </a:p>
        </p:txBody>
      </p:sp>
      <p:sp>
        <p:nvSpPr>
          <p:cNvPr id="4" name="">
            <a:extLst xmlns:a="http://schemas.openxmlformats.org/drawingml/2006/main">
              <a:ext uri="{FF2B5EF4-FFF2-40B4-BE49-F238E27FC236}">
                <a16:creationId xmlns:a16="http://schemas.microsoft.com/office/drawing/2014/main" id="{F96DDFE8-A3D3-47C4-8BA7-95DA05445FF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1FE92A-C0EE-4E09-8E20-FDD7F670D08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point = (2,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x, y = point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print(x)</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print(y)</a:t>
            </a:r>
          </a:p>
        </p:txBody>
      </p:sp>
      <p:sp>
        <p:nvSpPr>
          <p:cNvPr id="6" name="">
            <a:extLst xmlns:a="http://schemas.openxmlformats.org/drawingml/2006/main">
              <a:ext uri="{FF2B5EF4-FFF2-40B4-BE49-F238E27FC236}">
                <a16:creationId xmlns:a16="http://schemas.microsoft.com/office/drawing/2014/main" id="{E74F2291-5F7E-441C-9906-5C9A9EC395B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9E0E27A-60CB-4F2C-95DD-1588A947FC6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Two names receive the two items in order.</a:t>
            </a:r>
          </a:p>
        </p:txBody>
      </p:sp>
      <p:sp>
        <p:nvSpPr>
          <p:cNvPr id="8" name="">
            <a:extLst xmlns:a="http://schemas.openxmlformats.org/drawingml/2006/main">
              <a:ext uri="{FF2B5EF4-FFF2-40B4-BE49-F238E27FC236}">
                <a16:creationId xmlns:a16="http://schemas.microsoft.com/office/drawing/2014/main" id="{C0417ABA-19BB-43F9-A012-A3E9C8FF8FE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 then 3.</a:t>
            </a:r>
          </a:p>
        </p:txBody>
      </p:sp>
      <p:sp>
        <p:nvSpPr>
          <p:cNvPr id="9" name="">
            <a:extLst xmlns:a="http://schemas.openxmlformats.org/drawingml/2006/main">
              <a:ext uri="{FF2B5EF4-FFF2-40B4-BE49-F238E27FC236}">
                <a16:creationId xmlns:a16="http://schemas.microsoft.com/office/drawing/2014/main" id="{BB045882-DDE5-4AD3-9F9D-29638D1081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40</a:t>
            </a:r>
          </a:p>
        </p:txBody>
      </p:sp>
    </p:spTree>
    <p:extLst>
      <p:ext uri="{BB962C8B-B14F-4D97-AF65-F5344CB8AC3E}">
        <p14:creationId xmlns:p14="http://schemas.microsoft.com/office/powerpoint/2010/main" val="180580585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94874C-02C2-4E40-AC66-62F831DA52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CCCBAC-8E3B-4323-BD4B-A15F6A89166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C5B9AC3-A4BE-4DC0-8696-780546B08B5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set remembers distinct items</a:t>
            </a:r>
          </a:p>
        </p:txBody>
      </p:sp>
      <p:sp>
        <p:nvSpPr>
          <p:cNvPr id="4" name="">
            <a:extLst xmlns:a="http://schemas.openxmlformats.org/drawingml/2006/main">
              <a:ext uri="{FF2B5EF4-FFF2-40B4-BE49-F238E27FC236}">
                <a16:creationId xmlns:a16="http://schemas.microsoft.com/office/drawing/2014/main" id="{F5E0A778-DD73-462B-99F9-8D0F45A57C2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6F9EAC6-F314-467F-9562-30FB7B695A3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set is useful when the question is “Have we seen this ID?” It keeps one instance of each distinct item.</a:t>
            </a:r>
          </a:p>
        </p:txBody>
      </p:sp>
      <p:sp>
        <p:nvSpPr>
          <p:cNvPr id="6" name="">
            <a:extLst xmlns:a="http://schemas.openxmlformats.org/drawingml/2006/main">
              <a:ext uri="{FF2B5EF4-FFF2-40B4-BE49-F238E27FC236}">
                <a16:creationId xmlns:a16="http://schemas.microsoft.com/office/drawing/2014/main" id="{5921B82E-CA7C-4171-BD4F-F10A82C6DD8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6C61F88-BA25-4B12-9EF2-D520DD21AA7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seen = set() creates an empty set. seen.add("A") adds an item. "A" in seen asks whether it is present.</a:t>
            </a:r>
          </a:p>
        </p:txBody>
      </p:sp>
      <p:sp>
        <p:nvSpPr>
          <p:cNvPr id="8" name="">
            <a:extLst xmlns:a="http://schemas.openxmlformats.org/drawingml/2006/main">
              <a:ext uri="{FF2B5EF4-FFF2-40B4-BE49-F238E27FC236}">
                <a16:creationId xmlns:a16="http://schemas.microsoft.com/office/drawing/2014/main" id="{E85C527A-38CB-47E3-BF93-BC840BC2623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F1049F4-6C09-424E-8646-ECFA28B3260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 not use a set when position or repeated readings matter. Sets cannot be indexed. {} creates an empty dictionary, not an empty set.</a:t>
            </a:r>
          </a:p>
        </p:txBody>
      </p:sp>
      <p:sp>
        <p:nvSpPr>
          <p:cNvPr id="10" name="">
            <a:extLst xmlns:a="http://schemas.openxmlformats.org/drawingml/2006/main">
              <a:ext uri="{FF2B5EF4-FFF2-40B4-BE49-F238E27FC236}">
                <a16:creationId xmlns:a16="http://schemas.microsoft.com/office/drawing/2014/main" id="{CE50E34A-BB92-4ED8-80E3-7FE5E309759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41</a:t>
            </a:r>
          </a:p>
        </p:txBody>
      </p:sp>
    </p:spTree>
    <p:extLst>
      <p:ext uri="{BB962C8B-B14F-4D97-AF65-F5344CB8AC3E}">
        <p14:creationId xmlns:p14="http://schemas.microsoft.com/office/powerpoint/2010/main" val="48789345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3DD156-D358-4DB0-A918-37ECD667447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7830E0-71AD-4786-A5E0-39578B678ED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F8A7D89-3B2D-439C-BFF5-522C2E7BBFB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Set membership and repeated IDs</a:t>
            </a:r>
          </a:p>
        </p:txBody>
      </p:sp>
      <p:sp>
        <p:nvSpPr>
          <p:cNvPr id="4" name="">
            <a:extLst xmlns:a="http://schemas.openxmlformats.org/drawingml/2006/main">
              <a:ext uri="{FF2B5EF4-FFF2-40B4-BE49-F238E27FC236}">
                <a16:creationId xmlns:a16="http://schemas.microsoft.com/office/drawing/2014/main" id="{7294648C-9776-4AFC-B865-2EC92838CF8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AE68A3-B133-4633-86E1-1D7CCE61FCD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seen = set()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seen.add("A")</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seen.add("A")</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print(len(seen))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 in seen)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print("B" in seen)</a:t>
            </a:r>
          </a:p>
        </p:txBody>
      </p:sp>
      <p:sp>
        <p:nvSpPr>
          <p:cNvPr id="6" name="">
            <a:extLst xmlns:a="http://schemas.openxmlformats.org/drawingml/2006/main">
              <a:ext uri="{FF2B5EF4-FFF2-40B4-BE49-F238E27FC236}">
                <a16:creationId xmlns:a16="http://schemas.microsoft.com/office/drawing/2014/main" id="{FDA7C0A4-2866-433E-987A-68C87D4328F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43889FCC-8D50-4EC1-B237-860626963238}"/>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in returns True or False.</a:t>
            </a:r>
          </a:p>
        </p:txBody>
      </p:sp>
      <p:sp>
        <p:nvSpPr>
          <p:cNvPr id="8" name="">
            <a:extLst xmlns:a="http://schemas.openxmlformats.org/drawingml/2006/main">
              <a:ext uri="{FF2B5EF4-FFF2-40B4-BE49-F238E27FC236}">
                <a16:creationId xmlns:a16="http://schemas.microsoft.com/office/drawing/2014/main" id="{81425825-F96F-446B-90BB-9C7C92ECBA38}"/>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 set answers membership questions.</a:t>
            </a:r>
          </a:p>
        </p:txBody>
      </p:sp>
      <p:sp>
        <p:nvSpPr>
          <p:cNvPr id="9" name="">
            <a:extLst xmlns:a="http://schemas.openxmlformats.org/drawingml/2006/main">
              <a:ext uri="{FF2B5EF4-FFF2-40B4-BE49-F238E27FC236}">
                <a16:creationId xmlns:a16="http://schemas.microsoft.com/office/drawing/2014/main" id="{FBC8EDAB-EE00-4A10-83B1-D8202F1E641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1, True, False. Adding the same ID twice keeps one distinct ID.</a:t>
            </a:r>
          </a:p>
        </p:txBody>
      </p:sp>
      <p:sp>
        <p:nvSpPr>
          <p:cNvPr id="10" name="">
            <a:extLst xmlns:a="http://schemas.openxmlformats.org/drawingml/2006/main">
              <a:ext uri="{FF2B5EF4-FFF2-40B4-BE49-F238E27FC236}">
                <a16:creationId xmlns:a16="http://schemas.microsoft.com/office/drawing/2014/main" id="{F3745AA2-3A48-4BBE-87A0-B8C1D0FD32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42</a:t>
            </a:r>
          </a:p>
        </p:txBody>
      </p:sp>
    </p:spTree>
    <p:extLst>
      <p:ext uri="{BB962C8B-B14F-4D97-AF65-F5344CB8AC3E}">
        <p14:creationId xmlns:p14="http://schemas.microsoft.com/office/powerpoint/2010/main" val="155706965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FF17CA-2554-491D-8D55-FFB6BAAF7D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E3B49C-2F3F-40A1-ADBA-6F8801D89C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60B7413F-39D7-4282-860F-D9E4279DC4E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the four collections differ</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Collection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Find an item by</a:t>
                      </a:r>
                    </a:p>
                  </a:txBody>
                  <a:tcPr marL="91440" marR="91440" marT="45720" marB="45720">
                    <a:solidFill>
                      <a:srgbClr val="2E7D6F"/>
                    </a:solidFill>
                  </a:tcPr>
                </a:tc>
                <a:tc>
                  <a:txBody>
                    <a:bodyPr/>
                    <a:lstStyle/>
                    <a:p>
                      <a:r>
                        <a:rPr sz="2025" b="1">
                          <a:solidFill>
                            <a:srgbClr val="FFFFFF"/>
                          </a:solidFill>
                          <a:latin typeface="Calibri"/>
                          <a:ea typeface="Calibri"/>
                          <a:cs typeface="Calibri"/>
                        </a:rPr>
                        <a:t>Repeats / changes</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list</a:t>
                      </a:r>
                    </a:p>
                  </a:txBody>
                  <a:tcPr marL="91440" marR="91440" marT="45720" marB="45720">
                    <a:solidFill>
                      <a:srgbClr val="EEF3F6"/>
                    </a:solidFill>
                  </a:tcPr>
                </a:tc>
                <a:tc>
                  <a:txBody>
                    <a:bodyPr/>
                    <a:lstStyle/>
                    <a:p>
                      <a:r>
                        <a:rPr sz="2025" b="0">
                          <a:solidFill>
                            <a:srgbClr val="1C3144"/>
                          </a:solidFill>
                          <a:latin typeface="Calibri"/>
                          <a:ea typeface="Calibri"/>
                          <a:cs typeface="Calibri"/>
                        </a:rPr>
                        <a:t>Position: values[0]</a:t>
                      </a:r>
                    </a:p>
                  </a:txBody>
                  <a:tcPr marL="91440" marR="91440" marT="45720" marB="45720">
                    <a:solidFill>
                      <a:srgbClr val="EEF3F6"/>
                    </a:solidFill>
                  </a:tcPr>
                </a:tc>
                <a:tc>
                  <a:txBody>
                    <a:bodyPr/>
                    <a:lstStyle/>
                    <a:p>
                      <a:r>
                        <a:rPr sz="2025" b="0">
                          <a:solidFill>
                            <a:srgbClr val="1C3144"/>
                          </a:solidFill>
                          <a:latin typeface="Calibri"/>
                          <a:ea typeface="Calibri"/>
                          <a:cs typeface="Calibri"/>
                        </a:rPr>
                        <a:t>Repeats allowed; items change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dict</a:t>
                      </a:r>
                    </a:p>
                  </a:txBody>
                  <a:tcPr marL="91440" marR="91440" marT="45720" marB="45720">
                    <a:solidFill>
                      <a:srgbClr val="FFFFFF"/>
                    </a:solidFill>
                  </a:tcPr>
                </a:tc>
                <a:tc>
                  <a:txBody>
                    <a:bodyPr/>
                    <a:lstStyle/>
                    <a:p>
                      <a:r>
                        <a:rPr sz="2025" b="0">
                          <a:solidFill>
                            <a:srgbClr val="1C3144"/>
                          </a:solidFill>
                          <a:latin typeface="Calibri"/>
                          <a:ea typeface="Calibri"/>
                          <a:cs typeface="Calibri"/>
                        </a:rPr>
                        <a:t>Key: record["reading"]</a:t>
                      </a:r>
                    </a:p>
                  </a:txBody>
                  <a:tcPr marL="91440" marR="91440" marT="45720" marB="45720">
                    <a:solidFill>
                      <a:srgbClr val="FFFFFF"/>
                    </a:solidFill>
                  </a:tcPr>
                </a:tc>
                <a:tc>
                  <a:txBody>
                    <a:bodyPr/>
                    <a:lstStyle/>
                    <a:p>
                      <a:r>
                        <a:rPr sz="2025" b="0">
                          <a:solidFill>
                            <a:srgbClr val="1C3144"/>
                          </a:solidFill>
                          <a:latin typeface="Calibri"/>
                          <a:ea typeface="Calibri"/>
                          <a:cs typeface="Calibri"/>
                        </a:rPr>
                        <a:t>Keys unique; values change</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tuple</a:t>
                      </a:r>
                    </a:p>
                  </a:txBody>
                  <a:tcPr marL="91440" marR="91440" marT="45720" marB="45720">
                    <a:solidFill>
                      <a:srgbClr val="EEF3F6"/>
                    </a:solidFill>
                  </a:tcPr>
                </a:tc>
                <a:tc>
                  <a:txBody>
                    <a:bodyPr/>
                    <a:lstStyle/>
                    <a:p>
                      <a:r>
                        <a:rPr sz="2025" b="0">
                          <a:solidFill>
                            <a:srgbClr val="1C3144"/>
                          </a:solidFill>
                          <a:latin typeface="Calibri"/>
                          <a:ea typeface="Calibri"/>
                          <a:cs typeface="Calibri"/>
                        </a:rPr>
                        <a:t>Position: point[0]</a:t>
                      </a:r>
                    </a:p>
                  </a:txBody>
                  <a:tcPr marL="91440" marR="91440" marT="45720" marB="45720">
                    <a:solidFill>
                      <a:srgbClr val="EEF3F6"/>
                    </a:solidFill>
                  </a:tcPr>
                </a:tc>
                <a:tc>
                  <a:txBody>
                    <a:bodyPr/>
                    <a:lstStyle/>
                    <a:p>
                      <a:r>
                        <a:rPr sz="2025" b="0">
                          <a:solidFill>
                            <a:srgbClr val="1C3144"/>
                          </a:solidFill>
                          <a:latin typeface="Calibri"/>
                          <a:ea typeface="Calibri"/>
                          <a:cs typeface="Calibri"/>
                        </a:rPr>
                        <a:t>Repeats allowed; positions fixed</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set</a:t>
                      </a:r>
                    </a:p>
                  </a:txBody>
                  <a:tcPr marL="91440" marR="91440" marT="45720" marB="45720">
                    <a:solidFill>
                      <a:srgbClr val="FFFFFF"/>
                    </a:solidFill>
                  </a:tcPr>
                </a:tc>
                <a:tc>
                  <a:txBody>
                    <a:bodyPr/>
                    <a:lstStyle/>
                    <a:p>
                      <a:r>
                        <a:rPr sz="2025" b="0">
                          <a:solidFill>
                            <a:srgbClr val="1C3144"/>
                          </a:solidFill>
                          <a:latin typeface="Calibri"/>
                          <a:ea typeface="Calibri"/>
                          <a:cs typeface="Calibri"/>
                        </a:rPr>
                        <a:t>Membership: "A" in seen</a:t>
                      </a:r>
                    </a:p>
                  </a:txBody>
                  <a:tcPr marL="91440" marR="91440" marT="45720" marB="45720">
                    <a:solidFill>
                      <a:srgbClr val="FFFFFF"/>
                    </a:solidFill>
                  </a:tcPr>
                </a:tc>
                <a:tc>
                  <a:txBody>
                    <a:bodyPr/>
                    <a:lstStyle/>
                    <a:p>
                      <a:r>
                        <a:rPr sz="2025" b="0">
                          <a:solidFill>
                            <a:srgbClr val="1C3144"/>
                          </a:solidFill>
                          <a:latin typeface="Calibri"/>
                          <a:ea typeface="Calibri"/>
                          <a:cs typeface="Calibri"/>
                        </a:rPr>
                        <a:t>Distinct items; add or remove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72A4C7A-9F10-41AC-8F84-EBC085034A27}"/>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Choose by the question: ordered readings, named fields, fixed positions, or distinct IDs.</a:t>
            </a:r>
          </a:p>
        </p:txBody>
      </p:sp>
      <p:sp>
        <p:nvSpPr>
          <p:cNvPr id="6" name="">
            <a:extLst xmlns:a="http://schemas.openxmlformats.org/drawingml/2006/main">
              <a:ext uri="{FF2B5EF4-FFF2-40B4-BE49-F238E27FC236}">
                <a16:creationId xmlns:a16="http://schemas.microsoft.com/office/drawing/2014/main" id="{BA3DEA19-2208-4444-B52E-8BBBA15DD62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43</a:t>
            </a:r>
          </a:p>
        </p:txBody>
      </p:sp>
    </p:spTree>
    <p:extLst>
      <p:ext uri="{BB962C8B-B14F-4D97-AF65-F5344CB8AC3E}">
        <p14:creationId xmlns:p14="http://schemas.microsoft.com/office/powerpoint/2010/main" val="101005234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7E999CE-3ED4-485C-B356-A0AA30026C0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16E93B-E24B-406D-9789-2890752BC0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6F6B798-D055-4578-8759-E21E3209C51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Dictionary items and two loop names</a:t>
            </a:r>
          </a:p>
        </p:txBody>
      </p:sp>
      <p:sp>
        <p:nvSpPr>
          <p:cNvPr id="4" name="">
            <a:extLst xmlns:a="http://schemas.openxmlformats.org/drawingml/2006/main">
              <a:ext uri="{FF2B5EF4-FFF2-40B4-BE49-F238E27FC236}">
                <a16:creationId xmlns:a16="http://schemas.microsoft.com/office/drawing/2014/main" id="{632157EB-BF2E-42FF-873E-AFB39D69FCF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D6BC70-958C-4ECA-9DD2-E4E14EDD1D7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897967-50FF-4BF0-A51B-FDBFDF604C3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record.items() provides each key with its value as a pair. The loop unpacks each pair into the names key and value.</a:t>
            </a:r>
          </a:p>
        </p:txBody>
      </p:sp>
      <p:sp>
        <p:nvSpPr>
          <p:cNvPr id="7" name="">
            <a:extLst xmlns:a="http://schemas.openxmlformats.org/drawingml/2006/main">
              <a:ext uri="{FF2B5EF4-FFF2-40B4-BE49-F238E27FC236}">
                <a16:creationId xmlns:a16="http://schemas.microsoft.com/office/drawing/2014/main" id="{672ACA65-9184-4128-93E3-17339D94472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for key, value in record.items(): repeats the indented body for each field. Use .items() when both the label and its value are needed.</a:t>
            </a:r>
          </a:p>
        </p:txBody>
      </p:sp>
      <p:sp>
        <p:nvSpPr>
          <p:cNvPr id="8" name="">
            <a:extLst xmlns:a="http://schemas.openxmlformats.org/drawingml/2006/main">
              <a:ext uri="{FF2B5EF4-FFF2-40B4-BE49-F238E27FC236}">
                <a16:creationId xmlns:a16="http://schemas.microsoft.com/office/drawing/2014/main" id="{38001BB0-D5C5-4583-A78F-D0A10258441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44</a:t>
            </a:r>
          </a:p>
        </p:txBody>
      </p:sp>
    </p:spTree>
    <p:extLst>
      <p:ext uri="{BB962C8B-B14F-4D97-AF65-F5344CB8AC3E}">
        <p14:creationId xmlns:p14="http://schemas.microsoft.com/office/powerpoint/2010/main" val="141402506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6F17B9-111C-43BA-B826-09836F2A583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61E719-F148-408E-8E00-C512A032CAF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2151360-A16A-4052-B5B9-0432EF151F5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Looping through named fields</a:t>
            </a:r>
          </a:p>
        </p:txBody>
      </p:sp>
      <p:sp>
        <p:nvSpPr>
          <p:cNvPr id="4" name="">
            <a:extLst xmlns:a="http://schemas.openxmlformats.org/drawingml/2006/main">
              <a:ext uri="{FF2B5EF4-FFF2-40B4-BE49-F238E27FC236}">
                <a16:creationId xmlns:a16="http://schemas.microsoft.com/office/drawing/2014/main" id="{A3CF53BC-BACC-4A9E-8108-8DEE6AFEF2A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24B32D-ACE8-4B8F-8425-F549F1A86CC6}"/>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record = {"unit": "A", "reading": 6}</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key, value in record.items():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print(key, value)</a:t>
            </a:r>
          </a:p>
        </p:txBody>
      </p:sp>
      <p:sp>
        <p:nvSpPr>
          <p:cNvPr id="6" name="">
            <a:extLst xmlns:a="http://schemas.openxmlformats.org/drawingml/2006/main">
              <a:ext uri="{FF2B5EF4-FFF2-40B4-BE49-F238E27FC236}">
                <a16:creationId xmlns:a16="http://schemas.microsoft.com/office/drawing/2014/main" id="{A4D38AA3-4578-4180-A8A1-E14029135FB3}"/>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53781BB9-F7ED-4CBC-BD3A-EDC4031EB0D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.items() supplies pairs.</a:t>
            </a:r>
          </a:p>
        </p:txBody>
      </p:sp>
      <p:sp>
        <p:nvSpPr>
          <p:cNvPr id="8" name="">
            <a:extLst xmlns:a="http://schemas.openxmlformats.org/drawingml/2006/main">
              <a:ext uri="{FF2B5EF4-FFF2-40B4-BE49-F238E27FC236}">
                <a16:creationId xmlns:a16="http://schemas.microsoft.com/office/drawing/2014/main" id="{2BA9FB20-F5C2-4E6D-BD6E-27CE22C3195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key and value are names chosen for this loop.</a:t>
            </a:r>
          </a:p>
        </p:txBody>
      </p:sp>
      <p:sp>
        <p:nvSpPr>
          <p:cNvPr id="9" name="">
            <a:extLst xmlns:a="http://schemas.openxmlformats.org/drawingml/2006/main">
              <a:ext uri="{FF2B5EF4-FFF2-40B4-BE49-F238E27FC236}">
                <a16:creationId xmlns:a16="http://schemas.microsoft.com/office/drawing/2014/main" id="{8F0F9C8E-6D10-4DBD-BE2E-255281D4646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unit A, then reading 6. The dictionary preserves insertion order.</a:t>
            </a:r>
          </a:p>
        </p:txBody>
      </p:sp>
      <p:sp>
        <p:nvSpPr>
          <p:cNvPr id="10" name="">
            <a:extLst xmlns:a="http://schemas.openxmlformats.org/drawingml/2006/main">
              <a:ext uri="{FF2B5EF4-FFF2-40B4-BE49-F238E27FC236}">
                <a16:creationId xmlns:a16="http://schemas.microsoft.com/office/drawing/2014/main" id="{C23851B3-CDF5-48D6-9DA0-1771FD4D47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45</a:t>
            </a:r>
          </a:p>
        </p:txBody>
      </p:sp>
    </p:spTree>
    <p:extLst>
      <p:ext uri="{BB962C8B-B14F-4D97-AF65-F5344CB8AC3E}">
        <p14:creationId xmlns:p14="http://schemas.microsoft.com/office/powerpoint/2010/main" val="178715187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0F81B3-8C7C-4A17-9F3A-2D4D83ACBE82}"/>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D18F78-767A-46C5-9E47-49C74A4F11CD}"/>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position and a key find different things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a5d50e82dea479e"/>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0B30FA1-F5D9-4AF2-B4DC-3F2C56CD1848}"/>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B5E0C7A-0A78-4B01-9055-C335A34D8659}"/>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Both examples return 4. Explain how each lookup finds it.</a:t>
            </a:r>
          </a:p>
        </p:txBody>
      </p:sp>
      <p:sp>
        <p:nvSpPr>
          <p:cNvPr id="6" name="">
            <a:extLst xmlns:a="http://schemas.openxmlformats.org/drawingml/2006/main">
              <a:ext uri="{FF2B5EF4-FFF2-40B4-BE49-F238E27FC236}">
                <a16:creationId xmlns:a16="http://schemas.microsoft.com/office/drawing/2014/main" id="{53E1A9B4-8BF6-41FE-9F93-8E40DD4B9D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46</a:t>
            </a:r>
          </a:p>
        </p:txBody>
      </p:sp>
    </p:spTree>
    <p:extLst>
      <p:ext uri="{BB962C8B-B14F-4D97-AF65-F5344CB8AC3E}">
        <p14:creationId xmlns:p14="http://schemas.microsoft.com/office/powerpoint/2010/main" val="129707824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B39E21-2F7F-46DC-B1FF-B765B728991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10A880-54BE-4EE1-9270-DB35798E8C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2DBD32A2-659A-4973-9CCB-C516E3412C6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CSV and header</a:t>
            </a:r>
          </a:p>
        </p:txBody>
      </p:sp>
      <p:sp>
        <p:nvSpPr>
          <p:cNvPr id="4" name="">
            <a:extLst xmlns:a="http://schemas.openxmlformats.org/drawingml/2006/main">
              <a:ext uri="{FF2B5EF4-FFF2-40B4-BE49-F238E27FC236}">
                <a16:creationId xmlns:a16="http://schemas.microsoft.com/office/drawing/2014/main" id="{5E28D6C8-7A0A-454D-9A96-1227A90BBE3C}"/>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D42E8A-EBFE-4EF5-BF8A-5C13D3CBE5B6}"/>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CSV and header</a:t>
            </a:r>
          </a:p>
        </p:txBody>
      </p:sp>
      <p:sp>
        <p:nvSpPr>
          <p:cNvPr id="6" name="">
            <a:extLst xmlns:a="http://schemas.openxmlformats.org/drawingml/2006/main">
              <a:ext uri="{FF2B5EF4-FFF2-40B4-BE49-F238E27FC236}">
                <a16:creationId xmlns:a16="http://schemas.microsoft.com/office/drawing/2014/main" id="{D7A617BF-805A-4869-A7C9-7D319CBFC3A8}"/>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CSV means comma-separated values. One line usually represents one record; a header names the columns. CSV numbers arrive as text and may need float conversion.</a:t>
            </a:r>
          </a:p>
        </p:txBody>
      </p:sp>
      <p:sp>
        <p:nvSpPr>
          <p:cNvPr id="7" name="">
            <a:extLst xmlns:a="http://schemas.openxmlformats.org/drawingml/2006/main">
              <a:ext uri="{FF2B5EF4-FFF2-40B4-BE49-F238E27FC236}">
                <a16:creationId xmlns:a16="http://schemas.microsoft.com/office/drawing/2014/main" id="{846D9C8A-0503-4D50-B894-6AD5A810FF8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47</a:t>
            </a:r>
          </a:p>
        </p:txBody>
      </p:sp>
    </p:spTree>
    <p:extLst>
      <p:ext uri="{BB962C8B-B14F-4D97-AF65-F5344CB8AC3E}">
        <p14:creationId xmlns:p14="http://schemas.microsoft.com/office/powerpoint/2010/main" val="1653001609"/>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6379AB-EFA0-4C38-A5E6-F6CB03B6A07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A62C72-C3F5-4ED8-93F9-F53DCC4E750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DE5657F-391A-42CD-A973-8BDB1843C10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record at a time</a:t>
            </a:r>
          </a:p>
        </p:txBody>
      </p:sp>
      <p:sp>
        <p:nvSpPr>
          <p:cNvPr id="4" name="">
            <a:extLst xmlns:a="http://schemas.openxmlformats.org/drawingml/2006/main">
              <a:ext uri="{FF2B5EF4-FFF2-40B4-BE49-F238E27FC236}">
                <a16:creationId xmlns:a16="http://schemas.microsoft.com/office/drawing/2014/main" id="{13315C42-8DB2-4A16-95E8-01EEDA08E70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067B7AA-3BD5-4954-8FC0-88422A85881A}"/>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CSV is a text table with a header row.</a:t>
            </a:r>
          </a:p>
        </p:txBody>
      </p:sp>
      <p:sp>
        <p:nvSpPr>
          <p:cNvPr id="6" name="">
            <a:extLst xmlns:a="http://schemas.openxmlformats.org/drawingml/2006/main">
              <a:ext uri="{FF2B5EF4-FFF2-40B4-BE49-F238E27FC236}">
                <a16:creationId xmlns:a16="http://schemas.microsoft.com/office/drawing/2014/main" id="{65EE1219-691E-4021-895C-A11175DD24F5}"/>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DCE6584-CF14-4AE4-883F-C85544AB56F7}"/>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DictReader uses that header for dictionary keys.</a:t>
            </a:r>
          </a:p>
        </p:txBody>
      </p:sp>
      <p:sp>
        <p:nvSpPr>
          <p:cNvPr id="8" name="">
            <a:extLst xmlns:a="http://schemas.openxmlformats.org/drawingml/2006/main">
              <a:ext uri="{FF2B5EF4-FFF2-40B4-BE49-F238E27FC236}">
                <a16:creationId xmlns:a16="http://schemas.microsoft.com/office/drawing/2014/main" id="{C411C679-07CE-4882-AA00-AAC28BBDE705}"/>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F05C8CC-F1A4-4ABB-9EDB-33FFABADDE5B}"/>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CSV cells begin as text, even when they look numeric.</a:t>
            </a:r>
          </a:p>
        </p:txBody>
      </p:sp>
      <p:sp>
        <p:nvSpPr>
          <p:cNvPr id="10" name="">
            <a:extLst xmlns:a="http://schemas.openxmlformats.org/drawingml/2006/main">
              <a:ext uri="{FF2B5EF4-FFF2-40B4-BE49-F238E27FC236}">
                <a16:creationId xmlns:a16="http://schemas.microsoft.com/office/drawing/2014/main" id="{E4C6FF7D-501F-4721-B51F-15CC225E4C36}"/>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AD975C6-2454-4543-9603-DE42D037678E}"/>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float("2.5") converts text into the number 2.5.</a:t>
            </a:r>
          </a:p>
        </p:txBody>
      </p:sp>
      <p:sp>
        <p:nvSpPr>
          <p:cNvPr id="12" name="">
            <a:extLst xmlns:a="http://schemas.openxmlformats.org/drawingml/2006/main">
              <a:ext uri="{FF2B5EF4-FFF2-40B4-BE49-F238E27FC236}">
                <a16:creationId xmlns:a16="http://schemas.microsoft.com/office/drawing/2014/main" id="{14608B0B-581D-4A07-BF01-D4EA3F3AA17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48</a:t>
            </a:r>
          </a:p>
        </p:txBody>
      </p:sp>
    </p:spTree>
    <p:extLst>
      <p:ext uri="{BB962C8B-B14F-4D97-AF65-F5344CB8AC3E}">
        <p14:creationId xmlns:p14="http://schemas.microsoft.com/office/powerpoint/2010/main" val="1007910439"/>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226924-37C2-4012-B810-5F746E077AE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DCA9DD-E598-469B-8365-2863129AC74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E46A40A9-BC07-4956-8C71-677AE9BC38C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CSV file has a header and text values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5505450"/>
                <a:gridCol w="5505450"/>
              </a:tblGrid>
              <a:tr h="833438">
                <a:tc>
                  <a:txBody>
                    <a:bodyPr/>
                    <a:lstStyle/>
                    <a:p>
                      <a:r>
                        <a:rPr sz="2025" b="1">
                          <a:solidFill>
                            <a:srgbClr val="FFFFFF"/>
                          </a:solidFill>
                          <a:latin typeface="Calibri"/>
                          <a:ea typeface="Calibri"/>
                          <a:cs typeface="Calibri"/>
                        </a:rPr>
                        <a:t>CSV line</a:t>
                      </a:r>
                    </a:p>
                  </a:txBody>
                  <a:tcPr marL="91440" marR="91440" marT="45720" marB="45720">
                    <a:solidFill>
                      <a:srgbClr val="2E7D6F"/>
                    </a:solidFill>
                  </a:tcPr>
                </a:tc>
                <a:tc>
                  <a:txBody>
                    <a:bodyPr/>
                    <a:lstStyle/>
                    <a:p>
                      <a:r>
                        <a:rPr sz="2025" b="1">
                          <a:solidFill>
                            <a:srgbClr val="FFFFFF"/>
                          </a:solidFill>
                          <a:latin typeface="Calibri"/>
                          <a:ea typeface="Calibri"/>
                          <a:cs typeface="Calibri"/>
                        </a:rPr>
                        <a:t>Dictionary meaning</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unit,reading</a:t>
                      </a:r>
                    </a:p>
                  </a:txBody>
                  <a:tcPr marL="91440" marR="91440" marT="45720" marB="45720">
                    <a:solidFill>
                      <a:srgbClr val="EEF3F6"/>
                    </a:solidFill>
                  </a:tcPr>
                </a:tc>
                <a:tc>
                  <a:txBody>
                    <a:bodyPr/>
                    <a:lstStyle/>
                    <a:p>
                      <a:r>
                        <a:rPr sz="2025" b="0">
                          <a:solidFill>
                            <a:srgbClr val="1C3144"/>
                          </a:solidFill>
                          <a:latin typeface="Calibri"/>
                          <a:ea typeface="Calibri"/>
                          <a:cs typeface="Calibri"/>
                        </a:rPr>
                        <a:t>Two field names</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A,2.5</a:t>
                      </a:r>
                    </a:p>
                  </a:txBody>
                  <a:tcPr marL="91440" marR="91440" marT="45720" marB="45720">
                    <a:solidFill>
                      <a:srgbClr val="FFFFFF"/>
                    </a:solidFill>
                  </a:tcPr>
                </a:tc>
                <a:tc>
                  <a:txBody>
                    <a:bodyPr/>
                    <a:lstStyle/>
                    <a:p>
                      <a:r>
                        <a:rPr sz="2025" b="0">
                          <a:solidFill>
                            <a:srgbClr val="1C3144"/>
                          </a:solidFill>
                          <a:latin typeface="Calibri"/>
                          <a:ea typeface="Calibri"/>
                          <a:cs typeface="Calibri"/>
                        </a:rPr>
                        <a:t>{"unit": "A", "reading": "2.5"}</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B,</a:t>
                      </a:r>
                    </a:p>
                  </a:txBody>
                  <a:tcPr marL="91440" marR="91440" marT="45720" marB="45720">
                    <a:solidFill>
                      <a:srgbClr val="EEF3F6"/>
                    </a:solidFill>
                  </a:tcPr>
                </a:tc>
                <a:tc>
                  <a:txBody>
                    <a:bodyPr/>
                    <a:lstStyle/>
                    <a:p>
                      <a:r>
                        <a:rPr sz="2025" b="0">
                          <a:solidFill>
                            <a:srgbClr val="1C3144"/>
                          </a:solidFill>
                          <a:latin typeface="Calibri"/>
                          <a:ea typeface="Calibri"/>
                          <a:cs typeface="Calibri"/>
                        </a:rPr>
                        <a:t>{"unit": "B", "reading": ""}</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C8E2B25C-FEB1-4A0B-93CE-EE74277C70DC}"/>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An empty field is empty text. Check the task’s rule before converting it.</a:t>
            </a:r>
          </a:p>
        </p:txBody>
      </p:sp>
      <p:sp>
        <p:nvSpPr>
          <p:cNvPr id="6" name="">
            <a:extLst xmlns:a="http://schemas.openxmlformats.org/drawingml/2006/main">
              <a:ext uri="{FF2B5EF4-FFF2-40B4-BE49-F238E27FC236}">
                <a16:creationId xmlns:a16="http://schemas.microsoft.com/office/drawing/2014/main" id="{9CF3AD23-37B8-488B-B437-2141EE5C8D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49</a:t>
            </a:r>
          </a:p>
        </p:txBody>
      </p:sp>
    </p:spTree>
    <p:extLst>
      <p:ext uri="{BB962C8B-B14F-4D97-AF65-F5344CB8AC3E}">
        <p14:creationId xmlns:p14="http://schemas.microsoft.com/office/powerpoint/2010/main" val="1082029373"/>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65F5CB-CA97-4E78-80F5-7A6A3ECADA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EC654B-F14F-4506-8E0D-003E51584C4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29AC1FA-9D4B-452A-9A25-98A7149819C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CSV row becomes a dictionary</a:t>
            </a:r>
          </a:p>
        </p:txBody>
      </p:sp>
      <p:sp>
        <p:nvSpPr>
          <p:cNvPr id="4" name="">
            <a:extLst xmlns:a="http://schemas.openxmlformats.org/drawingml/2006/main">
              <a:ext uri="{FF2B5EF4-FFF2-40B4-BE49-F238E27FC236}">
                <a16:creationId xmlns:a16="http://schemas.microsoft.com/office/drawing/2014/main" id="{1BAB099F-0028-4220-927E-6A59E6E93FA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72E9EDF-85E6-47A5-A0EA-A03EC58BA2A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header gives field names, such as unit and reading.</a:t>
            </a:r>
          </a:p>
        </p:txBody>
      </p:sp>
      <p:sp>
        <p:nvSpPr>
          <p:cNvPr id="6" name="">
            <a:extLst xmlns:a="http://schemas.openxmlformats.org/drawingml/2006/main">
              <a:ext uri="{FF2B5EF4-FFF2-40B4-BE49-F238E27FC236}">
                <a16:creationId xmlns:a16="http://schemas.microsoft.com/office/drawing/2014/main" id="{49A6AAE2-B34A-425B-B205-EDA1A50FFAE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FBCEB2C-22EA-4B55-A9DE-83105F2728A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csv.DictReader returns one dictionary for each data row.</a:t>
            </a:r>
          </a:p>
        </p:txBody>
      </p:sp>
      <p:sp>
        <p:nvSpPr>
          <p:cNvPr id="8" name="">
            <a:extLst xmlns:a="http://schemas.openxmlformats.org/drawingml/2006/main">
              <a:ext uri="{FF2B5EF4-FFF2-40B4-BE49-F238E27FC236}">
                <a16:creationId xmlns:a16="http://schemas.microsoft.com/office/drawing/2014/main" id="{5DB6FAFB-3B95-4EB3-845C-F0AF7AE14EB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98AB56A-6D12-4C8E-846D-15C26847DA2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value "2.5" starts as text. float("2.5") makes the number 2.5.</a:t>
            </a:r>
          </a:p>
        </p:txBody>
      </p:sp>
      <p:sp>
        <p:nvSpPr>
          <p:cNvPr id="10" name="">
            <a:extLst xmlns:a="http://schemas.openxmlformats.org/drawingml/2006/main">
              <a:ext uri="{FF2B5EF4-FFF2-40B4-BE49-F238E27FC236}">
                <a16:creationId xmlns:a16="http://schemas.microsoft.com/office/drawing/2014/main" id="{1EDDDF15-1308-4924-A717-5D5BF9E3578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50</a:t>
            </a:r>
          </a:p>
        </p:txBody>
      </p:sp>
    </p:spTree>
    <p:extLst>
      <p:ext uri="{BB962C8B-B14F-4D97-AF65-F5344CB8AC3E}">
        <p14:creationId xmlns:p14="http://schemas.microsoft.com/office/powerpoint/2010/main" val="47991571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8F9919-456E-486B-B883-A5CF6F97187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925684-B287-480A-B719-534165668DD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1EED486C-AC05-4118-B5FE-B6F52E41C45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with and import</a:t>
            </a:r>
          </a:p>
        </p:txBody>
      </p:sp>
      <p:sp>
        <p:nvSpPr>
          <p:cNvPr id="4" name="">
            <a:extLst xmlns:a="http://schemas.openxmlformats.org/drawingml/2006/main">
              <a:ext uri="{FF2B5EF4-FFF2-40B4-BE49-F238E27FC236}">
                <a16:creationId xmlns:a16="http://schemas.microsoft.com/office/drawing/2014/main" id="{BD19DB5E-DA3C-4AB0-BE3A-9B4D7EA0757A}"/>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41F100-D162-4F71-84E1-AF69AF8B03D3}"/>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with and import</a:t>
            </a:r>
          </a:p>
        </p:txBody>
      </p:sp>
      <p:sp>
        <p:nvSpPr>
          <p:cNvPr id="6" name="">
            <a:extLst xmlns:a="http://schemas.openxmlformats.org/drawingml/2006/main">
              <a:ext uri="{FF2B5EF4-FFF2-40B4-BE49-F238E27FC236}">
                <a16:creationId xmlns:a16="http://schemas.microsoft.com/office/drawing/2014/main" id="{5E8ACC84-723A-41DE-A642-99021E80DEF6}"/>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import makes library tools available. with open(...) opens a file for a block and closes it afterward. A filename must match an existing file in the working folder.</a:t>
            </a:r>
          </a:p>
        </p:txBody>
      </p:sp>
      <p:sp>
        <p:nvSpPr>
          <p:cNvPr id="7" name="">
            <a:extLst xmlns:a="http://schemas.openxmlformats.org/drawingml/2006/main">
              <a:ext uri="{FF2B5EF4-FFF2-40B4-BE49-F238E27FC236}">
                <a16:creationId xmlns:a16="http://schemas.microsoft.com/office/drawing/2014/main" id="{B6A33827-B2AC-4642-96BB-484A87C7E61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51</a:t>
            </a:r>
          </a:p>
        </p:txBody>
      </p:sp>
    </p:spTree>
    <p:extLst>
      <p:ext uri="{BB962C8B-B14F-4D97-AF65-F5344CB8AC3E}">
        <p14:creationId xmlns:p14="http://schemas.microsoft.com/office/powerpoint/2010/main" val="122106474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9AC6A4-1D63-4181-9B08-99038E4A1E4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A15FFE-ACF0-450D-A1D3-9A10F79BA34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8029CA5-A673-40C2-BE0B-C75DB927269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cohort data</a:t>
            </a:r>
          </a:p>
        </p:txBody>
      </p:sp>
      <p:sp>
        <p:nvSpPr>
          <p:cNvPr id="4" name="">
            <a:extLst xmlns:a="http://schemas.openxmlformats.org/drawingml/2006/main">
              <a:ext uri="{FF2B5EF4-FFF2-40B4-BE49-F238E27FC236}">
                <a16:creationId xmlns:a16="http://schemas.microsoft.com/office/drawing/2014/main" id="{8F6D9415-3936-4D19-84E2-0F62727FB53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539B219-4185-4422-91DE-B82A52AC7AF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site_inspection_log.csv</a:t>
            </a:r>
          </a:p>
        </p:txBody>
      </p:sp>
      <p:sp>
        <p:nvSpPr>
          <p:cNvPr id="6" name="">
            <a:extLst xmlns:a="http://schemas.openxmlformats.org/drawingml/2006/main">
              <a:ext uri="{FF2B5EF4-FFF2-40B4-BE49-F238E27FC236}">
                <a16:creationId xmlns:a16="http://schemas.microsoft.com/office/drawing/2014/main" id="{B485B74A-7325-419A-925C-A179F6D0FA2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71036B7-9AD3-474E-91FB-3D22606207F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Summarise crack_width_mm (millimetres); group by structure_id.</a:t>
            </a:r>
          </a:p>
        </p:txBody>
      </p:sp>
      <p:sp>
        <p:nvSpPr>
          <p:cNvPr id="8" name="">
            <a:extLst xmlns:a="http://schemas.openxmlformats.org/drawingml/2006/main">
              <a:ext uri="{FF2B5EF4-FFF2-40B4-BE49-F238E27FC236}">
                <a16:creationId xmlns:a16="http://schemas.microsoft.com/office/drawing/2014/main" id="{BE233FEC-836C-45E8-85D3-12B37C16A0F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D6DD57B-AB11-435A-800A-E8AC52CA146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the issued task’s blank-value and threshold rules before calculating.</a:t>
            </a:r>
          </a:p>
        </p:txBody>
      </p:sp>
      <p:sp>
        <p:nvSpPr>
          <p:cNvPr id="10" name="">
            <a:extLst xmlns:a="http://schemas.openxmlformats.org/drawingml/2006/main">
              <a:ext uri="{FF2B5EF4-FFF2-40B4-BE49-F238E27FC236}">
                <a16:creationId xmlns:a16="http://schemas.microsoft.com/office/drawing/2014/main" id="{D5DE8EFD-8BD8-475C-B91E-6BD2885367A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52</a:t>
            </a:r>
          </a:p>
        </p:txBody>
      </p:sp>
    </p:spTree>
    <p:extLst>
      <p:ext uri="{BB962C8B-B14F-4D97-AF65-F5344CB8AC3E}">
        <p14:creationId xmlns:p14="http://schemas.microsoft.com/office/powerpoint/2010/main" val="847806669"/>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B2566D-1D85-478D-AFF2-A0840EBFE97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B37E93-FF67-4661-8619-5F8DA6A6AC2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35B1B0B-FCE0-453F-94AC-60EFB748749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supplied CSV in four steps</a:t>
            </a:r>
          </a:p>
        </p:txBody>
      </p:sp>
      <p:sp>
        <p:nvSpPr>
          <p:cNvPr id="4" name="">
            <a:extLst xmlns:a="http://schemas.openxmlformats.org/drawingml/2006/main">
              <a:ext uri="{FF2B5EF4-FFF2-40B4-BE49-F238E27FC236}">
                <a16:creationId xmlns:a16="http://schemas.microsoft.com/office/drawing/2014/main" id="{166F4D4C-57D0-4733-A332-2703F495724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08F5D11-40EA-4AE6-85BA-2EFC54F7A25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Place site_inspection_log.csv beside the notebook, or upload it in Colab’s Files panel.</a:t>
            </a:r>
          </a:p>
        </p:txBody>
      </p:sp>
      <p:sp>
        <p:nvSpPr>
          <p:cNvPr id="6" name="">
            <a:extLst xmlns:a="http://schemas.openxmlformats.org/drawingml/2006/main">
              <a:ext uri="{FF2B5EF4-FFF2-40B4-BE49-F238E27FC236}">
                <a16:creationId xmlns:a16="http://schemas.microsoft.com/office/drawing/2014/main" id="{F8A89225-1F4F-448B-AFC4-5A311717691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C504FAB-B9FD-43B9-8EBB-C948F9ABD02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csv loads the CSV tools. newline="" lets the reader handle line endings. DictReader uses the header as dictionary keys.</a:t>
            </a:r>
          </a:p>
        </p:txBody>
      </p:sp>
      <p:sp>
        <p:nvSpPr>
          <p:cNvPr id="8" name="">
            <a:extLst xmlns:a="http://schemas.openxmlformats.org/drawingml/2006/main">
              <a:ext uri="{FF2B5EF4-FFF2-40B4-BE49-F238E27FC236}">
                <a16:creationId xmlns:a16="http://schemas.microsoft.com/office/drawing/2014/main" id="{0EEFD040-2397-4932-8773-57B9612253D9}"/>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2B4E29A-013C-4091-8146-7A33307D075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 collects the rows while the file is open. We inspect the first row and the count; the later assignment calculations are your work.</a:t>
            </a:r>
          </a:p>
        </p:txBody>
      </p:sp>
      <p:sp>
        <p:nvSpPr>
          <p:cNvPr id="10" name="">
            <a:extLst xmlns:a="http://schemas.openxmlformats.org/drawingml/2006/main">
              <a:ext uri="{FF2B5EF4-FFF2-40B4-BE49-F238E27FC236}">
                <a16:creationId xmlns:a16="http://schemas.microsoft.com/office/drawing/2014/main" id="{08226A37-76E2-42A9-A584-676A68190D7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53</a:t>
            </a:r>
          </a:p>
        </p:txBody>
      </p:sp>
    </p:spTree>
    <p:extLst>
      <p:ext uri="{BB962C8B-B14F-4D97-AF65-F5344CB8AC3E}">
        <p14:creationId xmlns:p14="http://schemas.microsoft.com/office/powerpoint/2010/main" val="27789512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639E44-CE7D-4341-883C-9AD771822B1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DBA11C-EF1F-46E0-BEE7-89AF7E5843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CFCA11F-7566-44BE-AB09-279F67DAA4B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with open as source does</a:t>
            </a:r>
          </a:p>
        </p:txBody>
      </p:sp>
      <p:sp>
        <p:nvSpPr>
          <p:cNvPr id="4" name="">
            <a:extLst xmlns:a="http://schemas.openxmlformats.org/drawingml/2006/main">
              <a:ext uri="{FF2B5EF4-FFF2-40B4-BE49-F238E27FC236}">
                <a16:creationId xmlns:a16="http://schemas.microsoft.com/office/drawing/2014/main" id="{4BAC175F-4D0B-4616-A644-FC7A446C90D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8A26A9D-8F87-49FC-ADD9-AEB2AB2DD72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open("file.csv", newline="") opens a text file for reading. Use the actual supplied filename, including its .csv extension.</a:t>
            </a:r>
          </a:p>
        </p:txBody>
      </p:sp>
      <p:sp>
        <p:nvSpPr>
          <p:cNvPr id="6" name="">
            <a:extLst xmlns:a="http://schemas.openxmlformats.org/drawingml/2006/main">
              <a:ext uri="{FF2B5EF4-FFF2-40B4-BE49-F238E27FC236}">
                <a16:creationId xmlns:a16="http://schemas.microsoft.com/office/drawing/2014/main" id="{C4D03D29-5D2B-4224-8F4A-7CEDAB76893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4492CFD-1D44-42DA-A865-07366DB1E1A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with manages the open file. as source gives that file object a name. Indented lines use it while it is open; leaving the block closes it.</a:t>
            </a:r>
          </a:p>
        </p:txBody>
      </p:sp>
      <p:sp>
        <p:nvSpPr>
          <p:cNvPr id="8" name="">
            <a:extLst xmlns:a="http://schemas.openxmlformats.org/drawingml/2006/main">
              <a:ext uri="{FF2B5EF4-FFF2-40B4-BE49-F238E27FC236}">
                <a16:creationId xmlns:a16="http://schemas.microsoft.com/office/drawing/2014/main" id="{82EABD81-D964-4253-96BD-8716D8FBAD9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BE26248-C6A2-43F4-ADB6-60ECE72C60C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csv.DictReader(source) reads rows using the header names as keys. list(...) collects those rows into memory before the file closes.</a:t>
            </a:r>
          </a:p>
        </p:txBody>
      </p:sp>
      <p:sp>
        <p:nvSpPr>
          <p:cNvPr id="10" name="">
            <a:extLst xmlns:a="http://schemas.openxmlformats.org/drawingml/2006/main">
              <a:ext uri="{FF2B5EF4-FFF2-40B4-BE49-F238E27FC236}">
                <a16:creationId xmlns:a16="http://schemas.microsoft.com/office/drawing/2014/main" id="{47368714-8862-48E1-BB41-F20BBAA689F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54</a:t>
            </a:r>
          </a:p>
        </p:txBody>
      </p:sp>
    </p:spTree>
    <p:extLst>
      <p:ext uri="{BB962C8B-B14F-4D97-AF65-F5344CB8AC3E}">
        <p14:creationId xmlns:p14="http://schemas.microsoft.com/office/powerpoint/2010/main" val="1558005500"/>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744C3F-57A1-4292-9FAF-CFF15EDA8DE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149EB6-2857-4D5E-BDFC-B94EDC519BD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8A1597A-B3BA-41E5-9AEA-1625524729D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Open a real CSV and inspect its first row</a:t>
            </a:r>
          </a:p>
        </p:txBody>
      </p:sp>
      <p:sp>
        <p:nvSpPr>
          <p:cNvPr id="4" name="">
            <a:extLst xmlns:a="http://schemas.openxmlformats.org/drawingml/2006/main">
              <a:ext uri="{FF2B5EF4-FFF2-40B4-BE49-F238E27FC236}">
                <a16:creationId xmlns:a16="http://schemas.microsoft.com/office/drawing/2014/main" id="{54FA2BB6-5160-4FFD-9B86-A203681FABD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01D14A-262A-450A-8735-A60511CA73E3}"/>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3" b="0">
                <a:solidFill>
                  <a:srgbClr val="F4F7FA"/>
                </a:solidFill>
                <a:latin typeface="Courier New"/>
                <a:ea typeface="Courier New"/>
                <a:cs typeface="Courier New"/>
              </a:defRPr>
            </a:pPr>
            <a:r>
              <a:rPr sz="2173" b="0">
                <a:solidFill>
                  <a:srgbClr val="FFB080"/>
                </a:solidFill>
                <a:latin typeface="Courier New"/>
                <a:ea typeface="Courier New"/>
                <a:cs typeface="Courier New"/>
              </a:rPr>
              <a:t>import</a:t>
            </a:r>
            <a:r>
              <a:rPr sz="2173" b="0">
                <a:solidFill>
                  <a:srgbClr val="F4F7FA"/>
                </a:solidFill>
                <a:latin typeface="Courier New"/>
                <a:ea typeface="Courier New"/>
                <a:cs typeface="Courier New"/>
              </a:rPr>
              <a:t> csv</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with open("site_inspection_log.csv", newline="") as source:</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rows = list(csv.DictReader(source))</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print(rows[0])</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print(len(rows))</a:t>
            </a:r>
          </a:p>
        </p:txBody>
      </p:sp>
      <p:sp>
        <p:nvSpPr>
          <p:cNvPr id="6" name="">
            <a:extLst xmlns:a="http://schemas.openxmlformats.org/drawingml/2006/main">
              <a:ext uri="{FF2B5EF4-FFF2-40B4-BE49-F238E27FC236}">
                <a16:creationId xmlns:a16="http://schemas.microsoft.com/office/drawing/2014/main" id="{04FF5EE1-15ED-438E-BA6B-673879FF2AE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loads a library. from selects a tool from it.</a:t>
            </a:r>
          </a:p>
        </p:txBody>
      </p:sp>
      <p:sp>
        <p:nvSpPr>
          <p:cNvPr id="7" name="">
            <a:extLst xmlns:a="http://schemas.openxmlformats.org/drawingml/2006/main">
              <a:ext uri="{FF2B5EF4-FFF2-40B4-BE49-F238E27FC236}">
                <a16:creationId xmlns:a16="http://schemas.microsoft.com/office/drawing/2014/main" id="{278BE17A-A78F-452A-8943-FB77FEF989E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actual keys and text values. Check the uploaded filename if Python reports FileNotFoundError.</a:t>
            </a:r>
          </a:p>
        </p:txBody>
      </p:sp>
      <p:sp>
        <p:nvSpPr>
          <p:cNvPr id="8" name="">
            <a:extLst xmlns:a="http://schemas.openxmlformats.org/drawingml/2006/main">
              <a:ext uri="{FF2B5EF4-FFF2-40B4-BE49-F238E27FC236}">
                <a16:creationId xmlns:a16="http://schemas.microsoft.com/office/drawing/2014/main" id="{8FA309D5-DC57-446E-8B8B-DBB22933E5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55</a:t>
            </a:r>
          </a:p>
        </p:txBody>
      </p:sp>
    </p:spTree>
    <p:extLst>
      <p:ext uri="{BB962C8B-B14F-4D97-AF65-F5344CB8AC3E}">
        <p14:creationId xmlns:p14="http://schemas.microsoft.com/office/powerpoint/2010/main" val="204438758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AA5B03E-9850-4967-80C3-988A693C261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B89014-7321-4820-BC1E-1A9493E3D40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0790A3C-B8EC-462E-A89A-3ACAEBE7DBB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list of dictionaries</a:t>
            </a:r>
          </a:p>
        </p:txBody>
      </p:sp>
      <p:sp>
        <p:nvSpPr>
          <p:cNvPr id="4" name="">
            <a:extLst xmlns:a="http://schemas.openxmlformats.org/drawingml/2006/main">
              <a:ext uri="{FF2B5EF4-FFF2-40B4-BE49-F238E27FC236}">
                <a16:creationId xmlns:a16="http://schemas.microsoft.com/office/drawing/2014/main" id="{5B473EB0-9019-4206-A0B1-F6B39F74946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4520586-0B3D-4253-A518-8E898658E9B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record holds named fields for one observation. A list of records holds several observations in order.</a:t>
            </a:r>
          </a:p>
        </p:txBody>
      </p:sp>
      <p:sp>
        <p:nvSpPr>
          <p:cNvPr id="6" name="">
            <a:extLst xmlns:a="http://schemas.openxmlformats.org/drawingml/2006/main">
              <a:ext uri="{FF2B5EF4-FFF2-40B4-BE49-F238E27FC236}">
                <a16:creationId xmlns:a16="http://schemas.microsoft.com/office/drawing/2014/main" id="{9357F098-53F4-4D88-A94D-27A5E7049A1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2DD2098-43A7-4D55-B1F9-C0F3C894643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records[0] selects the first dictionary. records[0]["reading"] then selects that dictionary’s reading field.</a:t>
            </a:r>
          </a:p>
        </p:txBody>
      </p:sp>
      <p:sp>
        <p:nvSpPr>
          <p:cNvPr id="8" name="">
            <a:extLst xmlns:a="http://schemas.openxmlformats.org/drawingml/2006/main">
              <a:ext uri="{FF2B5EF4-FFF2-40B4-BE49-F238E27FC236}">
                <a16:creationId xmlns:a16="http://schemas.microsoft.com/office/drawing/2014/main" id="{1DFFE1BB-92A4-495F-A6C9-856AD524690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119A1C9-9376-4911-9003-15ED6392918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row in records takes one dictionary at a time. row["reading"] retrieves that observation’s field; float converts numeric text when needed.</a:t>
            </a:r>
          </a:p>
        </p:txBody>
      </p:sp>
      <p:sp>
        <p:nvSpPr>
          <p:cNvPr id="10" name="">
            <a:extLst xmlns:a="http://schemas.openxmlformats.org/drawingml/2006/main">
              <a:ext uri="{FF2B5EF4-FFF2-40B4-BE49-F238E27FC236}">
                <a16:creationId xmlns:a16="http://schemas.microsoft.com/office/drawing/2014/main" id="{CFFCA101-7792-4A9C-9AD8-D08947E6EAA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56</a:t>
            </a:r>
          </a:p>
        </p:txBody>
      </p:sp>
    </p:spTree>
    <p:extLst>
      <p:ext uri="{BB962C8B-B14F-4D97-AF65-F5344CB8AC3E}">
        <p14:creationId xmlns:p14="http://schemas.microsoft.com/office/powerpoint/2010/main" val="53295924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6DD4F7-0E9D-412B-93C4-1DC744DF408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33AE56-7BA6-4F1F-B0A9-DDF8A6E3063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6F436D2-8DFB-4C81-B016-3F5C9E06CC8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record and a growing list</a:t>
            </a:r>
          </a:p>
        </p:txBody>
      </p:sp>
      <p:sp>
        <p:nvSpPr>
          <p:cNvPr id="4" name="">
            <a:extLst xmlns:a="http://schemas.openxmlformats.org/drawingml/2006/main">
              <a:ext uri="{FF2B5EF4-FFF2-40B4-BE49-F238E27FC236}">
                <a16:creationId xmlns:a16="http://schemas.microsoft.com/office/drawing/2014/main" id="{0E947D09-69B5-401E-8FBB-DCAF7DCC08F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200414-6879-4E8D-9BDC-471C44523DD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32E9C3A-A81A-4605-972B-C9143B50783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Braces pair a key with its value. append adds one value to the end of a list.</a:t>
            </a:r>
          </a:p>
        </p:txBody>
      </p:sp>
      <p:sp>
        <p:nvSpPr>
          <p:cNvPr id="7" name="">
            <a:extLst xmlns:a="http://schemas.openxmlformats.org/drawingml/2006/main">
              <a:ext uri="{FF2B5EF4-FFF2-40B4-BE49-F238E27FC236}">
                <a16:creationId xmlns:a16="http://schemas.microsoft.com/office/drawing/2014/main" id="{B2CB5533-F08B-4B40-9004-15607825FCB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same pattern works after reading a CSV row.</a:t>
            </a:r>
          </a:p>
        </p:txBody>
      </p:sp>
      <p:sp>
        <p:nvSpPr>
          <p:cNvPr id="8" name="">
            <a:extLst xmlns:a="http://schemas.openxmlformats.org/drawingml/2006/main">
              <a:ext uri="{FF2B5EF4-FFF2-40B4-BE49-F238E27FC236}">
                <a16:creationId xmlns:a16="http://schemas.microsoft.com/office/drawing/2014/main" id="{3BD04C2D-C4E1-4E30-BA7B-4A2A036D957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57</a:t>
            </a:r>
          </a:p>
        </p:txBody>
      </p:sp>
    </p:spTree>
    <p:extLst>
      <p:ext uri="{BB962C8B-B14F-4D97-AF65-F5344CB8AC3E}">
        <p14:creationId xmlns:p14="http://schemas.microsoft.com/office/powerpoint/2010/main" val="702930335"/>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28714F-B8FF-4E46-BA3E-75CBB4CE704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0E6F22-FAF6-418D-8A3F-CE25A2EED1B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05951A9-A490-48BF-A8B8-AD7D8E2E268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record and a growing list in Python</a:t>
            </a:r>
          </a:p>
        </p:txBody>
      </p:sp>
      <p:sp>
        <p:nvSpPr>
          <p:cNvPr id="4" name="">
            <a:extLst xmlns:a="http://schemas.openxmlformats.org/drawingml/2006/main">
              <a:ext uri="{FF2B5EF4-FFF2-40B4-BE49-F238E27FC236}">
                <a16:creationId xmlns:a16="http://schemas.microsoft.com/office/drawing/2014/main" id="{17EF7336-BD59-43CF-8F72-7CA49917742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96D45B-743A-47CB-A2E4-939C9B305C7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records = [{"sensor": "A", "reading": "2.5"},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{"sensor": "B", "reading": "3.5"}]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values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row in 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values.append(float(row["reading"]))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print(values)</a:t>
            </a:r>
          </a:p>
        </p:txBody>
      </p:sp>
      <p:sp>
        <p:nvSpPr>
          <p:cNvPr id="6" name="">
            <a:extLst xmlns:a="http://schemas.openxmlformats.org/drawingml/2006/main">
              <a:ext uri="{FF2B5EF4-FFF2-40B4-BE49-F238E27FC236}">
                <a16:creationId xmlns:a16="http://schemas.microsoft.com/office/drawing/2014/main" id="{6AF3073F-D64B-4E89-837E-8CD6F309D85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for takes the next item. The indented block repeats.</a:t>
            </a:r>
          </a:p>
        </p:txBody>
      </p:sp>
      <p:sp>
        <p:nvSpPr>
          <p:cNvPr id="7" name="">
            <a:extLst xmlns:a="http://schemas.openxmlformats.org/drawingml/2006/main">
              <a:ext uri="{FF2B5EF4-FFF2-40B4-BE49-F238E27FC236}">
                <a16:creationId xmlns:a16="http://schemas.microsoft.com/office/drawing/2014/main" id="{341FA15F-6CF9-4DC5-B1E5-BDC9D5B7873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944A0914-AE19-4431-A738-9EEB25D1345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58</a:t>
            </a:r>
          </a:p>
        </p:txBody>
      </p:sp>
    </p:spTree>
    <p:extLst>
      <p:ext uri="{BB962C8B-B14F-4D97-AF65-F5344CB8AC3E}">
        <p14:creationId xmlns:p14="http://schemas.microsoft.com/office/powerpoint/2010/main" val="88021914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93F0A0-6A99-44B5-B5BC-3CD643CC1D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B42817-25F9-41DD-85F2-6CCC73D70CA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B02D39F-80CD-4EB7-AADB-C3C2F45E3E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Skip a blank before converting text</a:t>
            </a:r>
          </a:p>
        </p:txBody>
      </p:sp>
      <p:sp>
        <p:nvSpPr>
          <p:cNvPr id="4" name="">
            <a:extLst xmlns:a="http://schemas.openxmlformats.org/drawingml/2006/main">
              <a:ext uri="{FF2B5EF4-FFF2-40B4-BE49-F238E27FC236}">
                <a16:creationId xmlns:a16="http://schemas.microsoft.com/office/drawing/2014/main" id="{90C5817A-5E67-4838-AA84-114CF1A1FA7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6F70F6-84C1-408F-8350-EBACCAF74B1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1C4923F-6145-4567-8716-48831BA5202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 empty text field is "". The comparison != means “not equal to”. Only convert a value after the blank check passes.</a:t>
            </a:r>
          </a:p>
        </p:txBody>
      </p:sp>
      <p:sp>
        <p:nvSpPr>
          <p:cNvPr id="7" name="">
            <a:extLst xmlns:a="http://schemas.openxmlformats.org/drawingml/2006/main">
              <a:ext uri="{FF2B5EF4-FFF2-40B4-BE49-F238E27FC236}">
                <a16:creationId xmlns:a16="http://schemas.microsoft.com/office/drawing/2014/main" id="{74457CB0-0BDB-4DD5-8046-54A53015C2D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In this example, values records valid numbers only. Its length is the valid count; the group summaries must use the same valid-record policy.</a:t>
            </a:r>
          </a:p>
        </p:txBody>
      </p:sp>
      <p:sp>
        <p:nvSpPr>
          <p:cNvPr id="8" name="">
            <a:extLst xmlns:a="http://schemas.openxmlformats.org/drawingml/2006/main">
              <a:ext uri="{FF2B5EF4-FFF2-40B4-BE49-F238E27FC236}">
                <a16:creationId xmlns:a16="http://schemas.microsoft.com/office/drawing/2014/main" id="{2D7E15A8-A0BB-4E04-A7D0-0C325F8F00A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59</a:t>
            </a:r>
          </a:p>
        </p:txBody>
      </p:sp>
    </p:spTree>
    <p:extLst>
      <p:ext uri="{BB962C8B-B14F-4D97-AF65-F5344CB8AC3E}">
        <p14:creationId xmlns:p14="http://schemas.microsoft.com/office/powerpoint/2010/main" val="497766144"/>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66C0E8C-202F-474A-B8D8-6C83820F413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B3FBB2-2DF9-42B7-B4A8-FD79A3634B4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12925B0-E6C9-492D-A3E5-2833903B958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Collect only the recorded numbers</a:t>
            </a:r>
          </a:p>
        </p:txBody>
      </p:sp>
      <p:sp>
        <p:nvSpPr>
          <p:cNvPr id="4" name="">
            <a:extLst xmlns:a="http://schemas.openxmlformats.org/drawingml/2006/main">
              <a:ext uri="{FF2B5EF4-FFF2-40B4-BE49-F238E27FC236}">
                <a16:creationId xmlns:a16="http://schemas.microsoft.com/office/drawing/2014/main" id="{1B3AC215-6C9B-4560-8DDA-5C526D0D2AA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76356F6-529D-4214-BF85-3A4643C5414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text_values = ["2.5", "", "3.5"]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values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text in text_values: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text !=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values.append(float(text))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print(len(values), values)</a:t>
            </a:r>
          </a:p>
        </p:txBody>
      </p:sp>
      <p:sp>
        <p:nvSpPr>
          <p:cNvPr id="6" name="">
            <a:extLst xmlns:a="http://schemas.openxmlformats.org/drawingml/2006/main">
              <a:ext uri="{FF2B5EF4-FFF2-40B4-BE49-F238E27FC236}">
                <a16:creationId xmlns:a16="http://schemas.microsoft.com/office/drawing/2014/main" id="{507AA9BB-80DD-4D7F-8C44-D398A6C5C00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6BB760C-E279-47C0-BEF3-A870CF5E975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B0AA9232-7254-43C0-AC3C-411B177F91AD}"/>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C6481360-8A29-4FB7-A6B7-61A91753726B}"/>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float converts numeric text into a decimal number.</a:t>
            </a:r>
          </a:p>
        </p:txBody>
      </p:sp>
      <p:sp>
        <p:nvSpPr>
          <p:cNvPr id="10" name="">
            <a:extLst xmlns:a="http://schemas.openxmlformats.org/drawingml/2006/main">
              <a:ext uri="{FF2B5EF4-FFF2-40B4-BE49-F238E27FC236}">
                <a16:creationId xmlns:a16="http://schemas.microsoft.com/office/drawing/2014/main" id="{B304D82F-6181-4625-BFCC-6FBA11F5CCA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2 [2.5, 3.5]. A blank is missing, not a recorded zero.</a:t>
            </a:r>
          </a:p>
        </p:txBody>
      </p:sp>
      <p:sp>
        <p:nvSpPr>
          <p:cNvPr id="11" name="">
            <a:extLst xmlns:a="http://schemas.openxmlformats.org/drawingml/2006/main">
              <a:ext uri="{FF2B5EF4-FFF2-40B4-BE49-F238E27FC236}">
                <a16:creationId xmlns:a16="http://schemas.microsoft.com/office/drawing/2014/main" id="{1CBA7F7B-C098-4A54-A563-E25ED04EE61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60</a:t>
            </a:r>
          </a:p>
        </p:txBody>
      </p:sp>
    </p:spTree>
    <p:extLst>
      <p:ext uri="{BB962C8B-B14F-4D97-AF65-F5344CB8AC3E}">
        <p14:creationId xmlns:p14="http://schemas.microsoft.com/office/powerpoint/2010/main" val="205147946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D44D37-0EFF-48BE-94A9-1C13D473409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84ABEC-BF40-4999-9BE1-3C94C60C3B2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548676A-BE54-40ED-8E3A-18B3FA26F1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Membership in a dictionary</a:t>
            </a:r>
          </a:p>
        </p:txBody>
      </p:sp>
      <p:sp>
        <p:nvSpPr>
          <p:cNvPr id="4" name="">
            <a:extLst xmlns:a="http://schemas.openxmlformats.org/drawingml/2006/main">
              <a:ext uri="{FF2B5EF4-FFF2-40B4-BE49-F238E27FC236}">
                <a16:creationId xmlns:a16="http://schemas.microsoft.com/office/drawing/2014/main" id="{672594C0-694A-4073-B470-426524453D8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95335ED-B1D4-4F30-826C-B7B884FAA83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 in totals asks whether group is already a dictionary key. group not in totals asks whether that key is absent.</a:t>
            </a:r>
          </a:p>
        </p:txBody>
      </p:sp>
      <p:sp>
        <p:nvSpPr>
          <p:cNvPr id="6" name="">
            <a:extLst xmlns:a="http://schemas.openxmlformats.org/drawingml/2006/main">
              <a:ext uri="{FF2B5EF4-FFF2-40B4-BE49-F238E27FC236}">
                <a16:creationId xmlns:a16="http://schemas.microsoft.com/office/drawing/2014/main" id="{A9E550A8-B908-404D-BC59-F650D19308A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89DDCD5-C7CA-4294-85AF-47F3B37EC97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Before adding to a new group, create its total with totals[group] = 0. Then add the current record’s reading.</a:t>
            </a:r>
          </a:p>
        </p:txBody>
      </p:sp>
      <p:sp>
        <p:nvSpPr>
          <p:cNvPr id="8" name="">
            <a:extLst xmlns:a="http://schemas.openxmlformats.org/drawingml/2006/main">
              <a:ext uri="{FF2B5EF4-FFF2-40B4-BE49-F238E27FC236}">
                <a16:creationId xmlns:a16="http://schemas.microsoft.com/office/drawing/2014/main" id="{29AAD563-0D32-4176-AC19-8AADA1D472D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EEC6EF5-445E-4C7D-BBE6-B544D78D292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outer for visits records. The inner if runs only for a new group. The addition after the if runs for every record.</a:t>
            </a:r>
          </a:p>
        </p:txBody>
      </p:sp>
      <p:sp>
        <p:nvSpPr>
          <p:cNvPr id="10" name="">
            <a:extLst xmlns:a="http://schemas.openxmlformats.org/drawingml/2006/main">
              <a:ext uri="{FF2B5EF4-FFF2-40B4-BE49-F238E27FC236}">
                <a16:creationId xmlns:a16="http://schemas.microsoft.com/office/drawing/2014/main" id="{BD9D902A-D737-40ED-BDD1-5D63C674E3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61</a:t>
            </a:r>
          </a:p>
        </p:txBody>
      </p:sp>
    </p:spTree>
    <p:extLst>
      <p:ext uri="{BB962C8B-B14F-4D97-AF65-F5344CB8AC3E}">
        <p14:creationId xmlns:p14="http://schemas.microsoft.com/office/powerpoint/2010/main" val="1286474325"/>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4DA13B-094B-415F-880A-6EC0684837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A05744-E014-4B41-9D5A-81C6DC860EE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B7C331B-6F9C-4359-8B39-FA07ECA157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for separate groups</a:t>
            </a:r>
          </a:p>
        </p:txBody>
      </p:sp>
      <p:sp>
        <p:nvSpPr>
          <p:cNvPr id="4" name="">
            <a:extLst xmlns:a="http://schemas.openxmlformats.org/drawingml/2006/main">
              <a:ext uri="{FF2B5EF4-FFF2-40B4-BE49-F238E27FC236}">
                <a16:creationId xmlns:a16="http://schemas.microsoft.com/office/drawing/2014/main" id="{8FA771EE-B77E-4DC9-9DD9-22EE79798C6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2AA6777-BE75-47CE-BF26-2E0968B02AF4}"/>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dictionary can hold one running total for each group.</a:t>
            </a:r>
          </a:p>
        </p:txBody>
      </p:sp>
      <p:sp>
        <p:nvSpPr>
          <p:cNvPr id="6" name="">
            <a:extLst xmlns:a="http://schemas.openxmlformats.org/drawingml/2006/main">
              <a:ext uri="{FF2B5EF4-FFF2-40B4-BE49-F238E27FC236}">
                <a16:creationId xmlns:a16="http://schemas.microsoft.com/office/drawing/2014/main" id="{07BDD257-DA09-4ED9-93F8-7045BF30BA5F}"/>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253BDC9-ED9B-4B31-8323-8B59BB348F0A}"/>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absent key needs an initial zero.</a:t>
            </a:r>
          </a:p>
        </p:txBody>
      </p:sp>
      <p:sp>
        <p:nvSpPr>
          <p:cNvPr id="8" name="">
            <a:extLst xmlns:a="http://schemas.openxmlformats.org/drawingml/2006/main">
              <a:ext uri="{FF2B5EF4-FFF2-40B4-BE49-F238E27FC236}">
                <a16:creationId xmlns:a16="http://schemas.microsoft.com/office/drawing/2014/main" id="{095B5F86-5A68-462C-8FFF-9B59302BAF65}"/>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1C952D4-1771-4A0B-95BF-E74C7A6DA6DA}"/>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Then add the reading to that group.</a:t>
            </a:r>
          </a:p>
        </p:txBody>
      </p:sp>
      <p:sp>
        <p:nvSpPr>
          <p:cNvPr id="10" name="">
            <a:extLst xmlns:a="http://schemas.openxmlformats.org/drawingml/2006/main">
              <a:ext uri="{FF2B5EF4-FFF2-40B4-BE49-F238E27FC236}">
                <a16:creationId xmlns:a16="http://schemas.microsoft.com/office/drawing/2014/main" id="{8494C2F5-744E-4D78-B336-950F65C6D3AE}"/>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54F868A-2EC2-44F5-B16E-44A700904129}"/>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To calculate group means, keep a matching count and divide each group total by its own count.</a:t>
            </a:r>
          </a:p>
        </p:txBody>
      </p:sp>
      <p:sp>
        <p:nvSpPr>
          <p:cNvPr id="12" name="">
            <a:extLst xmlns:a="http://schemas.openxmlformats.org/drawingml/2006/main">
              <a:ext uri="{FF2B5EF4-FFF2-40B4-BE49-F238E27FC236}">
                <a16:creationId xmlns:a16="http://schemas.microsoft.com/office/drawing/2014/main" id="{38002707-F6D4-4703-B6B2-234207034EC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62</a:t>
            </a:r>
          </a:p>
        </p:txBody>
      </p:sp>
    </p:spTree>
    <p:extLst>
      <p:ext uri="{BB962C8B-B14F-4D97-AF65-F5344CB8AC3E}">
        <p14:creationId xmlns:p14="http://schemas.microsoft.com/office/powerpoint/2010/main" val="84274253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24DB87-ACCD-447D-A28A-9F7230E57AA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A06FA6-2C98-4E20-B0E0-5B278FAB0CF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7A97E73-C587-4E4F-A27E-C3BE0EBA132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for separate groups in Python (1/2)</a:t>
            </a:r>
          </a:p>
        </p:txBody>
      </p:sp>
      <p:sp>
        <p:nvSpPr>
          <p:cNvPr id="4" name="">
            <a:extLst xmlns:a="http://schemas.openxmlformats.org/drawingml/2006/main">
              <a:ext uri="{FF2B5EF4-FFF2-40B4-BE49-F238E27FC236}">
                <a16:creationId xmlns:a16="http://schemas.microsoft.com/office/drawing/2014/main" id="{115446DD-F65F-4309-A796-F3947F6ADC8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702BECD-B728-4055-985C-22B02DC7CED3}"/>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records = [{"group": "A", "reading":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{"group": "A", "reading":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{"group": "B", "reading": 9}]</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totals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row in 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group = row["group"]</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group not in totals: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totals[group] =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totals[group] = totals[group] + row["reading"]</a:t>
            </a:r>
          </a:p>
        </p:txBody>
      </p:sp>
      <p:sp>
        <p:nvSpPr>
          <p:cNvPr id="6" name="">
            <a:extLst xmlns:a="http://schemas.openxmlformats.org/drawingml/2006/main">
              <a:ext uri="{FF2B5EF4-FFF2-40B4-BE49-F238E27FC236}">
                <a16:creationId xmlns:a16="http://schemas.microsoft.com/office/drawing/2014/main" id="{F0F092B6-3D16-4811-BCD3-AEA176F8BE9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for takes the next item. The indented block repeats.</a:t>
            </a:r>
          </a:p>
        </p:txBody>
      </p:sp>
      <p:sp>
        <p:nvSpPr>
          <p:cNvPr id="7" name="">
            <a:extLst xmlns:a="http://schemas.openxmlformats.org/drawingml/2006/main">
              <a:ext uri="{FF2B5EF4-FFF2-40B4-BE49-F238E27FC236}">
                <a16:creationId xmlns:a16="http://schemas.microsoft.com/office/drawing/2014/main" id="{95C70BA8-F0D0-460D-8654-3EAA0410B50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529655D5-81F1-4992-AE64-D3440E0F310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63</a:t>
            </a:r>
          </a:p>
        </p:txBody>
      </p:sp>
    </p:spTree>
    <p:extLst>
      <p:ext uri="{BB962C8B-B14F-4D97-AF65-F5344CB8AC3E}">
        <p14:creationId xmlns:p14="http://schemas.microsoft.com/office/powerpoint/2010/main" val="618230708"/>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FAAC74-4C6C-44A5-9832-2C5CE70B993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5A7656-E667-4945-AD8A-AB96C5E7B55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ABEF540-CFB3-4C55-A57C-B9BD51BAA86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for separate groups in Python (2/2)</a:t>
            </a:r>
          </a:p>
        </p:txBody>
      </p:sp>
      <p:sp>
        <p:nvSpPr>
          <p:cNvPr id="4" name="">
            <a:extLst xmlns:a="http://schemas.openxmlformats.org/drawingml/2006/main">
              <a:ext uri="{FF2B5EF4-FFF2-40B4-BE49-F238E27FC236}">
                <a16:creationId xmlns:a16="http://schemas.microsoft.com/office/drawing/2014/main" id="{ADB3939A-1661-4B82-8F29-9920A275568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2F931E-28B6-43D2-B995-57CAF95B1A4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print(totals)</a:t>
            </a:r>
          </a:p>
        </p:txBody>
      </p:sp>
      <p:sp>
        <p:nvSpPr>
          <p:cNvPr id="6" name="">
            <a:extLst xmlns:a="http://schemas.openxmlformats.org/drawingml/2006/main">
              <a:ext uri="{FF2B5EF4-FFF2-40B4-BE49-F238E27FC236}">
                <a16:creationId xmlns:a16="http://schemas.microsoft.com/office/drawing/2014/main" id="{2538B504-0D09-4B9C-941D-FC74D5A2717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6B00663-6D32-46A5-A4BE-48EE6069A47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B1F5FC3A-FAF4-469B-92C3-E2EAA9E0E00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9" name="">
            <a:extLst xmlns:a="http://schemas.openxmlformats.org/drawingml/2006/main">
              <a:ext uri="{FF2B5EF4-FFF2-40B4-BE49-F238E27FC236}">
                <a16:creationId xmlns:a16="http://schemas.microsoft.com/office/drawing/2014/main" id="{2F6568E5-C55E-483C-89DA-61A53DD123E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64</a:t>
            </a:r>
          </a:p>
        </p:txBody>
      </p:sp>
    </p:spTree>
    <p:extLst>
      <p:ext uri="{BB962C8B-B14F-4D97-AF65-F5344CB8AC3E}">
        <p14:creationId xmlns:p14="http://schemas.microsoft.com/office/powerpoint/2010/main" val="1935555786"/>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ADA5A0-A2F8-4C74-86EC-3418B62E1DC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4B3C2B-F504-42C6-A7B0-297EC12903C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E87C00B-4144-420B-90DA-FBE4C6BC2F1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group mean needs its own count</a:t>
            </a:r>
          </a:p>
        </p:txBody>
      </p:sp>
      <p:sp>
        <p:nvSpPr>
          <p:cNvPr id="4" name="">
            <a:extLst xmlns:a="http://schemas.openxmlformats.org/drawingml/2006/main">
              <a:ext uri="{FF2B5EF4-FFF2-40B4-BE49-F238E27FC236}">
                <a16:creationId xmlns:a16="http://schemas.microsoft.com/office/drawing/2014/main" id="{9C08A991-0A9B-4B6E-85D4-3FDE0DBF4C5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0FE05FB-06F0-4C2C-9408-D5208AB5636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72D8B1A-E0C6-4915-9EAE-E9803A2ED40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preceding loop calculated a total for each group. Count records in those same groups, then divide each group total by its own count.</a:t>
            </a:r>
          </a:p>
        </p:txBody>
      </p:sp>
      <p:sp>
        <p:nvSpPr>
          <p:cNvPr id="7" name="">
            <a:extLst xmlns:a="http://schemas.openxmlformats.org/drawingml/2006/main">
              <a:ext uri="{FF2B5EF4-FFF2-40B4-BE49-F238E27FC236}">
                <a16:creationId xmlns:a16="http://schemas.microsoft.com/office/drawing/2014/main" id="{4D5D70FC-D97D-4271-8704-579ED575056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items() supplies the group name and its total together. We use small invented records, not the assignment’s answers.</a:t>
            </a:r>
          </a:p>
        </p:txBody>
      </p:sp>
      <p:sp>
        <p:nvSpPr>
          <p:cNvPr id="8" name="">
            <a:extLst xmlns:a="http://schemas.openxmlformats.org/drawingml/2006/main">
              <a:ext uri="{FF2B5EF4-FFF2-40B4-BE49-F238E27FC236}">
                <a16:creationId xmlns:a16="http://schemas.microsoft.com/office/drawing/2014/main" id="{B7CB2246-4C84-4A83-B8EF-E2B865F86B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65</a:t>
            </a:r>
          </a:p>
        </p:txBody>
      </p:sp>
    </p:spTree>
    <p:extLst>
      <p:ext uri="{BB962C8B-B14F-4D97-AF65-F5344CB8AC3E}">
        <p14:creationId xmlns:p14="http://schemas.microsoft.com/office/powerpoint/2010/main" val="171469243"/>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3C16347-7D8D-440E-A705-094C5171BCE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28F4F6-6ED5-4A89-A4BC-D366B9E85CE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9D22A56-B115-4FAE-9F82-6AC3E4459F8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From group totals to group means</a:t>
            </a:r>
          </a:p>
        </p:txBody>
      </p:sp>
      <p:sp>
        <p:nvSpPr>
          <p:cNvPr id="4" name="">
            <a:extLst xmlns:a="http://schemas.openxmlformats.org/drawingml/2006/main">
              <a:ext uri="{FF2B5EF4-FFF2-40B4-BE49-F238E27FC236}">
                <a16:creationId xmlns:a16="http://schemas.microsoft.com/office/drawing/2014/main" id="{BAD67A46-533C-454C-AB65-F42AC0760087}"/>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A44CD88-9B4E-4351-988D-72225F09BB3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counts = {}</a:t>
            </a:r>
          </a:p>
          <a:p xmlns:a="http://schemas.openxmlformats.org/drawingml/2006/main">
            <a:pPr>
              <a:defRPr sz="1900" b="0">
                <a:solidFill>
                  <a:srgbClr val="F4F7FA"/>
                </a:solidFill>
                <a:latin typeface="Courier New"/>
                <a:ea typeface="Courier New"/>
                <a:cs typeface="Courier New"/>
              </a:defRPr>
            </a:pPr>
            <a:r>
              <a:rPr sz="1900" b="0">
                <a:solidFill>
                  <a:srgbClr val="FFB080"/>
                </a:solidFill>
                <a:latin typeface="Courier New"/>
                <a:ea typeface="Courier New"/>
                <a:cs typeface="Courier New"/>
              </a:rPr>
              <a:t>for</a:t>
            </a:r>
            <a:r>
              <a:rPr sz="1900" b="0">
                <a:solidFill>
                  <a:srgbClr val="F4F7FA"/>
                </a:solidFill>
                <a:latin typeface="Courier New"/>
                <a:ea typeface="Courier New"/>
                <a:cs typeface="Courier New"/>
              </a:rPr>
              <a:t> row in records:</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    group = row["group"]</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    counts[group] = counts.get(group, 0) + 1</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means = {}</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for group, total in totals.items():</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    means[group] = total / counts[group]</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print(means)</a:t>
            </a:r>
          </a:p>
        </p:txBody>
      </p:sp>
      <p:sp>
        <p:nvSpPr>
          <p:cNvPr id="6" name="">
            <a:extLst xmlns:a="http://schemas.openxmlformats.org/drawingml/2006/main">
              <a:ext uri="{FF2B5EF4-FFF2-40B4-BE49-F238E27FC236}">
                <a16:creationId xmlns:a16="http://schemas.microsoft.com/office/drawing/2014/main" id="{B4002C60-6E52-414F-AD24-883579C10D7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D46DB917-CFF9-4C8C-AB3F-CCE408C308E8}"/>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FE97A143-8DB7-4B42-A4BD-41926CB288C1}"/>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CFEC447D-F7F9-40E4-B557-432D22756AD4}"/>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10" name="">
            <a:extLst xmlns:a="http://schemas.openxmlformats.org/drawingml/2006/main">
              <a:ext uri="{FF2B5EF4-FFF2-40B4-BE49-F238E27FC236}">
                <a16:creationId xmlns:a16="http://schemas.microsoft.com/office/drawing/2014/main" id="{47091B17-F6A9-41A8-B68D-279B2745588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A has mean 3.0 and B has mean 9.0. Each group uses its own denominator.</a:t>
            </a:r>
          </a:p>
        </p:txBody>
      </p:sp>
      <p:sp>
        <p:nvSpPr>
          <p:cNvPr id="11" name="">
            <a:extLst xmlns:a="http://schemas.openxmlformats.org/drawingml/2006/main">
              <a:ext uri="{FF2B5EF4-FFF2-40B4-BE49-F238E27FC236}">
                <a16:creationId xmlns:a16="http://schemas.microsoft.com/office/drawing/2014/main" id="{9D820C92-3CF4-47CF-86B2-73E7DE29C9C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66</a:t>
            </a:r>
          </a:p>
        </p:txBody>
      </p:sp>
    </p:spTree>
    <p:extLst>
      <p:ext uri="{BB962C8B-B14F-4D97-AF65-F5344CB8AC3E}">
        <p14:creationId xmlns:p14="http://schemas.microsoft.com/office/powerpoint/2010/main" val="1062749835"/>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4BA3CD-2925-4F94-B8D6-23C249AF466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EC4741-2B7C-4ADC-821C-CF19A759CCD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4FC22B4-1001-4BF0-8794-433F5B7FEA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When numeric text cannot be converted</a:t>
            </a:r>
          </a:p>
        </p:txBody>
      </p:sp>
      <p:sp>
        <p:nvSpPr>
          <p:cNvPr id="4" name="">
            <a:extLst xmlns:a="http://schemas.openxmlformats.org/drawingml/2006/main">
              <a:ext uri="{FF2B5EF4-FFF2-40B4-BE49-F238E27FC236}">
                <a16:creationId xmlns:a16="http://schemas.microsoft.com/office/drawing/2014/main" id="{BECAD89D-8723-460B-AA71-F19376D84CF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1541E0-0651-41BD-9AA0-8F45ABBBE38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273D8B-C88A-4F92-B8C3-96AD78DE785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float("bad") raises ValueError: the text does not represent a number. An exception interrupts ordinary execution.</a:t>
            </a:r>
          </a:p>
        </p:txBody>
      </p:sp>
      <p:sp>
        <p:nvSpPr>
          <p:cNvPr id="7" name="">
            <a:extLst xmlns:a="http://schemas.openxmlformats.org/drawingml/2006/main">
              <a:ext uri="{FF2B5EF4-FFF2-40B4-BE49-F238E27FC236}">
                <a16:creationId xmlns:a16="http://schemas.microsoft.com/office/drawing/2014/main" id="{60A4222A-F86B-4BDD-87B1-77FA1D80D06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try contains the operation that might fail. except ValueError runs only for that named failure. Indentation shows the two blocks.</a:t>
            </a:r>
          </a:p>
        </p:txBody>
      </p:sp>
      <p:sp>
        <p:nvSpPr>
          <p:cNvPr id="8" name="">
            <a:extLst xmlns:a="http://schemas.openxmlformats.org/drawingml/2006/main">
              <a:ext uri="{FF2B5EF4-FFF2-40B4-BE49-F238E27FC236}">
                <a16:creationId xmlns:a16="http://schemas.microsoft.com/office/drawing/2014/main" id="{49C9E01A-BBB7-4612-B48B-FC6AE2AD5C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67</a:t>
            </a:r>
          </a:p>
        </p:txBody>
      </p:sp>
    </p:spTree>
    <p:extLst>
      <p:ext uri="{BB962C8B-B14F-4D97-AF65-F5344CB8AC3E}">
        <p14:creationId xmlns:p14="http://schemas.microsoft.com/office/powerpoint/2010/main" val="722427196"/>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A00B3CA-4D53-4BD1-9555-7A5D33BEC47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DCE430-C8BF-4BE0-A95C-2846A347357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C3995E9-AB66-4858-835E-CF4BA00C348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Catch one expected conversion failure</a:t>
            </a:r>
          </a:p>
        </p:txBody>
      </p:sp>
      <p:sp>
        <p:nvSpPr>
          <p:cNvPr id="4" name="">
            <a:extLst xmlns:a="http://schemas.openxmlformats.org/drawingml/2006/main">
              <a:ext uri="{FF2B5EF4-FFF2-40B4-BE49-F238E27FC236}">
                <a16:creationId xmlns:a16="http://schemas.microsoft.com/office/drawing/2014/main" id="{01F71C63-D82F-46C7-BFFB-6557C75B0467}"/>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BF15DE-2850-4D1D-9345-380FF4BF673C}"/>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text = "bad"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try:</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reading = float(text)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except ValueError:</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reading = </a:t>
            </a:r>
            <a:r>
              <a:rPr sz="2175" b="0">
                <a:solidFill>
                  <a:srgbClr val="FFB080"/>
                </a:solidFill>
                <a:latin typeface="Courier New"/>
                <a:ea typeface="Courier New"/>
                <a:cs typeface="Courier New"/>
              </a:rPr>
              <a:t>None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a:t>
            </a:r>
          </a:p>
        </p:txBody>
      </p:sp>
      <p:sp>
        <p:nvSpPr>
          <p:cNvPr id="6" name="">
            <a:extLst xmlns:a="http://schemas.openxmlformats.org/drawingml/2006/main">
              <a:ext uri="{FF2B5EF4-FFF2-40B4-BE49-F238E27FC236}">
                <a16:creationId xmlns:a16="http://schemas.microsoft.com/office/drawing/2014/main" id="{9B5CE247-1B6B-4281-A617-65D593FC2A2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D04E736-2348-43EB-9D38-9D04AA48DE50}"/>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float converts numeric text into a decimal number.</a:t>
            </a:r>
          </a:p>
        </p:txBody>
      </p:sp>
      <p:sp>
        <p:nvSpPr>
          <p:cNvPr id="8" name="">
            <a:extLst xmlns:a="http://schemas.openxmlformats.org/drawingml/2006/main">
              <a:ext uri="{FF2B5EF4-FFF2-40B4-BE49-F238E27FC236}">
                <a16:creationId xmlns:a16="http://schemas.microsoft.com/office/drawing/2014/main" id="{BAA4F5C3-267F-4AA9-AC42-6650C24D3615}"/>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421022AC-AD3F-4571-9231-E36AD7CF2ED8}"/>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5D336F70-8FE2-4C0F-8339-99637A79964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None. The assignment specifies which invalid records to skip; do not invent a replacement number.</a:t>
            </a:r>
          </a:p>
        </p:txBody>
      </p:sp>
      <p:sp>
        <p:nvSpPr>
          <p:cNvPr id="11" name="">
            <a:extLst xmlns:a="http://schemas.openxmlformats.org/drawingml/2006/main">
              <a:ext uri="{FF2B5EF4-FFF2-40B4-BE49-F238E27FC236}">
                <a16:creationId xmlns:a16="http://schemas.microsoft.com/office/drawing/2014/main" id="{F2F010DD-5EB0-49B8-8D81-E4A93D58097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68</a:t>
            </a:r>
          </a:p>
        </p:txBody>
      </p:sp>
    </p:spTree>
    <p:extLst>
      <p:ext uri="{BB962C8B-B14F-4D97-AF65-F5344CB8AC3E}">
        <p14:creationId xmlns:p14="http://schemas.microsoft.com/office/powerpoint/2010/main" val="1320434101"/>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2D9084-B80B-48F9-856E-4328C425B66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24540A-CB53-4772-86CA-E832BF555AA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ABD70C4F-7927-4418-BE0B-288F9311E21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conversion success and failure</a:t>
            </a:r>
          </a:p>
        </p:txBody>
      </p:sp>
      <p:graphicFrame>
        <p:nvGraphicFramePr>
          <p:cNvPr id="10" name=""/>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Text supplied</a:t>
                      </a:r>
                    </a:p>
                  </a:txBody>
                  <a:tcPr marL="91440" marR="91440" marT="45720" marB="45720">
                    <a:solidFill>
                      <a:srgbClr val="2E7D6F"/>
                    </a:solidFill>
                  </a:tcPr>
                </a:tc>
                <a:tc>
                  <a:txBody>
                    <a:bodyPr/>
                    <a:lstStyle/>
                    <a:p>
                      <a:r>
                        <a:rPr sz="2025" b="1">
                          <a:solidFill>
                            <a:srgbClr val="FFFFFF"/>
                          </a:solidFill>
                          <a:latin typeface="Calibri"/>
                          <a:ea typeface="Calibri"/>
                          <a:cs typeface="Calibri"/>
                        </a:rPr>
                        <a:t>try block</a:t>
                      </a:r>
                    </a:p>
                  </a:txBody>
                  <a:tcPr marL="91440" marR="91440" marT="45720" marB="45720">
                    <a:solidFill>
                      <a:srgbClr val="2E7D6F"/>
                    </a:solidFill>
                  </a:tcPr>
                </a:tc>
                <a:tc>
                  <a:txBody>
                    <a:bodyPr/>
                    <a:lstStyle/>
                    <a:p>
                      <a:r>
                        <a:rPr sz="2025" b="1">
                          <a:solidFill>
                            <a:srgbClr val="FFFFFF"/>
                          </a:solidFill>
                          <a:latin typeface="Calibri"/>
                          <a:ea typeface="Calibri"/>
                          <a:cs typeface="Calibri"/>
                        </a:rPr>
                        <a:t>Result after except</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"2.5"</a:t>
                      </a:r>
                    </a:p>
                  </a:txBody>
                  <a:tcPr marL="91440" marR="91440" marT="45720" marB="45720">
                    <a:solidFill>
                      <a:srgbClr val="EEF3F6"/>
                    </a:solidFill>
                  </a:tcPr>
                </a:tc>
                <a:tc>
                  <a:txBody>
                    <a:bodyPr/>
                    <a:lstStyle/>
                    <a:p>
                      <a:r>
                        <a:rPr sz="2025" b="0">
                          <a:solidFill>
                            <a:srgbClr val="1C3144"/>
                          </a:solidFill>
                          <a:latin typeface="Calibri"/>
                          <a:ea typeface="Calibri"/>
                          <a:cs typeface="Calibri"/>
                        </a:rPr>
                        <a:t>float succeeds; skip except</a:t>
                      </a:r>
                    </a:p>
                  </a:txBody>
                  <a:tcPr marL="91440" marR="91440" marT="45720" marB="45720">
                    <a:solidFill>
                      <a:srgbClr val="EEF3F6"/>
                    </a:solidFill>
                  </a:tcPr>
                </a:tc>
                <a:tc>
                  <a:txBody>
                    <a:bodyPr/>
                    <a:lstStyle/>
                    <a:p>
                      <a:r>
                        <a:rPr sz="2025" b="0">
                          <a:solidFill>
                            <a:srgbClr val="1C3144"/>
                          </a:solidFill>
                          <a:latin typeface="Calibri"/>
                          <a:ea typeface="Calibri"/>
                          <a:cs typeface="Calibri"/>
                        </a:rPr>
                        <a:t>2.5</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"bad"</a:t>
                      </a:r>
                    </a:p>
                  </a:txBody>
                  <a:tcPr marL="91440" marR="91440" marT="45720" marB="45720">
                    <a:solidFill>
                      <a:srgbClr val="FFFFFF"/>
                    </a:solidFill>
                  </a:tcPr>
                </a:tc>
                <a:tc>
                  <a:txBody>
                    <a:bodyPr/>
                    <a:lstStyle/>
                    <a:p>
                      <a:r>
                        <a:rPr sz="2025" b="0">
                          <a:solidFill>
                            <a:srgbClr val="1C3144"/>
                          </a:solidFill>
                          <a:latin typeface="Calibri"/>
                          <a:ea typeface="Calibri"/>
                          <a:cs typeface="Calibri"/>
                        </a:rPr>
                        <a:t>float raises ValueError</a:t>
                      </a:r>
                    </a:p>
                  </a:txBody>
                  <a:tcPr marL="91440" marR="91440" marT="45720" marB="45720">
                    <a:solidFill>
                      <a:srgbClr val="FFFFFF"/>
                    </a:solidFill>
                  </a:tcPr>
                </a:tc>
                <a:tc>
                  <a:txBody>
                    <a:bodyPr/>
                    <a:lstStyle/>
                    <a:p>
                      <a:r>
                        <a:rPr sz="2025" b="0">
                          <a:solidFill>
                            <a:srgbClr val="1C3144"/>
                          </a:solidFill>
                          <a:latin typeface="Calibri"/>
                          <a:ea typeface="Calibri"/>
                          <a:cs typeface="Calibri"/>
                        </a:rPr>
                        <a:t>None assigned by except</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53BC020-D535-4C1C-B013-4BB99BE1E41B}"/>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Only the named conversion failure is handled. Do not use except: pass to hide unrelated errors.</a:t>
            </a:r>
          </a:p>
        </p:txBody>
      </p:sp>
      <p:sp>
        <p:nvSpPr>
          <p:cNvPr id="6" name="">
            <a:extLst xmlns:a="http://schemas.openxmlformats.org/drawingml/2006/main">
              <a:ext uri="{FF2B5EF4-FFF2-40B4-BE49-F238E27FC236}">
                <a16:creationId xmlns:a16="http://schemas.microsoft.com/office/drawing/2014/main" id="{AE7780E7-AAB9-4799-BD72-6F8C8B3C125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69</a:t>
            </a:r>
          </a:p>
        </p:txBody>
      </p:sp>
    </p:spTree>
    <p:extLst>
      <p:ext uri="{BB962C8B-B14F-4D97-AF65-F5344CB8AC3E}">
        <p14:creationId xmlns:p14="http://schemas.microsoft.com/office/powerpoint/2010/main" val="1990336549"/>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6CC382-74F3-4BD5-A059-DB79282AA4B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B9F799-C86F-441C-B52B-1C162E9181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642D80A-8773-4106-AA95-4381C312483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28472168-9E55-4BBE-9D88-C06E4C82FB7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BB879F-CA6E-46E2-97A8-508D324FA7C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85BEBBF-075C-4F71-85B0-023D9B50734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Add 8 to the list. Trace the new total and count before running. What happens if total = 0 is moved inside the loop?</a:t>
            </a:r>
          </a:p>
        </p:txBody>
      </p:sp>
      <p:sp>
        <p:nvSpPr>
          <p:cNvPr id="7" name="">
            <a:extLst xmlns:a="http://schemas.openxmlformats.org/drawingml/2006/main">
              <a:ext uri="{FF2B5EF4-FFF2-40B4-BE49-F238E27FC236}">
                <a16:creationId xmlns:a16="http://schemas.microsoft.com/office/drawing/2014/main" id="{1E59AC41-390D-4A51-97F3-FDCEC6FAE2F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Total 20, count 4, mean 5.0. Resetting inside the loop discards previous additions and leaves only the last value in total.</a:t>
            </a:r>
          </a:p>
        </p:txBody>
      </p:sp>
      <p:sp>
        <p:nvSpPr>
          <p:cNvPr id="8" name="">
            <a:extLst xmlns:a="http://schemas.openxmlformats.org/drawingml/2006/main">
              <a:ext uri="{FF2B5EF4-FFF2-40B4-BE49-F238E27FC236}">
                <a16:creationId xmlns:a16="http://schemas.microsoft.com/office/drawing/2014/main" id="{B77FB8A0-298B-4FDE-9C30-B9216B10644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70</a:t>
            </a:r>
          </a:p>
        </p:txBody>
      </p:sp>
    </p:spTree>
    <p:extLst>
      <p:ext uri="{BB962C8B-B14F-4D97-AF65-F5344CB8AC3E}">
        <p14:creationId xmlns:p14="http://schemas.microsoft.com/office/powerpoint/2010/main" val="1904565906"/>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BAC6B2F-E406-48AA-96EE-579D7D430B2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E290C6-181C-46E5-A7C6-B8856A21949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45367FD-5076-4DD3-B04E-8B1A626DB02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84575B82-DD2C-4EBE-81C7-3E48E2BECE9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3FACD17-256E-4CDD-B39D-71ED239706BC}"/>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the issued W04 notebook and its cohort CSV.</a:t>
            </a:r>
          </a:p>
        </p:txBody>
      </p:sp>
      <p:sp>
        <p:nvSpPr>
          <p:cNvPr id="6" name="">
            <a:extLst xmlns:a="http://schemas.openxmlformats.org/drawingml/2006/main">
              <a:ext uri="{FF2B5EF4-FFF2-40B4-BE49-F238E27FC236}">
                <a16:creationId xmlns:a16="http://schemas.microsoft.com/office/drawing/2014/main" id="{9483E035-39F6-4586-A77E-ECE388D82129}"/>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5B4A3B1-463F-476C-B2D8-D85231C41E48}"/>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Compute the requested valid_count, mean_reading, above_limit and group_means using the exact names in the notebook.</a:t>
            </a:r>
          </a:p>
        </p:txBody>
      </p:sp>
      <p:sp>
        <p:nvSpPr>
          <p:cNvPr id="8" name="">
            <a:extLst xmlns:a="http://schemas.openxmlformats.org/drawingml/2006/main">
              <a:ext uri="{FF2B5EF4-FFF2-40B4-BE49-F238E27FC236}">
                <a16:creationId xmlns:a16="http://schemas.microsoft.com/office/drawing/2014/main" id="{1A0FCD58-943D-4B95-B333-29AF384F88CC}"/>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64D4EEE-DEB7-4499-805D-3D93D1647241}"/>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First identify the correct field and its unit.</a:t>
            </a:r>
          </a:p>
        </p:txBody>
      </p:sp>
      <p:sp>
        <p:nvSpPr>
          <p:cNvPr id="10" name="">
            <a:extLst xmlns:a="http://schemas.openxmlformats.org/drawingml/2006/main">
              <a:ext uri="{FF2B5EF4-FFF2-40B4-BE49-F238E27FC236}">
                <a16:creationId xmlns:a16="http://schemas.microsoft.com/office/drawing/2014/main" id="{1010B45A-CD25-4912-8DF2-95D3A541912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91DB4A1-9BA5-410D-A6CA-C5C6850769DD}"/>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CSV beside the notebook locally or upload it into the Colab runtime.</a:t>
            </a:r>
          </a:p>
        </p:txBody>
      </p:sp>
      <p:sp>
        <p:nvSpPr>
          <p:cNvPr id="12" name="">
            <a:extLst xmlns:a="http://schemas.openxmlformats.org/drawingml/2006/main">
              <a:ext uri="{FF2B5EF4-FFF2-40B4-BE49-F238E27FC236}">
                <a16:creationId xmlns:a16="http://schemas.microsoft.com/office/drawing/2014/main" id="{1973180D-4956-4110-A0C4-3AEE310908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71</a:t>
            </a:r>
          </a:p>
        </p:txBody>
      </p:sp>
    </p:spTree>
    <p:extLst>
      <p:ext uri="{BB962C8B-B14F-4D97-AF65-F5344CB8AC3E}">
        <p14:creationId xmlns:p14="http://schemas.microsoft.com/office/powerpoint/2010/main" val="296277292"/>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B581FC-BCEF-45F6-B4FA-2A692AA4A5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BBB4DB-BCC5-4706-9AAA-4047322F28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E5B2539-17B2-4722-B59C-CFCAFA64BA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97E3F3D0-46C4-43EF-9980-322302863A8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5539405-9A7F-45E6-BD23-6921C81FD174}"/>
              </a:ext>
            </a:extLst>
          </p:cNvPr>
          <p:cNvSpPr>
            <a:spLocks xmlns:a="http://schemas.openxmlformats.org/drawingml/2006/main" noGrp="1"/>
          </p:cNvSpPr>
          <p:nvPr/>
        </p:nvSpPr>
        <p:spPr>
          <a:xfrm xmlns:a="http://schemas.openxmlformats.org/drawingml/2006/main">
            <a:off x="1381125" y="1781175"/>
            <a:ext cx="10096500" cy="420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written interpretation is practice.</a:t>
            </a:r>
          </a:p>
        </p:txBody>
      </p:sp>
      <p:sp>
        <p:nvSpPr>
          <p:cNvPr id="6" name="">
            <a:extLst xmlns:a="http://schemas.openxmlformats.org/drawingml/2006/main">
              <a:ext uri="{FF2B5EF4-FFF2-40B4-BE49-F238E27FC236}">
                <a16:creationId xmlns:a16="http://schemas.microsoft.com/office/drawing/2014/main" id="{974F57C1-A2EF-4366-9660-F21586298C4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72</a:t>
            </a:r>
          </a:p>
        </p:txBody>
      </p:sp>
    </p:spTree>
    <p:extLst>
      <p:ext uri="{BB962C8B-B14F-4D97-AF65-F5344CB8AC3E}">
        <p14:creationId xmlns:p14="http://schemas.microsoft.com/office/powerpoint/2010/main" val="1974319402"/>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AA391F7-62D9-4F8D-BC2C-C41C3B0DE3C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53126F-FAC3-4FEE-A774-62D8495B80C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E952D99-49A1-49F4-8E80-7C8E64BE00C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Counting every record honestly</a:t>
            </a:r>
          </a:p>
        </p:txBody>
      </p:sp>
      <p:sp>
        <p:nvSpPr>
          <p:cNvPr id="4" name="">
            <a:extLst xmlns:a="http://schemas.openxmlformats.org/drawingml/2006/main">
              <a:ext uri="{FF2B5EF4-FFF2-40B4-BE49-F238E27FC236}">
                <a16:creationId xmlns:a16="http://schemas.microsoft.com/office/drawing/2014/main" id="{330C30C1-12F4-426E-BCA3-C0043D74D99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2D67BAB-E927-4D20-AD25-9C62854D9F5F}"/>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DictReader already consumes the header; skipping its first yielded row skips real data.</a:t>
            </a:r>
          </a:p>
        </p:txBody>
      </p:sp>
      <p:sp>
        <p:nvSpPr>
          <p:cNvPr id="6" name="">
            <a:extLst xmlns:a="http://schemas.openxmlformats.org/drawingml/2006/main">
              <a:ext uri="{FF2B5EF4-FFF2-40B4-BE49-F238E27FC236}">
                <a16:creationId xmlns:a16="http://schemas.microsoft.com/office/drawing/2014/main" id="{1B6C6901-253E-4308-A80A-55C011D50B98}"/>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C314EB2-34A2-4E30-89DE-DDBC5411EE97}"/>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string such as "unknown" cannot be converted to float.</a:t>
            </a:r>
          </a:p>
        </p:txBody>
      </p:sp>
      <p:sp>
        <p:nvSpPr>
          <p:cNvPr id="8" name="">
            <a:extLst xmlns:a="http://schemas.openxmlformats.org/drawingml/2006/main">
              <a:ext uri="{FF2B5EF4-FFF2-40B4-BE49-F238E27FC236}">
                <a16:creationId xmlns:a16="http://schemas.microsoft.com/office/drawing/2014/main" id="{C20863A4-7CA5-488B-97F1-186D196D2B34}"/>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803E059-0396-4DFD-8C7B-FC1920586B43}"/>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Catch the expected conversion error, count and record it, then continue under a stated policy.</a:t>
            </a:r>
          </a:p>
        </p:txBody>
      </p:sp>
      <p:sp>
        <p:nvSpPr>
          <p:cNvPr id="10" name="">
            <a:extLst xmlns:a="http://schemas.openxmlformats.org/drawingml/2006/main">
              <a:ext uri="{FF2B5EF4-FFF2-40B4-BE49-F238E27FC236}">
                <a16:creationId xmlns:a16="http://schemas.microsoft.com/office/drawing/2014/main" id="{1941B854-7D99-4800-9C6A-D7B7D61F6E8A}"/>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D2B3372-818D-4E67-88A2-F9228A329B3D}"/>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Inspect whether skipped rows share a source before reporting a mean.</a:t>
            </a:r>
          </a:p>
        </p:txBody>
      </p:sp>
      <p:sp>
        <p:nvSpPr>
          <p:cNvPr id="12" name="">
            <a:extLst xmlns:a="http://schemas.openxmlformats.org/drawingml/2006/main">
              <a:ext uri="{FF2B5EF4-FFF2-40B4-BE49-F238E27FC236}">
                <a16:creationId xmlns:a16="http://schemas.microsoft.com/office/drawing/2014/main" id="{0FE35ED6-DF59-4A0B-A20B-89D58D88E7C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73</a:t>
            </a:r>
          </a:p>
        </p:txBody>
      </p:sp>
    </p:spTree>
    <p:extLst>
      <p:ext uri="{BB962C8B-B14F-4D97-AF65-F5344CB8AC3E}">
        <p14:creationId xmlns:p14="http://schemas.microsoft.com/office/powerpoint/2010/main" val="152258010"/>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9859FC-8B7E-48C2-AB9D-6AD24B9434B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3DC10C-BFE5-4341-A3E4-BA60601E6B9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C539CDF-F4C4-4408-9879-7CA66CB956B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Counting every record honestly continued</a:t>
            </a:r>
          </a:p>
        </p:txBody>
      </p:sp>
      <p:sp>
        <p:nvSpPr>
          <p:cNvPr id="4" name="">
            <a:extLst xmlns:a="http://schemas.openxmlformats.org/drawingml/2006/main">
              <a:ext uri="{FF2B5EF4-FFF2-40B4-BE49-F238E27FC236}">
                <a16:creationId xmlns:a16="http://schemas.microsoft.com/office/drawing/2014/main" id="{B80FF33C-BE7C-485F-BADA-404343130D90}"/>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B2A4EC-A736-4134-8F1F-BE4A25AC0E56}"/>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A sample summary describes observed records, not every possible operating condition.</a:t>
            </a:r>
          </a:p>
        </p:txBody>
      </p:sp>
      <p:sp>
        <p:nvSpPr>
          <p:cNvPr id="6" name="">
            <a:extLst xmlns:a="http://schemas.openxmlformats.org/drawingml/2006/main">
              <a:ext uri="{FF2B5EF4-FFF2-40B4-BE49-F238E27FC236}">
                <a16:creationId xmlns:a16="http://schemas.microsoft.com/office/drawing/2014/main" id="{957F2F6C-65F0-49B2-9CCF-84E99EA271E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74</a:t>
            </a:r>
          </a:p>
        </p:txBody>
      </p:sp>
    </p:spTree>
    <p:extLst>
      <p:ext uri="{BB962C8B-B14F-4D97-AF65-F5344CB8AC3E}">
        <p14:creationId xmlns:p14="http://schemas.microsoft.com/office/powerpoint/2010/main" val="1410529360"/>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C46D5ED-56B8-4BCE-9148-8DB63494975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E5C60E-6394-46B5-864D-441E636006F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D8D8C0C-8732-45FC-A84F-E27AD671D7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assignment</a:t>
            </a:r>
          </a:p>
        </p:txBody>
      </p:sp>
      <p:sp>
        <p:nvSpPr>
          <p:cNvPr id="4" name="">
            <a:extLst xmlns:a="http://schemas.openxmlformats.org/drawingml/2006/main">
              <a:ext uri="{FF2B5EF4-FFF2-40B4-BE49-F238E27FC236}">
                <a16:creationId xmlns:a16="http://schemas.microsoft.com/office/drawing/2014/main" id="{829EF8AE-7F11-49BB-BA11-6DBEFF05D3C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2A37006-DD8A-43B2-A696-E8EB3D42FA64}"/>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W04_student.ipynb.</a:t>
            </a:r>
          </a:p>
        </p:txBody>
      </p:sp>
      <p:sp>
        <p:nvSpPr>
          <p:cNvPr id="6" name="">
            <a:extLst xmlns:a="http://schemas.openxmlformats.org/drawingml/2006/main">
              <a:ext uri="{FF2B5EF4-FFF2-40B4-BE49-F238E27FC236}">
                <a16:creationId xmlns:a16="http://schemas.microsoft.com/office/drawing/2014/main" id="{D092F600-5137-4E3A-8F84-0E565E2914E8}"/>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3A7F2A4-252E-44A9-AB60-BBC771452394}"/>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task and its input units before coding.</a:t>
            </a:r>
          </a:p>
        </p:txBody>
      </p:sp>
      <p:sp>
        <p:nvSpPr>
          <p:cNvPr id="8" name="">
            <a:extLst xmlns:a="http://schemas.openxmlformats.org/drawingml/2006/main">
              <a:ext uri="{FF2B5EF4-FFF2-40B4-BE49-F238E27FC236}">
                <a16:creationId xmlns:a16="http://schemas.microsoft.com/office/drawing/2014/main" id="{D6F10E58-12B8-4638-BDDD-1D27F46E2189}"/>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4EFFD40-B5B2-4A83-B485-516E0FB48DA9}"/>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required function names and returned outputs.</a:t>
            </a:r>
          </a:p>
        </p:txBody>
      </p:sp>
      <p:sp>
        <p:nvSpPr>
          <p:cNvPr id="10" name="">
            <a:extLst xmlns:a="http://schemas.openxmlformats.org/drawingml/2006/main">
              <a:ext uri="{FF2B5EF4-FFF2-40B4-BE49-F238E27FC236}">
                <a16:creationId xmlns:a16="http://schemas.microsoft.com/office/drawing/2014/main" id="{4C523DB3-33AA-4BC4-BADD-224EF4503D5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F8E8C3B-76A0-41A7-BDB1-A7E6E151897F}"/>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the supplied visible checks, then restart and run all.</a:t>
            </a:r>
          </a:p>
        </p:txBody>
      </p:sp>
      <p:sp>
        <p:nvSpPr>
          <p:cNvPr id="12" name="">
            <a:extLst xmlns:a="http://schemas.openxmlformats.org/drawingml/2006/main">
              <a:ext uri="{FF2B5EF4-FFF2-40B4-BE49-F238E27FC236}">
                <a16:creationId xmlns:a16="http://schemas.microsoft.com/office/drawing/2014/main" id="{DF9D35E5-0C2A-41CA-9610-89A9CFF8143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75</a:t>
            </a:r>
          </a:p>
        </p:txBody>
      </p:sp>
    </p:spTree>
    <p:extLst>
      <p:ext uri="{BB962C8B-B14F-4D97-AF65-F5344CB8AC3E}">
        <p14:creationId xmlns:p14="http://schemas.microsoft.com/office/powerpoint/2010/main" val="523610756"/>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72C4B09-3B43-4D5A-A5C2-971FBDEB623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A44335-CF79-47A9-88F9-D190180FE0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F1B90BF-126D-41D4-BC96-B46D1C4CB2A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valid_count (5 marks)</a:t>
            </a:r>
          </a:p>
        </p:txBody>
      </p:sp>
      <p:sp>
        <p:nvSpPr>
          <p:cNvPr id="4" name="">
            <a:extLst xmlns:a="http://schemas.openxmlformats.org/drawingml/2006/main">
              <a:ext uri="{FF2B5EF4-FFF2-40B4-BE49-F238E27FC236}">
                <a16:creationId xmlns:a16="http://schemas.microsoft.com/office/drawing/2014/main" id="{E3853BEF-E7B7-4A74-95E5-F46B2388995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602457-9C94-4B84-BDB9-4A11047F40E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C076AFC-C55F-4179-BCA4-5003C7572AF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Store an integer count of rows whose crack_width_mm field is nonblank.</a:t>
            </a:r>
          </a:p>
        </p:txBody>
      </p:sp>
      <p:sp>
        <p:nvSpPr>
          <p:cNvPr id="7" name="">
            <a:extLst xmlns:a="http://schemas.openxmlformats.org/drawingml/2006/main">
              <a:ext uri="{FF2B5EF4-FFF2-40B4-BE49-F238E27FC236}">
                <a16:creationId xmlns:a16="http://schemas.microsoft.com/office/drawing/2014/main" id="{0887FB44-F5A4-40AA-8CE5-3D7EAB9D8BC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Skip blank readings before numeric conversion.</a:t>
            </a:r>
          </a:p>
        </p:txBody>
      </p:sp>
      <p:sp>
        <p:nvSpPr>
          <p:cNvPr id="8" name="">
            <a:extLst xmlns:a="http://schemas.openxmlformats.org/drawingml/2006/main">
              <a:ext uri="{FF2B5EF4-FFF2-40B4-BE49-F238E27FC236}">
                <a16:creationId xmlns:a16="http://schemas.microsoft.com/office/drawing/2014/main" id="{B02383BF-858F-48FD-A924-5C69143EAE1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76</a:t>
            </a:r>
          </a:p>
        </p:txBody>
      </p:sp>
    </p:spTree>
    <p:extLst>
      <p:ext uri="{BB962C8B-B14F-4D97-AF65-F5344CB8AC3E}">
        <p14:creationId xmlns:p14="http://schemas.microsoft.com/office/powerpoint/2010/main" val="1490776359"/>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D9267EF-9C42-4848-8AF5-0A21F6AB971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4BC501-2487-4601-954F-5D5BC0A1B4A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2D648D0-B2C8-4BF8-B140-901136E5EE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mean_reading (5 marks)</a:t>
            </a:r>
          </a:p>
        </p:txBody>
      </p:sp>
      <p:sp>
        <p:nvSpPr>
          <p:cNvPr id="4" name="">
            <a:extLst xmlns:a="http://schemas.openxmlformats.org/drawingml/2006/main">
              <a:ext uri="{FF2B5EF4-FFF2-40B4-BE49-F238E27FC236}">
                <a16:creationId xmlns:a16="http://schemas.microsoft.com/office/drawing/2014/main" id="{417E1B7D-0764-4782-B534-4F6BC94B141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B117689-9A0C-427A-965F-524DAF57A5D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Store the arithmetic mean of the nonblank crack_width_mm values as a number.</a:t>
            </a:r>
          </a:p>
        </p:txBody>
      </p:sp>
      <p:sp>
        <p:nvSpPr>
          <p:cNvPr id="6" name="">
            <a:extLst xmlns:a="http://schemas.openxmlformats.org/drawingml/2006/main">
              <a:ext uri="{FF2B5EF4-FFF2-40B4-BE49-F238E27FC236}">
                <a16:creationId xmlns:a16="http://schemas.microsoft.com/office/drawing/2014/main" id="{715C9BA8-985D-4F12-A09E-6ACB163DF05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045276F-C2B6-411B-9D1F-693AF2BD534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 the valid readings and divide by their count.</a:t>
            </a:r>
          </a:p>
        </p:txBody>
      </p:sp>
      <p:sp>
        <p:nvSpPr>
          <p:cNvPr id="8" name="">
            <a:extLst xmlns:a="http://schemas.openxmlformats.org/drawingml/2006/main">
              <a:ext uri="{FF2B5EF4-FFF2-40B4-BE49-F238E27FC236}">
                <a16:creationId xmlns:a16="http://schemas.microsoft.com/office/drawing/2014/main" id="{4DAB584D-5056-4FAF-9522-E412CEBB527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63CD4DB-2D36-4A48-A8FD-5328E533562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full precision.</a:t>
            </a:r>
          </a:p>
        </p:txBody>
      </p:sp>
      <p:sp>
        <p:nvSpPr>
          <p:cNvPr id="10" name="">
            <a:extLst xmlns:a="http://schemas.openxmlformats.org/drawingml/2006/main">
              <a:ext uri="{FF2B5EF4-FFF2-40B4-BE49-F238E27FC236}">
                <a16:creationId xmlns:a16="http://schemas.microsoft.com/office/drawing/2014/main" id="{1DAB259B-38B2-4E8E-8C3C-26975A943DC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77</a:t>
            </a:r>
          </a:p>
        </p:txBody>
      </p:sp>
    </p:spTree>
    <p:extLst>
      <p:ext uri="{BB962C8B-B14F-4D97-AF65-F5344CB8AC3E}">
        <p14:creationId xmlns:p14="http://schemas.microsoft.com/office/powerpoint/2010/main" val="1369151788"/>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F82D1B-CF37-4159-88CA-C5DF23658C7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F7C84F-1717-41E0-95EA-AFB077A60F8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A454218-4774-4F07-9900-0B39D8BF7F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above_limit (5 marks)</a:t>
            </a:r>
          </a:p>
        </p:txBody>
      </p:sp>
      <p:sp>
        <p:nvSpPr>
          <p:cNvPr id="4" name="">
            <a:extLst xmlns:a="http://schemas.openxmlformats.org/drawingml/2006/main">
              <a:ext uri="{FF2B5EF4-FFF2-40B4-BE49-F238E27FC236}">
                <a16:creationId xmlns:a16="http://schemas.microsoft.com/office/drawing/2014/main" id="{F2F04AFF-7475-4904-A118-E0FB46FEDD0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485305-7505-44D9-96C7-1BAF041F8C0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74C9E4E-B4C1-41DA-8D0D-A0CE56C0172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Store an integer count of valid crack_width_mm readings strictly greater than 0.3.</a:t>
            </a:r>
          </a:p>
        </p:txBody>
      </p:sp>
      <p:sp>
        <p:nvSpPr>
          <p:cNvPr id="7" name="">
            <a:extLst xmlns:a="http://schemas.openxmlformats.org/drawingml/2006/main">
              <a:ext uri="{FF2B5EF4-FFF2-40B4-BE49-F238E27FC236}">
                <a16:creationId xmlns:a16="http://schemas.microsoft.com/office/drawing/2014/main" id="{F16ACADF-88EE-4E0C-AA5F-289DC23A9B5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reading equal to the threshold is not counted.</a:t>
            </a:r>
          </a:p>
        </p:txBody>
      </p:sp>
      <p:sp>
        <p:nvSpPr>
          <p:cNvPr id="8" name="">
            <a:extLst xmlns:a="http://schemas.openxmlformats.org/drawingml/2006/main">
              <a:ext uri="{FF2B5EF4-FFF2-40B4-BE49-F238E27FC236}">
                <a16:creationId xmlns:a16="http://schemas.microsoft.com/office/drawing/2014/main" id="{560959E8-C30A-491B-AF57-F7DC490E185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78</a:t>
            </a:r>
          </a:p>
        </p:txBody>
      </p:sp>
    </p:spTree>
    <p:extLst>
      <p:ext uri="{BB962C8B-B14F-4D97-AF65-F5344CB8AC3E}">
        <p14:creationId xmlns:p14="http://schemas.microsoft.com/office/powerpoint/2010/main" val="537319250"/>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311787F-E245-458A-A2A2-69282491E50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9C927A-6103-4B38-928B-A9F04A7FD7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7447605-5DFB-4E2C-A76C-68168FE1B3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group_means (5 marks)</a:t>
            </a:r>
          </a:p>
        </p:txBody>
      </p:sp>
      <p:sp>
        <p:nvSpPr>
          <p:cNvPr id="4" name="">
            <a:extLst xmlns:a="http://schemas.openxmlformats.org/drawingml/2006/main">
              <a:ext uri="{FF2B5EF4-FFF2-40B4-BE49-F238E27FC236}">
                <a16:creationId xmlns:a16="http://schemas.microsoft.com/office/drawing/2014/main" id="{E222EA60-6864-4726-A22A-EA375764FD7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C723FF5-AB98-4FAB-8D31-F1379DF358D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Store a dictionary whose keys are the structure_id labels and whose values are the mean valid crack_width_mm readings within each group.</a:t>
            </a:r>
          </a:p>
        </p:txBody>
      </p:sp>
      <p:sp>
        <p:nvSpPr>
          <p:cNvPr id="6" name="">
            <a:extLst xmlns:a="http://schemas.openxmlformats.org/drawingml/2006/main">
              <a:ext uri="{FF2B5EF4-FFF2-40B4-BE49-F238E27FC236}">
                <a16:creationId xmlns:a16="http://schemas.microsoft.com/office/drawing/2014/main" id="{4A22D1C6-6963-420E-9A94-36824C28E40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E79B144-DDED-4BF8-8349-DC6241F972D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Divide each group total by its own valid count.</a:t>
            </a:r>
          </a:p>
        </p:txBody>
      </p:sp>
      <p:sp>
        <p:nvSpPr>
          <p:cNvPr id="8" name="">
            <a:extLst xmlns:a="http://schemas.openxmlformats.org/drawingml/2006/main">
              <a:ext uri="{FF2B5EF4-FFF2-40B4-BE49-F238E27FC236}">
                <a16:creationId xmlns:a16="http://schemas.microsoft.com/office/drawing/2014/main" id="{E0ED4896-1845-4798-B0BF-CD8C5823D60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2E80EEA-9CF0-421D-9B92-DF331215D9D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full precision.</a:t>
            </a:r>
          </a:p>
        </p:txBody>
      </p:sp>
      <p:sp>
        <p:nvSpPr>
          <p:cNvPr id="10" name="">
            <a:extLst xmlns:a="http://schemas.openxmlformats.org/drawingml/2006/main">
              <a:ext uri="{FF2B5EF4-FFF2-40B4-BE49-F238E27FC236}">
                <a16:creationId xmlns:a16="http://schemas.microsoft.com/office/drawing/2014/main" id="{F07C3F5D-292A-48DB-81F0-E9B65769E77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79</a:t>
            </a:r>
          </a:p>
        </p:txBody>
      </p:sp>
    </p:spTree>
    <p:extLst>
      <p:ext uri="{BB962C8B-B14F-4D97-AF65-F5344CB8AC3E}">
        <p14:creationId xmlns:p14="http://schemas.microsoft.com/office/powerpoint/2010/main" val="42940646"/>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A750A29-396E-48B4-9BF8-3E9CA9E559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05FEC1-3E18-4A5F-A4D5-17A463C209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9CB223E-D2C6-4AA6-A6E9-5252C9C0D11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4 rules</a:t>
            </a:r>
          </a:p>
        </p:txBody>
      </p:sp>
      <p:sp>
        <p:nvSpPr>
          <p:cNvPr id="4" name="">
            <a:extLst xmlns:a="http://schemas.openxmlformats.org/drawingml/2006/main">
              <a:ext uri="{FF2B5EF4-FFF2-40B4-BE49-F238E27FC236}">
                <a16:creationId xmlns:a16="http://schemas.microsoft.com/office/drawing/2014/main" id="{D4D89069-4C03-49A8-96CD-0D4A4BFC121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CCF22C2-932F-493B-AEDE-E3C920C0121A}"/>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Fictional teaching data.</a:t>
            </a:r>
          </a:p>
        </p:txBody>
      </p:sp>
      <p:sp>
        <p:nvSpPr>
          <p:cNvPr id="6" name="">
            <a:extLst xmlns:a="http://schemas.openxmlformats.org/drawingml/2006/main">
              <a:ext uri="{FF2B5EF4-FFF2-40B4-BE49-F238E27FC236}">
                <a16:creationId xmlns:a16="http://schemas.microsoft.com/office/drawing/2014/main" id="{F5EFE8FF-A517-46A4-A864-7EFE47214151}"/>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A67BDD5-623E-4DB0-BD17-2444BD7648C1}"/>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300 records.</a:t>
            </a:r>
          </a:p>
        </p:txBody>
      </p:sp>
      <p:sp>
        <p:nvSpPr>
          <p:cNvPr id="8" name="">
            <a:extLst xmlns:a="http://schemas.openxmlformats.org/drawingml/2006/main">
              <a:ext uri="{FF2B5EF4-FFF2-40B4-BE49-F238E27FC236}">
                <a16:creationId xmlns:a16="http://schemas.microsoft.com/office/drawing/2014/main" id="{769D11A4-F5C5-477D-A7D7-F7E03070D6F9}"/>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13CCC3C-553C-4737-AAC3-21558288D1D1}"/>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Three blank crack_width_mm values must be skipped in numerical summaries.</a:t>
            </a:r>
          </a:p>
        </p:txBody>
      </p:sp>
      <p:sp>
        <p:nvSpPr>
          <p:cNvPr id="10" name="">
            <a:extLst xmlns:a="http://schemas.openxmlformats.org/drawingml/2006/main">
              <a:ext uri="{FF2B5EF4-FFF2-40B4-BE49-F238E27FC236}">
                <a16:creationId xmlns:a16="http://schemas.microsoft.com/office/drawing/2014/main" id="{F2576BD0-DAB4-44D8-ADF9-A0B98241CA97}"/>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CE94CCD-2F83-4285-A023-F63EA379BA03}"/>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Threshold 0.3 is a teaching assumption.</a:t>
            </a:r>
          </a:p>
        </p:txBody>
      </p:sp>
      <p:sp>
        <p:nvSpPr>
          <p:cNvPr id="12" name="">
            <a:extLst xmlns:a="http://schemas.openxmlformats.org/drawingml/2006/main">
              <a:ext uri="{FF2B5EF4-FFF2-40B4-BE49-F238E27FC236}">
                <a16:creationId xmlns:a16="http://schemas.microsoft.com/office/drawing/2014/main" id="{94FEFEB7-8EF7-4D2A-BB98-63DE4000483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80</a:t>
            </a:r>
          </a:p>
        </p:txBody>
      </p:sp>
    </p:spTree>
    <p:extLst>
      <p:ext uri="{BB962C8B-B14F-4D97-AF65-F5344CB8AC3E}">
        <p14:creationId xmlns:p14="http://schemas.microsoft.com/office/powerpoint/2010/main" val="329338978"/>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702C35F-4114-41A8-BE66-8B443A7EAE4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A915ED-FED9-4CFF-A945-8FB2C9BC308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B7D2724-CA2C-491D-930C-75B606F4D20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4 rules continued</a:t>
            </a:r>
          </a:p>
        </p:txBody>
      </p:sp>
      <p:sp>
        <p:nvSpPr>
          <p:cNvPr id="4" name="">
            <a:extLst xmlns:a="http://schemas.openxmlformats.org/drawingml/2006/main">
              <a:ext uri="{FF2B5EF4-FFF2-40B4-BE49-F238E27FC236}">
                <a16:creationId xmlns:a16="http://schemas.microsoft.com/office/drawing/2014/main" id="{4178B757-AC79-4F7F-8810-6C7C8D2C01C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FD0C4FF-AB45-4881-A11B-FF2D08C5A6C7}"/>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Compute valid_count, mean_reading, above_limit (strictly greater than 0.3) and group_means keyed by structure_id.</a:t>
            </a:r>
          </a:p>
        </p:txBody>
      </p:sp>
      <p:sp>
        <p:nvSpPr>
          <p:cNvPr id="6" name="">
            <a:extLst xmlns:a="http://schemas.openxmlformats.org/drawingml/2006/main">
              <a:ext uri="{FF2B5EF4-FFF2-40B4-BE49-F238E27FC236}">
                <a16:creationId xmlns:a16="http://schemas.microsoft.com/office/drawing/2014/main" id="{14418289-B3B9-4A53-9737-9A87B895EA96}"/>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5C56217-80D2-41B7-8ECB-2E16E9A3C549}"/>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standard-library csv and collections.</a:t>
            </a:r>
          </a:p>
        </p:txBody>
      </p:sp>
      <p:sp>
        <p:nvSpPr>
          <p:cNvPr id="8" name="">
            <a:extLst xmlns:a="http://schemas.openxmlformats.org/drawingml/2006/main">
              <a:ext uri="{FF2B5EF4-FFF2-40B4-BE49-F238E27FC236}">
                <a16:creationId xmlns:a16="http://schemas.microsoft.com/office/drawing/2014/main" id="{4688DB93-3189-4745-A4C9-13F337CE54A4}"/>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02A8F59-B394-430E-92C5-3FE7AC9C6B08}"/>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Save a copy using your Student Registration Number with / replaced by _, followed by _W04.ipynb.</a:t>
            </a:r>
          </a:p>
        </p:txBody>
      </p:sp>
      <p:sp>
        <p:nvSpPr>
          <p:cNvPr id="10" name="">
            <a:extLst xmlns:a="http://schemas.openxmlformats.org/drawingml/2006/main">
              <a:ext uri="{FF2B5EF4-FFF2-40B4-BE49-F238E27FC236}">
                <a16:creationId xmlns:a16="http://schemas.microsoft.com/office/drawing/2014/main" id="{C80A5483-E822-4FC1-B506-BF7F10180D7B}"/>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012A5E6-E748-48D0-8299-4E3A72A48CD9}"/>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STUDENT_ID in the starter code means Student Registration Number.</a:t>
            </a:r>
          </a:p>
        </p:txBody>
      </p:sp>
      <p:sp>
        <p:nvSpPr>
          <p:cNvPr id="12" name="">
            <a:extLst xmlns:a="http://schemas.openxmlformats.org/drawingml/2006/main">
              <a:ext uri="{FF2B5EF4-FFF2-40B4-BE49-F238E27FC236}">
                <a16:creationId xmlns:a16="http://schemas.microsoft.com/office/drawing/2014/main" id="{A291DC8A-F9FB-49F6-B0D8-EC262831E75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81</a:t>
            </a:r>
          </a:p>
        </p:txBody>
      </p:sp>
    </p:spTree>
    <p:extLst>
      <p:ext uri="{BB962C8B-B14F-4D97-AF65-F5344CB8AC3E}">
        <p14:creationId xmlns:p14="http://schemas.microsoft.com/office/powerpoint/2010/main" val="255889212"/>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A7FE329-45AF-40D1-B039-43F3892AC8B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E16CA3-4870-4736-8F58-FEDCEFB8273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DC4AB30-5E80-4BAF-8099-92F4AB3371D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4 rules continued</a:t>
            </a:r>
          </a:p>
        </p:txBody>
      </p:sp>
      <p:sp>
        <p:nvSpPr>
          <p:cNvPr id="4" name="">
            <a:extLst xmlns:a="http://schemas.openxmlformats.org/drawingml/2006/main">
              <a:ext uri="{FF2B5EF4-FFF2-40B4-BE49-F238E27FC236}">
                <a16:creationId xmlns:a16="http://schemas.microsoft.com/office/drawing/2014/main" id="{A0C90882-E515-4DB5-8CC3-0D270C2CCCA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15C1BBA-8C1E-4069-AE19-55E9648820C5}"/>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Four checks carry five marks each.</a:t>
            </a:r>
          </a:p>
        </p:txBody>
      </p:sp>
      <p:sp>
        <p:nvSpPr>
          <p:cNvPr id="6" name="">
            <a:extLst xmlns:a="http://schemas.openxmlformats.org/drawingml/2006/main">
              <a:ext uri="{FF2B5EF4-FFF2-40B4-BE49-F238E27FC236}">
                <a16:creationId xmlns:a16="http://schemas.microsoft.com/office/drawing/2014/main" id="{B6111260-A682-454C-A78F-FF7E5388534E}"/>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472EA96-C38A-4E0E-9AB4-71918775654D}"/>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interesting pattern separately as formative practice.</a:t>
            </a:r>
          </a:p>
        </p:txBody>
      </p:sp>
      <p:sp>
        <p:nvSpPr>
          <p:cNvPr id="8" name="">
            <a:extLst xmlns:a="http://schemas.openxmlformats.org/drawingml/2006/main">
              <a:ext uri="{FF2B5EF4-FFF2-40B4-BE49-F238E27FC236}">
                <a16:creationId xmlns:a16="http://schemas.microsoft.com/office/drawing/2014/main" id="{FDACB81F-C4B5-43D7-A61A-451880DBFAA0}"/>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10C2DD1-8C50-489A-8FC9-7149B069D2B8}"/>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beginner step-by-step help, open ASSIGNMENT_INSTRUCTIONS.txt and STUDENT_HOW_TO.md in this folder.</a:t>
            </a:r>
          </a:p>
        </p:txBody>
      </p:sp>
      <p:sp>
        <p:nvSpPr>
          <p:cNvPr id="10" name="">
            <a:extLst xmlns:a="http://schemas.openxmlformats.org/drawingml/2006/main">
              <a:ext uri="{FF2B5EF4-FFF2-40B4-BE49-F238E27FC236}">
                <a16:creationId xmlns:a16="http://schemas.microsoft.com/office/drawing/2014/main" id="{8ADD50E2-9E85-4919-9F81-6B4C57BCD0CC}"/>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E429852-4BFB-455D-9F6A-EAA031D15AA7}"/>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first names your required files and hand-in checklist; the second explains accounts, Colab, saving and uploads.</a:t>
            </a:r>
          </a:p>
        </p:txBody>
      </p:sp>
      <p:sp>
        <p:nvSpPr>
          <p:cNvPr id="12" name="">
            <a:extLst xmlns:a="http://schemas.openxmlformats.org/drawingml/2006/main">
              <a:ext uri="{FF2B5EF4-FFF2-40B4-BE49-F238E27FC236}">
                <a16:creationId xmlns:a16="http://schemas.microsoft.com/office/drawing/2014/main" id="{64E5629B-0C59-4875-A0BF-6F8F8C8D20A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82</a:t>
            </a:r>
          </a:p>
        </p:txBody>
      </p:sp>
    </p:spTree>
    <p:extLst>
      <p:ext uri="{BB962C8B-B14F-4D97-AF65-F5344CB8AC3E}">
        <p14:creationId xmlns:p14="http://schemas.microsoft.com/office/powerpoint/2010/main" val="328886814"/>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A7FD3FD-2048-4FB0-8960-2AD92D96821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FE79E2-207B-45A6-A807-F194C12A6FE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675CCED1-7E8A-4594-A421-88DD819E8D9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report submission</a:t>
            </a:r>
          </a:p>
        </p:txBody>
      </p:sp>
      <p:sp>
        <p:nvSpPr>
          <p:cNvPr id="4" name="">
            <a:extLst xmlns:a="http://schemas.openxmlformats.org/drawingml/2006/main">
              <a:ext uri="{FF2B5EF4-FFF2-40B4-BE49-F238E27FC236}">
                <a16:creationId xmlns:a16="http://schemas.microsoft.com/office/drawing/2014/main" id="{726586D4-6E90-4FFD-ADB7-CBD869821A66}"/>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91CF6DB-6EC4-4F1C-8661-439ECC4ACAF3}"/>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29 Sep 2026, 11:00 Kampala</a:t>
            </a:r>
          </a:p>
        </p:txBody>
      </p:sp>
      <p:sp>
        <p:nvSpPr>
          <p:cNvPr id="6" name="">
            <a:extLst xmlns:a="http://schemas.openxmlformats.org/drawingml/2006/main">
              <a:ext uri="{FF2B5EF4-FFF2-40B4-BE49-F238E27FC236}">
                <a16:creationId xmlns:a16="http://schemas.microsoft.com/office/drawing/2014/main" id="{9074C8FE-CF64-40B7-AFC9-602AFF8ECFB9}"/>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E9645A2-A246-4AEB-A9E2-47582F985386}"/>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06 Oct 2026, 11:00 Kampala</a:t>
            </a:r>
          </a:p>
        </p:txBody>
      </p:sp>
      <p:sp>
        <p:nvSpPr>
          <p:cNvPr id="8" name="">
            <a:extLst xmlns:a="http://schemas.openxmlformats.org/drawingml/2006/main">
              <a:ext uri="{FF2B5EF4-FFF2-40B4-BE49-F238E27FC236}">
                <a16:creationId xmlns:a16="http://schemas.microsoft.com/office/drawing/2014/main" id="{14AFC5F0-DC5E-49F8-B470-22D6E5E49D46}"/>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B1CAD82-692E-47BD-9AAE-F1E5F7C5EB14}"/>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331C674D-625B-4E6B-AE2D-CC4696BFAABA}"/>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2DE6EBD-9881-498A-9DC9-6EA1C55F59CB}"/>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E6505553-C38E-4BDB-9395-98AECC6FBC15}"/>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59E9DAB-0740-455E-9ED0-25A6D482994E}"/>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7de6a254c4714738"/>
              </a:rPr>
              <a:t>Open W04 assignment form</a:t>
            </a:r>
          </a:p>
        </p:txBody>
      </p:sp>
      <p:sp>
        <p:nvSpPr>
          <p:cNvPr id="14" name="">
            <a:extLst xmlns:a="http://schemas.openxmlformats.org/drawingml/2006/main">
              <a:ext uri="{FF2B5EF4-FFF2-40B4-BE49-F238E27FC236}">
                <a16:creationId xmlns:a16="http://schemas.microsoft.com/office/drawing/2014/main" id="{3A014DE8-E92B-4F90-8BE2-3737CF6BA351}"/>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https://docs.google.com/forms/d/e/1FAIpQLSeZymY0jwFhuwihprLiqEaq2DqmLZD3nIYht1IkN4OcPGeTFg/viewform</a:t>
            </a:r>
          </a:p>
        </p:txBody>
      </p:sp>
      <p:sp>
        <p:nvSpPr>
          <p:cNvPr id="15" name="">
            <a:extLst xmlns:a="http://schemas.openxmlformats.org/drawingml/2006/main">
              <a:ext uri="{FF2B5EF4-FFF2-40B4-BE49-F238E27FC236}">
                <a16:creationId xmlns:a16="http://schemas.microsoft.com/office/drawing/2014/main" id="{73548268-AF42-4941-A12C-CDE907D48F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83</a:t>
            </a:r>
          </a:p>
        </p:txBody>
      </p:sp>
    </p:spTree>
    <p:extLst>
      <p:ext uri="{BB962C8B-B14F-4D97-AF65-F5344CB8AC3E}">
        <p14:creationId xmlns:p14="http://schemas.microsoft.com/office/powerpoint/2010/main" val="1673666813"/>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581F7DB-BAE3-410F-A7F6-B42DA348506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F53398-3854-4C07-B741-1F2886B2560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E7C5BD30-B737-4BA3-8F71-39BA09A7BD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4 quiz</a:t>
            </a:r>
          </a:p>
        </p:txBody>
      </p:sp>
      <p:sp>
        <p:nvSpPr>
          <p:cNvPr id="4" name="">
            <a:extLst xmlns:a="http://schemas.openxmlformats.org/drawingml/2006/main">
              <a:ext uri="{FF2B5EF4-FFF2-40B4-BE49-F238E27FC236}">
                <a16:creationId xmlns:a16="http://schemas.microsoft.com/office/drawing/2014/main" id="{5614C04B-5FAE-4692-BC97-28F152952766}"/>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8F4E6C2-748B-4015-98F8-F323142C2352}"/>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64426060-01FB-4600-A22D-9F72D7D1E6DB}"/>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4EFEBAA-D615-42A3-853D-30CB328C6014}"/>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981F22DB-E48F-4A74-8268-77377660D107}"/>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D7ED3BA-FFCA-4E03-B8B7-BCD53B6A4D2B}"/>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CFD777D7-3C46-4C36-B0BF-01F0312261BF}"/>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F7FA5F8-39B6-471A-A441-7A74A21F25E2}"/>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e8ae20453c342bf"/>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1E2ECA17-5475-4087-B3BB-E23B5E44A735}"/>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FCED2F88-E3F5-429D-894A-B95FEDAF75E5}"/>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5A1DD46-9A36-4B3E-87BF-B637FC5C668F}"/>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0e405284388a41e8"/>
              </a:rPr>
              <a:t>Open this week’s quiz</a:t>
            </a:r>
          </a:p>
        </p:txBody>
      </p:sp>
      <p:sp>
        <p:nvSpPr>
          <p:cNvPr id="16" name="">
            <a:extLst xmlns:a="http://schemas.openxmlformats.org/drawingml/2006/main">
              <a:ext uri="{FF2B5EF4-FFF2-40B4-BE49-F238E27FC236}">
                <a16:creationId xmlns:a16="http://schemas.microsoft.com/office/drawing/2014/main" id="{3CD948A6-2CD7-4F96-86EF-AE93B8E966C7}"/>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https://forms.gle/yodGpWvz4b2GioZYA</a:t>
            </a:r>
          </a:p>
        </p:txBody>
      </p:sp>
      <p:sp>
        <p:nvSpPr>
          <p:cNvPr id="17" name="">
            <a:extLst xmlns:a="http://schemas.openxmlformats.org/drawingml/2006/main">
              <a:ext uri="{FF2B5EF4-FFF2-40B4-BE49-F238E27FC236}">
                <a16:creationId xmlns:a16="http://schemas.microsoft.com/office/drawing/2014/main" id="{EE918090-0E85-414B-A955-8A37937DAEA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4   84</a:t>
            </a:r>
          </a:p>
        </p:txBody>
      </p:sp>
    </p:spTree>
    <p:extLst>
      <p:ext uri="{BB962C8B-B14F-4D97-AF65-F5344CB8AC3E}">
        <p14:creationId xmlns:p14="http://schemas.microsoft.com/office/powerpoint/2010/main" val="1463366478"/>
      </p:ext>
    </p:extLst>
  </p:cSld>
</p:sld>
</file>

<file path=ppt/slides/slide85.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670A00-806C-4CF6-A8D4-150D241AB50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585B759B-44A3-4F3B-80ED-E391F810966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F75877F0-DBF1-41CD-9AD3-DE9C749446B4}"/>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9D8111D7-B025-4456-8CEB-FB2C2CFE1EC7}"/>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show how the total and count change for each record.</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4CC1ED96-9A3B-42C3-9064-D1E1511C47D5}"/>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3A584BF9-AC2E-46D6-BAA2-D52051E979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4   85</a:t>
            </a:r>
          </a:p>
        </p:txBody>
      </p:sp>
    </p:spTree>
    <p:extLst>
      <p:ext uri="{BB962C8B-B14F-4D97-AF65-F5344CB8AC3E}">
        <p14:creationId xmlns:p14="http://schemas.microsoft.com/office/powerpoint/2010/main" val="18265998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2026-09-28T21:44:55.6490000Z</dcterms:created>
  <dcterms:modified xsi:type="dcterms:W3CDTF">2026-09-28T21:44:55.6490000Z</dcterms:modified>
</coreProperties>
</file>