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0c08de8f794de4" /><Relationship Type="http://schemas.openxmlformats.org/officeDocument/2006/relationships/extended-properties" Target="/docProps/app.xml" Id="Rb49f83725af74f17" /><Relationship Type="http://schemas.openxmlformats.org/officeDocument/2006/relationships/officeDocument" Target="/ppt/presentation.xml" Id="Rcfc3baec75ad4e1c" /></Relationships>
</file>

<file path=ppt/presentation.xml><?xml version="1.0" encoding="utf-8"?>
<p:presentation xmlns:p="http://schemas.openxmlformats.org/presentationml/2006/main">
  <p:sldMasterIdLst>
    <p:sldMasterId xmlns:r="http://schemas.openxmlformats.org/officeDocument/2006/relationships" id="2147483648" r:id="R3625ae2e0cef4102"/>
  </p:sldMasterIdLst>
  <p:notesMasterIdLst>
    <p:notesMasterId xmlns:r="http://schemas.openxmlformats.org/officeDocument/2006/relationships" r:id="R81ec9142d1ef472d"/>
  </p:notesMasterIdLst>
  <p:sldIdLst>
    <p:sldId xmlns:r="http://schemas.openxmlformats.org/officeDocument/2006/relationships" id="256" r:id="R54a36ebcbccd4b9b"/>
    <p:sldId xmlns:r="http://schemas.openxmlformats.org/officeDocument/2006/relationships" id="257" r:id="R1c104bea24794ee5"/>
    <p:sldId xmlns:r="http://schemas.openxmlformats.org/officeDocument/2006/relationships" id="258" r:id="Rca7aaaf526a545dd"/>
    <p:sldId xmlns:r="http://schemas.openxmlformats.org/officeDocument/2006/relationships" id="259" r:id="R120c96c2c60f41f1"/>
    <p:sldId xmlns:r="http://schemas.openxmlformats.org/officeDocument/2006/relationships" id="260" r:id="Raeba0ac28dfe41df"/>
    <p:sldId xmlns:r="http://schemas.openxmlformats.org/officeDocument/2006/relationships" id="261" r:id="R4f12c6df82e4451f"/>
    <p:sldId xmlns:r="http://schemas.openxmlformats.org/officeDocument/2006/relationships" id="262" r:id="R7219be48d93746e3"/>
    <p:sldId xmlns:r="http://schemas.openxmlformats.org/officeDocument/2006/relationships" id="263" r:id="R6d5894f19f9e4539"/>
    <p:sldId xmlns:r="http://schemas.openxmlformats.org/officeDocument/2006/relationships" id="264" r:id="Rbbbc9c47518b4f79"/>
    <p:sldId xmlns:r="http://schemas.openxmlformats.org/officeDocument/2006/relationships" id="265" r:id="Rf0e72c80225b43a8"/>
    <p:sldId xmlns:r="http://schemas.openxmlformats.org/officeDocument/2006/relationships" id="266" r:id="R0b349e4270d8454a"/>
    <p:sldId xmlns:r="http://schemas.openxmlformats.org/officeDocument/2006/relationships" id="267" r:id="R8ba8e78156a34c10"/>
    <p:sldId xmlns:r="http://schemas.openxmlformats.org/officeDocument/2006/relationships" id="268" r:id="Rb4463e12749041f6"/>
    <p:sldId xmlns:r="http://schemas.openxmlformats.org/officeDocument/2006/relationships" id="269" r:id="R1ed1617c738647ec"/>
    <p:sldId xmlns:r="http://schemas.openxmlformats.org/officeDocument/2006/relationships" id="270" r:id="R72897015802842a9"/>
    <p:sldId xmlns:r="http://schemas.openxmlformats.org/officeDocument/2006/relationships" id="271" r:id="R8aaac18e4a694731"/>
    <p:sldId xmlns:r="http://schemas.openxmlformats.org/officeDocument/2006/relationships" id="272" r:id="R93e8538888a94560"/>
    <p:sldId xmlns:r="http://schemas.openxmlformats.org/officeDocument/2006/relationships" id="273" r:id="Rf5d05667496d4a6e"/>
    <p:sldId xmlns:r="http://schemas.openxmlformats.org/officeDocument/2006/relationships" id="274" r:id="R35c087a91da343de"/>
    <p:sldId xmlns:r="http://schemas.openxmlformats.org/officeDocument/2006/relationships" id="275" r:id="R8f904c09e1074093"/>
    <p:sldId xmlns:r="http://schemas.openxmlformats.org/officeDocument/2006/relationships" id="276" r:id="R1d879cc10d7d4da6"/>
    <p:sldId xmlns:r="http://schemas.openxmlformats.org/officeDocument/2006/relationships" id="277" r:id="Red1ed4ac33574dff"/>
    <p:sldId xmlns:r="http://schemas.openxmlformats.org/officeDocument/2006/relationships" id="278" r:id="Rebba06d8ab9d466f"/>
    <p:sldId xmlns:r="http://schemas.openxmlformats.org/officeDocument/2006/relationships" id="279" r:id="R6f47f001cdd8475e"/>
    <p:sldId xmlns:r="http://schemas.openxmlformats.org/officeDocument/2006/relationships" id="280" r:id="Rdbc86955512c4e72"/>
    <p:sldId xmlns:r="http://schemas.openxmlformats.org/officeDocument/2006/relationships" id="281" r:id="R319e5259709d4593"/>
    <p:sldId xmlns:r="http://schemas.openxmlformats.org/officeDocument/2006/relationships" id="282" r:id="R009da3f7bee24562"/>
    <p:sldId xmlns:r="http://schemas.openxmlformats.org/officeDocument/2006/relationships" id="283" r:id="R1fc062753c9b4843"/>
    <p:sldId xmlns:r="http://schemas.openxmlformats.org/officeDocument/2006/relationships" id="284" r:id="R606a9635fea44c50"/>
    <p:sldId xmlns:r="http://schemas.openxmlformats.org/officeDocument/2006/relationships" id="285" r:id="Ra6352287aaa04641"/>
    <p:sldId xmlns:r="http://schemas.openxmlformats.org/officeDocument/2006/relationships" id="286" r:id="R506ed92c309744de"/>
    <p:sldId xmlns:r="http://schemas.openxmlformats.org/officeDocument/2006/relationships" id="287" r:id="R4382cb3d672e4199"/>
    <p:sldId xmlns:r="http://schemas.openxmlformats.org/officeDocument/2006/relationships" id="288" r:id="Refe26e1f6ea44736"/>
    <p:sldId xmlns:r="http://schemas.openxmlformats.org/officeDocument/2006/relationships" id="289" r:id="Raaff447440054ffa"/>
    <p:sldId xmlns:r="http://schemas.openxmlformats.org/officeDocument/2006/relationships" id="290" r:id="R3619faac95d9489e"/>
    <p:sldId xmlns:r="http://schemas.openxmlformats.org/officeDocument/2006/relationships" id="291" r:id="Rd48e06c1c6894955"/>
    <p:sldId xmlns:r="http://schemas.openxmlformats.org/officeDocument/2006/relationships" id="292" r:id="R66bee0c7969a4be9"/>
    <p:sldId xmlns:r="http://schemas.openxmlformats.org/officeDocument/2006/relationships" id="293" r:id="Rcf8044f497e34542"/>
    <p:sldId xmlns:r="http://schemas.openxmlformats.org/officeDocument/2006/relationships" id="294" r:id="Rc37ee1372a504cf5"/>
    <p:sldId xmlns:r="http://schemas.openxmlformats.org/officeDocument/2006/relationships" id="295" r:id="R1c8f7cba33e04e13"/>
    <p:sldId xmlns:r="http://schemas.openxmlformats.org/officeDocument/2006/relationships" id="296" r:id="R2f2a716781794cd1"/>
    <p:sldId xmlns:r="http://schemas.openxmlformats.org/officeDocument/2006/relationships" id="297" r:id="R4690b3b62e8b4f84"/>
    <p:sldId xmlns:r="http://schemas.openxmlformats.org/officeDocument/2006/relationships" id="298" r:id="R12b5a1297ae3457c"/>
    <p:sldId xmlns:r="http://schemas.openxmlformats.org/officeDocument/2006/relationships" id="299" r:id="R0300b3cd42fd4341"/>
    <p:sldId xmlns:r="http://schemas.openxmlformats.org/officeDocument/2006/relationships" id="300" r:id="Rb4f20d1499484929"/>
    <p:sldId xmlns:r="http://schemas.openxmlformats.org/officeDocument/2006/relationships" id="301" r:id="R04d00a9bfc6a4e5e"/>
    <p:sldId xmlns:r="http://schemas.openxmlformats.org/officeDocument/2006/relationships" id="302" r:id="Re8a72abd2c5946eb"/>
    <p:sldId xmlns:r="http://schemas.openxmlformats.org/officeDocument/2006/relationships" id="303" r:id="Rb6d37856aeb84657"/>
    <p:sldId xmlns:r="http://schemas.openxmlformats.org/officeDocument/2006/relationships" id="304" r:id="Red787f211b034ea9"/>
    <p:sldId xmlns:r="http://schemas.openxmlformats.org/officeDocument/2006/relationships" id="305" r:id="Re40d746e3c954c69"/>
    <p:sldId xmlns:r="http://schemas.openxmlformats.org/officeDocument/2006/relationships" id="306" r:id="Rb113d2ba72df4a41"/>
    <p:sldId xmlns:r="http://schemas.openxmlformats.org/officeDocument/2006/relationships" id="307" r:id="Re117fc043d6b42f9"/>
    <p:sldId xmlns:r="http://schemas.openxmlformats.org/officeDocument/2006/relationships" id="308" r:id="R11686b59b4c141ee"/>
    <p:sldId xmlns:r="http://schemas.openxmlformats.org/officeDocument/2006/relationships" id="309" r:id="R66b75fa2e72b4518"/>
    <p:sldId xmlns:r="http://schemas.openxmlformats.org/officeDocument/2006/relationships" id="310" r:id="R60199ed7723f4caf"/>
    <p:sldId xmlns:r="http://schemas.openxmlformats.org/officeDocument/2006/relationships" id="311" r:id="Rb9a4a6cd73ce4cbd"/>
    <p:sldId xmlns:r="http://schemas.openxmlformats.org/officeDocument/2006/relationships" id="312" r:id="R772a2391701f45ae"/>
    <p:sldId xmlns:r="http://schemas.openxmlformats.org/officeDocument/2006/relationships" id="313" r:id="R5f4c171537594319"/>
    <p:sldId xmlns:r="http://schemas.openxmlformats.org/officeDocument/2006/relationships" id="314" r:id="R186f14037b874eb7"/>
    <p:sldId xmlns:r="http://schemas.openxmlformats.org/officeDocument/2006/relationships" id="315" r:id="R1a44d3c1e5ec465d"/>
    <p:sldId xmlns:r="http://schemas.openxmlformats.org/officeDocument/2006/relationships" id="316" r:id="R392df523d83a47d0"/>
    <p:sldId xmlns:r="http://schemas.openxmlformats.org/officeDocument/2006/relationships" id="317" r:id="R91347e52a4d8421d"/>
    <p:sldId xmlns:r="http://schemas.openxmlformats.org/officeDocument/2006/relationships" id="318" r:id="Ra5d419f006cd4435"/>
    <p:sldId xmlns:r="http://schemas.openxmlformats.org/officeDocument/2006/relationships" id="319" r:id="R7c814d93f4f34064"/>
    <p:sldId xmlns:r="http://schemas.openxmlformats.org/officeDocument/2006/relationships" id="320" r:id="R3c579a25757f477d"/>
    <p:sldId xmlns:r="http://schemas.openxmlformats.org/officeDocument/2006/relationships" id="321" r:id="Rbd1d60ba27a94461"/>
    <p:sldId xmlns:r="http://schemas.openxmlformats.org/officeDocument/2006/relationships" id="322" r:id="Re097c5ac7a3a4186"/>
    <p:sldId xmlns:r="http://schemas.openxmlformats.org/officeDocument/2006/relationships" id="323" r:id="Rf57972cd154646c9"/>
    <p:sldId xmlns:r="http://schemas.openxmlformats.org/officeDocument/2006/relationships" id="324" r:id="Rbc65163f50014bc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40ec20aa3c4892" /><Relationship Type="http://schemas.openxmlformats.org/officeDocument/2006/relationships/slideMaster" Target="/ppt/slideMasters/slideMaster1.xml" Id="R3625ae2e0cef4102" /><Relationship Type="http://schemas.openxmlformats.org/officeDocument/2006/relationships/notesMaster" Target="/ppt/notesMasters/notesMaster1.xml" Id="R81ec9142d1ef472d" /><Relationship Type="http://schemas.openxmlformats.org/officeDocument/2006/relationships/presProps" Target="/ppt/presProps.xml" Id="R3e408e4c5c994a43" /><Relationship Type="http://schemas.openxmlformats.org/officeDocument/2006/relationships/tableStyles" Target="/ppt/tableStyles.xml" Id="R316e23d7c77e4cfd" /><Relationship Type="http://schemas.openxmlformats.org/officeDocument/2006/relationships/slide" Target="/ppt/slides/slide1.xml" Id="R54a36ebcbccd4b9b" /><Relationship Type="http://schemas.openxmlformats.org/officeDocument/2006/relationships/slide" Target="/ppt/slides/slide2.xml" Id="R1c104bea24794ee5" /><Relationship Type="http://schemas.openxmlformats.org/officeDocument/2006/relationships/slide" Target="/ppt/slides/slide3.xml" Id="Rca7aaaf526a545dd" /><Relationship Type="http://schemas.openxmlformats.org/officeDocument/2006/relationships/slide" Target="/ppt/slides/slide4.xml" Id="R120c96c2c60f41f1" /><Relationship Type="http://schemas.openxmlformats.org/officeDocument/2006/relationships/slide" Target="/ppt/slides/slide5.xml" Id="Raeba0ac28dfe41df" /><Relationship Type="http://schemas.openxmlformats.org/officeDocument/2006/relationships/slide" Target="/ppt/slides/slide6.xml" Id="R4f12c6df82e4451f" /><Relationship Type="http://schemas.openxmlformats.org/officeDocument/2006/relationships/slide" Target="/ppt/slides/slide7.xml" Id="R7219be48d93746e3" /><Relationship Type="http://schemas.openxmlformats.org/officeDocument/2006/relationships/slide" Target="/ppt/slides/slide8.xml" Id="R6d5894f19f9e4539" /><Relationship Type="http://schemas.openxmlformats.org/officeDocument/2006/relationships/slide" Target="/ppt/slides/slide9.xml" Id="Rbbbc9c47518b4f79" /><Relationship Type="http://schemas.openxmlformats.org/officeDocument/2006/relationships/slide" Target="/ppt/slides/slide10.xml" Id="Rf0e72c80225b43a8" /><Relationship Type="http://schemas.openxmlformats.org/officeDocument/2006/relationships/slide" Target="/ppt/slides/slide11.xml" Id="R0b349e4270d8454a" /><Relationship Type="http://schemas.openxmlformats.org/officeDocument/2006/relationships/slide" Target="/ppt/slides/slide12.xml" Id="R8ba8e78156a34c10" /><Relationship Type="http://schemas.openxmlformats.org/officeDocument/2006/relationships/slide" Target="/ppt/slides/slide13.xml" Id="Rb4463e12749041f6" /><Relationship Type="http://schemas.openxmlformats.org/officeDocument/2006/relationships/slide" Target="/ppt/slides/slide14.xml" Id="R1ed1617c738647ec" /><Relationship Type="http://schemas.openxmlformats.org/officeDocument/2006/relationships/slide" Target="/ppt/slides/slide15.xml" Id="R72897015802842a9" /><Relationship Type="http://schemas.openxmlformats.org/officeDocument/2006/relationships/slide" Target="/ppt/slides/slide16.xml" Id="R8aaac18e4a694731" /><Relationship Type="http://schemas.openxmlformats.org/officeDocument/2006/relationships/slide" Target="/ppt/slides/slide17.xml" Id="R93e8538888a94560" /><Relationship Type="http://schemas.openxmlformats.org/officeDocument/2006/relationships/slide" Target="/ppt/slides/slide18.xml" Id="Rf5d05667496d4a6e" /><Relationship Type="http://schemas.openxmlformats.org/officeDocument/2006/relationships/slide" Target="/ppt/slides/slide19.xml" Id="R35c087a91da343de" /><Relationship Type="http://schemas.openxmlformats.org/officeDocument/2006/relationships/slide" Target="/ppt/slides/slide20.xml" Id="R8f904c09e1074093" /><Relationship Type="http://schemas.openxmlformats.org/officeDocument/2006/relationships/slide" Target="/ppt/slides/slide21.xml" Id="R1d879cc10d7d4da6" /><Relationship Type="http://schemas.openxmlformats.org/officeDocument/2006/relationships/slide" Target="/ppt/slides/slide22.xml" Id="Red1ed4ac33574dff" /><Relationship Type="http://schemas.openxmlformats.org/officeDocument/2006/relationships/slide" Target="/ppt/slides/slide23.xml" Id="Rebba06d8ab9d466f" /><Relationship Type="http://schemas.openxmlformats.org/officeDocument/2006/relationships/slide" Target="/ppt/slides/slide24.xml" Id="R6f47f001cdd8475e" /><Relationship Type="http://schemas.openxmlformats.org/officeDocument/2006/relationships/slide" Target="/ppt/slides/slide25.xml" Id="Rdbc86955512c4e72" /><Relationship Type="http://schemas.openxmlformats.org/officeDocument/2006/relationships/slide" Target="/ppt/slides/slide26.xml" Id="R319e5259709d4593" /><Relationship Type="http://schemas.openxmlformats.org/officeDocument/2006/relationships/slide" Target="/ppt/slides/slide27.xml" Id="R009da3f7bee24562" /><Relationship Type="http://schemas.openxmlformats.org/officeDocument/2006/relationships/slide" Target="/ppt/slides/slide28.xml" Id="R1fc062753c9b4843" /><Relationship Type="http://schemas.openxmlformats.org/officeDocument/2006/relationships/slide" Target="/ppt/slides/slide29.xml" Id="R606a9635fea44c50" /><Relationship Type="http://schemas.openxmlformats.org/officeDocument/2006/relationships/slide" Target="/ppt/slides/slide30.xml" Id="Ra6352287aaa04641" /><Relationship Type="http://schemas.openxmlformats.org/officeDocument/2006/relationships/slide" Target="/ppt/slides/slide31.xml" Id="R506ed92c309744de" /><Relationship Type="http://schemas.openxmlformats.org/officeDocument/2006/relationships/slide" Target="/ppt/slides/slide32.xml" Id="R4382cb3d672e4199" /><Relationship Type="http://schemas.openxmlformats.org/officeDocument/2006/relationships/slide" Target="/ppt/slides/slide33.xml" Id="Refe26e1f6ea44736" /><Relationship Type="http://schemas.openxmlformats.org/officeDocument/2006/relationships/slide" Target="/ppt/slides/slide34.xml" Id="Raaff447440054ffa" /><Relationship Type="http://schemas.openxmlformats.org/officeDocument/2006/relationships/slide" Target="/ppt/slides/slide35.xml" Id="R3619faac95d9489e" /><Relationship Type="http://schemas.openxmlformats.org/officeDocument/2006/relationships/slide" Target="/ppt/slides/slide36.xml" Id="Rd48e06c1c6894955" /><Relationship Type="http://schemas.openxmlformats.org/officeDocument/2006/relationships/slide" Target="/ppt/slides/slide37.xml" Id="R66bee0c7969a4be9" /><Relationship Type="http://schemas.openxmlformats.org/officeDocument/2006/relationships/slide" Target="/ppt/slides/slide38.xml" Id="Rcf8044f497e34542" /><Relationship Type="http://schemas.openxmlformats.org/officeDocument/2006/relationships/slide" Target="/ppt/slides/slide39.xml" Id="Rc37ee1372a504cf5" /><Relationship Type="http://schemas.openxmlformats.org/officeDocument/2006/relationships/slide" Target="/ppt/slides/slide40.xml" Id="R1c8f7cba33e04e13" /><Relationship Type="http://schemas.openxmlformats.org/officeDocument/2006/relationships/slide" Target="/ppt/slides/slide41.xml" Id="R2f2a716781794cd1" /><Relationship Type="http://schemas.openxmlformats.org/officeDocument/2006/relationships/slide" Target="/ppt/slides/slide42.xml" Id="R4690b3b62e8b4f84" /><Relationship Type="http://schemas.openxmlformats.org/officeDocument/2006/relationships/slide" Target="/ppt/slides/slide43.xml" Id="R12b5a1297ae3457c" /><Relationship Type="http://schemas.openxmlformats.org/officeDocument/2006/relationships/slide" Target="/ppt/slides/slide44.xml" Id="R0300b3cd42fd4341" /><Relationship Type="http://schemas.openxmlformats.org/officeDocument/2006/relationships/slide" Target="/ppt/slides/slide45.xml" Id="Rb4f20d1499484929" /><Relationship Type="http://schemas.openxmlformats.org/officeDocument/2006/relationships/slide" Target="/ppt/slides/slide46.xml" Id="R04d00a9bfc6a4e5e" /><Relationship Type="http://schemas.openxmlformats.org/officeDocument/2006/relationships/slide" Target="/ppt/slides/slide47.xml" Id="Re8a72abd2c5946eb" /><Relationship Type="http://schemas.openxmlformats.org/officeDocument/2006/relationships/slide" Target="/ppt/slides/slide48.xml" Id="Rb6d37856aeb84657" /><Relationship Type="http://schemas.openxmlformats.org/officeDocument/2006/relationships/slide" Target="/ppt/slides/slide49.xml" Id="Red787f211b034ea9" /><Relationship Type="http://schemas.openxmlformats.org/officeDocument/2006/relationships/slide" Target="/ppt/slides/slide50.xml" Id="Re40d746e3c954c69" /><Relationship Type="http://schemas.openxmlformats.org/officeDocument/2006/relationships/slide" Target="/ppt/slides/slide51.xml" Id="Rb113d2ba72df4a41" /><Relationship Type="http://schemas.openxmlformats.org/officeDocument/2006/relationships/slide" Target="/ppt/slides/slide52.xml" Id="Re117fc043d6b42f9" /><Relationship Type="http://schemas.openxmlformats.org/officeDocument/2006/relationships/slide" Target="/ppt/slides/slide53.xml" Id="R11686b59b4c141ee" /><Relationship Type="http://schemas.openxmlformats.org/officeDocument/2006/relationships/slide" Target="/ppt/slides/slide54.xml" Id="R66b75fa2e72b4518" /><Relationship Type="http://schemas.openxmlformats.org/officeDocument/2006/relationships/slide" Target="/ppt/slides/slide55.xml" Id="R60199ed7723f4caf" /><Relationship Type="http://schemas.openxmlformats.org/officeDocument/2006/relationships/slide" Target="/ppt/slides/slide56.xml" Id="Rb9a4a6cd73ce4cbd" /><Relationship Type="http://schemas.openxmlformats.org/officeDocument/2006/relationships/slide" Target="/ppt/slides/slide57.xml" Id="R772a2391701f45ae" /><Relationship Type="http://schemas.openxmlformats.org/officeDocument/2006/relationships/slide" Target="/ppt/slides/slide58.xml" Id="R5f4c171537594319" /><Relationship Type="http://schemas.openxmlformats.org/officeDocument/2006/relationships/slide" Target="/ppt/slides/slide59.xml" Id="R186f14037b874eb7" /><Relationship Type="http://schemas.openxmlformats.org/officeDocument/2006/relationships/slide" Target="/ppt/slides/slide60.xml" Id="R1a44d3c1e5ec465d" /><Relationship Type="http://schemas.openxmlformats.org/officeDocument/2006/relationships/slide" Target="/ppt/slides/slide61.xml" Id="R392df523d83a47d0" /><Relationship Type="http://schemas.openxmlformats.org/officeDocument/2006/relationships/slide" Target="/ppt/slides/slide62.xml" Id="R91347e52a4d8421d" /><Relationship Type="http://schemas.openxmlformats.org/officeDocument/2006/relationships/slide" Target="/ppt/slides/slide63.xml" Id="Ra5d419f006cd4435" /><Relationship Type="http://schemas.openxmlformats.org/officeDocument/2006/relationships/slide" Target="/ppt/slides/slide64.xml" Id="R7c814d93f4f34064" /><Relationship Type="http://schemas.openxmlformats.org/officeDocument/2006/relationships/slide" Target="/ppt/slides/slide65.xml" Id="R3c579a25757f477d" /><Relationship Type="http://schemas.openxmlformats.org/officeDocument/2006/relationships/slide" Target="/ppt/slides/slide66.xml" Id="Rbd1d60ba27a94461" /><Relationship Type="http://schemas.openxmlformats.org/officeDocument/2006/relationships/slide" Target="/ppt/slides/slide67.xml" Id="Re097c5ac7a3a4186" /><Relationship Type="http://schemas.openxmlformats.org/officeDocument/2006/relationships/slide" Target="/ppt/slides/slide68.xml" Id="Rf57972cd154646c9" /><Relationship Type="http://schemas.openxmlformats.org/officeDocument/2006/relationships/slide" Target="/ppt/slides/slide69.xml" Id="Rbc65163f50014b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4a15f164684e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78a243960343dc" /><Relationship Type="http://schemas.openxmlformats.org/officeDocument/2006/relationships/notesMaster" Target="/ppt/notesMasters/notesMaster1.xml" Id="Rad2df066dea944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db256e43d94689" /><Relationship Type="http://schemas.openxmlformats.org/officeDocument/2006/relationships/notesMaster" Target="/ppt/notesMasters/notesMaster1.xml" Id="R0b14d980e12b45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0eb8db1ee14645" /><Relationship Type="http://schemas.openxmlformats.org/officeDocument/2006/relationships/notesMaster" Target="/ppt/notesMasters/notesMaster1.xml" Id="Rff4d29b5a02943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ca16c72bce41cd" /><Relationship Type="http://schemas.openxmlformats.org/officeDocument/2006/relationships/notesMaster" Target="/ppt/notesMasters/notesMaster1.xml" Id="R029a1eba2d4747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db1dcbe6564579" /><Relationship Type="http://schemas.openxmlformats.org/officeDocument/2006/relationships/notesMaster" Target="/ppt/notesMasters/notesMaster1.xml" Id="Rc28baced1f2c44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c888f5bbce424a" /><Relationship Type="http://schemas.openxmlformats.org/officeDocument/2006/relationships/notesMaster" Target="/ppt/notesMasters/notesMaster1.xml" Id="R2e90a64f41db4d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f1f913119343b4" /><Relationship Type="http://schemas.openxmlformats.org/officeDocument/2006/relationships/notesMaster" Target="/ppt/notesMasters/notesMaster1.xml" Id="R56f4d77b4bb24a8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fab335c9044232" /><Relationship Type="http://schemas.openxmlformats.org/officeDocument/2006/relationships/notesMaster" Target="/ppt/notesMasters/notesMaster1.xml" Id="Rab3535cfa5a449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f761cdb149403a" /><Relationship Type="http://schemas.openxmlformats.org/officeDocument/2006/relationships/notesMaster" Target="/ppt/notesMasters/notesMaster1.xml" Id="R2a3e5cc4a2984c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ade5ea63e04e51" /><Relationship Type="http://schemas.openxmlformats.org/officeDocument/2006/relationships/notesMaster" Target="/ppt/notesMasters/notesMaster1.xml" Id="Rea90c1b3ca144f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c4f73cb6cd4f35" /><Relationship Type="http://schemas.openxmlformats.org/officeDocument/2006/relationships/notesMaster" Target="/ppt/notesMasters/notesMaster1.xml" Id="Rc9018f02db024be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148d84a81046b3" /><Relationship Type="http://schemas.openxmlformats.org/officeDocument/2006/relationships/notesMaster" Target="/ppt/notesMasters/notesMaster1.xml" Id="R31bdbf038f6441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19f8d777c2c4c31" /><Relationship Type="http://schemas.openxmlformats.org/officeDocument/2006/relationships/notesMaster" Target="/ppt/notesMasters/notesMaster1.xml" Id="Rd7b0dbb1373c4b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dbd301e6f54325" /><Relationship Type="http://schemas.openxmlformats.org/officeDocument/2006/relationships/notesMaster" Target="/ppt/notesMasters/notesMaster1.xml" Id="R08beea50ce0640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960c1f86fc34a83" /><Relationship Type="http://schemas.openxmlformats.org/officeDocument/2006/relationships/notesMaster" Target="/ppt/notesMasters/notesMaster1.xml" Id="Rac45a9289fb246f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faba484ca3452e" /><Relationship Type="http://schemas.openxmlformats.org/officeDocument/2006/relationships/notesMaster" Target="/ppt/notesMasters/notesMaster1.xml" Id="R5dfedbe309374b2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a5eefa96104421" /><Relationship Type="http://schemas.openxmlformats.org/officeDocument/2006/relationships/notesMaster" Target="/ppt/notesMasters/notesMaster1.xml" Id="R1f1fa34c232d40d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d7dd53ed90742a1" /><Relationship Type="http://schemas.openxmlformats.org/officeDocument/2006/relationships/notesMaster" Target="/ppt/notesMasters/notesMaster1.xml" Id="R5fe4c67f9419417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edfc9d9e68145ce" /><Relationship Type="http://schemas.openxmlformats.org/officeDocument/2006/relationships/notesMaster" Target="/ppt/notesMasters/notesMaster1.xml" Id="Ra80b00e1939e4cb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a8513426fc84981" /><Relationship Type="http://schemas.openxmlformats.org/officeDocument/2006/relationships/notesMaster" Target="/ppt/notesMasters/notesMaster1.xml" Id="Rdf7e2fce53fa460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679cd33230e4612" /><Relationship Type="http://schemas.openxmlformats.org/officeDocument/2006/relationships/notesMaster" Target="/ppt/notesMasters/notesMaster1.xml" Id="Rc949d94c4392451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dbd562b6414a7d" /><Relationship Type="http://schemas.openxmlformats.org/officeDocument/2006/relationships/notesMaster" Target="/ppt/notesMasters/notesMaster1.xml" Id="R178e83392a034f7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7000bd252394431" /><Relationship Type="http://schemas.openxmlformats.org/officeDocument/2006/relationships/notesMaster" Target="/ppt/notesMasters/notesMaster1.xml" Id="R1b325f2bfd834e3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4ce507fdba04648" /><Relationship Type="http://schemas.openxmlformats.org/officeDocument/2006/relationships/notesMaster" Target="/ppt/notesMasters/notesMaster1.xml" Id="Re921524326ad4d4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448ecda32a94924" /><Relationship Type="http://schemas.openxmlformats.org/officeDocument/2006/relationships/notesMaster" Target="/ppt/notesMasters/notesMaster1.xml" Id="Rddac88e022a14f0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5b3421910f343f6" /><Relationship Type="http://schemas.openxmlformats.org/officeDocument/2006/relationships/notesMaster" Target="/ppt/notesMasters/notesMaster1.xml" Id="Rfdc6530371994e6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efdcbca4f0e4774" /><Relationship Type="http://schemas.openxmlformats.org/officeDocument/2006/relationships/notesMaster" Target="/ppt/notesMasters/notesMaster1.xml" Id="R6ac594ac3462424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9abbbed20304a7e" /><Relationship Type="http://schemas.openxmlformats.org/officeDocument/2006/relationships/notesMaster" Target="/ppt/notesMasters/notesMaster1.xml" Id="R80f6ca6da3bb435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52ab14ffeb7446c" /><Relationship Type="http://schemas.openxmlformats.org/officeDocument/2006/relationships/notesMaster" Target="/ppt/notesMasters/notesMaster1.xml" Id="Rffed1086c89347e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e830fa6453e40b2" /><Relationship Type="http://schemas.openxmlformats.org/officeDocument/2006/relationships/notesMaster" Target="/ppt/notesMasters/notesMaster1.xml" Id="R22ad116fa963478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deec511f91a4361" /><Relationship Type="http://schemas.openxmlformats.org/officeDocument/2006/relationships/notesMaster" Target="/ppt/notesMasters/notesMaster1.xml" Id="R6121be5eded8461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4a79c825564730" /><Relationship Type="http://schemas.openxmlformats.org/officeDocument/2006/relationships/notesMaster" Target="/ppt/notesMasters/notesMaster1.xml" Id="R4d1fa12d2dcc467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9e97685e7274027" /><Relationship Type="http://schemas.openxmlformats.org/officeDocument/2006/relationships/notesMaster" Target="/ppt/notesMasters/notesMaster1.xml" Id="Rbb1bc812d7514c2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efbaa9ce0c24583" /><Relationship Type="http://schemas.openxmlformats.org/officeDocument/2006/relationships/notesMaster" Target="/ppt/notesMasters/notesMaster1.xml" Id="R78f03829cb524d0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cde8cbcccf245ed" /><Relationship Type="http://schemas.openxmlformats.org/officeDocument/2006/relationships/notesMaster" Target="/ppt/notesMasters/notesMaster1.xml" Id="Rc0a11cdbdf8a4f6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7daf9550b5b480a" /><Relationship Type="http://schemas.openxmlformats.org/officeDocument/2006/relationships/notesMaster" Target="/ppt/notesMasters/notesMaster1.xml" Id="R7173e85d6072432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52801dc57e64a23" /><Relationship Type="http://schemas.openxmlformats.org/officeDocument/2006/relationships/notesMaster" Target="/ppt/notesMasters/notesMaster1.xml" Id="R1a1b3169eaae4e9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39414685f194ed5" /><Relationship Type="http://schemas.openxmlformats.org/officeDocument/2006/relationships/notesMaster" Target="/ppt/notesMasters/notesMaster1.xml" Id="Ra019ba0ff21b4a6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14c59a308f64f33" /><Relationship Type="http://schemas.openxmlformats.org/officeDocument/2006/relationships/notesMaster" Target="/ppt/notesMasters/notesMaster1.xml" Id="R85a474e9b5a54a9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f83a10cdc944cad" /><Relationship Type="http://schemas.openxmlformats.org/officeDocument/2006/relationships/notesMaster" Target="/ppt/notesMasters/notesMaster1.xml" Id="R5059c28278a8480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a473d2a18274a34" /><Relationship Type="http://schemas.openxmlformats.org/officeDocument/2006/relationships/notesMaster" Target="/ppt/notesMasters/notesMaster1.xml" Id="R22b4e750d5374e0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8bc921bf9664441" /><Relationship Type="http://schemas.openxmlformats.org/officeDocument/2006/relationships/notesMaster" Target="/ppt/notesMasters/notesMaster1.xml" Id="R423632d00a4242d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4ba14ab1147417d" /><Relationship Type="http://schemas.openxmlformats.org/officeDocument/2006/relationships/notesMaster" Target="/ppt/notesMasters/notesMaster1.xml" Id="R12e45c3a80a840b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d3e4aca4dce41c7" /><Relationship Type="http://schemas.openxmlformats.org/officeDocument/2006/relationships/notesMaster" Target="/ppt/notesMasters/notesMaster1.xml" Id="R2c9ee1d86346435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961db0954404bd4" /><Relationship Type="http://schemas.openxmlformats.org/officeDocument/2006/relationships/notesMaster" Target="/ppt/notesMasters/notesMaster1.xml" Id="Rbbad791caa59433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15920437acc4649" /><Relationship Type="http://schemas.openxmlformats.org/officeDocument/2006/relationships/notesMaster" Target="/ppt/notesMasters/notesMaster1.xml" Id="Rfce1c642aceb4b3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e2f71554fa946a7" /><Relationship Type="http://schemas.openxmlformats.org/officeDocument/2006/relationships/notesMaster" Target="/ppt/notesMasters/notesMaster1.xml" Id="R065eba008c3e426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707ceed65ee4b90" /><Relationship Type="http://schemas.openxmlformats.org/officeDocument/2006/relationships/notesMaster" Target="/ppt/notesMasters/notesMaster1.xml" Id="R00c80eed0a8641f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8481b0da27f4edd" /><Relationship Type="http://schemas.openxmlformats.org/officeDocument/2006/relationships/notesMaster" Target="/ppt/notesMasters/notesMaster1.xml" Id="R262ebf48869041a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49b6fef61dd42ad" /><Relationship Type="http://schemas.openxmlformats.org/officeDocument/2006/relationships/notesMaster" Target="/ppt/notesMasters/notesMaster1.xml" Id="R0938eebf473946c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39255d97ff84bd1" /><Relationship Type="http://schemas.openxmlformats.org/officeDocument/2006/relationships/notesMaster" Target="/ppt/notesMasters/notesMaster1.xml" Id="R9e440ac7153d486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30e7661abd64e23" /><Relationship Type="http://schemas.openxmlformats.org/officeDocument/2006/relationships/notesMaster" Target="/ppt/notesMasters/notesMaster1.xml" Id="Rc4b8a30a193b4a8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dca9891586d417f" /><Relationship Type="http://schemas.openxmlformats.org/officeDocument/2006/relationships/notesMaster" Target="/ppt/notesMasters/notesMaster1.xml" Id="Ra108cb51686d4e1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c46b37981ca4e37" /><Relationship Type="http://schemas.openxmlformats.org/officeDocument/2006/relationships/notesMaster" Target="/ppt/notesMasters/notesMaster1.xml" Id="R8de4a25aced7448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0ea7b5f64584991" /><Relationship Type="http://schemas.openxmlformats.org/officeDocument/2006/relationships/notesMaster" Target="/ppt/notesMasters/notesMaster1.xml" Id="R43e3c6818302419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63f96b5b4534c76" /><Relationship Type="http://schemas.openxmlformats.org/officeDocument/2006/relationships/notesMaster" Target="/ppt/notesMasters/notesMaster1.xml" Id="Rfd2430739fc044f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efd733b7f5242d7" /><Relationship Type="http://schemas.openxmlformats.org/officeDocument/2006/relationships/notesMaster" Target="/ppt/notesMasters/notesMaster1.xml" Id="Rb56a264ff18540b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32e231afb56416e" /><Relationship Type="http://schemas.openxmlformats.org/officeDocument/2006/relationships/notesMaster" Target="/ppt/notesMasters/notesMaster1.xml" Id="R3680f37a6e18415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dfce806a1a048a3" /><Relationship Type="http://schemas.openxmlformats.org/officeDocument/2006/relationships/notesMaster" Target="/ppt/notesMasters/notesMaster1.xml" Id="Rd7487c436d494b8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ba7bc7957de4808" /><Relationship Type="http://schemas.openxmlformats.org/officeDocument/2006/relationships/notesMaster" Target="/ppt/notesMasters/notesMaster1.xml" Id="Ra158f499aa29455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74c5d316474464d" /><Relationship Type="http://schemas.openxmlformats.org/officeDocument/2006/relationships/notesMaster" Target="/ppt/notesMasters/notesMaster1.xml" Id="R368108802baf4a2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70dff63622141b6" /><Relationship Type="http://schemas.openxmlformats.org/officeDocument/2006/relationships/notesMaster" Target="/ppt/notesMasters/notesMaster1.xml" Id="R6fcca69f757f49a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587a90c2a1745fa" /><Relationship Type="http://schemas.openxmlformats.org/officeDocument/2006/relationships/notesMaster" Target="/ppt/notesMasters/notesMaster1.xml" Id="R1ded0290c61e432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e4657a3b9f44604" /><Relationship Type="http://schemas.openxmlformats.org/officeDocument/2006/relationships/notesMaster" Target="/ppt/notesMasters/notesMaster1.xml" Id="R6045a4defdea402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20b2427d0414ac1" /><Relationship Type="http://schemas.openxmlformats.org/officeDocument/2006/relationships/notesMaster" Target="/ppt/notesMasters/notesMaster1.xml" Id="R1d4e3f3bb35c4e4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815040d13e94438" /><Relationship Type="http://schemas.openxmlformats.org/officeDocument/2006/relationships/notesMaster" Target="/ppt/notesMasters/notesMaster1.xml" Id="R44f969ad24ac4c6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7c60003308640a6" /><Relationship Type="http://schemas.openxmlformats.org/officeDocument/2006/relationships/notesMaster" Target="/ppt/notesMasters/notesMaster1.xml" Id="R5bd72df970484ba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524d825ac8149a6" /><Relationship Type="http://schemas.openxmlformats.org/officeDocument/2006/relationships/notesMaster" Target="/ppt/notesMasters/notesMaster1.xml" Id="R306b6ee0c32b4cf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d1178a4569044d9" /><Relationship Type="http://schemas.openxmlformats.org/officeDocument/2006/relationships/notesMaster" Target="/ppt/notesMasters/notesMaster1.xml" Id="Rf66d137a2ba64f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first prediction model</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A first prediction model.</a:t>
            </a:r>
          </a:p>
          <a:p xmlns:a="http://schemas.openxmlformats.org/drawingml/2006/main">
            <a:r>
              <a:t/>
            </a:r>
          </a:p>
          <a:p xmlns:a="http://schemas.openxmlformats.org/drawingml/2006/main">
            <a:r>
              <a:t>EXPLAIN</a:t>
            </a:r>
          </a:p>
          <a:p xmlns:a="http://schemas.openxmlformats.org/drawingml/2006/main">
            <a:r>
              <a:t>Identify prediction inputs and a measured target.</a:t>
            </a:r>
          </a:p>
          <a:p xmlns:a="http://schemas.openxmlformats.org/drawingml/2006/main">
            <a:r>
              <a:t/>
            </a:r>
          </a:p>
          <a:p xmlns:a="http://schemas.openxmlformats.org/drawingml/2006/main">
            <a:r>
              <a:t>Fit a simple model and compare prediction errors.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Weeks 3–6 supplied Python, tables, cleaning and charts. We now use paired inputs and known answers to fit a prediction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regression model predicts a numerical engineering target from measurements available beforehand. The small invented data explain the code; they do not establish real-world accuracy.</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numerical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Regression predicts a number, such as cooling load in kW.</a:t>
            </a:r>
          </a:p>
          <a:p xmlns:a="http://schemas.openxmlformats.org/drawingml/2006/main">
            <a:r>
              <a:t/>
            </a:r>
          </a:p>
          <a:p xmlns:a="http://schemas.openxmlformats.org/drawingml/2006/main">
            <a:r>
              <a:t>A feature is information available when predicting.</a:t>
            </a:r>
          </a:p>
          <a:p xmlns:a="http://schemas.openxmlformats.org/drawingml/2006/main">
            <a:r>
              <a:t/>
            </a:r>
          </a:p>
          <a:p xmlns:a="http://schemas.openxmlformats.org/drawingml/2006/main">
            <a:r>
              <a:t>The target is the measured answer used during training.</a:t>
            </a:r>
          </a:p>
          <a:p xmlns:a="http://schemas.openxmlformats.org/drawingml/2006/main">
            <a:r>
              <a:t/>
            </a:r>
          </a:p>
          <a:p xmlns:a="http://schemas.openxmlformats.org/drawingml/2006/main">
            <a:r>
              <a:t>Classification, next week, predicts a category.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 and target and Training validation and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and target and Training validation and test</a:t>
            </a:r>
          </a:p>
          <a:p xmlns:a="http://schemas.openxmlformats.org/drawingml/2006/main">
            <a:r>
              <a:t/>
            </a:r>
          </a:p>
          <a:p xmlns:a="http://schemas.openxmlformats.org/drawingml/2006/main">
            <a:r>
              <a:t>CONNECT</a:t>
            </a:r>
          </a:p>
          <a:p xmlns:a="http://schemas.openxmlformats.org/drawingml/2006/main">
            <a:r>
              <a:t>Previous slide: A numerical prediction.</a:t>
            </a:r>
          </a:p>
          <a:p xmlns:a="http://schemas.openxmlformats.org/drawingml/2006/main">
            <a:r>
              <a:t/>
            </a:r>
          </a:p>
          <a:p xmlns:a="http://schemas.openxmlformats.org/drawingml/2006/main">
            <a:r>
              <a:t>EXPLAIN</a:t>
            </a:r>
          </a:p>
          <a:p xmlns:a="http://schemas.openxmlformats.org/drawingml/2006/main">
            <a:r>
              <a:t>Feature and target: Features are inputs available when making a prediction. The target is the quantity we want to predict.</a:t>
            </a:r>
          </a:p>
          <a:p xmlns:a="http://schemas.openxmlformats.org/drawingml/2006/main">
            <a:r>
              <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Baseline.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Previous slide: Feature and target and Training validation and test.</a:t>
            </a:r>
          </a:p>
          <a:p xmlns:a="http://schemas.openxmlformats.org/drawingml/2006/main">
            <a:r>
              <a:t/>
            </a:r>
          </a:p>
          <a:p xmlns:a="http://schemas.openxmlformats.org/drawingml/2006/main">
            <a:r>
              <a:t>EXPLAIN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Linear model and tree.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Previous slide: Baseline.</a:t>
            </a:r>
          </a:p>
          <a:p xmlns:a="http://schemas.openxmlformats.org/drawingml/2006/main">
            <a:r>
              <a:t/>
            </a:r>
          </a:p>
          <a:p xmlns:a="http://schemas.openxmlformats.org/drawingml/2006/main">
            <a:r>
              <a:t>EXPLAIN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What learning means in this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Previous slide: Linear model and tree.</a:t>
            </a:r>
          </a:p>
          <a:p xmlns:a="http://schemas.openxmlformats.org/drawingml/2006/main">
            <a:r>
              <a:t/>
            </a:r>
          </a:p>
          <a:p xmlns:a="http://schemas.openxmlformats.org/drawingml/2006/main">
            <a:r>
              <a:t>EXPLAIN</a:t>
            </a:r>
          </a:p>
          <a:p xmlns:a="http://schemas.openxmlformats.org/drawingml/2006/main">
            <a:r>
              <a:t>Training supplies inputs and their known answers.</a:t>
            </a:r>
          </a:p>
          <a:p xmlns:a="http://schemas.openxmlformats.org/drawingml/2006/main">
            <a:r>
              <a:t/>
            </a:r>
          </a:p>
          <a:p xmlns:a="http://schemas.openxmlformats.org/drawingml/2006/main">
            <a:r>
              <a:t>The model uses those examples to choose its internal numbers.</a:t>
            </a:r>
          </a:p>
          <a:p xmlns:a="http://schemas.openxmlformats.org/drawingml/2006/main">
            <a:r>
              <a:t/>
            </a:r>
          </a:p>
          <a:p xmlns:a="http://schemas.openxmlformats.org/drawingml/2006/main">
            <a:r>
              <a:t>Prediction applies the fitted model to inputs whose answer we want to estimate.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Training observations.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Previous slide: What learning means in this example.</a:t>
            </a:r>
          </a:p>
          <a:p xmlns:a="http://schemas.openxmlformats.org/drawingml/2006/main">
            <a:r>
              <a:t/>
            </a:r>
          </a:p>
          <a:p xmlns:a="http://schemas.openxmlformats.org/drawingml/2006/main">
            <a:r>
              <a:t>EXPLAIN</a:t>
            </a:r>
          </a:p>
          <a:p xmlns:a="http://schemas.openxmlformats.org/drawingml/2006/main">
            <a:r>
              <a:t>Input | Measured target</a:t>
            </a:r>
          </a:p>
          <a:p xmlns:a="http://schemas.openxmlformats.org/drawingml/2006/main">
            <a:r>
              <a:t/>
            </a:r>
          </a:p>
          <a:p xmlns:a="http://schemas.openxmlformats.org/drawingml/2006/main">
            <a:r>
              <a:t>1 | 12</a:t>
            </a:r>
          </a:p>
          <a:p xmlns:a="http://schemas.openxmlformats.org/drawingml/2006/main">
            <a:r>
              <a:t/>
            </a:r>
          </a:p>
          <a:p xmlns:a="http://schemas.openxmlformats.org/drawingml/2006/main">
            <a:r>
              <a:t>2 | 14</a:t>
            </a:r>
          </a:p>
          <a:p xmlns:a="http://schemas.openxmlformats.org/drawingml/2006/main">
            <a:r>
              <a:t/>
            </a:r>
          </a:p>
          <a:p xmlns:a="http://schemas.openxmlformats.org/drawingml/2006/main">
            <a:r>
              <a:t>3 | 16</a:t>
            </a:r>
          </a:p>
          <a:p xmlns:a="http://schemas.openxmlformats.org/drawingml/2006/main">
            <a:r>
              <a:t/>
            </a:r>
          </a:p>
          <a:p xmlns:a="http://schemas.openxmlformats.org/drawingml/2006/main">
            <a:r>
              <a:t>4 | 18</a:t>
            </a:r>
          </a:p>
          <a:p xmlns:a="http://schemas.openxmlformats.org/drawingml/2006/main">
            <a:r>
              <a:t/>
            </a:r>
          </a:p>
          <a:p xmlns:a="http://schemas.openxmlformats.org/drawingml/2006/main">
            <a:r>
              <a:t>Invented numbers for learning.</a:t>
            </a:r>
          </a:p>
          <a:p xmlns:a="http://schemas.openxmlformats.org/drawingml/2006/main">
            <a:r>
              <a:t/>
            </a:r>
          </a:p>
          <a:p xmlns:a="http://schemas.openxmlformats.org/drawingml/2006/main">
            <a:r>
              <a:t>LECTURER CUE</a:t>
            </a:r>
          </a:p>
          <a:p xmlns:a="http://schemas.openxmlformats.org/drawingml/2006/main">
            <a:r>
              <a:t>Invented numbers for learning. The fitted line predicts 15 at input 2.5. The training mean is also 15 at this one example, so it cannot establish superiority.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fitted line is a numerical rule.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Previous slide: Training observations.</a:t>
            </a:r>
          </a:p>
          <a:p xmlns:a="http://schemas.openxmlformats.org/drawingml/2006/main">
            <a:r>
              <a:t/>
            </a:r>
          </a:p>
          <a:p xmlns:a="http://schemas.openxmlformats.org/drawingml/2006/main">
            <a:r>
              <a:t>EXPLAIN</a:t>
            </a:r>
          </a:p>
          <a:p xmlns:a="http://schemas.openxmlformats.org/drawingml/2006/main">
            <a:r>
              <a:t>For these invented observations, target = 2 × input + 10 matches all four points. 2 is the slope; 10 is the intercept, the value at input zero.</a:t>
            </a:r>
          </a:p>
          <a:p xmlns:a="http://schemas.openxmlformats.org/drawingml/2006/main">
            <a:r>
              <a:t/>
            </a:r>
          </a:p>
          <a:p xmlns:a="http://schemas.openxmlformats.org/drawingml/2006/main">
            <a:r>
              <a:t>A prediction error is the difference between a prediction and the measured answer. A vertical gap in the picture shows that error.</a:t>
            </a:r>
          </a:p>
          <a:p xmlns:a="http://schemas.openxmlformats.org/drawingml/2006/main">
            <a:r>
              <a:t/>
            </a:r>
          </a:p>
          <a:p xmlns:a="http://schemas.openxmlformats.org/drawingml/2006/main">
            <a:r>
              <a:t>Fitting chooses the slope and intercept to minimise summed squared errors. Squaring means multiplying an error by itself; a small training error still needs an unseen-data check.</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Fitting a line to observations.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Previous slide: A fitted line is a numerical rule.</a:t>
            </a:r>
          </a:p>
          <a:p xmlns:a="http://schemas.openxmlformats.org/drawingml/2006/main">
            <a:r>
              <a:t/>
            </a:r>
          </a:p>
          <a:p xmlns:a="http://schemas.openxmlformats.org/drawingml/2006/main">
            <a:r>
              <a:t>EXPLAIN</a:t>
            </a:r>
          </a:p>
          <a:p xmlns:a="http://schemas.openxmlformats.org/drawingml/2006/main">
            <a:r>
              <a:t>The fitted line minimises the sum of squared vertical errors.</a:t>
            </a:r>
          </a:p>
          <a:p xmlns:a="http://schemas.openxmlformats.org/drawingml/2006/main">
            <a:r>
              <a:t/>
            </a:r>
          </a:p>
          <a:p xmlns:a="http://schemas.openxmlformats.org/drawingml/2006/main">
            <a:r>
              <a:t>LECTURER CUE</a:t>
            </a:r>
          </a:p>
          <a:p xmlns:a="http://schemas.openxmlformats.org/drawingml/2006/main">
            <a:r>
              <a:t>These are illustrative concrete observations. Point to x, y, one prediction and one residual. A unique slope requires variation in x. A low training error alone does not show generalisation.</a:t>
            </a:r>
          </a:p>
          <a:p xmlns:a="http://schemas.openxmlformats.org/drawingml/2006/main">
            <a:r>
              <a:t>Source: existing course illustration figs/fit_by_eye.png.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must stay paired with their answers.</a:t>
            </a:r>
          </a:p>
          <a:p xmlns:a="http://schemas.openxmlformats.org/drawingml/2006/main">
            <a:r>
              <a:t/>
            </a:r>
          </a:p>
          <a:p xmlns:a="http://schemas.openxmlformats.org/drawingml/2006/main">
            <a:r>
              <a:t>REFERENCES</a:t>
            </a:r>
          </a:p>
          <a:p xmlns:a="http://schemas.openxmlformats.org/drawingml/2006/main">
            <a:r>
              <a:t>Source: existing course illustration figs/fit_by_eye.png.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Previous slide: Fitting a line to observations.</a:t>
            </a:r>
          </a:p>
          <a:p xmlns:a="http://schemas.openxmlformats.org/drawingml/2006/main">
            <a:r>
              <a:t/>
            </a:r>
          </a:p>
          <a:p xmlns:a="http://schemas.openxmlformats.org/drawingml/2006/main">
            <a:r>
              <a:t>EXPLAIN</a:t>
            </a:r>
          </a:p>
          <a:p xmlns:a="http://schemas.openxmlformats.org/drawingml/2006/main">
            <a:r>
              <a:t>Each inner list in X_train is one observation.</a:t>
            </a:r>
          </a:p>
          <a:p xmlns:a="http://schemas.openxmlformats.org/drawingml/2006/main">
            <a:r>
              <a:t/>
            </a:r>
          </a:p>
          <a:p xmlns:a="http://schemas.openxmlformats.org/drawingml/2006/main">
            <a:r>
              <a:t>y_train contains one target value for each row, in the same order.</a:t>
            </a:r>
          </a:p>
          <a:p xmlns:a="http://schemas.openxmlformats.org/drawingml/2006/main">
            <a:r>
              <a:t/>
            </a:r>
          </a:p>
          <a:p xmlns:a="http://schemas.openxmlformats.org/drawingml/2006/main">
            <a:r>
              <a:t>Changing the order of only one list attaches answers to the wrong observations.</a:t>
            </a:r>
          </a:p>
          <a:p xmlns:a="http://schemas.openxmlformats.org/drawingml/2006/main">
            <a:r>
              <a:t/>
            </a:r>
          </a:p>
          <a:p xmlns:a="http://schemas.openxmlformats.org/drawingml/2006/main">
            <a:r>
              <a:t>LECTURER CUE</a:t>
            </a:r>
          </a:p>
          <a:p xmlns:a="http://schemas.openxmlformats.org/drawingml/2006/main">
            <a:r>
              <a:t>A list of lists is a table: each inner list holds the features of one observation. y_train holds one target per training row in the same order. Never reorder one without the other.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matrix is a rectangular table of numbers.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matrix is a rectangular table of numbers</a:t>
            </a:r>
          </a:p>
          <a:p xmlns:a="http://schemas.openxmlformats.org/drawingml/2006/main">
            <a:r>
              <a:t/>
            </a:r>
          </a:p>
          <a:p xmlns:a="http://schemas.openxmlformats.org/drawingml/2006/main">
            <a:r>
              <a:t>CONNECT</a:t>
            </a:r>
          </a:p>
          <a:p xmlns:a="http://schemas.openxmlformats.org/drawingml/2006/main">
            <a:r>
              <a:t>Previous slide: Rows must stay paired with their answers.</a:t>
            </a:r>
          </a:p>
          <a:p xmlns:a="http://schemas.openxmlformats.org/drawingml/2006/main">
            <a:r>
              <a:t/>
            </a:r>
          </a:p>
          <a:p xmlns:a="http://schemas.openxmlformats.org/drawingml/2006/main">
            <a:r>
              <a:t>EXPLAIN</a:t>
            </a:r>
          </a:p>
          <a:p xmlns:a="http://schemas.openxmlformats.org/drawingml/2006/main">
            <a:r>
              <a:t>A matrix has rows and columns. For modelling, one row is one observation and each column is one input feature.</a:t>
            </a:r>
          </a:p>
          <a:p xmlns:a="http://schemas.openxmlformats.org/drawingml/2006/main">
            <a:r>
              <a:t/>
            </a:r>
          </a:p>
          <a:p xmlns:a="http://schemas.openxmlformats.org/drawingml/2006/main">
            <a:r>
              <a:t>[[1, 20], [2, 22]] has two rows and two columns. The outer list contains rows; each inner list contains that row’s features.</a:t>
            </a:r>
          </a:p>
          <a:p xmlns:a="http://schemas.openxmlformats.org/drawingml/2006/main">
            <a:r>
              <a:t/>
            </a:r>
          </a:p>
          <a:p xmlns:a="http://schemas.openxmlformats.org/drawingml/2006/main">
            <a:r>
              <a:t>X is a conventional name for this input table. y holds one known target per row. These names have no special power in Python.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and arrays before model code.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Previous slide: A matrix is a rectangular table of numbers.</a:t>
            </a:r>
          </a:p>
          <a:p xmlns:a="http://schemas.openxmlformats.org/drawingml/2006/main">
            <a:r>
              <a:t/>
            </a:r>
          </a:p>
          <a:p xmlns:a="http://schemas.openxmlformats.org/drawingml/2006/main">
            <a:r>
              <a:t>EXPLAIN</a:t>
            </a:r>
          </a:p>
          <a:p xmlns:a="http://schemas.openxmlformats.org/drawingml/2006/main">
            <a:r>
              <a:t>Nested lists: [[1], [2], [3]] has three inner lists: three rows with one feature each. [12, 14, 16] has one target per row in the same order.</a:t>
            </a:r>
          </a:p>
          <a:p xmlns:a="http://schemas.openxmlformats.org/drawingml/2006/main">
            <a:r>
              <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NumPy results.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Previous slide: Rows and arrays before model code.</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np.nan | A missing numeric value marker</a:t>
            </a:r>
          </a:p>
          <a:p xmlns:a="http://schemas.openxmlformats.org/drawingml/2006/main">
            <a:r>
              <a:t/>
            </a:r>
          </a:p>
          <a:p xmlns:a="http://schemas.openxmlformats.org/drawingml/2006/main">
            <a:r>
              <a:t>X.shape | The array dimensions: rows, columns</a:t>
            </a:r>
          </a:p>
          <a:p xmlns:a="http://schemas.openxmlformats.org/drawingml/2006/main">
            <a:r>
              <a:t/>
            </a:r>
          </a:p>
          <a:p xmlns:a="http://schemas.openxmlformats.org/drawingml/2006/main">
            <a:r>
              <a:t>predictions.round(2) | Round a new array to two decimal places</a:t>
            </a:r>
          </a:p>
          <a:p xmlns:a="http://schemas.openxmlformats.org/drawingml/2006/main">
            <a:r>
              <a:t/>
            </a:r>
          </a:p>
          <a:p xmlns:a="http://schemas.openxmlformats.org/drawingml/2006/main">
            <a:r>
              <a:t>predictions.tolist() | Convert the array into a Python list</a:t>
            </a:r>
          </a:p>
          <a:p xmlns:a="http://schemas.openxmlformats.org/drawingml/2006/main">
            <a:r>
              <a:t/>
            </a:r>
          </a:p>
          <a:p xmlns:a="http://schemas.openxmlformats.org/drawingml/2006/main">
            <a:r>
              <a:t>Use rounded values only for a labelled display. Keep full precision when the assignment requires it.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Create an array before reading its shape.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an array before reading its shape</a:t>
            </a:r>
          </a:p>
          <a:p xmlns:a="http://schemas.openxmlformats.org/drawingml/2006/main">
            <a:r>
              <a:t/>
            </a:r>
          </a:p>
          <a:p xmlns:a="http://schemas.openxmlformats.org/drawingml/2006/main">
            <a:r>
              <a:t>CONNECT</a:t>
            </a:r>
          </a:p>
          <a:p xmlns:a="http://schemas.openxmlformats.org/drawingml/2006/main">
            <a:r>
              <a:t>Previous slide: Reading NumPy results.</a:t>
            </a:r>
          </a:p>
          <a:p xmlns:a="http://schemas.openxmlformats.org/drawingml/2006/main">
            <a:r>
              <a:t/>
            </a:r>
          </a:p>
          <a:p xmlns:a="http://schemas.openxmlformats.org/drawingml/2006/main">
            <a:r>
              <a:t>EXPLAIN</a:t>
            </a:r>
          </a:p>
          <a:p xmlns:a="http://schemas.openxmlformats.org/drawingml/2006/main">
            <a:r>
              <a:t>NumPy is a library for numerical arrays. import numpy as np makes its tools available through the name np.</a:t>
            </a:r>
          </a:p>
          <a:p xmlns:a="http://schemas.openxmlformats.org/drawingml/2006/main">
            <a:r>
              <a:t/>
            </a:r>
          </a:p>
          <a:p xmlns:a="http://schemas.openxmlformats.org/drawingml/2006/main">
            <a:r>
              <a:t>An array stores a regular arrangement of values. np.array([[1], [2], [3]]) creates three rows with one value in each.</a:t>
            </a:r>
          </a:p>
          <a:p xmlns:a="http://schemas.openxmlformats.org/drawingml/2006/main">
            <a:r>
              <a:t/>
            </a:r>
          </a:p>
          <a:p xmlns:a="http://schemas.openxmlformats.org/drawingml/2006/main">
            <a:r>
              <a:t>X.shape reports (3, 1): three rows, one column. np.array([12, 14, 16]) is one-dimensional; its shape is (3,). The comma marks a one-item tuple.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columns and named options.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Previous slide: Create an array before reading its shape.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numpy as np</a:t>
            </a:r>
          </a:p>
          <a:p xmlns:a="http://schemas.openxmlformats.org/drawingml/2006/main">
            <a:r>
              <a:t>X = np.array([[1], [2], [3]])</a:t>
            </a:r>
          </a:p>
          <a:p xmlns:a="http://schemas.openxmlformats.org/drawingml/2006/main">
            <a:r>
              <a:t>y = np.array([12, 14, 16])</a:t>
            </a:r>
          </a:p>
          <a:p xmlns:a="http://schemas.openxmlformats.org/drawingml/2006/main">
            <a:r>
              <a:t>print(X.shape)</a:t>
            </a:r>
          </a:p>
          <a:p xmlns:a="http://schemas.openxmlformats.org/drawingml/2006/main">
            <a:r>
              <a:t>print(y.shape)</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X has three rows and one feature column. y has three target values.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(3, 1) then (3,). Explain nested brackets before model.fit(X, y). Keyword arguments such as random_state=42 name an option.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fit and predict.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Previous slide: Rows, columns and named options.</a:t>
            </a:r>
          </a:p>
          <a:p xmlns:a="http://schemas.openxmlformats.org/drawingml/2006/main">
            <a:r>
              <a:t/>
            </a:r>
          </a:p>
          <a:p xmlns:a="http://schemas.openxmlformats.org/drawingml/2006/main">
            <a:r>
              <a:t>EXPLAIN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model object keeps learned information.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Previous slide: fit and predict.</a:t>
            </a:r>
          </a:p>
          <a:p xmlns:a="http://schemas.openxmlformats.org/drawingml/2006/main">
            <a:r>
              <a:t/>
            </a:r>
          </a:p>
          <a:p xmlns:a="http://schemas.openxmlformats.org/drawingml/2006/main">
            <a:r>
              <a:t>EXPLAIN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object remembers its fitted state.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Previous slide: A model object keeps learned information.</a:t>
            </a:r>
          </a:p>
          <a:p xmlns:a="http://schemas.openxmlformats.org/drawingml/2006/main">
            <a:r>
              <a:t/>
            </a:r>
          </a:p>
          <a:p xmlns:a="http://schemas.openxmlformats.org/drawingml/2006/main">
            <a:r>
              <a:t>EXPLAIN</a:t>
            </a:r>
          </a:p>
          <a:p xmlns:a="http://schemas.openxmlformats.org/drawingml/2006/main">
            <a:r>
              <a:t>Python expression | What it means</a:t>
            </a:r>
          </a:p>
          <a:p xmlns:a="http://schemas.openxmlformats.org/drawingml/2006/main">
            <a:r>
              <a:t/>
            </a:r>
          </a:p>
          <a:p xmlns:a="http://schemas.openxmlformats.org/drawingml/2006/main">
            <a:r>
              <a:t>model = LinearRegression() | Create an unfitted model object</a:t>
            </a:r>
          </a:p>
          <a:p xmlns:a="http://schemas.openxmlformats.org/drawingml/2006/main">
            <a:r>
              <a:t/>
            </a:r>
          </a:p>
          <a:p xmlns:a="http://schemas.openxmlformats.org/drawingml/2006/main">
            <a:r>
              <a:t>model.fit(X_train, y_train) | Learn from paired training data</a:t>
            </a:r>
          </a:p>
          <a:p xmlns:a="http://schemas.openxmlformats.org/drawingml/2006/main">
            <a:r>
              <a:t/>
            </a:r>
          </a:p>
          <a:p xmlns:a="http://schemas.openxmlformats.org/drawingml/2006/main">
            <a:r>
              <a:t>model.predict(X_new) | Use that learned state</a:t>
            </a:r>
          </a:p>
          <a:p xmlns:a="http://schemas.openxmlformats.org/drawingml/2006/main">
            <a:r>
              <a:t/>
            </a:r>
          </a:p>
          <a:p xmlns:a="http://schemas.openxmlformats.org/drawingml/2006/main">
            <a:r>
              <a:t>random_state=17 | Name an option and set its value</a:t>
            </a:r>
          </a:p>
          <a:p xmlns:a="http://schemas.openxmlformats.org/drawingml/2006/main">
            <a:r>
              <a:t/>
            </a:r>
          </a:p>
          <a:p xmlns:a="http://schemas.openxmlformats.org/drawingml/2006/main">
            <a:r>
              <a:t>An object holds state and has methods. A method is a function used through that object.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Creating, fitting and predicting.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Previous slide: An object remembers its fitted state.</a:t>
            </a:r>
          </a:p>
          <a:p xmlns:a="http://schemas.openxmlformats.org/drawingml/2006/main">
            <a:r>
              <a:t/>
            </a:r>
          </a:p>
          <a:p xmlns:a="http://schemas.openxmlformats.org/drawingml/2006/main">
            <a:r>
              <a:t>EXPLAIN</a:t>
            </a:r>
          </a:p>
          <a:p xmlns:a="http://schemas.openxmlformats.org/drawingml/2006/main">
            <a:r>
              <a:t>LinearRegression() creates a model that has not learned yet.</a:t>
            </a:r>
          </a:p>
          <a:p xmlns:a="http://schemas.openxmlformats.org/drawingml/2006/main">
            <a:r>
              <a:t/>
            </a:r>
          </a:p>
          <a:p xmlns:a="http://schemas.openxmlformats.org/drawingml/2006/main">
            <a:r>
              <a:t>fit(X_train, y_train) learns from paired training examples.</a:t>
            </a:r>
          </a:p>
          <a:p xmlns:a="http://schemas.openxmlformats.org/drawingml/2006/main">
            <a:r>
              <a:t/>
            </a:r>
          </a:p>
          <a:p xmlns:a="http://schemas.openxmlformats.org/drawingml/2006/main">
            <a:r>
              <a:t>predict(new_inputs) returns estimates. The actual targets are absent from new_inputs.</a:t>
            </a:r>
          </a:p>
          <a:p xmlns:a="http://schemas.openxmlformats.org/drawingml/2006/main">
            <a:r>
              <a:t/>
            </a:r>
          </a:p>
          <a:p xmlns:a="http://schemas.openxmlformats.org/drawingml/2006/main">
            <a:r>
              <a:t>LECTURER CUE</a:t>
            </a:r>
          </a:p>
          <a:p xmlns:a="http://schemas.openxmlformats.org/drawingml/2006/main">
            <a:r>
              <a:t>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Where the modelling tools come from.</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Where the modelling tools come from</a:t>
            </a:r>
          </a:p>
          <a:p xmlns:a="http://schemas.openxmlformats.org/drawingml/2006/main">
            <a:r>
              <a:t/>
            </a:r>
          </a:p>
          <a:p xmlns:a="http://schemas.openxmlformats.org/drawingml/2006/main">
            <a:r>
              <a:t>CONNECT</a:t>
            </a:r>
          </a:p>
          <a:p xmlns:a="http://schemas.openxmlformats.org/drawingml/2006/main">
            <a:r>
              <a:t>Previous slide: Creating, fitting and predicting.</a:t>
            </a:r>
          </a:p>
          <a:p xmlns:a="http://schemas.openxmlformats.org/drawingml/2006/main">
            <a:r>
              <a:t/>
            </a:r>
          </a:p>
          <a:p xmlns:a="http://schemas.openxmlformats.org/drawingml/2006/main">
            <a:r>
              <a:t>EXPLAIN</a:t>
            </a:r>
          </a:p>
          <a:p xmlns:a="http://schemas.openxmlformats.org/drawingml/2006/main">
            <a:r>
              <a:t>scikit-learn is an installed machine-learning library. Its Python import name is sklearn. linear_model is the part containing LinearRegression.</a:t>
            </a:r>
          </a:p>
          <a:p xmlns:a="http://schemas.openxmlformats.org/drawingml/2006/main">
            <a:r>
              <a:t/>
            </a:r>
          </a:p>
          <a:p xmlns:a="http://schemas.openxmlformats.org/drawingml/2006/main">
            <a:r>
              <a:t>from sklearn.linear_model import LinearRegression makes that model class available. LinearRegression() creates an individual model object.</a:t>
            </a:r>
          </a:p>
          <a:p xmlns:a="http://schemas.openxmlformats.org/drawingml/2006/main">
            <a:r>
              <a:t/>
            </a:r>
          </a:p>
          <a:p xmlns:a="http://schemas.openxmlformats.org/drawingml/2006/main">
            <a:r>
              <a:t>In Colab this library is normally available. If an import fails, use the course setup instructions and retry the import before running model code.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a:t>
            </a:r>
          </a:p>
          <a:p xmlns:a="http://schemas.openxmlformats.org/drawingml/2006/main">
            <a:r>
              <a:t/>
            </a:r>
          </a:p>
          <a:p xmlns:a="http://schemas.openxmlformats.org/drawingml/2006/main">
            <a:r>
              <a:t>CONNECT</a:t>
            </a:r>
          </a:p>
          <a:p xmlns:a="http://schemas.openxmlformats.org/drawingml/2006/main">
            <a:r>
              <a:t>Previous slide: Where the modelling tools come from.</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Previous slide: Regression models and errors in Python.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Previous slide: Regression models and errors in Python continued.</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results</a:t>
            </a:r>
          </a:p>
          <a:p xmlns:a="http://schemas.openxmlformats.org/drawingml/2006/main">
            <a:r>
              <a:t/>
            </a:r>
          </a:p>
          <a:p xmlns:a="http://schemas.openxmlformats.org/drawingml/2006/main">
            <a:r>
              <a:t>CONNECT</a:t>
            </a:r>
          </a:p>
          <a:p xmlns:a="http://schemas.openxmlformats.org/drawingml/2006/main">
            <a:r>
              <a:t>Previous slide: Regression models and errors in Python continued.</a:t>
            </a:r>
          </a:p>
          <a:p xmlns:a="http://schemas.openxmlformats.org/drawingml/2006/main">
            <a:r>
              <a:t/>
            </a:r>
          </a:p>
          <a:p xmlns:a="http://schemas.openxmlformats.org/drawingml/2006/main">
            <a:r>
              <a:t>EXPLAIN</a:t>
            </a:r>
          </a:p>
          <a:p xmlns:a="http://schemas.openxmlformats.org/drawingml/2006/main">
            <a:r>
              <a:t>[15.0]</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mean baseline.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Previous slide: Regression models and errors results.</a:t>
            </a:r>
          </a:p>
          <a:p xmlns:a="http://schemas.openxmlformats.org/drawingml/2006/main">
            <a:r>
              <a:t/>
            </a:r>
          </a:p>
          <a:p xmlns:a="http://schemas.openxmlformats.org/drawingml/2006/main">
            <a:r>
              <a:t>EXPLAIN</a:t>
            </a:r>
          </a:p>
          <a:p xmlns:a="http://schemas.openxmlformats.org/drawingml/2006/main">
            <a:r>
              <a:t>Use the same training data.</a:t>
            </a:r>
          </a:p>
          <a:p xmlns:a="http://schemas.openxmlformats.org/drawingml/2006/main">
            <a:r>
              <a:t/>
            </a:r>
          </a:p>
          <a:p xmlns:a="http://schemas.openxmlformats.org/drawingml/2006/main">
            <a:r>
              <a:t>This baseline learns their mean, 15, and predicts it for every input.</a:t>
            </a:r>
          </a:p>
          <a:p xmlns:a="http://schemas.openxmlformats.org/drawingml/2006/main">
            <a:r>
              <a:t/>
            </a:r>
          </a:p>
          <a:p xmlns:a="http://schemas.openxmlformats.org/drawingml/2006/main">
            <a:r>
              <a:t>It gives a simple comparison before claiming the line helps.</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mean baseline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Previous slide: The mean baseline.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Complete practice code:</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small regression tree.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Previous slide: The mean baseline in Python.</a:t>
            </a:r>
          </a:p>
          <a:p xmlns:a="http://schemas.openxmlformats.org/drawingml/2006/main">
            <a:r>
              <a:t/>
            </a:r>
          </a:p>
          <a:p xmlns:a="http://schemas.openxmlformats.org/drawingml/2006/main">
            <a:r>
              <a:t>EXPLAIN</a:t>
            </a:r>
          </a:p>
          <a:p xmlns:a="http://schemas.openxmlformats.org/drawingml/2006/main">
            <a:r>
              <a:t>A tree learns threshold questions from the training inputs.</a:t>
            </a:r>
          </a:p>
          <a:p xmlns:a="http://schemas.openxmlformats.org/drawingml/2006/main">
            <a:r>
              <a:t/>
            </a:r>
          </a:p>
          <a:p xmlns:a="http://schemas.openxmlformats.org/drawingml/2006/main">
            <a:r>
              <a:t>Each final group, or leaf, predicts a target value.</a:t>
            </a:r>
          </a:p>
          <a:p xmlns:a="http://schemas.openxmlformats.org/drawingml/2006/main">
            <a:r>
              <a:t/>
            </a:r>
          </a:p>
          <a:p xmlns:a="http://schemas.openxmlformats.org/drawingml/2006/main">
            <a:r>
              <a:t>This tree returns 14 for input 2.5 in this toy example. max_depth limits the number of successive decisions. random_state fixes the random seed.</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regression-tree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regression-tree prediction</a:t>
            </a:r>
          </a:p>
          <a:p xmlns:a="http://schemas.openxmlformats.org/drawingml/2006/main">
            <a:r>
              <a:t/>
            </a:r>
          </a:p>
          <a:p xmlns:a="http://schemas.openxmlformats.org/drawingml/2006/main">
            <a:r>
              <a:t>CONNECT</a:t>
            </a:r>
          </a:p>
          <a:p xmlns:a="http://schemas.openxmlformats.org/drawingml/2006/main">
            <a:r>
              <a:t>Previous slide: A small regression tree.</a:t>
            </a:r>
          </a:p>
          <a:p xmlns:a="http://schemas.openxmlformats.org/drawingml/2006/main">
            <a:r>
              <a:t/>
            </a:r>
          </a:p>
          <a:p xmlns:a="http://schemas.openxmlformats.org/drawingml/2006/main">
            <a:r>
              <a:t>EXPLAIN</a:t>
            </a:r>
          </a:p>
          <a:p xmlns:a="http://schemas.openxmlformats.org/drawingml/2006/main">
            <a:r>
              <a:t>Input or question | Path for input 2.5 | Result</a:t>
            </a:r>
          </a:p>
          <a:p xmlns:a="http://schemas.openxmlformats.org/drawingml/2006/main">
            <a:r>
              <a:t/>
            </a:r>
          </a:p>
          <a:p xmlns:a="http://schemas.openxmlformats.org/drawingml/2006/main">
            <a:r>
              <a:t>Is input at most 2.5? | Yes: use the lower group | Continue within that group</a:t>
            </a:r>
          </a:p>
          <a:p xmlns:a="http://schemas.openxmlformats.org/drawingml/2006/main">
            <a:r>
              <a:t/>
            </a:r>
          </a:p>
          <a:p xmlns:a="http://schemas.openxmlformats.org/drawingml/2006/main">
            <a:r>
              <a:t>Is input at most 1.5? | No: use its upper leaf | Training target 14</a:t>
            </a:r>
          </a:p>
          <a:p xmlns:a="http://schemas.openxmlformats.org/drawingml/2006/main">
            <a:r>
              <a:t/>
            </a:r>
          </a:p>
          <a:p xmlns:a="http://schemas.openxmlformats.org/drawingml/2006/main">
            <a:r>
              <a:t>Leaf prediction | Return the leaf value | 14</a:t>
            </a:r>
          </a:p>
          <a:p xmlns:a="http://schemas.openxmlformats.org/drawingml/2006/main">
            <a:r>
              <a:t/>
            </a:r>
          </a:p>
          <a:p xmlns:a="http://schemas.openxmlformats.org/drawingml/2006/main">
            <a:r>
              <a:t>This trace describes our fitted four-row teaching tree. A different training set can produce different questions.</a:t>
            </a:r>
          </a:p>
          <a:p xmlns:a="http://schemas.openxmlformats.org/drawingml/2006/main">
            <a:r>
              <a:t/>
            </a:r>
          </a:p>
          <a:p xmlns:a="http://schemas.openxmlformats.org/drawingml/2006/main">
            <a:r>
              <a:t>Read the rows in order. This trace describes our fitted four-row teaching tree. A different training set can produce different questions.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small regression tree in Python.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Previous slide: Trace a regression-tree prediction.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Complete practice code:</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Reuse the same preparation on new inputs.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Previous slide: A small regression tree in Python.</a:t>
            </a:r>
          </a:p>
          <a:p xmlns:a="http://schemas.openxmlformats.org/drawingml/2006/main">
            <a:r>
              <a:t/>
            </a:r>
          </a:p>
          <a:p xmlns:a="http://schemas.openxmlformats.org/drawingml/2006/main">
            <a:r>
              <a:t>EXPLAIN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pipeline tools before combining them.</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pipeline tools before combining them</a:t>
            </a:r>
          </a:p>
          <a:p xmlns:a="http://schemas.openxmlformats.org/drawingml/2006/main">
            <a:r>
              <a:t/>
            </a:r>
          </a:p>
          <a:p xmlns:a="http://schemas.openxmlformats.org/drawingml/2006/main">
            <a:r>
              <a:t>CONNECT</a:t>
            </a:r>
          </a:p>
          <a:p xmlns:a="http://schemas.openxmlformats.org/drawingml/2006/main">
            <a:r>
              <a:t>Previous slide: Reuse the same preparation on new inputs.</a:t>
            </a:r>
          </a:p>
          <a:p xmlns:a="http://schemas.openxmlformats.org/drawingml/2006/main">
            <a:r>
              <a:t/>
            </a:r>
          </a:p>
          <a:p xmlns:a="http://schemas.openxmlformats.org/drawingml/2006/main">
            <a:r>
              <a:t>EXPLAIN</a:t>
            </a:r>
          </a:p>
          <a:p xmlns:a="http://schemas.openxmlformats.org/drawingml/2006/main">
            <a:r>
              <a:t>np.nan is NumPy’s missing-number marker. SimpleImputer(strategy="median") creates a tool that will learn each column’s median from training data.</a:t>
            </a:r>
          </a:p>
          <a:p xmlns:a="http://schemas.openxmlformats.org/drawingml/2006/main">
            <a:r>
              <a:t/>
            </a:r>
          </a:p>
          <a:p xmlns:a="http://schemas.openxmlformats.org/drawingml/2006/main">
            <a:r>
              <a:t>make_pipeline(imputer, model) joins preparation to prediction in that order. pipeline.fit first learns and applies the imputer, then fits the model.</a:t>
            </a:r>
          </a:p>
          <a:p xmlns:a="http://schemas.openxmlformats.org/drawingml/2006/main">
            <a:r>
              <a:t/>
            </a:r>
          </a:p>
          <a:p xmlns:a="http://schemas.openxmlformats.org/drawingml/2006/main">
            <a:r>
              <a:t>pipeline.predict applies the already learned imputer to new inputs before predicting. It does not recalculate medians from the new inputs.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Previous slide: Read the pipeline tools before combining them.</a:t>
            </a:r>
          </a:p>
          <a:p xmlns:a="http://schemas.openxmlformats.org/drawingml/2006/main">
            <a:r>
              <a:t/>
            </a:r>
          </a:p>
          <a:p xmlns:a="http://schemas.openxmlformats.org/drawingml/2006/main">
            <a:r>
              <a:t>EXPLAIN</a:t>
            </a:r>
          </a:p>
          <a:p xmlns:a="http://schemas.openxmlformats.org/drawingml/2006/main">
            <a:r>
              <a:t>SimpleImputer learns one median for each training column. make_pipeline connects this step to the model. fit learns both steps using only the training examples. predict reuses them on new inputs.</a:t>
            </a:r>
          </a:p>
          <a:p xmlns:a="http://schemas.openxmlformats.org/drawingml/2006/main">
            <a:r>
              <a:t/>
            </a:r>
          </a:p>
          <a:p xmlns:a="http://schemas.openxmlformats.org/drawingml/2006/main">
            <a:r>
              <a:t>No target is supplied to predict.</a:t>
            </a:r>
          </a:p>
          <a:p xmlns:a="http://schemas.openxmlformats.org/drawingml/2006/main">
            <a:r>
              <a:t/>
            </a:r>
          </a:p>
          <a:p xmlns:a="http://schemas.openxmlformats.org/drawingml/2006/main">
            <a:r>
              <a:t>The two inputs here are invented practice measurements.</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training-only fill step.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training-only fill step</a:t>
            </a:r>
          </a:p>
          <a:p xmlns:a="http://schemas.openxmlformats.org/drawingml/2006/main">
            <a:r>
              <a:t/>
            </a:r>
          </a:p>
          <a:p xmlns:a="http://schemas.openxmlformats.org/drawingml/2006/main">
            <a:r>
              <a:t>CONNECT</a:t>
            </a:r>
          </a:p>
          <a:p xmlns:a="http://schemas.openxmlformats.org/drawingml/2006/main">
            <a:r>
              <a:t>Previous slide: Preprocessing learned from training only.</a:t>
            </a:r>
          </a:p>
          <a:p xmlns:a="http://schemas.openxmlformats.org/drawingml/2006/main">
            <a:r>
              <a:t/>
            </a:r>
          </a:p>
          <a:p xmlns:a="http://schemas.openxmlformats.org/drawingml/2006/main">
            <a:r>
              <a:t>EXPLAIN</a:t>
            </a:r>
          </a:p>
          <a:p xmlns:a="http://schemas.openxmlformats.org/drawingml/2006/main">
            <a:r>
              <a:t>Stage | Second feature values | Action</a:t>
            </a:r>
          </a:p>
          <a:p xmlns:a="http://schemas.openxmlformats.org/drawingml/2006/main">
            <a:r>
              <a:t/>
            </a:r>
          </a:p>
          <a:p xmlns:a="http://schemas.openxmlformats.org/drawingml/2006/main">
            <a:r>
              <a:t>Training input | 20, 22, missing, 24 | Learn median 22</a:t>
            </a:r>
          </a:p>
          <a:p xmlns:a="http://schemas.openxmlformats.org/drawingml/2006/main">
            <a:r>
              <a:t/>
            </a:r>
          </a:p>
          <a:p xmlns:a="http://schemas.openxmlformats.org/drawingml/2006/main">
            <a:r>
              <a:t>Training after filling | 20, 22, 22, 24 | Fit the model</a:t>
            </a:r>
          </a:p>
          <a:p xmlns:a="http://schemas.openxmlformats.org/drawingml/2006/main">
            <a:r>
              <a:t/>
            </a:r>
          </a:p>
          <a:p xmlns:a="http://schemas.openxmlformats.org/drawingml/2006/main">
            <a:r>
              <a:t>New input | Missing second value | Fill with saved 22</a:t>
            </a:r>
          </a:p>
          <a:p xmlns:a="http://schemas.openxmlformats.org/drawingml/2006/main">
            <a:r>
              <a:t/>
            </a:r>
          </a:p>
          <a:p xmlns:a="http://schemas.openxmlformats.org/drawingml/2006/main">
            <a:r>
              <a:t>No new median is learned during prediction. The model receives the prepared numeric row.</a:t>
            </a:r>
          </a:p>
          <a:p xmlns:a="http://schemas.openxmlformats.org/drawingml/2006/main">
            <a:r>
              <a:t/>
            </a:r>
          </a:p>
          <a:p xmlns:a="http://schemas.openxmlformats.org/drawingml/2006/main">
            <a:r>
              <a:t>Read the rows in order. No new median is learned during prediction. The model receives the prepared numeric row.</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 in Python (1/2).</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Previous slide: Trace the training-only fill step.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Previous slide: Preprocessing learned from training only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records into a feature 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Previous slide: Preprocessing learned from training only in Python (2/2).</a:t>
            </a:r>
          </a:p>
          <a:p xmlns:a="http://schemas.openxmlformats.org/drawingml/2006/main">
            <a:r>
              <a:t/>
            </a:r>
          </a:p>
          <a:p xmlns:a="http://schemas.openxmlformats.org/drawingml/2006/main">
            <a:r>
              <a:t>EXPLAIN</a:t>
            </a:r>
          </a:p>
          <a:p xmlns:a="http://schemas.openxmlformats.org/drawingml/2006/main">
            <a:r>
              <a:t>Each inner list is one row, in the same order as the input records.</a:t>
            </a:r>
          </a:p>
          <a:p xmlns:a="http://schemas.openxmlformats.org/drawingml/2006/main">
            <a:r>
              <a:t/>
            </a:r>
          </a:p>
          <a:p xmlns:a="http://schemas.openxmlformats.org/drawingml/2006/main">
            <a:r>
              <a:t>The target list uses that same row order.</a:t>
            </a:r>
          </a:p>
          <a:p xmlns:a="http://schemas.openxmlformats.org/drawingml/2006/main">
            <a:r>
              <a:t/>
            </a:r>
          </a:p>
          <a:p xmlns:a="http://schemas.openxmlformats.org/drawingml/2006/main">
            <a:r>
              <a:t>The feature table has no answer column.</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records into a feature table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Previous slide: Reading records into a feature table.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Complete practice code:</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MAE and RMSE.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Previous slide: Reading records into a feature table in Python.</a:t>
            </a:r>
          </a:p>
          <a:p xmlns:a="http://schemas.openxmlformats.org/drawingml/2006/main">
            <a:r>
              <a:t/>
            </a:r>
          </a:p>
          <a:p xmlns:a="http://schemas.openxmlformats.org/drawingml/2006/main">
            <a:r>
              <a:t>EXPLAIN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prediction error in ordinary numbers.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Previous slide: MAE and RMSE.</a:t>
            </a:r>
          </a:p>
          <a:p xmlns:a="http://schemas.openxmlformats.org/drawingml/2006/main">
            <a:r>
              <a:t/>
            </a:r>
          </a:p>
          <a:p xmlns:a="http://schemas.openxmlformats.org/drawingml/2006/main">
            <a:r>
              <a:t>EXPLAIN</a:t>
            </a:r>
          </a:p>
          <a:p xmlns:a="http://schemas.openxmlformats.org/drawingml/2006/main">
            <a:r>
              <a:t>Actual | Prediction | Absolute error</a:t>
            </a:r>
          </a:p>
          <a:p xmlns:a="http://schemas.openxmlformats.org/drawingml/2006/main">
            <a:r>
              <a:t/>
            </a:r>
          </a:p>
          <a:p xmlns:a="http://schemas.openxmlformats.org/drawingml/2006/main">
            <a:r>
              <a:t>10 | 8 | 2</a:t>
            </a:r>
          </a:p>
          <a:p xmlns:a="http://schemas.openxmlformats.org/drawingml/2006/main">
            <a:r>
              <a:t/>
            </a:r>
          </a:p>
          <a:p xmlns:a="http://schemas.openxmlformats.org/drawingml/2006/main">
            <a:r>
              <a:t>20 | 24 | 4</a:t>
            </a:r>
          </a:p>
          <a:p xmlns:a="http://schemas.openxmlformats.org/drawingml/2006/main">
            <a:r>
              <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LECTURER CUE</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operations in the error calculation.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Previous slide: A prediction error in ordinary numbers.</a:t>
            </a:r>
          </a:p>
          <a:p xmlns:a="http://schemas.openxmlformats.org/drawingml/2006/main">
            <a:r>
              <a:t/>
            </a:r>
          </a:p>
          <a:p xmlns:a="http://schemas.openxmlformats.org/drawingml/2006/main">
            <a:r>
              <a:t>EXPLAIN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Pair two lists using zip.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Pair two lists using zip</a:t>
            </a:r>
          </a:p>
          <a:p xmlns:a="http://schemas.openxmlformats.org/drawingml/2006/main">
            <a:r>
              <a:t/>
            </a:r>
          </a:p>
          <a:p xmlns:a="http://schemas.openxmlformats.org/drawingml/2006/main">
            <a:r>
              <a:t>CONNECT</a:t>
            </a:r>
          </a:p>
          <a:p xmlns:a="http://schemas.openxmlformats.org/drawingml/2006/main">
            <a:r>
              <a:t>Previous slide: The operations in the error calculation.</a:t>
            </a:r>
          </a:p>
          <a:p xmlns:a="http://schemas.openxmlformats.org/drawingml/2006/main">
            <a:r>
              <a:t/>
            </a:r>
          </a:p>
          <a:p xmlns:a="http://schemas.openxmlformats.org/drawingml/2006/main">
            <a:r>
              <a:t>EXPLAIN</a:t>
            </a:r>
          </a:p>
          <a:p xmlns:a="http://schemas.openxmlformats.org/drawingml/2006/main">
            <a:r>
              <a:t>zip(actual, predicted) visits matching positions together. for truth, guess in zip(...): unpacks each pair into two names.</a:t>
            </a:r>
          </a:p>
          <a:p xmlns:a="http://schemas.openxmlformats.org/drawingml/2006/main">
            <a:r>
              <a:t/>
            </a:r>
          </a:p>
          <a:p xmlns:a="http://schemas.openxmlformats.org/drawingml/2006/main">
            <a:r>
              <a:t>For actual [10, 20] and predicted [12, 16], the pairs are (10, 12) and (20, 16). They describe the same observations in the same order.</a:t>
            </a:r>
          </a:p>
          <a:p xmlns:a="http://schemas.openxmlformats.org/drawingml/2006/main">
            <a:r>
              <a:t/>
            </a:r>
          </a:p>
          <a:p xmlns:a="http://schemas.openxmlformats.org/drawingml/2006/main">
            <a:r>
              <a:t>zip stops at the shorter input. Check equal, nonzero lengths for these error calculations; otherwise a result could ignore observations.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Inspect the pairs before measuring errors.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pairs before measuring errors</a:t>
            </a:r>
          </a:p>
          <a:p xmlns:a="http://schemas.openxmlformats.org/drawingml/2006/main">
            <a:r>
              <a:t/>
            </a:r>
          </a:p>
          <a:p xmlns:a="http://schemas.openxmlformats.org/drawingml/2006/main">
            <a:r>
              <a:t>CONNECT</a:t>
            </a:r>
          </a:p>
          <a:p xmlns:a="http://schemas.openxmlformats.org/drawingml/2006/main">
            <a:r>
              <a:t>Previous slide: Pair two lists using zip.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actual = [10, 20]</a:t>
            </a:r>
          </a:p>
          <a:p xmlns:a="http://schemas.openxmlformats.org/drawingml/2006/main">
            <a:r>
              <a:t>predicted = [12, 16]</a:t>
            </a:r>
          </a:p>
          <a:p xmlns:a="http://schemas.openxmlformats.org/drawingml/2006/main">
            <a:r>
              <a:t>for truth, guess in zip(actual, predicted):</a:t>
            </a:r>
          </a:p>
          <a:p xmlns:a="http://schemas.openxmlformats.org/drawingml/2006/main">
            <a:r>
              <a:t>    print(truth, guess)</a:t>
            </a:r>
          </a:p>
          <a:p xmlns:a="http://schemas.openxmlformats.org/drawingml/2006/main">
            <a:r>
              <a:t/>
            </a:r>
          </a:p>
          <a:p xmlns:a="http://schemas.openxmlformats.org/drawingml/2006/main">
            <a:r>
              <a:t>The first names receive the first pair, then the second pair.</a:t>
            </a:r>
          </a:p>
          <a:p xmlns:a="http://schemas.openxmlformats.org/drawingml/2006/main">
            <a:r>
              <a:t/>
            </a:r>
          </a:p>
          <a:p xmlns:a="http://schemas.openxmlformats.org/drawingml/2006/main">
            <a:r>
              <a:t>Output: 10 12; 20 16</a:t>
            </a:r>
          </a:p>
          <a:p xmlns:a="http://schemas.openxmlformats.org/drawingml/2006/main">
            <a:r>
              <a:t/>
            </a:r>
          </a:p>
          <a:p xmlns:a="http://schemas.openxmlformats.org/drawingml/2006/main">
            <a:r>
              <a:t>Expected printed output:</a:t>
            </a:r>
          </a:p>
          <a:p xmlns:a="http://schemas.openxmlformats.org/drawingml/2006/main">
            <a:r>
              <a:t>10 12</a:t>
            </a:r>
          </a:p>
          <a:p xmlns:a="http://schemas.openxmlformats.org/drawingml/2006/main">
            <a:r>
              <a:t>20 16</a:t>
            </a:r>
          </a:p>
          <a:p xmlns:a="http://schemas.openxmlformats.org/drawingml/2006/main">
            <a:r>
              <a:t/>
            </a:r>
          </a:p>
          <a:p xmlns:a="http://schemas.openxmlformats.org/drawingml/2006/main">
            <a:r>
              <a:t>Run the complete cell, then trace each line. Expected output:</a:t>
            </a:r>
          </a:p>
          <a:p xmlns:a="http://schemas.openxmlformats.org/drawingml/2006/main">
            <a:r>
              <a:t>10 12</a:t>
            </a:r>
          </a:p>
          <a:p xmlns:a="http://schemas.openxmlformats.org/drawingml/2006/main">
            <a:r>
              <a:t>20 16</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absolute and squared errors.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absolute and squared errors</a:t>
            </a:r>
          </a:p>
          <a:p xmlns:a="http://schemas.openxmlformats.org/drawingml/2006/main">
            <a:r>
              <a:t/>
            </a:r>
          </a:p>
          <a:p xmlns:a="http://schemas.openxmlformats.org/drawingml/2006/main">
            <a:r>
              <a:t>CONNECT</a:t>
            </a:r>
          </a:p>
          <a:p xmlns:a="http://schemas.openxmlformats.org/drawingml/2006/main">
            <a:r>
              <a:t>Previous slide: Inspect the pairs before measuring errors.</a:t>
            </a:r>
          </a:p>
          <a:p xmlns:a="http://schemas.openxmlformats.org/drawingml/2006/main">
            <a:r>
              <a:t/>
            </a:r>
          </a:p>
          <a:p xmlns:a="http://schemas.openxmlformats.org/drawingml/2006/main">
            <a:r>
              <a:t>EXPLAIN</a:t>
            </a:r>
          </a:p>
          <a:p xmlns:a="http://schemas.openxmlformats.org/drawingml/2006/main">
            <a:r>
              <a:t>Actual and predicted | Absolute error | Squared error</a:t>
            </a:r>
          </a:p>
          <a:p xmlns:a="http://schemas.openxmlformats.org/drawingml/2006/main">
            <a:r>
              <a:t/>
            </a:r>
          </a:p>
          <a:p xmlns:a="http://schemas.openxmlformats.org/drawingml/2006/main">
            <a:r>
              <a:t>10 and 12 | abs(-2) = 2 | (-2) ** 2 = 4</a:t>
            </a:r>
          </a:p>
          <a:p xmlns:a="http://schemas.openxmlformats.org/drawingml/2006/main">
            <a:r>
              <a:t/>
            </a:r>
          </a:p>
          <a:p xmlns:a="http://schemas.openxmlformats.org/drawingml/2006/main">
            <a:r>
              <a:t>20 and 16 | abs(4) = 4 | 4 ** 2 = 16</a:t>
            </a:r>
          </a:p>
          <a:p xmlns:a="http://schemas.openxmlformats.org/drawingml/2006/main">
            <a:r>
              <a:t/>
            </a:r>
          </a:p>
          <a:p xmlns:a="http://schemas.openxmlformats.org/drawingml/2006/main">
            <a:r>
              <a:t>Average | (2 + 4) / 2 = 3 | (4 + 16) / 2 = 10</a:t>
            </a:r>
          </a:p>
          <a:p xmlns:a="http://schemas.openxmlformats.org/drawingml/2006/main">
            <a:r>
              <a:t/>
            </a:r>
          </a:p>
          <a:p xmlns:a="http://schemas.openxmlformats.org/drawingml/2006/main">
            <a:r>
              <a:t>MAE is 3. RMSE is sqrt(10), approximately 3.1623. sqrt means the nonnegative square root.</a:t>
            </a:r>
          </a:p>
          <a:p xmlns:a="http://schemas.openxmlformats.org/drawingml/2006/main">
            <a:r>
              <a:t/>
            </a:r>
          </a:p>
          <a:p xmlns:a="http://schemas.openxmlformats.org/drawingml/2006/main">
            <a:r>
              <a:t>Read the rows in order. MAE is 3. RMSE is sqrt(10), approximately 3.1623. sqrt means the nonnegative square root.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Previous slide: Trace absolute and squared errors.</a:t>
            </a:r>
          </a:p>
          <a:p xmlns:a="http://schemas.openxmlformats.org/drawingml/2006/main">
            <a:r>
              <a:t/>
            </a:r>
          </a:p>
          <a:p xmlns:a="http://schemas.openxmlformats.org/drawingml/2006/main">
            <a:r>
              <a:t>EXPLAIN</a:t>
            </a:r>
          </a:p>
          <a:p xmlns:a="http://schemas.openxmlformats.org/drawingml/2006/main">
            <a:r>
              <a:t>zip pairs corresponding values. abs measures error size.</a:t>
            </a:r>
          </a:p>
          <a:p xmlns:a="http://schemas.openxmlformats.org/drawingml/2006/main">
            <a:r>
              <a:t/>
            </a:r>
          </a:p>
          <a:p xmlns:a="http://schemas.openxmlformats.org/drawingml/2006/main">
            <a:r>
              <a:t>Squaring emphasises large errors; taking the square root returns to the original unit.</a:t>
            </a:r>
          </a:p>
          <a:p xmlns:a="http://schemas.openxmlformats.org/drawingml/2006/main">
            <a:r>
              <a:t/>
            </a:r>
          </a:p>
          <a:p xmlns:a="http://schemas.openxmlformats.org/drawingml/2006/main">
            <a:r>
              <a:t>These functions assume equal-length, nonempty paired observations.</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Previous slide: Two error measures.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zip pairs items at matching positions in these equal-length lists.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Previous slide: Two error measures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R² compares against a mean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Previous slide: Two error measures in Python (2/2).</a:t>
            </a:r>
          </a:p>
          <a:p xmlns:a="http://schemas.openxmlformats.org/drawingml/2006/main">
            <a:r>
              <a:t/>
            </a:r>
          </a:p>
          <a:p xmlns:a="http://schemas.openxmlformats.org/drawingml/2006/main">
            <a:r>
              <a:t>EXPLAIN</a:t>
            </a:r>
          </a:p>
          <a:p xmlns:a="http://schemas.openxmlformats.org/drawingml/2006/main">
            <a:r>
              <a:t>R² compares squared errors with predicting the mean of the evaluated targets. It is a score, not “percentage accuracy”.</a:t>
            </a:r>
          </a:p>
          <a:p xmlns:a="http://schemas.openxmlformats.org/drawingml/2006/main">
            <a:r>
              <a:t/>
            </a:r>
          </a:p>
          <a:p xmlns:a="http://schemas.openxmlformats.org/drawingml/2006/main">
            <a:r>
              <a:t>1 means perfect predictions on those observations. 0 matches that mean-prediction reference; a negative score can be worse.</a:t>
            </a:r>
          </a:p>
          <a:p xmlns:a="http://schemas.openxmlformats.org/drawingml/2006/main">
            <a:r>
              <a:t/>
            </a:r>
          </a:p>
          <a:p xmlns:a="http://schemas.openxmlformats.org/drawingml/2006/main">
            <a:r>
              <a:t>Use the same evaluation observations and report the specified error metric with its units. Constant targets need special handling; this score alone does not prove usefulness.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R² compares against a mean prediction.</a:t>
            </a:r>
          </a:p>
          <a:p xmlns:a="http://schemas.openxmlformats.org/drawingml/2006/main">
            <a:r>
              <a:t/>
            </a:r>
          </a:p>
          <a:p xmlns:a="http://schemas.openxmlformats.org/drawingml/2006/main">
            <a:r>
              <a:t>EXPLAIN</a:t>
            </a:r>
          </a:p>
          <a:p xmlns:a="http://schemas.openxmlformats.org/drawingml/2006/main">
            <a:r>
              <a:t>Example: On paper compare actual [10, 20] with predictions [12, 16]. Find MAE and RMSE. Is MAE a plus/minus guarantee for each prediction?</a:t>
            </a:r>
          </a:p>
          <a:p xmlns:a="http://schemas.openxmlformats.org/drawingml/2006/main">
            <a:r>
              <a:t/>
            </a:r>
          </a:p>
          <a:p xmlns:a="http://schemas.openxmlformats.org/drawingml/2006/main">
            <a:r>
              <a:t>Answer: Absolute errors are 2 and 4: MAE 3. Squared errors 4 and 16: RMSE sqrt(10), about 3.162. MAE is an average, not an individual error bound.</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Absolute errors are 2 and 4: MAE 3. Squared errors 4 and 16: RMSE sqrt(10), about 3.162. MAE is an average, not an individual error bound.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W08 asks for baseline, linear and depth-4 tree prediction lists plus error metrics.</a:t>
            </a:r>
          </a:p>
          <a:p xmlns:a="http://schemas.openxmlformats.org/drawingml/2006/main">
            <a:r>
              <a:t/>
            </a:r>
          </a:p>
          <a:p xmlns:a="http://schemas.openxmlformats.org/drawingml/2006/main">
            <a:r>
              <a:t>Fit missing-value replacement on training data.</a:t>
            </a:r>
          </a:p>
          <a:p xmlns:a="http://schemas.openxmlformats.org/drawingml/2006/main">
            <a:r>
              <a:t/>
            </a:r>
          </a:p>
          <a:p xmlns:a="http://schemas.openxmlformats.org/drawingml/2006/main">
            <a:r>
              <a:t>A Pipeline joins preprocessing to the model.</a:t>
            </a:r>
          </a:p>
          <a:p xmlns:a="http://schemas.openxmlformats.org/drawingml/2006/main">
            <a:r>
              <a:t/>
            </a:r>
          </a:p>
          <a:p xmlns:a="http://schemas.openxmlformats.org/drawingml/2006/main">
            <a:r>
              <a:t>Only load_pct and ambient_c are predictors.</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Keep observations from the same equipment in one partition.</a:t>
            </a:r>
          </a:p>
          <a:p xmlns:a="http://schemas.openxmlformats.org/drawingml/2006/main">
            <a:r>
              <a:t/>
            </a:r>
          </a:p>
          <a:p xmlns:a="http://schemas.openxmlformats.org/drawingml/2006/main">
            <a:r>
              <a:t>The written comparison supplies scenario values.</a:t>
            </a:r>
          </a:p>
          <a:p xmlns:a="http://schemas.openxmlformats.org/drawingml/2006/main">
            <a:r>
              <a:t/>
            </a:r>
          </a:p>
          <a:p xmlns:a="http://schemas.openxmlformats.org/drawingml/2006/main">
            <a:r>
              <a:t>Distinguish them from your own measured results.</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model outputs.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A score on training rows describes training fit.</a:t>
            </a:r>
          </a:p>
          <a:p xmlns:a="http://schemas.openxmlformats.org/drawingml/2006/main">
            <a:r>
              <a:t/>
            </a:r>
          </a:p>
          <a:p xmlns:a="http://schemas.openxmlformats.org/drawingml/2006/main">
            <a:r>
              <a:t>A feature table must preserve the training column names, order and units during prediction.</a:t>
            </a:r>
          </a:p>
          <a:p xmlns:a="http://schemas.openxmlformats.org/drawingml/2006/main">
            <a:r>
              <a:t/>
            </a:r>
          </a:p>
          <a:p xmlns:a="http://schemas.openxmlformats.org/drawingml/2006/main">
            <a:r>
              <a:t>A one-dimensional list may have the wrong shape for a model expecting rows and columns.</a:t>
            </a:r>
          </a:p>
          <a:p xmlns:a="http://schemas.openxmlformats.org/drawingml/2006/main">
            <a:r>
              <a:t/>
            </a:r>
          </a:p>
          <a:p xmlns:a="http://schemas.openxmlformats.org/drawingml/2006/main">
            <a:r>
              <a:t>A predicted-versus-actual plot uses the diagonal as perfect agreement; a pattern is not proof of causation.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model outputs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Previous slide: Reading model outputs.</a:t>
            </a:r>
          </a:p>
          <a:p xmlns:a="http://schemas.openxmlformats.org/drawingml/2006/main">
            <a:r>
              <a:t/>
            </a:r>
          </a:p>
          <a:p xmlns:a="http://schemas.openxmlformats.org/drawingml/2006/main">
            <a:r>
              <a:t>EXPLAIN</a:t>
            </a:r>
          </a:p>
          <a:p xmlns:a="http://schemas.openxmlformats.org/drawingml/2006/main">
            <a:r>
              <a:t>Judge MAE against the baseline and the decision’s acceptable error.</a:t>
            </a:r>
          </a:p>
          <a:p xmlns:a="http://schemas.openxmlformats.org/drawingml/2006/main">
            <a:r>
              <a:t/>
            </a:r>
          </a:p>
          <a:p xmlns:a="http://schemas.openxmlformats.org/drawingml/2006/main">
            <a:r>
              <a:t>R² is not an accuracy percentage.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Reading model outputs continued.</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predict_regression(training_records, feature_records).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regression_errors(actual, predicted).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Previous slide: predict_regression(training_records, feature_records).</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regression_errors(actual, predicted).</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 and baseline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30 Oct 2026, 11:00 Kampala</a:t>
            </a:r>
          </a:p>
          <a:p xmlns:a="http://schemas.openxmlformats.org/drawingml/2006/main">
            <a:r>
              <a:t/>
            </a:r>
          </a:p>
          <a:p xmlns:a="http://schemas.openxmlformats.org/drawingml/2006/main">
            <a:r>
              <a:t>Deadline: 06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Previous slide: Regression and baseline submission.</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Individual contribution log (5.0 total): Present, specific, and consistent with the repository's commit history.</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Opens: 09 Oct 2026, 11:00 Kampala</a:t>
            </a:r>
          </a:p>
          <a:p xmlns:a="http://schemas.openxmlformats.org/drawingml/2006/main">
            <a:r>
              <a:t/>
            </a:r>
          </a:p>
          <a:p xmlns:a="http://schemas.openxmlformats.org/drawingml/2006/main">
            <a:r>
              <a:t>Deadline: 30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8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Previous slide: Data analysis project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open_W8_CML3111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8 quiz.</a:t>
            </a:r>
          </a:p>
          <a:p xmlns:a="http://schemas.openxmlformats.org/drawingml/2006/main">
            <a:r>
              <a:t/>
            </a:r>
          </a:p>
          <a:p xmlns:a="http://schemas.openxmlformats.org/drawingml/2006/main">
            <a:r>
              <a:t>EXPLAIN</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Draw an actual value and a prediction, then identify their difference.</a:t>
            </a:r>
          </a:p>
          <a:p xmlns:a="http://schemas.openxmlformats.org/drawingml/2006/main">
            <a:r>
              <a:t>Preview before class and stop after the selected short excerpt. If playback fails, teach the worked example. Video is optional. Source: https://www.youtube.com/watch?v=aFDOzpTeg0s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cafccacd424d3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276143fce7b40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ef8e15b727e402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82b8e8efc5141d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20b3c6b77b6457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8e02f4a95ae43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2636CF2-89D3-46BD-81CA-D4E5FA751BF1}"/>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0B29E5B-4C25-4E91-B556-722A3BBFC67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110D9C27-4540-4587-A1C1-29AB8F51B3E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33834C6-F69C-4E33-92C7-7E86D6AD390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CB0E05C-1FB9-40A5-A7C8-CEAFD210A6E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1113F1-0E4D-4BAE-AF5D-E21E159C597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DFB7988-9A13-41BB-A09C-F4C0DA2BB53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99B3DB5-D8A0-41E0-BC0F-B8A4E20CFEA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FE4E974-141F-4D66-BBEA-8456E104D99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49FA187-FD8B-4CB2-84BA-C0CE2B22DD4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FB73400-ECCF-4560-BEC2-D9763428FBA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AD8FD072-9F9E-45EB-8418-CBEC5F34C05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8ACA57A-3F6E-4C97-8688-A5FF552BC94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D7D7595-8D2A-42B9-8B1C-268EB9158D5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827DDDE-A2E0-4310-91ED-B1B8ABA6979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a84e6020f14efc" /><Relationship Type="http://schemas.openxmlformats.org/officeDocument/2006/relationships/slideLayout" Target="/ppt/slideLayouts/slideLayout1.xml" Id="R64994c1d850f44e6" /><Relationship Type="http://schemas.openxmlformats.org/officeDocument/2006/relationships/slideLayout" Target="/ppt/slideLayouts/slideLayout2.xml" Id="R0aeb626bd2fd4452" /><Relationship Type="http://schemas.openxmlformats.org/officeDocument/2006/relationships/slideLayout" Target="/ppt/slideLayouts/slideLayout3.xml" Id="Rcb1cfea8a42e4de7" /><Relationship Type="http://schemas.openxmlformats.org/officeDocument/2006/relationships/slideLayout" Target="/ppt/slideLayouts/slideLayout4.xml" Id="R275a74ac18d34fbd" /><Relationship Type="http://schemas.openxmlformats.org/officeDocument/2006/relationships/slideLayout" Target="/ppt/slideLayouts/slideLayout5.xml" Id="R4e845964bfb94b34" /><Relationship Type="http://schemas.openxmlformats.org/officeDocument/2006/relationships/slideLayout" Target="/ppt/slideLayouts/slideLayout6.xml" Id="R5f67edac92084f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994c1d850f44e6"/>
    <p:sldLayoutId xmlns:r="http://schemas.openxmlformats.org/officeDocument/2006/relationships" id="2147483650" r:id="R0aeb626bd2fd4452"/>
    <p:sldLayoutId xmlns:r="http://schemas.openxmlformats.org/officeDocument/2006/relationships" id="2147483651" r:id="Rcb1cfea8a42e4de7"/>
    <p:sldLayoutId xmlns:r="http://schemas.openxmlformats.org/officeDocument/2006/relationships" id="2147483652" r:id="R275a74ac18d34fbd"/>
    <p:sldLayoutId xmlns:r="http://schemas.openxmlformats.org/officeDocument/2006/relationships" id="2147483653" r:id="R4e845964bfb94b34"/>
    <p:sldLayoutId xmlns:r="http://schemas.openxmlformats.org/officeDocument/2006/relationships" id="2147483654" r:id="R5f67edac92084f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779ee31c3440fb" /><Relationship Type="http://schemas.openxmlformats.org/officeDocument/2006/relationships/image" Target="/ppt/media/image.png" Id="R3f23d0042e434bf6" /><Relationship Type="http://schemas.openxmlformats.org/officeDocument/2006/relationships/notesSlide" Target="/ppt/notesSlides/notesSlide1.xml" Id="Rd1d8bf2f200447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d0cd9461cf14494" /><Relationship Type="http://schemas.openxmlformats.org/officeDocument/2006/relationships/notesSlide" Target="/ppt/notesSlides/notesSlide2.xml" Id="Rbd211611304040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ae3a6276fab405e" /><Relationship Type="http://schemas.openxmlformats.org/officeDocument/2006/relationships/notesSlide" Target="/ppt/notesSlides/notesSlide3.xml" Id="R002b07575b5f47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9281189abe44197" /><Relationship Type="http://schemas.openxmlformats.org/officeDocument/2006/relationships/notesSlide" Target="/ppt/notesSlides/notesSlide4.xml" Id="R8e1cc5fc62da40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782bfd29bd44fc9" /><Relationship Type="http://schemas.openxmlformats.org/officeDocument/2006/relationships/notesSlide" Target="/ppt/notesSlides/notesSlide5.xml" Id="R8e8fcccfc62344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7405081f8f44562" /><Relationship Type="http://schemas.openxmlformats.org/officeDocument/2006/relationships/notesSlide" Target="/ppt/notesSlides/notesSlide6.xml" Id="Re3ed114bcea64c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44fea2f4db4a59" /><Relationship Type="http://schemas.openxmlformats.org/officeDocument/2006/relationships/notesSlide" Target="/ppt/notesSlides/notesSlide7.xml" Id="R9a0ebef58a214c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baf85176bbb418f" /><Relationship Type="http://schemas.openxmlformats.org/officeDocument/2006/relationships/notesSlide" Target="/ppt/notesSlides/notesSlide8.xml" Id="R1d5709f1361c45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20cc98006954867" /><Relationship Type="http://schemas.openxmlformats.org/officeDocument/2006/relationships/notesSlide" Target="/ppt/notesSlides/notesSlide9.xml" Id="Rc36f77a4a20e465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019a616088e42d1" /><Relationship Type="http://schemas.openxmlformats.org/officeDocument/2006/relationships/notesSlide" Target="/ppt/notesSlides/notesSlide10.xml" Id="Rce893263025f46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b84af3a99d34750" /><Relationship Type="http://schemas.openxmlformats.org/officeDocument/2006/relationships/notesSlide" Target="/ppt/notesSlides/notesSlide11.xml" Id="R4855c5d42fae40e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650423923b94430" /><Relationship Type="http://schemas.openxmlformats.org/officeDocument/2006/relationships/image" Target="/ppt/media/image2.png" Id="R8d944ce6c0c0492f" /><Relationship Type="http://schemas.openxmlformats.org/officeDocument/2006/relationships/notesSlide" Target="/ppt/notesSlides/notesSlide12.xml" Id="Rbac1fd20423f4f0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eb403a73e9243b6" /><Relationship Type="http://schemas.openxmlformats.org/officeDocument/2006/relationships/notesSlide" Target="/ppt/notesSlides/notesSlide13.xml" Id="R5544d8ea12a044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d326e179dc040c8" /><Relationship Type="http://schemas.openxmlformats.org/officeDocument/2006/relationships/notesSlide" Target="/ppt/notesSlides/notesSlide14.xml" Id="R108cc8956b0545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25fd0af431249ec" /><Relationship Type="http://schemas.openxmlformats.org/officeDocument/2006/relationships/notesSlide" Target="/ppt/notesSlides/notesSlide15.xml" Id="R6bac181cdc5b40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0e9272974b240a7" /><Relationship Type="http://schemas.openxmlformats.org/officeDocument/2006/relationships/notesSlide" Target="/ppt/notesSlides/notesSlide16.xml" Id="R20c237780fd948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65ea3f4b2014145" /><Relationship Type="http://schemas.openxmlformats.org/officeDocument/2006/relationships/notesSlide" Target="/ppt/notesSlides/notesSlide17.xml" Id="R7f0e33335b6e4a0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3d87ac4e83d4ba4" /><Relationship Type="http://schemas.openxmlformats.org/officeDocument/2006/relationships/notesSlide" Target="/ppt/notesSlides/notesSlide18.xml" Id="Rd6e2c4e6e8ef416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eb2d092ead54196" /><Relationship Type="http://schemas.openxmlformats.org/officeDocument/2006/relationships/notesSlide" Target="/ppt/notesSlides/notesSlide19.xml" Id="Rf2e48e9e443c46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bf1944eca664c45" /><Relationship Type="http://schemas.openxmlformats.org/officeDocument/2006/relationships/notesSlide" Target="/ppt/notesSlides/notesSlide20.xml" Id="R9b5741b3e3d949b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681f5042b354b8c" /><Relationship Type="http://schemas.openxmlformats.org/officeDocument/2006/relationships/notesSlide" Target="/ppt/notesSlides/notesSlide21.xml" Id="R546382888c4a42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1cffdab6c1345ab" /><Relationship Type="http://schemas.openxmlformats.org/officeDocument/2006/relationships/notesSlide" Target="/ppt/notesSlides/notesSlide22.xml" Id="R649ea48e938d474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c0c67b49b454e7a" /><Relationship Type="http://schemas.openxmlformats.org/officeDocument/2006/relationships/notesSlide" Target="/ppt/notesSlides/notesSlide23.xml" Id="Rfd042baf3d1a444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8446f5b4b144a3c" /><Relationship Type="http://schemas.openxmlformats.org/officeDocument/2006/relationships/notesSlide" Target="/ppt/notesSlides/notesSlide24.xml" Id="R07b0519618654de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7898a4ed6a644f9" /><Relationship Type="http://schemas.openxmlformats.org/officeDocument/2006/relationships/notesSlide" Target="/ppt/notesSlides/notesSlide25.xml" Id="R44071e2214e249e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01ddd8a0d1a4480" /><Relationship Type="http://schemas.openxmlformats.org/officeDocument/2006/relationships/notesSlide" Target="/ppt/notesSlides/notesSlide26.xml" Id="R4bcee3f295c141a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18c9f2d32a34d0e" /><Relationship Type="http://schemas.openxmlformats.org/officeDocument/2006/relationships/notesSlide" Target="/ppt/notesSlides/notesSlide27.xml" Id="Rbb97dcba532c4ae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ac8f569bc2e47d6" /><Relationship Type="http://schemas.openxmlformats.org/officeDocument/2006/relationships/notesSlide" Target="/ppt/notesSlides/notesSlide28.xml" Id="Rae031b6025164d9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817b0470d7a463c" /><Relationship Type="http://schemas.openxmlformats.org/officeDocument/2006/relationships/notesSlide" Target="/ppt/notesSlides/notesSlide29.xml" Id="Rdb6dc700d4a4409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30bff8f1a294441" /><Relationship Type="http://schemas.openxmlformats.org/officeDocument/2006/relationships/notesSlide" Target="/ppt/notesSlides/notesSlide30.xml" Id="Reba4386756bd418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0d0b07b76744ebd" /><Relationship Type="http://schemas.openxmlformats.org/officeDocument/2006/relationships/notesSlide" Target="/ppt/notesSlides/notesSlide31.xml" Id="Rd1b274ea64974a7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53d6c8c345e44a6" /><Relationship Type="http://schemas.openxmlformats.org/officeDocument/2006/relationships/notesSlide" Target="/ppt/notesSlides/notesSlide32.xml" Id="Rbdcd32ef9e48492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b34315aeeca4df2" /><Relationship Type="http://schemas.openxmlformats.org/officeDocument/2006/relationships/notesSlide" Target="/ppt/notesSlides/notesSlide33.xml" Id="R890cc10da43c48d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47dd3341ebe4688" /><Relationship Type="http://schemas.openxmlformats.org/officeDocument/2006/relationships/notesSlide" Target="/ppt/notesSlides/notesSlide34.xml" Id="Ra63b8a49d60c4a5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b6a9356e8a4457d" /><Relationship Type="http://schemas.openxmlformats.org/officeDocument/2006/relationships/notesSlide" Target="/ppt/notesSlides/notesSlide35.xml" Id="R49fd1a6ef9f0470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10d68e77d7e4dda" /><Relationship Type="http://schemas.openxmlformats.org/officeDocument/2006/relationships/notesSlide" Target="/ppt/notesSlides/notesSlide36.xml" Id="R306c4cbc16014d1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c1245629334463f" /><Relationship Type="http://schemas.openxmlformats.org/officeDocument/2006/relationships/notesSlide" Target="/ppt/notesSlides/notesSlide37.xml" Id="Ree51c0215ddf481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0b8c812fcdc4e94" /><Relationship Type="http://schemas.openxmlformats.org/officeDocument/2006/relationships/notesSlide" Target="/ppt/notesSlides/notesSlide38.xml" Id="R726e80f30cfb437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16acedbe9c7421e" /><Relationship Type="http://schemas.openxmlformats.org/officeDocument/2006/relationships/notesSlide" Target="/ppt/notesSlides/notesSlide39.xml" Id="R9e34117fa3284d0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0a64b4a4e4046af" /><Relationship Type="http://schemas.openxmlformats.org/officeDocument/2006/relationships/notesSlide" Target="/ppt/notesSlides/notesSlide40.xml" Id="R897b989cf0234cb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a0951e0f2ac4b4c" /><Relationship Type="http://schemas.openxmlformats.org/officeDocument/2006/relationships/notesSlide" Target="/ppt/notesSlides/notesSlide41.xml" Id="R74d17e8f73c747d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7a38d4a2b4d49f1" /><Relationship Type="http://schemas.openxmlformats.org/officeDocument/2006/relationships/notesSlide" Target="/ppt/notesSlides/notesSlide42.xml" Id="R34d137b83f46489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d356aea6ba649c5" /><Relationship Type="http://schemas.openxmlformats.org/officeDocument/2006/relationships/notesSlide" Target="/ppt/notesSlides/notesSlide43.xml" Id="R9a33fdb37dfe4c8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d1b8dda3a954458" /><Relationship Type="http://schemas.openxmlformats.org/officeDocument/2006/relationships/notesSlide" Target="/ppt/notesSlides/notesSlide44.xml" Id="R5ea5f36679af4b5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a7bd9363151496d" /><Relationship Type="http://schemas.openxmlformats.org/officeDocument/2006/relationships/notesSlide" Target="/ppt/notesSlides/notesSlide45.xml" Id="Rb8ccdd701cb94ab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303b06c1876431c" /><Relationship Type="http://schemas.openxmlformats.org/officeDocument/2006/relationships/notesSlide" Target="/ppt/notesSlides/notesSlide46.xml" Id="R17d36a43d685494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25b8c93d9f94af2" /><Relationship Type="http://schemas.openxmlformats.org/officeDocument/2006/relationships/notesSlide" Target="/ppt/notesSlides/notesSlide47.xml" Id="Refca445db256424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413605a744d4de7" /><Relationship Type="http://schemas.openxmlformats.org/officeDocument/2006/relationships/notesSlide" Target="/ppt/notesSlides/notesSlide48.xml" Id="Rac04d14ca8ec40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21eff26be794b03" /><Relationship Type="http://schemas.openxmlformats.org/officeDocument/2006/relationships/notesSlide" Target="/ppt/notesSlides/notesSlide49.xml" Id="R6920a00bb47f4a4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25217a4e43c44b7" /><Relationship Type="http://schemas.openxmlformats.org/officeDocument/2006/relationships/notesSlide" Target="/ppt/notesSlides/notesSlide50.xml" Id="R0be94193048c416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1c30a5d214e4a52" /><Relationship Type="http://schemas.openxmlformats.org/officeDocument/2006/relationships/notesSlide" Target="/ppt/notesSlides/notesSlide51.xml" Id="R1e619d13333a42f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a926630b7624ef4" /><Relationship Type="http://schemas.openxmlformats.org/officeDocument/2006/relationships/notesSlide" Target="/ppt/notesSlides/notesSlide52.xml" Id="R88b9eea820f749d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6119875c7b94295" /><Relationship Type="http://schemas.openxmlformats.org/officeDocument/2006/relationships/notesSlide" Target="/ppt/notesSlides/notesSlide53.xml" Id="Ra1cfdc91501f403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4c7a94aa7114b10" /><Relationship Type="http://schemas.openxmlformats.org/officeDocument/2006/relationships/notesSlide" Target="/ppt/notesSlides/notesSlide54.xml" Id="Rb7d0cf19eaf74d5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36b472d98314e12" /><Relationship Type="http://schemas.openxmlformats.org/officeDocument/2006/relationships/notesSlide" Target="/ppt/notesSlides/notesSlide55.xml" Id="Rfa2d645c47e042b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00022de6176d4278" /><Relationship Type="http://schemas.openxmlformats.org/officeDocument/2006/relationships/notesSlide" Target="/ppt/notesSlides/notesSlide56.xml" Id="R94ef77f6d75f40b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73594079a7004419" /><Relationship Type="http://schemas.openxmlformats.org/officeDocument/2006/relationships/notesSlide" Target="/ppt/notesSlides/notesSlide57.xml" Id="R0db128a106924f6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f542f1367dd49a9" /><Relationship Type="http://schemas.openxmlformats.org/officeDocument/2006/relationships/notesSlide" Target="/ppt/notesSlides/notesSlide58.xml" Id="R42f518395ae3423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34da2b98f32d4af8" /><Relationship Type="http://schemas.openxmlformats.org/officeDocument/2006/relationships/notesSlide" Target="/ppt/notesSlides/notesSlide59.xml" Id="R701562d589f94d8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d6fb8e776484e58" /><Relationship Type="http://schemas.openxmlformats.org/officeDocument/2006/relationships/hyperlink" Target="https://docs.google.com/forms/d/e/1FAIpQLSeAVNyokX8n-TQXwu2hQtJJkeKsQcU8katFAhghZmQH4HJreA/viewform" TargetMode="External" Id="Rbf30e917bfe64485" /><Relationship Type="http://schemas.openxmlformats.org/officeDocument/2006/relationships/notesSlide" Target="/ppt/notesSlides/notesSlide60.xml" Id="R43bc3674ef9f42e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c4a73315a61248c8" /><Relationship Type="http://schemas.openxmlformats.org/officeDocument/2006/relationships/notesSlide" Target="/ppt/notesSlides/notesSlide61.xml" Id="R452ec14534ce416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fb91349ea454b82" /><Relationship Type="http://schemas.openxmlformats.org/officeDocument/2006/relationships/notesSlide" Target="/ppt/notesSlides/notesSlide62.xml" Id="Rc116c0d897eb4de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feeb59180c7e42c0" /><Relationship Type="http://schemas.openxmlformats.org/officeDocument/2006/relationships/notesSlide" Target="/ppt/notesSlides/notesSlide63.xml" Id="R9e1f85591e884c2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8a88fa089f345b4" /><Relationship Type="http://schemas.openxmlformats.org/officeDocument/2006/relationships/notesSlide" Target="/ppt/notesSlides/notesSlide64.xml" Id="R40b106d3ddca432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4f0cbe4788d4848" /><Relationship Type="http://schemas.openxmlformats.org/officeDocument/2006/relationships/notesSlide" Target="/ppt/notesSlides/notesSlide65.xml" Id="R9128aa229a0b47b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5d49670f6874fc5" /><Relationship Type="http://schemas.openxmlformats.org/officeDocument/2006/relationships/hyperlink" Target="https://docs.google.com/forms/d/e/1FAIpQLSeFHqKnsIRNf8opU-Iksp55kGXQVFWPgL97r724FoRwvkz-6A/viewform" TargetMode="External" Id="Rbfa18bd3c74e4bac" /><Relationship Type="http://schemas.openxmlformats.org/officeDocument/2006/relationships/notesSlide" Target="/ppt/notesSlides/notesSlide66.xml" Id="R582a496c94664fb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49d17f956b845ff" /><Relationship Type="http://schemas.openxmlformats.org/officeDocument/2006/relationships/image" Target="/ppt/media/image3.png" Id="R4db61498323f48fc" /><Relationship Type="http://schemas.openxmlformats.org/officeDocument/2006/relationships/hyperlink" Target="https://forms.gle/KsZJ7QANUE99kkX36" TargetMode="External" Id="Rc0faf924c26d4652" /><Relationship Type="http://schemas.openxmlformats.org/officeDocument/2006/relationships/notesSlide" Target="/ppt/notesSlides/notesSlide67.xml" Id="Rb9967e4fb2794dc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59bdbdc1be8f4a39" /><Relationship Type="http://schemas.openxmlformats.org/officeDocument/2006/relationships/notesSlide" Target="/ppt/notesSlides/notesSlide68.xml" Id="Raf73bbd3e49c43a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5ae451a423d2428b" /><Relationship Type="http://schemas.openxmlformats.org/officeDocument/2006/relationships/hyperlink" Target="https://www.youtube.com/watch?v=aFDOzpTeg0s" TargetMode="External" Id="Rea1cd16fbcf34852" /><Relationship Type="http://schemas.openxmlformats.org/officeDocument/2006/relationships/notesSlide" Target="/ppt/notesSlides/notesSlide69.xml" Id="R203c4a0429154f5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f23d0042e434bf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D0F4486-5322-4BC0-96FC-6B95E7068C0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0B6B6A2-1847-4BAE-AD74-0EEA91A790B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8</a:t>
            </a:r>
          </a:p>
        </p:txBody>
      </p:sp>
      <p:sp>
        <p:nvSpPr>
          <p:cNvPr id="4" name="">
            <a:extLst xmlns:a="http://schemas.openxmlformats.org/drawingml/2006/main">
              <a:ext uri="{FF2B5EF4-FFF2-40B4-BE49-F238E27FC236}">
                <a16:creationId xmlns:a16="http://schemas.microsoft.com/office/drawing/2014/main" id="{8BDD1BC7-E1A0-449D-821E-56285A26106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3936336B-E37A-47B9-8004-2DB5FEF97B1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B3CD905-24CD-449A-9E51-B26EED2B9D8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4774309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76CE26-AE52-418A-A322-457D69FE21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7E8FA1-90F8-41A9-A8AC-F20175BF80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DBB347C-4F0D-49AB-A723-F40D090184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2174B98-1461-4827-B244-B779B29BBE0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855D77-8275-4DB1-9B68-32FC3663EDC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AA47C13-078B-4F5F-BA30-16D935C75D6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76557CB1-87A1-4705-BE8E-A8F81EBC275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8C8873D-5FE8-45D5-92A7-07FF980281A2}"/>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9F26AEA5-3AA3-4803-9717-02CE67E5A7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a:t>
            </a:r>
          </a:p>
        </p:txBody>
      </p:sp>
    </p:spTree>
    <p:extLst>
      <p:ext uri="{BB962C8B-B14F-4D97-AF65-F5344CB8AC3E}">
        <p14:creationId xmlns:p14="http://schemas.microsoft.com/office/powerpoint/2010/main" val="3159286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CA6BA7-2931-4717-B4AF-59DB9B553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8C527A-8971-4B8A-83E5-90D612EB80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64B193-1F72-4A8D-BD8A-04A5B43B78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412DA9A-66E4-47AC-88DD-EAC898B6CE8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60798B-C647-44DB-AB1F-A521715890A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C7356CCD-186E-439C-931E-45B476AA293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3BBEDC37-B966-465F-A13E-171D26B5EF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a:t>
            </a:r>
          </a:p>
        </p:txBody>
      </p:sp>
    </p:spTree>
    <p:extLst>
      <p:ext uri="{BB962C8B-B14F-4D97-AF65-F5344CB8AC3E}">
        <p14:creationId xmlns:p14="http://schemas.microsoft.com/office/powerpoint/2010/main" val="184057254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C293BC-E5FA-4DC2-931B-44E46D7838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358A6C-F199-411D-96B2-35769CC5A5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9E4153-112C-451B-B0FE-937D6958A4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5110F797-7B1D-4E04-BEAE-B5F2A8CE19F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B1798A-F901-413D-94C1-3B29068B6CA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xmlns:a="http://schemas.openxmlformats.org/drawingml/2006/main">
              <a:ext uri="{FF2B5EF4-FFF2-40B4-BE49-F238E27FC236}">
                <a16:creationId xmlns:a16="http://schemas.microsoft.com/office/drawing/2014/main" id="{7BA85A55-8CF6-4263-96BF-97617B4A75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small invented data explain the code; they do not establish real-world accuracy.</a:t>
            </a:r>
          </a:p>
        </p:txBody>
      </p:sp>
      <p:sp>
        <p:nvSpPr>
          <p:cNvPr id="7" name="">
            <a:extLst xmlns:a="http://schemas.openxmlformats.org/drawingml/2006/main">
              <a:ext uri="{FF2B5EF4-FFF2-40B4-BE49-F238E27FC236}">
                <a16:creationId xmlns:a16="http://schemas.microsoft.com/office/drawing/2014/main" id="{CD81B6FA-EC93-4319-B77B-862A717931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a:t>
            </a:r>
          </a:p>
        </p:txBody>
      </p:sp>
    </p:spTree>
    <p:extLst>
      <p:ext uri="{BB962C8B-B14F-4D97-AF65-F5344CB8AC3E}">
        <p14:creationId xmlns:p14="http://schemas.microsoft.com/office/powerpoint/2010/main" val="134707106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282993-926E-4CC7-89E7-393F909BB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E515A7-1BD1-4F58-B76B-4A1CEFAC04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4570E2-4A43-482D-85CE-30F4B8858B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1EF45E16-F051-400E-B0F8-80BD6D3C4E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472DDD-1F11-45AD-9A19-F2D00849315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1C42ED55-C68A-4DB0-BFA7-39FAC660906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18C4DD-2E7B-47B7-80AC-20CB632524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4D3AE132-D526-48A3-8CEC-7BC1571CBF2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FB67879-5C38-45B6-86E9-FE3709E3F76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86ED14E7-D858-4018-B08E-11829689EC9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D67717-C813-4491-8F01-D1442F2D18A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A0611F6D-E8D8-4C8E-A4DE-C9129EA534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a:t>
            </a:r>
          </a:p>
        </p:txBody>
      </p:sp>
    </p:spTree>
    <p:extLst>
      <p:ext uri="{BB962C8B-B14F-4D97-AF65-F5344CB8AC3E}">
        <p14:creationId xmlns:p14="http://schemas.microsoft.com/office/powerpoint/2010/main" val="44160852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94F505-621A-42E6-8445-07952147F4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F94185-652B-49FF-BCFF-0ED8B9BB35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7FB5385-EB2B-4966-9A88-6C61A6201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76A7E8B6-6AB6-40DA-AA5F-E42883575CA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198488-74F2-47A7-B09E-1C34378E55F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B4C6DDA2-1F98-4793-B457-6C4631B36F5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0F4A9DE1-0BD1-472C-8B9F-52CFB8E3ACD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585D445-F285-4744-94BB-0ADF6199BC1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4888DC8A-62D6-49F5-93FC-95F37FC12B5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73742E67-5299-4701-A497-29FEF4FC24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a:t>
            </a:r>
          </a:p>
        </p:txBody>
      </p:sp>
    </p:spTree>
    <p:extLst>
      <p:ext uri="{BB962C8B-B14F-4D97-AF65-F5344CB8AC3E}">
        <p14:creationId xmlns:p14="http://schemas.microsoft.com/office/powerpoint/2010/main" val="8989378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3EF30B-4DC1-4565-B5AE-0F3DB3DE6A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813906-5964-4258-8614-5D13098BA1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3B0AFD-0945-4A13-A03E-0B2ED61C36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6998DB90-53DF-467A-9A29-0B9F0E278B7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647D3D-AFC6-4D97-9F6A-2533E580F3E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D3FA95E2-AF25-4270-B518-A30BF5E8980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55C863D4-9E87-47EC-955E-7FAFCBDC73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a:t>
            </a:r>
          </a:p>
        </p:txBody>
      </p:sp>
    </p:spTree>
    <p:extLst>
      <p:ext uri="{BB962C8B-B14F-4D97-AF65-F5344CB8AC3E}">
        <p14:creationId xmlns:p14="http://schemas.microsoft.com/office/powerpoint/2010/main" val="98154397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8B4EB3-9DEB-4A9C-A4D8-A0CA70E954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9FBAD8-3A9A-4F13-B933-8DE72932BA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19170BF-741E-4FBD-80F5-3C2A2C8F00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596D9883-E63C-4322-A9A4-EA0C2EE0251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B49CE8-9867-4D32-ABE2-D94D722C43F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73132DD3-BFA3-42E1-9C8D-A7082BA9C46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6579BD94-F03F-4F98-83FE-88417E413F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8</a:t>
            </a:r>
          </a:p>
        </p:txBody>
      </p:sp>
    </p:spTree>
    <p:extLst>
      <p:ext uri="{BB962C8B-B14F-4D97-AF65-F5344CB8AC3E}">
        <p14:creationId xmlns:p14="http://schemas.microsoft.com/office/powerpoint/2010/main" val="30609285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CA1511-13B5-4A4F-BA19-B114F85972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05DD18-EEF3-4C21-8967-050982E7A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8E527D-474A-4A24-9F44-5A4D153E14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9C0C2F63-CFDC-4069-BE1E-9CCE9D4376A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1DE078-C00A-48E0-8198-B82B3741FFA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CEF14ECE-0AC4-40A8-8D18-DC502F7937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332882-85F2-4E0C-9C14-286732290FD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56CB1190-804D-44F3-9C04-E0D624D55F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C5326F-C7BD-49D7-B3B9-2E4794140B6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494520B7-9285-4FE8-95EC-2083034A48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9</a:t>
            </a:r>
          </a:p>
        </p:txBody>
      </p:sp>
    </p:spTree>
    <p:extLst>
      <p:ext uri="{BB962C8B-B14F-4D97-AF65-F5344CB8AC3E}">
        <p14:creationId xmlns:p14="http://schemas.microsoft.com/office/powerpoint/2010/main" val="11000219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5EFB19-8A0F-46D5-8A21-97EC1896CF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1CF977-3B7D-499B-BD88-7888B8079C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95C0E09-D864-4293-B751-C014DBB29F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8F6BCE4-3C00-4400-B216-46464DA9376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5CAECF90-931C-43E9-8755-662C8402C2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10</a:t>
            </a:r>
          </a:p>
        </p:txBody>
      </p:sp>
    </p:spTree>
    <p:extLst>
      <p:ext uri="{BB962C8B-B14F-4D97-AF65-F5344CB8AC3E}">
        <p14:creationId xmlns:p14="http://schemas.microsoft.com/office/powerpoint/2010/main" val="118544618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BFD2CD-26D4-406A-B121-C98A0731A9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48F03F-AE7C-44D2-AB1F-90B9874F7E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6EA1D2-358F-433C-B414-55229E555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1103C0C8-6D77-42F6-805A-D69CA90133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44A4AB-211A-427D-997D-E660B0E237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4886F42E-0659-4608-B377-31CF8DA17A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1F23DE-CE8F-4362-910B-1B6344E99A8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6BA492D3-1271-45B6-82F1-22D44B1BA75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EBD75F-22A0-45EC-B3D2-620AC704F34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516FEB87-FA6E-4172-A1E9-506AED8131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11</a:t>
            </a:r>
          </a:p>
        </p:txBody>
      </p:sp>
    </p:spTree>
    <p:extLst>
      <p:ext uri="{BB962C8B-B14F-4D97-AF65-F5344CB8AC3E}">
        <p14:creationId xmlns:p14="http://schemas.microsoft.com/office/powerpoint/2010/main" val="123654978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95C653-28C2-4D25-B293-C65F370A89F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A83F3F-22E5-4348-9B06-17D49EDF29F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d944ce6c0c0492f"/>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18963CF-659B-4477-95F6-39E3A308312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F633F9-046C-4632-88C0-80DBFF42B98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0AF38E96-B1D3-47B0-A247-1986A62172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12</a:t>
            </a:r>
          </a:p>
        </p:txBody>
      </p:sp>
    </p:spTree>
    <p:extLst>
      <p:ext uri="{BB962C8B-B14F-4D97-AF65-F5344CB8AC3E}">
        <p14:creationId xmlns:p14="http://schemas.microsoft.com/office/powerpoint/2010/main" val="1584448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04D9EE-191F-4F27-8D56-E709A1ACE1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95E33-DB03-4244-A098-EF7A8B4651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D93CC0-FCB4-4110-9EA2-0796D7DD80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625FFD55-E17A-4A6A-B462-FD15A1689F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F783D0-878A-4E31-83D0-8DBE1AE909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C6DAB86D-98BB-435E-9B5F-CF4BB6D4AC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6B7B57-E8DB-4DC7-AA01-3B154532FFA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4AF509B6-D0B5-4FC3-A563-29F14193DD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6122C-FD18-4527-9B09-492AB36CC8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CF069A9B-03D8-4496-8B3F-1211B3C337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13</a:t>
            </a:r>
          </a:p>
        </p:txBody>
      </p:sp>
    </p:spTree>
    <p:extLst>
      <p:ext uri="{BB962C8B-B14F-4D97-AF65-F5344CB8AC3E}">
        <p14:creationId xmlns:p14="http://schemas.microsoft.com/office/powerpoint/2010/main" val="54081478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996085-BE84-4D64-8481-7F36564271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4C4ABE-F9FF-4FAB-8F3A-8D71CFF933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BC1CB0-2247-489E-A655-6D602A99E9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3498CB5E-FA82-4888-8764-EE966D031A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D5EB58-731D-4988-82E0-124CDE6778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D06B5457-4826-4634-BE4B-02997F9A32C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860EB9-1A5C-45B8-8C50-4F683848EB1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6E573FD8-F9B2-4940-9CA3-2A000DA8A7A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91440B-C8FA-4DDF-960F-A67FB4ECFE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FA5A615F-D3B0-4727-8A63-BA6812C72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14</a:t>
            </a:r>
          </a:p>
        </p:txBody>
      </p:sp>
    </p:spTree>
    <p:extLst>
      <p:ext uri="{BB962C8B-B14F-4D97-AF65-F5344CB8AC3E}">
        <p14:creationId xmlns:p14="http://schemas.microsoft.com/office/powerpoint/2010/main" val="84762475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44D8FE-4C5A-49F7-8AE4-BE401B9ADE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CF1D33-2C0E-46F3-94FB-77E5C3D174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8648E4-5A8D-4F23-99BD-61F47A450C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699F69DD-50CE-40F8-89B5-0B7DF78E773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81BB99-059E-45F3-AFBB-3E12E929685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E669D054-40D4-487A-BEF3-B3D01D63C10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F407E3B9-36CA-4143-8770-B1A1F5558C2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C7F45EE-28FE-4EC9-86B7-27BB10D2163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D3ABED77-B23A-456A-A592-6D9C3240FE7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BD8C6437-27C8-4EA6-B833-906E912F1E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15</a:t>
            </a:r>
          </a:p>
        </p:txBody>
      </p:sp>
    </p:spTree>
    <p:extLst>
      <p:ext uri="{BB962C8B-B14F-4D97-AF65-F5344CB8AC3E}">
        <p14:creationId xmlns:p14="http://schemas.microsoft.com/office/powerpoint/2010/main" val="28578151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543CDC-992F-458B-9AC2-EA098E9FD9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662DF5-5717-4208-BE86-2FEC237599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16AC48-64B0-4AAD-98AB-1328016555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6593713-31C6-48FC-B92D-57558F654E8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9F65E406-1603-49F2-98D5-8836D47800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16</a:t>
            </a:r>
          </a:p>
        </p:txBody>
      </p:sp>
    </p:spTree>
    <p:extLst>
      <p:ext uri="{BB962C8B-B14F-4D97-AF65-F5344CB8AC3E}">
        <p14:creationId xmlns:p14="http://schemas.microsoft.com/office/powerpoint/2010/main" val="1042396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240542-8369-411F-B2EA-BF4C58B063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35ACF0-8869-492A-9870-C8D79F4E50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54C450-EA90-4725-BB6A-4B151F1638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an array before reading its shape</a:t>
            </a:r>
          </a:p>
        </p:txBody>
      </p:sp>
      <p:sp>
        <p:nvSpPr>
          <p:cNvPr id="4" name="">
            <a:extLst xmlns:a="http://schemas.openxmlformats.org/drawingml/2006/main">
              <a:ext uri="{FF2B5EF4-FFF2-40B4-BE49-F238E27FC236}">
                <a16:creationId xmlns:a16="http://schemas.microsoft.com/office/drawing/2014/main" id="{0138B36D-E479-49EB-875B-4A301098E4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370498-C8A1-4CAC-A5A9-B32120601EC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NumPy is a library for numerical arrays. import numpy as np makes its tools available through the name np.</a:t>
            </a:r>
          </a:p>
        </p:txBody>
      </p:sp>
      <p:sp>
        <p:nvSpPr>
          <p:cNvPr id="6" name="">
            <a:extLst xmlns:a="http://schemas.openxmlformats.org/drawingml/2006/main">
              <a:ext uri="{FF2B5EF4-FFF2-40B4-BE49-F238E27FC236}">
                <a16:creationId xmlns:a16="http://schemas.microsoft.com/office/drawing/2014/main" id="{20C011F8-8F46-463E-8754-87828A58ADC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43B0B0-5688-44D5-9191-D471BEE5B7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array stores a regular arrangement of values. np.array([[1], [2], [3]]) creates three rows with one value in each.</a:t>
            </a:r>
          </a:p>
        </p:txBody>
      </p:sp>
      <p:sp>
        <p:nvSpPr>
          <p:cNvPr id="8" name="">
            <a:extLst xmlns:a="http://schemas.openxmlformats.org/drawingml/2006/main">
              <a:ext uri="{FF2B5EF4-FFF2-40B4-BE49-F238E27FC236}">
                <a16:creationId xmlns:a16="http://schemas.microsoft.com/office/drawing/2014/main" id="{4CAF6CEA-0C97-46E4-B0BC-06E9C6B30F5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0D2D49-B735-4103-BFCB-26CF697544B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X.shape reports (3, 1): three rows, one column. np.array([12, 14, 16]) is one-dimensional; its shape is (3,). The comma marks a one-item tuple.</a:t>
            </a:r>
          </a:p>
        </p:txBody>
      </p:sp>
      <p:sp>
        <p:nvSpPr>
          <p:cNvPr id="10" name="">
            <a:extLst xmlns:a="http://schemas.openxmlformats.org/drawingml/2006/main">
              <a:ext uri="{FF2B5EF4-FFF2-40B4-BE49-F238E27FC236}">
                <a16:creationId xmlns:a16="http://schemas.microsoft.com/office/drawing/2014/main" id="{B153E023-3678-4C89-841F-5AE20F2012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17</a:t>
            </a:r>
          </a:p>
        </p:txBody>
      </p:sp>
    </p:spTree>
    <p:extLst>
      <p:ext uri="{BB962C8B-B14F-4D97-AF65-F5344CB8AC3E}">
        <p14:creationId xmlns:p14="http://schemas.microsoft.com/office/powerpoint/2010/main" val="1130962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68B9E1A-6ECE-49EE-BE6A-DBE47A9017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DEF504-089E-4A94-A89E-82000B88AD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B1283F-55E8-4CCC-AD1B-428A0B4653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8018FCC0-4D77-4E02-85BA-76725C9BF2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86E094-A97E-4CBF-91B4-61198B21DAE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4EB4EE45-6C1E-4B04-B7B4-302871F811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FC7ADA8-B538-4DE7-A93C-F52BD68F80D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0105408D-7019-4F2F-8F77-B48AAEB97F7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FD2D5347-3887-4259-AD10-7FD11DDE62D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140DAC64-0EF1-4B06-AB28-C94C93D22A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FD80AFAB-8D98-4163-B1C4-AB97D19D86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18</a:t>
            </a:r>
          </a:p>
        </p:txBody>
      </p:sp>
    </p:spTree>
    <p:extLst>
      <p:ext uri="{BB962C8B-B14F-4D97-AF65-F5344CB8AC3E}">
        <p14:creationId xmlns:p14="http://schemas.microsoft.com/office/powerpoint/2010/main" val="149893521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13055B-8B6E-4DA0-9D91-A3129FD9AF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132967-B798-44E7-AF83-9A9F69B6B9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3D3562F-5DA7-4268-8BD0-FD7CE17E3A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8BF740A6-D3E4-442C-AE7B-51131F95443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62A66B-2B00-4169-B08E-5B580A9F2A2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52CAA008-6720-44E2-BCAD-F84BBBF7C89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F29BDBCF-B23B-4303-84A5-FC7C18952B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19</a:t>
            </a:r>
          </a:p>
        </p:txBody>
      </p:sp>
    </p:spTree>
    <p:extLst>
      <p:ext uri="{BB962C8B-B14F-4D97-AF65-F5344CB8AC3E}">
        <p14:creationId xmlns:p14="http://schemas.microsoft.com/office/powerpoint/2010/main" val="134293020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0889EA-E02C-4B25-A793-780BF52790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1F2ABD-338D-47B2-AD1B-2A2BC2F1AF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2A3DC02-32EA-4B7F-B283-D914E880F7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FB8F93A1-7A7E-4295-A903-98B18277234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13B480-CC9E-4E61-AA68-FEE24D1B2C9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2780B67A-B40D-4033-921F-35371FFD432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768561DC-A989-4101-A9BF-DD46E6D8E71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CFD79B-2C5B-46BB-A424-2031F184897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C5A20413-A148-4DD0-BB0D-47D542AED1D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7CB3C20F-E307-4AC6-AC97-92A9413A80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20</a:t>
            </a:r>
          </a:p>
        </p:txBody>
      </p:sp>
    </p:spTree>
    <p:extLst>
      <p:ext uri="{BB962C8B-B14F-4D97-AF65-F5344CB8AC3E}">
        <p14:creationId xmlns:p14="http://schemas.microsoft.com/office/powerpoint/2010/main" val="181197127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71B857-5996-4C4F-A3F6-7DEF6396E7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BB12D8-B64B-4DBF-AF91-C8C9871D1A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3D263C0-CC81-466B-B02D-A424C4CCB7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E4FF6C2-0B05-44EE-AF92-09317A50735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A7BFC67E-4B99-4381-B42A-8D663E488A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21</a:t>
            </a:r>
          </a:p>
        </p:txBody>
      </p:sp>
    </p:spTree>
    <p:extLst>
      <p:ext uri="{BB962C8B-B14F-4D97-AF65-F5344CB8AC3E}">
        <p14:creationId xmlns:p14="http://schemas.microsoft.com/office/powerpoint/2010/main" val="86515791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503E25-BF82-4AFE-8859-71740A3E2E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5707DC-1705-47EA-B2CC-A70AB846D7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567DED-1215-430E-8554-9C654766C2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39B80179-3C91-459C-B78F-0659B1844B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C28753-FE23-4A1F-BE10-51D4834E75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8222DBC8-FEB7-4B63-860B-5C66F4DA592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362540-FBBB-4F5E-8A6C-7B75B4DC13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34C8CBB3-A949-4522-9831-70A1B167A0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AFEBBC-4A16-4E1B-8469-8E1FE8BE0D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AE560224-61C3-497A-9593-913FFE361C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22</a:t>
            </a:r>
          </a:p>
        </p:txBody>
      </p:sp>
    </p:spTree>
    <p:extLst>
      <p:ext uri="{BB962C8B-B14F-4D97-AF65-F5344CB8AC3E}">
        <p14:creationId xmlns:p14="http://schemas.microsoft.com/office/powerpoint/2010/main" val="158661273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180491-CF3A-4330-8A5A-7A7CED889D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E018B3-4AF3-4C50-B8FA-FBB87A13B5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8B4E7F-58AC-45A7-BD02-157CEAD4BE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43007CF6-438C-4331-BA80-7A1B542155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23B695-673D-46A3-87AC-0C2DD271FA1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8FDC4B91-6A69-41AD-BA57-566D762149C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1A0915-4294-4CAE-9FC1-C8B533A94E7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DC19DC86-39FC-47FD-A3E7-C371CD9394A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FC99B9-C38E-4560-A74A-20058163886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8D9176F8-F075-4EF4-A765-07A06C3B2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23</a:t>
            </a:r>
          </a:p>
        </p:txBody>
      </p:sp>
    </p:spTree>
    <p:extLst>
      <p:ext uri="{BB962C8B-B14F-4D97-AF65-F5344CB8AC3E}">
        <p14:creationId xmlns:p14="http://schemas.microsoft.com/office/powerpoint/2010/main" val="83890246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B5F6E1-1304-4962-ABC0-19AF4EAFD2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68A53D-3444-45A2-B3E1-69B6D3478F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0C53C1-3388-4706-9EA2-8799361EF1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8D51A954-373B-4059-B4DE-5A6B7FC753E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27A07-CE8B-4E76-8789-5D5C630BE03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EF41A399-18AC-4572-AF88-21C44BD3C03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D545C7C7-16E0-40E5-AFC2-65218FB05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CB9980C-5D9F-4A40-BD9D-9E356724F1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24</a:t>
            </a:r>
          </a:p>
        </p:txBody>
      </p:sp>
    </p:spTree>
    <p:extLst>
      <p:ext uri="{BB962C8B-B14F-4D97-AF65-F5344CB8AC3E}">
        <p14:creationId xmlns:p14="http://schemas.microsoft.com/office/powerpoint/2010/main" val="75775680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BD2979-3113-41CC-8CCB-D3A4BBC7B8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C90BDC-007F-4D1E-9809-F64A6C526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C84A81-D923-4C7C-937B-7CCF02444C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B18AAF4E-A080-4088-93D4-E4953E68FAA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6E4A3C-AB05-4C54-9B28-46D8ED1EE56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CE43CD16-C107-4EB6-8644-1D27072C3AE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52B40B3-9A8E-4254-B7E8-55E3D50B202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7E23B113-E0C5-4B35-B997-B57B34D2A8C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6C2D32C1-2611-4828-A8F7-0F554CF693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14F99EE9-CD21-4D10-8194-4AEBF2ABC7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25</a:t>
            </a:r>
          </a:p>
        </p:txBody>
      </p:sp>
    </p:spTree>
    <p:extLst>
      <p:ext uri="{BB962C8B-B14F-4D97-AF65-F5344CB8AC3E}">
        <p14:creationId xmlns:p14="http://schemas.microsoft.com/office/powerpoint/2010/main" val="99056237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A8DAF88-7E87-47CC-AC39-5B43827F4B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5CEEEB-8726-4E8A-8EA7-EFCA842678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EAF1A7-1E5D-4717-B47F-BA294E2A8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56C58AAA-5539-457B-ABF4-D884EF9331B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7C00DE-F705-424F-9793-3AAFC292D52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2F8D2DC2-42B2-43E6-B2C1-264D181AC10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706E2F4-4337-4300-8D17-18BDE731881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BA27B25F-3010-4CC5-9407-0639D99ED88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6A8F0A3-882C-4049-A5AF-43C226E8A4F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889ACBD1-7364-4D88-8058-F0E8898418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6A2816F-1A72-45C6-9C79-9CD9B8DC32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26</a:t>
            </a:r>
          </a:p>
        </p:txBody>
      </p:sp>
    </p:spTree>
    <p:extLst>
      <p:ext uri="{BB962C8B-B14F-4D97-AF65-F5344CB8AC3E}">
        <p14:creationId xmlns:p14="http://schemas.microsoft.com/office/powerpoint/2010/main" val="9663466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677F08-0D1D-480B-A1C8-1F38360C3C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446D94-BAAD-471B-BCF1-84EE1E21C9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0D7F196-7FD5-4788-8552-11750CD6DD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C537C5D3-8464-4946-B705-2721BA60573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A24C49-A672-4F83-A21E-10B3856DCCC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29459EDB-F9D9-4209-8FBA-16FB73EA99F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66B5234-403C-4539-850B-49709E1D03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27</a:t>
            </a:r>
          </a:p>
        </p:txBody>
      </p:sp>
    </p:spTree>
    <p:extLst>
      <p:ext uri="{BB962C8B-B14F-4D97-AF65-F5344CB8AC3E}">
        <p14:creationId xmlns:p14="http://schemas.microsoft.com/office/powerpoint/2010/main" val="51976684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227968-FA2E-4589-B848-22798FACFF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0DFC09-40BD-4CBA-A9EF-3E818A97E2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781599-C14F-4EAB-9B53-DE04B919CB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32AB3062-63C0-48FC-9FD9-87CF7B52A1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B3E360-8099-4C99-A0D5-A16625587D7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6F07F97D-81BF-49DA-82D6-A5404924BC8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05C180-AE83-471C-8743-FFE8E84452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EE9BAB0F-B523-458F-BBD0-42B15412916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712B43-BB39-4C99-919C-7EBEFDF910B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8804B100-E3C4-4435-8CAB-55DD6ED5A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28</a:t>
            </a:r>
          </a:p>
        </p:txBody>
      </p:sp>
    </p:spTree>
    <p:extLst>
      <p:ext uri="{BB962C8B-B14F-4D97-AF65-F5344CB8AC3E}">
        <p14:creationId xmlns:p14="http://schemas.microsoft.com/office/powerpoint/2010/main" val="37147087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796F2D-7403-4111-85D8-3CED0A77D1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8450B0-4BCE-4A1D-8B97-2058CEEA4D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B363F6-344A-4090-BB19-4268E1BA5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55731EAA-14AA-4EED-A352-B2ADD0D94B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2D56BC-6D6D-4C7D-9B6D-1D5EDE39F2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3FCDD47B-C5CA-4FBC-A792-67FE8D61933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33D7C8C-17D9-42FE-B7F0-5102C63D51A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AF188FBC-B494-4C75-A1CD-0C15AB5321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84374DCA-0891-4B3A-B672-B747D8260BC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A49EADC3-6FA3-447E-AC6D-E817CB036C6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1F2FDC89-0AEA-4146-9A8F-320F53086B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29</a:t>
            </a:r>
          </a:p>
        </p:txBody>
      </p:sp>
    </p:spTree>
    <p:extLst>
      <p:ext uri="{BB962C8B-B14F-4D97-AF65-F5344CB8AC3E}">
        <p14:creationId xmlns:p14="http://schemas.microsoft.com/office/powerpoint/2010/main" val="185807457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FB915C-3186-4CB9-9A6F-C9EAFE0D1A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2EDEBA-CFCB-41D2-B9F5-F7C8DE284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08EEA9-86B3-4884-9DE9-194D924F6E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28E0C318-307E-4B25-86B0-935325F0D8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86A792-79F5-485E-ACAF-E57EB065880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821A6F39-0C7B-485F-8472-5C21BCF439B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1EC9F3-FC75-48F6-8B67-E889087693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4BFEE04A-84CD-4ED7-8751-00738555D92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457D05-1E11-4962-A38E-EB69027D3A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6569F541-587A-436C-A1B2-72B89F851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30</a:t>
            </a:r>
          </a:p>
        </p:txBody>
      </p:sp>
    </p:spTree>
    <p:extLst>
      <p:ext uri="{BB962C8B-B14F-4D97-AF65-F5344CB8AC3E}">
        <p14:creationId xmlns:p14="http://schemas.microsoft.com/office/powerpoint/2010/main" val="154434720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B87E45-9B1E-4352-AD5E-7D1E0F401C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9BBE8D-184E-4299-8EB2-ACC2EBE408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50C0257-3E9F-4E97-A53B-5DC4F48483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regression-tree prediction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 or 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Path for input 2.5</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Is input at most 2.5?</a:t>
                      </a:r>
                    </a:p>
                  </a:txBody>
                  <a:tcPr marL="91440" marR="91440" marT="45720" marB="45720">
                    <a:solidFill>
                      <a:srgbClr val="EEF3F6"/>
                    </a:solidFill>
                  </a:tcPr>
                </a:tc>
                <a:tc>
                  <a:txBody>
                    <a:bodyPr/>
                    <a:lstStyle/>
                    <a:p>
                      <a:r>
                        <a:rPr sz="2025" b="0">
                          <a:solidFill>
                            <a:srgbClr val="1C3144"/>
                          </a:solidFill>
                          <a:latin typeface="Calibri"/>
                          <a:ea typeface="Calibri"/>
                          <a:cs typeface="Calibri"/>
                        </a:rPr>
                        <a:t>Yes: use the lower group</a:t>
                      </a:r>
                    </a:p>
                  </a:txBody>
                  <a:tcPr marL="91440" marR="91440" marT="45720" marB="45720">
                    <a:solidFill>
                      <a:srgbClr val="EEF3F6"/>
                    </a:solidFill>
                  </a:tcPr>
                </a:tc>
                <a:tc>
                  <a:txBody>
                    <a:bodyPr/>
                    <a:lstStyle/>
                    <a:p>
                      <a:r>
                        <a:rPr sz="2025" b="0">
                          <a:solidFill>
                            <a:srgbClr val="1C3144"/>
                          </a:solidFill>
                          <a:latin typeface="Calibri"/>
                          <a:ea typeface="Calibri"/>
                          <a:cs typeface="Calibri"/>
                        </a:rPr>
                        <a:t>Continue within that group</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Is input at most 1.5?</a:t>
                      </a:r>
                    </a:p>
                  </a:txBody>
                  <a:tcPr marL="91440" marR="91440" marT="45720" marB="45720">
                    <a:solidFill>
                      <a:srgbClr val="FFFFFF"/>
                    </a:solidFill>
                  </a:tcPr>
                </a:tc>
                <a:tc>
                  <a:txBody>
                    <a:bodyPr/>
                    <a:lstStyle/>
                    <a:p>
                      <a:r>
                        <a:rPr sz="2025" b="0">
                          <a:solidFill>
                            <a:srgbClr val="1C3144"/>
                          </a:solidFill>
                          <a:latin typeface="Calibri"/>
                          <a:ea typeface="Calibri"/>
                          <a:cs typeface="Calibri"/>
                        </a:rPr>
                        <a:t>No: use its upper leaf</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 target 14</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Leaf prediction</a:t>
                      </a:r>
                    </a:p>
                  </a:txBody>
                  <a:tcPr marL="91440" marR="91440" marT="45720" marB="45720">
                    <a:solidFill>
                      <a:srgbClr val="EEF3F6"/>
                    </a:solidFill>
                  </a:tcPr>
                </a:tc>
                <a:tc>
                  <a:txBody>
                    <a:bodyPr/>
                    <a:lstStyle/>
                    <a:p>
                      <a:r>
                        <a:rPr sz="2025" b="0">
                          <a:solidFill>
                            <a:srgbClr val="1C3144"/>
                          </a:solidFill>
                          <a:latin typeface="Calibri"/>
                          <a:ea typeface="Calibri"/>
                          <a:cs typeface="Calibri"/>
                        </a:rPr>
                        <a:t>Return the leaf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14</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D6AC07A-A87A-465C-9F11-9E6E54A4A0F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trace describes our fitted four-row teaching tree. A different training set can produce different questions.</a:t>
            </a:r>
          </a:p>
        </p:txBody>
      </p:sp>
      <p:sp>
        <p:nvSpPr>
          <p:cNvPr id="6" name="">
            <a:extLst xmlns:a="http://schemas.openxmlformats.org/drawingml/2006/main">
              <a:ext uri="{FF2B5EF4-FFF2-40B4-BE49-F238E27FC236}">
                <a16:creationId xmlns:a16="http://schemas.microsoft.com/office/drawing/2014/main" id="{7CA8AC7B-EF1C-4169-87D0-A6FFCC4609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31</a:t>
            </a:r>
          </a:p>
        </p:txBody>
      </p:sp>
    </p:spTree>
    <p:extLst>
      <p:ext uri="{BB962C8B-B14F-4D97-AF65-F5344CB8AC3E}">
        <p14:creationId xmlns:p14="http://schemas.microsoft.com/office/powerpoint/2010/main" val="120040573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027A8A-3823-4758-B13B-012A5DD3A1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A9F43F-23BB-4188-A956-CEF9C9CC17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82CA28-8BF4-48E5-9F7D-B0DE3B7BBA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67BD0B8E-AB53-4C22-BDC7-0F7E1144AAC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D7E2F0-FFE9-4688-94E4-4FF8D2B0E4F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0735FDB0-184C-466E-A195-19CABA58981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3598034D-6B2A-4B6E-849E-F82F2D4101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CDBDC131-EFAA-4F1B-A143-633FFC074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32</a:t>
            </a:r>
          </a:p>
        </p:txBody>
      </p:sp>
    </p:spTree>
    <p:extLst>
      <p:ext uri="{BB962C8B-B14F-4D97-AF65-F5344CB8AC3E}">
        <p14:creationId xmlns:p14="http://schemas.microsoft.com/office/powerpoint/2010/main" val="121813802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2FB3A4-238F-4AB6-A083-80E1FC94D3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9B2382-9E99-46DF-A508-8C49FD6251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0DA1EAA-F781-442D-BAC5-C791A84ED3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0F8E44E6-CC7F-4742-B560-CE6C3757B7E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547BEB-5A35-45E3-9F67-58F1161057E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3A00C1E5-A2B8-418D-8816-FB18B2FBE10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77A38001-CE0B-4BC9-8826-822E1DF4CE5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BBCBC7-463A-46DE-ABBC-D97A931C61D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20623F04-9BA0-4F5D-959A-DD81BBD410F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B6937E6A-4F29-4209-85AD-1BF147E327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33</a:t>
            </a:r>
          </a:p>
        </p:txBody>
      </p:sp>
    </p:spTree>
    <p:extLst>
      <p:ext uri="{BB962C8B-B14F-4D97-AF65-F5344CB8AC3E}">
        <p14:creationId xmlns:p14="http://schemas.microsoft.com/office/powerpoint/2010/main" val="14741925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59E5D7-5D1E-4D61-84D7-7E198839DF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BD3E5C-ECD4-4880-BAFF-88161AEAA5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9F7D3-98BB-4616-A612-CCCFAA5A85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pipeline tools before combining them</a:t>
            </a:r>
          </a:p>
        </p:txBody>
      </p:sp>
      <p:sp>
        <p:nvSpPr>
          <p:cNvPr id="4" name="">
            <a:extLst xmlns:a="http://schemas.openxmlformats.org/drawingml/2006/main">
              <a:ext uri="{FF2B5EF4-FFF2-40B4-BE49-F238E27FC236}">
                <a16:creationId xmlns:a16="http://schemas.microsoft.com/office/drawing/2014/main" id="{C8155A2A-E18B-4593-BA48-FE662EBA26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5AD83F-E220-490B-8B1F-2C46CA136D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np.nan is NumPy’s missing-number marker. SimpleImputer(strategy="median") creates a tool that will learn each column’s median from training data.</a:t>
            </a:r>
          </a:p>
        </p:txBody>
      </p:sp>
      <p:sp>
        <p:nvSpPr>
          <p:cNvPr id="6" name="">
            <a:extLst xmlns:a="http://schemas.openxmlformats.org/drawingml/2006/main">
              <a:ext uri="{FF2B5EF4-FFF2-40B4-BE49-F238E27FC236}">
                <a16:creationId xmlns:a16="http://schemas.microsoft.com/office/drawing/2014/main" id="{C9458E66-C1F0-49D4-B000-BAFF361565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B74127-7F7D-451C-B27E-ED8CDC1975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joins preparation to prediction in that order. pipeline.fit first learns and applies the imputer, then fits the model.</a:t>
            </a:r>
          </a:p>
        </p:txBody>
      </p:sp>
      <p:sp>
        <p:nvSpPr>
          <p:cNvPr id="8" name="">
            <a:extLst xmlns:a="http://schemas.openxmlformats.org/drawingml/2006/main">
              <a:ext uri="{FF2B5EF4-FFF2-40B4-BE49-F238E27FC236}">
                <a16:creationId xmlns:a16="http://schemas.microsoft.com/office/drawing/2014/main" id="{5853DDA1-430A-44B2-AAD1-3222CDE50E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F524A7-3B3B-454D-8AE9-5DBA749312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pipeline.predict applies the already learned imputer to new inputs before predicting. It does not recalculate medians from the new inputs.</a:t>
            </a:r>
          </a:p>
        </p:txBody>
      </p:sp>
      <p:sp>
        <p:nvSpPr>
          <p:cNvPr id="10" name="">
            <a:extLst xmlns:a="http://schemas.openxmlformats.org/drawingml/2006/main">
              <a:ext uri="{FF2B5EF4-FFF2-40B4-BE49-F238E27FC236}">
                <a16:creationId xmlns:a16="http://schemas.microsoft.com/office/drawing/2014/main" id="{F40F225A-2629-4440-940D-19483D6C85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34</a:t>
            </a:r>
          </a:p>
        </p:txBody>
      </p:sp>
    </p:spTree>
    <p:extLst>
      <p:ext uri="{BB962C8B-B14F-4D97-AF65-F5344CB8AC3E}">
        <p14:creationId xmlns:p14="http://schemas.microsoft.com/office/powerpoint/2010/main" val="114844894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8FE7DD-3B09-4824-93CD-A8BFE4C765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B3069A-8C32-4A1C-8B39-1DFF4D65C1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439ED7-81DF-4229-B6B0-B511D9846A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A71DEF39-94F9-4638-B035-53B860D1F9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31E9A5-EE02-4EB6-8EEC-5BF8ED21D7C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070781B5-CDF9-4175-A51D-FB4DBA7804F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4D36BC-989C-4F53-9C81-50BAF11E4F5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CCFB755C-ECA5-4B74-98B9-C1A508A24C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79DB12-5AD5-4B0B-879C-5F842E9BDD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504FF6D8-BBA8-4BEE-BAFE-D8C50A0D91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35</a:t>
            </a:r>
          </a:p>
        </p:txBody>
      </p:sp>
    </p:spTree>
    <p:extLst>
      <p:ext uri="{BB962C8B-B14F-4D97-AF65-F5344CB8AC3E}">
        <p14:creationId xmlns:p14="http://schemas.microsoft.com/office/powerpoint/2010/main" val="11425852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6D9866-EF7F-4249-B094-7C57A3AA73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7B47C7-CE1D-4871-BF21-C75CC13FEE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18126E8-B79B-4A0B-9DBC-4436BAF857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training-only fill step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Stage</a:t>
                      </a:r>
                    </a:p>
                  </a:txBody>
                  <a:tcPr marL="91440" marR="91440" marT="45720" marB="45720">
                    <a:solidFill>
                      <a:srgbClr val="2E7D6F"/>
                    </a:solidFill>
                  </a:tcPr>
                </a:tc>
                <a:tc>
                  <a:txBody>
                    <a:bodyPr/>
                    <a:lstStyle/>
                    <a:p>
                      <a:r>
                        <a:rPr sz="2025" b="1">
                          <a:solidFill>
                            <a:srgbClr val="FFFFFF"/>
                          </a:solidFill>
                          <a:latin typeface="Calibri"/>
                          <a:ea typeface="Calibri"/>
                          <a:cs typeface="Calibri"/>
                        </a:rPr>
                        <a:t>Second feature values</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Training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20, 22, missing, 24</a:t>
                      </a:r>
                    </a:p>
                  </a:txBody>
                  <a:tcPr marL="91440" marR="91440" marT="45720" marB="45720">
                    <a:solidFill>
                      <a:srgbClr val="EEF3F6"/>
                    </a:solidFill>
                  </a:tcPr>
                </a:tc>
                <a:tc>
                  <a:txBody>
                    <a:bodyPr/>
                    <a:lstStyle/>
                    <a:p>
                      <a:r>
                        <a:rPr sz="2025" b="0">
                          <a:solidFill>
                            <a:srgbClr val="1C3144"/>
                          </a:solidFill>
                          <a:latin typeface="Calibri"/>
                          <a:ea typeface="Calibri"/>
                          <a:cs typeface="Calibri"/>
                        </a:rPr>
                        <a:t>Learn median 22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Training after filling</a:t>
                      </a:r>
                    </a:p>
                  </a:txBody>
                  <a:tcPr marL="91440" marR="91440" marT="45720" marB="45720">
                    <a:solidFill>
                      <a:srgbClr val="FFFFFF"/>
                    </a:solidFill>
                  </a:tcPr>
                </a:tc>
                <a:tc>
                  <a:txBody>
                    <a:bodyPr/>
                    <a:lstStyle/>
                    <a:p>
                      <a:r>
                        <a:rPr sz="2025" b="0">
                          <a:solidFill>
                            <a:srgbClr val="1C3144"/>
                          </a:solidFill>
                          <a:latin typeface="Calibri"/>
                          <a:ea typeface="Calibri"/>
                          <a:cs typeface="Calibri"/>
                        </a:rPr>
                        <a:t>20, 22, 22, 24</a:t>
                      </a:r>
                    </a:p>
                  </a:txBody>
                  <a:tcPr marL="91440" marR="91440" marT="45720" marB="45720">
                    <a:solidFill>
                      <a:srgbClr val="FFFFFF"/>
                    </a:solidFill>
                  </a:tcPr>
                </a:tc>
                <a:tc>
                  <a:txBody>
                    <a:bodyPr/>
                    <a:lstStyle/>
                    <a:p>
                      <a:r>
                        <a:rPr sz="2025" b="0">
                          <a:solidFill>
                            <a:srgbClr val="1C3144"/>
                          </a:solidFill>
                          <a:latin typeface="Calibri"/>
                          <a:ea typeface="Calibri"/>
                          <a:cs typeface="Calibri"/>
                        </a:rPr>
                        <a:t>Fit the model</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New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Missing second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Fill with saved 22</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DE7B7EBB-BF5D-41FF-B4D6-2DC8338CF7F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 new median is learned during prediction. The model receives the prepared numeric row.</a:t>
            </a:r>
          </a:p>
        </p:txBody>
      </p:sp>
      <p:sp>
        <p:nvSpPr>
          <p:cNvPr id="6" name="">
            <a:extLst xmlns:a="http://schemas.openxmlformats.org/drawingml/2006/main">
              <a:ext uri="{FF2B5EF4-FFF2-40B4-BE49-F238E27FC236}">
                <a16:creationId xmlns:a16="http://schemas.microsoft.com/office/drawing/2014/main" id="{E04833CE-6343-4691-939B-F9F7DD48AD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36</a:t>
            </a:r>
          </a:p>
        </p:txBody>
      </p:sp>
    </p:spTree>
    <p:extLst>
      <p:ext uri="{BB962C8B-B14F-4D97-AF65-F5344CB8AC3E}">
        <p14:creationId xmlns:p14="http://schemas.microsoft.com/office/powerpoint/2010/main" val="108869030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973FC1-9106-463D-8922-0B54FEA25B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6D5DC3-E4AE-48B1-8BDE-F26C49BAD3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FA9261-6AD5-422F-9F7D-74A505D0BC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FAE660A4-A1B9-40AA-94BA-B347FBCEC95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872CB6-4E23-482D-9A77-0196F8C56E4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0D48D1D7-3DCA-43AB-9347-7F8680754CE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324034F6-C1CC-4F5C-AEA3-8726DB5CB7B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A79DD7F4-FA83-43D2-A4A6-784C5731C5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37</a:t>
            </a:r>
          </a:p>
        </p:txBody>
      </p:sp>
    </p:spTree>
    <p:extLst>
      <p:ext uri="{BB962C8B-B14F-4D97-AF65-F5344CB8AC3E}">
        <p14:creationId xmlns:p14="http://schemas.microsoft.com/office/powerpoint/2010/main" val="17860064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BF1947-4EB2-4BB8-8F4B-FA6849C77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5280D3-CE0E-484F-863B-FF52F0200F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0525B6-92BE-4A33-97A3-F480726B2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52912994-CED5-437B-A004-10DFBD6EA18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1C1716-E120-4025-AF45-B90D3AA33E5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99FECF82-8F41-4069-943B-93BE32A2166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E03A6D84-8091-45C4-9DF0-9551C53014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2FE29F06-9C7A-4072-B846-285060A5DF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38</a:t>
            </a:r>
          </a:p>
        </p:txBody>
      </p:sp>
    </p:spTree>
    <p:extLst>
      <p:ext uri="{BB962C8B-B14F-4D97-AF65-F5344CB8AC3E}">
        <p14:creationId xmlns:p14="http://schemas.microsoft.com/office/powerpoint/2010/main" val="145837004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68897E-B679-4582-849B-1BCF2FE198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08BCC7-4E97-4CA8-AA41-A64AD2F796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504B64-EF1D-4377-B755-94CDFA7C76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581AB48B-85D1-4814-88CD-3EC08CF161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9985D8-81F3-4E8E-B52D-DAA14806D68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7C421776-641F-4444-8089-22FAF08F91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19AF39-6C15-4C6F-9159-14C55D6706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EFCC80DF-3680-43D2-B4B0-54A8D23D999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571170-58DB-4703-BF4E-1FE7C61F560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61686186-97B9-4CE6-B721-4DE765A4E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39</a:t>
            </a:r>
          </a:p>
        </p:txBody>
      </p:sp>
    </p:spTree>
    <p:extLst>
      <p:ext uri="{BB962C8B-B14F-4D97-AF65-F5344CB8AC3E}">
        <p14:creationId xmlns:p14="http://schemas.microsoft.com/office/powerpoint/2010/main" val="175758250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53FE75-8F3E-4BC4-B3C5-3D6B7F4274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A05193-D107-4887-9095-55548A2C7A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C076585-F1D9-47FC-89F9-3E0AC40536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209166F6-9686-436F-A971-F427DD2ED93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86FCC7-B01E-43BB-9B94-089667BC18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0A45DC06-E834-4A6B-ACB2-F3F3E34A33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78788057-E954-4932-9A08-3D0312137D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E2AC941-8377-4A07-AD60-AFF44F0509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40</a:t>
            </a:r>
          </a:p>
        </p:txBody>
      </p:sp>
    </p:spTree>
    <p:extLst>
      <p:ext uri="{BB962C8B-B14F-4D97-AF65-F5344CB8AC3E}">
        <p14:creationId xmlns:p14="http://schemas.microsoft.com/office/powerpoint/2010/main" val="16636960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DDDEC1-A538-4DC7-9325-219EF79BCD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1613D8-BCA8-4039-9D4F-5D3898D5CF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7AAAA26-D0CB-4CC2-942E-D5880CBCC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B0D72032-DB3B-4835-85E6-1F0D2611E75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34B8DF-90E7-4CEE-9882-744B2B41F9D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04E9B656-FB7D-4431-8660-86D41470BAE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CC6015ED-452F-4670-AC99-A09854BF2D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41</a:t>
            </a:r>
          </a:p>
        </p:txBody>
      </p:sp>
    </p:spTree>
    <p:extLst>
      <p:ext uri="{BB962C8B-B14F-4D97-AF65-F5344CB8AC3E}">
        <p14:creationId xmlns:p14="http://schemas.microsoft.com/office/powerpoint/2010/main" val="158820650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C113D8-08AD-4718-A296-B4BD294A9E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77F954-CCF3-4DB0-A61D-BA38833864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E5B5008-C1C9-495F-B03E-8F3ADAF249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DC57E3C-F2F0-4A13-ADFB-E97B9092546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71334EDB-37D0-458A-ABB9-ACFA0A90FC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42</a:t>
            </a:r>
          </a:p>
        </p:txBody>
      </p:sp>
    </p:spTree>
    <p:extLst>
      <p:ext uri="{BB962C8B-B14F-4D97-AF65-F5344CB8AC3E}">
        <p14:creationId xmlns:p14="http://schemas.microsoft.com/office/powerpoint/2010/main" val="171467563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BDF8C6-B131-4A1C-9B82-3BB0DFC19B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D1EC7B-75FB-4018-9C50-3BF7E87A44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3EA391C-07A5-4401-910A-F43A32E139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1BEB85AF-52B4-4754-B739-8453A2DE24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E25AE6-996E-4930-9EE7-5536817D876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E838BCAB-5761-479B-9F59-7E9B57580BE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3B6FADFA-D264-457E-9025-761948AA7E2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E3C140-F573-4F4A-97BC-1EEFD3F8C9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8CA41E78-D227-48B1-9E42-A67B92BA902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E7B11E72-7F21-40EB-972C-388D118DF9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43</a:t>
            </a:r>
          </a:p>
        </p:txBody>
      </p:sp>
    </p:spTree>
    <p:extLst>
      <p:ext uri="{BB962C8B-B14F-4D97-AF65-F5344CB8AC3E}">
        <p14:creationId xmlns:p14="http://schemas.microsoft.com/office/powerpoint/2010/main" val="170497682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CF9A3-88F5-47FA-B7F4-64AE4E4A3F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43353E-4571-4AA8-B2C8-F56E29453C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A98BC8-92C1-4164-A632-D9087F9182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 two lists using zip</a:t>
            </a:r>
          </a:p>
        </p:txBody>
      </p:sp>
      <p:sp>
        <p:nvSpPr>
          <p:cNvPr id="4" name="">
            <a:extLst xmlns:a="http://schemas.openxmlformats.org/drawingml/2006/main">
              <a:ext uri="{FF2B5EF4-FFF2-40B4-BE49-F238E27FC236}">
                <a16:creationId xmlns:a16="http://schemas.microsoft.com/office/drawing/2014/main" id="{6DE89A72-051A-4BF7-BE32-8196ED6F38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11C207-1A86-4F18-8E45-19B30EA5212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zip(actual, predicted) visits matching positions together. for truth, guess in zip(...): unpacks each pair into two names.</a:t>
            </a:r>
          </a:p>
        </p:txBody>
      </p:sp>
      <p:sp>
        <p:nvSpPr>
          <p:cNvPr id="6" name="">
            <a:extLst xmlns:a="http://schemas.openxmlformats.org/drawingml/2006/main">
              <a:ext uri="{FF2B5EF4-FFF2-40B4-BE49-F238E27FC236}">
                <a16:creationId xmlns:a16="http://schemas.microsoft.com/office/drawing/2014/main" id="{604F32E4-F464-4358-A151-03AC0301BA6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3A8D9D-5AED-4AEF-8BCA-62302547971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actual [10, 20] and predicted [12, 16], the pairs are (10, 12) and (20, 16). They describe the same observations in the same order.</a:t>
            </a:r>
          </a:p>
        </p:txBody>
      </p:sp>
      <p:sp>
        <p:nvSpPr>
          <p:cNvPr id="8" name="">
            <a:extLst xmlns:a="http://schemas.openxmlformats.org/drawingml/2006/main">
              <a:ext uri="{FF2B5EF4-FFF2-40B4-BE49-F238E27FC236}">
                <a16:creationId xmlns:a16="http://schemas.microsoft.com/office/drawing/2014/main" id="{3B4726F6-4A95-4023-8F81-C8761FB6EE5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880009-CDE5-4891-B753-A50CBB6AAAD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stops at the shorter input. Check equal, nonzero lengths for these error calculations; otherwise a result could ignore observations.</a:t>
            </a:r>
          </a:p>
        </p:txBody>
      </p:sp>
      <p:sp>
        <p:nvSpPr>
          <p:cNvPr id="10" name="">
            <a:extLst xmlns:a="http://schemas.openxmlformats.org/drawingml/2006/main">
              <a:ext uri="{FF2B5EF4-FFF2-40B4-BE49-F238E27FC236}">
                <a16:creationId xmlns:a16="http://schemas.microsoft.com/office/drawing/2014/main" id="{7A77F9CA-94AD-4828-969C-76A9CC8F0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44</a:t>
            </a:r>
          </a:p>
        </p:txBody>
      </p:sp>
    </p:spTree>
    <p:extLst>
      <p:ext uri="{BB962C8B-B14F-4D97-AF65-F5344CB8AC3E}">
        <p14:creationId xmlns:p14="http://schemas.microsoft.com/office/powerpoint/2010/main" val="204844568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5AF0E3B-D9E7-4A63-B493-AE0BEB38FF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481463-B792-43EF-93DB-0C37E17AC9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829EA4-8E53-4A96-8192-065A13A318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pairs before measuring errors</a:t>
            </a:r>
          </a:p>
        </p:txBody>
      </p:sp>
      <p:sp>
        <p:nvSpPr>
          <p:cNvPr id="4" name="">
            <a:extLst xmlns:a="http://schemas.openxmlformats.org/drawingml/2006/main">
              <a:ext uri="{FF2B5EF4-FFF2-40B4-BE49-F238E27FC236}">
                <a16:creationId xmlns:a16="http://schemas.microsoft.com/office/drawing/2014/main" id="{DC458D0C-9135-48C1-8F7E-2DFF9088A49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160EE5-81CA-43BE-828B-7E430EF83A4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actual = [10, 20]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predicted = [12, 16]</a:t>
            </a:r>
          </a:p>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print(truth, guess)</a:t>
            </a:r>
          </a:p>
        </p:txBody>
      </p:sp>
      <p:sp>
        <p:nvSpPr>
          <p:cNvPr id="6" name="">
            <a:extLst xmlns:a="http://schemas.openxmlformats.org/drawingml/2006/main">
              <a:ext uri="{FF2B5EF4-FFF2-40B4-BE49-F238E27FC236}">
                <a16:creationId xmlns:a16="http://schemas.microsoft.com/office/drawing/2014/main" id="{28F288E1-FB21-441B-A200-43FDD732888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2BFF267-2F38-45CC-B218-5935DB87352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first names receive the first pair, then the second pair.</a:t>
            </a:r>
          </a:p>
        </p:txBody>
      </p:sp>
      <p:sp>
        <p:nvSpPr>
          <p:cNvPr id="8" name="">
            <a:extLst xmlns:a="http://schemas.openxmlformats.org/drawingml/2006/main">
              <a:ext uri="{FF2B5EF4-FFF2-40B4-BE49-F238E27FC236}">
                <a16:creationId xmlns:a16="http://schemas.microsoft.com/office/drawing/2014/main" id="{5D3C2418-16F5-4924-A58C-299C80A11F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10 12; 20 16</a:t>
            </a:r>
          </a:p>
        </p:txBody>
      </p:sp>
      <p:sp>
        <p:nvSpPr>
          <p:cNvPr id="9" name="">
            <a:extLst xmlns:a="http://schemas.openxmlformats.org/drawingml/2006/main">
              <a:ext uri="{FF2B5EF4-FFF2-40B4-BE49-F238E27FC236}">
                <a16:creationId xmlns:a16="http://schemas.microsoft.com/office/drawing/2014/main" id="{823F662A-9279-4747-A29F-8B740AC1AB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45</a:t>
            </a:r>
          </a:p>
        </p:txBody>
      </p:sp>
    </p:spTree>
    <p:extLst>
      <p:ext uri="{BB962C8B-B14F-4D97-AF65-F5344CB8AC3E}">
        <p14:creationId xmlns:p14="http://schemas.microsoft.com/office/powerpoint/2010/main" val="196586414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C98768-6F4B-45F8-9209-620212A87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A8C811-F238-4424-96B2-5EF01AFA8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0006690-E5EA-4C38-9C8F-C39E0BA4DE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absolute and squared errors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Actual and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Squared error</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10 and 12</a:t>
                      </a:r>
                    </a:p>
                  </a:txBody>
                  <a:tcPr marL="91440" marR="91440" marT="45720" marB="45720">
                    <a:solidFill>
                      <a:srgbClr val="EEF3F6"/>
                    </a:solidFill>
                  </a:tcPr>
                </a:tc>
                <a:tc>
                  <a:txBody>
                    <a:bodyPr/>
                    <a:lstStyle/>
                    <a:p>
                      <a:r>
                        <a:rPr sz="2025" b="0">
                          <a:solidFill>
                            <a:srgbClr val="1C3144"/>
                          </a:solidFill>
                          <a:latin typeface="Calibri"/>
                          <a:ea typeface="Calibri"/>
                          <a:cs typeface="Calibri"/>
                        </a:rPr>
                        <a:t>abs(-2) = 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2 = 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20 and 16</a:t>
                      </a:r>
                    </a:p>
                  </a:txBody>
                  <a:tcPr marL="91440" marR="91440" marT="45720" marB="45720">
                    <a:solidFill>
                      <a:srgbClr val="FFFFFF"/>
                    </a:solidFill>
                  </a:tcPr>
                </a:tc>
                <a:tc>
                  <a:txBody>
                    <a:bodyPr/>
                    <a:lstStyle/>
                    <a:p>
                      <a:r>
                        <a:rPr sz="2025" b="0">
                          <a:solidFill>
                            <a:srgbClr val="1C3144"/>
                          </a:solidFill>
                          <a:latin typeface="Calibri"/>
                          <a:ea typeface="Calibri"/>
                          <a:cs typeface="Calibri"/>
                        </a:rPr>
                        <a:t>abs(4) = 4</a:t>
                      </a:r>
                    </a:p>
                  </a:txBody>
                  <a:tcPr marL="91440" marR="91440" marT="45720" marB="45720">
                    <a:solidFill>
                      <a:srgbClr val="FFFFFF"/>
                    </a:solidFill>
                  </a:tcPr>
                </a:tc>
                <a:tc>
                  <a:txBody>
                    <a:bodyPr/>
                    <a:lstStyle/>
                    <a:p>
                      <a:r>
                        <a:rPr sz="2025" b="0">
                          <a:solidFill>
                            <a:srgbClr val="1C3144"/>
                          </a:solidFill>
                          <a:latin typeface="Calibri"/>
                          <a:ea typeface="Calibri"/>
                          <a:cs typeface="Calibri"/>
                        </a:rPr>
                        <a:t>4 ** 2 = 16</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Average</a:t>
                      </a:r>
                    </a:p>
                  </a:txBody>
                  <a:tcPr marL="91440" marR="91440" marT="45720" marB="45720">
                    <a:solidFill>
                      <a:srgbClr val="EEF3F6"/>
                    </a:solidFill>
                  </a:tcPr>
                </a:tc>
                <a:tc>
                  <a:txBody>
                    <a:bodyPr/>
                    <a:lstStyle/>
                    <a:p>
                      <a:r>
                        <a:rPr sz="2025" b="0">
                          <a:solidFill>
                            <a:srgbClr val="1C3144"/>
                          </a:solidFill>
                          <a:latin typeface="Calibri"/>
                          <a:ea typeface="Calibri"/>
                          <a:cs typeface="Calibri"/>
                        </a:rPr>
                        <a:t>(2 + 4) / 2 = 3</a:t>
                      </a:r>
                    </a:p>
                  </a:txBody>
                  <a:tcPr marL="91440" marR="91440" marT="45720" marB="45720">
                    <a:solidFill>
                      <a:srgbClr val="EEF3F6"/>
                    </a:solidFill>
                  </a:tcPr>
                </a:tc>
                <a:tc>
                  <a:txBody>
                    <a:bodyPr/>
                    <a:lstStyle/>
                    <a:p>
                      <a:r>
                        <a:rPr sz="2025" b="0">
                          <a:solidFill>
                            <a:srgbClr val="1C3144"/>
                          </a:solidFill>
                          <a:latin typeface="Calibri"/>
                          <a:ea typeface="Calibri"/>
                          <a:cs typeface="Calibri"/>
                        </a:rPr>
                        <a:t>(4 + 16) / 2 = 10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C93A962-B381-4154-9C5E-815057B69BD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is 3. RMSE is sqrt(10), approximately 3.1623. sqrt means the nonnegative square root.</a:t>
            </a:r>
          </a:p>
        </p:txBody>
      </p:sp>
      <p:sp>
        <p:nvSpPr>
          <p:cNvPr id="6" name="">
            <a:extLst xmlns:a="http://schemas.openxmlformats.org/drawingml/2006/main">
              <a:ext uri="{FF2B5EF4-FFF2-40B4-BE49-F238E27FC236}">
                <a16:creationId xmlns:a16="http://schemas.microsoft.com/office/drawing/2014/main" id="{E9FD79A6-3D6F-4CFC-8AAE-99FFC69FF7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46</a:t>
            </a:r>
          </a:p>
        </p:txBody>
      </p:sp>
    </p:spTree>
    <p:extLst>
      <p:ext uri="{BB962C8B-B14F-4D97-AF65-F5344CB8AC3E}">
        <p14:creationId xmlns:p14="http://schemas.microsoft.com/office/powerpoint/2010/main" val="6179330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89CEEB-BE68-47B1-AECF-87859C946A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344297-6032-43E5-9BEC-AF53C828DC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DA5A1A-D61A-46F0-A28A-CF9D46836B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31565267-1885-41FF-A113-07E45F066D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7DC87F-DC45-4C5B-8268-FEB7101315F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A21A0301-D024-41E2-A2C9-201BD2288D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653B43-6EAC-43DD-B4AC-0CD9A157535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E53523A7-570F-462F-810B-B42B4366018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E4DAF0-BA18-41C0-9862-383D94719DF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FE279841-81EA-4A44-8128-FB1A720DE1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47</a:t>
            </a:r>
          </a:p>
        </p:txBody>
      </p:sp>
    </p:spTree>
    <p:extLst>
      <p:ext uri="{BB962C8B-B14F-4D97-AF65-F5344CB8AC3E}">
        <p14:creationId xmlns:p14="http://schemas.microsoft.com/office/powerpoint/2010/main" val="9887399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41ACC20-65AC-47B2-9E92-A46712220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964EAB-7331-4999-8900-97D95D25A8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4E9DF7-BBBC-4BEB-9DC6-E65CBC183C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9C3D646C-9ED9-4E22-BBA7-5DEB2A130FB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BA3EB0-AA80-4817-8114-BEE5799AC02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B0FE7E08-8A59-4C5D-B262-F616A30F3EE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821A827-6168-4E0A-AC21-48710C75AA5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A923708A-3E42-4245-9FE0-28056D9FEAD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505DB67A-A91D-4969-9413-A1580826A58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3E669B98-B5A4-4832-B080-3E81B0ACEA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F080B6C-34F7-4AE1-9849-BA10DB87BB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48</a:t>
            </a:r>
          </a:p>
        </p:txBody>
      </p:sp>
    </p:spTree>
    <p:extLst>
      <p:ext uri="{BB962C8B-B14F-4D97-AF65-F5344CB8AC3E}">
        <p14:creationId xmlns:p14="http://schemas.microsoft.com/office/powerpoint/2010/main" val="18536765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E6AFCCB-9BFD-482C-8068-E5E23DC4AE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4805A2-E203-4FBF-851C-92A2D75B3C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ADB9CF6-DD8B-423C-B1ED-7A976B3AFE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60DA207B-6E75-45FB-B231-C620F783C1E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7CB4F4-8902-4C4C-AAC2-1E802F1E8AC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5CE93FBE-6193-4C1F-8C82-B118172A1FB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BDFB29-9804-4886-9B16-CB0CC658858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BF73513-0736-48C2-953B-49E179502D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FF56C8E5-1843-433A-849F-172016BA18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49</a:t>
            </a:r>
          </a:p>
        </p:txBody>
      </p:sp>
    </p:spTree>
    <p:extLst>
      <p:ext uri="{BB962C8B-B14F-4D97-AF65-F5344CB8AC3E}">
        <p14:creationId xmlns:p14="http://schemas.microsoft.com/office/powerpoint/2010/main" val="6470200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99DA2F-ACDA-470C-AFA4-60F0EF25B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02CD76-E467-4021-BE70-E66F522401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7616EF-A7B5-4ACA-A6D6-3F4D596C1A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41482376-B7A3-4B13-8E36-D02F7F0A23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ECA30E-B004-49D8-A7DC-1B104202C3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76A60A0F-AEA9-4C76-B82C-4E7974A8BBD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9F43B-6DD9-4591-8CEF-3CF5945BAE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FD1122CB-299D-466C-8EF3-5FDCBA8F10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C990FB-5660-41DD-8AFE-BBBDEFB5183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81B8A272-6CB3-46BF-8BA5-87701552F4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50</a:t>
            </a:r>
          </a:p>
        </p:txBody>
      </p:sp>
    </p:spTree>
    <p:extLst>
      <p:ext uri="{BB962C8B-B14F-4D97-AF65-F5344CB8AC3E}">
        <p14:creationId xmlns:p14="http://schemas.microsoft.com/office/powerpoint/2010/main" val="17634055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09FC98-5DB5-45DE-9134-7132FD2A3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4E8DD7-7CBB-44C4-9A73-F5209BA188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B973E0-4046-4BB7-84BA-5AC306EDE1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47A266F-8A58-4993-A752-3B2ADD51568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174CD5-EE40-4A52-A069-13711AC1269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55546B2-4C36-430B-84ED-0AA139E8CBC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185A6D95-8FD0-4556-9928-1F7FFB2E97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E95BAC3E-7D11-48C7-B577-AD2C8A5D83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51</a:t>
            </a:r>
          </a:p>
        </p:txBody>
      </p:sp>
    </p:spTree>
    <p:extLst>
      <p:ext uri="{BB962C8B-B14F-4D97-AF65-F5344CB8AC3E}">
        <p14:creationId xmlns:p14="http://schemas.microsoft.com/office/powerpoint/2010/main" val="165219190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77BC9A-C582-44A0-8485-66CFBF7281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AF6CE1-8C40-49E6-A4C2-E8C1D14056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A38AE9-AA7E-416F-8036-0B924A5CAC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849DB3A-E811-414E-B7DA-D7DAF6F733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A4BCA3-7CF3-4438-BA5B-A64D7CEFEB2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D1A61B94-9F94-4B9F-A7CC-09D5B8C6F7E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24EDB5-78DE-4BB2-98C4-AE73C212D03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FE61DE85-34D3-499F-B5AD-4BCBBF13E10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8F4F0D-1667-4B14-8D3E-592914761D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F34FF99F-351F-46D8-B899-369C87CA519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4EFFB53-54D7-4AD9-8850-1D5E447780B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04E844D9-3170-41F1-9E4E-2DE110A0E5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52</a:t>
            </a:r>
          </a:p>
        </p:txBody>
      </p:sp>
    </p:spTree>
    <p:extLst>
      <p:ext uri="{BB962C8B-B14F-4D97-AF65-F5344CB8AC3E}">
        <p14:creationId xmlns:p14="http://schemas.microsoft.com/office/powerpoint/2010/main" val="110723617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BFD829-BBC3-46C0-8685-847137B26D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AB1A10-46E2-48A0-B72E-256340E387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A18B046-BFDB-422A-9CCD-3B94F23A2A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BD75B491-851D-4FF6-BCF2-061B485F38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8F1CCF-A299-474E-8C58-C6F158B8929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59A33A64-4990-42E6-AA1B-4263389314C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4D3192-ACEE-4BAB-94FE-7C80F4DE22B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DE66CEB4-AECB-43DC-A957-8F3823B0B12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44E3DA-68B5-4221-A34D-627F65B7482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185481E7-544E-4F87-A3D2-8696DEE02C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53</a:t>
            </a:r>
          </a:p>
        </p:txBody>
      </p:sp>
    </p:spTree>
    <p:extLst>
      <p:ext uri="{BB962C8B-B14F-4D97-AF65-F5344CB8AC3E}">
        <p14:creationId xmlns:p14="http://schemas.microsoft.com/office/powerpoint/2010/main" val="191274870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D90ADE-E74C-4E2E-BB01-1BAE93E204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D3F6AB-86CC-4CFC-BADB-B6C0E68B94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55F33-A471-455B-A3A2-1D1BF2087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5597AB8D-E4CC-4C79-B974-ECD0882C20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946769-1A34-4969-B73D-6EE55582DA4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8150BC09-ED41-4DAD-8BC9-74D5E53B4E7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B6549C-4CC3-42BA-9F8F-856C29FFA83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26671EE7-5DAB-4B03-BD59-C97B07442EF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BAA480-C2C2-4628-B383-91B515C9FDB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1F1D54B8-4F14-4218-82A4-70B93067E4C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3D2E0E-B975-415D-AC04-1744850E38C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62645E69-9ED0-4A3C-88B1-47E84A734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54</a:t>
            </a:r>
          </a:p>
        </p:txBody>
      </p:sp>
    </p:spTree>
    <p:extLst>
      <p:ext uri="{BB962C8B-B14F-4D97-AF65-F5344CB8AC3E}">
        <p14:creationId xmlns:p14="http://schemas.microsoft.com/office/powerpoint/2010/main" val="158664009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04DA45-BD02-420E-9BFC-2BB2E92EAF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E1E0A9-5544-4F78-B0BA-009A2FF96E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893289-4671-4A0E-A69E-726AF205F7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080EE5CC-B873-4A1E-AC0C-79B9FEDF37D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4F35DC-96A9-4365-B57B-077F9298857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3098E5-6C41-4EC5-83AD-CB89CB8450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993A7AD0-D860-434A-8F8D-97294C4D77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EC3B6035-CFFE-419C-B91C-B793EE29C0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55</a:t>
            </a:r>
          </a:p>
        </p:txBody>
      </p:sp>
    </p:spTree>
    <p:extLst>
      <p:ext uri="{BB962C8B-B14F-4D97-AF65-F5344CB8AC3E}">
        <p14:creationId xmlns:p14="http://schemas.microsoft.com/office/powerpoint/2010/main" val="10757563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B5AD3E-32C5-4E7F-8930-AD16D4868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B0377C-7866-4B9A-80B8-B0D0778BA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70ED5D5-5979-4C2C-8D89-DD6B0DF522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B0174AA-21B2-4C88-9FB6-65D3568320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27D9C9-C9B8-473A-9FB0-DF0D483EC69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2CB40CD4-D3DA-4CD3-ABB5-A23FD0E52FD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5BEB9B-50EB-4495-9BBE-3EE2EB49A89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0EB805BC-B74B-410B-8563-5A32E93840B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D965B3-9CC1-4ECE-8D29-E5574E69C8C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986E7D3B-32BC-4073-B8D4-026560601D5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0D78F7-7405-4A34-ACB7-C41E1E593C1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445349F5-86FD-4D63-A6DA-88F3C3FB3A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56</a:t>
            </a:r>
          </a:p>
        </p:txBody>
      </p:sp>
    </p:spTree>
    <p:extLst>
      <p:ext uri="{BB962C8B-B14F-4D97-AF65-F5344CB8AC3E}">
        <p14:creationId xmlns:p14="http://schemas.microsoft.com/office/powerpoint/2010/main" val="16439337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3825FF-4BB6-4670-94A2-96A49FBAD5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14F7C8-6FB1-40EC-B155-6F3CFE63BA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806533D-F388-4D72-85D4-E60E43FE09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3F25934E-381F-4EA5-AED1-CE02130D15D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BA9852-DA86-49B9-8671-F546F3D9BF9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1AA33D58-FF2F-4C57-B476-4CE3CE51975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5A9F751-9B50-48F4-A2D7-5FA9A418715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754FADE-1DBB-42DE-BD87-CA2330AF21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57</a:t>
            </a:r>
          </a:p>
        </p:txBody>
      </p:sp>
    </p:spTree>
    <p:extLst>
      <p:ext uri="{BB962C8B-B14F-4D97-AF65-F5344CB8AC3E}">
        <p14:creationId xmlns:p14="http://schemas.microsoft.com/office/powerpoint/2010/main" val="205175037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6663AD-E211-4148-9BC8-E725186C73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4C0289-B7F9-4213-862B-1C2AA4D718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7B47315-BF93-4D75-BF57-E9BE508F3D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6190AA8F-962B-4DFD-80A7-9F2F3D013C5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9A6F27-9D13-4425-B41B-EBC76804412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6EC5831C-94E8-426F-95E7-AC9E57FBF7E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58D93E-A946-4A6F-AAFF-6ADFE084D17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CA59EAD-BABE-45D9-9F15-1A0F9524AE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58</a:t>
            </a:r>
          </a:p>
        </p:txBody>
      </p:sp>
    </p:spTree>
    <p:extLst>
      <p:ext uri="{BB962C8B-B14F-4D97-AF65-F5344CB8AC3E}">
        <p14:creationId xmlns:p14="http://schemas.microsoft.com/office/powerpoint/2010/main" val="205636123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F3F726-1904-4A08-9D86-B92B89F84E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04C97A-6694-4C98-9A5E-970E4FE0FF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ABC9460-0E8E-469F-8711-544CEA5943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1A9E4E8-E0AF-483D-8B8B-3A22BB002B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6D057F-7C0F-46E8-9EEA-98672418BA5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51BE9C6-8BFE-424F-9040-70675A4EDD7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D0093C-D15A-4F45-AB6B-660B1DDCA6D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83F6B27-D9F7-4762-9004-E167D3EC9DE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5C22E4-4A08-4A6C-8170-491EE975C14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A29A4BD-4418-4644-B188-E6788CF5ABB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7F2EC4-384E-449F-8943-7564C264376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B1527201-4961-4DC6-9BD9-1AED07ECD5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59</a:t>
            </a:r>
          </a:p>
        </p:txBody>
      </p:sp>
    </p:spTree>
    <p:extLst>
      <p:ext uri="{BB962C8B-B14F-4D97-AF65-F5344CB8AC3E}">
        <p14:creationId xmlns:p14="http://schemas.microsoft.com/office/powerpoint/2010/main" val="19048649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7C84304-CF13-4C11-9F67-38BA9AC717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9DEB05-B2FC-4CA5-BB15-C9251D900D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0136405-B6EC-4E65-92C3-B986F181E7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00527F78-AEA6-453D-9F59-9A6BDA5F4C0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7D61E4-1E87-4845-9BF5-6CD89702F7E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11:00 Kampala</a:t>
            </a:r>
          </a:p>
        </p:txBody>
      </p:sp>
      <p:sp>
        <p:nvSpPr>
          <p:cNvPr id="6" name="">
            <a:extLst xmlns:a="http://schemas.openxmlformats.org/drawingml/2006/main">
              <a:ext uri="{FF2B5EF4-FFF2-40B4-BE49-F238E27FC236}">
                <a16:creationId xmlns:a16="http://schemas.microsoft.com/office/drawing/2014/main" id="{1854E022-398B-4CDF-B4D1-9579B4D6A60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99285E-78BA-4505-9D7A-38CBED77485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11:00 Kampala</a:t>
            </a:r>
          </a:p>
        </p:txBody>
      </p:sp>
      <p:sp>
        <p:nvSpPr>
          <p:cNvPr id="8" name="">
            <a:extLst xmlns:a="http://schemas.openxmlformats.org/drawingml/2006/main">
              <a:ext uri="{FF2B5EF4-FFF2-40B4-BE49-F238E27FC236}">
                <a16:creationId xmlns:a16="http://schemas.microsoft.com/office/drawing/2014/main" id="{8E441A7E-6424-4B10-A68B-7A69089A77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5237D9-79F2-4C8C-B818-2A7DE62F8ED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9D6BE60-27FF-423A-A95A-F2C76619B45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004C2F6-2C29-4428-8F6F-82F9E08EA70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CF60102-CFD9-4899-96DE-263E9FE17EC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CCDAEF9-6C56-4A53-AF30-520214BFD7B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f30e917bfe64485"/>
              </a:rPr>
              <a:t>Open W08 assignment form</a:t>
            </a:r>
          </a:p>
        </p:txBody>
      </p:sp>
      <p:sp>
        <p:nvSpPr>
          <p:cNvPr id="14" name="">
            <a:extLst xmlns:a="http://schemas.openxmlformats.org/drawingml/2006/main">
              <a:ext uri="{FF2B5EF4-FFF2-40B4-BE49-F238E27FC236}">
                <a16:creationId xmlns:a16="http://schemas.microsoft.com/office/drawing/2014/main" id="{A0A97211-0298-4E08-B66B-3CB93F98FA6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https://docs.google.com/forms/d/e/1FAIpQLSeAVNyokX8n-TQXwu2hQtJJkeKsQcU8katFAhghZmQH4HJreA/viewform</a:t>
            </a:r>
          </a:p>
        </p:txBody>
      </p:sp>
      <p:sp>
        <p:nvSpPr>
          <p:cNvPr id="15" name="">
            <a:extLst xmlns:a="http://schemas.openxmlformats.org/drawingml/2006/main">
              <a:ext uri="{FF2B5EF4-FFF2-40B4-BE49-F238E27FC236}">
                <a16:creationId xmlns:a16="http://schemas.microsoft.com/office/drawing/2014/main" id="{1CC273B8-A8B0-49F9-8E44-4E57BB3AD5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60</a:t>
            </a:r>
          </a:p>
        </p:txBody>
      </p:sp>
    </p:spTree>
    <p:extLst>
      <p:ext uri="{BB962C8B-B14F-4D97-AF65-F5344CB8AC3E}">
        <p14:creationId xmlns:p14="http://schemas.microsoft.com/office/powerpoint/2010/main" val="94906711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85324E6-EB85-479C-BD74-A68CB11A46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3F7BC4-1040-40DB-AC1B-61E4D9B656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D228F3C-7092-4737-8A7C-CB50E4B849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8B5DA6E5-B195-433D-B0A2-0C48D239B3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7E554D-1DC9-4C2C-8028-11C4D0353B2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2EB994B0-359F-4316-8EF2-005DB28FD71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29C418-D5F1-46C4-ACAD-5A0832B386B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D9A63D3E-3961-47D7-991B-4EE19B6C99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585854-A903-40A1-9772-86C810585E8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1465F90D-6CE9-4C69-B4EA-159A166E9D7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192063-68D6-43E2-8CE4-C80D42538C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2D20F83B-2089-4B54-B53C-08AB270A80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61</a:t>
            </a:r>
          </a:p>
        </p:txBody>
      </p:sp>
    </p:spTree>
    <p:extLst>
      <p:ext uri="{BB962C8B-B14F-4D97-AF65-F5344CB8AC3E}">
        <p14:creationId xmlns:p14="http://schemas.microsoft.com/office/powerpoint/2010/main" val="1548780585"/>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3CF661-F9F8-4DEA-A8D9-A14A2F8019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22C51B-9DBD-4CF5-9756-47569E163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9721A9C-B764-46B2-81D2-A427367D99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89834F2F-61DD-4380-A504-1AD525EA59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57B959-D642-4323-B6CE-77AC18C4745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89895C37-A719-49DB-9C8C-A0505179796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4E4A23-D956-468A-8DC8-E654BBA42E7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E1EE1DB-BF74-44CC-B519-8E9150FD879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C4B5E4-4F97-4E2A-9081-3F0B2351717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122CA6B-1DBB-4BA4-9391-2396177B688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AE6D86-6816-49B3-B17E-0DA6A9CB280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407C98B9-3CF3-4804-B8ED-BE444EB3F1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62</a:t>
            </a:r>
          </a:p>
        </p:txBody>
      </p:sp>
    </p:spTree>
    <p:extLst>
      <p:ext uri="{BB962C8B-B14F-4D97-AF65-F5344CB8AC3E}">
        <p14:creationId xmlns:p14="http://schemas.microsoft.com/office/powerpoint/2010/main" val="185212238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16A22D-FCFB-4434-9B35-9A88195B02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3F36C1-BFF2-4BB6-BA99-F282AE119A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2651A0-8914-4825-9345-2CB3ECA948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C1F4C1BB-FDF7-48DF-A645-359CBC007B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B78151-2483-4912-B0F9-3FE6B243ECD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EFA7DE86-5B87-4339-AF9A-32516B6C918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280481-7FF3-48B7-8E54-1F33EA3B3CF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7D406D58-422F-4ED8-9E74-192FE9F4DD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79CE20-2518-4025-90BC-DD2FDF9DD2E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950EEEB5-5A7F-4F9E-B327-3D31A1DC7C6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B81F8A-4C25-4560-9DBA-C50465573DD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902A03C5-4B7F-4BE7-9D35-31352BAD3C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63</a:t>
            </a:r>
          </a:p>
        </p:txBody>
      </p:sp>
    </p:spTree>
    <p:extLst>
      <p:ext uri="{BB962C8B-B14F-4D97-AF65-F5344CB8AC3E}">
        <p14:creationId xmlns:p14="http://schemas.microsoft.com/office/powerpoint/2010/main" val="78031621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0A04CD-B910-4981-862F-85505D503A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78B74C-CD65-4591-B898-61D686BFD3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444591-A215-40B4-A304-5C8FC88EC7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957241A3-A19B-4AC2-B82D-651E84CAAF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1518C8-443B-4460-9D43-AC54733F0C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30D5CA46-14F3-47ED-945F-5675A531316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CC5DD5-BC82-4AF8-A324-A76DCAA85D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78839538-5E6F-498C-8672-BAAD2B45165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4ECF87-CD84-4A5D-AF3F-F2BC40843B6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CE793895-DAFA-4FB8-92E9-2872F514677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48F2BB-AF94-460C-95AB-BB2AFA1AE8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E8D22606-4F33-4109-BA44-D4F0D2FC9C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64</a:t>
            </a:r>
          </a:p>
        </p:txBody>
      </p:sp>
    </p:spTree>
    <p:extLst>
      <p:ext uri="{BB962C8B-B14F-4D97-AF65-F5344CB8AC3E}">
        <p14:creationId xmlns:p14="http://schemas.microsoft.com/office/powerpoint/2010/main" val="39232811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A3BBA3-E2A9-4380-AFCB-D0A35FB641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8FDC91-21C5-449A-8AA4-231C834552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8CE786-BCB8-4DE2-92D7-0886139DC7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AE615457-F176-4887-9BF9-3D76AAD6C6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362B0D-F4C9-4E72-AAB5-588FC140163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FE16769E-6654-464C-B9E6-EEAC220630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65</a:t>
            </a:r>
          </a:p>
        </p:txBody>
      </p:sp>
    </p:spTree>
    <p:extLst>
      <p:ext uri="{BB962C8B-B14F-4D97-AF65-F5344CB8AC3E}">
        <p14:creationId xmlns:p14="http://schemas.microsoft.com/office/powerpoint/2010/main" val="92468662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2378EE2-31B6-4A2E-8BCD-F9BC1AD1F1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85DFFE-5A34-473C-A417-8918A6E2C1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69D12E9-ED8D-48A7-81D1-6B0F6836A2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4000BA51-6964-42E0-84D1-0B13216BB89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2999BC-B2BC-4832-BBA1-707B80D80F2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11:00 Kampala</a:t>
            </a:r>
          </a:p>
        </p:txBody>
      </p:sp>
      <p:sp>
        <p:nvSpPr>
          <p:cNvPr id="6" name="">
            <a:extLst xmlns:a="http://schemas.openxmlformats.org/drawingml/2006/main">
              <a:ext uri="{FF2B5EF4-FFF2-40B4-BE49-F238E27FC236}">
                <a16:creationId xmlns:a16="http://schemas.microsoft.com/office/drawing/2014/main" id="{FD53501E-497D-43A7-AB54-0D28B9828F1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8FDC9F-5E29-405F-ABF0-0BB8B5C3678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11:00 Kampala</a:t>
            </a:r>
          </a:p>
        </p:txBody>
      </p:sp>
      <p:sp>
        <p:nvSpPr>
          <p:cNvPr id="8" name="">
            <a:extLst xmlns:a="http://schemas.openxmlformats.org/drawingml/2006/main">
              <a:ext uri="{FF2B5EF4-FFF2-40B4-BE49-F238E27FC236}">
                <a16:creationId xmlns:a16="http://schemas.microsoft.com/office/drawing/2014/main" id="{2E4365D7-1F37-4A1D-AB4F-29FFEDC27B9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66FE8C-F1BC-4B9D-8F0F-78B7A3CB44F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AE44A0F-E777-4FD9-B345-11B5DA0DD38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341029F-7B15-4FBE-99EF-AC4D3476B24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F0C066B-91E8-4FEA-B13A-4DC9C9A7EDD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B89B841-34A4-45A2-950E-4A3217658C8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fa18bd3c74e4bac"/>
              </a:rPr>
              <a:t>Open DA_PROJECT assignment form</a:t>
            </a:r>
          </a:p>
        </p:txBody>
      </p:sp>
      <p:sp>
        <p:nvSpPr>
          <p:cNvPr id="14" name="">
            <a:extLst xmlns:a="http://schemas.openxmlformats.org/drawingml/2006/main">
              <a:ext uri="{FF2B5EF4-FFF2-40B4-BE49-F238E27FC236}">
                <a16:creationId xmlns:a16="http://schemas.microsoft.com/office/drawing/2014/main" id="{A6BCDBCA-E9B0-4826-823C-40534BA6504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https://docs.google.com/forms/d/e/1FAIpQLSeFHqKnsIRNf8opU-Iksp55kGXQVFWPgL97r724FoRwvkz-6A/viewform</a:t>
            </a:r>
          </a:p>
        </p:txBody>
      </p:sp>
      <p:sp>
        <p:nvSpPr>
          <p:cNvPr id="15" name="">
            <a:extLst xmlns:a="http://schemas.openxmlformats.org/drawingml/2006/main">
              <a:ext uri="{FF2B5EF4-FFF2-40B4-BE49-F238E27FC236}">
                <a16:creationId xmlns:a16="http://schemas.microsoft.com/office/drawing/2014/main" id="{FB6EAEA2-E7F8-4C11-A46B-BE5A28FDA8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66</a:t>
            </a:r>
          </a:p>
        </p:txBody>
      </p:sp>
    </p:spTree>
    <p:extLst>
      <p:ext uri="{BB962C8B-B14F-4D97-AF65-F5344CB8AC3E}">
        <p14:creationId xmlns:p14="http://schemas.microsoft.com/office/powerpoint/2010/main" val="1771601649"/>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70F9830-96CD-4A9A-9D09-A8D584A22E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21304B-0F6A-42AA-92D1-F000E8FB32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4986064-F6B7-49DB-884A-6D23BF3C07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3438113D-B413-4271-B3A1-86A74566522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C10C13-9D9D-47AE-8D7F-791AD356E43C}"/>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72B28DB9-0DF4-4754-A606-812ACA15C4C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7DEF02-0833-4FC3-9C8B-8A78591B6285}"/>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3F82ACD5-DC39-4020-91E4-401E3FDBC56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F320EC-32F8-4092-8A5C-1A04275A754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5163EB9A-5DA0-415D-AA31-1DD17FBC6C4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96C37DD-513B-4685-884C-25DF4702A40D}"/>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db61498323f48f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0E5181DD-5A90-4A81-A5CE-4D18399AAD6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5190266-C74E-4D1A-8C6A-AC026465275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F2CD846-EE9C-4B6E-8613-64505D7B3D2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0faf924c26d4652"/>
              </a:rPr>
              <a:t>Open this week’s quiz</a:t>
            </a:r>
          </a:p>
        </p:txBody>
      </p:sp>
      <p:sp>
        <p:nvSpPr>
          <p:cNvPr id="16" name="">
            <a:extLst xmlns:a="http://schemas.openxmlformats.org/drawingml/2006/main">
              <a:ext uri="{FF2B5EF4-FFF2-40B4-BE49-F238E27FC236}">
                <a16:creationId xmlns:a16="http://schemas.microsoft.com/office/drawing/2014/main" id="{4509B44F-215B-47E7-929A-6B3D4FAE9BC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https://forms.gle/KsZJ7QANUE99kkX36</a:t>
            </a:r>
          </a:p>
        </p:txBody>
      </p:sp>
      <p:sp>
        <p:nvSpPr>
          <p:cNvPr id="17" name="">
            <a:extLst xmlns:a="http://schemas.openxmlformats.org/drawingml/2006/main">
              <a:ext uri="{FF2B5EF4-FFF2-40B4-BE49-F238E27FC236}">
                <a16:creationId xmlns:a16="http://schemas.microsoft.com/office/drawing/2014/main" id="{00DB6881-D313-44AE-8648-007657AC68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67</a:t>
            </a:r>
          </a:p>
        </p:txBody>
      </p:sp>
    </p:spTree>
    <p:extLst>
      <p:ext uri="{BB962C8B-B14F-4D97-AF65-F5344CB8AC3E}">
        <p14:creationId xmlns:p14="http://schemas.microsoft.com/office/powerpoint/2010/main" val="1657147121"/>
      </p:ext>
    </p:extLst>
  </p:cSld>
</p:sld>
</file>

<file path=ppt/slides/slide6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C6FE7C-E58E-4BD7-A2D9-1895D61C60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C21C3C6-4E33-4706-92D5-95081DB5B6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B2877ED-8DCE-4D3F-8F87-9EFD1EAAADB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D293A9F-9B78-4D96-BEF2-3FABD2C572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6A787DC-58E0-4EEA-85B4-EEB96EC9078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7B5CE8D-F68E-44CC-8F87-D9D2E0FDEC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68</a:t>
            </a:r>
          </a:p>
        </p:txBody>
      </p:sp>
    </p:spTree>
    <p:extLst>
      <p:ext uri="{BB962C8B-B14F-4D97-AF65-F5344CB8AC3E}">
        <p14:creationId xmlns:p14="http://schemas.microsoft.com/office/powerpoint/2010/main" val="958002788"/>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A1455E9-3044-499A-8FE5-95B7332277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0143AD-1437-4F71-A2FB-FE56A413A1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141460D-D0E2-4E6B-92FF-4F1CEF9C96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9915ECF-EA9D-409B-B787-07AEC7EFB8E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5CA888-83EA-4075-80EF-FC7F9B5776C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A7F02DD6-D9DB-49E4-8117-ED57335ED76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DDE134-A1C4-4258-B798-2DB57EAC214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99458556-C36B-4436-BCF2-EE1D5371C63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501967-98EC-4C08-9FC6-0F6166CEBA1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8C597C24-D61B-4383-A609-347634268CC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02D10C4-692E-422C-A993-4846D00FAA7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DBC83B89-1EA2-4A5F-890C-B42645A15A2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EE9888-AA6C-4435-9252-32BD2894C9E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a1cd16fbcf34852"/>
              </a:rPr>
              <a:t>Open explainer video</a:t>
            </a:r>
          </a:p>
        </p:txBody>
      </p:sp>
      <p:sp>
        <p:nvSpPr>
          <p:cNvPr id="14" name="">
            <a:extLst xmlns:a="http://schemas.openxmlformats.org/drawingml/2006/main">
              <a:ext uri="{FF2B5EF4-FFF2-40B4-BE49-F238E27FC236}">
                <a16:creationId xmlns:a16="http://schemas.microsoft.com/office/drawing/2014/main" id="{C4C3841D-FF02-4E53-A58D-A21E07C453A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FB6E075A-D61D-42F8-AEBD-C8580E5DD8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69</a:t>
            </a:r>
          </a:p>
        </p:txBody>
      </p:sp>
    </p:spTree>
    <p:extLst>
      <p:ext uri="{BB962C8B-B14F-4D97-AF65-F5344CB8AC3E}">
        <p14:creationId xmlns:p14="http://schemas.microsoft.com/office/powerpoint/2010/main" val="11190646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2026-09-28T21:46:34.6600000Z</dcterms:created>
  <dcterms:modified xsi:type="dcterms:W3CDTF">2026-09-28T21:46:34.6600000Z</dcterms:modified>
</coreProperties>
</file>