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Override PartName="/ppt/slides/slide55.xml" ContentType="application/vnd.openxmlformats-officedocument.presentationml.slide+xml"/>
  <Override PartName="/ppt/notesSlides/notesSlide55.xml" ContentType="application/vnd.openxmlformats-officedocument.presentationml.notesSlide+xml"/>
  <Override PartName="/ppt/slides/slide56.xml" ContentType="application/vnd.openxmlformats-officedocument.presentationml.slide+xml"/>
  <Override PartName="/ppt/notesSlides/notesSlide56.xml" ContentType="application/vnd.openxmlformats-officedocument.presentationml.notesSlide+xml"/>
  <Override PartName="/ppt/slides/slide57.xml" ContentType="application/vnd.openxmlformats-officedocument.presentationml.slide+xml"/>
  <Override PartName="/ppt/notesSlides/notesSlide57.xml" ContentType="application/vnd.openxmlformats-officedocument.presentationml.notesSlide+xml"/>
  <Override PartName="/ppt/slides/slide58.xml" ContentType="application/vnd.openxmlformats-officedocument.presentationml.slide+xml"/>
  <Override PartName="/ppt/notesSlides/notesSlide58.xml" ContentType="application/vnd.openxmlformats-officedocument.presentationml.notesSlide+xml"/>
  <Override PartName="/ppt/slides/slide59.xml" ContentType="application/vnd.openxmlformats-officedocument.presentationml.slide+xml"/>
  <Override PartName="/ppt/notesSlides/notesSlide59.xml" ContentType="application/vnd.openxmlformats-officedocument.presentationml.notesSlide+xml"/>
  <Override PartName="/ppt/slides/slide60.xml" ContentType="application/vnd.openxmlformats-officedocument.presentationml.slide+xml"/>
  <Override PartName="/ppt/notesSlides/notesSlide60.xml" ContentType="application/vnd.openxmlformats-officedocument.presentationml.notesSlide+xml"/>
  <Override PartName="/ppt/slides/slide61.xml" ContentType="application/vnd.openxmlformats-officedocument.presentationml.slide+xml"/>
  <Override PartName="/ppt/notesSlides/notesSlide61.xml" ContentType="application/vnd.openxmlformats-officedocument.presentationml.notesSlide+xml"/>
  <Override PartName="/ppt/slides/slide62.xml" ContentType="application/vnd.openxmlformats-officedocument.presentationml.slide+xml"/>
  <Override PartName="/ppt/notesSlides/notesSlide62.xml" ContentType="application/vnd.openxmlformats-officedocument.presentationml.notesSlide+xml"/>
  <Override PartName="/ppt/slides/slide63.xml" ContentType="application/vnd.openxmlformats-officedocument.presentationml.slide+xml"/>
  <Override PartName="/ppt/notesSlides/notesSlide63.xml" ContentType="application/vnd.openxmlformats-officedocument.presentationml.notesSlide+xml"/>
  <Override PartName="/ppt/slides/slide64.xml" ContentType="application/vnd.openxmlformats-officedocument.presentationml.slide+xml"/>
  <Override PartName="/ppt/notesSlides/notesSlide64.xml" ContentType="application/vnd.openxmlformats-officedocument.presentationml.notesSlide+xml"/>
  <Override PartName="/ppt/slides/slide65.xml" ContentType="application/vnd.openxmlformats-officedocument.presentationml.slide+xml"/>
  <Override PartName="/ppt/notesSlides/notesSlide65.xml" ContentType="application/vnd.openxmlformats-officedocument.presentationml.notesSlide+xml"/>
  <Override PartName="/ppt/slides/slide66.xml" ContentType="application/vnd.openxmlformats-officedocument.presentationml.slide+xml"/>
  <Override PartName="/ppt/notesSlides/notesSlide66.xml" ContentType="application/vnd.openxmlformats-officedocument.presentationml.notesSlide+xml"/>
  <Override PartName="/ppt/slides/slide67.xml" ContentType="application/vnd.openxmlformats-officedocument.presentationml.slide+xml"/>
  <Override PartName="/ppt/notesSlides/notesSlide67.xml" ContentType="application/vnd.openxmlformats-officedocument.presentationml.notesSlide+xml"/>
  <Override PartName="/ppt/slides/slide68.xml" ContentType="application/vnd.openxmlformats-officedocument.presentationml.slide+xml"/>
  <Override PartName="/ppt/notesSlides/notesSlide68.xml" ContentType="application/vnd.openxmlformats-officedocument.presentationml.notesSlide+xml"/>
  <Override PartName="/ppt/slides/slide69.xml" ContentType="application/vnd.openxmlformats-officedocument.presentationml.slide+xml"/>
  <Override PartName="/ppt/notesSlides/notesSlide69.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be0c08de8f794de4" /><Relationship Type="http://schemas.openxmlformats.org/officeDocument/2006/relationships/extended-properties" Target="/docProps/app.xml" Id="Rb49f83725af74f17" /><Relationship Type="http://schemas.openxmlformats.org/officeDocument/2006/relationships/officeDocument" Target="/ppt/presentation.xml" Id="Rcfc3baec75ad4e1c" /></Relationships>
</file>

<file path=ppt/presentation.xml><?xml version="1.0" encoding="utf-8"?>
<p:presentation xmlns:p="http://schemas.openxmlformats.org/presentationml/2006/main">
  <p:sldMasterIdLst>
    <p:sldMasterId xmlns:r="http://schemas.openxmlformats.org/officeDocument/2006/relationships" id="2147483648" r:id="R3625ae2e0cef4102"/>
  </p:sldMasterIdLst>
  <p:notesMasterIdLst>
    <p:notesMasterId xmlns:r="http://schemas.openxmlformats.org/officeDocument/2006/relationships" r:id="R81ec9142d1ef472d"/>
  </p:notesMasterIdLst>
  <p:sldIdLst>
    <p:sldId xmlns:r="http://schemas.openxmlformats.org/officeDocument/2006/relationships" id="256" r:id="R54a36ebcbccd4b9b"/>
    <p:sldId xmlns:r="http://schemas.openxmlformats.org/officeDocument/2006/relationships" id="257" r:id="R1c104bea24794ee5"/>
    <p:sldId xmlns:r="http://schemas.openxmlformats.org/officeDocument/2006/relationships" id="258" r:id="Rca7aaaf526a545dd"/>
    <p:sldId xmlns:r="http://schemas.openxmlformats.org/officeDocument/2006/relationships" id="259" r:id="R120c96c2c60f41f1"/>
    <p:sldId xmlns:r="http://schemas.openxmlformats.org/officeDocument/2006/relationships" id="260" r:id="Raeba0ac28dfe41df"/>
    <p:sldId xmlns:r="http://schemas.openxmlformats.org/officeDocument/2006/relationships" id="261" r:id="R4f12c6df82e4451f"/>
    <p:sldId xmlns:r="http://schemas.openxmlformats.org/officeDocument/2006/relationships" id="262" r:id="R7219be48d93746e3"/>
    <p:sldId xmlns:r="http://schemas.openxmlformats.org/officeDocument/2006/relationships" id="263" r:id="R6d5894f19f9e4539"/>
    <p:sldId xmlns:r="http://schemas.openxmlformats.org/officeDocument/2006/relationships" id="264" r:id="Rbbbc9c47518b4f79"/>
    <p:sldId xmlns:r="http://schemas.openxmlformats.org/officeDocument/2006/relationships" id="265" r:id="Rf0e72c80225b43a8"/>
    <p:sldId xmlns:r="http://schemas.openxmlformats.org/officeDocument/2006/relationships" id="266" r:id="R0b349e4270d8454a"/>
    <p:sldId xmlns:r="http://schemas.openxmlformats.org/officeDocument/2006/relationships" id="267" r:id="R8ba8e78156a34c10"/>
    <p:sldId xmlns:r="http://schemas.openxmlformats.org/officeDocument/2006/relationships" id="268" r:id="Rb4463e12749041f6"/>
    <p:sldId xmlns:r="http://schemas.openxmlformats.org/officeDocument/2006/relationships" id="269" r:id="R1ed1617c738647ec"/>
    <p:sldId xmlns:r="http://schemas.openxmlformats.org/officeDocument/2006/relationships" id="270" r:id="R72897015802842a9"/>
    <p:sldId xmlns:r="http://schemas.openxmlformats.org/officeDocument/2006/relationships" id="271" r:id="R8aaac18e4a694731"/>
    <p:sldId xmlns:r="http://schemas.openxmlformats.org/officeDocument/2006/relationships" id="272" r:id="R93e8538888a94560"/>
    <p:sldId xmlns:r="http://schemas.openxmlformats.org/officeDocument/2006/relationships" id="273" r:id="Rf5d05667496d4a6e"/>
    <p:sldId xmlns:r="http://schemas.openxmlformats.org/officeDocument/2006/relationships" id="274" r:id="R35c087a91da343de"/>
    <p:sldId xmlns:r="http://schemas.openxmlformats.org/officeDocument/2006/relationships" id="275" r:id="R8f904c09e1074093"/>
    <p:sldId xmlns:r="http://schemas.openxmlformats.org/officeDocument/2006/relationships" id="276" r:id="R1d879cc10d7d4da6"/>
    <p:sldId xmlns:r="http://schemas.openxmlformats.org/officeDocument/2006/relationships" id="277" r:id="Red1ed4ac33574dff"/>
    <p:sldId xmlns:r="http://schemas.openxmlformats.org/officeDocument/2006/relationships" id="278" r:id="Rebba06d8ab9d466f"/>
    <p:sldId xmlns:r="http://schemas.openxmlformats.org/officeDocument/2006/relationships" id="279" r:id="R6f47f001cdd8475e"/>
    <p:sldId xmlns:r="http://schemas.openxmlformats.org/officeDocument/2006/relationships" id="280" r:id="Rdbc86955512c4e72"/>
    <p:sldId xmlns:r="http://schemas.openxmlformats.org/officeDocument/2006/relationships" id="281" r:id="R319e5259709d4593"/>
    <p:sldId xmlns:r="http://schemas.openxmlformats.org/officeDocument/2006/relationships" id="282" r:id="R009da3f7bee24562"/>
    <p:sldId xmlns:r="http://schemas.openxmlformats.org/officeDocument/2006/relationships" id="283" r:id="R1fc062753c9b4843"/>
    <p:sldId xmlns:r="http://schemas.openxmlformats.org/officeDocument/2006/relationships" id="284" r:id="R606a9635fea44c50"/>
    <p:sldId xmlns:r="http://schemas.openxmlformats.org/officeDocument/2006/relationships" id="285" r:id="Ra6352287aaa04641"/>
    <p:sldId xmlns:r="http://schemas.openxmlformats.org/officeDocument/2006/relationships" id="286" r:id="R506ed92c309744de"/>
    <p:sldId xmlns:r="http://schemas.openxmlformats.org/officeDocument/2006/relationships" id="287" r:id="R4382cb3d672e4199"/>
    <p:sldId xmlns:r="http://schemas.openxmlformats.org/officeDocument/2006/relationships" id="288" r:id="Refe26e1f6ea44736"/>
    <p:sldId xmlns:r="http://schemas.openxmlformats.org/officeDocument/2006/relationships" id="289" r:id="Raaff447440054ffa"/>
    <p:sldId xmlns:r="http://schemas.openxmlformats.org/officeDocument/2006/relationships" id="290" r:id="R3619faac95d9489e"/>
    <p:sldId xmlns:r="http://schemas.openxmlformats.org/officeDocument/2006/relationships" id="291" r:id="Rd48e06c1c6894955"/>
    <p:sldId xmlns:r="http://schemas.openxmlformats.org/officeDocument/2006/relationships" id="292" r:id="R66bee0c7969a4be9"/>
    <p:sldId xmlns:r="http://schemas.openxmlformats.org/officeDocument/2006/relationships" id="293" r:id="Rcf8044f497e34542"/>
    <p:sldId xmlns:r="http://schemas.openxmlformats.org/officeDocument/2006/relationships" id="294" r:id="Rc37ee1372a504cf5"/>
    <p:sldId xmlns:r="http://schemas.openxmlformats.org/officeDocument/2006/relationships" id="295" r:id="R1c8f7cba33e04e13"/>
    <p:sldId xmlns:r="http://schemas.openxmlformats.org/officeDocument/2006/relationships" id="296" r:id="R2f2a716781794cd1"/>
    <p:sldId xmlns:r="http://schemas.openxmlformats.org/officeDocument/2006/relationships" id="297" r:id="R4690b3b62e8b4f84"/>
    <p:sldId xmlns:r="http://schemas.openxmlformats.org/officeDocument/2006/relationships" id="298" r:id="R12b5a1297ae3457c"/>
    <p:sldId xmlns:r="http://schemas.openxmlformats.org/officeDocument/2006/relationships" id="299" r:id="R0300b3cd42fd4341"/>
    <p:sldId xmlns:r="http://schemas.openxmlformats.org/officeDocument/2006/relationships" id="300" r:id="Rb4f20d1499484929"/>
    <p:sldId xmlns:r="http://schemas.openxmlformats.org/officeDocument/2006/relationships" id="301" r:id="R04d00a9bfc6a4e5e"/>
    <p:sldId xmlns:r="http://schemas.openxmlformats.org/officeDocument/2006/relationships" id="302" r:id="Re8a72abd2c5946eb"/>
    <p:sldId xmlns:r="http://schemas.openxmlformats.org/officeDocument/2006/relationships" id="303" r:id="Rb6d37856aeb84657"/>
    <p:sldId xmlns:r="http://schemas.openxmlformats.org/officeDocument/2006/relationships" id="304" r:id="Red787f211b034ea9"/>
    <p:sldId xmlns:r="http://schemas.openxmlformats.org/officeDocument/2006/relationships" id="305" r:id="Re40d746e3c954c69"/>
    <p:sldId xmlns:r="http://schemas.openxmlformats.org/officeDocument/2006/relationships" id="306" r:id="Rb113d2ba72df4a41"/>
    <p:sldId xmlns:r="http://schemas.openxmlformats.org/officeDocument/2006/relationships" id="307" r:id="Re117fc043d6b42f9"/>
    <p:sldId xmlns:r="http://schemas.openxmlformats.org/officeDocument/2006/relationships" id="308" r:id="R11686b59b4c141ee"/>
    <p:sldId xmlns:r="http://schemas.openxmlformats.org/officeDocument/2006/relationships" id="309" r:id="R66b75fa2e72b4518"/>
    <p:sldId xmlns:r="http://schemas.openxmlformats.org/officeDocument/2006/relationships" id="310" r:id="R60199ed7723f4caf"/>
    <p:sldId xmlns:r="http://schemas.openxmlformats.org/officeDocument/2006/relationships" id="311" r:id="Rb9a4a6cd73ce4cbd"/>
    <p:sldId xmlns:r="http://schemas.openxmlformats.org/officeDocument/2006/relationships" id="312" r:id="R772a2391701f45ae"/>
    <p:sldId xmlns:r="http://schemas.openxmlformats.org/officeDocument/2006/relationships" id="313" r:id="R5f4c171537594319"/>
    <p:sldId xmlns:r="http://schemas.openxmlformats.org/officeDocument/2006/relationships" id="314" r:id="R186f14037b874eb7"/>
    <p:sldId xmlns:r="http://schemas.openxmlformats.org/officeDocument/2006/relationships" id="315" r:id="R1a44d3c1e5ec465d"/>
    <p:sldId xmlns:r="http://schemas.openxmlformats.org/officeDocument/2006/relationships" id="316" r:id="R392df523d83a47d0"/>
    <p:sldId xmlns:r="http://schemas.openxmlformats.org/officeDocument/2006/relationships" id="317" r:id="R91347e52a4d8421d"/>
    <p:sldId xmlns:r="http://schemas.openxmlformats.org/officeDocument/2006/relationships" id="318" r:id="Ra5d419f006cd4435"/>
    <p:sldId xmlns:r="http://schemas.openxmlformats.org/officeDocument/2006/relationships" id="319" r:id="R7c814d93f4f34064"/>
    <p:sldId xmlns:r="http://schemas.openxmlformats.org/officeDocument/2006/relationships" id="320" r:id="R3c579a25757f477d"/>
    <p:sldId xmlns:r="http://schemas.openxmlformats.org/officeDocument/2006/relationships" id="321" r:id="Rbd1d60ba27a94461"/>
    <p:sldId xmlns:r="http://schemas.openxmlformats.org/officeDocument/2006/relationships" id="322" r:id="Re097c5ac7a3a4186"/>
    <p:sldId xmlns:r="http://schemas.openxmlformats.org/officeDocument/2006/relationships" id="323" r:id="Rf57972cd154646c9"/>
    <p:sldId xmlns:r="http://schemas.openxmlformats.org/officeDocument/2006/relationships" id="324" r:id="Rbc65163f50014bc6"/>
  </p:sldIdLst>
  <p:sldSz cx="12191695"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0d40ec20aa3c4892" /><Relationship Type="http://schemas.openxmlformats.org/officeDocument/2006/relationships/slideMaster" Target="/ppt/slideMasters/slideMaster1.xml" Id="R3625ae2e0cef4102" /><Relationship Type="http://schemas.openxmlformats.org/officeDocument/2006/relationships/notesMaster" Target="/ppt/notesMasters/notesMaster1.xml" Id="R81ec9142d1ef472d" /><Relationship Type="http://schemas.openxmlformats.org/officeDocument/2006/relationships/presProps" Target="/ppt/presProps.xml" Id="R3e408e4c5c994a43" /><Relationship Type="http://schemas.openxmlformats.org/officeDocument/2006/relationships/tableStyles" Target="/ppt/tableStyles.xml" Id="R316e23d7c77e4cfd" /><Relationship Type="http://schemas.openxmlformats.org/officeDocument/2006/relationships/slide" Target="/ppt/slides/slide1.xml" Id="R54a36ebcbccd4b9b" /><Relationship Type="http://schemas.openxmlformats.org/officeDocument/2006/relationships/slide" Target="/ppt/slides/slide2.xml" Id="R1c104bea24794ee5" /><Relationship Type="http://schemas.openxmlformats.org/officeDocument/2006/relationships/slide" Target="/ppt/slides/slide3.xml" Id="Rca7aaaf526a545dd" /><Relationship Type="http://schemas.openxmlformats.org/officeDocument/2006/relationships/slide" Target="/ppt/slides/slide4.xml" Id="R120c96c2c60f41f1" /><Relationship Type="http://schemas.openxmlformats.org/officeDocument/2006/relationships/slide" Target="/ppt/slides/slide5.xml" Id="Raeba0ac28dfe41df" /><Relationship Type="http://schemas.openxmlformats.org/officeDocument/2006/relationships/slide" Target="/ppt/slides/slide6.xml" Id="R4f12c6df82e4451f" /><Relationship Type="http://schemas.openxmlformats.org/officeDocument/2006/relationships/slide" Target="/ppt/slides/slide7.xml" Id="R7219be48d93746e3" /><Relationship Type="http://schemas.openxmlformats.org/officeDocument/2006/relationships/slide" Target="/ppt/slides/slide8.xml" Id="R6d5894f19f9e4539" /><Relationship Type="http://schemas.openxmlformats.org/officeDocument/2006/relationships/slide" Target="/ppt/slides/slide9.xml" Id="Rbbbc9c47518b4f79" /><Relationship Type="http://schemas.openxmlformats.org/officeDocument/2006/relationships/slide" Target="/ppt/slides/slide10.xml" Id="Rf0e72c80225b43a8" /><Relationship Type="http://schemas.openxmlformats.org/officeDocument/2006/relationships/slide" Target="/ppt/slides/slide11.xml" Id="R0b349e4270d8454a" /><Relationship Type="http://schemas.openxmlformats.org/officeDocument/2006/relationships/slide" Target="/ppt/slides/slide12.xml" Id="R8ba8e78156a34c10" /><Relationship Type="http://schemas.openxmlformats.org/officeDocument/2006/relationships/slide" Target="/ppt/slides/slide13.xml" Id="Rb4463e12749041f6" /><Relationship Type="http://schemas.openxmlformats.org/officeDocument/2006/relationships/slide" Target="/ppt/slides/slide14.xml" Id="R1ed1617c738647ec" /><Relationship Type="http://schemas.openxmlformats.org/officeDocument/2006/relationships/slide" Target="/ppt/slides/slide15.xml" Id="R72897015802842a9" /><Relationship Type="http://schemas.openxmlformats.org/officeDocument/2006/relationships/slide" Target="/ppt/slides/slide16.xml" Id="R8aaac18e4a694731" /><Relationship Type="http://schemas.openxmlformats.org/officeDocument/2006/relationships/slide" Target="/ppt/slides/slide17.xml" Id="R93e8538888a94560" /><Relationship Type="http://schemas.openxmlformats.org/officeDocument/2006/relationships/slide" Target="/ppt/slides/slide18.xml" Id="Rf5d05667496d4a6e" /><Relationship Type="http://schemas.openxmlformats.org/officeDocument/2006/relationships/slide" Target="/ppt/slides/slide19.xml" Id="R35c087a91da343de" /><Relationship Type="http://schemas.openxmlformats.org/officeDocument/2006/relationships/slide" Target="/ppt/slides/slide20.xml" Id="R8f904c09e1074093" /><Relationship Type="http://schemas.openxmlformats.org/officeDocument/2006/relationships/slide" Target="/ppt/slides/slide21.xml" Id="R1d879cc10d7d4da6" /><Relationship Type="http://schemas.openxmlformats.org/officeDocument/2006/relationships/slide" Target="/ppt/slides/slide22.xml" Id="Red1ed4ac33574dff" /><Relationship Type="http://schemas.openxmlformats.org/officeDocument/2006/relationships/slide" Target="/ppt/slides/slide23.xml" Id="Rebba06d8ab9d466f" /><Relationship Type="http://schemas.openxmlformats.org/officeDocument/2006/relationships/slide" Target="/ppt/slides/slide24.xml" Id="R6f47f001cdd8475e" /><Relationship Type="http://schemas.openxmlformats.org/officeDocument/2006/relationships/slide" Target="/ppt/slides/slide25.xml" Id="Rdbc86955512c4e72" /><Relationship Type="http://schemas.openxmlformats.org/officeDocument/2006/relationships/slide" Target="/ppt/slides/slide26.xml" Id="R319e5259709d4593" /><Relationship Type="http://schemas.openxmlformats.org/officeDocument/2006/relationships/slide" Target="/ppt/slides/slide27.xml" Id="R009da3f7bee24562" /><Relationship Type="http://schemas.openxmlformats.org/officeDocument/2006/relationships/slide" Target="/ppt/slides/slide28.xml" Id="R1fc062753c9b4843" /><Relationship Type="http://schemas.openxmlformats.org/officeDocument/2006/relationships/slide" Target="/ppt/slides/slide29.xml" Id="R606a9635fea44c50" /><Relationship Type="http://schemas.openxmlformats.org/officeDocument/2006/relationships/slide" Target="/ppt/slides/slide30.xml" Id="Ra6352287aaa04641" /><Relationship Type="http://schemas.openxmlformats.org/officeDocument/2006/relationships/slide" Target="/ppt/slides/slide31.xml" Id="R506ed92c309744de" /><Relationship Type="http://schemas.openxmlformats.org/officeDocument/2006/relationships/slide" Target="/ppt/slides/slide32.xml" Id="R4382cb3d672e4199" /><Relationship Type="http://schemas.openxmlformats.org/officeDocument/2006/relationships/slide" Target="/ppt/slides/slide33.xml" Id="Refe26e1f6ea44736" /><Relationship Type="http://schemas.openxmlformats.org/officeDocument/2006/relationships/slide" Target="/ppt/slides/slide34.xml" Id="Raaff447440054ffa" /><Relationship Type="http://schemas.openxmlformats.org/officeDocument/2006/relationships/slide" Target="/ppt/slides/slide35.xml" Id="R3619faac95d9489e" /><Relationship Type="http://schemas.openxmlformats.org/officeDocument/2006/relationships/slide" Target="/ppt/slides/slide36.xml" Id="Rd48e06c1c6894955" /><Relationship Type="http://schemas.openxmlformats.org/officeDocument/2006/relationships/slide" Target="/ppt/slides/slide37.xml" Id="R66bee0c7969a4be9" /><Relationship Type="http://schemas.openxmlformats.org/officeDocument/2006/relationships/slide" Target="/ppt/slides/slide38.xml" Id="Rcf8044f497e34542" /><Relationship Type="http://schemas.openxmlformats.org/officeDocument/2006/relationships/slide" Target="/ppt/slides/slide39.xml" Id="Rc37ee1372a504cf5" /><Relationship Type="http://schemas.openxmlformats.org/officeDocument/2006/relationships/slide" Target="/ppt/slides/slide40.xml" Id="R1c8f7cba33e04e13" /><Relationship Type="http://schemas.openxmlformats.org/officeDocument/2006/relationships/slide" Target="/ppt/slides/slide41.xml" Id="R2f2a716781794cd1" /><Relationship Type="http://schemas.openxmlformats.org/officeDocument/2006/relationships/slide" Target="/ppt/slides/slide42.xml" Id="R4690b3b62e8b4f84" /><Relationship Type="http://schemas.openxmlformats.org/officeDocument/2006/relationships/slide" Target="/ppt/slides/slide43.xml" Id="R12b5a1297ae3457c" /><Relationship Type="http://schemas.openxmlformats.org/officeDocument/2006/relationships/slide" Target="/ppt/slides/slide44.xml" Id="R0300b3cd42fd4341" /><Relationship Type="http://schemas.openxmlformats.org/officeDocument/2006/relationships/slide" Target="/ppt/slides/slide45.xml" Id="Rb4f20d1499484929" /><Relationship Type="http://schemas.openxmlformats.org/officeDocument/2006/relationships/slide" Target="/ppt/slides/slide46.xml" Id="R04d00a9bfc6a4e5e" /><Relationship Type="http://schemas.openxmlformats.org/officeDocument/2006/relationships/slide" Target="/ppt/slides/slide47.xml" Id="Re8a72abd2c5946eb" /><Relationship Type="http://schemas.openxmlformats.org/officeDocument/2006/relationships/slide" Target="/ppt/slides/slide48.xml" Id="Rb6d37856aeb84657" /><Relationship Type="http://schemas.openxmlformats.org/officeDocument/2006/relationships/slide" Target="/ppt/slides/slide49.xml" Id="Red787f211b034ea9" /><Relationship Type="http://schemas.openxmlformats.org/officeDocument/2006/relationships/slide" Target="/ppt/slides/slide50.xml" Id="Re40d746e3c954c69" /><Relationship Type="http://schemas.openxmlformats.org/officeDocument/2006/relationships/slide" Target="/ppt/slides/slide51.xml" Id="Rb113d2ba72df4a41" /><Relationship Type="http://schemas.openxmlformats.org/officeDocument/2006/relationships/slide" Target="/ppt/slides/slide52.xml" Id="Re117fc043d6b42f9" /><Relationship Type="http://schemas.openxmlformats.org/officeDocument/2006/relationships/slide" Target="/ppt/slides/slide53.xml" Id="R11686b59b4c141ee" /><Relationship Type="http://schemas.openxmlformats.org/officeDocument/2006/relationships/slide" Target="/ppt/slides/slide54.xml" Id="R66b75fa2e72b4518" /><Relationship Type="http://schemas.openxmlformats.org/officeDocument/2006/relationships/slide" Target="/ppt/slides/slide55.xml" Id="R60199ed7723f4caf" /><Relationship Type="http://schemas.openxmlformats.org/officeDocument/2006/relationships/slide" Target="/ppt/slides/slide56.xml" Id="Rb9a4a6cd73ce4cbd" /><Relationship Type="http://schemas.openxmlformats.org/officeDocument/2006/relationships/slide" Target="/ppt/slides/slide57.xml" Id="R772a2391701f45ae" /><Relationship Type="http://schemas.openxmlformats.org/officeDocument/2006/relationships/slide" Target="/ppt/slides/slide58.xml" Id="R5f4c171537594319" /><Relationship Type="http://schemas.openxmlformats.org/officeDocument/2006/relationships/slide" Target="/ppt/slides/slide59.xml" Id="R186f14037b874eb7" /><Relationship Type="http://schemas.openxmlformats.org/officeDocument/2006/relationships/slide" Target="/ppt/slides/slide60.xml" Id="R1a44d3c1e5ec465d" /><Relationship Type="http://schemas.openxmlformats.org/officeDocument/2006/relationships/slide" Target="/ppt/slides/slide61.xml" Id="R392df523d83a47d0" /><Relationship Type="http://schemas.openxmlformats.org/officeDocument/2006/relationships/slide" Target="/ppt/slides/slide62.xml" Id="R91347e52a4d8421d" /><Relationship Type="http://schemas.openxmlformats.org/officeDocument/2006/relationships/slide" Target="/ppt/slides/slide63.xml" Id="Ra5d419f006cd4435" /><Relationship Type="http://schemas.openxmlformats.org/officeDocument/2006/relationships/slide" Target="/ppt/slides/slide64.xml" Id="R7c814d93f4f34064" /><Relationship Type="http://schemas.openxmlformats.org/officeDocument/2006/relationships/slide" Target="/ppt/slides/slide65.xml" Id="R3c579a25757f477d" /><Relationship Type="http://schemas.openxmlformats.org/officeDocument/2006/relationships/slide" Target="/ppt/slides/slide66.xml" Id="Rbd1d60ba27a94461" /><Relationship Type="http://schemas.openxmlformats.org/officeDocument/2006/relationships/slide" Target="/ppt/slides/slide67.xml" Id="Re097c5ac7a3a4186" /><Relationship Type="http://schemas.openxmlformats.org/officeDocument/2006/relationships/slide" Target="/ppt/slides/slide68.xml" Id="Rf57972cd154646c9" /><Relationship Type="http://schemas.openxmlformats.org/officeDocument/2006/relationships/slide" Target="/ppt/slides/slide69.xml" Id="Rbc65163f50014bc6"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344a15f164684e87"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2d78a243960343dc" /><Relationship Type="http://schemas.openxmlformats.org/officeDocument/2006/relationships/notesMaster" Target="/ppt/notesMasters/notesMaster1.xml" Id="Rad2df066dea9440b" /></Relationships>
</file>

<file path=ppt/notesSlides/_rels/notesSlide2.xml.rels>&#65279;<?xml version="1.0" encoding="utf-8"?><Relationships xmlns="http://schemas.openxmlformats.org/package/2006/relationships"><Relationship Type="http://schemas.openxmlformats.org/officeDocument/2006/relationships/slide" Target="/ppt/slides/slide2.xml" Id="Rf0db256e43d94689" /><Relationship Type="http://schemas.openxmlformats.org/officeDocument/2006/relationships/notesMaster" Target="/ppt/notesMasters/notesMaster1.xml" Id="R0b14d980e12b45bf" /></Relationships>
</file>

<file path=ppt/notesSlides/_rels/notesSlide3.xml.rels>&#65279;<?xml version="1.0" encoding="utf-8"?><Relationships xmlns="http://schemas.openxmlformats.org/package/2006/relationships"><Relationship Type="http://schemas.openxmlformats.org/officeDocument/2006/relationships/slide" Target="/ppt/slides/slide3.xml" Id="R200eb8db1ee14645" /><Relationship Type="http://schemas.openxmlformats.org/officeDocument/2006/relationships/notesMaster" Target="/ppt/notesMasters/notesMaster1.xml" Id="Rff4d29b5a0294334" /></Relationships>
</file>

<file path=ppt/notesSlides/_rels/notesSlide4.xml.rels>&#65279;<?xml version="1.0" encoding="utf-8"?><Relationships xmlns="http://schemas.openxmlformats.org/package/2006/relationships"><Relationship Type="http://schemas.openxmlformats.org/officeDocument/2006/relationships/slide" Target="/ppt/slides/slide4.xml" Id="Rd1ca16c72bce41cd" /><Relationship Type="http://schemas.openxmlformats.org/officeDocument/2006/relationships/notesMaster" Target="/ppt/notesMasters/notesMaster1.xml" Id="R029a1eba2d474726" /></Relationships>
</file>

<file path=ppt/notesSlides/_rels/notesSlide5.xml.rels>&#65279;<?xml version="1.0" encoding="utf-8"?><Relationships xmlns="http://schemas.openxmlformats.org/package/2006/relationships"><Relationship Type="http://schemas.openxmlformats.org/officeDocument/2006/relationships/slide" Target="/ppt/slides/slide5.xml" Id="Rcedb1dcbe6564579" /><Relationship Type="http://schemas.openxmlformats.org/officeDocument/2006/relationships/notesMaster" Target="/ppt/notesMasters/notesMaster1.xml" Id="Rc28baced1f2c44d7" /></Relationships>
</file>

<file path=ppt/notesSlides/_rels/notesSlide6.xml.rels>&#65279;<?xml version="1.0" encoding="utf-8"?><Relationships xmlns="http://schemas.openxmlformats.org/package/2006/relationships"><Relationship Type="http://schemas.openxmlformats.org/officeDocument/2006/relationships/slide" Target="/ppt/slides/slide6.xml" Id="R3fc888f5bbce424a" /><Relationship Type="http://schemas.openxmlformats.org/officeDocument/2006/relationships/notesMaster" Target="/ppt/notesMasters/notesMaster1.xml" Id="R2e90a64f41db4d57" /></Relationships>
</file>

<file path=ppt/notesSlides/_rels/notesSlide7.xml.rels>&#65279;<?xml version="1.0" encoding="utf-8"?><Relationships xmlns="http://schemas.openxmlformats.org/package/2006/relationships"><Relationship Type="http://schemas.openxmlformats.org/officeDocument/2006/relationships/slide" Target="/ppt/slides/slide7.xml" Id="R12f1f913119343b4" /><Relationship Type="http://schemas.openxmlformats.org/officeDocument/2006/relationships/notesMaster" Target="/ppt/notesMasters/notesMaster1.xml" Id="R56f4d77b4bb24a88" /></Relationships>
</file>

<file path=ppt/notesSlides/_rels/notesSlide8.xml.rels>&#65279;<?xml version="1.0" encoding="utf-8"?><Relationships xmlns="http://schemas.openxmlformats.org/package/2006/relationships"><Relationship Type="http://schemas.openxmlformats.org/officeDocument/2006/relationships/slide" Target="/ppt/slides/slide8.xml" Id="R4dfab335c9044232" /><Relationship Type="http://schemas.openxmlformats.org/officeDocument/2006/relationships/notesMaster" Target="/ppt/notesMasters/notesMaster1.xml" Id="Rab3535cfa5a449db" /></Relationships>
</file>

<file path=ppt/notesSlides/_rels/notesSlide9.xml.rels>&#65279;<?xml version="1.0" encoding="utf-8"?><Relationships xmlns="http://schemas.openxmlformats.org/package/2006/relationships"><Relationship Type="http://schemas.openxmlformats.org/officeDocument/2006/relationships/slide" Target="/ppt/slides/slide9.xml" Id="R1ff761cdb149403a" /><Relationship Type="http://schemas.openxmlformats.org/officeDocument/2006/relationships/notesMaster" Target="/ppt/notesMasters/notesMaster1.xml" Id="R2a3e5cc4a2984cfd"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f9ade5ea63e04e51" /><Relationship Type="http://schemas.openxmlformats.org/officeDocument/2006/relationships/notesMaster" Target="/ppt/notesMasters/notesMaster1.xml" Id="Rea90c1b3ca144f74"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a9c4f73cb6cd4f35" /><Relationship Type="http://schemas.openxmlformats.org/officeDocument/2006/relationships/notesMaster" Target="/ppt/notesMasters/notesMaster1.xml" Id="Rc9018f02db024be4"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2b148d84a81046b3" /><Relationship Type="http://schemas.openxmlformats.org/officeDocument/2006/relationships/notesMaster" Target="/ppt/notesMasters/notesMaster1.xml" Id="R31bdbf038f644114"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d19f8d777c2c4c31" /><Relationship Type="http://schemas.openxmlformats.org/officeDocument/2006/relationships/notesMaster" Target="/ppt/notesMasters/notesMaster1.xml" Id="Rd7b0dbb1373c4b7e"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73dbd301e6f54325" /><Relationship Type="http://schemas.openxmlformats.org/officeDocument/2006/relationships/notesMaster" Target="/ppt/notesMasters/notesMaster1.xml" Id="R08beea50ce0640dd"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b960c1f86fc34a83" /><Relationship Type="http://schemas.openxmlformats.org/officeDocument/2006/relationships/notesMaster" Target="/ppt/notesMasters/notesMaster1.xml" Id="Rac45a9289fb246f5"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edfaba484ca3452e" /><Relationship Type="http://schemas.openxmlformats.org/officeDocument/2006/relationships/notesMaster" Target="/ppt/notesMasters/notesMaster1.xml" Id="R5dfedbe309374b20"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7fa5eefa96104421" /><Relationship Type="http://schemas.openxmlformats.org/officeDocument/2006/relationships/notesMaster" Target="/ppt/notesMasters/notesMaster1.xml" Id="R1f1fa34c232d40dd"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1d7dd53ed90742a1" /><Relationship Type="http://schemas.openxmlformats.org/officeDocument/2006/relationships/notesMaster" Target="/ppt/notesMasters/notesMaster1.xml" Id="R5fe4c67f94194175"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9edfc9d9e68145ce" /><Relationship Type="http://schemas.openxmlformats.org/officeDocument/2006/relationships/notesMaster" Target="/ppt/notesMasters/notesMaster1.xml" Id="Ra80b00e1939e4cb7"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ba8513426fc84981" /><Relationship Type="http://schemas.openxmlformats.org/officeDocument/2006/relationships/notesMaster" Target="/ppt/notesMasters/notesMaster1.xml" Id="Rdf7e2fce53fa4600"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f679cd33230e4612" /><Relationship Type="http://schemas.openxmlformats.org/officeDocument/2006/relationships/notesMaster" Target="/ppt/notesMasters/notesMaster1.xml" Id="Rc949d94c43924519"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eedbd562b6414a7d" /><Relationship Type="http://schemas.openxmlformats.org/officeDocument/2006/relationships/notesMaster" Target="/ppt/notesMasters/notesMaster1.xml" Id="R178e83392a034f7d"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67000bd252394431" /><Relationship Type="http://schemas.openxmlformats.org/officeDocument/2006/relationships/notesMaster" Target="/ppt/notesMasters/notesMaster1.xml" Id="R1b325f2bfd834e35"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44ce507fdba04648" /><Relationship Type="http://schemas.openxmlformats.org/officeDocument/2006/relationships/notesMaster" Target="/ppt/notesMasters/notesMaster1.xml" Id="Re921524326ad4d4c"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2448ecda32a94924" /><Relationship Type="http://schemas.openxmlformats.org/officeDocument/2006/relationships/notesMaster" Target="/ppt/notesMasters/notesMaster1.xml" Id="Rddac88e022a14f00"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e5b3421910f343f6" /><Relationship Type="http://schemas.openxmlformats.org/officeDocument/2006/relationships/notesMaster" Target="/ppt/notesMasters/notesMaster1.xml" Id="Rfdc6530371994e65"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7efdcbca4f0e4774" /><Relationship Type="http://schemas.openxmlformats.org/officeDocument/2006/relationships/notesMaster" Target="/ppt/notesMasters/notesMaster1.xml" Id="R6ac594ac34624243"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19abbbed20304a7e" /><Relationship Type="http://schemas.openxmlformats.org/officeDocument/2006/relationships/notesMaster" Target="/ppt/notesMasters/notesMaster1.xml" Id="R80f6ca6da3bb435a"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d52ab14ffeb7446c" /><Relationship Type="http://schemas.openxmlformats.org/officeDocument/2006/relationships/notesMaster" Target="/ppt/notesMasters/notesMaster1.xml" Id="Rffed1086c89347ee"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3e830fa6453e40b2" /><Relationship Type="http://schemas.openxmlformats.org/officeDocument/2006/relationships/notesMaster" Target="/ppt/notesMasters/notesMaster1.xml" Id="R22ad116fa9634789"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adeec511f91a4361" /><Relationship Type="http://schemas.openxmlformats.org/officeDocument/2006/relationships/notesMaster" Target="/ppt/notesMasters/notesMaster1.xml" Id="R6121be5eded84610"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884a79c825564730" /><Relationship Type="http://schemas.openxmlformats.org/officeDocument/2006/relationships/notesMaster" Target="/ppt/notesMasters/notesMaster1.xml" Id="R4d1fa12d2dcc4679"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69e97685e7274027" /><Relationship Type="http://schemas.openxmlformats.org/officeDocument/2006/relationships/notesMaster" Target="/ppt/notesMasters/notesMaster1.xml" Id="Rbb1bc812d7514c26"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7efbaa9ce0c24583" /><Relationship Type="http://schemas.openxmlformats.org/officeDocument/2006/relationships/notesMaster" Target="/ppt/notesMasters/notesMaster1.xml" Id="R78f03829cb524d00"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dcde8cbcccf245ed" /><Relationship Type="http://schemas.openxmlformats.org/officeDocument/2006/relationships/notesMaster" Target="/ppt/notesMasters/notesMaster1.xml" Id="Rc0a11cdbdf8a4f6f"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b7daf9550b5b480a" /><Relationship Type="http://schemas.openxmlformats.org/officeDocument/2006/relationships/notesMaster" Target="/ppt/notesMasters/notesMaster1.xml" Id="R7173e85d6072432d"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c52801dc57e64a23" /><Relationship Type="http://schemas.openxmlformats.org/officeDocument/2006/relationships/notesMaster" Target="/ppt/notesMasters/notesMaster1.xml" Id="R1a1b3169eaae4e9d"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439414685f194ed5" /><Relationship Type="http://schemas.openxmlformats.org/officeDocument/2006/relationships/notesMaster" Target="/ppt/notesMasters/notesMaster1.xml" Id="Ra019ba0ff21b4a61"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014c59a308f64f33" /><Relationship Type="http://schemas.openxmlformats.org/officeDocument/2006/relationships/notesMaster" Target="/ppt/notesMasters/notesMaster1.xml" Id="R85a474e9b5a54a97"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bf83a10cdc944cad" /><Relationship Type="http://schemas.openxmlformats.org/officeDocument/2006/relationships/notesMaster" Target="/ppt/notesMasters/notesMaster1.xml" Id="R5059c28278a8480f" /></Relationships>
</file>

<file path=ppt/notesSlides/_rels/notesSlide41.xml.rels>&#65279;<?xml version="1.0" encoding="utf-8"?><Relationships xmlns="http://schemas.openxmlformats.org/package/2006/relationships"><Relationship Type="http://schemas.openxmlformats.org/officeDocument/2006/relationships/slide" Target="/ppt/slides/slide41.xml" Id="R7a473d2a18274a34" /><Relationship Type="http://schemas.openxmlformats.org/officeDocument/2006/relationships/notesMaster" Target="/ppt/notesMasters/notesMaster1.xml" Id="R22b4e750d5374e01" /></Relationships>
</file>

<file path=ppt/notesSlides/_rels/notesSlide42.xml.rels>&#65279;<?xml version="1.0" encoding="utf-8"?><Relationships xmlns="http://schemas.openxmlformats.org/package/2006/relationships"><Relationship Type="http://schemas.openxmlformats.org/officeDocument/2006/relationships/slide" Target="/ppt/slides/slide42.xml" Id="R08bc921bf9664441" /><Relationship Type="http://schemas.openxmlformats.org/officeDocument/2006/relationships/notesMaster" Target="/ppt/notesMasters/notesMaster1.xml" Id="R423632d00a4242d5" /></Relationships>
</file>

<file path=ppt/notesSlides/_rels/notesSlide43.xml.rels>&#65279;<?xml version="1.0" encoding="utf-8"?><Relationships xmlns="http://schemas.openxmlformats.org/package/2006/relationships"><Relationship Type="http://schemas.openxmlformats.org/officeDocument/2006/relationships/slide" Target="/ppt/slides/slide43.xml" Id="Re4ba14ab1147417d" /><Relationship Type="http://schemas.openxmlformats.org/officeDocument/2006/relationships/notesMaster" Target="/ppt/notesMasters/notesMaster1.xml" Id="R12e45c3a80a840bc" /></Relationships>
</file>

<file path=ppt/notesSlides/_rels/notesSlide44.xml.rels>&#65279;<?xml version="1.0" encoding="utf-8"?><Relationships xmlns="http://schemas.openxmlformats.org/package/2006/relationships"><Relationship Type="http://schemas.openxmlformats.org/officeDocument/2006/relationships/slide" Target="/ppt/slides/slide44.xml" Id="R3d3e4aca4dce41c7" /><Relationship Type="http://schemas.openxmlformats.org/officeDocument/2006/relationships/notesMaster" Target="/ppt/notesMasters/notesMaster1.xml" Id="R2c9ee1d863464356" /></Relationships>
</file>

<file path=ppt/notesSlides/_rels/notesSlide45.xml.rels>&#65279;<?xml version="1.0" encoding="utf-8"?><Relationships xmlns="http://schemas.openxmlformats.org/package/2006/relationships"><Relationship Type="http://schemas.openxmlformats.org/officeDocument/2006/relationships/slide" Target="/ppt/slides/slide45.xml" Id="R3961db0954404bd4" /><Relationship Type="http://schemas.openxmlformats.org/officeDocument/2006/relationships/notesMaster" Target="/ppt/notesMasters/notesMaster1.xml" Id="Rbbad791caa594334" /></Relationships>
</file>

<file path=ppt/notesSlides/_rels/notesSlide46.xml.rels>&#65279;<?xml version="1.0" encoding="utf-8"?><Relationships xmlns="http://schemas.openxmlformats.org/package/2006/relationships"><Relationship Type="http://schemas.openxmlformats.org/officeDocument/2006/relationships/slide" Target="/ppt/slides/slide46.xml" Id="Rb15920437acc4649" /><Relationship Type="http://schemas.openxmlformats.org/officeDocument/2006/relationships/notesMaster" Target="/ppt/notesMasters/notesMaster1.xml" Id="Rfce1c642aceb4b3e" /></Relationships>
</file>

<file path=ppt/notesSlides/_rels/notesSlide47.xml.rels>&#65279;<?xml version="1.0" encoding="utf-8"?><Relationships xmlns="http://schemas.openxmlformats.org/package/2006/relationships"><Relationship Type="http://schemas.openxmlformats.org/officeDocument/2006/relationships/slide" Target="/ppt/slides/slide47.xml" Id="R2e2f71554fa946a7" /><Relationship Type="http://schemas.openxmlformats.org/officeDocument/2006/relationships/notesMaster" Target="/ppt/notesMasters/notesMaster1.xml" Id="R065eba008c3e426f" /></Relationships>
</file>

<file path=ppt/notesSlides/_rels/notesSlide48.xml.rels>&#65279;<?xml version="1.0" encoding="utf-8"?><Relationships xmlns="http://schemas.openxmlformats.org/package/2006/relationships"><Relationship Type="http://schemas.openxmlformats.org/officeDocument/2006/relationships/slide" Target="/ppt/slides/slide48.xml" Id="R0707ceed65ee4b90" /><Relationship Type="http://schemas.openxmlformats.org/officeDocument/2006/relationships/notesMaster" Target="/ppt/notesMasters/notesMaster1.xml" Id="R00c80eed0a8641fc" /></Relationships>
</file>

<file path=ppt/notesSlides/_rels/notesSlide49.xml.rels>&#65279;<?xml version="1.0" encoding="utf-8"?><Relationships xmlns="http://schemas.openxmlformats.org/package/2006/relationships"><Relationship Type="http://schemas.openxmlformats.org/officeDocument/2006/relationships/slide" Target="/ppt/slides/slide49.xml" Id="R28481b0da27f4edd" /><Relationship Type="http://schemas.openxmlformats.org/officeDocument/2006/relationships/notesMaster" Target="/ppt/notesMasters/notesMaster1.xml" Id="R262ebf48869041aa" /></Relationships>
</file>

<file path=ppt/notesSlides/_rels/notesSlide50.xml.rels>&#65279;<?xml version="1.0" encoding="utf-8"?><Relationships xmlns="http://schemas.openxmlformats.org/package/2006/relationships"><Relationship Type="http://schemas.openxmlformats.org/officeDocument/2006/relationships/slide" Target="/ppt/slides/slide50.xml" Id="R749b6fef61dd42ad" /><Relationship Type="http://schemas.openxmlformats.org/officeDocument/2006/relationships/notesMaster" Target="/ppt/notesMasters/notesMaster1.xml" Id="R0938eebf473946c7" /></Relationships>
</file>

<file path=ppt/notesSlides/_rels/notesSlide51.xml.rels>&#65279;<?xml version="1.0" encoding="utf-8"?><Relationships xmlns="http://schemas.openxmlformats.org/package/2006/relationships"><Relationship Type="http://schemas.openxmlformats.org/officeDocument/2006/relationships/slide" Target="/ppt/slides/slide51.xml" Id="Rf39255d97ff84bd1" /><Relationship Type="http://schemas.openxmlformats.org/officeDocument/2006/relationships/notesMaster" Target="/ppt/notesMasters/notesMaster1.xml" Id="R9e440ac7153d4867" /></Relationships>
</file>

<file path=ppt/notesSlides/_rels/notesSlide52.xml.rels>&#65279;<?xml version="1.0" encoding="utf-8"?><Relationships xmlns="http://schemas.openxmlformats.org/package/2006/relationships"><Relationship Type="http://schemas.openxmlformats.org/officeDocument/2006/relationships/slide" Target="/ppt/slides/slide52.xml" Id="R730e7661abd64e23" /><Relationship Type="http://schemas.openxmlformats.org/officeDocument/2006/relationships/notesMaster" Target="/ppt/notesMasters/notesMaster1.xml" Id="Rc4b8a30a193b4a8c" /></Relationships>
</file>

<file path=ppt/notesSlides/_rels/notesSlide53.xml.rels>&#65279;<?xml version="1.0" encoding="utf-8"?><Relationships xmlns="http://schemas.openxmlformats.org/package/2006/relationships"><Relationship Type="http://schemas.openxmlformats.org/officeDocument/2006/relationships/slide" Target="/ppt/slides/slide53.xml" Id="Rbdca9891586d417f" /><Relationship Type="http://schemas.openxmlformats.org/officeDocument/2006/relationships/notesMaster" Target="/ppt/notesMasters/notesMaster1.xml" Id="Ra108cb51686d4e14" /></Relationships>
</file>

<file path=ppt/notesSlides/_rels/notesSlide54.xml.rels>&#65279;<?xml version="1.0" encoding="utf-8"?><Relationships xmlns="http://schemas.openxmlformats.org/package/2006/relationships"><Relationship Type="http://schemas.openxmlformats.org/officeDocument/2006/relationships/slide" Target="/ppt/slides/slide54.xml" Id="R0c46b37981ca4e37" /><Relationship Type="http://schemas.openxmlformats.org/officeDocument/2006/relationships/notesMaster" Target="/ppt/notesMasters/notesMaster1.xml" Id="R8de4a25aced74487" /></Relationships>
</file>

<file path=ppt/notesSlides/_rels/notesSlide55.xml.rels>&#65279;<?xml version="1.0" encoding="utf-8"?><Relationships xmlns="http://schemas.openxmlformats.org/package/2006/relationships"><Relationship Type="http://schemas.openxmlformats.org/officeDocument/2006/relationships/slide" Target="/ppt/slides/slide55.xml" Id="R00ea7b5f64584991" /><Relationship Type="http://schemas.openxmlformats.org/officeDocument/2006/relationships/notesMaster" Target="/ppt/notesMasters/notesMaster1.xml" Id="R43e3c6818302419e" /></Relationships>
</file>

<file path=ppt/notesSlides/_rels/notesSlide56.xml.rels>&#65279;<?xml version="1.0" encoding="utf-8"?><Relationships xmlns="http://schemas.openxmlformats.org/package/2006/relationships"><Relationship Type="http://schemas.openxmlformats.org/officeDocument/2006/relationships/slide" Target="/ppt/slides/slide56.xml" Id="R263f96b5b4534c76" /><Relationship Type="http://schemas.openxmlformats.org/officeDocument/2006/relationships/notesMaster" Target="/ppt/notesMasters/notesMaster1.xml" Id="Rfd2430739fc044f9" /></Relationships>
</file>

<file path=ppt/notesSlides/_rels/notesSlide57.xml.rels>&#65279;<?xml version="1.0" encoding="utf-8"?><Relationships xmlns="http://schemas.openxmlformats.org/package/2006/relationships"><Relationship Type="http://schemas.openxmlformats.org/officeDocument/2006/relationships/slide" Target="/ppt/slides/slide57.xml" Id="R2efd733b7f5242d7" /><Relationship Type="http://schemas.openxmlformats.org/officeDocument/2006/relationships/notesMaster" Target="/ppt/notesMasters/notesMaster1.xml" Id="Rb56a264ff18540b3" /></Relationships>
</file>

<file path=ppt/notesSlides/_rels/notesSlide58.xml.rels>&#65279;<?xml version="1.0" encoding="utf-8"?><Relationships xmlns="http://schemas.openxmlformats.org/package/2006/relationships"><Relationship Type="http://schemas.openxmlformats.org/officeDocument/2006/relationships/slide" Target="/ppt/slides/slide58.xml" Id="R832e231afb56416e" /><Relationship Type="http://schemas.openxmlformats.org/officeDocument/2006/relationships/notesMaster" Target="/ppt/notesMasters/notesMaster1.xml" Id="R3680f37a6e18415c" /></Relationships>
</file>

<file path=ppt/notesSlides/_rels/notesSlide59.xml.rels>&#65279;<?xml version="1.0" encoding="utf-8"?><Relationships xmlns="http://schemas.openxmlformats.org/package/2006/relationships"><Relationship Type="http://schemas.openxmlformats.org/officeDocument/2006/relationships/slide" Target="/ppt/slides/slide59.xml" Id="Rfdfce806a1a048a3" /><Relationship Type="http://schemas.openxmlformats.org/officeDocument/2006/relationships/notesMaster" Target="/ppt/notesMasters/notesMaster1.xml" Id="Rd7487c436d494b88" /></Relationships>
</file>

<file path=ppt/notesSlides/_rels/notesSlide60.xml.rels>&#65279;<?xml version="1.0" encoding="utf-8"?><Relationships xmlns="http://schemas.openxmlformats.org/package/2006/relationships"><Relationship Type="http://schemas.openxmlformats.org/officeDocument/2006/relationships/slide" Target="/ppt/slides/slide60.xml" Id="Rfba7bc7957de4808" /><Relationship Type="http://schemas.openxmlformats.org/officeDocument/2006/relationships/notesMaster" Target="/ppt/notesMasters/notesMaster1.xml" Id="Ra158f499aa294556" /></Relationships>
</file>

<file path=ppt/notesSlides/_rels/notesSlide61.xml.rels>&#65279;<?xml version="1.0" encoding="utf-8"?><Relationships xmlns="http://schemas.openxmlformats.org/package/2006/relationships"><Relationship Type="http://schemas.openxmlformats.org/officeDocument/2006/relationships/slide" Target="/ppt/slides/slide61.xml" Id="Rd74c5d316474464d" /><Relationship Type="http://schemas.openxmlformats.org/officeDocument/2006/relationships/notesMaster" Target="/ppt/notesMasters/notesMaster1.xml" Id="R368108802baf4a29" /></Relationships>
</file>

<file path=ppt/notesSlides/_rels/notesSlide62.xml.rels>&#65279;<?xml version="1.0" encoding="utf-8"?><Relationships xmlns="http://schemas.openxmlformats.org/package/2006/relationships"><Relationship Type="http://schemas.openxmlformats.org/officeDocument/2006/relationships/slide" Target="/ppt/slides/slide62.xml" Id="Ra70dff63622141b6" /><Relationship Type="http://schemas.openxmlformats.org/officeDocument/2006/relationships/notesMaster" Target="/ppt/notesMasters/notesMaster1.xml" Id="R6fcca69f757f49af" /></Relationships>
</file>

<file path=ppt/notesSlides/_rels/notesSlide63.xml.rels>&#65279;<?xml version="1.0" encoding="utf-8"?><Relationships xmlns="http://schemas.openxmlformats.org/package/2006/relationships"><Relationship Type="http://schemas.openxmlformats.org/officeDocument/2006/relationships/slide" Target="/ppt/slides/slide63.xml" Id="R3587a90c2a1745fa" /><Relationship Type="http://schemas.openxmlformats.org/officeDocument/2006/relationships/notesMaster" Target="/ppt/notesMasters/notesMaster1.xml" Id="R1ded0290c61e4320" /></Relationships>
</file>

<file path=ppt/notesSlides/_rels/notesSlide64.xml.rels>&#65279;<?xml version="1.0" encoding="utf-8"?><Relationships xmlns="http://schemas.openxmlformats.org/package/2006/relationships"><Relationship Type="http://schemas.openxmlformats.org/officeDocument/2006/relationships/slide" Target="/ppt/slides/slide64.xml" Id="R1e4657a3b9f44604" /><Relationship Type="http://schemas.openxmlformats.org/officeDocument/2006/relationships/notesMaster" Target="/ppt/notesMasters/notesMaster1.xml" Id="R6045a4defdea402e" /></Relationships>
</file>

<file path=ppt/notesSlides/_rels/notesSlide65.xml.rels>&#65279;<?xml version="1.0" encoding="utf-8"?><Relationships xmlns="http://schemas.openxmlformats.org/package/2006/relationships"><Relationship Type="http://schemas.openxmlformats.org/officeDocument/2006/relationships/slide" Target="/ppt/slides/slide65.xml" Id="Rb20b2427d0414ac1" /><Relationship Type="http://schemas.openxmlformats.org/officeDocument/2006/relationships/notesMaster" Target="/ppt/notesMasters/notesMaster1.xml" Id="R1d4e3f3bb35c4e4b" /></Relationships>
</file>

<file path=ppt/notesSlides/_rels/notesSlide66.xml.rels>&#65279;<?xml version="1.0" encoding="utf-8"?><Relationships xmlns="http://schemas.openxmlformats.org/package/2006/relationships"><Relationship Type="http://schemas.openxmlformats.org/officeDocument/2006/relationships/slide" Target="/ppt/slides/slide66.xml" Id="R2815040d13e94438" /><Relationship Type="http://schemas.openxmlformats.org/officeDocument/2006/relationships/notesMaster" Target="/ppt/notesMasters/notesMaster1.xml" Id="R44f969ad24ac4c67" /></Relationships>
</file>

<file path=ppt/notesSlides/_rels/notesSlide67.xml.rels>&#65279;<?xml version="1.0" encoding="utf-8"?><Relationships xmlns="http://schemas.openxmlformats.org/package/2006/relationships"><Relationship Type="http://schemas.openxmlformats.org/officeDocument/2006/relationships/slide" Target="/ppt/slides/slide67.xml" Id="Rb7c60003308640a6" /><Relationship Type="http://schemas.openxmlformats.org/officeDocument/2006/relationships/notesMaster" Target="/ppt/notesMasters/notesMaster1.xml" Id="R5bd72df970484ba7" /></Relationships>
</file>

<file path=ppt/notesSlides/_rels/notesSlide68.xml.rels>&#65279;<?xml version="1.0" encoding="utf-8"?><Relationships xmlns="http://schemas.openxmlformats.org/package/2006/relationships"><Relationship Type="http://schemas.openxmlformats.org/officeDocument/2006/relationships/slide" Target="/ppt/slides/slide68.xml" Id="R2524d825ac8149a6" /><Relationship Type="http://schemas.openxmlformats.org/officeDocument/2006/relationships/notesMaster" Target="/ppt/notesMasters/notesMaster1.xml" Id="R306b6ee0c32b4cf5" /></Relationships>
</file>

<file path=ppt/notesSlides/_rels/notesSlide69.xml.rels>&#65279;<?xml version="1.0" encoding="utf-8"?><Relationships xmlns="http://schemas.openxmlformats.org/package/2006/relationships"><Relationship Type="http://schemas.openxmlformats.org/officeDocument/2006/relationships/slide" Target="/ppt/slides/slide69.xml" Id="Rad1178a4569044d9" /><Relationship Type="http://schemas.openxmlformats.org/officeDocument/2006/relationships/notesMaster" Target="/ppt/notesMasters/notesMaster1.xml" Id="Rf66d137a2ba64f2b" /></Relationships>
</file>

<file path=ppt/notesSlides/notesSlide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A first prediction model</a:t>
            </a:r>
          </a:p>
          <a:p>
            <a:r>
              <a:t>CML3111, Week 8, slide 1</a:t>
            </a:r>
          </a:p>
          <a:p>
            <a:r>
              <a:t/>
            </a:r>
          </a:p>
          <a:p>
            <a:r>
              <a:t>Explanation to give</a:t>
            </a:r>
          </a:p>
          <a:p>
            <a:r>
              <a:t>Introduce a fitted predictor only after identifying its inputs and known answers. Compare it with a simple baseline and explain its errors in target units.</a:t>
            </a:r>
          </a:p>
          <a:p>
            <a:r>
              <a:t/>
            </a:r>
          </a:p>
          <a:p>
            <a:r>
              <a:t>Worked illustration / lecturer answer</a:t>
            </a:r>
          </a:p>
          <a:p>
            <a:r>
              <a:t>The teaching line through (1,12), (2,14), (3,16), (4,18) predicts 15 at input 2.5. One neat example does not establish real-world accuracy.</a:t>
            </a:r>
          </a:p>
          <a:p>
            <a:r>
              <a:t/>
            </a:r>
          </a:p>
          <a:p>
            <a:r>
              <a:t>Misconception to address</a:t>
            </a:r>
          </a:p>
          <a:p>
            <a:r>
              <a:t>Use this as an orientation to the lesson. Terms and syntax will be unpacked on their own slides; students do not need to know them in advance.</a:t>
            </a:r>
          </a:p>
          <a:p>
            <a:r>
              <a:t/>
            </a:r>
          </a:p>
          <a:p>
            <a:r>
              <a:t>On this slide</a:t>
            </a:r>
          </a:p>
          <a:p>
            <a:r>
              <a:t>Communications, Electrical, Mechatronics and Robotics Engineering</a:t>
            </a:r>
          </a:p>
          <a:p>
            <a:r>
              <a:t/>
            </a:r>
          </a:p>
          <a:p>
            <a:r>
              <a:t>Continue to</a:t>
            </a:r>
          </a:p>
          <a:p>
            <a:r>
              <a:t>Today’s learning</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Today’s learning</a:t>
            </a:r>
          </a:p>
          <a:p>
            <a:r>
              <a:t>CML3111, Week 8, slide 2</a:t>
            </a:r>
          </a:p>
          <a:p>
            <a:r>
              <a:t/>
            </a:r>
          </a:p>
          <a:p>
            <a:r>
              <a:t>Explanation to give</a:t>
            </a:r>
          </a:p>
          <a:p>
            <a:r>
              <a:t>Introduce a fitted predictor only after identifying its inputs and known answers. Compare it with a simple baseline and explain its errors in target units.</a:t>
            </a:r>
          </a:p>
          <a:p>
            <a:r>
              <a:t/>
            </a:r>
          </a:p>
          <a:p>
            <a:r>
              <a:t>Worked illustration / lecturer answer</a:t>
            </a:r>
          </a:p>
          <a:p>
            <a:r>
              <a:t>The teaching line through (1,12), (2,14), (3,16), (4,18) predicts 15 at input 2.5. One neat example does not establish real-world accuracy.</a:t>
            </a:r>
          </a:p>
          <a:p>
            <a:r>
              <a:t/>
            </a:r>
          </a:p>
          <a:p>
            <a:r>
              <a:t>Misconception to address</a:t>
            </a:r>
          </a:p>
          <a:p>
            <a:r>
              <a:t>At the end, check the specific outcome shown here using a small previously demonstrated example. A completed file without an explanation is not evidence of understanding.</a:t>
            </a:r>
          </a:p>
          <a:p>
            <a:r>
              <a:t/>
            </a:r>
          </a:p>
          <a:p>
            <a:r>
              <a:t>On this slide</a:t>
            </a:r>
          </a:p>
          <a:p>
            <a:r>
              <a:t>Identify prediction inputs and a measured target.</a:t>
            </a:r>
          </a:p>
          <a:p>
            <a:r>
              <a:t/>
            </a:r>
          </a:p>
          <a:p>
            <a:r>
              <a:t>Fit a simple model and compare prediction errors.</a:t>
            </a:r>
          </a:p>
          <a:p>
            <a:r>
              <a:t/>
            </a:r>
          </a:p>
          <a:p>
            <a:r>
              <a:t>Continue to</a:t>
            </a:r>
          </a:p>
          <a:p>
            <a:r>
              <a:t>Connection to the previous lesson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Connection to the previous lesson</a:t>
            </a:r>
          </a:p>
          <a:p>
            <a:r>
              <a:t>CML3111, Week 8, slide 3</a:t>
            </a:r>
          </a:p>
          <a:p>
            <a:r>
              <a:t/>
            </a:r>
          </a:p>
          <a:p>
            <a:r>
              <a:t>Explanation to give</a:t>
            </a:r>
          </a:p>
          <a:p>
            <a:r>
              <a:t>Introduce a fitted predictor only after identifying its inputs and known answers. Compare it with a simple baseline and explain its errors in target units.</a:t>
            </a:r>
          </a:p>
          <a:p>
            <a:r>
              <a:t/>
            </a:r>
          </a:p>
          <a:p>
            <a:r>
              <a:t>Worked illustration / lecturer answer</a:t>
            </a:r>
          </a:p>
          <a:p>
            <a:r>
              <a:t>The teaching line through (1,12), (2,14), (3,16), (4,18) predicts 15 at input 2.5. One neat example does not establish real-world accuracy.</a:t>
            </a:r>
          </a:p>
          <a:p>
            <a:r>
              <a:t/>
            </a:r>
          </a:p>
          <a:p>
            <a:r>
              <a:t>Misconception to address</a:t>
            </a:r>
          </a:p>
          <a:p>
            <a:r>
              <a:t>Connect this to the previous result named on this slide. Demonstrate the first step again if necessary; there is no requirement for partner work before the explanation.</a:t>
            </a:r>
          </a:p>
          <a:p>
            <a:r>
              <a:t/>
            </a:r>
          </a:p>
          <a:p>
            <a:r>
              <a:t>On this slide</a:t>
            </a:r>
          </a:p>
          <a:p>
            <a:r>
              <a:t>Weeks 3–6 supplied Python, tables, cleaning and charts. We now use paired inputs and known answers to fit a prediction rule.</a:t>
            </a:r>
          </a:p>
          <a:p>
            <a:r>
              <a:t/>
            </a:r>
          </a:p>
          <a:p>
            <a:r>
              <a:t>Continue to</a:t>
            </a:r>
          </a:p>
          <a:p>
            <a:r>
              <a:t>Why this week’s tools are needed</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Why this week’s tools are needed</a:t>
            </a:r>
          </a:p>
          <a:p>
            <a:r>
              <a:t>CML3111, Week 8, slide 4</a:t>
            </a:r>
          </a:p>
          <a:p>
            <a:r>
              <a:t/>
            </a:r>
          </a:p>
          <a:p>
            <a:r>
              <a:t>Explanation to give</a:t>
            </a:r>
          </a:p>
          <a:p>
            <a:r>
              <a:t>Introduce a fitted predictor only after identifying its inputs and known answers. Compare it with a simple baseline and explain its errors in target units.</a:t>
            </a:r>
          </a:p>
          <a:p>
            <a:r>
              <a:t/>
            </a:r>
          </a:p>
          <a:p>
            <a:r>
              <a:t>Worked illustration / lecturer answer</a:t>
            </a:r>
          </a:p>
          <a:p>
            <a:r>
              <a:t>The teaching line through (1,12), (2,14), (3,16), (4,18) predicts 15 at input 2.5. One neat example does not establish real-world accuracy.</a:t>
            </a:r>
          </a:p>
          <a:p>
            <a:r>
              <a:t/>
            </a:r>
          </a:p>
          <a:p>
            <a:r>
              <a:t>Misconception to address</a:t>
            </a:r>
          </a:p>
          <a:p>
            <a:r>
              <a:t>Connect this to the previous result named on this slide. Demonstrate the first step again if necessary; there is no requirement for partner work before the explanation.</a:t>
            </a:r>
          </a:p>
          <a:p>
            <a:r>
              <a:t/>
            </a:r>
          </a:p>
          <a:p>
            <a:r>
              <a:t>On this slide</a:t>
            </a:r>
          </a:p>
          <a:p>
            <a:r>
              <a:t>A regression model predicts a numerical engineering target from measurements available beforehand. These small invented datasets demonstrate the code. They cannot establish performance on real engineering data.</a:t>
            </a:r>
          </a:p>
          <a:p>
            <a:r>
              <a:t/>
            </a:r>
          </a:p>
          <a:p>
            <a:r>
              <a:t>Continue to</a:t>
            </a:r>
          </a:p>
          <a:p>
            <a:r>
              <a:t>A numerical prediction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A numerical prediction</a:t>
            </a:r>
          </a:p>
          <a:p>
            <a:r>
              <a:t>CML3111, Week 8, slide 5</a:t>
            </a:r>
          </a:p>
          <a:p>
            <a:r>
              <a:t/>
            </a:r>
          </a:p>
          <a:p>
            <a:r>
              <a:t>Explanation to give</a:t>
            </a:r>
          </a:p>
          <a:p>
            <a:r>
              <a:t>Classify the task by the answer the system must produce. Regression predicts a quantity with a meaningful numerical scale. Classification predicts a category, even if the labels are encoded as numbers.</a:t>
            </a:r>
          </a:p>
          <a:p>
            <a:r>
              <a:t/>
            </a:r>
          </a:p>
          <a:p>
            <a:r>
              <a:t>Worked illustration / lecturer answer</a:t>
            </a:r>
          </a:p>
          <a:p>
            <a:r>
              <a:t>Predicting days until servicing is regression. Predicting whether servicing is due is classification. A code of 0 for normal and 1 for warning still represents categories.</a:t>
            </a:r>
          </a:p>
          <a:p>
            <a:r>
              <a:t/>
            </a:r>
          </a:p>
          <a:p>
            <a:r>
              <a:t>Misconception to address</a:t>
            </a:r>
          </a:p>
          <a:p>
            <a:r>
              <a:t>Do not choose regression just because the dataset contains numbers. Name the target and explain what a prediction means.</a:t>
            </a:r>
          </a:p>
          <a:p>
            <a:r>
              <a:t/>
            </a:r>
          </a:p>
          <a:p>
            <a:r>
              <a:t>On this slide</a:t>
            </a:r>
          </a:p>
          <a:p>
            <a:r>
              <a:t>Regression predicts a number, such as cooling load in kW.</a:t>
            </a:r>
          </a:p>
          <a:p>
            <a:r>
              <a:t/>
            </a:r>
          </a:p>
          <a:p>
            <a:r>
              <a:t>A feature is information available when predicting.</a:t>
            </a:r>
          </a:p>
          <a:p>
            <a:r>
              <a:t/>
            </a:r>
          </a:p>
          <a:p>
            <a:r>
              <a:t>The target is the measured answer used during training.</a:t>
            </a:r>
          </a:p>
          <a:p>
            <a:r>
              <a:t/>
            </a:r>
          </a:p>
          <a:p>
            <a:r>
              <a:t>Classification, next week, predicts a category.</a:t>
            </a:r>
          </a:p>
          <a:p>
            <a:r>
              <a:t/>
            </a:r>
          </a:p>
          <a:p>
            <a:r>
              <a:t>Continue to</a:t>
            </a:r>
          </a:p>
          <a:p>
            <a:r>
              <a:t>Feature and target and Training validation and test</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Feature and target and Training validation and test</a:t>
            </a:r>
          </a:p>
          <a:p>
            <a:r>
              <a:t>CML3111, Week 8, slide 6</a:t>
            </a:r>
          </a:p>
          <a:p>
            <a:r>
              <a:t/>
            </a:r>
          </a:p>
          <a:p>
            <a:r>
              <a:t>Explanation to give</a:t>
            </a:r>
          </a:p>
          <a:p>
            <a:r>
              <a:t>A feature is information available when making a prediction. The target is the answer recorded for training examples. One observation pairs its features with its own target.</a:t>
            </a:r>
          </a:p>
          <a:p>
            <a:r>
              <a:t/>
            </a:r>
          </a:p>
          <a:p>
            <a:r>
              <a:t>Worked illustration / lecturer answer</a:t>
            </a:r>
          </a:p>
          <a:p>
            <a:r>
              <a:t>To predict tomorrow's cooling load, today's available weather information may be a feature. Tomorrow's measured cooling load becomes a target later. It cannot also be an input available now.</a:t>
            </a:r>
          </a:p>
          <a:p>
            <a:r>
              <a:t/>
            </a:r>
          </a:p>
          <a:p>
            <a:r>
              <a:t>Misconception to address</a:t>
            </a:r>
          </a:p>
          <a:p>
            <a:r>
              <a:t>Information recorded after the decision can leak the answer. An identifier or row number is not automatically a meaningful predictor.</a:t>
            </a:r>
          </a:p>
          <a:p>
            <a:r>
              <a:t/>
            </a:r>
          </a:p>
          <a:p>
            <a:r>
              <a:t>On this slide</a:t>
            </a:r>
          </a:p>
          <a:p>
            <a:r>
              <a:t>Feature and target: Features are inputs available when making a prediction. The target is the quantity we want to predict.</a:t>
            </a:r>
          </a:p>
          <a:p>
            <a:r>
              <a:t>Training validation and test: Training fits the model. Validation helps choose it. The final test estimates performance after choices are fixed. Repeated equipment must stay in the same partition when assessing unseen equipment.</a:t>
            </a:r>
          </a:p>
          <a:p>
            <a:r>
              <a:t/>
            </a:r>
          </a:p>
          <a:p>
            <a:r>
              <a:t>Continue to</a:t>
            </a:r>
          </a:p>
          <a:p>
            <a:r>
              <a:t>Baseline</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Baseline</a:t>
            </a:r>
          </a:p>
          <a:p>
            <a:r>
              <a:t>CML3111, Week 8, slide 7</a:t>
            </a:r>
          </a:p>
          <a:p>
            <a:r>
              <a:t/>
            </a:r>
          </a:p>
          <a:p>
            <a:r>
              <a:t>Explanation to give</a:t>
            </a:r>
          </a:p>
          <a:p>
            <a:r>
              <a:t>A baseline is a simple reference prediction against which a more elaborate method is judged. Define its rule clearly before reporting any comparison score.</a:t>
            </a:r>
          </a:p>
          <a:p>
            <a:r>
              <a:t/>
            </a:r>
          </a:p>
          <a:p>
            <a:r>
              <a:t>Worked illustration / lecturer answer</a:t>
            </a:r>
          </a:p>
          <a:p>
            <a:r>
              <a:t>If the training target mean is 15, a mean baseline returns 15 for every observation. Calculate its error on exactly the same evaluation cases used for the proposed model.</a:t>
            </a:r>
          </a:p>
          <a:p>
            <a:r>
              <a:t/>
            </a:r>
          </a:p>
          <a:p>
            <a:r>
              <a:t>Misconception to address</a:t>
            </a:r>
          </a:p>
          <a:p>
            <a:r>
              <a:t>A weaker baseline chosen after seeing the results can exaggerate an improvement. Use the stated baseline and evaluation protocol.</a:t>
            </a:r>
          </a:p>
          <a:p>
            <a:r>
              <a:t/>
            </a:r>
          </a:p>
          <a:p>
            <a:r>
              <a:t>On this slide</a:t>
            </a:r>
          </a:p>
          <a:p>
            <a:r>
              <a:t>Baseline: A simple reference prediction. A training-mean baseline predicts the same training mean for every new example.</a:t>
            </a:r>
          </a:p>
          <a:p>
            <a:r>
              <a:t/>
            </a:r>
          </a:p>
          <a:p>
            <a:r>
              <a:t>Continue to</a:t>
            </a:r>
          </a:p>
          <a:p>
            <a:r>
              <a:t>Linear model and tree</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Linear model and tree</a:t>
            </a:r>
          </a:p>
          <a:p>
            <a:r>
              <a:t>CML3111, Week 8, slide 8</a:t>
            </a:r>
          </a:p>
          <a:p>
            <a:r>
              <a:t/>
            </a:r>
          </a:p>
          <a:p>
            <a:r>
              <a:t>Explanation to give</a:t>
            </a:r>
          </a:p>
          <a:p>
            <a:r>
              <a:t>Use the four teaching pairs to make the learned relationship visible. A one-unit input increase corresponds to a two-unit target increase in this invented dataset.</a:t>
            </a:r>
          </a:p>
          <a:p>
            <a:r>
              <a:t/>
            </a:r>
          </a:p>
          <a:p>
            <a:r>
              <a:t>Worked illustration / lecturer answer</a:t>
            </a:r>
          </a:p>
          <a:p>
            <a:r>
              <a:t>The pairs (1,12), (2,14), (3,16), (4,18) follow target = 10 + 2 × input. For input 2.5, that line gives 15. A tree makes threshold-based group predictions instead.</a:t>
            </a:r>
          </a:p>
          <a:p>
            <a:r>
              <a:t/>
            </a:r>
          </a:p>
          <a:p>
            <a:r>
              <a:t>Misconception to address</a:t>
            </a:r>
          </a:p>
          <a:p>
            <a:r>
              <a:t>These perfectly patterned values explain model behaviour. They do not establish that real engineering data follows an exact line.</a:t>
            </a:r>
          </a:p>
          <a:p>
            <a:r>
              <a:t/>
            </a:r>
          </a:p>
          <a:p>
            <a:r>
              <a:t>On this slide</a:t>
            </a:r>
          </a:p>
          <a:p>
            <a:r>
              <a:t>Linear model and tree: A linear model combines inputs with learned weights. A regression tree asks feature-threshold questions and predicts a value at each leaf.</a:t>
            </a:r>
          </a:p>
          <a:p>
            <a:r>
              <a:t/>
            </a:r>
          </a:p>
          <a:p>
            <a:r>
              <a:t>Continue to</a:t>
            </a:r>
          </a:p>
          <a:p>
            <a:r>
              <a:t>What learning means in this example</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What learning means in this example</a:t>
            </a:r>
          </a:p>
          <a:p>
            <a:r>
              <a:t>CML3111, Week 8, slide 9</a:t>
            </a:r>
          </a:p>
          <a:p>
            <a:r>
              <a:t/>
            </a:r>
          </a:p>
          <a:p>
            <a:r>
              <a:t>Explanation to give</a:t>
            </a:r>
          </a:p>
          <a:p>
            <a:r>
              <a:t>Use the four teaching pairs to make the learned relationship visible. A one-unit input increase corresponds to a two-unit target increase in this invented dataset.</a:t>
            </a:r>
          </a:p>
          <a:p>
            <a:r>
              <a:t/>
            </a:r>
          </a:p>
          <a:p>
            <a:r>
              <a:t>Worked illustration / lecturer answer</a:t>
            </a:r>
          </a:p>
          <a:p>
            <a:r>
              <a:t>The pairs (1,12), (2,14), (3,16), (4,18) follow target = 10 + 2 × input. For input 2.5, that line gives 15. A tree makes threshold-based group predictions instead.</a:t>
            </a:r>
          </a:p>
          <a:p>
            <a:r>
              <a:t/>
            </a:r>
          </a:p>
          <a:p>
            <a:r>
              <a:t>Misconception to address</a:t>
            </a:r>
          </a:p>
          <a:p>
            <a:r>
              <a:t>These perfectly patterned values explain model behaviour. They do not establish that real engineering data follows an exact line.</a:t>
            </a:r>
          </a:p>
          <a:p>
            <a:r>
              <a:t/>
            </a:r>
          </a:p>
          <a:p>
            <a:r>
              <a:t>On this slide</a:t>
            </a:r>
          </a:p>
          <a:p>
            <a:r>
              <a:t>Training supplies inputs and their known answers.</a:t>
            </a:r>
          </a:p>
          <a:p>
            <a:r>
              <a:t/>
            </a:r>
          </a:p>
          <a:p>
            <a:r>
              <a:t>The model uses those examples to choose its internal numbers.</a:t>
            </a:r>
          </a:p>
          <a:p>
            <a:r>
              <a:t/>
            </a:r>
          </a:p>
          <a:p>
            <a:r>
              <a:t>Prediction applies the fitted model to inputs whose answer we want to estimate.</a:t>
            </a:r>
          </a:p>
          <a:p>
            <a:r>
              <a:t/>
            </a:r>
          </a:p>
          <a:p>
            <a:r>
              <a:t>Continue to</a:t>
            </a:r>
          </a:p>
          <a:p>
            <a:r>
              <a:t>Training observations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Training observations</a:t>
            </a:r>
          </a:p>
          <a:p>
            <a:r>
              <a:t>CML3111, Week 8, slide 10</a:t>
            </a:r>
          </a:p>
          <a:p>
            <a:r>
              <a:t/>
            </a:r>
          </a:p>
          <a:p>
            <a:r>
              <a:t>Explanation to give</a:t>
            </a:r>
          </a:p>
          <a:p>
            <a:r>
              <a:t>Use the four teaching pairs to make the learned relationship visible. A one-unit input increase corresponds to a two-unit target increase in this invented dataset.</a:t>
            </a:r>
          </a:p>
          <a:p>
            <a:r>
              <a:t/>
            </a:r>
          </a:p>
          <a:p>
            <a:r>
              <a:t>Worked illustration / lecturer answer</a:t>
            </a:r>
          </a:p>
          <a:p>
            <a:r>
              <a:t>The pairs (1,12), (2,14), (3,16), (4,18) follow target = 10 + 2 × input. For input 2.5, that line gives 15. A tree makes threshold-based group predictions instead.</a:t>
            </a:r>
          </a:p>
          <a:p>
            <a:r>
              <a:t/>
            </a:r>
          </a:p>
          <a:p>
            <a:r>
              <a:t>Misconception to address</a:t>
            </a:r>
          </a:p>
          <a:p>
            <a:r>
              <a:t>These perfectly patterned values explain model behaviour. They do not establish that real engineering data follows an exact line.</a:t>
            </a:r>
          </a:p>
          <a:p>
            <a:r>
              <a:t/>
            </a:r>
          </a:p>
          <a:p>
            <a:r>
              <a:t>On this slide</a:t>
            </a:r>
          </a:p>
          <a:p>
            <a:r>
              <a:t>Input | Measured target</a:t>
            </a:r>
          </a:p>
          <a:p>
            <a:r>
              <a:t>1 | 12</a:t>
            </a:r>
          </a:p>
          <a:p>
            <a:r>
              <a:t>2 | 14</a:t>
            </a:r>
          </a:p>
          <a:p>
            <a:r>
              <a:t>3 | 16</a:t>
            </a:r>
          </a:p>
          <a:p>
            <a:r>
              <a:t>4 | 18</a:t>
            </a:r>
          </a:p>
          <a:p>
            <a:r>
              <a:t>Invented numbers for learning.</a:t>
            </a:r>
          </a:p>
          <a:p>
            <a:r>
              <a:t/>
            </a:r>
          </a:p>
          <a:p>
            <a:r>
              <a:t>Continue to</a:t>
            </a:r>
          </a:p>
          <a:p>
            <a:r>
              <a:t>A fitted line is a numerical rule</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A fitted line is a numerical rule</a:t>
            </a:r>
          </a:p>
          <a:p>
            <a:r>
              <a:t>CML3111, Week 8, slide 11</a:t>
            </a:r>
          </a:p>
          <a:p>
            <a:r>
              <a:t/>
            </a:r>
          </a:p>
          <a:p>
            <a:r>
              <a:t>Explanation to give</a:t>
            </a:r>
          </a:p>
          <a:p>
            <a:r>
              <a:t>A fitted straight line summarises how the target changes with an input in the training examples. Its slope is the change in prediction per unit increase of input; its intercept is the prediction at input zero.</a:t>
            </a:r>
          </a:p>
          <a:p>
            <a:r>
              <a:t/>
            </a:r>
          </a:p>
          <a:p>
            <a:r>
              <a:t>Worked illustration / lecturer answer</a:t>
            </a:r>
          </a:p>
          <a:p>
            <a:r>
              <a:t>The teaching data [1,2,3,4] and [12,14,16,18] follow y = 10 + 2x. At x = 2.5 the line predicts 15. That is an illustration, not evidence of accuracy on engineering measurements.</a:t>
            </a:r>
          </a:p>
          <a:p>
            <a:r>
              <a:t/>
            </a:r>
          </a:p>
          <a:p>
            <a:r>
              <a:t>Misconception to address</a:t>
            </a:r>
          </a:p>
          <a:p>
            <a:r>
              <a:t>Fitting a neat line does not establish causation. Extrapolating beyond the observed range can be unreliable.</a:t>
            </a:r>
          </a:p>
          <a:p>
            <a:r>
              <a:t/>
            </a:r>
          </a:p>
          <a:p>
            <a:r>
              <a:t>On this slide</a:t>
            </a:r>
          </a:p>
          <a:p>
            <a:r>
              <a:t>For these invented observations, target = 2 × input + 10 matches all four points. 2 is the slope; 10 is the intercept, the value at input zero.</a:t>
            </a:r>
          </a:p>
          <a:p>
            <a:r>
              <a:t/>
            </a:r>
          </a:p>
          <a:p>
            <a:r>
              <a:t>A prediction error is the difference between a prediction and the measured answer. A vertical gap in the picture shows that error.</a:t>
            </a:r>
          </a:p>
          <a:p>
            <a:r>
              <a:t/>
            </a:r>
          </a:p>
          <a:p>
            <a:r>
              <a:t>Fitting chooses the slope and intercept to minimise summed squared errors. Squaring means multiplying an error by itself; a small training error still needs an unseen-data check.</a:t>
            </a:r>
          </a:p>
          <a:p>
            <a:r>
              <a:t/>
            </a:r>
          </a:p>
          <a:p>
            <a:r>
              <a:t>Continue to</a:t>
            </a:r>
          </a:p>
          <a:p>
            <a:r>
              <a:t>Fitting a line to observations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Fitting a line to observations</a:t>
            </a:r>
          </a:p>
          <a:p>
            <a:r>
              <a:t>CML3111, Week 8, slide 12</a:t>
            </a:r>
          </a:p>
          <a:p>
            <a:r>
              <a:t/>
            </a:r>
          </a:p>
          <a:p>
            <a:r>
              <a:t>Explanation to give</a:t>
            </a:r>
          </a:p>
          <a:p>
            <a:r>
              <a:t>Use the four teaching pairs to make the learned relationship visible. A one-unit input increase corresponds to a two-unit target increase in this invented dataset.</a:t>
            </a:r>
          </a:p>
          <a:p>
            <a:r>
              <a:t/>
            </a:r>
          </a:p>
          <a:p>
            <a:r>
              <a:t>Worked illustration / lecturer answer</a:t>
            </a:r>
          </a:p>
          <a:p>
            <a:r>
              <a:t>The pairs (1,12), (2,14), (3,16), (4,18) follow target = 10 + 2 × input. For input 2.5, that line gives 15. A tree makes threshold-based group predictions instead.</a:t>
            </a:r>
          </a:p>
          <a:p>
            <a:r>
              <a:t/>
            </a:r>
          </a:p>
          <a:p>
            <a:r>
              <a:t>Misconception to address</a:t>
            </a:r>
          </a:p>
          <a:p>
            <a:r>
              <a:t>These perfectly patterned values explain model behaviour. They do not establish that real engineering data follows an exact line.</a:t>
            </a:r>
          </a:p>
          <a:p>
            <a:r>
              <a:t/>
            </a:r>
          </a:p>
          <a:p>
            <a:r>
              <a:t>On this slide</a:t>
            </a:r>
          </a:p>
          <a:p>
            <a:r>
              <a:t>The fitted line minimises the sum of squared vertical errors.</a:t>
            </a:r>
          </a:p>
          <a:p>
            <a:r>
              <a:t/>
            </a:r>
          </a:p>
          <a:p>
            <a:r>
              <a:t>Continue to</a:t>
            </a:r>
          </a:p>
          <a:p>
            <a:r>
              <a:t>Rows must stay paired with their answers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Rows must stay paired with their answers</a:t>
            </a:r>
          </a:p>
          <a:p>
            <a:r>
              <a:t>CML3111, Week 8, slide 13</a:t>
            </a:r>
          </a:p>
          <a:p>
            <a:r>
              <a:t/>
            </a:r>
          </a:p>
          <a:p>
            <a:r>
              <a:t>Explanation to give</a:t>
            </a:r>
          </a:p>
          <a:p>
            <a:r>
              <a:t>Preserve the relationship between one observation's inputs and its answer. Show shapes and row order before interpreting returned predictions.</a:t>
            </a:r>
          </a:p>
          <a:p>
            <a:r>
              <a:t/>
            </a:r>
          </a:p>
          <a:p>
            <a:r>
              <a:t>Worked illustration / lecturer answer</a:t>
            </a:r>
          </a:p>
          <a:p>
            <a:r>
              <a:t>X has four training rows and y has four targets. predictions.round(2) changes display precision; .tolist() converts a NumPy array to a Python list. Keep full-precision values for metrics when required.</a:t>
            </a:r>
          </a:p>
          <a:p>
            <a:r>
              <a:t/>
            </a:r>
          </a:p>
          <a:p>
            <a:r>
              <a:t>Misconception to address</a:t>
            </a:r>
          </a:p>
          <a:p>
            <a:r>
              <a:t>Rounding a displayed value is different from changing the values used for assessment. Do not shuffle X without applying the same reordering to y.</a:t>
            </a:r>
          </a:p>
          <a:p>
            <a:r>
              <a:t/>
            </a:r>
          </a:p>
          <a:p>
            <a:r>
              <a:t>On this slide</a:t>
            </a:r>
          </a:p>
          <a:p>
            <a:r>
              <a:t>Each inner list in X_train is one observation.</a:t>
            </a:r>
          </a:p>
          <a:p>
            <a:r>
              <a:t/>
            </a:r>
          </a:p>
          <a:p>
            <a:r>
              <a:t>y_train contains one target value for each row, in the same order.</a:t>
            </a:r>
          </a:p>
          <a:p>
            <a:r>
              <a:t/>
            </a:r>
          </a:p>
          <a:p>
            <a:r>
              <a:t>Changing the order of only one list attaches answers to the wrong observations.</a:t>
            </a:r>
          </a:p>
          <a:p>
            <a:r>
              <a:t/>
            </a:r>
          </a:p>
          <a:p>
            <a:r>
              <a:t>Continue to</a:t>
            </a:r>
          </a:p>
          <a:p>
            <a:r>
              <a:t>A matrix is a rectangular table of numbers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A matrix is a rectangular table of numbers</a:t>
            </a:r>
          </a:p>
          <a:p>
            <a:r>
              <a:t>CML3111, Week 8, slide 14</a:t>
            </a:r>
          </a:p>
          <a:p>
            <a:r>
              <a:t/>
            </a:r>
          </a:p>
          <a:p>
            <a:r>
              <a:t>Explanation to give</a:t>
            </a:r>
          </a:p>
          <a:p>
            <a:r>
              <a:t>Explain an input matrix as a table of numbers with one observation per row and one feature per column. The target vector has one answer per observation in the same order.</a:t>
            </a:r>
          </a:p>
          <a:p>
            <a:r>
              <a:t/>
            </a:r>
          </a:p>
          <a:p>
            <a:r>
              <a:t>Worked illustration / lecturer answer</a:t>
            </a:r>
          </a:p>
          <a:p>
            <a:r>
              <a:t>[[1], [2], [3]] has shape (3, 1). [12, 14, 16] has shape (3,). For one new observation with two features, use [[2.5, 22]], not [2.5, 22].</a:t>
            </a:r>
          </a:p>
          <a:p>
            <a:r>
              <a:t/>
            </a:r>
          </a:p>
          <a:p>
            <a:r>
              <a:t>Misconception to address</a:t>
            </a:r>
          </a:p>
          <a:p>
            <a:r>
              <a:t>Swapping feature columns changes their meaning even if dimensions still match. The model expects the same order and units at prediction time.</a:t>
            </a:r>
          </a:p>
          <a:p>
            <a:r>
              <a:t/>
            </a:r>
          </a:p>
          <a:p>
            <a:r>
              <a:t>On this slide</a:t>
            </a:r>
          </a:p>
          <a:p>
            <a:r>
              <a:t>A matrix has rows and columns. For modelling, one row is one observation and each column is one input feature.</a:t>
            </a:r>
          </a:p>
          <a:p>
            <a:r>
              <a:t/>
            </a:r>
          </a:p>
          <a:p>
            <a:r>
              <a:t>[[1, 20], [2, 22]] has two rows and two columns. The outer list contains rows; each inner list contains that row’s features.</a:t>
            </a:r>
          </a:p>
          <a:p>
            <a:r>
              <a:t/>
            </a:r>
          </a:p>
          <a:p>
            <a:r>
              <a:t>X is a conventional name for this input table. y holds one known target per row. These names have no special power in Python.</a:t>
            </a:r>
          </a:p>
          <a:p>
            <a:r>
              <a:t/>
            </a:r>
          </a:p>
          <a:p>
            <a:r>
              <a:t>Continue to</a:t>
            </a:r>
          </a:p>
          <a:p>
            <a:r>
              <a:t>Rows and arrays before model code</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Rows and arrays before model code</a:t>
            </a:r>
          </a:p>
          <a:p>
            <a:r>
              <a:t>CML3111, Week 8, slide 15</a:t>
            </a:r>
          </a:p>
          <a:p>
            <a:r>
              <a:t/>
            </a:r>
          </a:p>
          <a:p>
            <a:r>
              <a:t>Explanation to give</a:t>
            </a:r>
          </a:p>
          <a:p>
            <a:r>
              <a:t>Explain an input matrix as a table of numbers with one observation per row and one feature per column. The target vector has one answer per observation in the same order.</a:t>
            </a:r>
          </a:p>
          <a:p>
            <a:r>
              <a:t/>
            </a:r>
          </a:p>
          <a:p>
            <a:r>
              <a:t>Worked illustration / lecturer answer</a:t>
            </a:r>
          </a:p>
          <a:p>
            <a:r>
              <a:t>[[1], [2], [3]] has shape (3, 1). [12, 14, 16] has shape (3,). For one new observation with two features, use [[2.5, 22]], not [2.5, 22].</a:t>
            </a:r>
          </a:p>
          <a:p>
            <a:r>
              <a:t/>
            </a:r>
          </a:p>
          <a:p>
            <a:r>
              <a:t>Misconception to address</a:t>
            </a:r>
          </a:p>
          <a:p>
            <a:r>
              <a:t>Swapping feature columns changes their meaning even if dimensions still match. The model expects the same order and units at prediction time.</a:t>
            </a:r>
          </a:p>
          <a:p>
            <a:r>
              <a:t/>
            </a:r>
          </a:p>
          <a:p>
            <a:r>
              <a:t>On this slide</a:t>
            </a:r>
          </a:p>
          <a:p>
            <a:r>
              <a:t>Nested lists: [[1], [2], [3]] has three inner lists: three rows with one feature each. [12, 14, 16] has one target per row in the same order.</a:t>
            </a:r>
          </a:p>
          <a:p>
            <a:r>
              <a:t>NumPy and array: NumPy is a numerical library; np is its short imported name. np.array(...) builds an array. shape reports its dimensions. np.nan represents a missing numerical value.</a:t>
            </a:r>
          </a:p>
          <a:p>
            <a:r>
              <a:t/>
            </a:r>
          </a:p>
          <a:p>
            <a:r>
              <a:t>Continue to</a:t>
            </a:r>
          </a:p>
          <a:p>
            <a:r>
              <a:t>Reading NumPy results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Reading NumPy results</a:t>
            </a:r>
          </a:p>
          <a:p>
            <a:r>
              <a:t>CML3111, Week 8, slide 16</a:t>
            </a:r>
          </a:p>
          <a:p>
            <a:r>
              <a:t/>
            </a:r>
          </a:p>
          <a:p>
            <a:r>
              <a:t>Explanation to give</a:t>
            </a:r>
          </a:p>
          <a:p>
            <a:r>
              <a:t>Preserve the relationship between one observation's inputs and its answer. Show shapes and row order before interpreting returned predictions.</a:t>
            </a:r>
          </a:p>
          <a:p>
            <a:r>
              <a:t/>
            </a:r>
          </a:p>
          <a:p>
            <a:r>
              <a:t>Worked illustration / lecturer answer</a:t>
            </a:r>
          </a:p>
          <a:p>
            <a:r>
              <a:t>X has four training rows and y has four targets. predictions.round(2) changes display precision; .tolist() converts a NumPy array to a Python list. Keep full-precision values for metrics when required.</a:t>
            </a:r>
          </a:p>
          <a:p>
            <a:r>
              <a:t/>
            </a:r>
          </a:p>
          <a:p>
            <a:r>
              <a:t>Misconception to address</a:t>
            </a:r>
          </a:p>
          <a:p>
            <a:r>
              <a:t>Rounding a displayed value is different from changing the values used for assessment. Do not shuffle X without applying the same reordering to y.</a:t>
            </a:r>
          </a:p>
          <a:p>
            <a:r>
              <a:t/>
            </a:r>
          </a:p>
          <a:p>
            <a:r>
              <a:t>On this slide</a:t>
            </a:r>
          </a:p>
          <a:p>
            <a:r>
              <a:t>Expression | Meaning</a:t>
            </a:r>
          </a:p>
          <a:p>
            <a:r>
              <a:t>np.nan | A missing numeric value marker</a:t>
            </a:r>
          </a:p>
          <a:p>
            <a:r>
              <a:t>X.shape | The array dimensions: rows, columns</a:t>
            </a:r>
          </a:p>
          <a:p>
            <a:r>
              <a:t>predictions.round(2) | Round a new array to two decimal places</a:t>
            </a:r>
          </a:p>
          <a:p>
            <a:r>
              <a:t>predictions.tolist() | Convert the array into a Python list</a:t>
            </a:r>
          </a:p>
          <a:p>
            <a:r>
              <a:t>Use rounded values only for a labelled display. Keep full precision when the assignment requires it.</a:t>
            </a:r>
          </a:p>
          <a:p>
            <a:r>
              <a:t/>
            </a:r>
          </a:p>
          <a:p>
            <a:r>
              <a:t>Continue to</a:t>
            </a:r>
          </a:p>
          <a:p>
            <a:r>
              <a:t>Create an array before reading its shape</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Create an array before reading its shape</a:t>
            </a:r>
          </a:p>
          <a:p>
            <a:r>
              <a:t>CML3111, Week 8, slide 17</a:t>
            </a:r>
          </a:p>
          <a:p>
            <a:r>
              <a:t/>
            </a:r>
          </a:p>
          <a:p>
            <a:r>
              <a:t>Explanation to give</a:t>
            </a:r>
          </a:p>
          <a:p>
            <a:r>
              <a:t>Explain an input matrix as a table of numbers with one observation per row and one feature per column. The target vector has one answer per observation in the same order.</a:t>
            </a:r>
          </a:p>
          <a:p>
            <a:r>
              <a:t/>
            </a:r>
          </a:p>
          <a:p>
            <a:r>
              <a:t>Worked illustration / lecturer answer</a:t>
            </a:r>
          </a:p>
          <a:p>
            <a:r>
              <a:t>[[1], [2], [3]] has shape (3, 1). [12, 14, 16] has shape (3,). For one new observation with two features, use [[2.5, 22]], not [2.5, 22].</a:t>
            </a:r>
          </a:p>
          <a:p>
            <a:r>
              <a:t/>
            </a:r>
          </a:p>
          <a:p>
            <a:r>
              <a:t>Misconception to address</a:t>
            </a:r>
          </a:p>
          <a:p>
            <a:r>
              <a:t>Swapping feature columns changes their meaning even if dimensions still match. The model expects the same order and units at prediction time.</a:t>
            </a:r>
          </a:p>
          <a:p>
            <a:r>
              <a:t/>
            </a:r>
          </a:p>
          <a:p>
            <a:r>
              <a:t>On this slide</a:t>
            </a:r>
          </a:p>
          <a:p>
            <a:r>
              <a:t>NumPy is a library for numerical arrays. import numpy as np makes its tools available through the name np.</a:t>
            </a:r>
          </a:p>
          <a:p>
            <a:r>
              <a:t/>
            </a:r>
          </a:p>
          <a:p>
            <a:r>
              <a:t>An array stores a regular arrangement of values. np.array([[1], [2], [3]]) creates three rows with one value in each.</a:t>
            </a:r>
          </a:p>
          <a:p>
            <a:r>
              <a:t/>
            </a:r>
          </a:p>
          <a:p>
            <a:r>
              <a:t>X.shape reports (3, 1): three rows, one column. np.array([12, 14, 16]) is one-dimensional; its shape is (3,). The comma marks a one-item tuple.</a:t>
            </a:r>
          </a:p>
          <a:p>
            <a:r>
              <a:t/>
            </a:r>
          </a:p>
          <a:p>
            <a:r>
              <a:t>Reference / existing resource</a:t>
            </a:r>
          </a:p>
          <a:p>
            <a:r>
              <a:t>https://docs.python.org/3/tutorial/introduction.html</a:t>
            </a:r>
          </a:p>
          <a:p>
            <a:r>
              <a:t>https://docs.python.org/3/tutorial/controlflow.html;</a:t>
            </a:r>
          </a:p>
          <a:p>
            <a:r>
              <a:t/>
            </a:r>
          </a:p>
          <a:p>
            <a:r>
              <a:t>Continue to</a:t>
            </a:r>
          </a:p>
          <a:p>
            <a:r>
              <a:t>Rows, columns and named options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Rows, columns and named options</a:t>
            </a:r>
          </a:p>
          <a:p>
            <a:r>
              <a:t>CML3111, Week 8, slide 18</a:t>
            </a:r>
          </a:p>
          <a:p>
            <a:r>
              <a:t/>
            </a:r>
          </a:p>
          <a:p>
            <a:r>
              <a:t>Explanation to give</a:t>
            </a:r>
          </a:p>
          <a:p>
            <a:r>
              <a:t>Explain an input matrix as a table of numbers with one observation per row and one feature per column. The target vector has one answer per observation in the same order.</a:t>
            </a:r>
          </a:p>
          <a:p>
            <a:r>
              <a:t/>
            </a:r>
          </a:p>
          <a:p>
            <a:r>
              <a:t>Worked illustration / lecturer answer</a:t>
            </a:r>
          </a:p>
          <a:p>
            <a:r>
              <a:t>[[1], [2], [3]] has shape (3, 1). [12, 14, 16] has shape (3,). For one new observation with two features, use [[2.5, 22]], not [2.5, 22].</a:t>
            </a:r>
          </a:p>
          <a:p>
            <a:r>
              <a:t/>
            </a:r>
          </a:p>
          <a:p>
            <a:r>
              <a:t>Misconception to address</a:t>
            </a:r>
          </a:p>
          <a:p>
            <a:r>
              <a:t>Swapping feature columns changes their meaning even if dimensions still match. The model expects the same order and units at prediction time.</a:t>
            </a:r>
          </a:p>
          <a:p>
            <a:r>
              <a:t/>
            </a:r>
          </a:p>
          <a:p>
            <a:r>
              <a:t>Read the displayed code line by line</a:t>
            </a:r>
          </a:p>
          <a:p>
            <a:r>
              <a:t>import numpy as np</a:t>
            </a:r>
          </a:p>
          <a:p>
            <a:r>
              <a:t>Load this library. An alias after as is the shorter name used below.</a:t>
            </a:r>
          </a:p>
          <a:p>
            <a:r>
              <a:t/>
            </a:r>
          </a:p>
          <a:p>
            <a:r>
              <a:t>X = np.array([[1], [2], [3]])</a:t>
            </a:r>
          </a:p>
          <a:p>
            <a:r>
              <a:t>Evaluate the complete right-hand expression first, then assign its result to the name or selected field on the left.</a:t>
            </a:r>
          </a:p>
          <a:p>
            <a:r>
              <a:t/>
            </a:r>
          </a:p>
          <a:p>
            <a:r>
              <a:t>y = np.array([12, 14, 16])</a:t>
            </a:r>
          </a:p>
          <a:p>
            <a:r>
              <a:t>Evaluate the complete right-hand expression first, then assign its result to the name or selected field on the left.</a:t>
            </a:r>
          </a:p>
          <a:p>
            <a:r>
              <a:t/>
            </a:r>
          </a:p>
          <a:p>
            <a:r>
              <a:t>print(X.shape)</a:t>
            </a:r>
          </a:p>
          <a:p>
            <a:r>
              <a:t>Evaluate the expression inside the parentheses and display it. Displaying is separate from returning a function result.</a:t>
            </a:r>
          </a:p>
          <a:p>
            <a:r>
              <a:t/>
            </a:r>
          </a:p>
          <a:p>
            <a:r>
              <a:t>print(y.shape)</a:t>
            </a:r>
          </a:p>
          <a:p>
            <a:r>
              <a:t>Evaluate the expression inside the parentheses and display it. Displaying is separate from returning a function result.</a:t>
            </a:r>
          </a:p>
          <a:p>
            <a:r>
              <a:t/>
            </a:r>
          </a:p>
          <a:p>
            <a:r>
              <a:t>Result / continuity</a:t>
            </a:r>
          </a:p>
          <a:p>
            <a:r>
              <a:t>X has three rows and one feature column. y has three target values.</a:t>
            </a:r>
          </a:p>
          <a:p>
            <a:r>
              <a:t/>
            </a:r>
          </a:p>
          <a:p>
            <a:r>
              <a:t>Continue to</a:t>
            </a:r>
          </a:p>
          <a:p>
            <a:r>
              <a:t>fit and predict</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fit and predict</a:t>
            </a:r>
          </a:p>
          <a:p>
            <a:r>
              <a:t>CML3111, Week 8, slide 19</a:t>
            </a:r>
          </a:p>
          <a:p>
            <a:r>
              <a:t/>
            </a:r>
          </a:p>
          <a:p>
            <a:r>
              <a:t>Explanation to give</a:t>
            </a:r>
          </a:p>
          <a:p>
            <a:r>
              <a:t>A model object starts without learned coefficients. fit uses paired training inputs and answers to learn its state. predict applies that saved state to input rows and returns estimates.</a:t>
            </a:r>
          </a:p>
          <a:p>
            <a:r>
              <a:t/>
            </a:r>
          </a:p>
          <a:p>
            <a:r>
              <a:t>Worked illustration / lecturer answer</a:t>
            </a:r>
          </a:p>
          <a:p>
            <a:r>
              <a:t>In the displayed four-row example, fitting learns a line with intercept 10 and slope 2. Predicting [[2.5]] gives [15.0]. No true answer for 2.5 is passed to predict.</a:t>
            </a:r>
          </a:p>
          <a:p>
            <a:r>
              <a:t/>
            </a:r>
          </a:p>
          <a:p>
            <a:r>
              <a:t>Misconception to address</a:t>
            </a:r>
          </a:p>
          <a:p>
            <a:r>
              <a:t>Creating LinearRegression() is not training. Calling predict before fit fails. An import makes a tool available; it does not run the model.</a:t>
            </a:r>
          </a:p>
          <a:p>
            <a:r>
              <a:t/>
            </a:r>
          </a:p>
          <a:p>
            <a:r>
              <a:t>On this slide</a:t>
            </a:r>
          </a:p>
          <a:p>
            <a:r>
              <a:t>fit and predict: fit learns from training inputs and targets. predict uses the fitted rule on new inputs without receiving their true targets.</a:t>
            </a:r>
          </a:p>
          <a:p>
            <a:r>
              <a:t/>
            </a:r>
          </a:p>
          <a:p>
            <a:r>
              <a:t>Continue to</a:t>
            </a:r>
          </a:p>
          <a:p>
            <a:r>
              <a:t>A model object keeps learned information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A model object keeps learned information</a:t>
            </a:r>
          </a:p>
          <a:p>
            <a:r>
              <a:t>CML3111, Week 8, slide 20</a:t>
            </a:r>
          </a:p>
          <a:p>
            <a:r>
              <a:t/>
            </a:r>
          </a:p>
          <a:p>
            <a:r>
              <a:t>Explanation to give</a:t>
            </a:r>
          </a:p>
          <a:p>
            <a:r>
              <a:t>A model object starts without learned coefficients. fit uses paired training inputs and answers to learn its state. predict applies that saved state to input rows and returns estimates.</a:t>
            </a:r>
          </a:p>
          <a:p>
            <a:r>
              <a:t/>
            </a:r>
          </a:p>
          <a:p>
            <a:r>
              <a:t>Worked illustration / lecturer answer</a:t>
            </a:r>
          </a:p>
          <a:p>
            <a:r>
              <a:t>In the displayed four-row example, fitting learns a line with intercept 10 and slope 2. Predicting [[2.5]] gives [15.0]. No true answer for 2.5 is passed to predict.</a:t>
            </a:r>
          </a:p>
          <a:p>
            <a:r>
              <a:t/>
            </a:r>
          </a:p>
          <a:p>
            <a:r>
              <a:t>Misconception to address</a:t>
            </a:r>
          </a:p>
          <a:p>
            <a:r>
              <a:t>Creating LinearRegression() is not training. Calling predict before fit fails. An import makes a tool available; it does not run the model.</a:t>
            </a:r>
          </a:p>
          <a:p>
            <a:r>
              <a:t/>
            </a:r>
          </a:p>
          <a:p>
            <a:r>
              <a:t>On this slide</a:t>
            </a:r>
          </a:p>
          <a:p>
            <a:r>
              <a:t>Object and method: LinearRegression() creates a model object. A method is an operation on that object. model.fit(...) stores learned information; model.predict(...) uses it.</a:t>
            </a:r>
          </a:p>
          <a:p>
            <a:r>
              <a:t>Options: An argument such as strategy="mean" names an option. A random seed fixes the starting state of random choices; it does not prove that a model is accurate.</a:t>
            </a:r>
          </a:p>
          <a:p>
            <a:r>
              <a:t/>
            </a:r>
          </a:p>
          <a:p>
            <a:r>
              <a:t>Continue to</a:t>
            </a:r>
          </a:p>
          <a:p>
            <a:r>
              <a:t>An object remembers its fitted state</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An object remembers its fitted state</a:t>
            </a:r>
          </a:p>
          <a:p>
            <a:r>
              <a:t>CML3111, Week 8, slide 21</a:t>
            </a:r>
          </a:p>
          <a:p>
            <a:r>
              <a:t/>
            </a:r>
          </a:p>
          <a:p>
            <a:r>
              <a:t>Explanation to give</a:t>
            </a:r>
          </a:p>
          <a:p>
            <a:r>
              <a:t>A model object starts without learned coefficients. fit uses paired training inputs and answers to learn its state. predict applies that saved state to input rows and returns estimates.</a:t>
            </a:r>
          </a:p>
          <a:p>
            <a:r>
              <a:t/>
            </a:r>
          </a:p>
          <a:p>
            <a:r>
              <a:t>Worked illustration / lecturer answer</a:t>
            </a:r>
          </a:p>
          <a:p>
            <a:r>
              <a:t>In the displayed four-row example, fitting learns a line with intercept 10 and slope 2. Predicting [[2.5]] gives [15.0]. No true answer for 2.5 is passed to predict.</a:t>
            </a:r>
          </a:p>
          <a:p>
            <a:r>
              <a:t/>
            </a:r>
          </a:p>
          <a:p>
            <a:r>
              <a:t>Misconception to address</a:t>
            </a:r>
          </a:p>
          <a:p>
            <a:r>
              <a:t>Creating LinearRegression() is not training. Calling predict before fit fails. An import makes a tool available; it does not run the model.</a:t>
            </a:r>
          </a:p>
          <a:p>
            <a:r>
              <a:t/>
            </a:r>
          </a:p>
          <a:p>
            <a:r>
              <a:t>On this slide</a:t>
            </a:r>
          </a:p>
          <a:p>
            <a:r>
              <a:t>Python expression | What it means</a:t>
            </a:r>
          </a:p>
          <a:p>
            <a:r>
              <a:t>model = LinearRegression() | Create an unfitted model object</a:t>
            </a:r>
          </a:p>
          <a:p>
            <a:r>
              <a:t>model.fit(X_train, y_train) | Learn from paired training data</a:t>
            </a:r>
          </a:p>
          <a:p>
            <a:r>
              <a:t>model.predict(X_new) | Use that learned state</a:t>
            </a:r>
          </a:p>
          <a:p>
            <a:r>
              <a:t>random_state=17 | Name an option and set its value</a:t>
            </a:r>
          </a:p>
          <a:p>
            <a:r>
              <a:t>An object holds state and has methods. A method is a function used through that object.</a:t>
            </a:r>
          </a:p>
          <a:p>
            <a:r>
              <a:t/>
            </a:r>
          </a:p>
          <a:p>
            <a:r>
              <a:t>Continue to</a:t>
            </a:r>
          </a:p>
          <a:p>
            <a:r>
              <a:t>Creating, fitting and predicting</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Creating, fitting and predicting</a:t>
            </a:r>
          </a:p>
          <a:p>
            <a:r>
              <a:t>CML3111, Week 8, slide 22</a:t>
            </a:r>
          </a:p>
          <a:p>
            <a:r>
              <a:t/>
            </a:r>
          </a:p>
          <a:p>
            <a:r>
              <a:t>Explanation to give</a:t>
            </a:r>
          </a:p>
          <a:p>
            <a:r>
              <a:t>A model object starts without learned coefficients. fit uses paired training inputs and answers to learn its state. predict applies that saved state to input rows and returns estimates.</a:t>
            </a:r>
          </a:p>
          <a:p>
            <a:r>
              <a:t/>
            </a:r>
          </a:p>
          <a:p>
            <a:r>
              <a:t>Worked illustration / lecturer answer</a:t>
            </a:r>
          </a:p>
          <a:p>
            <a:r>
              <a:t>In the displayed four-row example, fitting learns a line with intercept 10 and slope 2. Predicting [[2.5]] gives [15.0]. No true answer for 2.5 is passed to predict.</a:t>
            </a:r>
          </a:p>
          <a:p>
            <a:r>
              <a:t/>
            </a:r>
          </a:p>
          <a:p>
            <a:r>
              <a:t>Misconception to address</a:t>
            </a:r>
          </a:p>
          <a:p>
            <a:r>
              <a:t>Creating LinearRegression() is not training. Calling predict before fit fails. An import makes a tool available; it does not run the model.</a:t>
            </a:r>
          </a:p>
          <a:p>
            <a:r>
              <a:t/>
            </a:r>
          </a:p>
          <a:p>
            <a:r>
              <a:t>On this slide</a:t>
            </a:r>
          </a:p>
          <a:p>
            <a:r>
              <a:t>LinearRegression() creates a model that has not learned yet.</a:t>
            </a:r>
          </a:p>
          <a:p>
            <a:r>
              <a:t/>
            </a:r>
          </a:p>
          <a:p>
            <a:r>
              <a:t>fit(X_train, y_train) learns from paired training examples.</a:t>
            </a:r>
          </a:p>
          <a:p>
            <a:r>
              <a:t/>
            </a:r>
          </a:p>
          <a:p>
            <a:r>
              <a:t>predict(new_inputs) returns estimates. The actual targets are absent from new_inputs.</a:t>
            </a:r>
          </a:p>
          <a:p>
            <a:r>
              <a:t/>
            </a:r>
          </a:p>
          <a:p>
            <a:r>
              <a:t>Continue to</a:t>
            </a:r>
          </a:p>
          <a:p>
            <a:r>
              <a:t>Where the modelling tools come from</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Where the modelling tools come from</a:t>
            </a:r>
          </a:p>
          <a:p>
            <a:r>
              <a:t>CML3111, Week 8, slide 23</a:t>
            </a:r>
          </a:p>
          <a:p>
            <a:r>
              <a:t/>
            </a:r>
          </a:p>
          <a:p>
            <a:r>
              <a:t>Explanation to give</a:t>
            </a:r>
          </a:p>
          <a:p>
            <a:r>
              <a:t>A model object starts without learned coefficients. fit uses paired training inputs and answers to learn its state. predict applies that saved state to input rows and returns estimates.</a:t>
            </a:r>
          </a:p>
          <a:p>
            <a:r>
              <a:t/>
            </a:r>
          </a:p>
          <a:p>
            <a:r>
              <a:t>Worked illustration / lecturer answer</a:t>
            </a:r>
          </a:p>
          <a:p>
            <a:r>
              <a:t>In the displayed four-row example, fitting learns a line with intercept 10 and slope 2. Predicting [[2.5]] gives [15.0]. No true answer for 2.5 is passed to predict.</a:t>
            </a:r>
          </a:p>
          <a:p>
            <a:r>
              <a:t/>
            </a:r>
          </a:p>
          <a:p>
            <a:r>
              <a:t>Misconception to address</a:t>
            </a:r>
          </a:p>
          <a:p>
            <a:r>
              <a:t>Creating LinearRegression() is not training. Calling predict before fit fails. An import makes a tool available; it does not run the model.</a:t>
            </a:r>
          </a:p>
          <a:p>
            <a:r>
              <a:t/>
            </a:r>
          </a:p>
          <a:p>
            <a:r>
              <a:t>On this slide</a:t>
            </a:r>
          </a:p>
          <a:p>
            <a:r>
              <a:t>scikit-learn is an installed machine-learning library. Its Python import name is sklearn. linear_model is the part containing LinearRegression.</a:t>
            </a:r>
          </a:p>
          <a:p>
            <a:r>
              <a:t/>
            </a:r>
          </a:p>
          <a:p>
            <a:r>
              <a:t>from sklearn.linear_model import LinearRegression makes that model class available. LinearRegression() creates an individual model object.</a:t>
            </a:r>
          </a:p>
          <a:p>
            <a:r>
              <a:t/>
            </a:r>
          </a:p>
          <a:p>
            <a:r>
              <a:t>In Colab this library is normally available. If an import fails, use the course setup instructions and retry the import before running model code.</a:t>
            </a:r>
          </a:p>
          <a:p>
            <a:r>
              <a:t/>
            </a:r>
          </a:p>
          <a:p>
            <a:r>
              <a:t>Continue to</a:t>
            </a:r>
          </a:p>
          <a:p>
            <a:r>
              <a:t>Regression models and errors in Python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Regression models and errors in Python</a:t>
            </a:r>
          </a:p>
          <a:p>
            <a:r>
              <a:t>CML3111, Week 8, slide 24</a:t>
            </a:r>
          </a:p>
          <a:p>
            <a:r>
              <a:t/>
            </a:r>
          </a:p>
          <a:p>
            <a:r>
              <a:t>Explanation to give</a:t>
            </a:r>
          </a:p>
          <a:p>
            <a:r>
              <a:t>A model object starts without learned coefficients. fit uses paired training inputs and answers to learn its state. predict applies that saved state to input rows and returns estimates.</a:t>
            </a:r>
          </a:p>
          <a:p>
            <a:r>
              <a:t/>
            </a:r>
          </a:p>
          <a:p>
            <a:r>
              <a:t>Worked illustration / lecturer answer</a:t>
            </a:r>
          </a:p>
          <a:p>
            <a:r>
              <a:t>In the displayed four-row example, fitting learns a line with intercept 10 and slope 2. Predicting [[2.5]] gives [15.0]. No true answer for 2.5 is passed to predict.</a:t>
            </a:r>
          </a:p>
          <a:p>
            <a:r>
              <a:t/>
            </a:r>
          </a:p>
          <a:p>
            <a:r>
              <a:t>Misconception to address</a:t>
            </a:r>
          </a:p>
          <a:p>
            <a:r>
              <a:t>Creating LinearRegression() is not training. Calling predict before fit fails. An import makes a tool available; it does not run the model.</a:t>
            </a:r>
          </a:p>
          <a:p>
            <a:r>
              <a:t/>
            </a:r>
          </a:p>
          <a:p>
            <a:r>
              <a:t>Read the displayed code line by line</a:t>
            </a:r>
          </a:p>
          <a:p>
            <a:r>
              <a:t>from sklearn.linear_model import LinearRegression</a:t>
            </a:r>
          </a:p>
          <a:p>
            <a:r>
              <a:t>Bring the named tool from this library into the current Python session.</a:t>
            </a:r>
          </a:p>
          <a:p>
            <a:r>
              <a:t/>
            </a:r>
          </a:p>
          <a:p>
            <a:r>
              <a:t>X_train = [[1], [2], [3], [4]]</a:t>
            </a:r>
          </a:p>
          <a:p>
            <a:r>
              <a:t>Evaluate the complete right-hand expression first, then assign its result to the name or selected field on the left.</a:t>
            </a:r>
          </a:p>
          <a:p>
            <a:r>
              <a:t/>
            </a:r>
          </a:p>
          <a:p>
            <a:r>
              <a:t>y_train = [12, 14, 16, 18]</a:t>
            </a:r>
          </a:p>
          <a:p>
            <a:r>
              <a:t>Evaluate the complete right-hand expression first, then assign its result to the name or selected field on the left.</a:t>
            </a:r>
          </a:p>
          <a:p>
            <a:r>
              <a:t/>
            </a:r>
          </a:p>
          <a:p>
            <a:r>
              <a:t>new_inputs = [[2.5]]</a:t>
            </a:r>
          </a:p>
          <a:p>
            <a:r>
              <a:t>Evaluate the complete right-hand expression first, then assign its result to the name or selected field on the left.</a:t>
            </a:r>
          </a:p>
          <a:p>
            <a:r>
              <a:t/>
            </a:r>
          </a:p>
          <a:p>
            <a:r>
              <a:t>Result / continuity</a:t>
            </a:r>
          </a:p>
          <a:p>
            <a:r>
              <a:t>Read top to bottom. Run the complete example in the matching practice notebook.</a:t>
            </a:r>
          </a:p>
          <a:p>
            <a:r>
              <a:t/>
            </a:r>
          </a:p>
          <a:p>
            <a:r>
              <a:t>Continue to</a:t>
            </a:r>
          </a:p>
          <a:p>
            <a:r>
              <a:t>Regression models and errors in Python continued</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Regression models and errors in Python continued</a:t>
            </a:r>
          </a:p>
          <a:p>
            <a:r>
              <a:t>CML3111, Week 8, slide 25</a:t>
            </a:r>
          </a:p>
          <a:p>
            <a:r>
              <a:t/>
            </a:r>
          </a:p>
          <a:p>
            <a:r>
              <a:t>Explanation to give</a:t>
            </a:r>
          </a:p>
          <a:p>
            <a:r>
              <a:t>A model object starts without learned coefficients. fit uses paired training inputs and answers to learn its state. predict applies that saved state to input rows and returns estimates.</a:t>
            </a:r>
          </a:p>
          <a:p>
            <a:r>
              <a:t/>
            </a:r>
          </a:p>
          <a:p>
            <a:r>
              <a:t>Worked illustration / lecturer answer</a:t>
            </a:r>
          </a:p>
          <a:p>
            <a:r>
              <a:t>In the displayed four-row example, fitting learns a line with intercept 10 and slope 2. Predicting [[2.5]] gives [15.0]. No true answer for 2.5 is passed to predict.</a:t>
            </a:r>
          </a:p>
          <a:p>
            <a:r>
              <a:t/>
            </a:r>
          </a:p>
          <a:p>
            <a:r>
              <a:t>Misconception to address</a:t>
            </a:r>
          </a:p>
          <a:p>
            <a:r>
              <a:t>Creating LinearRegression() is not training. Calling predict before fit fails. An import makes a tool available; it does not run the model.</a:t>
            </a:r>
          </a:p>
          <a:p>
            <a:r>
              <a:t/>
            </a:r>
          </a:p>
          <a:p>
            <a:r>
              <a:t>Read the displayed code line by line</a:t>
            </a:r>
          </a:p>
          <a:p>
            <a:r>
              <a:t>model = LinearRegression()</a:t>
            </a:r>
          </a:p>
          <a:p>
            <a:r>
              <a:t>Evaluate the complete right-hand expression first, then assign its result to the name or selected field on the left.</a:t>
            </a:r>
          </a:p>
          <a:p>
            <a:r>
              <a:t/>
            </a:r>
          </a:p>
          <a:p>
            <a:r>
              <a:t>model.fit(X_train, y_train)</a:t>
            </a:r>
          </a:p>
          <a:p>
            <a:r>
              <a:t>Learn from the supplied training rows and their aligned targets. This changes the fitted object’s state.</a:t>
            </a:r>
          </a:p>
          <a:p>
            <a:r>
              <a:t/>
            </a:r>
          </a:p>
          <a:p>
            <a:r>
              <a:t>Result / continuity</a:t>
            </a:r>
          </a:p>
          <a:p>
            <a:r>
              <a:t>Read top to bottom. Run the complete example in the matching practice notebook.</a:t>
            </a:r>
          </a:p>
          <a:p>
            <a:r>
              <a:t/>
            </a:r>
          </a:p>
          <a:p>
            <a:r>
              <a:t>Continue to</a:t>
            </a:r>
          </a:p>
          <a:p>
            <a:r>
              <a:t>Regression models and errors in Python continued</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Regression models and errors in Python continued</a:t>
            </a:r>
          </a:p>
          <a:p>
            <a:r>
              <a:t>CML3111, Week 8, slide 26</a:t>
            </a:r>
          </a:p>
          <a:p>
            <a:r>
              <a:t/>
            </a:r>
          </a:p>
          <a:p>
            <a:r>
              <a:t>Explanation to give</a:t>
            </a:r>
          </a:p>
          <a:p>
            <a:r>
              <a:t>A model object starts without learned coefficients. fit uses paired training inputs and answers to learn its state. predict applies that saved state to input rows and returns estimates.</a:t>
            </a:r>
          </a:p>
          <a:p>
            <a:r>
              <a:t/>
            </a:r>
          </a:p>
          <a:p>
            <a:r>
              <a:t>Worked illustration / lecturer answer</a:t>
            </a:r>
          </a:p>
          <a:p>
            <a:r>
              <a:t>In the displayed four-row example, fitting learns a line with intercept 10 and slope 2. Predicting [[2.5]] gives [15.0]. No true answer for 2.5 is passed to predict.</a:t>
            </a:r>
          </a:p>
          <a:p>
            <a:r>
              <a:t/>
            </a:r>
          </a:p>
          <a:p>
            <a:r>
              <a:t>Misconception to address</a:t>
            </a:r>
          </a:p>
          <a:p>
            <a:r>
              <a:t>Creating LinearRegression() is not training. Calling predict before fit fails. An import makes a tool available; it does not run the model.</a:t>
            </a:r>
          </a:p>
          <a:p>
            <a:r>
              <a:t/>
            </a:r>
          </a:p>
          <a:p>
            <a:r>
              <a:t>Read the displayed code line by line</a:t>
            </a:r>
          </a:p>
          <a:p>
            <a:r>
              <a:t>predictions = model.predict(new_inputs)</a:t>
            </a:r>
          </a:p>
          <a:p>
            <a:r>
              <a:t>Apply the already fitted rule to these input rows without passing their true targets.</a:t>
            </a:r>
          </a:p>
          <a:p>
            <a:r>
              <a:t/>
            </a:r>
          </a:p>
          <a:p>
            <a:r>
              <a:t>print(predictions.round(2).tolist())</a:t>
            </a:r>
          </a:p>
          <a:p>
            <a:r>
              <a:t>Evaluate the expression inside the parentheses and display it. Displaying is separate from returning a function result.</a:t>
            </a:r>
          </a:p>
          <a:p>
            <a:r>
              <a:t/>
            </a:r>
          </a:p>
          <a:p>
            <a:r>
              <a:t>Result / continuity</a:t>
            </a:r>
          </a:p>
          <a:p>
            <a:r>
              <a:t>Read top to bottom. Run the complete example in the matching practice notebook.</a:t>
            </a:r>
          </a:p>
          <a:p>
            <a:r>
              <a:t/>
            </a:r>
          </a:p>
          <a:p>
            <a:r>
              <a:t>Continue to</a:t>
            </a:r>
          </a:p>
          <a:p>
            <a:r>
              <a:t>Regression models and errors results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Regression models and errors results</a:t>
            </a:r>
          </a:p>
          <a:p>
            <a:r>
              <a:t>CML3111, Week 8, slide 27</a:t>
            </a:r>
          </a:p>
          <a:p>
            <a:r>
              <a:t/>
            </a:r>
          </a:p>
          <a:p>
            <a:r>
              <a:t>Explanation to give</a:t>
            </a:r>
          </a:p>
          <a:p>
            <a:r>
              <a:t>A model object starts without learned coefficients. fit uses paired training inputs and answers to learn its state. predict applies that saved state to input rows and returns estimates.</a:t>
            </a:r>
          </a:p>
          <a:p>
            <a:r>
              <a:t/>
            </a:r>
          </a:p>
          <a:p>
            <a:r>
              <a:t>Worked illustration / lecturer answer</a:t>
            </a:r>
          </a:p>
          <a:p>
            <a:r>
              <a:t>In the displayed four-row example, fitting learns a line with intercept 10 and slope 2. Predicting [[2.5]] gives [15.0]. No true answer for 2.5 is passed to predict.</a:t>
            </a:r>
          </a:p>
          <a:p>
            <a:r>
              <a:t/>
            </a:r>
          </a:p>
          <a:p>
            <a:r>
              <a:t>Misconception to address</a:t>
            </a:r>
          </a:p>
          <a:p>
            <a:r>
              <a:t>Creating LinearRegression() is not training. Calling predict before fit fails. An import makes a tool available; it does not run the model.</a:t>
            </a:r>
          </a:p>
          <a:p>
            <a:r>
              <a:t/>
            </a:r>
          </a:p>
          <a:p>
            <a:r>
              <a:t>On this slide</a:t>
            </a:r>
          </a:p>
          <a:p>
            <a:r>
              <a:t>[15.0]</a:t>
            </a:r>
          </a:p>
          <a:p>
            <a:r>
              <a:t/>
            </a:r>
          </a:p>
          <a:p>
            <a:r>
              <a:t>Continue to</a:t>
            </a:r>
          </a:p>
          <a:p>
            <a:r>
              <a:t>The mean baseline</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The mean baseline</a:t>
            </a:r>
          </a:p>
          <a:p>
            <a:r>
              <a:t>CML3111, Week 8, slide 28</a:t>
            </a:r>
          </a:p>
          <a:p>
            <a:r>
              <a:t/>
            </a:r>
          </a:p>
          <a:p>
            <a:r>
              <a:t>Explanation to give</a:t>
            </a:r>
          </a:p>
          <a:p>
            <a:r>
              <a:t>A baseline is a deliberately simple comparison. The training-mean baseline ignores input differences and always predicts the same number learned from training targets.</a:t>
            </a:r>
          </a:p>
          <a:p>
            <a:r>
              <a:t/>
            </a:r>
          </a:p>
          <a:p>
            <a:r>
              <a:t>Worked illustration / lecturer answer</a:t>
            </a:r>
          </a:p>
          <a:p>
            <a:r>
              <a:t>Targets 12, 14, 16 and 18 have mean 15. This baseline predicts 15 for input 2.5 and also for input 9. A more complex model must earn its extra complexity on held-out observations.</a:t>
            </a:r>
          </a:p>
          <a:p>
            <a:r>
              <a:t/>
            </a:r>
          </a:p>
          <a:p>
            <a:r>
              <a:t>Misconception to address</a:t>
            </a:r>
          </a:p>
          <a:p>
            <a:r>
              <a:t>Compute the mean from training targets only. A model matching the baseline at one point says nothing about which is better overall.</a:t>
            </a:r>
          </a:p>
          <a:p>
            <a:r>
              <a:t/>
            </a:r>
          </a:p>
          <a:p>
            <a:r>
              <a:t>On this slide</a:t>
            </a:r>
          </a:p>
          <a:p>
            <a:r>
              <a:t>Use the same training data.</a:t>
            </a:r>
          </a:p>
          <a:p>
            <a:r>
              <a:t/>
            </a:r>
          </a:p>
          <a:p>
            <a:r>
              <a:t>This baseline learns their mean, 15, and predicts it for every input.</a:t>
            </a:r>
          </a:p>
          <a:p>
            <a:r>
              <a:t/>
            </a:r>
          </a:p>
          <a:p>
            <a:r>
              <a:t>It gives a simple comparison before claiming the line helps.</a:t>
            </a:r>
          </a:p>
          <a:p>
            <a:r>
              <a:t/>
            </a:r>
          </a:p>
          <a:p>
            <a:r>
              <a:t>Continue to</a:t>
            </a:r>
          </a:p>
          <a:p>
            <a:r>
              <a:t>The mean baseline in Python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The mean baseline in Python</a:t>
            </a:r>
          </a:p>
          <a:p>
            <a:r>
              <a:t>CML3111, Week 8, slide 29</a:t>
            </a:r>
          </a:p>
          <a:p>
            <a:r>
              <a:t/>
            </a:r>
          </a:p>
          <a:p>
            <a:r>
              <a:t>Explanation to give</a:t>
            </a:r>
          </a:p>
          <a:p>
            <a:r>
              <a:t>A baseline is a deliberately simple comparison. The training-mean baseline ignores input differences and always predicts the same number learned from training targets.</a:t>
            </a:r>
          </a:p>
          <a:p>
            <a:r>
              <a:t/>
            </a:r>
          </a:p>
          <a:p>
            <a:r>
              <a:t>Worked illustration / lecturer answer</a:t>
            </a:r>
          </a:p>
          <a:p>
            <a:r>
              <a:t>Targets 12, 14, 16 and 18 have mean 15. This baseline predicts 15 for input 2.5 and also for input 9. A more complex model must earn its extra complexity on held-out observations.</a:t>
            </a:r>
          </a:p>
          <a:p>
            <a:r>
              <a:t/>
            </a:r>
          </a:p>
          <a:p>
            <a:r>
              <a:t>Misconception to address</a:t>
            </a:r>
          </a:p>
          <a:p>
            <a:r>
              <a:t>Compute the mean from training targets only. A model matching the baseline at one point says nothing about which is better overall.</a:t>
            </a:r>
          </a:p>
          <a:p>
            <a:r>
              <a:t/>
            </a:r>
          </a:p>
          <a:p>
            <a:r>
              <a:t>Read the displayed code line by line</a:t>
            </a:r>
          </a:p>
          <a:p>
            <a:r>
              <a:t>from sklearn.dummy import DummyRegressor</a:t>
            </a:r>
          </a:p>
          <a:p>
            <a:r>
              <a:t>Bring the named tool from this library into the current Python session.</a:t>
            </a:r>
          </a:p>
          <a:p>
            <a:r>
              <a:t/>
            </a:r>
          </a:p>
          <a:p>
            <a:r>
              <a:t>baseline = DummyRegressor(strategy="mean")</a:t>
            </a:r>
          </a:p>
          <a:p>
            <a:r>
              <a:t>Evaluate the complete right-hand expression first, then assign its result to the name or selected field on the left.</a:t>
            </a:r>
          </a:p>
          <a:p>
            <a:r>
              <a:t/>
            </a:r>
          </a:p>
          <a:p>
            <a:r>
              <a:t>baseline.fit(X_train, y_train)</a:t>
            </a:r>
          </a:p>
          <a:p>
            <a:r>
              <a:t>Learn from the supplied training rows and their aligned targets. This changes the fitted object’s state.</a:t>
            </a:r>
          </a:p>
          <a:p>
            <a:r>
              <a:t/>
            </a:r>
          </a:p>
          <a:p>
            <a:r>
              <a:t>print(baseline.predict(new_inputs).tolist())</a:t>
            </a:r>
          </a:p>
          <a:p>
            <a:r>
              <a:t>Evaluate the expression inside the parentheses and display it. Displaying is separate from returning a function result.</a:t>
            </a:r>
          </a:p>
          <a:p>
            <a:r>
              <a:t/>
            </a:r>
          </a:p>
          <a:p>
            <a:r>
              <a:t>Result / continuity</a:t>
            </a:r>
          </a:p>
          <a:p>
            <a:r>
              <a:t>Read top to bottom. Run the complete example in the matching practice notebook.</a:t>
            </a:r>
          </a:p>
          <a:p>
            <a:r>
              <a:t/>
            </a:r>
          </a:p>
          <a:p>
            <a:r>
              <a:t>Continue to</a:t>
            </a:r>
          </a:p>
          <a:p>
            <a:r>
              <a:t>A small regression tree</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A small regression tree</a:t>
            </a:r>
          </a:p>
          <a:p>
            <a:r>
              <a:t>CML3111, Week 8, slide 30</a:t>
            </a:r>
          </a:p>
          <a:p>
            <a:r>
              <a:t/>
            </a:r>
          </a:p>
          <a:p>
            <a:r>
              <a:t>Explanation to give</a:t>
            </a:r>
          </a:p>
          <a:p>
            <a:r>
              <a:t>A regression tree asks learned threshold questions. Each path leads to a terminal group, or leaf, whose prediction is based on training targets in that group.</a:t>
            </a:r>
          </a:p>
          <a:p>
            <a:r>
              <a:t/>
            </a:r>
          </a:p>
          <a:p>
            <a:r>
              <a:t>Worked illustration / lecturer answer</a:t>
            </a:r>
          </a:p>
          <a:p>
            <a:r>
              <a:t>In the displayed toy tree, input 2.5 follows &lt;= 2.5, then &gt; 1.5, reaching prediction 14. The straight line gives 15 on the same input because it uses a different rule.</a:t>
            </a:r>
          </a:p>
          <a:p>
            <a:r>
              <a:t/>
            </a:r>
          </a:p>
          <a:p>
            <a:r>
              <a:t>Misconception to address</a:t>
            </a:r>
          </a:p>
          <a:p>
            <a:r>
              <a:t>Thresholds and leaf values depend on the training data. max_depth limits complexity; a fixed random_state helps repetition but does not certify accuracy.</a:t>
            </a:r>
          </a:p>
          <a:p>
            <a:r>
              <a:t/>
            </a:r>
          </a:p>
          <a:p>
            <a:r>
              <a:t>On this slide</a:t>
            </a:r>
          </a:p>
          <a:p>
            <a:r>
              <a:t>A tree learns threshold questions from the training inputs.</a:t>
            </a:r>
          </a:p>
          <a:p>
            <a:r>
              <a:t/>
            </a:r>
          </a:p>
          <a:p>
            <a:r>
              <a:t>Each final group, or leaf, predicts a target value.</a:t>
            </a:r>
          </a:p>
          <a:p>
            <a:r>
              <a:t/>
            </a:r>
          </a:p>
          <a:p>
            <a:r>
              <a:t>This tree returns 14 for input 2.5 in this toy example. max_depth limits the number of successive decisions. random_state fixes the random seed.</a:t>
            </a:r>
          </a:p>
          <a:p>
            <a:r>
              <a:t/>
            </a:r>
          </a:p>
          <a:p>
            <a:r>
              <a:t>Continue to</a:t>
            </a:r>
          </a:p>
          <a:p>
            <a:r>
              <a:t>Trace a regression-tree prediction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Trace a regression-tree prediction</a:t>
            </a:r>
          </a:p>
          <a:p>
            <a:r>
              <a:t>CML3111, Week 8, slide 31</a:t>
            </a:r>
          </a:p>
          <a:p>
            <a:r>
              <a:t/>
            </a:r>
          </a:p>
          <a:p>
            <a:r>
              <a:t>Explanation to give</a:t>
            </a:r>
          </a:p>
          <a:p>
            <a:r>
              <a:t>A regression tree asks learned threshold questions. Each path leads to a terminal group, or leaf, whose prediction is based on training targets in that group.</a:t>
            </a:r>
          </a:p>
          <a:p>
            <a:r>
              <a:t/>
            </a:r>
          </a:p>
          <a:p>
            <a:r>
              <a:t>Worked illustration / lecturer answer</a:t>
            </a:r>
          </a:p>
          <a:p>
            <a:r>
              <a:t>In the displayed toy tree, input 2.5 follows &lt;= 2.5, then &gt; 1.5, reaching prediction 14. The straight line gives 15 on the same input because it uses a different rule.</a:t>
            </a:r>
          </a:p>
          <a:p>
            <a:r>
              <a:t/>
            </a:r>
          </a:p>
          <a:p>
            <a:r>
              <a:t>Misconception to address</a:t>
            </a:r>
          </a:p>
          <a:p>
            <a:r>
              <a:t>Thresholds and leaf values depend on the training data. max_depth limits complexity; a fixed random_state helps repetition but does not certify accuracy.</a:t>
            </a:r>
          </a:p>
          <a:p>
            <a:r>
              <a:t/>
            </a:r>
          </a:p>
          <a:p>
            <a:r>
              <a:t>On this slide</a:t>
            </a:r>
          </a:p>
          <a:p>
            <a:r>
              <a:t>Input or question | Path for input 2.5 | Result</a:t>
            </a:r>
          </a:p>
          <a:p>
            <a:r>
              <a:t>Is input at most 2.5? | Yes: use the lower group | Continue within that group</a:t>
            </a:r>
          </a:p>
          <a:p>
            <a:r>
              <a:t>Is input at most 1.5? | No: use its upper leaf | Training target 14</a:t>
            </a:r>
          </a:p>
          <a:p>
            <a:r>
              <a:t>Leaf prediction | Return the leaf value | 14</a:t>
            </a:r>
          </a:p>
          <a:p>
            <a:r>
              <a:t>This trace describes our fitted four-row teaching tree. A different training set can produce different questions.</a:t>
            </a:r>
          </a:p>
          <a:p>
            <a:r>
              <a:t/>
            </a:r>
          </a:p>
          <a:p>
            <a:r>
              <a:t>Reference / existing resource</a:t>
            </a:r>
          </a:p>
          <a:p>
            <a:r>
              <a:t>https://docs.python.org/3/tutorial/introduction.html</a:t>
            </a:r>
          </a:p>
          <a:p>
            <a:r>
              <a:t>https://docs.python.org/3/tutorial/controlflow.html;</a:t>
            </a:r>
          </a:p>
          <a:p>
            <a:r>
              <a:t/>
            </a:r>
          </a:p>
          <a:p>
            <a:r>
              <a:t>Continue to</a:t>
            </a:r>
          </a:p>
          <a:p>
            <a:r>
              <a:t>A small regression tree in Python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A small regression tree in Python</a:t>
            </a:r>
          </a:p>
          <a:p>
            <a:r>
              <a:t>CML3111, Week 8, slide 32</a:t>
            </a:r>
          </a:p>
          <a:p>
            <a:r>
              <a:t/>
            </a:r>
          </a:p>
          <a:p>
            <a:r>
              <a:t>Explanation to give</a:t>
            </a:r>
          </a:p>
          <a:p>
            <a:r>
              <a:t>A regression tree asks learned threshold questions. Each path leads to a terminal group, or leaf, whose prediction is based on training targets in that group.</a:t>
            </a:r>
          </a:p>
          <a:p>
            <a:r>
              <a:t/>
            </a:r>
          </a:p>
          <a:p>
            <a:r>
              <a:t>Worked illustration / lecturer answer</a:t>
            </a:r>
          </a:p>
          <a:p>
            <a:r>
              <a:t>In the displayed toy tree, input 2.5 follows &lt;= 2.5, then &gt; 1.5, reaching prediction 14. The straight line gives 15 on the same input because it uses a different rule.</a:t>
            </a:r>
          </a:p>
          <a:p>
            <a:r>
              <a:t/>
            </a:r>
          </a:p>
          <a:p>
            <a:r>
              <a:t>Misconception to address</a:t>
            </a:r>
          </a:p>
          <a:p>
            <a:r>
              <a:t>Thresholds and leaf values depend on the training data. max_depth limits complexity; a fixed random_state helps repetition but does not certify accuracy.</a:t>
            </a:r>
          </a:p>
          <a:p>
            <a:r>
              <a:t/>
            </a:r>
          </a:p>
          <a:p>
            <a:r>
              <a:t>Read the displayed code line by line</a:t>
            </a:r>
          </a:p>
          <a:p>
            <a:r>
              <a:t>from sklearn.tree import DecisionTreeRegressor</a:t>
            </a:r>
          </a:p>
          <a:p>
            <a:r>
              <a:t>Bring the named tool from this library into the current Python session.</a:t>
            </a:r>
          </a:p>
          <a:p>
            <a:r>
              <a:t/>
            </a:r>
          </a:p>
          <a:p>
            <a:r>
              <a:t>tree = DecisionTreeRegressor(max_depth=4, random_state=17)</a:t>
            </a:r>
          </a:p>
          <a:p>
            <a:r>
              <a:t>Evaluate the complete right-hand expression first, then assign its result to the name or selected field on the left.</a:t>
            </a:r>
          </a:p>
          <a:p>
            <a:r>
              <a:t/>
            </a:r>
          </a:p>
          <a:p>
            <a:r>
              <a:t>tree.fit(X_train, y_train)</a:t>
            </a:r>
          </a:p>
          <a:p>
            <a:r>
              <a:t>Learn from the supplied training rows and their aligned targets. This changes the fitted object’s state.</a:t>
            </a:r>
          </a:p>
          <a:p>
            <a:r>
              <a:t/>
            </a:r>
          </a:p>
          <a:p>
            <a:r>
              <a:t>print(tree.predict(new_inputs).tolist())</a:t>
            </a:r>
          </a:p>
          <a:p>
            <a:r>
              <a:t>Evaluate the expression inside the parentheses and display it. Displaying is separate from returning a function result.</a:t>
            </a:r>
          </a:p>
          <a:p>
            <a:r>
              <a:t/>
            </a:r>
          </a:p>
          <a:p>
            <a:r>
              <a:t>Result / continuity</a:t>
            </a:r>
          </a:p>
          <a:p>
            <a:r>
              <a:t>Read top to bottom. Run the complete example in the matching practice notebook.</a:t>
            </a:r>
          </a:p>
          <a:p>
            <a:r>
              <a:t/>
            </a:r>
          </a:p>
          <a:p>
            <a:r>
              <a:t>Continue to</a:t>
            </a:r>
          </a:p>
          <a:p>
            <a:r>
              <a:t>Reuse the same preparation on new inputs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Reuse the same preparation on new inputs</a:t>
            </a:r>
          </a:p>
          <a:p>
            <a:r>
              <a:t>CML3111, Week 8, slide 33</a:t>
            </a:r>
          </a:p>
          <a:p>
            <a:r>
              <a:t/>
            </a:r>
          </a:p>
          <a:p>
            <a:r>
              <a:t>Explanation to give</a:t>
            </a:r>
          </a:p>
          <a:p>
            <a:r>
              <a:t>A pipeline keeps preparation and prediction in one ordered procedure. Fit learns preparation values from training data and then fits the model. Prediction reuses those saved values.</a:t>
            </a:r>
          </a:p>
          <a:p>
            <a:r>
              <a:t/>
            </a:r>
          </a:p>
          <a:p>
            <a:r>
              <a:t>Worked illustration / lecturer answer</a:t>
            </a:r>
          </a:p>
          <a:p>
            <a:r>
              <a:t>For training feature values 20, 22, missing and 24, the learned median is 22. A missing value in a new observation also receives 22, without recalculating from the new observations.</a:t>
            </a:r>
          </a:p>
          <a:p>
            <a:r>
              <a:t/>
            </a:r>
          </a:p>
          <a:p>
            <a:r>
              <a:t>Misconception to address</a:t>
            </a:r>
          </a:p>
          <a:p>
            <a:r>
              <a:t>Filling all records before splitting leaks information. A pipeline avoids that only when its fit receives the correct training subset.</a:t>
            </a:r>
          </a:p>
          <a:p>
            <a:r>
              <a:t/>
            </a:r>
          </a:p>
          <a:p>
            <a:r>
              <a:t>On this slide</a:t>
            </a:r>
          </a:p>
          <a:p>
            <a:r>
              <a:t>Imputer: An imputer fills missing feature values using a stated rule. Fit learns the replacement from training observations only. Prediction reuses that stored replacement.</a:t>
            </a:r>
          </a:p>
          <a:p>
            <a:r>
              <a:t>Pipeline: A pipeline connects preprocessing and a model. make_pipeline creates that connection. Its fit learns both stages on training data; predict applies them to new features.</a:t>
            </a:r>
          </a:p>
          <a:p>
            <a:r>
              <a:t/>
            </a:r>
          </a:p>
          <a:p>
            <a:r>
              <a:t>Continue to</a:t>
            </a:r>
          </a:p>
          <a:p>
            <a:r>
              <a:t>Read the pipeline tools before combining them</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Read the pipeline tools before combining them</a:t>
            </a:r>
          </a:p>
          <a:p>
            <a:r>
              <a:t>CML3111, Week 8, slide 34</a:t>
            </a:r>
          </a:p>
          <a:p>
            <a:r>
              <a:t/>
            </a:r>
          </a:p>
          <a:p>
            <a:r>
              <a:t>Explanation to give</a:t>
            </a:r>
          </a:p>
          <a:p>
            <a:r>
              <a:t>A pipeline keeps preparation and prediction in one ordered procedure. Fit learns preparation values from training data and then fits the model. Prediction reuses those saved values.</a:t>
            </a:r>
          </a:p>
          <a:p>
            <a:r>
              <a:t/>
            </a:r>
          </a:p>
          <a:p>
            <a:r>
              <a:t>Worked illustration / lecturer answer</a:t>
            </a:r>
          </a:p>
          <a:p>
            <a:r>
              <a:t>For training feature values 20, 22, missing and 24, the learned median is 22. A missing value in a new observation also receives 22, without recalculating from the new observations.</a:t>
            </a:r>
          </a:p>
          <a:p>
            <a:r>
              <a:t/>
            </a:r>
          </a:p>
          <a:p>
            <a:r>
              <a:t>Misconception to address</a:t>
            </a:r>
          </a:p>
          <a:p>
            <a:r>
              <a:t>Filling all records before splitting leaks information. A pipeline avoids that only when its fit receives the correct training subset.</a:t>
            </a:r>
          </a:p>
          <a:p>
            <a:r>
              <a:t/>
            </a:r>
          </a:p>
          <a:p>
            <a:r>
              <a:t>On this slide</a:t>
            </a:r>
          </a:p>
          <a:p>
            <a:r>
              <a:t>np.nan is NumPy’s missing-number marker. SimpleImputer(strategy="median") creates a tool that will learn each column’s median from training data.</a:t>
            </a:r>
          </a:p>
          <a:p>
            <a:r>
              <a:t/>
            </a:r>
          </a:p>
          <a:p>
            <a:r>
              <a:t>make_pipeline(imputer, model) joins preparation to prediction in that order. pipeline.fit first learns and applies the imputer, then fits the model.</a:t>
            </a:r>
          </a:p>
          <a:p>
            <a:r>
              <a:t/>
            </a:r>
          </a:p>
          <a:p>
            <a:r>
              <a:t>pipeline.predict applies the already learned imputer to new inputs before predicting. It does not recalculate medians from the new inputs.</a:t>
            </a:r>
          </a:p>
          <a:p>
            <a:r>
              <a:t/>
            </a:r>
          </a:p>
          <a:p>
            <a:r>
              <a:t>Reference / existing resource</a:t>
            </a:r>
          </a:p>
          <a:p>
            <a:r>
              <a:t>https://docs.python.org/3/tutorial/introduction.html</a:t>
            </a:r>
          </a:p>
          <a:p>
            <a:r>
              <a:t>https://docs.python.org/3/tutorial/controlflow.html;</a:t>
            </a:r>
          </a:p>
          <a:p>
            <a:r>
              <a:t/>
            </a:r>
          </a:p>
          <a:p>
            <a:r>
              <a:t>Continue to</a:t>
            </a:r>
          </a:p>
          <a:p>
            <a:r>
              <a:t>Preprocessing learned from training only</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Preprocessing learned from training only</a:t>
            </a:r>
          </a:p>
          <a:p>
            <a:r>
              <a:t>CML3111, Week 8, slide 35</a:t>
            </a:r>
          </a:p>
          <a:p>
            <a:r>
              <a:t/>
            </a:r>
          </a:p>
          <a:p>
            <a:r>
              <a:t>Explanation to give</a:t>
            </a:r>
          </a:p>
          <a:p>
            <a:r>
              <a:t>A pipeline keeps preparation and prediction in one ordered procedure. Fit learns preparation values from training data and then fits the model. Prediction reuses those saved values.</a:t>
            </a:r>
          </a:p>
          <a:p>
            <a:r>
              <a:t/>
            </a:r>
          </a:p>
          <a:p>
            <a:r>
              <a:t>Worked illustration / lecturer answer</a:t>
            </a:r>
          </a:p>
          <a:p>
            <a:r>
              <a:t>For training feature values 20, 22, missing and 24, the learned median is 22. A missing value in a new observation also receives 22, without recalculating from the new observations.</a:t>
            </a:r>
          </a:p>
          <a:p>
            <a:r>
              <a:t/>
            </a:r>
          </a:p>
          <a:p>
            <a:r>
              <a:t>Misconception to address</a:t>
            </a:r>
          </a:p>
          <a:p>
            <a:r>
              <a:t>Filling all records before splitting leaks information. A pipeline avoids that only when its fit receives the correct training subset.</a:t>
            </a:r>
          </a:p>
          <a:p>
            <a:r>
              <a:t/>
            </a:r>
          </a:p>
          <a:p>
            <a:r>
              <a:t>On this slide</a:t>
            </a:r>
          </a:p>
          <a:p>
            <a:r>
              <a:t>SimpleImputer learns one median for each training column. make_pipeline connects this step to the model. fit learns both steps using only the training examples. predict reuses them on new inputs.</a:t>
            </a:r>
          </a:p>
          <a:p>
            <a:r>
              <a:t/>
            </a:r>
          </a:p>
          <a:p>
            <a:r>
              <a:t>No target is supplied to predict.</a:t>
            </a:r>
          </a:p>
          <a:p>
            <a:r>
              <a:t/>
            </a:r>
          </a:p>
          <a:p>
            <a:r>
              <a:t>The two inputs here are invented practice measurements.</a:t>
            </a:r>
          </a:p>
          <a:p>
            <a:r>
              <a:t/>
            </a:r>
          </a:p>
          <a:p>
            <a:r>
              <a:t>Continue to</a:t>
            </a:r>
          </a:p>
          <a:p>
            <a:r>
              <a:t>Trace the training-only fill step</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Trace the training-only fill step</a:t>
            </a:r>
          </a:p>
          <a:p>
            <a:r>
              <a:t>CML3111, Week 8, slide 36</a:t>
            </a:r>
          </a:p>
          <a:p>
            <a:r>
              <a:t/>
            </a:r>
          </a:p>
          <a:p>
            <a:r>
              <a:t>Explanation to give</a:t>
            </a:r>
          </a:p>
          <a:p>
            <a:r>
              <a:t>A pipeline keeps preparation and prediction in one ordered procedure. Fit learns preparation values from training data and then fits the model. Prediction reuses those saved values.</a:t>
            </a:r>
          </a:p>
          <a:p>
            <a:r>
              <a:t/>
            </a:r>
          </a:p>
          <a:p>
            <a:r>
              <a:t>Worked illustration / lecturer answer</a:t>
            </a:r>
          </a:p>
          <a:p>
            <a:r>
              <a:t>For training feature values 20, 22, missing and 24, the learned median is 22. A missing value in a new observation also receives 22, without recalculating from the new observations.</a:t>
            </a:r>
          </a:p>
          <a:p>
            <a:r>
              <a:t/>
            </a:r>
          </a:p>
          <a:p>
            <a:r>
              <a:t>Misconception to address</a:t>
            </a:r>
          </a:p>
          <a:p>
            <a:r>
              <a:t>Filling all records before splitting leaks information. A pipeline avoids that only when its fit receives the correct training subset.</a:t>
            </a:r>
          </a:p>
          <a:p>
            <a:r>
              <a:t/>
            </a:r>
          </a:p>
          <a:p>
            <a:r>
              <a:t>On this slide</a:t>
            </a:r>
          </a:p>
          <a:p>
            <a:r>
              <a:t>Stage | Second feature values | Action</a:t>
            </a:r>
          </a:p>
          <a:p>
            <a:r>
              <a:t>Training input | 20, 22, missing, 24 | Learn median 22</a:t>
            </a:r>
          </a:p>
          <a:p>
            <a:r>
              <a:t>Training after filling | 20, 22, 22, 24 | Fit the model</a:t>
            </a:r>
          </a:p>
          <a:p>
            <a:r>
              <a:t>New input | Missing second value | Fill with saved 22</a:t>
            </a:r>
          </a:p>
          <a:p>
            <a:r>
              <a:t>No new median is learned during prediction. The model receives the prepared numeric row.</a:t>
            </a:r>
          </a:p>
          <a:p>
            <a:r>
              <a:t/>
            </a:r>
          </a:p>
          <a:p>
            <a:r>
              <a:t>Reference / existing resource</a:t>
            </a:r>
          </a:p>
          <a:p>
            <a:r>
              <a:t>https://docs.python.org/3/tutorial/introduction.html</a:t>
            </a:r>
          </a:p>
          <a:p>
            <a:r>
              <a:t>https://docs.python.org/3/tutorial/controlflow.html;</a:t>
            </a:r>
          </a:p>
          <a:p>
            <a:r>
              <a:t/>
            </a:r>
          </a:p>
          <a:p>
            <a:r>
              <a:t>Continue to</a:t>
            </a:r>
          </a:p>
          <a:p>
            <a:r>
              <a:t>Preprocessing learned from training only in Python (1/2)</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Preprocessing learned from training only in Python (1/2)</a:t>
            </a:r>
          </a:p>
          <a:p>
            <a:r>
              <a:t>CML3111, Week 8, slide 37</a:t>
            </a:r>
          </a:p>
          <a:p>
            <a:r>
              <a:t/>
            </a:r>
          </a:p>
          <a:p>
            <a:r>
              <a:t>Explanation to give</a:t>
            </a:r>
          </a:p>
          <a:p>
            <a:r>
              <a:t>A pipeline keeps preparation and prediction in one ordered procedure. Fit learns preparation values from training data and then fits the model. Prediction reuses those saved values.</a:t>
            </a:r>
          </a:p>
          <a:p>
            <a:r>
              <a:t/>
            </a:r>
          </a:p>
          <a:p>
            <a:r>
              <a:t>Worked illustration / lecturer answer</a:t>
            </a:r>
          </a:p>
          <a:p>
            <a:r>
              <a:t>For training feature values 20, 22, missing and 24, the learned median is 22. A missing value in a new observation also receives 22, without recalculating from the new observations.</a:t>
            </a:r>
          </a:p>
          <a:p>
            <a:r>
              <a:t/>
            </a:r>
          </a:p>
          <a:p>
            <a:r>
              <a:t>Misconception to address</a:t>
            </a:r>
          </a:p>
          <a:p>
            <a:r>
              <a:t>Filling all records before splitting leaks information. A pipeline avoids that only when its fit receives the correct training subset.</a:t>
            </a:r>
          </a:p>
          <a:p>
            <a:r>
              <a:t/>
            </a:r>
          </a:p>
          <a:p>
            <a:r>
              <a:t>Read the displayed code line by line</a:t>
            </a:r>
          </a:p>
          <a:p>
            <a:r>
              <a:t>from sklearn.impute import SimpleImputer</a:t>
            </a:r>
          </a:p>
          <a:p>
            <a:r>
              <a:t>Bring the named tool from this library into the current Python session.</a:t>
            </a:r>
          </a:p>
          <a:p>
            <a:r>
              <a:t/>
            </a:r>
          </a:p>
          <a:p>
            <a:r>
              <a:t>from sklearn.pipeline import make_pipeline</a:t>
            </a:r>
          </a:p>
          <a:p>
            <a:r>
              <a:t>Bring the named tool from this library into the current Python session.</a:t>
            </a:r>
          </a:p>
          <a:p>
            <a:r>
              <a:t/>
            </a:r>
          </a:p>
          <a:p>
            <a:r>
              <a:t>import numpy as np</a:t>
            </a:r>
          </a:p>
          <a:p>
            <a:r>
              <a:t>Load this library. An alias after as is the shorter name used below.</a:t>
            </a:r>
          </a:p>
          <a:p>
            <a:r>
              <a:t/>
            </a:r>
          </a:p>
          <a:p>
            <a:r>
              <a:t>train_inputs = [[1, 20], [2, 22], [3, np.nan], [4, 24]]</a:t>
            </a:r>
          </a:p>
          <a:p>
            <a:r>
              <a:t>Evaluate the complete right-hand expression first, then assign its result to the name or selected field on the left.</a:t>
            </a:r>
          </a:p>
          <a:p>
            <a:r>
              <a:t/>
            </a:r>
          </a:p>
          <a:p>
            <a:r>
              <a:t>train_targets = [12, 14, 16, 18]</a:t>
            </a:r>
          </a:p>
          <a:p>
            <a:r>
              <a:t>Evaluate the complete right-hand expression first, then assign its result to the name or selected field on the left.</a:t>
            </a:r>
          </a:p>
          <a:p>
            <a:r>
              <a:t/>
            </a:r>
          </a:p>
          <a:p>
            <a:r>
              <a:t>imputer = SimpleImputer(strategy="median")</a:t>
            </a:r>
          </a:p>
          <a:p>
            <a:r>
              <a:t>Evaluate the complete right-hand expression first, then assign its result to the name or selected field on the left.</a:t>
            </a:r>
          </a:p>
          <a:p>
            <a:r>
              <a:t/>
            </a:r>
          </a:p>
          <a:p>
            <a:r>
              <a:t>model = LinearRegression()</a:t>
            </a:r>
          </a:p>
          <a:p>
            <a:r>
              <a:t>Evaluate the complete right-hand expression first, then assign its result to the name or selected field on the left.</a:t>
            </a:r>
          </a:p>
          <a:p>
            <a:r>
              <a:t/>
            </a:r>
          </a:p>
          <a:p>
            <a:r>
              <a:t>pipeline = make_pipeline(imputer, model)</a:t>
            </a:r>
          </a:p>
          <a:p>
            <a:r>
              <a:t>Evaluate the complete right-hand expression first, then assign its result to the name or selected field on the left.</a:t>
            </a:r>
          </a:p>
          <a:p>
            <a:r>
              <a:t/>
            </a:r>
          </a:p>
          <a:p>
            <a:r>
              <a:t>pipeline.fit(train_inputs, train_targets)</a:t>
            </a:r>
          </a:p>
          <a:p>
            <a:r>
              <a:t>Learn from the supplied training rows and their aligned targets. This changes the fitted object’s state.</a:t>
            </a:r>
          </a:p>
          <a:p>
            <a:r>
              <a:t/>
            </a:r>
          </a:p>
          <a:p>
            <a:r>
              <a:t>Result / continuity</a:t>
            </a:r>
          </a:p>
          <a:p>
            <a:r>
              <a:t>Read top to bottom. Run the complete example in the matching practice notebook.</a:t>
            </a:r>
          </a:p>
          <a:p>
            <a:r>
              <a:t/>
            </a:r>
          </a:p>
          <a:p>
            <a:r>
              <a:t>Continue to</a:t>
            </a:r>
          </a:p>
          <a:p>
            <a:r>
              <a:t>Preprocessing learned from training only in Python (2/2)</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Preprocessing learned from training only in Python (2/2)</a:t>
            </a:r>
          </a:p>
          <a:p>
            <a:r>
              <a:t>CML3111, Week 8, slide 38</a:t>
            </a:r>
          </a:p>
          <a:p>
            <a:r>
              <a:t/>
            </a:r>
          </a:p>
          <a:p>
            <a:r>
              <a:t>Explanation to give</a:t>
            </a:r>
          </a:p>
          <a:p>
            <a:r>
              <a:t>A pipeline keeps preparation and prediction in one ordered procedure. Fit learns preparation values from training data and then fits the model. Prediction reuses those saved values.</a:t>
            </a:r>
          </a:p>
          <a:p>
            <a:r>
              <a:t/>
            </a:r>
          </a:p>
          <a:p>
            <a:r>
              <a:t>Worked illustration / lecturer answer</a:t>
            </a:r>
          </a:p>
          <a:p>
            <a:r>
              <a:t>For training feature values 20, 22, missing and 24, the learned median is 22. A missing value in a new observation also receives 22, without recalculating from the new observations.</a:t>
            </a:r>
          </a:p>
          <a:p>
            <a:r>
              <a:t/>
            </a:r>
          </a:p>
          <a:p>
            <a:r>
              <a:t>Misconception to address</a:t>
            </a:r>
          </a:p>
          <a:p>
            <a:r>
              <a:t>Filling all records before splitting leaks information. A pipeline avoids that only when its fit receives the correct training subset.</a:t>
            </a:r>
          </a:p>
          <a:p>
            <a:r>
              <a:t/>
            </a:r>
          </a:p>
          <a:p>
            <a:r>
              <a:t>Read the displayed code line by line</a:t>
            </a:r>
          </a:p>
          <a:p>
            <a:r>
              <a:t>predictions = pipeline.predict([[2.5, np.nan]])</a:t>
            </a:r>
          </a:p>
          <a:p>
            <a:r>
              <a:t>Apply the already fitted rule to these input rows without passing their true targets.</a:t>
            </a:r>
          </a:p>
          <a:p>
            <a:r>
              <a:t/>
            </a:r>
          </a:p>
          <a:p>
            <a:r>
              <a:t>print(predictions.round(2).tolist())</a:t>
            </a:r>
          </a:p>
          <a:p>
            <a:r>
              <a:t>Evaluate the expression inside the parentheses and display it. Displaying is separate from returning a function result.</a:t>
            </a:r>
          </a:p>
          <a:p>
            <a:r>
              <a:t/>
            </a:r>
          </a:p>
          <a:p>
            <a:r>
              <a:t>Result / continuity</a:t>
            </a:r>
          </a:p>
          <a:p>
            <a:r>
              <a:t>Continue the SAME cell; keep indentation. Run after all parts are entered.</a:t>
            </a:r>
          </a:p>
          <a:p>
            <a:r>
              <a:t/>
            </a:r>
          </a:p>
          <a:p>
            <a:r>
              <a:t>Continue to</a:t>
            </a:r>
          </a:p>
          <a:p>
            <a:r>
              <a:t>Reading records into a feature table</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Reading records into a feature table</a:t>
            </a:r>
          </a:p>
          <a:p>
            <a:r>
              <a:t>CML3111, Week 8, slide 39</a:t>
            </a:r>
          </a:p>
          <a:p>
            <a:r>
              <a:t/>
            </a:r>
          </a:p>
          <a:p>
            <a:r>
              <a:t>Explanation to give</a:t>
            </a:r>
          </a:p>
          <a:p>
            <a:r>
              <a:t>Explain an input matrix as a table of numbers with one observation per row and one feature per column. The target vector has one answer per observation in the same order.</a:t>
            </a:r>
          </a:p>
          <a:p>
            <a:r>
              <a:t/>
            </a:r>
          </a:p>
          <a:p>
            <a:r>
              <a:t>Worked illustration / lecturer answer</a:t>
            </a:r>
          </a:p>
          <a:p>
            <a:r>
              <a:t>[[1], [2], [3]] has shape (3, 1). [12, 14, 16] has shape (3,). For one new observation with two features, use [[2.5, 22]], not [2.5, 22].</a:t>
            </a:r>
          </a:p>
          <a:p>
            <a:r>
              <a:t/>
            </a:r>
          </a:p>
          <a:p>
            <a:r>
              <a:t>Misconception to address</a:t>
            </a:r>
          </a:p>
          <a:p>
            <a:r>
              <a:t>Swapping feature columns changes their meaning even if dimensions still match. The model expects the same order and units at prediction time.</a:t>
            </a:r>
          </a:p>
          <a:p>
            <a:r>
              <a:t/>
            </a:r>
          </a:p>
          <a:p>
            <a:r>
              <a:t>On this slide</a:t>
            </a:r>
          </a:p>
          <a:p>
            <a:r>
              <a:t>Each inner list is one row, in the same order as the input records.</a:t>
            </a:r>
          </a:p>
          <a:p>
            <a:r>
              <a:t/>
            </a:r>
          </a:p>
          <a:p>
            <a:r>
              <a:t>The target list uses that same row order.</a:t>
            </a:r>
          </a:p>
          <a:p>
            <a:r>
              <a:t/>
            </a:r>
          </a:p>
          <a:p>
            <a:r>
              <a:t>The feature table has no answer column.</a:t>
            </a:r>
          </a:p>
          <a:p>
            <a:r>
              <a:t/>
            </a:r>
          </a:p>
          <a:p>
            <a:r>
              <a:t>Continue to</a:t>
            </a:r>
          </a:p>
          <a:p>
            <a:r>
              <a:t>Reading records into a feature table in Python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Reading records into a feature table in Python</a:t>
            </a:r>
          </a:p>
          <a:p>
            <a:r>
              <a:t>CML3111, Week 8, slide 40</a:t>
            </a:r>
          </a:p>
          <a:p>
            <a:r>
              <a:t/>
            </a:r>
          </a:p>
          <a:p>
            <a:r>
              <a:t>Explanation to give</a:t>
            </a:r>
          </a:p>
          <a:p>
            <a:r>
              <a:t>Explain an input matrix as a table of numbers with one observation per row and one feature per column. The target vector has one answer per observation in the same order.</a:t>
            </a:r>
          </a:p>
          <a:p>
            <a:r>
              <a:t/>
            </a:r>
          </a:p>
          <a:p>
            <a:r>
              <a:t>Worked illustration / lecturer answer</a:t>
            </a:r>
          </a:p>
          <a:p>
            <a:r>
              <a:t>[[1], [2], [3]] has shape (3, 1). [12, 14, 16] has shape (3,). For one new observation with two features, use [[2.5, 22]], not [2.5, 22].</a:t>
            </a:r>
          </a:p>
          <a:p>
            <a:r>
              <a:t/>
            </a:r>
          </a:p>
          <a:p>
            <a:r>
              <a:t>Misconception to address</a:t>
            </a:r>
          </a:p>
          <a:p>
            <a:r>
              <a:t>Swapping feature columns changes their meaning even if dimensions still match. The model expects the same order and units at prediction time.</a:t>
            </a:r>
          </a:p>
          <a:p>
            <a:r>
              <a:t/>
            </a:r>
          </a:p>
          <a:p>
            <a:r>
              <a:t>Read the displayed code line by line</a:t>
            </a:r>
          </a:p>
          <a:p>
            <a:r>
              <a:t>rows = [{"length": 2, "width": 3, "area": 6},</a:t>
            </a:r>
          </a:p>
          <a:p>
            <a:r>
              <a:t>Evaluate the complete right-hand expression first, then assign its result to the name or selected field on the left.</a:t>
            </a:r>
          </a:p>
          <a:p>
            <a:r>
              <a:t/>
            </a:r>
          </a:p>
          <a:p>
            <a:r>
              <a:t>{"length": 4, "width": 5, "area": 20}]</a:t>
            </a:r>
          </a:p>
          <a:p>
            <a:r>
              <a:t>This line continues the surrounding expression or block; read it together with the preceding line rather than running it alone.</a:t>
            </a:r>
          </a:p>
          <a:p>
            <a:r>
              <a:t/>
            </a:r>
          </a:p>
          <a:p>
            <a:r>
              <a:t>X = []</a:t>
            </a:r>
          </a:p>
          <a:p>
            <a:r>
              <a:t>Evaluate the complete right-hand expression first, then assign its result to the name or selected field on the left.</a:t>
            </a:r>
          </a:p>
          <a:p>
            <a:r>
              <a:t/>
            </a:r>
          </a:p>
          <a:p>
            <a:r>
              <a:t>y = []</a:t>
            </a:r>
          </a:p>
          <a:p>
            <a:r>
              <a:t>Evaluate the complete right-hand expression first, then assign its result to the name or selected field on the left.</a:t>
            </a:r>
          </a:p>
          <a:p>
            <a:r>
              <a:t/>
            </a:r>
          </a:p>
          <a:p>
            <a:r>
              <a:t>for row in rows:</a:t>
            </a:r>
          </a:p>
          <a:p>
            <a:r>
              <a:t>Take each item or pair in turn, assign the loop name(s), and repeat the indented body.</a:t>
            </a:r>
          </a:p>
          <a:p>
            <a:r>
              <a:t/>
            </a:r>
          </a:p>
          <a:p>
            <a:r>
              <a:t>X.append([row["length"], row["width"]])</a:t>
            </a:r>
          </a:p>
          <a:p>
            <a:r>
              <a:t>Evaluate the argument and add it as one new item at the end of this list.</a:t>
            </a:r>
          </a:p>
          <a:p>
            <a:r>
              <a:t/>
            </a:r>
          </a:p>
          <a:p>
            <a:r>
              <a:t>y.append(row["area"])</a:t>
            </a:r>
          </a:p>
          <a:p>
            <a:r>
              <a:t>Evaluate the argument and add it as one new item at the end of this list.</a:t>
            </a:r>
          </a:p>
          <a:p>
            <a:r>
              <a:t/>
            </a:r>
          </a:p>
          <a:p>
            <a:r>
              <a:t>print(X)</a:t>
            </a:r>
          </a:p>
          <a:p>
            <a:r>
              <a:t>Evaluate the expression inside the parentheses and display it. Displaying is separate from returning a function result.</a:t>
            </a:r>
          </a:p>
          <a:p>
            <a:r>
              <a:t/>
            </a:r>
          </a:p>
          <a:p>
            <a:r>
              <a:t>print(y)</a:t>
            </a:r>
          </a:p>
          <a:p>
            <a:r>
              <a:t>Evaluate the expression inside the parentheses and display it. Displaying is separate from returning a function result.</a:t>
            </a:r>
          </a:p>
          <a:p>
            <a:r>
              <a:t/>
            </a:r>
          </a:p>
          <a:p>
            <a:r>
              <a:t>Result / continuity</a:t>
            </a:r>
          </a:p>
          <a:p>
            <a:r>
              <a:t>Read top to bottom. Run the complete example in the matching practice notebook.</a:t>
            </a:r>
          </a:p>
          <a:p>
            <a:r>
              <a:t/>
            </a:r>
          </a:p>
          <a:p>
            <a:r>
              <a:t>Continue to</a:t>
            </a:r>
          </a:p>
          <a:p>
            <a:r>
              <a:t>MAE and RMSE</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MAE and RMSE</a:t>
            </a:r>
          </a:p>
          <a:p>
            <a:r>
              <a:t>CML3111, Week 8, slide 41</a:t>
            </a:r>
          </a:p>
          <a:p>
            <a:r>
              <a:t/>
            </a:r>
          </a:p>
          <a:p>
            <a:r>
              <a:t>Explanation to give</a:t>
            </a:r>
          </a:p>
          <a:p>
            <a:r>
              <a:t>Match each prediction with the actual value for the same observation. MAE averages error magnitudes. RMSE averages squared errors and then takes the square root, restoring the target unit.</a:t>
            </a:r>
          </a:p>
          <a:p>
            <a:r>
              <a:t/>
            </a:r>
          </a:p>
          <a:p>
            <a:r>
              <a:t>Worked illustration / lecturer answer</a:t>
            </a:r>
          </a:p>
          <a:p>
            <a:r>
              <a:t>Actual [10,20] and predicted [12,16] have differences -2 and 4. MAE is (2+4)/2 = 3. RMSE is sqrt((4+16)/2) = sqrt(10), about 3.1623.</a:t>
            </a:r>
          </a:p>
          <a:p>
            <a:r>
              <a:t/>
            </a:r>
          </a:p>
          <a:p>
            <a:r>
              <a:t>Misconception to address</a:t>
            </a:r>
          </a:p>
          <a:p>
            <a:r>
              <a:t>Signed errors can cancel if simply averaged. MAE is not a plus/minus guarantee for every case, and RMSE is not in squared units after the square root.</a:t>
            </a:r>
          </a:p>
          <a:p>
            <a:r>
              <a:t/>
            </a:r>
          </a:p>
          <a:p>
            <a:r>
              <a:t>On this slide</a:t>
            </a:r>
          </a:p>
          <a:p>
            <a:r>
              <a:t>MAE and RMSE: MAE averages absolute prediction errors. RMSE squares errors, averages them and takes the square root. Both use target units. RMSE is more sensitive to large errors.</a:t>
            </a:r>
          </a:p>
          <a:p>
            <a:r>
              <a:t/>
            </a:r>
          </a:p>
          <a:p>
            <a:r>
              <a:t>Continue to</a:t>
            </a:r>
          </a:p>
          <a:p>
            <a:r>
              <a:t>A prediction error in ordinary numbers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A prediction error in ordinary numbers</a:t>
            </a:r>
          </a:p>
          <a:p>
            <a:r>
              <a:t>CML3111, Week 8, slide 42</a:t>
            </a:r>
          </a:p>
          <a:p>
            <a:r>
              <a:t/>
            </a:r>
          </a:p>
          <a:p>
            <a:r>
              <a:t>Explanation to give</a:t>
            </a:r>
          </a:p>
          <a:p>
            <a:r>
              <a:t>Match each prediction with the actual value for the same observation. MAE averages error magnitudes. RMSE averages squared errors and then takes the square root, restoring the target unit.</a:t>
            </a:r>
          </a:p>
          <a:p>
            <a:r>
              <a:t/>
            </a:r>
          </a:p>
          <a:p>
            <a:r>
              <a:t>Worked illustration / lecturer answer</a:t>
            </a:r>
          </a:p>
          <a:p>
            <a:r>
              <a:t>Actual [10,20] and predicted [12,16] have differences -2 and 4. MAE is (2+4)/2 = 3. RMSE is sqrt((4+16)/2) = sqrt(10), about 3.1623.</a:t>
            </a:r>
          </a:p>
          <a:p>
            <a:r>
              <a:t/>
            </a:r>
          </a:p>
          <a:p>
            <a:r>
              <a:t>Misconception to address</a:t>
            </a:r>
          </a:p>
          <a:p>
            <a:r>
              <a:t>Signed errors can cancel if simply averaged. MAE is not a plus/minus guarantee for every case, and RMSE is not in squared units after the square root.</a:t>
            </a:r>
          </a:p>
          <a:p>
            <a:r>
              <a:t/>
            </a:r>
          </a:p>
          <a:p>
            <a:r>
              <a:t>On this slide</a:t>
            </a:r>
          </a:p>
          <a:p>
            <a:r>
              <a:t>Actual | Prediction | Absolute error</a:t>
            </a:r>
          </a:p>
          <a:p>
            <a:r>
              <a:t>10 | 8 | 2</a:t>
            </a:r>
          </a:p>
          <a:p>
            <a:r>
              <a:t>20 | 24 | 4</a:t>
            </a:r>
          </a:p>
          <a:p>
            <a:r>
              <a:t>MAE = (2 + 4) / 2 = 3, in the target’s unit. Compare a model against a training-only baseline.</a:t>
            </a:r>
          </a:p>
          <a:p>
            <a:r>
              <a:t/>
            </a:r>
          </a:p>
          <a:p>
            <a:r>
              <a:t>Continue to</a:t>
            </a:r>
          </a:p>
          <a:p>
            <a:r>
              <a:t>The operations in the error calculation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The operations in the error calculation</a:t>
            </a:r>
          </a:p>
          <a:p>
            <a:r>
              <a:t>CML3111, Week 8, slide 43</a:t>
            </a:r>
          </a:p>
          <a:p>
            <a:r>
              <a:t/>
            </a:r>
          </a:p>
          <a:p>
            <a:r>
              <a:t>Explanation to give</a:t>
            </a:r>
          </a:p>
          <a:p>
            <a:r>
              <a:t>Match each prediction with the actual value for the same observation. MAE averages error magnitudes. RMSE averages squared errors and then takes the square root, restoring the target unit.</a:t>
            </a:r>
          </a:p>
          <a:p>
            <a:r>
              <a:t/>
            </a:r>
          </a:p>
          <a:p>
            <a:r>
              <a:t>Worked illustration / lecturer answer</a:t>
            </a:r>
          </a:p>
          <a:p>
            <a:r>
              <a:t>Actual [10,20] and predicted [12,16] have differences -2 and 4. MAE is (2+4)/2 = 3. RMSE is sqrt((4+16)/2) = sqrt(10), about 3.1623.</a:t>
            </a:r>
          </a:p>
          <a:p>
            <a:r>
              <a:t/>
            </a:r>
          </a:p>
          <a:p>
            <a:r>
              <a:t>Misconception to address</a:t>
            </a:r>
          </a:p>
          <a:p>
            <a:r>
              <a:t>Signed errors can cancel if simply averaged. MAE is not a plus/minus guarantee for every case, and RMSE is not in squared units after the square root.</a:t>
            </a:r>
          </a:p>
          <a:p>
            <a:r>
              <a:t/>
            </a:r>
          </a:p>
          <a:p>
            <a:r>
              <a:t>On this slide</a:t>
            </a:r>
          </a:p>
          <a:p>
            <a:r>
              <a:t>zip and paired names: zip(actual, predicted) pairs values at matching positions. for truth, guess in ... assigns each pair to two names. Here both lists must have the same nonzero length.</a:t>
            </a:r>
          </a:p>
          <a:p>
            <a:r>
              <a:t>Square and square root: difference ** 2 squares an error. sqrt reverses a square for nonnegative numbers: sqrt(9) is 3. from math import sqrt makes this tool available.</a:t>
            </a:r>
          </a:p>
          <a:p>
            <a:r>
              <a:t/>
            </a:r>
          </a:p>
          <a:p>
            <a:r>
              <a:t>Continue to</a:t>
            </a:r>
          </a:p>
          <a:p>
            <a:r>
              <a:t>Pair two lists using zip</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Pair two lists using zip</a:t>
            </a:r>
          </a:p>
          <a:p>
            <a:r>
              <a:t>CML3111, Week 8, slide 44</a:t>
            </a:r>
          </a:p>
          <a:p>
            <a:r>
              <a:t/>
            </a:r>
          </a:p>
          <a:p>
            <a:r>
              <a:t>Explanation to give</a:t>
            </a:r>
          </a:p>
          <a:p>
            <a:r>
              <a:t>zip pairs items at matching positions. Explain each pair as one observation's truth and prediction, then unpack it into two names.</a:t>
            </a:r>
          </a:p>
          <a:p>
            <a:r>
              <a:t/>
            </a:r>
          </a:p>
          <a:p>
            <a:r>
              <a:t>Worked illustration / lecturer answer</a:t>
            </a:r>
          </a:p>
          <a:p>
            <a:r>
              <a:t>Actual [10,20] with predicted [12,16] produces (10,12), then (20,16). Reversing one list would compare the wrong observations without necessarily causing a Python error.</a:t>
            </a:r>
          </a:p>
          <a:p>
            <a:r>
              <a:t/>
            </a:r>
          </a:p>
          <a:p>
            <a:r>
              <a:t>Misconception to address</a:t>
            </a:r>
          </a:p>
          <a:p>
            <a:r>
              <a:t>zip stops at the shorter input. For error metrics, validate matching nonzero lengths so observations are not silently ignored.</a:t>
            </a:r>
          </a:p>
          <a:p>
            <a:r>
              <a:t/>
            </a:r>
          </a:p>
          <a:p>
            <a:r>
              <a:t>On this slide</a:t>
            </a:r>
          </a:p>
          <a:p>
            <a:r>
              <a:t>zip(actual, predicted) visits matching positions together. for truth, guess in zip(...): unpacks each pair into two names.</a:t>
            </a:r>
          </a:p>
          <a:p>
            <a:r>
              <a:t/>
            </a:r>
          </a:p>
          <a:p>
            <a:r>
              <a:t>For actual [10, 20] and predicted [12, 16], the pairs are (10, 12) and (20, 16). They describe the same observations in the same order.</a:t>
            </a:r>
          </a:p>
          <a:p>
            <a:r>
              <a:t/>
            </a:r>
          </a:p>
          <a:p>
            <a:r>
              <a:t>zip stops at the shorter input. Check equal, nonzero lengths for these error calculations; otherwise a result could ignore observations.</a:t>
            </a:r>
          </a:p>
          <a:p>
            <a:r>
              <a:t/>
            </a:r>
          </a:p>
          <a:p>
            <a:r>
              <a:t>Reference / existing resource</a:t>
            </a:r>
          </a:p>
          <a:p>
            <a:r>
              <a:t>https://docs.python.org/3/tutorial/introduction.html</a:t>
            </a:r>
          </a:p>
          <a:p>
            <a:r>
              <a:t>https://docs.python.org/3/tutorial/controlflow.html;</a:t>
            </a:r>
          </a:p>
          <a:p>
            <a:r>
              <a:t/>
            </a:r>
          </a:p>
          <a:p>
            <a:r>
              <a:t>Continue to</a:t>
            </a:r>
          </a:p>
          <a:p>
            <a:r>
              <a:t>Inspect the pairs before measuring errors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Inspect the pairs before measuring errors</a:t>
            </a:r>
          </a:p>
          <a:p>
            <a:r>
              <a:t>CML3111, Week 8, slide 45</a:t>
            </a:r>
          </a:p>
          <a:p>
            <a:r>
              <a:t/>
            </a:r>
          </a:p>
          <a:p>
            <a:r>
              <a:t>Explanation to give</a:t>
            </a:r>
          </a:p>
          <a:p>
            <a:r>
              <a:t>zip pairs items at matching positions. Explain each pair as one observation's truth and prediction, then unpack it into two names.</a:t>
            </a:r>
          </a:p>
          <a:p>
            <a:r>
              <a:t/>
            </a:r>
          </a:p>
          <a:p>
            <a:r>
              <a:t>Worked illustration / lecturer answer</a:t>
            </a:r>
          </a:p>
          <a:p>
            <a:r>
              <a:t>Actual [10,20] with predicted [12,16] produces (10,12), then (20,16). Reversing one list would compare the wrong observations without necessarily causing a Python error.</a:t>
            </a:r>
          </a:p>
          <a:p>
            <a:r>
              <a:t/>
            </a:r>
          </a:p>
          <a:p>
            <a:r>
              <a:t>Misconception to address</a:t>
            </a:r>
          </a:p>
          <a:p>
            <a:r>
              <a:t>zip stops at the shorter input. For error metrics, validate matching nonzero lengths so observations are not silently ignored.</a:t>
            </a:r>
          </a:p>
          <a:p>
            <a:r>
              <a:t/>
            </a:r>
          </a:p>
          <a:p>
            <a:r>
              <a:t>Read the displayed code line by line</a:t>
            </a:r>
          </a:p>
          <a:p>
            <a:r>
              <a:t>actual = [10, 20]</a:t>
            </a:r>
          </a:p>
          <a:p>
            <a:r>
              <a:t>Evaluate the complete right-hand expression first, then assign its result to the name or selected field on the left.</a:t>
            </a:r>
          </a:p>
          <a:p>
            <a:r>
              <a:t/>
            </a:r>
          </a:p>
          <a:p>
            <a:r>
              <a:t>predicted = [12, 16]</a:t>
            </a:r>
          </a:p>
          <a:p>
            <a:r>
              <a:t>Evaluate the complete right-hand expression first, then assign its result to the name or selected field on the left.</a:t>
            </a:r>
          </a:p>
          <a:p>
            <a:r>
              <a:t/>
            </a:r>
          </a:p>
          <a:p>
            <a:r>
              <a:t>for truth, guess in zip(actual, predicted):</a:t>
            </a:r>
          </a:p>
          <a:p>
            <a:r>
              <a:t>Take each item or pair in turn, assign the loop name(s), and repeat the indented body.</a:t>
            </a:r>
          </a:p>
          <a:p>
            <a:r>
              <a:t/>
            </a:r>
          </a:p>
          <a:p>
            <a:r>
              <a:t>print(truth, guess)</a:t>
            </a:r>
          </a:p>
          <a:p>
            <a:r>
              <a:t>Evaluate the expression inside the parentheses and display it. Displaying is separate from returning a function result.</a:t>
            </a:r>
          </a:p>
          <a:p>
            <a:r>
              <a:t/>
            </a:r>
          </a:p>
          <a:p>
            <a:r>
              <a:t>Result / continuity</a:t>
            </a:r>
          </a:p>
          <a:p>
            <a:r>
              <a:t>Output: 10 12; 20 16</a:t>
            </a:r>
          </a:p>
          <a:p>
            <a:r>
              <a:t/>
            </a:r>
          </a:p>
          <a:p>
            <a:r>
              <a:t>Reference / existing resource</a:t>
            </a:r>
          </a:p>
          <a:p>
            <a:r>
              <a:t>https://docs.python.org/3/tutorial/introduction.html</a:t>
            </a:r>
          </a:p>
          <a:p>
            <a:r>
              <a:t>https://docs.python.org/3/tutorial/controlflow.html;</a:t>
            </a:r>
          </a:p>
          <a:p>
            <a:r>
              <a:t/>
            </a:r>
          </a:p>
          <a:p>
            <a:r>
              <a:t>Continue to</a:t>
            </a:r>
          </a:p>
          <a:p>
            <a:r>
              <a:t>Trace absolute and squared errors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Trace absolute and squared errors</a:t>
            </a:r>
          </a:p>
          <a:p>
            <a:r>
              <a:t>CML3111, Week 8, slide 46</a:t>
            </a:r>
          </a:p>
          <a:p>
            <a:r>
              <a:t/>
            </a:r>
          </a:p>
          <a:p>
            <a:r>
              <a:t>Explanation to give</a:t>
            </a:r>
          </a:p>
          <a:p>
            <a:r>
              <a:t>Match each prediction with the actual value for the same observation. MAE averages error magnitudes. RMSE averages squared errors and then takes the square root, restoring the target unit.</a:t>
            </a:r>
          </a:p>
          <a:p>
            <a:r>
              <a:t/>
            </a:r>
          </a:p>
          <a:p>
            <a:r>
              <a:t>Worked illustration / lecturer answer</a:t>
            </a:r>
          </a:p>
          <a:p>
            <a:r>
              <a:t>Actual [10,20] and predicted [12,16] have differences -2 and 4. MAE is (2+4)/2 = 3. RMSE is sqrt((4+16)/2) = sqrt(10), about 3.1623.</a:t>
            </a:r>
          </a:p>
          <a:p>
            <a:r>
              <a:t/>
            </a:r>
          </a:p>
          <a:p>
            <a:r>
              <a:t>Misconception to address</a:t>
            </a:r>
          </a:p>
          <a:p>
            <a:r>
              <a:t>Signed errors can cancel if simply averaged. MAE is not a plus/minus guarantee for every case, and RMSE is not in squared units after the square root.</a:t>
            </a:r>
          </a:p>
          <a:p>
            <a:r>
              <a:t/>
            </a:r>
          </a:p>
          <a:p>
            <a:r>
              <a:t>On this slide</a:t>
            </a:r>
          </a:p>
          <a:p>
            <a:r>
              <a:t>Actual and predicted | Absolute error | Squared error</a:t>
            </a:r>
          </a:p>
          <a:p>
            <a:r>
              <a:t>10 and 12 | abs(-2) = 2 | (-2) ** 2 = 4</a:t>
            </a:r>
          </a:p>
          <a:p>
            <a:r>
              <a:t>20 and 16 | abs(4) = 4 | 4 ** 2 = 16</a:t>
            </a:r>
          </a:p>
          <a:p>
            <a:r>
              <a:t>Average | (2 + 4) / 2 = 3 | (4 + 16) / 2 = 10</a:t>
            </a:r>
          </a:p>
          <a:p>
            <a:r>
              <a:t>MAE is 3. RMSE is sqrt(10), approximately 3.1623. sqrt means the nonnegative square root.</a:t>
            </a:r>
          </a:p>
          <a:p>
            <a:r>
              <a:t/>
            </a:r>
          </a:p>
          <a:p>
            <a:r>
              <a:t>Reference / existing resource</a:t>
            </a:r>
          </a:p>
          <a:p>
            <a:r>
              <a:t>https://docs.python.org/3/tutorial/introduction.html</a:t>
            </a:r>
          </a:p>
          <a:p>
            <a:r>
              <a:t>https://docs.python.org/3/tutorial/controlflow.html;</a:t>
            </a:r>
          </a:p>
          <a:p>
            <a:r>
              <a:t/>
            </a:r>
          </a:p>
          <a:p>
            <a:r>
              <a:t>Continue to</a:t>
            </a:r>
          </a:p>
          <a:p>
            <a:r>
              <a:t>Two error measures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Two error measures</a:t>
            </a:r>
          </a:p>
          <a:p>
            <a:r>
              <a:t>CML3111, Week 8, slide 47</a:t>
            </a:r>
          </a:p>
          <a:p>
            <a:r>
              <a:t/>
            </a:r>
          </a:p>
          <a:p>
            <a:r>
              <a:t>Explanation to give</a:t>
            </a:r>
          </a:p>
          <a:p>
            <a:r>
              <a:t>Match each prediction with the actual value for the same observation. MAE averages error magnitudes. RMSE averages squared errors and then takes the square root, restoring the target unit.</a:t>
            </a:r>
          </a:p>
          <a:p>
            <a:r>
              <a:t/>
            </a:r>
          </a:p>
          <a:p>
            <a:r>
              <a:t>Worked illustration / lecturer answer</a:t>
            </a:r>
          </a:p>
          <a:p>
            <a:r>
              <a:t>Actual [10,20] and predicted [12,16] have differences -2 and 4. MAE is (2+4)/2 = 3. RMSE is sqrt((4+16)/2) = sqrt(10), about 3.1623.</a:t>
            </a:r>
          </a:p>
          <a:p>
            <a:r>
              <a:t/>
            </a:r>
          </a:p>
          <a:p>
            <a:r>
              <a:t>Misconception to address</a:t>
            </a:r>
          </a:p>
          <a:p>
            <a:r>
              <a:t>Signed errors can cancel if simply averaged. MAE is not a plus/minus guarantee for every case, and RMSE is not in squared units after the square root.</a:t>
            </a:r>
          </a:p>
          <a:p>
            <a:r>
              <a:t/>
            </a:r>
          </a:p>
          <a:p>
            <a:r>
              <a:t>On this slide</a:t>
            </a:r>
          </a:p>
          <a:p>
            <a:r>
              <a:t>zip pairs corresponding values. abs measures error size.</a:t>
            </a:r>
          </a:p>
          <a:p>
            <a:r>
              <a:t/>
            </a:r>
          </a:p>
          <a:p>
            <a:r>
              <a:t>Squaring emphasises large errors; taking the square root returns to the original unit.</a:t>
            </a:r>
          </a:p>
          <a:p>
            <a:r>
              <a:t/>
            </a:r>
          </a:p>
          <a:p>
            <a:r>
              <a:t>These functions assume equal-length, nonempty paired observations.</a:t>
            </a:r>
          </a:p>
          <a:p>
            <a:r>
              <a:t/>
            </a:r>
          </a:p>
          <a:p>
            <a:r>
              <a:t>Continue to</a:t>
            </a:r>
          </a:p>
          <a:p>
            <a:r>
              <a:t>Two error measures in Python (1/2)</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Two error measures in Python (1/2)</a:t>
            </a:r>
          </a:p>
          <a:p>
            <a:r>
              <a:t>CML3111, Week 8, slide 48</a:t>
            </a:r>
          </a:p>
          <a:p>
            <a:r>
              <a:t/>
            </a:r>
          </a:p>
          <a:p>
            <a:r>
              <a:t>Explanation to give</a:t>
            </a:r>
          </a:p>
          <a:p>
            <a:r>
              <a:t>Match each prediction with the actual value for the same observation. MAE averages error magnitudes. RMSE averages squared errors and then takes the square root, restoring the target unit.</a:t>
            </a:r>
          </a:p>
          <a:p>
            <a:r>
              <a:t/>
            </a:r>
          </a:p>
          <a:p>
            <a:r>
              <a:t>Worked illustration / lecturer answer</a:t>
            </a:r>
          </a:p>
          <a:p>
            <a:r>
              <a:t>Actual [10,20] and predicted [12,16] have differences -2 and 4. MAE is (2+4)/2 = 3. RMSE is sqrt((4+16)/2) = sqrt(10), about 3.1623.</a:t>
            </a:r>
          </a:p>
          <a:p>
            <a:r>
              <a:t/>
            </a:r>
          </a:p>
          <a:p>
            <a:r>
              <a:t>Misconception to address</a:t>
            </a:r>
          </a:p>
          <a:p>
            <a:r>
              <a:t>Signed errors can cancel if simply averaged. MAE is not a plus/minus guarantee for every case, and RMSE is not in squared units after the square root.</a:t>
            </a:r>
          </a:p>
          <a:p>
            <a:r>
              <a:t/>
            </a:r>
          </a:p>
          <a:p>
            <a:r>
              <a:t>Read the displayed code line by line</a:t>
            </a:r>
          </a:p>
          <a:p>
            <a:r>
              <a:t>from math import sqrt</a:t>
            </a:r>
          </a:p>
          <a:p>
            <a:r>
              <a:t>Bring the named tool from this library into the current Python session.</a:t>
            </a:r>
          </a:p>
          <a:p>
            <a:r>
              <a:t/>
            </a:r>
          </a:p>
          <a:p>
            <a:r>
              <a:t>a = [10, 20]</a:t>
            </a:r>
          </a:p>
          <a:p>
            <a:r>
              <a:t>Evaluate the complete right-hand expression first, then assign its result to the name or selected field on the left.</a:t>
            </a:r>
          </a:p>
          <a:p>
            <a:r>
              <a:t/>
            </a:r>
          </a:p>
          <a:p>
            <a:r>
              <a:t>p = [12, 16]</a:t>
            </a:r>
          </a:p>
          <a:p>
            <a:r>
              <a:t>Evaluate the complete right-hand expression first, then assign its result to the name or selected field on the left.</a:t>
            </a:r>
          </a:p>
          <a:p>
            <a:r>
              <a:t/>
            </a:r>
          </a:p>
          <a:p>
            <a:r>
              <a:t>absolute = []</a:t>
            </a:r>
          </a:p>
          <a:p>
            <a:r>
              <a:t>Evaluate the complete right-hand expression first, then assign its result to the name or selected field on the left.</a:t>
            </a:r>
          </a:p>
          <a:p>
            <a:r>
              <a:t/>
            </a:r>
          </a:p>
          <a:p>
            <a:r>
              <a:t>squared = []</a:t>
            </a:r>
          </a:p>
          <a:p>
            <a:r>
              <a:t>Evaluate the complete right-hand expression first, then assign its result to the name or selected field on the left.</a:t>
            </a:r>
          </a:p>
          <a:p>
            <a:r>
              <a:t/>
            </a:r>
          </a:p>
          <a:p>
            <a:r>
              <a:t>for truth, guess in zip(a, p):</a:t>
            </a:r>
          </a:p>
          <a:p>
            <a:r>
              <a:t>Take each item or pair in turn, assign the loop name(s), and repeat the indented body.</a:t>
            </a:r>
          </a:p>
          <a:p>
            <a:r>
              <a:t/>
            </a:r>
          </a:p>
          <a:p>
            <a:r>
              <a:t>difference = truth - guess</a:t>
            </a:r>
          </a:p>
          <a:p>
            <a:r>
              <a:t>Evaluate the complete right-hand expression first, then assign its result to the name or selected field on the left.</a:t>
            </a:r>
          </a:p>
          <a:p>
            <a:r>
              <a:t/>
            </a:r>
          </a:p>
          <a:p>
            <a:r>
              <a:t>absolute.append(abs(difference))</a:t>
            </a:r>
          </a:p>
          <a:p>
            <a:r>
              <a:t>Evaluate the argument and add it as one new item at the end of this list.</a:t>
            </a:r>
          </a:p>
          <a:p>
            <a:r>
              <a:t/>
            </a:r>
          </a:p>
          <a:p>
            <a:r>
              <a:t>squared.append(difference ** 2)</a:t>
            </a:r>
          </a:p>
          <a:p>
            <a:r>
              <a:t>Evaluate the argument and add it as one new item at the end of this list.</a:t>
            </a:r>
          </a:p>
          <a:p>
            <a:r>
              <a:t/>
            </a:r>
          </a:p>
          <a:p>
            <a:r>
              <a:t>Result / continuity</a:t>
            </a:r>
          </a:p>
          <a:p>
            <a:r>
              <a:t>Read top to bottom. Run the complete example in the matching practice notebook.</a:t>
            </a:r>
          </a:p>
          <a:p>
            <a:r>
              <a:t/>
            </a:r>
          </a:p>
          <a:p>
            <a:r>
              <a:t>Continue to</a:t>
            </a:r>
          </a:p>
          <a:p>
            <a:r>
              <a:t>Two error measures in Python (2/2)</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Two error measures in Python (2/2)</a:t>
            </a:r>
          </a:p>
          <a:p>
            <a:r>
              <a:t>CML3111, Week 8, slide 49</a:t>
            </a:r>
          </a:p>
          <a:p>
            <a:r>
              <a:t/>
            </a:r>
          </a:p>
          <a:p>
            <a:r>
              <a:t>Explanation to give</a:t>
            </a:r>
          </a:p>
          <a:p>
            <a:r>
              <a:t>Match each prediction with the actual value for the same observation. MAE averages error magnitudes. RMSE averages squared errors and then takes the square root, restoring the target unit.</a:t>
            </a:r>
          </a:p>
          <a:p>
            <a:r>
              <a:t/>
            </a:r>
          </a:p>
          <a:p>
            <a:r>
              <a:t>Worked illustration / lecturer answer</a:t>
            </a:r>
          </a:p>
          <a:p>
            <a:r>
              <a:t>Actual [10,20] and predicted [12,16] have differences -2 and 4. MAE is (2+4)/2 = 3. RMSE is sqrt((4+16)/2) = sqrt(10), about 3.1623.</a:t>
            </a:r>
          </a:p>
          <a:p>
            <a:r>
              <a:t/>
            </a:r>
          </a:p>
          <a:p>
            <a:r>
              <a:t>Misconception to address</a:t>
            </a:r>
          </a:p>
          <a:p>
            <a:r>
              <a:t>Signed errors can cancel if simply averaged. MAE is not a plus/minus guarantee for every case, and RMSE is not in squared units after the square root.</a:t>
            </a:r>
          </a:p>
          <a:p>
            <a:r>
              <a:t/>
            </a:r>
          </a:p>
          <a:p>
            <a:r>
              <a:t>Read the displayed code line by line</a:t>
            </a:r>
          </a:p>
          <a:p>
            <a:r>
              <a:t>print(sum(absolute) / len(a))</a:t>
            </a:r>
          </a:p>
          <a:p>
            <a:r>
              <a:t>Evaluate the expression inside the parentheses and display it. Displaying is separate from returning a function result.</a:t>
            </a:r>
          </a:p>
          <a:p>
            <a:r>
              <a:t/>
            </a:r>
          </a:p>
          <a:p>
            <a:r>
              <a:t>print(sqrt(sum(squared) / len(a)))</a:t>
            </a:r>
          </a:p>
          <a:p>
            <a:r>
              <a:t>Evaluate the expression inside the parentheses and display it. Displaying is separate from returning a function result.</a:t>
            </a:r>
          </a:p>
          <a:p>
            <a:r>
              <a:t/>
            </a:r>
          </a:p>
          <a:p>
            <a:r>
              <a:t>Result / continuity</a:t>
            </a:r>
          </a:p>
          <a:p>
            <a:r>
              <a:t>Continue the SAME cell; keep indentation. Run after all parts are entered.</a:t>
            </a:r>
          </a:p>
          <a:p>
            <a:r>
              <a:t/>
            </a:r>
          </a:p>
          <a:p>
            <a:r>
              <a:t>Continue to</a:t>
            </a:r>
          </a:p>
          <a:p>
            <a:r>
              <a:t>R² compares against a mean prediction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R² compares against a mean prediction</a:t>
            </a:r>
          </a:p>
          <a:p>
            <a:r>
              <a:t>CML3111, Week 8, slide 50</a:t>
            </a:r>
          </a:p>
          <a:p>
            <a:r>
              <a:t/>
            </a:r>
          </a:p>
          <a:p>
            <a:r>
              <a:t>Explanation to give</a:t>
            </a:r>
          </a:p>
          <a:p>
            <a:r>
              <a:t>Explain R² as a comparison of squared prediction errors with a reference that always predicts the mean of the evaluated targets. It is a relative score, not a percentage of correct predictions.</a:t>
            </a:r>
          </a:p>
          <a:p>
            <a:r>
              <a:t/>
            </a:r>
          </a:p>
          <a:p>
            <a:r>
              <a:t>Worked illustration / lecturer answer</a:t>
            </a:r>
          </a:p>
          <a:p>
            <a:r>
              <a:t>R² = 1 means zero error on these observations. R² = 0 matches that mean reference. A negative value means larger squared error than the reference.</a:t>
            </a:r>
          </a:p>
          <a:p>
            <a:r>
              <a:t/>
            </a:r>
          </a:p>
          <a:p>
            <a:r>
              <a:t>Misconception to address</a:t>
            </a:r>
          </a:p>
          <a:p>
            <a:r>
              <a:t>Do not translate 0.8 into “80% accurate”. Constant targets need special handling, and engineering usefulness still depends on errors in physical units.</a:t>
            </a:r>
          </a:p>
          <a:p>
            <a:r>
              <a:t/>
            </a:r>
          </a:p>
          <a:p>
            <a:r>
              <a:t>On this slide</a:t>
            </a:r>
          </a:p>
          <a:p>
            <a:r>
              <a:t>R² compares squared errors with predicting the mean of the evaluated targets. It is a score, not “percentage accuracy”.</a:t>
            </a:r>
          </a:p>
          <a:p>
            <a:r>
              <a:t/>
            </a:r>
          </a:p>
          <a:p>
            <a:r>
              <a:t>1 means perfect predictions on those observations. 0 matches that mean-prediction reference; a negative score can be worse.</a:t>
            </a:r>
          </a:p>
          <a:p>
            <a:r>
              <a:t/>
            </a:r>
          </a:p>
          <a:p>
            <a:r>
              <a:t>Use the same evaluation observations and report the specified error metric with its units. Constant targets need special handling; this score alone does not prove usefulness.</a:t>
            </a:r>
          </a:p>
          <a:p>
            <a:r>
              <a:t/>
            </a:r>
          </a:p>
          <a:p>
            <a:r>
              <a:t>Continue to</a:t>
            </a:r>
          </a:p>
          <a:p>
            <a:r>
              <a:t>Revision example and answer</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Revision example and answer</a:t>
            </a:r>
          </a:p>
          <a:p>
            <a:r>
              <a:t>CML3111, Week 8, slide 51</a:t>
            </a:r>
          </a:p>
          <a:p>
            <a:r>
              <a:t/>
            </a:r>
          </a:p>
          <a:p>
            <a:r>
              <a:t>Explanation to give</a:t>
            </a:r>
          </a:p>
          <a:p>
            <a:r>
              <a:t>Use the displayed example as a short individual revision question, then explain the reasoning behind its answer.</a:t>
            </a:r>
          </a:p>
          <a:p>
            <a:r>
              <a:t/>
            </a:r>
          </a:p>
          <a:p>
            <a:r>
              <a:t>Worked illustration / lecturer answer</a:t>
            </a:r>
          </a:p>
          <a:p>
            <a:r>
              <a:t>Example: On paper compare actual [10, 20] with predictions [12, 16]. Find MAE and RMSE. Is MAE a plus/minus guarantee for each prediction?</a:t>
            </a:r>
          </a:p>
          <a:p>
            <a:r>
              <a:t/>
            </a:r>
          </a:p>
          <a:p>
            <a:r>
              <a:t>Answer: Absolute errors are 2 and 4: MAE 3. Squared errors 4 and 16: RMSE sqrt(10), about 3.162. MAE is an average, not an individual error bound.</a:t>
            </a:r>
          </a:p>
          <a:p>
            <a:r>
              <a:t/>
            </a:r>
          </a:p>
          <a:p>
            <a:r>
              <a:t>Misconception to address</a:t>
            </a:r>
          </a:p>
          <a:p>
            <a:r>
              <a:t>Trace the operation that changes the value rather than accepting a memorised output. For notebook-state examples, specify which cell is repeated and whether the initialisation ran again.</a:t>
            </a:r>
          </a:p>
          <a:p>
            <a:r>
              <a:t/>
            </a:r>
          </a:p>
          <a:p>
            <a:r>
              <a:t>Continue to</a:t>
            </a:r>
          </a:p>
          <a:p>
            <a:r>
              <a:t>Preparing for the assignment</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Preparing for the assignment</a:t>
            </a:r>
          </a:p>
          <a:p>
            <a:r>
              <a:t>CML3111, Week 8, slide 52</a:t>
            </a:r>
          </a:p>
          <a:p>
            <a:r>
              <a:t/>
            </a:r>
          </a:p>
          <a:p>
            <a:r>
              <a:t>Explanation to give</a:t>
            </a:r>
          </a:p>
          <a:p>
            <a:r>
              <a:t>Explain the order: partition data using the stated protocol, fit preparation on training data, fit models, compare on validation data and leave final test data untouched until choices are fixed.</a:t>
            </a:r>
          </a:p>
          <a:p>
            <a:r>
              <a:t/>
            </a:r>
          </a:p>
          <a:p>
            <a:r>
              <a:t>Worked illustration / lecturer answer</a:t>
            </a:r>
          </a:p>
          <a:p>
            <a:r>
              <a:t>Compare models on identical held-out observations with the same metric and preprocessing rules. Each cross-validation training fold learns its own preparation values.</a:t>
            </a:r>
          </a:p>
          <a:p>
            <a:r>
              <a:t/>
            </a:r>
          </a:p>
          <a:p>
            <a:r>
              <a:t>Misconception to address</a:t>
            </a:r>
          </a:p>
          <a:p>
            <a:r>
              <a:t>A written claim of no leakage must agree with the executable split and fitting code. Follow the published execution requirement for any criterion linked to the split check.</a:t>
            </a:r>
          </a:p>
          <a:p>
            <a:r>
              <a:t/>
            </a:r>
          </a:p>
          <a:p>
            <a:r>
              <a:t>On this slide</a:t>
            </a:r>
          </a:p>
          <a:p>
            <a:r>
              <a:t>W08 asks for baseline, linear and depth-4 tree prediction lists plus error metrics.</a:t>
            </a:r>
          </a:p>
          <a:p>
            <a:r>
              <a:t/>
            </a:r>
          </a:p>
          <a:p>
            <a:r>
              <a:t>Fit missing-value replacement on training data.</a:t>
            </a:r>
          </a:p>
          <a:p>
            <a:r>
              <a:t/>
            </a:r>
          </a:p>
          <a:p>
            <a:r>
              <a:t>A Pipeline joins preprocessing to the model.</a:t>
            </a:r>
          </a:p>
          <a:p>
            <a:r>
              <a:t/>
            </a:r>
          </a:p>
          <a:p>
            <a:r>
              <a:t>Only load_pct and ambient_c are predictors.</a:t>
            </a:r>
          </a:p>
          <a:p>
            <a:r>
              <a:t/>
            </a:r>
          </a:p>
          <a:p>
            <a:r>
              <a:t>Continue to</a:t>
            </a:r>
          </a:p>
          <a:p>
            <a:r>
              <a:t>Preparing for the assignment continued</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Preparing for the assignment continued</a:t>
            </a:r>
          </a:p>
          <a:p>
            <a:r>
              <a:t>CML3111, Week 8, slide 53</a:t>
            </a:r>
          </a:p>
          <a:p>
            <a:r>
              <a:t/>
            </a:r>
          </a:p>
          <a:p>
            <a:r>
              <a:t>Explanation to give</a:t>
            </a:r>
          </a:p>
          <a:p>
            <a:r>
              <a:t>Keep related equipment observations together so the validation really represents equipment the model has not seen.</a:t>
            </a:r>
          </a:p>
          <a:p>
            <a:r>
              <a:t/>
            </a:r>
          </a:p>
          <a:p>
            <a:r>
              <a:t>Worked illustration / lecturer answer</a:t>
            </a:r>
          </a:p>
          <a:p>
            <a:r>
              <a:t>The written question may supply a comparison scenario. Label those numbers as supplied scenario evidence; do not claim they came from a run of your own notebook.</a:t>
            </a:r>
          </a:p>
          <a:p>
            <a:r>
              <a:t/>
            </a:r>
          </a:p>
          <a:p>
            <a:r>
              <a:t>Misconception to address</a:t>
            </a:r>
          </a:p>
          <a:p>
            <a:r>
              <a:t>A supplied scenario and an observed experimental result have different provenance. Both can be interpreted, but should not be confused.</a:t>
            </a:r>
          </a:p>
          <a:p>
            <a:r>
              <a:t/>
            </a:r>
          </a:p>
          <a:p>
            <a:r>
              <a:t>On this slide</a:t>
            </a:r>
          </a:p>
          <a:p>
            <a:r>
              <a:t>Keep observations from the same equipment in one partition.</a:t>
            </a:r>
          </a:p>
          <a:p>
            <a:r>
              <a:t/>
            </a:r>
          </a:p>
          <a:p>
            <a:r>
              <a:t>The written comparison supplies scenario values.</a:t>
            </a:r>
          </a:p>
          <a:p>
            <a:r>
              <a:t/>
            </a:r>
          </a:p>
          <a:p>
            <a:r>
              <a:t>Distinguish them from your own measured results.</a:t>
            </a:r>
          </a:p>
          <a:p>
            <a:r>
              <a:t/>
            </a:r>
          </a:p>
          <a:p>
            <a:r>
              <a:t>Continue to</a:t>
            </a:r>
          </a:p>
          <a:p>
            <a:r>
              <a:t>Reading model outputs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Reading model outputs</a:t>
            </a:r>
          </a:p>
          <a:p>
            <a:r>
              <a:t>CML3111, Week 8, slide 54</a:t>
            </a:r>
          </a:p>
          <a:p>
            <a:r>
              <a:t/>
            </a:r>
          </a:p>
          <a:p>
            <a:r>
              <a:t>Explanation to give</a:t>
            </a:r>
          </a:p>
          <a:p>
            <a:r>
              <a:t>Read the result in the target's physical unit and identify which observations produced the score. Training fit and evaluation on unseen observations answer different questions.</a:t>
            </a:r>
          </a:p>
          <a:p>
            <a:r>
              <a:t/>
            </a:r>
          </a:p>
          <a:p>
            <a:r>
              <a:t>Worked illustration / lecturer answer</a:t>
            </a:r>
          </a:p>
          <a:p>
            <a:r>
              <a:t>A predicted-versus-actual plot has perfect agreement along the diagonal. Points systematically above or below it suggest bias to investigate. Compare errors with the stated baseline on the same cases.</a:t>
            </a:r>
          </a:p>
          <a:p>
            <a:r>
              <a:t/>
            </a:r>
          </a:p>
          <a:p>
            <a:r>
              <a:t>Misconception to address</a:t>
            </a:r>
          </a:p>
          <a:p>
            <a:r>
              <a:t>A good score without a clear sample, split and unit cannot support an engineering recommendation.</a:t>
            </a:r>
          </a:p>
          <a:p>
            <a:r>
              <a:t/>
            </a:r>
          </a:p>
          <a:p>
            <a:r>
              <a:t>On this slide</a:t>
            </a:r>
          </a:p>
          <a:p>
            <a:r>
              <a:t>A score on training rows describes training fit.</a:t>
            </a:r>
          </a:p>
          <a:p>
            <a:r>
              <a:t/>
            </a:r>
          </a:p>
          <a:p>
            <a:r>
              <a:t>A feature table must preserve the training column names, order and units during prediction.</a:t>
            </a:r>
          </a:p>
          <a:p>
            <a:r>
              <a:t/>
            </a:r>
          </a:p>
          <a:p>
            <a:r>
              <a:t>A one-dimensional list may have the wrong shape for a model expecting rows and columns.</a:t>
            </a:r>
          </a:p>
          <a:p>
            <a:r>
              <a:t/>
            </a:r>
          </a:p>
          <a:p>
            <a:r>
              <a:t>A predicted-versus-actual plot uses the diagonal as perfect agreement; a pattern is not proof of causation.</a:t>
            </a:r>
          </a:p>
          <a:p>
            <a:r>
              <a:t/>
            </a:r>
          </a:p>
          <a:p>
            <a:r>
              <a:t>Continue to</a:t>
            </a:r>
          </a:p>
          <a:p>
            <a:r>
              <a:t>Reading model outputs continued</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Reading model outputs continued</a:t>
            </a:r>
          </a:p>
          <a:p>
            <a:r>
              <a:t>CML3111, Week 8, slide 55</a:t>
            </a:r>
          </a:p>
          <a:p>
            <a:r>
              <a:t/>
            </a:r>
          </a:p>
          <a:p>
            <a:r>
              <a:t>Explanation to give</a:t>
            </a:r>
          </a:p>
          <a:p>
            <a:r>
              <a:t>Read the result in the target's physical unit and identify which observations produced the score. Training fit and evaluation on unseen observations answer different questions.</a:t>
            </a:r>
          </a:p>
          <a:p>
            <a:r>
              <a:t/>
            </a:r>
          </a:p>
          <a:p>
            <a:r>
              <a:t>Worked illustration / lecturer answer</a:t>
            </a:r>
          </a:p>
          <a:p>
            <a:r>
              <a:t>A predicted-versus-actual plot has perfect agreement along the diagonal. Points systematically above or below it suggest bias to investigate. Compare errors with the stated baseline on the same cases.</a:t>
            </a:r>
          </a:p>
          <a:p>
            <a:r>
              <a:t/>
            </a:r>
          </a:p>
          <a:p>
            <a:r>
              <a:t>Misconception to address</a:t>
            </a:r>
          </a:p>
          <a:p>
            <a:r>
              <a:t>A good score without a clear sample, split and unit cannot support an engineering recommendation.</a:t>
            </a:r>
          </a:p>
          <a:p>
            <a:r>
              <a:t/>
            </a:r>
          </a:p>
          <a:p>
            <a:r>
              <a:t>On this slide</a:t>
            </a:r>
          </a:p>
          <a:p>
            <a:r>
              <a:t>Judge MAE against the baseline and the decision’s acceptable error.</a:t>
            </a:r>
          </a:p>
          <a:p>
            <a:r>
              <a:t/>
            </a:r>
          </a:p>
          <a:p>
            <a:r>
              <a:t>R² is not an accuracy percentage.</a:t>
            </a:r>
          </a:p>
          <a:p>
            <a:r>
              <a:t/>
            </a:r>
          </a:p>
          <a:p>
            <a:r>
              <a:t>Continue to</a:t>
            </a:r>
          </a:p>
          <a:p>
            <a:r>
              <a:t>Your issued task</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Your issued task</a:t>
            </a:r>
          </a:p>
          <a:p>
            <a:r>
              <a:t>CML3111, Week 8, slide 56</a:t>
            </a:r>
          </a:p>
          <a:p>
            <a:r>
              <a:t/>
            </a:r>
          </a:p>
          <a:p>
            <a:r>
              <a:t>Explanation to give</a:t>
            </a:r>
          </a:p>
          <a:p>
            <a:r>
              <a:t>Name this cohort’s target and its unit exactly as displayed. Each row is one operating observation, while equipment_id can repeat across several observations.</a:t>
            </a:r>
          </a:p>
          <a:p>
            <a:r>
              <a:t/>
            </a:r>
          </a:p>
          <a:p>
            <a:r>
              <a:t>Worked illustration / lecturer answer</a:t>
            </a:r>
          </a:p>
          <a:p>
            <a:r>
              <a:t>Explain record_id as the identifier of an observation, load_pct as load expressed in percent and ambient_c as temperature in degrees Celsius. The target records the known answer in training data.</a:t>
            </a:r>
          </a:p>
          <a:p>
            <a:r>
              <a:t/>
            </a:r>
          </a:p>
          <a:p>
            <a:r>
              <a:t>Misconception to address</a:t>
            </a:r>
          </a:p>
          <a:p>
            <a:r>
              <a:t>These are synthetic examples for learning. They do not establish a calibrated physical relationship or justify operation of real equipment.</a:t>
            </a:r>
          </a:p>
          <a:p>
            <a:r>
              <a:t/>
            </a:r>
          </a:p>
          <a:p>
            <a:r>
              <a:t>On this slide</a:t>
            </a:r>
          </a:p>
          <a:p>
            <a:r>
              <a:t>Investigate motor winding temperature.</a:t>
            </a:r>
          </a:p>
          <a:p>
            <a:r>
              <a:t/>
            </a:r>
          </a:p>
          <a:p>
            <a:r>
              <a:t>Target units: deg C.</a:t>
            </a:r>
          </a:p>
          <a:p>
            <a:r>
              <a:t/>
            </a:r>
          </a:p>
          <a:p>
            <a:r>
              <a:t>These are synthetic teaching records, not measurements suitable for deployment.</a:t>
            </a:r>
          </a:p>
          <a:p>
            <a:r>
              <a:t/>
            </a:r>
          </a:p>
          <a:p>
            <a:r>
              <a:t>Each record is one operating observation; equipment_id repeats across observations.</a:t>
            </a:r>
          </a:p>
          <a:p>
            <a:r>
              <a:t/>
            </a:r>
          </a:p>
          <a:p>
            <a:r>
              <a:t>Continue to</a:t>
            </a:r>
          </a:p>
          <a:p>
            <a:r>
              <a:t>predict_regression(training_records, feature_records)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predict_regression(training_records, feature_records)</a:t>
            </a:r>
          </a:p>
          <a:p>
            <a:r>
              <a:t>CML3111, Week 8, slide 57</a:t>
            </a:r>
          </a:p>
          <a:p>
            <a:r>
              <a:t/>
            </a:r>
          </a:p>
          <a:p>
            <a:r>
              <a:t>Explanation to give</a:t>
            </a:r>
          </a:p>
          <a:p>
            <a:r>
              <a:t>Build feature rows using only the specified input fields and preserve their order. Fit preprocessing and the three requested models using training records only.</a:t>
            </a:r>
          </a:p>
          <a:p>
            <a:r>
              <a:t/>
            </a:r>
          </a:p>
          <a:p>
            <a:r>
              <a:t>Worked illustration / lecturer answer</a:t>
            </a:r>
          </a:p>
          <a:p>
            <a:r>
              <a:t>The returned dictionary contains baseline, linear and tree, each with one prediction per feature record. A feature record deliberately contains no target answer.</a:t>
            </a:r>
          </a:p>
          <a:p>
            <a:r>
              <a:t/>
            </a:r>
          </a:p>
          <a:p>
            <a:r>
              <a:t>Misconception to address</a:t>
            </a:r>
          </a:p>
          <a:p>
            <a:r>
              <a:t>Keep the exact output names and required types. Use the task text for the learner’s own assessed answer; the alternate example explains the method without replacing their work.</a:t>
            </a:r>
          </a:p>
          <a:p>
            <a:r>
              <a:t/>
            </a:r>
          </a:p>
          <a:p>
            <a:r>
              <a:t>On this slide</a:t>
            </a:r>
          </a:p>
          <a:p>
            <a:r>
              <a:t>Fit a training-mean baseline, linear regression and a decision tree (max_depth=4, random_state=17) using load_pct and ambient_c only.</a:t>
            </a:r>
          </a:p>
          <a:p>
            <a:r>
              <a:t/>
            </a:r>
          </a:p>
          <a:p>
            <a:r>
              <a:t>Return three prediction lists under baseline, linear and tree.</a:t>
            </a:r>
          </a:p>
          <a:p>
            <a:r>
              <a:t/>
            </a:r>
          </a:p>
          <a:p>
            <a:r>
              <a:t>Feature records have no target.</a:t>
            </a:r>
          </a:p>
          <a:p>
            <a:r>
              <a:t/>
            </a:r>
          </a:p>
          <a:p>
            <a:r>
              <a:t>Fit preprocessing only on training data.</a:t>
            </a:r>
          </a:p>
          <a:p>
            <a:r>
              <a:t/>
            </a:r>
          </a:p>
          <a:p>
            <a:r>
              <a:t>Continue to</a:t>
            </a:r>
          </a:p>
          <a:p>
            <a:r>
              <a:t>regression_errors(actual, predicted)</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regression_errors(actual, predicted)</a:t>
            </a:r>
          </a:p>
          <a:p>
            <a:r>
              <a:t>CML3111, Week 8, slide 58</a:t>
            </a:r>
          </a:p>
          <a:p>
            <a:r>
              <a:t/>
            </a:r>
          </a:p>
          <a:p>
            <a:r>
              <a:t>Explanation to give</a:t>
            </a:r>
          </a:p>
          <a:p>
            <a:r>
              <a:t>Pair actual and predicted values by position. Return mae and rmse with full numerical precision.</a:t>
            </a:r>
          </a:p>
          <a:p>
            <a:r>
              <a:t/>
            </a:r>
          </a:p>
          <a:p>
            <a:r>
              <a:t>Worked illustration / lecturer answer</a:t>
            </a:r>
          </a:p>
          <a:p>
            <a:r>
              <a:t>On separate teaching pairs with errors 2 and 4, MAE is 3 and RMSE is sqrt(10). Rounding is for a labelled display, not for the returned metric.</a:t>
            </a:r>
          </a:p>
          <a:p>
            <a:r>
              <a:t/>
            </a:r>
          </a:p>
          <a:p>
            <a:r>
              <a:t>Misconception to address</a:t>
            </a:r>
          </a:p>
          <a:p>
            <a:r>
              <a:t>Keep the exact output names and required types. Use the task text for the learner’s own assessed answer; the alternate example explains the method without replacing their work.</a:t>
            </a:r>
          </a:p>
          <a:p>
            <a:r>
              <a:t/>
            </a:r>
          </a:p>
          <a:p>
            <a:r>
              <a:t>On this slide</a:t>
            </a:r>
          </a:p>
          <a:p>
            <a:r>
              <a:t>Return mae and rmse, calculated over the same paired observations, with full precision.</a:t>
            </a:r>
          </a:p>
          <a:p>
            <a:r>
              <a:t/>
            </a:r>
          </a:p>
          <a:p>
            <a:r>
              <a:t>Continue to</a:t>
            </a:r>
          </a:p>
          <a:p>
            <a:r>
              <a:t>Written evidence</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Written evidence</a:t>
            </a:r>
          </a:p>
          <a:p>
            <a:r>
              <a:t>CML3111, Week 8, slide 59</a:t>
            </a:r>
          </a:p>
          <a:p>
            <a:r>
              <a:t/>
            </a:r>
          </a:p>
          <a:p>
            <a:r>
              <a:t>Explanation to give</a:t>
            </a:r>
          </a:p>
          <a:p>
            <a:r>
              <a:t>Show the actual markdown answer cell headed My written evidence. This is where the learner explains the choices and the supplied scenario in their own words.</a:t>
            </a:r>
          </a:p>
          <a:p>
            <a:r>
              <a:t/>
            </a:r>
          </a:p>
          <a:p>
            <a:r>
              <a:t>Worked illustration / lecturer answer</a:t>
            </a:r>
          </a:p>
          <a:p>
            <a:r>
              <a:t>A useful explanation connects a decision to a named result and its limitation: for example, why a training-only median avoids using evaluation information. Describe supplied scenario figures as supplied, not as measurements the learner produced.</a:t>
            </a:r>
          </a:p>
          <a:p>
            <a:r>
              <a:t/>
            </a:r>
          </a:p>
          <a:p>
            <a:r>
              <a:t>Misconception to address</a:t>
            </a:r>
          </a:p>
          <a:p>
            <a:r>
              <a:t>Prompts and copied code comments do not substitute for the learner’s reasoning. Weekly work and tests use the notebook; projects also require their separate readable report.</a:t>
            </a:r>
          </a:p>
          <a:p>
            <a:r>
              <a:t/>
            </a:r>
          </a:p>
          <a:p>
            <a:r>
              <a:t>On this slide</a:t>
            </a:r>
          </a:p>
          <a:p>
            <a:r>
              <a:t>Use the cell headed “My written evidence”.</a:t>
            </a:r>
          </a:p>
          <a:p>
            <a:r>
              <a:t/>
            </a:r>
          </a:p>
          <a:p>
            <a:r>
              <a:t>Explain the supplied scenario in your own words.</a:t>
            </a:r>
          </a:p>
          <a:p>
            <a:r>
              <a:t/>
            </a:r>
          </a:p>
          <a:p>
            <a:r>
              <a:t>State target units, reasons and limitations.</a:t>
            </a:r>
          </a:p>
          <a:p>
            <a:r>
              <a:t/>
            </a:r>
          </a:p>
          <a:p>
            <a:r>
              <a:t>Submit one complete notebook containing code and written evidence.</a:t>
            </a:r>
          </a:p>
          <a:p>
            <a:r>
              <a:t/>
            </a:r>
          </a:p>
          <a:p>
            <a:r>
              <a:t>Continue to</a:t>
            </a:r>
          </a:p>
          <a:p>
            <a:r>
              <a:t>Regression and baseline submission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6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Regression and baseline submission</a:t>
            </a:r>
          </a:p>
          <a:p>
            <a:r>
              <a:t>CML3111, Week 8, slide 60</a:t>
            </a:r>
          </a:p>
          <a:p>
            <a:r>
              <a:t/>
            </a:r>
          </a:p>
          <a:p>
            <a:r>
              <a:t>Explanation to give</a:t>
            </a:r>
          </a:p>
          <a:p>
            <a:r>
              <a:t>This slide hands over CML3111 W08. Show the exact form title before uploading. The required packet is one completed .ipynb notebook.</a:t>
            </a:r>
          </a:p>
          <a:p>
            <a:r>
              <a:t/>
            </a:r>
          </a:p>
          <a:p>
            <a:r>
              <a:t>Worked illustration / lecturer answer</a:t>
            </a:r>
          </a:p>
          <a:p>
            <a:r>
              <a:t>The recorded cutoff for this form is 2026-11-06T11:00:00+03:00. Check the live form for later changes. A replacement must contain the complete required file set, not just the changed file.</a:t>
            </a:r>
          </a:p>
          <a:p>
            <a:r>
              <a:t/>
            </a:r>
          </a:p>
          <a:p>
            <a:r>
              <a:t>Misconception to address</a:t>
            </a:r>
          </a:p>
          <a:p>
            <a:r>
              <a:t>Students enter their own Student Registration Number as required freeform text. They wait for filenames to appear, press Submit and keep the confirmation. A file saved in Drive or GitHub is not itself a form submission.</a:t>
            </a:r>
          </a:p>
          <a:p>
            <a:r>
              <a:t/>
            </a:r>
          </a:p>
          <a:p>
            <a:r>
              <a:t>On this slide</a:t>
            </a:r>
          </a:p>
          <a:p>
            <a:r>
              <a:t>Opens: 30 Oct 2026, 11:00 Kampala</a:t>
            </a:r>
          </a:p>
          <a:p>
            <a:r>
              <a:t/>
            </a:r>
          </a:p>
          <a:p>
            <a:r>
              <a:t>Deadline: 06 Nov 2026, 11:00 Kampala</a:t>
            </a:r>
          </a:p>
          <a:p>
            <a:r>
              <a:t/>
            </a:r>
          </a:p>
          <a:p>
            <a:r>
              <a:t>Use your full Student Registration Number in the form.</a:t>
            </a:r>
          </a:p>
          <a:p>
            <a:r>
              <a:t/>
            </a:r>
          </a:p>
          <a:p>
            <a:r>
              <a:t>Keep the submitted files and confirmation.</a:t>
            </a:r>
          </a:p>
          <a:p>
            <a:r>
              <a:t/>
            </a:r>
          </a:p>
          <a:p>
            <a:r>
              <a:t>Continue to</a:t>
            </a:r>
          </a:p>
          <a:p>
            <a:r>
              <a:t>Data analysis project</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6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Data analysis project</a:t>
            </a:r>
          </a:p>
          <a:p>
            <a:r>
              <a:t>CML3111, Week 8, slide 61</a:t>
            </a:r>
          </a:p>
          <a:p>
            <a:r>
              <a:t/>
            </a:r>
          </a:p>
          <a:p>
            <a:r>
              <a:t>Explanation to give</a:t>
            </a:r>
          </a:p>
          <a:p>
            <a:r>
              <a:t>Show the actual markdown answer cell headed My written evidence. This is where the learner explains the choices and the supplied scenario in their own words.</a:t>
            </a:r>
          </a:p>
          <a:p>
            <a:r>
              <a:t/>
            </a:r>
          </a:p>
          <a:p>
            <a:r>
              <a:t>Worked illustration / lecturer answer</a:t>
            </a:r>
          </a:p>
          <a:p>
            <a:r>
              <a:t>A useful explanation connects a decision to a named result and its limitation: for example, why a training-only median avoids using evaluation information. Describe supplied scenario figures as supplied, not as measurements the learner produced.</a:t>
            </a:r>
          </a:p>
          <a:p>
            <a:r>
              <a:t/>
            </a:r>
          </a:p>
          <a:p>
            <a:r>
              <a:t>Misconception to address</a:t>
            </a:r>
          </a:p>
          <a:p>
            <a:r>
              <a:t>Prompts and copied code comments do not substitute for the learner’s reasoning. Weekly work and tests use the notebook; projects also require their separate readable report.</a:t>
            </a:r>
          </a:p>
          <a:p>
            <a:r>
              <a:t/>
            </a:r>
          </a:p>
          <a:p>
            <a:r>
              <a:t>On this slide</a:t>
            </a:r>
          </a:p>
          <a:p>
            <a:r>
              <a:t>Write your own explanation in the markdown cell headed `## My written evidence`.</a:t>
            </a:r>
          </a:p>
          <a:p>
            <a:r>
              <a:t/>
            </a:r>
          </a:p>
          <a:p>
            <a:r>
              <a:t>Keep that heading.</a:t>
            </a:r>
          </a:p>
          <a:p>
            <a:r>
              <a:t/>
            </a:r>
          </a:p>
          <a:p>
            <a:r>
              <a:t>Task prompts and code comments are excluded from reasoning marks.</a:t>
            </a:r>
          </a:p>
          <a:p>
            <a:r>
              <a:t/>
            </a:r>
          </a:p>
          <a:p>
            <a:r>
              <a:t>Complete every original rubric criterion below, not just the checked functions.</a:t>
            </a:r>
          </a:p>
          <a:p>
            <a:r>
              <a:t/>
            </a:r>
          </a:p>
          <a:p>
            <a:r>
              <a:t>Continue to</a:t>
            </a:r>
          </a:p>
          <a:p>
            <a:r>
              <a:t>Data analysis project continued</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6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Data analysis project continued</a:t>
            </a:r>
          </a:p>
          <a:p>
            <a:r>
              <a:t>CML3111, Week 8, slide 62</a:t>
            </a:r>
          </a:p>
          <a:p>
            <a:r>
              <a:t/>
            </a:r>
          </a:p>
          <a:p>
            <a:r>
              <a:t>Explanation to give</a:t>
            </a:r>
          </a:p>
          <a:p>
            <a:r>
              <a:t>A chart must answer a stated question and show the actual data result. Explain what one mark represents and label both the quantity and unit before stating the finding.</a:t>
            </a:r>
          </a:p>
          <a:p>
            <a:r>
              <a:t/>
            </a:r>
          </a:p>
          <a:p>
            <a:r>
              <a:t>Worked illustration / lecturer answer</a:t>
            </a:r>
          </a:p>
          <a:p>
            <a:r>
              <a:t>A useful caption names the group or sample, the observed difference and the relevant unit. A limitation states what the plotted observations cannot establish, such as causation or performance at a new site.</a:t>
            </a:r>
          </a:p>
          <a:p>
            <a:r>
              <a:t/>
            </a:r>
          </a:p>
          <a:p>
            <a:r>
              <a:t>Misconception to address</a:t>
            </a:r>
          </a:p>
          <a:p>
            <a:r>
              <a:t>Text claiming “a chart was made” is not the required chart. Check the exact number and kinds required on this slide and in the assessment guide.</a:t>
            </a:r>
          </a:p>
          <a:p>
            <a:r>
              <a:t/>
            </a:r>
          </a:p>
          <a:p>
            <a:r>
              <a:t>On this slide</a:t>
            </a:r>
          </a:p>
          <a:p>
            <a:r>
              <a:t>Include profiling, justified cleaning, question-led charts and your engineering recommendation where required.</a:t>
            </a:r>
          </a:p>
          <a:p>
            <a:r>
              <a:t/>
            </a:r>
          </a:p>
          <a:p>
            <a:r>
              <a:t>Keep raw data.</a:t>
            </a:r>
          </a:p>
          <a:p>
            <a:r>
              <a:t/>
            </a:r>
          </a:p>
          <a:p>
            <a:r>
              <a:t>State units and distinguish correlation from causation.</a:t>
            </a:r>
          </a:p>
          <a:p>
            <a:r>
              <a:t/>
            </a:r>
          </a:p>
          <a:p>
            <a:r>
              <a:t>Charts must be actual labelled figures in the notebook, not claims that charts exist.</a:t>
            </a:r>
          </a:p>
          <a:p>
            <a:r>
              <a:t/>
            </a:r>
          </a:p>
          <a:p>
            <a:r>
              <a:t>Continue to</a:t>
            </a:r>
          </a:p>
          <a:p>
            <a:r>
              <a:t>Data analysis project continued</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6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Data analysis project continued</a:t>
            </a:r>
          </a:p>
          <a:p>
            <a:r>
              <a:t>CML3111, Week 8, slide 63</a:t>
            </a:r>
          </a:p>
          <a:p>
            <a:r>
              <a:t/>
            </a:r>
          </a:p>
          <a:p>
            <a:r>
              <a:t>Explanation to give</a:t>
            </a:r>
          </a:p>
          <a:p>
            <a:r>
              <a:t>Problem framing begins with a bounded engineering decision and a defined target. Provenance explains where observations came from; a licence states what reuse is allowed.</a:t>
            </a:r>
          </a:p>
          <a:p>
            <a:r>
              <a:t/>
            </a:r>
          </a:p>
          <a:p>
            <a:r>
              <a:t>Worked illustration / lecturer answer</a:t>
            </a:r>
          </a:p>
          <a:p>
            <a:r>
              <a:t>State the population, measurement period, units and who collected the data. Explain how those observations could answer the chosen question rather than merely describing an interesting file.</a:t>
            </a:r>
          </a:p>
          <a:p>
            <a:r>
              <a:t/>
            </a:r>
          </a:p>
          <a:p>
            <a:r>
              <a:t>Misconception to address</a:t>
            </a:r>
          </a:p>
          <a:p>
            <a:r>
              <a:t>Synthetic teaching data must be labelled as synthetic. A plausible story does not establish that a dataset contains the information or permissions the proposed project needs.</a:t>
            </a:r>
          </a:p>
          <a:p>
            <a:r>
              <a:t/>
            </a:r>
          </a:p>
          <a:p>
            <a:r>
              <a:t>On this slide</a:t>
            </a:r>
          </a:p>
          <a:p>
            <a:r>
              <a:t>Include captions and a separate readable DOCX/PDF report.</a:t>
            </a:r>
          </a:p>
          <a:p>
            <a:r>
              <a:t/>
            </a:r>
          </a:p>
          <a:p>
            <a:r>
              <a:t>Question &amp; dataset fit (20.0 total): A real engineering question is stated, and the chosen dataset can actually answer it.</a:t>
            </a:r>
          </a:p>
          <a:p>
            <a:r>
              <a:t/>
            </a:r>
          </a:p>
          <a:p>
            <a:r>
              <a:t>Provenance and licence stated.</a:t>
            </a:r>
          </a:p>
          <a:p>
            <a:r>
              <a:t/>
            </a:r>
          </a:p>
          <a:p>
            <a:r>
              <a:t>Data quality work (25.0 total): Defects found and handled with written justification.</a:t>
            </a:r>
          </a:p>
          <a:p>
            <a:r>
              <a:t/>
            </a:r>
          </a:p>
          <a:p>
            <a:r>
              <a:t>Continue to</a:t>
            </a:r>
          </a:p>
          <a:p>
            <a:r>
              <a:t>Data analysis project continued</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6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Data analysis project continued</a:t>
            </a:r>
          </a:p>
          <a:p>
            <a:r>
              <a:t>CML3111, Week 8, slide 64</a:t>
            </a:r>
          </a:p>
          <a:p>
            <a:r>
              <a:t/>
            </a:r>
          </a:p>
          <a:p>
            <a:r>
              <a:t>Explanation to give</a:t>
            </a:r>
          </a:p>
          <a:p>
            <a:r>
              <a:t>A chart must answer a stated question and show the actual data result. Explain what one mark represents and label both the quantity and unit before stating the finding.</a:t>
            </a:r>
          </a:p>
          <a:p>
            <a:r>
              <a:t/>
            </a:r>
          </a:p>
          <a:p>
            <a:r>
              <a:t>Worked illustration / lecturer answer</a:t>
            </a:r>
          </a:p>
          <a:p>
            <a:r>
              <a:t>A useful caption names the group or sample, the observed difference and the relevant unit. A limitation states what the plotted observations cannot establish, such as causation or performance at a new site.</a:t>
            </a:r>
          </a:p>
          <a:p>
            <a:r>
              <a:t/>
            </a:r>
          </a:p>
          <a:p>
            <a:r>
              <a:t>Misconception to address</a:t>
            </a:r>
          </a:p>
          <a:p>
            <a:r>
              <a:t>Text claiming “a chart was made” is not the required chart. Check the exact number and kinds required on this slide and in the assessment guide.</a:t>
            </a:r>
          </a:p>
          <a:p>
            <a:r>
              <a:t/>
            </a:r>
          </a:p>
          <a:p>
            <a:r>
              <a:t>On this slide</a:t>
            </a:r>
          </a:p>
          <a:p>
            <a:r>
              <a:t>A data quality statement is present.</a:t>
            </a:r>
          </a:p>
          <a:p>
            <a:r>
              <a:t/>
            </a:r>
          </a:p>
          <a:p>
            <a:r>
              <a:t>Analysis &amp; visualisation (30.0 total): Four or more charts, each answering a stated question.</a:t>
            </a:r>
          </a:p>
          <a:p>
            <a:r>
              <a:t/>
            </a:r>
          </a:p>
          <a:p>
            <a:r>
              <a:t>Correct chart types, labelled axes, findings in the captions.</a:t>
            </a:r>
          </a:p>
          <a:p>
            <a:r>
              <a:t/>
            </a:r>
          </a:p>
          <a:p>
            <a:r>
              <a:t>Findings &amp; interpretation (20.0 total): Conclusions supported by the analysis, stated in engineering terms, with limitations acknowledged.</a:t>
            </a:r>
          </a:p>
          <a:p>
            <a:r>
              <a:t/>
            </a:r>
          </a:p>
          <a:p>
            <a:r>
              <a:t>Continue to</a:t>
            </a:r>
          </a:p>
          <a:p>
            <a:r>
              <a:t>Data analysis project continued</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6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Data analysis project continued</a:t>
            </a:r>
          </a:p>
          <a:p>
            <a:r>
              <a:t>CML3111, Week 8, slide 65</a:t>
            </a:r>
          </a:p>
          <a:p>
            <a:r>
              <a:t/>
            </a:r>
          </a:p>
          <a:p>
            <a:r>
              <a:t>Explanation to give</a:t>
            </a:r>
          </a:p>
          <a:p>
            <a:r>
              <a:t>Make contribution evidence specific enough to check. A seed records the starting state of random choices; a contribution log records who produced and explained which work.</a:t>
            </a:r>
          </a:p>
          <a:p>
            <a:r>
              <a:t/>
            </a:r>
          </a:p>
          <a:p>
            <a:r>
              <a:t>Worked illustration / lecturer answer</a:t>
            </a:r>
          </a:p>
          <a:p>
            <a:r>
              <a:t>Name a file, function or chart and the decision behind it. Match that entry to meaningful repository history. Disclose AI assistance according to the assessment policy.</a:t>
            </a:r>
          </a:p>
          <a:p>
            <a:r>
              <a:t/>
            </a:r>
          </a:p>
          <a:p>
            <a:r>
              <a:t>Misconception to address</a:t>
            </a:r>
          </a:p>
          <a:p>
            <a:r>
              <a:t>Many commits do not necessarily mean substantial work, and a seed does not establish accuracy. Both are supporting evidence, not replacements for the analysis.</a:t>
            </a:r>
          </a:p>
          <a:p>
            <a:r>
              <a:t/>
            </a:r>
          </a:p>
          <a:p>
            <a:r>
              <a:t>On this slide</a:t>
            </a:r>
          </a:p>
          <a:p>
            <a:r>
              <a:t>Individual contribution log (5.0 total): Present, specific, and consistent with the repository's commit history.</a:t>
            </a:r>
          </a:p>
          <a:p>
            <a:r>
              <a:t/>
            </a:r>
          </a:p>
          <a:p>
            <a:r>
              <a:t>Continue to</a:t>
            </a:r>
          </a:p>
          <a:p>
            <a:r>
              <a:t>Data analysis project submission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6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Data analysis project submission</a:t>
            </a:r>
          </a:p>
          <a:p>
            <a:r>
              <a:t>CML3111, Week 8, slide 66</a:t>
            </a:r>
          </a:p>
          <a:p>
            <a:r>
              <a:t/>
            </a:r>
          </a:p>
          <a:p>
            <a:r>
              <a:t>Explanation to give</a:t>
            </a:r>
          </a:p>
          <a:p>
            <a:r>
              <a:t>This slide hands over CML3111 DA_PROJECT. Show the exact form title before uploading. The required packet is the completed project notebook together with one readable DOCX or selectable-text PDF report.</a:t>
            </a:r>
          </a:p>
          <a:p>
            <a:r>
              <a:t/>
            </a:r>
          </a:p>
          <a:p>
            <a:r>
              <a:t>Worked illustration / lecturer answer</a:t>
            </a:r>
          </a:p>
          <a:p>
            <a:r>
              <a:t>The recorded cutoff for this form is 2026-10-30T11:00:00+03:00. Check the live form for later changes. A replacement must contain the complete required file set, not just the changed file.</a:t>
            </a:r>
          </a:p>
          <a:p>
            <a:r>
              <a:t/>
            </a:r>
          </a:p>
          <a:p>
            <a:r>
              <a:t>Misconception to address</a:t>
            </a:r>
          </a:p>
          <a:p>
            <a:r>
              <a:t>Students enter their own Student Registration Number as required freeform text. They wait for filenames to appear, press Submit and keep the confirmation. A file saved in Drive or GitHub is not itself a form submission.</a:t>
            </a:r>
          </a:p>
          <a:p>
            <a:r>
              <a:t/>
            </a:r>
          </a:p>
          <a:p>
            <a:r>
              <a:t>On this slide</a:t>
            </a:r>
          </a:p>
          <a:p>
            <a:r>
              <a:t>Opens: 09 Oct 2026, 11:00 Kampala</a:t>
            </a:r>
          </a:p>
          <a:p>
            <a:r>
              <a:t/>
            </a:r>
          </a:p>
          <a:p>
            <a:r>
              <a:t>Deadline: 30 Oct 2026, 11:00 Kampala</a:t>
            </a:r>
          </a:p>
          <a:p>
            <a:r>
              <a:t/>
            </a:r>
          </a:p>
          <a:p>
            <a:r>
              <a:t>Use your full Student Registration Number in the form.</a:t>
            </a:r>
          </a:p>
          <a:p>
            <a:r>
              <a:t/>
            </a:r>
          </a:p>
          <a:p>
            <a:r>
              <a:t>Keep the submitted files and confirmation.</a:t>
            </a:r>
          </a:p>
          <a:p>
            <a:r>
              <a:t/>
            </a:r>
          </a:p>
          <a:p>
            <a:r>
              <a:t>Continue to</a:t>
            </a:r>
          </a:p>
          <a:p>
            <a:r>
              <a:t>Week 8 quiz</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6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Week 8 quiz</a:t>
            </a:r>
          </a:p>
          <a:p>
            <a:r>
              <a:t>CML3111, Week 8, slide 67</a:t>
            </a:r>
          </a:p>
          <a:p>
            <a:r>
              <a:t/>
            </a:r>
          </a:p>
          <a:p>
            <a:r>
              <a:t>Explanation to give</a:t>
            </a:r>
          </a:p>
          <a:p>
            <a:r>
              <a:t>This is the CML3111 Week 8 quiz. The student link opens the response form; it does not activate its window. In Quiz Controls use open_W8_CML3111 when ready and read the logged closing time.</a:t>
            </a:r>
          </a:p>
          <a:p>
            <a:r>
              <a:t/>
            </a:r>
          </a:p>
          <a:p>
            <a:r>
              <a:t>Worked illustration / lecturer answer</a:t>
            </a:r>
          </a:p>
          <a:p>
            <a:r>
              <a:t>Explain the distinction between the expected answering time and availability: five minutes of questions can still be available for 24 hours after activation. Enter the learner’s own Student Registration Number and use the registered Google account.</a:t>
            </a:r>
          </a:p>
          <a:p>
            <a:r>
              <a:t/>
            </a:r>
          </a:p>
          <a:p>
            <a:r>
              <a:t>Misconception to address</a:t>
            </a:r>
          </a:p>
          <a:p>
            <a:r>
              <a:t>Read the exact live cutoff before announcing it. Do not promise a new attempt to somebody who already submitted. Quiz catch-up and assignment uploads are separate forms.</a:t>
            </a:r>
          </a:p>
          <a:p>
            <a:r>
              <a:t/>
            </a:r>
          </a:p>
          <a:p>
            <a:r>
              <a:t>On this slide</a:t>
            </a:r>
          </a:p>
          <a:p>
            <a:r>
              <a:t>Answer individually after the lecturer activates the quiz.</a:t>
            </a:r>
          </a:p>
          <a:p>
            <a:r>
              <a:t/>
            </a:r>
          </a:p>
          <a:p>
            <a:r>
              <a:t>Available for 24 hours from activation.</a:t>
            </a:r>
          </a:p>
          <a:p>
            <a:r>
              <a:t/>
            </a:r>
          </a:p>
          <a:p>
            <a:r>
              <a:t>Use your Student Registration Number and registered account.</a:t>
            </a:r>
          </a:p>
          <a:p>
            <a:r>
              <a:t/>
            </a:r>
          </a:p>
          <a:p>
            <a:r>
              <a:t>Check the announced quiz closing time.</a:t>
            </a:r>
          </a:p>
          <a:p>
            <a:r>
              <a:t/>
            </a:r>
          </a:p>
          <a:p>
            <a:r>
              <a:t>Continue to</a:t>
            </a:r>
          </a:p>
          <a:p>
            <a:r>
              <a:t>Revision and submission checklist</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6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Revision and submission checklist</a:t>
            </a:r>
          </a:p>
          <a:p>
            <a:r>
              <a:t>CML3111, Week 8, slide 68</a:t>
            </a:r>
          </a:p>
          <a:p>
            <a:r>
              <a:t/>
            </a:r>
          </a:p>
          <a:p>
            <a:r>
              <a:t>Explanation to give</a:t>
            </a:r>
          </a:p>
          <a:p>
            <a:r>
              <a:t>Introduce a fitted predictor only after identifying its inputs and known answers. Compare it with a simple baseline and explain its errors in target units.</a:t>
            </a:r>
          </a:p>
          <a:p>
            <a:r>
              <a:t/>
            </a:r>
          </a:p>
          <a:p>
            <a:r>
              <a:t>Worked illustration / lecturer answer</a:t>
            </a:r>
          </a:p>
          <a:p>
            <a:r>
              <a:t>The teaching line through (1,12), (2,14), (3,16), (4,18) predicts 15 at input 2.5. One neat example does not establish real-world accuracy.</a:t>
            </a:r>
          </a:p>
          <a:p>
            <a:r>
              <a:t/>
            </a:r>
          </a:p>
          <a:p>
            <a:r>
              <a:t>Misconception to address</a:t>
            </a:r>
          </a:p>
          <a:p>
            <a:r>
              <a:t>Close by identifying the actual saved file and its correct submission route. Read the live deadline. For current weekly notebook tasks, students upload their own work, not the practice notebook, ZIP or grading files.</a:t>
            </a:r>
          </a:p>
          <a:p>
            <a:r>
              <a:t/>
            </a:r>
          </a:p>
          <a:p>
            <a:r>
              <a:t>On this slide</a:t>
            </a:r>
          </a:p>
          <a:p>
            <a:r>
              <a:t>You can calculate one error and explain why evaluation needs unseen observations.</a:t>
            </a:r>
          </a:p>
          <a:p>
            <a:r>
              <a:t/>
            </a:r>
          </a:p>
          <a:p>
            <a:r>
              <a:t>Save your work and check the required submission files.</a:t>
            </a:r>
          </a:p>
          <a:p>
            <a:r>
              <a:t/>
            </a:r>
          </a:p>
          <a:p>
            <a:r>
              <a:t>Continue to</a:t>
            </a:r>
          </a:p>
          <a:p>
            <a:r>
              <a:t>Optional revision video</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6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Optional revision video</a:t>
            </a:r>
          </a:p>
          <a:p>
            <a:r>
              <a:t>CML3111, Week 8, slide 69</a:t>
            </a:r>
          </a:p>
          <a:p>
            <a:r>
              <a:t/>
            </a:r>
          </a:p>
          <a:p>
            <a:r>
              <a:t>Explanation to give</a:t>
            </a:r>
          </a:p>
          <a:p>
            <a:r>
              <a:t>Give the viewing question before playing the excerpt: How can a fitted line turn an input into a numerical prediction?</a:t>
            </a:r>
          </a:p>
          <a:p>
            <a:r>
              <a:t/>
            </a:r>
          </a:p>
          <a:p>
            <a:r>
              <a:t>Worked illustration / lecturer answer</a:t>
            </a:r>
          </a:p>
          <a:p>
            <a:r>
              <a:t>Use the adjacent worked example as the explanation if the video cannot load. Pause after the relevant example and connect its terms to the names and units already used in this lesson. Preview the displayed link and excerpt before class.</a:t>
            </a:r>
          </a:p>
          <a:p>
            <a:r>
              <a:t/>
            </a:r>
          </a:p>
          <a:p>
            <a:r>
              <a:t>Misconception to address</a:t>
            </a:r>
          </a:p>
          <a:p>
            <a:r>
              <a:t>The video is supporting revision, not a replacement for defining the symbols or a requirement to watch a full tutorial during limited class time.</a:t>
            </a:r>
          </a:p>
          <a:p>
            <a:r>
              <a:t/>
            </a:r>
          </a:p>
          <a:p>
            <a:r>
              <a:t>On this slide</a:t>
            </a:r>
          </a:p>
          <a:p>
            <a:r>
              <a:t>For revision after class.</a:t>
            </a:r>
          </a:p>
          <a:p>
            <a:r>
              <a:t/>
            </a:r>
          </a:p>
          <a:p>
            <a:r>
              <a:t>StatQuest with Josh Starmer</a:t>
            </a:r>
          </a:p>
          <a:p>
            <a:r>
              <a:t>The Essence of Linear Regression!!!</a:t>
            </a:r>
          </a:p>
          <a:p>
            <a:r>
              <a:t/>
            </a:r>
          </a:p>
          <a:p>
            <a:r>
              <a:t>Opening up to 04:00, optional preview-selected excerpt</a:t>
            </a:r>
          </a:p>
          <a:p>
            <a:r>
              <a:t/>
            </a:r>
          </a:p>
          <a:p>
            <a:r>
              <a:t>Listening question: How can a fitted line turn an input into a numerical prediction?</a:t>
            </a:r>
          </a:p>
          <a:p>
            <a:r>
              <a:t/>
            </a:r>
          </a:p>
          <a:p>
            <a:r>
              <a:t>Reference / existing resource</a:t>
            </a:r>
          </a:p>
          <a:p>
            <a:r>
              <a:t>https://www.youtube.com/watch?v=aFDOzpTeg0s</a:t>
            </a:r>
          </a:p>
        </p:txBody>
      </p:sp>
      <p:sp>
        <p:nvSpPr>
          <p:cNvPr id="4" name="Slide Number Placeholder 3"/>
          <p:cNvSpPr>
            <a:spLocks noGrp="1"/>
          </p:cNvSpPr>
          <p:nvPr>
            <p:ph type="sldNum" idx="5"/>
          </p:nvPr>
        </p:nvSpPr>
        <p:spPr/>
        <p:txBody>
          <a:bodyPr/>
          <a:lstStyle/>
          <a:p/>
        </p:txBody>
      </p:sp>
    </p:spTree>
  </p:cSld>
  <p:clrMapOvr>
    <a:masterClrMapping/>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a3cafccacd424d32"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2276143fce7b4053"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5ef8e15b727e4027"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282b8e8efc5141dd"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f20b3c6b77b6457f"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e8e02f4a95ae4322"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22636CF2-89D3-46BD-81CA-D4E5FA751BF1}"/>
              </a:ext>
            </a:extLst>
          </p:cNvPr>
          <p:cNvSpPr>
            <a:spLocks xmlns:a="http://schemas.openxmlformats.org/drawingml/2006/main" noGrp="1"/>
          </p:cNvSpPr>
          <p:nvPr/>
        </p:nvSpPr>
        <p:spPr>
          <a:xfrm xmlns:a="http://schemas.openxmlformats.org/drawingml/2006/main">
            <a:off x="5791055" y="22098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F0B29E5B-4C25-4E91-B556-722A3BBFC673}"/>
              </a:ext>
            </a:extLst>
          </p:cNvPr>
          <p:cNvSpPr>
            <a:spLocks xmlns:a="http://schemas.openxmlformats.org/drawingml/2006/main" noGrp="1"/>
          </p:cNvSpPr>
          <p:nvPr>
            <p:ph type="title" idx="0"/>
          </p:nvPr>
        </p:nvSpPr>
        <p:spPr>
          <a:xfrm xmlns:a="http://schemas.openxmlformats.org/drawingml/2006/main">
            <a:off x="1219170" y="2590800"/>
            <a:ext cx="9753356"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Subtitle">
            <a:extLst xmlns:a="http://schemas.openxmlformats.org/drawingml/2006/main">
              <a:ext uri="{FF2B5EF4-FFF2-40B4-BE49-F238E27FC236}">
                <a16:creationId xmlns:a16="http://schemas.microsoft.com/office/drawing/2014/main" id="{110D9C27-4540-4587-A1C1-29AB8F51B3E4}"/>
              </a:ext>
            </a:extLst>
          </p:cNvPr>
          <p:cNvSpPr>
            <a:spLocks xmlns:a="http://schemas.openxmlformats.org/drawingml/2006/main" noGrp="1"/>
          </p:cNvSpPr>
          <p:nvPr>
            <p:ph type="subTitle" idx="1"/>
          </p:nvPr>
        </p:nvSpPr>
        <p:spPr>
          <a:xfrm xmlns:a="http://schemas.openxmlformats.org/drawingml/2006/main">
            <a:off x="1828754" y="3771900"/>
            <a:ext cx="8534187"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3" name="Accent rule">
            <a:extLst xmlns:a="http://schemas.openxmlformats.org/drawingml/2006/main">
              <a:ext uri="{FF2B5EF4-FFF2-40B4-BE49-F238E27FC236}">
                <a16:creationId xmlns:a16="http://schemas.microsoft.com/office/drawing/2014/main" id="{033834C6-F69C-4E33-92C7-7E86D6AD3906}"/>
              </a:ext>
            </a:extLst>
          </p:cNvPr>
          <p:cNvSpPr>
            <a:spLocks xmlns:a="http://schemas.openxmlformats.org/drawingml/2006/main" noGrp="1"/>
          </p:cNvSpPr>
          <p:nvPr/>
        </p:nvSpPr>
        <p:spPr>
          <a:xfrm xmlns:a="http://schemas.openxmlformats.org/drawingml/2006/main">
            <a:off x="5791055" y="24765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Section title">
            <a:extLst xmlns:a="http://schemas.openxmlformats.org/drawingml/2006/main">
              <a:ext uri="{FF2B5EF4-FFF2-40B4-BE49-F238E27FC236}">
                <a16:creationId xmlns:a16="http://schemas.microsoft.com/office/drawing/2014/main" id="{BCB0E05C-1FB9-40A5-A7C8-CEAFD210A6E8}"/>
              </a:ext>
            </a:extLst>
          </p:cNvPr>
          <p:cNvSpPr>
            <a:spLocks xmlns:a="http://schemas.openxmlformats.org/drawingml/2006/main" noGrp="1"/>
          </p:cNvSpPr>
          <p:nvPr>
            <p:ph type="title" idx="0"/>
          </p:nvPr>
        </p:nvSpPr>
        <p:spPr>
          <a:xfrm xmlns:a="http://schemas.openxmlformats.org/drawingml/2006/main">
            <a:off x="1219170" y="2857500"/>
            <a:ext cx="9753356"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271113F1-0E4D-4BAE-AF5D-E21E159C597E}"/>
              </a:ext>
            </a:extLst>
          </p:cNvPr>
          <p:cNvSpPr>
            <a:spLocks xmlns:a="http://schemas.openxmlformats.org/drawingml/2006/main" noGrp="1"/>
          </p:cNvSpPr>
          <p:nvPr/>
        </p:nvSpPr>
        <p:spPr>
          <a:xfrm xmlns:a="http://schemas.openxmlformats.org/drawingml/2006/main">
            <a:off x="685783" y="15240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FDFB7988-9A13-41BB-A09C-F4C0DA2BB533}"/>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Body">
            <a:extLst xmlns:a="http://schemas.openxmlformats.org/drawingml/2006/main">
              <a:ext uri="{FF2B5EF4-FFF2-40B4-BE49-F238E27FC236}">
                <a16:creationId xmlns:a16="http://schemas.microsoft.com/office/drawing/2014/main" id="{599B3DB5-D8A0-41E0-BC0F-B8A4E20CFEA7}"/>
              </a:ext>
            </a:extLst>
          </p:cNvPr>
          <p:cNvSpPr>
            <a:spLocks xmlns:a="http://schemas.openxmlformats.org/drawingml/2006/main" noGrp="1"/>
          </p:cNvSpPr>
          <p:nvPr>
            <p:ph type="body" idx="1"/>
          </p:nvPr>
        </p:nvSpPr>
        <p:spPr>
          <a:xfrm xmlns:a="http://schemas.openxmlformats.org/drawingml/2006/main">
            <a:off x="685783" y="1905000"/>
            <a:ext cx="10820129"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5" name="Accent rule">
            <a:extLst xmlns:a="http://schemas.openxmlformats.org/drawingml/2006/main">
              <a:ext uri="{FF2B5EF4-FFF2-40B4-BE49-F238E27FC236}">
                <a16:creationId xmlns:a16="http://schemas.microsoft.com/office/drawing/2014/main" id="{9FE4E974-141F-4D66-BBEA-8456E104D99B}"/>
              </a:ext>
            </a:extLst>
          </p:cNvPr>
          <p:cNvSpPr>
            <a:spLocks xmlns:a="http://schemas.openxmlformats.org/drawingml/2006/main" noGrp="1"/>
          </p:cNvSpPr>
          <p:nvPr/>
        </p:nvSpPr>
        <p:spPr>
          <a:xfrm xmlns:a="http://schemas.openxmlformats.org/drawingml/2006/main">
            <a:off x="685783" y="15240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A49FA187-FD8B-4CB2-84BA-C0CE2B22DD4B}"/>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Left column">
            <a:extLst xmlns:a="http://schemas.openxmlformats.org/drawingml/2006/main">
              <a:ext uri="{FF2B5EF4-FFF2-40B4-BE49-F238E27FC236}">
                <a16:creationId xmlns:a16="http://schemas.microsoft.com/office/drawing/2014/main" id="{6FB73400-ECCF-4560-BEC2-D9763428FBA2}"/>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
        <p:nvSpPr>
          <p:cNvPr id="4" name="Right column">
            <a:extLst xmlns:a="http://schemas.openxmlformats.org/drawingml/2006/main">
              <a:ext uri="{FF2B5EF4-FFF2-40B4-BE49-F238E27FC236}">
                <a16:creationId xmlns:a16="http://schemas.microsoft.com/office/drawing/2014/main" id="{AD8FD072-9F9E-45EB-8418-CBEC5F34C05F}"/>
              </a:ext>
            </a:extLst>
          </p:cNvPr>
          <p:cNvSpPr>
            <a:spLocks xmlns:a="http://schemas.openxmlformats.org/drawingml/2006/main" noGrp="1"/>
          </p:cNvSpPr>
          <p:nvPr>
            <p:ph type="body" idx="2"/>
          </p:nvPr>
        </p:nvSpPr>
        <p:spPr>
          <a:xfrm xmlns:a="http://schemas.openxmlformats.org/drawingml/2006/main">
            <a:off x="6476838"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A8ACA57A-3F6E-4C97-8688-A5FF552BC94E}"/>
              </a:ext>
            </a:extLst>
          </p:cNvPr>
          <p:cNvSpPr>
            <a:spLocks xmlns:a="http://schemas.openxmlformats.org/drawingml/2006/main" noGrp="1"/>
          </p:cNvSpPr>
          <p:nvPr/>
        </p:nvSpPr>
        <p:spPr>
          <a:xfrm xmlns:a="http://schemas.openxmlformats.org/drawingml/2006/main">
            <a:off x="685783" y="15240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AD7D7595-8D2A-42B9-8B1C-268EB9158D5C}"/>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Left column">
            <a:extLst xmlns:a="http://schemas.openxmlformats.org/drawingml/2006/main">
              <a:ext uri="{FF2B5EF4-FFF2-40B4-BE49-F238E27FC236}">
                <a16:creationId xmlns:a16="http://schemas.microsoft.com/office/drawing/2014/main" id="{8827DDDE-A2E0-4310-91ED-B1B8ABA69797}"/>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7da84e6020f14efc" /><Relationship Type="http://schemas.openxmlformats.org/officeDocument/2006/relationships/slideLayout" Target="/ppt/slideLayouts/slideLayout1.xml" Id="R64994c1d850f44e6" /><Relationship Type="http://schemas.openxmlformats.org/officeDocument/2006/relationships/slideLayout" Target="/ppt/slideLayouts/slideLayout2.xml" Id="R0aeb626bd2fd4452" /><Relationship Type="http://schemas.openxmlformats.org/officeDocument/2006/relationships/slideLayout" Target="/ppt/slideLayouts/slideLayout3.xml" Id="Rcb1cfea8a42e4de7" /><Relationship Type="http://schemas.openxmlformats.org/officeDocument/2006/relationships/slideLayout" Target="/ppt/slideLayouts/slideLayout4.xml" Id="R275a74ac18d34fbd" /><Relationship Type="http://schemas.openxmlformats.org/officeDocument/2006/relationships/slideLayout" Target="/ppt/slideLayouts/slideLayout5.xml" Id="R4e845964bfb94b34" /><Relationship Type="http://schemas.openxmlformats.org/officeDocument/2006/relationships/slideLayout" Target="/ppt/slideLayouts/slideLayout6.xml" Id="R5f67edac92084f08"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64994c1d850f44e6"/>
    <p:sldLayoutId xmlns:r="http://schemas.openxmlformats.org/officeDocument/2006/relationships" id="2147483650" r:id="R0aeb626bd2fd4452"/>
    <p:sldLayoutId xmlns:r="http://schemas.openxmlformats.org/officeDocument/2006/relationships" id="2147483651" r:id="Rcb1cfea8a42e4de7"/>
    <p:sldLayoutId xmlns:r="http://schemas.openxmlformats.org/officeDocument/2006/relationships" id="2147483652" r:id="R275a74ac18d34fbd"/>
    <p:sldLayoutId xmlns:r="http://schemas.openxmlformats.org/officeDocument/2006/relationships" id="2147483653" r:id="R4e845964bfb94b34"/>
    <p:sldLayoutId xmlns:r="http://schemas.openxmlformats.org/officeDocument/2006/relationships" id="2147483654" r:id="R5f67edac92084f08"/>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14779ee31c3440fb" /><Relationship Type="http://schemas.openxmlformats.org/officeDocument/2006/relationships/image" Target="/ppt/media/image.png" Id="R3f23d0042e434bf6" /><Relationship Type="http://schemas.openxmlformats.org/officeDocument/2006/relationships/notesSlide" Target="/ppt/notesSlides/notesSlide1.xml" Id="Rd1d8bf2f2004471d"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bd0cd9461cf14494" /><Relationship Type="http://schemas.openxmlformats.org/officeDocument/2006/relationships/notesSlide" Target="/ppt/notesSlides/notesSlide2.xml" Id="Rbd2116113040406c"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eae3a6276fab405e" /><Relationship Type="http://schemas.openxmlformats.org/officeDocument/2006/relationships/notesSlide" Target="/ppt/notesSlides/notesSlide3.xml" Id="R002b07575b5f4772"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29281189abe44197" /><Relationship Type="http://schemas.openxmlformats.org/officeDocument/2006/relationships/notesSlide" Target="/ppt/notesSlides/notesSlide4.xml" Id="R8e1cc5fc62da40d3"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d782bfd29bd44fc9" /><Relationship Type="http://schemas.openxmlformats.org/officeDocument/2006/relationships/notesSlide" Target="/ppt/notesSlides/notesSlide5.xml" Id="R8e8fcccfc623441c"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07405081f8f44562" /><Relationship Type="http://schemas.openxmlformats.org/officeDocument/2006/relationships/notesSlide" Target="/ppt/notesSlides/notesSlide6.xml" Id="Re3ed114bcea64c4d"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e544fea2f4db4a59" /><Relationship Type="http://schemas.openxmlformats.org/officeDocument/2006/relationships/notesSlide" Target="/ppt/notesSlides/notesSlide7.xml" Id="R9a0ebef58a214c1b"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8baf85176bbb418f" /><Relationship Type="http://schemas.openxmlformats.org/officeDocument/2006/relationships/notesSlide" Target="/ppt/notesSlides/notesSlide8.xml" Id="R1d5709f1361c45a2"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920cc98006954867" /><Relationship Type="http://schemas.openxmlformats.org/officeDocument/2006/relationships/notesSlide" Target="/ppt/notesSlides/notesSlide9.xml" Id="Rc36f77a4a20e4651"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1019a616088e42d1" /><Relationship Type="http://schemas.openxmlformats.org/officeDocument/2006/relationships/notesSlide" Target="/ppt/notesSlides/notesSlide10.xml" Id="Rce893263025f460e"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6b84af3a99d34750" /><Relationship Type="http://schemas.openxmlformats.org/officeDocument/2006/relationships/notesSlide" Target="/ppt/notesSlides/notesSlide11.xml" Id="R4855c5d42fae40e7"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1650423923b94430" /><Relationship Type="http://schemas.openxmlformats.org/officeDocument/2006/relationships/image" Target="/ppt/media/image2.png" Id="R8d944ce6c0c0492f" /><Relationship Type="http://schemas.openxmlformats.org/officeDocument/2006/relationships/notesSlide" Target="/ppt/notesSlides/notesSlide12.xml" Id="Rbac1fd20423f4f02"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3eb403a73e9243b6" /><Relationship Type="http://schemas.openxmlformats.org/officeDocument/2006/relationships/notesSlide" Target="/ppt/notesSlides/notesSlide13.xml" Id="R5544d8ea12a04413"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bd326e179dc040c8" /><Relationship Type="http://schemas.openxmlformats.org/officeDocument/2006/relationships/notesSlide" Target="/ppt/notesSlides/notesSlide14.xml" Id="R108cc8956b0545d2"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625fd0af431249ec" /><Relationship Type="http://schemas.openxmlformats.org/officeDocument/2006/relationships/notesSlide" Target="/ppt/notesSlides/notesSlide15.xml" Id="R6bac181cdc5b40ff"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00e9272974b240a7" /><Relationship Type="http://schemas.openxmlformats.org/officeDocument/2006/relationships/notesSlide" Target="/ppt/notesSlides/notesSlide16.xml" Id="R20c237780fd9481a"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765ea3f4b2014145" /><Relationship Type="http://schemas.openxmlformats.org/officeDocument/2006/relationships/notesSlide" Target="/ppt/notesSlides/notesSlide17.xml" Id="R7f0e33335b6e4a05"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43d87ac4e83d4ba4" /><Relationship Type="http://schemas.openxmlformats.org/officeDocument/2006/relationships/notesSlide" Target="/ppt/notesSlides/notesSlide18.xml" Id="Rd6e2c4e6e8ef416b"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ceb2d092ead54196" /><Relationship Type="http://schemas.openxmlformats.org/officeDocument/2006/relationships/notesSlide" Target="/ppt/notesSlides/notesSlide19.xml" Id="Rf2e48e9e443c4643"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7bf1944eca664c45" /><Relationship Type="http://schemas.openxmlformats.org/officeDocument/2006/relationships/notesSlide" Target="/ppt/notesSlides/notesSlide20.xml" Id="R9b5741b3e3d949b5"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8681f5042b354b8c" /><Relationship Type="http://schemas.openxmlformats.org/officeDocument/2006/relationships/notesSlide" Target="/ppt/notesSlides/notesSlide21.xml" Id="R546382888c4a4289"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91cffdab6c1345ab" /><Relationship Type="http://schemas.openxmlformats.org/officeDocument/2006/relationships/notesSlide" Target="/ppt/notesSlides/notesSlide22.xml" Id="R649ea48e938d4749"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cc0c67b49b454e7a" /><Relationship Type="http://schemas.openxmlformats.org/officeDocument/2006/relationships/notesSlide" Target="/ppt/notesSlides/notesSlide23.xml" Id="Rfd042baf3d1a4449"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f8446f5b4b144a3c" /><Relationship Type="http://schemas.openxmlformats.org/officeDocument/2006/relationships/notesSlide" Target="/ppt/notesSlides/notesSlide24.xml" Id="R07b0519618654de1" /></Relationships>
</file>

<file path=ppt/slides/_rels/slide25.xml.rels>&#65279;<?xml version="1.0" encoding="utf-8"?><Relationships xmlns="http://schemas.openxmlformats.org/package/2006/relationships"><Relationship Type="http://schemas.openxmlformats.org/officeDocument/2006/relationships/slideLayout" Target="/ppt/slideLayouts/slideLayout6.xml" Id="Re7898a4ed6a644f9" /><Relationship Type="http://schemas.openxmlformats.org/officeDocument/2006/relationships/notesSlide" Target="/ppt/notesSlides/notesSlide25.xml" Id="R44071e2214e249e7" /></Relationships>
</file>

<file path=ppt/slides/_rels/slide26.xml.rels>&#65279;<?xml version="1.0" encoding="utf-8"?><Relationships xmlns="http://schemas.openxmlformats.org/package/2006/relationships"><Relationship Type="http://schemas.openxmlformats.org/officeDocument/2006/relationships/slideLayout" Target="/ppt/slideLayouts/slideLayout6.xml" Id="R901ddd8a0d1a4480" /><Relationship Type="http://schemas.openxmlformats.org/officeDocument/2006/relationships/notesSlide" Target="/ppt/notesSlides/notesSlide26.xml" Id="R4bcee3f295c141a4" /></Relationships>
</file>

<file path=ppt/slides/_rels/slide27.xml.rels>&#65279;<?xml version="1.0" encoding="utf-8"?><Relationships xmlns="http://schemas.openxmlformats.org/package/2006/relationships"><Relationship Type="http://schemas.openxmlformats.org/officeDocument/2006/relationships/slideLayout" Target="/ppt/slideLayouts/slideLayout6.xml" Id="R318c9f2d32a34d0e" /><Relationship Type="http://schemas.openxmlformats.org/officeDocument/2006/relationships/notesSlide" Target="/ppt/notesSlides/notesSlide27.xml" Id="Rbb97dcba532c4aee" /></Relationships>
</file>

<file path=ppt/slides/_rels/slide28.xml.rels>&#65279;<?xml version="1.0" encoding="utf-8"?><Relationships xmlns="http://schemas.openxmlformats.org/package/2006/relationships"><Relationship Type="http://schemas.openxmlformats.org/officeDocument/2006/relationships/slideLayout" Target="/ppt/slideLayouts/slideLayout6.xml" Id="Rcac8f569bc2e47d6" /><Relationship Type="http://schemas.openxmlformats.org/officeDocument/2006/relationships/notesSlide" Target="/ppt/notesSlides/notesSlide28.xml" Id="Rae031b6025164d9c" /></Relationships>
</file>

<file path=ppt/slides/_rels/slide29.xml.rels>&#65279;<?xml version="1.0" encoding="utf-8"?><Relationships xmlns="http://schemas.openxmlformats.org/package/2006/relationships"><Relationship Type="http://schemas.openxmlformats.org/officeDocument/2006/relationships/slideLayout" Target="/ppt/slideLayouts/slideLayout6.xml" Id="Rc817b0470d7a463c" /><Relationship Type="http://schemas.openxmlformats.org/officeDocument/2006/relationships/notesSlide" Target="/ppt/notesSlides/notesSlide29.xml" Id="Rdb6dc700d4a4409b" /></Relationships>
</file>

<file path=ppt/slides/_rels/slide30.xml.rels>&#65279;<?xml version="1.0" encoding="utf-8"?><Relationships xmlns="http://schemas.openxmlformats.org/package/2006/relationships"><Relationship Type="http://schemas.openxmlformats.org/officeDocument/2006/relationships/slideLayout" Target="/ppt/slideLayouts/slideLayout6.xml" Id="Rb30bff8f1a294441" /><Relationship Type="http://schemas.openxmlformats.org/officeDocument/2006/relationships/notesSlide" Target="/ppt/notesSlides/notesSlide30.xml" Id="Reba4386756bd4184" /></Relationships>
</file>

<file path=ppt/slides/_rels/slide31.xml.rels>&#65279;<?xml version="1.0" encoding="utf-8"?><Relationships xmlns="http://schemas.openxmlformats.org/package/2006/relationships"><Relationship Type="http://schemas.openxmlformats.org/officeDocument/2006/relationships/slideLayout" Target="/ppt/slideLayouts/slideLayout6.xml" Id="Re0d0b07b76744ebd" /><Relationship Type="http://schemas.openxmlformats.org/officeDocument/2006/relationships/notesSlide" Target="/ppt/notesSlides/notesSlide31.xml" Id="Rd1b274ea64974a70" /></Relationships>
</file>

<file path=ppt/slides/_rels/slide32.xml.rels>&#65279;<?xml version="1.0" encoding="utf-8"?><Relationships xmlns="http://schemas.openxmlformats.org/package/2006/relationships"><Relationship Type="http://schemas.openxmlformats.org/officeDocument/2006/relationships/slideLayout" Target="/ppt/slideLayouts/slideLayout6.xml" Id="R953d6c8c345e44a6" /><Relationship Type="http://schemas.openxmlformats.org/officeDocument/2006/relationships/notesSlide" Target="/ppt/notesSlides/notesSlide32.xml" Id="Rbdcd32ef9e484920" /></Relationships>
</file>

<file path=ppt/slides/_rels/slide33.xml.rels>&#65279;<?xml version="1.0" encoding="utf-8"?><Relationships xmlns="http://schemas.openxmlformats.org/package/2006/relationships"><Relationship Type="http://schemas.openxmlformats.org/officeDocument/2006/relationships/slideLayout" Target="/ppt/slideLayouts/slideLayout6.xml" Id="Rfb34315aeeca4df2" /><Relationship Type="http://schemas.openxmlformats.org/officeDocument/2006/relationships/notesSlide" Target="/ppt/notesSlides/notesSlide33.xml" Id="R890cc10da43c48df" /></Relationships>
</file>

<file path=ppt/slides/_rels/slide34.xml.rels>&#65279;<?xml version="1.0" encoding="utf-8"?><Relationships xmlns="http://schemas.openxmlformats.org/package/2006/relationships"><Relationship Type="http://schemas.openxmlformats.org/officeDocument/2006/relationships/slideLayout" Target="/ppt/slideLayouts/slideLayout6.xml" Id="R347dd3341ebe4688" /><Relationship Type="http://schemas.openxmlformats.org/officeDocument/2006/relationships/notesSlide" Target="/ppt/notesSlides/notesSlide34.xml" Id="Ra63b8a49d60c4a55" /></Relationships>
</file>

<file path=ppt/slides/_rels/slide35.xml.rels>&#65279;<?xml version="1.0" encoding="utf-8"?><Relationships xmlns="http://schemas.openxmlformats.org/package/2006/relationships"><Relationship Type="http://schemas.openxmlformats.org/officeDocument/2006/relationships/slideLayout" Target="/ppt/slideLayouts/slideLayout6.xml" Id="R7b6a9356e8a4457d" /><Relationship Type="http://schemas.openxmlformats.org/officeDocument/2006/relationships/notesSlide" Target="/ppt/notesSlides/notesSlide35.xml" Id="R49fd1a6ef9f0470c" /></Relationships>
</file>

<file path=ppt/slides/_rels/slide36.xml.rels>&#65279;<?xml version="1.0" encoding="utf-8"?><Relationships xmlns="http://schemas.openxmlformats.org/package/2006/relationships"><Relationship Type="http://schemas.openxmlformats.org/officeDocument/2006/relationships/slideLayout" Target="/ppt/slideLayouts/slideLayout6.xml" Id="R910d68e77d7e4dda" /><Relationship Type="http://schemas.openxmlformats.org/officeDocument/2006/relationships/notesSlide" Target="/ppt/notesSlides/notesSlide36.xml" Id="R306c4cbc16014d19" /></Relationships>
</file>

<file path=ppt/slides/_rels/slide37.xml.rels>&#65279;<?xml version="1.0" encoding="utf-8"?><Relationships xmlns="http://schemas.openxmlformats.org/package/2006/relationships"><Relationship Type="http://schemas.openxmlformats.org/officeDocument/2006/relationships/slideLayout" Target="/ppt/slideLayouts/slideLayout6.xml" Id="R7c1245629334463f" /><Relationship Type="http://schemas.openxmlformats.org/officeDocument/2006/relationships/notesSlide" Target="/ppt/notesSlides/notesSlide37.xml" Id="Ree51c0215ddf4814" /></Relationships>
</file>

<file path=ppt/slides/_rels/slide38.xml.rels>&#65279;<?xml version="1.0" encoding="utf-8"?><Relationships xmlns="http://schemas.openxmlformats.org/package/2006/relationships"><Relationship Type="http://schemas.openxmlformats.org/officeDocument/2006/relationships/slideLayout" Target="/ppt/slideLayouts/slideLayout6.xml" Id="Re0b8c812fcdc4e94" /><Relationship Type="http://schemas.openxmlformats.org/officeDocument/2006/relationships/notesSlide" Target="/ppt/notesSlides/notesSlide38.xml" Id="R726e80f30cfb4379" /></Relationships>
</file>

<file path=ppt/slides/_rels/slide39.xml.rels>&#65279;<?xml version="1.0" encoding="utf-8"?><Relationships xmlns="http://schemas.openxmlformats.org/package/2006/relationships"><Relationship Type="http://schemas.openxmlformats.org/officeDocument/2006/relationships/slideLayout" Target="/ppt/slideLayouts/slideLayout6.xml" Id="R816acedbe9c7421e" /><Relationship Type="http://schemas.openxmlformats.org/officeDocument/2006/relationships/notesSlide" Target="/ppt/notesSlides/notesSlide39.xml" Id="R9e34117fa3284d0a" /></Relationships>
</file>

<file path=ppt/slides/_rels/slide40.xml.rels>&#65279;<?xml version="1.0" encoding="utf-8"?><Relationships xmlns="http://schemas.openxmlformats.org/package/2006/relationships"><Relationship Type="http://schemas.openxmlformats.org/officeDocument/2006/relationships/slideLayout" Target="/ppt/slideLayouts/slideLayout6.xml" Id="R40a64b4a4e4046af" /><Relationship Type="http://schemas.openxmlformats.org/officeDocument/2006/relationships/notesSlide" Target="/ppt/notesSlides/notesSlide40.xml" Id="R897b989cf0234cb1" /></Relationships>
</file>

<file path=ppt/slides/_rels/slide41.xml.rels>&#65279;<?xml version="1.0" encoding="utf-8"?><Relationships xmlns="http://schemas.openxmlformats.org/package/2006/relationships"><Relationship Type="http://schemas.openxmlformats.org/officeDocument/2006/relationships/slideLayout" Target="/ppt/slideLayouts/slideLayout6.xml" Id="R1a0951e0f2ac4b4c" /><Relationship Type="http://schemas.openxmlformats.org/officeDocument/2006/relationships/notesSlide" Target="/ppt/notesSlides/notesSlide41.xml" Id="R74d17e8f73c747d8" /></Relationships>
</file>

<file path=ppt/slides/_rels/slide42.xml.rels>&#65279;<?xml version="1.0" encoding="utf-8"?><Relationships xmlns="http://schemas.openxmlformats.org/package/2006/relationships"><Relationship Type="http://schemas.openxmlformats.org/officeDocument/2006/relationships/slideLayout" Target="/ppt/slideLayouts/slideLayout6.xml" Id="Ra7a38d4a2b4d49f1" /><Relationship Type="http://schemas.openxmlformats.org/officeDocument/2006/relationships/notesSlide" Target="/ppt/notesSlides/notesSlide42.xml" Id="R34d137b83f464896" /></Relationships>
</file>

<file path=ppt/slides/_rels/slide43.xml.rels>&#65279;<?xml version="1.0" encoding="utf-8"?><Relationships xmlns="http://schemas.openxmlformats.org/package/2006/relationships"><Relationship Type="http://schemas.openxmlformats.org/officeDocument/2006/relationships/slideLayout" Target="/ppt/slideLayouts/slideLayout6.xml" Id="R3d356aea6ba649c5" /><Relationship Type="http://schemas.openxmlformats.org/officeDocument/2006/relationships/notesSlide" Target="/ppt/notesSlides/notesSlide43.xml" Id="R9a33fdb37dfe4c87" /></Relationships>
</file>

<file path=ppt/slides/_rels/slide44.xml.rels>&#65279;<?xml version="1.0" encoding="utf-8"?><Relationships xmlns="http://schemas.openxmlformats.org/package/2006/relationships"><Relationship Type="http://schemas.openxmlformats.org/officeDocument/2006/relationships/slideLayout" Target="/ppt/slideLayouts/slideLayout6.xml" Id="R2d1b8dda3a954458" /><Relationship Type="http://schemas.openxmlformats.org/officeDocument/2006/relationships/notesSlide" Target="/ppt/notesSlides/notesSlide44.xml" Id="R5ea5f36679af4b5d" /></Relationships>
</file>

<file path=ppt/slides/_rels/slide45.xml.rels>&#65279;<?xml version="1.0" encoding="utf-8"?><Relationships xmlns="http://schemas.openxmlformats.org/package/2006/relationships"><Relationship Type="http://schemas.openxmlformats.org/officeDocument/2006/relationships/slideLayout" Target="/ppt/slideLayouts/slideLayout6.xml" Id="Rba7bd9363151496d" /><Relationship Type="http://schemas.openxmlformats.org/officeDocument/2006/relationships/notesSlide" Target="/ppt/notesSlides/notesSlide45.xml" Id="Rb8ccdd701cb94ab2" /></Relationships>
</file>

<file path=ppt/slides/_rels/slide46.xml.rels>&#65279;<?xml version="1.0" encoding="utf-8"?><Relationships xmlns="http://schemas.openxmlformats.org/package/2006/relationships"><Relationship Type="http://schemas.openxmlformats.org/officeDocument/2006/relationships/slideLayout" Target="/ppt/slideLayouts/slideLayout6.xml" Id="Rb303b06c1876431c" /><Relationship Type="http://schemas.openxmlformats.org/officeDocument/2006/relationships/notesSlide" Target="/ppt/notesSlides/notesSlide46.xml" Id="R17d36a43d6854942" /></Relationships>
</file>

<file path=ppt/slides/_rels/slide47.xml.rels>&#65279;<?xml version="1.0" encoding="utf-8"?><Relationships xmlns="http://schemas.openxmlformats.org/package/2006/relationships"><Relationship Type="http://schemas.openxmlformats.org/officeDocument/2006/relationships/slideLayout" Target="/ppt/slideLayouts/slideLayout6.xml" Id="R725b8c93d9f94af2" /><Relationship Type="http://schemas.openxmlformats.org/officeDocument/2006/relationships/notesSlide" Target="/ppt/notesSlides/notesSlide47.xml" Id="Refca445db256424c" /></Relationships>
</file>

<file path=ppt/slides/_rels/slide48.xml.rels>&#65279;<?xml version="1.0" encoding="utf-8"?><Relationships xmlns="http://schemas.openxmlformats.org/package/2006/relationships"><Relationship Type="http://schemas.openxmlformats.org/officeDocument/2006/relationships/slideLayout" Target="/ppt/slideLayouts/slideLayout6.xml" Id="R2413605a744d4de7" /><Relationship Type="http://schemas.openxmlformats.org/officeDocument/2006/relationships/notesSlide" Target="/ppt/notesSlides/notesSlide48.xml" Id="Rac04d14ca8ec4054" /></Relationships>
</file>

<file path=ppt/slides/_rels/slide49.xml.rels>&#65279;<?xml version="1.0" encoding="utf-8"?><Relationships xmlns="http://schemas.openxmlformats.org/package/2006/relationships"><Relationship Type="http://schemas.openxmlformats.org/officeDocument/2006/relationships/slideLayout" Target="/ppt/slideLayouts/slideLayout6.xml" Id="R921eff26be794b03" /><Relationship Type="http://schemas.openxmlformats.org/officeDocument/2006/relationships/notesSlide" Target="/ppt/notesSlides/notesSlide49.xml" Id="R6920a00bb47f4a4c" /></Relationships>
</file>

<file path=ppt/slides/_rels/slide50.xml.rels>&#65279;<?xml version="1.0" encoding="utf-8"?><Relationships xmlns="http://schemas.openxmlformats.org/package/2006/relationships"><Relationship Type="http://schemas.openxmlformats.org/officeDocument/2006/relationships/slideLayout" Target="/ppt/slideLayouts/slideLayout6.xml" Id="Re25217a4e43c44b7" /><Relationship Type="http://schemas.openxmlformats.org/officeDocument/2006/relationships/notesSlide" Target="/ppt/notesSlides/notesSlide50.xml" Id="R0be94193048c4169" /></Relationships>
</file>

<file path=ppt/slides/_rels/slide51.xml.rels>&#65279;<?xml version="1.0" encoding="utf-8"?><Relationships xmlns="http://schemas.openxmlformats.org/package/2006/relationships"><Relationship Type="http://schemas.openxmlformats.org/officeDocument/2006/relationships/slideLayout" Target="/ppt/slideLayouts/slideLayout6.xml" Id="R41c30a5d214e4a52" /><Relationship Type="http://schemas.openxmlformats.org/officeDocument/2006/relationships/notesSlide" Target="/ppt/notesSlides/notesSlide51.xml" Id="R1e619d13333a42f9" /></Relationships>
</file>

<file path=ppt/slides/_rels/slide52.xml.rels>&#65279;<?xml version="1.0" encoding="utf-8"?><Relationships xmlns="http://schemas.openxmlformats.org/package/2006/relationships"><Relationship Type="http://schemas.openxmlformats.org/officeDocument/2006/relationships/slideLayout" Target="/ppt/slideLayouts/slideLayout6.xml" Id="R5a926630b7624ef4" /><Relationship Type="http://schemas.openxmlformats.org/officeDocument/2006/relationships/notesSlide" Target="/ppt/notesSlides/notesSlide52.xml" Id="R88b9eea820f749d0" /></Relationships>
</file>

<file path=ppt/slides/_rels/slide53.xml.rels>&#65279;<?xml version="1.0" encoding="utf-8"?><Relationships xmlns="http://schemas.openxmlformats.org/package/2006/relationships"><Relationship Type="http://schemas.openxmlformats.org/officeDocument/2006/relationships/slideLayout" Target="/ppt/slideLayouts/slideLayout6.xml" Id="R26119875c7b94295" /><Relationship Type="http://schemas.openxmlformats.org/officeDocument/2006/relationships/notesSlide" Target="/ppt/notesSlides/notesSlide53.xml" Id="Ra1cfdc91501f4032" /></Relationships>
</file>

<file path=ppt/slides/_rels/slide54.xml.rels>&#65279;<?xml version="1.0" encoding="utf-8"?><Relationships xmlns="http://schemas.openxmlformats.org/package/2006/relationships"><Relationship Type="http://schemas.openxmlformats.org/officeDocument/2006/relationships/slideLayout" Target="/ppt/slideLayouts/slideLayout6.xml" Id="Rb4c7a94aa7114b10" /><Relationship Type="http://schemas.openxmlformats.org/officeDocument/2006/relationships/notesSlide" Target="/ppt/notesSlides/notesSlide54.xml" Id="Rb7d0cf19eaf74d57" /></Relationships>
</file>

<file path=ppt/slides/_rels/slide55.xml.rels>&#65279;<?xml version="1.0" encoding="utf-8"?><Relationships xmlns="http://schemas.openxmlformats.org/package/2006/relationships"><Relationship Type="http://schemas.openxmlformats.org/officeDocument/2006/relationships/slideLayout" Target="/ppt/slideLayouts/slideLayout6.xml" Id="R336b472d98314e12" /><Relationship Type="http://schemas.openxmlformats.org/officeDocument/2006/relationships/notesSlide" Target="/ppt/notesSlides/notesSlide55.xml" Id="Rfa2d645c47e042b5" /></Relationships>
</file>

<file path=ppt/slides/_rels/slide56.xml.rels>&#65279;<?xml version="1.0" encoding="utf-8"?><Relationships xmlns="http://schemas.openxmlformats.org/package/2006/relationships"><Relationship Type="http://schemas.openxmlformats.org/officeDocument/2006/relationships/slideLayout" Target="/ppt/slideLayouts/slideLayout6.xml" Id="R00022de6176d4278" /><Relationship Type="http://schemas.openxmlformats.org/officeDocument/2006/relationships/notesSlide" Target="/ppt/notesSlides/notesSlide56.xml" Id="R94ef77f6d75f40be" /></Relationships>
</file>

<file path=ppt/slides/_rels/slide57.xml.rels>&#65279;<?xml version="1.0" encoding="utf-8"?><Relationships xmlns="http://schemas.openxmlformats.org/package/2006/relationships"><Relationship Type="http://schemas.openxmlformats.org/officeDocument/2006/relationships/slideLayout" Target="/ppt/slideLayouts/slideLayout6.xml" Id="R73594079a7004419" /><Relationship Type="http://schemas.openxmlformats.org/officeDocument/2006/relationships/notesSlide" Target="/ppt/notesSlides/notesSlide57.xml" Id="R0db128a106924f6b" /></Relationships>
</file>

<file path=ppt/slides/_rels/slide58.xml.rels>&#65279;<?xml version="1.0" encoding="utf-8"?><Relationships xmlns="http://schemas.openxmlformats.org/package/2006/relationships"><Relationship Type="http://schemas.openxmlformats.org/officeDocument/2006/relationships/slideLayout" Target="/ppt/slideLayouts/slideLayout6.xml" Id="R3f542f1367dd49a9" /><Relationship Type="http://schemas.openxmlformats.org/officeDocument/2006/relationships/notesSlide" Target="/ppt/notesSlides/notesSlide58.xml" Id="R42f518395ae34237" /></Relationships>
</file>

<file path=ppt/slides/_rels/slide59.xml.rels>&#65279;<?xml version="1.0" encoding="utf-8"?><Relationships xmlns="http://schemas.openxmlformats.org/package/2006/relationships"><Relationship Type="http://schemas.openxmlformats.org/officeDocument/2006/relationships/slideLayout" Target="/ppt/slideLayouts/slideLayout6.xml" Id="R34da2b98f32d4af8" /><Relationship Type="http://schemas.openxmlformats.org/officeDocument/2006/relationships/notesSlide" Target="/ppt/notesSlides/notesSlide59.xml" Id="R701562d589f94d8d" /></Relationships>
</file>

<file path=ppt/slides/_rels/slide60.xml.rels>&#65279;<?xml version="1.0" encoding="utf-8"?><Relationships xmlns="http://schemas.openxmlformats.org/package/2006/relationships"><Relationship Type="http://schemas.openxmlformats.org/officeDocument/2006/relationships/slideLayout" Target="/ppt/slideLayouts/slideLayout6.xml" Id="R0d6fb8e776484e58" /><Relationship Type="http://schemas.openxmlformats.org/officeDocument/2006/relationships/hyperlink" Target="https://docs.google.com/forms/d/e/1FAIpQLSeAVNyokX8n-TQXwu2hQtJJkeKsQcU8katFAhghZmQH4HJreA/viewform" TargetMode="External" Id="Rbf30e917bfe64485" /><Relationship Type="http://schemas.openxmlformats.org/officeDocument/2006/relationships/notesSlide" Target="/ppt/notesSlides/notesSlide60.xml" Id="R43bc3674ef9f42e5" /></Relationships>
</file>

<file path=ppt/slides/_rels/slide61.xml.rels>&#65279;<?xml version="1.0" encoding="utf-8"?><Relationships xmlns="http://schemas.openxmlformats.org/package/2006/relationships"><Relationship Type="http://schemas.openxmlformats.org/officeDocument/2006/relationships/slideLayout" Target="/ppt/slideLayouts/slideLayout6.xml" Id="Rc4a73315a61248c8" /><Relationship Type="http://schemas.openxmlformats.org/officeDocument/2006/relationships/notesSlide" Target="/ppt/notesSlides/notesSlide61.xml" Id="R452ec14534ce416d" /></Relationships>
</file>

<file path=ppt/slides/_rels/slide62.xml.rels>&#65279;<?xml version="1.0" encoding="utf-8"?><Relationships xmlns="http://schemas.openxmlformats.org/package/2006/relationships"><Relationship Type="http://schemas.openxmlformats.org/officeDocument/2006/relationships/slideLayout" Target="/ppt/slideLayouts/slideLayout6.xml" Id="R7fb91349ea454b82" /><Relationship Type="http://schemas.openxmlformats.org/officeDocument/2006/relationships/notesSlide" Target="/ppt/notesSlides/notesSlide62.xml" Id="Rc116c0d897eb4de9" /></Relationships>
</file>

<file path=ppt/slides/_rels/slide63.xml.rels>&#65279;<?xml version="1.0" encoding="utf-8"?><Relationships xmlns="http://schemas.openxmlformats.org/package/2006/relationships"><Relationship Type="http://schemas.openxmlformats.org/officeDocument/2006/relationships/slideLayout" Target="/ppt/slideLayouts/slideLayout6.xml" Id="Rfeeb59180c7e42c0" /><Relationship Type="http://schemas.openxmlformats.org/officeDocument/2006/relationships/notesSlide" Target="/ppt/notesSlides/notesSlide63.xml" Id="R9e1f85591e884c20" /></Relationships>
</file>

<file path=ppt/slides/_rels/slide64.xml.rels>&#65279;<?xml version="1.0" encoding="utf-8"?><Relationships xmlns="http://schemas.openxmlformats.org/package/2006/relationships"><Relationship Type="http://schemas.openxmlformats.org/officeDocument/2006/relationships/slideLayout" Target="/ppt/slideLayouts/slideLayout6.xml" Id="R28a88fa089f345b4" /><Relationship Type="http://schemas.openxmlformats.org/officeDocument/2006/relationships/notesSlide" Target="/ppt/notesSlides/notesSlide64.xml" Id="R40b106d3ddca4328" /></Relationships>
</file>

<file path=ppt/slides/_rels/slide65.xml.rels>&#65279;<?xml version="1.0" encoding="utf-8"?><Relationships xmlns="http://schemas.openxmlformats.org/package/2006/relationships"><Relationship Type="http://schemas.openxmlformats.org/officeDocument/2006/relationships/slideLayout" Target="/ppt/slideLayouts/slideLayout6.xml" Id="R94f0cbe4788d4848" /><Relationship Type="http://schemas.openxmlformats.org/officeDocument/2006/relationships/notesSlide" Target="/ppt/notesSlides/notesSlide65.xml" Id="R9128aa229a0b47b0" /></Relationships>
</file>

<file path=ppt/slides/_rels/slide66.xml.rels>&#65279;<?xml version="1.0" encoding="utf-8"?><Relationships xmlns="http://schemas.openxmlformats.org/package/2006/relationships"><Relationship Type="http://schemas.openxmlformats.org/officeDocument/2006/relationships/slideLayout" Target="/ppt/slideLayouts/slideLayout6.xml" Id="R95d49670f6874fc5" /><Relationship Type="http://schemas.openxmlformats.org/officeDocument/2006/relationships/hyperlink" Target="https://docs.google.com/forms/d/e/1FAIpQLSeFHqKnsIRNf8opU-Iksp55kGXQVFWPgL97r724FoRwvkz-6A/viewform" TargetMode="External" Id="Rbfa18bd3c74e4bac" /><Relationship Type="http://schemas.openxmlformats.org/officeDocument/2006/relationships/notesSlide" Target="/ppt/notesSlides/notesSlide66.xml" Id="R582a496c94664fbb" /></Relationships>
</file>

<file path=ppt/slides/_rels/slide67.xml.rels>&#65279;<?xml version="1.0" encoding="utf-8"?><Relationships xmlns="http://schemas.openxmlformats.org/package/2006/relationships"><Relationship Type="http://schemas.openxmlformats.org/officeDocument/2006/relationships/slideLayout" Target="/ppt/slideLayouts/slideLayout6.xml" Id="R849d17f956b845ff" /><Relationship Type="http://schemas.openxmlformats.org/officeDocument/2006/relationships/image" Target="/ppt/media/image3.png" Id="R4db61498323f48fc" /><Relationship Type="http://schemas.openxmlformats.org/officeDocument/2006/relationships/hyperlink" Target="https://forms.gle/KsZJ7QANUE99kkX36" TargetMode="External" Id="Rc0faf924c26d4652" /><Relationship Type="http://schemas.openxmlformats.org/officeDocument/2006/relationships/notesSlide" Target="/ppt/notesSlides/notesSlide67.xml" Id="Rb9967e4fb2794dce" /></Relationships>
</file>

<file path=ppt/slides/_rels/slide68.xml.rels>&#65279;<?xml version="1.0" encoding="utf-8"?><Relationships xmlns="http://schemas.openxmlformats.org/package/2006/relationships"><Relationship Type="http://schemas.openxmlformats.org/officeDocument/2006/relationships/slideLayout" Target="/ppt/slideLayouts/slideLayout6.xml" Id="R59bdbdc1be8f4a39" /><Relationship Type="http://schemas.openxmlformats.org/officeDocument/2006/relationships/notesSlide" Target="/ppt/notesSlides/notesSlide68.xml" Id="Raf73bbd3e49c43aa" /></Relationships>
</file>

<file path=ppt/slides/_rels/slide69.xml.rels>&#65279;<?xml version="1.0" encoding="utf-8"?><Relationships xmlns="http://schemas.openxmlformats.org/package/2006/relationships"><Relationship Type="http://schemas.openxmlformats.org/officeDocument/2006/relationships/slideLayout" Target="/ppt/slideLayouts/slideLayout6.xml" Id="R5ae451a423d2428b" /><Relationship Type="http://schemas.openxmlformats.org/officeDocument/2006/relationships/hyperlink" Target="https://www.youtube.com/watch?v=aFDOzpTeg0s" TargetMode="External" Id="Rea1cd16fbcf34852" /><Relationship Type="http://schemas.openxmlformats.org/officeDocument/2006/relationships/notesSlide" Target="/ppt/notesSlides/notesSlide69.xml" Id="R203c4a0429154f5d"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7" name=""/>
          <p:cNvPicPr>
            <a:picLocks xmlns:a="http://schemas.openxmlformats.org/drawingml/2006/main" noChangeAspect="1"/>
          </p:cNvPicPr>
          <p:nvPr/>
        </p:nvPicPr>
        <p:blipFill>
          <a:blip xmlns:r="http://schemas.openxmlformats.org/officeDocument/2006/relationships" xmlns:a="http://schemas.openxmlformats.org/drawingml/2006/main" r:embed="R3f23d0042e434bf6"/>
          <a:stretch xmlns:a="http://schemas.openxmlformats.org/drawingml/2006/main"/>
        </p:blipFill>
        <p:spPr>
          <a:xfrm xmlns:a="http://schemas.openxmlformats.org/drawingml/2006/main">
            <a:off x="3087" y="0"/>
            <a:ext cx="12185522"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1D0F4486-5322-4BC0-96FC-6B95E7068C08}"/>
              </a:ext>
            </a:extLst>
          </p:cNvPr>
          <p:cNvSpPr>
            <a:spLocks xmlns:a="http://schemas.openxmlformats.org/drawingml/2006/main" noGrp="1"/>
          </p:cNvSpPr>
          <p:nvPr/>
        </p:nvSpPr>
        <p:spPr>
          <a:xfrm xmlns:a="http://schemas.openxmlformats.org/drawingml/2006/main">
            <a:off x="0" y="0"/>
            <a:ext cx="5381625" cy="68580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00B6B6A2-1847-4BAE-AD74-0EEA91A790BA}"/>
              </a:ext>
            </a:extLst>
          </p:cNvPr>
          <p:cNvSpPr>
            <a:spLocks xmlns:a="http://schemas.openxmlformats.org/drawingml/2006/main" noGrp="1"/>
          </p:cNvSpPr>
          <p:nvPr/>
        </p:nvSpPr>
        <p:spPr>
          <a:xfrm xmlns:a="http://schemas.openxmlformats.org/drawingml/2006/main">
            <a:off x="552450" y="685800"/>
            <a:ext cx="4762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CML3111   WEEK 8</a:t>
            </a:r>
          </a:p>
        </p:txBody>
      </p:sp>
      <p:sp>
        <p:nvSpPr>
          <p:cNvPr id="4" name="">
            <a:extLst xmlns:a="http://schemas.openxmlformats.org/drawingml/2006/main">
              <a:ext uri="{FF2B5EF4-FFF2-40B4-BE49-F238E27FC236}">
                <a16:creationId xmlns:a16="http://schemas.microsoft.com/office/drawing/2014/main" id="{8BDD1BC7-E1A0-449D-821E-56285A26106F}"/>
              </a:ext>
            </a:extLst>
          </p:cNvPr>
          <p:cNvSpPr>
            <a:spLocks xmlns:a="http://schemas.openxmlformats.org/drawingml/2006/main" noGrp="1"/>
          </p:cNvSpPr>
          <p:nvPr/>
        </p:nvSpPr>
        <p:spPr>
          <a:xfrm xmlns:a="http://schemas.openxmlformats.org/drawingml/2006/main">
            <a:off x="552450" y="1619250"/>
            <a:ext cx="4619625" cy="2333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825" b="1">
                <a:solidFill>
                  <a:srgbClr val="FFFFFF"/>
                </a:solidFill>
                <a:latin typeface="Calibri"/>
                <a:ea typeface="Calibri"/>
                <a:cs typeface="Calibri"/>
              </a:defRPr>
            </a:pPr>
            <a:r>
              <a:rPr sz="3825" b="1">
                <a:solidFill>
                  <a:srgbClr val="FFFFFF"/>
                </a:solidFill>
                <a:latin typeface="Calibri"/>
                <a:ea typeface="Calibri"/>
                <a:cs typeface="Calibri"/>
              </a:rPr>
              <a:t>A first prediction model</a:t>
            </a:r>
          </a:p>
        </p:txBody>
      </p:sp>
      <p:sp>
        <p:nvSpPr>
          <p:cNvPr id="5" name="">
            <a:extLst xmlns:a="http://schemas.openxmlformats.org/drawingml/2006/main">
              <a:ext uri="{FF2B5EF4-FFF2-40B4-BE49-F238E27FC236}">
                <a16:creationId xmlns:a16="http://schemas.microsoft.com/office/drawing/2014/main" id="{3936336B-E37A-47B9-8004-2DB5FEF97B1F}"/>
              </a:ext>
            </a:extLst>
          </p:cNvPr>
          <p:cNvSpPr>
            <a:spLocks xmlns:a="http://schemas.openxmlformats.org/drawingml/2006/main" noGrp="1"/>
          </p:cNvSpPr>
          <p:nvPr/>
        </p:nvSpPr>
        <p:spPr>
          <a:xfrm xmlns:a="http://schemas.openxmlformats.org/drawingml/2006/main">
            <a:off x="552450" y="4048125"/>
            <a:ext cx="4619625"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D8E3EC"/>
                </a:solidFill>
                <a:latin typeface="Calibri"/>
                <a:ea typeface="Calibri"/>
                <a:cs typeface="Calibri"/>
              </a:defRPr>
            </a:pPr>
            <a:r>
              <a:rPr sz="2100" b="0">
                <a:solidFill>
                  <a:srgbClr val="D8E3EC"/>
                </a:solidFill>
                <a:latin typeface="Calibri"/>
                <a:ea typeface="Calibri"/>
                <a:cs typeface="Calibri"/>
              </a:rPr>
              <a:t>Communications, Electrical, Mechatronics and Robotics Engineering</a:t>
            </a:r>
          </a:p>
        </p:txBody>
      </p:sp>
      <p:sp>
        <p:nvSpPr>
          <p:cNvPr id="6" name="">
            <a:extLst xmlns:a="http://schemas.openxmlformats.org/drawingml/2006/main">
              <a:ext uri="{FF2B5EF4-FFF2-40B4-BE49-F238E27FC236}">
                <a16:creationId xmlns:a16="http://schemas.microsoft.com/office/drawing/2014/main" id="{2B3CD905-24CD-449A-9E51-B26EED2B9D8E}"/>
              </a:ext>
            </a:extLst>
          </p:cNvPr>
          <p:cNvSpPr>
            <a:spLocks xmlns:a="http://schemas.openxmlformats.org/drawingml/2006/main" noGrp="1"/>
          </p:cNvSpPr>
          <p:nvPr/>
        </p:nvSpPr>
        <p:spPr>
          <a:xfrm xmlns:a="http://schemas.openxmlformats.org/drawingml/2006/main">
            <a:off x="552450" y="5467350"/>
            <a:ext cx="46672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Friday 30 October 2026</a:t>
            </a:r>
          </a:p>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Friday 11:00–14:00, Room 115</a:t>
            </a:r>
          </a:p>
        </p:txBody>
      </p:sp>
    </p:spTree>
    <p:extLst>
      <p:ext uri="{BB962C8B-B14F-4D97-AF65-F5344CB8AC3E}">
        <p14:creationId xmlns:p14="http://schemas.microsoft.com/office/powerpoint/2010/main" val="1477430910"/>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0176CE26-AE52-418A-A322-457D69FE210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C7E8FA1-90F8-41A9-A8AC-F20175BF803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TODAY’S DESTINATION</a:t>
            </a:r>
          </a:p>
        </p:txBody>
      </p:sp>
      <p:sp>
        <p:nvSpPr>
          <p:cNvPr id="3" name="">
            <a:extLst xmlns:a="http://schemas.openxmlformats.org/drawingml/2006/main">
              <a:ext uri="{FF2B5EF4-FFF2-40B4-BE49-F238E27FC236}">
                <a16:creationId xmlns:a16="http://schemas.microsoft.com/office/drawing/2014/main" id="{1DBB347C-4F0D-49AB-A723-F40D090184D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Today’s learning</a:t>
            </a:r>
          </a:p>
        </p:txBody>
      </p:sp>
      <p:sp>
        <p:nvSpPr>
          <p:cNvPr id="4" name="">
            <a:extLst xmlns:a="http://schemas.openxmlformats.org/drawingml/2006/main">
              <a:ext uri="{FF2B5EF4-FFF2-40B4-BE49-F238E27FC236}">
                <a16:creationId xmlns:a16="http://schemas.microsoft.com/office/drawing/2014/main" id="{82174B98-1461-4827-B244-B779B29BBE06}"/>
              </a:ext>
            </a:extLst>
          </p:cNvPr>
          <p:cNvSpPr>
            <a:spLocks xmlns:a="http://schemas.openxmlformats.org/drawingml/2006/main" noGrp="1"/>
          </p:cNvSpPr>
          <p:nvPr/>
        </p:nvSpPr>
        <p:spPr>
          <a:xfrm xmlns:a="http://schemas.openxmlformats.org/drawingml/2006/main">
            <a:off x="590550" y="1733550"/>
            <a:ext cx="523875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E855D77-8275-4DB1-9B68-32FC3663EDCF}"/>
              </a:ext>
            </a:extLst>
          </p:cNvPr>
          <p:cNvSpPr>
            <a:spLocks xmlns:a="http://schemas.openxmlformats.org/drawingml/2006/main" noGrp="1"/>
          </p:cNvSpPr>
          <p:nvPr/>
        </p:nvSpPr>
        <p:spPr>
          <a:xfrm xmlns:a="http://schemas.openxmlformats.org/drawingml/2006/main">
            <a:off x="828675" y="2000250"/>
            <a:ext cx="4743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E4572E"/>
                </a:solidFill>
                <a:latin typeface="Calibri"/>
                <a:ea typeface="Calibri"/>
                <a:cs typeface="Calibri"/>
              </a:defRPr>
            </a:pPr>
            <a:r>
              <a:rPr sz="1650" b="1">
                <a:solidFill>
                  <a:srgbClr val="E4572E"/>
                </a:solidFill>
                <a:latin typeface="Calibri"/>
                <a:ea typeface="Calibri"/>
                <a:cs typeface="Calibri"/>
              </a:rPr>
              <a:t>WHAT WE WILL DO</a:t>
            </a:r>
          </a:p>
        </p:txBody>
      </p:sp>
      <p:sp>
        <p:nvSpPr>
          <p:cNvPr id="6" name="">
            <a:extLst xmlns:a="http://schemas.openxmlformats.org/drawingml/2006/main">
              <a:ext uri="{FF2B5EF4-FFF2-40B4-BE49-F238E27FC236}">
                <a16:creationId xmlns:a16="http://schemas.microsoft.com/office/drawing/2014/main" id="{3AA47C13-078B-4F5F-BA30-16D935C75D62}"/>
              </a:ext>
            </a:extLst>
          </p:cNvPr>
          <p:cNvSpPr>
            <a:spLocks xmlns:a="http://schemas.openxmlformats.org/drawingml/2006/main" noGrp="1"/>
          </p:cNvSpPr>
          <p:nvPr/>
        </p:nvSpPr>
        <p:spPr>
          <a:xfrm xmlns:a="http://schemas.openxmlformats.org/drawingml/2006/main">
            <a:off x="828675" y="2590800"/>
            <a:ext cx="4743450"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Identify prediction inputs and a measured target.</a:t>
            </a:r>
          </a:p>
          <a:p xmlns:a="http://schemas.openxmlformats.org/drawingml/2006/main">
            <a: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Fit a simple model and compare prediction errors.</a:t>
            </a:r>
          </a:p>
        </p:txBody>
      </p:sp>
      <p:sp>
        <p:nvSpPr>
          <p:cNvPr id="7" name="">
            <a:extLst xmlns:a="http://schemas.openxmlformats.org/drawingml/2006/main">
              <a:ext uri="{FF2B5EF4-FFF2-40B4-BE49-F238E27FC236}">
                <a16:creationId xmlns:a16="http://schemas.microsoft.com/office/drawing/2014/main" id="{76557CB1-87A1-4705-BE8E-A8F81EBC2751}"/>
              </a:ext>
            </a:extLst>
          </p:cNvPr>
          <p:cNvSpPr>
            <a:spLocks xmlns:a="http://schemas.openxmlformats.org/drawingml/2006/main" noGrp="1"/>
          </p:cNvSpPr>
          <p:nvPr/>
        </p:nvSpPr>
        <p:spPr>
          <a:xfrm xmlns:a="http://schemas.openxmlformats.org/drawingml/2006/main">
            <a:off x="6210300" y="2000250"/>
            <a:ext cx="5143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2E7D6F"/>
                </a:solidFill>
                <a:latin typeface="Calibri"/>
                <a:ea typeface="Calibri"/>
                <a:cs typeface="Calibri"/>
              </a:defRPr>
            </a:pPr>
            <a:r>
              <a:rPr sz="1650" b="1">
                <a:solidFill>
                  <a:srgbClr val="2E7D6F"/>
                </a:solidFill>
                <a:latin typeface="Calibri"/>
                <a:ea typeface="Calibri"/>
                <a:cs typeface="Calibri"/>
              </a:rPr>
              <a:t>HOW YOU WILL SHOW IT</a:t>
            </a:r>
          </a:p>
        </p:txBody>
      </p:sp>
      <p:sp>
        <p:nvSpPr>
          <p:cNvPr id="8" name="">
            <a:extLst xmlns:a="http://schemas.openxmlformats.org/drawingml/2006/main">
              <a:ext uri="{FF2B5EF4-FFF2-40B4-BE49-F238E27FC236}">
                <a16:creationId xmlns:a16="http://schemas.microsoft.com/office/drawing/2014/main" id="{58C8873D-5FE8-45D5-92A7-07FF980281A2}"/>
              </a:ext>
            </a:extLst>
          </p:cNvPr>
          <p:cNvSpPr>
            <a:spLocks xmlns:a="http://schemas.openxmlformats.org/drawingml/2006/main" noGrp="1"/>
          </p:cNvSpPr>
          <p:nvPr/>
        </p:nvSpPr>
        <p:spPr>
          <a:xfrm xmlns:a="http://schemas.openxmlformats.org/drawingml/2006/main">
            <a:off x="6210300" y="2590800"/>
            <a:ext cx="5095875"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You can calculate one error and explain why evaluation needs unseen observations.</a:t>
            </a:r>
          </a:p>
        </p:txBody>
      </p:sp>
      <p:sp>
        <p:nvSpPr>
          <p:cNvPr id="9" name="">
            <a:extLst xmlns:a="http://schemas.openxmlformats.org/drawingml/2006/main">
              <a:ext uri="{FF2B5EF4-FFF2-40B4-BE49-F238E27FC236}">
                <a16:creationId xmlns:a16="http://schemas.microsoft.com/office/drawing/2014/main" id="{9F26AEA5-3AA3-4803-9717-02CE67E5A70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2</a:t>
            </a:r>
          </a:p>
        </p:txBody>
      </p:sp>
    </p:spTree>
    <p:extLst>
      <p:ext uri="{BB962C8B-B14F-4D97-AF65-F5344CB8AC3E}">
        <p14:creationId xmlns:p14="http://schemas.microsoft.com/office/powerpoint/2010/main" val="315928632"/>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E1CA6BA7-2931-4717-B4AF-59DB9B5533D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D8C527A-8971-4B8A-83E5-90D612EB80C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AC64B193-1F72-4A8D-BD8A-04A5B43B787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Connection to the previous lesson</a:t>
            </a:r>
          </a:p>
        </p:txBody>
      </p:sp>
      <p:sp>
        <p:nvSpPr>
          <p:cNvPr id="4" name="">
            <a:extLst xmlns:a="http://schemas.openxmlformats.org/drawingml/2006/main">
              <a:ext uri="{FF2B5EF4-FFF2-40B4-BE49-F238E27FC236}">
                <a16:creationId xmlns:a16="http://schemas.microsoft.com/office/drawing/2014/main" id="{F412DA9A-66E4-47AC-88DD-EAC898B6CE8E}"/>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D60798B-C647-44DB-AB1F-A521715890A3}"/>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Weeks 3–6 supplied Python, tables, cleaning and charts.</a:t>
            </a:r>
          </a:p>
        </p:txBody>
      </p:sp>
      <p:sp>
        <p:nvSpPr>
          <p:cNvPr id="6" name="">
            <a:extLst xmlns:a="http://schemas.openxmlformats.org/drawingml/2006/main">
              <a:ext uri="{FF2B5EF4-FFF2-40B4-BE49-F238E27FC236}">
                <a16:creationId xmlns:a16="http://schemas.microsoft.com/office/drawing/2014/main" id="{C7356CCD-186E-439C-931E-45B476AA2932}"/>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We now use paired inputs and known answers to fit a prediction rule.</a:t>
            </a:r>
          </a:p>
        </p:txBody>
      </p:sp>
      <p:sp>
        <p:nvSpPr>
          <p:cNvPr id="7" name="">
            <a:extLst xmlns:a="http://schemas.openxmlformats.org/drawingml/2006/main">
              <a:ext uri="{FF2B5EF4-FFF2-40B4-BE49-F238E27FC236}">
                <a16:creationId xmlns:a16="http://schemas.microsoft.com/office/drawing/2014/main" id="{3BBEDC37-B966-465F-A13E-171D26B5EF4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3</a:t>
            </a:r>
          </a:p>
        </p:txBody>
      </p:sp>
    </p:spTree>
    <p:extLst>
      <p:ext uri="{BB962C8B-B14F-4D97-AF65-F5344CB8AC3E}">
        <p14:creationId xmlns:p14="http://schemas.microsoft.com/office/powerpoint/2010/main" val="1840572548"/>
      </p:ext>
    </p:extLst>
  </p:cSld>
</p:sld>
</file>

<file path=ppt/slides/slide4.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8" name="">
            <a:extLst>
              <a:ext uri="{FF2B5EF4-FFF2-40B4-BE49-F238E27FC236}">
                <ns2:creationId id="{3BC293BC-E5FA-4DC2-931B-44E46D7838BE}"/>
              </a:ext>
            </a:extLst>
          </p:cNvPr>
          <p:cNvSpPr>
            <a:spLocks noGrp="1"/>
          </p:cNvSpPr>
          <p:nvPr/>
        </p:nvSpPr>
        <p:spPr>
          <a:xfrm>
            <a:off x="0" y="0"/>
            <a:ext cx="12191695" cy="1390650"/>
          </a:xfrm>
          <a:prstGeom prst="rect">
            <a:avLst/>
          </a:prstGeom>
          <a:solidFill>
            <a:srgbClr val="1C3144"/>
          </a:solidFill>
          <a:ln w="0">
            <a:noFill/>
          </a:ln>
        </p:spPr>
      </p:sp>
      <p:sp>
        <p:nvSpPr>
          <p:cNvPr id="2" name="">
            <a:extLst>
              <a:ext uri="{FF2B5EF4-FFF2-40B4-BE49-F238E27FC236}">
                <ns2:creationId id="{70358A6C-F199-411D-96B2-35769CC5A5A8}"/>
              </a:ext>
            </a:extLst>
          </p:cNvPr>
          <p:cNvSpPr>
            <a:spLocks noGrp="1"/>
          </p:cNvSpPr>
          <p:nvPr/>
        </p:nvSpPr>
        <p:spPr>
          <a:xfrm>
            <a:off x="590550" y="180975"/>
            <a:ext cx="11049000" cy="285750"/>
          </a:xfrm>
          <a:prstGeom prst="rect">
            <a:avLst/>
          </a:prstGeom>
          <a:noFill/>
          <a:ln w="0">
            <a:noFill/>
          </a:ln>
        </p:spPr>
        <p:txBody>
          <a:bodyPr>
            <a:noAutofit/>
          </a:bodyPr>
          <a:lstStyle/>
          <a:p>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a:ext uri="{FF2B5EF4-FFF2-40B4-BE49-F238E27FC236}">
                <ns2:creationId id="{2F9E4153-112C-451B-B0FE-937D6958A4A2}"/>
              </a:ext>
            </a:extLst>
          </p:cNvPr>
          <p:cNvSpPr>
            <a:spLocks noGrp="1"/>
          </p:cNvSpPr>
          <p:nvPr/>
        </p:nvSpPr>
        <p:spPr>
          <a:xfrm>
            <a:off x="590550" y="523875"/>
            <a:ext cx="11049000" cy="809625"/>
          </a:xfrm>
          <a:prstGeom prst="rect">
            <a:avLst/>
          </a:prstGeom>
          <a:noFill/>
          <a:ln w="0">
            <a:noFill/>
          </a:ln>
        </p:spPr>
        <p:txBody>
          <a:bodyPr>
            <a:noAutofit/>
          </a:bodyPr>
          <a:lstStyle/>
          <a:p>
            <a:pPr>
              <a:defRPr sz="3150" b="1">
                <a:solidFill>
                  <a:srgbClr val="FFFFFF"/>
                </a:solidFill>
                <a:latin typeface="Calibri"/>
                <a:ea typeface="Calibri"/>
                <a:cs typeface="Calibri"/>
              </a:defRPr>
            </a:pPr>
            <a:r>
              <a:rPr sz="3150" b="1">
                <a:solidFill>
                  <a:srgbClr val="FFFFFF"/>
                </a:solidFill>
                <a:latin typeface="Calibri"/>
                <a:ea typeface="Calibri"/>
                <a:cs typeface="Calibri"/>
              </a:rPr>
              <a:t>Why this week’s tools are needed</a:t>
            </a:r>
          </a:p>
        </p:txBody>
      </p:sp>
      <p:sp>
        <p:nvSpPr>
          <p:cNvPr id="4" name="">
            <a:extLst>
              <a:ext uri="{FF2B5EF4-FFF2-40B4-BE49-F238E27FC236}">
                <ns2:creationId id="{5110F797-7B1D-4E04-BEAE-B5F2A8CE19F2}"/>
              </a:ext>
            </a:extLst>
          </p:cNvPr>
          <p:cNvSpPr>
            <a:spLocks noGrp="1"/>
          </p:cNvSpPr>
          <p:nvPr/>
        </p:nvSpPr>
        <p:spPr>
          <a:xfrm>
            <a:off x="590550" y="1752600"/>
            <a:ext cx="4476750" cy="4200525"/>
          </a:xfrm>
          <a:prstGeom prst="rect">
            <a:avLst/>
          </a:prstGeom>
          <a:solidFill>
            <a:srgbClr val="2E7D6F"/>
          </a:solidFill>
          <a:ln w="0">
            <a:noFill/>
          </a:ln>
        </p:spPr>
      </p:sp>
      <p:sp>
        <p:nvSpPr>
          <p:cNvPr id="5" name="">
            <a:extLst>
              <a:ext uri="{FF2B5EF4-FFF2-40B4-BE49-F238E27FC236}">
                <ns2:creationId id="{B9B1798A-F901-413D-94C1-3B29068B6CA3}"/>
              </a:ext>
            </a:extLst>
          </p:cNvPr>
          <p:cNvSpPr>
            <a:spLocks noGrp="1"/>
          </p:cNvSpPr>
          <p:nvPr/>
        </p:nvSpPr>
        <p:spPr>
          <a:xfrm>
            <a:off x="866775" y="2124075"/>
            <a:ext cx="3905250" cy="3419475"/>
          </a:xfrm>
          <a:prstGeom prst="rect">
            <a:avLst/>
          </a:prstGeom>
          <a:noFill/>
          <a:ln w="0">
            <a:noFill/>
          </a:ln>
        </p:spPr>
        <p:txBody>
          <a:bodyPr>
            <a:noAutofit/>
          </a:bodyPr>
          <a:lstStyle/>
          <a:p>
            <a:pPr>
              <a:defRPr sz="2700" b="1">
                <a:solidFill>
                  <a:srgbClr val="FFFFFF"/>
                </a:solidFill>
                <a:latin typeface="Calibri"/>
                <a:ea typeface="Calibri"/>
                <a:cs typeface="Calibri"/>
              </a:defRPr>
            </a:pPr>
            <a:r>
              <a:rPr sz="2700" b="1">
                <a:solidFill>
                  <a:srgbClr val="FFFFFF"/>
                </a:solidFill>
                <a:latin typeface="Calibri"/>
                <a:ea typeface="Calibri"/>
                <a:cs typeface="Calibri"/>
              </a:rPr>
              <a:t>A regression model predicts a numerical engineering target from measurements available beforehand.</a:t>
            </a:r>
          </a:p>
        </p:txBody>
      </p:sp>
      <p:sp>
        <p:nvSpPr>
          <p:cNvPr id="6" name="">
            <a:extLst>
              <a:ext uri="{FF2B5EF4-FFF2-40B4-BE49-F238E27FC236}">
                <ns2:creationId id="{7BA85A55-8CF6-4263-96BF-97617B4A753C}"/>
              </a:ext>
            </a:extLst>
          </p:cNvPr>
          <p:cNvSpPr>
            <a:spLocks noGrp="1"/>
          </p:cNvSpPr>
          <p:nvPr/>
        </p:nvSpPr>
        <p:spPr>
          <a:xfrm>
            <a:off x="5534025" y="2000250"/>
            <a:ext cx="5905500" cy="3876675"/>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These small invented datasets demonstrate the code. They cannot establish performance on real engineering data.</a:t>
            </a:r>
          </a:p>
        </p:txBody>
      </p:sp>
      <p:sp>
        <p:nvSpPr>
          <p:cNvPr id="7" name="">
            <a:extLst>
              <a:ext uri="{FF2B5EF4-FFF2-40B4-BE49-F238E27FC236}">
                <ns2:creationId id="{CD81B6FA-EC93-4319-B77B-862A71793164}"/>
              </a:ext>
            </a:extLst>
          </p:cNvPr>
          <p:cNvSpPr>
            <a:spLocks noGrp="1"/>
          </p:cNvSpPr>
          <p:nvPr/>
        </p:nvSpPr>
        <p:spPr>
          <a:xfrm>
            <a:off x="590550" y="6524625"/>
            <a:ext cx="10810875" cy="219075"/>
          </a:xfrm>
          <a:prstGeom prst="rect">
            <a:avLst/>
          </a:prstGeom>
          <a:noFill/>
          <a:ln w="0">
            <a:noFill/>
          </a:ln>
        </p:spPr>
        <p:txBody>
          <a:bodyPr>
            <a:noAutofit/>
          </a:bodyPr>
          <a:lstStyle/>
          <a:p>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4</a:t>
            </a:r>
          </a:p>
        </p:txBody>
      </p:sp>
    </p:spTree>
    <p:extLst>
      <p:ext uri="{BB962C8B-B14F-4D97-AF65-F5344CB8AC3E}">
        <ns3:creationId val="1347071069"/>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4C282993-926E-4CC7-89E7-393F909BB7B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9E515A7-1BD1-4F58-B76B-4A1CEFAC04E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444570E2-4A43-482D-85CE-30F4B8858BC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numerical prediction</a:t>
            </a:r>
          </a:p>
        </p:txBody>
      </p:sp>
      <p:sp>
        <p:nvSpPr>
          <p:cNvPr id="4" name="">
            <a:extLst xmlns:a="http://schemas.openxmlformats.org/drawingml/2006/main">
              <a:ext uri="{FF2B5EF4-FFF2-40B4-BE49-F238E27FC236}">
                <a16:creationId xmlns:a16="http://schemas.microsoft.com/office/drawing/2014/main" id="{1EF45E16-F051-400E-B0F8-80BD6D3C4E11}"/>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92472DDD-1F11-45AD-9A19-F2D00849315C}"/>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Regression predicts a number, such as cooling load in kW.</a:t>
            </a:r>
          </a:p>
        </p:txBody>
      </p:sp>
      <p:sp>
        <p:nvSpPr>
          <p:cNvPr id="6" name="">
            <a:extLst xmlns:a="http://schemas.openxmlformats.org/drawingml/2006/main">
              <a:ext uri="{FF2B5EF4-FFF2-40B4-BE49-F238E27FC236}">
                <a16:creationId xmlns:a16="http://schemas.microsoft.com/office/drawing/2014/main" id="{1C42ED55-C68A-4DB0-BFA7-39FAC660906A}"/>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B018C4DD-2E7B-47B7-80AC-20CB632524D8}"/>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feature is information available when predicting.</a:t>
            </a:r>
          </a:p>
        </p:txBody>
      </p:sp>
      <p:sp>
        <p:nvSpPr>
          <p:cNvPr id="8" name="">
            <a:extLst xmlns:a="http://schemas.openxmlformats.org/drawingml/2006/main">
              <a:ext uri="{FF2B5EF4-FFF2-40B4-BE49-F238E27FC236}">
                <a16:creationId xmlns:a16="http://schemas.microsoft.com/office/drawing/2014/main" id="{4D3AE132-D526-48A3-8CEC-7BC1571CBF24}"/>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9FB67879-5C38-45B6-86E9-FE3709E3F761}"/>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target is the measured answer used during training.</a:t>
            </a:r>
          </a:p>
        </p:txBody>
      </p:sp>
      <p:sp>
        <p:nvSpPr>
          <p:cNvPr id="10" name="">
            <a:extLst xmlns:a="http://schemas.openxmlformats.org/drawingml/2006/main">
              <a:ext uri="{FF2B5EF4-FFF2-40B4-BE49-F238E27FC236}">
                <a16:creationId xmlns:a16="http://schemas.microsoft.com/office/drawing/2014/main" id="{86ED14E7-D858-4018-B08E-11829689EC94}"/>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94D67717-C813-4491-8F01-D1442F2D18AB}"/>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Classification, next week, predicts a category.</a:t>
            </a:r>
          </a:p>
        </p:txBody>
      </p:sp>
      <p:sp>
        <p:nvSpPr>
          <p:cNvPr id="12" name="">
            <a:extLst xmlns:a="http://schemas.openxmlformats.org/drawingml/2006/main">
              <a:ext uri="{FF2B5EF4-FFF2-40B4-BE49-F238E27FC236}">
                <a16:creationId xmlns:a16="http://schemas.microsoft.com/office/drawing/2014/main" id="{A0611F6D-E8D8-4C8E-A4DE-C9129EA5348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5</a:t>
            </a:r>
          </a:p>
        </p:txBody>
      </p:sp>
    </p:spTree>
    <p:extLst>
      <p:ext uri="{BB962C8B-B14F-4D97-AF65-F5344CB8AC3E}">
        <p14:creationId xmlns:p14="http://schemas.microsoft.com/office/powerpoint/2010/main" val="441608527"/>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8294F505-621A-42E6-8445-07952147F4C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BF94185-652B-49FF-BCFF-0ED8B9BB357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77FB5385-EB2B-4966-9A88-6C61A6201EB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Feature and target and Training validation and test</a:t>
            </a:r>
          </a:p>
        </p:txBody>
      </p:sp>
      <p:sp>
        <p:nvSpPr>
          <p:cNvPr id="4" name="">
            <a:extLst xmlns:a="http://schemas.openxmlformats.org/drawingml/2006/main">
              <a:ext uri="{FF2B5EF4-FFF2-40B4-BE49-F238E27FC236}">
                <a16:creationId xmlns:a16="http://schemas.microsoft.com/office/drawing/2014/main" id="{76A7E8B6-6AB6-40DA-AA5F-E42883575CAD}"/>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3198488-74F2-47A7-B09E-1C34378E55F3}"/>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Feature and target</a:t>
            </a:r>
          </a:p>
        </p:txBody>
      </p:sp>
      <p:sp>
        <p:nvSpPr>
          <p:cNvPr id="6" name="">
            <a:extLst xmlns:a="http://schemas.openxmlformats.org/drawingml/2006/main">
              <a:ext uri="{FF2B5EF4-FFF2-40B4-BE49-F238E27FC236}">
                <a16:creationId xmlns:a16="http://schemas.microsoft.com/office/drawing/2014/main" id="{B4C6DDA2-1F98-4793-B457-6C4631B36F5E}"/>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Features are inputs available when making a prediction. The target is the quantity we want to predict.</a:t>
            </a:r>
          </a:p>
        </p:txBody>
      </p:sp>
      <p:sp>
        <p:nvSpPr>
          <p:cNvPr id="7" name="">
            <a:extLst xmlns:a="http://schemas.openxmlformats.org/drawingml/2006/main">
              <a:ext uri="{FF2B5EF4-FFF2-40B4-BE49-F238E27FC236}">
                <a16:creationId xmlns:a16="http://schemas.microsoft.com/office/drawing/2014/main" id="{0F4A9DE1-0BD1-472C-8B9F-52CFB8E3ACD7}"/>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D585D445-F285-4744-94BB-0ADF6199BC1B}"/>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Training validation and test</a:t>
            </a:r>
          </a:p>
        </p:txBody>
      </p:sp>
      <p:sp>
        <p:nvSpPr>
          <p:cNvPr id="9" name="">
            <a:extLst xmlns:a="http://schemas.openxmlformats.org/drawingml/2006/main">
              <a:ext uri="{FF2B5EF4-FFF2-40B4-BE49-F238E27FC236}">
                <a16:creationId xmlns:a16="http://schemas.microsoft.com/office/drawing/2014/main" id="{4888DC8A-62D6-49F5-93FC-95F37FC12B51}"/>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Training fits the model. Validation helps choose it. The final test estimates performance after choices are fixed. Repeated equipment must stay in the same partition when assessing unseen equipment.</a:t>
            </a:r>
          </a:p>
        </p:txBody>
      </p:sp>
      <p:sp>
        <p:nvSpPr>
          <p:cNvPr id="10" name="">
            <a:extLst xmlns:a="http://schemas.openxmlformats.org/drawingml/2006/main">
              <a:ext uri="{FF2B5EF4-FFF2-40B4-BE49-F238E27FC236}">
                <a16:creationId xmlns:a16="http://schemas.microsoft.com/office/drawing/2014/main" id="{73742E67-5299-4701-A497-29FEF4FC24A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6</a:t>
            </a:r>
          </a:p>
        </p:txBody>
      </p:sp>
    </p:spTree>
    <p:extLst>
      <p:ext uri="{BB962C8B-B14F-4D97-AF65-F5344CB8AC3E}">
        <p14:creationId xmlns:p14="http://schemas.microsoft.com/office/powerpoint/2010/main" val="898937854"/>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7B3EF30B-4DC1-4565-B5AE-0F3DB3DE6A8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1813906-5964-4258-8614-5D13098BA15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E53B0AFD-0945-4A13-A03E-0B2ED61C362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Baseline</a:t>
            </a:r>
          </a:p>
        </p:txBody>
      </p:sp>
      <p:sp>
        <p:nvSpPr>
          <p:cNvPr id="4" name="">
            <a:extLst xmlns:a="http://schemas.openxmlformats.org/drawingml/2006/main">
              <a:ext uri="{FF2B5EF4-FFF2-40B4-BE49-F238E27FC236}">
                <a16:creationId xmlns:a16="http://schemas.microsoft.com/office/drawing/2014/main" id="{6998DB90-53DF-467A-9A29-0B9F0E278B71}"/>
              </a:ext>
            </a:extLst>
          </p:cNvPr>
          <p:cNvSpPr>
            <a:spLocks xmlns:a="http://schemas.openxmlformats.org/drawingml/2006/main" noGrp="1"/>
          </p:cNvSpPr>
          <p:nvPr/>
        </p:nvSpPr>
        <p:spPr>
          <a:xfrm xmlns:a="http://schemas.openxmlformats.org/drawingml/2006/main">
            <a:off x="590550" y="1714500"/>
            <a:ext cx="110109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E647D3D-AFC6-4D97-9F6A-2533E580F3EF}"/>
              </a:ext>
            </a:extLst>
          </p:cNvPr>
          <p:cNvSpPr>
            <a:spLocks xmlns:a="http://schemas.openxmlformats.org/drawingml/2006/main" noGrp="1"/>
          </p:cNvSpPr>
          <p:nvPr/>
        </p:nvSpPr>
        <p:spPr>
          <a:xfrm xmlns:a="http://schemas.openxmlformats.org/drawingml/2006/main">
            <a:off x="828675" y="1952625"/>
            <a:ext cx="104394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E4572E"/>
                </a:solidFill>
                <a:latin typeface="Calibri"/>
                <a:ea typeface="Calibri"/>
                <a:cs typeface="Calibri"/>
              </a:defRPr>
            </a:pPr>
            <a:r>
              <a:rPr sz="3150" b="1">
                <a:solidFill>
                  <a:srgbClr val="E4572E"/>
                </a:solidFill>
                <a:latin typeface="Calibri"/>
                <a:ea typeface="Calibri"/>
                <a:cs typeface="Calibri"/>
              </a:rPr>
              <a:t>Baseline</a:t>
            </a:r>
          </a:p>
        </p:txBody>
      </p:sp>
      <p:sp>
        <p:nvSpPr>
          <p:cNvPr id="6" name="">
            <a:extLst xmlns:a="http://schemas.openxmlformats.org/drawingml/2006/main">
              <a:ext uri="{FF2B5EF4-FFF2-40B4-BE49-F238E27FC236}">
                <a16:creationId xmlns:a16="http://schemas.microsoft.com/office/drawing/2014/main" id="{D3FA95E2-AF25-4270-B518-A30BF5E89804}"/>
              </a:ext>
            </a:extLst>
          </p:cNvPr>
          <p:cNvSpPr>
            <a:spLocks xmlns:a="http://schemas.openxmlformats.org/drawingml/2006/main" noGrp="1"/>
          </p:cNvSpPr>
          <p:nvPr/>
        </p:nvSpPr>
        <p:spPr>
          <a:xfrm xmlns:a="http://schemas.openxmlformats.org/drawingml/2006/main">
            <a:off x="828675" y="3067050"/>
            <a:ext cx="10439400"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A simple reference prediction. A training-mean baseline predicts the same training mean for every new example.</a:t>
            </a:r>
          </a:p>
        </p:txBody>
      </p:sp>
      <p:sp>
        <p:nvSpPr>
          <p:cNvPr id="7" name="">
            <a:extLst xmlns:a="http://schemas.openxmlformats.org/drawingml/2006/main">
              <a:ext uri="{FF2B5EF4-FFF2-40B4-BE49-F238E27FC236}">
                <a16:creationId xmlns:a16="http://schemas.microsoft.com/office/drawing/2014/main" id="{55C863D4-9E87-47EC-955E-7FAFCBDC73A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7</a:t>
            </a:r>
          </a:p>
        </p:txBody>
      </p:sp>
    </p:spTree>
    <p:extLst>
      <p:ext uri="{BB962C8B-B14F-4D97-AF65-F5344CB8AC3E}">
        <p14:creationId xmlns:p14="http://schemas.microsoft.com/office/powerpoint/2010/main" val="981543978"/>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EA8B4EB3-9DEB-4A9C-A4D8-A0CA70E954D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09FBAD8-3A9A-4F13-B933-8DE72932BA5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819170BF-741E-4FBD-80F5-3C2A2C8F00E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Linear model and tree</a:t>
            </a:r>
          </a:p>
        </p:txBody>
      </p:sp>
      <p:sp>
        <p:nvSpPr>
          <p:cNvPr id="4" name="">
            <a:extLst xmlns:a="http://schemas.openxmlformats.org/drawingml/2006/main">
              <a:ext uri="{FF2B5EF4-FFF2-40B4-BE49-F238E27FC236}">
                <a16:creationId xmlns:a16="http://schemas.microsoft.com/office/drawing/2014/main" id="{596D9883-E63C-4322-A9A4-EA0C2EE02516}"/>
              </a:ext>
            </a:extLst>
          </p:cNvPr>
          <p:cNvSpPr>
            <a:spLocks xmlns:a="http://schemas.openxmlformats.org/drawingml/2006/main" noGrp="1"/>
          </p:cNvSpPr>
          <p:nvPr/>
        </p:nvSpPr>
        <p:spPr>
          <a:xfrm xmlns:a="http://schemas.openxmlformats.org/drawingml/2006/main">
            <a:off x="590550" y="1714500"/>
            <a:ext cx="110109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AB49CE8-9867-4D32-ABE2-D94D722C43F7}"/>
              </a:ext>
            </a:extLst>
          </p:cNvPr>
          <p:cNvSpPr>
            <a:spLocks xmlns:a="http://schemas.openxmlformats.org/drawingml/2006/main" noGrp="1"/>
          </p:cNvSpPr>
          <p:nvPr/>
        </p:nvSpPr>
        <p:spPr>
          <a:xfrm xmlns:a="http://schemas.openxmlformats.org/drawingml/2006/main">
            <a:off x="828675" y="1952625"/>
            <a:ext cx="104394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E4572E"/>
                </a:solidFill>
                <a:latin typeface="Calibri"/>
                <a:ea typeface="Calibri"/>
                <a:cs typeface="Calibri"/>
              </a:defRPr>
            </a:pPr>
            <a:r>
              <a:rPr sz="3150" b="1">
                <a:solidFill>
                  <a:srgbClr val="E4572E"/>
                </a:solidFill>
                <a:latin typeface="Calibri"/>
                <a:ea typeface="Calibri"/>
                <a:cs typeface="Calibri"/>
              </a:rPr>
              <a:t>Linear model and tree</a:t>
            </a:r>
          </a:p>
        </p:txBody>
      </p:sp>
      <p:sp>
        <p:nvSpPr>
          <p:cNvPr id="6" name="">
            <a:extLst xmlns:a="http://schemas.openxmlformats.org/drawingml/2006/main">
              <a:ext uri="{FF2B5EF4-FFF2-40B4-BE49-F238E27FC236}">
                <a16:creationId xmlns:a16="http://schemas.microsoft.com/office/drawing/2014/main" id="{73132DD3-BFA3-42E1-9C8D-A7082BA9C466}"/>
              </a:ext>
            </a:extLst>
          </p:cNvPr>
          <p:cNvSpPr>
            <a:spLocks xmlns:a="http://schemas.openxmlformats.org/drawingml/2006/main" noGrp="1"/>
          </p:cNvSpPr>
          <p:nvPr/>
        </p:nvSpPr>
        <p:spPr>
          <a:xfrm xmlns:a="http://schemas.openxmlformats.org/drawingml/2006/main">
            <a:off x="828675" y="3067050"/>
            <a:ext cx="10439400"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A linear model combines inputs with learned weights. A regression tree asks feature-threshold questions and predicts a value at each leaf.</a:t>
            </a:r>
          </a:p>
        </p:txBody>
      </p:sp>
      <p:sp>
        <p:nvSpPr>
          <p:cNvPr id="7" name="">
            <a:extLst xmlns:a="http://schemas.openxmlformats.org/drawingml/2006/main">
              <a:ext uri="{FF2B5EF4-FFF2-40B4-BE49-F238E27FC236}">
                <a16:creationId xmlns:a16="http://schemas.microsoft.com/office/drawing/2014/main" id="{6579BD94-F03F-4F98-83FE-88417E413F3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8</a:t>
            </a:r>
          </a:p>
        </p:txBody>
      </p:sp>
    </p:spTree>
    <p:extLst>
      <p:ext uri="{BB962C8B-B14F-4D97-AF65-F5344CB8AC3E}">
        <p14:creationId xmlns:p14="http://schemas.microsoft.com/office/powerpoint/2010/main" val="306092858"/>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BECA1511-13B5-4A4F-BA19-B114F85972A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B05DD18-EEF3-4C21-8967-050982E7A7F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B78E527D-474A-4A24-9F44-5A4D153E146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What learning means in this example</a:t>
            </a:r>
          </a:p>
        </p:txBody>
      </p:sp>
      <p:sp>
        <p:nvSpPr>
          <p:cNvPr id="4" name="">
            <a:extLst xmlns:a="http://schemas.openxmlformats.org/drawingml/2006/main">
              <a:ext uri="{FF2B5EF4-FFF2-40B4-BE49-F238E27FC236}">
                <a16:creationId xmlns:a16="http://schemas.microsoft.com/office/drawing/2014/main" id="{9C0C2F63-CFDC-4069-BE1E-9CCE9D4376AD}"/>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131DE078-C00A-48E0-8198-B82B3741FFA0}"/>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Training supplies inputs and their known answers.</a:t>
            </a:r>
          </a:p>
        </p:txBody>
      </p:sp>
      <p:sp>
        <p:nvSpPr>
          <p:cNvPr id="6" name="">
            <a:extLst xmlns:a="http://schemas.openxmlformats.org/drawingml/2006/main">
              <a:ext uri="{FF2B5EF4-FFF2-40B4-BE49-F238E27FC236}">
                <a16:creationId xmlns:a16="http://schemas.microsoft.com/office/drawing/2014/main" id="{CEF14ECE-0AC4-40A8-8D18-DC502F793771}"/>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1B332882-85F2-4E0C-9C14-286732290FD0}"/>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model uses those examples to choose its internal numbers.</a:t>
            </a:r>
          </a:p>
        </p:txBody>
      </p:sp>
      <p:sp>
        <p:nvSpPr>
          <p:cNvPr id="8" name="">
            <a:extLst xmlns:a="http://schemas.openxmlformats.org/drawingml/2006/main">
              <a:ext uri="{FF2B5EF4-FFF2-40B4-BE49-F238E27FC236}">
                <a16:creationId xmlns:a16="http://schemas.microsoft.com/office/drawing/2014/main" id="{56CB1190-804D-44F3-9C04-E0D624D55F94}"/>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B6C5326F-C7BD-49D7-B3B9-2E4794140B63}"/>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Prediction applies the fitted model to inputs whose answer we want to estimate.</a:t>
            </a:r>
          </a:p>
        </p:txBody>
      </p:sp>
      <p:sp>
        <p:nvSpPr>
          <p:cNvPr id="10" name="">
            <a:extLst xmlns:a="http://schemas.openxmlformats.org/drawingml/2006/main">
              <a:ext uri="{FF2B5EF4-FFF2-40B4-BE49-F238E27FC236}">
                <a16:creationId xmlns:a16="http://schemas.microsoft.com/office/drawing/2014/main" id="{494520B7-9285-4FE8-95EC-2083034A484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9</a:t>
            </a:r>
          </a:p>
        </p:txBody>
      </p:sp>
    </p:spTree>
    <p:extLst>
      <p:ext uri="{BB962C8B-B14F-4D97-AF65-F5344CB8AC3E}">
        <p14:creationId xmlns:p14="http://schemas.microsoft.com/office/powerpoint/2010/main" val="1100021969"/>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415EFB19-8A0F-46D5-8A21-97EC1896CF5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F1CF977-3B7D-499B-BD88-7888B8079C4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295C0E09-D864-4293-B751-C014DBB29F8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Training observations</a:t>
            </a:r>
          </a:p>
        </p:txBody>
      </p:sp>
      <p:graphicFrame>
        <p:nvGraphicFramePr>
          <p:cNvPr id="10" name=""/>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5505450"/>
                <a:gridCol w="5505450"/>
              </a:tblGrid>
              <a:tr h="666750">
                <a:tc>
                  <a:txBody>
                    <a:bodyPr/>
                    <a:lstStyle/>
                    <a:p>
                      <a:r>
                        <a:rPr sz="2025" b="1">
                          <a:solidFill>
                            <a:srgbClr val="FFFFFF"/>
                          </a:solidFill>
                          <a:latin typeface="Calibri"/>
                          <a:ea typeface="Calibri"/>
                          <a:cs typeface="Calibri"/>
                        </a:rPr>
                        <a:t>Input</a:t>
                      </a:r>
                    </a:p>
                  </a:txBody>
                  <a:tcPr marL="91440" marR="91440" marT="45720" marB="45720">
                    <a:solidFill>
                      <a:srgbClr val="2E7D6F"/>
                    </a:solidFill>
                  </a:tcPr>
                </a:tc>
                <a:tc>
                  <a:txBody>
                    <a:bodyPr/>
                    <a:lstStyle/>
                    <a:p>
                      <a:r>
                        <a:rPr sz="2025" b="1">
                          <a:solidFill>
                            <a:srgbClr val="FFFFFF"/>
                          </a:solidFill>
                          <a:latin typeface="Calibri"/>
                          <a:ea typeface="Calibri"/>
                          <a:cs typeface="Calibri"/>
                        </a:rPr>
                        <a:t>Measured target</a:t>
                      </a:r>
                    </a:p>
                  </a:txBody>
                  <a:tcPr marL="91440" marR="91440" marT="45720" marB="45720">
                    <a:solidFill>
                      <a:srgbClr val="2E7D6F"/>
                    </a:solidFill>
                  </a:tcPr>
                </a:tc>
              </a:tr>
              <a:tr h="666750">
                <a:tc>
                  <a:txBody>
                    <a:bodyPr/>
                    <a:lstStyle/>
                    <a:p>
                      <a:r>
                        <a:rPr sz="2025" b="0">
                          <a:solidFill>
                            <a:srgbClr val="1C3144"/>
                          </a:solidFill>
                          <a:latin typeface="Calibri"/>
                          <a:ea typeface="Calibri"/>
                          <a:cs typeface="Calibri"/>
                        </a:rPr>
                        <a:t>1</a:t>
                      </a:r>
                    </a:p>
                  </a:txBody>
                  <a:tcPr marL="91440" marR="91440" marT="45720" marB="45720">
                    <a:solidFill>
                      <a:srgbClr val="EEF3F6"/>
                    </a:solidFill>
                  </a:tcPr>
                </a:tc>
                <a:tc>
                  <a:txBody>
                    <a:bodyPr/>
                    <a:lstStyle/>
                    <a:p>
                      <a:r>
                        <a:rPr sz="2025" b="0">
                          <a:solidFill>
                            <a:srgbClr val="1C3144"/>
                          </a:solidFill>
                          <a:latin typeface="Calibri"/>
                          <a:ea typeface="Calibri"/>
                          <a:cs typeface="Calibri"/>
                        </a:rPr>
                        <a:t>12</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2</a:t>
                      </a:r>
                    </a:p>
                  </a:txBody>
                  <a:tcPr marL="91440" marR="91440" marT="45720" marB="45720">
                    <a:solidFill>
                      <a:srgbClr val="FFFFFF"/>
                    </a:solidFill>
                  </a:tcPr>
                </a:tc>
                <a:tc>
                  <a:txBody>
                    <a:bodyPr/>
                    <a:lstStyle/>
                    <a:p>
                      <a:r>
                        <a:rPr sz="2025" b="0">
                          <a:solidFill>
                            <a:srgbClr val="1C3144"/>
                          </a:solidFill>
                          <a:latin typeface="Calibri"/>
                          <a:ea typeface="Calibri"/>
                          <a:cs typeface="Calibri"/>
                        </a:rPr>
                        <a:t>14</a:t>
                      </a:r>
                    </a:p>
                  </a:txBody>
                  <a:tcPr marL="91440" marR="91440" marT="45720" marB="45720">
                    <a:solidFill>
                      <a:srgbClr val="FFFFFF"/>
                    </a:solidFill>
                  </a:tcPr>
                </a:tc>
              </a:tr>
              <a:tr h="666750">
                <a:tc>
                  <a:txBody>
                    <a:bodyPr/>
                    <a:lstStyle/>
                    <a:p>
                      <a:r>
                        <a:rPr sz="2025" b="0">
                          <a:solidFill>
                            <a:srgbClr val="1C3144"/>
                          </a:solidFill>
                          <a:latin typeface="Calibri"/>
                          <a:ea typeface="Calibri"/>
                          <a:cs typeface="Calibri"/>
                        </a:rPr>
                        <a:t>3</a:t>
                      </a:r>
                    </a:p>
                  </a:txBody>
                  <a:tcPr marL="91440" marR="91440" marT="45720" marB="45720">
                    <a:solidFill>
                      <a:srgbClr val="EEF3F6"/>
                    </a:solidFill>
                  </a:tcPr>
                </a:tc>
                <a:tc>
                  <a:txBody>
                    <a:bodyPr/>
                    <a:lstStyle/>
                    <a:p>
                      <a:r>
                        <a:rPr sz="2025" b="0">
                          <a:solidFill>
                            <a:srgbClr val="1C3144"/>
                          </a:solidFill>
                          <a:latin typeface="Calibri"/>
                          <a:ea typeface="Calibri"/>
                          <a:cs typeface="Calibri"/>
                        </a:rPr>
                        <a:t>16</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4</a:t>
                      </a:r>
                    </a:p>
                  </a:txBody>
                  <a:tcPr marL="91440" marR="91440" marT="45720" marB="45720">
                    <a:solidFill>
                      <a:srgbClr val="FFFFFF"/>
                    </a:solidFill>
                  </a:tcPr>
                </a:tc>
                <a:tc>
                  <a:txBody>
                    <a:bodyPr/>
                    <a:lstStyle/>
                    <a:p>
                      <a:r>
                        <a:rPr sz="2025" b="0">
                          <a:solidFill>
                            <a:srgbClr val="1C3144"/>
                          </a:solidFill>
                          <a:latin typeface="Calibri"/>
                          <a:ea typeface="Calibri"/>
                          <a:cs typeface="Calibri"/>
                        </a:rPr>
                        <a:t>18</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28F6BCE4-3C00-4400-B216-46464DA93763}"/>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Invented numbers for learning.</a:t>
            </a:r>
          </a:p>
        </p:txBody>
      </p:sp>
      <p:sp>
        <p:nvSpPr>
          <p:cNvPr id="6" name="">
            <a:extLst xmlns:a="http://schemas.openxmlformats.org/drawingml/2006/main">
              <a:ext uri="{FF2B5EF4-FFF2-40B4-BE49-F238E27FC236}">
                <a16:creationId xmlns:a16="http://schemas.microsoft.com/office/drawing/2014/main" id="{5CAECF90-931C-43E9-8755-662C8402C2F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10</a:t>
            </a:r>
          </a:p>
        </p:txBody>
      </p:sp>
    </p:spTree>
    <p:extLst>
      <p:ext uri="{BB962C8B-B14F-4D97-AF65-F5344CB8AC3E}">
        <p14:creationId xmlns:p14="http://schemas.microsoft.com/office/powerpoint/2010/main" val="1185446185"/>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82BFD2CD-26D4-406A-B121-C98A0731A95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848F03F-AE7C-44D2-AB1F-90B9874F7E8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006EA1D2-358F-433C-B414-55229E55510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fitted line is a numerical rule</a:t>
            </a:r>
          </a:p>
        </p:txBody>
      </p:sp>
      <p:sp>
        <p:nvSpPr>
          <p:cNvPr id="4" name="">
            <a:extLst xmlns:a="http://schemas.openxmlformats.org/drawingml/2006/main">
              <a:ext uri="{FF2B5EF4-FFF2-40B4-BE49-F238E27FC236}">
                <a16:creationId xmlns:a16="http://schemas.microsoft.com/office/drawing/2014/main" id="{1103C0C8-6D77-42F6-805A-D69CA90133BF}"/>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6D44A4AB-211A-427D-997D-E660B0E2377E}"/>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For these invented observations, target = 2 × input + 10 matches all four points. 2 is the slope; 10 is the intercept, the value at input zero.</a:t>
            </a:r>
          </a:p>
        </p:txBody>
      </p:sp>
      <p:sp>
        <p:nvSpPr>
          <p:cNvPr id="6" name="">
            <a:extLst xmlns:a="http://schemas.openxmlformats.org/drawingml/2006/main">
              <a:ext uri="{FF2B5EF4-FFF2-40B4-BE49-F238E27FC236}">
                <a16:creationId xmlns:a16="http://schemas.microsoft.com/office/drawing/2014/main" id="{4886F42E-0659-4608-B377-31CF8DA17AB4}"/>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B61F23DE-CE8F-4362-910B-1B6344E99A89}"/>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prediction error is the difference between a prediction and the measured answer. A vertical gap in the picture shows that error.</a:t>
            </a:r>
          </a:p>
        </p:txBody>
      </p:sp>
      <p:sp>
        <p:nvSpPr>
          <p:cNvPr id="8" name="">
            <a:extLst xmlns:a="http://schemas.openxmlformats.org/drawingml/2006/main">
              <a:ext uri="{FF2B5EF4-FFF2-40B4-BE49-F238E27FC236}">
                <a16:creationId xmlns:a16="http://schemas.microsoft.com/office/drawing/2014/main" id="{6BA492D3-1271-45B6-82F1-22D44B1BA750}"/>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DAEBD75F-22A0-45EC-B3D2-620AC704F34B}"/>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Fitting chooses the slope and intercept to minimise summed squared errors. Squaring means multiplying an error by itself; a small training error still needs an unseen-data check.</a:t>
            </a:r>
          </a:p>
        </p:txBody>
      </p:sp>
      <p:sp>
        <p:nvSpPr>
          <p:cNvPr id="10" name="">
            <a:extLst xmlns:a="http://schemas.openxmlformats.org/drawingml/2006/main">
              <a:ext uri="{FF2B5EF4-FFF2-40B4-BE49-F238E27FC236}">
                <a16:creationId xmlns:a16="http://schemas.microsoft.com/office/drawing/2014/main" id="{516FEB87-FA6E-4172-A1E9-506AED81314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11</a:t>
            </a:r>
          </a:p>
        </p:txBody>
      </p:sp>
    </p:spTree>
    <p:extLst>
      <p:ext uri="{BB962C8B-B14F-4D97-AF65-F5344CB8AC3E}">
        <p14:creationId xmlns:p14="http://schemas.microsoft.com/office/powerpoint/2010/main" val="1236549788"/>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5695C653-28C2-4D25-B293-C65F370A89F1}"/>
              </a:ext>
            </a:extLst>
          </p:cNvPr>
          <p:cNvSpPr>
            <a:spLocks xmlns:a="http://schemas.openxmlformats.org/drawingml/2006/main" noGrp="1"/>
          </p:cNvSpPr>
          <p:nvPr/>
        </p:nvSpPr>
        <p:spPr>
          <a:xfrm xmlns:a="http://schemas.openxmlformats.org/drawingml/2006/main">
            <a:off x="0" y="0"/>
            <a:ext cx="12191695" cy="9525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1A83F3F-22E5-4348-9B06-17D49EDF29F1}"/>
              </a:ext>
            </a:extLst>
          </p:cNvPr>
          <p:cNvSpPr>
            <a:spLocks xmlns:a="http://schemas.openxmlformats.org/drawingml/2006/main" noGrp="1"/>
          </p:cNvSpPr>
          <p:nvPr/>
        </p:nvSpPr>
        <p:spPr>
          <a:xfrm xmlns:a="http://schemas.openxmlformats.org/drawingml/2006/main">
            <a:off x="476250" y="190500"/>
            <a:ext cx="11239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925" b="1">
                <a:solidFill>
                  <a:srgbClr val="FFFFFF"/>
                </a:solidFill>
                <a:latin typeface="Calibri"/>
                <a:ea typeface="Calibri"/>
                <a:cs typeface="Calibri"/>
              </a:defRPr>
            </a:pPr>
            <a:r>
              <a:rPr sz="2925" b="1">
                <a:solidFill>
                  <a:srgbClr val="FFFFFF"/>
                </a:solidFill>
                <a:latin typeface="Calibri"/>
                <a:ea typeface="Calibri"/>
                <a:cs typeface="Calibri"/>
              </a:rPr>
              <a:t>Fitting a line to observations</a:t>
            </a:r>
          </a:p>
        </p:txBody>
      </p:sp>
      <p:pic>
        <p:nvPicPr>
          <p:cNvPr id="9" name=""/>
          <p:cNvPicPr>
            <a:picLocks xmlns:a="http://schemas.openxmlformats.org/drawingml/2006/main" noChangeAspect="1"/>
          </p:cNvPicPr>
          <p:nvPr/>
        </p:nvPicPr>
        <p:blipFill>
          <a:blip xmlns:r="http://schemas.openxmlformats.org/officeDocument/2006/relationships" xmlns:a="http://schemas.openxmlformats.org/drawingml/2006/main" r:embed="R8d944ce6c0c0492f"/>
          <a:stretch xmlns:a="http://schemas.openxmlformats.org/drawingml/2006/main"/>
        </p:blipFill>
        <p:spPr>
          <a:xfrm xmlns:a="http://schemas.openxmlformats.org/drawingml/2006/main">
            <a:off x="333375" y="1631613"/>
            <a:ext cx="11525250" cy="3470950"/>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D18963CF-659B-4477-95F6-39E3A308312A}"/>
              </a:ext>
            </a:extLst>
          </p:cNvPr>
          <p:cNvSpPr>
            <a:spLocks xmlns:a="http://schemas.openxmlformats.org/drawingml/2006/main" noGrp="1"/>
          </p:cNvSpPr>
          <p:nvPr/>
        </p:nvSpPr>
        <p:spPr>
          <a:xfrm xmlns:a="http://schemas.openxmlformats.org/drawingml/2006/main">
            <a:off x="0" y="5810250"/>
            <a:ext cx="12191695" cy="5905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4F633F9-046C-4632-88C0-80DBFF42B98B}"/>
              </a:ext>
            </a:extLst>
          </p:cNvPr>
          <p:cNvSpPr>
            <a:spLocks xmlns:a="http://schemas.openxmlformats.org/drawingml/2006/main" noGrp="1"/>
          </p:cNvSpPr>
          <p:nvPr/>
        </p:nvSpPr>
        <p:spPr>
          <a:xfrm xmlns:a="http://schemas.openxmlformats.org/drawingml/2006/main">
            <a:off x="552450" y="5886450"/>
            <a:ext cx="11049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The fitted line minimises the sum of squared vertical errors.</a:t>
            </a:r>
          </a:p>
        </p:txBody>
      </p:sp>
      <p:sp>
        <p:nvSpPr>
          <p:cNvPr id="6" name="">
            <a:extLst xmlns:a="http://schemas.openxmlformats.org/drawingml/2006/main">
              <a:ext uri="{FF2B5EF4-FFF2-40B4-BE49-F238E27FC236}">
                <a16:creationId xmlns:a16="http://schemas.microsoft.com/office/drawing/2014/main" id="{0AF38E96-B1D3-47B0-A247-1986A62172B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12</a:t>
            </a:r>
          </a:p>
        </p:txBody>
      </p:sp>
    </p:spTree>
    <p:extLst>
      <p:ext uri="{BB962C8B-B14F-4D97-AF65-F5344CB8AC3E}">
        <p14:creationId xmlns:p14="http://schemas.microsoft.com/office/powerpoint/2010/main" val="158444812"/>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4E04D9EE-191F-4F27-8D56-E709A1ACE13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A095E33-DB03-4244-A098-EF7A8B46519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ABD93CC0-FCB4-4110-9EA2-0796D7DD80A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Rows must stay paired with their answers</a:t>
            </a:r>
          </a:p>
        </p:txBody>
      </p:sp>
      <p:sp>
        <p:nvSpPr>
          <p:cNvPr id="4" name="">
            <a:extLst xmlns:a="http://schemas.openxmlformats.org/drawingml/2006/main">
              <a:ext uri="{FF2B5EF4-FFF2-40B4-BE49-F238E27FC236}">
                <a16:creationId xmlns:a16="http://schemas.microsoft.com/office/drawing/2014/main" id="{625FFD55-E17A-4A6A-B462-FD15A1689F45}"/>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68F783D0-878A-4E31-83D0-8DBE1AE909CE}"/>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Each inner list in X_train is one observation.</a:t>
            </a:r>
          </a:p>
        </p:txBody>
      </p:sp>
      <p:sp>
        <p:nvSpPr>
          <p:cNvPr id="6" name="">
            <a:extLst xmlns:a="http://schemas.openxmlformats.org/drawingml/2006/main">
              <a:ext uri="{FF2B5EF4-FFF2-40B4-BE49-F238E27FC236}">
                <a16:creationId xmlns:a16="http://schemas.microsoft.com/office/drawing/2014/main" id="{C6DAB86D-98BB-435E-9B5F-CF4BB6D4ACF3}"/>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0A6B7B57-E8DB-4DC7-AA01-3B154532FFA9}"/>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y_train contains one target value for each row, in the same order.</a:t>
            </a:r>
          </a:p>
        </p:txBody>
      </p:sp>
      <p:sp>
        <p:nvSpPr>
          <p:cNvPr id="8" name="">
            <a:extLst xmlns:a="http://schemas.openxmlformats.org/drawingml/2006/main">
              <a:ext uri="{FF2B5EF4-FFF2-40B4-BE49-F238E27FC236}">
                <a16:creationId xmlns:a16="http://schemas.microsoft.com/office/drawing/2014/main" id="{4AF509B6-D0B5-4FC3-A563-29F14193DDFA}"/>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C2D6122C-FD18-4527-9B09-492AB36CC87D}"/>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Changing the order of only one list attaches answers to the wrong observations.</a:t>
            </a:r>
          </a:p>
        </p:txBody>
      </p:sp>
      <p:sp>
        <p:nvSpPr>
          <p:cNvPr id="10" name="">
            <a:extLst xmlns:a="http://schemas.openxmlformats.org/drawingml/2006/main">
              <a:ext uri="{FF2B5EF4-FFF2-40B4-BE49-F238E27FC236}">
                <a16:creationId xmlns:a16="http://schemas.microsoft.com/office/drawing/2014/main" id="{CF069A9B-03D8-4496-8B3F-1211B3C3373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13</a:t>
            </a:r>
          </a:p>
        </p:txBody>
      </p:sp>
    </p:spTree>
    <p:extLst>
      <p:ext uri="{BB962C8B-B14F-4D97-AF65-F5344CB8AC3E}">
        <p14:creationId xmlns:p14="http://schemas.microsoft.com/office/powerpoint/2010/main" val="540814785"/>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A8996085-BE84-4D64-8481-7F365642716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74C4ABE-F9FF-4FAB-8F3A-8D71CFF933B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AEBC1CB0-2247-489E-A655-6D602A99E95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matrix is a rectangular table of numbers</a:t>
            </a:r>
          </a:p>
        </p:txBody>
      </p:sp>
      <p:sp>
        <p:nvSpPr>
          <p:cNvPr id="4" name="">
            <a:extLst xmlns:a="http://schemas.openxmlformats.org/drawingml/2006/main">
              <a:ext uri="{FF2B5EF4-FFF2-40B4-BE49-F238E27FC236}">
                <a16:creationId xmlns:a16="http://schemas.microsoft.com/office/drawing/2014/main" id="{3498CB5E-FA82-4888-8764-EE966D031AA3}"/>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28D5EB58-731D-4988-82E0-124CDE6778C0}"/>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matrix has rows and columns. For modelling, one row is one observation and each column is one input feature.</a:t>
            </a:r>
          </a:p>
        </p:txBody>
      </p:sp>
      <p:sp>
        <p:nvSpPr>
          <p:cNvPr id="6" name="">
            <a:extLst xmlns:a="http://schemas.openxmlformats.org/drawingml/2006/main">
              <a:ext uri="{FF2B5EF4-FFF2-40B4-BE49-F238E27FC236}">
                <a16:creationId xmlns:a16="http://schemas.microsoft.com/office/drawing/2014/main" id="{D06B5457-4826-4634-BE4B-02997F9A32C8}"/>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7F860EB9-1A5C-45B8-8C50-4F683848EB16}"/>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[[1, 20], [2, 22]] has two rows and two columns. The outer list contains rows; each inner list contains that row’s features.</a:t>
            </a:r>
          </a:p>
        </p:txBody>
      </p:sp>
      <p:sp>
        <p:nvSpPr>
          <p:cNvPr id="8" name="">
            <a:extLst xmlns:a="http://schemas.openxmlformats.org/drawingml/2006/main">
              <a:ext uri="{FF2B5EF4-FFF2-40B4-BE49-F238E27FC236}">
                <a16:creationId xmlns:a16="http://schemas.microsoft.com/office/drawing/2014/main" id="{6E573FD8-F9B2-4940-9CA3-2A000DA8A7A0}"/>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3691440B-C8FA-4DDF-960F-A67FB4ECFE6D}"/>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X is a conventional name for this input table. y holds one known target per row. These names have no special power in Python.</a:t>
            </a:r>
          </a:p>
        </p:txBody>
      </p:sp>
      <p:sp>
        <p:nvSpPr>
          <p:cNvPr id="10" name="">
            <a:extLst xmlns:a="http://schemas.openxmlformats.org/drawingml/2006/main">
              <a:ext uri="{FF2B5EF4-FFF2-40B4-BE49-F238E27FC236}">
                <a16:creationId xmlns:a16="http://schemas.microsoft.com/office/drawing/2014/main" id="{FA5A615F-D3B0-4727-8A63-BA6812C72A1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14</a:t>
            </a:r>
          </a:p>
        </p:txBody>
      </p:sp>
    </p:spTree>
    <p:extLst>
      <p:ext uri="{BB962C8B-B14F-4D97-AF65-F5344CB8AC3E}">
        <p14:creationId xmlns:p14="http://schemas.microsoft.com/office/powerpoint/2010/main" val="847624759"/>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3344D8FE-4C5A-49F7-8AE4-BE401B9ADE5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7CF1D33-2C0E-46F3-94FB-77E5C3D1745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3F8648E4-5A8D-4F23-99BD-61F47A450C3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Rows and arrays before model code</a:t>
            </a:r>
          </a:p>
        </p:txBody>
      </p:sp>
      <p:sp>
        <p:nvSpPr>
          <p:cNvPr id="4" name="">
            <a:extLst xmlns:a="http://schemas.openxmlformats.org/drawingml/2006/main">
              <a:ext uri="{FF2B5EF4-FFF2-40B4-BE49-F238E27FC236}">
                <a16:creationId xmlns:a16="http://schemas.microsoft.com/office/drawing/2014/main" id="{699F69DD-50CE-40F8-89B5-0B7DF78E7736}"/>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581BB99-059E-45F3-AFBB-3E12E929685C}"/>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Nested lists</a:t>
            </a:r>
          </a:p>
        </p:txBody>
      </p:sp>
      <p:sp>
        <p:nvSpPr>
          <p:cNvPr id="6" name="">
            <a:extLst xmlns:a="http://schemas.openxmlformats.org/drawingml/2006/main">
              <a:ext uri="{FF2B5EF4-FFF2-40B4-BE49-F238E27FC236}">
                <a16:creationId xmlns:a16="http://schemas.microsoft.com/office/drawing/2014/main" id="{E669D054-40D4-487A-BEF3-B3D01D63C104}"/>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[[1], [2], [3]] has three inner lists: three rows with one feature each. [12, 14, 16] has one target per row in the same order.</a:t>
            </a:r>
          </a:p>
        </p:txBody>
      </p:sp>
      <p:sp>
        <p:nvSpPr>
          <p:cNvPr id="7" name="">
            <a:extLst xmlns:a="http://schemas.openxmlformats.org/drawingml/2006/main">
              <a:ext uri="{FF2B5EF4-FFF2-40B4-BE49-F238E27FC236}">
                <a16:creationId xmlns:a16="http://schemas.microsoft.com/office/drawing/2014/main" id="{F407E3B9-36CA-4143-8770-B1A1F5558C26}"/>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EC7F45EE-28FE-4EC9-86B7-27BB10D21635}"/>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NumPy and array</a:t>
            </a:r>
          </a:p>
        </p:txBody>
      </p:sp>
      <p:sp>
        <p:nvSpPr>
          <p:cNvPr id="9" name="">
            <a:extLst xmlns:a="http://schemas.openxmlformats.org/drawingml/2006/main">
              <a:ext uri="{FF2B5EF4-FFF2-40B4-BE49-F238E27FC236}">
                <a16:creationId xmlns:a16="http://schemas.microsoft.com/office/drawing/2014/main" id="{D3ABED77-B23A-456A-A592-6D9C3240FE79}"/>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NumPy is a numerical library; np is its short imported name. np.array(...) builds an array. shape reports its dimensions. np.nan represents a missing numerical value.</a:t>
            </a:r>
          </a:p>
        </p:txBody>
      </p:sp>
      <p:sp>
        <p:nvSpPr>
          <p:cNvPr id="10" name="">
            <a:extLst xmlns:a="http://schemas.openxmlformats.org/drawingml/2006/main">
              <a:ext uri="{FF2B5EF4-FFF2-40B4-BE49-F238E27FC236}">
                <a16:creationId xmlns:a16="http://schemas.microsoft.com/office/drawing/2014/main" id="{BD8C6437-27C8-4EA6-B833-906E912F1E8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15</a:t>
            </a:r>
          </a:p>
        </p:txBody>
      </p:sp>
    </p:spTree>
    <p:extLst>
      <p:ext uri="{BB962C8B-B14F-4D97-AF65-F5344CB8AC3E}">
        <p14:creationId xmlns:p14="http://schemas.microsoft.com/office/powerpoint/2010/main" val="285781511"/>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D1543CDC-992F-458B-9AC2-EA098E9FD9C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2662DF5-5717-4208-BE86-2FEC2375992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1216AC48-64B0-4AAD-98AB-1328016555E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Reading NumPy results</a:t>
            </a:r>
          </a:p>
        </p:txBody>
      </p:sp>
      <p:graphicFrame>
        <p:nvGraphicFramePr>
          <p:cNvPr id="10" name=""/>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5505450"/>
                <a:gridCol w="5505450"/>
              </a:tblGrid>
              <a:tr h="666750">
                <a:tc>
                  <a:txBody>
                    <a:bodyPr/>
                    <a:lstStyle/>
                    <a:p>
                      <a:r>
                        <a:rPr sz="1725" b="1">
                          <a:solidFill>
                            <a:srgbClr val="FFFFFF"/>
                          </a:solidFill>
                          <a:latin typeface="Calibri"/>
                          <a:ea typeface="Calibri"/>
                          <a:cs typeface="Calibri"/>
                        </a:rPr>
                        <a:t>Expression</a:t>
                      </a:r>
                    </a:p>
                  </a:txBody>
                  <a:tcPr marL="91440" marR="91440" marT="45720" marB="45720">
                    <a:solidFill>
                      <a:srgbClr val="2E7D6F"/>
                    </a:solidFill>
                  </a:tcPr>
                </a:tc>
                <a:tc>
                  <a:txBody>
                    <a:bodyPr/>
                    <a:lstStyle/>
                    <a:p>
                      <a:r>
                        <a:rPr sz="1725" b="1">
                          <a:solidFill>
                            <a:srgbClr val="FFFFFF"/>
                          </a:solidFill>
                          <a:latin typeface="Calibri"/>
                          <a:ea typeface="Calibri"/>
                          <a:cs typeface="Calibri"/>
                        </a:rPr>
                        <a:t>Meaning</a:t>
                      </a:r>
                    </a:p>
                  </a:txBody>
                  <a:tcPr marL="91440" marR="91440" marT="45720" marB="45720">
                    <a:solidFill>
                      <a:srgbClr val="2E7D6F"/>
                    </a:solidFill>
                  </a:tcPr>
                </a:tc>
              </a:tr>
              <a:tr h="666750">
                <a:tc>
                  <a:txBody>
                    <a:bodyPr/>
                    <a:lstStyle/>
                    <a:p>
                      <a:r>
                        <a:rPr sz="1725" b="0">
                          <a:solidFill>
                            <a:srgbClr val="1C3144"/>
                          </a:solidFill>
                          <a:latin typeface="Calibri"/>
                          <a:ea typeface="Calibri"/>
                          <a:cs typeface="Calibri"/>
                        </a:rPr>
                        <a:t>np.nan</a:t>
                      </a:r>
                    </a:p>
                  </a:txBody>
                  <a:tcPr marL="91440" marR="91440" marT="45720" marB="45720">
                    <a:solidFill>
                      <a:srgbClr val="EEF3F6"/>
                    </a:solidFill>
                  </a:tcPr>
                </a:tc>
                <a:tc>
                  <a:txBody>
                    <a:bodyPr/>
                    <a:lstStyle/>
                    <a:p>
                      <a:r>
                        <a:rPr sz="1725" b="0">
                          <a:solidFill>
                            <a:srgbClr val="1C3144"/>
                          </a:solidFill>
                          <a:latin typeface="Calibri"/>
                          <a:ea typeface="Calibri"/>
                          <a:cs typeface="Calibri"/>
                        </a:rPr>
                        <a:t>A missing numeric value marker</a:t>
                      </a:r>
                    </a:p>
                  </a:txBody>
                  <a:tcPr marL="91440" marR="91440" marT="45720" marB="45720">
                    <a:solidFill>
                      <a:srgbClr val="EEF3F6"/>
                    </a:solidFill>
                  </a:tcPr>
                </a:tc>
              </a:tr>
              <a:tr h="666750">
                <a:tc>
                  <a:txBody>
                    <a:bodyPr/>
                    <a:lstStyle/>
                    <a:p>
                      <a:r>
                        <a:rPr sz="1725" b="0">
                          <a:solidFill>
                            <a:srgbClr val="1C3144"/>
                          </a:solidFill>
                          <a:latin typeface="Calibri"/>
                          <a:ea typeface="Calibri"/>
                          <a:cs typeface="Calibri"/>
                        </a:rPr>
                        <a:t>X.shape</a:t>
                      </a:r>
                    </a:p>
                  </a:txBody>
                  <a:tcPr marL="91440" marR="91440" marT="45720" marB="45720">
                    <a:solidFill>
                      <a:srgbClr val="FFFFFF"/>
                    </a:solidFill>
                  </a:tcPr>
                </a:tc>
                <a:tc>
                  <a:txBody>
                    <a:bodyPr/>
                    <a:lstStyle/>
                    <a:p>
                      <a:r>
                        <a:rPr sz="1725" b="0">
                          <a:solidFill>
                            <a:srgbClr val="1C3144"/>
                          </a:solidFill>
                          <a:latin typeface="Calibri"/>
                          <a:ea typeface="Calibri"/>
                          <a:cs typeface="Calibri"/>
                        </a:rPr>
                        <a:t>The array dimensions: rows, columns</a:t>
                      </a:r>
                    </a:p>
                  </a:txBody>
                  <a:tcPr marL="91440" marR="91440" marT="45720" marB="45720">
                    <a:solidFill>
                      <a:srgbClr val="FFFFFF"/>
                    </a:solidFill>
                  </a:tcPr>
                </a:tc>
              </a:tr>
              <a:tr h="666750">
                <a:tc>
                  <a:txBody>
                    <a:bodyPr/>
                    <a:lstStyle/>
                    <a:p>
                      <a:r>
                        <a:rPr sz="1725" b="0">
                          <a:solidFill>
                            <a:srgbClr val="1C3144"/>
                          </a:solidFill>
                          <a:latin typeface="Calibri"/>
                          <a:ea typeface="Calibri"/>
                          <a:cs typeface="Calibri"/>
                        </a:rPr>
                        <a:t>predictions.round(2)</a:t>
                      </a:r>
                    </a:p>
                  </a:txBody>
                  <a:tcPr marL="91440" marR="91440" marT="45720" marB="45720">
                    <a:solidFill>
                      <a:srgbClr val="EEF3F6"/>
                    </a:solidFill>
                  </a:tcPr>
                </a:tc>
                <a:tc>
                  <a:txBody>
                    <a:bodyPr/>
                    <a:lstStyle/>
                    <a:p>
                      <a:r>
                        <a:rPr sz="1725" b="0">
                          <a:solidFill>
                            <a:srgbClr val="1C3144"/>
                          </a:solidFill>
                          <a:latin typeface="Calibri"/>
                          <a:ea typeface="Calibri"/>
                          <a:cs typeface="Calibri"/>
                        </a:rPr>
                        <a:t>Round a new array to two decimal places</a:t>
                      </a:r>
                    </a:p>
                  </a:txBody>
                  <a:tcPr marL="91440" marR="91440" marT="45720" marB="45720">
                    <a:solidFill>
                      <a:srgbClr val="EEF3F6"/>
                    </a:solidFill>
                  </a:tcPr>
                </a:tc>
              </a:tr>
              <a:tr h="666750">
                <a:tc>
                  <a:txBody>
                    <a:bodyPr/>
                    <a:lstStyle/>
                    <a:p>
                      <a:r>
                        <a:rPr sz="1725" b="0">
                          <a:solidFill>
                            <a:srgbClr val="1C3144"/>
                          </a:solidFill>
                          <a:latin typeface="Calibri"/>
                          <a:ea typeface="Calibri"/>
                          <a:cs typeface="Calibri"/>
                        </a:rPr>
                        <a:t>predictions.tolist()</a:t>
                      </a:r>
                    </a:p>
                  </a:txBody>
                  <a:tcPr marL="91440" marR="91440" marT="45720" marB="45720">
                    <a:solidFill>
                      <a:srgbClr val="FFFFFF"/>
                    </a:solidFill>
                  </a:tcPr>
                </a:tc>
                <a:tc>
                  <a:txBody>
                    <a:bodyPr/>
                    <a:lstStyle/>
                    <a:p>
                      <a:r>
                        <a:rPr sz="1725" b="0">
                          <a:solidFill>
                            <a:srgbClr val="1C3144"/>
                          </a:solidFill>
                          <a:latin typeface="Calibri"/>
                          <a:ea typeface="Calibri"/>
                          <a:cs typeface="Calibri"/>
                        </a:rPr>
                        <a:t>Convert the array into a Python list</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A6593713-31C6-48FC-B92D-57558F654E85}"/>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Use rounded values only for a labelled display. Keep full precision when the assignment requires it.</a:t>
            </a:r>
          </a:p>
        </p:txBody>
      </p:sp>
      <p:sp>
        <p:nvSpPr>
          <p:cNvPr id="6" name="">
            <a:extLst xmlns:a="http://schemas.openxmlformats.org/drawingml/2006/main">
              <a:ext uri="{FF2B5EF4-FFF2-40B4-BE49-F238E27FC236}">
                <a16:creationId xmlns:a16="http://schemas.microsoft.com/office/drawing/2014/main" id="{9F65E406-1603-49F2-98D5-8836D47800A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16</a:t>
            </a:r>
          </a:p>
        </p:txBody>
      </p:sp>
    </p:spTree>
    <p:extLst>
      <p:ext uri="{BB962C8B-B14F-4D97-AF65-F5344CB8AC3E}">
        <p14:creationId xmlns:p14="http://schemas.microsoft.com/office/powerpoint/2010/main" val="104239691"/>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06240542-8369-411F-B2EA-BF4C58B0639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335ACF0-8869-492A-9870-C8D79F4E507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DA54C450-EA90-4725-BB6A-4B151F16384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Create an array before reading its shape</a:t>
            </a:r>
          </a:p>
        </p:txBody>
      </p:sp>
      <p:sp>
        <p:nvSpPr>
          <p:cNvPr id="4" name="">
            <a:extLst xmlns:a="http://schemas.openxmlformats.org/drawingml/2006/main">
              <a:ext uri="{FF2B5EF4-FFF2-40B4-BE49-F238E27FC236}">
                <a16:creationId xmlns:a16="http://schemas.microsoft.com/office/drawing/2014/main" id="{0138B36D-E479-49EB-875B-4A301098E469}"/>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1E370498-C8A1-4CAC-A5A9-B32120601EC1}"/>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NumPy is a library for numerical arrays. import numpy as np makes its tools available through the name np.</a:t>
            </a:r>
          </a:p>
        </p:txBody>
      </p:sp>
      <p:sp>
        <p:nvSpPr>
          <p:cNvPr id="6" name="">
            <a:extLst xmlns:a="http://schemas.openxmlformats.org/drawingml/2006/main">
              <a:ext uri="{FF2B5EF4-FFF2-40B4-BE49-F238E27FC236}">
                <a16:creationId xmlns:a16="http://schemas.microsoft.com/office/drawing/2014/main" id="{20C011F8-8F46-463E-8754-87828A58ADC8}"/>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A943B0B0-5688-44D5-9191-D471BEE5B713}"/>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 array stores a regular arrangement of values. np.array([[1], [2], [3]]) creates three rows with one value in each.</a:t>
            </a:r>
          </a:p>
        </p:txBody>
      </p:sp>
      <p:sp>
        <p:nvSpPr>
          <p:cNvPr id="8" name="">
            <a:extLst xmlns:a="http://schemas.openxmlformats.org/drawingml/2006/main">
              <a:ext uri="{FF2B5EF4-FFF2-40B4-BE49-F238E27FC236}">
                <a16:creationId xmlns:a16="http://schemas.microsoft.com/office/drawing/2014/main" id="{4CAF6CEA-0C97-46E4-B0BC-06E9C6B30F52}"/>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490D2D49-B735-4103-BFCB-26CF697544B0}"/>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X.shape reports (3, 1): three rows, one column. np.array([12, 14, 16]) is one-dimensional; its shape is (3,). The comma marks a one-item tuple.</a:t>
            </a:r>
          </a:p>
        </p:txBody>
      </p:sp>
      <p:sp>
        <p:nvSpPr>
          <p:cNvPr id="10" name="">
            <a:extLst xmlns:a="http://schemas.openxmlformats.org/drawingml/2006/main">
              <a:ext uri="{FF2B5EF4-FFF2-40B4-BE49-F238E27FC236}">
                <a16:creationId xmlns:a16="http://schemas.microsoft.com/office/drawing/2014/main" id="{B153E023-3678-4C89-841F-5AE20F20124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17</a:t>
            </a:r>
          </a:p>
        </p:txBody>
      </p:sp>
    </p:spTree>
    <p:extLst>
      <p:ext uri="{BB962C8B-B14F-4D97-AF65-F5344CB8AC3E}">
        <p14:creationId xmlns:p14="http://schemas.microsoft.com/office/powerpoint/2010/main" val="113096226"/>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968B9E1A-6ECE-49EE-BE6A-DBE47A90178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9DEF504-089E-4A94-A89E-82000B88AD2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E3B1283F-55E8-4CCC-AD1B-428A0B4653A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Rows, columns and named options</a:t>
            </a:r>
          </a:p>
        </p:txBody>
      </p:sp>
      <p:sp>
        <p:nvSpPr>
          <p:cNvPr id="4" name="">
            <a:extLst xmlns:a="http://schemas.openxmlformats.org/drawingml/2006/main">
              <a:ext uri="{FF2B5EF4-FFF2-40B4-BE49-F238E27FC236}">
                <a16:creationId xmlns:a16="http://schemas.microsoft.com/office/drawing/2014/main" id="{8018FCC0-4D77-4E02-85BA-76725C9BF2D5}"/>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186E094-A97E-4CBF-91B4-61198B21DAE8}"/>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import</a:t>
            </a:r>
            <a:r>
              <a:rPr sz="2175" b="0">
                <a:solidFill>
                  <a:srgbClr val="F4F7FA"/>
                </a:solidFill>
                <a:latin typeface="Courier New"/>
                <a:ea typeface="Courier New"/>
                <a:cs typeface="Courier New"/>
              </a:rPr>
              <a:t> numpy as np</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X = np.array([[1], [2], [3]])</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y = np.array([12, 14, 16])</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print(X.shape)</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print(y.shape)</a:t>
            </a:r>
          </a:p>
        </p:txBody>
      </p:sp>
      <p:sp>
        <p:nvSpPr>
          <p:cNvPr id="6" name="">
            <a:extLst xmlns:a="http://schemas.openxmlformats.org/drawingml/2006/main">
              <a:ext uri="{FF2B5EF4-FFF2-40B4-BE49-F238E27FC236}">
                <a16:creationId xmlns:a16="http://schemas.microsoft.com/office/drawing/2014/main" id="{4EB4EE45-6C1E-4B04-B7B4-302871F811C7}"/>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3FC7ADA8-B538-4DE7-A93C-F52BD68F80DD}"/>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import loads a library. from selects a tool from it.</a:t>
            </a:r>
          </a:p>
        </p:txBody>
      </p:sp>
      <p:sp>
        <p:nvSpPr>
          <p:cNvPr id="8" name="">
            <a:extLst xmlns:a="http://schemas.openxmlformats.org/drawingml/2006/main">
              <a:ext uri="{FF2B5EF4-FFF2-40B4-BE49-F238E27FC236}">
                <a16:creationId xmlns:a16="http://schemas.microsoft.com/office/drawing/2014/main" id="{0105408D-7019-4F2F-8F77-B48AAEB97F7C}"/>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print displays a value below the cell.</a:t>
            </a:r>
          </a:p>
        </p:txBody>
      </p:sp>
      <p:sp>
        <p:nvSpPr>
          <p:cNvPr id="9" name="">
            <a:extLst xmlns:a="http://schemas.openxmlformats.org/drawingml/2006/main">
              <a:ext uri="{FF2B5EF4-FFF2-40B4-BE49-F238E27FC236}">
                <a16:creationId xmlns:a16="http://schemas.microsoft.com/office/drawing/2014/main" id="{FD2D5347-3887-4259-AD10-7FD11DDE62DD}"/>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Square brackets create a list or select an item.</a:t>
            </a:r>
          </a:p>
        </p:txBody>
      </p:sp>
      <p:sp>
        <p:nvSpPr>
          <p:cNvPr id="10" name="">
            <a:extLst xmlns:a="http://schemas.openxmlformats.org/drawingml/2006/main">
              <a:ext uri="{FF2B5EF4-FFF2-40B4-BE49-F238E27FC236}">
                <a16:creationId xmlns:a16="http://schemas.microsoft.com/office/drawing/2014/main" id="{140DAC64-0EF1-4B06-AB28-C94C93D22A96}"/>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X has three rows and one feature column. y has three target values.</a:t>
            </a:r>
          </a:p>
        </p:txBody>
      </p:sp>
      <p:sp>
        <p:nvSpPr>
          <p:cNvPr id="11" name="">
            <a:extLst xmlns:a="http://schemas.openxmlformats.org/drawingml/2006/main">
              <a:ext uri="{FF2B5EF4-FFF2-40B4-BE49-F238E27FC236}">
                <a16:creationId xmlns:a16="http://schemas.microsoft.com/office/drawing/2014/main" id="{FD80AFAB-8D98-4163-B1C4-AB97D19D86E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18</a:t>
            </a:r>
          </a:p>
        </p:txBody>
      </p:sp>
    </p:spTree>
    <p:extLst>
      <p:ext uri="{BB962C8B-B14F-4D97-AF65-F5344CB8AC3E}">
        <p14:creationId xmlns:p14="http://schemas.microsoft.com/office/powerpoint/2010/main" val="1498935219"/>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D513055B-8B6E-4DA0-9D91-A3129FD9AFB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A132967-B798-44E7-AF83-9A9F69B6B92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43D3562F-5DA7-4268-8BD0-FD7CE17E3AD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fit and predict</a:t>
            </a:r>
          </a:p>
        </p:txBody>
      </p:sp>
      <p:sp>
        <p:nvSpPr>
          <p:cNvPr id="4" name="">
            <a:extLst xmlns:a="http://schemas.openxmlformats.org/drawingml/2006/main">
              <a:ext uri="{FF2B5EF4-FFF2-40B4-BE49-F238E27FC236}">
                <a16:creationId xmlns:a16="http://schemas.microsoft.com/office/drawing/2014/main" id="{8BF740A6-D3E4-442C-AE7B-51131F95443E}"/>
              </a:ext>
            </a:extLst>
          </p:cNvPr>
          <p:cNvSpPr>
            <a:spLocks xmlns:a="http://schemas.openxmlformats.org/drawingml/2006/main" noGrp="1"/>
          </p:cNvSpPr>
          <p:nvPr/>
        </p:nvSpPr>
        <p:spPr>
          <a:xfrm xmlns:a="http://schemas.openxmlformats.org/drawingml/2006/main">
            <a:off x="590550" y="1714500"/>
            <a:ext cx="110109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E62A66B-2B00-4169-B08E-5B580A9F2A2B}"/>
              </a:ext>
            </a:extLst>
          </p:cNvPr>
          <p:cNvSpPr>
            <a:spLocks xmlns:a="http://schemas.openxmlformats.org/drawingml/2006/main" noGrp="1"/>
          </p:cNvSpPr>
          <p:nvPr/>
        </p:nvSpPr>
        <p:spPr>
          <a:xfrm xmlns:a="http://schemas.openxmlformats.org/drawingml/2006/main">
            <a:off x="828675" y="1952625"/>
            <a:ext cx="104394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E4572E"/>
                </a:solidFill>
                <a:latin typeface="Calibri"/>
                <a:ea typeface="Calibri"/>
                <a:cs typeface="Calibri"/>
              </a:defRPr>
            </a:pPr>
            <a:r>
              <a:rPr sz="3150" b="1">
                <a:solidFill>
                  <a:srgbClr val="E4572E"/>
                </a:solidFill>
                <a:latin typeface="Calibri"/>
                <a:ea typeface="Calibri"/>
                <a:cs typeface="Calibri"/>
              </a:rPr>
              <a:t>fit and predict</a:t>
            </a:r>
          </a:p>
        </p:txBody>
      </p:sp>
      <p:sp>
        <p:nvSpPr>
          <p:cNvPr id="6" name="">
            <a:extLst xmlns:a="http://schemas.openxmlformats.org/drawingml/2006/main">
              <a:ext uri="{FF2B5EF4-FFF2-40B4-BE49-F238E27FC236}">
                <a16:creationId xmlns:a16="http://schemas.microsoft.com/office/drawing/2014/main" id="{52CAA008-6720-44E2-BCAD-F84BBBF7C89F}"/>
              </a:ext>
            </a:extLst>
          </p:cNvPr>
          <p:cNvSpPr>
            <a:spLocks xmlns:a="http://schemas.openxmlformats.org/drawingml/2006/main" noGrp="1"/>
          </p:cNvSpPr>
          <p:nvPr/>
        </p:nvSpPr>
        <p:spPr>
          <a:xfrm xmlns:a="http://schemas.openxmlformats.org/drawingml/2006/main">
            <a:off x="828675" y="3067050"/>
            <a:ext cx="10439400"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fit learns from training inputs and targets. predict uses the fitted rule on new inputs without receiving their true targets.</a:t>
            </a:r>
          </a:p>
        </p:txBody>
      </p:sp>
      <p:sp>
        <p:nvSpPr>
          <p:cNvPr id="7" name="">
            <a:extLst xmlns:a="http://schemas.openxmlformats.org/drawingml/2006/main">
              <a:ext uri="{FF2B5EF4-FFF2-40B4-BE49-F238E27FC236}">
                <a16:creationId xmlns:a16="http://schemas.microsoft.com/office/drawing/2014/main" id="{F29BDBCF-B23B-4303-84A5-FC7C18952B9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19</a:t>
            </a:r>
          </a:p>
        </p:txBody>
      </p:sp>
    </p:spTree>
    <p:extLst>
      <p:ext uri="{BB962C8B-B14F-4D97-AF65-F5344CB8AC3E}">
        <p14:creationId xmlns:p14="http://schemas.microsoft.com/office/powerpoint/2010/main" val="1342930207"/>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F10889EA-E02C-4B25-A793-780BF52790A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D1F2ABD-338D-47B2-AD1B-2A2BC2F1AF1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F2A3DC02-32EA-4B7F-B283-D914E880F7F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model object keeps learned information</a:t>
            </a:r>
          </a:p>
        </p:txBody>
      </p:sp>
      <p:sp>
        <p:nvSpPr>
          <p:cNvPr id="4" name="">
            <a:extLst xmlns:a="http://schemas.openxmlformats.org/drawingml/2006/main">
              <a:ext uri="{FF2B5EF4-FFF2-40B4-BE49-F238E27FC236}">
                <a16:creationId xmlns:a16="http://schemas.microsoft.com/office/drawing/2014/main" id="{FB8F93A1-7A7E-4295-A903-98B182772344}"/>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D13B480-CC9E-4E61-AA68-FEE24D1B2C95}"/>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Object and method</a:t>
            </a:r>
          </a:p>
        </p:txBody>
      </p:sp>
      <p:sp>
        <p:nvSpPr>
          <p:cNvPr id="6" name="">
            <a:extLst xmlns:a="http://schemas.openxmlformats.org/drawingml/2006/main">
              <a:ext uri="{FF2B5EF4-FFF2-40B4-BE49-F238E27FC236}">
                <a16:creationId xmlns:a16="http://schemas.microsoft.com/office/drawing/2014/main" id="{2780B67A-B40D-4033-921F-35371FFD4327}"/>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LinearRegression() creates a model object. A method is an operation on that object. model.fit(...) stores learned information; model.predict(...) uses it.</a:t>
            </a:r>
          </a:p>
        </p:txBody>
      </p:sp>
      <p:sp>
        <p:nvSpPr>
          <p:cNvPr id="7" name="">
            <a:extLst xmlns:a="http://schemas.openxmlformats.org/drawingml/2006/main">
              <a:ext uri="{FF2B5EF4-FFF2-40B4-BE49-F238E27FC236}">
                <a16:creationId xmlns:a16="http://schemas.microsoft.com/office/drawing/2014/main" id="{768561DC-A989-4101-A9BF-DD46E6D8E71C}"/>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B3CFD79B-2C5B-46BB-A424-2031F184897D}"/>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Options</a:t>
            </a:r>
          </a:p>
        </p:txBody>
      </p:sp>
      <p:sp>
        <p:nvSpPr>
          <p:cNvPr id="9" name="">
            <a:extLst xmlns:a="http://schemas.openxmlformats.org/drawingml/2006/main">
              <a:ext uri="{FF2B5EF4-FFF2-40B4-BE49-F238E27FC236}">
                <a16:creationId xmlns:a16="http://schemas.microsoft.com/office/drawing/2014/main" id="{C5A20413-A148-4DD0-BB0D-47D542AED1D6}"/>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An argument such as strategy="mean" names an option. A random seed fixes the starting state of random choices; it does not prove that a model is accurate.</a:t>
            </a:r>
          </a:p>
        </p:txBody>
      </p:sp>
      <p:sp>
        <p:nvSpPr>
          <p:cNvPr id="10" name="">
            <a:extLst xmlns:a="http://schemas.openxmlformats.org/drawingml/2006/main">
              <a:ext uri="{FF2B5EF4-FFF2-40B4-BE49-F238E27FC236}">
                <a16:creationId xmlns:a16="http://schemas.microsoft.com/office/drawing/2014/main" id="{7CB3C20F-E307-4AC6-AC97-92A9413A802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20</a:t>
            </a:r>
          </a:p>
        </p:txBody>
      </p:sp>
    </p:spTree>
    <p:extLst>
      <p:ext uri="{BB962C8B-B14F-4D97-AF65-F5344CB8AC3E}">
        <p14:creationId xmlns:p14="http://schemas.microsoft.com/office/powerpoint/2010/main" val="1811971273"/>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B071B857-5996-4C4F-A3F6-7DEF6396E73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7BB12D8-B64B-4DBF-AF91-C8C9871D1A8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23D263C0-CC81-466B-B02D-A424C4CCB7F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An object remembers its fitted state</a:t>
            </a:r>
          </a:p>
        </p:txBody>
      </p:sp>
      <p:graphicFrame>
        <p:nvGraphicFramePr>
          <p:cNvPr id="10" name=""/>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5505450"/>
                <a:gridCol w="5505450"/>
              </a:tblGrid>
              <a:tr h="666750">
                <a:tc>
                  <a:txBody>
                    <a:bodyPr/>
                    <a:lstStyle/>
                    <a:p>
                      <a:r>
                        <a:rPr sz="2025" b="1">
                          <a:solidFill>
                            <a:srgbClr val="FFFFFF"/>
                          </a:solidFill>
                          <a:latin typeface="Calibri"/>
                          <a:ea typeface="Calibri"/>
                          <a:cs typeface="Calibri"/>
                        </a:rPr>
                        <a:t>Python expression</a:t>
                      </a:r>
                    </a:p>
                  </a:txBody>
                  <a:tcPr marL="91440" marR="91440" marT="45720" marB="45720">
                    <a:solidFill>
                      <a:srgbClr val="2E7D6F"/>
                    </a:solidFill>
                  </a:tcPr>
                </a:tc>
                <a:tc>
                  <a:txBody>
                    <a:bodyPr/>
                    <a:lstStyle/>
                    <a:p>
                      <a:r>
                        <a:rPr sz="2025" b="1">
                          <a:solidFill>
                            <a:srgbClr val="FFFFFF"/>
                          </a:solidFill>
                          <a:latin typeface="Calibri"/>
                          <a:ea typeface="Calibri"/>
                          <a:cs typeface="Calibri"/>
                        </a:rPr>
                        <a:t>What it means</a:t>
                      </a:r>
                    </a:p>
                  </a:txBody>
                  <a:tcPr marL="91440" marR="91440" marT="45720" marB="45720">
                    <a:solidFill>
                      <a:srgbClr val="2E7D6F"/>
                    </a:solidFill>
                  </a:tcPr>
                </a:tc>
              </a:tr>
              <a:tr h="666750">
                <a:tc>
                  <a:txBody>
                    <a:bodyPr/>
                    <a:lstStyle/>
                    <a:p>
                      <a:r>
                        <a:rPr sz="2025" b="0">
                          <a:solidFill>
                            <a:srgbClr val="1C3144"/>
                          </a:solidFill>
                          <a:latin typeface="Calibri"/>
                          <a:ea typeface="Calibri"/>
                          <a:cs typeface="Calibri"/>
                        </a:rPr>
                        <a:t>model = LinearRegression()</a:t>
                      </a:r>
                    </a:p>
                  </a:txBody>
                  <a:tcPr marL="91440" marR="91440" marT="45720" marB="45720">
                    <a:solidFill>
                      <a:srgbClr val="EEF3F6"/>
                    </a:solidFill>
                  </a:tcPr>
                </a:tc>
                <a:tc>
                  <a:txBody>
                    <a:bodyPr/>
                    <a:lstStyle/>
                    <a:p>
                      <a:r>
                        <a:rPr sz="2025" b="0">
                          <a:solidFill>
                            <a:srgbClr val="1C3144"/>
                          </a:solidFill>
                          <a:latin typeface="Calibri"/>
                          <a:ea typeface="Calibri"/>
                          <a:cs typeface="Calibri"/>
                        </a:rPr>
                        <a:t>Create an unfitted model object</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model.fit(X_train, y_train)</a:t>
                      </a:r>
                    </a:p>
                  </a:txBody>
                  <a:tcPr marL="91440" marR="91440" marT="45720" marB="45720">
                    <a:solidFill>
                      <a:srgbClr val="FFFFFF"/>
                    </a:solidFill>
                  </a:tcPr>
                </a:tc>
                <a:tc>
                  <a:txBody>
                    <a:bodyPr/>
                    <a:lstStyle/>
                    <a:p>
                      <a:r>
                        <a:rPr sz="2025" b="0">
                          <a:solidFill>
                            <a:srgbClr val="1C3144"/>
                          </a:solidFill>
                          <a:latin typeface="Calibri"/>
                          <a:ea typeface="Calibri"/>
                          <a:cs typeface="Calibri"/>
                        </a:rPr>
                        <a:t>Learn from paired training data</a:t>
                      </a:r>
                    </a:p>
                  </a:txBody>
                  <a:tcPr marL="91440" marR="91440" marT="45720" marB="45720">
                    <a:solidFill>
                      <a:srgbClr val="FFFFFF"/>
                    </a:solidFill>
                  </a:tcPr>
                </a:tc>
              </a:tr>
              <a:tr h="666750">
                <a:tc>
                  <a:txBody>
                    <a:bodyPr/>
                    <a:lstStyle/>
                    <a:p>
                      <a:r>
                        <a:rPr sz="2025" b="0">
                          <a:solidFill>
                            <a:srgbClr val="1C3144"/>
                          </a:solidFill>
                          <a:latin typeface="Calibri"/>
                          <a:ea typeface="Calibri"/>
                          <a:cs typeface="Calibri"/>
                        </a:rPr>
                        <a:t>model.predict(X_new)</a:t>
                      </a:r>
                    </a:p>
                  </a:txBody>
                  <a:tcPr marL="91440" marR="91440" marT="45720" marB="45720">
                    <a:solidFill>
                      <a:srgbClr val="EEF3F6"/>
                    </a:solidFill>
                  </a:tcPr>
                </a:tc>
                <a:tc>
                  <a:txBody>
                    <a:bodyPr/>
                    <a:lstStyle/>
                    <a:p>
                      <a:r>
                        <a:rPr sz="2025" b="0">
                          <a:solidFill>
                            <a:srgbClr val="1C3144"/>
                          </a:solidFill>
                          <a:latin typeface="Calibri"/>
                          <a:ea typeface="Calibri"/>
                          <a:cs typeface="Calibri"/>
                        </a:rPr>
                        <a:t>Use that learned state</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random_state=17</a:t>
                      </a:r>
                    </a:p>
                  </a:txBody>
                  <a:tcPr marL="91440" marR="91440" marT="45720" marB="45720">
                    <a:solidFill>
                      <a:srgbClr val="FFFFFF"/>
                    </a:solidFill>
                  </a:tcPr>
                </a:tc>
                <a:tc>
                  <a:txBody>
                    <a:bodyPr/>
                    <a:lstStyle/>
                    <a:p>
                      <a:r>
                        <a:rPr sz="2025" b="0">
                          <a:solidFill>
                            <a:srgbClr val="1C3144"/>
                          </a:solidFill>
                          <a:latin typeface="Calibri"/>
                          <a:ea typeface="Calibri"/>
                          <a:cs typeface="Calibri"/>
                        </a:rPr>
                        <a:t>Name an option and set its value</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9E4FF6C2-0B05-44EE-AF92-09317A50735B}"/>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An object holds state and has methods. A method is a function used through that object.</a:t>
            </a:r>
          </a:p>
        </p:txBody>
      </p:sp>
      <p:sp>
        <p:nvSpPr>
          <p:cNvPr id="6" name="">
            <a:extLst xmlns:a="http://schemas.openxmlformats.org/drawingml/2006/main">
              <a:ext uri="{FF2B5EF4-FFF2-40B4-BE49-F238E27FC236}">
                <a16:creationId xmlns:a16="http://schemas.microsoft.com/office/drawing/2014/main" id="{A7BFC67E-4B99-4381-B42A-8D663E488A7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21</a:t>
            </a:r>
          </a:p>
        </p:txBody>
      </p:sp>
    </p:spTree>
    <p:extLst>
      <p:ext uri="{BB962C8B-B14F-4D97-AF65-F5344CB8AC3E}">
        <p14:creationId xmlns:p14="http://schemas.microsoft.com/office/powerpoint/2010/main" val="865157918"/>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1E503E25-BF82-4AFE-8859-71740A3E2ED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C5707DC-1705-47EA-B2CC-A70AB846D7D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8B567DED-1215-430E-8554-9C654766C2F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Creating, fitting and predicting</a:t>
            </a:r>
          </a:p>
        </p:txBody>
      </p:sp>
      <p:sp>
        <p:nvSpPr>
          <p:cNvPr id="4" name="">
            <a:extLst xmlns:a="http://schemas.openxmlformats.org/drawingml/2006/main">
              <a:ext uri="{FF2B5EF4-FFF2-40B4-BE49-F238E27FC236}">
                <a16:creationId xmlns:a16="http://schemas.microsoft.com/office/drawing/2014/main" id="{39B80179-3C91-459C-B78F-0659B1844BF9}"/>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32C28753-FE23-4A1F-BE10-51D4834E7566}"/>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LinearRegression() creates a model that has not learned yet.</a:t>
            </a:r>
          </a:p>
        </p:txBody>
      </p:sp>
      <p:sp>
        <p:nvSpPr>
          <p:cNvPr id="6" name="">
            <a:extLst xmlns:a="http://schemas.openxmlformats.org/drawingml/2006/main">
              <a:ext uri="{FF2B5EF4-FFF2-40B4-BE49-F238E27FC236}">
                <a16:creationId xmlns:a16="http://schemas.microsoft.com/office/drawing/2014/main" id="{8222DBC8-FEB7-4B63-860B-5C66F4DA592F}"/>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B6362540-FBBB-4F5E-8A6C-7B75B4DC13AA}"/>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fit(X_train, y_train) learns from paired training examples.</a:t>
            </a:r>
          </a:p>
        </p:txBody>
      </p:sp>
      <p:sp>
        <p:nvSpPr>
          <p:cNvPr id="8" name="">
            <a:extLst xmlns:a="http://schemas.openxmlformats.org/drawingml/2006/main">
              <a:ext uri="{FF2B5EF4-FFF2-40B4-BE49-F238E27FC236}">
                <a16:creationId xmlns:a16="http://schemas.microsoft.com/office/drawing/2014/main" id="{34C8CBB3-A949-4522-9831-70A1B167A063}"/>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DEAFEBBC-4A16-4E1B-8469-8E1FE8BE0D6E}"/>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predict(new_inputs) returns estimates. The actual targets are absent from new_inputs.</a:t>
            </a:r>
          </a:p>
        </p:txBody>
      </p:sp>
      <p:sp>
        <p:nvSpPr>
          <p:cNvPr id="10" name="">
            <a:extLst xmlns:a="http://schemas.openxmlformats.org/drawingml/2006/main">
              <a:ext uri="{FF2B5EF4-FFF2-40B4-BE49-F238E27FC236}">
                <a16:creationId xmlns:a16="http://schemas.microsoft.com/office/drawing/2014/main" id="{AE560224-61C3-497A-9593-913FFE361CE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22</a:t>
            </a:r>
          </a:p>
        </p:txBody>
      </p:sp>
    </p:spTree>
    <p:extLst>
      <p:ext uri="{BB962C8B-B14F-4D97-AF65-F5344CB8AC3E}">
        <p14:creationId xmlns:p14="http://schemas.microsoft.com/office/powerpoint/2010/main" val="1586612737"/>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2B180491-CF3A-4330-8A5A-7A7CED889D6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1E018B3-4AF3-4C50-B8FA-FBB87A13B59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0F8B4E7F-58AC-45A7-BD02-157CEAD4BE8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Where the modelling tools come from</a:t>
            </a:r>
          </a:p>
        </p:txBody>
      </p:sp>
      <p:sp>
        <p:nvSpPr>
          <p:cNvPr id="4" name="">
            <a:extLst xmlns:a="http://schemas.openxmlformats.org/drawingml/2006/main">
              <a:ext uri="{FF2B5EF4-FFF2-40B4-BE49-F238E27FC236}">
                <a16:creationId xmlns:a16="http://schemas.microsoft.com/office/drawing/2014/main" id="{43007CF6-438C-4331-BA80-7A1B54215528}"/>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3323B695-673D-46A3-87AC-0C2DD271FA10}"/>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scikit-learn is an installed machine-learning library. Its Python import name is sklearn. linear_model is the part containing LinearRegression.</a:t>
            </a:r>
          </a:p>
        </p:txBody>
      </p:sp>
      <p:sp>
        <p:nvSpPr>
          <p:cNvPr id="6" name="">
            <a:extLst xmlns:a="http://schemas.openxmlformats.org/drawingml/2006/main">
              <a:ext uri="{FF2B5EF4-FFF2-40B4-BE49-F238E27FC236}">
                <a16:creationId xmlns:a16="http://schemas.microsoft.com/office/drawing/2014/main" id="{8FDC4B91-6A69-41AD-BA57-566D762149C6}"/>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CF1A0915-4294-4CAE-9FC1-C8B533A94E75}"/>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from sklearn.linear_model import LinearRegression makes that model class available. LinearRegression() creates an individual model object.</a:t>
            </a:r>
          </a:p>
        </p:txBody>
      </p:sp>
      <p:sp>
        <p:nvSpPr>
          <p:cNvPr id="8" name="">
            <a:extLst xmlns:a="http://schemas.openxmlformats.org/drawingml/2006/main">
              <a:ext uri="{FF2B5EF4-FFF2-40B4-BE49-F238E27FC236}">
                <a16:creationId xmlns:a16="http://schemas.microsoft.com/office/drawing/2014/main" id="{DC19DC86-39FC-47FD-A3E7-C371CD9394AD}"/>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EDFC99B9-C38E-4560-A74A-20058163886B}"/>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 Colab this library is normally available. If an import fails, use the course setup instructions and retry the import before running model code.</a:t>
            </a:r>
          </a:p>
        </p:txBody>
      </p:sp>
      <p:sp>
        <p:nvSpPr>
          <p:cNvPr id="10" name="">
            <a:extLst xmlns:a="http://schemas.openxmlformats.org/drawingml/2006/main">
              <a:ext uri="{FF2B5EF4-FFF2-40B4-BE49-F238E27FC236}">
                <a16:creationId xmlns:a16="http://schemas.microsoft.com/office/drawing/2014/main" id="{8D9176F8-F075-4EF4-A765-07A06C3B24F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23</a:t>
            </a:r>
          </a:p>
        </p:txBody>
      </p:sp>
    </p:spTree>
    <p:extLst>
      <p:ext uri="{BB962C8B-B14F-4D97-AF65-F5344CB8AC3E}">
        <p14:creationId xmlns:p14="http://schemas.microsoft.com/office/powerpoint/2010/main" val="838902461"/>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96B5F6E1-1304-4962-ABC0-19AF4EAFD25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468A53D-3444-45A2-B3E1-69B6D3478FE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370C53C1-3388-4706-9EA2-8799361EF16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Regression models and errors in Python</a:t>
            </a:r>
          </a:p>
        </p:txBody>
      </p:sp>
      <p:sp>
        <p:nvSpPr>
          <p:cNvPr id="4" name="">
            <a:extLst xmlns:a="http://schemas.openxmlformats.org/drawingml/2006/main">
              <a:ext uri="{FF2B5EF4-FFF2-40B4-BE49-F238E27FC236}">
                <a16:creationId xmlns:a16="http://schemas.microsoft.com/office/drawing/2014/main" id="{8D51A954-373B-4059-B4DE-5A6B7FC753E0}"/>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E027A07-CE8B-4E76-8789-5D5C630BE038}"/>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from</a:t>
            </a:r>
            <a:r>
              <a:rPr sz="2175" b="0">
                <a:solidFill>
                  <a:srgbClr val="F4F7FA"/>
                </a:solidFill>
                <a:latin typeface="Courier New"/>
                <a:ea typeface="Courier New"/>
                <a:cs typeface="Courier New"/>
              </a:rPr>
              <a:t> sklearn.linear_model </a:t>
            </a:r>
            <a:r>
              <a:rPr sz="2175" b="0">
                <a:solidFill>
                  <a:srgbClr val="FFB080"/>
                </a:solidFill>
                <a:latin typeface="Courier New"/>
                <a:ea typeface="Courier New"/>
                <a:cs typeface="Courier New"/>
              </a:rPr>
              <a:t>import</a:t>
            </a:r>
            <a:r>
              <a:rPr sz="2175" b="0">
                <a:solidFill>
                  <a:srgbClr val="F4F7FA"/>
                </a:solidFill>
                <a:latin typeface="Courier New"/>
                <a:ea typeface="Courier New"/>
                <a:cs typeface="Courier New"/>
              </a:rPr>
              <a:t> LinearRegression</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X_train = [[1], [2], [3], [4]]</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y_train = [12, 14, 16, 18]</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new_inputs = [[2.5]]</a:t>
            </a:r>
          </a:p>
        </p:txBody>
      </p:sp>
      <p:sp>
        <p:nvSpPr>
          <p:cNvPr id="6" name="">
            <a:extLst xmlns:a="http://schemas.openxmlformats.org/drawingml/2006/main">
              <a:ext uri="{FF2B5EF4-FFF2-40B4-BE49-F238E27FC236}">
                <a16:creationId xmlns:a16="http://schemas.microsoft.com/office/drawing/2014/main" id="{EF41A399-18AC-4572-AF88-21C44BD3C039}"/>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import loads a library. from selects a tool from it.</a:t>
            </a:r>
          </a:p>
        </p:txBody>
      </p:sp>
      <p:sp>
        <p:nvSpPr>
          <p:cNvPr id="7" name="">
            <a:extLst xmlns:a="http://schemas.openxmlformats.org/drawingml/2006/main">
              <a:ext uri="{FF2B5EF4-FFF2-40B4-BE49-F238E27FC236}">
                <a16:creationId xmlns:a16="http://schemas.microsoft.com/office/drawing/2014/main" id="{D545C7C7-16E0-40E5-AFC2-65218FB05763}"/>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top to bottom. Run the complete example in the matching practice notebook.</a:t>
            </a:r>
          </a:p>
        </p:txBody>
      </p:sp>
      <p:sp>
        <p:nvSpPr>
          <p:cNvPr id="8" name="">
            <a:extLst xmlns:a="http://schemas.openxmlformats.org/drawingml/2006/main">
              <a:ext uri="{FF2B5EF4-FFF2-40B4-BE49-F238E27FC236}">
                <a16:creationId xmlns:a16="http://schemas.microsoft.com/office/drawing/2014/main" id="{0CB9980C-5D9F-4A40-BD9D-9E356724F15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24</a:t>
            </a:r>
          </a:p>
        </p:txBody>
      </p:sp>
    </p:spTree>
    <p:extLst>
      <p:ext uri="{BB962C8B-B14F-4D97-AF65-F5344CB8AC3E}">
        <p14:creationId xmlns:p14="http://schemas.microsoft.com/office/powerpoint/2010/main" val="757756803"/>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E7BD2979-3113-41CC-8CCB-D3A4BBC7B8C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CC90BDC-007F-4D1E-9809-F64A6C52678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6FC84A81-D923-4C7C-937B-7CCF02444C1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Regression models and errors in Python continued</a:t>
            </a:r>
          </a:p>
        </p:txBody>
      </p:sp>
      <p:sp>
        <p:nvSpPr>
          <p:cNvPr id="4" name="">
            <a:extLst xmlns:a="http://schemas.openxmlformats.org/drawingml/2006/main">
              <a:ext uri="{FF2B5EF4-FFF2-40B4-BE49-F238E27FC236}">
                <a16:creationId xmlns:a16="http://schemas.microsoft.com/office/drawing/2014/main" id="{B18AAF4E-A080-4088-93D4-E4953E68FAA1}"/>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36E4A3C-AB05-4C54-9B28-46D8ED1EE56B}"/>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model = LinearRegression()</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model.fit(X_train, y_train)</a:t>
            </a:r>
          </a:p>
        </p:txBody>
      </p:sp>
      <p:sp>
        <p:nvSpPr>
          <p:cNvPr id="6" name="">
            <a:extLst xmlns:a="http://schemas.openxmlformats.org/drawingml/2006/main">
              <a:ext uri="{FF2B5EF4-FFF2-40B4-BE49-F238E27FC236}">
                <a16:creationId xmlns:a16="http://schemas.microsoft.com/office/drawing/2014/main" id="{CE43CD16-C107-4EB6-8644-1D27072C3AE4}"/>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652B40B3-9A8E-4254-B7E8-55E3D50B2020}"/>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fit learns using the supplied training observations.</a:t>
            </a:r>
          </a:p>
        </p:txBody>
      </p:sp>
      <p:sp>
        <p:nvSpPr>
          <p:cNvPr id="8" name="">
            <a:extLst xmlns:a="http://schemas.openxmlformats.org/drawingml/2006/main">
              <a:ext uri="{FF2B5EF4-FFF2-40B4-BE49-F238E27FC236}">
                <a16:creationId xmlns:a16="http://schemas.microsoft.com/office/drawing/2014/main" id="{7E23B113-E0C5-4B35-B997-B57B34D2A8CC}"/>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 assigns the value on the right to the name on the left.</a:t>
            </a:r>
          </a:p>
        </p:txBody>
      </p:sp>
      <p:sp>
        <p:nvSpPr>
          <p:cNvPr id="9" name="">
            <a:extLst xmlns:a="http://schemas.openxmlformats.org/drawingml/2006/main">
              <a:ext uri="{FF2B5EF4-FFF2-40B4-BE49-F238E27FC236}">
                <a16:creationId xmlns:a16="http://schemas.microsoft.com/office/drawing/2014/main" id="{6C2D32C1-2611-4828-A8F7-0F554CF69394}"/>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top to bottom. Run the complete example in the matching practice notebook.</a:t>
            </a:r>
          </a:p>
        </p:txBody>
      </p:sp>
      <p:sp>
        <p:nvSpPr>
          <p:cNvPr id="10" name="">
            <a:extLst xmlns:a="http://schemas.openxmlformats.org/drawingml/2006/main">
              <a:ext uri="{FF2B5EF4-FFF2-40B4-BE49-F238E27FC236}">
                <a16:creationId xmlns:a16="http://schemas.microsoft.com/office/drawing/2014/main" id="{14F99EE9-CD21-4D10-8194-4AEBF2ABC7C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25</a:t>
            </a:r>
          </a:p>
        </p:txBody>
      </p:sp>
    </p:spTree>
    <p:extLst>
      <p:ext uri="{BB962C8B-B14F-4D97-AF65-F5344CB8AC3E}">
        <p14:creationId xmlns:p14="http://schemas.microsoft.com/office/powerpoint/2010/main" val="990562375"/>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0A8DAF88-7E87-47CC-AC39-5B43827F4B1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05CEEEB-8726-4E8A-8EA7-EFCA842678F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1FEAF1A7-1E5D-4717-B47F-BA294E2A81B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Regression models and errors in Python continued</a:t>
            </a:r>
          </a:p>
        </p:txBody>
      </p:sp>
      <p:sp>
        <p:nvSpPr>
          <p:cNvPr id="4" name="">
            <a:extLst xmlns:a="http://schemas.openxmlformats.org/drawingml/2006/main">
              <a:ext uri="{FF2B5EF4-FFF2-40B4-BE49-F238E27FC236}">
                <a16:creationId xmlns:a16="http://schemas.microsoft.com/office/drawing/2014/main" id="{56C58AAA-5539-457B-ABF4-D884EF9331B9}"/>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07C00DE-F705-424F-9793-3AAFC292D529}"/>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43" b="0">
                <a:solidFill>
                  <a:srgbClr val="F4F7FA"/>
                </a:solidFill>
                <a:latin typeface="Courier New"/>
                <a:ea typeface="Courier New"/>
                <a:cs typeface="Courier New"/>
              </a:defRPr>
            </a:pPr>
            <a:r>
              <a:rPr sz="2143" b="0">
                <a:solidFill>
                  <a:srgbClr val="F4F7FA"/>
                </a:solidFill>
                <a:latin typeface="Courier New"/>
                <a:ea typeface="Courier New"/>
                <a:cs typeface="Courier New"/>
              </a:rPr>
              <a:t>predictions = model.predict(new_inputs)</a:t>
            </a:r>
          </a:p>
          <a:p xmlns:a="http://schemas.openxmlformats.org/drawingml/2006/main">
            <a:pPr>
              <a:defRPr sz="2143" b="0">
                <a:solidFill>
                  <a:srgbClr val="F4F7FA"/>
                </a:solidFill>
                <a:latin typeface="Courier New"/>
                <a:ea typeface="Courier New"/>
                <a:cs typeface="Courier New"/>
              </a:defRPr>
            </a:pPr>
            <a:r>
              <a:rPr sz="2143" b="0">
                <a:solidFill>
                  <a:srgbClr val="F4F7FA"/>
                </a:solidFill>
                <a:latin typeface="Courier New"/>
                <a:ea typeface="Courier New"/>
                <a:cs typeface="Courier New"/>
              </a:rPr>
              <a:t>print(predictions.round(2).tolist())</a:t>
            </a:r>
          </a:p>
        </p:txBody>
      </p:sp>
      <p:sp>
        <p:nvSpPr>
          <p:cNvPr id="6" name="">
            <a:extLst xmlns:a="http://schemas.openxmlformats.org/drawingml/2006/main">
              <a:ext uri="{FF2B5EF4-FFF2-40B4-BE49-F238E27FC236}">
                <a16:creationId xmlns:a16="http://schemas.microsoft.com/office/drawing/2014/main" id="{2F8D2DC2-42B2-43E6-B2C1-264D181AC10D}"/>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3706E2F4-4337-4300-8D17-18BDE731881E}"/>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predict applies the fitted model to new inputs.</a:t>
            </a:r>
          </a:p>
        </p:txBody>
      </p:sp>
      <p:sp>
        <p:nvSpPr>
          <p:cNvPr id="8" name="">
            <a:extLst xmlns:a="http://schemas.openxmlformats.org/drawingml/2006/main">
              <a:ext uri="{FF2B5EF4-FFF2-40B4-BE49-F238E27FC236}">
                <a16:creationId xmlns:a16="http://schemas.microsoft.com/office/drawing/2014/main" id="{BA27B25F-3010-4CC5-9407-0639D99ED88C}"/>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print displays a value below the cell.</a:t>
            </a:r>
          </a:p>
        </p:txBody>
      </p:sp>
      <p:sp>
        <p:nvSpPr>
          <p:cNvPr id="9" name="">
            <a:extLst xmlns:a="http://schemas.openxmlformats.org/drawingml/2006/main">
              <a:ext uri="{FF2B5EF4-FFF2-40B4-BE49-F238E27FC236}">
                <a16:creationId xmlns:a16="http://schemas.microsoft.com/office/drawing/2014/main" id="{36A8F0A3-882C-4049-A5AF-43C226E8A4F6}"/>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 assigns the value on the right to the name on the left.</a:t>
            </a:r>
          </a:p>
        </p:txBody>
      </p:sp>
      <p:sp>
        <p:nvSpPr>
          <p:cNvPr id="10" name="">
            <a:extLst xmlns:a="http://schemas.openxmlformats.org/drawingml/2006/main">
              <a:ext uri="{FF2B5EF4-FFF2-40B4-BE49-F238E27FC236}">
                <a16:creationId xmlns:a16="http://schemas.microsoft.com/office/drawing/2014/main" id="{889ACBD1-7364-4D88-8058-F0E8898418BB}"/>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top to bottom. Run the complete example in the matching practice notebook.</a:t>
            </a:r>
          </a:p>
        </p:txBody>
      </p:sp>
      <p:sp>
        <p:nvSpPr>
          <p:cNvPr id="11" name="">
            <a:extLst xmlns:a="http://schemas.openxmlformats.org/drawingml/2006/main">
              <a:ext uri="{FF2B5EF4-FFF2-40B4-BE49-F238E27FC236}">
                <a16:creationId xmlns:a16="http://schemas.microsoft.com/office/drawing/2014/main" id="{C6A2816F-1A72-45C6-9C79-9CD9B8DC32E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26</a:t>
            </a:r>
          </a:p>
        </p:txBody>
      </p:sp>
    </p:spTree>
    <p:extLst>
      <p:ext uri="{BB962C8B-B14F-4D97-AF65-F5344CB8AC3E}">
        <p14:creationId xmlns:p14="http://schemas.microsoft.com/office/powerpoint/2010/main" val="96634663"/>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02677F08-0D1D-480B-A1C8-1F38360C3C2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2446D94-BAAD-471B-BCF1-84EE1E21C91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CHECK THE OUTPUT</a:t>
            </a:r>
          </a:p>
        </p:txBody>
      </p:sp>
      <p:sp>
        <p:nvSpPr>
          <p:cNvPr id="3" name="">
            <a:extLst xmlns:a="http://schemas.openxmlformats.org/drawingml/2006/main">
              <a:ext uri="{FF2B5EF4-FFF2-40B4-BE49-F238E27FC236}">
                <a16:creationId xmlns:a16="http://schemas.microsoft.com/office/drawing/2014/main" id="{70D7F196-7FD5-4788-8552-11750CD6DD6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Regression models and errors results</a:t>
            </a:r>
          </a:p>
        </p:txBody>
      </p:sp>
      <p:sp>
        <p:nvSpPr>
          <p:cNvPr id="4" name="">
            <a:extLst xmlns:a="http://schemas.openxmlformats.org/drawingml/2006/main">
              <a:ext uri="{FF2B5EF4-FFF2-40B4-BE49-F238E27FC236}">
                <a16:creationId xmlns:a16="http://schemas.microsoft.com/office/drawing/2014/main" id="{C537C5D3-8464-4946-B705-2721BA60573C}"/>
              </a:ext>
            </a:extLst>
          </p:cNvPr>
          <p:cNvSpPr>
            <a:spLocks xmlns:a="http://schemas.openxmlformats.org/drawingml/2006/main" noGrp="1"/>
          </p:cNvSpPr>
          <p:nvPr/>
        </p:nvSpPr>
        <p:spPr>
          <a:xfrm xmlns:a="http://schemas.openxmlformats.org/drawingml/2006/main">
            <a:off x="590550" y="1752600"/>
            <a:ext cx="11010900" cy="35242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7A24C49-A672-4F83-A21E-10B3856DCCCF}"/>
              </a:ext>
            </a:extLst>
          </p:cNvPr>
          <p:cNvSpPr>
            <a:spLocks xmlns:a="http://schemas.openxmlformats.org/drawingml/2006/main" noGrp="1"/>
          </p:cNvSpPr>
          <p:nvPr/>
        </p:nvSpPr>
        <p:spPr>
          <a:xfrm xmlns:a="http://schemas.openxmlformats.org/drawingml/2006/main">
            <a:off x="904875" y="2028825"/>
            <a:ext cx="10334625" cy="3048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0">
                <a:solidFill>
                  <a:srgbClr val="2E7D6F"/>
                </a:solidFill>
                <a:latin typeface="Courier New"/>
                <a:ea typeface="Courier New"/>
                <a:cs typeface="Courier New"/>
              </a:defRPr>
            </a:pPr>
            <a:r>
              <a:rPr sz="3150" b="0">
                <a:solidFill>
                  <a:srgbClr val="2E7D6F"/>
                </a:solidFill>
                <a:latin typeface="Courier New"/>
                <a:ea typeface="Courier New"/>
                <a:cs typeface="Courier New"/>
              </a:rPr>
              <a:t>[15.0]</a:t>
            </a:r>
          </a:p>
        </p:txBody>
      </p:sp>
      <p:sp>
        <p:nvSpPr>
          <p:cNvPr id="6" name="">
            <a:extLst xmlns:a="http://schemas.openxmlformats.org/drawingml/2006/main">
              <a:ext uri="{FF2B5EF4-FFF2-40B4-BE49-F238E27FC236}">
                <a16:creationId xmlns:a16="http://schemas.microsoft.com/office/drawing/2014/main" id="{29459EDB-F9D9-4209-8FBA-16FB73EA99F6}"/>
              </a:ext>
            </a:extLst>
          </p:cNvPr>
          <p:cNvSpPr>
            <a:spLocks xmlns:a="http://schemas.openxmlformats.org/drawingml/2006/main" noGrp="1"/>
          </p:cNvSpPr>
          <p:nvPr/>
        </p:nvSpPr>
        <p:spPr>
          <a:xfrm xmlns:a="http://schemas.openxmlformats.org/drawingml/2006/main">
            <a:off x="685800" y="5581650"/>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Which step produced this result? What changes if one input changes?</a:t>
            </a:r>
          </a:p>
        </p:txBody>
      </p:sp>
      <p:sp>
        <p:nvSpPr>
          <p:cNvPr id="7" name="">
            <a:extLst xmlns:a="http://schemas.openxmlformats.org/drawingml/2006/main">
              <a:ext uri="{FF2B5EF4-FFF2-40B4-BE49-F238E27FC236}">
                <a16:creationId xmlns:a16="http://schemas.microsoft.com/office/drawing/2014/main" id="{966B5234-403C-4539-850B-49709E1D03C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27</a:t>
            </a:r>
          </a:p>
        </p:txBody>
      </p:sp>
    </p:spTree>
    <p:extLst>
      <p:ext uri="{BB962C8B-B14F-4D97-AF65-F5344CB8AC3E}">
        <p14:creationId xmlns:p14="http://schemas.microsoft.com/office/powerpoint/2010/main" val="519766848"/>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64227968-FA2E-4589-B848-22798FACFF4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30DFC09-40BD-4CBA-A9EF-3E818A97E2A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D5781599-C14F-4EAB-9B53-DE04B919CBF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The mean baseline</a:t>
            </a:r>
          </a:p>
        </p:txBody>
      </p:sp>
      <p:sp>
        <p:nvSpPr>
          <p:cNvPr id="4" name="">
            <a:extLst xmlns:a="http://schemas.openxmlformats.org/drawingml/2006/main">
              <a:ext uri="{FF2B5EF4-FFF2-40B4-BE49-F238E27FC236}">
                <a16:creationId xmlns:a16="http://schemas.microsoft.com/office/drawing/2014/main" id="{32AB3062-63C0-48FC-9FD9-87CF7B52A1B3}"/>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D3B3E360-8099-4C99-A0D5-A16625587D72}"/>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same training data.</a:t>
            </a:r>
          </a:p>
        </p:txBody>
      </p:sp>
      <p:sp>
        <p:nvSpPr>
          <p:cNvPr id="6" name="">
            <a:extLst xmlns:a="http://schemas.openxmlformats.org/drawingml/2006/main">
              <a:ext uri="{FF2B5EF4-FFF2-40B4-BE49-F238E27FC236}">
                <a16:creationId xmlns:a16="http://schemas.microsoft.com/office/drawing/2014/main" id="{6F07F97D-81BF-49DA-82D6-A5404924BC80}"/>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9405C180-AE83-471C-8743-FFE8E84452CC}"/>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This baseline learns their mean, 15, and predicts it for every input.</a:t>
            </a:r>
          </a:p>
        </p:txBody>
      </p:sp>
      <p:sp>
        <p:nvSpPr>
          <p:cNvPr id="8" name="">
            <a:extLst xmlns:a="http://schemas.openxmlformats.org/drawingml/2006/main">
              <a:ext uri="{FF2B5EF4-FFF2-40B4-BE49-F238E27FC236}">
                <a16:creationId xmlns:a16="http://schemas.microsoft.com/office/drawing/2014/main" id="{EE9BAB0F-B523-458F-BBD0-42B154129164}"/>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FB712B43-BB39-4C99-919C-7EBEFDF910BB}"/>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It gives a simple comparison before claiming the line helps.</a:t>
            </a:r>
          </a:p>
        </p:txBody>
      </p:sp>
      <p:sp>
        <p:nvSpPr>
          <p:cNvPr id="10" name="">
            <a:extLst xmlns:a="http://schemas.openxmlformats.org/drawingml/2006/main">
              <a:ext uri="{FF2B5EF4-FFF2-40B4-BE49-F238E27FC236}">
                <a16:creationId xmlns:a16="http://schemas.microsoft.com/office/drawing/2014/main" id="{8804B100-E3C4-4435-8CAB-55DD6ED5A8C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28</a:t>
            </a:r>
          </a:p>
        </p:txBody>
      </p:sp>
    </p:spTree>
    <p:extLst>
      <p:ext uri="{BB962C8B-B14F-4D97-AF65-F5344CB8AC3E}">
        <p14:creationId xmlns:p14="http://schemas.microsoft.com/office/powerpoint/2010/main" val="371470874"/>
      </p:ext>
    </p:extLst>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00796F2D-7403-4111-85D8-3CED0A77D11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48450B0-4BCE-4A1D-8B97-2058CEEA4D3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67B363F6-344A-4090-BB19-4268E1BA57D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The mean baseline in Python</a:t>
            </a:r>
          </a:p>
        </p:txBody>
      </p:sp>
      <p:sp>
        <p:nvSpPr>
          <p:cNvPr id="4" name="">
            <a:extLst xmlns:a="http://schemas.openxmlformats.org/drawingml/2006/main">
              <a:ext uri="{FF2B5EF4-FFF2-40B4-BE49-F238E27FC236}">
                <a16:creationId xmlns:a16="http://schemas.microsoft.com/office/drawing/2014/main" id="{55731EAA-14AA-4EED-A352-B2ADD0D94B58}"/>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42D56BC-6D6D-4C7D-9B6D-1D5EDE39F222}"/>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00" b="0">
                <a:solidFill>
                  <a:srgbClr val="F4F7FA"/>
                </a:solidFill>
                <a:latin typeface="Courier New"/>
                <a:ea typeface="Courier New"/>
                <a:cs typeface="Courier New"/>
              </a:defRPr>
            </a:pPr>
            <a:r>
              <a:rPr sz="1900" b="0">
                <a:solidFill>
                  <a:srgbClr val="FFB080"/>
                </a:solidFill>
                <a:latin typeface="Courier New"/>
                <a:ea typeface="Courier New"/>
                <a:cs typeface="Courier New"/>
              </a:rPr>
              <a:t>from</a:t>
            </a:r>
            <a:r>
              <a:rPr sz="1900" b="0">
                <a:solidFill>
                  <a:srgbClr val="F4F7FA"/>
                </a:solidFill>
                <a:latin typeface="Courier New"/>
                <a:ea typeface="Courier New"/>
                <a:cs typeface="Courier New"/>
              </a:rPr>
              <a:t> sklearn.dummy </a:t>
            </a:r>
            <a:r>
              <a:rPr sz="1900" b="0">
                <a:solidFill>
                  <a:srgbClr val="FFB080"/>
                </a:solidFill>
                <a:latin typeface="Courier New"/>
                <a:ea typeface="Courier New"/>
                <a:cs typeface="Courier New"/>
              </a:rPr>
              <a:t>import</a:t>
            </a:r>
            <a:r>
              <a:rPr sz="1900" b="0">
                <a:solidFill>
                  <a:srgbClr val="F4F7FA"/>
                </a:solidFill>
                <a:latin typeface="Courier New"/>
                <a:ea typeface="Courier New"/>
                <a:cs typeface="Courier New"/>
              </a:rPr>
              <a:t> DummyRegressor</a:t>
            </a:r>
          </a:p>
          <a:p xmlns:a="http://schemas.openxmlformats.org/drawingml/2006/main">
            <a:pPr>
              <a:defRPr sz="1900" b="0">
                <a:solidFill>
                  <a:srgbClr val="F4F7FA"/>
                </a:solidFill>
                <a:latin typeface="Courier New"/>
                <a:ea typeface="Courier New"/>
                <a:cs typeface="Courier New"/>
              </a:defRPr>
            </a:pPr>
            <a:r>
              <a:rPr sz="1900" b="0">
                <a:solidFill>
                  <a:srgbClr val="F4F7FA"/>
                </a:solidFill>
                <a:latin typeface="Courier New"/>
                <a:ea typeface="Courier New"/>
                <a:cs typeface="Courier New"/>
              </a:rPr>
              <a:t>baseline = DummyRegressor(strategy="mean")</a:t>
            </a:r>
          </a:p>
          <a:p xmlns:a="http://schemas.openxmlformats.org/drawingml/2006/main">
            <a:pPr>
              <a:defRPr sz="1900" b="0">
                <a:solidFill>
                  <a:srgbClr val="F4F7FA"/>
                </a:solidFill>
                <a:latin typeface="Courier New"/>
                <a:ea typeface="Courier New"/>
                <a:cs typeface="Courier New"/>
              </a:defRPr>
            </a:pPr>
            <a:r>
              <a:rPr sz="1900" b="0">
                <a:solidFill>
                  <a:srgbClr val="F4F7FA"/>
                </a:solidFill>
                <a:latin typeface="Courier New"/>
                <a:ea typeface="Courier New"/>
                <a:cs typeface="Courier New"/>
              </a:rPr>
              <a:t>baseline.fit(X_train, y_train)</a:t>
            </a:r>
          </a:p>
          <a:p xmlns:a="http://schemas.openxmlformats.org/drawingml/2006/main">
            <a:pPr>
              <a:defRPr sz="1900" b="0">
                <a:solidFill>
                  <a:srgbClr val="F4F7FA"/>
                </a:solidFill>
                <a:latin typeface="Courier New"/>
                <a:ea typeface="Courier New"/>
                <a:cs typeface="Courier New"/>
              </a:defRPr>
            </a:pPr>
            <a:r>
              <a:rPr sz="1900" b="0">
                <a:solidFill>
                  <a:srgbClr val="F4F7FA"/>
                </a:solidFill>
                <a:latin typeface="Courier New"/>
                <a:ea typeface="Courier New"/>
                <a:cs typeface="Courier New"/>
              </a:rPr>
              <a:t>print(baseline.predict(new_inputs).tolist())</a:t>
            </a:r>
          </a:p>
        </p:txBody>
      </p:sp>
      <p:sp>
        <p:nvSpPr>
          <p:cNvPr id="6" name="">
            <a:extLst xmlns:a="http://schemas.openxmlformats.org/drawingml/2006/main">
              <a:ext uri="{FF2B5EF4-FFF2-40B4-BE49-F238E27FC236}">
                <a16:creationId xmlns:a16="http://schemas.microsoft.com/office/drawing/2014/main" id="{3FCDD47B-C5CA-4FBC-A792-67FE8D619336}"/>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C33D7C8C-17D9-42FE-B7F0-5102C63D51AE}"/>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import loads a library. from selects a tool from it.</a:t>
            </a:r>
          </a:p>
        </p:txBody>
      </p:sp>
      <p:sp>
        <p:nvSpPr>
          <p:cNvPr id="8" name="">
            <a:extLst xmlns:a="http://schemas.openxmlformats.org/drawingml/2006/main">
              <a:ext uri="{FF2B5EF4-FFF2-40B4-BE49-F238E27FC236}">
                <a16:creationId xmlns:a16="http://schemas.microsoft.com/office/drawing/2014/main" id="{AF188FBC-B494-4C75-A1CD-0C15AB532153}"/>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fit learns using the supplied training observations.</a:t>
            </a:r>
          </a:p>
        </p:txBody>
      </p:sp>
      <p:sp>
        <p:nvSpPr>
          <p:cNvPr id="9" name="">
            <a:extLst xmlns:a="http://schemas.openxmlformats.org/drawingml/2006/main">
              <a:ext uri="{FF2B5EF4-FFF2-40B4-BE49-F238E27FC236}">
                <a16:creationId xmlns:a16="http://schemas.microsoft.com/office/drawing/2014/main" id="{84374DCA-0891-4B3A-B672-B747D8260BC2}"/>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predict applies the fitted model to new inputs.</a:t>
            </a:r>
          </a:p>
        </p:txBody>
      </p:sp>
      <p:sp>
        <p:nvSpPr>
          <p:cNvPr id="10" name="">
            <a:extLst xmlns:a="http://schemas.openxmlformats.org/drawingml/2006/main">
              <a:ext uri="{FF2B5EF4-FFF2-40B4-BE49-F238E27FC236}">
                <a16:creationId xmlns:a16="http://schemas.microsoft.com/office/drawing/2014/main" id="{A49EADC3-6FA3-447E-AC6D-E817CB036C6E}"/>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top to bottom. Run the complete example in the matching practice notebook.</a:t>
            </a:r>
          </a:p>
        </p:txBody>
      </p:sp>
      <p:sp>
        <p:nvSpPr>
          <p:cNvPr id="11" name="">
            <a:extLst xmlns:a="http://schemas.openxmlformats.org/drawingml/2006/main">
              <a:ext uri="{FF2B5EF4-FFF2-40B4-BE49-F238E27FC236}">
                <a16:creationId xmlns:a16="http://schemas.microsoft.com/office/drawing/2014/main" id="{1F2FDC89-0AEA-4146-9A8F-320F53086B5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29</a:t>
            </a:r>
          </a:p>
        </p:txBody>
      </p:sp>
    </p:spTree>
    <p:extLst>
      <p:ext uri="{BB962C8B-B14F-4D97-AF65-F5344CB8AC3E}">
        <p14:creationId xmlns:p14="http://schemas.microsoft.com/office/powerpoint/2010/main" val="1858074571"/>
      </p:ext>
    </p:extLst>
  </p:cSld>
</p:sld>
</file>

<file path=ppt/slides/slide3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5CFB915C-3186-4CB9-9A6F-C9EAFE0D1A3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22EDEBA-CFCB-41D2-B9F5-F7C8DE2849B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AB08EEA9-86B3-4884-9DE9-194D924F6E8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small regression tree</a:t>
            </a:r>
          </a:p>
        </p:txBody>
      </p:sp>
      <p:sp>
        <p:nvSpPr>
          <p:cNvPr id="4" name="">
            <a:extLst xmlns:a="http://schemas.openxmlformats.org/drawingml/2006/main">
              <a:ext uri="{FF2B5EF4-FFF2-40B4-BE49-F238E27FC236}">
                <a16:creationId xmlns:a16="http://schemas.microsoft.com/office/drawing/2014/main" id="{28E0C318-307E-4B25-86B0-935325F0D881}"/>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E286A792-79F5-485E-ACAF-E57EB0658804}"/>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tree learns threshold questions from the training inputs.</a:t>
            </a:r>
          </a:p>
        </p:txBody>
      </p:sp>
      <p:sp>
        <p:nvSpPr>
          <p:cNvPr id="6" name="">
            <a:extLst xmlns:a="http://schemas.openxmlformats.org/drawingml/2006/main">
              <a:ext uri="{FF2B5EF4-FFF2-40B4-BE49-F238E27FC236}">
                <a16:creationId xmlns:a16="http://schemas.microsoft.com/office/drawing/2014/main" id="{821A6F39-0C7B-485F-8472-5C21BCF439BC}"/>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1E1EC9F3-FC75-48F6-8B67-E8890876935B}"/>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Each final group, or leaf, predicts a target value.</a:t>
            </a:r>
          </a:p>
        </p:txBody>
      </p:sp>
      <p:sp>
        <p:nvSpPr>
          <p:cNvPr id="8" name="">
            <a:extLst xmlns:a="http://schemas.openxmlformats.org/drawingml/2006/main">
              <a:ext uri="{FF2B5EF4-FFF2-40B4-BE49-F238E27FC236}">
                <a16:creationId xmlns:a16="http://schemas.microsoft.com/office/drawing/2014/main" id="{4BFEE04A-84CD-4ED7-8751-00738555D924}"/>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FD457D05-1E11-4962-A38E-EB69027D3AB8}"/>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This tree returns 14 for input 2.5 in this toy example. max_depth limits the number of successive decisions. random_state fixes the random seed.</a:t>
            </a:r>
          </a:p>
        </p:txBody>
      </p:sp>
      <p:sp>
        <p:nvSpPr>
          <p:cNvPr id="10" name="">
            <a:extLst xmlns:a="http://schemas.openxmlformats.org/drawingml/2006/main">
              <a:ext uri="{FF2B5EF4-FFF2-40B4-BE49-F238E27FC236}">
                <a16:creationId xmlns:a16="http://schemas.microsoft.com/office/drawing/2014/main" id="{6569F541-587A-436C-A1B2-72B89F8514B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30</a:t>
            </a:r>
          </a:p>
        </p:txBody>
      </p:sp>
    </p:spTree>
    <p:extLst>
      <p:ext uri="{BB962C8B-B14F-4D97-AF65-F5344CB8AC3E}">
        <p14:creationId xmlns:p14="http://schemas.microsoft.com/office/powerpoint/2010/main" val="1544347208"/>
      </p:ext>
    </p:extLst>
  </p:cSld>
</p:sld>
</file>

<file path=ppt/slides/slide3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C3B87E45-9B1E-4352-AD5E-7D1E0F401C7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09BBE8D-184E-4299-8EB2-ACC2EBE4088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450C0257-3E9F-4E97-A53B-5DC4F484839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Trace a regression-tree prediction</a:t>
            </a:r>
          </a:p>
        </p:txBody>
      </p:sp>
      <p:graphicFrame>
        <p:nvGraphicFramePr>
          <p:cNvPr id="10" name=""/>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3670300"/>
                <a:gridCol w="3670300"/>
                <a:gridCol w="3670300"/>
              </a:tblGrid>
              <a:tr h="833438">
                <a:tc>
                  <a:txBody>
                    <a:bodyPr/>
                    <a:lstStyle/>
                    <a:p>
                      <a:r>
                        <a:rPr sz="2025" b="1">
                          <a:solidFill>
                            <a:srgbClr val="FFFFFF"/>
                          </a:solidFill>
                          <a:latin typeface="Calibri"/>
                          <a:ea typeface="Calibri"/>
                          <a:cs typeface="Calibri"/>
                        </a:rPr>
                        <a:t>Input or question</a:t>
                      </a:r>
                    </a:p>
                  </a:txBody>
                  <a:tcPr marL="91440" marR="91440" marT="45720" marB="45720">
                    <a:solidFill>
                      <a:srgbClr val="2E7D6F"/>
                    </a:solidFill>
                  </a:tcPr>
                </a:tc>
                <a:tc>
                  <a:txBody>
                    <a:bodyPr/>
                    <a:lstStyle/>
                    <a:p>
                      <a:r>
                        <a:rPr sz="2025" b="1">
                          <a:solidFill>
                            <a:srgbClr val="FFFFFF"/>
                          </a:solidFill>
                          <a:latin typeface="Calibri"/>
                          <a:ea typeface="Calibri"/>
                          <a:cs typeface="Calibri"/>
                        </a:rPr>
                        <a:t>Path for input 2.5</a:t>
                      </a:r>
                    </a:p>
                  </a:txBody>
                  <a:tcPr marL="91440" marR="91440" marT="45720" marB="45720">
                    <a:solidFill>
                      <a:srgbClr val="2E7D6F"/>
                    </a:solidFill>
                  </a:tcPr>
                </a:tc>
                <a:tc>
                  <a:txBody>
                    <a:bodyPr/>
                    <a:lstStyle/>
                    <a:p>
                      <a:r>
                        <a:rPr sz="2025" b="1">
                          <a:solidFill>
                            <a:srgbClr val="FFFFFF"/>
                          </a:solidFill>
                          <a:latin typeface="Calibri"/>
                          <a:ea typeface="Calibri"/>
                          <a:cs typeface="Calibri"/>
                        </a:rPr>
                        <a:t>Result</a:t>
                      </a:r>
                    </a:p>
                  </a:txBody>
                  <a:tcPr marL="91440" marR="91440" marT="45720" marB="45720">
                    <a:solidFill>
                      <a:srgbClr val="2E7D6F"/>
                    </a:solidFill>
                  </a:tcPr>
                </a:tc>
              </a:tr>
              <a:tr h="833438">
                <a:tc>
                  <a:txBody>
                    <a:bodyPr/>
                    <a:lstStyle/>
                    <a:p>
                      <a:r>
                        <a:rPr sz="2025" b="0">
                          <a:solidFill>
                            <a:srgbClr val="1C3144"/>
                          </a:solidFill>
                          <a:latin typeface="Calibri"/>
                          <a:ea typeface="Calibri"/>
                          <a:cs typeface="Calibri"/>
                        </a:rPr>
                        <a:t>Is input at most 2.5?</a:t>
                      </a:r>
                    </a:p>
                  </a:txBody>
                  <a:tcPr marL="91440" marR="91440" marT="45720" marB="45720">
                    <a:solidFill>
                      <a:srgbClr val="EEF3F6"/>
                    </a:solidFill>
                  </a:tcPr>
                </a:tc>
                <a:tc>
                  <a:txBody>
                    <a:bodyPr/>
                    <a:lstStyle/>
                    <a:p>
                      <a:r>
                        <a:rPr sz="2025" b="0">
                          <a:solidFill>
                            <a:srgbClr val="1C3144"/>
                          </a:solidFill>
                          <a:latin typeface="Calibri"/>
                          <a:ea typeface="Calibri"/>
                          <a:cs typeface="Calibri"/>
                        </a:rPr>
                        <a:t>Yes: use the lower group</a:t>
                      </a:r>
                    </a:p>
                  </a:txBody>
                  <a:tcPr marL="91440" marR="91440" marT="45720" marB="45720">
                    <a:solidFill>
                      <a:srgbClr val="EEF3F6"/>
                    </a:solidFill>
                  </a:tcPr>
                </a:tc>
                <a:tc>
                  <a:txBody>
                    <a:bodyPr/>
                    <a:lstStyle/>
                    <a:p>
                      <a:r>
                        <a:rPr sz="2025" b="0">
                          <a:solidFill>
                            <a:srgbClr val="1C3144"/>
                          </a:solidFill>
                          <a:latin typeface="Calibri"/>
                          <a:ea typeface="Calibri"/>
                          <a:cs typeface="Calibri"/>
                        </a:rPr>
                        <a:t>Continue within that group</a:t>
                      </a:r>
                    </a:p>
                  </a:txBody>
                  <a:tcPr marL="91440" marR="91440" marT="45720" marB="45720">
                    <a:solidFill>
                      <a:srgbClr val="EEF3F6"/>
                    </a:solidFill>
                  </a:tcPr>
                </a:tc>
              </a:tr>
              <a:tr h="833438">
                <a:tc>
                  <a:txBody>
                    <a:bodyPr/>
                    <a:lstStyle/>
                    <a:p>
                      <a:r>
                        <a:rPr sz="2025" b="0">
                          <a:solidFill>
                            <a:srgbClr val="1C3144"/>
                          </a:solidFill>
                          <a:latin typeface="Calibri"/>
                          <a:ea typeface="Calibri"/>
                          <a:cs typeface="Calibri"/>
                        </a:rPr>
                        <a:t>Is input at most 1.5?</a:t>
                      </a:r>
                    </a:p>
                  </a:txBody>
                  <a:tcPr marL="91440" marR="91440" marT="45720" marB="45720">
                    <a:solidFill>
                      <a:srgbClr val="FFFFFF"/>
                    </a:solidFill>
                  </a:tcPr>
                </a:tc>
                <a:tc>
                  <a:txBody>
                    <a:bodyPr/>
                    <a:lstStyle/>
                    <a:p>
                      <a:r>
                        <a:rPr sz="2025" b="0">
                          <a:solidFill>
                            <a:srgbClr val="1C3144"/>
                          </a:solidFill>
                          <a:latin typeface="Calibri"/>
                          <a:ea typeface="Calibri"/>
                          <a:cs typeface="Calibri"/>
                        </a:rPr>
                        <a:t>No: use its upper leaf</a:t>
                      </a:r>
                    </a:p>
                  </a:txBody>
                  <a:tcPr marL="91440" marR="91440" marT="45720" marB="45720">
                    <a:solidFill>
                      <a:srgbClr val="FFFFFF"/>
                    </a:solidFill>
                  </a:tcPr>
                </a:tc>
                <a:tc>
                  <a:txBody>
                    <a:bodyPr/>
                    <a:lstStyle/>
                    <a:p>
                      <a:r>
                        <a:rPr sz="2025" b="0">
                          <a:solidFill>
                            <a:srgbClr val="1C3144"/>
                          </a:solidFill>
                          <a:latin typeface="Calibri"/>
                          <a:ea typeface="Calibri"/>
                          <a:cs typeface="Calibri"/>
                        </a:rPr>
                        <a:t>Training target 14</a:t>
                      </a:r>
                    </a:p>
                  </a:txBody>
                  <a:tcPr marL="91440" marR="91440" marT="45720" marB="45720">
                    <a:solidFill>
                      <a:srgbClr val="FFFFFF"/>
                    </a:solidFill>
                  </a:tcPr>
                </a:tc>
              </a:tr>
              <a:tr h="833438">
                <a:tc>
                  <a:txBody>
                    <a:bodyPr/>
                    <a:lstStyle/>
                    <a:p>
                      <a:r>
                        <a:rPr sz="2025" b="0">
                          <a:solidFill>
                            <a:srgbClr val="1C3144"/>
                          </a:solidFill>
                          <a:latin typeface="Calibri"/>
                          <a:ea typeface="Calibri"/>
                          <a:cs typeface="Calibri"/>
                        </a:rPr>
                        <a:t>Leaf prediction</a:t>
                      </a:r>
                    </a:p>
                  </a:txBody>
                  <a:tcPr marL="91440" marR="91440" marT="45720" marB="45720">
                    <a:solidFill>
                      <a:srgbClr val="EEF3F6"/>
                    </a:solidFill>
                  </a:tcPr>
                </a:tc>
                <a:tc>
                  <a:txBody>
                    <a:bodyPr/>
                    <a:lstStyle/>
                    <a:p>
                      <a:r>
                        <a:rPr sz="2025" b="0">
                          <a:solidFill>
                            <a:srgbClr val="1C3144"/>
                          </a:solidFill>
                          <a:latin typeface="Calibri"/>
                          <a:ea typeface="Calibri"/>
                          <a:cs typeface="Calibri"/>
                        </a:rPr>
                        <a:t>Return the leaf value</a:t>
                      </a:r>
                    </a:p>
                  </a:txBody>
                  <a:tcPr marL="91440" marR="91440" marT="45720" marB="45720">
                    <a:solidFill>
                      <a:srgbClr val="EEF3F6"/>
                    </a:solidFill>
                  </a:tcPr>
                </a:tc>
                <a:tc>
                  <a:txBody>
                    <a:bodyPr/>
                    <a:lstStyle/>
                    <a:p>
                      <a:r>
                        <a:rPr sz="2025" b="0">
                          <a:solidFill>
                            <a:srgbClr val="1C3144"/>
                          </a:solidFill>
                          <a:latin typeface="Calibri"/>
                          <a:ea typeface="Calibri"/>
                          <a:cs typeface="Calibri"/>
                        </a:rPr>
                        <a:t>14</a:t>
                      </a:r>
                    </a:p>
                  </a:txBody>
                  <a:tcPr marL="91440" marR="91440" marT="45720" marB="45720">
                    <a:solidFill>
                      <a:srgbClr val="EEF3F6"/>
                    </a:solidFill>
                  </a:tcPr>
                </a:tc>
              </a:tr>
            </a:tbl>
          </a:graphicData>
        </a:graphic>
      </p:graphicFrame>
      <p:sp>
        <p:nvSpPr>
          <p:cNvPr id="5" name="">
            <a:extLst xmlns:a="http://schemas.openxmlformats.org/drawingml/2006/main">
              <a:ext uri="{FF2B5EF4-FFF2-40B4-BE49-F238E27FC236}">
                <a16:creationId xmlns:a16="http://schemas.microsoft.com/office/drawing/2014/main" id="{FD6AC07A-A87A-465C-9F11-9E6E54A4A0F3}"/>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This trace describes our fitted four-row teaching tree. A different training set can produce different questions.</a:t>
            </a:r>
          </a:p>
        </p:txBody>
      </p:sp>
      <p:sp>
        <p:nvSpPr>
          <p:cNvPr id="6" name="">
            <a:extLst xmlns:a="http://schemas.openxmlformats.org/drawingml/2006/main">
              <a:ext uri="{FF2B5EF4-FFF2-40B4-BE49-F238E27FC236}">
                <a16:creationId xmlns:a16="http://schemas.microsoft.com/office/drawing/2014/main" id="{7CA8AC7B-EF1C-4169-87D0-A6FFCC4609D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31</a:t>
            </a:r>
          </a:p>
        </p:txBody>
      </p:sp>
    </p:spTree>
    <p:extLst>
      <p:ext uri="{BB962C8B-B14F-4D97-AF65-F5344CB8AC3E}">
        <p14:creationId xmlns:p14="http://schemas.microsoft.com/office/powerpoint/2010/main" val="1200405737"/>
      </p:ext>
    </p:extLst>
  </p:cSld>
</p:sld>
</file>

<file path=ppt/slides/slide3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A0027A8A-3823-4758-B13B-012A5DD3A11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0A9F43F-23BB-4188-A956-CEF9C9CC179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C182CA28-8BF4-48E5-9F7D-B0DE3B7BBA4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small regression tree in Python</a:t>
            </a:r>
          </a:p>
        </p:txBody>
      </p:sp>
      <p:sp>
        <p:nvSpPr>
          <p:cNvPr id="4" name="">
            <a:extLst xmlns:a="http://schemas.openxmlformats.org/drawingml/2006/main">
              <a:ext uri="{FF2B5EF4-FFF2-40B4-BE49-F238E27FC236}">
                <a16:creationId xmlns:a16="http://schemas.microsoft.com/office/drawing/2014/main" id="{67BD0B8E-AB53-4C22-BDC7-0F7E1144AACC}"/>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FD7E2F0-FFE9-4688-94E4-4FF8D2B0E4F7}"/>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from</a:t>
            </a:r>
            <a:r>
              <a:rPr sz="2175" b="0">
                <a:solidFill>
                  <a:srgbClr val="F4F7FA"/>
                </a:solidFill>
                <a:latin typeface="Courier New"/>
                <a:ea typeface="Courier New"/>
                <a:cs typeface="Courier New"/>
              </a:rPr>
              <a:t> sklearn.tree </a:t>
            </a:r>
            <a:r>
              <a:rPr sz="2175" b="0">
                <a:solidFill>
                  <a:srgbClr val="FFB080"/>
                </a:solidFill>
                <a:latin typeface="Courier New"/>
                <a:ea typeface="Courier New"/>
                <a:cs typeface="Courier New"/>
              </a:rPr>
              <a:t>import</a:t>
            </a:r>
            <a:r>
              <a:rPr sz="2175" b="0">
                <a:solidFill>
                  <a:srgbClr val="F4F7FA"/>
                </a:solidFill>
                <a:latin typeface="Courier New"/>
                <a:ea typeface="Courier New"/>
                <a:cs typeface="Courier New"/>
              </a:rPr>
              <a:t> DecisionTreeRegressor</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tree = DecisionTreeRegressor(max_depth=4, random_state=17)</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tree.fit(X_train, y_train)</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print(tree.predict(new_inputs).tolist())</a:t>
            </a:r>
          </a:p>
        </p:txBody>
      </p:sp>
      <p:sp>
        <p:nvSpPr>
          <p:cNvPr id="6" name="">
            <a:extLst xmlns:a="http://schemas.openxmlformats.org/drawingml/2006/main">
              <a:ext uri="{FF2B5EF4-FFF2-40B4-BE49-F238E27FC236}">
                <a16:creationId xmlns:a16="http://schemas.microsoft.com/office/drawing/2014/main" id="{0735FDB0-184C-466E-A195-19CABA589818}"/>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import loads a library. from selects a tool from it.</a:t>
            </a:r>
          </a:p>
        </p:txBody>
      </p:sp>
      <p:sp>
        <p:nvSpPr>
          <p:cNvPr id="7" name="">
            <a:extLst xmlns:a="http://schemas.openxmlformats.org/drawingml/2006/main">
              <a:ext uri="{FF2B5EF4-FFF2-40B4-BE49-F238E27FC236}">
                <a16:creationId xmlns:a16="http://schemas.microsoft.com/office/drawing/2014/main" id="{3598034D-6B2A-4B6E-849E-F82F2D410107}"/>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top to bottom. Run the complete example in the matching practice notebook.</a:t>
            </a:r>
          </a:p>
        </p:txBody>
      </p:sp>
      <p:sp>
        <p:nvSpPr>
          <p:cNvPr id="8" name="">
            <a:extLst xmlns:a="http://schemas.openxmlformats.org/drawingml/2006/main">
              <a:ext uri="{FF2B5EF4-FFF2-40B4-BE49-F238E27FC236}">
                <a16:creationId xmlns:a16="http://schemas.microsoft.com/office/drawing/2014/main" id="{CDBDC131-EFAA-4F1B-A143-633FFC0742F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32</a:t>
            </a:r>
          </a:p>
        </p:txBody>
      </p:sp>
    </p:spTree>
    <p:extLst>
      <p:ext uri="{BB962C8B-B14F-4D97-AF65-F5344CB8AC3E}">
        <p14:creationId xmlns:p14="http://schemas.microsoft.com/office/powerpoint/2010/main" val="1218138021"/>
      </p:ext>
    </p:extLst>
  </p:cSld>
</p:sld>
</file>

<file path=ppt/slides/slide3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6F2FB3A4-238F-4AB6-A083-80E1FC94D3A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B9B2382-9E99-46DF-A508-8C49FD6251C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90DA1EAA-F781-442D-BAC5-C791A84ED3F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Reuse the same preparation on new inputs</a:t>
            </a:r>
          </a:p>
        </p:txBody>
      </p:sp>
      <p:sp>
        <p:nvSpPr>
          <p:cNvPr id="4" name="">
            <a:extLst xmlns:a="http://schemas.openxmlformats.org/drawingml/2006/main">
              <a:ext uri="{FF2B5EF4-FFF2-40B4-BE49-F238E27FC236}">
                <a16:creationId xmlns:a16="http://schemas.microsoft.com/office/drawing/2014/main" id="{0F8E44E6-CC7F-4742-B560-CE6C3757B7E9}"/>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1547BEB-5A35-45E3-9F67-58F1161057EA}"/>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Imputer</a:t>
            </a:r>
          </a:p>
        </p:txBody>
      </p:sp>
      <p:sp>
        <p:nvSpPr>
          <p:cNvPr id="6" name="">
            <a:extLst xmlns:a="http://schemas.openxmlformats.org/drawingml/2006/main">
              <a:ext uri="{FF2B5EF4-FFF2-40B4-BE49-F238E27FC236}">
                <a16:creationId xmlns:a16="http://schemas.microsoft.com/office/drawing/2014/main" id="{3A00C1E5-A2B8-418D-8816-FB18B2FBE102}"/>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An imputer fills missing feature values using a stated rule. Fit learns the replacement from training observations only. Prediction reuses that stored replacement.</a:t>
            </a:r>
          </a:p>
        </p:txBody>
      </p:sp>
      <p:sp>
        <p:nvSpPr>
          <p:cNvPr id="7" name="">
            <a:extLst xmlns:a="http://schemas.openxmlformats.org/drawingml/2006/main">
              <a:ext uri="{FF2B5EF4-FFF2-40B4-BE49-F238E27FC236}">
                <a16:creationId xmlns:a16="http://schemas.microsoft.com/office/drawing/2014/main" id="{77A38001-CE0B-4BC9-8826-822E1DF4CE59}"/>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09BBCBC7-463A-46DE-ABBC-D97A931C61D3}"/>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Pipeline</a:t>
            </a:r>
          </a:p>
        </p:txBody>
      </p:sp>
      <p:sp>
        <p:nvSpPr>
          <p:cNvPr id="9" name="">
            <a:extLst xmlns:a="http://schemas.openxmlformats.org/drawingml/2006/main">
              <a:ext uri="{FF2B5EF4-FFF2-40B4-BE49-F238E27FC236}">
                <a16:creationId xmlns:a16="http://schemas.microsoft.com/office/drawing/2014/main" id="{20623F04-9BA0-4F5D-959A-DD81BBD410F0}"/>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pipeline connects preprocessing and a model. make_pipeline creates that connection. Its fit learns both stages on training data; predict applies them to new features.</a:t>
            </a:r>
          </a:p>
        </p:txBody>
      </p:sp>
      <p:sp>
        <p:nvSpPr>
          <p:cNvPr id="10" name="">
            <a:extLst xmlns:a="http://schemas.openxmlformats.org/drawingml/2006/main">
              <a:ext uri="{FF2B5EF4-FFF2-40B4-BE49-F238E27FC236}">
                <a16:creationId xmlns:a16="http://schemas.microsoft.com/office/drawing/2014/main" id="{B6937E6A-4F29-4209-85AD-1BF147E3275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33</a:t>
            </a:r>
          </a:p>
        </p:txBody>
      </p:sp>
    </p:spTree>
    <p:extLst>
      <p:ext uri="{BB962C8B-B14F-4D97-AF65-F5344CB8AC3E}">
        <p14:creationId xmlns:p14="http://schemas.microsoft.com/office/powerpoint/2010/main" val="1474192560"/>
      </p:ext>
    </p:extLst>
  </p:cSld>
</p:sld>
</file>

<file path=ppt/slides/slide3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F859E5D7-5D1E-4D61-84D7-7E198839DFE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8BD3E5C-ECD4-4880-BAFF-88161AEAA5C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BB79F7D3-98BB-4616-A612-CCCFAA5A85D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 the pipeline tools before combining them</a:t>
            </a:r>
          </a:p>
        </p:txBody>
      </p:sp>
      <p:sp>
        <p:nvSpPr>
          <p:cNvPr id="4" name="">
            <a:extLst xmlns:a="http://schemas.openxmlformats.org/drawingml/2006/main">
              <a:ext uri="{FF2B5EF4-FFF2-40B4-BE49-F238E27FC236}">
                <a16:creationId xmlns:a16="http://schemas.microsoft.com/office/drawing/2014/main" id="{C8155A2A-E18B-4593-BA48-FE662EBA26FD}"/>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985AD83F-E220-490B-8B1F-2C46CA136DCF}"/>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np.nan is NumPy’s missing-number marker. SimpleImputer(strategy="median") creates a tool that will learn each column’s median from training data.</a:t>
            </a:r>
          </a:p>
        </p:txBody>
      </p:sp>
      <p:sp>
        <p:nvSpPr>
          <p:cNvPr id="6" name="">
            <a:extLst xmlns:a="http://schemas.openxmlformats.org/drawingml/2006/main">
              <a:ext uri="{FF2B5EF4-FFF2-40B4-BE49-F238E27FC236}">
                <a16:creationId xmlns:a16="http://schemas.microsoft.com/office/drawing/2014/main" id="{C9458E66-C1F0-49D4-B000-BAFF36156510}"/>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6DB74127-7F7D-451C-B27E-ED8CDC1975C3}"/>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make_pipeline(imputer, model) joins preparation to prediction in that order. pipeline.fit first learns and applies the imputer, then fits the model.</a:t>
            </a:r>
          </a:p>
        </p:txBody>
      </p:sp>
      <p:sp>
        <p:nvSpPr>
          <p:cNvPr id="8" name="">
            <a:extLst xmlns:a="http://schemas.openxmlformats.org/drawingml/2006/main">
              <a:ext uri="{FF2B5EF4-FFF2-40B4-BE49-F238E27FC236}">
                <a16:creationId xmlns:a16="http://schemas.microsoft.com/office/drawing/2014/main" id="{5853DDA1-430A-44B2-AAD1-3222CDE50EA1}"/>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CEF524A7-3B3B-454D-8AE9-5DBA749312AC}"/>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pipeline.predict applies the already learned imputer to new inputs before predicting. It does not recalculate medians from the new inputs.</a:t>
            </a:r>
          </a:p>
        </p:txBody>
      </p:sp>
      <p:sp>
        <p:nvSpPr>
          <p:cNvPr id="10" name="">
            <a:extLst xmlns:a="http://schemas.openxmlformats.org/drawingml/2006/main">
              <a:ext uri="{FF2B5EF4-FFF2-40B4-BE49-F238E27FC236}">
                <a16:creationId xmlns:a16="http://schemas.microsoft.com/office/drawing/2014/main" id="{F40F225A-2629-4440-940D-19483D6C854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34</a:t>
            </a:r>
          </a:p>
        </p:txBody>
      </p:sp>
    </p:spTree>
    <p:extLst>
      <p:ext uri="{BB962C8B-B14F-4D97-AF65-F5344CB8AC3E}">
        <p14:creationId xmlns:p14="http://schemas.microsoft.com/office/powerpoint/2010/main" val="1148448949"/>
      </p:ext>
    </p:extLst>
  </p:cSld>
</p:sld>
</file>

<file path=ppt/slides/slide3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CA8FE7DD-3B09-4824-93CD-A8BFE4C7654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1B3069A-8C32-4A1C-8B39-1DFF4D65C1C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9E439ED7-81DF-4229-B6B0-B511D9846A1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Preprocessing learned from training only</a:t>
            </a:r>
          </a:p>
        </p:txBody>
      </p:sp>
      <p:sp>
        <p:nvSpPr>
          <p:cNvPr id="4" name="">
            <a:extLst xmlns:a="http://schemas.openxmlformats.org/drawingml/2006/main">
              <a:ext uri="{FF2B5EF4-FFF2-40B4-BE49-F238E27FC236}">
                <a16:creationId xmlns:a16="http://schemas.microsoft.com/office/drawing/2014/main" id="{A71DEF39-94F9-4638-B035-53B860D1F95C}"/>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2331E9A5-EE02-4EB6-8EEC-5BF8ED21D7CD}"/>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SimpleImputer learns one median for each training column. make_pipeline connects this step to the model. fit learns both steps using only the training examples. predict reuses them on new inputs.</a:t>
            </a:r>
          </a:p>
        </p:txBody>
      </p:sp>
      <p:sp>
        <p:nvSpPr>
          <p:cNvPr id="6" name="">
            <a:extLst xmlns:a="http://schemas.openxmlformats.org/drawingml/2006/main">
              <a:ext uri="{FF2B5EF4-FFF2-40B4-BE49-F238E27FC236}">
                <a16:creationId xmlns:a16="http://schemas.microsoft.com/office/drawing/2014/main" id="{070781B5-CDF9-4175-A51D-FB4DBA7804F5}"/>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D54D36BC-989C-4F53-9C81-50BAF11E4F5E}"/>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No target is supplied to predict.</a:t>
            </a:r>
          </a:p>
        </p:txBody>
      </p:sp>
      <p:sp>
        <p:nvSpPr>
          <p:cNvPr id="8" name="">
            <a:extLst xmlns:a="http://schemas.openxmlformats.org/drawingml/2006/main">
              <a:ext uri="{FF2B5EF4-FFF2-40B4-BE49-F238E27FC236}">
                <a16:creationId xmlns:a16="http://schemas.microsoft.com/office/drawing/2014/main" id="{CCFB755C-ECA5-4B74-98B9-C1A508A24C90}"/>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CE79DB12-5AD5-4B0B-879C-5F842E9BDDAF}"/>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two inputs here are invented practice measurements.</a:t>
            </a:r>
          </a:p>
        </p:txBody>
      </p:sp>
      <p:sp>
        <p:nvSpPr>
          <p:cNvPr id="10" name="">
            <a:extLst xmlns:a="http://schemas.openxmlformats.org/drawingml/2006/main">
              <a:ext uri="{FF2B5EF4-FFF2-40B4-BE49-F238E27FC236}">
                <a16:creationId xmlns:a16="http://schemas.microsoft.com/office/drawing/2014/main" id="{504FF6D8-BBA8-4BEE-BAFE-D8C50A0D91E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35</a:t>
            </a:r>
          </a:p>
        </p:txBody>
      </p:sp>
    </p:spTree>
    <p:extLst>
      <p:ext uri="{BB962C8B-B14F-4D97-AF65-F5344CB8AC3E}">
        <p14:creationId xmlns:p14="http://schemas.microsoft.com/office/powerpoint/2010/main" val="1142585262"/>
      </p:ext>
    </p:extLst>
  </p:cSld>
</p:sld>
</file>

<file path=ppt/slides/slide3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4A6D9866-EF7F-4249-B094-7C57A3AA736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17B47C7-CE1D-4871-BF21-C75CC13FEE2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F18126E8-B79B-4A0B-9DBC-4436BAF857E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Trace the training-only fill step</a:t>
            </a:r>
          </a:p>
        </p:txBody>
      </p:sp>
      <p:graphicFrame>
        <p:nvGraphicFramePr>
          <p:cNvPr id="10" name=""/>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3670300"/>
                <a:gridCol w="3670300"/>
                <a:gridCol w="3670300"/>
              </a:tblGrid>
              <a:tr h="833438">
                <a:tc>
                  <a:txBody>
                    <a:bodyPr/>
                    <a:lstStyle/>
                    <a:p>
                      <a:r>
                        <a:rPr sz="2025" b="1">
                          <a:solidFill>
                            <a:srgbClr val="FFFFFF"/>
                          </a:solidFill>
                          <a:latin typeface="Calibri"/>
                          <a:ea typeface="Calibri"/>
                          <a:cs typeface="Calibri"/>
                        </a:rPr>
                        <a:t>Stage</a:t>
                      </a:r>
                    </a:p>
                  </a:txBody>
                  <a:tcPr marL="91440" marR="91440" marT="45720" marB="45720">
                    <a:solidFill>
                      <a:srgbClr val="2E7D6F"/>
                    </a:solidFill>
                  </a:tcPr>
                </a:tc>
                <a:tc>
                  <a:txBody>
                    <a:bodyPr/>
                    <a:lstStyle/>
                    <a:p>
                      <a:r>
                        <a:rPr sz="2025" b="1">
                          <a:solidFill>
                            <a:srgbClr val="FFFFFF"/>
                          </a:solidFill>
                          <a:latin typeface="Calibri"/>
                          <a:ea typeface="Calibri"/>
                          <a:cs typeface="Calibri"/>
                        </a:rPr>
                        <a:t>Second feature values</a:t>
                      </a:r>
                    </a:p>
                  </a:txBody>
                  <a:tcPr marL="91440" marR="91440" marT="45720" marB="45720">
                    <a:solidFill>
                      <a:srgbClr val="2E7D6F"/>
                    </a:solidFill>
                  </a:tcPr>
                </a:tc>
                <a:tc>
                  <a:txBody>
                    <a:bodyPr/>
                    <a:lstStyle/>
                    <a:p>
                      <a:r>
                        <a:rPr sz="2025" b="1">
                          <a:solidFill>
                            <a:srgbClr val="FFFFFF"/>
                          </a:solidFill>
                          <a:latin typeface="Calibri"/>
                          <a:ea typeface="Calibri"/>
                          <a:cs typeface="Calibri"/>
                        </a:rPr>
                        <a:t>Action</a:t>
                      </a:r>
                    </a:p>
                  </a:txBody>
                  <a:tcPr marL="91440" marR="91440" marT="45720" marB="45720">
                    <a:solidFill>
                      <a:srgbClr val="2E7D6F"/>
                    </a:solidFill>
                  </a:tcPr>
                </a:tc>
              </a:tr>
              <a:tr h="833438">
                <a:tc>
                  <a:txBody>
                    <a:bodyPr/>
                    <a:lstStyle/>
                    <a:p>
                      <a:r>
                        <a:rPr sz="2025" b="0">
                          <a:solidFill>
                            <a:srgbClr val="1C3144"/>
                          </a:solidFill>
                          <a:latin typeface="Calibri"/>
                          <a:ea typeface="Calibri"/>
                          <a:cs typeface="Calibri"/>
                        </a:rPr>
                        <a:t>Training input</a:t>
                      </a:r>
                    </a:p>
                  </a:txBody>
                  <a:tcPr marL="91440" marR="91440" marT="45720" marB="45720">
                    <a:solidFill>
                      <a:srgbClr val="EEF3F6"/>
                    </a:solidFill>
                  </a:tcPr>
                </a:tc>
                <a:tc>
                  <a:txBody>
                    <a:bodyPr/>
                    <a:lstStyle/>
                    <a:p>
                      <a:r>
                        <a:rPr sz="2025" b="0">
                          <a:solidFill>
                            <a:srgbClr val="1C3144"/>
                          </a:solidFill>
                          <a:latin typeface="Calibri"/>
                          <a:ea typeface="Calibri"/>
                          <a:cs typeface="Calibri"/>
                        </a:rPr>
                        <a:t>20, 22, missing, 24</a:t>
                      </a:r>
                    </a:p>
                  </a:txBody>
                  <a:tcPr marL="91440" marR="91440" marT="45720" marB="45720">
                    <a:solidFill>
                      <a:srgbClr val="EEF3F6"/>
                    </a:solidFill>
                  </a:tcPr>
                </a:tc>
                <a:tc>
                  <a:txBody>
                    <a:bodyPr/>
                    <a:lstStyle/>
                    <a:p>
                      <a:r>
                        <a:rPr sz="2025" b="0">
                          <a:solidFill>
                            <a:srgbClr val="1C3144"/>
                          </a:solidFill>
                          <a:latin typeface="Calibri"/>
                          <a:ea typeface="Calibri"/>
                          <a:cs typeface="Calibri"/>
                        </a:rPr>
                        <a:t>Learn median 22</a:t>
                      </a:r>
                    </a:p>
                  </a:txBody>
                  <a:tcPr marL="91440" marR="91440" marT="45720" marB="45720">
                    <a:solidFill>
                      <a:srgbClr val="EEF3F6"/>
                    </a:solidFill>
                  </a:tcPr>
                </a:tc>
              </a:tr>
              <a:tr h="833438">
                <a:tc>
                  <a:txBody>
                    <a:bodyPr/>
                    <a:lstStyle/>
                    <a:p>
                      <a:r>
                        <a:rPr sz="2025" b="0">
                          <a:solidFill>
                            <a:srgbClr val="1C3144"/>
                          </a:solidFill>
                          <a:latin typeface="Calibri"/>
                          <a:ea typeface="Calibri"/>
                          <a:cs typeface="Calibri"/>
                        </a:rPr>
                        <a:t>Training after filling</a:t>
                      </a:r>
                    </a:p>
                  </a:txBody>
                  <a:tcPr marL="91440" marR="91440" marT="45720" marB="45720">
                    <a:solidFill>
                      <a:srgbClr val="FFFFFF"/>
                    </a:solidFill>
                  </a:tcPr>
                </a:tc>
                <a:tc>
                  <a:txBody>
                    <a:bodyPr/>
                    <a:lstStyle/>
                    <a:p>
                      <a:r>
                        <a:rPr sz="2025" b="0">
                          <a:solidFill>
                            <a:srgbClr val="1C3144"/>
                          </a:solidFill>
                          <a:latin typeface="Calibri"/>
                          <a:ea typeface="Calibri"/>
                          <a:cs typeface="Calibri"/>
                        </a:rPr>
                        <a:t>20, 22, 22, 24</a:t>
                      </a:r>
                    </a:p>
                  </a:txBody>
                  <a:tcPr marL="91440" marR="91440" marT="45720" marB="45720">
                    <a:solidFill>
                      <a:srgbClr val="FFFFFF"/>
                    </a:solidFill>
                  </a:tcPr>
                </a:tc>
                <a:tc>
                  <a:txBody>
                    <a:bodyPr/>
                    <a:lstStyle/>
                    <a:p>
                      <a:r>
                        <a:rPr sz="2025" b="0">
                          <a:solidFill>
                            <a:srgbClr val="1C3144"/>
                          </a:solidFill>
                          <a:latin typeface="Calibri"/>
                          <a:ea typeface="Calibri"/>
                          <a:cs typeface="Calibri"/>
                        </a:rPr>
                        <a:t>Fit the model</a:t>
                      </a:r>
                    </a:p>
                  </a:txBody>
                  <a:tcPr marL="91440" marR="91440" marT="45720" marB="45720">
                    <a:solidFill>
                      <a:srgbClr val="FFFFFF"/>
                    </a:solidFill>
                  </a:tcPr>
                </a:tc>
              </a:tr>
              <a:tr h="833438">
                <a:tc>
                  <a:txBody>
                    <a:bodyPr/>
                    <a:lstStyle/>
                    <a:p>
                      <a:r>
                        <a:rPr sz="2025" b="0">
                          <a:solidFill>
                            <a:srgbClr val="1C3144"/>
                          </a:solidFill>
                          <a:latin typeface="Calibri"/>
                          <a:ea typeface="Calibri"/>
                          <a:cs typeface="Calibri"/>
                        </a:rPr>
                        <a:t>New input</a:t>
                      </a:r>
                    </a:p>
                  </a:txBody>
                  <a:tcPr marL="91440" marR="91440" marT="45720" marB="45720">
                    <a:solidFill>
                      <a:srgbClr val="EEF3F6"/>
                    </a:solidFill>
                  </a:tcPr>
                </a:tc>
                <a:tc>
                  <a:txBody>
                    <a:bodyPr/>
                    <a:lstStyle/>
                    <a:p>
                      <a:r>
                        <a:rPr sz="2025" b="0">
                          <a:solidFill>
                            <a:srgbClr val="1C3144"/>
                          </a:solidFill>
                          <a:latin typeface="Calibri"/>
                          <a:ea typeface="Calibri"/>
                          <a:cs typeface="Calibri"/>
                        </a:rPr>
                        <a:t>Missing second value</a:t>
                      </a:r>
                    </a:p>
                  </a:txBody>
                  <a:tcPr marL="91440" marR="91440" marT="45720" marB="45720">
                    <a:solidFill>
                      <a:srgbClr val="EEF3F6"/>
                    </a:solidFill>
                  </a:tcPr>
                </a:tc>
                <a:tc>
                  <a:txBody>
                    <a:bodyPr/>
                    <a:lstStyle/>
                    <a:p>
                      <a:r>
                        <a:rPr sz="2025" b="0">
                          <a:solidFill>
                            <a:srgbClr val="1C3144"/>
                          </a:solidFill>
                          <a:latin typeface="Calibri"/>
                          <a:ea typeface="Calibri"/>
                          <a:cs typeface="Calibri"/>
                        </a:rPr>
                        <a:t>Fill with saved 22</a:t>
                      </a:r>
                    </a:p>
                  </a:txBody>
                  <a:tcPr marL="91440" marR="91440" marT="45720" marB="45720">
                    <a:solidFill>
                      <a:srgbClr val="EEF3F6"/>
                    </a:solidFill>
                  </a:tcPr>
                </a:tc>
              </a:tr>
            </a:tbl>
          </a:graphicData>
        </a:graphic>
      </p:graphicFrame>
      <p:sp>
        <p:nvSpPr>
          <p:cNvPr id="5" name="">
            <a:extLst xmlns:a="http://schemas.openxmlformats.org/drawingml/2006/main">
              <a:ext uri="{FF2B5EF4-FFF2-40B4-BE49-F238E27FC236}">
                <a16:creationId xmlns:a16="http://schemas.microsoft.com/office/drawing/2014/main" id="{DE7B7EBB-BF5D-41FF-B4D6-2DC8338CF7F8}"/>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No new median is learned during prediction. The model receives the prepared numeric row.</a:t>
            </a:r>
          </a:p>
        </p:txBody>
      </p:sp>
      <p:sp>
        <p:nvSpPr>
          <p:cNvPr id="6" name="">
            <a:extLst xmlns:a="http://schemas.openxmlformats.org/drawingml/2006/main">
              <a:ext uri="{FF2B5EF4-FFF2-40B4-BE49-F238E27FC236}">
                <a16:creationId xmlns:a16="http://schemas.microsoft.com/office/drawing/2014/main" id="{E04833CE-6343-4691-939B-F9F7DD48AD5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36</a:t>
            </a:r>
          </a:p>
        </p:txBody>
      </p:sp>
    </p:spTree>
    <p:extLst>
      <p:ext uri="{BB962C8B-B14F-4D97-AF65-F5344CB8AC3E}">
        <p14:creationId xmlns:p14="http://schemas.microsoft.com/office/powerpoint/2010/main" val="1088690304"/>
      </p:ext>
    </p:extLst>
  </p:cSld>
</p:sld>
</file>

<file path=ppt/slides/slide3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74973FC1-9106-463D-8922-0B54FEA25B1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86D5DC3-E4AE-48B1-8BDE-F26C49BAD33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4CFA9261-6AD5-422F-9F7D-74A505D0BC4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Preprocessing learned from training only in Python (1/2)</a:t>
            </a:r>
          </a:p>
        </p:txBody>
      </p:sp>
      <p:sp>
        <p:nvSpPr>
          <p:cNvPr id="4" name="">
            <a:extLst xmlns:a="http://schemas.openxmlformats.org/drawingml/2006/main">
              <a:ext uri="{FF2B5EF4-FFF2-40B4-BE49-F238E27FC236}">
                <a16:creationId xmlns:a16="http://schemas.microsoft.com/office/drawing/2014/main" id="{FAE660A4-A1B9-40AA-94BA-B347FBCEC95E}"/>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F872CB6-4E23-482D-9A77-0196F8C56E45}"/>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from</a:t>
            </a:r>
            <a:r>
              <a:rPr sz="2175" b="0">
                <a:solidFill>
                  <a:srgbClr val="F4F7FA"/>
                </a:solidFill>
                <a:latin typeface="Courier New"/>
                <a:ea typeface="Courier New"/>
                <a:cs typeface="Courier New"/>
              </a:rPr>
              <a:t> sklearn.impute </a:t>
            </a:r>
            <a:r>
              <a:rPr sz="2175" b="0">
                <a:solidFill>
                  <a:srgbClr val="FFB080"/>
                </a:solidFill>
                <a:latin typeface="Courier New"/>
                <a:ea typeface="Courier New"/>
                <a:cs typeface="Courier New"/>
              </a:rPr>
              <a:t>import</a:t>
            </a:r>
            <a:r>
              <a:rPr sz="2175" b="0">
                <a:solidFill>
                  <a:srgbClr val="F4F7FA"/>
                </a:solidFill>
                <a:latin typeface="Courier New"/>
                <a:ea typeface="Courier New"/>
                <a:cs typeface="Courier New"/>
              </a:rPr>
              <a:t> SimpleImputer</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from sklearn.pipeline import make_pipeline</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import numpy as np</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train_inputs = [[1, 20], [2, 22], [3, np.nan], [4, 24]]</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train_targets = [12, 14, 16, 18]</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imputer = SimpleImputer(strategy="median")</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model = LinearRegression()</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pipeline = make_pipeline(imputer, model)</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pipeline.fit(train_inputs, train_targets)</a:t>
            </a:r>
          </a:p>
        </p:txBody>
      </p:sp>
      <p:sp>
        <p:nvSpPr>
          <p:cNvPr id="6" name="">
            <a:extLst xmlns:a="http://schemas.openxmlformats.org/drawingml/2006/main">
              <a:ext uri="{FF2B5EF4-FFF2-40B4-BE49-F238E27FC236}">
                <a16:creationId xmlns:a16="http://schemas.microsoft.com/office/drawing/2014/main" id="{0D48D1D7-3DCA-43AB-9347-7F8680754CE4}"/>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import loads a library. from selects a tool from it.</a:t>
            </a:r>
          </a:p>
        </p:txBody>
      </p:sp>
      <p:sp>
        <p:nvSpPr>
          <p:cNvPr id="7" name="">
            <a:extLst xmlns:a="http://schemas.openxmlformats.org/drawingml/2006/main">
              <a:ext uri="{FF2B5EF4-FFF2-40B4-BE49-F238E27FC236}">
                <a16:creationId xmlns:a16="http://schemas.microsoft.com/office/drawing/2014/main" id="{324034F6-C1CC-4F5C-AEA3-8726DB5CB7BA}"/>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top to bottom. Run the complete example in the matching practice notebook.</a:t>
            </a:r>
          </a:p>
        </p:txBody>
      </p:sp>
      <p:sp>
        <p:nvSpPr>
          <p:cNvPr id="8" name="">
            <a:extLst xmlns:a="http://schemas.openxmlformats.org/drawingml/2006/main">
              <a:ext uri="{FF2B5EF4-FFF2-40B4-BE49-F238E27FC236}">
                <a16:creationId xmlns:a16="http://schemas.microsoft.com/office/drawing/2014/main" id="{A79DD7F4-FA83-43D2-A4A6-784C5731C55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37</a:t>
            </a:r>
          </a:p>
        </p:txBody>
      </p:sp>
    </p:spTree>
    <p:extLst>
      <p:ext uri="{BB962C8B-B14F-4D97-AF65-F5344CB8AC3E}">
        <p14:creationId xmlns:p14="http://schemas.microsoft.com/office/powerpoint/2010/main" val="1786006492"/>
      </p:ext>
    </p:extLst>
  </p:cSld>
</p:sld>
</file>

<file path=ppt/slides/slide3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07BF1947-4EB2-4BB8-8F4B-FA6849C77C9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45280D3-CE0E-484F-863B-FF52F0200F4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1C0525B6-92BE-4A33-97A3-F480726B2DA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Preprocessing learned from training only in Python (2/2)</a:t>
            </a:r>
          </a:p>
        </p:txBody>
      </p:sp>
      <p:sp>
        <p:nvSpPr>
          <p:cNvPr id="4" name="">
            <a:extLst xmlns:a="http://schemas.openxmlformats.org/drawingml/2006/main">
              <a:ext uri="{FF2B5EF4-FFF2-40B4-BE49-F238E27FC236}">
                <a16:creationId xmlns:a16="http://schemas.microsoft.com/office/drawing/2014/main" id="{52912994-CED5-437B-A004-10DFBD6EA180}"/>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01C1716-E120-4025-AF45-B90D3AA33E54}"/>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predictions = pipeline.predict([[2.5, np.nan]])</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print(predictions.round(2).tolist())</a:t>
            </a:r>
          </a:p>
        </p:txBody>
      </p:sp>
      <p:sp>
        <p:nvSpPr>
          <p:cNvPr id="6" name="">
            <a:extLst xmlns:a="http://schemas.openxmlformats.org/drawingml/2006/main">
              <a:ext uri="{FF2B5EF4-FFF2-40B4-BE49-F238E27FC236}">
                <a16:creationId xmlns:a16="http://schemas.microsoft.com/office/drawing/2014/main" id="{99FECF82-8F41-4069-943B-93BE32A2166D}"/>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predict applies the fitted model to new inputs.</a:t>
            </a:r>
          </a:p>
        </p:txBody>
      </p:sp>
      <p:sp>
        <p:nvSpPr>
          <p:cNvPr id="7" name="">
            <a:extLst xmlns:a="http://schemas.openxmlformats.org/drawingml/2006/main">
              <a:ext uri="{FF2B5EF4-FFF2-40B4-BE49-F238E27FC236}">
                <a16:creationId xmlns:a16="http://schemas.microsoft.com/office/drawing/2014/main" id="{E03A6D84-8091-45C4-9DF0-9551C5301415}"/>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Continue the SAME cell; keep indentation. Run after all parts are entered.</a:t>
            </a:r>
          </a:p>
        </p:txBody>
      </p:sp>
      <p:sp>
        <p:nvSpPr>
          <p:cNvPr id="8" name="">
            <a:extLst xmlns:a="http://schemas.openxmlformats.org/drawingml/2006/main">
              <a:ext uri="{FF2B5EF4-FFF2-40B4-BE49-F238E27FC236}">
                <a16:creationId xmlns:a16="http://schemas.microsoft.com/office/drawing/2014/main" id="{2FE29F06-9C7A-4072-B846-285060A5DF3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38</a:t>
            </a:r>
          </a:p>
        </p:txBody>
      </p:sp>
    </p:spTree>
    <p:extLst>
      <p:ext uri="{BB962C8B-B14F-4D97-AF65-F5344CB8AC3E}">
        <p14:creationId xmlns:p14="http://schemas.microsoft.com/office/powerpoint/2010/main" val="1458370040"/>
      </p:ext>
    </p:extLst>
  </p:cSld>
</p:sld>
</file>

<file path=ppt/slides/slide3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F568897E-B679-4582-849B-1BCF2FE1987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D08BCC7-4E97-4CA8-AA41-A64AD2F796B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8D504B64-EF1D-4377-B755-94CDFA7C768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Reading records into a feature table</a:t>
            </a:r>
          </a:p>
        </p:txBody>
      </p:sp>
      <p:sp>
        <p:nvSpPr>
          <p:cNvPr id="4" name="">
            <a:extLst xmlns:a="http://schemas.openxmlformats.org/drawingml/2006/main">
              <a:ext uri="{FF2B5EF4-FFF2-40B4-BE49-F238E27FC236}">
                <a16:creationId xmlns:a16="http://schemas.microsoft.com/office/drawing/2014/main" id="{581AB48B-85D1-4814-88CD-3EC08CF16134}"/>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099985D8-81F3-4E8E-B52D-DAA14806D681}"/>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Each inner list is one row, in the same order as the input records.</a:t>
            </a:r>
          </a:p>
        </p:txBody>
      </p:sp>
      <p:sp>
        <p:nvSpPr>
          <p:cNvPr id="6" name="">
            <a:extLst xmlns:a="http://schemas.openxmlformats.org/drawingml/2006/main">
              <a:ext uri="{FF2B5EF4-FFF2-40B4-BE49-F238E27FC236}">
                <a16:creationId xmlns:a16="http://schemas.microsoft.com/office/drawing/2014/main" id="{7C421776-641F-4444-8089-22FAF08F9110}"/>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2519AF39-6C15-4C6F-9159-14C55D67061B}"/>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target list uses that same row order.</a:t>
            </a:r>
          </a:p>
        </p:txBody>
      </p:sp>
      <p:sp>
        <p:nvSpPr>
          <p:cNvPr id="8" name="">
            <a:extLst xmlns:a="http://schemas.openxmlformats.org/drawingml/2006/main">
              <a:ext uri="{FF2B5EF4-FFF2-40B4-BE49-F238E27FC236}">
                <a16:creationId xmlns:a16="http://schemas.microsoft.com/office/drawing/2014/main" id="{EFCC80DF-3680-43D2-B4B0-54A8D23D9996}"/>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BD571170-58DB-4703-BF4E-1FE7C61F560D}"/>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feature table has no answer column.</a:t>
            </a:r>
          </a:p>
        </p:txBody>
      </p:sp>
      <p:sp>
        <p:nvSpPr>
          <p:cNvPr id="10" name="">
            <a:extLst xmlns:a="http://schemas.openxmlformats.org/drawingml/2006/main">
              <a:ext uri="{FF2B5EF4-FFF2-40B4-BE49-F238E27FC236}">
                <a16:creationId xmlns:a16="http://schemas.microsoft.com/office/drawing/2014/main" id="{61686186-97B9-4CE6-B721-4DE765A4E28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39</a:t>
            </a:r>
          </a:p>
        </p:txBody>
      </p:sp>
    </p:spTree>
    <p:extLst>
      <p:ext uri="{BB962C8B-B14F-4D97-AF65-F5344CB8AC3E}">
        <p14:creationId xmlns:p14="http://schemas.microsoft.com/office/powerpoint/2010/main" val="1757582503"/>
      </p:ext>
    </p:extLst>
  </p:cSld>
</p:sld>
</file>

<file path=ppt/slides/slide4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6C53FE75-8F3E-4BC4-B3C5-3D6B7F42742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FA05193-D107-4887-9095-55548A2C7A7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FC076585-F1D9-47FC-89F9-3E0AC405368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Reading records into a feature table in Python</a:t>
            </a:r>
          </a:p>
        </p:txBody>
      </p:sp>
      <p:sp>
        <p:nvSpPr>
          <p:cNvPr id="4" name="">
            <a:extLst xmlns:a="http://schemas.openxmlformats.org/drawingml/2006/main">
              <a:ext uri="{FF2B5EF4-FFF2-40B4-BE49-F238E27FC236}">
                <a16:creationId xmlns:a16="http://schemas.microsoft.com/office/drawing/2014/main" id="{209166F6-9686-436F-A971-F427DD2ED93F}"/>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586FCC7-B01E-43BB-9B94-089667BC18EB}"/>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rows = [{"length": 2, "width": 3, "area": 6},</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{"length": 4, "width": 5, "area": 20}]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X = []</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y = []</a:t>
            </a:r>
          </a:p>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for</a:t>
            </a:r>
            <a:r>
              <a:rPr sz="2175" b="0">
                <a:solidFill>
                  <a:srgbClr val="F4F7FA"/>
                </a:solidFill>
                <a:latin typeface="Courier New"/>
                <a:ea typeface="Courier New"/>
                <a:cs typeface="Courier New"/>
              </a:rPr>
              <a:t> row in rows: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X.append([row["length"], row["width"]])</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y.append(row["area"])</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print(X)</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print(y)</a:t>
            </a:r>
          </a:p>
        </p:txBody>
      </p:sp>
      <p:sp>
        <p:nvSpPr>
          <p:cNvPr id="6" name="">
            <a:extLst xmlns:a="http://schemas.openxmlformats.org/drawingml/2006/main">
              <a:ext uri="{FF2B5EF4-FFF2-40B4-BE49-F238E27FC236}">
                <a16:creationId xmlns:a16="http://schemas.microsoft.com/office/drawing/2014/main" id="{0A45DC06-E834-4A6B-ACB2-F3F3E34A33E8}"/>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for takes the next item. The indented block repeats.</a:t>
            </a:r>
          </a:p>
        </p:txBody>
      </p:sp>
      <p:sp>
        <p:nvSpPr>
          <p:cNvPr id="7" name="">
            <a:extLst xmlns:a="http://schemas.openxmlformats.org/drawingml/2006/main">
              <a:ext uri="{FF2B5EF4-FFF2-40B4-BE49-F238E27FC236}">
                <a16:creationId xmlns:a16="http://schemas.microsoft.com/office/drawing/2014/main" id="{78788057-E954-4932-9A08-3D0312137D44}"/>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top to bottom. Run the complete example in the matching practice notebook.</a:t>
            </a:r>
          </a:p>
        </p:txBody>
      </p:sp>
      <p:sp>
        <p:nvSpPr>
          <p:cNvPr id="8" name="">
            <a:extLst xmlns:a="http://schemas.openxmlformats.org/drawingml/2006/main">
              <a:ext uri="{FF2B5EF4-FFF2-40B4-BE49-F238E27FC236}">
                <a16:creationId xmlns:a16="http://schemas.microsoft.com/office/drawing/2014/main" id="{1E2AC941-8377-4A07-AD60-AFF44F0509A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40</a:t>
            </a:r>
          </a:p>
        </p:txBody>
      </p:sp>
    </p:spTree>
    <p:extLst>
      <p:ext uri="{BB962C8B-B14F-4D97-AF65-F5344CB8AC3E}">
        <p14:creationId xmlns:p14="http://schemas.microsoft.com/office/powerpoint/2010/main" val="1663696057"/>
      </p:ext>
    </p:extLst>
  </p:cSld>
</p:sld>
</file>

<file path=ppt/slides/slide4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E9DDDEC1-A538-4DC7-9325-219EF79BCDD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01613D8-BCA8-4039-9D4F-5D3898D5CFF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F7AAAA26-D0CB-4CC2-942E-D5880CBCC5E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MAE and RMSE</a:t>
            </a:r>
          </a:p>
        </p:txBody>
      </p:sp>
      <p:sp>
        <p:nvSpPr>
          <p:cNvPr id="4" name="">
            <a:extLst xmlns:a="http://schemas.openxmlformats.org/drawingml/2006/main">
              <a:ext uri="{FF2B5EF4-FFF2-40B4-BE49-F238E27FC236}">
                <a16:creationId xmlns:a16="http://schemas.microsoft.com/office/drawing/2014/main" id="{B0D72032-DB3B-4835-85E6-1F0D2611E758}"/>
              </a:ext>
            </a:extLst>
          </p:cNvPr>
          <p:cNvSpPr>
            <a:spLocks xmlns:a="http://schemas.openxmlformats.org/drawingml/2006/main" noGrp="1"/>
          </p:cNvSpPr>
          <p:nvPr/>
        </p:nvSpPr>
        <p:spPr>
          <a:xfrm xmlns:a="http://schemas.openxmlformats.org/drawingml/2006/main">
            <a:off x="590550" y="1714500"/>
            <a:ext cx="110109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E34B8DF-90E7-4CEE-9882-744B2B41F9DD}"/>
              </a:ext>
            </a:extLst>
          </p:cNvPr>
          <p:cNvSpPr>
            <a:spLocks xmlns:a="http://schemas.openxmlformats.org/drawingml/2006/main" noGrp="1"/>
          </p:cNvSpPr>
          <p:nvPr/>
        </p:nvSpPr>
        <p:spPr>
          <a:xfrm xmlns:a="http://schemas.openxmlformats.org/drawingml/2006/main">
            <a:off x="828675" y="1952625"/>
            <a:ext cx="104394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E4572E"/>
                </a:solidFill>
                <a:latin typeface="Calibri"/>
                <a:ea typeface="Calibri"/>
                <a:cs typeface="Calibri"/>
              </a:defRPr>
            </a:pPr>
            <a:r>
              <a:rPr sz="3150" b="1">
                <a:solidFill>
                  <a:srgbClr val="E4572E"/>
                </a:solidFill>
                <a:latin typeface="Calibri"/>
                <a:ea typeface="Calibri"/>
                <a:cs typeface="Calibri"/>
              </a:rPr>
              <a:t>MAE and RMSE</a:t>
            </a:r>
          </a:p>
        </p:txBody>
      </p:sp>
      <p:sp>
        <p:nvSpPr>
          <p:cNvPr id="6" name="">
            <a:extLst xmlns:a="http://schemas.openxmlformats.org/drawingml/2006/main">
              <a:ext uri="{FF2B5EF4-FFF2-40B4-BE49-F238E27FC236}">
                <a16:creationId xmlns:a16="http://schemas.microsoft.com/office/drawing/2014/main" id="{04E9B656-FB7D-4431-8660-86D41470BAE4}"/>
              </a:ext>
            </a:extLst>
          </p:cNvPr>
          <p:cNvSpPr>
            <a:spLocks xmlns:a="http://schemas.openxmlformats.org/drawingml/2006/main" noGrp="1"/>
          </p:cNvSpPr>
          <p:nvPr/>
        </p:nvSpPr>
        <p:spPr>
          <a:xfrm xmlns:a="http://schemas.openxmlformats.org/drawingml/2006/main">
            <a:off x="828675" y="3067050"/>
            <a:ext cx="10439400"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MAE averages absolute prediction errors. RMSE squares errors, averages them and takes the square root. Both use target units. RMSE is more sensitive to large errors.</a:t>
            </a:r>
          </a:p>
        </p:txBody>
      </p:sp>
      <p:sp>
        <p:nvSpPr>
          <p:cNvPr id="7" name="">
            <a:extLst xmlns:a="http://schemas.openxmlformats.org/drawingml/2006/main">
              <a:ext uri="{FF2B5EF4-FFF2-40B4-BE49-F238E27FC236}">
                <a16:creationId xmlns:a16="http://schemas.microsoft.com/office/drawing/2014/main" id="{CC6015ED-452F-4670-AC99-A09854BF2D5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41</a:t>
            </a:r>
          </a:p>
        </p:txBody>
      </p:sp>
    </p:spTree>
    <p:extLst>
      <p:ext uri="{BB962C8B-B14F-4D97-AF65-F5344CB8AC3E}">
        <p14:creationId xmlns:p14="http://schemas.microsoft.com/office/powerpoint/2010/main" val="1588206505"/>
      </p:ext>
    </p:extLst>
  </p:cSld>
</p:sld>
</file>

<file path=ppt/slides/slide4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92C113D8-08AD-4718-A296-B4BD294A9E3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C77F954-CCF3-4DB0-A61D-BA388338646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4E5B5008-C1C9-495F-B03E-8F3ADAF249A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prediction error in ordinary numbers</a:t>
            </a:r>
          </a:p>
        </p:txBody>
      </p:sp>
      <p:graphicFrame>
        <p:nvGraphicFramePr>
          <p:cNvPr id="10" name=""/>
          <p:cNvGraphicFramePr/>
          <p:nvPr/>
        </p:nvGraphicFramePr>
        <p:xfrm>
          <a:off xmlns:a="http://schemas.openxmlformats.org/drawingml/2006/main" x="590550" y="1733550"/>
          <a:ext xmlns:a="http://schemas.openxmlformats.org/drawingml/2006/main" cx="11010900" cy="2286000"/>
        </p:xfrm>
        <a:graphic xmlns:a="http://schemas.openxmlformats.org/drawingml/2006/main">
          <a:graphicData uri="http://schemas.openxmlformats.org/drawingml/2006/table">
            <a:tbl>
              <a:tblPr/>
              <a:tblGrid>
                <a:gridCol w="3670300"/>
                <a:gridCol w="3670300"/>
                <a:gridCol w="3670300"/>
              </a:tblGrid>
              <a:tr h="762000">
                <a:tc>
                  <a:txBody>
                    <a:bodyPr/>
                    <a:lstStyle/>
                    <a:p>
                      <a:r>
                        <a:rPr sz="2025" b="1">
                          <a:solidFill>
                            <a:srgbClr val="FFFFFF"/>
                          </a:solidFill>
                          <a:latin typeface="Calibri"/>
                          <a:ea typeface="Calibri"/>
                          <a:cs typeface="Calibri"/>
                        </a:rPr>
                        <a:t>Actual</a:t>
                      </a:r>
                    </a:p>
                  </a:txBody>
                  <a:tcPr marL="91440" marR="91440" marT="45720" marB="45720">
                    <a:solidFill>
                      <a:srgbClr val="2E7D6F"/>
                    </a:solidFill>
                  </a:tcPr>
                </a:tc>
                <a:tc>
                  <a:txBody>
                    <a:bodyPr/>
                    <a:lstStyle/>
                    <a:p>
                      <a:r>
                        <a:rPr sz="2025" b="1">
                          <a:solidFill>
                            <a:srgbClr val="FFFFFF"/>
                          </a:solidFill>
                          <a:latin typeface="Calibri"/>
                          <a:ea typeface="Calibri"/>
                          <a:cs typeface="Calibri"/>
                        </a:rPr>
                        <a:t>Prediction</a:t>
                      </a:r>
                    </a:p>
                  </a:txBody>
                  <a:tcPr marL="91440" marR="91440" marT="45720" marB="45720">
                    <a:solidFill>
                      <a:srgbClr val="2E7D6F"/>
                    </a:solidFill>
                  </a:tcPr>
                </a:tc>
                <a:tc>
                  <a:txBody>
                    <a:bodyPr/>
                    <a:lstStyle/>
                    <a:p>
                      <a:r>
                        <a:rPr sz="2025" b="1">
                          <a:solidFill>
                            <a:srgbClr val="FFFFFF"/>
                          </a:solidFill>
                          <a:latin typeface="Calibri"/>
                          <a:ea typeface="Calibri"/>
                          <a:cs typeface="Calibri"/>
                        </a:rPr>
                        <a:t>Absolute error</a:t>
                      </a:r>
                    </a:p>
                  </a:txBody>
                  <a:tcPr marL="91440" marR="91440" marT="45720" marB="45720">
                    <a:solidFill>
                      <a:srgbClr val="2E7D6F"/>
                    </a:solidFill>
                  </a:tcPr>
                </a:tc>
              </a:tr>
              <a:tr h="762000">
                <a:tc>
                  <a:txBody>
                    <a:bodyPr/>
                    <a:lstStyle/>
                    <a:p>
                      <a:r>
                        <a:rPr sz="2025" b="0">
                          <a:solidFill>
                            <a:srgbClr val="1C3144"/>
                          </a:solidFill>
                          <a:latin typeface="Calibri"/>
                          <a:ea typeface="Calibri"/>
                          <a:cs typeface="Calibri"/>
                        </a:rPr>
                        <a:t>10</a:t>
                      </a:r>
                    </a:p>
                  </a:txBody>
                  <a:tcPr marL="91440" marR="91440" marT="45720" marB="45720">
                    <a:solidFill>
                      <a:srgbClr val="EEF3F6"/>
                    </a:solidFill>
                  </a:tcPr>
                </a:tc>
                <a:tc>
                  <a:txBody>
                    <a:bodyPr/>
                    <a:lstStyle/>
                    <a:p>
                      <a:r>
                        <a:rPr sz="2025" b="0">
                          <a:solidFill>
                            <a:srgbClr val="1C3144"/>
                          </a:solidFill>
                          <a:latin typeface="Calibri"/>
                          <a:ea typeface="Calibri"/>
                          <a:cs typeface="Calibri"/>
                        </a:rPr>
                        <a:t>8</a:t>
                      </a:r>
                    </a:p>
                  </a:txBody>
                  <a:tcPr marL="91440" marR="91440" marT="45720" marB="45720">
                    <a:solidFill>
                      <a:srgbClr val="EEF3F6"/>
                    </a:solidFill>
                  </a:tcPr>
                </a:tc>
                <a:tc>
                  <a:txBody>
                    <a:bodyPr/>
                    <a:lstStyle/>
                    <a:p>
                      <a:r>
                        <a:rPr sz="2025" b="0">
                          <a:solidFill>
                            <a:srgbClr val="1C3144"/>
                          </a:solidFill>
                          <a:latin typeface="Calibri"/>
                          <a:ea typeface="Calibri"/>
                          <a:cs typeface="Calibri"/>
                        </a:rPr>
                        <a:t>2</a:t>
                      </a:r>
                    </a:p>
                  </a:txBody>
                  <a:tcPr marL="91440" marR="91440" marT="45720" marB="45720">
                    <a:solidFill>
                      <a:srgbClr val="EEF3F6"/>
                    </a:solidFill>
                  </a:tcPr>
                </a:tc>
              </a:tr>
              <a:tr h="762000">
                <a:tc>
                  <a:txBody>
                    <a:bodyPr/>
                    <a:lstStyle/>
                    <a:p>
                      <a:r>
                        <a:rPr sz="2025" b="0">
                          <a:solidFill>
                            <a:srgbClr val="1C3144"/>
                          </a:solidFill>
                          <a:latin typeface="Calibri"/>
                          <a:ea typeface="Calibri"/>
                          <a:cs typeface="Calibri"/>
                        </a:rPr>
                        <a:t>20</a:t>
                      </a:r>
                    </a:p>
                  </a:txBody>
                  <a:tcPr marL="91440" marR="91440" marT="45720" marB="45720">
                    <a:solidFill>
                      <a:srgbClr val="FFFFFF"/>
                    </a:solidFill>
                  </a:tcPr>
                </a:tc>
                <a:tc>
                  <a:txBody>
                    <a:bodyPr/>
                    <a:lstStyle/>
                    <a:p>
                      <a:r>
                        <a:rPr sz="2025" b="0">
                          <a:solidFill>
                            <a:srgbClr val="1C3144"/>
                          </a:solidFill>
                          <a:latin typeface="Calibri"/>
                          <a:ea typeface="Calibri"/>
                          <a:cs typeface="Calibri"/>
                        </a:rPr>
                        <a:t>24</a:t>
                      </a:r>
                    </a:p>
                  </a:txBody>
                  <a:tcPr marL="91440" marR="91440" marT="45720" marB="45720">
                    <a:solidFill>
                      <a:srgbClr val="FFFFFF"/>
                    </a:solidFill>
                  </a:tcPr>
                </a:tc>
                <a:tc>
                  <a:txBody>
                    <a:bodyPr/>
                    <a:lstStyle/>
                    <a:p>
                      <a:r>
                        <a:rPr sz="2025" b="0">
                          <a:solidFill>
                            <a:srgbClr val="1C3144"/>
                          </a:solidFill>
                          <a:latin typeface="Calibri"/>
                          <a:ea typeface="Calibri"/>
                          <a:cs typeface="Calibri"/>
                        </a:rPr>
                        <a:t>4</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2DC57E3C-F2F0-4A13-ADFB-E97B90925468}"/>
              </a:ext>
            </a:extLst>
          </p:cNvPr>
          <p:cNvSpPr>
            <a:spLocks xmlns:a="http://schemas.openxmlformats.org/drawingml/2006/main" noGrp="1"/>
          </p:cNvSpPr>
          <p:nvPr/>
        </p:nvSpPr>
        <p:spPr>
          <a:xfrm xmlns:a="http://schemas.openxmlformats.org/drawingml/2006/main">
            <a:off x="685800" y="433387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MAE = (2 + 4) / 2 = 3, in the target’s unit. Compare a model against a training-only baseline.</a:t>
            </a:r>
          </a:p>
        </p:txBody>
      </p:sp>
      <p:sp>
        <p:nvSpPr>
          <p:cNvPr id="6" name="">
            <a:extLst xmlns:a="http://schemas.openxmlformats.org/drawingml/2006/main">
              <a:ext uri="{FF2B5EF4-FFF2-40B4-BE49-F238E27FC236}">
                <a16:creationId xmlns:a16="http://schemas.microsoft.com/office/drawing/2014/main" id="{71334EDB-37D0-458A-ABB9-ACFA0A90FC4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42</a:t>
            </a:r>
          </a:p>
        </p:txBody>
      </p:sp>
    </p:spTree>
    <p:extLst>
      <p:ext uri="{BB962C8B-B14F-4D97-AF65-F5344CB8AC3E}">
        <p14:creationId xmlns:p14="http://schemas.microsoft.com/office/powerpoint/2010/main" val="1714675638"/>
      </p:ext>
    </p:extLst>
  </p:cSld>
</p:sld>
</file>

<file path=ppt/slides/slide4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52BDF8C6-B131-4A1C-9B82-3BB0DFC19B1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1D1EC7B-75FB-4018-9C50-3BF7E87A448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93EA391C-07A5-4401-910A-F43A32E1394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The operations in the error calculation</a:t>
            </a:r>
          </a:p>
        </p:txBody>
      </p:sp>
      <p:sp>
        <p:nvSpPr>
          <p:cNvPr id="4" name="">
            <a:extLst xmlns:a="http://schemas.openxmlformats.org/drawingml/2006/main">
              <a:ext uri="{FF2B5EF4-FFF2-40B4-BE49-F238E27FC236}">
                <a16:creationId xmlns:a16="http://schemas.microsoft.com/office/drawing/2014/main" id="{1BEB85AF-52B4-4754-B739-8453A2DE2402}"/>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DE25AE6-996E-4930-9EE7-5536817D8761}"/>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zip and paired names</a:t>
            </a:r>
          </a:p>
        </p:txBody>
      </p:sp>
      <p:sp>
        <p:nvSpPr>
          <p:cNvPr id="6" name="">
            <a:extLst xmlns:a="http://schemas.openxmlformats.org/drawingml/2006/main">
              <a:ext uri="{FF2B5EF4-FFF2-40B4-BE49-F238E27FC236}">
                <a16:creationId xmlns:a16="http://schemas.microsoft.com/office/drawing/2014/main" id="{E838BCAB-5761-479B-9F59-7E9B57580BE9}"/>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zip(actual, predicted) pairs values at matching positions. for truth, guess in ... assigns each pair to two names. Here both lists must have the same nonzero length.</a:t>
            </a:r>
          </a:p>
        </p:txBody>
      </p:sp>
      <p:sp>
        <p:nvSpPr>
          <p:cNvPr id="7" name="">
            <a:extLst xmlns:a="http://schemas.openxmlformats.org/drawingml/2006/main">
              <a:ext uri="{FF2B5EF4-FFF2-40B4-BE49-F238E27FC236}">
                <a16:creationId xmlns:a16="http://schemas.microsoft.com/office/drawing/2014/main" id="{3B6FADFA-D264-457E-9025-761948AA7E2F}"/>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34E3C140-F573-4F4A-97BC-1EEFD3F8C9F9}"/>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Square and square root</a:t>
            </a:r>
          </a:p>
        </p:txBody>
      </p:sp>
      <p:sp>
        <p:nvSpPr>
          <p:cNvPr id="9" name="">
            <a:extLst xmlns:a="http://schemas.openxmlformats.org/drawingml/2006/main">
              <a:ext uri="{FF2B5EF4-FFF2-40B4-BE49-F238E27FC236}">
                <a16:creationId xmlns:a16="http://schemas.microsoft.com/office/drawing/2014/main" id="{8CA41E78-D227-48B1-9E42-A67B92BA9029}"/>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difference ** 2 squares an error. sqrt reverses a square for nonnegative numbers: sqrt(9) is 3. from math import sqrt makes this tool available.</a:t>
            </a:r>
          </a:p>
        </p:txBody>
      </p:sp>
      <p:sp>
        <p:nvSpPr>
          <p:cNvPr id="10" name="">
            <a:extLst xmlns:a="http://schemas.openxmlformats.org/drawingml/2006/main">
              <a:ext uri="{FF2B5EF4-FFF2-40B4-BE49-F238E27FC236}">
                <a16:creationId xmlns:a16="http://schemas.microsoft.com/office/drawing/2014/main" id="{E7B11E72-7F21-40EB-972C-388D118DF9E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43</a:t>
            </a:r>
          </a:p>
        </p:txBody>
      </p:sp>
    </p:spTree>
    <p:extLst>
      <p:ext uri="{BB962C8B-B14F-4D97-AF65-F5344CB8AC3E}">
        <p14:creationId xmlns:p14="http://schemas.microsoft.com/office/powerpoint/2010/main" val="1704976825"/>
      </p:ext>
    </p:extLst>
  </p:cSld>
</p:sld>
</file>

<file path=ppt/slides/slide4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F40CF9A3-88F5-47FA-B7F4-64AE4E4A3FE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E43353E-4571-4AA8-B2C8-F56E29453CB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53A98BC8-92C1-4164-A632-D9087F91826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Pair two lists using zip</a:t>
            </a:r>
          </a:p>
        </p:txBody>
      </p:sp>
      <p:sp>
        <p:nvSpPr>
          <p:cNvPr id="4" name="">
            <a:extLst xmlns:a="http://schemas.openxmlformats.org/drawingml/2006/main">
              <a:ext uri="{FF2B5EF4-FFF2-40B4-BE49-F238E27FC236}">
                <a16:creationId xmlns:a16="http://schemas.microsoft.com/office/drawing/2014/main" id="{6DE89A72-051A-4BF7-BE32-8196ED6F38AA}"/>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AA11C207-1A86-4F18-8E45-19B30EA5212C}"/>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zip(actual, predicted) visits matching positions together. for truth, guess in zip(...): unpacks each pair into two names.</a:t>
            </a:r>
          </a:p>
        </p:txBody>
      </p:sp>
      <p:sp>
        <p:nvSpPr>
          <p:cNvPr id="6" name="">
            <a:extLst xmlns:a="http://schemas.openxmlformats.org/drawingml/2006/main">
              <a:ext uri="{FF2B5EF4-FFF2-40B4-BE49-F238E27FC236}">
                <a16:creationId xmlns:a16="http://schemas.microsoft.com/office/drawing/2014/main" id="{604F32E4-F464-4358-A151-03AC0301BA6F}"/>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233A8D9D-5AED-4AEF-8BCA-623025479718}"/>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For actual [10, 20] and predicted [12, 16], the pairs are (10, 12) and (20, 16). They describe the same observations in the same order.</a:t>
            </a:r>
          </a:p>
        </p:txBody>
      </p:sp>
      <p:sp>
        <p:nvSpPr>
          <p:cNvPr id="8" name="">
            <a:extLst xmlns:a="http://schemas.openxmlformats.org/drawingml/2006/main">
              <a:ext uri="{FF2B5EF4-FFF2-40B4-BE49-F238E27FC236}">
                <a16:creationId xmlns:a16="http://schemas.microsoft.com/office/drawing/2014/main" id="{3B4726F6-4A95-4023-8F81-C8761FB6EE52}"/>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9C880009-CDE5-4891-B753-A50CBB6AAAD0}"/>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zip stops at the shorter input. Check equal, nonzero lengths for these error calculations; otherwise a result could ignore observations.</a:t>
            </a:r>
          </a:p>
        </p:txBody>
      </p:sp>
      <p:sp>
        <p:nvSpPr>
          <p:cNvPr id="10" name="">
            <a:extLst xmlns:a="http://schemas.openxmlformats.org/drawingml/2006/main">
              <a:ext uri="{FF2B5EF4-FFF2-40B4-BE49-F238E27FC236}">
                <a16:creationId xmlns:a16="http://schemas.microsoft.com/office/drawing/2014/main" id="{7A77F9CA-94AD-4828-969C-76A9CC8F0C3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44</a:t>
            </a:r>
          </a:p>
        </p:txBody>
      </p:sp>
    </p:spTree>
    <p:extLst>
      <p:ext uri="{BB962C8B-B14F-4D97-AF65-F5344CB8AC3E}">
        <p14:creationId xmlns:p14="http://schemas.microsoft.com/office/powerpoint/2010/main" val="2048445682"/>
      </p:ext>
    </p:extLst>
  </p:cSld>
</p:sld>
</file>

<file path=ppt/slides/slide4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F5AF0E3B-D9E7-4A63-B493-AE0BEB38FF4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1481463-B792-43EF-93DB-0C37E17AC9E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7B829EA4-8E53-4A96-8192-065A13A318B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Inspect the pairs before measuring errors</a:t>
            </a:r>
          </a:p>
        </p:txBody>
      </p:sp>
      <p:sp>
        <p:nvSpPr>
          <p:cNvPr id="4" name="">
            <a:extLst xmlns:a="http://schemas.openxmlformats.org/drawingml/2006/main">
              <a:ext uri="{FF2B5EF4-FFF2-40B4-BE49-F238E27FC236}">
                <a16:creationId xmlns:a16="http://schemas.microsoft.com/office/drawing/2014/main" id="{DC458D0C-9135-48C1-8F7E-2DFF9088A490}"/>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3160EE5-81CA-43BE-828B-7E430EF83A42}"/>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44" b="0">
                <a:solidFill>
                  <a:srgbClr val="F4F7FA"/>
                </a:solidFill>
                <a:latin typeface="Courier New"/>
                <a:ea typeface="Courier New"/>
                <a:cs typeface="Courier New"/>
              </a:defRPr>
            </a:pPr>
            <a:r>
              <a:rPr sz="1944" b="0">
                <a:solidFill>
                  <a:srgbClr val="F4F7FA"/>
                </a:solidFill>
                <a:latin typeface="Courier New"/>
                <a:ea typeface="Courier New"/>
                <a:cs typeface="Courier New"/>
              </a:rPr>
              <a:t>actual = [10, 20]</a:t>
            </a:r>
          </a:p>
          <a:p xmlns:a="http://schemas.openxmlformats.org/drawingml/2006/main">
            <a:pPr>
              <a:defRPr sz="1944" b="0">
                <a:solidFill>
                  <a:srgbClr val="F4F7FA"/>
                </a:solidFill>
                <a:latin typeface="Courier New"/>
                <a:ea typeface="Courier New"/>
                <a:cs typeface="Courier New"/>
              </a:defRPr>
            </a:pPr>
            <a:r>
              <a:rPr sz="1944" b="0">
                <a:solidFill>
                  <a:srgbClr val="F4F7FA"/>
                </a:solidFill>
                <a:latin typeface="Courier New"/>
                <a:ea typeface="Courier New"/>
                <a:cs typeface="Courier New"/>
              </a:rPr>
              <a:t>predicted = [12, 16]</a:t>
            </a:r>
          </a:p>
          <a:p xmlns:a="http://schemas.openxmlformats.org/drawingml/2006/main">
            <a:pPr>
              <a:defRPr sz="1944" b="0">
                <a:solidFill>
                  <a:srgbClr val="F4F7FA"/>
                </a:solidFill>
                <a:latin typeface="Courier New"/>
                <a:ea typeface="Courier New"/>
                <a:cs typeface="Courier New"/>
              </a:defRPr>
            </a:pPr>
            <a:r>
              <a:rPr sz="1944" b="0">
                <a:solidFill>
                  <a:srgbClr val="FFB080"/>
                </a:solidFill>
                <a:latin typeface="Courier New"/>
                <a:ea typeface="Courier New"/>
                <a:cs typeface="Courier New"/>
              </a:rPr>
              <a:t>for</a:t>
            </a:r>
            <a:r>
              <a:rPr sz="1944" b="0">
                <a:solidFill>
                  <a:srgbClr val="F4F7FA"/>
                </a:solidFill>
                <a:latin typeface="Courier New"/>
                <a:ea typeface="Courier New"/>
                <a:cs typeface="Courier New"/>
              </a:rPr>
              <a:t> truth, guess in zip(actual, predicted):</a:t>
            </a:r>
          </a:p>
          <a:p xmlns:a="http://schemas.openxmlformats.org/drawingml/2006/main">
            <a:pPr>
              <a:defRPr sz="1944" b="0">
                <a:solidFill>
                  <a:srgbClr val="F4F7FA"/>
                </a:solidFill>
                <a:latin typeface="Courier New"/>
                <a:ea typeface="Courier New"/>
                <a:cs typeface="Courier New"/>
              </a:defRPr>
            </a:pPr>
            <a:r>
              <a:rPr sz="1944" b="0">
                <a:solidFill>
                  <a:srgbClr val="F4F7FA"/>
                </a:solidFill>
                <a:latin typeface="Courier New"/>
                <a:ea typeface="Courier New"/>
                <a:cs typeface="Courier New"/>
              </a:rPr>
              <a:t>    print(truth, guess)</a:t>
            </a:r>
          </a:p>
        </p:txBody>
      </p:sp>
      <p:sp>
        <p:nvSpPr>
          <p:cNvPr id="6" name="">
            <a:extLst xmlns:a="http://schemas.openxmlformats.org/drawingml/2006/main">
              <a:ext uri="{FF2B5EF4-FFF2-40B4-BE49-F238E27FC236}">
                <a16:creationId xmlns:a16="http://schemas.microsoft.com/office/drawing/2014/main" id="{28F288E1-FB21-441B-A200-43FDD7328884}"/>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D2BFF267-2F38-45CC-B218-5935DB873523}"/>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The first names receive the first pair, then the second pair.</a:t>
            </a:r>
          </a:p>
        </p:txBody>
      </p:sp>
      <p:sp>
        <p:nvSpPr>
          <p:cNvPr id="8" name="">
            <a:extLst xmlns:a="http://schemas.openxmlformats.org/drawingml/2006/main">
              <a:ext uri="{FF2B5EF4-FFF2-40B4-BE49-F238E27FC236}">
                <a16:creationId xmlns:a16="http://schemas.microsoft.com/office/drawing/2014/main" id="{5D3C2418-16F5-4924-A58C-299C80A11F80}"/>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Output: 10 12; 20 16</a:t>
            </a:r>
          </a:p>
        </p:txBody>
      </p:sp>
      <p:sp>
        <p:nvSpPr>
          <p:cNvPr id="9" name="">
            <a:extLst xmlns:a="http://schemas.openxmlformats.org/drawingml/2006/main">
              <a:ext uri="{FF2B5EF4-FFF2-40B4-BE49-F238E27FC236}">
                <a16:creationId xmlns:a16="http://schemas.microsoft.com/office/drawing/2014/main" id="{823F662A-9279-4747-A29F-8B740AC1AB3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45</a:t>
            </a:r>
          </a:p>
        </p:txBody>
      </p:sp>
    </p:spTree>
    <p:extLst>
      <p:ext uri="{BB962C8B-B14F-4D97-AF65-F5344CB8AC3E}">
        <p14:creationId xmlns:p14="http://schemas.microsoft.com/office/powerpoint/2010/main" val="1965864148"/>
      </p:ext>
    </p:extLst>
  </p:cSld>
</p:sld>
</file>

<file path=ppt/slides/slide4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35C98768-6F4B-45F8-9209-620212A876C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9A8C811-F238-4424-96B2-5EF01AFA8AB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60006690-E5EA-4C38-9C8F-C39E0BA4DE4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Trace absolute and squared errors</a:t>
            </a:r>
          </a:p>
        </p:txBody>
      </p:sp>
      <p:graphicFrame>
        <p:nvGraphicFramePr>
          <p:cNvPr id="10" name=""/>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3670300"/>
                <a:gridCol w="3670300"/>
                <a:gridCol w="3670300"/>
              </a:tblGrid>
              <a:tr h="833438">
                <a:tc>
                  <a:txBody>
                    <a:bodyPr/>
                    <a:lstStyle/>
                    <a:p>
                      <a:r>
                        <a:rPr sz="2025" b="1">
                          <a:solidFill>
                            <a:srgbClr val="FFFFFF"/>
                          </a:solidFill>
                          <a:latin typeface="Calibri"/>
                          <a:ea typeface="Calibri"/>
                          <a:cs typeface="Calibri"/>
                        </a:rPr>
                        <a:t>Actual and predicted</a:t>
                      </a:r>
                    </a:p>
                  </a:txBody>
                  <a:tcPr marL="91440" marR="91440" marT="45720" marB="45720">
                    <a:solidFill>
                      <a:srgbClr val="2E7D6F"/>
                    </a:solidFill>
                  </a:tcPr>
                </a:tc>
                <a:tc>
                  <a:txBody>
                    <a:bodyPr/>
                    <a:lstStyle/>
                    <a:p>
                      <a:r>
                        <a:rPr sz="2025" b="1">
                          <a:solidFill>
                            <a:srgbClr val="FFFFFF"/>
                          </a:solidFill>
                          <a:latin typeface="Calibri"/>
                          <a:ea typeface="Calibri"/>
                          <a:cs typeface="Calibri"/>
                        </a:rPr>
                        <a:t>Absolute error</a:t>
                      </a:r>
                    </a:p>
                  </a:txBody>
                  <a:tcPr marL="91440" marR="91440" marT="45720" marB="45720">
                    <a:solidFill>
                      <a:srgbClr val="2E7D6F"/>
                    </a:solidFill>
                  </a:tcPr>
                </a:tc>
                <a:tc>
                  <a:txBody>
                    <a:bodyPr/>
                    <a:lstStyle/>
                    <a:p>
                      <a:r>
                        <a:rPr sz="2025" b="1">
                          <a:solidFill>
                            <a:srgbClr val="FFFFFF"/>
                          </a:solidFill>
                          <a:latin typeface="Calibri"/>
                          <a:ea typeface="Calibri"/>
                          <a:cs typeface="Calibri"/>
                        </a:rPr>
                        <a:t>Squared error</a:t>
                      </a:r>
                    </a:p>
                  </a:txBody>
                  <a:tcPr marL="91440" marR="91440" marT="45720" marB="45720">
                    <a:solidFill>
                      <a:srgbClr val="2E7D6F"/>
                    </a:solidFill>
                  </a:tcPr>
                </a:tc>
              </a:tr>
              <a:tr h="833438">
                <a:tc>
                  <a:txBody>
                    <a:bodyPr/>
                    <a:lstStyle/>
                    <a:p>
                      <a:r>
                        <a:rPr sz="2025" b="0">
                          <a:solidFill>
                            <a:srgbClr val="1C3144"/>
                          </a:solidFill>
                          <a:latin typeface="Calibri"/>
                          <a:ea typeface="Calibri"/>
                          <a:cs typeface="Calibri"/>
                        </a:rPr>
                        <a:t>10 and 12</a:t>
                      </a:r>
                    </a:p>
                  </a:txBody>
                  <a:tcPr marL="91440" marR="91440" marT="45720" marB="45720">
                    <a:solidFill>
                      <a:srgbClr val="EEF3F6"/>
                    </a:solidFill>
                  </a:tcPr>
                </a:tc>
                <a:tc>
                  <a:txBody>
                    <a:bodyPr/>
                    <a:lstStyle/>
                    <a:p>
                      <a:r>
                        <a:rPr sz="2025" b="0">
                          <a:solidFill>
                            <a:srgbClr val="1C3144"/>
                          </a:solidFill>
                          <a:latin typeface="Calibri"/>
                          <a:ea typeface="Calibri"/>
                          <a:cs typeface="Calibri"/>
                        </a:rPr>
                        <a:t>abs(-2) = 2</a:t>
                      </a:r>
                    </a:p>
                  </a:txBody>
                  <a:tcPr marL="91440" marR="91440" marT="45720" marB="45720">
                    <a:solidFill>
                      <a:srgbClr val="EEF3F6"/>
                    </a:solidFill>
                  </a:tcPr>
                </a:tc>
                <a:tc>
                  <a:txBody>
                    <a:bodyPr/>
                    <a:lstStyle/>
                    <a:p>
                      <a:r>
                        <a:rPr sz="2025" b="0">
                          <a:solidFill>
                            <a:srgbClr val="1C3144"/>
                          </a:solidFill>
                          <a:latin typeface="Calibri"/>
                          <a:ea typeface="Calibri"/>
                          <a:cs typeface="Calibri"/>
                        </a:rPr>
                        <a:t>(-2) ** 2 = 4</a:t>
                      </a:r>
                    </a:p>
                  </a:txBody>
                  <a:tcPr marL="91440" marR="91440" marT="45720" marB="45720">
                    <a:solidFill>
                      <a:srgbClr val="EEF3F6"/>
                    </a:solidFill>
                  </a:tcPr>
                </a:tc>
              </a:tr>
              <a:tr h="833438">
                <a:tc>
                  <a:txBody>
                    <a:bodyPr/>
                    <a:lstStyle/>
                    <a:p>
                      <a:r>
                        <a:rPr sz="2025" b="0">
                          <a:solidFill>
                            <a:srgbClr val="1C3144"/>
                          </a:solidFill>
                          <a:latin typeface="Calibri"/>
                          <a:ea typeface="Calibri"/>
                          <a:cs typeface="Calibri"/>
                        </a:rPr>
                        <a:t>20 and 16</a:t>
                      </a:r>
                    </a:p>
                  </a:txBody>
                  <a:tcPr marL="91440" marR="91440" marT="45720" marB="45720">
                    <a:solidFill>
                      <a:srgbClr val="FFFFFF"/>
                    </a:solidFill>
                  </a:tcPr>
                </a:tc>
                <a:tc>
                  <a:txBody>
                    <a:bodyPr/>
                    <a:lstStyle/>
                    <a:p>
                      <a:r>
                        <a:rPr sz="2025" b="0">
                          <a:solidFill>
                            <a:srgbClr val="1C3144"/>
                          </a:solidFill>
                          <a:latin typeface="Calibri"/>
                          <a:ea typeface="Calibri"/>
                          <a:cs typeface="Calibri"/>
                        </a:rPr>
                        <a:t>abs(4) = 4</a:t>
                      </a:r>
                    </a:p>
                  </a:txBody>
                  <a:tcPr marL="91440" marR="91440" marT="45720" marB="45720">
                    <a:solidFill>
                      <a:srgbClr val="FFFFFF"/>
                    </a:solidFill>
                  </a:tcPr>
                </a:tc>
                <a:tc>
                  <a:txBody>
                    <a:bodyPr/>
                    <a:lstStyle/>
                    <a:p>
                      <a:r>
                        <a:rPr sz="2025" b="0">
                          <a:solidFill>
                            <a:srgbClr val="1C3144"/>
                          </a:solidFill>
                          <a:latin typeface="Calibri"/>
                          <a:ea typeface="Calibri"/>
                          <a:cs typeface="Calibri"/>
                        </a:rPr>
                        <a:t>4 ** 2 = 16</a:t>
                      </a:r>
                    </a:p>
                  </a:txBody>
                  <a:tcPr marL="91440" marR="91440" marT="45720" marB="45720">
                    <a:solidFill>
                      <a:srgbClr val="FFFFFF"/>
                    </a:solidFill>
                  </a:tcPr>
                </a:tc>
              </a:tr>
              <a:tr h="833438">
                <a:tc>
                  <a:txBody>
                    <a:bodyPr/>
                    <a:lstStyle/>
                    <a:p>
                      <a:r>
                        <a:rPr sz="2025" b="0">
                          <a:solidFill>
                            <a:srgbClr val="1C3144"/>
                          </a:solidFill>
                          <a:latin typeface="Calibri"/>
                          <a:ea typeface="Calibri"/>
                          <a:cs typeface="Calibri"/>
                        </a:rPr>
                        <a:t>Average</a:t>
                      </a:r>
                    </a:p>
                  </a:txBody>
                  <a:tcPr marL="91440" marR="91440" marT="45720" marB="45720">
                    <a:solidFill>
                      <a:srgbClr val="EEF3F6"/>
                    </a:solidFill>
                  </a:tcPr>
                </a:tc>
                <a:tc>
                  <a:txBody>
                    <a:bodyPr/>
                    <a:lstStyle/>
                    <a:p>
                      <a:r>
                        <a:rPr sz="2025" b="0">
                          <a:solidFill>
                            <a:srgbClr val="1C3144"/>
                          </a:solidFill>
                          <a:latin typeface="Calibri"/>
                          <a:ea typeface="Calibri"/>
                          <a:cs typeface="Calibri"/>
                        </a:rPr>
                        <a:t>(2 + 4) / 2 = 3</a:t>
                      </a:r>
                    </a:p>
                  </a:txBody>
                  <a:tcPr marL="91440" marR="91440" marT="45720" marB="45720">
                    <a:solidFill>
                      <a:srgbClr val="EEF3F6"/>
                    </a:solidFill>
                  </a:tcPr>
                </a:tc>
                <a:tc>
                  <a:txBody>
                    <a:bodyPr/>
                    <a:lstStyle/>
                    <a:p>
                      <a:r>
                        <a:rPr sz="2025" b="0">
                          <a:solidFill>
                            <a:srgbClr val="1C3144"/>
                          </a:solidFill>
                          <a:latin typeface="Calibri"/>
                          <a:ea typeface="Calibri"/>
                          <a:cs typeface="Calibri"/>
                        </a:rPr>
                        <a:t>(4 + 16) / 2 = 10</a:t>
                      </a:r>
                    </a:p>
                  </a:txBody>
                  <a:tcPr marL="91440" marR="91440" marT="45720" marB="45720">
                    <a:solidFill>
                      <a:srgbClr val="EEF3F6"/>
                    </a:solidFill>
                  </a:tcPr>
                </a:tc>
              </a:tr>
            </a:tbl>
          </a:graphicData>
        </a:graphic>
      </p:graphicFrame>
      <p:sp>
        <p:nvSpPr>
          <p:cNvPr id="5" name="">
            <a:extLst xmlns:a="http://schemas.openxmlformats.org/drawingml/2006/main">
              <a:ext uri="{FF2B5EF4-FFF2-40B4-BE49-F238E27FC236}">
                <a16:creationId xmlns:a16="http://schemas.microsoft.com/office/drawing/2014/main" id="{FC93A962-B381-4154-9C5E-815057B69BD6}"/>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MAE is 3. RMSE is sqrt(10), approximately 3.1623. sqrt means the nonnegative square root.</a:t>
            </a:r>
          </a:p>
        </p:txBody>
      </p:sp>
      <p:sp>
        <p:nvSpPr>
          <p:cNvPr id="6" name="">
            <a:extLst xmlns:a="http://schemas.openxmlformats.org/drawingml/2006/main">
              <a:ext uri="{FF2B5EF4-FFF2-40B4-BE49-F238E27FC236}">
                <a16:creationId xmlns:a16="http://schemas.microsoft.com/office/drawing/2014/main" id="{E9FD79A6-3D6F-4CFC-8AAE-99FFC69FF7C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46</a:t>
            </a:r>
          </a:p>
        </p:txBody>
      </p:sp>
    </p:spTree>
    <p:extLst>
      <p:ext uri="{BB962C8B-B14F-4D97-AF65-F5344CB8AC3E}">
        <p14:creationId xmlns:p14="http://schemas.microsoft.com/office/powerpoint/2010/main" val="61793305"/>
      </p:ext>
    </p:extLst>
  </p:cSld>
</p:sld>
</file>

<file path=ppt/slides/slide4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8689CEEB-BE68-47B1-AECF-87859C946A9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5344297-6032-43E5-9BEC-AF53C828DC4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73DA5A1A-D61A-46F0-A28A-CF9D46836B1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Two error measures</a:t>
            </a:r>
          </a:p>
        </p:txBody>
      </p:sp>
      <p:sp>
        <p:nvSpPr>
          <p:cNvPr id="4" name="">
            <a:extLst xmlns:a="http://schemas.openxmlformats.org/drawingml/2006/main">
              <a:ext uri="{FF2B5EF4-FFF2-40B4-BE49-F238E27FC236}">
                <a16:creationId xmlns:a16="http://schemas.microsoft.com/office/drawing/2014/main" id="{31565267-1885-41FF-A113-07E45F066D62}"/>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1D7DC87F-DC45-4C5B-8268-FEB7101315FC}"/>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zip pairs corresponding values. abs measures error size.</a:t>
            </a:r>
          </a:p>
        </p:txBody>
      </p:sp>
      <p:sp>
        <p:nvSpPr>
          <p:cNvPr id="6" name="">
            <a:extLst xmlns:a="http://schemas.openxmlformats.org/drawingml/2006/main">
              <a:ext uri="{FF2B5EF4-FFF2-40B4-BE49-F238E27FC236}">
                <a16:creationId xmlns:a16="http://schemas.microsoft.com/office/drawing/2014/main" id="{A21A0301-D024-41E2-A2C9-201BD2288DFE}"/>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01653B43-6EAC-43DD-B4AC-0CD9A157535D}"/>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Squaring emphasises large errors; taking the square root returns to the original unit.</a:t>
            </a:r>
          </a:p>
        </p:txBody>
      </p:sp>
      <p:sp>
        <p:nvSpPr>
          <p:cNvPr id="8" name="">
            <a:extLst xmlns:a="http://schemas.openxmlformats.org/drawingml/2006/main">
              <a:ext uri="{FF2B5EF4-FFF2-40B4-BE49-F238E27FC236}">
                <a16:creationId xmlns:a16="http://schemas.microsoft.com/office/drawing/2014/main" id="{E53523A7-570F-462F-810B-B42B43660182}"/>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C8E4DAF0-BA18-41C0-9862-383D94719DF4}"/>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These functions assume equal-length, nonempty paired observations.</a:t>
            </a:r>
          </a:p>
        </p:txBody>
      </p:sp>
      <p:sp>
        <p:nvSpPr>
          <p:cNvPr id="10" name="">
            <a:extLst xmlns:a="http://schemas.openxmlformats.org/drawingml/2006/main">
              <a:ext uri="{FF2B5EF4-FFF2-40B4-BE49-F238E27FC236}">
                <a16:creationId xmlns:a16="http://schemas.microsoft.com/office/drawing/2014/main" id="{FE279841-81EA-4A44-8128-FB1A720DE1E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47</a:t>
            </a:r>
          </a:p>
        </p:txBody>
      </p:sp>
    </p:spTree>
    <p:extLst>
      <p:ext uri="{BB962C8B-B14F-4D97-AF65-F5344CB8AC3E}">
        <p14:creationId xmlns:p14="http://schemas.microsoft.com/office/powerpoint/2010/main" val="988739992"/>
      </p:ext>
    </p:extLst>
  </p:cSld>
</p:sld>
</file>

<file path=ppt/slides/slide4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F41ACC20-65AC-47B2-9E92-A467122207C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3964EAB-7331-4999-8900-97D95D25A83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904E9DF7-BBBC-4BEB-9DC6-E65CBC183CB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Two error measures in Python (1/2)</a:t>
            </a:r>
          </a:p>
        </p:txBody>
      </p:sp>
      <p:sp>
        <p:nvSpPr>
          <p:cNvPr id="4" name="">
            <a:extLst xmlns:a="http://schemas.openxmlformats.org/drawingml/2006/main">
              <a:ext uri="{FF2B5EF4-FFF2-40B4-BE49-F238E27FC236}">
                <a16:creationId xmlns:a16="http://schemas.microsoft.com/office/drawing/2014/main" id="{9C3D646C-9ED9-4E22-BBA7-5DEB2A130FBE}"/>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EBA3EB0-AA80-4817-8114-BEE5799AC020}"/>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from</a:t>
            </a:r>
            <a:r>
              <a:rPr sz="2175" b="0">
                <a:solidFill>
                  <a:srgbClr val="F4F7FA"/>
                </a:solidFill>
                <a:latin typeface="Courier New"/>
                <a:ea typeface="Courier New"/>
                <a:cs typeface="Courier New"/>
              </a:rPr>
              <a:t> math </a:t>
            </a:r>
            <a:r>
              <a:rPr sz="2175" b="0">
                <a:solidFill>
                  <a:srgbClr val="FFB080"/>
                </a:solidFill>
                <a:latin typeface="Courier New"/>
                <a:ea typeface="Courier New"/>
                <a:cs typeface="Courier New"/>
              </a:rPr>
              <a:t>import</a:t>
            </a:r>
            <a:r>
              <a:rPr sz="2175" b="0">
                <a:solidFill>
                  <a:srgbClr val="F4F7FA"/>
                </a:solidFill>
                <a:latin typeface="Courier New"/>
                <a:ea typeface="Courier New"/>
                <a:cs typeface="Courier New"/>
              </a:rPr>
              <a:t> sqrt</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a = [10, 20]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 = [12, 16]</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absolute = []</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squared = []</a:t>
            </a:r>
          </a:p>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for</a:t>
            </a:r>
            <a:r>
              <a:rPr sz="2175" b="0">
                <a:solidFill>
                  <a:srgbClr val="F4F7FA"/>
                </a:solidFill>
                <a:latin typeface="Courier New"/>
                <a:ea typeface="Courier New"/>
                <a:cs typeface="Courier New"/>
              </a:rPr>
              <a:t> truth, guess in zip(a, p):</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d</a:t>
            </a:r>
            <a:r>
              <a:rPr sz="2175" b="0">
                <a:solidFill>
                  <a:srgbClr val="FFB080"/>
                </a:solidFill>
                <a:latin typeface="Courier New"/>
                <a:ea typeface="Courier New"/>
                <a:cs typeface="Courier New"/>
              </a:rPr>
              <a:t>if</a:t>
            </a:r>
            <a:r>
              <a:rPr sz="2175" b="0">
                <a:solidFill>
                  <a:srgbClr val="F4F7FA"/>
                </a:solidFill>
                <a:latin typeface="Courier New"/>
                <a:ea typeface="Courier New"/>
                <a:cs typeface="Courier New"/>
              </a:rPr>
              <a:t>ference = truth - guess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absolute.append(abs(difference))</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squared.append(difference ** 2)</a:t>
            </a:r>
          </a:p>
        </p:txBody>
      </p:sp>
      <p:sp>
        <p:nvSpPr>
          <p:cNvPr id="6" name="">
            <a:extLst xmlns:a="http://schemas.openxmlformats.org/drawingml/2006/main">
              <a:ext uri="{FF2B5EF4-FFF2-40B4-BE49-F238E27FC236}">
                <a16:creationId xmlns:a16="http://schemas.microsoft.com/office/drawing/2014/main" id="{B0FE7E08-8A59-4C5D-B262-F616A30F3EE9}"/>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D821A827-6168-4E0A-AC21-48710C75AA5C}"/>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import loads a library. from selects a tool from it.</a:t>
            </a:r>
          </a:p>
        </p:txBody>
      </p:sp>
      <p:sp>
        <p:nvSpPr>
          <p:cNvPr id="8" name="">
            <a:extLst xmlns:a="http://schemas.openxmlformats.org/drawingml/2006/main">
              <a:ext uri="{FF2B5EF4-FFF2-40B4-BE49-F238E27FC236}">
                <a16:creationId xmlns:a16="http://schemas.microsoft.com/office/drawing/2014/main" id="{A923708A-3E42-4245-9FE0-28056D9FEAD4}"/>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for takes the next item. The indented block repeats.</a:t>
            </a:r>
          </a:p>
        </p:txBody>
      </p:sp>
      <p:sp>
        <p:nvSpPr>
          <p:cNvPr id="9" name="">
            <a:extLst xmlns:a="http://schemas.openxmlformats.org/drawingml/2006/main">
              <a:ext uri="{FF2B5EF4-FFF2-40B4-BE49-F238E27FC236}">
                <a16:creationId xmlns:a16="http://schemas.microsoft.com/office/drawing/2014/main" id="{505DB67A-A91D-4969-9413-A1580826A589}"/>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zip pairs items at matching positions in these equal-length lists.</a:t>
            </a:r>
          </a:p>
        </p:txBody>
      </p:sp>
      <p:sp>
        <p:nvSpPr>
          <p:cNvPr id="10" name="">
            <a:extLst xmlns:a="http://schemas.openxmlformats.org/drawingml/2006/main">
              <a:ext uri="{FF2B5EF4-FFF2-40B4-BE49-F238E27FC236}">
                <a16:creationId xmlns:a16="http://schemas.microsoft.com/office/drawing/2014/main" id="{3E669B98-B5A4-4832-B080-3E81B0ACEABB}"/>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top to bottom. Run the complete example in the matching practice notebook.</a:t>
            </a:r>
          </a:p>
        </p:txBody>
      </p:sp>
      <p:sp>
        <p:nvSpPr>
          <p:cNvPr id="11" name="">
            <a:extLst xmlns:a="http://schemas.openxmlformats.org/drawingml/2006/main">
              <a:ext uri="{FF2B5EF4-FFF2-40B4-BE49-F238E27FC236}">
                <a16:creationId xmlns:a16="http://schemas.microsoft.com/office/drawing/2014/main" id="{CF080B6C-34F7-4AE1-9849-BA10DB87BB0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48</a:t>
            </a:r>
          </a:p>
        </p:txBody>
      </p:sp>
    </p:spTree>
    <p:extLst>
      <p:ext uri="{BB962C8B-B14F-4D97-AF65-F5344CB8AC3E}">
        <p14:creationId xmlns:p14="http://schemas.microsoft.com/office/powerpoint/2010/main" val="185367652"/>
      </p:ext>
    </p:extLst>
  </p:cSld>
</p:sld>
</file>

<file path=ppt/slides/slide4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1E6AFCCB-9BFD-482C-8068-E5E23DC4AEA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84805A2-E203-4FBF-851C-92A2D75B3CD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9ADB9CF6-DD8B-423C-B1ED-7A976B3AFE6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Two error measures in Python (2/2)</a:t>
            </a:r>
          </a:p>
        </p:txBody>
      </p:sp>
      <p:sp>
        <p:nvSpPr>
          <p:cNvPr id="4" name="">
            <a:extLst xmlns:a="http://schemas.openxmlformats.org/drawingml/2006/main">
              <a:ext uri="{FF2B5EF4-FFF2-40B4-BE49-F238E27FC236}">
                <a16:creationId xmlns:a16="http://schemas.microsoft.com/office/drawing/2014/main" id="{60DA207B-6E75-45FB-B231-C620F783C1EA}"/>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67CB4F4-8902-4C4C-AAC2-1E802F1E8AC1}"/>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print(sum(absolute) / len(a))</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print(sqrt(sum(squared) / len(a)))</a:t>
            </a:r>
          </a:p>
        </p:txBody>
      </p:sp>
      <p:sp>
        <p:nvSpPr>
          <p:cNvPr id="6" name="">
            <a:extLst xmlns:a="http://schemas.openxmlformats.org/drawingml/2006/main">
              <a:ext uri="{FF2B5EF4-FFF2-40B4-BE49-F238E27FC236}">
                <a16:creationId xmlns:a16="http://schemas.microsoft.com/office/drawing/2014/main" id="{5CE93FBE-6193-4C1F-8C82-B118172A1FB3}"/>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F9BDFB29-9804-4886-9B16-CB0CC6588585}"/>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print displays a value below the cell.</a:t>
            </a:r>
          </a:p>
        </p:txBody>
      </p:sp>
      <p:sp>
        <p:nvSpPr>
          <p:cNvPr id="8" name="">
            <a:extLst xmlns:a="http://schemas.openxmlformats.org/drawingml/2006/main">
              <a:ext uri="{FF2B5EF4-FFF2-40B4-BE49-F238E27FC236}">
                <a16:creationId xmlns:a16="http://schemas.microsoft.com/office/drawing/2014/main" id="{6BF73513-0736-48C2-953B-49E179502D1A}"/>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Continue the SAME cell; keep indentation. Run after all parts are entered.</a:t>
            </a:r>
          </a:p>
        </p:txBody>
      </p:sp>
      <p:sp>
        <p:nvSpPr>
          <p:cNvPr id="9" name="">
            <a:extLst xmlns:a="http://schemas.openxmlformats.org/drawingml/2006/main">
              <a:ext uri="{FF2B5EF4-FFF2-40B4-BE49-F238E27FC236}">
                <a16:creationId xmlns:a16="http://schemas.microsoft.com/office/drawing/2014/main" id="{FF56C8E5-1843-433A-849F-172016BA18B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49</a:t>
            </a:r>
          </a:p>
        </p:txBody>
      </p:sp>
    </p:spTree>
    <p:extLst>
      <p:ext uri="{BB962C8B-B14F-4D97-AF65-F5344CB8AC3E}">
        <p14:creationId xmlns:p14="http://schemas.microsoft.com/office/powerpoint/2010/main" val="647020078"/>
      </p:ext>
    </p:extLst>
  </p:cSld>
</p:sld>
</file>

<file path=ppt/slides/slide5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4F99DA2F-ACDA-470C-AFA4-60F0EF25BF9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602CD76-E467-4021-BE70-E66F5224017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9E7616EF-A7B5-4ACA-A6D6-3F4D596C1A3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R² compares against a mean prediction</a:t>
            </a:r>
          </a:p>
        </p:txBody>
      </p:sp>
      <p:sp>
        <p:nvSpPr>
          <p:cNvPr id="4" name="">
            <a:extLst xmlns:a="http://schemas.openxmlformats.org/drawingml/2006/main">
              <a:ext uri="{FF2B5EF4-FFF2-40B4-BE49-F238E27FC236}">
                <a16:creationId xmlns:a16="http://schemas.microsoft.com/office/drawing/2014/main" id="{41482376-B7A3-4B13-8E36-D02F7F0A2378}"/>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F6ECA30E-B004-49D8-A7DC-1B104202C398}"/>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R² compares squared errors with predicting the mean of the evaluated targets. It is a score, not “percentage accuracy”.</a:t>
            </a:r>
          </a:p>
        </p:txBody>
      </p:sp>
      <p:sp>
        <p:nvSpPr>
          <p:cNvPr id="6" name="">
            <a:extLst xmlns:a="http://schemas.openxmlformats.org/drawingml/2006/main">
              <a:ext uri="{FF2B5EF4-FFF2-40B4-BE49-F238E27FC236}">
                <a16:creationId xmlns:a16="http://schemas.microsoft.com/office/drawing/2014/main" id="{76A60A0F-AEA9-4C76-B82C-4E7974A8BBD4}"/>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E729F43B-6DD9-4591-8CEF-3CF5945BAED7}"/>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1 means perfect predictions on those observations. 0 matches that mean-prediction reference; a negative score can be worse.</a:t>
            </a:r>
          </a:p>
        </p:txBody>
      </p:sp>
      <p:sp>
        <p:nvSpPr>
          <p:cNvPr id="8" name="">
            <a:extLst xmlns:a="http://schemas.openxmlformats.org/drawingml/2006/main">
              <a:ext uri="{FF2B5EF4-FFF2-40B4-BE49-F238E27FC236}">
                <a16:creationId xmlns:a16="http://schemas.microsoft.com/office/drawing/2014/main" id="{FD1122CB-299D-466C-8EF3-5FDCBA8F10E7}"/>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79C990FB-5660-41DD-8AFE-BBBDEFB51832}"/>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same evaluation observations and report the specified error metric with its units. Constant targets need special handling; this score alone does not prove usefulness.</a:t>
            </a:r>
          </a:p>
        </p:txBody>
      </p:sp>
      <p:sp>
        <p:nvSpPr>
          <p:cNvPr id="10" name="">
            <a:extLst xmlns:a="http://schemas.openxmlformats.org/drawingml/2006/main">
              <a:ext uri="{FF2B5EF4-FFF2-40B4-BE49-F238E27FC236}">
                <a16:creationId xmlns:a16="http://schemas.microsoft.com/office/drawing/2014/main" id="{81B8A272-6CB3-46BF-8BA5-87701552F46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50</a:t>
            </a:r>
          </a:p>
        </p:txBody>
      </p:sp>
    </p:spTree>
    <p:extLst>
      <p:ext uri="{BB962C8B-B14F-4D97-AF65-F5344CB8AC3E}">
        <p14:creationId xmlns:p14="http://schemas.microsoft.com/office/powerpoint/2010/main" val="176340558"/>
      </p:ext>
    </p:extLst>
  </p:cSld>
</p:sld>
</file>

<file path=ppt/slides/slide5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E709FC98-5DB5-45DE-9134-7132FD2A390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24E8DD7-7CBB-44C4-9A73-F5209BA188C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BFB973E0-4046-4BB7-84BA-5AC306EDE19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Revision example and answer</a:t>
            </a:r>
          </a:p>
        </p:txBody>
      </p:sp>
      <p:sp>
        <p:nvSpPr>
          <p:cNvPr id="4" name="">
            <a:extLst xmlns:a="http://schemas.openxmlformats.org/drawingml/2006/main">
              <a:ext uri="{FF2B5EF4-FFF2-40B4-BE49-F238E27FC236}">
                <a16:creationId xmlns:a16="http://schemas.microsoft.com/office/drawing/2014/main" id="{A47A266F-8A58-4993-A752-3B2ADD515687}"/>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1174CD5-EE40-4A52-A069-13711AC12699}"/>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455546B2-4C36-430B-84ED-0AA139E8CBC0}"/>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Example: On paper compare actual [10, 20] with predictions [12, 16]. Find MAE and RMSE. Is MAE a plus/minus guarantee for each prediction?</a:t>
            </a:r>
          </a:p>
        </p:txBody>
      </p:sp>
      <p:sp>
        <p:nvSpPr>
          <p:cNvPr id="7" name="">
            <a:extLst xmlns:a="http://schemas.openxmlformats.org/drawingml/2006/main">
              <a:ext uri="{FF2B5EF4-FFF2-40B4-BE49-F238E27FC236}">
                <a16:creationId xmlns:a16="http://schemas.microsoft.com/office/drawing/2014/main" id="{185A6D95-8FD0-4556-9928-1F7FFB2E9776}"/>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Answer: Absolute errors are 2 and 4: MAE 3. Squared errors 4 and 16: RMSE sqrt(10), about 3.162. MAE is an average, not an individual error bound.</a:t>
            </a:r>
          </a:p>
        </p:txBody>
      </p:sp>
      <p:sp>
        <p:nvSpPr>
          <p:cNvPr id="8" name="">
            <a:extLst xmlns:a="http://schemas.openxmlformats.org/drawingml/2006/main">
              <a:ext uri="{FF2B5EF4-FFF2-40B4-BE49-F238E27FC236}">
                <a16:creationId xmlns:a16="http://schemas.microsoft.com/office/drawing/2014/main" id="{E95BAC3E-7D11-48C7-B577-AD2C8A5D83D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51</a:t>
            </a:r>
          </a:p>
        </p:txBody>
      </p:sp>
    </p:spTree>
    <p:extLst>
      <p:ext uri="{BB962C8B-B14F-4D97-AF65-F5344CB8AC3E}">
        <p14:creationId xmlns:p14="http://schemas.microsoft.com/office/powerpoint/2010/main" val="1652191900"/>
      </p:ext>
    </p:extLst>
  </p:cSld>
</p:sld>
</file>

<file path=ppt/slides/slide5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9E77BC9A-C582-44A0-8485-66CFBF72810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0AF6CE1-8C40-49E6-A4C2-E8C1D140565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40A38AE9-AA7E-416F-8036-0B924A5CAC0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Preparing for the assignment</a:t>
            </a:r>
          </a:p>
        </p:txBody>
      </p:sp>
      <p:sp>
        <p:nvSpPr>
          <p:cNvPr id="4" name="">
            <a:extLst xmlns:a="http://schemas.openxmlformats.org/drawingml/2006/main">
              <a:ext uri="{FF2B5EF4-FFF2-40B4-BE49-F238E27FC236}">
                <a16:creationId xmlns:a16="http://schemas.microsoft.com/office/drawing/2014/main" id="{F849DB3A-E811-414E-B7DA-D7DAF6F733FD}"/>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74A4BCA3-7CF3-4438-BA5B-A64D7CEFEB2C}"/>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W08 asks for baseline, linear and depth-4 tree prediction lists plus error metrics.</a:t>
            </a:r>
          </a:p>
        </p:txBody>
      </p:sp>
      <p:sp>
        <p:nvSpPr>
          <p:cNvPr id="6" name="">
            <a:extLst xmlns:a="http://schemas.openxmlformats.org/drawingml/2006/main">
              <a:ext uri="{FF2B5EF4-FFF2-40B4-BE49-F238E27FC236}">
                <a16:creationId xmlns:a16="http://schemas.microsoft.com/office/drawing/2014/main" id="{D1A61B94-9F94-4B9F-A7CC-09D5B8C6F7E3}"/>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DE24EDB5-78DE-4BB2-98C4-AE73C212D036}"/>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Fit missing-value replacement on training data.</a:t>
            </a:r>
          </a:p>
        </p:txBody>
      </p:sp>
      <p:sp>
        <p:nvSpPr>
          <p:cNvPr id="8" name="">
            <a:extLst xmlns:a="http://schemas.openxmlformats.org/drawingml/2006/main">
              <a:ext uri="{FF2B5EF4-FFF2-40B4-BE49-F238E27FC236}">
                <a16:creationId xmlns:a16="http://schemas.microsoft.com/office/drawing/2014/main" id="{FE61DE85-34D3-499F-B5AD-4BCBBF13E105}"/>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FA8F4F0D-1667-4B14-8D3E-592914761DCB}"/>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Pipeline joins preprocessing to the model.</a:t>
            </a:r>
          </a:p>
        </p:txBody>
      </p:sp>
      <p:sp>
        <p:nvSpPr>
          <p:cNvPr id="10" name="">
            <a:extLst xmlns:a="http://schemas.openxmlformats.org/drawingml/2006/main">
              <a:ext uri="{FF2B5EF4-FFF2-40B4-BE49-F238E27FC236}">
                <a16:creationId xmlns:a16="http://schemas.microsoft.com/office/drawing/2014/main" id="{F34FF99F-351F-46D8-B899-369C87CA5190}"/>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C4EFFB53-54D7-4AD9-8850-1D5E447780B3}"/>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Only load_pct and ambient_c are predictors.</a:t>
            </a:r>
          </a:p>
        </p:txBody>
      </p:sp>
      <p:sp>
        <p:nvSpPr>
          <p:cNvPr id="12" name="">
            <a:extLst xmlns:a="http://schemas.openxmlformats.org/drawingml/2006/main">
              <a:ext uri="{FF2B5EF4-FFF2-40B4-BE49-F238E27FC236}">
                <a16:creationId xmlns:a16="http://schemas.microsoft.com/office/drawing/2014/main" id="{04E844D9-3170-41F1-9E4E-2DE110A0E5A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52</a:t>
            </a:r>
          </a:p>
        </p:txBody>
      </p:sp>
    </p:spTree>
    <p:extLst>
      <p:ext uri="{BB962C8B-B14F-4D97-AF65-F5344CB8AC3E}">
        <p14:creationId xmlns:p14="http://schemas.microsoft.com/office/powerpoint/2010/main" val="1107236177"/>
      </p:ext>
    </p:extLst>
  </p:cSld>
</p:sld>
</file>

<file path=ppt/slides/slide5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C9BFD829-BBC3-46C0-8685-847137B26D7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AAB1A10-46E2-48A0-B72E-256340E3874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9A18B046-BFDB-422A-9CCD-3B94F23A2A9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Preparing for the assignment continued</a:t>
            </a:r>
          </a:p>
        </p:txBody>
      </p:sp>
      <p:sp>
        <p:nvSpPr>
          <p:cNvPr id="4" name="">
            <a:extLst xmlns:a="http://schemas.openxmlformats.org/drawingml/2006/main">
              <a:ext uri="{FF2B5EF4-FFF2-40B4-BE49-F238E27FC236}">
                <a16:creationId xmlns:a16="http://schemas.microsoft.com/office/drawing/2014/main" id="{BD75B491-851D-4FF6-BCF2-061B485F38EB}"/>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F38F1CCF-A299-474E-8C58-C6F158B89297}"/>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observations from the same equipment in one partition.</a:t>
            </a:r>
          </a:p>
        </p:txBody>
      </p:sp>
      <p:sp>
        <p:nvSpPr>
          <p:cNvPr id="6" name="">
            <a:extLst xmlns:a="http://schemas.openxmlformats.org/drawingml/2006/main">
              <a:ext uri="{FF2B5EF4-FFF2-40B4-BE49-F238E27FC236}">
                <a16:creationId xmlns:a16="http://schemas.microsoft.com/office/drawing/2014/main" id="{59A33A64-4990-42E6-AA1B-4263389314CD}"/>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234D3192-ACEE-4BAB-94FE-7C80F4DE22BD}"/>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written comparison supplies scenario values.</a:t>
            </a:r>
          </a:p>
        </p:txBody>
      </p:sp>
      <p:sp>
        <p:nvSpPr>
          <p:cNvPr id="8" name="">
            <a:extLst xmlns:a="http://schemas.openxmlformats.org/drawingml/2006/main">
              <a:ext uri="{FF2B5EF4-FFF2-40B4-BE49-F238E27FC236}">
                <a16:creationId xmlns:a16="http://schemas.microsoft.com/office/drawing/2014/main" id="{DE66CEB4-AECB-43DC-A957-8F3823B0B120}"/>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D844E3DA-68B5-4221-A34D-627F65B74823}"/>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Distinguish them from your own measured results.</a:t>
            </a:r>
          </a:p>
        </p:txBody>
      </p:sp>
      <p:sp>
        <p:nvSpPr>
          <p:cNvPr id="10" name="">
            <a:extLst xmlns:a="http://schemas.openxmlformats.org/drawingml/2006/main">
              <a:ext uri="{FF2B5EF4-FFF2-40B4-BE49-F238E27FC236}">
                <a16:creationId xmlns:a16="http://schemas.microsoft.com/office/drawing/2014/main" id="{185481E7-544E-4F87-A3D2-8696DEE02C2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53</a:t>
            </a:r>
          </a:p>
        </p:txBody>
      </p:sp>
    </p:spTree>
    <p:extLst>
      <p:ext uri="{BB962C8B-B14F-4D97-AF65-F5344CB8AC3E}">
        <p14:creationId xmlns:p14="http://schemas.microsoft.com/office/powerpoint/2010/main" val="1912748706"/>
      </p:ext>
    </p:extLst>
  </p:cSld>
</p:sld>
</file>

<file path=ppt/slides/slide5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E5D90ADE-E74C-4E2E-BB01-1BAE93E2043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5D3F6AB-86CC-4CFC-BADB-B6C0E68B943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62455F33-A471-455B-A3A2-1D1BF2087A3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Reading model outputs</a:t>
            </a:r>
          </a:p>
        </p:txBody>
      </p:sp>
      <p:sp>
        <p:nvSpPr>
          <p:cNvPr id="4" name="">
            <a:extLst xmlns:a="http://schemas.openxmlformats.org/drawingml/2006/main">
              <a:ext uri="{FF2B5EF4-FFF2-40B4-BE49-F238E27FC236}">
                <a16:creationId xmlns:a16="http://schemas.microsoft.com/office/drawing/2014/main" id="{5597AB8D-E4CC-4C79-B974-ECD0882C20AE}"/>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C8946769-1A34-4969-B73D-6EE55582DA49}"/>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score on training rows describes training fit.</a:t>
            </a:r>
          </a:p>
        </p:txBody>
      </p:sp>
      <p:sp>
        <p:nvSpPr>
          <p:cNvPr id="6" name="">
            <a:extLst xmlns:a="http://schemas.openxmlformats.org/drawingml/2006/main">
              <a:ext uri="{FF2B5EF4-FFF2-40B4-BE49-F238E27FC236}">
                <a16:creationId xmlns:a16="http://schemas.microsoft.com/office/drawing/2014/main" id="{8150BC09-ED41-4DAD-8BC9-74D5E53B4E78}"/>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67B6549C-4CC3-42BA-9F8F-856C29FFA839}"/>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feature table must preserve the training column names, order and units during prediction.</a:t>
            </a:r>
          </a:p>
        </p:txBody>
      </p:sp>
      <p:sp>
        <p:nvSpPr>
          <p:cNvPr id="8" name="">
            <a:extLst xmlns:a="http://schemas.openxmlformats.org/drawingml/2006/main">
              <a:ext uri="{FF2B5EF4-FFF2-40B4-BE49-F238E27FC236}">
                <a16:creationId xmlns:a16="http://schemas.microsoft.com/office/drawing/2014/main" id="{26671EE7-5DAB-4B03-BD59-C97B07442EF2}"/>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48BAA480-C2C2-4628-B383-91B515C9FDBA}"/>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one-dimensional list may have the wrong shape for a model expecting rows and columns.</a:t>
            </a:r>
          </a:p>
        </p:txBody>
      </p:sp>
      <p:sp>
        <p:nvSpPr>
          <p:cNvPr id="10" name="">
            <a:extLst xmlns:a="http://schemas.openxmlformats.org/drawingml/2006/main">
              <a:ext uri="{FF2B5EF4-FFF2-40B4-BE49-F238E27FC236}">
                <a16:creationId xmlns:a16="http://schemas.microsoft.com/office/drawing/2014/main" id="{1F1D54B8-4F14-4218-82A4-70B93067E4C9}"/>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5A3D2E0E-B975-415D-AC04-1744850E38C3}"/>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predicted-versus-actual plot uses the diagonal as perfect agreement; a pattern is not proof of causation.</a:t>
            </a:r>
          </a:p>
        </p:txBody>
      </p:sp>
      <p:sp>
        <p:nvSpPr>
          <p:cNvPr id="12" name="">
            <a:extLst xmlns:a="http://schemas.openxmlformats.org/drawingml/2006/main">
              <a:ext uri="{FF2B5EF4-FFF2-40B4-BE49-F238E27FC236}">
                <a16:creationId xmlns:a16="http://schemas.microsoft.com/office/drawing/2014/main" id="{62645E69-9ED0-4A3C-88B1-47E84A734FA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54</a:t>
            </a:r>
          </a:p>
        </p:txBody>
      </p:sp>
    </p:spTree>
    <p:extLst>
      <p:ext uri="{BB962C8B-B14F-4D97-AF65-F5344CB8AC3E}">
        <p14:creationId xmlns:p14="http://schemas.microsoft.com/office/powerpoint/2010/main" val="1586640090"/>
      </p:ext>
    </p:extLst>
  </p:cSld>
</p:sld>
</file>

<file path=ppt/slides/slide5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9504DA45-BD02-420E-9BFC-2BB2E92EAFD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FE1E0A9-5544-4F78-B0BA-009A2FF96EE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4C893289-4671-4A0E-A69E-726AF205F7D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Reading model outputs continued</a:t>
            </a:r>
          </a:p>
        </p:txBody>
      </p:sp>
      <p:sp>
        <p:nvSpPr>
          <p:cNvPr id="4" name="">
            <a:extLst xmlns:a="http://schemas.openxmlformats.org/drawingml/2006/main">
              <a:ext uri="{FF2B5EF4-FFF2-40B4-BE49-F238E27FC236}">
                <a16:creationId xmlns:a16="http://schemas.microsoft.com/office/drawing/2014/main" id="{080EE5CC-B873-4A1E-AC0C-79B9FEDF37DE}"/>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64F35DC-96A9-4365-B57B-077F92988574}"/>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DF3098E5-6C41-4EC5-83AD-CB89CB84509B}"/>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Judge MAE against the baseline and the decision’s acceptable error.</a:t>
            </a:r>
          </a:p>
        </p:txBody>
      </p:sp>
      <p:sp>
        <p:nvSpPr>
          <p:cNvPr id="7" name="">
            <a:extLst xmlns:a="http://schemas.openxmlformats.org/drawingml/2006/main">
              <a:ext uri="{FF2B5EF4-FFF2-40B4-BE49-F238E27FC236}">
                <a16:creationId xmlns:a16="http://schemas.microsoft.com/office/drawing/2014/main" id="{993A7AD0-D860-434A-8F8D-97294C4D7739}"/>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R² is not an accuracy percentage.</a:t>
            </a:r>
          </a:p>
        </p:txBody>
      </p:sp>
      <p:sp>
        <p:nvSpPr>
          <p:cNvPr id="8" name="">
            <a:extLst xmlns:a="http://schemas.openxmlformats.org/drawingml/2006/main">
              <a:ext uri="{FF2B5EF4-FFF2-40B4-BE49-F238E27FC236}">
                <a16:creationId xmlns:a16="http://schemas.microsoft.com/office/drawing/2014/main" id="{EC3B6035-CFFE-419C-B91C-B793EE29C00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55</a:t>
            </a:r>
          </a:p>
        </p:txBody>
      </p:sp>
    </p:spTree>
    <p:extLst>
      <p:ext uri="{BB962C8B-B14F-4D97-AF65-F5344CB8AC3E}">
        <p14:creationId xmlns:p14="http://schemas.microsoft.com/office/powerpoint/2010/main" val="107575637"/>
      </p:ext>
    </p:extLst>
  </p:cSld>
</p:sld>
</file>

<file path=ppt/slides/slide5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1AB5AD3E-32C5-4E7F-8930-AD16D48681F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6B0377C-7866-4B9A-80B8-B0D0778BAD7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570ED5D5-5979-4C2C-8D89-DD6B0DF5228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Your issued task</a:t>
            </a:r>
          </a:p>
        </p:txBody>
      </p:sp>
      <p:sp>
        <p:nvSpPr>
          <p:cNvPr id="4" name="">
            <a:extLst xmlns:a="http://schemas.openxmlformats.org/drawingml/2006/main">
              <a:ext uri="{FF2B5EF4-FFF2-40B4-BE49-F238E27FC236}">
                <a16:creationId xmlns:a16="http://schemas.microsoft.com/office/drawing/2014/main" id="{4B0174AA-21B2-4C88-9FB6-65D3568320A8}"/>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E827D9C9-C9B8-473A-9FB0-DF0D483EC69C}"/>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Investigate motor winding temperature.</a:t>
            </a:r>
          </a:p>
        </p:txBody>
      </p:sp>
      <p:sp>
        <p:nvSpPr>
          <p:cNvPr id="6" name="">
            <a:extLst xmlns:a="http://schemas.openxmlformats.org/drawingml/2006/main">
              <a:ext uri="{FF2B5EF4-FFF2-40B4-BE49-F238E27FC236}">
                <a16:creationId xmlns:a16="http://schemas.microsoft.com/office/drawing/2014/main" id="{2CB40CD4-D3DA-4CD3-ABB5-A23FD0E52FD4}"/>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915BEB9B-50EB-4495-9BBE-3EE2EB49A895}"/>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Target units: deg C.</a:t>
            </a:r>
          </a:p>
        </p:txBody>
      </p:sp>
      <p:sp>
        <p:nvSpPr>
          <p:cNvPr id="8" name="">
            <a:extLst xmlns:a="http://schemas.openxmlformats.org/drawingml/2006/main">
              <a:ext uri="{FF2B5EF4-FFF2-40B4-BE49-F238E27FC236}">
                <a16:creationId xmlns:a16="http://schemas.microsoft.com/office/drawing/2014/main" id="{0EB805BC-B74B-410B-8563-5A32E93840B6}"/>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36D965B3-9CC1-4ECE-8D29-E5574E69C8C6}"/>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These are synthetic teaching records, not measurements suitable for deployment.</a:t>
            </a:r>
          </a:p>
        </p:txBody>
      </p:sp>
      <p:sp>
        <p:nvSpPr>
          <p:cNvPr id="10" name="">
            <a:extLst xmlns:a="http://schemas.openxmlformats.org/drawingml/2006/main">
              <a:ext uri="{FF2B5EF4-FFF2-40B4-BE49-F238E27FC236}">
                <a16:creationId xmlns:a16="http://schemas.microsoft.com/office/drawing/2014/main" id="{986E7D3B-32BC-4073-B8D4-026560601D5E}"/>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A00D78F7-7405-4A34-ACB7-C41E1E593C10}"/>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Each record is one operating observation; equipment_id repeats across observations.</a:t>
            </a:r>
          </a:p>
        </p:txBody>
      </p:sp>
      <p:sp>
        <p:nvSpPr>
          <p:cNvPr id="12" name="">
            <a:extLst xmlns:a="http://schemas.openxmlformats.org/drawingml/2006/main">
              <a:ext uri="{FF2B5EF4-FFF2-40B4-BE49-F238E27FC236}">
                <a16:creationId xmlns:a16="http://schemas.microsoft.com/office/drawing/2014/main" id="{445349F5-86FD-4D63-A6DA-88F3C3FB3A2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56</a:t>
            </a:r>
          </a:p>
        </p:txBody>
      </p:sp>
    </p:spTree>
    <p:extLst>
      <p:ext uri="{BB962C8B-B14F-4D97-AF65-F5344CB8AC3E}">
        <p14:creationId xmlns:p14="http://schemas.microsoft.com/office/powerpoint/2010/main" val="164393378"/>
      </p:ext>
    </p:extLst>
  </p:cSld>
</p:sld>
</file>

<file path=ppt/slides/slide5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963825FF-4BB6-4670-94A2-96A49FBAD56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F14F7C8-6FB1-40EC-B155-6F3CFE63BAF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1806533D-F388-4D72-85D4-E60E43FE092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predict_regression(training_records, feature_records)</a:t>
            </a:r>
          </a:p>
        </p:txBody>
      </p:sp>
      <p:sp>
        <p:nvSpPr>
          <p:cNvPr id="4" name="">
            <a:extLst xmlns:a="http://schemas.openxmlformats.org/drawingml/2006/main">
              <a:ext uri="{FF2B5EF4-FFF2-40B4-BE49-F238E27FC236}">
                <a16:creationId xmlns:a16="http://schemas.microsoft.com/office/drawing/2014/main" id="{3F25934E-381F-4EA5-AED1-CE02130D15D5}"/>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4BA9852-DA86-49B9-8671-F546F3D9BF9A}"/>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Fit a training-mean baseline, linear regression and a decision tree (max_depth=4, random_state=17) using load_pct and ambient_c only.</a:t>
            </a:r>
          </a:p>
          <a:p xmlns:a="http://schemas.openxmlformats.org/drawingml/2006/main">
            <a:r>
              <a:t/>
            </a:r>
          </a:p>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Return three prediction lists under baseline, linear and tree.</a:t>
            </a:r>
          </a:p>
          <a:p xmlns:a="http://schemas.openxmlformats.org/drawingml/2006/main">
            <a:r>
              <a:t/>
            </a:r>
          </a:p>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Feature records have no target.</a:t>
            </a:r>
          </a:p>
          <a:p xmlns:a="http://schemas.openxmlformats.org/drawingml/2006/main">
            <a:r>
              <a:t/>
            </a:r>
          </a:p>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Fit preprocessing only on training data.</a:t>
            </a:r>
          </a:p>
        </p:txBody>
      </p:sp>
      <p:sp>
        <p:nvSpPr>
          <p:cNvPr id="6" name="">
            <a:extLst xmlns:a="http://schemas.openxmlformats.org/drawingml/2006/main">
              <a:ext uri="{FF2B5EF4-FFF2-40B4-BE49-F238E27FC236}">
                <a16:creationId xmlns:a16="http://schemas.microsoft.com/office/drawing/2014/main" id="{1AA33D58-FF2F-4C57-B476-4CE3CE51975D}"/>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C5A9F751-9B50-48F4-A2D7-5FA9A418715F}"/>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F754FADE-1DBB-42DE-BD87-CA2330AF210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57</a:t>
            </a:r>
          </a:p>
        </p:txBody>
      </p:sp>
    </p:spTree>
    <p:extLst>
      <p:ext uri="{BB962C8B-B14F-4D97-AF65-F5344CB8AC3E}">
        <p14:creationId xmlns:p14="http://schemas.microsoft.com/office/powerpoint/2010/main" val="2051750378"/>
      </p:ext>
    </p:extLst>
  </p:cSld>
</p:sld>
</file>

<file path=ppt/slides/slide5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A96663AD-E211-4148-9BC8-E725186C73D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B4C0289-B7F9-4213-862B-1C2AA4D7183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07B47315-BF93-4D75-BF57-E9BE508F3D6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regression_errors(actual, predicted)</a:t>
            </a:r>
          </a:p>
        </p:txBody>
      </p:sp>
      <p:sp>
        <p:nvSpPr>
          <p:cNvPr id="4" name="">
            <a:extLst xmlns:a="http://schemas.openxmlformats.org/drawingml/2006/main">
              <a:ext uri="{FF2B5EF4-FFF2-40B4-BE49-F238E27FC236}">
                <a16:creationId xmlns:a16="http://schemas.microsoft.com/office/drawing/2014/main" id="{6190AA8F-962B-4DFD-80A7-9F2F3D013C50}"/>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29A6F27-9D13-4425-B41B-EBC768044124}"/>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Return mae and rmse, calculated over the same paired observations, with full precision.</a:t>
            </a:r>
          </a:p>
        </p:txBody>
      </p:sp>
      <p:sp>
        <p:nvSpPr>
          <p:cNvPr id="6" name="">
            <a:extLst xmlns:a="http://schemas.openxmlformats.org/drawingml/2006/main">
              <a:ext uri="{FF2B5EF4-FFF2-40B4-BE49-F238E27FC236}">
                <a16:creationId xmlns:a16="http://schemas.microsoft.com/office/drawing/2014/main" id="{6EC5831C-94E8-426F-95E7-AC9E57FBF7E5}"/>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2F58D93E-A946-4A6F-AAFF-6ADFE084D17B}"/>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DCA59EAD-BABE-45D9-9F15-1A0F9524AEE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58</a:t>
            </a:r>
          </a:p>
        </p:txBody>
      </p:sp>
    </p:spTree>
    <p:extLst>
      <p:ext uri="{BB962C8B-B14F-4D97-AF65-F5344CB8AC3E}">
        <p14:creationId xmlns:p14="http://schemas.microsoft.com/office/powerpoint/2010/main" val="2056361233"/>
      </p:ext>
    </p:extLst>
  </p:cSld>
</p:sld>
</file>

<file path=ppt/slides/slide5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10F3F726-1904-4A08-9D86-B92B89F84E1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104C97A-6694-4C98-9A5E-970E4FE0FF3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CABC9460-0E8E-469F-8711-544CEA59432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Written evidence</a:t>
            </a:r>
          </a:p>
        </p:txBody>
      </p:sp>
      <p:sp>
        <p:nvSpPr>
          <p:cNvPr id="4" name="">
            <a:extLst xmlns:a="http://schemas.openxmlformats.org/drawingml/2006/main">
              <a:ext uri="{FF2B5EF4-FFF2-40B4-BE49-F238E27FC236}">
                <a16:creationId xmlns:a16="http://schemas.microsoft.com/office/drawing/2014/main" id="{71A9E4E8-E0AF-483D-8B8B-3A22BB002B86}"/>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C06D057F-7C0F-46E8-9EEA-98672418BA50}"/>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cell headed “My written evidence”.</a:t>
            </a:r>
          </a:p>
        </p:txBody>
      </p:sp>
      <p:sp>
        <p:nvSpPr>
          <p:cNvPr id="6" name="">
            <a:extLst xmlns:a="http://schemas.openxmlformats.org/drawingml/2006/main">
              <a:ext uri="{FF2B5EF4-FFF2-40B4-BE49-F238E27FC236}">
                <a16:creationId xmlns:a16="http://schemas.microsoft.com/office/drawing/2014/main" id="{D51BE9C6-8BFE-424F-9040-70675A4EDD7D}"/>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C8D0093C-D15A-4F45-AB6B-660B1DDCA6D7}"/>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Explain the supplied scenario in your own words.</a:t>
            </a:r>
          </a:p>
        </p:txBody>
      </p:sp>
      <p:sp>
        <p:nvSpPr>
          <p:cNvPr id="8" name="">
            <a:extLst xmlns:a="http://schemas.openxmlformats.org/drawingml/2006/main">
              <a:ext uri="{FF2B5EF4-FFF2-40B4-BE49-F238E27FC236}">
                <a16:creationId xmlns:a16="http://schemas.microsoft.com/office/drawing/2014/main" id="{283F6B27-D9F7-4762-9004-E167D3EC9DEE}"/>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145C22E4-4A08-4A6C-8170-491EE975C144}"/>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State target units, reasons and limitations.</a:t>
            </a:r>
          </a:p>
        </p:txBody>
      </p:sp>
      <p:sp>
        <p:nvSpPr>
          <p:cNvPr id="10" name="">
            <a:extLst xmlns:a="http://schemas.openxmlformats.org/drawingml/2006/main">
              <a:ext uri="{FF2B5EF4-FFF2-40B4-BE49-F238E27FC236}">
                <a16:creationId xmlns:a16="http://schemas.microsoft.com/office/drawing/2014/main" id="{EA29A4BD-4418-4644-B188-E6788CF5ABB3}"/>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2B7F2EC4-384E-449F-8943-7564C2643765}"/>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Submit one complete notebook containing code and written evidence.</a:t>
            </a:r>
          </a:p>
        </p:txBody>
      </p:sp>
      <p:sp>
        <p:nvSpPr>
          <p:cNvPr id="12" name="">
            <a:extLst xmlns:a="http://schemas.openxmlformats.org/drawingml/2006/main">
              <a:ext uri="{FF2B5EF4-FFF2-40B4-BE49-F238E27FC236}">
                <a16:creationId xmlns:a16="http://schemas.microsoft.com/office/drawing/2014/main" id="{B1527201-4961-4DC6-9BD9-1AED07ECD56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59</a:t>
            </a:r>
          </a:p>
        </p:txBody>
      </p:sp>
    </p:spTree>
    <p:extLst>
      <p:ext uri="{BB962C8B-B14F-4D97-AF65-F5344CB8AC3E}">
        <p14:creationId xmlns:p14="http://schemas.microsoft.com/office/powerpoint/2010/main" val="1904864993"/>
      </p:ext>
    </p:extLst>
  </p:cSld>
</p:sld>
</file>

<file path=ppt/slides/slide6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07C84304-CF13-4C11-9F67-38BA9AC7170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89DEB05-B2FC-4CA5-BB15-C9251D900DA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ASSIGNMENT SUBMISSION</a:t>
            </a:r>
          </a:p>
        </p:txBody>
      </p:sp>
      <p:sp>
        <p:nvSpPr>
          <p:cNvPr id="3" name="">
            <a:extLst xmlns:a="http://schemas.openxmlformats.org/drawingml/2006/main">
              <a:ext uri="{FF2B5EF4-FFF2-40B4-BE49-F238E27FC236}">
                <a16:creationId xmlns:a16="http://schemas.microsoft.com/office/drawing/2014/main" id="{30136405-B6EC-4E65-92C3-B986F181E78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Regression and baseline submission</a:t>
            </a:r>
          </a:p>
        </p:txBody>
      </p:sp>
      <p:sp>
        <p:nvSpPr>
          <p:cNvPr id="4" name="">
            <a:extLst xmlns:a="http://schemas.openxmlformats.org/drawingml/2006/main">
              <a:ext uri="{FF2B5EF4-FFF2-40B4-BE49-F238E27FC236}">
                <a16:creationId xmlns:a16="http://schemas.microsoft.com/office/drawing/2014/main" id="{00527F78-AEA6-453D-9F59-9A6BDA5F4C04}"/>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D07D61E4-1E87-4845-9BF5-6CD89702F7E5}"/>
              </a:ext>
            </a:extLst>
          </p:cNvPr>
          <p:cNvSpPr>
            <a:spLocks xmlns:a="http://schemas.openxmlformats.org/drawingml/2006/main" noGrp="1"/>
          </p:cNvSpPr>
          <p:nvPr/>
        </p:nvSpPr>
        <p:spPr>
          <a:xfrm xmlns:a="http://schemas.openxmlformats.org/drawingml/2006/main">
            <a:off x="1381125" y="1724025"/>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Opens: 30 Oct 2026, 11:00 Kampala</a:t>
            </a:r>
          </a:p>
        </p:txBody>
      </p:sp>
      <p:sp>
        <p:nvSpPr>
          <p:cNvPr id="6" name="">
            <a:extLst xmlns:a="http://schemas.openxmlformats.org/drawingml/2006/main">
              <a:ext uri="{FF2B5EF4-FFF2-40B4-BE49-F238E27FC236}">
                <a16:creationId xmlns:a16="http://schemas.microsoft.com/office/drawing/2014/main" id="{1854E022-398B-4CDF-B4D1-9579B4D6A60B}"/>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FD99285E-78BA-4505-9D7A-38CBED77485D}"/>
              </a:ext>
            </a:extLst>
          </p:cNvPr>
          <p:cNvSpPr>
            <a:spLocks xmlns:a="http://schemas.openxmlformats.org/drawingml/2006/main" noGrp="1"/>
          </p:cNvSpPr>
          <p:nvPr/>
        </p:nvSpPr>
        <p:spPr>
          <a:xfrm xmlns:a="http://schemas.openxmlformats.org/drawingml/2006/main">
            <a:off x="1381125" y="2521744"/>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Deadline: 06 Nov 2026, 11:00 Kampala</a:t>
            </a:r>
          </a:p>
        </p:txBody>
      </p:sp>
      <p:sp>
        <p:nvSpPr>
          <p:cNvPr id="8" name="">
            <a:extLst xmlns:a="http://schemas.openxmlformats.org/drawingml/2006/main">
              <a:ext uri="{FF2B5EF4-FFF2-40B4-BE49-F238E27FC236}">
                <a16:creationId xmlns:a16="http://schemas.microsoft.com/office/drawing/2014/main" id="{8E441A7E-6424-4B10-A68B-7A69089A77CD}"/>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DA5237D9-79F2-4C8C-B818-2A7DE62F8ED6}"/>
              </a:ext>
            </a:extLst>
          </p:cNvPr>
          <p:cNvSpPr>
            <a:spLocks xmlns:a="http://schemas.openxmlformats.org/drawingml/2006/main" noGrp="1"/>
          </p:cNvSpPr>
          <p:nvPr/>
        </p:nvSpPr>
        <p:spPr>
          <a:xfrm xmlns:a="http://schemas.openxmlformats.org/drawingml/2006/main">
            <a:off x="1381125" y="3319463"/>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your full Student Registration Number in the form.</a:t>
            </a:r>
          </a:p>
        </p:txBody>
      </p:sp>
      <p:sp>
        <p:nvSpPr>
          <p:cNvPr id="10" name="">
            <a:extLst xmlns:a="http://schemas.openxmlformats.org/drawingml/2006/main">
              <a:ext uri="{FF2B5EF4-FFF2-40B4-BE49-F238E27FC236}">
                <a16:creationId xmlns:a16="http://schemas.microsoft.com/office/drawing/2014/main" id="{39D6BE60-27FF-423A-A95A-F2C76619B459}"/>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C004C2F6-2C29-4428-8F6F-82F9E08EA706}"/>
              </a:ext>
            </a:extLst>
          </p:cNvPr>
          <p:cNvSpPr>
            <a:spLocks xmlns:a="http://schemas.openxmlformats.org/drawingml/2006/main" noGrp="1"/>
          </p:cNvSpPr>
          <p:nvPr/>
        </p:nvSpPr>
        <p:spPr>
          <a:xfrm xmlns:a="http://schemas.openxmlformats.org/drawingml/2006/main">
            <a:off x="1381125" y="4117181"/>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the submitted files and confirmation.</a:t>
            </a:r>
          </a:p>
        </p:txBody>
      </p:sp>
      <p:sp>
        <p:nvSpPr>
          <p:cNvPr id="12" name="">
            <a:extLst xmlns:a="http://schemas.openxmlformats.org/drawingml/2006/main">
              <a:ext uri="{FF2B5EF4-FFF2-40B4-BE49-F238E27FC236}">
                <a16:creationId xmlns:a16="http://schemas.microsoft.com/office/drawing/2014/main" id="{4CF60102-CFD9-4899-96DE-263E9FE17EC7}"/>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1CCDAEF9-6C56-4A53-AF30-520214BFD7BE}"/>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bf30e917bfe64485"/>
              </a:rPr>
              <a:t>Open W08 assignment form</a:t>
            </a:r>
          </a:p>
        </p:txBody>
      </p:sp>
      <p:sp>
        <p:nvSpPr>
          <p:cNvPr id="14" name="">
            <a:extLst xmlns:a="http://schemas.openxmlformats.org/drawingml/2006/main">
              <a:ext uri="{FF2B5EF4-FFF2-40B4-BE49-F238E27FC236}">
                <a16:creationId xmlns:a16="http://schemas.microsoft.com/office/drawing/2014/main" id="{A0A97211-0298-4E08-B66B-3CB93F98FA6C}"/>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https://docs.google.com/forms/d/e/1FAIpQLSeAVNyokX8n-TQXwu2hQtJJkeKsQcU8katFAhghZmQH4HJreA/viewform</a:t>
            </a:r>
          </a:p>
        </p:txBody>
      </p:sp>
      <p:sp>
        <p:nvSpPr>
          <p:cNvPr id="15" name="">
            <a:extLst xmlns:a="http://schemas.openxmlformats.org/drawingml/2006/main">
              <a:ext uri="{FF2B5EF4-FFF2-40B4-BE49-F238E27FC236}">
                <a16:creationId xmlns:a16="http://schemas.microsoft.com/office/drawing/2014/main" id="{1CC273B8-A8B0-49F9-8E44-4E57BB3AD5F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60</a:t>
            </a:r>
          </a:p>
        </p:txBody>
      </p:sp>
    </p:spTree>
    <p:extLst>
      <p:ext uri="{BB962C8B-B14F-4D97-AF65-F5344CB8AC3E}">
        <p14:creationId xmlns:p14="http://schemas.microsoft.com/office/powerpoint/2010/main" val="949067110"/>
      </p:ext>
    </p:extLst>
  </p:cSld>
</p:sld>
</file>

<file path=ppt/slides/slide6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B85324E6-EB85-479C-BD74-A68CB11A461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73F7BC4-1040-40DB-AC1B-61E4D9B6564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2D228F3C-7092-4737-8A7C-CB50E4B8496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Data analysis project</a:t>
            </a:r>
          </a:p>
        </p:txBody>
      </p:sp>
      <p:sp>
        <p:nvSpPr>
          <p:cNvPr id="4" name="">
            <a:extLst xmlns:a="http://schemas.openxmlformats.org/drawingml/2006/main">
              <a:ext uri="{FF2B5EF4-FFF2-40B4-BE49-F238E27FC236}">
                <a16:creationId xmlns:a16="http://schemas.microsoft.com/office/drawing/2014/main" id="{8B5DA6E5-B195-433D-B0A2-0C48D239B311}"/>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5A7E554D-1DC9-4C2C-8028-11C4D0353B2E}"/>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Write your own explanation in the markdown cell headed `## My written evidence`.</a:t>
            </a:r>
          </a:p>
        </p:txBody>
      </p:sp>
      <p:sp>
        <p:nvSpPr>
          <p:cNvPr id="6" name="">
            <a:extLst xmlns:a="http://schemas.openxmlformats.org/drawingml/2006/main">
              <a:ext uri="{FF2B5EF4-FFF2-40B4-BE49-F238E27FC236}">
                <a16:creationId xmlns:a16="http://schemas.microsoft.com/office/drawing/2014/main" id="{2EB994B0-359F-4316-8EF2-005DB28FD712}"/>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1629C418-D5F1-46C4-ACAD-5A0832B386BD}"/>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that heading.</a:t>
            </a:r>
          </a:p>
        </p:txBody>
      </p:sp>
      <p:sp>
        <p:nvSpPr>
          <p:cNvPr id="8" name="">
            <a:extLst xmlns:a="http://schemas.openxmlformats.org/drawingml/2006/main">
              <a:ext uri="{FF2B5EF4-FFF2-40B4-BE49-F238E27FC236}">
                <a16:creationId xmlns:a16="http://schemas.microsoft.com/office/drawing/2014/main" id="{D9A63D3E-3961-47D7-991B-4EE19B6C99DC}"/>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F5585854-A903-40A1-9772-86C810585E80}"/>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Task prompts and code comments are excluded from reasoning marks.</a:t>
            </a:r>
          </a:p>
        </p:txBody>
      </p:sp>
      <p:sp>
        <p:nvSpPr>
          <p:cNvPr id="10" name="">
            <a:extLst xmlns:a="http://schemas.openxmlformats.org/drawingml/2006/main">
              <a:ext uri="{FF2B5EF4-FFF2-40B4-BE49-F238E27FC236}">
                <a16:creationId xmlns:a16="http://schemas.microsoft.com/office/drawing/2014/main" id="{1465F90D-6CE9-4C69-B4EA-159A166E9D72}"/>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A4192063-68D6-43E2-8CE4-C80D42538C72}"/>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Complete every original rubric criterion below, not just the checked functions.</a:t>
            </a:r>
          </a:p>
        </p:txBody>
      </p:sp>
      <p:sp>
        <p:nvSpPr>
          <p:cNvPr id="12" name="">
            <a:extLst xmlns:a="http://schemas.openxmlformats.org/drawingml/2006/main">
              <a:ext uri="{FF2B5EF4-FFF2-40B4-BE49-F238E27FC236}">
                <a16:creationId xmlns:a16="http://schemas.microsoft.com/office/drawing/2014/main" id="{2D20F83B-2089-4B54-B53C-08AB270A80D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61</a:t>
            </a:r>
          </a:p>
        </p:txBody>
      </p:sp>
    </p:spTree>
    <p:extLst>
      <p:ext uri="{BB962C8B-B14F-4D97-AF65-F5344CB8AC3E}">
        <p14:creationId xmlns:p14="http://schemas.microsoft.com/office/powerpoint/2010/main" val="1548780585"/>
      </p:ext>
    </p:extLst>
  </p:cSld>
</p:sld>
</file>

<file path=ppt/slides/slide6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DE3CF661-F9F8-4DEA-A8D9-A14A2F80198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622C51B-9DBD-4CF5-9756-47569E16333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89721A9C-B764-46B2-81D2-A427367D99B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Data analysis project continued</a:t>
            </a:r>
          </a:p>
        </p:txBody>
      </p:sp>
      <p:sp>
        <p:nvSpPr>
          <p:cNvPr id="4" name="">
            <a:extLst xmlns:a="http://schemas.openxmlformats.org/drawingml/2006/main">
              <a:ext uri="{FF2B5EF4-FFF2-40B4-BE49-F238E27FC236}">
                <a16:creationId xmlns:a16="http://schemas.microsoft.com/office/drawing/2014/main" id="{89834F2F-61DD-4380-A504-1AD525EA59A0}"/>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5E57B959-D642-4323-B6CE-77AC18C47459}"/>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Include profiling, justified cleaning, question-led charts and your engineering recommendation where required.</a:t>
            </a:r>
          </a:p>
        </p:txBody>
      </p:sp>
      <p:sp>
        <p:nvSpPr>
          <p:cNvPr id="6" name="">
            <a:extLst xmlns:a="http://schemas.openxmlformats.org/drawingml/2006/main">
              <a:ext uri="{FF2B5EF4-FFF2-40B4-BE49-F238E27FC236}">
                <a16:creationId xmlns:a16="http://schemas.microsoft.com/office/drawing/2014/main" id="{89895C37-A719-49DB-9C8C-A05051797966}"/>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564E4A23-D956-468A-8DC8-E654BBA42E7B}"/>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raw data.</a:t>
            </a:r>
          </a:p>
        </p:txBody>
      </p:sp>
      <p:sp>
        <p:nvSpPr>
          <p:cNvPr id="8" name="">
            <a:extLst xmlns:a="http://schemas.openxmlformats.org/drawingml/2006/main">
              <a:ext uri="{FF2B5EF4-FFF2-40B4-BE49-F238E27FC236}">
                <a16:creationId xmlns:a16="http://schemas.microsoft.com/office/drawing/2014/main" id="{3E1EE1DB-BF74-44CC-B519-8E9150FD8798}"/>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8CC4B5E4-4F97-4E2A-9081-3F0B23517170}"/>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State units and distinguish correlation from causation.</a:t>
            </a:r>
          </a:p>
        </p:txBody>
      </p:sp>
      <p:sp>
        <p:nvSpPr>
          <p:cNvPr id="10" name="">
            <a:extLst xmlns:a="http://schemas.openxmlformats.org/drawingml/2006/main">
              <a:ext uri="{FF2B5EF4-FFF2-40B4-BE49-F238E27FC236}">
                <a16:creationId xmlns:a16="http://schemas.microsoft.com/office/drawing/2014/main" id="{7122CA6B-1DBB-4BA4-9391-2396177B6883}"/>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0FAE6D86-6816-49B3-B17E-0DA6A9CB2803}"/>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Charts must be actual labelled figures in the notebook, not claims that charts exist.</a:t>
            </a:r>
          </a:p>
        </p:txBody>
      </p:sp>
      <p:sp>
        <p:nvSpPr>
          <p:cNvPr id="12" name="">
            <a:extLst xmlns:a="http://schemas.openxmlformats.org/drawingml/2006/main">
              <a:ext uri="{FF2B5EF4-FFF2-40B4-BE49-F238E27FC236}">
                <a16:creationId xmlns:a16="http://schemas.microsoft.com/office/drawing/2014/main" id="{407C98B9-3CF3-4804-B8ED-BE444EB3F19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62</a:t>
            </a:r>
          </a:p>
        </p:txBody>
      </p:sp>
    </p:spTree>
    <p:extLst>
      <p:ext uri="{BB962C8B-B14F-4D97-AF65-F5344CB8AC3E}">
        <p14:creationId xmlns:p14="http://schemas.microsoft.com/office/powerpoint/2010/main" val="1852122388"/>
      </p:ext>
    </p:extLst>
  </p:cSld>
</p:sld>
</file>

<file path=ppt/slides/slide6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9F16A22D-FCFB-4434-9B35-9A88195B026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E3F36C1-BFF2-4BB6-BA99-F282AE119A7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0B2651A0-8914-4825-9345-2CB3ECA9483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Data analysis project continued</a:t>
            </a:r>
          </a:p>
        </p:txBody>
      </p:sp>
      <p:sp>
        <p:nvSpPr>
          <p:cNvPr id="4" name="">
            <a:extLst xmlns:a="http://schemas.openxmlformats.org/drawingml/2006/main">
              <a:ext uri="{FF2B5EF4-FFF2-40B4-BE49-F238E27FC236}">
                <a16:creationId xmlns:a16="http://schemas.microsoft.com/office/drawing/2014/main" id="{C1F4C1BB-FDF7-48DF-A645-359CBC007BB8}"/>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E0B78151-2483-4912-B0F9-3FE6B243ECD6}"/>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Include captions and a separate readable DOCX/PDF report.</a:t>
            </a:r>
          </a:p>
        </p:txBody>
      </p:sp>
      <p:sp>
        <p:nvSpPr>
          <p:cNvPr id="6" name="">
            <a:extLst xmlns:a="http://schemas.openxmlformats.org/drawingml/2006/main">
              <a:ext uri="{FF2B5EF4-FFF2-40B4-BE49-F238E27FC236}">
                <a16:creationId xmlns:a16="http://schemas.microsoft.com/office/drawing/2014/main" id="{EFA7DE86-5B87-4339-AF9A-32516B6C9187}"/>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AA280481-7FF3-48B7-8E54-1F33EA3B3CFA}"/>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Question &amp; dataset fit (20.0 total): A real engineering question is stated, and the chosen dataset can actually answer it.</a:t>
            </a:r>
          </a:p>
        </p:txBody>
      </p:sp>
      <p:sp>
        <p:nvSpPr>
          <p:cNvPr id="8" name="">
            <a:extLst xmlns:a="http://schemas.openxmlformats.org/drawingml/2006/main">
              <a:ext uri="{FF2B5EF4-FFF2-40B4-BE49-F238E27FC236}">
                <a16:creationId xmlns:a16="http://schemas.microsoft.com/office/drawing/2014/main" id="{7D406D58-422F-4ED8-9E74-192FE9F4DD9D}"/>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2C79CE20-2518-4025-90BC-DD2FDF9DD2E4}"/>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Provenance and licence stated.</a:t>
            </a:r>
          </a:p>
        </p:txBody>
      </p:sp>
      <p:sp>
        <p:nvSpPr>
          <p:cNvPr id="10" name="">
            <a:extLst xmlns:a="http://schemas.openxmlformats.org/drawingml/2006/main">
              <a:ext uri="{FF2B5EF4-FFF2-40B4-BE49-F238E27FC236}">
                <a16:creationId xmlns:a16="http://schemas.microsoft.com/office/drawing/2014/main" id="{950EEEB5-5A7F-4F9E-B327-3D31A1DC7C6D}"/>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BEB81F8A-4C25-4560-9DBA-C50465573DDB}"/>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Data quality work (25.0 total): Defects found and handled with written justification.</a:t>
            </a:r>
          </a:p>
        </p:txBody>
      </p:sp>
      <p:sp>
        <p:nvSpPr>
          <p:cNvPr id="12" name="">
            <a:extLst xmlns:a="http://schemas.openxmlformats.org/drawingml/2006/main">
              <a:ext uri="{FF2B5EF4-FFF2-40B4-BE49-F238E27FC236}">
                <a16:creationId xmlns:a16="http://schemas.microsoft.com/office/drawing/2014/main" id="{902A03C5-4B7F-4BE7-9D35-31352BAD3C6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63</a:t>
            </a:r>
          </a:p>
        </p:txBody>
      </p:sp>
    </p:spTree>
    <p:extLst>
      <p:ext uri="{BB962C8B-B14F-4D97-AF65-F5344CB8AC3E}">
        <p14:creationId xmlns:p14="http://schemas.microsoft.com/office/powerpoint/2010/main" val="780316217"/>
      </p:ext>
    </p:extLst>
  </p:cSld>
</p:sld>
</file>

<file path=ppt/slides/slide6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CE0A04CD-B910-4981-862F-85505D503A1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778B74C-CD65-4591-B898-61D686BFD30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1D444591-A215-40B4-A304-5C8FC88EC70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Data analysis project continued</a:t>
            </a:r>
          </a:p>
        </p:txBody>
      </p:sp>
      <p:sp>
        <p:nvSpPr>
          <p:cNvPr id="4" name="">
            <a:extLst xmlns:a="http://schemas.openxmlformats.org/drawingml/2006/main">
              <a:ext uri="{FF2B5EF4-FFF2-40B4-BE49-F238E27FC236}">
                <a16:creationId xmlns:a16="http://schemas.microsoft.com/office/drawing/2014/main" id="{957241A3-A19B-4AC2-B82D-651E84CAAFFE}"/>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D51518C8-443B-4460-9D43-AC54733F0C65}"/>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data quality statement is present.</a:t>
            </a:r>
          </a:p>
        </p:txBody>
      </p:sp>
      <p:sp>
        <p:nvSpPr>
          <p:cNvPr id="6" name="">
            <a:extLst xmlns:a="http://schemas.openxmlformats.org/drawingml/2006/main">
              <a:ext uri="{FF2B5EF4-FFF2-40B4-BE49-F238E27FC236}">
                <a16:creationId xmlns:a16="http://schemas.microsoft.com/office/drawing/2014/main" id="{30D5CA46-14F3-47ED-945F-5675A5313160}"/>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17CC5DD5-BC82-4AF8-A324-A76DCAA85D09}"/>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Analysis &amp; visualisation (30.0 total): Four or more charts, each answering a stated question.</a:t>
            </a:r>
          </a:p>
        </p:txBody>
      </p:sp>
      <p:sp>
        <p:nvSpPr>
          <p:cNvPr id="8" name="">
            <a:extLst xmlns:a="http://schemas.openxmlformats.org/drawingml/2006/main">
              <a:ext uri="{FF2B5EF4-FFF2-40B4-BE49-F238E27FC236}">
                <a16:creationId xmlns:a16="http://schemas.microsoft.com/office/drawing/2014/main" id="{78839538-5E6F-498C-8672-BAAD2B451652}"/>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F24ECF87-CD84-4A5D-AF3F-F2BC40843B61}"/>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Correct chart types, labelled axes, findings in the captions.</a:t>
            </a:r>
          </a:p>
        </p:txBody>
      </p:sp>
      <p:sp>
        <p:nvSpPr>
          <p:cNvPr id="10" name="">
            <a:extLst xmlns:a="http://schemas.openxmlformats.org/drawingml/2006/main">
              <a:ext uri="{FF2B5EF4-FFF2-40B4-BE49-F238E27FC236}">
                <a16:creationId xmlns:a16="http://schemas.microsoft.com/office/drawing/2014/main" id="{CE793895-DAFA-4FB8-92E9-2872F5146776}"/>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6F48F2BB-AF94-460C-95AB-BB2AFA1AE871}"/>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Findings &amp; interpretation (20.0 total): Conclusions supported by the analysis, stated in engineering terms, with limitations acknowledged.</a:t>
            </a:r>
          </a:p>
        </p:txBody>
      </p:sp>
      <p:sp>
        <p:nvSpPr>
          <p:cNvPr id="12" name="">
            <a:extLst xmlns:a="http://schemas.openxmlformats.org/drawingml/2006/main">
              <a:ext uri="{FF2B5EF4-FFF2-40B4-BE49-F238E27FC236}">
                <a16:creationId xmlns:a16="http://schemas.microsoft.com/office/drawing/2014/main" id="{E8D22606-4F33-4109-BA44-D4F0D2FC9CE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64</a:t>
            </a:r>
          </a:p>
        </p:txBody>
      </p:sp>
    </p:spTree>
    <p:extLst>
      <p:ext uri="{BB962C8B-B14F-4D97-AF65-F5344CB8AC3E}">
        <p14:creationId xmlns:p14="http://schemas.microsoft.com/office/powerpoint/2010/main" val="392328110"/>
      </p:ext>
    </p:extLst>
  </p:cSld>
</p:sld>
</file>

<file path=ppt/slides/slide6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63A3BBA3-E2A9-4380-AFCB-D0A35FB6411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58FDC91-21C5-449A-8AA4-231C8345521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F08CE786-BCB8-4DE2-92D7-0886139DC75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Data analysis project continued</a:t>
            </a:r>
          </a:p>
        </p:txBody>
      </p:sp>
      <p:sp>
        <p:nvSpPr>
          <p:cNvPr id="4" name="">
            <a:extLst xmlns:a="http://schemas.openxmlformats.org/drawingml/2006/main">
              <a:ext uri="{FF2B5EF4-FFF2-40B4-BE49-F238E27FC236}">
                <a16:creationId xmlns:a16="http://schemas.microsoft.com/office/drawing/2014/main" id="{AE615457-F176-4887-9BF9-3D76AAD6C6F1}"/>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23362B0D-F4C9-4E72-AAB5-588FC1401630}"/>
              </a:ext>
            </a:extLst>
          </p:cNvPr>
          <p:cNvSpPr>
            <a:spLocks xmlns:a="http://schemas.openxmlformats.org/drawingml/2006/main" noGrp="1"/>
          </p:cNvSpPr>
          <p:nvPr/>
        </p:nvSpPr>
        <p:spPr>
          <a:xfrm xmlns:a="http://schemas.openxmlformats.org/drawingml/2006/main">
            <a:off x="1381125" y="1781175"/>
            <a:ext cx="10096500" cy="420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Individual contribution log (5.0 total): Present, specific, and consistent with the repository's commit history.</a:t>
            </a:r>
          </a:p>
        </p:txBody>
      </p:sp>
      <p:sp>
        <p:nvSpPr>
          <p:cNvPr id="6" name="">
            <a:extLst xmlns:a="http://schemas.openxmlformats.org/drawingml/2006/main">
              <a:ext uri="{FF2B5EF4-FFF2-40B4-BE49-F238E27FC236}">
                <a16:creationId xmlns:a16="http://schemas.microsoft.com/office/drawing/2014/main" id="{FE16769E-6654-464C-B9E6-EEAC220630A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65</a:t>
            </a:r>
          </a:p>
        </p:txBody>
      </p:sp>
    </p:spTree>
    <p:extLst>
      <p:ext uri="{BB962C8B-B14F-4D97-AF65-F5344CB8AC3E}">
        <p14:creationId xmlns:p14="http://schemas.microsoft.com/office/powerpoint/2010/main" val="924686621"/>
      </p:ext>
    </p:extLst>
  </p:cSld>
</p:sld>
</file>

<file path=ppt/slides/slide6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12378EE2-31B6-4A2E-8BCD-F9BC1AD1F1A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985DFFE-5A34-473C-A417-8918A6E2C14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ASSIGNMENT SUBMISSION</a:t>
            </a:r>
          </a:p>
        </p:txBody>
      </p:sp>
      <p:sp>
        <p:nvSpPr>
          <p:cNvPr id="3" name="">
            <a:extLst xmlns:a="http://schemas.openxmlformats.org/drawingml/2006/main">
              <a:ext uri="{FF2B5EF4-FFF2-40B4-BE49-F238E27FC236}">
                <a16:creationId xmlns:a16="http://schemas.microsoft.com/office/drawing/2014/main" id="{C69D12E9-ED8D-48A7-81D1-6B0F6836A20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Data analysis project submission</a:t>
            </a:r>
          </a:p>
        </p:txBody>
      </p:sp>
      <p:sp>
        <p:nvSpPr>
          <p:cNvPr id="4" name="">
            <a:extLst xmlns:a="http://schemas.openxmlformats.org/drawingml/2006/main">
              <a:ext uri="{FF2B5EF4-FFF2-40B4-BE49-F238E27FC236}">
                <a16:creationId xmlns:a16="http://schemas.microsoft.com/office/drawing/2014/main" id="{4000BA51-6964-42E0-84D1-0B13216BB89C}"/>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B82999BC-B2BC-4832-BBA1-707B80D80F2C}"/>
              </a:ext>
            </a:extLst>
          </p:cNvPr>
          <p:cNvSpPr>
            <a:spLocks xmlns:a="http://schemas.openxmlformats.org/drawingml/2006/main" noGrp="1"/>
          </p:cNvSpPr>
          <p:nvPr/>
        </p:nvSpPr>
        <p:spPr>
          <a:xfrm xmlns:a="http://schemas.openxmlformats.org/drawingml/2006/main">
            <a:off x="1381125" y="1724025"/>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Opens: 09 Oct 2026, 11:00 Kampala</a:t>
            </a:r>
          </a:p>
        </p:txBody>
      </p:sp>
      <p:sp>
        <p:nvSpPr>
          <p:cNvPr id="6" name="">
            <a:extLst xmlns:a="http://schemas.openxmlformats.org/drawingml/2006/main">
              <a:ext uri="{FF2B5EF4-FFF2-40B4-BE49-F238E27FC236}">
                <a16:creationId xmlns:a16="http://schemas.microsoft.com/office/drawing/2014/main" id="{FD53501E-497D-43A7-AB54-0D28B9828F1C}"/>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278FDC9F-5E29-405F-ABF0-0BB8B5C36788}"/>
              </a:ext>
            </a:extLst>
          </p:cNvPr>
          <p:cNvSpPr>
            <a:spLocks xmlns:a="http://schemas.openxmlformats.org/drawingml/2006/main" noGrp="1"/>
          </p:cNvSpPr>
          <p:nvPr/>
        </p:nvSpPr>
        <p:spPr>
          <a:xfrm xmlns:a="http://schemas.openxmlformats.org/drawingml/2006/main">
            <a:off x="1381125" y="2521744"/>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Deadline: 30 Oct 2026, 11:00 Kampala</a:t>
            </a:r>
          </a:p>
        </p:txBody>
      </p:sp>
      <p:sp>
        <p:nvSpPr>
          <p:cNvPr id="8" name="">
            <a:extLst xmlns:a="http://schemas.openxmlformats.org/drawingml/2006/main">
              <a:ext uri="{FF2B5EF4-FFF2-40B4-BE49-F238E27FC236}">
                <a16:creationId xmlns:a16="http://schemas.microsoft.com/office/drawing/2014/main" id="{2E4365D7-1F37-4A1D-AB4F-29FFEDC27B90}"/>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C266FE8C-F1BC-4B9D-8F0F-78B7A3CB44F0}"/>
              </a:ext>
            </a:extLst>
          </p:cNvPr>
          <p:cNvSpPr>
            <a:spLocks xmlns:a="http://schemas.openxmlformats.org/drawingml/2006/main" noGrp="1"/>
          </p:cNvSpPr>
          <p:nvPr/>
        </p:nvSpPr>
        <p:spPr>
          <a:xfrm xmlns:a="http://schemas.openxmlformats.org/drawingml/2006/main">
            <a:off x="1381125" y="3319463"/>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your full Student Registration Number in the form.</a:t>
            </a:r>
          </a:p>
        </p:txBody>
      </p:sp>
      <p:sp>
        <p:nvSpPr>
          <p:cNvPr id="10" name="">
            <a:extLst xmlns:a="http://schemas.openxmlformats.org/drawingml/2006/main">
              <a:ext uri="{FF2B5EF4-FFF2-40B4-BE49-F238E27FC236}">
                <a16:creationId xmlns:a16="http://schemas.microsoft.com/office/drawing/2014/main" id="{1AE44A0F-E777-4FD9-B345-11B5DA0DD388}"/>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7341029F-7B15-4FBE-99EF-AC4D3476B244}"/>
              </a:ext>
            </a:extLst>
          </p:cNvPr>
          <p:cNvSpPr>
            <a:spLocks xmlns:a="http://schemas.openxmlformats.org/drawingml/2006/main" noGrp="1"/>
          </p:cNvSpPr>
          <p:nvPr/>
        </p:nvSpPr>
        <p:spPr>
          <a:xfrm xmlns:a="http://schemas.openxmlformats.org/drawingml/2006/main">
            <a:off x="1381125" y="4117181"/>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the submitted files and confirmation.</a:t>
            </a:r>
          </a:p>
        </p:txBody>
      </p:sp>
      <p:sp>
        <p:nvSpPr>
          <p:cNvPr id="12" name="">
            <a:extLst xmlns:a="http://schemas.openxmlformats.org/drawingml/2006/main">
              <a:ext uri="{FF2B5EF4-FFF2-40B4-BE49-F238E27FC236}">
                <a16:creationId xmlns:a16="http://schemas.microsoft.com/office/drawing/2014/main" id="{5F0C066B-91E8-4FEA-B13A-4DC9C9A7EDD3}"/>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4B89B841-34A4-45A2-950E-4A3217658C85}"/>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bfa18bd3c74e4bac"/>
              </a:rPr>
              <a:t>Open DA_PROJECT assignment form</a:t>
            </a:r>
          </a:p>
        </p:txBody>
      </p:sp>
      <p:sp>
        <p:nvSpPr>
          <p:cNvPr id="14" name="">
            <a:extLst xmlns:a="http://schemas.openxmlformats.org/drawingml/2006/main">
              <a:ext uri="{FF2B5EF4-FFF2-40B4-BE49-F238E27FC236}">
                <a16:creationId xmlns:a16="http://schemas.microsoft.com/office/drawing/2014/main" id="{A6BCDBCA-E9B0-4826-823C-40534BA6504A}"/>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https://docs.google.com/forms/d/e/1FAIpQLSeFHqKnsIRNf8opU-Iksp55kGXQVFWPgL97r724FoRwvkz-6A/viewform</a:t>
            </a:r>
          </a:p>
        </p:txBody>
      </p:sp>
      <p:sp>
        <p:nvSpPr>
          <p:cNvPr id="15" name="">
            <a:extLst xmlns:a="http://schemas.openxmlformats.org/drawingml/2006/main">
              <a:ext uri="{FF2B5EF4-FFF2-40B4-BE49-F238E27FC236}">
                <a16:creationId xmlns:a16="http://schemas.microsoft.com/office/drawing/2014/main" id="{FB6EAEA2-E7F8-4C11-A46B-BE5A28FDA8E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66</a:t>
            </a:r>
          </a:p>
        </p:txBody>
      </p:sp>
    </p:spTree>
    <p:extLst>
      <p:ext uri="{BB962C8B-B14F-4D97-AF65-F5344CB8AC3E}">
        <p14:creationId xmlns:p14="http://schemas.microsoft.com/office/powerpoint/2010/main" val="1771601649"/>
      </p:ext>
    </p:extLst>
  </p:cSld>
</p:sld>
</file>

<file path=ppt/slides/slide67.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8" name="">
            <a:extLst>
              <a:ext uri="{FF2B5EF4-FFF2-40B4-BE49-F238E27FC236}">
                <ns2:creationId id="{A70F9830-96CD-4A9A-9D09-A8D584A22ED1}"/>
              </a:ext>
            </a:extLst>
          </p:cNvPr>
          <p:cNvSpPr>
            <a:spLocks noGrp="1"/>
          </p:cNvSpPr>
          <p:nvPr/>
        </p:nvSpPr>
        <p:spPr>
          <a:xfrm>
            <a:off x="0" y="0"/>
            <a:ext cx="12191695" cy="1390650"/>
          </a:xfrm>
          <a:prstGeom prst="rect">
            <a:avLst/>
          </a:prstGeom>
          <a:solidFill>
            <a:srgbClr val="1C3144"/>
          </a:solidFill>
          <a:ln w="0">
            <a:noFill/>
          </a:ln>
        </p:spPr>
      </p:sp>
      <p:sp>
        <p:nvSpPr>
          <p:cNvPr id="2" name="">
            <a:extLst>
              <a:ext uri="{FF2B5EF4-FFF2-40B4-BE49-F238E27FC236}">
                <ns2:creationId id="{3521304B-0F6A-42AA-92D1-F000E8FB3266}"/>
              </a:ext>
            </a:extLst>
          </p:cNvPr>
          <p:cNvSpPr>
            <a:spLocks noGrp="1"/>
          </p:cNvSpPr>
          <p:nvPr/>
        </p:nvSpPr>
        <p:spPr>
          <a:xfrm>
            <a:off x="590550" y="180975"/>
            <a:ext cx="11049000" cy="285750"/>
          </a:xfrm>
          <a:prstGeom prst="rect">
            <a:avLst/>
          </a:prstGeom>
          <a:noFill/>
          <a:ln w="0">
            <a:noFill/>
          </a:ln>
        </p:spPr>
        <p:txBody>
          <a:bodyPr>
            <a:noAutofit/>
          </a:bodyPr>
          <a:lstStyle/>
          <a:p>
            <a:pPr>
              <a:defRPr sz="1500" b="1">
                <a:solidFill>
                  <a:srgbClr val="E4572E"/>
                </a:solidFill>
                <a:latin typeface="Calibri"/>
                <a:ea typeface="Calibri"/>
                <a:cs typeface="Calibri"/>
              </a:defRPr>
            </a:pPr>
            <a:r>
              <a:rPr sz="1500" b="1">
                <a:solidFill>
                  <a:srgbClr val="E4572E"/>
                </a:solidFill>
                <a:latin typeface="Calibri"/>
                <a:ea typeface="Calibri"/>
                <a:cs typeface="Calibri"/>
              </a:rPr>
              <a:t>QUIZ ACCESS</a:t>
            </a:r>
          </a:p>
        </p:txBody>
      </p:sp>
      <p:sp>
        <p:nvSpPr>
          <p:cNvPr id="3" name="">
            <a:extLst>
              <a:ext uri="{FF2B5EF4-FFF2-40B4-BE49-F238E27FC236}">
                <ns2:creationId id="{C4986064-F6B7-49DB-884A-6D23BF3C071B}"/>
              </a:ext>
            </a:extLst>
          </p:cNvPr>
          <p:cNvSpPr>
            <a:spLocks noGrp="1"/>
          </p:cNvSpPr>
          <p:nvPr/>
        </p:nvSpPr>
        <p:spPr>
          <a:xfrm>
            <a:off x="590550" y="523875"/>
            <a:ext cx="11049000" cy="809625"/>
          </a:xfrm>
          <a:prstGeom prst="rect">
            <a:avLst/>
          </a:prstGeom>
          <a:noFill/>
          <a:ln w="0">
            <a:noFill/>
          </a:ln>
        </p:spPr>
        <p:txBody>
          <a:bodyPr>
            <a:noAutofit/>
          </a:bodyPr>
          <a:lstStyle/>
          <a:p>
            <a:pPr>
              <a:defRPr sz="3150" b="1">
                <a:solidFill>
                  <a:srgbClr val="FFFFFF"/>
                </a:solidFill>
                <a:latin typeface="Calibri"/>
                <a:ea typeface="Calibri"/>
                <a:cs typeface="Calibri"/>
              </a:defRPr>
            </a:pPr>
            <a:r>
              <a:rPr sz="3150" b="1">
                <a:solidFill>
                  <a:srgbClr val="FFFFFF"/>
                </a:solidFill>
                <a:latin typeface="Calibri"/>
                <a:ea typeface="Calibri"/>
                <a:cs typeface="Calibri"/>
              </a:rPr>
              <a:t>Week 8 quiz</a:t>
            </a:r>
          </a:p>
        </p:txBody>
      </p:sp>
      <p:sp>
        <p:nvSpPr>
          <p:cNvPr id="4" name="">
            <a:extLst>
              <a:ext uri="{FF2B5EF4-FFF2-40B4-BE49-F238E27FC236}">
                <ns2:creationId id="{3438113D-B413-4271-B3A1-86A745665222}"/>
              </a:ext>
            </a:extLst>
          </p:cNvPr>
          <p:cNvSpPr>
            <a:spLocks noGrp="1"/>
          </p:cNvSpPr>
          <p:nvPr/>
        </p:nvSpPr>
        <p:spPr>
          <a:xfrm>
            <a:off x="590550" y="1724025"/>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a:ext uri="{FF2B5EF4-FFF2-40B4-BE49-F238E27FC236}">
                <ns2:creationId id="{86C10C13-9D9D-47AE-8D7F-791AD356E43C}"/>
              </a:ext>
            </a:extLst>
          </p:cNvPr>
          <p:cNvSpPr>
            <a:spLocks noGrp="1"/>
          </p:cNvSpPr>
          <p:nvPr/>
        </p:nvSpPr>
        <p:spPr>
          <a:xfrm>
            <a:off x="1381125" y="1724025"/>
            <a:ext cx="7143750" cy="721519"/>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Answer individually after the lecturer activates the quiz.</a:t>
            </a:r>
          </a:p>
        </p:txBody>
      </p:sp>
      <p:sp>
        <p:nvSpPr>
          <p:cNvPr id="6" name="">
            <a:extLst>
              <a:ext uri="{FF2B5EF4-FFF2-40B4-BE49-F238E27FC236}">
                <ns2:creationId id="{72B28DB9-0DF4-4754-A606-812ACA15C4CD}"/>
              </a:ext>
            </a:extLst>
          </p:cNvPr>
          <p:cNvSpPr>
            <a:spLocks noGrp="1"/>
          </p:cNvSpPr>
          <p:nvPr/>
        </p:nvSpPr>
        <p:spPr>
          <a:xfrm>
            <a:off x="590550" y="2521744"/>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a:ext uri="{FF2B5EF4-FFF2-40B4-BE49-F238E27FC236}">
                <ns2:creationId id="{CE7DEF02-0833-4FC3-9C8B-8A78591B6285}"/>
              </a:ext>
            </a:extLst>
          </p:cNvPr>
          <p:cNvSpPr>
            <a:spLocks noGrp="1"/>
          </p:cNvSpPr>
          <p:nvPr/>
        </p:nvSpPr>
        <p:spPr>
          <a:xfrm>
            <a:off x="1381125" y="2521744"/>
            <a:ext cx="7143750" cy="721519"/>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Available for 24 hours from activation.</a:t>
            </a:r>
          </a:p>
        </p:txBody>
      </p:sp>
      <p:sp>
        <p:nvSpPr>
          <p:cNvPr id="8" name="">
            <a:extLst>
              <a:ext uri="{FF2B5EF4-FFF2-40B4-BE49-F238E27FC236}">
                <ns2:creationId id="{3F82ACD5-DC39-4020-91E4-401E3FDBC56E}"/>
              </a:ext>
            </a:extLst>
          </p:cNvPr>
          <p:cNvSpPr>
            <a:spLocks noGrp="1"/>
          </p:cNvSpPr>
          <p:nvPr/>
        </p:nvSpPr>
        <p:spPr>
          <a:xfrm>
            <a:off x="590550" y="3319463"/>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a:ext uri="{FF2B5EF4-FFF2-40B4-BE49-F238E27FC236}">
                <ns2:creationId id="{A9F320EC-32F8-4092-8A5C-1A04275A754C}"/>
              </a:ext>
            </a:extLst>
          </p:cNvPr>
          <p:cNvSpPr>
            <a:spLocks noGrp="1"/>
          </p:cNvSpPr>
          <p:nvPr/>
        </p:nvSpPr>
        <p:spPr>
          <a:xfrm>
            <a:off x="1381125" y="3319463"/>
            <a:ext cx="7143750" cy="721519"/>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Use your Student Registration Number and registered account.</a:t>
            </a:r>
          </a:p>
        </p:txBody>
      </p:sp>
      <p:sp>
        <p:nvSpPr>
          <p:cNvPr id="10" name="">
            <a:extLst>
              <a:ext uri="{FF2B5EF4-FFF2-40B4-BE49-F238E27FC236}">
                <ns2:creationId id="{5163EB9A-5DA0-415D-AA31-1DD17FBC6C4D}"/>
              </a:ext>
            </a:extLst>
          </p:cNvPr>
          <p:cNvSpPr>
            <a:spLocks noGrp="1"/>
          </p:cNvSpPr>
          <p:nvPr/>
        </p:nvSpPr>
        <p:spPr>
          <a:xfrm>
            <a:off x="590550" y="4117181"/>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a:ext uri="{FF2B5EF4-FFF2-40B4-BE49-F238E27FC236}">
                <ns2:creationId id="{496C37DD-513B-4685-884C-25DF4702A40D}"/>
              </a:ext>
            </a:extLst>
          </p:cNvPr>
          <p:cNvSpPr>
            <a:spLocks noGrp="1"/>
          </p:cNvSpPr>
          <p:nvPr/>
        </p:nvSpPr>
        <p:spPr>
          <a:xfrm>
            <a:off x="1381125" y="4117181"/>
            <a:ext cx="7143750" cy="721519"/>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Check the announced quiz closing time.</a:t>
            </a:r>
          </a:p>
        </p:txBody>
      </p:sp>
      <p:pic>
        <p:nvPicPr>
          <p:cNvPr id="29" name=""/>
          <p:cNvPicPr>
            <a:picLocks noChangeAspect="1"/>
          </p:cNvPicPr>
          <p:nvPr/>
        </p:nvPicPr>
        <p:blipFill>
          <a:blip r:embed="R4db61498323f48fc"/>
          <a:stretch/>
        </p:blipFill>
        <p:spPr>
          <a:xfrm>
            <a:off x="9134475" y="2095500"/>
            <a:ext cx="2190750" cy="2190750"/>
          </a:xfrm>
          <a:prstGeom prst="rect">
            <a:avLst/>
          </a:prstGeom>
        </p:spPr>
      </p:pic>
      <p:sp>
        <p:nvSpPr>
          <p:cNvPr id="13" name="">
            <a:extLst>
              <a:ext uri="{FF2B5EF4-FFF2-40B4-BE49-F238E27FC236}">
                <ns2:creationId id="{0E5181DD-5A90-4A81-A5CE-4D18399AAD66}"/>
              </a:ext>
            </a:extLst>
          </p:cNvPr>
          <p:cNvSpPr>
            <a:spLocks noGrp="1"/>
          </p:cNvSpPr>
          <p:nvPr/>
        </p:nvSpPr>
        <p:spPr>
          <a:xfrm>
            <a:off x="9239250" y="4400550"/>
            <a:ext cx="2190750" cy="381000"/>
          </a:xfrm>
          <a:prstGeom prst="rect">
            <a:avLst/>
          </a:prstGeom>
          <a:noFill/>
          <a:ln w="0">
            <a:noFill/>
          </a:ln>
        </p:spPr>
        <p:txBody>
          <a:bodyPr>
            <a:noAutofit/>
          </a:bodyPr>
          <a:lstStyle/>
          <a:p>
            <a:pPr>
              <a:defRPr sz="2100" b="1">
                <a:solidFill>
                  <a:srgbClr val="E4572E"/>
                </a:solidFill>
                <a:latin typeface="Calibri"/>
                <a:ea typeface="Calibri"/>
                <a:cs typeface="Calibri"/>
              </a:defRPr>
            </a:pPr>
            <a:r>
              <a:rPr sz="2100" b="1">
                <a:solidFill>
                  <a:srgbClr val="E4572E"/>
                </a:solidFill>
                <a:latin typeface="Calibri"/>
                <a:ea typeface="Calibri"/>
                <a:cs typeface="Calibri"/>
              </a:rPr>
              <a:t>24 HOURS</a:t>
            </a:r>
          </a:p>
        </p:txBody>
      </p:sp>
      <p:sp>
        <p:nvSpPr>
          <p:cNvPr id="14" name="">
            <a:extLst>
              <a:ext uri="{FF2B5EF4-FFF2-40B4-BE49-F238E27FC236}">
                <ns2:creationId id="{05190266-C74E-4D1A-8C6A-AC0264652756}"/>
              </a:ext>
            </a:extLst>
          </p:cNvPr>
          <p:cNvSpPr>
            <a:spLocks noGrp="1"/>
          </p:cNvSpPr>
          <p:nvPr/>
        </p:nvSpPr>
        <p:spPr>
          <a:xfrm>
            <a:off x="590550" y="5143500"/>
            <a:ext cx="11010900" cy="657225"/>
          </a:xfrm>
          <a:prstGeom prst="rect">
            <a:avLst/>
          </a:prstGeom>
          <a:solidFill>
            <a:srgbClr val="E5F1EE"/>
          </a:solidFill>
          <a:ln w="0">
            <a:noFill/>
          </a:ln>
        </p:spPr>
      </p:sp>
      <p:sp>
        <p:nvSpPr>
          <p:cNvPr id="15" name="">
            <a:extLst>
              <a:ext uri="{FF2B5EF4-FFF2-40B4-BE49-F238E27FC236}">
                <ns2:creationId id="{2F2CD846-EE9C-4B6E-8613-64505D7B3D23}"/>
              </a:ext>
            </a:extLst>
          </p:cNvPr>
          <p:cNvSpPr>
            <a:spLocks noGrp="1"/>
          </p:cNvSpPr>
          <p:nvPr/>
        </p:nvSpPr>
        <p:spPr>
          <a:xfrm>
            <a:off x="800100" y="5267325"/>
            <a:ext cx="10572750" cy="457200"/>
          </a:xfrm>
          <a:prstGeom prst="rect">
            <a:avLst/>
          </a:prstGeom>
          <a:noFill/>
          <a:ln w="0">
            <a:noFill/>
          </a:ln>
        </p:spPr>
        <p:txBody>
          <a:bodyPr>
            <a:noAutofit/>
          </a:bodyPr>
          <a:lstStyle/>
          <a:p>
            <a:pPr>
              <a:defRPr sz="2250" b="1">
                <a:solidFill>
                  <a:srgbClr val="2E7D6F"/>
                </a:solidFill>
                <a:latin typeface="Calibri"/>
                <a:ea typeface="Calibri"/>
                <a:cs typeface="Calibri"/>
              </a:defRPr>
            </a:pPr>
            <a:r>
              <a:rPr sz="2250" b="1">
                <a:solidFill>
                  <a:srgbClr val="2E7D6F"/>
                </a:solidFill>
                <a:latin typeface="Calibri"/>
                <a:ea typeface="Calibri"/>
                <a:cs typeface="Calibri"/>
                <a:hlinkClick r:id="Rc0faf924c26d4652"/>
              </a:rPr>
              <a:t>Open this week’s quiz</a:t>
            </a:r>
          </a:p>
        </p:txBody>
      </p:sp>
      <p:sp>
        <p:nvSpPr>
          <p:cNvPr id="16" name="">
            <a:extLst>
              <a:ext uri="{FF2B5EF4-FFF2-40B4-BE49-F238E27FC236}">
                <ns2:creationId id="{4509B44F-215B-47E7-929A-6B3D4FAE9BCA}"/>
              </a:ext>
            </a:extLst>
          </p:cNvPr>
          <p:cNvSpPr>
            <a:spLocks noGrp="1"/>
          </p:cNvSpPr>
          <p:nvPr/>
        </p:nvSpPr>
        <p:spPr>
          <a:xfrm>
            <a:off x="685800" y="5972175"/>
            <a:ext cx="10668000" cy="304800"/>
          </a:xfrm>
          <a:prstGeom prst="rect">
            <a:avLst/>
          </a:prstGeom>
          <a:noFill/>
          <a:ln w="0">
            <a:noFill/>
          </a:ln>
        </p:spPr>
        <p:txBody>
          <a:bodyPr>
            <a:noAutofit/>
          </a:bodyPr>
          <a:lstStyle/>
          <a:p>
            <a:pPr>
              <a:defRPr sz="1275" b="0">
                <a:solidFill>
                  <a:srgbClr val="6B7A8A"/>
                </a:solidFill>
                <a:latin typeface="Calibri"/>
                <a:ea typeface="Calibri"/>
                <a:cs typeface="Calibri"/>
              </a:defRPr>
            </a:pPr>
            <a:r>
              <a:rPr sz="1275" b="0">
                <a:solidFill>
                  <a:srgbClr val="6B7A8A"/>
                </a:solidFill>
                <a:latin typeface="Calibri"/>
                <a:ea typeface="Calibri"/>
                <a:cs typeface="Calibri"/>
              </a:rPr>
              <a:t>https://forms.gle/KsZJ7QANUE99kkX36</a:t>
            </a:r>
          </a:p>
        </p:txBody>
      </p:sp>
      <p:sp>
        <p:nvSpPr>
          <p:cNvPr id="17" name="">
            <a:extLst>
              <a:ext uri="{FF2B5EF4-FFF2-40B4-BE49-F238E27FC236}">
                <ns2:creationId id="{00DB6881-D313-44AE-8648-007657AC68BB}"/>
              </a:ext>
            </a:extLst>
          </p:cNvPr>
          <p:cNvSpPr>
            <a:spLocks noGrp="1"/>
          </p:cNvSpPr>
          <p:nvPr/>
        </p:nvSpPr>
        <p:spPr>
          <a:xfrm>
            <a:off x="590550" y="6524625"/>
            <a:ext cx="10810875" cy="219075"/>
          </a:xfrm>
          <a:prstGeom prst="rect">
            <a:avLst/>
          </a:prstGeom>
          <a:noFill/>
          <a:ln w="0">
            <a:noFill/>
          </a:ln>
        </p:spPr>
        <p:txBody>
          <a:bodyPr>
            <a:noAutofit/>
          </a:bodyPr>
          <a:lstStyle/>
          <a:p>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67</a:t>
            </a:r>
          </a:p>
        </p:txBody>
      </p:sp>
    </p:spTree>
    <p:extLst>
      <p:ext uri="{BB962C8B-B14F-4D97-AF65-F5344CB8AC3E}">
        <ns4:creationId val="1657147121"/>
      </p:ext>
    </p:extLst>
  </p:cSld>
</p:sld>
</file>

<file path=ppt/slides/slide68.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1C3144"/>
        </a:solidFill>
      </p:bgPr>
    </p:bg>
    <p:spTree>
      <p:nvGrpSpPr>
        <p:cNvPr id="1" name=""/>
        <p:cNvGrpSpPr/>
        <p:nvPr/>
      </p:nvGrpSpPr>
      <p:grpSpPr>
        <a:xfrm/>
      </p:grpSpPr>
      <p:sp>
        <p:nvSpPr>
          <p:cNvPr id="7" name="">
            <a:extLst>
              <a:ext uri="{FF2B5EF4-FFF2-40B4-BE49-F238E27FC236}">
                <ns2:creationId id="{24C6FE7C-E58E-4BD7-A2D9-1895D61C600D}"/>
              </a:ext>
            </a:extLst>
          </p:cNvPr>
          <p:cNvSpPr>
            <a:spLocks noGrp="1"/>
          </p:cNvSpPr>
          <p:nvPr/>
        </p:nvSpPr>
        <p:spPr>
          <a:xfrm>
            <a:off x="590550" y="180975"/>
            <a:ext cx="11049000" cy="285750"/>
          </a:xfrm>
          <a:prstGeom prst="rect">
            <a:avLst/>
          </a:prstGeom>
          <a:noFill/>
          <a:ln w="0">
            <a:noFill/>
          </a:ln>
        </p:spPr>
        <p:txBody>
          <a:bodyPr>
            <a:noAutofit/>
          </a:bodyPr>
          <a:lstStyle/>
          <a:p>
            <a:pPr>
              <a:defRPr sz="1500" b="1">
                <a:solidFill>
                  <a:srgbClr val="E4572E"/>
                </a:solidFill>
                <a:latin typeface="Calibri"/>
                <a:ea typeface="Calibri"/>
                <a:cs typeface="Calibri"/>
              </a:defRPr>
            </a:pPr>
            <a:r>
              <a:rPr sz="1500" b="1">
                <a:solidFill>
                  <a:srgbClr val="E4572E"/>
                </a:solidFill>
                <a:latin typeface="Calibri"/>
                <a:ea typeface="Calibri"/>
                <a:cs typeface="Calibri"/>
              </a:rPr>
              <a:t>INDIVIDUAL EXIT CHECK</a:t>
            </a:r>
          </a:p>
        </p:txBody>
      </p:sp>
      <p:sp>
        <p:nvSpPr>
          <p:cNvPr id="2" name="">
            <a:extLst>
              <a:ext uri="{FF2B5EF4-FFF2-40B4-BE49-F238E27FC236}">
                <ns2:creationId id="{AC21C3C6-4E33-4706-92D5-95081DB5B65B}"/>
              </a:ext>
            </a:extLst>
          </p:cNvPr>
          <p:cNvSpPr>
            <a:spLocks noGrp="1"/>
          </p:cNvSpPr>
          <p:nvPr/>
        </p:nvSpPr>
        <p:spPr>
          <a:xfrm>
            <a:off x="590550" y="523875"/>
            <a:ext cx="11049000" cy="809625"/>
          </a:xfrm>
          <a:prstGeom prst="rect">
            <a:avLst/>
          </a:prstGeom>
          <a:noFill/>
          <a:ln w="0">
            <a:noFill/>
          </a:ln>
        </p:spPr>
        <p:txBody>
          <a:bodyPr>
            <a:noAutofit/>
          </a:bodyPr>
          <a:lstStyle/>
          <a:p>
            <a:pPr>
              <a:defRPr sz="3150" b="1">
                <a:solidFill>
                  <a:srgbClr val="FFFFFF"/>
                </a:solidFill>
                <a:latin typeface="Calibri"/>
                <a:ea typeface="Calibri"/>
                <a:cs typeface="Calibri"/>
              </a:defRPr>
            </a:pPr>
            <a:r>
              <a:rPr sz="3150" b="1">
                <a:solidFill>
                  <a:srgbClr val="FFFFFF"/>
                </a:solidFill>
                <a:latin typeface="Calibri"/>
                <a:ea typeface="Calibri"/>
                <a:cs typeface="Calibri"/>
              </a:rPr>
              <a:t>Revision and submission checklist</a:t>
            </a:r>
          </a:p>
        </p:txBody>
      </p:sp>
      <p:sp>
        <p:nvSpPr>
          <p:cNvPr id="3" name="">
            <a:extLst>
              <a:ext uri="{FF2B5EF4-FFF2-40B4-BE49-F238E27FC236}">
                <ns2:creationId id="{3B2877ED-8DCE-4D3F-8F87-9EFD1EAAADBC}"/>
              </a:ext>
            </a:extLst>
          </p:cNvPr>
          <p:cNvSpPr>
            <a:spLocks noGrp="1"/>
          </p:cNvSpPr>
          <p:nvPr/>
        </p:nvSpPr>
        <p:spPr>
          <a:xfrm>
            <a:off x="619125" y="1619250"/>
            <a:ext cx="2857500" cy="495300"/>
          </a:xfrm>
          <a:prstGeom prst="rect">
            <a:avLst/>
          </a:prstGeom>
          <a:noFill/>
          <a:ln w="0">
            <a:noFill/>
          </a:ln>
        </p:spPr>
        <p:txBody>
          <a:bodyPr>
            <a:noAutofit/>
          </a:bodyPr>
          <a:lstStyle/>
          <a:p>
            <a:pPr>
              <a:defRPr sz="1950" b="1">
                <a:solidFill>
                  <a:srgbClr val="E4572E"/>
                </a:solidFill>
                <a:latin typeface="Calibri"/>
                <a:ea typeface="Calibri"/>
                <a:cs typeface="Calibri"/>
              </a:defRPr>
            </a:pPr>
            <a:r>
              <a:rPr sz="1950" b="1">
                <a:solidFill>
                  <a:srgbClr val="E4572E"/>
                </a:solidFill>
                <a:latin typeface="Calibri"/>
                <a:ea typeface="Calibri"/>
                <a:cs typeface="Calibri"/>
              </a:rPr>
              <a:t>EXPLAIN IT</a:t>
            </a:r>
          </a:p>
        </p:txBody>
      </p:sp>
      <p:sp>
        <p:nvSpPr>
          <p:cNvPr id="4" name="">
            <a:extLst>
              <a:ext uri="{FF2B5EF4-FFF2-40B4-BE49-F238E27FC236}">
                <ns2:creationId id="{1D293A9F-9B78-4D96-BEF2-3FABD2C57201}"/>
              </a:ext>
            </a:extLst>
          </p:cNvPr>
          <p:cNvSpPr>
            <a:spLocks noGrp="1"/>
          </p:cNvSpPr>
          <p:nvPr/>
        </p:nvSpPr>
        <p:spPr>
          <a:xfrm>
            <a:off x="619125" y="2295525"/>
            <a:ext cx="10810875" cy="3095625"/>
          </a:xfrm>
          <a:prstGeom prst="rect">
            <a:avLst/>
          </a:prstGeom>
          <a:noFill/>
          <a:ln w="0">
            <a:noFill/>
          </a:ln>
        </p:spPr>
        <p:txBody>
          <a:bodyPr>
            <a:noAutofit/>
          </a:bodyPr>
          <a:lstStyle/>
          <a:p>
            <a:pPr>
              <a:defRPr sz="2850" b="0">
                <a:solidFill>
                  <a:srgbClr val="FFFFFF"/>
                </a:solidFill>
                <a:latin typeface="Calibri"/>
                <a:ea typeface="Calibri"/>
                <a:cs typeface="Calibri"/>
              </a:defRPr>
            </a:pPr>
            <a:r>
              <a:rPr sz="2850" b="0">
                <a:solidFill>
                  <a:srgbClr val="FFFFFF"/>
                </a:solidFill>
                <a:latin typeface="Calibri"/>
                <a:ea typeface="Calibri"/>
                <a:cs typeface="Calibri"/>
              </a:rPr>
              <a:t>You can calculate one error and explain why evaluation needs unseen observations.</a:t>
            </a:r>
          </a:p>
          <a:p>
            <a:r>
              <a:t/>
            </a:r>
          </a:p>
          <a:p>
            <a:pPr>
              <a:defRPr sz="2850" b="0">
                <a:solidFill>
                  <a:srgbClr val="FFFFFF"/>
                </a:solidFill>
                <a:latin typeface="Calibri"/>
                <a:ea typeface="Calibri"/>
                <a:cs typeface="Calibri"/>
              </a:defRPr>
            </a:pPr>
            <a:r>
              <a:rPr sz="2850" b="0">
                <a:solidFill>
                  <a:srgbClr val="FFFFFF"/>
                </a:solidFill>
                <a:latin typeface="Calibri"/>
                <a:ea typeface="Calibri"/>
                <a:cs typeface="Calibri"/>
              </a:rPr>
              <a:t>Save your work and check the required submission files.</a:t>
            </a:r>
          </a:p>
        </p:txBody>
      </p:sp>
      <p:sp>
        <p:nvSpPr>
          <p:cNvPr id="5" name="">
            <a:extLst>
              <a:ext uri="{FF2B5EF4-FFF2-40B4-BE49-F238E27FC236}">
                <ns2:creationId id="{76A787DC-58E0-4EEA-85B4-EEB96EC9078C}"/>
              </a:ext>
            </a:extLst>
          </p:cNvPr>
          <p:cNvSpPr>
            <a:spLocks noGrp="1"/>
          </p:cNvSpPr>
          <p:nvPr/>
        </p:nvSpPr>
        <p:spPr>
          <a:xfrm>
            <a:off x="619125" y="5791200"/>
            <a:ext cx="10810875" cy="542925"/>
          </a:xfrm>
          <a:prstGeom prst="rect">
            <a:avLst/>
          </a:prstGeom>
          <a:noFill/>
          <a:ln w="0">
            <a:noFill/>
          </a:ln>
        </p:spPr>
        <p:txBody>
          <a:bodyPr>
            <a:noAutofit/>
          </a:bodyPr>
          <a:lstStyle/>
          <a:p>
            <a:pPr>
              <a:defRPr sz="1800" b="0">
                <a:solidFill>
                  <a:srgbClr val="BBCDD9"/>
                </a:solidFill>
                <a:latin typeface="Calibri"/>
                <a:ea typeface="Calibri"/>
                <a:cs typeface="Calibri"/>
              </a:defRPr>
            </a:pPr>
            <a:r>
              <a:rPr sz="1800" b="0">
                <a:solidFill>
                  <a:srgbClr val="BBCDD9"/>
                </a:solidFill>
                <a:latin typeface="Calibri"/>
                <a:ea typeface="Calibri"/>
                <a:cs typeface="Calibri"/>
              </a:rPr>
              <a:t>Check your answers against the example, then save your work.</a:t>
            </a:r>
          </a:p>
        </p:txBody>
      </p:sp>
      <p:sp>
        <p:nvSpPr>
          <p:cNvPr id="6" name="">
            <a:extLst>
              <a:ext uri="{FF2B5EF4-FFF2-40B4-BE49-F238E27FC236}">
                <ns2:creationId id="{D7B5CE8D-F68E-44CC-8F87-D9D2E0FDECB3}"/>
              </a:ext>
            </a:extLst>
          </p:cNvPr>
          <p:cNvSpPr>
            <a:spLocks noGrp="1"/>
          </p:cNvSpPr>
          <p:nvPr/>
        </p:nvSpPr>
        <p:spPr>
          <a:xfrm>
            <a:off x="590550" y="6524625"/>
            <a:ext cx="10810875" cy="219075"/>
          </a:xfrm>
          <a:prstGeom prst="rect">
            <a:avLst/>
          </a:prstGeom>
          <a:noFill/>
          <a:ln w="0">
            <a:noFill/>
          </a:ln>
        </p:spPr>
        <p:txBody>
          <a:bodyPr>
            <a:noAutofit/>
          </a:bodyPr>
          <a:lstStyle/>
          <a:p>
            <a:pPr>
              <a:defRPr sz="1200" b="0">
                <a:solidFill>
                  <a:srgbClr val="BBCDD9"/>
                </a:solidFill>
                <a:latin typeface="Calibri"/>
                <a:ea typeface="Calibri"/>
                <a:cs typeface="Calibri"/>
              </a:defRPr>
            </a:pPr>
            <a:r>
              <a:rPr sz="1200" b="0">
                <a:solidFill>
                  <a:srgbClr val="BBCDD9"/>
                </a:solidFill>
                <a:latin typeface="Calibri"/>
                <a:ea typeface="Calibri"/>
                <a:cs typeface="Calibri"/>
              </a:rPr>
              <a:t>CML3111   Week 8   68</a:t>
            </a:r>
          </a:p>
        </p:txBody>
      </p:sp>
    </p:spTree>
    <p:extLst>
      <p:ext uri="{BB962C8B-B14F-4D97-AF65-F5344CB8AC3E}">
        <ns3:creationId val="958002788"/>
      </p:ext>
    </p:extLst>
  </p:cSld>
</p:sld>
</file>

<file path=ppt/slides/slide6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0A1455E9-3044-499A-8FE5-95B73322776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C0143AD-1437-4F71-A2FB-FE56A413A13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WATCH, THEN EXPLAIN</a:t>
            </a:r>
          </a:p>
        </p:txBody>
      </p:sp>
      <p:sp>
        <p:nvSpPr>
          <p:cNvPr id="3" name="">
            <a:extLst xmlns:a="http://schemas.openxmlformats.org/drawingml/2006/main">
              <a:ext uri="{FF2B5EF4-FFF2-40B4-BE49-F238E27FC236}">
                <a16:creationId xmlns:a16="http://schemas.microsoft.com/office/drawing/2014/main" id="{7141460D-D0E2-4E6B-92FF-4F1CEF9C96D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Optional revision video</a:t>
            </a:r>
          </a:p>
        </p:txBody>
      </p:sp>
      <p:sp>
        <p:nvSpPr>
          <p:cNvPr id="4" name="">
            <a:extLst xmlns:a="http://schemas.openxmlformats.org/drawingml/2006/main">
              <a:ext uri="{FF2B5EF4-FFF2-40B4-BE49-F238E27FC236}">
                <a16:creationId xmlns:a16="http://schemas.microsoft.com/office/drawing/2014/main" id="{59915ECF-EA9D-409B-B787-07AEC7EFB8E2}"/>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AE5CA888-83EA-4075-80EF-FC7F9B5776C7}"/>
              </a:ext>
            </a:extLst>
          </p:cNvPr>
          <p:cNvSpPr>
            <a:spLocks xmlns:a="http://schemas.openxmlformats.org/drawingml/2006/main" noGrp="1"/>
          </p:cNvSpPr>
          <p:nvPr/>
        </p:nvSpPr>
        <p:spPr>
          <a:xfrm xmlns:a="http://schemas.openxmlformats.org/drawingml/2006/main">
            <a:off x="1381125" y="1724025"/>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For revision after class.</a:t>
            </a:r>
          </a:p>
        </p:txBody>
      </p:sp>
      <p:sp>
        <p:nvSpPr>
          <p:cNvPr id="6" name="">
            <a:extLst xmlns:a="http://schemas.openxmlformats.org/drawingml/2006/main">
              <a:ext uri="{FF2B5EF4-FFF2-40B4-BE49-F238E27FC236}">
                <a16:creationId xmlns:a16="http://schemas.microsoft.com/office/drawing/2014/main" id="{A7F02DD6-D9DB-49E4-8117-ED57335ED76E}"/>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7FDDE134-A1C4-4258-B798-2DB57EAC214E}"/>
              </a:ext>
            </a:extLst>
          </p:cNvPr>
          <p:cNvSpPr>
            <a:spLocks xmlns:a="http://schemas.openxmlformats.org/drawingml/2006/main" noGrp="1"/>
          </p:cNvSpPr>
          <p:nvPr/>
        </p:nvSpPr>
        <p:spPr>
          <a:xfrm xmlns:a="http://schemas.openxmlformats.org/drawingml/2006/main">
            <a:off x="1381125" y="2521744"/>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StatQuest with Josh Starmer</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Essence of Linear Regression!!!</a:t>
            </a:r>
          </a:p>
        </p:txBody>
      </p:sp>
      <p:sp>
        <p:nvSpPr>
          <p:cNvPr id="8" name="">
            <a:extLst xmlns:a="http://schemas.openxmlformats.org/drawingml/2006/main">
              <a:ext uri="{FF2B5EF4-FFF2-40B4-BE49-F238E27FC236}">
                <a16:creationId xmlns:a16="http://schemas.microsoft.com/office/drawing/2014/main" id="{99458556-C36B-4436-BCF2-EE1D5371C634}"/>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AD501967-98EC-4C08-9FC6-0F6166CEBA14}"/>
              </a:ext>
            </a:extLst>
          </p:cNvPr>
          <p:cNvSpPr>
            <a:spLocks xmlns:a="http://schemas.openxmlformats.org/drawingml/2006/main" noGrp="1"/>
          </p:cNvSpPr>
          <p:nvPr/>
        </p:nvSpPr>
        <p:spPr>
          <a:xfrm xmlns:a="http://schemas.openxmlformats.org/drawingml/2006/main">
            <a:off x="1381125" y="3319463"/>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Opening up to 04:00, optional preview-selected excerpt</a:t>
            </a:r>
          </a:p>
        </p:txBody>
      </p:sp>
      <p:sp>
        <p:nvSpPr>
          <p:cNvPr id="10" name="">
            <a:extLst xmlns:a="http://schemas.openxmlformats.org/drawingml/2006/main">
              <a:ext uri="{FF2B5EF4-FFF2-40B4-BE49-F238E27FC236}">
                <a16:creationId xmlns:a16="http://schemas.microsoft.com/office/drawing/2014/main" id="{8C597C24-D61B-4383-A609-347634268CC6}"/>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002D10C4-692E-422C-A993-4846D00FAA7B}"/>
              </a:ext>
            </a:extLst>
          </p:cNvPr>
          <p:cNvSpPr>
            <a:spLocks xmlns:a="http://schemas.openxmlformats.org/drawingml/2006/main" noGrp="1"/>
          </p:cNvSpPr>
          <p:nvPr/>
        </p:nvSpPr>
        <p:spPr>
          <a:xfrm xmlns:a="http://schemas.openxmlformats.org/drawingml/2006/main">
            <a:off x="1381125" y="4117181"/>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Listening question: How can a fitted line turn an input into a numerical prediction?</a:t>
            </a:r>
          </a:p>
        </p:txBody>
      </p:sp>
      <p:sp>
        <p:nvSpPr>
          <p:cNvPr id="12" name="">
            <a:extLst xmlns:a="http://schemas.openxmlformats.org/drawingml/2006/main">
              <a:ext uri="{FF2B5EF4-FFF2-40B4-BE49-F238E27FC236}">
                <a16:creationId xmlns:a16="http://schemas.microsoft.com/office/drawing/2014/main" id="{DBC83B89-1EA2-4A5F-890C-B42645A15A24}"/>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7AEE9888-AA6C-4435-9252-32BD2894C9EA}"/>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ea1cd16fbcf34852"/>
              </a:rPr>
              <a:t>Open explainer video</a:t>
            </a:r>
          </a:p>
        </p:txBody>
      </p:sp>
      <p:sp>
        <p:nvSpPr>
          <p:cNvPr id="14" name="">
            <a:extLst xmlns:a="http://schemas.openxmlformats.org/drawingml/2006/main">
              <a:ext uri="{FF2B5EF4-FFF2-40B4-BE49-F238E27FC236}">
                <a16:creationId xmlns:a16="http://schemas.microsoft.com/office/drawing/2014/main" id="{C4C3841D-FF02-4E53-A58D-A21E07C453A3}"/>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https://www.youtube.com/watch?v=aFDOzpTeg0s</a:t>
            </a:r>
          </a:p>
        </p:txBody>
      </p:sp>
      <p:sp>
        <p:nvSpPr>
          <p:cNvPr id="15" name="">
            <a:extLst xmlns:a="http://schemas.openxmlformats.org/drawingml/2006/main">
              <a:ext uri="{FF2B5EF4-FFF2-40B4-BE49-F238E27FC236}">
                <a16:creationId xmlns:a16="http://schemas.microsoft.com/office/drawing/2014/main" id="{FB6E075A-D61D-42F8-AEBD-C8580E5DD8D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69</a:t>
            </a:r>
          </a:p>
        </p:txBody>
      </p:sp>
    </p:spTree>
    <p:extLst>
      <p:ext uri="{BB962C8B-B14F-4D97-AF65-F5344CB8AC3E}">
        <p14:creationId xmlns:p14="http://schemas.microsoft.com/office/powerpoint/2010/main" val="1119064626"/>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2026-09-28T21:46:34.6600000Z</dcterms:created>
  <dcterms:modified xsi:type="dcterms:W3CDTF">2026-09-28T21:46:34.6600000Z</dcterms:modified>
</coreProperties>
</file>