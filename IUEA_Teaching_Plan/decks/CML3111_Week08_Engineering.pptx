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now you have described data. From today you predict from it.</a:t>
            </a:r>
          </a:p>
          <a:p/>
          <a:p>
            <a:r>
              <a:t>The whole session rests on one honest idea: a model is only worth anything if it works on cases it has never seen. Everything about how we fit, test and report follows from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is the one that separates an engineer from a person running library calls. An R-squared of 0.68 means nothing on a construction site; 'plus or minus 5 MW' means something to everybody.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blocks across three hours. The first four build up what a model is and how it gets scored, the hands-on block is where you type a working model end to end, and the last four take that model apart to see whether its score means anything.</a:t>
            </a:r>
          </a:p>
          <a:p/>
          <a:p>
            <a:r>
              <a:t>The fourteen lines you type in the hands-on block are the ones to keep. Everything after this week reuses them with one line 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came up most often in the test is worth more of your attention than the mark itself. The pattern across a cohort is usually one of: not justifying decisions, not stating units, or computing answers before cleaning.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Week 1 hand-prediction exercise again, done properly and by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onto the connection to Week 1. You already did every step of this by hand: you looked at the columns, worked out which mattered, formed a rough rule, applied it to a case you had not seen, and measured how wrong you were. Today each of those steps gets a name and a line of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is that 'by eye' is not wrong, it is just unmeasured. Least squares replaces judgement with a stated criterion.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residual is the gap between what the model said and what actually happened, measured vertically because the vertical axis is what you are predicting.</a:t>
            </a:r>
          </a:p>
          <a:p/>
          <a:p>
            <a:r>
              <a:t>Why squared rather than absolute? Squaring makes large misses count disproportionately, which matches most engineering situations — being 20 MW out once is usually worse than being 2 out ten times. It also has a single exact solution, which absolute error does not.</a:t>
            </a:r>
          </a:p>
          <a:p/>
          <a:p>
            <a:r>
              <a:t>The important shift is that 'best' now has a definition you can check, so two engineers with the same data get the same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line is the whole difference between the two columns of the Week 1 diagram. A fitted coefficient describes the dataset it came from. Take the model to a different plant, a different supplier or a different operating range and there is no guarantee it still applies.</a:t>
            </a:r>
          </a:p>
          <a:p/>
          <a:p>
            <a:r>
              <a:t>This is also why reporting the range your data covered is part of reporting a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 this segment. Everything in Week 10 is a consequence of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analogy: revising with the exam paper open in front of you tells you nothing about what you know. A model scored on its own training data is doing exactly that.</a:t>
            </a:r>
          </a:p>
          <a:p/>
          <a:p>
            <a:r>
              <a:t>The usual split is 80 per cent to train and 20 per cent to test. The exact ratio matters less than the discipline: the test rows are spent once, at the end, and never used to make a choice.</a:t>
            </a:r>
          </a:p>
          <a:p/>
          <a:p>
            <a:r>
              <a:t>In Week 1 you did this without being told: case 13 was not among the twelve you formed your rule from, which is why measuring your error against it meant something.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about spending the test set once is easy to break by accident. If you try five models, look at the test score each time, and keep the best, you have used the test set to make a choice and its score is now optimistic. Week 10 gives you the proper tool for that situation.</a:t>
            </a:r>
          </a:p>
          <a:p/>
          <a:p>
            <a:r>
              <a:t>random_state fixes which rows land in which set, so that your split is reproducible. Without it your score changes every time you run the notebook and you cannot tell improvement from noise.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block after the break is the longest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with everybody typing. Fourteen lines take you from a CSV file to a scored model, and each line is explained as it goes in.</a:t>
            </a:r>
          </a:p>
          <a:p/>
          <a:p>
            <a:r>
              <a:t>The order matters: the picture of predicted against actual comes before any metric, because a single number cannot show you the shape of a mistake. A model can have a respectable average error and still be wrong in one systematic direction over the range you care about.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imports, and then the same fit / predict / score pattern that every model in this course will use. Once you have this shape, swapping LinearRegression for a decision tree next week is a one-line change.</a:t>
            </a:r>
          </a:p>
          <a:p/>
          <a:p>
            <a:r>
              <a:t>Note the order: split, then fit on the training part only, then predict on the test part. Any preparation you do — scaling, filling gaps — must also happen after the split, and Week 10 shows you the tool that enforces that.</a:t>
            </a:r>
          </a:p>
          <a:p/>
          <a:p>
            <a:r>
              <a:t>random_state=42 is an arbitrary number that makes the split repeatable. Any fixed value does.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segment is where the course's engineering character shows most clearly.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to quote depends on who is asking. To another engineer, MAE in MW is the honest answer, because it is the number they can compare against their tolerance. R-squared is useful for comparing two models on the same data and useless as a statement about the world — it has no units and it changes if you change the spread of your data.</a:t>
            </a:r>
          </a:p>
          <a:p/>
          <a:p>
            <a:r>
              <a:t>RMSE is worth quoting when large errors are disproportionately costly, which in engineering they usually are.</a:t>
            </a:r>
          </a:p>
          <a:p/>
          <a:p>
            <a:r>
              <a:t>One caution about R-squared: it can be high while the model is unusable, and low while the model is still the best available. It is a comparison tool.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before you quote a single metric. A metric collapses every case into one number; this plot shows you which cases the model gets wrong, and that is what you can act on.</a:t>
            </a:r>
          </a:p>
          <a:p/>
          <a:p>
            <a:r>
              <a:t>The fanning-out pattern is common in engineering data and it is the reason a single average error can be misleading. If your model is accurate at low net hourly power output and poor at high values, and it is the high values that trigger a decision, then the average error is flattering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Published work on this dataset reaches roughly 3 to 4 MW root-mean-square error, so you have an external yardstick: if your model is at 12 MW there is something to fix, and if it is at 3 MW you are where the literature is.</a:t>
            </a:r>
          </a:p>
          <a:p/>
          <a:p>
            <a:r>
              <a:t>This is the question that turns a score into engineering. A number without a tolerance to compare it against is not yet an answer.</a:t>
            </a:r>
          </a:p>
          <a:p/>
          <a:p>
            <a:r>
              <a:t>Asking it also tells you whether the project was worth doing. If the model's error is larger than the decision's tolerance, the honest report says so — and that is a result, arrived at properly.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with a good average can still be systematically wrong somewhere specific.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the residual against the PREDICTED value, not against the actual value. Against the predicted value a correct model gives no slope at all. Against the actual value the same residuals slope upwards, because the actual value is the prediction plus the residual, so the residual is part of what you are plotting it against. That upward slope appears even when nothing is wrong, and you would diagnose a fault that is not there.</a:t>
            </a:r>
          </a:p>
          <a:p/>
          <a:p>
            <a:r>
              <a:t>Structure in a residual plot is a message. A curve says fit something curved. A funnel says the error grows with the value. A cluster of large residuals in one region says something is different about that region, and it is worth finding out what.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baseline is what makes a score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must be computed from the TRAINING mean, not the test mean, or you have leaked the answer into your comparison.</a:t>
            </a:r>
          </a:p>
          <a:p/>
          <a:p>
            <a:r>
              <a:t>This is what makes a number like MAE interpretable. On its own, an MAE of 5 MW means nothing. Against a baseline of 10, it means the features have halved your uncertainty, and that is a claim you can defend.</a:t>
            </a:r>
          </a:p>
          <a:p/>
          <a:p>
            <a:r>
              <a:t>A model that fails to beat the baseline is a real and reportable result. It usually means the features do not carry the signal — which is limit two from Week 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outcomes are valid results and both are marked the same way. A team that beats the baseline must explain why; a team that does not must diagnose why not.</a:t>
            </a:r>
          </a:p>
          <a:p/>
          <a:p>
            <a:r>
              <a:t>Removing a feature and watching the error rise is the crudest form of the ablation method you will use properly in Week 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sentences about acting on the model carry as much weight as the notebook. A student who reports 'MAE 4.8 MW, which is larger than the tolerance this decision needs, so I would not act on it' has understood the week.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6 is the one this course will keep coming back to, and it is what Practical Test 2 in Week 14 actually assesses.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is the correlation-and-cause point from Week 1, arriving now with a real coefficient attached to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plants Week 10. A single split is one noisy measurement, and comparing two models on one split is how people convince themselves of improvements that are not there.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and all of them appear in Practical Test 2. The three metrics and the train/test pair are the ones to be fluent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are the marking criteria for every modelling task from here to Week 15.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the two kinds of mistake stop being symmetrical. A false alarm and a missed failure cost very different amounts, and that asymmetry decides which model you choose.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Learning from data:</a:t>
            </a:r>
          </a:p>
          <a:p>
            <a:pPr algn="l">
              <a:lnSpc>
                <a:spcPct val="105000"/>
              </a:lnSpc>
              <a:spcAft>
                <a:spcPts val="600"/>
              </a:spcAft>
            </a:pPr>
            <a:r>
              <a:rPr sz="4400" b="1" i="0">
                <a:solidFill>
                  <a:srgbClr val="FFFFFF"/>
                </a:solidFill>
                <a:latin typeface="Cambria"/>
              </a:rPr>
              <a:t>your first model</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Fitting, testing, and error in units you can act 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8  ·  Fri 30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Express an engineering question as a supervised learning task, naming the features and the target.</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data is split into training and test sets, in terms a non-specialist would accept.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Fit a linear regression, predict, and read the coefficients with appropriate caution.</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Compute MAE, RMSE and R-squared, and say what each one measures.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the error in MW and answer whether that is good enough to act on.</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Compare a model against a predict-the-mean baseline and interpret either outcome correctly.</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residual plot and say where the model is worst.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8 · Learning from data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8.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Ten segments. The hands-on block in the middle is where you build a working model for the first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 and the debrief</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Test 1 in brief, then the three things it showed the cohort needs.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Today's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describe a dataset. Can you use it to say something about a case that is not in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In Week 1 you answered a version of this with a pencil and twelve rows. Today you answer it with a thousand rows and a method that can state its own error.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From a line by eye to least squares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engineers draw three different lines through the same data. Which is right, and how would you know?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FITTING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plausible lines, and the one we choose</a:t>
            </a:r>
          </a:p>
        </p:txBody>
      </p:sp>
      <p:pic>
        <p:nvPicPr>
          <p:cNvPr id="4" name="Picture 3" descr="fit_by_eye.png"/>
          <p:cNvPicPr>
            <a:picLocks noChangeAspect="1"/>
          </p:cNvPicPr>
          <p:nvPr/>
        </p:nvPicPr>
        <p:blipFill>
          <a:blip r:embed="rId2"/>
          <a:stretch>
            <a:fillRect/>
          </a:stretch>
        </p:blipFill>
        <p:spPr>
          <a:xfrm>
            <a:off x="685800" y="2288910"/>
            <a:ext cx="10820095" cy="3258585"/>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three lines that all look reasonable and disagree about every prediction. On the right, the vertical distance from each point to the line is its residual, and least squares picks the line that makes the sum of the squared residuals smallest.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Model, fitting, and prediction</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MODEL is a rule with adjustable numbers in it. FITTING means choosing those numbers so the rule matches the examples you have. PREDICTION means applying the fitted rule to a case it has never seen.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straight line has two adjustable numbers, a slope and an intercept. Fitting chooses them from your power_plant.csv rows. Prediction then estimates net hourly power output for a new case.</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formula from a textbook. A formula's numbers come from physics and hold everywhere; a model's numbers come from your data and hold where your data holds.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Train and test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single most important idea in the course, and it takes one line of code.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TRAIN AND TEST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Why the data is split</a:t>
            </a:r>
          </a:p>
        </p:txBody>
      </p:sp>
      <p:pic>
        <p:nvPicPr>
          <p:cNvPr id="4" name="Picture 3" descr="train_test_split.png"/>
          <p:cNvPicPr>
            <a:picLocks noChangeAspect="1"/>
          </p:cNvPicPr>
          <p:nvPr/>
        </p:nvPicPr>
        <p:blipFill>
          <a:blip r:embed="rId2"/>
          <a:stretch>
            <a:fillRect/>
          </a:stretch>
        </p:blipFill>
        <p:spPr>
          <a:xfrm>
            <a:off x="1458798" y="1911095"/>
            <a:ext cx="92740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model is fitted on the training rows and scored on the test rows, which it never saw. Scoring on rows it was fitted on tells you how well it memorised, and nothing about whether it learned.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Training set, test set, and generalisation</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TRAINING SET is the rows used to fit. The TEST SET is rows held back and used once, to score. GENERALISATION is whether a rule learned from the training rows still works on rows it has never seen.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1,030 rows split 80/20 gives 824 rows to fit on and 206 to score on. The 206 are not looked at until the model is final.</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Validation. A validation set is a third slice used to make choices during development, so that the test set stays untouched. That distinction arrives in Week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hands-on block is next, so have Colab open when you come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Your first model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Fourteen lines, and every one of them explained.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Fourteen lines, end to end</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pandas as pd</a:t>
            </a:r>
          </a:p>
          <a:p>
            <a:pPr algn="l">
              <a:lnSpc>
                <a:spcPts val="1795"/>
              </a:lnSpc>
              <a:spcAft>
                <a:spcPts val="0"/>
              </a:spcAft>
            </a:pPr>
            <a:r>
              <a:rPr sz="1320" b="0" i="0">
                <a:solidFill>
                  <a:srgbClr val="D8E3EC"/>
                </a:solidFill>
                <a:latin typeface="Courier New"/>
              </a:rPr>
              <a:t>from sklearn.model_selection import train_test_split</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from sklearn.metrics import mean_absolute_error, r2_score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df = pd.read_csv("power_plant.csv")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 = df[["AT", "V", "AP", "RH"]]      # the features</a:t>
            </a:r>
          </a:p>
          <a:p>
            <a:pPr algn="l">
              <a:lnSpc>
                <a:spcPts val="1795"/>
              </a:lnSpc>
              <a:spcAft>
                <a:spcPts val="0"/>
              </a:spcAft>
            </a:pPr>
            <a:r>
              <a:rPr sz="1320" b="0" i="0">
                <a:solidFill>
                  <a:srgbClr val="D8E3EC"/>
                </a:solidFill>
                <a:latin typeface="Courier New"/>
              </a:rPr>
              <a:t>y = df["output"]                # the target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X_tr, X_te, y_tr, y_te = train_test_split(</a:t>
            </a:r>
          </a:p>
          <a:p>
            <a:pPr algn="l">
              <a:lnSpc>
                <a:spcPts val="1795"/>
              </a:lnSpc>
              <a:spcAft>
                <a:spcPts val="0"/>
              </a:spcAft>
            </a:pPr>
            <a:r>
              <a:rPr sz="1320" b="0" i="0">
                <a:solidFill>
                  <a:srgbClr val="D8E3EC"/>
                </a:solidFill>
                <a:latin typeface="Courier New"/>
              </a:rPr>
              <a:t>        X, y, test_size=0.2, 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 = LinearRegression()</a:t>
            </a:r>
          </a:p>
          <a:p>
            <a:pPr algn="l">
              <a:lnSpc>
                <a:spcPts val="1795"/>
              </a:lnSpc>
              <a:spcAft>
                <a:spcPts val="0"/>
              </a:spcAft>
            </a:pPr>
            <a:r>
              <a:rPr sz="1320" b="0" i="0">
                <a:solidFill>
                  <a:srgbClr val="D8E3EC"/>
                </a:solidFill>
                <a:latin typeface="Courier New"/>
              </a:rPr>
              <a:t>model.fit(X_tr, y_tr)              # fit on TRAIN only</a:t>
            </a:r>
          </a:p>
          <a:p>
            <a:pPr algn="l">
              <a:lnSpc>
                <a:spcPts val="1795"/>
              </a:lnSpc>
              <a:spcAft>
                <a:spcPts val="0"/>
              </a:spcAft>
            </a:pPr>
            <a:r>
              <a:rPr sz="1320" b="0" i="0">
                <a:solidFill>
                  <a:srgbClr val="D8E3EC"/>
                </a:solidFill>
                <a:latin typeface="Courier New"/>
              </a:rPr>
              <a:t>pred = model.predict(X_te)         # predict on TEST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print(f"MAE {mean_absolute_error(y_te, pred):.2f} MW")</a:t>
            </a:r>
          </a:p>
          <a:p>
            <a:pPr algn="l">
              <a:lnSpc>
                <a:spcPts val="1795"/>
              </a:lnSpc>
              <a:spcAft>
                <a:spcPts val="0"/>
              </a:spcAft>
            </a:pPr>
            <a:r>
              <a:rPr sz="1320" b="0" i="0">
                <a:solidFill>
                  <a:srgbClr val="D8E3EC"/>
                </a:solidFill>
                <a:latin typeface="Courier New"/>
              </a:rPr>
              <a:t>print(f"R2  {r2_score(y_te, pred):.3f}")</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Fit on the whole dataset instead of X_tr, then score on X_te. The numbers improve, and they are now meaningless — the model has already seen every row you are testing it on. This is the mistake Week 10 is entirely about.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Reading the error in units you can act 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numbers describe how wrong a model is. Only one of them means anything to a client.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THREE METRICS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MAE, RMSE and R-squared each measure</a:t>
            </a:r>
          </a:p>
        </p:txBody>
      </p:sp>
      <p:pic>
        <p:nvPicPr>
          <p:cNvPr id="4" name="Picture 3" descr="error_metrics.png"/>
          <p:cNvPicPr>
            <a:picLocks noChangeAspect="1"/>
          </p:cNvPicPr>
          <p:nvPr/>
        </p:nvPicPr>
        <p:blipFill>
          <a:blip r:embed="rId2"/>
          <a:stretch>
            <a:fillRect/>
          </a:stretch>
        </p:blipFill>
        <p:spPr>
          <a:xfrm>
            <a:off x="1048791" y="1911095"/>
            <a:ext cx="1009411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MAE is the average size of the miss, in the units of the thing you are predicting. RMSE squares the misses first, so one large error moves it far more than several small ones. R-squared says how much of the variation the model explains, compared with just predicting the mean.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FIRST PLOT TO DRAW</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Predicted against actual</a:t>
            </a:r>
          </a:p>
        </p:txBody>
      </p:sp>
      <p:pic>
        <p:nvPicPr>
          <p:cNvPr id="4" name="Picture 3" descr="pred_vs_actual.png"/>
          <p:cNvPicPr>
            <a:picLocks noChangeAspect="1"/>
          </p:cNvPicPr>
          <p:nvPr/>
        </p:nvPicPr>
        <p:blipFill>
          <a:blip r:embed="rId2"/>
          <a:stretch>
            <a:fillRect/>
          </a:stretch>
        </p:blipFill>
        <p:spPr>
          <a:xfrm>
            <a:off x="685800" y="3031701"/>
            <a:ext cx="7254026" cy="2019891"/>
          </a:xfrm>
          <a:prstGeom prst="rect">
            <a:avLst/>
          </a:prstGeom>
        </p:spPr>
      </p:pic>
      <p:sp>
        <p:nvSpPr>
          <p:cNvPr id="5" name="TextBox 4"/>
          <p:cNvSpPr txBox="1"/>
          <p:nvPr/>
        </p:nvSpPr>
        <p:spPr>
          <a:xfrm>
            <a:off x="8397026" y="1911095"/>
            <a:ext cx="3108868" cy="330149"/>
          </a:xfrm>
          <a:prstGeom prst="rect">
            <a:avLst/>
          </a:prstGeom>
          <a:noFill/>
        </p:spPr>
        <p:txBody>
          <a:bodyPr wrap="square" lIns="0" rIns="0" tIns="0" bIns="0" anchor="t">
            <a:spAutoFit/>
          </a:bodyPr>
          <a:lstStyle/>
          <a:p>
            <a:pPr algn="l">
              <a:lnSpc>
                <a:spcPct val="122000"/>
              </a:lnSpc>
              <a:spcAft>
                <a:spcPts val="600"/>
              </a:spcAft>
            </a:pPr>
            <a:r>
              <a:rPr sz="1425" b="1" i="0">
                <a:solidFill>
                  <a:srgbClr val="1C3144"/>
                </a:solidFill>
                <a:latin typeface="Calibri"/>
              </a:rPr>
              <a:t>Read this plot before any metric</a:t>
            </a:r>
          </a:p>
        </p:txBody>
      </p:sp>
      <p:sp>
        <p:nvSpPr>
          <p:cNvPr id="6" name="TextBox 5"/>
          <p:cNvSpPr txBox="1"/>
          <p:nvPr/>
        </p:nvSpPr>
        <p:spPr>
          <a:xfrm>
            <a:off x="8397026" y="2259533"/>
            <a:ext cx="3108868" cy="1045892"/>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Each point is one test case. The diagonal is where a perfect prediction would sit. Distance from the diagonal is the error on that case.</a:t>
            </a:r>
          </a:p>
        </p:txBody>
      </p:sp>
      <p:sp>
        <p:nvSpPr>
          <p:cNvPr id="7" name="TextBox 6"/>
          <p:cNvSpPr txBox="1"/>
          <p:nvPr/>
        </p:nvSpPr>
        <p:spPr>
          <a:xfrm>
            <a:off x="8397026" y="3323714"/>
            <a:ext cx="3108868" cy="330149"/>
          </a:xfrm>
          <a:prstGeom prst="rect">
            <a:avLst/>
          </a:prstGeom>
          <a:noFill/>
        </p:spPr>
        <p:txBody>
          <a:bodyPr wrap="square" lIns="0" rIns="0" tIns="0" bIns="0" anchor="t">
            <a:spAutoFit/>
          </a:bodyPr>
          <a:lstStyle/>
          <a:p>
            <a:pPr algn="l">
              <a:lnSpc>
                <a:spcPct val="122000"/>
              </a:lnSpc>
              <a:spcAft>
                <a:spcPts val="600"/>
              </a:spcAft>
            </a:pPr>
            <a:r>
              <a:rPr sz="1425" b="1" i="0">
                <a:solidFill>
                  <a:srgbClr val="1C3144"/>
                </a:solidFill>
                <a:latin typeface="Calibri"/>
              </a:rPr>
              <a:t>What to look for</a:t>
            </a:r>
          </a:p>
        </p:txBody>
      </p:sp>
      <p:sp>
        <p:nvSpPr>
          <p:cNvPr id="8" name="TextBox 7"/>
          <p:cNvSpPr txBox="1"/>
          <p:nvPr/>
        </p:nvSpPr>
        <p:spPr>
          <a:xfrm>
            <a:off x="8397026" y="3672152"/>
            <a:ext cx="3108868" cy="798135"/>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cloud tilted away from the diagonal means the model is systematically over- or under-predicting across the range.</a:t>
            </a:r>
          </a:p>
        </p:txBody>
      </p:sp>
      <p:sp>
        <p:nvSpPr>
          <p:cNvPr id="9" name="TextBox 8"/>
          <p:cNvSpPr txBox="1"/>
          <p:nvPr/>
        </p:nvSpPr>
        <p:spPr>
          <a:xfrm>
            <a:off x="8397026" y="4488576"/>
            <a:ext cx="3108868" cy="1045892"/>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cloud that fans out means the model is reliable for small values and unreliable for large ones, which matters a great deal if the large ones are the ones you care about.</a:t>
            </a:r>
          </a:p>
        </p:txBody>
      </p:sp>
      <p:sp>
        <p:nvSpPr>
          <p:cNvPr id="10" name="TextBox 9"/>
          <p:cNvSpPr txBox="1"/>
          <p:nvPr/>
        </p:nvSpPr>
        <p:spPr>
          <a:xfrm>
            <a:off x="8397026" y="5552757"/>
            <a:ext cx="3108868" cy="798135"/>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few points far from the diagonal are worth naming individually. They are often the most interesting cases in the file.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THAT ACTUALLY MATTERS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"Plus or minus a few MW. Is that good enough to act on?"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Would a control room schedule generation on it? Not alone. Would a planner use it to estimate output for tomorrow's forecast conditions? Yes, with the error stated.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Residuals: where is it worst?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average error hides the pattern. The residual plot shows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RESIDUALS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a residual plot</a:t>
            </a:r>
          </a:p>
        </p:txBody>
      </p:sp>
      <p:pic>
        <p:nvPicPr>
          <p:cNvPr id="4" name="Picture 3" descr="residuals.png"/>
          <p:cNvPicPr>
            <a:picLocks noChangeAspect="1"/>
          </p:cNvPicPr>
          <p:nvPr/>
        </p:nvPicPr>
        <p:blipFill>
          <a:blip r:embed="rId2"/>
          <a:stretch>
            <a:fillRect/>
          </a:stretch>
        </p:blipFill>
        <p:spPr>
          <a:xfrm>
            <a:off x="1127872" y="1911095"/>
            <a:ext cx="993595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Residual against predicted value, with zero marked. Scattered evenly about zero means the straight-line model has captured the shape. A visible curve means the relationship is not straight and a straight line is the wrong model.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beat the baseline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you can say a model is good, you need something to compare it against.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BASELINE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model against a predict-the-mean baseline</a:t>
            </a:r>
          </a:p>
        </p:txBody>
      </p:sp>
      <p:pic>
        <p:nvPicPr>
          <p:cNvPr id="4" name="Picture 3" descr="baseline_vs_model.png"/>
          <p:cNvPicPr>
            <a:picLocks noChangeAspect="1"/>
          </p:cNvPicPr>
          <p:nvPr/>
        </p:nvPicPr>
        <p:blipFill>
          <a:blip r:embed="rId2"/>
          <a:stretch>
            <a:fillRect/>
          </a:stretch>
        </p:blipFill>
        <p:spPr>
          <a:xfrm>
            <a:off x="685800" y="2371527"/>
            <a:ext cx="10820095" cy="3093352"/>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baseline ignores every feature and predicts the training mean for every case. Any model that cannot beat that has learned nothing from the features.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Beat the baseline</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compute the predict-the-mean baseline on the training rows, then build a regression and compare on MAE in MW.</a:t>
            </a:r>
          </a:p>
          <a:p>
            <a:pPr algn="l">
              <a:lnSpc>
                <a:spcPct val="125000"/>
              </a:lnSpc>
              <a:spcAft>
                <a:spcPts val="600"/>
              </a:spcAft>
            </a:pPr>
            <a:r>
              <a:rPr sz="1923" b="0" i="0">
                <a:solidFill>
                  <a:srgbClr val="1C3144"/>
                </a:solidFill>
                <a:latin typeface="Calibri"/>
              </a:rPr>
              <a:t>Then change the features. Add temperature rise above the minimum recorded. Remove relative humidity. Record what happens to the error each time.</a:t>
            </a:r>
          </a:p>
          <a:p>
            <a:pPr algn="l">
              <a:lnSpc>
                <a:spcPct val="125000"/>
              </a:lnSpc>
              <a:spcAft>
                <a:spcPts val="600"/>
              </a:spcAft>
            </a:pPr>
            <a:r>
              <a:rPr sz="1923" b="0" i="0">
                <a:solidFill>
                  <a:srgbClr val="1C3144"/>
                </a:solidFill>
                <a:latin typeface="Calibri"/>
              </a:rPr>
              <a:t>Twenty minutes. Report your error in MW, never as a bare score.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baseline error, in real units?</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By how much did the features improve on it?</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feature mattered most, and how do you know?</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Where is the model worst?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this error small enough to act on?</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to do better?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9</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A7 — due at the start of Week 9</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regression notebook on power_plant.csv containing:</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train/test split with a fixed random_state · the fitted model · MAE and R-squared on the test rows · a predicted-against-actual plot · a residual plot</a:t>
            </a:r>
          </a:p>
        </p:txBody>
      </p:sp>
      <p:sp>
        <p:nvSpPr>
          <p:cNvPr id="7" name="TextBox 6"/>
          <p:cNvSpPr txBox="1"/>
          <p:nvPr/>
        </p:nvSpPr>
        <p:spPr>
          <a:xfrm>
            <a:off x="685800" y="4412565"/>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Plus the baseline comparison, the error stated in MW, and three sentences on whether an engineer should act on this model.</a:t>
            </a:r>
          </a:p>
        </p:txBody>
      </p:sp>
      <p:sp>
        <p:nvSpPr>
          <p:cNvPr id="8" name="TextBox 7"/>
          <p:cNvSpPr txBox="1"/>
          <p:nvPr/>
        </p:nvSpPr>
        <p:spPr>
          <a:xfrm>
            <a:off x="685800" y="5594388"/>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Restart and Run All before you submit.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this week</a:t>
            </a:r>
          </a:p>
        </p:txBody>
      </p:sp>
      <p:sp>
        <p:nvSpPr>
          <p:cNvPr id="11" name="TextBox 10"/>
          <p:cNvSpPr txBox="1"/>
          <p:nvPr/>
        </p:nvSpPr>
        <p:spPr>
          <a:xfrm>
            <a:off x="6575907" y="2496312"/>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Data Analysis Project is due today. Repository, cleaned data, four charts, one page of findings.</a:t>
            </a:r>
          </a:p>
        </p:txBody>
      </p:sp>
      <p:sp>
        <p:nvSpPr>
          <p:cNvPr id="12" name="TextBox 11"/>
          <p:cNvSpPr txBox="1"/>
          <p:nvPr/>
        </p:nvSpPr>
        <p:spPr>
          <a:xfrm>
            <a:off x="6575907" y="364466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Worth 10 per cent.</a:t>
            </a:r>
          </a:p>
        </p:txBody>
      </p:sp>
      <p:sp>
        <p:nvSpPr>
          <p:cNvPr id="13" name="TextBox 12"/>
          <p:cNvSpPr txBox="1"/>
          <p:nvPr/>
        </p:nvSpPr>
        <p:spPr>
          <a:xfrm>
            <a:off x="6575907" y="417375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the Engineering ML Project is set — the 25 per cent one that runs to Week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 model is a rule with adjustable numbers. Fitting chooses those numbers from examples; prediction applies the rule to a case it has never seen.</a:t>
            </a:r>
          </a:p>
        </p:txBody>
      </p:sp>
      <p:sp>
        <p:nvSpPr>
          <p:cNvPr id="6" name="Oval 5"/>
          <p:cNvSpPr/>
          <p:nvPr/>
        </p:nvSpPr>
        <p:spPr>
          <a:xfrm>
            <a:off x="685800" y="26136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58831"/>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Least squares picks the line that makes the sum of the squared residuals smallest, which gives 'best fit' a definition two engineers can both check.</a:t>
            </a:r>
          </a:p>
        </p:txBody>
      </p:sp>
      <p:sp>
        <p:nvSpPr>
          <p:cNvPr id="8" name="Oval 7"/>
          <p:cNvSpPr/>
          <p:nvPr/>
        </p:nvSpPr>
        <p:spPr>
          <a:xfrm>
            <a:off x="685800" y="32614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0656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Fit on the training rows and score on the test rows. A score on data the model was fitted to only tells you how well it memorised those rows.</a:t>
            </a:r>
          </a:p>
        </p:txBody>
      </p:sp>
      <p:sp>
        <p:nvSpPr>
          <p:cNvPr id="10" name="Oval 9"/>
          <p:cNvSpPr/>
          <p:nvPr/>
        </p:nvSpPr>
        <p:spPr>
          <a:xfrm>
            <a:off x="685800" y="36584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0358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Split first, then do everything else. Any preparation done before the split leaks information.</a:t>
            </a:r>
          </a:p>
        </p:txBody>
      </p:sp>
      <p:sp>
        <p:nvSpPr>
          <p:cNvPr id="12" name="Oval 11"/>
          <p:cNvSpPr/>
          <p:nvPr/>
        </p:nvSpPr>
        <p:spPr>
          <a:xfrm>
            <a:off x="685800" y="405547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0060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MAE is the average miss in real units. RMSE punishes large misses. R-squared compares against predicting the mean and has no units.</a:t>
            </a:r>
          </a:p>
        </p:txBody>
      </p:sp>
      <p:sp>
        <p:nvSpPr>
          <p:cNvPr id="14" name="Oval 13"/>
          <p:cNvSpPr/>
          <p:nvPr/>
        </p:nvSpPr>
        <p:spPr>
          <a:xfrm>
            <a:off x="685800" y="445248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397625"/>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Quote the error in MW and then ask whether it is inside the tolerance the decision needs. That question turns a score into engineering.</a:t>
            </a:r>
          </a:p>
        </p:txBody>
      </p:sp>
      <p:sp>
        <p:nvSpPr>
          <p:cNvPr id="16" name="Oval 15"/>
          <p:cNvSpPr/>
          <p:nvPr/>
        </p:nvSpPr>
        <p:spPr>
          <a:xfrm>
            <a:off x="685800" y="484950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94645"/>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Plot predicted against actual and residual against predicted before quoting any metric. Structure in the residuals is a message about the model.</a:t>
            </a:r>
          </a:p>
        </p:txBody>
      </p:sp>
      <p:sp>
        <p:nvSpPr>
          <p:cNvPr id="18" name="Oval 17"/>
          <p:cNvSpPr/>
          <p:nvPr/>
        </p:nvSpPr>
        <p:spPr>
          <a:xfrm>
            <a:off x="685800" y="54972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442380"/>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 model that cannot beat a predict-the-mean baseline has learned nothing from the features, and that is a reportable result.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fit on all 1,030 rows and score on the same 1,030 rows. Your R-squared is 0.94. What is wrong with quoting that?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has an MAE of 4.8 MW and an R-squared of 0.31. Is it useful?</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residual plot shows a clear curve. What does that tell you, and what would you do?</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beats the baseline by 2 per cent. Should you deploy it?</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The coefficient on temperature rise above minimum recorded is large and positive. Can you tell a client that increasing it will increase net hourly power output?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Fitting and scoring on the same rows?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The score measures how well the model memorised those rows, and says nothing about a case it has not seen. It will always look better than the honest number. Split the data and score on the held-back part.</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MAE 4.8 with R-squared 0.31?</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Possibly, and the two numbers are answering different questions. R-squared says the model explains little of the variation, which is often because the target genuinely varies for reasons your columns do not capture. Whether it is useful depends entirely on whether 4.8 MW is inside the tolerance of the decision it would inform.</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curve in the residuals?</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straight line is the wrong shape for this relationship. The model is systematically over-predicting in one part of the range and under-predicting in another. Either fit something curved, or engineer a feature that straightens the relationship — which is Week 11.</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Beating the baseline by 2 per cent?</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No, on that evidence alone. A 2 per cent gap could easily be the noise in one particular train/test split rather than a real improvement. You need to know how much the score moves when the split changes, and that is cross-validation in Week 10.</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large positive coefficient?</a:t>
            </a:r>
          </a:p>
        </p:txBody>
      </p:sp>
      <p:sp>
        <p:nvSpPr>
          <p:cNvPr id="18" name="TextBox 17"/>
          <p:cNvSpPr txBox="1"/>
          <p:nvPr/>
        </p:nvSpPr>
        <p:spPr>
          <a:xfrm>
            <a:off x="6854799"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No. The model has learned that the two move together in this dataset. It knows nothing about mechanism, and the coefficient also depends on which other features are in the model. Say 'associated with' and leave causation to the physics.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Supervised learning</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Learning a rule from examples where the answer is known.</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Regression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a number on a continuous scale.</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Model</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rule with adjustable numbers in it.</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Fitting (training)</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Choosing those numbers so the rule matches the training examples.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Coefficient</a:t>
            </a:r>
          </a:p>
        </p:txBody>
      </p:sp>
      <p:sp>
        <p:nvSpPr>
          <p:cNvPr id="13" name="TextBox 12"/>
          <p:cNvSpPr txBox="1"/>
          <p:nvPr/>
        </p:nvSpPr>
        <p:spPr>
          <a:xfrm>
            <a:off x="685800" y="383279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fitted numbers. It describes an association inside your data and carries no claim about mechanism.</a:t>
            </a:r>
          </a:p>
        </p:txBody>
      </p:sp>
      <p:sp>
        <p:nvSpPr>
          <p:cNvPr id="14" name="TextBox 13"/>
          <p:cNvSpPr txBox="1"/>
          <p:nvPr/>
        </p:nvSpPr>
        <p:spPr>
          <a:xfrm>
            <a:off x="685800"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Intercept</a:t>
            </a:r>
          </a:p>
        </p:txBody>
      </p:sp>
      <p:sp>
        <p:nvSpPr>
          <p:cNvPr id="15" name="TextBox 14"/>
          <p:cNvSpPr txBox="1"/>
          <p:nvPr/>
        </p:nvSpPr>
        <p:spPr>
          <a:xfrm>
            <a:off x="685800"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prediction when every feature is zero. Often physically meaningless.</a:t>
            </a:r>
          </a:p>
        </p:txBody>
      </p:sp>
      <p:sp>
        <p:nvSpPr>
          <p:cNvPr id="16" name="TextBox 15"/>
          <p:cNvSpPr txBox="1"/>
          <p:nvPr/>
        </p:nvSpPr>
        <p:spPr>
          <a:xfrm>
            <a:off x="685800"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Prediction</a:t>
            </a:r>
          </a:p>
        </p:txBody>
      </p:sp>
      <p:sp>
        <p:nvSpPr>
          <p:cNvPr id="17" name="TextBox 16"/>
          <p:cNvSpPr txBox="1"/>
          <p:nvPr/>
        </p:nvSpPr>
        <p:spPr>
          <a:xfrm>
            <a:off x="685800"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Applying the fitted rule to a case it has not seen.</a:t>
            </a:r>
          </a:p>
        </p:txBody>
      </p:sp>
      <p:sp>
        <p:nvSpPr>
          <p:cNvPr id="18" name="TextBox 17"/>
          <p:cNvSpPr txBox="1"/>
          <p:nvPr/>
        </p:nvSpPr>
        <p:spPr>
          <a:xfrm>
            <a:off x="685800"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Residual</a:t>
            </a:r>
          </a:p>
        </p:txBody>
      </p:sp>
      <p:sp>
        <p:nvSpPr>
          <p:cNvPr id="19" name="TextBox 18"/>
          <p:cNvSpPr txBox="1"/>
          <p:nvPr/>
        </p:nvSpPr>
        <p:spPr>
          <a:xfrm>
            <a:off x="685800"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Actual minus predicted, for one case. The vertical gap to the fitted line.</a:t>
            </a:r>
          </a:p>
        </p:txBody>
      </p:sp>
      <p:sp>
        <p:nvSpPr>
          <p:cNvPr id="20" name="TextBox 19"/>
          <p:cNvSpPr txBox="1"/>
          <p:nvPr/>
        </p:nvSpPr>
        <p:spPr>
          <a:xfrm>
            <a:off x="685800"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Least squares</a:t>
            </a:r>
          </a:p>
        </p:txBody>
      </p:sp>
      <p:sp>
        <p:nvSpPr>
          <p:cNvPr id="21" name="TextBox 20"/>
          <p:cNvSpPr txBox="1"/>
          <p:nvPr/>
        </p:nvSpPr>
        <p:spPr>
          <a:xfrm>
            <a:off x="685800"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Choosing the fit that makes the sum of the squared residuals smallest.</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Training set</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rows used to fit the model.</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Test set</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held back and used once, at the end, to score.</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train_test_split</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scikit-learn function that separates them. Use random_state to make it repeatable.</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the fitted rule still works on rows it never saw.</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MAE</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Mean absolute error. The average size of the miss, in the target's own units.</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RMSE</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Root mean squared error. Squares the misses first, so large ones dominate.</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R-squared</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share of variation explained, compared with predicting the mean. No units.</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Baseline</a:t>
            </a:r>
          </a:p>
        </p:txBody>
      </p:sp>
      <p:sp>
        <p:nvSpPr>
          <p:cNvPr id="37" name="TextBox 36"/>
          <p:cNvSpPr txBox="1"/>
          <p:nvPr/>
        </p:nvSpPr>
        <p:spPr>
          <a:xfrm>
            <a:off x="6324447" y="51358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deliberately trivial model. Predicting the training mean every time is the usual one.</a:t>
            </a:r>
          </a:p>
        </p:txBody>
      </p:sp>
      <p:sp>
        <p:nvSpPr>
          <p:cNvPr id="38" name="TextBox 37"/>
          <p:cNvSpPr txBox="1"/>
          <p:nvPr/>
        </p:nvSpPr>
        <p:spPr>
          <a:xfrm>
            <a:off x="6324447"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fit / predict / score</a:t>
            </a:r>
          </a:p>
        </p:txBody>
      </p:sp>
      <p:sp>
        <p:nvSpPr>
          <p:cNvPr id="39" name="TextBox 38"/>
          <p:cNvSpPr txBox="1"/>
          <p:nvPr/>
        </p:nvSpPr>
        <p:spPr>
          <a:xfrm>
            <a:off x="6324447"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pattern every scikit-learn model follows. Learn it once, reuse it all year.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fitting and reporting a model</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five lines that matter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split · fit on train · predict on test · metric on test · plot predicted against actual</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Split first, always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Anything you do to the data before the split leaks information from the test rows into the model.</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random_state</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Otherwise your score changes every run and you cannot tell improvement from noise.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the error in real units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MAE in MW. Then say whether that is inside the tolerance the decision needs.</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Always compare against a baseline</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Predict the training mean. Without that comparison a score is uninterpretable.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Look at two plots before any number</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Predicted against actual, and residual against predicted. Structure in either one is a message.</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Describe the range you covered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model is only evidence about the conditions your data spanned. Say what those were.</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Say 'associated with'</a:t>
            </a:r>
          </a:p>
        </p:txBody>
      </p:sp>
      <p:sp>
        <p:nvSpPr>
          <p:cNvPr id="19" name="TextBox 18"/>
          <p:cNvSpPr txBox="1"/>
          <p:nvPr/>
        </p:nvSpPr>
        <p:spPr>
          <a:xfrm>
            <a:off x="6347307" y="5945043"/>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coefficient is not a mechanism. Leave causation to the physics.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8</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score quoted on the training rows, a residual plot read the wrong way round, and a baseline nobody computed.</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8.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built a model, and you</a:t>
            </a:r>
          </a:p>
          <a:p>
            <a:pPr algn="l">
              <a:lnSpc>
                <a:spcPct val="110000"/>
              </a:lnSpc>
              <a:spcAft>
                <a:spcPts val="600"/>
              </a:spcAft>
            </a:pPr>
            <a:r>
              <a:rPr sz="3400" b="1" i="0">
                <a:solidFill>
                  <a:srgbClr val="FFFFFF"/>
                </a:solidFill>
                <a:latin typeface="Cambria"/>
              </a:rPr>
              <a:t>can say how wrong it is.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second half of that sentence is the part that matters. Anyone can fit a line. Reporting its error in MW and saying whether that is good enough is the engineering.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predicting a category, and the cost of getting it wrong in each direction.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