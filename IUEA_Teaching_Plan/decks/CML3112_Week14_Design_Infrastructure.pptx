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eefb661117f4613" /><Relationship Type="http://schemas.openxmlformats.org/officeDocument/2006/relationships/extended-properties" Target="/docProps/app.xml" Id="R4d760bddc3664a92" /><Relationship Type="http://schemas.openxmlformats.org/officeDocument/2006/relationships/officeDocument" Target="/ppt/presentation.xml" Id="Rbe47232b397241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3d8b1b7a8594e8e"/>
  </p:sldMasterIdLst>
  <p:notesMasterIdLst>
    <p:notesMasterId xmlns:r="http://schemas.openxmlformats.org/officeDocument/2006/relationships" r:id="R3bd633a1ccc84463"/>
  </p:notesMasterIdLst>
  <p:sldIdLst>
    <p:sldId xmlns:r="http://schemas.openxmlformats.org/officeDocument/2006/relationships" id="256" r:id="Rd843baaee42c43e3"/>
    <p:sldId xmlns:r="http://schemas.openxmlformats.org/officeDocument/2006/relationships" id="257" r:id="Rd2ddf94a62774ecf"/>
    <p:sldId xmlns:r="http://schemas.openxmlformats.org/officeDocument/2006/relationships" id="258" r:id="R022122223014428b"/>
    <p:sldId xmlns:r="http://schemas.openxmlformats.org/officeDocument/2006/relationships" id="259" r:id="R1615005f83fb4ad8"/>
    <p:sldId xmlns:r="http://schemas.openxmlformats.org/officeDocument/2006/relationships" id="260" r:id="R6a0e9a77a9414216"/>
    <p:sldId xmlns:r="http://schemas.openxmlformats.org/officeDocument/2006/relationships" id="261" r:id="R63d787d8f38a4200"/>
    <p:sldId xmlns:r="http://schemas.openxmlformats.org/officeDocument/2006/relationships" id="262" r:id="Rba1260397d05437e"/>
    <p:sldId xmlns:r="http://schemas.openxmlformats.org/officeDocument/2006/relationships" id="263" r:id="Rc75d9eeed35a459e"/>
    <p:sldId xmlns:r="http://schemas.openxmlformats.org/officeDocument/2006/relationships" id="264" r:id="R8f104c31fc634443"/>
    <p:sldId xmlns:r="http://schemas.openxmlformats.org/officeDocument/2006/relationships" id="265" r:id="Rea8e869e45ec4a36"/>
    <p:sldId xmlns:r="http://schemas.openxmlformats.org/officeDocument/2006/relationships" id="266" r:id="R297198ba1b0b45b2"/>
    <p:sldId xmlns:r="http://schemas.openxmlformats.org/officeDocument/2006/relationships" id="267" r:id="Rb0806213e34645d7"/>
    <p:sldId xmlns:r="http://schemas.openxmlformats.org/officeDocument/2006/relationships" id="268" r:id="R888c5c8df59f46c5"/>
    <p:sldId xmlns:r="http://schemas.openxmlformats.org/officeDocument/2006/relationships" id="269" r:id="Re2eb1d626b994fe2"/>
    <p:sldId xmlns:r="http://schemas.openxmlformats.org/officeDocument/2006/relationships" id="270" r:id="R781a194e793845d6"/>
    <p:sldId xmlns:r="http://schemas.openxmlformats.org/officeDocument/2006/relationships" id="271" r:id="Re4242940f19b40c7"/>
    <p:sldId xmlns:r="http://schemas.openxmlformats.org/officeDocument/2006/relationships" id="272" r:id="R401d4f3e59604e59"/>
    <p:sldId xmlns:r="http://schemas.openxmlformats.org/officeDocument/2006/relationships" id="273" r:id="Rf1383dbcbadb419f"/>
    <p:sldId xmlns:r="http://schemas.openxmlformats.org/officeDocument/2006/relationships" id="274" r:id="R537f0cc0c8ad4c31"/>
    <p:sldId xmlns:r="http://schemas.openxmlformats.org/officeDocument/2006/relationships" id="275" r:id="R69c21af687ec402a"/>
    <p:sldId xmlns:r="http://schemas.openxmlformats.org/officeDocument/2006/relationships" id="276" r:id="R27134f5513374d5d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8f4ebd29e84f5d" /><Relationship Type="http://schemas.openxmlformats.org/officeDocument/2006/relationships/slideMaster" Target="/ppt/slideMasters/slideMaster1.xml" Id="R03d8b1b7a8594e8e" /><Relationship Type="http://schemas.openxmlformats.org/officeDocument/2006/relationships/notesMaster" Target="/ppt/notesMasters/notesMaster1.xml" Id="R3bd633a1ccc84463" /><Relationship Type="http://schemas.openxmlformats.org/officeDocument/2006/relationships/presProps" Target="/ppt/presProps.xml" Id="Rfcf3be22ede044b6" /><Relationship Type="http://schemas.openxmlformats.org/officeDocument/2006/relationships/tableStyles" Target="/ppt/tableStyles.xml" Id="R07190daf0e9d485c" /><Relationship Type="http://schemas.openxmlformats.org/officeDocument/2006/relationships/slide" Target="/ppt/slides/slide1.xml" Id="Rd843baaee42c43e3" /><Relationship Type="http://schemas.openxmlformats.org/officeDocument/2006/relationships/slide" Target="/ppt/slides/slide2.xml" Id="Rd2ddf94a62774ecf" /><Relationship Type="http://schemas.openxmlformats.org/officeDocument/2006/relationships/slide" Target="/ppt/slides/slide3.xml" Id="R022122223014428b" /><Relationship Type="http://schemas.openxmlformats.org/officeDocument/2006/relationships/slide" Target="/ppt/slides/slide4.xml" Id="R1615005f83fb4ad8" /><Relationship Type="http://schemas.openxmlformats.org/officeDocument/2006/relationships/slide" Target="/ppt/slides/slide5.xml" Id="R6a0e9a77a9414216" /><Relationship Type="http://schemas.openxmlformats.org/officeDocument/2006/relationships/slide" Target="/ppt/slides/slide6.xml" Id="R63d787d8f38a4200" /><Relationship Type="http://schemas.openxmlformats.org/officeDocument/2006/relationships/slide" Target="/ppt/slides/slide7.xml" Id="Rba1260397d05437e" /><Relationship Type="http://schemas.openxmlformats.org/officeDocument/2006/relationships/slide" Target="/ppt/slides/slide8.xml" Id="Rc75d9eeed35a459e" /><Relationship Type="http://schemas.openxmlformats.org/officeDocument/2006/relationships/slide" Target="/ppt/slides/slide9.xml" Id="R8f104c31fc634443" /><Relationship Type="http://schemas.openxmlformats.org/officeDocument/2006/relationships/slide" Target="/ppt/slides/slide10.xml" Id="Rea8e869e45ec4a36" /><Relationship Type="http://schemas.openxmlformats.org/officeDocument/2006/relationships/slide" Target="/ppt/slides/slide11.xml" Id="R297198ba1b0b45b2" /><Relationship Type="http://schemas.openxmlformats.org/officeDocument/2006/relationships/slide" Target="/ppt/slides/slide12.xml" Id="Rb0806213e34645d7" /><Relationship Type="http://schemas.openxmlformats.org/officeDocument/2006/relationships/slide" Target="/ppt/slides/slide13.xml" Id="R888c5c8df59f46c5" /><Relationship Type="http://schemas.openxmlformats.org/officeDocument/2006/relationships/slide" Target="/ppt/slides/slide14.xml" Id="Re2eb1d626b994fe2" /><Relationship Type="http://schemas.openxmlformats.org/officeDocument/2006/relationships/slide" Target="/ppt/slides/slide15.xml" Id="R781a194e793845d6" /><Relationship Type="http://schemas.openxmlformats.org/officeDocument/2006/relationships/slide" Target="/ppt/slides/slide16.xml" Id="Re4242940f19b40c7" /><Relationship Type="http://schemas.openxmlformats.org/officeDocument/2006/relationships/slide" Target="/ppt/slides/slide17.xml" Id="R401d4f3e59604e59" /><Relationship Type="http://schemas.openxmlformats.org/officeDocument/2006/relationships/slide" Target="/ppt/slides/slide18.xml" Id="Rf1383dbcbadb419f" /><Relationship Type="http://schemas.openxmlformats.org/officeDocument/2006/relationships/slide" Target="/ppt/slides/slide19.xml" Id="R537f0cc0c8ad4c31" /><Relationship Type="http://schemas.openxmlformats.org/officeDocument/2006/relationships/slide" Target="/ppt/slides/slide20.xml" Id="R69c21af687ec402a" /><Relationship Type="http://schemas.openxmlformats.org/officeDocument/2006/relationships/slide" Target="/ppt/slides/slide21.xml" Id="R27134f5513374d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387e9f7ec4646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663886b92854ac9" /><Relationship Type="http://schemas.openxmlformats.org/officeDocument/2006/relationships/notesMaster" Target="/ppt/notesMasters/notesMaster1.xml" Id="R72dcaef1d26c41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4bb8ff700f41f8" /><Relationship Type="http://schemas.openxmlformats.org/officeDocument/2006/relationships/notesMaster" Target="/ppt/notesMasters/notesMaster1.xml" Id="R9867279d964e4b8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311e79fa4cd4770" /><Relationship Type="http://schemas.openxmlformats.org/officeDocument/2006/relationships/notesMaster" Target="/ppt/notesMasters/notesMaster1.xml" Id="Rd72dfba22489441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9d38bbdd72249e1" /><Relationship Type="http://schemas.openxmlformats.org/officeDocument/2006/relationships/notesMaster" Target="/ppt/notesMasters/notesMaster1.xml" Id="R6b20b3cfe73048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7d19adc77c4bbc" /><Relationship Type="http://schemas.openxmlformats.org/officeDocument/2006/relationships/notesMaster" Target="/ppt/notesMasters/notesMaster1.xml" Id="R3a075e03a2824d7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b473fda3dc4bb9" /><Relationship Type="http://schemas.openxmlformats.org/officeDocument/2006/relationships/notesMaster" Target="/ppt/notesMasters/notesMaster1.xml" Id="Refb76124bfab48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d520dbedb034605" /><Relationship Type="http://schemas.openxmlformats.org/officeDocument/2006/relationships/notesMaster" Target="/ppt/notesMasters/notesMaster1.xml" Id="Rd6c2d8bca604422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ba3a911ef048a8" /><Relationship Type="http://schemas.openxmlformats.org/officeDocument/2006/relationships/notesMaster" Target="/ppt/notesMasters/notesMaster1.xml" Id="Rdea37478bb604b4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f50f8f9a5104e4d" /><Relationship Type="http://schemas.openxmlformats.org/officeDocument/2006/relationships/notesMaster" Target="/ppt/notesMasters/notesMaster1.xml" Id="Rebcf076301894ba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04a5ab4ff354748" /><Relationship Type="http://schemas.openxmlformats.org/officeDocument/2006/relationships/notesMaster" Target="/ppt/notesMasters/notesMaster1.xml" Id="Rff7a08dd696b489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a846b64f06c4c1b" /><Relationship Type="http://schemas.openxmlformats.org/officeDocument/2006/relationships/notesMaster" Target="/ppt/notesMasters/notesMaster1.xml" Id="Rd4c67125596c4f3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12a6ffb2b204fd1" /><Relationship Type="http://schemas.openxmlformats.org/officeDocument/2006/relationships/notesMaster" Target="/ppt/notesMasters/notesMaster1.xml" Id="R1d733e0f071d4d2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b83e0303e5e40af" /><Relationship Type="http://schemas.openxmlformats.org/officeDocument/2006/relationships/notesMaster" Target="/ppt/notesMasters/notesMaster1.xml" Id="Rdf3e9fb34364493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33acbb589e54994" /><Relationship Type="http://schemas.openxmlformats.org/officeDocument/2006/relationships/notesMaster" Target="/ppt/notesMasters/notesMaster1.xml" Id="Rcabd2f9ae4fd439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98187d74c464944" /><Relationship Type="http://schemas.openxmlformats.org/officeDocument/2006/relationships/notesMaster" Target="/ppt/notesMasters/notesMaster1.xml" Id="Rff6567c68a084af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207f08c2aaa495c" /><Relationship Type="http://schemas.openxmlformats.org/officeDocument/2006/relationships/notesMaster" Target="/ppt/notesMasters/notesMaster1.xml" Id="Rb1b0446196d94f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663f97c1604e7a" /><Relationship Type="http://schemas.openxmlformats.org/officeDocument/2006/relationships/notesMaster" Target="/ppt/notesMasters/notesMaster1.xml" Id="Re5f595b8efce497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3db5f1fb435440c" /><Relationship Type="http://schemas.openxmlformats.org/officeDocument/2006/relationships/notesMaster" Target="/ppt/notesMasters/notesMaster1.xml" Id="R0281d4fe2b214c0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a45826b1f134c4e" /><Relationship Type="http://schemas.openxmlformats.org/officeDocument/2006/relationships/notesMaster" Target="/ppt/notesMasters/notesMaster1.xml" Id="Rb0379b1d55d3417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ea5b869417a4554" /><Relationship Type="http://schemas.openxmlformats.org/officeDocument/2006/relationships/notesMaster" Target="/ppt/notesMasters/notesMaster1.xml" Id="Re6da7c2399a3478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ec803745ca14923" /><Relationship Type="http://schemas.openxmlformats.org/officeDocument/2006/relationships/notesMaster" Target="/ppt/notesMasters/notesMaster1.xml" Id="R83549f1728854cb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Preparing for Practical Test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the preceding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Civil Engineering and Architecture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Today’s learning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Preparing for Practical Test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Rehearse previously taught modelling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Practise saving the complete test notebook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Connection to the previous lesson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Today’s learning.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Can you name the target, fit only on training records and explain how you would keep the test untouched?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Preparation happens before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Preparation happens before the test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Connection to the previous lesson.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Practise the already taught error calculations and data-splitting rules.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Use separate practice values.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timed session follows the issued test instructions.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Rehearse the offline save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Rehearse the offline save procedure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Preparation happens before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Save your notebook on the prepared lab computer.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 Part B under My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Locate and reopen the complete notebook without internet.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A result needs an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A result needs an explanation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Rehearse the offline save procedure.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Name the target and its unit or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 which data fitted preprocessing and which data evaluated the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high score alone does not establish a useful engineering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Practice before test day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A result needs an explanation.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 the code in this order:</a:t>
            </a:r>
          </a:p>
          <a:p xmlns:a="http://schemas.openxmlformats.org/drawingml/2006/main">
            <a:r>
              <a:t>actual = [4, 8]</a:t>
            </a:r>
          </a:p>
          <a:p xmlns:a="http://schemas.openxmlformats.org/drawingml/2006/main">
            <a:r>
              <a:t>predicted = [5, 6]</a:t>
            </a:r>
          </a:p>
          <a:p xmlns:a="http://schemas.openxmlformats.org/drawingml/2006/main">
            <a:r>
              <a:t>errors = []</a:t>
            </a:r>
          </a:p>
          <a:p xmlns:a="http://schemas.openxmlformats.org/drawingml/2006/main">
            <a:r>
              <a:t>for a, p in zip(actual, predicted):</a:t>
            </a:r>
          </a:p>
          <a:p xmlns:a="http://schemas.openxmlformats.org/drawingml/2006/main">
            <a:r>
              <a:t>    errors.append(abs(a - p))</a:t>
            </a:r>
          </a:p>
          <a:p xmlns:a="http://schemas.openxmlformats.org/drawingml/2006/main">
            <a:r>
              <a:t>print(sum(errors) / len(errors))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for takes the next item. The indented block repeats.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zip pairs items at matching positions in these equal-length lists.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print displays a value below the cell.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Read top to bottom. Run the complete example in the matching practice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Test session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Practice before test day.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00–15 minutes: briefing and file check.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15–135 minutes: individual practical work.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135–160 minutes: typed offline reasoning, with code execution prohibited.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160–180 minutes: save and hand in through invigilated offline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Preparation checkpoint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Test session.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Each learner can save and reopen the complete notebook in the offline setting.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Your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Preparation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Use TEST2’s official brief, interfaces, time allocation, permitted resources and packet requirements.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Follow the test instructions issued by your lecturer.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Your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Write your own explanation in the markdown cell headed `## My written evidence`.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that heading.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 prompts and code comments are excluded from reasoning marks.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Complete every original rubric criterion below, not just the checked functions.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profiling, justified cleaning, question-led charts and your engineering recommendation where required.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raw data.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State units and distinguish correlation from causation.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Charts must be actual labelled figures in the notebook, not claims that charts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Include captions and readable written evidence in the notebook.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Task framing (10.0 total): The ML task is correctly identified, the target named, and regression vs classification correctly chosen and justified.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preparation &amp; leakage control (20.0 total): Cleaning and encoding appropriate.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Split made before any fitting.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Pipeline used.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leakage present - a leak found by the marker caps this criterion at zero.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Modelling protocol (20.0 total): At least two models built and compared under identical conditions.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Baseline included.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Hyperparameters handled sensibly.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Evaluation &amp; metric justification (20.0 total): Correct metrics computed.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Metric choice defended against the cost of error.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Cross-validation reported with a spread, not a single number.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Engineering interpretation &amp; limits (20.0 total): The result is stated in physical or operational units.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Three genuine limitations given.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 clear position on whether it should be deployed.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Code clarity (10.0 total): Runs top to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Readable.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Commented where the intent is not obvious.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Execution requirement for c2: Data-preparation credit requires the published leakage-safe split check to pass.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this check fails, written marks in that criterion are zero; other criteria remain independently scored.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Timing and Part 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 minutes setup, 120 minutes practical, 25 minutes typed offline reasoning with code execution prohibited, 20 minutes collection.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Answer: Why your main cleaning/model choice?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continued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What can your chart/metric not establish?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evidence would change your recommendation?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What further data is required?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Invigilated offline collection is authoritative; Google upload is a later transport step and must not impose an internet requirement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Practical Test 2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Practical Test 2 submission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continued.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Offline invigilated collection is authoritative.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Google upload is a later transport step.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one notebook with Part B under My written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No internet, messaging or AI during the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Before you leave.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PURPOSE</a:t>
            </a:r>
          </a:p>
          <a:p xmlns:a="http://schemas.openxmlformats.org/drawingml/2006/main">
            <a:r>
              <a:t>Revision and submission checklist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CONNECT</a:t>
            </a:r>
          </a:p>
          <a:p xmlns:a="http://schemas.openxmlformats.org/drawingml/2006/main">
            <a:r>
              <a:t>Previous slide: Practical Test 2 submission.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EXPLAIN</a:t>
            </a:r>
          </a:p>
          <a:p xmlns:a="http://schemas.openxmlformats.org/drawingml/2006/main">
            <a:r>
              <a:t>You can explain training-only preprocessing and locate your saved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Save your work and check the required submission files.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LECTURER CUE</a:t>
            </a:r>
          </a:p>
          <a:p xmlns:a="http://schemas.openxmlformats.org/drawingml/2006/main">
            <a:r>
              <a:t>Read the specific public requirement shown on this slide. Explain the input, output and evidence before independent work; do not work the assessed answer for the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TEACHING MODE</a:t>
            </a:r>
          </a:p>
          <a:p xmlns:a="http://schemas.openxmlformats.org/drawingml/2006/main">
            <a:r>
              <a:t>Demonstrate first. Read each new symbol aloud, trace the values and compare the shown output. Learners repeat worked examples individually after class.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NEXT</a:t>
            </a:r>
          </a:p>
          <a:p xmlns:a="http://schemas.openxmlformats.org/drawingml/2006/main">
            <a:r>
              <a:t>independent revision and the issued task.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REFERENCES</a:t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16546d055341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f4d1b8cc9ba43f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c108ccb0ab4a6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7180ef60cc4b6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03c9ee0ff141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ed43edfc2e4b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7489A11-EE04-4C2D-9567-8FEA9E60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2098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2462ED6-14B5-4022-B826-AFBC8B4A63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590800"/>
            <a:ext cx="9753356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326698A-AC56-4A91-9F20-F3102AAAA7A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754" y="3771900"/>
            <a:ext cx="8534187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DC1AAE3C-08B4-4290-9CBD-A6D0FC76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055" y="24765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8CD6348-18A2-4EB1-B5B2-8C26CF6D39B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170" y="2857500"/>
            <a:ext cx="9753356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47CA64FF-BED6-4F26-A566-BAEA7E39D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1DD8FFA1-61BC-4B4C-8D1B-72D07FA3CB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77A6AE9-51ED-4113-8B55-80E1F6D8929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10820129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5262A570-3410-4236-8151-8649197FF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968D496-9CF9-42FB-975E-7012A5D0BE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8308A9F-C067-4EB3-A804-8DD43DC45AD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8FBC93C-68A3-4BBF-8377-E851DDEB654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6838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85F5FC1-6593-44A6-9624-9199C0A7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83" y="1524000"/>
            <a:ext cx="60958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86FCAD8-12CE-4DF3-BEE1-662C3DB0FB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783" y="533400"/>
            <a:ext cx="1082012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D6795292-876E-4165-B165-CE2BAF053F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783" y="1905000"/>
            <a:ext cx="5029074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59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387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17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297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764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556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349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141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6933" indent="-228594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0da5cfbeb3462a" /><Relationship Type="http://schemas.openxmlformats.org/officeDocument/2006/relationships/slideLayout" Target="/ppt/slideLayouts/slideLayout1.xml" Id="Ref27c657b5f14fa8" /><Relationship Type="http://schemas.openxmlformats.org/officeDocument/2006/relationships/slideLayout" Target="/ppt/slideLayouts/slideLayout2.xml" Id="R047d23f63c9d4944" /><Relationship Type="http://schemas.openxmlformats.org/officeDocument/2006/relationships/slideLayout" Target="/ppt/slideLayouts/slideLayout3.xml" Id="R4c2213d8d01d4fc4" /><Relationship Type="http://schemas.openxmlformats.org/officeDocument/2006/relationships/slideLayout" Target="/ppt/slideLayouts/slideLayout4.xml" Id="R4ed392958ae5413b" /><Relationship Type="http://schemas.openxmlformats.org/officeDocument/2006/relationships/slideLayout" Target="/ppt/slideLayouts/slideLayout5.xml" Id="R3bacaf94844d4b15" /><Relationship Type="http://schemas.openxmlformats.org/officeDocument/2006/relationships/slideLayout" Target="/ppt/slideLayouts/slideLayout6.xml" Id="R220519eb74ba4c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27c657b5f14fa8"/>
    <p:sldLayoutId xmlns:r="http://schemas.openxmlformats.org/officeDocument/2006/relationships" id="2147483650" r:id="R047d23f63c9d4944"/>
    <p:sldLayoutId xmlns:r="http://schemas.openxmlformats.org/officeDocument/2006/relationships" id="2147483651" r:id="R4c2213d8d01d4fc4"/>
    <p:sldLayoutId xmlns:r="http://schemas.openxmlformats.org/officeDocument/2006/relationships" id="2147483652" r:id="R4ed392958ae5413b"/>
    <p:sldLayoutId xmlns:r="http://schemas.openxmlformats.org/officeDocument/2006/relationships" id="2147483653" r:id="R3bacaf94844d4b15"/>
    <p:sldLayoutId xmlns:r="http://schemas.openxmlformats.org/officeDocument/2006/relationships" id="2147483654" r:id="R220519eb74ba4c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e660aa34814749" /><Relationship Type="http://schemas.openxmlformats.org/officeDocument/2006/relationships/image" Target="/ppt/media/image.png" Id="Rb59e2904b5344f3c" /><Relationship Type="http://schemas.openxmlformats.org/officeDocument/2006/relationships/notesSlide" Target="/ppt/notesSlides/notesSlide1.xml" Id="Re4a809a356d7464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2a2399eeb64c37" /><Relationship Type="http://schemas.openxmlformats.org/officeDocument/2006/relationships/notesSlide" Target="/ppt/notesSlides/notesSlide2.xml" Id="R2f3e9997f44244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6e0c3f4fd034ed8" /><Relationship Type="http://schemas.openxmlformats.org/officeDocument/2006/relationships/notesSlide" Target="/ppt/notesSlides/notesSlide3.xml" Id="R97bdc0575076411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2569d303c584b81" /><Relationship Type="http://schemas.openxmlformats.org/officeDocument/2006/relationships/notesSlide" Target="/ppt/notesSlides/notesSlide4.xml" Id="Rb5d2605096ef446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77f2cc571d47bb" /><Relationship Type="http://schemas.openxmlformats.org/officeDocument/2006/relationships/notesSlide" Target="/ppt/notesSlides/notesSlide5.xml" Id="Rc8d5698c36a14f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c31ea86514248" /><Relationship Type="http://schemas.openxmlformats.org/officeDocument/2006/relationships/notesSlide" Target="/ppt/notesSlides/notesSlide6.xml" Id="R2d92d0dfacc044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a4dcba00ce34bfc" /><Relationship Type="http://schemas.openxmlformats.org/officeDocument/2006/relationships/notesSlide" Target="/ppt/notesSlides/notesSlide7.xml" Id="R9917033fa768475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33303ebe4a44c5" /><Relationship Type="http://schemas.openxmlformats.org/officeDocument/2006/relationships/notesSlide" Target="/ppt/notesSlides/notesSlide8.xml" Id="R6ac5c5c3ae7644a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5ef225589f4a00" /><Relationship Type="http://schemas.openxmlformats.org/officeDocument/2006/relationships/notesSlide" Target="/ppt/notesSlides/notesSlide9.xml" Id="Rf9d932982931470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a07831b557412d" /><Relationship Type="http://schemas.openxmlformats.org/officeDocument/2006/relationships/notesSlide" Target="/ppt/notesSlides/notesSlide10.xml" Id="R23a4a622000047c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e5441e96fb48b9" /><Relationship Type="http://schemas.openxmlformats.org/officeDocument/2006/relationships/notesSlide" Target="/ppt/notesSlides/notesSlide11.xml" Id="R88b50bc790d34e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85108d37c842b5" /><Relationship Type="http://schemas.openxmlformats.org/officeDocument/2006/relationships/notesSlide" Target="/ppt/notesSlides/notesSlide12.xml" Id="R2843b3d4f5bf45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aefbe1651b2446b" /><Relationship Type="http://schemas.openxmlformats.org/officeDocument/2006/relationships/notesSlide" Target="/ppt/notesSlides/notesSlide13.xml" Id="Rad7580d79acf4d9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e5f67514ab469c" /><Relationship Type="http://schemas.openxmlformats.org/officeDocument/2006/relationships/notesSlide" Target="/ppt/notesSlides/notesSlide14.xml" Id="R38e79bcbc6c6475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7a04881ea64b7f" /><Relationship Type="http://schemas.openxmlformats.org/officeDocument/2006/relationships/notesSlide" Target="/ppt/notesSlides/notesSlide15.xml" Id="R1b0919af7520499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d05b9ae003f4c67" /><Relationship Type="http://schemas.openxmlformats.org/officeDocument/2006/relationships/notesSlide" Target="/ppt/notesSlides/notesSlide16.xml" Id="R7afea22210e0432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446e71b3cc49c0" /><Relationship Type="http://schemas.openxmlformats.org/officeDocument/2006/relationships/notesSlide" Target="/ppt/notesSlides/notesSlide17.xml" Id="R013e577aab604f1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141b9ca13c420b" /><Relationship Type="http://schemas.openxmlformats.org/officeDocument/2006/relationships/notesSlide" Target="/ppt/notesSlides/notesSlide18.xml" Id="R01ebdf813e354c68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ed361c85ea4881" /><Relationship Type="http://schemas.openxmlformats.org/officeDocument/2006/relationships/notesSlide" Target="/ppt/notesSlides/notesSlide19.xml" Id="Ra479b421c16b4e6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23c0b6711ee4868" /><Relationship Type="http://schemas.openxmlformats.org/officeDocument/2006/relationships/hyperlink" Target="https://docs.google.com/forms/d/e/1FAIpQLSdvVxHeeW8LiNgjsQeqqFnAYSBPBxJjBkBuAKSj1gAQ4gVHkQ/viewform" TargetMode="External" Id="R9308fbaef3924a7b" /><Relationship Type="http://schemas.openxmlformats.org/officeDocument/2006/relationships/notesSlide" Target="/ppt/notesSlides/notesSlide20.xml" Id="R82abf9623634420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32f016f8a3b422c" /><Relationship Type="http://schemas.openxmlformats.org/officeDocument/2006/relationships/notesSlide" Target="/ppt/notesSlides/notesSlide21.xml" Id="Rf4c46218ea1f47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9e2904b5344f3c"/>
          <a:stretch xmlns:a="http://schemas.openxmlformats.org/drawingml/2006/main"/>
        </p:blipFill>
        <p:spPr>
          <a:xfrm xmlns:a="http://schemas.openxmlformats.org/drawingml/2006/main">
            <a:off x="3087" y="0"/>
            <a:ext cx="12185522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080934-B324-438D-8C44-29CE702F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381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3C01C9-B97B-49F6-A180-BADFB16C8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858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CML3112   WEEK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7A81E-8395-4447-8166-12CC8537F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4619625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8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8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Preparing for Practical Test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4B5075-43FE-4EDA-A005-9A2530539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48125"/>
            <a:ext cx="461962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Civil Engineering and Architecture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7BD897-DFAE-4C3F-A1BF-EF3F9B32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467350"/>
            <a:ext cx="46672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Tuesday 08 December 2026</a:t>
            </a:r>
          </a:p>
          <a:p xmlns:a="http://schemas.openxmlformats.org/drawingml/2006/main">
            <a:pPr>
              <a:defRPr sz="1725" b="0">
                <a:solidFill>
                  <a:srgbClr val="D8E3EC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D8E3EC"/>
                </a:solidFill>
                <a:latin typeface="Calibri"/>
                <a:ea typeface="Calibri"/>
                <a:cs typeface="Calibri"/>
              </a:rPr>
              <a:t>Tuesday 11:00–14:00, Room 106</a:t>
            </a:r>
          </a:p>
        </p:txBody>
      </p:sp>
    </p:spTree>
    <p:extLst>
      <p:ext uri="{BB962C8B-B14F-4D97-AF65-F5344CB8AC3E}">
        <p14:creationId xmlns:p14="http://schemas.microsoft.com/office/powerpoint/2010/main" val="10765794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3D238A-7B81-4B41-8FD3-396E4445A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58F8B4-8DA2-440F-B688-D6FD6FB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TODAY’S DESTINATION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30BE8E-91C5-4942-9311-C9672CC7C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Today’s learning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CEE364-BE4A-49BB-8C7A-BF77551B6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5238750" cy="419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A212BA-722B-4FE3-9073-E12F8EAC8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000250"/>
            <a:ext cx="4743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WE WILL 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C799C0-7926-4F37-A2F0-093FCDE0C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" y="2590800"/>
            <a:ext cx="47434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Rehearse previously taught modelling decisions.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Practise saving the complete test notebook offline.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6FB1D3-DBCE-41FC-AA59-7390D8E8A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000250"/>
            <a:ext cx="514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YOU WILL SHOW 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D97610-F53E-4C7A-9EC5-E5B8B0DD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509587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You can explain training-only preprocessing and locate your saved evidence.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FFBB41-7E11-4A62-9437-390B68EE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2</a:t>
            </a:r>
          </a:p>
        </p:txBody>
      </p:sp>
    </p:spTree>
    <p:extLst>
      <p:ext uri="{BB962C8B-B14F-4D97-AF65-F5344CB8AC3E}">
        <p14:creationId xmlns:p14="http://schemas.microsoft.com/office/powerpoint/2010/main" val="19962451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9C1B2-698E-43E8-9804-ECBC173F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7AF573-34BF-402E-BA83-E804FF7BE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410516-B05D-46F2-8D5A-C59AFC628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Connection to the previous lesson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D4FFF8-CCCB-4A76-82AA-086A627FD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11010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48D49C-CFF1-43ED-8CB0-7098CE91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34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Can you name the target, fit only on training records and explain how you would keep the test untouched?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83FC0C-154C-4D8E-A620-022C8980B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3</a:t>
            </a:r>
          </a:p>
        </p:txBody>
      </p:sp>
    </p:spTree>
    <p:extLst>
      <p:ext uri="{BB962C8B-B14F-4D97-AF65-F5344CB8AC3E}">
        <p14:creationId xmlns:p14="http://schemas.microsoft.com/office/powerpoint/2010/main" val="12252090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18EDEE-A8DA-4E9D-BED7-FC73B28CF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7D3404-94D6-41E2-9370-B70E7A43B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AEA81E-97A5-461D-95F5-343728F8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Preparation happens before the test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6C024-56AA-4372-A53F-40B61EC95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FD0220-F628-4D24-9A03-9C140FC2C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Practise the already taught error calculations and data-splitting rules.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54508F-6C3E-4126-B787-7A993C5C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86D73F-8925-4069-9E47-137C9166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separate practice values.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172CD3-8793-428E-B725-77D10A4B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16B093-CF7C-4A6F-B30B-AA5ADFD0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The timed session follows the issued test instructions.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A1AC8-4C3F-4FD9-BC8B-836445D2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4</a:t>
            </a:r>
          </a:p>
        </p:txBody>
      </p:sp>
    </p:spTree>
    <p:extLst>
      <p:ext uri="{BB962C8B-B14F-4D97-AF65-F5344CB8AC3E}">
        <p14:creationId xmlns:p14="http://schemas.microsoft.com/office/powerpoint/2010/main" val="21282851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EE6A2C-9E08-4BCA-AAB5-6AD5C735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C71255-3760-4908-BD90-13668E25F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B28A78-9E1A-4A60-8DE5-48A32DE1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Rehearse the offline save procedure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4AB5A8-CBA7-4AA3-9E46-1B3F1F90E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C03F88-8278-469C-A9C4-994CB323E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Save your notebook on the prepared lab computer.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7352A9-AAFC-4729-A261-BA5D67CD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915EA2-C887-4F2F-9AE9-C8A89736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Type Part B under My written evidence in the notebook.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63426E-47AB-4BFA-9EC7-2F84D2B6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BC05D5-0B9A-4844-A2E2-D41328FB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Locate and reopen the complete notebook without internet.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B69A9E-93BE-4B87-AB23-E3C387EB2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5</a:t>
            </a:r>
          </a:p>
        </p:txBody>
      </p:sp>
    </p:spTree>
    <p:extLst>
      <p:ext uri="{BB962C8B-B14F-4D97-AF65-F5344CB8AC3E}">
        <p14:creationId xmlns:p14="http://schemas.microsoft.com/office/powerpoint/2010/main" val="18908112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A82A67-D69D-4FB0-BA31-2849E0FED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DE2B4-3081-4E1F-AF9E-A0012640E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EC502B-72A9-42C2-94C3-C87377A30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result needs an explanation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73D9D-BF99-4AAB-AA7B-9F476147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81423D-A75A-4923-820E-0C863A2A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Name the target and its unit or class.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8D9269-94A4-4B0D-9469-57F8F01E6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99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11D24F-1501-47A4-881E-7313FDB4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0992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Explain which data fitted preprocessing and which data evaluated the model.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FF061F-D016-47D3-9381-ACA5DDC6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386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D5D775-2E8B-496F-B4CD-34864EBC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638675"/>
            <a:ext cx="10096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 high score alone does not establish a useful engineering model.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F6F73-20CC-46B3-AD0B-79753E2AF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6</a:t>
            </a:r>
          </a:p>
        </p:txBody>
      </p:sp>
    </p:spTree>
    <p:extLst>
      <p:ext uri="{BB962C8B-B14F-4D97-AF65-F5344CB8AC3E}">
        <p14:creationId xmlns:p14="http://schemas.microsoft.com/office/powerpoint/2010/main" val="4776024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902885-0707-49BD-B555-BCA0878D5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872139-629C-4A3A-8EBE-FAA76C26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WORKED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C73877-07F0-45F5-9BF1-768E25FFB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Practice before test 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0D2FB9-8792-4B0F-8CEE-9B942A57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7296150" cy="3409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63EEA9-E135-4635-8EC6-C63B1F7E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6991350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actual = [4, 8]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predicted = [5, 6]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errors = []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FB080"/>
                </a:solidFill>
                <a:latin typeface="Courier New"/>
                <a:ea typeface="Courier New"/>
                <a:cs typeface="Courier New"/>
              </a:rPr>
              <a:t>for</a:t>
            </a: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 a, p in zip(actual, predicted):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    errors.append(abs(a - p))</a:t>
            </a:r>
          </a:p>
          <a:p xmlns:a="http://schemas.openxmlformats.org/drawingml/2006/main">
            <a:pPr>
              <a:def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defRPr>
            </a:pPr>
            <a:r>
              <a:rPr sz="2175" b="0">
                <a:solidFill>
                  <a:srgbClr val="F4F7FA"/>
                </a:solidFill>
                <a:latin typeface="Courier New"/>
                <a:ea typeface="Courier New"/>
                <a:cs typeface="Courier New"/>
              </a:rPr>
              <a:t>print(sum(errors) / len(errors))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6BC7C-CCFD-46BA-BC70-0D596DBA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145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2E7D6F"/>
                </a:solidFill>
                <a:latin typeface="Calibri"/>
                <a:ea typeface="Calibri"/>
                <a:cs typeface="Calibri"/>
              </a:rPr>
              <a:t>HOW TO READ 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37D6B2-EE3A-4B09-ADCD-2EC89F430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for takes the next item. The indented block repeats.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01E730-67B4-4F52-9EA7-B0AB4E29E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zip pairs items at matching positions in these equal-length lists.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8B8DD3-B3A0-4574-8B93-E4137A98B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43400"/>
            <a:ext cx="33337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print displays a value below the cell.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2716E-4E0E-43C9-AEE0-1913C0A14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293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Read top to bottom. Run the complete example in the matching practice notebook.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299770-E7A5-41DC-992C-841C83FB2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7</a:t>
            </a:r>
          </a:p>
        </p:txBody>
      </p:sp>
    </p:spTree>
    <p:extLst>
      <p:ext uri="{BB962C8B-B14F-4D97-AF65-F5344CB8AC3E}">
        <p14:creationId xmlns:p14="http://schemas.microsoft.com/office/powerpoint/2010/main" val="72373159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B09132-FDC6-464D-B5D5-73F6CDFA9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2B5C5-0DFD-4A2D-8E07-B8C719DE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D503BF-291C-4601-A341-3FCFD98DF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Test session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B7FD5A-4A38-4F32-8241-6BEB036DC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2D9AF7-F6BA-456E-81B1-253C2D65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00–15 minutes: briefing and file check.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8DB4E-9402-47DD-A634-6CD771B8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0356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30D389-66C9-4276-A71F-F3D41A423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0356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15–135 minutes: individual practical work.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096FAE-5FA3-45EE-ABC1-D9C5EBA24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95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26231B-14C6-47A8-AB19-B9F5420FE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19538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135–160 minutes: typed offline reasoning, with code execution prohibited.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44D7E3-A265-43B4-B78B-F356E551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88719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FE6A36-5759-4B71-8132-BF43863A5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88719"/>
            <a:ext cx="10096500" cy="992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160–180 minutes: save and hand in through invigilated offline collection.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CFE59-9CEC-44B9-81D8-7F7ABFDB6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8</a:t>
            </a:r>
          </a:p>
        </p:txBody>
      </p:sp>
    </p:spTree>
    <p:extLst>
      <p:ext uri="{BB962C8B-B14F-4D97-AF65-F5344CB8AC3E}">
        <p14:creationId xmlns:p14="http://schemas.microsoft.com/office/powerpoint/2010/main" val="84995354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2CA113-12DE-4265-A96F-6A863245A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6D02C-788B-4D60-B5C1-F86A14B9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10D72-283F-4CAE-AD3D-23760BADE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Preparation checkpoint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1497D9-26B3-4E37-B4E0-52CAAE63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52600"/>
            <a:ext cx="11010900" cy="417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3F6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A81E48-073D-4A70-A0C9-CE3AEBA1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1033462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Each learner can save and reopen the complete notebook in the offline setting.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3405AB-BEE5-47B2-8B0A-CB9C662DF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9</a:t>
            </a:r>
          </a:p>
        </p:txBody>
      </p:sp>
    </p:spTree>
    <p:extLst>
      <p:ext uri="{BB962C8B-B14F-4D97-AF65-F5344CB8AC3E}">
        <p14:creationId xmlns:p14="http://schemas.microsoft.com/office/powerpoint/2010/main" val="18546452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80F357-830C-473B-A3A3-8C490F79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6941B9-A95B-41EF-9E5D-9CB59C72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WHAT TO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F3A2B-FB6C-4A9A-AD55-37C9DE54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Your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3B6F3-F098-486C-87A7-86BED7213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252070-1F2F-4977-AC11-D25F565D3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2062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Use TEST2’s official brief, interfaces, time allocation, permitted resources and packet requirements.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695CCC-5A48-4420-8331-51C3101C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195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9497C-DF65-4109-81A5-EE773A4F2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19538"/>
            <a:ext cx="10096500" cy="20621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Follow the test instructions issued by your lecturer.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6DBA31-9428-4798-8E2B-C89A99F8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10</a:t>
            </a:r>
          </a:p>
        </p:txBody>
      </p:sp>
    </p:spTree>
    <p:extLst>
      <p:ext uri="{BB962C8B-B14F-4D97-AF65-F5344CB8AC3E}">
        <p14:creationId xmlns:p14="http://schemas.microsoft.com/office/powerpoint/2010/main" val="135977141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1EB413-F1C0-487C-98DE-33BF76BF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8C6A8-FA94-4A2A-85F4-F077F8503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449E64-0145-4E96-BD1C-0F54CEDA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8AF4A-7F53-448B-8E5A-4CC553E43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E414D2-9ADC-435F-9A89-5AC21EE9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Write your own explanation in the markdown cell headed `## My written evidence`.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2BDCE0-AE2C-43CE-906A-9B7719FE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2AAB43-1A3D-4508-93D5-054E38C4D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that heading.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C6707-8A06-46BE-98CA-E86898EA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DDA879-105D-43E1-A55C-CE548EEC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Task prompts and code comments are excluded from reasoning marks.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5D906B-6A2B-40E5-A55B-F5C27EF40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CA1487-1524-4B2F-B9DC-F87C9E27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Complete every original rubric criterion below, not just the checked functions.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FD8D8-F3D2-4238-B63E-E128ED4D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11</a:t>
            </a:r>
          </a:p>
        </p:txBody>
      </p:sp>
    </p:spTree>
    <p:extLst>
      <p:ext uri="{BB962C8B-B14F-4D97-AF65-F5344CB8AC3E}">
        <p14:creationId xmlns:p14="http://schemas.microsoft.com/office/powerpoint/2010/main" val="1965906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D6C68F-7E06-4976-96A7-33E9D6CC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148B50-0E00-4041-AC62-7A0AD787A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DA397E-8AD5-434E-88EA-2BF5A9C9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7E5E5C-B0DB-4485-AB6D-952A4451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8AA364-6C24-422F-A6D6-4662DB1D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profiling, justified cleaning, question-led charts and your engineering recommendation where required.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3B34CC-D73F-49B9-A50D-505E5FCD6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77C841-7908-466D-9B03-16F4CF15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Keep raw data.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9589FF-F69F-4A58-8B63-F3773E4F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D1450B-FA66-4BEE-B246-9A26CF2E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State units and distinguish correlation from causation.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A41A59-ABDB-4904-8D72-03F24CD38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4160E8-FD48-45ED-9A7C-B6109513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Charts must be actual labelled figures in the notebook, not claims that charts exist.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385513-E2EC-4A78-B315-C4ADD2E04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12</a:t>
            </a:r>
          </a:p>
        </p:txBody>
      </p:sp>
    </p:spTree>
    <p:extLst>
      <p:ext uri="{BB962C8B-B14F-4D97-AF65-F5344CB8AC3E}">
        <p14:creationId xmlns:p14="http://schemas.microsoft.com/office/powerpoint/2010/main" val="190818414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72B14F-757D-4AC3-9482-1CA67E84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8ACB2D-C38C-47DD-A0BF-9BA7DA214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7CE6FE-3673-4435-A251-6B922C2F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7CE9CD-FF27-446E-9B60-72B8C3ED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45F690-E919-46B5-8C41-674E4E46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Include captions and readable written evidence in the notebook.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5F6BA-CF59-40F2-81C9-57347D57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924AF8-AA2F-4204-BC8A-6B536980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Task framing (10.0 total): The ML task is correctly identified, the target named, and regression vs classification correctly chosen and justified.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876A77-4C65-4202-A210-37B206B91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A2B07E-3772-434B-B507-31C18073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Data preparation &amp; leakage control (20.0 total): Cleaning and encoding appropriate.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7667AD-75AE-40ED-A82A-E4E1C49D8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43C3A-BC8D-46AA-A3F3-81B125C0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Split made before any fitting.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8B3F2F-8EB7-48C2-92C6-E585AF75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13</a:t>
            </a:r>
          </a:p>
        </p:txBody>
      </p:sp>
    </p:spTree>
    <p:extLst>
      <p:ext uri="{BB962C8B-B14F-4D97-AF65-F5344CB8AC3E}">
        <p14:creationId xmlns:p14="http://schemas.microsoft.com/office/powerpoint/2010/main" val="116623244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17A180-4E30-4362-B8DA-A5AC5279F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4A2B1B-E09E-46A1-A0CD-1314037E2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E429A-E61C-4D3B-909B-2ECB12EE0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E68DDE-2606-4BAE-84C4-6FFC144CC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B74CAE-17C7-42B7-893D-B752E014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Pipeline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D89C7-E433-41D2-BC53-2D83EB1D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D1B4B2-36C3-4E63-BD32-312BD6B5D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leakage present - a leak found by the marker caps this criterion at zero.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4B44AF-0E38-475D-B15C-5844AE19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0969BE-8B2B-4A08-89FE-B97A6077E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Modelling protocol (20.0 total): At least two models built and compared under identical conditions.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973D7A-11E5-4BFE-9914-840A49E74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A61095-1871-4E67-87E8-760B5AA18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Baseline included.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EA88640-7171-4059-B7DD-4295EE658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14</a:t>
            </a:r>
          </a:p>
        </p:txBody>
      </p:sp>
    </p:spTree>
    <p:extLst>
      <p:ext uri="{BB962C8B-B14F-4D97-AF65-F5344CB8AC3E}">
        <p14:creationId xmlns:p14="http://schemas.microsoft.com/office/powerpoint/2010/main" val="191841319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1887F4-91A4-4ACD-87CB-AEE9205CC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EB171-95B4-41F6-80D6-BBD69AE31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72F449-FC56-4444-B93F-3E57FE90F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AB9621-D234-4E57-BEE9-8FCADFC9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8E9793-A56E-4BE3-B005-88D6E0F5E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Hyperparameters handled sensibly.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506C2-03B0-4B28-BB1C-A1F39FF9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A498D2-F1C5-442C-A9AA-4E243F67A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Evaluation &amp; metric justification (20.0 total): Correct metrics computed.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22A868-BBE0-4885-A680-B13499072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E96D4B-0A4B-4DE2-8958-ABE1D0DA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Metric choice defended against the cost of error.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484BFD-AD2E-4B73-8D85-B36F2D24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6AB8E8-8380-4082-905A-15426F78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Cross-validation reported with a spread, not a single number.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8F2856-CD61-45BC-BA3C-28CF8404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15</a:t>
            </a:r>
          </a:p>
        </p:txBody>
      </p:sp>
    </p:spTree>
    <p:extLst>
      <p:ext uri="{BB962C8B-B14F-4D97-AF65-F5344CB8AC3E}">
        <p14:creationId xmlns:p14="http://schemas.microsoft.com/office/powerpoint/2010/main" val="1994711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611F22-22DE-4493-9576-17E73DD7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70ED2B-55FB-4670-99BD-3817F550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568DFC-D337-4FDD-8EBF-06461C37D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2B333-819F-4E22-88A9-E8BB11B39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5FADCF-D079-498F-B9F3-9A502BC00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Engineering interpretation &amp; limits (20.0 total): The result is stated in physical or operational units.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CF3824-7910-46D6-B4E9-B26B0E5B0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8E45A-A51F-46A1-B33F-4DC31048B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Three genuine limitations given.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4C6B1-0972-4A32-B2A0-9347868A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68F5C-FC59-4021-83BB-59AE996C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 clear position on whether it should be deployed.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18D99B-5F66-4342-B755-B79765D4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88E15-B3E3-448C-9094-4FD9702D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Code clarity (10.0 total): Runs top to bottom.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26C68-A66E-4C40-8223-F4D00E41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16</a:t>
            </a:r>
          </a:p>
        </p:txBody>
      </p:sp>
    </p:spTree>
    <p:extLst>
      <p:ext uri="{BB962C8B-B14F-4D97-AF65-F5344CB8AC3E}">
        <p14:creationId xmlns:p14="http://schemas.microsoft.com/office/powerpoint/2010/main" val="206996148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AC62A7-E97A-4294-B2C5-EC9681E7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D16D00-1BBE-4234-A601-07884AEF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E6B2D7-E116-40B3-89F0-279B660E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F06CA9-EDC1-4CD1-BB94-8ABE061B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36CC73-ADFA-419D-B704-D6EA9FB43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Readable.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02D132-E8F3-4443-95B3-FE95D57E4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311D66-243D-430B-89A6-700EC8050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Commented where the intent is not obvious.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B5DA14-EC77-4D8F-B750-1EE3F440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350F97-6A4F-4DA3-8A74-6E0DDABC5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Execution requirement for c2: Data-preparation credit requires the published leakage-safe split check to pass.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5F45A72-5417-4640-ABD0-61540FE25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CF75D-D9C0-4492-9FE6-EB40DFBB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If this check fails, written marks in that criterion are zero; other criteria remain independently scored.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0C0AC4-75B7-4563-825E-69F1F5C3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17</a:t>
            </a:r>
          </a:p>
        </p:txBody>
      </p:sp>
    </p:spTree>
    <p:extLst>
      <p:ext uri="{BB962C8B-B14F-4D97-AF65-F5344CB8AC3E}">
        <p14:creationId xmlns:p14="http://schemas.microsoft.com/office/powerpoint/2010/main" val="2633062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99DE1-49C3-4E61-9580-552F4EBF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B243FA-B0CE-4868-A252-1AC96773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00AAB6-1227-40A0-AE2B-83DD75F3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E52D3-5226-44A1-95E6-AC72F2B7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95CB1C-2489-463F-9199-2FD28A13A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Timing and Part 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5760F8-B60D-4561-B343-C1AF1F41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EB7C61-CD5E-42D3-BAA5-B0AEC47A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15 minutes setup, 120 minutes practical, 25 minutes typed offline reasoning with code execution prohibited, 20 minutes collection.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A42F58-6750-4E24-BA4B-6DBDF929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F3EA4B-9D95-4223-847E-DDF197B16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E50482-C1AA-4B80-A8B7-3D2A06FAC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1AA415-FF96-4197-8348-C77DD9D73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Answer: Why your main cleaning/model choice?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05CE5B-7FAC-4E74-8C50-16B346B8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18</a:t>
            </a:r>
          </a:p>
        </p:txBody>
      </p:sp>
    </p:spTree>
    <p:extLst>
      <p:ext uri="{BB962C8B-B14F-4D97-AF65-F5344CB8AC3E}">
        <p14:creationId xmlns:p14="http://schemas.microsoft.com/office/powerpoint/2010/main" val="212366107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3F249B-4906-4C7F-A7F0-3D7B640A8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2E4F9F-4D5B-4AD0-B380-0537EB20F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ONE IDEA AT A TIME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43471-0AC3-445B-AE56-DA1ED9B33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continued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85F39-CB30-45E0-99D1-E1CC6A5FD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8117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497122-9E2F-452B-A472-13C8946E5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81175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can your chart/metric not establish?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12BBB-F94D-4620-B5BD-0B451A4F9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2738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F86278-7D72-456B-BF8E-63A775B6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852738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evidence would change your recommendation?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6DFED5-B807-4A3E-AD30-88A6E499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24300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AA9F86-9800-4A71-A19A-EB59C382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924300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What further data is required?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07C1BF-727F-4C68-BC93-A7D4B131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958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D8396F-0D50-4A35-9A91-FC93D1B1C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95863"/>
            <a:ext cx="10096500" cy="995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Invigilated offline collection is authoritative; Google upload is a later transport step and must not impose an internet requirement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F76BB1-1B93-4055-A4F5-3D9BFA76A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19</a:t>
            </a:r>
          </a:p>
        </p:txBody>
      </p:sp>
    </p:spTree>
    <p:extLst>
      <p:ext uri="{BB962C8B-B14F-4D97-AF65-F5344CB8AC3E}">
        <p14:creationId xmlns:p14="http://schemas.microsoft.com/office/powerpoint/2010/main" val="176609105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7C519E-9486-46DD-B574-95E8308E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C3144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AC58CB-E95F-47DA-AC3A-5A44030ED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ASSIGNMENT SUBMISSION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D99271-4022-4582-9CA5-771A897A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Practical Test 2 submission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639463-5EA1-46C0-B4F8-78E9BE5D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24025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BCAD4B-EA17-444B-9B22-EE5A466B2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1724025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Offline invigilated collection is authoritative.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6793DC-9BA9-41C4-AEB2-7A2233185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21744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811EFF-A7F4-4B8E-B55E-6738EC37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2521744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Google upload is a later transport step.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74C2EF-C8CC-4F54-9E42-AF64FD75C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319463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321286-E34E-4E6D-89F5-3BDD39528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319463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Save one notebook with Part B under My written evidence.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DBFCC-5F8D-4647-A2DB-D4DB9EEC9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117181"/>
            <a:ext cx="6191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7747B0-1EAD-44EC-8CE1-AA085579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117181"/>
            <a:ext cx="10096500" cy="7215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C3144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C3144"/>
                </a:solidFill>
                <a:latin typeface="Calibri"/>
                <a:ea typeface="Calibri"/>
                <a:cs typeface="Calibri"/>
              </a:rPr>
              <a:t>No internet, messaging or AI during the test.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5E3300-CB13-4F6E-A925-27FFE31D5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143500"/>
            <a:ext cx="1101090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1EE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544D52-68D8-49F3-B06B-0D6997F3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67325"/>
            <a:ext cx="1057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E7D6F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2E7D6F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308fbaef3924a7b"/>
              </a:rPr>
              <a:t>Open TEST2 assignment form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6FA8B4-B6B1-4643-922F-3BCC2A0B6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7217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https://docs.google.com/forms/d/e/1FAIpQLSdvVxHeeW8LiNgjsQeqqFnAYSBPBxJjBkBuAKSj1gAQ4gVHkQ/viewform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5513C7-C83D-44E4-BC43-AE625F06F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6B7A8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6B7A8A"/>
                </a:solidFill>
                <a:latin typeface="Calibri"/>
                <a:ea typeface="Calibri"/>
                <a:cs typeface="Calibri"/>
              </a:rPr>
              <a:t>CML3112   Week 14   20</a:t>
            </a:r>
          </a:p>
        </p:txBody>
      </p:sp>
    </p:spTree>
    <p:extLst>
      <p:ext uri="{BB962C8B-B14F-4D97-AF65-F5344CB8AC3E}">
        <p14:creationId xmlns:p14="http://schemas.microsoft.com/office/powerpoint/2010/main" val="131504273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1C314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08445-F976-424F-9766-89754AC6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09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INDIVIDUAL EXIT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D6DC44-B656-4BA0-8B20-D5833A5A5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23875"/>
            <a:ext cx="1104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Revision and submission checklist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87E24-16D5-41DD-8782-7A4DBD752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6192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E4572E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E4572E"/>
                </a:solidFill>
                <a:latin typeface="Calibri"/>
                <a:ea typeface="Calibri"/>
                <a:cs typeface="Calibri"/>
              </a:rPr>
              <a:t>EXPLAIN 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3797E9-1CAC-422F-87C8-3AED53FE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95525"/>
            <a:ext cx="10810875" cy="3095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You can explain training-only preprocessing and locate your saved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8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Save your work and check the required submission files.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D8CD31-F433-40BA-BF98-FA72B185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91200"/>
            <a:ext cx="1081087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Point to your evidence. Save your work.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151FB-EA9F-490C-A234-1CF8D6A69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524625"/>
            <a:ext cx="1081087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BBCDD9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BBCDD9"/>
                </a:solidFill>
                <a:latin typeface="Calibri"/>
                <a:ea typeface="Calibri"/>
                <a:cs typeface="Calibri"/>
              </a:rPr>
              <a:t>CML3112   Week 14   21</a:t>
            </a:r>
          </a:p>
        </p:txBody>
      </p:sp>
    </p:spTree>
    <p:extLst>
      <p:ext uri="{BB962C8B-B14F-4D97-AF65-F5344CB8AC3E}">
        <p14:creationId xmlns:p14="http://schemas.microsoft.com/office/powerpoint/2010/main" val="82835358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2026-09-28T21:43:18.2870000Z</dcterms:created>
  <dcterms:modified xsi:type="dcterms:W3CDTF">2026-09-28T21:43:18.2870000Z</dcterms:modified>
</coreProperties>
</file>