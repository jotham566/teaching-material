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eefb661117f4613" /><Relationship Type="http://schemas.openxmlformats.org/officeDocument/2006/relationships/extended-properties" Target="/docProps/app.xml" Id="R4d760bddc3664a92" /><Relationship Type="http://schemas.openxmlformats.org/officeDocument/2006/relationships/officeDocument" Target="/ppt/presentation.xml" Id="Rbe47232b39724106" /></Relationships>
</file>

<file path=ppt/presentation.xml><?xml version="1.0" encoding="utf-8"?>
<p:presentation xmlns:p="http://schemas.openxmlformats.org/presentationml/2006/main">
  <p:sldMasterIdLst>
    <p:sldMasterId xmlns:r="http://schemas.openxmlformats.org/officeDocument/2006/relationships" id="2147483648" r:id="R03d8b1b7a8594e8e"/>
  </p:sldMasterIdLst>
  <p:notesMasterIdLst>
    <p:notesMasterId xmlns:r="http://schemas.openxmlformats.org/officeDocument/2006/relationships" r:id="R3bd633a1ccc84463"/>
  </p:notesMasterIdLst>
  <p:sldIdLst>
    <p:sldId xmlns:r="http://schemas.openxmlformats.org/officeDocument/2006/relationships" id="256" r:id="Rd843baaee42c43e3"/>
    <p:sldId xmlns:r="http://schemas.openxmlformats.org/officeDocument/2006/relationships" id="257" r:id="Rd2ddf94a62774ecf"/>
    <p:sldId xmlns:r="http://schemas.openxmlformats.org/officeDocument/2006/relationships" id="258" r:id="R022122223014428b"/>
    <p:sldId xmlns:r="http://schemas.openxmlformats.org/officeDocument/2006/relationships" id="259" r:id="R1615005f83fb4ad8"/>
    <p:sldId xmlns:r="http://schemas.openxmlformats.org/officeDocument/2006/relationships" id="260" r:id="R6a0e9a77a9414216"/>
    <p:sldId xmlns:r="http://schemas.openxmlformats.org/officeDocument/2006/relationships" id="261" r:id="R63d787d8f38a4200"/>
    <p:sldId xmlns:r="http://schemas.openxmlformats.org/officeDocument/2006/relationships" id="262" r:id="Rba1260397d05437e"/>
    <p:sldId xmlns:r="http://schemas.openxmlformats.org/officeDocument/2006/relationships" id="263" r:id="Rc75d9eeed35a459e"/>
    <p:sldId xmlns:r="http://schemas.openxmlformats.org/officeDocument/2006/relationships" id="264" r:id="R8f104c31fc634443"/>
    <p:sldId xmlns:r="http://schemas.openxmlformats.org/officeDocument/2006/relationships" id="265" r:id="Rea8e869e45ec4a36"/>
    <p:sldId xmlns:r="http://schemas.openxmlformats.org/officeDocument/2006/relationships" id="266" r:id="R297198ba1b0b45b2"/>
    <p:sldId xmlns:r="http://schemas.openxmlformats.org/officeDocument/2006/relationships" id="267" r:id="Rb0806213e34645d7"/>
    <p:sldId xmlns:r="http://schemas.openxmlformats.org/officeDocument/2006/relationships" id="268" r:id="R888c5c8df59f46c5"/>
    <p:sldId xmlns:r="http://schemas.openxmlformats.org/officeDocument/2006/relationships" id="269" r:id="Re2eb1d626b994fe2"/>
    <p:sldId xmlns:r="http://schemas.openxmlformats.org/officeDocument/2006/relationships" id="270" r:id="R781a194e793845d6"/>
    <p:sldId xmlns:r="http://schemas.openxmlformats.org/officeDocument/2006/relationships" id="271" r:id="Re4242940f19b40c7"/>
    <p:sldId xmlns:r="http://schemas.openxmlformats.org/officeDocument/2006/relationships" id="272" r:id="R401d4f3e59604e59"/>
    <p:sldId xmlns:r="http://schemas.openxmlformats.org/officeDocument/2006/relationships" id="273" r:id="Rf1383dbcbadb419f"/>
    <p:sldId xmlns:r="http://schemas.openxmlformats.org/officeDocument/2006/relationships" id="274" r:id="R537f0cc0c8ad4c31"/>
    <p:sldId xmlns:r="http://schemas.openxmlformats.org/officeDocument/2006/relationships" id="275" r:id="R69c21af687ec402a"/>
    <p:sldId xmlns:r="http://schemas.openxmlformats.org/officeDocument/2006/relationships" id="276" r:id="R27134f5513374d5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d8f4ebd29e84f5d" /><Relationship Type="http://schemas.openxmlformats.org/officeDocument/2006/relationships/slideMaster" Target="/ppt/slideMasters/slideMaster1.xml" Id="R03d8b1b7a8594e8e" /><Relationship Type="http://schemas.openxmlformats.org/officeDocument/2006/relationships/notesMaster" Target="/ppt/notesMasters/notesMaster1.xml" Id="R3bd633a1ccc84463" /><Relationship Type="http://schemas.openxmlformats.org/officeDocument/2006/relationships/presProps" Target="/ppt/presProps.xml" Id="Rfcf3be22ede044b6" /><Relationship Type="http://schemas.openxmlformats.org/officeDocument/2006/relationships/tableStyles" Target="/ppt/tableStyles.xml" Id="R07190daf0e9d485c" /><Relationship Type="http://schemas.openxmlformats.org/officeDocument/2006/relationships/slide" Target="/ppt/slides/slide1.xml" Id="Rd843baaee42c43e3" /><Relationship Type="http://schemas.openxmlformats.org/officeDocument/2006/relationships/slide" Target="/ppt/slides/slide2.xml" Id="Rd2ddf94a62774ecf" /><Relationship Type="http://schemas.openxmlformats.org/officeDocument/2006/relationships/slide" Target="/ppt/slides/slide3.xml" Id="R022122223014428b" /><Relationship Type="http://schemas.openxmlformats.org/officeDocument/2006/relationships/slide" Target="/ppt/slides/slide4.xml" Id="R1615005f83fb4ad8" /><Relationship Type="http://schemas.openxmlformats.org/officeDocument/2006/relationships/slide" Target="/ppt/slides/slide5.xml" Id="R6a0e9a77a9414216" /><Relationship Type="http://schemas.openxmlformats.org/officeDocument/2006/relationships/slide" Target="/ppt/slides/slide6.xml" Id="R63d787d8f38a4200" /><Relationship Type="http://schemas.openxmlformats.org/officeDocument/2006/relationships/slide" Target="/ppt/slides/slide7.xml" Id="Rba1260397d05437e" /><Relationship Type="http://schemas.openxmlformats.org/officeDocument/2006/relationships/slide" Target="/ppt/slides/slide8.xml" Id="Rc75d9eeed35a459e" /><Relationship Type="http://schemas.openxmlformats.org/officeDocument/2006/relationships/slide" Target="/ppt/slides/slide9.xml" Id="R8f104c31fc634443" /><Relationship Type="http://schemas.openxmlformats.org/officeDocument/2006/relationships/slide" Target="/ppt/slides/slide10.xml" Id="Rea8e869e45ec4a36" /><Relationship Type="http://schemas.openxmlformats.org/officeDocument/2006/relationships/slide" Target="/ppt/slides/slide11.xml" Id="R297198ba1b0b45b2" /><Relationship Type="http://schemas.openxmlformats.org/officeDocument/2006/relationships/slide" Target="/ppt/slides/slide12.xml" Id="Rb0806213e34645d7" /><Relationship Type="http://schemas.openxmlformats.org/officeDocument/2006/relationships/slide" Target="/ppt/slides/slide13.xml" Id="R888c5c8df59f46c5" /><Relationship Type="http://schemas.openxmlformats.org/officeDocument/2006/relationships/slide" Target="/ppt/slides/slide14.xml" Id="Re2eb1d626b994fe2" /><Relationship Type="http://schemas.openxmlformats.org/officeDocument/2006/relationships/slide" Target="/ppt/slides/slide15.xml" Id="R781a194e793845d6" /><Relationship Type="http://schemas.openxmlformats.org/officeDocument/2006/relationships/slide" Target="/ppt/slides/slide16.xml" Id="Re4242940f19b40c7" /><Relationship Type="http://schemas.openxmlformats.org/officeDocument/2006/relationships/slide" Target="/ppt/slides/slide17.xml" Id="R401d4f3e59604e59" /><Relationship Type="http://schemas.openxmlformats.org/officeDocument/2006/relationships/slide" Target="/ppt/slides/slide18.xml" Id="Rf1383dbcbadb419f" /><Relationship Type="http://schemas.openxmlformats.org/officeDocument/2006/relationships/slide" Target="/ppt/slides/slide19.xml" Id="R537f0cc0c8ad4c31" /><Relationship Type="http://schemas.openxmlformats.org/officeDocument/2006/relationships/slide" Target="/ppt/slides/slide20.xml" Id="R69c21af687ec402a" /><Relationship Type="http://schemas.openxmlformats.org/officeDocument/2006/relationships/slide" Target="/ppt/slides/slide21.xml" Id="R27134f5513374d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87e9f7ec4646a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63886b92854ac9" /><Relationship Type="http://schemas.openxmlformats.org/officeDocument/2006/relationships/notesMaster" Target="/ppt/notesMasters/notesMaster1.xml" Id="R72dcaef1d26c41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5b4bb8ff700f41f8" /><Relationship Type="http://schemas.openxmlformats.org/officeDocument/2006/relationships/notesMaster" Target="/ppt/notesMasters/notesMaster1.xml" Id="R9867279d964e4b8e"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11e79fa4cd4770" /><Relationship Type="http://schemas.openxmlformats.org/officeDocument/2006/relationships/notesMaster" Target="/ppt/notesMasters/notesMaster1.xml" Id="Rd72dfba2248944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9d38bbdd72249e1" /><Relationship Type="http://schemas.openxmlformats.org/officeDocument/2006/relationships/notesMaster" Target="/ppt/notesMasters/notesMaster1.xml" Id="R6b20b3cfe73048c6" /></Relationships>
</file>

<file path=ppt/notesSlides/_rels/notesSlide5.xml.rels>&#65279;<?xml version="1.0" encoding="utf-8"?><Relationships xmlns="http://schemas.openxmlformats.org/package/2006/relationships"><Relationship Type="http://schemas.openxmlformats.org/officeDocument/2006/relationships/slide" Target="/ppt/slides/slide5.xml" Id="R697d19adc77c4bbc" /><Relationship Type="http://schemas.openxmlformats.org/officeDocument/2006/relationships/notesMaster" Target="/ppt/notesMasters/notesMaster1.xml" Id="R3a075e03a2824d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72b473fda3dc4bb9" /><Relationship Type="http://schemas.openxmlformats.org/officeDocument/2006/relationships/notesMaster" Target="/ppt/notesMasters/notesMaster1.xml" Id="Refb76124bfab487b" /></Relationships>
</file>

<file path=ppt/notesSlides/_rels/notesSlide7.xml.rels>&#65279;<?xml version="1.0" encoding="utf-8"?><Relationships xmlns="http://schemas.openxmlformats.org/package/2006/relationships"><Relationship Type="http://schemas.openxmlformats.org/officeDocument/2006/relationships/slide" Target="/ppt/slides/slide7.xml" Id="R4d520dbedb034605" /><Relationship Type="http://schemas.openxmlformats.org/officeDocument/2006/relationships/notesMaster" Target="/ppt/notesMasters/notesMaster1.xml" Id="Rd6c2d8bca6044223" /></Relationships>
</file>

<file path=ppt/notesSlides/_rels/notesSlide8.xml.rels>&#65279;<?xml version="1.0" encoding="utf-8"?><Relationships xmlns="http://schemas.openxmlformats.org/package/2006/relationships"><Relationship Type="http://schemas.openxmlformats.org/officeDocument/2006/relationships/slide" Target="/ppt/slides/slide8.xml" Id="Rc6ba3a911ef048a8" /><Relationship Type="http://schemas.openxmlformats.org/officeDocument/2006/relationships/notesMaster" Target="/ppt/notesMasters/notesMaster1.xml" Id="Rdea37478bb604b41" /></Relationships>
</file>

<file path=ppt/notesSlides/_rels/notesSlide9.xml.rels>&#65279;<?xml version="1.0" encoding="utf-8"?><Relationships xmlns="http://schemas.openxmlformats.org/package/2006/relationships"><Relationship Type="http://schemas.openxmlformats.org/officeDocument/2006/relationships/slide" Target="/ppt/slides/slide9.xml" Id="R7f50f8f9a5104e4d" /><Relationship Type="http://schemas.openxmlformats.org/officeDocument/2006/relationships/notesMaster" Target="/ppt/notesMasters/notesMaster1.xml" Id="Rebcf076301894ba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04a5ab4ff354748" /><Relationship Type="http://schemas.openxmlformats.org/officeDocument/2006/relationships/notesMaster" Target="/ppt/notesMasters/notesMaster1.xml" Id="Rff7a08dd696b48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a846b64f06c4c1b" /><Relationship Type="http://schemas.openxmlformats.org/officeDocument/2006/relationships/notesMaster" Target="/ppt/notesMasters/notesMaster1.xml" Id="Rd4c67125596c4f3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12a6ffb2b204fd1" /><Relationship Type="http://schemas.openxmlformats.org/officeDocument/2006/relationships/notesMaster" Target="/ppt/notesMasters/notesMaster1.xml" Id="R1d733e0f071d4d2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b83e0303e5e40af" /><Relationship Type="http://schemas.openxmlformats.org/officeDocument/2006/relationships/notesMaster" Target="/ppt/notesMasters/notesMaster1.xml" Id="Rdf3e9fb34364493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33acbb589e54994" /><Relationship Type="http://schemas.openxmlformats.org/officeDocument/2006/relationships/notesMaster" Target="/ppt/notesMasters/notesMaster1.xml" Id="Rcabd2f9ae4fd439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98187d74c464944" /><Relationship Type="http://schemas.openxmlformats.org/officeDocument/2006/relationships/notesMaster" Target="/ppt/notesMasters/notesMaster1.xml" Id="Rff6567c68a084af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207f08c2aaa495c" /><Relationship Type="http://schemas.openxmlformats.org/officeDocument/2006/relationships/notesMaster" Target="/ppt/notesMasters/notesMaster1.xml" Id="Rb1b0446196d94f7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b663f97c1604e7a" /><Relationship Type="http://schemas.openxmlformats.org/officeDocument/2006/relationships/notesMaster" Target="/ppt/notesMasters/notesMaster1.xml" Id="Re5f595b8efce497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3db5f1fb435440c" /><Relationship Type="http://schemas.openxmlformats.org/officeDocument/2006/relationships/notesMaster" Target="/ppt/notesMasters/notesMaster1.xml" Id="R0281d4fe2b214c0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a45826b1f134c4e" /><Relationship Type="http://schemas.openxmlformats.org/officeDocument/2006/relationships/notesMaster" Target="/ppt/notesMasters/notesMaster1.xml" Id="Rb0379b1d55d3417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a5b869417a4554" /><Relationship Type="http://schemas.openxmlformats.org/officeDocument/2006/relationships/notesMaster" Target="/ppt/notesMasters/notesMaster1.xml" Id="Re6da7c2399a3478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ec803745ca14923" /><Relationship Type="http://schemas.openxmlformats.org/officeDocument/2006/relationships/notesMaster" Target="/ppt/notesMasters/notesMaster1.xml" Id="R83549f1728854cb2"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Practical Test 2</a:t>
            </a:r>
          </a:p>
          <a:p>
            <a:r>
              <a:t>CML3112, Week 14, slide 1</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14, slide 2</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Rehearse previously taught modelling decisions.</a:t>
            </a:r>
          </a:p>
          <a:p>
            <a:r>
              <a:t/>
            </a:r>
          </a:p>
          <a:p>
            <a:r>
              <a:t>Practise saving the complete test notebook offline.</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14, slide 3</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Can you name the target, fit only on training records and explain how you would keep the test untouched?</a:t>
            </a:r>
          </a:p>
          <a:p>
            <a:r>
              <a:t/>
            </a:r>
          </a:p>
          <a:p>
            <a:r>
              <a:t>Continue to</a:t>
            </a:r>
          </a:p>
          <a:p>
            <a:r>
              <a:t>Preparation happens before the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happens before the test</a:t>
            </a:r>
          </a:p>
          <a:p>
            <a:r>
              <a:t>CML3112, Week 14, slide 4</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Practise the already taught error calculations and data-splitting rules.</a:t>
            </a:r>
          </a:p>
          <a:p>
            <a:r>
              <a:t/>
            </a:r>
          </a:p>
          <a:p>
            <a:r>
              <a:t>Use separate practice values.</a:t>
            </a:r>
          </a:p>
          <a:p>
            <a:r>
              <a:t/>
            </a:r>
          </a:p>
          <a:p>
            <a:r>
              <a:t>The timed session follows the issued test instructions.</a:t>
            </a:r>
          </a:p>
          <a:p>
            <a:r>
              <a:t/>
            </a:r>
          </a:p>
          <a:p>
            <a:r>
              <a:t>Continue to</a:t>
            </a:r>
          </a:p>
          <a:p>
            <a:r>
              <a:t>Rehearse the offline save procedure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Rehearse the offline save procedure</a:t>
            </a:r>
          </a:p>
          <a:p>
            <a:r>
              <a:t>CML3112, Week 14, slide 5</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Save your notebook on the prepared lab computer.</a:t>
            </a:r>
          </a:p>
          <a:p>
            <a:r>
              <a:t/>
            </a:r>
          </a:p>
          <a:p>
            <a:r>
              <a:t>Type Part B under My written evidence in the notebook.</a:t>
            </a:r>
          </a:p>
          <a:p>
            <a:r>
              <a:t/>
            </a:r>
          </a:p>
          <a:p>
            <a:r>
              <a:t>Locate and reopen the complete notebook without internet.</a:t>
            </a:r>
          </a:p>
          <a:p>
            <a:r>
              <a:t/>
            </a:r>
          </a:p>
          <a:p>
            <a:r>
              <a:t>Continue to</a:t>
            </a:r>
          </a:p>
          <a:p>
            <a:r>
              <a:t>A result needs an explanation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result needs an explanation</a:t>
            </a:r>
          </a:p>
          <a:p>
            <a:r>
              <a:t>CML3112, Week 14, slide 6</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Name the target and its unit or class.</a:t>
            </a:r>
          </a:p>
          <a:p>
            <a:r>
              <a:t/>
            </a:r>
          </a:p>
          <a:p>
            <a:r>
              <a:t>Explain which data fitted preprocessing and which data evaluated the model.</a:t>
            </a:r>
          </a:p>
          <a:p>
            <a:r>
              <a:t/>
            </a:r>
          </a:p>
          <a:p>
            <a:r>
              <a:t>A high score alone does not establish a useful engineering model.</a:t>
            </a:r>
          </a:p>
          <a:p>
            <a:r>
              <a:t/>
            </a:r>
          </a:p>
          <a:p>
            <a:r>
              <a:t>Continue to</a:t>
            </a:r>
          </a:p>
          <a:p>
            <a:r>
              <a:t>Practice before test day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Practice before test day</a:t>
            </a:r>
          </a:p>
          <a:p>
            <a:r>
              <a:t>CML3112, Week 14, slide 7</a:t>
            </a:r>
          </a:p>
          <a:p>
            <a:r>
              <a:t/>
            </a:r>
          </a:p>
          <a:p>
            <a:r>
              <a:t>Explanation to give</a:t>
            </a:r>
          </a:p>
          <a:p>
            <a:r>
              <a:t>Pair the actual and predicted values in order. The first absolute error is abs(4-5)=1; the second is abs(8-6)=2.</a:t>
            </a:r>
          </a:p>
          <a:p>
            <a:r>
              <a:t/>
            </a:r>
          </a:p>
          <a:p>
            <a:r>
              <a:t>Worked illustration / lecturer answer</a:t>
            </a:r>
          </a:p>
          <a:p>
            <a:r>
              <a:t>Their mean is (1+2)/2=1.5. The unit is the target unit. Both observations contribute once to the numerator and denominator.</a:t>
            </a:r>
          </a:p>
          <a:p>
            <a:r>
              <a:t/>
            </a:r>
          </a:p>
          <a:p>
            <a:r>
              <a:t>Misconception to address</a:t>
            </a:r>
          </a:p>
          <a:p>
            <a:r>
              <a:t>Use the practice values only before the assessed session. MAE 1.5 is an average, not a maximum error guarantee.</a:t>
            </a:r>
          </a:p>
          <a:p>
            <a:r>
              <a:t/>
            </a:r>
          </a:p>
          <a:p>
            <a:r>
              <a:t>Read the displayed code line by line</a:t>
            </a:r>
          </a:p>
          <a:p>
            <a:r>
              <a:t>actual = [4, 8]</a:t>
            </a:r>
          </a:p>
          <a:p>
            <a:r>
              <a:t>Evaluate the complete right-hand expression first, then assign its result to the name or selected field on the left.</a:t>
            </a:r>
          </a:p>
          <a:p>
            <a:r>
              <a:t/>
            </a:r>
          </a:p>
          <a:p>
            <a:r>
              <a:t>predicted = [5, 6]</a:t>
            </a:r>
          </a:p>
          <a:p>
            <a:r>
              <a:t>Evaluate the complete right-hand expression first, then assign its result to the name or selected field on the left.</a:t>
            </a:r>
          </a:p>
          <a:p>
            <a:r>
              <a:t/>
            </a:r>
          </a:p>
          <a:p>
            <a:r>
              <a:t>errors = []</a:t>
            </a:r>
          </a:p>
          <a:p>
            <a:r>
              <a:t>Evaluate the complete right-hand expression first, then assign its result to the name or selected field on the left.</a:t>
            </a:r>
          </a:p>
          <a:p>
            <a:r>
              <a:t/>
            </a:r>
          </a:p>
          <a:p>
            <a:r>
              <a:t>for a, p in zip(actual, predicted):</a:t>
            </a:r>
          </a:p>
          <a:p>
            <a:r>
              <a:t>Take each item or pair in turn, assign the loop name(s), and repeat the indented body.</a:t>
            </a:r>
          </a:p>
          <a:p>
            <a:r>
              <a:t/>
            </a:r>
          </a:p>
          <a:p>
            <a:r>
              <a:t>errors.append(abs(a - p))</a:t>
            </a:r>
          </a:p>
          <a:p>
            <a:r>
              <a:t>Evaluate the argument and add it as one new item at the end of this list.</a:t>
            </a:r>
          </a:p>
          <a:p>
            <a:r>
              <a:t/>
            </a:r>
          </a:p>
          <a:p>
            <a:r>
              <a:t>print(sum(errors) / len(errors))</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Test session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Test session</a:t>
            </a:r>
          </a:p>
          <a:p>
            <a:r>
              <a:t>CML3112, Week 14, slide 8</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00–15 minutes: briefing and file check.</a:t>
            </a:r>
          </a:p>
          <a:p>
            <a:r>
              <a:t/>
            </a:r>
          </a:p>
          <a:p>
            <a:r>
              <a:t>15–135 minutes: individual practical work.</a:t>
            </a:r>
          </a:p>
          <a:p>
            <a:r>
              <a:t/>
            </a:r>
          </a:p>
          <a:p>
            <a:r>
              <a:t>135–160 minutes: typed offline reasoning, with code execution prohibited.</a:t>
            </a:r>
          </a:p>
          <a:p>
            <a:r>
              <a:t/>
            </a:r>
          </a:p>
          <a:p>
            <a:r>
              <a:t>160–180 minutes: save and hand in through invigilated offline collection.</a:t>
            </a:r>
          </a:p>
          <a:p>
            <a:r>
              <a:t/>
            </a:r>
          </a:p>
          <a:p>
            <a:r>
              <a:t>Continue to</a:t>
            </a:r>
          </a:p>
          <a:p>
            <a:r>
              <a:t>Preparation checkpoint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checkpoint</a:t>
            </a:r>
          </a:p>
          <a:p>
            <a:r>
              <a:t>CML3112, Week 14, slide 9</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Each learner can save and reopen the complete notebook in the offline setting.</a:t>
            </a:r>
          </a:p>
          <a:p>
            <a:r>
              <a:t/>
            </a:r>
          </a:p>
          <a:p>
            <a:r>
              <a:t>Continue to</a:t>
            </a:r>
          </a:p>
          <a:p>
            <a:r>
              <a:t>Your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evidence</a:t>
            </a:r>
          </a:p>
          <a:p>
            <a:r>
              <a:t>CML3112, Week 14, slide 10</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Use TEST2’s official brief, interfaces, time allocation, permitted resources and packet requirements.</a:t>
            </a:r>
          </a:p>
          <a:p>
            <a:r>
              <a:t/>
            </a:r>
          </a:p>
          <a:p>
            <a:r>
              <a:t>Follow the test instructions issued by your lecturer.</a:t>
            </a:r>
          </a:p>
          <a:p>
            <a:r>
              <a:t/>
            </a:r>
          </a:p>
          <a:p>
            <a:r>
              <a:t>Continue to</a:t>
            </a:r>
          </a:p>
          <a:p>
            <a:r>
              <a:t>Practical Test 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a:t>
            </a:r>
          </a:p>
          <a:p>
            <a:r>
              <a:t>CML3112, Week 14, slide 11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CML3112, Week 14, slide 12</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CML3112, Week 14, slide 13</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Include captions and readable written evidence in the notebook.</a:t>
            </a:r>
          </a:p>
          <a:p>
            <a:r>
              <a:t/>
            </a:r>
          </a:p>
          <a:p>
            <a:r>
              <a:t>Task framing (10.0 total): The ML task is correctly identified, the target named, and regression vs classification correctly chosen and justified.</a:t>
            </a:r>
          </a:p>
          <a:p>
            <a:r>
              <a:t/>
            </a:r>
          </a:p>
          <a:p>
            <a:r>
              <a:t>Data preparation &amp; leakage control (20.0 total): Cleaning and encoding appropriate.</a:t>
            </a:r>
          </a:p>
          <a:p>
            <a:r>
              <a:t/>
            </a:r>
          </a:p>
          <a:p>
            <a:r>
              <a:t>Split made before any fitting.</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CML3112, Week 14, slide 14</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Pipeline used.</a:t>
            </a:r>
          </a:p>
          <a:p>
            <a:r>
              <a:t/>
            </a:r>
          </a:p>
          <a:p>
            <a:r>
              <a:t>No leakage present - a leak found by the marker caps this criterion at zero.</a:t>
            </a:r>
          </a:p>
          <a:p>
            <a:r>
              <a:t/>
            </a:r>
          </a:p>
          <a:p>
            <a:r>
              <a:t>Modelling protocol (20.0 total): At least two models built and compared under identical conditions.</a:t>
            </a:r>
          </a:p>
          <a:p>
            <a:r>
              <a:t/>
            </a:r>
          </a:p>
          <a:p>
            <a:r>
              <a:t>Baseline included.</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CML3112, Week 14, slide 15</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Hyperparameters handled sensibly.</a:t>
            </a:r>
          </a:p>
          <a:p>
            <a:r>
              <a:t/>
            </a:r>
          </a:p>
          <a:p>
            <a:r>
              <a:t>Evaluation &amp; metric justification (20.0 total): Correct metrics computed.</a:t>
            </a:r>
          </a:p>
          <a:p>
            <a:r>
              <a:t/>
            </a:r>
          </a:p>
          <a:p>
            <a:r>
              <a:t>Metric choice defended against the cost of error.</a:t>
            </a:r>
          </a:p>
          <a:p>
            <a:r>
              <a:t/>
            </a:r>
          </a:p>
          <a:p>
            <a:r>
              <a:t>Cross-validation reported with a spread, not a single number.</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CML3112, Week 14, slide 16</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Engineering interpretation &amp; limits (20.0 total): The result is stated in physical or operational units.</a:t>
            </a:r>
          </a:p>
          <a:p>
            <a:r>
              <a:t/>
            </a:r>
          </a:p>
          <a:p>
            <a:r>
              <a:t>Three genuine limitations given.</a:t>
            </a:r>
          </a:p>
          <a:p>
            <a:r>
              <a:t/>
            </a:r>
          </a:p>
          <a:p>
            <a:r>
              <a:t>A clear position on whether it should be deployed.</a:t>
            </a:r>
          </a:p>
          <a:p>
            <a:r>
              <a:t/>
            </a:r>
          </a:p>
          <a:p>
            <a:r>
              <a:t>Code clarity (10.0 total): Runs top to bottom.</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CML3112, Week 14, slide 17</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Readable.</a:t>
            </a:r>
          </a:p>
          <a:p>
            <a:r>
              <a:t/>
            </a:r>
          </a:p>
          <a:p>
            <a:r>
              <a:t>Commented where the intent is not obvious.</a:t>
            </a:r>
          </a:p>
          <a:p>
            <a:r>
              <a:t/>
            </a:r>
          </a:p>
          <a:p>
            <a:r>
              <a:t>Execution requirement for c2: Data-preparation credit requires the published leakage-safe split check to pass.</a:t>
            </a:r>
          </a:p>
          <a:p>
            <a:r>
              <a:t/>
            </a:r>
          </a:p>
          <a:p>
            <a:r>
              <a:t>If this check fails, written marks in that criterion are zero; other criteria remain independently scored.</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CML3112, Week 14, slide 18</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Timing and Part B</a:t>
            </a:r>
          </a:p>
          <a:p>
            <a:r>
              <a:t/>
            </a:r>
          </a:p>
          <a:p>
            <a:r>
              <a:t>15 minutes setup, 120 minutes practical, 25 minutes typed offline reasoning with code execution prohibited, 20 minutes collection.</a:t>
            </a:r>
          </a:p>
          <a:p>
            <a:r>
              <a:t/>
            </a:r>
          </a:p>
          <a:p>
            <a:r>
              <a:t>No internet, messaging or AI.</a:t>
            </a:r>
          </a:p>
          <a:p>
            <a:r>
              <a:t/>
            </a:r>
          </a:p>
          <a:p>
            <a:r>
              <a:t>Answer: Why your main cleaning/model choice?</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CML3112, Week 14, slide 19</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What can your chart/metric not establish?</a:t>
            </a:r>
          </a:p>
          <a:p>
            <a:r>
              <a:t/>
            </a:r>
          </a:p>
          <a:p>
            <a:r>
              <a:t>What evidence would change your recommendation?</a:t>
            </a:r>
          </a:p>
          <a:p>
            <a:r>
              <a:t/>
            </a:r>
          </a:p>
          <a:p>
            <a:r>
              <a:t>What further data is required?</a:t>
            </a:r>
          </a:p>
          <a:p>
            <a:r>
              <a:t/>
            </a:r>
          </a:p>
          <a:p>
            <a:r>
              <a:t>Invigilated offline collection is authoritative; Google upload is a later transport step and must not impose an internet requirement during the test.</a:t>
            </a:r>
          </a:p>
          <a:p>
            <a:r>
              <a:t/>
            </a:r>
          </a:p>
          <a:p>
            <a:r>
              <a:t>Continue to</a:t>
            </a:r>
          </a:p>
          <a:p>
            <a:r>
              <a:t>Practical Test 2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submission</a:t>
            </a:r>
          </a:p>
          <a:p>
            <a:r>
              <a:t>CML3112, Week 14, slide 20</a:t>
            </a:r>
          </a:p>
          <a:p>
            <a:r>
              <a:t/>
            </a:r>
          </a:p>
          <a:p>
            <a:r>
              <a:t>Explanation to give</a:t>
            </a:r>
          </a:p>
          <a:p>
            <a:r>
              <a:t>This slide hands over CML3112 TEST2. Show the exact form title before uploading. The required packet is one completed .ipynb notebook.</a:t>
            </a:r>
          </a:p>
          <a:p>
            <a:r>
              <a:t/>
            </a:r>
          </a:p>
          <a:p>
            <a:r>
              <a:t>Worked illustration / lecturer answer</a:t>
            </a:r>
          </a:p>
          <a:p>
            <a:r>
              <a:t>For TEST1/TEST2, save Part B under My written evidence. Collect the complete notebook offline under invigilation; the later form upload only transports that collected version.</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Offline invigilated collection is authoritative.</a:t>
            </a:r>
          </a:p>
          <a:p>
            <a:r>
              <a:t/>
            </a:r>
          </a:p>
          <a:p>
            <a:r>
              <a:t>Google upload is a later transport step.</a:t>
            </a:r>
          </a:p>
          <a:p>
            <a:r>
              <a:t/>
            </a:r>
          </a:p>
          <a:p>
            <a:r>
              <a:t>Save one notebook with Part B under My written evidence.</a:t>
            </a:r>
          </a:p>
          <a:p>
            <a:r>
              <a:t/>
            </a:r>
          </a:p>
          <a:p>
            <a:r>
              <a:t>No internet, messaging or AI during the test.</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14, slide 21</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explain training-only preprocessing and locate your saved evidence.</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16546d0553414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f4d1b8cc9ba43f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dc108ccb0ab4a6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77180ef60cc4b6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b03c9ee0ff141f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9ed43edfc2e4bf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7489A11-EE04-4C2D-9567-8FEA9E600AEE}"/>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2462ED6-14B5-4022-B826-AFBC8B4A6396}"/>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7326698A-AC56-4A91-9F20-F3102AAAA7A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DC1AAE3C-08B4-4290-9CBD-A6D0FC76E64B}"/>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8CD6348-18A2-4EB1-B5B2-8C26CF6D39BC}"/>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7CA64FF-BED6-4F26-A566-BAEA7E39D5E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DD8FFA1-61BC-4B4C-8D1B-72D07FA3CB7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B77A6AE9-51ED-4113-8B55-80E1F6D8929A}"/>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262A570-3410-4236-8151-8649197FFC6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968D496-9CF9-42FB-975E-7012A5D0BE0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8308A9F-C067-4EB3-A804-8DD43DC45AD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BC93C-68A3-4BBF-8377-E851DDEB654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85F5FC1-6593-44A6-9624-9199C0A7BF2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86FCAD8-12CE-4DF3-BEE1-662C3DB0FB3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6795292-876E-4165-B165-CE2BAF053F1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40da5cfbeb3462a" /><Relationship Type="http://schemas.openxmlformats.org/officeDocument/2006/relationships/slideLayout" Target="/ppt/slideLayouts/slideLayout1.xml" Id="Ref27c657b5f14fa8" /><Relationship Type="http://schemas.openxmlformats.org/officeDocument/2006/relationships/slideLayout" Target="/ppt/slideLayouts/slideLayout2.xml" Id="R047d23f63c9d4944" /><Relationship Type="http://schemas.openxmlformats.org/officeDocument/2006/relationships/slideLayout" Target="/ppt/slideLayouts/slideLayout3.xml" Id="R4c2213d8d01d4fc4" /><Relationship Type="http://schemas.openxmlformats.org/officeDocument/2006/relationships/slideLayout" Target="/ppt/slideLayouts/slideLayout4.xml" Id="R4ed392958ae5413b" /><Relationship Type="http://schemas.openxmlformats.org/officeDocument/2006/relationships/slideLayout" Target="/ppt/slideLayouts/slideLayout5.xml" Id="R3bacaf94844d4b15" /><Relationship Type="http://schemas.openxmlformats.org/officeDocument/2006/relationships/slideLayout" Target="/ppt/slideLayouts/slideLayout6.xml" Id="R220519eb74ba4c3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f27c657b5f14fa8"/>
    <p:sldLayoutId xmlns:r="http://schemas.openxmlformats.org/officeDocument/2006/relationships" id="2147483650" r:id="R047d23f63c9d4944"/>
    <p:sldLayoutId xmlns:r="http://schemas.openxmlformats.org/officeDocument/2006/relationships" id="2147483651" r:id="R4c2213d8d01d4fc4"/>
    <p:sldLayoutId xmlns:r="http://schemas.openxmlformats.org/officeDocument/2006/relationships" id="2147483652" r:id="R4ed392958ae5413b"/>
    <p:sldLayoutId xmlns:r="http://schemas.openxmlformats.org/officeDocument/2006/relationships" id="2147483653" r:id="R3bacaf94844d4b15"/>
    <p:sldLayoutId xmlns:r="http://schemas.openxmlformats.org/officeDocument/2006/relationships" id="2147483654" r:id="R220519eb74ba4c3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ee660aa34814749" /><Relationship Type="http://schemas.openxmlformats.org/officeDocument/2006/relationships/image" Target="/ppt/media/image.png" Id="Rb59e2904b5344f3c" /><Relationship Type="http://schemas.openxmlformats.org/officeDocument/2006/relationships/notesSlide" Target="/ppt/notesSlides/notesSlide1.xml" Id="Re4a809a356d7464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32a2399eeb64c37" /><Relationship Type="http://schemas.openxmlformats.org/officeDocument/2006/relationships/notesSlide" Target="/ppt/notesSlides/notesSlide2.xml" Id="R2f3e9997f442441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6e0c3f4fd034ed8" /><Relationship Type="http://schemas.openxmlformats.org/officeDocument/2006/relationships/notesSlide" Target="/ppt/notesSlides/notesSlide3.xml" Id="R97bdc057507641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2569d303c584b81" /><Relationship Type="http://schemas.openxmlformats.org/officeDocument/2006/relationships/notesSlide" Target="/ppt/notesSlides/notesSlide4.xml" Id="Rb5d2605096ef446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d77f2cc571d47bb" /><Relationship Type="http://schemas.openxmlformats.org/officeDocument/2006/relationships/notesSlide" Target="/ppt/notesSlides/notesSlide5.xml" Id="Rc8d5698c36a14f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f0c31ea86514248" /><Relationship Type="http://schemas.openxmlformats.org/officeDocument/2006/relationships/notesSlide" Target="/ppt/notesSlides/notesSlide6.xml" Id="R2d92d0dfacc044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a4dcba00ce34bfc" /><Relationship Type="http://schemas.openxmlformats.org/officeDocument/2006/relationships/notesSlide" Target="/ppt/notesSlides/notesSlide7.xml" Id="R9917033fa768475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d33303ebe4a44c5" /><Relationship Type="http://schemas.openxmlformats.org/officeDocument/2006/relationships/notesSlide" Target="/ppt/notesSlides/notesSlide8.xml" Id="R6ac5c5c3ae7644a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75ef225589f4a00" /><Relationship Type="http://schemas.openxmlformats.org/officeDocument/2006/relationships/notesSlide" Target="/ppt/notesSlides/notesSlide9.xml" Id="Rf9d932982931470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8a07831b557412d" /><Relationship Type="http://schemas.openxmlformats.org/officeDocument/2006/relationships/notesSlide" Target="/ppt/notesSlides/notesSlide10.xml" Id="R23a4a622000047c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7e5441e96fb48b9" /><Relationship Type="http://schemas.openxmlformats.org/officeDocument/2006/relationships/notesSlide" Target="/ppt/notesSlides/notesSlide11.xml" Id="R88b50bc790d34e2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985108d37c842b5" /><Relationship Type="http://schemas.openxmlformats.org/officeDocument/2006/relationships/notesSlide" Target="/ppt/notesSlides/notesSlide12.xml" Id="R2843b3d4f5bf459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aefbe1651b2446b" /><Relationship Type="http://schemas.openxmlformats.org/officeDocument/2006/relationships/notesSlide" Target="/ppt/notesSlides/notesSlide13.xml" Id="Rad7580d79acf4d9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7e5f67514ab469c" /><Relationship Type="http://schemas.openxmlformats.org/officeDocument/2006/relationships/notesSlide" Target="/ppt/notesSlides/notesSlide14.xml" Id="R38e79bcbc6c6475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a7a04881ea64b7f" /><Relationship Type="http://schemas.openxmlformats.org/officeDocument/2006/relationships/notesSlide" Target="/ppt/notesSlides/notesSlide15.xml" Id="R1b0919af7520499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d05b9ae003f4c67" /><Relationship Type="http://schemas.openxmlformats.org/officeDocument/2006/relationships/notesSlide" Target="/ppt/notesSlides/notesSlide16.xml" Id="R7afea22210e0432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a446e71b3cc49c0" /><Relationship Type="http://schemas.openxmlformats.org/officeDocument/2006/relationships/notesSlide" Target="/ppt/notesSlides/notesSlide17.xml" Id="R013e577aab604f1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d141b9ca13c420b" /><Relationship Type="http://schemas.openxmlformats.org/officeDocument/2006/relationships/notesSlide" Target="/ppt/notesSlides/notesSlide18.xml" Id="R01ebdf813e354c6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fed361c85ea4881" /><Relationship Type="http://schemas.openxmlformats.org/officeDocument/2006/relationships/notesSlide" Target="/ppt/notesSlides/notesSlide19.xml" Id="Ra479b421c16b4e6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23c0b6711ee4868" /><Relationship Type="http://schemas.openxmlformats.org/officeDocument/2006/relationships/hyperlink" Target="https://docs.google.com/forms/d/e/1FAIpQLSdvVxHeeW8LiNgjsQeqqFnAYSBPBxJjBkBuAKSj1gAQ4gVHkQ/viewform" TargetMode="External" Id="R9308fbaef3924a7b" /><Relationship Type="http://schemas.openxmlformats.org/officeDocument/2006/relationships/notesSlide" Target="/ppt/notesSlides/notesSlide20.xml" Id="R82abf9623634420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32f016f8a3b422c" /><Relationship Type="http://schemas.openxmlformats.org/officeDocument/2006/relationships/notesSlide" Target="/ppt/notesSlides/notesSlide21.xml" Id="Rf4c46218ea1f474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59e2904b5344f3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080934-B324-438D-8C44-29CE702F2FB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A3C01C9-B97B-49F6-A180-BADFB16C8034}"/>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14</a:t>
            </a:r>
          </a:p>
        </p:txBody>
      </p:sp>
      <p:sp>
        <p:nvSpPr>
          <p:cNvPr id="4" name="">
            <a:extLst xmlns:a="http://schemas.openxmlformats.org/drawingml/2006/main">
              <a:ext uri="{FF2B5EF4-FFF2-40B4-BE49-F238E27FC236}">
                <a16:creationId xmlns:a16="http://schemas.microsoft.com/office/drawing/2014/main" id="{1C47A81E-8395-4447-8166-12CC8537F9E2}"/>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AB4B5075-43FE-4EDA-A005-9A25305399C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157BD897-DFAE-4C3F-A1BF-EF3F9B32342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0765794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D3D238A-7B81-4B41-8FD3-396E4445AE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58F8B4-8DA2-440F-B688-D6FD6FB9DF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0A30BE8E-91C5-4942-9311-C9672CC7C9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FCEE364-BE4A-49BB-8C7A-BF77551B6D4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A212BA-722B-4FE3-9073-E12F8EAC8720}"/>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BC799C0-7926-4F37-A2F0-093FCDE0C55E}"/>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previously taught modelling decisions.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saving the complete test notebook offline.</a:t>
            </a:r>
          </a:p>
        </p:txBody>
      </p:sp>
      <p:sp>
        <p:nvSpPr>
          <p:cNvPr id="7" name="">
            <a:extLst xmlns:a="http://schemas.openxmlformats.org/drawingml/2006/main">
              <a:ext uri="{FF2B5EF4-FFF2-40B4-BE49-F238E27FC236}">
                <a16:creationId xmlns:a16="http://schemas.microsoft.com/office/drawing/2014/main" id="{5A6FB1D3-DBCE-41FC-AA59-7390D8E8A0D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9D97610-F53E-4C7A-9EC5-E5B8B0DDE9BA}"/>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training-only preprocessing and locate your saved evidence.</a:t>
            </a:r>
          </a:p>
        </p:txBody>
      </p:sp>
      <p:sp>
        <p:nvSpPr>
          <p:cNvPr id="9" name="">
            <a:extLst xmlns:a="http://schemas.openxmlformats.org/drawingml/2006/main">
              <a:ext uri="{FF2B5EF4-FFF2-40B4-BE49-F238E27FC236}">
                <a16:creationId xmlns:a16="http://schemas.microsoft.com/office/drawing/2014/main" id="{26FFBB41-7E11-4A62-9437-390B68EEB9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a:t>
            </a:r>
          </a:p>
        </p:txBody>
      </p:sp>
    </p:spTree>
    <p:extLst>
      <p:ext uri="{BB962C8B-B14F-4D97-AF65-F5344CB8AC3E}">
        <p14:creationId xmlns:p14="http://schemas.microsoft.com/office/powerpoint/2010/main" val="19962451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DB9C1B2-698E-43E8-9804-ECBC173F1B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7AF573-34BF-402E-BA83-E804FF7BE0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410516-B05D-46F2-8D5A-C59AFC6281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C3D4FFF8-CCCB-4A76-82AA-086A627FD9A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48D49C-CFF1-43ED-8CB0-7098CE91C7B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name the target, fit only on training records and explain how you would keep the test untouched?</a:t>
            </a:r>
          </a:p>
        </p:txBody>
      </p:sp>
      <p:sp>
        <p:nvSpPr>
          <p:cNvPr id="6" name="">
            <a:extLst xmlns:a="http://schemas.openxmlformats.org/drawingml/2006/main">
              <a:ext uri="{FF2B5EF4-FFF2-40B4-BE49-F238E27FC236}">
                <a16:creationId xmlns:a16="http://schemas.microsoft.com/office/drawing/2014/main" id="{3B83FC0C-154C-4D8E-A620-022C8980B5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a:t>
            </a:r>
          </a:p>
        </p:txBody>
      </p:sp>
    </p:spTree>
    <p:extLst>
      <p:ext uri="{BB962C8B-B14F-4D97-AF65-F5344CB8AC3E}">
        <p14:creationId xmlns:p14="http://schemas.microsoft.com/office/powerpoint/2010/main" val="122520908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A18EDEE-A8DA-4E9D-BED7-FC73B28CF6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7D3404-94D6-41E2-9370-B70E7A43B8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9AEA81E-97A5-461D-95F5-343728F804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happens before the test</a:t>
            </a:r>
          </a:p>
        </p:txBody>
      </p:sp>
      <p:sp>
        <p:nvSpPr>
          <p:cNvPr id="4" name="">
            <a:extLst xmlns:a="http://schemas.openxmlformats.org/drawingml/2006/main">
              <a:ext uri="{FF2B5EF4-FFF2-40B4-BE49-F238E27FC236}">
                <a16:creationId xmlns:a16="http://schemas.microsoft.com/office/drawing/2014/main" id="{9826C024-56AA-4372-A53F-40B61EC956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FD0220-F628-4D24-9A03-9C140FC2C21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the already taught error calculations and data-splitting rules.</a:t>
            </a:r>
          </a:p>
        </p:txBody>
      </p:sp>
      <p:sp>
        <p:nvSpPr>
          <p:cNvPr id="6" name="">
            <a:extLst xmlns:a="http://schemas.openxmlformats.org/drawingml/2006/main">
              <a:ext uri="{FF2B5EF4-FFF2-40B4-BE49-F238E27FC236}">
                <a16:creationId xmlns:a16="http://schemas.microsoft.com/office/drawing/2014/main" id="{ED54508F-6C3E-4126-B787-7A993C5C9FC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86D73F-8925-4069-9E47-137C9166E1C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separate practice values.</a:t>
            </a:r>
          </a:p>
        </p:txBody>
      </p:sp>
      <p:sp>
        <p:nvSpPr>
          <p:cNvPr id="8" name="">
            <a:extLst xmlns:a="http://schemas.openxmlformats.org/drawingml/2006/main">
              <a:ext uri="{FF2B5EF4-FFF2-40B4-BE49-F238E27FC236}">
                <a16:creationId xmlns:a16="http://schemas.microsoft.com/office/drawing/2014/main" id="{4C172CD3-8793-428E-B725-77D10A4B125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16B093-CF7C-4A6F-B30B-AA5ADFD096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timed session follows the issued test instructions.</a:t>
            </a:r>
          </a:p>
        </p:txBody>
      </p:sp>
      <p:sp>
        <p:nvSpPr>
          <p:cNvPr id="10" name="">
            <a:extLst xmlns:a="http://schemas.openxmlformats.org/drawingml/2006/main">
              <a:ext uri="{FF2B5EF4-FFF2-40B4-BE49-F238E27FC236}">
                <a16:creationId xmlns:a16="http://schemas.microsoft.com/office/drawing/2014/main" id="{9B5A1AC8-4C3F-4FD9-BC8B-836445D217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a:t>
            </a:r>
          </a:p>
        </p:txBody>
      </p:sp>
    </p:spTree>
    <p:extLst>
      <p:ext uri="{BB962C8B-B14F-4D97-AF65-F5344CB8AC3E}">
        <p14:creationId xmlns:p14="http://schemas.microsoft.com/office/powerpoint/2010/main" val="2128285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EE6A2C-9E08-4BCA-AAB5-6AD5C735AB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C71255-3760-4908-BD90-13668E25FF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B28A78-9E1A-4A60-8DE5-48A32DE13E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the offline save procedure</a:t>
            </a:r>
          </a:p>
        </p:txBody>
      </p:sp>
      <p:sp>
        <p:nvSpPr>
          <p:cNvPr id="4" name="">
            <a:extLst xmlns:a="http://schemas.openxmlformats.org/drawingml/2006/main">
              <a:ext uri="{FF2B5EF4-FFF2-40B4-BE49-F238E27FC236}">
                <a16:creationId xmlns:a16="http://schemas.microsoft.com/office/drawing/2014/main" id="{344AB5A8-CBA7-4AA3-9E46-1B3F1F90E1B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C03F88-8278-469C-A9C4-994CB323EA9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notebook on the prepared lab computer.</a:t>
            </a:r>
          </a:p>
        </p:txBody>
      </p:sp>
      <p:sp>
        <p:nvSpPr>
          <p:cNvPr id="6" name="">
            <a:extLst xmlns:a="http://schemas.openxmlformats.org/drawingml/2006/main">
              <a:ext uri="{FF2B5EF4-FFF2-40B4-BE49-F238E27FC236}">
                <a16:creationId xmlns:a16="http://schemas.microsoft.com/office/drawing/2014/main" id="{E77352A9-AAFC-4729-A261-BA5D67CDE6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4915EA2-C887-4F2F-9AE9-C8A897368B5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8" name="">
            <a:extLst xmlns:a="http://schemas.openxmlformats.org/drawingml/2006/main">
              <a:ext uri="{FF2B5EF4-FFF2-40B4-BE49-F238E27FC236}">
                <a16:creationId xmlns:a16="http://schemas.microsoft.com/office/drawing/2014/main" id="{3F63426E-47AB-4BFA-9EC7-2F84D2B628A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BC05D5-0B9A-4844-A2E2-D41328FBB5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and reopen the complete notebook without internet.</a:t>
            </a:r>
          </a:p>
        </p:txBody>
      </p:sp>
      <p:sp>
        <p:nvSpPr>
          <p:cNvPr id="10" name="">
            <a:extLst xmlns:a="http://schemas.openxmlformats.org/drawingml/2006/main">
              <a:ext uri="{FF2B5EF4-FFF2-40B4-BE49-F238E27FC236}">
                <a16:creationId xmlns:a16="http://schemas.microsoft.com/office/drawing/2014/main" id="{13B69A9E-93BE-4B87-AB23-E3C387EB2C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a:t>
            </a:r>
          </a:p>
        </p:txBody>
      </p:sp>
    </p:spTree>
    <p:extLst>
      <p:ext uri="{BB962C8B-B14F-4D97-AF65-F5344CB8AC3E}">
        <p14:creationId xmlns:p14="http://schemas.microsoft.com/office/powerpoint/2010/main" val="189081124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A82A67-D69D-4FB0-BA31-2849E0FEDB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5DE2B4-3081-4E1F-AF9E-A0012640E5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EC502B-72A9-42C2-94C3-C87377A30A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result needs an explanation</a:t>
            </a:r>
          </a:p>
        </p:txBody>
      </p:sp>
      <p:sp>
        <p:nvSpPr>
          <p:cNvPr id="4" name="">
            <a:extLst xmlns:a="http://schemas.openxmlformats.org/drawingml/2006/main">
              <a:ext uri="{FF2B5EF4-FFF2-40B4-BE49-F238E27FC236}">
                <a16:creationId xmlns:a16="http://schemas.microsoft.com/office/drawing/2014/main" id="{AD573D9D-BF99-4AAB-AA7B-9F4761474B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81423D-A75A-4923-820E-0C863A2A113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target and its unit or class.</a:t>
            </a:r>
          </a:p>
        </p:txBody>
      </p:sp>
      <p:sp>
        <p:nvSpPr>
          <p:cNvPr id="6" name="">
            <a:extLst xmlns:a="http://schemas.openxmlformats.org/drawingml/2006/main">
              <a:ext uri="{FF2B5EF4-FFF2-40B4-BE49-F238E27FC236}">
                <a16:creationId xmlns:a16="http://schemas.microsoft.com/office/drawing/2014/main" id="{CF8D9269-94A4-4B0D-9469-57F8F01E6D4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11D24F-1501-47A4-881E-7313FDB4810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which data fitted preprocessing and which data evaluated the model.</a:t>
            </a:r>
          </a:p>
        </p:txBody>
      </p:sp>
      <p:sp>
        <p:nvSpPr>
          <p:cNvPr id="8" name="">
            <a:extLst xmlns:a="http://schemas.openxmlformats.org/drawingml/2006/main">
              <a:ext uri="{FF2B5EF4-FFF2-40B4-BE49-F238E27FC236}">
                <a16:creationId xmlns:a16="http://schemas.microsoft.com/office/drawing/2014/main" id="{6BFF061F-D016-47D3-9381-ACA5DDC6CA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D5D775-2E8B-496F-B4CD-34864EBCF68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high score alone does not establish a useful engineering model.</a:t>
            </a:r>
          </a:p>
        </p:txBody>
      </p:sp>
      <p:sp>
        <p:nvSpPr>
          <p:cNvPr id="10" name="">
            <a:extLst xmlns:a="http://schemas.openxmlformats.org/drawingml/2006/main">
              <a:ext uri="{FF2B5EF4-FFF2-40B4-BE49-F238E27FC236}">
                <a16:creationId xmlns:a16="http://schemas.microsoft.com/office/drawing/2014/main" id="{958F6F73-20CC-46B3-AD0B-79753E2AF5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a:t>
            </a:r>
          </a:p>
        </p:txBody>
      </p:sp>
    </p:spTree>
    <p:extLst>
      <p:ext uri="{BB962C8B-B14F-4D97-AF65-F5344CB8AC3E}">
        <p14:creationId xmlns:p14="http://schemas.microsoft.com/office/powerpoint/2010/main" val="47760249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2902885-0707-49BD-B555-BCA0878D5A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872139-629C-4A3A-8EBE-FAA76C26D2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C73877-07F0-45F5-9BF1-768E25FFB5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300D2FB9-8792-4B0F-8CEE-9B942A57C3E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63EEA9-E135-4635-8EC6-C63B1F7E4C4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[4,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[5,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p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errors.append(abs(a -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print(sum(errors) / len(errors))</a:t>
            </a:r>
          </a:p>
        </p:txBody>
      </p:sp>
      <p:sp>
        <p:nvSpPr>
          <p:cNvPr id="6" name="">
            <a:extLst xmlns:a="http://schemas.openxmlformats.org/drawingml/2006/main">
              <a:ext uri="{FF2B5EF4-FFF2-40B4-BE49-F238E27FC236}">
                <a16:creationId xmlns:a16="http://schemas.microsoft.com/office/drawing/2014/main" id="{B0A6BC7C-CCFD-46BA-BC70-0D596DBA795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337D6B2-EE3A-4B09-ADCD-2EC89F43059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5E01E730-67B4-4F52-9EA7-B0AB4E29E1D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9" name="">
            <a:extLst xmlns:a="http://schemas.openxmlformats.org/drawingml/2006/main">
              <a:ext uri="{FF2B5EF4-FFF2-40B4-BE49-F238E27FC236}">
                <a16:creationId xmlns:a16="http://schemas.microsoft.com/office/drawing/2014/main" id="{098B8DD3-B3A0-4574-8B93-E4137A98B13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2DC2716E-4E0E-43C9-AEE0-1913C0A1481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24299770-E7A5-41DC-992C-841C83FB26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a:t>
            </a:r>
          </a:p>
        </p:txBody>
      </p:sp>
    </p:spTree>
    <p:extLst>
      <p:ext uri="{BB962C8B-B14F-4D97-AF65-F5344CB8AC3E}">
        <p14:creationId xmlns:p14="http://schemas.microsoft.com/office/powerpoint/2010/main" val="72373159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B09132-FDC6-464D-B5D5-73F6CDFA9A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92B5C5-0DFD-4A2D-8E07-B8C719DE6F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2D503BF-291C-4601-A341-3FCFD98DF4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CFB7FD5A-4A38-4F32-8241-6BEB036DC1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2D9AF7-F6BA-456E-81B1-253C2D65A6F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2068DB4E-9402-47DD-A634-6CD771B804F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C30D389-66C9-4276-A71F-F3D41A42361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F3096FAE-5FA3-45EE-ABC1-D9C5EBA2434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26231B-14C6-47A8-AB19-B9F5420FE6D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3144D7E3-A265-43B4-B78B-F356E551444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2FE6A36-5759-4B71-8132-BF43863A5AF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CF0CFE59-9CEC-44B9-81D8-7F7ABFDB65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8</a:t>
            </a:r>
          </a:p>
        </p:txBody>
      </p:sp>
    </p:spTree>
    <p:extLst>
      <p:ext uri="{BB962C8B-B14F-4D97-AF65-F5344CB8AC3E}">
        <p14:creationId xmlns:p14="http://schemas.microsoft.com/office/powerpoint/2010/main" val="8499535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2CA113-12DE-4265-A96F-6A863245A5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B6D02C-788B-4D60-B5C1-F86A14B909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710D72-283F-4CAE-AD3D-23760BADE4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861497D9-26B3-4E37-B4E0-52CAAE6324CC}"/>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A81E48-073D-4A70-A0C9-CE3AEBA11A9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learner can save and reopen the complete notebook in the offline setting.</a:t>
            </a:r>
          </a:p>
        </p:txBody>
      </p:sp>
      <p:sp>
        <p:nvSpPr>
          <p:cNvPr id="6" name="">
            <a:extLst xmlns:a="http://schemas.openxmlformats.org/drawingml/2006/main">
              <a:ext uri="{FF2B5EF4-FFF2-40B4-BE49-F238E27FC236}">
                <a16:creationId xmlns:a16="http://schemas.microsoft.com/office/drawing/2014/main" id="{DC3405AB-BEE5-47B2-8B0A-CB9C662DF9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9</a:t>
            </a:r>
          </a:p>
        </p:txBody>
      </p:sp>
    </p:spTree>
    <p:extLst>
      <p:ext uri="{BB962C8B-B14F-4D97-AF65-F5344CB8AC3E}">
        <p14:creationId xmlns:p14="http://schemas.microsoft.com/office/powerpoint/2010/main" val="185464522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80F357-830C-473B-A3A3-8C490F7922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6941B9-A95B-41EF-9E5D-9CB59C7275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A3F3A2B-FB6C-4A9A-AD55-37C9DE543E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E3A3B6F3-F098-486C-87A7-86BED7213DF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252070-1F2F-4977-AC11-D25F565D3AA1}"/>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TEST2’s official brief, interfaces, time allocation, permitted resources and packet requirements.</a:t>
            </a:r>
          </a:p>
        </p:txBody>
      </p:sp>
      <p:sp>
        <p:nvSpPr>
          <p:cNvPr id="6" name="">
            <a:extLst xmlns:a="http://schemas.openxmlformats.org/drawingml/2006/main">
              <a:ext uri="{FF2B5EF4-FFF2-40B4-BE49-F238E27FC236}">
                <a16:creationId xmlns:a16="http://schemas.microsoft.com/office/drawing/2014/main" id="{38695CCC-5A48-4420-8331-51C3101C22D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59497C-DF65-4109-81A5-EE773A4F2E9E}"/>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test instructions issued by your lecturer.</a:t>
            </a:r>
          </a:p>
        </p:txBody>
      </p:sp>
      <p:sp>
        <p:nvSpPr>
          <p:cNvPr id="8" name="">
            <a:extLst xmlns:a="http://schemas.openxmlformats.org/drawingml/2006/main">
              <a:ext uri="{FF2B5EF4-FFF2-40B4-BE49-F238E27FC236}">
                <a16:creationId xmlns:a16="http://schemas.microsoft.com/office/drawing/2014/main" id="{536DBA31-9428-4798-8E2B-C89A99F830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10</a:t>
            </a:r>
          </a:p>
        </p:txBody>
      </p:sp>
    </p:spTree>
    <p:extLst>
      <p:ext uri="{BB962C8B-B14F-4D97-AF65-F5344CB8AC3E}">
        <p14:creationId xmlns:p14="http://schemas.microsoft.com/office/powerpoint/2010/main" val="135977141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1EB413-F1C0-487C-98DE-33BF76BFC2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18C6A8-FA94-4A2A-85F4-F077F8503E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449E64-0145-4E96-BD1C-0F54CEDAD0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a:t>
            </a:r>
          </a:p>
        </p:txBody>
      </p:sp>
      <p:sp>
        <p:nvSpPr>
          <p:cNvPr id="4" name="">
            <a:extLst xmlns:a="http://schemas.openxmlformats.org/drawingml/2006/main">
              <a:ext uri="{FF2B5EF4-FFF2-40B4-BE49-F238E27FC236}">
                <a16:creationId xmlns:a16="http://schemas.microsoft.com/office/drawing/2014/main" id="{FB48AF4A-7F53-448B-8E5A-4CC553E43E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E414D2-9ADC-435F-9A89-5AC21EE9047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F32BDCE0-AE2C-43CE-906A-9B7719FE813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2AAB43-1A3D-4508-93D5-054E38C4DB3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0E7C6707-8A06-46BE-98CA-E86898EAFC2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DDA879-105D-43E1-A55C-CE548EECF6A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A95D906B-6A2B-40E5-A55B-F5C27EF4014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5CA1487-1524-4B2F-B9DC-F87C9E27AF4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917FD8D8-F3D2-4238-B63E-E128ED4DF8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11</a:t>
            </a:r>
          </a:p>
        </p:txBody>
      </p:sp>
    </p:spTree>
    <p:extLst>
      <p:ext uri="{BB962C8B-B14F-4D97-AF65-F5344CB8AC3E}">
        <p14:creationId xmlns:p14="http://schemas.microsoft.com/office/powerpoint/2010/main" val="19659069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D6C68F-7E06-4976-96A7-33E9D6CC2A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148B50-0E00-4041-AC62-7A0AD787AD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DA397E-8AD5-434E-88EA-2BF5A9C979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247E5E5C-B0DB-4485-AB6D-952A445177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8AA364-6C24-422F-A6D6-4662DB1D8F2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E53B34CC-D73F-49B9-A50D-505E5FCD6B2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77C841-7908-466D-9B03-16F4CF1559F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B39589FF-F69F-4A58-8B63-F3773E4F175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D1450B-FA66-4BEE-B246-9A26CF2EE17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20A41A59-ABDB-4904-8D72-03F24CD38F2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34160E8-FD48-45ED-9A7C-B6109513E98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9A385513-E2EC-4A78-B315-C4ADD2E046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12</a:t>
            </a:r>
          </a:p>
        </p:txBody>
      </p:sp>
    </p:spTree>
    <p:extLst>
      <p:ext uri="{BB962C8B-B14F-4D97-AF65-F5344CB8AC3E}">
        <p14:creationId xmlns:p14="http://schemas.microsoft.com/office/powerpoint/2010/main" val="190818414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72B14F-757D-4AC3-9482-1CA67E84ED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8ACB2D-C38C-47DD-A0BF-9BA7DA2141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67CE6FE-3673-4435-A251-6B922C2FAE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EE7CE9CD-FF27-446E-9B60-72B8C3EDF6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45F690-E919-46B5-8C41-674E4E46850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DEE5F6BA-CF59-40F2-81C9-57347D57B71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924AF8-AA2F-4204-BC8A-6B536980DAC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framing (10.0 total): The ML task is correctly identified, the target named, and regression vs classification correctly chosen and justified.</a:t>
            </a:r>
          </a:p>
        </p:txBody>
      </p:sp>
      <p:sp>
        <p:nvSpPr>
          <p:cNvPr id="8" name="">
            <a:extLst xmlns:a="http://schemas.openxmlformats.org/drawingml/2006/main">
              <a:ext uri="{FF2B5EF4-FFF2-40B4-BE49-F238E27FC236}">
                <a16:creationId xmlns:a16="http://schemas.microsoft.com/office/drawing/2014/main" id="{A8876A77-4C65-4202-A210-37B206B919F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A2B07E-3772-434B-B507-31C18073104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preparation &amp; leakage control (20.0 total): Cleaning and encoding appropriate.</a:t>
            </a:r>
          </a:p>
        </p:txBody>
      </p:sp>
      <p:sp>
        <p:nvSpPr>
          <p:cNvPr id="10" name="">
            <a:extLst xmlns:a="http://schemas.openxmlformats.org/drawingml/2006/main">
              <a:ext uri="{FF2B5EF4-FFF2-40B4-BE49-F238E27FC236}">
                <a16:creationId xmlns:a16="http://schemas.microsoft.com/office/drawing/2014/main" id="{F87667AD-75AE-40ED-A82A-E4E1C49D8FA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EC43C3A-BC8D-46AA-A3F3-81B125C025F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Split made before any fitting.</a:t>
            </a:r>
          </a:p>
        </p:txBody>
      </p:sp>
      <p:sp>
        <p:nvSpPr>
          <p:cNvPr id="12" name="">
            <a:extLst xmlns:a="http://schemas.openxmlformats.org/drawingml/2006/main">
              <a:ext uri="{FF2B5EF4-FFF2-40B4-BE49-F238E27FC236}">
                <a16:creationId xmlns:a16="http://schemas.microsoft.com/office/drawing/2014/main" id="{D08B3F2F-8EB7-48C2-92C6-E585AF7561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13</a:t>
            </a:r>
          </a:p>
        </p:txBody>
      </p:sp>
    </p:spTree>
    <p:extLst>
      <p:ext uri="{BB962C8B-B14F-4D97-AF65-F5344CB8AC3E}">
        <p14:creationId xmlns:p14="http://schemas.microsoft.com/office/powerpoint/2010/main" val="116623244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417A180-4E30-4362-B8DA-A5AC5279F0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4A2B1B-E09E-46A1-A0CD-1314037E27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2BE429A-E61C-4D3B-909B-2ECB12EE06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18E68DDE-2606-4BAE-84C4-6FFC144CCC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B74CAE-17C7-42B7-893D-B752E01436B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D37D89C7-E433-41D2-BC53-2D83EB1D364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0D1B4B2-36C3-4E63-BD32-312BD6B5D3B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leakage present - a leak found by the marker caps this criterion at zero.</a:t>
            </a:r>
          </a:p>
        </p:txBody>
      </p:sp>
      <p:sp>
        <p:nvSpPr>
          <p:cNvPr id="8" name="">
            <a:extLst xmlns:a="http://schemas.openxmlformats.org/drawingml/2006/main">
              <a:ext uri="{FF2B5EF4-FFF2-40B4-BE49-F238E27FC236}">
                <a16:creationId xmlns:a16="http://schemas.microsoft.com/office/drawing/2014/main" id="{F04B44AF-0E38-475D-B15C-5844AE19159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0969BE-8B2B-4A08-89FE-B97A6077E46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Modelling protocol (20.0 total): At least two models built and compared under identical conditions.</a:t>
            </a:r>
          </a:p>
        </p:txBody>
      </p:sp>
      <p:sp>
        <p:nvSpPr>
          <p:cNvPr id="10" name="">
            <a:extLst xmlns:a="http://schemas.openxmlformats.org/drawingml/2006/main">
              <a:ext uri="{FF2B5EF4-FFF2-40B4-BE49-F238E27FC236}">
                <a16:creationId xmlns:a16="http://schemas.microsoft.com/office/drawing/2014/main" id="{1C973D7A-11E5-4BFE-9914-840A49E74B2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A61095-1871-4E67-87E8-760B5AA184B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included.</a:t>
            </a:r>
          </a:p>
        </p:txBody>
      </p:sp>
      <p:sp>
        <p:nvSpPr>
          <p:cNvPr id="12" name="">
            <a:extLst xmlns:a="http://schemas.openxmlformats.org/drawingml/2006/main">
              <a:ext uri="{FF2B5EF4-FFF2-40B4-BE49-F238E27FC236}">
                <a16:creationId xmlns:a16="http://schemas.microsoft.com/office/drawing/2014/main" id="{AEA88640-7171-4059-B7DD-4295EE658B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14</a:t>
            </a:r>
          </a:p>
        </p:txBody>
      </p:sp>
    </p:spTree>
    <p:extLst>
      <p:ext uri="{BB962C8B-B14F-4D97-AF65-F5344CB8AC3E}">
        <p14:creationId xmlns:p14="http://schemas.microsoft.com/office/powerpoint/2010/main" val="191841319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E1887F4-91A4-4ACD-87CB-AEE9205CC5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6EB171-95B4-41F6-80D6-BBD69AE316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72F449-FC56-4444-B93F-3E57FE90F4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19AB9621-D234-4E57-BEE9-8FCADFC959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8E9793-A56E-4BE3-B005-88D6E0F5E2A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6" name="">
            <a:extLst xmlns:a="http://schemas.openxmlformats.org/drawingml/2006/main">
              <a:ext uri="{FF2B5EF4-FFF2-40B4-BE49-F238E27FC236}">
                <a16:creationId xmlns:a16="http://schemas.microsoft.com/office/drawing/2014/main" id="{A01506C2-03B0-4B28-BB1C-A1F39FF97FB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A498D2-F1C5-442C-A9AA-4E243F67A38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Evaluation &amp; metric justification (20.0 total): Correct metrics computed.</a:t>
            </a:r>
          </a:p>
        </p:txBody>
      </p:sp>
      <p:sp>
        <p:nvSpPr>
          <p:cNvPr id="8" name="">
            <a:extLst xmlns:a="http://schemas.openxmlformats.org/drawingml/2006/main">
              <a:ext uri="{FF2B5EF4-FFF2-40B4-BE49-F238E27FC236}">
                <a16:creationId xmlns:a16="http://schemas.microsoft.com/office/drawing/2014/main" id="{2C22A868-BBE0-4885-A680-B13499072DA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E96D4B-0A4B-4DE2-8958-ABE1D0DA583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Metric choice defended against the cost of error.</a:t>
            </a:r>
          </a:p>
        </p:txBody>
      </p:sp>
      <p:sp>
        <p:nvSpPr>
          <p:cNvPr id="10" name="">
            <a:extLst xmlns:a="http://schemas.openxmlformats.org/drawingml/2006/main">
              <a:ext uri="{FF2B5EF4-FFF2-40B4-BE49-F238E27FC236}">
                <a16:creationId xmlns:a16="http://schemas.microsoft.com/office/drawing/2014/main" id="{3C484BFD-AD2E-4B73-8D85-B36F2D246F4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6AB8E8-8380-4082-905A-15426F785E1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Cross-validation reported with a spread, not a single number.</a:t>
            </a:r>
          </a:p>
        </p:txBody>
      </p:sp>
      <p:sp>
        <p:nvSpPr>
          <p:cNvPr id="12" name="">
            <a:extLst xmlns:a="http://schemas.openxmlformats.org/drawingml/2006/main">
              <a:ext uri="{FF2B5EF4-FFF2-40B4-BE49-F238E27FC236}">
                <a16:creationId xmlns:a16="http://schemas.microsoft.com/office/drawing/2014/main" id="{738F2856-CD61-45BC-BA3C-28CF840425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15</a:t>
            </a:r>
          </a:p>
        </p:txBody>
      </p:sp>
    </p:spTree>
    <p:extLst>
      <p:ext uri="{BB962C8B-B14F-4D97-AF65-F5344CB8AC3E}">
        <p14:creationId xmlns:p14="http://schemas.microsoft.com/office/powerpoint/2010/main" val="1994711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B611F22-22DE-4493-9576-17E73DD7E0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70ED2B-55FB-4670-99BD-3817F5507B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568DFC-D337-4FDD-8EBF-06461C37DF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0262B333-819F-4E22-88A9-E8BB11B39B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5FADCF-D079-498F-B9F3-9A502BC00D8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&amp; limits (20.0 total): The result is stated in physical or operational units.</a:t>
            </a:r>
          </a:p>
        </p:txBody>
      </p:sp>
      <p:sp>
        <p:nvSpPr>
          <p:cNvPr id="6" name="">
            <a:extLst xmlns:a="http://schemas.openxmlformats.org/drawingml/2006/main">
              <a:ext uri="{FF2B5EF4-FFF2-40B4-BE49-F238E27FC236}">
                <a16:creationId xmlns:a16="http://schemas.microsoft.com/office/drawing/2014/main" id="{35CF3824-7910-46D6-B4E9-B26B0E5B03F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08E45A-A51F-46A1-B33F-4DC31048B70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genuine limitations given.</a:t>
            </a:r>
          </a:p>
        </p:txBody>
      </p:sp>
      <p:sp>
        <p:nvSpPr>
          <p:cNvPr id="8" name="">
            <a:extLst xmlns:a="http://schemas.openxmlformats.org/drawingml/2006/main">
              <a:ext uri="{FF2B5EF4-FFF2-40B4-BE49-F238E27FC236}">
                <a16:creationId xmlns:a16="http://schemas.microsoft.com/office/drawing/2014/main" id="{C4F4C6B1-0972-4A32-B2A0-9347868ABBA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668F5C-FC59-4021-83BB-59AE996C447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clear position on whether it should be deployed.</a:t>
            </a:r>
          </a:p>
        </p:txBody>
      </p:sp>
      <p:sp>
        <p:nvSpPr>
          <p:cNvPr id="10" name="">
            <a:extLst xmlns:a="http://schemas.openxmlformats.org/drawingml/2006/main">
              <a:ext uri="{FF2B5EF4-FFF2-40B4-BE49-F238E27FC236}">
                <a16:creationId xmlns:a16="http://schemas.microsoft.com/office/drawing/2014/main" id="{2718D99B-5F66-4342-B755-B79765D4894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C888E15-B3E3-448C-9094-4FD9702D284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clarity (10.0 total): Runs top to bottom.</a:t>
            </a:r>
          </a:p>
        </p:txBody>
      </p:sp>
      <p:sp>
        <p:nvSpPr>
          <p:cNvPr id="12" name="">
            <a:extLst xmlns:a="http://schemas.openxmlformats.org/drawingml/2006/main">
              <a:ext uri="{FF2B5EF4-FFF2-40B4-BE49-F238E27FC236}">
                <a16:creationId xmlns:a16="http://schemas.microsoft.com/office/drawing/2014/main" id="{95626C68-A66E-4C40-8223-F4D00E4196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16</a:t>
            </a:r>
          </a:p>
        </p:txBody>
      </p:sp>
    </p:spTree>
    <p:extLst>
      <p:ext uri="{BB962C8B-B14F-4D97-AF65-F5344CB8AC3E}">
        <p14:creationId xmlns:p14="http://schemas.microsoft.com/office/powerpoint/2010/main" val="206996148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AC62A7-E97A-4294-B2C5-EC9681E7ED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D16D00-1BBE-4234-A601-07884AEFDD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E6B2D7-E116-40B3-89F0-279B660E0E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95F06CA9-EDC1-4CD1-BB94-8ABE061BBC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36CC73-ADFA-419D-B704-D6EA9FB43B0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Readable.</a:t>
            </a:r>
          </a:p>
        </p:txBody>
      </p:sp>
      <p:sp>
        <p:nvSpPr>
          <p:cNvPr id="6" name="">
            <a:extLst xmlns:a="http://schemas.openxmlformats.org/drawingml/2006/main">
              <a:ext uri="{FF2B5EF4-FFF2-40B4-BE49-F238E27FC236}">
                <a16:creationId xmlns:a16="http://schemas.microsoft.com/office/drawing/2014/main" id="{D102D132-E8F3-4443-95B3-FE95D57E412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311D66-243D-430B-89A6-700EC805041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Commented where the intent is not obvious.</a:t>
            </a:r>
          </a:p>
        </p:txBody>
      </p:sp>
      <p:sp>
        <p:nvSpPr>
          <p:cNvPr id="8" name="">
            <a:extLst xmlns:a="http://schemas.openxmlformats.org/drawingml/2006/main">
              <a:ext uri="{FF2B5EF4-FFF2-40B4-BE49-F238E27FC236}">
                <a16:creationId xmlns:a16="http://schemas.microsoft.com/office/drawing/2014/main" id="{02B5DA14-EC77-4D8F-B750-1EE3F440718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350F97-6A4F-4DA3-8A74-6E0DDABC573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Execution requirement for c2: Data-preparation credit requires the published leakage-safe split check to pass.</a:t>
            </a:r>
          </a:p>
        </p:txBody>
      </p:sp>
      <p:sp>
        <p:nvSpPr>
          <p:cNvPr id="10" name="">
            <a:extLst xmlns:a="http://schemas.openxmlformats.org/drawingml/2006/main">
              <a:ext uri="{FF2B5EF4-FFF2-40B4-BE49-F238E27FC236}">
                <a16:creationId xmlns:a16="http://schemas.microsoft.com/office/drawing/2014/main" id="{D5F45A72-5417-4640-ABD0-61540FE251A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06CF75D-D9C0-4492-9FE6-EB40DFBBA47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this check fails, written marks in that criterion are zero; other criteria remain independently scored.</a:t>
            </a:r>
          </a:p>
        </p:txBody>
      </p:sp>
      <p:sp>
        <p:nvSpPr>
          <p:cNvPr id="12" name="">
            <a:extLst xmlns:a="http://schemas.openxmlformats.org/drawingml/2006/main">
              <a:ext uri="{FF2B5EF4-FFF2-40B4-BE49-F238E27FC236}">
                <a16:creationId xmlns:a16="http://schemas.microsoft.com/office/drawing/2014/main" id="{C60C0AC4-75B7-4563-825E-69F1F5C3E2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17</a:t>
            </a:r>
          </a:p>
        </p:txBody>
      </p:sp>
    </p:spTree>
    <p:extLst>
      <p:ext uri="{BB962C8B-B14F-4D97-AF65-F5344CB8AC3E}">
        <p14:creationId xmlns:p14="http://schemas.microsoft.com/office/powerpoint/2010/main" val="26330621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1B99DE1-49C3-4E61-9580-552F4EBF48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B243FA-B0CE-4868-A252-1AC96773A0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00AAB6-1227-40A0-AE2B-83DD75F342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664E52D3-5226-44A1-95E6-AC72F2B7B25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95CB1C-2489-463F-9199-2FD28A13A5C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5E5760F8-B60D-4561-B343-C1AF1F41548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EB7C61-CD5E-42D3-BAA5-B0AEC47A1F5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A9A42F58-6750-4E24-BA4B-6DBDF929E8C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F3EA4B-9D95-4223-847E-DDF197B164D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FAE50482-C1AA-4B80-A8B7-3D2A06FACEE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1AA415-FF96-4197-8348-C77DD9D733D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5205CE5B-7FAC-4E74-8C50-16B346B85C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18</a:t>
            </a:r>
          </a:p>
        </p:txBody>
      </p:sp>
    </p:spTree>
    <p:extLst>
      <p:ext uri="{BB962C8B-B14F-4D97-AF65-F5344CB8AC3E}">
        <p14:creationId xmlns:p14="http://schemas.microsoft.com/office/powerpoint/2010/main" val="212366107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D3F249B-4906-4C7F-A7F0-3D7B640A8C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2E4F9F-4D5B-4AD0-B380-0537EB20FE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F043471-0AC3-445B-AE56-DA1ED9B33E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BA585F39-CB30-45E0-99D1-E1CC6A5FD5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1497122-9E2F-452B-A472-13C8946E561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6E712BBB-F94D-4620-B5BD-0B451A4F930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F86278-7D72-456B-BF8E-63A775B6178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CA6DFED5-B807-4A3E-AD30-88A6E49939D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AA9F86-9800-4A71-A19A-EB59C382A50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0907C1BF-727F-4C68-BC93-A7D4B1311B4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1D8396F-0D50-4A35-9A91-FC93D1B1CB2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A0F76BB1-1B93-4055-A4F5-3D9BFA76AA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19</a:t>
            </a:r>
          </a:p>
        </p:txBody>
      </p:sp>
    </p:spTree>
    <p:extLst>
      <p:ext uri="{BB962C8B-B14F-4D97-AF65-F5344CB8AC3E}">
        <p14:creationId xmlns:p14="http://schemas.microsoft.com/office/powerpoint/2010/main" val="176609105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67C519E-9486-46DD-B574-95E8308EE0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AC58CB-E95F-47DA-AC3A-5A44030EDA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1D99271-4022-4582-9CA5-771A897A9F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submission</a:t>
            </a:r>
          </a:p>
        </p:txBody>
      </p:sp>
      <p:sp>
        <p:nvSpPr>
          <p:cNvPr id="4" name="">
            <a:extLst xmlns:a="http://schemas.openxmlformats.org/drawingml/2006/main">
              <a:ext uri="{FF2B5EF4-FFF2-40B4-BE49-F238E27FC236}">
                <a16:creationId xmlns:a16="http://schemas.microsoft.com/office/drawing/2014/main" id="{5D639463-5EA1-46C0-B4F8-78E9BE5DA78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BCAD4B-EA17-444B-9B22-EE5A466B20F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CA6793DC-9BA9-41C4-AEB2-7A2233185CA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811EFF-A7F4-4B8E-B55E-6738EC3794C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2C74C2EF-C8CC-4F54-9E42-AF64FD75C33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321286-E34E-4E6D-89F5-3BDD39528D6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959DBFCC-5F8D-4647-A2DB-D4DB9EEC964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37747B0-1EAD-44EC-8CE1-AA08557941C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D55E3300-CB13-4F6E-A925-27FFE31D55B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A544D52-68D8-49F3-B06B-0D6997F3F64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308fbaef3924a7b"/>
              </a:rPr>
              <a:t>Open TEST2 assignment form</a:t>
            </a:r>
          </a:p>
        </p:txBody>
      </p:sp>
      <p:sp>
        <p:nvSpPr>
          <p:cNvPr id="14" name="">
            <a:extLst xmlns:a="http://schemas.openxmlformats.org/drawingml/2006/main">
              <a:ext uri="{FF2B5EF4-FFF2-40B4-BE49-F238E27FC236}">
                <a16:creationId xmlns:a16="http://schemas.microsoft.com/office/drawing/2014/main" id="{886FA8B4-B6B1-4643-922F-3BCC2A0B68D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https://docs.google.com/forms/d/e/1FAIpQLSdvVxHeeW8LiNgjsQeqqFnAYSBPBxJjBkBuAKSj1gAQ4gVHkQ/viewform</a:t>
            </a:r>
          </a:p>
        </p:txBody>
      </p:sp>
      <p:sp>
        <p:nvSpPr>
          <p:cNvPr id="15" name="">
            <a:extLst xmlns:a="http://schemas.openxmlformats.org/drawingml/2006/main">
              <a:ext uri="{FF2B5EF4-FFF2-40B4-BE49-F238E27FC236}">
                <a16:creationId xmlns:a16="http://schemas.microsoft.com/office/drawing/2014/main" id="{EB5513C7-C83D-44E4-BC43-AE625F06F3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20</a:t>
            </a:r>
          </a:p>
        </p:txBody>
      </p:sp>
    </p:spTree>
    <p:extLst>
      <p:ext uri="{BB962C8B-B14F-4D97-AF65-F5344CB8AC3E}">
        <p14:creationId xmlns:p14="http://schemas.microsoft.com/office/powerpoint/2010/main" val="1315042738"/>
      </p:ext>
    </p:extLst>
  </p:cSld>
</p:sld>
</file>

<file path=ppt/slides/slide2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10708445-F976-424F-9766-89754AC6EB4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55D6DC44-B656-4BA0-8B20-D5833A5A5E7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3BB87E24-16D5-41DD-8782-7A4DBD7521F9}"/>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9D3797E9-1CAC-422F-87C8-3AED53FE4246}"/>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training-only preprocessing and locate your saved evidence.</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99D8CD31-F433-40BA-BF98-FA72B185AD92}"/>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795151FB-EA9F-490C-A234-1CF8D6A697F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14   21</a:t>
            </a:r>
          </a:p>
        </p:txBody>
      </p:sp>
    </p:spTree>
    <p:extLst>
      <p:ext uri="{BB962C8B-B14F-4D97-AF65-F5344CB8AC3E}">
        <ns3:creationId val="8283535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2026-09-28T21:43:18.2870000Z</dcterms:created>
  <dcterms:modified xsi:type="dcterms:W3CDTF">2026-09-28T21:43:18.2870000Z</dcterms:modified>
</coreProperties>
</file>