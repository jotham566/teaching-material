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4ca513e8d5e4280" /><Relationship Type="http://schemas.openxmlformats.org/officeDocument/2006/relationships/extended-properties" Target="/docProps/app.xml" Id="R10b8b2ee43f14c79" /><Relationship Type="http://schemas.openxmlformats.org/officeDocument/2006/relationships/officeDocument" Target="/ppt/presentation.xml" Id="R3a9240b837d44cd3" /></Relationships>
</file>

<file path=ppt/presentation.xml><?xml version="1.0" encoding="utf-8"?>
<p:presentation xmlns:p="http://schemas.openxmlformats.org/presentationml/2006/main">
  <p:sldMasterIdLst>
    <p:sldMasterId xmlns:r="http://schemas.openxmlformats.org/officeDocument/2006/relationships" id="2147483648" r:id="Ra98b85f2fa4a4d69"/>
  </p:sldMasterIdLst>
  <p:notesMasterIdLst>
    <p:notesMasterId xmlns:r="http://schemas.openxmlformats.org/officeDocument/2006/relationships" r:id="R1b36f0835ffc40a3"/>
  </p:notesMasterIdLst>
  <p:sldIdLst>
    <p:sldId xmlns:r="http://schemas.openxmlformats.org/officeDocument/2006/relationships" id="256" r:id="R1fbced63269444b5"/>
    <p:sldId xmlns:r="http://schemas.openxmlformats.org/officeDocument/2006/relationships" id="257" r:id="R18f34add8aed40de"/>
    <p:sldId xmlns:r="http://schemas.openxmlformats.org/officeDocument/2006/relationships" id="258" r:id="R9196a8e9630740e6"/>
    <p:sldId xmlns:r="http://schemas.openxmlformats.org/officeDocument/2006/relationships" id="259" r:id="Rbcfcb1b17aa9472f"/>
    <p:sldId xmlns:r="http://schemas.openxmlformats.org/officeDocument/2006/relationships" id="260" r:id="Ra7ac6d2670234d9d"/>
    <p:sldId xmlns:r="http://schemas.openxmlformats.org/officeDocument/2006/relationships" id="261" r:id="R86c03ad9bbac4d95"/>
    <p:sldId xmlns:r="http://schemas.openxmlformats.org/officeDocument/2006/relationships" id="262" r:id="R5bd8d2ee1c8a41ac"/>
    <p:sldId xmlns:r="http://schemas.openxmlformats.org/officeDocument/2006/relationships" id="263" r:id="R05094557ffc04220"/>
    <p:sldId xmlns:r="http://schemas.openxmlformats.org/officeDocument/2006/relationships" id="264" r:id="R950862cb28f244ea"/>
    <p:sldId xmlns:r="http://schemas.openxmlformats.org/officeDocument/2006/relationships" id="265" r:id="Rafb7e84729d241c3"/>
    <p:sldId xmlns:r="http://schemas.openxmlformats.org/officeDocument/2006/relationships" id="266" r:id="R0ca62b060f744304"/>
    <p:sldId xmlns:r="http://schemas.openxmlformats.org/officeDocument/2006/relationships" id="267" r:id="Rca4f00fb406f4862"/>
    <p:sldId xmlns:r="http://schemas.openxmlformats.org/officeDocument/2006/relationships" id="268" r:id="R3b2aba0f94644348"/>
    <p:sldId xmlns:r="http://schemas.openxmlformats.org/officeDocument/2006/relationships" id="269" r:id="Rd077e427357542be"/>
    <p:sldId xmlns:r="http://schemas.openxmlformats.org/officeDocument/2006/relationships" id="270" r:id="Ra7ce957955434bb3"/>
    <p:sldId xmlns:r="http://schemas.openxmlformats.org/officeDocument/2006/relationships" id="271" r:id="R47ff1f6c3a3649f2"/>
    <p:sldId xmlns:r="http://schemas.openxmlformats.org/officeDocument/2006/relationships" id="272" r:id="R4bb5383a78004aba"/>
    <p:sldId xmlns:r="http://schemas.openxmlformats.org/officeDocument/2006/relationships" id="273" r:id="R35c4ae9a2a864a18"/>
    <p:sldId xmlns:r="http://schemas.openxmlformats.org/officeDocument/2006/relationships" id="274" r:id="R7ef82a9c82824626"/>
    <p:sldId xmlns:r="http://schemas.openxmlformats.org/officeDocument/2006/relationships" id="275" r:id="Rb29f480245284775"/>
    <p:sldId xmlns:r="http://schemas.openxmlformats.org/officeDocument/2006/relationships" id="276" r:id="R952985cc807247f4"/>
    <p:sldId xmlns:r="http://schemas.openxmlformats.org/officeDocument/2006/relationships" id="277" r:id="R57daacd88d2b4288"/>
    <p:sldId xmlns:r="http://schemas.openxmlformats.org/officeDocument/2006/relationships" id="278" r:id="R7eddf24f335a46ab"/>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9fb9ea5632b4b74" /><Relationship Type="http://schemas.openxmlformats.org/officeDocument/2006/relationships/slideMaster" Target="/ppt/slideMasters/slideMaster1.xml" Id="Ra98b85f2fa4a4d69" /><Relationship Type="http://schemas.openxmlformats.org/officeDocument/2006/relationships/notesMaster" Target="/ppt/notesMasters/notesMaster1.xml" Id="R1b36f0835ffc40a3" /><Relationship Type="http://schemas.openxmlformats.org/officeDocument/2006/relationships/presProps" Target="/ppt/presProps.xml" Id="Red835d6803bc4fed" /><Relationship Type="http://schemas.openxmlformats.org/officeDocument/2006/relationships/tableStyles" Target="/ppt/tableStyles.xml" Id="R674976b6c099458e" /><Relationship Type="http://schemas.openxmlformats.org/officeDocument/2006/relationships/slide" Target="/ppt/slides/slide1.xml" Id="R1fbced63269444b5" /><Relationship Type="http://schemas.openxmlformats.org/officeDocument/2006/relationships/slide" Target="/ppt/slides/slide2.xml" Id="R18f34add8aed40de" /><Relationship Type="http://schemas.openxmlformats.org/officeDocument/2006/relationships/slide" Target="/ppt/slides/slide3.xml" Id="R9196a8e9630740e6" /><Relationship Type="http://schemas.openxmlformats.org/officeDocument/2006/relationships/slide" Target="/ppt/slides/slide4.xml" Id="Rbcfcb1b17aa9472f" /><Relationship Type="http://schemas.openxmlformats.org/officeDocument/2006/relationships/slide" Target="/ppt/slides/slide5.xml" Id="Ra7ac6d2670234d9d" /><Relationship Type="http://schemas.openxmlformats.org/officeDocument/2006/relationships/slide" Target="/ppt/slides/slide6.xml" Id="R86c03ad9bbac4d95" /><Relationship Type="http://schemas.openxmlformats.org/officeDocument/2006/relationships/slide" Target="/ppt/slides/slide7.xml" Id="R5bd8d2ee1c8a41ac" /><Relationship Type="http://schemas.openxmlformats.org/officeDocument/2006/relationships/slide" Target="/ppt/slides/slide8.xml" Id="R05094557ffc04220" /><Relationship Type="http://schemas.openxmlformats.org/officeDocument/2006/relationships/slide" Target="/ppt/slides/slide9.xml" Id="R950862cb28f244ea" /><Relationship Type="http://schemas.openxmlformats.org/officeDocument/2006/relationships/slide" Target="/ppt/slides/slide10.xml" Id="Rafb7e84729d241c3" /><Relationship Type="http://schemas.openxmlformats.org/officeDocument/2006/relationships/slide" Target="/ppt/slides/slide11.xml" Id="R0ca62b060f744304" /><Relationship Type="http://schemas.openxmlformats.org/officeDocument/2006/relationships/slide" Target="/ppt/slides/slide12.xml" Id="Rca4f00fb406f4862" /><Relationship Type="http://schemas.openxmlformats.org/officeDocument/2006/relationships/slide" Target="/ppt/slides/slide13.xml" Id="R3b2aba0f94644348" /><Relationship Type="http://schemas.openxmlformats.org/officeDocument/2006/relationships/slide" Target="/ppt/slides/slide14.xml" Id="Rd077e427357542be" /><Relationship Type="http://schemas.openxmlformats.org/officeDocument/2006/relationships/slide" Target="/ppt/slides/slide15.xml" Id="Ra7ce957955434bb3" /><Relationship Type="http://schemas.openxmlformats.org/officeDocument/2006/relationships/slide" Target="/ppt/slides/slide16.xml" Id="R47ff1f6c3a3649f2" /><Relationship Type="http://schemas.openxmlformats.org/officeDocument/2006/relationships/slide" Target="/ppt/slides/slide17.xml" Id="R4bb5383a78004aba" /><Relationship Type="http://schemas.openxmlformats.org/officeDocument/2006/relationships/slide" Target="/ppt/slides/slide18.xml" Id="R35c4ae9a2a864a18" /><Relationship Type="http://schemas.openxmlformats.org/officeDocument/2006/relationships/slide" Target="/ppt/slides/slide19.xml" Id="R7ef82a9c82824626" /><Relationship Type="http://schemas.openxmlformats.org/officeDocument/2006/relationships/slide" Target="/ppt/slides/slide20.xml" Id="Rb29f480245284775" /><Relationship Type="http://schemas.openxmlformats.org/officeDocument/2006/relationships/slide" Target="/ppt/slides/slide21.xml" Id="R952985cc807247f4" /><Relationship Type="http://schemas.openxmlformats.org/officeDocument/2006/relationships/slide" Target="/ppt/slides/slide22.xml" Id="R57daacd88d2b4288" /><Relationship Type="http://schemas.openxmlformats.org/officeDocument/2006/relationships/slide" Target="/ppt/slides/slide23.xml" Id="R7eddf24f335a46a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c374a148dbd40c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ee164e23a164413" /><Relationship Type="http://schemas.openxmlformats.org/officeDocument/2006/relationships/notesMaster" Target="/ppt/notesMasters/notesMaster1.xml" Id="R472bf992e2634d23" /></Relationships>
</file>

<file path=ppt/notesSlides/_rels/notesSlide2.xml.rels>&#65279;<?xml version="1.0" encoding="utf-8"?><Relationships xmlns="http://schemas.openxmlformats.org/package/2006/relationships"><Relationship Type="http://schemas.openxmlformats.org/officeDocument/2006/relationships/slide" Target="/ppt/slides/slide2.xml" Id="Rd5df1ebead7546d5" /><Relationship Type="http://schemas.openxmlformats.org/officeDocument/2006/relationships/notesMaster" Target="/ppt/notesMasters/notesMaster1.xml" Id="Rd9fe290818f24fed" /></Relationships>
</file>

<file path=ppt/notesSlides/_rels/notesSlide3.xml.rels>&#65279;<?xml version="1.0" encoding="utf-8"?><Relationships xmlns="http://schemas.openxmlformats.org/package/2006/relationships"><Relationship Type="http://schemas.openxmlformats.org/officeDocument/2006/relationships/slide" Target="/ppt/slides/slide3.xml" Id="R4845e5a85dbc46e5" /><Relationship Type="http://schemas.openxmlformats.org/officeDocument/2006/relationships/notesMaster" Target="/ppt/notesMasters/notesMaster1.xml" Id="R66e75e269cda423b" /></Relationships>
</file>

<file path=ppt/notesSlides/_rels/notesSlide4.xml.rels>&#65279;<?xml version="1.0" encoding="utf-8"?><Relationships xmlns="http://schemas.openxmlformats.org/package/2006/relationships"><Relationship Type="http://schemas.openxmlformats.org/officeDocument/2006/relationships/slide" Target="/ppt/slides/slide4.xml" Id="R51280a175c1b47ac" /><Relationship Type="http://schemas.openxmlformats.org/officeDocument/2006/relationships/notesMaster" Target="/ppt/notesMasters/notesMaster1.xml" Id="Rde05393722454ef8" /></Relationships>
</file>

<file path=ppt/notesSlides/_rels/notesSlide5.xml.rels>&#65279;<?xml version="1.0" encoding="utf-8"?><Relationships xmlns="http://schemas.openxmlformats.org/package/2006/relationships"><Relationship Type="http://schemas.openxmlformats.org/officeDocument/2006/relationships/slide" Target="/ppt/slides/slide5.xml" Id="R7efb23d37e564e35" /><Relationship Type="http://schemas.openxmlformats.org/officeDocument/2006/relationships/notesMaster" Target="/ppt/notesMasters/notesMaster1.xml" Id="Rc8a37f88028a46d8" /></Relationships>
</file>

<file path=ppt/notesSlides/_rels/notesSlide6.xml.rels>&#65279;<?xml version="1.0" encoding="utf-8"?><Relationships xmlns="http://schemas.openxmlformats.org/package/2006/relationships"><Relationship Type="http://schemas.openxmlformats.org/officeDocument/2006/relationships/slide" Target="/ppt/slides/slide6.xml" Id="Rc4b6ec5567944268" /><Relationship Type="http://schemas.openxmlformats.org/officeDocument/2006/relationships/notesMaster" Target="/ppt/notesMasters/notesMaster1.xml" Id="Rb7c7502e89e44f43" /></Relationships>
</file>

<file path=ppt/notesSlides/_rels/notesSlide7.xml.rels>&#65279;<?xml version="1.0" encoding="utf-8"?><Relationships xmlns="http://schemas.openxmlformats.org/package/2006/relationships"><Relationship Type="http://schemas.openxmlformats.org/officeDocument/2006/relationships/slide" Target="/ppt/slides/slide7.xml" Id="R637e5b9469ed41da" /><Relationship Type="http://schemas.openxmlformats.org/officeDocument/2006/relationships/notesMaster" Target="/ppt/notesMasters/notesMaster1.xml" Id="Ra26d10ea70e24735" /></Relationships>
</file>

<file path=ppt/notesSlides/_rels/notesSlide8.xml.rels>&#65279;<?xml version="1.0" encoding="utf-8"?><Relationships xmlns="http://schemas.openxmlformats.org/package/2006/relationships"><Relationship Type="http://schemas.openxmlformats.org/officeDocument/2006/relationships/slide" Target="/ppt/slides/slide8.xml" Id="R7dfe57689b744040" /><Relationship Type="http://schemas.openxmlformats.org/officeDocument/2006/relationships/notesMaster" Target="/ppt/notesMasters/notesMaster1.xml" Id="Raad4d5e5c7eb42f8" /></Relationships>
</file>

<file path=ppt/notesSlides/_rels/notesSlide9.xml.rels>&#65279;<?xml version="1.0" encoding="utf-8"?><Relationships xmlns="http://schemas.openxmlformats.org/package/2006/relationships"><Relationship Type="http://schemas.openxmlformats.org/officeDocument/2006/relationships/slide" Target="/ppt/slides/slide9.xml" Id="Rfeecbf1d984f46bc" /><Relationship Type="http://schemas.openxmlformats.org/officeDocument/2006/relationships/notesMaster" Target="/ppt/notesMasters/notesMaster1.xml" Id="R4450afcd61074f9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5ca07d5d5b24d59" /><Relationship Type="http://schemas.openxmlformats.org/officeDocument/2006/relationships/notesMaster" Target="/ppt/notesMasters/notesMaster1.xml" Id="R888a450f52dc483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0712dcedfb74076" /><Relationship Type="http://schemas.openxmlformats.org/officeDocument/2006/relationships/notesMaster" Target="/ppt/notesMasters/notesMaster1.xml" Id="R92ceeb6b2a36407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5d2314ed3434cab" /><Relationship Type="http://schemas.openxmlformats.org/officeDocument/2006/relationships/notesMaster" Target="/ppt/notesMasters/notesMaster1.xml" Id="Rc0d0de1cfeb24bf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fa8cb3789ee4faa" /><Relationship Type="http://schemas.openxmlformats.org/officeDocument/2006/relationships/notesMaster" Target="/ppt/notesMasters/notesMaster1.xml" Id="Rbeda9ce475c5488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14b19d3a3074283" /><Relationship Type="http://schemas.openxmlformats.org/officeDocument/2006/relationships/notesMaster" Target="/ppt/notesMasters/notesMaster1.xml" Id="Rb3405da812bc4c4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9866aaa82744767" /><Relationship Type="http://schemas.openxmlformats.org/officeDocument/2006/relationships/notesMaster" Target="/ppt/notesMasters/notesMaster1.xml" Id="R7dc74f731c8d405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73ed35431fb4e2c" /><Relationship Type="http://schemas.openxmlformats.org/officeDocument/2006/relationships/notesMaster" Target="/ppt/notesMasters/notesMaster1.xml" Id="R5a68ccd8a36846e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a716f5dbc394145" /><Relationship Type="http://schemas.openxmlformats.org/officeDocument/2006/relationships/notesMaster" Target="/ppt/notesMasters/notesMaster1.xml" Id="Rcac4c925f9094e4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d9fb0bcf2b643a7" /><Relationship Type="http://schemas.openxmlformats.org/officeDocument/2006/relationships/notesMaster" Target="/ppt/notesMasters/notesMaster1.xml" Id="R545758ccfbd7452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f1610de94494554" /><Relationship Type="http://schemas.openxmlformats.org/officeDocument/2006/relationships/notesMaster" Target="/ppt/notesMasters/notesMaster1.xml" Id="R90a7c2ab2858450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c6627ac047e4389" /><Relationship Type="http://schemas.openxmlformats.org/officeDocument/2006/relationships/notesMaster" Target="/ppt/notesMasters/notesMaster1.xml" Id="Rc6287a7512f04aa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3361497d1cf42e6" /><Relationship Type="http://schemas.openxmlformats.org/officeDocument/2006/relationships/notesMaster" Target="/ppt/notesMasters/notesMaster1.xml" Id="R912a37a70a8c4e1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cd21edd2c73480b" /><Relationship Type="http://schemas.openxmlformats.org/officeDocument/2006/relationships/notesMaster" Target="/ppt/notesMasters/notesMaster1.xml" Id="R01c06c5ac1da465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ff9f15503e54c8f" /><Relationship Type="http://schemas.openxmlformats.org/officeDocument/2006/relationships/notesMaster" Target="/ppt/notesMasters/notesMaster1.xml" Id="R7f959aad4f3545d7"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Preparing for Practical Test 2</a:t>
            </a:r>
          </a:p>
          <a:p>
            <a:r>
              <a:t/>
            </a:r>
          </a:p>
          <a:p>
            <a:r>
              <a:t>LECTURER CUE</a:t>
            </a:r>
          </a:p>
          <a:p>
            <a:r>
              <a:t>Read the specific public requirement shown on this slide. Explain the input, output and evidence before independent work; do not work the assessed answer for the class.</a:t>
            </a:r>
          </a:p>
          <a:p>
            <a:r>
              <a:t/>
            </a:r>
          </a:p>
          <a:p>
            <a:r>
              <a:t>TEST COLLECTION RULE</a:t>
            </a:r>
          </a:p>
          <a:p>
            <a:r>
              <a:t>This deck is for rehearsal before the timed assessment. Preserve the invigilated timetable and Part A snapshot. During Part B, type answers in the notebook cell headed ## My written evidence without executing code. Collect one complete .ipynb offline; later Google upload only transports the collected work. Do not require internet or AI during the test.</a:t>
            </a:r>
          </a:p>
          <a:p>
            <a:r>
              <a:t/>
            </a:r>
          </a:p>
          <a:p>
            <a:r>
              <a:t>NEXT</a:t>
            </a:r>
          </a:p>
          <a:p>
            <a:r>
              <a:t>Today’s learning.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Today’s learning</a:t>
            </a:r>
          </a:p>
          <a:p>
            <a:r>
              <a:t/>
            </a:r>
          </a:p>
          <a:p>
            <a:r>
              <a:t>CONNECT</a:t>
            </a:r>
          </a:p>
          <a:p>
            <a:r>
              <a:t>Build on the preceding slide: Preparing for Practical Test 2.</a:t>
            </a:r>
          </a:p>
          <a:p>
            <a:r>
              <a:t/>
            </a:r>
          </a:p>
          <a:p>
            <a:r>
              <a:t>LECTURER CUE</a:t>
            </a:r>
          </a:p>
          <a:p>
            <a:r>
              <a:t>Read the specific public requirement shown on this slide. Explain the input, output and evidence before independent work; do not work the assessed answer for the class.</a:t>
            </a:r>
          </a:p>
          <a:p>
            <a:r>
              <a:t/>
            </a:r>
          </a:p>
          <a:p>
            <a:r>
              <a:t>EXPLAIN IN ORDINARY WORDS</a:t>
            </a:r>
          </a:p>
          <a:p>
            <a:r>
              <a:t>Training fits rules. Validation helps choose among rules. The final test estimates performance after choices are fixed. Information that would be unavailable at the real prediction time must stay out of the inputs.</a:t>
            </a:r>
          </a:p>
          <a:p>
            <a:r>
              <a:t/>
            </a:r>
          </a:p>
          <a:p>
            <a:r>
              <a:t>CHECK AND EXPECTED ANSWER</a:t>
            </a:r>
          </a:p>
          <a:p>
            <a:r>
              <a:t>May two readings of the same machine appear on both sides when evaluating new machines? No; split by machine. For forecasting, train on the past and evaluate later time.</a:t>
            </a:r>
          </a:p>
          <a:p>
            <a:r>
              <a:t/>
            </a:r>
          </a:p>
          <a:p>
            <a:r>
              <a:t>IF LEARNERS ARE STUCK</a:t>
            </a:r>
          </a:p>
          <a:p>
            <a:r>
              <a:t>Use three envelopes. Keep the final-test envelope closed while selecting features or settings.</a:t>
            </a:r>
          </a:p>
          <a:p>
            <a:r>
              <a:t/>
            </a:r>
          </a:p>
          <a:p>
            <a:r>
              <a:t>TEST COLLECTION RULE</a:t>
            </a:r>
          </a:p>
          <a:p>
            <a:r>
              <a:t>This deck is for rehearsal before the timed assessment. Preserve the invigilated timetable and Part A snapshot. During Part B, type answers in the notebook cell headed ## My written evidence without executing code. Collect one complete .ipynb offline; later Google upload only transports the collected work. Do not require internet or AI during the test.</a:t>
            </a:r>
          </a:p>
          <a:p>
            <a:r>
              <a:t/>
            </a:r>
          </a:p>
          <a:p>
            <a:r>
              <a:t>NEXT</a:t>
            </a:r>
          </a:p>
          <a:p>
            <a:r>
              <a:t>Recall and a first attempt.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Recall and a first attempt</a:t>
            </a:r>
          </a:p>
          <a:p>
            <a:r>
              <a:t/>
            </a:r>
          </a:p>
          <a:p>
            <a:r>
              <a:t>CONNECT</a:t>
            </a:r>
          </a:p>
          <a:p>
            <a:r>
              <a:t>Build on the preceding slide: Today’s learning.</a:t>
            </a:r>
          </a:p>
          <a:p>
            <a:r>
              <a:t/>
            </a:r>
          </a:p>
          <a:p>
            <a:r>
              <a:t>LECTURER CUE</a:t>
            </a:r>
          </a:p>
          <a:p>
            <a:r>
              <a:t>Read the specific public requirement shown on this slide. Explain the input, output and evidence before independent work; do not work the assessed answer for the class.</a:t>
            </a:r>
          </a:p>
          <a:p>
            <a:r>
              <a:t/>
            </a:r>
          </a:p>
          <a:p>
            <a:r>
              <a:t>EXPLAIN IN ORDINARY WORDS</a:t>
            </a:r>
          </a:p>
          <a:p>
            <a:r>
              <a:t>Name the positive class first. Actual is what happened; predicted is the model decision. Precision asks how many predicted positives were right. Recall asks how many actual positives were found.</a:t>
            </a:r>
          </a:p>
          <a:p>
            <a:r>
              <a:t/>
            </a:r>
          </a:p>
          <a:p>
            <a:r>
              <a:t>CHECK AND EXPECTED ANSWER</a:t>
            </a:r>
          </a:p>
          <a:p>
            <a:r>
              <a:t>With TP=2, FP=1, FN=2: precision=2/3 and recall=2/4. A missed actual positive is a false negative.</a:t>
            </a:r>
          </a:p>
          <a:p>
            <a:r>
              <a:t/>
            </a:r>
          </a:p>
          <a:p>
            <a:r>
              <a:t>IF LEARNERS ARE STUCK</a:t>
            </a:r>
          </a:p>
          <a:p>
            <a:r>
              <a:t>Draw actual/predicted headings. Place one case at a time before calculating a fraction. Explain the task rule for a zero denominator.</a:t>
            </a:r>
          </a:p>
          <a:p>
            <a:r>
              <a:t/>
            </a:r>
          </a:p>
          <a:p>
            <a:r>
              <a:t>TEST COLLECTION RULE</a:t>
            </a:r>
          </a:p>
          <a:p>
            <a:r>
              <a:t>This deck is for rehearsal before the timed assessment. Preserve the invigilated timetable and Part A snapshot. During Part B, type answers in the notebook cell headed ## My written evidence without executing code. Collect one complete .ipynb offline; later Google upload only transports the collected work. Do not require internet or AI during the test.</a:t>
            </a:r>
          </a:p>
          <a:p>
            <a:r>
              <a:t/>
            </a:r>
          </a:p>
          <a:p>
            <a:r>
              <a:t>NEXT</a:t>
            </a:r>
          </a:p>
          <a:p>
            <a:r>
              <a:t>Preparation happens before the test.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Preparation happens before the test</a:t>
            </a:r>
          </a:p>
          <a:p>
            <a:r>
              <a:t/>
            </a:r>
          </a:p>
          <a:p>
            <a:r>
              <a:t>CONNECT</a:t>
            </a:r>
          </a:p>
          <a:p>
            <a:r>
              <a:t>Build on the preceding slide: Recall and a first attempt.</a:t>
            </a:r>
          </a:p>
          <a:p>
            <a:r>
              <a:t/>
            </a:r>
          </a:p>
          <a:p>
            <a:r>
              <a:t>LECTURER CUE</a:t>
            </a:r>
          </a:p>
          <a:p>
            <a:r>
              <a:t>Read the specific public requirement shown on this slide. Explain the input, output and evidence before independent work; do not work the assessed answer for the class.</a:t>
            </a:r>
          </a:p>
          <a:p>
            <a:r>
              <a:t/>
            </a:r>
          </a:p>
          <a:p>
            <a:r>
              <a:t>EXPLAIN IN ORDINARY WORDS</a:t>
            </a:r>
          </a:p>
          <a:p>
            <a:r>
              <a:t>Training fits rules. Validation helps choose among rules. The final test estimates performance after choices are fixed. Information that would be unavailable at the real prediction time must stay out of the inputs.</a:t>
            </a:r>
          </a:p>
          <a:p>
            <a:r>
              <a:t/>
            </a:r>
          </a:p>
          <a:p>
            <a:r>
              <a:t>CHECK AND EXPECTED ANSWER</a:t>
            </a:r>
          </a:p>
          <a:p>
            <a:r>
              <a:t>May two readings of the same machine appear on both sides when evaluating new machines? No; split by machine. For forecasting, train on the past and evaluate later time.</a:t>
            </a:r>
          </a:p>
          <a:p>
            <a:r>
              <a:t/>
            </a:r>
          </a:p>
          <a:p>
            <a:r>
              <a:t>IF LEARNERS ARE STUCK</a:t>
            </a:r>
          </a:p>
          <a:p>
            <a:r>
              <a:t>Use three envelopes. Keep the final-test envelope closed while selecting features or settings.</a:t>
            </a:r>
          </a:p>
          <a:p>
            <a:r>
              <a:t/>
            </a:r>
          </a:p>
          <a:p>
            <a:r>
              <a:t>TEST COLLECTION RULE</a:t>
            </a:r>
          </a:p>
          <a:p>
            <a:r>
              <a:t>This deck is for rehearsal before the timed assessment. Preserve the invigilated timetable and Part A snapshot. During Part B, type answers in the notebook cell headed ## My written evidence without executing code. Collect one complete .ipynb offline; later Google upload only transports the collected work. Do not require internet or AI during the test.</a:t>
            </a:r>
          </a:p>
          <a:p>
            <a:r>
              <a:t/>
            </a:r>
          </a:p>
          <a:p>
            <a:r>
              <a:t>NEXT</a:t>
            </a:r>
          </a:p>
          <a:p>
            <a:r>
              <a:t>Rehearse the offline save procedure.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Rehearse the offline save procedure</a:t>
            </a:r>
          </a:p>
          <a:p>
            <a:r>
              <a:t/>
            </a:r>
          </a:p>
          <a:p>
            <a:r>
              <a:t>CONNECT</a:t>
            </a:r>
          </a:p>
          <a:p>
            <a:r>
              <a:t>Build on the preceding slide: Preparation happens before the test.</a:t>
            </a:r>
          </a:p>
          <a:p>
            <a:r>
              <a:t/>
            </a:r>
          </a:p>
          <a:p>
            <a:r>
              <a:t>LECTURER CUE</a:t>
            </a:r>
          </a:p>
          <a:p>
            <a:r>
              <a:t>Read the specific public requirement shown on this slide. Explain the input, output and evidence before independent work; do not work the assessed answer for the class.</a:t>
            </a:r>
          </a:p>
          <a:p>
            <a:r>
              <a:t/>
            </a:r>
          </a:p>
          <a:p>
            <a:r>
              <a:t>EXPLAIN IN ORDINARY WORDS</a:t>
            </a:r>
          </a:p>
          <a:p>
            <a:r>
              <a:t>A notebook contains code cells and explanatory text cells. The runtime remembers values from cells that actually ran, which may differ from their visual order.</a:t>
            </a:r>
          </a:p>
          <a:p>
            <a:r>
              <a:t/>
            </a:r>
          </a:p>
          <a:p>
            <a:r>
              <a:t>CHECK AND EXPECTED ANSWER</a:t>
            </a:r>
          </a:p>
          <a:p>
            <a:r>
              <a:t>Does editing a cell update a value already stored in memory? No; the cell must run.</a:t>
            </a:r>
          </a:p>
          <a:p>
            <a:r>
              <a:t/>
            </a:r>
          </a:p>
          <a:p>
            <a:r>
              <a:t>IF LEARNERS ARE STUCK</a:t>
            </a:r>
          </a:p>
          <a:p>
            <a:r>
              <a:t>Outside an assessment restriction, restart and run from the top after loading data. Fix the first error before later cells; save the successful notebook.</a:t>
            </a:r>
          </a:p>
          <a:p>
            <a:r>
              <a:t/>
            </a:r>
          </a:p>
          <a:p>
            <a:r>
              <a:t>TEST COLLECTION RULE</a:t>
            </a:r>
          </a:p>
          <a:p>
            <a:r>
              <a:t>This deck is for rehearsal before the timed assessment. Preserve the invigilated timetable and Part A snapshot. During Part B, type answers in the notebook cell headed ## My written evidence without executing code. Collect one complete .ipynb offline; later Google upload only transports the collected work. Do not require internet or AI during the test.</a:t>
            </a:r>
          </a:p>
          <a:p>
            <a:r>
              <a:t/>
            </a:r>
          </a:p>
          <a:p>
            <a:r>
              <a:t>NEXT</a:t>
            </a:r>
          </a:p>
          <a:p>
            <a:r>
              <a:t>A result needs an explanation.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A result needs an explanation</a:t>
            </a:r>
          </a:p>
          <a:p>
            <a:r>
              <a:t/>
            </a:r>
          </a:p>
          <a:p>
            <a:r>
              <a:t>CONNECT</a:t>
            </a:r>
          </a:p>
          <a:p>
            <a:r>
              <a:t>Build on the preceding slide: Rehearse the offline save procedure.</a:t>
            </a:r>
          </a:p>
          <a:p>
            <a:r>
              <a:t/>
            </a:r>
          </a:p>
          <a:p>
            <a:r>
              <a:t>LECTURER CUE</a:t>
            </a:r>
          </a:p>
          <a:p>
            <a:r>
              <a:t>Read the specific public requirement shown on this slide. Explain the input, output and evidence before independent work; do not work the assessed answer for the class.</a:t>
            </a:r>
          </a:p>
          <a:p>
            <a:r>
              <a:t/>
            </a:r>
          </a:p>
          <a:p>
            <a:r>
              <a:t>EXPLAIN IN ORDINARY WORDS</a:t>
            </a:r>
          </a:p>
          <a:p>
            <a:r>
              <a:t>Read each quantity and unit before using a formula. Python calculates numbers but does not enforce physical units. Parentheses specify which operation happens first.</a:t>
            </a:r>
          </a:p>
          <a:p>
            <a:r>
              <a:t/>
            </a:r>
          </a:p>
          <a:p>
            <a:r>
              <a:t>CHECK AND EXPECTED ANSWER</a:t>
            </a:r>
          </a:p>
          <a:p>
            <a:r>
              <a:t>What is 5 m times 3 m? 15 square metres. What is 7/2 in Python? 3.5; 7//2 is 3.</a:t>
            </a:r>
          </a:p>
          <a:p>
            <a:r>
              <a:t/>
            </a:r>
          </a:p>
          <a:p>
            <a:r>
              <a:t>IF LEARNERS ARE STUCK</a:t>
            </a:r>
          </a:p>
          <a:p>
            <a:r>
              <a:t>Write the formula and units on paper, substitute small values, then translate it to Python. Check zero denominators and the issued sign convention.</a:t>
            </a:r>
          </a:p>
          <a:p>
            <a:r>
              <a:t/>
            </a:r>
          </a:p>
          <a:p>
            <a:r>
              <a:t>TEST COLLECTION RULE</a:t>
            </a:r>
          </a:p>
          <a:p>
            <a:r>
              <a:t>This deck is for rehearsal before the timed assessment. Preserve the invigilated timetable and Part A snapshot. During Part B, type answers in the notebook cell headed ## My written evidence without executing code. Collect one complete .ipynb offline; later Google upload only transports the collected work. Do not require internet or AI during the test.</a:t>
            </a:r>
          </a:p>
          <a:p>
            <a:r>
              <a:t/>
            </a:r>
          </a:p>
          <a:p>
            <a:r>
              <a:t>NEXT</a:t>
            </a:r>
          </a:p>
          <a:p>
            <a:r>
              <a:t>Practice before test day.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Practice before test day</a:t>
            </a:r>
          </a:p>
          <a:p>
            <a:r>
              <a:t/>
            </a:r>
          </a:p>
          <a:p>
            <a:r>
              <a:t>CONNECT</a:t>
            </a:r>
          </a:p>
          <a:p>
            <a:r>
              <a:t>Build on the preceding slide: A result needs an explanation.</a:t>
            </a:r>
          </a:p>
          <a:p>
            <a:r>
              <a:t/>
            </a:r>
          </a:p>
          <a:p>
            <a:r>
              <a:t>LECTURER CUE</a:t>
            </a:r>
          </a:p>
          <a:p>
            <a:r>
              <a:t>Read the specific public requirement shown on this slide. Explain the input, output and evidence before independent work; do not work the assessed answer for the class.</a:t>
            </a:r>
          </a:p>
          <a:p>
            <a:r>
              <a:t/>
            </a:r>
          </a:p>
          <a:p>
            <a:r>
              <a:t>EXPLAIN IN ORDINARY WORDS</a:t>
            </a:r>
          </a:p>
          <a:p>
            <a:r>
              <a:t>A list keeps items in order. Python positions start at zero. In [2,4,6], position 0 contains 2 and position 2 contains 6. A slice excludes its stop position.</a:t>
            </a:r>
          </a:p>
          <a:p>
            <a:r>
              <a:t/>
            </a:r>
          </a:p>
          <a:p>
            <a:r>
              <a:t>CHECK AND EXPECTED ANSWER</a:t>
            </a:r>
          </a:p>
          <a:p>
            <a:r>
              <a:t>What is [2,4,6][1]? 4. Is there a position 3? No.</a:t>
            </a:r>
          </a:p>
          <a:p>
            <a:r>
              <a:t/>
            </a:r>
          </a:p>
          <a:p>
            <a:r>
              <a:t>IF LEARNERS ARE STUCK</a:t>
            </a:r>
          </a:p>
          <a:p>
            <a:r>
              <a:t>Draw three numbered boxes starting at zero. Keep the position separate from the value stored in it.</a:t>
            </a:r>
          </a:p>
          <a:p>
            <a:r>
              <a:t/>
            </a:r>
          </a:p>
          <a:p>
            <a:r>
              <a:t>WALK THROUGH THIS CODE</a:t>
            </a:r>
          </a:p>
          <a:p>
            <a:r>
              <a:t>for takes the next item. The indented block repeats.</a:t>
            </a:r>
          </a:p>
          <a:p>
            <a:r>
              <a:t>zip pairs items at matching positions in these equal-length lists.</a:t>
            </a:r>
          </a:p>
          <a:p>
            <a:r>
              <a:t>print displays a value below the cell.</a:t>
            </a:r>
          </a:p>
          <a:p>
            <a:r>
              <a:t>Read the displayed lines in order, with the preceding code block if this example continues. Ask for the next value before running. The complete matching example is in guided_practice.ipynb; do not type a fragment into a new empty notebook.</a:t>
            </a:r>
          </a:p>
          <a:p>
            <a:r>
              <a:t/>
            </a:r>
          </a:p>
          <a:p>
            <a:r>
              <a:t>TEST COLLECTION RULE</a:t>
            </a:r>
          </a:p>
          <a:p>
            <a:r>
              <a:t>This deck is for rehearsal before the timed assessment. Preserve the invigilated timetable and Part A snapshot. During Part B, type answers in the notebook cell headed ## My written evidence without executing code. Collect one complete .ipynb offline; later Google upload only transports the collected work. Do not require internet or AI during the test.</a:t>
            </a:r>
          </a:p>
          <a:p>
            <a:r>
              <a:t/>
            </a:r>
          </a:p>
          <a:p>
            <a:r>
              <a:t>NEXT</a:t>
            </a:r>
          </a:p>
          <a:p>
            <a:r>
              <a:t>Rehearsal before Practical Test 2.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Rehearsal before Practical Test 2</a:t>
            </a:r>
          </a:p>
          <a:p>
            <a:r>
              <a:t/>
            </a:r>
          </a:p>
          <a:p>
            <a:r>
              <a:t>CONNECT</a:t>
            </a:r>
          </a:p>
          <a:p>
            <a:r>
              <a:t>Build on the preceding slide: Practice before test day.</a:t>
            </a:r>
          </a:p>
          <a:p>
            <a:r>
              <a:t/>
            </a:r>
          </a:p>
          <a:p>
            <a:r>
              <a:t>LECTURER CUE</a:t>
            </a:r>
          </a:p>
          <a:p>
            <a:r>
              <a:t>Read the specific public requirement shown on this slide. Explain the input, output and evidence before independent work; do not work the assessed answer for the class.</a:t>
            </a:r>
          </a:p>
          <a:p>
            <a:r>
              <a:t/>
            </a:r>
          </a:p>
          <a:p>
            <a:r>
              <a:t>EXPLAIN IN ORDINARY WORDS</a:t>
            </a:r>
          </a:p>
          <a:p>
            <a:r>
              <a:t>A notebook contains code cells and explanatory text cells. The runtime remembers values from cells that actually ran, which may differ from their visual order.</a:t>
            </a:r>
          </a:p>
          <a:p>
            <a:r>
              <a:t/>
            </a:r>
          </a:p>
          <a:p>
            <a:r>
              <a:t>CHECK AND EXPECTED ANSWER</a:t>
            </a:r>
          </a:p>
          <a:p>
            <a:r>
              <a:t>Does editing a cell update a value already stored in memory? No; the cell must run.</a:t>
            </a:r>
          </a:p>
          <a:p>
            <a:r>
              <a:t/>
            </a:r>
          </a:p>
          <a:p>
            <a:r>
              <a:t>IF LEARNERS ARE STUCK</a:t>
            </a:r>
          </a:p>
          <a:p>
            <a:r>
              <a:t>Outside an assessment restriction, restart and run from the top after loading data. Fix the first error before later cells; save the successful notebook.</a:t>
            </a:r>
          </a:p>
          <a:p>
            <a:r>
              <a:t/>
            </a:r>
          </a:p>
          <a:p>
            <a:r>
              <a:t>TEST COLLECTION RULE</a:t>
            </a:r>
          </a:p>
          <a:p>
            <a:r>
              <a:t>This deck is for rehearsal before the timed assessment. Preserve the invigilated timetable and Part A snapshot. During Part B, type answers in the notebook cell headed ## My written evidence without executing code. Collect one complete .ipynb offline; later Google upload only transports the collected work. Do not require internet or AI during the test.</a:t>
            </a:r>
          </a:p>
          <a:p>
            <a:r>
              <a:t/>
            </a:r>
          </a:p>
          <a:p>
            <a:r>
              <a:t>NEXT</a:t>
            </a:r>
          </a:p>
          <a:p>
            <a:r>
              <a:t>What the activity shows.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What the activity shows</a:t>
            </a:r>
          </a:p>
          <a:p>
            <a:r>
              <a:t/>
            </a:r>
          </a:p>
          <a:p>
            <a:r>
              <a:t>CONNECT</a:t>
            </a:r>
          </a:p>
          <a:p>
            <a:r>
              <a:t>Build on the preceding slide: Rehearsal before Practical Test 2.</a:t>
            </a:r>
          </a:p>
          <a:p>
            <a:r>
              <a:t/>
            </a:r>
          </a:p>
          <a:p>
            <a:r>
              <a:t>LECTURER CUE</a:t>
            </a:r>
          </a:p>
          <a:p>
            <a:r>
              <a:t>Read the specific public requirement shown on this slide. Explain the input, output and evidence before independent work; do not work the assessed answer for the class.</a:t>
            </a:r>
          </a:p>
          <a:p>
            <a:r>
              <a:t/>
            </a:r>
          </a:p>
          <a:p>
            <a:r>
              <a:t>EXPLAIN IN ORDINARY WORDS</a:t>
            </a:r>
          </a:p>
          <a:p>
            <a:r>
              <a:t>An error compares prediction with measured truth. Absolute error ignores direction. MAE averages absolute errors; RMSE squares, averages, then takes a square root. Both use the target unit.</a:t>
            </a:r>
          </a:p>
          <a:p>
            <a:r>
              <a:t/>
            </a:r>
          </a:p>
          <a:p>
            <a:r>
              <a:t>CHECK AND EXPECTED ANSWER</a:t>
            </a:r>
          </a:p>
          <a:p>
            <a:r>
              <a:t>Actual [4,8], predicted [5,6]: prediction-minus-actual errors [1,-2], MAE=1.5, RMSE=sqrt(2.5), about 1.58.</a:t>
            </a:r>
          </a:p>
          <a:p>
            <a:r>
              <a:t/>
            </a:r>
          </a:p>
          <a:p>
            <a:r>
              <a:t>IF LEARNERS ARE STUCK</a:t>
            </a:r>
          </a:p>
          <a:p>
            <a:r>
              <a:t>Calculate one pair by hand first. For signed percentage error follow the precise sign convention in the issued task.</a:t>
            </a:r>
          </a:p>
          <a:p>
            <a:r>
              <a:t/>
            </a:r>
          </a:p>
          <a:p>
            <a:r>
              <a:t>TEST COLLECTION RULE</a:t>
            </a:r>
          </a:p>
          <a:p>
            <a:r>
              <a:t>This deck is for rehearsal before the timed assessment. Preserve the invigilated timetable and Part A snapshot. During Part B, type answers in the notebook cell headed ## My written evidence without executing code. Collect one complete .ipynb offline; later Google upload only transports the collected work. Do not require internet or AI during the test.</a:t>
            </a:r>
          </a:p>
          <a:p>
            <a:r>
              <a:t/>
            </a:r>
          </a:p>
          <a:p>
            <a:r>
              <a:t>NEXT</a:t>
            </a:r>
          </a:p>
          <a:p>
            <a:r>
              <a:t>Test session.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Test session</a:t>
            </a:r>
          </a:p>
          <a:p>
            <a:r>
              <a:t/>
            </a:r>
          </a:p>
          <a:p>
            <a:r>
              <a:t>CONNECT</a:t>
            </a:r>
          </a:p>
          <a:p>
            <a:r>
              <a:t>Build on the preceding slide: What the activity shows.</a:t>
            </a:r>
          </a:p>
          <a:p>
            <a:r>
              <a:t/>
            </a:r>
          </a:p>
          <a:p>
            <a:r>
              <a:t>LECTURER CUE</a:t>
            </a:r>
          </a:p>
          <a:p>
            <a:r>
              <a:t>Read the specific public requirement shown on this slide. Explain the input, output and evidence before independent work; do not work the assessed answer for the class.</a:t>
            </a:r>
          </a:p>
          <a:p>
            <a:r>
              <a:t/>
            </a:r>
          </a:p>
          <a:p>
            <a:r>
              <a:t>EXPLAIN IN ORDINARY WORDS</a:t>
            </a:r>
          </a:p>
          <a:p>
            <a:r>
              <a:t>A list keeps items in order. Python positions start at zero. In [2,4,6], position 0 contains 2 and position 2 contains 6. A slice excludes its stop position.</a:t>
            </a:r>
          </a:p>
          <a:p>
            <a:r>
              <a:t/>
            </a:r>
          </a:p>
          <a:p>
            <a:r>
              <a:t>CHECK AND EXPECTED ANSWER</a:t>
            </a:r>
          </a:p>
          <a:p>
            <a:r>
              <a:t>What is [2,4,6][1]? 4. Is there a position 3? No.</a:t>
            </a:r>
          </a:p>
          <a:p>
            <a:r>
              <a:t/>
            </a:r>
          </a:p>
          <a:p>
            <a:r>
              <a:t>IF LEARNERS ARE STUCK</a:t>
            </a:r>
          </a:p>
          <a:p>
            <a:r>
              <a:t>Draw three numbered boxes starting at zero. Keep the position separate from the value stored in it.</a:t>
            </a:r>
          </a:p>
          <a:p>
            <a:r>
              <a:t/>
            </a:r>
          </a:p>
          <a:p>
            <a:r>
              <a:t>ASSIGNMENT HANDOVER</a:t>
            </a:r>
          </a:p>
          <a:p>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a:r>
              <a:t/>
            </a:r>
          </a:p>
          <a:p>
            <a:r>
              <a:t>TEST COLLECTION RULE</a:t>
            </a:r>
          </a:p>
          <a:p>
            <a:r>
              <a:t>This deck is for rehearsal before the timed assessment. Preserve the invigilated timetable and Part A snapshot. During Part B, type answers in the notebook cell headed ## My written evidence without executing code. Collect one complete .ipynb offline; later Google upload only transports the collected work. Do not require internet or AI during the test.</a:t>
            </a:r>
          </a:p>
          <a:p>
            <a:r>
              <a:t/>
            </a:r>
          </a:p>
          <a:p>
            <a:r>
              <a:t>NEXT</a:t>
            </a:r>
          </a:p>
          <a:p>
            <a:r>
              <a:t>Preparation checkpoint.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Preparation checkpoint</a:t>
            </a:r>
          </a:p>
          <a:p>
            <a:r>
              <a:t/>
            </a:r>
          </a:p>
          <a:p>
            <a:r>
              <a:t>CONNECT</a:t>
            </a:r>
          </a:p>
          <a:p>
            <a:r>
              <a:t>Build on the preceding slide: Test session.</a:t>
            </a:r>
          </a:p>
          <a:p>
            <a:r>
              <a:t/>
            </a:r>
          </a:p>
          <a:p>
            <a:r>
              <a:t>LECTURER CUE</a:t>
            </a:r>
          </a:p>
          <a:p>
            <a:r>
              <a:t>Read the specific public requirement shown on this slide. Explain the input, output and evidence before independent work; do not work the assessed answer for the class.</a:t>
            </a:r>
          </a:p>
          <a:p>
            <a:r>
              <a:t/>
            </a:r>
          </a:p>
          <a:p>
            <a:r>
              <a:t>TEST COLLECTION RULE</a:t>
            </a:r>
          </a:p>
          <a:p>
            <a:r>
              <a:t>This deck is for rehearsal before the timed assessment. Preserve the invigilated timetable and Part A snapshot. During Part B, type answers in the notebook cell headed ## My written evidence without executing code. Collect one complete .ipynb offline; later Google upload only transports the collected work. Do not require internet or AI during the test.</a:t>
            </a:r>
          </a:p>
          <a:p>
            <a:r>
              <a:t/>
            </a:r>
          </a:p>
          <a:p>
            <a:r>
              <a:t>NEXT</a:t>
            </a:r>
          </a:p>
          <a:p>
            <a:r>
              <a:t>Your evidence.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Your evidence</a:t>
            </a:r>
          </a:p>
          <a:p>
            <a:r>
              <a:t/>
            </a:r>
          </a:p>
          <a:p>
            <a:r>
              <a:t>CONNECT</a:t>
            </a:r>
          </a:p>
          <a:p>
            <a:r>
              <a:t>Build on the preceding slide: Preparation checkpoint.</a:t>
            </a:r>
          </a:p>
          <a:p>
            <a:r>
              <a:t/>
            </a:r>
          </a:p>
          <a:p>
            <a:r>
              <a:t>LECTURER CUE</a:t>
            </a:r>
          </a:p>
          <a:p>
            <a:r>
              <a:t>Read the specific public requirement shown on this slide. Explain the input, output and evidence before independent work; do not work the assessed answer for the class.</a:t>
            </a:r>
          </a:p>
          <a:p>
            <a:r>
              <a:t/>
            </a:r>
          </a:p>
          <a:p>
            <a:r>
              <a:t>EXPLAIN IN ORDINARY WORDS</a:t>
            </a:r>
          </a:p>
          <a:p>
            <a:r>
              <a:t>An observation describes the data. A finding answers a defined question with evidence. A recommendation adds an action, its justification and limits.</a:t>
            </a:r>
          </a:p>
          <a:p>
            <a:r>
              <a:t/>
            </a:r>
          </a:p>
          <a:p>
            <a:r>
              <a:t>CHECK AND EXPECTED ANSWER</a:t>
            </a:r>
          </a:p>
          <a:p>
            <a:r>
              <a:t>Does a difference between two groups prove one caused the other? No. Other differences or selection may explain it.</a:t>
            </a:r>
          </a:p>
          <a:p>
            <a:r>
              <a:t/>
            </a:r>
          </a:p>
          <a:p>
            <a:r>
              <a:t>IF LEARNERS ARE STUCK</a:t>
            </a:r>
          </a:p>
          <a:p>
            <a:r>
              <a:t>Ask for the population, time period, number and comparison. Then ask what additional evidence could change the recommendation.</a:t>
            </a:r>
          </a:p>
          <a:p>
            <a:r>
              <a:t/>
            </a:r>
          </a:p>
          <a:p>
            <a:r>
              <a:t>ASSIGNMENT HANDOVER</a:t>
            </a:r>
          </a:p>
          <a:p>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a:r>
              <a:t/>
            </a:r>
          </a:p>
          <a:p>
            <a:r>
              <a:t>TEST COLLECTION RULE</a:t>
            </a:r>
          </a:p>
          <a:p>
            <a:r>
              <a:t>This deck is for rehearsal before the timed assessment. Preserve the invigilated timetable and Part A snapshot. During Part B, type answers in the notebook cell headed ## My written evidence without executing code. Collect one complete .ipynb offline; later Google upload only transports the collected work. Do not require internet or AI during the test.</a:t>
            </a:r>
          </a:p>
          <a:p>
            <a:r>
              <a:t/>
            </a:r>
          </a:p>
          <a:p>
            <a:r>
              <a:t>NEXT</a:t>
            </a:r>
          </a:p>
          <a:p>
            <a:r>
              <a:t>Practical Test 2.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Practical Test 2</a:t>
            </a:r>
          </a:p>
          <a:p>
            <a:r>
              <a:t/>
            </a:r>
          </a:p>
          <a:p>
            <a:r>
              <a:t>CONNECT</a:t>
            </a:r>
          </a:p>
          <a:p>
            <a:r>
              <a:t>Build on the preceding slide: Your evidence.</a:t>
            </a:r>
          </a:p>
          <a:p>
            <a:r>
              <a:t/>
            </a:r>
          </a:p>
          <a:p>
            <a:r>
              <a:t>LECTURER CUE</a:t>
            </a:r>
          </a:p>
          <a:p>
            <a:r>
              <a:t>Read the specific public requirement shown on this slide. Explain the input, output and evidence before independent work; do not work the assessed answer for the class.</a:t>
            </a:r>
          </a:p>
          <a:p>
            <a:r>
              <a:t/>
            </a:r>
          </a:p>
          <a:p>
            <a:r>
              <a:t>EXPLAIN IN ORDINARY WORDS</a:t>
            </a:r>
          </a:p>
          <a:p>
            <a:r>
              <a:t>A function is a named set of instructions. def defines it; a call runs it with inputs. Parameters are input names, arguments are supplied values, and return sends the result back.</a:t>
            </a:r>
          </a:p>
          <a:p>
            <a:r>
              <a:t/>
            </a:r>
          </a:p>
          <a:p>
            <a:r>
              <a:t>CHECK AND EXPECTED ANSWER</a:t>
            </a:r>
          </a:p>
          <a:p>
            <a:r>
              <a:t>Does print(8) return the number 8 to the caller? No; it displays 8 and returns None. A function needing a numeric result should return it.</a:t>
            </a:r>
          </a:p>
          <a:p>
            <a:r>
              <a:t/>
            </a:r>
          </a:p>
          <a:p>
            <a:r>
              <a:t>IF LEARNERS ARE STUCK</a:t>
            </a:r>
          </a:p>
          <a:p>
            <a:r>
              <a:t>Trace one call: bind input names, run the indented body, reach return, then put the returned result back into the calling expression.</a:t>
            </a:r>
          </a:p>
          <a:p>
            <a:r>
              <a:t/>
            </a:r>
          </a:p>
          <a:p>
            <a:r>
              <a:t>TEST COLLECTION RULE</a:t>
            </a:r>
          </a:p>
          <a:p>
            <a:r>
              <a:t>This deck is for rehearsal before the timed assessment. Preserve the invigilated timetable and Part A snapshot. During Part B, type answers in the notebook cell headed ## My written evidence without executing code. Collect one complete .ipynb offline; later Google upload only transports the collected work. Do not require internet or AI during the test.</a:t>
            </a:r>
          </a:p>
          <a:p>
            <a:r>
              <a:t/>
            </a:r>
          </a:p>
          <a:p>
            <a:r>
              <a:t>NEXT</a:t>
            </a:r>
          </a:p>
          <a:p>
            <a:r>
              <a:t>Practical Test 2 continued.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Practical Test 2 continued</a:t>
            </a:r>
          </a:p>
          <a:p>
            <a:r>
              <a:t/>
            </a:r>
          </a:p>
          <a:p>
            <a:r>
              <a:t>CONNECT</a:t>
            </a:r>
          </a:p>
          <a:p>
            <a:r>
              <a:t>Build on the preceding slide: Practical Test 2.</a:t>
            </a:r>
          </a:p>
          <a:p>
            <a:r>
              <a:t/>
            </a:r>
          </a:p>
          <a:p>
            <a:r>
              <a:t>LECTURER CUE</a:t>
            </a:r>
          </a:p>
          <a:p>
            <a:r>
              <a:t>Read the specific public requirement shown on this slide. Explain the input, output and evidence before independent work; do not work the assessed answer for the class.</a:t>
            </a:r>
          </a:p>
          <a:p>
            <a:r>
              <a:t/>
            </a:r>
          </a:p>
          <a:p>
            <a:r>
              <a:t>EXPLAIN IN ORDINARY WORDS</a:t>
            </a:r>
          </a:p>
          <a:p>
            <a:r>
              <a:t>A cleaning decision needs evidence, a stated rule and a before/after check. Similar rows may be genuine repeated events. Reconciliation compares totals built under the same definitions.</a:t>
            </a:r>
          </a:p>
          <a:p>
            <a:r>
              <a:t/>
            </a:r>
          </a:p>
          <a:p>
            <a:r>
              <a:t>CHECK AND EXPECTED ANSWER</a:t>
            </a:r>
          </a:p>
          <a:p>
            <a:r>
              <a:t>May we delete every repeated amount? No. Check the row identifier and the table grain first.</a:t>
            </a:r>
          </a:p>
          <a:p>
            <a:r>
              <a:t/>
            </a:r>
          </a:p>
          <a:p>
            <a:r>
              <a:t>IF LEARNERS ARE STUCK</a:t>
            </a:r>
          </a:p>
          <a:p>
            <a:r>
              <a:t>Keep raw data, record counts before and after each action, then explain any remaining difference instead of forcing totals to agree.</a:t>
            </a:r>
          </a:p>
          <a:p>
            <a:r>
              <a:t/>
            </a:r>
          </a:p>
          <a:p>
            <a:r>
              <a:t>TEST COLLECTION RULE</a:t>
            </a:r>
          </a:p>
          <a:p>
            <a:r>
              <a:t>This deck is for rehearsal before the timed assessment. Preserve the invigilated timetable and Part A snapshot. During Part B, type answers in the notebook cell headed ## My written evidence without executing code. Collect one complete .ipynb offline; later Google upload only transports the collected work. Do not require internet or AI during the test.</a:t>
            </a:r>
          </a:p>
          <a:p>
            <a:r>
              <a:t/>
            </a:r>
          </a:p>
          <a:p>
            <a:r>
              <a:t>NEXT</a:t>
            </a:r>
          </a:p>
          <a:p>
            <a:r>
              <a:t>Practical Test 2 continued.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Practical Test 2 continued</a:t>
            </a:r>
          </a:p>
          <a:p>
            <a:r>
              <a:t/>
            </a:r>
          </a:p>
          <a:p>
            <a:r>
              <a:t>CONNECT</a:t>
            </a:r>
          </a:p>
          <a:p>
            <a:r>
              <a:t>Build on the preceding slide: Practical Test 2 continued.</a:t>
            </a:r>
          </a:p>
          <a:p>
            <a:r>
              <a:t/>
            </a:r>
          </a:p>
          <a:p>
            <a:r>
              <a:t>LECTURER CUE</a:t>
            </a:r>
          </a:p>
          <a:p>
            <a:r>
              <a:t>Read the specific public requirement shown on this slide. Explain the input, output and evidence before independent work; do not work the assessed answer for the class.</a:t>
            </a:r>
          </a:p>
          <a:p>
            <a:r>
              <a:t/>
            </a:r>
          </a:p>
          <a:p>
            <a:r>
              <a:t>EXPLAIN IN ORDINARY WORDS</a:t>
            </a:r>
          </a:p>
          <a:p>
            <a:r>
              <a:t>Training fits rules. Validation helps choose among rules. The final test estimates performance after choices are fixed. Information that would be unavailable at the real prediction time must stay out of the inputs.</a:t>
            </a:r>
          </a:p>
          <a:p>
            <a:r>
              <a:t/>
            </a:r>
          </a:p>
          <a:p>
            <a:r>
              <a:t>CHECK AND EXPECTED ANSWER</a:t>
            </a:r>
          </a:p>
          <a:p>
            <a:r>
              <a:t>May two readings of the same machine appear on both sides when evaluating new machines? No; split by machine. For forecasting, train on the past and evaluate later time.</a:t>
            </a:r>
          </a:p>
          <a:p>
            <a:r>
              <a:t/>
            </a:r>
          </a:p>
          <a:p>
            <a:r>
              <a:t>IF LEARNERS ARE STUCK</a:t>
            </a:r>
          </a:p>
          <a:p>
            <a:r>
              <a:t>Use three envelopes. Keep the final-test envelope closed while selecting features or settings.</a:t>
            </a:r>
          </a:p>
          <a:p>
            <a:r>
              <a:t/>
            </a:r>
          </a:p>
          <a:p>
            <a:r>
              <a:t>TEST COLLECTION RULE</a:t>
            </a:r>
          </a:p>
          <a:p>
            <a:r>
              <a:t>This deck is for rehearsal before the timed assessment. Preserve the invigilated timetable and Part A snapshot. During Part B, type answers in the notebook cell headed ## My written evidence without executing code. Collect one complete .ipynb offline; later Google upload only transports the collected work. Do not require internet or AI during the test.</a:t>
            </a:r>
          </a:p>
          <a:p>
            <a:r>
              <a:t/>
            </a:r>
          </a:p>
          <a:p>
            <a:r>
              <a:t>NEXT</a:t>
            </a:r>
          </a:p>
          <a:p>
            <a:r>
              <a:t>Practical Test 2 continued.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Practical Test 2 continued</a:t>
            </a:r>
          </a:p>
          <a:p>
            <a:r>
              <a:t/>
            </a:r>
          </a:p>
          <a:p>
            <a:r>
              <a:t>CONNECT</a:t>
            </a:r>
          </a:p>
          <a:p>
            <a:r>
              <a:t>Build on the preceding slide: Practical Test 2 continued.</a:t>
            </a:r>
          </a:p>
          <a:p>
            <a:r>
              <a:t/>
            </a:r>
          </a:p>
          <a:p>
            <a:r>
              <a:t>LECTURER CUE</a:t>
            </a:r>
          </a:p>
          <a:p>
            <a:r>
              <a:t>Read the specific public requirement shown on this slide. Explain the input, output and evidence before independent work; do not work the assessed answer for the class.</a:t>
            </a:r>
          </a:p>
          <a:p>
            <a:r>
              <a:t/>
            </a:r>
          </a:p>
          <a:p>
            <a:r>
              <a:t>EXPLAIN IN ORDINARY WORDS</a:t>
            </a:r>
          </a:p>
          <a:p>
            <a:r>
              <a:t>Training fits rules. Validation helps choose among rules. The final test estimates performance after choices are fixed. Information that would be unavailable at the real prediction time must stay out of the inputs.</a:t>
            </a:r>
          </a:p>
          <a:p>
            <a:r>
              <a:t/>
            </a:r>
          </a:p>
          <a:p>
            <a:r>
              <a:t>CHECK AND EXPECTED ANSWER</a:t>
            </a:r>
          </a:p>
          <a:p>
            <a:r>
              <a:t>May two readings of the same machine appear on both sides when evaluating new machines? No; split by machine. For forecasting, train on the past and evaluate later time.</a:t>
            </a:r>
          </a:p>
          <a:p>
            <a:r>
              <a:t/>
            </a:r>
          </a:p>
          <a:p>
            <a:r>
              <a:t>IF LEARNERS ARE STUCK</a:t>
            </a:r>
          </a:p>
          <a:p>
            <a:r>
              <a:t>Use three envelopes. Keep the final-test envelope closed while selecting features or settings.</a:t>
            </a:r>
          </a:p>
          <a:p>
            <a:r>
              <a:t/>
            </a:r>
          </a:p>
          <a:p>
            <a:r>
              <a:t>TEST COLLECTION RULE</a:t>
            </a:r>
          </a:p>
          <a:p>
            <a:r>
              <a:t>This deck is for rehearsal before the timed assessment. Preserve the invigilated timetable and Part A snapshot. During Part B, type answers in the notebook cell headed ## My written evidence without executing code. Collect one complete .ipynb offline; later Google upload only transports the collected work. Do not require internet or AI during the test.</a:t>
            </a:r>
          </a:p>
          <a:p>
            <a:r>
              <a:t/>
            </a:r>
          </a:p>
          <a:p>
            <a:r>
              <a:t>NEXT</a:t>
            </a:r>
          </a:p>
          <a:p>
            <a:r>
              <a:t>Practical Test 2 continued.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Practical Test 2 continued</a:t>
            </a:r>
          </a:p>
          <a:p>
            <a:r>
              <a:t/>
            </a:r>
          </a:p>
          <a:p>
            <a:r>
              <a:t>CONNECT</a:t>
            </a:r>
          </a:p>
          <a:p>
            <a:r>
              <a:t>Build on the preceding slide: Practical Test 2 continued.</a:t>
            </a:r>
          </a:p>
          <a:p>
            <a:r>
              <a:t/>
            </a:r>
          </a:p>
          <a:p>
            <a:r>
              <a:t>LECTURER CUE</a:t>
            </a:r>
          </a:p>
          <a:p>
            <a:r>
              <a:t>Read the specific public requirement shown on this slide. Explain the input, output and evidence before independent work; do not work the assessed answer for the class.</a:t>
            </a:r>
          </a:p>
          <a:p>
            <a:r>
              <a:t/>
            </a:r>
          </a:p>
          <a:p>
            <a:r>
              <a:t>EXPLAIN IN ORDINARY WORDS</a:t>
            </a:r>
          </a:p>
          <a:p>
            <a:r>
              <a:t>Cross-validation repeats training and validation on different partitions. Each fold gets a newly fitted model and preprocessing. Variation across fold scores shows sensitivity to the partition.</a:t>
            </a:r>
          </a:p>
          <a:p>
            <a:r>
              <a:t/>
            </a:r>
          </a:p>
          <a:p>
            <a:r>
              <a:t>CHECK AND EXPECTED ANSWER</a:t>
            </a:r>
          </a:p>
          <a:p>
            <a:r>
              <a:t>May preprocessing learn from all rows before the folds? No, that would give each validation fold information from outside its training portion.</a:t>
            </a:r>
          </a:p>
          <a:p>
            <a:r>
              <a:t/>
            </a:r>
          </a:p>
          <a:p>
            <a:r>
              <a:t>IF LEARNERS ARE STUCK</a:t>
            </a:r>
          </a:p>
          <a:p>
            <a:r>
              <a:t>Draw three small partitions and label who learns and who is evaluated. Fold spread is not automatically a confidence interval.</a:t>
            </a:r>
          </a:p>
          <a:p>
            <a:r>
              <a:t/>
            </a:r>
          </a:p>
          <a:p>
            <a:r>
              <a:t>TEST COLLECTION RULE</a:t>
            </a:r>
          </a:p>
          <a:p>
            <a:r>
              <a:t>This deck is for rehearsal before the timed assessment. Preserve the invigilated timetable and Part A snapshot. During Part B, type answers in the notebook cell headed ## My written evidence without executing code. Collect one complete .ipynb offline; later Google upload only transports the collected work. Do not require internet or AI during the test.</a:t>
            </a:r>
          </a:p>
          <a:p>
            <a:r>
              <a:t/>
            </a:r>
          </a:p>
          <a:p>
            <a:r>
              <a:t>NEXT</a:t>
            </a:r>
          </a:p>
          <a:p>
            <a:r>
              <a:t>Practical Test 2 continued.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Practical Test 2 continued</a:t>
            </a:r>
          </a:p>
          <a:p>
            <a:r>
              <a:t/>
            </a:r>
          </a:p>
          <a:p>
            <a:r>
              <a:t>CONNECT</a:t>
            </a:r>
          </a:p>
          <a:p>
            <a:r>
              <a:t>Build on the preceding slide: Practical Test 2 continued.</a:t>
            </a:r>
          </a:p>
          <a:p>
            <a:r>
              <a:t/>
            </a:r>
          </a:p>
          <a:p>
            <a:r>
              <a:t>LECTURER CUE</a:t>
            </a:r>
          </a:p>
          <a:p>
            <a:r>
              <a:t>Read the specific public requirement shown on this slide. Explain the input, output and evidence before independent work; do not work the assessed answer for the class.</a:t>
            </a:r>
          </a:p>
          <a:p>
            <a:r>
              <a:t/>
            </a:r>
          </a:p>
          <a:p>
            <a:r>
              <a:t>EXPLAIN IN ORDINARY WORDS</a:t>
            </a:r>
          </a:p>
          <a:p>
            <a:r>
              <a:t>Read each quantity and unit before using a formula. Python calculates numbers but does not enforce physical units. Parentheses specify which operation happens first.</a:t>
            </a:r>
          </a:p>
          <a:p>
            <a:r>
              <a:t/>
            </a:r>
          </a:p>
          <a:p>
            <a:r>
              <a:t>CHECK AND EXPECTED ANSWER</a:t>
            </a:r>
          </a:p>
          <a:p>
            <a:r>
              <a:t>What is 5 m times 3 m? 15 square metres. What is 7/2 in Python? 3.5; 7//2 is 3.</a:t>
            </a:r>
          </a:p>
          <a:p>
            <a:r>
              <a:t/>
            </a:r>
          </a:p>
          <a:p>
            <a:r>
              <a:t>IF LEARNERS ARE STUCK</a:t>
            </a:r>
          </a:p>
          <a:p>
            <a:r>
              <a:t>Write the formula and units on paper, substitute small values, then translate it to Python. Check zero denominators and the issued sign convention.</a:t>
            </a:r>
          </a:p>
          <a:p>
            <a:r>
              <a:t/>
            </a:r>
          </a:p>
          <a:p>
            <a:r>
              <a:t>TEST COLLECTION RULE</a:t>
            </a:r>
          </a:p>
          <a:p>
            <a:r>
              <a:t>This deck is for rehearsal before the timed assessment. Preserve the invigilated timetable and Part A snapshot. During Part B, type answers in the notebook cell headed ## My written evidence without executing code. Collect one complete .ipynb offline; later Google upload only transports the collected work. Do not require internet or AI during the test.</a:t>
            </a:r>
          </a:p>
          <a:p>
            <a:r>
              <a:t/>
            </a:r>
          </a:p>
          <a:p>
            <a:r>
              <a:t>NEXT</a:t>
            </a:r>
          </a:p>
          <a:p>
            <a:r>
              <a:t>Practical Test 2 continued.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Practical Test 2 continued</a:t>
            </a:r>
          </a:p>
          <a:p>
            <a:r>
              <a:t/>
            </a:r>
          </a:p>
          <a:p>
            <a:r>
              <a:t>CONNECT</a:t>
            </a:r>
          </a:p>
          <a:p>
            <a:r>
              <a:t>Build on the preceding slide: Practical Test 2 continued.</a:t>
            </a:r>
          </a:p>
          <a:p>
            <a:r>
              <a:t/>
            </a:r>
          </a:p>
          <a:p>
            <a:r>
              <a:t>LECTURER CUE</a:t>
            </a:r>
          </a:p>
          <a:p>
            <a:r>
              <a:t>Read the specific public requirement shown on this slide. Explain the input, output and evidence before independent work; do not work the assessed answer for the class.</a:t>
            </a:r>
          </a:p>
          <a:p>
            <a:r>
              <a:t/>
            </a:r>
          </a:p>
          <a:p>
            <a:r>
              <a:t>EXPLAIN IN ORDINARY WORDS</a:t>
            </a:r>
          </a:p>
          <a:p>
            <a:r>
              <a:t>Training fits rules. Validation helps choose among rules. The final test estimates performance after choices are fixed. Information that would be unavailable at the real prediction time must stay out of the inputs.</a:t>
            </a:r>
          </a:p>
          <a:p>
            <a:r>
              <a:t/>
            </a:r>
          </a:p>
          <a:p>
            <a:r>
              <a:t>CHECK AND EXPECTED ANSWER</a:t>
            </a:r>
          </a:p>
          <a:p>
            <a:r>
              <a:t>May two readings of the same machine appear on both sides when evaluating new machines? No; split by machine. For forecasting, train on the past and evaluate later time.</a:t>
            </a:r>
          </a:p>
          <a:p>
            <a:r>
              <a:t/>
            </a:r>
          </a:p>
          <a:p>
            <a:r>
              <a:t>IF LEARNERS ARE STUCK</a:t>
            </a:r>
          </a:p>
          <a:p>
            <a:r>
              <a:t>Use three envelopes. Keep the final-test envelope closed while selecting features or settings.</a:t>
            </a:r>
          </a:p>
          <a:p>
            <a:r>
              <a:t/>
            </a:r>
          </a:p>
          <a:p>
            <a:r>
              <a:t>TEST COLLECTION RULE</a:t>
            </a:r>
          </a:p>
          <a:p>
            <a:r>
              <a:t>This deck is for rehearsal before the timed assessment. Preserve the invigilated timetable and Part A snapshot. During Part B, type answers in the notebook cell headed ## My written evidence without executing code. Collect one complete .ipynb offline; later Google upload only transports the collected work. Do not require internet or AI during the test.</a:t>
            </a:r>
          </a:p>
          <a:p>
            <a:r>
              <a:t/>
            </a:r>
          </a:p>
          <a:p>
            <a:r>
              <a:t>NEXT</a:t>
            </a:r>
          </a:p>
          <a:p>
            <a:r>
              <a:t>Practical Test 2 continued.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Practical Test 2 continued</a:t>
            </a:r>
          </a:p>
          <a:p>
            <a:r>
              <a:t/>
            </a:r>
          </a:p>
          <a:p>
            <a:r>
              <a:t>CONNECT</a:t>
            </a:r>
          </a:p>
          <a:p>
            <a:r>
              <a:t>Build on the preceding slide: Practical Test 2 continued.</a:t>
            </a:r>
          </a:p>
          <a:p>
            <a:r>
              <a:t/>
            </a:r>
          </a:p>
          <a:p>
            <a:r>
              <a:t>LECTURER CUE</a:t>
            </a:r>
          </a:p>
          <a:p>
            <a:r>
              <a:t>Read the specific public requirement shown on this slide. Explain the input, output and evidence before independent work; do not work the assessed answer for the class.</a:t>
            </a:r>
          </a:p>
          <a:p>
            <a:r>
              <a:t/>
            </a:r>
          </a:p>
          <a:p>
            <a:r>
              <a:t>EXPLAIN IN ORDINARY WORDS</a:t>
            </a:r>
          </a:p>
          <a:p>
            <a:r>
              <a:t>First remove models that fail the stated error or speed limits. Then apply the stated ranking and tie-break rules to eligible models. The smallest error alone need not decide.</a:t>
            </a:r>
          </a:p>
          <a:p>
            <a:r>
              <a:t/>
            </a:r>
          </a:p>
          <a:p>
            <a:r>
              <a:t>CHECK AND EXPECTED ANSWER</a:t>
            </a:r>
          </a:p>
          <a:p>
            <a:r>
              <a:t>If a model has the lowest error but exceeds the maximum latency, is it eligible? No.</a:t>
            </a:r>
          </a:p>
          <a:p>
            <a:r>
              <a:t/>
            </a:r>
          </a:p>
          <a:p>
            <a:r>
              <a:t>IF LEARNERS ARE STUCK</a:t>
            </a:r>
          </a:p>
          <a:p>
            <a:r>
              <a:t>Write an eligibility column and a separate ranking column. Check the exact boundary rule before sorting.</a:t>
            </a:r>
          </a:p>
          <a:p>
            <a:r>
              <a:t/>
            </a:r>
          </a:p>
          <a:p>
            <a:r>
              <a:t>TEST COLLECTION RULE</a:t>
            </a:r>
          </a:p>
          <a:p>
            <a:r>
              <a:t>This deck is for rehearsal before the timed assessment. Preserve the invigilated timetable and Part A snapshot. During Part B, type answers in the notebook cell headed ## My written evidence without executing code. Collect one complete .ipynb offline; later Google upload only transports the collected work. Do not require internet or AI during the test.</a:t>
            </a:r>
          </a:p>
          <a:p>
            <a:r>
              <a:t/>
            </a:r>
          </a:p>
          <a:p>
            <a:r>
              <a:t>NEXT</a:t>
            </a:r>
          </a:p>
          <a:p>
            <a:r>
              <a:t>Practical Test 2 continued.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Practical Test 2 continued</a:t>
            </a:r>
          </a:p>
          <a:p>
            <a:r>
              <a:t/>
            </a:r>
          </a:p>
          <a:p>
            <a:r>
              <a:t>CONNECT</a:t>
            </a:r>
          </a:p>
          <a:p>
            <a:r>
              <a:t>Build on the preceding slide: Practical Test 2 continued.</a:t>
            </a:r>
          </a:p>
          <a:p>
            <a:r>
              <a:t/>
            </a:r>
          </a:p>
          <a:p>
            <a:r>
              <a:t>LECTURER CUE</a:t>
            </a:r>
          </a:p>
          <a:p>
            <a:r>
              <a:t>Read the specific public requirement shown on this slide. Explain the input, output and evidence before independent work; do not work the assessed answer for the class.</a:t>
            </a:r>
          </a:p>
          <a:p>
            <a:r>
              <a:t/>
            </a:r>
          </a:p>
          <a:p>
            <a:r>
              <a:t>EXPLAIN IN ORDINARY WORDS</a:t>
            </a:r>
          </a:p>
          <a:p>
            <a:r>
              <a:t>A list keeps items in order. Python positions start at zero. In [2,4,6], position 0 contains 2 and position 2 contains 6. A slice excludes its stop position.</a:t>
            </a:r>
          </a:p>
          <a:p>
            <a:r>
              <a:t/>
            </a:r>
          </a:p>
          <a:p>
            <a:r>
              <a:t>CHECK AND EXPECTED ANSWER</a:t>
            </a:r>
          </a:p>
          <a:p>
            <a:r>
              <a:t>What is [2,4,6][1]? 4. Is there a position 3? No.</a:t>
            </a:r>
          </a:p>
          <a:p>
            <a:r>
              <a:t/>
            </a:r>
          </a:p>
          <a:p>
            <a:r>
              <a:t>IF LEARNERS ARE STUCK</a:t>
            </a:r>
          </a:p>
          <a:p>
            <a:r>
              <a:t>Draw three numbered boxes starting at zero. Keep the position separate from the value stored in it.</a:t>
            </a:r>
          </a:p>
          <a:p>
            <a:r>
              <a:t/>
            </a:r>
          </a:p>
          <a:p>
            <a:r>
              <a:t>TEST COLLECTION RULE</a:t>
            </a:r>
          </a:p>
          <a:p>
            <a:r>
              <a:t>This deck is for rehearsal before the timed assessment. Preserve the invigilated timetable and Part A snapshot. During Part B, type answers in the notebook cell headed ## My written evidence without executing code. Collect one complete .ipynb offline; later Google upload only transports the collected work. Do not require internet or AI during the test.</a:t>
            </a:r>
          </a:p>
          <a:p>
            <a:r>
              <a:t/>
            </a:r>
          </a:p>
          <a:p>
            <a:r>
              <a:t>NEXT</a:t>
            </a:r>
          </a:p>
          <a:p>
            <a:r>
              <a:t>Practical Test 2 submission.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Practical Test 2 submission</a:t>
            </a:r>
          </a:p>
          <a:p>
            <a:r>
              <a:t/>
            </a:r>
          </a:p>
          <a:p>
            <a:r>
              <a:t>CONNECT</a:t>
            </a:r>
          </a:p>
          <a:p>
            <a:r>
              <a:t>Build on the preceding slide: Practical Test 2 continued.</a:t>
            </a:r>
          </a:p>
          <a:p>
            <a:r>
              <a:t/>
            </a:r>
          </a:p>
          <a:p>
            <a:r>
              <a:t>LECTURER CUE</a:t>
            </a:r>
          </a:p>
          <a:p>
            <a:r>
              <a:t>Read the specific public requirement shown on this slide. Explain the input, output and evidence before independent work; do not work the assessed answer for the class.</a:t>
            </a:r>
          </a:p>
          <a:p>
            <a:r>
              <a:t/>
            </a:r>
          </a:p>
          <a:p>
            <a:r>
              <a:t>EXPLAIN IN ORDINARY WORDS</a:t>
            </a:r>
          </a:p>
          <a:p>
            <a:r>
              <a:t>A list keeps items in order. Python positions start at zero. In [2,4,6], position 0 contains 2 and position 2 contains 6. A slice excludes its stop position.</a:t>
            </a:r>
          </a:p>
          <a:p>
            <a:r>
              <a:t/>
            </a:r>
          </a:p>
          <a:p>
            <a:r>
              <a:t>CHECK AND EXPECTED ANSWER</a:t>
            </a:r>
          </a:p>
          <a:p>
            <a:r>
              <a:t>What is [2,4,6][1]? 4. Is there a position 3? No.</a:t>
            </a:r>
          </a:p>
          <a:p>
            <a:r>
              <a:t/>
            </a:r>
          </a:p>
          <a:p>
            <a:r>
              <a:t>IF LEARNERS ARE STUCK</a:t>
            </a:r>
          </a:p>
          <a:p>
            <a:r>
              <a:t>Draw three numbered boxes starting at zero. Keep the position separate from the value stored in it.</a:t>
            </a:r>
          </a:p>
          <a:p>
            <a:r>
              <a:t/>
            </a:r>
          </a:p>
          <a:p>
            <a:r>
              <a:t>ASSIGNMENT HANDOVER</a:t>
            </a:r>
          </a:p>
          <a:p>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a:r>
              <a:t/>
            </a:r>
          </a:p>
          <a:p>
            <a:r>
              <a:t>TEST COLLECTION RULE</a:t>
            </a:r>
          </a:p>
          <a:p>
            <a:r>
              <a:t>This deck is for rehearsal before the timed assessment. Preserve the invigilated timetable and Part A snapshot. During Part B, type answers in the notebook cell headed ## My written evidence without executing code. Collect one complete .ipynb offline; later Google upload only transports the collected work. Do not require internet or AI during the test.</a:t>
            </a:r>
          </a:p>
          <a:p>
            <a:r>
              <a:t/>
            </a:r>
          </a:p>
          <a:p>
            <a:r>
              <a:t>NEXT</a:t>
            </a:r>
          </a:p>
          <a:p>
            <a:r>
              <a:t>Before you leave.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Before you leave</a:t>
            </a:r>
          </a:p>
          <a:p>
            <a:r>
              <a:t/>
            </a:r>
          </a:p>
          <a:p>
            <a:r>
              <a:t>CONNECT</a:t>
            </a:r>
          </a:p>
          <a:p>
            <a:r>
              <a:t>Build on the preceding slide: Practical Test 2 submission.</a:t>
            </a:r>
          </a:p>
          <a:p>
            <a:r>
              <a:t/>
            </a:r>
          </a:p>
          <a:p>
            <a:r>
              <a:t>LECTURER CUE</a:t>
            </a:r>
          </a:p>
          <a:p>
            <a:r>
              <a:t>Read the specific public requirement shown on this slide. Explain the input, output and evidence before independent work; do not work the assessed answer for the class.</a:t>
            </a:r>
          </a:p>
          <a:p>
            <a:r>
              <a:t/>
            </a:r>
          </a:p>
          <a:p>
            <a:r>
              <a:t>EXPLAIN IN ORDINARY WORDS</a:t>
            </a:r>
          </a:p>
          <a:p>
            <a:r>
              <a:t>Training fits rules. Validation helps choose among rules. The final test estimates performance after choices are fixed. Information that would be unavailable at the real prediction time must stay out of the inputs.</a:t>
            </a:r>
          </a:p>
          <a:p>
            <a:r>
              <a:t/>
            </a:r>
          </a:p>
          <a:p>
            <a:r>
              <a:t>CHECK AND EXPECTED ANSWER</a:t>
            </a:r>
          </a:p>
          <a:p>
            <a:r>
              <a:t>May two readings of the same machine appear on both sides when evaluating new machines? No; split by machine. For forecasting, train on the past and evaluate later time.</a:t>
            </a:r>
          </a:p>
          <a:p>
            <a:r>
              <a:t/>
            </a:r>
          </a:p>
          <a:p>
            <a:r>
              <a:t>IF LEARNERS ARE STUCK</a:t>
            </a:r>
          </a:p>
          <a:p>
            <a:r>
              <a:t>Use three envelopes. Keep the final-test envelope closed while selecting features or settings.</a:t>
            </a:r>
          </a:p>
          <a:p>
            <a:r>
              <a:t/>
            </a:r>
          </a:p>
          <a:p>
            <a:r>
              <a:t>TEST COLLECTION RULE</a:t>
            </a:r>
          </a:p>
          <a:p>
            <a:r>
              <a:t>This deck is for rehearsal before the timed assessment. Preserve the invigilated timetable and Part A snapshot. During Part B, type answers in the notebook cell headed ## My written evidence without executing code. Collect one complete .ipynb offline; later Google upload only transports the collected work. Do not require internet or AI during the test.</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a55a4b5fd9e49c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2b242aecb2744df" /><Relationship Type="http://schemas.openxmlformats.org/officeDocument/2006/relationships/slideLayout" Target="/ppt/slideLayouts/slideLayout1.xml" Id="R58d2dcb95a3f4d1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8d2dcb95a3f4d1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7abe5c92dfc4f8d" /><Relationship Type="http://schemas.openxmlformats.org/officeDocument/2006/relationships/image" Target="/ppt/media/image.png" Id="Raf859200aaf74668" /><Relationship Type="http://schemas.openxmlformats.org/officeDocument/2006/relationships/notesSlide" Target="/ppt/notesSlides/notesSlide1.xml" Id="R071d279cb0814ef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053c17c1774486b" /><Relationship Type="http://schemas.openxmlformats.org/officeDocument/2006/relationships/notesSlide" Target="/ppt/notesSlides/notesSlide2.xml" Id="R02cff0f9bf0b43d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da9cbd4b0fe4e79" /><Relationship Type="http://schemas.openxmlformats.org/officeDocument/2006/relationships/notesSlide" Target="/ppt/notesSlides/notesSlide3.xml" Id="R4249e131d9d74dd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78f16b84fa24542" /><Relationship Type="http://schemas.openxmlformats.org/officeDocument/2006/relationships/notesSlide" Target="/ppt/notesSlides/notesSlide4.xml" Id="R24a5273349a24cb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b7eb06be0af4c5a" /><Relationship Type="http://schemas.openxmlformats.org/officeDocument/2006/relationships/notesSlide" Target="/ppt/notesSlides/notesSlide5.xml" Id="Rc6dde895ee5942b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f0fd01fd42b4ed1" /><Relationship Type="http://schemas.openxmlformats.org/officeDocument/2006/relationships/notesSlide" Target="/ppt/notesSlides/notesSlide6.xml" Id="R37f52fd0193e48f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138e92223f34171" /><Relationship Type="http://schemas.openxmlformats.org/officeDocument/2006/relationships/notesSlide" Target="/ppt/notesSlides/notesSlide7.xml" Id="R5b1e4bb13fea4a6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80d57e1504941a9" /><Relationship Type="http://schemas.openxmlformats.org/officeDocument/2006/relationships/notesSlide" Target="/ppt/notesSlides/notesSlide8.xml" Id="Ra474226ee37645f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b7a2005b9de46ed" /><Relationship Type="http://schemas.openxmlformats.org/officeDocument/2006/relationships/notesSlide" Target="/ppt/notesSlides/notesSlide9.xml" Id="Raae69b64a9c84eb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85330eaff544716" /><Relationship Type="http://schemas.openxmlformats.org/officeDocument/2006/relationships/notesSlide" Target="/ppt/notesSlides/notesSlide10.xml" Id="Rd2b065ec11084f1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af8a284cca54db1" /><Relationship Type="http://schemas.openxmlformats.org/officeDocument/2006/relationships/notesSlide" Target="/ppt/notesSlides/notesSlide11.xml" Id="R6c31c1fa323e4ef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bc90e67788e4f6d" /><Relationship Type="http://schemas.openxmlformats.org/officeDocument/2006/relationships/notesSlide" Target="/ppt/notesSlides/notesSlide12.xml" Id="R6e9e181ee27748d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89656e302764914" /><Relationship Type="http://schemas.openxmlformats.org/officeDocument/2006/relationships/notesSlide" Target="/ppt/notesSlides/notesSlide13.xml" Id="R7a1fb025cd40426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e8ae154eb4d4add" /><Relationship Type="http://schemas.openxmlformats.org/officeDocument/2006/relationships/notesSlide" Target="/ppt/notesSlides/notesSlide14.xml" Id="Redd2c8319db14e2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a19899561a64dee" /><Relationship Type="http://schemas.openxmlformats.org/officeDocument/2006/relationships/notesSlide" Target="/ppt/notesSlides/notesSlide15.xml" Id="Rb6c8f13e1ad0402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8a917799cc94437" /><Relationship Type="http://schemas.openxmlformats.org/officeDocument/2006/relationships/notesSlide" Target="/ppt/notesSlides/notesSlide16.xml" Id="R1e12024c429f46d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fea105a5c5e4fae" /><Relationship Type="http://schemas.openxmlformats.org/officeDocument/2006/relationships/notesSlide" Target="/ppt/notesSlides/notesSlide17.xml" Id="Rb2ac79493750489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fec8173128d4207" /><Relationship Type="http://schemas.openxmlformats.org/officeDocument/2006/relationships/notesSlide" Target="/ppt/notesSlides/notesSlide18.xml" Id="R245436f6956745f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a58fda4e27344af" /><Relationship Type="http://schemas.openxmlformats.org/officeDocument/2006/relationships/notesSlide" Target="/ppt/notesSlides/notesSlide19.xml" Id="R1f7644f5ef5f4af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b9cd322a0b24a65" /><Relationship Type="http://schemas.openxmlformats.org/officeDocument/2006/relationships/notesSlide" Target="/ppt/notesSlides/notesSlide20.xml" Id="Rec187d421e4d458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0d4ceea313f4cd9" /><Relationship Type="http://schemas.openxmlformats.org/officeDocument/2006/relationships/notesSlide" Target="/ppt/notesSlides/notesSlide21.xml" Id="R3c00d4fb5e9a4c4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c9c903d7ec794afa" /><Relationship Type="http://schemas.openxmlformats.org/officeDocument/2006/relationships/hyperlink" Target="https://docs.google.com/forms/d/e/1FAIpQLSdvVxHeeW8LiNgjsQeqqFnAYSBPBxJjBkBuAKSj1gAQ4gVHkQ/viewform" TargetMode="External" Id="R8648645d8d0f4345" /><Relationship Type="http://schemas.openxmlformats.org/officeDocument/2006/relationships/notesSlide" Target="/ppt/notesSlides/notesSlide22.xml" Id="R34ea8457fff0432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b45672645da4983" /><Relationship Type="http://schemas.openxmlformats.org/officeDocument/2006/relationships/notesSlide" Target="/ppt/notesSlides/notesSlide23.xml" Id="R019cb456dc28431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af859200aaf74668"/>
          <a:stretch xmlns:a="http://schemas.openxmlformats.org/drawingml/2006/main"/>
        </p:blipFill>
        <p:spPr>
          <a:xfrm xmlns:a="http://schemas.openxmlformats.org/drawingml/2006/main">
            <a:off x="3087"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CEF6934-DCA2-4465-A99B-75E471ACFD7F}"/>
              </a:ext>
            </a:extLst>
          </p:cNvPr>
          <p:cNvSpPr>
            <a:spLocks xmlns:a="http://schemas.openxmlformats.org/drawingml/2006/main" noGrp="1"/>
          </p:cNvSpPr>
          <p:nvPr/>
        </p:nvSpPr>
        <p:spPr>
          <a:xfrm xmlns:a="http://schemas.openxmlformats.org/drawingml/2006/main">
            <a:off x="0" y="0"/>
            <a:ext cx="5381625" cy="68580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5C5A0C5-8B05-4C9B-A20A-450390A4727B}"/>
              </a:ext>
            </a:extLst>
          </p:cNvPr>
          <p:cNvSpPr>
            <a:spLocks xmlns:a="http://schemas.openxmlformats.org/drawingml/2006/main" noGrp="1"/>
          </p:cNvSpPr>
          <p:nvPr/>
        </p:nvSpPr>
        <p:spPr>
          <a:xfrm xmlns:a="http://schemas.openxmlformats.org/drawingml/2006/main">
            <a:off x="552450" y="6858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CML3112   WEEK 14</a:t>
            </a:r>
          </a:p>
        </p:txBody>
      </p:sp>
      <p:sp>
        <p:nvSpPr>
          <p:cNvPr id="4" name="">
            <a:extLst xmlns:a="http://schemas.openxmlformats.org/drawingml/2006/main">
              <a:ext uri="{FF2B5EF4-FFF2-40B4-BE49-F238E27FC236}">
                <a16:creationId xmlns:a16="http://schemas.microsoft.com/office/drawing/2014/main" id="{BB7D0381-39A2-46BE-8B35-AD4AFA22014F}"/>
              </a:ext>
            </a:extLst>
          </p:cNvPr>
          <p:cNvSpPr>
            <a:spLocks xmlns:a="http://schemas.openxmlformats.org/drawingml/2006/main" noGrp="1"/>
          </p:cNvSpPr>
          <p:nvPr/>
        </p:nvSpPr>
        <p:spPr>
          <a:xfrm xmlns:a="http://schemas.openxmlformats.org/drawingml/2006/main">
            <a:off x="552450" y="1619250"/>
            <a:ext cx="4619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FFFFFF"/>
                </a:solidFill>
                <a:latin typeface="Calibri"/>
                <a:ea typeface="Calibri"/>
                <a:cs typeface="Calibri"/>
              </a:defRPr>
            </a:pPr>
            <a:r>
              <a:rPr sz="3825" b="1">
                <a:solidFill>
                  <a:srgbClr val="FFFFFF"/>
                </a:solidFill>
                <a:latin typeface="Calibri"/>
                <a:ea typeface="Calibri"/>
                <a:cs typeface="Calibri"/>
              </a:rPr>
              <a:t>Preparing for Practical Test 2</a:t>
            </a:r>
          </a:p>
        </p:txBody>
      </p:sp>
      <p:sp>
        <p:nvSpPr>
          <p:cNvPr id="5" name="">
            <a:extLst xmlns:a="http://schemas.openxmlformats.org/drawingml/2006/main">
              <a:ext uri="{FF2B5EF4-FFF2-40B4-BE49-F238E27FC236}">
                <a16:creationId xmlns:a16="http://schemas.microsoft.com/office/drawing/2014/main" id="{55CC8E7F-B225-4E9E-BB7C-7BCDEEC00157}"/>
              </a:ext>
            </a:extLst>
          </p:cNvPr>
          <p:cNvSpPr>
            <a:spLocks xmlns:a="http://schemas.openxmlformats.org/drawingml/2006/main" noGrp="1"/>
          </p:cNvSpPr>
          <p:nvPr/>
        </p:nvSpPr>
        <p:spPr>
          <a:xfrm xmlns:a="http://schemas.openxmlformats.org/drawingml/2006/main">
            <a:off x="552450" y="4048125"/>
            <a:ext cx="4619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8E3EC"/>
                </a:solidFill>
                <a:latin typeface="Calibri"/>
                <a:ea typeface="Calibri"/>
                <a:cs typeface="Calibri"/>
              </a:defRPr>
            </a:pPr>
            <a:r>
              <a:rPr sz="2100" b="0">
                <a:solidFill>
                  <a:srgbClr val="D8E3EC"/>
                </a:solidFill>
                <a:latin typeface="Calibri"/>
                <a:ea typeface="Calibri"/>
                <a:cs typeface="Calibri"/>
              </a:rPr>
              <a:t>Civil Engineering and Architecture</a:t>
            </a:r>
          </a:p>
        </p:txBody>
      </p:sp>
      <p:sp>
        <p:nvSpPr>
          <p:cNvPr id="6" name="">
            <a:extLst xmlns:a="http://schemas.openxmlformats.org/drawingml/2006/main">
              <a:ext uri="{FF2B5EF4-FFF2-40B4-BE49-F238E27FC236}">
                <a16:creationId xmlns:a16="http://schemas.microsoft.com/office/drawing/2014/main" id="{363E5540-B9B9-42A5-917A-8969FA9A7EC3}"/>
              </a:ext>
            </a:extLst>
          </p:cNvPr>
          <p:cNvSpPr>
            <a:spLocks xmlns:a="http://schemas.openxmlformats.org/drawingml/2006/main" noGrp="1"/>
          </p:cNvSpPr>
          <p:nvPr/>
        </p:nvSpPr>
        <p:spPr>
          <a:xfrm xmlns:a="http://schemas.openxmlformats.org/drawingml/2006/main">
            <a:off x="552450" y="546735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Tuesday 08 December 2026</a:t>
            </a:r>
          </a:p>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Tuesday 11:00–14:00, Room 106</a:t>
            </a:r>
          </a:p>
        </p:txBody>
      </p:sp>
    </p:spTree>
    <p:extLst>
      <p:ext uri="{BB962C8B-B14F-4D97-AF65-F5344CB8AC3E}">
        <p14:creationId xmlns:p14="http://schemas.microsoft.com/office/powerpoint/2010/main" val="122897497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A0FEB30-532F-4A65-A7E9-B13444DA13B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1CB9696-FBED-4B76-AE3E-5492F59E654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TODAY’S DESTINATION</a:t>
            </a:r>
          </a:p>
        </p:txBody>
      </p:sp>
      <p:sp>
        <p:nvSpPr>
          <p:cNvPr id="3" name="">
            <a:extLst xmlns:a="http://schemas.openxmlformats.org/drawingml/2006/main">
              <a:ext uri="{FF2B5EF4-FFF2-40B4-BE49-F238E27FC236}">
                <a16:creationId xmlns:a16="http://schemas.microsoft.com/office/drawing/2014/main" id="{90002AF7-4C3D-4DF4-8816-0C177B05A9C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Today’s learning</a:t>
            </a:r>
          </a:p>
        </p:txBody>
      </p:sp>
      <p:sp>
        <p:nvSpPr>
          <p:cNvPr id="4" name="">
            <a:extLst xmlns:a="http://schemas.openxmlformats.org/drawingml/2006/main">
              <a:ext uri="{FF2B5EF4-FFF2-40B4-BE49-F238E27FC236}">
                <a16:creationId xmlns:a16="http://schemas.microsoft.com/office/drawing/2014/main" id="{4271D671-FB1A-4F79-AED3-262FCAB54ED9}"/>
              </a:ext>
            </a:extLst>
          </p:cNvPr>
          <p:cNvSpPr>
            <a:spLocks xmlns:a="http://schemas.openxmlformats.org/drawingml/2006/main" noGrp="1"/>
          </p:cNvSpPr>
          <p:nvPr/>
        </p:nvSpPr>
        <p:spPr>
          <a:xfrm xmlns:a="http://schemas.openxmlformats.org/drawingml/2006/main">
            <a:off x="590550" y="1733550"/>
            <a:ext cx="523875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E51DBDF-1736-4313-9ACF-2D5E620C997E}"/>
              </a:ext>
            </a:extLst>
          </p:cNvPr>
          <p:cNvSpPr>
            <a:spLocks xmlns:a="http://schemas.openxmlformats.org/drawingml/2006/main" noGrp="1"/>
          </p:cNvSpPr>
          <p:nvPr/>
        </p:nvSpPr>
        <p:spPr>
          <a:xfrm xmlns:a="http://schemas.openxmlformats.org/drawingml/2006/main">
            <a:off x="828675" y="2000250"/>
            <a:ext cx="474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E4572E"/>
                </a:solidFill>
                <a:latin typeface="Calibri"/>
                <a:ea typeface="Calibri"/>
                <a:cs typeface="Calibri"/>
              </a:defRPr>
            </a:pPr>
            <a:r>
              <a:rPr sz="1650" b="1">
                <a:solidFill>
                  <a:srgbClr val="E4572E"/>
                </a:solidFill>
                <a:latin typeface="Calibri"/>
                <a:ea typeface="Calibri"/>
                <a:cs typeface="Calibri"/>
              </a:rPr>
              <a:t>WHAT WE WILL DO</a:t>
            </a:r>
          </a:p>
        </p:txBody>
      </p:sp>
      <p:sp>
        <p:nvSpPr>
          <p:cNvPr id="6" name="">
            <a:extLst xmlns:a="http://schemas.openxmlformats.org/drawingml/2006/main">
              <a:ext uri="{FF2B5EF4-FFF2-40B4-BE49-F238E27FC236}">
                <a16:creationId xmlns:a16="http://schemas.microsoft.com/office/drawing/2014/main" id="{2B6091BE-5E1E-4395-BCAC-49073B44BFBB}"/>
              </a:ext>
            </a:extLst>
          </p:cNvPr>
          <p:cNvSpPr>
            <a:spLocks xmlns:a="http://schemas.openxmlformats.org/drawingml/2006/main" noGrp="1"/>
          </p:cNvSpPr>
          <p:nvPr/>
        </p:nvSpPr>
        <p:spPr>
          <a:xfrm xmlns:a="http://schemas.openxmlformats.org/drawingml/2006/main">
            <a:off x="828675" y="2590800"/>
            <a:ext cx="47434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Rehearse previously taught modelling decisions.</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Practise saving both required test files offline.</a:t>
            </a:r>
          </a:p>
        </p:txBody>
      </p:sp>
      <p:sp>
        <p:nvSpPr>
          <p:cNvPr id="7" name="">
            <a:extLst xmlns:a="http://schemas.openxmlformats.org/drawingml/2006/main">
              <a:ext uri="{FF2B5EF4-FFF2-40B4-BE49-F238E27FC236}">
                <a16:creationId xmlns:a16="http://schemas.microsoft.com/office/drawing/2014/main" id="{55DFC1C5-7EC8-4D09-A42C-7FA265801DC4}"/>
              </a:ext>
            </a:extLst>
          </p:cNvPr>
          <p:cNvSpPr>
            <a:spLocks xmlns:a="http://schemas.openxmlformats.org/drawingml/2006/main" noGrp="1"/>
          </p:cNvSpPr>
          <p:nvPr/>
        </p:nvSpPr>
        <p:spPr>
          <a:xfrm xmlns:a="http://schemas.openxmlformats.org/drawingml/2006/main">
            <a:off x="6210300" y="200025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E7D6F"/>
                </a:solidFill>
                <a:latin typeface="Calibri"/>
                <a:ea typeface="Calibri"/>
                <a:cs typeface="Calibri"/>
              </a:defRPr>
            </a:pPr>
            <a:r>
              <a:rPr sz="1650" b="1">
                <a:solidFill>
                  <a:srgbClr val="2E7D6F"/>
                </a:solidFill>
                <a:latin typeface="Calibri"/>
                <a:ea typeface="Calibri"/>
                <a:cs typeface="Calibri"/>
              </a:rPr>
              <a:t>HOW YOU WILL SHOW IT</a:t>
            </a:r>
          </a:p>
        </p:txBody>
      </p:sp>
      <p:sp>
        <p:nvSpPr>
          <p:cNvPr id="8" name="">
            <a:extLst xmlns:a="http://schemas.openxmlformats.org/drawingml/2006/main">
              <a:ext uri="{FF2B5EF4-FFF2-40B4-BE49-F238E27FC236}">
                <a16:creationId xmlns:a16="http://schemas.microsoft.com/office/drawing/2014/main" id="{39D51257-471A-4D64-827C-D6EE8976DFEE}"/>
              </a:ext>
            </a:extLst>
          </p:cNvPr>
          <p:cNvSpPr>
            <a:spLocks xmlns:a="http://schemas.openxmlformats.org/drawingml/2006/main" noGrp="1"/>
          </p:cNvSpPr>
          <p:nvPr/>
        </p:nvSpPr>
        <p:spPr>
          <a:xfrm xmlns:a="http://schemas.openxmlformats.org/drawingml/2006/main">
            <a:off x="6210300" y="2590800"/>
            <a:ext cx="509587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You can explain training-only preprocessing and locate your saved evidence.</a:t>
            </a:r>
          </a:p>
        </p:txBody>
      </p:sp>
      <p:sp>
        <p:nvSpPr>
          <p:cNvPr id="9" name="">
            <a:extLst xmlns:a="http://schemas.openxmlformats.org/drawingml/2006/main">
              <a:ext uri="{FF2B5EF4-FFF2-40B4-BE49-F238E27FC236}">
                <a16:creationId xmlns:a16="http://schemas.microsoft.com/office/drawing/2014/main" id="{628D3E0C-54E8-449C-BDB9-9E7A10142AD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2</a:t>
            </a:r>
          </a:p>
        </p:txBody>
      </p:sp>
    </p:spTree>
    <p:extLst>
      <p:ext uri="{BB962C8B-B14F-4D97-AF65-F5344CB8AC3E}">
        <p14:creationId xmlns:p14="http://schemas.microsoft.com/office/powerpoint/2010/main" val="743061976"/>
      </p:ext>
    </p:extLst>
  </p:cSld>
</p:sld>
</file>

<file path=ppt/slides/slide3.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D0C9C6D-0CC8-4AC1-B0E3-82EAEFE1EE9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PREDICT BEFORE RUNNING</a:t>
            </a:r>
          </a:p>
        </p:txBody>
      </p:sp>
      <p:sp>
        <p:nvSpPr>
          <p:cNvPr id="2" name="">
            <a:extLst xmlns:a="http://schemas.openxmlformats.org/drawingml/2006/main">
              <a:ext uri="{FF2B5EF4-FFF2-40B4-BE49-F238E27FC236}">
                <a16:creationId xmlns:a16="http://schemas.microsoft.com/office/drawing/2014/main" id="{64381689-22A0-4D2E-9D93-431E9FAF718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Recall and a first attempt</a:t>
            </a:r>
          </a:p>
        </p:txBody>
      </p:sp>
      <p:sp>
        <p:nvSpPr>
          <p:cNvPr id="3" name="">
            <a:extLst xmlns:a="http://schemas.openxmlformats.org/drawingml/2006/main">
              <a:ext uri="{FF2B5EF4-FFF2-40B4-BE49-F238E27FC236}">
                <a16:creationId xmlns:a16="http://schemas.microsoft.com/office/drawing/2014/main" id="{96BE4D48-B59E-46E2-8649-84B8CA04B6D3}"/>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YOUR TURN</a:t>
            </a:r>
          </a:p>
        </p:txBody>
      </p:sp>
      <p:sp>
        <p:nvSpPr>
          <p:cNvPr id="4" name="">
            <a:extLst xmlns:a="http://schemas.openxmlformats.org/drawingml/2006/main">
              <a:ext uri="{FF2B5EF4-FFF2-40B4-BE49-F238E27FC236}">
                <a16:creationId xmlns:a16="http://schemas.microsoft.com/office/drawing/2014/main" id="{2BEDB317-5532-4FD5-8D09-F05A2955543B}"/>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Can you name the target, fit only on training records and explain how you would keep the test untouched?</a:t>
            </a:r>
          </a:p>
        </p:txBody>
      </p:sp>
      <p:sp>
        <p:nvSpPr>
          <p:cNvPr id="5" name="">
            <a:extLst xmlns:a="http://schemas.openxmlformats.org/drawingml/2006/main">
              <a:ext uri="{FF2B5EF4-FFF2-40B4-BE49-F238E27FC236}">
                <a16:creationId xmlns:a16="http://schemas.microsoft.com/office/drawing/2014/main" id="{34E6B2B7-A8AA-4924-B996-DDD09DC5D821}"/>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Think alone first. Then compare your reasoning with a partner.</a:t>
            </a:r>
          </a:p>
        </p:txBody>
      </p:sp>
      <p:sp>
        <p:nvSpPr>
          <p:cNvPr id="6" name="">
            <a:extLst xmlns:a="http://schemas.openxmlformats.org/drawingml/2006/main">
              <a:ext uri="{FF2B5EF4-FFF2-40B4-BE49-F238E27FC236}">
                <a16:creationId xmlns:a16="http://schemas.microsoft.com/office/drawing/2014/main" id="{8CE7C169-F599-4575-AEDF-DAA454672B1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CML3112   Week 14   3</a:t>
            </a:r>
          </a:p>
        </p:txBody>
      </p:sp>
    </p:spTree>
    <p:extLst>
      <p:ext uri="{BB962C8B-B14F-4D97-AF65-F5344CB8AC3E}">
        <p14:creationId xmlns:p14="http://schemas.microsoft.com/office/powerpoint/2010/main" val="113481070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8158CE1-71A7-4F69-B183-5F0B60F245D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0AD00C5-790D-4D42-8286-8992D17523F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E910DC7-919E-4257-A704-C7B83001AD6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Preparation happens before the test</a:t>
            </a:r>
          </a:p>
        </p:txBody>
      </p:sp>
      <p:sp>
        <p:nvSpPr>
          <p:cNvPr id="4" name="">
            <a:extLst xmlns:a="http://schemas.openxmlformats.org/drawingml/2006/main">
              <a:ext uri="{FF2B5EF4-FFF2-40B4-BE49-F238E27FC236}">
                <a16:creationId xmlns:a16="http://schemas.microsoft.com/office/drawing/2014/main" id="{65F0C4C8-2852-48A4-A368-328FFBF9B8DE}"/>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F960FD7-96B3-422A-BDA9-FA685746BBEB}"/>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Practise the already taught error calculations and data-splitting rules.</a:t>
            </a:r>
          </a:p>
        </p:txBody>
      </p:sp>
      <p:sp>
        <p:nvSpPr>
          <p:cNvPr id="6" name="">
            <a:extLst xmlns:a="http://schemas.openxmlformats.org/drawingml/2006/main">
              <a:ext uri="{FF2B5EF4-FFF2-40B4-BE49-F238E27FC236}">
                <a16:creationId xmlns:a16="http://schemas.microsoft.com/office/drawing/2014/main" id="{909D9ACC-86A6-4A55-8260-1EB99E6C5A83}"/>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4EFF407-88FB-48C9-A018-259403095F62}"/>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separate practice values.</a:t>
            </a:r>
          </a:p>
        </p:txBody>
      </p:sp>
      <p:sp>
        <p:nvSpPr>
          <p:cNvPr id="8" name="">
            <a:extLst xmlns:a="http://schemas.openxmlformats.org/drawingml/2006/main">
              <a:ext uri="{FF2B5EF4-FFF2-40B4-BE49-F238E27FC236}">
                <a16:creationId xmlns:a16="http://schemas.microsoft.com/office/drawing/2014/main" id="{DA69F4B3-A66A-4294-AE59-9E061AE4E380}"/>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FABDA33D-930E-4440-8A6A-3C57DBFBF40C}"/>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timed session follows the issued test instructions.</a:t>
            </a:r>
          </a:p>
        </p:txBody>
      </p:sp>
      <p:sp>
        <p:nvSpPr>
          <p:cNvPr id="10" name="">
            <a:extLst xmlns:a="http://schemas.openxmlformats.org/drawingml/2006/main">
              <a:ext uri="{FF2B5EF4-FFF2-40B4-BE49-F238E27FC236}">
                <a16:creationId xmlns:a16="http://schemas.microsoft.com/office/drawing/2014/main" id="{EE70BC65-649D-408C-B304-250DFB4CEB1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4</a:t>
            </a:r>
          </a:p>
        </p:txBody>
      </p:sp>
    </p:spTree>
    <p:extLst>
      <p:ext uri="{BB962C8B-B14F-4D97-AF65-F5344CB8AC3E}">
        <p14:creationId xmlns:p14="http://schemas.microsoft.com/office/powerpoint/2010/main" val="340851703"/>
      </p:ext>
    </p:extLst>
  </p:cSld>
</p:sld>
</file>

<file path=ppt/slides/slide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1" name="">
            <a:extLst>
              <a:ext uri="{FF2B5EF4-FFF2-40B4-BE49-F238E27FC236}">
                <ns2:creationId id="{A4B898E2-C7C7-4837-8EF6-C72A1BCC061C}"/>
              </a:ext>
            </a:extLst>
          </p:cNvPr>
          <p:cNvSpPr>
            <a:spLocks noGrp="1"/>
          </p:cNvSpPr>
          <p:nvPr/>
        </p:nvSpPr>
        <p:spPr>
          <a:xfrm>
            <a:off x="0" y="0"/>
            <a:ext cx="12191695" cy="1390650"/>
          </a:xfrm>
          <a:prstGeom prst="rect">
            <a:avLst/>
          </a:prstGeom>
          <a:solidFill>
            <a:srgbClr val="1C3144"/>
          </a:solidFill>
          <a:ln w="0">
            <a:noFill/>
          </a:ln>
        </p:spPr>
      </p:sp>
      <p:sp>
        <p:nvSpPr>
          <p:cNvPr id="2" name="">
            <a:extLst>
              <a:ext uri="{FF2B5EF4-FFF2-40B4-BE49-F238E27FC236}">
                <ns2:creationId id="{3D7C0535-470A-4DB1-BCDF-0EDA68F37438}"/>
              </a:ext>
            </a:extLst>
          </p:cNvPr>
          <p:cNvSpPr>
            <a:spLocks noGrp="1"/>
          </p:cNvSpPr>
          <p:nvPr/>
        </p:nvSpPr>
        <p:spPr>
          <a:xfrm>
            <a:off x="590550" y="180975"/>
            <a:ext cx="11049000" cy="285750"/>
          </a:xfrm>
          <a:prstGeom prst="rect">
            <a:avLst/>
          </a:prstGeom>
          <a:noFill/>
          <a:ln w="0">
            <a:noFill/>
          </a:ln>
        </p:spPr>
        <p:txBody>
          <a:bodyPr>
            <a:noAutofit/>
          </a:bodyPr>
          <a:lstStyle/>
          <a:p>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a:ext uri="{FF2B5EF4-FFF2-40B4-BE49-F238E27FC236}">
                <ns2:creationId id="{A0F47F62-9833-456A-A5B3-9C304612A320}"/>
              </a:ext>
            </a:extLst>
          </p:cNvPr>
          <p:cNvSpPr>
            <a:spLocks noGrp="1"/>
          </p:cNvSpPr>
          <p:nvPr/>
        </p:nvSpPr>
        <p:spPr>
          <a:xfrm>
            <a:off x="590550" y="523875"/>
            <a:ext cx="11049000" cy="809625"/>
          </a:xfrm>
          <a:prstGeom prst="rect">
            <a:avLst/>
          </a:prstGeom>
          <a:noFill/>
          <a:ln w="0">
            <a:noFill/>
          </a:ln>
        </p:spPr>
        <p:txBody>
          <a:bodyPr>
            <a:noAutofit/>
          </a:bodyPr>
          <a:lstStyle/>
          <a:p>
            <a:pPr>
              <a:defRPr sz="3150" b="1">
                <a:solidFill>
                  <a:srgbClr val="FFFFFF"/>
                </a:solidFill>
                <a:latin typeface="Calibri"/>
                <a:ea typeface="Calibri"/>
                <a:cs typeface="Calibri"/>
              </a:defRPr>
            </a:pPr>
            <a:r>
              <a:rPr sz="3150" b="1">
                <a:solidFill>
                  <a:srgbClr val="FFFFFF"/>
                </a:solidFill>
                <a:latin typeface="Calibri"/>
                <a:ea typeface="Calibri"/>
                <a:cs typeface="Calibri"/>
              </a:rPr>
              <a:t>Rehearse the offline save procedure</a:t>
            </a:r>
          </a:p>
        </p:txBody>
      </p:sp>
      <p:sp>
        <p:nvSpPr>
          <p:cNvPr id="4" name="">
            <a:extLst>
              <a:ext uri="{FF2B5EF4-FFF2-40B4-BE49-F238E27FC236}">
                <ns2:creationId id="{D0DDF8EE-4F50-4709-BEBC-E609B8DB8EE3}"/>
              </a:ext>
            </a:extLst>
          </p:cNvPr>
          <p:cNvSpPr>
            <a:spLocks noGrp="1"/>
          </p:cNvSpPr>
          <p:nvPr/>
        </p:nvSpPr>
        <p:spPr>
          <a:xfrm>
            <a:off x="590550" y="1781175"/>
            <a:ext cx="619125" cy="571500"/>
          </a:xfrm>
          <a:prstGeom prst="rect">
            <a:avLst/>
          </a:prstGeom>
          <a:noFill/>
          <a:ln w="0">
            <a:noFill/>
          </a:ln>
        </p:spPr>
        <p:txBody>
          <a:bodyPr>
            <a:noAutofit/>
          </a:bodyPr>
          <a:lstStyle/>
          <a:p>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a:ext uri="{FF2B5EF4-FFF2-40B4-BE49-F238E27FC236}">
                <ns2:creationId id="{42F53F2F-844D-4AEB-B769-D92E93F2C228}"/>
              </a:ext>
            </a:extLst>
          </p:cNvPr>
          <p:cNvSpPr>
            <a:spLocks noGrp="1"/>
          </p:cNvSpPr>
          <p:nvPr/>
        </p:nvSpPr>
        <p:spPr>
          <a:xfrm>
            <a:off x="1381125" y="1781175"/>
            <a:ext cx="10096500" cy="1352550"/>
          </a:xfrm>
          <a:prstGeom prst="rect">
            <a:avLst/>
          </a:prstGeom>
          <a:noFill/>
          <a:ln w="0">
            <a:noFill/>
          </a:ln>
        </p:spPr>
        <p:txBody>
          <a:bodyPr>
            <a:noAutofit/>
          </a:body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Save your notebook on the prepared lab computer.</a:t>
            </a:r>
          </a:p>
        </p:txBody>
      </p:sp>
      <p:sp>
        <p:nvSpPr>
          <p:cNvPr id="6" name="">
            <a:extLst>
              <a:ext uri="{FF2B5EF4-FFF2-40B4-BE49-F238E27FC236}">
                <ns2:creationId id="{4951827A-6A04-4194-AA3C-929C1B85F99B}"/>
              </a:ext>
            </a:extLst>
          </p:cNvPr>
          <p:cNvSpPr>
            <a:spLocks noGrp="1"/>
          </p:cNvSpPr>
          <p:nvPr/>
        </p:nvSpPr>
        <p:spPr>
          <a:xfrm>
            <a:off x="590550" y="3209925"/>
            <a:ext cx="619125" cy="571500"/>
          </a:xfrm>
          <a:prstGeom prst="rect">
            <a:avLst/>
          </a:prstGeom>
          <a:noFill/>
          <a:ln w="0">
            <a:noFill/>
          </a:ln>
        </p:spPr>
        <p:txBody>
          <a:bodyPr>
            <a:noAutofit/>
          </a:bodyPr>
          <a:lstStyle/>
          <a:p>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a:ext uri="{FF2B5EF4-FFF2-40B4-BE49-F238E27FC236}">
                <ns2:creationId id="{D68F9990-491A-4ED4-998F-AE1E3435A2FD}"/>
              </a:ext>
            </a:extLst>
          </p:cNvPr>
          <p:cNvSpPr>
            <a:spLocks noGrp="1"/>
          </p:cNvSpPr>
          <p:nvPr/>
        </p:nvSpPr>
        <p:spPr>
          <a:xfrm>
            <a:off x="1381125" y="3209925"/>
            <a:ext cx="10096500" cy="1352550"/>
          </a:xfrm>
          <a:prstGeom prst="rect">
            <a:avLst/>
          </a:prstGeom>
          <a:noFill/>
          <a:ln w="0">
            <a:noFill/>
          </a:ln>
        </p:spPr>
        <p:txBody>
          <a:bodyPr>
            <a:noAutofit/>
          </a:body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Type Part B under My written evidence in the notebook.</a:t>
            </a:r>
          </a:p>
        </p:txBody>
      </p:sp>
      <p:sp>
        <p:nvSpPr>
          <p:cNvPr id="8" name="">
            <a:extLst>
              <a:ext uri="{FF2B5EF4-FFF2-40B4-BE49-F238E27FC236}">
                <ns2:creationId id="{DCE96F70-451B-4167-B601-CDC65EAC675D}"/>
              </a:ext>
            </a:extLst>
          </p:cNvPr>
          <p:cNvSpPr>
            <a:spLocks noGrp="1"/>
          </p:cNvSpPr>
          <p:nvPr/>
        </p:nvSpPr>
        <p:spPr>
          <a:xfrm>
            <a:off x="590550" y="4638675"/>
            <a:ext cx="619125" cy="571500"/>
          </a:xfrm>
          <a:prstGeom prst="rect">
            <a:avLst/>
          </a:prstGeom>
          <a:noFill/>
          <a:ln w="0">
            <a:noFill/>
          </a:ln>
        </p:spPr>
        <p:txBody>
          <a:bodyPr>
            <a:noAutofit/>
          </a:bodyPr>
          <a:lstStyle/>
          <a:p>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a:ext uri="{FF2B5EF4-FFF2-40B4-BE49-F238E27FC236}">
                <ns2:creationId id="{7082F4F5-7EB2-4DB9-A989-7FECE2AA6B05}"/>
              </a:ext>
            </a:extLst>
          </p:cNvPr>
          <p:cNvSpPr>
            <a:spLocks noGrp="1"/>
          </p:cNvSpPr>
          <p:nvPr/>
        </p:nvSpPr>
        <p:spPr>
          <a:xfrm>
            <a:off x="1381125" y="4638675"/>
            <a:ext cx="10096500" cy="1352550"/>
          </a:xfrm>
          <a:prstGeom prst="rect">
            <a:avLst/>
          </a:prstGeom>
          <a:noFill/>
          <a:ln w="0">
            <a:noFill/>
          </a:ln>
        </p:spPr>
        <p:txBody>
          <a:bodyPr>
            <a:noAutofit/>
          </a:body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Locate and reopen the complete notebook without internet.</a:t>
            </a:r>
          </a:p>
        </p:txBody>
      </p:sp>
      <p:sp>
        <p:nvSpPr>
          <p:cNvPr id="10" name="">
            <a:extLst>
              <a:ext uri="{FF2B5EF4-FFF2-40B4-BE49-F238E27FC236}">
                <ns2:creationId id="{C5EE743D-F192-4D65-97DD-9914D0980888}"/>
              </a:ext>
            </a:extLst>
          </p:cNvPr>
          <p:cNvSpPr>
            <a:spLocks noGrp="1"/>
          </p:cNvSpPr>
          <p:nvPr/>
        </p:nvSpPr>
        <p:spPr>
          <a:xfrm>
            <a:off x="590550" y="6524625"/>
            <a:ext cx="10810875" cy="219075"/>
          </a:xfrm>
          <a:prstGeom prst="rect">
            <a:avLst/>
          </a:prstGeom>
          <a:noFill/>
          <a:ln w="0">
            <a:noFill/>
          </a:ln>
        </p:spPr>
        <p:txBody>
          <a:bodyPr>
            <a:noAutofit/>
          </a:bodyPr>
          <a:lstStyle/>
          <a:p>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5</a:t>
            </a:r>
          </a:p>
        </p:txBody>
      </p:sp>
    </p:spTree>
    <p:extLst>
      <p:ext uri="{BB962C8B-B14F-4D97-AF65-F5344CB8AC3E}">
        <ns3:creationId val="181610021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316924B-7F05-4DE9-A94E-853E6E4C4F1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E2B0338-9C94-412A-B836-B7C81E91CCE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7B57F67-2BD6-4918-A6BA-0DB6F0969D8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result needs an explanation</a:t>
            </a:r>
          </a:p>
        </p:txBody>
      </p:sp>
      <p:sp>
        <p:nvSpPr>
          <p:cNvPr id="4" name="">
            <a:extLst xmlns:a="http://schemas.openxmlformats.org/drawingml/2006/main">
              <a:ext uri="{FF2B5EF4-FFF2-40B4-BE49-F238E27FC236}">
                <a16:creationId xmlns:a16="http://schemas.microsoft.com/office/drawing/2014/main" id="{6DD01762-436C-4F8D-A6FA-9379CF9CAE7A}"/>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05DDBDC-03C1-4890-AE6D-5A96E70AD78A}"/>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Name the target and its unit or class.</a:t>
            </a:r>
          </a:p>
        </p:txBody>
      </p:sp>
      <p:sp>
        <p:nvSpPr>
          <p:cNvPr id="6" name="">
            <a:extLst xmlns:a="http://schemas.openxmlformats.org/drawingml/2006/main">
              <a:ext uri="{FF2B5EF4-FFF2-40B4-BE49-F238E27FC236}">
                <a16:creationId xmlns:a16="http://schemas.microsoft.com/office/drawing/2014/main" id="{3F499E07-7B7A-4EBD-9EAD-6AE18FB8D4C7}"/>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761A674-F8D1-4A19-84AB-6330B961337B}"/>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Explain which data fitted preprocessing and which data evaluated the model.</a:t>
            </a:r>
          </a:p>
        </p:txBody>
      </p:sp>
      <p:sp>
        <p:nvSpPr>
          <p:cNvPr id="8" name="">
            <a:extLst xmlns:a="http://schemas.openxmlformats.org/drawingml/2006/main">
              <a:ext uri="{FF2B5EF4-FFF2-40B4-BE49-F238E27FC236}">
                <a16:creationId xmlns:a16="http://schemas.microsoft.com/office/drawing/2014/main" id="{381AF268-3678-4A94-8DD7-E3E6B63F87F9}"/>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B434B37-D28F-417F-89C2-92D16DAF50EC}"/>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high score alone does not establish a useful engineering model.</a:t>
            </a:r>
          </a:p>
        </p:txBody>
      </p:sp>
      <p:sp>
        <p:nvSpPr>
          <p:cNvPr id="10" name="">
            <a:extLst xmlns:a="http://schemas.openxmlformats.org/drawingml/2006/main">
              <a:ext uri="{FF2B5EF4-FFF2-40B4-BE49-F238E27FC236}">
                <a16:creationId xmlns:a16="http://schemas.microsoft.com/office/drawing/2014/main" id="{D1B043C1-9190-468A-8612-0ADFB5FC5FF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6</a:t>
            </a:r>
          </a:p>
        </p:txBody>
      </p:sp>
    </p:spTree>
    <p:extLst>
      <p:ext uri="{BB962C8B-B14F-4D97-AF65-F5344CB8AC3E}">
        <p14:creationId xmlns:p14="http://schemas.microsoft.com/office/powerpoint/2010/main" val="63359557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6FF1B04-54F9-46AC-9E1C-5FE3D1AA66D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32C8011-A262-4357-B096-5039539CCBF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486F4D19-DA36-401A-AF73-556984D1F0C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Practice before test day</a:t>
            </a:r>
          </a:p>
        </p:txBody>
      </p:sp>
      <p:sp>
        <p:nvSpPr>
          <p:cNvPr id="4" name="">
            <a:extLst xmlns:a="http://schemas.openxmlformats.org/drawingml/2006/main">
              <a:ext uri="{FF2B5EF4-FFF2-40B4-BE49-F238E27FC236}">
                <a16:creationId xmlns:a16="http://schemas.microsoft.com/office/drawing/2014/main" id="{1E8BD790-2364-4F08-99D2-9379B652C7F6}"/>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96055CF-769C-4D54-8FDD-A10386830962}"/>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actual = [4, 8]</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predicted = [5, 6]</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errors = []</a:t>
            </a:r>
          </a:p>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for</a:t>
            </a:r>
            <a:r>
              <a:rPr sz="2175" b="0">
                <a:solidFill>
                  <a:srgbClr val="F4F7FA"/>
                </a:solidFill>
                <a:latin typeface="Courier New"/>
                <a:ea typeface="Courier New"/>
                <a:cs typeface="Courier New"/>
              </a:rPr>
              <a:t> a, p in zip(actual, predicted):</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errors.append(abs(a - p))</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print(sum(errors) / len(errors))</a:t>
            </a:r>
          </a:p>
        </p:txBody>
      </p:sp>
      <p:sp>
        <p:nvSpPr>
          <p:cNvPr id="6" name="">
            <a:extLst xmlns:a="http://schemas.openxmlformats.org/drawingml/2006/main">
              <a:ext uri="{FF2B5EF4-FFF2-40B4-BE49-F238E27FC236}">
                <a16:creationId xmlns:a16="http://schemas.microsoft.com/office/drawing/2014/main" id="{09D2CE97-7262-4AA6-8772-0992629FFE68}"/>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609B1FDE-D820-4AF6-9A15-B5772F0986B6}"/>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for takes the next item. The indented block repeats.</a:t>
            </a:r>
          </a:p>
        </p:txBody>
      </p:sp>
      <p:sp>
        <p:nvSpPr>
          <p:cNvPr id="8" name="">
            <a:extLst xmlns:a="http://schemas.openxmlformats.org/drawingml/2006/main">
              <a:ext uri="{FF2B5EF4-FFF2-40B4-BE49-F238E27FC236}">
                <a16:creationId xmlns:a16="http://schemas.microsoft.com/office/drawing/2014/main" id="{E0C8BA40-5818-4544-A7AD-4256AD21E665}"/>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zip pairs items at matching positions in these equal-length lists.</a:t>
            </a:r>
          </a:p>
        </p:txBody>
      </p:sp>
      <p:sp>
        <p:nvSpPr>
          <p:cNvPr id="9" name="">
            <a:extLst xmlns:a="http://schemas.openxmlformats.org/drawingml/2006/main">
              <a:ext uri="{FF2B5EF4-FFF2-40B4-BE49-F238E27FC236}">
                <a16:creationId xmlns:a16="http://schemas.microsoft.com/office/drawing/2014/main" id="{17A6CF56-DC87-4C1E-9CA6-F3C170EA6E6D}"/>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print displays a value below the cell.</a:t>
            </a:r>
          </a:p>
        </p:txBody>
      </p:sp>
      <p:sp>
        <p:nvSpPr>
          <p:cNvPr id="10" name="">
            <a:extLst xmlns:a="http://schemas.openxmlformats.org/drawingml/2006/main">
              <a:ext uri="{FF2B5EF4-FFF2-40B4-BE49-F238E27FC236}">
                <a16:creationId xmlns:a16="http://schemas.microsoft.com/office/drawing/2014/main" id="{21C216CF-9D57-4003-BE34-0D0A249E3775}"/>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Read the code together. Predict the result before running.</a:t>
            </a:r>
          </a:p>
        </p:txBody>
      </p:sp>
      <p:sp>
        <p:nvSpPr>
          <p:cNvPr id="11" name="">
            <a:extLst xmlns:a="http://schemas.openxmlformats.org/drawingml/2006/main">
              <a:ext uri="{FF2B5EF4-FFF2-40B4-BE49-F238E27FC236}">
                <a16:creationId xmlns:a16="http://schemas.microsoft.com/office/drawing/2014/main" id="{D321CE46-131A-421A-BC8A-ADB006BC215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7</a:t>
            </a:r>
          </a:p>
        </p:txBody>
      </p:sp>
    </p:spTree>
    <p:extLst>
      <p:ext uri="{BB962C8B-B14F-4D97-AF65-F5344CB8AC3E}">
        <p14:creationId xmlns:p14="http://schemas.microsoft.com/office/powerpoint/2010/main" val="1367083568"/>
      </p:ext>
    </p:extLst>
  </p:cSld>
</p:sld>
</file>

<file path=ppt/slides/slide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B696B149-36AF-47BA-8E56-F18F32AAEC56}"/>
              </a:ext>
            </a:extLst>
          </p:cNvPr>
          <p:cNvSpPr>
            <a:spLocks noGrp="1"/>
          </p:cNvSpPr>
          <p:nvPr/>
        </p:nvSpPr>
        <p:spPr>
          <a:xfrm>
            <a:off x="0" y="0"/>
            <a:ext cx="12191695" cy="1390650"/>
          </a:xfrm>
          <a:prstGeom prst="rect">
            <a:avLst/>
          </a:prstGeom>
          <a:solidFill>
            <a:srgbClr val="1C3144"/>
          </a:solidFill>
          <a:ln w="0">
            <a:noFill/>
          </a:ln>
        </p:spPr>
      </p:sp>
      <p:sp>
        <p:nvSpPr>
          <p:cNvPr id="2" name="">
            <a:extLst>
              <a:ext uri="{FF2B5EF4-FFF2-40B4-BE49-F238E27FC236}">
                <ns2:creationId id="{9A3F6B94-BEC8-42D9-976B-1214714A3F12}"/>
              </a:ext>
            </a:extLst>
          </p:cNvPr>
          <p:cNvSpPr>
            <a:spLocks noGrp="1"/>
          </p:cNvSpPr>
          <p:nvPr/>
        </p:nvSpPr>
        <p:spPr>
          <a:xfrm>
            <a:off x="590550" y="180975"/>
            <a:ext cx="11049000" cy="285750"/>
          </a:xfrm>
          <a:prstGeom prst="rect">
            <a:avLst/>
          </a:prstGeom>
          <a:noFill/>
          <a:ln w="0">
            <a:noFill/>
          </a:ln>
        </p:spPr>
        <p:txBody>
          <a:bodyPr>
            <a:noAutofit/>
          </a:bodyPr>
          <a:lstStyle/>
          <a:p>
            <a:pPr>
              <a:defRPr sz="1500" b="1">
                <a:solidFill>
                  <a:srgbClr val="E4572E"/>
                </a:solidFill>
                <a:latin typeface="Calibri"/>
                <a:ea typeface="Calibri"/>
                <a:cs typeface="Calibri"/>
              </a:defRPr>
            </a:pPr>
            <a:r>
              <a:rPr sz="1500" b="1">
                <a:solidFill>
                  <a:srgbClr val="E4572E"/>
                </a:solidFill>
                <a:latin typeface="Calibri"/>
                <a:ea typeface="Calibri"/>
                <a:cs typeface="Calibri"/>
              </a:rPr>
              <a:t>TRY IT TOGETHER   5 MINUTES</a:t>
            </a:r>
          </a:p>
        </p:txBody>
      </p:sp>
      <p:sp>
        <p:nvSpPr>
          <p:cNvPr id="3" name="">
            <a:extLst>
              <a:ext uri="{FF2B5EF4-FFF2-40B4-BE49-F238E27FC236}">
                <ns2:creationId id="{7C0C9C05-86CA-4DED-A819-2C59F22FAA77}"/>
              </a:ext>
            </a:extLst>
          </p:cNvPr>
          <p:cNvSpPr>
            <a:spLocks noGrp="1"/>
          </p:cNvSpPr>
          <p:nvPr/>
        </p:nvSpPr>
        <p:spPr>
          <a:xfrm>
            <a:off x="590550" y="523875"/>
            <a:ext cx="11049000" cy="809625"/>
          </a:xfrm>
          <a:prstGeom prst="rect">
            <a:avLst/>
          </a:prstGeom>
          <a:noFill/>
          <a:ln w="0">
            <a:noFill/>
          </a:ln>
        </p:spPr>
        <p:txBody>
          <a:bodyPr>
            <a:noAutofit/>
          </a:bodyPr>
          <a:lstStyle/>
          <a:p>
            <a:pPr>
              <a:defRPr sz="3150" b="1">
                <a:solidFill>
                  <a:srgbClr val="FFFFFF"/>
                </a:solidFill>
                <a:latin typeface="Calibri"/>
                <a:ea typeface="Calibri"/>
                <a:cs typeface="Calibri"/>
              </a:defRPr>
            </a:pPr>
            <a:r>
              <a:rPr sz="3150" b="1">
                <a:solidFill>
                  <a:srgbClr val="FFFFFF"/>
                </a:solidFill>
                <a:latin typeface="Calibri"/>
                <a:ea typeface="Calibri"/>
                <a:cs typeface="Calibri"/>
              </a:rPr>
              <a:t>Rehearsal before Practical Test 2</a:t>
            </a:r>
          </a:p>
        </p:txBody>
      </p:sp>
      <p:sp>
        <p:nvSpPr>
          <p:cNvPr id="4" name="">
            <a:extLst>
              <a:ext uri="{FF2B5EF4-FFF2-40B4-BE49-F238E27FC236}">
                <ns2:creationId id="{D980A4FC-0059-4303-B744-F95321356449}"/>
              </a:ext>
            </a:extLst>
          </p:cNvPr>
          <p:cNvSpPr>
            <a:spLocks noGrp="1"/>
          </p:cNvSpPr>
          <p:nvPr/>
        </p:nvSpPr>
        <p:spPr>
          <a:xfrm>
            <a:off x="619125" y="1809750"/>
            <a:ext cx="619125" cy="571500"/>
          </a:xfrm>
          <a:prstGeom prst="rect">
            <a:avLst/>
          </a:prstGeom>
          <a:noFill/>
          <a:ln w="0">
            <a:noFill/>
          </a:ln>
        </p:spPr>
        <p:txBody>
          <a:bodyPr>
            <a:noAutofit/>
          </a:bodyPr>
          <a:lstStyle/>
          <a:p>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a:ext uri="{FF2B5EF4-FFF2-40B4-BE49-F238E27FC236}">
                <ns2:creationId id="{13B20400-2412-4B40-90B1-99DDD5108507}"/>
              </a:ext>
            </a:extLst>
          </p:cNvPr>
          <p:cNvSpPr>
            <a:spLocks noGrp="1"/>
          </p:cNvSpPr>
          <p:nvPr/>
        </p:nvSpPr>
        <p:spPr>
          <a:xfrm>
            <a:off x="1409700" y="1809750"/>
            <a:ext cx="10001250" cy="1257300"/>
          </a:xfrm>
          <a:prstGeom prst="rect">
            <a:avLst/>
          </a:prstGeom>
          <a:noFill/>
          <a:ln w="0">
            <a:noFill/>
          </a:ln>
        </p:spPr>
        <p:txBody>
          <a:bodyPr>
            <a:noAutofit/>
          </a:body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Calculate errors for actual [4,8] and predicted [5,6].</a:t>
            </a:r>
          </a:p>
        </p:txBody>
      </p:sp>
      <p:sp>
        <p:nvSpPr>
          <p:cNvPr id="6" name="">
            <a:extLst>
              <a:ext uri="{FF2B5EF4-FFF2-40B4-BE49-F238E27FC236}">
                <ns2:creationId id="{E0970BC4-D0C2-4611-B53F-4849016A8AFE}"/>
              </a:ext>
            </a:extLst>
          </p:cNvPr>
          <p:cNvSpPr>
            <a:spLocks noGrp="1"/>
          </p:cNvSpPr>
          <p:nvPr/>
        </p:nvSpPr>
        <p:spPr>
          <a:xfrm>
            <a:off x="619125" y="3143250"/>
            <a:ext cx="619125" cy="571500"/>
          </a:xfrm>
          <a:prstGeom prst="rect">
            <a:avLst/>
          </a:prstGeom>
          <a:noFill/>
          <a:ln w="0">
            <a:noFill/>
          </a:ln>
        </p:spPr>
        <p:txBody>
          <a:bodyPr>
            <a:noAutofit/>
          </a:bodyPr>
          <a:lstStyle/>
          <a:p>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a:ext uri="{FF2B5EF4-FFF2-40B4-BE49-F238E27FC236}">
                <ns2:creationId id="{C5932423-1914-465A-B076-538105985FFD}"/>
              </a:ext>
            </a:extLst>
          </p:cNvPr>
          <p:cNvSpPr>
            <a:spLocks noGrp="1"/>
          </p:cNvSpPr>
          <p:nvPr/>
        </p:nvSpPr>
        <p:spPr>
          <a:xfrm>
            <a:off x="1409700" y="3143250"/>
            <a:ext cx="10001250" cy="1257300"/>
          </a:xfrm>
          <a:prstGeom prst="rect">
            <a:avLst/>
          </a:prstGeom>
          <a:noFill/>
          <a:ln w="0">
            <a:noFill/>
          </a:ln>
        </p:spPr>
        <p:txBody>
          <a:bodyPr>
            <a:noAutofit/>
          </a:body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Save the notebook with a text cell explaining which data may fit preprocessing.</a:t>
            </a:r>
          </a:p>
        </p:txBody>
      </p:sp>
      <p:sp>
        <p:nvSpPr>
          <p:cNvPr id="8" name="">
            <a:extLst>
              <a:ext uri="{FF2B5EF4-FFF2-40B4-BE49-F238E27FC236}">
                <ns2:creationId id="{4779A229-98AD-4F3D-87B9-CA04BCF33328}"/>
              </a:ext>
            </a:extLst>
          </p:cNvPr>
          <p:cNvSpPr>
            <a:spLocks noGrp="1"/>
          </p:cNvSpPr>
          <p:nvPr/>
        </p:nvSpPr>
        <p:spPr>
          <a:xfrm>
            <a:off x="619125" y="4476750"/>
            <a:ext cx="619125" cy="571500"/>
          </a:xfrm>
          <a:prstGeom prst="rect">
            <a:avLst/>
          </a:prstGeom>
          <a:noFill/>
          <a:ln w="0">
            <a:noFill/>
          </a:ln>
        </p:spPr>
        <p:txBody>
          <a:bodyPr>
            <a:noAutofit/>
          </a:bodyPr>
          <a:lstStyle/>
          <a:p>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a:ext uri="{FF2B5EF4-FFF2-40B4-BE49-F238E27FC236}">
                <ns2:creationId id="{AB1C7441-AD24-4F62-8CAC-0E7147C16181}"/>
              </a:ext>
            </a:extLst>
          </p:cNvPr>
          <p:cNvSpPr>
            <a:spLocks noGrp="1"/>
          </p:cNvSpPr>
          <p:nvPr/>
        </p:nvSpPr>
        <p:spPr>
          <a:xfrm>
            <a:off x="1409700" y="4476750"/>
            <a:ext cx="10001250" cy="1257300"/>
          </a:xfrm>
          <a:prstGeom prst="rect">
            <a:avLst/>
          </a:prstGeom>
          <a:noFill/>
          <a:ln w="0">
            <a:noFill/>
          </a:ln>
        </p:spPr>
        <p:txBody>
          <a:bodyPr>
            <a:noAutofit/>
          </a:body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Locate the complete notebook in the required folder.</a:t>
            </a:r>
          </a:p>
        </p:txBody>
      </p:sp>
      <p:sp>
        <p:nvSpPr>
          <p:cNvPr id="10" name="">
            <a:extLst>
              <a:ext uri="{FF2B5EF4-FFF2-40B4-BE49-F238E27FC236}">
                <ns2:creationId id="{ACBD405A-8C7E-4A98-B20C-A71E606B3474}"/>
              </a:ext>
            </a:extLst>
          </p:cNvPr>
          <p:cNvSpPr>
            <a:spLocks noGrp="1"/>
          </p:cNvSpPr>
          <p:nvPr/>
        </p:nvSpPr>
        <p:spPr>
          <a:xfrm>
            <a:off x="0" y="5915025"/>
            <a:ext cx="12191695" cy="466725"/>
          </a:xfrm>
          <a:prstGeom prst="rect">
            <a:avLst/>
          </a:prstGeom>
          <a:solidFill>
            <a:srgbClr val="E5F1EE"/>
          </a:solidFill>
          <a:ln w="0">
            <a:noFill/>
          </a:ln>
        </p:spPr>
      </p:sp>
      <p:sp>
        <p:nvSpPr>
          <p:cNvPr id="11" name="">
            <a:extLst>
              <a:ext uri="{FF2B5EF4-FFF2-40B4-BE49-F238E27FC236}">
                <ns2:creationId id="{0F5B9FEB-2F09-40B7-908F-11BB183B9036}"/>
              </a:ext>
            </a:extLst>
          </p:cNvPr>
          <p:cNvSpPr>
            <a:spLocks noGrp="1"/>
          </p:cNvSpPr>
          <p:nvPr/>
        </p:nvSpPr>
        <p:spPr>
          <a:xfrm>
            <a:off x="619125" y="5981700"/>
            <a:ext cx="10810875" cy="361950"/>
          </a:xfrm>
          <a:prstGeom prst="rect">
            <a:avLst/>
          </a:prstGeom>
          <a:noFill/>
          <a:ln w="0">
            <a:noFill/>
          </a:ln>
        </p:spPr>
        <p:txBody>
          <a:bodyPr>
            <a:noAutofit/>
          </a:bodyPr>
          <a:lstStyle/>
          <a:p>
            <a:pPr>
              <a:defRPr sz="1800" b="1">
                <a:solidFill>
                  <a:srgbClr val="2E7D6F"/>
                </a:solidFill>
                <a:latin typeface="Calibri"/>
                <a:ea typeface="Calibri"/>
                <a:cs typeface="Calibri"/>
              </a:defRPr>
            </a:pPr>
            <a:r>
              <a:rPr sz="1800" b="1">
                <a:solidFill>
                  <a:srgbClr val="2E7D6F"/>
                </a:solidFill>
                <a:latin typeface="Calibri"/>
                <a:ea typeface="Calibri"/>
                <a:cs typeface="Calibri"/>
              </a:rPr>
              <a:t>One partner acts. One partner checks. Then swap roles.</a:t>
            </a:r>
          </a:p>
        </p:txBody>
      </p:sp>
      <p:sp>
        <p:nvSpPr>
          <p:cNvPr id="12" name="">
            <a:extLst>
              <a:ext uri="{FF2B5EF4-FFF2-40B4-BE49-F238E27FC236}">
                <ns2:creationId id="{444C139C-927F-40DF-B809-1003BE21C8C0}"/>
              </a:ext>
            </a:extLst>
          </p:cNvPr>
          <p:cNvSpPr>
            <a:spLocks noGrp="1"/>
          </p:cNvSpPr>
          <p:nvPr/>
        </p:nvSpPr>
        <p:spPr>
          <a:xfrm>
            <a:off x="590550" y="6524625"/>
            <a:ext cx="10810875" cy="219075"/>
          </a:xfrm>
          <a:prstGeom prst="rect">
            <a:avLst/>
          </a:prstGeom>
          <a:noFill/>
          <a:ln w="0">
            <a:noFill/>
          </a:ln>
        </p:spPr>
        <p:txBody>
          <a:bodyPr>
            <a:noAutofit/>
          </a:bodyPr>
          <a:lstStyle/>
          <a:p>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8</a:t>
            </a:r>
          </a:p>
        </p:txBody>
      </p:sp>
    </p:spTree>
    <p:extLst>
      <p:ext uri="{BB962C8B-B14F-4D97-AF65-F5344CB8AC3E}">
        <ns3:creationId val="6975868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1E93C84-C26A-4153-89EF-99F9775B486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88D0E88-5561-4550-B041-E901F2F38EC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DISCUSS THE REASONING</a:t>
            </a:r>
          </a:p>
        </p:txBody>
      </p:sp>
      <p:sp>
        <p:nvSpPr>
          <p:cNvPr id="3" name="">
            <a:extLst xmlns:a="http://schemas.openxmlformats.org/drawingml/2006/main">
              <a:ext uri="{FF2B5EF4-FFF2-40B4-BE49-F238E27FC236}">
                <a16:creationId xmlns:a16="http://schemas.microsoft.com/office/drawing/2014/main" id="{A9D843BE-E1DF-499C-88BB-D31E5C02F53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What the activity shows</a:t>
            </a:r>
          </a:p>
        </p:txBody>
      </p:sp>
      <p:sp>
        <p:nvSpPr>
          <p:cNvPr id="4" name="">
            <a:extLst xmlns:a="http://schemas.openxmlformats.org/drawingml/2006/main">
              <a:ext uri="{FF2B5EF4-FFF2-40B4-BE49-F238E27FC236}">
                <a16:creationId xmlns:a16="http://schemas.microsoft.com/office/drawing/2014/main" id="{E0693927-B80B-465B-BBC4-EBEE229B9E2F}"/>
              </a:ext>
            </a:extLst>
          </p:cNvPr>
          <p:cNvSpPr>
            <a:spLocks xmlns:a="http://schemas.openxmlformats.org/drawingml/2006/main" noGrp="1"/>
          </p:cNvSpPr>
          <p:nvPr/>
        </p:nvSpPr>
        <p:spPr>
          <a:xfrm xmlns:a="http://schemas.openxmlformats.org/drawingml/2006/main">
            <a:off x="590550" y="1752600"/>
            <a:ext cx="11010900" cy="35242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7CEB172-1F6A-4D80-AE4E-C2351C81186B}"/>
              </a:ext>
            </a:extLst>
          </p:cNvPr>
          <p:cNvSpPr>
            <a:spLocks xmlns:a="http://schemas.openxmlformats.org/drawingml/2006/main" noGrp="1"/>
          </p:cNvSpPr>
          <p:nvPr/>
        </p:nvSpPr>
        <p:spPr>
          <a:xfrm xmlns:a="http://schemas.openxmlformats.org/drawingml/2006/main">
            <a:off x="904875" y="2028825"/>
            <a:ext cx="1033462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E7D6F"/>
                </a:solidFill>
                <a:latin typeface="Calibri"/>
                <a:ea typeface="Calibri"/>
                <a:cs typeface="Calibri"/>
              </a:defRPr>
            </a:pPr>
            <a:r>
              <a:rPr sz="3150" b="1">
                <a:solidFill>
                  <a:srgbClr val="2E7D6F"/>
                </a:solidFill>
                <a:latin typeface="Calibri"/>
                <a:ea typeface="Calibri"/>
                <a:cs typeface="Calibri"/>
              </a:rPr>
              <a:t>Absolute errors are 1 and 2, so MAE is 1.5. Fit preprocessing on training records. This rehearsal happens before test time.</a:t>
            </a:r>
          </a:p>
        </p:txBody>
      </p:sp>
      <p:sp>
        <p:nvSpPr>
          <p:cNvPr id="6" name="">
            <a:extLst xmlns:a="http://schemas.openxmlformats.org/drawingml/2006/main">
              <a:ext uri="{FF2B5EF4-FFF2-40B4-BE49-F238E27FC236}">
                <a16:creationId xmlns:a16="http://schemas.microsoft.com/office/drawing/2014/main" id="{467DA1E5-8C86-4B6A-AF7B-06813B8B3821}"/>
              </a:ext>
            </a:extLst>
          </p:cNvPr>
          <p:cNvSpPr>
            <a:spLocks xmlns:a="http://schemas.openxmlformats.org/drawingml/2006/main" noGrp="1"/>
          </p:cNvSpPr>
          <p:nvPr/>
        </p:nvSpPr>
        <p:spPr>
          <a:xfrm xmlns:a="http://schemas.openxmlformats.org/drawingml/2006/main">
            <a:off x="685800" y="55816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Which step produced this result? What changes if one input changes?</a:t>
            </a:r>
          </a:p>
        </p:txBody>
      </p:sp>
      <p:sp>
        <p:nvSpPr>
          <p:cNvPr id="7" name="">
            <a:extLst xmlns:a="http://schemas.openxmlformats.org/drawingml/2006/main">
              <a:ext uri="{FF2B5EF4-FFF2-40B4-BE49-F238E27FC236}">
                <a16:creationId xmlns:a16="http://schemas.microsoft.com/office/drawing/2014/main" id="{A5E9BEF9-A20D-4B3F-96AA-E19BB58730B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9</a:t>
            </a:r>
          </a:p>
        </p:txBody>
      </p:sp>
    </p:spTree>
    <p:extLst>
      <p:ext uri="{BB962C8B-B14F-4D97-AF65-F5344CB8AC3E}">
        <p14:creationId xmlns:p14="http://schemas.microsoft.com/office/powerpoint/2010/main" val="194136890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4B0163A-B408-4829-BEAE-581A369A903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42BE27E-6E5A-40BE-9D98-D0CC7AF83A6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3223FC3D-16C5-4F22-BF57-5D6EBCEC156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Test session</a:t>
            </a:r>
          </a:p>
        </p:txBody>
      </p:sp>
      <p:sp>
        <p:nvSpPr>
          <p:cNvPr id="4" name="">
            <a:extLst xmlns:a="http://schemas.openxmlformats.org/drawingml/2006/main">
              <a:ext uri="{FF2B5EF4-FFF2-40B4-BE49-F238E27FC236}">
                <a16:creationId xmlns:a16="http://schemas.microsoft.com/office/drawing/2014/main" id="{29326EF2-BD8D-480F-B209-5B13CEE1135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718696E-6200-4AF6-9562-5D75D5CF08D0}"/>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00–15 minutes: briefing and file check.</a:t>
            </a:r>
          </a:p>
        </p:txBody>
      </p:sp>
      <p:sp>
        <p:nvSpPr>
          <p:cNvPr id="6" name="">
            <a:extLst xmlns:a="http://schemas.openxmlformats.org/drawingml/2006/main">
              <a:ext uri="{FF2B5EF4-FFF2-40B4-BE49-F238E27FC236}">
                <a16:creationId xmlns:a16="http://schemas.microsoft.com/office/drawing/2014/main" id="{A7E53012-3BE8-49F9-89A3-73572223EDF0}"/>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4F7830D-6303-4058-A148-E1F36D1777B5}"/>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15–135 minutes: individual practical work.</a:t>
            </a:r>
          </a:p>
        </p:txBody>
      </p:sp>
      <p:sp>
        <p:nvSpPr>
          <p:cNvPr id="8" name="">
            <a:extLst xmlns:a="http://schemas.openxmlformats.org/drawingml/2006/main">
              <a:ext uri="{FF2B5EF4-FFF2-40B4-BE49-F238E27FC236}">
                <a16:creationId xmlns:a16="http://schemas.microsoft.com/office/drawing/2014/main" id="{84A1CFAD-88B8-429A-9C08-6902558189C8}"/>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069BC39E-3A62-4468-9D9C-F0DA34FC0FAB}"/>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135–160 minutes: typed offline reasoning, with code execution prohibited.</a:t>
            </a:r>
          </a:p>
        </p:txBody>
      </p:sp>
      <p:sp>
        <p:nvSpPr>
          <p:cNvPr id="10" name="">
            <a:extLst xmlns:a="http://schemas.openxmlformats.org/drawingml/2006/main">
              <a:ext uri="{FF2B5EF4-FFF2-40B4-BE49-F238E27FC236}">
                <a16:creationId xmlns:a16="http://schemas.microsoft.com/office/drawing/2014/main" id="{2B52C29B-03F4-483F-A1B5-388F065D86A6}"/>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8E6E4A9B-2967-4253-B6CC-B10A62D152B2}"/>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160–180 minutes: save and hand in through invigilated offline collection.</a:t>
            </a:r>
          </a:p>
        </p:txBody>
      </p:sp>
      <p:sp>
        <p:nvSpPr>
          <p:cNvPr id="12" name="">
            <a:extLst xmlns:a="http://schemas.openxmlformats.org/drawingml/2006/main">
              <a:ext uri="{FF2B5EF4-FFF2-40B4-BE49-F238E27FC236}">
                <a16:creationId xmlns:a16="http://schemas.microsoft.com/office/drawing/2014/main" id="{3C723A9A-DC07-4931-9852-3B8FEDB78CC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10</a:t>
            </a:r>
          </a:p>
        </p:txBody>
      </p:sp>
    </p:spTree>
    <p:extLst>
      <p:ext uri="{BB962C8B-B14F-4D97-AF65-F5344CB8AC3E}">
        <p14:creationId xmlns:p14="http://schemas.microsoft.com/office/powerpoint/2010/main" val="75993976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E770B81-51E6-4D56-83FB-1E0E0757040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8A527F4-0334-4472-89DF-EDEEB305281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F1263868-C17C-4A51-8357-97EA1EE35D3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Preparation checkpoint</a:t>
            </a:r>
          </a:p>
        </p:txBody>
      </p:sp>
      <p:sp>
        <p:nvSpPr>
          <p:cNvPr id="4" name="">
            <a:extLst xmlns:a="http://schemas.openxmlformats.org/drawingml/2006/main">
              <a:ext uri="{FF2B5EF4-FFF2-40B4-BE49-F238E27FC236}">
                <a16:creationId xmlns:a16="http://schemas.microsoft.com/office/drawing/2014/main" id="{99D48052-A6AC-480B-B178-17A46D28C707}"/>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209788C-8315-425A-9A99-A0AA32F15D82}"/>
              </a:ext>
            </a:extLst>
          </p:cNvPr>
          <p:cNvSpPr>
            <a:spLocks xmlns:a="http://schemas.openxmlformats.org/drawingml/2006/main" noGrp="1"/>
          </p:cNvSpPr>
          <p:nvPr/>
        </p:nvSpPr>
        <p:spPr>
          <a:xfrm xmlns:a="http://schemas.openxmlformats.org/drawingml/2006/main">
            <a:off x="914400" y="2228850"/>
            <a:ext cx="103346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C3144"/>
                </a:solidFill>
                <a:latin typeface="Calibri"/>
                <a:ea typeface="Calibri"/>
                <a:cs typeface="Calibri"/>
              </a:defRPr>
            </a:pPr>
            <a:r>
              <a:rPr sz="3000" b="1">
                <a:solidFill>
                  <a:srgbClr val="1C3144"/>
                </a:solidFill>
                <a:latin typeface="Calibri"/>
                <a:ea typeface="Calibri"/>
                <a:cs typeface="Calibri"/>
              </a:rPr>
              <a:t>Each learner can save and reopen both required file types in the offline setting.</a:t>
            </a:r>
          </a:p>
        </p:txBody>
      </p:sp>
      <p:sp>
        <p:nvSpPr>
          <p:cNvPr id="6" name="">
            <a:extLst xmlns:a="http://schemas.openxmlformats.org/drawingml/2006/main">
              <a:ext uri="{FF2B5EF4-FFF2-40B4-BE49-F238E27FC236}">
                <a16:creationId xmlns:a16="http://schemas.microsoft.com/office/drawing/2014/main" id="{15F8DD9A-23DC-4449-8D0F-E5FB53D0673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11</a:t>
            </a:r>
          </a:p>
        </p:txBody>
      </p:sp>
    </p:spTree>
    <p:extLst>
      <p:ext uri="{BB962C8B-B14F-4D97-AF65-F5344CB8AC3E}">
        <p14:creationId xmlns:p14="http://schemas.microsoft.com/office/powerpoint/2010/main" val="206478522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289F1E1-B703-46AF-A2FF-5D379FB62C1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7FB16D4-169B-4DB0-9E63-1C9E0FCCE25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D6AF98EC-FABF-4A94-B6D0-1C5398DE53C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evidence</a:t>
            </a:r>
          </a:p>
        </p:txBody>
      </p:sp>
      <p:sp>
        <p:nvSpPr>
          <p:cNvPr id="4" name="">
            <a:extLst xmlns:a="http://schemas.openxmlformats.org/drawingml/2006/main">
              <a:ext uri="{FF2B5EF4-FFF2-40B4-BE49-F238E27FC236}">
                <a16:creationId xmlns:a16="http://schemas.microsoft.com/office/drawing/2014/main" id="{F23376A4-5A3B-4B0E-9676-3D36F4115A67}"/>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E1ECA74-4256-411A-A24C-C62846BF90B3}"/>
              </a:ext>
            </a:extLst>
          </p:cNvPr>
          <p:cNvSpPr>
            <a:spLocks xmlns:a="http://schemas.openxmlformats.org/drawingml/2006/main" noGrp="1"/>
          </p:cNvSpPr>
          <p:nvPr/>
        </p:nvSpPr>
        <p:spPr>
          <a:xfrm xmlns:a="http://schemas.openxmlformats.org/drawingml/2006/main">
            <a:off x="1381125" y="1781175"/>
            <a:ext cx="10096500" cy="2062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TEST2’s official brief, interfaces, time allocation, permitted resources and packet requirements.</a:t>
            </a:r>
          </a:p>
        </p:txBody>
      </p:sp>
      <p:sp>
        <p:nvSpPr>
          <p:cNvPr id="6" name="">
            <a:extLst xmlns:a="http://schemas.openxmlformats.org/drawingml/2006/main">
              <a:ext uri="{FF2B5EF4-FFF2-40B4-BE49-F238E27FC236}">
                <a16:creationId xmlns:a16="http://schemas.microsoft.com/office/drawing/2014/main" id="{FD4B3995-DF67-4539-A677-B7D5E8CFE873}"/>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413AFAF-EC65-405E-B8E6-F1E393968900}"/>
              </a:ext>
            </a:extLst>
          </p:cNvPr>
          <p:cNvSpPr>
            <a:spLocks xmlns:a="http://schemas.openxmlformats.org/drawingml/2006/main" noGrp="1"/>
          </p:cNvSpPr>
          <p:nvPr/>
        </p:nvSpPr>
        <p:spPr>
          <a:xfrm xmlns:a="http://schemas.openxmlformats.org/drawingml/2006/main">
            <a:off x="1381125" y="3919538"/>
            <a:ext cx="10096500" cy="2062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Follow the test instructions issued by your lecturer.</a:t>
            </a:r>
          </a:p>
        </p:txBody>
      </p:sp>
      <p:sp>
        <p:nvSpPr>
          <p:cNvPr id="8" name="">
            <a:extLst xmlns:a="http://schemas.openxmlformats.org/drawingml/2006/main">
              <a:ext uri="{FF2B5EF4-FFF2-40B4-BE49-F238E27FC236}">
                <a16:creationId xmlns:a16="http://schemas.microsoft.com/office/drawing/2014/main" id="{F3DCB42A-5F4A-4725-9F4C-96439F07DA3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12</a:t>
            </a:r>
          </a:p>
        </p:txBody>
      </p:sp>
    </p:spTree>
    <p:extLst>
      <p:ext uri="{BB962C8B-B14F-4D97-AF65-F5344CB8AC3E}">
        <p14:creationId xmlns:p14="http://schemas.microsoft.com/office/powerpoint/2010/main" val="127387321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89A999F-6A79-41EA-B6B8-8E943F17A72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D20AE02-C34D-4B0E-8FDF-BBDC9419919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716A816-B56B-46CB-86F1-F10DEA99D6E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Practical Test 2</a:t>
            </a:r>
          </a:p>
        </p:txBody>
      </p:sp>
      <p:sp>
        <p:nvSpPr>
          <p:cNvPr id="4" name="">
            <a:extLst xmlns:a="http://schemas.openxmlformats.org/drawingml/2006/main">
              <a:ext uri="{FF2B5EF4-FFF2-40B4-BE49-F238E27FC236}">
                <a16:creationId xmlns:a16="http://schemas.microsoft.com/office/drawing/2014/main" id="{D3751861-FC74-4BF8-8334-8A09E414C957}"/>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EC8713DD-607E-49E2-ABDC-B9007B15A2F4}"/>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Write your own explanation in the markdown cell headed `## My written evidence`.</a:t>
            </a:r>
          </a:p>
        </p:txBody>
      </p:sp>
      <p:sp>
        <p:nvSpPr>
          <p:cNvPr id="6" name="">
            <a:extLst xmlns:a="http://schemas.openxmlformats.org/drawingml/2006/main">
              <a:ext uri="{FF2B5EF4-FFF2-40B4-BE49-F238E27FC236}">
                <a16:creationId xmlns:a16="http://schemas.microsoft.com/office/drawing/2014/main" id="{9611B377-4526-48DB-970C-EF5B5B1D867A}"/>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5D6369A-7951-43DE-A60A-AD47F34060F3}"/>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that heading.</a:t>
            </a:r>
          </a:p>
        </p:txBody>
      </p:sp>
      <p:sp>
        <p:nvSpPr>
          <p:cNvPr id="8" name="">
            <a:extLst xmlns:a="http://schemas.openxmlformats.org/drawingml/2006/main">
              <a:ext uri="{FF2B5EF4-FFF2-40B4-BE49-F238E27FC236}">
                <a16:creationId xmlns:a16="http://schemas.microsoft.com/office/drawing/2014/main" id="{ED248E0E-6DA9-4EA5-97E3-6A24101922A6}"/>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55AA598-D329-491E-B479-C8F374DB84CE}"/>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Task prompts and code comments are excluded from reasoning marks.</a:t>
            </a:r>
          </a:p>
        </p:txBody>
      </p:sp>
      <p:sp>
        <p:nvSpPr>
          <p:cNvPr id="10" name="">
            <a:extLst xmlns:a="http://schemas.openxmlformats.org/drawingml/2006/main">
              <a:ext uri="{FF2B5EF4-FFF2-40B4-BE49-F238E27FC236}">
                <a16:creationId xmlns:a16="http://schemas.microsoft.com/office/drawing/2014/main" id="{47FB18E9-04A3-434A-B2B5-79FEB7C01D2A}"/>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5EDD28A2-D32A-4D96-AD75-69FE07E8456B}"/>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Complete every original rubric criterion below, not just the checked functions.</a:t>
            </a:r>
          </a:p>
        </p:txBody>
      </p:sp>
      <p:sp>
        <p:nvSpPr>
          <p:cNvPr id="12" name="">
            <a:extLst xmlns:a="http://schemas.openxmlformats.org/drawingml/2006/main">
              <a:ext uri="{FF2B5EF4-FFF2-40B4-BE49-F238E27FC236}">
                <a16:creationId xmlns:a16="http://schemas.microsoft.com/office/drawing/2014/main" id="{521B491A-9380-476B-8ACC-C92E236B08A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13</a:t>
            </a:r>
          </a:p>
        </p:txBody>
      </p:sp>
    </p:spTree>
    <p:extLst>
      <p:ext uri="{BB962C8B-B14F-4D97-AF65-F5344CB8AC3E}">
        <p14:creationId xmlns:p14="http://schemas.microsoft.com/office/powerpoint/2010/main" val="55126736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B40BBC1-D078-48F5-AD53-FC915CAE308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5AAA19B-EB04-4EFA-85A0-2404F01B885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1827356-4885-4FBB-B562-98313E0AC95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Practical Test 2 continued</a:t>
            </a:r>
          </a:p>
        </p:txBody>
      </p:sp>
      <p:sp>
        <p:nvSpPr>
          <p:cNvPr id="4" name="">
            <a:extLst xmlns:a="http://schemas.openxmlformats.org/drawingml/2006/main">
              <a:ext uri="{FF2B5EF4-FFF2-40B4-BE49-F238E27FC236}">
                <a16:creationId xmlns:a16="http://schemas.microsoft.com/office/drawing/2014/main" id="{BA549CE6-A6D7-4AAC-A6F7-43AE2A08C544}"/>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B4FBA38-1240-41D6-8690-E42B29A98CAE}"/>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Include profiling, justified cleaning, question-led charts and your engineering recommendation where required.</a:t>
            </a:r>
          </a:p>
        </p:txBody>
      </p:sp>
      <p:sp>
        <p:nvSpPr>
          <p:cNvPr id="6" name="">
            <a:extLst xmlns:a="http://schemas.openxmlformats.org/drawingml/2006/main">
              <a:ext uri="{FF2B5EF4-FFF2-40B4-BE49-F238E27FC236}">
                <a16:creationId xmlns:a16="http://schemas.microsoft.com/office/drawing/2014/main" id="{E4A0734C-1BEA-4BB3-A8E0-B2613F6D39FE}"/>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778752B-5273-41FE-9ABC-A31597B3A137}"/>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raw data.</a:t>
            </a:r>
          </a:p>
        </p:txBody>
      </p:sp>
      <p:sp>
        <p:nvSpPr>
          <p:cNvPr id="8" name="">
            <a:extLst xmlns:a="http://schemas.openxmlformats.org/drawingml/2006/main">
              <a:ext uri="{FF2B5EF4-FFF2-40B4-BE49-F238E27FC236}">
                <a16:creationId xmlns:a16="http://schemas.microsoft.com/office/drawing/2014/main" id="{DF9536F7-A7BB-445E-A547-C469B01CE035}"/>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A1030C6B-62FC-4FE9-B2C0-977044E510C0}"/>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State units and distinguish correlation from causation.</a:t>
            </a:r>
          </a:p>
        </p:txBody>
      </p:sp>
      <p:sp>
        <p:nvSpPr>
          <p:cNvPr id="10" name="">
            <a:extLst xmlns:a="http://schemas.openxmlformats.org/drawingml/2006/main">
              <a:ext uri="{FF2B5EF4-FFF2-40B4-BE49-F238E27FC236}">
                <a16:creationId xmlns:a16="http://schemas.microsoft.com/office/drawing/2014/main" id="{1D73E0D3-96E0-460F-8422-418AD6C56F69}"/>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A5109513-AACB-4971-854E-FB8CFF623E43}"/>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Charts must be actual labelled figures in the notebook, not claims that charts exist.</a:t>
            </a:r>
          </a:p>
        </p:txBody>
      </p:sp>
      <p:sp>
        <p:nvSpPr>
          <p:cNvPr id="12" name="">
            <a:extLst xmlns:a="http://schemas.openxmlformats.org/drawingml/2006/main">
              <a:ext uri="{FF2B5EF4-FFF2-40B4-BE49-F238E27FC236}">
                <a16:creationId xmlns:a16="http://schemas.microsoft.com/office/drawing/2014/main" id="{4195B403-7A38-417F-A284-7C029311464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14</a:t>
            </a:r>
          </a:p>
        </p:txBody>
      </p:sp>
    </p:spTree>
    <p:extLst>
      <p:ext uri="{BB962C8B-B14F-4D97-AF65-F5344CB8AC3E}">
        <p14:creationId xmlns:p14="http://schemas.microsoft.com/office/powerpoint/2010/main" val="254775496"/>
      </p:ext>
    </p:extLst>
  </p:cSld>
</p:sld>
</file>

<file path=ppt/slides/slide1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424FEE1B-7EEF-4005-963B-231ABE0671A1}"/>
              </a:ext>
            </a:extLst>
          </p:cNvPr>
          <p:cNvSpPr>
            <a:spLocks noGrp="1"/>
          </p:cNvSpPr>
          <p:nvPr/>
        </p:nvSpPr>
        <p:spPr>
          <a:xfrm>
            <a:off x="0" y="0"/>
            <a:ext cx="12191695" cy="1390650"/>
          </a:xfrm>
          <a:prstGeom prst="rect">
            <a:avLst/>
          </a:prstGeom>
          <a:solidFill>
            <a:srgbClr val="1C3144"/>
          </a:solidFill>
          <a:ln w="0">
            <a:noFill/>
          </a:ln>
        </p:spPr>
      </p:sp>
      <p:sp>
        <p:nvSpPr>
          <p:cNvPr id="2" name="">
            <a:extLst>
              <a:ext uri="{FF2B5EF4-FFF2-40B4-BE49-F238E27FC236}">
                <ns2:creationId id="{1BC72901-4186-4E6E-A166-464D1E5D76A0}"/>
              </a:ext>
            </a:extLst>
          </p:cNvPr>
          <p:cNvSpPr>
            <a:spLocks noGrp="1"/>
          </p:cNvSpPr>
          <p:nvPr/>
        </p:nvSpPr>
        <p:spPr>
          <a:xfrm>
            <a:off x="590550" y="180975"/>
            <a:ext cx="11049000" cy="285750"/>
          </a:xfrm>
          <a:prstGeom prst="rect">
            <a:avLst/>
          </a:prstGeom>
          <a:noFill/>
          <a:ln w="0">
            <a:noFill/>
          </a:ln>
        </p:spPr>
        <p:txBody>
          <a:bodyPr>
            <a:noAutofit/>
          </a:bodyPr>
          <a:lstStyle/>
          <a:p>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a:ext uri="{FF2B5EF4-FFF2-40B4-BE49-F238E27FC236}">
                <ns2:creationId id="{0F351509-3DA3-41DE-8D96-6C9BB166F871}"/>
              </a:ext>
            </a:extLst>
          </p:cNvPr>
          <p:cNvSpPr>
            <a:spLocks noGrp="1"/>
          </p:cNvSpPr>
          <p:nvPr/>
        </p:nvSpPr>
        <p:spPr>
          <a:xfrm>
            <a:off x="590550" y="523875"/>
            <a:ext cx="11049000" cy="809625"/>
          </a:xfrm>
          <a:prstGeom prst="rect">
            <a:avLst/>
          </a:prstGeom>
          <a:noFill/>
          <a:ln w="0">
            <a:noFill/>
          </a:ln>
        </p:spPr>
        <p:txBody>
          <a:bodyPr>
            <a:noAutofit/>
          </a:bodyPr>
          <a:lstStyle/>
          <a:p>
            <a:pPr>
              <a:defRPr sz="3150" b="1">
                <a:solidFill>
                  <a:srgbClr val="FFFFFF"/>
                </a:solidFill>
                <a:latin typeface="Calibri"/>
                <a:ea typeface="Calibri"/>
                <a:cs typeface="Calibri"/>
              </a:defRPr>
            </a:pPr>
            <a:r>
              <a:rPr sz="3150" b="1">
                <a:solidFill>
                  <a:srgbClr val="FFFFFF"/>
                </a:solidFill>
                <a:latin typeface="Calibri"/>
                <a:ea typeface="Calibri"/>
                <a:cs typeface="Calibri"/>
              </a:rPr>
              <a:t>Practical Test 2 continued</a:t>
            </a:r>
          </a:p>
        </p:txBody>
      </p:sp>
      <p:sp>
        <p:nvSpPr>
          <p:cNvPr id="4" name="">
            <a:extLst>
              <a:ext uri="{FF2B5EF4-FFF2-40B4-BE49-F238E27FC236}">
                <ns2:creationId id="{46867341-239C-43D3-B469-DEA9FB7155DD}"/>
              </a:ext>
            </a:extLst>
          </p:cNvPr>
          <p:cNvSpPr>
            <a:spLocks noGrp="1"/>
          </p:cNvSpPr>
          <p:nvPr/>
        </p:nvSpPr>
        <p:spPr>
          <a:xfrm>
            <a:off x="590550" y="1781175"/>
            <a:ext cx="619125" cy="571500"/>
          </a:xfrm>
          <a:prstGeom prst="rect">
            <a:avLst/>
          </a:prstGeom>
          <a:noFill/>
          <a:ln w="0">
            <a:noFill/>
          </a:ln>
        </p:spPr>
        <p:txBody>
          <a:bodyPr>
            <a:noAutofit/>
          </a:bodyPr>
          <a:lstStyle/>
          <a:p>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a:ext uri="{FF2B5EF4-FFF2-40B4-BE49-F238E27FC236}">
                <ns2:creationId id="{E739F5FC-8C73-475E-942B-FEE97FAB3629}"/>
              </a:ext>
            </a:extLst>
          </p:cNvPr>
          <p:cNvSpPr>
            <a:spLocks noGrp="1"/>
          </p:cNvSpPr>
          <p:nvPr/>
        </p:nvSpPr>
        <p:spPr>
          <a:xfrm>
            <a:off x="1381125" y="1781175"/>
            <a:ext cx="10096500" cy="995363"/>
          </a:xfrm>
          <a:prstGeom prst="rect">
            <a:avLst/>
          </a:prstGeom>
          <a:noFill/>
          <a:ln w="0">
            <a:noFill/>
          </a:ln>
        </p:spPr>
        <p:txBody>
          <a:bodyPr>
            <a:noAutofit/>
          </a:body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Include captions and readable written evidence in the notebook.</a:t>
            </a:r>
          </a:p>
        </p:txBody>
      </p:sp>
      <p:sp>
        <p:nvSpPr>
          <p:cNvPr id="6" name="">
            <a:extLst>
              <a:ext uri="{FF2B5EF4-FFF2-40B4-BE49-F238E27FC236}">
                <ns2:creationId id="{ADA416D3-F2BC-4A4C-B00F-62C4E3DC170D}"/>
              </a:ext>
            </a:extLst>
          </p:cNvPr>
          <p:cNvSpPr>
            <a:spLocks noGrp="1"/>
          </p:cNvSpPr>
          <p:nvPr/>
        </p:nvSpPr>
        <p:spPr>
          <a:xfrm>
            <a:off x="590550" y="2852738"/>
            <a:ext cx="619125" cy="571500"/>
          </a:xfrm>
          <a:prstGeom prst="rect">
            <a:avLst/>
          </a:prstGeom>
          <a:noFill/>
          <a:ln w="0">
            <a:noFill/>
          </a:ln>
        </p:spPr>
        <p:txBody>
          <a:bodyPr>
            <a:noAutofit/>
          </a:bodyPr>
          <a:lstStyle/>
          <a:p>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a:ext uri="{FF2B5EF4-FFF2-40B4-BE49-F238E27FC236}">
                <ns2:creationId id="{C2907265-C3F9-472C-9EDB-86B020C57E6B}"/>
              </a:ext>
            </a:extLst>
          </p:cNvPr>
          <p:cNvSpPr>
            <a:spLocks noGrp="1"/>
          </p:cNvSpPr>
          <p:nvPr/>
        </p:nvSpPr>
        <p:spPr>
          <a:xfrm>
            <a:off x="1381125" y="2852738"/>
            <a:ext cx="10096500" cy="995363"/>
          </a:xfrm>
          <a:prstGeom prst="rect">
            <a:avLst/>
          </a:prstGeom>
          <a:noFill/>
          <a:ln w="0">
            <a:noFill/>
          </a:ln>
        </p:spPr>
        <p:txBody>
          <a:bodyPr>
            <a:noAutofit/>
          </a:body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Task framing (10.0 total): The ML task is correctly identified, the target named, and regression vs classification correctly chosen and justified.</a:t>
            </a:r>
          </a:p>
        </p:txBody>
      </p:sp>
      <p:sp>
        <p:nvSpPr>
          <p:cNvPr id="8" name="">
            <a:extLst>
              <a:ext uri="{FF2B5EF4-FFF2-40B4-BE49-F238E27FC236}">
                <ns2:creationId id="{7AAC4F06-00F1-4483-95A6-52FDB687B30F}"/>
              </a:ext>
            </a:extLst>
          </p:cNvPr>
          <p:cNvSpPr>
            <a:spLocks noGrp="1"/>
          </p:cNvSpPr>
          <p:nvPr/>
        </p:nvSpPr>
        <p:spPr>
          <a:xfrm>
            <a:off x="590550" y="3924300"/>
            <a:ext cx="619125" cy="571500"/>
          </a:xfrm>
          <a:prstGeom prst="rect">
            <a:avLst/>
          </a:prstGeom>
          <a:noFill/>
          <a:ln w="0">
            <a:noFill/>
          </a:ln>
        </p:spPr>
        <p:txBody>
          <a:bodyPr>
            <a:noAutofit/>
          </a:bodyPr>
          <a:lstStyle/>
          <a:p>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a:ext uri="{FF2B5EF4-FFF2-40B4-BE49-F238E27FC236}">
                <ns2:creationId id="{D96CB47D-40BC-47DF-AC31-15CF99A25D74}"/>
              </a:ext>
            </a:extLst>
          </p:cNvPr>
          <p:cNvSpPr>
            <a:spLocks noGrp="1"/>
          </p:cNvSpPr>
          <p:nvPr/>
        </p:nvSpPr>
        <p:spPr>
          <a:xfrm>
            <a:off x="1381125" y="3924300"/>
            <a:ext cx="10096500" cy="995363"/>
          </a:xfrm>
          <a:prstGeom prst="rect">
            <a:avLst/>
          </a:prstGeom>
          <a:noFill/>
          <a:ln w="0">
            <a:noFill/>
          </a:ln>
        </p:spPr>
        <p:txBody>
          <a:bodyPr>
            <a:noAutofit/>
          </a:body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Data preparation &amp; leakage control (20.0 total): Cleaning and encoding appropriate.</a:t>
            </a:r>
          </a:p>
        </p:txBody>
      </p:sp>
      <p:sp>
        <p:nvSpPr>
          <p:cNvPr id="10" name="">
            <a:extLst>
              <a:ext uri="{FF2B5EF4-FFF2-40B4-BE49-F238E27FC236}">
                <ns2:creationId id="{9512E297-1701-4C0A-B647-9D47CFA96CCE}"/>
              </a:ext>
            </a:extLst>
          </p:cNvPr>
          <p:cNvSpPr>
            <a:spLocks noGrp="1"/>
          </p:cNvSpPr>
          <p:nvPr/>
        </p:nvSpPr>
        <p:spPr>
          <a:xfrm>
            <a:off x="590550" y="4995863"/>
            <a:ext cx="619125" cy="571500"/>
          </a:xfrm>
          <a:prstGeom prst="rect">
            <a:avLst/>
          </a:prstGeom>
          <a:noFill/>
          <a:ln w="0">
            <a:noFill/>
          </a:ln>
        </p:spPr>
        <p:txBody>
          <a:bodyPr>
            <a:noAutofit/>
          </a:bodyPr>
          <a:lstStyle/>
          <a:p>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a:ext uri="{FF2B5EF4-FFF2-40B4-BE49-F238E27FC236}">
                <ns2:creationId id="{F38D3BBB-E69A-40D2-A0A7-B008B25AAFD7}"/>
              </a:ext>
            </a:extLst>
          </p:cNvPr>
          <p:cNvSpPr>
            <a:spLocks noGrp="1"/>
          </p:cNvSpPr>
          <p:nvPr/>
        </p:nvSpPr>
        <p:spPr>
          <a:xfrm>
            <a:off x="1381125" y="4995863"/>
            <a:ext cx="10096500" cy="995363"/>
          </a:xfrm>
          <a:prstGeom prst="rect">
            <a:avLst/>
          </a:prstGeom>
          <a:noFill/>
          <a:ln w="0">
            <a:noFill/>
          </a:ln>
        </p:spPr>
        <p:txBody>
          <a:bodyPr>
            <a:noAutofit/>
          </a:body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Split made before any fitting.</a:t>
            </a:r>
          </a:p>
        </p:txBody>
      </p:sp>
      <p:sp>
        <p:nvSpPr>
          <p:cNvPr id="12" name="">
            <a:extLst>
              <a:ext uri="{FF2B5EF4-FFF2-40B4-BE49-F238E27FC236}">
                <ns2:creationId id="{14E8BF45-1A95-4FF5-877B-346B09A17AED}"/>
              </a:ext>
            </a:extLst>
          </p:cNvPr>
          <p:cNvSpPr>
            <a:spLocks noGrp="1"/>
          </p:cNvSpPr>
          <p:nvPr/>
        </p:nvSpPr>
        <p:spPr>
          <a:xfrm>
            <a:off x="590550" y="6524625"/>
            <a:ext cx="10810875" cy="219075"/>
          </a:xfrm>
          <a:prstGeom prst="rect">
            <a:avLst/>
          </a:prstGeom>
          <a:noFill/>
          <a:ln w="0">
            <a:noFill/>
          </a:ln>
        </p:spPr>
        <p:txBody>
          <a:bodyPr>
            <a:noAutofit/>
          </a:bodyPr>
          <a:lstStyle/>
          <a:p>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15</a:t>
            </a:r>
          </a:p>
        </p:txBody>
      </p:sp>
    </p:spTree>
    <p:extLst>
      <p:ext uri="{BB962C8B-B14F-4D97-AF65-F5344CB8AC3E}">
        <ns3:creationId val="56985167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3C207AF-FAD9-46C7-9557-8C230F3EEDF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9536203-5E26-43DE-A42C-BB3AE15D46D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46D3318-D566-47DD-AF55-F43572427E7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Practical Test 2 continued</a:t>
            </a:r>
          </a:p>
        </p:txBody>
      </p:sp>
      <p:sp>
        <p:nvSpPr>
          <p:cNvPr id="4" name="">
            <a:extLst xmlns:a="http://schemas.openxmlformats.org/drawingml/2006/main">
              <a:ext uri="{FF2B5EF4-FFF2-40B4-BE49-F238E27FC236}">
                <a16:creationId xmlns:a16="http://schemas.microsoft.com/office/drawing/2014/main" id="{D63D3D01-694B-4FF9-973F-D68D3F52F5F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5A320E8-8C6D-4721-A5BD-0D05D2A812AC}"/>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Pipeline used.</a:t>
            </a:r>
          </a:p>
        </p:txBody>
      </p:sp>
      <p:sp>
        <p:nvSpPr>
          <p:cNvPr id="6" name="">
            <a:extLst xmlns:a="http://schemas.openxmlformats.org/drawingml/2006/main">
              <a:ext uri="{FF2B5EF4-FFF2-40B4-BE49-F238E27FC236}">
                <a16:creationId xmlns:a16="http://schemas.microsoft.com/office/drawing/2014/main" id="{5CB0B503-1706-49F1-BFC7-3BA2845C53B4}"/>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B6844DF0-BDD7-431B-B722-CEAD395788DD}"/>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No leakage present - a leak found by the marker caps this criterion at zero.</a:t>
            </a:r>
          </a:p>
        </p:txBody>
      </p:sp>
      <p:sp>
        <p:nvSpPr>
          <p:cNvPr id="8" name="">
            <a:extLst xmlns:a="http://schemas.openxmlformats.org/drawingml/2006/main">
              <a:ext uri="{FF2B5EF4-FFF2-40B4-BE49-F238E27FC236}">
                <a16:creationId xmlns:a16="http://schemas.microsoft.com/office/drawing/2014/main" id="{D9375FC5-1A32-4008-B479-CF99E0986BCF}"/>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2F94C3A-03F2-43D7-8B25-EF015F8E3035}"/>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Modelling protocol (20.0 total): At least two models built and compared under identical conditions.</a:t>
            </a:r>
          </a:p>
        </p:txBody>
      </p:sp>
      <p:sp>
        <p:nvSpPr>
          <p:cNvPr id="10" name="">
            <a:extLst xmlns:a="http://schemas.openxmlformats.org/drawingml/2006/main">
              <a:ext uri="{FF2B5EF4-FFF2-40B4-BE49-F238E27FC236}">
                <a16:creationId xmlns:a16="http://schemas.microsoft.com/office/drawing/2014/main" id="{45970037-4D15-46A6-92C1-76960384403C}"/>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EF0F4669-AD1D-4679-8231-609EC2881569}"/>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Baseline included.</a:t>
            </a:r>
          </a:p>
        </p:txBody>
      </p:sp>
      <p:sp>
        <p:nvSpPr>
          <p:cNvPr id="12" name="">
            <a:extLst xmlns:a="http://schemas.openxmlformats.org/drawingml/2006/main">
              <a:ext uri="{FF2B5EF4-FFF2-40B4-BE49-F238E27FC236}">
                <a16:creationId xmlns:a16="http://schemas.microsoft.com/office/drawing/2014/main" id="{8402961B-0B07-4B80-8747-C3F25A18D9E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16</a:t>
            </a:r>
          </a:p>
        </p:txBody>
      </p:sp>
    </p:spTree>
    <p:extLst>
      <p:ext uri="{BB962C8B-B14F-4D97-AF65-F5344CB8AC3E}">
        <p14:creationId xmlns:p14="http://schemas.microsoft.com/office/powerpoint/2010/main" val="59155586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A26DAFE-C9FC-4DBC-BA38-1260109E9F0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D3AB219-5532-44D6-8D06-CD3A02A6C2C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FCB9B513-CF22-4244-B5B0-F168EF6187B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Practical Test 2 continued</a:t>
            </a:r>
          </a:p>
        </p:txBody>
      </p:sp>
      <p:sp>
        <p:nvSpPr>
          <p:cNvPr id="4" name="">
            <a:extLst xmlns:a="http://schemas.openxmlformats.org/drawingml/2006/main">
              <a:ext uri="{FF2B5EF4-FFF2-40B4-BE49-F238E27FC236}">
                <a16:creationId xmlns:a16="http://schemas.microsoft.com/office/drawing/2014/main" id="{0DE5D732-AD57-4099-8B6D-A89254C32AEA}"/>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6055FDA1-0E66-45C9-B79E-B6B775005B3E}"/>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Hyperparameters handled sensibly.</a:t>
            </a:r>
          </a:p>
        </p:txBody>
      </p:sp>
      <p:sp>
        <p:nvSpPr>
          <p:cNvPr id="6" name="">
            <a:extLst xmlns:a="http://schemas.openxmlformats.org/drawingml/2006/main">
              <a:ext uri="{FF2B5EF4-FFF2-40B4-BE49-F238E27FC236}">
                <a16:creationId xmlns:a16="http://schemas.microsoft.com/office/drawing/2014/main" id="{DA884A19-7037-4228-8284-576871DF2EF0}"/>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B81D358D-0B3E-4BD5-A070-23A700BEA3EC}"/>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Evaluation &amp; metric justification (20.0 total): Correct metrics computed.</a:t>
            </a:r>
          </a:p>
        </p:txBody>
      </p:sp>
      <p:sp>
        <p:nvSpPr>
          <p:cNvPr id="8" name="">
            <a:extLst xmlns:a="http://schemas.openxmlformats.org/drawingml/2006/main">
              <a:ext uri="{FF2B5EF4-FFF2-40B4-BE49-F238E27FC236}">
                <a16:creationId xmlns:a16="http://schemas.microsoft.com/office/drawing/2014/main" id="{AE6C83B0-D751-4A59-97A4-BB20A483869F}"/>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81D6B9A7-A5F7-4BFB-8D38-001E7CCD9D83}"/>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Metric choice defended against the cost of error.</a:t>
            </a:r>
          </a:p>
        </p:txBody>
      </p:sp>
      <p:sp>
        <p:nvSpPr>
          <p:cNvPr id="10" name="">
            <a:extLst xmlns:a="http://schemas.openxmlformats.org/drawingml/2006/main">
              <a:ext uri="{FF2B5EF4-FFF2-40B4-BE49-F238E27FC236}">
                <a16:creationId xmlns:a16="http://schemas.microsoft.com/office/drawing/2014/main" id="{E7833078-59A8-4D3D-9FCB-408FC2D4182E}"/>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9614444F-26D8-416C-87F7-E8976E58AD7D}"/>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Cross-validation reported with a spread, not a single number.</a:t>
            </a:r>
          </a:p>
        </p:txBody>
      </p:sp>
      <p:sp>
        <p:nvSpPr>
          <p:cNvPr id="12" name="">
            <a:extLst xmlns:a="http://schemas.openxmlformats.org/drawingml/2006/main">
              <a:ext uri="{FF2B5EF4-FFF2-40B4-BE49-F238E27FC236}">
                <a16:creationId xmlns:a16="http://schemas.microsoft.com/office/drawing/2014/main" id="{A146CC0C-3D79-4F1D-BC89-7BA7309A86E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17</a:t>
            </a:r>
          </a:p>
        </p:txBody>
      </p:sp>
    </p:spTree>
    <p:extLst>
      <p:ext uri="{BB962C8B-B14F-4D97-AF65-F5344CB8AC3E}">
        <p14:creationId xmlns:p14="http://schemas.microsoft.com/office/powerpoint/2010/main" val="6214707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AD506D5-99A8-4954-ABB5-C78CA52FF58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0972CA4-CDEE-49A8-BA07-EDDAF10DC2D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B362C66-8621-41F3-B590-CA1868D1DF0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Practical Test 2 continued</a:t>
            </a:r>
          </a:p>
        </p:txBody>
      </p:sp>
      <p:sp>
        <p:nvSpPr>
          <p:cNvPr id="4" name="">
            <a:extLst xmlns:a="http://schemas.openxmlformats.org/drawingml/2006/main">
              <a:ext uri="{FF2B5EF4-FFF2-40B4-BE49-F238E27FC236}">
                <a16:creationId xmlns:a16="http://schemas.microsoft.com/office/drawing/2014/main" id="{BF9637F0-B929-4B5D-A9CB-0C96E182990D}"/>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029B69C-59D0-45EC-B895-FBEB640208DE}"/>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Engineering interpretation &amp; limits (20.0 total): The result is stated in physical or operational units.</a:t>
            </a:r>
          </a:p>
        </p:txBody>
      </p:sp>
      <p:sp>
        <p:nvSpPr>
          <p:cNvPr id="6" name="">
            <a:extLst xmlns:a="http://schemas.openxmlformats.org/drawingml/2006/main">
              <a:ext uri="{FF2B5EF4-FFF2-40B4-BE49-F238E27FC236}">
                <a16:creationId xmlns:a16="http://schemas.microsoft.com/office/drawing/2014/main" id="{1F46919D-8918-4553-A4E7-4AABEB640014}"/>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48A7F82-6983-4BB7-80AA-E8DE65078F4A}"/>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Three genuine limitations given.</a:t>
            </a:r>
          </a:p>
        </p:txBody>
      </p:sp>
      <p:sp>
        <p:nvSpPr>
          <p:cNvPr id="8" name="">
            <a:extLst xmlns:a="http://schemas.openxmlformats.org/drawingml/2006/main">
              <a:ext uri="{FF2B5EF4-FFF2-40B4-BE49-F238E27FC236}">
                <a16:creationId xmlns:a16="http://schemas.microsoft.com/office/drawing/2014/main" id="{24EFB0CE-D1E7-4725-8759-1453D28B56F3}"/>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7A8AFCF9-15F3-4DC3-9E53-3CF6FD6AA55C}"/>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clear position on whether it should be deployed.</a:t>
            </a:r>
          </a:p>
        </p:txBody>
      </p:sp>
      <p:sp>
        <p:nvSpPr>
          <p:cNvPr id="10" name="">
            <a:extLst xmlns:a="http://schemas.openxmlformats.org/drawingml/2006/main">
              <a:ext uri="{FF2B5EF4-FFF2-40B4-BE49-F238E27FC236}">
                <a16:creationId xmlns:a16="http://schemas.microsoft.com/office/drawing/2014/main" id="{82B9C9B3-49E0-4260-97E1-C204B25E735F}"/>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D4878A1B-A4D7-4792-A736-DDBA244816CD}"/>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Code clarity (10.0 total): Runs top to bottom.</a:t>
            </a:r>
          </a:p>
        </p:txBody>
      </p:sp>
      <p:sp>
        <p:nvSpPr>
          <p:cNvPr id="12" name="">
            <a:extLst xmlns:a="http://schemas.openxmlformats.org/drawingml/2006/main">
              <a:ext uri="{FF2B5EF4-FFF2-40B4-BE49-F238E27FC236}">
                <a16:creationId xmlns:a16="http://schemas.microsoft.com/office/drawing/2014/main" id="{3C386A83-2BE1-4C9B-8811-3F8F7400699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18</a:t>
            </a:r>
          </a:p>
        </p:txBody>
      </p:sp>
    </p:spTree>
    <p:extLst>
      <p:ext uri="{BB962C8B-B14F-4D97-AF65-F5344CB8AC3E}">
        <p14:creationId xmlns:p14="http://schemas.microsoft.com/office/powerpoint/2010/main" val="39670846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10A0CD9-DCBE-45CA-8B0A-DBE732BCB2D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86D0351-A0FD-4387-A183-B51DC756B94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847F5B7F-A4D2-4D70-814E-F48773686E5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Practical Test 2 continued</a:t>
            </a:r>
          </a:p>
        </p:txBody>
      </p:sp>
      <p:sp>
        <p:nvSpPr>
          <p:cNvPr id="4" name="">
            <a:extLst xmlns:a="http://schemas.openxmlformats.org/drawingml/2006/main">
              <a:ext uri="{FF2B5EF4-FFF2-40B4-BE49-F238E27FC236}">
                <a16:creationId xmlns:a16="http://schemas.microsoft.com/office/drawing/2014/main" id="{89BA1430-DD1C-4C35-BE0A-D7797176C7A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5F15F08-7D73-46BD-8D07-A2489D9BEA5F}"/>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Readable.</a:t>
            </a:r>
          </a:p>
        </p:txBody>
      </p:sp>
      <p:sp>
        <p:nvSpPr>
          <p:cNvPr id="6" name="">
            <a:extLst xmlns:a="http://schemas.openxmlformats.org/drawingml/2006/main">
              <a:ext uri="{FF2B5EF4-FFF2-40B4-BE49-F238E27FC236}">
                <a16:creationId xmlns:a16="http://schemas.microsoft.com/office/drawing/2014/main" id="{EE1104D4-07BE-4211-87FE-2ACA22AEA29F}"/>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9248298-0EAF-4AC7-A5B2-C6A646B1129E}"/>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Commented where the intent is not obvious.</a:t>
            </a:r>
          </a:p>
        </p:txBody>
      </p:sp>
      <p:sp>
        <p:nvSpPr>
          <p:cNvPr id="8" name="">
            <a:extLst xmlns:a="http://schemas.openxmlformats.org/drawingml/2006/main">
              <a:ext uri="{FF2B5EF4-FFF2-40B4-BE49-F238E27FC236}">
                <a16:creationId xmlns:a16="http://schemas.microsoft.com/office/drawing/2014/main" id="{3860DD44-F2DC-49AE-988D-4949576A7BA7}"/>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FB553D4-EC1A-4F44-817A-1C2EA58BD96B}"/>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Execution requirement for c2: Data-preparation credit requires the published leakage-safe split check to pass.</a:t>
            </a:r>
          </a:p>
        </p:txBody>
      </p:sp>
      <p:sp>
        <p:nvSpPr>
          <p:cNvPr id="10" name="">
            <a:extLst xmlns:a="http://schemas.openxmlformats.org/drawingml/2006/main">
              <a:ext uri="{FF2B5EF4-FFF2-40B4-BE49-F238E27FC236}">
                <a16:creationId xmlns:a16="http://schemas.microsoft.com/office/drawing/2014/main" id="{FC48C592-3642-4D15-9F92-B9723BBCA866}"/>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C026EFBA-F31A-478A-971E-1BFB4908C26D}"/>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If this check fails, written marks in that criterion are zero; other criteria remain independently scored.</a:t>
            </a:r>
          </a:p>
        </p:txBody>
      </p:sp>
      <p:sp>
        <p:nvSpPr>
          <p:cNvPr id="12" name="">
            <a:extLst xmlns:a="http://schemas.openxmlformats.org/drawingml/2006/main">
              <a:ext uri="{FF2B5EF4-FFF2-40B4-BE49-F238E27FC236}">
                <a16:creationId xmlns:a16="http://schemas.microsoft.com/office/drawing/2014/main" id="{824248D0-96B0-49C2-891D-BA915B019EB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19</a:t>
            </a:r>
          </a:p>
        </p:txBody>
      </p:sp>
    </p:spTree>
    <p:extLst>
      <p:ext uri="{BB962C8B-B14F-4D97-AF65-F5344CB8AC3E}">
        <p14:creationId xmlns:p14="http://schemas.microsoft.com/office/powerpoint/2010/main" val="37944499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479190B-FDFB-4116-8A6F-24F2FEBBC3F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CF1E2BF-0576-4397-B03A-7D76A834357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11AD466-4AEA-4B34-A0B0-38A0C34E857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Practical Test 2 continued</a:t>
            </a:r>
          </a:p>
        </p:txBody>
      </p:sp>
      <p:sp>
        <p:nvSpPr>
          <p:cNvPr id="4" name="">
            <a:extLst xmlns:a="http://schemas.openxmlformats.org/drawingml/2006/main">
              <a:ext uri="{FF2B5EF4-FFF2-40B4-BE49-F238E27FC236}">
                <a16:creationId xmlns:a16="http://schemas.microsoft.com/office/drawing/2014/main" id="{83E8EC48-209C-4443-BEAA-86C5C7F52E33}"/>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E276A5B-0D81-4B7D-B4A4-89161AA2F435}"/>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Timing and Part B</a:t>
            </a:r>
          </a:p>
        </p:txBody>
      </p:sp>
      <p:sp>
        <p:nvSpPr>
          <p:cNvPr id="6" name="">
            <a:extLst xmlns:a="http://schemas.openxmlformats.org/drawingml/2006/main">
              <a:ext uri="{FF2B5EF4-FFF2-40B4-BE49-F238E27FC236}">
                <a16:creationId xmlns:a16="http://schemas.microsoft.com/office/drawing/2014/main" id="{DA06D62B-77B6-40ED-A92B-7841249A3F51}"/>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B24C966F-3395-4CF4-A40C-08C008251DBA}"/>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15 minutes setup, 120 minutes practical, 25 minutes typed offline reasoning with code execution prohibited, 20 minutes collection.</a:t>
            </a:r>
          </a:p>
        </p:txBody>
      </p:sp>
      <p:sp>
        <p:nvSpPr>
          <p:cNvPr id="8" name="">
            <a:extLst xmlns:a="http://schemas.openxmlformats.org/drawingml/2006/main">
              <a:ext uri="{FF2B5EF4-FFF2-40B4-BE49-F238E27FC236}">
                <a16:creationId xmlns:a16="http://schemas.microsoft.com/office/drawing/2014/main" id="{0F6734C3-D434-40A6-B68C-A653B9170356}"/>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70FD775B-1D09-4449-9B05-AA490004F20D}"/>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No internet, messaging or AI.</a:t>
            </a:r>
          </a:p>
        </p:txBody>
      </p:sp>
      <p:sp>
        <p:nvSpPr>
          <p:cNvPr id="10" name="">
            <a:extLst xmlns:a="http://schemas.openxmlformats.org/drawingml/2006/main">
              <a:ext uri="{FF2B5EF4-FFF2-40B4-BE49-F238E27FC236}">
                <a16:creationId xmlns:a16="http://schemas.microsoft.com/office/drawing/2014/main" id="{7AB224C8-D8D5-4EFC-BD26-DA5AC67B84B8}"/>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669E6CA2-2611-4443-8F3A-428D7DCFD2EB}"/>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Answer: Why your main cleaning/model choice?</a:t>
            </a:r>
          </a:p>
        </p:txBody>
      </p:sp>
      <p:sp>
        <p:nvSpPr>
          <p:cNvPr id="12" name="">
            <a:extLst xmlns:a="http://schemas.openxmlformats.org/drawingml/2006/main">
              <a:ext uri="{FF2B5EF4-FFF2-40B4-BE49-F238E27FC236}">
                <a16:creationId xmlns:a16="http://schemas.microsoft.com/office/drawing/2014/main" id="{09A54531-2C02-487C-BEA1-CF083E15E50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20</a:t>
            </a:r>
          </a:p>
        </p:txBody>
      </p:sp>
    </p:spTree>
    <p:extLst>
      <p:ext uri="{BB962C8B-B14F-4D97-AF65-F5344CB8AC3E}">
        <p14:creationId xmlns:p14="http://schemas.microsoft.com/office/powerpoint/2010/main" val="198396183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8010713-E66E-4C0B-B836-A3AF7C4D264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077FFEB-769B-4ECB-BA90-2FB42401B9B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E5C1644-C560-4285-813B-1DD379D98BC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Practical Test 2 continued</a:t>
            </a:r>
          </a:p>
        </p:txBody>
      </p:sp>
      <p:sp>
        <p:nvSpPr>
          <p:cNvPr id="4" name="">
            <a:extLst xmlns:a="http://schemas.openxmlformats.org/drawingml/2006/main">
              <a:ext uri="{FF2B5EF4-FFF2-40B4-BE49-F238E27FC236}">
                <a16:creationId xmlns:a16="http://schemas.microsoft.com/office/drawing/2014/main" id="{2263B378-67E5-48EE-8A3A-D1145C1E196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5B8AA0F-CDC4-4BDC-9AF1-36D7865BA9EC}"/>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What can your chart/metric not establish?</a:t>
            </a:r>
          </a:p>
        </p:txBody>
      </p:sp>
      <p:sp>
        <p:nvSpPr>
          <p:cNvPr id="6" name="">
            <a:extLst xmlns:a="http://schemas.openxmlformats.org/drawingml/2006/main">
              <a:ext uri="{FF2B5EF4-FFF2-40B4-BE49-F238E27FC236}">
                <a16:creationId xmlns:a16="http://schemas.microsoft.com/office/drawing/2014/main" id="{E1870776-AE44-4F59-96AD-0FC6312122AD}"/>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B6B5CDA7-2DE2-40CD-92A0-07137E5895C3}"/>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What evidence would change your recommendation?</a:t>
            </a:r>
          </a:p>
        </p:txBody>
      </p:sp>
      <p:sp>
        <p:nvSpPr>
          <p:cNvPr id="8" name="">
            <a:extLst xmlns:a="http://schemas.openxmlformats.org/drawingml/2006/main">
              <a:ext uri="{FF2B5EF4-FFF2-40B4-BE49-F238E27FC236}">
                <a16:creationId xmlns:a16="http://schemas.microsoft.com/office/drawing/2014/main" id="{A2FBF77E-4EC3-4B59-ADD7-DCED025675EF}"/>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0217F614-B3BB-4CFB-803C-4E435A42E99E}"/>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What further data is required?</a:t>
            </a:r>
          </a:p>
        </p:txBody>
      </p:sp>
      <p:sp>
        <p:nvSpPr>
          <p:cNvPr id="10" name="">
            <a:extLst xmlns:a="http://schemas.openxmlformats.org/drawingml/2006/main">
              <a:ext uri="{FF2B5EF4-FFF2-40B4-BE49-F238E27FC236}">
                <a16:creationId xmlns:a16="http://schemas.microsoft.com/office/drawing/2014/main" id="{694270C5-B8A8-4CAC-A5A2-5ED140C0B137}"/>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BC1C55B2-5A55-4977-A2CE-C145F7CB0EC3}"/>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Invigilated offline collection is authoritative; Google upload is a later transport step and must not impose an internet requirement during the test.</a:t>
            </a:r>
          </a:p>
        </p:txBody>
      </p:sp>
      <p:sp>
        <p:nvSpPr>
          <p:cNvPr id="12" name="">
            <a:extLst xmlns:a="http://schemas.openxmlformats.org/drawingml/2006/main">
              <a:ext uri="{FF2B5EF4-FFF2-40B4-BE49-F238E27FC236}">
                <a16:creationId xmlns:a16="http://schemas.microsoft.com/office/drawing/2014/main" id="{21D7E059-60AC-4813-A614-595E5B22BA7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21</a:t>
            </a:r>
          </a:p>
        </p:txBody>
      </p:sp>
    </p:spTree>
    <p:extLst>
      <p:ext uri="{BB962C8B-B14F-4D97-AF65-F5344CB8AC3E}">
        <p14:creationId xmlns:p14="http://schemas.microsoft.com/office/powerpoint/2010/main" val="570667653"/>
      </p:ext>
    </p:extLst>
  </p:cSld>
</p:sld>
</file>

<file path=ppt/slides/slide2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6" name="">
            <a:extLst>
              <a:ext uri="{FF2B5EF4-FFF2-40B4-BE49-F238E27FC236}">
                <ns2:creationId id="{88699077-74C6-4F16-9C37-39332966AB29}"/>
              </a:ext>
            </a:extLst>
          </p:cNvPr>
          <p:cNvSpPr>
            <a:spLocks noGrp="1"/>
          </p:cNvSpPr>
          <p:nvPr/>
        </p:nvSpPr>
        <p:spPr>
          <a:xfrm>
            <a:off x="0" y="0"/>
            <a:ext cx="12191695" cy="1390650"/>
          </a:xfrm>
          <a:prstGeom prst="rect">
            <a:avLst/>
          </a:prstGeom>
          <a:solidFill>
            <a:srgbClr val="1C3144"/>
          </a:solidFill>
          <a:ln w="0">
            <a:noFill/>
          </a:ln>
        </p:spPr>
      </p:sp>
      <p:sp>
        <p:nvSpPr>
          <p:cNvPr id="2" name="">
            <a:extLst>
              <a:ext uri="{FF2B5EF4-FFF2-40B4-BE49-F238E27FC236}">
                <ns2:creationId id="{13A7DEB0-3023-40CB-BABC-B8FF2A8B9C00}"/>
              </a:ext>
            </a:extLst>
          </p:cNvPr>
          <p:cNvSpPr>
            <a:spLocks noGrp="1"/>
          </p:cNvSpPr>
          <p:nvPr/>
        </p:nvSpPr>
        <p:spPr>
          <a:xfrm>
            <a:off x="590550" y="180975"/>
            <a:ext cx="11049000" cy="285750"/>
          </a:xfrm>
          <a:prstGeom prst="rect">
            <a:avLst/>
          </a:prstGeom>
          <a:noFill/>
          <a:ln w="0">
            <a:noFill/>
          </a:ln>
        </p:spPr>
        <p:txBody>
          <a:bodyPr>
            <a:noAutofit/>
          </a:bodyPr>
          <a:lstStyle/>
          <a:p>
            <a:pPr>
              <a:defRPr sz="1500" b="1">
                <a:solidFill>
                  <a:srgbClr val="E4572E"/>
                </a:solidFill>
                <a:latin typeface="Calibri"/>
                <a:ea typeface="Calibri"/>
                <a:cs typeface="Calibri"/>
              </a:defRPr>
            </a:pPr>
            <a:r>
              <a:rPr sz="1500" b="1">
                <a:solidFill>
                  <a:srgbClr val="E4572E"/>
                </a:solidFill>
                <a:latin typeface="Calibri"/>
                <a:ea typeface="Calibri"/>
                <a:cs typeface="Calibri"/>
              </a:rPr>
              <a:t>ASSIGNMENT SUBMISSION</a:t>
            </a:r>
          </a:p>
        </p:txBody>
      </p:sp>
      <p:sp>
        <p:nvSpPr>
          <p:cNvPr id="3" name="">
            <a:extLst>
              <a:ext uri="{FF2B5EF4-FFF2-40B4-BE49-F238E27FC236}">
                <ns2:creationId id="{00417842-B0AD-4F7C-A7D0-BDAF82A3097F}"/>
              </a:ext>
            </a:extLst>
          </p:cNvPr>
          <p:cNvSpPr>
            <a:spLocks noGrp="1"/>
          </p:cNvSpPr>
          <p:nvPr/>
        </p:nvSpPr>
        <p:spPr>
          <a:xfrm>
            <a:off x="590550" y="523875"/>
            <a:ext cx="11049000" cy="809625"/>
          </a:xfrm>
          <a:prstGeom prst="rect">
            <a:avLst/>
          </a:prstGeom>
          <a:noFill/>
          <a:ln w="0">
            <a:noFill/>
          </a:ln>
        </p:spPr>
        <p:txBody>
          <a:bodyPr>
            <a:noAutofit/>
          </a:bodyPr>
          <a:lstStyle/>
          <a:p>
            <a:pPr>
              <a:defRPr sz="3150" b="1">
                <a:solidFill>
                  <a:srgbClr val="FFFFFF"/>
                </a:solidFill>
                <a:latin typeface="Calibri"/>
                <a:ea typeface="Calibri"/>
                <a:cs typeface="Calibri"/>
              </a:defRPr>
            </a:pPr>
            <a:r>
              <a:rPr sz="3150" b="1">
                <a:solidFill>
                  <a:srgbClr val="FFFFFF"/>
                </a:solidFill>
                <a:latin typeface="Calibri"/>
                <a:ea typeface="Calibri"/>
                <a:cs typeface="Calibri"/>
              </a:rPr>
              <a:t>Practical Test 2 submission</a:t>
            </a:r>
          </a:p>
        </p:txBody>
      </p:sp>
      <p:sp>
        <p:nvSpPr>
          <p:cNvPr id="4" name="">
            <a:extLst>
              <a:ext uri="{FF2B5EF4-FFF2-40B4-BE49-F238E27FC236}">
                <ns2:creationId id="{957E581D-5FA0-4CB3-AAE4-53B97DB7F0FC}"/>
              </a:ext>
            </a:extLst>
          </p:cNvPr>
          <p:cNvSpPr>
            <a:spLocks noGrp="1"/>
          </p:cNvSpPr>
          <p:nvPr/>
        </p:nvSpPr>
        <p:spPr>
          <a:xfrm>
            <a:off x="590550" y="1724025"/>
            <a:ext cx="619125" cy="571500"/>
          </a:xfrm>
          <a:prstGeom prst="rect">
            <a:avLst/>
          </a:prstGeom>
          <a:noFill/>
          <a:ln w="0">
            <a:noFill/>
          </a:ln>
        </p:spPr>
        <p:txBody>
          <a:bodyPr>
            <a:noAutofit/>
          </a:bodyPr>
          <a:lstStyle/>
          <a:p>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a:ext uri="{FF2B5EF4-FFF2-40B4-BE49-F238E27FC236}">
                <ns2:creationId id="{C44AB17D-086B-4067-88F6-A32D0F2098CB}"/>
              </a:ext>
            </a:extLst>
          </p:cNvPr>
          <p:cNvSpPr>
            <a:spLocks noGrp="1"/>
          </p:cNvSpPr>
          <p:nvPr/>
        </p:nvSpPr>
        <p:spPr>
          <a:xfrm>
            <a:off x="1381125" y="1724025"/>
            <a:ext cx="10096500" cy="721519"/>
          </a:xfrm>
          <a:prstGeom prst="rect">
            <a:avLst/>
          </a:prstGeom>
          <a:noFill/>
          <a:ln w="0">
            <a:noFill/>
          </a:ln>
        </p:spPr>
        <p:txBody>
          <a:bodyPr>
            <a:noAutofit/>
          </a:body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Offline invigilated collection is authoritative.</a:t>
            </a:r>
          </a:p>
        </p:txBody>
      </p:sp>
      <p:sp>
        <p:nvSpPr>
          <p:cNvPr id="6" name="">
            <a:extLst>
              <a:ext uri="{FF2B5EF4-FFF2-40B4-BE49-F238E27FC236}">
                <ns2:creationId id="{33384160-5DA6-4034-AEFC-0D159FBA85F5}"/>
              </a:ext>
            </a:extLst>
          </p:cNvPr>
          <p:cNvSpPr>
            <a:spLocks noGrp="1"/>
          </p:cNvSpPr>
          <p:nvPr/>
        </p:nvSpPr>
        <p:spPr>
          <a:xfrm>
            <a:off x="590550" y="2521744"/>
            <a:ext cx="619125" cy="571500"/>
          </a:xfrm>
          <a:prstGeom prst="rect">
            <a:avLst/>
          </a:prstGeom>
          <a:noFill/>
          <a:ln w="0">
            <a:noFill/>
          </a:ln>
        </p:spPr>
        <p:txBody>
          <a:bodyPr>
            <a:noAutofit/>
          </a:bodyPr>
          <a:lstStyle/>
          <a:p>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a:ext uri="{FF2B5EF4-FFF2-40B4-BE49-F238E27FC236}">
                <ns2:creationId id="{F734F16E-558C-47F3-86C2-BAE7BDE80ECC}"/>
              </a:ext>
            </a:extLst>
          </p:cNvPr>
          <p:cNvSpPr>
            <a:spLocks noGrp="1"/>
          </p:cNvSpPr>
          <p:nvPr/>
        </p:nvSpPr>
        <p:spPr>
          <a:xfrm>
            <a:off x="1381125" y="2521744"/>
            <a:ext cx="10096500" cy="721519"/>
          </a:xfrm>
          <a:prstGeom prst="rect">
            <a:avLst/>
          </a:prstGeom>
          <a:noFill/>
          <a:ln w="0">
            <a:noFill/>
          </a:ln>
        </p:spPr>
        <p:txBody>
          <a:bodyPr>
            <a:noAutofit/>
          </a:body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Google upload is a later transport step.</a:t>
            </a:r>
          </a:p>
        </p:txBody>
      </p:sp>
      <p:sp>
        <p:nvSpPr>
          <p:cNvPr id="8" name="">
            <a:extLst>
              <a:ext uri="{FF2B5EF4-FFF2-40B4-BE49-F238E27FC236}">
                <ns2:creationId id="{DB9A7D52-0020-4410-9F05-EE4F9C14DCA9}"/>
              </a:ext>
            </a:extLst>
          </p:cNvPr>
          <p:cNvSpPr>
            <a:spLocks noGrp="1"/>
          </p:cNvSpPr>
          <p:nvPr/>
        </p:nvSpPr>
        <p:spPr>
          <a:xfrm>
            <a:off x="590550" y="3319463"/>
            <a:ext cx="619125" cy="571500"/>
          </a:xfrm>
          <a:prstGeom prst="rect">
            <a:avLst/>
          </a:prstGeom>
          <a:noFill/>
          <a:ln w="0">
            <a:noFill/>
          </a:ln>
        </p:spPr>
        <p:txBody>
          <a:bodyPr>
            <a:noAutofit/>
          </a:bodyPr>
          <a:lstStyle/>
          <a:p>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a:ext uri="{FF2B5EF4-FFF2-40B4-BE49-F238E27FC236}">
                <ns2:creationId id="{EB920C53-68A0-475E-BE8B-50E31102545F}"/>
              </a:ext>
            </a:extLst>
          </p:cNvPr>
          <p:cNvSpPr>
            <a:spLocks noGrp="1"/>
          </p:cNvSpPr>
          <p:nvPr/>
        </p:nvSpPr>
        <p:spPr>
          <a:xfrm>
            <a:off x="1381125" y="3319463"/>
            <a:ext cx="10096500" cy="721519"/>
          </a:xfrm>
          <a:prstGeom prst="rect">
            <a:avLst/>
          </a:prstGeom>
          <a:noFill/>
          <a:ln w="0">
            <a:noFill/>
          </a:ln>
        </p:spPr>
        <p:txBody>
          <a:bodyPr>
            <a:noAutofit/>
          </a:body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Save one notebook with Part B under My written evidence.</a:t>
            </a:r>
          </a:p>
        </p:txBody>
      </p:sp>
      <p:sp>
        <p:nvSpPr>
          <p:cNvPr id="10" name="">
            <a:extLst>
              <a:ext uri="{FF2B5EF4-FFF2-40B4-BE49-F238E27FC236}">
                <ns2:creationId id="{2D8FE65E-46B5-468E-A688-4E1232FF9723}"/>
              </a:ext>
            </a:extLst>
          </p:cNvPr>
          <p:cNvSpPr>
            <a:spLocks noGrp="1"/>
          </p:cNvSpPr>
          <p:nvPr/>
        </p:nvSpPr>
        <p:spPr>
          <a:xfrm>
            <a:off x="590550" y="4117181"/>
            <a:ext cx="619125" cy="571500"/>
          </a:xfrm>
          <a:prstGeom prst="rect">
            <a:avLst/>
          </a:prstGeom>
          <a:noFill/>
          <a:ln w="0">
            <a:noFill/>
          </a:ln>
        </p:spPr>
        <p:txBody>
          <a:bodyPr>
            <a:noAutofit/>
          </a:bodyPr>
          <a:lstStyle/>
          <a:p>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a:ext uri="{FF2B5EF4-FFF2-40B4-BE49-F238E27FC236}">
                <ns2:creationId id="{2C2867C9-E6E7-4887-B76B-C89E3016BE03}"/>
              </a:ext>
            </a:extLst>
          </p:cNvPr>
          <p:cNvSpPr>
            <a:spLocks noGrp="1"/>
          </p:cNvSpPr>
          <p:nvPr/>
        </p:nvSpPr>
        <p:spPr>
          <a:xfrm>
            <a:off x="1381125" y="4117181"/>
            <a:ext cx="10096500" cy="721519"/>
          </a:xfrm>
          <a:prstGeom prst="rect">
            <a:avLst/>
          </a:prstGeom>
          <a:noFill/>
          <a:ln w="0">
            <a:noFill/>
          </a:ln>
        </p:spPr>
        <p:txBody>
          <a:bodyPr>
            <a:noAutofit/>
          </a:body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No internet, messaging or AI during the test.</a:t>
            </a:r>
          </a:p>
        </p:txBody>
      </p:sp>
      <p:sp>
        <p:nvSpPr>
          <p:cNvPr id="12" name="">
            <a:extLst>
              <a:ext uri="{FF2B5EF4-FFF2-40B4-BE49-F238E27FC236}">
                <ns2:creationId id="{68199783-EC14-41B2-8C26-6AA0D307442A}"/>
              </a:ext>
            </a:extLst>
          </p:cNvPr>
          <p:cNvSpPr>
            <a:spLocks noGrp="1"/>
          </p:cNvSpPr>
          <p:nvPr/>
        </p:nvSpPr>
        <p:spPr>
          <a:xfrm>
            <a:off x="590550" y="5143500"/>
            <a:ext cx="11010900" cy="657225"/>
          </a:xfrm>
          <a:prstGeom prst="rect">
            <a:avLst/>
          </a:prstGeom>
          <a:solidFill>
            <a:srgbClr val="E5F1EE"/>
          </a:solidFill>
          <a:ln w="0">
            <a:noFill/>
          </a:ln>
        </p:spPr>
      </p:sp>
      <p:sp>
        <p:nvSpPr>
          <p:cNvPr id="13" name="">
            <a:extLst>
              <a:ext uri="{FF2B5EF4-FFF2-40B4-BE49-F238E27FC236}">
                <ns2:creationId id="{339B1CAC-3D4B-49B8-B255-83105FF67DDB}"/>
              </a:ext>
            </a:extLst>
          </p:cNvPr>
          <p:cNvSpPr>
            <a:spLocks noGrp="1"/>
          </p:cNvSpPr>
          <p:nvPr/>
        </p:nvSpPr>
        <p:spPr>
          <a:xfrm>
            <a:off x="800100" y="5267325"/>
            <a:ext cx="10572750" cy="457200"/>
          </a:xfrm>
          <a:prstGeom prst="rect">
            <a:avLst/>
          </a:prstGeom>
          <a:noFill/>
          <a:ln w="0">
            <a:noFill/>
          </a:ln>
        </p:spPr>
        <p:txBody>
          <a:bodyPr>
            <a:noAutofit/>
          </a:bodyPr>
          <a:lstStyle/>
          <a:p>
            <a:pPr>
              <a:defRPr sz="2250" b="1">
                <a:solidFill>
                  <a:srgbClr val="2E7D6F"/>
                </a:solidFill>
                <a:latin typeface="Calibri"/>
                <a:ea typeface="Calibri"/>
                <a:cs typeface="Calibri"/>
              </a:defRPr>
            </a:pPr>
            <a:r>
              <a:rPr sz="2250" b="1">
                <a:solidFill>
                  <a:srgbClr val="2E7D6F"/>
                </a:solidFill>
                <a:latin typeface="Calibri"/>
                <a:ea typeface="Calibri"/>
                <a:cs typeface="Calibri"/>
                <a:hlinkClick r:id="R8648645d8d0f4345"/>
              </a:rPr>
              <a:t>Open TEST2 assignment form</a:t>
            </a:r>
          </a:p>
        </p:txBody>
      </p:sp>
      <p:sp>
        <p:nvSpPr>
          <p:cNvPr id="14" name="">
            <a:extLst>
              <a:ext uri="{FF2B5EF4-FFF2-40B4-BE49-F238E27FC236}">
                <ns2:creationId id="{C2D2393C-6C19-435B-ADFF-2923375A44DD}"/>
              </a:ext>
            </a:extLst>
          </p:cNvPr>
          <p:cNvSpPr>
            <a:spLocks noGrp="1"/>
          </p:cNvSpPr>
          <p:nvPr/>
        </p:nvSpPr>
        <p:spPr>
          <a:xfrm>
            <a:off x="685800" y="5972175"/>
            <a:ext cx="10668000" cy="304800"/>
          </a:xfrm>
          <a:prstGeom prst="rect">
            <a:avLst/>
          </a:prstGeom>
          <a:noFill/>
          <a:ln w="0">
            <a:noFill/>
          </a:ln>
        </p:spPr>
        <p:txBody>
          <a:bodyPr>
            <a:noAutofit/>
          </a:bodyPr>
          <a:lstStyle/>
          <a:p>
            <a:pPr>
              <a:defRPr sz="1275" b="0">
                <a:solidFill>
                  <a:srgbClr val="6B7A8A"/>
                </a:solidFill>
                <a:latin typeface="Calibri"/>
                <a:ea typeface="Calibri"/>
                <a:cs typeface="Calibri"/>
              </a:defRPr>
            </a:pPr>
            <a:r>
              <a:rPr sz="1275" b="0">
                <a:solidFill>
                  <a:srgbClr val="6B7A8A"/>
                </a:solidFill>
                <a:latin typeface="Calibri"/>
                <a:ea typeface="Calibri"/>
                <a:cs typeface="Calibri"/>
              </a:rPr>
              <a:t>https://docs.google.com/forms/d/e/1FAIpQLSdvVxHeeW8LiNgjsQeqqFnAYSBPBxJjBkBuAKSj1gAQ4gVHkQ/viewform</a:t>
            </a:r>
          </a:p>
        </p:txBody>
      </p:sp>
      <p:sp>
        <p:nvSpPr>
          <p:cNvPr id="15" name="">
            <a:extLst>
              <a:ext uri="{FF2B5EF4-FFF2-40B4-BE49-F238E27FC236}">
                <ns2:creationId id="{47FB7E2E-F9CC-4BDB-AD66-A7FDD8A4DB73}"/>
              </a:ext>
            </a:extLst>
          </p:cNvPr>
          <p:cNvSpPr>
            <a:spLocks noGrp="1"/>
          </p:cNvSpPr>
          <p:nvPr/>
        </p:nvSpPr>
        <p:spPr>
          <a:xfrm>
            <a:off x="590550" y="6524625"/>
            <a:ext cx="10810875" cy="219075"/>
          </a:xfrm>
          <a:prstGeom prst="rect">
            <a:avLst/>
          </a:prstGeom>
          <a:noFill/>
          <a:ln w="0">
            <a:noFill/>
          </a:ln>
        </p:spPr>
        <p:txBody>
          <a:bodyPr>
            <a:noAutofit/>
          </a:bodyPr>
          <a:lstStyle/>
          <a:p>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22</a:t>
            </a:r>
          </a:p>
        </p:txBody>
      </p:sp>
    </p:spTree>
    <p:extLst>
      <p:ext uri="{BB962C8B-B14F-4D97-AF65-F5344CB8AC3E}">
        <ns4:creationId val="274418824"/>
      </p:ext>
    </p:extLst>
  </p:cSld>
</p:sld>
</file>

<file path=ppt/slides/slide23.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E32D829-3234-47F9-831E-C425ECB8336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INDIVIDUAL EXIT CHECK</a:t>
            </a:r>
          </a:p>
        </p:txBody>
      </p:sp>
      <p:sp>
        <p:nvSpPr>
          <p:cNvPr id="2" name="">
            <a:extLst xmlns:a="http://schemas.openxmlformats.org/drawingml/2006/main">
              <a:ext uri="{FF2B5EF4-FFF2-40B4-BE49-F238E27FC236}">
                <a16:creationId xmlns:a16="http://schemas.microsoft.com/office/drawing/2014/main" id="{91C04A76-9318-4DD9-B539-792A243FCCD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Before you leave</a:t>
            </a:r>
          </a:p>
        </p:txBody>
      </p:sp>
      <p:sp>
        <p:nvSpPr>
          <p:cNvPr id="3" name="">
            <a:extLst xmlns:a="http://schemas.openxmlformats.org/drawingml/2006/main">
              <a:ext uri="{FF2B5EF4-FFF2-40B4-BE49-F238E27FC236}">
                <a16:creationId xmlns:a16="http://schemas.microsoft.com/office/drawing/2014/main" id="{5E9A0B46-0170-4554-95D3-E067F77EFB23}"/>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EXPLAIN IT</a:t>
            </a:r>
          </a:p>
        </p:txBody>
      </p:sp>
      <p:sp>
        <p:nvSpPr>
          <p:cNvPr id="4" name="">
            <a:extLst xmlns:a="http://schemas.openxmlformats.org/drawingml/2006/main">
              <a:ext uri="{FF2B5EF4-FFF2-40B4-BE49-F238E27FC236}">
                <a16:creationId xmlns:a16="http://schemas.microsoft.com/office/drawing/2014/main" id="{525EF7DE-E575-4675-B3AD-CECF5CC20804}"/>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You can explain training-only preprocessing and locate your saved evidence.</a:t>
            </a:r>
          </a:p>
          <a:p xmlns:a="http://schemas.openxmlformats.org/drawingml/2006/main">
            <a:r>
              <a:t/>
            </a:r>
          </a:p>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Save your work and check the required submission files.</a:t>
            </a:r>
          </a:p>
        </p:txBody>
      </p:sp>
      <p:sp>
        <p:nvSpPr>
          <p:cNvPr id="5" name="">
            <a:extLst xmlns:a="http://schemas.openxmlformats.org/drawingml/2006/main">
              <a:ext uri="{FF2B5EF4-FFF2-40B4-BE49-F238E27FC236}">
                <a16:creationId xmlns:a16="http://schemas.microsoft.com/office/drawing/2014/main" id="{69687093-7D61-4A42-9F6D-4C0A263E4B58}"/>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Point to your evidence. Save your work.</a:t>
            </a:r>
          </a:p>
        </p:txBody>
      </p:sp>
      <p:sp>
        <p:nvSpPr>
          <p:cNvPr id="6" name="">
            <a:extLst xmlns:a="http://schemas.openxmlformats.org/drawingml/2006/main">
              <a:ext uri="{FF2B5EF4-FFF2-40B4-BE49-F238E27FC236}">
                <a16:creationId xmlns:a16="http://schemas.microsoft.com/office/drawing/2014/main" id="{910ECF88-157C-48FD-B420-78DFB5F0D4D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CML3112   Week 14   23</a:t>
            </a:r>
          </a:p>
        </p:txBody>
      </p:sp>
    </p:spTree>
    <p:extLst>
      <p:ext uri="{BB962C8B-B14F-4D97-AF65-F5344CB8AC3E}">
        <p14:creationId xmlns:p14="http://schemas.microsoft.com/office/powerpoint/2010/main" val="10509880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2026-09-16T11:09:11.4680000Z</dcterms:created>
  <dcterms:modified xsi:type="dcterms:W3CDTF">2026-09-16T11:09:11.4680000Z</dcterms:modified>
</coreProperties>
</file>