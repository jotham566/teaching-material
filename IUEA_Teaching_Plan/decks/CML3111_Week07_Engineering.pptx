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99190c341aa4535" /><Relationship Type="http://schemas.openxmlformats.org/officeDocument/2006/relationships/extended-properties" Target="/docProps/app.xml" Id="Rcd5c361f1ea64afd" /><Relationship Type="http://schemas.openxmlformats.org/officeDocument/2006/relationships/officeDocument" Target="/ppt/presentation.xml" Id="R225ece5964a641d9" /></Relationships>
</file>

<file path=ppt/presentation.xml><?xml version="1.0" encoding="utf-8"?>
<p:presentation xmlns:p="http://schemas.openxmlformats.org/presentationml/2006/main">
  <p:sldMasterIdLst>
    <p:sldMasterId xmlns:r="http://schemas.openxmlformats.org/officeDocument/2006/relationships" id="2147483648" r:id="Re3601049896645a2"/>
  </p:sldMasterIdLst>
  <p:notesMasterIdLst>
    <p:notesMasterId xmlns:r="http://schemas.openxmlformats.org/officeDocument/2006/relationships" r:id="R3e2df4f249b147fc"/>
  </p:notesMasterIdLst>
  <p:sldIdLst>
    <p:sldId xmlns:r="http://schemas.openxmlformats.org/officeDocument/2006/relationships" id="256" r:id="R430efe0f8b8a4ada"/>
    <p:sldId xmlns:r="http://schemas.openxmlformats.org/officeDocument/2006/relationships" id="257" r:id="Rb757642ed4ef44ae"/>
    <p:sldId xmlns:r="http://schemas.openxmlformats.org/officeDocument/2006/relationships" id="258" r:id="R16b19245d70047e0"/>
    <p:sldId xmlns:r="http://schemas.openxmlformats.org/officeDocument/2006/relationships" id="259" r:id="R7a390bd324b943a6"/>
    <p:sldId xmlns:r="http://schemas.openxmlformats.org/officeDocument/2006/relationships" id="260" r:id="Re1e8895a0a7543fb"/>
    <p:sldId xmlns:r="http://schemas.openxmlformats.org/officeDocument/2006/relationships" id="261" r:id="R4e60e47956a547ad"/>
    <p:sldId xmlns:r="http://schemas.openxmlformats.org/officeDocument/2006/relationships" id="262" r:id="Rf4a763691b904358"/>
    <p:sldId xmlns:r="http://schemas.openxmlformats.org/officeDocument/2006/relationships" id="263" r:id="R895e6dda074c4cef"/>
    <p:sldId xmlns:r="http://schemas.openxmlformats.org/officeDocument/2006/relationships" id="264" r:id="R13acaaf88b4246d6"/>
    <p:sldId xmlns:r="http://schemas.openxmlformats.org/officeDocument/2006/relationships" id="265" r:id="R08f5bf18d6334844"/>
    <p:sldId xmlns:r="http://schemas.openxmlformats.org/officeDocument/2006/relationships" id="266" r:id="Rc06e310c646c4473"/>
    <p:sldId xmlns:r="http://schemas.openxmlformats.org/officeDocument/2006/relationships" id="267" r:id="R909381647c164634"/>
    <p:sldId xmlns:r="http://schemas.openxmlformats.org/officeDocument/2006/relationships" id="268" r:id="R0812ac89aaba45cb"/>
    <p:sldId xmlns:r="http://schemas.openxmlformats.org/officeDocument/2006/relationships" id="269" r:id="Rb8eec7c29f3a49f6"/>
    <p:sldId xmlns:r="http://schemas.openxmlformats.org/officeDocument/2006/relationships" id="270" r:id="Rc29e0852b1eb4d3a"/>
    <p:sldId xmlns:r="http://schemas.openxmlformats.org/officeDocument/2006/relationships" id="271" r:id="R68019c4788e54cb9"/>
    <p:sldId xmlns:r="http://schemas.openxmlformats.org/officeDocument/2006/relationships" id="272" r:id="R288271ee90dc4c4d"/>
    <p:sldId xmlns:r="http://schemas.openxmlformats.org/officeDocument/2006/relationships" id="273" r:id="Ra4db1eea743e418b"/>
    <p:sldId xmlns:r="http://schemas.openxmlformats.org/officeDocument/2006/relationships" id="274" r:id="Ra706e14c6d2442dd"/>
    <p:sldId xmlns:r="http://schemas.openxmlformats.org/officeDocument/2006/relationships" id="275" r:id="Rd329b376827c47a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7fb7d28f9514df6" /><Relationship Type="http://schemas.openxmlformats.org/officeDocument/2006/relationships/slideMaster" Target="/ppt/slideMasters/slideMaster1.xml" Id="Re3601049896645a2" /><Relationship Type="http://schemas.openxmlformats.org/officeDocument/2006/relationships/notesMaster" Target="/ppt/notesMasters/notesMaster1.xml" Id="R3e2df4f249b147fc" /><Relationship Type="http://schemas.openxmlformats.org/officeDocument/2006/relationships/presProps" Target="/ppt/presProps.xml" Id="Rae97b053c882479f" /><Relationship Type="http://schemas.openxmlformats.org/officeDocument/2006/relationships/tableStyles" Target="/ppt/tableStyles.xml" Id="R3e91608c5d1b4773" /><Relationship Type="http://schemas.openxmlformats.org/officeDocument/2006/relationships/slide" Target="/ppt/slides/slide1.xml" Id="R430efe0f8b8a4ada" /><Relationship Type="http://schemas.openxmlformats.org/officeDocument/2006/relationships/slide" Target="/ppt/slides/slide2.xml" Id="Rb757642ed4ef44ae" /><Relationship Type="http://schemas.openxmlformats.org/officeDocument/2006/relationships/slide" Target="/ppt/slides/slide3.xml" Id="R16b19245d70047e0" /><Relationship Type="http://schemas.openxmlformats.org/officeDocument/2006/relationships/slide" Target="/ppt/slides/slide4.xml" Id="R7a390bd324b943a6" /><Relationship Type="http://schemas.openxmlformats.org/officeDocument/2006/relationships/slide" Target="/ppt/slides/slide5.xml" Id="Re1e8895a0a7543fb" /><Relationship Type="http://schemas.openxmlformats.org/officeDocument/2006/relationships/slide" Target="/ppt/slides/slide6.xml" Id="R4e60e47956a547ad" /><Relationship Type="http://schemas.openxmlformats.org/officeDocument/2006/relationships/slide" Target="/ppt/slides/slide7.xml" Id="Rf4a763691b904358" /><Relationship Type="http://schemas.openxmlformats.org/officeDocument/2006/relationships/slide" Target="/ppt/slides/slide8.xml" Id="R895e6dda074c4cef" /><Relationship Type="http://schemas.openxmlformats.org/officeDocument/2006/relationships/slide" Target="/ppt/slides/slide9.xml" Id="R13acaaf88b4246d6" /><Relationship Type="http://schemas.openxmlformats.org/officeDocument/2006/relationships/slide" Target="/ppt/slides/slide10.xml" Id="R08f5bf18d6334844" /><Relationship Type="http://schemas.openxmlformats.org/officeDocument/2006/relationships/slide" Target="/ppt/slides/slide11.xml" Id="Rc06e310c646c4473" /><Relationship Type="http://schemas.openxmlformats.org/officeDocument/2006/relationships/slide" Target="/ppt/slides/slide12.xml" Id="R909381647c164634" /><Relationship Type="http://schemas.openxmlformats.org/officeDocument/2006/relationships/slide" Target="/ppt/slides/slide13.xml" Id="R0812ac89aaba45cb" /><Relationship Type="http://schemas.openxmlformats.org/officeDocument/2006/relationships/slide" Target="/ppt/slides/slide14.xml" Id="Rb8eec7c29f3a49f6" /><Relationship Type="http://schemas.openxmlformats.org/officeDocument/2006/relationships/slide" Target="/ppt/slides/slide15.xml" Id="Rc29e0852b1eb4d3a" /><Relationship Type="http://schemas.openxmlformats.org/officeDocument/2006/relationships/slide" Target="/ppt/slides/slide16.xml" Id="R68019c4788e54cb9" /><Relationship Type="http://schemas.openxmlformats.org/officeDocument/2006/relationships/slide" Target="/ppt/slides/slide17.xml" Id="R288271ee90dc4c4d" /><Relationship Type="http://schemas.openxmlformats.org/officeDocument/2006/relationships/slide" Target="/ppt/slides/slide18.xml" Id="Ra4db1eea743e418b" /><Relationship Type="http://schemas.openxmlformats.org/officeDocument/2006/relationships/slide" Target="/ppt/slides/slide19.xml" Id="Ra706e14c6d2442dd" /><Relationship Type="http://schemas.openxmlformats.org/officeDocument/2006/relationships/slide" Target="/ppt/slides/slide20.xml" Id="Rd329b376827c47a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b6fa57dd762456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e6f4ec3c7a644ed" /><Relationship Type="http://schemas.openxmlformats.org/officeDocument/2006/relationships/notesMaster" Target="/ppt/notesMasters/notesMaster1.xml" Id="R1cb050b15ff6430c" /></Relationships>
</file>

<file path=ppt/notesSlides/_rels/notesSlide2.xml.rels>&#65279;<?xml version="1.0" encoding="utf-8"?><Relationships xmlns="http://schemas.openxmlformats.org/package/2006/relationships"><Relationship Type="http://schemas.openxmlformats.org/officeDocument/2006/relationships/slide" Target="/ppt/slides/slide2.xml" Id="R078e6fdcb5134cc9" /><Relationship Type="http://schemas.openxmlformats.org/officeDocument/2006/relationships/notesMaster" Target="/ppt/notesMasters/notesMaster1.xml" Id="Rf39587eadfc74208" /></Relationships>
</file>

<file path=ppt/notesSlides/_rels/notesSlide3.xml.rels>&#65279;<?xml version="1.0" encoding="utf-8"?><Relationships xmlns="http://schemas.openxmlformats.org/package/2006/relationships"><Relationship Type="http://schemas.openxmlformats.org/officeDocument/2006/relationships/slide" Target="/ppt/slides/slide3.xml" Id="R4b62da199d19487b" /><Relationship Type="http://schemas.openxmlformats.org/officeDocument/2006/relationships/notesMaster" Target="/ppt/notesMasters/notesMaster1.xml" Id="Ra74ef2d7764842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aaa96c4930f34e94" /><Relationship Type="http://schemas.openxmlformats.org/officeDocument/2006/relationships/notesMaster" Target="/ppt/notesMasters/notesMaster1.xml" Id="Rcb0ea219b2ad4a72" /></Relationships>
</file>

<file path=ppt/notesSlides/_rels/notesSlide5.xml.rels>&#65279;<?xml version="1.0" encoding="utf-8"?><Relationships xmlns="http://schemas.openxmlformats.org/package/2006/relationships"><Relationship Type="http://schemas.openxmlformats.org/officeDocument/2006/relationships/slide" Target="/ppt/slides/slide5.xml" Id="R0bf96607851c4181" /><Relationship Type="http://schemas.openxmlformats.org/officeDocument/2006/relationships/notesMaster" Target="/ppt/notesMasters/notesMaster1.xml" Id="R0e117fb224c94e9a" /></Relationships>
</file>

<file path=ppt/notesSlides/_rels/notesSlide6.xml.rels>&#65279;<?xml version="1.0" encoding="utf-8"?><Relationships xmlns="http://schemas.openxmlformats.org/package/2006/relationships"><Relationship Type="http://schemas.openxmlformats.org/officeDocument/2006/relationships/slide" Target="/ppt/slides/slide6.xml" Id="R1b32ad522635453d" /><Relationship Type="http://schemas.openxmlformats.org/officeDocument/2006/relationships/notesMaster" Target="/ppt/notesMasters/notesMaster1.xml" Id="R099d81d37d034ca1" /></Relationships>
</file>

<file path=ppt/notesSlides/_rels/notesSlide7.xml.rels>&#65279;<?xml version="1.0" encoding="utf-8"?><Relationships xmlns="http://schemas.openxmlformats.org/package/2006/relationships"><Relationship Type="http://schemas.openxmlformats.org/officeDocument/2006/relationships/slide" Target="/ppt/slides/slide7.xml" Id="Rb5b7e91bef16439a" /><Relationship Type="http://schemas.openxmlformats.org/officeDocument/2006/relationships/notesMaster" Target="/ppt/notesMasters/notesMaster1.xml" Id="R16d8f46913e840df" /></Relationships>
</file>

<file path=ppt/notesSlides/_rels/notesSlide8.xml.rels>&#65279;<?xml version="1.0" encoding="utf-8"?><Relationships xmlns="http://schemas.openxmlformats.org/package/2006/relationships"><Relationship Type="http://schemas.openxmlformats.org/officeDocument/2006/relationships/slide" Target="/ppt/slides/slide8.xml" Id="Rb08be08887c4442a" /><Relationship Type="http://schemas.openxmlformats.org/officeDocument/2006/relationships/notesMaster" Target="/ppt/notesMasters/notesMaster1.xml" Id="R928b87b6f0db4b05" /></Relationships>
</file>

<file path=ppt/notesSlides/_rels/notesSlide9.xml.rels>&#65279;<?xml version="1.0" encoding="utf-8"?><Relationships xmlns="http://schemas.openxmlformats.org/package/2006/relationships"><Relationship Type="http://schemas.openxmlformats.org/officeDocument/2006/relationships/slide" Target="/ppt/slides/slide9.xml" Id="R520173a84cfc4c00" /><Relationship Type="http://schemas.openxmlformats.org/officeDocument/2006/relationships/notesMaster" Target="/ppt/notesMasters/notesMaster1.xml" Id="Rf6722485250b4a3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fb8a7d6e6d54b20" /><Relationship Type="http://schemas.openxmlformats.org/officeDocument/2006/relationships/notesMaster" Target="/ppt/notesMasters/notesMaster1.xml" Id="Rb942c48dddfa4fd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d9c1dae9e9140df" /><Relationship Type="http://schemas.openxmlformats.org/officeDocument/2006/relationships/notesMaster" Target="/ppt/notesMasters/notesMaster1.xml" Id="R8a580d98f8854b4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756ee17b9494ce3" /><Relationship Type="http://schemas.openxmlformats.org/officeDocument/2006/relationships/notesMaster" Target="/ppt/notesMasters/notesMaster1.xml" Id="R4c4dd5de0dd645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4e4a0e6d36b46dc" /><Relationship Type="http://schemas.openxmlformats.org/officeDocument/2006/relationships/notesMaster" Target="/ppt/notesMasters/notesMaster1.xml" Id="Rcd175bc237af458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89cea33b96b44e5" /><Relationship Type="http://schemas.openxmlformats.org/officeDocument/2006/relationships/notesMaster" Target="/ppt/notesMasters/notesMaster1.xml" Id="R24ec27dc23e4485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7797027f5814527" /><Relationship Type="http://schemas.openxmlformats.org/officeDocument/2006/relationships/notesMaster" Target="/ppt/notesMasters/notesMaster1.xml" Id="Rd0fbea837fd547c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bcbe2b4aef6489a" /><Relationship Type="http://schemas.openxmlformats.org/officeDocument/2006/relationships/notesMaster" Target="/ppt/notesMasters/notesMaster1.xml" Id="R82431fa41604445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d4ce4e4a8464c2e" /><Relationship Type="http://schemas.openxmlformats.org/officeDocument/2006/relationships/notesMaster" Target="/ppt/notesMasters/notesMaster1.xml" Id="R112c5d93f223470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fc8a6ce31984533" /><Relationship Type="http://schemas.openxmlformats.org/officeDocument/2006/relationships/notesMaster" Target="/ppt/notesMasters/notesMaster1.xml" Id="R20db09fe1d4a4ca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5dc1e37141644b8" /><Relationship Type="http://schemas.openxmlformats.org/officeDocument/2006/relationships/notesMaster" Target="/ppt/notesMasters/notesMaster1.xml" Id="R8083830ff72944a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d13fda8c82d44a3" /><Relationship Type="http://schemas.openxmlformats.org/officeDocument/2006/relationships/notesMaster" Target="/ppt/notesMasters/notesMaster1.xml" Id="Rf8a285d250534ee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Practical Test 1</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Practical Test 1</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Preparing for Practical Test 1. Explain why this example is needed before running it.</a:t>
            </a:r>
          </a:p>
          <a:p xmlns:a="http://schemas.openxmlformats.org/drawingml/2006/main">
            <a:r>
              <a:t/>
            </a:r>
          </a:p>
          <a:p xmlns:a="http://schemas.openxmlformats.org/drawingml/2006/main">
            <a:r>
              <a:t>EXPLAIN</a:t>
            </a:r>
          </a:p>
          <a:p xmlns:a="http://schemas.openxmlformats.org/drawingml/2006/main">
            <a:r>
              <a:t>Rehearse saving and reopening the required files.</a:t>
            </a:r>
          </a:p>
          <a:p xmlns:a="http://schemas.openxmlformats.org/drawingml/2006/main">
            <a:r>
              <a:t/>
            </a:r>
          </a:p>
          <a:p xmlns:a="http://schemas.openxmlformats.org/drawingml/2006/main">
            <a:r>
              <a:t>Check the published test rules before the session.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Preparing for Practical Test 1.</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Can you open the provided notebook and data on the prepared lab computer without internet?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Rehearse before test day.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Rehearse before test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Rehearse before test day</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Use the separate practice notebook before the timed session.</a:t>
            </a:r>
          </a:p>
          <a:p xmlns:a="http://schemas.openxmlformats.org/drawingml/2006/main">
            <a:r>
              <a:t/>
            </a:r>
          </a:p>
          <a:p xmlns:a="http://schemas.openxmlformats.org/drawingml/2006/main">
            <a:r>
              <a:t>Open the supplied data and run a familiar calculation.</a:t>
            </a:r>
          </a:p>
          <a:p xmlns:a="http://schemas.openxmlformats.org/drawingml/2006/main">
            <a:r>
              <a:t/>
            </a:r>
          </a:p>
          <a:p xmlns:a="http://schemas.openxmlformats.org/drawingml/2006/main">
            <a:r>
              <a:t>The test packet and permitted resources are issued by the lecturer.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Rehearse before test day</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Save the complete notebook.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Save the complete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Save the complete notebook</a:t>
            </a:r>
          </a:p>
          <a:p xmlns:a="http://schemas.openxmlformats.org/drawingml/2006/main">
            <a:r>
              <a:t/>
            </a:r>
          </a:p>
          <a:p xmlns:a="http://schemas.openxmlformats.org/drawingml/2006/main">
            <a:r>
              <a:t>CONNECT</a:t>
            </a:r>
          </a:p>
          <a:p xmlns:a="http://schemas.openxmlformats.org/drawingml/2006/main">
            <a:r>
              <a:t>Build on Rehearse before test day. Explain why this example is needed before running it.</a:t>
            </a:r>
          </a:p>
          <a:p xmlns:a="http://schemas.openxmlformats.org/drawingml/2006/main">
            <a:r>
              <a:t/>
            </a:r>
          </a:p>
          <a:p xmlns:a="http://schemas.openxmlformats.org/drawingml/2006/main">
            <a:r>
              <a:t>EXPLAIN</a:t>
            </a:r>
          </a:p>
          <a:p xmlns:a="http://schemas.openxmlformats.org/drawingml/2006/main">
            <a:r>
              <a:t>Type Part B under My written evidence in the notebook.</a:t>
            </a:r>
          </a:p>
          <a:p xmlns:a="http://schemas.openxmlformats.org/drawingml/2006/main">
            <a:r>
              <a:t/>
            </a:r>
          </a:p>
          <a:p xmlns:a="http://schemas.openxmlformats.org/drawingml/2006/main">
            <a:r>
              <a:t>Locate the complete notebook in the designated local folder.</a:t>
            </a:r>
          </a:p>
          <a:p xmlns:a="http://schemas.openxmlformats.org/drawingml/2006/main">
            <a:r>
              <a:t/>
            </a:r>
          </a:p>
          <a:p xmlns:a="http://schemas.openxmlformats.org/drawingml/2006/main">
            <a:r>
              <a:t>Reopen it to check that code and written answers were saved.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Save the complete notebook</a:t>
            </a:r>
          </a:p>
          <a:p xmlns:a="http://schemas.openxmlformats.org/drawingml/2006/main">
            <a:r>
              <a:t/>
            </a:r>
          </a:p>
          <a:p xmlns:a="http://schemas.openxmlformats.org/drawingml/2006/main">
            <a:r>
              <a:t>CONNECT</a:t>
            </a:r>
          </a:p>
          <a:p xmlns:a="http://schemas.openxmlformats.org/drawingml/2006/main">
            <a:r>
              <a:t>Build on the preceding slide: Rehearse before test day.</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Follow the published test procedure.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Follow the published test procedure.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Follow the published test procedure</a:t>
            </a:r>
          </a:p>
          <a:p xmlns:a="http://schemas.openxmlformats.org/drawingml/2006/main">
            <a:r>
              <a:t/>
            </a:r>
          </a:p>
          <a:p xmlns:a="http://schemas.openxmlformats.org/drawingml/2006/main">
            <a:r>
              <a:t>CONNECT</a:t>
            </a:r>
          </a:p>
          <a:p xmlns:a="http://schemas.openxmlformats.org/drawingml/2006/main">
            <a:r>
              <a:t>Build on Save the complete notebook. Explain why this example is needed before running it.</a:t>
            </a:r>
          </a:p>
          <a:p xmlns:a="http://schemas.openxmlformats.org/drawingml/2006/main">
            <a:r>
              <a:t/>
            </a:r>
          </a:p>
          <a:p xmlns:a="http://schemas.openxmlformats.org/drawingml/2006/main">
            <a:r>
              <a:t>EXPLAIN</a:t>
            </a:r>
          </a:p>
          <a:p xmlns:a="http://schemas.openxmlformats.org/drawingml/2006/main">
            <a:r>
              <a:t>Read the briefing before starting assessed work.</a:t>
            </a:r>
          </a:p>
          <a:p xmlns:a="http://schemas.openxmlformats.org/drawingml/2006/main">
            <a:r>
              <a:t/>
            </a:r>
          </a:p>
          <a:p xmlns:a="http://schemas.openxmlformats.org/drawingml/2006/main">
            <a:r>
              <a:t>Use only the resources permitted for that part of the test.</a:t>
            </a:r>
          </a:p>
          <a:p xmlns:a="http://schemas.openxmlformats.org/drawingml/2006/main">
            <a:r>
              <a:t/>
            </a:r>
          </a:p>
          <a:p xmlns:a="http://schemas.openxmlformats.org/drawingml/2006/main">
            <a:r>
              <a:t>Report a technical failure to the invigilator immediately.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Follow the published test procedure</a:t>
            </a:r>
          </a:p>
          <a:p xmlns:a="http://schemas.openxmlformats.org/drawingml/2006/main">
            <a:r>
              <a:t/>
            </a:r>
          </a:p>
          <a:p xmlns:a="http://schemas.openxmlformats.org/drawingml/2006/main">
            <a:r>
              <a:t>CONNECT</a:t>
            </a:r>
          </a:p>
          <a:p xmlns:a="http://schemas.openxmlformats.org/drawingml/2006/main">
            <a:r>
              <a:t>Build on the preceding slide: Save the complete notebook.</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Practice before test day.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Practice before test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Practice before test day</a:t>
            </a:r>
          </a:p>
          <a:p xmlns:a="http://schemas.openxmlformats.org/drawingml/2006/main">
            <a:r>
              <a:t/>
            </a:r>
          </a:p>
          <a:p xmlns:a="http://schemas.openxmlformats.org/drawingml/2006/main">
            <a:r>
              <a:t>CONNECT</a:t>
            </a:r>
          </a:p>
          <a:p xmlns:a="http://schemas.openxmlformats.org/drawingml/2006/main">
            <a:r>
              <a:t>Build on Follow the published test procedure.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Practice before test day</a:t>
            </a:r>
          </a:p>
          <a:p xmlns:a="http://schemas.openxmlformats.org/drawingml/2006/main">
            <a:r>
              <a:t/>
            </a:r>
          </a:p>
          <a:p xmlns:a="http://schemas.openxmlformats.org/drawingml/2006/main">
            <a:r>
              <a:t>CONNECT</a:t>
            </a:r>
          </a:p>
          <a:p xmlns:a="http://schemas.openxmlformats.org/drawingml/2006/main">
            <a:r>
              <a:t>Build on the preceding slide: Follow the published test procedure.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Before the timed test.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Test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Test session</a:t>
            </a:r>
          </a:p>
          <a:p xmlns:a="http://schemas.openxmlformats.org/drawingml/2006/main">
            <a:r>
              <a:t/>
            </a:r>
          </a:p>
          <a:p xmlns:a="http://schemas.openxmlformats.org/drawingml/2006/main">
            <a:r>
              <a:t>CONNECT</a:t>
            </a:r>
          </a:p>
          <a:p xmlns:a="http://schemas.openxmlformats.org/drawingml/2006/main">
            <a:r>
              <a:t>Build on Practice before test day. Explain why this example is needed before running it.</a:t>
            </a:r>
          </a:p>
          <a:p xmlns:a="http://schemas.openxmlformats.org/drawingml/2006/main">
            <a:r>
              <a:t/>
            </a:r>
          </a:p>
          <a:p xmlns:a="http://schemas.openxmlformats.org/drawingml/2006/main">
            <a:r>
              <a:t>EXPLAIN</a:t>
            </a:r>
          </a:p>
          <a:p xmlns:a="http://schemas.openxmlformats.org/drawingml/2006/main">
            <a:r>
              <a:t>00–15 minutes: briefing and file check.</a:t>
            </a:r>
          </a:p>
          <a:p xmlns:a="http://schemas.openxmlformats.org/drawingml/2006/main">
            <a:r>
              <a:t/>
            </a:r>
          </a:p>
          <a:p xmlns:a="http://schemas.openxmlformats.org/drawingml/2006/main">
            <a:r>
              <a:t>15–135 minutes: individual practical work.</a:t>
            </a:r>
          </a:p>
          <a:p xmlns:a="http://schemas.openxmlformats.org/drawingml/2006/main">
            <a:r>
              <a:t/>
            </a:r>
          </a:p>
          <a:p xmlns:a="http://schemas.openxmlformats.org/drawingml/2006/main">
            <a:r>
              <a:t>135–160 minutes: typed offline reasoning, with code execution prohibited.</a:t>
            </a:r>
          </a:p>
          <a:p xmlns:a="http://schemas.openxmlformats.org/drawingml/2006/main">
            <a:r>
              <a:t/>
            </a:r>
          </a:p>
          <a:p xmlns:a="http://schemas.openxmlformats.org/drawingml/2006/main">
            <a:r>
              <a:t>160–180 minutes: save and hand in through invigilated offline collection.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Test session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Preparation checkpoint.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Preparation checkpoint.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Test session. Explain why this example is needed before running it.</a:t>
            </a:r>
          </a:p>
          <a:p xmlns:a="http://schemas.openxmlformats.org/drawingml/2006/main">
            <a:r>
              <a:t/>
            </a:r>
          </a:p>
          <a:p xmlns:a="http://schemas.openxmlformats.org/drawingml/2006/main">
            <a:r>
              <a:t>EXPLAIN</a:t>
            </a:r>
          </a:p>
          <a:p xmlns:a="http://schemas.openxmlformats.org/drawingml/2006/main">
            <a:r>
              <a:t>Every learner completes the offline save-and-reopen rehearsal.</a:t>
            </a:r>
          </a:p>
          <a:p xmlns:a="http://schemas.openxmlformats.org/drawingml/2006/main">
            <a:r>
              <a:t/>
            </a:r>
          </a:p>
          <a:p xmlns:a="http://schemas.openxmlformats.org/drawingml/2006/main">
            <a:r>
              <a:t>Escalate lab-access failures before the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the preceding slide: Test session.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Your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Preparation checkpoint. Explain why this example is needed before running it.</a:t>
            </a:r>
          </a:p>
          <a:p xmlns:a="http://schemas.openxmlformats.org/drawingml/2006/main">
            <a:r>
              <a:t/>
            </a:r>
          </a:p>
          <a:p xmlns:a="http://schemas.openxmlformats.org/drawingml/2006/main">
            <a:r>
              <a:t>EXPLAIN</a:t>
            </a:r>
          </a:p>
          <a:p xmlns:a="http://schemas.openxmlformats.org/drawingml/2006/main">
            <a:r>
              <a:t>Use the official TEST1 brief, interfaces and rubric.</a:t>
            </a:r>
          </a:p>
          <a:p xmlns:a="http://schemas.openxmlformats.org/drawingml/2006/main">
            <a:r>
              <a:t/>
            </a:r>
          </a:p>
          <a:p xmlns:a="http://schemas.openxmlformats.org/drawingml/2006/main">
            <a:r>
              <a:t>The assessed period has 120 practical minutes and 25 typed reasoning minutes.</a:t>
            </a:r>
          </a:p>
          <a:p xmlns:a="http://schemas.openxmlformats.org/drawingml/2006/main">
            <a:r>
              <a:t/>
            </a:r>
          </a:p>
          <a:p xmlns:a="http://schemas.openxmlformats.org/drawingml/2006/main">
            <a:r>
              <a:t>Your lecturer will issue the test packet and collection instructions.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the preceding slide: Preparation checkpoint.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a:t>
            </a:r>
          </a:p>
          <a:p xmlns:a="http://schemas.openxmlformats.org/drawingml/2006/main">
            <a:r>
              <a:t/>
            </a:r>
          </a:p>
          <a:p xmlns:a="http://schemas.openxmlformats.org/drawingml/2006/main">
            <a:r>
              <a:t>CONNECT</a:t>
            </a:r>
          </a:p>
          <a:p xmlns:a="http://schemas.openxmlformats.org/drawingml/2006/main">
            <a:r>
              <a:t>Build on Your evidence. Explain why this example is needed before running it.</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a:t>
            </a:r>
          </a:p>
          <a:p xmlns:a="http://schemas.openxmlformats.org/drawingml/2006/main">
            <a:r>
              <a:t/>
            </a:r>
          </a:p>
          <a:p xmlns:a="http://schemas.openxmlformats.org/drawingml/2006/main">
            <a:r>
              <a:t>CONNECT</a:t>
            </a:r>
          </a:p>
          <a:p xmlns:a="http://schemas.openxmlformats.org/drawingml/2006/main">
            <a:r>
              <a:t>Build on the preceding slide: Your evidence.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Explain why this example is needed before running it.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Include captions and readable written evidence in the notebook.</a:t>
            </a:r>
          </a:p>
          <a:p xmlns:a="http://schemas.openxmlformats.org/drawingml/2006/main">
            <a:r>
              <a:t/>
            </a:r>
          </a:p>
          <a:p xmlns:a="http://schemas.openxmlformats.org/drawingml/2006/main">
            <a:r>
              <a:t>Loading &amp; profiling (15.0 total): Data loaded correctly; shape, types and summary produced; the dataset is described accurately in the student's own words.</a:t>
            </a:r>
          </a:p>
          <a:p xmlns:a="http://schemas.openxmlformats.org/drawingml/2006/main">
            <a:r>
              <a:t/>
            </a:r>
          </a:p>
          <a:p xmlns:a="http://schemas.openxmlformats.org/drawingml/2006/main">
            <a:r>
              <a:t>Cleaning decisions &amp; justification (20.0 total): Defects found.</a:t>
            </a:r>
          </a:p>
          <a:p xmlns:a="http://schemas.openxmlformats.org/drawingml/2006/main">
            <a:r>
              <a:t/>
            </a:r>
          </a:p>
          <a:p xmlns:a="http://schemas.openxmlformats.org/drawingml/2006/main">
            <a:r>
              <a:t>Each handling decision stated AND justified.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Marks are for the justification - an unjustified correct fix scores roughly half.</a:t>
            </a:r>
          </a:p>
          <a:p xmlns:a="http://schemas.openxmlformats.org/drawingml/2006/main">
            <a:r>
              <a:t/>
            </a:r>
          </a:p>
          <a:p xmlns:a="http://schemas.openxmlformats.org/drawingml/2006/main">
            <a:r>
              <a:t>Visualisation (20.0 total): Three charts, each captioned with the question it answers.</a:t>
            </a:r>
          </a:p>
          <a:p xmlns:a="http://schemas.openxmlformats.org/drawingml/2006/main">
            <a:r>
              <a:t/>
            </a:r>
          </a:p>
          <a:p xmlns:a="http://schemas.openxmlformats.org/drawingml/2006/main">
            <a:r>
              <a:t>Correct chart type.</a:t>
            </a:r>
          </a:p>
          <a:p xmlns:a="http://schemas.openxmlformats.org/drawingml/2006/main">
            <a:r>
              <a:t/>
            </a:r>
          </a:p>
          <a:p xmlns:a="http://schemas.openxmlformats.org/drawingml/2006/main">
            <a:r>
              <a:t>Axes labelled with units.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No decoration without purpose.</a:t>
            </a:r>
          </a:p>
          <a:p xmlns:a="http://schemas.openxmlformats.org/drawingml/2006/main">
            <a:r>
              <a:t/>
            </a:r>
          </a:p>
          <a:p xmlns:a="http://schemas.openxmlformats.org/drawingml/2006/main">
            <a:r>
              <a:t>Findings (20.0 total): Five findings, supported by evidence from the data, stated with correct magnitudes and units.</a:t>
            </a:r>
          </a:p>
          <a:p xmlns:a="http://schemas.openxmlformats.org/drawingml/2006/main">
            <a:r>
              <a:t/>
            </a:r>
          </a:p>
          <a:p xmlns:a="http://schemas.openxmlformats.org/drawingml/2006/main">
            <a:r>
              <a:t>A wrong number loses the mark even if the method was right.</a:t>
            </a:r>
          </a:p>
          <a:p xmlns:a="http://schemas.openxmlformats.org/drawingml/2006/main">
            <a:r>
              <a:t/>
            </a:r>
          </a:p>
          <a:p xmlns:a="http://schemas.openxmlformats.org/drawingml/2006/main">
            <a:r>
              <a:t>Engineering interpretation (15.0 total): One recommendation that an engineer could act on, plus a clear statement of what further data would be needed.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Clarity &amp; reproducibility (10.0 total): Notebook runs top to bottom.</a:t>
            </a:r>
          </a:p>
          <a:p xmlns:a="http://schemas.openxmlformats.org/drawingml/2006/main">
            <a:r>
              <a:t/>
            </a:r>
          </a:p>
          <a:p xmlns:a="http://schemas.openxmlformats.org/drawingml/2006/main">
            <a:r>
              <a:t>Logical order.</a:t>
            </a:r>
          </a:p>
          <a:p xmlns:a="http://schemas.openxmlformats.org/drawingml/2006/main">
            <a:r>
              <a:t/>
            </a:r>
          </a:p>
          <a:p xmlns:a="http://schemas.openxmlformats.org/drawingml/2006/main">
            <a:r>
              <a:t>Markdown explains intent.</a:t>
            </a:r>
          </a:p>
          <a:p xmlns:a="http://schemas.openxmlformats.org/drawingml/2006/main">
            <a:r>
              <a:t/>
            </a:r>
          </a:p>
          <a:p xmlns:a="http://schemas.openxmlformats.org/drawingml/2006/main">
            <a:r>
              <a:t>No dead code.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Timing and Part B</a:t>
            </a:r>
          </a:p>
          <a:p xmlns:a="http://schemas.openxmlformats.org/drawingml/2006/main">
            <a:r>
              <a:t/>
            </a:r>
          </a:p>
          <a:p xmlns:a="http://schemas.openxmlformats.org/drawingml/2006/main">
            <a:r>
              <a:t>15 minutes setup, 120 minutes practical, 25 minutes typed offline reasoning with code execution prohibited, 20 minutes collection.</a:t>
            </a:r>
          </a:p>
          <a:p xmlns:a="http://schemas.openxmlformats.org/drawingml/2006/main">
            <a:r>
              <a:t/>
            </a:r>
          </a:p>
          <a:p xmlns:a="http://schemas.openxmlformats.org/drawingml/2006/main">
            <a:r>
              <a:t>No internet, messaging or AI.</a:t>
            </a:r>
          </a:p>
          <a:p xmlns:a="http://schemas.openxmlformats.org/drawingml/2006/main">
            <a:r>
              <a:t/>
            </a:r>
          </a:p>
          <a:p xmlns:a="http://schemas.openxmlformats.org/drawingml/2006/main">
            <a:r>
              <a:t>Answer: Why your main cleaning/model choice?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What can your chart/metric not establish?</a:t>
            </a:r>
          </a:p>
          <a:p xmlns:a="http://schemas.openxmlformats.org/drawingml/2006/main">
            <a:r>
              <a:t/>
            </a:r>
          </a:p>
          <a:p xmlns:a="http://schemas.openxmlformats.org/drawingml/2006/main">
            <a:r>
              <a:t>What evidence would change your recommendation?</a:t>
            </a:r>
          </a:p>
          <a:p xmlns:a="http://schemas.openxmlformats.org/drawingml/2006/main">
            <a:r>
              <a:t/>
            </a:r>
          </a:p>
          <a:p xmlns:a="http://schemas.openxmlformats.org/drawingml/2006/main">
            <a:r>
              <a:t>What further data is required?</a:t>
            </a:r>
          </a:p>
          <a:p xmlns:a="http://schemas.openxmlformats.org/drawingml/2006/main">
            <a:r>
              <a:t/>
            </a:r>
          </a:p>
          <a:p xmlns:a="http://schemas.openxmlformats.org/drawingml/2006/main">
            <a:r>
              <a:t>Invigilated offline collection is authoritative; Google upload is a later transport step and must not impose an internet requirement during the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continued</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1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1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1 submission</a:t>
            </a:r>
          </a:p>
          <a:p xmlns:a="http://schemas.openxmlformats.org/drawingml/2006/main">
            <a:r>
              <a:t/>
            </a:r>
          </a:p>
          <a:p xmlns:a="http://schemas.openxmlformats.org/drawingml/2006/main">
            <a:r>
              <a:t>CONNECT</a:t>
            </a:r>
          </a:p>
          <a:p xmlns:a="http://schemas.openxmlformats.org/drawingml/2006/main">
            <a:r>
              <a:t>Build on Practical Test 1 continued. Explain why this example is needed before running it.</a:t>
            </a:r>
          </a:p>
          <a:p xmlns:a="http://schemas.openxmlformats.org/drawingml/2006/main">
            <a:r>
              <a:t/>
            </a:r>
          </a:p>
          <a:p xmlns:a="http://schemas.openxmlformats.org/drawingml/2006/main">
            <a:r>
              <a:t>EXPLAIN</a:t>
            </a:r>
          </a:p>
          <a:p xmlns:a="http://schemas.openxmlformats.org/drawingml/2006/main">
            <a:r>
              <a:t>Offline invigilated collection is authoritative.</a:t>
            </a:r>
          </a:p>
          <a:p xmlns:a="http://schemas.openxmlformats.org/drawingml/2006/main">
            <a:r>
              <a:t/>
            </a:r>
          </a:p>
          <a:p xmlns:a="http://schemas.openxmlformats.org/drawingml/2006/main">
            <a:r>
              <a:t>Google upload is a later transport step.</a:t>
            </a:r>
          </a:p>
          <a:p xmlns:a="http://schemas.openxmlformats.org/drawingml/2006/main">
            <a:r>
              <a:t/>
            </a:r>
          </a:p>
          <a:p xmlns:a="http://schemas.openxmlformats.org/drawingml/2006/main">
            <a:r>
              <a:t>Save one notebook with Part B under My written evidence.</a:t>
            </a:r>
          </a:p>
          <a:p xmlns:a="http://schemas.openxmlformats.org/drawingml/2006/main">
            <a:r>
              <a:t/>
            </a:r>
          </a:p>
          <a:p xmlns:a="http://schemas.openxmlformats.org/drawingml/2006/main">
            <a:r>
              <a:t>No internet, messaging or AI during the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1 submission</a:t>
            </a:r>
          </a:p>
          <a:p xmlns:a="http://schemas.openxmlformats.org/drawingml/2006/main">
            <a:r>
              <a:t/>
            </a:r>
          </a:p>
          <a:p xmlns:a="http://schemas.openxmlformats.org/drawingml/2006/main">
            <a:r>
              <a:t>CONNECT</a:t>
            </a:r>
          </a:p>
          <a:p xmlns:a="http://schemas.openxmlformats.org/drawingml/2006/main">
            <a:r>
              <a:t>Build on the preceding slide: Practical Test 1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Practical Test 1 submission. Explain why this example is needed before running it.</a:t>
            </a:r>
          </a:p>
          <a:p xmlns:a="http://schemas.openxmlformats.org/drawingml/2006/main">
            <a:r>
              <a:t/>
            </a:r>
          </a:p>
          <a:p xmlns:a="http://schemas.openxmlformats.org/drawingml/2006/main">
            <a:r>
              <a:t>EXPLAIN</a:t>
            </a:r>
          </a:p>
          <a:p xmlns:a="http://schemas.openxmlformats.org/drawingml/2006/main">
            <a:r>
              <a:t>You can reopen your notebook and find code and typed reasoning without help.</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Practical Test 1 submission.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8c938e571d5401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0d9d3c4174e43e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959fe7f3f3546a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9e35e4ef3f24ea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d84b402f309448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3f74278bf4c4a3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19ABCB3-8DFA-40E6-B127-1BBEAEC81677}"/>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E8C3E57-06F1-4629-861D-D14E37236AB7}"/>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9EDE8342-A254-4AB2-8EA5-15CF9759FB0A}"/>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78BA1318-4D9C-4257-B429-AE219D6EAFF6}"/>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91268993-45F2-4FEC-81C9-13C428359840}"/>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18FD12C-B6FF-446A-A19B-97C065FA5D2C}"/>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FDD08FF-8E02-4C88-B6D1-2089097685D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E80EE6B3-9125-4197-982E-369FE8ABAA4C}"/>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0BD02974-EDB2-450C-9D7F-60AE7C53A77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5774AC4-0A7B-47DA-86E8-DD687603A42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94437AA5-4596-48DC-929B-896F50901F7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E61D3613-0E2C-4C50-BD55-56379238076F}"/>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5AEF2D4D-323B-4096-B427-EEB4A2E2665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13F2529-1854-45CE-925E-EBD54B8666F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2A37CFB-AA1F-43B3-815C-3B69CF9DA4C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963bf17e5684d10" /><Relationship Type="http://schemas.openxmlformats.org/officeDocument/2006/relationships/slideLayout" Target="/ppt/slideLayouts/slideLayout1.xml" Id="R50540c2108c6422b" /><Relationship Type="http://schemas.openxmlformats.org/officeDocument/2006/relationships/slideLayout" Target="/ppt/slideLayouts/slideLayout2.xml" Id="R06fc03c2ed3041aa" /><Relationship Type="http://schemas.openxmlformats.org/officeDocument/2006/relationships/slideLayout" Target="/ppt/slideLayouts/slideLayout3.xml" Id="Rd8a27ab3ae454d20" /><Relationship Type="http://schemas.openxmlformats.org/officeDocument/2006/relationships/slideLayout" Target="/ppt/slideLayouts/slideLayout4.xml" Id="Rabb5ccbfab3341b5" /><Relationship Type="http://schemas.openxmlformats.org/officeDocument/2006/relationships/slideLayout" Target="/ppt/slideLayouts/slideLayout5.xml" Id="R2ecf978f746d41e9" /><Relationship Type="http://schemas.openxmlformats.org/officeDocument/2006/relationships/slideLayout" Target="/ppt/slideLayouts/slideLayout6.xml" Id="R69a62d4d7ae243c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540c2108c6422b"/>
    <p:sldLayoutId xmlns:r="http://schemas.openxmlformats.org/officeDocument/2006/relationships" id="2147483650" r:id="R06fc03c2ed3041aa"/>
    <p:sldLayoutId xmlns:r="http://schemas.openxmlformats.org/officeDocument/2006/relationships" id="2147483651" r:id="Rd8a27ab3ae454d20"/>
    <p:sldLayoutId xmlns:r="http://schemas.openxmlformats.org/officeDocument/2006/relationships" id="2147483652" r:id="Rabb5ccbfab3341b5"/>
    <p:sldLayoutId xmlns:r="http://schemas.openxmlformats.org/officeDocument/2006/relationships" id="2147483653" r:id="R2ecf978f746d41e9"/>
    <p:sldLayoutId xmlns:r="http://schemas.openxmlformats.org/officeDocument/2006/relationships" id="2147483654" r:id="R69a62d4d7ae243c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d523cc020424f35" /><Relationship Type="http://schemas.openxmlformats.org/officeDocument/2006/relationships/image" Target="/ppt/media/image.png" Id="R8379c6dfc6f44481" /><Relationship Type="http://schemas.openxmlformats.org/officeDocument/2006/relationships/notesSlide" Target="/ppt/notesSlides/notesSlide1.xml" Id="Recb1de4dc80049a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2536daad4c44782" /><Relationship Type="http://schemas.openxmlformats.org/officeDocument/2006/relationships/notesSlide" Target="/ppt/notesSlides/notesSlide2.xml" Id="Rac71ef923ad2486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72f7f15b8db4f64" /><Relationship Type="http://schemas.openxmlformats.org/officeDocument/2006/relationships/notesSlide" Target="/ppt/notesSlides/notesSlide3.xml" Id="Rd24514eb5421499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7728bf28a784397" /><Relationship Type="http://schemas.openxmlformats.org/officeDocument/2006/relationships/notesSlide" Target="/ppt/notesSlides/notesSlide4.xml" Id="R07a939b535c349e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66e6d8f81ac4671" /><Relationship Type="http://schemas.openxmlformats.org/officeDocument/2006/relationships/notesSlide" Target="/ppt/notesSlides/notesSlide5.xml" Id="Rac78445e9ca84e1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7748edecb824347" /><Relationship Type="http://schemas.openxmlformats.org/officeDocument/2006/relationships/notesSlide" Target="/ppt/notesSlides/notesSlide6.xml" Id="Reddfb28da9814c3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1db6a3e10ed4980" /><Relationship Type="http://schemas.openxmlformats.org/officeDocument/2006/relationships/notesSlide" Target="/ppt/notesSlides/notesSlide7.xml" Id="R475278c5dde643e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7294a4d47364d4a" /><Relationship Type="http://schemas.openxmlformats.org/officeDocument/2006/relationships/notesSlide" Target="/ppt/notesSlides/notesSlide8.xml" Id="Rc0c2f047f2844dd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78451f48d114c52" /><Relationship Type="http://schemas.openxmlformats.org/officeDocument/2006/relationships/notesSlide" Target="/ppt/notesSlides/notesSlide9.xml" Id="R23fba7f641ef4c7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3572feb9fa146ff" /><Relationship Type="http://schemas.openxmlformats.org/officeDocument/2006/relationships/notesSlide" Target="/ppt/notesSlides/notesSlide10.xml" Id="Rf07efaa0b55c410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b7703066dae4af8" /><Relationship Type="http://schemas.openxmlformats.org/officeDocument/2006/relationships/notesSlide" Target="/ppt/notesSlides/notesSlide11.xml" Id="R7ba44879deb240f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4b4ff9536fc4bde" /><Relationship Type="http://schemas.openxmlformats.org/officeDocument/2006/relationships/notesSlide" Target="/ppt/notesSlides/notesSlide12.xml" Id="R22ae8fca3c0f4a3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efd00d7d50a4898" /><Relationship Type="http://schemas.openxmlformats.org/officeDocument/2006/relationships/notesSlide" Target="/ppt/notesSlides/notesSlide13.xml" Id="Rb565294382af444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55b9a8cf0864791" /><Relationship Type="http://schemas.openxmlformats.org/officeDocument/2006/relationships/notesSlide" Target="/ppt/notesSlides/notesSlide14.xml" Id="Ra8d843d87c3a4e7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39d184b002b4711" /><Relationship Type="http://schemas.openxmlformats.org/officeDocument/2006/relationships/notesSlide" Target="/ppt/notesSlides/notesSlide15.xml" Id="Rd8a6954fe8a44cd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ee0c72c7c0541d1" /><Relationship Type="http://schemas.openxmlformats.org/officeDocument/2006/relationships/notesSlide" Target="/ppt/notesSlides/notesSlide16.xml" Id="R65fdc9a9d16946c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35d521fd08e4dc2" /><Relationship Type="http://schemas.openxmlformats.org/officeDocument/2006/relationships/notesSlide" Target="/ppt/notesSlides/notesSlide17.xml" Id="Ra8edc6c3818947f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a736a2fb0ba4e7c" /><Relationship Type="http://schemas.openxmlformats.org/officeDocument/2006/relationships/notesSlide" Target="/ppt/notesSlides/notesSlide18.xml" Id="R792083b6a8e449f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afab384b0044b26" /><Relationship Type="http://schemas.openxmlformats.org/officeDocument/2006/relationships/hyperlink" Target="https://docs.google.com/forms/d/e/1FAIpQLScq0XkP-55fa9_XY4ixHKtDNdilmStAZ89FkjBdv1vJvQba-g/viewform" TargetMode="External" Id="R88afcfb4d3df45c7" /><Relationship Type="http://schemas.openxmlformats.org/officeDocument/2006/relationships/notesSlide" Target="/ppt/notesSlides/notesSlide19.xml" Id="R13eca6cc562443b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e9ba7001f5544d1" /><Relationship Type="http://schemas.openxmlformats.org/officeDocument/2006/relationships/notesSlide" Target="/ppt/notesSlides/notesSlide20.xml" Id="R52998fc20c864ff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379c6dfc6f4448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00EF6F8-46DC-4615-8025-117741DF415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12E7180-0BDF-4975-B871-0725A6CC33FE}"/>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7</a:t>
            </a:r>
          </a:p>
        </p:txBody>
      </p:sp>
      <p:sp>
        <p:nvSpPr>
          <p:cNvPr id="4" name="">
            <a:extLst xmlns:a="http://schemas.openxmlformats.org/drawingml/2006/main">
              <a:ext uri="{FF2B5EF4-FFF2-40B4-BE49-F238E27FC236}">
                <a16:creationId xmlns:a16="http://schemas.microsoft.com/office/drawing/2014/main" id="{9378AC75-AA94-42E7-B5DB-3FA6152096F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1</a:t>
            </a:r>
          </a:p>
        </p:txBody>
      </p:sp>
      <p:sp>
        <p:nvSpPr>
          <p:cNvPr id="5" name="">
            <a:extLst xmlns:a="http://schemas.openxmlformats.org/drawingml/2006/main">
              <a:ext uri="{FF2B5EF4-FFF2-40B4-BE49-F238E27FC236}">
                <a16:creationId xmlns:a16="http://schemas.microsoft.com/office/drawing/2014/main" id="{99D2B634-EF5B-43B4-8527-3C139375D7A4}"/>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8D79FF2A-A8B7-4F9D-82F7-448F4E10DC1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23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4132517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138790B-B94C-45DC-B823-EA565A9451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3E277A-7D1A-423B-9448-E47835AE22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57D7A772-3D3D-4791-BFE5-A8B6E89D9D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2C0B2E0-4078-4A41-96EE-B72B41ED8245}"/>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73FA60D-C2AF-43C8-B1E6-B1CEA19064C9}"/>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FD3FD36D-1D0E-4405-8AD8-F0A78FC94FEB}"/>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saving and reopening the required files.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published test rules before the session.</a:t>
            </a:r>
          </a:p>
        </p:txBody>
      </p:sp>
      <p:sp>
        <p:nvSpPr>
          <p:cNvPr id="7" name="">
            <a:extLst xmlns:a="http://schemas.openxmlformats.org/drawingml/2006/main">
              <a:ext uri="{FF2B5EF4-FFF2-40B4-BE49-F238E27FC236}">
                <a16:creationId xmlns:a16="http://schemas.microsoft.com/office/drawing/2014/main" id="{A8A41ABC-EBCA-4CD9-9B03-A47878A7304D}"/>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5DFD526B-4A89-4C38-9069-7955993D9450}"/>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reopen your notebook and find code and typed reasoning without help.</a:t>
            </a:r>
          </a:p>
        </p:txBody>
      </p:sp>
      <p:sp>
        <p:nvSpPr>
          <p:cNvPr id="9" name="">
            <a:extLst xmlns:a="http://schemas.openxmlformats.org/drawingml/2006/main">
              <a:ext uri="{FF2B5EF4-FFF2-40B4-BE49-F238E27FC236}">
                <a16:creationId xmlns:a16="http://schemas.microsoft.com/office/drawing/2014/main" id="{48522360-B5A7-4FB1-A844-C86A151433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2</a:t>
            </a:r>
          </a:p>
        </p:txBody>
      </p:sp>
    </p:spTree>
    <p:extLst>
      <p:ext uri="{BB962C8B-B14F-4D97-AF65-F5344CB8AC3E}">
        <p14:creationId xmlns:p14="http://schemas.microsoft.com/office/powerpoint/2010/main" val="160111480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9B107A7-3409-47C7-B7F5-DF0B0D72A2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1BF7B8-8D4D-4F7E-BC5A-63CB068FF2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D7B8E0-1632-47E3-93AE-89416A8C12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5033B087-BA34-4D55-9C51-C1C8D6943BD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9E86A0-5586-4781-A5C8-20E7A029114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 you open the provided notebook and data on the prepared lab computer without internet?</a:t>
            </a:r>
          </a:p>
        </p:txBody>
      </p:sp>
      <p:sp>
        <p:nvSpPr>
          <p:cNvPr id="6" name="">
            <a:extLst xmlns:a="http://schemas.openxmlformats.org/drawingml/2006/main">
              <a:ext uri="{FF2B5EF4-FFF2-40B4-BE49-F238E27FC236}">
                <a16:creationId xmlns:a16="http://schemas.microsoft.com/office/drawing/2014/main" id="{E776DEF8-C922-4ABD-A44B-FF7B56F814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3</a:t>
            </a:r>
          </a:p>
        </p:txBody>
      </p:sp>
    </p:spTree>
    <p:extLst>
      <p:ext uri="{BB962C8B-B14F-4D97-AF65-F5344CB8AC3E}">
        <p14:creationId xmlns:p14="http://schemas.microsoft.com/office/powerpoint/2010/main" val="202615063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0F1AA85-ED2F-4E6E-BA48-9C7DA44F5E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D014FB-81DA-4974-A8D9-5E26E25E7B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3081D22-F8B4-4C93-BF3D-C3DC75602F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Rehearse before test day</a:t>
            </a:r>
          </a:p>
        </p:txBody>
      </p:sp>
      <p:sp>
        <p:nvSpPr>
          <p:cNvPr id="4" name="">
            <a:extLst xmlns:a="http://schemas.openxmlformats.org/drawingml/2006/main">
              <a:ext uri="{FF2B5EF4-FFF2-40B4-BE49-F238E27FC236}">
                <a16:creationId xmlns:a16="http://schemas.microsoft.com/office/drawing/2014/main" id="{941D9B97-23CC-4486-A5F0-C7ED0D0E66A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B7AFBE-99CF-4221-AC37-0254A047247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separate practice notebook before the timed session.</a:t>
            </a:r>
          </a:p>
        </p:txBody>
      </p:sp>
      <p:sp>
        <p:nvSpPr>
          <p:cNvPr id="6" name="">
            <a:extLst xmlns:a="http://schemas.openxmlformats.org/drawingml/2006/main">
              <a:ext uri="{FF2B5EF4-FFF2-40B4-BE49-F238E27FC236}">
                <a16:creationId xmlns:a16="http://schemas.microsoft.com/office/drawing/2014/main" id="{271B855D-2B67-488A-BB0F-A4E11305B47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D6F78A-A6E6-4D2B-8F64-47422886112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supplied data and run a familiar calculation.</a:t>
            </a:r>
          </a:p>
        </p:txBody>
      </p:sp>
      <p:sp>
        <p:nvSpPr>
          <p:cNvPr id="8" name="">
            <a:extLst xmlns:a="http://schemas.openxmlformats.org/drawingml/2006/main">
              <a:ext uri="{FF2B5EF4-FFF2-40B4-BE49-F238E27FC236}">
                <a16:creationId xmlns:a16="http://schemas.microsoft.com/office/drawing/2014/main" id="{B57F94F0-A238-4A0B-B43C-82FFEFB74D3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E3AF95-8D90-4DA6-9BE9-0BBA4F5D455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packet and permitted resources are issued by the lecturer.</a:t>
            </a:r>
          </a:p>
        </p:txBody>
      </p:sp>
      <p:sp>
        <p:nvSpPr>
          <p:cNvPr id="10" name="">
            <a:extLst xmlns:a="http://schemas.openxmlformats.org/drawingml/2006/main">
              <a:ext uri="{FF2B5EF4-FFF2-40B4-BE49-F238E27FC236}">
                <a16:creationId xmlns:a16="http://schemas.microsoft.com/office/drawing/2014/main" id="{E18691B1-4B4B-4B6D-B177-52713ABF98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4</a:t>
            </a:r>
          </a:p>
        </p:txBody>
      </p:sp>
    </p:spTree>
    <p:extLst>
      <p:ext uri="{BB962C8B-B14F-4D97-AF65-F5344CB8AC3E}">
        <p14:creationId xmlns:p14="http://schemas.microsoft.com/office/powerpoint/2010/main" val="104516510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4C939B-AAC1-455A-8DF2-75C1967E9B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957AEE-92C0-4F25-A82B-2466086C87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67229E-593B-4611-9CD5-086845539A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the complete notebook</a:t>
            </a:r>
          </a:p>
        </p:txBody>
      </p:sp>
      <p:sp>
        <p:nvSpPr>
          <p:cNvPr id="4" name="">
            <a:extLst xmlns:a="http://schemas.openxmlformats.org/drawingml/2006/main">
              <a:ext uri="{FF2B5EF4-FFF2-40B4-BE49-F238E27FC236}">
                <a16:creationId xmlns:a16="http://schemas.microsoft.com/office/drawing/2014/main" id="{782BC4B4-2CFF-4CB2-8C77-A132ABB4AC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CE8CAA-5D6B-447E-8AF3-4D86B08C16B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6" name="">
            <a:extLst xmlns:a="http://schemas.openxmlformats.org/drawingml/2006/main">
              <a:ext uri="{FF2B5EF4-FFF2-40B4-BE49-F238E27FC236}">
                <a16:creationId xmlns:a16="http://schemas.microsoft.com/office/drawing/2014/main" id="{C139755F-5C86-4A3E-84D0-58B04D02F61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2F975F-2EE2-4195-865D-A75F5ABBC85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complete notebook in the designated local folder.</a:t>
            </a:r>
          </a:p>
        </p:txBody>
      </p:sp>
      <p:sp>
        <p:nvSpPr>
          <p:cNvPr id="8" name="">
            <a:extLst xmlns:a="http://schemas.openxmlformats.org/drawingml/2006/main">
              <a:ext uri="{FF2B5EF4-FFF2-40B4-BE49-F238E27FC236}">
                <a16:creationId xmlns:a16="http://schemas.microsoft.com/office/drawing/2014/main" id="{13ABF4BF-EFCA-4DBD-8BC9-912782D2539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A21591-90EC-430A-934C-B6A6EA19382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Reopen it to check that code and written answers were saved.</a:t>
            </a:r>
          </a:p>
        </p:txBody>
      </p:sp>
      <p:sp>
        <p:nvSpPr>
          <p:cNvPr id="10" name="">
            <a:extLst xmlns:a="http://schemas.openxmlformats.org/drawingml/2006/main">
              <a:ext uri="{FF2B5EF4-FFF2-40B4-BE49-F238E27FC236}">
                <a16:creationId xmlns:a16="http://schemas.microsoft.com/office/drawing/2014/main" id="{BCA94A9E-9E4B-44D0-9FB4-F507D81504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5</a:t>
            </a:r>
          </a:p>
        </p:txBody>
      </p:sp>
    </p:spTree>
    <p:extLst>
      <p:ext uri="{BB962C8B-B14F-4D97-AF65-F5344CB8AC3E}">
        <p14:creationId xmlns:p14="http://schemas.microsoft.com/office/powerpoint/2010/main" val="76367176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5B664C2-27B6-41BC-BD32-20DC04E8A9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52016D-8412-4F82-B6C0-AE4391B10A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E89F2E-0D19-4DA0-BF84-3D3E3CB692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 the published test procedure</a:t>
            </a:r>
          </a:p>
        </p:txBody>
      </p:sp>
      <p:sp>
        <p:nvSpPr>
          <p:cNvPr id="4" name="">
            <a:extLst xmlns:a="http://schemas.openxmlformats.org/drawingml/2006/main">
              <a:ext uri="{FF2B5EF4-FFF2-40B4-BE49-F238E27FC236}">
                <a16:creationId xmlns:a16="http://schemas.microsoft.com/office/drawing/2014/main" id="{DFAA40E2-7DF4-4C14-AAC7-D68FBCAC826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F6BE0A-CF16-44D2-B0AB-BD243E15C26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briefing before starting assessed work.</a:t>
            </a:r>
          </a:p>
        </p:txBody>
      </p:sp>
      <p:sp>
        <p:nvSpPr>
          <p:cNvPr id="6" name="">
            <a:extLst xmlns:a="http://schemas.openxmlformats.org/drawingml/2006/main">
              <a:ext uri="{FF2B5EF4-FFF2-40B4-BE49-F238E27FC236}">
                <a16:creationId xmlns:a16="http://schemas.microsoft.com/office/drawing/2014/main" id="{CD4BB8AE-975D-48D5-9EEE-FBEA638876A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F17B54-EC66-4771-AF92-57F06CE26B9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only the resources permitted for that part of the test.</a:t>
            </a:r>
          </a:p>
        </p:txBody>
      </p:sp>
      <p:sp>
        <p:nvSpPr>
          <p:cNvPr id="8" name="">
            <a:extLst xmlns:a="http://schemas.openxmlformats.org/drawingml/2006/main">
              <a:ext uri="{FF2B5EF4-FFF2-40B4-BE49-F238E27FC236}">
                <a16:creationId xmlns:a16="http://schemas.microsoft.com/office/drawing/2014/main" id="{9DAB19F0-0B21-41C0-9C94-9C16F1B9AD6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45709F-C7AD-4837-A3F9-B76E3FBB9B8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a technical failure to the invigilator immediately.</a:t>
            </a:r>
          </a:p>
        </p:txBody>
      </p:sp>
      <p:sp>
        <p:nvSpPr>
          <p:cNvPr id="10" name="">
            <a:extLst xmlns:a="http://schemas.openxmlformats.org/drawingml/2006/main">
              <a:ext uri="{FF2B5EF4-FFF2-40B4-BE49-F238E27FC236}">
                <a16:creationId xmlns:a16="http://schemas.microsoft.com/office/drawing/2014/main" id="{63995168-3B9C-49E8-BF01-C4B90328ED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6</a:t>
            </a:r>
          </a:p>
        </p:txBody>
      </p:sp>
    </p:spTree>
    <p:extLst>
      <p:ext uri="{BB962C8B-B14F-4D97-AF65-F5344CB8AC3E}">
        <p14:creationId xmlns:p14="http://schemas.microsoft.com/office/powerpoint/2010/main" val="19761847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91B054B-4179-4E5D-A676-5B2671E76D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801B12-FB97-4D7F-8F14-FCF63030E1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0F02B3F-4C50-4F87-A3A4-3CD0883056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D0D749AE-3CA3-4F0B-AC35-AABC5ED79EE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A7A480-F7F0-4C65-AD17-FC189333D0F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[3,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print(sum(values) / len(values))</a:t>
            </a:r>
          </a:p>
        </p:txBody>
      </p:sp>
      <p:sp>
        <p:nvSpPr>
          <p:cNvPr id="6" name="">
            <a:extLst xmlns:a="http://schemas.openxmlformats.org/drawingml/2006/main">
              <a:ext uri="{FF2B5EF4-FFF2-40B4-BE49-F238E27FC236}">
                <a16:creationId xmlns:a16="http://schemas.microsoft.com/office/drawing/2014/main" id="{18AFEECC-B93D-4577-921B-B782BD21FD5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4E3A01F-10A0-478D-B660-DF0441B8324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C48CADB8-8683-4BF3-867F-865BD21F3A4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80AA60AF-0A00-4CB3-96CB-33EE7D81628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5302BDD6-EA17-414F-BDCC-8C23EFD374F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88075BDE-1F75-46EA-8D71-44DBF37D82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7</a:t>
            </a:r>
          </a:p>
        </p:txBody>
      </p:sp>
    </p:spTree>
    <p:extLst>
      <p:ext uri="{BB962C8B-B14F-4D97-AF65-F5344CB8AC3E}">
        <p14:creationId xmlns:p14="http://schemas.microsoft.com/office/powerpoint/2010/main" val="181488322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78E7D65-EA92-4870-A665-61CF1019E9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BCA399-8CC4-41B2-9F18-98483E0860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01D78D3-57C9-4E79-A921-C51BE3AFD6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1FD61221-7DBC-4C11-9323-899D617BD6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DA342C7-B6C2-44E4-A682-95FA0981BA2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C56B5099-F5F7-4295-8407-4CD4B025023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9E63BA-FE9E-404A-9055-68DC265C994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C09EDDFA-DB3B-45AA-90FD-5577B1F9784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6EF0081-FAF7-4571-A3C9-541AB7D1E9D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17321794-54C4-4DC4-9BAC-38516583EF9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58B9572-4F69-484E-B525-774A77CC6A0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64DF7A90-F381-4DD9-B2C8-69B80E3416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8</a:t>
            </a:r>
          </a:p>
        </p:txBody>
      </p:sp>
    </p:spTree>
    <p:extLst>
      <p:ext uri="{BB962C8B-B14F-4D97-AF65-F5344CB8AC3E}">
        <p14:creationId xmlns:p14="http://schemas.microsoft.com/office/powerpoint/2010/main" val="20741986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26C810D-F5C0-42C8-96BE-43E876DA61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DEF95A-441F-44DA-80CC-650B184559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92B70B0-9FE4-42EC-BDF8-AEEFAC4488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6BDFA827-FB43-4A6E-9A03-5AB3900D9C9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E09359-C7F8-4838-A3BF-BDD4D2932E5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BEE7C87-B569-45F7-A1C0-9F8F6486511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learner completes the offline save-and-reopen rehearsal.</a:t>
            </a:r>
          </a:p>
        </p:txBody>
      </p:sp>
      <p:sp>
        <p:nvSpPr>
          <p:cNvPr id="7" name="">
            <a:extLst xmlns:a="http://schemas.openxmlformats.org/drawingml/2006/main">
              <a:ext uri="{FF2B5EF4-FFF2-40B4-BE49-F238E27FC236}">
                <a16:creationId xmlns:a16="http://schemas.microsoft.com/office/drawing/2014/main" id="{FC9363C1-87D6-4DFC-8140-51FDF126F6B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Escalate lab-access failures before the test.</a:t>
            </a:r>
          </a:p>
        </p:txBody>
      </p:sp>
      <p:sp>
        <p:nvSpPr>
          <p:cNvPr id="8" name="">
            <a:extLst xmlns:a="http://schemas.openxmlformats.org/drawingml/2006/main">
              <a:ext uri="{FF2B5EF4-FFF2-40B4-BE49-F238E27FC236}">
                <a16:creationId xmlns:a16="http://schemas.microsoft.com/office/drawing/2014/main" id="{E3997ECD-87A6-4A79-A1A7-19E9207F67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9</a:t>
            </a:r>
          </a:p>
        </p:txBody>
      </p:sp>
    </p:spTree>
    <p:extLst>
      <p:ext uri="{BB962C8B-B14F-4D97-AF65-F5344CB8AC3E}">
        <p14:creationId xmlns:p14="http://schemas.microsoft.com/office/powerpoint/2010/main" val="83628406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6151C9-E8D1-48BB-A441-34B8769E67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F344FE-2DC0-4689-BFF6-B9C914C678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DBA3C7A-547F-4C8D-9FBF-FCE4021045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0AE0FA90-D1B4-40C9-94D0-7D7543369A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4F8384B-601D-4DD8-AF49-1D2F23D9E93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official TEST1 brief, interfaces and rubric.</a:t>
            </a:r>
          </a:p>
        </p:txBody>
      </p:sp>
      <p:sp>
        <p:nvSpPr>
          <p:cNvPr id="6" name="">
            <a:extLst xmlns:a="http://schemas.openxmlformats.org/drawingml/2006/main">
              <a:ext uri="{FF2B5EF4-FFF2-40B4-BE49-F238E27FC236}">
                <a16:creationId xmlns:a16="http://schemas.microsoft.com/office/drawing/2014/main" id="{34FE5986-499D-4FFD-A0A7-0B20A6AA2C5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26EE7D-9CF9-4A71-A831-CC9ABEC76AA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assessed period has 120 practical minutes and 25 typed reasoning minutes.</a:t>
            </a:r>
          </a:p>
        </p:txBody>
      </p:sp>
      <p:sp>
        <p:nvSpPr>
          <p:cNvPr id="8" name="">
            <a:extLst xmlns:a="http://schemas.openxmlformats.org/drawingml/2006/main">
              <a:ext uri="{FF2B5EF4-FFF2-40B4-BE49-F238E27FC236}">
                <a16:creationId xmlns:a16="http://schemas.microsoft.com/office/drawing/2014/main" id="{51BC5D1A-F6A7-4B8D-824A-6BB77751D5E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6339518-228A-4CC4-AABA-9AABEEAD86A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Your lecturer will issue the test packet and collection instructions.</a:t>
            </a:r>
          </a:p>
        </p:txBody>
      </p:sp>
      <p:sp>
        <p:nvSpPr>
          <p:cNvPr id="10" name="">
            <a:extLst xmlns:a="http://schemas.openxmlformats.org/drawingml/2006/main">
              <a:ext uri="{FF2B5EF4-FFF2-40B4-BE49-F238E27FC236}">
                <a16:creationId xmlns:a16="http://schemas.microsoft.com/office/drawing/2014/main" id="{888B848F-B7C7-4EB6-9ED0-503061FAE8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10</a:t>
            </a:r>
          </a:p>
        </p:txBody>
      </p:sp>
    </p:spTree>
    <p:extLst>
      <p:ext uri="{BB962C8B-B14F-4D97-AF65-F5344CB8AC3E}">
        <p14:creationId xmlns:p14="http://schemas.microsoft.com/office/powerpoint/2010/main" val="168416581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FC57088-D864-45A5-8FF6-C3372A5EEE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BA893C-E9A6-4C26-BDF3-C3B81CEFAE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552CBA9-9C0F-4853-9F0F-16AC5547FC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a:t>
            </a:r>
          </a:p>
        </p:txBody>
      </p:sp>
      <p:sp>
        <p:nvSpPr>
          <p:cNvPr id="4" name="">
            <a:extLst xmlns:a="http://schemas.openxmlformats.org/drawingml/2006/main">
              <a:ext uri="{FF2B5EF4-FFF2-40B4-BE49-F238E27FC236}">
                <a16:creationId xmlns:a16="http://schemas.microsoft.com/office/drawing/2014/main" id="{0AB376F6-35E1-40F2-B5C8-919C93E750F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E096360-5769-4855-BD5F-568694A696E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75D23A68-6304-48AC-BA67-1E1860700E5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885E32B-141F-44F7-A1D3-337741F0E61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BA53244D-C01F-40BC-A723-BE7BC4AC6CE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16EAE65-FC84-4DF1-89CA-03094C60059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AA00458B-A1F2-4073-BBFA-820FB85C803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594E6CD-5F49-42D9-8E82-78EFDDC2853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CB4CD0AE-659D-4499-BC41-5E787AC395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11</a:t>
            </a:r>
          </a:p>
        </p:txBody>
      </p:sp>
    </p:spTree>
    <p:extLst>
      <p:ext uri="{BB962C8B-B14F-4D97-AF65-F5344CB8AC3E}">
        <p14:creationId xmlns:p14="http://schemas.microsoft.com/office/powerpoint/2010/main" val="683178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6708D0E-DF29-41C2-9292-06B6AAF2B3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7868DF-F7CC-485D-827B-8F7B35AD3E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B00287-BDF4-40FA-B1F8-AD2A2D9A29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A82C834A-70AE-4EB2-BC87-B038EF37CB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12BCD3-418C-4171-9725-E0079D323B1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13552070-FB25-4067-A286-74AB4443C9A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BA9EF04-FF1D-41DE-B24F-52F10FC4AF2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7F7DFB0C-17AD-4985-A8DE-D4C4292F8A4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178EA2-3929-4DBF-ABFE-999324DFED1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BB60C19C-B180-4DF5-8F7B-815A4ECE494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56DF3B6-9A4A-4263-8A97-489C8798438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F6A9432C-E246-432A-B071-8EB2C6C1C8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12</a:t>
            </a:r>
          </a:p>
        </p:txBody>
      </p:sp>
    </p:spTree>
    <p:extLst>
      <p:ext uri="{BB962C8B-B14F-4D97-AF65-F5344CB8AC3E}">
        <p14:creationId xmlns:p14="http://schemas.microsoft.com/office/powerpoint/2010/main" val="27837540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7056462-6A05-4916-8A0C-676B896437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F16F7E-B586-402F-BFB3-55C74629F2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9AD8B76-BFCE-45AF-BF8A-08EF0F95E2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C4A6CA37-AC82-48C2-A863-EDDB984FF50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E3418B-6FE0-4BF3-A7D7-58B47B99707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xmlns:a="http://schemas.openxmlformats.org/drawingml/2006/main">
              <a:ext uri="{FF2B5EF4-FFF2-40B4-BE49-F238E27FC236}">
                <a16:creationId xmlns:a16="http://schemas.microsoft.com/office/drawing/2014/main" id="{F645D369-A8D3-4570-A0D8-088F9A0C065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7A03139-5C97-43B6-A57D-A85048BAE11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Loading &amp; profiling (15.0 total): Data loaded correctly; shape, types and summary produced; the dataset is described accurately in the student's own words.</a:t>
            </a:r>
          </a:p>
        </p:txBody>
      </p:sp>
      <p:sp>
        <p:nvSpPr>
          <p:cNvPr id="8" name="">
            <a:extLst xmlns:a="http://schemas.openxmlformats.org/drawingml/2006/main">
              <a:ext uri="{FF2B5EF4-FFF2-40B4-BE49-F238E27FC236}">
                <a16:creationId xmlns:a16="http://schemas.microsoft.com/office/drawing/2014/main" id="{E8712200-7EF8-4D95-A881-9EF38D4CC5D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82B419F-88AC-473E-A687-5B65B38E035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Cleaning decisions &amp; justification (20.0 total): Defects found.</a:t>
            </a:r>
          </a:p>
        </p:txBody>
      </p:sp>
      <p:sp>
        <p:nvSpPr>
          <p:cNvPr id="10" name="">
            <a:extLst xmlns:a="http://schemas.openxmlformats.org/drawingml/2006/main">
              <a:ext uri="{FF2B5EF4-FFF2-40B4-BE49-F238E27FC236}">
                <a16:creationId xmlns:a16="http://schemas.microsoft.com/office/drawing/2014/main" id="{F4C0C377-C069-447D-99FB-7E52EC3D3C1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1662D82-8FE3-476E-80A7-91ACCA789F1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handling decision stated AND justified.</a:t>
            </a:r>
          </a:p>
        </p:txBody>
      </p:sp>
      <p:sp>
        <p:nvSpPr>
          <p:cNvPr id="12" name="">
            <a:extLst xmlns:a="http://schemas.openxmlformats.org/drawingml/2006/main">
              <a:ext uri="{FF2B5EF4-FFF2-40B4-BE49-F238E27FC236}">
                <a16:creationId xmlns:a16="http://schemas.microsoft.com/office/drawing/2014/main" id="{3583EAAA-ED78-48FD-A7D3-FA7CD446CF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13</a:t>
            </a:r>
          </a:p>
        </p:txBody>
      </p:sp>
    </p:spTree>
    <p:extLst>
      <p:ext uri="{BB962C8B-B14F-4D97-AF65-F5344CB8AC3E}">
        <p14:creationId xmlns:p14="http://schemas.microsoft.com/office/powerpoint/2010/main" val="150845736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B15F3C3-92EC-44AB-9DC4-4B81EDDA47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D5211F-A899-44DD-A62F-EA6722CBA5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842730-2E06-410C-8C72-E7734F3E4B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49586AF8-3011-4770-B224-1D762D04B85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73B558-F598-4905-B643-8D386CB0EFC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Marks are for the justification - an unjustified correct fix scores roughly half.</a:t>
            </a:r>
          </a:p>
        </p:txBody>
      </p:sp>
      <p:sp>
        <p:nvSpPr>
          <p:cNvPr id="6" name="">
            <a:extLst xmlns:a="http://schemas.openxmlformats.org/drawingml/2006/main">
              <a:ext uri="{FF2B5EF4-FFF2-40B4-BE49-F238E27FC236}">
                <a16:creationId xmlns:a16="http://schemas.microsoft.com/office/drawing/2014/main" id="{ED5FDD0C-F611-44FA-A335-222D86DE6D3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839146-1581-417C-908A-72C98681F3D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Visualisation (20.0 total): Three charts, each captioned with the question it answers.</a:t>
            </a:r>
          </a:p>
        </p:txBody>
      </p:sp>
      <p:sp>
        <p:nvSpPr>
          <p:cNvPr id="8" name="">
            <a:extLst xmlns:a="http://schemas.openxmlformats.org/drawingml/2006/main">
              <a:ext uri="{FF2B5EF4-FFF2-40B4-BE49-F238E27FC236}">
                <a16:creationId xmlns:a16="http://schemas.microsoft.com/office/drawing/2014/main" id="{CFF3492F-FDB9-41DD-B104-B6BB1148BD4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82B8AFE-DFE3-47C8-AA10-A0074F4305D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a:t>
            </a:r>
          </a:p>
        </p:txBody>
      </p:sp>
      <p:sp>
        <p:nvSpPr>
          <p:cNvPr id="10" name="">
            <a:extLst xmlns:a="http://schemas.openxmlformats.org/drawingml/2006/main">
              <a:ext uri="{FF2B5EF4-FFF2-40B4-BE49-F238E27FC236}">
                <a16:creationId xmlns:a16="http://schemas.microsoft.com/office/drawing/2014/main" id="{D77A5F21-768C-4452-8F63-FD537537DCB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F80E3E3-C312-45DD-8696-0D5B2A08DC9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Axes labelled with units.</a:t>
            </a:r>
          </a:p>
        </p:txBody>
      </p:sp>
      <p:sp>
        <p:nvSpPr>
          <p:cNvPr id="12" name="">
            <a:extLst xmlns:a="http://schemas.openxmlformats.org/drawingml/2006/main">
              <a:ext uri="{FF2B5EF4-FFF2-40B4-BE49-F238E27FC236}">
                <a16:creationId xmlns:a16="http://schemas.microsoft.com/office/drawing/2014/main" id="{6136FFD5-9BAB-4A8E-A324-EB2522A4C6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14</a:t>
            </a:r>
          </a:p>
        </p:txBody>
      </p:sp>
    </p:spTree>
    <p:extLst>
      <p:ext uri="{BB962C8B-B14F-4D97-AF65-F5344CB8AC3E}">
        <p14:creationId xmlns:p14="http://schemas.microsoft.com/office/powerpoint/2010/main" val="187960997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7B7108-D545-4368-8C6B-070B3AF7E9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320E5F-87F1-4ACE-9C16-9D3CAFD8C3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DACB2EB-4FEA-40F4-8327-D420665810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68542BF8-0D60-4BA0-982F-959A2510779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953228D-7371-485A-9FC8-9741C49F48A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decoration without purpose.</a:t>
            </a:r>
          </a:p>
        </p:txBody>
      </p:sp>
      <p:sp>
        <p:nvSpPr>
          <p:cNvPr id="6" name="">
            <a:extLst xmlns:a="http://schemas.openxmlformats.org/drawingml/2006/main">
              <a:ext uri="{FF2B5EF4-FFF2-40B4-BE49-F238E27FC236}">
                <a16:creationId xmlns:a16="http://schemas.microsoft.com/office/drawing/2014/main" id="{515E6B11-822F-4C34-BE4E-82AD0EC97D2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E23CA67-8AC9-43A9-930D-4D66682EB0B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(20.0 total): Five findings, supported by evidence from the data, stated with correct magnitudes and units.</a:t>
            </a:r>
          </a:p>
        </p:txBody>
      </p:sp>
      <p:sp>
        <p:nvSpPr>
          <p:cNvPr id="8" name="">
            <a:extLst xmlns:a="http://schemas.openxmlformats.org/drawingml/2006/main">
              <a:ext uri="{FF2B5EF4-FFF2-40B4-BE49-F238E27FC236}">
                <a16:creationId xmlns:a16="http://schemas.microsoft.com/office/drawing/2014/main" id="{BCCF277D-56A7-4CE9-9346-34EA3A9254D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D75C81-9107-4B71-A36B-EB58C9FA793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wrong number loses the mark even if the method was right.</a:t>
            </a:r>
          </a:p>
        </p:txBody>
      </p:sp>
      <p:sp>
        <p:nvSpPr>
          <p:cNvPr id="10" name="">
            <a:extLst xmlns:a="http://schemas.openxmlformats.org/drawingml/2006/main">
              <a:ext uri="{FF2B5EF4-FFF2-40B4-BE49-F238E27FC236}">
                <a16:creationId xmlns:a16="http://schemas.microsoft.com/office/drawing/2014/main" id="{4A2AB61E-6044-408D-BC71-EE5869BDE68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826D4BF-1937-4C54-BC16-62188C26CAB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(15.0 total): One recommendation that an engineer could act on, plus a clear statement of what further data would be needed.</a:t>
            </a:r>
          </a:p>
        </p:txBody>
      </p:sp>
      <p:sp>
        <p:nvSpPr>
          <p:cNvPr id="12" name="">
            <a:extLst xmlns:a="http://schemas.openxmlformats.org/drawingml/2006/main">
              <a:ext uri="{FF2B5EF4-FFF2-40B4-BE49-F238E27FC236}">
                <a16:creationId xmlns:a16="http://schemas.microsoft.com/office/drawing/2014/main" id="{AA87F92B-0363-492F-9EC6-5EC94E5AFA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15</a:t>
            </a:r>
          </a:p>
        </p:txBody>
      </p:sp>
    </p:spTree>
    <p:extLst>
      <p:ext uri="{BB962C8B-B14F-4D97-AF65-F5344CB8AC3E}">
        <p14:creationId xmlns:p14="http://schemas.microsoft.com/office/powerpoint/2010/main" val="24671342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7D93396-B531-4677-B3A1-2DE50F40BC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8A386D-958F-48CD-BD81-1BE32FE40B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817BB3-75E2-43D2-8CBD-D8674AD322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C7A91836-0304-4AEE-9FA3-970FE23475D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815315A-5F84-4691-B941-98905CEDCAF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Clarity &amp; reproducibility (10.0 total): Notebook runs top to bottom.</a:t>
            </a:r>
          </a:p>
        </p:txBody>
      </p:sp>
      <p:sp>
        <p:nvSpPr>
          <p:cNvPr id="6" name="">
            <a:extLst xmlns:a="http://schemas.openxmlformats.org/drawingml/2006/main">
              <a:ext uri="{FF2B5EF4-FFF2-40B4-BE49-F238E27FC236}">
                <a16:creationId xmlns:a16="http://schemas.microsoft.com/office/drawing/2014/main" id="{2AF07114-4598-4DE1-B325-CE1FAD86EB2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904657-1FA4-429A-8F4B-02BDAB2C9E4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Logical order.</a:t>
            </a:r>
          </a:p>
        </p:txBody>
      </p:sp>
      <p:sp>
        <p:nvSpPr>
          <p:cNvPr id="8" name="">
            <a:extLst xmlns:a="http://schemas.openxmlformats.org/drawingml/2006/main">
              <a:ext uri="{FF2B5EF4-FFF2-40B4-BE49-F238E27FC236}">
                <a16:creationId xmlns:a16="http://schemas.microsoft.com/office/drawing/2014/main" id="{17DACD71-916C-4125-BAEC-12413CACB49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CF90C7-79E0-46B3-9E9B-24BEF5642BD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Markdown explains intent.</a:t>
            </a:r>
          </a:p>
        </p:txBody>
      </p:sp>
      <p:sp>
        <p:nvSpPr>
          <p:cNvPr id="10" name="">
            <a:extLst xmlns:a="http://schemas.openxmlformats.org/drawingml/2006/main">
              <a:ext uri="{FF2B5EF4-FFF2-40B4-BE49-F238E27FC236}">
                <a16:creationId xmlns:a16="http://schemas.microsoft.com/office/drawing/2014/main" id="{1C5114FD-87DF-46CD-94D6-4858AEAE436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FDFE4CF-3BCF-4DAA-8038-326B11AA8CF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dead code.</a:t>
            </a:r>
          </a:p>
        </p:txBody>
      </p:sp>
      <p:sp>
        <p:nvSpPr>
          <p:cNvPr id="12" name="">
            <a:extLst xmlns:a="http://schemas.openxmlformats.org/drawingml/2006/main">
              <a:ext uri="{FF2B5EF4-FFF2-40B4-BE49-F238E27FC236}">
                <a16:creationId xmlns:a16="http://schemas.microsoft.com/office/drawing/2014/main" id="{B24ACF31-F750-4151-A3B8-9800DA8D21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16</a:t>
            </a:r>
          </a:p>
        </p:txBody>
      </p:sp>
    </p:spTree>
    <p:extLst>
      <p:ext uri="{BB962C8B-B14F-4D97-AF65-F5344CB8AC3E}">
        <p14:creationId xmlns:p14="http://schemas.microsoft.com/office/powerpoint/2010/main" val="115621054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4279D1B-2DD3-47DE-B01F-A9FCE0AC6B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86580C-3E9C-433A-8905-3F94C295CF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CC55E3-D799-4BFF-9BF1-A4B15FE5C6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05FB30B8-7A79-4977-9E64-01BBCBA8B8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4C98A7F-6597-47FB-A3D1-E21532663A2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145D6DC9-4DCC-4B70-BD04-8BC8E24CFB8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0AA0F64-5D38-40E4-B56E-97011D1848D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74BFBA30-D277-4336-8681-0761A618D5D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D03F94-0EE8-4F56-B7DA-F074E1F64C9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F154CD1C-6813-4EBD-9D4E-0540DE5BCD9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49B39BD-EDF5-483C-B48A-666F0FE37A0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1D2DC6A8-4EC2-42C2-B16A-583E61D32C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17</a:t>
            </a:r>
          </a:p>
        </p:txBody>
      </p:sp>
    </p:spTree>
    <p:extLst>
      <p:ext uri="{BB962C8B-B14F-4D97-AF65-F5344CB8AC3E}">
        <p14:creationId xmlns:p14="http://schemas.microsoft.com/office/powerpoint/2010/main" val="47229022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0EAB00F-01C4-4567-9B04-9BC1098438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CD814C-F523-42D6-9DEB-E01FC25216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A15F189-F7FF-40FC-9B08-25D62BF1D6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58E03627-4CE1-432B-816F-8505B96B43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1078256-9EC1-4ADC-A701-EB9819AA170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FCB7132E-EE46-4A36-B5DF-C29B01C10F1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3ECBE8-5DA7-45DB-9C3A-229AF1CBF40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365E13CF-942C-4B76-B5EA-E9DFC0606B7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2E8D0FC-970B-49CC-89E4-A6A8B0115B6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EFBB0CC0-82BE-486D-9A44-54564ABFC8E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55D0008-DA96-4CB8-8020-C872748296D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A6D76B18-6F15-49FD-B1A4-621307D836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18</a:t>
            </a:r>
          </a:p>
        </p:txBody>
      </p:sp>
    </p:spTree>
    <p:extLst>
      <p:ext uri="{BB962C8B-B14F-4D97-AF65-F5344CB8AC3E}">
        <p14:creationId xmlns:p14="http://schemas.microsoft.com/office/powerpoint/2010/main" val="115504927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082E3B1-E7CF-4B8A-B8CF-6A53F833D6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75D5A8-A278-4CAA-97EA-B020637F25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53A3AA9-55CC-424C-A9EE-1BA212C1B9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submission</a:t>
            </a:r>
          </a:p>
        </p:txBody>
      </p:sp>
      <p:sp>
        <p:nvSpPr>
          <p:cNvPr id="4" name="">
            <a:extLst xmlns:a="http://schemas.openxmlformats.org/drawingml/2006/main">
              <a:ext uri="{FF2B5EF4-FFF2-40B4-BE49-F238E27FC236}">
                <a16:creationId xmlns:a16="http://schemas.microsoft.com/office/drawing/2014/main" id="{0A77F590-23AD-464B-8EC9-3B2402071D0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9EAC703-109B-4010-A19B-444923248C1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xmlns:a="http://schemas.openxmlformats.org/drawingml/2006/main">
              <a:ext uri="{FF2B5EF4-FFF2-40B4-BE49-F238E27FC236}">
                <a16:creationId xmlns:a16="http://schemas.microsoft.com/office/drawing/2014/main" id="{268E8BD4-2660-43D2-8EB0-1951611E8C0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83DEFF5-C145-4F88-B409-0119424A98D0}"/>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xmlns:a="http://schemas.openxmlformats.org/drawingml/2006/main">
              <a:ext uri="{FF2B5EF4-FFF2-40B4-BE49-F238E27FC236}">
                <a16:creationId xmlns:a16="http://schemas.microsoft.com/office/drawing/2014/main" id="{A5508D8A-3E7C-4C20-A10E-4DC9743C78E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C4134E5-F840-4D6A-AB72-BB3315222071}"/>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xmlns:a="http://schemas.openxmlformats.org/drawingml/2006/main">
              <a:ext uri="{FF2B5EF4-FFF2-40B4-BE49-F238E27FC236}">
                <a16:creationId xmlns:a16="http://schemas.microsoft.com/office/drawing/2014/main" id="{988C1CCE-D433-475A-8539-38CF33A0297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E8AB978-BD94-449E-9D02-4A265E48257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xmlns:a="http://schemas.openxmlformats.org/drawingml/2006/main">
              <a:ext uri="{FF2B5EF4-FFF2-40B4-BE49-F238E27FC236}">
                <a16:creationId xmlns:a16="http://schemas.microsoft.com/office/drawing/2014/main" id="{EE92D008-DE98-4C84-90B8-81BE5EE1A51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838E228-8CEC-43AD-AEC6-570D2348EF2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8afcfb4d3df45c7"/>
              </a:rPr>
              <a:t>Open TEST1 assignment form</a:t>
            </a:r>
          </a:p>
        </p:txBody>
      </p:sp>
      <p:sp>
        <p:nvSpPr>
          <p:cNvPr id="14" name="">
            <a:extLst xmlns:a="http://schemas.openxmlformats.org/drawingml/2006/main">
              <a:ext uri="{FF2B5EF4-FFF2-40B4-BE49-F238E27FC236}">
                <a16:creationId xmlns:a16="http://schemas.microsoft.com/office/drawing/2014/main" id="{1BE535D3-A2DC-4D97-BE0E-CC7982C3039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https://docs.google.com/forms/d/e/1FAIpQLScq0XkP-55fa9_XY4ixHKtDNdilmStAZ89FkjBdv1vJvQba-g/viewform</a:t>
            </a:r>
          </a:p>
        </p:txBody>
      </p:sp>
      <p:sp>
        <p:nvSpPr>
          <p:cNvPr id="15" name="">
            <a:extLst xmlns:a="http://schemas.openxmlformats.org/drawingml/2006/main">
              <a:ext uri="{FF2B5EF4-FFF2-40B4-BE49-F238E27FC236}">
                <a16:creationId xmlns:a16="http://schemas.microsoft.com/office/drawing/2014/main" id="{70E25D39-8D79-4DBF-9E34-6CC52429DC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7   19</a:t>
            </a:r>
          </a:p>
        </p:txBody>
      </p:sp>
    </p:spTree>
    <p:extLst>
      <p:ext uri="{BB962C8B-B14F-4D97-AF65-F5344CB8AC3E}">
        <p14:creationId xmlns:p14="http://schemas.microsoft.com/office/powerpoint/2010/main" val="512938124"/>
      </p:ext>
    </p:extLst>
  </p:cSld>
</p:sld>
</file>

<file path=ppt/slides/slide2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5276680-F8E2-48DE-87EB-6CC7A71E48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4D72942F-10DE-492F-AD35-15204E5ED6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B96840E-FC66-4274-8A34-23583F29950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261CF9D-B6BB-4070-A5A2-E89F74D17BD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reopen your notebook and find code and typed reasoning without help.</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C24F010A-46B5-4CCB-99EE-22FCF46BE4D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AEFB25DF-E0D6-4A97-85D8-14F589E99B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7   20</a:t>
            </a:r>
          </a:p>
        </p:txBody>
      </p:sp>
    </p:spTree>
    <p:extLst>
      <p:ext uri="{BB962C8B-B14F-4D97-AF65-F5344CB8AC3E}">
        <p14:creationId xmlns:p14="http://schemas.microsoft.com/office/powerpoint/2010/main" val="7589588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2026-09-28T21:15:00.4540000Z</dcterms:created>
  <dcterms:modified xsi:type="dcterms:W3CDTF">2026-09-28T21:15:00.4540000Z</dcterms:modified>
</coreProperties>
</file>