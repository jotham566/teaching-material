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85d0d7bd174145" /><Relationship Type="http://schemas.openxmlformats.org/officeDocument/2006/relationships/extended-properties" Target="/docProps/app.xml" Id="R605e8c7da1a0444a" /><Relationship Type="http://schemas.openxmlformats.org/officeDocument/2006/relationships/officeDocument" Target="/ppt/presentation.xml" Id="Rfc1da108454d49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8d13a6a5fa41cf"/>
  </p:sldMasterIdLst>
  <p:notesMasterIdLst>
    <p:notesMasterId xmlns:r="http://schemas.openxmlformats.org/officeDocument/2006/relationships" r:id="R71b7978815414aab"/>
  </p:notesMasterIdLst>
  <p:sldIdLst>
    <p:sldId xmlns:r="http://schemas.openxmlformats.org/officeDocument/2006/relationships" id="256" r:id="Rbb3c44cbfc604eec"/>
    <p:sldId xmlns:r="http://schemas.openxmlformats.org/officeDocument/2006/relationships" id="257" r:id="Raf962a78e72b4b17"/>
    <p:sldId xmlns:r="http://schemas.openxmlformats.org/officeDocument/2006/relationships" id="258" r:id="Rc0ad778a9d2947a5"/>
    <p:sldId xmlns:r="http://schemas.openxmlformats.org/officeDocument/2006/relationships" id="259" r:id="Rabd709954f2f41fe"/>
    <p:sldId xmlns:r="http://schemas.openxmlformats.org/officeDocument/2006/relationships" id="260" r:id="R68ab98f067ea40bf"/>
    <p:sldId xmlns:r="http://schemas.openxmlformats.org/officeDocument/2006/relationships" id="261" r:id="Re9968fb1a1fc46d9"/>
    <p:sldId xmlns:r="http://schemas.openxmlformats.org/officeDocument/2006/relationships" id="262" r:id="R1adc407236904696"/>
    <p:sldId xmlns:r="http://schemas.openxmlformats.org/officeDocument/2006/relationships" id="263" r:id="Rb55834fa15344b27"/>
    <p:sldId xmlns:r="http://schemas.openxmlformats.org/officeDocument/2006/relationships" id="264" r:id="R97970c65720041d5"/>
    <p:sldId xmlns:r="http://schemas.openxmlformats.org/officeDocument/2006/relationships" id="265" r:id="Ra20ffe5a2fa54d79"/>
    <p:sldId xmlns:r="http://schemas.openxmlformats.org/officeDocument/2006/relationships" id="266" r:id="Rf9f7528e66fb4b43"/>
    <p:sldId xmlns:r="http://schemas.openxmlformats.org/officeDocument/2006/relationships" id="267" r:id="R2b4e8ff42bbc4547"/>
    <p:sldId xmlns:r="http://schemas.openxmlformats.org/officeDocument/2006/relationships" id="268" r:id="Rdf7662c7f8bd417b"/>
    <p:sldId xmlns:r="http://schemas.openxmlformats.org/officeDocument/2006/relationships" id="269" r:id="R981839b90b8a4284"/>
    <p:sldId xmlns:r="http://schemas.openxmlformats.org/officeDocument/2006/relationships" id="270" r:id="R3455094d96fe42dd"/>
    <p:sldId xmlns:r="http://schemas.openxmlformats.org/officeDocument/2006/relationships" id="271" r:id="Rd1bedded4c194bc5"/>
    <p:sldId xmlns:r="http://schemas.openxmlformats.org/officeDocument/2006/relationships" id="272" r:id="R9210c020c9b54824"/>
    <p:sldId xmlns:r="http://schemas.openxmlformats.org/officeDocument/2006/relationships" id="273" r:id="Ra12ec48611ea40ec"/>
    <p:sldId xmlns:r="http://schemas.openxmlformats.org/officeDocument/2006/relationships" id="274" r:id="Rd878ca51b0d249b7"/>
    <p:sldId xmlns:r="http://schemas.openxmlformats.org/officeDocument/2006/relationships" id="275" r:id="R89f93e34a27a44b3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7ce1e485614b1e" /><Relationship Type="http://schemas.openxmlformats.org/officeDocument/2006/relationships/slideMaster" Target="/ppt/slideMasters/slideMaster1.xml" Id="R9f8d13a6a5fa41cf" /><Relationship Type="http://schemas.openxmlformats.org/officeDocument/2006/relationships/notesMaster" Target="/ppt/notesMasters/notesMaster1.xml" Id="R71b7978815414aab" /><Relationship Type="http://schemas.openxmlformats.org/officeDocument/2006/relationships/presProps" Target="/ppt/presProps.xml" Id="R4365a90ee11e4308" /><Relationship Type="http://schemas.openxmlformats.org/officeDocument/2006/relationships/tableStyles" Target="/ppt/tableStyles.xml" Id="R5fb2f65471de4448" /><Relationship Type="http://schemas.openxmlformats.org/officeDocument/2006/relationships/slide" Target="/ppt/slides/slide1.xml" Id="Rbb3c44cbfc604eec" /><Relationship Type="http://schemas.openxmlformats.org/officeDocument/2006/relationships/slide" Target="/ppt/slides/slide2.xml" Id="Raf962a78e72b4b17" /><Relationship Type="http://schemas.openxmlformats.org/officeDocument/2006/relationships/slide" Target="/ppt/slides/slide3.xml" Id="Rc0ad778a9d2947a5" /><Relationship Type="http://schemas.openxmlformats.org/officeDocument/2006/relationships/slide" Target="/ppt/slides/slide4.xml" Id="Rabd709954f2f41fe" /><Relationship Type="http://schemas.openxmlformats.org/officeDocument/2006/relationships/slide" Target="/ppt/slides/slide5.xml" Id="R68ab98f067ea40bf" /><Relationship Type="http://schemas.openxmlformats.org/officeDocument/2006/relationships/slide" Target="/ppt/slides/slide6.xml" Id="Re9968fb1a1fc46d9" /><Relationship Type="http://schemas.openxmlformats.org/officeDocument/2006/relationships/slide" Target="/ppt/slides/slide7.xml" Id="R1adc407236904696" /><Relationship Type="http://schemas.openxmlformats.org/officeDocument/2006/relationships/slide" Target="/ppt/slides/slide8.xml" Id="Rb55834fa15344b27" /><Relationship Type="http://schemas.openxmlformats.org/officeDocument/2006/relationships/slide" Target="/ppt/slides/slide9.xml" Id="R97970c65720041d5" /><Relationship Type="http://schemas.openxmlformats.org/officeDocument/2006/relationships/slide" Target="/ppt/slides/slide10.xml" Id="Ra20ffe5a2fa54d79" /><Relationship Type="http://schemas.openxmlformats.org/officeDocument/2006/relationships/slide" Target="/ppt/slides/slide11.xml" Id="Rf9f7528e66fb4b43" /><Relationship Type="http://schemas.openxmlformats.org/officeDocument/2006/relationships/slide" Target="/ppt/slides/slide12.xml" Id="R2b4e8ff42bbc4547" /><Relationship Type="http://schemas.openxmlformats.org/officeDocument/2006/relationships/slide" Target="/ppt/slides/slide13.xml" Id="Rdf7662c7f8bd417b" /><Relationship Type="http://schemas.openxmlformats.org/officeDocument/2006/relationships/slide" Target="/ppt/slides/slide14.xml" Id="R981839b90b8a4284" /><Relationship Type="http://schemas.openxmlformats.org/officeDocument/2006/relationships/slide" Target="/ppt/slides/slide15.xml" Id="R3455094d96fe42dd" /><Relationship Type="http://schemas.openxmlformats.org/officeDocument/2006/relationships/slide" Target="/ppt/slides/slide16.xml" Id="Rd1bedded4c194bc5" /><Relationship Type="http://schemas.openxmlformats.org/officeDocument/2006/relationships/slide" Target="/ppt/slides/slide17.xml" Id="R9210c020c9b54824" /><Relationship Type="http://schemas.openxmlformats.org/officeDocument/2006/relationships/slide" Target="/ppt/slides/slide18.xml" Id="Ra12ec48611ea40ec" /><Relationship Type="http://schemas.openxmlformats.org/officeDocument/2006/relationships/slide" Target="/ppt/slides/slide19.xml" Id="Rd878ca51b0d249b7" /><Relationship Type="http://schemas.openxmlformats.org/officeDocument/2006/relationships/slide" Target="/ppt/slides/slide20.xml" Id="R89f93e34a27a44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8a4a58e25a44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e03a33b55542e9" /><Relationship Type="http://schemas.openxmlformats.org/officeDocument/2006/relationships/notesMaster" Target="/ppt/notesMasters/notesMaster1.xml" Id="R3cea8675dcd344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53d873b31645dd" /><Relationship Type="http://schemas.openxmlformats.org/officeDocument/2006/relationships/notesMaster" Target="/ppt/notesMasters/notesMaster1.xml" Id="Rb57099c439d540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c706328e4f4bb7" /><Relationship Type="http://schemas.openxmlformats.org/officeDocument/2006/relationships/notesMaster" Target="/ppt/notesMasters/notesMaster1.xml" Id="R1194f5f317a541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2c9254fb6b4b1d" /><Relationship Type="http://schemas.openxmlformats.org/officeDocument/2006/relationships/notesMaster" Target="/ppt/notesMasters/notesMaster1.xml" Id="R630c2ae00ffe4a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3cc4f2c664389" /><Relationship Type="http://schemas.openxmlformats.org/officeDocument/2006/relationships/notesMaster" Target="/ppt/notesMasters/notesMaster1.xml" Id="R8ee7e90910d6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8b93ae12874415" /><Relationship Type="http://schemas.openxmlformats.org/officeDocument/2006/relationships/notesMaster" Target="/ppt/notesMasters/notesMaster1.xml" Id="Rc605f0e1e01c45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df2189b9b245b8" /><Relationship Type="http://schemas.openxmlformats.org/officeDocument/2006/relationships/notesMaster" Target="/ppt/notesMasters/notesMaster1.xml" Id="R53b753d7e6ca42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f1b9d6bed54f8a" /><Relationship Type="http://schemas.openxmlformats.org/officeDocument/2006/relationships/notesMaster" Target="/ppt/notesMasters/notesMaster1.xml" Id="R29d7830c0d634a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0f410e51494419" /><Relationship Type="http://schemas.openxmlformats.org/officeDocument/2006/relationships/notesMaster" Target="/ppt/notesMasters/notesMaster1.xml" Id="Rdb831b73d9b640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fc5efecaaa44b0" /><Relationship Type="http://schemas.openxmlformats.org/officeDocument/2006/relationships/notesMaster" Target="/ppt/notesMasters/notesMaster1.xml" Id="Re79c79c343ef46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ca3cf97c5247bc" /><Relationship Type="http://schemas.openxmlformats.org/officeDocument/2006/relationships/notesMaster" Target="/ppt/notesMasters/notesMaster1.xml" Id="Ra3d81592191749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63cb30fcd74a77" /><Relationship Type="http://schemas.openxmlformats.org/officeDocument/2006/relationships/notesMaster" Target="/ppt/notesMasters/notesMaster1.xml" Id="R72e97037dbde42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a3d070cffd432d" /><Relationship Type="http://schemas.openxmlformats.org/officeDocument/2006/relationships/notesMaster" Target="/ppt/notesMasters/notesMaster1.xml" Id="Rad84de9ac66d4c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af896ed736490c" /><Relationship Type="http://schemas.openxmlformats.org/officeDocument/2006/relationships/notesMaster" Target="/ppt/notesMasters/notesMaster1.xml" Id="R1d6084e630664e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94217c5cb05451e" /><Relationship Type="http://schemas.openxmlformats.org/officeDocument/2006/relationships/notesMaster" Target="/ppt/notesMasters/notesMaster1.xml" Id="R30099abbafd64b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04828cbf97443c8" /><Relationship Type="http://schemas.openxmlformats.org/officeDocument/2006/relationships/notesMaster" Target="/ppt/notesMasters/notesMaster1.xml" Id="Rf6b7356f1e5e45b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acb9edb3d9c44d2" /><Relationship Type="http://schemas.openxmlformats.org/officeDocument/2006/relationships/notesMaster" Target="/ppt/notesMasters/notesMaster1.xml" Id="R2b3ccd24d24d4f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56fa4a1c1b43c0" /><Relationship Type="http://schemas.openxmlformats.org/officeDocument/2006/relationships/notesMaster" Target="/ppt/notesMasters/notesMaster1.xml" Id="Rd682a24fc9f74ce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5fcf4cff60049b7" /><Relationship Type="http://schemas.openxmlformats.org/officeDocument/2006/relationships/notesMaster" Target="/ppt/notesMasters/notesMaster1.xml" Id="R98fb0c52bf53499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097e43c45944bc0" /><Relationship Type="http://schemas.openxmlformats.org/officeDocument/2006/relationships/notesMaster" Target="/ppt/notesMasters/notesMaster1.xml" Id="Rea6c608e14a245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Preparing for 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the preceding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Communications, Electrical, Mechatronics and Robotics Engineering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Today’s learning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Preparing for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 the published test rules before the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Connection to the previous lesson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Can you open the provided notebook and data on the prepared lab computer without internet?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Rehearse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separate practice notebook before the timed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 the supplied data and run a familiar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test packet and permitted resources are issued by the lecturer.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Save the complete notebook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Rehearse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Type Part B under My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Locate the complete notebook in the designated local folder.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Reopen it to check that code and written answers were saved.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Follow the published test procedure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Save the complete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briefing before starting assessed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only the resources permitted for that part of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Report a technical failure to the invigilator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Follow the published test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code in this order:</a:t>
            </a:r>
          </a:p>
          <a:p xmlns:a="http://schemas.openxmlformats.org/drawingml/2006/main">
            <a:r>
              <a:t>values = [3, 5, 7]</a:t>
            </a:r>
          </a:p>
          <a:p xmlns:a="http://schemas.openxmlformats.org/drawingml/2006/main">
            <a:r>
              <a:t>print(len(values))</a:t>
            </a:r>
          </a:p>
          <a:p xmlns:a="http://schemas.openxmlformats.org/drawingml/2006/main">
            <a:r>
              <a:t>print(sum(values) / len(values))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print displays a value below the cell.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Square brackets create a list or select an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= assigns the value on the right to the name on the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top to bottom. Run the complete example in the matching practice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Test 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00–15 minutes: briefing and file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15–135 minutes: individual practical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135–160 minutes: typed offline reasoning, with code execution prohibited.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160–180 minutes: save and hand in through invigilated offline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Every learner completes the offline save-and-reopen rehearsal.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Escalate lab-access failures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Your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the official TEST1 brief, interfaces and rubric.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assessed period has 120 practical minutes and 25 typed reasoning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Your lecturer will issue the test packet and collection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Write your own explanation in the markdown cell headed `## My written evidence`.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that heading.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prompts and code comments are excluded from reasoning 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Complete every original rubric criterion below, not just the checked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profiling, justified cleaning, question-led charts and your engineering recommendation where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raw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units and distinguish correlation from causation.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Charts must be actual labelled figures in the notebook, not claims that charts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captions and readable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Loading &amp; profiling (15.0 total): Data loaded correctly; shape, types and summary produced; the dataset is described accurately in the student's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Cleaning decisions &amp; justification (20.0 total): Defects found.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handling decision stated AND justified.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Marks are for the justification - an unjustified correct fix scores roughly half.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Visualisation (20.0 total): Three charts, each captioned with the question it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Correct chart 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Axes labelled with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No decoration without purpose.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Findings (20.0 total): Five findings, supported by evidence from the data, stated with correct magnitudes and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wrong number loses the mark even if the method was right.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Engineering interpretation (15.0 total): One recommendation that an engineer could act on, plus a clear statement of what further data would be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Clarity &amp; reproducibility (10.0 total): Notebook runs top to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Logical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Markdown explains intent.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dead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Timing and Part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 minutes setup, 120 minutes practical, 25 minutes typed offline reasoning with code execution prohibited, 20 minutes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Answer: Why your main cleaning/model choice?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What can your chart/metric not establish?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evidence would change your recommendation?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further data is required?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Invigilated offline collection is authoritative; Google upload is a later transport step and must not impose an internet requirement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1 submission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Offline invigilated collection is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upload is a later transport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one notebook with Part B under My written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Before you leave.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Revision and submission checklist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1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your work and check the required submission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independent revision and the issued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2f3fb6055843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f61aa035a49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8dbbdfbba34b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68a36e97e94ef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dd313336f48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6330384b84b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B46BF6D-A376-40C4-89CE-60B999FC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2098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E3BF09-9289-4B27-92FA-F2EE10368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590800"/>
            <a:ext cx="9753356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024BBCE-5A24-4DBD-AF8B-54ACA0D290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54" y="3771900"/>
            <a:ext cx="8534187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C40EB91-B360-44DA-BFB5-7AC92805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4765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A8D27F1-8A9F-49ED-8BB7-78F802DD8B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857500"/>
            <a:ext cx="975335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2A5B35A-9C50-437B-8B50-CD00A1CC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F873FF2-B6AD-4122-A1F1-7C48EB9E4C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0A48B61-B821-40A1-99CD-55E99EB03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10820129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7313491-1EB5-4C93-8A74-B28816FD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6D9A8D-EF8A-4C5F-A8EF-A3067755A6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3B8AAA-2211-4013-868F-C9AF614EE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3867C8-E9AD-42F2-9574-4E291DCA93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6838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14C5E3C-0615-456B-81A9-504DB21F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CD16F6-3331-4F64-87B6-09B84B6957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8A9023-729C-4F28-B47D-196DC5C2DC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f3d66fc53c41b2" /><Relationship Type="http://schemas.openxmlformats.org/officeDocument/2006/relationships/slideLayout" Target="/ppt/slideLayouts/slideLayout1.xml" Id="R91a0f525b0db456e" /><Relationship Type="http://schemas.openxmlformats.org/officeDocument/2006/relationships/slideLayout" Target="/ppt/slideLayouts/slideLayout2.xml" Id="Ra3bc7a53bd0b4037" /><Relationship Type="http://schemas.openxmlformats.org/officeDocument/2006/relationships/slideLayout" Target="/ppt/slideLayouts/slideLayout3.xml" Id="Rf397a24ea3b042a2" /><Relationship Type="http://schemas.openxmlformats.org/officeDocument/2006/relationships/slideLayout" Target="/ppt/slideLayouts/slideLayout4.xml" Id="Re23288a7265444e2" /><Relationship Type="http://schemas.openxmlformats.org/officeDocument/2006/relationships/slideLayout" Target="/ppt/slideLayouts/slideLayout5.xml" Id="Ra0817ad42ae7454e" /><Relationship Type="http://schemas.openxmlformats.org/officeDocument/2006/relationships/slideLayout" Target="/ppt/slideLayouts/slideLayout6.xml" Id="R9b71b2b153b843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a0f525b0db456e"/>
    <p:sldLayoutId xmlns:r="http://schemas.openxmlformats.org/officeDocument/2006/relationships" id="2147483650" r:id="Ra3bc7a53bd0b4037"/>
    <p:sldLayoutId xmlns:r="http://schemas.openxmlformats.org/officeDocument/2006/relationships" id="2147483651" r:id="Rf397a24ea3b042a2"/>
    <p:sldLayoutId xmlns:r="http://schemas.openxmlformats.org/officeDocument/2006/relationships" id="2147483652" r:id="Re23288a7265444e2"/>
    <p:sldLayoutId xmlns:r="http://schemas.openxmlformats.org/officeDocument/2006/relationships" id="2147483653" r:id="Ra0817ad42ae7454e"/>
    <p:sldLayoutId xmlns:r="http://schemas.openxmlformats.org/officeDocument/2006/relationships" id="2147483654" r:id="R9b71b2b153b843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50c98d13441bc" /><Relationship Type="http://schemas.openxmlformats.org/officeDocument/2006/relationships/image" Target="/ppt/media/image.png" Id="Rd0c08d28b0ed4187" /><Relationship Type="http://schemas.openxmlformats.org/officeDocument/2006/relationships/notesSlide" Target="/ppt/notesSlides/notesSlide1.xml" Id="R493e2df9d5654b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5539c8a2b2493d" /><Relationship Type="http://schemas.openxmlformats.org/officeDocument/2006/relationships/notesSlide" Target="/ppt/notesSlides/notesSlide2.xml" Id="R025f79bb449048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c1587e382d4e4d" /><Relationship Type="http://schemas.openxmlformats.org/officeDocument/2006/relationships/notesSlide" Target="/ppt/notesSlides/notesSlide3.xml" Id="R867ebe8afa1141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6ea133a3d442e8" /><Relationship Type="http://schemas.openxmlformats.org/officeDocument/2006/relationships/notesSlide" Target="/ppt/notesSlides/notesSlide4.xml" Id="R387a2cab98fb43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9480c4a344be7" /><Relationship Type="http://schemas.openxmlformats.org/officeDocument/2006/relationships/notesSlide" Target="/ppt/notesSlides/notesSlide5.xml" Id="Ra1ea71627d874d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c90a617aba4602" /><Relationship Type="http://schemas.openxmlformats.org/officeDocument/2006/relationships/notesSlide" Target="/ppt/notesSlides/notesSlide6.xml" Id="Rfc5237412f8a4a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817581132a4ad0" /><Relationship Type="http://schemas.openxmlformats.org/officeDocument/2006/relationships/notesSlide" Target="/ppt/notesSlides/notesSlide7.xml" Id="Rf0273731137a4a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11206de80b4a66" /><Relationship Type="http://schemas.openxmlformats.org/officeDocument/2006/relationships/notesSlide" Target="/ppt/notesSlides/notesSlide8.xml" Id="R31e85fe239a647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01b876b864673" /><Relationship Type="http://schemas.openxmlformats.org/officeDocument/2006/relationships/notesSlide" Target="/ppt/notesSlides/notesSlide9.xml" Id="R415c8a2f96bd44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d7790c0c364efb" /><Relationship Type="http://schemas.openxmlformats.org/officeDocument/2006/relationships/notesSlide" Target="/ppt/notesSlides/notesSlide10.xml" Id="R55eb820332d343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ff24d74115414b" /><Relationship Type="http://schemas.openxmlformats.org/officeDocument/2006/relationships/notesSlide" Target="/ppt/notesSlides/notesSlide11.xml" Id="R4ea0768e900345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49d940c1dc4c23" /><Relationship Type="http://schemas.openxmlformats.org/officeDocument/2006/relationships/notesSlide" Target="/ppt/notesSlides/notesSlide12.xml" Id="R4de9749597284c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aa63a06e374dd8" /><Relationship Type="http://schemas.openxmlformats.org/officeDocument/2006/relationships/notesSlide" Target="/ppt/notesSlides/notesSlide13.xml" Id="R54c12a01021541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e493d25ccd4036" /><Relationship Type="http://schemas.openxmlformats.org/officeDocument/2006/relationships/notesSlide" Target="/ppt/notesSlides/notesSlide14.xml" Id="Rf6d2ccfd6e2749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4944bfa884b7c" /><Relationship Type="http://schemas.openxmlformats.org/officeDocument/2006/relationships/notesSlide" Target="/ppt/notesSlides/notesSlide15.xml" Id="R2d632cd4a0ce47d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75de4ea5f34c98" /><Relationship Type="http://schemas.openxmlformats.org/officeDocument/2006/relationships/notesSlide" Target="/ppt/notesSlides/notesSlide16.xml" Id="Re1b9e1dfdbfb4c5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edb9e62b724bd6" /><Relationship Type="http://schemas.openxmlformats.org/officeDocument/2006/relationships/notesSlide" Target="/ppt/notesSlides/notesSlide17.xml" Id="R2dea2377bed84c3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4c6a9edc72405f" /><Relationship Type="http://schemas.openxmlformats.org/officeDocument/2006/relationships/notesSlide" Target="/ppt/notesSlides/notesSlide18.xml" Id="R57c3507855754c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94a51735444860" /><Relationship Type="http://schemas.openxmlformats.org/officeDocument/2006/relationships/hyperlink" Target="https://docs.google.com/forms/d/e/1FAIpQLScq0XkP-55fa9_XY4ixHKtDNdilmStAZ89FkjBdv1vJvQba-g/viewform" TargetMode="External" Id="R5bfb66f7fbea4ca4" /><Relationship Type="http://schemas.openxmlformats.org/officeDocument/2006/relationships/notesSlide" Target="/ppt/notesSlides/notesSlide19.xml" Id="R8f105d3f6f5b45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331f616e434cf0" /><Relationship Type="http://schemas.openxmlformats.org/officeDocument/2006/relationships/notesSlide" Target="/ppt/notesSlides/notesSlide20.xml" Id="R50c07eabfc4045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08d28b0ed4187"/>
          <a:stretch xmlns:a="http://schemas.openxmlformats.org/drawingml/2006/main"/>
        </p:blipFill>
        <p:spPr>
          <a:xfrm xmlns:a="http://schemas.openxmlformats.org/drawingml/2006/main">
            <a:off x="3087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826E4-9DE3-48A6-ACEE-23FCAEF5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81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AD04F-4728-44E3-9111-2C078324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CML3111   WEEK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9397F-7B7B-44FE-831E-6DA5A266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619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Preparing for Practical Test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2EAC7-FBFF-4E7F-B769-EF584D0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Communications, Electrical, Mechatronics and Robotics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ED856-6DD7-4E1B-A0F0-A77C393C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4667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23 October 2026</a:t>
            </a:r>
          </a:p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Friday 11:00–14:00, Room 115</a:t>
            </a:r>
          </a:p>
        </p:txBody>
      </p:sp>
    </p:spTree>
    <p:extLst>
      <p:ext uri="{BB962C8B-B14F-4D97-AF65-F5344CB8AC3E}">
        <p14:creationId xmlns:p14="http://schemas.microsoft.com/office/powerpoint/2010/main" val="21135207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E401C-757F-48A2-8F01-5FF07CEE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43FA7-DC2B-43F7-B0DA-F6A1C71F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TODAY’S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52AF7-764F-4EBB-A578-40F5439E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Today’s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5121A-1DF8-47EC-8475-9A24AF47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8568BE-FCA3-45CB-A819-F5E3E829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00250"/>
            <a:ext cx="474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WE WILL 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282C1-53A7-4420-8097-C1496643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90800"/>
            <a:ext cx="47434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Rehearse saving and reopening the required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Check the published test rules before the session.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D106A5-5F85-4E12-8FB8-9390A462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YOU WILL SHOW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0BDE71-BA33-4416-B43A-9C1E66E8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858D3-BFC4-4B20-B66C-D7B0CAFA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2</a:t>
            </a:r>
          </a:p>
        </p:txBody>
      </p:sp>
    </p:spTree>
    <p:extLst>
      <p:ext uri="{BB962C8B-B14F-4D97-AF65-F5344CB8AC3E}">
        <p14:creationId xmlns:p14="http://schemas.microsoft.com/office/powerpoint/2010/main" val="932972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5A194-55F3-44D9-8E1E-46863889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40AD2-F4B1-4E62-80DF-62992519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6A512B-47E3-42A4-9BD4-2792B3DC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 to the previous lesson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55F5A-4C35-4501-BD1F-889CC6A2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41F15C-4555-43E9-A210-FD3CA80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Can you open the provided notebook and data on the prepared lab computer without internet?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EC2C5-D22A-41F5-B328-FEFF6ED7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3</a:t>
            </a:r>
          </a:p>
        </p:txBody>
      </p:sp>
    </p:spTree>
    <p:extLst>
      <p:ext uri="{BB962C8B-B14F-4D97-AF65-F5344CB8AC3E}">
        <p14:creationId xmlns:p14="http://schemas.microsoft.com/office/powerpoint/2010/main" val="18505953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6726A6-7C64-475D-ACA7-7DEA11C3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5CFD1-35DC-45DF-9427-A46AEAAF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CCF6F-1318-41CC-AC4A-BB4E50B9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Rehearse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F8A8B-B984-46AF-AAC0-D332C4D4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DCFE3-9C76-4082-978E-2CFA627E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separate practice notebook before the timed session.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B3D10-DBF2-44B5-90AB-47CBE63A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27C69-A590-4EE0-87A6-516FB58C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Open the supplied data and run a familiar calculation.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84E53-F509-4100-96F7-17B23023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4A53A-DC9C-4B7A-95B3-552D2F1A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test packet and permitted resources are issued by the lecturer.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C5A2B-A2F9-4F49-98F8-9987365D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4</a:t>
            </a:r>
          </a:p>
        </p:txBody>
      </p:sp>
    </p:spTree>
    <p:extLst>
      <p:ext uri="{BB962C8B-B14F-4D97-AF65-F5344CB8AC3E}">
        <p14:creationId xmlns:p14="http://schemas.microsoft.com/office/powerpoint/2010/main" val="11443354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75AE8-10C6-46A7-9213-5E3D74D4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138A6-7F97-4839-88FF-34B67E02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4A534-C701-4CFA-82B6-A9010EC0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the complete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925E6-40C8-4A9B-994E-4329DE92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81D78-4553-4B5F-9FD6-421782CD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Type Part B under My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2A77F-1408-43E6-AFB7-C694A316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B1321-4C56-4B73-9BB9-659A9FAE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Locate the complete notebook in the designated local folder.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DC810-8F3B-4E40-BA6B-023C6109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96F65-EC9D-4841-9436-1DD4FCA1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Reopen it to check that code and written answers were saved.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E27E3-3499-4CB1-ABBE-3E2CD9DD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5</a:t>
            </a:r>
          </a:p>
        </p:txBody>
      </p:sp>
    </p:spTree>
    <p:extLst>
      <p:ext uri="{BB962C8B-B14F-4D97-AF65-F5344CB8AC3E}">
        <p14:creationId xmlns:p14="http://schemas.microsoft.com/office/powerpoint/2010/main" val="701534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30324-C6AC-4520-8E78-AD222E9F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A451B-FC8C-4481-98BA-3CF4A5A2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E9B70-73D1-43BD-81EA-F21C3AA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Follow the published test procedure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C240B-7D29-46A9-BE8D-14D3D0E6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F30D4-CB2F-42A5-9EB0-D2319F12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Read the briefing before starting assessed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9B6B1-81FF-496F-B8AC-14A779C2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C1742-3FD1-4605-93F1-0F8405DC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only the resources permitted for that part of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B8EBB-33DB-4E8F-9747-919A907D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A460E-FAFA-462E-A2A3-0C6DDA2B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Report a technical failure to the invigilator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A9A46-4131-4833-AEC7-4B6691CF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6</a:t>
            </a:r>
          </a:p>
        </p:txBody>
      </p:sp>
    </p:spTree>
    <p:extLst>
      <p:ext uri="{BB962C8B-B14F-4D97-AF65-F5344CB8AC3E}">
        <p14:creationId xmlns:p14="http://schemas.microsoft.com/office/powerpoint/2010/main" val="18534169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221FC-14D9-4C95-A7C8-04DE404E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B96CE-3B8B-453C-B42C-B989E693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WORKED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27019-AB44-4785-8A55-E9DFEA40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BC92D-15E2-417D-89A2-1AA3E0C1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7296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10739-6B82-46B7-BC32-748793EF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9913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values = [3, 5, 7]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print(len(values))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print(sum(values) / len(values))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9FEE9-FA90-44EC-A1DB-14A5048D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TO READ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1206F-C577-427B-865B-66AF74D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print displays a value below the cell.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607D17-FEF1-4864-9FCF-A220C004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Square brackets create a list or select an item.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6910C-8322-46CC-9861-52745F21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434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= assigns the value on the right to the name on the left.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48BCDE-9C5D-4A2F-A252-CD51304F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Read top to bottom. Run the complete example in the matching practice notebook.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2818F6-F0EE-40D0-8CC1-6DB34F06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7</a:t>
            </a:r>
          </a:p>
        </p:txBody>
      </p:sp>
    </p:spTree>
    <p:extLst>
      <p:ext uri="{BB962C8B-B14F-4D97-AF65-F5344CB8AC3E}">
        <p14:creationId xmlns:p14="http://schemas.microsoft.com/office/powerpoint/2010/main" val="1989879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D9A13-508A-4C70-A832-F78588E8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573F8-A649-4F97-9CC1-55A25FC2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4DC46-283A-406F-AC29-9E88BE74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58350-3E92-41F9-B675-78F76EC9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D3D3B-AAC0-4E89-8D59-94ECC19E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00–15 minutes: briefing and file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C7AF8-3798-40CD-BC36-4D57DCD3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0356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9A805-E638-4506-821B-2D9BDC6B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0356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15–135 minutes: individual practical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0D90D-0E0B-4B61-AC32-30C50187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46B45-F23A-409B-AE55-F7A8979A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135–160 minutes: typed offline reasoning, with code execution prohibited.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27CDE-28C6-4B27-BBDF-C4C7A23A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88719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012FD-05E8-4312-B1FB-D17E834F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8719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160–180 minutes: save and hand in through invigilated offline collection.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B1128-7696-4C38-9531-DB64377F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8</a:t>
            </a:r>
          </a:p>
        </p:txBody>
      </p:sp>
    </p:spTree>
    <p:extLst>
      <p:ext uri="{BB962C8B-B14F-4D97-AF65-F5344CB8AC3E}">
        <p14:creationId xmlns:p14="http://schemas.microsoft.com/office/powerpoint/2010/main" val="15886473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BCA28-F420-49F8-8861-CB6FA489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66399-51DB-477C-A5BC-D10CA3AC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9B05A-7630-43F3-A75A-402B0815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checkpoint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E5F2F-45D3-4807-9C7E-6AEB27CA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530542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B3E5B-B6B6-476A-9B9A-730669DF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52600"/>
            <a:ext cx="54006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550BD1-D3C0-4861-AAEC-96254D42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14550"/>
            <a:ext cx="475297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Every learner completes the offline save-and-reopen rehearsal.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2ECF0-5AAF-40AF-A5B8-D225E05B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4550"/>
            <a:ext cx="4848225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Escalate lab-access failures before the test.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91F66-BFD4-4BBF-946F-14054548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9</a:t>
            </a:r>
          </a:p>
        </p:txBody>
      </p:sp>
    </p:spTree>
    <p:extLst>
      <p:ext uri="{BB962C8B-B14F-4D97-AF65-F5344CB8AC3E}">
        <p14:creationId xmlns:p14="http://schemas.microsoft.com/office/powerpoint/2010/main" val="6194457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9A094-8541-4AC5-BD8D-99618964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EF488-565A-4772-9669-8840C457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982A4-FAF0-4AC1-8996-8FEF7630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2E80B-4488-4DF9-880A-0FB3A918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31728-15F1-4F91-8D78-C93C9B01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the official TEST1 brief, interfaces and rubric.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4EBB99-DA7A-4D98-B19B-15B291FC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675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16912-62CE-4BD3-97C3-D6401441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6750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assessed period has 120 practical minutes and 25 typed reasoning minutes.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AFB94-F93C-43FB-B127-5783B972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23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E5E88-ABCD-4D34-BE36-0F5FF5B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2325"/>
            <a:ext cx="10096500" cy="134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Your lecturer will issue the test packet and collection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2E66F-CF70-4F2C-A005-A6696E31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10</a:t>
            </a:r>
          </a:p>
        </p:txBody>
      </p:sp>
    </p:spTree>
    <p:extLst>
      <p:ext uri="{BB962C8B-B14F-4D97-AF65-F5344CB8AC3E}">
        <p14:creationId xmlns:p14="http://schemas.microsoft.com/office/powerpoint/2010/main" val="16394849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A4F67D-20C1-4DC8-9E63-76CC9DC9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898D3-599D-48D6-99B8-98863A49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1C1FA0-3F64-434A-BF14-DE77DF0A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8A44E-C02A-45F0-A8AF-20F822B9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19FD0-601C-427D-9C51-3D1AA845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Write your own explanation in the markdown cell headed `## My written evidence`.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325C2-2EF5-461C-BFCE-E309AB8F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00F8E-F61C-4827-A5FA-EEF6E921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that heading.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0ED4B-2124-41DD-84B4-9E6F06F3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3A692-8463-44B1-8794-0B4F6FBC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prompts and code comments are excluded from reasoning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60B5E-BDD4-47E9-A212-F5178121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B0C09-1A02-43FA-B691-46DFB5E7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Complete every original rubric criterion below, not just the checked functions.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D4584-3BE3-495D-8A11-780BD586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11</a:t>
            </a:r>
          </a:p>
        </p:txBody>
      </p:sp>
    </p:spTree>
    <p:extLst>
      <p:ext uri="{BB962C8B-B14F-4D97-AF65-F5344CB8AC3E}">
        <p14:creationId xmlns:p14="http://schemas.microsoft.com/office/powerpoint/2010/main" val="17270861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B9EB8-80EB-4624-B4BD-48AFCEF4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18115-147E-4D9B-BD23-D51E3F76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F6349-F992-440A-ABF5-5A6EA1C8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4B36A-7775-4ACB-A63E-ABEFAE01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0F019-0FE9-4CCE-A423-7ECCE2B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profiling, justified cleaning, question-led charts and your engineering recommendation where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C68A3-D18B-4124-AA79-A29D725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687CA-0735-4016-B3FE-6D23AE92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raw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49CDB-3491-4F2F-9C78-582C198D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D1E5C-1F3E-4CBA-BC22-D1320566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State units and distinguish correlation from causation.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0FF4E-4931-4E42-BE26-CA4B7D44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748970-003F-4521-B032-CB7CF76B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Charts must be actual labelled figures in the notebook, not claims that charts exist.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7979F3-F46B-49AE-ACBB-689E523E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12</a:t>
            </a:r>
          </a:p>
        </p:txBody>
      </p:sp>
    </p:spTree>
    <p:extLst>
      <p:ext uri="{BB962C8B-B14F-4D97-AF65-F5344CB8AC3E}">
        <p14:creationId xmlns:p14="http://schemas.microsoft.com/office/powerpoint/2010/main" val="1875558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EE5AF1-5434-4A17-A720-0F92025F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08E74-CBEE-43E6-AE72-BE3006E5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D3E824-739C-42BA-9E72-34A4F639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D9570-73B3-493A-9AEF-36C90F13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409CF-E3DD-4940-9DD1-9E26A484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captions and readable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34A65-4CCF-4353-A31D-7E7CDA00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AE7BD-F289-4518-8D9D-20AC55DA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Loading &amp; profiling (15.0 total): Data loaded correctly; shape, types and summary produced; the dataset is described accurately in the student's own words.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4E4C90-5CCC-40CF-A74C-C1ECCBA9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0EC1B-85DF-4C14-96E4-DD9F29AC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Cleaning decisions &amp; justification (20.0 total): Defects found.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B9148-BA1A-41A7-A05E-6D495A04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D7EE4-82AD-4FAB-84E4-1366A906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Each handling decision stated AND justified.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BE4BE-A690-4B85-9921-EC8BBC2D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13</a:t>
            </a:r>
          </a:p>
        </p:txBody>
      </p:sp>
    </p:spTree>
    <p:extLst>
      <p:ext uri="{BB962C8B-B14F-4D97-AF65-F5344CB8AC3E}">
        <p14:creationId xmlns:p14="http://schemas.microsoft.com/office/powerpoint/2010/main" val="15859649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58CB1-F452-4E1A-81D7-16EC2B7F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D8F53-B44A-4F6B-930E-9136716E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2E430-36B0-4D63-8E7C-051DD5C0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D830F-63FF-4433-98EC-5F5F1DB1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E2E4A-DF86-4EEE-9BA0-7B70807E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Marks are for the justification - an unjustified correct fix scores roughly half.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D135C-EBE0-40E0-9373-E4D3616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C12036-6FD3-4C2D-A8D5-B11CA381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Visualisation (20.0 total): Three charts, each captioned with the question it answers.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9A355-EF86-4A0F-87DD-B55EAFA3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C157D-ED1E-4B64-9E2A-7E94E588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Correct chart type.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ED5DFF-66E6-4798-B8AC-5E871DAE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00BDA-5870-4EAF-841F-EB384749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Axes labelled with units.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59282-9F5B-402C-82EE-2D7C5ADE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14</a:t>
            </a:r>
          </a:p>
        </p:txBody>
      </p:sp>
    </p:spTree>
    <p:extLst>
      <p:ext uri="{BB962C8B-B14F-4D97-AF65-F5344CB8AC3E}">
        <p14:creationId xmlns:p14="http://schemas.microsoft.com/office/powerpoint/2010/main" val="18862741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67965-F72B-4E7D-938A-06D5134B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326CC-EB99-4BA9-AE2A-34D8FF5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CFF62-0E83-40FF-8ACD-0BF45DEA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6A307-D5A4-49D9-BBF7-82949180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DEFF5-03E9-42C0-9A15-71AF2A42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decoration without purpose.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E7878-9516-4FE8-BC6F-9B4C38CA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04038-403E-45D8-AD4E-027EADF4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Findings (20.0 total): Five findings, supported by evidence from the data, stated with correct magnitudes and units.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66A4C8-7A8A-4763-BDDB-61E7A658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59CEF-FF0A-49DA-8939-18E531D2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wrong number loses the mark even if the method was right.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34255-87BF-4163-9400-E4FE404B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F9EC6-E5E0-4792-B569-49EC610B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Engineering interpretation (15.0 total): One recommendation that an engineer could act on, plus a clear statement of what further data would be needed.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1DEFC-0DBA-462C-8D43-C42606D4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15</a:t>
            </a:r>
          </a:p>
        </p:txBody>
      </p:sp>
    </p:spTree>
    <p:extLst>
      <p:ext uri="{BB962C8B-B14F-4D97-AF65-F5344CB8AC3E}">
        <p14:creationId xmlns:p14="http://schemas.microsoft.com/office/powerpoint/2010/main" val="1050734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F8198F-6587-459A-BB5F-4F83A589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6F0B3-3EF8-4159-A90E-71536EA0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91F04-D156-476B-9932-A672A1C5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5D242-4818-4318-828E-F9046744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DD8DA-9AC3-4C9B-89E2-558572C9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Clarity &amp; reproducibility (10.0 total): Notebook runs top to bottom.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8964E-ED16-493A-87A3-693B3FEA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7A511-2A0F-4A1D-B27D-AC05D5BC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Logical order.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CB781-7A01-43B1-88E0-A9648D46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123E9-C525-49B1-9DF6-CBFDD0A3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Markdown explains intent.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30C6E-D4E5-4655-8339-55F53F5D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EF3DA-30F9-44CA-A283-D6601C93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dead code.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F131BB-C359-4293-B665-CC517342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16</a:t>
            </a:r>
          </a:p>
        </p:txBody>
      </p:sp>
    </p:spTree>
    <p:extLst>
      <p:ext uri="{BB962C8B-B14F-4D97-AF65-F5344CB8AC3E}">
        <p14:creationId xmlns:p14="http://schemas.microsoft.com/office/powerpoint/2010/main" val="2470253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630BCB-3E00-4668-8923-231FC5DE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6B1C5-27D5-464E-94E6-E58A9CC6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7FD93-2DAF-4F0D-82A9-5AF2B556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E884E-83FD-4FBE-B4FA-DD98276D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DE4D9-6FC4-4A9B-91F6-863466D2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Timing and Part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DBD6D-1C72-4241-9B67-25AA6667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3C1EE-FDA4-4BB3-A868-6EEE2815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 minutes setup, 120 minutes practical, 25 minutes typed offline reasoning with code execution prohibited, 20 minutes collection.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7E40EB-3DB9-44DC-BFF5-DAC48F80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0F776-57CF-48FE-BA9E-B3390F18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59D0B-68C4-408E-A103-5A479F5E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5D8AD-DE5E-457A-AA46-AE79DCD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Answer: Why your main cleaning/model choice?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5BA4F-E456-43E2-B36F-D00F138B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17</a:t>
            </a:r>
          </a:p>
        </p:txBody>
      </p:sp>
    </p:spTree>
    <p:extLst>
      <p:ext uri="{BB962C8B-B14F-4D97-AF65-F5344CB8AC3E}">
        <p14:creationId xmlns:p14="http://schemas.microsoft.com/office/powerpoint/2010/main" val="6520489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53A3D-C764-4410-B857-5CA5304E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0E0A6-8805-4887-B2BC-1E269552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70535-E681-45A1-992C-0D9B2F3D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8DAC1-B649-4C74-BF9E-57D33DAC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33F97-596A-4D2D-905C-3E40551B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can your chart/metric not establish?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0CBF3-D4EE-49FC-ACC3-9815C391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AE735-4538-4AF6-A909-DF3A8C16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evidence would change your recommendation?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B0D894-F7BD-45CA-8061-C28A5D29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CC04BC-B3B0-4F9E-BC43-2374D4F7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further data is required?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95D78-E53E-4C9F-974C-31A39180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F17D5-05ED-45B2-8DB3-F0C7D21C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Invigilated offline collection is authoritative; Google upload is a later transport step and must not impose an internet requirement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79A72-2AC8-407A-A2C3-7AD15EA1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18</a:t>
            </a:r>
          </a:p>
        </p:txBody>
      </p:sp>
    </p:spTree>
    <p:extLst>
      <p:ext uri="{BB962C8B-B14F-4D97-AF65-F5344CB8AC3E}">
        <p14:creationId xmlns:p14="http://schemas.microsoft.com/office/powerpoint/2010/main" val="5675123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7C8755-33B4-44AB-BEC4-890676A2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29A5A-13FD-45E3-ADAA-0D796DC5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ASSIGNMENT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4E24A-CFA9-4FD5-82DA-8977A5E5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1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AF341-895A-459F-87E5-73A0D871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240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4BA81-BD9D-4452-AC31-95D6223C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24025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Offline invigilated collection is authoritative.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BCD85-7527-48D7-93C3-FDDBE85A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1744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D2CF2-3623-43D3-B12B-DFA08DC8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21744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Google upload is a later transport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DBAAB-A49A-4A3C-8F66-E59DB0EA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94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78710-B35A-4D1B-B104-D83935C2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19463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one notebook with Part B under My written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4628D-2065-4CAA-9E86-BB6AB6F1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7181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6598F-C580-42D2-ABC8-46205C6C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7181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FEE76-BA4B-4121-BB20-7632B678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110109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26A5D-86B8-4F26-82EA-528C1978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E7D6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fb66f7fbea4ca4"/>
              </a:rPr>
              <a:t>Open TEST1 assignment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82CE8-81F8-4366-A912-3DFC5E54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https://docs.google.com/forms/d/e/1FAIpQLScq0XkP-55fa9_XY4ixHKtDNdilmStAZ89FkjBdv1vJvQba-g/viewform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87D853-6303-4837-A6F5-2BC2A50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CML3111   Week 7   19</a:t>
            </a:r>
          </a:p>
        </p:txBody>
      </p:sp>
    </p:spTree>
    <p:extLst>
      <p:ext uri="{BB962C8B-B14F-4D97-AF65-F5344CB8AC3E}">
        <p14:creationId xmlns:p14="http://schemas.microsoft.com/office/powerpoint/2010/main" val="8108040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C31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FA372-DBE7-4925-9CD4-9B29982D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INDIVIDUAL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7DBF2-8D1E-4FCD-A82F-6380AC2D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Revision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BE6B9-E581-4A3B-AF01-532194B7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EXPLAIN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EADA8-5E0A-4D14-B48B-9FD7DF9D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081087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 can reopen your notebook and find code and typed reasoning without help.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your work and check the required submission files.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24098-018A-4472-AB85-D7D0B06E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1200"/>
            <a:ext cx="10810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Point to your evidence. Save your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0F817-64E2-45EF-A9DE-5ABAB551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CML3111   Week 7   20</a:t>
            </a:r>
          </a:p>
        </p:txBody>
      </p:sp>
    </p:spTree>
    <p:extLst>
      <p:ext uri="{BB962C8B-B14F-4D97-AF65-F5344CB8AC3E}">
        <p14:creationId xmlns:p14="http://schemas.microsoft.com/office/powerpoint/2010/main" val="14148926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2026-09-28T21:45:02.6790000Z</dcterms:created>
  <dcterms:modified xsi:type="dcterms:W3CDTF">2026-09-28T21:45:02.6790000Z</dcterms:modified>
</coreProperties>
</file>