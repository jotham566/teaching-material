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837558966b418d" /><Relationship Type="http://schemas.openxmlformats.org/officeDocument/2006/relationships/extended-properties" Target="/docProps/app.xml" Id="R83f280e8adde4aae" /><Relationship Type="http://schemas.openxmlformats.org/officeDocument/2006/relationships/officeDocument" Target="/ppt/presentation.xml" Id="R237b57bca25546e9" /></Relationships>
</file>

<file path=ppt/presentation.xml><?xml version="1.0" encoding="utf-8"?>
<p:presentation xmlns:p="http://schemas.openxmlformats.org/presentationml/2006/main">
  <p:sldMasterIdLst>
    <p:sldMasterId xmlns:r="http://schemas.openxmlformats.org/officeDocument/2006/relationships" id="2147483648" r:id="Rc62a660f381b4b6b"/>
  </p:sldMasterIdLst>
  <p:notesMasterIdLst>
    <p:notesMasterId xmlns:r="http://schemas.openxmlformats.org/officeDocument/2006/relationships" r:id="Rd9ce1f005dd04267"/>
  </p:notesMasterIdLst>
  <p:sldIdLst>
    <p:sldId xmlns:r="http://schemas.openxmlformats.org/officeDocument/2006/relationships" id="256" r:id="R7074a60cf56a4f95"/>
    <p:sldId xmlns:r="http://schemas.openxmlformats.org/officeDocument/2006/relationships" id="257" r:id="R13a33c620e4244e8"/>
    <p:sldId xmlns:r="http://schemas.openxmlformats.org/officeDocument/2006/relationships" id="258" r:id="R1478071ae6f54691"/>
    <p:sldId xmlns:r="http://schemas.openxmlformats.org/officeDocument/2006/relationships" id="259" r:id="Rc8378d80dcea4898"/>
    <p:sldId xmlns:r="http://schemas.openxmlformats.org/officeDocument/2006/relationships" id="260" r:id="R2b71d9f371d34903"/>
    <p:sldId xmlns:r="http://schemas.openxmlformats.org/officeDocument/2006/relationships" id="261" r:id="R7d4f9f78e3e041fa"/>
    <p:sldId xmlns:r="http://schemas.openxmlformats.org/officeDocument/2006/relationships" id="262" r:id="R30291b231b8642f2"/>
    <p:sldId xmlns:r="http://schemas.openxmlformats.org/officeDocument/2006/relationships" id="263" r:id="R9fbd5eecbab84d36"/>
    <p:sldId xmlns:r="http://schemas.openxmlformats.org/officeDocument/2006/relationships" id="264" r:id="Rd504d98a2b5e48fd"/>
    <p:sldId xmlns:r="http://schemas.openxmlformats.org/officeDocument/2006/relationships" id="265" r:id="Rb6607c7463d942f5"/>
    <p:sldId xmlns:r="http://schemas.openxmlformats.org/officeDocument/2006/relationships" id="266" r:id="R5c3a2f431be54863"/>
    <p:sldId xmlns:r="http://schemas.openxmlformats.org/officeDocument/2006/relationships" id="267" r:id="R2f6e676862344da6"/>
    <p:sldId xmlns:r="http://schemas.openxmlformats.org/officeDocument/2006/relationships" id="268" r:id="R11ee7cd64fb145a6"/>
    <p:sldId xmlns:r="http://schemas.openxmlformats.org/officeDocument/2006/relationships" id="269" r:id="R4232598e66a24802"/>
    <p:sldId xmlns:r="http://schemas.openxmlformats.org/officeDocument/2006/relationships" id="270" r:id="Rb50a3b46955b45e8"/>
    <p:sldId xmlns:r="http://schemas.openxmlformats.org/officeDocument/2006/relationships" id="271" r:id="Rae49c8bc6aed4951"/>
    <p:sldId xmlns:r="http://schemas.openxmlformats.org/officeDocument/2006/relationships" id="272" r:id="R574f7ce412644a69"/>
    <p:sldId xmlns:r="http://schemas.openxmlformats.org/officeDocument/2006/relationships" id="273" r:id="R3079276e6fa645b1"/>
    <p:sldId xmlns:r="http://schemas.openxmlformats.org/officeDocument/2006/relationships" id="274" r:id="Rd11cf2955ae34278"/>
    <p:sldId xmlns:r="http://schemas.openxmlformats.org/officeDocument/2006/relationships" id="275" r:id="R36383b9ea5954acf"/>
    <p:sldId xmlns:r="http://schemas.openxmlformats.org/officeDocument/2006/relationships" id="276" r:id="R26797fb00aa74451"/>
    <p:sldId xmlns:r="http://schemas.openxmlformats.org/officeDocument/2006/relationships" id="277" r:id="R4b2d995b14a14009"/>
    <p:sldId xmlns:r="http://schemas.openxmlformats.org/officeDocument/2006/relationships" id="278" r:id="Re3578ac5da684864"/>
    <p:sldId xmlns:r="http://schemas.openxmlformats.org/officeDocument/2006/relationships" id="279" r:id="Rbddcc651add24209"/>
    <p:sldId xmlns:r="http://schemas.openxmlformats.org/officeDocument/2006/relationships" id="280" r:id="R7c37783e3ef24124"/>
    <p:sldId xmlns:r="http://schemas.openxmlformats.org/officeDocument/2006/relationships" id="281" r:id="Rd029995641484088"/>
    <p:sldId xmlns:r="http://schemas.openxmlformats.org/officeDocument/2006/relationships" id="282" r:id="R442e7db75dbf4f97"/>
    <p:sldId xmlns:r="http://schemas.openxmlformats.org/officeDocument/2006/relationships" id="283" r:id="R0397f5fc2b374342"/>
    <p:sldId xmlns:r="http://schemas.openxmlformats.org/officeDocument/2006/relationships" id="284" r:id="R65de2b12fc904e28"/>
    <p:sldId xmlns:r="http://schemas.openxmlformats.org/officeDocument/2006/relationships" id="285" r:id="R73ff49af81f34630"/>
    <p:sldId xmlns:r="http://schemas.openxmlformats.org/officeDocument/2006/relationships" id="286" r:id="R6eeec7b8593b4fee"/>
    <p:sldId xmlns:r="http://schemas.openxmlformats.org/officeDocument/2006/relationships" id="287" r:id="R88d835c7155b415e"/>
    <p:sldId xmlns:r="http://schemas.openxmlformats.org/officeDocument/2006/relationships" id="288" r:id="Reb9a121bdd6c4f6e"/>
    <p:sldId xmlns:r="http://schemas.openxmlformats.org/officeDocument/2006/relationships" id="289" r:id="R0b10a0db8822444b"/>
    <p:sldId xmlns:r="http://schemas.openxmlformats.org/officeDocument/2006/relationships" id="290" r:id="Re88ed67d019c4398"/>
    <p:sldId xmlns:r="http://schemas.openxmlformats.org/officeDocument/2006/relationships" id="291" r:id="R43a86aad5ada47a5"/>
    <p:sldId xmlns:r="http://schemas.openxmlformats.org/officeDocument/2006/relationships" id="292" r:id="Rad394bf13ae74122"/>
    <p:sldId xmlns:r="http://schemas.openxmlformats.org/officeDocument/2006/relationships" id="293" r:id="Rde34dedd4bb44c32"/>
    <p:sldId xmlns:r="http://schemas.openxmlformats.org/officeDocument/2006/relationships" id="294" r:id="R02242d739f834872"/>
    <p:sldId xmlns:r="http://schemas.openxmlformats.org/officeDocument/2006/relationships" id="295" r:id="R044aeecaebcc44c9"/>
    <p:sldId xmlns:r="http://schemas.openxmlformats.org/officeDocument/2006/relationships" id="296" r:id="Reeaa925353b442a2"/>
    <p:sldId xmlns:r="http://schemas.openxmlformats.org/officeDocument/2006/relationships" id="297" r:id="R3638a45e9b024b07"/>
    <p:sldId xmlns:r="http://schemas.openxmlformats.org/officeDocument/2006/relationships" id="298" r:id="Raf65d92433dc42dd"/>
    <p:sldId xmlns:r="http://schemas.openxmlformats.org/officeDocument/2006/relationships" id="299" r:id="R75f93a82edbc4e6c"/>
    <p:sldId xmlns:r="http://schemas.openxmlformats.org/officeDocument/2006/relationships" id="300" r:id="R5f04f71739344075"/>
    <p:sldId xmlns:r="http://schemas.openxmlformats.org/officeDocument/2006/relationships" id="301" r:id="R4bcd1d92319d49ca"/>
    <p:sldId xmlns:r="http://schemas.openxmlformats.org/officeDocument/2006/relationships" id="302" r:id="R6f2858f3a6e541a5"/>
    <p:sldId xmlns:r="http://schemas.openxmlformats.org/officeDocument/2006/relationships" id="303" r:id="Rabec1245ecbc4682"/>
    <p:sldId xmlns:r="http://schemas.openxmlformats.org/officeDocument/2006/relationships" id="304" r:id="R7665201f50b24b72"/>
    <p:sldId xmlns:r="http://schemas.openxmlformats.org/officeDocument/2006/relationships" id="305" r:id="Rce8429128fd041eb"/>
    <p:sldId xmlns:r="http://schemas.openxmlformats.org/officeDocument/2006/relationships" id="306" r:id="R8bfb8e363d2c4d93"/>
    <p:sldId xmlns:r="http://schemas.openxmlformats.org/officeDocument/2006/relationships" id="307" r:id="Rfd3f84607b584365"/>
    <p:sldId xmlns:r="http://schemas.openxmlformats.org/officeDocument/2006/relationships" id="308" r:id="Rccea980db07c458b"/>
    <p:sldId xmlns:r="http://schemas.openxmlformats.org/officeDocument/2006/relationships" id="309" r:id="Re28af9affa0d460a"/>
    <p:sldId xmlns:r="http://schemas.openxmlformats.org/officeDocument/2006/relationships" id="310" r:id="R7b3adeea66624968"/>
    <p:sldId xmlns:r="http://schemas.openxmlformats.org/officeDocument/2006/relationships" id="311" r:id="Reff17734582d413f"/>
    <p:sldId xmlns:r="http://schemas.openxmlformats.org/officeDocument/2006/relationships" id="312" r:id="R1e6268332855476e"/>
    <p:sldId xmlns:r="http://schemas.openxmlformats.org/officeDocument/2006/relationships" id="313" r:id="Rebd57f3d31ea4fa1"/>
    <p:sldId xmlns:r="http://schemas.openxmlformats.org/officeDocument/2006/relationships" id="314" r:id="R89d09d13b0304625"/>
    <p:sldId xmlns:r="http://schemas.openxmlformats.org/officeDocument/2006/relationships" id="315" r:id="R3b5b8b4869324965"/>
    <p:sldId xmlns:r="http://schemas.openxmlformats.org/officeDocument/2006/relationships" id="316" r:id="R80d93178319b48cc"/>
    <p:sldId xmlns:r="http://schemas.openxmlformats.org/officeDocument/2006/relationships" id="317" r:id="R4db1bb3c35624a91"/>
    <p:sldId xmlns:r="http://schemas.openxmlformats.org/officeDocument/2006/relationships" id="318" r:id="R245646f2d9a848a2"/>
    <p:sldId xmlns:r="http://schemas.openxmlformats.org/officeDocument/2006/relationships" id="319" r:id="R71f99dcb574c4aeb"/>
    <p:sldId xmlns:r="http://schemas.openxmlformats.org/officeDocument/2006/relationships" id="320" r:id="Rd22340325dfb407b"/>
    <p:sldId xmlns:r="http://schemas.openxmlformats.org/officeDocument/2006/relationships" id="321" r:id="Rabd6d5f6e17d4778"/>
    <p:sldId xmlns:r="http://schemas.openxmlformats.org/officeDocument/2006/relationships" id="322" r:id="R9b53bde7b4054105"/>
    <p:sldId xmlns:r="http://schemas.openxmlformats.org/officeDocument/2006/relationships" id="323" r:id="R6b2941a08da94b3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6de21a561947e8" /><Relationship Type="http://schemas.openxmlformats.org/officeDocument/2006/relationships/slideMaster" Target="/ppt/slideMasters/slideMaster1.xml" Id="Rc62a660f381b4b6b" /><Relationship Type="http://schemas.openxmlformats.org/officeDocument/2006/relationships/notesMaster" Target="/ppt/notesMasters/notesMaster1.xml" Id="Rd9ce1f005dd04267" /><Relationship Type="http://schemas.openxmlformats.org/officeDocument/2006/relationships/presProps" Target="/ppt/presProps.xml" Id="R8ff6a40a295945fd" /><Relationship Type="http://schemas.openxmlformats.org/officeDocument/2006/relationships/tableStyles" Target="/ppt/tableStyles.xml" Id="R89098f7088a043bb" /><Relationship Type="http://schemas.openxmlformats.org/officeDocument/2006/relationships/slide" Target="/ppt/slides/slide1.xml" Id="R7074a60cf56a4f95" /><Relationship Type="http://schemas.openxmlformats.org/officeDocument/2006/relationships/slide" Target="/ppt/slides/slide2.xml" Id="R13a33c620e4244e8" /><Relationship Type="http://schemas.openxmlformats.org/officeDocument/2006/relationships/slide" Target="/ppt/slides/slide3.xml" Id="R1478071ae6f54691" /><Relationship Type="http://schemas.openxmlformats.org/officeDocument/2006/relationships/slide" Target="/ppt/slides/slide4.xml" Id="Rc8378d80dcea4898" /><Relationship Type="http://schemas.openxmlformats.org/officeDocument/2006/relationships/slide" Target="/ppt/slides/slide5.xml" Id="R2b71d9f371d34903" /><Relationship Type="http://schemas.openxmlformats.org/officeDocument/2006/relationships/slide" Target="/ppt/slides/slide6.xml" Id="R7d4f9f78e3e041fa" /><Relationship Type="http://schemas.openxmlformats.org/officeDocument/2006/relationships/slide" Target="/ppt/slides/slide7.xml" Id="R30291b231b8642f2" /><Relationship Type="http://schemas.openxmlformats.org/officeDocument/2006/relationships/slide" Target="/ppt/slides/slide8.xml" Id="R9fbd5eecbab84d36" /><Relationship Type="http://schemas.openxmlformats.org/officeDocument/2006/relationships/slide" Target="/ppt/slides/slide9.xml" Id="Rd504d98a2b5e48fd" /><Relationship Type="http://schemas.openxmlformats.org/officeDocument/2006/relationships/slide" Target="/ppt/slides/slide10.xml" Id="Rb6607c7463d942f5" /><Relationship Type="http://schemas.openxmlformats.org/officeDocument/2006/relationships/slide" Target="/ppt/slides/slide11.xml" Id="R5c3a2f431be54863" /><Relationship Type="http://schemas.openxmlformats.org/officeDocument/2006/relationships/slide" Target="/ppt/slides/slide12.xml" Id="R2f6e676862344da6" /><Relationship Type="http://schemas.openxmlformats.org/officeDocument/2006/relationships/slide" Target="/ppt/slides/slide13.xml" Id="R11ee7cd64fb145a6" /><Relationship Type="http://schemas.openxmlformats.org/officeDocument/2006/relationships/slide" Target="/ppt/slides/slide14.xml" Id="R4232598e66a24802" /><Relationship Type="http://schemas.openxmlformats.org/officeDocument/2006/relationships/slide" Target="/ppt/slides/slide15.xml" Id="Rb50a3b46955b45e8" /><Relationship Type="http://schemas.openxmlformats.org/officeDocument/2006/relationships/slide" Target="/ppt/slides/slide16.xml" Id="Rae49c8bc6aed4951" /><Relationship Type="http://schemas.openxmlformats.org/officeDocument/2006/relationships/slide" Target="/ppt/slides/slide17.xml" Id="R574f7ce412644a69" /><Relationship Type="http://schemas.openxmlformats.org/officeDocument/2006/relationships/slide" Target="/ppt/slides/slide18.xml" Id="R3079276e6fa645b1" /><Relationship Type="http://schemas.openxmlformats.org/officeDocument/2006/relationships/slide" Target="/ppt/slides/slide19.xml" Id="Rd11cf2955ae34278" /><Relationship Type="http://schemas.openxmlformats.org/officeDocument/2006/relationships/slide" Target="/ppt/slides/slide20.xml" Id="R36383b9ea5954acf" /><Relationship Type="http://schemas.openxmlformats.org/officeDocument/2006/relationships/slide" Target="/ppt/slides/slide21.xml" Id="R26797fb00aa74451" /><Relationship Type="http://schemas.openxmlformats.org/officeDocument/2006/relationships/slide" Target="/ppt/slides/slide22.xml" Id="R4b2d995b14a14009" /><Relationship Type="http://schemas.openxmlformats.org/officeDocument/2006/relationships/slide" Target="/ppt/slides/slide23.xml" Id="Re3578ac5da684864" /><Relationship Type="http://schemas.openxmlformats.org/officeDocument/2006/relationships/slide" Target="/ppt/slides/slide24.xml" Id="Rbddcc651add24209" /><Relationship Type="http://schemas.openxmlformats.org/officeDocument/2006/relationships/slide" Target="/ppt/slides/slide25.xml" Id="R7c37783e3ef24124" /><Relationship Type="http://schemas.openxmlformats.org/officeDocument/2006/relationships/slide" Target="/ppt/slides/slide26.xml" Id="Rd029995641484088" /><Relationship Type="http://schemas.openxmlformats.org/officeDocument/2006/relationships/slide" Target="/ppt/slides/slide27.xml" Id="R442e7db75dbf4f97" /><Relationship Type="http://schemas.openxmlformats.org/officeDocument/2006/relationships/slide" Target="/ppt/slides/slide28.xml" Id="R0397f5fc2b374342" /><Relationship Type="http://schemas.openxmlformats.org/officeDocument/2006/relationships/slide" Target="/ppt/slides/slide29.xml" Id="R65de2b12fc904e28" /><Relationship Type="http://schemas.openxmlformats.org/officeDocument/2006/relationships/slide" Target="/ppt/slides/slide30.xml" Id="R73ff49af81f34630" /><Relationship Type="http://schemas.openxmlformats.org/officeDocument/2006/relationships/slide" Target="/ppt/slides/slide31.xml" Id="R6eeec7b8593b4fee" /><Relationship Type="http://schemas.openxmlformats.org/officeDocument/2006/relationships/slide" Target="/ppt/slides/slide32.xml" Id="R88d835c7155b415e" /><Relationship Type="http://schemas.openxmlformats.org/officeDocument/2006/relationships/slide" Target="/ppt/slides/slide33.xml" Id="Reb9a121bdd6c4f6e" /><Relationship Type="http://schemas.openxmlformats.org/officeDocument/2006/relationships/slide" Target="/ppt/slides/slide34.xml" Id="R0b10a0db8822444b" /><Relationship Type="http://schemas.openxmlformats.org/officeDocument/2006/relationships/slide" Target="/ppt/slides/slide35.xml" Id="Re88ed67d019c4398" /><Relationship Type="http://schemas.openxmlformats.org/officeDocument/2006/relationships/slide" Target="/ppt/slides/slide36.xml" Id="R43a86aad5ada47a5" /><Relationship Type="http://schemas.openxmlformats.org/officeDocument/2006/relationships/slide" Target="/ppt/slides/slide37.xml" Id="Rad394bf13ae74122" /><Relationship Type="http://schemas.openxmlformats.org/officeDocument/2006/relationships/slide" Target="/ppt/slides/slide38.xml" Id="Rde34dedd4bb44c32" /><Relationship Type="http://schemas.openxmlformats.org/officeDocument/2006/relationships/slide" Target="/ppt/slides/slide39.xml" Id="R02242d739f834872" /><Relationship Type="http://schemas.openxmlformats.org/officeDocument/2006/relationships/slide" Target="/ppt/slides/slide40.xml" Id="R044aeecaebcc44c9" /><Relationship Type="http://schemas.openxmlformats.org/officeDocument/2006/relationships/slide" Target="/ppt/slides/slide41.xml" Id="Reeaa925353b442a2" /><Relationship Type="http://schemas.openxmlformats.org/officeDocument/2006/relationships/slide" Target="/ppt/slides/slide42.xml" Id="R3638a45e9b024b07" /><Relationship Type="http://schemas.openxmlformats.org/officeDocument/2006/relationships/slide" Target="/ppt/slides/slide43.xml" Id="Raf65d92433dc42dd" /><Relationship Type="http://schemas.openxmlformats.org/officeDocument/2006/relationships/slide" Target="/ppt/slides/slide44.xml" Id="R75f93a82edbc4e6c" /><Relationship Type="http://schemas.openxmlformats.org/officeDocument/2006/relationships/slide" Target="/ppt/slides/slide45.xml" Id="R5f04f71739344075" /><Relationship Type="http://schemas.openxmlformats.org/officeDocument/2006/relationships/slide" Target="/ppt/slides/slide46.xml" Id="R4bcd1d92319d49ca" /><Relationship Type="http://schemas.openxmlformats.org/officeDocument/2006/relationships/slide" Target="/ppt/slides/slide47.xml" Id="R6f2858f3a6e541a5" /><Relationship Type="http://schemas.openxmlformats.org/officeDocument/2006/relationships/slide" Target="/ppt/slides/slide48.xml" Id="Rabec1245ecbc4682" /><Relationship Type="http://schemas.openxmlformats.org/officeDocument/2006/relationships/slide" Target="/ppt/slides/slide49.xml" Id="R7665201f50b24b72" /><Relationship Type="http://schemas.openxmlformats.org/officeDocument/2006/relationships/slide" Target="/ppt/slides/slide50.xml" Id="Rce8429128fd041eb" /><Relationship Type="http://schemas.openxmlformats.org/officeDocument/2006/relationships/slide" Target="/ppt/slides/slide51.xml" Id="R8bfb8e363d2c4d93" /><Relationship Type="http://schemas.openxmlformats.org/officeDocument/2006/relationships/slide" Target="/ppt/slides/slide52.xml" Id="Rfd3f84607b584365" /><Relationship Type="http://schemas.openxmlformats.org/officeDocument/2006/relationships/slide" Target="/ppt/slides/slide53.xml" Id="Rccea980db07c458b" /><Relationship Type="http://schemas.openxmlformats.org/officeDocument/2006/relationships/slide" Target="/ppt/slides/slide54.xml" Id="Re28af9affa0d460a" /><Relationship Type="http://schemas.openxmlformats.org/officeDocument/2006/relationships/slide" Target="/ppt/slides/slide55.xml" Id="R7b3adeea66624968" /><Relationship Type="http://schemas.openxmlformats.org/officeDocument/2006/relationships/slide" Target="/ppt/slides/slide56.xml" Id="Reff17734582d413f" /><Relationship Type="http://schemas.openxmlformats.org/officeDocument/2006/relationships/slide" Target="/ppt/slides/slide57.xml" Id="R1e6268332855476e" /><Relationship Type="http://schemas.openxmlformats.org/officeDocument/2006/relationships/slide" Target="/ppt/slides/slide58.xml" Id="Rebd57f3d31ea4fa1" /><Relationship Type="http://schemas.openxmlformats.org/officeDocument/2006/relationships/slide" Target="/ppt/slides/slide59.xml" Id="R89d09d13b0304625" /><Relationship Type="http://schemas.openxmlformats.org/officeDocument/2006/relationships/slide" Target="/ppt/slides/slide60.xml" Id="R3b5b8b4869324965" /><Relationship Type="http://schemas.openxmlformats.org/officeDocument/2006/relationships/slide" Target="/ppt/slides/slide61.xml" Id="R80d93178319b48cc" /><Relationship Type="http://schemas.openxmlformats.org/officeDocument/2006/relationships/slide" Target="/ppt/slides/slide62.xml" Id="R4db1bb3c35624a91" /><Relationship Type="http://schemas.openxmlformats.org/officeDocument/2006/relationships/slide" Target="/ppt/slides/slide63.xml" Id="R245646f2d9a848a2" /><Relationship Type="http://schemas.openxmlformats.org/officeDocument/2006/relationships/slide" Target="/ppt/slides/slide64.xml" Id="R71f99dcb574c4aeb" /><Relationship Type="http://schemas.openxmlformats.org/officeDocument/2006/relationships/slide" Target="/ppt/slides/slide65.xml" Id="Rd22340325dfb407b" /><Relationship Type="http://schemas.openxmlformats.org/officeDocument/2006/relationships/slide" Target="/ppt/slides/slide66.xml" Id="Rabd6d5f6e17d4778" /><Relationship Type="http://schemas.openxmlformats.org/officeDocument/2006/relationships/slide" Target="/ppt/slides/slide67.xml" Id="R9b53bde7b4054105" /><Relationship Type="http://schemas.openxmlformats.org/officeDocument/2006/relationships/slide" Target="/ppt/slides/slide68.xml" Id="R6b2941a08da94b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979444793f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54a5f1d98b4493" /><Relationship Type="http://schemas.openxmlformats.org/officeDocument/2006/relationships/notesMaster" Target="/ppt/notesMasters/notesMaster1.xml" Id="R56b15a1b92ee4f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b4d06c9eb5408f" /><Relationship Type="http://schemas.openxmlformats.org/officeDocument/2006/relationships/notesMaster" Target="/ppt/notesMasters/notesMaster1.xml" Id="Rb4426c6a2fb742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18753803034f99" /><Relationship Type="http://schemas.openxmlformats.org/officeDocument/2006/relationships/notesMaster" Target="/ppt/notesMasters/notesMaster1.xml" Id="R5b820badc0d14c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5cb08278cb4220" /><Relationship Type="http://schemas.openxmlformats.org/officeDocument/2006/relationships/notesMaster" Target="/ppt/notesMasters/notesMaster1.xml" Id="R3ded92ff56914a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52deb8f0d94cf3" /><Relationship Type="http://schemas.openxmlformats.org/officeDocument/2006/relationships/notesMaster" Target="/ppt/notesMasters/notesMaster1.xml" Id="R5a274d0c69054f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a584d2e544991" /><Relationship Type="http://schemas.openxmlformats.org/officeDocument/2006/relationships/notesMaster" Target="/ppt/notesMasters/notesMaster1.xml" Id="R8aa28c7c218046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8241e2a9384757" /><Relationship Type="http://schemas.openxmlformats.org/officeDocument/2006/relationships/notesMaster" Target="/ppt/notesMasters/notesMaster1.xml" Id="R795b5fe2f3b042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bd2803f8174170" /><Relationship Type="http://schemas.openxmlformats.org/officeDocument/2006/relationships/notesMaster" Target="/ppt/notesMasters/notesMaster1.xml" Id="Rf13ed41707064e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12f4f59caf4132" /><Relationship Type="http://schemas.openxmlformats.org/officeDocument/2006/relationships/notesMaster" Target="/ppt/notesMasters/notesMaster1.xml" Id="R988ee058be764b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a290d488a441cb" /><Relationship Type="http://schemas.openxmlformats.org/officeDocument/2006/relationships/notesMaster" Target="/ppt/notesMasters/notesMaster1.xml" Id="R043cf24be77e41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6c9cefe7f34531" /><Relationship Type="http://schemas.openxmlformats.org/officeDocument/2006/relationships/notesMaster" Target="/ppt/notesMasters/notesMaster1.xml" Id="R06253ae5216541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261a9ff6c1449f" /><Relationship Type="http://schemas.openxmlformats.org/officeDocument/2006/relationships/notesMaster" Target="/ppt/notesMasters/notesMaster1.xml" Id="R620a1c8d141f49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586c84611d4f33" /><Relationship Type="http://schemas.openxmlformats.org/officeDocument/2006/relationships/notesMaster" Target="/ppt/notesMasters/notesMaster1.xml" Id="R485ecdda2b6946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55e98aa61643d8" /><Relationship Type="http://schemas.openxmlformats.org/officeDocument/2006/relationships/notesMaster" Target="/ppt/notesMasters/notesMaster1.xml" Id="Rf4d326432b574a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eb1ef3dbc04213" /><Relationship Type="http://schemas.openxmlformats.org/officeDocument/2006/relationships/notesMaster" Target="/ppt/notesMasters/notesMaster1.xml" Id="R7d0d9f7dffe34c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f5aada403d42d7" /><Relationship Type="http://schemas.openxmlformats.org/officeDocument/2006/relationships/notesMaster" Target="/ppt/notesMasters/notesMaster1.xml" Id="R0039461a97924d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88255b0bf34bb7" /><Relationship Type="http://schemas.openxmlformats.org/officeDocument/2006/relationships/notesMaster" Target="/ppt/notesMasters/notesMaster1.xml" Id="R35b3b37c18fb4c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4dd158ecb7494c" /><Relationship Type="http://schemas.openxmlformats.org/officeDocument/2006/relationships/notesMaster" Target="/ppt/notesMasters/notesMaster1.xml" Id="Re91d1981328b49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8e33d39b2240a1" /><Relationship Type="http://schemas.openxmlformats.org/officeDocument/2006/relationships/notesMaster" Target="/ppt/notesMasters/notesMaster1.xml" Id="R0831e0addf1b40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be2f694a944534" /><Relationship Type="http://schemas.openxmlformats.org/officeDocument/2006/relationships/notesMaster" Target="/ppt/notesMasters/notesMaster1.xml" Id="R0f1b8a4f04ab47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79d96e960442ac" /><Relationship Type="http://schemas.openxmlformats.org/officeDocument/2006/relationships/notesMaster" Target="/ppt/notesMasters/notesMaster1.xml" Id="R7966798d4bea4d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ebd6f475624b1e" /><Relationship Type="http://schemas.openxmlformats.org/officeDocument/2006/relationships/notesMaster" Target="/ppt/notesMasters/notesMaster1.xml" Id="R59c90473fa1d4d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1d3099271b4e0e" /><Relationship Type="http://schemas.openxmlformats.org/officeDocument/2006/relationships/notesMaster" Target="/ppt/notesMasters/notesMaster1.xml" Id="Rb9ece231a3f4473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08861af470465b" /><Relationship Type="http://schemas.openxmlformats.org/officeDocument/2006/relationships/notesMaster" Target="/ppt/notesMasters/notesMaster1.xml" Id="Rbec4265b67ac45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0139fda9f594067" /><Relationship Type="http://schemas.openxmlformats.org/officeDocument/2006/relationships/notesMaster" Target="/ppt/notesMasters/notesMaster1.xml" Id="R6a063249ce7c44e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062fa27d36b48a6" /><Relationship Type="http://schemas.openxmlformats.org/officeDocument/2006/relationships/notesMaster" Target="/ppt/notesMasters/notesMaster1.xml" Id="R348df0caacb245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b0740267dc4dfb" /><Relationship Type="http://schemas.openxmlformats.org/officeDocument/2006/relationships/notesMaster" Target="/ppt/notesMasters/notesMaster1.xml" Id="Rce10c86cbfad46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2f7ee2af134e93" /><Relationship Type="http://schemas.openxmlformats.org/officeDocument/2006/relationships/notesMaster" Target="/ppt/notesMasters/notesMaster1.xml" Id="Rea654104ec7b47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0f0c37cf7944ac" /><Relationship Type="http://schemas.openxmlformats.org/officeDocument/2006/relationships/notesMaster" Target="/ppt/notesMasters/notesMaster1.xml" Id="R408f6574d1f444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45ab6a31f6140d0" /><Relationship Type="http://schemas.openxmlformats.org/officeDocument/2006/relationships/notesMaster" Target="/ppt/notesMasters/notesMaster1.xml" Id="R11da42d4382043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8b199c642564e47" /><Relationship Type="http://schemas.openxmlformats.org/officeDocument/2006/relationships/notesMaster" Target="/ppt/notesMasters/notesMaster1.xml" Id="R1b43ab30ed1449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09e9c66b7c042a7" /><Relationship Type="http://schemas.openxmlformats.org/officeDocument/2006/relationships/notesMaster" Target="/ppt/notesMasters/notesMaster1.xml" Id="Rf42e1cddcc8c4a2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af80cd1c46f443f" /><Relationship Type="http://schemas.openxmlformats.org/officeDocument/2006/relationships/notesMaster" Target="/ppt/notesMasters/notesMaster1.xml" Id="Ra42f30a2be1b440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821c1c5a324a48" /><Relationship Type="http://schemas.openxmlformats.org/officeDocument/2006/relationships/notesMaster" Target="/ppt/notesMasters/notesMaster1.xml" Id="R15c90df7a67b4b6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3d4c934815e4933" /><Relationship Type="http://schemas.openxmlformats.org/officeDocument/2006/relationships/notesMaster" Target="/ppt/notesMasters/notesMaster1.xml" Id="R709d3e4e5bee460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06ec98f186b4a15" /><Relationship Type="http://schemas.openxmlformats.org/officeDocument/2006/relationships/notesMaster" Target="/ppt/notesMasters/notesMaster1.xml" Id="R669f4e7684424d0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68f7e8694b14222" /><Relationship Type="http://schemas.openxmlformats.org/officeDocument/2006/relationships/notesMaster" Target="/ppt/notesMasters/notesMaster1.xml" Id="R24ba9dd9f26d4bd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96878416bd4e8c" /><Relationship Type="http://schemas.openxmlformats.org/officeDocument/2006/relationships/notesMaster" Target="/ppt/notesMasters/notesMaster1.xml" Id="Rfb7fd563b01f441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46057a9407042d3" /><Relationship Type="http://schemas.openxmlformats.org/officeDocument/2006/relationships/notesMaster" Target="/ppt/notesMasters/notesMaster1.xml" Id="Rb36ecaee8fe14ac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30f49db46054b58" /><Relationship Type="http://schemas.openxmlformats.org/officeDocument/2006/relationships/notesMaster" Target="/ppt/notesMasters/notesMaster1.xml" Id="R357d89a066334c0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4acfb6a80f74f2e" /><Relationship Type="http://schemas.openxmlformats.org/officeDocument/2006/relationships/notesMaster" Target="/ppt/notesMasters/notesMaster1.xml" Id="Reda14418bf8840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0afd84ddd054618" /><Relationship Type="http://schemas.openxmlformats.org/officeDocument/2006/relationships/notesMaster" Target="/ppt/notesMasters/notesMaster1.xml" Id="Rc4dd24374a43481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896bd35a5f54cac" /><Relationship Type="http://schemas.openxmlformats.org/officeDocument/2006/relationships/notesMaster" Target="/ppt/notesMasters/notesMaster1.xml" Id="R51a7c2d04c0f4d5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b0406cc6a954105" /><Relationship Type="http://schemas.openxmlformats.org/officeDocument/2006/relationships/notesMaster" Target="/ppt/notesMasters/notesMaster1.xml" Id="R641884fced1941a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1e060a5bc614ba6" /><Relationship Type="http://schemas.openxmlformats.org/officeDocument/2006/relationships/notesMaster" Target="/ppt/notesMasters/notesMaster1.xml" Id="R5f19a6d21fcc44d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eef9fc340a7449e" /><Relationship Type="http://schemas.openxmlformats.org/officeDocument/2006/relationships/notesMaster" Target="/ppt/notesMasters/notesMaster1.xml" Id="Rfafa11d37a854c9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30767b78c5f415d" /><Relationship Type="http://schemas.openxmlformats.org/officeDocument/2006/relationships/notesMaster" Target="/ppt/notesMasters/notesMaster1.xml" Id="R33143a91a4ec484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dfc7a02f1ae42da" /><Relationship Type="http://schemas.openxmlformats.org/officeDocument/2006/relationships/notesMaster" Target="/ppt/notesMasters/notesMaster1.xml" Id="Re8aa10a385984f5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e0bcb5548e742d7" /><Relationship Type="http://schemas.openxmlformats.org/officeDocument/2006/relationships/notesMaster" Target="/ppt/notesMasters/notesMaster1.xml" Id="Ra244a34f0eb2482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4f8c42092bf4127" /><Relationship Type="http://schemas.openxmlformats.org/officeDocument/2006/relationships/notesMaster" Target="/ppt/notesMasters/notesMaster1.xml" Id="Rfdebb758fcdc47b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542e2b9d2ab4104" /><Relationship Type="http://schemas.openxmlformats.org/officeDocument/2006/relationships/notesMaster" Target="/ppt/notesMasters/notesMaster1.xml" Id="Ra9f3e47ec7e843e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4a94afca1614fbe" /><Relationship Type="http://schemas.openxmlformats.org/officeDocument/2006/relationships/notesMaster" Target="/ppt/notesMasters/notesMaster1.xml" Id="R6006bc91e4d349b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f6bdf74ee7e43be" /><Relationship Type="http://schemas.openxmlformats.org/officeDocument/2006/relationships/notesMaster" Target="/ppt/notesMasters/notesMaster1.xml" Id="R9d9caf77fa424ac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4324ab71a5d4d95" /><Relationship Type="http://schemas.openxmlformats.org/officeDocument/2006/relationships/notesMaster" Target="/ppt/notesMasters/notesMaster1.xml" Id="Rd89723f03a9f4ca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7f31bebeb464efa" /><Relationship Type="http://schemas.openxmlformats.org/officeDocument/2006/relationships/notesMaster" Target="/ppt/notesMasters/notesMaster1.xml" Id="R13720bda1dca422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77a26943aa74286" /><Relationship Type="http://schemas.openxmlformats.org/officeDocument/2006/relationships/notesMaster" Target="/ppt/notesMasters/notesMaster1.xml" Id="Rcd2997061e6f437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02efc19828b4b09" /><Relationship Type="http://schemas.openxmlformats.org/officeDocument/2006/relationships/notesMaster" Target="/ppt/notesMasters/notesMaster1.xml" Id="R408e46ac9ef14b4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822f5b8d37f43a1" /><Relationship Type="http://schemas.openxmlformats.org/officeDocument/2006/relationships/notesMaster" Target="/ppt/notesMasters/notesMaster1.xml" Id="Rc33ce7c1a5f941b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0e243d84ed746eb" /><Relationship Type="http://schemas.openxmlformats.org/officeDocument/2006/relationships/notesMaster" Target="/ppt/notesMasters/notesMaster1.xml" Id="Rbd83abe7cd2c498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c2656ee1f004c6e" /><Relationship Type="http://schemas.openxmlformats.org/officeDocument/2006/relationships/notesMaster" Target="/ppt/notesMasters/notesMaster1.xml" Id="Ra68881ea03584a0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645ef98e4734bec" /><Relationship Type="http://schemas.openxmlformats.org/officeDocument/2006/relationships/notesMaster" Target="/ppt/notesMasters/notesMaster1.xml" Id="R4ab255000f9a4e6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f69e3fffd754750" /><Relationship Type="http://schemas.openxmlformats.org/officeDocument/2006/relationships/notesMaster" Target="/ppt/notesMasters/notesMaster1.xml" Id="R187a740502404f7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094a17d39d24f7b" /><Relationship Type="http://schemas.openxmlformats.org/officeDocument/2006/relationships/notesMaster" Target="/ppt/notesMasters/notesMaster1.xml" Id="R386dd44b8f6142f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54464d2e22a4e41" /><Relationship Type="http://schemas.openxmlformats.org/officeDocument/2006/relationships/notesMaster" Target="/ppt/notesMasters/notesMaster1.xml" Id="R76b2b78450a74426"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e6fa871110840c0" /><Relationship Type="http://schemas.openxmlformats.org/officeDocument/2006/relationships/notesMaster" Target="/ppt/notesMasters/notesMaster1.xml" Id="R9f16c70bfb72493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2aa2dba62be46ed" /><Relationship Type="http://schemas.openxmlformats.org/officeDocument/2006/relationships/notesMaster" Target="/ppt/notesMasters/notesMaster1.xml" Id="R3ebbd4a791f9445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6612005803244a5" /><Relationship Type="http://schemas.openxmlformats.org/officeDocument/2006/relationships/notesMaster" Target="/ppt/notesMasters/notesMaster1.xml" Id="R4d8bcc1e287a4da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bcb3efb9b6b42e5" /><Relationship Type="http://schemas.openxmlformats.org/officeDocument/2006/relationships/notesMaster" Target="/ppt/notesMasters/notesMaster1.xml" Id="R39139077edf448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 this deck and CML3111_Test1_practice.csv together several days before Test 1. The CSV contains synthetic practice readings. All worked data examples use this file. Practice is ungraded. The later test-day section uses different files from the timed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the CSV as a separate attachment beside the PPTX. Students do not need an assessment packet or grader. The practice CSV is intentionally small so they can check every calculation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clearly named practice file avoids confusing it with engineering_data.csv. Portal timing applies to test downloads, not the practice attachment. The repository remains public by the lecturer’s decision, so portal timing is not a claim that public repository files are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holds code cells and output. Later cells use names created by earlier cells. Confirm the name and saved status. Students do not need a test notebook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panel uploads to the temporary session, not into the notebook itself. A FileNotFoundError usually means the file was not uploaded, its filename differs, or the session reset. Do not upload the PPTX into Colab. Avoid a duplicate download name ending in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teaching values, not measurements from an operating site. A row contains one measurement and its associated input conditions. target is a column name, not a unit. M1 and M2 are invented equipment identifiers. read_csv displays missing numeric values as 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DataFrame is a table with named columns. The equals sign assigns a result to a name. CSV means comma-separated values. Python is case-sensitive, including the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imports pandas. Line 2 stores the exact filename. Line 3 reads it into source. The last two lines show the table and its row count. No test data is involved.</a:t>
            </a:r>
          </a:p>
          <a:p xmlns:a="http://schemas.openxmlformats.org/drawingml/2006/main">
            <a:r>
              <a:t/>
            </a:r>
          </a:p>
          <a:p xmlns:a="http://schemas.openxmlformats.org/drawingml/2006/main">
            <a:r>
              <a:t>Result from the supplied example</a:t>
            </a:r>
          </a:p>
          <a:p xmlns:a="http://schemas.openxmlformats.org/drawingml/2006/main">
            <a:r>
              <a:t>reading machine  load  target  ambient</a:t>
            </a:r>
          </a:p>
          <a:p xmlns:a="http://schemas.openxmlformats.org/drawingml/2006/main">
            <a:r>
              <a:t>0        1      M1    20    10.0     20.0</a:t>
            </a:r>
          </a:p>
          <a:p xmlns:a="http://schemas.openxmlformats.org/drawingml/2006/main">
            <a:r>
              <a:t>1        2      M1    40    20.0      NaN</a:t>
            </a:r>
          </a:p>
          <a:p xmlns:a="http://schemas.openxmlformats.org/drawingml/2006/main">
            <a:r>
              <a:t>2        3      M2    60    30.0     30.0</a:t>
            </a:r>
          </a:p>
          <a:p xmlns:a="http://schemas.openxmlformats.org/drawingml/2006/main">
            <a:r>
              <a:t>3        4      M2    80    40.0     40.0</a:t>
            </a:r>
          </a:p>
          <a:p xmlns:a="http://schemas.openxmlformats.org/drawingml/2006/main">
            <a:r>
              <a:t>4        1      M1    20    10.0     20.0</a:t>
            </a:r>
          </a:p>
          <a:p xmlns:a="http://schemas.openxmlformats.org/drawingml/2006/main">
            <a:r>
              <a:t>5        5      M2    50     NaN     90.0</a:t>
            </a:r>
          </a:p>
          <a:p xmlns:a="http://schemas.openxmlformats.org/drawingml/2006/main">
            <a:r>
              <a:t>6        6      M2   120    90.0    100.0</a:t>
            </a:r>
          </a:p>
          <a:p xmlns:a="http://schemas.openxmlformats.org/drawingml/2006/main">
            <a:r>
              <a: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has seven rows: readings 1, 2, 3, 4, a repeated 1, reading 5 with no target, and reading 6 with load 120. The four retained readings have targets 10, 20, 30 and 40. These practice rules are explicit; students must read the actual test rules on test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list ["target"] identifies the column to inspect for missing values. Do not remove a row just because ambient is missing: its replacement comes later. The duplicate reading 1 repeats the first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seven rows become six after dropping the repeated reading 1. Then six become five after removing reading 5. source still has seven rows. raw is a new working table.</a:t>
            </a:r>
          </a:p>
          <a:p xmlns:a="http://schemas.openxmlformats.org/drawingml/2006/main">
            <a:r>
              <a:t/>
            </a:r>
          </a:p>
          <a:p xmlns:a="http://schemas.openxmlformats.org/drawingml/2006/main">
            <a:r>
              <a:t>Result from the supplied example</a:t>
            </a:r>
          </a:p>
          <a:p xmlns:a="http://schemas.openxmlformats.org/drawingml/2006/main">
            <a:r>
              <a:t>6</a:t>
            </a:r>
          </a:p>
          <a:p xmlns:a="http://schemas.openxmlformats.org/drawingml/2006/main">
            <a:r>
              <a:t>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limits are included by default. A missing load would also fail this check. The row labels can have gaps after filtering; they are not the reading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checks load for each remaining row. Line 2 retains the True rows, leaving four records. Line 3 displays their targets. All later summaries and charts use these four records.</a:t>
            </a:r>
          </a:p>
          <a:p xmlns:a="http://schemas.openxmlformats.org/drawingml/2006/main">
            <a:r>
              <a:t/>
            </a:r>
          </a:p>
          <a:p xmlns:a="http://schemas.openxmlformats.org/drawingml/2006/main">
            <a:r>
              <a:t>Result from the supplied example</a:t>
            </a:r>
          </a:p>
          <a:p xmlns:a="http://schemas.openxmlformats.org/drawingml/2006/main">
            <a:r>
              <a:t>[10.0, 20.0, 30.0, 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rejected rows include high ambient values. Using them would change the replacement. The retained reading 2 has no ambient value, so it receives 30. Assign the filled Series back to the ambient 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is 30. Reading 2 receives 30. The final ambient values in row order are 20, 30, 30, 40. source remains available with all seven original rows.</a:t>
            </a:r>
          </a:p>
          <a:p xmlns:a="http://schemas.openxmlformats.org/drawingml/2006/main">
            <a:r>
              <a:t/>
            </a:r>
          </a:p>
          <a:p xmlns:a="http://schemas.openxmlformats.org/drawingml/2006/main">
            <a:r>
              <a:t>Result from the supplied example</a:t>
            </a:r>
          </a:p>
          <a:p xmlns:a="http://schemas.openxmlformats.org/drawingml/2006/main">
            <a:r>
              <a:t>30.0</a:t>
            </a:r>
          </a:p>
          <a:p xmlns:a="http://schemas.openxmlformats.org/drawingml/2006/main">
            <a:r>
              <a:t>[20.0, 30.0, 30.0, 40.0]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whole-table mean by hand first: (10 + 20 + 30 + 40) / 4 = 25. For M1, (10 + 20) / 2 = 15. For M2, (30 + 40) / 2 = 35. A group mean is a separate calculation for each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1 averages all four targets. Line 2 groups rows by machine, selects target and averages within each group. Lines 3 and 4 display the results. The calculation does not change raw.</a:t>
            </a:r>
          </a:p>
          <a:p xmlns:a="http://schemas.openxmlformats.org/drawingml/2006/main">
            <a:r>
              <a:t/>
            </a:r>
          </a:p>
          <a:p xmlns:a="http://schemas.openxmlformats.org/drawingml/2006/main">
            <a:r>
              <a:t>Result from the supplied example</a:t>
            </a:r>
          </a:p>
          <a:p xmlns:a="http://schemas.openxmlformats.org/drawingml/2006/main">
            <a:r>
              <a:t>25.0</a:t>
            </a:r>
          </a:p>
          <a:p xmlns:a="http://schemas.openxmlformats.org/drawingml/2006/main">
            <a:r>
              <a:t>machine</a:t>
            </a:r>
          </a:p>
          <a:p xmlns:a="http://schemas.openxmlformats.org/drawingml/2006/main">
            <a:r>
              <a:t>M1    15.0</a:t>
            </a:r>
          </a:p>
          <a:p xmlns:a="http://schemas.openxmlformats.org/drawingml/2006/main">
            <a:r>
              <a:t>M2    35.0</a:t>
            </a:r>
          </a:p>
          <a:p xmlns:a="http://schemas.openxmlformats.org/drawingml/2006/main">
            <a:r>
              <a:t>Name: target, dtype: float64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a hand calculation, avoiding hidden changes to the data used by subsequent examples. M1 contains 10 and 20. M2 would contain 30 and 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M2 contains the changed reading. This is a hypothetical calculation. The subsequent chart still uses the four original retained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scatter point combines values from the same row. Four points are enough to rehearse the commands, but too few to justify a general engineering conclusion. Revise the other chart types from earlier lessons as well. The test specifies which charts it requires.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coordinates of the first and last points. Target increases as load increases in this invented example. Do not claim this proves that load caused the increase. Reuse the original raw table, not dirty or clean.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groups numeric values into intervals, whereas a bar chart groups by categories. Use the same cleaned four-row table. The following histogram has two bins: 0 to below 25, and 25 to 50 including the final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10 and 20 fall in the first bin. Targets 30 and 40 fall in the second. There are four readings in total. show displays and finishes the chart in Colab.</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earlier groupby calculation. A Series has an index and values. Here the index is the machine name rather than a numeric row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averages readings 1 and 2, giving 15. M2 averages readings 3 and 4, giving 35. These synthetic means describe this small sample and do not establish causation.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grader calls functions with other records. A pasted fixed answer can match a displayed example and still fail for another input. print displays a value but does not replace return. The following practice function is unrelated to the assessed function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argument values receives a column from the practice CSV. pd.Series represents it as one labelled column. mean calculates its average. float converts the result to a Python decimal number. return sends it back to the caller. The first call averages targets 10, 20, 30, 40. The second averages loads 20, 40, 60, 80. print displays each returned result.</a:t>
            </a:r>
          </a:p>
          <a:p xmlns:a="http://schemas.openxmlformats.org/drawingml/2006/main">
            <a:r>
              <a:t/>
            </a:r>
          </a:p>
          <a:p xmlns:a="http://schemas.openxmlformats.org/drawingml/2006/main">
            <a:r>
              <a:t>Result from the supplied example</a:t>
            </a:r>
          </a:p>
          <a:p xmlns:a="http://schemas.openxmlformats.org/drawingml/2006/main">
            <a:r>
              <a:t>25.0</a:t>
            </a:r>
          </a:p>
          <a:p xmlns:a="http://schemas.openxmlformats.org/drawingml/2006/main">
            <a:r>
              <a:t>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CSV stays unchanged. Read each pair aloud. A record identifier labels an observation; it is not a timestamp. The test notebook explains its column names before the tasks. The next examples use practice names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retained raw table from the earlier practice cleaning. Each dictionary has reading, machine, load, target and ambient keys. The list preserves row order. These retained rows have no missing values. The supplied test helper also handles missing values when converting the original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convert the four cleaned rows into a list. The first dictionary describes M1 at load 20 with target 10 and ambient 20. The integer row labels of the DataFrame are not a column in these dictionaries. Rebuilding a DataFrame gives the same four measurements.</a:t>
            </a:r>
          </a:p>
          <a:p xmlns:a="http://schemas.openxmlformats.org/drawingml/2006/main">
            <a:r>
              <a:t/>
            </a:r>
          </a:p>
          <a:p xmlns:a="http://schemas.openxmlformats.org/drawingml/2006/main">
            <a:r>
              <a:t>Result from the supplied example</a:t>
            </a:r>
          </a:p>
          <a:p xmlns:a="http://schemas.openxmlformats.org/drawingml/2006/main">
            <a:r>
              <a:t>{'reading': 1, 'machine': 'M1', 'load': 20, 'target': 10.0, 'ambient': 20.0}</a:t>
            </a:r>
          </a:p>
          <a:p xmlns:a="http://schemas.openxmlformats.org/drawingml/2006/main">
            <a:r>
              <a:t>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these as steps inside a provided helper. astype(object) changes the storage type, not the measured quantities. Missing numeric CSV cells are normally NaN; the function interface uses None. The next practice helper mirrors this supplied convenience.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helper accepts any table. It uses that argument instead of a global variable. The return statement gives a list back to the caller. original_records still contains the duplicate, the missing target and the invalid load.</a:t>
            </a:r>
          </a:p>
          <a:p xmlns:a="http://schemas.openxmlformats.org/drawingml/2006/main">
            <a:r>
              <a:t/>
            </a:r>
          </a:p>
          <a:p xmlns:a="http://schemas.openxmlformats.org/drawingml/2006/main">
            <a:r>
              <a:t>Result from the supplied example</a:t>
            </a:r>
          </a:p>
          <a:p xmlns:a="http://schemas.openxmlformats.org/drawingml/2006/main">
            <a:r>
              <a: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combines already practised operations. Students should explain the input, each row removal, the replacement median and the return type. No marks depend on memorising the four practice target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seven input rows to six after removing the repeated reading, five after dropping the missing target, and four after checking load. The retained known ambient values are 20, 30 and 40. Their median is 30. Returning through as_records preserves the column names and row order.</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 call returns a new list assigned to cleaned_records. The second retained record originally had missing ambient. The two successive bracket operations first choose a record, then its ambient field.</a:t>
            </a:r>
          </a:p>
          <a:p xmlns:a="http://schemas.openxmlformats.org/drawingml/2006/main">
            <a:r>
              <a:t/>
            </a:r>
          </a:p>
          <a:p xmlns:a="http://schemas.openxmlformats.org/drawingml/2006/main">
            <a:r>
              <a:t>Result from the supplied example</a:t>
            </a:r>
          </a:p>
          <a:p xmlns:a="http://schemas.openxmlformats.org/drawingml/2006/main">
            <a:r>
              <a:t>7</a:t>
            </a:r>
          </a:p>
          <a:p xmlns:a="http://schemas.openxmlformats.org/drawingml/2006/main">
            <a:r>
              <a:t>4</a:t>
            </a:r>
          </a:p>
          <a:p xmlns:a="http://schemas.openxmlformats.org/drawingml/2006/main">
            <a:r>
              <a:t>30.0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targets are 10, 20, 30, 40. Count is 4, mean 25, minimum 10 and maximum 40. group_means maps M1 to 15 and M2 to 35. Unlike to_dict("records") on a DataFrame, to_dict() on a Series produces one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quoted key names one output. Colons connect keys to values. Commas separate entries. float converts a pandas numerical result into a Python decimal number. A multiline dictionary may continue until its closing brace. Keep full numerical precision.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call the function with the retained records. Then retrieve results from its returned dictionary. Printed results help you check your work, but the grader receives the returned dictionary itself.</a:t>
            </a:r>
          </a:p>
          <a:p xmlns:a="http://schemas.openxmlformats.org/drawingml/2006/main">
            <a:r>
              <a:t/>
            </a:r>
          </a:p>
          <a:p xmlns:a="http://schemas.openxmlformats.org/drawingml/2006/main">
            <a:r>
              <a:t>Result from the supplied example</a:t>
            </a:r>
          </a:p>
          <a:p xmlns:a="http://schemas.openxmlformats.org/drawingml/2006/main">
            <a:r>
              <a:t>4 25.0</a:t>
            </a:r>
          </a:p>
          <a:p xmlns:a="http://schemas.openxmlformats.org/drawingml/2006/main">
            <a:r>
              <a:t>10.0 40.0</a:t>
            </a:r>
          </a:p>
          <a:p xmlns:a="http://schemas.openxmlformats.org/drawingml/2006/main">
            <a:r>
              <a:t>{'M1': 15.0, 'M2': 35.0}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Displaying a chart is different from returning a chart. The test asks for actual Figure objects in a list, in scatter, bar, histogram order. Students should not return filenames, screenshots or dictionaries describing charts.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table contains cleaned rows. The scatter combines load and target from each row. All chart labels belong to ax. The return statement returns fig, not ax. This function does not modify the input.</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 of the grouped Series is its machine labels. Sorting by index sorts those labels, not the mean values. Sorting heights independently would attach the wrong value to a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the means first, then put their labels in alphabetical order. Pass labels and corresponding means to bar. Return the Figure object. With more groups, the same function still calculates all group means.</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bins means ten intervals, not ten readings. The first bin starts at 10 and the last ends at 40. The rightmost edge is included. There are only four readings, so many bins are empty. Do not reuse the earlier fixed boundaries [0, 25, 50] for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Figure contains rectangular bars, including bars with zero height. The heights sum to the number of records. The unit belongs on the target axis; the other axis counts observations.</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square brackets form a list of the three returned objects. A helper must be defined before this function is called. The actual test requires a build_charts function; helpers are allowed. The chart list is the returned answer, while show displays it for inspection.</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the difference between a group mean and an individual record. Use group means for group_gap. Its unit is the target unit. The observed gap does not establish why the equipment differs.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means Series contains 15 and 35. Taking their maximum and minimum produces a gap of 20. This is an observed difference in these synthetic data, not a recommendation to replace equipment.</a:t>
            </a:r>
          </a:p>
          <a:p xmlns:a="http://schemas.openxmlformats.org/drawingml/2006/main">
            <a:r>
              <a:t/>
            </a:r>
          </a:p>
          <a:p xmlns:a="http://schemas.openxmlformats.org/drawingml/2006/main">
            <a:r>
              <a:t>Result from the supplied example</a:t>
            </a:r>
          </a:p>
          <a:p xmlns:a="http://schemas.openxmlformats.org/drawingml/2006/main">
            <a:r>
              <a:t>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nested dictionary is a dictionary containing another dictionary. Keys value and unit are literal names required by the test. Correct unit spellings such as °C, deg C and degrees C are equivalent. A quantity measured in kWh/t cannot be labelled kW.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argument is the number. The second is its unit string. The helper constructs the inner dictionary. The next function uses it to give every finding an explicit unit.</a:t>
            </a:r>
          </a:p>
          <a:p xmlns:a="http://schemas.openxmlformats.org/drawingml/2006/main">
            <a:r>
              <a:t/>
            </a:r>
          </a:p>
          <a:p xmlns:a="http://schemas.openxmlformats.org/drawingml/2006/main">
            <a:r>
              <a:t>Result from the supplied example</a:t>
            </a:r>
          </a:p>
          <a:p xmlns:a="http://schemas.openxmlformats.org/drawingml/2006/main">
            <a:r>
              <a:t>25.0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summary calculation to avoid inconsistent values. pd.Series turns the group_means dictionary into a Series whose index is the machine labels. Calculate the gap on that Series. The returned outer dictionary has five exact keys. Each entry is an inner dictionary returned by with_unit.</a:t>
            </a:r>
          </a:p>
          <a:p xmlns:a="http://schemas.openxmlformats.org/drawingml/2006/main">
            <a:r>
              <a:t/>
            </a:r>
          </a:p>
          <a:p xmlns:a="http://schemas.openxmlformats.org/drawingml/2006/main">
            <a:r>
              <a:t>Result from the supplied example</a:t>
            </a:r>
          </a:p>
          <a:p xmlns:a="http://schemas.openxmlformats.org/drawingml/2006/main">
            <a:r>
              <a:t>Values are stored for the next step; this cell does not print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returns {value: 4, unit: observations}. mean returns {value: 25.0, unit: the cohort target unit}. group_gap returns value 20 with that same target unit. To get just the gap number, use findings["group_gap"]["value"].</a:t>
            </a:r>
          </a:p>
          <a:p xmlns:a="http://schemas.openxmlformats.org/drawingml/2006/main">
            <a:r>
              <a:t/>
            </a:r>
          </a:p>
          <a:p xmlns:a="http://schemas.openxmlformats.org/drawingml/2006/main">
            <a:r>
              <a:t>Result from the supplied example</a:t>
            </a:r>
          </a:p>
          <a:p xmlns:a="http://schemas.openxmlformats.org/drawingml/2006/main">
            <a:r>
              <a:t>{'value': 4, 'unit': 'observations'}</a:t>
            </a:r>
          </a:p>
          <a:p xmlns:a="http://schemas.openxmlformats.org/drawingml/2006/main">
            <a:r>
              <a:t>{'value': 25.0, 'unit': '°C'}</a:t>
            </a:r>
          </a:p>
          <a:p xmlns:a="http://schemas.openxmlformats.org/drawingml/2006/main">
            <a:r>
              <a:t>{'value': 20.0, 'unit':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is a slice taking positions 0 and 1. Demonstrate calls revision_clean(original_records[:2]), then pass that result to each later function. There is no assessment submission for this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is a slice taking positions 0 and 1. Demonstrate calls revision_clean(original_records[:2]), then pass that result to each later function. There is no assessment submission for this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ambient reading was actually missing: reading 2. Filling it with 30 does not prove that the true temperature was 30. Keeping source lets us distinguish recorded and estimated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4 is not evidence of hour 4. An ID can be assigned during collection or import without representing time. Likewise, M2 having a higher sample mean does not prove it is faulty. Do not infer causes or safety decisions from this teaching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outputs: four rows, overall target mean 25, machine means 15 and 35, ambient median 30. The test supplies its own function names, return formats and rules. Do not hard-code these practice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is a Python dictionary in the notebook. Its keys identify questions and its string values hold selected option letters. Use the labels printed in that question. A choice label is unrelated to file allocation. No student should select a paper version or edit the internal allocation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syntax demonstration, not an assessed answer. Explain the braces, quoted key, colon and quoted value. In the actual test, edit the existing question keys instead of replacing them with practice. Students must choose their own option by reading the question.</a:t>
            </a:r>
          </a:p>
          <a:p xmlns:a="http://schemas.openxmlformats.org/drawingml/2006/main">
            <a:r>
              <a:t/>
            </a:r>
          </a:p>
          <a:p xmlns:a="http://schemas.openxmlformats.org/drawingml/2006/main">
            <a:r>
              <a:t>Result from the supplied example</a:t>
            </a:r>
          </a:p>
          <a:p xmlns:a="http://schemas.openxmlformats.org/drawingml/2006/main">
            <a:r>
              <a:t>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this boundary when reviewing in advance. The remaining slides are procedural instructions, not additional practice tasks. No practice file should be submitted to the test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 assigns files automatically. Students do not choose a version. Re-entering the same registration number and Google email retrieves the same allocation. The page can be opened in advance, but downloads are available only during the authorised test window. A phone scan is useful for opening the page, but students must download and use both files on their laptop. Students never choose a test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upload does not include its data. Show the folder icon, then Upload. Wait until engineering_data.csv appears. Do not upload a ZIP. The portal prefills the identity cell; students check it and run it before later cells. The final submission cell contains an internal allocation code and is collapsed for clarity. Keep it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The grader calls that function with different records, so it must calculate from its argument. DECISIONS is a dictionary pairing each question identifier with one option letter. Use a non-assessed demonstration such as {"practice": "B"}. No separate report or prose answer section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all marks come from the published checks. Correct code on unseen inputs earns coding marks. Each of the six interpretation choices earns 5 marks. Test 1 contributes 15 points and Test 2 contributes 20 points to the semester total. For example, 80/100 in Test 1 contributes 12 semester points. Partial marks are available for independently checked outputs; charts and cleaning each have a complete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1: duplicate removal keeps the first occurrence. Exclude a missing target or invalid load. Only then calculate the retained ambient median. Test 2: row filters are supplied, but missing ambient values remain. A pipeline learns the median from the training partition and reuses it for validation. Fitting a median on all rows leaks evaluation information. Do not reveal assessed option answers during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Announce the actual start and close time displayed by the form. These periods total 180 minutes. Code execution is allowed during checking. Report internet or runtime problems immediately. Record incidents with the affected learner and time. Do not silently treat a failed upload as a submitted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session has no variables from earlier runs. This exposes cells that depend on stale values or an incorrect order. The supplied CSV example cell calls the implemented functions. The final submission cell creates a button. Clicking it prepares a separate snapshot of the current notebook in Drive; later edits to the working notebook do not change that snapshot. Students must open the generated form link and press Submit. The button alone is not a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final button using a rehearsal notebook. The button privately shares a saved snapshot with the lecturer and fills the form fields. Tick the form’s email confirmation box before pressing Submit. Do not type snapshot IDs manually. The form records the verified Google email; it must be the same account that owns the snapshot. A new attempt requires clicking the notebook button again and submitting its new form link. The latest on-time attempt is considered; technical or identity errors remain pending. Earlier attempts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are calculated in a batch on the lecturer’s Mac after the test. The Mac can be off during submission. Google Forms and Drive collect the snapshots. Before admitting students, rehearse the entry page, two downloads, notebook button and form confirmation. After the test, export the batch and run Grade_Tests.command with Docker running. A receipt is not a grade. A genuine zero is distinct from pending or infrastructure failure. The attendee register is built from submissions; without an enrolled roster it cannot identify absentees.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ae8f94a3a24a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805d36484740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8f1e3bfe324c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14e77d982e4a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f839fe8d6a46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f1f7fed96243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AF91-9754-4867-B2D2-B908B30EB7BC}"/>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D16FA8-8944-4A0D-B2DD-DCE3023194DD}"/>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0D6BFD-71F0-4CD1-9BC2-0B0BC0DFBAF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A0F08B-91D1-493B-9AE9-44C572869E5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E068A8-A4DF-4CEB-BA1C-FF5E5520FAAD}"/>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80960D-433D-450E-A99F-A3A4119F294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38CFA9-D0CE-4744-8161-0170FA42B4A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48EB9-BED0-4C97-BEF7-268E8D767F5A}"/>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F879B2-597C-4D11-BE59-16C8EBAA5B9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1FC63D-0E4E-4322-8FCB-62C99D0A64F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ffe6fac52847f0" /><Relationship Type="http://schemas.openxmlformats.org/officeDocument/2006/relationships/slideLayout" Target="/ppt/slideLayouts/slideLayout1.xml" Id="R218806188acf4760" /><Relationship Type="http://schemas.openxmlformats.org/officeDocument/2006/relationships/slideLayout" Target="/ppt/slideLayouts/slideLayout2.xml" Id="R451a56d9bb034b66" /><Relationship Type="http://schemas.openxmlformats.org/officeDocument/2006/relationships/slideLayout" Target="/ppt/slideLayouts/slideLayout3.xml" Id="R1eb3c22929b14653" /><Relationship Type="http://schemas.openxmlformats.org/officeDocument/2006/relationships/slideLayout" Target="/ppt/slideLayouts/slideLayout4.xml" Id="R99761f14680d47ae" /><Relationship Type="http://schemas.openxmlformats.org/officeDocument/2006/relationships/slideLayout" Target="/ppt/slideLayouts/slideLayout5.xml" Id="Rb1389740f6ca45f9" /><Relationship Type="http://schemas.openxmlformats.org/officeDocument/2006/relationships/slideLayout" Target="/ppt/slideLayouts/slideLayout6.xml" Id="R1c7ea8f6001f4b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8806188acf4760"/>
    <p:sldLayoutId xmlns:r="http://schemas.openxmlformats.org/officeDocument/2006/relationships" id="2147483650" r:id="R451a56d9bb034b66"/>
    <p:sldLayoutId xmlns:r="http://schemas.openxmlformats.org/officeDocument/2006/relationships" id="2147483651" r:id="R1eb3c22929b14653"/>
    <p:sldLayoutId xmlns:r="http://schemas.openxmlformats.org/officeDocument/2006/relationships" id="2147483652" r:id="R99761f14680d47ae"/>
    <p:sldLayoutId xmlns:r="http://schemas.openxmlformats.org/officeDocument/2006/relationships" id="2147483653" r:id="Rb1389740f6ca45f9"/>
    <p:sldLayoutId xmlns:r="http://schemas.openxmlformats.org/officeDocument/2006/relationships" id="2147483654" r:id="R1c7ea8f6001f4b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f1e12f756a4632" /><Relationship Type="http://schemas.openxmlformats.org/officeDocument/2006/relationships/image" Target="/ppt/media/image.png" Id="Rd32a2916f94840cf" /><Relationship Type="http://schemas.openxmlformats.org/officeDocument/2006/relationships/notesSlide" Target="/ppt/notesSlides/notesSlide1.xml" Id="R3551a92a1ade41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239ee19198454b" /><Relationship Type="http://schemas.openxmlformats.org/officeDocument/2006/relationships/notesSlide" Target="/ppt/notesSlides/notesSlide2.xml" Id="R835d53137cb943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a7179a3d6349bf" /><Relationship Type="http://schemas.openxmlformats.org/officeDocument/2006/relationships/notesSlide" Target="/ppt/notesSlides/notesSlide3.xml" Id="Rdbde8117fef144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4c827521a34b95" /><Relationship Type="http://schemas.openxmlformats.org/officeDocument/2006/relationships/notesSlide" Target="/ppt/notesSlides/notesSlide4.xml" Id="R459be45c3445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cb46f46d43420c" /><Relationship Type="http://schemas.openxmlformats.org/officeDocument/2006/relationships/notesSlide" Target="/ppt/notesSlides/notesSlide5.xml" Id="Rc09673094c6d4f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2c3b8402d94f3b" /><Relationship Type="http://schemas.openxmlformats.org/officeDocument/2006/relationships/notesSlide" Target="/ppt/notesSlides/notesSlide6.xml" Id="Rb83b9563a3ce4d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ea392a6d1e4b7a" /><Relationship Type="http://schemas.openxmlformats.org/officeDocument/2006/relationships/notesSlide" Target="/ppt/notesSlides/notesSlide7.xml" Id="Rf438bccefa8a41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df4082c7684fab" /><Relationship Type="http://schemas.openxmlformats.org/officeDocument/2006/relationships/notesSlide" Target="/ppt/notesSlides/notesSlide8.xml" Id="R456d0ce5823446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7b06a4b4dd4157" /><Relationship Type="http://schemas.openxmlformats.org/officeDocument/2006/relationships/notesSlide" Target="/ppt/notesSlides/notesSlide9.xml" Id="R739290f83e4b41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b28251f07d426c" /><Relationship Type="http://schemas.openxmlformats.org/officeDocument/2006/relationships/notesSlide" Target="/ppt/notesSlides/notesSlide10.xml" Id="R2ab1e59b189746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e3f8ecd6ba4da4" /><Relationship Type="http://schemas.openxmlformats.org/officeDocument/2006/relationships/notesSlide" Target="/ppt/notesSlides/notesSlide11.xml" Id="Rb24b38897de543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4edce1de9174f07" /><Relationship Type="http://schemas.openxmlformats.org/officeDocument/2006/relationships/notesSlide" Target="/ppt/notesSlides/notesSlide12.xml" Id="R70b8a4fc251847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3efca46bf34881" /><Relationship Type="http://schemas.openxmlformats.org/officeDocument/2006/relationships/notesSlide" Target="/ppt/notesSlides/notesSlide13.xml" Id="R1b28b312b2bc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6f734b874824907" /><Relationship Type="http://schemas.openxmlformats.org/officeDocument/2006/relationships/notesSlide" Target="/ppt/notesSlides/notesSlide14.xml" Id="R9644a19b77a042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4f53324dc7d4882" /><Relationship Type="http://schemas.openxmlformats.org/officeDocument/2006/relationships/notesSlide" Target="/ppt/notesSlides/notesSlide15.xml" Id="R2ef7a7bb00b84a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93dc8b20f69416c" /><Relationship Type="http://schemas.openxmlformats.org/officeDocument/2006/relationships/notesSlide" Target="/ppt/notesSlides/notesSlide16.xml" Id="Reeb7f8f80c964d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2d7645cb9049b2" /><Relationship Type="http://schemas.openxmlformats.org/officeDocument/2006/relationships/notesSlide" Target="/ppt/notesSlides/notesSlide17.xml" Id="Rffee6e66796f47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8cd2b69ef444c78" /><Relationship Type="http://schemas.openxmlformats.org/officeDocument/2006/relationships/notesSlide" Target="/ppt/notesSlides/notesSlide18.xml" Id="Rcbad245422ba43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bb501d859ef44c7" /><Relationship Type="http://schemas.openxmlformats.org/officeDocument/2006/relationships/notesSlide" Target="/ppt/notesSlides/notesSlide19.xml" Id="Rae485aa1ee9e4f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bdac0a82a004d74" /><Relationship Type="http://schemas.openxmlformats.org/officeDocument/2006/relationships/notesSlide" Target="/ppt/notesSlides/notesSlide20.xml" Id="Ra5aa35bf64cc4a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e6a4f59540645e0" /><Relationship Type="http://schemas.openxmlformats.org/officeDocument/2006/relationships/notesSlide" Target="/ppt/notesSlides/notesSlide21.xml" Id="R9f1ee6a580f24e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cebcd5d371492a" /><Relationship Type="http://schemas.openxmlformats.org/officeDocument/2006/relationships/notesSlide" Target="/ppt/notesSlides/notesSlide22.xml" Id="R589bea491a394d5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7701443431947c0" /><Relationship Type="http://schemas.openxmlformats.org/officeDocument/2006/relationships/notesSlide" Target="/ppt/notesSlides/notesSlide23.xml" Id="Rc20a9667aef648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c1847a574614095" /><Relationship Type="http://schemas.openxmlformats.org/officeDocument/2006/relationships/notesSlide" Target="/ppt/notesSlides/notesSlide24.xml" Id="Rf06bee18112e4b5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8f99f38a2264234" /><Relationship Type="http://schemas.openxmlformats.org/officeDocument/2006/relationships/notesSlide" Target="/ppt/notesSlides/notesSlide25.xml" Id="R705b5f34a97c4a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5512a838006490f" /><Relationship Type="http://schemas.openxmlformats.org/officeDocument/2006/relationships/notesSlide" Target="/ppt/notesSlides/notesSlide26.xml" Id="R0f8a229658894d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8da33ebade7479c" /><Relationship Type="http://schemas.openxmlformats.org/officeDocument/2006/relationships/notesSlide" Target="/ppt/notesSlides/notesSlide27.xml" Id="R4922f0f9d67a47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accf07234514928" /><Relationship Type="http://schemas.openxmlformats.org/officeDocument/2006/relationships/notesSlide" Target="/ppt/notesSlides/notesSlide28.xml" Id="Rbf94339f7b1244a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dbb061c4de247f6" /><Relationship Type="http://schemas.openxmlformats.org/officeDocument/2006/relationships/notesSlide" Target="/ppt/notesSlides/notesSlide29.xml" Id="R73db905631b842f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4d42f62caf74ea3" /><Relationship Type="http://schemas.openxmlformats.org/officeDocument/2006/relationships/notesSlide" Target="/ppt/notesSlides/notesSlide30.xml" Id="Rfd95b2317ea5492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bac45fdbd044dac" /><Relationship Type="http://schemas.openxmlformats.org/officeDocument/2006/relationships/notesSlide" Target="/ppt/notesSlides/notesSlide31.xml" Id="R1b26f60544074c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f2e8a14aef24c95" /><Relationship Type="http://schemas.openxmlformats.org/officeDocument/2006/relationships/notesSlide" Target="/ppt/notesSlides/notesSlide32.xml" Id="R4a50d823e3c1435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19e68e355e74cb8" /><Relationship Type="http://schemas.openxmlformats.org/officeDocument/2006/relationships/notesSlide" Target="/ppt/notesSlides/notesSlide33.xml" Id="Rfdfac907a18a4b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802332ee8d04f61" /><Relationship Type="http://schemas.openxmlformats.org/officeDocument/2006/relationships/notesSlide" Target="/ppt/notesSlides/notesSlide34.xml" Id="Rd6102c4fb37441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93cb085246649bb" /><Relationship Type="http://schemas.openxmlformats.org/officeDocument/2006/relationships/notesSlide" Target="/ppt/notesSlides/notesSlide35.xml" Id="Rf8e6d5de4a2e490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91f0dcecac348b0" /><Relationship Type="http://schemas.openxmlformats.org/officeDocument/2006/relationships/notesSlide" Target="/ppt/notesSlides/notesSlide36.xml" Id="Re33f37fbe16c4fc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5bbceb5dbd34b6b" /><Relationship Type="http://schemas.openxmlformats.org/officeDocument/2006/relationships/notesSlide" Target="/ppt/notesSlides/notesSlide37.xml" Id="R2446ed2ebd86405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03bc384c7b34a4b" /><Relationship Type="http://schemas.openxmlformats.org/officeDocument/2006/relationships/notesSlide" Target="/ppt/notesSlides/notesSlide38.xml" Id="Rcb0902a1f04946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44989bfe01e46d0" /><Relationship Type="http://schemas.openxmlformats.org/officeDocument/2006/relationships/notesSlide" Target="/ppt/notesSlides/notesSlide39.xml" Id="Ra3b41316dca0401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cc55e1d732f4224" /><Relationship Type="http://schemas.openxmlformats.org/officeDocument/2006/relationships/notesSlide" Target="/ppt/notesSlides/notesSlide40.xml" Id="R51cf835ccf96426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b730ae18def47b7" /><Relationship Type="http://schemas.openxmlformats.org/officeDocument/2006/relationships/notesSlide" Target="/ppt/notesSlides/notesSlide41.xml" Id="Reb27b7464ac646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310781a7c834607" /><Relationship Type="http://schemas.openxmlformats.org/officeDocument/2006/relationships/notesSlide" Target="/ppt/notesSlides/notesSlide42.xml" Id="R7c5a2c8f0b8f477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2b397de81a34f64" /><Relationship Type="http://schemas.openxmlformats.org/officeDocument/2006/relationships/notesSlide" Target="/ppt/notesSlides/notesSlide43.xml" Id="Re38020d0b602461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34ebebfd050465b" /><Relationship Type="http://schemas.openxmlformats.org/officeDocument/2006/relationships/notesSlide" Target="/ppt/notesSlides/notesSlide44.xml" Id="Rd77705fc690744e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95d0c45a0bb479f" /><Relationship Type="http://schemas.openxmlformats.org/officeDocument/2006/relationships/notesSlide" Target="/ppt/notesSlides/notesSlide45.xml" Id="R273cf267fccd4f9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415a010d2e54732" /><Relationship Type="http://schemas.openxmlformats.org/officeDocument/2006/relationships/notesSlide" Target="/ppt/notesSlides/notesSlide46.xml" Id="R6848fa3220ee4ce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6b07741d5fa4644" /><Relationship Type="http://schemas.openxmlformats.org/officeDocument/2006/relationships/notesSlide" Target="/ppt/notesSlides/notesSlide47.xml" Id="Rf1837cb72666494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efaf103fc7b4033" /><Relationship Type="http://schemas.openxmlformats.org/officeDocument/2006/relationships/notesSlide" Target="/ppt/notesSlides/notesSlide48.xml" Id="R5a685f2b67fe424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92722540c5f470c" /><Relationship Type="http://schemas.openxmlformats.org/officeDocument/2006/relationships/notesSlide" Target="/ppt/notesSlides/notesSlide49.xml" Id="R7d25cb48d086447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1002bfc0abb4802" /><Relationship Type="http://schemas.openxmlformats.org/officeDocument/2006/relationships/notesSlide" Target="/ppt/notesSlides/notesSlide50.xml" Id="R64660d6cc1364b9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0bdbcbd203e4a37" /><Relationship Type="http://schemas.openxmlformats.org/officeDocument/2006/relationships/notesSlide" Target="/ppt/notesSlides/notesSlide51.xml" Id="R49ff64796f78460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5876c2f4620440d" /><Relationship Type="http://schemas.openxmlformats.org/officeDocument/2006/relationships/notesSlide" Target="/ppt/notesSlides/notesSlide52.xml" Id="Rc1c7336f5fed409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9f234ea0d4744708" /><Relationship Type="http://schemas.openxmlformats.org/officeDocument/2006/relationships/notesSlide" Target="/ppt/notesSlides/notesSlide53.xml" Id="Rdd207141f4e044e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3daf8889fc5d4421" /><Relationship Type="http://schemas.openxmlformats.org/officeDocument/2006/relationships/notesSlide" Target="/ppt/notesSlides/notesSlide54.xml" Id="R7a0e314616a6480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9cb80b4e93f4765" /><Relationship Type="http://schemas.openxmlformats.org/officeDocument/2006/relationships/notesSlide" Target="/ppt/notesSlides/notesSlide55.xml" Id="Ra4a0782eede64f0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88c6a3a84204c7c" /><Relationship Type="http://schemas.openxmlformats.org/officeDocument/2006/relationships/notesSlide" Target="/ppt/notesSlides/notesSlide56.xml" Id="R8545a31739cd4c4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a8a8a8baf534193" /><Relationship Type="http://schemas.openxmlformats.org/officeDocument/2006/relationships/notesSlide" Target="/ppt/notesSlides/notesSlide57.xml" Id="R636b8e0304a8445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766d75ab8c664a64" /><Relationship Type="http://schemas.openxmlformats.org/officeDocument/2006/relationships/notesSlide" Target="/ppt/notesSlides/notesSlide58.xml" Id="Rac4003a6c3114b2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8b34b8b5f1274962" /><Relationship Type="http://schemas.openxmlformats.org/officeDocument/2006/relationships/notesSlide" Target="/ppt/notesSlides/notesSlide59.xml" Id="R008b98ac87d14ed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1cfe7f69b5d4e5a" /><Relationship Type="http://schemas.openxmlformats.org/officeDocument/2006/relationships/image" Target="/ppt/media/image2.png" Id="R13a24faa8d7e4b2d" /><Relationship Type="http://schemas.openxmlformats.org/officeDocument/2006/relationships/hyperlink" Target="https://iuea-test-entry.jothammartin-wambi.workers.dev/?test=CML3111%7CTEST1" TargetMode="External" Id="R0d3b6183b2f14317" /><Relationship Type="http://schemas.openxmlformats.org/officeDocument/2006/relationships/hyperlink" Target="https://iuea-test-entry.jothammartin-wambi.workers.dev/?test=CML3111%7CTEST1" TargetMode="External" Id="R2481c761bb7d4f6c" /><Relationship Type="http://schemas.openxmlformats.org/officeDocument/2006/relationships/notesSlide" Target="/ppt/notesSlides/notesSlide60.xml" Id="R6852e5f3b42d458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80016c0964a542e7" /><Relationship Type="http://schemas.openxmlformats.org/officeDocument/2006/relationships/notesSlide" Target="/ppt/notesSlides/notesSlide61.xml" Id="Ra53d4f04b11542e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d1ae8e21acc44a5" /><Relationship Type="http://schemas.openxmlformats.org/officeDocument/2006/relationships/notesSlide" Target="/ppt/notesSlides/notesSlide62.xml" Id="Ra9f0a1390ae34be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f40cbc47dc34c1e" /><Relationship Type="http://schemas.openxmlformats.org/officeDocument/2006/relationships/notesSlide" Target="/ppt/notesSlides/notesSlide63.xml" Id="Rc2aab17dedb0437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1e7fd5802874473d" /><Relationship Type="http://schemas.openxmlformats.org/officeDocument/2006/relationships/notesSlide" Target="/ppt/notesSlides/notesSlide64.xml" Id="Rce691ccd09344d9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3294b2c840274b15" /><Relationship Type="http://schemas.openxmlformats.org/officeDocument/2006/relationships/notesSlide" Target="/ppt/notesSlides/notesSlide65.xml" Id="R5c2f8625ad824a9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5df7ddee030546f5" /><Relationship Type="http://schemas.openxmlformats.org/officeDocument/2006/relationships/notesSlide" Target="/ppt/notesSlides/notesSlide66.xml" Id="Rac62b88507a6472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e57156953a494d1d" /><Relationship Type="http://schemas.openxmlformats.org/officeDocument/2006/relationships/notesSlide" Target="/ppt/notesSlides/notesSlide67.xml" Id="Rbbc2c5e0746a4d4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b13106d158eb4aa5" /><Relationship Type="http://schemas.openxmlformats.org/officeDocument/2006/relationships/notesSlide" Target="/ppt/notesSlides/notesSlide68.xml" Id="R2aae7bf42feb4ce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6BA04FC-C689-4A8D-A1E1-EEA650C139C2}"/>
              </a:ext>
            </a:extLst>
          </p:cNvPr>
          <p:cNvPicPr>
            <a:picLocks xmlns:a="http://schemas.openxmlformats.org/drawingml/2006/main" noChangeAspect="1"/>
          </p:cNvPicPr>
          <p:nvPr/>
        </p:nvPicPr>
        <p:blipFill>
          <a:blip xmlns:r="http://schemas.openxmlformats.org/officeDocument/2006/relationships" xmlns:a="http://schemas.openxmlformats.org/drawingml/2006/main" r:embed="Rd32a2916f94840cf"/>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0449DC-86A6-40D1-86C5-8C5B7917FDA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C2EE05-7248-40D8-A7C1-40999A2E9497}"/>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7</a:t>
            </a:r>
          </a:p>
        </p:txBody>
      </p:sp>
      <p:sp>
        <p:nvSpPr>
          <p:cNvPr id="4" name="">
            <a:extLst xmlns:a="http://schemas.openxmlformats.org/drawingml/2006/main">
              <a:ext uri="{FF2B5EF4-FFF2-40B4-BE49-F238E27FC236}">
                <a16:creationId xmlns:a16="http://schemas.microsoft.com/office/drawing/2014/main" id="{B18405F2-A9D6-42F7-90BD-A0C80AC99AF0}"/>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1</a:t>
            </a:r>
          </a:p>
        </p:txBody>
      </p:sp>
      <p:sp>
        <p:nvSpPr>
          <p:cNvPr id="5" name="">
            <a:extLst xmlns:a="http://schemas.openxmlformats.org/drawingml/2006/main">
              <a:ext uri="{FF2B5EF4-FFF2-40B4-BE49-F238E27FC236}">
                <a16:creationId xmlns:a16="http://schemas.microsoft.com/office/drawing/2014/main" id="{C4579B26-E6B3-4E46-99D3-5F6BB73D1CB5}"/>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F640D861-6323-4EF6-BA10-9BC995D65036}"/>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Advance revision and test-day guide</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12911165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50E15D-720E-48E8-9752-EAA19A16DD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E11FCA-379A-49D1-976A-F781511C4B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BB32958-3F7A-4F99-87AD-8AC35CC905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C8684222-44EB-4E34-9C2F-3FDED66E303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950EA94-C2C1-45A0-8102-2071DBCF349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CML3111_Test1_practice.csv. Save both on your laptop.</a:t>
            </a:r>
          </a:p>
        </p:txBody>
      </p:sp>
      <p:sp>
        <p:nvSpPr>
          <p:cNvPr id="6" name="">
            <a:extLst xmlns:a="http://schemas.openxmlformats.org/drawingml/2006/main">
              <a:ext uri="{FF2B5EF4-FFF2-40B4-BE49-F238E27FC236}">
                <a16:creationId xmlns:a16="http://schemas.microsoft.com/office/drawing/2014/main" id="{0E732C21-37A0-4ED6-BD8A-462541E5C49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3AE4704-ED6C-417A-BDB3-A592E663CBB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F14FD9D9-F5D0-4C97-80BF-E53BDE1A234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DBE3FB-56C0-4C17-B020-3BC9388CB7C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7421AFCC-9E12-41C9-AF24-714D0DD7E3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a:t>
            </a:r>
          </a:p>
        </p:txBody>
      </p:sp>
    </p:spTree>
    <p:extLst>
      <p:ext uri="{BB962C8B-B14F-4D97-AF65-F5344CB8AC3E}">
        <p14:creationId xmlns:p14="http://schemas.microsoft.com/office/powerpoint/2010/main" val="8648675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DD07F9-7E52-4812-9EBC-B5BB5A82C2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DF06A2-2120-47D1-8164-FCB89C8C7D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A60563D-43C5-45CE-B709-B5EE45B418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BA1777CE-1227-44C7-9775-66D1C118475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5E8D13E-3CCD-4BF5-8906-A7D8CFEDD88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CML3111_Test1_practice.csv with the worked examples in this section.</a:t>
            </a:r>
          </a:p>
        </p:txBody>
      </p:sp>
      <p:sp>
        <p:nvSpPr>
          <p:cNvPr id="6" name="">
            <a:extLst xmlns:a="http://schemas.openxmlformats.org/drawingml/2006/main">
              <a:ext uri="{FF2B5EF4-FFF2-40B4-BE49-F238E27FC236}">
                <a16:creationId xmlns:a16="http://schemas.microsoft.com/office/drawing/2014/main" id="{88E3AD21-E806-42BD-95A8-1FD4AAAB20D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5F35288-9647-4D01-A8A7-9E1D0C904B5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4449E84D-051A-40C6-8A32-E2A4E729385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026970F-5952-4D32-81F4-5E92B6D0292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03831091-6363-46B4-A98B-433A166D7B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a:t>
            </a:r>
          </a:p>
        </p:txBody>
      </p:sp>
    </p:spTree>
    <p:extLst>
      <p:ext uri="{BB962C8B-B14F-4D97-AF65-F5344CB8AC3E}">
        <p14:creationId xmlns:p14="http://schemas.microsoft.com/office/powerpoint/2010/main" val="1509962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46FE55-A768-4AF1-9A5D-A333E14012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C457D7-C6B2-44CC-A2BC-E9D0D9947E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A4C8C97-BCB6-4D61-B72A-516E100DE8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73965DF8-B21D-49A1-8E14-2679D5C3D7C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BFBA9E-B87A-45AA-9EB7-0D311320BD5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48BA4796-5354-4154-91EC-427E83AA50A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8924686-7806-45B4-80B3-4B8C30AF971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670D5EAD-B36A-4067-9F9F-6A4ED612D8D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65FD113-0B53-450C-AC9B-E0B7164AB2F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A6634011-3B12-451A-B4AA-7C6B4DAC4B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a:t>
            </a:r>
          </a:p>
        </p:txBody>
      </p:sp>
    </p:spTree>
    <p:extLst>
      <p:ext uri="{BB962C8B-B14F-4D97-AF65-F5344CB8AC3E}">
        <p14:creationId xmlns:p14="http://schemas.microsoft.com/office/powerpoint/2010/main" val="18907284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DB9AFE-C195-45D0-B8D0-8CC7D5FBA2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9867F7-6775-4AE4-8BC6-742A89E472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0403E17-734F-4CD1-BBB5-6ADA415901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37715E0C-00E1-457D-BFFC-B0C174FC113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1A475D-395B-4082-986D-50A69E8216E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CML3111_Test1_practice.csv.</a:t>
            </a:r>
          </a:p>
        </p:txBody>
      </p:sp>
      <p:sp>
        <p:nvSpPr>
          <p:cNvPr id="6" name="">
            <a:extLst xmlns:a="http://schemas.openxmlformats.org/drawingml/2006/main">
              <a:ext uri="{FF2B5EF4-FFF2-40B4-BE49-F238E27FC236}">
                <a16:creationId xmlns:a16="http://schemas.microsoft.com/office/drawing/2014/main" id="{0D4E0F34-F25F-4F2A-A2A1-86F880A8B83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40198F-86A5-43F1-A1B0-25C8B4139C6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86ADFA76-A393-4D8B-B303-5E9983575AD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E9E186-16A6-468B-AB04-4C0B41B6DAA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626F49D1-5E66-4C67-AF64-34BC87D778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a:t>
            </a:r>
          </a:p>
        </p:txBody>
      </p:sp>
    </p:spTree>
    <p:extLst>
      <p:ext uri="{BB962C8B-B14F-4D97-AF65-F5344CB8AC3E}">
        <p14:creationId xmlns:p14="http://schemas.microsoft.com/office/powerpoint/2010/main" val="21259204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B30C22-E9AA-414A-916E-163B86C62E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0C748E-BDCD-45E4-94F9-B641A9D08BD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74F1BD7-6B36-4954-BB5C-08237B9BED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B1225F8D-FC6A-477B-8205-9D8F56692F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471A6FB-C724-479F-A4C4-FF63B7E08FC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7DE054B1-135E-4684-A519-8EC576D62D5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E509D08-5B96-4DB5-A782-D2BB6C3E9AB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motor temperature, measured in °C.</a:t>
            </a:r>
          </a:p>
        </p:txBody>
      </p:sp>
      <p:sp>
        <p:nvSpPr>
          <p:cNvPr id="8" name="">
            <a:extLst xmlns:a="http://schemas.openxmlformats.org/drawingml/2006/main">
              <a:ext uri="{FF2B5EF4-FFF2-40B4-BE49-F238E27FC236}">
                <a16:creationId xmlns:a16="http://schemas.microsoft.com/office/drawing/2014/main" id="{2A0D8647-B154-40B6-AA20-AABF014CB99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FC7C3BD-670A-4B72-B0EF-6A70EA8F5D9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BCA7D27D-4CAE-49EF-958C-ABDCEF8CA4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a:t>
            </a:r>
          </a:p>
        </p:txBody>
      </p:sp>
    </p:spTree>
    <p:extLst>
      <p:ext uri="{BB962C8B-B14F-4D97-AF65-F5344CB8AC3E}">
        <p14:creationId xmlns:p14="http://schemas.microsoft.com/office/powerpoint/2010/main" val="786945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67D10E-7A2E-438A-BD24-70AB49022F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13C4EA-6051-4878-B3D2-5BA3EBA700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1AA83D7-B78D-4974-B543-691DB03011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21A95283-39A5-495D-9AAC-84BA45F3CC2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241B373-A11B-461F-A38D-B243570D620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E11203E4-161C-47F9-B341-6FBE9ADAEFC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5376E8-9775-46BF-9E29-30AFD22AF14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table. The filename is text, so it needs quotation marks.</a:t>
            </a:r>
          </a:p>
        </p:txBody>
      </p:sp>
      <p:sp>
        <p:nvSpPr>
          <p:cNvPr id="8" name="">
            <a:extLst xmlns:a="http://schemas.openxmlformats.org/drawingml/2006/main">
              <a:ext uri="{FF2B5EF4-FFF2-40B4-BE49-F238E27FC236}">
                <a16:creationId xmlns:a16="http://schemas.microsoft.com/office/drawing/2014/main" id="{9214E9F4-5A06-46B5-9EE4-668EDA5777B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105454B-24EB-4806-8CD4-E15F51FCC9E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0BFCB576-1FCB-4A53-B221-ACD878DD7A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7</a:t>
            </a:r>
          </a:p>
        </p:txBody>
      </p:sp>
    </p:spTree>
    <p:extLst>
      <p:ext uri="{BB962C8B-B14F-4D97-AF65-F5344CB8AC3E}">
        <p14:creationId xmlns:p14="http://schemas.microsoft.com/office/powerpoint/2010/main" val="912653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3546CF-1B8A-4967-9EC1-178AE59F31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9A7E44-1B11-444C-B5EB-EC71786C3E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F1891A9-0C17-4346-8586-5DD2BDDE04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4DD4C196-90BF-44C6-A9CA-18EC5E5DBD5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3BC2AC-1BD6-4CC1-8CCA-A65AB5362D4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pandas as pd</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filename = "CML3111_Test1_practice.csv"</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source = pd.read_csv(filename)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print(source)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print(len(source))</a:t>
            </a:r>
          </a:p>
        </p:txBody>
      </p:sp>
      <p:sp>
        <p:nvSpPr>
          <p:cNvPr id="6" name="">
            <a:extLst xmlns:a="http://schemas.openxmlformats.org/drawingml/2006/main">
              <a:ext uri="{FF2B5EF4-FFF2-40B4-BE49-F238E27FC236}">
                <a16:creationId xmlns:a16="http://schemas.microsoft.com/office/drawing/2014/main" id="{E044BB7B-DB94-4435-86D9-FC5BE0C4A6C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078A62D-C95D-4DD0-A2B7-DD477907C65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source keeps the original file contents.</a:t>
            </a:r>
          </a:p>
        </p:txBody>
      </p:sp>
      <p:sp>
        <p:nvSpPr>
          <p:cNvPr id="8" name="">
            <a:extLst xmlns:a="http://schemas.openxmlformats.org/drawingml/2006/main">
              <a:ext uri="{FF2B5EF4-FFF2-40B4-BE49-F238E27FC236}">
                <a16:creationId xmlns:a16="http://schemas.microsoft.com/office/drawing/2014/main" id="{88590D65-D687-4F85-BFA4-B0F0C03869F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Blank numeric cells appear as NaN.</a:t>
            </a:r>
          </a:p>
        </p:txBody>
      </p:sp>
      <p:sp>
        <p:nvSpPr>
          <p:cNvPr id="9" name="">
            <a:extLst xmlns:a="http://schemas.openxmlformats.org/drawingml/2006/main">
              <a:ext uri="{FF2B5EF4-FFF2-40B4-BE49-F238E27FC236}">
                <a16:creationId xmlns:a16="http://schemas.microsoft.com/office/drawing/2014/main" id="{509D9B52-BB88-4313-9A0A-263D8EBC0CA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seven rows.</a:t>
            </a:r>
          </a:p>
        </p:txBody>
      </p:sp>
      <p:sp>
        <p:nvSpPr>
          <p:cNvPr id="10" name="">
            <a:extLst xmlns:a="http://schemas.openxmlformats.org/drawingml/2006/main">
              <a:ext uri="{FF2B5EF4-FFF2-40B4-BE49-F238E27FC236}">
                <a16:creationId xmlns:a16="http://schemas.microsoft.com/office/drawing/2014/main" id="{42DAE96B-7BA2-4A9E-97B0-0435BF283F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8</a:t>
            </a:r>
          </a:p>
        </p:txBody>
      </p:sp>
    </p:spTree>
    <p:extLst>
      <p:ext uri="{BB962C8B-B14F-4D97-AF65-F5344CB8AC3E}">
        <p14:creationId xmlns:p14="http://schemas.microsoft.com/office/powerpoint/2010/main" val="8323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010073-F895-43E6-ACAC-DE1D75C20C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05A328-3B17-43BF-A784-B37AD5A38E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E06FE34-0E3A-491E-AC1E-21C404E6C2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practice cleaning rules</a:t>
            </a:r>
          </a:p>
        </p:txBody>
      </p:sp>
      <p:sp>
        <p:nvSpPr>
          <p:cNvPr id="4" name="">
            <a:extLst xmlns:a="http://schemas.openxmlformats.org/drawingml/2006/main">
              <a:ext uri="{FF2B5EF4-FFF2-40B4-BE49-F238E27FC236}">
                <a16:creationId xmlns:a16="http://schemas.microsoft.com/office/drawing/2014/main" id="{C9896936-CD24-4730-BF1D-98B82020B4F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9AFDC55-FA57-419B-A324-C3A7A358406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first row for each reading identifier. Remove rows whose target is missing.</a:t>
            </a:r>
          </a:p>
        </p:txBody>
      </p:sp>
      <p:sp>
        <p:nvSpPr>
          <p:cNvPr id="6" name="">
            <a:extLst xmlns:a="http://schemas.openxmlformats.org/drawingml/2006/main">
              <a:ext uri="{FF2B5EF4-FFF2-40B4-BE49-F238E27FC236}">
                <a16:creationId xmlns:a16="http://schemas.microsoft.com/office/drawing/2014/main" id="{3E82FE95-9934-427C-B0E1-B869FBF593D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2D62CB0-89DB-4AB3-9FB1-D41AD09BEE2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load values from 0 to 100, including both limits.</a:t>
            </a:r>
          </a:p>
        </p:txBody>
      </p:sp>
      <p:sp>
        <p:nvSpPr>
          <p:cNvPr id="8" name="">
            <a:extLst xmlns:a="http://schemas.openxmlformats.org/drawingml/2006/main">
              <a:ext uri="{FF2B5EF4-FFF2-40B4-BE49-F238E27FC236}">
                <a16:creationId xmlns:a16="http://schemas.microsoft.com/office/drawing/2014/main" id="{269E4625-7FF1-4236-A6DA-0A63575504F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9396997-D6FA-46F5-B4FA-49462E419FA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those removals, replace missing ambient values with the retained ambient median.</a:t>
            </a:r>
          </a:p>
        </p:txBody>
      </p:sp>
      <p:sp>
        <p:nvSpPr>
          <p:cNvPr id="10" name="">
            <a:extLst xmlns:a="http://schemas.openxmlformats.org/drawingml/2006/main">
              <a:ext uri="{FF2B5EF4-FFF2-40B4-BE49-F238E27FC236}">
                <a16:creationId xmlns:a16="http://schemas.microsoft.com/office/drawing/2014/main" id="{A19BAF8A-086D-46DD-99D7-D4ED0088A8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9</a:t>
            </a:r>
          </a:p>
        </p:txBody>
      </p:sp>
    </p:spTree>
    <p:extLst>
      <p:ext uri="{BB962C8B-B14F-4D97-AF65-F5344CB8AC3E}">
        <p14:creationId xmlns:p14="http://schemas.microsoft.com/office/powerpoint/2010/main" val="9696133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5780B3-409C-4EFF-BACB-B1C6541DF1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8AD8D5-CBAC-48C8-B943-AAED5E869D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4DCE444-C4B1-41E2-8FE7-B673EF1615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Removing duplicates and missing targets</a:t>
            </a:r>
          </a:p>
        </p:txBody>
      </p:sp>
      <p:sp>
        <p:nvSpPr>
          <p:cNvPr id="4" name="">
            <a:extLst xmlns:a="http://schemas.openxmlformats.org/drawingml/2006/main">
              <a:ext uri="{FF2B5EF4-FFF2-40B4-BE49-F238E27FC236}">
                <a16:creationId xmlns:a16="http://schemas.microsoft.com/office/drawing/2014/main" id="{812E02B2-4245-4C08-8917-23DE0CBC18F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394A03-3C3C-4148-90EA-B351370A69D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drop_duplicates("reading") keeps the first occurrence of each reading identifier.</a:t>
            </a:r>
          </a:p>
        </p:txBody>
      </p:sp>
      <p:sp>
        <p:nvSpPr>
          <p:cNvPr id="6" name="">
            <a:extLst xmlns:a="http://schemas.openxmlformats.org/drawingml/2006/main">
              <a:ext uri="{FF2B5EF4-FFF2-40B4-BE49-F238E27FC236}">
                <a16:creationId xmlns:a16="http://schemas.microsoft.com/office/drawing/2014/main" id="{379EC8B2-EA87-411F-8D11-BD913F85D1C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FD81ED2-622A-444E-89D3-CAD95FD605D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dropna(subset=["target"]) removes a row when its target is missing.</a:t>
            </a:r>
          </a:p>
        </p:txBody>
      </p:sp>
      <p:sp>
        <p:nvSpPr>
          <p:cNvPr id="8" name="">
            <a:extLst xmlns:a="http://schemas.openxmlformats.org/drawingml/2006/main">
              <a:ext uri="{FF2B5EF4-FFF2-40B4-BE49-F238E27FC236}">
                <a16:creationId xmlns:a16="http://schemas.microsoft.com/office/drawing/2014/main" id="{38C05980-1604-41AC-814A-A8CAE0ED4EA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982CEB-AD98-45A2-A053-CEE5E12F754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.copy() creates a separate table. We keep source unchanged for comparison.</a:t>
            </a:r>
          </a:p>
        </p:txBody>
      </p:sp>
      <p:sp>
        <p:nvSpPr>
          <p:cNvPr id="10" name="">
            <a:extLst xmlns:a="http://schemas.openxmlformats.org/drawingml/2006/main">
              <a:ext uri="{FF2B5EF4-FFF2-40B4-BE49-F238E27FC236}">
                <a16:creationId xmlns:a16="http://schemas.microsoft.com/office/drawing/2014/main" id="{FF2D644D-03EB-4A54-9B13-B9E670DC49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10</a:t>
            </a:r>
          </a:p>
        </p:txBody>
      </p:sp>
    </p:spTree>
    <p:extLst>
      <p:ext uri="{BB962C8B-B14F-4D97-AF65-F5344CB8AC3E}">
        <p14:creationId xmlns:p14="http://schemas.microsoft.com/office/powerpoint/2010/main" val="2041793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6F87C9-FFA8-4155-A30F-CBCC48A2A9B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10C5EB-71C2-44AC-B7D3-90FAB829F4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510FF8E-1A0C-4D79-B831-2B26D47DC9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first two cleaning steps</a:t>
            </a:r>
          </a:p>
        </p:txBody>
      </p:sp>
      <p:sp>
        <p:nvSpPr>
          <p:cNvPr id="4" name="">
            <a:extLst xmlns:a="http://schemas.openxmlformats.org/drawingml/2006/main">
              <a:ext uri="{FF2B5EF4-FFF2-40B4-BE49-F238E27FC236}">
                <a16:creationId xmlns:a16="http://schemas.microsoft.com/office/drawing/2014/main" id="{A09A5A5C-9209-47DD-891B-62F9150C7C5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949508-B009-4355-AB27-DF45ADEA13E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source.drop_duplicates("reading")</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raw.dropna(subset=["target"]).copy()</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p:txBody>
      </p:sp>
      <p:sp>
        <p:nvSpPr>
          <p:cNvPr id="6" name="">
            <a:extLst xmlns:a="http://schemas.openxmlformats.org/drawingml/2006/main">
              <a:ext uri="{FF2B5EF4-FFF2-40B4-BE49-F238E27FC236}">
                <a16:creationId xmlns:a16="http://schemas.microsoft.com/office/drawing/2014/main" id="{F317A7AA-A607-4417-B135-485816851A1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0B8F8B3-9C50-4E37-A940-0F93622BEC9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repeated reading.</a:t>
            </a:r>
          </a:p>
        </p:txBody>
      </p:sp>
      <p:sp>
        <p:nvSpPr>
          <p:cNvPr id="8" name="">
            <a:extLst xmlns:a="http://schemas.openxmlformats.org/drawingml/2006/main">
              <a:ext uri="{FF2B5EF4-FFF2-40B4-BE49-F238E27FC236}">
                <a16:creationId xmlns:a16="http://schemas.microsoft.com/office/drawing/2014/main" id="{749FD7E6-15E2-4925-914D-EF33C5A224F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missing target.</a:t>
            </a:r>
          </a:p>
        </p:txBody>
      </p:sp>
      <p:sp>
        <p:nvSpPr>
          <p:cNvPr id="9" name="">
            <a:extLst xmlns:a="http://schemas.openxmlformats.org/drawingml/2006/main">
              <a:ext uri="{FF2B5EF4-FFF2-40B4-BE49-F238E27FC236}">
                <a16:creationId xmlns:a16="http://schemas.microsoft.com/office/drawing/2014/main" id="{A73BFF97-C23C-49D4-B8B1-FB0D3F20B12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row counts: 6, then 5.</a:t>
            </a:r>
          </a:p>
        </p:txBody>
      </p:sp>
      <p:sp>
        <p:nvSpPr>
          <p:cNvPr id="10" name="">
            <a:extLst xmlns:a="http://schemas.openxmlformats.org/drawingml/2006/main">
              <a:ext uri="{FF2B5EF4-FFF2-40B4-BE49-F238E27FC236}">
                <a16:creationId xmlns:a16="http://schemas.microsoft.com/office/drawing/2014/main" id="{8BB70BD3-50C7-4137-AF63-701132E509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11</a:t>
            </a:r>
          </a:p>
        </p:txBody>
      </p:sp>
    </p:spTree>
    <p:extLst>
      <p:ext uri="{BB962C8B-B14F-4D97-AF65-F5344CB8AC3E}">
        <p14:creationId xmlns:p14="http://schemas.microsoft.com/office/powerpoint/2010/main" val="11832831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5B7DB9-ECFD-4458-B8DD-85E3F60E1F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1D8870-E7F3-41FC-9FC9-8386EAF76A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FA22AF5-1A53-4B85-AF38-E23639EF46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valid load range</a:t>
            </a:r>
          </a:p>
        </p:txBody>
      </p:sp>
      <p:sp>
        <p:nvSpPr>
          <p:cNvPr id="4" name="">
            <a:extLst xmlns:a="http://schemas.openxmlformats.org/drawingml/2006/main">
              <a:ext uri="{FF2B5EF4-FFF2-40B4-BE49-F238E27FC236}">
                <a16:creationId xmlns:a16="http://schemas.microsoft.com/office/drawing/2014/main" id="{41FB7419-2137-4EFE-9A51-7C882D758DC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2829BC9-4E0A-4A58-AE94-A3E6093287A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between(0, 100) returns True for loads from 0 to 100. Other values receive False.</a:t>
            </a:r>
          </a:p>
        </p:txBody>
      </p:sp>
      <p:sp>
        <p:nvSpPr>
          <p:cNvPr id="6" name="">
            <a:extLst xmlns:a="http://schemas.openxmlformats.org/drawingml/2006/main">
              <a:ext uri="{FF2B5EF4-FFF2-40B4-BE49-F238E27FC236}">
                <a16:creationId xmlns:a16="http://schemas.microsoft.com/office/drawing/2014/main" id="{7C0BEC95-2E68-4ADC-BC80-11A3B0E6FA7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D826DC-DC97-4F45-8CC5-56C2889228C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rows marked True. A mask is a row-by-row list of yes/no decisions.</a:t>
            </a:r>
          </a:p>
        </p:txBody>
      </p:sp>
      <p:sp>
        <p:nvSpPr>
          <p:cNvPr id="8" name="">
            <a:extLst xmlns:a="http://schemas.openxmlformats.org/drawingml/2006/main">
              <a:ext uri="{FF2B5EF4-FFF2-40B4-BE49-F238E27FC236}">
                <a16:creationId xmlns:a16="http://schemas.microsoft.com/office/drawing/2014/main" id="{EA3BB75E-A234-4261-8F66-A7DC912A924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9C86D76-C045-403E-BECE-06151F24007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row with load 120 must be removed.</a:t>
            </a:r>
          </a:p>
        </p:txBody>
      </p:sp>
      <p:sp>
        <p:nvSpPr>
          <p:cNvPr id="10" name="">
            <a:extLst xmlns:a="http://schemas.openxmlformats.org/drawingml/2006/main">
              <a:ext uri="{FF2B5EF4-FFF2-40B4-BE49-F238E27FC236}">
                <a16:creationId xmlns:a16="http://schemas.microsoft.com/office/drawing/2014/main" id="{1062EFB0-87BB-4C3F-8A49-FCD5ED2DE1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12</a:t>
            </a:r>
          </a:p>
        </p:txBody>
      </p:sp>
    </p:spTree>
    <p:extLst>
      <p:ext uri="{BB962C8B-B14F-4D97-AF65-F5344CB8AC3E}">
        <p14:creationId xmlns:p14="http://schemas.microsoft.com/office/powerpoint/2010/main" val="18559859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67ABA6-D748-46A1-A4C5-EAB7F47375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42D312-A4CC-42FC-A23A-D3D7BBEEE1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EDAEDFE-18C4-4C83-AF12-E7E7288592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valid loads</a:t>
            </a:r>
          </a:p>
        </p:txBody>
      </p:sp>
      <p:sp>
        <p:nvSpPr>
          <p:cNvPr id="4" name="">
            <a:extLst xmlns:a="http://schemas.openxmlformats.org/drawingml/2006/main">
              <a:ext uri="{FF2B5EF4-FFF2-40B4-BE49-F238E27FC236}">
                <a16:creationId xmlns:a16="http://schemas.microsoft.com/office/drawing/2014/main" id="{864E0807-1FB9-4F42-A009-B3083CD8520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710517-DE0B-47A7-AA2F-D70B35880EC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raw["load"].between(0, 100)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raw.loc[mask].copy()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print(raw["target"].tolist())</a:t>
            </a:r>
          </a:p>
        </p:txBody>
      </p:sp>
      <p:sp>
        <p:nvSpPr>
          <p:cNvPr id="6" name="">
            <a:extLst xmlns:a="http://schemas.openxmlformats.org/drawingml/2006/main">
              <a:ext uri="{FF2B5EF4-FFF2-40B4-BE49-F238E27FC236}">
                <a16:creationId xmlns:a16="http://schemas.microsoft.com/office/drawing/2014/main" id="{19E80194-5B74-46B3-8BB3-F66734BE01F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C36C09F-3832-43E1-B8FF-DEAABE399F3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["load"] selects one column.</a:t>
            </a:r>
          </a:p>
        </p:txBody>
      </p:sp>
      <p:sp>
        <p:nvSpPr>
          <p:cNvPr id="8" name="">
            <a:extLst xmlns:a="http://schemas.openxmlformats.org/drawingml/2006/main">
              <a:ext uri="{FF2B5EF4-FFF2-40B4-BE49-F238E27FC236}">
                <a16:creationId xmlns:a16="http://schemas.microsoft.com/office/drawing/2014/main" id="{9E8CC3C1-3391-48A0-BCCA-7C203A87448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tolist displays its values as a list.</a:t>
            </a:r>
          </a:p>
        </p:txBody>
      </p:sp>
      <p:sp>
        <p:nvSpPr>
          <p:cNvPr id="9" name="">
            <a:extLst xmlns:a="http://schemas.openxmlformats.org/drawingml/2006/main">
              <a:ext uri="{FF2B5EF4-FFF2-40B4-BE49-F238E27FC236}">
                <a16:creationId xmlns:a16="http://schemas.microsoft.com/office/drawing/2014/main" id="{58800AB2-213A-4424-90D7-C83ABB01E89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retained targets: [10.0, 20.0, 30.0, 40.0].</a:t>
            </a:r>
          </a:p>
        </p:txBody>
      </p:sp>
      <p:sp>
        <p:nvSpPr>
          <p:cNvPr id="10" name="">
            <a:extLst xmlns:a="http://schemas.openxmlformats.org/drawingml/2006/main">
              <a:ext uri="{FF2B5EF4-FFF2-40B4-BE49-F238E27FC236}">
                <a16:creationId xmlns:a16="http://schemas.microsoft.com/office/drawing/2014/main" id="{0CB144E3-53E8-4458-865A-D18B7D4965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13</a:t>
            </a:r>
          </a:p>
        </p:txBody>
      </p:sp>
    </p:spTree>
    <p:extLst>
      <p:ext uri="{BB962C8B-B14F-4D97-AF65-F5344CB8AC3E}">
        <p14:creationId xmlns:p14="http://schemas.microsoft.com/office/powerpoint/2010/main" val="11785233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BDA4AB-C2D2-458B-B64D-F0FC0F23D2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054843-C968-4329-8A38-D1D3438213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DA472C6-5F4E-4559-83CF-82A2C928C2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median and missing ambient values</a:t>
            </a:r>
          </a:p>
        </p:txBody>
      </p:sp>
      <p:sp>
        <p:nvSpPr>
          <p:cNvPr id="4" name="">
            <a:extLst xmlns:a="http://schemas.openxmlformats.org/drawingml/2006/main">
              <a:ext uri="{FF2B5EF4-FFF2-40B4-BE49-F238E27FC236}">
                <a16:creationId xmlns:a16="http://schemas.microsoft.com/office/drawing/2014/main" id="{427CC533-7B79-4C7C-9D5F-C1613EC15D4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6FBBB86-2FC7-42DA-BFF3-AF0DDA92412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median is the middle value after sorting the known values. Here: 20, 30, 40. Median: 30 °C.</a:t>
            </a:r>
          </a:p>
        </p:txBody>
      </p:sp>
      <p:sp>
        <p:nvSpPr>
          <p:cNvPr id="6" name="">
            <a:extLst xmlns:a="http://schemas.openxmlformats.org/drawingml/2006/main">
              <a:ext uri="{FF2B5EF4-FFF2-40B4-BE49-F238E27FC236}">
                <a16:creationId xmlns:a16="http://schemas.microsoft.com/office/drawing/2014/main" id="{1DFC134E-0E7C-4E78-8E7F-55363DD9FD3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A20368-1581-46C5-B5EB-127EA3B8E37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.median() ignores missing values. .fillna(value) replaces only missing entries.</a:t>
            </a:r>
          </a:p>
        </p:txBody>
      </p:sp>
      <p:sp>
        <p:nvSpPr>
          <p:cNvPr id="8" name="">
            <a:extLst xmlns:a="http://schemas.openxmlformats.org/drawingml/2006/main">
              <a:ext uri="{FF2B5EF4-FFF2-40B4-BE49-F238E27FC236}">
                <a16:creationId xmlns:a16="http://schemas.microsoft.com/office/drawing/2014/main" id="{34F7D4A5-2E1C-4E3F-BEA2-73432A07FD5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C1F825-473C-4A3A-987B-844C5CCEECF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this median after removing the unwanted rows.</a:t>
            </a:r>
          </a:p>
        </p:txBody>
      </p:sp>
      <p:sp>
        <p:nvSpPr>
          <p:cNvPr id="10" name="">
            <a:extLst xmlns:a="http://schemas.openxmlformats.org/drawingml/2006/main">
              <a:ext uri="{FF2B5EF4-FFF2-40B4-BE49-F238E27FC236}">
                <a16:creationId xmlns:a16="http://schemas.microsoft.com/office/drawing/2014/main" id="{AB2A7E85-49E0-4E15-83FE-1FFA821D7E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14</a:t>
            </a:r>
          </a:p>
        </p:txBody>
      </p:sp>
    </p:spTree>
    <p:extLst>
      <p:ext uri="{BB962C8B-B14F-4D97-AF65-F5344CB8AC3E}">
        <p14:creationId xmlns:p14="http://schemas.microsoft.com/office/powerpoint/2010/main" val="882573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DCE66D-C88D-4C1B-B4DD-93F7A889068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147687-4D3C-4144-97B1-473442E7B8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4B29CCE-3099-45D2-8A3C-F4B9992CE8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the missing ambient value</a:t>
            </a:r>
          </a:p>
        </p:txBody>
      </p:sp>
      <p:sp>
        <p:nvSpPr>
          <p:cNvPr id="4" name="">
            <a:extLst xmlns:a="http://schemas.openxmlformats.org/drawingml/2006/main">
              <a:ext uri="{FF2B5EF4-FFF2-40B4-BE49-F238E27FC236}">
                <a16:creationId xmlns:a16="http://schemas.microsoft.com/office/drawing/2014/main" id="{853C2F3F-28C9-4516-8974-F2D76F0C710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F91BBD-B9BB-42C4-A5B2-1C351D2D8CB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median = raw["ambient"].median()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raw["ambient"] = raw["ambient"].fillna(median)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print(raw["ambient"].tolist())</a:t>
            </a:r>
          </a:p>
        </p:txBody>
      </p:sp>
      <p:sp>
        <p:nvSpPr>
          <p:cNvPr id="6" name="">
            <a:extLst xmlns:a="http://schemas.openxmlformats.org/drawingml/2006/main">
              <a:ext uri="{FF2B5EF4-FFF2-40B4-BE49-F238E27FC236}">
                <a16:creationId xmlns:a16="http://schemas.microsoft.com/office/drawing/2014/main" id="{2585CF72-53AB-4ECF-99B9-CBC109D10B4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median uses retained rows only.</a:t>
            </a:r>
          </a:p>
        </p:txBody>
      </p:sp>
      <p:sp>
        <p:nvSpPr>
          <p:cNvPr id="7" name="">
            <a:extLst xmlns:a="http://schemas.openxmlformats.org/drawingml/2006/main">
              <a:ext uri="{FF2B5EF4-FFF2-40B4-BE49-F238E27FC236}">
                <a16:creationId xmlns:a16="http://schemas.microsoft.com/office/drawing/2014/main" id="{D15E4660-7ED1-4409-89B9-C750ECDF666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30.0 and [20.0, 30.0, 30.0, 40.0].</a:t>
            </a:r>
          </a:p>
        </p:txBody>
      </p:sp>
      <p:sp>
        <p:nvSpPr>
          <p:cNvPr id="8" name="">
            <a:extLst xmlns:a="http://schemas.openxmlformats.org/drawingml/2006/main">
              <a:ext uri="{FF2B5EF4-FFF2-40B4-BE49-F238E27FC236}">
                <a16:creationId xmlns:a16="http://schemas.microsoft.com/office/drawing/2014/main" id="{2CD74548-F42B-4D0B-B31A-89370F4D53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15</a:t>
            </a:r>
          </a:p>
        </p:txBody>
      </p:sp>
    </p:spTree>
    <p:extLst>
      <p:ext uri="{BB962C8B-B14F-4D97-AF65-F5344CB8AC3E}">
        <p14:creationId xmlns:p14="http://schemas.microsoft.com/office/powerpoint/2010/main" val="60519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CCE652-78E6-455B-AB00-EF929FE71E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720ACF-7A4B-43DA-ACC7-C4D5219B3B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6267188-D1CF-45E6-B3DD-943B9E7C1D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averaging and grouping</a:t>
            </a:r>
          </a:p>
        </p:txBody>
      </p:sp>
      <p:sp>
        <p:nvSpPr>
          <p:cNvPr id="4" name="">
            <a:extLst xmlns:a="http://schemas.openxmlformats.org/drawingml/2006/main">
              <a:ext uri="{FF2B5EF4-FFF2-40B4-BE49-F238E27FC236}">
                <a16:creationId xmlns:a16="http://schemas.microsoft.com/office/drawing/2014/main" id="{2F797221-3F87-4553-9548-A71200E2302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7F160CC-C75D-4C25-8EEE-CED2FF678D0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raw["target"] selects one column, called a Series.</a:t>
            </a:r>
          </a:p>
        </p:txBody>
      </p:sp>
      <p:sp>
        <p:nvSpPr>
          <p:cNvPr id="6" name="">
            <a:extLst xmlns:a="http://schemas.openxmlformats.org/drawingml/2006/main">
              <a:ext uri="{FF2B5EF4-FFF2-40B4-BE49-F238E27FC236}">
                <a16:creationId xmlns:a16="http://schemas.microsoft.com/office/drawing/2014/main" id="{30ADD54C-8609-408E-A3EA-343BAC19924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86A38F-8607-4629-A1FD-C7E8AEEE7BE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adds the known values and divides by their count.</a:t>
            </a:r>
          </a:p>
        </p:txBody>
      </p:sp>
      <p:sp>
        <p:nvSpPr>
          <p:cNvPr id="8" name="">
            <a:extLst xmlns:a="http://schemas.openxmlformats.org/drawingml/2006/main">
              <a:ext uri="{FF2B5EF4-FFF2-40B4-BE49-F238E27FC236}">
                <a16:creationId xmlns:a16="http://schemas.microsoft.com/office/drawing/2014/main" id="{7808F07E-D0E5-422E-8CD6-83596C18CC1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6EB852B-85A4-49A4-AE8C-9F195C11611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 collects rows with the same machine label before calculating a result for each machine.</a:t>
            </a:r>
          </a:p>
        </p:txBody>
      </p:sp>
      <p:sp>
        <p:nvSpPr>
          <p:cNvPr id="10" name="">
            <a:extLst xmlns:a="http://schemas.openxmlformats.org/drawingml/2006/main">
              <a:ext uri="{FF2B5EF4-FFF2-40B4-BE49-F238E27FC236}">
                <a16:creationId xmlns:a16="http://schemas.microsoft.com/office/drawing/2014/main" id="{FF8D92E6-E13F-4301-9F20-45142AB4A1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16</a:t>
            </a:r>
          </a:p>
        </p:txBody>
      </p:sp>
    </p:spTree>
    <p:extLst>
      <p:ext uri="{BB962C8B-B14F-4D97-AF65-F5344CB8AC3E}">
        <p14:creationId xmlns:p14="http://schemas.microsoft.com/office/powerpoint/2010/main" val="16227376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7835E4-144F-4D63-9451-50F212B4FA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781A94-8416-4FFF-9CD9-E2728FF08C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D28B1D2-B48F-41AD-87C0-78417EF16B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Overall mean and machine means</a:t>
            </a:r>
          </a:p>
        </p:txBody>
      </p:sp>
      <p:sp>
        <p:nvSpPr>
          <p:cNvPr id="4" name="">
            <a:extLst xmlns:a="http://schemas.openxmlformats.org/drawingml/2006/main">
              <a:ext uri="{FF2B5EF4-FFF2-40B4-BE49-F238E27FC236}">
                <a16:creationId xmlns:a16="http://schemas.microsoft.com/office/drawing/2014/main" id="{6C0EC930-AED0-4A3B-A01F-0C8ECBFE086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F73F2C-4B2E-497B-B94B-D7FEA6D312A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overall = raw["target"].mean()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groups = raw.groupby("machine")["target"].mean()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print(overall)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print(groups)</a:t>
            </a:r>
          </a:p>
        </p:txBody>
      </p:sp>
      <p:sp>
        <p:nvSpPr>
          <p:cNvPr id="6" name="">
            <a:extLst xmlns:a="http://schemas.openxmlformats.org/drawingml/2006/main">
              <a:ext uri="{FF2B5EF4-FFF2-40B4-BE49-F238E27FC236}">
                <a16:creationId xmlns:a16="http://schemas.microsoft.com/office/drawing/2014/main" id="{D328C0AD-3B1C-4C9B-8DD0-0B37F1C3B2F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Select target, then calculate.</a:t>
            </a:r>
          </a:p>
        </p:txBody>
      </p:sp>
      <p:sp>
        <p:nvSpPr>
          <p:cNvPr id="7" name="">
            <a:extLst xmlns:a="http://schemas.openxmlformats.org/drawingml/2006/main">
              <a:ext uri="{FF2B5EF4-FFF2-40B4-BE49-F238E27FC236}">
                <a16:creationId xmlns:a16="http://schemas.microsoft.com/office/drawing/2014/main" id="{28374111-C4F5-4B25-9352-6B823DB76D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overall 25.0; M1 15.0; M2 35.0. All are in °C.</a:t>
            </a:r>
          </a:p>
        </p:txBody>
      </p:sp>
      <p:sp>
        <p:nvSpPr>
          <p:cNvPr id="8" name="">
            <a:extLst xmlns:a="http://schemas.openxmlformats.org/drawingml/2006/main">
              <a:ext uri="{FF2B5EF4-FFF2-40B4-BE49-F238E27FC236}">
                <a16:creationId xmlns:a16="http://schemas.microsoft.com/office/drawing/2014/main" id="{34D2645B-268E-4CB9-A917-62A675153F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17</a:t>
            </a:r>
          </a:p>
        </p:txBody>
      </p:sp>
    </p:spTree>
    <p:extLst>
      <p:ext uri="{BB962C8B-B14F-4D97-AF65-F5344CB8AC3E}">
        <p14:creationId xmlns:p14="http://schemas.microsoft.com/office/powerpoint/2010/main" val="10524233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ACC82E-AEB4-4E2E-BBC2-DA9D06F775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5CD6C-B0BA-48FF-BF91-864C76D71A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D575751-C342-463F-964B-1EC7826AB5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calculate a changed mean</a:t>
            </a:r>
          </a:p>
        </p:txBody>
      </p:sp>
      <p:sp>
        <p:nvSpPr>
          <p:cNvPr id="4" name="">
            <a:extLst xmlns:a="http://schemas.openxmlformats.org/drawingml/2006/main">
              <a:ext uri="{FF2B5EF4-FFF2-40B4-BE49-F238E27FC236}">
                <a16:creationId xmlns:a16="http://schemas.microsoft.com/office/drawing/2014/main" id="{548E2B4E-CAB0-450D-A3D9-CCD8DCAAA8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2FC35E6-D5D6-474C-B802-05F64C2541B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Using the four retained targets, imagine the last value changes from 40 to 60.</a:t>
            </a:r>
          </a:p>
        </p:txBody>
      </p:sp>
      <p:sp>
        <p:nvSpPr>
          <p:cNvPr id="6" name="">
            <a:extLst xmlns:a="http://schemas.openxmlformats.org/drawingml/2006/main">
              <a:ext uri="{FF2B5EF4-FFF2-40B4-BE49-F238E27FC236}">
                <a16:creationId xmlns:a16="http://schemas.microsoft.com/office/drawing/2014/main" id="{C4551188-14B4-4CE0-BAD7-A1D184AA9D6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A7189AD-C24B-4528-A785-7D0EF51EA99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overall mean and both machine means on paper.</a:t>
            </a:r>
          </a:p>
        </p:txBody>
      </p:sp>
      <p:sp>
        <p:nvSpPr>
          <p:cNvPr id="8" name="">
            <a:extLst xmlns:a="http://schemas.openxmlformats.org/drawingml/2006/main">
              <a:ext uri="{FF2B5EF4-FFF2-40B4-BE49-F238E27FC236}">
                <a16:creationId xmlns:a16="http://schemas.microsoft.com/office/drawing/2014/main" id="{5BCDC4A9-C941-47F4-8686-0B0DE101710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EC20BC-F574-4E30-8BAA-BE80050C5C6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CSV and notebook unchanged for the next example.</a:t>
            </a:r>
          </a:p>
        </p:txBody>
      </p:sp>
      <p:sp>
        <p:nvSpPr>
          <p:cNvPr id="10" name="">
            <a:extLst xmlns:a="http://schemas.openxmlformats.org/drawingml/2006/main">
              <a:ext uri="{FF2B5EF4-FFF2-40B4-BE49-F238E27FC236}">
                <a16:creationId xmlns:a16="http://schemas.microsoft.com/office/drawing/2014/main" id="{92FA86B4-27D9-4D6D-8B35-5D84CE50AF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18</a:t>
            </a:r>
          </a:p>
        </p:txBody>
      </p:sp>
    </p:spTree>
    <p:extLst>
      <p:ext uri="{BB962C8B-B14F-4D97-AF65-F5344CB8AC3E}">
        <p14:creationId xmlns:p14="http://schemas.microsoft.com/office/powerpoint/2010/main" val="4394773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DEF7A0-F821-4C61-9FFD-3609F2AD9D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B6FDA9-48AF-416A-828A-DBCAFD7C69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14E7230-0CD0-444C-8E86-6DDF2F4358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D2C5F656-85DF-45BA-988C-FCDCB77197B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8DBAA26-99F0-414A-9ED8-62C38603B9E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Overall: (10 + 20 + 30 + 60) / 4 = 30 °C.</a:t>
            </a:r>
          </a:p>
        </p:txBody>
      </p:sp>
      <p:sp>
        <p:nvSpPr>
          <p:cNvPr id="6" name="">
            <a:extLst xmlns:a="http://schemas.openxmlformats.org/drawingml/2006/main">
              <a:ext uri="{FF2B5EF4-FFF2-40B4-BE49-F238E27FC236}">
                <a16:creationId xmlns:a16="http://schemas.microsoft.com/office/drawing/2014/main" id="{48233264-0B78-4A2A-BE6C-FA175BE3629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C34B8F-61E5-40B0-946F-576A967EDDA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M1: 15 °C. M2: (30 + 60) / 2 = 45 °C.</a:t>
            </a:r>
          </a:p>
        </p:txBody>
      </p:sp>
      <p:sp>
        <p:nvSpPr>
          <p:cNvPr id="8" name="">
            <a:extLst xmlns:a="http://schemas.openxmlformats.org/drawingml/2006/main">
              <a:ext uri="{FF2B5EF4-FFF2-40B4-BE49-F238E27FC236}">
                <a16:creationId xmlns:a16="http://schemas.microsoft.com/office/drawing/2014/main" id="{DAB231C1-A44C-4018-B67E-7768F1D8F0F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65E5AD2-EE56-458E-8580-7D49F18E149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four retained rows still end with target 40.</a:t>
            </a:r>
          </a:p>
        </p:txBody>
      </p:sp>
      <p:sp>
        <p:nvSpPr>
          <p:cNvPr id="10" name="">
            <a:extLst xmlns:a="http://schemas.openxmlformats.org/drawingml/2006/main">
              <a:ext uri="{FF2B5EF4-FFF2-40B4-BE49-F238E27FC236}">
                <a16:creationId xmlns:a16="http://schemas.microsoft.com/office/drawing/2014/main" id="{EABE2B6A-9EBB-4AF4-B983-21DBA8D930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19</a:t>
            </a:r>
          </a:p>
        </p:txBody>
      </p:sp>
    </p:spTree>
    <p:extLst>
      <p:ext uri="{BB962C8B-B14F-4D97-AF65-F5344CB8AC3E}">
        <p14:creationId xmlns:p14="http://schemas.microsoft.com/office/powerpoint/2010/main" val="4755457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25DB3A-659C-45DB-8B69-261DA10CD8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CFF842-4229-4D0C-8CA4-923A7A6899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F682D29-EDFE-4297-9EC6-CF5E170BB3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numerical findings</a:t>
            </a:r>
          </a:p>
        </p:txBody>
      </p:sp>
      <p:sp>
        <p:nvSpPr>
          <p:cNvPr id="4" name="">
            <a:extLst xmlns:a="http://schemas.openxmlformats.org/drawingml/2006/main">
              <a:ext uri="{FF2B5EF4-FFF2-40B4-BE49-F238E27FC236}">
                <a16:creationId xmlns:a16="http://schemas.microsoft.com/office/drawing/2014/main" id="{986A7815-4109-42BA-8A3D-56286A1754C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41EF23-4CCF-4A53-B9BF-76961225D36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scatter plot shows pairs of values, such as load and target.</a:t>
            </a:r>
          </a:p>
        </p:txBody>
      </p:sp>
      <p:sp>
        <p:nvSpPr>
          <p:cNvPr id="6" name="">
            <a:extLst xmlns:a="http://schemas.openxmlformats.org/drawingml/2006/main">
              <a:ext uri="{FF2B5EF4-FFF2-40B4-BE49-F238E27FC236}">
                <a16:creationId xmlns:a16="http://schemas.microsoft.com/office/drawing/2014/main" id="{A13DC4AC-31E2-4797-907B-88E7EDA9294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C73C2E5-1659-4297-9B0A-A4A52C110A3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Label each axis with its quantity and unit. Give the chart a descriptive title.</a:t>
            </a:r>
          </a:p>
        </p:txBody>
      </p:sp>
      <p:sp>
        <p:nvSpPr>
          <p:cNvPr id="8" name="">
            <a:extLst xmlns:a="http://schemas.openxmlformats.org/drawingml/2006/main">
              <a:ext uri="{FF2B5EF4-FFF2-40B4-BE49-F238E27FC236}">
                <a16:creationId xmlns:a16="http://schemas.microsoft.com/office/drawing/2014/main" id="{649DDDF9-AF80-43F3-9B62-C8BA5054EE1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DBD0EC2-0017-4D38-93CA-C5475D08331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finding, state the value, unit and what it describes. A pattern alone does not prove a cause.</a:t>
            </a:r>
          </a:p>
        </p:txBody>
      </p:sp>
      <p:sp>
        <p:nvSpPr>
          <p:cNvPr id="10" name="">
            <a:extLst xmlns:a="http://schemas.openxmlformats.org/drawingml/2006/main">
              <a:ext uri="{FF2B5EF4-FFF2-40B4-BE49-F238E27FC236}">
                <a16:creationId xmlns:a16="http://schemas.microsoft.com/office/drawing/2014/main" id="{4E8752B5-E37B-45B4-8824-3AAA2F4A98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20</a:t>
            </a:r>
          </a:p>
        </p:txBody>
      </p:sp>
    </p:spTree>
    <p:extLst>
      <p:ext uri="{BB962C8B-B14F-4D97-AF65-F5344CB8AC3E}">
        <p14:creationId xmlns:p14="http://schemas.microsoft.com/office/powerpoint/2010/main" val="159817796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4D6607-8C72-4318-9168-6907D0B31B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A6B964-4721-4F6A-8854-4B010A4BC3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1F333C9-BD83-44C3-9ACE-34FD2E4132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labelled practice chart</a:t>
            </a:r>
          </a:p>
        </p:txBody>
      </p:sp>
      <p:sp>
        <p:nvSpPr>
          <p:cNvPr id="4" name="">
            <a:extLst xmlns:a="http://schemas.openxmlformats.org/drawingml/2006/main">
              <a:ext uri="{FF2B5EF4-FFF2-40B4-BE49-F238E27FC236}">
                <a16:creationId xmlns:a16="http://schemas.microsoft.com/office/drawing/2014/main" id="{1D059093-8946-401A-8476-697B83E29A3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CA0E31-EC21-4CD5-8968-EC4BA11023D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matplotlib.pyplot as plt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plt.scatter(raw["load"], raw["target"])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plt.xlabel("Load (%)")</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plt.ylabel("Target (°C)")</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plt.title("Four practice readings")</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F2F9AEBC-0A5D-4AFD-8BC0-8D1937AF919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0943577-F907-4083-9F61-ED00C49F43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scatter places one point per row.</a:t>
            </a:r>
          </a:p>
        </p:txBody>
      </p:sp>
      <p:sp>
        <p:nvSpPr>
          <p:cNvPr id="8" name="">
            <a:extLst xmlns:a="http://schemas.openxmlformats.org/drawingml/2006/main">
              <a:ext uri="{FF2B5EF4-FFF2-40B4-BE49-F238E27FC236}">
                <a16:creationId xmlns:a16="http://schemas.microsoft.com/office/drawing/2014/main" id="{19B79C8C-6B2D-4502-A0E0-9BF86130D04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xlabel and ylabel name the axes.</a:t>
            </a:r>
          </a:p>
        </p:txBody>
      </p:sp>
      <p:sp>
        <p:nvSpPr>
          <p:cNvPr id="9" name="">
            <a:extLst xmlns:a="http://schemas.openxmlformats.org/drawingml/2006/main">
              <a:ext uri="{FF2B5EF4-FFF2-40B4-BE49-F238E27FC236}">
                <a16:creationId xmlns:a16="http://schemas.microsoft.com/office/drawing/2014/main" id="{EB4D6982-3789-493B-ADAA-B607168D2809}"/>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show displays the chart.</a:t>
            </a:r>
          </a:p>
        </p:txBody>
      </p:sp>
      <p:sp>
        <p:nvSpPr>
          <p:cNvPr id="10" name="">
            <a:extLst xmlns:a="http://schemas.openxmlformats.org/drawingml/2006/main">
              <a:ext uri="{FF2B5EF4-FFF2-40B4-BE49-F238E27FC236}">
                <a16:creationId xmlns:a16="http://schemas.microsoft.com/office/drawing/2014/main" id="{B9F5FAB4-6F07-44C6-9E34-7A9FF0A41A8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points: (20, 10), (40, 20), (60, 30), (80, 40).</a:t>
            </a:r>
          </a:p>
        </p:txBody>
      </p:sp>
      <p:sp>
        <p:nvSpPr>
          <p:cNvPr id="11" name="">
            <a:extLst xmlns:a="http://schemas.openxmlformats.org/drawingml/2006/main">
              <a:ext uri="{FF2B5EF4-FFF2-40B4-BE49-F238E27FC236}">
                <a16:creationId xmlns:a16="http://schemas.microsoft.com/office/drawing/2014/main" id="{BC61BD11-7466-4A9A-8AF2-A66EEB8B06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21</a:t>
            </a:r>
          </a:p>
        </p:txBody>
      </p:sp>
    </p:spTree>
    <p:extLst>
      <p:ext uri="{BB962C8B-B14F-4D97-AF65-F5344CB8AC3E}">
        <p14:creationId xmlns:p14="http://schemas.microsoft.com/office/powerpoint/2010/main" val="15724119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1DF387-9E65-4138-9B95-824F9620D89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038283-35D2-4DB2-8752-DAFC072998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2A981AD-90CC-4BA3-B209-052DF14385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Histograms and group-mean bars</a:t>
            </a:r>
          </a:p>
        </p:txBody>
      </p:sp>
      <p:sp>
        <p:nvSpPr>
          <p:cNvPr id="4" name="">
            <a:extLst xmlns:a="http://schemas.openxmlformats.org/drawingml/2006/main">
              <a:ext uri="{FF2B5EF4-FFF2-40B4-BE49-F238E27FC236}">
                <a16:creationId xmlns:a16="http://schemas.microsoft.com/office/drawing/2014/main" id="{3E92644A-3AE4-443F-9D43-CFA6FEF488E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8D039FC-1017-484E-B9B6-4EC89A4A007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histogram counts readings within numeric ranges. plt.hist(values, bins=...) defines those ranges.</a:t>
            </a:r>
          </a:p>
        </p:txBody>
      </p:sp>
      <p:sp>
        <p:nvSpPr>
          <p:cNvPr id="6" name="">
            <a:extLst xmlns:a="http://schemas.openxmlformats.org/drawingml/2006/main">
              <a:ext uri="{FF2B5EF4-FFF2-40B4-BE49-F238E27FC236}">
                <a16:creationId xmlns:a16="http://schemas.microsoft.com/office/drawing/2014/main" id="{7BF66B35-0A82-47EB-99BD-859116698D7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3B1BEA9-A2EB-4090-ABAF-07AF108788D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bar chart compares named groups. plt.bar(labels, heights) places one bar per label.</a:t>
            </a:r>
          </a:p>
        </p:txBody>
      </p:sp>
      <p:sp>
        <p:nvSpPr>
          <p:cNvPr id="8" name="">
            <a:extLst xmlns:a="http://schemas.openxmlformats.org/drawingml/2006/main">
              <a:ext uri="{FF2B5EF4-FFF2-40B4-BE49-F238E27FC236}">
                <a16:creationId xmlns:a16="http://schemas.microsoft.com/office/drawing/2014/main" id="{79D95785-7B38-42AE-A723-E3E3D35ABF2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58DB2E8-8CD2-42DF-8249-3726F9A72C9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histogram shows the target distribution. The bars show one mean per machine.</a:t>
            </a:r>
          </a:p>
        </p:txBody>
      </p:sp>
      <p:sp>
        <p:nvSpPr>
          <p:cNvPr id="10" name="">
            <a:extLst xmlns:a="http://schemas.openxmlformats.org/drawingml/2006/main">
              <a:ext uri="{FF2B5EF4-FFF2-40B4-BE49-F238E27FC236}">
                <a16:creationId xmlns:a16="http://schemas.microsoft.com/office/drawing/2014/main" id="{EEDF000F-F4E2-47B0-920A-D42B43F927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22</a:t>
            </a:r>
          </a:p>
        </p:txBody>
      </p:sp>
    </p:spTree>
    <p:extLst>
      <p:ext uri="{BB962C8B-B14F-4D97-AF65-F5344CB8AC3E}">
        <p14:creationId xmlns:p14="http://schemas.microsoft.com/office/powerpoint/2010/main" val="17398578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124CDF-1346-4055-97BD-9B6E325138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C9CF06-1145-462A-9366-98A7B7502E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5D3CFE3-302B-49CE-9043-37079A763F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target histogram</a:t>
            </a:r>
          </a:p>
        </p:txBody>
      </p:sp>
      <p:sp>
        <p:nvSpPr>
          <p:cNvPr id="4" name="">
            <a:extLst xmlns:a="http://schemas.openxmlformats.org/drawingml/2006/main">
              <a:ext uri="{FF2B5EF4-FFF2-40B4-BE49-F238E27FC236}">
                <a16:creationId xmlns:a16="http://schemas.microsoft.com/office/drawing/2014/main" id="{2DF3C8D1-1B7B-4792-8099-A8415CF5625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3F5D51-DAF2-4A63-A90A-0BDA5853D67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plt.hist(raw["target"], bins=[0, 25, 50])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plt.xlabel("Target (°C)")</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plt.ylabel("Number of readings")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plt.title("Practice target distribution")</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D0DB174D-B7A1-41B1-879D-1DE07C74E1E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2227AC8-FB3C-4235-9C67-AAC1CBED1C9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bins gives the interval boundaries.</a:t>
            </a:r>
          </a:p>
        </p:txBody>
      </p:sp>
      <p:sp>
        <p:nvSpPr>
          <p:cNvPr id="8" name="">
            <a:extLst xmlns:a="http://schemas.openxmlformats.org/drawingml/2006/main">
              <a:ext uri="{FF2B5EF4-FFF2-40B4-BE49-F238E27FC236}">
                <a16:creationId xmlns:a16="http://schemas.microsoft.com/office/drawing/2014/main" id="{A8B557D6-A8B9-4876-BEB4-6D0C3F730B9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y-axis counts records.</a:t>
            </a:r>
          </a:p>
        </p:txBody>
      </p:sp>
      <p:sp>
        <p:nvSpPr>
          <p:cNvPr id="9" name="">
            <a:extLst xmlns:a="http://schemas.openxmlformats.org/drawingml/2006/main">
              <a:ext uri="{FF2B5EF4-FFF2-40B4-BE49-F238E27FC236}">
                <a16:creationId xmlns:a16="http://schemas.microsoft.com/office/drawing/2014/main" id="{262F0E95-DB44-4895-9A98-87831BD33D7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two readings in each of the two bins.</a:t>
            </a:r>
          </a:p>
        </p:txBody>
      </p:sp>
      <p:sp>
        <p:nvSpPr>
          <p:cNvPr id="10" name="">
            <a:extLst xmlns:a="http://schemas.openxmlformats.org/drawingml/2006/main">
              <a:ext uri="{FF2B5EF4-FFF2-40B4-BE49-F238E27FC236}">
                <a16:creationId xmlns:a16="http://schemas.microsoft.com/office/drawing/2014/main" id="{7A28A678-1A6D-40EA-B8EF-987720855E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23</a:t>
            </a:r>
          </a:p>
        </p:txBody>
      </p:sp>
    </p:spTree>
    <p:extLst>
      <p:ext uri="{BB962C8B-B14F-4D97-AF65-F5344CB8AC3E}">
        <p14:creationId xmlns:p14="http://schemas.microsoft.com/office/powerpoint/2010/main" val="55128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DE9641-82B3-4677-AE3C-4AAE25D726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B3E290-DF22-4C90-B28B-6CE37F5CCB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0EC8F32-21DD-4F14-AF44-D072AE9666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Bar labels and heights</a:t>
            </a:r>
          </a:p>
        </p:txBody>
      </p:sp>
      <p:sp>
        <p:nvSpPr>
          <p:cNvPr id="4" name="">
            <a:extLst xmlns:a="http://schemas.openxmlformats.org/drawingml/2006/main">
              <a:ext uri="{FF2B5EF4-FFF2-40B4-BE49-F238E27FC236}">
                <a16:creationId xmlns:a16="http://schemas.microsoft.com/office/drawing/2014/main" id="{9C73D278-A1DD-4CBC-A760-7920088C4FE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3EF53C3-B4B0-4506-A66C-11B8D24283C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 contains the mean for each machine. Its index holds the machine labels.</a:t>
            </a:r>
          </a:p>
        </p:txBody>
      </p:sp>
      <p:sp>
        <p:nvSpPr>
          <p:cNvPr id="6" name="">
            <a:extLst xmlns:a="http://schemas.openxmlformats.org/drawingml/2006/main">
              <a:ext uri="{FF2B5EF4-FFF2-40B4-BE49-F238E27FC236}">
                <a16:creationId xmlns:a16="http://schemas.microsoft.com/office/drawing/2014/main" id="{D8024828-A35E-4EF1-A607-EB7A90B8D01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00479CF-1367-42B2-BFAA-DAD38D21114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groups.index gives M1 and M2. groups.values gives 15 and 35.</a:t>
            </a:r>
          </a:p>
        </p:txBody>
      </p:sp>
      <p:sp>
        <p:nvSpPr>
          <p:cNvPr id="8" name="">
            <a:extLst xmlns:a="http://schemas.openxmlformats.org/drawingml/2006/main">
              <a:ext uri="{FF2B5EF4-FFF2-40B4-BE49-F238E27FC236}">
                <a16:creationId xmlns:a16="http://schemas.microsoft.com/office/drawing/2014/main" id="{5E39FE51-1103-4594-9465-C8F0297160A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C17DBC-83B0-40E6-9424-8BBA875F3BE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Pass labels first and heights second to plt.bar.</a:t>
            </a:r>
          </a:p>
        </p:txBody>
      </p:sp>
      <p:sp>
        <p:nvSpPr>
          <p:cNvPr id="10" name="">
            <a:extLst xmlns:a="http://schemas.openxmlformats.org/drawingml/2006/main">
              <a:ext uri="{FF2B5EF4-FFF2-40B4-BE49-F238E27FC236}">
                <a16:creationId xmlns:a16="http://schemas.microsoft.com/office/drawing/2014/main" id="{CEF4BD81-25E3-4D2A-9172-870D039A96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24</a:t>
            </a:r>
          </a:p>
        </p:txBody>
      </p:sp>
    </p:spTree>
    <p:extLst>
      <p:ext uri="{BB962C8B-B14F-4D97-AF65-F5344CB8AC3E}">
        <p14:creationId xmlns:p14="http://schemas.microsoft.com/office/powerpoint/2010/main" val="9738902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B1B6A0-9F7D-4680-BF54-E7B31043C7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4277F5-88C0-447E-B4AE-BB3FA2C7B5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42B5BC-F851-4EDC-BAEF-324723B8DA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Machine-mean bars</a:t>
            </a:r>
          </a:p>
        </p:txBody>
      </p:sp>
      <p:sp>
        <p:nvSpPr>
          <p:cNvPr id="4" name="">
            <a:extLst xmlns:a="http://schemas.openxmlformats.org/drawingml/2006/main">
              <a:ext uri="{FF2B5EF4-FFF2-40B4-BE49-F238E27FC236}">
                <a16:creationId xmlns:a16="http://schemas.microsoft.com/office/drawing/2014/main" id="{C05DAF99-F659-4C35-B6F8-A6A053A9381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202FA7-7174-4641-8107-2182F66394D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plt.bar(groups.index, groups.values)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plt.xlabel("Machine")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plt.ylabel("Mean target (°C)")</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plt.title("Mean target by 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F9879058-027A-4EF5-9310-3506B2F3C39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60847A4-8C9A-4C1C-8238-0B9B153F18B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bar represents a group mean.</a:t>
            </a:r>
          </a:p>
        </p:txBody>
      </p:sp>
      <p:sp>
        <p:nvSpPr>
          <p:cNvPr id="8" name="">
            <a:extLst xmlns:a="http://schemas.openxmlformats.org/drawingml/2006/main">
              <a:ext uri="{FF2B5EF4-FFF2-40B4-BE49-F238E27FC236}">
                <a16:creationId xmlns:a16="http://schemas.microsoft.com/office/drawing/2014/main" id="{C5CBF8AA-42B3-426E-8C7F-4F9755E31C5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same unit as target.</a:t>
            </a:r>
          </a:p>
        </p:txBody>
      </p:sp>
      <p:sp>
        <p:nvSpPr>
          <p:cNvPr id="9" name="">
            <a:extLst xmlns:a="http://schemas.openxmlformats.org/drawingml/2006/main">
              <a:ext uri="{FF2B5EF4-FFF2-40B4-BE49-F238E27FC236}">
                <a16:creationId xmlns:a16="http://schemas.microsoft.com/office/drawing/2014/main" id="{1C36ADD4-B650-49A0-A622-E6ED7B3CDE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heights: M1 = 15, M2 = 35.</a:t>
            </a:r>
          </a:p>
        </p:txBody>
      </p:sp>
      <p:sp>
        <p:nvSpPr>
          <p:cNvPr id="10" name="">
            <a:extLst xmlns:a="http://schemas.openxmlformats.org/drawingml/2006/main">
              <a:ext uri="{FF2B5EF4-FFF2-40B4-BE49-F238E27FC236}">
                <a16:creationId xmlns:a16="http://schemas.microsoft.com/office/drawing/2014/main" id="{EF32EDB0-7EEF-4B59-A487-7159325818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25</a:t>
            </a:r>
          </a:p>
        </p:txBody>
      </p:sp>
    </p:spTree>
    <p:extLst>
      <p:ext uri="{BB962C8B-B14F-4D97-AF65-F5344CB8AC3E}">
        <p14:creationId xmlns:p14="http://schemas.microsoft.com/office/powerpoint/2010/main" val="175903555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85A137-D4C2-4E91-ABA2-22DE7ACC08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1CD5E1-8B9F-4CAD-B70C-1F87EF7294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B395A2A-B50D-47DB-AF3B-B6F66AAA4B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94AE0FBA-0FDA-458D-B85E-EEE5CAF8CE8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989C89-7721-449E-B382-976110A309F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9B10E652-D80D-406D-9C71-8D1E590FFCD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BD4C71-A85D-442C-BA6E-420861B04FB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48F07827-7DC1-4917-BB98-783E536F19F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88CE115-7708-499E-B78E-AE6D9C1C217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D2F35822-DA97-4F38-B2E3-977ABF892B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26</a:t>
            </a:r>
          </a:p>
        </p:txBody>
      </p:sp>
    </p:spTree>
    <p:extLst>
      <p:ext uri="{BB962C8B-B14F-4D97-AF65-F5344CB8AC3E}">
        <p14:creationId xmlns:p14="http://schemas.microsoft.com/office/powerpoint/2010/main" val="16785882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3D5351-5DF0-4B4B-AA80-46FB5E7267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BF9F65-A910-4EBE-BE80-1973BEF68E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D6E3630-7234-427A-B75D-962746E14B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5FD43C0D-7F79-4ABD-AE99-3D5B10BA914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6D1829-A285-4DD1-B7CB-F367100504F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average_reading(values):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readings = pd.Series(values)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float(readings.mean())</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print(average_reading(raw["load"]))</a:t>
            </a:r>
          </a:p>
        </p:txBody>
      </p:sp>
      <p:sp>
        <p:nvSpPr>
          <p:cNvPr id="6" name="">
            <a:extLst xmlns:a="http://schemas.openxmlformats.org/drawingml/2006/main">
              <a:ext uri="{FF2B5EF4-FFF2-40B4-BE49-F238E27FC236}">
                <a16:creationId xmlns:a16="http://schemas.microsoft.com/office/drawing/2014/main" id="{F088AFB4-3B3B-40E8-9A02-4094E61E901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9A41817-F7FD-463B-9FFF-BE63504487C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values receives the supplied column.</a:t>
            </a:r>
          </a:p>
        </p:txBody>
      </p:sp>
      <p:sp>
        <p:nvSpPr>
          <p:cNvPr id="8" name="">
            <a:extLst xmlns:a="http://schemas.openxmlformats.org/drawingml/2006/main">
              <a:ext uri="{FF2B5EF4-FFF2-40B4-BE49-F238E27FC236}">
                <a16:creationId xmlns:a16="http://schemas.microsoft.com/office/drawing/2014/main" id="{E0283E8D-64DE-4D5D-9A25-1215366EFD0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returns a Python decimal number.</a:t>
            </a:r>
          </a:p>
        </p:txBody>
      </p:sp>
      <p:sp>
        <p:nvSpPr>
          <p:cNvPr id="9" name="">
            <a:extLst xmlns:a="http://schemas.openxmlformats.org/drawingml/2006/main">
              <a:ext uri="{FF2B5EF4-FFF2-40B4-BE49-F238E27FC236}">
                <a16:creationId xmlns:a16="http://schemas.microsoft.com/office/drawing/2014/main" id="{F28AD564-1425-415E-96DD-315FCB1D179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mean target 25.0; mean load 50.0%.</a:t>
            </a:r>
          </a:p>
        </p:txBody>
      </p:sp>
      <p:sp>
        <p:nvSpPr>
          <p:cNvPr id="10" name="">
            <a:extLst xmlns:a="http://schemas.openxmlformats.org/drawingml/2006/main">
              <a:ext uri="{FF2B5EF4-FFF2-40B4-BE49-F238E27FC236}">
                <a16:creationId xmlns:a16="http://schemas.microsoft.com/office/drawing/2014/main" id="{EB5B4707-DB7F-48AA-ADCD-1C2522DBD9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27</a:t>
            </a:r>
          </a:p>
        </p:txBody>
      </p:sp>
    </p:spTree>
    <p:extLst>
      <p:ext uri="{BB962C8B-B14F-4D97-AF65-F5344CB8AC3E}">
        <p14:creationId xmlns:p14="http://schemas.microsoft.com/office/powerpoint/2010/main" val="1950118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009AF9-DEF2-4654-82B4-A9CCE8BAAD8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388E0F-0683-4EB6-8E69-5C71375677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111877F-C69B-4762-A5AB-88A6E481BC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columns and test columns</a:t>
            </a:r>
          </a:p>
        </p:txBody>
      </p:sp>
      <p:sp>
        <p:nvSpPr>
          <p:cNvPr id="4" name="">
            <a:extLst xmlns:a="http://schemas.openxmlformats.org/drawingml/2006/main">
              <a:ext uri="{FF2B5EF4-FFF2-40B4-BE49-F238E27FC236}">
                <a16:creationId xmlns:a16="http://schemas.microsoft.com/office/drawing/2014/main" id="{FB4E1D38-41BF-4247-8F2A-7FC7499BF02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B3250B7-DF2C-4BAA-B8D3-AFA6A843B42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reading corresponds to test record_id. Practice machine corresponds to test equipment_id.</a:t>
            </a:r>
          </a:p>
        </p:txBody>
      </p:sp>
      <p:sp>
        <p:nvSpPr>
          <p:cNvPr id="6" name="">
            <a:extLst xmlns:a="http://schemas.openxmlformats.org/drawingml/2006/main">
              <a:ext uri="{FF2B5EF4-FFF2-40B4-BE49-F238E27FC236}">
                <a16:creationId xmlns:a16="http://schemas.microsoft.com/office/drawing/2014/main" id="{BA621FF5-281A-4AAE-B75F-D593680162B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0FF44CD-6EF6-43B0-8D1D-3CB007439ED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load corresponds to test load_pct. Practice ambient corresponds to test ambient_c. target has the same name.</a:t>
            </a:r>
          </a:p>
        </p:txBody>
      </p:sp>
      <p:sp>
        <p:nvSpPr>
          <p:cNvPr id="8" name="">
            <a:extLst xmlns:a="http://schemas.openxmlformats.org/drawingml/2006/main">
              <a:ext uri="{FF2B5EF4-FFF2-40B4-BE49-F238E27FC236}">
                <a16:creationId xmlns:a16="http://schemas.microsoft.com/office/drawing/2014/main" id="{956D373B-2423-4C9A-8735-84328B5F997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F3EB002-52B4-4AD5-93A0-3683F93C2D1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calculations are the same. Use the column names in the file you are working with.</a:t>
            </a:r>
          </a:p>
        </p:txBody>
      </p:sp>
      <p:sp>
        <p:nvSpPr>
          <p:cNvPr id="10" name="">
            <a:extLst xmlns:a="http://schemas.openxmlformats.org/drawingml/2006/main">
              <a:ext uri="{FF2B5EF4-FFF2-40B4-BE49-F238E27FC236}">
                <a16:creationId xmlns:a16="http://schemas.microsoft.com/office/drawing/2014/main" id="{2F5C25AA-FB09-4565-A233-0E4102C484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28</a:t>
            </a:r>
          </a:p>
        </p:txBody>
      </p:sp>
    </p:spTree>
    <p:extLst>
      <p:ext uri="{BB962C8B-B14F-4D97-AF65-F5344CB8AC3E}">
        <p14:creationId xmlns:p14="http://schemas.microsoft.com/office/powerpoint/2010/main" val="58596495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88850C-4531-4224-B534-D8D6369197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C9D76F-216D-4C9B-9D05-A1BB4CCC5C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C0A5471-2EC2-40F8-AC7D-4A5BB2E23D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Tables and lists of records</a:t>
            </a:r>
          </a:p>
        </p:txBody>
      </p:sp>
      <p:sp>
        <p:nvSpPr>
          <p:cNvPr id="4" name="">
            <a:extLst xmlns:a="http://schemas.openxmlformats.org/drawingml/2006/main">
              <a:ext uri="{FF2B5EF4-FFF2-40B4-BE49-F238E27FC236}">
                <a16:creationId xmlns:a16="http://schemas.microsoft.com/office/drawing/2014/main" id="{F9EECBFE-B1D5-4D87-A505-EB6D5B91F94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E1A268C-1FCB-401A-8B82-1C95CA592F4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a labelled table. A list of dictionaries stores the same rows as separate Python records.</a:t>
            </a:r>
          </a:p>
        </p:txBody>
      </p:sp>
      <p:sp>
        <p:nvSpPr>
          <p:cNvPr id="6" name="">
            <a:extLst xmlns:a="http://schemas.openxmlformats.org/drawingml/2006/main">
              <a:ext uri="{FF2B5EF4-FFF2-40B4-BE49-F238E27FC236}">
                <a16:creationId xmlns:a16="http://schemas.microsoft.com/office/drawing/2014/main" id="{F25D4916-9F2F-41E2-9E92-D50FAA811EC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CBD59D-3920-40ED-BBD7-F918594FB8A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table.to_dict("records") returns one dictionary per row. pd.DataFrame(records) turns those records back into a table.</a:t>
            </a:r>
          </a:p>
        </p:txBody>
      </p:sp>
      <p:sp>
        <p:nvSpPr>
          <p:cNvPr id="8" name="">
            <a:extLst xmlns:a="http://schemas.openxmlformats.org/drawingml/2006/main">
              <a:ext uri="{FF2B5EF4-FFF2-40B4-BE49-F238E27FC236}">
                <a16:creationId xmlns:a16="http://schemas.microsoft.com/office/drawing/2014/main" id="{F30A9FF4-C79F-434C-A6DB-45635B78B76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81F886C-2D92-4443-AC37-A7857C4885A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supplies a conversion helper. You may use it when returning cleaned records.</a:t>
            </a:r>
          </a:p>
        </p:txBody>
      </p:sp>
      <p:sp>
        <p:nvSpPr>
          <p:cNvPr id="10" name="">
            <a:extLst xmlns:a="http://schemas.openxmlformats.org/drawingml/2006/main">
              <a:ext uri="{FF2B5EF4-FFF2-40B4-BE49-F238E27FC236}">
                <a16:creationId xmlns:a16="http://schemas.microsoft.com/office/drawing/2014/main" id="{6BFBA617-621F-48DB-85E0-BF34B8628F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29</a:t>
            </a:r>
          </a:p>
        </p:txBody>
      </p:sp>
    </p:spTree>
    <p:extLst>
      <p:ext uri="{BB962C8B-B14F-4D97-AF65-F5344CB8AC3E}">
        <p14:creationId xmlns:p14="http://schemas.microsoft.com/office/powerpoint/2010/main" val="28677182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BE034E-0230-4450-9559-EE993D09E8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ECEA04-4C8A-4D55-8EC4-6B1E340E17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AA83ACC-4DF3-4AC1-A9BB-FAE8872483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retained rows as records</a:t>
            </a:r>
          </a:p>
        </p:txBody>
      </p:sp>
      <p:sp>
        <p:nvSpPr>
          <p:cNvPr id="4" name="">
            <a:extLst xmlns:a="http://schemas.openxmlformats.org/drawingml/2006/main">
              <a:ext uri="{FF2B5EF4-FFF2-40B4-BE49-F238E27FC236}">
                <a16:creationId xmlns:a16="http://schemas.microsoft.com/office/drawing/2014/main" id="{BC069AB1-0213-430C-8C85-E1DCE197AC0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8FCCF2-1F8E-4401-9D0B-C04202F31A8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practice_records = raw.to_dict("records")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print(practice_records[0])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restored = pd.DataFrame(practice_records)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print(len(restored))</a:t>
            </a:r>
          </a:p>
        </p:txBody>
      </p:sp>
      <p:sp>
        <p:nvSpPr>
          <p:cNvPr id="6" name="">
            <a:extLst xmlns:a="http://schemas.openxmlformats.org/drawingml/2006/main">
              <a:ext uri="{FF2B5EF4-FFF2-40B4-BE49-F238E27FC236}">
                <a16:creationId xmlns:a16="http://schemas.microsoft.com/office/drawing/2014/main" id="{E4068DD4-A5DE-44DB-A8CB-F033133AB3B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A978154-9CEC-40BC-AD9D-BF6A3A14D0E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[0] selects the first record.</a:t>
            </a:r>
          </a:p>
        </p:txBody>
      </p:sp>
      <p:sp>
        <p:nvSpPr>
          <p:cNvPr id="8" name="">
            <a:extLst xmlns:a="http://schemas.openxmlformats.org/drawingml/2006/main">
              <a:ext uri="{FF2B5EF4-FFF2-40B4-BE49-F238E27FC236}">
                <a16:creationId xmlns:a16="http://schemas.microsoft.com/office/drawing/2014/main" id="{D86B79FF-0DB7-4C98-8480-AF7C9698038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table has the same columns and values.</a:t>
            </a:r>
          </a:p>
        </p:txBody>
      </p:sp>
      <p:sp>
        <p:nvSpPr>
          <p:cNvPr id="9" name="">
            <a:extLst xmlns:a="http://schemas.openxmlformats.org/drawingml/2006/main">
              <a:ext uri="{FF2B5EF4-FFF2-40B4-BE49-F238E27FC236}">
                <a16:creationId xmlns:a16="http://schemas.microsoft.com/office/drawing/2014/main" id="{4610FF6A-EB2E-424F-B51B-79EE2325C4D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first record has reading 1 and target 10. Row count: 4.</a:t>
            </a:r>
          </a:p>
        </p:txBody>
      </p:sp>
      <p:sp>
        <p:nvSpPr>
          <p:cNvPr id="10" name="">
            <a:extLst xmlns:a="http://schemas.openxmlformats.org/drawingml/2006/main">
              <a:ext uri="{FF2B5EF4-FFF2-40B4-BE49-F238E27FC236}">
                <a16:creationId xmlns:a16="http://schemas.microsoft.com/office/drawing/2014/main" id="{3B2149AE-B9DC-4509-8B01-FB4DAB7AA7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30</a:t>
            </a:r>
          </a:p>
        </p:txBody>
      </p:sp>
    </p:spTree>
    <p:extLst>
      <p:ext uri="{BB962C8B-B14F-4D97-AF65-F5344CB8AC3E}">
        <p14:creationId xmlns:p14="http://schemas.microsoft.com/office/powerpoint/2010/main" val="127544627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77FCF4-BAB4-46A2-9167-9335DBCC31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6534FF-0302-449B-8E03-6375512338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B923733-B9F2-44B1-B148-3DFDAC13DB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during conversion</a:t>
            </a:r>
          </a:p>
        </p:txBody>
      </p:sp>
      <p:sp>
        <p:nvSpPr>
          <p:cNvPr id="4" name="">
            <a:extLst xmlns:a="http://schemas.openxmlformats.org/drawingml/2006/main">
              <a:ext uri="{FF2B5EF4-FFF2-40B4-BE49-F238E27FC236}">
                <a16:creationId xmlns:a16="http://schemas.microsoft.com/office/drawing/2014/main" id="{4723029C-22FE-4EF2-A04C-E03D8DF25A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8557B5-844B-4497-A1CD-11056BF9FD1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helper uses astype(object) so cells can hold Python None.</a:t>
            </a:r>
          </a:p>
        </p:txBody>
      </p:sp>
      <p:sp>
        <p:nvSpPr>
          <p:cNvPr id="6" name="">
            <a:extLst xmlns:a="http://schemas.openxmlformats.org/drawingml/2006/main">
              <a:ext uri="{FF2B5EF4-FFF2-40B4-BE49-F238E27FC236}">
                <a16:creationId xmlns:a16="http://schemas.microsoft.com/office/drawing/2014/main" id="{ED1B9C30-5AA7-4181-9289-4D4BFBFCA51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FE15484-96D6-46A0-AA32-3DC0A0CBB5D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notna() marks known values. where(mask, None) keeps those values and replaces missing cells with None.</a:t>
            </a:r>
          </a:p>
        </p:txBody>
      </p:sp>
      <p:sp>
        <p:nvSpPr>
          <p:cNvPr id="8" name="">
            <a:extLst xmlns:a="http://schemas.openxmlformats.org/drawingml/2006/main">
              <a:ext uri="{FF2B5EF4-FFF2-40B4-BE49-F238E27FC236}">
                <a16:creationId xmlns:a16="http://schemas.microsoft.com/office/drawing/2014/main" id="{E116143A-C19D-41C3-8864-2E3DFB4C463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23C5E7-E2BE-4DD8-A2F6-9BE2032BFC7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helper finishes with to_dict("records"). It is supplied so you do not have to invent a missing-value converter.</a:t>
            </a:r>
          </a:p>
        </p:txBody>
      </p:sp>
      <p:sp>
        <p:nvSpPr>
          <p:cNvPr id="10" name="">
            <a:extLst xmlns:a="http://schemas.openxmlformats.org/drawingml/2006/main">
              <a:ext uri="{FF2B5EF4-FFF2-40B4-BE49-F238E27FC236}">
                <a16:creationId xmlns:a16="http://schemas.microsoft.com/office/drawing/2014/main" id="{DD067F09-F16D-43C6-8183-C151DE35A2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31</a:t>
            </a:r>
          </a:p>
        </p:txBody>
      </p:sp>
    </p:spTree>
    <p:extLst>
      <p:ext uri="{BB962C8B-B14F-4D97-AF65-F5344CB8AC3E}">
        <p14:creationId xmlns:p14="http://schemas.microsoft.com/office/powerpoint/2010/main" val="27537858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D24C20-C13A-4292-AEB6-F2233A7382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1C8E16-F688-41A6-BF74-AD5E890182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F043A00-705E-46EB-928B-CAECE46E9E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the original CSV</a:t>
            </a:r>
          </a:p>
        </p:txBody>
      </p:sp>
      <p:sp>
        <p:nvSpPr>
          <p:cNvPr id="4" name="">
            <a:extLst xmlns:a="http://schemas.openxmlformats.org/drawingml/2006/main">
              <a:ext uri="{FF2B5EF4-FFF2-40B4-BE49-F238E27FC236}">
                <a16:creationId xmlns:a16="http://schemas.microsoft.com/office/drawing/2014/main" id="{8C28A853-E51C-4726-BC30-260F43505CD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69D973-D338-4263-ABF0-D91F85E84F9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04" b="0">
                <a:solidFill>
                  <a:srgbClr val="F4F7FA"/>
                </a:solidFill>
                <a:latin typeface="Courier New"/>
                <a:ea typeface="Courier New"/>
                <a:cs typeface="Courier New"/>
              </a:defRPr>
            </a:defPPr>
            <a:lvl1pPr>
              <a:defRPr sz="2004" b="0">
                <a:solidFill>
                  <a:srgbClr val="F4F7FA"/>
                </a:solidFill>
                <a:latin typeface="Courier New"/>
                <a:ea typeface="Courier New"/>
                <a:cs typeface="Courier New"/>
              </a:defRPr>
            </a:lvl1pPr>
            <a:lvl2pPr>
              <a:defRPr sz="2004" b="0">
                <a:solidFill>
                  <a:srgbClr val="F4F7FA"/>
                </a:solidFill>
                <a:latin typeface="Courier New"/>
                <a:ea typeface="Courier New"/>
                <a:cs typeface="Courier New"/>
              </a:defRPr>
            </a:lvl2pPr>
            <a:lvl3pPr>
              <a:defRPr sz="2004" b="0">
                <a:solidFill>
                  <a:srgbClr val="F4F7FA"/>
                </a:solidFill>
                <a:latin typeface="Courier New"/>
                <a:ea typeface="Courier New"/>
                <a:cs typeface="Courier New"/>
              </a:defRPr>
            </a:lvl3pPr>
            <a:lvl4pPr>
              <a:defRPr sz="2004" b="0">
                <a:solidFill>
                  <a:srgbClr val="F4F7FA"/>
                </a:solidFill>
                <a:latin typeface="Courier New"/>
                <a:ea typeface="Courier New"/>
                <a:cs typeface="Courier New"/>
              </a:defRPr>
            </a:lvl4pPr>
            <a:lvl5pPr>
              <a:defRPr sz="2004" b="0">
                <a:solidFill>
                  <a:srgbClr val="F4F7FA"/>
                </a:solidFill>
                <a:latin typeface="Courier New"/>
                <a:ea typeface="Courier New"/>
                <a:cs typeface="Courier New"/>
              </a:defRPr>
            </a:lvl5pPr>
            <a:lvl6pPr>
              <a:defRPr sz="2004" b="0">
                <a:solidFill>
                  <a:srgbClr val="F4F7FA"/>
                </a:solidFill>
                <a:latin typeface="Courier New"/>
                <a:ea typeface="Courier New"/>
                <a:cs typeface="Courier New"/>
              </a:defRPr>
            </a:lvl6pPr>
            <a:lvl7pPr>
              <a:defRPr sz="2004" b="0">
                <a:solidFill>
                  <a:srgbClr val="F4F7FA"/>
                </a:solidFill>
                <a:latin typeface="Courier New"/>
                <a:ea typeface="Courier New"/>
                <a:cs typeface="Courier New"/>
              </a:defRPr>
            </a:lvl7pPr>
            <a:lvl8pPr>
              <a:defRPr sz="2004" b="0">
                <a:solidFill>
                  <a:srgbClr val="F4F7FA"/>
                </a:solidFill>
                <a:latin typeface="Courier New"/>
                <a:ea typeface="Courier New"/>
                <a:cs typeface="Courier New"/>
              </a:defRPr>
            </a:lvl8pPr>
            <a:lvl9pPr>
              <a:defRPr sz="2004" b="0">
                <a:solidFill>
                  <a:srgbClr val="F4F7FA"/>
                </a:solidFill>
                <a:latin typeface="Courier New"/>
                <a:ea typeface="Courier New"/>
                <a:cs typeface="Courier New"/>
              </a:defRPr>
            </a:lvl9pPr>
          </a:lstStyle>
          <a:p xmlns:a="http://schemas.openxmlformats.org/drawingml/2006/main">
            <a:pPr>
              <a:defRPr sz="2004" b="0">
                <a:solidFill>
                  <a:srgbClr val="F4F7FA"/>
                </a:solidFill>
                <a:latin typeface="Courier New"/>
                <a:ea typeface="Courier New"/>
                <a:cs typeface="Courier New"/>
              </a:defRPr>
            </a:pPr>
            <a:r>
              <a:rPr sz="2004" b="0">
                <a:solidFill>
                  <a:srgbClr val="FFB080"/>
                </a:solidFill>
                <a:latin typeface="Courier New"/>
                <a:ea typeface="Courier New"/>
                <a:cs typeface="Courier New"/>
              </a:rPr>
              <a:t>def</a:t>
            </a:r>
            <a:r>
              <a:rPr sz="2004" b="0">
                <a:solidFill>
                  <a:srgbClr val="F4F7FA"/>
                </a:solidFill>
                <a:latin typeface="Courier New"/>
                <a:ea typeface="Courier New"/>
                <a:cs typeface="Courier New"/>
              </a:rPr>
              <a:t> as_records(table):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objects = table.astype(object)</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a:t>
            </a:r>
            <a:r>
              <a:rPr sz="2004" b="0">
                <a:solidFill>
                  <a:srgbClr val="FFB080"/>
                </a:solidFill>
                <a:latin typeface="Courier New"/>
                <a:ea typeface="Courier New"/>
                <a:cs typeface="Courier New"/>
              </a:rPr>
              <a:t>return</a:t>
            </a:r>
            <a:r>
              <a:rPr sz="2004" b="0">
                <a:solidFill>
                  <a:srgbClr val="F4F7FA"/>
                </a:solidFill>
                <a:latin typeface="Courier New"/>
                <a:ea typeface="Courier New"/>
                <a:cs typeface="Courier New"/>
              </a:rPr>
              <a:t> objects.where(table.notna(), </a:t>
            </a:r>
            <a:r>
              <a:rPr sz="2004" b="0">
                <a:solidFill>
                  <a:srgbClr val="FFB080"/>
                </a:solidFill>
                <a:latin typeface="Courier New"/>
                <a:ea typeface="Courier New"/>
                <a:cs typeface="Courier New"/>
              </a:rPr>
              <a:t>None</a:t>
            </a:r>
            <a:r>
              <a:rPr sz="2004" b="0">
                <a:solidFill>
                  <a:srgbClr val="F4F7FA"/>
                </a:solidFill>
                <a:latin typeface="Courier New"/>
                <a:ea typeface="Courier New"/>
                <a:cs typeface="Courier New"/>
              </a:rPr>
              <a:t>).to_dict("records")</a:t>
            </a:r>
          </a:p>
          <a:p xmlns:a="http://schemas.openxmlformats.org/drawingml/2006/main">
            <a:r>
              <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original_records = as_records(source)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print(len(original_records))</a:t>
            </a:r>
          </a:p>
        </p:txBody>
      </p:sp>
      <p:sp>
        <p:nvSpPr>
          <p:cNvPr id="6" name="">
            <a:extLst xmlns:a="http://schemas.openxmlformats.org/drawingml/2006/main">
              <a:ext uri="{FF2B5EF4-FFF2-40B4-BE49-F238E27FC236}">
                <a16:creationId xmlns:a16="http://schemas.microsoft.com/office/drawing/2014/main" id="{1BDA09E7-BB43-4B19-8BE9-710638A29D0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source is the original uploaded CSV.</a:t>
            </a:r>
          </a:p>
        </p:txBody>
      </p:sp>
      <p:sp>
        <p:nvSpPr>
          <p:cNvPr id="7" name="">
            <a:extLst xmlns:a="http://schemas.openxmlformats.org/drawingml/2006/main">
              <a:ext uri="{FF2B5EF4-FFF2-40B4-BE49-F238E27FC236}">
                <a16:creationId xmlns:a16="http://schemas.microsoft.com/office/drawing/2014/main" id="{E50EBD2A-1B81-4319-868D-61AF0DCFF21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records, including the rows to remove.</a:t>
            </a:r>
          </a:p>
        </p:txBody>
      </p:sp>
      <p:sp>
        <p:nvSpPr>
          <p:cNvPr id="8" name="">
            <a:extLst xmlns:a="http://schemas.openxmlformats.org/drawingml/2006/main">
              <a:ext uri="{FF2B5EF4-FFF2-40B4-BE49-F238E27FC236}">
                <a16:creationId xmlns:a16="http://schemas.microsoft.com/office/drawing/2014/main" id="{C853B84A-6532-4A87-8510-7C03218CDA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32</a:t>
            </a:r>
          </a:p>
        </p:txBody>
      </p:sp>
    </p:spTree>
    <p:extLst>
      <p:ext uri="{BB962C8B-B14F-4D97-AF65-F5344CB8AC3E}">
        <p14:creationId xmlns:p14="http://schemas.microsoft.com/office/powerpoint/2010/main" val="10138287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98EA42-5B86-4549-9F96-C870B8AC36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E2B775-AF74-499D-AFE3-0AF009D5BC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60A1B05-F087-401D-8EC0-14731540FA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cleaning function follows the same steps</a:t>
            </a:r>
          </a:p>
        </p:txBody>
      </p:sp>
      <p:sp>
        <p:nvSpPr>
          <p:cNvPr id="4" name="">
            <a:extLst xmlns:a="http://schemas.openxmlformats.org/drawingml/2006/main">
              <a:ext uri="{FF2B5EF4-FFF2-40B4-BE49-F238E27FC236}">
                <a16:creationId xmlns:a16="http://schemas.microsoft.com/office/drawing/2014/main" id="{A2762EAE-1314-4793-899F-B3AAC1F60C6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548AB9-B3AC-4050-924A-35F6CFC6FD2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names the function and its input. Every indented line belongs to that function.</a:t>
            </a:r>
          </a:p>
        </p:txBody>
      </p:sp>
      <p:sp>
        <p:nvSpPr>
          <p:cNvPr id="6" name="">
            <a:extLst xmlns:a="http://schemas.openxmlformats.org/drawingml/2006/main">
              <a:ext uri="{FF2B5EF4-FFF2-40B4-BE49-F238E27FC236}">
                <a16:creationId xmlns:a16="http://schemas.microsoft.com/office/drawing/2014/main" id="{56EE62F9-06E8-4966-8179-AE4410432B4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90F8C20-0923-42EE-B72B-FBB8469BC38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a table from the input, apply the earlier cleaning rules, and return records using the helper.</a:t>
            </a:r>
          </a:p>
        </p:txBody>
      </p:sp>
      <p:sp>
        <p:nvSpPr>
          <p:cNvPr id="8" name="">
            <a:extLst xmlns:a="http://schemas.openxmlformats.org/drawingml/2006/main">
              <a:ext uri="{FF2B5EF4-FFF2-40B4-BE49-F238E27FC236}">
                <a16:creationId xmlns:a16="http://schemas.microsoft.com/office/drawing/2014/main" id="{CC9650FA-4C9B-427F-AD96-F5D3299905C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47A967A-5642-4108-9EB5-26A057B03D7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with different records must calculate a new result.</a:t>
            </a:r>
          </a:p>
        </p:txBody>
      </p:sp>
      <p:sp>
        <p:nvSpPr>
          <p:cNvPr id="10" name="">
            <a:extLst xmlns:a="http://schemas.openxmlformats.org/drawingml/2006/main">
              <a:ext uri="{FF2B5EF4-FFF2-40B4-BE49-F238E27FC236}">
                <a16:creationId xmlns:a16="http://schemas.microsoft.com/office/drawing/2014/main" id="{C2D096FB-9F6D-472A-B805-31B777C36A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33</a:t>
            </a:r>
          </a:p>
        </p:txBody>
      </p:sp>
    </p:spTree>
    <p:extLst>
      <p:ext uri="{BB962C8B-B14F-4D97-AF65-F5344CB8AC3E}">
        <p14:creationId xmlns:p14="http://schemas.microsoft.com/office/powerpoint/2010/main" val="95236944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811EC7-1E76-47B1-8053-C15D9EBB8D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C8D515-50F5-44F4-A7E1-78DAA1553F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7914FDB-CB9B-40CB-964D-3FF207680C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complete practice cleaning function</a:t>
            </a:r>
          </a:p>
        </p:txBody>
      </p:sp>
      <p:sp>
        <p:nvSpPr>
          <p:cNvPr id="4" name="">
            <a:extLst xmlns:a="http://schemas.openxmlformats.org/drawingml/2006/main">
              <a:ext uri="{FF2B5EF4-FFF2-40B4-BE49-F238E27FC236}">
                <a16:creationId xmlns:a16="http://schemas.microsoft.com/office/drawing/2014/main" id="{20A944A3-E2FB-4A18-9091-3BF3678DE63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09838F-B011-432B-8C4F-4CD120A83FD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3" b="0">
                <a:solidFill>
                  <a:srgbClr val="F4F7FA"/>
                </a:solidFill>
                <a:latin typeface="Courier New"/>
                <a:ea typeface="Courier New"/>
                <a:cs typeface="Courier New"/>
              </a:defRPr>
            </a:defPPr>
            <a:lvl1pPr>
              <a:defRPr sz="2173" b="0">
                <a:solidFill>
                  <a:srgbClr val="F4F7FA"/>
                </a:solidFill>
                <a:latin typeface="Courier New"/>
                <a:ea typeface="Courier New"/>
                <a:cs typeface="Courier New"/>
              </a:defRPr>
            </a:lvl1pPr>
            <a:lvl2pPr>
              <a:defRPr sz="2173" b="0">
                <a:solidFill>
                  <a:srgbClr val="F4F7FA"/>
                </a:solidFill>
                <a:latin typeface="Courier New"/>
                <a:ea typeface="Courier New"/>
                <a:cs typeface="Courier New"/>
              </a:defRPr>
            </a:lvl2pPr>
            <a:lvl3pPr>
              <a:defRPr sz="2173" b="0">
                <a:solidFill>
                  <a:srgbClr val="F4F7FA"/>
                </a:solidFill>
                <a:latin typeface="Courier New"/>
                <a:ea typeface="Courier New"/>
                <a:cs typeface="Courier New"/>
              </a:defRPr>
            </a:lvl3pPr>
            <a:lvl4pPr>
              <a:defRPr sz="2173" b="0">
                <a:solidFill>
                  <a:srgbClr val="F4F7FA"/>
                </a:solidFill>
                <a:latin typeface="Courier New"/>
                <a:ea typeface="Courier New"/>
                <a:cs typeface="Courier New"/>
              </a:defRPr>
            </a:lvl4pPr>
            <a:lvl5pPr>
              <a:defRPr sz="2173" b="0">
                <a:solidFill>
                  <a:srgbClr val="F4F7FA"/>
                </a:solidFill>
                <a:latin typeface="Courier New"/>
                <a:ea typeface="Courier New"/>
                <a:cs typeface="Courier New"/>
              </a:defRPr>
            </a:lvl5pPr>
            <a:lvl6pPr>
              <a:defRPr sz="2173" b="0">
                <a:solidFill>
                  <a:srgbClr val="F4F7FA"/>
                </a:solidFill>
                <a:latin typeface="Courier New"/>
                <a:ea typeface="Courier New"/>
                <a:cs typeface="Courier New"/>
              </a:defRPr>
            </a:lvl6pPr>
            <a:lvl7pPr>
              <a:defRPr sz="2173" b="0">
                <a:solidFill>
                  <a:srgbClr val="F4F7FA"/>
                </a:solidFill>
                <a:latin typeface="Courier New"/>
                <a:ea typeface="Courier New"/>
                <a:cs typeface="Courier New"/>
              </a:defRPr>
            </a:lvl7pPr>
            <a:lvl8pPr>
              <a:defRPr sz="2173" b="0">
                <a:solidFill>
                  <a:srgbClr val="F4F7FA"/>
                </a:solidFill>
                <a:latin typeface="Courier New"/>
                <a:ea typeface="Courier New"/>
                <a:cs typeface="Courier New"/>
              </a:defRPr>
            </a:lvl8pPr>
            <a:lvl9pPr>
              <a:defRPr sz="2173" b="0">
                <a:solidFill>
                  <a:srgbClr val="F4F7FA"/>
                </a:solidFill>
                <a:latin typeface="Courier New"/>
                <a:ea typeface="Courier New"/>
                <a:cs typeface="Courier New"/>
              </a:defRPr>
            </a:lvl9pPr>
          </a:lstStyle>
          <a:p xmlns:a="http://schemas.openxmlformats.org/drawingml/2006/main">
            <a:pPr>
              <a:defRPr sz="2173" b="0">
                <a:solidFill>
                  <a:srgbClr val="F4F7FA"/>
                </a:solidFill>
                <a:latin typeface="Courier New"/>
                <a:ea typeface="Courier New"/>
                <a:cs typeface="Courier New"/>
              </a:defRPr>
            </a:pPr>
            <a:r>
              <a:rPr sz="2173" b="0">
                <a:solidFill>
                  <a:srgbClr val="FFB080"/>
                </a:solidFill>
                <a:latin typeface="Courier New"/>
                <a:ea typeface="Courier New"/>
                <a:cs typeface="Courier New"/>
              </a:rPr>
              <a:t>def</a:t>
            </a:r>
            <a:r>
              <a:rPr sz="2173" b="0">
                <a:solidFill>
                  <a:srgbClr val="F4F7FA"/>
                </a:solidFill>
                <a:latin typeface="Courier New"/>
                <a:ea typeface="Courier New"/>
                <a:cs typeface="Courier New"/>
              </a:rPr>
              <a:t> revision_clean(records):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pd.DataFrame(records)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table.drop_duplicates("reading")</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table.dropna(subset=["target"])</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table.loc[table["load"].between(0, 100)].copy()</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middle = table["ambient"].median()</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table["ambient"] = table["ambient"].fillna(middle)</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a:t>
            </a:r>
            <a:r>
              <a:rPr sz="2173" b="0">
                <a:solidFill>
                  <a:srgbClr val="FFB080"/>
                </a:solidFill>
                <a:latin typeface="Courier New"/>
                <a:ea typeface="Courier New"/>
                <a:cs typeface="Courier New"/>
              </a:rPr>
              <a:t>return</a:t>
            </a:r>
            <a:r>
              <a:rPr sz="2173" b="0">
                <a:solidFill>
                  <a:srgbClr val="F4F7FA"/>
                </a:solidFill>
                <a:latin typeface="Courier New"/>
                <a:ea typeface="Courier New"/>
                <a:cs typeface="Courier New"/>
              </a:rPr>
              <a:t> as_records(table)</a:t>
            </a:r>
          </a:p>
        </p:txBody>
      </p:sp>
      <p:sp>
        <p:nvSpPr>
          <p:cNvPr id="6" name="">
            <a:extLst xmlns:a="http://schemas.openxmlformats.org/drawingml/2006/main">
              <a:ext uri="{FF2B5EF4-FFF2-40B4-BE49-F238E27FC236}">
                <a16:creationId xmlns:a16="http://schemas.microsoft.com/office/drawing/2014/main" id="{196A9BF4-6DD1-4C41-A51C-11B6F03F790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input is records, not a global CSV table.</a:t>
            </a:r>
          </a:p>
        </p:txBody>
      </p:sp>
      <p:sp>
        <p:nvSpPr>
          <p:cNvPr id="7" name="">
            <a:extLst xmlns:a="http://schemas.openxmlformats.org/drawingml/2006/main">
              <a:ext uri="{FF2B5EF4-FFF2-40B4-BE49-F238E27FC236}">
                <a16:creationId xmlns:a16="http://schemas.microsoft.com/office/drawing/2014/main" id="{BBAF488B-67F9-40BB-9C03-EB927B76622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a new list of cleaned records. It does not print the answer.</a:t>
            </a:r>
          </a:p>
        </p:txBody>
      </p:sp>
      <p:sp>
        <p:nvSpPr>
          <p:cNvPr id="8" name="">
            <a:extLst xmlns:a="http://schemas.openxmlformats.org/drawingml/2006/main">
              <a:ext uri="{FF2B5EF4-FFF2-40B4-BE49-F238E27FC236}">
                <a16:creationId xmlns:a16="http://schemas.microsoft.com/office/drawing/2014/main" id="{A20C0168-4668-4ED3-865F-5518883E0F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34</a:t>
            </a:r>
          </a:p>
        </p:txBody>
      </p:sp>
    </p:spTree>
    <p:extLst>
      <p:ext uri="{BB962C8B-B14F-4D97-AF65-F5344CB8AC3E}">
        <p14:creationId xmlns:p14="http://schemas.microsoft.com/office/powerpoint/2010/main" val="136817706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A57CDE-D619-43CF-B79F-931292079B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4BA4D4-6E96-4A97-A802-D9F466BAD2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ADDF4CF-9708-46F7-82BA-C39BE92317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Calling the cleaning function</a:t>
            </a:r>
          </a:p>
        </p:txBody>
      </p:sp>
      <p:sp>
        <p:nvSpPr>
          <p:cNvPr id="4" name="">
            <a:extLst xmlns:a="http://schemas.openxmlformats.org/drawingml/2006/main">
              <a:ext uri="{FF2B5EF4-FFF2-40B4-BE49-F238E27FC236}">
                <a16:creationId xmlns:a16="http://schemas.microsoft.com/office/drawing/2014/main" id="{6D2DDD65-26B0-46AC-8683-BF80B291224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4F5808-FD06-46FE-9E52-636F9D2DA1F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cleaned_records = revision_clean(original_records)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print(cleaned_records[1]["ambient"])</a:t>
            </a:r>
          </a:p>
        </p:txBody>
      </p:sp>
      <p:sp>
        <p:nvSpPr>
          <p:cNvPr id="6" name="">
            <a:extLst xmlns:a="http://schemas.openxmlformats.org/drawingml/2006/main">
              <a:ext uri="{FF2B5EF4-FFF2-40B4-BE49-F238E27FC236}">
                <a16:creationId xmlns:a16="http://schemas.microsoft.com/office/drawing/2014/main" id="{FC3C6BB0-CAFC-4F82-A22B-B69C8D73C25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original list remains available.</a:t>
            </a:r>
          </a:p>
        </p:txBody>
      </p:sp>
      <p:sp>
        <p:nvSpPr>
          <p:cNvPr id="7" name="">
            <a:extLst xmlns:a="http://schemas.openxmlformats.org/drawingml/2006/main">
              <a:ext uri="{FF2B5EF4-FFF2-40B4-BE49-F238E27FC236}">
                <a16:creationId xmlns:a16="http://schemas.microsoft.com/office/drawing/2014/main" id="{30E59EF3-631D-4CA2-B2FF-8B9AAFAD117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rows, 4 cleaned rows, replacement ambient 30.0.</a:t>
            </a:r>
          </a:p>
        </p:txBody>
      </p:sp>
      <p:sp>
        <p:nvSpPr>
          <p:cNvPr id="8" name="">
            <a:extLst xmlns:a="http://schemas.openxmlformats.org/drawingml/2006/main">
              <a:ext uri="{FF2B5EF4-FFF2-40B4-BE49-F238E27FC236}">
                <a16:creationId xmlns:a16="http://schemas.microsoft.com/office/drawing/2014/main" id="{A2D19C01-1205-44A8-9F6F-C241305662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35</a:t>
            </a:r>
          </a:p>
        </p:txBody>
      </p:sp>
    </p:spTree>
    <p:extLst>
      <p:ext uri="{BB962C8B-B14F-4D97-AF65-F5344CB8AC3E}">
        <p14:creationId xmlns:p14="http://schemas.microsoft.com/office/powerpoint/2010/main" val="60979087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12544E-67D2-42FD-8CEC-9B19C93292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F93303-B1E7-4CA7-A614-1E54BFAB42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2024FAF-B990-4324-B440-73F7BD40F0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Summary values inside a dictionary</a:t>
            </a:r>
          </a:p>
        </p:txBody>
      </p:sp>
      <p:sp>
        <p:nvSpPr>
          <p:cNvPr id="4" name="">
            <a:extLst xmlns:a="http://schemas.openxmlformats.org/drawingml/2006/main">
              <a:ext uri="{FF2B5EF4-FFF2-40B4-BE49-F238E27FC236}">
                <a16:creationId xmlns:a16="http://schemas.microsoft.com/office/drawing/2014/main" id="{B419011A-1CB3-47BE-90D9-E6CB70F9DDB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89C9977-FFEA-4954-8CAC-FBF0DF5EEAA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len(table) counts rows. target.min() and target.max() find the smallest and largest values.</a:t>
            </a:r>
          </a:p>
        </p:txBody>
      </p:sp>
      <p:sp>
        <p:nvSpPr>
          <p:cNvPr id="6" name="">
            <a:extLst xmlns:a="http://schemas.openxmlformats.org/drawingml/2006/main">
              <a:ext uri="{FF2B5EF4-FFF2-40B4-BE49-F238E27FC236}">
                <a16:creationId xmlns:a16="http://schemas.microsoft.com/office/drawing/2014/main" id="{E10A9D93-16C4-4B42-9E09-2237DD7EE6F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8AA71E2-315C-47FC-ACBC-BF5F1E6D40E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return dictionary gives each result a name: count, mean, minimum, maximum and group_means.</a:t>
            </a:r>
          </a:p>
        </p:txBody>
      </p:sp>
      <p:sp>
        <p:nvSpPr>
          <p:cNvPr id="8" name="">
            <a:extLst xmlns:a="http://schemas.openxmlformats.org/drawingml/2006/main">
              <a:ext uri="{FF2B5EF4-FFF2-40B4-BE49-F238E27FC236}">
                <a16:creationId xmlns:a16="http://schemas.microsoft.com/office/drawing/2014/main" id="{972AA565-D890-4AC5-BB1E-D03C1839567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B71C0F9-1067-4959-8469-C53E898BBB5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grouped Series.to_dict() converts its equipment labels and means into another dictionary.</a:t>
            </a:r>
          </a:p>
        </p:txBody>
      </p:sp>
      <p:sp>
        <p:nvSpPr>
          <p:cNvPr id="10" name="">
            <a:extLst xmlns:a="http://schemas.openxmlformats.org/drawingml/2006/main">
              <a:ext uri="{FF2B5EF4-FFF2-40B4-BE49-F238E27FC236}">
                <a16:creationId xmlns:a16="http://schemas.microsoft.com/office/drawing/2014/main" id="{5D0EB327-9CF9-4619-985F-FE4A663C01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36</a:t>
            </a:r>
          </a:p>
        </p:txBody>
      </p:sp>
    </p:spTree>
    <p:extLst>
      <p:ext uri="{BB962C8B-B14F-4D97-AF65-F5344CB8AC3E}">
        <p14:creationId xmlns:p14="http://schemas.microsoft.com/office/powerpoint/2010/main" val="2803857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D492E6-30B9-409A-8DB4-70DE74EAA3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F088E3-5BC3-4163-A6C6-8C81D7930D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BD0BA5F-5B31-438E-ACE7-0DB32FB143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summary function</a:t>
            </a:r>
          </a:p>
        </p:txBody>
      </p:sp>
      <p:sp>
        <p:nvSpPr>
          <p:cNvPr id="4" name="">
            <a:extLst xmlns:a="http://schemas.openxmlformats.org/drawingml/2006/main">
              <a:ext uri="{FF2B5EF4-FFF2-40B4-BE49-F238E27FC236}">
                <a16:creationId xmlns:a16="http://schemas.microsoft.com/office/drawing/2014/main" id="{8614E866-98B7-4E95-A517-7BB16D15C4A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86C3B9-FDD0-4A24-9F9A-835065A1BB2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table = pd.DataFrame(records)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values = table["target"]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len(table),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float(values.mean()),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float(values.min()),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float(values.max()),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"group_means": groups.to_dict()}</a:t>
            </a:r>
          </a:p>
        </p:txBody>
      </p:sp>
      <p:sp>
        <p:nvSpPr>
          <p:cNvPr id="6" name="">
            <a:extLst xmlns:a="http://schemas.openxmlformats.org/drawingml/2006/main">
              <a:ext uri="{FF2B5EF4-FFF2-40B4-BE49-F238E27FC236}">
                <a16:creationId xmlns:a16="http://schemas.microsoft.com/office/drawing/2014/main" id="{1CF0E4F8-F010-4045-B6ED-98D966183A6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Braces enclose key–value pairs.</a:t>
            </a:r>
          </a:p>
        </p:txBody>
      </p:sp>
      <p:sp>
        <p:nvSpPr>
          <p:cNvPr id="7" name="">
            <a:extLst xmlns:a="http://schemas.openxmlformats.org/drawingml/2006/main">
              <a:ext uri="{FF2B5EF4-FFF2-40B4-BE49-F238E27FC236}">
                <a16:creationId xmlns:a16="http://schemas.microsoft.com/office/drawing/2014/main" id="{417C5DAF-712D-4D0F-B300-AC49789E94A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named numerical values and a dictionary of machine means.</a:t>
            </a:r>
          </a:p>
        </p:txBody>
      </p:sp>
      <p:sp>
        <p:nvSpPr>
          <p:cNvPr id="8" name="">
            <a:extLst xmlns:a="http://schemas.openxmlformats.org/drawingml/2006/main">
              <a:ext uri="{FF2B5EF4-FFF2-40B4-BE49-F238E27FC236}">
                <a16:creationId xmlns:a16="http://schemas.microsoft.com/office/drawing/2014/main" id="{85DE3E79-5035-42A2-8C5C-72A760B1AA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37</a:t>
            </a:r>
          </a:p>
        </p:txBody>
      </p:sp>
    </p:spTree>
    <p:extLst>
      <p:ext uri="{BB962C8B-B14F-4D97-AF65-F5344CB8AC3E}">
        <p14:creationId xmlns:p14="http://schemas.microsoft.com/office/powerpoint/2010/main" val="10227645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D3D280-1CF1-471B-86E4-EAE6589B42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F44410-F8C9-4515-8A86-95BC1522EB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1F66254-1F03-4E53-8D54-235899FE5B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returned summary</a:t>
            </a:r>
          </a:p>
        </p:txBody>
      </p:sp>
      <p:sp>
        <p:nvSpPr>
          <p:cNvPr id="4" name="">
            <a:extLst xmlns:a="http://schemas.openxmlformats.org/drawingml/2006/main">
              <a:ext uri="{FF2B5EF4-FFF2-40B4-BE49-F238E27FC236}">
                <a16:creationId xmlns:a16="http://schemas.microsoft.com/office/drawing/2014/main" id="{DE5E9347-4B1D-48C0-9B22-980CB6AC679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9D28F7-A52E-41A8-B411-6C994ECE5E4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summary = revision_summary(cleaned_records)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print(summary["count"], summary["mean"])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print(summary["minimum"], summary["maximum"])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print(summary["group_means"])</a:t>
            </a:r>
          </a:p>
        </p:txBody>
      </p:sp>
      <p:sp>
        <p:nvSpPr>
          <p:cNvPr id="6" name="">
            <a:extLst xmlns:a="http://schemas.openxmlformats.org/drawingml/2006/main">
              <a:ext uri="{FF2B5EF4-FFF2-40B4-BE49-F238E27FC236}">
                <a16:creationId xmlns:a16="http://schemas.microsoft.com/office/drawing/2014/main" id="{D1D95EF4-F17C-4A1F-8414-81A017BB320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a key to retrieve a named answer.</a:t>
            </a:r>
          </a:p>
        </p:txBody>
      </p:sp>
      <p:sp>
        <p:nvSpPr>
          <p:cNvPr id="7" name="">
            <a:extLst xmlns:a="http://schemas.openxmlformats.org/drawingml/2006/main">
              <a:ext uri="{FF2B5EF4-FFF2-40B4-BE49-F238E27FC236}">
                <a16:creationId xmlns:a16="http://schemas.microsoft.com/office/drawing/2014/main" id="{4FF26076-E5B5-4AB3-A41C-37E868D2D37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4 and 25.0; 10.0 and 40.0; M1: 15.0, M2: 35.0.</a:t>
            </a:r>
          </a:p>
        </p:txBody>
      </p:sp>
      <p:sp>
        <p:nvSpPr>
          <p:cNvPr id="8" name="">
            <a:extLst xmlns:a="http://schemas.openxmlformats.org/drawingml/2006/main">
              <a:ext uri="{FF2B5EF4-FFF2-40B4-BE49-F238E27FC236}">
                <a16:creationId xmlns:a16="http://schemas.microsoft.com/office/drawing/2014/main" id="{AED7FC20-5CC1-4417-936F-78BC48E827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38</a:t>
            </a:r>
          </a:p>
        </p:txBody>
      </p:sp>
    </p:spTree>
    <p:extLst>
      <p:ext uri="{BB962C8B-B14F-4D97-AF65-F5344CB8AC3E}">
        <p14:creationId xmlns:p14="http://schemas.microsoft.com/office/powerpoint/2010/main" val="71725247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DBDE7E-A92F-4D08-BD63-063AEB242C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61A0B5-E7C0-44BE-A1F3-21037B4CD5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4075BA6-C64C-498A-BCC4-17A8BD9E54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Figure is an object you can return</a:t>
            </a:r>
          </a:p>
        </p:txBody>
      </p:sp>
      <p:sp>
        <p:nvSpPr>
          <p:cNvPr id="4" name="">
            <a:extLst xmlns:a="http://schemas.openxmlformats.org/drawingml/2006/main">
              <a:ext uri="{FF2B5EF4-FFF2-40B4-BE49-F238E27FC236}">
                <a16:creationId xmlns:a16="http://schemas.microsoft.com/office/drawing/2014/main" id="{BB0A82B5-2B2A-452C-A362-E642F556313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4557BA7-E3E6-4718-AFB1-01A7CA4C203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plt.subplots() creates a Figure and its plotting Axes. fig holds the whole chart; ax holds the drawing area.</a:t>
            </a:r>
          </a:p>
        </p:txBody>
      </p:sp>
      <p:sp>
        <p:nvSpPr>
          <p:cNvPr id="6" name="">
            <a:extLst xmlns:a="http://schemas.openxmlformats.org/drawingml/2006/main">
              <a:ext uri="{FF2B5EF4-FFF2-40B4-BE49-F238E27FC236}">
                <a16:creationId xmlns:a16="http://schemas.microsoft.com/office/drawing/2014/main" id="{14C726F3-0ECB-45D0-823A-131468A7F4C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CE315B-893E-4809-8B2D-E0F0922DAB4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ax.scatter, ax.bar and ax.hist draw on those Axes. set_xlabel, set_ylabel and set_title add labels.</a:t>
            </a:r>
          </a:p>
        </p:txBody>
      </p:sp>
      <p:sp>
        <p:nvSpPr>
          <p:cNvPr id="8" name="">
            <a:extLst xmlns:a="http://schemas.openxmlformats.org/drawingml/2006/main">
              <a:ext uri="{FF2B5EF4-FFF2-40B4-BE49-F238E27FC236}">
                <a16:creationId xmlns:a16="http://schemas.microsoft.com/office/drawing/2014/main" id="{CFD84E49-5FA3-4E68-89CB-6E2BBBD2AC9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11B49D4-F9E9-4D47-9995-39FCDCE2AE5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fig gives the chart to the caller. plt.show() only displays it.</a:t>
            </a:r>
          </a:p>
        </p:txBody>
      </p:sp>
      <p:sp>
        <p:nvSpPr>
          <p:cNvPr id="10" name="">
            <a:extLst xmlns:a="http://schemas.openxmlformats.org/drawingml/2006/main">
              <a:ext uri="{FF2B5EF4-FFF2-40B4-BE49-F238E27FC236}">
                <a16:creationId xmlns:a16="http://schemas.microsoft.com/office/drawing/2014/main" id="{1F617AA7-5E65-4080-8E76-53030FF5EC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39</a:t>
            </a:r>
          </a:p>
        </p:txBody>
      </p:sp>
    </p:spTree>
    <p:extLst>
      <p:ext uri="{BB962C8B-B14F-4D97-AF65-F5344CB8AC3E}">
        <p14:creationId xmlns:p14="http://schemas.microsoft.com/office/powerpoint/2010/main" val="208035114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CD3F25-2899-4A3C-AD5C-DF6859CF3B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54FC1F-3D77-48E6-9C06-5F78D0E99E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7C78F62-506F-481F-9958-A6DC0B3D1C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scatter Figure</a:t>
            </a:r>
          </a:p>
        </p:txBody>
      </p:sp>
      <p:sp>
        <p:nvSpPr>
          <p:cNvPr id="4" name="">
            <a:extLst xmlns:a="http://schemas.openxmlformats.org/drawingml/2006/main">
              <a:ext uri="{FF2B5EF4-FFF2-40B4-BE49-F238E27FC236}">
                <a16:creationId xmlns:a16="http://schemas.microsoft.com/office/drawing/2014/main" id="{8DC95A50-F687-4EC0-8BE7-28CCCEA7F6E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FA3601-9570-44EF-AFFE-4038AFEED85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revision_scatter(table):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ax.scatter(table["load"], table["target"])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ax.set_xlabel("Load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ax.set_ylabel("Target (°C)")</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load and 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179E781B-6935-4AA3-8864-E7FA051479E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fig and ax receive the two created objects.</a:t>
            </a:r>
          </a:p>
        </p:txBody>
      </p:sp>
      <p:sp>
        <p:nvSpPr>
          <p:cNvPr id="7" name="">
            <a:extLst xmlns:a="http://schemas.openxmlformats.org/drawingml/2006/main">
              <a:ext uri="{FF2B5EF4-FFF2-40B4-BE49-F238E27FC236}">
                <a16:creationId xmlns:a16="http://schemas.microsoft.com/office/drawing/2014/main" id="{B6062AD9-78F8-4018-8E57-C3AE9683EE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returned Figure contains four points from the practice CSV.</a:t>
            </a:r>
          </a:p>
        </p:txBody>
      </p:sp>
      <p:sp>
        <p:nvSpPr>
          <p:cNvPr id="8" name="">
            <a:extLst xmlns:a="http://schemas.openxmlformats.org/drawingml/2006/main">
              <a:ext uri="{FF2B5EF4-FFF2-40B4-BE49-F238E27FC236}">
                <a16:creationId xmlns:a16="http://schemas.microsoft.com/office/drawing/2014/main" id="{9803C055-96C8-4816-86F7-F0DCE8F531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40</a:t>
            </a:r>
          </a:p>
        </p:txBody>
      </p:sp>
    </p:spTree>
    <p:extLst>
      <p:ext uri="{BB962C8B-B14F-4D97-AF65-F5344CB8AC3E}">
        <p14:creationId xmlns:p14="http://schemas.microsoft.com/office/powerpoint/2010/main" val="41952347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4894AB-C2C8-4888-80ED-9F2F90597C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E999E8-1997-4953-9C4B-CC1684D3FD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D1381E9-6658-4BD9-B77A-FE677A2577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Alphabetical order for group means</a:t>
            </a:r>
          </a:p>
        </p:txBody>
      </p:sp>
      <p:sp>
        <p:nvSpPr>
          <p:cNvPr id="4" name="">
            <a:extLst xmlns:a="http://schemas.openxmlformats.org/drawingml/2006/main">
              <a:ext uri="{FF2B5EF4-FFF2-40B4-BE49-F238E27FC236}">
                <a16:creationId xmlns:a16="http://schemas.microsoft.com/office/drawing/2014/main" id="{7FBBA989-0B4A-46D6-A8C7-176E592134D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F07202-2500-4BD2-8DB7-1945D209259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groupby("machine")["target"].mean() calculates one mean per machine.</a:t>
            </a:r>
          </a:p>
        </p:txBody>
      </p:sp>
      <p:sp>
        <p:nvSpPr>
          <p:cNvPr id="6" name="">
            <a:extLst xmlns:a="http://schemas.openxmlformats.org/drawingml/2006/main">
              <a:ext uri="{FF2B5EF4-FFF2-40B4-BE49-F238E27FC236}">
                <a16:creationId xmlns:a16="http://schemas.microsoft.com/office/drawing/2014/main" id="{7E7D778A-964E-491C-87B7-FD0358E23DF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F652D77-2CE2-4389-A01B-B8D099B39F0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sort_index() orders that Series by its labels. M1 comes before M2.</a:t>
            </a:r>
          </a:p>
        </p:txBody>
      </p:sp>
      <p:sp>
        <p:nvSpPr>
          <p:cNvPr id="8" name="">
            <a:extLst xmlns:a="http://schemas.openxmlformats.org/drawingml/2006/main">
              <a:ext uri="{FF2B5EF4-FFF2-40B4-BE49-F238E27FC236}">
                <a16:creationId xmlns:a16="http://schemas.microsoft.com/office/drawing/2014/main" id="{D955FCAC-E39F-4F24-B851-CCF13EB61E6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2A12267-3CBE-4070-9588-0B1DD542D36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ordered Series for both the bar labels and heights.</a:t>
            </a:r>
          </a:p>
        </p:txBody>
      </p:sp>
      <p:sp>
        <p:nvSpPr>
          <p:cNvPr id="10" name="">
            <a:extLst xmlns:a="http://schemas.openxmlformats.org/drawingml/2006/main">
              <a:ext uri="{FF2B5EF4-FFF2-40B4-BE49-F238E27FC236}">
                <a16:creationId xmlns:a16="http://schemas.microsoft.com/office/drawing/2014/main" id="{593C05E5-7663-4632-A5A8-B8B17EB374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41</a:t>
            </a:r>
          </a:p>
        </p:txBody>
      </p:sp>
    </p:spTree>
    <p:extLst>
      <p:ext uri="{BB962C8B-B14F-4D97-AF65-F5344CB8AC3E}">
        <p14:creationId xmlns:p14="http://schemas.microsoft.com/office/powerpoint/2010/main" val="28080074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1D2B84-8749-4D18-8AF8-3F163583B2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0C5D77-34DE-4371-8223-51DC605C020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C6B3A99-C101-4FF4-A6D2-BE5FD31320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ordered bars</a:t>
            </a:r>
          </a:p>
        </p:txBody>
      </p:sp>
      <p:sp>
        <p:nvSpPr>
          <p:cNvPr id="4" name="">
            <a:extLst xmlns:a="http://schemas.openxmlformats.org/drawingml/2006/main">
              <a:ext uri="{FF2B5EF4-FFF2-40B4-BE49-F238E27FC236}">
                <a16:creationId xmlns:a16="http://schemas.microsoft.com/office/drawing/2014/main" id="{40C0798A-CEAF-4EA5-8151-7D93DBE65DD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728F2F-2495-43E7-AEBC-F551A0CA2E6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revision_bars(table):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means.sort_index()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fig, ax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ax.bar(means.index, means.values)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ax.set_xlabel("Machine")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ax.set_ylabel("Mean target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ax.set_title("Practice machine 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B1CFDF79-145B-4CAE-BBC8-07B6D42D90F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sort_index sorts the group labels.</a:t>
            </a:r>
          </a:p>
        </p:txBody>
      </p:sp>
      <p:sp>
        <p:nvSpPr>
          <p:cNvPr id="7" name="">
            <a:extLst xmlns:a="http://schemas.openxmlformats.org/drawingml/2006/main">
              <a:ext uri="{FF2B5EF4-FFF2-40B4-BE49-F238E27FC236}">
                <a16:creationId xmlns:a16="http://schemas.microsoft.com/office/drawing/2014/main" id="{3FB2F6D8-C457-4361-97A6-69EC6AA7AA5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order and height: M1 = 15, then M2 = 35.</a:t>
            </a:r>
          </a:p>
        </p:txBody>
      </p:sp>
      <p:sp>
        <p:nvSpPr>
          <p:cNvPr id="8" name="">
            <a:extLst xmlns:a="http://schemas.openxmlformats.org/drawingml/2006/main">
              <a:ext uri="{FF2B5EF4-FFF2-40B4-BE49-F238E27FC236}">
                <a16:creationId xmlns:a16="http://schemas.microsoft.com/office/drawing/2014/main" id="{630B1304-99E2-4F20-A614-48548CDDDF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42</a:t>
            </a:r>
          </a:p>
        </p:txBody>
      </p:sp>
    </p:spTree>
    <p:extLst>
      <p:ext uri="{BB962C8B-B14F-4D97-AF65-F5344CB8AC3E}">
        <p14:creationId xmlns:p14="http://schemas.microsoft.com/office/powerpoint/2010/main" val="194847129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F3B2E4-B021-420A-BD15-6E331764E1A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0D5150-8C47-45CE-8BFB-72E321DDFA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32272CA-0B19-44DD-AC03-1D38760536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Ten histogram bins</a:t>
            </a:r>
          </a:p>
        </p:txBody>
      </p:sp>
      <p:sp>
        <p:nvSpPr>
          <p:cNvPr id="4" name="">
            <a:extLst xmlns:a="http://schemas.openxmlformats.org/drawingml/2006/main">
              <a:ext uri="{FF2B5EF4-FFF2-40B4-BE49-F238E27FC236}">
                <a16:creationId xmlns:a16="http://schemas.microsoft.com/office/drawing/2014/main" id="{BCA0C14D-2891-4DC9-A3C4-DA97E66E0E9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871886-4514-4165-AFE7-EC59EC44C22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earlier two-bin example explained counting. The test asks for ten equal-width bins.</a:t>
            </a:r>
          </a:p>
        </p:txBody>
      </p:sp>
      <p:sp>
        <p:nvSpPr>
          <p:cNvPr id="6" name="">
            <a:extLst xmlns:a="http://schemas.openxmlformats.org/drawingml/2006/main">
              <a:ext uri="{FF2B5EF4-FFF2-40B4-BE49-F238E27FC236}">
                <a16:creationId xmlns:a16="http://schemas.microsoft.com/office/drawing/2014/main" id="{4BB12EE2-E992-49DF-B003-C7752609B8F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972F4B8-D1EE-4BCD-B5C6-599A2BE9530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ax.hist(values, bins=10) divides the range from the minimum to the maximum into ten equal intervals.</a:t>
            </a:r>
          </a:p>
        </p:txBody>
      </p:sp>
      <p:sp>
        <p:nvSpPr>
          <p:cNvPr id="8" name="">
            <a:extLst xmlns:a="http://schemas.openxmlformats.org/drawingml/2006/main">
              <a:ext uri="{FF2B5EF4-FFF2-40B4-BE49-F238E27FC236}">
                <a16:creationId xmlns:a16="http://schemas.microsoft.com/office/drawing/2014/main" id="{0E428598-3D63-4602-ACB1-40CB7F0D3C6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B212655-C010-4912-A70D-14D3233B87E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practice targets 10 to 40, each bin is 3 units wide. Empty bins still count as bins.</a:t>
            </a:r>
          </a:p>
        </p:txBody>
      </p:sp>
      <p:sp>
        <p:nvSpPr>
          <p:cNvPr id="10" name="">
            <a:extLst xmlns:a="http://schemas.openxmlformats.org/drawingml/2006/main">
              <a:ext uri="{FF2B5EF4-FFF2-40B4-BE49-F238E27FC236}">
                <a16:creationId xmlns:a16="http://schemas.microsoft.com/office/drawing/2014/main" id="{0D50E534-B784-47C6-8998-9D07C4DDEA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43</a:t>
            </a:r>
          </a:p>
        </p:txBody>
      </p:sp>
    </p:spTree>
    <p:extLst>
      <p:ext uri="{BB962C8B-B14F-4D97-AF65-F5344CB8AC3E}">
        <p14:creationId xmlns:p14="http://schemas.microsoft.com/office/powerpoint/2010/main" val="184398312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6D100F-B6FC-40F6-86FC-D13E3AE86B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D8A572-2527-40BB-A08C-2D02EEE24D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917E967-ADDD-4C74-A859-1A2BC1EE0E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ten-bin histogram</a:t>
            </a:r>
          </a:p>
        </p:txBody>
      </p:sp>
      <p:sp>
        <p:nvSpPr>
          <p:cNvPr id="4" name="">
            <a:extLst xmlns:a="http://schemas.openxmlformats.org/drawingml/2006/main">
              <a:ext uri="{FF2B5EF4-FFF2-40B4-BE49-F238E27FC236}">
                <a16:creationId xmlns:a16="http://schemas.microsoft.com/office/drawing/2014/main" id="{DE502871-3328-4A84-A8D7-44B63C54C23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29BDDC-03DE-471C-A2FA-CC718858A3B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revision_histogram(table):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ax.hist(table["target"], bins=10)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ax.set_xlabel("Target (°C)")</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ax.set_ylabel("Number of observations")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target distribution")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5A1712D3-5D62-431A-9A74-8F083DBE12B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bins=10 lets matplotlib calculate the edges.</a:t>
            </a:r>
          </a:p>
        </p:txBody>
      </p:sp>
      <p:sp>
        <p:nvSpPr>
          <p:cNvPr id="7" name="">
            <a:extLst xmlns:a="http://schemas.openxmlformats.org/drawingml/2006/main">
              <a:ext uri="{FF2B5EF4-FFF2-40B4-BE49-F238E27FC236}">
                <a16:creationId xmlns:a16="http://schemas.microsoft.com/office/drawing/2014/main" id="{B799B1EA-FBE6-46F9-9C4C-7AE18545886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10 bars with total count 4, spanning targets 10 to 40.</a:t>
            </a:r>
          </a:p>
        </p:txBody>
      </p:sp>
      <p:sp>
        <p:nvSpPr>
          <p:cNvPr id="8" name="">
            <a:extLst xmlns:a="http://schemas.openxmlformats.org/drawingml/2006/main">
              <a:ext uri="{FF2B5EF4-FFF2-40B4-BE49-F238E27FC236}">
                <a16:creationId xmlns:a16="http://schemas.microsoft.com/office/drawing/2014/main" id="{7AA4A074-B2F8-464B-87E3-45460EFDA1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44</a:t>
            </a:r>
          </a:p>
        </p:txBody>
      </p:sp>
    </p:spTree>
    <p:extLst>
      <p:ext uri="{BB962C8B-B14F-4D97-AF65-F5344CB8AC3E}">
        <p14:creationId xmlns:p14="http://schemas.microsoft.com/office/powerpoint/2010/main" val="121100022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F7CE4A-2EC9-43BB-B8F8-D1FC1FB16C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45A08E-0918-42A0-8CF2-2C6CBCE8BF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66DFEBD-2CFA-4E62-9093-F6FF709951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three Figures in order</a:t>
            </a:r>
          </a:p>
        </p:txBody>
      </p:sp>
      <p:sp>
        <p:nvSpPr>
          <p:cNvPr id="4" name="">
            <a:extLst xmlns:a="http://schemas.openxmlformats.org/drawingml/2006/main">
              <a:ext uri="{FF2B5EF4-FFF2-40B4-BE49-F238E27FC236}">
                <a16:creationId xmlns:a16="http://schemas.microsoft.com/office/drawing/2014/main" id="{01B0586D-F997-4EF0-80D7-981A00250EB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F03E77-1E49-4C6C-A88F-296A9FD20F3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FB080"/>
                </a:solidFill>
                <a:latin typeface="Courier New"/>
                <a:ea typeface="Courier New"/>
                <a:cs typeface="Courier New"/>
              </a:rPr>
              <a:t>def</a:t>
            </a:r>
            <a:r>
              <a:rPr sz="1990" b="0">
                <a:solidFill>
                  <a:srgbClr val="F4F7FA"/>
                </a:solidFill>
                <a:latin typeface="Courier New"/>
                <a:ea typeface="Courier New"/>
                <a:cs typeface="Courier New"/>
              </a:rPr>
              <a:t> revision_charts(records):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table = pd.DataFrame(records)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a:t>
            </a:r>
            <a:r>
              <a:rPr sz="1990" b="0">
                <a:solidFill>
                  <a:srgbClr val="FFB080"/>
                </a:solidFill>
                <a:latin typeface="Courier New"/>
                <a:ea typeface="Courier New"/>
                <a:cs typeface="Courier New"/>
              </a:rPr>
              <a:t>return</a:t>
            </a:r>
            <a:r>
              <a:rPr sz="1990" b="0">
                <a:solidFill>
                  <a:srgbClr val="F4F7FA"/>
                </a:solidFill>
                <a:latin typeface="Courier New"/>
                <a:ea typeface="Courier New"/>
                <a:cs typeface="Courier New"/>
              </a:rPr>
              <a:t> [revision_scatter(table),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revision_bars(table),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revision_histogram(table)]</a:t>
            </a:r>
          </a:p>
          <a:p xmlns:a="http://schemas.openxmlformats.org/drawingml/2006/main">
            <a:r>
              <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figures = revision_charts(cleaned_records)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6646CA4A-3669-4692-A197-2D1EC0E277D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9937212-8EC4-4BDE-B85F-E6FEBB93D3F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helper returns one real Figure.</a:t>
            </a:r>
          </a:p>
        </p:txBody>
      </p:sp>
      <p:sp>
        <p:nvSpPr>
          <p:cNvPr id="8" name="">
            <a:extLst xmlns:a="http://schemas.openxmlformats.org/drawingml/2006/main">
              <a:ext uri="{FF2B5EF4-FFF2-40B4-BE49-F238E27FC236}">
                <a16:creationId xmlns:a16="http://schemas.microsoft.com/office/drawing/2014/main" id="{3213C7A4-362F-4C78-8C45-37ACA36816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list holds scatter, bar and histogram Figures in that order.</a:t>
            </a:r>
          </a:p>
        </p:txBody>
      </p:sp>
      <p:sp>
        <p:nvSpPr>
          <p:cNvPr id="9" name="">
            <a:extLst xmlns:a="http://schemas.openxmlformats.org/drawingml/2006/main">
              <a:ext uri="{FF2B5EF4-FFF2-40B4-BE49-F238E27FC236}">
                <a16:creationId xmlns:a16="http://schemas.microsoft.com/office/drawing/2014/main" id="{AF70F451-89B9-475E-B5CB-160931C912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45</a:t>
            </a:r>
          </a:p>
        </p:txBody>
      </p:sp>
    </p:spTree>
    <p:extLst>
      <p:ext uri="{BB962C8B-B14F-4D97-AF65-F5344CB8AC3E}">
        <p14:creationId xmlns:p14="http://schemas.microsoft.com/office/powerpoint/2010/main" val="6669224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F4C330-6DAD-422A-B768-ABA7A79AB2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B67C83-7A89-4447-8E18-BE711A03E3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CB59D73-73AD-4C38-A450-190D6B0846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gap between group means</a:t>
            </a:r>
          </a:p>
        </p:txBody>
      </p:sp>
      <p:sp>
        <p:nvSpPr>
          <p:cNvPr id="4" name="">
            <a:extLst xmlns:a="http://schemas.openxmlformats.org/drawingml/2006/main">
              <a:ext uri="{FF2B5EF4-FFF2-40B4-BE49-F238E27FC236}">
                <a16:creationId xmlns:a16="http://schemas.microsoft.com/office/drawing/2014/main" id="{4EFCDD51-316D-461A-B8CC-76E5DC2092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719AA77-3795-4E5E-8E2C-9A823BC40DB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 gap is the largest group mean minus the smallest group mean.</a:t>
            </a:r>
          </a:p>
        </p:txBody>
      </p:sp>
      <p:sp>
        <p:nvSpPr>
          <p:cNvPr id="6" name="">
            <a:extLst xmlns:a="http://schemas.openxmlformats.org/drawingml/2006/main">
              <a:ext uri="{FF2B5EF4-FFF2-40B4-BE49-F238E27FC236}">
                <a16:creationId xmlns:a16="http://schemas.microsoft.com/office/drawing/2014/main" id="{1C5F9E6F-1065-40A4-A802-CEA76E73E86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059A048-3360-48BE-B0D7-FF00B73BF76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machine means are 15 and 35. The gap is 35 − 15 = 20.</a:t>
            </a:r>
          </a:p>
        </p:txBody>
      </p:sp>
      <p:sp>
        <p:nvSpPr>
          <p:cNvPr id="8" name="">
            <a:extLst xmlns:a="http://schemas.openxmlformats.org/drawingml/2006/main">
              <a:ext uri="{FF2B5EF4-FFF2-40B4-BE49-F238E27FC236}">
                <a16:creationId xmlns:a16="http://schemas.microsoft.com/office/drawing/2014/main" id="{5317D086-4F39-4B10-BB33-88D2A96006D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9E9BF20-0190-4E24-AA1B-ED755D5394C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differs from the individual target range: 40 − 10 = 30.</a:t>
            </a:r>
          </a:p>
        </p:txBody>
      </p:sp>
      <p:sp>
        <p:nvSpPr>
          <p:cNvPr id="10" name="">
            <a:extLst xmlns:a="http://schemas.openxmlformats.org/drawingml/2006/main">
              <a:ext uri="{FF2B5EF4-FFF2-40B4-BE49-F238E27FC236}">
                <a16:creationId xmlns:a16="http://schemas.microsoft.com/office/drawing/2014/main" id="{7FFAB1DD-A243-41EC-81D5-C83B5E5080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46</a:t>
            </a:r>
          </a:p>
        </p:txBody>
      </p:sp>
    </p:spTree>
    <p:extLst>
      <p:ext uri="{BB962C8B-B14F-4D97-AF65-F5344CB8AC3E}">
        <p14:creationId xmlns:p14="http://schemas.microsoft.com/office/powerpoint/2010/main" val="212012035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DBF426-3A6E-4585-A36B-386CA6361B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65FCE3-43FC-4363-B4DB-F83BFE5EB3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F555728-6C2D-421D-A8D4-E049054E40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the group gap</a:t>
            </a:r>
          </a:p>
        </p:txBody>
      </p:sp>
      <p:sp>
        <p:nvSpPr>
          <p:cNvPr id="4" name="">
            <a:extLst xmlns:a="http://schemas.openxmlformats.org/drawingml/2006/main">
              <a:ext uri="{FF2B5EF4-FFF2-40B4-BE49-F238E27FC236}">
                <a16:creationId xmlns:a16="http://schemas.microsoft.com/office/drawing/2014/main" id="{9259CC41-CCC3-4A38-9C5D-9152E52476A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5BF176-BAAF-4B52-99CE-C0866CB5A50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table = pd.DataFrame(cleaned_records)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means = table.groupby("machine")["target"].mean()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gap = float(means.max() - means.min())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print(gap)</a:t>
            </a:r>
          </a:p>
        </p:txBody>
      </p:sp>
      <p:sp>
        <p:nvSpPr>
          <p:cNvPr id="6" name="">
            <a:extLst xmlns:a="http://schemas.openxmlformats.org/drawingml/2006/main">
              <a:ext uri="{FF2B5EF4-FFF2-40B4-BE49-F238E27FC236}">
                <a16:creationId xmlns:a16="http://schemas.microsoft.com/office/drawing/2014/main" id="{3D143E4E-0215-4B73-9970-62BDB8ACA8C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max and min operate on group means here.</a:t>
            </a:r>
          </a:p>
        </p:txBody>
      </p:sp>
      <p:sp>
        <p:nvSpPr>
          <p:cNvPr id="7" name="">
            <a:extLst xmlns:a="http://schemas.openxmlformats.org/drawingml/2006/main">
              <a:ext uri="{FF2B5EF4-FFF2-40B4-BE49-F238E27FC236}">
                <a16:creationId xmlns:a16="http://schemas.microsoft.com/office/drawing/2014/main" id="{DD29E565-1581-4BBF-A6B7-62D6E56363E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group gap 20.0 °C.</a:t>
            </a:r>
          </a:p>
        </p:txBody>
      </p:sp>
      <p:sp>
        <p:nvSpPr>
          <p:cNvPr id="8" name="">
            <a:extLst xmlns:a="http://schemas.openxmlformats.org/drawingml/2006/main">
              <a:ext uri="{FF2B5EF4-FFF2-40B4-BE49-F238E27FC236}">
                <a16:creationId xmlns:a16="http://schemas.microsoft.com/office/drawing/2014/main" id="{68AA4A41-2360-4FD5-A9EF-6B4EC70C04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47</a:t>
            </a:r>
          </a:p>
        </p:txBody>
      </p:sp>
    </p:spTree>
    <p:extLst>
      <p:ext uri="{BB962C8B-B14F-4D97-AF65-F5344CB8AC3E}">
        <p14:creationId xmlns:p14="http://schemas.microsoft.com/office/powerpoint/2010/main" val="113615825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C27AEE-D406-4D82-8B03-8B669734BB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E213FD-B5D9-4485-B48C-87316B4B21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79BBC3C-9974-41FB-91F9-A053AB4F9F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finding contains a value and a unit</a:t>
            </a:r>
          </a:p>
        </p:txBody>
      </p:sp>
      <p:sp>
        <p:nvSpPr>
          <p:cNvPr id="4" name="">
            <a:extLst xmlns:a="http://schemas.openxmlformats.org/drawingml/2006/main">
              <a:ext uri="{FF2B5EF4-FFF2-40B4-BE49-F238E27FC236}">
                <a16:creationId xmlns:a16="http://schemas.microsoft.com/office/drawing/2014/main" id="{4FA51639-3379-4070-8B32-FDAAA88ED4A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5F9CB06-BBEE-4BCA-8765-EF9A76AC558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finding is a small dictionary, for example {"value": 25.0, "unit": "°C"}.</a:t>
            </a:r>
          </a:p>
        </p:txBody>
      </p:sp>
      <p:sp>
        <p:nvSpPr>
          <p:cNvPr id="6" name="">
            <a:extLst xmlns:a="http://schemas.openxmlformats.org/drawingml/2006/main">
              <a:ext uri="{FF2B5EF4-FFF2-40B4-BE49-F238E27FC236}">
                <a16:creationId xmlns:a16="http://schemas.microsoft.com/office/drawing/2014/main" id="{000B2783-9F79-4050-AA28-6D495AC9E51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F856E08-674F-4D51-A60A-C91D2374F45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outer dictionary names the finding. The inner dictionary stores its number and unit.</a:t>
            </a:r>
          </a:p>
        </p:txBody>
      </p:sp>
      <p:sp>
        <p:nvSpPr>
          <p:cNvPr id="8" name="">
            <a:extLst xmlns:a="http://schemas.openxmlformats.org/drawingml/2006/main">
              <a:ext uri="{FF2B5EF4-FFF2-40B4-BE49-F238E27FC236}">
                <a16:creationId xmlns:a16="http://schemas.microsoft.com/office/drawing/2014/main" id="{F117738D-01AA-4DC0-B0D6-AFBF76E2D11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36E2FD8-6ACF-4F88-BA67-A4CE2418168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observations for count. Use the target unit for mean, minimum, maximum and group_gap.</a:t>
            </a:r>
          </a:p>
        </p:txBody>
      </p:sp>
      <p:sp>
        <p:nvSpPr>
          <p:cNvPr id="10" name="">
            <a:extLst xmlns:a="http://schemas.openxmlformats.org/drawingml/2006/main">
              <a:ext uri="{FF2B5EF4-FFF2-40B4-BE49-F238E27FC236}">
                <a16:creationId xmlns:a16="http://schemas.microsoft.com/office/drawing/2014/main" id="{EEF4C9F2-54AE-4DE3-9632-A5B844F2B7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48</a:t>
            </a:r>
          </a:p>
        </p:txBody>
      </p:sp>
    </p:spTree>
    <p:extLst>
      <p:ext uri="{BB962C8B-B14F-4D97-AF65-F5344CB8AC3E}">
        <p14:creationId xmlns:p14="http://schemas.microsoft.com/office/powerpoint/2010/main" val="161849593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487280-A261-4B3E-A958-2EF08E31CE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D1E117-20CC-4D29-9506-077278DF66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1B8FB86-4DC6-4A5A-BE78-F2B49C82E2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a value with its unit</a:t>
            </a:r>
          </a:p>
        </p:txBody>
      </p:sp>
      <p:sp>
        <p:nvSpPr>
          <p:cNvPr id="4" name="">
            <a:extLst xmlns:a="http://schemas.openxmlformats.org/drawingml/2006/main">
              <a:ext uri="{FF2B5EF4-FFF2-40B4-BE49-F238E27FC236}">
                <a16:creationId xmlns:a16="http://schemas.microsoft.com/office/drawing/2014/main" id="{1DA5231A-8195-4A99-AFF6-7919A165D87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9A78E6-63D9-45E0-87F6-8BE21452389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FB080"/>
                </a:solidFill>
                <a:latin typeface="Courier New"/>
                <a:ea typeface="Courier New"/>
                <a:cs typeface="Courier New"/>
              </a:rPr>
              <a:t>def</a:t>
            </a:r>
            <a:r>
              <a:rPr sz="2039" b="0">
                <a:solidFill>
                  <a:srgbClr val="F4F7FA"/>
                </a:solidFill>
                <a:latin typeface="Courier New"/>
                <a:ea typeface="Courier New"/>
                <a:cs typeface="Courier New"/>
              </a:rPr>
              <a:t> with_unit(value, unit):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a:t>
            </a:r>
            <a:r>
              <a:rPr sz="2039" b="0">
                <a:solidFill>
                  <a:srgbClr val="FFB080"/>
                </a:solidFill>
                <a:latin typeface="Courier New"/>
                <a:ea typeface="Courier New"/>
                <a:cs typeface="Courier New"/>
              </a:rPr>
              <a:t>return</a:t>
            </a:r>
            <a:r>
              <a:rPr sz="2039" b="0">
                <a:solidFill>
                  <a:srgbClr val="F4F7FA"/>
                </a:solidFill>
                <a:latin typeface="Courier New"/>
                <a:ea typeface="Courier New"/>
                <a:cs typeface="Courier New"/>
              </a:rPr>
              <a:t> {"value": value, "unit": unit}</a:t>
            </a:r>
          </a:p>
          <a:p xmlns:a="http://schemas.openxmlformats.org/drawingml/2006/main">
            <a:r>
              <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example = with_unit(25.0, "°C")</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print(example["value"], example["unit"])</a:t>
            </a:r>
          </a:p>
        </p:txBody>
      </p:sp>
      <p:sp>
        <p:nvSpPr>
          <p:cNvPr id="6" name="">
            <a:extLst xmlns:a="http://schemas.openxmlformats.org/drawingml/2006/main">
              <a:ext uri="{FF2B5EF4-FFF2-40B4-BE49-F238E27FC236}">
                <a16:creationId xmlns:a16="http://schemas.microsoft.com/office/drawing/2014/main" id="{DFAD24DC-903C-4101-94D7-B2391750816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7B51E98-6879-4791-9DA6-59B919B9626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function returns one inner dictionary.</a:t>
            </a:r>
          </a:p>
        </p:txBody>
      </p:sp>
      <p:sp>
        <p:nvSpPr>
          <p:cNvPr id="8" name="">
            <a:extLst xmlns:a="http://schemas.openxmlformats.org/drawingml/2006/main">
              <a:ext uri="{FF2B5EF4-FFF2-40B4-BE49-F238E27FC236}">
                <a16:creationId xmlns:a16="http://schemas.microsoft.com/office/drawing/2014/main" id="{EAC7FB80-DD2D-416E-A69D-CB96B7BF54B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25.0 °C.</a:t>
            </a:r>
          </a:p>
        </p:txBody>
      </p:sp>
      <p:sp>
        <p:nvSpPr>
          <p:cNvPr id="9" name="">
            <a:extLst xmlns:a="http://schemas.openxmlformats.org/drawingml/2006/main">
              <a:ext uri="{FF2B5EF4-FFF2-40B4-BE49-F238E27FC236}">
                <a16:creationId xmlns:a16="http://schemas.microsoft.com/office/drawing/2014/main" id="{830FCC3D-2D54-4F0A-850A-A2473A58B9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49</a:t>
            </a:r>
          </a:p>
        </p:txBody>
      </p:sp>
    </p:spTree>
    <p:extLst>
      <p:ext uri="{BB962C8B-B14F-4D97-AF65-F5344CB8AC3E}">
        <p14:creationId xmlns:p14="http://schemas.microsoft.com/office/powerpoint/2010/main" val="73412583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AFD05C-11FF-49CD-A466-1715D154C4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64D264-B9F3-4C7B-BFE6-1150AF977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EFF34DA-670C-4F11-8032-290E04EFAE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five practice findings</a:t>
            </a:r>
          </a:p>
        </p:txBody>
      </p:sp>
      <p:sp>
        <p:nvSpPr>
          <p:cNvPr id="4" name="">
            <a:extLst xmlns:a="http://schemas.openxmlformats.org/drawingml/2006/main">
              <a:ext uri="{FF2B5EF4-FFF2-40B4-BE49-F238E27FC236}">
                <a16:creationId xmlns:a16="http://schemas.microsoft.com/office/drawing/2014/main" id="{DE170790-1CF2-40CC-9059-DB616E0E6FB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20E961-5641-414C-B1F6-33508EE4828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revision_findings(records):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result =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pd.Series(result["group_means"])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gap = float(means.max() - means.min())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unit =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with_unit(result["count"], "observations"),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with_unit(result["mean"],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with_unit(result["minimum"],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with_unit(result["maximum"],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"group_gap": with_unit(gap, unit)}</a:t>
            </a:r>
          </a:p>
        </p:txBody>
      </p:sp>
      <p:sp>
        <p:nvSpPr>
          <p:cNvPr id="6" name="">
            <a:extLst xmlns:a="http://schemas.openxmlformats.org/drawingml/2006/main">
              <a:ext uri="{FF2B5EF4-FFF2-40B4-BE49-F238E27FC236}">
                <a16:creationId xmlns:a16="http://schemas.microsoft.com/office/drawing/2014/main" id="{01FFA59B-416B-43A4-8A9D-244622D146E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count has a different unit.</a:t>
            </a:r>
          </a:p>
        </p:txBody>
      </p:sp>
      <p:sp>
        <p:nvSpPr>
          <p:cNvPr id="7" name="">
            <a:extLst xmlns:a="http://schemas.openxmlformats.org/drawingml/2006/main">
              <a:ext uri="{FF2B5EF4-FFF2-40B4-BE49-F238E27FC236}">
                <a16:creationId xmlns:a16="http://schemas.microsoft.com/office/drawing/2014/main" id="{EE48D0E0-381D-4219-9977-0DEEDA838CE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five findings, each containing value and unit.</a:t>
            </a:r>
          </a:p>
        </p:txBody>
      </p:sp>
      <p:sp>
        <p:nvSpPr>
          <p:cNvPr id="8" name="">
            <a:extLst xmlns:a="http://schemas.openxmlformats.org/drawingml/2006/main">
              <a:ext uri="{FF2B5EF4-FFF2-40B4-BE49-F238E27FC236}">
                <a16:creationId xmlns:a16="http://schemas.microsoft.com/office/drawing/2014/main" id="{E24E1943-F0B7-4482-9922-2025BBD7F4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50</a:t>
            </a:r>
          </a:p>
        </p:txBody>
      </p:sp>
    </p:spTree>
    <p:extLst>
      <p:ext uri="{BB962C8B-B14F-4D97-AF65-F5344CB8AC3E}">
        <p14:creationId xmlns:p14="http://schemas.microsoft.com/office/powerpoint/2010/main" val="199619490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882A18-A111-4340-BE66-EAEA4404BB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E7582C-A6A8-4097-8B96-12E8787E04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DFAFE5-E3D2-4FCA-AC00-9ECF1A5B1A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the returned findings</a:t>
            </a:r>
          </a:p>
        </p:txBody>
      </p:sp>
      <p:sp>
        <p:nvSpPr>
          <p:cNvPr id="4" name="">
            <a:extLst xmlns:a="http://schemas.openxmlformats.org/drawingml/2006/main">
              <a:ext uri="{FF2B5EF4-FFF2-40B4-BE49-F238E27FC236}">
                <a16:creationId xmlns:a16="http://schemas.microsoft.com/office/drawing/2014/main" id="{CE376C1C-BBAA-439E-AFBF-E0F5A3925AD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92CE54-BA95-4D5C-9FA3-7E79F973BD2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findings = revision_findings(cleaned_records)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print(findings["group_gap"])</a:t>
            </a:r>
          </a:p>
        </p:txBody>
      </p:sp>
      <p:sp>
        <p:nvSpPr>
          <p:cNvPr id="6" name="">
            <a:extLst xmlns:a="http://schemas.openxmlformats.org/drawingml/2006/main">
              <a:ext uri="{FF2B5EF4-FFF2-40B4-BE49-F238E27FC236}">
                <a16:creationId xmlns:a16="http://schemas.microsoft.com/office/drawing/2014/main" id="{C10D4D2C-7559-47B0-BCA4-A4F3FF6A60F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Two keys reach a nested value.</a:t>
            </a:r>
          </a:p>
        </p:txBody>
      </p:sp>
      <p:sp>
        <p:nvSpPr>
          <p:cNvPr id="7" name="">
            <a:extLst xmlns:a="http://schemas.openxmlformats.org/drawingml/2006/main">
              <a:ext uri="{FF2B5EF4-FFF2-40B4-BE49-F238E27FC236}">
                <a16:creationId xmlns:a16="http://schemas.microsoft.com/office/drawing/2014/main" id="{4BD44651-BDEC-4EE9-9183-27DECF94250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values: count 4, mean 25.0, group gap 20.0.</a:t>
            </a:r>
          </a:p>
        </p:txBody>
      </p:sp>
      <p:sp>
        <p:nvSpPr>
          <p:cNvPr id="8" name="">
            <a:extLst xmlns:a="http://schemas.openxmlformats.org/drawingml/2006/main">
              <a:ext uri="{FF2B5EF4-FFF2-40B4-BE49-F238E27FC236}">
                <a16:creationId xmlns:a16="http://schemas.microsoft.com/office/drawing/2014/main" id="{C05B7480-E0E6-4F4B-AB4B-5FFB747A5C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51</a:t>
            </a:r>
          </a:p>
        </p:txBody>
      </p:sp>
    </p:spTree>
    <p:extLst>
      <p:ext uri="{BB962C8B-B14F-4D97-AF65-F5344CB8AC3E}">
        <p14:creationId xmlns:p14="http://schemas.microsoft.com/office/powerpoint/2010/main" val="127766492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91596E-42E4-454F-8088-3F4B01CB94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0C6090-92EA-4947-81C3-8B3EB667E6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99C8380-DBAE-4CEE-A1F8-82D7778797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another input to your functions</a:t>
            </a:r>
          </a:p>
        </p:txBody>
      </p:sp>
      <p:sp>
        <p:nvSpPr>
          <p:cNvPr id="4" name="">
            <a:extLst xmlns:a="http://schemas.openxmlformats.org/drawingml/2006/main">
              <a:ext uri="{FF2B5EF4-FFF2-40B4-BE49-F238E27FC236}">
                <a16:creationId xmlns:a16="http://schemas.microsoft.com/office/drawing/2014/main" id="{759D712C-D2CC-45C0-9805-845F33C9C32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E9A09F1-3CE7-45C3-B9C5-FB363154A00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original_records[:2] to select the first two original records. Clean this smaller input.</a:t>
            </a:r>
          </a:p>
        </p:txBody>
      </p:sp>
      <p:sp>
        <p:nvSpPr>
          <p:cNvPr id="6" name="">
            <a:extLst xmlns:a="http://schemas.openxmlformats.org/drawingml/2006/main">
              <a:ext uri="{FF2B5EF4-FFF2-40B4-BE49-F238E27FC236}">
                <a16:creationId xmlns:a16="http://schemas.microsoft.com/office/drawing/2014/main" id="{7B1AAF7C-6C06-4A55-99C8-79A36CE574E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8DCDF64-6AD6-46B9-9739-FD2F0427A67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 your summary, charts and findings functions on that result.</a:t>
            </a:r>
          </a:p>
        </p:txBody>
      </p:sp>
      <p:sp>
        <p:nvSpPr>
          <p:cNvPr id="8" name="">
            <a:extLst xmlns:a="http://schemas.openxmlformats.org/drawingml/2006/main">
              <a:ext uri="{FF2B5EF4-FFF2-40B4-BE49-F238E27FC236}">
                <a16:creationId xmlns:a16="http://schemas.microsoft.com/office/drawing/2014/main" id="{1A09E748-F97E-48D2-A179-6BC48F0DEE2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00B92BE-A9F7-4F66-9ED5-C1108E13F02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 the retained count, mean and group gap before running.</a:t>
            </a:r>
          </a:p>
        </p:txBody>
      </p:sp>
      <p:sp>
        <p:nvSpPr>
          <p:cNvPr id="10" name="">
            <a:extLst xmlns:a="http://schemas.openxmlformats.org/drawingml/2006/main">
              <a:ext uri="{FF2B5EF4-FFF2-40B4-BE49-F238E27FC236}">
                <a16:creationId xmlns:a16="http://schemas.microsoft.com/office/drawing/2014/main" id="{D379AC01-0A44-4E7F-9B71-5DEF350997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52</a:t>
            </a:r>
          </a:p>
        </p:txBody>
      </p:sp>
    </p:spTree>
    <p:extLst>
      <p:ext uri="{BB962C8B-B14F-4D97-AF65-F5344CB8AC3E}">
        <p14:creationId xmlns:p14="http://schemas.microsoft.com/office/powerpoint/2010/main" val="10878540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EEBB17-E83F-42E2-9650-FCBCB0E5C2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38ABAB-944D-4101-87F3-A2C5C84A36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DD78788-F949-40B5-97AA-ED5EF2DA63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36490307-D044-4600-9C47-72B24751F69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0504D2-6A0F-4BE0-9049-AA6274C5479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two input records have unique IDs, known targets and valid loads. Both remain.</a:t>
            </a:r>
          </a:p>
        </p:txBody>
      </p:sp>
      <p:sp>
        <p:nvSpPr>
          <p:cNvPr id="6" name="">
            <a:extLst xmlns:a="http://schemas.openxmlformats.org/drawingml/2006/main">
              <a:ext uri="{FF2B5EF4-FFF2-40B4-BE49-F238E27FC236}">
                <a16:creationId xmlns:a16="http://schemas.microsoft.com/office/drawing/2014/main" id="{EFE4DD92-4288-4955-BD0B-4E72FE7F1EC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7260900-0F6D-41BE-B5C4-1B9833F0835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target: 15. Only M1 remains, so group gap is 0. The missing ambient value becomes 20.</a:t>
            </a:r>
          </a:p>
        </p:txBody>
      </p:sp>
      <p:sp>
        <p:nvSpPr>
          <p:cNvPr id="8" name="">
            <a:extLst xmlns:a="http://schemas.openxmlformats.org/drawingml/2006/main">
              <a:ext uri="{FF2B5EF4-FFF2-40B4-BE49-F238E27FC236}">
                <a16:creationId xmlns:a16="http://schemas.microsoft.com/office/drawing/2014/main" id="{813A6827-9631-43AF-84E3-4B96C8FDBCF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A9CD03-6BC8-4F16-89DF-9F132FDCE61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functions calculate from the supplied argument, even when its length changes.</a:t>
            </a:r>
          </a:p>
        </p:txBody>
      </p:sp>
      <p:sp>
        <p:nvSpPr>
          <p:cNvPr id="10" name="">
            <a:extLst xmlns:a="http://schemas.openxmlformats.org/drawingml/2006/main">
              <a:ext uri="{FF2B5EF4-FFF2-40B4-BE49-F238E27FC236}">
                <a16:creationId xmlns:a16="http://schemas.microsoft.com/office/drawing/2014/main" id="{DBE50F1B-7D62-48A7-AE19-0AFA68A0ED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53</a:t>
            </a:r>
          </a:p>
        </p:txBody>
      </p:sp>
    </p:spTree>
    <p:extLst>
      <p:ext uri="{BB962C8B-B14F-4D97-AF65-F5344CB8AC3E}">
        <p14:creationId xmlns:p14="http://schemas.microsoft.com/office/powerpoint/2010/main" val="48281603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7EB03F-89ED-4F4F-B765-6FE9E6125E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034A89-F552-45EC-A637-E314BA3333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0F67E69-4732-4FA2-A4F2-E5D979678B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a filled value can and cannot tell us</a:t>
            </a:r>
          </a:p>
        </p:txBody>
      </p:sp>
      <p:sp>
        <p:nvSpPr>
          <p:cNvPr id="4" name="">
            <a:extLst xmlns:a="http://schemas.openxmlformats.org/drawingml/2006/main">
              <a:ext uri="{FF2B5EF4-FFF2-40B4-BE49-F238E27FC236}">
                <a16:creationId xmlns:a16="http://schemas.microsoft.com/office/drawing/2014/main" id="{69E1BF13-39F9-451F-8BA7-F11985EC43C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1BE6FF-2263-4879-ACA6-5CCF68051F8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median replacement is an estimate, not a recovered measurement. It can change summaries and patterns.</a:t>
            </a:r>
          </a:p>
        </p:txBody>
      </p:sp>
      <p:sp>
        <p:nvSpPr>
          <p:cNvPr id="6" name="">
            <a:extLst xmlns:a="http://schemas.openxmlformats.org/drawingml/2006/main">
              <a:ext uri="{FF2B5EF4-FFF2-40B4-BE49-F238E27FC236}">
                <a16:creationId xmlns:a16="http://schemas.microsoft.com/office/drawing/2014/main" id="{66D8C927-00B8-429D-B386-95BF1661EA8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E0981E1-2C74-48EB-804E-63963FF555D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data and state the replacement rule.</a:t>
            </a:r>
          </a:p>
        </p:txBody>
      </p:sp>
      <p:sp>
        <p:nvSpPr>
          <p:cNvPr id="8" name="">
            <a:extLst xmlns:a="http://schemas.openxmlformats.org/drawingml/2006/main">
              <a:ext uri="{FF2B5EF4-FFF2-40B4-BE49-F238E27FC236}">
                <a16:creationId xmlns:a16="http://schemas.microsoft.com/office/drawing/2014/main" id="{3ADD3BA0-F466-40EC-B577-3A4C597D153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7FF3C50-9557-4AF9-8BA6-9572EA104FF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pattern in synthetic practice data does not establish real equipment performance.</a:t>
            </a:r>
          </a:p>
        </p:txBody>
      </p:sp>
      <p:sp>
        <p:nvSpPr>
          <p:cNvPr id="10" name="">
            <a:extLst xmlns:a="http://schemas.openxmlformats.org/drawingml/2006/main">
              <a:ext uri="{FF2B5EF4-FFF2-40B4-BE49-F238E27FC236}">
                <a16:creationId xmlns:a16="http://schemas.microsoft.com/office/drawing/2014/main" id="{D7A2F971-2FF4-4585-A943-064D92EF28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54</a:t>
            </a:r>
          </a:p>
        </p:txBody>
      </p:sp>
    </p:spTree>
    <p:extLst>
      <p:ext uri="{BB962C8B-B14F-4D97-AF65-F5344CB8AC3E}">
        <p14:creationId xmlns:p14="http://schemas.microsoft.com/office/powerpoint/2010/main" val="180911831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59E53C-FB59-44EB-A9EF-2B91F2EC81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BEFFEC-87AE-41D7-8CD7-4C30FB26750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995F080-EF1B-4FD4-A5DF-1A229C7138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identifier is not a clock</a:t>
            </a:r>
          </a:p>
        </p:txBody>
      </p:sp>
      <p:sp>
        <p:nvSpPr>
          <p:cNvPr id="4" name="">
            <a:extLst xmlns:a="http://schemas.openxmlformats.org/drawingml/2006/main">
              <a:ext uri="{FF2B5EF4-FFF2-40B4-BE49-F238E27FC236}">
                <a16:creationId xmlns:a16="http://schemas.microsoft.com/office/drawing/2014/main" id="{8D8AF4D8-46CF-4C01-B09B-3B669821D2B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C9ADCFC-E366-46C1-B4E3-1A4F7394334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and record_id identify observations. Their numbers do not tell us elapsed time.</a:t>
            </a:r>
          </a:p>
        </p:txBody>
      </p:sp>
      <p:sp>
        <p:nvSpPr>
          <p:cNvPr id="6" name="">
            <a:extLst xmlns:a="http://schemas.openxmlformats.org/drawingml/2006/main">
              <a:ext uri="{FF2B5EF4-FFF2-40B4-BE49-F238E27FC236}">
                <a16:creationId xmlns:a16="http://schemas.microsoft.com/office/drawing/2014/main" id="{2052A54E-9109-4FDC-8BAF-2021B1FA7F4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FB8122-756A-4CBA-B9F3-CC68B82E3EA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time trend needs an actual timestamp or a documented time sequence.</a:t>
            </a:r>
          </a:p>
        </p:txBody>
      </p:sp>
      <p:sp>
        <p:nvSpPr>
          <p:cNvPr id="8" name="">
            <a:extLst xmlns:a="http://schemas.openxmlformats.org/drawingml/2006/main">
              <a:ext uri="{FF2B5EF4-FFF2-40B4-BE49-F238E27FC236}">
                <a16:creationId xmlns:a16="http://schemas.microsoft.com/office/drawing/2014/main" id="{EB0B5C76-F9B5-40FE-876C-CFCDF00FF58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40300EA-A4B5-4AB0-9126-045D5E20DE4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equipment mean describes the observed sample. Investigate representative measured data before making operational decisions.</a:t>
            </a:r>
          </a:p>
        </p:txBody>
      </p:sp>
      <p:sp>
        <p:nvSpPr>
          <p:cNvPr id="10" name="">
            <a:extLst xmlns:a="http://schemas.openxmlformats.org/drawingml/2006/main">
              <a:ext uri="{FF2B5EF4-FFF2-40B4-BE49-F238E27FC236}">
                <a16:creationId xmlns:a16="http://schemas.microsoft.com/office/drawing/2014/main" id="{EB3A5759-223E-4D86-9F38-C334FF559F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55</a:t>
            </a:r>
          </a:p>
        </p:txBody>
      </p:sp>
    </p:spTree>
    <p:extLst>
      <p:ext uri="{BB962C8B-B14F-4D97-AF65-F5344CB8AC3E}">
        <p14:creationId xmlns:p14="http://schemas.microsoft.com/office/powerpoint/2010/main" val="14291481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777F58-34DA-4FDD-B4BD-A2DFB543CC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D38EC9-5496-42CE-B92F-38DED1D339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F020FAD-14CC-4CB9-8016-14EF350009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1 revision checklist</a:t>
            </a:r>
          </a:p>
        </p:txBody>
      </p:sp>
      <p:sp>
        <p:nvSpPr>
          <p:cNvPr id="4" name="">
            <a:extLst xmlns:a="http://schemas.openxmlformats.org/drawingml/2006/main">
              <a:ext uri="{FF2B5EF4-FFF2-40B4-BE49-F238E27FC236}">
                <a16:creationId xmlns:a16="http://schemas.microsoft.com/office/drawing/2014/main" id="{0272CE41-FA74-45DF-AF4F-05B69599B0B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93C7562-1898-4C05-8615-27CAF5508CA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and clean the CSV, then return records without changing the input.</a:t>
            </a:r>
          </a:p>
        </p:txBody>
      </p:sp>
      <p:sp>
        <p:nvSpPr>
          <p:cNvPr id="6" name="">
            <a:extLst xmlns:a="http://schemas.openxmlformats.org/drawingml/2006/main">
              <a:ext uri="{FF2B5EF4-FFF2-40B4-BE49-F238E27FC236}">
                <a16:creationId xmlns:a16="http://schemas.microsoft.com/office/drawing/2014/main" id="{29D4C8FB-135A-4082-8649-C8DDF06F973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948F4B1-3A5F-4151-8CC9-5CB059E9997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a summary dictionary, three Figure objects and five findings with units. Check the practice outputs.</a:t>
            </a:r>
          </a:p>
        </p:txBody>
      </p:sp>
      <p:sp>
        <p:nvSpPr>
          <p:cNvPr id="8" name="">
            <a:extLst xmlns:a="http://schemas.openxmlformats.org/drawingml/2006/main">
              <a:ext uri="{FF2B5EF4-FFF2-40B4-BE49-F238E27FC236}">
                <a16:creationId xmlns:a16="http://schemas.microsoft.com/office/drawing/2014/main" id="{2BA860BF-3801-4EBE-972D-D4DA5967FD1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BE8F31-BBCF-41F2-A8D0-41A14A5522D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limits of imputation, the difference between association and cause, and why an identifier is not time.</a:t>
            </a:r>
          </a:p>
        </p:txBody>
      </p:sp>
      <p:sp>
        <p:nvSpPr>
          <p:cNvPr id="10" name="">
            <a:extLst xmlns:a="http://schemas.openxmlformats.org/drawingml/2006/main">
              <a:ext uri="{FF2B5EF4-FFF2-40B4-BE49-F238E27FC236}">
                <a16:creationId xmlns:a16="http://schemas.microsoft.com/office/drawing/2014/main" id="{5BA02B43-62C0-4FBE-922D-99237E588C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56</a:t>
            </a:r>
          </a:p>
        </p:txBody>
      </p:sp>
    </p:spTree>
    <p:extLst>
      <p:ext uri="{BB962C8B-B14F-4D97-AF65-F5344CB8AC3E}">
        <p14:creationId xmlns:p14="http://schemas.microsoft.com/office/powerpoint/2010/main" val="76585308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167979-A9B3-4823-9FF8-13F8EB7397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57C38F-F5E7-4EDE-BF6F-67339CE8F0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798B863-7162-4FAA-8207-44CC3B0FA3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9A2B4B58-6FDE-4790-9E07-1EA19680E6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022A5B4-5E17-4DBC-B990-1D90DFF803C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FDF4B2CB-FAE7-4459-839B-211892190EA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37C8B44-984F-431B-9D5C-6656267FEC6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DBC145C7-2258-4889-A69B-7D930B5C5E3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2242860-68C3-47BB-B2BA-71D435D0AEE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06088F92-442B-415F-8598-BE7804C5A2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57</a:t>
            </a:r>
          </a:p>
        </p:txBody>
      </p:sp>
    </p:spTree>
    <p:extLst>
      <p:ext uri="{BB962C8B-B14F-4D97-AF65-F5344CB8AC3E}">
        <p14:creationId xmlns:p14="http://schemas.microsoft.com/office/powerpoint/2010/main" val="164555918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519D08-A970-419B-8DF4-5F083A1160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45C2A1-0A11-4DFC-A949-AF854CF0E8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A8B6245-6EE9-42F2-9C26-3B98992A9D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9DFBE4C2-9D23-423C-BFB0-D7E008BD2A0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95BA43-818C-446E-AE99-09CA730BCBF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DECISIONS = {"practice":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526D312F-DD60-4012-941C-D2EC67D75CB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416B15F-6690-4EDE-9944-A53D7354177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"practice" is a question identifier.</a:t>
            </a:r>
          </a:p>
        </p:txBody>
      </p:sp>
      <p:sp>
        <p:nvSpPr>
          <p:cNvPr id="8" name="">
            <a:extLst xmlns:a="http://schemas.openxmlformats.org/drawingml/2006/main">
              <a:ext uri="{FF2B5EF4-FFF2-40B4-BE49-F238E27FC236}">
                <a16:creationId xmlns:a16="http://schemas.microsoft.com/office/drawing/2014/main" id="{3552AA29-5098-4407-A148-3F7F0126C9E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 is that question’s selected option.</a:t>
            </a:r>
          </a:p>
        </p:txBody>
      </p:sp>
      <p:sp>
        <p:nvSpPr>
          <p:cNvPr id="9" name="">
            <a:extLst xmlns:a="http://schemas.openxmlformats.org/drawingml/2006/main">
              <a:ext uri="{FF2B5EF4-FFF2-40B4-BE49-F238E27FC236}">
                <a16:creationId xmlns:a16="http://schemas.microsoft.com/office/drawing/2014/main" id="{CC85AC48-AE16-406F-B90D-1703976A973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Syntax example only: B represents a chosen option, not a test version.</a:t>
            </a:r>
          </a:p>
        </p:txBody>
      </p:sp>
      <p:sp>
        <p:nvSpPr>
          <p:cNvPr id="10" name="">
            <a:extLst xmlns:a="http://schemas.openxmlformats.org/drawingml/2006/main">
              <a:ext uri="{FF2B5EF4-FFF2-40B4-BE49-F238E27FC236}">
                <a16:creationId xmlns:a16="http://schemas.microsoft.com/office/drawing/2014/main" id="{F912C491-B0FE-42E0-9287-F82590DF75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58</a:t>
            </a:r>
          </a:p>
        </p:txBody>
      </p:sp>
    </p:spTree>
    <p:extLst>
      <p:ext uri="{BB962C8B-B14F-4D97-AF65-F5344CB8AC3E}">
        <p14:creationId xmlns:p14="http://schemas.microsoft.com/office/powerpoint/2010/main" val="201936036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355471-E41B-4892-8BA6-8F59AD8DC1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071908-7471-4792-BE12-D83583C84A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C809498-5D25-4CAF-8023-6661D0DB5B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27051F1A-B870-45CC-9CC3-BFC413D0DE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F99069-DCB3-4ECB-AB91-E66C7BA271B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2678B481-B9DD-495C-A791-4C82500D436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FAF9511-AA0E-4FBD-B804-5C364C817AE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32C615CD-CCCB-487B-BF8B-45710C08E75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F1D3B6D-2099-4FFF-9CE2-2563CC6319B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a:t>
            </a:r>
          </a:p>
        </p:txBody>
      </p:sp>
      <p:sp>
        <p:nvSpPr>
          <p:cNvPr id="10" name="">
            <a:extLst xmlns:a="http://schemas.openxmlformats.org/drawingml/2006/main">
              <a:ext uri="{FF2B5EF4-FFF2-40B4-BE49-F238E27FC236}">
                <a16:creationId xmlns:a16="http://schemas.microsoft.com/office/drawing/2014/main" id="{372DE5ED-6633-4EF2-93B2-723A976D0F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59</a:t>
            </a:r>
          </a:p>
        </p:txBody>
      </p:sp>
    </p:spTree>
    <p:extLst>
      <p:ext uri="{BB962C8B-B14F-4D97-AF65-F5344CB8AC3E}">
        <p14:creationId xmlns:p14="http://schemas.microsoft.com/office/powerpoint/2010/main" val="48470222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62687E-3B0C-4F60-BA83-FDEA0772A4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8FE354-1E3D-4029-B7CE-C013A93152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76446D46-D94D-4AA1-AE67-96A333D947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1928BEBC-0378-4E04-A8B3-81CB4C26635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52884BD-4891-4641-A2FC-BA947FDC91DA}"/>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8967B8CB-5174-4406-B7CC-54EABE17439F}"/>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E1FD879-CCB8-4175-8530-5C335A7DC325}"/>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12284D04-F56C-4442-A890-AB99857865B4}"/>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8D091C-C0F6-45B1-859B-0E546BC65FB1}"/>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D437AFB1-5EE6-46DA-8A25-0ACF0B388E0A}"/>
              </a:ext>
            </a:extLst>
          </p:cNvPr>
          <p:cNvPicPr>
            <a:picLocks xmlns:a="http://schemas.openxmlformats.org/drawingml/2006/main" noChangeAspect="1"/>
          </p:cNvPicPr>
          <p:nvPr/>
        </p:nvPicPr>
        <p:blipFill>
          <a:blip xmlns:r="http://schemas.openxmlformats.org/officeDocument/2006/relationships" xmlns:a="http://schemas.openxmlformats.org/drawingml/2006/main" r:embed="R13a24faa8d7e4b2d"/>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92E8CBB-6F8C-4818-AA2B-11FDA96898A9}"/>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32C56092-9DE6-422B-A4C7-E7E523536010}"/>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833C63-4F12-4A88-B602-BFBFDE96B8B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d3b6183b2f14317"/>
              </a:rPr>
              <a:t>Open your test files</a:t>
            </a:r>
          </a:p>
        </p:txBody>
      </p:sp>
      <p:sp>
        <p:nvSpPr>
          <p:cNvPr id="14" name="">
            <a:extLst xmlns:a="http://schemas.openxmlformats.org/drawingml/2006/main">
              <a:ext uri="{FF2B5EF4-FFF2-40B4-BE49-F238E27FC236}">
                <a16:creationId xmlns:a16="http://schemas.microsoft.com/office/drawing/2014/main" id="{59E0472E-A828-41E1-913A-AE9D369A03D8}"/>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403C3A4E-A656-4F45-A374-1CB5CE76C27A}"/>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2481c761bb7d4f6c"/>
              </a:rPr>
              <a:t>https://iuea-test-entry.jothammartin-wambi.workers.dev/?test=CML3111%7CTEST1</a:t>
            </a:r>
          </a:p>
        </p:txBody>
      </p:sp>
      <p:sp>
        <p:nvSpPr>
          <p:cNvPr id="16" name="">
            <a:extLst xmlns:a="http://schemas.openxmlformats.org/drawingml/2006/main">
              <a:ext uri="{FF2B5EF4-FFF2-40B4-BE49-F238E27FC236}">
                <a16:creationId xmlns:a16="http://schemas.microsoft.com/office/drawing/2014/main" id="{371CB6E4-A82E-4E98-9011-CD0788342E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60</a:t>
            </a:r>
          </a:p>
        </p:txBody>
      </p:sp>
    </p:spTree>
    <p:extLst>
      <p:ext uri="{BB962C8B-B14F-4D97-AF65-F5344CB8AC3E}">
        <p14:creationId xmlns:p14="http://schemas.microsoft.com/office/powerpoint/2010/main" val="16713596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4BD2D7-33F2-46D1-881D-7083E48619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F6190-B50D-40AE-B2C5-9DA8ACF2B6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3356666-2A16-4BB4-BE21-CC05DDE183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AF088FBC-C944-4432-A50B-7B36B1FDF06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8A87E5-D101-483D-8AA2-55FC94247DE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E8A35254-CBE4-48C1-9B78-9BC5E8C0092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CD9BCBD-86EE-469C-89A4-F756BA00DD0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9EB31E57-6D71-4EBD-B058-EC2749C4B50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FDF4EEF-8EA4-4821-9375-91081102926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9EB36E7F-BC7B-42C6-B89A-C83BD5063F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61</a:t>
            </a:r>
          </a:p>
        </p:txBody>
      </p:sp>
    </p:spTree>
    <p:extLst>
      <p:ext uri="{BB962C8B-B14F-4D97-AF65-F5344CB8AC3E}">
        <p14:creationId xmlns:p14="http://schemas.microsoft.com/office/powerpoint/2010/main" val="162312573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9AF545-301D-4F35-9E9E-CEB3A7FE07E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B1A0E8-6879-4CCB-B081-E09FF2AFD2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CB25235-7DF3-4523-8EAA-BC86EACDE5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991C35DC-940A-4FD2-9C06-1FB3CAE9C2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99715F-135A-47C7-9C4D-283E3C980D3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A315BD88-A9CE-4C6D-A7FE-A9ABE5EFC09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EAA1CD3-D7CE-487D-B3BB-EBD2C0944F9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F25D054B-214E-4597-A341-A7BD4480877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A266B3-BA13-4286-831B-0929C8B1294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F4B3B9DA-7DED-45C2-8089-50D4B4AA03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62</a:t>
            </a:r>
          </a:p>
        </p:txBody>
      </p:sp>
    </p:spTree>
    <p:extLst>
      <p:ext uri="{BB962C8B-B14F-4D97-AF65-F5344CB8AC3E}">
        <p14:creationId xmlns:p14="http://schemas.microsoft.com/office/powerpoint/2010/main" val="159589335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79D4F3-4501-4DFA-917A-9178B846B1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A19672-7528-426D-A8D8-5B102596BB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9C541E0-9EEE-495C-B21C-9E77A0C48BA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A1D07B3E-796A-4736-BBFF-85AD8D42DC5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F77F78F-BB16-41FB-B8A5-FEBACD83A16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Cleaning 20. Summary statistics 15.</a:t>
            </a:r>
          </a:p>
        </p:txBody>
      </p:sp>
      <p:sp>
        <p:nvSpPr>
          <p:cNvPr id="6" name="">
            <a:extLst xmlns:a="http://schemas.openxmlformats.org/drawingml/2006/main">
              <a:ext uri="{FF2B5EF4-FFF2-40B4-BE49-F238E27FC236}">
                <a16:creationId xmlns:a16="http://schemas.microsoft.com/office/drawing/2014/main" id="{0D333589-A434-444C-BD28-DCA13D38CA3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446B743-175F-4D5F-9A28-F5E2A0D969B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labelled charts 15. Five numerical findings 20.</a:t>
            </a:r>
          </a:p>
        </p:txBody>
      </p:sp>
      <p:sp>
        <p:nvSpPr>
          <p:cNvPr id="8" name="">
            <a:extLst xmlns:a="http://schemas.openxmlformats.org/drawingml/2006/main">
              <a:ext uri="{FF2B5EF4-FFF2-40B4-BE49-F238E27FC236}">
                <a16:creationId xmlns:a16="http://schemas.microsoft.com/office/drawing/2014/main" id="{86C48FA8-D260-4653-9471-FEDA49DBC3C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AD8CB1-0F94-4A64-B0A5-94460D9B569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Structured interpretation 30.</a:t>
            </a:r>
          </a:p>
        </p:txBody>
      </p:sp>
      <p:sp>
        <p:nvSpPr>
          <p:cNvPr id="10" name="">
            <a:extLst xmlns:a="http://schemas.openxmlformats.org/drawingml/2006/main">
              <a:ext uri="{FF2B5EF4-FFF2-40B4-BE49-F238E27FC236}">
                <a16:creationId xmlns:a16="http://schemas.microsoft.com/office/drawing/2014/main" id="{E22081FB-D879-4A7D-A0FA-28D750775F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63</a:t>
            </a:r>
          </a:p>
        </p:txBody>
      </p:sp>
    </p:spTree>
    <p:extLst>
      <p:ext uri="{BB962C8B-B14F-4D97-AF65-F5344CB8AC3E}">
        <p14:creationId xmlns:p14="http://schemas.microsoft.com/office/powerpoint/2010/main" val="129447830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DB5DE9-65A3-466B-AC3D-F79E970DEA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689C8E-1BCD-4E19-AD7A-287B79E8F4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6B2D89E-13A4-4398-8CA3-984DFAD74E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06A1E993-B431-4BB0-9193-CE3187B440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5B137BB-2366-4EB3-B094-FDAF1E7DDE3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the raw CSV. Keep the original data.</a:t>
            </a:r>
          </a:p>
        </p:txBody>
      </p:sp>
      <p:sp>
        <p:nvSpPr>
          <p:cNvPr id="6" name="">
            <a:extLst xmlns:a="http://schemas.openxmlformats.org/drawingml/2006/main">
              <a:ext uri="{FF2B5EF4-FFF2-40B4-BE49-F238E27FC236}">
                <a16:creationId xmlns:a16="http://schemas.microsoft.com/office/drawing/2014/main" id="{61736EE3-00FE-4C90-AB48-B6C3C8F2C14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F93FA0-6A2B-41A6-A5E8-A601A6BAD66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 records before calculating summaries, charts and findings.</a:t>
            </a:r>
          </a:p>
        </p:txBody>
      </p:sp>
      <p:sp>
        <p:nvSpPr>
          <p:cNvPr id="8" name="">
            <a:extLst xmlns:a="http://schemas.openxmlformats.org/drawingml/2006/main">
              <a:ext uri="{FF2B5EF4-FFF2-40B4-BE49-F238E27FC236}">
                <a16:creationId xmlns:a16="http://schemas.microsoft.com/office/drawing/2014/main" id="{691C9629-7F95-4D62-8649-2FF0AFA37E7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BA31C18-288D-43AB-AC38-2A6F636DE35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the six interpretation questions.</a:t>
            </a:r>
          </a:p>
        </p:txBody>
      </p:sp>
      <p:sp>
        <p:nvSpPr>
          <p:cNvPr id="10" name="">
            <a:extLst xmlns:a="http://schemas.openxmlformats.org/drawingml/2006/main">
              <a:ext uri="{FF2B5EF4-FFF2-40B4-BE49-F238E27FC236}">
                <a16:creationId xmlns:a16="http://schemas.microsoft.com/office/drawing/2014/main" id="{396D3976-4D70-46F4-9A91-BEF7A53645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64</a:t>
            </a:r>
          </a:p>
        </p:txBody>
      </p:sp>
    </p:spTree>
    <p:extLst>
      <p:ext uri="{BB962C8B-B14F-4D97-AF65-F5344CB8AC3E}">
        <p14:creationId xmlns:p14="http://schemas.microsoft.com/office/powerpoint/2010/main" val="168000202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212B9C9-FB4B-498F-B590-EC9D105E93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B0DC51-C11C-4726-BF9C-A77A41CDC6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363BCCE-3F2F-4C4C-B536-74C074A735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06DBDEF5-5E17-4871-94B9-76981BAE3EA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87AD8A-052E-4BA8-B8B6-387B9C7D7A6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3CE5E60D-B7FA-4BE8-ACB6-EB9F1229F50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17D1F1B-3928-465B-A743-4B9922C677C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51363549-62C2-4E00-B440-66B0D72FB16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2D1C534-CEB5-48FC-B1DE-5C433BD8F08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FDD93F64-B7F9-44CC-B761-31EBAFC719A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E321101-0F6D-4691-9E19-0AA873249B3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5D747845-B27A-43D4-8FD8-A394CD404B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65</a:t>
            </a:r>
          </a:p>
        </p:txBody>
      </p:sp>
    </p:spTree>
    <p:extLst>
      <p:ext uri="{BB962C8B-B14F-4D97-AF65-F5344CB8AC3E}">
        <p14:creationId xmlns:p14="http://schemas.microsoft.com/office/powerpoint/2010/main" val="275921778"/>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962F1F-D68C-4D6D-BAEA-64E487F1A7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3C7DAF-ED7A-44BD-8FE3-0EFBF7C792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693D24F-32BF-41A6-910E-716AE391C0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0D212922-F543-48A2-A19F-BE63B8802D0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711BF68-C36E-4321-AD85-6EFC5DF23CF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631F78E9-063F-4461-A55B-4FAF6093CA7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8339F4-4F32-4932-AD7A-CD5E0930D50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98AECCB9-8F64-43AF-A632-E0A6B96893F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F16240-4762-4246-99F0-8D2CB56EACA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C0801D97-7791-4706-93E5-1CFED92E3E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66</a:t>
            </a:r>
          </a:p>
        </p:txBody>
      </p:sp>
    </p:spTree>
    <p:extLst>
      <p:ext uri="{BB962C8B-B14F-4D97-AF65-F5344CB8AC3E}">
        <p14:creationId xmlns:p14="http://schemas.microsoft.com/office/powerpoint/2010/main" val="18708940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99B59B-B574-4C2E-B14A-4FCDD647F9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695DEF-4CAE-41FA-8EEA-AD021B9A98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0AF4081-95E5-4AE9-A7B1-ADE1BB8E8D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CD49C678-AB0E-4E26-B27B-E5C5D46B60B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1AC12C9-7A6E-468A-AFC2-4DE5576846C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1E37FA92-75A8-431A-81F4-9ED275C9814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B576DE-DDBF-43B8-855D-50E384C5183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B5EC4C9A-3905-42D9-A25B-19DA1CAC78E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CA6B67E-D0F7-44CD-8EF6-FC23DE41C0B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C039C9B7-5867-473C-8E50-A3A1AEDFAF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67</a:t>
            </a:r>
          </a:p>
        </p:txBody>
      </p:sp>
    </p:spTree>
    <p:extLst>
      <p:ext uri="{BB962C8B-B14F-4D97-AF65-F5344CB8AC3E}">
        <p14:creationId xmlns:p14="http://schemas.microsoft.com/office/powerpoint/2010/main" val="1457693338"/>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840B1A-D867-4733-B87F-03D1759A516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06F585-7C49-4DF0-A84E-C4FAECFD6B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819C930-C8D9-499C-A469-90172C482B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0CB8EE67-5BA5-4197-8734-F16C753604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E25537F-91FB-4B45-BF5D-6DF360A16ED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A8E51CAA-E8A2-4938-94CA-B3EA51CD617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741B9EB-3A79-47A8-80DA-D09F5696704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E832E91A-0C62-4358-9C86-D3591A2D8AB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ADBD3AC-D227-4EDF-9132-AAB861C692E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85E534F5-2923-4A9A-81EA-EAD3711992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7   68</a:t>
            </a:r>
          </a:p>
        </p:txBody>
      </p:sp>
    </p:spTree>
    <p:extLst>
      <p:ext uri="{BB962C8B-B14F-4D97-AF65-F5344CB8AC3E}">
        <p14:creationId xmlns:p14="http://schemas.microsoft.com/office/powerpoint/2010/main" val="123749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2026-10-20T18:02:01.0850000Z</dcterms:created>
  <dcterms:modified xsi:type="dcterms:W3CDTF">2026-10-20T18:02:01.0850000Z</dcterms:modified>
</coreProperties>
</file>