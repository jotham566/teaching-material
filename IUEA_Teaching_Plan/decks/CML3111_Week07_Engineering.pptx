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2281dcf973f46a9" /><Relationship Type="http://schemas.openxmlformats.org/officeDocument/2006/relationships/extended-properties" Target="/docProps/app.xml" Id="R9cf8206393734b88" /><Relationship Type="http://schemas.openxmlformats.org/officeDocument/2006/relationships/officeDocument" Target="/ppt/presentation.xml" Id="Rf5caa35a852a435a" /></Relationships>
</file>

<file path=ppt/presentation.xml><?xml version="1.0" encoding="utf-8"?>
<p:presentation xmlns:p="http://schemas.openxmlformats.org/presentationml/2006/main">
  <p:sldMasterIdLst>
    <p:sldMasterId xmlns:r="http://schemas.openxmlformats.org/officeDocument/2006/relationships" id="2147483648" r:id="R29778ab6b7ec46ab"/>
  </p:sldMasterIdLst>
  <p:notesMasterIdLst>
    <p:notesMasterId xmlns:r="http://schemas.openxmlformats.org/officeDocument/2006/relationships" r:id="R8edc4d33c4694297"/>
  </p:notesMasterIdLst>
  <p:sldIdLst>
    <p:sldId xmlns:r="http://schemas.openxmlformats.org/officeDocument/2006/relationships" id="256" r:id="R7b47393e22224651"/>
    <p:sldId xmlns:r="http://schemas.openxmlformats.org/officeDocument/2006/relationships" id="257" r:id="R2ccf28cae8814b66"/>
    <p:sldId xmlns:r="http://schemas.openxmlformats.org/officeDocument/2006/relationships" id="258" r:id="R18143ef4255a4def"/>
    <p:sldId xmlns:r="http://schemas.openxmlformats.org/officeDocument/2006/relationships" id="259" r:id="Rb7326c0d51764f89"/>
    <p:sldId xmlns:r="http://schemas.openxmlformats.org/officeDocument/2006/relationships" id="260" r:id="R058a1a3476b24e90"/>
    <p:sldId xmlns:r="http://schemas.openxmlformats.org/officeDocument/2006/relationships" id="261" r:id="Re3851304e4524917"/>
    <p:sldId xmlns:r="http://schemas.openxmlformats.org/officeDocument/2006/relationships" id="262" r:id="R5a28ee741d4948ea"/>
    <p:sldId xmlns:r="http://schemas.openxmlformats.org/officeDocument/2006/relationships" id="263" r:id="R0ba0bc5527b141ff"/>
    <p:sldId xmlns:r="http://schemas.openxmlformats.org/officeDocument/2006/relationships" id="264" r:id="R976068ec7eef417d"/>
    <p:sldId xmlns:r="http://schemas.openxmlformats.org/officeDocument/2006/relationships" id="265" r:id="R1e5e8075fa174ed9"/>
    <p:sldId xmlns:r="http://schemas.openxmlformats.org/officeDocument/2006/relationships" id="266" r:id="Ra1b5877115a7488b"/>
    <p:sldId xmlns:r="http://schemas.openxmlformats.org/officeDocument/2006/relationships" id="267" r:id="R0f747c37e1bb4809"/>
    <p:sldId xmlns:r="http://schemas.openxmlformats.org/officeDocument/2006/relationships" id="268" r:id="Rcb249df858494a12"/>
    <p:sldId xmlns:r="http://schemas.openxmlformats.org/officeDocument/2006/relationships" id="269" r:id="R9854c223bf654253"/>
    <p:sldId xmlns:r="http://schemas.openxmlformats.org/officeDocument/2006/relationships" id="270" r:id="R0b81b91c4c1a4243"/>
    <p:sldId xmlns:r="http://schemas.openxmlformats.org/officeDocument/2006/relationships" id="271" r:id="R283b1ff6b0134b4d"/>
    <p:sldId xmlns:r="http://schemas.openxmlformats.org/officeDocument/2006/relationships" id="272" r:id="R0b68fab419604415"/>
    <p:sldId xmlns:r="http://schemas.openxmlformats.org/officeDocument/2006/relationships" id="273" r:id="Rf70025380ab7422c"/>
    <p:sldId xmlns:r="http://schemas.openxmlformats.org/officeDocument/2006/relationships" id="274" r:id="R79b455e53df0425c"/>
    <p:sldId xmlns:r="http://schemas.openxmlformats.org/officeDocument/2006/relationships" id="275" r:id="R021eb416165a489e"/>
    <p:sldId xmlns:r="http://schemas.openxmlformats.org/officeDocument/2006/relationships" id="276" r:id="Re4401daa748342c8"/>
    <p:sldId xmlns:r="http://schemas.openxmlformats.org/officeDocument/2006/relationships" id="277" r:id="R48f35823c64f4504"/>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97cb00ade214b49" /><Relationship Type="http://schemas.openxmlformats.org/officeDocument/2006/relationships/slideMaster" Target="/ppt/slideMasters/slideMaster1.xml" Id="R29778ab6b7ec46ab" /><Relationship Type="http://schemas.openxmlformats.org/officeDocument/2006/relationships/notesMaster" Target="/ppt/notesMasters/notesMaster1.xml" Id="R8edc4d33c4694297" /><Relationship Type="http://schemas.openxmlformats.org/officeDocument/2006/relationships/presProps" Target="/ppt/presProps.xml" Id="Rd9e9a19924ff498e" /><Relationship Type="http://schemas.openxmlformats.org/officeDocument/2006/relationships/tableStyles" Target="/ppt/tableStyles.xml" Id="Rc1a8cc21bc0640e7" /><Relationship Type="http://schemas.openxmlformats.org/officeDocument/2006/relationships/slide" Target="/ppt/slides/slide1.xml" Id="R7b47393e22224651" /><Relationship Type="http://schemas.openxmlformats.org/officeDocument/2006/relationships/slide" Target="/ppt/slides/slide2.xml" Id="R2ccf28cae8814b66" /><Relationship Type="http://schemas.openxmlformats.org/officeDocument/2006/relationships/slide" Target="/ppt/slides/slide3.xml" Id="R18143ef4255a4def" /><Relationship Type="http://schemas.openxmlformats.org/officeDocument/2006/relationships/slide" Target="/ppt/slides/slide4.xml" Id="Rb7326c0d51764f89" /><Relationship Type="http://schemas.openxmlformats.org/officeDocument/2006/relationships/slide" Target="/ppt/slides/slide5.xml" Id="R058a1a3476b24e90" /><Relationship Type="http://schemas.openxmlformats.org/officeDocument/2006/relationships/slide" Target="/ppt/slides/slide6.xml" Id="Re3851304e4524917" /><Relationship Type="http://schemas.openxmlformats.org/officeDocument/2006/relationships/slide" Target="/ppt/slides/slide7.xml" Id="R5a28ee741d4948ea" /><Relationship Type="http://schemas.openxmlformats.org/officeDocument/2006/relationships/slide" Target="/ppt/slides/slide8.xml" Id="R0ba0bc5527b141ff" /><Relationship Type="http://schemas.openxmlformats.org/officeDocument/2006/relationships/slide" Target="/ppt/slides/slide9.xml" Id="R976068ec7eef417d" /><Relationship Type="http://schemas.openxmlformats.org/officeDocument/2006/relationships/slide" Target="/ppt/slides/slide10.xml" Id="R1e5e8075fa174ed9" /><Relationship Type="http://schemas.openxmlformats.org/officeDocument/2006/relationships/slide" Target="/ppt/slides/slide11.xml" Id="Ra1b5877115a7488b" /><Relationship Type="http://schemas.openxmlformats.org/officeDocument/2006/relationships/slide" Target="/ppt/slides/slide12.xml" Id="R0f747c37e1bb4809" /><Relationship Type="http://schemas.openxmlformats.org/officeDocument/2006/relationships/slide" Target="/ppt/slides/slide13.xml" Id="Rcb249df858494a12" /><Relationship Type="http://schemas.openxmlformats.org/officeDocument/2006/relationships/slide" Target="/ppt/slides/slide14.xml" Id="R9854c223bf654253" /><Relationship Type="http://schemas.openxmlformats.org/officeDocument/2006/relationships/slide" Target="/ppt/slides/slide15.xml" Id="R0b81b91c4c1a4243" /><Relationship Type="http://schemas.openxmlformats.org/officeDocument/2006/relationships/slide" Target="/ppt/slides/slide16.xml" Id="R283b1ff6b0134b4d" /><Relationship Type="http://schemas.openxmlformats.org/officeDocument/2006/relationships/slide" Target="/ppt/slides/slide17.xml" Id="R0b68fab419604415" /><Relationship Type="http://schemas.openxmlformats.org/officeDocument/2006/relationships/slide" Target="/ppt/slides/slide18.xml" Id="Rf70025380ab7422c" /><Relationship Type="http://schemas.openxmlformats.org/officeDocument/2006/relationships/slide" Target="/ppt/slides/slide19.xml" Id="R79b455e53df0425c" /><Relationship Type="http://schemas.openxmlformats.org/officeDocument/2006/relationships/slide" Target="/ppt/slides/slide20.xml" Id="R021eb416165a489e" /><Relationship Type="http://schemas.openxmlformats.org/officeDocument/2006/relationships/slide" Target="/ppt/slides/slide21.xml" Id="Re4401daa748342c8" /><Relationship Type="http://schemas.openxmlformats.org/officeDocument/2006/relationships/slide" Target="/ppt/slides/slide22.xml" Id="R48f35823c64f450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8ada07ab73e4a6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07a182dd7b14d06" /><Relationship Type="http://schemas.openxmlformats.org/officeDocument/2006/relationships/notesMaster" Target="/ppt/notesMasters/notesMaster1.xml" Id="Ra4451fe413e849c7" /></Relationships>
</file>

<file path=ppt/notesSlides/_rels/notesSlide2.xml.rels>&#65279;<?xml version="1.0" encoding="utf-8"?><Relationships xmlns="http://schemas.openxmlformats.org/package/2006/relationships"><Relationship Type="http://schemas.openxmlformats.org/officeDocument/2006/relationships/slide" Target="/ppt/slides/slide2.xml" Id="R0237a556115f409c" /><Relationship Type="http://schemas.openxmlformats.org/officeDocument/2006/relationships/notesMaster" Target="/ppt/notesMasters/notesMaster1.xml" Id="R6cc10d60dbfe4c97" /></Relationships>
</file>

<file path=ppt/notesSlides/_rels/notesSlide3.xml.rels>&#65279;<?xml version="1.0" encoding="utf-8"?><Relationships xmlns="http://schemas.openxmlformats.org/package/2006/relationships"><Relationship Type="http://schemas.openxmlformats.org/officeDocument/2006/relationships/slide" Target="/ppt/slides/slide3.xml" Id="Rcd229118222b4a61" /><Relationship Type="http://schemas.openxmlformats.org/officeDocument/2006/relationships/notesMaster" Target="/ppt/notesMasters/notesMaster1.xml" Id="Rc8f6506fa87f4609" /></Relationships>
</file>

<file path=ppt/notesSlides/_rels/notesSlide4.xml.rels>&#65279;<?xml version="1.0" encoding="utf-8"?><Relationships xmlns="http://schemas.openxmlformats.org/package/2006/relationships"><Relationship Type="http://schemas.openxmlformats.org/officeDocument/2006/relationships/slide" Target="/ppt/slides/slide4.xml" Id="R37a792e80c324b80" /><Relationship Type="http://schemas.openxmlformats.org/officeDocument/2006/relationships/notesMaster" Target="/ppt/notesMasters/notesMaster1.xml" Id="Ra2daab65b7044206" /></Relationships>
</file>

<file path=ppt/notesSlides/_rels/notesSlide5.xml.rels>&#65279;<?xml version="1.0" encoding="utf-8"?><Relationships xmlns="http://schemas.openxmlformats.org/package/2006/relationships"><Relationship Type="http://schemas.openxmlformats.org/officeDocument/2006/relationships/slide" Target="/ppt/slides/slide5.xml" Id="R952eba1c5c0c4678" /><Relationship Type="http://schemas.openxmlformats.org/officeDocument/2006/relationships/notesMaster" Target="/ppt/notesMasters/notesMaster1.xml" Id="Ra9842f6e02754c4b" /></Relationships>
</file>

<file path=ppt/notesSlides/_rels/notesSlide6.xml.rels>&#65279;<?xml version="1.0" encoding="utf-8"?><Relationships xmlns="http://schemas.openxmlformats.org/package/2006/relationships"><Relationship Type="http://schemas.openxmlformats.org/officeDocument/2006/relationships/slide" Target="/ppt/slides/slide6.xml" Id="Rc60e95a9cdcb4368" /><Relationship Type="http://schemas.openxmlformats.org/officeDocument/2006/relationships/notesMaster" Target="/ppt/notesMasters/notesMaster1.xml" Id="Re97e7cfcb9e14fd8" /></Relationships>
</file>

<file path=ppt/notesSlides/_rels/notesSlide7.xml.rels>&#65279;<?xml version="1.0" encoding="utf-8"?><Relationships xmlns="http://schemas.openxmlformats.org/package/2006/relationships"><Relationship Type="http://schemas.openxmlformats.org/officeDocument/2006/relationships/slide" Target="/ppt/slides/slide7.xml" Id="R2e4e5ab3c9e94674" /><Relationship Type="http://schemas.openxmlformats.org/officeDocument/2006/relationships/notesMaster" Target="/ppt/notesMasters/notesMaster1.xml" Id="Ra331216ed88b480c" /></Relationships>
</file>

<file path=ppt/notesSlides/_rels/notesSlide8.xml.rels>&#65279;<?xml version="1.0" encoding="utf-8"?><Relationships xmlns="http://schemas.openxmlformats.org/package/2006/relationships"><Relationship Type="http://schemas.openxmlformats.org/officeDocument/2006/relationships/slide" Target="/ppt/slides/slide8.xml" Id="R4964daa0bc3c4b16" /><Relationship Type="http://schemas.openxmlformats.org/officeDocument/2006/relationships/notesMaster" Target="/ppt/notesMasters/notesMaster1.xml" Id="Re04d260db877406a" /></Relationships>
</file>

<file path=ppt/notesSlides/_rels/notesSlide9.xml.rels>&#65279;<?xml version="1.0" encoding="utf-8"?><Relationships xmlns="http://schemas.openxmlformats.org/package/2006/relationships"><Relationship Type="http://schemas.openxmlformats.org/officeDocument/2006/relationships/slide" Target="/ppt/slides/slide9.xml" Id="R2feace6e18f74f2d" /><Relationship Type="http://schemas.openxmlformats.org/officeDocument/2006/relationships/notesMaster" Target="/ppt/notesMasters/notesMaster1.xml" Id="R6a2abb91d2fe4a4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ec776b17a6149e2" /><Relationship Type="http://schemas.openxmlformats.org/officeDocument/2006/relationships/notesMaster" Target="/ppt/notesMasters/notesMaster1.xml" Id="Rf52ffd315436449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04c41c182f14047" /><Relationship Type="http://schemas.openxmlformats.org/officeDocument/2006/relationships/notesMaster" Target="/ppt/notesMasters/notesMaster1.xml" Id="Re0e9b00ff850471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ea9464c5a1c425c" /><Relationship Type="http://schemas.openxmlformats.org/officeDocument/2006/relationships/notesMaster" Target="/ppt/notesMasters/notesMaster1.xml" Id="Rc0bad918e90348f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f3d1e4507e64e62" /><Relationship Type="http://schemas.openxmlformats.org/officeDocument/2006/relationships/notesMaster" Target="/ppt/notesMasters/notesMaster1.xml" Id="R163373d8e751434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4fdbe44b922462f" /><Relationship Type="http://schemas.openxmlformats.org/officeDocument/2006/relationships/notesMaster" Target="/ppt/notesMasters/notesMaster1.xml" Id="R9e11288d11454e7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4bee74288314452" /><Relationship Type="http://schemas.openxmlformats.org/officeDocument/2006/relationships/notesMaster" Target="/ppt/notesMasters/notesMaster1.xml" Id="R8f36c7bfaf6f474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036a52edf6f4a72" /><Relationship Type="http://schemas.openxmlformats.org/officeDocument/2006/relationships/notesMaster" Target="/ppt/notesMasters/notesMaster1.xml" Id="R991c822aa4e7401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e2d6575994643bd" /><Relationship Type="http://schemas.openxmlformats.org/officeDocument/2006/relationships/notesMaster" Target="/ppt/notesMasters/notesMaster1.xml" Id="Ra9f7f69d988d424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575c06cf023428b" /><Relationship Type="http://schemas.openxmlformats.org/officeDocument/2006/relationships/notesMaster" Target="/ppt/notesMasters/notesMaster1.xml" Id="R35afffb83a7b4bf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d4945d0b88b4f42" /><Relationship Type="http://schemas.openxmlformats.org/officeDocument/2006/relationships/notesMaster" Target="/ppt/notesMasters/notesMaster1.xml" Id="R5f57b8937b5c455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393a67e7982402c" /><Relationship Type="http://schemas.openxmlformats.org/officeDocument/2006/relationships/notesMaster" Target="/ppt/notesMasters/notesMaster1.xml" Id="R3b58bfb6ea8b482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a1523c0390f4ca3" /><Relationship Type="http://schemas.openxmlformats.org/officeDocument/2006/relationships/notesMaster" Target="/ppt/notesMasters/notesMaster1.xml" Id="R133a457b59e2451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25b9c6937964b70" /><Relationship Type="http://schemas.openxmlformats.org/officeDocument/2006/relationships/notesMaster" Target="/ppt/notesMasters/notesMaster1.xml" Id="Rd171a395ef6a4f4a"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Practical Test 1</a:t>
            </a:r>
          </a:p>
          <a:p>
            <a:r>
              <a:t/>
            </a:r>
          </a:p>
          <a:p>
            <a:r>
              <a:t>LECTURER CUE</a:t>
            </a:r>
          </a:p>
          <a:p>
            <a:r>
              <a:t>Read the specific public requirement shown on this slide. Explain the input, output and evidence before independent work; do not work the assessed answer for the class.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Preparing for Practical Test 1.</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Rehearse before test day.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Rehearse before test day</a:t>
            </a:r>
          </a:p>
          <a:p>
            <a:r>
              <a:t/>
            </a:r>
          </a:p>
          <a:p>
            <a:r>
              <a:t>CONNECT</a:t>
            </a:r>
          </a:p>
          <a:p>
            <a:r>
              <a:t>Build on the preceding slide: Recall and a first attempt.</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Save the complete notebook.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Save the complete notebook</a:t>
            </a:r>
          </a:p>
          <a:p>
            <a:r>
              <a:t/>
            </a:r>
          </a:p>
          <a:p>
            <a:r>
              <a:t>CONNECT</a:t>
            </a:r>
          </a:p>
          <a:p>
            <a:r>
              <a:t>Build on the preceding slide: Rehearse before test day.</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Follow the published test procedure.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Follow the published test procedure</a:t>
            </a:r>
          </a:p>
          <a:p>
            <a:r>
              <a:t/>
            </a:r>
          </a:p>
          <a:p>
            <a:r>
              <a:t>CONNECT</a:t>
            </a:r>
          </a:p>
          <a:p>
            <a:r>
              <a:t>Build on the preceding slide: Save the complete notebook.</a:t>
            </a:r>
          </a:p>
          <a:p>
            <a:r>
              <a:t/>
            </a:r>
          </a:p>
          <a:p>
            <a:r>
              <a:t>LECTURER CUE</a:t>
            </a:r>
          </a:p>
          <a:p>
            <a:r>
              <a:t>Read the specific public requirement shown on this slide. Explain the input, output and evidence before independent work; do not work the assessed answer for the class.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Practice before test day.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before test day</a:t>
            </a:r>
          </a:p>
          <a:p>
            <a:r>
              <a:t/>
            </a:r>
          </a:p>
          <a:p>
            <a:r>
              <a:t>CONNECT</a:t>
            </a:r>
          </a:p>
          <a:p>
            <a:r>
              <a:t>Build on the preceding slide: Follow the published test procedure.</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print displays a value below the cell.</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Before the timed test.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the timed test</a:t>
            </a:r>
          </a:p>
          <a:p>
            <a:r>
              <a:t/>
            </a:r>
          </a:p>
          <a:p>
            <a:r>
              <a:t>CONNECT</a:t>
            </a:r>
          </a:p>
          <a:p>
            <a:r>
              <a:t>Build on the preceding slide: Practice before test day.</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Before the timed test.</a:t>
            </a:r>
          </a:p>
          <a:p>
            <a:r>
              <a:t/>
            </a:r>
          </a:p>
          <a:p>
            <a:r>
              <a:t>LECTURER CUE</a:t>
            </a:r>
          </a:p>
          <a:p>
            <a:r>
              <a:t>Read the specific public requirement shown on this slide. Explain the input, output and evidence before independent work; do not work the assessed answer for the class.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Test session.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Test session</a:t>
            </a:r>
          </a:p>
          <a:p>
            <a:r>
              <a:t/>
            </a:r>
          </a:p>
          <a:p>
            <a:r>
              <a:t>CONNECT</a:t>
            </a:r>
          </a:p>
          <a:p>
            <a:r>
              <a:t>Build on the preceding slide: What the activity shows.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Preparation checkpoint.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Preparation checkpoint</a:t>
            </a:r>
          </a:p>
          <a:p>
            <a:r>
              <a:t/>
            </a:r>
          </a:p>
          <a:p>
            <a:r>
              <a:t>CONNECT</a:t>
            </a:r>
          </a:p>
          <a:p>
            <a:r>
              <a:t>Build on the preceding slide: Test session.</a:t>
            </a:r>
          </a:p>
          <a:p>
            <a:r>
              <a:t/>
            </a:r>
          </a:p>
          <a:p>
            <a:r>
              <a:t>LECTURER CUE</a:t>
            </a:r>
          </a:p>
          <a:p>
            <a:r>
              <a:t>Read the specific public requirement shown on this slide. Explain the input, output and evidence before independent work; do not work the assessed answer for the class.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Your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evidence</a:t>
            </a:r>
          </a:p>
          <a:p>
            <a:r>
              <a:t/>
            </a:r>
          </a:p>
          <a:p>
            <a:r>
              <a:t>CONNECT</a:t>
            </a:r>
          </a:p>
          <a:p>
            <a:r>
              <a:t>Build on the preceding slide: Preparation checkpoint.</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a:t>
            </a:r>
          </a:p>
          <a:p>
            <a:r>
              <a:t/>
            </a:r>
          </a:p>
          <a:p>
            <a:r>
              <a:t>CONNECT</a:t>
            </a:r>
          </a:p>
          <a:p>
            <a:r>
              <a:t>Build on the preceding slide: Your evidence.</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submission</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Practical Test 1 submission.</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1e7ee3b9f754e7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0f0e5b6fef647fe" /><Relationship Type="http://schemas.openxmlformats.org/officeDocument/2006/relationships/slideLayout" Target="/ppt/slideLayouts/slideLayout1.xml" Id="R1bd34522d3194e5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bd34522d3194e5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4aac622853b4fe2" /><Relationship Type="http://schemas.openxmlformats.org/officeDocument/2006/relationships/image" Target="/ppt/media/image.png" Id="Rfe6759ae46c240fe" /><Relationship Type="http://schemas.openxmlformats.org/officeDocument/2006/relationships/notesSlide" Target="/ppt/notesSlides/notesSlide1.xml" Id="R44e9202738ba465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b936eeae1a54dc0" /><Relationship Type="http://schemas.openxmlformats.org/officeDocument/2006/relationships/notesSlide" Target="/ppt/notesSlides/notesSlide2.xml" Id="R4a1c5e072e4e442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cad6a4be6174082" /><Relationship Type="http://schemas.openxmlformats.org/officeDocument/2006/relationships/notesSlide" Target="/ppt/notesSlides/notesSlide3.xml" Id="R0a611697069f40f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aa50e2f484e403c" /><Relationship Type="http://schemas.openxmlformats.org/officeDocument/2006/relationships/notesSlide" Target="/ppt/notesSlides/notesSlide4.xml" Id="R7f6f3ac37d8b40d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f4bfa5aefd041b0" /><Relationship Type="http://schemas.openxmlformats.org/officeDocument/2006/relationships/notesSlide" Target="/ppt/notesSlides/notesSlide5.xml" Id="R19dfa48549db4fa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f09e4960f7446db" /><Relationship Type="http://schemas.openxmlformats.org/officeDocument/2006/relationships/notesSlide" Target="/ppt/notesSlides/notesSlide6.xml" Id="Rb9d355bd1d684e7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c7db706b7ab4156" /><Relationship Type="http://schemas.openxmlformats.org/officeDocument/2006/relationships/notesSlide" Target="/ppt/notesSlides/notesSlide7.xml" Id="R3a408716859d4bf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84accfc5f214335" /><Relationship Type="http://schemas.openxmlformats.org/officeDocument/2006/relationships/notesSlide" Target="/ppt/notesSlides/notesSlide8.xml" Id="R25aa92f28aec4ca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c872c68603e4fc1" /><Relationship Type="http://schemas.openxmlformats.org/officeDocument/2006/relationships/notesSlide" Target="/ppt/notesSlides/notesSlide9.xml" Id="R8ac3f2984fd0432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798cecee41f4c8e" /><Relationship Type="http://schemas.openxmlformats.org/officeDocument/2006/relationships/notesSlide" Target="/ppt/notesSlides/notesSlide10.xml" Id="Ref7426ab76654cf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5746a2a5a844b4a" /><Relationship Type="http://schemas.openxmlformats.org/officeDocument/2006/relationships/notesSlide" Target="/ppt/notesSlides/notesSlide11.xml" Id="Rbd1be2e05b2743d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f32ce8d374b435d" /><Relationship Type="http://schemas.openxmlformats.org/officeDocument/2006/relationships/notesSlide" Target="/ppt/notesSlides/notesSlide12.xml" Id="Rc70b9a49a3094ed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6e8d08cf82e46a0" /><Relationship Type="http://schemas.openxmlformats.org/officeDocument/2006/relationships/notesSlide" Target="/ppt/notesSlides/notesSlide13.xml" Id="R113f02b0fd9b478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1a490c984044e1c" /><Relationship Type="http://schemas.openxmlformats.org/officeDocument/2006/relationships/notesSlide" Target="/ppt/notesSlides/notesSlide14.xml" Id="R6567016c0e064c4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9d193c836424685" /><Relationship Type="http://schemas.openxmlformats.org/officeDocument/2006/relationships/notesSlide" Target="/ppt/notesSlides/notesSlide15.xml" Id="R7609ef255d71448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7e2a146835f4f91" /><Relationship Type="http://schemas.openxmlformats.org/officeDocument/2006/relationships/notesSlide" Target="/ppt/notesSlides/notesSlide16.xml" Id="Rb2512711a20147a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a0258b14e9c4c03" /><Relationship Type="http://schemas.openxmlformats.org/officeDocument/2006/relationships/notesSlide" Target="/ppt/notesSlides/notesSlide17.xml" Id="R9a543d8a53f04fa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b62759bc38b4299" /><Relationship Type="http://schemas.openxmlformats.org/officeDocument/2006/relationships/notesSlide" Target="/ppt/notesSlides/notesSlide18.xml" Id="R2cd33e35b14441a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c5d889170ca4a01" /><Relationship Type="http://schemas.openxmlformats.org/officeDocument/2006/relationships/notesSlide" Target="/ppt/notesSlides/notesSlide19.xml" Id="R79c591c306b146c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58d4a9dba414f42" /><Relationship Type="http://schemas.openxmlformats.org/officeDocument/2006/relationships/notesSlide" Target="/ppt/notesSlides/notesSlide20.xml" Id="R55d357a679104e3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08eb32f252349cc" /><Relationship Type="http://schemas.openxmlformats.org/officeDocument/2006/relationships/hyperlink" Target="https://docs.google.com/forms/d/e/1FAIpQLScq0XkP-55fa9_XY4ixHKtDNdilmStAZ89FkjBdv1vJvQba-g/viewform" TargetMode="External" Id="R1eb29a27a7604692" /><Relationship Type="http://schemas.openxmlformats.org/officeDocument/2006/relationships/notesSlide" Target="/ppt/notesSlides/notesSlide21.xml" Id="Rc385eb70ad844e4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1bf4aeb588941c6" /><Relationship Type="http://schemas.openxmlformats.org/officeDocument/2006/relationships/notesSlide" Target="/ppt/notesSlides/notesSlide22.xml" Id="R15dfc9a2f59d40a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e6759ae46c240f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42B56D8-0813-4237-8607-AE97DF8B6AF6}"/>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E133546-B7CE-4824-9929-05BB9907F58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7</a:t>
            </a:r>
          </a:p>
        </p:txBody>
      </p:sp>
      <p:sp>
        <p:nvSpPr>
          <p:cNvPr id="4" name="">
            <a:extLst xmlns:a="http://schemas.openxmlformats.org/drawingml/2006/main">
              <a:ext uri="{FF2B5EF4-FFF2-40B4-BE49-F238E27FC236}">
                <a16:creationId xmlns:a16="http://schemas.microsoft.com/office/drawing/2014/main" id="{EC0B61FA-D6E6-4B8B-A992-D6AB92AFE47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1</a:t>
            </a:r>
          </a:p>
        </p:txBody>
      </p:sp>
      <p:sp>
        <p:nvSpPr>
          <p:cNvPr id="5" name="">
            <a:extLst xmlns:a="http://schemas.openxmlformats.org/drawingml/2006/main">
              <a:ext uri="{FF2B5EF4-FFF2-40B4-BE49-F238E27FC236}">
                <a16:creationId xmlns:a16="http://schemas.microsoft.com/office/drawing/2014/main" id="{50727CB8-8B44-4EBF-A5D8-C1CB61DCCB5C}"/>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97FFBBE7-C342-4DE6-936A-A7365138C44A}"/>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23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293883318"/>
      </p:ext>
    </p:extLst>
  </p:cSld>
</p:sld>
</file>

<file path=ppt/slides/slide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0" name="">
            <a:extLst>
              <a:ext uri="{FF2B5EF4-FFF2-40B4-BE49-F238E27FC236}">
                <ns2:creationId id="{C4496D34-76C3-4938-8AB2-A628C09D46A4}"/>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08F26FF8-43E7-4D48-B0C8-5618AC75D872}"/>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a:ext uri="{FF2B5EF4-FFF2-40B4-BE49-F238E27FC236}">
                <ns2:creationId id="{E4CED570-7D21-41EC-ADE3-6F36A6C9CEB2}"/>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a:ext uri="{FF2B5EF4-FFF2-40B4-BE49-F238E27FC236}">
                <ns2:creationId id="{FE6DEB90-E4E1-4F53-ACA5-DEBD8E13713E}"/>
              </a:ext>
            </a:extLst>
          </p:cNvPr>
          <p:cNvSpPr>
            <a:spLocks noGrp="1"/>
          </p:cNvSpPr>
          <p:nvPr/>
        </p:nvSpPr>
        <p:spPr>
          <a:xfrm>
            <a:off x="590550" y="1733550"/>
            <a:ext cx="5238750" cy="4191000"/>
          </a:xfrm>
          <a:prstGeom prst="rect">
            <a:avLst/>
          </a:prstGeom>
          <a:solidFill>
            <a:srgbClr val="EEF3F6"/>
          </a:solidFill>
          <a:ln w="0">
            <a:noFill/>
          </a:ln>
        </p:spPr>
      </p:sp>
      <p:sp>
        <p:nvSpPr>
          <p:cNvPr id="5" name="">
            <a:extLst>
              <a:ext uri="{FF2B5EF4-FFF2-40B4-BE49-F238E27FC236}">
                <ns2:creationId id="{18AD0EED-EBB2-40CA-85A8-00D7571901AB}"/>
              </a:ext>
            </a:extLst>
          </p:cNvPr>
          <p:cNvSpPr>
            <a:spLocks noGrp="1"/>
          </p:cNvSpPr>
          <p:nvPr/>
        </p:nvSpPr>
        <p:spPr>
          <a:xfrm>
            <a:off x="828675" y="2000250"/>
            <a:ext cx="4743450" cy="381000"/>
          </a:xfrm>
          <a:prstGeom prst="rect">
            <a:avLst/>
          </a:prstGeom>
          <a:noFill/>
          <a:ln w="0">
            <a:noFill/>
          </a:ln>
        </p:spPr>
        <p:txBody>
          <a:bodyPr>
            <a:noAutofit/>
          </a:bodyPr>
          <a:lstStyle/>
          <a:p>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a:ext uri="{FF2B5EF4-FFF2-40B4-BE49-F238E27FC236}">
                <ns2:creationId id="{82C9ACE7-DC3E-418E-8B62-79BEF810E5CA}"/>
              </a:ext>
            </a:extLst>
          </p:cNvPr>
          <p:cNvSpPr>
            <a:spLocks noGrp="1"/>
          </p:cNvSpPr>
          <p:nvPr/>
        </p:nvSpPr>
        <p:spPr>
          <a:xfrm>
            <a:off x="828675" y="2590800"/>
            <a:ext cx="4743450" cy="29527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Rehearse saving and reopening the required files.</a:t>
            </a:r>
          </a:p>
          <a:p>
            <a:r>
              <a:t/>
            </a:r>
          </a:p>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published test rules before the session.</a:t>
            </a:r>
          </a:p>
        </p:txBody>
      </p:sp>
      <p:sp>
        <p:nvSpPr>
          <p:cNvPr id="7" name="">
            <a:extLst>
              <a:ext uri="{FF2B5EF4-FFF2-40B4-BE49-F238E27FC236}">
                <ns2:creationId id="{B242AECB-8EEA-46B7-848B-F6E0BF1EA207}"/>
              </a:ext>
            </a:extLst>
          </p:cNvPr>
          <p:cNvSpPr>
            <a:spLocks noGrp="1"/>
          </p:cNvSpPr>
          <p:nvPr/>
        </p:nvSpPr>
        <p:spPr>
          <a:xfrm>
            <a:off x="6210300" y="2000250"/>
            <a:ext cx="5143500" cy="381000"/>
          </a:xfrm>
          <a:prstGeom prst="rect">
            <a:avLst/>
          </a:prstGeom>
          <a:noFill/>
          <a:ln w="0">
            <a:noFill/>
          </a:ln>
        </p:spPr>
        <p:txBody>
          <a:bodyPr>
            <a:noAutofit/>
          </a:bodyPr>
          <a:lstStyle/>
          <a:p>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a:ext uri="{FF2B5EF4-FFF2-40B4-BE49-F238E27FC236}">
                <ns2:creationId id="{362B0DE4-D2A9-497A-A2E1-5529A1FAC8C5}"/>
              </a:ext>
            </a:extLst>
          </p:cNvPr>
          <p:cNvSpPr>
            <a:spLocks noGrp="1"/>
          </p:cNvSpPr>
          <p:nvPr/>
        </p:nvSpPr>
        <p:spPr>
          <a:xfrm>
            <a:off x="6210300" y="2590800"/>
            <a:ext cx="5095875" cy="29527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You can reopen your notebook and find code and typed reasoning without help.</a:t>
            </a:r>
          </a:p>
        </p:txBody>
      </p:sp>
      <p:sp>
        <p:nvSpPr>
          <p:cNvPr id="9" name="">
            <a:extLst>
              <a:ext uri="{FF2B5EF4-FFF2-40B4-BE49-F238E27FC236}">
                <ns2:creationId id="{5741FB70-72E0-4F68-AA56-1C1FEF73B651}"/>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a:t>
            </a:r>
          </a:p>
        </p:txBody>
      </p:sp>
    </p:spTree>
    <p:extLst>
      <p:ext uri="{BB962C8B-B14F-4D97-AF65-F5344CB8AC3E}">
        <ns3:creationId val="1662192797"/>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CE6EF68-4EC1-4756-87EE-22B9BA93A7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2186CC11-BC1B-48DB-8837-3D8DFC1A81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55951D81-F7D7-4F20-8772-12133C60DCE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6592F772-3E6A-466E-998A-050E22A2827A}"/>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Can you open the provided notebook and data on the prepared lab computer without internet?</a:t>
            </a:r>
          </a:p>
        </p:txBody>
      </p:sp>
      <p:sp>
        <p:nvSpPr>
          <p:cNvPr id="5" name="">
            <a:extLst xmlns:a="http://schemas.openxmlformats.org/drawingml/2006/main">
              <a:ext uri="{FF2B5EF4-FFF2-40B4-BE49-F238E27FC236}">
                <a16:creationId xmlns:a16="http://schemas.microsoft.com/office/drawing/2014/main" id="{3BD471D3-B972-4A59-9278-6BCCE5FF338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81B0C168-D2D4-498C-A964-18E6BDB614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7   3</a:t>
            </a:r>
          </a:p>
        </p:txBody>
      </p:sp>
    </p:spTree>
    <p:extLst>
      <p:ext uri="{BB962C8B-B14F-4D97-AF65-F5344CB8AC3E}">
        <p14:creationId xmlns:p14="http://schemas.microsoft.com/office/powerpoint/2010/main" val="88518900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3AA6F4-E285-44BD-8B8E-632B0C0A89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5C9DF3-E7D9-4930-8C9C-7E92BEB635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8442EC7-13E5-4563-8DA4-37FB6EABF3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Rehearse before test day</a:t>
            </a:r>
          </a:p>
        </p:txBody>
      </p:sp>
      <p:sp>
        <p:nvSpPr>
          <p:cNvPr id="4" name="">
            <a:extLst xmlns:a="http://schemas.openxmlformats.org/drawingml/2006/main">
              <a:ext uri="{FF2B5EF4-FFF2-40B4-BE49-F238E27FC236}">
                <a16:creationId xmlns:a16="http://schemas.microsoft.com/office/drawing/2014/main" id="{601284E6-119C-436D-AA92-BD95EC5F8D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958237-F602-4413-8F68-23368FEE0A6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separate practice notebook before the timed session.</a:t>
            </a:r>
          </a:p>
        </p:txBody>
      </p:sp>
      <p:sp>
        <p:nvSpPr>
          <p:cNvPr id="6" name="">
            <a:extLst xmlns:a="http://schemas.openxmlformats.org/drawingml/2006/main">
              <a:ext uri="{FF2B5EF4-FFF2-40B4-BE49-F238E27FC236}">
                <a16:creationId xmlns:a16="http://schemas.microsoft.com/office/drawing/2014/main" id="{1AAD005A-25D5-48F9-92A5-E4DE8C37B3D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EB219C-8923-448A-8112-C99CFB56A6D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supplied data and run a familiar calculation.</a:t>
            </a:r>
          </a:p>
        </p:txBody>
      </p:sp>
      <p:sp>
        <p:nvSpPr>
          <p:cNvPr id="8" name="">
            <a:extLst xmlns:a="http://schemas.openxmlformats.org/drawingml/2006/main">
              <a:ext uri="{FF2B5EF4-FFF2-40B4-BE49-F238E27FC236}">
                <a16:creationId xmlns:a16="http://schemas.microsoft.com/office/drawing/2014/main" id="{F58DD51C-9D39-4F02-B578-0B96D4DECEE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4ECCA7A-7A8A-40B2-B99F-D3EB9DD9192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packet and permitted resources are issued by the lecturer.</a:t>
            </a:r>
          </a:p>
        </p:txBody>
      </p:sp>
      <p:sp>
        <p:nvSpPr>
          <p:cNvPr id="10" name="">
            <a:extLst xmlns:a="http://schemas.openxmlformats.org/drawingml/2006/main">
              <a:ext uri="{FF2B5EF4-FFF2-40B4-BE49-F238E27FC236}">
                <a16:creationId xmlns:a16="http://schemas.microsoft.com/office/drawing/2014/main" id="{93B366CD-072B-4D53-9AB8-3C7566E10E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a:t>
            </a:r>
          </a:p>
        </p:txBody>
      </p:sp>
    </p:spTree>
    <p:extLst>
      <p:ext uri="{BB962C8B-B14F-4D97-AF65-F5344CB8AC3E}">
        <p14:creationId xmlns:p14="http://schemas.microsoft.com/office/powerpoint/2010/main" val="1884015660"/>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E1B9FA5E-B219-404F-B0A7-350D2FFD3DF1}"/>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12ED446C-3860-449B-BBAB-96C8F06139EA}"/>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1E959916-F353-423B-BD45-2DA973E4D34B}"/>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Save the complete notebook</a:t>
            </a:r>
          </a:p>
        </p:txBody>
      </p:sp>
      <p:sp>
        <p:nvSpPr>
          <p:cNvPr id="4" name="">
            <a:extLst>
              <a:ext uri="{FF2B5EF4-FFF2-40B4-BE49-F238E27FC236}">
                <ns2:creationId id="{51D2FE9F-A2A5-4A71-9DA9-12C043D31232}"/>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41B709C7-EC3A-443C-A99E-847E92072DB6}"/>
              </a:ext>
            </a:extLst>
          </p:cNvPr>
          <p:cNvSpPr>
            <a:spLocks noGrp="1"/>
          </p:cNvSpPr>
          <p:nvPr/>
        </p:nvSpPr>
        <p:spPr>
          <a:xfrm>
            <a:off x="1381125" y="17811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Type Part B under My written evidence in the notebook.</a:t>
            </a:r>
          </a:p>
        </p:txBody>
      </p:sp>
      <p:sp>
        <p:nvSpPr>
          <p:cNvPr id="6" name="">
            <a:extLst>
              <a:ext uri="{FF2B5EF4-FFF2-40B4-BE49-F238E27FC236}">
                <ns2:creationId id="{7B3AB7EB-D48A-4670-8A83-6ED05E214DDE}"/>
              </a:ext>
            </a:extLst>
          </p:cNvPr>
          <p:cNvSpPr>
            <a:spLocks noGrp="1"/>
          </p:cNvSpPr>
          <p:nvPr/>
        </p:nvSpPr>
        <p:spPr>
          <a:xfrm>
            <a:off x="590550" y="32099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BD74CDFD-CC42-4CD1-B35E-CB336D79B009}"/>
              </a:ext>
            </a:extLst>
          </p:cNvPr>
          <p:cNvSpPr>
            <a:spLocks noGrp="1"/>
          </p:cNvSpPr>
          <p:nvPr/>
        </p:nvSpPr>
        <p:spPr>
          <a:xfrm>
            <a:off x="1381125" y="320992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complete notebook in the designated local folder.</a:t>
            </a:r>
          </a:p>
        </p:txBody>
      </p:sp>
      <p:sp>
        <p:nvSpPr>
          <p:cNvPr id="8" name="">
            <a:extLst>
              <a:ext uri="{FF2B5EF4-FFF2-40B4-BE49-F238E27FC236}">
                <ns2:creationId id="{B6129F8E-116B-43A4-96E4-DFFEC1C3DB05}"/>
              </a:ext>
            </a:extLst>
          </p:cNvPr>
          <p:cNvSpPr>
            <a:spLocks noGrp="1"/>
          </p:cNvSpPr>
          <p:nvPr/>
        </p:nvSpPr>
        <p:spPr>
          <a:xfrm>
            <a:off x="590550" y="46386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EE13258C-42C0-4FF3-8B65-0EDB78036B7A}"/>
              </a:ext>
            </a:extLst>
          </p:cNvPr>
          <p:cNvSpPr>
            <a:spLocks noGrp="1"/>
          </p:cNvSpPr>
          <p:nvPr/>
        </p:nvSpPr>
        <p:spPr>
          <a:xfrm>
            <a:off x="1381125" y="46386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Reopen it to check that code and written answers were saved.</a:t>
            </a:r>
          </a:p>
        </p:txBody>
      </p:sp>
      <p:sp>
        <p:nvSpPr>
          <p:cNvPr id="10" name="">
            <a:extLst>
              <a:ext uri="{FF2B5EF4-FFF2-40B4-BE49-F238E27FC236}">
                <ns2:creationId id="{766F86F3-D6F1-4313-87CE-0DA1D00453E7}"/>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a:t>
            </a:r>
          </a:p>
        </p:txBody>
      </p:sp>
    </p:spTree>
    <p:extLst>
      <p:ext uri="{BB962C8B-B14F-4D97-AF65-F5344CB8AC3E}">
        <ns3:creationId val="37773132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E47453-2CDE-4DE0-95A1-9120F6C9EB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D642BF-2009-4D8B-88DC-09B7C81D53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B71213C-DFFA-4C56-A883-977C9208F5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 the published test procedure</a:t>
            </a:r>
          </a:p>
        </p:txBody>
      </p:sp>
      <p:sp>
        <p:nvSpPr>
          <p:cNvPr id="4" name="">
            <a:extLst xmlns:a="http://schemas.openxmlformats.org/drawingml/2006/main">
              <a:ext uri="{FF2B5EF4-FFF2-40B4-BE49-F238E27FC236}">
                <a16:creationId xmlns:a16="http://schemas.microsoft.com/office/drawing/2014/main" id="{F83619F5-CC05-471D-97E0-4992EB4CA54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D845617-F4B8-4213-BA5A-8575DE462E0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briefing before starting assessed work.</a:t>
            </a:r>
          </a:p>
        </p:txBody>
      </p:sp>
      <p:sp>
        <p:nvSpPr>
          <p:cNvPr id="6" name="">
            <a:extLst xmlns:a="http://schemas.openxmlformats.org/drawingml/2006/main">
              <a:ext uri="{FF2B5EF4-FFF2-40B4-BE49-F238E27FC236}">
                <a16:creationId xmlns:a16="http://schemas.microsoft.com/office/drawing/2014/main" id="{1622E83A-A088-4DB8-ADF0-738C320F6F7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4931BA-66F4-4FD5-B938-96199077ECC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only the resources permitted for that part of the test.</a:t>
            </a:r>
          </a:p>
        </p:txBody>
      </p:sp>
      <p:sp>
        <p:nvSpPr>
          <p:cNvPr id="8" name="">
            <a:extLst xmlns:a="http://schemas.openxmlformats.org/drawingml/2006/main">
              <a:ext uri="{FF2B5EF4-FFF2-40B4-BE49-F238E27FC236}">
                <a16:creationId xmlns:a16="http://schemas.microsoft.com/office/drawing/2014/main" id="{5530DB47-5CB9-4CAD-B9CD-73551994FB7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11C633C-E13A-47C6-84CF-EA6A4FB9166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a technical failure to the invigilator immediately.</a:t>
            </a:r>
          </a:p>
        </p:txBody>
      </p:sp>
      <p:sp>
        <p:nvSpPr>
          <p:cNvPr id="10" name="">
            <a:extLst xmlns:a="http://schemas.openxmlformats.org/drawingml/2006/main">
              <a:ext uri="{FF2B5EF4-FFF2-40B4-BE49-F238E27FC236}">
                <a16:creationId xmlns:a16="http://schemas.microsoft.com/office/drawing/2014/main" id="{CB709C14-4F82-42BD-A7B6-79797A5D0C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a:t>
            </a:r>
          </a:p>
        </p:txBody>
      </p:sp>
    </p:spTree>
    <p:extLst>
      <p:ext uri="{BB962C8B-B14F-4D97-AF65-F5344CB8AC3E}">
        <p14:creationId xmlns:p14="http://schemas.microsoft.com/office/powerpoint/2010/main" val="165405901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C8E7F37-42FA-43C1-B9F4-48FC5AE7F1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66FFCD-A0E1-4957-9D91-23D452A9C5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9850D8E-620F-491D-9C77-C7BCB9FE11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before test day</a:t>
            </a:r>
          </a:p>
        </p:txBody>
      </p:sp>
      <p:sp>
        <p:nvSpPr>
          <p:cNvPr id="4" name="">
            <a:extLst xmlns:a="http://schemas.openxmlformats.org/drawingml/2006/main">
              <a:ext uri="{FF2B5EF4-FFF2-40B4-BE49-F238E27FC236}">
                <a16:creationId xmlns:a16="http://schemas.microsoft.com/office/drawing/2014/main" id="{F038F0BA-F47B-42E4-8875-FD6671F2FE0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B7D58B7-D136-4317-9502-63BDDEF13C3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[3,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print(sum(values) / len(values))</a:t>
            </a:r>
          </a:p>
        </p:txBody>
      </p:sp>
      <p:sp>
        <p:nvSpPr>
          <p:cNvPr id="6" name="">
            <a:extLst xmlns:a="http://schemas.openxmlformats.org/drawingml/2006/main">
              <a:ext uri="{FF2B5EF4-FFF2-40B4-BE49-F238E27FC236}">
                <a16:creationId xmlns:a16="http://schemas.microsoft.com/office/drawing/2014/main" id="{36AEB899-4FF9-4BF8-A735-CF57F3DB698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431A93D-AAC0-4349-B2BF-4636AC32818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BA580877-8FBB-44AE-9D46-C2845C50B3A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177EDA21-D426-4EBC-A6B4-3073A7A00CC7}"/>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9E081412-71A5-4768-89A1-A4CD000E2BC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DAE5C004-514E-424E-8BBA-9497619D52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7</a:t>
            </a:r>
          </a:p>
        </p:txBody>
      </p:sp>
    </p:spTree>
    <p:extLst>
      <p:ext uri="{BB962C8B-B14F-4D97-AF65-F5344CB8AC3E}">
        <p14:creationId xmlns:p14="http://schemas.microsoft.com/office/powerpoint/2010/main" val="1506255450"/>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36C2C526-EEA0-43C3-B93E-7A6D425715CA}"/>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98004A76-418D-4411-8E92-D265F0BD8368}"/>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a:ext uri="{FF2B5EF4-FFF2-40B4-BE49-F238E27FC236}">
                <ns2:creationId id="{05463AF9-BD91-4F11-B679-6900D4C283E9}"/>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Before the timed test</a:t>
            </a:r>
          </a:p>
        </p:txBody>
      </p:sp>
      <p:sp>
        <p:nvSpPr>
          <p:cNvPr id="4" name="">
            <a:extLst>
              <a:ext uri="{FF2B5EF4-FFF2-40B4-BE49-F238E27FC236}">
                <ns2:creationId id="{60993B4B-B866-47AF-AE98-6A43404F696A}"/>
              </a:ext>
            </a:extLst>
          </p:cNvPr>
          <p:cNvSpPr>
            <a:spLocks noGrp="1"/>
          </p:cNvSpPr>
          <p:nvPr/>
        </p:nvSpPr>
        <p:spPr>
          <a:xfrm>
            <a:off x="619125" y="1809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37D77ACB-947F-4973-A1A3-6F52002E94E9}"/>
              </a:ext>
            </a:extLst>
          </p:cNvPr>
          <p:cNvSpPr>
            <a:spLocks noGrp="1"/>
          </p:cNvSpPr>
          <p:nvPr/>
        </p:nvSpPr>
        <p:spPr>
          <a:xfrm>
            <a:off x="1409700" y="18097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Save a practice notebook in the designated local folder.</a:t>
            </a:r>
          </a:p>
        </p:txBody>
      </p:sp>
      <p:sp>
        <p:nvSpPr>
          <p:cNvPr id="6" name="">
            <a:extLst>
              <a:ext uri="{FF2B5EF4-FFF2-40B4-BE49-F238E27FC236}">
                <ns2:creationId id="{5B3DB7DC-D7B4-44BF-8D12-EBB05A69955E}"/>
              </a:ext>
            </a:extLst>
          </p:cNvPr>
          <p:cNvSpPr>
            <a:spLocks noGrp="1"/>
          </p:cNvSpPr>
          <p:nvPr/>
        </p:nvSpPr>
        <p:spPr>
          <a:xfrm>
            <a:off x="619125" y="31432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1B514777-7525-4010-A9C4-9E240952EEC3}"/>
              </a:ext>
            </a:extLst>
          </p:cNvPr>
          <p:cNvSpPr>
            <a:spLocks noGrp="1"/>
          </p:cNvSpPr>
          <p:nvPr/>
        </p:nvSpPr>
        <p:spPr>
          <a:xfrm>
            <a:off x="1409700" y="31432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Type a practice explanation in the notebook text cell.</a:t>
            </a:r>
          </a:p>
        </p:txBody>
      </p:sp>
      <p:sp>
        <p:nvSpPr>
          <p:cNvPr id="8" name="">
            <a:extLst>
              <a:ext uri="{FF2B5EF4-FFF2-40B4-BE49-F238E27FC236}">
                <ns2:creationId id="{D985C0FE-6185-4F41-ADC7-8630B20C2AE1}"/>
              </a:ext>
            </a:extLst>
          </p:cNvPr>
          <p:cNvSpPr>
            <a:spLocks noGrp="1"/>
          </p:cNvSpPr>
          <p:nvPr/>
        </p:nvSpPr>
        <p:spPr>
          <a:xfrm>
            <a:off x="619125" y="4476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EACF699D-6F73-4892-BD56-CB4F66C1A59A}"/>
              </a:ext>
            </a:extLst>
          </p:cNvPr>
          <p:cNvSpPr>
            <a:spLocks noGrp="1"/>
          </p:cNvSpPr>
          <p:nvPr/>
        </p:nvSpPr>
        <p:spPr>
          <a:xfrm>
            <a:off x="1409700" y="44767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Close the notebook and locate it again without help.</a:t>
            </a:r>
          </a:p>
        </p:txBody>
      </p:sp>
      <p:sp>
        <p:nvSpPr>
          <p:cNvPr id="10" name="">
            <a:extLst>
              <a:ext uri="{FF2B5EF4-FFF2-40B4-BE49-F238E27FC236}">
                <ns2:creationId id="{D111853D-4317-4E5D-A876-C929A8CE25DF}"/>
              </a:ext>
            </a:extLst>
          </p:cNvPr>
          <p:cNvSpPr>
            <a:spLocks noGrp="1"/>
          </p:cNvSpPr>
          <p:nvPr/>
        </p:nvSpPr>
        <p:spPr>
          <a:xfrm>
            <a:off x="0" y="5915025"/>
            <a:ext cx="12191695" cy="466725"/>
          </a:xfrm>
          <a:prstGeom prst="rect">
            <a:avLst/>
          </a:prstGeom>
          <a:solidFill>
            <a:srgbClr val="E5F1EE"/>
          </a:solidFill>
          <a:ln w="0">
            <a:noFill/>
          </a:ln>
        </p:spPr>
      </p:sp>
      <p:sp>
        <p:nvSpPr>
          <p:cNvPr id="11" name="">
            <a:extLst>
              <a:ext uri="{FF2B5EF4-FFF2-40B4-BE49-F238E27FC236}">
                <ns2:creationId id="{FF936C4A-5D2A-4A50-9AC1-50A0C8B63DEE}"/>
              </a:ext>
            </a:extLst>
          </p:cNvPr>
          <p:cNvSpPr>
            <a:spLocks noGrp="1"/>
          </p:cNvSpPr>
          <p:nvPr/>
        </p:nvSpPr>
        <p:spPr>
          <a:xfrm>
            <a:off x="619125" y="5981700"/>
            <a:ext cx="10810875" cy="361950"/>
          </a:xfrm>
          <a:prstGeom prst="rect">
            <a:avLst/>
          </a:prstGeom>
          <a:noFill/>
          <a:ln w="0">
            <a:noFill/>
          </a:ln>
        </p:spPr>
        <p:txBody>
          <a:bodyPr>
            <a:noAutofit/>
          </a:bodyPr>
          <a:lstStyle/>
          <a:p>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a:ext uri="{FF2B5EF4-FFF2-40B4-BE49-F238E27FC236}">
                <ns2:creationId id="{DE05DDCA-96EE-4B12-9CAF-7BA3485E5748}"/>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8</a:t>
            </a:r>
          </a:p>
        </p:txBody>
      </p:sp>
    </p:spTree>
    <p:extLst>
      <p:ext uri="{BB962C8B-B14F-4D97-AF65-F5344CB8AC3E}">
        <ns3:creationId val="139382164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E124ED8-1DAE-4C52-B0D8-FFB37B94FE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3A1FB9-B395-4B87-AE5E-DA7635FBD5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95D86C7B-3339-4B20-9B98-E17A9D2CAB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B06B4661-6649-4C7C-B6AA-1C0674274B64}"/>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3F8A05-2AB3-4264-B60D-454AF0E9DB3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Both files reopen. Rehearse using practice material before the assessed period, never during its working time.</a:t>
            </a:r>
          </a:p>
        </p:txBody>
      </p:sp>
      <p:sp>
        <p:nvSpPr>
          <p:cNvPr id="6" name="">
            <a:extLst xmlns:a="http://schemas.openxmlformats.org/drawingml/2006/main">
              <a:ext uri="{FF2B5EF4-FFF2-40B4-BE49-F238E27FC236}">
                <a16:creationId xmlns:a16="http://schemas.microsoft.com/office/drawing/2014/main" id="{69D6CB2D-8E6E-496A-8992-C4D8F231686B}"/>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D3C93934-EE2E-4C6A-A2A0-E117A417A8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9</a:t>
            </a:r>
          </a:p>
        </p:txBody>
      </p:sp>
    </p:spTree>
    <p:extLst>
      <p:ext uri="{BB962C8B-B14F-4D97-AF65-F5344CB8AC3E}">
        <p14:creationId xmlns:p14="http://schemas.microsoft.com/office/powerpoint/2010/main" val="13900314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6159931-B946-48CF-AB10-62347C7DC1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F6A361-A13D-4410-B61B-ADFB885955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7EFF762-F372-4FCD-81C1-8C1CF13D94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session</a:t>
            </a:r>
          </a:p>
        </p:txBody>
      </p:sp>
      <p:sp>
        <p:nvSpPr>
          <p:cNvPr id="4" name="">
            <a:extLst xmlns:a="http://schemas.openxmlformats.org/drawingml/2006/main">
              <a:ext uri="{FF2B5EF4-FFF2-40B4-BE49-F238E27FC236}">
                <a16:creationId xmlns:a16="http://schemas.microsoft.com/office/drawing/2014/main" id="{0963D954-5F26-48B6-9327-CF6C0D4AA0D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9749A41-6FBD-46BB-BE1F-30A2E6C20AF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00–15 minutes: briefing and file check.</a:t>
            </a:r>
          </a:p>
        </p:txBody>
      </p:sp>
      <p:sp>
        <p:nvSpPr>
          <p:cNvPr id="6" name="">
            <a:extLst xmlns:a="http://schemas.openxmlformats.org/drawingml/2006/main">
              <a:ext uri="{FF2B5EF4-FFF2-40B4-BE49-F238E27FC236}">
                <a16:creationId xmlns:a16="http://schemas.microsoft.com/office/drawing/2014/main" id="{41217938-4D45-4CEE-A9FF-852450D692D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62AB7D6-5593-4E08-B424-30B298B441E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15–135 minutes: individual practical work.</a:t>
            </a:r>
          </a:p>
        </p:txBody>
      </p:sp>
      <p:sp>
        <p:nvSpPr>
          <p:cNvPr id="8" name="">
            <a:extLst xmlns:a="http://schemas.openxmlformats.org/drawingml/2006/main">
              <a:ext uri="{FF2B5EF4-FFF2-40B4-BE49-F238E27FC236}">
                <a16:creationId xmlns:a16="http://schemas.microsoft.com/office/drawing/2014/main" id="{A3373F50-BCC9-45CA-8720-B59768FB1D0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BD0820B-27AD-4166-83EF-87B666FD7A7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135–160 minutes: typed offline reasoning, with code execution prohibited.</a:t>
            </a:r>
          </a:p>
        </p:txBody>
      </p:sp>
      <p:sp>
        <p:nvSpPr>
          <p:cNvPr id="10" name="">
            <a:extLst xmlns:a="http://schemas.openxmlformats.org/drawingml/2006/main">
              <a:ext uri="{FF2B5EF4-FFF2-40B4-BE49-F238E27FC236}">
                <a16:creationId xmlns:a16="http://schemas.microsoft.com/office/drawing/2014/main" id="{DB08F3D3-A95A-4267-8C9B-CAED6A30308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51DF393-EDBD-4971-B5FB-D67051D115B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160–180 minutes: save and hand in through invigilated offline collection.</a:t>
            </a:r>
          </a:p>
        </p:txBody>
      </p:sp>
      <p:sp>
        <p:nvSpPr>
          <p:cNvPr id="12" name="">
            <a:extLst xmlns:a="http://schemas.openxmlformats.org/drawingml/2006/main">
              <a:ext uri="{FF2B5EF4-FFF2-40B4-BE49-F238E27FC236}">
                <a16:creationId xmlns:a16="http://schemas.microsoft.com/office/drawing/2014/main" id="{977820AC-2DDC-4B05-8B03-DEDCB7B8CC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10</a:t>
            </a:r>
          </a:p>
        </p:txBody>
      </p:sp>
    </p:spTree>
    <p:extLst>
      <p:ext uri="{BB962C8B-B14F-4D97-AF65-F5344CB8AC3E}">
        <p14:creationId xmlns:p14="http://schemas.microsoft.com/office/powerpoint/2010/main" val="201235567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F8227DF-7EE3-4CED-84ED-02F14B2AB8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5B9530-A711-4E22-B57B-19EABF9F89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62F527B-CE64-417D-A05B-6ECE0341AE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51B4E69B-75FA-4DFA-9D0F-D38BE67287B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FCDE4D-5461-4FC3-83C1-9410610BAC3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C17F55C-4125-4B6B-9391-87AEB8E9F14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learner completes the offline save-and-reopen rehearsal.</a:t>
            </a:r>
          </a:p>
        </p:txBody>
      </p:sp>
      <p:sp>
        <p:nvSpPr>
          <p:cNvPr id="7" name="">
            <a:extLst xmlns:a="http://schemas.openxmlformats.org/drawingml/2006/main">
              <a:ext uri="{FF2B5EF4-FFF2-40B4-BE49-F238E27FC236}">
                <a16:creationId xmlns:a16="http://schemas.microsoft.com/office/drawing/2014/main" id="{6DE89A28-EBCC-47B4-9957-F3AE4D75A76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Escalate lab-access failures before the test.</a:t>
            </a:r>
          </a:p>
        </p:txBody>
      </p:sp>
      <p:sp>
        <p:nvSpPr>
          <p:cNvPr id="8" name="">
            <a:extLst xmlns:a="http://schemas.openxmlformats.org/drawingml/2006/main">
              <a:ext uri="{FF2B5EF4-FFF2-40B4-BE49-F238E27FC236}">
                <a16:creationId xmlns:a16="http://schemas.microsoft.com/office/drawing/2014/main" id="{EA11EB21-E2E1-4804-A38D-1065F54659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11</a:t>
            </a:r>
          </a:p>
        </p:txBody>
      </p:sp>
    </p:spTree>
    <p:extLst>
      <p:ext uri="{BB962C8B-B14F-4D97-AF65-F5344CB8AC3E}">
        <p14:creationId xmlns:p14="http://schemas.microsoft.com/office/powerpoint/2010/main" val="48690502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EE9B778-1BF3-4030-A83A-29B73ED1F8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E90DFB-C14A-43FC-A23A-6E18F20FE5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B2F9A4E-E64B-4A4C-997B-81E7FAE5D4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B49C3816-56FF-4B52-97B7-5CE1D77882E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9EDF1DD-7A80-46AB-AC1C-E916C9AB1C9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official TEST1 brief, interfaces and rubric.</a:t>
            </a:r>
          </a:p>
        </p:txBody>
      </p:sp>
      <p:sp>
        <p:nvSpPr>
          <p:cNvPr id="6" name="">
            <a:extLst xmlns:a="http://schemas.openxmlformats.org/drawingml/2006/main">
              <a:ext uri="{FF2B5EF4-FFF2-40B4-BE49-F238E27FC236}">
                <a16:creationId xmlns:a16="http://schemas.microsoft.com/office/drawing/2014/main" id="{3884FEA5-0E9C-4F38-8D09-F4C2A2ECC24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260A1E-6A37-4838-98AD-791F65DB75B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assessed period has 120 practical minutes and 25 typed reasoning minutes.</a:t>
            </a:r>
          </a:p>
        </p:txBody>
      </p:sp>
      <p:sp>
        <p:nvSpPr>
          <p:cNvPr id="8" name="">
            <a:extLst xmlns:a="http://schemas.openxmlformats.org/drawingml/2006/main">
              <a:ext uri="{FF2B5EF4-FFF2-40B4-BE49-F238E27FC236}">
                <a16:creationId xmlns:a16="http://schemas.microsoft.com/office/drawing/2014/main" id="{F6B42D89-3CB4-44BE-9431-846E3DBD72B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685D039-A390-4187-A314-D470B83A6A7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Your lecturer will issue the test packet and collection instructions.</a:t>
            </a:r>
          </a:p>
        </p:txBody>
      </p:sp>
      <p:sp>
        <p:nvSpPr>
          <p:cNvPr id="10" name="">
            <a:extLst xmlns:a="http://schemas.openxmlformats.org/drawingml/2006/main">
              <a:ext uri="{FF2B5EF4-FFF2-40B4-BE49-F238E27FC236}">
                <a16:creationId xmlns:a16="http://schemas.microsoft.com/office/drawing/2014/main" id="{A20DFDE4-C47A-49DF-9538-87AC49DA13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12</a:t>
            </a:r>
          </a:p>
        </p:txBody>
      </p:sp>
    </p:spTree>
    <p:extLst>
      <p:ext uri="{BB962C8B-B14F-4D97-AF65-F5344CB8AC3E}">
        <p14:creationId xmlns:p14="http://schemas.microsoft.com/office/powerpoint/2010/main" val="211197700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DF10587-4270-4BD0-837A-0EFA6FD853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0CBA84-4470-492C-908B-F9C20600DD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59335D2-EE28-42B0-862D-0274CE6B82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a:t>
            </a:r>
          </a:p>
        </p:txBody>
      </p:sp>
      <p:sp>
        <p:nvSpPr>
          <p:cNvPr id="4" name="">
            <a:extLst xmlns:a="http://schemas.openxmlformats.org/drawingml/2006/main">
              <a:ext uri="{FF2B5EF4-FFF2-40B4-BE49-F238E27FC236}">
                <a16:creationId xmlns:a16="http://schemas.microsoft.com/office/drawing/2014/main" id="{BE2B0DCD-6A94-4BF8-8D73-66A5E66A19E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B5EC947-0964-48D6-BFE0-A18795AF42F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8BAAD2FD-FD34-4903-B661-58AD93B713E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DE6A2A-FC3E-4DEF-B6BE-421742EC3D1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A53EFB3C-EA07-482D-B200-0FB093362A8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5E1F1E5-34D0-480B-95BD-556F62922F5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96D34D80-7D03-44C6-B8C3-7B99362074C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5D967F0-FC8F-4AD9-AA51-A98B9135CB9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A6207436-C56C-4C52-99E8-3F8E2CBC1E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13</a:t>
            </a:r>
          </a:p>
        </p:txBody>
      </p:sp>
    </p:spTree>
    <p:extLst>
      <p:ext uri="{BB962C8B-B14F-4D97-AF65-F5344CB8AC3E}">
        <p14:creationId xmlns:p14="http://schemas.microsoft.com/office/powerpoint/2010/main" val="199585284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5FCD7B1-969E-4A41-ACF1-B02B35A732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1E236B-1537-4560-BB0B-D5578D95D3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2BF799-8724-48C0-9A1D-6A4906D622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0A594105-A3D6-4270-9DE4-B1B6B82B35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CCD9DC-561C-45CD-936D-5BFF744D903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CCED2E57-22C2-473A-88F5-E3900C56739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E2B6C77-E214-4BEB-82F5-7462246874B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ADA83380-43E1-4932-9DF1-4291EA2E067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0666359-6A90-4B1A-9406-D5A2B540D3D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EB9F4CEE-9804-4A6E-A4AA-050AC10BD1D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C0BD681-0AB0-4164-BEC1-96ED55BB33D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D689D4D9-CDBC-4E0E-AA3B-98FE770B80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14</a:t>
            </a:r>
          </a:p>
        </p:txBody>
      </p:sp>
    </p:spTree>
    <p:extLst>
      <p:ext uri="{BB962C8B-B14F-4D97-AF65-F5344CB8AC3E}">
        <p14:creationId xmlns:p14="http://schemas.microsoft.com/office/powerpoint/2010/main" val="14976535"/>
      </p:ext>
    </p:extLst>
  </p:cSld>
</p:sld>
</file>

<file path=ppt/slides/slide1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0B196D83-4CA8-47A1-B07E-FC4DBEC4711B}"/>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63932BAD-83C0-4B5A-9DCD-1D5966DC6264}"/>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BC9A6E92-0382-4348-91AD-0DD52CD3A737}"/>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a:ext uri="{FF2B5EF4-FFF2-40B4-BE49-F238E27FC236}">
                <ns2:creationId id="{183D41BE-946B-478E-8E5D-02E62B996620}"/>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1CE09AE2-54C2-41F7-9C32-EE1F79A02691}"/>
              </a:ext>
            </a:extLst>
          </p:cNvPr>
          <p:cNvSpPr>
            <a:spLocks noGrp="1"/>
          </p:cNvSpPr>
          <p:nvPr/>
        </p:nvSpPr>
        <p:spPr>
          <a:xfrm>
            <a:off x="1381125" y="1781175"/>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readable written evidence in the notebook.</a:t>
            </a:r>
          </a:p>
        </p:txBody>
      </p:sp>
      <p:sp>
        <p:nvSpPr>
          <p:cNvPr id="6" name="">
            <a:extLst>
              <a:ext uri="{FF2B5EF4-FFF2-40B4-BE49-F238E27FC236}">
                <ns2:creationId id="{46F3011F-D28A-49A9-B5E1-A63135FCA3B3}"/>
              </a:ext>
            </a:extLst>
          </p:cNvPr>
          <p:cNvSpPr>
            <a:spLocks noGrp="1"/>
          </p:cNvSpPr>
          <p:nvPr/>
        </p:nvSpPr>
        <p:spPr>
          <a:xfrm>
            <a:off x="590550" y="28527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8C6F5238-0BFC-4645-A03C-90D239A99744}"/>
              </a:ext>
            </a:extLst>
          </p:cNvPr>
          <p:cNvSpPr>
            <a:spLocks noGrp="1"/>
          </p:cNvSpPr>
          <p:nvPr/>
        </p:nvSpPr>
        <p:spPr>
          <a:xfrm>
            <a:off x="1381125" y="2852738"/>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Loading &amp; profiling (15.0 total): Data loaded correctly; shape, types and summary produced; the dataset is described accurately in the student's own words.</a:t>
            </a:r>
          </a:p>
        </p:txBody>
      </p:sp>
      <p:sp>
        <p:nvSpPr>
          <p:cNvPr id="8" name="">
            <a:extLst>
              <a:ext uri="{FF2B5EF4-FFF2-40B4-BE49-F238E27FC236}">
                <ns2:creationId id="{F05AEF5A-6CE6-4F22-96A6-E26F7489AC1B}"/>
              </a:ext>
            </a:extLst>
          </p:cNvPr>
          <p:cNvSpPr>
            <a:spLocks noGrp="1"/>
          </p:cNvSpPr>
          <p:nvPr/>
        </p:nvSpPr>
        <p:spPr>
          <a:xfrm>
            <a:off x="590550" y="392430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48EBC24D-E781-46C5-8C48-F6A99F4E9511}"/>
              </a:ext>
            </a:extLst>
          </p:cNvPr>
          <p:cNvSpPr>
            <a:spLocks noGrp="1"/>
          </p:cNvSpPr>
          <p:nvPr/>
        </p:nvSpPr>
        <p:spPr>
          <a:xfrm>
            <a:off x="1381125" y="3924300"/>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Cleaning decisions &amp; justification (20.0 total): Defects found.</a:t>
            </a:r>
          </a:p>
        </p:txBody>
      </p:sp>
      <p:sp>
        <p:nvSpPr>
          <p:cNvPr id="10" name="">
            <a:extLst>
              <a:ext uri="{FF2B5EF4-FFF2-40B4-BE49-F238E27FC236}">
                <ns2:creationId id="{FB685C4D-EE4B-4967-9B8E-4F24BE3A4704}"/>
              </a:ext>
            </a:extLst>
          </p:cNvPr>
          <p:cNvSpPr>
            <a:spLocks noGrp="1"/>
          </p:cNvSpPr>
          <p:nvPr/>
        </p:nvSpPr>
        <p:spPr>
          <a:xfrm>
            <a:off x="590550" y="49958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A2D613EC-8CF6-4412-9099-4DD5D8560255}"/>
              </a:ext>
            </a:extLst>
          </p:cNvPr>
          <p:cNvSpPr>
            <a:spLocks noGrp="1"/>
          </p:cNvSpPr>
          <p:nvPr/>
        </p:nvSpPr>
        <p:spPr>
          <a:xfrm>
            <a:off x="1381125" y="4995863"/>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Each handling decision stated AND justified.</a:t>
            </a:r>
          </a:p>
        </p:txBody>
      </p:sp>
      <p:sp>
        <p:nvSpPr>
          <p:cNvPr id="12" name="">
            <a:extLst>
              <a:ext uri="{FF2B5EF4-FFF2-40B4-BE49-F238E27FC236}">
                <ns2:creationId id="{04359CB4-5609-4506-B9AA-18B803292129}"/>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15</a:t>
            </a:r>
          </a:p>
        </p:txBody>
      </p:sp>
    </p:spTree>
    <p:extLst>
      <p:ext uri="{BB962C8B-B14F-4D97-AF65-F5344CB8AC3E}">
        <ns3:creationId val="125018380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31E9996-6B54-419D-99F3-0539AA6346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145613-2B9A-4551-AB6C-AD2DE24980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2DDF8C-B60C-420C-86C3-C2DAE0210C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4CDAB573-E648-4BF0-AF5F-CACC4467942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2AB402B-8668-47AD-A53D-ABE17FF7C6F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Marks are for the justification - an unjustified correct fix scores roughly half.</a:t>
            </a:r>
          </a:p>
        </p:txBody>
      </p:sp>
      <p:sp>
        <p:nvSpPr>
          <p:cNvPr id="6" name="">
            <a:extLst xmlns:a="http://schemas.openxmlformats.org/drawingml/2006/main">
              <a:ext uri="{FF2B5EF4-FFF2-40B4-BE49-F238E27FC236}">
                <a16:creationId xmlns:a16="http://schemas.microsoft.com/office/drawing/2014/main" id="{E1AFDABF-7D81-4EE6-B7C1-36397463A9E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5CCE1ED-6E64-474C-8DFA-7E4D571B5F3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Visualisation (20.0 total): Three charts, each captioned with the question it answers.</a:t>
            </a:r>
          </a:p>
        </p:txBody>
      </p:sp>
      <p:sp>
        <p:nvSpPr>
          <p:cNvPr id="8" name="">
            <a:extLst xmlns:a="http://schemas.openxmlformats.org/drawingml/2006/main">
              <a:ext uri="{FF2B5EF4-FFF2-40B4-BE49-F238E27FC236}">
                <a16:creationId xmlns:a16="http://schemas.microsoft.com/office/drawing/2014/main" id="{0BD54E7E-9068-4429-8C70-6750E8CE391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FBF7E9-63F1-4246-AD59-41CD4E4F4BA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a:t>
            </a:r>
          </a:p>
        </p:txBody>
      </p:sp>
      <p:sp>
        <p:nvSpPr>
          <p:cNvPr id="10" name="">
            <a:extLst xmlns:a="http://schemas.openxmlformats.org/drawingml/2006/main">
              <a:ext uri="{FF2B5EF4-FFF2-40B4-BE49-F238E27FC236}">
                <a16:creationId xmlns:a16="http://schemas.microsoft.com/office/drawing/2014/main" id="{76C4B40C-A0EB-4FD9-AD1A-B65C59FF23F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812F27C-6802-4B00-8C3E-CDD77459085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Axes labelled with units.</a:t>
            </a:r>
          </a:p>
        </p:txBody>
      </p:sp>
      <p:sp>
        <p:nvSpPr>
          <p:cNvPr id="12" name="">
            <a:extLst xmlns:a="http://schemas.openxmlformats.org/drawingml/2006/main">
              <a:ext uri="{FF2B5EF4-FFF2-40B4-BE49-F238E27FC236}">
                <a16:creationId xmlns:a16="http://schemas.microsoft.com/office/drawing/2014/main" id="{EA4C3600-8225-4400-8585-D3C9FE1D7D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16</a:t>
            </a:r>
          </a:p>
        </p:txBody>
      </p:sp>
    </p:spTree>
    <p:extLst>
      <p:ext uri="{BB962C8B-B14F-4D97-AF65-F5344CB8AC3E}">
        <p14:creationId xmlns:p14="http://schemas.microsoft.com/office/powerpoint/2010/main" val="74201953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17510D-6C3E-41E2-96A6-A3CA6E4EC7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95C208-805B-435A-94F9-E48B070DB8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F0C0AFE-56C9-42B0-BCDF-5DF9BED0D4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DD8E30E5-71E9-4004-842A-DD48935AB61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1F9033-6831-4FD8-B0A9-4C338F652AE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decoration without purpose.</a:t>
            </a:r>
          </a:p>
        </p:txBody>
      </p:sp>
      <p:sp>
        <p:nvSpPr>
          <p:cNvPr id="6" name="">
            <a:extLst xmlns:a="http://schemas.openxmlformats.org/drawingml/2006/main">
              <a:ext uri="{FF2B5EF4-FFF2-40B4-BE49-F238E27FC236}">
                <a16:creationId xmlns:a16="http://schemas.microsoft.com/office/drawing/2014/main" id="{DEC40537-50F6-40E0-8583-8A2AEED5F59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E2450F3-6C0A-42AF-934B-72EA24A972D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(20.0 total): Five findings, supported by evidence from the data, stated with correct magnitudes and units.</a:t>
            </a:r>
          </a:p>
        </p:txBody>
      </p:sp>
      <p:sp>
        <p:nvSpPr>
          <p:cNvPr id="8" name="">
            <a:extLst xmlns:a="http://schemas.openxmlformats.org/drawingml/2006/main">
              <a:ext uri="{FF2B5EF4-FFF2-40B4-BE49-F238E27FC236}">
                <a16:creationId xmlns:a16="http://schemas.microsoft.com/office/drawing/2014/main" id="{FEC266CD-9249-48CD-9EF3-016FA6EDBDC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476B91-2E90-4F29-AFDB-157822451FB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wrong number loses the mark even if the method was right.</a:t>
            </a:r>
          </a:p>
        </p:txBody>
      </p:sp>
      <p:sp>
        <p:nvSpPr>
          <p:cNvPr id="10" name="">
            <a:extLst xmlns:a="http://schemas.openxmlformats.org/drawingml/2006/main">
              <a:ext uri="{FF2B5EF4-FFF2-40B4-BE49-F238E27FC236}">
                <a16:creationId xmlns:a16="http://schemas.microsoft.com/office/drawing/2014/main" id="{DBB266A0-638A-4267-99D6-3A477A90DE2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CC4C61A-1B6A-437F-98FA-48FA7E366A2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interpretation (15.0 total): One recommendation that an engineer could act on, plus a clear statement of what further data would be needed.</a:t>
            </a:r>
          </a:p>
        </p:txBody>
      </p:sp>
      <p:sp>
        <p:nvSpPr>
          <p:cNvPr id="12" name="">
            <a:extLst xmlns:a="http://schemas.openxmlformats.org/drawingml/2006/main">
              <a:ext uri="{FF2B5EF4-FFF2-40B4-BE49-F238E27FC236}">
                <a16:creationId xmlns:a16="http://schemas.microsoft.com/office/drawing/2014/main" id="{BE8A9211-05DF-4F64-ABFE-0682C8B8A3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17</a:t>
            </a:r>
          </a:p>
        </p:txBody>
      </p:sp>
    </p:spTree>
    <p:extLst>
      <p:ext uri="{BB962C8B-B14F-4D97-AF65-F5344CB8AC3E}">
        <p14:creationId xmlns:p14="http://schemas.microsoft.com/office/powerpoint/2010/main" val="160072331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48C13BA-7A6B-4F6E-918D-84C95A4888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0B706C-6A67-46BD-9BBA-E04343493A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6F68A2-D37A-495A-A8A7-A4BAFF19B5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A64DCD51-FE8B-4F90-B302-99846465897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0C3086-3626-4636-B5D8-B065D68E244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Clarity &amp; reproducibility (10.0 total): Notebook runs top to bottom.</a:t>
            </a:r>
          </a:p>
        </p:txBody>
      </p:sp>
      <p:sp>
        <p:nvSpPr>
          <p:cNvPr id="6" name="">
            <a:extLst xmlns:a="http://schemas.openxmlformats.org/drawingml/2006/main">
              <a:ext uri="{FF2B5EF4-FFF2-40B4-BE49-F238E27FC236}">
                <a16:creationId xmlns:a16="http://schemas.microsoft.com/office/drawing/2014/main" id="{D9F2AB28-9BD8-4878-8007-A2525DF509D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4BC5B77-8752-4E88-BB49-507D7FDB1A5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Logical order.</a:t>
            </a:r>
          </a:p>
        </p:txBody>
      </p:sp>
      <p:sp>
        <p:nvSpPr>
          <p:cNvPr id="8" name="">
            <a:extLst xmlns:a="http://schemas.openxmlformats.org/drawingml/2006/main">
              <a:ext uri="{FF2B5EF4-FFF2-40B4-BE49-F238E27FC236}">
                <a16:creationId xmlns:a16="http://schemas.microsoft.com/office/drawing/2014/main" id="{DA5EEB30-7807-4418-86EE-9170F0F76D6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EA962D-49CC-45FC-9045-231EB99A939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Markdown explains intent.</a:t>
            </a:r>
          </a:p>
        </p:txBody>
      </p:sp>
      <p:sp>
        <p:nvSpPr>
          <p:cNvPr id="10" name="">
            <a:extLst xmlns:a="http://schemas.openxmlformats.org/drawingml/2006/main">
              <a:ext uri="{FF2B5EF4-FFF2-40B4-BE49-F238E27FC236}">
                <a16:creationId xmlns:a16="http://schemas.microsoft.com/office/drawing/2014/main" id="{B38F95BA-8FE3-4E39-AA6F-EAD4733FFF9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4C73ADE-3F46-4CE2-B24A-DC12414D27D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dead code.</a:t>
            </a:r>
          </a:p>
        </p:txBody>
      </p:sp>
      <p:sp>
        <p:nvSpPr>
          <p:cNvPr id="12" name="">
            <a:extLst xmlns:a="http://schemas.openxmlformats.org/drawingml/2006/main">
              <a:ext uri="{FF2B5EF4-FFF2-40B4-BE49-F238E27FC236}">
                <a16:creationId xmlns:a16="http://schemas.microsoft.com/office/drawing/2014/main" id="{3CE892D6-F2FE-403F-AE53-7731EC26E9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18</a:t>
            </a:r>
          </a:p>
        </p:txBody>
      </p:sp>
    </p:spTree>
    <p:extLst>
      <p:ext uri="{BB962C8B-B14F-4D97-AF65-F5344CB8AC3E}">
        <p14:creationId xmlns:p14="http://schemas.microsoft.com/office/powerpoint/2010/main" val="111880483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85CA714-16F7-45A4-90B4-FA8DC5645E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5A537F-C9FB-4100-AE1C-FF2B4F1D20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9BE86E-EA25-475D-A36B-C77B264F6D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17F56D05-A8BB-43E6-86A5-2204A4846C8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31407D-C840-4ADF-9CE4-FCCFA023C65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Timing and Part B</a:t>
            </a:r>
          </a:p>
        </p:txBody>
      </p:sp>
      <p:sp>
        <p:nvSpPr>
          <p:cNvPr id="6" name="">
            <a:extLst xmlns:a="http://schemas.openxmlformats.org/drawingml/2006/main">
              <a:ext uri="{FF2B5EF4-FFF2-40B4-BE49-F238E27FC236}">
                <a16:creationId xmlns:a16="http://schemas.microsoft.com/office/drawing/2014/main" id="{4A40C5CD-6757-448F-8CB5-F050AFE4125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A8C8DF5-0B8C-4F27-ABC6-CCC057A7F92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 minutes setup, 120 minutes practical, 25 minutes typed offline reasoning with code execution prohibited, 20 minutes collection.</a:t>
            </a:r>
          </a:p>
        </p:txBody>
      </p:sp>
      <p:sp>
        <p:nvSpPr>
          <p:cNvPr id="8" name="">
            <a:extLst xmlns:a="http://schemas.openxmlformats.org/drawingml/2006/main">
              <a:ext uri="{FF2B5EF4-FFF2-40B4-BE49-F238E27FC236}">
                <a16:creationId xmlns:a16="http://schemas.microsoft.com/office/drawing/2014/main" id="{EC0374FD-BECB-4332-AB1B-323B26EDE58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BC879E-87EB-4F84-B554-03D31F753BE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a:t>
            </a:r>
          </a:p>
        </p:txBody>
      </p:sp>
      <p:sp>
        <p:nvSpPr>
          <p:cNvPr id="10" name="">
            <a:extLst xmlns:a="http://schemas.openxmlformats.org/drawingml/2006/main">
              <a:ext uri="{FF2B5EF4-FFF2-40B4-BE49-F238E27FC236}">
                <a16:creationId xmlns:a16="http://schemas.microsoft.com/office/drawing/2014/main" id="{69B1E111-60A9-41DD-BB67-CF048643886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8310D9D-1179-46E1-818F-810578F1B64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Why your main cleaning/model choice?</a:t>
            </a:r>
          </a:p>
        </p:txBody>
      </p:sp>
      <p:sp>
        <p:nvSpPr>
          <p:cNvPr id="12" name="">
            <a:extLst xmlns:a="http://schemas.openxmlformats.org/drawingml/2006/main">
              <a:ext uri="{FF2B5EF4-FFF2-40B4-BE49-F238E27FC236}">
                <a16:creationId xmlns:a16="http://schemas.microsoft.com/office/drawing/2014/main" id="{697A6D67-4613-4002-8271-B004380D72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19</a:t>
            </a:r>
          </a:p>
        </p:txBody>
      </p:sp>
    </p:spTree>
    <p:extLst>
      <p:ext uri="{BB962C8B-B14F-4D97-AF65-F5344CB8AC3E}">
        <p14:creationId xmlns:p14="http://schemas.microsoft.com/office/powerpoint/2010/main" val="142962600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07202AC-042A-44F6-8B2B-0D7B8F71D1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3CC02E-D183-493F-B871-6C1F9868DC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1FF69AD-0874-474E-993B-06C49321F7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FA987E4D-EFFF-4946-BBE8-F0C3FB6C161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64B23D-1A6D-4B0B-8037-B21992E7227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can your chart/metric not establish?</a:t>
            </a:r>
          </a:p>
        </p:txBody>
      </p:sp>
      <p:sp>
        <p:nvSpPr>
          <p:cNvPr id="6" name="">
            <a:extLst xmlns:a="http://schemas.openxmlformats.org/drawingml/2006/main">
              <a:ext uri="{FF2B5EF4-FFF2-40B4-BE49-F238E27FC236}">
                <a16:creationId xmlns:a16="http://schemas.microsoft.com/office/drawing/2014/main" id="{EAE17675-13EE-4833-92CC-600B9A2EBC0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CAB1D2-61B9-4523-9097-0079C039E8C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evidence would change your recommendation?</a:t>
            </a:r>
          </a:p>
        </p:txBody>
      </p:sp>
      <p:sp>
        <p:nvSpPr>
          <p:cNvPr id="8" name="">
            <a:extLst xmlns:a="http://schemas.openxmlformats.org/drawingml/2006/main">
              <a:ext uri="{FF2B5EF4-FFF2-40B4-BE49-F238E27FC236}">
                <a16:creationId xmlns:a16="http://schemas.microsoft.com/office/drawing/2014/main" id="{AC1BE5E6-BD40-4450-AD68-D02AD8A8DB0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D4C9E80-9815-442F-8914-69D2F162788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further data is required?</a:t>
            </a:r>
          </a:p>
        </p:txBody>
      </p:sp>
      <p:sp>
        <p:nvSpPr>
          <p:cNvPr id="10" name="">
            <a:extLst xmlns:a="http://schemas.openxmlformats.org/drawingml/2006/main">
              <a:ext uri="{FF2B5EF4-FFF2-40B4-BE49-F238E27FC236}">
                <a16:creationId xmlns:a16="http://schemas.microsoft.com/office/drawing/2014/main" id="{685657B5-6DF0-418B-A07E-0187674B3CC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3C741F8-2C30-4A0F-8FE1-48C59F333CA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Invigilated offline collection is authoritative; Google upload is a later transport step and must not impose an internet requirement during the test.</a:t>
            </a:r>
          </a:p>
        </p:txBody>
      </p:sp>
      <p:sp>
        <p:nvSpPr>
          <p:cNvPr id="12" name="">
            <a:extLst xmlns:a="http://schemas.openxmlformats.org/drawingml/2006/main">
              <a:ext uri="{FF2B5EF4-FFF2-40B4-BE49-F238E27FC236}">
                <a16:creationId xmlns:a16="http://schemas.microsoft.com/office/drawing/2014/main" id="{ED2C7260-50D4-4C89-9970-99A7E679DF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20</a:t>
            </a:r>
          </a:p>
        </p:txBody>
      </p:sp>
    </p:spTree>
    <p:extLst>
      <p:ext uri="{BB962C8B-B14F-4D97-AF65-F5344CB8AC3E}">
        <p14:creationId xmlns:p14="http://schemas.microsoft.com/office/powerpoint/2010/main" val="894252869"/>
      </p:ext>
    </p:extLst>
  </p:cSld>
</p:sld>
</file>

<file path=ppt/slides/slide2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3E50CA29-1F77-4A8A-BAB8-CDEF28849769}"/>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2217622F-45A6-4132-A7A6-F1B99B8EE128}"/>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a:ext uri="{FF2B5EF4-FFF2-40B4-BE49-F238E27FC236}">
                <ns2:creationId id="{29380EB4-5735-4D9A-8B10-1DAD1EB4D2B6}"/>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submission</a:t>
            </a:r>
          </a:p>
        </p:txBody>
      </p:sp>
      <p:sp>
        <p:nvSpPr>
          <p:cNvPr id="4" name="">
            <a:extLst>
              <a:ext uri="{FF2B5EF4-FFF2-40B4-BE49-F238E27FC236}">
                <ns2:creationId id="{C4B7B9E2-D8AF-40A5-AD31-1306620E49EA}"/>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D6F316F4-54F0-47D9-8DD0-9F55ACB9AC08}"/>
              </a:ext>
            </a:extLst>
          </p:cNvPr>
          <p:cNvSpPr>
            <a:spLocks noGrp="1"/>
          </p:cNvSpPr>
          <p:nvPr/>
        </p:nvSpPr>
        <p:spPr>
          <a:xfrm>
            <a:off x="1381125" y="1724025"/>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Offline invigilated collection is authoritative.</a:t>
            </a:r>
          </a:p>
        </p:txBody>
      </p:sp>
      <p:sp>
        <p:nvSpPr>
          <p:cNvPr id="6" name="">
            <a:extLst>
              <a:ext uri="{FF2B5EF4-FFF2-40B4-BE49-F238E27FC236}">
                <ns2:creationId id="{7504EAF3-9FD0-44B2-B8B1-9512F9A54E18}"/>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94AFEBA0-8720-442D-9FFC-2BA083DD451C}"/>
              </a:ext>
            </a:extLst>
          </p:cNvPr>
          <p:cNvSpPr>
            <a:spLocks noGrp="1"/>
          </p:cNvSpPr>
          <p:nvPr/>
        </p:nvSpPr>
        <p:spPr>
          <a:xfrm>
            <a:off x="1381125" y="2521744"/>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Google upload is a later transport step.</a:t>
            </a:r>
          </a:p>
        </p:txBody>
      </p:sp>
      <p:sp>
        <p:nvSpPr>
          <p:cNvPr id="8" name="">
            <a:extLst>
              <a:ext uri="{FF2B5EF4-FFF2-40B4-BE49-F238E27FC236}">
                <ns2:creationId id="{639CD66E-B81A-4B98-9B2A-EE1CA0ADCB7B}"/>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D1610B35-0F52-492A-8472-B5843DD48765}"/>
              </a:ext>
            </a:extLst>
          </p:cNvPr>
          <p:cNvSpPr>
            <a:spLocks noGrp="1"/>
          </p:cNvSpPr>
          <p:nvPr/>
        </p:nvSpPr>
        <p:spPr>
          <a:xfrm>
            <a:off x="1381125" y="3319463"/>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Save one notebook with Part B under My written evidence.</a:t>
            </a:r>
          </a:p>
        </p:txBody>
      </p:sp>
      <p:sp>
        <p:nvSpPr>
          <p:cNvPr id="10" name="">
            <a:extLst>
              <a:ext uri="{FF2B5EF4-FFF2-40B4-BE49-F238E27FC236}">
                <ns2:creationId id="{FB7260D0-8D2D-4AD7-A0E6-2A4B162D7355}"/>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44682FFE-E76C-4992-AD00-92B4E0D52A35}"/>
              </a:ext>
            </a:extLst>
          </p:cNvPr>
          <p:cNvSpPr>
            <a:spLocks noGrp="1"/>
          </p:cNvSpPr>
          <p:nvPr/>
        </p:nvSpPr>
        <p:spPr>
          <a:xfrm>
            <a:off x="1381125" y="4117181"/>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 during the test.</a:t>
            </a:r>
          </a:p>
        </p:txBody>
      </p:sp>
      <p:sp>
        <p:nvSpPr>
          <p:cNvPr id="12" name="">
            <a:extLst>
              <a:ext uri="{FF2B5EF4-FFF2-40B4-BE49-F238E27FC236}">
                <ns2:creationId id="{C2C0F3A3-FEFB-440D-9D82-265B4675CEED}"/>
              </a:ext>
            </a:extLst>
          </p:cNvPr>
          <p:cNvSpPr>
            <a:spLocks noGrp="1"/>
          </p:cNvSpPr>
          <p:nvPr/>
        </p:nvSpPr>
        <p:spPr>
          <a:xfrm>
            <a:off x="590550" y="5143500"/>
            <a:ext cx="11010900" cy="657225"/>
          </a:xfrm>
          <a:prstGeom prst="rect">
            <a:avLst/>
          </a:prstGeom>
          <a:solidFill>
            <a:srgbClr val="E5F1EE"/>
          </a:solidFill>
          <a:ln w="0">
            <a:noFill/>
          </a:ln>
        </p:spPr>
      </p:sp>
      <p:sp>
        <p:nvSpPr>
          <p:cNvPr id="13" name="">
            <a:extLst>
              <a:ext uri="{FF2B5EF4-FFF2-40B4-BE49-F238E27FC236}">
                <ns2:creationId id="{8697B2BE-1194-4F6E-B80C-E2F3FAA01FD8}"/>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1eb29a27a7604692"/>
              </a:rPr>
              <a:t>Open TEST1 assignment form</a:t>
            </a:r>
          </a:p>
        </p:txBody>
      </p:sp>
      <p:sp>
        <p:nvSpPr>
          <p:cNvPr id="14" name="">
            <a:extLst>
              <a:ext uri="{FF2B5EF4-FFF2-40B4-BE49-F238E27FC236}">
                <ns2:creationId id="{7C0F3D02-27C4-4909-B8BD-2894AC77224E}"/>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https://docs.google.com/forms/d/e/1FAIpQLScq0XkP-55fa9_XY4ixHKtDNdilmStAZ89FkjBdv1vJvQba-g/viewform</a:t>
            </a:r>
          </a:p>
        </p:txBody>
      </p:sp>
      <p:sp>
        <p:nvSpPr>
          <p:cNvPr id="15" name="">
            <a:extLst>
              <a:ext uri="{FF2B5EF4-FFF2-40B4-BE49-F238E27FC236}">
                <ns2:creationId id="{9CA87C7E-1068-4618-B4FA-7E9C94C15C13}"/>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21</a:t>
            </a:r>
          </a:p>
        </p:txBody>
      </p:sp>
    </p:spTree>
    <p:extLst>
      <p:ext uri="{BB962C8B-B14F-4D97-AF65-F5344CB8AC3E}">
        <ns4:creationId val="2122796860"/>
      </p:ext>
    </p:extLst>
  </p:cSld>
</p:sld>
</file>

<file path=ppt/slides/slide2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6A5F3CC8-85FC-426C-AC2C-469A82771CED}"/>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5F24C931-37A5-4C19-BAC3-36877122F0A5}"/>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a:ext uri="{FF2B5EF4-FFF2-40B4-BE49-F238E27FC236}">
                <ns2:creationId id="{73F79A6E-348D-440F-958B-E0A44C1AF1C3}"/>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2FC8DA15-9441-451A-9F79-077D8CBD6809}"/>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reopen your notebook and find code and typed reasoning without help.</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821C73A6-1C79-419F-BDA5-BBDF025B06AF}"/>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a:ext uri="{FF2B5EF4-FFF2-40B4-BE49-F238E27FC236}">
                <ns2:creationId id="{2714750A-89A0-464D-AA87-2F4CE21A6528}"/>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7   22</a:t>
            </a:r>
          </a:p>
        </p:txBody>
      </p:sp>
    </p:spTree>
    <p:extLst>
      <p:ext uri="{BB962C8B-B14F-4D97-AF65-F5344CB8AC3E}">
        <ns3:creationId val="20306645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2026-09-16T11:10:35.7920000Z</dcterms:created>
  <dcterms:modified xsi:type="dcterms:W3CDTF">2026-09-16T11:10:35.7920000Z</dcterms:modified>
</coreProperties>
</file>