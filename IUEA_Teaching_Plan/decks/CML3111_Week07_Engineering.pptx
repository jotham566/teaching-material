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briefing you see at the start of the test, and it is also the reference to revise from beforehand. Nothing in it is a surprise: the format, the tasks and the marking scheme were all published in Week 6.</a:t>
            </a:r>
          </a:p>
          <a:p/>
          <a:p>
            <a:r>
              <a:t>The test is worth 15 per cent of the course. It is individual and it is sat offline.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point is the one to take seriously when you prepare. Two students can clean the same column differently and both score full marks, provided each says why. A student who fixes it correctly and writes nothing scores about half.</a:t>
            </a:r>
          </a:p>
          <a:p/>
          <a:p>
            <a:r>
              <a:t>The offline condition is why the AI rule is enforceable rather than a request. Coursework is where you learn to work with an assistant; this test certifies what you can do unaided.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hours is enough for the six tasks and not much more, so the plan on the next slide matters. Students who spend an hour perfecting one chart routinely lose the twenty marks attached to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printed-notes allowance is deliberate: this course has never asked you to memorise anything, so bringing the cheat sheets changes nothing about the difficulty. What is being tested is whether you can investigate a dataset you have never seen.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tasks in this order. Task 2 has to precede tasks 3 to 5, because answers computed on uncleaned data are wrong and you will have to redo them.</a:t>
            </a:r>
          </a:p>
          <a:p/>
          <a:p>
            <a:r>
              <a:t>Task 6 is where most of the engineering interpretation marks sit and it is the one most often left blank because time ran out. Two sentences written at 1:50 are worth more than a fourth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are not optional. A notebook that fails Restart and Run All loses the ten clarity and reproducibility marks outright, and it also casts doubt on numbers the marker cannot reproduce.</a:t>
            </a:r>
          </a:p>
          <a:p/>
          <a:p>
            <a:r>
              <a:t>If you are behind at 1:40, write the findings anyway with whatever evidence you have. Twenty marks for findings beats a third chart worth part of twenty.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worth a substantial share of the interpretation marks and it is where the difference between a pass and a merit usually shows. Question 2 is the one students find hardest: every chart hides something, and naming what yours hides is a mark of understanding rather than a confession.</a:t>
            </a:r>
          </a:p>
          <a:p/>
          <a:p>
            <a:r>
              <a:t>Acceptable answers to question 4 include 'the shift log', 'the calibration record', 'the instrument specification' — anything specific. 'More data' scores nothing.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up where the marks actually are: 20 for justification and 15 for interpretation is 35 of the 100 for writing about your own decisions. Only 20 are for the findings themselves.</a:t>
            </a:r>
          </a:p>
          <a:p/>
          <a:p>
            <a:r>
              <a:t>That distribution is deliberate and it is the same shape as the project rubric you will meet from Week 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item in the second column is drawn from what actually happens. The last one is the most common and the most expensive.</a:t>
            </a:r>
          </a:p>
          <a:p/>
          <a:p>
            <a:r>
              <a:t>The honest-limitation point is worth repeating: this course marks 'I cannot tell from the data alone, and here is what I would need' as a correct answer. It is what a professional would write.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comment-out-and-explain strategy is genuinely worth marks and almost nobody uses it. A marker can see what you were trying to do and give credit for the reasoning even where the code failed.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debrief matters more than the mark. Practical Test 1 exists partly to find out what the cohort cannot yet do, while there is still half a semester to fix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slides to prepare. The most effective preparation is to redo the Week 6 Data Clinic on a different dataset, timing yourself.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and the test is built on all eight. If you can act on each of them without looking anything up, you are prepared.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map directly onto the rubric's cleaning and interpretation marks, which together are 35 of the 100.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one that most improves a script. Reporting that your conclusion depends on a cleaning decision is a mature result, and it earns interpretation marks rather than losing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effective preparation is one timed run at the Week 6 Data Clinic on a dataset you have not used, writing the justifications as you go. Two hours, once, is worth more than rereading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Practical Test 1</a:t>
            </a:r>
          </a:p>
          <a:p>
            <a:pPr algn="l">
              <a:lnSpc>
                <a:spcPct val="105000"/>
              </a:lnSpc>
              <a:spcAft>
                <a:spcPts val="600"/>
              </a:spcAft>
            </a:pPr>
            <a:r>
              <a:rPr sz="4400" b="1" i="0">
                <a:solidFill>
                  <a:srgbClr val="FFFFFF"/>
                </a:solidFill>
                <a:latin typeface="Cambria"/>
              </a:rPr>
              <a:t>Data Investigation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Individual · offline · two hours plus twenty-five minutes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7  ·  Fri 23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AT A GLANCE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this test is</a:t>
            </a:r>
          </a:p>
        </p:txBody>
      </p:sp>
      <p:sp>
        <p:nvSpPr>
          <p:cNvPr id="4" name="Rounded Rectangle 3"/>
          <p:cNvSpPr/>
          <p:nvPr/>
        </p:nvSpPr>
        <p:spPr>
          <a:xfrm>
            <a:off x="685800" y="1911095"/>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1322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 unfamiliar dataset from your own discipline</a:t>
            </a:r>
          </a:p>
        </p:txBody>
      </p:sp>
      <p:sp>
        <p:nvSpPr>
          <p:cNvPr id="7" name="TextBox 6"/>
          <p:cNvSpPr txBox="1"/>
          <p:nvPr/>
        </p:nvSpPr>
        <p:spPr>
          <a:xfrm>
            <a:off x="1554480" y="2295144"/>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You have not seen it. There is no past paper and nothing to memorise. It is a real engineering dataset with real defects in it.</a:t>
            </a:r>
          </a:p>
        </p:txBody>
      </p:sp>
      <p:sp>
        <p:nvSpPr>
          <p:cNvPr id="8" name="Rounded Rectangle 7"/>
          <p:cNvSpPr/>
          <p:nvPr/>
        </p:nvSpPr>
        <p:spPr>
          <a:xfrm>
            <a:off x="685800" y="3153103"/>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35219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271975"/>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Two hours at a computer, then twenty-five minutes on paper</a:t>
            </a:r>
          </a:p>
        </p:txBody>
      </p:sp>
      <p:sp>
        <p:nvSpPr>
          <p:cNvPr id="11" name="TextBox 10"/>
          <p:cNvSpPr txBox="1"/>
          <p:nvPr/>
        </p:nvSpPr>
        <p:spPr>
          <a:xfrm>
            <a:off x="1554480" y="3537151"/>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practical part produces a notebook. The written part asks you about your own submission, with the computer closed.</a:t>
            </a:r>
          </a:p>
        </p:txBody>
      </p:sp>
      <p:sp>
        <p:nvSpPr>
          <p:cNvPr id="12" name="Rounded Rectangle 11"/>
          <p:cNvSpPr/>
          <p:nvPr/>
        </p:nvSpPr>
        <p:spPr>
          <a:xfrm>
            <a:off x="685800" y="4128515"/>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44973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24738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Offline, with no AI assistance</a:t>
            </a:r>
          </a:p>
        </p:txBody>
      </p:sp>
      <p:sp>
        <p:nvSpPr>
          <p:cNvPr id="15" name="TextBox 14"/>
          <p:cNvSpPr txBox="1"/>
          <p:nvPr/>
        </p:nvSpPr>
        <p:spPr>
          <a:xfrm>
            <a:off x="1554480" y="4512564"/>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No internet, no assistant. You have Python, pandas, matplotlib, seaborn and an offline copy of their documentation.</a:t>
            </a:r>
          </a:p>
        </p:txBody>
      </p:sp>
      <p:sp>
        <p:nvSpPr>
          <p:cNvPr id="16" name="Rounded Rectangle 15"/>
          <p:cNvSpPr/>
          <p:nvPr/>
        </p:nvSpPr>
        <p:spPr>
          <a:xfrm>
            <a:off x="685800" y="5103928"/>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2416" y="56060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22280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Marked on your reasoning more than your result</a:t>
            </a:r>
          </a:p>
        </p:txBody>
      </p:sp>
      <p:sp>
        <p:nvSpPr>
          <p:cNvPr id="19" name="TextBox 18"/>
          <p:cNvSpPr txBox="1"/>
          <p:nvPr/>
        </p:nvSpPr>
        <p:spPr>
          <a:xfrm>
            <a:off x="1554480" y="5487976"/>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Thirty-five of the hundred marks are for justifying decisions. A defensible choice you can explain beats a lucky one you cannot.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TIMING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three hours are spent</a:t>
            </a:r>
          </a:p>
        </p:txBody>
      </p:sp>
      <p:pic>
        <p:nvPicPr>
          <p:cNvPr id="4" name="Picture 3" descr="clock_w7.png"/>
          <p:cNvPicPr>
            <a:picLocks noChangeAspect="1"/>
          </p:cNvPicPr>
          <p:nvPr/>
        </p:nvPicPr>
        <p:blipFill>
          <a:blip r:embed="rId2"/>
          <a:stretch>
            <a:fillRect/>
          </a:stretch>
        </p:blipFill>
        <p:spPr>
          <a:xfrm>
            <a:off x="1058400" y="1911095"/>
            <a:ext cx="1007489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minutes of setup, two hours of practical work, twenty-five minutes of written reasoning, then collection. The clock starts when the rules have been read and everyone has their dataset.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RULES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rules</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What you may use</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The machine in front of you, Python with pandas, matplotlib and seaborn, and the offline documentation bundle on the desktop. Your own printed notes and the cheat-sheet slides from any week.</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What you may not use</a:t>
            </a:r>
          </a:p>
        </p:txBody>
      </p:sp>
      <p:sp>
        <p:nvSpPr>
          <p:cNvPr id="7" name="TextBox 6"/>
          <p:cNvSpPr txBox="1"/>
          <p:nvPr/>
        </p:nvSpPr>
        <p:spPr>
          <a:xfrm>
            <a:off x="685800" y="385110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The internet. Any AI assistant. Any messaging. Any shared drive. Another student's screen.</a:t>
            </a:r>
          </a:p>
        </p:txBody>
      </p:sp>
      <p:sp>
        <p:nvSpPr>
          <p:cNvPr id="8" name="TextBox 7"/>
          <p:cNvSpPr txBox="1"/>
          <p:nvPr/>
        </p:nvSpPr>
        <p:spPr>
          <a:xfrm>
            <a:off x="685800" y="470453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the room is offline</a:t>
            </a:r>
          </a:p>
        </p:txBody>
      </p:sp>
      <p:sp>
        <p:nvSpPr>
          <p:cNvPr id="9" name="TextBox 8"/>
          <p:cNvSpPr txBox="1"/>
          <p:nvPr/>
        </p:nvSpPr>
        <p:spPr>
          <a:xfrm>
            <a:off x="685800" y="510533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It makes the rule enforceable without anybody watching over your shoulder, and it means the mark certifies what you can do on your own. In coursework the assistant is permitted and taught.</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Three dataset variants</a:t>
            </a:r>
          </a:p>
        </p:txBody>
      </p:sp>
      <p:sp>
        <p:nvSpPr>
          <p:cNvPr id="11" name="TextBox 10"/>
          <p:cNvSpPr txBox="1"/>
          <p:nvPr/>
        </p:nvSpPr>
        <p:spPr>
          <a:xfrm>
            <a:off x="6347307"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Your neighbours have different data. Copying an answer will produce something that does not match your own file.</a:t>
            </a:r>
          </a:p>
        </p:txBody>
      </p:sp>
      <p:sp>
        <p:nvSpPr>
          <p:cNvPr id="12" name="TextBox 11"/>
          <p:cNvSpPr txBox="1"/>
          <p:nvPr/>
        </p:nvSpPr>
        <p:spPr>
          <a:xfrm>
            <a:off x="6347307"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If you finish early</a:t>
            </a:r>
          </a:p>
        </p:txBody>
      </p:sp>
      <p:sp>
        <p:nvSpPr>
          <p:cNvPr id="13" name="TextBox 12"/>
          <p:cNvSpPr txBox="1"/>
          <p:nvPr/>
        </p:nvSpPr>
        <p:spPr>
          <a:xfrm>
            <a:off x="6347307" y="356612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Reread your justifications. The marks are there, and most students under-write them.</a:t>
            </a:r>
          </a:p>
        </p:txBody>
      </p:sp>
      <p:sp>
        <p:nvSpPr>
          <p:cNvPr id="14" name="TextBox 13"/>
          <p:cNvSpPr txBox="1"/>
          <p:nvPr/>
        </p:nvSpPr>
        <p:spPr>
          <a:xfrm>
            <a:off x="6347307" y="441955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Absence</a:t>
            </a:r>
          </a:p>
        </p:txBody>
      </p:sp>
      <p:sp>
        <p:nvSpPr>
          <p:cNvPr id="15" name="TextBox 14"/>
          <p:cNvSpPr txBox="1"/>
          <p:nvPr/>
        </p:nvSpPr>
        <p:spPr>
          <a:xfrm>
            <a:off x="6347307" y="482035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If you miss the test with cause, tell the Faculty office the same day and follow the standard procedure. Do not simply arrange it with 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PART 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A — the practical, two hours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six tasks, in this order</a:t>
            </a:r>
          </a:p>
        </p:txBody>
      </p:sp>
      <p:sp>
        <p:nvSpPr>
          <p:cNvPr id="5" name="TextBox 4"/>
          <p:cNvSpPr txBox="1"/>
          <p:nvPr/>
        </p:nvSpPr>
        <p:spPr>
          <a:xfrm>
            <a:off x="685800" y="2409332"/>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1. Load the file and profile it. Report its shape, the type of every column, and what it appears to be a record of.</a:t>
            </a:r>
          </a:p>
        </p:txBody>
      </p:sp>
      <p:sp>
        <p:nvSpPr>
          <p:cNvPr id="6" name="TextBox 5"/>
          <p:cNvSpPr txBox="1"/>
          <p:nvPr/>
        </p:nvSpPr>
        <p:spPr>
          <a:xfrm>
            <a:off x="685800" y="3064868"/>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2. Find its defects. Handle each one, and write ONE sentence justifying each decision.</a:t>
            </a:r>
          </a:p>
        </p:txBody>
      </p:sp>
      <p:sp>
        <p:nvSpPr>
          <p:cNvPr id="7" name="TextBox 6"/>
          <p:cNvSpPr txBox="1"/>
          <p:nvPr/>
        </p:nvSpPr>
        <p:spPr>
          <a:xfrm>
            <a:off x="685800" y="3720405"/>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3. Answer the three stated engineering questions, with evidence and correct units.</a:t>
            </a:r>
          </a:p>
        </p:txBody>
      </p:sp>
      <p:sp>
        <p:nvSpPr>
          <p:cNvPr id="8" name="TextBox 7"/>
          <p:cNvSpPr txBox="1"/>
          <p:nvPr/>
        </p:nvSpPr>
        <p:spPr>
          <a:xfrm>
            <a:off x="685800" y="4375942"/>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4. Produce three charts. Caption each with the question it answers.</a:t>
            </a:r>
          </a:p>
        </p:txBody>
      </p:sp>
      <p:sp>
        <p:nvSpPr>
          <p:cNvPr id="9" name="TextBox 8"/>
          <p:cNvSpPr txBox="1"/>
          <p:nvPr/>
        </p:nvSpPr>
        <p:spPr>
          <a:xfrm>
            <a:off x="685800" y="5031479"/>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5. List five findings, each supported by a number from the data.</a:t>
            </a:r>
          </a:p>
        </p:txBody>
      </p:sp>
      <p:sp>
        <p:nvSpPr>
          <p:cNvPr id="10" name="TextBox 9"/>
          <p:cNvSpPr txBox="1"/>
          <p:nvPr/>
        </p:nvSpPr>
        <p:spPr>
          <a:xfrm>
            <a:off x="685800" y="5687016"/>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6. Make one engineering recommendation, and state what further data you would need.</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you hand in</a:t>
            </a:r>
          </a:p>
        </p:txBody>
      </p:sp>
      <p:sp>
        <p:nvSpPr>
          <p:cNvPr id="13" name="TextBox 12"/>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notebook.</a:t>
            </a:r>
          </a:p>
        </p:txBody>
      </p:sp>
      <p:sp>
        <p:nvSpPr>
          <p:cNvPr id="14" name="TextBox 13"/>
          <p:cNvSpPr txBox="1"/>
          <p:nvPr/>
        </p:nvSpPr>
        <p:spPr>
          <a:xfrm>
            <a:off x="6575907" y="302540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must run top to bottom from a clean start.</a:t>
            </a:r>
          </a:p>
        </p:txBody>
      </p:sp>
      <p:sp>
        <p:nvSpPr>
          <p:cNvPr id="15" name="TextBox 14"/>
          <p:cNvSpPr txBox="1"/>
          <p:nvPr/>
        </p:nvSpPr>
        <p:spPr>
          <a:xfrm>
            <a:off x="6575907" y="3554491"/>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 before you submit. A notebook that only works in the order you clicked does not work.</a:t>
            </a:r>
          </a:p>
        </p:txBody>
      </p:sp>
      <p:sp>
        <p:nvSpPr>
          <p:cNvPr id="16" name="TextBox 15"/>
          <p:cNvSpPr txBox="1"/>
          <p:nvPr/>
        </p:nvSpPr>
        <p:spPr>
          <a:xfrm>
            <a:off x="6575907" y="470284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Save it with the outputs visible.</a:t>
            </a:r>
          </a:p>
        </p:txBody>
      </p:sp>
      <p:sp>
        <p:nvSpPr>
          <p:cNvPr id="17" name="TextBox 16"/>
          <p:cNvSpPr txBox="1"/>
          <p:nvPr/>
        </p:nvSpPr>
        <p:spPr>
          <a:xfrm>
            <a:off x="6575907" y="523193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Then the Part B booklet.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PLANNING THE TIME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plan for the two hours</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Time is the binding constraint. This allocation matches where the marks are.</a:t>
            </a:r>
          </a:p>
        </p:txBody>
      </p:sp>
      <p:sp>
        <p:nvSpPr>
          <p:cNvPr id="5" name="Rounded Rectangle 4"/>
          <p:cNvSpPr/>
          <p:nvPr/>
        </p:nvSpPr>
        <p:spPr>
          <a:xfrm>
            <a:off x="685800" y="2376585"/>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0:00 to 0:15 — load, profile, and write two sentences saying what the file is a record of. Do not clean anything yet.</a:t>
            </a:r>
          </a:p>
        </p:txBody>
      </p:sp>
      <p:sp>
        <p:nvSpPr>
          <p:cNvPr id="8" name="Rounded Rectangle 7"/>
          <p:cNvSpPr/>
          <p:nvPr/>
        </p:nvSpPr>
        <p:spPr>
          <a:xfrm>
            <a:off x="685800" y="2856465"/>
            <a:ext cx="10820095" cy="70372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91132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2902185"/>
            <a:ext cx="9814255" cy="612288"/>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0:15 to 0:45 — find and handle the defects, writing the justification as you go rather than afterwards. Afterwards never happens.</a:t>
            </a:r>
          </a:p>
        </p:txBody>
      </p:sp>
      <p:sp>
        <p:nvSpPr>
          <p:cNvPr id="11" name="Rounded Rectangle 10"/>
          <p:cNvSpPr/>
          <p:nvPr/>
        </p:nvSpPr>
        <p:spPr>
          <a:xfrm>
            <a:off x="685800" y="361505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66992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6077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0:45 to 1:15 — answer the three stated questions. State every answer with its unit.</a:t>
            </a:r>
          </a:p>
        </p:txBody>
      </p:sp>
      <p:sp>
        <p:nvSpPr>
          <p:cNvPr id="14" name="Rounded Rectangle 13"/>
          <p:cNvSpPr/>
          <p:nvPr/>
        </p:nvSpPr>
        <p:spPr>
          <a:xfrm>
            <a:off x="685800" y="409493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4980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065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1:15 to 1:40 — three charts, each captioned with its question and its finding.</a:t>
            </a:r>
          </a:p>
        </p:txBody>
      </p:sp>
      <p:sp>
        <p:nvSpPr>
          <p:cNvPr id="17" name="Rounded Rectangle 16"/>
          <p:cNvSpPr/>
          <p:nvPr/>
        </p:nvSpPr>
        <p:spPr>
          <a:xfrm>
            <a:off x="685800" y="457481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2968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2053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1:40 to 1:55 — the five findings, each with a number attached.</a:t>
            </a:r>
          </a:p>
        </p:txBody>
      </p:sp>
      <p:sp>
        <p:nvSpPr>
          <p:cNvPr id="20" name="Rounded Rectangle 19"/>
          <p:cNvSpPr/>
          <p:nvPr/>
        </p:nvSpPr>
        <p:spPr>
          <a:xfrm>
            <a:off x="685800" y="5054699"/>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10956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100419"/>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1:55 to 2:00 — Restart and Run All, confirm it is clean, save with outputs, submit.</a:t>
            </a:r>
          </a:p>
        </p:txBody>
      </p:sp>
      <p:sp>
        <p:nvSpPr>
          <p:cNvPr id="23" name="Rounded Rectangle 22"/>
          <p:cNvSpPr/>
          <p:nvPr/>
        </p:nvSpPr>
        <p:spPr>
          <a:xfrm>
            <a:off x="685800" y="5589443"/>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726603"/>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Twenty marks sit in the findings and fifteen in the recommendation. Reaching them is worth more than a fourth chart.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PART B</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B — written reasoning, twenty-five minutes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Four questions about YOUR submission</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computer is closed. You have your own notebook printed or on screen, read-only, and a paper booklet.</a:t>
            </a:r>
          </a:p>
        </p:txBody>
      </p:sp>
      <p:sp>
        <p:nvSpPr>
          <p:cNvPr id="6" name="TextBox 5"/>
          <p:cNvSpPr txBox="1"/>
          <p:nvPr/>
        </p:nvSpPr>
        <p:spPr>
          <a:xfrm>
            <a:off x="685800" y="359115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1. Why did you handle that defect the way you did, and what would the alternative have changed?</a:t>
            </a:r>
          </a:p>
        </p:txBody>
      </p:sp>
      <p:sp>
        <p:nvSpPr>
          <p:cNvPr id="7" name="TextBox 6"/>
          <p:cNvSpPr txBox="1"/>
          <p:nvPr/>
        </p:nvSpPr>
        <p:spPr>
          <a:xfrm>
            <a:off x="685800" y="4412565"/>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2. What does one of your charts NOT show?</a:t>
            </a:r>
          </a:p>
        </p:txBody>
      </p:sp>
      <p:sp>
        <p:nvSpPr>
          <p:cNvPr id="8" name="TextBox 7"/>
          <p:cNvSpPr txBox="1"/>
          <p:nvPr/>
        </p:nvSpPr>
        <p:spPr>
          <a:xfrm>
            <a:off x="685800" y="4873562"/>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3. What would change your recommendation?</a:t>
            </a:r>
          </a:p>
        </p:txBody>
      </p:sp>
      <p:sp>
        <p:nvSpPr>
          <p:cNvPr id="9" name="TextBox 8"/>
          <p:cNvSpPr txBox="1"/>
          <p:nvPr/>
        </p:nvSpPr>
        <p:spPr>
          <a:xfrm>
            <a:off x="685800" y="5334559"/>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4. What data is missing that you would want before acting on this?</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Why Part B exists</a:t>
            </a:r>
          </a:p>
        </p:txBody>
      </p:sp>
      <p:sp>
        <p:nvSpPr>
          <p:cNvPr id="12" name="TextBox 11"/>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is very hard to write a good answer about work you did not do yourself.</a:t>
            </a:r>
          </a:p>
        </p:txBody>
      </p:sp>
      <p:sp>
        <p:nvSpPr>
          <p:cNvPr id="13" name="TextBox 12"/>
          <p:cNvSpPr txBox="1"/>
          <p:nvPr/>
        </p:nvSpPr>
        <p:spPr>
          <a:xfrm>
            <a:off x="6575907" y="3335035"/>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also captures the reasoning that never made it into the notebook — which in a real report would be the discussion section.</a:t>
            </a:r>
          </a:p>
        </p:txBody>
      </p:sp>
      <p:sp>
        <p:nvSpPr>
          <p:cNvPr id="14" name="TextBox 13"/>
          <p:cNvSpPr txBox="1"/>
          <p:nvPr/>
        </p:nvSpPr>
        <p:spPr>
          <a:xfrm>
            <a:off x="6575907" y="448339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Write in sentences.</a:t>
            </a:r>
          </a:p>
        </p:txBody>
      </p:sp>
      <p:sp>
        <p:nvSpPr>
          <p:cNvPr id="15" name="TextBox 14"/>
          <p:cNvSpPr txBox="1"/>
          <p:nvPr/>
        </p:nvSpPr>
        <p:spPr>
          <a:xfrm>
            <a:off x="6575907" y="4884467"/>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Bullet points score less because they hide the reasoning.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RUBRIC — PUBLISHED IN WEEK 6</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marking scheme, restated</a:t>
            </a:r>
          </a:p>
        </p:txBody>
      </p:sp>
      <p:sp>
        <p:nvSpPr>
          <p:cNvPr id="4" name="Rounded Rectangle 3"/>
          <p:cNvSpPr/>
          <p:nvPr/>
        </p:nvSpPr>
        <p:spPr>
          <a:xfrm>
            <a:off x="685800" y="1911095"/>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14372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Loading and profiling — 15</a:t>
            </a:r>
          </a:p>
        </p:txBody>
      </p:sp>
      <p:sp>
        <p:nvSpPr>
          <p:cNvPr id="7" name="TextBox 6"/>
          <p:cNvSpPr txBox="1"/>
          <p:nvPr/>
        </p:nvSpPr>
        <p:spPr>
          <a:xfrm>
            <a:off x="1554480" y="2295144"/>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Correct shape, types and summary, and an accurate description of the dataset in your own words.</a:t>
            </a:r>
          </a:p>
        </p:txBody>
      </p:sp>
      <p:sp>
        <p:nvSpPr>
          <p:cNvPr id="8" name="Rounded Rectangle 7"/>
          <p:cNvSpPr/>
          <p:nvPr/>
        </p:nvSpPr>
        <p:spPr>
          <a:xfrm>
            <a:off x="685800" y="2614100"/>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28467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273297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Cleaning decisions and justification — 20</a:t>
            </a:r>
          </a:p>
        </p:txBody>
      </p:sp>
      <p:sp>
        <p:nvSpPr>
          <p:cNvPr id="11" name="TextBox 10"/>
          <p:cNvSpPr txBox="1"/>
          <p:nvPr/>
        </p:nvSpPr>
        <p:spPr>
          <a:xfrm>
            <a:off x="1554480" y="2998148"/>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Defects found AND each decision justified. An unjustified correct fix scores about half.</a:t>
            </a:r>
          </a:p>
        </p:txBody>
      </p:sp>
      <p:sp>
        <p:nvSpPr>
          <p:cNvPr id="12" name="Rounded Rectangle 11"/>
          <p:cNvSpPr/>
          <p:nvPr/>
        </p:nvSpPr>
        <p:spPr>
          <a:xfrm>
            <a:off x="685800" y="3317104"/>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354973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343597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Visualisation — 20</a:t>
            </a:r>
          </a:p>
        </p:txBody>
      </p:sp>
      <p:sp>
        <p:nvSpPr>
          <p:cNvPr id="15" name="TextBox 14"/>
          <p:cNvSpPr txBox="1"/>
          <p:nvPr/>
        </p:nvSpPr>
        <p:spPr>
          <a:xfrm>
            <a:off x="1554480" y="3701152"/>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Three charts, correct types, axes labelled with units, each captioned with the question it answers.</a:t>
            </a:r>
          </a:p>
        </p:txBody>
      </p:sp>
      <p:sp>
        <p:nvSpPr>
          <p:cNvPr id="16" name="Rounded Rectangle 15"/>
          <p:cNvSpPr/>
          <p:nvPr/>
        </p:nvSpPr>
        <p:spPr>
          <a:xfrm>
            <a:off x="685800" y="4020108"/>
            <a:ext cx="10820095" cy="8649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2416" y="436114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413898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Findings — 20</a:t>
            </a:r>
          </a:p>
        </p:txBody>
      </p:sp>
      <p:sp>
        <p:nvSpPr>
          <p:cNvPr id="19" name="TextBox 18"/>
          <p:cNvSpPr txBox="1"/>
          <p:nvPr/>
        </p:nvSpPr>
        <p:spPr>
          <a:xfrm>
            <a:off x="1554480" y="4404156"/>
            <a:ext cx="9631375" cy="389467"/>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Five findings supported by numbers, with correct magnitudes and units. A wrong number loses the mark even where the method was right.</a:t>
            </a:r>
          </a:p>
        </p:txBody>
      </p:sp>
      <p:sp>
        <p:nvSpPr>
          <p:cNvPr id="20" name="Rounded Rectangle 19"/>
          <p:cNvSpPr/>
          <p:nvPr/>
        </p:nvSpPr>
        <p:spPr>
          <a:xfrm>
            <a:off x="685800" y="4939927"/>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42416" y="517255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54480" y="5058799"/>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Engineering interpretation — 15</a:t>
            </a:r>
          </a:p>
        </p:txBody>
      </p:sp>
      <p:sp>
        <p:nvSpPr>
          <p:cNvPr id="23" name="TextBox 22"/>
          <p:cNvSpPr txBox="1"/>
          <p:nvPr/>
        </p:nvSpPr>
        <p:spPr>
          <a:xfrm>
            <a:off x="1554480" y="5323975"/>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One actionable recommendation, plus what further data you would need.</a:t>
            </a:r>
          </a:p>
        </p:txBody>
      </p:sp>
      <p:sp>
        <p:nvSpPr>
          <p:cNvPr id="24" name="Rounded Rectangle 23"/>
          <p:cNvSpPr/>
          <p:nvPr/>
        </p:nvSpPr>
        <p:spPr>
          <a:xfrm>
            <a:off x="685800" y="5642931"/>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42416" y="587556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5761803"/>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Clarity and reproducibility — 10</a:t>
            </a:r>
          </a:p>
        </p:txBody>
      </p:sp>
      <p:sp>
        <p:nvSpPr>
          <p:cNvPr id="27" name="TextBox 26"/>
          <p:cNvSpPr txBox="1"/>
          <p:nvPr/>
        </p:nvSpPr>
        <p:spPr>
          <a:xfrm>
            <a:off x="1554480" y="6026979"/>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Runs top to bottom. Logical order. Markdown explaining intent. No dead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THE MARKS GO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earns marks, and what students lose them on</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Earns marks</a:t>
            </a:r>
          </a:p>
        </p:txBody>
      </p:sp>
      <p:sp>
        <p:nvSpPr>
          <p:cNvPr id="5" name="TextBox 4"/>
          <p:cNvSpPr txBox="1"/>
          <p:nvPr/>
        </p:nvSpPr>
        <p:spPr>
          <a:xfrm>
            <a:off x="685800" y="2352629"/>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justification that names the alternative: 'dropped the 41 duplicate rows because they were an exact re-export and keeping them would weight the mean towards one day's readings.'</a:t>
            </a:r>
          </a:p>
        </p:txBody>
      </p:sp>
      <p:sp>
        <p:nvSpPr>
          <p:cNvPr id="6" name="TextBox 5"/>
          <p:cNvSpPr txBox="1"/>
          <p:nvPr/>
        </p:nvSpPr>
        <p:spPr>
          <a:xfrm>
            <a:off x="685800" y="383696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caption that states a finding: 'torque climbs steadily with tool wear and drops back the moment the tool is changed'.</a:t>
            </a:r>
          </a:p>
        </p:txBody>
      </p:sp>
      <p:sp>
        <p:nvSpPr>
          <p:cNvPr id="7" name="TextBox 6"/>
          <p:cNvSpPr txBox="1"/>
          <p:nvPr/>
        </p:nvSpPr>
        <p:spPr>
          <a:xfrm>
            <a:off x="685800" y="498451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number with its unit, every time.</a:t>
            </a:r>
          </a:p>
        </p:txBody>
      </p:sp>
      <p:sp>
        <p:nvSpPr>
          <p:cNvPr id="8" name="TextBox 7"/>
          <p:cNvSpPr txBox="1"/>
          <p:nvPr/>
        </p:nvSpPr>
        <p:spPr>
          <a:xfrm>
            <a:off x="685800" y="545846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honest limitation. 'I cannot tell whether this extreme is real without the calibration record' is a correct answer.</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Loses marks</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Cleaning something correctly and saying nothing about why.</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chart with no caption, or a caption that describes the axes.</a:t>
            </a:r>
          </a:p>
        </p:txBody>
      </p:sp>
      <p:sp>
        <p:nvSpPr>
          <p:cNvPr id="12" name="TextBox 11"/>
          <p:cNvSpPr txBox="1"/>
          <p:nvPr/>
        </p:nvSpPr>
        <p:spPr>
          <a:xfrm>
            <a:off x="6347307" y="397412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printed pandas Series offered as an answer to an engineering question.</a:t>
            </a:r>
          </a:p>
        </p:txBody>
      </p:sp>
      <p:sp>
        <p:nvSpPr>
          <p:cNvPr id="13" name="TextBox 12"/>
          <p:cNvSpPr txBox="1"/>
          <p:nvPr/>
        </p:nvSpPr>
        <p:spPr>
          <a:xfrm>
            <a:off x="6347307" y="478487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Computing the three answers before cleaning, then not recomputing them.</a:t>
            </a:r>
          </a:p>
        </p:txBody>
      </p:sp>
      <p:sp>
        <p:nvSpPr>
          <p:cNvPr id="14" name="TextBox 13"/>
          <p:cNvSpPr txBox="1"/>
          <p:nvPr/>
        </p:nvSpPr>
        <p:spPr>
          <a:xfrm>
            <a:off x="6347307" y="5595627"/>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notebook that fails Restart and Run All.</a:t>
            </a:r>
          </a:p>
        </p:txBody>
      </p:sp>
      <p:sp>
        <p:nvSpPr>
          <p:cNvPr id="15" name="TextBox 14"/>
          <p:cNvSpPr txBox="1"/>
          <p:nvPr/>
        </p:nvSpPr>
        <p:spPr>
          <a:xfrm>
            <a:off x="6347307" y="6069582"/>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Leaving task 6 blank because time ran 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CONTINGENCY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If something goes wrong</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Your machine fails</a:t>
            </a:r>
          </a:p>
        </p:txBody>
      </p:sp>
      <p:sp>
        <p:nvSpPr>
          <p:cNvPr id="5" name="TextBox 4"/>
          <p:cNvSpPr txBox="1"/>
          <p:nvPr/>
        </p:nvSpPr>
        <p:spPr>
          <a:xfrm>
            <a:off x="685800"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Raise your hand immediately. Do not try to fix it. Time lost to a machine fault is given back.</a:t>
            </a:r>
          </a:p>
        </p:txBody>
      </p:sp>
      <p:sp>
        <p:nvSpPr>
          <p:cNvPr id="6" name="TextBox 5"/>
          <p:cNvSpPr txBox="1"/>
          <p:nvPr/>
        </p:nvSpPr>
        <p:spPr>
          <a:xfrm>
            <a:off x="685800"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 cannot open the file</a:t>
            </a:r>
          </a:p>
        </p:txBody>
      </p:sp>
      <p:sp>
        <p:nvSpPr>
          <p:cNvPr id="7" name="TextBox 6"/>
          <p:cNvSpPr txBox="1"/>
          <p:nvPr/>
        </p:nvSpPr>
        <p:spPr>
          <a:xfrm>
            <a:off x="685800" y="365941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Raise your hand. Check first that you are in the right folder — that is the commonest cause and it is not a fault.</a:t>
            </a:r>
          </a:p>
        </p:txBody>
      </p:sp>
      <p:sp>
        <p:nvSpPr>
          <p:cNvPr id="8" name="TextBox 7"/>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Your code crashes and you cannot fix it</a:t>
            </a:r>
          </a:p>
        </p:txBody>
      </p:sp>
      <p:sp>
        <p:nvSpPr>
          <p:cNvPr id="9" name="TextBox 8"/>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Comment out the failing cell, write in markdown what you were attempting and why you think it failed, and move on. That earns partial credit. A blank section earns none.</a:t>
            </a:r>
          </a:p>
        </p:txBody>
      </p:sp>
      <p:sp>
        <p:nvSpPr>
          <p:cNvPr id="10" name="TextBox 9"/>
          <p:cNvSpPr txBox="1"/>
          <p:nvPr/>
        </p:nvSpPr>
        <p:spPr>
          <a:xfrm>
            <a:off x="6347307" y="3548760"/>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 run out of time</a:t>
            </a:r>
          </a:p>
        </p:txBody>
      </p:sp>
      <p:sp>
        <p:nvSpPr>
          <p:cNvPr id="11" name="TextBox 10"/>
          <p:cNvSpPr txBox="1"/>
          <p:nvPr/>
        </p:nvSpPr>
        <p:spPr>
          <a:xfrm>
            <a:off x="6347307" y="3970297"/>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Submit what you have, having run Restart and Run All. An incomplete notebook that runs beats a complete one that does not.</a:t>
            </a:r>
          </a:p>
        </p:txBody>
      </p:sp>
      <p:sp>
        <p:nvSpPr>
          <p:cNvPr id="12" name="TextBox 11"/>
          <p:cNvSpPr txBox="1"/>
          <p:nvPr/>
        </p:nvSpPr>
        <p:spPr>
          <a:xfrm>
            <a:off x="6347307" y="5186424"/>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Power goes out</a:t>
            </a:r>
          </a:p>
        </p:txBody>
      </p:sp>
      <p:sp>
        <p:nvSpPr>
          <p:cNvPr id="13" name="TextBox 12"/>
          <p:cNvSpPr txBox="1"/>
          <p:nvPr/>
        </p:nvSpPr>
        <p:spPr>
          <a:xfrm>
            <a:off x="6347307" y="5607962"/>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Save often — every ten minutes. If the session is lost, the Faculty rescheduling rule applies and nobody is penalised.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HAPPENS NEXT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After the test</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Marks and feedback within a fortnight</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You get your script back with the rubric annotated, plus a short note on the three most common failures across the cohort.</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Week 8 opens with the debrief</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Fifteen minutes on what went wrong most often, shown anonymously, with the fix. That debrief is more useful than the mark.</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Then the course changes character</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From Week 8 you stop describing data and start predicting from it. Everything you did today is the input to that.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REVISION</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 for this test</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is what the test draws on: Weeks 1 to 6, condensed.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commands on every new dataset, in this order: shape, head, info, describe. They answer how big, what it looks like, what types, and what ranges.</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numeric column showing dtype 'object' has text in it. A minimum of -999 is a sentinel standing in for missing data and it will corrupt every mean.</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Whether data is missing at random decides what you may do about it. Plot the missingness before you drop anything.</a:t>
            </a:r>
          </a:p>
        </p:txBody>
      </p:sp>
      <p:sp>
        <p:nvSpPr>
          <p:cNvPr id="12" name="Oval 11"/>
          <p:cNvSpPr/>
          <p:nvPr/>
        </p:nvSpPr>
        <p:spPr>
          <a:xfrm>
            <a:off x="685800" y="45694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1457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An extreme value is not automatically an error. Physically impossible means error; implausible needs domain knowledge.</a:t>
            </a:r>
          </a:p>
        </p:txBody>
      </p:sp>
      <p:sp>
        <p:nvSpPr>
          <p:cNvPr id="14" name="Oval 13"/>
          <p:cNvSpPr/>
          <p:nvPr/>
        </p:nvSpPr>
        <p:spPr>
          <a:xfrm>
            <a:off x="685800" y="50040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94920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chart answers a stated question, and its caption says what the answer was.</a:t>
            </a:r>
          </a:p>
        </p:txBody>
      </p:sp>
      <p:sp>
        <p:nvSpPr>
          <p:cNvPr id="16" name="Oval 15"/>
          <p:cNvSpPr/>
          <p:nvPr/>
        </p:nvSpPr>
        <p:spPr>
          <a:xfrm>
            <a:off x="685800" y="54386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838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Report what you removed: how many rows, what proportion, and whether they were missing at random.</a:t>
            </a:r>
          </a:p>
        </p:txBody>
      </p:sp>
      <p:sp>
        <p:nvSpPr>
          <p:cNvPr id="18" name="Oval 17"/>
          <p:cNvSpPr/>
          <p:nvPr/>
        </p:nvSpPr>
        <p:spPr>
          <a:xfrm>
            <a:off x="685800" y="58733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81845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State every answer with its unit. A printed Series is not an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the five things this test rewards</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column of N·m values has a mean that looks plausible and a minimum of -999. What has happened, and what does it do to every number you have computed from that column?</a:t>
            </a:r>
          </a:p>
        </p:txBody>
      </p:sp>
      <p:sp>
        <p:nvSpPr>
          <p:cNvPr id="6" name="Oval 5"/>
          <p:cNvSpPr/>
          <p:nvPr/>
        </p:nvSpPr>
        <p:spPr>
          <a:xfrm>
            <a:off x="685800" y="275734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20765"/>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 drop every row with a missing value and lose 30 per cent of the file. What must you check before going any further?</a:t>
            </a:r>
          </a:p>
        </p:txBody>
      </p:sp>
      <p:sp>
        <p:nvSpPr>
          <p:cNvPr id="8" name="Oval 7"/>
          <p:cNvSpPr/>
          <p:nvPr/>
        </p:nvSpPr>
        <p:spPr>
          <a:xfrm>
            <a:off x="685800" y="3567010"/>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530434"/>
            <a:ext cx="10134295" cy="441410"/>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Your box plot flags no outliers but your histogram has two clear peaks. What might that mean about the data?</a:t>
            </a:r>
          </a:p>
        </p:txBody>
      </p:sp>
      <p:sp>
        <p:nvSpPr>
          <p:cNvPr id="10" name="Oval 9"/>
          <p:cNvSpPr/>
          <p:nvPr/>
        </p:nvSpPr>
        <p:spPr>
          <a:xfrm>
            <a:off x="685800" y="406328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026708"/>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Give one defect you could be certain about without knowing anything about sensors, signals, energy systems, fault detection and machine health, and one you could not.</a:t>
            </a:r>
          </a:p>
        </p:txBody>
      </p:sp>
      <p:sp>
        <p:nvSpPr>
          <p:cNvPr id="12" name="Oval 11"/>
          <p:cNvSpPr/>
          <p:nvPr/>
        </p:nvSpPr>
        <p:spPr>
          <a:xfrm>
            <a:off x="685800" y="487295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836378"/>
            <a:ext cx="10134295" cy="441410"/>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 clean a file two defensible ways and get two different answers to the same question. What do you report?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Write something for each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minimum of -999?</a:t>
            </a:r>
          </a:p>
        </p:txBody>
      </p:sp>
      <p:sp>
        <p:nvSpPr>
          <p:cNvPr id="6" name="TextBox 5"/>
          <p:cNvSpPr txBox="1"/>
          <p:nvPr/>
        </p:nvSpPr>
        <p:spPr>
          <a:xfrm>
            <a:off x="1216152"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It is a sentinel value meaning 'missing'. pandas treats it as a real measurement, so it is included in every mean, standard deviation and correlation you have computed from that column. Convert it to a proper missing value, recompute, and report how much the answer moved.</a:t>
            </a:r>
          </a:p>
        </p:txBody>
      </p:sp>
      <p:sp>
        <p:nvSpPr>
          <p:cNvPr id="7" name="Oval 6"/>
          <p:cNvSpPr/>
          <p:nvPr/>
        </p:nvSpPr>
        <p:spPr>
          <a:xfrm>
            <a:off x="685800"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Losing 30 per cent of the file?</a:t>
            </a:r>
          </a:p>
        </p:txBody>
      </p:sp>
      <p:sp>
        <p:nvSpPr>
          <p:cNvPr id="9" name="TextBox 8"/>
          <p:cNvSpPr txBox="1"/>
          <p:nvPr/>
        </p:nvSpPr>
        <p:spPr>
          <a:xfrm>
            <a:off x="1216152" y="38518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Whether those rows were missing at random. If the blanks correspond to a period, a unit or a condition, you have deleted a specific part of the data and everything downstream is biased. Plot the missingness pattern before you drop anything.</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No outliers but two peaks?</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Two populations have probably been mixed — two materials, two machines, two operating regimes or two shifts. That is frequently the most interesting finding in a file, and a box plot would never have shown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Certain versus uncertain defects?</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Certain without domain knowledge: anything physically impossible — a negative width, an efficiency above 100 per cent, a duplicated row. Uncertain: any extreme that is possible but implausible, which needs someone who knows the process.</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Two defensible cleanings, two answers?</a:t>
            </a:r>
          </a:p>
        </p:txBody>
      </p:sp>
      <p:sp>
        <p:nvSpPr>
          <p:cNvPr id="18" name="TextBox 17"/>
          <p:cNvSpPr txBox="1"/>
          <p:nvPr/>
        </p:nvSpPr>
        <p:spPr>
          <a:xfrm>
            <a:off x="6854799" y="3613623"/>
            <a:ext cx="4614519" cy="84255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Report both, and say which decision drove the difference. That is the honest result and it tells the reader how much confidence the conclusion deserves. Hiding it would be the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Nothing in this test</a:t>
            </a:r>
          </a:p>
          <a:p>
            <a:pPr algn="l">
              <a:lnSpc>
                <a:spcPct val="110000"/>
              </a:lnSpc>
              <a:spcAft>
                <a:spcPts val="600"/>
              </a:spcAft>
            </a:pPr>
            <a:r>
              <a:rPr sz="3400" b="1" i="0">
                <a:solidFill>
                  <a:srgbClr val="FFFFFF"/>
                </a:solidFill>
                <a:latin typeface="Cambria"/>
              </a:rPr>
              <a:t>is a surprise.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have the format, the six tasks, the timing plan and the marking scheme. The dataset is new; the work is exactly what you did in the Week 6 Data Clinic.</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Week 8: you stop describing data and start predicting from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