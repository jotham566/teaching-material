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52.xml" ContentType="application/vnd.openxmlformats-officedocument.presentationml.notesSlide+xml"/>
  <Override PartName="/ppt/notesSlides/notesSlide100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0052.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2.xml" /></ns0:Relationships>
</file>

<file path=ppt/notesSlides/_rels/notesSlide1005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5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AI, machine learning</a:t>
            </a:r>
          </a:p>
          <a:p>
            <a:r>
              <a:t/>
            </a:r>
          </a:p>
          <a:p>
            <a:r>
              <a:t>LECTURER CUE</a:t>
            </a:r>
          </a:p>
          <a:p>
            <a:r>
              <a:t>Today runs entirely on paper. You will not touch a computer, so nothing you do this session depends on owning a laptop or having a connection. By the end you will have answered a real engineering question from twelve rows of a real dataset with a pencil, and measured how wrong you were.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Jotham Martin Wambi.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Jotham Martin Wambi</a:t>
            </a:r>
          </a:p>
          <a:p>
            <a:r>
              <a:t/>
            </a:r>
          </a:p>
          <a:p>
            <a:r>
              <a:t>CONNECT</a:t>
            </a:r>
          </a:p>
          <a:p>
            <a:r>
              <a:t>Build on the preceding slide: AI, machine learning.</a:t>
            </a:r>
          </a:p>
          <a:p>
            <a:r>
              <a:t/>
            </a:r>
          </a:p>
          <a:p>
            <a:r>
              <a:t>LECTURER CUE</a:t>
            </a:r>
          </a:p>
          <a:p>
            <a:r>
              <a:t>A short introduction, and there is a reason for it beyond courtesy.</a:t>
            </a:r>
          </a:p>
          <a:p>
            <a:r>
              <a:t>First, so that you know what you can ask me for. The work on the right is where my experience actually is: sensor data and predictive maintenance, language models over documents, and getting models into something a colleague can use. If your project heads in one of those directions I can help you in detail. If it heads somewhere I know less well, I will tell you that rather than guess.</a:t>
            </a:r>
          </a:p>
          <a:p>
            <a:r>
              <a:t>Second, because of the route rather than the titles. I read economics and information technology as undergraduate degrees, and my first seven years of work were in banking, tax and product management, none of which involved building a model. Nobody starts where this field expects them to start, and the engineering degree you are already halfway through is a better foundation for machine learning than most computing degrees, for reasons we come to in the roadmap segment.</a:t>
            </a:r>
          </a:p>
          <a:p>
            <a:r>
              <a:t>Third, so the claims in this course are checkable. Where I tell you a technique behaves a certain way, it is usually because I have watched it fail somewhere first.</a:t>
            </a:r>
          </a:p>
          <a:p>
            <a:r>
              <a:t>The contact details are real. Use them.</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By the end of today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today you can…</a:t>
            </a:r>
          </a:p>
          <a:p>
            <a:r>
              <a:t/>
            </a:r>
          </a:p>
          <a:p>
            <a:r>
              <a:t>CONNECT</a:t>
            </a:r>
          </a:p>
          <a:p>
            <a:r>
              <a:t>Build on the preceding slide: Jotham Martin Wambi.</a:t>
            </a:r>
          </a:p>
          <a:p>
            <a:r>
              <a:t/>
            </a:r>
          </a:p>
          <a:p>
            <a:r>
              <a:t>LECTURER CUE</a:t>
            </a:r>
          </a:p>
          <a:p>
            <a:r>
              <a:t>Seven objectives, and they are the whole session. Nothing is hidden behind them and there is no reading list you are expected to have done. Mark yourself against each one at the end of the session; whatever you cannot claim is what to revise before Week 2.</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How every session this semester is shaped.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every session this semester is shaped</a:t>
            </a:r>
          </a:p>
          <a:p>
            <a:r>
              <a:t/>
            </a:r>
          </a:p>
          <a:p>
            <a:r>
              <a:t>CONNECT</a:t>
            </a:r>
          </a:p>
          <a:p>
            <a:r>
              <a:t>Build on the preceding slide: By the end of today you can….</a:t>
            </a:r>
          </a:p>
          <a:p>
            <a:r>
              <a:t/>
            </a:r>
          </a:p>
          <a:p>
            <a:r>
              <a:t>LECTURER CUE</a:t>
            </a:r>
          </a:p>
          <a:p>
            <a:r>
              <a:t>Every session this semester has the same shape: eleven segments across three hours, with no block of talking longer than 25 minutes and roughly half the time spent working rather than listening. That is why attendance matters more here than on a lecture course — the practical and challenge segments cannot be read off a deck afterwards. There is a 10-minute break at the midpoint.</a:t>
            </a:r>
          </a:p>
          <a:p>
            <a:r>
              <a:t/>
            </a:r>
          </a:p>
          <a:p>
            <a:r>
              <a:t>NEXT</a:t>
            </a:r>
          </a:p>
          <a:p>
            <a:r>
              <a:t>Where this semester goes.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this semester goes</a:t>
            </a:r>
          </a:p>
          <a:p>
            <a:r>
              <a:t/>
            </a:r>
          </a:p>
          <a:p>
            <a:r>
              <a:t>CONNECT</a:t>
            </a:r>
          </a:p>
          <a:p>
            <a:r>
              <a:t>Build on the preceding slide: How every session this semester is shaped.</a:t>
            </a:r>
          </a:p>
          <a:p>
            <a:r>
              <a:t/>
            </a:r>
          </a:p>
          <a:p>
            <a:r>
              <a:t>LECTURER CUE</a:t>
            </a:r>
          </a:p>
          <a:p>
            <a:r>
              <a:t>Fifteen weeks. Weeks 7 and 14 are practical tests where you are given data you have never seen and asked what you make of it, and the project runs from Week 9 to the last session. There is nothing to memorise in this course, which surprises most students who arrive expecting to revise definitions.</a:t>
            </a:r>
          </a:p>
          <a:p>
            <a:r>
              <a:t/>
            </a:r>
          </a:p>
          <a:p>
            <a:r>
              <a:t>NEXT</a:t>
            </a:r>
          </a:p>
          <a:p>
            <a:r>
              <a:t>What you will be able to say by December.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will be able to say by December</a:t>
            </a:r>
          </a:p>
          <a:p>
            <a:r>
              <a:t/>
            </a:r>
          </a:p>
          <a:p>
            <a:r>
              <a:t>CONNECT</a:t>
            </a:r>
          </a:p>
          <a:p>
            <a:r>
              <a:t>Build on the preceding slide: Where this semester goes.</a:t>
            </a:r>
          </a:p>
          <a:p>
            <a:r>
              <a:t/>
            </a:r>
          </a:p>
          <a:p>
            <a:r>
              <a:t>LECTURER CUE</a:t>
            </a:r>
          </a:p>
          <a:p>
            <a:r>
              <a:t>Six steps, from knowing what a dataset is to saying 'here is a model I built and here is how I know it works'. Most of you cannot do step two today and all of you can reach step six by December. The students who get there are the ones who do the weekly deliverable every week, and the difference is visible by about Week 6.</a:t>
            </a:r>
          </a:p>
          <a:p>
            <a:r>
              <a:t/>
            </a:r>
          </a:p>
          <a:p>
            <a:r>
              <a:t>NEXT</a:t>
            </a:r>
          </a:p>
          <a:p>
            <a:r>
              <a:t>Welcome, and how this course works.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Welcome, and how this course works</a:t>
            </a:r>
          </a:p>
          <a:p>
            <a:r>
              <a:t/>
            </a:r>
          </a:p>
          <a:p>
            <a:r>
              <a:t>CONNECT</a:t>
            </a:r>
          </a:p>
          <a:p>
            <a:r>
              <a:t>Build on the preceding slide: What you will be able to say by December.</a:t>
            </a:r>
          </a:p>
          <a:p>
            <a:r>
              <a:t/>
            </a:r>
          </a:p>
          <a:p>
            <a:r>
              <a:t>LECTURER CUE</a:t>
            </a:r>
          </a:p>
          <a:p>
            <a:r>
              <a:t>Fifteen minutes on how the course works: the promise, the assessment, and what is expected on both sides. Everything after this segment is engineering.</a:t>
            </a:r>
          </a:p>
          <a:p>
            <a:r>
              <a:t/>
            </a:r>
          </a:p>
          <a:p>
            <a:r>
              <a:t>NEXT</a:t>
            </a:r>
          </a:p>
          <a:p>
            <a:r>
              <a:t>How you are assessed.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you are assessed</a:t>
            </a:r>
          </a:p>
          <a:p>
            <a:r>
              <a:t/>
            </a:r>
          </a:p>
          <a:p>
            <a:r>
              <a:t>CONNECT</a:t>
            </a:r>
          </a:p>
          <a:p>
            <a:r>
              <a:t>Build on the preceding slide: Welcome, and how this course works.</a:t>
            </a:r>
          </a:p>
          <a:p>
            <a:r>
              <a:t/>
            </a:r>
          </a:p>
          <a:p>
            <a:r>
              <a:t>LECTURER CUE</a:t>
            </a:r>
          </a:p>
          <a:p>
            <a:r>
              <a:t>Two details the figure does not carry. Every teaching session ends with a five-minute quiz of five questions, taken on your phone by QR code, auto-marked, and you have your score before you leave the room. There are twelve of them and the best ten count, one per cent each, so missing two costs you nothing and there are no resits to arrange. The two practical tests run offline on lab machines with no internet and no AI assistants. AI tools are permitted and taught in the coursework provided you declare what you used, because the mark follows what you can explain.</a:t>
            </a:r>
          </a:p>
          <a:p>
            <a:r>
              <a:t/>
            </a:r>
          </a:p>
          <a:p>
            <a:r>
              <a:t>NEXT</a:t>
            </a:r>
          </a:p>
          <a:p>
            <a:r>
              <a:t>What I expect, and what you can expect back.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I expect, and what you can expect back</a:t>
            </a:r>
          </a:p>
          <a:p>
            <a:r>
              <a:t/>
            </a:r>
          </a:p>
          <a:p>
            <a:r>
              <a:t>CONNECT</a:t>
            </a:r>
          </a:p>
          <a:p>
            <a:r>
              <a:t>Build on the preceding slide: How you are assessed.</a:t>
            </a:r>
          </a:p>
          <a:p>
            <a:r>
              <a:t/>
            </a:r>
          </a:p>
          <a:p>
            <a:r>
              <a:t>LECTURER CUE</a:t>
            </a:r>
          </a:p>
          <a:p>
            <a:r>
              <a:t>The 'ask well' item is the one that changes how much you get out of the semester. Bring the error message, what you already tried, and what you expected to happen; assembling those three things solves the problem outright often enough to be worth the effort every time. If you are stuck for more than five minutes in a practical, put your hand up rather than sitting quietly.</a:t>
            </a:r>
          </a:p>
          <a:p>
            <a:r>
              <a:t/>
            </a:r>
          </a:p>
          <a:p>
            <a:r>
              <a:t>NEXT</a:t>
            </a:r>
          </a:p>
          <a:p>
            <a:r>
              <a:t>The whole field, start to finish.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whole field, start to finish</a:t>
            </a:r>
          </a:p>
          <a:p>
            <a:r>
              <a:t/>
            </a:r>
          </a:p>
          <a:p>
            <a:r>
              <a:t>CONNECT</a:t>
            </a:r>
          </a:p>
          <a:p>
            <a:r>
              <a:t>Build on the preceding slide: What I expect, and what you can expect back.</a:t>
            </a:r>
          </a:p>
          <a:p>
            <a:r>
              <a:t/>
            </a:r>
          </a:p>
          <a:p>
            <a:r>
              <a:t>LECTURER CUE</a:t>
            </a:r>
          </a:p>
          <a:p>
            <a:r>
              <a:t>This segment hands you the map of the field before any of it is taught, so that every later week has somewhere to sit rather than arriving from nowhere. The structure follows the public roadmap.sh Machine Learning roadmap, which is the map the profession itself uses, so you can check this course against something written outside this room.</a:t>
            </a:r>
          </a:p>
          <a:p>
            <a:r>
              <a:t/>
            </a:r>
          </a:p>
          <a:p>
            <a:r>
              <a:t>NEXT</a:t>
            </a:r>
          </a:p>
          <a:p>
            <a:r>
              <a:t>The machine learning roadmap.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machine learning roadmap</a:t>
            </a:r>
          </a:p>
          <a:p>
            <a:r>
              <a:t/>
            </a:r>
          </a:p>
          <a:p>
            <a:r>
              <a:t>CONNECT</a:t>
            </a:r>
          </a:p>
          <a:p>
            <a:r>
              <a:t>Build on the preceding slide: The whole field, start to finish.</a:t>
            </a:r>
          </a:p>
          <a:p>
            <a:r>
              <a:t/>
            </a:r>
          </a:p>
          <a:p>
            <a:r>
              <a:t>LECTURER CUE</a:t>
            </a:r>
          </a:p>
          <a:p>
            <a:r>
              <a:t>Fifteen stages, from Python to transformers. By December you will have covered stages 1 to 9. Most of the individual terms on the figure mean nothing to you today and that is expected — what to take from it is the shape of the field and where this course stops. The interactive version is at roadmap.sh/machine-learning, and it is worth an evening of clicking around.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Stage 2 is the one that matters to you.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Stage 2 is the one that matters to you</a:t>
            </a:r>
          </a:p>
          <a:p>
            <a:r>
              <a:t/>
            </a:r>
          </a:p>
          <a:p>
            <a:r>
              <a:t>CONNECT</a:t>
            </a:r>
          </a:p>
          <a:p>
            <a:r>
              <a:t>Build on the preceding slide: The machine learning roadmap.</a:t>
            </a:r>
          </a:p>
          <a:p>
            <a:r>
              <a:t/>
            </a:r>
          </a:p>
          <a:p>
            <a:r>
              <a:t>LECTURER CUE</a:t>
            </a:r>
          </a:p>
          <a:p>
            <a:r>
              <a:t>The mathematics stage — calculus, linear algebra, statistics, probability — is the one most people entering this field find hardest, and you did it in Years 1 and 2. What you are missing is stages 1 and 3, Python and the data libraries, which Weeks 2 to 6 cover in five weeks of work. The expensive prerequisite is already behind you.</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Where this course sits, honestly.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this course sits, honestly</a:t>
            </a:r>
          </a:p>
          <a:p>
            <a:r>
              <a:t/>
            </a:r>
          </a:p>
          <a:p>
            <a:r>
              <a:t>CONNECT</a:t>
            </a:r>
          </a:p>
          <a:p>
            <a:r>
              <a:t>Build on the preceding slide: Stage 2 is the one that matters to you.</a:t>
            </a:r>
          </a:p>
          <a:p>
            <a:r>
              <a:t/>
            </a:r>
          </a:p>
          <a:p>
            <a:r>
              <a:t>LECTURER CUE</a:t>
            </a:r>
          </a:p>
          <a:p>
            <a:r>
              <a:t>The grey stages sit outside this course: reinforcement learning, full MLOps and most of the advanced language-model material. If you want to go after them later, roadmap.sh publishes separate roadmaps for the AI engineer, the data scientist, MLOps and AI agents, and any of the four is a reasonable next step after December.</a:t>
            </a:r>
          </a:p>
          <a:p>
            <a:r>
              <a:t/>
            </a:r>
          </a:p>
          <a:p>
            <a:r>
              <a:t>NEXT</a:t>
            </a:r>
          </a:p>
          <a:p>
            <a:r>
              <a:t>Four jobs this field splits into.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jobs this field splits into</a:t>
            </a:r>
          </a:p>
          <a:p>
            <a:r>
              <a:t/>
            </a:r>
          </a:p>
          <a:p>
            <a:r>
              <a:t>CONNECT</a:t>
            </a:r>
          </a:p>
          <a:p>
            <a:r>
              <a:t>Build on the preceding slide: Where this course sits, honestly.</a:t>
            </a:r>
          </a:p>
          <a:p>
            <a:r>
              <a:t/>
            </a:r>
          </a:p>
          <a:p>
            <a:r>
              <a:t>LECTURER CUE</a:t>
            </a:r>
          </a:p>
          <a:p>
            <a:r>
              <a:t>Four different roadmaps and four different careers. This course points at the first one, applied inside your own engineering discipline. A computer science graduate will beat you at general machine learning, and that contest is avoidable: a civil engineer who can model concrete strength, or a mining engineer who can predict concentrate quality, is competing in a much smaller field.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What this course is actually about.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this course is actually about</a:t>
            </a:r>
          </a:p>
          <a:p>
            <a:r>
              <a:t/>
            </a:r>
          </a:p>
          <a:p>
            <a:r>
              <a:t>CONNECT</a:t>
            </a:r>
          </a:p>
          <a:p>
            <a:r>
              <a:t>Build on the preceding slide: Four jobs this field splits into.</a:t>
            </a:r>
          </a:p>
          <a:p>
            <a:r>
              <a:t/>
            </a:r>
          </a:p>
          <a:p>
            <a:r>
              <a:t>LECTURER CUE</a:t>
            </a:r>
          </a:p>
          <a:p>
            <a:r>
              <a:t>Three words — artificial intelligence, machine learning, data science — get used interchangeably in job adverts, papers and vendor brochures. Fifteen minutes here is what lets you read those documents without being misled by them.</a:t>
            </a:r>
          </a:p>
          <a:p>
            <a:r>
              <a:t/>
            </a:r>
          </a:p>
          <a:p>
            <a:r>
              <a:t>NEXT</a:t>
            </a:r>
          </a:p>
          <a:p>
            <a:r>
              <a:t>The words, and how they nest.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and how they nest</a:t>
            </a:r>
          </a:p>
          <a:p>
            <a:r>
              <a:t/>
            </a:r>
          </a:p>
          <a:p>
            <a:r>
              <a:t>CONNECT</a:t>
            </a:r>
          </a:p>
          <a:p>
            <a:r>
              <a:t>Build on the preceding slide: What this course is actually about.</a:t>
            </a:r>
          </a:p>
          <a:p>
            <a:r>
              <a:t/>
            </a:r>
          </a:p>
          <a:p>
            <a:r>
              <a:t>LECTURER CUE</a:t>
            </a:r>
          </a:p>
          <a:p>
            <a:r>
              <a:t>Each term is contained by the one before it. Data science is the odd one out: it overlaps all of them and is contained by none, because it is the craft of getting an answer out of data at all — finding it, cleaning it, questioning it, presenting it. Most of your semester goes into the data science ring, and the modelling turns out to be the small part.</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Artificial intelligence.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Artificial intelligence</a:t>
            </a:r>
          </a:p>
          <a:p>
            <a:r>
              <a:t/>
            </a:r>
          </a:p>
          <a:p>
            <a:r>
              <a:t>CONNECT</a:t>
            </a:r>
          </a:p>
          <a:p>
            <a:r>
              <a:t>Build on the preceding slide: The words, and how they nest.</a:t>
            </a:r>
          </a:p>
          <a:p>
            <a:r>
              <a:t/>
            </a:r>
          </a:p>
          <a:p>
            <a:r>
              <a:t>LECTURER CUE</a:t>
            </a:r>
          </a:p>
          <a:p>
            <a:r>
              <a:t>A thermostat follows one fixed rule and has no capacity to do better, which puts it outside the definition. A spam filter that improves as it sees more mail sits inside it. Whether any of this is 'really' intelligent is a genuine open question in the field; here the word is a label for an area of work.</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Machine learning.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Machine learning</a:t>
            </a:r>
          </a:p>
          <a:p>
            <a:r>
              <a:t/>
            </a:r>
          </a:p>
          <a:p>
            <a:r>
              <a:t>CONNECT</a:t>
            </a:r>
          </a:p>
          <a:p>
            <a:r>
              <a:t>Build on the preceding slide: Artificial intelligence.</a:t>
            </a:r>
          </a:p>
          <a:p>
            <a:r>
              <a:t/>
            </a:r>
          </a:p>
          <a:p>
            <a:r>
              <a:t>LECTURER CUE</a:t>
            </a:r>
          </a:p>
          <a:p>
            <a:r>
              <a:t>This is the definition the rest of the course rests on. Note the last step of the example: the computer infers a relationship and you then decide whether to trust it. That step is the easy one to skip, and Weeks 10 to 14 are entirely about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Data science.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Data science</a:t>
            </a:r>
          </a:p>
          <a:p>
            <a:r>
              <a:t/>
            </a:r>
          </a:p>
          <a:p>
            <a:r>
              <a:t>CONNECT</a:t>
            </a:r>
          </a:p>
          <a:p>
            <a:r>
              <a:t>Build on the preceding slide: Machine learning.</a:t>
            </a:r>
          </a:p>
          <a:p>
            <a:r>
              <a:t/>
            </a:r>
          </a:p>
          <a:p>
            <a:r>
              <a:t>LECTURER CUE</a:t>
            </a:r>
          </a:p>
          <a:p>
            <a:r>
              <a:t>In industry the split is roughly eighty per cent getting data into a usable state and twenty per cent modelling. An engineer with clean data beats a better algorithm with dirty data. The missing-assay example on this slide is a real Week 6 exercise: you will be handed records with a large part of one column absent and asked whether they are missing at random and what that does to your conclusion.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Two ways to make a computer decide.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Two ways to make a computer decide</a:t>
            </a:r>
          </a:p>
          <a:p>
            <a:r>
              <a:t/>
            </a:r>
          </a:p>
          <a:p>
            <a:r>
              <a:t>CONNECT</a:t>
            </a:r>
          </a:p>
          <a:p>
            <a:r>
              <a:t>Build on the preceding slide: Data science.</a:t>
            </a:r>
          </a:p>
          <a:p>
            <a:r>
              <a:t/>
            </a:r>
          </a:p>
          <a:p>
            <a:r>
              <a:t>LECTURER CUE</a:t>
            </a:r>
          </a:p>
          <a:p>
            <a:r>
              <a:t>The core teaching segment of the session: the difference between writing a rule and inferring one from examples, plus the vocabulary for talking about a table of data. Everything from Week 5 onwards assumes both.</a:t>
            </a:r>
          </a:p>
          <a:p>
            <a:r>
              <a:t/>
            </a:r>
          </a:p>
          <a:p>
            <a:r>
              <a:t>NEXT</a:t>
            </a:r>
          </a:p>
          <a:p>
            <a:r>
              <a:t>"Can we estimate the 28-day compressive strength of a concrete mix without casting and crushing another cylinder?".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we estimate the 28-day compressive strength of a concrete mix without casting and crushing another cylinder?"</a:t>
            </a:r>
          </a:p>
          <a:p>
            <a:r>
              <a:t/>
            </a:r>
          </a:p>
          <a:p>
            <a:r>
              <a:t>CONNECT</a:t>
            </a:r>
          </a:p>
          <a:p>
            <a:r>
              <a:t>Build on the preceding slide: Two ways to make a computer decide.</a:t>
            </a:r>
          </a:p>
          <a:p>
            <a:r>
              <a:t/>
            </a:r>
          </a:p>
          <a:p>
            <a:r>
              <a:t>LECTURER CUE</a:t>
            </a:r>
          </a:p>
          <a:p>
            <a:r>
              <a:t>Sit with the question before any answer arrives. Two honest first reactions are 'you cannot' and 'there must be a formula somewhere', and both are useful. The hands-on prediction exercise shows what a third answer looks like.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Traditional programming, and machine learning.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Traditional programming, and machine learning</a:t>
            </a:r>
          </a:p>
          <a:p>
            <a:r>
              <a:t/>
            </a:r>
          </a:p>
          <a:p>
            <a:r>
              <a:t>CONNECT</a:t>
            </a:r>
          </a:p>
          <a:p>
            <a:r>
              <a:t>Build on the preceding slide: "Can we estimate the 28-day compressive strength of a concrete mix without casting and crushing another cylinder?".</a:t>
            </a:r>
          </a:p>
          <a:p>
            <a:r>
              <a:t/>
            </a:r>
          </a:p>
          <a:p>
            <a:r>
              <a:t>LECTURER CUE</a:t>
            </a:r>
          </a:p>
          <a:p>
            <a:r>
              <a:t>A worked case from your own discipline: IF the crack is wider than 0.30 mm THEN flag it for repair — A code of practice gives you the threshold. You do not need data to write that rule. That belongs firmly in the left-hand column. The right-hand column earns its place when there is no threshold in any code of practice and no formula to look up, and you have examples of past cases instead. Neither column is better; the useful question is whether you already know the rule for the problem in front of you.</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When to write the rule, and when to learn it from data.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When to write the rule, and when to learn it from data</a:t>
            </a:r>
          </a:p>
          <a:p>
            <a:r>
              <a:t/>
            </a:r>
          </a:p>
          <a:p>
            <a:r>
              <a:t>CONNECT</a:t>
            </a:r>
          </a:p>
          <a:p>
            <a:r>
              <a:t>Build on the preceding slide: Traditional programming, and machine learning.</a:t>
            </a:r>
          </a:p>
          <a:p>
            <a:r>
              <a:t/>
            </a:r>
          </a:p>
          <a:p>
            <a:r>
              <a:t>LECTURER CUE</a:t>
            </a:r>
          </a:p>
          <a:p>
            <a:r>
              <a:t>Most of engineering stays in the left-hand column and that is the correct place for it. The third item on the left is the one that decides real projects: a model whose decision cannot be explained line by line often cannot be used at all, whatever its accuracy on test data. That constraint returns in Week 12.</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NEXT</a:t>
            </a:r>
          </a:p>
          <a:p>
            <a:r>
              <a:t>What we actually mean by 'data'.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we actually mean by 'data'</a:t>
            </a:r>
          </a:p>
          <a:p>
            <a:r>
              <a:t/>
            </a:r>
          </a:p>
          <a:p>
            <a:r>
              <a:t>CONNECT</a:t>
            </a:r>
          </a:p>
          <a:p>
            <a:r>
              <a:t>Build on the preceding slide: When to write the rule, and when to learn it from data.</a:t>
            </a:r>
          </a:p>
          <a:p>
            <a:r>
              <a:t/>
            </a:r>
          </a:p>
          <a:p>
            <a:r>
              <a:t>LECTURER CUE</a:t>
            </a:r>
          </a:p>
          <a:p>
            <a:r>
              <a:t>This is the picture to fix in your head, because every dataset you meet this semester has this shape. One row is one example. The feature columns hold what you know beforehand and the target column holds the thing you want to predict. Worth thinking about: the target of one problem can be a feature of another. Curing temperature is the target if you are studying an oven and a feature if you are predicting strength.</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Feature, and target.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Feature, and target</a:t>
            </a:r>
          </a:p>
          <a:p>
            <a:r>
              <a:t/>
            </a:r>
          </a:p>
          <a:p>
            <a:r>
              <a:t>CONNECT</a:t>
            </a:r>
          </a:p>
          <a:p>
            <a:r>
              <a:t>Build on the preceding slide: What we actually mean by 'data'.</a:t>
            </a:r>
          </a:p>
          <a:p>
            <a:r>
              <a:t/>
            </a:r>
          </a:p>
          <a:p>
            <a:r>
              <a:t>LECTURER CUE</a:t>
            </a:r>
          </a:p>
          <a:p>
            <a:r>
              <a:t>The 'association is not a cause' line is the seed of correlation versus causation, which arrives properly in Week 8. One error to start watching for now: including a column that is only known after the target is known. That is data leakage, it is the most destructive mistake in applied machine learning, and Week 10 is a full session on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Feature, and target.</a:t>
            </a:r>
          </a:p>
          <a:p>
            <a:r>
              <a:t/>
            </a:r>
          </a:p>
          <a:p>
            <a:r>
              <a:t>LECTURER CUE</a:t>
            </a:r>
          </a:p>
          <a:p>
            <a:r>
              <a:t>Write something for each of the three before you turn to the answers. Question B is deliberately hard for Week 1 — noticing that the repair column can only be filled in after the failure has happened is enough at this stage, even if you cannot yet name what is wrong with using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ANSWERS</a:t>
            </a:r>
          </a:p>
          <a:p>
            <a:r>
              <a:t>How did you do?</a:t>
            </a:r>
          </a:p>
          <a:p>
            <a:r>
              <a:t>A</a:t>
            </a:r>
          </a:p>
          <a:p>
            <a:r>
              <a:t>Feature or target?</a:t>
            </a:r>
          </a:p>
          <a:p>
            <a:r>
              <a:t>The target. It is the thing you want to predict. Everything measured beforehand is a feature.</a:t>
            </a:r>
          </a:p>
          <a:p>
            <a:r>
              <a:t>B</a:t>
            </a:r>
          </a:p>
          <a:p>
            <a:r>
              <a:t>The repair column?</a:t>
            </a:r>
          </a:p>
          <a:p>
            <a:r>
              <a:t>No. You only know what repair was done AFTER the failure, so it cannot help you predict the failure. Include it and your model will look brilliant in testing and be useless in service. This is called data leakage and we spend a whole session on it in Week 10.</a:t>
            </a:r>
          </a:p>
          <a:p>
            <a:r>
              <a:t>C</a:t>
            </a:r>
          </a:p>
          <a:p>
            <a:r>
              <a:t>A rule you already know?</a:t>
            </a:r>
          </a:p>
          <a:p>
            <a:r>
              <a:t>Anything with a formula or a code threshold: For a simply supported beam under a uniform load, the bending moment has an exact formula. Use it. If a validated equation exists, use the equation.</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LECTURER CUE</a:t>
            </a:r>
          </a:p>
          <a:p>
            <a:r>
              <a:t>Getting B wrong is normal; professional teams ship this bug regularly and only find it when the model reaches service. The name for it is data leakage. The timing test in answer B — could I know this column before the outcome? — is the one habit to carry out of this slide.</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Hands on: predict case 13.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Hands on: predict case 13</a:t>
            </a:r>
          </a:p>
          <a:p>
            <a:r>
              <a:t/>
            </a:r>
          </a:p>
          <a:p>
            <a:r>
              <a:t>CONNECT</a:t>
            </a:r>
          </a:p>
          <a:p>
            <a:r>
              <a:t>Build on the preceding slide: How did you do?.</a:t>
            </a:r>
          </a:p>
          <a:p>
            <a:r>
              <a:t/>
            </a:r>
          </a:p>
          <a:p>
            <a:r>
              <a:t>LECTURER CUE</a:t>
            </a:r>
          </a:p>
          <a:p>
            <a:r>
              <a:t>Teams of four or five, formed now and kept for the rest of the semester. You are about to do machine learning by hand, on paper, before anybody writes a line of code.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Your task.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Your task</a:t>
            </a:r>
          </a:p>
          <a:p>
            <a:r>
              <a:t/>
            </a:r>
          </a:p>
          <a:p>
            <a:r>
              <a:t>CONNECT</a:t>
            </a:r>
          </a:p>
          <a:p>
            <a:r>
              <a:t>Build on the preceding slide: Hands on: predict case 13.</a:t>
            </a:r>
          </a:p>
          <a:p>
            <a:r>
              <a:t/>
            </a:r>
          </a:p>
          <a:p>
            <a:r>
              <a:t>LECTURER CUE</a:t>
            </a:r>
          </a:p>
          <a:p>
            <a:r>
              <a:t>The number your team predicts matters far less than the sentence saying how you got it, so write the reasoning down. The next three slides give names to whatever method you used, and that only works if you can still see what you did. If you are stuck, start with one question: which single column seems to move with the outcome, and why that one?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Reading the pattern from twelve cases.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Reading the pattern from twelve cases</a:t>
            </a:r>
          </a:p>
          <a:p>
            <a:r>
              <a:t/>
            </a:r>
          </a:p>
          <a:p>
            <a:r>
              <a:t>CONNECT</a:t>
            </a:r>
          </a:p>
          <a:p>
            <a:r>
              <a:t>Build on the preceding slide: Your task.</a:t>
            </a:r>
          </a:p>
          <a:p>
            <a:r>
              <a:t/>
            </a:r>
          </a:p>
          <a:p>
            <a:r>
              <a:t>LECTURER CUE</a:t>
            </a:r>
          </a:p>
          <a:p>
            <a:r>
              <a:t>There is no single right method, and this is one line of thinking that works. Step five is what separates an engineer from a calculator: how confident am I, and what would change my mind? The two practical tests, in Weeks 7 and 14, assess that step far more heavily than the arithmetic.</a:t>
            </a:r>
          </a:p>
          <a:p>
            <a:r>
              <a:t/>
            </a:r>
          </a:p>
          <a:p>
            <a:r>
              <a:t>NEXT</a:t>
            </a:r>
          </a:p>
          <a:p>
            <a:r>
              <a:t>The answer, and your error.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answer, and your error</a:t>
            </a:r>
          </a:p>
          <a:p>
            <a:r>
              <a:t/>
            </a:r>
          </a:p>
          <a:p>
            <a:r>
              <a:t>CONNECT</a:t>
            </a:r>
          </a:p>
          <a:p>
            <a:r>
              <a:t>Build on the preceding slide: Reading the pattern from twelve cases.</a:t>
            </a:r>
          </a:p>
          <a:p>
            <a:r>
              <a:t/>
            </a:r>
          </a:p>
          <a:p>
            <a:r>
              <a:t>LECTURER CUE</a:t>
            </a:r>
          </a:p>
          <a:p>
            <a:r>
              <a:t>The spread of team answers is the teaching point. Several different reasonable methods produced several different numbers, so being reasonable is not enough on its own — you need a way to measure which method is better. One case cannot tell you that, which is what Week 8 sets up.</a:t>
            </a:r>
          </a:p>
          <a:p>
            <a:r>
              <a:t/>
            </a:r>
          </a:p>
          <a:p>
            <a:r>
              <a:t>NEXT</a:t>
            </a:r>
          </a:p>
          <a:p>
            <a:r>
              <a:t>You just did every step of a machine learning project.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 just did every step of a machine learning project</a:t>
            </a:r>
          </a:p>
          <a:p>
            <a:r>
              <a:t/>
            </a:r>
          </a:p>
          <a:p>
            <a:r>
              <a:t>CONNECT</a:t>
            </a:r>
          </a:p>
          <a:p>
            <a:r>
              <a:t>Build on the preceding slide: The answer, and your error.</a:t>
            </a:r>
          </a:p>
          <a:p>
            <a:r>
              <a:t/>
            </a:r>
          </a:p>
          <a:p>
            <a:r>
              <a:t>LECTURER CUE</a:t>
            </a:r>
          </a:p>
          <a:p>
            <a:r>
              <a:t>The syllabus for the rest of the semester is largely a set of names for what you just did with a pencil. The fourth pair is the one to dwell on: you predicted a case that was not in front of you when you formed the rule. That is generalisation, and everything in Week 10 follows from it.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You just did every step of a machine learning project.</a:t>
            </a:r>
          </a:p>
          <a:p>
            <a:r>
              <a:t/>
            </a:r>
          </a:p>
          <a:p>
            <a:r>
              <a:t>LECTURER CUE</a:t>
            </a:r>
          </a:p>
          <a:p>
            <a:r>
              <a:t>Ten minutes. The challenge segment after the break is the longest single working block of the session, so use the time.</a:t>
            </a:r>
          </a:p>
          <a:p>
            <a:r>
              <a:t/>
            </a:r>
          </a:p>
          <a:p>
            <a:r>
              <a:t>NEXT</a:t>
            </a:r>
          </a:p>
          <a:p>
            <a:r>
              <a:t>Two kinds of question.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Two kinds of question</a:t>
            </a:r>
          </a:p>
          <a:p>
            <a:r>
              <a:t/>
            </a:r>
          </a:p>
          <a:p>
            <a:r>
              <a:t>CONNECT</a:t>
            </a:r>
          </a:p>
          <a:p>
            <a:r>
              <a:t>Build on the preceding slide: Break.</a:t>
            </a:r>
          </a:p>
          <a:p>
            <a:r>
              <a:t/>
            </a:r>
          </a:p>
          <a:p>
            <a:r>
              <a:t>LECTURER CUE</a:t>
            </a:r>
          </a:p>
          <a:p>
            <a:r>
              <a:t>A short segment carrying one distinction that decides which method you reach for all semester. It needs to be automatic by Week 8, when you start fitting models to both kinds of problem.</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Regression and classification.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Regression and classification</a:t>
            </a:r>
          </a:p>
          <a:p>
            <a:r>
              <a:t/>
            </a:r>
          </a:p>
          <a:p>
            <a:r>
              <a:t>CONNECT</a:t>
            </a:r>
          </a:p>
          <a:p>
            <a:r>
              <a:t>Build on the preceding slide: Two kinds of question.</a:t>
            </a:r>
          </a:p>
          <a:p>
            <a:r>
              <a:t/>
            </a:r>
          </a:p>
          <a:p>
            <a:r>
              <a:t>LECTURER CUE</a:t>
            </a:r>
          </a:p>
          <a:p>
            <a:r>
              <a:t>The point that is easy to miss: the SAME dataset can pose either question. Take the target on the left and band it — strength class: below 25 MPa, 25 to 40, above 40 — and the regression problem has become a classification problem. Banding is an engineering decision with consequences, because it throws away the distance between two values inside the same band, and it comes back in Week 9 when you start choosing how to measure performance.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Regression, and classification.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Regression, and classification</a:t>
            </a:r>
          </a:p>
          <a:p>
            <a:r>
              <a:t/>
            </a:r>
          </a:p>
          <a:p>
            <a:r>
              <a:t>CONNECT</a:t>
            </a:r>
          </a:p>
          <a:p>
            <a:r>
              <a:t>Build on the preceding slide: Regression and classification.</a:t>
            </a:r>
          </a:p>
          <a:p>
            <a:r>
              <a:t/>
            </a:r>
          </a:p>
          <a:p>
            <a:r>
              <a:t>LECTURER CUE</a:t>
            </a:r>
          </a:p>
          <a:p>
            <a:r>
              <a:t>Carry the test as a habit: what would the answer look like written down? A quantity with a unit means regression. A word or a label means classification. That question resolves almost every case you will meet, and it is faster than trying to remember the definitions.</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Regression, and classification.</a:t>
            </a:r>
          </a:p>
          <a:p>
            <a:r>
              <a:t/>
            </a:r>
          </a:p>
          <a:p>
            <a:r>
              <a:t>LECTURER CUE</a:t>
            </a:r>
          </a:p>
          <a:p>
            <a:r>
              <a:t>Question C is the interesting one. It is still classification, with five categories rather than two. Multi-class problems are harder to evaluate because one accuracy figure hides which classes you are getting wrong, and that is a Week 9 topic.</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ANSWERS</a:t>
            </a:r>
          </a:p>
          <a:p>
            <a:r>
              <a:t>How did you do?</a:t>
            </a:r>
          </a:p>
          <a:p>
            <a:r>
              <a:t>A</a:t>
            </a:r>
          </a:p>
          <a:p>
            <a:r>
              <a:t>Days until replacement?</a:t>
            </a:r>
          </a:p>
          <a:p>
            <a:r>
              <a:t>Regression. The answer is a number with a unit — days.</a:t>
            </a:r>
          </a:p>
          <a:p>
            <a:r>
              <a:t>B</a:t>
            </a:r>
          </a:p>
          <a:p>
            <a:r>
              <a:t>Pass or fail?</a:t>
            </a:r>
          </a:p>
          <a:p>
            <a:r>
              <a:t>Classification. Two categories, so it is called binary classification.</a:t>
            </a:r>
          </a:p>
          <a:p>
            <a:r>
              <a:t>C</a:t>
            </a:r>
          </a:p>
          <a:p>
            <a:r>
              <a:t>Which of five fault types?</a:t>
            </a:r>
          </a:p>
          <a:p>
            <a:r>
              <a:t>Still classification, but multi-class rather than binary. It is harder: with five classes there are far more ways to be wrong, and a single accuracy figure hides which ones you get wrong. Week 9.</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LECTURER CUE</a:t>
            </a:r>
          </a:p>
          <a:p>
            <a:r>
              <a:t>You now have vocabulary you can use immediately: binary classification for two categories, multi-class for three or more. The distinction starts to matter as soon as you begin measuring performance in Week 9, because the same accuracy figure means different things in the two cases.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What machine learning cannot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machine learning cannot do</a:t>
            </a:r>
          </a:p>
          <a:p>
            <a:r>
              <a:t/>
            </a:r>
          </a:p>
          <a:p>
            <a:r>
              <a:t>CONNECT</a:t>
            </a:r>
          </a:p>
          <a:p>
            <a:r>
              <a:t>Build on the preceding slide: How did you do?.</a:t>
            </a:r>
          </a:p>
          <a:p>
            <a:r>
              <a:t/>
            </a:r>
          </a:p>
          <a:p>
            <a:r>
              <a:t>LECTURER CUE</a:t>
            </a:r>
          </a:p>
          <a:p>
            <a:r>
              <a:t>Four honest limits, so that you can recognise in advance when data will not help. This is also your protection against being sold a technique that cannot work on the problem you have.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Four limits, and none of them go away.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limits, and none of them go away</a:t>
            </a:r>
          </a:p>
          <a:p>
            <a:r>
              <a:t/>
            </a:r>
          </a:p>
          <a:p>
            <a:r>
              <a:t>CONNECT</a:t>
            </a:r>
          </a:p>
          <a:p>
            <a:r>
              <a:t>Build on the preceding slide: What machine learning cannot do.</a:t>
            </a:r>
          </a:p>
          <a:p>
            <a:r>
              <a:t/>
            </a:r>
          </a:p>
          <a:p>
            <a:r>
              <a:t>LECTURER CUE</a:t>
            </a:r>
          </a:p>
          <a:p>
            <a:r>
              <a:t>The caption is the sentence to remember. A machine learning method will always return an answer and will never tell you that the question was unanswerable. Judging that is your job, and it is the reason a trained engineer is still needed after the code runs.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The same four limits, in your own discipline.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same four limits, in your own discipline</a:t>
            </a:r>
          </a:p>
          <a:p>
            <a:r>
              <a:t/>
            </a:r>
          </a:p>
          <a:p>
            <a:r>
              <a:t>CONNECT</a:t>
            </a:r>
          </a:p>
          <a:p>
            <a:r>
              <a:t>Build on the preceding slide: Four limits, and none of them go away.</a:t>
            </a:r>
          </a:p>
          <a:p>
            <a:r>
              <a:t/>
            </a:r>
          </a:p>
          <a:p>
            <a:r>
              <a:t>LECTURER CUE</a:t>
            </a:r>
          </a:p>
          <a:p>
            <a:r>
              <a:t>Every project in Week 9 has to survive these four questions before it is approved. A team that cannot answer them has picked a technique and gone looking for somewhere to use it, which is the most common way a student project fails.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Challenge: the Problem Hunt.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Challenge: the Problem Hunt</a:t>
            </a:r>
          </a:p>
          <a:p>
            <a:r>
              <a:t/>
            </a:r>
          </a:p>
          <a:p>
            <a:r>
              <a:t>CONNECT</a:t>
            </a:r>
          </a:p>
          <a:p>
            <a:r>
              <a:t>Build on the preceding slide: The same four limits, in your own discipline.</a:t>
            </a:r>
          </a:p>
          <a:p>
            <a:r>
              <a:t/>
            </a:r>
          </a:p>
          <a:p>
            <a:r>
              <a:t>LECTURER CUE</a:t>
            </a:r>
          </a:p>
          <a:p>
            <a:r>
              <a:t>In this segment you get a problem and no method, and the questions you are asked will not be answered for you. Proceeding without instructions is the skill being practised, and roughly one segment of every session this semester works this way.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Problem Hunt.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Problem Hunt</a:t>
            </a:r>
          </a:p>
          <a:p>
            <a:r>
              <a:t/>
            </a:r>
          </a:p>
          <a:p>
            <a:r>
              <a:t>CONNECT</a:t>
            </a:r>
          </a:p>
          <a:p>
            <a:r>
              <a:t>Build on the preceding slide: Challenge: the Problem Hunt.</a:t>
            </a:r>
          </a:p>
          <a:p>
            <a:r>
              <a:t/>
            </a:r>
          </a:p>
          <a:p>
            <a:r>
              <a:t>LECTURER CUE</a:t>
            </a:r>
          </a:p>
          <a:p>
            <a:r>
              <a:t>The rejections carry more weight than the acceptances. A team that can say clearly why something is NOT a machine learning problem has understood the session, and the six questions on the slide are the ones to argue each placement against. Keep your sheet: the class list of problems built in this segment is what teams draw on when they choose projects in Week 9.</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How your team works, all semester.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your team works, all semester</a:t>
            </a:r>
          </a:p>
          <a:p>
            <a:r>
              <a:t/>
            </a:r>
          </a:p>
          <a:p>
            <a:r>
              <a:t>CONNECT</a:t>
            </a:r>
          </a:p>
          <a:p>
            <a:r>
              <a:t>Build on the preceding slide: Problem Hunt.</a:t>
            </a:r>
          </a:p>
          <a:p>
            <a:r>
              <a:t/>
            </a:r>
          </a:p>
          <a:p>
            <a:r>
              <a:t>LECTURER CUE</a:t>
            </a:r>
          </a:p>
          <a:p>
            <a:r>
              <a:t>Sign the team charter before you leave: names, contact details, a weekly meeting slot, and what you will do if somebody stops contributing. Agreeing that in Week 1 is far easier than agreeing it in November, and the charter is the document your contribution log gets read against.</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Gallery walk, and what you owe me.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Gallery walk, and what you owe me</a:t>
            </a:r>
          </a:p>
          <a:p>
            <a:r>
              <a:t/>
            </a:r>
          </a:p>
          <a:p>
            <a:r>
              <a:t>CONNECT</a:t>
            </a:r>
          </a:p>
          <a:p>
            <a:r>
              <a:t>Build on the preceding slide: How your team works, all semester.</a:t>
            </a:r>
          </a:p>
          <a:p>
            <a:r>
              <a:t/>
            </a:r>
          </a:p>
          <a:p>
            <a:r>
              <a:t>LECTURER CUE</a:t>
            </a:r>
          </a:p>
          <a:p>
            <a:r>
              <a:t>Gallery walk: your team visits two other teams' boards and writes one question on each sheet. Questions only, no verdicts. This is the first peer review of the semester, and in Week 13 peer review is graded.</a:t>
            </a:r>
          </a:p>
          <a:p>
            <a:r>
              <a:t/>
            </a:r>
          </a:p>
          <a:p>
            <a:r>
              <a:t>NEXT</a:t>
            </a:r>
          </a:p>
          <a:p>
            <a:r>
              <a:t>Before Week 2.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Week 2</a:t>
            </a:r>
          </a:p>
          <a:p>
            <a:r>
              <a:t/>
            </a:r>
          </a:p>
          <a:p>
            <a:r>
              <a:t>CONNECT</a:t>
            </a:r>
          </a:p>
          <a:p>
            <a:r>
              <a:t>Build on the preceding slide: Gallery walk, and what you owe me.</a:t>
            </a:r>
          </a:p>
          <a:p>
            <a:r>
              <a:t/>
            </a:r>
          </a:p>
          <a:p>
            <a:r>
              <a:t>LECTURER CUE</a:t>
            </a:r>
          </a:p>
          <a:p>
            <a:r>
              <a:t>The 'not solvable' item is the most valuable part of A1, because it forces you to use the four limits rather than remember them. Take the instruction not to install anything seriously: the course runs in Google Colab, and a Python installation you set up at home creates a problem that cannot be diagnosed in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A1 CATCH-UP</a:t>
            </a:r>
          </a:p>
          <a:p>
            <a:r>
              <a:t>The original Week 1 schedule has been superseded for catch-up collection. Use the current cohort A1 form deadline, aligned with its Week 2 assignment upload. Quiz 1 is separate and gets 24 hours from its own activation.</a:t>
            </a:r>
          </a:p>
          <a:p>
            <a:r>
              <a:t/>
            </a:r>
          </a:p>
          <a:p>
            <a:r>
              <a:t>NEXT</a:t>
            </a:r>
          </a:p>
          <a:p>
            <a:r>
              <a:t>Watch this before Week 2.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Watch this before Week 2</a:t>
            </a:r>
          </a:p>
          <a:p>
            <a:r>
              <a:t/>
            </a:r>
          </a:p>
          <a:p>
            <a:r>
              <a:t>CONNECT</a:t>
            </a:r>
          </a:p>
          <a:p>
            <a:r>
              <a:t>Build on the preceding slide: Before Week 2.</a:t>
            </a:r>
          </a:p>
          <a:p>
            <a:r>
              <a:t/>
            </a:r>
          </a:p>
          <a:p>
            <a:r>
              <a:t>LECTURER CUE</a:t>
            </a:r>
          </a:p>
          <a:p>
            <a:r>
              <a:t>Watch for where he draws the boundaries between the four terms, and whether they match the nested diagram from today. If they differ, raise it next week — the field genuinely does not fully agree on this. Two optional extras: StatQuest, 'A Gentle Introduction to Machine Learning', https://www.youtube.com/watch?v=Gv9_4yMHFhI, whose author Josh Starmer is the spine of Weeks 8 to 12; and if you have ninety seconds only, Fireship, 'Machine Learning Explained in 100 Seconds', https://www.youtube.com/watch?v=PeMlggyqz0Y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Revision material.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Revision material</a:t>
            </a:r>
          </a:p>
          <a:p>
            <a:r>
              <a:t/>
            </a:r>
          </a:p>
          <a:p>
            <a:r>
              <a:t>CONNECT</a:t>
            </a:r>
          </a:p>
          <a:p>
            <a:r>
              <a:t>Build on the preceding slide: Watch this before Week 2.</a:t>
            </a:r>
          </a:p>
          <a:p>
            <a:r>
              <a:t/>
            </a:r>
          </a:p>
          <a:p>
            <a:r>
              <a:t>LECTURER CUE</a:t>
            </a:r>
          </a:p>
          <a:p>
            <a:r>
              <a:t>Everything from here on is revision material rather than presented content: a summary, a self-test with worked answers, an eighteen-term glossary and a one-page reference sheet. It is written to be studied from in your own time.</a:t>
            </a:r>
          </a:p>
          <a:p>
            <a:r>
              <a:t/>
            </a:r>
          </a:p>
          <a:p>
            <a:r>
              <a:t>NEXT</a:t>
            </a:r>
          </a:p>
          <a:p>
            <a:r>
              <a:t>What you should take away.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should take away</a:t>
            </a:r>
          </a:p>
          <a:p>
            <a:r>
              <a:t/>
            </a:r>
          </a:p>
          <a:p>
            <a:r>
              <a:t>CONNECT</a:t>
            </a:r>
          </a:p>
          <a:p>
            <a:r>
              <a:t>Build on the preceding slide: Revision material.</a:t>
            </a:r>
          </a:p>
          <a:p>
            <a:r>
              <a:t/>
            </a:r>
          </a:p>
          <a:p>
            <a:r>
              <a:t>LECTURER CUE</a:t>
            </a:r>
          </a:p>
          <a:p>
            <a:r>
              <a:t>Seven statements covering the whole session. If any of them reads as new to you, go back to the slide it came from before Week 2 rather than after it.</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Self-test — try these before you look.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Self-test — try these before you look</a:t>
            </a:r>
          </a:p>
          <a:p>
            <a:r>
              <a:t/>
            </a:r>
          </a:p>
          <a:p>
            <a:r>
              <a:t>CONNECT</a:t>
            </a:r>
          </a:p>
          <a:p>
            <a:r>
              <a:t>Build on the preceding slide: What you should take away.</a:t>
            </a:r>
          </a:p>
          <a:p>
            <a:r>
              <a:t/>
            </a:r>
          </a:p>
          <a:p>
            <a:r>
              <a:t>LECTURER CUE</a:t>
            </a:r>
          </a:p>
          <a:p>
            <a:r>
              <a:t>Optional revision, best attempted with a pencil before you look at the next slide. Question D is a Week 10 idea planted early: anything that notices the circularity of testing a model on cases it has already seen is a good answer at this stage.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ANSWERS</a:t>
            </a:r>
          </a:p>
          <a:p>
            <a:r>
              <a:t>How did you do?</a:t>
            </a:r>
          </a:p>
          <a:p>
            <a:r>
              <a:t>A</a:t>
            </a:r>
          </a:p>
          <a:p>
            <a:r>
              <a:t>Three questions before agreeing to 'use AI'?</a:t>
            </a:r>
          </a:p>
          <a:p>
            <a:r>
              <a:t>What exactly are we predicting? What data exists, who measured it, and is it kept? And would a rule or an equation we already have do this better? If any of those has no answer, stop.</a:t>
            </a:r>
          </a:p>
          <a:p>
            <a:r>
              <a:t>B</a:t>
            </a:r>
          </a:p>
          <a:p>
            <a:r>
              <a:t>Features and target in a repair table?</a:t>
            </a:r>
          </a:p>
          <a:p>
            <a:r>
              <a:t>The target is whatever you want to predict — say time to next failure. Features are everything known BEFORE that: operating hours, load, temperature. The test is timing: anything only known afterwards cannot be a feature.</a:t>
            </a:r>
          </a:p>
          <a:p>
            <a:r>
              <a:t>C</a:t>
            </a:r>
          </a:p>
          <a:p>
            <a:r>
              <a:t>One of each from your discipline?</a:t>
            </a:r>
          </a:p>
          <a:p>
            <a:r>
              <a:t>Regression: any quantity with a unit — 28-day compressive strength in MPa. Classification: strength class: below 25 MPa, 25 to 40, above 40.</a:t>
            </a:r>
          </a:p>
          <a:p>
            <a:r>
              <a:t>D</a:t>
            </a:r>
          </a:p>
          <a:p>
            <a:r>
              <a:t>Why is a good fit on seen data not evidence?</a:t>
            </a:r>
          </a:p>
          <a:p>
            <a:r>
              <a:t>Because the model could simply have memorised those cases. The only honest test is performance on examples it has never seen — exactly what you did with case 13. This is the whole subject of Week 10.</a:t>
            </a:r>
          </a:p>
          <a:p>
            <a:r>
              <a:t>E</a:t>
            </a:r>
          </a:p>
          <a:p>
            <a:r>
              <a:t>What else before acting?</a:t>
            </a:r>
          </a:p>
          <a:p>
            <a:r>
              <a:t>How large the error is in engineering terms and whether that is tolerable; what it costs when the model is wrong; and whether today's conditions still resemble the data it learned from.</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Self-test — try these before you look.</a:t>
            </a:r>
          </a:p>
          <a:p>
            <a:r>
              <a:t/>
            </a:r>
          </a:p>
          <a:p>
            <a:r>
              <a:t>LECTURER CUE</a:t>
            </a:r>
          </a:p>
          <a:p>
            <a:r>
              <a:t>Answer D is the most important idea in the course. A model can simply memorise the cases it was shown, so good performance on those cases is no evidence of anything. The only honest test is data the model has never seen, which is exactly what case 13 was for you.</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Every word we used today (1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(3 of 3)</a:t>
            </a:r>
          </a:p>
          <a:p>
            <a:r>
              <a:t/>
            </a:r>
          </a:p>
          <a:p>
            <a:r>
              <a:t>CONNECT</a:t>
            </a:r>
          </a:p>
          <a:p>
            <a:r>
              <a:t>Build on the preceding slide: Every word we used today (2 of 3).</a:t>
            </a:r>
          </a:p>
          <a:p>
            <a:r>
              <a:t/>
            </a:r>
          </a:p>
          <a:p>
            <a:r>
              <a:t>LECTURER CUE</a:t>
            </a:r>
          </a:p>
          <a:p>
            <a:r>
              <a:t>Eighteen terms. If you can define all eighteen by Week 3 you are ahead of the schedule, and these exact words appear in the weekly quizzes. The last two entries, generalisation and association versus cause, are forward references; they are printed here so the words are familiar when they arrive properly in Weeks 8 and 10.</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Eight questions to ask about any data problem.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Eight questions to ask about any data problem</a:t>
            </a:r>
          </a:p>
          <a:p>
            <a:r>
              <a:t/>
            </a:r>
          </a:p>
          <a:p>
            <a:r>
              <a:t>CONNECT</a:t>
            </a:r>
          </a:p>
          <a:p>
            <a:r>
              <a:t>Build on the preceding slide: Every word we used today (3 of 3).</a:t>
            </a:r>
          </a:p>
          <a:p>
            <a:r>
              <a:t/>
            </a:r>
          </a:p>
          <a:p>
            <a:r>
              <a:t>LECTURER CUE</a:t>
            </a:r>
          </a:p>
          <a:p>
            <a:r>
              <a:t>These eight questions are the spine of the whole course. Every project milestone from Week 9 onwards is assessed against some subset of them, and this is the page worth having in front of you in the Week 14 practical test.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Five questions,.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Five questions,</a:t>
            </a:r>
          </a:p>
          <a:p>
            <a:r>
              <a:t/>
            </a:r>
          </a:p>
          <a:p>
            <a:r>
              <a:t>CONNECT</a:t>
            </a:r>
          </a:p>
          <a:p>
            <a:r>
              <a:t>Build on the preceding slide: Eight questions to ask about any data problem.</a:t>
            </a:r>
          </a:p>
          <a:p>
            <a:r>
              <a:t/>
            </a:r>
          </a:p>
          <a:p>
            <a:r>
              <a:t>LECTURER CUE</a:t>
            </a:r>
          </a:p>
          <a:p>
            <a:r>
              <a:t>The last five minutes of every teaching session. Five questions, one per cent, and you see your score as you submit.</a:t>
            </a:r>
          </a:p>
          <a:p>
            <a:r>
              <a:t>Nothing on it can be answered without reading what it shows you, so there is nothing to revise for it beyond having done the session. Twelve run across the semester and the best ten count.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You have already done.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 have already done</a:t>
            </a:r>
          </a:p>
          <a:p>
            <a:r>
              <a:t/>
            </a:r>
          </a:p>
          <a:p>
            <a:r>
              <a:t>CONNECT</a:t>
            </a:r>
          </a:p>
          <a:p>
            <a:r>
              <a:t>Build on the preceding slide: Five questions,.</a:t>
            </a:r>
          </a:p>
          <a:p>
            <a:r>
              <a:t/>
            </a:r>
          </a:p>
          <a:p>
            <a:r>
              <a:t>LECTURER CUE</a:t>
            </a:r>
          </a:p>
          <a:p>
            <a:r>
              <a:t>Before next week: A1 due at the start of the session, a GitHub account and a Google account created, the video watched, and nothing installed. Week 2 needs a browser and nothing else.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p:txBody>
      </p:sp>
      <p:sp>
        <p:nvSpPr>
          <p:cNvPr id="4" name="Slide Number Placeholder 3"/>
          <p:cNvSpPr>
            <a:spLocks noGrp="1"/>
          </p:cNvSpPr>
          <p:nvPr>
            <p:ph type="sldNum" idx="5" sz="quarter"/>
          </p:nvPr>
        </p:nvSpPr>
        <p:spPr/>
      </p:sp>
    </p:spTree>
  </p:cSld>
  <p:clrMapOvr>
    <a:masterClrMapping/>
  </p:clrMapOvr>
</p:notes>
</file>

<file path=ppt/notesSlides/notesSlide1005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(1 of 3)</a:t>
            </a:r>
          </a:p>
          <a:p>
            <a:r>
              <a:t/>
            </a:r>
          </a:p>
          <a:p>
            <a:r>
              <a:t>CONNECT</a:t>
            </a:r>
          </a:p>
          <a:p>
            <a:r>
              <a:t>Build on the preceding slide: How did you do?.</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NEXT</a:t>
            </a:r>
          </a:p>
          <a:p>
            <a:r>
              <a:t>Every word we used today (2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5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(2 of 3)</a:t>
            </a:r>
          </a:p>
          <a:p>
            <a:r>
              <a:t/>
            </a:r>
          </a:p>
          <a:p>
            <a:r>
              <a:t>CONNECT</a:t>
            </a:r>
          </a:p>
          <a:p>
            <a:r>
              <a:t>Build on the preceding slide: Every word we used today (1 of 3).</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Every word we used today (3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2.xml" /></ns0:Relationships>
</file>

<file path=ppt/slides/_rels/slide5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53.xml" /></ns0: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AI, machine learning</a:t>
            </a:r>
          </a:p>
          <a:p>
            <a:pPr algn="l">
              <a:lnSpc>
                <a:spcPct val="105000"/>
              </a:lnSpc>
              <a:spcAft>
                <a:spcPts val="600"/>
              </a:spcAft>
            </a:pPr>
            <a:r>
              <a:rPr sz="4400" b="1" i="0">
                <a:solidFill>
                  <a:srgbClr val="FFFFFF"/>
                </a:solidFill>
                <a:latin typeface="Cambria"/>
              </a:rPr>
              <a:t>and the engineering problem</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Introduction to Machine Learning in Design &amp; Infrastructure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  ·  Tue 8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YOUR LECTURER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Jotham Martin Wambi</a:t>
            </a:r>
          </a:p>
        </p:txBody>
      </p:sp>
      <p:sp>
        <p:nvSpPr>
          <p:cNvPr id="4" name="Oval 3"/>
          <p:cNvSpPr/>
          <p:nvPr/>
        </p:nvSpPr>
        <p:spPr>
          <a:xfrm>
            <a:off x="10545775" y="603504"/>
            <a:ext cx="960120" cy="9601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Cambria"/>
              </a:rPr>
              <a:t>JW</a:t>
            </a:r>
          </a:p>
        </p:txBody>
      </p:sp>
      <p:sp>
        <p:nvSpPr>
          <p:cNvPr id="5" name="TextBox 4"/>
          <p:cNvSpPr txBox="1"/>
          <p:nvPr/>
        </p:nvSpPr>
        <p:spPr>
          <a:xfrm>
            <a:off x="685800" y="1819655"/>
            <a:ext cx="949421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C4E5E"/>
                </a:solidFill>
                <a:latin typeface="Calibri"/>
              </a:rPr>
              <a:t>Data scientist and ML engineer · Founding engineer, Magentiq AI Labs</a:t>
            </a:r>
          </a:p>
        </p:txBody>
      </p:sp>
      <p:sp>
        <p:nvSpPr>
          <p:cNvPr id="6" name="TextBox 5"/>
          <p:cNvSpPr txBox="1"/>
          <p:nvPr/>
        </p:nvSpPr>
        <p:spPr>
          <a:xfrm>
            <a:off x="685800" y="2494836"/>
            <a:ext cx="4526280"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Background</a:t>
            </a:r>
          </a:p>
        </p:txBody>
      </p:sp>
      <p:sp>
        <p:nvSpPr>
          <p:cNvPr id="7" name="TextBox 6"/>
          <p:cNvSpPr txBox="1"/>
          <p:nvPr/>
        </p:nvSpPr>
        <p:spPr>
          <a:xfrm>
            <a:off x="5715000" y="2494836"/>
            <a:ext cx="5790895" cy="310896"/>
          </a:xfrm>
          <a:prstGeom prst="rect">
            <a:avLst/>
          </a:prstGeom>
          <a:noFill/>
        </p:spPr>
        <p:txBody>
          <a:bodyPr wrap="square" lIns="0" rIns="0" tIns="0" bIns="0" anchor="t">
            <a:spAutoFit/>
          </a:bodyPr>
          <a:lstStyle/>
          <a:p>
            <a:pPr algn="l">
              <a:spcAft>
                <a:spcPts val="600"/>
              </a:spcAft>
            </a:pPr>
            <a:r>
              <a:rPr sz="1769" b="1" i="0">
                <a:solidFill>
                  <a:srgbClr val="1C3144"/>
                </a:solidFill>
                <a:latin typeface="Calibri"/>
              </a:rPr>
              <a:t>Some of what I have built</a:t>
            </a:r>
          </a:p>
        </p:txBody>
      </p:sp>
      <p:sp>
        <p:nvSpPr>
          <p:cNvPr id="8" name="Oval 7"/>
          <p:cNvSpPr/>
          <p:nvPr/>
        </p:nvSpPr>
        <p:spPr>
          <a:xfrm>
            <a:off x="704088" y="291546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286059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PhD student in Applied Informatics
Osaka Metropolitan University, Japan</a:t>
            </a:r>
          </a:p>
        </p:txBody>
      </p:sp>
      <p:sp>
        <p:nvSpPr>
          <p:cNvPr id="10" name="Oval 9"/>
          <p:cNvSpPr/>
          <p:nvPr/>
        </p:nvSpPr>
        <p:spPr>
          <a:xfrm>
            <a:off x="704088" y="365328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3598416"/>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Master of Technology Management
Yamaguchi University, Japan</a:t>
            </a:r>
          </a:p>
        </p:txBody>
      </p:sp>
      <p:sp>
        <p:nvSpPr>
          <p:cNvPr id="12" name="Oval 11"/>
          <p:cNvSpPr/>
          <p:nvPr/>
        </p:nvSpPr>
        <p:spPr>
          <a:xfrm>
            <a:off x="704088" y="4391100"/>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4336236"/>
            <a:ext cx="4270248"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BSc IT, Makerere · BA Economics, IUIU</a:t>
            </a:r>
          </a:p>
        </p:txBody>
      </p:sp>
      <p:sp>
        <p:nvSpPr>
          <p:cNvPr id="14" name="Oval 13"/>
          <p:cNvSpPr/>
          <p:nvPr/>
        </p:nvSpPr>
        <p:spPr>
          <a:xfrm>
            <a:off x="704088" y="4810301"/>
            <a:ext cx="100584" cy="1005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4755437"/>
            <a:ext cx="4270248" cy="682955"/>
          </a:xfrm>
          <a:prstGeom prst="rect">
            <a:avLst/>
          </a:prstGeom>
          <a:noFill/>
        </p:spPr>
        <p:txBody>
          <a:bodyPr wrap="square" lIns="0" rIns="0" tIns="0" bIns="0" anchor="t">
            <a:spAutoFit/>
          </a:bodyPr>
          <a:lstStyle/>
          <a:p>
            <a:pPr algn="l">
              <a:lnSpc>
                <a:spcPct val="122000"/>
              </a:lnSpc>
              <a:spcAft>
                <a:spcPts val="600"/>
              </a:spcAft>
            </a:pPr>
            <a:r>
              <a:rPr sz="1650" b="0" i="0">
                <a:solidFill>
                  <a:srgbClr val="3C4E5E"/>
                </a:solidFill>
                <a:latin typeface="Calibri"/>
              </a:rPr>
              <a:t>Eight years at Citibank, EY and D'isum Inc, Tokyo</a:t>
            </a:r>
          </a:p>
        </p:txBody>
      </p:sp>
      <p:sp>
        <p:nvSpPr>
          <p:cNvPr id="16" name="Rounded Rectangle 15"/>
          <p:cNvSpPr/>
          <p:nvPr/>
        </p:nvSpPr>
        <p:spPr>
          <a:xfrm>
            <a:off x="5715000" y="2860596"/>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89320" y="2915460"/>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Law Lens</a:t>
            </a:r>
          </a:p>
        </p:txBody>
      </p:sp>
      <p:sp>
        <p:nvSpPr>
          <p:cNvPr id="18" name="TextBox 17"/>
          <p:cNvSpPr txBox="1"/>
          <p:nvPr/>
        </p:nvSpPr>
        <p:spPr>
          <a:xfrm>
            <a:off x="5989320" y="3196838"/>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Language models over Ugandan law, fully traceable.</a:t>
            </a:r>
          </a:p>
        </p:txBody>
      </p:sp>
      <p:sp>
        <p:nvSpPr>
          <p:cNvPr id="19" name="Rounded Rectangle 18"/>
          <p:cNvSpPr/>
          <p:nvPr/>
        </p:nvSpPr>
        <p:spPr>
          <a:xfrm>
            <a:off x="5715000" y="3715709"/>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9320" y="3770573"/>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Magentiq AssetGuard</a:t>
            </a:r>
          </a:p>
        </p:txBody>
      </p:sp>
      <p:sp>
        <p:nvSpPr>
          <p:cNvPr id="21" name="TextBox 20"/>
          <p:cNvSpPr txBox="1"/>
          <p:nvPr/>
        </p:nvSpPr>
        <p:spPr>
          <a:xfrm>
            <a:off x="5989320" y="4051951"/>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Machine failure predicted from vibration sensors.</a:t>
            </a:r>
          </a:p>
        </p:txBody>
      </p:sp>
      <p:sp>
        <p:nvSpPr>
          <p:cNvPr id="22" name="Rounded Rectangle 21"/>
          <p:cNvSpPr/>
          <p:nvPr/>
        </p:nvSpPr>
        <p:spPr>
          <a:xfrm>
            <a:off x="5715000" y="4570822"/>
            <a:ext cx="5790895" cy="68210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4625686"/>
            <a:ext cx="5242255" cy="317954"/>
          </a:xfrm>
          <a:prstGeom prst="rect">
            <a:avLst/>
          </a:prstGeom>
          <a:noFill/>
        </p:spPr>
        <p:txBody>
          <a:bodyPr wrap="square" lIns="0" rIns="0" tIns="0" bIns="0" anchor="t">
            <a:spAutoFit/>
          </a:bodyPr>
          <a:lstStyle/>
          <a:p>
            <a:pPr algn="l">
              <a:lnSpc>
                <a:spcPct val="116000"/>
              </a:lnSpc>
              <a:spcAft>
                <a:spcPts val="600"/>
              </a:spcAft>
            </a:pPr>
            <a:r>
              <a:rPr sz="1532" b="1" i="0">
                <a:solidFill>
                  <a:srgbClr val="1C3144"/>
                </a:solidFill>
                <a:latin typeface="Calibri"/>
              </a:rPr>
              <a:t>Wearable ECG detection</a:t>
            </a:r>
          </a:p>
        </p:txBody>
      </p:sp>
      <p:sp>
        <p:nvSpPr>
          <p:cNvPr id="24" name="TextBox 23"/>
          <p:cNvSpPr txBox="1"/>
          <p:nvPr/>
        </p:nvSpPr>
        <p:spPr>
          <a:xfrm>
            <a:off x="5989320" y="4907064"/>
            <a:ext cx="5242255" cy="291002"/>
          </a:xfrm>
          <a:prstGeom prst="rect">
            <a:avLst/>
          </a:prstGeom>
          <a:noFill/>
        </p:spPr>
        <p:txBody>
          <a:bodyPr wrap="square" lIns="0" rIns="0" tIns="0" bIns="0" anchor="t">
            <a:spAutoFit/>
          </a:bodyPr>
          <a:lstStyle/>
          <a:p>
            <a:pPr algn="l">
              <a:lnSpc>
                <a:spcPct val="118000"/>
              </a:lnSpc>
              <a:spcAft>
                <a:spcPts val="600"/>
              </a:spcAft>
            </a:pPr>
            <a:r>
              <a:rPr sz="1362" b="0" i="0">
                <a:solidFill>
                  <a:srgbClr val="3C4E5E"/>
                </a:solidFill>
                <a:latin typeface="Calibri"/>
              </a:rPr>
              <a:t>Eleven cardiac conditions from a live ECG.</a:t>
            </a:r>
          </a:p>
        </p:txBody>
      </p:sp>
      <p:sp>
        <p:nvSpPr>
          <p:cNvPr id="25" name="Rectangle 24"/>
          <p:cNvSpPr/>
          <p:nvPr/>
        </p:nvSpPr>
        <p:spPr>
          <a:xfrm>
            <a:off x="685800" y="5721209"/>
            <a:ext cx="10820095" cy="825894"/>
          </a:xfrm>
          <a:prstGeom prst="rect">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821793"/>
            <a:ext cx="10271455" cy="324899"/>
          </a:xfrm>
          <a:prstGeom prst="rect">
            <a:avLst/>
          </a:prstGeom>
          <a:noFill/>
        </p:spPr>
        <p:txBody>
          <a:bodyPr wrap="square" lIns="0" rIns="0" tIns="0" bIns="0" anchor="t">
            <a:spAutoFit/>
          </a:bodyPr>
          <a:lstStyle/>
          <a:p>
            <a:pPr algn="l">
              <a:lnSpc>
                <a:spcPct val="120000"/>
              </a:lnSpc>
              <a:spcAft>
                <a:spcPts val="600"/>
              </a:spcAft>
            </a:pPr>
            <a:r>
              <a:rPr sz="1518" b="0" i="0">
                <a:solidFill>
                  <a:srgbClr val="1C3144"/>
                </a:solidFill>
                <a:latin typeface="Calibri"/>
              </a:rPr>
              <a:t>Every system on the right uses the pipeline you build from Week 8: split the data, fit a model, then score it.</a:t>
            </a:r>
          </a:p>
        </p:txBody>
      </p:sp>
      <p:sp>
        <p:nvSpPr>
          <p:cNvPr id="27" name="TextBox 26"/>
          <p:cNvSpPr txBox="1"/>
          <p:nvPr/>
        </p:nvSpPr>
        <p:spPr>
          <a:xfrm>
            <a:off x="960120" y="6164980"/>
            <a:ext cx="10271455" cy="299827"/>
          </a:xfrm>
          <a:prstGeom prst="rect">
            <a:avLst/>
          </a:prstGeom>
          <a:noFill/>
        </p:spPr>
        <p:txBody>
          <a:bodyPr wrap="square" lIns="0" rIns="0" tIns="0" bIns="0" anchor="t">
            <a:spAutoFit/>
          </a:bodyPr>
          <a:lstStyle/>
          <a:p>
            <a:pPr algn="l">
              <a:lnSpc>
                <a:spcPct val="120000"/>
              </a:lnSpc>
              <a:spcAft>
                <a:spcPts val="600"/>
              </a:spcAft>
            </a:pPr>
            <a:r>
              <a:rPr sz="1386" b="0" i="0">
                <a:solidFill>
                  <a:srgbClr val="6B7A8A"/>
                </a:solidFill>
                <a:latin typeface="Calibri"/>
              </a:rPr>
              <a:t>linkedin.com/in/jothammartinwambi   ·   github.com/Jotham566   ·   jothammartin.wambi@gmail.com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what artificial intelligence, machine learning and data science each mean, and how they differ.</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the difference between writing a rule yourself and letting a computer infer one from examples.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Point at a table of data and correctly identify the features and the target.</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Tell a regression problem from a classification problem, and give an example of each from your own field.</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Name three problems in construction, structures, materials and building performance where data could help, and two where it could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State four things machine learning cannot do, with a reason for each.</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Describe how this course is assessed and what your project will look like.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 · AI, machine learning and the engineering problem · nothing here needs prior programming experience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every session this semester is shaped</a:t>
            </a:r>
          </a:p>
        </p:txBody>
      </p:sp>
      <p:pic>
        <p:nvPicPr>
          <p:cNvPr id="4" name="Picture 3" descr="clock_w1.png"/>
          <p:cNvPicPr>
            <a:picLocks noChangeAspect="1"/>
          </p:cNvPicPr>
          <p:nvPr/>
        </p:nvPicPr>
        <p:blipFill>
          <a:blip r:embed="rId2"/>
          <a:stretch>
            <a:fillRect/>
          </a:stretch>
        </p:blipFill>
        <p:spPr>
          <a:xfrm>
            <a:off x="921970" y="1911095"/>
            <a:ext cx="103477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Three hours, eleven segments. No block of talking runs longer than 25 minutes, and roughly half of every session is you doing something rather than me saying something.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SEMESTER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semester goes</a:t>
            </a:r>
          </a:p>
        </p:txBody>
      </p:sp>
      <p:pic>
        <p:nvPicPr>
          <p:cNvPr id="4" name="Picture 3" descr="arc.png"/>
          <p:cNvPicPr>
            <a:picLocks noChangeAspect="1"/>
          </p:cNvPicPr>
          <p:nvPr/>
        </p:nvPicPr>
        <p:blipFill>
          <a:blip r:embed="rId2"/>
          <a:stretch>
            <a:fillRect/>
          </a:stretch>
        </p:blipFill>
        <p:spPr>
          <a:xfrm>
            <a:off x="685800" y="2460326"/>
            <a:ext cx="10820095" cy="2915753"/>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weeks. Weeks 7 and 14 are practical tests: you are given data you have never seen and asked what you make of it. The project runs from Week 9 to the last session.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PROMISE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will be able to say by December</a:t>
            </a:r>
          </a:p>
        </p:txBody>
      </p:sp>
      <p:pic>
        <p:nvPicPr>
          <p:cNvPr id="4" name="Picture 3" descr="ladder.png"/>
          <p:cNvPicPr>
            <a:picLocks noChangeAspect="1"/>
          </p:cNvPicPr>
          <p:nvPr/>
        </p:nvPicPr>
        <p:blipFill>
          <a:blip r:embed="rId2"/>
          <a:stretch>
            <a:fillRect/>
          </a:stretch>
        </p:blipFill>
        <p:spPr>
          <a:xfrm>
            <a:off x="1552731" y="1911095"/>
            <a:ext cx="908623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promise of the course. Most of you cannot do step two today. All of you can get to step six by December, and the students who do are the ones who do the weekly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Welcome, and how this course works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promise, the assessment, and what I expect from you. Then we start on the actual engineering.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 are assessed</a:t>
            </a:r>
          </a:p>
        </p:txBody>
      </p:sp>
      <p:pic>
        <p:nvPicPr>
          <p:cNvPr id="4" name="Picture 3" descr="assessment.png"/>
          <p:cNvPicPr>
            <a:picLocks noChangeAspect="1"/>
          </p:cNvPicPr>
          <p:nvPr/>
        </p:nvPicPr>
        <p:blipFill>
          <a:blip r:embed="rId2"/>
          <a:stretch>
            <a:fillRect/>
          </a:stretch>
        </p:blipFill>
        <p:spPr>
          <a:xfrm>
            <a:off x="1160833" y="1911095"/>
            <a:ext cx="98700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No written examination anywhere in this course. Everything is practical: work with data, write and run code, build and evaluate a model, explain your reasoning. Sixty-five per cent of the mark is individual, so you cannot be carried and you cannot be dragged down.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I expect, and what you can expect back</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 expect from you</a:t>
            </a:r>
          </a:p>
        </p:txBody>
      </p:sp>
      <p:sp>
        <p:nvSpPr>
          <p:cNvPr id="5" name="TextBox 4"/>
          <p:cNvSpPr txBox="1"/>
          <p:nvPr/>
        </p:nvSpPr>
        <p:spPr>
          <a:xfrm>
            <a:off x="685800"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Attend. There is one three-hour session a week and no lecture to catch up from — the value is in the practical and the challenge, which cannot be read later.</a:t>
            </a:r>
          </a:p>
        </p:txBody>
      </p:sp>
      <p:sp>
        <p:nvSpPr>
          <p:cNvPr id="6" name="TextBox 5"/>
          <p:cNvSpPr txBox="1"/>
          <p:nvPr/>
        </p:nvSpPr>
        <p:spPr>
          <a:xfrm>
            <a:off x="685800" y="3402456"/>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Do the weekly deliverable every week. Eleven small pieces spread over twelve weeks is manageable; nine of them attempted in December is not.</a:t>
            </a:r>
          </a:p>
        </p:txBody>
      </p:sp>
      <p:sp>
        <p:nvSpPr>
          <p:cNvPr id="7" name="TextBox 6"/>
          <p:cNvSpPr txBox="1"/>
          <p:nvPr/>
        </p:nvSpPr>
        <p:spPr>
          <a:xfrm>
            <a:off x="685800" y="4472278"/>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Ask, but ask well. Bring the error message, what you already tried, and what you expected to happen. That is not a hurdle in front of help — it is the actual professional skill.</a:t>
            </a:r>
          </a:p>
        </p:txBody>
      </p:sp>
      <p:sp>
        <p:nvSpPr>
          <p:cNvPr id="8" name="TextBox 7"/>
          <p:cNvSpPr txBox="1"/>
          <p:nvPr/>
        </p:nvSpPr>
        <p:spPr>
          <a:xfrm>
            <a:off x="685800" y="554210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Struggle before you seek rescue. In the challenge segments you are supposed to be stuck for a while.</a:t>
            </a:r>
          </a:p>
        </p:txBody>
      </p:sp>
      <p:sp>
        <p:nvSpPr>
          <p:cNvPr id="9" name="TextBox 8"/>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can expect from me</a:t>
            </a:r>
          </a:p>
        </p:txBody>
      </p:sp>
      <p:sp>
        <p:nvSpPr>
          <p:cNvPr id="10" name="TextBox 9"/>
          <p:cNvSpPr txBox="1"/>
          <p:nvPr/>
        </p:nvSpPr>
        <p:spPr>
          <a:xfrm>
            <a:off x="6347307" y="2332633"/>
            <a:ext cx="5158587" cy="987526"/>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rubric published before the work is set. You will never meet a marking scheme for the first time in an assessment.</a:t>
            </a:r>
          </a:p>
        </p:txBody>
      </p:sp>
      <p:sp>
        <p:nvSpPr>
          <p:cNvPr id="11" name="TextBox 10"/>
          <p:cNvSpPr txBox="1"/>
          <p:nvPr/>
        </p:nvSpPr>
        <p:spPr>
          <a:xfrm>
            <a:off x="6347307" y="3402456"/>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Every dataset staged locally, so a slow connection is never your problem.</a:t>
            </a:r>
          </a:p>
        </p:txBody>
      </p:sp>
      <p:sp>
        <p:nvSpPr>
          <p:cNvPr id="12" name="TextBox 11"/>
          <p:cNvSpPr txBox="1"/>
          <p:nvPr/>
        </p:nvSpPr>
        <p:spPr>
          <a:xfrm>
            <a:off x="6347307" y="4161390"/>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Feedback on the weekly work within a week, and instant feedback on every quiz.</a:t>
            </a:r>
          </a:p>
        </p:txBody>
      </p:sp>
      <p:sp>
        <p:nvSpPr>
          <p:cNvPr id="13" name="TextBox 12"/>
          <p:cNvSpPr txBox="1"/>
          <p:nvPr/>
        </p:nvSpPr>
        <p:spPr>
          <a:xfrm>
            <a:off x="6347307" y="4920325"/>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A straight answer to 'why are we learning this?', every single time it is asked.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whole field, start to finish</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we teach you any of it, here is the entire territory — and exactly which parts of it this course covers, which parts Semester 2 covers, and which parts we do not touch.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TERRITORY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machine learning roadmap</a:t>
            </a:r>
          </a:p>
        </p:txBody>
      </p:sp>
      <p:pic>
        <p:nvPicPr>
          <p:cNvPr id="4" name="Picture 3" descr="roadmap_journey.png"/>
          <p:cNvPicPr>
            <a:picLocks noChangeAspect="1"/>
          </p:cNvPicPr>
          <p:nvPr/>
        </p:nvPicPr>
        <p:blipFill>
          <a:blip r:embed="rId2"/>
          <a:stretch>
            <a:fillRect/>
          </a:stretch>
        </p:blipFill>
        <p:spPr>
          <a:xfrm>
            <a:off x="2272525" y="1911095"/>
            <a:ext cx="764664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Fifteen stages, from Python to transformers. Orange is Semester 1. Green is Semester 2. Dark blue is the stage you already have from your engineering degree. Grey is what this course deliberately does not teach. Structure follows the public roadmap.sh Machine Learning roadmap.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YOU ALREADY ARE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Stage 2 is the one that matters to you</a:t>
            </a:r>
          </a:p>
        </p:txBody>
      </p:sp>
      <p:sp>
        <p:nvSpPr>
          <p:cNvPr id="4" name="TextBox 3"/>
          <p:cNvSpPr txBox="1"/>
          <p:nvPr/>
        </p:nvSpPr>
        <p:spPr>
          <a:xfrm>
            <a:off x="685800"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You already have the mathematics</a:t>
            </a:r>
          </a:p>
        </p:txBody>
      </p:sp>
      <p:sp>
        <p:nvSpPr>
          <p:cNvPr id="5" name="TextBox 4"/>
          <p:cNvSpPr txBox="1"/>
          <p:nvPr/>
        </p:nvSpPr>
        <p:spPr>
          <a:xfrm>
            <a:off x="685800"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roadmap puts calculus, linear algebra, statistics and probability as a major stage — for most people entering this field from computing, it is the hardest one.</a:t>
            </a:r>
          </a:p>
        </p:txBody>
      </p:sp>
      <p:sp>
        <p:nvSpPr>
          <p:cNvPr id="6" name="TextBox 5"/>
          <p:cNvSpPr txBox="1"/>
          <p:nvPr/>
        </p:nvSpPr>
        <p:spPr>
          <a:xfrm>
            <a:off x="685800"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did it in Years 1 and 2. Derivatives, matrices, distributions, hypothesis tests. You are not starting from zero on the roadmap; you are starting from stage 3 with stage 2 already behind you.</a:t>
            </a:r>
          </a:p>
        </p:txBody>
      </p:sp>
      <p:sp>
        <p:nvSpPr>
          <p:cNvPr id="7" name="TextBox 6"/>
          <p:cNvSpPr txBox="1"/>
          <p:nvPr/>
        </p:nvSpPr>
        <p:spPr>
          <a:xfrm>
            <a:off x="6347307"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What you are missing is the programming, and that is the easier half</a:t>
            </a:r>
          </a:p>
        </p:txBody>
      </p:sp>
      <p:sp>
        <p:nvSpPr>
          <p:cNvPr id="8" name="TextBox 7"/>
          <p:cNvSpPr txBox="1"/>
          <p:nvPr/>
        </p:nvSpPr>
        <p:spPr>
          <a:xfrm>
            <a:off x="6347307"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Stages 1 and 3 — Python and the data libraries — are five weeks of work. The mathematics took you two years; Weeks 2 to 6 cover the five.</a:t>
            </a:r>
          </a:p>
        </p:txBody>
      </p:sp>
      <p:sp>
        <p:nvSpPr>
          <p:cNvPr id="9" name="TextBox 8"/>
          <p:cNvSpPr txBox="1"/>
          <p:nvPr/>
        </p:nvSpPr>
        <p:spPr>
          <a:xfrm>
            <a:off x="6347307"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Which is why an engineer is well placed here</a:t>
            </a:r>
          </a:p>
        </p:txBody>
      </p:sp>
      <p:sp>
        <p:nvSpPr>
          <p:cNvPr id="10" name="TextBox 9"/>
          <p:cNvSpPr txBox="1"/>
          <p:nvPr/>
        </p:nvSpPr>
        <p:spPr>
          <a:xfrm>
            <a:off x="6347307"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The people who struggle in this field are usually strong programmers with no domain knowledge and shaky mathematics. You are the reverse, and the reverse is more useful.</a:t>
            </a:r>
          </a:p>
        </p:txBody>
      </p:sp>
      <p:sp>
        <p:nvSpPr>
          <p:cNvPr id="11" name="TextBox 10"/>
          <p:cNvSpPr txBox="1"/>
          <p:nvPr/>
        </p:nvSpPr>
        <p:spPr>
          <a:xfrm>
            <a:off x="6347307" y="5505643"/>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An engineer who can do this in their own discipline is rarer, and harder to replace, than a generalist who can do it in none.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COVERAGE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this course sits, honestly</a:t>
            </a:r>
          </a:p>
        </p:txBody>
      </p:sp>
      <p:pic>
        <p:nvPicPr>
          <p:cNvPr id="4" name="Picture 3" descr="roadmap_coverage.png"/>
          <p:cNvPicPr>
            <a:picLocks noChangeAspect="1"/>
          </p:cNvPicPr>
          <p:nvPr/>
        </p:nvPicPr>
        <p:blipFill>
          <a:blip r:embed="rId2"/>
          <a:stretch>
            <a:fillRect/>
          </a:stretch>
        </p:blipFill>
        <p:spPr>
          <a:xfrm>
            <a:off x="1584787" y="1911095"/>
            <a:ext cx="902212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grey is what we do not teach. Reinforcement learning, full MLOps and most of the advanced language-model material are outside this course. I would rather you knew that now than discovered it in December.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WHERE IT LEADS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jobs this field splits into</a:t>
            </a:r>
          </a:p>
        </p:txBody>
      </p:sp>
      <p:pic>
        <p:nvPicPr>
          <p:cNvPr id="4" name="Picture 3" descr="career_paths.png"/>
          <p:cNvPicPr>
            <a:picLocks noChangeAspect="1"/>
          </p:cNvPicPr>
          <p:nvPr/>
        </p:nvPicPr>
        <p:blipFill>
          <a:blip r:embed="rId2"/>
          <a:stretch>
            <a:fillRect/>
          </a:stretch>
        </p:blipFill>
        <p:spPr>
          <a:xfrm>
            <a:off x="850640" y="1911095"/>
            <a:ext cx="1049041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These are four different roadmaps and four different careers. This course points at the first one, applied inside your own engineering discipline — which is a narrower and more defensible position than competing with computer science graduates on general machine learning.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this course is actually about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words people use interchangeably and should not — and where engineering sits among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LANGUAGE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and how they nest</a:t>
            </a:r>
          </a:p>
        </p:txBody>
      </p:sp>
      <p:pic>
        <p:nvPicPr>
          <p:cNvPr id="4" name="Picture 3" descr="nested_ai.png"/>
          <p:cNvPicPr>
            <a:picLocks noChangeAspect="1"/>
          </p:cNvPicPr>
          <p:nvPr/>
        </p:nvPicPr>
        <p:blipFill>
          <a:blip r:embed="rId2"/>
          <a:stretch>
            <a:fillRect/>
          </a:stretch>
        </p:blipFill>
        <p:spPr>
          <a:xfrm>
            <a:off x="2282342" y="1911095"/>
            <a:ext cx="762701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is contained by the one before it. Data science is the odd one out: it overlaps all of them and is contained by none, because it is the craft of getting an answer out of data at all — finding it, cleaning it, questioning it, presenting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Artificial intelligence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Any machine doing something we would call intelligent. It names a goal. Many different techniques aim at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chess engine is AI. So is a spam filter. A thermostat is not — it follows one fixed rule with no notion of doing better.</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which is one particular way of achieving AI. All machine learning is AI; most AI historically was not machine learning.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Machine learning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Getting a computer to work out a rule from examples, instead of you writing the rule yourself.</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show it 4,000 past inspections, each with the measurements taken and what the engineer decided. It infers a relationship. You then decide whether to trust it.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Automation. A script that emails a report every Monday is automation and there is no learning in it at all.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Data science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craft of getting a trustworthy answer out of data — finding it, cleaning it, questioning it, analysing it and presenting it so somebody can act.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Discovering that a third of your inspection records are missing, working out whether they are missing at random, and deciding what that does to your conclusion. No model involved.</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Machine learning. You will spend far more of this semester on data science than on machine learning, and that ratio matches professional practice.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ways to make a computer decide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actual idea of the course, and the vocabulary you need to talk about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THIS COURSE STARTS FROM</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"Can we estimate the 28-day compressive strength of a concrete mix without casting and crushing another cylinder?"</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Hold onto that question. In twenty minutes you are going to answer a version of it yourself, on paper, with no computer and no formula.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ACTUAL IDEA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Traditional programming, and machine learning</a:t>
            </a:r>
          </a:p>
        </p:txBody>
      </p:sp>
      <p:pic>
        <p:nvPicPr>
          <p:cNvPr id="4" name="Picture 3" descr="rules_vs_learning.png"/>
          <p:cNvPicPr>
            <a:picLocks noChangeAspect="1"/>
          </p:cNvPicPr>
          <p:nvPr/>
        </p:nvPicPr>
        <p:blipFill>
          <a:blip r:embed="rId2"/>
          <a:stretch>
            <a:fillRect/>
          </a:stretch>
        </p:blipFill>
        <p:spPr>
          <a:xfrm>
            <a:off x="1304533" y="1911095"/>
            <a:ext cx="95826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the way you already know: you work out the rule and write it down. On the right, the new way: you do not know the rule, but you have examples of inputs and the answers that followed, and the computer works out a rule from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CHOOSING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When to write the rule, and when to learn it from data</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Write the rule yourself when…</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code of practice, a datasheet or a validated equation already gives you the answer.</a:t>
            </a:r>
          </a:p>
        </p:txBody>
      </p:sp>
      <p:sp>
        <p:nvSpPr>
          <p:cNvPr id="6" name="TextBox 5"/>
          <p:cNvSpPr txBox="1"/>
          <p:nvPr/>
        </p:nvSpPr>
        <p:spPr>
          <a:xfrm>
            <a:off x="685800" y="316337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relationship is simple and well understood.</a:t>
            </a:r>
          </a:p>
        </p:txBody>
      </p:sp>
      <p:sp>
        <p:nvSpPr>
          <p:cNvPr id="7" name="TextBox 6"/>
          <p:cNvSpPr txBox="1"/>
          <p:nvPr/>
        </p:nvSpPr>
        <p:spPr>
          <a:xfrm>
            <a:off x="685800" y="363733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must be able to explain the decision to a client or a regulator line by line.</a:t>
            </a:r>
          </a:p>
        </p:txBody>
      </p:sp>
      <p:sp>
        <p:nvSpPr>
          <p:cNvPr id="8" name="TextBox 7"/>
          <p:cNvSpPr txBox="1"/>
          <p:nvPr/>
        </p:nvSpPr>
        <p:spPr>
          <a:xfrm>
            <a:off x="685800" y="4448083"/>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little or no historical data.</a:t>
            </a:r>
          </a:p>
        </p:txBody>
      </p:sp>
      <p:sp>
        <p:nvSpPr>
          <p:cNvPr id="9" name="TextBox 8"/>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Let the computer infer the rule when…</a:t>
            </a:r>
          </a:p>
        </p:txBody>
      </p:sp>
      <p:sp>
        <p:nvSpPr>
          <p:cNvPr id="10" name="TextBox 9"/>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Nobody knows the rule, or it involves many variables interacting.</a:t>
            </a:r>
          </a:p>
        </p:txBody>
      </p:sp>
      <p:sp>
        <p:nvSpPr>
          <p:cNvPr id="11" name="TextBox 10"/>
          <p:cNvSpPr txBox="1"/>
          <p:nvPr/>
        </p:nvSpPr>
        <p:spPr>
          <a:xfrm>
            <a:off x="6347307" y="316337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have a reasonable quantity of past examples where you know both the inputs and the outcome.</a:t>
            </a:r>
          </a:p>
        </p:txBody>
      </p:sp>
      <p:sp>
        <p:nvSpPr>
          <p:cNvPr id="12" name="TextBox 11"/>
          <p:cNvSpPr txBox="1"/>
          <p:nvPr/>
        </p:nvSpPr>
        <p:spPr>
          <a:xfrm>
            <a:off x="6347307" y="3974128"/>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An approximate answer now is worth more than an exact answer later — which is exactly the case in the question we opened with.</a:t>
            </a:r>
          </a:p>
        </p:txBody>
      </p:sp>
      <p:sp>
        <p:nvSpPr>
          <p:cNvPr id="13" name="TextBox 12"/>
          <p:cNvSpPr txBox="1"/>
          <p:nvPr/>
        </p:nvSpPr>
        <p:spPr>
          <a:xfrm>
            <a:off x="6347307" y="512167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can test the inferred rule against cases it has never seen.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VOCABULARY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we actually mean by 'data'</a:t>
            </a:r>
          </a:p>
        </p:txBody>
      </p:sp>
      <p:pic>
        <p:nvPicPr>
          <p:cNvPr id="4" name="Picture 3" descr="data_table_CML3112.png"/>
          <p:cNvPicPr>
            <a:picLocks noChangeAspect="1"/>
          </p:cNvPicPr>
          <p:nvPr/>
        </p:nvPicPr>
        <p:blipFill>
          <a:blip r:embed="rId2"/>
          <a:stretch>
            <a:fillRect/>
          </a:stretch>
        </p:blipFill>
        <p:spPr>
          <a:xfrm>
            <a:off x="1304420" y="1911095"/>
            <a:ext cx="958285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This is the single most important picture in today's session. Every dataset you meet this semester has this shape: one row per example, feature columns for what you know beforehand, and one target column for the thing you want to predict.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Feature, and target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FEATURE is a column you know before the outcome — an input. The TARGET is the column you want to predict. One row containing all of them is one EXAMPLE.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table you just saw, cement content, water content and curing age are the features. 28-day compressive strength is the target.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target is not the same as a cause. Cement content is associated with strength; the model learns the association and knows nothing about hydration chemistry.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In a table of Concrete Compressive Strength records, is 28-day compressive strength a feature or the target?</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long a pump will run before it fails. You have a column recording the repair that was carried out afterwards. Should it be a feature? Why or why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example from your own discipline of a problem where you already know the rule, so machine learning would be the wrong tool.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Feature or target?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target. It is the thing you want to predict. Everything measured beforehand is a feature.</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repair column?</a:t>
            </a:r>
          </a:p>
        </p:txBody>
      </p:sp>
      <p:sp>
        <p:nvSpPr>
          <p:cNvPr id="9" name="TextBox 8"/>
          <p:cNvSpPr txBox="1"/>
          <p:nvPr/>
        </p:nvSpPr>
        <p:spPr>
          <a:xfrm>
            <a:off x="1216152" y="300690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You only know what repair was done AFTER the failure, so it cannot help you predict the failure. Include it and your model will look brilliant in testing and be useless in service. This is called data leakage and we spend a whole session on it in Week 10.</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rule you already know?</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Anything with a formula or a code threshold: For a simply supported beam under a uniform load, the bending moment has an exact formula. Use it. If a validated equation exists, use the equation.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Hands on: predict case 13</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are going to do machine learning by hand, on paper, before anybody writes a line of code. Teams of four or five — form them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 TASK · 15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Your task</a:t>
            </a:r>
          </a:p>
        </p:txBody>
      </p:sp>
      <p:pic>
        <p:nvPicPr>
          <p:cNvPr id="4" name="Picture 3" descr="hand_pred_before_CML3112.png"/>
          <p:cNvPicPr>
            <a:picLocks noChangeAspect="1"/>
          </p:cNvPicPr>
          <p:nvPr/>
        </p:nvPicPr>
        <p:blipFill>
          <a:blip r:embed="rId2"/>
          <a:stretch>
            <a:fillRect/>
          </a:stretch>
        </p:blipFill>
        <p:spPr>
          <a:xfrm>
            <a:off x="2894114" y="1911095"/>
            <a:ext cx="6403466"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Twelve cases, each with its features and its known outcome. Case 13 has features but the outcome is hidden. In your team: predict it, write the number down, and write one sentence saying how you decided. Fifteen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the pattern from twelve cases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There is no single right method. This is one line of thinking that works, and it is close to what most teams arrive at.</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down the columns and ask which one seems to move with the outcome. Ignore the others for now.</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Find the two cases whose value of that column sits either side of case 13's value.</a:t>
            </a:r>
          </a:p>
        </p:txBody>
      </p:sp>
      <p:sp>
        <p:nvSpPr>
          <p:cNvPr id="11" name="Rounded Rectangle 10"/>
          <p:cNvSpPr/>
          <p:nvPr/>
        </p:nvSpPr>
        <p:spPr>
          <a:xfrm>
            <a:off x="685800" y="378438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Look at their outcomes. Case 13's answer is probably between them.</a:t>
            </a:r>
          </a:p>
        </p:txBody>
      </p:sp>
      <p:sp>
        <p:nvSpPr>
          <p:cNvPr id="14" name="Rounded Rectangle 13"/>
          <p:cNvSpPr/>
          <p:nvPr/>
        </p:nvSpPr>
        <p:spPr>
          <a:xfrm>
            <a:off x="685800" y="431040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36526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35612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Adjust for anything else you noticed — a second column that also seems to matter.</a:t>
            </a:r>
          </a:p>
        </p:txBody>
      </p:sp>
      <p:sp>
        <p:nvSpPr>
          <p:cNvPr id="17" name="Rounded Rectangle 16"/>
          <p:cNvSpPr/>
          <p:nvPr/>
        </p:nvSpPr>
        <p:spPr>
          <a:xfrm>
            <a:off x="685800" y="4836423"/>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9128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82143"/>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the number down, and write why. Then ask: how confident am I, and what would change my mind?</a:t>
            </a:r>
          </a:p>
        </p:txBody>
      </p:sp>
      <p:sp>
        <p:nvSpPr>
          <p:cNvPr id="20" name="Rounded Rectangle 19"/>
          <p:cNvSpPr/>
          <p:nvPr/>
        </p:nvSpPr>
        <p:spPr>
          <a:xfrm>
            <a:off x="685800" y="5417306"/>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554466"/>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That is genuinely the whole idea. You found a pattern in examples and used it on a case you had never seen — which is exactly what every algorithm in this course does.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REVEAL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answer, and your error</a:t>
            </a:r>
          </a:p>
        </p:txBody>
      </p:sp>
      <p:pic>
        <p:nvPicPr>
          <p:cNvPr id="4" name="Picture 3" descr="hand_pred_after_CML3112.png"/>
          <p:cNvPicPr>
            <a:picLocks noChangeAspect="1"/>
          </p:cNvPicPr>
          <p:nvPr/>
        </p:nvPicPr>
        <p:blipFill>
          <a:blip r:embed="rId2"/>
          <a:stretch>
            <a:fillRect/>
          </a:stretch>
        </p:blipFill>
        <p:spPr>
          <a:xfrm>
            <a:off x="3005433" y="1911095"/>
            <a:ext cx="61808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star is the true value. The distance between your guess and the star is your ERROR — and measuring that distance honestly is what most of this course is about. The dashed line is the pattern you were sensing without being able to write it down.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NAMING IT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You just did every step of a machine learning project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you called it</a:t>
            </a:r>
          </a:p>
        </p:txBody>
      </p:sp>
      <p:sp>
        <p:nvSpPr>
          <p:cNvPr id="5" name="TextBox 4"/>
          <p:cNvSpPr txBox="1"/>
          <p:nvPr/>
        </p:nvSpPr>
        <p:spPr>
          <a:xfrm>
            <a:off x="685800"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looked at the table.</a:t>
            </a:r>
          </a:p>
        </p:txBody>
      </p:sp>
      <p:sp>
        <p:nvSpPr>
          <p:cNvPr id="6" name="TextBox 5"/>
          <p:cNvSpPr txBox="1"/>
          <p:nvPr/>
        </p:nvSpPr>
        <p:spPr>
          <a:xfrm>
            <a:off x="685800"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noticed which columns seemed to matter.</a:t>
            </a:r>
          </a:p>
        </p:txBody>
      </p:sp>
      <p:sp>
        <p:nvSpPr>
          <p:cNvPr id="7" name="TextBox 6"/>
          <p:cNvSpPr txBox="1"/>
          <p:nvPr/>
        </p:nvSpPr>
        <p:spPr>
          <a:xfrm>
            <a:off x="685800"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worked out a rough rule in your head.</a:t>
            </a:r>
          </a:p>
        </p:txBody>
      </p:sp>
      <p:sp>
        <p:nvSpPr>
          <p:cNvPr id="8" name="TextBox 7"/>
          <p:cNvSpPr txBox="1"/>
          <p:nvPr/>
        </p:nvSpPr>
        <p:spPr>
          <a:xfrm>
            <a:off x="685800" y="377449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applied it to a case you had not seen.</a:t>
            </a:r>
          </a:p>
        </p:txBody>
      </p:sp>
      <p:sp>
        <p:nvSpPr>
          <p:cNvPr id="9" name="TextBox 8"/>
          <p:cNvSpPr txBox="1"/>
          <p:nvPr/>
        </p:nvSpPr>
        <p:spPr>
          <a:xfrm>
            <a:off x="685800" y="4248448"/>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compared your answer with the truth.</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What it is called</a:t>
            </a:r>
          </a:p>
        </p:txBody>
      </p:sp>
      <p:sp>
        <p:nvSpPr>
          <p:cNvPr id="11" name="TextBox 10"/>
          <p:cNvSpPr txBox="1"/>
          <p:nvPr/>
        </p:nvSpPr>
        <p:spPr>
          <a:xfrm>
            <a:off x="6347307" y="235262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explored the data. That is Weeks 5 and 6.</a:t>
            </a:r>
          </a:p>
        </p:txBody>
      </p:sp>
      <p:sp>
        <p:nvSpPr>
          <p:cNvPr id="12" name="TextBox 11"/>
          <p:cNvSpPr txBox="1"/>
          <p:nvPr/>
        </p:nvSpPr>
        <p:spPr>
          <a:xfrm>
            <a:off x="6347307" y="2826584"/>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selected features. That is Week 11.</a:t>
            </a:r>
          </a:p>
        </p:txBody>
      </p:sp>
      <p:sp>
        <p:nvSpPr>
          <p:cNvPr id="13" name="TextBox 12"/>
          <p:cNvSpPr txBox="1"/>
          <p:nvPr/>
        </p:nvSpPr>
        <p:spPr>
          <a:xfrm>
            <a:off x="6347307" y="3300539"/>
            <a:ext cx="5158587" cy="39165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fitted a model. That is Week 8.</a:t>
            </a:r>
          </a:p>
        </p:txBody>
      </p:sp>
      <p:sp>
        <p:nvSpPr>
          <p:cNvPr id="14" name="TextBox 13"/>
          <p:cNvSpPr txBox="1"/>
          <p:nvPr/>
        </p:nvSpPr>
        <p:spPr>
          <a:xfrm>
            <a:off x="6347307" y="37744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predicted on unseen data — the single most important idea in the course. Week 8 and Week 10.</a:t>
            </a:r>
          </a:p>
        </p:txBody>
      </p:sp>
      <p:sp>
        <p:nvSpPr>
          <p:cNvPr id="15" name="TextBox 14"/>
          <p:cNvSpPr txBox="1"/>
          <p:nvPr/>
        </p:nvSpPr>
        <p:spPr>
          <a:xfrm>
            <a:off x="6347307" y="45852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evaluated the error. That is Week 10, and it is where engineers earn their keep.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Nothing after the break needs a computer.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Two kinds of question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Predicting a number, and predicting a category. Almost everything in this course is one or the other.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TWO SHAPES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Regression and classification</a:t>
            </a:r>
          </a:p>
        </p:txBody>
      </p:sp>
      <p:pic>
        <p:nvPicPr>
          <p:cNvPr id="4" name="Picture 3" descr="reg_vs_class_CML3112.png"/>
          <p:cNvPicPr>
            <a:picLocks noChangeAspect="1"/>
          </p:cNvPicPr>
          <p:nvPr/>
        </p:nvPicPr>
        <p:blipFill>
          <a:blip r:embed="rId2"/>
          <a:stretch>
            <a:fillRect/>
          </a:stretch>
        </p:blipFill>
        <p:spPr>
          <a:xfrm>
            <a:off x="2367102" y="1911095"/>
            <a:ext cx="745749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Left: the answer is a number on a continuous scale, so we fit a line through the cases. Right: the answer is one of a small set of labels, so we look for a boundary that separates them. The data can be the same; the question is what changes.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Regression, and classification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REGRESSION predicts a number on a continuous scale. CLASSIFICATION predicts which of a small number of categories a case belongs to.</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Regression: how many MPa? Classification: strength class: below 25 MPa, 25 to 40, above 40.</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Ask 'what would the answer look like written down?' A quantity with a unit means regression. A word or a label means classification.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component needs replacing. Regression or classification?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whether a sample passes or fails specification. Which one?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which of five fault types a machine has. Which one — and what makes it different from the previous question?</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replacement?</a:t>
            </a:r>
          </a:p>
        </p:txBody>
      </p:sp>
      <p:sp>
        <p:nvSpPr>
          <p:cNvPr id="6" name="TextBox 5"/>
          <p:cNvSpPr txBox="1"/>
          <p:nvPr/>
        </p:nvSpPr>
        <p:spPr>
          <a:xfrm>
            <a:off x="1216152" y="220370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The answer is a number with a unit — days.</a:t>
            </a:r>
          </a:p>
        </p:txBody>
      </p:sp>
      <p:sp>
        <p:nvSpPr>
          <p:cNvPr id="7" name="Oval 6"/>
          <p:cNvSpPr/>
          <p:nvPr/>
        </p:nvSpPr>
        <p:spPr>
          <a:xfrm>
            <a:off x="685800" y="275086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271429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Pass or fail?</a:t>
            </a:r>
          </a:p>
        </p:txBody>
      </p:sp>
      <p:sp>
        <p:nvSpPr>
          <p:cNvPr id="9" name="TextBox 8"/>
          <p:cNvSpPr txBox="1"/>
          <p:nvPr/>
        </p:nvSpPr>
        <p:spPr>
          <a:xfrm>
            <a:off x="1216152" y="3006900"/>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Classification. Two categories, so it is called binary classification.</a:t>
            </a:r>
          </a:p>
        </p:txBody>
      </p:sp>
      <p:sp>
        <p:nvSpPr>
          <p:cNvPr id="10" name="Oval 9"/>
          <p:cNvSpPr/>
          <p:nvPr/>
        </p:nvSpPr>
        <p:spPr>
          <a:xfrm>
            <a:off x="685800" y="35540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5174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of five fault types?</a:t>
            </a:r>
          </a:p>
        </p:txBody>
      </p:sp>
      <p:sp>
        <p:nvSpPr>
          <p:cNvPr id="12" name="TextBox 11"/>
          <p:cNvSpPr txBox="1"/>
          <p:nvPr/>
        </p:nvSpPr>
        <p:spPr>
          <a:xfrm>
            <a:off x="1216152" y="38100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Still classification, but multi-class rather than binary. It is harder: with five classes there are far more ways to be wrong, and a single accuracy figure hides which ones you get wrong. Week 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machine learning cannot do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honest limits. This segment is here to protect you from being sold something.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LIMITS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limits, and none of them go away</a:t>
            </a:r>
          </a:p>
        </p:txBody>
      </p:sp>
      <p:pic>
        <p:nvPicPr>
          <p:cNvPr id="4" name="Picture 3" descr="four_limits.png"/>
          <p:cNvPicPr>
            <a:picLocks noChangeAspect="1"/>
          </p:cNvPicPr>
          <p:nvPr/>
        </p:nvPicPr>
        <p:blipFill>
          <a:blip r:embed="rId2"/>
          <a:stretch>
            <a:fillRect/>
          </a:stretch>
        </p:blipFill>
        <p:spPr>
          <a:xfrm>
            <a:off x="1908452" y="1911095"/>
            <a:ext cx="837479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machine learning method will always give you an answer. It will never tell you that the question was unanswerable. That is your job.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MADE CONCRETE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four limits, in your own discipline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1 · No data</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Most site inspection records before about 2015 exist only on paper, in a box.</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2 · No signal</a:t>
            </a:r>
          </a:p>
        </p:txBody>
      </p:sp>
      <p:sp>
        <p:nvSpPr>
          <p:cNvPr id="7" name="TextBox 6"/>
          <p:cNvSpPr txBox="1"/>
          <p:nvPr/>
        </p:nvSpPr>
        <p:spPr>
          <a:xfrm>
            <a:off x="685800" y="3612952"/>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colour of the site hoarding does not predict concrete strength. A model fed that column will still return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3 · Physics is better</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For a simply supported beam under a uniform load, the bending moment has an exact formula. Use it. Do not use a model where an equation will do.</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4 · The future changed</a:t>
            </a:r>
          </a:p>
        </p:txBody>
      </p:sp>
      <p:sp>
        <p:nvSpPr>
          <p:cNvPr id="11" name="TextBox 10"/>
          <p:cNvSpPr txBox="1"/>
          <p:nvPr/>
        </p:nvSpPr>
        <p:spPr>
          <a:xfrm>
            <a:off x="6347307" y="3910886"/>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trained on one quarry's aggregate may quietly stop working when the supplier changes.</a:t>
            </a:r>
          </a:p>
        </p:txBody>
      </p:sp>
      <p:sp>
        <p:nvSpPr>
          <p:cNvPr id="12" name="TextBox 11"/>
          <p:cNvSpPr txBox="1"/>
          <p:nvPr/>
        </p:nvSpPr>
        <p:spPr>
          <a:xfrm>
            <a:off x="6347307" y="4790218"/>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matters for the rest of the course</a:t>
            </a:r>
          </a:p>
        </p:txBody>
      </p:sp>
      <p:sp>
        <p:nvSpPr>
          <p:cNvPr id="13" name="TextBox 12"/>
          <p:cNvSpPr txBox="1"/>
          <p:nvPr/>
        </p:nvSpPr>
        <p:spPr>
          <a:xfrm>
            <a:off x="6347307" y="5201480"/>
            <a:ext cx="5158587" cy="1246599"/>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Every project in Week 9 has to survive these four questions before it is approved. A team that cannot answer them has not defined an engineering problem yet — it has picked a technique and gone looking for somewhere to use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Problem Hunt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get a problem and no method. I will ask you questions and answer none. This is how roughly one segment of every session works.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Problem Hunt</a:t>
            </a:r>
          </a:p>
        </p:txBody>
      </p:sp>
      <p:sp>
        <p:nvSpPr>
          <p:cNvPr id="4" name="Rounded Rectangle 3"/>
          <p:cNvSpPr/>
          <p:nvPr/>
        </p:nvSpPr>
        <p:spPr>
          <a:xfrm>
            <a:off x="685800" y="1911095"/>
            <a:ext cx="10820095" cy="237834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201258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In your team, list six problems from construction, structures, materials and building performance where data might help.</a:t>
            </a:r>
          </a:p>
          <a:p>
            <a:pPr algn="l">
              <a:lnSpc>
                <a:spcPct val="125000"/>
              </a:lnSpc>
              <a:spcAft>
                <a:spcPts val="600"/>
              </a:spcAft>
            </a:pPr>
            <a:r>
              <a:rPr sz="1923" b="0" i="0">
                <a:solidFill>
                  <a:srgbClr val="1C3144"/>
                </a:solidFill>
                <a:latin typeface="Calibri"/>
              </a:rPr>
              <a:t>Then sort all six into: predict a NUMBER, predict a CATEGORY, or NOT a machine learning problem — and justify every placement, including the rejections.</a:t>
            </a:r>
          </a:p>
          <a:p>
            <a:pPr algn="l">
              <a:lnSpc>
                <a:spcPct val="125000"/>
              </a:lnSpc>
              <a:spcAft>
                <a:spcPts val="600"/>
              </a:spcAft>
            </a:pPr>
            <a:r>
              <a:rPr sz="1923" b="0" i="0">
                <a:solidFill>
                  <a:srgbClr val="1C3144"/>
                </a:solidFill>
                <a:latin typeface="Calibri"/>
              </a:rPr>
              <a:t>Thirty minutes. No template, no worked example, no help from me.</a:t>
            </a:r>
          </a:p>
        </p:txBody>
      </p:sp>
      <p:sp>
        <p:nvSpPr>
          <p:cNvPr id="6" name="TextBox 5"/>
          <p:cNvSpPr txBox="1"/>
          <p:nvPr/>
        </p:nvSpPr>
        <p:spPr>
          <a:xfrm>
            <a:off x="685800" y="45637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are you actually trying to find?</a:t>
            </a:r>
          </a:p>
        </p:txBody>
      </p:sp>
      <p:sp>
        <p:nvSpPr>
          <p:cNvPr id="8" name="TextBox 7"/>
          <p:cNvSpPr txBox="1"/>
          <p:nvPr/>
        </p:nvSpPr>
        <p:spPr>
          <a:xfrm>
            <a:off x="685800"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Who measures that, and how often?</a:t>
            </a:r>
          </a:p>
        </p:txBody>
      </p:sp>
      <p:sp>
        <p:nvSpPr>
          <p:cNvPr id="9" name="TextBox 8"/>
          <p:cNvSpPr txBox="1"/>
          <p:nvPr/>
        </p:nvSpPr>
        <p:spPr>
          <a:xfrm>
            <a:off x="685800"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Would a rule you already know do this better?</a:t>
            </a:r>
          </a:p>
        </p:txBody>
      </p:sp>
      <p:sp>
        <p:nvSpPr>
          <p:cNvPr id="10" name="TextBox 9"/>
          <p:cNvSpPr txBox="1"/>
          <p:nvPr/>
        </p:nvSpPr>
        <p:spPr>
          <a:xfrm>
            <a:off x="6278727" y="503924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the answer let somebody DO?</a:t>
            </a:r>
          </a:p>
        </p:txBody>
      </p:sp>
      <p:sp>
        <p:nvSpPr>
          <p:cNvPr id="11" name="TextBox 10"/>
          <p:cNvSpPr txBox="1"/>
          <p:nvPr/>
        </p:nvSpPr>
        <p:spPr>
          <a:xfrm>
            <a:off x="6278727" y="551618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know if you were wrong?</a:t>
            </a:r>
          </a:p>
        </p:txBody>
      </p:sp>
      <p:sp>
        <p:nvSpPr>
          <p:cNvPr id="12" name="TextBox 11"/>
          <p:cNvSpPr txBox="1"/>
          <p:nvPr/>
        </p:nvSpPr>
        <p:spPr>
          <a:xfrm>
            <a:off x="6278727" y="599312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a mistake cost here?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TEAMS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your team works, all semester</a:t>
            </a:r>
          </a:p>
        </p:txBody>
      </p:sp>
      <p:sp>
        <p:nvSpPr>
          <p:cNvPr id="4" name="TextBox 3"/>
          <p:cNvSpPr txBox="1"/>
          <p:nvPr/>
        </p:nvSpPr>
        <p:spPr>
          <a:xfrm>
            <a:off x="685800" y="1911095"/>
            <a:ext cx="5158587" cy="79010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Teams of four or five, formed today, kept to the end</a:t>
            </a:r>
          </a:p>
        </p:txBody>
      </p:sp>
      <p:sp>
        <p:nvSpPr>
          <p:cNvPr id="5" name="TextBox 4"/>
          <p:cNvSpPr txBox="1"/>
          <p:nvPr/>
        </p:nvSpPr>
        <p:spPr>
          <a:xfrm>
            <a:off x="685800" y="271034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You will do two projects together: a data analysis project due Week 8, and the Engineering ML Project from Week 9 to Week 15.</a:t>
            </a:r>
          </a:p>
        </p:txBody>
      </p:sp>
      <p:sp>
        <p:nvSpPr>
          <p:cNvPr id="6" name="TextBox 5"/>
          <p:cNvSpPr txBox="1"/>
          <p:nvPr/>
        </p:nvSpPr>
        <p:spPr>
          <a:xfrm>
            <a:off x="685800" y="3965331"/>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Roles rotate at every milestone</a:t>
            </a:r>
          </a:p>
        </p:txBody>
      </p:sp>
      <p:sp>
        <p:nvSpPr>
          <p:cNvPr id="7" name="TextBox 6"/>
          <p:cNvSpPr txBox="1"/>
          <p:nvPr/>
        </p:nvSpPr>
        <p:spPr>
          <a:xfrm>
            <a:off x="685800" y="4396959"/>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Data analyst · machine learning engineer · domain engineer · documentation lead · presenter. Nobody does the same job twice, so nobody hides in one role.</a:t>
            </a:r>
          </a:p>
        </p:txBody>
      </p:sp>
      <p:sp>
        <p:nvSpPr>
          <p:cNvPr id="8" name="TextBox 7"/>
          <p:cNvSpPr txBox="1"/>
          <p:nvPr/>
        </p:nvSpPr>
        <p:spPr>
          <a:xfrm>
            <a:off x="6347307" y="191109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Individual accountability is built in</a:t>
            </a:r>
          </a:p>
        </p:txBody>
      </p:sp>
      <p:sp>
        <p:nvSpPr>
          <p:cNvPr id="9" name="TextBox 8"/>
          <p:cNvSpPr txBox="1"/>
          <p:nvPr/>
        </p:nvSpPr>
        <p:spPr>
          <a:xfrm>
            <a:off x="6347307" y="234272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Sixty-five per cent of the mark is individual. Your team keeps a contribution log, and it is checked against the repository history.</a:t>
            </a:r>
          </a:p>
        </p:txBody>
      </p:sp>
      <p:sp>
        <p:nvSpPr>
          <p:cNvPr id="10" name="TextBox 9"/>
          <p:cNvSpPr txBox="1"/>
          <p:nvPr/>
        </p:nvSpPr>
        <p:spPr>
          <a:xfrm>
            <a:off x="6347307" y="3451407"/>
            <a:ext cx="5158587" cy="1350228"/>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In Week 15 every student answers two unseen questions about their own team's work. That is how a team mark becomes an individual one — you cannot be carried, and you will not be dragged down.</a:t>
            </a:r>
          </a:p>
        </p:txBody>
      </p:sp>
      <p:sp>
        <p:nvSpPr>
          <p:cNvPr id="11" name="TextBox 10"/>
          <p:cNvSpPr txBox="1"/>
          <p:nvPr/>
        </p:nvSpPr>
        <p:spPr>
          <a:xfrm>
            <a:off x="6347307" y="5030235"/>
            <a:ext cx="5158587" cy="422484"/>
          </a:xfrm>
          <a:prstGeom prst="rect">
            <a:avLst/>
          </a:prstGeom>
          <a:noFill/>
        </p:spPr>
        <p:txBody>
          <a:bodyPr wrap="square" lIns="0" rIns="0" tIns="0" bIns="0" anchor="t">
            <a:spAutoFit/>
          </a:bodyPr>
          <a:lstStyle/>
          <a:p>
            <a:pPr algn="l">
              <a:lnSpc>
                <a:spcPct val="124000"/>
              </a:lnSpc>
              <a:spcAft>
                <a:spcPts val="600"/>
              </a:spcAft>
            </a:pPr>
            <a:r>
              <a:rPr sz="1873" b="1" i="0">
                <a:solidFill>
                  <a:srgbClr val="E4572E"/>
                </a:solidFill>
                <a:latin typeface="Calibri"/>
              </a:rPr>
              <a:t>Sign the team charter before you leave</a:t>
            </a:r>
          </a:p>
        </p:txBody>
      </p:sp>
      <p:sp>
        <p:nvSpPr>
          <p:cNvPr id="12" name="TextBox 11"/>
          <p:cNvSpPr txBox="1"/>
          <p:nvPr/>
        </p:nvSpPr>
        <p:spPr>
          <a:xfrm>
            <a:off x="6347307" y="5461864"/>
            <a:ext cx="5158587" cy="1026387"/>
          </a:xfrm>
          <a:prstGeom prst="rect">
            <a:avLst/>
          </a:prstGeom>
          <a:noFill/>
        </p:spPr>
        <p:txBody>
          <a:bodyPr wrap="square" lIns="0" rIns="0" tIns="0" bIns="0" anchor="t">
            <a:spAutoFit/>
          </a:bodyPr>
          <a:lstStyle/>
          <a:p>
            <a:pPr algn="l">
              <a:lnSpc>
                <a:spcPct val="124000"/>
              </a:lnSpc>
              <a:spcAft>
                <a:spcPts val="600"/>
              </a:spcAft>
            </a:pPr>
            <a:r>
              <a:rPr sz="1650" b="0" i="0">
                <a:solidFill>
                  <a:srgbClr val="334657"/>
                </a:solidFill>
                <a:latin typeface="Calibri"/>
              </a:rPr>
              <a:t>Names, contact details, a weekly meeting slot, and what you will do if somebody stops contributing. Agreeing that now is much easier than agreeing it in November.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9</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Gallery walk, and what you owe me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Critique two other teams' boards, then the assignment and the pre-work for next week.</a:t>
            </a:r>
          </a:p>
        </p:txBody>
      </p:sp>
    </p:spTree>
  </p:cSld>
  <p:clrMapOvr>
    <a:masterClrMapping/>
  </p:clrMapOvr>
</p:sld>
</file>

<file path=ppt/slides/slide46.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2</a:t>
            </a:r>
          </a:p>
        </p:txBody>
      </p:sp>
      <p:sp>
        <p:nvSpPr>
          <p:cNvPr id="4" name="TextBox 3"/>
          <p:cNvSpPr txBox="1"/>
          <p:nvPr/>
        </p:nvSpPr>
        <p:spPr>
          <a:xfrm>
            <a:off x="685800" y="1911095"/>
            <a:ext cx="5204307" cy="813592"/>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A1 — use the current form deadline</a:t>
            </a:r>
          </a:p>
        </p:txBody>
      </p:sp>
      <p:sp>
        <p:nvSpPr>
          <p:cNvPr id="5" name="TextBox 4"/>
          <p:cNvSpPr txBox="1"/>
          <p:nvPr/>
        </p:nvSpPr>
        <p:spPr>
          <a:xfrm>
            <a:off x="685800" y="2797840"/>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Three candidate machine learning problems from your own discipline.</a:t>
            </a:r>
          </a:p>
        </p:txBody>
      </p:sp>
      <p:sp>
        <p:nvSpPr>
          <p:cNvPr id="6" name="TextBox 5"/>
          <p:cNvSpPr txBox="1"/>
          <p:nvPr/>
        </p:nvSpPr>
        <p:spPr>
          <a:xfrm>
            <a:off x="685800" y="3598534"/>
            <a:ext cx="5204307" cy="109588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For each: state inputs, target, data source and one limitation.</a:t>
            </a:r>
          </a:p>
        </p:txBody>
      </p:sp>
      <p:sp>
        <p:nvSpPr>
          <p:cNvPr id="7" name="TextBox 6"/>
          <p:cNvSpPr txBox="1"/>
          <p:nvPr/>
        </p:nvSpPr>
        <p:spPr>
          <a:xfrm>
            <a:off x="685800" y="4749283"/>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Choose one problem and dataset. Explain why it is feasible.</a:t>
            </a:r>
          </a:p>
        </p:txBody>
      </p:sp>
      <p:sp>
        <p:nvSpPr>
          <p:cNvPr id="8" name="TextBox 7"/>
          <p:cNvSpPr txBox="1"/>
          <p:nvPr/>
        </p:nvSpPr>
        <p:spPr>
          <a:xfrm>
            <a:off x="685800" y="5549977"/>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Marks: framing 6, data 8, judgement 6. Submit one DOCX or text PDF.</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Also before next week</a:t>
            </a:r>
          </a:p>
        </p:txBody>
      </p:sp>
      <p:sp>
        <p:nvSpPr>
          <p:cNvPr id="11" name="TextBox 10"/>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GitHub account.</a:t>
            </a:r>
          </a:p>
        </p:txBody>
      </p:sp>
      <p:sp>
        <p:nvSpPr>
          <p:cNvPr id="12" name="TextBox 11"/>
          <p:cNvSpPr txBox="1"/>
          <p:nvPr/>
        </p:nvSpPr>
        <p:spPr>
          <a:xfrm>
            <a:off x="6575907" y="289738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Create a Google account if you do not have one — we work in Google Colab from Week 2.</a:t>
            </a:r>
          </a:p>
        </p:txBody>
      </p:sp>
      <p:sp>
        <p:nvSpPr>
          <p:cNvPr id="13" name="TextBox 12"/>
          <p:cNvSpPr txBox="1"/>
          <p:nvPr/>
        </p:nvSpPr>
        <p:spPr>
          <a:xfrm>
            <a:off x="6575907" y="373610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Watch the video on the next slide.</a:t>
            </a:r>
          </a:p>
        </p:txBody>
      </p:sp>
      <p:sp>
        <p:nvSpPr>
          <p:cNvPr id="14" name="TextBox 13"/>
          <p:cNvSpPr txBox="1"/>
          <p:nvPr/>
        </p:nvSpPr>
        <p:spPr>
          <a:xfrm>
            <a:off x="6575907" y="426519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Do NOT install anything.</a:t>
            </a:r>
          </a:p>
        </p:txBody>
      </p:sp>
      <p:sp>
        <p:nvSpPr>
          <p:cNvPr id="15" name="TextBox 14"/>
          <p:cNvSpPr txBox="1"/>
          <p:nvPr/>
        </p:nvSpPr>
        <p:spPr>
          <a:xfrm>
            <a:off x="6575907" y="466627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Week 2 needs a browser only.</a:t>
            </a:r>
          </a:p>
        </p:txBody>
      </p:sp>
      <p:sp>
        <p:nvSpPr>
          <p:cNvPr id="16" name="TextBox 15"/>
          <p:cNvSpPr txBox="1"/>
          <p:nvPr/>
        </p:nvSpPr>
        <p:spPr>
          <a:xfrm>
            <a:off x="6575907" y="5195363"/>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Sign and hand in your team charter.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VIDEO</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Watch this before Week 2</a:t>
            </a:r>
          </a:p>
        </p:txBody>
      </p:sp>
      <p:sp>
        <p:nvSpPr>
          <p:cNvPr id="4" name="Rounded Rectangle 3"/>
          <p:cNvSpPr/>
          <p:nvPr/>
        </p:nvSpPr>
        <p:spPr>
          <a:xfrm>
            <a:off x="685800" y="1911095"/>
            <a:ext cx="10820095" cy="2331720"/>
          </a:xfrm>
          <a:prstGeom prst="roundRect">
            <a:avLst>
              <a:gd name="adj" fmla="val 6000"/>
            </a:avLst>
          </a:prstGeom>
          <a:solidFill>
            <a:srgbClr val="1C31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185415"/>
            <a:ext cx="173736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PRE-WORK</a:t>
            </a:r>
          </a:p>
        </p:txBody>
      </p:sp>
      <p:sp>
        <p:nvSpPr>
          <p:cNvPr id="6" name="TextBox 5"/>
          <p:cNvSpPr txBox="1"/>
          <p:nvPr/>
        </p:nvSpPr>
        <p:spPr>
          <a:xfrm>
            <a:off x="2926080" y="2221991"/>
            <a:ext cx="4572000" cy="310896"/>
          </a:xfrm>
          <a:prstGeom prst="rect">
            <a:avLst/>
          </a:prstGeom>
          <a:noFill/>
        </p:spPr>
        <p:txBody>
          <a:bodyPr wrap="square" lIns="0" rIns="0" tIns="0" bIns="0" anchor="t">
            <a:spAutoFit/>
          </a:bodyPr>
          <a:lstStyle/>
          <a:p>
            <a:pPr algn="l">
              <a:spcAft>
                <a:spcPts val="600"/>
              </a:spcAft>
            </a:pPr>
            <a:r>
              <a:rPr sz="1716" b="1" i="0">
                <a:solidFill>
                  <a:srgbClr val="A8BCCE"/>
                </a:solidFill>
                <a:latin typeface="Calibri"/>
              </a:rPr>
              <a:t>IBM Technology</a:t>
            </a:r>
          </a:p>
        </p:txBody>
      </p:sp>
      <p:sp>
        <p:nvSpPr>
          <p:cNvPr id="7" name="TextBox 6"/>
          <p:cNvSpPr txBox="1"/>
          <p:nvPr/>
        </p:nvSpPr>
        <p:spPr>
          <a:xfrm>
            <a:off x="1005840" y="2779776"/>
            <a:ext cx="10180015" cy="731520"/>
          </a:xfrm>
          <a:prstGeom prst="rect">
            <a:avLst/>
          </a:prstGeom>
          <a:noFill/>
        </p:spPr>
        <p:txBody>
          <a:bodyPr wrap="square" lIns="0" rIns="0" tIns="0" bIns="0" anchor="t">
            <a:spAutoFit/>
          </a:bodyPr>
          <a:lstStyle/>
          <a:p>
            <a:pPr algn="l">
              <a:lnSpc>
                <a:spcPct val="105000"/>
              </a:lnSpc>
              <a:spcAft>
                <a:spcPts val="600"/>
              </a:spcAft>
            </a:pPr>
            <a:r>
              <a:rPr sz="2455" b="1" i="0">
                <a:solidFill>
                  <a:srgbClr val="FFFFFF"/>
                </a:solidFill>
                <a:latin typeface="Cambria"/>
              </a:rPr>
              <a:t>AI, Machine Learning, Deep Learning and Generative AI Explained</a:t>
            </a:r>
          </a:p>
        </p:txBody>
      </p:sp>
      <p:sp>
        <p:nvSpPr>
          <p:cNvPr id="8" name="TextBox 7"/>
          <p:cNvSpPr txBox="1"/>
          <p:nvPr/>
        </p:nvSpPr>
        <p:spPr>
          <a:xfrm>
            <a:off x="1005840" y="3602736"/>
            <a:ext cx="10180015" cy="292608"/>
          </a:xfrm>
          <a:prstGeom prst="rect">
            <a:avLst/>
          </a:prstGeom>
          <a:noFill/>
        </p:spPr>
        <p:txBody>
          <a:bodyPr wrap="square" lIns="0" rIns="0" tIns="0" bIns="0" anchor="t">
            <a:spAutoFit/>
          </a:bodyPr>
          <a:lstStyle/>
          <a:p>
            <a:pPr algn="l">
              <a:spcAft>
                <a:spcPts val="600"/>
              </a:spcAft>
            </a:pPr>
            <a:r>
              <a:rPr sz="1584" b="0" i="0">
                <a:solidFill>
                  <a:srgbClr val="8EB4CB"/>
                </a:solidFill>
                <a:latin typeface="Courier New"/>
              </a:rPr>
              <a:t>https://www.youtube.com/watch?v=qYNweeDHiyU</a:t>
            </a:r>
          </a:p>
        </p:txBody>
      </p:sp>
      <p:sp>
        <p:nvSpPr>
          <p:cNvPr id="9" name="TextBox 8"/>
          <p:cNvSpPr txBox="1"/>
          <p:nvPr/>
        </p:nvSpPr>
        <p:spPr>
          <a:xfrm>
            <a:off x="1005840" y="3904487"/>
            <a:ext cx="10180015" cy="27432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Runtime: under 10 minutes</a:t>
            </a:r>
          </a:p>
        </p:txBody>
      </p:sp>
      <p:sp>
        <p:nvSpPr>
          <p:cNvPr id="10" name="Rounded Rectangle 9"/>
          <p:cNvSpPr/>
          <p:nvPr/>
        </p:nvSpPr>
        <p:spPr>
          <a:xfrm>
            <a:off x="685800" y="4517136"/>
            <a:ext cx="14173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WATCH FOR</a:t>
            </a:r>
          </a:p>
        </p:txBody>
      </p:sp>
      <p:sp>
        <p:nvSpPr>
          <p:cNvPr id="11" name="TextBox 10"/>
          <p:cNvSpPr txBox="1"/>
          <p:nvPr/>
        </p:nvSpPr>
        <p:spPr>
          <a:xfrm>
            <a:off x="2286000" y="4544568"/>
            <a:ext cx="9082735" cy="1188720"/>
          </a:xfrm>
          <a:prstGeom prst="rect">
            <a:avLst/>
          </a:prstGeom>
          <a:noFill/>
        </p:spPr>
        <p:txBody>
          <a:bodyPr wrap="square" lIns="0" rIns="0" tIns="0" bIns="0" anchor="t">
            <a:spAutoFit/>
          </a:bodyPr>
          <a:lstStyle/>
          <a:p>
            <a:pPr algn="l">
              <a:lnSpc>
                <a:spcPct val="122000"/>
              </a:lnSpc>
              <a:spcAft>
                <a:spcPts val="600"/>
              </a:spcAft>
            </a:pPr>
            <a:r>
              <a:rPr sz="1923" b="0" i="0">
                <a:solidFill>
                  <a:srgbClr val="1C3144"/>
                </a:solidFill>
                <a:latin typeface="Calibri"/>
              </a:rPr>
              <a:t>Watch for where he draws the boundaries between the four terms, and whether they match the nested diagram we drew today. If they differ, raise it next week — the field genuinely does not fully agree on this.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10</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on is for you to study from. Summary, self-test with answers, glossary and a one-page reference.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Artificial intelligence is a goal; machine learning is one way of reaching it; data science is the craft of getting a trustworthy answer out of data at all.</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In traditional programming you write the rule. In machine learning you supply examples and the computer infers the rule — and you then have to decide whether to trust it.</a:t>
            </a:r>
          </a:p>
        </p:txBody>
      </p:sp>
      <p:sp>
        <p:nvSpPr>
          <p:cNvPr id="8" name="Oval 7"/>
          <p:cNvSpPr/>
          <p:nvPr/>
        </p:nvSpPr>
        <p:spPr>
          <a:xfrm>
            <a:off x="685800" y="34118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5699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Every dataset has the same shape: one row per example, feature columns known beforehand, one target column you want to predict.</a:t>
            </a:r>
          </a:p>
        </p:txBody>
      </p:sp>
      <p:sp>
        <p:nvSpPr>
          <p:cNvPr id="10" name="Oval 9"/>
          <p:cNvSpPr/>
          <p:nvPr/>
        </p:nvSpPr>
        <p:spPr>
          <a:xfrm>
            <a:off x="685800" y="41348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79946"/>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Regression predicts a number with a unit. Classification predicts which of a small set of categories a case belongs to. The same data can pose either question.</a:t>
            </a:r>
          </a:p>
        </p:txBody>
      </p:sp>
      <p:sp>
        <p:nvSpPr>
          <p:cNvPr id="12" name="Oval 11"/>
          <p:cNvSpPr/>
          <p:nvPr/>
        </p:nvSpPr>
        <p:spPr>
          <a:xfrm>
            <a:off x="685800" y="48577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80289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model learns association. It does not learn cause, and a good fit is no evidence of a mechanism.</a:t>
            </a:r>
          </a:p>
        </p:txBody>
      </p:sp>
      <p:sp>
        <p:nvSpPr>
          <p:cNvPr id="14" name="Oval 13"/>
          <p:cNvSpPr/>
          <p:nvPr/>
        </p:nvSpPr>
        <p:spPr>
          <a:xfrm>
            <a:off x="685800" y="52923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52375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Four limits never go away: no data, no signal, physics is simply better, and the future stopped resembling the past.</a:t>
            </a:r>
          </a:p>
        </p:txBody>
      </p:sp>
      <p:sp>
        <p:nvSpPr>
          <p:cNvPr id="16" name="Oval 15"/>
          <p:cNvSpPr/>
          <p:nvPr/>
        </p:nvSpPr>
        <p:spPr>
          <a:xfrm>
            <a:off x="685800" y="57270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672150"/>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method will always give you an answer. It will never tell you the question was unanswerable — that judgement is the engineer's job, and it is what this course is really training.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try these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colleague says 'we should use AI for this'. What three questions would you ask before agreeing?</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have a table of 500 past pump repairs. Which columns are features and which is the target — and what tells you?</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Give one problem from your discipline that is regression, and one that is classification.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very good fit on data the model has already seen NOT evidence that the model is any good?</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predicts 28-day compressive strength to within a few MPa. Name one thing you would still need to know before acting on it.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Do not look until you have written something for each.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Three questions before agreeing to 'use AI'?</a:t>
            </a:r>
          </a:p>
        </p:txBody>
      </p:sp>
      <p:sp>
        <p:nvSpPr>
          <p:cNvPr id="6" name="TextBox 5"/>
          <p:cNvSpPr txBox="1"/>
          <p:nvPr/>
        </p:nvSpPr>
        <p:spPr>
          <a:xfrm>
            <a:off x="1216152"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What exactly are we predicting? What data exists, who measured it, and is it kept? And would a rule or an equation we already have do this better? If any of those has no answer, stop.</a:t>
            </a:r>
          </a:p>
        </p:txBody>
      </p:sp>
      <p:sp>
        <p:nvSpPr>
          <p:cNvPr id="7" name="Oval 6"/>
          <p:cNvSpPr/>
          <p:nvPr/>
        </p:nvSpPr>
        <p:spPr>
          <a:xfrm>
            <a:off x="685800"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Features and target in a repair table?</a:t>
            </a:r>
          </a:p>
        </p:txBody>
      </p:sp>
      <p:sp>
        <p:nvSpPr>
          <p:cNvPr id="9" name="TextBox 8"/>
          <p:cNvSpPr txBox="1"/>
          <p:nvPr/>
        </p:nvSpPr>
        <p:spPr>
          <a:xfrm>
            <a:off x="1216152"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target is whatever you want to predict — say time to next failure. Features are everything known BEFORE that: operating hours, load, temperature. The test is timing: anything only known afterwards cannot be a feature.</a:t>
            </a:r>
          </a:p>
        </p:txBody>
      </p:sp>
      <p:sp>
        <p:nvSpPr>
          <p:cNvPr id="10" name="Oval 9"/>
          <p:cNvSpPr/>
          <p:nvPr/>
        </p:nvSpPr>
        <p:spPr>
          <a:xfrm>
            <a:off x="685800" y="506836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5031793"/>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One of each from your discipline?</a:t>
            </a:r>
          </a:p>
        </p:txBody>
      </p:sp>
      <p:sp>
        <p:nvSpPr>
          <p:cNvPr id="12" name="TextBox 11"/>
          <p:cNvSpPr txBox="1"/>
          <p:nvPr/>
        </p:nvSpPr>
        <p:spPr>
          <a:xfrm>
            <a:off x="1216152" y="5324401"/>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Regression: any quantity with a unit — 28-day compressive strength in MPa. Classification: strength class: below 25 MPa, 25 to 40, above 40.</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is a good fit on seen data not evidence?</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Because the model could simply have memorised those cases. The only honest test is performance on examples it has never seen — exactly what you did with case 13. This is the whole subject of Week 10.</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else before acting?</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How large the error is in engineering terms and whether that is tolerable; what it costs when the model is wrong; and whether today's conditions still resemble the data it learned from.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(1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Artificial intelligence</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Any machine doing something we would call intelligent. A goal that many techniques aim at.</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Machine learning</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Inferring a rule from examples instead of writing it yourself.</a:t>
            </a:r>
          </a:p>
        </p:txBody>
      </p:sp>
      <p:sp>
        <p:nvSpPr>
          <p:cNvPr id="8" name="TextBox 7"/>
          <p:cNvSpPr txBox="1"/>
          <p:nvPr/>
        </p:nvSpPr>
        <p:spPr>
          <a:xfrm>
            <a:off x="685800"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Deep learning</a:t>
            </a:r>
          </a:p>
        </p:txBody>
      </p:sp>
      <p:sp>
        <p:nvSpPr>
          <p:cNvPr id="9" name="TextBox 8"/>
          <p:cNvSpPr txBox="1"/>
          <p:nvPr/>
        </p:nvSpPr>
        <p:spPr>
          <a:xfrm>
            <a:off x="685800" y="463502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Machine learning using large neural networks. Semester 2.</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science</a:t>
            </a:r>
          </a:p>
        </p:txBody>
      </p:sp>
      <p:sp>
        <p:nvSpPr>
          <p:cNvPr id="11" name="TextBox 10"/>
          <p:cNvSpPr txBox="1"/>
          <p:nvPr/>
        </p:nvSpPr>
        <p:spPr>
          <a:xfrm>
            <a:off x="685800" y="551754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craft of getting a trustworthy answer out of data — finding, cleaning, questioning, analysing, presenting.</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Dataset</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table of past cases you can learn from.</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Example (or row, or observation)</a:t>
            </a:r>
          </a:p>
        </p:txBody>
      </p:sp>
      <p:sp>
        <p:nvSpPr>
          <p:cNvPr id="15" name="TextBox 14"/>
          <p:cNvSpPr txBox="1"/>
          <p:nvPr/>
        </p:nvSpPr>
        <p:spPr>
          <a:xfrm>
            <a:off x="6324447" y="3160824"/>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case: all its features plus its known outcome.</a:t>
            </a:r>
          </a:p>
        </p:txBody>
      </p:sp>
      <p:sp>
        <p:nvSpPr>
          <p:cNvPr id="16" name="TextBox 15"/>
          <p:cNvSpPr txBox="1"/>
          <p:nvPr/>
        </p:nvSpPr>
        <p:spPr>
          <a:xfrm>
            <a:off x="6324447" y="367612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Feature</a:t>
            </a:r>
          </a:p>
        </p:txBody>
      </p:sp>
      <p:sp>
        <p:nvSpPr>
          <p:cNvPr id="17" name="TextBox 16"/>
          <p:cNvSpPr txBox="1"/>
          <p:nvPr/>
        </p:nvSpPr>
        <p:spPr>
          <a:xfrm>
            <a:off x="6324447" y="404333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column known before the outcome. An input to the prediction.</a:t>
            </a:r>
          </a:p>
        </p:txBody>
      </p:sp>
      <p:sp>
        <p:nvSpPr>
          <p:cNvPr id="18" name="TextBox 17"/>
          <p:cNvSpPr txBox="1"/>
          <p:nvPr/>
        </p:nvSpPr>
        <p:spPr>
          <a:xfrm>
            <a:off x="6324447" y="485448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Target (or label)</a:t>
            </a:r>
          </a:p>
        </p:txBody>
      </p:sp>
      <p:sp>
        <p:nvSpPr>
          <p:cNvPr id="19" name="TextBox 18"/>
          <p:cNvSpPr txBox="1"/>
          <p:nvPr/>
        </p:nvSpPr>
        <p:spPr>
          <a:xfrm>
            <a:off x="6324447" y="522169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column you are trying to predict.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(2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Regression</a:t>
            </a:r>
          </a:p>
        </p:txBody>
      </p:sp>
      <p:sp>
        <p:nvSpPr>
          <p:cNvPr id="5" name="TextBox 4"/>
          <p:cNvSpPr txBox="1"/>
          <p:nvPr/>
        </p:nvSpPr>
        <p:spPr>
          <a:xfrm>
            <a:off x="685800"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a number on a continuous scale.</a:t>
            </a:r>
          </a:p>
        </p:txBody>
      </p:sp>
      <p:sp>
        <p:nvSpPr>
          <p:cNvPr id="6" name="TextBox 5"/>
          <p:cNvSpPr txBox="1"/>
          <p:nvPr/>
        </p:nvSpPr>
        <p:spPr>
          <a:xfrm>
            <a:off x="685800"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Classification</a:t>
            </a:r>
          </a:p>
        </p:txBody>
      </p:sp>
      <p:sp>
        <p:nvSpPr>
          <p:cNvPr id="7" name="TextBox 6"/>
          <p:cNvSpPr txBox="1"/>
          <p:nvPr/>
        </p:nvSpPr>
        <p:spPr>
          <a:xfrm>
            <a:off x="685800"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Predicting which of a small set of categories a case belongs to.</a:t>
            </a:r>
          </a:p>
        </p:txBody>
      </p:sp>
      <p:sp>
        <p:nvSpPr>
          <p:cNvPr id="8" name="TextBox 7"/>
          <p:cNvSpPr txBox="1"/>
          <p:nvPr/>
        </p:nvSpPr>
        <p:spPr>
          <a:xfrm>
            <a:off x="685800"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Binary classification</a:t>
            </a:r>
          </a:p>
        </p:txBody>
      </p:sp>
      <p:sp>
        <p:nvSpPr>
          <p:cNvPr id="9" name="TextBox 8"/>
          <p:cNvSpPr txBox="1"/>
          <p:nvPr/>
        </p:nvSpPr>
        <p:spPr>
          <a:xfrm>
            <a:off x="685800"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exactly two categories, such as pass or fail.</a:t>
            </a:r>
          </a:p>
        </p:txBody>
      </p:sp>
      <p:sp>
        <p:nvSpPr>
          <p:cNvPr id="10" name="TextBox 9"/>
          <p:cNvSpPr txBox="1"/>
          <p:nvPr/>
        </p:nvSpPr>
        <p:spPr>
          <a:xfrm>
            <a:off x="685800" y="515032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Multi-class classification</a:t>
            </a:r>
          </a:p>
        </p:txBody>
      </p:sp>
      <p:sp>
        <p:nvSpPr>
          <p:cNvPr id="11" name="TextBox 10"/>
          <p:cNvSpPr txBox="1"/>
          <p:nvPr/>
        </p:nvSpPr>
        <p:spPr>
          <a:xfrm>
            <a:off x="685800" y="5517542"/>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Classification with three or more categories.</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Prediction</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model's answer for a case.</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Error</a:t>
            </a:r>
          </a:p>
        </p:txBody>
      </p:sp>
      <p:sp>
        <p:nvSpPr>
          <p:cNvPr id="15" name="TextBox 14"/>
          <p:cNvSpPr txBox="1"/>
          <p:nvPr/>
        </p:nvSpPr>
        <p:spPr>
          <a:xfrm>
            <a:off x="6324447"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distance between the prediction and the truth. Measuring it honestly is most of this course.</a:t>
            </a:r>
          </a:p>
        </p:txBody>
      </p:sp>
      <p:sp>
        <p:nvSpPr>
          <p:cNvPr id="16" name="TextBox 15"/>
          <p:cNvSpPr txBox="1"/>
          <p:nvPr/>
        </p:nvSpPr>
        <p:spPr>
          <a:xfrm>
            <a:off x="6324447"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Unseen data</a:t>
            </a:r>
          </a:p>
        </p:txBody>
      </p:sp>
      <p:sp>
        <p:nvSpPr>
          <p:cNvPr id="17" name="TextBox 16"/>
          <p:cNvSpPr txBox="1"/>
          <p:nvPr/>
        </p:nvSpPr>
        <p:spPr>
          <a:xfrm>
            <a:off x="6324447" y="433918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Cases the model was not shown while it was learning. The only fair test.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Data leakage</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Accidentally giving the model information it would not have in real use — usually something only known after the outcome. Week 10.</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Generalisation</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Whether a rule learned from past cases still works on new ones.</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Association vs cause</a:t>
            </a:r>
          </a:p>
        </p:txBody>
      </p:sp>
      <p:sp>
        <p:nvSpPr>
          <p:cNvPr id="9" name="TextBox 8"/>
          <p:cNvSpPr txBox="1"/>
          <p:nvPr/>
        </p:nvSpPr>
        <p:spPr>
          <a:xfrm>
            <a:off x="685800" y="4930872"/>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model learns which columns move together. It knows nothing about mechanism.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Eight questions to ask about any data problem</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What exactly am I predicting?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Name the target column and its unit. If you cannot, you do not have a problem yet.</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Is it a number or a category?</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would the answer look like written down? A quantity with a unit means regression; a word means classification.</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What do I know beforehand?</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List the features. Check every one: would I really have this before the outcome?</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Where does the data come from?</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Who measured it, how often, over what period, and is it actually kept anywhere?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5 · Would a rule or an equation do this better?</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a code of practice or a validated formula answers it, use that instead.</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6 · How will I know if I am wrong?</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need cases the model has never seen. Decide now how you will hold some back.</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7 · What does being wrong cost?</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false alarm and a missed failure are not equally bad. That asymmetry decides which model you pick.</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8 · Do today's conditions still resemble the data?</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If the process, material or plant has changed, the model may be quietly obsolete.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Features and target read off a table, regression told from classification, and one of the four limits applied to a case.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Enter your own Student Registration Number exactly as recorded.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24 hours from lecturer activation, then it closes.</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1.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already done</a:t>
            </a:r>
          </a:p>
          <a:p>
            <a:pPr algn="l">
              <a:lnSpc>
                <a:spcPct val="110000"/>
              </a:lnSpc>
              <a:spcAft>
                <a:spcPts val="600"/>
              </a:spcAft>
            </a:pPr>
            <a:r>
              <a:rPr sz="3400" b="1" i="0">
                <a:solidFill>
                  <a:srgbClr val="FFFFFF"/>
                </a:solidFill>
                <a:latin typeface="Cambria"/>
              </a:rPr>
              <a:t>machine learning once.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answered a real engineering question today with a pencil and twelve rows of data, and you measured your own error. Everything else this semester is making that faster, more reliable, and honest about what it does not know.</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Colab, notebooks and version control — where the work actually happens. Bring a browser; you will install nothing.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