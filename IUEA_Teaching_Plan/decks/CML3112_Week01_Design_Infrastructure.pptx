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machine learning</a:t>
            </a:r>
          </a:p>
          <a:p>
            <a:r>
              <a:t>CML3112, Week 1, slide 1</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this as an orientation to the lesson. Terms and syntax will be unpacked on their own slides; students do not need to know them in advance.</a:t>
            </a:r>
          </a:p>
          <a:p>
            <a:r>
              <a:t/>
            </a:r>
          </a:p>
          <a:p>
            <a:r>
              <a:t>Continue to</a:t>
            </a:r>
          </a:p>
          <a:p>
            <a:r>
              <a:t>Jotham Martin Wambi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Jotham Martin Wambi</a:t>
            </a:r>
          </a:p>
          <a:p>
            <a:r>
              <a:t>CML3112, Week 1, slide 2</a:t>
            </a:r>
          </a:p>
          <a:p>
            <a:r>
              <a:t/>
            </a:r>
          </a:p>
          <a:p>
            <a:r>
              <a:t>Explanation to give</a:t>
            </a:r>
          </a:p>
          <a:p>
            <a:r>
              <a:t>Introduce your applied data and teaching work briefly, then link it to what beginners will learn in this course.</a:t>
            </a:r>
          </a:p>
          <a:p>
            <a:r>
              <a:t/>
            </a:r>
          </a:p>
          <a:p>
            <a:r>
              <a:t>Worked illustration / lecturer answer</a:t>
            </a:r>
          </a:p>
          <a:p>
            <a:r>
              <a:t>Use the formally accurate affiliation: incoming PhD student in Applied Informatics, Osaka Metropolitan University, Japan, April 2027 intake. The acceptance precedes enrolment. The master’s institution is Yamaguchi University, Japan.</a:t>
            </a:r>
          </a:p>
          <a:p>
            <a:r>
              <a:t/>
            </a:r>
          </a:p>
          <a:p>
            <a:r>
              <a:t>Misconception to address</a:t>
            </a:r>
          </a:p>
          <a:p>
            <a:r>
              <a:t>The older visible “PhD student” wording predates the clarified enrolment status. Do not describe yourself as already enrolled for the December 2026 period.</a:t>
            </a:r>
          </a:p>
          <a:p>
            <a:r>
              <a:t/>
            </a:r>
          </a:p>
          <a:p>
            <a:r>
              <a:t>Continue to</a:t>
            </a:r>
          </a:p>
          <a:p>
            <a:r>
              <a:t>By the end of today you can…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today you can…</a:t>
            </a:r>
          </a:p>
          <a:p>
            <a:r>
              <a:t>CML3112, Week 1, slide 3</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the outcomes listed on this slide to check understanding through the small examples, rather than asking only whether everybody understands.</a:t>
            </a:r>
          </a:p>
          <a:p>
            <a:r>
              <a:t/>
            </a:r>
          </a:p>
          <a:p>
            <a:r>
              <a:t>Continue to</a:t>
            </a:r>
          </a:p>
          <a:p>
            <a:r>
              <a:t>How every session this semester is shaped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every session this semester is shaped</a:t>
            </a:r>
          </a:p>
          <a:p>
            <a:r>
              <a:t>CML3112, Week 1, slide 4</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Where this semester goes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semester goes</a:t>
            </a:r>
          </a:p>
          <a:p>
            <a:r>
              <a:t>CML3112, Week 1, slide 5</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What you will be able to say by December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will be able to say by December</a:t>
            </a:r>
          </a:p>
          <a:p>
            <a:r>
              <a:t>CML3112, Week 1, slide 6</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Welcome, and how this course works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how this course works</a:t>
            </a:r>
          </a:p>
          <a:p>
            <a:r>
              <a:t>CML3112, Week 1, slide 7</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How you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 are assessed</a:t>
            </a:r>
          </a:p>
          <a:p>
            <a:r>
              <a:t>CML3112, Week 1, slide 8</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What I expect, and what you can expect 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expect, and what you can expect back</a:t>
            </a:r>
          </a:p>
          <a:p>
            <a:r>
              <a:t>CML3112, Week 1, slide 9</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Machine learning topics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topics</a:t>
            </a:r>
          </a:p>
          <a:p>
            <a:r>
              <a:t>CML3112, Week 1, slide 10</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The machine learning roadmap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machine learning roadmap</a:t>
            </a:r>
          </a:p>
          <a:p>
            <a:r>
              <a:t>CML3112, Week 1, slide 11</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Mathematics and programming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Mathematics and programming foundations</a:t>
            </a:r>
          </a:p>
          <a:p>
            <a:r>
              <a:t>CML3112, Week 1, slide 12</a:t>
            </a:r>
          </a:p>
          <a:p>
            <a:r>
              <a:t/>
            </a:r>
          </a:p>
          <a:p>
            <a:r>
              <a:t>Explanation to give</a:t>
            </a:r>
          </a:p>
          <a:p>
            <a:r>
              <a:t>Acknowledge previous engineering mathematics without assuming every student recalls it. Explain each mathematical operation at the point it is used and connect it to a physical quantity.</a:t>
            </a:r>
          </a:p>
          <a:p>
            <a:r>
              <a:t/>
            </a:r>
          </a:p>
          <a:p>
            <a:r>
              <a:t>Worked illustration / lecturer answer</a:t>
            </a:r>
          </a:p>
          <a:p>
            <a:r>
              <a:t>Before a mean calculation, show total divided by count on three readings. Before a matrix appears, draw rows and columns. Before a percentage, show the fraction and multiplication by 100.</a:t>
            </a:r>
          </a:p>
          <a:p>
            <a:r>
              <a:t/>
            </a:r>
          </a:p>
          <a:p>
            <a:r>
              <a:t>Misconception to address</a:t>
            </a:r>
          </a:p>
          <a:p>
            <a:r>
              <a:t>Do not tell struggling beginners that the programming is easy or that they should already know the prerequisites. Use their engineering context as a bridge and supply the missing explanation.</a:t>
            </a:r>
          </a:p>
          <a:p>
            <a:r>
              <a:t/>
            </a:r>
          </a:p>
          <a:p>
            <a:r>
              <a:t>Continue to</a:t>
            </a:r>
          </a:p>
          <a:p>
            <a:r>
              <a:t>Topics covered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Topics covered in this course</a:t>
            </a:r>
          </a:p>
          <a:p>
            <a:r>
              <a:t>CML3112, Week 1, slide 13</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Four jobs this field splits into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this field splits into</a:t>
            </a:r>
          </a:p>
          <a:p>
            <a:r>
              <a:t>CML3112, Week 1, slide 14</a:t>
            </a:r>
          </a:p>
          <a:p>
            <a:r>
              <a:t/>
            </a:r>
          </a:p>
          <a:p>
            <a:r>
              <a:t>Explanation to give</a:t>
            </a:r>
          </a:p>
          <a:p>
            <a:r>
              <a:t>Explain the sequence as increasing independence: first run and understand code, then inspect data, then build and evaluate a modest predictor, and finally communicate its limits.</a:t>
            </a:r>
          </a:p>
          <a:p>
            <a:r>
              <a:t/>
            </a:r>
          </a:p>
          <a:p>
            <a:r>
              <a:t>Worked illustration / lecturer answer</a:t>
            </a:r>
          </a:p>
          <a:p>
            <a:r>
              <a:t>A learner should eventually be able to say what each input represents, reproduce the result from the files and defend why the chosen evaluation matches the intended use.</a:t>
            </a:r>
          </a:p>
          <a:p>
            <a:r>
              <a:t/>
            </a:r>
          </a:p>
          <a:p>
            <a:r>
              <a:t>Misconception to address</a:t>
            </a:r>
          </a:p>
          <a:p>
            <a:r>
              <a:t>The roadmap is not a promise of professional mastery of every listed field in one semester. Point to the current week's small, observable goal.</a:t>
            </a:r>
          </a:p>
          <a:p>
            <a:r>
              <a:t/>
            </a:r>
          </a:p>
          <a:p>
            <a:r>
              <a:t>Continue to</a:t>
            </a:r>
          </a:p>
          <a:p>
            <a:r>
              <a:t>Machine learning in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in engineering</a:t>
            </a:r>
          </a:p>
          <a:p>
            <a:r>
              <a:t>CML3112, Week 1, slide 15</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The words, and how they nest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and how they nest</a:t>
            </a:r>
          </a:p>
          <a:p>
            <a:r>
              <a:t>CML3112, Week 1, slide 16</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Artificial intelligence</a:t>
            </a:r>
          </a:p>
          <a:p>
            <a:r>
              <a:t>CML3112, Week 1, slide 17</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Misconception to address</a:t>
            </a:r>
          </a:p>
          <a:p>
            <a:r>
              <a:t>The boundaries of AI are not perfectly sharp. Avoid claiming every automated action learns. Advanced roadmap topics are context, not prerequisites students must master today.</a:t>
            </a:r>
          </a:p>
          <a:p>
            <a:r>
              <a:t/>
            </a:r>
          </a:p>
          <a:p>
            <a:r>
              <a:t>Continue to</a:t>
            </a:r>
          </a:p>
          <a:p>
            <a:r>
              <a:t>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a:t>
            </a:r>
          </a:p>
          <a:p>
            <a:r>
              <a:t>CML3112, Week 1, slide 18</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Data science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science</a:t>
            </a:r>
          </a:p>
          <a:p>
            <a:r>
              <a:t>CML3112, Week 1, slide 19</a:t>
            </a:r>
          </a:p>
          <a:p>
            <a:r>
              <a:t/>
            </a:r>
          </a:p>
          <a:p>
            <a:r>
              <a:t>Explanation to give</a:t>
            </a:r>
          </a:p>
          <a:p>
            <a:r>
              <a:t>Data science includes finding and examining data, correcting documented defects, analysing patterns and communicating justified conclusions. A prediction model is one possible tool within that work.</a:t>
            </a:r>
          </a:p>
          <a:p>
            <a:r>
              <a:t/>
            </a:r>
          </a:p>
          <a:p>
            <a:r>
              <a:t>Worked illustration / lecturer answer</a:t>
            </a:r>
          </a:p>
          <a:p>
            <a:r>
              <a:t>Before predicting energy use, check whether meter readings use the same unit and time interval. Discovering that half the readings are missing is already a meaningful data finding.</a:t>
            </a:r>
          </a:p>
          <a:p>
            <a:r>
              <a:t/>
            </a:r>
          </a:p>
          <a:p>
            <a:r>
              <a:t>Misconception to address</a:t>
            </a:r>
          </a:p>
          <a:p>
            <a:r>
              <a:t>A project can answer a useful question without machine learning. Do not insert a model when a well-supported descriptive analysis answers the question.</a:t>
            </a:r>
          </a:p>
          <a:p>
            <a:r>
              <a:t/>
            </a:r>
          </a:p>
          <a:p>
            <a:r>
              <a:t>Continue to</a:t>
            </a:r>
          </a:p>
          <a:p>
            <a:r>
              <a:t>Two ways to make a computer decide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make a computer decide</a:t>
            </a:r>
          </a:p>
          <a:p>
            <a:r>
              <a:t>CML3112, Week 1, slide 20</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"Can we estimate the 28-day compressive strength of a concrete mix without casting and crushing another cylinder?"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we estimate the 28-day compressive strength of a concrete mix without casting and crushing another cylinder?"</a:t>
            </a:r>
          </a:p>
          <a:p>
            <a:r>
              <a:t>CML3112, Week 1, slide 21</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Traditional programming,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programming, and machine learning</a:t>
            </a:r>
          </a:p>
          <a:p>
            <a:r>
              <a:t>CML3112, Week 1, slide 22</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When to write the rule, and when to learn it from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write the rule, and when to learn it from data</a:t>
            </a:r>
          </a:p>
          <a:p>
            <a:r>
              <a:t>CML3112, Week 1, slide 23</a:t>
            </a:r>
          </a:p>
          <a:p>
            <a:r>
              <a:t/>
            </a:r>
          </a:p>
          <a:p>
            <a:r>
              <a:t>Explanation to give</a:t>
            </a:r>
          </a:p>
          <a:p>
            <a:r>
              <a:t>Contrast who supplies the decision rule. In conventional programming, the developer writes the rule. In supervised learning, the training examples contain inputs and known answers from which a fitting procedure estimates a rule.</a:t>
            </a:r>
          </a:p>
          <a:p>
            <a:r>
              <a:t/>
            </a:r>
          </a:p>
          <a:p>
            <a:r>
              <a:t>Worked illustration / lecturer answer</a:t>
            </a:r>
          </a:p>
          <a:p>
            <a:r>
              <a:t>If a verified formula calculates area from length and width, use it. If many interacting readings affect an outcome and suitable labelled examples exist, a learned predictor may be worth evaluating.</a:t>
            </a:r>
          </a:p>
          <a:p>
            <a:r>
              <a:t/>
            </a:r>
          </a:p>
          <a:p>
            <a:r>
              <a:t>Misconception to address</a:t>
            </a:r>
          </a:p>
          <a:p>
            <a:r>
              <a:t>The computer does not infer a trustworthy rule merely because data exists. Independent evaluation and domain checks still decide whether to use it.</a:t>
            </a:r>
          </a:p>
          <a:p>
            <a:r>
              <a:t/>
            </a:r>
          </a:p>
          <a:p>
            <a:r>
              <a:t>Continue to</a:t>
            </a:r>
          </a:p>
          <a:p>
            <a:r>
              <a:t>Data, features and targets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features and targets</a:t>
            </a:r>
          </a:p>
          <a:p>
            <a:r>
              <a:t>CML3112, Week 1, slide 24</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Continue to</a:t>
            </a:r>
          </a:p>
          <a:p>
            <a:r>
              <a:t>Feature, and target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and target</a:t>
            </a:r>
          </a:p>
          <a:p>
            <a:r>
              <a:t>CML3112, Week 1, slide 25</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CML3112, Week 1, slide 26</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Feature or target?</a:t>
            </a:r>
          </a:p>
          <a:p>
            <a:r>
              <a:t>The target. It is the thing you want to predict. Everything measured beforehand is a feature.</a:t>
            </a:r>
          </a:p>
          <a:p>
            <a:r>
              <a:t>B</a:t>
            </a:r>
          </a:p>
          <a:p>
            <a:r>
              <a:t>The repair column?</a:t>
            </a:r>
          </a:p>
          <a:p>
            <a:r>
              <a:t>No. The repair is recorded after the failure, so it is unavailable at prediction time. Including it would give misleading test results. This is data leakage.</a:t>
            </a:r>
          </a:p>
          <a:p>
            <a:r>
              <a:t>C</a:t>
            </a:r>
          </a:p>
          <a:p>
            <a:r>
              <a:t>A rule you already know?</a:t>
            </a:r>
          </a:p>
          <a:p>
            <a:r>
              <a:t>Anything with a formula or a code threshold: For a simply supported beam under a uniform load, the bending moment has an exact formula. Use it. If a validated equation exists, use the equation.</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1, slide 27</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Feature or target?</a:t>
            </a:r>
          </a:p>
          <a:p>
            <a:r>
              <a:t>The target. It is the thing you want to predict. Everything measured beforehand is a feature.</a:t>
            </a:r>
          </a:p>
          <a:p>
            <a:r>
              <a:t>The repair column?</a:t>
            </a:r>
          </a:p>
          <a:p>
            <a:r>
              <a:t>No. The repair is recorded after the failure, so it is unavailable at prediction time. Including it would give misleading test results. This is data leakage.</a:t>
            </a:r>
          </a:p>
          <a:p>
            <a:r>
              <a:t>A rule you already know?</a:t>
            </a:r>
          </a:p>
          <a:p>
            <a:r>
              <a:t>Anything with a formula or a code threshold: For a simply supported beam under a uniform load, the bending moment has an exact formula. Use it. If a validated equation exists, use the equation.</a:t>
            </a:r>
          </a:p>
          <a:p>
            <a:r>
              <a:t/>
            </a:r>
          </a:p>
          <a:p>
            <a:r>
              <a:t>Misconception to address</a:t>
            </a:r>
          </a:p>
          <a:p>
            <a:r>
              <a:t>If a student gives a different engineering example, check its reasoning and timing rather than requiring identical wording to the printed example.</a:t>
            </a:r>
          </a:p>
          <a:p>
            <a:r>
              <a:t/>
            </a:r>
          </a:p>
          <a:p>
            <a:r>
              <a:t>Continue to</a:t>
            </a:r>
          </a:p>
          <a:p>
            <a:r>
              <a:t>Hands on: predict case 13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on: predict case 13</a:t>
            </a:r>
          </a:p>
          <a:p>
            <a:r>
              <a:t>CML3112, Week 1, slide 28</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Your task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task</a:t>
            </a:r>
          </a:p>
          <a:p>
            <a:r>
              <a:t>CML3112, Week 1, slide 29</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Reading the pattern from twelve cases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pattern from twelve cases</a:t>
            </a:r>
          </a:p>
          <a:p>
            <a:r>
              <a:t>CML3112, Week 1, slide 30</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The answer, and your error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and your error</a:t>
            </a:r>
          </a:p>
          <a:p>
            <a:r>
              <a:t>CML3112, Week 1, slide 31</a:t>
            </a:r>
          </a:p>
          <a:p>
            <a:r>
              <a:t/>
            </a:r>
          </a:p>
          <a:p>
            <a:r>
              <a:t>Explanation to give</a:t>
            </a:r>
          </a:p>
          <a:p>
            <a:r>
              <a:t>Explain this as a small manual demonstration of learning from examples. Use known rows to propose a rule, write a prediction before revealing the held-out answer, then measure the difference honestly.</a:t>
            </a:r>
          </a:p>
          <a:p>
            <a:r>
              <a:t/>
            </a:r>
          </a:p>
          <a:p>
            <a:r>
              <a:t>Worked illustration / lecturer answer</a:t>
            </a:r>
          </a:p>
          <a:p>
            <a:r>
              <a:t>Locate cases with nearby feature values and compare their outcomes. Explain why a between-neighbours estimate is plausible and what it ignores. Use the actual handout's values rather than inventing the hidden case result.</a:t>
            </a:r>
          </a:p>
          <a:p>
            <a:r>
              <a:t/>
            </a:r>
          </a:p>
          <a:p>
            <a:r>
              <a:t>Misconception to address</a:t>
            </a:r>
          </a:p>
          <a:p>
            <a:r>
              <a:t>One held-out case illustrates evaluation but is insufficient evidence of general reliability. Do not revise a prediction after seeing the answer and describe it as the original estimate.</a:t>
            </a:r>
          </a:p>
          <a:p>
            <a:r>
              <a:t/>
            </a:r>
          </a:p>
          <a:p>
            <a:r>
              <a:t>Continue to</a:t>
            </a:r>
          </a:p>
          <a:p>
            <a:r>
              <a:t>Steps in a prediction task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in a prediction task</a:t>
            </a:r>
          </a:p>
          <a:p>
            <a:r>
              <a:t>CML3112, Week 1, slide 32</a:t>
            </a:r>
          </a:p>
          <a:p>
            <a:r>
              <a:t/>
            </a:r>
          </a:p>
          <a:p>
            <a:r>
              <a:t>Explanation to give</a:t>
            </a:r>
          </a:p>
          <a:p>
            <a:r>
              <a:t>Translate each action into its technical name only after describing the action. Reading records is exploration, forming a relationship is fitting, applying it to a new case is prediction and comparing against truth is evaluation.</a:t>
            </a:r>
          </a:p>
          <a:p>
            <a:r>
              <a:t/>
            </a:r>
          </a:p>
          <a:p>
            <a:r>
              <a:t>Worked illustration / lecturer answer</a:t>
            </a:r>
          </a:p>
          <a:p>
            <a:r>
              <a:t>In the paper example, the twelve labelled rows teach the provisional rule. The held-out case checks that rule. Later Python code makes these same actions repeatable on more records.</a:t>
            </a:r>
          </a:p>
          <a:p>
            <a:r>
              <a:t/>
            </a:r>
          </a:p>
          <a:p>
            <a:r>
              <a:t>Misconception to address</a:t>
            </a:r>
          </a:p>
          <a:p>
            <a:r>
              <a:t>Finding a pattern in the training examples is not the final success criterion. Keep asking how the rule behaves on unseen, relevant observations.</a:t>
            </a:r>
          </a:p>
          <a:p>
            <a:r>
              <a:t/>
            </a:r>
          </a:p>
          <a:p>
            <a:r>
              <a:t>Continue to</a:t>
            </a:r>
          </a:p>
          <a:p>
            <a:r>
              <a:t>Break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a:t>
            </a:r>
          </a:p>
          <a:p>
            <a:r>
              <a:t>CML3112, Week 1, slide 33</a:t>
            </a:r>
          </a:p>
          <a:p>
            <a:r>
              <a:t/>
            </a:r>
          </a:p>
          <a:p>
            <a:r>
              <a:t>Explanation to give</a:t>
            </a:r>
          </a:p>
          <a:p>
            <a:r>
              <a:t>Announce the actual return time based on the clock now, rather than leaving “ten minutes” ambiguous.</a:t>
            </a:r>
          </a:p>
          <a:p>
            <a:r>
              <a:t/>
            </a:r>
          </a:p>
          <a:p>
            <a:r>
              <a:t>Worked illustration / lecturer answer</a:t>
            </a:r>
          </a:p>
          <a:p>
            <a:r>
              <a:t>Save the current notebook before the break. On return, continue at the next topic named in the deck.</a:t>
            </a:r>
          </a:p>
          <a:p>
            <a:r>
              <a:t/>
            </a:r>
          </a:p>
          <a:p>
            <a:r>
              <a:t>Misconception to address</a:t>
            </a:r>
          </a:p>
          <a:p>
            <a:r>
              <a:t>No new assessment or group task is assigned by this divider.</a:t>
            </a:r>
          </a:p>
          <a:p>
            <a:r>
              <a:t/>
            </a:r>
          </a:p>
          <a:p>
            <a:r>
              <a:t>Continue to</a:t>
            </a:r>
          </a:p>
          <a:p>
            <a:r>
              <a:t>Two kinds of question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question</a:t>
            </a:r>
          </a:p>
          <a:p>
            <a:r>
              <a:t>CML3112, Week 1, slide 34</a:t>
            </a:r>
          </a:p>
          <a:p>
            <a:r>
              <a:t/>
            </a:r>
          </a:p>
          <a:p>
            <a:r>
              <a:t>Explanation to give</a:t>
            </a:r>
          </a:p>
          <a:p>
            <a:r>
              <a:t>This divider introduces Regression and classification. 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Keep this transition brief. The detailed demonstration follows; do not add another activity before students have seen it.</a:t>
            </a:r>
          </a:p>
          <a:p>
            <a:r>
              <a:t/>
            </a:r>
          </a:p>
          <a:p>
            <a:r>
              <a:t>Continue to</a:t>
            </a:r>
          </a:p>
          <a:p>
            <a:r>
              <a:t>Regression and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and classification</a:t>
            </a:r>
          </a:p>
          <a:p>
            <a:r>
              <a:t>CML3112, Week 1, slide 35</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Continue to</a:t>
            </a:r>
          </a:p>
          <a:p>
            <a:r>
              <a:t>Regression, and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and classification</a:t>
            </a:r>
          </a:p>
          <a:p>
            <a:r>
              <a:t>CML3112, Week 1, slide 36</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Continue to</a:t>
            </a:r>
          </a:p>
          <a:p>
            <a:r>
              <a:t>Can you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you answer these?</a:t>
            </a:r>
          </a:p>
          <a:p>
            <a:r>
              <a:t>CML3112, Week 1, slide 37</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Days until replacement?</a:t>
            </a:r>
          </a:p>
          <a:p>
            <a:r>
              <a:t>Regression. The answer is a number with a unit — days.</a:t>
            </a:r>
          </a:p>
          <a:p>
            <a:r>
              <a:t>B</a:t>
            </a:r>
          </a:p>
          <a:p>
            <a:r>
              <a:t>Pass or fail?</a:t>
            </a:r>
          </a:p>
          <a:p>
            <a:r>
              <a:t>Classification. Two categories, so it is called binary classification.</a:t>
            </a:r>
          </a:p>
          <a:p>
            <a:r>
              <a:t>C</a:t>
            </a:r>
          </a:p>
          <a:p>
            <a:r>
              <a:t>Which of five fault types?</a:t>
            </a:r>
          </a:p>
          <a:p>
            <a:r>
              <a:t>Still classification, but multi-class rather than binary. It is harder: with five classes there are far more ways to be wrong, and a single accuracy figure hides which ones you get wrong. Week 9.</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1, slide 38</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Days until replacement?</a:t>
            </a:r>
          </a:p>
          <a:p>
            <a:r>
              <a:t>Regression. The answer is a number with a unit — days.</a:t>
            </a:r>
          </a:p>
          <a:p>
            <a:r>
              <a:t>Pass or fail?</a:t>
            </a:r>
          </a:p>
          <a:p>
            <a:r>
              <a:t>Classification. Two categories, so it is called binary classification.</a:t>
            </a:r>
          </a:p>
          <a:p>
            <a:r>
              <a:t>Which of five fault types?</a:t>
            </a:r>
          </a:p>
          <a:p>
            <a:r>
              <a:t>Still classification, but multi-class rather than binary. It is harder: with five classes there are far more ways to be wrong, and a single accuracy figure hides which ones you get wrong. Week 9.</a:t>
            </a:r>
          </a:p>
          <a:p>
            <a:r>
              <a:t/>
            </a:r>
          </a:p>
          <a:p>
            <a:r>
              <a:t>Misconception to address</a:t>
            </a:r>
          </a:p>
          <a:p>
            <a:r>
              <a:t>If a student gives a different engineering example, check its reasoning and timing rather than requiring identical wording to the printed example.</a:t>
            </a:r>
          </a:p>
          <a:p>
            <a:r>
              <a:t/>
            </a:r>
          </a:p>
          <a:p>
            <a:r>
              <a:t>Continue to</a:t>
            </a:r>
          </a:p>
          <a:p>
            <a:r>
              <a:t>What machine learning cannot do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machine learning cannot do</a:t>
            </a:r>
          </a:p>
          <a:p>
            <a:r>
              <a:t>CML3112, Week 1, slide 39</a:t>
            </a:r>
          </a:p>
          <a:p>
            <a:r>
              <a:t/>
            </a:r>
          </a:p>
          <a:p>
            <a:r>
              <a:t>Explanation to give</a:t>
            </a:r>
          </a:p>
          <a:p>
            <a:r>
              <a:t>This divider introduces Four limits, and none of them go away. 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Keep this transition brief. The detailed demonstration follows; do not add another activity before students have seen it.</a:t>
            </a:r>
          </a:p>
          <a:p>
            <a:r>
              <a:t/>
            </a:r>
          </a:p>
          <a:p>
            <a:r>
              <a:t>Continue to</a:t>
            </a:r>
          </a:p>
          <a:p>
            <a:r>
              <a:t>Four limits, and none of them go away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and none of them go away</a:t>
            </a:r>
          </a:p>
          <a:p>
            <a:r>
              <a:t>CML3112, Week 1, slide 40</a:t>
            </a:r>
          </a:p>
          <a:p>
            <a:r>
              <a:t/>
            </a:r>
          </a:p>
          <a:p>
            <a:r>
              <a:t>Explanation to give</a:t>
            </a:r>
          </a:p>
          <a:p>
            <a:r>
              <a:t>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Models can fail, abstain or be designed to flag uncertainty; avoid the absolute claim that they always return an answer and never signal a problem. The engineer still evaluates suitability.</a:t>
            </a:r>
          </a:p>
          <a:p>
            <a:r>
              <a:t/>
            </a:r>
          </a:p>
          <a:p>
            <a:r>
              <a:t>Continue to</a:t>
            </a:r>
          </a:p>
          <a:p>
            <a:r>
              <a:t>The same four limits, in your own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four limits, in your own discipline</a:t>
            </a:r>
          </a:p>
          <a:p>
            <a:r>
              <a:t>CML3112, Week 1, slide 41</a:t>
            </a:r>
          </a:p>
          <a:p>
            <a:r>
              <a:t/>
            </a:r>
          </a:p>
          <a:p>
            <a:r>
              <a:t>Explanation to give</a:t>
            </a:r>
          </a:p>
          <a:p>
            <a:r>
              <a:t>Review whether usable observations exist, whether inputs contain predictive information, whether a validated rule already solves the problem and whether future conditions resemble the data.</a:t>
            </a:r>
          </a:p>
          <a:p>
            <a:r>
              <a:t/>
            </a:r>
          </a:p>
          <a:p>
            <a:r>
              <a:t>Worked illustration / lecturer answer</a:t>
            </a:r>
          </a:p>
          <a:p>
            <a:r>
              <a:t>Changing an equipment supplier may alter measurement behaviour and invalidate an older fitted relationship. A model trained only at one site needs evidence before use at another.</a:t>
            </a:r>
          </a:p>
          <a:p>
            <a:r>
              <a:t/>
            </a:r>
          </a:p>
          <a:p>
            <a:r>
              <a:t>Misconception to address</a:t>
            </a:r>
          </a:p>
          <a:p>
            <a:r>
              <a:t>Models can fail, abstain or be designed to flag uncertainty; avoid the absolute claim that they always return an answer and never signal a problem. The engineer still evaluates suitability.</a:t>
            </a:r>
          </a:p>
          <a:p>
            <a:r>
              <a:t/>
            </a:r>
          </a:p>
          <a:p>
            <a:r>
              <a:t>Continue to</a:t>
            </a:r>
          </a:p>
          <a:p>
            <a:r>
              <a:t>Challenge: the Problem Hunt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the Problem Hunt</a:t>
            </a:r>
          </a:p>
          <a:p>
            <a:r>
              <a:t>CML3112, Week 1, slide 42</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Problem Hunt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Hunt</a:t>
            </a:r>
          </a:p>
          <a:p>
            <a:r>
              <a:t>CML3112, Week 1, slide 43</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How your team works, all semester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team works, all semester</a:t>
            </a:r>
          </a:p>
          <a:p>
            <a:r>
              <a:t>CML3112, Week 1, slide 44</a:t>
            </a:r>
          </a:p>
          <a:p>
            <a:r>
              <a:t/>
            </a:r>
          </a:p>
          <a:p>
            <a:r>
              <a:t>Explanation to give</a:t>
            </a:r>
          </a:p>
          <a:p>
            <a:r>
              <a:t>Distinguish individual evidence from team project work. Students must understand their own submissions, keep identifiable contributions and read the published rubric before beginning.</a:t>
            </a:r>
          </a:p>
          <a:p>
            <a:r>
              <a:t/>
            </a:r>
          </a:p>
          <a:p>
            <a:r>
              <a:t>Worked illustration / lecturer answer</a:t>
            </a:r>
          </a:p>
          <a:p>
            <a:r>
              <a:t>For a shared project, a useful contribution entry names the cleaned file, chart or evaluation cell the learner produced and the decision they explained. A weekly notebook is submitted through its own assessment form.</a:t>
            </a:r>
          </a:p>
          <a:p>
            <a:r>
              <a:t/>
            </a:r>
          </a:p>
          <a:p>
            <a:r>
              <a:t>Misconception to address</a:t>
            </a:r>
          </a:p>
          <a:p>
            <a:r>
              <a:t>Do not infer contribution only from the number of commits. Verify the substance of the work. The practical tests include typed reasoning even though there is no traditional written examination.</a:t>
            </a:r>
          </a:p>
          <a:p>
            <a:r>
              <a:t/>
            </a:r>
          </a:p>
          <a:p>
            <a:r>
              <a:t>Continue to</a:t>
            </a:r>
          </a:p>
          <a:p>
            <a:r>
              <a:t>Gallery walk, and what you owe 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and what you owe me</a:t>
            </a:r>
          </a:p>
          <a:p>
            <a:r>
              <a:t>CML3112, Week 1, slide 45</a:t>
            </a:r>
          </a:p>
          <a:p>
            <a:r>
              <a:t/>
            </a:r>
          </a:p>
          <a:p>
            <a:r>
              <a:t>Explanation to give</a:t>
            </a:r>
          </a:p>
          <a:p>
            <a:r>
              <a:t>Use this handover to state A1 clearly: three candidate problems and one justified selection, written as a short report.</a:t>
            </a:r>
          </a:p>
          <a:p>
            <a:r>
              <a:t/>
            </a:r>
          </a:p>
          <a:p>
            <a:r>
              <a:t>Worked illustration / lecturer answer</a:t>
            </a:r>
          </a:p>
          <a:p>
            <a:r>
              <a:t>Each problem identifies its inputs, target, possible data source and limitation. Submit one DOCX or selectable-text PDF through the A1 form. Account setup prepares for Week 2 and is separate from the report.</a:t>
            </a:r>
          </a:p>
          <a:p>
            <a:r>
              <a:t/>
            </a:r>
          </a:p>
          <a:p>
            <a:r>
              <a:t>Misconception to address</a:t>
            </a:r>
          </a:p>
          <a:p>
            <a:r>
              <a:t>Read the live deadline, including any catch-up extension. The historical gallery walk is optional; explain one sample problem directly when class time is limited.</a:t>
            </a:r>
          </a:p>
          <a:p>
            <a:r>
              <a:t/>
            </a:r>
          </a:p>
          <a:p>
            <a:r>
              <a:t>Continue to</a:t>
            </a:r>
          </a:p>
          <a:p>
            <a:r>
              <a:t>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Week 2</a:t>
            </a:r>
          </a:p>
          <a:p>
            <a:r>
              <a:t>CML3112, Week 1, slide 46</a:t>
            </a:r>
          </a:p>
          <a:p>
            <a:r>
              <a:t/>
            </a:r>
          </a:p>
          <a:p>
            <a:r>
              <a:t>Explanation to give</a:t>
            </a:r>
          </a:p>
          <a:p>
            <a:r>
              <a:t>Use this handover to state A1 clearly: three candidate problems and one justified selection, written as a short report.</a:t>
            </a:r>
          </a:p>
          <a:p>
            <a:r>
              <a:t/>
            </a:r>
          </a:p>
          <a:p>
            <a:r>
              <a:t>Worked illustration / lecturer answer</a:t>
            </a:r>
          </a:p>
          <a:p>
            <a:r>
              <a:t>Each problem identifies its inputs, target, possible data source and limitation. Submit one DOCX or selectable-text PDF through the A1 form. Account setup prepares for Week 2 and is separate from the report.</a:t>
            </a:r>
          </a:p>
          <a:p>
            <a:r>
              <a:t/>
            </a:r>
          </a:p>
          <a:p>
            <a:r>
              <a:t>Misconception to address</a:t>
            </a:r>
          </a:p>
          <a:p>
            <a:r>
              <a:t>Read the live deadline, including any catch-up extension. The historical gallery walk is optional; explain one sample problem directly when class time is limited.</a:t>
            </a:r>
          </a:p>
          <a:p>
            <a:r>
              <a:t/>
            </a:r>
          </a:p>
          <a:p>
            <a:r>
              <a:t>Continue to</a:t>
            </a:r>
          </a:p>
          <a:p>
            <a:r>
              <a:t>Watch this 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this before Week 2</a:t>
            </a:r>
          </a:p>
          <a:p>
            <a:r>
              <a:t>CML3112, Week 1, slide 47</a:t>
            </a:r>
          </a:p>
          <a:p>
            <a:r>
              <a:t/>
            </a:r>
          </a:p>
          <a:p>
            <a:r>
              <a:t>Explanation to give</a:t>
            </a:r>
          </a:p>
          <a:p>
            <a:r>
              <a:t>Give the viewing question before playing the excerpt: Explain the distinction or mechanism named on this video slide using one example from today.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Reference / existing resource</a:t>
            </a:r>
          </a:p>
          <a:p>
            <a:r>
              <a:t>https://www.youtube.com/watch?v=Gv9_4yMHFhI,</a:t>
            </a:r>
          </a:p>
          <a:p>
            <a:r>
              <a:t>https://www.youtube.com/watch?v=PeMlggyqz0Y</a:t>
            </a:r>
          </a:p>
          <a:p>
            <a:r>
              <a:t/>
            </a:r>
          </a:p>
          <a:p>
            <a:r>
              <a:t>Continue to</a:t>
            </a:r>
          </a:p>
          <a:p>
            <a:r>
              <a:t>Revision material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Revision material</a:t>
            </a:r>
          </a:p>
          <a:p>
            <a:r>
              <a:t>CML3112, Week 1, slide 48</a:t>
            </a:r>
          </a:p>
          <a:p>
            <a:r>
              <a:t/>
            </a:r>
          </a:p>
          <a:p>
            <a:r>
              <a:t>Explanation to give</a:t>
            </a:r>
          </a:p>
          <a:p>
            <a:r>
              <a:t>Orient students to this particular lesson: explain what they will see demonstrated, which file they will use and what they must retain for revision. Keep the transition short enough to preserve explanation time.</a:t>
            </a:r>
          </a:p>
          <a:p>
            <a:r>
              <a:t/>
            </a:r>
          </a:p>
          <a:p>
            <a:r>
              <a:t>Worked illustration / lecturer answer</a:t>
            </a:r>
          </a:p>
          <a:p>
            <a:r>
              <a:t>Open the next worked example on the projector and name its input and intended result. Demonstrate it yourself before asking students to interpret a result. Use remaining summary and glossary pages for independent revision.</a:t>
            </a:r>
          </a:p>
          <a:p>
            <a:r>
              <a:t/>
            </a:r>
          </a:p>
          <a:p>
            <a:r>
              <a:t>Misconception to address</a:t>
            </a:r>
          </a:p>
          <a:p>
            <a:r>
              <a:t>The historical slide's timed group activity is not a requirement to stop for partner work. Use a lecturer-led walkthrough in the current limited class time.</a:t>
            </a:r>
          </a:p>
          <a:p>
            <a:r>
              <a:t/>
            </a:r>
          </a:p>
          <a:p>
            <a:r>
              <a:t>Continue to</a:t>
            </a:r>
          </a:p>
          <a:p>
            <a:r>
              <a:t>What you should take away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you should take away</a:t>
            </a:r>
          </a:p>
          <a:p>
            <a:r>
              <a:t>CML3112, Week 1, slide 49</a:t>
            </a:r>
          </a:p>
          <a:p>
            <a:r>
              <a:t/>
            </a:r>
          </a:p>
          <a:p>
            <a:r>
              <a:t>Explanation to give</a:t>
            </a:r>
          </a:p>
          <a:p>
            <a:r>
              <a:t>Start with an engineering decision, then introduce learning from examples. No code is needed today.</a:t>
            </a:r>
          </a:p>
          <a:p>
            <a:r>
              <a:t/>
            </a:r>
          </a:p>
          <a:p>
            <a:r>
              <a:t>Worked illustration / lecturer answer</a:t>
            </a:r>
          </a:p>
          <a:p>
            <a:r>
              <a:t>A numerical quantity such as days until servicing is a regression target. A label such as service due is a classification target.</a:t>
            </a:r>
          </a:p>
          <a:p>
            <a:r>
              <a:t/>
            </a:r>
          </a:p>
          <a:p>
            <a:r>
              <a:t>Misconception to address</a:t>
            </a:r>
          </a:p>
          <a:p>
            <a:r>
              <a:t>Use the outcomes listed on this slide to check understanding through the small examples, rather than asking only whether everybody understands.</a:t>
            </a:r>
          </a:p>
          <a:p>
            <a:r>
              <a:t/>
            </a:r>
          </a:p>
          <a:p>
            <a:r>
              <a:t>Continue to</a:t>
            </a:r>
          </a:p>
          <a:p>
            <a:r>
              <a:t>Self-test — try these before you look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 try these before you look</a:t>
            </a:r>
          </a:p>
          <a:p>
            <a:r>
              <a:t>CML3112, Week 1, slide 50</a:t>
            </a:r>
          </a:p>
          <a:p>
            <a:r>
              <a:t/>
            </a:r>
          </a:p>
          <a:p>
            <a:r>
              <a:t>Explanation to give</a:t>
            </a:r>
          </a:p>
          <a:p>
            <a:r>
              <a:t>Explain each answer in relation to the question rather than giving only its letter or label.</a:t>
            </a:r>
          </a:p>
          <a:p>
            <a:r>
              <a:t/>
            </a:r>
          </a:p>
          <a:p>
            <a:r>
              <a:t>Worked illustration / lecturer answer</a:t>
            </a:r>
          </a:p>
          <a:p>
            <a:r>
              <a:t>ANSWERS</a:t>
            </a:r>
          </a:p>
          <a:p>
            <a:r>
              <a:t>How did you do?</a:t>
            </a:r>
          </a:p>
          <a:p>
            <a:r>
              <a:t>A</a:t>
            </a:r>
          </a:p>
          <a:p>
            <a:r>
              <a:t>Three questions before agreeing to 'use AI'?</a:t>
            </a:r>
          </a:p>
          <a:p>
            <a:r>
              <a:t>What value do you want to predict? Which recorded data can help? Is an established equation suitable? Resolve these questions before choosing a model.</a:t>
            </a:r>
          </a:p>
          <a:p>
            <a:r>
              <a:t>B</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C</a:t>
            </a:r>
          </a:p>
          <a:p>
            <a:r>
              <a:t>One of each from your discipline?</a:t>
            </a:r>
          </a:p>
          <a:p>
            <a:r>
              <a:t>Regression: any quantity with a unit — 28-day compressive strength in MPa. Classification: strength class: below 25 MPa, 25 to 40, above 40.</a:t>
            </a:r>
          </a:p>
          <a:p>
            <a:r>
              <a:t>D</a:t>
            </a:r>
          </a:p>
          <a:p>
            <a:r>
              <a:t>Why is a good fit on seen data not evidence?</a:t>
            </a:r>
          </a:p>
          <a:p>
            <a:r>
              <a:t>A model may memorise its training examples. Evaluate it on separate examples to check whether it predicts new cases well.</a:t>
            </a:r>
          </a:p>
          <a:p>
            <a:r>
              <a:t>E</a:t>
            </a:r>
          </a:p>
          <a:p>
            <a:r>
              <a:t>What else before acting?</a:t>
            </a:r>
          </a:p>
          <a:p>
            <a:r>
              <a:t>How large the error is in engineering terms and whether that is tolerable; what it costs when the model is wrong; and whether today's conditions still resemble the data it learned from.</a:t>
            </a:r>
          </a:p>
          <a:p>
            <a:r>
              <a:t/>
            </a:r>
          </a:p>
          <a:p>
            <a:r>
              <a:t>Misconception to address</a:t>
            </a:r>
          </a:p>
          <a:p>
            <a:r>
              <a:t>Use a short lecturer-led walkthrough or individual thought time. Do not require partner work to unlock the explanation.</a:t>
            </a:r>
          </a:p>
          <a:p>
            <a:r>
              <a:t/>
            </a:r>
          </a:p>
          <a:p>
            <a:r>
              <a:t>Continue to</a:t>
            </a:r>
          </a:p>
          <a:p>
            <a:r>
              <a:t>How did you do?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you do?</a:t>
            </a:r>
          </a:p>
          <a:p>
            <a:r>
              <a:t>CML3112, Week 1, slide 51</a:t>
            </a:r>
          </a:p>
          <a:p>
            <a:r>
              <a:t/>
            </a:r>
          </a:p>
          <a:p>
            <a:r>
              <a:t>Explanation to give</a:t>
            </a:r>
          </a:p>
          <a:p>
            <a:r>
              <a:t>For each answer on this slide, identify the deciding feature of the question: timing of the input, kind of target, run order or operation requested.</a:t>
            </a:r>
          </a:p>
          <a:p>
            <a:r>
              <a:t/>
            </a:r>
          </a:p>
          <a:p>
            <a:r>
              <a:t>Worked illustration / lecturer answer</a:t>
            </a:r>
          </a:p>
          <a:p>
            <a:r>
              <a:t>Three questions before agreeing to 'use AI'?</a:t>
            </a:r>
          </a:p>
          <a:p>
            <a:r>
              <a:t>What value do you want to predict? Which recorded data can help? Is an established equation suitable? Resolve these questions before choosing a model.</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One of each from your discipline?</a:t>
            </a:r>
          </a:p>
          <a:p>
            <a:r>
              <a:t>Regression: any quantity with a unit — 28-day compressive strength in MPa. Classification: strength class: below 25 MPa, 25 to 40, above 40.</a:t>
            </a:r>
          </a:p>
          <a:p>
            <a:r>
              <a:t>Why is a good fit on seen data not evidence?</a:t>
            </a:r>
          </a:p>
          <a:p>
            <a:r>
              <a:t>A model may memorise its training examples. Evaluate it on separate examples to check whether it predicts new cases well.</a:t>
            </a:r>
          </a:p>
          <a:p>
            <a:r>
              <a:t>What else before acting?</a:t>
            </a:r>
          </a:p>
          <a:p>
            <a:r>
              <a:t>How large the error is in engineering terms and whether that is tolerable; what it costs when the model is wrong; and whether today's conditions still resemble the data it learned from.</a:t>
            </a:r>
          </a:p>
          <a:p>
            <a:r>
              <a:t/>
            </a:r>
          </a:p>
          <a:p>
            <a:r>
              <a:t>Misconception to address</a:t>
            </a:r>
          </a:p>
          <a:p>
            <a:r>
              <a:t>If a student gives a different engineering example, check its reasoning and timing rather than requiring identical wording to the printed example.</a:t>
            </a:r>
          </a:p>
          <a:p>
            <a:r>
              <a:t/>
            </a:r>
          </a:p>
          <a:p>
            <a:r>
              <a:t>Continue to</a:t>
            </a:r>
          </a:p>
          <a:p>
            <a:r>
              <a:t>Every word we used today (1 of 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(3 of 3)</a:t>
            </a:r>
          </a:p>
          <a:p>
            <a:r>
              <a:t>CML3112, Week 1, slide 54</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Generalisation means working on relevant observations not used to learn the model. Overfitting captures training-specific detail; underfitting misses useful structure even in training.</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A very deep tree may memorise noisy training readings. A constant baseline may miss a clear trend. Compare training and validation errors to diagnose these possibilities.</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Eight questions to ask about any data problem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questions to ask about any data problem</a:t>
            </a:r>
          </a:p>
          <a:p>
            <a:r>
              <a:t>CML3112, Week 1, slide 55</a:t>
            </a:r>
          </a:p>
          <a:p>
            <a:r>
              <a:t/>
            </a:r>
          </a:p>
          <a:p>
            <a:r>
              <a:t>Explanation to give</a:t>
            </a:r>
          </a:p>
          <a:p>
            <a:r>
              <a:t>Start from a decision somebody needs to make. Name the answer required, the information available beforehand, where examples could come from and what a mistake would cost.</a:t>
            </a:r>
          </a:p>
          <a:p>
            <a:r>
              <a:t/>
            </a:r>
          </a:p>
          <a:p>
            <a:r>
              <a:t>Worked illustration / lecturer answer</a:t>
            </a:r>
          </a:p>
          <a:p>
            <a:r>
              <a:t>“Predict energy consumption for next week to plan a budget” names a target, horizon and decision. “Use AI in buildings” is too broad to determine data or success criteria.</a:t>
            </a:r>
          </a:p>
          <a:p>
            <a:r>
              <a:t/>
            </a:r>
          </a:p>
          <a:p>
            <a:r>
              <a:t>Misconception to address</a:t>
            </a:r>
          </a:p>
          <a:p>
            <a:r>
              <a:t>A proposed dataset is not automatically appropriate because its title sounds relevant. Check what one row means and when its fields become available.</a:t>
            </a:r>
          </a:p>
          <a:p>
            <a:r>
              <a:t/>
            </a:r>
          </a:p>
          <a:p>
            <a:r>
              <a:t>Continue to</a:t>
            </a:r>
          </a:p>
          <a:p>
            <a:r>
              <a:t>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questions,</a:t>
            </a:r>
          </a:p>
          <a:p>
            <a:r>
              <a:t>CML3112, Week 1, slide 56</a:t>
            </a:r>
          </a:p>
          <a:p>
            <a:r>
              <a:t/>
            </a:r>
          </a:p>
          <a:p>
            <a:r>
              <a:t>Explanation to give</a:t>
            </a:r>
          </a:p>
          <a:p>
            <a:r>
              <a:t>This is the CML3112 Week 1 quiz. The student link opens the response form; it does not activate its window. In Quiz Controls use open_W1_CML3112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Continue to</a:t>
            </a:r>
          </a:p>
          <a:p>
            <a:r>
              <a:t>You have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already done</a:t>
            </a:r>
          </a:p>
          <a:p>
            <a:r>
              <a:t>CML3112, Week 1, slide 57</a:t>
            </a:r>
          </a:p>
          <a:p>
            <a:r>
              <a:t/>
            </a:r>
          </a:p>
          <a:p>
            <a:r>
              <a:t>Explanation to give</a:t>
            </a:r>
          </a:p>
          <a:p>
            <a:r>
              <a:t>Translate each action into its technical name only after describing the action. Reading records is exploration, forming a relationship is fitting, applying it to a new case is prediction and comparing against truth is evaluation.</a:t>
            </a:r>
          </a:p>
          <a:p>
            <a:r>
              <a:t/>
            </a:r>
          </a:p>
          <a:p>
            <a:r>
              <a:t>Worked illustration / lecturer answer</a:t>
            </a:r>
          </a:p>
          <a:p>
            <a:r>
              <a:t>In the paper example, the twelve labelled rows teach the provisional rule. The held-out case checks that rule. Later Python code makes these same actions repeatable on more records.</a:t>
            </a:r>
          </a:p>
          <a:p>
            <a:r>
              <a:t/>
            </a:r>
          </a:p>
          <a:p>
            <a:r>
              <a:t>Misconception to address</a:t>
            </a:r>
          </a:p>
          <a:p>
            <a:r>
              <a:t>Finding a pattern in the training examples is not the final success criterion. Keep asking how the rule behaves on unseen, relevant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100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(1 of 3)</a:t>
            </a:r>
          </a:p>
          <a:p>
            <a:r>
              <a:t>CML3112, Week 1, slide 52</a:t>
            </a:r>
          </a:p>
          <a:p>
            <a:r>
              <a:t/>
            </a:r>
          </a:p>
          <a:p>
            <a:r>
              <a:t>Explanation to give</a:t>
            </a:r>
          </a:p>
          <a:p>
            <a:r>
              <a:t>Use the terminology to locate the course, not as vocabulary to memorise immediately. AI is the broad field; machine learning develops predictive rules from examples; deep learning is a family of machine-learning methods using neural networks.</a:t>
            </a:r>
          </a:p>
          <a:p>
            <a:r>
              <a:t/>
            </a:r>
          </a:p>
          <a:p>
            <a:r>
              <a:t>Contrast who supplies the decision rule. In conventional programming, the developer writes the rule. In supervised learning, the training examples contain inputs and known answers from which a fitting procedure estimates a rule.</a:t>
            </a:r>
          </a:p>
          <a:p>
            <a:r>
              <a:t/>
            </a:r>
          </a:p>
          <a:p>
            <a:r>
              <a:t>Data science includes finding and examining data, correcting documented defects, analysing patterns and communicating justified conclusions. A prediction model is one possible tool within that work.</a:t>
            </a:r>
          </a:p>
          <a:p>
            <a:r>
              <a:t/>
            </a:r>
          </a:p>
          <a:p>
            <a:r>
              <a:t>Worked illustration / lecturer answer</a:t>
            </a:r>
          </a:p>
          <a:p>
            <a:r>
              <a:t>A fixed threshold alarm follows an explicitly supplied rule. A fault classifier fitted from labelled historical readings learns a rule from data. Both may support an engineering system, but only the second learns from examples.</a:t>
            </a:r>
          </a:p>
          <a:p>
            <a:r>
              <a:t/>
            </a:r>
          </a:p>
          <a:p>
            <a:r>
              <a:t>If a verified formula calculates area from length and width, use it. If many interacting readings affect an outcome and suitable labelled examples exist, a learned predictor may be worth evaluating.</a:t>
            </a:r>
          </a:p>
          <a:p>
            <a:r>
              <a:t/>
            </a:r>
          </a:p>
          <a:p>
            <a:r>
              <a:t>Before predicting energy use, check whether meter readings use the same unit and time interval. Discovering that half the readings are missing is already a meaningful data finding.</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(2 of 3)</a:t>
            </a:r>
          </a:p>
        </p:txBody>
      </p:sp>
      <p:sp>
        <p:nvSpPr>
          <p:cNvPr id="4" name="Slide Number Placeholder 3"/>
          <p:cNvSpPr>
            <a:spLocks noGrp="1"/>
          </p:cNvSpPr>
          <p:nvPr>
            <p:ph type="sldNum" idx="5" sz="quarter"/>
          </p:nvPr>
        </p:nvSpPr>
        <p:spPr/>
      </p:sp>
    </p:spTree>
  </p:cSld>
  <p:clrMapOvr>
    <a:masterClrMapping/>
  </p:clrMapOvr>
</p:notes>
</file>

<file path=ppt/notesSlides/notesSlide100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word we used today (2 of 3)</a:t>
            </a:r>
          </a:p>
          <a:p>
            <a:r>
              <a:t>CML3112, Week 1, slide 53</a:t>
            </a:r>
          </a:p>
          <a:p>
            <a:r>
              <a:t/>
            </a:r>
          </a:p>
          <a:p>
            <a:r>
              <a:t>Explanation to give</a:t>
            </a:r>
          </a:p>
          <a:p>
            <a:r>
              <a:t>while tests a condition before each iteration. Unlike for over a fixed list, it needs a route that eventually makes the condition False. Trace both the test and the state update.</a:t>
            </a:r>
          </a:p>
          <a:p>
            <a:r>
              <a:t/>
            </a:r>
          </a:p>
          <a:p>
            <a:r>
              <a:t>Worked illustration / lecturer answer</a:t>
            </a:r>
          </a:p>
          <a:p>
            <a:r>
              <a:t>With count = 0 and while count &lt; 3, print then increment yields 0, 1 and 2. The next test sees count 3 and stops before printing it.</a:t>
            </a:r>
          </a:p>
          <a:p>
            <a:r>
              <a:t/>
            </a:r>
          </a:p>
          <a:p>
            <a:r>
              <a:t>Misconception to address</a:t>
            </a:r>
          </a:p>
          <a:p>
            <a:r>
              <a:t>Use this page for revision. Connect each word to the concrete example just taught; do not introduce all the definitions as new material in one block.</a:t>
            </a:r>
          </a:p>
          <a:p>
            <a:r>
              <a:t/>
            </a:r>
          </a:p>
          <a:p>
            <a:r>
              <a:t>Continue to</a:t>
            </a:r>
          </a:p>
          <a:p>
            <a:r>
              <a:t>Every word we used today (3 of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Design &amp; Infrastructure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Tue 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construction, structures, materials and building performance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4,000 past inspections, each with the measurements taken and what the engineer decided.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inspection records are missing, working out whether they are missing at random, and deciding what that does to your conclusion. No model involved.</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2.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cement content, water content and curing age are the features. 28-day compressive strength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Cement content is associated with strength; the model learns the association and knows nothing about hydration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Concrete Compressive Strength records, is 28-day compressive strength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The repair is recorded after the failure, so it is unavailable at prediction time. Including it would give misleading test results. This is data leakage.</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For a simply supported beam under a uniform load, the bending moment has an exact formula. Use it.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2.png"/>
          <p:cNvPicPr>
            <a:picLocks noChangeAspect="1"/>
          </p:cNvPicPr>
          <p:nvPr/>
        </p:nvPicPr>
        <p:blipFill>
          <a:blip r:embed="rId2"/>
          <a:stretch>
            <a:fillRect/>
          </a:stretch>
        </p:blipFill>
        <p:spPr>
          <a:xfrm>
            <a:off x="2894114" y="1911095"/>
            <a:ext cx="64034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show their inputs and measured outcomes. Case 13 shows only its inputs. Predict its outcome and write one sentence explaining your choice.</a:t>
            </a:r>
          </a:p>
        </p:txBody>
      </p:sp>
    </p:spTree>
  </p:cSld>
  <p:clrMapOvr>
    <a:masterClrMapping/>
  </p:clrMapOvr>
</p: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2.png"/>
          <p:cNvPicPr>
            <a:picLocks noChangeAspect="1"/>
          </p:cNvPicPr>
          <p:nvPr/>
        </p:nvPicPr>
        <p:blipFill>
          <a:blip r:embed="rId2"/>
          <a:stretch>
            <a:fillRect/>
          </a:stretch>
        </p:blipFill>
        <p:spPr>
          <a:xfrm>
            <a:off x="3005433" y="1911095"/>
            <a:ext cx="61808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Steps in a prediction task</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prediction with the measured value.</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a value for a case that was not used to find the pattern.</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measured the prediction error. Week 10 covers model evaluation.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2.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MPa? Classification: strength class: below 25 MPa, 25 to 40, above 40.</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site inspection records before about 2015 exist only on paper, in a box.</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colour of the site hoarding does not predict concrete strength. A model fed that column will still return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a simply supported beam under a uniform load, the bending moment has an exact formula. Use it.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quarry's aggregate may quietly stop working when the supplier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construction, structures, materials and building performance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Project teams of four or five</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Project roles: data analysis, modelling, engineering review, documentation and presentation. Rotate roles so each member practises different skills.</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each student answers two unseen questions about the team’s work. The answers contribute to individual assessment.</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Check for missing data, weak predictive patterns, better physical models and changes in operating conditions.</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prediction alone does not show that a model is useful. Check the data, errors and limits of the intended use.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28-day compressive strength to within a few MPa.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28-day compressive strength in MPa. Classification: strength class: below 25 MPa, 25 to 40, above 40.</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Artificial intelligence</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Any machine doing something we would call intelligent. A goal that many techniques aim at.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Machine learning</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Inferring a rule from examples instead of writing it yourself.</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Deep learning</a:t>
            </a:r>
          </a:p>
        </p:txBody>
      </p:sp>
      <p:sp>
        <p:nvSpPr>
          <p:cNvPr id="9" name="TextBox 8"/>
          <p:cNvSpPr txBox="1"/>
          <p:nvPr/>
        </p:nvSpPr>
        <p:spPr>
          <a:xfrm>
            <a:off x="685800" y="463502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Machine learning using large neural networks. Semester 2.</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science</a:t>
            </a:r>
          </a:p>
        </p:txBody>
      </p:sp>
      <p:sp>
        <p:nvSpPr>
          <p:cNvPr id="11" name="TextBox 10"/>
          <p:cNvSpPr txBox="1"/>
          <p:nvPr/>
        </p:nvSpPr>
        <p:spPr>
          <a:xfrm>
            <a:off x="685800" y="551754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craft of getting a trustworthy answer out of data — finding, cleaning, questioning, analysing, presenting.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Dataset</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table of past cases you can learn from.</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Example (or row, or observation)</a:t>
            </a:r>
          </a:p>
        </p:txBody>
      </p:sp>
      <p:sp>
        <p:nvSpPr>
          <p:cNvPr id="15" name="TextBox 14"/>
          <p:cNvSpPr txBox="1"/>
          <p:nvPr/>
        </p:nvSpPr>
        <p:spPr>
          <a:xfrm>
            <a:off x="6324447" y="3160824"/>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case: all its features plus its known outcome.</a:t>
            </a:r>
          </a:p>
        </p:txBody>
      </p:sp>
      <p:sp>
        <p:nvSpPr>
          <p:cNvPr id="16" name="TextBox 15"/>
          <p:cNvSpPr txBox="1"/>
          <p:nvPr/>
        </p:nvSpPr>
        <p:spPr>
          <a:xfrm>
            <a:off x="6324447" y="367612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Feature</a:t>
            </a:r>
          </a:p>
        </p:txBody>
      </p:sp>
      <p:sp>
        <p:nvSpPr>
          <p:cNvPr id="17" name="TextBox 16"/>
          <p:cNvSpPr txBox="1"/>
          <p:nvPr/>
        </p:nvSpPr>
        <p:spPr>
          <a:xfrm>
            <a:off x="6324447" y="404333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column known before the outcome. An input to the prediction.</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Target (or label)</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column you are trying to predict.</a:t>
            </a:r>
          </a:p>
        </p:txBody>
      </p:sp>
    </p:spTree>
  </p:cSld>
  <p:clrMapOvr>
    <a:masterClrMapping/>
  </p:clrMapOvr>
</p:sld>
</file>

<file path=ppt/slides/slide5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Regression</a:t>
            </a:r>
          </a:p>
        </p:txBody>
      </p:sp>
      <p:sp>
        <p:nvSpPr>
          <p:cNvPr id="5" name="TextBox 4"/>
          <p:cNvSpPr txBox="1"/>
          <p:nvPr/>
        </p:nvSpPr>
        <p:spPr>
          <a:xfrm>
            <a:off x="685800"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a number on a continuous scale.</a:t>
            </a:r>
          </a:p>
        </p:txBody>
      </p:sp>
      <p:sp>
        <p:nvSpPr>
          <p:cNvPr id="6" name="TextBox 5"/>
          <p:cNvSpPr txBox="1"/>
          <p:nvPr/>
        </p:nvSpPr>
        <p:spPr>
          <a:xfrm>
            <a:off x="685800"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Classification</a:t>
            </a:r>
          </a:p>
        </p:txBody>
      </p:sp>
      <p:sp>
        <p:nvSpPr>
          <p:cNvPr id="7" name="TextBox 6"/>
          <p:cNvSpPr txBox="1"/>
          <p:nvPr/>
        </p:nvSpPr>
        <p:spPr>
          <a:xfrm>
            <a:off x="685800"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which of a small set of categories a case belongs to.</a:t>
            </a:r>
          </a:p>
        </p:txBody>
      </p:sp>
      <p:sp>
        <p:nvSpPr>
          <p:cNvPr id="8" name="TextBox 7"/>
          <p:cNvSpPr txBox="1"/>
          <p:nvPr/>
        </p:nvSpPr>
        <p:spPr>
          <a:xfrm>
            <a:off x="685800"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Binary classification</a:t>
            </a:r>
          </a:p>
        </p:txBody>
      </p:sp>
      <p:sp>
        <p:nvSpPr>
          <p:cNvPr id="9" name="TextBox 8"/>
          <p:cNvSpPr txBox="1"/>
          <p:nvPr/>
        </p:nvSpPr>
        <p:spPr>
          <a:xfrm>
            <a:off x="685800"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exactly two categories, such as pass or fail.</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Multi-class classification</a:t>
            </a:r>
          </a:p>
        </p:txBody>
      </p:sp>
      <p:sp>
        <p:nvSpPr>
          <p:cNvPr id="11" name="TextBox 10"/>
          <p:cNvSpPr txBox="1"/>
          <p:nvPr/>
        </p:nvSpPr>
        <p:spPr>
          <a:xfrm>
            <a:off x="685800" y="551754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three or more categories.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Prediction</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model's answer for a case.</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Error</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Prediction error is the difference between the predicted and measured values.</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Unseen data</a:t>
            </a:r>
          </a:p>
        </p:txBody>
      </p:sp>
      <p:sp>
        <p:nvSpPr>
          <p:cNvPr id="17" name="TextBox 16"/>
          <p:cNvSpPr txBox="1"/>
          <p:nvPr/>
        </p:nvSpPr>
        <p:spPr>
          <a:xfrm>
            <a:off x="6324447"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Cases the model was not shown while it was learning. The only fair test.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Today you used twelve rows of data to make a prediction and measure its error. Later lessons use Python to repeat these calculations on larger datasets.</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Bring a laptop with a browser.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