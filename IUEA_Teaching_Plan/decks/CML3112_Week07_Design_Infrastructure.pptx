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610fe018584cf8" /><Relationship Type="http://schemas.openxmlformats.org/officeDocument/2006/relationships/extended-properties" Target="/docProps/app.xml" Id="R40d76174b5e14f04" /><Relationship Type="http://schemas.openxmlformats.org/officeDocument/2006/relationships/officeDocument" Target="/ppt/presentation.xml" Id="Rf90e7d09381e41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a90ae667be41b6"/>
  </p:sldMasterIdLst>
  <p:notesMasterIdLst>
    <p:notesMasterId xmlns:r="http://schemas.openxmlformats.org/officeDocument/2006/relationships" r:id="Rdfd8fab19465498c"/>
  </p:notesMasterIdLst>
  <p:sldIdLst>
    <p:sldId xmlns:r="http://schemas.openxmlformats.org/officeDocument/2006/relationships" id="256" r:id="R30cda3d1091d40d2"/>
    <p:sldId xmlns:r="http://schemas.openxmlformats.org/officeDocument/2006/relationships" id="257" r:id="Re8b7b00233ac452f"/>
    <p:sldId xmlns:r="http://schemas.openxmlformats.org/officeDocument/2006/relationships" id="258" r:id="Re47e4b4633194754"/>
    <p:sldId xmlns:r="http://schemas.openxmlformats.org/officeDocument/2006/relationships" id="259" r:id="Rb0ea510c9f6846f5"/>
    <p:sldId xmlns:r="http://schemas.openxmlformats.org/officeDocument/2006/relationships" id="260" r:id="R5959c63fb8f749ef"/>
    <p:sldId xmlns:r="http://schemas.openxmlformats.org/officeDocument/2006/relationships" id="261" r:id="R721fee18eef742b4"/>
    <p:sldId xmlns:r="http://schemas.openxmlformats.org/officeDocument/2006/relationships" id="262" r:id="Rf9ea0e972f64489c"/>
    <p:sldId xmlns:r="http://schemas.openxmlformats.org/officeDocument/2006/relationships" id="263" r:id="R164603cdc38148c3"/>
    <p:sldId xmlns:r="http://schemas.openxmlformats.org/officeDocument/2006/relationships" id="264" r:id="R51c208ad4ea8495d"/>
    <p:sldId xmlns:r="http://schemas.openxmlformats.org/officeDocument/2006/relationships" id="265" r:id="Rbf53f94cea2c4d61"/>
    <p:sldId xmlns:r="http://schemas.openxmlformats.org/officeDocument/2006/relationships" id="266" r:id="R225437f82b744005"/>
    <p:sldId xmlns:r="http://schemas.openxmlformats.org/officeDocument/2006/relationships" id="267" r:id="R4fb8605480e1495c"/>
    <p:sldId xmlns:r="http://schemas.openxmlformats.org/officeDocument/2006/relationships" id="268" r:id="Re673e36c4af24f9e"/>
    <p:sldId xmlns:r="http://schemas.openxmlformats.org/officeDocument/2006/relationships" id="269" r:id="R4f6fe54c0f974aa3"/>
    <p:sldId xmlns:r="http://schemas.openxmlformats.org/officeDocument/2006/relationships" id="270" r:id="R4543056881cf4b2e"/>
    <p:sldId xmlns:r="http://schemas.openxmlformats.org/officeDocument/2006/relationships" id="271" r:id="R2431789194b04ab3"/>
    <p:sldId xmlns:r="http://schemas.openxmlformats.org/officeDocument/2006/relationships" id="272" r:id="R5b5e024081594756"/>
    <p:sldId xmlns:r="http://schemas.openxmlformats.org/officeDocument/2006/relationships" id="273" r:id="R46029c4c1232461c"/>
    <p:sldId xmlns:r="http://schemas.openxmlformats.org/officeDocument/2006/relationships" id="274" r:id="Rd38bc9decfd9486e"/>
    <p:sldId xmlns:r="http://schemas.openxmlformats.org/officeDocument/2006/relationships" id="275" r:id="R0490712707b14bbc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87beb686264c87" /><Relationship Type="http://schemas.openxmlformats.org/officeDocument/2006/relationships/slideMaster" Target="/ppt/slideMasters/slideMaster1.xml" Id="R21a90ae667be41b6" /><Relationship Type="http://schemas.openxmlformats.org/officeDocument/2006/relationships/notesMaster" Target="/ppt/notesMasters/notesMaster1.xml" Id="Rdfd8fab19465498c" /><Relationship Type="http://schemas.openxmlformats.org/officeDocument/2006/relationships/presProps" Target="/ppt/presProps.xml" Id="R20d893a39f8242a9" /><Relationship Type="http://schemas.openxmlformats.org/officeDocument/2006/relationships/tableStyles" Target="/ppt/tableStyles.xml" Id="R92611ee5f8044af6" /><Relationship Type="http://schemas.openxmlformats.org/officeDocument/2006/relationships/slide" Target="/ppt/slides/slide1.xml" Id="R30cda3d1091d40d2" /><Relationship Type="http://schemas.openxmlformats.org/officeDocument/2006/relationships/slide" Target="/ppt/slides/slide2.xml" Id="Re8b7b00233ac452f" /><Relationship Type="http://schemas.openxmlformats.org/officeDocument/2006/relationships/slide" Target="/ppt/slides/slide3.xml" Id="Re47e4b4633194754" /><Relationship Type="http://schemas.openxmlformats.org/officeDocument/2006/relationships/slide" Target="/ppt/slides/slide4.xml" Id="Rb0ea510c9f6846f5" /><Relationship Type="http://schemas.openxmlformats.org/officeDocument/2006/relationships/slide" Target="/ppt/slides/slide5.xml" Id="R5959c63fb8f749ef" /><Relationship Type="http://schemas.openxmlformats.org/officeDocument/2006/relationships/slide" Target="/ppt/slides/slide6.xml" Id="R721fee18eef742b4" /><Relationship Type="http://schemas.openxmlformats.org/officeDocument/2006/relationships/slide" Target="/ppt/slides/slide7.xml" Id="Rf9ea0e972f64489c" /><Relationship Type="http://schemas.openxmlformats.org/officeDocument/2006/relationships/slide" Target="/ppt/slides/slide8.xml" Id="R164603cdc38148c3" /><Relationship Type="http://schemas.openxmlformats.org/officeDocument/2006/relationships/slide" Target="/ppt/slides/slide9.xml" Id="R51c208ad4ea8495d" /><Relationship Type="http://schemas.openxmlformats.org/officeDocument/2006/relationships/slide" Target="/ppt/slides/slide10.xml" Id="Rbf53f94cea2c4d61" /><Relationship Type="http://schemas.openxmlformats.org/officeDocument/2006/relationships/slide" Target="/ppt/slides/slide11.xml" Id="R225437f82b744005" /><Relationship Type="http://schemas.openxmlformats.org/officeDocument/2006/relationships/slide" Target="/ppt/slides/slide12.xml" Id="R4fb8605480e1495c" /><Relationship Type="http://schemas.openxmlformats.org/officeDocument/2006/relationships/slide" Target="/ppt/slides/slide13.xml" Id="Re673e36c4af24f9e" /><Relationship Type="http://schemas.openxmlformats.org/officeDocument/2006/relationships/slide" Target="/ppt/slides/slide14.xml" Id="R4f6fe54c0f974aa3" /><Relationship Type="http://schemas.openxmlformats.org/officeDocument/2006/relationships/slide" Target="/ppt/slides/slide15.xml" Id="R4543056881cf4b2e" /><Relationship Type="http://schemas.openxmlformats.org/officeDocument/2006/relationships/slide" Target="/ppt/slides/slide16.xml" Id="R2431789194b04ab3" /><Relationship Type="http://schemas.openxmlformats.org/officeDocument/2006/relationships/slide" Target="/ppt/slides/slide17.xml" Id="R5b5e024081594756" /><Relationship Type="http://schemas.openxmlformats.org/officeDocument/2006/relationships/slide" Target="/ppt/slides/slide18.xml" Id="R46029c4c1232461c" /><Relationship Type="http://schemas.openxmlformats.org/officeDocument/2006/relationships/slide" Target="/ppt/slides/slide19.xml" Id="Rd38bc9decfd9486e" /><Relationship Type="http://schemas.openxmlformats.org/officeDocument/2006/relationships/slide" Target="/ppt/slides/slide20.xml" Id="R0490712707b14b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c716cd847c43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5f8d8702794850" /><Relationship Type="http://schemas.openxmlformats.org/officeDocument/2006/relationships/notesMaster" Target="/ppt/notesMasters/notesMaster1.xml" Id="R314778154fda4d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4ab31735c641bc" /><Relationship Type="http://schemas.openxmlformats.org/officeDocument/2006/relationships/notesMaster" Target="/ppt/notesMasters/notesMaster1.xml" Id="R2763054fc2f843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cac8669b9f46b1" /><Relationship Type="http://schemas.openxmlformats.org/officeDocument/2006/relationships/notesMaster" Target="/ppt/notesMasters/notesMaster1.xml" Id="Rb09a33fe742544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1077b6b8e8470e" /><Relationship Type="http://schemas.openxmlformats.org/officeDocument/2006/relationships/notesMaster" Target="/ppt/notesMasters/notesMaster1.xml" Id="R14bb7434146949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19cf01599e4685" /><Relationship Type="http://schemas.openxmlformats.org/officeDocument/2006/relationships/notesMaster" Target="/ppt/notesMasters/notesMaster1.xml" Id="Rf676f417d3a346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6d268fb9214070" /><Relationship Type="http://schemas.openxmlformats.org/officeDocument/2006/relationships/notesMaster" Target="/ppt/notesMasters/notesMaster1.xml" Id="R1096150c530c40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d0913d56be4961" /><Relationship Type="http://schemas.openxmlformats.org/officeDocument/2006/relationships/notesMaster" Target="/ppt/notesMasters/notesMaster1.xml" Id="Rbee25852534046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834f13793b465e" /><Relationship Type="http://schemas.openxmlformats.org/officeDocument/2006/relationships/notesMaster" Target="/ppt/notesMasters/notesMaster1.xml" Id="Rcadb9f6f601e4f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1faf9e41ca4172" /><Relationship Type="http://schemas.openxmlformats.org/officeDocument/2006/relationships/notesMaster" Target="/ppt/notesMasters/notesMaster1.xml" Id="Re6232adae1f046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5ab755ce9284dec" /><Relationship Type="http://schemas.openxmlformats.org/officeDocument/2006/relationships/notesMaster" Target="/ppt/notesMasters/notesMaster1.xml" Id="Rcdd268f89302483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5c5b7b64ac3426e" /><Relationship Type="http://schemas.openxmlformats.org/officeDocument/2006/relationships/notesMaster" Target="/ppt/notesMasters/notesMaster1.xml" Id="R4efbbc5f908a4b0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16cb336666e4cf9" /><Relationship Type="http://schemas.openxmlformats.org/officeDocument/2006/relationships/notesMaster" Target="/ppt/notesMasters/notesMaster1.xml" Id="R753457b1e6a1452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4bb5c0508424584" /><Relationship Type="http://schemas.openxmlformats.org/officeDocument/2006/relationships/notesMaster" Target="/ppt/notesMasters/notesMaster1.xml" Id="R8aaecc05da924e1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61737f7dff7445c" /><Relationship Type="http://schemas.openxmlformats.org/officeDocument/2006/relationships/notesMaster" Target="/ppt/notesMasters/notesMaster1.xml" Id="R1401b469105c4f6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91ff522b0ce4773" /><Relationship Type="http://schemas.openxmlformats.org/officeDocument/2006/relationships/notesMaster" Target="/ppt/notesMasters/notesMaster1.xml" Id="R00e2e40e357e480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a27b1a67b9e4919" /><Relationship Type="http://schemas.openxmlformats.org/officeDocument/2006/relationships/notesMaster" Target="/ppt/notesMasters/notesMaster1.xml" Id="R7700587d31dc467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066d1056c904bd0" /><Relationship Type="http://schemas.openxmlformats.org/officeDocument/2006/relationships/notesMaster" Target="/ppt/notesMasters/notesMaster1.xml" Id="R184329871fd6438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08fc091113842d3" /><Relationship Type="http://schemas.openxmlformats.org/officeDocument/2006/relationships/notesMaster" Target="/ppt/notesMasters/notesMaster1.xml" Id="Re807d942749e4d6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f9de10b0bb54118" /><Relationship Type="http://schemas.openxmlformats.org/officeDocument/2006/relationships/notesMaster" Target="/ppt/notesMasters/notesMaster1.xml" Id="R5e0ba2b6da2c48c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f79e4c0a3de4fd7" /><Relationship Type="http://schemas.openxmlformats.org/officeDocument/2006/relationships/notesMaster" Target="/ppt/notesMasters/notesMaster1.xml" Id="R085e725912244c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Preparing for Practical Test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the preceding week.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Civil Engineering and Architecture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Today’s learning.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Today’s learning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Preparing for Practical Test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Rehearse saving and reopening the required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 the published test rules before the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Connection to the previous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Connection to the previous lesson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Today’s learning.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Can you open the provided notebook and data on the prepared lab computer without internet?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Rehearse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Rehearse before test day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Connection to the previous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Use the separate practice notebook before the timed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 the supplied data and run a familiar calculation.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test packet and permitted resources are issued by the lecturer.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Save the complete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Save the complete notebook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Rehearse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Type Part B under My written evidence in the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Locate the complete notebook in the designated local folder.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Reopen it to check that code and written answers were saved.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Follow the published test procedure.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Follow the published test procedure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Save the complete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Read the briefing before starting assessed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Use only the resources permitted for that part of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Report a technical failure to the invigilator immediately.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Practice before test day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Follow the published test procedure.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Read the code in this order:</a:t>
            </a:r>
          </a:p>
          <a:p xmlns:a="http://schemas.openxmlformats.org/drawingml/2006/main">
            <a:r>
              <a:t>values = [3, 5, 7]</a:t>
            </a:r>
          </a:p>
          <a:p xmlns:a="http://schemas.openxmlformats.org/drawingml/2006/main">
            <a:r>
              <a:t>print(len(values))</a:t>
            </a:r>
          </a:p>
          <a:p xmlns:a="http://schemas.openxmlformats.org/drawingml/2006/main">
            <a:r>
              <a:t>print(sum(values) / len(values))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print displays a value below the cell.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Square brackets create a list or select an item.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= assigns the value on the right to the name on the left.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 top to bottom. Run the complete example in the matching practice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Test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Test session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00–15 minutes: briefing and file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15–135 minutes: individual practical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135–160 minutes: typed offline reasoning, with code execution prohibited.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160–180 minutes: save and hand in through invigilated offline collection.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Preparation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Preparation checkpoint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Test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Every learner completes the offline save-and-reopen rehearsal.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Escalate lab-access failures before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Your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Your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Preparation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Use the official TEST1 brief, interfaces and rubric.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assessed period has 120 practical minutes and 25 typed reasoning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Your lecturer will issue the test packet and collection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Your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Write your own explanation in the markdown cell headed `## My written evidence`.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that heading.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Task prompts and code comments are excluded from reasoning marks.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Complete every original rubric criterion below, not just the checked functions.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Include profiling, justified cleaning, question-led charts and your engineering recommendation where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raw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State units and distinguish correlation from causation.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Charts must be actual labelled figures in the notebook, not claims that charts exist.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Include captions and readable written evidence in the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Loading &amp; profiling (15.0 total): Data loaded correctly; shape, types and summary produced; the dataset is described accurately in the student's own words.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Cleaning decisions &amp; justification (20.0 total): Defects found.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handling decision stated AND justified.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Marks are for the justification - an unjustified correct fix scores roughly half.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Visualisation (20.0 total): Three charts, each captioned with the question it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Correct chart type.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Axes labelled with units.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No decoration without purpose.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Findings (20.0 total): Five findings, supported by evidence from the data, stated with correct magnitudes and units.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wrong number loses the mark even if the method was right.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Engineering interpretation (15.0 total): One recommendation that an engineer could act on, plus a clear statement of what further data would be needed.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Clarity &amp; reproducibility (10.0 total): Notebook runs top to bottom.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Logical order.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Markdown explains intent.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dead code.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Timing and Part 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 minutes setup, 120 minutes practical, 25 minutes typed offline reasoning with code execution prohibited, 20 minutes collection.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internet, messaging or AI.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Answer: Why your main cleaning/model choice?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What can your chart/metric not establish?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evidence would change your recommendation?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further data is required?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Invigilated offline collection is authoritative; Google upload is a later transport step and must not impose an internet requirement during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submission.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submission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Offline invigilated collection is authoritative.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Google upload is a later transport step.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Save one notebook with Part B under My written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internet, messaging or AI during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Before you leave.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Revision and submission checklist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submission.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You can reopen your notebook and find code and typed reasoning without help.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Save your work and check the required submission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independent revision and the issued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ba6e984f3240d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22be5a57c9441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2919d9d7ca48a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763b1036d94b2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4215230bb9491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7e7358809745c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F69D51D-36B0-4C17-A579-27A5DE93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055" y="22098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E5AAA0C-F952-42FF-8F16-150359ECB7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170" y="2590800"/>
            <a:ext cx="9753356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CF885308-8DF6-4334-ABEB-73C1BC5AA24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754" y="3771900"/>
            <a:ext cx="8534187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0977C6F-F794-4B13-A963-58E5BF43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055" y="24765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EF4B5D6-993A-4163-A2E4-A4E81A5761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170" y="2857500"/>
            <a:ext cx="9753356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A8E2BE0C-BD5A-4BFA-9209-0CC3732F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83" y="15240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C524D6B-080A-4EEE-BCB1-EEA9075A89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83" y="533400"/>
            <a:ext cx="1082012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F891C121-1D04-46FB-99FA-DA34251209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783" y="1905000"/>
            <a:ext cx="10820129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72FE7E0-8E97-40A4-B8C1-82DEAD6F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83" y="15240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A90D77E-5860-42BB-9461-F652795409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83" y="533400"/>
            <a:ext cx="1082012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4FF72B0-C9D2-4AFF-AD9F-38EA340D89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783" y="1905000"/>
            <a:ext cx="5029074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ED0B530-54B7-48CB-86E7-789F1B455D3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6838" y="1905000"/>
            <a:ext cx="5029074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EE2D003-F3FA-47C4-A81A-65DCD6D0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83" y="15240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557BBEB-07B7-4146-A423-7C67FF0A58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83" y="533400"/>
            <a:ext cx="1082012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1082C15-743B-4900-928F-7B95E21761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783" y="1905000"/>
            <a:ext cx="5029074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65196ec14441f0" /><Relationship Type="http://schemas.openxmlformats.org/officeDocument/2006/relationships/slideLayout" Target="/ppt/slideLayouts/slideLayout1.xml" Id="Rf3b4a5879fed4271" /><Relationship Type="http://schemas.openxmlformats.org/officeDocument/2006/relationships/slideLayout" Target="/ppt/slideLayouts/slideLayout2.xml" Id="Rafd7d0974a8148ac" /><Relationship Type="http://schemas.openxmlformats.org/officeDocument/2006/relationships/slideLayout" Target="/ppt/slideLayouts/slideLayout3.xml" Id="Rf74b52f7d9654387" /><Relationship Type="http://schemas.openxmlformats.org/officeDocument/2006/relationships/slideLayout" Target="/ppt/slideLayouts/slideLayout4.xml" Id="R7dc9c79d54bd463b" /><Relationship Type="http://schemas.openxmlformats.org/officeDocument/2006/relationships/slideLayout" Target="/ppt/slideLayouts/slideLayout5.xml" Id="Rcfc25ecabaf74be5" /><Relationship Type="http://schemas.openxmlformats.org/officeDocument/2006/relationships/slideLayout" Target="/ppt/slideLayouts/slideLayout6.xml" Id="Rb4ba8062c6aa4a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b4a5879fed4271"/>
    <p:sldLayoutId xmlns:r="http://schemas.openxmlformats.org/officeDocument/2006/relationships" id="2147483650" r:id="Rafd7d0974a8148ac"/>
    <p:sldLayoutId xmlns:r="http://schemas.openxmlformats.org/officeDocument/2006/relationships" id="2147483651" r:id="Rf74b52f7d9654387"/>
    <p:sldLayoutId xmlns:r="http://schemas.openxmlformats.org/officeDocument/2006/relationships" id="2147483652" r:id="R7dc9c79d54bd463b"/>
    <p:sldLayoutId xmlns:r="http://schemas.openxmlformats.org/officeDocument/2006/relationships" id="2147483653" r:id="Rcfc25ecabaf74be5"/>
    <p:sldLayoutId xmlns:r="http://schemas.openxmlformats.org/officeDocument/2006/relationships" id="2147483654" r:id="Rb4ba8062c6aa4a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529718ecee4f87" /><Relationship Type="http://schemas.openxmlformats.org/officeDocument/2006/relationships/image" Target="/ppt/media/image.png" Id="R48a6127ffe424450" /><Relationship Type="http://schemas.openxmlformats.org/officeDocument/2006/relationships/notesSlide" Target="/ppt/notesSlides/notesSlide1.xml" Id="Re4718764511241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48e82b239d48c4" /><Relationship Type="http://schemas.openxmlformats.org/officeDocument/2006/relationships/notesSlide" Target="/ppt/notesSlides/notesSlide2.xml" Id="Rb24e72647ff341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ac9fc2ed454d67" /><Relationship Type="http://schemas.openxmlformats.org/officeDocument/2006/relationships/notesSlide" Target="/ppt/notesSlides/notesSlide3.xml" Id="R6cfabc3ae14841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8eadbf5ca04509" /><Relationship Type="http://schemas.openxmlformats.org/officeDocument/2006/relationships/notesSlide" Target="/ppt/notesSlides/notesSlide4.xml" Id="R766332d4b2d947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c79074c28046e6" /><Relationship Type="http://schemas.openxmlformats.org/officeDocument/2006/relationships/notesSlide" Target="/ppt/notesSlides/notesSlide5.xml" Id="Rd968c25717bf44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a12bbe35ae40c2" /><Relationship Type="http://schemas.openxmlformats.org/officeDocument/2006/relationships/notesSlide" Target="/ppt/notesSlides/notesSlide6.xml" Id="R1ba6731d18c241a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5914ddca45446d" /><Relationship Type="http://schemas.openxmlformats.org/officeDocument/2006/relationships/notesSlide" Target="/ppt/notesSlides/notesSlide7.xml" Id="R13fdfb118fb5410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38d5ea1a364d26" /><Relationship Type="http://schemas.openxmlformats.org/officeDocument/2006/relationships/notesSlide" Target="/ppt/notesSlides/notesSlide8.xml" Id="Rfd6136ed8de64f7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86bd4a8a8a4f80" /><Relationship Type="http://schemas.openxmlformats.org/officeDocument/2006/relationships/notesSlide" Target="/ppt/notesSlides/notesSlide9.xml" Id="R0c924b3ff41a480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aac68df78e46d6" /><Relationship Type="http://schemas.openxmlformats.org/officeDocument/2006/relationships/notesSlide" Target="/ppt/notesSlides/notesSlide10.xml" Id="R33b932482a2143b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ce024318ce4f61" /><Relationship Type="http://schemas.openxmlformats.org/officeDocument/2006/relationships/notesSlide" Target="/ppt/notesSlides/notesSlide11.xml" Id="R07fd89330c0a4af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4b800dbb4a450d" /><Relationship Type="http://schemas.openxmlformats.org/officeDocument/2006/relationships/notesSlide" Target="/ppt/notesSlides/notesSlide12.xml" Id="R73a92dae0eef473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02d2bab68c42e5" /><Relationship Type="http://schemas.openxmlformats.org/officeDocument/2006/relationships/notesSlide" Target="/ppt/notesSlides/notesSlide13.xml" Id="Rbafb9fda72e54a3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82213df3554997" /><Relationship Type="http://schemas.openxmlformats.org/officeDocument/2006/relationships/notesSlide" Target="/ppt/notesSlides/notesSlide14.xml" Id="Rcfd57cf9b8954e7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f3279bb2864c22" /><Relationship Type="http://schemas.openxmlformats.org/officeDocument/2006/relationships/notesSlide" Target="/ppt/notesSlides/notesSlide15.xml" Id="Re31dd7d214dd4be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f1196887694c21" /><Relationship Type="http://schemas.openxmlformats.org/officeDocument/2006/relationships/notesSlide" Target="/ppt/notesSlides/notesSlide16.xml" Id="R12470cb980ec4cc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2b04e99e7c4cae" /><Relationship Type="http://schemas.openxmlformats.org/officeDocument/2006/relationships/notesSlide" Target="/ppt/notesSlides/notesSlide17.xml" Id="Rec771fb05f3f4b8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557701f9654db3" /><Relationship Type="http://schemas.openxmlformats.org/officeDocument/2006/relationships/notesSlide" Target="/ppt/notesSlides/notesSlide18.xml" Id="R6bc1555d848a4ab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1e451965984b84" /><Relationship Type="http://schemas.openxmlformats.org/officeDocument/2006/relationships/hyperlink" Target="https://docs.google.com/forms/d/e/1FAIpQLSdwcNAD9gGSz-hXLmHPO8nS3WIfg72BcsKW7IrwpvtakiJrIA/viewform" TargetMode="External" Id="R39bdea0280c0498d" /><Relationship Type="http://schemas.openxmlformats.org/officeDocument/2006/relationships/notesSlide" Target="/ppt/notesSlides/notesSlide19.xml" Id="R064c622477724bb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a468d4bcd647f7" /><Relationship Type="http://schemas.openxmlformats.org/officeDocument/2006/relationships/notesSlide" Target="/ppt/notesSlides/notesSlide20.xml" Id="R73e40853dd2f41d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a6127ffe424450"/>
          <a:stretch xmlns:a="http://schemas.openxmlformats.org/drawingml/2006/main"/>
        </p:blipFill>
        <p:spPr>
          <a:xfrm xmlns:a="http://schemas.openxmlformats.org/drawingml/2006/main">
            <a:off x="3087" y="0"/>
            <a:ext cx="12185522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621254-24AC-4660-88BA-C5B1F555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81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39BB45-51F7-40E4-A127-B0F6D83B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CML3112   WEEK 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078975-B048-4A5C-9C3D-DEA4D06C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46196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8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Preparing for Practical Test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B03E57-83ED-4A31-9FE7-54167B7E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48125"/>
            <a:ext cx="46196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8E3EC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8E3EC"/>
                </a:solidFill>
                <a:latin typeface="Calibri"/>
                <a:ea typeface="Calibri"/>
                <a:cs typeface="Calibri"/>
              </a:rPr>
              <a:t>Civil Engineering and 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3A8FA6-8F02-4BFB-A03E-9EE81811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4667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8E3EC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8E3EC"/>
                </a:solidFill>
                <a:latin typeface="Calibri"/>
                <a:ea typeface="Calibri"/>
                <a:cs typeface="Calibri"/>
              </a:rPr>
              <a:t>Tuesday 20 October 2026</a:t>
            </a:r>
          </a:p>
          <a:p xmlns:a="http://schemas.openxmlformats.org/drawingml/2006/main">
            <a:pPr>
              <a:defRPr sz="1725" b="0">
                <a:solidFill>
                  <a:srgbClr val="D8E3EC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8E3EC"/>
                </a:solidFill>
                <a:latin typeface="Calibri"/>
                <a:ea typeface="Calibri"/>
                <a:cs typeface="Calibri"/>
              </a:rPr>
              <a:t>Tuesday 11:00–14:00, Room 106</a:t>
            </a:r>
          </a:p>
        </p:txBody>
      </p:sp>
    </p:spTree>
    <p:extLst>
      <p:ext uri="{BB962C8B-B14F-4D97-AF65-F5344CB8AC3E}">
        <p14:creationId xmlns:p14="http://schemas.microsoft.com/office/powerpoint/2010/main" val="18830130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739236-55CF-476D-B127-5EDEB513E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9A423A-21F2-4502-A7C7-467253CB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TODAY’S DESTINATION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757CD0-B562-4525-BC32-292F3B71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Today’s learning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D8B24-784A-4629-8FFA-94AC35B6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33550"/>
            <a:ext cx="523875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007FB9-35A1-41E5-8ADE-A134B9A3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000250"/>
            <a:ext cx="4743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WHAT WE WILL 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51C6E8-2073-4856-9798-1134D8EF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90800"/>
            <a:ext cx="47434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Rehearse saving and reopening the required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Check the published test rules before the session.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E5EAC-68E1-4959-9B5A-6A9F077C8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E7D6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2E7D6F"/>
                </a:solidFill>
                <a:latin typeface="Calibri"/>
                <a:ea typeface="Calibri"/>
                <a:cs typeface="Calibri"/>
              </a:rPr>
              <a:t>HOW YOU WILL SHOW 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14D200-9B71-4555-BE20-038B715D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50958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You can reopen your notebook and find code and typed reasoning without help.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E30FD4-6CD9-4999-9A52-0BEF8161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2</a:t>
            </a:r>
          </a:p>
        </p:txBody>
      </p:sp>
    </p:spTree>
    <p:extLst>
      <p:ext uri="{BB962C8B-B14F-4D97-AF65-F5344CB8AC3E}">
        <p14:creationId xmlns:p14="http://schemas.microsoft.com/office/powerpoint/2010/main" val="14205835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0C0E28-2F87-477C-8942-163E0A57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BB94A9-3BB8-470D-BC64-E67425FB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AABD29-90EB-4924-9409-6F4DB6CE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Connection to the previous lesson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BCDC30-EB83-4D6F-B8EC-07B8176E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11010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F06354-FAC0-42C8-8039-4C75EB78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0334625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Can you open the provided notebook and data on the prepared lab computer without internet?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AEE693-264D-4DB0-8C53-D8CEF55C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3</a:t>
            </a:r>
          </a:p>
        </p:txBody>
      </p:sp>
    </p:spTree>
    <p:extLst>
      <p:ext uri="{BB962C8B-B14F-4D97-AF65-F5344CB8AC3E}">
        <p14:creationId xmlns:p14="http://schemas.microsoft.com/office/powerpoint/2010/main" val="9365390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2C54CD-82A0-4A6A-BC1A-F17BC238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5EC6A0-A55A-4E99-81A7-190FFC72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4B8E8C-2E38-4884-98B8-18DC1E936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Rehearse before test 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28E85D-40B6-41A8-8B03-D9CF9DA0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9BD30B-1515-4819-9644-A58A9DA4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Use the separate practice notebook before the timed session.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695A03-F1AF-4328-A39F-0310FE71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8EE2A8-F660-4B7B-9D32-27A2192A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99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Open the supplied data and run a familiar calculation.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1D9201-7698-434C-A147-BAD16049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E5C617-EFFB-4374-B8B1-D23E5BCD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86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The test packet and permitted resources are issued by the lecturer.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5CC494-6E0C-46CF-A64F-0F508F79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4</a:t>
            </a:r>
          </a:p>
        </p:txBody>
      </p:sp>
    </p:spTree>
    <p:extLst>
      <p:ext uri="{BB962C8B-B14F-4D97-AF65-F5344CB8AC3E}">
        <p14:creationId xmlns:p14="http://schemas.microsoft.com/office/powerpoint/2010/main" val="19503356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692B64-C2FD-4A47-AB5B-AFA2DE62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AF3C9-F9E6-454A-A9B4-B08CD038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0FD3B1-E890-4876-A9E5-018B073C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Save the complete notebook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A9DEC9-FE9B-44E2-96AB-B5C0E7EB0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F17E3-0084-4942-A157-73A6A7B1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Type Part B under My written evidence in the notebook.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F1B7D4-024A-40E1-8F58-FA1850FD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900048-689A-4D19-A8C1-690CB3BE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99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Locate the complete notebook in the designated local folder.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BD7357-8BA9-4463-BCD0-624AB3E9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3005D-CBF5-4305-9609-8264536B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86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Reopen it to check that code and written answers were saved.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26614-99F9-422E-8A10-60C2D34E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5</a:t>
            </a:r>
          </a:p>
        </p:txBody>
      </p:sp>
    </p:spTree>
    <p:extLst>
      <p:ext uri="{BB962C8B-B14F-4D97-AF65-F5344CB8AC3E}">
        <p14:creationId xmlns:p14="http://schemas.microsoft.com/office/powerpoint/2010/main" val="4579900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A9F2C2-ACB0-4131-8DA3-3B6D27B4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8CC06F-F987-464E-8FF1-71D74D03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15C8FD-4335-4A81-BD82-3B80E78C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Follow the published test procedure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E465C-06D1-4922-BD55-661C5370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FDFD4F-8C45-4145-8AD2-85988735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Read the briefing before starting assessed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1FB5A0-A0C5-43C9-85A1-81D50514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46FE77-8297-4DB5-9B66-005AB7A0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99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Use only the resources permitted for that part of the test.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F7C990-6E80-4674-A14E-3576CDEB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1E96B6-2363-471D-A50F-436FA521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86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Report a technical failure to the invigilator immediately.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91A987-F018-4131-AFA6-0A3130A3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6</a:t>
            </a:r>
          </a:p>
        </p:txBody>
      </p:sp>
    </p:spTree>
    <p:extLst>
      <p:ext uri="{BB962C8B-B14F-4D97-AF65-F5344CB8AC3E}">
        <p14:creationId xmlns:p14="http://schemas.microsoft.com/office/powerpoint/2010/main" val="2023925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9B2E3A-38EC-47DF-A87A-53689171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5ACB9E-E97F-4EF6-81D7-1F2F7791D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WORKED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2BBB1-5632-4A28-8E45-F641EA12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Practice before test 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43F7D-9F33-4F70-BCE8-5BC47CF45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7296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7183C4-512E-4C83-A3FA-55D92D40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69913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values = [3, 5, 7]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print(len(values))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print(sum(values) / len(values))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0FC6B2-8D4C-43D3-AAA7-9728D311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145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E7D6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2E7D6F"/>
                </a:solidFill>
                <a:latin typeface="Calibri"/>
                <a:ea typeface="Calibri"/>
                <a:cs typeface="Calibri"/>
              </a:rPr>
              <a:t>HOW TO READ 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F4C65B-D6EF-44CD-833B-899A84D0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09800"/>
            <a:ext cx="3333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print displays a value below the cell.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0DA7CF-061D-48E3-AB26-8850DEAC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3333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Square brackets create a list or select an item.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2EA37A-CD3E-4D3D-AFC0-53F164EF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43400"/>
            <a:ext cx="3333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= assigns the value on the right to the name on the left.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5C11BB-D0F1-42FC-8684-8DBD6CE1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Read top to bottom. Run the complete example in the matching practice notebook.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D18A33-9326-4FED-9B8C-AB11E5AA2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7</a:t>
            </a:r>
          </a:p>
        </p:txBody>
      </p:sp>
    </p:spTree>
    <p:extLst>
      <p:ext uri="{BB962C8B-B14F-4D97-AF65-F5344CB8AC3E}">
        <p14:creationId xmlns:p14="http://schemas.microsoft.com/office/powerpoint/2010/main" val="16628735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7C65DA-29DD-45C0-9D79-5F4ADA0E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EF687F-5825-458D-8F8F-E51F59C8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WHAT TO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402C1-60A6-4C80-ACA7-BB659BE7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Test session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109294-D2E9-4CE6-BDFB-7664E9CD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2A94EB-66BC-4103-806C-D8AEFFAD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00–15 minutes: briefing and file check.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F8244-6D1E-444B-8C23-40F6BFE1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0356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51FEE1-81F9-440C-B4B7-95304AAC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0356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15–135 minutes: individual practical work.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4DC7B3-C322-47E9-B72F-3F6E22D0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195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5E125D-7039-407C-816D-CADA6981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19538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135–160 minutes: typed offline reasoning, with code execution prohibited.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6EF7D3-F824-497A-B5F1-33624F7D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88719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01774E-C41C-42DA-8C8D-252A71275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88719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160–180 minutes: save and hand in through invigilated offline collection.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A82CCB-9590-46ED-95C0-FBE7270E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8</a:t>
            </a:r>
          </a:p>
        </p:txBody>
      </p:sp>
    </p:spTree>
    <p:extLst>
      <p:ext uri="{BB962C8B-B14F-4D97-AF65-F5344CB8AC3E}">
        <p14:creationId xmlns:p14="http://schemas.microsoft.com/office/powerpoint/2010/main" val="20050849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F43325-EA21-40D7-A477-829517D5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F40AA4-01F9-4A6F-80E4-FCBE00D1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87B598-8085-4AA7-B2C4-C7BE1072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Preparation checkpoint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3A60D3-594D-4C6C-89D1-181569436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530542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932DDB-FAAA-4101-A38A-AD257748E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752600"/>
            <a:ext cx="54006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1EE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20145F-C63F-4D2B-9C92-1FDB1332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114550"/>
            <a:ext cx="4752975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Every learner completes the offline save-and-reopen rehearsal.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E7BCA3-760F-402E-A6D2-C585F0FA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14550"/>
            <a:ext cx="4848225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Escalate lab-access failures before the test.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B38234-1EEA-44DC-B9A4-9F222043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9</a:t>
            </a:r>
          </a:p>
        </p:txBody>
      </p:sp>
    </p:spTree>
    <p:extLst>
      <p:ext uri="{BB962C8B-B14F-4D97-AF65-F5344CB8AC3E}">
        <p14:creationId xmlns:p14="http://schemas.microsoft.com/office/powerpoint/2010/main" val="13514510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8F846B-7D51-4062-BB73-1EFCA659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C0E74E-BFC5-4EE3-B281-0F3DD81B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WHAT TO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0A59F1-3FB7-4066-962F-001BF2A1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Your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6E70B-3951-45F0-BD32-4623426A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C14876-55E7-4728-85F5-1D7ECC87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4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Use the official TEST1 brief, interfaces and rubric.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508F7D-4D32-45B6-8F51-77434D63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6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D07542-218A-4149-B89D-FA209F73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6750"/>
            <a:ext cx="10096500" cy="134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The assessed period has 120 practical minutes and 25 typed reasoning minutes.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6685B9-CEEE-44EA-845F-2A55BB83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23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A2A265-F699-4BA1-90C0-6AE0342B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2325"/>
            <a:ext cx="10096500" cy="134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Your lecturer will issue the test packet and collection instructions.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D0072A-318C-4FF3-A02B-67F5CF69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10</a:t>
            </a:r>
          </a:p>
        </p:txBody>
      </p:sp>
    </p:spTree>
    <p:extLst>
      <p:ext uri="{BB962C8B-B14F-4D97-AF65-F5344CB8AC3E}">
        <p14:creationId xmlns:p14="http://schemas.microsoft.com/office/powerpoint/2010/main" val="5888563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A9AB94-3E9E-470B-8ACC-16C7C235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77B431-36A9-4FF4-94F2-C1187F16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EE2F34-F491-4FC8-9CBF-93A7B30D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F98FC6-18B4-4156-8238-F56F28D4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14FCD-2956-48AA-AE03-046F46A0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Write your own explanation in the markdown cell headed `## My written evidence`.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69E2F3-2EFB-45B8-8C3B-19109211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7CC1E2-7F24-42B9-9F81-00E59C27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Keep that heading.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D4B5CC-011C-499A-AF2D-EF8C3DB3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197B5-EEF0-49D1-AFC4-EF429CC3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Task prompts and code comments are excluded from reasoning marks.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78020F-CCC1-4BCF-B8A0-26A43FAB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1E6268-A008-46AC-8135-8D14288B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Complete every original rubric criterion below, not just the checked functions.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06D89D-E04B-427A-8AFE-EC22E00E7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11</a:t>
            </a:r>
          </a:p>
        </p:txBody>
      </p:sp>
    </p:spTree>
    <p:extLst>
      <p:ext uri="{BB962C8B-B14F-4D97-AF65-F5344CB8AC3E}">
        <p14:creationId xmlns:p14="http://schemas.microsoft.com/office/powerpoint/2010/main" val="13970701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FAE682-3901-42CE-AFED-F5EC7493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3CCC09-CAF7-468C-BB7C-D82F4DE5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17012B-AD4B-40BB-8DBC-0266F5AD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A69D68-C97B-4B2A-9D74-2F1339BC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62D73-39D1-4CBF-B613-ECFAA19E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Include profiling, justified cleaning, question-led charts and your engineering recommendation where required.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3018A1-153C-4011-9593-80A4F11E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8DA0D7-4766-452A-9ADD-FA7DBC61B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Keep raw data.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659A7D-7793-42D3-A4E3-83EA8150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3D7E1E-3F40-457C-BF1B-AF2F2EEC1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State units and distinguish correlation from causation.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826B19-20BC-499E-8846-14BC14C7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A847C9-074F-4D09-B275-48D5DB0A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Charts must be actual labelled figures in the notebook, not claims that charts exist.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0D652E-2584-4E08-BE8C-1DC8A3B9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12</a:t>
            </a:r>
          </a:p>
        </p:txBody>
      </p:sp>
    </p:spTree>
    <p:extLst>
      <p:ext uri="{BB962C8B-B14F-4D97-AF65-F5344CB8AC3E}">
        <p14:creationId xmlns:p14="http://schemas.microsoft.com/office/powerpoint/2010/main" val="79172678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2DD0D5-3992-4AF5-8604-50C70494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B1DA4-50CB-4ABF-AF42-09C699B8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A96226-D3A0-47BE-8D18-E7DE48151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555EAE-0168-40C7-8753-39861ABA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DF24AE-E075-456B-9E3F-51A550C2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Include captions and readable written evidence in the notebook.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C2077D-71B2-4F25-9A01-EB99748DD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FA86CC-672D-4F6A-8C18-D7421CA81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Loading &amp; profiling (15.0 total): Data loaded correctly; shape, types and summary produced; the dataset is described accurately in the student's own words.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28EF8E-AEA4-432B-BA5F-9C2A0C810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D3C12-9F7C-4DA2-B7A2-49A59048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Cleaning decisions &amp; justification (20.0 total): Defects found.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DA87A3-5C67-497C-A89D-347C0760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7DCBBF-CF83-41C9-9845-143E2CFE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Each handling decision stated AND justified.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FD0F91-7EE9-4A43-BB0A-AB34E0C7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13</a:t>
            </a:r>
          </a:p>
        </p:txBody>
      </p:sp>
    </p:spTree>
    <p:extLst>
      <p:ext uri="{BB962C8B-B14F-4D97-AF65-F5344CB8AC3E}">
        <p14:creationId xmlns:p14="http://schemas.microsoft.com/office/powerpoint/2010/main" val="4007234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0C6DA8-44DF-4D59-BA94-F6332873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E944AD-99F1-4D68-935D-4D1B30E8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943C96-41D2-4FFE-BFA4-005D08E5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661341-AF96-41C9-868E-AF126D46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375565-38DA-4B68-9DC9-80CD75ED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Marks are for the justification - an unjustified correct fix scores roughly half.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5FD745-52B8-4E9F-9124-7824DDF9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A69943-FC68-40A9-BF16-63D9DDDB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Visualisation (20.0 total): Three charts, each captioned with the question it answers.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CA5AF8-0FFE-406F-9177-6D38D2D6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DC6784-847B-45CF-8C8C-2D7DA7F6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Correct chart type.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E1A0CF-175D-43AA-93C4-00CB8AA0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1ABDDF-2224-4B13-9A38-D0203F058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Axes labelled with units.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A74544-7B7B-4D48-BDDC-8E770DD2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14</a:t>
            </a:r>
          </a:p>
        </p:txBody>
      </p:sp>
    </p:spTree>
    <p:extLst>
      <p:ext uri="{BB962C8B-B14F-4D97-AF65-F5344CB8AC3E}">
        <p14:creationId xmlns:p14="http://schemas.microsoft.com/office/powerpoint/2010/main" val="68856937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314CF-CC8D-47B4-B2DA-784DBA56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65AE84-FFEF-4D8E-B597-C74BB78A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74305-59D6-4FB8-996A-0C2B804AE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9065CA-167E-4AC0-883B-0018CCB0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A646C0-7974-45B3-96F7-54197A7A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decoration without purpose.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48A817-7589-46F0-B03C-76FD963B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3C28FE-6A96-4CBB-AE21-5A071F9B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Findings (20.0 total): Five findings, supported by evidence from the data, stated with correct magnitudes and units.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2C54A0-4EB8-4845-97FD-83F45B24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EBF3E4-5DA2-4566-B637-7D9F12857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A wrong number loses the mark even if the method was right.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285BF0-AA67-46DE-94C8-5E393942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15376-6C39-4B49-B11F-A93FAAD7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Engineering interpretation (15.0 total): One recommendation that an engineer could act on, plus a clear statement of what further data would be needed.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2675DD-B620-4894-9580-5E1F1FD3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15</a:t>
            </a:r>
          </a:p>
        </p:txBody>
      </p:sp>
    </p:spTree>
    <p:extLst>
      <p:ext uri="{BB962C8B-B14F-4D97-AF65-F5344CB8AC3E}">
        <p14:creationId xmlns:p14="http://schemas.microsoft.com/office/powerpoint/2010/main" val="21320408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0C490A-77F0-4E72-A6DE-0A78BA4C8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F65995-1001-4E54-B369-28B6D70E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9C4952-B35A-4C36-B563-E6804C50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EF43AE-9A71-4F77-9AF9-3E142F07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12C98B-D0C0-450B-8165-ED9AFED2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Clarity &amp; reproducibility (10.0 total): Notebook runs top to bottom.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9A3D4D-0AC2-4B20-B7C2-2B5D1057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4F8743-6298-4DD1-B987-79075FDE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Logical order.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FF99B8-2FB3-43A9-A803-813963D0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AD910A-CA4C-4C9E-A14D-AF050711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Markdown explains intent.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5ABC75-D6DF-4E17-B35E-76DE523E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FCC81A-BEF6-4840-8C07-0D30FFBA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dead code.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ECDE4B-4492-411B-B8C0-514B19BE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16</a:t>
            </a:r>
          </a:p>
        </p:txBody>
      </p:sp>
    </p:spTree>
    <p:extLst>
      <p:ext uri="{BB962C8B-B14F-4D97-AF65-F5344CB8AC3E}">
        <p14:creationId xmlns:p14="http://schemas.microsoft.com/office/powerpoint/2010/main" val="128721541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B71AC3-3555-49AD-975F-37529C86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497C06-FB40-41EA-849F-F9D8C089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B181B-7814-4795-AF07-A7EF3CCE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84439A-7F8F-4407-B47D-C4A16D82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F008DE-565A-4B96-A7D4-593615C2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Timing and Part 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077EA3-CE2B-4BB0-BA26-639D1893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52383F-4AE5-4AE5-8606-4ACD5B43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15 minutes setup, 120 minutes practical, 25 minutes typed offline reasoning with code execution prohibited, 20 minutes collection.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BB71EB-34B9-4D4C-9E88-8CFE25C2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B19148-7DFD-4781-BA64-427A533A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internet, messaging or AI.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F424E8-4EE4-4E55-B01F-05872116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C70E64-83B7-4C29-B36A-E0A62444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Answer: Why your main cleaning/model choice?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ADA581-2277-436D-9F21-ED208497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17</a:t>
            </a:r>
          </a:p>
        </p:txBody>
      </p:sp>
    </p:spTree>
    <p:extLst>
      <p:ext uri="{BB962C8B-B14F-4D97-AF65-F5344CB8AC3E}">
        <p14:creationId xmlns:p14="http://schemas.microsoft.com/office/powerpoint/2010/main" val="103684790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357873-0903-46DB-A7EC-9AF3F354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DCFCAE-9966-45ED-B7A6-492D439D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6D3314-265D-4C7F-9C5B-50B6416D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522484-8A1E-4E0C-97B8-601DA261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74E412-971B-4D00-A238-6705FB89F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What can your chart/metric not establish?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04735C-B7CF-4A82-918A-63CBE97C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055099-FF54-47BA-BDB6-792FC22E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What evidence would change your recommendation?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A7F10F-3C7F-4524-B6D0-53F8D905C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152877-0245-44B3-96BF-578B8863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What further data is required?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BD4E33-6266-431C-950D-4F9F3D996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7CF709-FD23-4157-AE58-6BC8B045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Invigilated offline collection is authoritative; Google upload is a later transport step and must not impose an internet requirement during the test.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7E5E09-7FCC-4A18-B3FE-44E6E0E1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18</a:t>
            </a:r>
          </a:p>
        </p:txBody>
      </p:sp>
    </p:spTree>
    <p:extLst>
      <p:ext uri="{BB962C8B-B14F-4D97-AF65-F5344CB8AC3E}">
        <p14:creationId xmlns:p14="http://schemas.microsoft.com/office/powerpoint/2010/main" val="165705552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7CC543-D049-4FDD-848A-ACE64DC8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AB132-FDAE-443B-9E30-AB643393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ASSIGNMENT SUBMISSION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777400-EE2B-48E2-A3C3-AFE3797E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submission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CEE7D4-BEA7-4D7D-9B8E-3962794F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240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6F5F36-D74E-4AAD-A049-4F1D4E83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24025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Offline invigilated collection is authoritative.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86B684-F143-4A2E-8D72-1631B607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1744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EDDE60-EB9F-4B30-8425-6C413571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21744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Google upload is a later transport step.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08A00-3F13-4D08-84CC-5C1A137DE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194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5B8E09-3F45-491D-AB27-400E528F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19463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Save one notebook with Part B under My written evidence.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C215D0-B619-49E6-9CA1-70223714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17181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C5F408-4FF7-41AD-A3D7-D2A03C29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17181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internet, messaging or AI during the test.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CE43C6-A89D-4A90-AA96-201726E8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43500"/>
            <a:ext cx="1101090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1EE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BF97AB-7EB8-40CA-BBAD-4D9614D8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673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E7D6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2E7D6F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9bdea0280c0498d"/>
              </a:rPr>
              <a:t>Open TEST1 assignment form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D31369-AC6E-47FD-B8F8-53F35DC1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https://docs.google.com/forms/d/e/1FAIpQLSdwcNAD9gGSz-hXLmHPO8nS3WIfg72BcsKW7IrwpvtakiJrIA/viewform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4179F9-A345-4DF0-AAF2-D66C8D27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7   19</a:t>
            </a:r>
          </a:p>
        </p:txBody>
      </p:sp>
    </p:spTree>
    <p:extLst>
      <p:ext uri="{BB962C8B-B14F-4D97-AF65-F5344CB8AC3E}">
        <p14:creationId xmlns:p14="http://schemas.microsoft.com/office/powerpoint/2010/main" val="24124765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C31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9CEF40-9818-42C4-BB49-4212808E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INDIVIDUAL EXIT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4B5526-86F4-4BCF-9D90-CEE0243B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Revision and submission checklist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F98964-FC9D-4753-8CE0-CEE239F8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EXPLAIN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6FC0E-9E94-4089-8A19-F9CAAF7B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95525"/>
            <a:ext cx="10810875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You can reopen your notebook and find code and typed reasoning without help.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Save your work and check the required submission files.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ECEC61-25A6-466A-886B-96971B45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91200"/>
            <a:ext cx="10810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BCDD9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BBCDD9"/>
                </a:solidFill>
                <a:latin typeface="Calibri"/>
                <a:ea typeface="Calibri"/>
                <a:cs typeface="Calibri"/>
              </a:rPr>
              <a:t>Point to your evidence. Save your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F8508A-0F9A-4B0B-87E5-E5366894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BCDD9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BBCDD9"/>
                </a:solidFill>
                <a:latin typeface="Calibri"/>
                <a:ea typeface="Calibri"/>
                <a:cs typeface="Calibri"/>
              </a:rPr>
              <a:t>CML3112   Week 7   20</a:t>
            </a:r>
          </a:p>
        </p:txBody>
      </p:sp>
    </p:spTree>
    <p:extLst>
      <p:ext uri="{BB962C8B-B14F-4D97-AF65-F5344CB8AC3E}">
        <p14:creationId xmlns:p14="http://schemas.microsoft.com/office/powerpoint/2010/main" val="4883089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2026-09-28T21:42:45.4690000Z</dcterms:created>
  <dcterms:modified xsi:type="dcterms:W3CDTF">2026-09-28T21:42:45.4690000Z</dcterms:modified>
</coreProperties>
</file>