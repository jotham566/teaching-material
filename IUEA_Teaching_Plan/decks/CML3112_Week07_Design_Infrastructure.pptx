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3bc3b1253af4aef" /><Relationship Type="http://schemas.openxmlformats.org/officeDocument/2006/relationships/extended-properties" Target="/docProps/app.xml" Id="R0a39f4c05bce4b75" /><Relationship Type="http://schemas.openxmlformats.org/officeDocument/2006/relationships/officeDocument" Target="/ppt/presentation.xml" Id="R45a44b85d3204401" /></Relationships>
</file>

<file path=ppt/presentation.xml><?xml version="1.0" encoding="utf-8"?>
<p:presentation xmlns:p="http://schemas.openxmlformats.org/presentationml/2006/main">
  <p:sldMasterIdLst>
    <p:sldMasterId xmlns:r="http://schemas.openxmlformats.org/officeDocument/2006/relationships" id="2147483648" r:id="R4a5c688a5181421f"/>
  </p:sldMasterIdLst>
  <p:notesMasterIdLst>
    <p:notesMasterId xmlns:r="http://schemas.openxmlformats.org/officeDocument/2006/relationships" r:id="R5de38854aa524e27"/>
  </p:notesMasterIdLst>
  <p:sldIdLst>
    <p:sldId xmlns:r="http://schemas.openxmlformats.org/officeDocument/2006/relationships" id="256" r:id="Ra2ccee9a7a144647"/>
    <p:sldId xmlns:r="http://schemas.openxmlformats.org/officeDocument/2006/relationships" id="257" r:id="R088adde82a314ea9"/>
    <p:sldId xmlns:r="http://schemas.openxmlformats.org/officeDocument/2006/relationships" id="258" r:id="R46eee37465304a0a"/>
    <p:sldId xmlns:r="http://schemas.openxmlformats.org/officeDocument/2006/relationships" id="259" r:id="R01f6b6353e5347a1"/>
    <p:sldId xmlns:r="http://schemas.openxmlformats.org/officeDocument/2006/relationships" id="260" r:id="R89005ffc01834648"/>
    <p:sldId xmlns:r="http://schemas.openxmlformats.org/officeDocument/2006/relationships" id="261" r:id="R46e7b6c7b3bb4b42"/>
    <p:sldId xmlns:r="http://schemas.openxmlformats.org/officeDocument/2006/relationships" id="262" r:id="R5ad1d48b1ba340bf"/>
    <p:sldId xmlns:r="http://schemas.openxmlformats.org/officeDocument/2006/relationships" id="263" r:id="Re08a0a9a452e4a86"/>
    <p:sldId xmlns:r="http://schemas.openxmlformats.org/officeDocument/2006/relationships" id="264" r:id="Rba2fddc4e8244c3c"/>
    <p:sldId xmlns:r="http://schemas.openxmlformats.org/officeDocument/2006/relationships" id="265" r:id="Rf3791b14640f4b6d"/>
    <p:sldId xmlns:r="http://schemas.openxmlformats.org/officeDocument/2006/relationships" id="266" r:id="R282a98ca29144a0d"/>
    <p:sldId xmlns:r="http://schemas.openxmlformats.org/officeDocument/2006/relationships" id="267" r:id="R9cbe88d9f2c34ed1"/>
    <p:sldId xmlns:r="http://schemas.openxmlformats.org/officeDocument/2006/relationships" id="268" r:id="R5c40d554723f4d50"/>
    <p:sldId xmlns:r="http://schemas.openxmlformats.org/officeDocument/2006/relationships" id="269" r:id="R638d6cee057c448d"/>
    <p:sldId xmlns:r="http://schemas.openxmlformats.org/officeDocument/2006/relationships" id="270" r:id="Re169bb65e7af44a4"/>
    <p:sldId xmlns:r="http://schemas.openxmlformats.org/officeDocument/2006/relationships" id="271" r:id="R8b685df7d4184c33"/>
    <p:sldId xmlns:r="http://schemas.openxmlformats.org/officeDocument/2006/relationships" id="272" r:id="Ra4d0330760144883"/>
    <p:sldId xmlns:r="http://schemas.openxmlformats.org/officeDocument/2006/relationships" id="273" r:id="R4e2dc6b7a67142f1"/>
    <p:sldId xmlns:r="http://schemas.openxmlformats.org/officeDocument/2006/relationships" id="274" r:id="R43a1df6eaf5e439a"/>
    <p:sldId xmlns:r="http://schemas.openxmlformats.org/officeDocument/2006/relationships" id="275" r:id="R535d692001dd4f70"/>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e7cb7e0762f4fe4" /><Relationship Type="http://schemas.openxmlformats.org/officeDocument/2006/relationships/slideMaster" Target="/ppt/slideMasters/slideMaster1.xml" Id="R4a5c688a5181421f" /><Relationship Type="http://schemas.openxmlformats.org/officeDocument/2006/relationships/notesMaster" Target="/ppt/notesMasters/notesMaster1.xml" Id="R5de38854aa524e27" /><Relationship Type="http://schemas.openxmlformats.org/officeDocument/2006/relationships/presProps" Target="/ppt/presProps.xml" Id="R48f0ed832df14ab6" /><Relationship Type="http://schemas.openxmlformats.org/officeDocument/2006/relationships/tableStyles" Target="/ppt/tableStyles.xml" Id="R32592baf6aae40be" /><Relationship Type="http://schemas.openxmlformats.org/officeDocument/2006/relationships/slide" Target="/ppt/slides/slide1.xml" Id="Ra2ccee9a7a144647" /><Relationship Type="http://schemas.openxmlformats.org/officeDocument/2006/relationships/slide" Target="/ppt/slides/slide2.xml" Id="R088adde82a314ea9" /><Relationship Type="http://schemas.openxmlformats.org/officeDocument/2006/relationships/slide" Target="/ppt/slides/slide3.xml" Id="R46eee37465304a0a" /><Relationship Type="http://schemas.openxmlformats.org/officeDocument/2006/relationships/slide" Target="/ppt/slides/slide4.xml" Id="R01f6b6353e5347a1" /><Relationship Type="http://schemas.openxmlformats.org/officeDocument/2006/relationships/slide" Target="/ppt/slides/slide5.xml" Id="R89005ffc01834648" /><Relationship Type="http://schemas.openxmlformats.org/officeDocument/2006/relationships/slide" Target="/ppt/slides/slide6.xml" Id="R46e7b6c7b3bb4b42" /><Relationship Type="http://schemas.openxmlformats.org/officeDocument/2006/relationships/slide" Target="/ppt/slides/slide7.xml" Id="R5ad1d48b1ba340bf" /><Relationship Type="http://schemas.openxmlformats.org/officeDocument/2006/relationships/slide" Target="/ppt/slides/slide8.xml" Id="Re08a0a9a452e4a86" /><Relationship Type="http://schemas.openxmlformats.org/officeDocument/2006/relationships/slide" Target="/ppt/slides/slide9.xml" Id="Rba2fddc4e8244c3c" /><Relationship Type="http://schemas.openxmlformats.org/officeDocument/2006/relationships/slide" Target="/ppt/slides/slide10.xml" Id="Rf3791b14640f4b6d" /><Relationship Type="http://schemas.openxmlformats.org/officeDocument/2006/relationships/slide" Target="/ppt/slides/slide11.xml" Id="R282a98ca29144a0d" /><Relationship Type="http://schemas.openxmlformats.org/officeDocument/2006/relationships/slide" Target="/ppt/slides/slide12.xml" Id="R9cbe88d9f2c34ed1" /><Relationship Type="http://schemas.openxmlformats.org/officeDocument/2006/relationships/slide" Target="/ppt/slides/slide13.xml" Id="R5c40d554723f4d50" /><Relationship Type="http://schemas.openxmlformats.org/officeDocument/2006/relationships/slide" Target="/ppt/slides/slide14.xml" Id="R638d6cee057c448d" /><Relationship Type="http://schemas.openxmlformats.org/officeDocument/2006/relationships/slide" Target="/ppt/slides/slide15.xml" Id="Re169bb65e7af44a4" /><Relationship Type="http://schemas.openxmlformats.org/officeDocument/2006/relationships/slide" Target="/ppt/slides/slide16.xml" Id="R8b685df7d4184c33" /><Relationship Type="http://schemas.openxmlformats.org/officeDocument/2006/relationships/slide" Target="/ppt/slides/slide17.xml" Id="Ra4d0330760144883" /><Relationship Type="http://schemas.openxmlformats.org/officeDocument/2006/relationships/slide" Target="/ppt/slides/slide18.xml" Id="R4e2dc6b7a67142f1" /><Relationship Type="http://schemas.openxmlformats.org/officeDocument/2006/relationships/slide" Target="/ppt/slides/slide19.xml" Id="R43a1df6eaf5e439a" /><Relationship Type="http://schemas.openxmlformats.org/officeDocument/2006/relationships/slide" Target="/ppt/slides/slide20.xml" Id="R535d692001dd4f7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9d7b153e4924c8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1893a864a994fd0" /><Relationship Type="http://schemas.openxmlformats.org/officeDocument/2006/relationships/notesMaster" Target="/ppt/notesMasters/notesMaster1.xml" Id="Re28de2f43c7d41d7" /></Relationships>
</file>

<file path=ppt/notesSlides/_rels/notesSlide2.xml.rels>&#65279;<?xml version="1.0" encoding="utf-8"?><Relationships xmlns="http://schemas.openxmlformats.org/package/2006/relationships"><Relationship Type="http://schemas.openxmlformats.org/officeDocument/2006/relationships/slide" Target="/ppt/slides/slide2.xml" Id="Rf96053bb1b6f48be" /><Relationship Type="http://schemas.openxmlformats.org/officeDocument/2006/relationships/notesMaster" Target="/ppt/notesMasters/notesMaster1.xml" Id="R581e2ca2967e4c67" /></Relationships>
</file>

<file path=ppt/notesSlides/_rels/notesSlide3.xml.rels>&#65279;<?xml version="1.0" encoding="utf-8"?><Relationships xmlns="http://schemas.openxmlformats.org/package/2006/relationships"><Relationship Type="http://schemas.openxmlformats.org/officeDocument/2006/relationships/slide" Target="/ppt/slides/slide3.xml" Id="R16005b9cec344c0e" /><Relationship Type="http://schemas.openxmlformats.org/officeDocument/2006/relationships/notesMaster" Target="/ppt/notesMasters/notesMaster1.xml" Id="R14cc1850be8e41d2" /></Relationships>
</file>

<file path=ppt/notesSlides/_rels/notesSlide4.xml.rels>&#65279;<?xml version="1.0" encoding="utf-8"?><Relationships xmlns="http://schemas.openxmlformats.org/package/2006/relationships"><Relationship Type="http://schemas.openxmlformats.org/officeDocument/2006/relationships/slide" Target="/ppt/slides/slide4.xml" Id="R4b50bf1320e94457" /><Relationship Type="http://schemas.openxmlformats.org/officeDocument/2006/relationships/notesMaster" Target="/ppt/notesMasters/notesMaster1.xml" Id="R5854fecf94b449e0" /></Relationships>
</file>

<file path=ppt/notesSlides/_rels/notesSlide5.xml.rels>&#65279;<?xml version="1.0" encoding="utf-8"?><Relationships xmlns="http://schemas.openxmlformats.org/package/2006/relationships"><Relationship Type="http://schemas.openxmlformats.org/officeDocument/2006/relationships/slide" Target="/ppt/slides/slide5.xml" Id="R9488993d3d5548c5" /><Relationship Type="http://schemas.openxmlformats.org/officeDocument/2006/relationships/notesMaster" Target="/ppt/notesMasters/notesMaster1.xml" Id="R4309bfbf33184961" /></Relationships>
</file>

<file path=ppt/notesSlides/_rels/notesSlide6.xml.rels>&#65279;<?xml version="1.0" encoding="utf-8"?><Relationships xmlns="http://schemas.openxmlformats.org/package/2006/relationships"><Relationship Type="http://schemas.openxmlformats.org/officeDocument/2006/relationships/slide" Target="/ppt/slides/slide6.xml" Id="R95b3b37ddb1b494a" /><Relationship Type="http://schemas.openxmlformats.org/officeDocument/2006/relationships/notesMaster" Target="/ppt/notesMasters/notesMaster1.xml" Id="R115ef04bc96347b4" /></Relationships>
</file>

<file path=ppt/notesSlides/_rels/notesSlide7.xml.rels>&#65279;<?xml version="1.0" encoding="utf-8"?><Relationships xmlns="http://schemas.openxmlformats.org/package/2006/relationships"><Relationship Type="http://schemas.openxmlformats.org/officeDocument/2006/relationships/slide" Target="/ppt/slides/slide7.xml" Id="Rba3a307a01584e38" /><Relationship Type="http://schemas.openxmlformats.org/officeDocument/2006/relationships/notesMaster" Target="/ppt/notesMasters/notesMaster1.xml" Id="R3f33bb4eccfb49f2" /></Relationships>
</file>

<file path=ppt/notesSlides/_rels/notesSlide8.xml.rels>&#65279;<?xml version="1.0" encoding="utf-8"?><Relationships xmlns="http://schemas.openxmlformats.org/package/2006/relationships"><Relationship Type="http://schemas.openxmlformats.org/officeDocument/2006/relationships/slide" Target="/ppt/slides/slide8.xml" Id="R99845be2de6b4734" /><Relationship Type="http://schemas.openxmlformats.org/officeDocument/2006/relationships/notesMaster" Target="/ppt/notesMasters/notesMaster1.xml" Id="R5cb5ddd383a84ab5" /></Relationships>
</file>

<file path=ppt/notesSlides/_rels/notesSlide9.xml.rels>&#65279;<?xml version="1.0" encoding="utf-8"?><Relationships xmlns="http://schemas.openxmlformats.org/package/2006/relationships"><Relationship Type="http://schemas.openxmlformats.org/officeDocument/2006/relationships/slide" Target="/ppt/slides/slide9.xml" Id="Reb82bca94e634954" /><Relationship Type="http://schemas.openxmlformats.org/officeDocument/2006/relationships/notesMaster" Target="/ppt/notesMasters/notesMaster1.xml" Id="R6040f2be04f740b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9b7f30fbbb64d6f" /><Relationship Type="http://schemas.openxmlformats.org/officeDocument/2006/relationships/notesMaster" Target="/ppt/notesMasters/notesMaster1.xml" Id="R7c43428fc14f481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2f6e5b930814001" /><Relationship Type="http://schemas.openxmlformats.org/officeDocument/2006/relationships/notesMaster" Target="/ppt/notesMasters/notesMaster1.xml" Id="R0ae6e48c5f7b4ab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b463e2177f94097" /><Relationship Type="http://schemas.openxmlformats.org/officeDocument/2006/relationships/notesMaster" Target="/ppt/notesMasters/notesMaster1.xml" Id="Rd309641fb779460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f6146dd4a474e32" /><Relationship Type="http://schemas.openxmlformats.org/officeDocument/2006/relationships/notesMaster" Target="/ppt/notesMasters/notesMaster1.xml" Id="Rb7d292fdd46d4c7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ceb954b31304f1f" /><Relationship Type="http://schemas.openxmlformats.org/officeDocument/2006/relationships/notesMaster" Target="/ppt/notesMasters/notesMaster1.xml" Id="R9ecac6f770944ab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fe82d5a82b64760" /><Relationship Type="http://schemas.openxmlformats.org/officeDocument/2006/relationships/notesMaster" Target="/ppt/notesMasters/notesMaster1.xml" Id="Rfe2d2d4631d243b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c521e0bd1644cc9" /><Relationship Type="http://schemas.openxmlformats.org/officeDocument/2006/relationships/notesMaster" Target="/ppt/notesMasters/notesMaster1.xml" Id="Rc375fbe534484fe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2a4ff30ef744d41" /><Relationship Type="http://schemas.openxmlformats.org/officeDocument/2006/relationships/notesMaster" Target="/ppt/notesMasters/notesMaster1.xml" Id="R538f9b3246894b7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35583d165c64bef" /><Relationship Type="http://schemas.openxmlformats.org/officeDocument/2006/relationships/notesMaster" Target="/ppt/notesMasters/notesMaster1.xml" Id="R9573b87bf58343a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20fd4808ea44543" /><Relationship Type="http://schemas.openxmlformats.org/officeDocument/2006/relationships/notesMaster" Target="/ppt/notesMasters/notesMaster1.xml" Id="R432943d8c34748e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2382285e45c4cea" /><Relationship Type="http://schemas.openxmlformats.org/officeDocument/2006/relationships/notesMaster" Target="/ppt/notesMasters/notesMaster1.xml" Id="R27ae7f07e1fc487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Practical Test 1</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Civil Engineering and Architecture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Practical Test 1</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Preparing for Practical Test 1. Explain why this example is needed before running it.</a:t>
            </a:r>
          </a:p>
          <a:p xmlns:a="http://schemas.openxmlformats.org/drawingml/2006/main">
            <a:r>
              <a:t/>
            </a:r>
          </a:p>
          <a:p xmlns:a="http://schemas.openxmlformats.org/drawingml/2006/main">
            <a:r>
              <a:t>EXPLAIN</a:t>
            </a:r>
          </a:p>
          <a:p xmlns:a="http://schemas.openxmlformats.org/drawingml/2006/main">
            <a:r>
              <a:t>Rehearse saving and reopening the required files.</a:t>
            </a:r>
          </a:p>
          <a:p xmlns:a="http://schemas.openxmlformats.org/drawingml/2006/main">
            <a:r>
              <a:t/>
            </a:r>
          </a:p>
          <a:p xmlns:a="http://schemas.openxmlformats.org/drawingml/2006/main">
            <a:r>
              <a:t>Check the published test rules before the session.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Preparing for Practical Test 1.</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Can you open the provided notebook and data on the prepared lab computer without internet?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Rehearse before test day.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Rehearse before test 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Rehearse before test day</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Use the separate practice notebook before the timed session.</a:t>
            </a:r>
          </a:p>
          <a:p xmlns:a="http://schemas.openxmlformats.org/drawingml/2006/main">
            <a:r>
              <a:t/>
            </a:r>
          </a:p>
          <a:p xmlns:a="http://schemas.openxmlformats.org/drawingml/2006/main">
            <a:r>
              <a:t>Open the supplied data and run a familiar calculation.</a:t>
            </a:r>
          </a:p>
          <a:p xmlns:a="http://schemas.openxmlformats.org/drawingml/2006/main">
            <a:r>
              <a:t/>
            </a:r>
          </a:p>
          <a:p xmlns:a="http://schemas.openxmlformats.org/drawingml/2006/main">
            <a:r>
              <a:t>The test packet and permitted resources are issued by the lecturer.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Rehearse before test day</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Save the complete notebook.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Save the complete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Save the complete notebook</a:t>
            </a:r>
          </a:p>
          <a:p xmlns:a="http://schemas.openxmlformats.org/drawingml/2006/main">
            <a:r>
              <a:t/>
            </a:r>
          </a:p>
          <a:p xmlns:a="http://schemas.openxmlformats.org/drawingml/2006/main">
            <a:r>
              <a:t>CONNECT</a:t>
            </a:r>
          </a:p>
          <a:p xmlns:a="http://schemas.openxmlformats.org/drawingml/2006/main">
            <a:r>
              <a:t>Build on Rehearse before test day. Explain why this example is needed before running it.</a:t>
            </a:r>
          </a:p>
          <a:p xmlns:a="http://schemas.openxmlformats.org/drawingml/2006/main">
            <a:r>
              <a:t/>
            </a:r>
          </a:p>
          <a:p xmlns:a="http://schemas.openxmlformats.org/drawingml/2006/main">
            <a:r>
              <a:t>EXPLAIN</a:t>
            </a:r>
          </a:p>
          <a:p xmlns:a="http://schemas.openxmlformats.org/drawingml/2006/main">
            <a:r>
              <a:t>Type Part B under My written evidence in the notebook.</a:t>
            </a:r>
          </a:p>
          <a:p xmlns:a="http://schemas.openxmlformats.org/drawingml/2006/main">
            <a:r>
              <a:t/>
            </a:r>
          </a:p>
          <a:p xmlns:a="http://schemas.openxmlformats.org/drawingml/2006/main">
            <a:r>
              <a:t>Locate the complete notebook in the designated local folder.</a:t>
            </a:r>
          </a:p>
          <a:p xmlns:a="http://schemas.openxmlformats.org/drawingml/2006/main">
            <a:r>
              <a:t/>
            </a:r>
          </a:p>
          <a:p xmlns:a="http://schemas.openxmlformats.org/drawingml/2006/main">
            <a:r>
              <a:t>Reopen it to check that code and written answers were saved.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Save the complete notebook</a:t>
            </a:r>
          </a:p>
          <a:p xmlns:a="http://schemas.openxmlformats.org/drawingml/2006/main">
            <a:r>
              <a:t/>
            </a:r>
          </a:p>
          <a:p xmlns:a="http://schemas.openxmlformats.org/drawingml/2006/main">
            <a:r>
              <a:t>CONNECT</a:t>
            </a:r>
          </a:p>
          <a:p xmlns:a="http://schemas.openxmlformats.org/drawingml/2006/main">
            <a:r>
              <a:t>Build on the preceding slide: Rehearse before test day.</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Follow the published test procedure.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Follow the published test procedure.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Follow the published test procedure</a:t>
            </a:r>
          </a:p>
          <a:p xmlns:a="http://schemas.openxmlformats.org/drawingml/2006/main">
            <a:r>
              <a:t/>
            </a:r>
          </a:p>
          <a:p xmlns:a="http://schemas.openxmlformats.org/drawingml/2006/main">
            <a:r>
              <a:t>CONNECT</a:t>
            </a:r>
          </a:p>
          <a:p xmlns:a="http://schemas.openxmlformats.org/drawingml/2006/main">
            <a:r>
              <a:t>Build on Save the complete notebook. Explain why this example is needed before running it.</a:t>
            </a:r>
          </a:p>
          <a:p xmlns:a="http://schemas.openxmlformats.org/drawingml/2006/main">
            <a:r>
              <a:t/>
            </a:r>
          </a:p>
          <a:p xmlns:a="http://schemas.openxmlformats.org/drawingml/2006/main">
            <a:r>
              <a:t>EXPLAIN</a:t>
            </a:r>
          </a:p>
          <a:p xmlns:a="http://schemas.openxmlformats.org/drawingml/2006/main">
            <a:r>
              <a:t>Read the briefing before starting assessed work.</a:t>
            </a:r>
          </a:p>
          <a:p xmlns:a="http://schemas.openxmlformats.org/drawingml/2006/main">
            <a:r>
              <a:t/>
            </a:r>
          </a:p>
          <a:p xmlns:a="http://schemas.openxmlformats.org/drawingml/2006/main">
            <a:r>
              <a:t>Use only the resources permitted for that part of the test.</a:t>
            </a:r>
          </a:p>
          <a:p xmlns:a="http://schemas.openxmlformats.org/drawingml/2006/main">
            <a:r>
              <a:t/>
            </a:r>
          </a:p>
          <a:p xmlns:a="http://schemas.openxmlformats.org/drawingml/2006/main">
            <a:r>
              <a:t>Report a technical failure to the invigilator immediately.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Follow the published test procedure</a:t>
            </a:r>
          </a:p>
          <a:p xmlns:a="http://schemas.openxmlformats.org/drawingml/2006/main">
            <a:r>
              <a:t/>
            </a:r>
          </a:p>
          <a:p xmlns:a="http://schemas.openxmlformats.org/drawingml/2006/main">
            <a:r>
              <a:t>CONNECT</a:t>
            </a:r>
          </a:p>
          <a:p xmlns:a="http://schemas.openxmlformats.org/drawingml/2006/main">
            <a:r>
              <a:t>Build on the preceding slide: Save the complete notebook.</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Practice before test day.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Practice before test 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Practice before test day</a:t>
            </a:r>
          </a:p>
          <a:p xmlns:a="http://schemas.openxmlformats.org/drawingml/2006/main">
            <a:r>
              <a:t/>
            </a:r>
          </a:p>
          <a:p xmlns:a="http://schemas.openxmlformats.org/drawingml/2006/main">
            <a:r>
              <a:t>CONNECT</a:t>
            </a:r>
          </a:p>
          <a:p xmlns:a="http://schemas.openxmlformats.org/drawingml/2006/main">
            <a:r>
              <a:t>Build on Follow the published test procedure.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Practice before test day</a:t>
            </a:r>
          </a:p>
          <a:p xmlns:a="http://schemas.openxmlformats.org/drawingml/2006/main">
            <a:r>
              <a:t/>
            </a:r>
          </a:p>
          <a:p xmlns:a="http://schemas.openxmlformats.org/drawingml/2006/main">
            <a:r>
              <a:t>CONNECT</a:t>
            </a:r>
          </a:p>
          <a:p xmlns:a="http://schemas.openxmlformats.org/drawingml/2006/main">
            <a:r>
              <a:t>Build on the preceding slide: Follow the published test procedure.</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Before the timed test.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Test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Test session</a:t>
            </a:r>
          </a:p>
          <a:p xmlns:a="http://schemas.openxmlformats.org/drawingml/2006/main">
            <a:r>
              <a:t/>
            </a:r>
          </a:p>
          <a:p xmlns:a="http://schemas.openxmlformats.org/drawingml/2006/main">
            <a:r>
              <a:t>CONNECT</a:t>
            </a:r>
          </a:p>
          <a:p xmlns:a="http://schemas.openxmlformats.org/drawingml/2006/main">
            <a:r>
              <a:t>Build on Practice before test day. Explain why this example is needed before running it.</a:t>
            </a:r>
          </a:p>
          <a:p xmlns:a="http://schemas.openxmlformats.org/drawingml/2006/main">
            <a:r>
              <a:t/>
            </a:r>
          </a:p>
          <a:p xmlns:a="http://schemas.openxmlformats.org/drawingml/2006/main">
            <a:r>
              <a:t>EXPLAIN</a:t>
            </a:r>
          </a:p>
          <a:p xmlns:a="http://schemas.openxmlformats.org/drawingml/2006/main">
            <a:r>
              <a:t>00–15 minutes: briefing and file check.</a:t>
            </a:r>
          </a:p>
          <a:p xmlns:a="http://schemas.openxmlformats.org/drawingml/2006/main">
            <a:r>
              <a:t/>
            </a:r>
          </a:p>
          <a:p xmlns:a="http://schemas.openxmlformats.org/drawingml/2006/main">
            <a:r>
              <a:t>15–135 minutes: individual practical work.</a:t>
            </a:r>
          </a:p>
          <a:p xmlns:a="http://schemas.openxmlformats.org/drawingml/2006/main">
            <a:r>
              <a:t/>
            </a:r>
          </a:p>
          <a:p xmlns:a="http://schemas.openxmlformats.org/drawingml/2006/main">
            <a:r>
              <a:t>135–160 minutes: typed offline reasoning, with code execution prohibited.</a:t>
            </a:r>
          </a:p>
          <a:p xmlns:a="http://schemas.openxmlformats.org/drawingml/2006/main">
            <a:r>
              <a:t/>
            </a:r>
          </a:p>
          <a:p xmlns:a="http://schemas.openxmlformats.org/drawingml/2006/main">
            <a:r>
              <a:t>160–180 minutes: save and hand in through invigilated offline collection.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Test session</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Preparation checkpoint.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Preparation checkpoint.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Preparation checkpoint</a:t>
            </a:r>
          </a:p>
          <a:p xmlns:a="http://schemas.openxmlformats.org/drawingml/2006/main">
            <a:r>
              <a:t/>
            </a:r>
          </a:p>
          <a:p xmlns:a="http://schemas.openxmlformats.org/drawingml/2006/main">
            <a:r>
              <a:t>CONNECT</a:t>
            </a:r>
          </a:p>
          <a:p xmlns:a="http://schemas.openxmlformats.org/drawingml/2006/main">
            <a:r>
              <a:t>Build on Test session. Explain why this example is needed before running it.</a:t>
            </a:r>
          </a:p>
          <a:p xmlns:a="http://schemas.openxmlformats.org/drawingml/2006/main">
            <a:r>
              <a:t/>
            </a:r>
          </a:p>
          <a:p xmlns:a="http://schemas.openxmlformats.org/drawingml/2006/main">
            <a:r>
              <a:t>EXPLAIN</a:t>
            </a:r>
          </a:p>
          <a:p xmlns:a="http://schemas.openxmlformats.org/drawingml/2006/main">
            <a:r>
              <a:t>Every learner completes the offline save-and-reopen rehearsal.</a:t>
            </a:r>
          </a:p>
          <a:p xmlns:a="http://schemas.openxmlformats.org/drawingml/2006/main">
            <a:r>
              <a:t/>
            </a:r>
          </a:p>
          <a:p xmlns:a="http://schemas.openxmlformats.org/drawingml/2006/main">
            <a:r>
              <a:t>Escalate lab-access failures before the test.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Preparation checkpoint</a:t>
            </a:r>
          </a:p>
          <a:p xmlns:a="http://schemas.openxmlformats.org/drawingml/2006/main">
            <a:r>
              <a:t/>
            </a:r>
          </a:p>
          <a:p xmlns:a="http://schemas.openxmlformats.org/drawingml/2006/main">
            <a:r>
              <a:t>CONNECT</a:t>
            </a:r>
          </a:p>
          <a:p xmlns:a="http://schemas.openxmlformats.org/drawingml/2006/main">
            <a:r>
              <a:t>Build on the preceding slide: Test session.</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Your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evidence</a:t>
            </a:r>
          </a:p>
          <a:p xmlns:a="http://schemas.openxmlformats.org/drawingml/2006/main">
            <a:r>
              <a:t/>
            </a:r>
          </a:p>
          <a:p xmlns:a="http://schemas.openxmlformats.org/drawingml/2006/main">
            <a:r>
              <a:t>CONNECT</a:t>
            </a:r>
          </a:p>
          <a:p xmlns:a="http://schemas.openxmlformats.org/drawingml/2006/main">
            <a:r>
              <a:t>Build on Preparation checkpoint. Explain why this example is needed before running it.</a:t>
            </a:r>
          </a:p>
          <a:p xmlns:a="http://schemas.openxmlformats.org/drawingml/2006/main">
            <a:r>
              <a:t/>
            </a:r>
          </a:p>
          <a:p xmlns:a="http://schemas.openxmlformats.org/drawingml/2006/main">
            <a:r>
              <a:t>EXPLAIN</a:t>
            </a:r>
          </a:p>
          <a:p xmlns:a="http://schemas.openxmlformats.org/drawingml/2006/main">
            <a:r>
              <a:t>Use the official TEST1 brief, interfaces and rubric.</a:t>
            </a:r>
          </a:p>
          <a:p xmlns:a="http://schemas.openxmlformats.org/drawingml/2006/main">
            <a:r>
              <a:t/>
            </a:r>
          </a:p>
          <a:p xmlns:a="http://schemas.openxmlformats.org/drawingml/2006/main">
            <a:r>
              <a:t>The assessed period has 120 practical minutes and 25 typed reasoning minutes.</a:t>
            </a:r>
          </a:p>
          <a:p xmlns:a="http://schemas.openxmlformats.org/drawingml/2006/main">
            <a:r>
              <a:t/>
            </a:r>
          </a:p>
          <a:p xmlns:a="http://schemas.openxmlformats.org/drawingml/2006/main">
            <a:r>
              <a:t>Your lecturer will issue the test packet and collection instructions.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evidence</a:t>
            </a:r>
          </a:p>
          <a:p xmlns:a="http://schemas.openxmlformats.org/drawingml/2006/main">
            <a:r>
              <a:t/>
            </a:r>
          </a:p>
          <a:p xmlns:a="http://schemas.openxmlformats.org/drawingml/2006/main">
            <a:r>
              <a:t>CONNECT</a:t>
            </a:r>
          </a:p>
          <a:p xmlns:a="http://schemas.openxmlformats.org/drawingml/2006/main">
            <a:r>
              <a:t>Build on the preceding slide: Preparation checkpoint.</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1.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1</a:t>
            </a:r>
          </a:p>
          <a:p xmlns:a="http://schemas.openxmlformats.org/drawingml/2006/main">
            <a:r>
              <a:t/>
            </a:r>
          </a:p>
          <a:p xmlns:a="http://schemas.openxmlformats.org/drawingml/2006/main">
            <a:r>
              <a:t>CONNECT</a:t>
            </a:r>
          </a:p>
          <a:p xmlns:a="http://schemas.openxmlformats.org/drawingml/2006/main">
            <a:r>
              <a:t>Build on Your evidence. Explain why this example is needed before running it.</a:t>
            </a:r>
          </a:p>
          <a:p xmlns:a="http://schemas.openxmlformats.org/drawingml/2006/main">
            <a:r>
              <a:t/>
            </a:r>
          </a:p>
          <a:p xmlns:a="http://schemas.openxmlformats.org/drawingml/2006/main">
            <a:r>
              <a:t>EXPLAIN</a:t>
            </a:r>
          </a:p>
          <a:p xmlns:a="http://schemas.openxmlformats.org/drawingml/2006/main">
            <a:r>
              <a:t>Write your own explanation in the markdown cell headed `## My written evidence`.</a:t>
            </a:r>
          </a:p>
          <a:p xmlns:a="http://schemas.openxmlformats.org/drawingml/2006/main">
            <a:r>
              <a:t/>
            </a:r>
          </a:p>
          <a:p xmlns:a="http://schemas.openxmlformats.org/drawingml/2006/main">
            <a:r>
              <a:t>Keep that heading.</a:t>
            </a:r>
          </a:p>
          <a:p xmlns:a="http://schemas.openxmlformats.org/drawingml/2006/main">
            <a:r>
              <a:t/>
            </a:r>
          </a:p>
          <a:p xmlns:a="http://schemas.openxmlformats.org/drawingml/2006/main">
            <a:r>
              <a:t>Task prompts and code comments are excluded from reasoning marks.</a:t>
            </a:r>
          </a:p>
          <a:p xmlns:a="http://schemas.openxmlformats.org/drawingml/2006/main">
            <a:r>
              <a:t/>
            </a:r>
          </a:p>
          <a:p xmlns:a="http://schemas.openxmlformats.org/drawingml/2006/main">
            <a:r>
              <a:t>Complete every original rubric criterion below, not just the checked functions.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1</a:t>
            </a:r>
          </a:p>
          <a:p xmlns:a="http://schemas.openxmlformats.org/drawingml/2006/main">
            <a:r>
              <a:t/>
            </a:r>
          </a:p>
          <a:p xmlns:a="http://schemas.openxmlformats.org/drawingml/2006/main">
            <a:r>
              <a:t>CONNECT</a:t>
            </a:r>
          </a:p>
          <a:p xmlns:a="http://schemas.openxmlformats.org/drawingml/2006/main">
            <a:r>
              <a:t>Build on the preceding slide: Your evidence.</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1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1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Practical Test 1. Explain why this example is needed before running it.</a:t>
            </a:r>
          </a:p>
          <a:p xmlns:a="http://schemas.openxmlformats.org/drawingml/2006/main">
            <a:r>
              <a:t/>
            </a:r>
          </a:p>
          <a:p xmlns:a="http://schemas.openxmlformats.org/drawingml/2006/main">
            <a:r>
              <a:t>EXPLAIN</a:t>
            </a:r>
          </a:p>
          <a:p xmlns:a="http://schemas.openxmlformats.org/drawingml/2006/main">
            <a:r>
              <a:t>Include profiling, justified cleaning, question-led charts and your engineering recommendation where required.</a:t>
            </a:r>
          </a:p>
          <a:p xmlns:a="http://schemas.openxmlformats.org/drawingml/2006/main">
            <a:r>
              <a:t/>
            </a:r>
          </a:p>
          <a:p xmlns:a="http://schemas.openxmlformats.org/drawingml/2006/main">
            <a:r>
              <a:t>Keep raw data.</a:t>
            </a:r>
          </a:p>
          <a:p xmlns:a="http://schemas.openxmlformats.org/drawingml/2006/main">
            <a:r>
              <a:t/>
            </a:r>
          </a:p>
          <a:p xmlns:a="http://schemas.openxmlformats.org/drawingml/2006/main">
            <a:r>
              <a:t>State units and distinguish correlation from causation.</a:t>
            </a:r>
          </a:p>
          <a:p xmlns:a="http://schemas.openxmlformats.org/drawingml/2006/main">
            <a:r>
              <a:t/>
            </a:r>
          </a:p>
          <a:p xmlns:a="http://schemas.openxmlformats.org/drawingml/2006/main">
            <a:r>
              <a:t>Charts must be actual labelled figures in the notebook, not claims that charts exist.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the preceding slide: Practical Test 1.</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1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1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Practical Test 1 continued. Explain why this example is needed before running it.</a:t>
            </a:r>
          </a:p>
          <a:p xmlns:a="http://schemas.openxmlformats.org/drawingml/2006/main">
            <a:r>
              <a:t/>
            </a:r>
          </a:p>
          <a:p xmlns:a="http://schemas.openxmlformats.org/drawingml/2006/main">
            <a:r>
              <a:t>EXPLAIN</a:t>
            </a:r>
          </a:p>
          <a:p xmlns:a="http://schemas.openxmlformats.org/drawingml/2006/main">
            <a:r>
              <a:t>Include captions and readable written evidence in the notebook.</a:t>
            </a:r>
          </a:p>
          <a:p xmlns:a="http://schemas.openxmlformats.org/drawingml/2006/main">
            <a:r>
              <a:t/>
            </a:r>
          </a:p>
          <a:p xmlns:a="http://schemas.openxmlformats.org/drawingml/2006/main">
            <a:r>
              <a:t>Loading &amp; profiling (15.0 total): Data loaded correctly; shape, types and summary produced; the dataset is described accurately in the student's own words.</a:t>
            </a:r>
          </a:p>
          <a:p xmlns:a="http://schemas.openxmlformats.org/drawingml/2006/main">
            <a:r>
              <a:t/>
            </a:r>
          </a:p>
          <a:p xmlns:a="http://schemas.openxmlformats.org/drawingml/2006/main">
            <a:r>
              <a:t>Cleaning decisions &amp; justification (20.0 total): Defects found.</a:t>
            </a:r>
          </a:p>
          <a:p xmlns:a="http://schemas.openxmlformats.org/drawingml/2006/main">
            <a:r>
              <a:t/>
            </a:r>
          </a:p>
          <a:p xmlns:a="http://schemas.openxmlformats.org/drawingml/2006/main">
            <a:r>
              <a:t>Each handling decision stated AND justified.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the preceding slide: Practical Test 1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1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1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Practical Test 1 continued. Explain why this example is needed before running it.</a:t>
            </a:r>
          </a:p>
          <a:p xmlns:a="http://schemas.openxmlformats.org/drawingml/2006/main">
            <a:r>
              <a:t/>
            </a:r>
          </a:p>
          <a:p xmlns:a="http://schemas.openxmlformats.org/drawingml/2006/main">
            <a:r>
              <a:t>EXPLAIN</a:t>
            </a:r>
          </a:p>
          <a:p xmlns:a="http://schemas.openxmlformats.org/drawingml/2006/main">
            <a:r>
              <a:t>Marks are for the justification - an unjustified correct fix scores roughly half.</a:t>
            </a:r>
          </a:p>
          <a:p xmlns:a="http://schemas.openxmlformats.org/drawingml/2006/main">
            <a:r>
              <a:t/>
            </a:r>
          </a:p>
          <a:p xmlns:a="http://schemas.openxmlformats.org/drawingml/2006/main">
            <a:r>
              <a:t>Visualisation (20.0 total): Three charts, each captioned with the question it answers.</a:t>
            </a:r>
          </a:p>
          <a:p xmlns:a="http://schemas.openxmlformats.org/drawingml/2006/main">
            <a:r>
              <a:t/>
            </a:r>
          </a:p>
          <a:p xmlns:a="http://schemas.openxmlformats.org/drawingml/2006/main">
            <a:r>
              <a:t>Correct chart type.</a:t>
            </a:r>
          </a:p>
          <a:p xmlns:a="http://schemas.openxmlformats.org/drawingml/2006/main">
            <a:r>
              <a:t/>
            </a:r>
          </a:p>
          <a:p xmlns:a="http://schemas.openxmlformats.org/drawingml/2006/main">
            <a:r>
              <a:t>Axes labelled with units.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the preceding slide: Practical Test 1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1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1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Practical Test 1 continued. Explain why this example is needed before running it.</a:t>
            </a:r>
          </a:p>
          <a:p xmlns:a="http://schemas.openxmlformats.org/drawingml/2006/main">
            <a:r>
              <a:t/>
            </a:r>
          </a:p>
          <a:p xmlns:a="http://schemas.openxmlformats.org/drawingml/2006/main">
            <a:r>
              <a:t>EXPLAIN</a:t>
            </a:r>
          </a:p>
          <a:p xmlns:a="http://schemas.openxmlformats.org/drawingml/2006/main">
            <a:r>
              <a:t>No decoration without purpose.</a:t>
            </a:r>
          </a:p>
          <a:p xmlns:a="http://schemas.openxmlformats.org/drawingml/2006/main">
            <a:r>
              <a:t/>
            </a:r>
          </a:p>
          <a:p xmlns:a="http://schemas.openxmlformats.org/drawingml/2006/main">
            <a:r>
              <a:t>Findings (20.0 total): Five findings, supported by evidence from the data, stated with correct magnitudes and units.</a:t>
            </a:r>
          </a:p>
          <a:p xmlns:a="http://schemas.openxmlformats.org/drawingml/2006/main">
            <a:r>
              <a:t/>
            </a:r>
          </a:p>
          <a:p xmlns:a="http://schemas.openxmlformats.org/drawingml/2006/main">
            <a:r>
              <a:t>A wrong number loses the mark even if the method was right.</a:t>
            </a:r>
          </a:p>
          <a:p xmlns:a="http://schemas.openxmlformats.org/drawingml/2006/main">
            <a:r>
              <a:t/>
            </a:r>
          </a:p>
          <a:p xmlns:a="http://schemas.openxmlformats.org/drawingml/2006/main">
            <a:r>
              <a:t>Engineering interpretation (15.0 total): One recommendation that an engineer could act on, plus a clear statement of what further data would be needed.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the preceding slide: Practical Test 1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1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1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Practical Test 1 continued. Explain why this example is needed before running it.</a:t>
            </a:r>
          </a:p>
          <a:p xmlns:a="http://schemas.openxmlformats.org/drawingml/2006/main">
            <a:r>
              <a:t/>
            </a:r>
          </a:p>
          <a:p xmlns:a="http://schemas.openxmlformats.org/drawingml/2006/main">
            <a:r>
              <a:t>EXPLAIN</a:t>
            </a:r>
          </a:p>
          <a:p xmlns:a="http://schemas.openxmlformats.org/drawingml/2006/main">
            <a:r>
              <a:t>Clarity &amp; reproducibility (10.0 total): Notebook runs top to bottom.</a:t>
            </a:r>
          </a:p>
          <a:p xmlns:a="http://schemas.openxmlformats.org/drawingml/2006/main">
            <a:r>
              <a:t/>
            </a:r>
          </a:p>
          <a:p xmlns:a="http://schemas.openxmlformats.org/drawingml/2006/main">
            <a:r>
              <a:t>Logical order.</a:t>
            </a:r>
          </a:p>
          <a:p xmlns:a="http://schemas.openxmlformats.org/drawingml/2006/main">
            <a:r>
              <a:t/>
            </a:r>
          </a:p>
          <a:p xmlns:a="http://schemas.openxmlformats.org/drawingml/2006/main">
            <a:r>
              <a:t>Markdown explains intent.</a:t>
            </a:r>
          </a:p>
          <a:p xmlns:a="http://schemas.openxmlformats.org/drawingml/2006/main">
            <a:r>
              <a:t/>
            </a:r>
          </a:p>
          <a:p xmlns:a="http://schemas.openxmlformats.org/drawingml/2006/main">
            <a:r>
              <a:t>No dead code.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the preceding slide: Practical Test 1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1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1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Practical Test 1 continued. Explain why this example is needed before running it.</a:t>
            </a:r>
          </a:p>
          <a:p xmlns:a="http://schemas.openxmlformats.org/drawingml/2006/main">
            <a:r>
              <a:t/>
            </a:r>
          </a:p>
          <a:p xmlns:a="http://schemas.openxmlformats.org/drawingml/2006/main">
            <a:r>
              <a:t>EXPLAIN</a:t>
            </a:r>
          </a:p>
          <a:p xmlns:a="http://schemas.openxmlformats.org/drawingml/2006/main">
            <a:r>
              <a:t>Timing and Part B</a:t>
            </a:r>
          </a:p>
          <a:p xmlns:a="http://schemas.openxmlformats.org/drawingml/2006/main">
            <a:r>
              <a:t/>
            </a:r>
          </a:p>
          <a:p xmlns:a="http://schemas.openxmlformats.org/drawingml/2006/main">
            <a:r>
              <a:t>15 minutes setup, 120 minutes practical, 25 minutes typed offline reasoning with code execution prohibited, 20 minutes collection.</a:t>
            </a:r>
          </a:p>
          <a:p xmlns:a="http://schemas.openxmlformats.org/drawingml/2006/main">
            <a:r>
              <a:t/>
            </a:r>
          </a:p>
          <a:p xmlns:a="http://schemas.openxmlformats.org/drawingml/2006/main">
            <a:r>
              <a:t>No internet, messaging or AI.</a:t>
            </a:r>
          </a:p>
          <a:p xmlns:a="http://schemas.openxmlformats.org/drawingml/2006/main">
            <a:r>
              <a:t/>
            </a:r>
          </a:p>
          <a:p xmlns:a="http://schemas.openxmlformats.org/drawingml/2006/main">
            <a:r>
              <a:t>Answer: Why your main cleaning/model choice?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the preceding slide: Practical Test 1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First remove models that fail the stated error or speed limits. Then apply the stated ranking and tie-break rules to eligible models. The smallest error alone need not decide.</a:t>
            </a:r>
          </a:p>
          <a:p xmlns:a="http://schemas.openxmlformats.org/drawingml/2006/main">
            <a:r>
              <a:t/>
            </a:r>
          </a:p>
          <a:p xmlns:a="http://schemas.openxmlformats.org/drawingml/2006/main">
            <a:r>
              <a:t>CHECK AND EXPECTED ANSWER</a:t>
            </a:r>
          </a:p>
          <a:p xmlns:a="http://schemas.openxmlformats.org/drawingml/2006/main">
            <a:r>
              <a:t>If a model has the lowest error but exceeds the maximum latency, is it eligible? No.</a:t>
            </a:r>
          </a:p>
          <a:p xmlns:a="http://schemas.openxmlformats.org/drawingml/2006/main">
            <a:r>
              <a:t/>
            </a:r>
          </a:p>
          <a:p xmlns:a="http://schemas.openxmlformats.org/drawingml/2006/main">
            <a:r>
              <a:t>IF LEARNERS ARE STUCK</a:t>
            </a:r>
          </a:p>
          <a:p xmlns:a="http://schemas.openxmlformats.org/drawingml/2006/main">
            <a:r>
              <a:t>Write an eligibility column and a separate ranking column. Check the exact boundary rule before sorting.</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1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1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Practical Test 1 continued. Explain why this example is needed before running it.</a:t>
            </a:r>
          </a:p>
          <a:p xmlns:a="http://schemas.openxmlformats.org/drawingml/2006/main">
            <a:r>
              <a:t/>
            </a:r>
          </a:p>
          <a:p xmlns:a="http://schemas.openxmlformats.org/drawingml/2006/main">
            <a:r>
              <a:t>EXPLAIN</a:t>
            </a:r>
          </a:p>
          <a:p xmlns:a="http://schemas.openxmlformats.org/drawingml/2006/main">
            <a:r>
              <a:t>What can your chart/metric not establish?</a:t>
            </a:r>
          </a:p>
          <a:p xmlns:a="http://schemas.openxmlformats.org/drawingml/2006/main">
            <a:r>
              <a:t/>
            </a:r>
          </a:p>
          <a:p xmlns:a="http://schemas.openxmlformats.org/drawingml/2006/main">
            <a:r>
              <a:t>What evidence would change your recommendation?</a:t>
            </a:r>
          </a:p>
          <a:p xmlns:a="http://schemas.openxmlformats.org/drawingml/2006/main">
            <a:r>
              <a:t/>
            </a:r>
          </a:p>
          <a:p xmlns:a="http://schemas.openxmlformats.org/drawingml/2006/main">
            <a:r>
              <a:t>What further data is required?</a:t>
            </a:r>
          </a:p>
          <a:p xmlns:a="http://schemas.openxmlformats.org/drawingml/2006/main">
            <a:r>
              <a:t/>
            </a:r>
          </a:p>
          <a:p xmlns:a="http://schemas.openxmlformats.org/drawingml/2006/main">
            <a:r>
              <a:t>Invigilated offline collection is authoritative; Google upload is a later transport step and must not impose an internet requirement during the test.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the preceding slide: Practical Test 1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1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1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1 submission</a:t>
            </a:r>
          </a:p>
          <a:p xmlns:a="http://schemas.openxmlformats.org/drawingml/2006/main">
            <a:r>
              <a:t/>
            </a:r>
          </a:p>
          <a:p xmlns:a="http://schemas.openxmlformats.org/drawingml/2006/main">
            <a:r>
              <a:t>CONNECT</a:t>
            </a:r>
          </a:p>
          <a:p xmlns:a="http://schemas.openxmlformats.org/drawingml/2006/main">
            <a:r>
              <a:t>Build on Practical Test 1 continued. Explain why this example is needed before running it.</a:t>
            </a:r>
          </a:p>
          <a:p xmlns:a="http://schemas.openxmlformats.org/drawingml/2006/main">
            <a:r>
              <a:t/>
            </a:r>
          </a:p>
          <a:p xmlns:a="http://schemas.openxmlformats.org/drawingml/2006/main">
            <a:r>
              <a:t>EXPLAIN</a:t>
            </a:r>
          </a:p>
          <a:p xmlns:a="http://schemas.openxmlformats.org/drawingml/2006/main">
            <a:r>
              <a:t>Offline invigilated collection is authoritative.</a:t>
            </a:r>
          </a:p>
          <a:p xmlns:a="http://schemas.openxmlformats.org/drawingml/2006/main">
            <a:r>
              <a:t/>
            </a:r>
          </a:p>
          <a:p xmlns:a="http://schemas.openxmlformats.org/drawingml/2006/main">
            <a:r>
              <a:t>Google upload is a later transport step.</a:t>
            </a:r>
          </a:p>
          <a:p xmlns:a="http://schemas.openxmlformats.org/drawingml/2006/main">
            <a:r>
              <a:t/>
            </a:r>
          </a:p>
          <a:p xmlns:a="http://schemas.openxmlformats.org/drawingml/2006/main">
            <a:r>
              <a:t>Save one notebook with Part B under My written evidence.</a:t>
            </a:r>
          </a:p>
          <a:p xmlns:a="http://schemas.openxmlformats.org/drawingml/2006/main">
            <a:r>
              <a:t/>
            </a:r>
          </a:p>
          <a:p xmlns:a="http://schemas.openxmlformats.org/drawingml/2006/main">
            <a:r>
              <a:t>No internet, messaging or AI during the test.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1 submission</a:t>
            </a:r>
          </a:p>
          <a:p xmlns:a="http://schemas.openxmlformats.org/drawingml/2006/main">
            <a:r>
              <a:t/>
            </a:r>
          </a:p>
          <a:p xmlns:a="http://schemas.openxmlformats.org/drawingml/2006/main">
            <a:r>
              <a:t>CONNECT</a:t>
            </a:r>
          </a:p>
          <a:p xmlns:a="http://schemas.openxmlformats.org/drawingml/2006/main">
            <a:r>
              <a:t>Build on the preceding slide: Practical Test 1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Practical Test 1 submission. Explain why this example is needed before running it.</a:t>
            </a:r>
          </a:p>
          <a:p xmlns:a="http://schemas.openxmlformats.org/drawingml/2006/main">
            <a:r>
              <a:t/>
            </a:r>
          </a:p>
          <a:p xmlns:a="http://schemas.openxmlformats.org/drawingml/2006/main">
            <a:r>
              <a:t>EXPLAIN</a:t>
            </a:r>
          </a:p>
          <a:p xmlns:a="http://schemas.openxmlformats.org/drawingml/2006/main">
            <a:r>
              <a:t>You can reopen your notebook and find code and typed reasoning without help.</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Practical Test 1 submission.</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cc1cc39666647c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96481066bf1472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439343b8ea04d0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a20bf5cab484aa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cd6a13153284fc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77c90487ccb4ae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1CC6C783-CAE3-4438-8F24-9F84BF1FB036}"/>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9787494-DCF8-43D2-9F04-C49C29E77B5D}"/>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929E2AAB-CFAD-4D3A-8FC5-AC0F4A0C59E2}"/>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1D31BBBD-2877-4916-A858-DD6BC0528496}"/>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5426C231-8802-4211-8EDB-A65349E00096}"/>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A8CCBE1-A23E-40A3-BF2F-0C9465E969B7}"/>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24448CD-0A3B-435A-8F4A-AF637307131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4EC33BEF-4D0F-45CB-9FF4-B2A19D6F7290}"/>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77A6D181-221E-416F-9F44-7797AE6DBC08}"/>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C96258F-3171-45B3-9C55-A18EC886AFC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222AF4B3-2E41-467F-A4F2-0B95036F57FD}"/>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EFB42463-1AE5-4B28-B007-CF2B79AD0687}"/>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E94C14D9-2AEA-46B9-99D3-36BB401CD4E0}"/>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A993219-215C-4687-8B02-3B062C2C859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A9975EA3-E1A5-4AC7-8BD3-084FBE3EA780}"/>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c3bb4391bd24cc8" /><Relationship Type="http://schemas.openxmlformats.org/officeDocument/2006/relationships/slideLayout" Target="/ppt/slideLayouts/slideLayout1.xml" Id="R47226d402d704119" /><Relationship Type="http://schemas.openxmlformats.org/officeDocument/2006/relationships/slideLayout" Target="/ppt/slideLayouts/slideLayout2.xml" Id="R84e7a52bbac54c06" /><Relationship Type="http://schemas.openxmlformats.org/officeDocument/2006/relationships/slideLayout" Target="/ppt/slideLayouts/slideLayout3.xml" Id="Ra0e7ef1ea9934d31" /><Relationship Type="http://schemas.openxmlformats.org/officeDocument/2006/relationships/slideLayout" Target="/ppt/slideLayouts/slideLayout4.xml" Id="Re5448a13fa614411" /><Relationship Type="http://schemas.openxmlformats.org/officeDocument/2006/relationships/slideLayout" Target="/ppt/slideLayouts/slideLayout5.xml" Id="R8e260b4c1a2b449c" /><Relationship Type="http://schemas.openxmlformats.org/officeDocument/2006/relationships/slideLayout" Target="/ppt/slideLayouts/slideLayout6.xml" Id="R95e5c081e433471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7226d402d704119"/>
    <p:sldLayoutId xmlns:r="http://schemas.openxmlformats.org/officeDocument/2006/relationships" id="2147483650" r:id="R84e7a52bbac54c06"/>
    <p:sldLayoutId xmlns:r="http://schemas.openxmlformats.org/officeDocument/2006/relationships" id="2147483651" r:id="Ra0e7ef1ea9934d31"/>
    <p:sldLayoutId xmlns:r="http://schemas.openxmlformats.org/officeDocument/2006/relationships" id="2147483652" r:id="Re5448a13fa614411"/>
    <p:sldLayoutId xmlns:r="http://schemas.openxmlformats.org/officeDocument/2006/relationships" id="2147483653" r:id="R8e260b4c1a2b449c"/>
    <p:sldLayoutId xmlns:r="http://schemas.openxmlformats.org/officeDocument/2006/relationships" id="2147483654" r:id="R95e5c081e433471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d20ef1a7a754894" /><Relationship Type="http://schemas.openxmlformats.org/officeDocument/2006/relationships/image" Target="/ppt/media/image.png" Id="R350c64c945a140d2" /><Relationship Type="http://schemas.openxmlformats.org/officeDocument/2006/relationships/notesSlide" Target="/ppt/notesSlides/notesSlide1.xml" Id="R193b59e012464ee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4b3493ee1fa4a72" /><Relationship Type="http://schemas.openxmlformats.org/officeDocument/2006/relationships/notesSlide" Target="/ppt/notesSlides/notesSlide2.xml" Id="R0b4586ab6bfd4b1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67ec81a146f48d5" /><Relationship Type="http://schemas.openxmlformats.org/officeDocument/2006/relationships/notesSlide" Target="/ppt/notesSlides/notesSlide3.xml" Id="R288796b0ab9b43b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1d6750cc6064136" /><Relationship Type="http://schemas.openxmlformats.org/officeDocument/2006/relationships/notesSlide" Target="/ppt/notesSlides/notesSlide4.xml" Id="R1f83089ba6e140d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6985772b4994518" /><Relationship Type="http://schemas.openxmlformats.org/officeDocument/2006/relationships/notesSlide" Target="/ppt/notesSlides/notesSlide5.xml" Id="R71af5eeea49e4f9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f7fe29f754d4a87" /><Relationship Type="http://schemas.openxmlformats.org/officeDocument/2006/relationships/notesSlide" Target="/ppt/notesSlides/notesSlide6.xml" Id="Re6ce3f9a8237453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d877167eabd487c" /><Relationship Type="http://schemas.openxmlformats.org/officeDocument/2006/relationships/notesSlide" Target="/ppt/notesSlides/notesSlide7.xml" Id="R86118162ecab463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a2ca857d6d34400" /><Relationship Type="http://schemas.openxmlformats.org/officeDocument/2006/relationships/notesSlide" Target="/ppt/notesSlides/notesSlide8.xml" Id="R4a3373027551425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b1ca6d4ae47416b" /><Relationship Type="http://schemas.openxmlformats.org/officeDocument/2006/relationships/notesSlide" Target="/ppt/notesSlides/notesSlide9.xml" Id="R51547fb9933c4ff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fc553eb883c4034" /><Relationship Type="http://schemas.openxmlformats.org/officeDocument/2006/relationships/notesSlide" Target="/ppt/notesSlides/notesSlide10.xml" Id="Rf648ca7bb6ba445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9bd57d1d7484517" /><Relationship Type="http://schemas.openxmlformats.org/officeDocument/2006/relationships/notesSlide" Target="/ppt/notesSlides/notesSlide11.xml" Id="Rb426f0c838e5406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764d34be1874ac1" /><Relationship Type="http://schemas.openxmlformats.org/officeDocument/2006/relationships/notesSlide" Target="/ppt/notesSlides/notesSlide12.xml" Id="R114c946005284de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34e359d4d934146" /><Relationship Type="http://schemas.openxmlformats.org/officeDocument/2006/relationships/notesSlide" Target="/ppt/notesSlides/notesSlide13.xml" Id="R02dd6f0d0d404c7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422554010a14850" /><Relationship Type="http://schemas.openxmlformats.org/officeDocument/2006/relationships/notesSlide" Target="/ppt/notesSlides/notesSlide14.xml" Id="R58ff33e3a212432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c60818ed9754550" /><Relationship Type="http://schemas.openxmlformats.org/officeDocument/2006/relationships/notesSlide" Target="/ppt/notesSlides/notesSlide15.xml" Id="Reb82f38d4b38468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164a2326d1474291" /><Relationship Type="http://schemas.openxmlformats.org/officeDocument/2006/relationships/notesSlide" Target="/ppt/notesSlides/notesSlide16.xml" Id="R663e69c584f64c3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c83a3f4ace774824" /><Relationship Type="http://schemas.openxmlformats.org/officeDocument/2006/relationships/notesSlide" Target="/ppt/notesSlides/notesSlide17.xml" Id="R729841b29f074ef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c38318a106e4cee" /><Relationship Type="http://schemas.openxmlformats.org/officeDocument/2006/relationships/notesSlide" Target="/ppt/notesSlides/notesSlide18.xml" Id="Rfeac139e95af4e9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e7d2f55ce46483e" /><Relationship Type="http://schemas.openxmlformats.org/officeDocument/2006/relationships/hyperlink" Target="https://docs.google.com/forms/d/e/1FAIpQLSdwcNAD9gGSz-hXLmHPO8nS3WIfg72BcsKW7IrwpvtakiJrIA/viewform" TargetMode="External" Id="Rf2b58aec2aff49d0" /><Relationship Type="http://schemas.openxmlformats.org/officeDocument/2006/relationships/notesSlide" Target="/ppt/notesSlides/notesSlide19.xml" Id="Rc22e4d054e02451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b476a540958c4319" /><Relationship Type="http://schemas.openxmlformats.org/officeDocument/2006/relationships/notesSlide" Target="/ppt/notesSlides/notesSlide20.xml" Id="Re0a2d545b7a44ab6"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350c64c945a140d2"/>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9706706-1FCA-4A8C-AB34-744B3CA8801C}"/>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429F0EE-14FA-4602-B093-69C08E1F9AD2}"/>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7</a:t>
            </a:r>
          </a:p>
        </p:txBody>
      </p:sp>
      <p:sp>
        <p:nvSpPr>
          <p:cNvPr id="4" name="">
            <a:extLst xmlns:a="http://schemas.openxmlformats.org/drawingml/2006/main">
              <a:ext uri="{FF2B5EF4-FFF2-40B4-BE49-F238E27FC236}">
                <a16:creationId xmlns:a16="http://schemas.microsoft.com/office/drawing/2014/main" id="{76D5C556-CA9F-4F28-B475-4741B5CA3B10}"/>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1</a:t>
            </a:r>
          </a:p>
        </p:txBody>
      </p:sp>
      <p:sp>
        <p:nvSpPr>
          <p:cNvPr id="5" name="">
            <a:extLst xmlns:a="http://schemas.openxmlformats.org/drawingml/2006/main">
              <a:ext uri="{FF2B5EF4-FFF2-40B4-BE49-F238E27FC236}">
                <a16:creationId xmlns:a16="http://schemas.microsoft.com/office/drawing/2014/main" id="{40153DB7-6F43-4282-99A7-7BEC14CDB96D}"/>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4C685FA0-DC49-4585-98EA-6167E603550F}"/>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20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55037053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DE08D94-696E-4296-BE52-17B2529A36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3FB62E-99AA-479C-8EE5-1B972ACC2B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6C8F20CF-90B0-4CE9-9B93-9D3A8B48B0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1137778A-5AFD-4814-A55B-09BF620CCCA9}"/>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89C642E-9723-4CC1-9B3E-142691BC24F0}"/>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71935C04-9C6B-4924-84C4-8AA02ACCCA8C}"/>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Rehearse saving and reopening the required files.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published test rules before the session.</a:t>
            </a:r>
          </a:p>
        </p:txBody>
      </p:sp>
      <p:sp>
        <p:nvSpPr>
          <p:cNvPr id="7" name="">
            <a:extLst xmlns:a="http://schemas.openxmlformats.org/drawingml/2006/main">
              <a:ext uri="{FF2B5EF4-FFF2-40B4-BE49-F238E27FC236}">
                <a16:creationId xmlns:a16="http://schemas.microsoft.com/office/drawing/2014/main" id="{88038089-CC6A-4F16-B78B-8A4EECF9C375}"/>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B2893BD8-B455-4E3D-A734-28430DBBAE87}"/>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reopen your notebook and find code and typed reasoning without help.</a:t>
            </a:r>
          </a:p>
        </p:txBody>
      </p:sp>
      <p:sp>
        <p:nvSpPr>
          <p:cNvPr id="9" name="">
            <a:extLst xmlns:a="http://schemas.openxmlformats.org/drawingml/2006/main">
              <a:ext uri="{FF2B5EF4-FFF2-40B4-BE49-F238E27FC236}">
                <a16:creationId xmlns:a16="http://schemas.microsoft.com/office/drawing/2014/main" id="{1B3D6435-CD86-4747-8EBE-860FA1E429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2</a:t>
            </a:r>
          </a:p>
        </p:txBody>
      </p:sp>
    </p:spTree>
    <p:extLst>
      <p:ext uri="{BB962C8B-B14F-4D97-AF65-F5344CB8AC3E}">
        <p14:creationId xmlns:p14="http://schemas.microsoft.com/office/powerpoint/2010/main" val="825103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5400446-DBBF-4B15-A8A5-ACC12D4774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1681A8A-2C21-4B60-AEC2-7406DCFF71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400FF49-C4DE-458C-972C-CD3C673109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8130FABF-8A0F-4BCE-959E-838AEDC07826}"/>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B1E4477-D67C-4144-A0B5-FA91D5E0ABE5}"/>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Can you open the provided notebook and data on the prepared lab computer without internet?</a:t>
            </a:r>
          </a:p>
        </p:txBody>
      </p:sp>
      <p:sp>
        <p:nvSpPr>
          <p:cNvPr id="6" name="">
            <a:extLst xmlns:a="http://schemas.openxmlformats.org/drawingml/2006/main">
              <a:ext uri="{FF2B5EF4-FFF2-40B4-BE49-F238E27FC236}">
                <a16:creationId xmlns:a16="http://schemas.microsoft.com/office/drawing/2014/main" id="{4D8A61DA-3C03-482F-A702-5404DED2DF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3</a:t>
            </a:r>
          </a:p>
        </p:txBody>
      </p:sp>
    </p:spTree>
    <p:extLst>
      <p:ext uri="{BB962C8B-B14F-4D97-AF65-F5344CB8AC3E}">
        <p14:creationId xmlns:p14="http://schemas.microsoft.com/office/powerpoint/2010/main" val="156877644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BE35A6A-9877-4135-A990-C50C84323D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703DD3-B680-4430-B7FC-D82DD11BCC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FC30BBC-B14F-48EC-BFE4-8531B9BC2F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Rehearse before test day</a:t>
            </a:r>
          </a:p>
        </p:txBody>
      </p:sp>
      <p:sp>
        <p:nvSpPr>
          <p:cNvPr id="4" name="">
            <a:extLst xmlns:a="http://schemas.openxmlformats.org/drawingml/2006/main">
              <a:ext uri="{FF2B5EF4-FFF2-40B4-BE49-F238E27FC236}">
                <a16:creationId xmlns:a16="http://schemas.microsoft.com/office/drawing/2014/main" id="{39450BB6-9872-4AD0-A8C6-67A3D7AA6F0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8429CE0-6F59-43FB-916F-473657B37DF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separate practice notebook before the timed session.</a:t>
            </a:r>
          </a:p>
        </p:txBody>
      </p:sp>
      <p:sp>
        <p:nvSpPr>
          <p:cNvPr id="6" name="">
            <a:extLst xmlns:a="http://schemas.openxmlformats.org/drawingml/2006/main">
              <a:ext uri="{FF2B5EF4-FFF2-40B4-BE49-F238E27FC236}">
                <a16:creationId xmlns:a16="http://schemas.microsoft.com/office/drawing/2014/main" id="{8959715A-B4B8-42E3-933C-EE1748D3720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CFDADF4-C05C-42EB-B35E-7136064CD6F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supplied data and run a familiar calculation.</a:t>
            </a:r>
          </a:p>
        </p:txBody>
      </p:sp>
      <p:sp>
        <p:nvSpPr>
          <p:cNvPr id="8" name="">
            <a:extLst xmlns:a="http://schemas.openxmlformats.org/drawingml/2006/main">
              <a:ext uri="{FF2B5EF4-FFF2-40B4-BE49-F238E27FC236}">
                <a16:creationId xmlns:a16="http://schemas.microsoft.com/office/drawing/2014/main" id="{315C7B00-C88D-4E77-B17E-19B50EA6934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AF88EAB-5CDA-4C55-95FE-4E2DAEEE842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packet and permitted resources are issued by the lecturer.</a:t>
            </a:r>
          </a:p>
        </p:txBody>
      </p:sp>
      <p:sp>
        <p:nvSpPr>
          <p:cNvPr id="10" name="">
            <a:extLst xmlns:a="http://schemas.openxmlformats.org/drawingml/2006/main">
              <a:ext uri="{FF2B5EF4-FFF2-40B4-BE49-F238E27FC236}">
                <a16:creationId xmlns:a16="http://schemas.microsoft.com/office/drawing/2014/main" id="{2A7C920D-466C-424E-A77B-31F1B35734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4</a:t>
            </a:r>
          </a:p>
        </p:txBody>
      </p:sp>
    </p:spTree>
    <p:extLst>
      <p:ext uri="{BB962C8B-B14F-4D97-AF65-F5344CB8AC3E}">
        <p14:creationId xmlns:p14="http://schemas.microsoft.com/office/powerpoint/2010/main" val="156861440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15E25B6-D867-4936-8E67-B4F66A45C1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BBF5F7-023A-4D7F-B029-794D6AD345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041A8DB-EF36-49B5-BBF3-7CA5BBC262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 the complete notebook</a:t>
            </a:r>
          </a:p>
        </p:txBody>
      </p:sp>
      <p:sp>
        <p:nvSpPr>
          <p:cNvPr id="4" name="">
            <a:extLst xmlns:a="http://schemas.openxmlformats.org/drawingml/2006/main">
              <a:ext uri="{FF2B5EF4-FFF2-40B4-BE49-F238E27FC236}">
                <a16:creationId xmlns:a16="http://schemas.microsoft.com/office/drawing/2014/main" id="{5C5A9BB1-1C69-412C-8C59-5A9DAFA9ADD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62E27C5-70CF-4FAC-8189-AD9BE8E4712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Type Part B under My written evidence in the notebook.</a:t>
            </a:r>
          </a:p>
        </p:txBody>
      </p:sp>
      <p:sp>
        <p:nvSpPr>
          <p:cNvPr id="6" name="">
            <a:extLst xmlns:a="http://schemas.openxmlformats.org/drawingml/2006/main">
              <a:ext uri="{FF2B5EF4-FFF2-40B4-BE49-F238E27FC236}">
                <a16:creationId xmlns:a16="http://schemas.microsoft.com/office/drawing/2014/main" id="{EAE62F3B-72D9-4D80-9A66-9EA4B86481C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B454308-197B-435D-A30E-AD6740DA7F7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Locate the complete notebook in the designated local folder.</a:t>
            </a:r>
          </a:p>
        </p:txBody>
      </p:sp>
      <p:sp>
        <p:nvSpPr>
          <p:cNvPr id="8" name="">
            <a:extLst xmlns:a="http://schemas.openxmlformats.org/drawingml/2006/main">
              <a:ext uri="{FF2B5EF4-FFF2-40B4-BE49-F238E27FC236}">
                <a16:creationId xmlns:a16="http://schemas.microsoft.com/office/drawing/2014/main" id="{5AC8656C-9F06-4211-B957-643C8C6D41C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757B2AB-FC89-43EE-9E4F-158BC07F855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Reopen it to check that code and written answers were saved.</a:t>
            </a:r>
          </a:p>
        </p:txBody>
      </p:sp>
      <p:sp>
        <p:nvSpPr>
          <p:cNvPr id="10" name="">
            <a:extLst xmlns:a="http://schemas.openxmlformats.org/drawingml/2006/main">
              <a:ext uri="{FF2B5EF4-FFF2-40B4-BE49-F238E27FC236}">
                <a16:creationId xmlns:a16="http://schemas.microsoft.com/office/drawing/2014/main" id="{FFDBD999-CCE7-492D-B6AE-9E3CADDD34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5</a:t>
            </a:r>
          </a:p>
        </p:txBody>
      </p:sp>
    </p:spTree>
    <p:extLst>
      <p:ext uri="{BB962C8B-B14F-4D97-AF65-F5344CB8AC3E}">
        <p14:creationId xmlns:p14="http://schemas.microsoft.com/office/powerpoint/2010/main" val="19938587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08A60F2-BB15-4F53-9ABB-F20FF5885B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FA1532C-04F0-45B3-8AD1-B541977F26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F045FB4-FC49-4171-8D6F-2D2D596AB6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Follow the published test procedure</a:t>
            </a:r>
          </a:p>
        </p:txBody>
      </p:sp>
      <p:sp>
        <p:nvSpPr>
          <p:cNvPr id="4" name="">
            <a:extLst xmlns:a="http://schemas.openxmlformats.org/drawingml/2006/main">
              <a:ext uri="{FF2B5EF4-FFF2-40B4-BE49-F238E27FC236}">
                <a16:creationId xmlns:a16="http://schemas.microsoft.com/office/drawing/2014/main" id="{B32ACD3B-245D-4291-B7E8-820C9BAA4AB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F2C2E8E-EA93-4966-A4A3-63446C52C93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briefing before starting assessed work.</a:t>
            </a:r>
          </a:p>
        </p:txBody>
      </p:sp>
      <p:sp>
        <p:nvSpPr>
          <p:cNvPr id="6" name="">
            <a:extLst xmlns:a="http://schemas.openxmlformats.org/drawingml/2006/main">
              <a:ext uri="{FF2B5EF4-FFF2-40B4-BE49-F238E27FC236}">
                <a16:creationId xmlns:a16="http://schemas.microsoft.com/office/drawing/2014/main" id="{73065BAB-F790-4F94-A111-C7F0B7B3F88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E4B9CBD-EBF2-4763-9207-C0B763DEE2C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only the resources permitted for that part of the test.</a:t>
            </a:r>
          </a:p>
        </p:txBody>
      </p:sp>
      <p:sp>
        <p:nvSpPr>
          <p:cNvPr id="8" name="">
            <a:extLst xmlns:a="http://schemas.openxmlformats.org/drawingml/2006/main">
              <a:ext uri="{FF2B5EF4-FFF2-40B4-BE49-F238E27FC236}">
                <a16:creationId xmlns:a16="http://schemas.microsoft.com/office/drawing/2014/main" id="{BD909609-4F96-4572-AD38-A25EE4F09BF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5F0E408-00FC-4863-95B7-A780AD74CAD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Report a technical failure to the invigilator immediately.</a:t>
            </a:r>
          </a:p>
        </p:txBody>
      </p:sp>
      <p:sp>
        <p:nvSpPr>
          <p:cNvPr id="10" name="">
            <a:extLst xmlns:a="http://schemas.openxmlformats.org/drawingml/2006/main">
              <a:ext uri="{FF2B5EF4-FFF2-40B4-BE49-F238E27FC236}">
                <a16:creationId xmlns:a16="http://schemas.microsoft.com/office/drawing/2014/main" id="{7F3CCD40-2349-4F51-A139-52475E82EA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6</a:t>
            </a:r>
          </a:p>
        </p:txBody>
      </p:sp>
    </p:spTree>
    <p:extLst>
      <p:ext uri="{BB962C8B-B14F-4D97-AF65-F5344CB8AC3E}">
        <p14:creationId xmlns:p14="http://schemas.microsoft.com/office/powerpoint/2010/main" val="55747019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52116D5-105F-47E4-8835-CA59C72B21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74E5EAD-FF2C-48AD-9BF3-D751D4C220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6CC7881-584E-462D-959C-A835E5411D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before test day</a:t>
            </a:r>
          </a:p>
        </p:txBody>
      </p:sp>
      <p:sp>
        <p:nvSpPr>
          <p:cNvPr id="4" name="">
            <a:extLst xmlns:a="http://schemas.openxmlformats.org/drawingml/2006/main">
              <a:ext uri="{FF2B5EF4-FFF2-40B4-BE49-F238E27FC236}">
                <a16:creationId xmlns:a16="http://schemas.microsoft.com/office/drawing/2014/main" id="{D22125A0-38D5-4AF1-8D4A-64D5252DBE4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975819D-A82A-41AD-A7D3-3356729FF4E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[3, 5, 7]</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print(sum(values) / len(values))</a:t>
            </a:r>
          </a:p>
        </p:txBody>
      </p:sp>
      <p:sp>
        <p:nvSpPr>
          <p:cNvPr id="6" name="">
            <a:extLst xmlns:a="http://schemas.openxmlformats.org/drawingml/2006/main">
              <a:ext uri="{FF2B5EF4-FFF2-40B4-BE49-F238E27FC236}">
                <a16:creationId xmlns:a16="http://schemas.microsoft.com/office/drawing/2014/main" id="{53A2DFB1-EF78-4C25-9B5A-6D7F3AC4322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D560D2F-56B8-48FC-B0B8-FF1267881DE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719F14D8-DAF9-4A93-BFD1-EA2B3792043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F46F7481-4384-4A67-AA79-D0200B4555D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68F3C5EE-209E-462C-AC92-13E65CF7B85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CFBB8EAF-47F5-4229-BD08-497A9A1997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7</a:t>
            </a:r>
          </a:p>
        </p:txBody>
      </p:sp>
    </p:spTree>
    <p:extLst>
      <p:ext uri="{BB962C8B-B14F-4D97-AF65-F5344CB8AC3E}">
        <p14:creationId xmlns:p14="http://schemas.microsoft.com/office/powerpoint/2010/main" val="119717500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516C4FC-2938-4EFD-AB15-C7628A5191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516325-146A-45F8-A43B-58623EF146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CC8402E-A653-46CC-A138-589D32ABF3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session</a:t>
            </a:r>
          </a:p>
        </p:txBody>
      </p:sp>
      <p:sp>
        <p:nvSpPr>
          <p:cNvPr id="4" name="">
            <a:extLst xmlns:a="http://schemas.openxmlformats.org/drawingml/2006/main">
              <a:ext uri="{FF2B5EF4-FFF2-40B4-BE49-F238E27FC236}">
                <a16:creationId xmlns:a16="http://schemas.microsoft.com/office/drawing/2014/main" id="{96246AAB-3B8F-414D-A51D-FF3B8E9D7A7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00E9AFA-93F8-4CB2-967C-13E3A6F0680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00–15 minutes: briefing and file check.</a:t>
            </a:r>
          </a:p>
        </p:txBody>
      </p:sp>
      <p:sp>
        <p:nvSpPr>
          <p:cNvPr id="6" name="">
            <a:extLst xmlns:a="http://schemas.openxmlformats.org/drawingml/2006/main">
              <a:ext uri="{FF2B5EF4-FFF2-40B4-BE49-F238E27FC236}">
                <a16:creationId xmlns:a16="http://schemas.microsoft.com/office/drawing/2014/main" id="{CBEF3B1E-1E2C-4B56-B74A-979C514CC8E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E325E6F-60F9-483A-99D0-C964C33E1BC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15–135 minutes: individual practical work.</a:t>
            </a:r>
          </a:p>
        </p:txBody>
      </p:sp>
      <p:sp>
        <p:nvSpPr>
          <p:cNvPr id="8" name="">
            <a:extLst xmlns:a="http://schemas.openxmlformats.org/drawingml/2006/main">
              <a:ext uri="{FF2B5EF4-FFF2-40B4-BE49-F238E27FC236}">
                <a16:creationId xmlns:a16="http://schemas.microsoft.com/office/drawing/2014/main" id="{67949B70-B2B7-4D2D-9A9A-22832D025C2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3F150F0-9EDB-4447-8DC9-40712886253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135–160 minutes: typed offline reasoning, with code execution prohibited.</a:t>
            </a:r>
          </a:p>
        </p:txBody>
      </p:sp>
      <p:sp>
        <p:nvSpPr>
          <p:cNvPr id="10" name="">
            <a:extLst xmlns:a="http://schemas.openxmlformats.org/drawingml/2006/main">
              <a:ext uri="{FF2B5EF4-FFF2-40B4-BE49-F238E27FC236}">
                <a16:creationId xmlns:a16="http://schemas.microsoft.com/office/drawing/2014/main" id="{2F564411-0CB6-4482-93DF-F4772AA258C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A9838F8-9354-4591-AC08-BA0D804B762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160–180 minutes: save and hand in through invigilated offline collection.</a:t>
            </a:r>
          </a:p>
        </p:txBody>
      </p:sp>
      <p:sp>
        <p:nvSpPr>
          <p:cNvPr id="12" name="">
            <a:extLst xmlns:a="http://schemas.openxmlformats.org/drawingml/2006/main">
              <a:ext uri="{FF2B5EF4-FFF2-40B4-BE49-F238E27FC236}">
                <a16:creationId xmlns:a16="http://schemas.microsoft.com/office/drawing/2014/main" id="{B0852585-DCB6-4DBF-9C98-6D7D2485006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8</a:t>
            </a:r>
          </a:p>
        </p:txBody>
      </p:sp>
    </p:spTree>
    <p:extLst>
      <p:ext uri="{BB962C8B-B14F-4D97-AF65-F5344CB8AC3E}">
        <p14:creationId xmlns:p14="http://schemas.microsoft.com/office/powerpoint/2010/main" val="98484216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1116882-0D7A-4073-8249-D3F9B0298B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2FC66D1-9432-42EC-A049-CDDEEC06E0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5921986-8AA5-4FAE-A0A3-4C06297BB6E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7A6059A4-E639-40A2-B289-5AF8CC66737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34FA907-35F2-4CFF-8B0A-0C0A95A1182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502BD81-7318-424D-8282-999DDBEB159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Every learner completes the offline save-and-reopen rehearsal.</a:t>
            </a:r>
          </a:p>
        </p:txBody>
      </p:sp>
      <p:sp>
        <p:nvSpPr>
          <p:cNvPr id="7" name="">
            <a:extLst xmlns:a="http://schemas.openxmlformats.org/drawingml/2006/main">
              <a:ext uri="{FF2B5EF4-FFF2-40B4-BE49-F238E27FC236}">
                <a16:creationId xmlns:a16="http://schemas.microsoft.com/office/drawing/2014/main" id="{E8071E31-3AA8-4F0F-AA0F-3BD87B40D36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Escalate lab-access failures before the test.</a:t>
            </a:r>
          </a:p>
        </p:txBody>
      </p:sp>
      <p:sp>
        <p:nvSpPr>
          <p:cNvPr id="8" name="">
            <a:extLst xmlns:a="http://schemas.openxmlformats.org/drawingml/2006/main">
              <a:ext uri="{FF2B5EF4-FFF2-40B4-BE49-F238E27FC236}">
                <a16:creationId xmlns:a16="http://schemas.microsoft.com/office/drawing/2014/main" id="{4FF70D1B-B1BA-4ACA-B9CD-5BEC56A51F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9</a:t>
            </a:r>
          </a:p>
        </p:txBody>
      </p:sp>
    </p:spTree>
    <p:extLst>
      <p:ext uri="{BB962C8B-B14F-4D97-AF65-F5344CB8AC3E}">
        <p14:creationId xmlns:p14="http://schemas.microsoft.com/office/powerpoint/2010/main" val="103981119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EA7DCBE-D133-44EC-8BE9-8DD022E96F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AE7FDE1-BFE8-474D-BAA5-EE10AE34DCA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638B07B-CD00-4494-9409-AAF55D01B19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992035B5-196B-4C6D-8639-1F79EB4C9A2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7D56DB1-BA5D-45D5-8CE0-CBDC034A41A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official TEST1 brief, interfaces and rubric.</a:t>
            </a:r>
          </a:p>
        </p:txBody>
      </p:sp>
      <p:sp>
        <p:nvSpPr>
          <p:cNvPr id="6" name="">
            <a:extLst xmlns:a="http://schemas.openxmlformats.org/drawingml/2006/main">
              <a:ext uri="{FF2B5EF4-FFF2-40B4-BE49-F238E27FC236}">
                <a16:creationId xmlns:a16="http://schemas.microsoft.com/office/drawing/2014/main" id="{7B8C8842-D1FC-4078-A295-C99626EA27B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721B9BB-C686-494E-9153-B1A8BD841D9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assessed period has 120 practical minutes and 25 typed reasoning minutes.</a:t>
            </a:r>
          </a:p>
        </p:txBody>
      </p:sp>
      <p:sp>
        <p:nvSpPr>
          <p:cNvPr id="8" name="">
            <a:extLst xmlns:a="http://schemas.openxmlformats.org/drawingml/2006/main">
              <a:ext uri="{FF2B5EF4-FFF2-40B4-BE49-F238E27FC236}">
                <a16:creationId xmlns:a16="http://schemas.microsoft.com/office/drawing/2014/main" id="{237789FD-F990-4E81-8DC5-8F86BE82353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62713B6-4CDC-43BC-963A-8A7B805FCAA4}"/>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Your lecturer will issue the test packet and collection instructions.</a:t>
            </a:r>
          </a:p>
        </p:txBody>
      </p:sp>
      <p:sp>
        <p:nvSpPr>
          <p:cNvPr id="10" name="">
            <a:extLst xmlns:a="http://schemas.openxmlformats.org/drawingml/2006/main">
              <a:ext uri="{FF2B5EF4-FFF2-40B4-BE49-F238E27FC236}">
                <a16:creationId xmlns:a16="http://schemas.microsoft.com/office/drawing/2014/main" id="{1220DA60-A72E-449F-B4A7-F346E28278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10</a:t>
            </a:r>
          </a:p>
        </p:txBody>
      </p:sp>
    </p:spTree>
    <p:extLst>
      <p:ext uri="{BB962C8B-B14F-4D97-AF65-F5344CB8AC3E}">
        <p14:creationId xmlns:p14="http://schemas.microsoft.com/office/powerpoint/2010/main" val="187955121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D7F9466-2DD8-4E6E-8964-D30A1E5030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D4AADAC-A587-4B48-8DDD-55D421D990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ADA7F6D-B4BB-441C-BFDC-DE4258A513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a:t>
            </a:r>
          </a:p>
        </p:txBody>
      </p:sp>
      <p:sp>
        <p:nvSpPr>
          <p:cNvPr id="4" name="">
            <a:extLst xmlns:a="http://schemas.openxmlformats.org/drawingml/2006/main">
              <a:ext uri="{FF2B5EF4-FFF2-40B4-BE49-F238E27FC236}">
                <a16:creationId xmlns:a16="http://schemas.microsoft.com/office/drawing/2014/main" id="{92D17092-9990-4677-A51B-C9B61E9BE71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6C69057-2A48-4700-B4C7-B1BA778726A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FCB860BA-6189-4615-A9C3-C08DE0A6CED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E24A042-854A-4A78-BED9-AD415C8C2E3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4D4C4C79-3889-42C3-9868-BAFF7DA207F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345D353-76CD-4359-8B20-5FFB979FCB1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5FE2BC9C-9CB5-481C-9951-E881CFEF1F7B}"/>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E1D29B2-3526-4257-819C-ECA5239EAC8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75AD69A5-F3F7-4BD6-B506-4B98EC990D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11</a:t>
            </a:r>
          </a:p>
        </p:txBody>
      </p:sp>
    </p:spTree>
    <p:extLst>
      <p:ext uri="{BB962C8B-B14F-4D97-AF65-F5344CB8AC3E}">
        <p14:creationId xmlns:p14="http://schemas.microsoft.com/office/powerpoint/2010/main" val="209407164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904714E-49DE-4246-B6E7-4B7056BC5C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786A1B-577D-4FBA-8D38-E1B0444B61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58CC805-6880-4C93-BFFE-0D6ACEB186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CA0AC82B-29DF-4C5D-8A83-692105B1ACA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C17767C-C721-4E0A-BEF9-B1AE5994239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2F84148B-3744-4610-9513-8FECF80631E0}"/>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250464D-D270-4098-9093-0ED2E59C77A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183B0774-72F4-4E6B-AA94-B37C6D9B2ACD}"/>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DC5F985-EFA0-4310-9EE0-CD060412B5C8}"/>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0B6EB806-A41E-4D2F-9D01-954523FCFB8B}"/>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4D100FC-AFE7-4D9C-B009-4787D42B1F3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831D203C-3171-48A2-8B33-506389A011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12</a:t>
            </a:r>
          </a:p>
        </p:txBody>
      </p:sp>
    </p:spTree>
    <p:extLst>
      <p:ext uri="{BB962C8B-B14F-4D97-AF65-F5344CB8AC3E}">
        <p14:creationId xmlns:p14="http://schemas.microsoft.com/office/powerpoint/2010/main" val="115043982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FEBBDFE-B507-4B63-9E60-7F5CA43538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E8666AB-6569-4956-9A57-217E5FB6AE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0BC9C98-3220-4C8F-9422-DF2FA75248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9894B605-55BC-4921-97A6-0EAAC010492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BB5F488-FB0E-437F-BF00-45A690B1827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readable written evidence in the notebook.</a:t>
            </a:r>
          </a:p>
        </p:txBody>
      </p:sp>
      <p:sp>
        <p:nvSpPr>
          <p:cNvPr id="6" name="">
            <a:extLst xmlns:a="http://schemas.openxmlformats.org/drawingml/2006/main">
              <a:ext uri="{FF2B5EF4-FFF2-40B4-BE49-F238E27FC236}">
                <a16:creationId xmlns:a16="http://schemas.microsoft.com/office/drawing/2014/main" id="{A4951B97-EDD0-44C5-AB49-AE55D7CDCD3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9BC2073-689D-4380-BA61-658D29B39F5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Loading &amp; profiling (15.0 total): Data loaded correctly; shape, types and summary produced; the dataset is described accurately in the student's own words.</a:t>
            </a:r>
          </a:p>
        </p:txBody>
      </p:sp>
      <p:sp>
        <p:nvSpPr>
          <p:cNvPr id="8" name="">
            <a:extLst xmlns:a="http://schemas.openxmlformats.org/drawingml/2006/main">
              <a:ext uri="{FF2B5EF4-FFF2-40B4-BE49-F238E27FC236}">
                <a16:creationId xmlns:a16="http://schemas.microsoft.com/office/drawing/2014/main" id="{A9140C88-2417-4716-8C07-72AD9395E57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0B43787-9CEA-49EF-8D09-FA8FA5AFD7C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Cleaning decisions &amp; justification (20.0 total): Defects found.</a:t>
            </a:r>
          </a:p>
        </p:txBody>
      </p:sp>
      <p:sp>
        <p:nvSpPr>
          <p:cNvPr id="10" name="">
            <a:extLst xmlns:a="http://schemas.openxmlformats.org/drawingml/2006/main">
              <a:ext uri="{FF2B5EF4-FFF2-40B4-BE49-F238E27FC236}">
                <a16:creationId xmlns:a16="http://schemas.microsoft.com/office/drawing/2014/main" id="{8D8C2F12-730E-4592-A8DF-9531C9B7315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78B6439-D07F-4594-8ED3-87757872A41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handling decision stated AND justified.</a:t>
            </a:r>
          </a:p>
        </p:txBody>
      </p:sp>
      <p:sp>
        <p:nvSpPr>
          <p:cNvPr id="12" name="">
            <a:extLst xmlns:a="http://schemas.openxmlformats.org/drawingml/2006/main">
              <a:ext uri="{FF2B5EF4-FFF2-40B4-BE49-F238E27FC236}">
                <a16:creationId xmlns:a16="http://schemas.microsoft.com/office/drawing/2014/main" id="{9E537700-922B-4C7C-BAFA-36478EED46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13</a:t>
            </a:r>
          </a:p>
        </p:txBody>
      </p:sp>
    </p:spTree>
    <p:extLst>
      <p:ext uri="{BB962C8B-B14F-4D97-AF65-F5344CB8AC3E}">
        <p14:creationId xmlns:p14="http://schemas.microsoft.com/office/powerpoint/2010/main" val="145570914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6AFFBA4-3D7F-45BF-AF39-52E3114296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5EBDCF-2F34-4AD0-AF7A-9C63C4B350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AD34426-B0F1-4FF2-BD6D-BD1CB32B12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E661CA8D-88D7-4090-B761-6174973D167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136E49E-AF06-4B97-BA63-9A77516FE9A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Marks are for the justification - an unjustified correct fix scores roughly half.</a:t>
            </a:r>
          </a:p>
        </p:txBody>
      </p:sp>
      <p:sp>
        <p:nvSpPr>
          <p:cNvPr id="6" name="">
            <a:extLst xmlns:a="http://schemas.openxmlformats.org/drawingml/2006/main">
              <a:ext uri="{FF2B5EF4-FFF2-40B4-BE49-F238E27FC236}">
                <a16:creationId xmlns:a16="http://schemas.microsoft.com/office/drawing/2014/main" id="{AFA19FD4-6DD3-436A-B92F-E6972995FB6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15E4B72-0149-4DA4-A9DE-FDBC746B4F8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Visualisation (20.0 total): Three charts, each captioned with the question it answers.</a:t>
            </a:r>
          </a:p>
        </p:txBody>
      </p:sp>
      <p:sp>
        <p:nvSpPr>
          <p:cNvPr id="8" name="">
            <a:extLst xmlns:a="http://schemas.openxmlformats.org/drawingml/2006/main">
              <a:ext uri="{FF2B5EF4-FFF2-40B4-BE49-F238E27FC236}">
                <a16:creationId xmlns:a16="http://schemas.microsoft.com/office/drawing/2014/main" id="{A16EFDA8-086D-4F36-B36F-CF7B4AB25A4F}"/>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03BFA83-FE97-4083-B838-547459CB2D0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Correct chart type.</a:t>
            </a:r>
          </a:p>
        </p:txBody>
      </p:sp>
      <p:sp>
        <p:nvSpPr>
          <p:cNvPr id="10" name="">
            <a:extLst xmlns:a="http://schemas.openxmlformats.org/drawingml/2006/main">
              <a:ext uri="{FF2B5EF4-FFF2-40B4-BE49-F238E27FC236}">
                <a16:creationId xmlns:a16="http://schemas.microsoft.com/office/drawing/2014/main" id="{33BFE848-1F58-4A09-AFED-3766DA5DCEC1}"/>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8F2DEBA-C74D-42CB-B60A-C2EB8CE9DD45}"/>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Axes labelled with units.</a:t>
            </a:r>
          </a:p>
        </p:txBody>
      </p:sp>
      <p:sp>
        <p:nvSpPr>
          <p:cNvPr id="12" name="">
            <a:extLst xmlns:a="http://schemas.openxmlformats.org/drawingml/2006/main">
              <a:ext uri="{FF2B5EF4-FFF2-40B4-BE49-F238E27FC236}">
                <a16:creationId xmlns:a16="http://schemas.microsoft.com/office/drawing/2014/main" id="{7F0DD6A4-9FEA-403B-A7C6-2A2D8752D3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14</a:t>
            </a:r>
          </a:p>
        </p:txBody>
      </p:sp>
    </p:spTree>
    <p:extLst>
      <p:ext uri="{BB962C8B-B14F-4D97-AF65-F5344CB8AC3E}">
        <p14:creationId xmlns:p14="http://schemas.microsoft.com/office/powerpoint/2010/main" val="126315563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1B293DF-000F-4E75-855E-07F399E505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4664602-3FC8-433D-80E7-DA86FF3476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E28E936-23E0-4E1B-865F-6C1572AC64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E73815A1-30BD-4AA5-9499-1174BCE6242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11F71D8-6DCC-462B-8596-641EA03590F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decoration without purpose.</a:t>
            </a:r>
          </a:p>
        </p:txBody>
      </p:sp>
      <p:sp>
        <p:nvSpPr>
          <p:cNvPr id="6" name="">
            <a:extLst xmlns:a="http://schemas.openxmlformats.org/drawingml/2006/main">
              <a:ext uri="{FF2B5EF4-FFF2-40B4-BE49-F238E27FC236}">
                <a16:creationId xmlns:a16="http://schemas.microsoft.com/office/drawing/2014/main" id="{C473786B-8030-45EA-8ED5-47D4EF344BB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61703BE-390A-4951-B238-41041B201396}"/>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Findings (20.0 total): Five findings, supported by evidence from the data, stated with correct magnitudes and units.</a:t>
            </a:r>
          </a:p>
        </p:txBody>
      </p:sp>
      <p:sp>
        <p:nvSpPr>
          <p:cNvPr id="8" name="">
            <a:extLst xmlns:a="http://schemas.openxmlformats.org/drawingml/2006/main">
              <a:ext uri="{FF2B5EF4-FFF2-40B4-BE49-F238E27FC236}">
                <a16:creationId xmlns:a16="http://schemas.microsoft.com/office/drawing/2014/main" id="{BEE61381-5DB3-4E56-82B9-28604C7FD9C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2DE0B65-D576-4592-8858-81F26986131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wrong number loses the mark even if the method was right.</a:t>
            </a:r>
          </a:p>
        </p:txBody>
      </p:sp>
      <p:sp>
        <p:nvSpPr>
          <p:cNvPr id="10" name="">
            <a:extLst xmlns:a="http://schemas.openxmlformats.org/drawingml/2006/main">
              <a:ext uri="{FF2B5EF4-FFF2-40B4-BE49-F238E27FC236}">
                <a16:creationId xmlns:a16="http://schemas.microsoft.com/office/drawing/2014/main" id="{FA49265B-F832-4E52-B17F-FB19C080810C}"/>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F3CC070-7994-4EDF-9F68-A2B7AB783EB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interpretation (15.0 total): One recommendation that an engineer could act on, plus a clear statement of what further data would be needed.</a:t>
            </a:r>
          </a:p>
        </p:txBody>
      </p:sp>
      <p:sp>
        <p:nvSpPr>
          <p:cNvPr id="12" name="">
            <a:extLst xmlns:a="http://schemas.openxmlformats.org/drawingml/2006/main">
              <a:ext uri="{FF2B5EF4-FFF2-40B4-BE49-F238E27FC236}">
                <a16:creationId xmlns:a16="http://schemas.microsoft.com/office/drawing/2014/main" id="{C208BE1C-4556-426E-BC76-775D49F079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15</a:t>
            </a:r>
          </a:p>
        </p:txBody>
      </p:sp>
    </p:spTree>
    <p:extLst>
      <p:ext uri="{BB962C8B-B14F-4D97-AF65-F5344CB8AC3E}">
        <p14:creationId xmlns:p14="http://schemas.microsoft.com/office/powerpoint/2010/main" val="185784496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43F1AA8-D307-4D00-9A1C-946D161806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4B9F49E-79AC-46F0-88D7-A45988C2B2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845D46D-DD89-48D8-926B-D14592DB12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13BBE9B4-32AA-419E-8C1A-D430D55058A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40FD782-1332-41D2-B146-0074C4F9AE5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Clarity &amp; reproducibility (10.0 total): Notebook runs top to bottom.</a:t>
            </a:r>
          </a:p>
        </p:txBody>
      </p:sp>
      <p:sp>
        <p:nvSpPr>
          <p:cNvPr id="6" name="">
            <a:extLst xmlns:a="http://schemas.openxmlformats.org/drawingml/2006/main">
              <a:ext uri="{FF2B5EF4-FFF2-40B4-BE49-F238E27FC236}">
                <a16:creationId xmlns:a16="http://schemas.microsoft.com/office/drawing/2014/main" id="{921CF24B-BFC4-49F4-AAAB-D6FD36D216C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4855CB5-4B2F-4B99-856C-E70C762F1943}"/>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Logical order.</a:t>
            </a:r>
          </a:p>
        </p:txBody>
      </p:sp>
      <p:sp>
        <p:nvSpPr>
          <p:cNvPr id="8" name="">
            <a:extLst xmlns:a="http://schemas.openxmlformats.org/drawingml/2006/main">
              <a:ext uri="{FF2B5EF4-FFF2-40B4-BE49-F238E27FC236}">
                <a16:creationId xmlns:a16="http://schemas.microsoft.com/office/drawing/2014/main" id="{A301D201-CB17-4EB1-8278-4406DB5400B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07535F2-C76C-49E5-8B4F-581F67EE955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Markdown explains intent.</a:t>
            </a:r>
          </a:p>
        </p:txBody>
      </p:sp>
      <p:sp>
        <p:nvSpPr>
          <p:cNvPr id="10" name="">
            <a:extLst xmlns:a="http://schemas.openxmlformats.org/drawingml/2006/main">
              <a:ext uri="{FF2B5EF4-FFF2-40B4-BE49-F238E27FC236}">
                <a16:creationId xmlns:a16="http://schemas.microsoft.com/office/drawing/2014/main" id="{3A2C11F8-7A87-4FA3-9A51-DEF6FEF78CDF}"/>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37057D9-495D-42B3-B7A5-39163EF9D20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dead code.</a:t>
            </a:r>
          </a:p>
        </p:txBody>
      </p:sp>
      <p:sp>
        <p:nvSpPr>
          <p:cNvPr id="12" name="">
            <a:extLst xmlns:a="http://schemas.openxmlformats.org/drawingml/2006/main">
              <a:ext uri="{FF2B5EF4-FFF2-40B4-BE49-F238E27FC236}">
                <a16:creationId xmlns:a16="http://schemas.microsoft.com/office/drawing/2014/main" id="{AB7EDA15-895A-44FC-ACD9-8A53595685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16</a:t>
            </a:r>
          </a:p>
        </p:txBody>
      </p:sp>
    </p:spTree>
    <p:extLst>
      <p:ext uri="{BB962C8B-B14F-4D97-AF65-F5344CB8AC3E}">
        <p14:creationId xmlns:p14="http://schemas.microsoft.com/office/powerpoint/2010/main" val="115050054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6D231EA-B9CA-416A-8088-EC7212D33D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1184351-E387-460E-8FBF-66FF562035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C6E0781-6E6B-41D8-B8FA-2C4FB48511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F61398B2-DC83-4CE0-ABF1-F5F4D070786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AA69756-24AC-497D-944A-4019DB4C63E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Timing and Part B</a:t>
            </a:r>
          </a:p>
        </p:txBody>
      </p:sp>
      <p:sp>
        <p:nvSpPr>
          <p:cNvPr id="6" name="">
            <a:extLst xmlns:a="http://schemas.openxmlformats.org/drawingml/2006/main">
              <a:ext uri="{FF2B5EF4-FFF2-40B4-BE49-F238E27FC236}">
                <a16:creationId xmlns:a16="http://schemas.microsoft.com/office/drawing/2014/main" id="{60AAECAA-1024-4786-965A-D4056EFBA8C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24FDD9B-6FC9-441A-9F1E-22C7D9A5EFF3}"/>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 minutes setup, 120 minutes practical, 25 minutes typed offline reasoning with code execution prohibited, 20 minutes collection.</a:t>
            </a:r>
          </a:p>
        </p:txBody>
      </p:sp>
      <p:sp>
        <p:nvSpPr>
          <p:cNvPr id="8" name="">
            <a:extLst xmlns:a="http://schemas.openxmlformats.org/drawingml/2006/main">
              <a:ext uri="{FF2B5EF4-FFF2-40B4-BE49-F238E27FC236}">
                <a16:creationId xmlns:a16="http://schemas.microsoft.com/office/drawing/2014/main" id="{E476D897-C9F7-4EC7-BB81-F1A7F422D50F}"/>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A9CC19F-E722-4DAA-9E71-1A9D5EE122D6}"/>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a:t>
            </a:r>
          </a:p>
        </p:txBody>
      </p:sp>
      <p:sp>
        <p:nvSpPr>
          <p:cNvPr id="10" name="">
            <a:extLst xmlns:a="http://schemas.openxmlformats.org/drawingml/2006/main">
              <a:ext uri="{FF2B5EF4-FFF2-40B4-BE49-F238E27FC236}">
                <a16:creationId xmlns:a16="http://schemas.microsoft.com/office/drawing/2014/main" id="{3E6B28FC-9CDD-40E2-A707-5E69605ADE8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AFD0C44-9267-4647-9364-D118E7206BE0}"/>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Why your main cleaning/model choice?</a:t>
            </a:r>
          </a:p>
        </p:txBody>
      </p:sp>
      <p:sp>
        <p:nvSpPr>
          <p:cNvPr id="12" name="">
            <a:extLst xmlns:a="http://schemas.openxmlformats.org/drawingml/2006/main">
              <a:ext uri="{FF2B5EF4-FFF2-40B4-BE49-F238E27FC236}">
                <a16:creationId xmlns:a16="http://schemas.microsoft.com/office/drawing/2014/main" id="{BFF2AB2F-EDF6-495E-AE6D-155DD6913C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17</a:t>
            </a:r>
          </a:p>
        </p:txBody>
      </p:sp>
    </p:spTree>
    <p:extLst>
      <p:ext uri="{BB962C8B-B14F-4D97-AF65-F5344CB8AC3E}">
        <p14:creationId xmlns:p14="http://schemas.microsoft.com/office/powerpoint/2010/main" val="11463356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F96B763-1743-4F4F-8200-AFB26FF8A7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D43488-9A3A-4C45-A4D8-C780188D3B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22FF9E1-D923-4E8A-B603-5B7918E277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18588D1B-A538-4533-9F93-E11131D50AC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6A21B1F-4A92-4C46-8E15-D07829F9F5BB}"/>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can your chart/metric not establish?</a:t>
            </a:r>
          </a:p>
        </p:txBody>
      </p:sp>
      <p:sp>
        <p:nvSpPr>
          <p:cNvPr id="6" name="">
            <a:extLst xmlns:a="http://schemas.openxmlformats.org/drawingml/2006/main">
              <a:ext uri="{FF2B5EF4-FFF2-40B4-BE49-F238E27FC236}">
                <a16:creationId xmlns:a16="http://schemas.microsoft.com/office/drawing/2014/main" id="{B6EC39C7-B31F-4EC3-A196-5EED2D7E860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BEDBEB3-3FDA-46E7-B515-72ED94B48522}"/>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evidence would change your recommendation?</a:t>
            </a:r>
          </a:p>
        </p:txBody>
      </p:sp>
      <p:sp>
        <p:nvSpPr>
          <p:cNvPr id="8" name="">
            <a:extLst xmlns:a="http://schemas.openxmlformats.org/drawingml/2006/main">
              <a:ext uri="{FF2B5EF4-FFF2-40B4-BE49-F238E27FC236}">
                <a16:creationId xmlns:a16="http://schemas.microsoft.com/office/drawing/2014/main" id="{F73FEA97-85B3-4942-8055-ABED11F0E04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C57089E-3669-4829-B0C6-6EA98D6C7EE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further data is required?</a:t>
            </a:r>
          </a:p>
        </p:txBody>
      </p:sp>
      <p:sp>
        <p:nvSpPr>
          <p:cNvPr id="10" name="">
            <a:extLst xmlns:a="http://schemas.openxmlformats.org/drawingml/2006/main">
              <a:ext uri="{FF2B5EF4-FFF2-40B4-BE49-F238E27FC236}">
                <a16:creationId xmlns:a16="http://schemas.microsoft.com/office/drawing/2014/main" id="{9B44F84B-8CC9-48A0-BD1A-08A6422AC5C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CDFC4A4-81ED-431E-8FB7-50E70C8D4187}"/>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Invigilated offline collection is authoritative; Google upload is a later transport step and must not impose an internet requirement during the test.</a:t>
            </a:r>
          </a:p>
        </p:txBody>
      </p:sp>
      <p:sp>
        <p:nvSpPr>
          <p:cNvPr id="12" name="">
            <a:extLst xmlns:a="http://schemas.openxmlformats.org/drawingml/2006/main">
              <a:ext uri="{FF2B5EF4-FFF2-40B4-BE49-F238E27FC236}">
                <a16:creationId xmlns:a16="http://schemas.microsoft.com/office/drawing/2014/main" id="{0D96FD0B-D36E-49E5-8BB8-42B31E40EE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18</a:t>
            </a:r>
          </a:p>
        </p:txBody>
      </p:sp>
    </p:spTree>
    <p:extLst>
      <p:ext uri="{BB962C8B-B14F-4D97-AF65-F5344CB8AC3E}">
        <p14:creationId xmlns:p14="http://schemas.microsoft.com/office/powerpoint/2010/main" val="53411295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91F271C-C165-4E58-A90E-CA9AE42790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8FF4CE8-025B-42FC-AA7B-67B2EAD038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4C2A371D-7740-4AC9-BB3C-05C7DB2833D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submission</a:t>
            </a:r>
          </a:p>
        </p:txBody>
      </p:sp>
      <p:sp>
        <p:nvSpPr>
          <p:cNvPr id="4" name="">
            <a:extLst xmlns:a="http://schemas.openxmlformats.org/drawingml/2006/main">
              <a:ext uri="{FF2B5EF4-FFF2-40B4-BE49-F238E27FC236}">
                <a16:creationId xmlns:a16="http://schemas.microsoft.com/office/drawing/2014/main" id="{7621ADB7-603C-45BC-8023-DF438324D7EA}"/>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7BA2ACD-A31A-417B-88A2-7258BE706A5B}"/>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Offline invigilated collection is authoritative.</a:t>
            </a:r>
          </a:p>
        </p:txBody>
      </p:sp>
      <p:sp>
        <p:nvSpPr>
          <p:cNvPr id="6" name="">
            <a:extLst xmlns:a="http://schemas.openxmlformats.org/drawingml/2006/main">
              <a:ext uri="{FF2B5EF4-FFF2-40B4-BE49-F238E27FC236}">
                <a16:creationId xmlns:a16="http://schemas.microsoft.com/office/drawing/2014/main" id="{E9F7EF1E-F12A-4460-9EE9-4394121D36E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FB307E7-EAE9-4917-86D6-05FD39BD6B96}"/>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Google upload is a later transport step.</a:t>
            </a:r>
          </a:p>
        </p:txBody>
      </p:sp>
      <p:sp>
        <p:nvSpPr>
          <p:cNvPr id="8" name="">
            <a:extLst xmlns:a="http://schemas.openxmlformats.org/drawingml/2006/main">
              <a:ext uri="{FF2B5EF4-FFF2-40B4-BE49-F238E27FC236}">
                <a16:creationId xmlns:a16="http://schemas.microsoft.com/office/drawing/2014/main" id="{A0CE22B7-F17B-4551-8CB8-EBDD5809FFF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4DF5778-B025-45E0-92C0-10450B77B2F3}"/>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one notebook with Part B under My written evidence.</a:t>
            </a:r>
          </a:p>
        </p:txBody>
      </p:sp>
      <p:sp>
        <p:nvSpPr>
          <p:cNvPr id="10" name="">
            <a:extLst xmlns:a="http://schemas.openxmlformats.org/drawingml/2006/main">
              <a:ext uri="{FF2B5EF4-FFF2-40B4-BE49-F238E27FC236}">
                <a16:creationId xmlns:a16="http://schemas.microsoft.com/office/drawing/2014/main" id="{332B4AFA-6327-4E8C-BECA-62D24D26E26E}"/>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DCCAF4A-EDAD-4DA8-83FD-FB0CA5B71215}"/>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 during the test.</a:t>
            </a:r>
          </a:p>
        </p:txBody>
      </p:sp>
      <p:sp>
        <p:nvSpPr>
          <p:cNvPr id="12" name="">
            <a:extLst xmlns:a="http://schemas.openxmlformats.org/drawingml/2006/main">
              <a:ext uri="{FF2B5EF4-FFF2-40B4-BE49-F238E27FC236}">
                <a16:creationId xmlns:a16="http://schemas.microsoft.com/office/drawing/2014/main" id="{0648ABA5-1646-4A88-87DE-42CA1B982CF1}"/>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2891F4B-D561-40E3-9856-BD7C6303E5B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2b58aec2aff49d0"/>
              </a:rPr>
              <a:t>Open TEST1 assignment form</a:t>
            </a:r>
          </a:p>
        </p:txBody>
      </p:sp>
      <p:sp>
        <p:nvSpPr>
          <p:cNvPr id="14" name="">
            <a:extLst xmlns:a="http://schemas.openxmlformats.org/drawingml/2006/main">
              <a:ext uri="{FF2B5EF4-FFF2-40B4-BE49-F238E27FC236}">
                <a16:creationId xmlns:a16="http://schemas.microsoft.com/office/drawing/2014/main" id="{4E273C77-6B7E-48D7-8C80-B230624A617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https://docs.google.com/forms/d/e/1FAIpQLSdwcNAD9gGSz-hXLmHPO8nS3WIfg72BcsKW7IrwpvtakiJrIA/viewform</a:t>
            </a:r>
          </a:p>
        </p:txBody>
      </p:sp>
      <p:sp>
        <p:nvSpPr>
          <p:cNvPr id="15" name="">
            <a:extLst xmlns:a="http://schemas.openxmlformats.org/drawingml/2006/main">
              <a:ext uri="{FF2B5EF4-FFF2-40B4-BE49-F238E27FC236}">
                <a16:creationId xmlns:a16="http://schemas.microsoft.com/office/drawing/2014/main" id="{F0E93464-4667-46F9-9B37-4CCFB93BCA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19</a:t>
            </a:r>
          </a:p>
        </p:txBody>
      </p:sp>
    </p:spTree>
    <p:extLst>
      <p:ext uri="{BB962C8B-B14F-4D97-AF65-F5344CB8AC3E}">
        <p14:creationId xmlns:p14="http://schemas.microsoft.com/office/powerpoint/2010/main" val="347242779"/>
      </p:ext>
    </p:extLst>
  </p:cSld>
</p:sld>
</file>

<file path=ppt/slides/slide20.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D59CEA4-6AE0-4D9A-928D-4634C7AAF0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09D30775-8A3A-4FDC-B203-5DE4BAB029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F4BDF2BF-023F-4667-85B1-645AE7FB6F4B}"/>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35603CEA-D3C8-42A1-A9DF-2DD08ABFA7DB}"/>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reopen your notebook and find code and typed reasoning without help.</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15839DB3-2B5A-4268-859E-6D66B10BC300}"/>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AD9471EB-939E-46F0-B129-CC914ADE1C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7   20</a:t>
            </a:r>
          </a:p>
        </p:txBody>
      </p:sp>
    </p:spTree>
    <p:extLst>
      <p:ext uri="{BB962C8B-B14F-4D97-AF65-F5344CB8AC3E}">
        <p14:creationId xmlns:p14="http://schemas.microsoft.com/office/powerpoint/2010/main" val="196121651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2026-09-28T21:15:00.4060000Z</dcterms:created>
  <dcterms:modified xsi:type="dcterms:W3CDTF">2026-09-28T21:15:00.4060000Z</dcterms:modified>
</coreProperties>
</file>