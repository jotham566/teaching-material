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414973343f41b8" /><Relationship Type="http://schemas.openxmlformats.org/officeDocument/2006/relationships/extended-properties" Target="/docProps/app.xml" Id="Re624414448bf4259" /><Relationship Type="http://schemas.openxmlformats.org/officeDocument/2006/relationships/officeDocument" Target="/ppt/presentation.xml" Id="Rf44da97ec4c04895" /></Relationships>
</file>

<file path=ppt/presentation.xml><?xml version="1.0" encoding="utf-8"?>
<p:presentation xmlns:p="http://schemas.openxmlformats.org/presentationml/2006/main">
  <p:sldMasterIdLst>
    <p:sldMasterId xmlns:r="http://schemas.openxmlformats.org/officeDocument/2006/relationships" id="2147483648" r:id="Rfe18ba10f2074b3c"/>
  </p:sldMasterIdLst>
  <p:notesMasterIdLst>
    <p:notesMasterId xmlns:r="http://schemas.openxmlformats.org/officeDocument/2006/relationships" r:id="R1f399d1d8c474c0b"/>
  </p:notesMasterIdLst>
  <p:sldIdLst>
    <p:sldId xmlns:r="http://schemas.openxmlformats.org/officeDocument/2006/relationships" id="256" r:id="R9cfb6dc20642490e"/>
    <p:sldId xmlns:r="http://schemas.openxmlformats.org/officeDocument/2006/relationships" id="257" r:id="Ra010c7eacba2475e"/>
    <p:sldId xmlns:r="http://schemas.openxmlformats.org/officeDocument/2006/relationships" id="258" r:id="R80d372f92a144c88"/>
    <p:sldId xmlns:r="http://schemas.openxmlformats.org/officeDocument/2006/relationships" id="259" r:id="Rf01f6d72b2a64d4a"/>
    <p:sldId xmlns:r="http://schemas.openxmlformats.org/officeDocument/2006/relationships" id="260" r:id="Rc31b12eeeb364860"/>
    <p:sldId xmlns:r="http://schemas.openxmlformats.org/officeDocument/2006/relationships" id="261" r:id="Rca7d9e2ff26d4b9a"/>
    <p:sldId xmlns:r="http://schemas.openxmlformats.org/officeDocument/2006/relationships" id="262" r:id="R05cb00b6b6a94f6f"/>
    <p:sldId xmlns:r="http://schemas.openxmlformats.org/officeDocument/2006/relationships" id="263" r:id="Rafe2b35f8f4f408f"/>
    <p:sldId xmlns:r="http://schemas.openxmlformats.org/officeDocument/2006/relationships" id="264" r:id="Ra83f04c93e1443e8"/>
    <p:sldId xmlns:r="http://schemas.openxmlformats.org/officeDocument/2006/relationships" id="265" r:id="R03a70f16e4124f7e"/>
    <p:sldId xmlns:r="http://schemas.openxmlformats.org/officeDocument/2006/relationships" id="266" r:id="R1411f995dece4e1c"/>
    <p:sldId xmlns:r="http://schemas.openxmlformats.org/officeDocument/2006/relationships" id="267" r:id="R87a1d90f24c8418c"/>
    <p:sldId xmlns:r="http://schemas.openxmlformats.org/officeDocument/2006/relationships" id="268" r:id="R3c40bdff50d64e21"/>
    <p:sldId xmlns:r="http://schemas.openxmlformats.org/officeDocument/2006/relationships" id="269" r:id="Rac553ed181464424"/>
    <p:sldId xmlns:r="http://schemas.openxmlformats.org/officeDocument/2006/relationships" id="270" r:id="R630869896a604bbb"/>
    <p:sldId xmlns:r="http://schemas.openxmlformats.org/officeDocument/2006/relationships" id="271" r:id="R6a978dcca5b84c5b"/>
    <p:sldId xmlns:r="http://schemas.openxmlformats.org/officeDocument/2006/relationships" id="272" r:id="Rb877d523a08b451c"/>
    <p:sldId xmlns:r="http://schemas.openxmlformats.org/officeDocument/2006/relationships" id="273" r:id="R02307047b3cc47c0"/>
    <p:sldId xmlns:r="http://schemas.openxmlformats.org/officeDocument/2006/relationships" id="274" r:id="R2955887482eb4ecb"/>
    <p:sldId xmlns:r="http://schemas.openxmlformats.org/officeDocument/2006/relationships" id="275" r:id="R678d2d2bf3b541b7"/>
    <p:sldId xmlns:r="http://schemas.openxmlformats.org/officeDocument/2006/relationships" id="276" r:id="R7332eb0b85174400"/>
    <p:sldId xmlns:r="http://schemas.openxmlformats.org/officeDocument/2006/relationships" id="277" r:id="R583161a47d284351"/>
    <p:sldId xmlns:r="http://schemas.openxmlformats.org/officeDocument/2006/relationships" id="278" r:id="R1a6c0ff0f3064212"/>
    <p:sldId xmlns:r="http://schemas.openxmlformats.org/officeDocument/2006/relationships" id="279" r:id="Raa2ef94c6e5f4926"/>
    <p:sldId xmlns:r="http://schemas.openxmlformats.org/officeDocument/2006/relationships" id="280" r:id="R4673a9b5fec0444f"/>
    <p:sldId xmlns:r="http://schemas.openxmlformats.org/officeDocument/2006/relationships" id="281" r:id="Redae7a33e0664bf0"/>
    <p:sldId xmlns:r="http://schemas.openxmlformats.org/officeDocument/2006/relationships" id="282" r:id="R7ed58d8d301b412a"/>
    <p:sldId xmlns:r="http://schemas.openxmlformats.org/officeDocument/2006/relationships" id="283" r:id="Reaa8f85d56ca4d68"/>
    <p:sldId xmlns:r="http://schemas.openxmlformats.org/officeDocument/2006/relationships" id="284" r:id="Rcb195fde6f1d4201"/>
    <p:sldId xmlns:r="http://schemas.openxmlformats.org/officeDocument/2006/relationships" id="285" r:id="R305d77f990884457"/>
    <p:sldId xmlns:r="http://schemas.openxmlformats.org/officeDocument/2006/relationships" id="286" r:id="R4150795398114d89"/>
    <p:sldId xmlns:r="http://schemas.openxmlformats.org/officeDocument/2006/relationships" id="287" r:id="R32bc62894fbb44fd"/>
    <p:sldId xmlns:r="http://schemas.openxmlformats.org/officeDocument/2006/relationships" id="288" r:id="R32c079ef8a224e58"/>
    <p:sldId xmlns:r="http://schemas.openxmlformats.org/officeDocument/2006/relationships" id="289" r:id="R841e5fae2872480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f48653abf74d4a" /><Relationship Type="http://schemas.openxmlformats.org/officeDocument/2006/relationships/slideMaster" Target="/ppt/slideMasters/slideMaster1.xml" Id="Rfe18ba10f2074b3c" /><Relationship Type="http://schemas.openxmlformats.org/officeDocument/2006/relationships/notesMaster" Target="/ppt/notesMasters/notesMaster1.xml" Id="R1f399d1d8c474c0b" /><Relationship Type="http://schemas.openxmlformats.org/officeDocument/2006/relationships/presProps" Target="/ppt/presProps.xml" Id="R9bd1d545769944cc" /><Relationship Type="http://schemas.openxmlformats.org/officeDocument/2006/relationships/tableStyles" Target="/ppt/tableStyles.xml" Id="Rd4e6c015cd6047cf" /><Relationship Type="http://schemas.openxmlformats.org/officeDocument/2006/relationships/slide" Target="/ppt/slides/slide1.xml" Id="R9cfb6dc20642490e" /><Relationship Type="http://schemas.openxmlformats.org/officeDocument/2006/relationships/slide" Target="/ppt/slides/slide2.xml" Id="Ra010c7eacba2475e" /><Relationship Type="http://schemas.openxmlformats.org/officeDocument/2006/relationships/slide" Target="/ppt/slides/slide3.xml" Id="R80d372f92a144c88" /><Relationship Type="http://schemas.openxmlformats.org/officeDocument/2006/relationships/slide" Target="/ppt/slides/slide4.xml" Id="Rf01f6d72b2a64d4a" /><Relationship Type="http://schemas.openxmlformats.org/officeDocument/2006/relationships/slide" Target="/ppt/slides/slide5.xml" Id="Rc31b12eeeb364860" /><Relationship Type="http://schemas.openxmlformats.org/officeDocument/2006/relationships/slide" Target="/ppt/slides/slide6.xml" Id="Rca7d9e2ff26d4b9a" /><Relationship Type="http://schemas.openxmlformats.org/officeDocument/2006/relationships/slide" Target="/ppt/slides/slide7.xml" Id="R05cb00b6b6a94f6f" /><Relationship Type="http://schemas.openxmlformats.org/officeDocument/2006/relationships/slide" Target="/ppt/slides/slide8.xml" Id="Rafe2b35f8f4f408f" /><Relationship Type="http://schemas.openxmlformats.org/officeDocument/2006/relationships/slide" Target="/ppt/slides/slide9.xml" Id="Ra83f04c93e1443e8" /><Relationship Type="http://schemas.openxmlformats.org/officeDocument/2006/relationships/slide" Target="/ppt/slides/slide10.xml" Id="R03a70f16e4124f7e" /><Relationship Type="http://schemas.openxmlformats.org/officeDocument/2006/relationships/slide" Target="/ppt/slides/slide11.xml" Id="R1411f995dece4e1c" /><Relationship Type="http://schemas.openxmlformats.org/officeDocument/2006/relationships/slide" Target="/ppt/slides/slide12.xml" Id="R87a1d90f24c8418c" /><Relationship Type="http://schemas.openxmlformats.org/officeDocument/2006/relationships/slide" Target="/ppt/slides/slide13.xml" Id="R3c40bdff50d64e21" /><Relationship Type="http://schemas.openxmlformats.org/officeDocument/2006/relationships/slide" Target="/ppt/slides/slide14.xml" Id="Rac553ed181464424" /><Relationship Type="http://schemas.openxmlformats.org/officeDocument/2006/relationships/slide" Target="/ppt/slides/slide15.xml" Id="R630869896a604bbb" /><Relationship Type="http://schemas.openxmlformats.org/officeDocument/2006/relationships/slide" Target="/ppt/slides/slide16.xml" Id="R6a978dcca5b84c5b" /><Relationship Type="http://schemas.openxmlformats.org/officeDocument/2006/relationships/slide" Target="/ppt/slides/slide17.xml" Id="Rb877d523a08b451c" /><Relationship Type="http://schemas.openxmlformats.org/officeDocument/2006/relationships/slide" Target="/ppt/slides/slide18.xml" Id="R02307047b3cc47c0" /><Relationship Type="http://schemas.openxmlformats.org/officeDocument/2006/relationships/slide" Target="/ppt/slides/slide19.xml" Id="R2955887482eb4ecb" /><Relationship Type="http://schemas.openxmlformats.org/officeDocument/2006/relationships/slide" Target="/ppt/slides/slide20.xml" Id="R678d2d2bf3b541b7" /><Relationship Type="http://schemas.openxmlformats.org/officeDocument/2006/relationships/slide" Target="/ppt/slides/slide21.xml" Id="R7332eb0b85174400" /><Relationship Type="http://schemas.openxmlformats.org/officeDocument/2006/relationships/slide" Target="/ppt/slides/slide22.xml" Id="R583161a47d284351" /><Relationship Type="http://schemas.openxmlformats.org/officeDocument/2006/relationships/slide" Target="/ppt/slides/slide23.xml" Id="R1a6c0ff0f3064212" /><Relationship Type="http://schemas.openxmlformats.org/officeDocument/2006/relationships/slide" Target="/ppt/slides/slide24.xml" Id="Raa2ef94c6e5f4926" /><Relationship Type="http://schemas.openxmlformats.org/officeDocument/2006/relationships/slide" Target="/ppt/slides/slide25.xml" Id="R4673a9b5fec0444f" /><Relationship Type="http://schemas.openxmlformats.org/officeDocument/2006/relationships/slide" Target="/ppt/slides/slide26.xml" Id="Redae7a33e0664bf0" /><Relationship Type="http://schemas.openxmlformats.org/officeDocument/2006/relationships/slide" Target="/ppt/slides/slide27.xml" Id="R7ed58d8d301b412a" /><Relationship Type="http://schemas.openxmlformats.org/officeDocument/2006/relationships/slide" Target="/ppt/slides/slide28.xml" Id="Reaa8f85d56ca4d68" /><Relationship Type="http://schemas.openxmlformats.org/officeDocument/2006/relationships/slide" Target="/ppt/slides/slide29.xml" Id="Rcb195fde6f1d4201" /><Relationship Type="http://schemas.openxmlformats.org/officeDocument/2006/relationships/slide" Target="/ppt/slides/slide30.xml" Id="R305d77f990884457" /><Relationship Type="http://schemas.openxmlformats.org/officeDocument/2006/relationships/slide" Target="/ppt/slides/slide31.xml" Id="R4150795398114d89" /><Relationship Type="http://schemas.openxmlformats.org/officeDocument/2006/relationships/slide" Target="/ppt/slides/slide32.xml" Id="R32bc62894fbb44fd" /><Relationship Type="http://schemas.openxmlformats.org/officeDocument/2006/relationships/slide" Target="/ppt/slides/slide33.xml" Id="R32c079ef8a224e58" /><Relationship Type="http://schemas.openxmlformats.org/officeDocument/2006/relationships/slide" Target="/ppt/slides/slide34.xml" Id="R841e5fae287248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c792cd3b9e40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1060b24a1645ad" /><Relationship Type="http://schemas.openxmlformats.org/officeDocument/2006/relationships/notesMaster" Target="/ppt/notesMasters/notesMaster1.xml" Id="R90010f7b652747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ad085572ef4e90" /><Relationship Type="http://schemas.openxmlformats.org/officeDocument/2006/relationships/notesMaster" Target="/ppt/notesMasters/notesMaster1.xml" Id="R31acacebc1a146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423038392b4ead" /><Relationship Type="http://schemas.openxmlformats.org/officeDocument/2006/relationships/notesMaster" Target="/ppt/notesMasters/notesMaster1.xml" Id="R08b060391fa24d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d04a74ad704daa" /><Relationship Type="http://schemas.openxmlformats.org/officeDocument/2006/relationships/notesMaster" Target="/ppt/notesMasters/notesMaster1.xml" Id="R7a86b973e36443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badbbb2bb6440f" /><Relationship Type="http://schemas.openxmlformats.org/officeDocument/2006/relationships/notesMaster" Target="/ppt/notesMasters/notesMaster1.xml" Id="R1af78df3284e42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d647e310304ed9" /><Relationship Type="http://schemas.openxmlformats.org/officeDocument/2006/relationships/notesMaster" Target="/ppt/notesMasters/notesMaster1.xml" Id="Rfd08bf0d5a9c4f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3618d5cdf34553" /><Relationship Type="http://schemas.openxmlformats.org/officeDocument/2006/relationships/notesMaster" Target="/ppt/notesMasters/notesMaster1.xml" Id="R8a3a47c6e62840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784297135e402b" /><Relationship Type="http://schemas.openxmlformats.org/officeDocument/2006/relationships/notesMaster" Target="/ppt/notesMasters/notesMaster1.xml" Id="Rd1dac40d86ca46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c5d5380a09433f" /><Relationship Type="http://schemas.openxmlformats.org/officeDocument/2006/relationships/notesMaster" Target="/ppt/notesMasters/notesMaster1.xml" Id="R50a49480550342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160c8f07a04bff" /><Relationship Type="http://schemas.openxmlformats.org/officeDocument/2006/relationships/notesMaster" Target="/ppt/notesMasters/notesMaster1.xml" Id="R324f6d28012b42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57226f775b4b3e" /><Relationship Type="http://schemas.openxmlformats.org/officeDocument/2006/relationships/notesMaster" Target="/ppt/notesMasters/notesMaster1.xml" Id="R25ed1555a84f44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12ed1c983d4d29" /><Relationship Type="http://schemas.openxmlformats.org/officeDocument/2006/relationships/notesMaster" Target="/ppt/notesMasters/notesMaster1.xml" Id="R44b0eac8e35b4e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0f3fe0207641f6" /><Relationship Type="http://schemas.openxmlformats.org/officeDocument/2006/relationships/notesMaster" Target="/ppt/notesMasters/notesMaster1.xml" Id="R3ef4bae6c5844d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a979ed8cc34209" /><Relationship Type="http://schemas.openxmlformats.org/officeDocument/2006/relationships/notesMaster" Target="/ppt/notesMasters/notesMaster1.xml" Id="R4a35ee7174f649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c7527fde994080" /><Relationship Type="http://schemas.openxmlformats.org/officeDocument/2006/relationships/notesMaster" Target="/ppt/notesMasters/notesMaster1.xml" Id="R9e67e874539942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8dd5370e21494c" /><Relationship Type="http://schemas.openxmlformats.org/officeDocument/2006/relationships/notesMaster" Target="/ppt/notesMasters/notesMaster1.xml" Id="Rb4b23c9093474d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8cf84674db4d49" /><Relationship Type="http://schemas.openxmlformats.org/officeDocument/2006/relationships/notesMaster" Target="/ppt/notesMasters/notesMaster1.xml" Id="R55323ece1ff843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0dac2461144c39" /><Relationship Type="http://schemas.openxmlformats.org/officeDocument/2006/relationships/notesMaster" Target="/ppt/notesMasters/notesMaster1.xml" Id="R24127b9ecaed48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5ef264a383422b" /><Relationship Type="http://schemas.openxmlformats.org/officeDocument/2006/relationships/notesMaster" Target="/ppt/notesMasters/notesMaster1.xml" Id="R9976fa5e8d6b40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41314bcda24384" /><Relationship Type="http://schemas.openxmlformats.org/officeDocument/2006/relationships/notesMaster" Target="/ppt/notesMasters/notesMaster1.xml" Id="Rf1168191e0b34ac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086c1cccae4e93" /><Relationship Type="http://schemas.openxmlformats.org/officeDocument/2006/relationships/notesMaster" Target="/ppt/notesMasters/notesMaster1.xml" Id="Rb1e15ed2be6447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b2cf0838274029" /><Relationship Type="http://schemas.openxmlformats.org/officeDocument/2006/relationships/notesMaster" Target="/ppt/notesMasters/notesMaster1.xml" Id="R6b7e619056f445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a2fdeaa8a14931" /><Relationship Type="http://schemas.openxmlformats.org/officeDocument/2006/relationships/notesMaster" Target="/ppt/notesMasters/notesMaster1.xml" Id="R4018d274a4ab45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5de34b093a4683" /><Relationship Type="http://schemas.openxmlformats.org/officeDocument/2006/relationships/notesMaster" Target="/ppt/notesMasters/notesMaster1.xml" Id="Rf0be75fe9da341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95edac2b0549db" /><Relationship Type="http://schemas.openxmlformats.org/officeDocument/2006/relationships/notesMaster" Target="/ppt/notesMasters/notesMaster1.xml" Id="R98fd59a27c834b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e0cde0260fa47c6" /><Relationship Type="http://schemas.openxmlformats.org/officeDocument/2006/relationships/notesMaster" Target="/ppt/notesMasters/notesMaster1.xml" Id="R37c319f08bcb4b5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d54d4ec638846e8" /><Relationship Type="http://schemas.openxmlformats.org/officeDocument/2006/relationships/notesMaster" Target="/ppt/notesMasters/notesMaster1.xml" Id="Racb7875f56b440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bc32087c1754d1c" /><Relationship Type="http://schemas.openxmlformats.org/officeDocument/2006/relationships/notesMaster" Target="/ppt/notesMasters/notesMaster1.xml" Id="R1c2a7c6db2cb42e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2be729108a4ec1" /><Relationship Type="http://schemas.openxmlformats.org/officeDocument/2006/relationships/notesMaster" Target="/ppt/notesMasters/notesMaster1.xml" Id="Ra733f109d0c1457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cfef9b689f44acd" /><Relationship Type="http://schemas.openxmlformats.org/officeDocument/2006/relationships/notesMaster" Target="/ppt/notesMasters/notesMaster1.xml" Id="R1fe338b83ee3465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2e11c356d04269" /><Relationship Type="http://schemas.openxmlformats.org/officeDocument/2006/relationships/notesMaster" Target="/ppt/notesMasters/notesMaster1.xml" Id="R29666e65cc1d48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6ee66b1cb3546c2" /><Relationship Type="http://schemas.openxmlformats.org/officeDocument/2006/relationships/notesMaster" Target="/ppt/notesMasters/notesMaster1.xml" Id="R68ffb7f43ac9412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f7b9a51ec4d4776" /><Relationship Type="http://schemas.openxmlformats.org/officeDocument/2006/relationships/notesMaster" Target="/ppt/notesMasters/notesMaster1.xml" Id="R8e6659a8ed92478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0a04486ccf14f93" /><Relationship Type="http://schemas.openxmlformats.org/officeDocument/2006/relationships/notesMaster" Target="/ppt/notesMasters/notesMaster1.xml" Id="R03013de7a04942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Choosing and explaining a model</a:t>
            </a:r>
          </a:p>
          <a:p xmlns:a="http://schemas.openxmlformats.org/drawingml/2006/main">
            <a:r>
              <a:t/>
            </a:r>
          </a:p>
          <a:p xmlns:a="http://schemas.openxmlformats.org/drawingml/2006/main">
            <a:r>
              <a:t>CONNECT</a:t>
            </a:r>
          </a:p>
          <a:p xmlns:a="http://schemas.openxmlformats.org/drawingml/2006/main">
            <a:r>
              <a:t>Build on the preceding week. Explain why this example is needed before running it.</a:t>
            </a:r>
          </a:p>
          <a:p xmlns:a="http://schemas.openxmlformats.org/drawingml/2006/main">
            <a:r>
              <a:t/>
            </a:r>
          </a:p>
          <a:p xmlns:a="http://schemas.openxmlformats.org/drawingml/2006/main">
            <a:r>
              <a:t>EXPLAIN</a:t>
            </a:r>
          </a:p>
          <a:p xmlns:a="http://schemas.openxmlformats.org/drawingml/2006/main">
            <a:r>
              <a:t>Communications, Electrical, Mechatronics and Robotics Engineering</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Choosing and explaining a model</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NEXT</a:t>
            </a:r>
          </a:p>
          <a:p xmlns:a="http://schemas.openxmlformats.org/drawingml/2006/main">
            <a:r>
              <a:t>Today’s learning.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Build on Choosing and explaining a model. Explain why this example is needed before running it.</a:t>
            </a:r>
          </a:p>
          <a:p xmlns:a="http://schemas.openxmlformats.org/drawingml/2006/main">
            <a:r>
              <a:t/>
            </a:r>
          </a:p>
          <a:p xmlns:a="http://schemas.openxmlformats.org/drawingml/2006/main">
            <a:r>
              <a:t>EXPLAIN</a:t>
            </a:r>
          </a:p>
          <a:p xmlns:a="http://schemas.openxmlformats.org/drawingml/2006/main">
            <a:r>
              <a:t>Check model requirements before ranking candidates.</a:t>
            </a:r>
          </a:p>
          <a:p xmlns:a="http://schemas.openxmlformats.org/drawingml/2006/main">
            <a:r>
              <a:t/>
            </a:r>
          </a:p>
          <a:p xmlns:a="http://schemas.openxmlformats.org/drawingml/2006/main">
            <a:r>
              <a:t>Apply the tie-break rule and explain the choice.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Build on the preceding slide: Choosing and explaining a model.</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A large grid search, four new model implementations and an adversarial defence are optional practice. They must not crowd out the core decision process.</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NEXT</a:t>
            </a:r>
          </a:p>
          <a:p xmlns:a="http://schemas.openxmlformats.org/drawingml/2006/main">
            <a:r>
              <a:t>Recall and a first attempt.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Connection to the previous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Build on Today’s learning. Explain why this example is needed before running it.</a:t>
            </a:r>
          </a:p>
          <a:p xmlns:a="http://schemas.openxmlformats.org/drawingml/2006/main">
            <a:r>
              <a:t/>
            </a:r>
          </a:p>
          <a:p xmlns:a="http://schemas.openxmlformats.org/drawingml/2006/main">
            <a:r>
              <a:t>EXPLAIN</a:t>
            </a:r>
          </a:p>
          <a:p xmlns:a="http://schemas.openxmlformats.org/drawingml/2006/main">
            <a:r>
              <a:t>We already calculate validation errors. Now we combine those errors with a practical constraint and an explicit tie-break rule.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Recall and a first attempt</a:t>
            </a:r>
          </a:p>
          <a:p xmlns:a="http://schemas.openxmlformats.org/drawingml/2006/main">
            <a:r>
              <a:t/>
            </a:r>
          </a:p>
          <a:p xmlns:a="http://schemas.openxmlformats.org/drawingml/2006/main">
            <a:r>
              <a:t>CONNECT</a:t>
            </a:r>
          </a:p>
          <a:p xmlns:a="http://schemas.openxmlformats.org/drawingml/2006/main">
            <a:r>
              <a:t>Build on the preceding slide: Today’s learning.</a:t>
            </a:r>
          </a:p>
          <a:p xmlns:a="http://schemas.openxmlformats.org/drawingml/2006/main">
            <a:r>
              <a:t/>
            </a:r>
          </a:p>
          <a:p xmlns:a="http://schemas.openxmlformats.org/drawingml/2006/main">
            <a:r>
              <a:t>LECTURER CUE</a:t>
            </a:r>
          </a:p>
          <a:p xmlns:a="http://schemas.openxmlformats.org/drawingml/2006/main">
            <a:r>
              <a:t/>
            </a:r>
          </a:p>
          <a:p xmlns:a="http://schemas.openxmlformats.org/drawingml/2006/main">
            <a:r>
              <a:t>EXPLAIN IN ORDINARY WORDS</a:t>
            </a:r>
          </a:p>
          <a:p xmlns:a="http://schemas.openxmlformats.org/drawingml/2006/main">
            <a:r>
              <a:t>Name the positive class first. Actual is what happened; predicted is the model decision. Precision asks how many predicted positives were right. Recall asks how many actual positives were found.</a:t>
            </a:r>
          </a:p>
          <a:p xmlns:a="http://schemas.openxmlformats.org/drawingml/2006/main">
            <a:r>
              <a:t/>
            </a:r>
          </a:p>
          <a:p xmlns:a="http://schemas.openxmlformats.org/drawingml/2006/main">
            <a:r>
              <a:t>CHECK AND EXPECTED ANSWER</a:t>
            </a:r>
          </a:p>
          <a:p xmlns:a="http://schemas.openxmlformats.org/drawingml/2006/main">
            <a:r>
              <a:t>With TP=2, FP=1, FN=2: precision=2/3 and recall=2/4. A missed actual positive is a false negative.</a:t>
            </a:r>
          </a:p>
          <a:p xmlns:a="http://schemas.openxmlformats.org/drawingml/2006/main">
            <a:r>
              <a:t/>
            </a:r>
          </a:p>
          <a:p xmlns:a="http://schemas.openxmlformats.org/drawingml/2006/main">
            <a:r>
              <a:t>IF LEARNERS ARE STUCK</a:t>
            </a:r>
          </a:p>
          <a:p xmlns:a="http://schemas.openxmlformats.org/drawingml/2006/main">
            <a:r>
              <a:t>Draw actual/predicted headings. Place one case at a time before calculating a fraction. Explain the task rule for a zero denominator.</a:t>
            </a:r>
          </a:p>
          <a:p xmlns:a="http://schemas.openxmlformats.org/drawingml/2006/main">
            <a:r>
              <a:t/>
            </a:r>
          </a:p>
          <a:p xmlns:a="http://schemas.openxmlformats.org/drawingml/2006/main">
            <a:r>
              <a:t>NEXT</a:t>
            </a:r>
          </a:p>
          <a:p xmlns:a="http://schemas.openxmlformats.org/drawingml/2006/main">
            <a:r>
              <a:t>The engineering context.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Why this week’s tools are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Build on Connection to the previous lesson. Explain why this example is needed before running it.</a:t>
            </a:r>
          </a:p>
          <a:p xmlns:a="http://schemas.openxmlformats.org/drawingml/2006/main">
            <a:r>
              <a:t/>
            </a:r>
          </a:p>
          <a:p xmlns:a="http://schemas.openxmlformats.org/drawingml/2006/main">
            <a:r>
              <a:t>EXPLAIN</a:t>
            </a:r>
          </a:p>
          <a:p xmlns:a="http://schemas.openxmlformats.org/drawingml/2006/main">
            <a:r>
              <a:t>The lowest prediction error may come from a model that is too slow for the stated task. We apply the published constraints before ranking eligible models.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The engineering context</a:t>
            </a:r>
          </a:p>
          <a:p xmlns:a="http://schemas.openxmlformats.org/drawingml/2006/main">
            <a:r>
              <a:t/>
            </a:r>
          </a:p>
          <a:p xmlns:a="http://schemas.openxmlformats.org/drawingml/2006/main">
            <a:r>
              <a:t>CONNECT</a:t>
            </a:r>
          </a:p>
          <a:p xmlns:a="http://schemas.openxmlformats.org/drawingml/2006/main">
            <a:r>
              <a:t>Build on the preceding slide: Recall and a first attempt.</a:t>
            </a:r>
          </a:p>
          <a:p xmlns:a="http://schemas.openxmlformats.org/drawingml/2006/main">
            <a:r>
              <a:t/>
            </a:r>
          </a:p>
          <a:p xmlns:a="http://schemas.openxmlformats.org/drawingml/2006/main">
            <a:r>
              <a:t>LECTURER CUE</a:t>
            </a:r>
          </a:p>
          <a:p xmlns:a="http://schemas.openxmlformats.org/drawingml/2006/main">
            <a:r>
              <a:t>A team records device temperature to investigate cooling. Use a communications cabinet, an electrical enclosure or a robot controller as the physical example. No specialist hardware knowledge is assumed.</a:t>
            </a:r>
          </a:p>
          <a:p xmlns:a="http://schemas.openxmlformats.org/drawingml/2006/main">
            <a:r>
              <a:t/>
            </a:r>
          </a:p>
          <a:p xmlns:a="http://schemas.openxmlformats.org/drawingml/2006/main">
            <a:r>
              <a:t>EXPLAIN IN ORDINARY WORDS</a:t>
            </a:r>
          </a:p>
          <a:p xmlns:a="http://schemas.openxmlformats.org/drawingml/2006/main">
            <a:r>
              <a:t>A list keeps items in order. Python positions start at zero. In [2,4,6], position 0 contains 2 and position 2 contains 6. A slice excludes its stop position.</a:t>
            </a:r>
          </a:p>
          <a:p xmlns:a="http://schemas.openxmlformats.org/drawingml/2006/main">
            <a:r>
              <a:t/>
            </a:r>
          </a:p>
          <a:p xmlns:a="http://schemas.openxmlformats.org/drawingml/2006/main">
            <a:r>
              <a:t>CHECK AND EXPECTED ANSWER</a:t>
            </a:r>
          </a:p>
          <a:p xmlns:a="http://schemas.openxmlformats.org/drawingml/2006/main">
            <a:r>
              <a:t>What is [2,4,6][1]? 4. Is there a position 3? No.</a:t>
            </a:r>
          </a:p>
          <a:p xmlns:a="http://schemas.openxmlformats.org/drawingml/2006/main">
            <a:r>
              <a:t/>
            </a:r>
          </a:p>
          <a:p xmlns:a="http://schemas.openxmlformats.org/drawingml/2006/main">
            <a:r>
              <a:t>IF LEARNERS ARE STUCK</a:t>
            </a:r>
          </a:p>
          <a:p xmlns:a="http://schemas.openxmlformats.org/drawingml/2006/main">
            <a:r>
              <a:t>Draw three numbered boxes starting at zero. Keep the position separate from the value stored in it.</a:t>
            </a:r>
          </a:p>
          <a:p xmlns:a="http://schemas.openxmlformats.org/drawingml/2006/main">
            <a:r>
              <a:t/>
            </a:r>
          </a:p>
          <a:p xmlns:a="http://schemas.openxmlformats.org/drawingml/2006/main">
            <a:r>
              <a:t>NEXT</a:t>
            </a:r>
          </a:p>
          <a:p xmlns:a="http://schemas.openxmlformats.org/drawingml/2006/main">
            <a:r>
              <a:t>Words we will use.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Constraint and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Constraint and Latency</a:t>
            </a:r>
          </a:p>
          <a:p xmlns:a="http://schemas.openxmlformats.org/drawingml/2006/main">
            <a:r>
              <a:t/>
            </a:r>
          </a:p>
          <a:p xmlns:a="http://schemas.openxmlformats.org/drawingml/2006/main">
            <a:r>
              <a:t>CONNECT</a:t>
            </a:r>
          </a:p>
          <a:p xmlns:a="http://schemas.openxmlformats.org/drawingml/2006/main">
            <a:r>
              <a:t>Build on Why this week’s tools are needed. Explain why this example is needed before running it.</a:t>
            </a:r>
          </a:p>
          <a:p xmlns:a="http://schemas.openxmlformats.org/drawingml/2006/main">
            <a:r>
              <a:t/>
            </a:r>
          </a:p>
          <a:p xmlns:a="http://schemas.openxmlformats.org/drawingml/2006/main">
            <a:r>
              <a:t>EXPLAIN</a:t>
            </a:r>
          </a:p>
          <a:p xmlns:a="http://schemas.openxmlformats.org/drawingml/2006/main">
            <a:r>
              <a:t>Constraint: A condition a candidate must satisfy, such as MAE at most 3 and latency at most 10 ms.</a:t>
            </a:r>
          </a:p>
          <a:p xmlns:a="http://schemas.openxmlformats.org/drawingml/2006/main">
            <a:r>
              <a:t>Latency: Time taken to produce a prediction under stated measurement conditions. Hardware and measurement method matter.</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Words we will use</a:t>
            </a:r>
          </a:p>
          <a:p xmlns:a="http://schemas.openxmlformats.org/drawingml/2006/main">
            <a:r>
              <a:t/>
            </a:r>
          </a:p>
          <a:p xmlns:a="http://schemas.openxmlformats.org/drawingml/2006/main">
            <a:r>
              <a:t>CONNECT</a:t>
            </a:r>
          </a:p>
          <a:p xmlns:a="http://schemas.openxmlformats.org/drawingml/2006/main">
            <a:r>
              <a:t>Build on the preceding slide: The engineering context.</a:t>
            </a:r>
          </a:p>
          <a:p xmlns:a="http://schemas.openxmlformats.org/drawingml/2006/main">
            <a:r>
              <a:t/>
            </a:r>
          </a:p>
          <a:p xmlns:a="http://schemas.openxmlformats.org/drawingml/2006/main">
            <a:r>
              <a:t>EXPLAIN IN ORDINARY WORDS</a:t>
            </a:r>
          </a:p>
          <a:p xmlns:a="http://schemas.openxmlformats.org/drawingml/2006/main">
            <a:r>
              <a:t>An error compares prediction with measured truth. Absolute error ignores direction. MAE averages absolute errors; RMSE squares, averages, then takes a square root. Both use the target unit.</a:t>
            </a:r>
          </a:p>
          <a:p xmlns:a="http://schemas.openxmlformats.org/drawingml/2006/main">
            <a:r>
              <a:t/>
            </a:r>
          </a:p>
          <a:p xmlns:a="http://schemas.openxmlformats.org/drawingml/2006/main">
            <a:r>
              <a:t>CHECK AND EXPECTED ANSWER</a:t>
            </a:r>
          </a:p>
          <a:p xmlns:a="http://schemas.openxmlformats.org/drawingml/2006/main">
            <a:r>
              <a:t>Actual [4,8], predicted [5,6]: prediction-minus-actual errors [1,-2], MAE=1.5, RMSE=sqrt(2.5), about 1.58.</a:t>
            </a:r>
          </a:p>
          <a:p xmlns:a="http://schemas.openxmlformats.org/drawingml/2006/main">
            <a:r>
              <a:t/>
            </a:r>
          </a:p>
          <a:p xmlns:a="http://schemas.openxmlformats.org/drawingml/2006/main">
            <a:r>
              <a:t>IF LEARNERS ARE STUCK</a:t>
            </a:r>
          </a:p>
          <a:p xmlns:a="http://schemas.openxmlformats.org/drawingml/2006/main">
            <a:r>
              <a:t>Calculate one pair by hand first. For signed percentage error follow the precise sign convention in the issued task.</a:t>
            </a:r>
          </a:p>
          <a:p xmlns:a="http://schemas.openxmlformats.org/drawingml/2006/main">
            <a:r>
              <a:t/>
            </a:r>
          </a:p>
          <a:p xmlns:a="http://schemas.openxmlformats.org/drawingml/2006/main">
            <a:r>
              <a:t>POINT TO THE DEFINITION</a:t>
            </a:r>
          </a:p>
          <a:p xmlns:a="http://schemas.openxmlformats.org/drawingml/2006/main">
            <a:r>
              <a:t>Constraint: A condition a candidate must satisfy, such as MAE at most 3 and latency at most 10 ms.</a:t>
            </a:r>
          </a:p>
          <a:p xmlns:a="http://schemas.openxmlformats.org/drawingml/2006/main">
            <a:r>
              <a:t>Latency: Time taken to produce a prediction under stated measurement conditions. Hardware and measurement method matter.</a:t>
            </a:r>
          </a:p>
          <a:p xmlns:a="http://schemas.openxmlformats.org/drawingml/2006/main">
            <a:r>
              <a:t/>
            </a:r>
          </a:p>
          <a:p xmlns:a="http://schemas.openxmlformats.org/drawingml/2006/main">
            <a:r>
              <a:t>NEXT</a:t>
            </a:r>
          </a:p>
          <a:p xmlns:a="http://schemas.openxmlformats.org/drawingml/2006/main">
            <a:r>
              <a:t>Words we will use.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Tie-break and Hyperparameter.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Tie-break and Hyperparameter</a:t>
            </a:r>
          </a:p>
          <a:p xmlns:a="http://schemas.openxmlformats.org/drawingml/2006/main">
            <a:r>
              <a:t/>
            </a:r>
          </a:p>
          <a:p xmlns:a="http://schemas.openxmlformats.org/drawingml/2006/main">
            <a:r>
              <a:t>CONNECT</a:t>
            </a:r>
          </a:p>
          <a:p xmlns:a="http://schemas.openxmlformats.org/drawingml/2006/main">
            <a:r>
              <a:t>Build on Constraint and Latency. Explain why this example is needed before running it.</a:t>
            </a:r>
          </a:p>
          <a:p xmlns:a="http://schemas.openxmlformats.org/drawingml/2006/main">
            <a:r>
              <a:t/>
            </a:r>
          </a:p>
          <a:p xmlns:a="http://schemas.openxmlformats.org/drawingml/2006/main">
            <a:r>
              <a:t>EXPLAIN</a:t>
            </a:r>
          </a:p>
          <a:p xmlns:a="http://schemas.openxmlformats.org/drawingml/2006/main">
            <a:r>
              <a:t>Tie-break: A published rule for choosing between candidates that tie on the main criterion.</a:t>
            </a:r>
          </a:p>
          <a:p xmlns:a="http://schemas.openxmlformats.org/drawingml/2006/main">
            <a:r>
              <a:t>Hyperparameter: A setting chosen before fitting, such as tree depth. Tune using validation or cross-validation, not the final test.</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Words we will use</a:t>
            </a:r>
          </a:p>
          <a:p xmlns:a="http://schemas.openxmlformats.org/drawingml/2006/main">
            <a:r>
              <a:t/>
            </a:r>
          </a:p>
          <a:p xmlns:a="http://schemas.openxmlformats.org/drawingml/2006/main">
            <a:r>
              <a:t>CONNECT</a:t>
            </a:r>
          </a:p>
          <a:p xmlns:a="http://schemas.openxmlformats.org/drawingml/2006/main">
            <a:r>
              <a:t>Build on the preceding slide: Words we will use.</a:t>
            </a:r>
          </a:p>
          <a:p xmlns:a="http://schemas.openxmlformats.org/drawingml/2006/main">
            <a:r>
              <a:t/>
            </a:r>
          </a:p>
          <a:p xmlns:a="http://schemas.openxmlformats.org/drawingml/2006/main">
            <a:r>
              <a:t>EXPLAIN IN ORDINARY WORDS</a:t>
            </a:r>
          </a:p>
          <a:p xmlns:a="http://schemas.openxmlformats.org/drawingml/2006/main">
            <a:r>
              <a:t>Cross-validation repeats training and validation on different partitions. Each fold gets a newly fitted model and preprocessing. Variation across fold scores shows sensitivity to the partition.</a:t>
            </a:r>
          </a:p>
          <a:p xmlns:a="http://schemas.openxmlformats.org/drawingml/2006/main">
            <a:r>
              <a:t/>
            </a:r>
          </a:p>
          <a:p xmlns:a="http://schemas.openxmlformats.org/drawingml/2006/main">
            <a:r>
              <a:t>CHECK AND EXPECTED ANSWER</a:t>
            </a:r>
          </a:p>
          <a:p xmlns:a="http://schemas.openxmlformats.org/drawingml/2006/main">
            <a:r>
              <a:t>May preprocessing learn from all rows before the folds? No, that would give each validation fold information from outside its training portion.</a:t>
            </a:r>
          </a:p>
          <a:p xmlns:a="http://schemas.openxmlformats.org/drawingml/2006/main">
            <a:r>
              <a:t/>
            </a:r>
          </a:p>
          <a:p xmlns:a="http://schemas.openxmlformats.org/drawingml/2006/main">
            <a:r>
              <a:t>IF LEARNERS ARE STUCK</a:t>
            </a:r>
          </a:p>
          <a:p xmlns:a="http://schemas.openxmlformats.org/drawingml/2006/main">
            <a:r>
              <a:t>Draw three small partitions and label who learns and who is evaluated. Fold spread is not automatically a confidence interval.</a:t>
            </a:r>
          </a:p>
          <a:p xmlns:a="http://schemas.openxmlformats.org/drawingml/2006/main">
            <a:r>
              <a:t/>
            </a:r>
          </a:p>
          <a:p xmlns:a="http://schemas.openxmlformats.org/drawingml/2006/main">
            <a:r>
              <a:t>POINT TO THE DEFINITION</a:t>
            </a:r>
          </a:p>
          <a:p xmlns:a="http://schemas.openxmlformats.org/drawingml/2006/main">
            <a:r>
              <a:t>Tie-break: A published rule for choosing between candidates that tie on the main criterion.</a:t>
            </a:r>
          </a:p>
          <a:p xmlns:a="http://schemas.openxmlformats.org/drawingml/2006/main">
            <a:r>
              <a:t>Hyperparameter: A setting chosen before fitting, such as tree depth. Tune using validation or cross-validation, not the final test.</a:t>
            </a:r>
          </a:p>
          <a:p xmlns:a="http://schemas.openxmlformats.org/drawingml/2006/main">
            <a:r>
              <a:t/>
            </a:r>
          </a:p>
          <a:p xmlns:a="http://schemas.openxmlformats.org/drawingml/2006/main">
            <a:r>
              <a:t>NEXT</a:t>
            </a:r>
          </a:p>
          <a:p xmlns:a="http://schemas.openxmlformats.org/drawingml/2006/main">
            <a:r>
              <a:t>Error and practical constraints.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Error and practical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Error and practical constraints</a:t>
            </a:r>
          </a:p>
          <a:p xmlns:a="http://schemas.openxmlformats.org/drawingml/2006/main">
            <a:r>
              <a:t/>
            </a:r>
          </a:p>
          <a:p xmlns:a="http://schemas.openxmlformats.org/drawingml/2006/main">
            <a:r>
              <a:t>CONNECT</a:t>
            </a:r>
          </a:p>
          <a:p xmlns:a="http://schemas.openxmlformats.org/drawingml/2006/main">
            <a:r>
              <a:t>Build on Tie-break and Hyperparameter. Explain why this example is needed before running it.</a:t>
            </a:r>
          </a:p>
          <a:p xmlns:a="http://schemas.openxmlformats.org/drawingml/2006/main">
            <a:r>
              <a:t/>
            </a:r>
          </a:p>
          <a:p xmlns:a="http://schemas.openxmlformats.org/drawingml/2006/main">
            <a:r>
              <a:t>EXPLAIN</a:t>
            </a:r>
          </a:p>
          <a:p xmlns:a="http://schemas.openxmlformats.org/drawingml/2006/main">
            <a:r>
              <a:t>A smaller error can require more computation.</a:t>
            </a:r>
          </a:p>
          <a:p xmlns:a="http://schemas.openxmlformats.org/drawingml/2006/main">
            <a:r>
              <a:t/>
            </a:r>
          </a:p>
          <a:p xmlns:a="http://schemas.openxmlformats.org/drawingml/2006/main">
            <a:r>
              <a:t>A candidate must meet every stated requirement.</a:t>
            </a:r>
          </a:p>
          <a:p xmlns:a="http://schemas.openxmlformats.org/drawingml/2006/main">
            <a:r>
              <a:t/>
            </a:r>
          </a:p>
          <a:p xmlns:a="http://schemas.openxmlformats.org/drawingml/2006/main">
            <a:r>
              <a:t>Compare eligible models on the same validation observations.</a:t>
            </a:r>
          </a:p>
          <a:p xmlns:a="http://schemas.openxmlformats.org/drawingml/2006/main">
            <a:r>
              <a:t/>
            </a:r>
          </a:p>
          <a:p xmlns:a="http://schemas.openxmlformats.org/drawingml/2006/main">
            <a:r>
              <a:t>Follow the published tie-break rule when scores tie.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Error and practical constraints</a:t>
            </a:r>
          </a:p>
          <a:p xmlns:a="http://schemas.openxmlformats.org/drawingml/2006/main">
            <a:r>
              <a:t/>
            </a:r>
          </a:p>
          <a:p xmlns:a="http://schemas.openxmlformats.org/drawingml/2006/main">
            <a:r>
              <a:t>CONNECT</a:t>
            </a:r>
          </a:p>
          <a:p xmlns:a="http://schemas.openxmlformats.org/drawingml/2006/main">
            <a:r>
              <a:t>Build on the preceding slide: Words we will use.</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NEXT</a:t>
            </a:r>
          </a:p>
          <a:p xmlns:a="http://schemas.openxmlformats.org/drawingml/2006/main">
            <a:r>
              <a:t>A model comparison needs a fair test.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model comparison needs a fair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model comparison needs a fair test</a:t>
            </a:r>
          </a:p>
          <a:p xmlns:a="http://schemas.openxmlformats.org/drawingml/2006/main">
            <a:r>
              <a:t/>
            </a:r>
          </a:p>
          <a:p xmlns:a="http://schemas.openxmlformats.org/drawingml/2006/main">
            <a:r>
              <a:t>CONNECT</a:t>
            </a:r>
          </a:p>
          <a:p xmlns:a="http://schemas.openxmlformats.org/drawingml/2006/main">
            <a:r>
              <a:t>Build on Error and practical constraints. Explain why this example is needed before running it.</a:t>
            </a:r>
          </a:p>
          <a:p xmlns:a="http://schemas.openxmlformats.org/drawingml/2006/main">
            <a:r>
              <a:t/>
            </a:r>
          </a:p>
          <a:p xmlns:a="http://schemas.openxmlformats.org/drawingml/2006/main">
            <a:r>
              <a:t>EXPLAIN</a:t>
            </a:r>
          </a:p>
          <a:p xmlns:a="http://schemas.openxmlformats.org/drawingml/2006/main">
            <a:r>
              <a:t>Use the same validation observations for every candidate.</a:t>
            </a:r>
          </a:p>
          <a:p xmlns:a="http://schemas.openxmlformats.org/drawingml/2006/main">
            <a:r>
              <a:t/>
            </a:r>
          </a:p>
          <a:p xmlns:a="http://schemas.openxmlformats.org/drawingml/2006/main">
            <a:r>
              <a:t>Fit preprocessing on training data only.</a:t>
            </a:r>
          </a:p>
          <a:p xmlns:a="http://schemas.openxmlformats.org/drawingml/2006/main">
            <a:r>
              <a:t/>
            </a:r>
          </a:p>
          <a:p xmlns:a="http://schemas.openxmlformats.org/drawingml/2006/main">
            <a:r>
              <a:t>Choose the error measure and practical requirements before inspecting results.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model comparison needs a fair test</a:t>
            </a:r>
          </a:p>
          <a:p xmlns:a="http://schemas.openxmlformats.org/drawingml/2006/main">
            <a:r>
              <a:t/>
            </a:r>
          </a:p>
          <a:p xmlns:a="http://schemas.openxmlformats.org/drawingml/2006/main">
            <a:r>
              <a:t>CONNECT</a:t>
            </a:r>
          </a:p>
          <a:p xmlns:a="http://schemas.openxmlformats.org/drawingml/2006/main">
            <a:r>
              <a:t>Build on the preceding slide: Error and practical constraints.</a:t>
            </a:r>
          </a:p>
          <a:p xmlns:a="http://schemas.openxmlformats.org/drawingml/2006/main">
            <a:r>
              <a:t/>
            </a:r>
          </a:p>
          <a:p xmlns:a="http://schemas.openxmlformats.org/drawingml/2006/main">
            <a:r>
              <a:t>LECTURER CUE</a:t>
            </a:r>
          </a:p>
          <a:p xmlns:a="http://schemas.openxmlformats.org/drawingml/2006/main">
            <a:r>
              <a:t>A tree asks successive questions. A forest combines many trees. More complexity does not guarantee better validation performance. The task’s tie-break rule remains authoritative.</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NEXT</a:t>
            </a:r>
          </a:p>
          <a:p xmlns:a="http://schemas.openxmlformats.org/drawingml/2006/main">
            <a:r>
              <a:t>Eligibility comes before ranking.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Eligibility comes before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Eligibility comes before ranking</a:t>
            </a:r>
          </a:p>
          <a:p xmlns:a="http://schemas.openxmlformats.org/drawingml/2006/main">
            <a:r>
              <a:t/>
            </a:r>
          </a:p>
          <a:p xmlns:a="http://schemas.openxmlformats.org/drawingml/2006/main">
            <a:r>
              <a:t>CONNECT</a:t>
            </a:r>
          </a:p>
          <a:p xmlns:a="http://schemas.openxmlformats.org/drawingml/2006/main">
            <a:r>
              <a:t>Build on A model comparison needs a fair test. Explain why this example is needed before running it.</a:t>
            </a:r>
          </a:p>
          <a:p xmlns:a="http://schemas.openxmlformats.org/drawingml/2006/main">
            <a:r>
              <a:t/>
            </a:r>
          </a:p>
          <a:p xmlns:a="http://schemas.openxmlformats.org/drawingml/2006/main">
            <a:r>
              <a:t>EXPLAIN</a:t>
            </a:r>
          </a:p>
          <a:p xmlns:a="http://schemas.openxmlformats.org/drawingml/2006/main">
            <a:r>
              <a:t>First check every stated requirement for each candidate.</a:t>
            </a:r>
          </a:p>
          <a:p xmlns:a="http://schemas.openxmlformats.org/drawingml/2006/main">
            <a:r>
              <a:t/>
            </a:r>
          </a:p>
          <a:p xmlns:a="http://schemas.openxmlformats.org/drawingml/2006/main">
            <a:r>
              <a:t>Reject a candidate that fails even one requirement.</a:t>
            </a:r>
          </a:p>
          <a:p xmlns:a="http://schemas.openxmlformats.org/drawingml/2006/main">
            <a:r>
              <a:t/>
            </a:r>
          </a:p>
          <a:p xmlns:a="http://schemas.openxmlformats.org/drawingml/2006/main">
            <a:r>
              <a:t>Rank the eligible candidates using the published tie-break rule.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Eligibility comes before ranking</a:t>
            </a:r>
          </a:p>
          <a:p xmlns:a="http://schemas.openxmlformats.org/drawingml/2006/main">
            <a:r>
              <a:t/>
            </a:r>
          </a:p>
          <a:p xmlns:a="http://schemas.openxmlformats.org/drawingml/2006/main">
            <a:r>
              <a:t>CONNECT</a:t>
            </a:r>
          </a:p>
          <a:p xmlns:a="http://schemas.openxmlformats.org/drawingml/2006/main">
            <a:r>
              <a:t>Build on the preceding slide: A model comparison needs a fair test.</a:t>
            </a:r>
          </a:p>
          <a:p xmlns:a="http://schemas.openxmlformats.org/drawingml/2006/main">
            <a:r>
              <a:t/>
            </a:r>
          </a:p>
          <a:p xmlns:a="http://schemas.openxmlformats.org/drawingml/2006/main">
            <a:r>
              <a:t>LECTURER CUE</a:t>
            </a:r>
          </a:p>
          <a:p xmlns:a="http://schemas.openxmlformats.org/drawingml/2006/main">
            <a:r>
              <a:t>Cross out ineligible candidates before ranking errors. Then apply the tie-break rule, rather than choosing the most sophisticated model.</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NEXT</a:t>
            </a:r>
          </a:p>
          <a:p xmlns:a="http://schemas.openxmlformats.org/drawingml/2006/main">
            <a:r>
              <a:t>A constrained model choice.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constrained model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constrained model choice</a:t>
            </a:r>
          </a:p>
          <a:p xmlns:a="http://schemas.openxmlformats.org/drawingml/2006/main">
            <a:r>
              <a:t/>
            </a:r>
          </a:p>
          <a:p xmlns:a="http://schemas.openxmlformats.org/drawingml/2006/main">
            <a:r>
              <a:t>CONNECT</a:t>
            </a:r>
          </a:p>
          <a:p xmlns:a="http://schemas.openxmlformats.org/drawingml/2006/main">
            <a:r>
              <a:t>Build on Eligibility comes before ranking. Explain why this example is needed before running it.</a:t>
            </a:r>
          </a:p>
          <a:p xmlns:a="http://schemas.openxmlformats.org/drawingml/2006/main">
            <a:r>
              <a:t/>
            </a:r>
          </a:p>
          <a:p xmlns:a="http://schemas.openxmlformats.org/drawingml/2006/main">
            <a:r>
              <a:t>EXPLAIN</a:t>
            </a:r>
          </a:p>
          <a:p xmlns:a="http://schemas.openxmlformats.org/drawingml/2006/main">
            <a:r>
              <a:t>Invented requirements: error at most 3 and time at most 10 ms.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constrained model choice</a:t>
            </a:r>
          </a:p>
          <a:p xmlns:a="http://schemas.openxmlformats.org/drawingml/2006/main">
            <a:r>
              <a:t/>
            </a:r>
          </a:p>
          <a:p xmlns:a="http://schemas.openxmlformats.org/drawingml/2006/main">
            <a:r>
              <a:t>CONNECT</a:t>
            </a:r>
          </a:p>
          <a:p xmlns:a="http://schemas.openxmlformats.org/drawingml/2006/main">
            <a:r>
              <a:t>Build on the preceding slide: Eligibility comes before ranking.</a:t>
            </a:r>
          </a:p>
          <a:p xmlns:a="http://schemas.openxmlformats.org/drawingml/2006/main">
            <a:r>
              <a:t/>
            </a:r>
          </a:p>
          <a:p xmlns:a="http://schemas.openxmlformats.org/drawingml/2006/main">
            <a:r>
              <a:t>LECTURER CUE</a:t>
            </a:r>
          </a:p>
          <a:p xmlns:a="http://schemas.openxmlformats.org/drawingml/2006/main">
            <a:r>
              <a:t>Invented requirements: error at most 3 and time at most 10 ms. Only simple is eligible. No result here is a measured engineering benchmark.</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READ THE VISUAL</a:t>
            </a:r>
          </a:p>
          <a:p xmlns:a="http://schemas.openxmlformats.org/drawingml/2006/main">
            <a:r>
              <a:t>Start with the title and labels. Read one row or mark aloud, including its unit. Let a learner read a second one before discussing the pattern. Do not infer a numerical value from an unlabelled drawing.</a:t>
            </a:r>
          </a:p>
          <a:p xmlns:a="http://schemas.openxmlformats.org/drawingml/2006/main">
            <a:r>
              <a:t/>
            </a:r>
          </a:p>
          <a:p xmlns:a="http://schemas.openxmlformats.org/drawingml/2006/main">
            <a:r>
              <a:t>NEXT</a:t>
            </a:r>
          </a:p>
          <a:p xmlns:a="http://schemas.openxmlformats.org/drawingml/2006/main">
            <a:r>
              <a:t>Worked example (1/2).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Candidate records and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Candidate records and eligibility</a:t>
            </a:r>
          </a:p>
          <a:p xmlns:a="http://schemas.openxmlformats.org/drawingml/2006/main">
            <a:r>
              <a:t/>
            </a:r>
          </a:p>
          <a:p xmlns:a="http://schemas.openxmlformats.org/drawingml/2006/main">
            <a:r>
              <a:t>CONNECT</a:t>
            </a:r>
          </a:p>
          <a:p xmlns:a="http://schemas.openxmlformats.org/drawingml/2006/main">
            <a:r>
              <a:t>Build on A constrained model choice. Explain why this example is needed before running it.</a:t>
            </a:r>
          </a:p>
          <a:p xmlns:a="http://schemas.openxmlformats.org/drawingml/2006/main">
            <a:r>
              <a:t/>
            </a:r>
          </a:p>
          <a:p xmlns:a="http://schemas.openxmlformats.org/drawingml/2006/main">
            <a:r>
              <a:t>EXPLAIN</a:t>
            </a:r>
          </a:p>
          <a:p xmlns:a="http://schemas.openxmlformats.org/drawingml/2006/main">
            <a:r>
              <a:t>A candidate is one model under consideration. Its dictionary records a name, a validation error and measured run time.</a:t>
            </a:r>
          </a:p>
          <a:p xmlns:a="http://schemas.openxmlformats.org/drawingml/2006/main">
            <a:r>
              <a:t/>
            </a:r>
          </a:p>
          <a:p xmlns:a="http://schemas.openxmlformats.org/drawingml/2006/main">
            <a:r>
              <a:t>An eligible candidate meets every published constraint. Build a list of eligible records first. If the list is empty, use the task’s specified no-candidate result.</a:t>
            </a:r>
          </a:p>
          <a:p xmlns:a="http://schemas.openxmlformats.org/drawingml/2006/main">
            <a:r>
              <a:t/>
            </a:r>
          </a:p>
          <a:p xmlns:a="http://schemas.openxmlformats.org/drawingml/2006/main">
            <a:r>
              <a:t>LECTURER DETAIL</a:t>
            </a:r>
          </a:p>
          <a:p xmlns:a="http://schemas.openxmlformats.org/drawingml/2006/main">
            <a:r>
              <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Worked example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Model selection in Python (1/2)</a:t>
            </a:r>
          </a:p>
          <a:p xmlns:a="http://schemas.openxmlformats.org/drawingml/2006/main">
            <a:r>
              <a:t/>
            </a:r>
          </a:p>
          <a:p xmlns:a="http://schemas.openxmlformats.org/drawingml/2006/main">
            <a:r>
              <a:t>CONNECT</a:t>
            </a:r>
          </a:p>
          <a:p xmlns:a="http://schemas.openxmlformats.org/drawingml/2006/main">
            <a:r>
              <a:t>Build on Candidate records and eligibility. Explain why this example is needed before running it.</a:t>
            </a:r>
          </a:p>
          <a:p xmlns:a="http://schemas.openxmlformats.org/drawingml/2006/main">
            <a:r>
              <a:t/>
            </a:r>
          </a:p>
          <a:p xmlns:a="http://schemas.openxmlformats.org/drawingml/2006/main">
            <a:r>
              <a:t>EXPLAIN</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Worked example (1/2)</a:t>
            </a:r>
          </a:p>
          <a:p xmlns:a="http://schemas.openxmlformats.org/drawingml/2006/main">
            <a:r>
              <a:t/>
            </a:r>
          </a:p>
          <a:p xmlns:a="http://schemas.openxmlformats.org/drawingml/2006/main">
            <a:r>
              <a:t>CONNECT</a:t>
            </a:r>
          </a:p>
          <a:p xmlns:a="http://schemas.openxmlformats.org/drawingml/2006/main">
            <a:r>
              <a:t>Build on the preceding slide: A constrained model choice.</a:t>
            </a:r>
          </a:p>
          <a:p xmlns:a="http://schemas.openxmlformats.org/drawingml/2006/main">
            <a:r>
              <a:t/>
            </a:r>
          </a:p>
          <a:p xmlns:a="http://schemas.openxmlformats.org/drawingml/2006/main">
            <a:r>
              <a:t>LECTURER CUE</a:t>
            </a:r>
          </a:p>
          <a:p xmlns:a="http://schemas.openxmlformats.org/drawingml/2006/main">
            <a:r>
              <a:t>Cross out ineligible candidates before ranking errors. Then apply the tie-break rule, rather than choosing the most sophisticated model. Demonstrate dictionary field access and ordered comparisons before asking learners to implement selection. A sorted list key can be a tuple: first metric, then speed, then name. Write a short recommendation: question, fair comparison, chosen candidate, reason, limitation and what new evidence could change the choice.</a:t>
            </a:r>
          </a:p>
          <a:p xmlns:a="http://schemas.openxmlformats.org/drawingml/2006/main">
            <a:r>
              <a:t/>
            </a:r>
          </a:p>
          <a:p xmlns:a="http://schemas.openxmlformats.org/drawingml/2006/main">
            <a:r>
              <a:t>Complete practice code:</a:t>
            </a:r>
          </a:p>
          <a:p xmlns:a="http://schemas.openxmlformats.org/drawingml/2006/main">
            <a:r>
              <a:t>candidates = [{"name": "simple", "error": 3, "ms": 2},</a:t>
            </a:r>
          </a:p>
          <a:p xmlns:a="http://schemas.openxmlformats.org/drawingml/2006/main">
            <a:r>
              <a:t>              {"name": "complex", "error": 1, "ms": 20}]</a:t>
            </a:r>
          </a:p>
          <a:p xmlns:a="http://schemas.openxmlformats.org/drawingml/2006/main">
            <a:r>
              <a:t>eligible = []</a:t>
            </a:r>
          </a:p>
          <a:p xmlns:a="http://schemas.openxmlformats.org/drawingml/2006/main">
            <a:r>
              <a:t>for item in candidates:</a:t>
            </a:r>
          </a:p>
          <a:p xmlns:a="http://schemas.openxmlformats.org/drawingml/2006/main">
            <a:r>
              <a:t>    if item["error"] &lt;= 3 and item["ms"] &lt;= 10:</a:t>
            </a:r>
          </a:p>
          <a:p xmlns:a="http://schemas.openxmlformats.org/drawingml/2006/main">
            <a:r>
              <a:t>        eligible.append(item)</a:t>
            </a:r>
          </a:p>
          <a:p xmlns:a="http://schemas.openxmlformats.org/drawingml/2006/main">
            <a:r>
              <a:t>print([item["name"] for item in eligible])</a:t>
            </a:r>
          </a:p>
          <a:p xmlns:a="http://schemas.openxmlformats.org/drawingml/2006/main">
            <a:r>
              <a:t/>
            </a:r>
          </a:p>
          <a:p xmlns:a="http://schemas.openxmlformats.org/drawingml/2006/main">
            <a:r>
              <a:t>WALK THROUGH THIS CODE</a:t>
            </a:r>
          </a:p>
          <a:p xmlns:a="http://schemas.openxmlformats.org/drawingml/2006/main">
            <a:r>
              <a:t>for takes the next item. The indented block repeats.</a:t>
            </a:r>
          </a:p>
          <a:p xmlns:a="http://schemas.openxmlformats.org/drawingml/2006/main">
            <a:r>
              <a:t>if tests a condition. The chosen indented block runs.</a:t>
            </a:r>
          </a:p>
          <a:p xmlns:a="http://schemas.openxmlformats.org/drawingml/2006/main">
            <a:r>
              <a:t>append adds one item to the end of a list.</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Worked example (2/2).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Worked example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Model selection in Python (2/2)</a:t>
            </a:r>
          </a:p>
          <a:p xmlns:a="http://schemas.openxmlformats.org/drawingml/2006/main">
            <a:r>
              <a:t/>
            </a:r>
          </a:p>
          <a:p xmlns:a="http://schemas.openxmlformats.org/drawingml/2006/main">
            <a:r>
              <a:t>CONNECT</a:t>
            </a:r>
          </a:p>
          <a:p xmlns:a="http://schemas.openxmlformats.org/drawingml/2006/main">
            <a:r>
              <a:t>Build on Model selection in Python (1/2). Explain why this example is needed before running it.</a:t>
            </a:r>
          </a:p>
          <a:p xmlns:a="http://schemas.openxmlformats.org/drawingml/2006/main">
            <a:r>
              <a:t/>
            </a:r>
          </a:p>
          <a:p xmlns:a="http://schemas.openxmlformats.org/drawingml/2006/main">
            <a:r>
              <a:t>EXPLAIN</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Worked example (2/2)</a:t>
            </a:r>
          </a:p>
          <a:p xmlns:a="http://schemas.openxmlformats.org/drawingml/2006/main">
            <a:r>
              <a:t/>
            </a:r>
          </a:p>
          <a:p xmlns:a="http://schemas.openxmlformats.org/drawingml/2006/main">
            <a:r>
              <a:t>CONNECT</a:t>
            </a:r>
          </a:p>
          <a:p xmlns:a="http://schemas.openxmlformats.org/drawingml/2006/main">
            <a:r>
              <a:t>Build on the preceding slide: Worked example (1/2).</a:t>
            </a:r>
          </a:p>
          <a:p xmlns:a="http://schemas.openxmlformats.org/drawingml/2006/main">
            <a:r>
              <a:t/>
            </a:r>
          </a:p>
          <a:p xmlns:a="http://schemas.openxmlformats.org/drawingml/2006/main">
            <a:r>
              <a:t>LECTURER CUE</a:t>
            </a:r>
          </a:p>
          <a:p xmlns:a="http://schemas.openxmlformats.org/drawingml/2006/main">
            <a:r>
              <a:t>Cross out ineligible candidates before ranking errors. Then apply the tie-break rule, rather than choosing the most sophisticated model. Demonstrate dictionary field access and ordered comparisons before asking learners to implement selection. A sorted list key can be a tuple: first metric, then speed, then name. Write a short recommendation: question, fair comparison, chosen candidate, reason, limitation and what new evidence could change the choice.</a:t>
            </a:r>
          </a:p>
          <a:p xmlns:a="http://schemas.openxmlformats.org/drawingml/2006/main">
            <a:r>
              <a:t/>
            </a:r>
          </a:p>
          <a:p xmlns:a="http://schemas.openxmlformats.org/drawingml/2006/main">
            <a:r>
              <a:t>Complete practice code:</a:t>
            </a:r>
          </a:p>
          <a:p xmlns:a="http://schemas.openxmlformats.org/drawingml/2006/main">
            <a:r>
              <a:t>candidates = [{"name": "simple", "error": 3, "ms": 2},</a:t>
            </a:r>
          </a:p>
          <a:p xmlns:a="http://schemas.openxmlformats.org/drawingml/2006/main">
            <a:r>
              <a:t>              {"name": "complex", "error": 1, "ms": 20}]</a:t>
            </a:r>
          </a:p>
          <a:p xmlns:a="http://schemas.openxmlformats.org/drawingml/2006/main">
            <a:r>
              <a:t>eligible = []</a:t>
            </a:r>
          </a:p>
          <a:p xmlns:a="http://schemas.openxmlformats.org/drawingml/2006/main">
            <a:r>
              <a:t>for item in candidates:</a:t>
            </a:r>
          </a:p>
          <a:p xmlns:a="http://schemas.openxmlformats.org/drawingml/2006/main">
            <a:r>
              <a:t>    if item["error"] &lt;= 3 and item["ms"] &lt;= 10:</a:t>
            </a:r>
          </a:p>
          <a:p xmlns:a="http://schemas.openxmlformats.org/drawingml/2006/main">
            <a:r>
              <a:t>        eligible.append(item)</a:t>
            </a:r>
          </a:p>
          <a:p xmlns:a="http://schemas.openxmlformats.org/drawingml/2006/main">
            <a:r>
              <a:t>print([item["name"] for item in eligible])</a:t>
            </a:r>
          </a:p>
          <a:p xmlns:a="http://schemas.openxmlformats.org/drawingml/2006/main">
            <a:r>
              <a:t/>
            </a:r>
          </a:p>
          <a:p xmlns:a="http://schemas.openxmlformats.org/drawingml/2006/main">
            <a:r>
              <a:t>EXPLAIN IN ORDINARY WORDS</a:t>
            </a:r>
          </a:p>
          <a:p xmlns:a="http://schemas.openxmlformats.org/drawingml/2006/main">
            <a:r>
              <a:t>A notebook contains code cells and explanatory text cells. The runtime remembers values from cells that actually ran, which may differ from their visual order.</a:t>
            </a:r>
          </a:p>
          <a:p xmlns:a="http://schemas.openxmlformats.org/drawingml/2006/main">
            <a:r>
              <a:t/>
            </a:r>
          </a:p>
          <a:p xmlns:a="http://schemas.openxmlformats.org/drawingml/2006/main">
            <a:r>
              <a:t>CHECK AND EXPECTED ANSWER</a:t>
            </a:r>
          </a:p>
          <a:p xmlns:a="http://schemas.openxmlformats.org/drawingml/2006/main">
            <a:r>
              <a:t>Does editing a cell update a value already stored in memory? No; the cell must run.</a:t>
            </a:r>
          </a:p>
          <a:p xmlns:a="http://schemas.openxmlformats.org/drawingml/2006/main">
            <a:r>
              <a:t/>
            </a:r>
          </a:p>
          <a:p xmlns:a="http://schemas.openxmlformats.org/drawingml/2006/main">
            <a:r>
              <a:t>IF LEARNERS ARE STUCK</a:t>
            </a:r>
          </a:p>
          <a:p xmlns:a="http://schemas.openxmlformats.org/drawingml/2006/main">
            <a:r>
              <a:t>Outside an assessment restriction, restart and run from the top after loading data. Fix the first error before later cells; save the successful notebook.</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Expected output.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Expected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Model selection results</a:t>
            </a:r>
          </a:p>
          <a:p xmlns:a="http://schemas.openxmlformats.org/drawingml/2006/main">
            <a:r>
              <a:t/>
            </a:r>
          </a:p>
          <a:p xmlns:a="http://schemas.openxmlformats.org/drawingml/2006/main">
            <a:r>
              <a:t>CONNECT</a:t>
            </a:r>
          </a:p>
          <a:p xmlns:a="http://schemas.openxmlformats.org/drawingml/2006/main">
            <a:r>
              <a:t>Build on Model selection in Python (2/2). Explain why this example is needed before running it.</a:t>
            </a:r>
          </a:p>
          <a:p xmlns:a="http://schemas.openxmlformats.org/drawingml/2006/main">
            <a:r>
              <a:t/>
            </a:r>
          </a:p>
          <a:p xmlns:a="http://schemas.openxmlformats.org/drawingml/2006/main">
            <a:r>
              <a:t>EXPLAIN</a:t>
            </a:r>
          </a:p>
          <a:p xmlns:a="http://schemas.openxmlformats.org/drawingml/2006/main">
            <a:r>
              <a:t>['simple']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Expected output</a:t>
            </a:r>
          </a:p>
          <a:p xmlns:a="http://schemas.openxmlformats.org/drawingml/2006/main">
            <a:r>
              <a:t/>
            </a:r>
          </a:p>
          <a:p xmlns:a="http://schemas.openxmlformats.org/drawingml/2006/main">
            <a:r>
              <a:t>CONNECT</a:t>
            </a:r>
          </a:p>
          <a:p xmlns:a="http://schemas.openxmlformats.org/drawingml/2006/main">
            <a:r>
              <a:t>Build on the preceding slide: Worked example (2/2).</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NEXT</a:t>
            </a:r>
          </a:p>
          <a:p xmlns:a="http://schemas.openxmlformats.org/drawingml/2006/main">
            <a:r>
              <a:t>A tuple supplies an ordered ranking key.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tuple supplies an ordered ranking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tuple supplies an ordered ranking key</a:t>
            </a:r>
          </a:p>
          <a:p xmlns:a="http://schemas.openxmlformats.org/drawingml/2006/main">
            <a:r>
              <a:t/>
            </a:r>
          </a:p>
          <a:p xmlns:a="http://schemas.openxmlformats.org/drawingml/2006/main">
            <a:r>
              <a:t>CONNECT</a:t>
            </a:r>
          </a:p>
          <a:p xmlns:a="http://schemas.openxmlformats.org/drawingml/2006/main">
            <a:r>
              <a:t>Build on Model selection results. Explain why this example is needed before running it.</a:t>
            </a:r>
          </a:p>
          <a:p xmlns:a="http://schemas.openxmlformats.org/drawingml/2006/main">
            <a:r>
              <a:t/>
            </a:r>
          </a:p>
          <a:p xmlns:a="http://schemas.openxmlformats.org/drawingml/2006/main">
            <a:r>
              <a:t>EXPLAIN</a:t>
            </a:r>
          </a:p>
          <a:p xmlns:a="http://schemas.openxmlformats.org/drawingml/2006/main">
            <a:r>
              <a:t>A tuple holds several values in order, such as (error, time, name).</a:t>
            </a:r>
          </a:p>
          <a:p xmlns:a="http://schemas.openxmlformats.org/drawingml/2006/main">
            <a:r>
              <a:t/>
            </a:r>
          </a:p>
          <a:p xmlns:a="http://schemas.openxmlformats.org/drawingml/2006/main">
            <a:r>
              <a:t>Python compares the first values. A tie moves the comparison to the second.</a:t>
            </a:r>
          </a:p>
          <a:p xmlns:a="http://schemas.openxmlformats.org/drawingml/2006/main">
            <a:r>
              <a:t/>
            </a:r>
          </a:p>
          <a:p xmlns:a="http://schemas.openxmlformats.org/drawingml/2006/main">
            <a:r>
              <a:t>If those also tie, the third value decides.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tuple supplies an ordered ranking key</a:t>
            </a:r>
          </a:p>
          <a:p xmlns:a="http://schemas.openxmlformats.org/drawingml/2006/main">
            <a:r>
              <a:t/>
            </a:r>
          </a:p>
          <a:p xmlns:a="http://schemas.openxmlformats.org/drawingml/2006/main">
            <a:r>
              <a:t>CONNECT</a:t>
            </a:r>
          </a:p>
          <a:p xmlns:a="http://schemas.openxmlformats.org/drawingml/2006/main">
            <a:r>
              <a:t>Build on the preceding slide: Expected output.</a:t>
            </a:r>
          </a:p>
          <a:p xmlns:a="http://schemas.openxmlformats.org/drawingml/2006/main">
            <a:r>
              <a:t/>
            </a:r>
          </a:p>
          <a:p xmlns:a="http://schemas.openxmlformats.org/drawingml/2006/main">
            <a:r>
              <a:t>LECTURER CUE</a:t>
            </a:r>
          </a:p>
          <a:p xmlns:a="http://schemas.openxmlformats.org/drawingml/2006/main">
            <a:r>
              <a:t>Demonstrate dictionary field access and ordered comparisons before asking learners to implement selection. A sorted list key can be a tuple: first metric, then speed, then name.</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NEXT</a:t>
            </a:r>
          </a:p>
          <a:p xmlns:a="http://schemas.openxmlformats.org/drawingml/2006/main">
            <a:r>
              <a:t>Sorting with a tie-break rule.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Sorting with a tie-break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Sorting with a tie-break rule</a:t>
            </a:r>
          </a:p>
          <a:p xmlns:a="http://schemas.openxmlformats.org/drawingml/2006/main">
            <a:r>
              <a:t/>
            </a:r>
          </a:p>
          <a:p xmlns:a="http://schemas.openxmlformats.org/drawingml/2006/main">
            <a:r>
              <a:t>CONNECT</a:t>
            </a:r>
          </a:p>
          <a:p xmlns:a="http://schemas.openxmlformats.org/drawingml/2006/main">
            <a:r>
              <a:t>Build on A tuple supplies an ordered ranking key. Explain why this example is needed before running it.</a:t>
            </a:r>
          </a:p>
          <a:p xmlns:a="http://schemas.openxmlformats.org/drawingml/2006/main">
            <a:r>
              <a:t/>
            </a:r>
          </a:p>
          <a:p xmlns:a="http://schemas.openxmlformats.org/drawingml/2006/main">
            <a:r>
              <a:t>EXPLAIN</a:t>
            </a:r>
          </a:p>
          <a:p xmlns:a="http://schemas.openxmlformats.org/drawingml/2006/main">
            <a:r>
              <a:t>A tuple is an ordered group of values.</a:t>
            </a:r>
          </a:p>
          <a:p xmlns:a="http://schemas.openxmlformats.org/drawingml/2006/main">
            <a:r>
              <a:t/>
            </a:r>
          </a:p>
          <a:p xmlns:a="http://schemas.openxmlformats.org/drawingml/2006/main">
            <a:r>
              <a:t>Python compares the first item, then the second when tied, then the third.</a:t>
            </a:r>
          </a:p>
          <a:p xmlns:a="http://schemas.openxmlformats.org/drawingml/2006/main">
            <a:r>
              <a:t/>
            </a:r>
          </a:p>
          <a:p xmlns:a="http://schemas.openxmlformats.org/drawingml/2006/main">
            <a:r>
              <a:t>The key function gives sorted the tuple for each candidate.</a:t>
            </a:r>
          </a:p>
          <a:p xmlns:a="http://schemas.openxmlformats.org/drawingml/2006/main">
            <a:r>
              <a:t/>
            </a:r>
          </a:p>
          <a:p xmlns:a="http://schemas.openxmlformats.org/drawingml/2006/main">
            <a:r>
              <a:t>Guard an empty list before selecting position zero.</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Sorting with a tie-break rule</a:t>
            </a:r>
          </a:p>
          <a:p xmlns:a="http://schemas.openxmlformats.org/drawingml/2006/main">
            <a:r>
              <a:t/>
            </a:r>
          </a:p>
          <a:p xmlns:a="http://schemas.openxmlformats.org/drawingml/2006/main">
            <a:r>
              <a:t>CONNECT</a:t>
            </a:r>
          </a:p>
          <a:p xmlns:a="http://schemas.openxmlformats.org/drawingml/2006/main">
            <a:r>
              <a:t>Build on the preceding slide: A tuple supplies an ordered ranking key.</a:t>
            </a:r>
          </a:p>
          <a:p xmlns:a="http://schemas.openxmlformats.org/drawingml/2006/main">
            <a:r>
              <a:t/>
            </a:r>
          </a:p>
          <a:p xmlns:a="http://schemas.openxmlformats.org/drawingml/2006/main">
            <a:r>
              <a:t>LECTURER CUE</a:t>
            </a:r>
          </a:p>
          <a:p xmlns:a="http://schemas.openxmlformats.org/drawingml/2006/main">
            <a:r>
              <a:t>A tuple is an ordered group of values. Python compares the first item, then the second when tied, then the third. The key function gives sorted the tuple for each candidate. Guard an empty list before selecting position zero.</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NEXT</a:t>
            </a:r>
          </a:p>
          <a:p xmlns:a="http://schemas.openxmlformats.org/drawingml/2006/main">
            <a:r>
              <a:t>Sorting with a named function.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Sorting with a named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Sorting with a named function</a:t>
            </a:r>
          </a:p>
          <a:p xmlns:a="http://schemas.openxmlformats.org/drawingml/2006/main">
            <a:r>
              <a:t/>
            </a:r>
          </a:p>
          <a:p xmlns:a="http://schemas.openxmlformats.org/drawingml/2006/main">
            <a:r>
              <a:t>CONNECT</a:t>
            </a:r>
          </a:p>
          <a:p xmlns:a="http://schemas.openxmlformats.org/drawingml/2006/main">
            <a:r>
              <a:t>Build on Sorting with a tie-break rule. Explain why this example is needed before running it.</a:t>
            </a:r>
          </a:p>
          <a:p xmlns:a="http://schemas.openxmlformats.org/drawingml/2006/main">
            <a:r>
              <a:t/>
            </a:r>
          </a:p>
          <a:p xmlns:a="http://schemas.openxmlformats.org/drawingml/2006/main">
            <a:r>
              <a:t>EXPLAIN</a:t>
            </a:r>
          </a:p>
          <a:p xmlns:a="http://schemas.openxmlformats.org/drawingml/2006/main">
            <a:r>
              <a:t>Check for an empty list before accessing position zero.</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Sorting with a named function</a:t>
            </a:r>
          </a:p>
          <a:p xmlns:a="http://schemas.openxmlformats.org/drawingml/2006/main">
            <a:r>
              <a:t/>
            </a:r>
          </a:p>
          <a:p xmlns:a="http://schemas.openxmlformats.org/drawingml/2006/main">
            <a:r>
              <a:t>CONNECT</a:t>
            </a:r>
          </a:p>
          <a:p xmlns:a="http://schemas.openxmlformats.org/drawingml/2006/main">
            <a:r>
              <a:t>Build on the preceding slide: Sorting with a tie-break rule.</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EXPLAIN IN ORDINARY WORDS</a:t>
            </a:r>
          </a:p>
          <a:p xmlns:a="http://schemas.openxmlformats.org/drawingml/2006/main">
            <a:r>
              <a:t>A function is a named set of instructions. def defines it; a call runs it with inputs. Parameters are input names, arguments are supplied values, and return sends the result back.</a:t>
            </a:r>
          </a:p>
          <a:p xmlns:a="http://schemas.openxmlformats.org/drawingml/2006/main">
            <a:r>
              <a:t/>
            </a:r>
          </a:p>
          <a:p xmlns:a="http://schemas.openxmlformats.org/drawingml/2006/main">
            <a:r>
              <a:t>CHECK AND EXPECTED ANSWER</a:t>
            </a:r>
          </a:p>
          <a:p xmlns:a="http://schemas.openxmlformats.org/drawingml/2006/main">
            <a:r>
              <a:t>Does print(8) return the number 8 to the caller? No; it displays 8 and returns None. A function needing a numeric result should return it.</a:t>
            </a:r>
          </a:p>
          <a:p xmlns:a="http://schemas.openxmlformats.org/drawingml/2006/main">
            <a:r>
              <a:t/>
            </a:r>
          </a:p>
          <a:p xmlns:a="http://schemas.openxmlformats.org/drawingml/2006/main">
            <a:r>
              <a:t>IF LEARNERS ARE STUCK</a:t>
            </a:r>
          </a:p>
          <a:p xmlns:a="http://schemas.openxmlformats.org/drawingml/2006/main">
            <a:r>
              <a:t>Trace one call: bind input names, run the indented body, reach return, then put the returned result back into the calling expression.</a:t>
            </a:r>
          </a:p>
          <a:p xmlns:a="http://schemas.openxmlformats.org/drawingml/2006/main">
            <a:r>
              <a:t/>
            </a:r>
          </a:p>
          <a:p xmlns:a="http://schemas.openxmlformats.org/drawingml/2006/main">
            <a:r>
              <a:t>READ THE VISUAL</a:t>
            </a:r>
          </a:p>
          <a:p xmlns:a="http://schemas.openxmlformats.org/drawingml/2006/main">
            <a:r>
              <a:t>Start with the title and labels. Read one row or mark aloud, including its unit. Let a learner read a second one before discussing the pattern. Do not infer a numerical value from an unlabelled drawing.</a:t>
            </a:r>
          </a:p>
          <a:p xmlns:a="http://schemas.openxmlformats.org/drawingml/2006/main">
            <a:r>
              <a:t/>
            </a:r>
          </a:p>
          <a:p xmlns:a="http://schemas.openxmlformats.org/drawingml/2006/main">
            <a:r>
              <a:t>NEXT</a:t>
            </a:r>
          </a:p>
          <a:p xmlns:a="http://schemas.openxmlformats.org/drawingml/2006/main">
            <a:r>
              <a:t>Sorting with a tie-break rule in Python.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Sorting with a tie-break rule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Sorting with a tie-break rule in Python</a:t>
            </a:r>
          </a:p>
          <a:p xmlns:a="http://schemas.openxmlformats.org/drawingml/2006/main">
            <a:r>
              <a:t/>
            </a:r>
          </a:p>
          <a:p xmlns:a="http://schemas.openxmlformats.org/drawingml/2006/main">
            <a:r>
              <a:t>CONNECT</a:t>
            </a:r>
          </a:p>
          <a:p xmlns:a="http://schemas.openxmlformats.org/drawingml/2006/main">
            <a:r>
              <a:t>Build on Sorting with a named function. Explain why this example is needed before running it.</a:t>
            </a:r>
          </a:p>
          <a:p xmlns:a="http://schemas.openxmlformats.org/drawingml/2006/main">
            <a:r>
              <a:t/>
            </a:r>
          </a:p>
          <a:p xmlns:a="http://schemas.openxmlformats.org/drawingml/2006/main">
            <a:r>
              <a:t>EXPLAIN</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Sorting with a tie-break rule in Python</a:t>
            </a:r>
          </a:p>
          <a:p xmlns:a="http://schemas.openxmlformats.org/drawingml/2006/main">
            <a:r>
              <a:t/>
            </a:r>
          </a:p>
          <a:p xmlns:a="http://schemas.openxmlformats.org/drawingml/2006/main">
            <a:r>
              <a:t>CONNECT</a:t>
            </a:r>
          </a:p>
          <a:p xmlns:a="http://schemas.openxmlformats.org/drawingml/2006/main">
            <a:r>
              <a:t>Build on the preceding slide: Sorting with a named function.</a:t>
            </a:r>
          </a:p>
          <a:p xmlns:a="http://schemas.openxmlformats.org/drawingml/2006/main">
            <a:r>
              <a:t/>
            </a:r>
          </a:p>
          <a:p xmlns:a="http://schemas.openxmlformats.org/drawingml/2006/main">
            <a:r>
              <a:t>LECTURER CUE</a:t>
            </a:r>
          </a:p>
          <a:p xmlns:a="http://schemas.openxmlformats.org/drawingml/2006/main">
            <a:r>
              <a:t>A tuple is an ordered group of values. Python compares the first item, then the second when tied, then the third. The key function gives sorted the tuple for each candidate. Guard an empty list before selecting position zero.</a:t>
            </a:r>
          </a:p>
          <a:p xmlns:a="http://schemas.openxmlformats.org/drawingml/2006/main">
            <a:r>
              <a:t/>
            </a:r>
          </a:p>
          <a:p xmlns:a="http://schemas.openxmlformats.org/drawingml/2006/main">
            <a:r>
              <a:t>Complete practice code:</a:t>
            </a:r>
          </a:p>
          <a:p xmlns:a="http://schemas.openxmlformats.org/drawingml/2006/main">
            <a:r>
              <a:t>def rank(item):</a:t>
            </a:r>
          </a:p>
          <a:p xmlns:a="http://schemas.openxmlformats.org/drawingml/2006/main">
            <a:r>
              <a:t>    return (item["error"], item["ms"], item["name"])</a:t>
            </a:r>
          </a:p>
          <a:p xmlns:a="http://schemas.openxmlformats.org/drawingml/2006/main">
            <a:r>
              <a:t/>
            </a:r>
          </a:p>
          <a:p xmlns:a="http://schemas.openxmlformats.org/drawingml/2006/main">
            <a:r>
              <a:t>ordered = sorted(eligible, key=rank)</a:t>
            </a:r>
          </a:p>
          <a:p xmlns:a="http://schemas.openxmlformats.org/drawingml/2006/main">
            <a:r>
              <a:t>if len(ordered) == 0:</a:t>
            </a:r>
          </a:p>
          <a:p xmlns:a="http://schemas.openxmlformats.org/drawingml/2006/main">
            <a:r>
              <a:t>    winner = None</a:t>
            </a:r>
          </a:p>
          <a:p xmlns:a="http://schemas.openxmlformats.org/drawingml/2006/main">
            <a:r>
              <a:t>else:</a:t>
            </a:r>
          </a:p>
          <a:p xmlns:a="http://schemas.openxmlformats.org/drawingml/2006/main">
            <a:r>
              <a:t>    winner = ordered[0]["name"]</a:t>
            </a:r>
          </a:p>
          <a:p xmlns:a="http://schemas.openxmlformats.org/drawingml/2006/main">
            <a:r>
              <a:t>print(winner)</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WALK THROUGH THIS CODE</a:t>
            </a:r>
          </a:p>
          <a:p xmlns:a="http://schemas.openxmlformats.org/drawingml/2006/main">
            <a:r>
              <a:t>def names the function. Inputs go inside parentheses.</a:t>
            </a:r>
          </a:p>
          <a:p xmlns:a="http://schemas.openxmlformats.org/drawingml/2006/main">
            <a:r>
              <a:t>if tests a condition. The chosen indented block runs.</a:t>
            </a:r>
          </a:p>
          <a:p xmlns:a="http://schemas.openxmlformats.org/drawingml/2006/main">
            <a:r>
              <a:t>return sends the result back to the caller.</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Words we will use.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Local explanation and Conditions of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Local explanation and Conditions of use</a:t>
            </a:r>
          </a:p>
          <a:p xmlns:a="http://schemas.openxmlformats.org/drawingml/2006/main">
            <a:r>
              <a:t/>
            </a:r>
          </a:p>
          <a:p xmlns:a="http://schemas.openxmlformats.org/drawingml/2006/main">
            <a:r>
              <a:t>CONNECT</a:t>
            </a:r>
          </a:p>
          <a:p xmlns:a="http://schemas.openxmlformats.org/drawingml/2006/main">
            <a:r>
              <a:t>Build on Sorting with a tie-break rule in Python. Explain why this example is needed before running it.</a:t>
            </a:r>
          </a:p>
          <a:p xmlns:a="http://schemas.openxmlformats.org/drawingml/2006/main">
            <a:r>
              <a:t/>
            </a:r>
          </a:p>
          <a:p xmlns:a="http://schemas.openxmlformats.org/drawingml/2006/main">
            <a:r>
              <a:t>EXPLAIN</a:t>
            </a:r>
          </a:p>
          <a:p xmlns:a="http://schemas.openxmlformats.org/drawingml/2006/main">
            <a:r>
              <a:t>Local explanation: Why a model made one particular prediction. This is different from global importance, which summarises behaviour over many cases.</a:t>
            </a:r>
          </a:p>
          <a:p xmlns:a="http://schemas.openxmlformats.org/drawingml/2006/main">
            <a:r>
              <a:t>Conditions of use: The cases and operating circumstances for which the available evidence supports considering the model.</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Words we will use</a:t>
            </a:r>
          </a:p>
          <a:p xmlns:a="http://schemas.openxmlformats.org/drawingml/2006/main">
            <a:r>
              <a:t/>
            </a:r>
          </a:p>
          <a:p xmlns:a="http://schemas.openxmlformats.org/drawingml/2006/main">
            <a:r>
              <a:t>CONNECT</a:t>
            </a:r>
          </a:p>
          <a:p xmlns:a="http://schemas.openxmlformats.org/drawingml/2006/main">
            <a:r>
              <a:t>Build on the preceding slide: Sorting with a tie-break rule in Python.</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POINT TO THE DEFINITION</a:t>
            </a:r>
          </a:p>
          <a:p xmlns:a="http://schemas.openxmlformats.org/drawingml/2006/main">
            <a:r>
              <a:t>Local explanation: Why a model made one particular prediction. This is different from global importance, which summarises behaviour over many cases.</a:t>
            </a:r>
          </a:p>
          <a:p xmlns:a="http://schemas.openxmlformats.org/drawingml/2006/main">
            <a:r>
              <a:t>Conditions of use: The cases and operating circumstances for which the available evidence supports considering the model.</a:t>
            </a:r>
          </a:p>
          <a:p xmlns:a="http://schemas.openxmlformats.org/drawingml/2006/main">
            <a:r>
              <a:t/>
            </a:r>
          </a:p>
          <a:p xmlns:a="http://schemas.openxmlformats.org/drawingml/2006/main">
            <a:r>
              <a:t>NEXT</a:t>
            </a:r>
          </a:p>
          <a:p xmlns:a="http://schemas.openxmlformats.org/drawingml/2006/main">
            <a:r>
              <a:t>A recommendation needs evidence.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recommendation needs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recommendation needs evidence</a:t>
            </a:r>
          </a:p>
          <a:p xmlns:a="http://schemas.openxmlformats.org/drawingml/2006/main">
            <a:r>
              <a:t/>
            </a:r>
          </a:p>
          <a:p xmlns:a="http://schemas.openxmlformats.org/drawingml/2006/main">
            <a:r>
              <a:t>CONNECT</a:t>
            </a:r>
          </a:p>
          <a:p xmlns:a="http://schemas.openxmlformats.org/drawingml/2006/main">
            <a:r>
              <a:t>Build on Local explanation and Conditions of use. Explain why this example is needed before running it.</a:t>
            </a:r>
          </a:p>
          <a:p xmlns:a="http://schemas.openxmlformats.org/drawingml/2006/main">
            <a:r>
              <a:t/>
            </a:r>
          </a:p>
          <a:p xmlns:a="http://schemas.openxmlformats.org/drawingml/2006/main">
            <a:r>
              <a:t>EXPLAIN</a:t>
            </a:r>
          </a:p>
          <a:p xmlns:a="http://schemas.openxmlformats.org/drawingml/2006/main">
            <a:r>
              <a:t>State the question and the chosen candidate.</a:t>
            </a:r>
          </a:p>
          <a:p xmlns:a="http://schemas.openxmlformats.org/drawingml/2006/main">
            <a:r>
              <a:t/>
            </a:r>
          </a:p>
          <a:p xmlns:a="http://schemas.openxmlformats.org/drawingml/2006/main">
            <a:r>
              <a:t>Give the evaluation result and the constraint it satisfies.</a:t>
            </a:r>
          </a:p>
          <a:p xmlns:a="http://schemas.openxmlformats.org/drawingml/2006/main">
            <a:r>
              <a:t/>
            </a:r>
          </a:p>
          <a:p xmlns:a="http://schemas.openxmlformats.org/drawingml/2006/main">
            <a:r>
              <a:t>State a limitation and the evidence that could change the recommendation.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recommendation needs evidence</a:t>
            </a:r>
          </a:p>
          <a:p xmlns:a="http://schemas.openxmlformats.org/drawingml/2006/main">
            <a:r>
              <a:t/>
            </a:r>
          </a:p>
          <a:p xmlns:a="http://schemas.openxmlformats.org/drawingml/2006/main">
            <a:r>
              <a:t>CONNECT</a:t>
            </a:r>
          </a:p>
          <a:p xmlns:a="http://schemas.openxmlformats.org/drawingml/2006/main">
            <a:r>
              <a:t>Build on the preceding slide: Words we will use.</a:t>
            </a:r>
          </a:p>
          <a:p xmlns:a="http://schemas.openxmlformats.org/drawingml/2006/main">
            <a:r>
              <a:t/>
            </a:r>
          </a:p>
          <a:p xmlns:a="http://schemas.openxmlformats.org/drawingml/2006/main">
            <a:r>
              <a:t>LECTURER CUE</a:t>
            </a:r>
          </a:p>
          <a:p xmlns:a="http://schemas.openxmlformats.org/drawingml/2006/main">
            <a:r>
              <a:t>Write a short recommendation: question, fair comparison, chosen candidate, reason, limitation and what new evidence could change the choice.</a:t>
            </a:r>
          </a:p>
          <a:p xmlns:a="http://schemas.openxmlformats.org/drawingml/2006/main">
            <a:r>
              <a:t/>
            </a:r>
          </a:p>
          <a:p xmlns:a="http://schemas.openxmlformats.org/drawingml/2006/main">
            <a:r>
              <a:t>EXPLAIN IN ORDINARY WORDS</a:t>
            </a:r>
          </a:p>
          <a:p xmlns:a="http://schemas.openxmlformats.org/drawingml/2006/main">
            <a:r>
              <a:t>First remove models that fail the stated error or speed limits. Then apply the stated ranking and tie-break rules to eligible models. The smallest error alone need not decide.</a:t>
            </a:r>
          </a:p>
          <a:p xmlns:a="http://schemas.openxmlformats.org/drawingml/2006/main">
            <a:r>
              <a:t/>
            </a:r>
          </a:p>
          <a:p xmlns:a="http://schemas.openxmlformats.org/drawingml/2006/main">
            <a:r>
              <a:t>CHECK AND EXPECTED ANSWER</a:t>
            </a:r>
          </a:p>
          <a:p xmlns:a="http://schemas.openxmlformats.org/drawingml/2006/main">
            <a:r>
              <a:t>If a model has the lowest error but exceeds the maximum latency, is it eligible? No.</a:t>
            </a:r>
          </a:p>
          <a:p xmlns:a="http://schemas.openxmlformats.org/drawingml/2006/main">
            <a:r>
              <a:t/>
            </a:r>
          </a:p>
          <a:p xmlns:a="http://schemas.openxmlformats.org/drawingml/2006/main">
            <a:r>
              <a:t>IF LEARNERS ARE STUCK</a:t>
            </a:r>
          </a:p>
          <a:p xmlns:a="http://schemas.openxmlformats.org/drawingml/2006/main">
            <a:r>
              <a:t>Write an eligibility column and a separate ranking column. Check the exact boundary rule before sorting.</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You are the model selector.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Revision example and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Build on A recommendation needs evidence. Explain why this example is needed before running it.</a:t>
            </a:r>
          </a:p>
          <a:p xmlns:a="http://schemas.openxmlformats.org/drawingml/2006/main">
            <a:r>
              <a:t/>
            </a:r>
          </a:p>
          <a:p xmlns:a="http://schemas.openxmlformats.org/drawingml/2006/main">
            <a:r>
              <a:t>EXPLAIN</a:t>
            </a:r>
          </a:p>
          <a:p xmlns:a="http://schemas.openxmlformats.org/drawingml/2006/main">
            <a:r>
              <a:t>Example: A third model has error 3 and latency 1 ms. Under lowest error then lowest latency, which eligible model wins?</a:t>
            </a:r>
          </a:p>
          <a:p xmlns:a="http://schemas.openxmlformats.org/drawingml/2006/main">
            <a:r>
              <a:t/>
            </a:r>
          </a:p>
          <a:p xmlns:a="http://schemas.openxmlformats.org/drawingml/2006/main">
            <a:r>
              <a:t>Answer: The third model. Both eligible models have error 3, but 1 ms is faster than 2 ms.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Your turn</a:t>
            </a:r>
          </a:p>
          <a:p xmlns:a="http://schemas.openxmlformats.org/drawingml/2006/main">
            <a:r>
              <a:t/>
            </a:r>
          </a:p>
          <a:p xmlns:a="http://schemas.openxmlformats.org/drawingml/2006/main">
            <a:r>
              <a:t>CONNECT</a:t>
            </a:r>
          </a:p>
          <a:p xmlns:a="http://schemas.openxmlformats.org/drawingml/2006/main">
            <a:r>
              <a:t>Build on the preceding slide: What the activity shows.</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The third model. Both eligible models have error 3, but 1 ms is faster than 2 ms.</a:t>
            </a:r>
          </a:p>
          <a:p xmlns:a="http://schemas.openxmlformats.org/drawingml/2006/main">
            <a:r>
              <a:t/>
            </a:r>
          </a:p>
          <a:p xmlns:a="http://schemas.openxmlformats.org/drawingml/2006/main">
            <a:r>
              <a:t>DISCUSSION KEY FOR THIS SLIDE</a:t>
            </a:r>
          </a:p>
          <a:p xmlns:a="http://schemas.openxmlformats.org/drawingml/2006/main">
            <a:r>
              <a:t>DISCUSS THE REASONING</a:t>
            </a:r>
          </a:p>
          <a:p xmlns:a="http://schemas.openxmlformats.org/drawingml/2006/main">
            <a:r>
              <a:t>Practice discussion</a:t>
            </a:r>
          </a:p>
          <a:p xmlns:a="http://schemas.openxmlformats.org/drawingml/2006/main">
            <a:r>
              <a:t>The third model. Both eligible models have error 3, but 1 ms is faster than 2 ms.</a:t>
            </a:r>
          </a:p>
          <a:p xmlns:a="http://schemas.openxmlformats.org/drawingml/2006/main">
            <a:r>
              <a:t>Which step produced this result? What changes if one input changes?</a:t>
            </a:r>
          </a:p>
          <a:p xmlns:a="http://schemas.openxmlformats.org/drawingml/2006/main">
            <a:r>
              <a:t>CML3111   Week 12   23</a:t>
            </a:r>
          </a:p>
          <a:p xmlns:a="http://schemas.openxmlformats.org/drawingml/2006/main">
            <a:r>
              <a:t>Let learners attempt first; use this to explain the reasoning, not just reveal the answer.</a:t>
            </a:r>
          </a:p>
          <a:p xmlns:a="http://schemas.openxmlformats.org/drawingml/2006/main">
            <a:r>
              <a:t/>
            </a:r>
          </a:p>
          <a:p xmlns:a="http://schemas.openxmlformats.org/drawingml/2006/main">
            <a:r>
              <a:t>NEXT</a:t>
            </a:r>
          </a:p>
          <a:p xmlns:a="http://schemas.openxmlformats.org/drawingml/2006/main">
            <a:r>
              <a:t>Practice discussion.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Build on Revision example and answer. Explain why this example is needed before running it.</a:t>
            </a:r>
          </a:p>
          <a:p xmlns:a="http://schemas.openxmlformats.org/drawingml/2006/main">
            <a:r>
              <a:t/>
            </a:r>
          </a:p>
          <a:p xmlns:a="http://schemas.openxmlformats.org/drawingml/2006/main">
            <a:r>
              <a:t>EXPLAIN</a:t>
            </a:r>
          </a:p>
          <a:p xmlns:a="http://schemas.openxmlformats.org/drawingml/2006/main">
            <a:r>
              <a:t>W12 uses fields name, validation_mae and latency_ms.</a:t>
            </a:r>
          </a:p>
          <a:p xmlns:a="http://schemas.openxmlformats.org/drawingml/2006/main">
            <a:r>
              <a:t/>
            </a:r>
          </a:p>
          <a:p xmlns:a="http://schemas.openxmlformats.org/drawingml/2006/main">
            <a:r>
              <a:t>Meet both inclusive constraints, then rank by error, latency and alphabetical name.</a:t>
            </a:r>
          </a:p>
          <a:p xmlns:a="http://schemas.openxmlformats.org/drawingml/2006/main">
            <a:r>
              <a:t/>
            </a:r>
          </a:p>
          <a:p xmlns:a="http://schemas.openxmlformats.org/drawingml/2006/main">
            <a:r>
              <a:t>Return None if no candidate qualifies.</a:t>
            </a:r>
          </a:p>
          <a:p xmlns:a="http://schemas.openxmlformats.org/drawingml/2006/main">
            <a:r>
              <a:t/>
            </a:r>
          </a:p>
          <a:p xmlns:a="http://schemas.openxmlformats.org/drawingml/2006/main">
            <a:r>
              <a:t>Complete the error function and interpret the separately supplied scenario.</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Build on the preceding slide: After the video.</a:t>
            </a:r>
          </a:p>
          <a:p xmlns:a="http://schemas.openxmlformats.org/drawingml/2006/main">
            <a:r>
              <a:t/>
            </a:r>
          </a:p>
          <a:p xmlns:a="http://schemas.openxmlformats.org/drawingml/2006/main">
            <a:r>
              <a:t>LECTURER CUE</a:t>
            </a:r>
          </a:p>
          <a:p xmlns:a="http://schemas.openxmlformats.org/drawingml/2006/main">
            <a:r>
              <a:t>W12 uses fields name, validation_mae and latency_ms. Meet both inclusive constraints, then rank by error, latency and alphabetical name. Return None if no candidate qualifies. Complete the error function and interpret the separately supplied scenario. Keep project comparisons and graded interfaces distinct.</a:t>
            </a:r>
          </a:p>
          <a:p xmlns:a="http://schemas.openxmlformats.org/drawingml/2006/main">
            <a:r>
              <a:t/>
            </a:r>
          </a:p>
          <a:p xmlns:a="http://schemas.openxmlformats.org/drawingml/2006/main">
            <a:r>
              <a:t>EXPLAIN IN ORDINARY WORDS</a:t>
            </a:r>
          </a:p>
          <a:p xmlns:a="http://schemas.openxmlformats.org/drawingml/2006/main">
            <a:r>
              <a:t>An error compares prediction with measured truth. Absolute error ignores direction. MAE averages absolute errors; RMSE squares, averages, then takes a square root. Both use the target unit.</a:t>
            </a:r>
          </a:p>
          <a:p xmlns:a="http://schemas.openxmlformats.org/drawingml/2006/main">
            <a:r>
              <a:t/>
            </a:r>
          </a:p>
          <a:p xmlns:a="http://schemas.openxmlformats.org/drawingml/2006/main">
            <a:r>
              <a:t>CHECK AND EXPECTED ANSWER</a:t>
            </a:r>
          </a:p>
          <a:p xmlns:a="http://schemas.openxmlformats.org/drawingml/2006/main">
            <a:r>
              <a:t>Actual [4,8], predicted [5,6]: prediction-minus-actual errors [1,-2], MAE=1.5, RMSE=sqrt(2.5), about 1.58.</a:t>
            </a:r>
          </a:p>
          <a:p xmlns:a="http://schemas.openxmlformats.org/drawingml/2006/main">
            <a:r>
              <a:t/>
            </a:r>
          </a:p>
          <a:p xmlns:a="http://schemas.openxmlformats.org/drawingml/2006/main">
            <a:r>
              <a:t>IF LEARNERS ARE STUCK</a:t>
            </a:r>
          </a:p>
          <a:p xmlns:a="http://schemas.openxmlformats.org/drawingml/2006/main">
            <a:r>
              <a:t>Calculate one pair by hand first. For signed percentage error follow the precise sign convention in the issued task.</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Preparing for the assignment continued.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Preparing for the assignment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Build on Preparing for the assignment. Explain why this example is needed before running it.</a:t>
            </a:r>
          </a:p>
          <a:p xmlns:a="http://schemas.openxmlformats.org/drawingml/2006/main">
            <a:r>
              <a:t/>
            </a:r>
          </a:p>
          <a:p xmlns:a="http://schemas.openxmlformats.org/drawingml/2006/main">
            <a:r>
              <a:t>EXPLAIN</a:t>
            </a:r>
          </a:p>
          <a:p xmlns:a="http://schemas.openxmlformats.org/drawingml/2006/main">
            <a:r>
              <a:t>Keep project comparisons and graded interfaces distinct.</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Build on the preceding slide: Preparing for the assignment.</a:t>
            </a:r>
          </a:p>
          <a:p xmlns:a="http://schemas.openxmlformats.org/drawingml/2006/main">
            <a:r>
              <a:t/>
            </a:r>
          </a:p>
          <a:p xmlns:a="http://schemas.openxmlformats.org/drawingml/2006/main">
            <a:r>
              <a:t>LECTURER CUE</a:t>
            </a:r>
          </a:p>
          <a:p xmlns:a="http://schemas.openxmlformats.org/drawingml/2006/main">
            <a:r>
              <a:t>W12 uses fields name, validation_mae and latency_ms. Meet both inclusive constraints, then rank by error, latency and alphabetical name. Return None if no candidate qualifies. Complete the error function and interpret the separately supplied scenario. Keep project comparisons and graded interfaces distinct.</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Fair comparison and explanation.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Fair comparison and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Fair comparison and explanation</a:t>
            </a:r>
          </a:p>
          <a:p xmlns:a="http://schemas.openxmlformats.org/drawingml/2006/main">
            <a:r>
              <a:t/>
            </a:r>
          </a:p>
          <a:p xmlns:a="http://schemas.openxmlformats.org/drawingml/2006/main">
            <a:r>
              <a:t>CONNECT</a:t>
            </a:r>
          </a:p>
          <a:p xmlns:a="http://schemas.openxmlformats.org/drawingml/2006/main">
            <a:r>
              <a:t>Build on Preparing for the assignment continued. Explain why this example is needed before running it.</a:t>
            </a:r>
          </a:p>
          <a:p xmlns:a="http://schemas.openxmlformats.org/drawingml/2006/main">
            <a:r>
              <a:t/>
            </a:r>
          </a:p>
          <a:p xmlns:a="http://schemas.openxmlformats.org/drawingml/2006/main">
            <a:r>
              <a:t>EXPLAIN</a:t>
            </a:r>
          </a:p>
          <a:p xmlns:a="http://schemas.openxmlformats.org/drawingml/2006/main">
            <a:r>
              <a:t>Compare the same metric on the same validation cases with the same preprocessing rules.</a:t>
            </a:r>
          </a:p>
          <a:p xmlns:a="http://schemas.openxmlformats.org/drawingml/2006/main">
            <a:r>
              <a:t/>
            </a:r>
          </a:p>
          <a:p xmlns:a="http://schemas.openxmlformats.org/drawingml/2006/main">
            <a:r>
              <a:t>A small difference needs context, including variation across splits.</a:t>
            </a:r>
          </a:p>
          <a:p xmlns:a="http://schemas.openxmlformats.org/drawingml/2006/main">
            <a:r>
              <a:t/>
            </a:r>
          </a:p>
          <a:p xmlns:a="http://schemas.openxmlformats.org/drawingml/2006/main">
            <a:r>
              <a:t>Code run out of order can overwrite the variable holding a model; restart and run from the top.</a:t>
            </a:r>
          </a:p>
          <a:p xmlns:a="http://schemas.openxmlformats.org/drawingml/2006/main">
            <a:r>
              <a:t/>
            </a:r>
          </a:p>
          <a:p xmlns:a="http://schemas.openxmlformats.org/drawingml/2006/main">
            <a:r>
              <a:t>A local explanation addresses one prediction; global importance summarises many.</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Fair comparison and explanation</a:t>
            </a:r>
          </a:p>
          <a:p xmlns:a="http://schemas.openxmlformats.org/drawingml/2006/main">
            <a:r>
              <a:t/>
            </a:r>
          </a:p>
          <a:p xmlns:a="http://schemas.openxmlformats.org/drawingml/2006/main">
            <a:r>
              <a:t>CONNECT</a:t>
            </a:r>
          </a:p>
          <a:p xmlns:a="http://schemas.openxmlformats.org/drawingml/2006/main">
            <a:r>
              <a:t>Build on the preceding slide: Preparing for the assignment continued.</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NEXT</a:t>
            </a:r>
          </a:p>
          <a:p xmlns:a="http://schemas.openxmlformats.org/drawingml/2006/main">
            <a:r>
              <a:t>Fair comparison and explanation continued.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Fair comparison and explanation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Fair comparison and explanation continued</a:t>
            </a:r>
          </a:p>
          <a:p xmlns:a="http://schemas.openxmlformats.org/drawingml/2006/main">
            <a:r>
              <a:t/>
            </a:r>
          </a:p>
          <a:p xmlns:a="http://schemas.openxmlformats.org/drawingml/2006/main">
            <a:r>
              <a:t>CONNECT</a:t>
            </a:r>
          </a:p>
          <a:p xmlns:a="http://schemas.openxmlformats.org/drawingml/2006/main">
            <a:r>
              <a:t>Build on Fair comparison and explanation. Explain why this example is needed before running it.</a:t>
            </a:r>
          </a:p>
          <a:p xmlns:a="http://schemas.openxmlformats.org/drawingml/2006/main">
            <a:r>
              <a:t/>
            </a:r>
          </a:p>
          <a:p xmlns:a="http://schemas.openxmlformats.org/drawingml/2006/main">
            <a:r>
              <a:t>EXPLAIN</a:t>
            </a:r>
          </a:p>
          <a:p xmlns:a="http://schemas.openxmlformats.org/drawingml/2006/main">
            <a:r>
              <a:t>A post-hoc explanation of a complex model is not its directly readable internal rule.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Fair comparison and explanation continued</a:t>
            </a:r>
          </a:p>
          <a:p xmlns:a="http://schemas.openxmlformats.org/drawingml/2006/main">
            <a:r>
              <a:t/>
            </a:r>
          </a:p>
          <a:p xmlns:a="http://schemas.openxmlformats.org/drawingml/2006/main">
            <a:r>
              <a:t>CONNECT</a:t>
            </a:r>
          </a:p>
          <a:p xmlns:a="http://schemas.openxmlformats.org/drawingml/2006/main">
            <a:r>
              <a:t>Build on the preceding slide: Fair comparison and explanation.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NEXT</a:t>
            </a:r>
          </a:p>
          <a:p xmlns:a="http://schemas.openxmlformats.org/drawingml/2006/main">
            <a:r>
              <a:t>Your issued task.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Your issued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Build on Fair comparison and explanation continued. Explain why this example is needed before running it.</a:t>
            </a:r>
          </a:p>
          <a:p xmlns:a="http://schemas.openxmlformats.org/drawingml/2006/main">
            <a:r>
              <a:t/>
            </a:r>
          </a:p>
          <a:p xmlns:a="http://schemas.openxmlformats.org/drawingml/2006/main">
            <a:r>
              <a:t>EXPLAIN</a:t>
            </a:r>
          </a:p>
          <a:p xmlns:a="http://schemas.openxmlformats.org/drawingml/2006/main">
            <a:r>
              <a:t>Investigate motor winding temperature.</a:t>
            </a:r>
          </a:p>
          <a:p xmlns:a="http://schemas.openxmlformats.org/drawingml/2006/main">
            <a:r>
              <a:t/>
            </a:r>
          </a:p>
          <a:p xmlns:a="http://schemas.openxmlformats.org/drawingml/2006/main">
            <a:r>
              <a:t>Target units: deg C.</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Build on the preceding slide: Fair comparison and explanation continued.</a:t>
            </a:r>
          </a:p>
          <a:p xmlns:a="http://schemas.openxmlformats.org/drawingml/2006/main">
            <a:r>
              <a:t/>
            </a:r>
          </a:p>
          <a:p xmlns:a="http://schemas.openxmlformats.org/drawingml/2006/main">
            <a:r>
              <a:t>LECTURER CUE</a:t>
            </a:r>
          </a:p>
          <a:p xmlns:a="http://schemas.openxmlformats.org/drawingml/2006/main">
            <a:r>
              <a:t>Investigate motor winding temperature. Target units: deg C. These are synthetic teaching records, not measurements suitable for deployment. Each record is one operating observation; equipment_id repeats across observations.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select_model(candidates, max_mae, max_ms).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select_model(candidates, max_mae, max_ms).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select_model(candidates, max_mae, max_ms)</a:t>
            </a:r>
          </a:p>
          <a:p xmlns:a="http://schemas.openxmlformats.org/drawingml/2006/main">
            <a:r>
              <a:t/>
            </a:r>
          </a:p>
          <a:p xmlns:a="http://schemas.openxmlformats.org/drawingml/2006/main">
            <a:r>
              <a:t>CONNECT</a:t>
            </a:r>
          </a:p>
          <a:p xmlns:a="http://schemas.openxmlformats.org/drawingml/2006/main">
            <a:r>
              <a:t>Build on Your issued task. Explain why this example is needed before running it.</a:t>
            </a:r>
          </a:p>
          <a:p xmlns:a="http://schemas.openxmlformats.org/drawingml/2006/main">
            <a:r>
              <a:t/>
            </a:r>
          </a:p>
          <a:p xmlns:a="http://schemas.openxmlformats.org/drawingml/2006/main">
            <a:r>
              <a:t>EXPLAIN</a:t>
            </a:r>
          </a:p>
          <a:p xmlns:a="http://schemas.openxmlformats.org/drawingml/2006/main">
            <a:r>
              <a:t>Candidates have name, validation_mae and latency_ms.</a:t>
            </a:r>
          </a:p>
          <a:p xmlns:a="http://schemas.openxmlformats.org/drawingml/2006/main">
            <a:r>
              <a:t/>
            </a:r>
          </a:p>
          <a:p xmlns:a="http://schemas.openxmlformats.org/drawingml/2006/main">
            <a:r>
              <a:t>Keep those meeting both inclusive constraints; select smallest validation_mae, then latency_ms, then name alphabetically.</a:t>
            </a:r>
          </a:p>
          <a:p xmlns:a="http://schemas.openxmlformats.org/drawingml/2006/main">
            <a:r>
              <a:t/>
            </a:r>
          </a:p>
          <a:p xmlns:a="http://schemas.openxmlformats.org/drawingml/2006/main">
            <a:r>
              <a:t>Return the selected name or None.</a:t>
            </a:r>
          </a:p>
          <a:p xmlns:a="http://schemas.openxmlformats.org/drawingml/2006/main">
            <a:r>
              <a:t/>
            </a:r>
          </a:p>
          <a:p xmlns:a="http://schemas.openxmlformats.org/drawingml/2006/main">
            <a:r>
              <a:t>Never use test scores for selection.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select_model(candidates, max_mae, max_ms)</a:t>
            </a:r>
          </a:p>
          <a:p xmlns:a="http://schemas.openxmlformats.org/drawingml/2006/main">
            <a:r>
              <a:t/>
            </a:r>
          </a:p>
          <a:p xmlns:a="http://schemas.openxmlformats.org/drawingml/2006/main">
            <a:r>
              <a:t>CONNECT</a:t>
            </a:r>
          </a:p>
          <a:p xmlns:a="http://schemas.openxmlformats.org/drawingml/2006/main">
            <a:r>
              <a:t>Build on the preceding slide: Your issued task.</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IUEA_Teaching_Plan/assessment_banks/W12/CML3111/A/TASKS.md</a:t>
            </a:r>
          </a:p>
          <a:p xmlns:a="http://schemas.openxmlformats.org/drawingml/2006/main">
            <a:r>
              <a:t/>
            </a:r>
          </a:p>
          <a:p xmlns:a="http://schemas.openxmlformats.org/drawingml/2006/main">
            <a:r>
              <a:t>EXPLAIN IN ORDINARY WORDS</a:t>
            </a:r>
          </a:p>
          <a:p xmlns:a="http://schemas.openxmlformats.org/drawingml/2006/main">
            <a:r>
              <a:t>An error compares prediction with measured truth. Absolute error ignores direction. MAE averages absolute errors; RMSE squares, averages, then takes a square root. Both use the target unit.</a:t>
            </a:r>
          </a:p>
          <a:p xmlns:a="http://schemas.openxmlformats.org/drawingml/2006/main">
            <a:r>
              <a:t/>
            </a:r>
          </a:p>
          <a:p xmlns:a="http://schemas.openxmlformats.org/drawingml/2006/main">
            <a:r>
              <a:t>CHECK AND EXPECTED ANSWER</a:t>
            </a:r>
          </a:p>
          <a:p xmlns:a="http://schemas.openxmlformats.org/drawingml/2006/main">
            <a:r>
              <a:t>Actual [4,8], predicted [5,6]: prediction-minus-actual errors [1,-2], MAE=1.5, RMSE=sqrt(2.5), about 1.58.</a:t>
            </a:r>
          </a:p>
          <a:p xmlns:a="http://schemas.openxmlformats.org/drawingml/2006/main">
            <a:r>
              <a:t/>
            </a:r>
          </a:p>
          <a:p xmlns:a="http://schemas.openxmlformats.org/drawingml/2006/main">
            <a:r>
              <a:t>IF LEARNERS ARE STUCK</a:t>
            </a:r>
          </a:p>
          <a:p xmlns:a="http://schemas.openxmlformats.org/drawingml/2006/main">
            <a:r>
              <a:t>Calculate one pair by hand first. For signed percentage error follow the precise sign convention in the issued task.</a:t>
            </a:r>
          </a:p>
          <a:p xmlns:a="http://schemas.openxmlformats.org/drawingml/2006/main">
            <a:r>
              <a:t/>
            </a:r>
          </a:p>
          <a:p xmlns:a="http://schemas.openxmlformats.org/drawingml/2006/main">
            <a:r>
              <a:t>NEXT</a:t>
            </a:r>
          </a:p>
          <a:p xmlns:a="http://schemas.openxmlformats.org/drawingml/2006/main">
            <a:r>
              <a:t>regression_errors(actual, predicted).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regression_errors(actual, predicted).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regression_errors(actual, predicted)</a:t>
            </a:r>
          </a:p>
          <a:p xmlns:a="http://schemas.openxmlformats.org/drawingml/2006/main">
            <a:r>
              <a:t/>
            </a:r>
          </a:p>
          <a:p xmlns:a="http://schemas.openxmlformats.org/drawingml/2006/main">
            <a:r>
              <a:t>CONNECT</a:t>
            </a:r>
          </a:p>
          <a:p xmlns:a="http://schemas.openxmlformats.org/drawingml/2006/main">
            <a:r>
              <a:t>Build on select_model(candidates, max_mae, max_ms). Explain why this example is needed before running it.</a:t>
            </a:r>
          </a:p>
          <a:p xmlns:a="http://schemas.openxmlformats.org/drawingml/2006/main">
            <a:r>
              <a:t/>
            </a:r>
          </a:p>
          <a:p xmlns:a="http://schemas.openxmlformats.org/drawingml/2006/main">
            <a:r>
              <a:t>EXPLAIN</a:t>
            </a:r>
          </a:p>
          <a:p xmlns:a="http://schemas.openxmlformats.org/drawingml/2006/main">
            <a:r>
              <a:t>Return mae and rmse, calculated over the same paired observations, with full precision.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regression_errors(actual, predicted)</a:t>
            </a:r>
          </a:p>
          <a:p xmlns:a="http://schemas.openxmlformats.org/drawingml/2006/main">
            <a:r>
              <a:t/>
            </a:r>
          </a:p>
          <a:p xmlns:a="http://schemas.openxmlformats.org/drawingml/2006/main">
            <a:r>
              <a:t>CONNECT</a:t>
            </a:r>
          </a:p>
          <a:p xmlns:a="http://schemas.openxmlformats.org/drawingml/2006/main">
            <a:r>
              <a:t>Build on the preceding slide: select_model(candidates, max_mae, max_ms).</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IUEA_Teaching_Plan/assessment_banks/W12/CML3111/A/TASKS.md</a:t>
            </a:r>
          </a:p>
          <a:p xmlns:a="http://schemas.openxmlformats.org/drawingml/2006/main">
            <a:r>
              <a:t/>
            </a:r>
          </a:p>
          <a:p xmlns:a="http://schemas.openxmlformats.org/drawingml/2006/main">
            <a:r>
              <a:t>EXPLAIN IN ORDINARY WORDS</a:t>
            </a:r>
          </a:p>
          <a:p xmlns:a="http://schemas.openxmlformats.org/drawingml/2006/main">
            <a:r>
              <a:t>An error compares prediction with measured truth. Absolute error ignores direction. MAE averages absolute errors; RMSE squares, averages, then takes a square root. Both use the target unit.</a:t>
            </a:r>
          </a:p>
          <a:p xmlns:a="http://schemas.openxmlformats.org/drawingml/2006/main">
            <a:r>
              <a:t/>
            </a:r>
          </a:p>
          <a:p xmlns:a="http://schemas.openxmlformats.org/drawingml/2006/main">
            <a:r>
              <a:t>CHECK AND EXPECTED ANSWER</a:t>
            </a:r>
          </a:p>
          <a:p xmlns:a="http://schemas.openxmlformats.org/drawingml/2006/main">
            <a:r>
              <a:t>Actual [4,8], predicted [5,6]: prediction-minus-actual errors [1,-2], MAE=1.5, RMSE=sqrt(2.5), about 1.58.</a:t>
            </a:r>
          </a:p>
          <a:p xmlns:a="http://schemas.openxmlformats.org/drawingml/2006/main">
            <a:r>
              <a:t/>
            </a:r>
          </a:p>
          <a:p xmlns:a="http://schemas.openxmlformats.org/drawingml/2006/main">
            <a:r>
              <a:t>IF LEARNERS ARE STUCK</a:t>
            </a:r>
          </a:p>
          <a:p xmlns:a="http://schemas.openxmlformats.org/drawingml/2006/main">
            <a:r>
              <a:t>Calculate one pair by hand first. For signed percentage error follow the precise sign convention in the issued task.</a:t>
            </a:r>
          </a:p>
          <a:p xmlns:a="http://schemas.openxmlformats.org/drawingml/2006/main">
            <a:r>
              <a:t/>
            </a:r>
          </a:p>
          <a:p xmlns:a="http://schemas.openxmlformats.org/drawingml/2006/main">
            <a:r>
              <a:t>NEXT</a:t>
            </a:r>
          </a:p>
          <a:p xmlns:a="http://schemas.openxmlformats.org/drawingml/2006/main">
            <a:r>
              <a:t>Written evidence.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Build on regression_errors(actual, predicted). Explain why this example is needed before running it.</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Build on the preceding slide: regression_errors(actual, predicted).</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Model recommendation submission.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Model recommendation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Model recommendation submission</a:t>
            </a:r>
          </a:p>
          <a:p xmlns:a="http://schemas.openxmlformats.org/drawingml/2006/main">
            <a:r>
              <a:t/>
            </a:r>
          </a:p>
          <a:p xmlns:a="http://schemas.openxmlformats.org/drawingml/2006/main">
            <a:r>
              <a:t>CONNECT</a:t>
            </a:r>
          </a:p>
          <a:p xmlns:a="http://schemas.openxmlformats.org/drawingml/2006/main">
            <a:r>
              <a:t>Build on Written evidence. Explain why this example is needed before running it.</a:t>
            </a:r>
          </a:p>
          <a:p xmlns:a="http://schemas.openxmlformats.org/drawingml/2006/main">
            <a:r>
              <a:t/>
            </a:r>
          </a:p>
          <a:p xmlns:a="http://schemas.openxmlformats.org/drawingml/2006/main">
            <a:r>
              <a:t>EXPLAIN</a:t>
            </a:r>
          </a:p>
          <a:p xmlns:a="http://schemas.openxmlformats.org/drawingml/2006/main">
            <a:r>
              <a:t>Opens: 27 Nov 2026, 11:00 Kampala</a:t>
            </a:r>
          </a:p>
          <a:p xmlns:a="http://schemas.openxmlformats.org/drawingml/2006/main">
            <a:r>
              <a:t/>
            </a:r>
          </a:p>
          <a:p xmlns:a="http://schemas.openxmlformats.org/drawingml/2006/main">
            <a:r>
              <a:t>Deadline: 27 Nov 2026, 14:00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Model recommendation submission</a:t>
            </a:r>
          </a:p>
          <a:p xmlns:a="http://schemas.openxmlformats.org/drawingml/2006/main">
            <a:r>
              <a:t/>
            </a:r>
          </a:p>
          <a:p xmlns:a="http://schemas.openxmlformats.org/drawingml/2006/main">
            <a:r>
              <a:t>CONNECT</a:t>
            </a:r>
          </a:p>
          <a:p xmlns:a="http://schemas.openxmlformats.org/drawingml/2006/main">
            <a:r>
              <a:t>Build on the preceding slide: Written evidence.</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Project preparation.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Project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Build on Model recommendation submission. Explain why this example is needed before running it.</a:t>
            </a:r>
          </a:p>
          <a:p xmlns:a="http://schemas.openxmlformats.org/drawingml/2006/main">
            <a:r>
              <a:t/>
            </a:r>
          </a:p>
          <a:p xmlns:a="http://schemas.openxmlformats.org/drawingml/2006/main">
            <a:r>
              <a:t>EXPLAIN</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18 Dec 2026, 11:00 Kampala</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Build on the preceding slide: Model recommendation submission.</a:t>
            </a:r>
          </a:p>
          <a:p xmlns:a="http://schemas.openxmlformats.org/drawingml/2006/main">
            <a:r>
              <a:t/>
            </a:r>
          </a:p>
          <a:p xmlns:a="http://schemas.openxmlformats.org/drawingml/2006/main">
            <a:r>
              <a:t>LECTURER CUE</a:t>
            </a:r>
          </a:p>
          <a:p xmlns:a="http://schemas.openxmlformats.org/drawingml/2006/main">
            <a:r>
              <a:t>Explain the released brief now. Confirm its grading-release checks before assigning it. Avoid treating weekly practice as a substitute for the project evidence. The project brief remains authoritative.</a:t>
            </a:r>
          </a:p>
          <a:p xmlns:a="http://schemas.openxmlformats.org/drawingml/2006/main">
            <a:r>
              <a:t/>
            </a:r>
          </a:p>
          <a:p xmlns:a="http://schemas.openxmlformats.org/drawingml/2006/main">
            <a:r>
              <a:t>EXPLAIN IN ORDINARY WORDS</a:t>
            </a:r>
          </a:p>
          <a:p xmlns:a="http://schemas.openxmlformats.org/drawingml/2006/main">
            <a:r>
              <a:t>A notebook contains code cells and explanatory text cells. The runtime remembers values from cells that actually ran, which may differ from their visual order.</a:t>
            </a:r>
          </a:p>
          <a:p xmlns:a="http://schemas.openxmlformats.org/drawingml/2006/main">
            <a:r>
              <a:t/>
            </a:r>
          </a:p>
          <a:p xmlns:a="http://schemas.openxmlformats.org/drawingml/2006/main">
            <a:r>
              <a:t>CHECK AND EXPECTED ANSWER</a:t>
            </a:r>
          </a:p>
          <a:p xmlns:a="http://schemas.openxmlformats.org/drawingml/2006/main">
            <a:r>
              <a:t>Does editing a cell update a value already stored in memory? No; the cell must run.</a:t>
            </a:r>
          </a:p>
          <a:p xmlns:a="http://schemas.openxmlformats.org/drawingml/2006/main">
            <a:r>
              <a:t/>
            </a:r>
          </a:p>
          <a:p xmlns:a="http://schemas.openxmlformats.org/drawingml/2006/main">
            <a:r>
              <a:t>IF LEARNERS ARE STUCK</a:t>
            </a:r>
          </a:p>
          <a:p xmlns:a="http://schemas.openxmlformats.org/drawingml/2006/main">
            <a:r>
              <a:t>Outside an assessment restriction, restart and run from the top after loading data. Fix the first error before later cells; save the successful notebook.</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Week 12 quiz.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Week 12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12 quiz</a:t>
            </a:r>
          </a:p>
          <a:p xmlns:a="http://schemas.openxmlformats.org/drawingml/2006/main">
            <a:r>
              <a:t/>
            </a:r>
          </a:p>
          <a:p xmlns:a="http://schemas.openxmlformats.org/drawingml/2006/main">
            <a:r>
              <a:t>CONNECT</a:t>
            </a:r>
          </a:p>
          <a:p xmlns:a="http://schemas.openxmlformats.org/drawingml/2006/main">
            <a:r>
              <a:t>Build on Project preparation. Explain why this example is needed before running it.</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Week 12 quiz</a:t>
            </a:r>
          </a:p>
          <a:p xmlns:a="http://schemas.openxmlformats.org/drawingml/2006/main">
            <a:r>
              <a:t/>
            </a:r>
          </a:p>
          <a:p xmlns:a="http://schemas.openxmlformats.org/drawingml/2006/main">
            <a:r>
              <a:t>CONNECT</a:t>
            </a:r>
          </a:p>
          <a:p xmlns:a="http://schemas.openxmlformats.org/drawingml/2006/main">
            <a:r>
              <a:t>Build on the preceding slide: Project preparation.</a:t>
            </a:r>
          </a:p>
          <a:p xmlns:a="http://schemas.openxmlformats.org/drawingml/2006/main">
            <a:r>
              <a:t/>
            </a:r>
          </a:p>
          <a:p xmlns:a="http://schemas.openxmlformats.org/drawingml/2006/main">
            <a:r>
              <a:t>LECTURER CUE</a:t>
            </a:r>
          </a:p>
          <a:p xmlns:a="http://schemas.openxmlformats.org/drawingml/2006/main">
            <a:r>
              <a:t>Activate the matching open_W12_CML3111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QUIZ OPERATION</a:t>
            </a:r>
          </a:p>
          <a:p xmlns:a="http://schemas.openxmlformats.org/drawingml/2006/main">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xmlns:a="http://schemas.openxmlformats.org/drawingml/2006/main">
            <a:r>
              <a:t/>
            </a:r>
          </a:p>
          <a:p xmlns:a="http://schemas.openxmlformats.org/drawingml/2006/main">
            <a:r>
              <a:t>NEXT</a:t>
            </a:r>
          </a:p>
          <a:p xmlns:a="http://schemas.openxmlformats.org/drawingml/2006/main">
            <a:r>
              <a:t>Before you leave.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Build on Week 12 quiz. Explain why this example is needed before running it.</a:t>
            </a:r>
          </a:p>
          <a:p xmlns:a="http://schemas.openxmlformats.org/drawingml/2006/main">
            <a:r>
              <a:t/>
            </a:r>
          </a:p>
          <a:p xmlns:a="http://schemas.openxmlformats.org/drawingml/2006/main">
            <a:r>
              <a:t>EXPLAIN</a:t>
            </a:r>
          </a:p>
          <a:p xmlns:a="http://schemas.openxmlformats.org/drawingml/2006/main">
            <a:r>
              <a:t>You can justify a valid candidate with evidence and a stated limitation.</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Before you leave</a:t>
            </a:r>
          </a:p>
          <a:p xmlns:a="http://schemas.openxmlformats.org/drawingml/2006/main">
            <a:r>
              <a:t/>
            </a:r>
          </a:p>
          <a:p xmlns:a="http://schemas.openxmlformats.org/drawingml/2006/main">
            <a:r>
              <a:t>CONNECT</a:t>
            </a:r>
          </a:p>
          <a:p xmlns:a="http://schemas.openxmlformats.org/drawingml/2006/main">
            <a:r>
              <a:t>Build on the preceding slide: Week 12 quiz.</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Optional revision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Optional revision video</a:t>
            </a:r>
          </a:p>
          <a:p xmlns:a="http://schemas.openxmlformats.org/drawingml/2006/main">
            <a:r>
              <a:t/>
            </a:r>
          </a:p>
          <a:p xmlns:a="http://schemas.openxmlformats.org/drawingml/2006/main">
            <a:r>
              <a:t>CONNECT</a:t>
            </a:r>
          </a:p>
          <a:p xmlns:a="http://schemas.openxmlformats.org/drawingml/2006/main">
            <a:r>
              <a:t>Build on Revision and submission checklist. Explain why this example is needed before running it.</a:t>
            </a:r>
          </a:p>
          <a:p xmlns:a="http://schemas.openxmlformats.org/drawingml/2006/main">
            <a:r>
              <a:t/>
            </a:r>
          </a:p>
          <a:p xmlns:a="http://schemas.openxmlformats.org/drawingml/2006/main">
            <a:r>
              <a:t>EXPLAIN</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Cross Validation</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Why evaluate using observations not used to fit that particular model?</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Short explainer and discussion</a:t>
            </a:r>
          </a:p>
          <a:p xmlns:a="http://schemas.openxmlformats.org/drawingml/2006/main">
            <a:r>
              <a:t/>
            </a:r>
          </a:p>
          <a:p xmlns:a="http://schemas.openxmlformats.org/drawingml/2006/main">
            <a:r>
              <a:t>CONNECT</a:t>
            </a:r>
          </a:p>
          <a:p xmlns:a="http://schemas.openxmlformats.org/drawingml/2006/main">
            <a:r>
              <a:t>Build on the preceding slide: Practice discussion.</a:t>
            </a:r>
          </a:p>
          <a:p xmlns:a="http://schemas.openxmlformats.org/drawingml/2006/main">
            <a:r>
              <a:t/>
            </a:r>
          </a:p>
          <a:p xmlns:a="http://schemas.openxmlformats.org/drawingml/2006/main">
            <a:r>
              <a:t>LECTURER CUE</a:t>
            </a:r>
          </a:p>
          <a:p xmlns:a="http://schemas.openxmlformats.org/drawingml/2006/main">
            <a:r>
              <a:t>Linked by the official StatQuest video index. Full audiovisual preview and excerpt timing still required.</a:t>
            </a:r>
          </a:p>
          <a:p xmlns:a="http://schemas.openxmlformats.org/drawingml/2006/main">
            <a:r>
              <a:t>After viewing: Explain why our repeated equipment IDs require grouped partitions rather than ordinary random folds.</a:t>
            </a:r>
          </a:p>
          <a:p xmlns:a="http://schemas.openxmlformats.org/drawingml/2006/main">
            <a:r>
              <a:t>Preview before class and stop after the selected short excerpt. If playback fails, teach the worked example. Video is optional. Source: https://www.youtube.com/watch?v=fSytzGwwBVw</a:t>
            </a:r>
          </a:p>
          <a:p xmlns:a="http://schemas.openxmlformats.org/drawingml/2006/main">
            <a:r>
              <a:t/>
            </a:r>
          </a:p>
          <a:p xmlns:a="http://schemas.openxmlformats.org/drawingml/2006/main">
            <a:r>
              <a:t>EXPLAIN IN ORDINARY WORDS</a:t>
            </a:r>
          </a:p>
          <a:p xmlns:a="http://schemas.openxmlformats.org/drawingml/2006/main">
            <a:r>
              <a:t>Cross-validation repeats training and validation on different partitions. Each fold gets a newly fitted model and preprocessing. Variation across fold scores shows sensitivity to the partition.</a:t>
            </a:r>
          </a:p>
          <a:p xmlns:a="http://schemas.openxmlformats.org/drawingml/2006/main">
            <a:r>
              <a:t/>
            </a:r>
          </a:p>
          <a:p xmlns:a="http://schemas.openxmlformats.org/drawingml/2006/main">
            <a:r>
              <a:t>CHECK AND EXPECTED ANSWER</a:t>
            </a:r>
          </a:p>
          <a:p xmlns:a="http://schemas.openxmlformats.org/drawingml/2006/main">
            <a:r>
              <a:t>May preprocessing learn from all rows before the folds? No, that would give each validation fold information from outside its training portion.</a:t>
            </a:r>
          </a:p>
          <a:p xmlns:a="http://schemas.openxmlformats.org/drawingml/2006/main">
            <a:r>
              <a:t/>
            </a:r>
          </a:p>
          <a:p xmlns:a="http://schemas.openxmlformats.org/drawingml/2006/main">
            <a:r>
              <a:t>IF LEARNERS ARE STUCK</a:t>
            </a:r>
          </a:p>
          <a:p xmlns:a="http://schemas.openxmlformats.org/drawingml/2006/main">
            <a:r>
              <a:t>Draw three small partitions and label who learns and who is evaluated. Fold spread is not automatically a confidence interval.</a:t>
            </a:r>
          </a:p>
          <a:p xmlns:a="http://schemas.openxmlformats.org/drawingml/2006/main">
            <a:r>
              <a:t/>
            </a:r>
          </a:p>
          <a:p xmlns:a="http://schemas.openxmlformats.org/drawingml/2006/main">
            <a:r>
              <a:t>VIDEO ROUTINE</a:t>
            </a:r>
          </a:p>
          <a:p xmlns:a="http://schemas.openxmlformats.org/drawingml/2006/main">
            <a:r>
              <a:t>Preview the exact link and stated excerpt before class. State the viewing question first, pause after the example, and ask a learner to explain it. If access fails, use the adjacent worked example and discussion rather than spend class time troubleshooting streaming.</a:t>
            </a:r>
          </a:p>
          <a:p xmlns:a="http://schemas.openxmlformats.org/drawingml/2006/main">
            <a:r>
              <a:t/>
            </a:r>
          </a:p>
          <a:p xmlns:a="http://schemas.openxmlformats.org/drawingml/2006/main">
            <a:r>
              <a:t>NEXT</a:t>
            </a:r>
          </a:p>
          <a:p xmlns:a="http://schemas.openxmlformats.org/drawingml/2006/main">
            <a:r>
              <a:t>After the video.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independent revision and the issued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4b1e0a33f44d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9b034cb3b44f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fbfaac63a4f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9157c0eb1d41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7f68bb6bc747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1c8f0ecb4c46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0A8AF85-3C2C-4082-A561-F9BA07CF3066}"/>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9260106-70B5-4142-BA05-7A92B44E6D94}"/>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7BA7566-D6F5-4CEE-AB97-389F8A35FA5B}"/>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AC1725A-8BD2-4E6D-B429-0BF10B468CDD}"/>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F85767F-AF4A-49EC-A224-0EBE4DA679C6}"/>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362C5DA-1C78-4903-B7C8-060523EA4E3C}"/>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2EEA15C-2480-4365-BF8F-7C6AC8CD37B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9DFAA9D3-DC04-4512-B58B-C6032C4BD590}"/>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6A8A05B-7B72-4A36-9293-D29C86EA6903}"/>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840D57B-62E7-4391-AF0D-BBE9F8155D6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BA00CD8-E8F3-4ADA-940F-BCED9427BE4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3D86143B-E51F-46A9-96F9-5C53F8EBAB1F}"/>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2E12FD2-C7E2-4894-9CC2-F88BF20DF984}"/>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2D49EC-7759-4018-B664-18DC2A1A24D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2619369-DC08-4C0B-9CBB-358ABC3A04E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2944b601b409a" /><Relationship Type="http://schemas.openxmlformats.org/officeDocument/2006/relationships/slideLayout" Target="/ppt/slideLayouts/slideLayout1.xml" Id="R65c160592aa948ec" /><Relationship Type="http://schemas.openxmlformats.org/officeDocument/2006/relationships/slideLayout" Target="/ppt/slideLayouts/slideLayout2.xml" Id="R65f44c67911e483d" /><Relationship Type="http://schemas.openxmlformats.org/officeDocument/2006/relationships/slideLayout" Target="/ppt/slideLayouts/slideLayout3.xml" Id="R75ceb4fb04984ff5" /><Relationship Type="http://schemas.openxmlformats.org/officeDocument/2006/relationships/slideLayout" Target="/ppt/slideLayouts/slideLayout4.xml" Id="R4e78766494df4ca9" /><Relationship Type="http://schemas.openxmlformats.org/officeDocument/2006/relationships/slideLayout" Target="/ppt/slideLayouts/slideLayout5.xml" Id="Rc9542788b0ef4992" /><Relationship Type="http://schemas.openxmlformats.org/officeDocument/2006/relationships/slideLayout" Target="/ppt/slideLayouts/slideLayout6.xml" Id="R9e87ffefffdc43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c160592aa948ec"/>
    <p:sldLayoutId xmlns:r="http://schemas.openxmlformats.org/officeDocument/2006/relationships" id="2147483650" r:id="R65f44c67911e483d"/>
    <p:sldLayoutId xmlns:r="http://schemas.openxmlformats.org/officeDocument/2006/relationships" id="2147483651" r:id="R75ceb4fb04984ff5"/>
    <p:sldLayoutId xmlns:r="http://schemas.openxmlformats.org/officeDocument/2006/relationships" id="2147483652" r:id="R4e78766494df4ca9"/>
    <p:sldLayoutId xmlns:r="http://schemas.openxmlformats.org/officeDocument/2006/relationships" id="2147483653" r:id="Rc9542788b0ef4992"/>
    <p:sldLayoutId xmlns:r="http://schemas.openxmlformats.org/officeDocument/2006/relationships" id="2147483654" r:id="R9e87ffefffdc43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ff676849d04e61" /><Relationship Type="http://schemas.openxmlformats.org/officeDocument/2006/relationships/image" Target="/ppt/media/image.png" Id="Rbeb719da3aa3432b" /><Relationship Type="http://schemas.openxmlformats.org/officeDocument/2006/relationships/notesSlide" Target="/ppt/notesSlides/notesSlide1.xml" Id="R0f3a8d6cfac143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796c3a72504736" /><Relationship Type="http://schemas.openxmlformats.org/officeDocument/2006/relationships/notesSlide" Target="/ppt/notesSlides/notesSlide2.xml" Id="R3423c9f70ca547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e44893f7294181" /><Relationship Type="http://schemas.openxmlformats.org/officeDocument/2006/relationships/notesSlide" Target="/ppt/notesSlides/notesSlide3.xml" Id="R5c913a0c7a5744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0774d2f9664446" /><Relationship Type="http://schemas.openxmlformats.org/officeDocument/2006/relationships/notesSlide" Target="/ppt/notesSlides/notesSlide4.xml" Id="R21edc8ec546448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cfcd7b5c2745da" /><Relationship Type="http://schemas.openxmlformats.org/officeDocument/2006/relationships/notesSlide" Target="/ppt/notesSlides/notesSlide5.xml" Id="R292d6b7346ad42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8830fc8f324f4a" /><Relationship Type="http://schemas.openxmlformats.org/officeDocument/2006/relationships/notesSlide" Target="/ppt/notesSlides/notesSlide6.xml" Id="R7eb843200e074f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b434850a2c4ce3" /><Relationship Type="http://schemas.openxmlformats.org/officeDocument/2006/relationships/notesSlide" Target="/ppt/notesSlides/notesSlide7.xml" Id="Rfb88f0d850a949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8c20597b514f45" /><Relationship Type="http://schemas.openxmlformats.org/officeDocument/2006/relationships/notesSlide" Target="/ppt/notesSlides/notesSlide8.xml" Id="Rd350e8b141ea4d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f18e3c7f884516" /><Relationship Type="http://schemas.openxmlformats.org/officeDocument/2006/relationships/notesSlide" Target="/ppt/notesSlides/notesSlide9.xml" Id="R3d8135d19f0948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681a26aba64faf" /><Relationship Type="http://schemas.openxmlformats.org/officeDocument/2006/relationships/notesSlide" Target="/ppt/notesSlides/notesSlide10.xml" Id="Rdd41fbccfd9f4d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b2b8e82deb4b4f" /><Relationship Type="http://schemas.openxmlformats.org/officeDocument/2006/relationships/notesSlide" Target="/ppt/notesSlides/notesSlide11.xml" Id="R0828962f051343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98d938aa9049f8" /><Relationship Type="http://schemas.openxmlformats.org/officeDocument/2006/relationships/notesSlide" Target="/ppt/notesSlides/notesSlide12.xml" Id="R83d6a3488a1941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b5cc61576e4423" /><Relationship Type="http://schemas.openxmlformats.org/officeDocument/2006/relationships/notesSlide" Target="/ppt/notesSlides/notesSlide13.xml" Id="R2e982a954c104a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eea352c1bd420b" /><Relationship Type="http://schemas.openxmlformats.org/officeDocument/2006/relationships/notesSlide" Target="/ppt/notesSlides/notesSlide14.xml" Id="R499cf33a30794e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5ebc31b2dda4162" /><Relationship Type="http://schemas.openxmlformats.org/officeDocument/2006/relationships/notesSlide" Target="/ppt/notesSlides/notesSlide15.xml" Id="R934174f508834b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d194404297c4724" /><Relationship Type="http://schemas.openxmlformats.org/officeDocument/2006/relationships/notesSlide" Target="/ppt/notesSlides/notesSlide16.xml" Id="Reff155d8c3ba46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da75f1925674840" /><Relationship Type="http://schemas.openxmlformats.org/officeDocument/2006/relationships/notesSlide" Target="/ppt/notesSlides/notesSlide17.xml" Id="Rfa7f69caf93749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d912c75d0224c0b" /><Relationship Type="http://schemas.openxmlformats.org/officeDocument/2006/relationships/notesSlide" Target="/ppt/notesSlides/notesSlide18.xml" Id="R556fdc07a98c46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8ee24483bfd4d95" /><Relationship Type="http://schemas.openxmlformats.org/officeDocument/2006/relationships/notesSlide" Target="/ppt/notesSlides/notesSlide19.xml" Id="R215ff218128444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65603e627934b46" /><Relationship Type="http://schemas.openxmlformats.org/officeDocument/2006/relationships/notesSlide" Target="/ppt/notesSlides/notesSlide20.xml" Id="Rdda68950314b4c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44753eae7ef4721" /><Relationship Type="http://schemas.openxmlformats.org/officeDocument/2006/relationships/notesSlide" Target="/ppt/notesSlides/notesSlide21.xml" Id="R788eb0aabb1343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0fb354ae45943c0" /><Relationship Type="http://schemas.openxmlformats.org/officeDocument/2006/relationships/notesSlide" Target="/ppt/notesSlides/notesSlide22.xml" Id="Reb358cd8e2b94d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f61d69bbbf4430a" /><Relationship Type="http://schemas.openxmlformats.org/officeDocument/2006/relationships/notesSlide" Target="/ppt/notesSlides/notesSlide23.xml" Id="Rb85fb4cf71fc42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0c69f9ed8f64f14" /><Relationship Type="http://schemas.openxmlformats.org/officeDocument/2006/relationships/notesSlide" Target="/ppt/notesSlides/notesSlide24.xml" Id="Ra1244345fc3547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4ccbe7b1dac4324" /><Relationship Type="http://schemas.openxmlformats.org/officeDocument/2006/relationships/notesSlide" Target="/ppt/notesSlides/notesSlide25.xml" Id="Rbacd52fa00e84b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3b975cdb3884e14" /><Relationship Type="http://schemas.openxmlformats.org/officeDocument/2006/relationships/notesSlide" Target="/ppt/notesSlides/notesSlide26.xml" Id="R97ce21e105a341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f4bba8a83d9408b" /><Relationship Type="http://schemas.openxmlformats.org/officeDocument/2006/relationships/notesSlide" Target="/ppt/notesSlides/notesSlide27.xml" Id="R9be2134ae3ee433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5ec5c524e1a4870" /><Relationship Type="http://schemas.openxmlformats.org/officeDocument/2006/relationships/notesSlide" Target="/ppt/notesSlides/notesSlide28.xml" Id="Rf26d15288ab64c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4c341511c084f76" /><Relationship Type="http://schemas.openxmlformats.org/officeDocument/2006/relationships/notesSlide" Target="/ppt/notesSlides/notesSlide29.xml" Id="Rf0203d59032a4ad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4bfc85ef2904654" /><Relationship Type="http://schemas.openxmlformats.org/officeDocument/2006/relationships/hyperlink" Target="https://docs.google.com/forms/d/e/1FAIpQLSd372X-BsxlyaBxjHNN5N4xQuj9fMiwEWDSkDOh8sXTQk3imQ/viewform" TargetMode="External" Id="Rf380fde6e70c4db4" /><Relationship Type="http://schemas.openxmlformats.org/officeDocument/2006/relationships/notesSlide" Target="/ppt/notesSlides/notesSlide30.xml" Id="R7ca3d02190784d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f00d3f460134c39" /><Relationship Type="http://schemas.openxmlformats.org/officeDocument/2006/relationships/notesSlide" Target="/ppt/notesSlides/notesSlide31.xml" Id="R44cc3b285f4241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bc851f0f9604de1" /><Relationship Type="http://schemas.openxmlformats.org/officeDocument/2006/relationships/image" Target="/ppt/media/image2.png" Id="R19180c61fbe94898" /><Relationship Type="http://schemas.openxmlformats.org/officeDocument/2006/relationships/hyperlink" Target="https://forms.gle/HM2s2G2zxQP64dit5" TargetMode="External" Id="R75e3c9114ac14f51" /><Relationship Type="http://schemas.openxmlformats.org/officeDocument/2006/relationships/notesSlide" Target="/ppt/notesSlides/notesSlide32.xml" Id="R0040b327fa8e4b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0684ddd7db84c7e" /><Relationship Type="http://schemas.openxmlformats.org/officeDocument/2006/relationships/notesSlide" Target="/ppt/notesSlides/notesSlide33.xml" Id="Rc50bc8cb10f140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1e19744c3b9420b" /><Relationship Type="http://schemas.openxmlformats.org/officeDocument/2006/relationships/hyperlink" Target="https://www.youtube.com/watch?v=fSytzGwwBVw" TargetMode="External" Id="Rb34b7a0679f945db" /><Relationship Type="http://schemas.openxmlformats.org/officeDocument/2006/relationships/notesSlide" Target="/ppt/notesSlides/notesSlide34.xml" Id="R9415bfc2e99a49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eb719da3aa3432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65F5F9-67B4-4A2F-B97B-54A88658E03A}"/>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F01CA2-17C0-452D-BC5C-6E2FD4708EE6}"/>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12</a:t>
            </a:r>
          </a:p>
        </p:txBody>
      </p:sp>
      <p:sp>
        <p:nvSpPr>
          <p:cNvPr id="4" name="">
            <a:extLst xmlns:a="http://schemas.openxmlformats.org/drawingml/2006/main">
              <a:ext uri="{FF2B5EF4-FFF2-40B4-BE49-F238E27FC236}">
                <a16:creationId xmlns:a16="http://schemas.microsoft.com/office/drawing/2014/main" id="{E532CFF7-72A7-4AA4-AD0E-B5021AD604C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Choosing and explaining a model</a:t>
            </a:r>
          </a:p>
        </p:txBody>
      </p:sp>
      <p:sp>
        <p:nvSpPr>
          <p:cNvPr id="5" name="">
            <a:extLst xmlns:a="http://schemas.openxmlformats.org/drawingml/2006/main">
              <a:ext uri="{FF2B5EF4-FFF2-40B4-BE49-F238E27FC236}">
                <a16:creationId xmlns:a16="http://schemas.microsoft.com/office/drawing/2014/main" id="{31FF5E8C-58F7-425D-B57B-9594C4A2AB5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1112C73F-552E-468B-94A5-F0D30A3F073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27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118670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1C2A8F-9E7A-48B8-956D-08932B87A2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4179B3-A359-46FD-820B-57B00F5450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FEDEEF77-1FAA-4299-B6D5-87873E4F82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351F1DF-4ABC-4728-B24E-3437566EC658}"/>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4D6F48-994A-46E5-A3CE-ABF8D4CA17E0}"/>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D961545B-A7A7-4332-9E20-B239925357D3}"/>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model requirements before ranking candidates.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Apply the tie-break rule and explain the choice.</a:t>
            </a:r>
          </a:p>
        </p:txBody>
      </p:sp>
      <p:sp>
        <p:nvSpPr>
          <p:cNvPr id="7" name="">
            <a:extLst xmlns:a="http://schemas.openxmlformats.org/drawingml/2006/main">
              <a:ext uri="{FF2B5EF4-FFF2-40B4-BE49-F238E27FC236}">
                <a16:creationId xmlns:a16="http://schemas.microsoft.com/office/drawing/2014/main" id="{9D573DE6-03D8-4B82-91BE-F03F3AA5B09E}"/>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60F282B0-A102-4826-8DA3-4675347966DC}"/>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justify a valid candidate with evidence and a stated limitation.</a:t>
            </a:r>
          </a:p>
        </p:txBody>
      </p:sp>
      <p:sp>
        <p:nvSpPr>
          <p:cNvPr id="9" name="">
            <a:extLst xmlns:a="http://schemas.openxmlformats.org/drawingml/2006/main">
              <a:ext uri="{FF2B5EF4-FFF2-40B4-BE49-F238E27FC236}">
                <a16:creationId xmlns:a16="http://schemas.microsoft.com/office/drawing/2014/main" id="{7CB04B1F-4011-4CD2-A054-9CBBDE9DA9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a:t>
            </a:r>
          </a:p>
        </p:txBody>
      </p:sp>
    </p:spTree>
    <p:extLst>
      <p:ext uri="{BB962C8B-B14F-4D97-AF65-F5344CB8AC3E}">
        <p14:creationId xmlns:p14="http://schemas.microsoft.com/office/powerpoint/2010/main" val="42156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375DEB-9C6E-4071-809C-062C1BD6E6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5F5513-B4DD-4DDA-89B1-FDF121EEB5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9185124-1474-4742-A8B2-D99AF9369B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59CCB885-E886-42B0-9BD9-A53CEECD391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284F81-C82F-4B01-96ED-BEC65FE18FD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 already calculate validation errors.</a:t>
            </a:r>
          </a:p>
        </p:txBody>
      </p:sp>
      <p:sp>
        <p:nvSpPr>
          <p:cNvPr id="6" name="">
            <a:extLst xmlns:a="http://schemas.openxmlformats.org/drawingml/2006/main">
              <a:ext uri="{FF2B5EF4-FFF2-40B4-BE49-F238E27FC236}">
                <a16:creationId xmlns:a16="http://schemas.microsoft.com/office/drawing/2014/main" id="{E1574082-3563-447D-9CFC-604B738D1E6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combine those errors with a practical constraint and an explicit tie-break rule.</a:t>
            </a:r>
          </a:p>
        </p:txBody>
      </p:sp>
      <p:sp>
        <p:nvSpPr>
          <p:cNvPr id="7" name="">
            <a:extLst xmlns:a="http://schemas.openxmlformats.org/drawingml/2006/main">
              <a:ext uri="{FF2B5EF4-FFF2-40B4-BE49-F238E27FC236}">
                <a16:creationId xmlns:a16="http://schemas.microsoft.com/office/drawing/2014/main" id="{35FFF413-6648-4EA9-8378-43AA81D41A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a:t>
            </a:r>
          </a:p>
        </p:txBody>
      </p:sp>
    </p:spTree>
    <p:extLst>
      <p:ext uri="{BB962C8B-B14F-4D97-AF65-F5344CB8AC3E}">
        <p14:creationId xmlns:p14="http://schemas.microsoft.com/office/powerpoint/2010/main" val="13905623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AB531A-3F1B-4FD1-AEBE-D58495306D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CBD993-5BD0-40C2-8FDD-2964341151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6F0E05-D034-4FFB-A43D-90D3BEC7A8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53815E99-F7B0-4572-93AB-1888596630A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9B2BE0-BDCA-4048-A1E4-BA936C599C15}"/>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lowest prediction error may come from a model that is too slow for the stated task.</a:t>
            </a:r>
          </a:p>
        </p:txBody>
      </p:sp>
      <p:sp>
        <p:nvSpPr>
          <p:cNvPr id="6" name="">
            <a:extLst xmlns:a="http://schemas.openxmlformats.org/drawingml/2006/main">
              <a:ext uri="{FF2B5EF4-FFF2-40B4-BE49-F238E27FC236}">
                <a16:creationId xmlns:a16="http://schemas.microsoft.com/office/drawing/2014/main" id="{9F42EAC9-991F-49D7-A5CB-3F590CDB1D2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apply the published constraints before ranking eligible models.</a:t>
            </a:r>
          </a:p>
        </p:txBody>
      </p:sp>
      <p:sp>
        <p:nvSpPr>
          <p:cNvPr id="7" name="">
            <a:extLst xmlns:a="http://schemas.openxmlformats.org/drawingml/2006/main">
              <a:ext uri="{FF2B5EF4-FFF2-40B4-BE49-F238E27FC236}">
                <a16:creationId xmlns:a16="http://schemas.microsoft.com/office/drawing/2014/main" id="{5E896CFC-E2BA-4E21-B6D8-6D86D623B5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4</a:t>
            </a:r>
          </a:p>
        </p:txBody>
      </p:sp>
    </p:spTree>
    <p:extLst>
      <p:ext uri="{BB962C8B-B14F-4D97-AF65-F5344CB8AC3E}">
        <p14:creationId xmlns:p14="http://schemas.microsoft.com/office/powerpoint/2010/main" val="10181964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16D8D8-E10E-4D12-8E93-81BC25208E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512750-0095-410D-86B5-98EF4C2390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475681D-B421-4817-9011-795C73231B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Constraint and Latency</a:t>
            </a:r>
          </a:p>
        </p:txBody>
      </p:sp>
      <p:sp>
        <p:nvSpPr>
          <p:cNvPr id="4" name="">
            <a:extLst xmlns:a="http://schemas.openxmlformats.org/drawingml/2006/main">
              <a:ext uri="{FF2B5EF4-FFF2-40B4-BE49-F238E27FC236}">
                <a16:creationId xmlns:a16="http://schemas.microsoft.com/office/drawing/2014/main" id="{2F51E8B7-C6D8-4AD4-805D-07DDA6EBFB00}"/>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D7D0C7-4C29-47FC-8FA4-24FFA5F344C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Constraint</a:t>
            </a:r>
          </a:p>
        </p:txBody>
      </p:sp>
      <p:sp>
        <p:nvSpPr>
          <p:cNvPr id="6" name="">
            <a:extLst xmlns:a="http://schemas.openxmlformats.org/drawingml/2006/main">
              <a:ext uri="{FF2B5EF4-FFF2-40B4-BE49-F238E27FC236}">
                <a16:creationId xmlns:a16="http://schemas.microsoft.com/office/drawing/2014/main" id="{3EA81FB8-C784-4E93-99B5-1FA1BC799759}"/>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condition a candidate must satisfy, such as MAE at most 3 and latency at most 10 ms.</a:t>
            </a:r>
          </a:p>
        </p:txBody>
      </p:sp>
      <p:sp>
        <p:nvSpPr>
          <p:cNvPr id="7" name="">
            <a:extLst xmlns:a="http://schemas.openxmlformats.org/drawingml/2006/main">
              <a:ext uri="{FF2B5EF4-FFF2-40B4-BE49-F238E27FC236}">
                <a16:creationId xmlns:a16="http://schemas.microsoft.com/office/drawing/2014/main" id="{71D90424-1D4D-4D35-A853-534C60B1598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6F416A-808D-4F6E-BA23-A7EC8EE59A6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Latency</a:t>
            </a:r>
          </a:p>
        </p:txBody>
      </p:sp>
      <p:sp>
        <p:nvSpPr>
          <p:cNvPr id="9" name="">
            <a:extLst xmlns:a="http://schemas.openxmlformats.org/drawingml/2006/main">
              <a:ext uri="{FF2B5EF4-FFF2-40B4-BE49-F238E27FC236}">
                <a16:creationId xmlns:a16="http://schemas.microsoft.com/office/drawing/2014/main" id="{58285341-47CB-46C9-BE19-E1F4BC64DA1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Time taken to produce a prediction under stated measurement conditions. Hardware and measurement method matter.</a:t>
            </a:r>
          </a:p>
        </p:txBody>
      </p:sp>
      <p:sp>
        <p:nvSpPr>
          <p:cNvPr id="10" name="">
            <a:extLst xmlns:a="http://schemas.openxmlformats.org/drawingml/2006/main">
              <a:ext uri="{FF2B5EF4-FFF2-40B4-BE49-F238E27FC236}">
                <a16:creationId xmlns:a16="http://schemas.microsoft.com/office/drawing/2014/main" id="{D008C431-E4B1-4913-A32C-FBB49F6F4D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5</a:t>
            </a:r>
          </a:p>
        </p:txBody>
      </p:sp>
    </p:spTree>
    <p:extLst>
      <p:ext uri="{BB962C8B-B14F-4D97-AF65-F5344CB8AC3E}">
        <p14:creationId xmlns:p14="http://schemas.microsoft.com/office/powerpoint/2010/main" val="2103976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CDF88-3EEB-4025-96E8-C05DED2C35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C28C6A-31EB-406F-9C14-83B7780918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3F65908-8445-4A16-BB48-D52931AB30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Tie-break and Hyperparameter</a:t>
            </a:r>
          </a:p>
        </p:txBody>
      </p:sp>
      <p:sp>
        <p:nvSpPr>
          <p:cNvPr id="4" name="">
            <a:extLst xmlns:a="http://schemas.openxmlformats.org/drawingml/2006/main">
              <a:ext uri="{FF2B5EF4-FFF2-40B4-BE49-F238E27FC236}">
                <a16:creationId xmlns:a16="http://schemas.microsoft.com/office/drawing/2014/main" id="{B0D03A25-3520-45DD-BF1F-34FE446EE02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5F0EAA-410A-454E-9573-60AF88B6462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Tie-break</a:t>
            </a:r>
          </a:p>
        </p:txBody>
      </p:sp>
      <p:sp>
        <p:nvSpPr>
          <p:cNvPr id="6" name="">
            <a:extLst xmlns:a="http://schemas.openxmlformats.org/drawingml/2006/main">
              <a:ext uri="{FF2B5EF4-FFF2-40B4-BE49-F238E27FC236}">
                <a16:creationId xmlns:a16="http://schemas.microsoft.com/office/drawing/2014/main" id="{379E3971-F274-46AA-AAFC-1711A9D5C7B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published rule for choosing between candidates that tie on the main criterion.</a:t>
            </a:r>
          </a:p>
        </p:txBody>
      </p:sp>
      <p:sp>
        <p:nvSpPr>
          <p:cNvPr id="7" name="">
            <a:extLst xmlns:a="http://schemas.openxmlformats.org/drawingml/2006/main">
              <a:ext uri="{FF2B5EF4-FFF2-40B4-BE49-F238E27FC236}">
                <a16:creationId xmlns:a16="http://schemas.microsoft.com/office/drawing/2014/main" id="{ED6E154D-372A-456D-A4D5-3F3DF37699A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28BE0C-221E-4891-AB1F-78C5E9F71723}"/>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Hyperparameter</a:t>
            </a:r>
          </a:p>
        </p:txBody>
      </p:sp>
      <p:sp>
        <p:nvSpPr>
          <p:cNvPr id="9" name="">
            <a:extLst xmlns:a="http://schemas.openxmlformats.org/drawingml/2006/main">
              <a:ext uri="{FF2B5EF4-FFF2-40B4-BE49-F238E27FC236}">
                <a16:creationId xmlns:a16="http://schemas.microsoft.com/office/drawing/2014/main" id="{5B0408FC-8F8A-4D29-9BE0-4B09A502710C}"/>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setting chosen before fitting, such as tree depth. Tune using validation or cross-validation, not the final test.</a:t>
            </a:r>
          </a:p>
        </p:txBody>
      </p:sp>
      <p:sp>
        <p:nvSpPr>
          <p:cNvPr id="10" name="">
            <a:extLst xmlns:a="http://schemas.openxmlformats.org/drawingml/2006/main">
              <a:ext uri="{FF2B5EF4-FFF2-40B4-BE49-F238E27FC236}">
                <a16:creationId xmlns:a16="http://schemas.microsoft.com/office/drawing/2014/main" id="{1CB18A26-06F0-48BB-8694-1315253CDC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6</a:t>
            </a:r>
          </a:p>
        </p:txBody>
      </p:sp>
    </p:spTree>
    <p:extLst>
      <p:ext uri="{BB962C8B-B14F-4D97-AF65-F5344CB8AC3E}">
        <p14:creationId xmlns:p14="http://schemas.microsoft.com/office/powerpoint/2010/main" val="11986882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243DD1-D72E-4C56-A8A3-6E884F55017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760D5A-BE3F-4876-8703-CB4686FB0A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305DE9-136E-49F0-A2C6-181D6E60D0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Error and practical constraints</a:t>
            </a:r>
          </a:p>
        </p:txBody>
      </p:sp>
      <p:sp>
        <p:nvSpPr>
          <p:cNvPr id="4" name="">
            <a:extLst xmlns:a="http://schemas.openxmlformats.org/drawingml/2006/main">
              <a:ext uri="{FF2B5EF4-FFF2-40B4-BE49-F238E27FC236}">
                <a16:creationId xmlns:a16="http://schemas.microsoft.com/office/drawing/2014/main" id="{D59585F3-D7D4-4A1C-90B4-4D800F498E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FDBC798-F399-4715-93C1-94C175473773}"/>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smaller error can require more computation.</a:t>
            </a:r>
          </a:p>
        </p:txBody>
      </p:sp>
      <p:sp>
        <p:nvSpPr>
          <p:cNvPr id="6" name="">
            <a:extLst xmlns:a="http://schemas.openxmlformats.org/drawingml/2006/main">
              <a:ext uri="{FF2B5EF4-FFF2-40B4-BE49-F238E27FC236}">
                <a16:creationId xmlns:a16="http://schemas.microsoft.com/office/drawing/2014/main" id="{1B375D8A-4DAB-4FFE-A3B1-533DEAEF11F3}"/>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279B990-B790-4C5D-9790-4AE1726304A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candidate must meet every stated requirement.</a:t>
            </a:r>
          </a:p>
        </p:txBody>
      </p:sp>
      <p:sp>
        <p:nvSpPr>
          <p:cNvPr id="8" name="">
            <a:extLst xmlns:a="http://schemas.openxmlformats.org/drawingml/2006/main">
              <a:ext uri="{FF2B5EF4-FFF2-40B4-BE49-F238E27FC236}">
                <a16:creationId xmlns:a16="http://schemas.microsoft.com/office/drawing/2014/main" id="{F278D2CF-769E-46E0-92C8-BC55C2D8A0F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50428C7-5FED-4E34-97B7-51AC3B4468E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eligible models on the same validation observations.</a:t>
            </a:r>
          </a:p>
        </p:txBody>
      </p:sp>
      <p:sp>
        <p:nvSpPr>
          <p:cNvPr id="10" name="">
            <a:extLst xmlns:a="http://schemas.openxmlformats.org/drawingml/2006/main">
              <a:ext uri="{FF2B5EF4-FFF2-40B4-BE49-F238E27FC236}">
                <a16:creationId xmlns:a16="http://schemas.microsoft.com/office/drawing/2014/main" id="{8A81F962-5F86-47A8-9136-D3987A9EEA29}"/>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F57F589-D3AB-4010-BD94-C7DB7E3BF28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Follow the published tie-break rule when scores tie.</a:t>
            </a:r>
          </a:p>
        </p:txBody>
      </p:sp>
      <p:sp>
        <p:nvSpPr>
          <p:cNvPr id="12" name="">
            <a:extLst xmlns:a="http://schemas.openxmlformats.org/drawingml/2006/main">
              <a:ext uri="{FF2B5EF4-FFF2-40B4-BE49-F238E27FC236}">
                <a16:creationId xmlns:a16="http://schemas.microsoft.com/office/drawing/2014/main" id="{FE3FF14B-EFB1-4F70-8E5A-3A0CB8B4FF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7</a:t>
            </a:r>
          </a:p>
        </p:txBody>
      </p:sp>
    </p:spTree>
    <p:extLst>
      <p:ext uri="{BB962C8B-B14F-4D97-AF65-F5344CB8AC3E}">
        <p14:creationId xmlns:p14="http://schemas.microsoft.com/office/powerpoint/2010/main" val="7285222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2B7098-AB45-4AA5-BC5E-DFC5AA5D50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71DC7E-1CDB-4FEF-BD85-9563F15C0A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FDC44BC-364E-4768-9446-8A337A8E93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model comparison needs a fair test</a:t>
            </a:r>
          </a:p>
        </p:txBody>
      </p:sp>
      <p:sp>
        <p:nvSpPr>
          <p:cNvPr id="4" name="">
            <a:extLst xmlns:a="http://schemas.openxmlformats.org/drawingml/2006/main">
              <a:ext uri="{FF2B5EF4-FFF2-40B4-BE49-F238E27FC236}">
                <a16:creationId xmlns:a16="http://schemas.microsoft.com/office/drawing/2014/main" id="{39A44744-F388-4DFC-A835-AD3B27E4DF6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37A7DEC-B9EF-41EF-B04A-25A17D46246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validation observations for every candidate.</a:t>
            </a:r>
          </a:p>
        </p:txBody>
      </p:sp>
      <p:sp>
        <p:nvSpPr>
          <p:cNvPr id="6" name="">
            <a:extLst xmlns:a="http://schemas.openxmlformats.org/drawingml/2006/main">
              <a:ext uri="{FF2B5EF4-FFF2-40B4-BE49-F238E27FC236}">
                <a16:creationId xmlns:a16="http://schemas.microsoft.com/office/drawing/2014/main" id="{E8B43D5C-F593-47DE-9DF2-840D25D9A90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A82476-8CCD-42ED-900B-82A460B2DAF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preprocessing on training data only.</a:t>
            </a:r>
          </a:p>
        </p:txBody>
      </p:sp>
      <p:sp>
        <p:nvSpPr>
          <p:cNvPr id="8" name="">
            <a:extLst xmlns:a="http://schemas.openxmlformats.org/drawingml/2006/main">
              <a:ext uri="{FF2B5EF4-FFF2-40B4-BE49-F238E27FC236}">
                <a16:creationId xmlns:a16="http://schemas.microsoft.com/office/drawing/2014/main" id="{DF4AC257-37ED-40D1-9563-C8AE1856EF9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8685626-ED5F-4774-B3B7-4FA6720BED5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Choose the error measure and practical requirements before inspecting results.</a:t>
            </a:r>
          </a:p>
        </p:txBody>
      </p:sp>
      <p:sp>
        <p:nvSpPr>
          <p:cNvPr id="10" name="">
            <a:extLst xmlns:a="http://schemas.openxmlformats.org/drawingml/2006/main">
              <a:ext uri="{FF2B5EF4-FFF2-40B4-BE49-F238E27FC236}">
                <a16:creationId xmlns:a16="http://schemas.microsoft.com/office/drawing/2014/main" id="{3D57BEDE-BB74-41A6-BFBE-349F454984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8</a:t>
            </a:r>
          </a:p>
        </p:txBody>
      </p:sp>
    </p:spTree>
    <p:extLst>
      <p:ext uri="{BB962C8B-B14F-4D97-AF65-F5344CB8AC3E}">
        <p14:creationId xmlns:p14="http://schemas.microsoft.com/office/powerpoint/2010/main" val="13930709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8ED90B-D008-4672-9A0E-254FE3B3B3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88AFC9-626F-4016-8ABA-8507EC17C3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74D1062-878F-41F3-BE7D-416CF99430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Eligibility comes before ranking</a:t>
            </a:r>
          </a:p>
        </p:txBody>
      </p:sp>
      <p:sp>
        <p:nvSpPr>
          <p:cNvPr id="4" name="">
            <a:extLst xmlns:a="http://schemas.openxmlformats.org/drawingml/2006/main">
              <a:ext uri="{FF2B5EF4-FFF2-40B4-BE49-F238E27FC236}">
                <a16:creationId xmlns:a16="http://schemas.microsoft.com/office/drawing/2014/main" id="{848DBFE0-0774-4E24-BE0D-B41CE5AFC6D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8E603E8-04EE-41E1-90A0-8C9637984C9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check every stated requirement for each candidate.</a:t>
            </a:r>
          </a:p>
        </p:txBody>
      </p:sp>
      <p:sp>
        <p:nvSpPr>
          <p:cNvPr id="6" name="">
            <a:extLst xmlns:a="http://schemas.openxmlformats.org/drawingml/2006/main">
              <a:ext uri="{FF2B5EF4-FFF2-40B4-BE49-F238E27FC236}">
                <a16:creationId xmlns:a16="http://schemas.microsoft.com/office/drawing/2014/main" id="{9347C6E8-DE9E-43E3-9E1E-1FD8E4630DA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F9EC256-A2B4-4B40-91EC-C82402FD786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Reject a candidate that fails even one requirement.</a:t>
            </a:r>
          </a:p>
        </p:txBody>
      </p:sp>
      <p:sp>
        <p:nvSpPr>
          <p:cNvPr id="8" name="">
            <a:extLst xmlns:a="http://schemas.openxmlformats.org/drawingml/2006/main">
              <a:ext uri="{FF2B5EF4-FFF2-40B4-BE49-F238E27FC236}">
                <a16:creationId xmlns:a16="http://schemas.microsoft.com/office/drawing/2014/main" id="{569F4439-5983-48CC-AEAD-0D13D9B6AA6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49ED251-4045-4F00-A9CC-37EAA5DD20D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Rank the eligible candidates using the published tie-break rule.</a:t>
            </a:r>
          </a:p>
        </p:txBody>
      </p:sp>
      <p:sp>
        <p:nvSpPr>
          <p:cNvPr id="10" name="">
            <a:extLst xmlns:a="http://schemas.openxmlformats.org/drawingml/2006/main">
              <a:ext uri="{FF2B5EF4-FFF2-40B4-BE49-F238E27FC236}">
                <a16:creationId xmlns:a16="http://schemas.microsoft.com/office/drawing/2014/main" id="{5317F241-F24D-46FB-A92F-25B3AA92D3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9</a:t>
            </a:r>
          </a:p>
        </p:txBody>
      </p:sp>
    </p:spTree>
    <p:extLst>
      <p:ext uri="{BB962C8B-B14F-4D97-AF65-F5344CB8AC3E}">
        <p14:creationId xmlns:p14="http://schemas.microsoft.com/office/powerpoint/2010/main" val="4941418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D65401-3E01-417E-98AA-2D6D42EE1B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598A8F-AB64-4D16-B133-CC0A586B190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87CF8FB-C1FD-4D30-A4CD-50C23192CB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constrained model choice</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Candidate</a:t>
                      </a:r>
                    </a:p>
                  </a:txBody>
                  <a:tcPr marL="91440" marR="91440" marT="45720" marB="45720">
                    <a:solidFill>
                      <a:srgbClr val="2E7D6F"/>
                    </a:solidFill>
                  </a:tcPr>
                </a:tc>
                <a:tc>
                  <a:txBody>
                    <a:bodyPr/>
                    <a:lstStyle/>
                    <a:p>
                      <a:r>
                        <a:rPr sz="2025" b="1">
                          <a:solidFill>
                            <a:srgbClr val="FFFFFF"/>
                          </a:solidFill>
                          <a:latin typeface="Calibri"/>
                          <a:ea typeface="Calibri"/>
                          <a:cs typeface="Calibri"/>
                        </a:rPr>
                        <a:t>Validation error</a:t>
                      </a:r>
                    </a:p>
                  </a:txBody>
                  <a:tcPr marL="91440" marR="91440" marT="45720" marB="45720">
                    <a:solidFill>
                      <a:srgbClr val="2E7D6F"/>
                    </a:solidFill>
                  </a:tcPr>
                </a:tc>
                <a:tc>
                  <a:txBody>
                    <a:bodyPr/>
                    <a:lstStyle/>
                    <a:p>
                      <a:r>
                        <a:rPr sz="2025" b="1">
                          <a:solidFill>
                            <a:srgbClr val="FFFFFF"/>
                          </a:solidFill>
                          <a:latin typeface="Calibri"/>
                          <a:ea typeface="Calibri"/>
                          <a:cs typeface="Calibri"/>
                        </a:rPr>
                        <a:t>Time (ms)</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simple</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complex</a:t>
                      </a:r>
                    </a:p>
                  </a:txBody>
                  <a:tcPr marL="91440" marR="91440" marT="45720" marB="45720">
                    <a:solidFill>
                      <a:srgbClr val="FFFFFF"/>
                    </a:solidFill>
                  </a:tcPr>
                </a:tc>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20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0B59E1-16F8-4ED9-87DB-C4841BF7BA0A}"/>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Invented requirements: error at most 3 and time at most 10 ms.</a:t>
            </a:r>
          </a:p>
        </p:txBody>
      </p:sp>
      <p:sp>
        <p:nvSpPr>
          <p:cNvPr id="6" name="">
            <a:extLst xmlns:a="http://schemas.openxmlformats.org/drawingml/2006/main">
              <a:ext uri="{FF2B5EF4-FFF2-40B4-BE49-F238E27FC236}">
                <a16:creationId xmlns:a16="http://schemas.microsoft.com/office/drawing/2014/main" id="{26AD3AD5-6679-416C-A8F3-BA7F2A0F6A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10</a:t>
            </a:r>
          </a:p>
        </p:txBody>
      </p:sp>
    </p:spTree>
    <p:extLst>
      <p:ext uri="{BB962C8B-B14F-4D97-AF65-F5344CB8AC3E}">
        <p14:creationId xmlns:p14="http://schemas.microsoft.com/office/powerpoint/2010/main" val="11944071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D681D1-F210-451F-A5D9-1BD881092A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0186BE-000C-4F1E-BFD1-67261100129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15D5CA8-C645-410C-861E-0756C214EC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Candidate records and eligibility</a:t>
            </a:r>
          </a:p>
        </p:txBody>
      </p:sp>
      <p:sp>
        <p:nvSpPr>
          <p:cNvPr id="4" name="">
            <a:extLst xmlns:a="http://schemas.openxmlformats.org/drawingml/2006/main">
              <a:ext uri="{FF2B5EF4-FFF2-40B4-BE49-F238E27FC236}">
                <a16:creationId xmlns:a16="http://schemas.microsoft.com/office/drawing/2014/main" id="{8D70AC68-CA9F-4C99-86ED-B00361DA7E1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66302D-A741-420E-A8BC-25513874D51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0DBDF2B-F97B-4045-9E23-C9CB331295F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candidate is one model under consideration. Its dictionary records a name, a validation error and measured run time.</a:t>
            </a:r>
          </a:p>
        </p:txBody>
      </p:sp>
      <p:sp>
        <p:nvSpPr>
          <p:cNvPr id="7" name="">
            <a:extLst xmlns:a="http://schemas.openxmlformats.org/drawingml/2006/main">
              <a:ext uri="{FF2B5EF4-FFF2-40B4-BE49-F238E27FC236}">
                <a16:creationId xmlns:a16="http://schemas.microsoft.com/office/drawing/2014/main" id="{DD9FDEBC-B958-4010-BD01-AD1EF795FF4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 eligible candidate meets every published constraint. Build a list of eligible records first. If the list is empty, use the task’s specified no-candidate result.</a:t>
            </a:r>
          </a:p>
        </p:txBody>
      </p:sp>
      <p:sp>
        <p:nvSpPr>
          <p:cNvPr id="8" name="">
            <a:extLst xmlns:a="http://schemas.openxmlformats.org/drawingml/2006/main">
              <a:ext uri="{FF2B5EF4-FFF2-40B4-BE49-F238E27FC236}">
                <a16:creationId xmlns:a16="http://schemas.microsoft.com/office/drawing/2014/main" id="{91F1F731-8648-4660-9B85-3BC4CC9A43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11</a:t>
            </a:r>
          </a:p>
        </p:txBody>
      </p:sp>
    </p:spTree>
    <p:extLst>
      <p:ext uri="{BB962C8B-B14F-4D97-AF65-F5344CB8AC3E}">
        <p14:creationId xmlns:p14="http://schemas.microsoft.com/office/powerpoint/2010/main" val="3732494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D9FD3D-948D-420A-8494-D1B0B0E57F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39CAEC-CA2E-486E-B060-D7E91E0CE2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87450B-8234-42A9-BD33-958B9CCEC8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selection in Python (1/2)</a:t>
            </a:r>
          </a:p>
        </p:txBody>
      </p:sp>
      <p:sp>
        <p:nvSpPr>
          <p:cNvPr id="4" name="">
            <a:extLst xmlns:a="http://schemas.openxmlformats.org/drawingml/2006/main">
              <a:ext uri="{FF2B5EF4-FFF2-40B4-BE49-F238E27FC236}">
                <a16:creationId xmlns:a16="http://schemas.microsoft.com/office/drawing/2014/main" id="{37E26128-F0E9-425B-BC5C-665D1815497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417186-8A68-41C6-AC2A-0B1AE4E940E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candidates = [{"name": "simple", "error": 3, "ms":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{"name": "complex", "error": 1, "ms": 20}]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eligible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item in candidates: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item["error"] &lt;= 3 and item["ms"] &lt;=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eligible.append(item)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names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for item in eligible: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names.append(item["name"])</a:t>
            </a:r>
          </a:p>
        </p:txBody>
      </p:sp>
      <p:sp>
        <p:nvSpPr>
          <p:cNvPr id="6" name="">
            <a:extLst xmlns:a="http://schemas.openxmlformats.org/drawingml/2006/main">
              <a:ext uri="{FF2B5EF4-FFF2-40B4-BE49-F238E27FC236}">
                <a16:creationId xmlns:a16="http://schemas.microsoft.com/office/drawing/2014/main" id="{878A19CC-95DD-45D2-91F4-5263C5D5876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B4731A51-C250-4A6E-A31A-82803823322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C20B1910-44CB-4005-A886-BAE19544F5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12</a:t>
            </a:r>
          </a:p>
        </p:txBody>
      </p:sp>
    </p:spTree>
    <p:extLst>
      <p:ext uri="{BB962C8B-B14F-4D97-AF65-F5344CB8AC3E}">
        <p14:creationId xmlns:p14="http://schemas.microsoft.com/office/powerpoint/2010/main" val="16466361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0AFC73-22B9-4B96-8CB6-55D72ABDED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E5756E-EB6F-4CBA-A40B-90A2CCE0F7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8893E9D-6188-4AD8-9630-0C03A92881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selection in Python (2/2)</a:t>
            </a:r>
          </a:p>
        </p:txBody>
      </p:sp>
      <p:sp>
        <p:nvSpPr>
          <p:cNvPr id="4" name="">
            <a:extLst xmlns:a="http://schemas.openxmlformats.org/drawingml/2006/main">
              <a:ext uri="{FF2B5EF4-FFF2-40B4-BE49-F238E27FC236}">
                <a16:creationId xmlns:a16="http://schemas.microsoft.com/office/drawing/2014/main" id="{61547FE3-4776-4C14-8293-3F6E3354521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B02E1C-C7C8-43F9-8603-17701EBAE89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print(names)</a:t>
            </a:r>
          </a:p>
        </p:txBody>
      </p:sp>
      <p:sp>
        <p:nvSpPr>
          <p:cNvPr id="6" name="">
            <a:extLst xmlns:a="http://schemas.openxmlformats.org/drawingml/2006/main">
              <a:ext uri="{FF2B5EF4-FFF2-40B4-BE49-F238E27FC236}">
                <a16:creationId xmlns:a16="http://schemas.microsoft.com/office/drawing/2014/main" id="{FF3C8575-052E-4262-A5D6-1A57C3939BD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10991C4-ACC3-4067-B0EE-32212ADD7EA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45FE49D1-0FD8-4D30-AF54-693BE8A4A5C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23DA24A5-2309-41B6-996C-2FDAE1E5E5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13</a:t>
            </a:r>
          </a:p>
        </p:txBody>
      </p:sp>
    </p:spTree>
    <p:extLst>
      <p:ext uri="{BB962C8B-B14F-4D97-AF65-F5344CB8AC3E}">
        <p14:creationId xmlns:p14="http://schemas.microsoft.com/office/powerpoint/2010/main" val="5440237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CA286D-24AB-4E7C-A28E-04ADA7D28C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97634B-A614-48B4-944B-FF856F330F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644B6D31-95DF-4466-A9DF-485D8A3BC9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selection results</a:t>
            </a:r>
          </a:p>
        </p:txBody>
      </p:sp>
      <p:sp>
        <p:nvSpPr>
          <p:cNvPr id="4" name="">
            <a:extLst xmlns:a="http://schemas.openxmlformats.org/drawingml/2006/main">
              <a:ext uri="{FF2B5EF4-FFF2-40B4-BE49-F238E27FC236}">
                <a16:creationId xmlns:a16="http://schemas.microsoft.com/office/drawing/2014/main" id="{07646A7A-8F6E-4FD7-98D6-CFE58CDCEDFD}"/>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406A2A-4281-473C-AF87-F18FA9427B16}"/>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['simple']</a:t>
            </a:r>
          </a:p>
        </p:txBody>
      </p:sp>
      <p:sp>
        <p:nvSpPr>
          <p:cNvPr id="6" name="">
            <a:extLst xmlns:a="http://schemas.openxmlformats.org/drawingml/2006/main">
              <a:ext uri="{FF2B5EF4-FFF2-40B4-BE49-F238E27FC236}">
                <a16:creationId xmlns:a16="http://schemas.microsoft.com/office/drawing/2014/main" id="{3265A32B-AB73-4051-BC67-8181BAD4380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67E01BF9-06F3-492A-AD04-9CC4642AFA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14</a:t>
            </a:r>
          </a:p>
        </p:txBody>
      </p:sp>
    </p:spTree>
    <p:extLst>
      <p:ext uri="{BB962C8B-B14F-4D97-AF65-F5344CB8AC3E}">
        <p14:creationId xmlns:p14="http://schemas.microsoft.com/office/powerpoint/2010/main" val="8358192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AB1B2F-662C-4E0A-A74B-73EE49B238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AB2CF5-F9E7-4A1D-B55F-49C1BB2B7C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B2D5062-EED7-4008-ABB9-4D33B2A53C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tuple supplies an ordered ranking key</a:t>
            </a:r>
          </a:p>
        </p:txBody>
      </p:sp>
      <p:sp>
        <p:nvSpPr>
          <p:cNvPr id="4" name="">
            <a:extLst xmlns:a="http://schemas.openxmlformats.org/drawingml/2006/main">
              <a:ext uri="{FF2B5EF4-FFF2-40B4-BE49-F238E27FC236}">
                <a16:creationId xmlns:a16="http://schemas.microsoft.com/office/drawing/2014/main" id="{B9FFDE3E-DD87-43AD-B735-1544ADF011C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FE225B7-5BBE-4352-B788-C47FE42DEB2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holds several values in order, such as (error, time, name).</a:t>
            </a:r>
          </a:p>
        </p:txBody>
      </p:sp>
      <p:sp>
        <p:nvSpPr>
          <p:cNvPr id="6" name="">
            <a:extLst xmlns:a="http://schemas.openxmlformats.org/drawingml/2006/main">
              <a:ext uri="{FF2B5EF4-FFF2-40B4-BE49-F238E27FC236}">
                <a16:creationId xmlns:a16="http://schemas.microsoft.com/office/drawing/2014/main" id="{B8FBFE4F-DF22-445D-963B-A69E22F5634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ACEE1D8-F33B-4BA5-956C-9A21CBF74CC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compares the first values. A tie moves the comparison to the second.</a:t>
            </a:r>
          </a:p>
        </p:txBody>
      </p:sp>
      <p:sp>
        <p:nvSpPr>
          <p:cNvPr id="8" name="">
            <a:extLst xmlns:a="http://schemas.openxmlformats.org/drawingml/2006/main">
              <a:ext uri="{FF2B5EF4-FFF2-40B4-BE49-F238E27FC236}">
                <a16:creationId xmlns:a16="http://schemas.microsoft.com/office/drawing/2014/main" id="{8CFFCFA7-C081-4EC4-B109-DD6E2DB464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4AB27B-3889-4B79-8F69-0AFD232275F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those also tie, the third value decides.</a:t>
            </a:r>
          </a:p>
        </p:txBody>
      </p:sp>
      <p:sp>
        <p:nvSpPr>
          <p:cNvPr id="10" name="">
            <a:extLst xmlns:a="http://schemas.openxmlformats.org/drawingml/2006/main">
              <a:ext uri="{FF2B5EF4-FFF2-40B4-BE49-F238E27FC236}">
                <a16:creationId xmlns:a16="http://schemas.microsoft.com/office/drawing/2014/main" id="{D8C052FC-2692-4ED7-9329-607A6D7C4F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15</a:t>
            </a:r>
          </a:p>
        </p:txBody>
      </p:sp>
    </p:spTree>
    <p:extLst>
      <p:ext uri="{BB962C8B-B14F-4D97-AF65-F5344CB8AC3E}">
        <p14:creationId xmlns:p14="http://schemas.microsoft.com/office/powerpoint/2010/main" val="7480502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48B174-24CF-444E-91D6-2AC79BD5D2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423F82-2AE8-4B3D-8BE7-7A8592BF08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02E33C0-0D02-4A38-9EFB-E0D51A1735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Sorting with a tie-break rule</a:t>
            </a:r>
          </a:p>
        </p:txBody>
      </p:sp>
      <p:sp>
        <p:nvSpPr>
          <p:cNvPr id="4" name="">
            <a:extLst xmlns:a="http://schemas.openxmlformats.org/drawingml/2006/main">
              <a:ext uri="{FF2B5EF4-FFF2-40B4-BE49-F238E27FC236}">
                <a16:creationId xmlns:a16="http://schemas.microsoft.com/office/drawing/2014/main" id="{CCE4ACBD-D441-4C60-9A4B-A4B1B70C8F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D7890A1-D790-426B-A9EE-6790037CF1A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is an ordered group of values.</a:t>
            </a:r>
          </a:p>
        </p:txBody>
      </p:sp>
      <p:sp>
        <p:nvSpPr>
          <p:cNvPr id="6" name="">
            <a:extLst xmlns:a="http://schemas.openxmlformats.org/drawingml/2006/main">
              <a:ext uri="{FF2B5EF4-FFF2-40B4-BE49-F238E27FC236}">
                <a16:creationId xmlns:a16="http://schemas.microsoft.com/office/drawing/2014/main" id="{EA453600-67D0-4EC4-80C0-657852D51930}"/>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0A145AE-D394-4CBD-B9FB-DAF0369CC3DD}"/>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compares the first item, then the second when tied, then the third.</a:t>
            </a:r>
          </a:p>
        </p:txBody>
      </p:sp>
      <p:sp>
        <p:nvSpPr>
          <p:cNvPr id="8" name="">
            <a:extLst xmlns:a="http://schemas.openxmlformats.org/drawingml/2006/main">
              <a:ext uri="{FF2B5EF4-FFF2-40B4-BE49-F238E27FC236}">
                <a16:creationId xmlns:a16="http://schemas.microsoft.com/office/drawing/2014/main" id="{D9C97461-E078-455D-9C5B-ABFF021E291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5E51A24-4209-465E-9FDC-2512F2A06091}"/>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key function gives sorted the tuple for each candidate.</a:t>
            </a:r>
          </a:p>
        </p:txBody>
      </p:sp>
      <p:sp>
        <p:nvSpPr>
          <p:cNvPr id="10" name="">
            <a:extLst xmlns:a="http://schemas.openxmlformats.org/drawingml/2006/main">
              <a:ext uri="{FF2B5EF4-FFF2-40B4-BE49-F238E27FC236}">
                <a16:creationId xmlns:a16="http://schemas.microsoft.com/office/drawing/2014/main" id="{8B0268C3-E4DC-4C2F-A764-C62E5FDC0BA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F69A2E-5235-4904-8CA5-DAE3E94E9500}"/>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Guard an empty list before selecting position zero.</a:t>
            </a:r>
          </a:p>
        </p:txBody>
      </p:sp>
      <p:sp>
        <p:nvSpPr>
          <p:cNvPr id="12" name="">
            <a:extLst xmlns:a="http://schemas.openxmlformats.org/drawingml/2006/main">
              <a:ext uri="{FF2B5EF4-FFF2-40B4-BE49-F238E27FC236}">
                <a16:creationId xmlns:a16="http://schemas.microsoft.com/office/drawing/2014/main" id="{FD104EA0-59D0-4326-9704-BA2F40EB1D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16</a:t>
            </a:r>
          </a:p>
        </p:txBody>
      </p:sp>
    </p:spTree>
    <p:extLst>
      <p:ext uri="{BB962C8B-B14F-4D97-AF65-F5344CB8AC3E}">
        <p14:creationId xmlns:p14="http://schemas.microsoft.com/office/powerpoint/2010/main" val="9012086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8C4757-EE7F-4675-8042-60F307C6D2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155062-6B3E-4981-BBF0-F068950167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5C52AE1-8F61-4933-BCD8-C60E5976AB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Sorting with a named function</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key=rank</a:t>
                      </a:r>
                    </a:p>
                  </a:txBody>
                  <a:tcPr marL="91440" marR="91440" marT="45720" marB="45720">
                    <a:solidFill>
                      <a:srgbClr val="EEF3F6"/>
                    </a:solidFill>
                  </a:tcPr>
                </a:tc>
                <a:tc>
                  <a:txBody>
                    <a:bodyPr/>
                    <a:lstStyle/>
                    <a:p>
                      <a:r>
                        <a:rPr sz="2025" b="0">
                          <a:solidFill>
                            <a:srgbClr val="1C3144"/>
                          </a:solidFill>
                          <a:latin typeface="Calibri"/>
                          <a:ea typeface="Calibri"/>
                          <a:cs typeface="Calibri"/>
                        </a:rPr>
                        <a:t>Use rank to build each comparison key</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sorted(eligible, key=rank)</a:t>
                      </a:r>
                    </a:p>
                  </a:txBody>
                  <a:tcPr marL="91440" marR="91440" marT="45720" marB="45720">
                    <a:solidFill>
                      <a:srgbClr val="FFFFFF"/>
                    </a:solidFill>
                  </a:tcPr>
                </a:tc>
                <a:tc>
                  <a:txBody>
                    <a:bodyPr/>
                    <a:lstStyle/>
                    <a:p>
                      <a:r>
                        <a:rPr sz="2025" b="0">
                          <a:solidFill>
                            <a:srgbClr val="1C3144"/>
                          </a:solidFill>
                          <a:latin typeface="Calibri"/>
                          <a:ea typeface="Calibri"/>
                          <a:cs typeface="Calibri"/>
                        </a:rPr>
                        <a:t>Return a newly ordered list</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ordered[0]</a:t>
                      </a:r>
                    </a:p>
                  </a:txBody>
                  <a:tcPr marL="91440" marR="91440" marT="45720" marB="45720">
                    <a:solidFill>
                      <a:srgbClr val="EEF3F6"/>
                    </a:solidFill>
                  </a:tcPr>
                </a:tc>
                <a:tc>
                  <a:txBody>
                    <a:bodyPr/>
                    <a:lstStyle/>
                    <a:p>
                      <a:r>
                        <a:rPr sz="2025" b="0">
                          <a:solidFill>
                            <a:srgbClr val="1C3144"/>
                          </a:solidFill>
                          <a:latin typeface="Calibri"/>
                          <a:ea typeface="Calibri"/>
                          <a:cs typeface="Calibri"/>
                        </a:rPr>
                        <a:t>Select its first item</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len(ordered) == 0</a:t>
                      </a:r>
                    </a:p>
                  </a:txBody>
                  <a:tcPr marL="91440" marR="91440" marT="45720" marB="45720">
                    <a:solidFill>
                      <a:srgbClr val="FFFFFF"/>
                    </a:solidFill>
                  </a:tcPr>
                </a:tc>
                <a:tc>
                  <a:txBody>
                    <a:bodyPr/>
                    <a:lstStyle/>
                    <a:p>
                      <a:r>
                        <a:rPr sz="2025" b="0">
                          <a:solidFill>
                            <a:srgbClr val="1C3144"/>
                          </a:solidFill>
                          <a:latin typeface="Calibri"/>
                          <a:ea typeface="Calibri"/>
                          <a:cs typeface="Calibri"/>
                        </a:rPr>
                        <a:t>Check for no eligible candidate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1CCA63B-205C-4DC0-B696-6183DFDD26D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Check for an empty list before accessing position zero.</a:t>
            </a:r>
          </a:p>
        </p:txBody>
      </p:sp>
      <p:sp>
        <p:nvSpPr>
          <p:cNvPr id="6" name="">
            <a:extLst xmlns:a="http://schemas.openxmlformats.org/drawingml/2006/main">
              <a:ext uri="{FF2B5EF4-FFF2-40B4-BE49-F238E27FC236}">
                <a16:creationId xmlns:a16="http://schemas.microsoft.com/office/drawing/2014/main" id="{EEAC269E-3B66-4AE0-8D40-71DA7A238C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17</a:t>
            </a:r>
          </a:p>
        </p:txBody>
      </p:sp>
    </p:spTree>
    <p:extLst>
      <p:ext uri="{BB962C8B-B14F-4D97-AF65-F5344CB8AC3E}">
        <p14:creationId xmlns:p14="http://schemas.microsoft.com/office/powerpoint/2010/main" val="18433064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1D1CFC-E841-4694-8081-16D6F1C9CE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2A3FAD-63D2-417B-892A-91C69B0390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E654CAA-8D57-4C7D-B2D5-27E5C81947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Sorting with a tie-break rule in Python</a:t>
            </a:r>
          </a:p>
        </p:txBody>
      </p:sp>
      <p:sp>
        <p:nvSpPr>
          <p:cNvPr id="4" name="">
            <a:extLst xmlns:a="http://schemas.openxmlformats.org/drawingml/2006/main">
              <a:ext uri="{FF2B5EF4-FFF2-40B4-BE49-F238E27FC236}">
                <a16:creationId xmlns:a16="http://schemas.microsoft.com/office/drawing/2014/main" id="{9279F242-99C0-4A94-946A-EDAB656CB35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473F57-E95B-41B4-AD0B-40F0660C62E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rank(item):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(item["error"], item["ms"], item["name"])</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ordered = sorted(eligible, key=rank)</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len(ordered)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winner =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winner = ordered[0]["name"]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print(winner)</a:t>
            </a:r>
          </a:p>
        </p:txBody>
      </p:sp>
      <p:sp>
        <p:nvSpPr>
          <p:cNvPr id="6" name="">
            <a:extLst xmlns:a="http://schemas.openxmlformats.org/drawingml/2006/main">
              <a:ext uri="{FF2B5EF4-FFF2-40B4-BE49-F238E27FC236}">
                <a16:creationId xmlns:a16="http://schemas.microsoft.com/office/drawing/2014/main" id="{12F0DBA7-E9C9-400F-A3BB-C274668F6E5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def names the function. Inputs go inside parentheses.</a:t>
            </a:r>
          </a:p>
        </p:txBody>
      </p:sp>
      <p:sp>
        <p:nvSpPr>
          <p:cNvPr id="7" name="">
            <a:extLst xmlns:a="http://schemas.openxmlformats.org/drawingml/2006/main">
              <a:ext uri="{FF2B5EF4-FFF2-40B4-BE49-F238E27FC236}">
                <a16:creationId xmlns:a16="http://schemas.microsoft.com/office/drawing/2014/main" id="{10CBE5EB-98FA-4C7F-A5AC-E6B2D8438C0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67D832C9-32B3-48E8-B00D-804F23B8BC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18</a:t>
            </a:r>
          </a:p>
        </p:txBody>
      </p:sp>
    </p:spTree>
    <p:extLst>
      <p:ext uri="{BB962C8B-B14F-4D97-AF65-F5344CB8AC3E}">
        <p14:creationId xmlns:p14="http://schemas.microsoft.com/office/powerpoint/2010/main" val="570707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6E6F85-AB7A-44AC-9206-C9E4D2F460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17FFB1-851D-4A86-8AA2-751EE16795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05B7361-A2AB-4872-8272-9EF72A9132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Local explanation and Conditions of use</a:t>
            </a:r>
          </a:p>
        </p:txBody>
      </p:sp>
      <p:sp>
        <p:nvSpPr>
          <p:cNvPr id="4" name="">
            <a:extLst xmlns:a="http://schemas.openxmlformats.org/drawingml/2006/main">
              <a:ext uri="{FF2B5EF4-FFF2-40B4-BE49-F238E27FC236}">
                <a16:creationId xmlns:a16="http://schemas.microsoft.com/office/drawing/2014/main" id="{D2270116-077A-4E2D-A9DA-09344D07B5F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00142A-4CFF-4F40-BB10-A559F1B8520F}"/>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Local explanation</a:t>
            </a:r>
          </a:p>
        </p:txBody>
      </p:sp>
      <p:sp>
        <p:nvSpPr>
          <p:cNvPr id="6" name="">
            <a:extLst xmlns:a="http://schemas.openxmlformats.org/drawingml/2006/main">
              <a:ext uri="{FF2B5EF4-FFF2-40B4-BE49-F238E27FC236}">
                <a16:creationId xmlns:a16="http://schemas.microsoft.com/office/drawing/2014/main" id="{5820BD6A-818A-4D54-80F9-6F3A4DA65775}"/>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Why a model made one particular prediction. This is different from global importance, which summarises behaviour over many cases.</a:t>
            </a:r>
          </a:p>
        </p:txBody>
      </p:sp>
      <p:sp>
        <p:nvSpPr>
          <p:cNvPr id="7" name="">
            <a:extLst xmlns:a="http://schemas.openxmlformats.org/drawingml/2006/main">
              <a:ext uri="{FF2B5EF4-FFF2-40B4-BE49-F238E27FC236}">
                <a16:creationId xmlns:a16="http://schemas.microsoft.com/office/drawing/2014/main" id="{A9C926C6-1EBC-4E7C-A0F7-891C6B7C5D1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670AE9-010E-4C57-BF57-229525952E8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Conditions of use</a:t>
            </a:r>
          </a:p>
        </p:txBody>
      </p:sp>
      <p:sp>
        <p:nvSpPr>
          <p:cNvPr id="9" name="">
            <a:extLst xmlns:a="http://schemas.openxmlformats.org/drawingml/2006/main">
              <a:ext uri="{FF2B5EF4-FFF2-40B4-BE49-F238E27FC236}">
                <a16:creationId xmlns:a16="http://schemas.microsoft.com/office/drawing/2014/main" id="{040E799A-CA73-46BD-8B88-41F4F0B6C8E9}"/>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cases and operating circumstances for which the available evidence supports considering the model.</a:t>
            </a:r>
          </a:p>
        </p:txBody>
      </p:sp>
      <p:sp>
        <p:nvSpPr>
          <p:cNvPr id="10" name="">
            <a:extLst xmlns:a="http://schemas.openxmlformats.org/drawingml/2006/main">
              <a:ext uri="{FF2B5EF4-FFF2-40B4-BE49-F238E27FC236}">
                <a16:creationId xmlns:a16="http://schemas.microsoft.com/office/drawing/2014/main" id="{0C99C769-CEC6-45E9-B441-7BB511AA97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19</a:t>
            </a:r>
          </a:p>
        </p:txBody>
      </p:sp>
    </p:spTree>
    <p:extLst>
      <p:ext uri="{BB962C8B-B14F-4D97-AF65-F5344CB8AC3E}">
        <p14:creationId xmlns:p14="http://schemas.microsoft.com/office/powerpoint/2010/main" val="20734456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268B60-21A0-443E-B725-7508AE6DD1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62DDDC-D3D1-455F-871E-2F03659895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726548A-B6C3-4447-85F9-060680271A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recommendation needs evidence</a:t>
            </a:r>
          </a:p>
        </p:txBody>
      </p:sp>
      <p:sp>
        <p:nvSpPr>
          <p:cNvPr id="4" name="">
            <a:extLst xmlns:a="http://schemas.openxmlformats.org/drawingml/2006/main">
              <a:ext uri="{FF2B5EF4-FFF2-40B4-BE49-F238E27FC236}">
                <a16:creationId xmlns:a16="http://schemas.microsoft.com/office/drawing/2014/main" id="{89EAEADA-0065-4F82-8541-02EBDD7704C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90985E-BB89-42FF-8B99-56E1C50104E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question and the chosen candidate.</a:t>
            </a:r>
          </a:p>
        </p:txBody>
      </p:sp>
      <p:sp>
        <p:nvSpPr>
          <p:cNvPr id="6" name="">
            <a:extLst xmlns:a="http://schemas.openxmlformats.org/drawingml/2006/main">
              <a:ext uri="{FF2B5EF4-FFF2-40B4-BE49-F238E27FC236}">
                <a16:creationId xmlns:a16="http://schemas.microsoft.com/office/drawing/2014/main" id="{F82365AA-AF33-4DCE-81BB-4AE8CCEEBEC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21E676-AB13-4CE2-A775-931FF2A42F9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Give the evaluation result and the constraint it satisfies.</a:t>
            </a:r>
          </a:p>
        </p:txBody>
      </p:sp>
      <p:sp>
        <p:nvSpPr>
          <p:cNvPr id="8" name="">
            <a:extLst xmlns:a="http://schemas.openxmlformats.org/drawingml/2006/main">
              <a:ext uri="{FF2B5EF4-FFF2-40B4-BE49-F238E27FC236}">
                <a16:creationId xmlns:a16="http://schemas.microsoft.com/office/drawing/2014/main" id="{8E8ADAA4-41EA-4031-AB12-38CE27A8D63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7E89416-D28F-4DFC-BA1B-BD84906F8BC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the evidence that could change the recommendation.</a:t>
            </a:r>
          </a:p>
        </p:txBody>
      </p:sp>
      <p:sp>
        <p:nvSpPr>
          <p:cNvPr id="10" name="">
            <a:extLst xmlns:a="http://schemas.openxmlformats.org/drawingml/2006/main">
              <a:ext uri="{FF2B5EF4-FFF2-40B4-BE49-F238E27FC236}">
                <a16:creationId xmlns:a16="http://schemas.microsoft.com/office/drawing/2014/main" id="{D5575F5F-DE32-4808-AC12-7181433F44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20</a:t>
            </a:r>
          </a:p>
        </p:txBody>
      </p:sp>
    </p:spTree>
    <p:extLst>
      <p:ext uri="{BB962C8B-B14F-4D97-AF65-F5344CB8AC3E}">
        <p14:creationId xmlns:p14="http://schemas.microsoft.com/office/powerpoint/2010/main" val="2252881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8D5C07-72A4-48BD-A30B-F7F70C0DCD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462620-6454-4E2E-8F3A-4AB9488FB5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9A9C630-DA4B-461F-AE6C-9AB95D8C19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B7BE2216-BA78-48A8-9474-618B37C5919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0046F0-4B56-4D0C-BFDF-3A7E6AB09C2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47EA20-37B4-4F29-BCEC-C18F492635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A third model has error 3 and latency 1 ms. Under lowest error then lowest latency, which eligible model wins?</a:t>
            </a:r>
          </a:p>
        </p:txBody>
      </p:sp>
      <p:sp>
        <p:nvSpPr>
          <p:cNvPr id="7" name="">
            <a:extLst xmlns:a="http://schemas.openxmlformats.org/drawingml/2006/main">
              <a:ext uri="{FF2B5EF4-FFF2-40B4-BE49-F238E27FC236}">
                <a16:creationId xmlns:a16="http://schemas.microsoft.com/office/drawing/2014/main" id="{009B1AC0-4732-43C5-8161-A8A74446810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The third model. Both eligible models have error 3, but 1 ms is faster than 2 ms.</a:t>
            </a:r>
          </a:p>
        </p:txBody>
      </p:sp>
      <p:sp>
        <p:nvSpPr>
          <p:cNvPr id="8" name="">
            <a:extLst xmlns:a="http://schemas.openxmlformats.org/drawingml/2006/main">
              <a:ext uri="{FF2B5EF4-FFF2-40B4-BE49-F238E27FC236}">
                <a16:creationId xmlns:a16="http://schemas.microsoft.com/office/drawing/2014/main" id="{7EFBCC01-A4E7-43BA-AC59-E861830756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21</a:t>
            </a:r>
          </a:p>
        </p:txBody>
      </p:sp>
    </p:spTree>
    <p:extLst>
      <p:ext uri="{BB962C8B-B14F-4D97-AF65-F5344CB8AC3E}">
        <p14:creationId xmlns:p14="http://schemas.microsoft.com/office/powerpoint/2010/main" val="8443388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97DEE1-264A-4787-A6B0-E850CDF417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B5D41F-D8A9-4635-B60B-3454E14F8C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F411DE1-E045-4534-8990-CBBB9C496D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AA598301-B019-42AD-BC40-784B81934D9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2B1B98A-B6ED-46DD-A37C-9810021F4E8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W12 uses fields name, validation_mae and latency_ms.</a:t>
            </a:r>
          </a:p>
        </p:txBody>
      </p:sp>
      <p:sp>
        <p:nvSpPr>
          <p:cNvPr id="6" name="">
            <a:extLst xmlns:a="http://schemas.openxmlformats.org/drawingml/2006/main">
              <a:ext uri="{FF2B5EF4-FFF2-40B4-BE49-F238E27FC236}">
                <a16:creationId xmlns:a16="http://schemas.microsoft.com/office/drawing/2014/main" id="{911ECB6C-6482-4089-BF42-7C6F744A807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7FA92C-8DE5-452A-AE09-D2998205791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Meet both inclusive constraints, then rank by error, latency and alphabetical name.</a:t>
            </a:r>
          </a:p>
        </p:txBody>
      </p:sp>
      <p:sp>
        <p:nvSpPr>
          <p:cNvPr id="8" name="">
            <a:extLst xmlns:a="http://schemas.openxmlformats.org/drawingml/2006/main">
              <a:ext uri="{FF2B5EF4-FFF2-40B4-BE49-F238E27FC236}">
                <a16:creationId xmlns:a16="http://schemas.microsoft.com/office/drawing/2014/main" id="{85B44B9A-E918-49A8-A8B6-607C025413F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A3C0B0-BED3-4B50-B978-9A26F8CB7EC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None if no candidate qualifies.</a:t>
            </a:r>
          </a:p>
        </p:txBody>
      </p:sp>
      <p:sp>
        <p:nvSpPr>
          <p:cNvPr id="10" name="">
            <a:extLst xmlns:a="http://schemas.openxmlformats.org/drawingml/2006/main">
              <a:ext uri="{FF2B5EF4-FFF2-40B4-BE49-F238E27FC236}">
                <a16:creationId xmlns:a16="http://schemas.microsoft.com/office/drawing/2014/main" id="{61C73372-4DB1-4131-8FA9-6AF3977B01E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B708E5D-E0E6-4625-8007-FBA5FB1E8C8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the error function and interpret the separately supplied scenario.</a:t>
            </a:r>
          </a:p>
        </p:txBody>
      </p:sp>
      <p:sp>
        <p:nvSpPr>
          <p:cNvPr id="12" name="">
            <a:extLst xmlns:a="http://schemas.openxmlformats.org/drawingml/2006/main">
              <a:ext uri="{FF2B5EF4-FFF2-40B4-BE49-F238E27FC236}">
                <a16:creationId xmlns:a16="http://schemas.microsoft.com/office/drawing/2014/main" id="{51C49B99-67E8-4F58-A193-178FFBDD3F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22</a:t>
            </a:r>
          </a:p>
        </p:txBody>
      </p:sp>
    </p:spTree>
    <p:extLst>
      <p:ext uri="{BB962C8B-B14F-4D97-AF65-F5344CB8AC3E}">
        <p14:creationId xmlns:p14="http://schemas.microsoft.com/office/powerpoint/2010/main" val="393455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A343E2-9ABF-4BEA-8CDF-BA62B98564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BCD23D-E9B9-4DF1-B78C-B396B1B398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2438676-B18D-43FB-8A3E-D13A581BC5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94058EE4-2B64-45BE-B384-D23F2068462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9A29F5F-924B-48DC-8F74-C995D952215E}"/>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project comparisons and graded interfaces distinct.</a:t>
            </a:r>
          </a:p>
        </p:txBody>
      </p:sp>
      <p:sp>
        <p:nvSpPr>
          <p:cNvPr id="6" name="">
            <a:extLst xmlns:a="http://schemas.openxmlformats.org/drawingml/2006/main">
              <a:ext uri="{FF2B5EF4-FFF2-40B4-BE49-F238E27FC236}">
                <a16:creationId xmlns:a16="http://schemas.microsoft.com/office/drawing/2014/main" id="{C62A124A-D98A-4835-87F3-A49CD06476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23</a:t>
            </a:r>
          </a:p>
        </p:txBody>
      </p:sp>
    </p:spTree>
    <p:extLst>
      <p:ext uri="{BB962C8B-B14F-4D97-AF65-F5344CB8AC3E}">
        <p14:creationId xmlns:p14="http://schemas.microsoft.com/office/powerpoint/2010/main" val="5110562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3AA000-9887-4327-85E4-9FB64B83DE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C1EBAF-8E7E-4680-B57E-D988908414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1215649-DE07-40D7-9906-5BC54802C4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Fair comparison and explanation</a:t>
            </a:r>
          </a:p>
        </p:txBody>
      </p:sp>
      <p:sp>
        <p:nvSpPr>
          <p:cNvPr id="4" name="">
            <a:extLst xmlns:a="http://schemas.openxmlformats.org/drawingml/2006/main">
              <a:ext uri="{FF2B5EF4-FFF2-40B4-BE49-F238E27FC236}">
                <a16:creationId xmlns:a16="http://schemas.microsoft.com/office/drawing/2014/main" id="{08D76C09-88C9-47F5-8919-6A8E3BF731D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01046B5-1275-444F-9239-E21129C3B64D}"/>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same metric on the same validation cases with the same preprocessing rules.</a:t>
            </a:r>
          </a:p>
        </p:txBody>
      </p:sp>
      <p:sp>
        <p:nvSpPr>
          <p:cNvPr id="6" name="">
            <a:extLst xmlns:a="http://schemas.openxmlformats.org/drawingml/2006/main">
              <a:ext uri="{FF2B5EF4-FFF2-40B4-BE49-F238E27FC236}">
                <a16:creationId xmlns:a16="http://schemas.microsoft.com/office/drawing/2014/main" id="{493FDE3D-F592-4A22-A5B6-90E25F3ABE8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DBE809-4EEE-442B-B4ED-C5CC1A799FA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small difference needs context, including variation across splits.</a:t>
            </a:r>
          </a:p>
        </p:txBody>
      </p:sp>
      <p:sp>
        <p:nvSpPr>
          <p:cNvPr id="8" name="">
            <a:extLst xmlns:a="http://schemas.openxmlformats.org/drawingml/2006/main">
              <a:ext uri="{FF2B5EF4-FFF2-40B4-BE49-F238E27FC236}">
                <a16:creationId xmlns:a16="http://schemas.microsoft.com/office/drawing/2014/main" id="{A54DB3A1-0674-48E1-931A-3FEA9AAF89F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49D895-7930-46DA-84B9-F3225F50101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run out of order can overwrite the variable holding a model; restart and run from the top.</a:t>
            </a:r>
          </a:p>
        </p:txBody>
      </p:sp>
      <p:sp>
        <p:nvSpPr>
          <p:cNvPr id="10" name="">
            <a:extLst xmlns:a="http://schemas.openxmlformats.org/drawingml/2006/main">
              <a:ext uri="{FF2B5EF4-FFF2-40B4-BE49-F238E27FC236}">
                <a16:creationId xmlns:a16="http://schemas.microsoft.com/office/drawing/2014/main" id="{0410629D-025F-4CDC-8DFB-BB6977E4D391}"/>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6A3EBD0-A88C-4476-85B6-C34F3750BEE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local explanation addresses one prediction; global importance summarises many.</a:t>
            </a:r>
          </a:p>
        </p:txBody>
      </p:sp>
      <p:sp>
        <p:nvSpPr>
          <p:cNvPr id="12" name="">
            <a:extLst xmlns:a="http://schemas.openxmlformats.org/drawingml/2006/main">
              <a:ext uri="{FF2B5EF4-FFF2-40B4-BE49-F238E27FC236}">
                <a16:creationId xmlns:a16="http://schemas.microsoft.com/office/drawing/2014/main" id="{1E6C66AC-1971-405C-BD56-4D599DBEBE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24</a:t>
            </a:r>
          </a:p>
        </p:txBody>
      </p:sp>
    </p:spTree>
    <p:extLst>
      <p:ext uri="{BB962C8B-B14F-4D97-AF65-F5344CB8AC3E}">
        <p14:creationId xmlns:p14="http://schemas.microsoft.com/office/powerpoint/2010/main" val="14054209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990A57-F093-40CE-9C48-48E90F06E6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73E3D4-0C77-493A-95B4-40D07D3B6B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109FD94-00D5-47E7-83F1-AA73604B0D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Fair comparison and explanation continued</a:t>
            </a:r>
          </a:p>
        </p:txBody>
      </p:sp>
      <p:sp>
        <p:nvSpPr>
          <p:cNvPr id="4" name="">
            <a:extLst xmlns:a="http://schemas.openxmlformats.org/drawingml/2006/main">
              <a:ext uri="{FF2B5EF4-FFF2-40B4-BE49-F238E27FC236}">
                <a16:creationId xmlns:a16="http://schemas.microsoft.com/office/drawing/2014/main" id="{AF14FADB-AD0C-4FA7-AD84-CA9E5135AA9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6169C7-13E8-4A5F-89DB-5392A2E631E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A post-hoc explanation of a complex model is not its directly readable internal rule.</a:t>
            </a:r>
          </a:p>
        </p:txBody>
      </p:sp>
      <p:sp>
        <p:nvSpPr>
          <p:cNvPr id="6" name="">
            <a:extLst xmlns:a="http://schemas.openxmlformats.org/drawingml/2006/main">
              <a:ext uri="{FF2B5EF4-FFF2-40B4-BE49-F238E27FC236}">
                <a16:creationId xmlns:a16="http://schemas.microsoft.com/office/drawing/2014/main" id="{063E45E5-3A8D-43C1-B725-ED2384616F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25</a:t>
            </a:r>
          </a:p>
        </p:txBody>
      </p:sp>
    </p:spTree>
    <p:extLst>
      <p:ext uri="{BB962C8B-B14F-4D97-AF65-F5344CB8AC3E}">
        <p14:creationId xmlns:p14="http://schemas.microsoft.com/office/powerpoint/2010/main" val="15251528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9A5F46-B61A-43BA-A4CF-B072368043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2C8BC8-0E4F-4D82-B19B-AA40A1DBD3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C7E72CE-7940-4621-927E-9E7C44E325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80045D72-DCE6-42B9-B88D-893C46EEBF1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9CE511-0114-4119-B241-D3CAFEA88E2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1756EC06-1712-494F-B0E7-98CA7167771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F50F3D6-CB6B-42CE-ACE4-DC76EC37CED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300C8E2B-9789-404F-A0D0-4BA149B9D31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11EE964-1B05-44B8-97F0-A4EC45D520A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A958CC9E-65C2-49D8-9210-9F295ABDAEC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A507237-6633-4A49-ABB1-669D5C72F1F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8BF7F64B-0E62-4C13-820F-1FEB2B410B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26</a:t>
            </a:r>
          </a:p>
        </p:txBody>
      </p:sp>
    </p:spTree>
    <p:extLst>
      <p:ext uri="{BB962C8B-B14F-4D97-AF65-F5344CB8AC3E}">
        <p14:creationId xmlns:p14="http://schemas.microsoft.com/office/powerpoint/2010/main" val="112841691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D02D79-44CD-4FE6-A702-117D4FA9CE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77B7F8-CB46-4D43-812E-BF1F19FE71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4E0EDEF-1470-4727-A5CD-3E36546DBD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select_model(candidates, max_mae, max_ms)</a:t>
            </a:r>
          </a:p>
        </p:txBody>
      </p:sp>
      <p:sp>
        <p:nvSpPr>
          <p:cNvPr id="4" name="">
            <a:extLst xmlns:a="http://schemas.openxmlformats.org/drawingml/2006/main">
              <a:ext uri="{FF2B5EF4-FFF2-40B4-BE49-F238E27FC236}">
                <a16:creationId xmlns:a16="http://schemas.microsoft.com/office/drawing/2014/main" id="{FCC74426-0C20-48C7-A6AB-A95369ECA9E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E73B2B-63D7-43BC-B171-33F1CAC66D6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Candidates have name, validation_mae and latency_ms.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Keep those meeting both inclusive constraints; select smallest validation_mae, then latency_ms, then name alphabetically.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the selected name or None.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Never use test scores for selection.</a:t>
            </a:r>
          </a:p>
        </p:txBody>
      </p:sp>
      <p:sp>
        <p:nvSpPr>
          <p:cNvPr id="6" name="">
            <a:extLst xmlns:a="http://schemas.openxmlformats.org/drawingml/2006/main">
              <a:ext uri="{FF2B5EF4-FFF2-40B4-BE49-F238E27FC236}">
                <a16:creationId xmlns:a16="http://schemas.microsoft.com/office/drawing/2014/main" id="{EBD4B4E0-7CBE-4281-BDE8-A698F966D80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D99398-523F-4E84-8A76-E424E8469FC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5694DC22-7962-4446-BF61-402AAEB182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27</a:t>
            </a:r>
          </a:p>
        </p:txBody>
      </p:sp>
    </p:spTree>
    <p:extLst>
      <p:ext uri="{BB962C8B-B14F-4D97-AF65-F5344CB8AC3E}">
        <p14:creationId xmlns:p14="http://schemas.microsoft.com/office/powerpoint/2010/main" val="3317688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955EED-1BF7-479F-B493-960337B93A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80D1FD-0DAF-4F75-9FEF-82C513D0BE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F0461D5B-DC2C-4B9E-A4E1-4590B591D1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AFED06B7-1E8E-44A9-B6DC-6D0027753ED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CA14C0-FF33-4D87-823A-47BF966C0F8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7297FAE8-3B3A-4736-A599-89858800CEF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7DF72D-6EE5-423E-9DC5-B71B19A37E63}"/>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7FF6B76-72A5-4246-8AA1-8E745EB092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28</a:t>
            </a:r>
          </a:p>
        </p:txBody>
      </p:sp>
    </p:spTree>
    <p:extLst>
      <p:ext uri="{BB962C8B-B14F-4D97-AF65-F5344CB8AC3E}">
        <p14:creationId xmlns:p14="http://schemas.microsoft.com/office/powerpoint/2010/main" val="49109907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A3F596-E507-464B-B821-9970ABDFCB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367602-9BDC-4EAB-AA29-5DAFE124A6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E0EACA8-2B23-4951-967A-8188E66F7D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37FA150C-5929-4173-89A3-72691B6221C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7775C00-85BC-4B5D-B156-856B580256C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11094485-7CD7-48F1-8B24-681149B9777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E096602-8ECF-4579-AE6C-544CF504E13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DD14FBF6-60C6-4E57-8096-72FE85B114B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2DE5090-065D-493D-8166-8A47BCC5612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A09467DE-B28B-4B1D-B980-1630815CB44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27BEF21-0668-4F98-8588-A274335DA83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BE716A5-4E45-4064-A8C3-823F116A14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29</a:t>
            </a:r>
          </a:p>
        </p:txBody>
      </p:sp>
    </p:spTree>
    <p:extLst>
      <p:ext uri="{BB962C8B-B14F-4D97-AF65-F5344CB8AC3E}">
        <p14:creationId xmlns:p14="http://schemas.microsoft.com/office/powerpoint/2010/main" val="8655025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1461D36-388A-4F1F-9EC6-5E00D740D50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EE8095-254A-4F59-8C23-5E03DED26C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08434C0D-38E1-4060-9190-25D7462141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recommendation submission</a:t>
            </a:r>
          </a:p>
        </p:txBody>
      </p:sp>
      <p:sp>
        <p:nvSpPr>
          <p:cNvPr id="4" name="">
            <a:extLst xmlns:a="http://schemas.openxmlformats.org/drawingml/2006/main">
              <a:ext uri="{FF2B5EF4-FFF2-40B4-BE49-F238E27FC236}">
                <a16:creationId xmlns:a16="http://schemas.microsoft.com/office/drawing/2014/main" id="{1A0240AD-64A8-4343-8F24-CE2420F2BE0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F25D65F-3D69-4E15-9A91-CBE3C9A4FB88}"/>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469FB47A-34E3-4272-9276-4B423743CFD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813E780-CF21-4AA7-9FB7-EB39707D2F9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Nov 2026, 14:00 Kampala</a:t>
            </a:r>
          </a:p>
        </p:txBody>
      </p:sp>
      <p:sp>
        <p:nvSpPr>
          <p:cNvPr id="8" name="">
            <a:extLst xmlns:a="http://schemas.openxmlformats.org/drawingml/2006/main">
              <a:ext uri="{FF2B5EF4-FFF2-40B4-BE49-F238E27FC236}">
                <a16:creationId xmlns:a16="http://schemas.microsoft.com/office/drawing/2014/main" id="{E6996B6C-8DC0-4011-94D4-C5C9AD77E65A}"/>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039306-4310-48F7-AF5A-2CC87B8A74C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09531CEE-8474-474C-9D69-BDE6C02E648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92DA98E-3B36-4637-BF01-8691CDA5F96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EC7FCADB-8451-4393-BA37-EA003D7DF5C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3BB5DF-93E2-4A67-B633-B08FB60314C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380fde6e70c4db4"/>
              </a:rPr>
              <a:t>Open W12 assignment form</a:t>
            </a:r>
          </a:p>
        </p:txBody>
      </p:sp>
      <p:sp>
        <p:nvSpPr>
          <p:cNvPr id="14" name="">
            <a:extLst xmlns:a="http://schemas.openxmlformats.org/drawingml/2006/main">
              <a:ext uri="{FF2B5EF4-FFF2-40B4-BE49-F238E27FC236}">
                <a16:creationId xmlns:a16="http://schemas.microsoft.com/office/drawing/2014/main" id="{21433BE8-ABA2-4C95-AA6F-E6DC0823BF4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https://docs.google.com/forms/d/e/1FAIpQLSd372X-BsxlyaBxjHNN5N4xQuj9fMiwEWDSkDOh8sXTQk3imQ/viewform</a:t>
            </a:r>
          </a:p>
        </p:txBody>
      </p:sp>
      <p:sp>
        <p:nvSpPr>
          <p:cNvPr id="15" name="">
            <a:extLst xmlns:a="http://schemas.openxmlformats.org/drawingml/2006/main">
              <a:ext uri="{FF2B5EF4-FFF2-40B4-BE49-F238E27FC236}">
                <a16:creationId xmlns:a16="http://schemas.microsoft.com/office/drawing/2014/main" id="{E1BBDB4F-BBDD-4966-A1A3-E556E1CA9C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30</a:t>
            </a:r>
          </a:p>
        </p:txBody>
      </p:sp>
    </p:spTree>
    <p:extLst>
      <p:ext uri="{BB962C8B-B14F-4D97-AF65-F5344CB8AC3E}">
        <p14:creationId xmlns:p14="http://schemas.microsoft.com/office/powerpoint/2010/main" val="12063776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BFDF45-D173-4F77-A0E3-41C6679E84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F0FDFB-B20B-4DB9-8835-5C0532977B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C3B9675-F7B9-484C-AC4E-234D4CB35C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8A20E239-DCAE-43C1-BEEB-1B69A1C7F9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8B5ADAA-8474-498D-8F0A-1BAA0008F96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F759FE05-30B2-4BFE-AE49-1A8DADF7F82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B0460C-3BB4-4811-A430-726BEF05AA6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471F448E-0E82-45B1-8356-CAD4A349B79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E540CA-8EC7-4904-8415-CC4951D5A53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0BA725A0-EBF7-4EF8-A31D-75E79447C27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4C0DACE-E8F7-4346-86CC-DEEAF2E47B7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71EBD49E-66DC-428F-B2B1-C23435693F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31</a:t>
            </a:r>
          </a:p>
        </p:txBody>
      </p:sp>
    </p:spTree>
    <p:extLst>
      <p:ext uri="{BB962C8B-B14F-4D97-AF65-F5344CB8AC3E}">
        <p14:creationId xmlns:p14="http://schemas.microsoft.com/office/powerpoint/2010/main" val="70555487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1A72FA2-054B-4AAA-B058-543BFF3A33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A29792-68F4-4377-9CB1-8290CA534B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0FBEE85-D53A-4D5C-B10A-660926A9B3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12 quiz</a:t>
            </a:r>
          </a:p>
        </p:txBody>
      </p:sp>
      <p:sp>
        <p:nvSpPr>
          <p:cNvPr id="4" name="">
            <a:extLst xmlns:a="http://schemas.openxmlformats.org/drawingml/2006/main">
              <a:ext uri="{FF2B5EF4-FFF2-40B4-BE49-F238E27FC236}">
                <a16:creationId xmlns:a16="http://schemas.microsoft.com/office/drawing/2014/main" id="{6BB36FB1-E1A4-49C9-9D8F-9360E359A2B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DFAF3E-3399-425D-A63F-C75FBF464F70}"/>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1F37089B-614D-489B-A286-46CF94FBAB00}"/>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70AD62-8391-40A7-B3BF-A16C471D00FC}"/>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1FF4871A-DD9C-45C2-AE1B-C015C25AC0F4}"/>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4B0629-FD3A-4536-A55B-C0333123ADC6}"/>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AC66101E-6F5A-43C6-8936-8A088FE52C49}"/>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CE83D9A-1A26-481A-8723-1C6311CAA8BC}"/>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9180c61fbe94898"/>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5F01A39-E286-45ED-B4B4-0086EEB65F15}"/>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6B1DFA70-5608-4032-B7D2-0D84823C036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2A573F2-C62C-4DCA-9C9D-038F4A918F7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5e3c9114ac14f51"/>
              </a:rPr>
              <a:t>Open this week’s quiz</a:t>
            </a:r>
          </a:p>
        </p:txBody>
      </p:sp>
      <p:sp>
        <p:nvSpPr>
          <p:cNvPr id="16" name="">
            <a:extLst xmlns:a="http://schemas.openxmlformats.org/drawingml/2006/main">
              <a:ext uri="{FF2B5EF4-FFF2-40B4-BE49-F238E27FC236}">
                <a16:creationId xmlns:a16="http://schemas.microsoft.com/office/drawing/2014/main" id="{A10FBCD7-ADF9-4197-903B-A18C595C6F4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https://forms.gle/HM2s2G2zxQP64dit5</a:t>
            </a:r>
          </a:p>
        </p:txBody>
      </p:sp>
      <p:sp>
        <p:nvSpPr>
          <p:cNvPr id="17" name="">
            <a:extLst xmlns:a="http://schemas.openxmlformats.org/drawingml/2006/main">
              <a:ext uri="{FF2B5EF4-FFF2-40B4-BE49-F238E27FC236}">
                <a16:creationId xmlns:a16="http://schemas.microsoft.com/office/drawing/2014/main" id="{90931C5C-9D95-4A9D-AB31-62419DB35D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32</a:t>
            </a:r>
          </a:p>
        </p:txBody>
      </p:sp>
    </p:spTree>
    <p:extLst>
      <p:ext uri="{BB962C8B-B14F-4D97-AF65-F5344CB8AC3E}">
        <p14:creationId xmlns:p14="http://schemas.microsoft.com/office/powerpoint/2010/main" val="997780908"/>
      </p:ext>
    </p:extLst>
  </p:cSld>
</p:sld>
</file>

<file path=ppt/slides/slide3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8F9F09-A51A-4294-A656-8DE920C347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C6601530-7B20-4E6B-9366-50AABF9A9A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2FFF91EC-C043-4E38-A997-D1EB9221FB5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141FA056-75C5-4A89-89F7-DA15E17263C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justify a valid candidate with evidence and a stated limitation.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260BB596-727D-4385-AE7E-D298B97EC5E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E45D1317-4527-4F89-9ADF-526A38E424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12   33</a:t>
            </a:r>
          </a:p>
        </p:txBody>
      </p:sp>
    </p:spTree>
    <p:extLst>
      <p:ext uri="{BB962C8B-B14F-4D97-AF65-F5344CB8AC3E}">
        <p14:creationId xmlns:p14="http://schemas.microsoft.com/office/powerpoint/2010/main" val="99298414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9D2307-82F3-4614-B850-6E97F9879E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78BBA7-2CFE-4E8F-A0A9-502BBDD263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23D47CD2-2059-4FCB-93CD-EBE9C43F66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9B37ACC2-6EDB-4F31-A8C5-91A78439C52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581A8D8-9CB3-4100-8CD6-707A9353EDB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FCFF4CBA-3403-41C8-99CD-005D28DBF2A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D1116A1-06FD-4EC5-A256-27CD58179A1B}"/>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BCE5CB0B-0683-482F-A4F2-1725D33034C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46C0FDA-6B86-4BE3-BBCE-7287FD949847}"/>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1ED82768-A013-438E-8920-63EC9F615A1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91E45FE-2377-439D-A42B-B042FECA005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C85D4EB3-8839-4FE8-ACFF-078830F6CEE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9F902A-210F-4D9A-89F8-969FD45A1BA3}"/>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34b7a0679f945db"/>
              </a:rPr>
              <a:t>Open explainer video</a:t>
            </a:r>
          </a:p>
        </p:txBody>
      </p:sp>
      <p:sp>
        <p:nvSpPr>
          <p:cNvPr id="14" name="">
            <a:extLst xmlns:a="http://schemas.openxmlformats.org/drawingml/2006/main">
              <a:ext uri="{FF2B5EF4-FFF2-40B4-BE49-F238E27FC236}">
                <a16:creationId xmlns:a16="http://schemas.microsoft.com/office/drawing/2014/main" id="{672BA055-2A79-4CFC-837A-DE70B87A7FA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FCAC2441-97CC-42F3-8420-CB651F6E48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12   34</a:t>
            </a:r>
          </a:p>
        </p:txBody>
      </p:sp>
    </p:spTree>
    <p:extLst>
      <p:ext uri="{BB962C8B-B14F-4D97-AF65-F5344CB8AC3E}">
        <p14:creationId xmlns:p14="http://schemas.microsoft.com/office/powerpoint/2010/main" val="1402032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2026-09-28T21:15:30.0160000Z</dcterms:created>
  <dcterms:modified xsi:type="dcterms:W3CDTF">2026-09-28T21:15:30.0160000Z</dcterms:modified>
</coreProperties>
</file>