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least guided session of the semester. Thirty-five minutes of teaching, then one hundred and five minutes in which you receive an unfamiliar dataset and a brief from a client, run four models under one protocol, and write a recommendation. Then another team attacks it. This is the closest rehearsal you get for Practical Test 2 in two weeks.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Objective 7 is marked today. Conceding a valid criticism and saying what you would change is a professional strength, and in the defence round it earns marks for both teams.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Notice the shape. The teaching is compressed into the first thirty-five minutes because you have already met everything you need; what you have not done is run four models under a single protocol against a real constraint and had to justify the result.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 minutes of recall. You can evaluate a model honestly and you can improve what it is fed. The remaining question is which model, and why that one.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 A is this week's whole subject in one line. If the split changed as well as the model, you cannot say which change moved the number.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 is the reason the protocol exists. Any comparison in which two things changed at once is uninterpretable, and this is the commonest way a student leaderboard becomes meaningless.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Twenty minutes on the protocol and the five selection criteria. A table of scores produced without a protocol carries no information at all, and this is the part people skip.</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things held constant, one thing varying. That is the whole of fair model comparison.</a:t>
            </a:r>
          </a:p>
          <a:p/>
          <a:p>
            <a:r>
              <a:t>The 'same metric chosen before you looked' item is the one that takes discipline. Choosing the metric after seeing the results means choosing the metric that flatters the model you already liked, and you will not notice yourself doing it.</a:t>
            </a:r>
          </a:p>
          <a:p/>
          <a:p>
            <a:r>
              <a:t>The Pipeline is what makes 'fitted inside each fold' the default rather than something you have to remember. That is a second reason to use one, on top of the leakage argument from Week 10.</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definition of a real difference is the most useful thing in the session. Report every score as a mean with its standard deviation across folds, and when two intervals overlap heavily, say the two models cannot be separated.</a:t>
            </a:r>
          </a:p>
          <a:p/>
          <a:p>
            <a:r>
              <a:t>What you do then is an engineering decision, and it is where the other four criteria come in. If two models are equally accurate and one of them can be read aloud to a client, the choice is already made.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Criterion 1 is the one that governs today's challenge. A false alarm costs four hours. A missed failure costs a gearbox and a week. A model that wins on score and loses on that constraint has lost.</a:t>
            </a:r>
          </a:p>
          <a:p/>
          <a:p>
            <a:r>
              <a:t>Criterion 4 is the one that is easiest to check and most often skipped. Feed your model an input outside the range it was trained on and see what it returns. A linear model extrapolates a straight line, which is wrong in a predictable direction. A tree returns the value of the nearest leaf and gives no sign that it is out of its depth.</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two notes under the chart carefully. On this data the single decision tree is beaten on both axes: linear regression is more accurate AND easier to explain. A depth-3 tree is not a safe middle choice by default, and you have to measure.</a:t>
            </a:r>
          </a:p>
          <a:p/>
          <a:p>
            <a:r>
              <a:t>The boosting result is the honest one. Boosting buys a real improvement in R², and if a client has to sign off on why one case was rejected, that improvement may not be worth having.</a:t>
            </a:r>
          </a:p>
          <a:p/>
          <a:p>
            <a:r>
              <a:t>The horizontal axis carries no units, so do not read distances along it as quantities. It is a way of ordering four models by how much of them you could put in a report.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questions to confirm you can run a fair comparison before you are given 90 minutes to do it unsupervised. Question A is the one to be able to recite.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 is worth memorising word for word, because writing those four lines at the top of your notebook secures a large part of the modelling protocol marks in Practical Test 2 before you fit anything.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Fifteen minutes and one worked example, deliberately short. This week you do the work.</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shape of the table rather than only the winner. In this example depth is doing almost all of the work and a leaf size of 16 or 50 cripples the tree at every depth, which tells you which knob matters and which you can leave alone next time.</a:t>
            </a:r>
          </a:p>
          <a:p/>
          <a:p>
            <a:r>
              <a:t>The line under the table is the important one. The search happens inside cross-validation, and the test set takes no part in choosing the cell. If you pick the winner using the rows you were going to check it with, the score you report is the score of a lucky guess.</a:t>
            </a:r>
          </a:p>
          <a:p/>
          <a:p>
            <a:r>
              <a:t>One consequence worth knowing: the cross-validated score of the winning cell is slightly optimistic, because you chose it by looking at those folds. The honest final number comes from the test set you have not touched.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distinction decides where the search goes. Fitting finds parameters; you choose hyperparameters and can only find good values by trying them and scoring the result.</a:t>
            </a:r>
          </a:p>
          <a:p/>
          <a:p>
            <a:r>
              <a:t>A practical warning: every hyperparameter you add multiplies the size of the grid. Two hyperparameters with five values each is 25 combinations, which is 125 fits at five folds. Four hyperparameters with five values each is 3,125 fits. RandomizedSearchCV samples the space instead of covering it and gets you most of the way for a fraction of the cost.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details to carry away. The double underscore in "fit__max_depth" names the step and then the argument, which is how you reach inside a Pipeline. The search is fitted on the training rows only, so the held-out score on the last line is the one you report. And the difference between the two printed numbers is worth looking at: the cross-validated best score is usually a little better than the held-out score, because the cell was chosen by looking at those folds.</a:t>
            </a:r>
          </a:p>
          <a:p/>
          <a:p>
            <a:r>
              <a:t>scoring="neg_mean_absolute_error" is negative because scikit-learn maximises its scores. Flip the sign when you report it.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are told about boosting rather than taught it because you will meet the name immediately in any Kaggle notebook on data like yours, and a name you have never heard is worse than a name you have been told is coming.</a:t>
            </a:r>
          </a:p>
          <a:p/>
          <a:p>
            <a:r>
              <a:t>The fourth point is the rule for today. Naming boosting as an option you considered and set aside, with a reason, is a good sentence in a recommendation.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 minutes. The challenge after the break runs for ninety minutes without a second break, so use this one.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Ninety minutes. You get an unfamiliar dataset and a brief from a client, and you produce a results table for at least four models under one protocol plus a one-page recommendation. No help, no worked example, and no method suggested.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brief twice before you touch the keyboard. The constraint is doing more work than the request. A false alarm costs four hours. A missed failure costs a gearbox and a week.</a:t>
            </a:r>
          </a:p>
          <a:p/>
          <a:p>
            <a:r>
              <a:t>A recommendation that ignores the constraint has answered a different question from the one you were asked, however good its score is.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six questions on the slide are the ones you will be marked against, so work them in order. Question 1 comes before any modelling: write the protocol down, then run the four candidates through it.</a:t>
            </a:r>
          </a:p>
          <a:p/>
          <a:p>
            <a:r>
              <a:t>Question 3 is where most teams lose marks. Report every score as a mean with its spread across folds, and if the top two overlap, say they cannot be separated and let the constraint decide.</a:t>
            </a:r>
          </a:p>
          <a:p/>
          <a:p>
            <a:r>
              <a:t>AI assistants are permitted here and every use goes in the log. Your recommendation gets defended out loud in the next segment, which is what makes the logging honest.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page means one page. A supervising engineer reads the first paragraph and the table, and everything else has to earn its space.</a:t>
            </a:r>
          </a:p>
          <a:p/>
          <a:p>
            <a:r>
              <a:t>Item 4 is the one that separates a merit from a pass. 'This recommendation holds while the feed comes from the same source; if the source changes, refit and recheck the metric' is a sentence a real engineer writes and a student usually leaves out.</a:t>
            </a:r>
          </a:p>
          <a:p/>
          <a:p>
            <a:r>
              <a:t>A11 is graded in session and it is the last of the eleven practical challenges.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these two out as the model answers. Opening: 'We recommend the depth-4 decision tree: it is within the fold-to-fold spread of the forest, and every decision it makes can be explained.' Paragraph 4: 'We gave up about 0.02 of F1 against the forest to get a model that can be read aloud in a rejection notice.'</a:t>
            </a:r>
          </a:p>
          <a:p/>
          <a:p>
            <a:r>
              <a:t>Paragraph 4 is the one that reads as engineering. A trade you can name and quantify shows you understood the decision; a recommendation that claims the chosen model is best on every axis shows you did not look.</a:t>
            </a:r>
          </a:p>
          <a:p/>
          <a:p>
            <a:r>
              <a:t>Paragraph 5 is what makes the recommendation usable. A model has a range of inputs it was trained on, and outside that range its output is a guess. Say where the boundary is.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marking scheme for the protocol part of the challenge. Six items, and a team that can point at all six in its notebook has secured those marks whatever its scores turn out to be.</a:t>
            </a:r>
          </a:p>
          <a:p/>
          <a:p>
            <a:r>
              <a:t>The last item is the one that gets broken under time pressure. Every time you look at the test score and then change something, the test set becomes part of your training procedure and stops being an honest check.</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Fifteen minutes. Each team presents its recommendation to another team, which must raise at least two challenges and hear them answered. The quality of the challenges is marked as well as the quality of the defences.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reason conceding is marked is that it is the professional behaviour. In a design review the engineer who says 'you are right, I checked the wrong thing, here is what I will do' is worth more than the one who defends a mistake fluently.</a:t>
            </a:r>
          </a:p>
          <a:p/>
          <a:p>
            <a:r>
              <a:t>Write the concession down before you leave the room. It goes on your recommendation as an annotation, and it is read as part of A11.</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these six on your own recommendation before the defence round. Twenty minutes of attacking your own work is the cheapest way to find the hole someone else would have found.</a:t>
            </a:r>
          </a:p>
          <a:p/>
          <a:p>
            <a:r>
              <a:t>The third and sixth lines are the ones that turn a modelling exercise into engineering, because they ask what happens to a real person when the model is wrong.</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minutes. Project Milestone 3 is due at the start of Week 13.</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quiz has nothing to memorise. The questions show a comparison table or a snippet of a pipeline and ask what is wrong with it, so working through today's protocol carefully was the preparation.</a:t>
            </a:r>
          </a:p>
          <a:p/>
          <a:p>
            <a:r>
              <a:t>From this week the quizzes turn integrative: two of the five come from earlier weeks. There are two quizzes left after this one and your best ten of twelve count.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Eight statements covering the session. The third is the one Practical Test 2 will examine, and the seventh is what the project rubric's engineering reasoning criterion is looking for.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 B is the one that costs marks in Practical Test 2. Every time you look at the test score and then change something, the test set has become part of how you chose the model.</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E is the standard your own reporting is held to from here on. A score with no protocol, no spread and no comparison carries almost no information, and a reviewer's first question will be one of the three.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Twenty terms, and five of them are the selection criteria from the comparison-protocol block. The last entry is the one to keep in mind during Practical Test 2.</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Photograph this slide and have it open during Practical Test 2. The modelling protocol criterion carries 20 of the 100 marks and the first two lines of this sheet are most of it.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five minutes of every teaching session. Five questions, one per cent, and you see your score as you submit.</a:t>
            </a:r>
          </a:p>
          <a:p/>
          <a:p>
            <a:r>
              <a:t>Nothing on it can be answered without reading what it shows you, so there is nothing to revise for it beyond having done the session. Twelve run across the semester and the best ten count.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part worth keeping from today is that the score was rarely what decided the choice. Once two models cannot be separated, the constraint decides, and stating that clearly is the recommendation.</a:t>
            </a:r>
          </a:p>
          <a:p/>
          <a:p>
            <a:r>
              <a:t>Next week is the studio: repository structure, README, requirements.txt and peer review, plus the Practical Test 2 briefing.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960120"/>
            <a:ext cx="123444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CML3111</a:t>
            </a:r>
          </a:p>
        </p:txBody>
      </p:sp>
      <p:sp>
        <p:nvSpPr>
          <p:cNvPr id="4" name="TextBox 3"/>
          <p:cNvSpPr txBox="1"/>
          <p:nvPr/>
        </p:nvSpPr>
        <p:spPr>
          <a:xfrm>
            <a:off x="685800" y="1600200"/>
            <a:ext cx="10820095" cy="2011680"/>
          </a:xfrm>
          <a:prstGeom prst="rect">
            <a:avLst/>
          </a:prstGeom>
          <a:noFill/>
        </p:spPr>
        <p:txBody>
          <a:bodyPr wrap="square" lIns="0" rIns="0" tIns="0" bIns="0" anchor="t">
            <a:spAutoFit/>
          </a:bodyPr>
          <a:lstStyle/>
          <a:p>
            <a:pPr algn="l">
              <a:lnSpc>
                <a:spcPct val="105000"/>
              </a:lnSpc>
              <a:spcAft>
                <a:spcPts val="600"/>
              </a:spcAft>
            </a:pPr>
            <a:r>
              <a:rPr sz="4400" b="1" i="0">
                <a:solidFill>
                  <a:srgbClr val="FFFFFF"/>
                </a:solidFill>
                <a:latin typeface="Cambria"/>
              </a:rPr>
              <a:t>Choosing a model,</a:t>
            </a:r>
          </a:p>
          <a:p>
            <a:pPr algn="l">
              <a:lnSpc>
                <a:spcPct val="105000"/>
              </a:lnSpc>
              <a:spcAft>
                <a:spcPts val="600"/>
              </a:spcAft>
            </a:pPr>
            <a:r>
              <a:rPr sz="4400" b="1" i="0">
                <a:solidFill>
                  <a:srgbClr val="FFFFFF"/>
                </a:solidFill>
                <a:latin typeface="Cambria"/>
              </a:rPr>
              <a:t>and defending the choice</a:t>
            </a:r>
          </a:p>
        </p:txBody>
      </p:sp>
      <p:sp>
        <p:nvSpPr>
          <p:cNvPr id="5" name="TextBox 4"/>
          <p:cNvSpPr txBox="1"/>
          <p:nvPr/>
        </p:nvSpPr>
        <p:spPr>
          <a:xfrm>
            <a:off x="685800" y="3703320"/>
            <a:ext cx="10820095" cy="548640"/>
          </a:xfrm>
          <a:prstGeom prst="rect">
            <a:avLst/>
          </a:prstGeom>
          <a:noFill/>
        </p:spPr>
        <p:txBody>
          <a:bodyPr wrap="square" lIns="0" rIns="0" tIns="0" bIns="0" anchor="t">
            <a:spAutoFit/>
          </a:bodyPr>
          <a:lstStyle/>
          <a:p>
            <a:pPr algn="l">
              <a:spcAft>
                <a:spcPts val="600"/>
              </a:spcAft>
            </a:pPr>
            <a:r>
              <a:rPr sz="2293" b="0" i="0">
                <a:solidFill>
                  <a:srgbClr val="A8BCCE"/>
                </a:solidFill>
                <a:latin typeface="Calibri"/>
              </a:rPr>
              <a:t>A fair comparison protocol, tuning inside cross-validation, and a client with a constraint</a:t>
            </a:r>
          </a:p>
        </p:txBody>
      </p:sp>
      <p:sp>
        <p:nvSpPr>
          <p:cNvPr id="6" name="TextBox 5"/>
          <p:cNvSpPr txBox="1"/>
          <p:nvPr/>
        </p:nvSpPr>
        <p:spPr>
          <a:xfrm>
            <a:off x="685800" y="5349240"/>
            <a:ext cx="5486400"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WEEK 12  ·  Fri 27 November 2026</a:t>
            </a:r>
          </a:p>
        </p:txBody>
      </p:sp>
      <p:sp>
        <p:nvSpPr>
          <p:cNvPr id="7" name="TextBox 6"/>
          <p:cNvSpPr txBox="1"/>
          <p:nvPr/>
        </p:nvSpPr>
        <p:spPr>
          <a:xfrm>
            <a:off x="685800" y="5715000"/>
            <a:ext cx="8229600" cy="36576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Friday 11:00–14:00 · Room 115  ·  IUEA Faculty of Engineering · Semester 1, 2026/27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LEARNING OBJECTIVES</a:t>
            </a:r>
          </a:p>
        </p:txBody>
      </p:sp>
      <p:sp>
        <p:nvSpPr>
          <p:cNvPr id="3" name="TextBox 2"/>
          <p:cNvSpPr txBox="1"/>
          <p:nvPr/>
        </p:nvSpPr>
        <p:spPr>
          <a:xfrm>
            <a:off x="685800" y="950976"/>
            <a:ext cx="10820095" cy="731520"/>
          </a:xfrm>
          <a:prstGeom prst="rect">
            <a:avLst/>
          </a:prstGeom>
          <a:noFill/>
        </p:spPr>
        <p:txBody>
          <a:bodyPr wrap="square" lIns="0" rIns="0" tIns="0" bIns="0" anchor="t">
            <a:spAutoFit/>
          </a:bodyPr>
          <a:lstStyle/>
          <a:p>
            <a:pPr algn="l">
              <a:spcAft>
                <a:spcPts val="600"/>
              </a:spcAft>
            </a:pPr>
            <a:r>
              <a:rPr sz="3000" b="1" i="0">
                <a:solidFill>
                  <a:srgbClr val="1C3144"/>
                </a:solidFill>
                <a:latin typeface="Cambria"/>
              </a:rPr>
              <a:t>By the end of today you can…</a:t>
            </a:r>
          </a:p>
        </p:txBody>
      </p:sp>
      <p:sp>
        <p:nvSpPr>
          <p:cNvPr id="4" name="Oval 3"/>
          <p:cNvSpPr/>
          <p:nvPr/>
        </p:nvSpPr>
        <p:spPr>
          <a:xfrm>
            <a:off x="685800" y="190195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1</a:t>
            </a:r>
          </a:p>
        </p:txBody>
      </p:sp>
      <p:sp>
        <p:nvSpPr>
          <p:cNvPr id="5" name="TextBox 4"/>
          <p:cNvSpPr txBox="1"/>
          <p:nvPr/>
        </p:nvSpPr>
        <p:spPr>
          <a:xfrm>
            <a:off x="1188720" y="1874519"/>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Design a comparison in which only the model changes, and say what you held constant.</a:t>
            </a:r>
          </a:p>
        </p:txBody>
      </p:sp>
      <p:sp>
        <p:nvSpPr>
          <p:cNvPr id="6" name="Oval 5"/>
          <p:cNvSpPr/>
          <p:nvPr/>
        </p:nvSpPr>
        <p:spPr>
          <a:xfrm>
            <a:off x="685800" y="2468879"/>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2</a:t>
            </a:r>
          </a:p>
        </p:txBody>
      </p:sp>
      <p:sp>
        <p:nvSpPr>
          <p:cNvPr id="7" name="TextBox 6"/>
          <p:cNvSpPr txBox="1"/>
          <p:nvPr/>
        </p:nvSpPr>
        <p:spPr>
          <a:xfrm>
            <a:off x="1188720" y="2441448"/>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Tune one or two hyperparameters with a search that runs inside cross-validation.</a:t>
            </a:r>
          </a:p>
        </p:txBody>
      </p:sp>
      <p:sp>
        <p:nvSpPr>
          <p:cNvPr id="8" name="Oval 7"/>
          <p:cNvSpPr/>
          <p:nvPr/>
        </p:nvSpPr>
        <p:spPr>
          <a:xfrm>
            <a:off x="685800" y="3035808"/>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3</a:t>
            </a:r>
          </a:p>
        </p:txBody>
      </p:sp>
      <p:sp>
        <p:nvSpPr>
          <p:cNvPr id="9" name="TextBox 8"/>
          <p:cNvSpPr txBox="1"/>
          <p:nvPr/>
        </p:nvSpPr>
        <p:spPr>
          <a:xfrm>
            <a:off x="1188720" y="3008376"/>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Say when a difference between two scores is too small to be a difference.</a:t>
            </a:r>
          </a:p>
        </p:txBody>
      </p:sp>
      <p:sp>
        <p:nvSpPr>
          <p:cNvPr id="10" name="Oval 9"/>
          <p:cNvSpPr/>
          <p:nvPr/>
        </p:nvSpPr>
        <p:spPr>
          <a:xfrm>
            <a:off x="685800" y="3602736"/>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4</a:t>
            </a:r>
          </a:p>
        </p:txBody>
      </p:sp>
      <p:sp>
        <p:nvSpPr>
          <p:cNvPr id="11" name="TextBox 10"/>
          <p:cNvSpPr txBox="1"/>
          <p:nvPr/>
        </p:nvSpPr>
        <p:spPr>
          <a:xfrm>
            <a:off x="1188720" y="3575304"/>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Weigh accuracy against interpretability, cost, data hunger and failure behaviour.</a:t>
            </a:r>
          </a:p>
        </p:txBody>
      </p:sp>
      <p:sp>
        <p:nvSpPr>
          <p:cNvPr id="12" name="Oval 11"/>
          <p:cNvSpPr/>
          <p:nvPr/>
        </p:nvSpPr>
        <p:spPr>
          <a:xfrm>
            <a:off x="685800" y="4169664"/>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5</a:t>
            </a:r>
          </a:p>
        </p:txBody>
      </p:sp>
      <p:sp>
        <p:nvSpPr>
          <p:cNvPr id="13" name="TextBox 12"/>
          <p:cNvSpPr txBox="1"/>
          <p:nvPr/>
        </p:nvSpPr>
        <p:spPr>
          <a:xfrm>
            <a:off x="1188720" y="4142232"/>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Write a one-page recommendation a supervising engineer could act on.</a:t>
            </a:r>
          </a:p>
        </p:txBody>
      </p:sp>
      <p:sp>
        <p:nvSpPr>
          <p:cNvPr id="14" name="Oval 13"/>
          <p:cNvSpPr/>
          <p:nvPr/>
        </p:nvSpPr>
        <p:spPr>
          <a:xfrm>
            <a:off x="685800" y="4736592"/>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6</a:t>
            </a:r>
          </a:p>
        </p:txBody>
      </p:sp>
      <p:sp>
        <p:nvSpPr>
          <p:cNvPr id="15" name="TextBox 14"/>
          <p:cNvSpPr txBox="1"/>
          <p:nvPr/>
        </p:nvSpPr>
        <p:spPr>
          <a:xfrm>
            <a:off x="1188720" y="4709160"/>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Defend a modelling choice under hostile questioning.</a:t>
            </a:r>
          </a:p>
        </p:txBody>
      </p:sp>
      <p:sp>
        <p:nvSpPr>
          <p:cNvPr id="16" name="Oval 15"/>
          <p:cNvSpPr/>
          <p:nvPr/>
        </p:nvSpPr>
        <p:spPr>
          <a:xfrm>
            <a:off x="685800" y="5303520"/>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7</a:t>
            </a:r>
          </a:p>
        </p:txBody>
      </p:sp>
      <p:sp>
        <p:nvSpPr>
          <p:cNvPr id="17" name="TextBox 16"/>
          <p:cNvSpPr txBox="1"/>
          <p:nvPr/>
        </p:nvSpPr>
        <p:spPr>
          <a:xfrm>
            <a:off x="1188720" y="5276088"/>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Concede a challenge when the challenge is correct, and say what you would change.</a:t>
            </a:r>
          </a:p>
        </p:txBody>
      </p:sp>
      <p:sp>
        <p:nvSpPr>
          <p:cNvPr id="18" name="TextBox 17"/>
          <p:cNvSpPr txBox="1"/>
          <p:nvPr/>
        </p:nvSpPr>
        <p:spPr>
          <a:xfrm>
            <a:off x="685800" y="6199632"/>
            <a:ext cx="10820095" cy="365760"/>
          </a:xfrm>
          <a:prstGeom prst="rect">
            <a:avLst/>
          </a:prstGeom>
          <a:noFill/>
        </p:spPr>
        <p:txBody>
          <a:bodyPr wrap="square" lIns="0" rIns="0" tIns="0" bIns="0" anchor="t">
            <a:spAutoFit/>
          </a:bodyPr>
          <a:lstStyle/>
          <a:p>
            <a:pPr algn="l">
              <a:spcAft>
                <a:spcPts val="600"/>
              </a:spcAft>
            </a:pPr>
            <a:r>
              <a:rPr sz="1452" b="0" i="1">
                <a:solidFill>
                  <a:srgbClr val="6B7A8A"/>
                </a:solidFill>
                <a:latin typeface="Calibri"/>
              </a:rPr>
              <a:t>Week 12 · Model comparison and engineering judgement · nothing here needs prior programming experience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HOW TODAY RUNS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today runs</a:t>
            </a:r>
          </a:p>
        </p:txBody>
      </p:sp>
      <p:pic>
        <p:nvPicPr>
          <p:cNvPr id="4" name="Picture 3" descr="clock_w12.png"/>
          <p:cNvPicPr>
            <a:picLocks noChangeAspect="1"/>
          </p:cNvPicPr>
          <p:nvPr/>
        </p:nvPicPr>
        <p:blipFill>
          <a:blip r:embed="rId2"/>
          <a:stretch>
            <a:fillRect/>
          </a:stretch>
        </p:blipFill>
        <p:spPr>
          <a:xfrm>
            <a:off x="969195" y="1911095"/>
            <a:ext cx="10253304"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Eight blocks, and the shape is different this week. Thirty-five minutes of teaching, then ninety minutes of your own work with no answers from me, a defence round, and the weekly quiz at the end.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1</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Where we got to</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10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You can build features and measure what they were worth. Today you choose between models.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CHECK YOUR UNDERSTANDING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Two minutes: what stuck from Week 11?</a:t>
            </a:r>
          </a:p>
        </p:txBody>
      </p:sp>
      <p:sp>
        <p:nvSpPr>
          <p:cNvPr id="4" name="Oval 3"/>
          <p:cNvSpPr/>
          <p:nvPr/>
        </p:nvSpPr>
        <p:spPr>
          <a:xfrm>
            <a:off x="685800" y="194767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compare two models and each one got its own random train/test split. What have you learned about the two models?</a:t>
            </a:r>
          </a:p>
        </p:txBody>
      </p:sp>
      <p:sp>
        <p:nvSpPr>
          <p:cNvPr id="6" name="Oval 5"/>
          <p:cNvSpPr/>
          <p:nvPr/>
        </p:nvSpPr>
        <p:spPr>
          <a:xfrm>
            <a:off x="685800" y="2842075"/>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7" name="TextBox 6"/>
          <p:cNvSpPr txBox="1"/>
          <p:nvPr/>
        </p:nvSpPr>
        <p:spPr>
          <a:xfrm>
            <a:off x="1216152" y="2805499"/>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Your ablation table says a feature changed the metric by less than the fold-to-fold spread. What is the honest entry in the table?</a:t>
            </a:r>
          </a:p>
        </p:txBody>
      </p:sp>
      <p:sp>
        <p:nvSpPr>
          <p:cNvPr id="8" name="Oval 7"/>
          <p:cNvSpPr/>
          <p:nvPr/>
        </p:nvSpPr>
        <p:spPr>
          <a:xfrm>
            <a:off x="685800" y="3736478"/>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9" name="TextBox 8"/>
          <p:cNvSpPr txBox="1"/>
          <p:nvPr/>
        </p:nvSpPr>
        <p:spPr>
          <a:xfrm>
            <a:off x="1216152" y="3699902"/>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Name one model that needs its features scaled and one that does not care at all.</a:t>
            </a:r>
          </a:p>
        </p:txBody>
      </p:sp>
      <p:sp>
        <p:nvSpPr>
          <p:cNvPr id="10" name="TextBox 9"/>
          <p:cNvSpPr txBox="1"/>
          <p:nvPr/>
        </p:nvSpPr>
        <p:spPr>
          <a:xfrm>
            <a:off x="685800" y="6108192"/>
            <a:ext cx="10820095" cy="365760"/>
          </a:xfrm>
          <a:prstGeom prst="rect">
            <a:avLst/>
          </a:prstGeom>
          <a:noFill/>
        </p:spPr>
        <p:txBody>
          <a:bodyPr wrap="square" lIns="0" rIns="0" tIns="0" bIns="0" anchor="t">
            <a:spAutoFit/>
          </a:bodyPr>
          <a:lstStyle/>
          <a:p>
            <a:pPr algn="l">
              <a:spcAft>
                <a:spcPts val="600"/>
              </a:spcAft>
            </a:pPr>
            <a:r>
              <a:rPr sz="1584" b="0" i="1">
                <a:solidFill>
                  <a:srgbClr val="6B7A8A"/>
                </a:solidFill>
                <a:latin typeface="Calibri"/>
              </a:rPr>
              <a:t>Answers next slide.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ANSWERS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did you do?</a:t>
            </a:r>
          </a:p>
        </p:txBody>
      </p:sp>
      <p:sp>
        <p:nvSpPr>
          <p:cNvPr id="4" name="Oval 3"/>
          <p:cNvSpPr/>
          <p:nvPr/>
        </p:nvSpPr>
        <p:spPr>
          <a:xfrm>
            <a:off x="685800"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Two models, two different splits?</a:t>
            </a:r>
          </a:p>
        </p:txBody>
      </p:sp>
      <p:sp>
        <p:nvSpPr>
          <p:cNvPr id="6" name="TextBox 5"/>
          <p:cNvSpPr txBox="1"/>
          <p:nvPr/>
        </p:nvSpPr>
        <p:spPr>
          <a:xfrm>
            <a:off x="1216152" y="2203703"/>
            <a:ext cx="10253167" cy="820009"/>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Nothing about the two models. Two things changed at once, so you cannot attribute the difference to either of them. A few per cent of score difference is easily produced by the split alone.</a:t>
            </a:r>
          </a:p>
        </p:txBody>
      </p:sp>
      <p:sp>
        <p:nvSpPr>
          <p:cNvPr id="7" name="Oval 6"/>
          <p:cNvSpPr/>
          <p:nvPr/>
        </p:nvSpPr>
        <p:spPr>
          <a:xfrm>
            <a:off x="685800" y="3096865"/>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8" name="TextBox 7"/>
          <p:cNvSpPr txBox="1"/>
          <p:nvPr/>
        </p:nvSpPr>
        <p:spPr>
          <a:xfrm>
            <a:off x="1216152" y="3060289"/>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A change smaller than the spread?</a:t>
            </a:r>
          </a:p>
        </p:txBody>
      </p:sp>
      <p:sp>
        <p:nvSpPr>
          <p:cNvPr id="9" name="TextBox 8"/>
          <p:cNvSpPr txBox="1"/>
          <p:nvPr/>
        </p:nvSpPr>
        <p:spPr>
          <a:xfrm>
            <a:off x="1216152" y="3352897"/>
            <a:ext cx="10253167" cy="820009"/>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'No measurable effect', with both the change and the spread printed beside it. Then decide whether to keep the feature on other grounds, such as simplicity or the cost of collecting it.</a:t>
            </a:r>
          </a:p>
        </p:txBody>
      </p:sp>
      <p:sp>
        <p:nvSpPr>
          <p:cNvPr id="10" name="Oval 9"/>
          <p:cNvSpPr/>
          <p:nvPr/>
        </p:nvSpPr>
        <p:spPr>
          <a:xfrm>
            <a:off x="685800" y="4246058"/>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11" name="TextBox 10"/>
          <p:cNvSpPr txBox="1"/>
          <p:nvPr/>
        </p:nvSpPr>
        <p:spPr>
          <a:xfrm>
            <a:off x="1216152" y="4209482"/>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Scaled, and indifferent?</a:t>
            </a:r>
          </a:p>
        </p:txBody>
      </p:sp>
      <p:sp>
        <p:nvSpPr>
          <p:cNvPr id="12" name="TextBox 11"/>
          <p:cNvSpPr txBox="1"/>
          <p:nvPr/>
        </p:nvSpPr>
        <p:spPr>
          <a:xfrm>
            <a:off x="1216152" y="4502090"/>
            <a:ext cx="10253167" cy="1166005"/>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k-nearest neighbours needs scaling, because it measures straight-line distance in whatever units the columns arrived in. A decision tree does not care: a split on one column is unaffected by the units of any other.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2</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A fair comparison protocol</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20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What must be held constant, what may vary, and what a leaderboard is worth without one.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PROTOCOL</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Change one thing, hold everything else still</a:t>
            </a:r>
          </a:p>
        </p:txBody>
      </p:sp>
      <p:pic>
        <p:nvPicPr>
          <p:cNvPr id="4" name="Picture 3" descr="comparison_protocol.png"/>
          <p:cNvPicPr>
            <a:picLocks noChangeAspect="1"/>
          </p:cNvPicPr>
          <p:nvPr/>
        </p:nvPicPr>
        <p:blipFill>
          <a:blip r:embed="rId2"/>
          <a:stretch>
            <a:fillRect/>
          </a:stretch>
        </p:blipFill>
        <p:spPr>
          <a:xfrm>
            <a:off x="1665191" y="1911095"/>
            <a:ext cx="8861313"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The same split from one shuffle with one fixed seed, the same preprocessing fitted inside each fold, the same metric chosen before you looked at any result, and the same folds in the same order. Only the model on the right changes.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Comparison protocol, and a real difference</a:t>
            </a:r>
          </a:p>
        </p:txBody>
      </p:sp>
      <p:sp>
        <p:nvSpPr>
          <p:cNvPr id="4" name="Rounded Rectangle 3"/>
          <p:cNvSpPr/>
          <p:nvPr/>
        </p:nvSpPr>
        <p:spPr>
          <a:xfrm>
            <a:off x="685800" y="1854203"/>
            <a:ext cx="10820095" cy="1592685"/>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1245213"/>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A COMPARISON PROTOCOL fixes the split, the folds, the preprocessing and the metric, so the only thing varying between runs is the model. A difference between two scores is REAL when it is larger than the spread across folds.</a:t>
            </a:r>
          </a:p>
        </p:txBody>
      </p:sp>
      <p:sp>
        <p:nvSpPr>
          <p:cNvPr id="6" name="Rounded Rectangle 5"/>
          <p:cNvSpPr/>
          <p:nvPr/>
        </p:nvSpPr>
        <p:spPr>
          <a:xfrm>
            <a:off x="685800" y="3721209"/>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702921"/>
            <a:ext cx="880841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Model A scores 0.82 and model B scores 0.84, and each model's five folds are spread over 0.06. The two cannot be separated on this data, and the honest report says so.</a:t>
            </a:r>
          </a:p>
        </p:txBody>
      </p:sp>
      <p:sp>
        <p:nvSpPr>
          <p:cNvPr id="8" name="Rounded Rectangle 7"/>
          <p:cNvSpPr/>
          <p:nvPr/>
        </p:nvSpPr>
        <p:spPr>
          <a:xfrm>
            <a:off x="685800" y="4687522"/>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669234"/>
            <a:ext cx="7985455" cy="1092853"/>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A leaderboard. A leaderboard ranks numbers. Without a protocol it ranks the accidents of the splits as well as the models, and there is no way to tell the two apart.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SELECTION CRITERIA</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Five things that decide the choice besides accuracy</a:t>
            </a:r>
          </a:p>
        </p:txBody>
      </p:sp>
      <p:sp>
        <p:nvSpPr>
          <p:cNvPr id="4" name="TextBox 3"/>
          <p:cNvSpPr txBox="1"/>
          <p:nvPr/>
        </p:nvSpPr>
        <p:spPr>
          <a:xfrm>
            <a:off x="685800" y="1911095"/>
            <a:ext cx="5158587" cy="391658"/>
          </a:xfrm>
          <a:prstGeom prst="rect">
            <a:avLst/>
          </a:prstGeom>
          <a:noFill/>
        </p:spPr>
        <p:txBody>
          <a:bodyPr wrap="square" lIns="0" rIns="0" tIns="0" bIns="0" anchor="t">
            <a:spAutoFit/>
          </a:bodyPr>
          <a:lstStyle/>
          <a:p>
            <a:pPr algn="l">
              <a:lnSpc>
                <a:spcPct val="124000"/>
              </a:lnSpc>
              <a:spcAft>
                <a:spcPts val="600"/>
              </a:spcAft>
            </a:pPr>
            <a:r>
              <a:rPr sz="1716" b="1" i="0">
                <a:solidFill>
                  <a:srgbClr val="E4572E"/>
                </a:solidFill>
                <a:latin typeface="Calibri"/>
              </a:rPr>
              <a:t>1 · How much of it you can explain</a:t>
            </a:r>
          </a:p>
        </p:txBody>
      </p:sp>
      <p:sp>
        <p:nvSpPr>
          <p:cNvPr id="5" name="TextBox 4"/>
          <p:cNvSpPr txBox="1"/>
          <p:nvPr/>
        </p:nvSpPr>
        <p:spPr>
          <a:xfrm>
            <a:off x="685800" y="2311898"/>
            <a:ext cx="5158587" cy="909804"/>
          </a:xfrm>
          <a:prstGeom prst="rect">
            <a:avLst/>
          </a:prstGeom>
          <a:noFill/>
        </p:spPr>
        <p:txBody>
          <a:bodyPr wrap="square" lIns="0" rIns="0" tIns="0" bIns="0" anchor="t">
            <a:spAutoFit/>
          </a:bodyPr>
          <a:lstStyle/>
          <a:p>
            <a:pPr algn="l">
              <a:lnSpc>
                <a:spcPct val="124000"/>
              </a:lnSpc>
              <a:spcAft>
                <a:spcPts val="600"/>
              </a:spcAft>
            </a:pPr>
            <a:r>
              <a:rPr sz="1452" b="0" i="0">
                <a:solidFill>
                  <a:srgbClr val="334657"/>
                </a:solidFill>
                <a:latin typeface="Calibri"/>
              </a:rPr>
              <a:t>A decision you cannot explain line by line often cannot be used at all, whatever it scores. A false alarm costs four hours. A missed failure costs a gearbox and a week.</a:t>
            </a:r>
          </a:p>
        </p:txBody>
      </p:sp>
      <p:sp>
        <p:nvSpPr>
          <p:cNvPr id="6" name="TextBox 5"/>
          <p:cNvSpPr txBox="1"/>
          <p:nvPr/>
        </p:nvSpPr>
        <p:spPr>
          <a:xfrm>
            <a:off x="685800" y="3450303"/>
            <a:ext cx="5158587" cy="391658"/>
          </a:xfrm>
          <a:prstGeom prst="rect">
            <a:avLst/>
          </a:prstGeom>
          <a:noFill/>
        </p:spPr>
        <p:txBody>
          <a:bodyPr wrap="square" lIns="0" rIns="0" tIns="0" bIns="0" anchor="t">
            <a:spAutoFit/>
          </a:bodyPr>
          <a:lstStyle/>
          <a:p>
            <a:pPr algn="l">
              <a:lnSpc>
                <a:spcPct val="124000"/>
              </a:lnSpc>
              <a:spcAft>
                <a:spcPts val="600"/>
              </a:spcAft>
            </a:pPr>
            <a:r>
              <a:rPr sz="1716" b="1" i="0">
                <a:solidFill>
                  <a:srgbClr val="E4572E"/>
                </a:solidFill>
                <a:latin typeface="Calibri"/>
              </a:rPr>
              <a:t>2 · What it costs to train and to run</a:t>
            </a:r>
          </a:p>
        </p:txBody>
      </p:sp>
      <p:sp>
        <p:nvSpPr>
          <p:cNvPr id="7" name="TextBox 6"/>
          <p:cNvSpPr txBox="1"/>
          <p:nvPr/>
        </p:nvSpPr>
        <p:spPr>
          <a:xfrm>
            <a:off x="685800" y="3851105"/>
            <a:ext cx="5158587" cy="909804"/>
          </a:xfrm>
          <a:prstGeom prst="rect">
            <a:avLst/>
          </a:prstGeom>
          <a:noFill/>
        </p:spPr>
        <p:txBody>
          <a:bodyPr wrap="square" lIns="0" rIns="0" tIns="0" bIns="0" anchor="t">
            <a:spAutoFit/>
          </a:bodyPr>
          <a:lstStyle/>
          <a:p>
            <a:pPr algn="l">
              <a:lnSpc>
                <a:spcPct val="124000"/>
              </a:lnSpc>
              <a:spcAft>
                <a:spcPts val="600"/>
              </a:spcAft>
            </a:pPr>
            <a:r>
              <a:rPr sz="1452" b="0" i="0">
                <a:solidFill>
                  <a:srgbClr val="334657"/>
                </a:solidFill>
                <a:latin typeface="Calibri"/>
              </a:rPr>
              <a:t>A model retrained nightly on a plant server has a budget. A forest of 300 trees answering in milliseconds is usually fine; something that takes an hour is usually not.</a:t>
            </a:r>
          </a:p>
        </p:txBody>
      </p:sp>
      <p:sp>
        <p:nvSpPr>
          <p:cNvPr id="8" name="TextBox 7"/>
          <p:cNvSpPr txBox="1"/>
          <p:nvPr/>
        </p:nvSpPr>
        <p:spPr>
          <a:xfrm>
            <a:off x="685800" y="4989510"/>
            <a:ext cx="5158587" cy="391658"/>
          </a:xfrm>
          <a:prstGeom prst="rect">
            <a:avLst/>
          </a:prstGeom>
          <a:noFill/>
        </p:spPr>
        <p:txBody>
          <a:bodyPr wrap="square" lIns="0" rIns="0" tIns="0" bIns="0" anchor="t">
            <a:spAutoFit/>
          </a:bodyPr>
          <a:lstStyle/>
          <a:p>
            <a:pPr algn="l">
              <a:lnSpc>
                <a:spcPct val="124000"/>
              </a:lnSpc>
              <a:spcAft>
                <a:spcPts val="600"/>
              </a:spcAft>
            </a:pPr>
            <a:r>
              <a:rPr sz="1716" b="1" i="0">
                <a:solidFill>
                  <a:srgbClr val="E4572E"/>
                </a:solidFill>
                <a:latin typeface="Calibri"/>
              </a:rPr>
              <a:t>3 · How much data it needs</a:t>
            </a:r>
          </a:p>
        </p:txBody>
      </p:sp>
      <p:sp>
        <p:nvSpPr>
          <p:cNvPr id="9" name="TextBox 8"/>
          <p:cNvSpPr txBox="1"/>
          <p:nvPr/>
        </p:nvSpPr>
        <p:spPr>
          <a:xfrm>
            <a:off x="685800" y="5390313"/>
            <a:ext cx="5158587" cy="624824"/>
          </a:xfrm>
          <a:prstGeom prst="rect">
            <a:avLst/>
          </a:prstGeom>
          <a:noFill/>
        </p:spPr>
        <p:txBody>
          <a:bodyPr wrap="square" lIns="0" rIns="0" tIns="0" bIns="0" anchor="t">
            <a:spAutoFit/>
          </a:bodyPr>
          <a:lstStyle/>
          <a:p>
            <a:pPr algn="l">
              <a:lnSpc>
                <a:spcPct val="124000"/>
              </a:lnSpc>
              <a:spcAft>
                <a:spcPts val="600"/>
              </a:spcAft>
            </a:pPr>
            <a:r>
              <a:rPr sz="1452" b="0" i="0">
                <a:solidFill>
                  <a:srgbClr val="334657"/>
                </a:solidFill>
                <a:latin typeface="Calibri"/>
              </a:rPr>
              <a:t>Some methods need thousands of rows to beat a straight line. On four hundred rows the simpler model frequently wins outright.</a:t>
            </a:r>
          </a:p>
        </p:txBody>
      </p:sp>
      <p:sp>
        <p:nvSpPr>
          <p:cNvPr id="10" name="TextBox 9"/>
          <p:cNvSpPr txBox="1"/>
          <p:nvPr/>
        </p:nvSpPr>
        <p:spPr>
          <a:xfrm>
            <a:off x="6347307" y="1911095"/>
            <a:ext cx="5158587" cy="391658"/>
          </a:xfrm>
          <a:prstGeom prst="rect">
            <a:avLst/>
          </a:prstGeom>
          <a:noFill/>
        </p:spPr>
        <p:txBody>
          <a:bodyPr wrap="square" lIns="0" rIns="0" tIns="0" bIns="0" anchor="t">
            <a:spAutoFit/>
          </a:bodyPr>
          <a:lstStyle/>
          <a:p>
            <a:pPr algn="l">
              <a:lnSpc>
                <a:spcPct val="124000"/>
              </a:lnSpc>
              <a:spcAft>
                <a:spcPts val="600"/>
              </a:spcAft>
            </a:pPr>
            <a:r>
              <a:rPr sz="1716" b="1" i="0">
                <a:solidFill>
                  <a:srgbClr val="E4572E"/>
                </a:solidFill>
                <a:latin typeface="Calibri"/>
              </a:rPr>
              <a:t>4 · How it behaves when it is wrong</a:t>
            </a:r>
          </a:p>
        </p:txBody>
      </p:sp>
      <p:sp>
        <p:nvSpPr>
          <p:cNvPr id="11" name="TextBox 10"/>
          <p:cNvSpPr txBox="1"/>
          <p:nvPr/>
        </p:nvSpPr>
        <p:spPr>
          <a:xfrm>
            <a:off x="6347307" y="2311898"/>
            <a:ext cx="5158587" cy="909804"/>
          </a:xfrm>
          <a:prstGeom prst="rect">
            <a:avLst/>
          </a:prstGeom>
          <a:noFill/>
        </p:spPr>
        <p:txBody>
          <a:bodyPr wrap="square" lIns="0" rIns="0" tIns="0" bIns="0" anchor="t">
            <a:spAutoFit/>
          </a:bodyPr>
          <a:lstStyle/>
          <a:p>
            <a:pPr algn="l">
              <a:lnSpc>
                <a:spcPct val="124000"/>
              </a:lnSpc>
              <a:spcAft>
                <a:spcPts val="600"/>
              </a:spcAft>
            </a:pPr>
            <a:r>
              <a:rPr sz="1452" b="0" i="0">
                <a:solidFill>
                  <a:srgbClr val="334657"/>
                </a:solidFill>
                <a:latin typeface="Calibri"/>
              </a:rPr>
              <a:t>A model that fails gradually as conditions drift is safer than one that fails suddenly and confidently. Ask what happens outside the range it was trained on.</a:t>
            </a:r>
          </a:p>
        </p:txBody>
      </p:sp>
      <p:sp>
        <p:nvSpPr>
          <p:cNvPr id="12" name="TextBox 11"/>
          <p:cNvSpPr txBox="1"/>
          <p:nvPr/>
        </p:nvSpPr>
        <p:spPr>
          <a:xfrm>
            <a:off x="6347307" y="3450303"/>
            <a:ext cx="5158587" cy="391658"/>
          </a:xfrm>
          <a:prstGeom prst="rect">
            <a:avLst/>
          </a:prstGeom>
          <a:noFill/>
        </p:spPr>
        <p:txBody>
          <a:bodyPr wrap="square" lIns="0" rIns="0" tIns="0" bIns="0" anchor="t">
            <a:spAutoFit/>
          </a:bodyPr>
          <a:lstStyle/>
          <a:p>
            <a:pPr algn="l">
              <a:lnSpc>
                <a:spcPct val="124000"/>
              </a:lnSpc>
              <a:spcAft>
                <a:spcPts val="600"/>
              </a:spcAft>
            </a:pPr>
            <a:r>
              <a:rPr sz="1716" b="1" i="0">
                <a:solidFill>
                  <a:srgbClr val="E4572E"/>
                </a:solidFill>
                <a:latin typeface="Calibri"/>
              </a:rPr>
              <a:t>5 · Who has to maintain it</a:t>
            </a:r>
          </a:p>
        </p:txBody>
      </p:sp>
      <p:sp>
        <p:nvSpPr>
          <p:cNvPr id="13" name="TextBox 12"/>
          <p:cNvSpPr txBox="1"/>
          <p:nvPr/>
        </p:nvSpPr>
        <p:spPr>
          <a:xfrm>
            <a:off x="6347307" y="3851105"/>
            <a:ext cx="5158587" cy="909804"/>
          </a:xfrm>
          <a:prstGeom prst="rect">
            <a:avLst/>
          </a:prstGeom>
          <a:noFill/>
        </p:spPr>
        <p:txBody>
          <a:bodyPr wrap="square" lIns="0" rIns="0" tIns="0" bIns="0" anchor="t">
            <a:spAutoFit/>
          </a:bodyPr>
          <a:lstStyle/>
          <a:p>
            <a:pPr algn="l">
              <a:lnSpc>
                <a:spcPct val="124000"/>
              </a:lnSpc>
              <a:spcAft>
                <a:spcPts val="600"/>
              </a:spcAft>
            </a:pPr>
            <a:r>
              <a:rPr sz="1452" b="0" i="0">
                <a:solidFill>
                  <a:srgbClr val="334657"/>
                </a:solidFill>
                <a:latin typeface="Calibri"/>
              </a:rPr>
              <a:t>A model nobody on site understands stops being used within a year. That is a real engineering constraint and it belongs in your recommendation.</a:t>
            </a:r>
          </a:p>
        </p:txBody>
      </p:sp>
      <p:sp>
        <p:nvSpPr>
          <p:cNvPr id="14" name="TextBox 13"/>
          <p:cNvSpPr txBox="1"/>
          <p:nvPr/>
        </p:nvSpPr>
        <p:spPr>
          <a:xfrm>
            <a:off x="6347307" y="4989510"/>
            <a:ext cx="5158587" cy="391658"/>
          </a:xfrm>
          <a:prstGeom prst="rect">
            <a:avLst/>
          </a:prstGeom>
          <a:noFill/>
        </p:spPr>
        <p:txBody>
          <a:bodyPr wrap="square" lIns="0" rIns="0" tIns="0" bIns="0" anchor="t">
            <a:spAutoFit/>
          </a:bodyPr>
          <a:lstStyle/>
          <a:p>
            <a:pPr algn="l">
              <a:lnSpc>
                <a:spcPct val="124000"/>
              </a:lnSpc>
              <a:spcAft>
                <a:spcPts val="600"/>
              </a:spcAft>
            </a:pPr>
            <a:r>
              <a:rPr sz="1716" b="1" i="0">
                <a:solidFill>
                  <a:srgbClr val="E4572E"/>
                </a:solidFill>
                <a:latin typeface="Calibri"/>
              </a:rPr>
              <a:t>And the metric itself is a decision</a:t>
            </a:r>
          </a:p>
        </p:txBody>
      </p:sp>
      <p:sp>
        <p:nvSpPr>
          <p:cNvPr id="15" name="TextBox 14"/>
          <p:cNvSpPr txBox="1"/>
          <p:nvPr/>
        </p:nvSpPr>
        <p:spPr>
          <a:xfrm>
            <a:off x="6347307" y="5390313"/>
            <a:ext cx="5158587" cy="1194784"/>
          </a:xfrm>
          <a:prstGeom prst="rect">
            <a:avLst/>
          </a:prstGeom>
          <a:noFill/>
        </p:spPr>
        <p:txBody>
          <a:bodyPr wrap="square" lIns="0" rIns="0" tIns="0" bIns="0" anchor="t">
            <a:spAutoFit/>
          </a:bodyPr>
          <a:lstStyle/>
          <a:p>
            <a:pPr algn="l">
              <a:lnSpc>
                <a:spcPct val="124000"/>
              </a:lnSpc>
              <a:spcAft>
                <a:spcPts val="600"/>
              </a:spcAft>
            </a:pPr>
            <a:r>
              <a:rPr sz="1452" b="0" i="0">
                <a:solidFill>
                  <a:srgbClr val="334657"/>
                </a:solidFill>
                <a:latin typeface="Calibri"/>
              </a:rPr>
              <a:t>Work out what one false alarm and one missed failure each cost, in hours, before you choose a metric. The cost ratio here is roughly one to forty, and that ratio is what picks your metric and your threshold.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TRADE-OFF</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Accuracy against explainability, measured</a:t>
            </a:r>
          </a:p>
        </p:txBody>
      </p:sp>
      <p:pic>
        <p:nvPicPr>
          <p:cNvPr id="4" name="Picture 3" descr="tradeoff_map.png"/>
          <p:cNvPicPr>
            <a:picLocks noChangeAspect="1"/>
          </p:cNvPicPr>
          <p:nvPr/>
        </p:nvPicPr>
        <p:blipFill>
          <a:blip r:embed="rId2"/>
          <a:stretch>
            <a:fillRect/>
          </a:stretch>
        </p:blipFill>
        <p:spPr>
          <a:xfrm>
            <a:off x="1700851" y="1911095"/>
            <a:ext cx="8789993"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Four models on the same rows and the same held-out test set. The vertical axis is measured. The horizontal axis is a teaching judgement about how much of the model you could explain, and it carries no units.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CHECK YOUR UNDERSTANDING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Two minutes: check the protocol before you use it</a:t>
            </a:r>
          </a:p>
        </p:txBody>
      </p:sp>
      <p:sp>
        <p:nvSpPr>
          <p:cNvPr id="4" name="Oval 3"/>
          <p:cNvSpPr/>
          <p:nvPr/>
        </p:nvSpPr>
        <p:spPr>
          <a:xfrm>
            <a:off x="685800" y="194767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Name the four things a comparison protocol holds constant.</a:t>
            </a:r>
          </a:p>
        </p:txBody>
      </p:sp>
      <p:sp>
        <p:nvSpPr>
          <p:cNvPr id="6" name="Oval 5"/>
          <p:cNvSpPr/>
          <p:nvPr/>
        </p:nvSpPr>
        <p:spPr>
          <a:xfrm>
            <a:off x="685800" y="2486313"/>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7" name="TextBox 6"/>
          <p:cNvSpPr txBox="1"/>
          <p:nvPr/>
        </p:nvSpPr>
        <p:spPr>
          <a:xfrm>
            <a:off x="1216152" y="2449737"/>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Your best model scores 0.86 and your second scores 0.85, with folds spread over 0.05. Which do you recommend, and on what grounds?</a:t>
            </a:r>
          </a:p>
        </p:txBody>
      </p:sp>
      <p:sp>
        <p:nvSpPr>
          <p:cNvPr id="8" name="Oval 7"/>
          <p:cNvSpPr/>
          <p:nvPr/>
        </p:nvSpPr>
        <p:spPr>
          <a:xfrm>
            <a:off x="685800" y="3380716"/>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9" name="TextBox 8"/>
          <p:cNvSpPr txBox="1"/>
          <p:nvPr/>
        </p:nvSpPr>
        <p:spPr>
          <a:xfrm>
            <a:off x="1216152" y="3344140"/>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Your client has to explain every decision to a regulator. Which two of the five criteria have just become the deciding ones?</a:t>
            </a:r>
          </a:p>
        </p:txBody>
      </p:sp>
      <p:sp>
        <p:nvSpPr>
          <p:cNvPr id="10" name="TextBox 9"/>
          <p:cNvSpPr txBox="1"/>
          <p:nvPr/>
        </p:nvSpPr>
        <p:spPr>
          <a:xfrm>
            <a:off x="685800" y="6108192"/>
            <a:ext cx="10820095" cy="365760"/>
          </a:xfrm>
          <a:prstGeom prst="rect">
            <a:avLst/>
          </a:prstGeom>
          <a:noFill/>
        </p:spPr>
        <p:txBody>
          <a:bodyPr wrap="square" lIns="0" rIns="0" tIns="0" bIns="0" anchor="t">
            <a:spAutoFit/>
          </a:bodyPr>
          <a:lstStyle/>
          <a:p>
            <a:pPr algn="l">
              <a:spcAft>
                <a:spcPts val="600"/>
              </a:spcAft>
            </a:pPr>
            <a:r>
              <a:rPr sz="1584" b="0" i="1">
                <a:solidFill>
                  <a:srgbClr val="6B7A8A"/>
                </a:solidFill>
                <a:latin typeface="Calibri"/>
              </a:rPr>
              <a:t>Answers next slide. You need all three during the challenge.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ANSWERS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did you do?</a:t>
            </a:r>
          </a:p>
        </p:txBody>
      </p:sp>
      <p:sp>
        <p:nvSpPr>
          <p:cNvPr id="4" name="Oval 3"/>
          <p:cNvSpPr/>
          <p:nvPr/>
        </p:nvSpPr>
        <p:spPr>
          <a:xfrm>
            <a:off x="685800"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The four constants?</a:t>
            </a:r>
          </a:p>
        </p:txBody>
      </p:sp>
      <p:sp>
        <p:nvSpPr>
          <p:cNvPr id="6" name="TextBox 5"/>
          <p:cNvSpPr txBox="1"/>
          <p:nvPr/>
        </p:nvSpPr>
        <p:spPr>
          <a:xfrm>
            <a:off x="1216152" y="2203703"/>
            <a:ext cx="10253167" cy="1166005"/>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The split, from one shuffle with one fixed seed. The preprocessing, fitted inside each fold. The metric, chosen before you looked at any result. And the folds themselves, the same ones in the same order for every candidate.</a:t>
            </a:r>
          </a:p>
        </p:txBody>
      </p:sp>
      <p:sp>
        <p:nvSpPr>
          <p:cNvPr id="7" name="Oval 6"/>
          <p:cNvSpPr/>
          <p:nvPr/>
        </p:nvSpPr>
        <p:spPr>
          <a:xfrm>
            <a:off x="685800" y="3442861"/>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8" name="TextBox 7"/>
          <p:cNvSpPr txBox="1"/>
          <p:nvPr/>
        </p:nvSpPr>
        <p:spPr>
          <a:xfrm>
            <a:off x="1216152" y="3406285"/>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0.86 against 0.85, spread 0.05?</a:t>
            </a:r>
          </a:p>
        </p:txBody>
      </p:sp>
      <p:sp>
        <p:nvSpPr>
          <p:cNvPr id="9" name="TextBox 8"/>
          <p:cNvSpPr txBox="1"/>
          <p:nvPr/>
        </p:nvSpPr>
        <p:spPr>
          <a:xfrm>
            <a:off x="1216152" y="3698893"/>
            <a:ext cx="10253167" cy="1166005"/>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The gap is a fifth of the spread, so the two cannot be separated on this data. Say that, then recommend on the other criteria: explainability, cost, data hunger, failure behaviour, or maintenance. Whichever you choose, the reason is what earns the mark.</a:t>
            </a:r>
          </a:p>
        </p:txBody>
      </p:sp>
      <p:sp>
        <p:nvSpPr>
          <p:cNvPr id="10" name="Oval 9"/>
          <p:cNvSpPr/>
          <p:nvPr/>
        </p:nvSpPr>
        <p:spPr>
          <a:xfrm>
            <a:off x="685800" y="4938051"/>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11" name="TextBox 10"/>
          <p:cNvSpPr txBox="1"/>
          <p:nvPr/>
        </p:nvSpPr>
        <p:spPr>
          <a:xfrm>
            <a:off x="1216152" y="4901475"/>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A regulator has to be satisfied?</a:t>
            </a:r>
          </a:p>
        </p:txBody>
      </p:sp>
      <p:sp>
        <p:nvSpPr>
          <p:cNvPr id="12" name="TextBox 11"/>
          <p:cNvSpPr txBox="1"/>
          <p:nvPr/>
        </p:nvSpPr>
        <p:spPr>
          <a:xfrm>
            <a:off x="1216152" y="5194083"/>
            <a:ext cx="10253167" cy="1166005"/>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Explainability and failure behaviour. A regulator needs to be told why a particular decision was made and what happens when the model is wrong, and neither question can be answered from an accuracy figure.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3</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Tuning inside cross-validation</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One worked search, and the reason it has to happen inside the folds.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TUNING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A grid search is a table you fill in, then read</a:t>
            </a:r>
          </a:p>
        </p:txBody>
      </p:sp>
      <p:pic>
        <p:nvPicPr>
          <p:cNvPr id="4" name="Picture 3" descr="gridsearch.png"/>
          <p:cNvPicPr>
            <a:picLocks noChangeAspect="1"/>
          </p:cNvPicPr>
          <p:nvPr/>
        </p:nvPicPr>
        <p:blipFill>
          <a:blip r:embed="rId2"/>
          <a:stretch>
            <a:fillRect/>
          </a:stretch>
        </p:blipFill>
        <p:spPr>
          <a:xfrm>
            <a:off x="1627192" y="1911095"/>
            <a:ext cx="8937311"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Seven depths by four leaf sizes by five folds is 140 models fitted to produce one table. Darker is lower error. The ringed cell is the best mean across the same five folds.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Parameter and hyperparameter</a:t>
            </a:r>
          </a:p>
        </p:txBody>
      </p:sp>
      <p:sp>
        <p:nvSpPr>
          <p:cNvPr id="4" name="Rounded Rectangle 3"/>
          <p:cNvSpPr/>
          <p:nvPr/>
        </p:nvSpPr>
        <p:spPr>
          <a:xfrm>
            <a:off x="685800" y="1854203"/>
            <a:ext cx="10820095" cy="1592685"/>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1245213"/>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A PARAMETER is a number the fitting procedure works out from the data — the coefficients of a regression, the thresholds in a tree. A HYPERPARAMETER is a number you choose before fitting begins — the depth of the tree, the number of neighbours, the strength of a penalty.</a:t>
            </a:r>
          </a:p>
        </p:txBody>
      </p:sp>
      <p:sp>
        <p:nvSpPr>
          <p:cNvPr id="6" name="Rounded Rectangle 5"/>
          <p:cNvSpPr/>
          <p:nvPr/>
        </p:nvSpPr>
        <p:spPr>
          <a:xfrm>
            <a:off x="685800" y="3721209"/>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702921"/>
            <a:ext cx="8808415" cy="1092853"/>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In a depth-4 tree, 4 is a hyperparameter you set. The 15 split thresholds inside it are parameters the fit found. A grid search searches hyperparameters, and fitting finds parameters.</a:t>
            </a:r>
          </a:p>
        </p:txBody>
      </p:sp>
      <p:sp>
        <p:nvSpPr>
          <p:cNvPr id="8" name="Rounded Rectangle 7"/>
          <p:cNvSpPr/>
          <p:nvPr/>
        </p:nvSpPr>
        <p:spPr>
          <a:xfrm>
            <a:off x="685800" y="5033519"/>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5015231"/>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Each other, and it matters for what you can search. You cannot grid-search the coefficients of a regression: fitting is what produces them.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LIVE CODING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One search, inside the folds</a:t>
            </a:r>
          </a:p>
        </p:txBody>
      </p:sp>
      <p:sp>
        <p:nvSpPr>
          <p:cNvPr id="4" name="Rounded Rectangle 3"/>
          <p:cNvSpPr/>
          <p:nvPr/>
        </p:nvSpPr>
        <p:spPr>
          <a:xfrm>
            <a:off x="6736970" y="512064"/>
            <a:ext cx="4768925"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OPEN COLAB — ONE SEARCH, THEN BREAK IT</a:t>
            </a:r>
          </a:p>
        </p:txBody>
      </p:sp>
      <p:sp>
        <p:nvSpPr>
          <p:cNvPr id="5" name="Rectangle 4"/>
          <p:cNvSpPr/>
          <p:nvPr/>
        </p:nvSpPr>
        <p:spPr>
          <a:xfrm>
            <a:off x="685800" y="1911095"/>
            <a:ext cx="10820095" cy="3564785"/>
          </a:xfrm>
          <a:prstGeom prst="rect">
            <a:avLst/>
          </a:prstGeom>
          <a:solidFill>
            <a:srgbClr val="1624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78408" y="2057400"/>
            <a:ext cx="10234879" cy="3272177"/>
          </a:xfrm>
          <a:prstGeom prst="rect">
            <a:avLst/>
          </a:prstGeom>
          <a:noFill/>
        </p:spPr>
        <p:txBody>
          <a:bodyPr wrap="square" lIns="0" rIns="0" tIns="0" bIns="0" anchor="t">
            <a:spAutoFit/>
          </a:bodyPr>
          <a:lstStyle/>
          <a:p>
            <a:pPr algn="l">
              <a:lnSpc>
                <a:spcPts val="1795"/>
              </a:lnSpc>
              <a:spcAft>
                <a:spcPts val="0"/>
              </a:spcAft>
            </a:pPr>
            <a:r>
              <a:rPr sz="1320" b="0" i="0">
                <a:solidFill>
                  <a:srgbClr val="D8E3EC"/>
                </a:solidFill>
                <a:latin typeface="Courier New"/>
              </a:rPr>
              <a:t>from sklearn.model_selection import GridSearchCV, train_test_split</a:t>
            </a:r>
          </a:p>
          <a:p>
            <a:pPr algn="l">
              <a:lnSpc>
                <a:spcPts val="1795"/>
              </a:lnSpc>
              <a:spcAft>
                <a:spcPts val="0"/>
              </a:spcAft>
            </a:pPr>
            <a:r>
              <a:rPr sz="1320" b="0" i="0">
                <a:solidFill>
                  <a:srgbClr val="D8E3EC"/>
                </a:solidFill>
                <a:latin typeface="Courier New"/>
              </a:rPr>
              <a:t>from sklearn.pipeline import Pipeline</a:t>
            </a:r>
          </a:p>
          <a:p>
            <a:pPr algn="l">
              <a:lnSpc>
                <a:spcPts val="1795"/>
              </a:lnSpc>
              <a:spcAft>
                <a:spcPts val="0"/>
              </a:spcAft>
            </a:pPr>
            <a:r>
              <a:rPr sz="1320" b="0" i="0">
                <a:solidFill>
                  <a:srgbClr val="D8E3EC"/>
                </a:solidFill>
                <a:latin typeface="Courier New"/>
              </a:rPr>
              <a:t>from sklearn.impute import SimpleImputer</a:t>
            </a:r>
          </a:p>
          <a:p>
            <a:pPr algn="l">
              <a:lnSpc>
                <a:spcPts val="1795"/>
              </a:lnSpc>
              <a:spcAft>
                <a:spcPts val="0"/>
              </a:spcAft>
            </a:pPr>
            <a:r>
              <a:rPr sz="1320" b="0" i="0">
                <a:solidFill>
                  <a:srgbClr val="D8E3EC"/>
                </a:solidFill>
                <a:latin typeface="Courier New"/>
              </a:rPr>
              <a:t>from sklearn.tree import DecisionTreeRegressor</a:t>
            </a:r>
          </a:p>
          <a:p>
            <a:pPr algn="l">
              <a:lnSpc>
                <a:spcPts val="1795"/>
              </a:lnSpc>
              <a:spcAft>
                <a:spcPts val="0"/>
              </a:spcAft>
            </a:pPr>
            <a:r>
              <a:rPr sz="1320" b="0" i="0">
                <a:solidFill>
                  <a:srgbClr val="D8E3EC"/>
                </a:solidFill>
                <a:latin typeface="Courier New"/>
              </a:rPr>
              <a:t/>
            </a:r>
          </a:p>
          <a:p>
            <a:pPr algn="l">
              <a:lnSpc>
                <a:spcPts val="1795"/>
              </a:lnSpc>
              <a:spcAft>
                <a:spcPts val="0"/>
              </a:spcAft>
            </a:pPr>
            <a:r>
              <a:rPr sz="1320" b="0" i="0">
                <a:solidFill>
                  <a:srgbClr val="D8E3EC"/>
                </a:solidFill>
                <a:latin typeface="Courier New"/>
              </a:rPr>
              <a:t>X_tr, X_te, y_tr, y_te = train_test_split(X, y, test_size=0.2,</a:t>
            </a:r>
          </a:p>
          <a:p>
            <a:pPr algn="l">
              <a:lnSpc>
                <a:spcPts val="1795"/>
              </a:lnSpc>
              <a:spcAft>
                <a:spcPts val="0"/>
              </a:spcAft>
            </a:pPr>
            <a:r>
              <a:rPr sz="1320" b="0" i="0">
                <a:solidFill>
                  <a:srgbClr val="D8E3EC"/>
                </a:solidFill>
                <a:latin typeface="Courier New"/>
              </a:rPr>
              <a:t>                                          random_state=42)</a:t>
            </a:r>
          </a:p>
          <a:p>
            <a:pPr algn="l">
              <a:lnSpc>
                <a:spcPts val="1795"/>
              </a:lnSpc>
              <a:spcAft>
                <a:spcPts val="0"/>
              </a:spcAft>
            </a:pPr>
            <a:r>
              <a:rPr sz="1320" b="0" i="0">
                <a:solidFill>
                  <a:srgbClr val="D8E3EC"/>
                </a:solidFill>
                <a:latin typeface="Courier New"/>
              </a:rPr>
              <a:t/>
            </a:r>
          </a:p>
          <a:p>
            <a:pPr algn="l">
              <a:lnSpc>
                <a:spcPts val="1795"/>
              </a:lnSpc>
              <a:spcAft>
                <a:spcPts val="0"/>
              </a:spcAft>
            </a:pPr>
            <a:r>
              <a:rPr sz="1320" b="0" i="0">
                <a:solidFill>
                  <a:srgbClr val="D8E3EC"/>
                </a:solidFill>
                <a:latin typeface="Courier New"/>
              </a:rPr>
              <a:t>pipe = Pipeline([("prep", SimpleImputer(strategy="median")),</a:t>
            </a:r>
          </a:p>
          <a:p>
            <a:pPr algn="l">
              <a:lnSpc>
                <a:spcPts val="1795"/>
              </a:lnSpc>
              <a:spcAft>
                <a:spcPts val="0"/>
              </a:spcAft>
            </a:pPr>
            <a:r>
              <a:rPr sz="1320" b="0" i="0">
                <a:solidFill>
                  <a:srgbClr val="D8E3EC"/>
                </a:solidFill>
                <a:latin typeface="Courier New"/>
              </a:rPr>
              <a:t>                 ("fit", DecisionTreeRegressor(random_state=42))])</a:t>
            </a:r>
          </a:p>
          <a:p>
            <a:pPr algn="l">
              <a:lnSpc>
                <a:spcPts val="1795"/>
              </a:lnSpc>
              <a:spcAft>
                <a:spcPts val="0"/>
              </a:spcAft>
            </a:pPr>
            <a:r>
              <a:rPr sz="1320" b="0" i="0">
                <a:solidFill>
                  <a:srgbClr val="D8E3EC"/>
                </a:solidFill>
                <a:latin typeface="Courier New"/>
              </a:rPr>
              <a:t/>
            </a:r>
          </a:p>
          <a:p>
            <a:pPr algn="l">
              <a:lnSpc>
                <a:spcPts val="1795"/>
              </a:lnSpc>
              <a:spcAft>
                <a:spcPts val="0"/>
              </a:spcAft>
            </a:pPr>
            <a:r>
              <a:rPr sz="1320" b="0" i="0">
                <a:solidFill>
                  <a:srgbClr val="D8E3EC"/>
                </a:solidFill>
                <a:latin typeface="Courier New"/>
              </a:rPr>
              <a:t>grid = {"fit__max_depth": [2, 3, 4, 5, 6, 8, 10],</a:t>
            </a:r>
          </a:p>
          <a:p>
            <a:pPr algn="l">
              <a:lnSpc>
                <a:spcPts val="1795"/>
              </a:lnSpc>
              <a:spcAft>
                <a:spcPts val="0"/>
              </a:spcAft>
            </a:pPr>
            <a:r>
              <a:rPr sz="1320" b="0" i="0">
                <a:solidFill>
                  <a:srgbClr val="D8E3EC"/>
                </a:solidFill>
                <a:latin typeface="Courier New"/>
              </a:rPr>
              <a:t>        "fit__min_samples_leaf": [1, 4, 16, 50]}</a:t>
            </a:r>
          </a:p>
          <a:p>
            <a:pPr algn="l">
              <a:lnSpc>
                <a:spcPts val="1795"/>
              </a:lnSpc>
              <a:spcAft>
                <a:spcPts val="0"/>
              </a:spcAft>
            </a:pPr>
            <a:r>
              <a:rPr sz="1320" b="0" i="0">
                <a:solidFill>
                  <a:srgbClr val="D8E3EC"/>
                </a:solidFill>
                <a:latin typeface="Courier New"/>
              </a:rPr>
              <a:t/>
            </a:r>
          </a:p>
          <a:p>
            <a:pPr algn="l">
              <a:lnSpc>
                <a:spcPts val="1795"/>
              </a:lnSpc>
              <a:spcAft>
                <a:spcPts val="0"/>
              </a:spcAft>
            </a:pPr>
            <a:r>
              <a:rPr sz="1320" b="0" i="0">
                <a:solidFill>
                  <a:srgbClr val="D8E3EC"/>
                </a:solidFill>
                <a:latin typeface="Courier New"/>
              </a:rPr>
              <a:t>search = GridSearchCV(pipe, grid, cv=5,</a:t>
            </a:r>
          </a:p>
          <a:p>
            <a:pPr algn="l">
              <a:lnSpc>
                <a:spcPts val="1795"/>
              </a:lnSpc>
              <a:spcAft>
                <a:spcPts val="0"/>
              </a:spcAft>
            </a:pPr>
            <a:r>
              <a:rPr sz="1320" b="0" i="0">
                <a:solidFill>
                  <a:srgbClr val="D8E3EC"/>
                </a:solidFill>
                <a:latin typeface="Courier New"/>
              </a:rPr>
              <a:t>                      scoring="neg_mean_absolute_error")</a:t>
            </a:r>
          </a:p>
          <a:p>
            <a:pPr algn="l">
              <a:lnSpc>
                <a:spcPts val="1795"/>
              </a:lnSpc>
              <a:spcAft>
                <a:spcPts val="0"/>
              </a:spcAft>
            </a:pPr>
            <a:r>
              <a:rPr sz="1320" b="0" i="0">
                <a:solidFill>
                  <a:srgbClr val="D8E3EC"/>
                </a:solidFill>
                <a:latin typeface="Courier New"/>
              </a:rPr>
              <a:t>search.fit(X_tr, y_tr)           # the test set is untouched</a:t>
            </a:r>
          </a:p>
          <a:p>
            <a:pPr algn="l">
              <a:lnSpc>
                <a:spcPts val="1795"/>
              </a:lnSpc>
              <a:spcAft>
                <a:spcPts val="0"/>
              </a:spcAft>
            </a:pPr>
            <a:r>
              <a:rPr sz="1320" b="0" i="0">
                <a:solidFill>
                  <a:srgbClr val="D8E3EC"/>
                </a:solidFill>
                <a:latin typeface="Courier New"/>
              </a:rPr>
              <a:t/>
            </a:r>
          </a:p>
          <a:p>
            <a:pPr algn="l">
              <a:lnSpc>
                <a:spcPts val="1795"/>
              </a:lnSpc>
              <a:spcAft>
                <a:spcPts val="0"/>
              </a:spcAft>
            </a:pPr>
            <a:r>
              <a:rPr sz="1320" b="0" i="0">
                <a:solidFill>
                  <a:srgbClr val="D8E3EC"/>
                </a:solidFill>
                <a:latin typeface="Courier New"/>
              </a:rPr>
              <a:t>print(search.best_params_, -search.best_score_)</a:t>
            </a:r>
          </a:p>
          <a:p>
            <a:pPr algn="l">
              <a:lnSpc>
                <a:spcPts val="1795"/>
              </a:lnSpc>
              <a:spcAft>
                <a:spcPts val="0"/>
              </a:spcAft>
            </a:pPr>
            <a:r>
              <a:rPr sz="1320" b="0" i="0">
                <a:solidFill>
                  <a:srgbClr val="D8E3EC"/>
                </a:solidFill>
                <a:latin typeface="Courier New"/>
              </a:rPr>
              <a:t>print("held-out:", -search.score(X_te, y_te))</a:t>
            </a:r>
          </a:p>
        </p:txBody>
      </p:sp>
      <p:sp>
        <p:nvSpPr>
          <p:cNvPr id="7" name="Rounded Rectangle 6"/>
          <p:cNvSpPr/>
          <p:nvPr/>
        </p:nvSpPr>
        <p:spPr>
          <a:xfrm>
            <a:off x="685800" y="5695337"/>
            <a:ext cx="30175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NOW BREAK IT ON PURPOSE</a:t>
            </a:r>
          </a:p>
        </p:txBody>
      </p:sp>
      <p:sp>
        <p:nvSpPr>
          <p:cNvPr id="8" name="TextBox 7"/>
          <p:cNvSpPr txBox="1"/>
          <p:nvPr/>
        </p:nvSpPr>
        <p:spPr>
          <a:xfrm>
            <a:off x="4297680" y="5704481"/>
            <a:ext cx="7208215" cy="1016358"/>
          </a:xfrm>
          <a:prstGeom prst="rect">
            <a:avLst/>
          </a:prstGeom>
          <a:noFill/>
        </p:spPr>
        <p:txBody>
          <a:bodyPr wrap="square" lIns="0" rIns="0" tIns="0" bIns="0" anchor="t">
            <a:spAutoFit/>
          </a:bodyPr>
          <a:lstStyle/>
          <a:p>
            <a:pPr algn="l">
              <a:lnSpc>
                <a:spcPct val="118000"/>
              </a:lnSpc>
              <a:spcAft>
                <a:spcPts val="600"/>
              </a:spcAft>
            </a:pPr>
            <a:r>
              <a:rPr sz="1716" b="0" i="0">
                <a:solidFill>
                  <a:srgbClr val="1C3144"/>
                </a:solidFill>
                <a:latin typeface="Calibri"/>
              </a:rPr>
              <a:t>Change search.fit(X_tr, y_tr) to search.fit(X, y) and re-run. The held-out number improves, and it now means nothing: the winning cell was chosen using the very rows you then check it against.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DEFERRED TO SEMESTER 2</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Gradient boosting, named and then set aside</a:t>
            </a:r>
          </a:p>
        </p:txBody>
      </p:sp>
      <p:sp>
        <p:nvSpPr>
          <p:cNvPr id="4" name="TextBox 3"/>
          <p:cNvSpPr txBox="1"/>
          <p:nvPr/>
        </p:nvSpPr>
        <p:spPr>
          <a:xfrm>
            <a:off x="685800" y="1911095"/>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What it is, in one sentence</a:t>
            </a:r>
          </a:p>
        </p:txBody>
      </p:sp>
      <p:sp>
        <p:nvSpPr>
          <p:cNvPr id="5" name="TextBox 4"/>
          <p:cNvSpPr txBox="1"/>
          <p:nvPr/>
        </p:nvSpPr>
        <p:spPr>
          <a:xfrm>
            <a:off x="685800" y="2322358"/>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It fits a small tree, looks at what that tree got wrong, fits a second tree to the errors, and keeps going. XGBoost and LightGBM are the two implementations you will see.</a:t>
            </a:r>
          </a:p>
        </p:txBody>
      </p:sp>
      <p:sp>
        <p:nvSpPr>
          <p:cNvPr id="6" name="TextBox 5"/>
          <p:cNvSpPr txBox="1"/>
          <p:nvPr/>
        </p:nvSpPr>
        <p:spPr>
          <a:xfrm>
            <a:off x="685800" y="3499624"/>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Why it comes up</a:t>
            </a:r>
          </a:p>
        </p:txBody>
      </p:sp>
      <p:sp>
        <p:nvSpPr>
          <p:cNvPr id="7" name="TextBox 6"/>
          <p:cNvSpPr txBox="1"/>
          <p:nvPr/>
        </p:nvSpPr>
        <p:spPr>
          <a:xfrm>
            <a:off x="685800" y="3910886"/>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On tabular engineering data it is usually the most accurate thing available, and it wins most public competitions on data of this shape.</a:t>
            </a:r>
          </a:p>
        </p:txBody>
      </p:sp>
      <p:sp>
        <p:nvSpPr>
          <p:cNvPr id="8" name="TextBox 7"/>
          <p:cNvSpPr txBox="1"/>
          <p:nvPr/>
        </p:nvSpPr>
        <p:spPr>
          <a:xfrm>
            <a:off x="685800" y="5088152"/>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Why it is not in this course</a:t>
            </a:r>
          </a:p>
        </p:txBody>
      </p:sp>
      <p:sp>
        <p:nvSpPr>
          <p:cNvPr id="9" name="TextBox 8"/>
          <p:cNvSpPr txBox="1"/>
          <p:nvPr/>
        </p:nvSpPr>
        <p:spPr>
          <a:xfrm>
            <a:off x="685800" y="5499414"/>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It has a dozen hyperparameters that interact, and tuning it well is a skill of its own. Semester 2 gives it the time it needs.</a:t>
            </a:r>
          </a:p>
        </p:txBody>
      </p:sp>
      <p:sp>
        <p:nvSpPr>
          <p:cNvPr id="10" name="TextBox 9"/>
          <p:cNvSpPr txBox="1"/>
          <p:nvPr/>
        </p:nvSpPr>
        <p:spPr>
          <a:xfrm>
            <a:off x="6347307" y="1911095"/>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What to do with that this week</a:t>
            </a:r>
          </a:p>
        </p:txBody>
      </p:sp>
      <p:sp>
        <p:nvSpPr>
          <p:cNvPr id="11" name="TextBox 10"/>
          <p:cNvSpPr txBox="1"/>
          <p:nvPr/>
        </p:nvSpPr>
        <p:spPr>
          <a:xfrm>
            <a:off x="6347307" y="2322358"/>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You may name it in your recommendation as an option you did not take, with a reason. You may not submit it as one of your four candidates.</a:t>
            </a:r>
          </a:p>
        </p:txBody>
      </p:sp>
      <p:sp>
        <p:nvSpPr>
          <p:cNvPr id="12" name="TextBox 11"/>
          <p:cNvSpPr txBox="1"/>
          <p:nvPr/>
        </p:nvSpPr>
        <p:spPr>
          <a:xfrm>
            <a:off x="6347307" y="3499624"/>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And the reason the tool is not the lesson</a:t>
            </a:r>
          </a:p>
        </p:txBody>
      </p:sp>
      <p:sp>
        <p:nvSpPr>
          <p:cNvPr id="13" name="TextBox 12"/>
          <p:cNvSpPr txBox="1"/>
          <p:nvPr/>
        </p:nvSpPr>
        <p:spPr>
          <a:xfrm>
            <a:off x="6347307" y="3910886"/>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A boosted model you cannot explain, validated with a protocol you did not fix, is worth less than a straight line you can defend. The protocol is what this week examines.</a:t>
            </a:r>
          </a:p>
        </p:txBody>
      </p:sp>
      <p:sp>
        <p:nvSpPr>
          <p:cNvPr id="14" name="TextBox 13"/>
          <p:cNvSpPr txBox="1"/>
          <p:nvPr/>
        </p:nvSpPr>
        <p:spPr>
          <a:xfrm>
            <a:off x="6347307" y="5088152"/>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If you want to read ahead</a:t>
            </a:r>
          </a:p>
        </p:txBody>
      </p:sp>
      <p:sp>
        <p:nvSpPr>
          <p:cNvPr id="15" name="TextBox 14"/>
          <p:cNvSpPr txBox="1"/>
          <p:nvPr/>
        </p:nvSpPr>
        <p:spPr>
          <a:xfrm>
            <a:off x="6347307" y="5499414"/>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The XGBoost documentation's own introduction to boosted trees is short and honest, and it will make more sense after Week 13's work on reproducibility.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280160"/>
          </a:xfrm>
          <a:prstGeom prst="rect">
            <a:avLst/>
          </a:prstGeom>
          <a:noFill/>
        </p:spPr>
        <p:txBody>
          <a:bodyPr wrap="square" lIns="0" rIns="0" tIns="0" bIns="0" anchor="t">
            <a:spAutoFit/>
          </a:bodyPr>
          <a:lstStyle/>
          <a:p>
            <a:pPr algn="ctr">
              <a:spcAft>
                <a:spcPts val="600"/>
              </a:spcAft>
            </a:pPr>
            <a:r>
              <a:rPr sz="5400" b="1" i="0">
                <a:solidFill>
                  <a:srgbClr val="FFFFFF"/>
                </a:solidFill>
                <a:latin typeface="Cambria"/>
              </a:rPr>
              <a:t>Break</a:t>
            </a:r>
          </a:p>
        </p:txBody>
      </p:sp>
      <p:sp>
        <p:nvSpPr>
          <p:cNvPr id="4" name="TextBox 3"/>
          <p:cNvSpPr txBox="1"/>
          <p:nvPr/>
        </p:nvSpPr>
        <p:spPr>
          <a:xfrm>
            <a:off x="685800" y="3749039"/>
            <a:ext cx="10820095" cy="548640"/>
          </a:xfrm>
          <a:prstGeom prst="rect">
            <a:avLst/>
          </a:prstGeom>
          <a:noFill/>
        </p:spPr>
        <p:txBody>
          <a:bodyPr wrap="square" lIns="0" rIns="0" tIns="0" bIns="0" anchor="t">
            <a:spAutoFit/>
          </a:bodyPr>
          <a:lstStyle/>
          <a:p>
            <a:pPr algn="ctr">
              <a:spcAft>
                <a:spcPts val="600"/>
              </a:spcAft>
            </a:pPr>
            <a:r>
              <a:rPr sz="2531" b="0" i="0">
                <a:solidFill>
                  <a:srgbClr val="E4572E"/>
                </a:solidFill>
                <a:latin typeface="Calibri"/>
              </a:rPr>
              <a:t>10 minutes</a:t>
            </a:r>
          </a:p>
        </p:txBody>
      </p:sp>
      <p:sp>
        <p:nvSpPr>
          <p:cNvPr id="5" name="TextBox 4"/>
          <p:cNvSpPr txBox="1"/>
          <p:nvPr/>
        </p:nvSpPr>
        <p:spPr>
          <a:xfrm>
            <a:off x="685800" y="4572000"/>
            <a:ext cx="10820095" cy="548640"/>
          </a:xfrm>
          <a:prstGeom prst="rect">
            <a:avLst/>
          </a:prstGeom>
          <a:noFill/>
        </p:spPr>
        <p:txBody>
          <a:bodyPr wrap="square" lIns="0" rIns="0" tIns="0" bIns="0" anchor="t">
            <a:spAutoFit/>
          </a:bodyPr>
          <a:lstStyle/>
          <a:p>
            <a:pPr algn="ctr">
              <a:spcAft>
                <a:spcPts val="600"/>
              </a:spcAft>
            </a:pPr>
            <a:r>
              <a:rPr sz="1821" b="0" i="0">
                <a:solidFill>
                  <a:srgbClr val="8EA4B8"/>
                </a:solidFill>
                <a:latin typeface="Calibri"/>
              </a:rPr>
              <a:t>Stretch, and talk to someone you have not worked with. Be back on time: the longest working block of the session is next.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4</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Engineering AI Challenge: choose a model and defend it</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90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An unfamiliar dataset, a client with a real constraint, and no answers from me for the next hour and three quarters.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05156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YOUR CLIENT, AND WHAT THEY ASKED FOR</a:t>
            </a:r>
          </a:p>
        </p:txBody>
      </p:sp>
      <p:sp>
        <p:nvSpPr>
          <p:cNvPr id="4" name="TextBox 3"/>
          <p:cNvSpPr txBox="1"/>
          <p:nvPr/>
        </p:nvSpPr>
        <p:spPr>
          <a:xfrm>
            <a:off x="685800" y="1691640"/>
            <a:ext cx="10820095" cy="2743200"/>
          </a:xfrm>
          <a:prstGeom prst="rect">
            <a:avLst/>
          </a:prstGeom>
          <a:noFill/>
        </p:spPr>
        <p:txBody>
          <a:bodyPr wrap="square" lIns="0" rIns="0" tIns="0" bIns="0" anchor="t">
            <a:spAutoFit/>
          </a:bodyPr>
          <a:lstStyle/>
          <a:p>
            <a:pPr algn="l">
              <a:lnSpc>
                <a:spcPct val="115000"/>
              </a:lnSpc>
              <a:spcAft>
                <a:spcPts val="600"/>
              </a:spcAft>
            </a:pPr>
            <a:r>
              <a:rPr sz="3400" b="0" i="1">
                <a:solidFill>
                  <a:srgbClr val="FFFFFF"/>
                </a:solidFill>
                <a:latin typeface="Cambria"/>
              </a:rPr>
              <a:t>"We stop the line once a month on a calendar schedule whether or not anything needs doing. Tell us when a machine actually needs attention. A false alarm costs us a four-hour stop. A missed failure costs a gearbox and a week of production."</a:t>
            </a:r>
          </a:p>
        </p:txBody>
      </p:sp>
      <p:sp>
        <p:nvSpPr>
          <p:cNvPr id="5" name="TextBox 4"/>
          <p:cNvSpPr txBox="1"/>
          <p:nvPr/>
        </p:nvSpPr>
        <p:spPr>
          <a:xfrm>
            <a:off x="685800" y="4892040"/>
            <a:ext cx="10820095" cy="1097280"/>
          </a:xfrm>
          <a:prstGeom prst="rect">
            <a:avLst/>
          </a:prstGeom>
          <a:noFill/>
        </p:spPr>
        <p:txBody>
          <a:bodyPr wrap="square" lIns="0" rIns="0" tIns="0" bIns="0" anchor="t">
            <a:spAutoFit/>
          </a:bodyPr>
          <a:lstStyle/>
          <a:p>
            <a:pPr algn="l">
              <a:lnSpc>
                <a:spcPct val="120000"/>
              </a:lnSpc>
              <a:spcAft>
                <a:spcPts val="600"/>
              </a:spcAft>
            </a:pPr>
            <a:r>
              <a:rPr sz="1923" b="0" i="0">
                <a:solidFill>
                  <a:srgbClr val="B8C9D8"/>
                </a:solidFill>
                <a:latin typeface="Calibri"/>
              </a:rPr>
              <a:t>From the maintenance planner of a production line. Your target is whether a machine fails within the next shift. The constraint is the part to read twice: A false alarm costs four hours. A missed failure costs a gearbox and a week.</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CHALLENGE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Choose a Model and Defend It</a:t>
            </a:r>
          </a:p>
        </p:txBody>
      </p:sp>
      <p:sp>
        <p:nvSpPr>
          <p:cNvPr id="4" name="Rounded Rectangle 3"/>
          <p:cNvSpPr/>
          <p:nvPr/>
        </p:nvSpPr>
        <p:spPr>
          <a:xfrm>
            <a:off x="685800" y="1911095"/>
            <a:ext cx="10820095" cy="1792224"/>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112264"/>
            <a:ext cx="10234879" cy="1426464"/>
          </a:xfrm>
          <a:prstGeom prst="rect">
            <a:avLst/>
          </a:prstGeom>
          <a:noFill/>
        </p:spPr>
        <p:txBody>
          <a:bodyPr wrap="square" lIns="0" rIns="0" tIns="0" bIns="0" anchor="t">
            <a:spAutoFit/>
          </a:bodyPr>
          <a:lstStyle/>
          <a:p>
            <a:pPr algn="l">
              <a:lnSpc>
                <a:spcPct val="125000"/>
              </a:lnSpc>
              <a:spcAft>
                <a:spcPts val="600"/>
              </a:spcAft>
            </a:pPr>
            <a:r>
              <a:rPr sz="1923" b="0" i="0">
                <a:solidFill>
                  <a:srgbClr val="1C3144"/>
                </a:solidFill>
                <a:latin typeface="Calibri"/>
              </a:rPr>
              <a:t>Dataset: a machine sensor dataset from a line you have not seen, about 10,000 machine-hours. Target: whether a machine fails within the next shift.</a:t>
            </a:r>
          </a:p>
          <a:p>
            <a:pPr algn="l">
              <a:lnSpc>
                <a:spcPct val="125000"/>
              </a:lnSpc>
              <a:spcAft>
                <a:spcPts val="600"/>
              </a:spcAft>
            </a:pPr>
            <a:r>
              <a:rPr sz="1923" b="0" i="0">
                <a:solidFill>
                  <a:srgbClr val="1C3144"/>
                </a:solidFill>
                <a:latin typeface="Calibri"/>
              </a:rPr>
              <a:t>Run at least four candidate models under one protocol you fix and write down first.</a:t>
            </a:r>
          </a:p>
          <a:p>
            <a:pPr algn="l">
              <a:lnSpc>
                <a:spcPct val="125000"/>
              </a:lnSpc>
              <a:spcAft>
                <a:spcPts val="600"/>
              </a:spcAft>
            </a:pPr>
            <a:r>
              <a:rPr sz="1923" b="0" i="0">
                <a:solidFill>
                  <a:srgbClr val="1C3144"/>
                </a:solidFill>
                <a:latin typeface="Calibri"/>
              </a:rPr>
              <a:t>Produce a results table and a one-page recommendation.</a:t>
            </a:r>
          </a:p>
          <a:p>
            <a:pPr algn="l">
              <a:lnSpc>
                <a:spcPct val="125000"/>
              </a:lnSpc>
              <a:spcAft>
                <a:spcPts val="600"/>
              </a:spcAft>
            </a:pPr>
            <a:r>
              <a:rPr sz="1923" b="0" i="0">
                <a:solidFill>
                  <a:srgbClr val="1C3144"/>
                </a:solidFill>
                <a:latin typeface="Calibri"/>
              </a:rPr>
              <a:t>Ninety minutes. AI assistants are permitted and every use must be logged.</a:t>
            </a:r>
          </a:p>
        </p:txBody>
      </p:sp>
      <p:sp>
        <p:nvSpPr>
          <p:cNvPr id="6" name="TextBox 5"/>
          <p:cNvSpPr txBox="1"/>
          <p:nvPr/>
        </p:nvSpPr>
        <p:spPr>
          <a:xfrm>
            <a:off x="685800" y="4014215"/>
            <a:ext cx="10820095" cy="310896"/>
          </a:xfrm>
          <a:prstGeom prst="rect">
            <a:avLst/>
          </a:prstGeom>
          <a:noFill/>
        </p:spPr>
        <p:txBody>
          <a:bodyPr wrap="square" lIns="0" rIns="0" tIns="0" bIns="0" anchor="t">
            <a:spAutoFit/>
          </a:bodyPr>
          <a:lstStyle/>
          <a:p>
            <a:pPr algn="l">
              <a:spcAft>
                <a:spcPts val="600"/>
              </a:spcAft>
            </a:pPr>
            <a:r>
              <a:rPr sz="1821" b="1" i="0">
                <a:solidFill>
                  <a:srgbClr val="E4572E"/>
                </a:solidFill>
                <a:latin typeface="Calibri"/>
              </a:rPr>
              <a:t>Work these questions in order:</a:t>
            </a:r>
          </a:p>
        </p:txBody>
      </p:sp>
      <p:sp>
        <p:nvSpPr>
          <p:cNvPr id="7" name="TextBox 6"/>
          <p:cNvSpPr txBox="1"/>
          <p:nvPr/>
        </p:nvSpPr>
        <p:spPr>
          <a:xfrm>
            <a:off x="685800" y="4434840"/>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What four things are you holding constant?</a:t>
            </a:r>
          </a:p>
        </p:txBody>
      </p:sp>
      <p:sp>
        <p:nvSpPr>
          <p:cNvPr id="8" name="TextBox 7"/>
          <p:cNvSpPr txBox="1"/>
          <p:nvPr/>
        </p:nvSpPr>
        <p:spPr>
          <a:xfrm>
            <a:off x="685800" y="4855464"/>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Which metric, and what consequence chose it?</a:t>
            </a:r>
          </a:p>
        </p:txBody>
      </p:sp>
      <p:sp>
        <p:nvSpPr>
          <p:cNvPr id="9" name="TextBox 8"/>
          <p:cNvSpPr txBox="1"/>
          <p:nvPr/>
        </p:nvSpPr>
        <p:spPr>
          <a:xfrm>
            <a:off x="685800" y="5276088"/>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Is your best score really better than your second?</a:t>
            </a:r>
          </a:p>
        </p:txBody>
      </p:sp>
      <p:sp>
        <p:nvSpPr>
          <p:cNvPr id="10" name="TextBox 9"/>
          <p:cNvSpPr txBox="1"/>
          <p:nvPr/>
        </p:nvSpPr>
        <p:spPr>
          <a:xfrm>
            <a:off x="6278727" y="4434840"/>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Does your choice satisfy the client's constraint?</a:t>
            </a:r>
          </a:p>
        </p:txBody>
      </p:sp>
      <p:sp>
        <p:nvSpPr>
          <p:cNvPr id="11" name="TextBox 10"/>
          <p:cNvSpPr txBox="1"/>
          <p:nvPr/>
        </p:nvSpPr>
        <p:spPr>
          <a:xfrm>
            <a:off x="6278727" y="4855464"/>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What did you accept in exchange for what?</a:t>
            </a:r>
          </a:p>
        </p:txBody>
      </p:sp>
      <p:sp>
        <p:nvSpPr>
          <p:cNvPr id="12" name="TextBox 11"/>
          <p:cNvSpPr txBox="1"/>
          <p:nvPr/>
        </p:nvSpPr>
        <p:spPr>
          <a:xfrm>
            <a:off x="6278727" y="5276088"/>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What would change this recommendation?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DELIVERABLE — A11</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to hand in at the end of the challenge</a:t>
            </a:r>
          </a:p>
        </p:txBody>
      </p:sp>
      <p:sp>
        <p:nvSpPr>
          <p:cNvPr id="4" name="TextBox 3"/>
          <p:cNvSpPr txBox="1"/>
          <p:nvPr/>
        </p:nvSpPr>
        <p:spPr>
          <a:xfrm>
            <a:off x="685800" y="1911095"/>
            <a:ext cx="5204307" cy="425084"/>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The results table</a:t>
            </a:r>
          </a:p>
        </p:txBody>
      </p:sp>
      <p:sp>
        <p:nvSpPr>
          <p:cNvPr id="5" name="TextBox 4"/>
          <p:cNvSpPr txBox="1"/>
          <p:nvPr/>
        </p:nvSpPr>
        <p:spPr>
          <a:xfrm>
            <a:off x="685800" y="2409332"/>
            <a:ext cx="5204307" cy="1126959"/>
          </a:xfrm>
          <a:prstGeom prst="rect">
            <a:avLst/>
          </a:prstGeom>
          <a:noFill/>
        </p:spPr>
        <p:txBody>
          <a:bodyPr wrap="square" lIns="0" rIns="0" tIns="0" bIns="0" anchor="t">
            <a:spAutoFit/>
          </a:bodyPr>
          <a:lstStyle/>
          <a:p>
            <a:pPr algn="l">
              <a:lnSpc>
                <a:spcPct val="125000"/>
              </a:lnSpc>
              <a:spcAft>
                <a:spcPts val="600"/>
              </a:spcAft>
            </a:pPr>
            <a:r>
              <a:rPr sz="1821" b="0" i="0">
                <a:solidFill>
                  <a:srgbClr val="3C4E5E"/>
                </a:solidFill>
                <a:latin typeface="Calibri"/>
              </a:rPr>
              <a:t>One row per candidate model. Columns: the model and its settings, the cross-validated mean of your metric, the spread across folds, and the held-out score.</a:t>
            </a:r>
          </a:p>
        </p:txBody>
      </p:sp>
      <p:sp>
        <p:nvSpPr>
          <p:cNvPr id="6" name="TextBox 5"/>
          <p:cNvSpPr txBox="1"/>
          <p:nvPr/>
        </p:nvSpPr>
        <p:spPr>
          <a:xfrm>
            <a:off x="685800" y="3591155"/>
            <a:ext cx="5204307" cy="766546"/>
          </a:xfrm>
          <a:prstGeom prst="rect">
            <a:avLst/>
          </a:prstGeom>
          <a:noFill/>
        </p:spPr>
        <p:txBody>
          <a:bodyPr wrap="square" lIns="0" rIns="0" tIns="0" bIns="0" anchor="t">
            <a:spAutoFit/>
          </a:bodyPr>
          <a:lstStyle/>
          <a:p>
            <a:pPr algn="l">
              <a:lnSpc>
                <a:spcPct val="125000"/>
              </a:lnSpc>
              <a:spcAft>
                <a:spcPts val="600"/>
              </a:spcAft>
            </a:pPr>
            <a:r>
              <a:rPr sz="1821" b="0" i="0">
                <a:solidFill>
                  <a:srgbClr val="3C4E5E"/>
                </a:solidFill>
                <a:latin typeface="Calibri"/>
              </a:rPr>
              <a:t>At least four models. All four through the same protocol.</a:t>
            </a:r>
          </a:p>
        </p:txBody>
      </p:sp>
      <p:sp>
        <p:nvSpPr>
          <p:cNvPr id="7" name="TextBox 6"/>
          <p:cNvSpPr txBox="1"/>
          <p:nvPr/>
        </p:nvSpPr>
        <p:spPr>
          <a:xfrm>
            <a:off x="685800" y="4412565"/>
            <a:ext cx="5204307" cy="766546"/>
          </a:xfrm>
          <a:prstGeom prst="rect">
            <a:avLst/>
          </a:prstGeom>
          <a:noFill/>
        </p:spPr>
        <p:txBody>
          <a:bodyPr wrap="square" lIns="0" rIns="0" tIns="0" bIns="0" anchor="t">
            <a:spAutoFit/>
          </a:bodyPr>
          <a:lstStyle/>
          <a:p>
            <a:pPr algn="l">
              <a:lnSpc>
                <a:spcPct val="125000"/>
              </a:lnSpc>
              <a:spcAft>
                <a:spcPts val="600"/>
              </a:spcAft>
            </a:pPr>
            <a:r>
              <a:rPr sz="1821" b="0" i="0">
                <a:solidFill>
                  <a:srgbClr val="3C4E5E"/>
                </a:solidFill>
                <a:latin typeface="Calibri"/>
              </a:rPr>
              <a:t>A line at the top of the table stating the four things you held constant, and the seed you used.</a:t>
            </a:r>
          </a:p>
        </p:txBody>
      </p:sp>
      <p:sp>
        <p:nvSpPr>
          <p:cNvPr id="8" name="Rounded Rectangle 7"/>
          <p:cNvSpPr/>
          <p:nvPr/>
        </p:nvSpPr>
        <p:spPr>
          <a:xfrm>
            <a:off x="6301587" y="1801367"/>
            <a:ext cx="5204307" cy="455371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75907" y="1984248"/>
            <a:ext cx="4655667" cy="402336"/>
          </a:xfrm>
          <a:prstGeom prst="rect">
            <a:avLst/>
          </a:prstGeom>
          <a:noFill/>
        </p:spPr>
        <p:txBody>
          <a:bodyPr wrap="square" lIns="0" rIns="0" tIns="0" bIns="0" anchor="t">
            <a:spAutoFit/>
          </a:bodyPr>
          <a:lstStyle/>
          <a:p>
            <a:pPr algn="l">
              <a:spcAft>
                <a:spcPts val="600"/>
              </a:spcAft>
            </a:pPr>
            <a:r>
              <a:rPr sz="1923" b="1" i="0">
                <a:solidFill>
                  <a:srgbClr val="1C3144"/>
                </a:solidFill>
                <a:latin typeface="Calibri"/>
              </a:rPr>
              <a:t>The one-page recommendation</a:t>
            </a:r>
          </a:p>
        </p:txBody>
      </p:sp>
      <p:sp>
        <p:nvSpPr>
          <p:cNvPr id="10" name="TextBox 9"/>
          <p:cNvSpPr txBox="1"/>
          <p:nvPr/>
        </p:nvSpPr>
        <p:spPr>
          <a:xfrm>
            <a:off x="6575907" y="2496312"/>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1 The model you chose.</a:t>
            </a:r>
          </a:p>
        </p:txBody>
      </p:sp>
      <p:sp>
        <p:nvSpPr>
          <p:cNvPr id="11" name="TextBox 10"/>
          <p:cNvSpPr txBox="1"/>
          <p:nvPr/>
        </p:nvSpPr>
        <p:spPr>
          <a:xfrm>
            <a:off x="6575907" y="3025401"/>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2 The metric, and the consequence that chose it.</a:t>
            </a:r>
          </a:p>
        </p:txBody>
      </p:sp>
      <p:sp>
        <p:nvSpPr>
          <p:cNvPr id="12" name="TextBox 11"/>
          <p:cNvSpPr txBox="1"/>
          <p:nvPr/>
        </p:nvSpPr>
        <p:spPr>
          <a:xfrm>
            <a:off x="6575907" y="3554491"/>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3 What you accepted in exchange for what.</a:t>
            </a:r>
          </a:p>
        </p:txBody>
      </p:sp>
      <p:sp>
        <p:nvSpPr>
          <p:cNvPr id="13" name="TextBox 12"/>
          <p:cNvSpPr txBox="1"/>
          <p:nvPr/>
        </p:nvSpPr>
        <p:spPr>
          <a:xfrm>
            <a:off x="6575907" y="4083581"/>
            <a:ext cx="4655667" cy="664987"/>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4 The conditions under which this recommendation would change.</a:t>
            </a:r>
          </a:p>
        </p:txBody>
      </p:sp>
      <p:sp>
        <p:nvSpPr>
          <p:cNvPr id="14" name="TextBox 13"/>
          <p:cNvSpPr txBox="1"/>
          <p:nvPr/>
        </p:nvSpPr>
        <p:spPr>
          <a:xfrm>
            <a:off x="6575907" y="4922305"/>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5 Your AI-use log.</a:t>
            </a:r>
          </a:p>
        </p:txBody>
      </p:sp>
      <p:sp>
        <p:nvSpPr>
          <p:cNvPr id="15" name="TextBox 14"/>
          <p:cNvSpPr txBox="1"/>
          <p:nvPr/>
        </p:nvSpPr>
        <p:spPr>
          <a:xfrm>
            <a:off x="6575907" y="5451395"/>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One page. Graded in session.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WORKED EXAMPLE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Writing the recommendation</a:t>
            </a:r>
          </a:p>
        </p:txBody>
      </p:sp>
      <p:sp>
        <p:nvSpPr>
          <p:cNvPr id="4" name="TextBox 3"/>
          <p:cNvSpPr txBox="1"/>
          <p:nvPr/>
        </p:nvSpPr>
        <p:spPr>
          <a:xfrm>
            <a:off x="685800" y="1911095"/>
            <a:ext cx="10820095" cy="766387"/>
          </a:xfrm>
          <a:prstGeom prst="rect">
            <a:avLst/>
          </a:prstGeom>
          <a:noFill/>
        </p:spPr>
        <p:txBody>
          <a:bodyPr wrap="square" lIns="0" rIns="0" tIns="0" bIns="0" anchor="t">
            <a:spAutoFit/>
          </a:bodyPr>
          <a:lstStyle/>
          <a:p>
            <a:pPr algn="l">
              <a:lnSpc>
                <a:spcPct val="120000"/>
              </a:lnSpc>
              <a:spcAft>
                <a:spcPts val="600"/>
              </a:spcAft>
            </a:pPr>
            <a:r>
              <a:rPr sz="1873" b="0" i="0">
                <a:solidFill>
                  <a:srgbClr val="334657"/>
                </a:solidFill>
                <a:latin typeface="Calibri"/>
              </a:rPr>
              <a:t>Five paragraphs and one attachment, in the order a supervising engineer reads them. About 350 words in total.</a:t>
            </a:r>
          </a:p>
        </p:txBody>
      </p:sp>
      <p:sp>
        <p:nvSpPr>
          <p:cNvPr id="5" name="Rounded Rectangle 4"/>
          <p:cNvSpPr/>
          <p:nvPr/>
        </p:nvSpPr>
        <p:spPr>
          <a:xfrm>
            <a:off x="685800" y="2732347"/>
            <a:ext cx="10820095" cy="437134"/>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05256" y="278721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1</a:t>
            </a:r>
          </a:p>
        </p:txBody>
      </p:sp>
      <p:sp>
        <p:nvSpPr>
          <p:cNvPr id="7" name="TextBox 6"/>
          <p:cNvSpPr txBox="1"/>
          <p:nvPr/>
        </p:nvSpPr>
        <p:spPr>
          <a:xfrm>
            <a:off x="1435607" y="2778067"/>
            <a:ext cx="9814255" cy="345694"/>
          </a:xfrm>
          <a:prstGeom prst="rect">
            <a:avLst/>
          </a:prstGeom>
          <a:noFill/>
        </p:spPr>
        <p:txBody>
          <a:bodyPr wrap="square" lIns="0" rIns="0" tIns="0" bIns="0" anchor="t">
            <a:spAutoFit/>
          </a:bodyPr>
          <a:lstStyle/>
          <a:p>
            <a:pPr algn="l">
              <a:lnSpc>
                <a:spcPct val="116000"/>
              </a:lnSpc>
              <a:spcAft>
                <a:spcPts val="600"/>
              </a:spcAft>
            </a:pPr>
            <a:r>
              <a:rPr sz="1584" b="0" i="0">
                <a:solidFill>
                  <a:srgbClr val="1C3144"/>
                </a:solidFill>
                <a:latin typeface="Calibri"/>
              </a:rPr>
              <a:t>State the decision in one sentence, with the number attached.</a:t>
            </a:r>
          </a:p>
        </p:txBody>
      </p:sp>
      <p:sp>
        <p:nvSpPr>
          <p:cNvPr id="8" name="Rounded Rectangle 7"/>
          <p:cNvSpPr/>
          <p:nvPr/>
        </p:nvSpPr>
        <p:spPr>
          <a:xfrm>
            <a:off x="685800" y="3224345"/>
            <a:ext cx="10820095" cy="437134"/>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05256" y="3279209"/>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2</a:t>
            </a:r>
          </a:p>
        </p:txBody>
      </p:sp>
      <p:sp>
        <p:nvSpPr>
          <p:cNvPr id="10" name="TextBox 9"/>
          <p:cNvSpPr txBox="1"/>
          <p:nvPr/>
        </p:nvSpPr>
        <p:spPr>
          <a:xfrm>
            <a:off x="1435607" y="3270065"/>
            <a:ext cx="9814255" cy="345694"/>
          </a:xfrm>
          <a:prstGeom prst="rect">
            <a:avLst/>
          </a:prstGeom>
          <a:noFill/>
        </p:spPr>
        <p:txBody>
          <a:bodyPr wrap="square" lIns="0" rIns="0" tIns="0" bIns="0" anchor="t">
            <a:spAutoFit/>
          </a:bodyPr>
          <a:lstStyle/>
          <a:p>
            <a:pPr algn="l">
              <a:lnSpc>
                <a:spcPct val="116000"/>
              </a:lnSpc>
              <a:spcAft>
                <a:spcPts val="600"/>
              </a:spcAft>
            </a:pPr>
            <a:r>
              <a:rPr sz="1584" b="0" i="0">
                <a:solidFill>
                  <a:srgbClr val="1C3144"/>
                </a:solidFill>
                <a:latin typeface="Calibri"/>
              </a:rPr>
              <a:t>Name the metric, and what each kind of mistake costs the client in hours, money or safety.</a:t>
            </a:r>
          </a:p>
        </p:txBody>
      </p:sp>
      <p:sp>
        <p:nvSpPr>
          <p:cNvPr id="11" name="Rounded Rectangle 10"/>
          <p:cNvSpPr/>
          <p:nvPr/>
        </p:nvSpPr>
        <p:spPr>
          <a:xfrm>
            <a:off x="685800" y="3716343"/>
            <a:ext cx="10820095" cy="437134"/>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05256" y="3771207"/>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3</a:t>
            </a:r>
          </a:p>
        </p:txBody>
      </p:sp>
      <p:sp>
        <p:nvSpPr>
          <p:cNvPr id="13" name="TextBox 12"/>
          <p:cNvSpPr txBox="1"/>
          <p:nvPr/>
        </p:nvSpPr>
        <p:spPr>
          <a:xfrm>
            <a:off x="1435607" y="3762063"/>
            <a:ext cx="9814255" cy="345694"/>
          </a:xfrm>
          <a:prstGeom prst="rect">
            <a:avLst/>
          </a:prstGeom>
          <a:noFill/>
        </p:spPr>
        <p:txBody>
          <a:bodyPr wrap="square" lIns="0" rIns="0" tIns="0" bIns="0" anchor="t">
            <a:spAutoFit/>
          </a:bodyPr>
          <a:lstStyle/>
          <a:p>
            <a:pPr algn="l">
              <a:lnSpc>
                <a:spcPct val="116000"/>
              </a:lnSpc>
              <a:spcAft>
                <a:spcPts val="600"/>
              </a:spcAft>
            </a:pPr>
            <a:r>
              <a:rPr sz="1584" b="0" i="0">
                <a:solidFill>
                  <a:srgbClr val="1C3144"/>
                </a:solidFill>
                <a:latin typeface="Calibri"/>
              </a:rPr>
              <a:t>Show the table. Say whether the top two can be separated at all.</a:t>
            </a:r>
          </a:p>
        </p:txBody>
      </p:sp>
      <p:sp>
        <p:nvSpPr>
          <p:cNvPr id="14" name="Rounded Rectangle 13"/>
          <p:cNvSpPr/>
          <p:nvPr/>
        </p:nvSpPr>
        <p:spPr>
          <a:xfrm>
            <a:off x="685800" y="4208341"/>
            <a:ext cx="10820095" cy="437134"/>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05256" y="4263205"/>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4</a:t>
            </a:r>
          </a:p>
        </p:txBody>
      </p:sp>
      <p:sp>
        <p:nvSpPr>
          <p:cNvPr id="16" name="TextBox 15"/>
          <p:cNvSpPr txBox="1"/>
          <p:nvPr/>
        </p:nvSpPr>
        <p:spPr>
          <a:xfrm>
            <a:off x="1435607" y="4254061"/>
            <a:ext cx="9814255" cy="345694"/>
          </a:xfrm>
          <a:prstGeom prst="rect">
            <a:avLst/>
          </a:prstGeom>
          <a:noFill/>
        </p:spPr>
        <p:txBody>
          <a:bodyPr wrap="square" lIns="0" rIns="0" tIns="0" bIns="0" anchor="t">
            <a:spAutoFit/>
          </a:bodyPr>
          <a:lstStyle/>
          <a:p>
            <a:pPr algn="l">
              <a:lnSpc>
                <a:spcPct val="116000"/>
              </a:lnSpc>
              <a:spcAft>
                <a:spcPts val="600"/>
              </a:spcAft>
            </a:pPr>
            <a:r>
              <a:rPr sz="1584" b="0" i="0">
                <a:solidFill>
                  <a:srgbClr val="1C3144"/>
                </a:solidFill>
                <a:latin typeface="Calibri"/>
              </a:rPr>
              <a:t>Say what you accepted in exchange for what.</a:t>
            </a:r>
          </a:p>
        </p:txBody>
      </p:sp>
      <p:sp>
        <p:nvSpPr>
          <p:cNvPr id="17" name="Rounded Rectangle 16"/>
          <p:cNvSpPr/>
          <p:nvPr/>
        </p:nvSpPr>
        <p:spPr>
          <a:xfrm>
            <a:off x="685800" y="4700339"/>
            <a:ext cx="10820095" cy="437134"/>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05256" y="4755203"/>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5</a:t>
            </a:r>
          </a:p>
        </p:txBody>
      </p:sp>
      <p:sp>
        <p:nvSpPr>
          <p:cNvPr id="19" name="TextBox 18"/>
          <p:cNvSpPr txBox="1"/>
          <p:nvPr/>
        </p:nvSpPr>
        <p:spPr>
          <a:xfrm>
            <a:off x="1435607" y="4746059"/>
            <a:ext cx="9814255" cy="345694"/>
          </a:xfrm>
          <a:prstGeom prst="rect">
            <a:avLst/>
          </a:prstGeom>
          <a:noFill/>
        </p:spPr>
        <p:txBody>
          <a:bodyPr wrap="square" lIns="0" rIns="0" tIns="0" bIns="0" anchor="t">
            <a:spAutoFit/>
          </a:bodyPr>
          <a:lstStyle/>
          <a:p>
            <a:pPr algn="l">
              <a:lnSpc>
                <a:spcPct val="116000"/>
              </a:lnSpc>
              <a:spcAft>
                <a:spcPts val="600"/>
              </a:spcAft>
            </a:pPr>
            <a:r>
              <a:rPr sz="1584" b="0" i="0">
                <a:solidFill>
                  <a:srgbClr val="1C3144"/>
                </a:solidFill>
                <a:latin typeface="Calibri"/>
              </a:rPr>
              <a:t>State the conditions of use: the input range, and what change would require a refit.</a:t>
            </a:r>
          </a:p>
        </p:txBody>
      </p:sp>
      <p:sp>
        <p:nvSpPr>
          <p:cNvPr id="20" name="Rounded Rectangle 19"/>
          <p:cNvSpPr/>
          <p:nvPr/>
        </p:nvSpPr>
        <p:spPr>
          <a:xfrm>
            <a:off x="685800" y="5192337"/>
            <a:ext cx="10820095" cy="437134"/>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905256" y="524720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6</a:t>
            </a:r>
          </a:p>
        </p:txBody>
      </p:sp>
      <p:sp>
        <p:nvSpPr>
          <p:cNvPr id="22" name="TextBox 21"/>
          <p:cNvSpPr txBox="1"/>
          <p:nvPr/>
        </p:nvSpPr>
        <p:spPr>
          <a:xfrm>
            <a:off x="1435607" y="5238057"/>
            <a:ext cx="9814255" cy="345694"/>
          </a:xfrm>
          <a:prstGeom prst="rect">
            <a:avLst/>
          </a:prstGeom>
          <a:noFill/>
        </p:spPr>
        <p:txBody>
          <a:bodyPr wrap="square" lIns="0" rIns="0" tIns="0" bIns="0" anchor="t">
            <a:spAutoFit/>
          </a:bodyPr>
          <a:lstStyle/>
          <a:p>
            <a:pPr algn="l">
              <a:lnSpc>
                <a:spcPct val="116000"/>
              </a:lnSpc>
              <a:spcAft>
                <a:spcPts val="600"/>
              </a:spcAft>
            </a:pPr>
            <a:r>
              <a:rPr sz="1584" b="0" i="0">
                <a:solidFill>
                  <a:srgbClr val="1C3144"/>
                </a:solidFill>
                <a:latin typeface="Calibri"/>
              </a:rPr>
              <a:t>Attach the AI-use log: what you asked, and what you checked.</a:t>
            </a:r>
          </a:p>
        </p:txBody>
      </p:sp>
      <p:sp>
        <p:nvSpPr>
          <p:cNvPr id="23" name="Rounded Rectangle 22"/>
          <p:cNvSpPr/>
          <p:nvPr/>
        </p:nvSpPr>
        <p:spPr>
          <a:xfrm>
            <a:off x="685800" y="5739200"/>
            <a:ext cx="10820095" cy="992912"/>
          </a:xfrm>
          <a:prstGeom prst="roundRect">
            <a:avLst>
              <a:gd name="adj" fmla="val 6000"/>
            </a:avLst>
          </a:prstGeom>
          <a:solidFill>
            <a:srgbClr val="E457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78408" y="5876360"/>
            <a:ext cx="10234879" cy="718592"/>
          </a:xfrm>
          <a:prstGeom prst="rect">
            <a:avLst/>
          </a:prstGeom>
          <a:noFill/>
        </p:spPr>
        <p:txBody>
          <a:bodyPr wrap="square" lIns="0" rIns="0" tIns="0" bIns="0" anchor="t">
            <a:spAutoFit/>
          </a:bodyPr>
          <a:lstStyle/>
          <a:p>
            <a:pPr algn="l">
              <a:lnSpc>
                <a:spcPct val="118000"/>
              </a:lnSpc>
              <a:spcAft>
                <a:spcPts val="600"/>
              </a:spcAft>
            </a:pPr>
            <a:r>
              <a:rPr sz="2021" b="1" i="0">
                <a:solidFill>
                  <a:srgbClr val="FFFFFF"/>
                </a:solidFill>
                <a:latin typeface="Calibri"/>
              </a:rPr>
              <a:t>The first sentence and the fifth paragraph are the two a supervising engineer will actually read. Write those two first.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NON-NEGOTIABLE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protocol you must run, written out</a:t>
            </a:r>
          </a:p>
        </p:txBody>
      </p:sp>
      <p:sp>
        <p:nvSpPr>
          <p:cNvPr id="4" name="TextBox 3"/>
          <p:cNvSpPr txBox="1"/>
          <p:nvPr/>
        </p:nvSpPr>
        <p:spPr>
          <a:xfrm>
            <a:off x="685800" y="1911095"/>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Fix the split once, and write down the seed</a:t>
            </a:r>
          </a:p>
        </p:txBody>
      </p:sp>
      <p:sp>
        <p:nvSpPr>
          <p:cNvPr id="5" name="TextBox 4"/>
          <p:cNvSpPr txBox="1"/>
          <p:nvPr/>
        </p:nvSpPr>
        <p:spPr>
          <a:xfrm>
            <a:off x="685800" y="2352629"/>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One shuffle, one seed, one train/test split. Every candidate sees the same rows.</a:t>
            </a:r>
          </a:p>
        </p:txBody>
      </p:sp>
      <p:sp>
        <p:nvSpPr>
          <p:cNvPr id="6" name="TextBox 5"/>
          <p:cNvSpPr txBox="1"/>
          <p:nvPr/>
        </p:nvSpPr>
        <p:spPr>
          <a:xfrm>
            <a:off x="685800" y="3309683"/>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Put the preprocessing inside the Pipeline</a:t>
            </a:r>
          </a:p>
        </p:txBody>
      </p:sp>
      <p:sp>
        <p:nvSpPr>
          <p:cNvPr id="7" name="TextBox 6"/>
          <p:cNvSpPr txBox="1"/>
          <p:nvPr/>
        </p:nvSpPr>
        <p:spPr>
          <a:xfrm>
            <a:off x="685800" y="3751217"/>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The scaler and the encoder are fitted inside each fold. Nothing is fitted on the whole table.</a:t>
            </a:r>
          </a:p>
        </p:txBody>
      </p:sp>
      <p:sp>
        <p:nvSpPr>
          <p:cNvPr id="8" name="TextBox 7"/>
          <p:cNvSpPr txBox="1"/>
          <p:nvPr/>
        </p:nvSpPr>
        <p:spPr>
          <a:xfrm>
            <a:off x="685800" y="4708270"/>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Choose the metric before you look at any result</a:t>
            </a:r>
          </a:p>
        </p:txBody>
      </p:sp>
      <p:sp>
        <p:nvSpPr>
          <p:cNvPr id="9" name="TextBox 8"/>
          <p:cNvSpPr txBox="1"/>
          <p:nvPr/>
        </p:nvSpPr>
        <p:spPr>
          <a:xfrm>
            <a:off x="685800" y="5149804"/>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Write it at the top of the notebook with the consequence that chose it. Then do not change it.</a:t>
            </a:r>
          </a:p>
        </p:txBody>
      </p:sp>
      <p:sp>
        <p:nvSpPr>
          <p:cNvPr id="10" name="TextBox 9"/>
          <p:cNvSpPr txBox="1"/>
          <p:nvPr/>
        </p:nvSpPr>
        <p:spPr>
          <a:xfrm>
            <a:off x="6347307" y="1911095"/>
            <a:ext cx="5158587" cy="809915"/>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Use the same folds, in the same order, for every candidate</a:t>
            </a:r>
          </a:p>
        </p:txBody>
      </p:sp>
      <p:sp>
        <p:nvSpPr>
          <p:cNvPr id="11" name="TextBox 10"/>
          <p:cNvSpPr txBox="1"/>
          <p:nvPr/>
        </p:nvSpPr>
        <p:spPr>
          <a:xfrm>
            <a:off x="6347307" y="2730155"/>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cv=5 with a fixed seed. The same five folds for all four models.</a:t>
            </a:r>
          </a:p>
        </p:txBody>
      </p:sp>
      <p:sp>
        <p:nvSpPr>
          <p:cNvPr id="12" name="TextBox 11"/>
          <p:cNvSpPr txBox="1"/>
          <p:nvPr/>
        </p:nvSpPr>
        <p:spPr>
          <a:xfrm>
            <a:off x="6347307" y="3687209"/>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Report the mean and the spread, every time</a:t>
            </a:r>
          </a:p>
        </p:txBody>
      </p:sp>
      <p:sp>
        <p:nvSpPr>
          <p:cNvPr id="13" name="TextBox 12"/>
          <p:cNvSpPr txBox="1"/>
          <p:nvPr/>
        </p:nvSpPr>
        <p:spPr>
          <a:xfrm>
            <a:off x="6347307" y="4128743"/>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A single number hides whether the difference between two models is real.</a:t>
            </a:r>
          </a:p>
        </p:txBody>
      </p:sp>
      <p:sp>
        <p:nvSpPr>
          <p:cNvPr id="14" name="TextBox 13"/>
          <p:cNvSpPr txBox="1"/>
          <p:nvPr/>
        </p:nvSpPr>
        <p:spPr>
          <a:xfrm>
            <a:off x="6347307" y="5085796"/>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Spend the test set once, at the end</a:t>
            </a:r>
          </a:p>
        </p:txBody>
      </p:sp>
      <p:sp>
        <p:nvSpPr>
          <p:cNvPr id="15" name="TextBox 14"/>
          <p:cNvSpPr txBox="1"/>
          <p:nvPr/>
        </p:nvSpPr>
        <p:spPr>
          <a:xfrm>
            <a:off x="6347307" y="5527330"/>
            <a:ext cx="5158587" cy="106524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Choose your model using cross-validation on the training rows. Score the chosen model on the test rows once and report that number.</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5</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Defence round</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You present your recommendation to another team, whose job is to attack it.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DEFENCE ROUND</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the defence round runs</a:t>
            </a:r>
          </a:p>
        </p:txBody>
      </p:sp>
      <p:sp>
        <p:nvSpPr>
          <p:cNvPr id="4" name="TextBox 3"/>
          <p:cNvSpPr txBox="1"/>
          <p:nvPr/>
        </p:nvSpPr>
        <p:spPr>
          <a:xfrm>
            <a:off x="685800" y="1911095"/>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Five minutes each way</a:t>
            </a:r>
          </a:p>
        </p:txBody>
      </p:sp>
      <p:sp>
        <p:nvSpPr>
          <p:cNvPr id="5" name="TextBox 4"/>
          <p:cNvSpPr txBox="1"/>
          <p:nvPr/>
        </p:nvSpPr>
        <p:spPr>
          <a:xfrm>
            <a:off x="685800" y="2352629"/>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present for two minutes and take challenges for three. Then you swap and do the other side.</a:t>
            </a:r>
          </a:p>
        </p:txBody>
      </p:sp>
      <p:sp>
        <p:nvSpPr>
          <p:cNvPr id="6" name="TextBox 5"/>
          <p:cNvSpPr txBox="1"/>
          <p:nvPr/>
        </p:nvSpPr>
        <p:spPr>
          <a:xfrm>
            <a:off x="685800" y="3309683"/>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The attacking team must raise two challenges</a:t>
            </a:r>
          </a:p>
        </p:txBody>
      </p:sp>
      <p:sp>
        <p:nvSpPr>
          <p:cNvPr id="7" name="TextBox 6"/>
          <p:cNvSpPr txBox="1"/>
          <p:nvPr/>
        </p:nvSpPr>
        <p:spPr>
          <a:xfrm>
            <a:off x="685800" y="3751217"/>
            <a:ext cx="5158587" cy="106524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Aimed at the protocol, the metric, the constraint or the conditions of use. A challenge about the score alone is the weakest kind.</a:t>
            </a:r>
          </a:p>
        </p:txBody>
      </p:sp>
      <p:sp>
        <p:nvSpPr>
          <p:cNvPr id="8" name="TextBox 7"/>
          <p:cNvSpPr txBox="1"/>
          <p:nvPr/>
        </p:nvSpPr>
        <p:spPr>
          <a:xfrm>
            <a:off x="685800" y="5045065"/>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A good challenge names the evidence it wants</a:t>
            </a:r>
          </a:p>
        </p:txBody>
      </p:sp>
      <p:sp>
        <p:nvSpPr>
          <p:cNvPr id="9" name="TextBox 8"/>
          <p:cNvSpPr txBox="1"/>
          <p:nvPr/>
        </p:nvSpPr>
        <p:spPr>
          <a:xfrm>
            <a:off x="685800" y="5486599"/>
            <a:ext cx="5158587" cy="106524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'Your top two overlap — show me the fold spreads' can be answered from the notebook. 'I do not believe you' cannot.</a:t>
            </a:r>
          </a:p>
        </p:txBody>
      </p:sp>
      <p:sp>
        <p:nvSpPr>
          <p:cNvPr id="10" name="TextBox 9"/>
          <p:cNvSpPr txBox="1"/>
          <p:nvPr/>
        </p:nvSpPr>
        <p:spPr>
          <a:xfrm>
            <a:off x="6347307" y="1911095"/>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A good defence answers with the notebook open</a:t>
            </a:r>
          </a:p>
        </p:txBody>
      </p:sp>
      <p:sp>
        <p:nvSpPr>
          <p:cNvPr id="11" name="TextBox 10"/>
          <p:cNvSpPr txBox="1"/>
          <p:nvPr/>
        </p:nvSpPr>
        <p:spPr>
          <a:xfrm>
            <a:off x="6347307" y="2352629"/>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Point at the number. If the challenge is right and you have no answer, say so.</a:t>
            </a:r>
          </a:p>
        </p:txBody>
      </p:sp>
      <p:sp>
        <p:nvSpPr>
          <p:cNvPr id="12" name="TextBox 11"/>
          <p:cNvSpPr txBox="1"/>
          <p:nvPr/>
        </p:nvSpPr>
        <p:spPr>
          <a:xfrm>
            <a:off x="6347307" y="3309683"/>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Conceding earns marks</a:t>
            </a:r>
          </a:p>
        </p:txBody>
      </p:sp>
      <p:sp>
        <p:nvSpPr>
          <p:cNvPr id="13" name="TextBox 12"/>
          <p:cNvSpPr txBox="1"/>
          <p:nvPr/>
        </p:nvSpPr>
        <p:spPr>
          <a:xfrm>
            <a:off x="6347307" y="3751217"/>
            <a:ext cx="5158587" cy="1402042"/>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Write down what you conceded and what you would change. A team that concedes a correct challenge and says what it would do differently scores above a team that argues.</a:t>
            </a:r>
          </a:p>
        </p:txBody>
      </p:sp>
      <p:sp>
        <p:nvSpPr>
          <p:cNvPr id="14" name="TextBox 13"/>
          <p:cNvSpPr txBox="1"/>
          <p:nvPr/>
        </p:nvSpPr>
        <p:spPr>
          <a:xfrm>
            <a:off x="6347307" y="5381860"/>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Both sides are marked</a:t>
            </a:r>
          </a:p>
        </p:txBody>
      </p:sp>
      <p:sp>
        <p:nvSpPr>
          <p:cNvPr id="15" name="TextBox 14"/>
          <p:cNvSpPr txBox="1"/>
          <p:nvPr/>
        </p:nvSpPr>
        <p:spPr>
          <a:xfrm>
            <a:off x="6347307" y="5823394"/>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The quality of the challenges you raise counts as much as the quality of your own defence.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WORKED EXAMPLE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Attacking a recommendation</a:t>
            </a:r>
          </a:p>
        </p:txBody>
      </p:sp>
      <p:sp>
        <p:nvSpPr>
          <p:cNvPr id="4" name="TextBox 3"/>
          <p:cNvSpPr txBox="1"/>
          <p:nvPr/>
        </p:nvSpPr>
        <p:spPr>
          <a:xfrm>
            <a:off x="685800" y="1911095"/>
            <a:ext cx="10820095" cy="766387"/>
          </a:xfrm>
          <a:prstGeom prst="rect">
            <a:avLst/>
          </a:prstGeom>
          <a:noFill/>
        </p:spPr>
        <p:txBody>
          <a:bodyPr wrap="square" lIns="0" rIns="0" tIns="0" bIns="0" anchor="t">
            <a:spAutoFit/>
          </a:bodyPr>
          <a:lstStyle/>
          <a:p>
            <a:pPr algn="l">
              <a:lnSpc>
                <a:spcPct val="120000"/>
              </a:lnSpc>
              <a:spcAft>
                <a:spcPts val="600"/>
              </a:spcAft>
            </a:pPr>
            <a:r>
              <a:rPr sz="1873" b="0" i="0">
                <a:solidFill>
                  <a:srgbClr val="334657"/>
                </a:solidFill>
                <a:latin typeface="Calibri"/>
              </a:rPr>
              <a:t>Six lines of attack that work on any recommendation, including your own. Try them on yourself before the other team does.</a:t>
            </a:r>
          </a:p>
        </p:txBody>
      </p:sp>
      <p:sp>
        <p:nvSpPr>
          <p:cNvPr id="5" name="Rounded Rectangle 4"/>
          <p:cNvSpPr/>
          <p:nvPr/>
        </p:nvSpPr>
        <p:spPr>
          <a:xfrm>
            <a:off x="685800" y="2732347"/>
            <a:ext cx="10820095" cy="40233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05256" y="278721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1</a:t>
            </a:r>
          </a:p>
        </p:txBody>
      </p:sp>
      <p:sp>
        <p:nvSpPr>
          <p:cNvPr id="7" name="TextBox 6"/>
          <p:cNvSpPr txBox="1"/>
          <p:nvPr/>
        </p:nvSpPr>
        <p:spPr>
          <a:xfrm>
            <a:off x="1435607" y="2778067"/>
            <a:ext cx="9814255" cy="310896"/>
          </a:xfrm>
          <a:prstGeom prst="rect">
            <a:avLst/>
          </a:prstGeom>
          <a:noFill/>
        </p:spPr>
        <p:txBody>
          <a:bodyPr wrap="square" lIns="0" rIns="0" tIns="0" bIns="0" anchor="t">
            <a:spAutoFit/>
          </a:bodyPr>
          <a:lstStyle/>
          <a:p>
            <a:pPr algn="l">
              <a:lnSpc>
                <a:spcPct val="116000"/>
              </a:lnSpc>
              <a:spcAft>
                <a:spcPts val="600"/>
              </a:spcAft>
            </a:pPr>
            <a:r>
              <a:rPr sz="1320" b="0" i="0">
                <a:solidFill>
                  <a:srgbClr val="1C3144"/>
                </a:solidFill>
                <a:latin typeface="Calibri"/>
              </a:rPr>
              <a:t>Ask what was held constant. If the split moved, the table means nothing.</a:t>
            </a:r>
          </a:p>
        </p:txBody>
      </p:sp>
      <p:sp>
        <p:nvSpPr>
          <p:cNvPr id="8" name="Rounded Rectangle 7"/>
          <p:cNvSpPr/>
          <p:nvPr/>
        </p:nvSpPr>
        <p:spPr>
          <a:xfrm>
            <a:off x="685800" y="3189547"/>
            <a:ext cx="10820095" cy="40233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05256" y="324441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2</a:t>
            </a:r>
          </a:p>
        </p:txBody>
      </p:sp>
      <p:sp>
        <p:nvSpPr>
          <p:cNvPr id="10" name="TextBox 9"/>
          <p:cNvSpPr txBox="1"/>
          <p:nvPr/>
        </p:nvSpPr>
        <p:spPr>
          <a:xfrm>
            <a:off x="1435607" y="3235267"/>
            <a:ext cx="9814255" cy="310896"/>
          </a:xfrm>
          <a:prstGeom prst="rect">
            <a:avLst/>
          </a:prstGeom>
          <a:noFill/>
        </p:spPr>
        <p:txBody>
          <a:bodyPr wrap="square" lIns="0" rIns="0" tIns="0" bIns="0" anchor="t">
            <a:spAutoFit/>
          </a:bodyPr>
          <a:lstStyle/>
          <a:p>
            <a:pPr algn="l">
              <a:lnSpc>
                <a:spcPct val="116000"/>
              </a:lnSpc>
              <a:spcAft>
                <a:spcPts val="600"/>
              </a:spcAft>
            </a:pPr>
            <a:r>
              <a:rPr sz="1320" b="0" i="0">
                <a:solidFill>
                  <a:srgbClr val="1C3144"/>
                </a:solidFill>
                <a:latin typeface="Calibri"/>
              </a:rPr>
              <a:t>Ask for the spread. If the top two overlap, what decided between them?</a:t>
            </a:r>
          </a:p>
        </p:txBody>
      </p:sp>
      <p:sp>
        <p:nvSpPr>
          <p:cNvPr id="11" name="Rounded Rectangle 10"/>
          <p:cNvSpPr/>
          <p:nvPr/>
        </p:nvSpPr>
        <p:spPr>
          <a:xfrm>
            <a:off x="685800" y="3646747"/>
            <a:ext cx="10820095" cy="40233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05256" y="370161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3</a:t>
            </a:r>
          </a:p>
        </p:txBody>
      </p:sp>
      <p:sp>
        <p:nvSpPr>
          <p:cNvPr id="13" name="TextBox 12"/>
          <p:cNvSpPr txBox="1"/>
          <p:nvPr/>
        </p:nvSpPr>
        <p:spPr>
          <a:xfrm>
            <a:off x="1435607" y="3692467"/>
            <a:ext cx="9814255" cy="310896"/>
          </a:xfrm>
          <a:prstGeom prst="rect">
            <a:avLst/>
          </a:prstGeom>
          <a:noFill/>
        </p:spPr>
        <p:txBody>
          <a:bodyPr wrap="square" lIns="0" rIns="0" tIns="0" bIns="0" anchor="t">
            <a:spAutoFit/>
          </a:bodyPr>
          <a:lstStyle/>
          <a:p>
            <a:pPr algn="l">
              <a:lnSpc>
                <a:spcPct val="116000"/>
              </a:lnSpc>
              <a:spcAft>
                <a:spcPts val="600"/>
              </a:spcAft>
            </a:pPr>
            <a:r>
              <a:rPr sz="1320" b="0" i="0">
                <a:solidFill>
                  <a:srgbClr val="1C3144"/>
                </a:solidFill>
                <a:latin typeface="Calibri"/>
              </a:rPr>
              <a:t>Ask what the metric costs. You accept eleven false alarms a month. Have you asked what the operators do to an alarm that cries wolf?</a:t>
            </a:r>
          </a:p>
        </p:txBody>
      </p:sp>
      <p:sp>
        <p:nvSpPr>
          <p:cNvPr id="14" name="Rounded Rectangle 13"/>
          <p:cNvSpPr/>
          <p:nvPr/>
        </p:nvSpPr>
        <p:spPr>
          <a:xfrm>
            <a:off x="685800" y="4103947"/>
            <a:ext cx="10820095" cy="40233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05256" y="415881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4</a:t>
            </a:r>
          </a:p>
        </p:txBody>
      </p:sp>
      <p:sp>
        <p:nvSpPr>
          <p:cNvPr id="16" name="TextBox 15"/>
          <p:cNvSpPr txBox="1"/>
          <p:nvPr/>
        </p:nvSpPr>
        <p:spPr>
          <a:xfrm>
            <a:off x="1435607" y="4149667"/>
            <a:ext cx="9814255" cy="310896"/>
          </a:xfrm>
          <a:prstGeom prst="rect">
            <a:avLst/>
          </a:prstGeom>
          <a:noFill/>
        </p:spPr>
        <p:txBody>
          <a:bodyPr wrap="square" lIns="0" rIns="0" tIns="0" bIns="0" anchor="t">
            <a:spAutoFit/>
          </a:bodyPr>
          <a:lstStyle/>
          <a:p>
            <a:pPr algn="l">
              <a:lnSpc>
                <a:spcPct val="116000"/>
              </a:lnSpc>
              <a:spcAft>
                <a:spcPts val="600"/>
              </a:spcAft>
            </a:pPr>
            <a:r>
              <a:rPr sz="1320" b="0" i="0">
                <a:solidFill>
                  <a:srgbClr val="1C3144"/>
                </a:solidFill>
                <a:latin typeface="Calibri"/>
              </a:rPr>
              <a:t>Ask them to explain one prediction. Your recall is 0.62 on the failure class. Which failure mode are you blind to?</a:t>
            </a:r>
          </a:p>
        </p:txBody>
      </p:sp>
      <p:sp>
        <p:nvSpPr>
          <p:cNvPr id="17" name="Rounded Rectangle 16"/>
          <p:cNvSpPr/>
          <p:nvPr/>
        </p:nvSpPr>
        <p:spPr>
          <a:xfrm>
            <a:off x="685800" y="4561147"/>
            <a:ext cx="10820095" cy="40233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05256" y="461601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5</a:t>
            </a:r>
          </a:p>
        </p:txBody>
      </p:sp>
      <p:sp>
        <p:nvSpPr>
          <p:cNvPr id="19" name="TextBox 18"/>
          <p:cNvSpPr txBox="1"/>
          <p:nvPr/>
        </p:nvSpPr>
        <p:spPr>
          <a:xfrm>
            <a:off x="1435607" y="4606867"/>
            <a:ext cx="9814255" cy="310896"/>
          </a:xfrm>
          <a:prstGeom prst="rect">
            <a:avLst/>
          </a:prstGeom>
          <a:noFill/>
        </p:spPr>
        <p:txBody>
          <a:bodyPr wrap="square" lIns="0" rIns="0" tIns="0" bIns="0" anchor="t">
            <a:spAutoFit/>
          </a:bodyPr>
          <a:lstStyle/>
          <a:p>
            <a:pPr algn="l">
              <a:lnSpc>
                <a:spcPct val="116000"/>
              </a:lnSpc>
              <a:spcAft>
                <a:spcPts val="600"/>
              </a:spcAft>
            </a:pPr>
            <a:r>
              <a:rPr sz="1320" b="0" i="0">
                <a:solidFill>
                  <a:srgbClr val="1C3144"/>
                </a:solidFill>
                <a:latin typeface="Calibri"/>
              </a:rPr>
              <a:t>Ask about the edge of the data: what comes back for an input outside the training range, and does it warn you?</a:t>
            </a:r>
          </a:p>
        </p:txBody>
      </p:sp>
      <p:sp>
        <p:nvSpPr>
          <p:cNvPr id="20" name="Rounded Rectangle 19"/>
          <p:cNvSpPr/>
          <p:nvPr/>
        </p:nvSpPr>
        <p:spPr>
          <a:xfrm>
            <a:off x="685800" y="5018347"/>
            <a:ext cx="10820095" cy="40233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905256" y="507321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6</a:t>
            </a:r>
          </a:p>
        </p:txBody>
      </p:sp>
      <p:sp>
        <p:nvSpPr>
          <p:cNvPr id="22" name="TextBox 21"/>
          <p:cNvSpPr txBox="1"/>
          <p:nvPr/>
        </p:nvSpPr>
        <p:spPr>
          <a:xfrm>
            <a:off x="1435607" y="5064067"/>
            <a:ext cx="9814255" cy="310896"/>
          </a:xfrm>
          <a:prstGeom prst="rect">
            <a:avLst/>
          </a:prstGeom>
          <a:noFill/>
        </p:spPr>
        <p:txBody>
          <a:bodyPr wrap="square" lIns="0" rIns="0" tIns="0" bIns="0" anchor="t">
            <a:spAutoFit/>
          </a:bodyPr>
          <a:lstStyle/>
          <a:p>
            <a:pPr algn="l">
              <a:lnSpc>
                <a:spcPct val="116000"/>
              </a:lnSpc>
              <a:spcAft>
                <a:spcPts val="600"/>
              </a:spcAft>
            </a:pPr>
            <a:r>
              <a:rPr sz="1320" b="0" i="0">
                <a:solidFill>
                  <a:srgbClr val="1C3144"/>
                </a:solidFill>
                <a:latin typeface="Calibri"/>
              </a:rPr>
              <a:t>Ask what would break it. The line was rewound in March. Which side of that date is your training data on?</a:t>
            </a:r>
          </a:p>
        </p:txBody>
      </p:sp>
      <p:sp>
        <p:nvSpPr>
          <p:cNvPr id="23" name="Rounded Rectangle 22"/>
          <p:cNvSpPr/>
          <p:nvPr/>
        </p:nvSpPr>
        <p:spPr>
          <a:xfrm>
            <a:off x="685800" y="5530411"/>
            <a:ext cx="10820095" cy="992912"/>
          </a:xfrm>
          <a:prstGeom prst="roundRect">
            <a:avLst>
              <a:gd name="adj" fmla="val 6000"/>
            </a:avLst>
          </a:prstGeom>
          <a:solidFill>
            <a:srgbClr val="E457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78408" y="5667571"/>
            <a:ext cx="10234879" cy="718592"/>
          </a:xfrm>
          <a:prstGeom prst="rect">
            <a:avLst/>
          </a:prstGeom>
          <a:noFill/>
        </p:spPr>
        <p:txBody>
          <a:bodyPr wrap="square" lIns="0" rIns="0" tIns="0" bIns="0" anchor="t">
            <a:spAutoFit/>
          </a:bodyPr>
          <a:lstStyle/>
          <a:p>
            <a:pPr algn="l">
              <a:lnSpc>
                <a:spcPct val="118000"/>
              </a:lnSpc>
              <a:spcAft>
                <a:spcPts val="600"/>
              </a:spcAft>
            </a:pPr>
            <a:r>
              <a:rPr sz="2021" b="1" i="0">
                <a:solidFill>
                  <a:srgbClr val="FFFFFF"/>
                </a:solidFill>
                <a:latin typeface="Calibri"/>
              </a:rPr>
              <a:t>Every one of these six can be answered from a notebook. That is what makes them fair challenges rather than opinions.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6</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Milestone 3, and what to do this week</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What is due next week, before the quiz closes the session.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MILESTONE AND QUIZ</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Before you leave the room</a:t>
            </a:r>
          </a:p>
        </p:txBody>
      </p:sp>
      <p:sp>
        <p:nvSpPr>
          <p:cNvPr id="4" name="Rounded Rectangle 3"/>
          <p:cNvSpPr/>
          <p:nvPr/>
        </p:nvSpPr>
        <p:spPr>
          <a:xfrm>
            <a:off x="685800" y="1911095"/>
            <a:ext cx="10820095" cy="1617302"/>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042416" y="2628307"/>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554480" y="2029967"/>
            <a:ext cx="9631375" cy="475488"/>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Project Milestone 3 — due at the start of Week 13</a:t>
            </a:r>
          </a:p>
        </p:txBody>
      </p:sp>
      <p:sp>
        <p:nvSpPr>
          <p:cNvPr id="7" name="TextBox 6"/>
          <p:cNvSpPr txBox="1"/>
          <p:nvPr/>
        </p:nvSpPr>
        <p:spPr>
          <a:xfrm>
            <a:off x="1554480" y="2423159"/>
            <a:ext cx="9631375" cy="1013798"/>
          </a:xfrm>
          <a:prstGeom prst="rect">
            <a:avLst/>
          </a:prstGeom>
          <a:noFill/>
        </p:spPr>
        <p:txBody>
          <a:bodyPr wrap="square" lIns="0" rIns="0" tIns="0" bIns="0" anchor="t">
            <a:spAutoFit/>
          </a:bodyPr>
          <a:lstStyle/>
          <a:p>
            <a:pPr algn="l">
              <a:lnSpc>
                <a:spcPct val="116000"/>
              </a:lnSpc>
              <a:spcAft>
                <a:spcPts val="600"/>
              </a:spcAft>
            </a:pPr>
            <a:r>
              <a:rPr sz="1584" b="0" i="0">
                <a:solidFill>
                  <a:srgbClr val="3C4E5E"/>
                </a:solidFill>
                <a:latin typeface="Calibri"/>
              </a:rPr>
              <a:t>A model comparison table for your own project dataset, with at least three candidates under one protocol, and a justified selection. Graded milestone within the project's 25 per cent. State the four things you held constant and the seed you used.</a:t>
            </a:r>
          </a:p>
        </p:txBody>
      </p:sp>
      <p:sp>
        <p:nvSpPr>
          <p:cNvPr id="8" name="Rounded Rectangle 7"/>
          <p:cNvSpPr/>
          <p:nvPr/>
        </p:nvSpPr>
        <p:spPr>
          <a:xfrm>
            <a:off x="685800" y="3583262"/>
            <a:ext cx="10820095" cy="1326472"/>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42416" y="4155059"/>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554480" y="3702134"/>
            <a:ext cx="9631375" cy="475488"/>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This week's quiz — five minutes, and two questions come from earlier weeks</a:t>
            </a:r>
          </a:p>
        </p:txBody>
      </p:sp>
      <p:sp>
        <p:nvSpPr>
          <p:cNvPr id="11" name="TextBox 10"/>
          <p:cNvSpPr txBox="1"/>
          <p:nvPr/>
        </p:nvSpPr>
        <p:spPr>
          <a:xfrm>
            <a:off x="1554480" y="4095326"/>
            <a:ext cx="9631375" cy="722968"/>
          </a:xfrm>
          <a:prstGeom prst="rect">
            <a:avLst/>
          </a:prstGeom>
          <a:noFill/>
        </p:spPr>
        <p:txBody>
          <a:bodyPr wrap="square" lIns="0" rIns="0" tIns="0" bIns="0" anchor="t">
            <a:spAutoFit/>
          </a:bodyPr>
          <a:lstStyle/>
          <a:p>
            <a:pPr algn="l">
              <a:lnSpc>
                <a:spcPct val="116000"/>
              </a:lnSpc>
              <a:spcAft>
                <a:spcPts val="600"/>
              </a:spcAft>
            </a:pPr>
            <a:r>
              <a:rPr sz="1584" b="0" i="0">
                <a:solidFill>
                  <a:srgbClr val="3C4E5E"/>
                </a:solidFill>
                <a:latin typeface="Calibri"/>
              </a:rPr>
              <a:t>Whether a difference between two models is real given the fold spread, and which model a stated constraint selects. From this week on, two of the five are drawn from Weeks 1 to 10, so nothing is ever finished with.</a:t>
            </a:r>
          </a:p>
        </p:txBody>
      </p:sp>
      <p:sp>
        <p:nvSpPr>
          <p:cNvPr id="12" name="Rounded Rectangle 11"/>
          <p:cNvSpPr/>
          <p:nvPr/>
        </p:nvSpPr>
        <p:spPr>
          <a:xfrm>
            <a:off x="685800" y="4964599"/>
            <a:ext cx="10820095" cy="1326472"/>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42416" y="5536395"/>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554480" y="5083471"/>
            <a:ext cx="9631375" cy="475488"/>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A11 is graded in session and it is the last practical challenge</a:t>
            </a:r>
          </a:p>
        </p:txBody>
      </p:sp>
      <p:sp>
        <p:nvSpPr>
          <p:cNvPr id="15" name="TextBox 14"/>
          <p:cNvSpPr txBox="1"/>
          <p:nvPr/>
        </p:nvSpPr>
        <p:spPr>
          <a:xfrm>
            <a:off x="1554480" y="5476663"/>
            <a:ext cx="9631375" cy="722968"/>
          </a:xfrm>
          <a:prstGeom prst="rect">
            <a:avLst/>
          </a:prstGeom>
          <a:noFill/>
        </p:spPr>
        <p:txBody>
          <a:bodyPr wrap="square" lIns="0" rIns="0" tIns="0" bIns="0" anchor="t">
            <a:spAutoFit/>
          </a:bodyPr>
          <a:lstStyle/>
          <a:p>
            <a:pPr algn="l">
              <a:lnSpc>
                <a:spcPct val="116000"/>
              </a:lnSpc>
              <a:spcAft>
                <a:spcPts val="600"/>
              </a:spcAft>
            </a:pPr>
            <a:r>
              <a:rPr sz="1584" b="0" i="0">
                <a:solidFill>
                  <a:srgbClr val="3C4E5E"/>
                </a:solidFill>
                <a:latin typeface="Calibri"/>
              </a:rPr>
              <a:t>Your one-page recommendation, annotated with what you conceded in the defence round. Hand it in before you leave.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MODULE SUMMARY</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you should take away</a:t>
            </a:r>
          </a:p>
        </p:txBody>
      </p:sp>
      <p:sp>
        <p:nvSpPr>
          <p:cNvPr id="4" name="Oval 3"/>
          <p:cNvSpPr/>
          <p:nvPr/>
        </p:nvSpPr>
        <p:spPr>
          <a:xfrm>
            <a:off x="685800" y="196596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1911095"/>
            <a:ext cx="10271455" cy="677230"/>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A comparison is fair when the split, the folds, the preprocessing and the metric are all held constant and only the model changes.</a:t>
            </a:r>
          </a:p>
        </p:txBody>
      </p:sp>
      <p:sp>
        <p:nvSpPr>
          <p:cNvPr id="6" name="Oval 5"/>
          <p:cNvSpPr/>
          <p:nvPr/>
        </p:nvSpPr>
        <p:spPr>
          <a:xfrm>
            <a:off x="685800" y="268891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634046"/>
            <a:ext cx="10271455" cy="388907"/>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A leaderboard without a protocol ranks the accidents of the splits alongside the models, and you cannot tell them apart.</a:t>
            </a:r>
          </a:p>
        </p:txBody>
      </p:sp>
      <p:sp>
        <p:nvSpPr>
          <p:cNvPr id="8" name="Oval 7"/>
          <p:cNvSpPr/>
          <p:nvPr/>
        </p:nvSpPr>
        <p:spPr>
          <a:xfrm>
            <a:off x="685800" y="3123537"/>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3068673"/>
            <a:ext cx="10271455" cy="677230"/>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A difference between two scores is real only when it is larger than the spread across folds. Report the mean and the spread every time.</a:t>
            </a:r>
          </a:p>
        </p:txBody>
      </p:sp>
      <p:sp>
        <p:nvSpPr>
          <p:cNvPr id="10" name="Oval 9"/>
          <p:cNvSpPr/>
          <p:nvPr/>
        </p:nvSpPr>
        <p:spPr>
          <a:xfrm>
            <a:off x="685800" y="3846487"/>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3791623"/>
            <a:ext cx="10271455" cy="388907"/>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A parameter is found by fitting. A hyperparameter is chosen before fitting, and a search is how you choose it.</a:t>
            </a:r>
          </a:p>
        </p:txBody>
      </p:sp>
      <p:sp>
        <p:nvSpPr>
          <p:cNvPr id="12" name="Oval 11"/>
          <p:cNvSpPr/>
          <p:nvPr/>
        </p:nvSpPr>
        <p:spPr>
          <a:xfrm>
            <a:off x="685800" y="4281114"/>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4226250"/>
            <a:ext cx="10271455" cy="388907"/>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The search runs inside cross-validation, and the test set takes no part in choosing anything.</a:t>
            </a:r>
          </a:p>
        </p:txBody>
      </p:sp>
      <p:sp>
        <p:nvSpPr>
          <p:cNvPr id="14" name="Oval 13"/>
          <p:cNvSpPr/>
          <p:nvPr/>
        </p:nvSpPr>
        <p:spPr>
          <a:xfrm>
            <a:off x="685800" y="4715741"/>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4660877"/>
            <a:ext cx="10271455" cy="677230"/>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Five criteria decide the choice besides accuracy: explainability, cost, data hunger, failure behaviour, and who has to maintain it.</a:t>
            </a:r>
          </a:p>
        </p:txBody>
      </p:sp>
      <p:sp>
        <p:nvSpPr>
          <p:cNvPr id="16" name="Oval 15"/>
          <p:cNvSpPr/>
          <p:nvPr/>
        </p:nvSpPr>
        <p:spPr>
          <a:xfrm>
            <a:off x="685800" y="5438691"/>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5383827"/>
            <a:ext cx="10271455" cy="388907"/>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A recommendation names the trade you accepted and the conditions under which it would change.</a:t>
            </a:r>
          </a:p>
        </p:txBody>
      </p:sp>
      <p:sp>
        <p:nvSpPr>
          <p:cNvPr id="18" name="Oval 17"/>
          <p:cNvSpPr/>
          <p:nvPr/>
        </p:nvSpPr>
        <p:spPr>
          <a:xfrm>
            <a:off x="685800" y="5873318"/>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5818454"/>
            <a:ext cx="10271455" cy="388907"/>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Conceding a correct challenge and saying what you would do differently is a professional strength, and it is marked.</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CHECK YOUR UNDERSTANDING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Self-test — write something for each before you look</a:t>
            </a:r>
          </a:p>
        </p:txBody>
      </p:sp>
      <p:sp>
        <p:nvSpPr>
          <p:cNvPr id="4" name="Oval 3"/>
          <p:cNvSpPr/>
          <p:nvPr/>
        </p:nvSpPr>
        <p:spPr>
          <a:xfrm>
            <a:off x="685800" y="194767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134295" cy="474012"/>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Two models score 0.84 and 0.82, and each one's five folds are spread over 0.06. What do you report?</a:t>
            </a:r>
          </a:p>
        </p:txBody>
      </p:sp>
      <p:sp>
        <p:nvSpPr>
          <p:cNvPr id="6" name="Oval 5"/>
          <p:cNvSpPr/>
          <p:nvPr/>
        </p:nvSpPr>
        <p:spPr>
          <a:xfrm>
            <a:off x="685800" y="2476548"/>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7" name="TextBox 6"/>
          <p:cNvSpPr txBox="1"/>
          <p:nvPr/>
        </p:nvSpPr>
        <p:spPr>
          <a:xfrm>
            <a:off x="1216152" y="2439972"/>
            <a:ext cx="10134295" cy="820009"/>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You tuned max_depth by trying values and checking the test score each time. What have you spent, and what should you have done?</a:t>
            </a:r>
          </a:p>
        </p:txBody>
      </p:sp>
      <p:sp>
        <p:nvSpPr>
          <p:cNvPr id="8" name="Oval 7"/>
          <p:cNvSpPr/>
          <p:nvPr/>
        </p:nvSpPr>
        <p:spPr>
          <a:xfrm>
            <a:off x="685800" y="3351421"/>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9" name="TextBox 8"/>
          <p:cNvSpPr txBox="1"/>
          <p:nvPr/>
        </p:nvSpPr>
        <p:spPr>
          <a:xfrm>
            <a:off x="1216152" y="3314845"/>
            <a:ext cx="10134295" cy="820009"/>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Your forest beats your linear model by 0.03 of R². The client has to justify every decision in writing. Which do you recommend, and what is the sentence?</a:t>
            </a:r>
          </a:p>
        </p:txBody>
      </p:sp>
      <p:sp>
        <p:nvSpPr>
          <p:cNvPr id="10" name="Oval 9"/>
          <p:cNvSpPr/>
          <p:nvPr/>
        </p:nvSpPr>
        <p:spPr>
          <a:xfrm>
            <a:off x="685800" y="4226294"/>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a:t>
            </a:r>
          </a:p>
        </p:txBody>
      </p:sp>
      <p:sp>
        <p:nvSpPr>
          <p:cNvPr id="11" name="TextBox 10"/>
          <p:cNvSpPr txBox="1"/>
          <p:nvPr/>
        </p:nvSpPr>
        <p:spPr>
          <a:xfrm>
            <a:off x="1216152" y="4189718"/>
            <a:ext cx="10134295" cy="820009"/>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Give one hyperparameter and one parameter for a decision tree, and say which one a grid search can reach.</a:t>
            </a:r>
          </a:p>
        </p:txBody>
      </p:sp>
      <p:sp>
        <p:nvSpPr>
          <p:cNvPr id="12" name="Oval 11"/>
          <p:cNvSpPr/>
          <p:nvPr/>
        </p:nvSpPr>
        <p:spPr>
          <a:xfrm>
            <a:off x="685800" y="5101168"/>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E</a:t>
            </a:r>
          </a:p>
        </p:txBody>
      </p:sp>
      <p:sp>
        <p:nvSpPr>
          <p:cNvPr id="13" name="TextBox 12"/>
          <p:cNvSpPr txBox="1"/>
          <p:nvPr/>
        </p:nvSpPr>
        <p:spPr>
          <a:xfrm>
            <a:off x="1216152" y="5064592"/>
            <a:ext cx="10134295" cy="820009"/>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A team reports 'random forest, R² = 0.91' and nothing else. Name three things you cannot tell from that.</a:t>
            </a:r>
          </a:p>
        </p:txBody>
      </p:sp>
      <p:sp>
        <p:nvSpPr>
          <p:cNvPr id="14" name="TextBox 13"/>
          <p:cNvSpPr txBox="1"/>
          <p:nvPr/>
        </p:nvSpPr>
        <p:spPr>
          <a:xfrm>
            <a:off x="685800" y="6108192"/>
            <a:ext cx="10820095" cy="365760"/>
          </a:xfrm>
          <a:prstGeom prst="rect">
            <a:avLst/>
          </a:prstGeom>
          <a:noFill/>
        </p:spPr>
        <p:txBody>
          <a:bodyPr wrap="square" lIns="0" rIns="0" tIns="0" bIns="0" anchor="t">
            <a:spAutoFit/>
          </a:bodyPr>
          <a:lstStyle/>
          <a:p>
            <a:pPr algn="l">
              <a:spcAft>
                <a:spcPts val="600"/>
              </a:spcAft>
            </a:pPr>
            <a:r>
              <a:rPr sz="1584" b="0" i="1">
                <a:solidFill>
                  <a:srgbClr val="6B7A8A"/>
                </a:solidFill>
                <a:latin typeface="Calibri"/>
              </a:rPr>
              <a:t>Answers on the next slide. Good Practical Test 2 preparation.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ANSWERS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did you do?</a:t>
            </a:r>
          </a:p>
        </p:txBody>
      </p:sp>
      <p:sp>
        <p:nvSpPr>
          <p:cNvPr id="4" name="Oval 3"/>
          <p:cNvSpPr/>
          <p:nvPr/>
        </p:nvSpPr>
        <p:spPr>
          <a:xfrm>
            <a:off x="685800"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4614519" cy="274320"/>
          </a:xfrm>
          <a:prstGeom prst="rect">
            <a:avLst/>
          </a:prstGeom>
          <a:noFill/>
        </p:spPr>
        <p:txBody>
          <a:bodyPr wrap="square" lIns="0" rIns="0" tIns="0" bIns="0" anchor="t">
            <a:spAutoFit/>
          </a:bodyPr>
          <a:lstStyle/>
          <a:p>
            <a:pPr algn="l">
              <a:spcAft>
                <a:spcPts val="600"/>
              </a:spcAft>
            </a:pPr>
            <a:r>
              <a:rPr sz="1320" b="1" i="0">
                <a:solidFill>
                  <a:srgbClr val="6B7A8A"/>
                </a:solidFill>
                <a:latin typeface="Calibri"/>
              </a:rPr>
              <a:t>0.84 and 0.82, spread 0.06?</a:t>
            </a:r>
          </a:p>
        </p:txBody>
      </p:sp>
      <p:sp>
        <p:nvSpPr>
          <p:cNvPr id="6" name="TextBox 5"/>
          <p:cNvSpPr txBox="1"/>
          <p:nvPr/>
        </p:nvSpPr>
        <p:spPr>
          <a:xfrm>
            <a:off x="1216152" y="2203703"/>
            <a:ext cx="4614519" cy="1130878"/>
          </a:xfrm>
          <a:prstGeom prst="rect">
            <a:avLst/>
          </a:prstGeom>
          <a:noFill/>
        </p:spPr>
        <p:txBody>
          <a:bodyPr wrap="square" lIns="0" rIns="0" tIns="0" bIns="0" anchor="t">
            <a:spAutoFit/>
          </a:bodyPr>
          <a:lstStyle/>
          <a:p>
            <a:pPr algn="l">
              <a:lnSpc>
                <a:spcPct val="120000"/>
              </a:lnSpc>
              <a:spcAft>
                <a:spcPts val="600"/>
              </a:spcAft>
            </a:pPr>
            <a:r>
              <a:rPr sz="1320" b="0" i="0">
                <a:solidFill>
                  <a:srgbClr val="2A3B4A"/>
                </a:solidFill>
                <a:latin typeface="Calibri"/>
              </a:rPr>
              <a:t>That the two cannot be separated on this data. Report both means with their spreads, say the difference is smaller than the fold-to-fold variation, and then say which of the other five criteria decided between them.</a:t>
            </a:r>
          </a:p>
        </p:txBody>
      </p:sp>
      <p:sp>
        <p:nvSpPr>
          <p:cNvPr id="7" name="Oval 6"/>
          <p:cNvSpPr/>
          <p:nvPr/>
        </p:nvSpPr>
        <p:spPr>
          <a:xfrm>
            <a:off x="685800" y="3407734"/>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8" name="TextBox 7"/>
          <p:cNvSpPr txBox="1"/>
          <p:nvPr/>
        </p:nvSpPr>
        <p:spPr>
          <a:xfrm>
            <a:off x="1216152" y="3371158"/>
            <a:ext cx="4614519" cy="274320"/>
          </a:xfrm>
          <a:prstGeom prst="rect">
            <a:avLst/>
          </a:prstGeom>
          <a:noFill/>
        </p:spPr>
        <p:txBody>
          <a:bodyPr wrap="square" lIns="0" rIns="0" tIns="0" bIns="0" anchor="t">
            <a:spAutoFit/>
          </a:bodyPr>
          <a:lstStyle/>
          <a:p>
            <a:pPr algn="l">
              <a:spcAft>
                <a:spcPts val="600"/>
              </a:spcAft>
            </a:pPr>
            <a:r>
              <a:rPr sz="1320" b="1" i="0">
                <a:solidFill>
                  <a:srgbClr val="6B7A8A"/>
                </a:solidFill>
                <a:latin typeface="Calibri"/>
              </a:rPr>
              <a:t>Tuning against the test score?</a:t>
            </a:r>
          </a:p>
        </p:txBody>
      </p:sp>
      <p:sp>
        <p:nvSpPr>
          <p:cNvPr id="9" name="TextBox 8"/>
          <p:cNvSpPr txBox="1"/>
          <p:nvPr/>
        </p:nvSpPr>
        <p:spPr>
          <a:xfrm>
            <a:off x="1216152" y="3663766"/>
            <a:ext cx="4614519" cy="1130878"/>
          </a:xfrm>
          <a:prstGeom prst="rect">
            <a:avLst/>
          </a:prstGeom>
          <a:noFill/>
        </p:spPr>
        <p:txBody>
          <a:bodyPr wrap="square" lIns="0" rIns="0" tIns="0" bIns="0" anchor="t">
            <a:spAutoFit/>
          </a:bodyPr>
          <a:lstStyle/>
          <a:p>
            <a:pPr algn="l">
              <a:lnSpc>
                <a:spcPct val="120000"/>
              </a:lnSpc>
              <a:spcAft>
                <a:spcPts val="600"/>
              </a:spcAft>
            </a:pPr>
            <a:r>
              <a:rPr sz="1320" b="0" i="0">
                <a:solidFill>
                  <a:srgbClr val="2A3B4A"/>
                </a:solidFill>
                <a:latin typeface="Calibri"/>
              </a:rPr>
              <a:t>You have spent the test set. It is now part of how you chose the model, so it can no longer tell you how the model behaves on unseen data. Tune with cross-validation on the training rows, then score the chosen model on the test rows once.</a:t>
            </a:r>
          </a:p>
        </p:txBody>
      </p:sp>
      <p:sp>
        <p:nvSpPr>
          <p:cNvPr id="10" name="Oval 9"/>
          <p:cNvSpPr/>
          <p:nvPr/>
        </p:nvSpPr>
        <p:spPr>
          <a:xfrm>
            <a:off x="685800" y="4867797"/>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11" name="TextBox 10"/>
          <p:cNvSpPr txBox="1"/>
          <p:nvPr/>
        </p:nvSpPr>
        <p:spPr>
          <a:xfrm>
            <a:off x="1216152" y="4831221"/>
            <a:ext cx="4614519" cy="274320"/>
          </a:xfrm>
          <a:prstGeom prst="rect">
            <a:avLst/>
          </a:prstGeom>
          <a:noFill/>
        </p:spPr>
        <p:txBody>
          <a:bodyPr wrap="square" lIns="0" rIns="0" tIns="0" bIns="0" anchor="t">
            <a:spAutoFit/>
          </a:bodyPr>
          <a:lstStyle/>
          <a:p>
            <a:pPr algn="l">
              <a:spcAft>
                <a:spcPts val="600"/>
              </a:spcAft>
            </a:pPr>
            <a:r>
              <a:rPr sz="1320" b="1" i="0">
                <a:solidFill>
                  <a:srgbClr val="6B7A8A"/>
                </a:solidFill>
                <a:latin typeface="Calibri"/>
              </a:rPr>
              <a:t>Forest by 0.03, client needs a written reason?</a:t>
            </a:r>
          </a:p>
        </p:txBody>
      </p:sp>
      <p:sp>
        <p:nvSpPr>
          <p:cNvPr id="12" name="TextBox 11"/>
          <p:cNvSpPr txBox="1"/>
          <p:nvPr/>
        </p:nvSpPr>
        <p:spPr>
          <a:xfrm>
            <a:off x="1216152" y="5123829"/>
            <a:ext cx="4614519" cy="1130878"/>
          </a:xfrm>
          <a:prstGeom prst="rect">
            <a:avLst/>
          </a:prstGeom>
          <a:noFill/>
        </p:spPr>
        <p:txBody>
          <a:bodyPr wrap="square" lIns="0" rIns="0" tIns="0" bIns="0" anchor="t">
            <a:spAutoFit/>
          </a:bodyPr>
          <a:lstStyle/>
          <a:p>
            <a:pPr algn="l">
              <a:lnSpc>
                <a:spcPct val="120000"/>
              </a:lnSpc>
              <a:spcAft>
                <a:spcPts val="600"/>
              </a:spcAft>
            </a:pPr>
            <a:r>
              <a:rPr sz="1320" b="0" i="0">
                <a:solidFill>
                  <a:srgbClr val="2A3B4A"/>
                </a:solidFill>
                <a:latin typeface="Calibri"/>
              </a:rPr>
              <a:t>Recommend the model you can explain, and say what you gave up: 'we accepted about 0.03 of R² to get a model whose reasoning can be put in a rejection notice.' A decision that cannot be justified in writing cannot be used here, whatever it scores.</a:t>
            </a:r>
          </a:p>
        </p:txBody>
      </p:sp>
      <p:sp>
        <p:nvSpPr>
          <p:cNvPr id="13" name="Oval 12"/>
          <p:cNvSpPr/>
          <p:nvPr/>
        </p:nvSpPr>
        <p:spPr>
          <a:xfrm>
            <a:off x="6324447"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a:t>
            </a:r>
          </a:p>
        </p:txBody>
      </p:sp>
      <p:sp>
        <p:nvSpPr>
          <p:cNvPr id="14" name="TextBox 13"/>
          <p:cNvSpPr txBox="1"/>
          <p:nvPr/>
        </p:nvSpPr>
        <p:spPr>
          <a:xfrm>
            <a:off x="6854799" y="1911095"/>
            <a:ext cx="4614519" cy="274320"/>
          </a:xfrm>
          <a:prstGeom prst="rect">
            <a:avLst/>
          </a:prstGeom>
          <a:noFill/>
        </p:spPr>
        <p:txBody>
          <a:bodyPr wrap="square" lIns="0" rIns="0" tIns="0" bIns="0" anchor="t">
            <a:spAutoFit/>
          </a:bodyPr>
          <a:lstStyle/>
          <a:p>
            <a:pPr algn="l">
              <a:spcAft>
                <a:spcPts val="600"/>
              </a:spcAft>
            </a:pPr>
            <a:r>
              <a:rPr sz="1320" b="1" i="0">
                <a:solidFill>
                  <a:srgbClr val="6B7A8A"/>
                </a:solidFill>
                <a:latin typeface="Calibri"/>
              </a:rPr>
              <a:t>Hyperparameter and parameter for a tree?</a:t>
            </a:r>
          </a:p>
        </p:txBody>
      </p:sp>
      <p:sp>
        <p:nvSpPr>
          <p:cNvPr id="15" name="TextBox 14"/>
          <p:cNvSpPr txBox="1"/>
          <p:nvPr/>
        </p:nvSpPr>
        <p:spPr>
          <a:xfrm>
            <a:off x="6854799" y="2203703"/>
            <a:ext cx="4614519" cy="880163"/>
          </a:xfrm>
          <a:prstGeom prst="rect">
            <a:avLst/>
          </a:prstGeom>
          <a:noFill/>
        </p:spPr>
        <p:txBody>
          <a:bodyPr wrap="square" lIns="0" rIns="0" tIns="0" bIns="0" anchor="t">
            <a:spAutoFit/>
          </a:bodyPr>
          <a:lstStyle/>
          <a:p>
            <a:pPr algn="l">
              <a:lnSpc>
                <a:spcPct val="120000"/>
              </a:lnSpc>
              <a:spcAft>
                <a:spcPts val="600"/>
              </a:spcAft>
            </a:pPr>
            <a:r>
              <a:rPr sz="1320" b="0" i="0">
                <a:solidFill>
                  <a:srgbClr val="2A3B4A"/>
                </a:solidFill>
                <a:latin typeface="Calibri"/>
              </a:rPr>
              <a:t>max_depth is a hyperparameter you set before fitting, and a grid search can reach it. The split thresholds inside the tree are parameters that fitting produces, and no search touches them.</a:t>
            </a:r>
          </a:p>
        </p:txBody>
      </p:sp>
      <p:sp>
        <p:nvSpPr>
          <p:cNvPr id="16" name="Oval 15"/>
          <p:cNvSpPr/>
          <p:nvPr/>
        </p:nvSpPr>
        <p:spPr>
          <a:xfrm>
            <a:off x="6324447" y="3157019"/>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E</a:t>
            </a:r>
          </a:p>
        </p:txBody>
      </p:sp>
      <p:sp>
        <p:nvSpPr>
          <p:cNvPr id="17" name="TextBox 16"/>
          <p:cNvSpPr txBox="1"/>
          <p:nvPr/>
        </p:nvSpPr>
        <p:spPr>
          <a:xfrm>
            <a:off x="6854799" y="3120443"/>
            <a:ext cx="4614519" cy="274320"/>
          </a:xfrm>
          <a:prstGeom prst="rect">
            <a:avLst/>
          </a:prstGeom>
          <a:noFill/>
        </p:spPr>
        <p:txBody>
          <a:bodyPr wrap="square" lIns="0" rIns="0" tIns="0" bIns="0" anchor="t">
            <a:spAutoFit/>
          </a:bodyPr>
          <a:lstStyle/>
          <a:p>
            <a:pPr algn="l">
              <a:spcAft>
                <a:spcPts val="600"/>
              </a:spcAft>
            </a:pPr>
            <a:r>
              <a:rPr sz="1320" b="1" i="0">
                <a:solidFill>
                  <a:srgbClr val="6B7A8A"/>
                </a:solidFill>
                <a:latin typeface="Calibri"/>
              </a:rPr>
              <a:t>'Random forest, R² = 0.91'?</a:t>
            </a:r>
          </a:p>
        </p:txBody>
      </p:sp>
      <p:sp>
        <p:nvSpPr>
          <p:cNvPr id="18" name="TextBox 17"/>
          <p:cNvSpPr txBox="1"/>
          <p:nvPr/>
        </p:nvSpPr>
        <p:spPr>
          <a:xfrm>
            <a:off x="6854799" y="3413051"/>
            <a:ext cx="4614519" cy="1130878"/>
          </a:xfrm>
          <a:prstGeom prst="rect">
            <a:avLst/>
          </a:prstGeom>
          <a:noFill/>
        </p:spPr>
        <p:txBody>
          <a:bodyPr wrap="square" lIns="0" rIns="0" tIns="0" bIns="0" anchor="t">
            <a:spAutoFit/>
          </a:bodyPr>
          <a:lstStyle/>
          <a:p>
            <a:pPr algn="l">
              <a:lnSpc>
                <a:spcPct val="120000"/>
              </a:lnSpc>
              <a:spcAft>
                <a:spcPts val="600"/>
              </a:spcAft>
            </a:pPr>
            <a:r>
              <a:rPr sz="1320" b="0" i="0">
                <a:solidFill>
                  <a:srgbClr val="2A3B4A"/>
                </a:solidFill>
                <a:latin typeface="Calibri"/>
              </a:rPr>
              <a:t>You cannot tell what it was compared against, what protocol produced the number, or how much it moves between folds. You also cannot tell which metric mattered to the client or what the model does when it is wrong.</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GLOSSARY — KEEP THIS SLIDE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Every word we used today</a:t>
            </a:r>
          </a:p>
        </p:txBody>
      </p:sp>
      <p:sp>
        <p:nvSpPr>
          <p:cNvPr id="4" name="TextBox 3"/>
          <p:cNvSpPr txBox="1"/>
          <p:nvPr/>
        </p:nvSpPr>
        <p:spPr>
          <a:xfrm>
            <a:off x="685800" y="191109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Comparison protocol</a:t>
            </a:r>
          </a:p>
        </p:txBody>
      </p:sp>
      <p:sp>
        <p:nvSpPr>
          <p:cNvPr id="5" name="TextBox 4"/>
          <p:cNvSpPr txBox="1"/>
          <p:nvPr/>
        </p:nvSpPr>
        <p:spPr>
          <a:xfrm>
            <a:off x="685800" y="209543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The split, folds, preprocessing and metric held constant across candidates.</a:t>
            </a:r>
          </a:p>
        </p:txBody>
      </p:sp>
      <p:sp>
        <p:nvSpPr>
          <p:cNvPr id="6" name="TextBox 5"/>
          <p:cNvSpPr txBox="1"/>
          <p:nvPr/>
        </p:nvSpPr>
        <p:spPr>
          <a:xfrm>
            <a:off x="685800" y="234543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Candidate model</a:t>
            </a:r>
          </a:p>
        </p:txBody>
      </p:sp>
      <p:sp>
        <p:nvSpPr>
          <p:cNvPr id="7" name="TextBox 6"/>
          <p:cNvSpPr txBox="1"/>
          <p:nvPr/>
        </p:nvSpPr>
        <p:spPr>
          <a:xfrm>
            <a:off x="685800" y="252977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One of the models being compared under the protocol.</a:t>
            </a:r>
          </a:p>
        </p:txBody>
      </p:sp>
      <p:sp>
        <p:nvSpPr>
          <p:cNvPr id="8" name="TextBox 7"/>
          <p:cNvSpPr txBox="1"/>
          <p:nvPr/>
        </p:nvSpPr>
        <p:spPr>
          <a:xfrm>
            <a:off x="685800" y="277977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Parameter</a:t>
            </a:r>
          </a:p>
        </p:txBody>
      </p:sp>
      <p:sp>
        <p:nvSpPr>
          <p:cNvPr id="9" name="TextBox 8"/>
          <p:cNvSpPr txBox="1"/>
          <p:nvPr/>
        </p:nvSpPr>
        <p:spPr>
          <a:xfrm>
            <a:off x="685800" y="296411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A number the fitting procedure works out from the data.</a:t>
            </a:r>
          </a:p>
        </p:txBody>
      </p:sp>
      <p:sp>
        <p:nvSpPr>
          <p:cNvPr id="10" name="TextBox 9"/>
          <p:cNvSpPr txBox="1"/>
          <p:nvPr/>
        </p:nvSpPr>
        <p:spPr>
          <a:xfrm>
            <a:off x="685800" y="321411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Hyperparameter</a:t>
            </a:r>
          </a:p>
        </p:txBody>
      </p:sp>
      <p:sp>
        <p:nvSpPr>
          <p:cNvPr id="11" name="TextBox 10"/>
          <p:cNvSpPr txBox="1"/>
          <p:nvPr/>
        </p:nvSpPr>
        <p:spPr>
          <a:xfrm>
            <a:off x="685800" y="339845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A number you choose before fitting begins.</a:t>
            </a:r>
          </a:p>
        </p:txBody>
      </p:sp>
      <p:sp>
        <p:nvSpPr>
          <p:cNvPr id="12" name="TextBox 11"/>
          <p:cNvSpPr txBox="1"/>
          <p:nvPr/>
        </p:nvSpPr>
        <p:spPr>
          <a:xfrm>
            <a:off x="685800" y="364845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Grid search</a:t>
            </a:r>
          </a:p>
        </p:txBody>
      </p:sp>
      <p:sp>
        <p:nvSpPr>
          <p:cNvPr id="13" name="TextBox 12"/>
          <p:cNvSpPr txBox="1"/>
          <p:nvPr/>
        </p:nvSpPr>
        <p:spPr>
          <a:xfrm>
            <a:off x="685800" y="383279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Try every combination in a table of hyperparameter values.</a:t>
            </a:r>
          </a:p>
        </p:txBody>
      </p:sp>
      <p:sp>
        <p:nvSpPr>
          <p:cNvPr id="14" name="TextBox 13"/>
          <p:cNvSpPr txBox="1"/>
          <p:nvPr/>
        </p:nvSpPr>
        <p:spPr>
          <a:xfrm>
            <a:off x="685800" y="408279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Random search</a:t>
            </a:r>
          </a:p>
        </p:txBody>
      </p:sp>
      <p:sp>
        <p:nvSpPr>
          <p:cNvPr id="15" name="TextBox 14"/>
          <p:cNvSpPr txBox="1"/>
          <p:nvPr/>
        </p:nvSpPr>
        <p:spPr>
          <a:xfrm>
            <a:off x="685800" y="426713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Sample combinations instead of covering them. Cheaper on large grids.</a:t>
            </a:r>
          </a:p>
        </p:txBody>
      </p:sp>
      <p:sp>
        <p:nvSpPr>
          <p:cNvPr id="16" name="TextBox 15"/>
          <p:cNvSpPr txBox="1"/>
          <p:nvPr/>
        </p:nvSpPr>
        <p:spPr>
          <a:xfrm>
            <a:off x="685800" y="451713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Nested search</a:t>
            </a:r>
          </a:p>
        </p:txBody>
      </p:sp>
      <p:sp>
        <p:nvSpPr>
          <p:cNvPr id="17" name="TextBox 16"/>
          <p:cNvSpPr txBox="1"/>
          <p:nvPr/>
        </p:nvSpPr>
        <p:spPr>
          <a:xfrm>
            <a:off x="685800" y="470147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The hyperparameter search running inside cross-validation.</a:t>
            </a:r>
          </a:p>
        </p:txBody>
      </p:sp>
      <p:sp>
        <p:nvSpPr>
          <p:cNvPr id="18" name="TextBox 17"/>
          <p:cNvSpPr txBox="1"/>
          <p:nvPr/>
        </p:nvSpPr>
        <p:spPr>
          <a:xfrm>
            <a:off x="685800" y="495147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GridSearchCV</a:t>
            </a:r>
          </a:p>
        </p:txBody>
      </p:sp>
      <p:sp>
        <p:nvSpPr>
          <p:cNvPr id="19" name="TextBox 18"/>
          <p:cNvSpPr txBox="1"/>
          <p:nvPr/>
        </p:nvSpPr>
        <p:spPr>
          <a:xfrm>
            <a:off x="685800" y="513581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scikit-learn's grid search with cross-validation built in.</a:t>
            </a:r>
          </a:p>
        </p:txBody>
      </p:sp>
      <p:sp>
        <p:nvSpPr>
          <p:cNvPr id="20" name="TextBox 19"/>
          <p:cNvSpPr txBox="1"/>
          <p:nvPr/>
        </p:nvSpPr>
        <p:spPr>
          <a:xfrm>
            <a:off x="685800" y="538581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step__argument</a:t>
            </a:r>
          </a:p>
        </p:txBody>
      </p:sp>
      <p:sp>
        <p:nvSpPr>
          <p:cNvPr id="21" name="TextBox 20"/>
          <p:cNvSpPr txBox="1"/>
          <p:nvPr/>
        </p:nvSpPr>
        <p:spPr>
          <a:xfrm>
            <a:off x="685800" y="557015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The double-underscore naming that reaches an argument inside a Pipeline step.</a:t>
            </a:r>
          </a:p>
        </p:txBody>
      </p:sp>
      <p:sp>
        <p:nvSpPr>
          <p:cNvPr id="22" name="TextBox 21"/>
          <p:cNvSpPr txBox="1"/>
          <p:nvPr/>
        </p:nvSpPr>
        <p:spPr>
          <a:xfrm>
            <a:off x="685800" y="582015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Fold-to-fold spread</a:t>
            </a:r>
          </a:p>
        </p:txBody>
      </p:sp>
      <p:sp>
        <p:nvSpPr>
          <p:cNvPr id="23" name="TextBox 22"/>
          <p:cNvSpPr txBox="1"/>
          <p:nvPr/>
        </p:nvSpPr>
        <p:spPr>
          <a:xfrm>
            <a:off x="685800" y="600449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The standard deviation of the score across folds. It sets the resolution.</a:t>
            </a:r>
          </a:p>
        </p:txBody>
      </p:sp>
      <p:sp>
        <p:nvSpPr>
          <p:cNvPr id="24" name="TextBox 23"/>
          <p:cNvSpPr txBox="1"/>
          <p:nvPr/>
        </p:nvSpPr>
        <p:spPr>
          <a:xfrm>
            <a:off x="6324447" y="191109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Real difference</a:t>
            </a:r>
          </a:p>
        </p:txBody>
      </p:sp>
      <p:sp>
        <p:nvSpPr>
          <p:cNvPr id="25" name="TextBox 24"/>
          <p:cNvSpPr txBox="1"/>
          <p:nvPr/>
        </p:nvSpPr>
        <p:spPr>
          <a:xfrm>
            <a:off x="6324447" y="209543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A gap larger than the fold-to-fold spread.</a:t>
            </a:r>
          </a:p>
        </p:txBody>
      </p:sp>
      <p:sp>
        <p:nvSpPr>
          <p:cNvPr id="26" name="TextBox 25"/>
          <p:cNvSpPr txBox="1"/>
          <p:nvPr/>
        </p:nvSpPr>
        <p:spPr>
          <a:xfrm>
            <a:off x="6324447" y="234543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Interpretability</a:t>
            </a:r>
          </a:p>
        </p:txBody>
      </p:sp>
      <p:sp>
        <p:nvSpPr>
          <p:cNvPr id="27" name="TextBox 26"/>
          <p:cNvSpPr txBox="1"/>
          <p:nvPr/>
        </p:nvSpPr>
        <p:spPr>
          <a:xfrm>
            <a:off x="6324447" y="252977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How much of the model's decision you can explain. Often a requirement.</a:t>
            </a:r>
          </a:p>
        </p:txBody>
      </p:sp>
      <p:sp>
        <p:nvSpPr>
          <p:cNvPr id="28" name="TextBox 27"/>
          <p:cNvSpPr txBox="1"/>
          <p:nvPr/>
        </p:nvSpPr>
        <p:spPr>
          <a:xfrm>
            <a:off x="6324447" y="277977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Inference cost</a:t>
            </a:r>
          </a:p>
        </p:txBody>
      </p:sp>
      <p:sp>
        <p:nvSpPr>
          <p:cNvPr id="29" name="TextBox 28"/>
          <p:cNvSpPr txBox="1"/>
          <p:nvPr/>
        </p:nvSpPr>
        <p:spPr>
          <a:xfrm>
            <a:off x="6324447" y="296411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What it costs to produce one prediction in service.</a:t>
            </a:r>
          </a:p>
        </p:txBody>
      </p:sp>
      <p:sp>
        <p:nvSpPr>
          <p:cNvPr id="30" name="TextBox 29"/>
          <p:cNvSpPr txBox="1"/>
          <p:nvPr/>
        </p:nvSpPr>
        <p:spPr>
          <a:xfrm>
            <a:off x="6324447" y="321411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Data hunger</a:t>
            </a:r>
          </a:p>
        </p:txBody>
      </p:sp>
      <p:sp>
        <p:nvSpPr>
          <p:cNvPr id="31" name="TextBox 30"/>
          <p:cNvSpPr txBox="1"/>
          <p:nvPr/>
        </p:nvSpPr>
        <p:spPr>
          <a:xfrm>
            <a:off x="6324447" y="339845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How many rows a method needs before it beats a simpler one.</a:t>
            </a:r>
          </a:p>
        </p:txBody>
      </p:sp>
      <p:sp>
        <p:nvSpPr>
          <p:cNvPr id="32" name="TextBox 31"/>
          <p:cNvSpPr txBox="1"/>
          <p:nvPr/>
        </p:nvSpPr>
        <p:spPr>
          <a:xfrm>
            <a:off x="6324447" y="364845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Failure mode</a:t>
            </a:r>
          </a:p>
        </p:txBody>
      </p:sp>
      <p:sp>
        <p:nvSpPr>
          <p:cNvPr id="33" name="TextBox 32"/>
          <p:cNvSpPr txBox="1"/>
          <p:nvPr/>
        </p:nvSpPr>
        <p:spPr>
          <a:xfrm>
            <a:off x="6324447" y="383279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How the model behaves when it is wrong, and whether it warns you.</a:t>
            </a:r>
          </a:p>
        </p:txBody>
      </p:sp>
      <p:sp>
        <p:nvSpPr>
          <p:cNvPr id="34" name="TextBox 33"/>
          <p:cNvSpPr txBox="1"/>
          <p:nvPr/>
        </p:nvSpPr>
        <p:spPr>
          <a:xfrm>
            <a:off x="6324447" y="408279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Conditions of use</a:t>
            </a:r>
          </a:p>
        </p:txBody>
      </p:sp>
      <p:sp>
        <p:nvSpPr>
          <p:cNvPr id="35" name="TextBox 34"/>
          <p:cNvSpPr txBox="1"/>
          <p:nvPr/>
        </p:nvSpPr>
        <p:spPr>
          <a:xfrm>
            <a:off x="6324447" y="426713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The input range and plant conditions under which the model holds.</a:t>
            </a:r>
          </a:p>
        </p:txBody>
      </p:sp>
      <p:sp>
        <p:nvSpPr>
          <p:cNvPr id="36" name="TextBox 35"/>
          <p:cNvSpPr txBox="1"/>
          <p:nvPr/>
        </p:nvSpPr>
        <p:spPr>
          <a:xfrm>
            <a:off x="6324447" y="451713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Decision memo</a:t>
            </a:r>
          </a:p>
        </p:txBody>
      </p:sp>
      <p:sp>
        <p:nvSpPr>
          <p:cNvPr id="37" name="TextBox 36"/>
          <p:cNvSpPr txBox="1"/>
          <p:nvPr/>
        </p:nvSpPr>
        <p:spPr>
          <a:xfrm>
            <a:off x="6324447" y="470147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A one-page recommendation naming the choice, the metric and the trade accepted.</a:t>
            </a:r>
          </a:p>
        </p:txBody>
      </p:sp>
      <p:sp>
        <p:nvSpPr>
          <p:cNvPr id="38" name="TextBox 37"/>
          <p:cNvSpPr txBox="1"/>
          <p:nvPr/>
        </p:nvSpPr>
        <p:spPr>
          <a:xfrm>
            <a:off x="6324447" y="495147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Gradient boosting</a:t>
            </a:r>
          </a:p>
        </p:txBody>
      </p:sp>
      <p:sp>
        <p:nvSpPr>
          <p:cNvPr id="39" name="TextBox 38"/>
          <p:cNvSpPr txBox="1"/>
          <p:nvPr/>
        </p:nvSpPr>
        <p:spPr>
          <a:xfrm>
            <a:off x="6324447" y="513581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Trees fitted in sequence to each other's errors. Semester 2.</a:t>
            </a:r>
          </a:p>
        </p:txBody>
      </p:sp>
      <p:sp>
        <p:nvSpPr>
          <p:cNvPr id="40" name="TextBox 39"/>
          <p:cNvSpPr txBox="1"/>
          <p:nvPr/>
        </p:nvSpPr>
        <p:spPr>
          <a:xfrm>
            <a:off x="6324447" y="538581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Spending the test set</a:t>
            </a:r>
          </a:p>
        </p:txBody>
      </p:sp>
      <p:sp>
        <p:nvSpPr>
          <p:cNvPr id="41" name="TextBox 40"/>
          <p:cNvSpPr txBox="1"/>
          <p:nvPr/>
        </p:nvSpPr>
        <p:spPr>
          <a:xfrm>
            <a:off x="6324447" y="557015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Using the test score to make a choice. After that it is no longer a check.</a:t>
            </a:r>
          </a:p>
        </p:txBody>
      </p:sp>
      <p:sp>
        <p:nvSpPr>
          <p:cNvPr id="42" name="TextBox 41"/>
          <p:cNvSpPr txBox="1"/>
          <p:nvPr/>
        </p:nvSpPr>
        <p:spPr>
          <a:xfrm>
            <a:off x="6324447" y="582015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Maintenance burden</a:t>
            </a:r>
          </a:p>
        </p:txBody>
      </p:sp>
      <p:sp>
        <p:nvSpPr>
          <p:cNvPr id="43" name="TextBox 42"/>
          <p:cNvSpPr txBox="1"/>
          <p:nvPr/>
        </p:nvSpPr>
        <p:spPr>
          <a:xfrm>
            <a:off x="6324447" y="600449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Who retrains it, how often, and what happens when that person leaves.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CHEAT SHEET — KEEP THIS SLIDE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One-page reference — comparing models</a:t>
            </a:r>
          </a:p>
        </p:txBody>
      </p:sp>
      <p:sp>
        <p:nvSpPr>
          <p:cNvPr id="4" name="TextBox 3"/>
          <p:cNvSpPr txBox="1"/>
          <p:nvPr/>
        </p:nvSpPr>
        <p:spPr>
          <a:xfrm>
            <a:off x="685800" y="1911095"/>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Fix the protocol first, in writing</a:t>
            </a:r>
          </a:p>
        </p:txBody>
      </p:sp>
      <p:sp>
        <p:nvSpPr>
          <p:cNvPr id="5" name="TextBox 4"/>
          <p:cNvSpPr txBox="1"/>
          <p:nvPr/>
        </p:nvSpPr>
        <p:spPr>
          <a:xfrm>
            <a:off x="685800" y="2298945"/>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One seed · one split · same folds · preprocessing inside the Pipeline · metric chosen before you look.</a:t>
            </a:r>
          </a:p>
        </p:txBody>
      </p:sp>
      <p:sp>
        <p:nvSpPr>
          <p:cNvPr id="6" name="TextBox 5"/>
          <p:cNvSpPr txBox="1"/>
          <p:nvPr/>
        </p:nvSpPr>
        <p:spPr>
          <a:xfrm>
            <a:off x="685800" y="3126462"/>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Search inside the folds</a:t>
            </a:r>
          </a:p>
        </p:txBody>
      </p:sp>
      <p:sp>
        <p:nvSpPr>
          <p:cNvPr id="7" name="TextBox 6"/>
          <p:cNvSpPr txBox="1"/>
          <p:nvPr/>
        </p:nvSpPr>
        <p:spPr>
          <a:xfrm>
            <a:off x="685800" y="3514311"/>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GridSearchCV(pipe, grid, cv=5, scoring=...).fit(X_train, y_train). The test set takes no part.</a:t>
            </a:r>
          </a:p>
        </p:txBody>
      </p:sp>
      <p:sp>
        <p:nvSpPr>
          <p:cNvPr id="8" name="TextBox 7"/>
          <p:cNvSpPr txBox="1"/>
          <p:nvPr/>
        </p:nvSpPr>
        <p:spPr>
          <a:xfrm>
            <a:off x="685800" y="4341828"/>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Reach inside a Pipeline</a:t>
            </a:r>
          </a:p>
        </p:txBody>
      </p:sp>
      <p:sp>
        <p:nvSpPr>
          <p:cNvPr id="9" name="TextBox 8"/>
          <p:cNvSpPr txBox="1"/>
          <p:nvPr/>
        </p:nvSpPr>
        <p:spPr>
          <a:xfrm>
            <a:off x="685800" y="4729677"/>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"fit__max_depth" names the step, then the argument. Two underscores.</a:t>
            </a:r>
          </a:p>
        </p:txBody>
      </p:sp>
      <p:sp>
        <p:nvSpPr>
          <p:cNvPr id="10" name="TextBox 9"/>
          <p:cNvSpPr txBox="1"/>
          <p:nvPr/>
        </p:nvSpPr>
        <p:spPr>
          <a:xfrm>
            <a:off x="685800" y="5557194"/>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Report like this</a:t>
            </a:r>
          </a:p>
        </p:txBody>
      </p:sp>
      <p:sp>
        <p:nvSpPr>
          <p:cNvPr id="11" name="TextBox 10"/>
          <p:cNvSpPr txBox="1"/>
          <p:nvPr/>
        </p:nvSpPr>
        <p:spPr>
          <a:xfrm>
            <a:off x="685800" y="5945043"/>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model · settings · cross-validated mean · spread across folds · held-out score. Every row, same protocol.</a:t>
            </a:r>
          </a:p>
        </p:txBody>
      </p:sp>
      <p:sp>
        <p:nvSpPr>
          <p:cNvPr id="12" name="TextBox 11"/>
          <p:cNvSpPr txBox="1"/>
          <p:nvPr/>
        </p:nvSpPr>
        <p:spPr>
          <a:xfrm>
            <a:off x="6347307" y="1911095"/>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Then ask whether the difference is real</a:t>
            </a:r>
          </a:p>
        </p:txBody>
      </p:sp>
      <p:sp>
        <p:nvSpPr>
          <p:cNvPr id="13" name="TextBox 12"/>
          <p:cNvSpPr txBox="1"/>
          <p:nvPr/>
        </p:nvSpPr>
        <p:spPr>
          <a:xfrm>
            <a:off x="6347307" y="2298945"/>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Gap larger than the spread means a difference. Otherwise the two cannot be separated, and something else has to decide.</a:t>
            </a:r>
          </a:p>
        </p:txBody>
      </p:sp>
      <p:sp>
        <p:nvSpPr>
          <p:cNvPr id="14" name="TextBox 13"/>
          <p:cNvSpPr txBox="1"/>
          <p:nvPr/>
        </p:nvSpPr>
        <p:spPr>
          <a:xfrm>
            <a:off x="6347307" y="3126462"/>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Five criteria besides accuracy</a:t>
            </a:r>
          </a:p>
        </p:txBody>
      </p:sp>
      <p:sp>
        <p:nvSpPr>
          <p:cNvPr id="15" name="TextBox 14"/>
          <p:cNvSpPr txBox="1"/>
          <p:nvPr/>
        </p:nvSpPr>
        <p:spPr>
          <a:xfrm>
            <a:off x="6347307" y="3514311"/>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Explainability · training and inference cost · data hunger · failure behaviour · who maintains it.</a:t>
            </a:r>
          </a:p>
        </p:txBody>
      </p:sp>
      <p:sp>
        <p:nvSpPr>
          <p:cNvPr id="16" name="TextBox 15"/>
          <p:cNvSpPr txBox="1"/>
          <p:nvPr/>
        </p:nvSpPr>
        <p:spPr>
          <a:xfrm>
            <a:off x="6347307" y="4341828"/>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The recommendation</a:t>
            </a:r>
          </a:p>
        </p:txBody>
      </p:sp>
      <p:sp>
        <p:nvSpPr>
          <p:cNvPr id="17" name="TextBox 16"/>
          <p:cNvSpPr txBox="1"/>
          <p:nvPr/>
        </p:nvSpPr>
        <p:spPr>
          <a:xfrm>
            <a:off x="6347307" y="4729677"/>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The choice · the metric and its consequence · the trade you accepted · the conditions of use · the AI-use log.</a:t>
            </a:r>
          </a:p>
        </p:txBody>
      </p:sp>
      <p:sp>
        <p:nvSpPr>
          <p:cNvPr id="18" name="TextBox 17"/>
          <p:cNvSpPr txBox="1"/>
          <p:nvPr/>
        </p:nvSpPr>
        <p:spPr>
          <a:xfrm>
            <a:off x="6347307" y="5557194"/>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Spend the test set once</a:t>
            </a:r>
          </a:p>
        </p:txBody>
      </p:sp>
      <p:sp>
        <p:nvSpPr>
          <p:cNvPr id="19" name="TextBox 18"/>
          <p:cNvSpPr txBox="1"/>
          <p:nvPr/>
        </p:nvSpPr>
        <p:spPr>
          <a:xfrm>
            <a:off x="6347307" y="5945043"/>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Look at it at the end. Every look that changes a decision turns it into training data.</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868680"/>
            <a:ext cx="10820095" cy="310896"/>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END-OF-SESSION QUIZ  ·  WEEK 12</a:t>
            </a:r>
          </a:p>
        </p:txBody>
      </p:sp>
      <p:sp>
        <p:nvSpPr>
          <p:cNvPr id="4" name="TextBox 3"/>
          <p:cNvSpPr txBox="1"/>
          <p:nvPr/>
        </p:nvSpPr>
        <p:spPr>
          <a:xfrm>
            <a:off x="685800" y="1325880"/>
            <a:ext cx="6766560" cy="1371600"/>
          </a:xfrm>
          <a:prstGeom prst="rect">
            <a:avLst/>
          </a:prstGeom>
          <a:noFill/>
        </p:spPr>
        <p:txBody>
          <a:bodyPr wrap="square" lIns="0" rIns="0" tIns="0" bIns="0" anchor="t">
            <a:spAutoFit/>
          </a:bodyPr>
          <a:lstStyle/>
          <a:p>
            <a:pPr algn="l">
              <a:lnSpc>
                <a:spcPct val="105000"/>
              </a:lnSpc>
              <a:spcAft>
                <a:spcPts val="600"/>
              </a:spcAft>
            </a:pPr>
            <a:r>
              <a:rPr sz="4000" b="1" i="0">
                <a:solidFill>
                  <a:srgbClr val="FFFFFF"/>
                </a:solidFill>
                <a:latin typeface="Cambria"/>
              </a:rPr>
              <a:t>Five questions,</a:t>
            </a:r>
          </a:p>
          <a:p>
            <a:pPr algn="l">
              <a:lnSpc>
                <a:spcPct val="105000"/>
              </a:lnSpc>
              <a:spcAft>
                <a:spcPts val="600"/>
              </a:spcAft>
            </a:pPr>
            <a:r>
              <a:rPr sz="4000" b="1" i="0">
                <a:solidFill>
                  <a:srgbClr val="FFFFFF"/>
                </a:solidFill>
                <a:latin typeface="Cambria"/>
              </a:rPr>
              <a:t>five minutes</a:t>
            </a:r>
          </a:p>
        </p:txBody>
      </p:sp>
      <p:sp>
        <p:nvSpPr>
          <p:cNvPr id="5" name="TextBox 4"/>
          <p:cNvSpPr txBox="1"/>
          <p:nvPr/>
        </p:nvSpPr>
        <p:spPr>
          <a:xfrm>
            <a:off x="685800" y="2880360"/>
            <a:ext cx="6766560" cy="816005"/>
          </a:xfrm>
          <a:prstGeom prst="rect">
            <a:avLst/>
          </a:prstGeom>
          <a:noFill/>
        </p:spPr>
        <p:txBody>
          <a:bodyPr wrap="square" lIns="0" rIns="0" tIns="0" bIns="0" anchor="t">
            <a:spAutoFit/>
          </a:bodyPr>
          <a:lstStyle/>
          <a:p>
            <a:pPr algn="l">
              <a:lnSpc>
                <a:spcPct val="125000"/>
              </a:lnSpc>
              <a:spcAft>
                <a:spcPts val="600"/>
              </a:spcAft>
            </a:pPr>
            <a:r>
              <a:rPr sz="1923" b="0" i="0">
                <a:solidFill>
                  <a:srgbClr val="B8C9D8"/>
                </a:solidFill>
                <a:latin typeface="Calibri"/>
              </a:rPr>
              <a:t>Whether a difference between two models is real given the fold spread, and which model a stated constraint selects.</a:t>
            </a:r>
          </a:p>
        </p:txBody>
      </p:sp>
      <p:sp>
        <p:nvSpPr>
          <p:cNvPr id="6" name="Oval 5"/>
          <p:cNvSpPr/>
          <p:nvPr/>
        </p:nvSpPr>
        <p:spPr>
          <a:xfrm>
            <a:off x="704088" y="4025549"/>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3952397"/>
            <a:ext cx="6492240" cy="364337"/>
          </a:xfrm>
          <a:prstGeom prst="rect">
            <a:avLst/>
          </a:prstGeom>
          <a:noFill/>
        </p:spPr>
        <p:txBody>
          <a:bodyPr wrap="square" lIns="0" rIns="0" tIns="0" bIns="0" anchor="t">
            <a:spAutoFit/>
          </a:bodyPr>
          <a:lstStyle/>
          <a:p>
            <a:pPr algn="l">
              <a:lnSpc>
                <a:spcPct val="122000"/>
              </a:lnSpc>
              <a:spcAft>
                <a:spcPts val="600"/>
              </a:spcAft>
            </a:pPr>
            <a:r>
              <a:rPr sz="1650" b="0" i="0">
                <a:solidFill>
                  <a:srgbClr val="A8BCCE"/>
                </a:solidFill>
                <a:latin typeface="Calibri"/>
              </a:rPr>
              <a:t>Scan the code. First box is your registration number, off your card.</a:t>
            </a:r>
          </a:p>
        </p:txBody>
      </p:sp>
      <p:sp>
        <p:nvSpPr>
          <p:cNvPr id="8" name="Oval 7"/>
          <p:cNvSpPr/>
          <p:nvPr/>
        </p:nvSpPr>
        <p:spPr>
          <a:xfrm>
            <a:off x="704088" y="4453894"/>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4380742"/>
            <a:ext cx="6492240" cy="364337"/>
          </a:xfrm>
          <a:prstGeom prst="rect">
            <a:avLst/>
          </a:prstGeom>
          <a:noFill/>
        </p:spPr>
        <p:txBody>
          <a:bodyPr wrap="square" lIns="0" rIns="0" tIns="0" bIns="0" anchor="t">
            <a:spAutoFit/>
          </a:bodyPr>
          <a:lstStyle/>
          <a:p>
            <a:pPr algn="l">
              <a:lnSpc>
                <a:spcPct val="122000"/>
              </a:lnSpc>
              <a:spcAft>
                <a:spcPts val="600"/>
              </a:spcAft>
            </a:pPr>
            <a:r>
              <a:rPr sz="1650" b="0" i="0">
                <a:solidFill>
                  <a:srgbClr val="A8BCCE"/>
                </a:solidFill>
                <a:latin typeface="Calibri"/>
              </a:rPr>
              <a:t>Two of the five come from earlier weeks.</a:t>
            </a:r>
          </a:p>
        </p:txBody>
      </p:sp>
      <p:sp>
        <p:nvSpPr>
          <p:cNvPr id="10" name="Oval 9"/>
          <p:cNvSpPr/>
          <p:nvPr/>
        </p:nvSpPr>
        <p:spPr>
          <a:xfrm>
            <a:off x="704088" y="4882240"/>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4809088"/>
            <a:ext cx="6492240" cy="364337"/>
          </a:xfrm>
          <a:prstGeom prst="rect">
            <a:avLst/>
          </a:prstGeom>
          <a:noFill/>
        </p:spPr>
        <p:txBody>
          <a:bodyPr wrap="square" lIns="0" rIns="0" tIns="0" bIns="0" anchor="t">
            <a:spAutoFit/>
          </a:bodyPr>
          <a:lstStyle/>
          <a:p>
            <a:pPr algn="l">
              <a:lnSpc>
                <a:spcPct val="122000"/>
              </a:lnSpc>
              <a:spcAft>
                <a:spcPts val="600"/>
              </a:spcAft>
            </a:pPr>
            <a:r>
              <a:rPr sz="1650" b="0" i="0">
                <a:solidFill>
                  <a:srgbClr val="A8BCCE"/>
                </a:solidFill>
                <a:latin typeface="Calibri"/>
              </a:rPr>
              <a:t>One attempt, from the Google account you are signed in to.</a:t>
            </a:r>
          </a:p>
        </p:txBody>
      </p:sp>
      <p:sp>
        <p:nvSpPr>
          <p:cNvPr id="12" name="Oval 11"/>
          <p:cNvSpPr/>
          <p:nvPr/>
        </p:nvSpPr>
        <p:spPr>
          <a:xfrm>
            <a:off x="704088" y="5310586"/>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5237434"/>
            <a:ext cx="6492240" cy="364337"/>
          </a:xfrm>
          <a:prstGeom prst="rect">
            <a:avLst/>
          </a:prstGeom>
          <a:noFill/>
        </p:spPr>
        <p:txBody>
          <a:bodyPr wrap="square" lIns="0" rIns="0" tIns="0" bIns="0" anchor="t">
            <a:spAutoFit/>
          </a:bodyPr>
          <a:lstStyle/>
          <a:p>
            <a:pPr algn="l">
              <a:lnSpc>
                <a:spcPct val="122000"/>
              </a:lnSpc>
              <a:spcAft>
                <a:spcPts val="600"/>
              </a:spcAft>
            </a:pPr>
            <a:r>
              <a:rPr sz="1650" b="0" i="0">
                <a:solidFill>
                  <a:srgbClr val="A8BCCE"/>
                </a:solidFill>
                <a:latin typeface="Calibri"/>
              </a:rPr>
              <a:t>Open for 48 hours if the network fails, then it closes itself.</a:t>
            </a:r>
          </a:p>
        </p:txBody>
      </p:sp>
      <p:sp>
        <p:nvSpPr>
          <p:cNvPr id="14" name="Oval 13"/>
          <p:cNvSpPr/>
          <p:nvPr/>
        </p:nvSpPr>
        <p:spPr>
          <a:xfrm>
            <a:off x="704088" y="5738932"/>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5665780"/>
            <a:ext cx="6492240" cy="364337"/>
          </a:xfrm>
          <a:prstGeom prst="rect">
            <a:avLst/>
          </a:prstGeom>
          <a:noFill/>
        </p:spPr>
        <p:txBody>
          <a:bodyPr wrap="square" lIns="0" rIns="0" tIns="0" bIns="0" anchor="t">
            <a:spAutoFit/>
          </a:bodyPr>
          <a:lstStyle/>
          <a:p>
            <a:pPr algn="l">
              <a:lnSpc>
                <a:spcPct val="122000"/>
              </a:lnSpc>
              <a:spcAft>
                <a:spcPts val="600"/>
              </a:spcAft>
            </a:pPr>
            <a:r>
              <a:rPr sz="1650" b="0" i="0">
                <a:solidFill>
                  <a:srgbClr val="A8BCCE"/>
                </a:solidFill>
                <a:latin typeface="Calibri"/>
              </a:rPr>
              <a:t>One per cent each. Tap View score and read the feedback.</a:t>
            </a:r>
          </a:p>
        </p:txBody>
      </p:sp>
      <p:sp>
        <p:nvSpPr>
          <p:cNvPr id="16" name="Oval 15"/>
          <p:cNvSpPr/>
          <p:nvPr/>
        </p:nvSpPr>
        <p:spPr>
          <a:xfrm>
            <a:off x="704088" y="6167278"/>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0120" y="6094126"/>
            <a:ext cx="6492240" cy="364337"/>
          </a:xfrm>
          <a:prstGeom prst="rect">
            <a:avLst/>
          </a:prstGeom>
          <a:noFill/>
        </p:spPr>
        <p:txBody>
          <a:bodyPr wrap="square" lIns="0" rIns="0" tIns="0" bIns="0" anchor="t">
            <a:spAutoFit/>
          </a:bodyPr>
          <a:lstStyle/>
          <a:p>
            <a:pPr algn="l">
              <a:lnSpc>
                <a:spcPct val="122000"/>
              </a:lnSpc>
              <a:spcAft>
                <a:spcPts val="600"/>
              </a:spcAft>
            </a:pPr>
            <a:r>
              <a:rPr sz="1650" b="0" i="0">
                <a:solidFill>
                  <a:srgbClr val="A8BCCE"/>
                </a:solidFill>
                <a:latin typeface="Calibri"/>
              </a:rPr>
              <a:t>Twelve this semester, best ten count. No resits.</a:t>
            </a:r>
          </a:p>
        </p:txBody>
      </p:sp>
      <p:sp>
        <p:nvSpPr>
          <p:cNvPr id="18" name="Rectangle 17"/>
          <p:cNvSpPr/>
          <p:nvPr/>
        </p:nvSpPr>
        <p:spPr>
          <a:xfrm>
            <a:off x="8716975" y="1783080"/>
            <a:ext cx="2788920" cy="27889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quiz_CML3111_W12.png"/>
          <p:cNvPicPr>
            <a:picLocks noChangeAspect="1"/>
          </p:cNvPicPr>
          <p:nvPr/>
        </p:nvPicPr>
        <p:blipFill>
          <a:blip r:embed="rId2"/>
          <a:stretch>
            <a:fillRect/>
          </a:stretch>
        </p:blipFill>
        <p:spPr>
          <a:xfrm>
            <a:off x="8826703" y="1892807"/>
            <a:ext cx="2569463" cy="2569463"/>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7160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THE ONE THING TO REMEMBER</a:t>
            </a:r>
          </a:p>
        </p:txBody>
      </p:sp>
      <p:sp>
        <p:nvSpPr>
          <p:cNvPr id="4" name="TextBox 3"/>
          <p:cNvSpPr txBox="1"/>
          <p:nvPr/>
        </p:nvSpPr>
        <p:spPr>
          <a:xfrm>
            <a:off x="685800" y="1965960"/>
            <a:ext cx="10820095" cy="2194560"/>
          </a:xfrm>
          <a:prstGeom prst="rect">
            <a:avLst/>
          </a:prstGeom>
          <a:noFill/>
        </p:spPr>
        <p:txBody>
          <a:bodyPr wrap="square" lIns="0" rIns="0" tIns="0" bIns="0" anchor="t">
            <a:spAutoFit/>
          </a:bodyPr>
          <a:lstStyle/>
          <a:p>
            <a:pPr algn="l">
              <a:lnSpc>
                <a:spcPct val="110000"/>
              </a:lnSpc>
              <a:spcAft>
                <a:spcPts val="600"/>
              </a:spcAft>
            </a:pPr>
            <a:r>
              <a:rPr sz="3400" b="1" i="0">
                <a:solidFill>
                  <a:srgbClr val="FFFFFF"/>
                </a:solidFill>
                <a:latin typeface="Cambria"/>
              </a:rPr>
              <a:t>You ran four models under one protocol</a:t>
            </a:r>
          </a:p>
          <a:p>
            <a:pPr algn="l">
              <a:lnSpc>
                <a:spcPct val="110000"/>
              </a:lnSpc>
              <a:spcAft>
                <a:spcPts val="600"/>
              </a:spcAft>
            </a:pPr>
            <a:r>
              <a:rPr sz="3400" b="1" i="0">
                <a:solidFill>
                  <a:srgbClr val="FFFFFF"/>
                </a:solidFill>
                <a:latin typeface="Cambria"/>
              </a:rPr>
              <a:t>and another team attacked the result.</a:t>
            </a:r>
          </a:p>
        </p:txBody>
      </p:sp>
      <p:sp>
        <p:nvSpPr>
          <p:cNvPr id="5" name="TextBox 4"/>
          <p:cNvSpPr txBox="1"/>
          <p:nvPr/>
        </p:nvSpPr>
        <p:spPr>
          <a:xfrm>
            <a:off x="685800" y="443484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You fixed a protocol, produced a table that means something, chose a model against a constraint rather than a score, and answered two challenges you had not seen. That is what a design review feels like.</a:t>
            </a:r>
          </a:p>
        </p:txBody>
      </p:sp>
      <p:sp>
        <p:nvSpPr>
          <p:cNvPr id="6" name="TextBox 5"/>
          <p:cNvSpPr txBox="1"/>
          <p:nvPr/>
        </p:nvSpPr>
        <p:spPr>
          <a:xfrm>
            <a:off x="685800" y="5943600"/>
            <a:ext cx="10820095" cy="36576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Next week: making the whole thing reproducible, and reviewing another team's repository.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