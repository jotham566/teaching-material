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fadf31da10245e1" /><Relationship Type="http://schemas.openxmlformats.org/officeDocument/2006/relationships/extended-properties" Target="/docProps/app.xml" Id="R968e8b0823324337" /><Relationship Type="http://schemas.openxmlformats.org/officeDocument/2006/relationships/officeDocument" Target="/ppt/presentation.xml" Id="R61c8f1dd546c4fab" /></Relationships>
</file>

<file path=ppt/presentation.xml><?xml version="1.0" encoding="utf-8"?>
<p:presentation xmlns:p="http://schemas.openxmlformats.org/presentationml/2006/main">
  <p:sldMasterIdLst>
    <p:sldMasterId xmlns:r="http://schemas.openxmlformats.org/officeDocument/2006/relationships" id="2147483648" r:id="Rbfee5e60724648f3"/>
  </p:sldMasterIdLst>
  <p:notesMasterIdLst>
    <p:notesMasterId xmlns:r="http://schemas.openxmlformats.org/officeDocument/2006/relationships" r:id="Rdc92567a236a4521"/>
  </p:notesMasterIdLst>
  <p:sldIdLst>
    <p:sldId xmlns:r="http://schemas.openxmlformats.org/officeDocument/2006/relationships" id="256" r:id="R313d11a1665044b5"/>
    <p:sldId xmlns:r="http://schemas.openxmlformats.org/officeDocument/2006/relationships" id="257" r:id="Rc1f59ed8ca854d34"/>
    <p:sldId xmlns:r="http://schemas.openxmlformats.org/officeDocument/2006/relationships" id="258" r:id="R6e744ca9767e4ef5"/>
    <p:sldId xmlns:r="http://schemas.openxmlformats.org/officeDocument/2006/relationships" id="259" r:id="Rbb11576ebbd34744"/>
    <p:sldId xmlns:r="http://schemas.openxmlformats.org/officeDocument/2006/relationships" id="260" r:id="Rc4a562fab8ce4319"/>
    <p:sldId xmlns:r="http://schemas.openxmlformats.org/officeDocument/2006/relationships" id="261" r:id="R28eeff54ee7547e0"/>
    <p:sldId xmlns:r="http://schemas.openxmlformats.org/officeDocument/2006/relationships" id="262" r:id="R279de7b7006542f6"/>
    <p:sldId xmlns:r="http://schemas.openxmlformats.org/officeDocument/2006/relationships" id="263" r:id="R21de29f4a6ac46f4"/>
    <p:sldId xmlns:r="http://schemas.openxmlformats.org/officeDocument/2006/relationships" id="264" r:id="R126576c6b6634b7e"/>
    <p:sldId xmlns:r="http://schemas.openxmlformats.org/officeDocument/2006/relationships" id="265" r:id="R61b9fd71559f4c8d"/>
    <p:sldId xmlns:r="http://schemas.openxmlformats.org/officeDocument/2006/relationships" id="266" r:id="Rf4d6163d6eea4573"/>
    <p:sldId xmlns:r="http://schemas.openxmlformats.org/officeDocument/2006/relationships" id="267" r:id="R16690d6dea6e45a5"/>
    <p:sldId xmlns:r="http://schemas.openxmlformats.org/officeDocument/2006/relationships" id="268" r:id="Re0c21cf5ed494122"/>
    <p:sldId xmlns:r="http://schemas.openxmlformats.org/officeDocument/2006/relationships" id="269" r:id="R4c340138d85f48bf"/>
    <p:sldId xmlns:r="http://schemas.openxmlformats.org/officeDocument/2006/relationships" id="270" r:id="R9428b75754cc440d"/>
    <p:sldId xmlns:r="http://schemas.openxmlformats.org/officeDocument/2006/relationships" id="271" r:id="Rf5c19be995384ff0"/>
    <p:sldId xmlns:r="http://schemas.openxmlformats.org/officeDocument/2006/relationships" id="272" r:id="R34f5fa0129c74777"/>
    <p:sldId xmlns:r="http://schemas.openxmlformats.org/officeDocument/2006/relationships" id="273" r:id="Rd2e66644727047b8"/>
    <p:sldId xmlns:r="http://schemas.openxmlformats.org/officeDocument/2006/relationships" id="274" r:id="Ra2806dc2c8bd4da8"/>
    <p:sldId xmlns:r="http://schemas.openxmlformats.org/officeDocument/2006/relationships" id="275" r:id="Rd9d2d2e2d7434962"/>
    <p:sldId xmlns:r="http://schemas.openxmlformats.org/officeDocument/2006/relationships" id="276" r:id="R2901c5c261e94a12"/>
    <p:sldId xmlns:r="http://schemas.openxmlformats.org/officeDocument/2006/relationships" id="277" r:id="Rb4c2a953d2f747f8"/>
    <p:sldId xmlns:r="http://schemas.openxmlformats.org/officeDocument/2006/relationships" id="278" r:id="R4b99fe03c46e429d"/>
    <p:sldId xmlns:r="http://schemas.openxmlformats.org/officeDocument/2006/relationships" id="279" r:id="R63e62ee231934b86"/>
    <p:sldId xmlns:r="http://schemas.openxmlformats.org/officeDocument/2006/relationships" id="280" r:id="R7ee1f5adb9a34f9c"/>
    <p:sldId xmlns:r="http://schemas.openxmlformats.org/officeDocument/2006/relationships" id="281" r:id="R66570003d8b24245"/>
    <p:sldId xmlns:r="http://schemas.openxmlformats.org/officeDocument/2006/relationships" id="282" r:id="R6bf9b45b1bb941fd"/>
    <p:sldId xmlns:r="http://schemas.openxmlformats.org/officeDocument/2006/relationships" id="283" r:id="R4fce235ebaf04491"/>
    <p:sldId xmlns:r="http://schemas.openxmlformats.org/officeDocument/2006/relationships" id="284" r:id="Ra909c1c421814803"/>
    <p:sldId xmlns:r="http://schemas.openxmlformats.org/officeDocument/2006/relationships" id="285" r:id="R27a942d76ac54f7d"/>
    <p:sldId xmlns:r="http://schemas.openxmlformats.org/officeDocument/2006/relationships" id="286" r:id="Rf7783c734a3d4a99"/>
    <p:sldId xmlns:r="http://schemas.openxmlformats.org/officeDocument/2006/relationships" id="287" r:id="Rc064a44b0baf48bf"/>
    <p:sldId xmlns:r="http://schemas.openxmlformats.org/officeDocument/2006/relationships" id="288" r:id="R657a6fe2b3754c77"/>
    <p:sldId xmlns:r="http://schemas.openxmlformats.org/officeDocument/2006/relationships" id="289" r:id="R2818bb1d7ec044b7"/>
    <p:sldId xmlns:r="http://schemas.openxmlformats.org/officeDocument/2006/relationships" id="290" r:id="Rcdfa66ab5616434f"/>
    <p:sldId xmlns:r="http://schemas.openxmlformats.org/officeDocument/2006/relationships" id="291" r:id="Raa9fc0b6078a4c89"/>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62d8e0ffc4e402d" /><Relationship Type="http://schemas.openxmlformats.org/officeDocument/2006/relationships/slideMaster" Target="/ppt/slideMasters/slideMaster1.xml" Id="Rbfee5e60724648f3" /><Relationship Type="http://schemas.openxmlformats.org/officeDocument/2006/relationships/notesMaster" Target="/ppt/notesMasters/notesMaster1.xml" Id="Rdc92567a236a4521" /><Relationship Type="http://schemas.openxmlformats.org/officeDocument/2006/relationships/presProps" Target="/ppt/presProps.xml" Id="Rb7eb0f0bb04b44ab" /><Relationship Type="http://schemas.openxmlformats.org/officeDocument/2006/relationships/tableStyles" Target="/ppt/tableStyles.xml" Id="R61da7d2961c04d36" /><Relationship Type="http://schemas.openxmlformats.org/officeDocument/2006/relationships/slide" Target="/ppt/slides/slide1.xml" Id="R313d11a1665044b5" /><Relationship Type="http://schemas.openxmlformats.org/officeDocument/2006/relationships/slide" Target="/ppt/slides/slide2.xml" Id="Rc1f59ed8ca854d34" /><Relationship Type="http://schemas.openxmlformats.org/officeDocument/2006/relationships/slide" Target="/ppt/slides/slide3.xml" Id="R6e744ca9767e4ef5" /><Relationship Type="http://schemas.openxmlformats.org/officeDocument/2006/relationships/slide" Target="/ppt/slides/slide4.xml" Id="Rbb11576ebbd34744" /><Relationship Type="http://schemas.openxmlformats.org/officeDocument/2006/relationships/slide" Target="/ppt/slides/slide5.xml" Id="Rc4a562fab8ce4319" /><Relationship Type="http://schemas.openxmlformats.org/officeDocument/2006/relationships/slide" Target="/ppt/slides/slide6.xml" Id="R28eeff54ee7547e0" /><Relationship Type="http://schemas.openxmlformats.org/officeDocument/2006/relationships/slide" Target="/ppt/slides/slide7.xml" Id="R279de7b7006542f6" /><Relationship Type="http://schemas.openxmlformats.org/officeDocument/2006/relationships/slide" Target="/ppt/slides/slide8.xml" Id="R21de29f4a6ac46f4" /><Relationship Type="http://schemas.openxmlformats.org/officeDocument/2006/relationships/slide" Target="/ppt/slides/slide9.xml" Id="R126576c6b6634b7e" /><Relationship Type="http://schemas.openxmlformats.org/officeDocument/2006/relationships/slide" Target="/ppt/slides/slide10.xml" Id="R61b9fd71559f4c8d" /><Relationship Type="http://schemas.openxmlformats.org/officeDocument/2006/relationships/slide" Target="/ppt/slides/slide11.xml" Id="Rf4d6163d6eea4573" /><Relationship Type="http://schemas.openxmlformats.org/officeDocument/2006/relationships/slide" Target="/ppt/slides/slide12.xml" Id="R16690d6dea6e45a5" /><Relationship Type="http://schemas.openxmlformats.org/officeDocument/2006/relationships/slide" Target="/ppt/slides/slide13.xml" Id="Re0c21cf5ed494122" /><Relationship Type="http://schemas.openxmlformats.org/officeDocument/2006/relationships/slide" Target="/ppt/slides/slide14.xml" Id="R4c340138d85f48bf" /><Relationship Type="http://schemas.openxmlformats.org/officeDocument/2006/relationships/slide" Target="/ppt/slides/slide15.xml" Id="R9428b75754cc440d" /><Relationship Type="http://schemas.openxmlformats.org/officeDocument/2006/relationships/slide" Target="/ppt/slides/slide16.xml" Id="Rf5c19be995384ff0" /><Relationship Type="http://schemas.openxmlformats.org/officeDocument/2006/relationships/slide" Target="/ppt/slides/slide17.xml" Id="R34f5fa0129c74777" /><Relationship Type="http://schemas.openxmlformats.org/officeDocument/2006/relationships/slide" Target="/ppt/slides/slide18.xml" Id="Rd2e66644727047b8" /><Relationship Type="http://schemas.openxmlformats.org/officeDocument/2006/relationships/slide" Target="/ppt/slides/slide19.xml" Id="Ra2806dc2c8bd4da8" /><Relationship Type="http://schemas.openxmlformats.org/officeDocument/2006/relationships/slide" Target="/ppt/slides/slide20.xml" Id="Rd9d2d2e2d7434962" /><Relationship Type="http://schemas.openxmlformats.org/officeDocument/2006/relationships/slide" Target="/ppt/slides/slide21.xml" Id="R2901c5c261e94a12" /><Relationship Type="http://schemas.openxmlformats.org/officeDocument/2006/relationships/slide" Target="/ppt/slides/slide22.xml" Id="Rb4c2a953d2f747f8" /><Relationship Type="http://schemas.openxmlformats.org/officeDocument/2006/relationships/slide" Target="/ppt/slides/slide23.xml" Id="R4b99fe03c46e429d" /><Relationship Type="http://schemas.openxmlformats.org/officeDocument/2006/relationships/slide" Target="/ppt/slides/slide24.xml" Id="R63e62ee231934b86" /><Relationship Type="http://schemas.openxmlformats.org/officeDocument/2006/relationships/slide" Target="/ppt/slides/slide25.xml" Id="R7ee1f5adb9a34f9c" /><Relationship Type="http://schemas.openxmlformats.org/officeDocument/2006/relationships/slide" Target="/ppt/slides/slide26.xml" Id="R66570003d8b24245" /><Relationship Type="http://schemas.openxmlformats.org/officeDocument/2006/relationships/slide" Target="/ppt/slides/slide27.xml" Id="R6bf9b45b1bb941fd" /><Relationship Type="http://schemas.openxmlformats.org/officeDocument/2006/relationships/slide" Target="/ppt/slides/slide28.xml" Id="R4fce235ebaf04491" /><Relationship Type="http://schemas.openxmlformats.org/officeDocument/2006/relationships/slide" Target="/ppt/slides/slide29.xml" Id="Ra909c1c421814803" /><Relationship Type="http://schemas.openxmlformats.org/officeDocument/2006/relationships/slide" Target="/ppt/slides/slide30.xml" Id="R27a942d76ac54f7d" /><Relationship Type="http://schemas.openxmlformats.org/officeDocument/2006/relationships/slide" Target="/ppt/slides/slide31.xml" Id="Rf7783c734a3d4a99" /><Relationship Type="http://schemas.openxmlformats.org/officeDocument/2006/relationships/slide" Target="/ppt/slides/slide32.xml" Id="Rc064a44b0baf48bf" /><Relationship Type="http://schemas.openxmlformats.org/officeDocument/2006/relationships/slide" Target="/ppt/slides/slide33.xml" Id="R657a6fe2b3754c77" /><Relationship Type="http://schemas.openxmlformats.org/officeDocument/2006/relationships/slide" Target="/ppt/slides/slide34.xml" Id="R2818bb1d7ec044b7" /><Relationship Type="http://schemas.openxmlformats.org/officeDocument/2006/relationships/slide" Target="/ppt/slides/slide35.xml" Id="Rcdfa66ab5616434f" /><Relationship Type="http://schemas.openxmlformats.org/officeDocument/2006/relationships/slide" Target="/ppt/slides/slide36.xml" Id="Raa9fc0b6078a4c8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e4f6255420549c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d99f27c568740fc" /><Relationship Type="http://schemas.openxmlformats.org/officeDocument/2006/relationships/notesMaster" Target="/ppt/notesMasters/notesMaster1.xml" Id="R5277ed432c3c42d4" /></Relationships>
</file>

<file path=ppt/notesSlides/_rels/notesSlide2.xml.rels>&#65279;<?xml version="1.0" encoding="utf-8"?><Relationships xmlns="http://schemas.openxmlformats.org/package/2006/relationships"><Relationship Type="http://schemas.openxmlformats.org/officeDocument/2006/relationships/slide" Target="/ppt/slides/slide2.xml" Id="R06ccd3d773a144f4" /><Relationship Type="http://schemas.openxmlformats.org/officeDocument/2006/relationships/notesMaster" Target="/ppt/notesMasters/notesMaster1.xml" Id="R36c25c0fedfb48cb" /></Relationships>
</file>

<file path=ppt/notesSlides/_rels/notesSlide3.xml.rels>&#65279;<?xml version="1.0" encoding="utf-8"?><Relationships xmlns="http://schemas.openxmlformats.org/package/2006/relationships"><Relationship Type="http://schemas.openxmlformats.org/officeDocument/2006/relationships/slide" Target="/ppt/slides/slide3.xml" Id="R51059683be024426" /><Relationship Type="http://schemas.openxmlformats.org/officeDocument/2006/relationships/notesMaster" Target="/ppt/notesMasters/notesMaster1.xml" Id="R43852fec6f5c49e6" /></Relationships>
</file>

<file path=ppt/notesSlides/_rels/notesSlide4.xml.rels>&#65279;<?xml version="1.0" encoding="utf-8"?><Relationships xmlns="http://schemas.openxmlformats.org/package/2006/relationships"><Relationship Type="http://schemas.openxmlformats.org/officeDocument/2006/relationships/slide" Target="/ppt/slides/slide4.xml" Id="Rc6b82b8139934a18" /><Relationship Type="http://schemas.openxmlformats.org/officeDocument/2006/relationships/notesMaster" Target="/ppt/notesMasters/notesMaster1.xml" Id="Rcfcb5e6e610140c8" /></Relationships>
</file>

<file path=ppt/notesSlides/_rels/notesSlide5.xml.rels>&#65279;<?xml version="1.0" encoding="utf-8"?><Relationships xmlns="http://schemas.openxmlformats.org/package/2006/relationships"><Relationship Type="http://schemas.openxmlformats.org/officeDocument/2006/relationships/slide" Target="/ppt/slides/slide5.xml" Id="R0d20aca03c5647ef" /><Relationship Type="http://schemas.openxmlformats.org/officeDocument/2006/relationships/notesMaster" Target="/ppt/notesMasters/notesMaster1.xml" Id="R2effd87db2394ced" /></Relationships>
</file>

<file path=ppt/notesSlides/_rels/notesSlide6.xml.rels>&#65279;<?xml version="1.0" encoding="utf-8"?><Relationships xmlns="http://schemas.openxmlformats.org/package/2006/relationships"><Relationship Type="http://schemas.openxmlformats.org/officeDocument/2006/relationships/slide" Target="/ppt/slides/slide6.xml" Id="R04a61ac62fde49df" /><Relationship Type="http://schemas.openxmlformats.org/officeDocument/2006/relationships/notesMaster" Target="/ppt/notesMasters/notesMaster1.xml" Id="R226aef9900724150" /></Relationships>
</file>

<file path=ppt/notesSlides/_rels/notesSlide7.xml.rels>&#65279;<?xml version="1.0" encoding="utf-8"?><Relationships xmlns="http://schemas.openxmlformats.org/package/2006/relationships"><Relationship Type="http://schemas.openxmlformats.org/officeDocument/2006/relationships/slide" Target="/ppt/slides/slide7.xml" Id="Rae08ff6c915e48d4" /><Relationship Type="http://schemas.openxmlformats.org/officeDocument/2006/relationships/notesMaster" Target="/ppt/notesMasters/notesMaster1.xml" Id="R5f505aa0125944a8" /></Relationships>
</file>

<file path=ppt/notesSlides/_rels/notesSlide8.xml.rels>&#65279;<?xml version="1.0" encoding="utf-8"?><Relationships xmlns="http://schemas.openxmlformats.org/package/2006/relationships"><Relationship Type="http://schemas.openxmlformats.org/officeDocument/2006/relationships/slide" Target="/ppt/slides/slide8.xml" Id="R639a6a0e8c2943df" /><Relationship Type="http://schemas.openxmlformats.org/officeDocument/2006/relationships/notesMaster" Target="/ppt/notesMasters/notesMaster1.xml" Id="Rab002a19f1ae4fca" /></Relationships>
</file>

<file path=ppt/notesSlides/_rels/notesSlide9.xml.rels>&#65279;<?xml version="1.0" encoding="utf-8"?><Relationships xmlns="http://schemas.openxmlformats.org/package/2006/relationships"><Relationship Type="http://schemas.openxmlformats.org/officeDocument/2006/relationships/slide" Target="/ppt/slides/slide9.xml" Id="R607e8e27fc2b45c7" /><Relationship Type="http://schemas.openxmlformats.org/officeDocument/2006/relationships/notesMaster" Target="/ppt/notesMasters/notesMaster1.xml" Id="R28ecf67ff8ad497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3974ac813da432d" /><Relationship Type="http://schemas.openxmlformats.org/officeDocument/2006/relationships/notesMaster" Target="/ppt/notesMasters/notesMaster1.xml" Id="R78f19b28a38f445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8437a62c96343cc" /><Relationship Type="http://schemas.openxmlformats.org/officeDocument/2006/relationships/notesMaster" Target="/ppt/notesMasters/notesMaster1.xml" Id="R0ead60e9241c4a0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5c8d9c1c8ea4ce8" /><Relationship Type="http://schemas.openxmlformats.org/officeDocument/2006/relationships/notesMaster" Target="/ppt/notesMasters/notesMaster1.xml" Id="R806a4a1233784c8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8d99be212ce489b" /><Relationship Type="http://schemas.openxmlformats.org/officeDocument/2006/relationships/notesMaster" Target="/ppt/notesMasters/notesMaster1.xml" Id="R5f7f32e27b584f8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2b500dd59e64cfc" /><Relationship Type="http://schemas.openxmlformats.org/officeDocument/2006/relationships/notesMaster" Target="/ppt/notesMasters/notesMaster1.xml" Id="Re7f0ffb6412b4c2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cce4727e7c1460e" /><Relationship Type="http://schemas.openxmlformats.org/officeDocument/2006/relationships/notesMaster" Target="/ppt/notesMasters/notesMaster1.xml" Id="Rc16c283c3a5b4fd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fad85c162af475b" /><Relationship Type="http://schemas.openxmlformats.org/officeDocument/2006/relationships/notesMaster" Target="/ppt/notesMasters/notesMaster1.xml" Id="R0198d8cfbf554eb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ace62625fca4b72" /><Relationship Type="http://schemas.openxmlformats.org/officeDocument/2006/relationships/notesMaster" Target="/ppt/notesMasters/notesMaster1.xml" Id="Ref230b8979a8467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a3c886a90f54b70" /><Relationship Type="http://schemas.openxmlformats.org/officeDocument/2006/relationships/notesMaster" Target="/ppt/notesMasters/notesMaster1.xml" Id="R231d180e0597408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c59efcb443848c9" /><Relationship Type="http://schemas.openxmlformats.org/officeDocument/2006/relationships/notesMaster" Target="/ppt/notesMasters/notesMaster1.xml" Id="R3ea1b7a9af6b4b1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56bb6f9f2764ad2" /><Relationship Type="http://schemas.openxmlformats.org/officeDocument/2006/relationships/notesMaster" Target="/ppt/notesMasters/notesMaster1.xml" Id="R794c37a6316d4c7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f68c357bed04af7" /><Relationship Type="http://schemas.openxmlformats.org/officeDocument/2006/relationships/notesMaster" Target="/ppt/notesMasters/notesMaster1.xml" Id="Rb4e4e5e768914e7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64afddf4d5a4680" /><Relationship Type="http://schemas.openxmlformats.org/officeDocument/2006/relationships/notesMaster" Target="/ppt/notesMasters/notesMaster1.xml" Id="R94a05845619f452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11fdb0e1a204221" /><Relationship Type="http://schemas.openxmlformats.org/officeDocument/2006/relationships/notesMaster" Target="/ppt/notesMasters/notesMaster1.xml" Id="Re0106d98e8a8420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06db7159e8c45c2" /><Relationship Type="http://schemas.openxmlformats.org/officeDocument/2006/relationships/notesMaster" Target="/ppt/notesMasters/notesMaster1.xml" Id="R7223f8a705ea4b6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f60d5e6f2c648d6" /><Relationship Type="http://schemas.openxmlformats.org/officeDocument/2006/relationships/notesMaster" Target="/ppt/notesMasters/notesMaster1.xml" Id="R89ed2eba131544b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7d86bea4f194f00" /><Relationship Type="http://schemas.openxmlformats.org/officeDocument/2006/relationships/notesMaster" Target="/ppt/notesMasters/notesMaster1.xml" Id="R556f2b962dab473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52faa3fe3414b88" /><Relationship Type="http://schemas.openxmlformats.org/officeDocument/2006/relationships/notesMaster" Target="/ppt/notesMasters/notesMaster1.xml" Id="R19a8dcd336724a1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e644251e89844d3" /><Relationship Type="http://schemas.openxmlformats.org/officeDocument/2006/relationships/notesMaster" Target="/ppt/notesMasters/notesMaster1.xml" Id="R8fef45bf98514a3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c259e1d1eef46fe" /><Relationship Type="http://schemas.openxmlformats.org/officeDocument/2006/relationships/notesMaster" Target="/ppt/notesMasters/notesMaster1.xml" Id="Ra7c402dbb53d457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e0760317d104b62" /><Relationship Type="http://schemas.openxmlformats.org/officeDocument/2006/relationships/notesMaster" Target="/ppt/notesMasters/notesMaster1.xml" Id="R80e9cb676135445a"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029252eb66c49e2" /><Relationship Type="http://schemas.openxmlformats.org/officeDocument/2006/relationships/notesMaster" Target="/ppt/notesMasters/notesMaster1.xml" Id="R04a5d49d728c44e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66d4f44921a401a" /><Relationship Type="http://schemas.openxmlformats.org/officeDocument/2006/relationships/notesMaster" Target="/ppt/notesMasters/notesMaster1.xml" Id="R5321b385ad5d494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2c40231b275444a" /><Relationship Type="http://schemas.openxmlformats.org/officeDocument/2006/relationships/notesMaster" Target="/ppt/notesMasters/notesMaster1.xml" Id="R438388e060ce42c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8b821ff44cd47b2" /><Relationship Type="http://schemas.openxmlformats.org/officeDocument/2006/relationships/notesMaster" Target="/ppt/notesMasters/notesMaster1.xml" Id="R8a5e5af771ce45b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890cc34ed534d6f" /><Relationship Type="http://schemas.openxmlformats.org/officeDocument/2006/relationships/notesMaster" Target="/ppt/notesMasters/notesMaster1.xml" Id="Rb19e730944fa428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a6b125360c0647dd" /><Relationship Type="http://schemas.openxmlformats.org/officeDocument/2006/relationships/notesMaster" Target="/ppt/notesMasters/notesMaster1.xml" Id="R0828cec3fd0c4de9"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Choosing and explaining a model</a:t>
            </a:r>
          </a:p>
          <a:p>
            <a:r>
              <a:t>CML3111, Week 12, slide 1</a:t>
            </a:r>
          </a:p>
          <a:p>
            <a:r>
              <a:t/>
            </a:r>
          </a:p>
          <a:p>
            <a:r>
              <a:t>Explanation to give</a:t>
            </a:r>
          </a:p>
          <a:p>
            <a:r>
              <a:t>A recommendation must satisfy the practical limits before it wins on a ranking metric. Explain eligibility and tie-breaking separately.</a:t>
            </a:r>
          </a:p>
          <a:p>
            <a:r>
              <a:t/>
            </a:r>
          </a:p>
          <a:p>
            <a:r>
              <a:t>Worked illustration / lecturer answer</a:t>
            </a:r>
          </a:p>
          <a:p>
            <a:r>
              <a:t>A model at 4 error units and 12 ms fails a 10 ms limit even if its error is attractive. Test exact boundaries before ranking eligible candidates.</a:t>
            </a:r>
          </a:p>
          <a:p>
            <a:r>
              <a:t/>
            </a:r>
          </a:p>
          <a:p>
            <a:r>
              <a:t>Misconception to address</a:t>
            </a:r>
          </a:p>
          <a:p>
            <a:r>
              <a:t>Use this as an orientation to the lesson. Terms and syntax will be unpacked on their own slides; students do not need to know them in advance.</a:t>
            </a:r>
          </a:p>
          <a:p>
            <a:r>
              <a:t/>
            </a:r>
          </a:p>
          <a:p>
            <a:r>
              <a:t>On this slide</a:t>
            </a:r>
          </a:p>
          <a:p>
            <a:r>
              <a:t>Communications, Electrical, Mechatronics and Robotics Engineering</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CML3111, Week 12, slide 2</a:t>
            </a:r>
          </a:p>
          <a:p>
            <a:r>
              <a:t/>
            </a:r>
          </a:p>
          <a:p>
            <a:r>
              <a:t>Explanation to give</a:t>
            </a:r>
          </a:p>
          <a:p>
            <a:r>
              <a:t>A recommendation must satisfy the practical limits before it wins on a ranking metric. Explain eligibility and tie-breaking separately.</a:t>
            </a:r>
          </a:p>
          <a:p>
            <a:r>
              <a:t/>
            </a:r>
          </a:p>
          <a:p>
            <a:r>
              <a:t>Worked illustration / lecturer answer</a:t>
            </a:r>
          </a:p>
          <a:p>
            <a:r>
              <a:t>A model at 4 error units and 12 ms fails a 10 ms limit even if its error is attractive. Test exact boundaries before ranking eligible candidates.</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Check model requirements before ranking candidates.</a:t>
            </a:r>
          </a:p>
          <a:p>
            <a:r>
              <a:t/>
            </a:r>
          </a:p>
          <a:p>
            <a:r>
              <a:t>Apply the tie-break rule and explain the choice.</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CML3111, Week 12, slide 3</a:t>
            </a:r>
          </a:p>
          <a:p>
            <a:r>
              <a:t/>
            </a:r>
          </a:p>
          <a:p>
            <a:r>
              <a:t>Explanation to give</a:t>
            </a:r>
          </a:p>
          <a:p>
            <a:r>
              <a:t>A recommendation must satisfy the practical limits before it wins on a ranking metric. Explain eligibility and tie-breaking separately.</a:t>
            </a:r>
          </a:p>
          <a:p>
            <a:r>
              <a:t/>
            </a:r>
          </a:p>
          <a:p>
            <a:r>
              <a:t>Worked illustration / lecturer answer</a:t>
            </a:r>
          </a:p>
          <a:p>
            <a:r>
              <a:t>A model at 4 error units and 12 ms fails a 10 ms limit even if its error is attractive. Test exact boundaries before ranking eligible candidates.</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We already calculate validation errors. Now we combine those errors with a practical constraint and an explicit tie-break rule.</a:t>
            </a:r>
          </a:p>
          <a:p>
            <a:r>
              <a:t/>
            </a:r>
          </a:p>
          <a:p>
            <a:r>
              <a:t>Continue to</a:t>
            </a:r>
          </a:p>
          <a:p>
            <a:r>
              <a:t>Why this week’s tools are needed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this week’s tools are needed</a:t>
            </a:r>
          </a:p>
          <a:p>
            <a:r>
              <a:t>CML3111, Week 12, slide 4</a:t>
            </a:r>
          </a:p>
          <a:p>
            <a:r>
              <a:t/>
            </a:r>
          </a:p>
          <a:p>
            <a:r>
              <a:t>Explanation to give</a:t>
            </a:r>
          </a:p>
          <a:p>
            <a:r>
              <a:t>A recommendation must satisfy the practical limits before it wins on a ranking metric. Explain eligibility and tie-breaking separately.</a:t>
            </a:r>
          </a:p>
          <a:p>
            <a:r>
              <a:t/>
            </a:r>
          </a:p>
          <a:p>
            <a:r>
              <a:t>Worked illustration / lecturer answer</a:t>
            </a:r>
          </a:p>
          <a:p>
            <a:r>
              <a:t>A model at 4 error units and 12 ms fails a 10 ms limit even if its error is attractive. Test exact boundaries before ranking eligible candidates.</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The lowest prediction error may come from a model that is too slow for the stated task. We apply the published constraints before ranking eligible models.</a:t>
            </a:r>
          </a:p>
          <a:p>
            <a:r>
              <a:t/>
            </a:r>
          </a:p>
          <a:p>
            <a:r>
              <a:t>Continue to</a:t>
            </a:r>
          </a:p>
          <a:p>
            <a:r>
              <a:t>Constraint and Latency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Constraint and Latency</a:t>
            </a:r>
          </a:p>
          <a:p>
            <a:r>
              <a:t>CML3111, Week 12, slide 5</a:t>
            </a:r>
          </a:p>
          <a:p>
            <a:r>
              <a:t/>
            </a:r>
          </a:p>
          <a:p>
            <a:r>
              <a:t>Explanation to give</a:t>
            </a:r>
          </a:p>
          <a:p>
            <a:r>
              <a:t>Separate eligibility from ranking. A model that violates a required error or latency limit cannot win merely because another score is attractive. Latency is time per prediction in the stated measurement setting.</a:t>
            </a:r>
          </a:p>
          <a:p>
            <a:r>
              <a:t/>
            </a:r>
          </a:p>
          <a:p>
            <a:r>
              <a:t>Worked illustration / lecturer answer</a:t>
            </a:r>
          </a:p>
          <a:p>
            <a:r>
              <a:t>With limits MAE &lt;= 5 and latency &lt;= 10 ms, a candidate at MAE 4 and 12 ms fails eligibility. A candidate at MAE 5 and 10 ms passes inclusive limits.</a:t>
            </a:r>
          </a:p>
          <a:p>
            <a:r>
              <a:t/>
            </a:r>
          </a:p>
          <a:p>
            <a:r>
              <a:t>Misconception to address</a:t>
            </a:r>
          </a:p>
          <a:p>
            <a:r>
              <a:t>Establish units and whether boundaries are inclusive. An error of 4 is not comparable across different target units or evaluation samples.</a:t>
            </a:r>
          </a:p>
          <a:p>
            <a:r>
              <a:t/>
            </a:r>
          </a:p>
          <a:p>
            <a:r>
              <a:t>On this slide</a:t>
            </a:r>
          </a:p>
          <a:p>
            <a:r>
              <a:t>Constraint: A condition a candidate must satisfy, such as MAE at most 3 and latency at most 10 ms.</a:t>
            </a:r>
          </a:p>
          <a:p>
            <a:r>
              <a:t>Latency: Time taken to produce a prediction under stated measurement conditions. Hardware and measurement method matter.</a:t>
            </a:r>
          </a:p>
          <a:p>
            <a:r>
              <a:t/>
            </a:r>
          </a:p>
          <a:p>
            <a:r>
              <a:t>Continue to</a:t>
            </a:r>
          </a:p>
          <a:p>
            <a:r>
              <a:t>Tie-break and Hyperparameter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Tie-break and Hyperparameter</a:t>
            </a:r>
          </a:p>
          <a:p>
            <a:r>
              <a:t>CML3111, Week 12, slide 6</a:t>
            </a:r>
          </a:p>
          <a:p>
            <a:r>
              <a:t/>
            </a:r>
          </a:p>
          <a:p>
            <a:r>
              <a:t>Explanation to give</a:t>
            </a:r>
          </a:p>
          <a:p>
            <a:r>
              <a:t>A ranking key states the priorities in order. Python compares tuples by the first element, then the second only on a tie, and so on. A key function returns that tuple for one candidate.</a:t>
            </a:r>
          </a:p>
          <a:p>
            <a:r>
              <a:t/>
            </a:r>
          </a:p>
          <a:p>
            <a:r>
              <a:t>Worked illustration / lecturer answer</a:t>
            </a:r>
          </a:p>
          <a:p>
            <a:r>
              <a:t>Keys (3,8,"A") and (3,6,"B") tie on error 3, so latency 6 wins. A third label component makes a remaining exact tie deterministic.</a:t>
            </a:r>
          </a:p>
          <a:p>
            <a:r>
              <a:t/>
            </a:r>
          </a:p>
          <a:p>
            <a:r>
              <a:t>Misconception to address</a:t>
            </a:r>
          </a:p>
          <a:p>
            <a:r>
              <a:t>sorted returns a new ordered list. It does not select only eligible candidates unless filtering happened first. Follow the published priority order.</a:t>
            </a:r>
          </a:p>
          <a:p>
            <a:r>
              <a:t/>
            </a:r>
          </a:p>
          <a:p>
            <a:r>
              <a:t>On this slide</a:t>
            </a:r>
          </a:p>
          <a:p>
            <a:r>
              <a:t>Tie-break: A published rule for choosing between candidates that tie on the main criterion.</a:t>
            </a:r>
          </a:p>
          <a:p>
            <a:r>
              <a:t>Hyperparameter: A setting chosen before fitting, such as tree depth. Tune using validation or cross-validation, not the final test.</a:t>
            </a:r>
          </a:p>
          <a:p>
            <a:r>
              <a:t/>
            </a:r>
          </a:p>
          <a:p>
            <a:r>
              <a:t>Continue to</a:t>
            </a:r>
          </a:p>
          <a:p>
            <a:r>
              <a:t>Error and practical constraints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Error and practical constraints</a:t>
            </a:r>
          </a:p>
          <a:p>
            <a:r>
              <a:t>CML3111, Week 12, slide 7</a:t>
            </a:r>
          </a:p>
          <a:p>
            <a:r>
              <a:t/>
            </a:r>
          </a:p>
          <a:p>
            <a:r>
              <a:t>Explanation to give</a:t>
            </a:r>
          </a:p>
          <a:p>
            <a:r>
              <a:t>Separate eligibility from ranking. A model that violates a required error or latency limit cannot win merely because another score is attractive. Latency is time per prediction in the stated measurement setting.</a:t>
            </a:r>
          </a:p>
          <a:p>
            <a:r>
              <a:t/>
            </a:r>
          </a:p>
          <a:p>
            <a:r>
              <a:t>Worked illustration / lecturer answer</a:t>
            </a:r>
          </a:p>
          <a:p>
            <a:r>
              <a:t>With limits MAE &lt;= 5 and latency &lt;= 10 ms, a candidate at MAE 4 and 12 ms fails eligibility. A candidate at MAE 5 and 10 ms passes inclusive limits.</a:t>
            </a:r>
          </a:p>
          <a:p>
            <a:r>
              <a:t/>
            </a:r>
          </a:p>
          <a:p>
            <a:r>
              <a:t>Misconception to address</a:t>
            </a:r>
          </a:p>
          <a:p>
            <a:r>
              <a:t>Establish units and whether boundaries are inclusive. An error of 4 is not comparable across different target units or evaluation samples.</a:t>
            </a:r>
          </a:p>
          <a:p>
            <a:r>
              <a:t/>
            </a:r>
          </a:p>
          <a:p>
            <a:r>
              <a:t>On this slide</a:t>
            </a:r>
          </a:p>
          <a:p>
            <a:r>
              <a:t>A smaller error can require more computation.</a:t>
            </a:r>
          </a:p>
          <a:p>
            <a:r>
              <a:t/>
            </a:r>
          </a:p>
          <a:p>
            <a:r>
              <a:t>A candidate must meet every stated requirement.</a:t>
            </a:r>
          </a:p>
          <a:p>
            <a:r>
              <a:t/>
            </a:r>
          </a:p>
          <a:p>
            <a:r>
              <a:t>Compare eligible models on the same validation observations.</a:t>
            </a:r>
          </a:p>
          <a:p>
            <a:r>
              <a:t/>
            </a:r>
          </a:p>
          <a:p>
            <a:r>
              <a:t>Follow the published tie-break rule when scores tie.</a:t>
            </a:r>
          </a:p>
          <a:p>
            <a:r>
              <a:t/>
            </a:r>
          </a:p>
          <a:p>
            <a:r>
              <a:t>Continue to</a:t>
            </a:r>
          </a:p>
          <a:p>
            <a:r>
              <a:t>A model comparison needs a fair test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model comparison needs a fair test</a:t>
            </a:r>
          </a:p>
          <a:p>
            <a:r>
              <a:t>CML3111, Week 12, slide 8</a:t>
            </a:r>
          </a:p>
          <a:p>
            <a:r>
              <a:t/>
            </a:r>
          </a:p>
          <a:p>
            <a:r>
              <a:t>Explanation to give</a:t>
            </a:r>
          </a:p>
          <a:p>
            <a:r>
              <a:t>An ablation comparison changes one feature or component while holding the evaluation protocol fixed. This helps attribute any observed difference to the change being tested.</a:t>
            </a:r>
          </a:p>
          <a:p>
            <a:r>
              <a:t/>
            </a:r>
          </a:p>
          <a:p>
            <a:r>
              <a:t>Worked illustration / lecturer answer</a:t>
            </a:r>
          </a:p>
          <a:p>
            <a:r>
              <a:t>If validation MAE drops from 5 to 4, the absolute reduction is 1 in the target unit and the relative reduction is 20%. If it rises, the extra feature has not helped under this protocol.</a:t>
            </a:r>
          </a:p>
          <a:p>
            <a:r>
              <a:t/>
            </a:r>
          </a:p>
          <a:p>
            <a:r>
              <a:t>Misconception to address</a:t>
            </a:r>
          </a:p>
          <a:p>
            <a:r>
              <a:t>Changing the split, model and feature at once makes attribution unclear. Use the same observations, metric and fitting rules for both variants.</a:t>
            </a:r>
          </a:p>
          <a:p>
            <a:r>
              <a:t/>
            </a:r>
          </a:p>
          <a:p>
            <a:r>
              <a:t>On this slide</a:t>
            </a:r>
          </a:p>
          <a:p>
            <a:r>
              <a:t>Use the same validation observations for every candidate.</a:t>
            </a:r>
          </a:p>
          <a:p>
            <a:r>
              <a:t/>
            </a:r>
          </a:p>
          <a:p>
            <a:r>
              <a:t>Fit preprocessing on training data only.</a:t>
            </a:r>
          </a:p>
          <a:p>
            <a:r>
              <a:t/>
            </a:r>
          </a:p>
          <a:p>
            <a:r>
              <a:t>Choose the error measure and practical requirements before inspecting results.</a:t>
            </a:r>
          </a:p>
          <a:p>
            <a:r>
              <a:t/>
            </a:r>
          </a:p>
          <a:p>
            <a:r>
              <a:t>Continue to</a:t>
            </a:r>
          </a:p>
          <a:p>
            <a:r>
              <a:t>Eligibility comes before ranking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Eligibility comes before ranking</a:t>
            </a:r>
          </a:p>
          <a:p>
            <a:r>
              <a:t>CML3111, Week 12, slide 9</a:t>
            </a:r>
          </a:p>
          <a:p>
            <a:r>
              <a:t/>
            </a:r>
          </a:p>
          <a:p>
            <a:r>
              <a:t>Explanation to give</a:t>
            </a:r>
          </a:p>
          <a:p>
            <a:r>
              <a:t>Separate eligibility from ranking. A model that violates a required error or latency limit cannot win merely because another score is attractive. Latency is time per prediction in the stated measurement setting.</a:t>
            </a:r>
          </a:p>
          <a:p>
            <a:r>
              <a:t/>
            </a:r>
          </a:p>
          <a:p>
            <a:r>
              <a:t>Worked illustration / lecturer answer</a:t>
            </a:r>
          </a:p>
          <a:p>
            <a:r>
              <a:t>With limits MAE &lt;= 5 and latency &lt;= 10 ms, a candidate at MAE 4 and 12 ms fails eligibility. A candidate at MAE 5 and 10 ms passes inclusive limits.</a:t>
            </a:r>
          </a:p>
          <a:p>
            <a:r>
              <a:t/>
            </a:r>
          </a:p>
          <a:p>
            <a:r>
              <a:t>Misconception to address</a:t>
            </a:r>
          </a:p>
          <a:p>
            <a:r>
              <a:t>Establish units and whether boundaries are inclusive. An error of 4 is not comparable across different target units or evaluation samples.</a:t>
            </a:r>
          </a:p>
          <a:p>
            <a:r>
              <a:t/>
            </a:r>
          </a:p>
          <a:p>
            <a:r>
              <a:t>On this slide</a:t>
            </a:r>
          </a:p>
          <a:p>
            <a:r>
              <a:t>First check every stated requirement for each candidate.</a:t>
            </a:r>
          </a:p>
          <a:p>
            <a:r>
              <a:t/>
            </a:r>
          </a:p>
          <a:p>
            <a:r>
              <a:t>Reject a candidate that fails even one requirement.</a:t>
            </a:r>
          </a:p>
          <a:p>
            <a:r>
              <a:t/>
            </a:r>
          </a:p>
          <a:p>
            <a:r>
              <a:t>Rank the eligible candidates using the published tie-break rule.</a:t>
            </a:r>
          </a:p>
          <a:p>
            <a:r>
              <a:t/>
            </a:r>
          </a:p>
          <a:p>
            <a:r>
              <a:t>Continue to</a:t>
            </a:r>
          </a:p>
          <a:p>
            <a:r>
              <a:t>A constrained model choice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constrained model choice</a:t>
            </a:r>
          </a:p>
          <a:p>
            <a:r>
              <a:t>CML3111, Week 12, slide 10</a:t>
            </a:r>
          </a:p>
          <a:p>
            <a:r>
              <a:t/>
            </a:r>
          </a:p>
          <a:p>
            <a:r>
              <a:t>Explanation to give</a:t>
            </a:r>
          </a:p>
          <a:p>
            <a:r>
              <a:t>Separate eligibility from ranking. A model that violates a required error or latency limit cannot win merely because another score is attractive. Latency is time per prediction in the stated measurement setting.</a:t>
            </a:r>
          </a:p>
          <a:p>
            <a:r>
              <a:t/>
            </a:r>
          </a:p>
          <a:p>
            <a:r>
              <a:t>Worked illustration / lecturer answer</a:t>
            </a:r>
          </a:p>
          <a:p>
            <a:r>
              <a:t>With limits MAE &lt;= 5 and latency &lt;= 10 ms, a candidate at MAE 4 and 12 ms fails eligibility. A candidate at MAE 5 and 10 ms passes inclusive limits.</a:t>
            </a:r>
          </a:p>
          <a:p>
            <a:r>
              <a:t/>
            </a:r>
          </a:p>
          <a:p>
            <a:r>
              <a:t>Misconception to address</a:t>
            </a:r>
          </a:p>
          <a:p>
            <a:r>
              <a:t>Establish units and whether boundaries are inclusive. An error of 4 is not comparable across different target units or evaluation samples.</a:t>
            </a:r>
          </a:p>
          <a:p>
            <a:r>
              <a:t/>
            </a:r>
          </a:p>
          <a:p>
            <a:r>
              <a:t>On this slide</a:t>
            </a:r>
          </a:p>
          <a:p>
            <a:r>
              <a:t>Candidate | Validation error | Time (ms)</a:t>
            </a:r>
          </a:p>
          <a:p>
            <a:r>
              <a:t>simple | 3 | 2</a:t>
            </a:r>
          </a:p>
          <a:p>
            <a:r>
              <a:t>complex | 1 | 20</a:t>
            </a:r>
          </a:p>
          <a:p>
            <a:r>
              <a:t>Invented requirements: error at most 3 and time at most 10 ms.</a:t>
            </a:r>
          </a:p>
          <a:p>
            <a:r>
              <a:t/>
            </a:r>
          </a:p>
          <a:p>
            <a:r>
              <a:t>Continue to</a:t>
            </a:r>
          </a:p>
          <a:p>
            <a:r>
              <a:t>Candidate records and eligibility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Candidate records and eligibility</a:t>
            </a:r>
          </a:p>
          <a:p>
            <a:r>
              <a:t>CML3111, Week 12, slide 11</a:t>
            </a:r>
          </a:p>
          <a:p>
            <a:r>
              <a:t/>
            </a:r>
          </a:p>
          <a:p>
            <a:r>
              <a:t>Explanation to give</a:t>
            </a:r>
          </a:p>
          <a:p>
            <a:r>
              <a:t>Separate eligibility from ranking. A model that violates a required error or latency limit cannot win merely because another score is attractive. Latency is time per prediction in the stated measurement setting.</a:t>
            </a:r>
          </a:p>
          <a:p>
            <a:r>
              <a:t/>
            </a:r>
          </a:p>
          <a:p>
            <a:r>
              <a:t>Worked illustration / lecturer answer</a:t>
            </a:r>
          </a:p>
          <a:p>
            <a:r>
              <a:t>With limits MAE &lt;= 5 and latency &lt;= 10 ms, a candidate at MAE 4 and 12 ms fails eligibility. A candidate at MAE 5 and 10 ms passes inclusive limits.</a:t>
            </a:r>
          </a:p>
          <a:p>
            <a:r>
              <a:t/>
            </a:r>
          </a:p>
          <a:p>
            <a:r>
              <a:t>Misconception to address</a:t>
            </a:r>
          </a:p>
          <a:p>
            <a:r>
              <a:t>Establish units and whether boundaries are inclusive. An error of 4 is not comparable across different target units or evaluation samples.</a:t>
            </a:r>
          </a:p>
          <a:p>
            <a:r>
              <a:t/>
            </a:r>
          </a:p>
          <a:p>
            <a:r>
              <a:t>On this slide</a:t>
            </a:r>
          </a:p>
          <a:p>
            <a:r>
              <a:t>A candidate is one model under consideration. Its dictionary records a name, a validation error and measured run time.</a:t>
            </a:r>
          </a:p>
          <a:p>
            <a:r>
              <a:t/>
            </a:r>
          </a:p>
          <a:p>
            <a:r>
              <a:t>An eligible candidate meets every published constraint. Build a list of eligible records first. If the list is empty, use the task’s specified no-candidate result.</a:t>
            </a:r>
          </a:p>
          <a:p>
            <a:r>
              <a:t/>
            </a:r>
          </a:p>
          <a:p>
            <a:r>
              <a:t>Continue to</a:t>
            </a:r>
          </a:p>
          <a:p>
            <a:r>
              <a:t>Model selection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Model selection in Python (1/2)</a:t>
            </a:r>
          </a:p>
          <a:p>
            <a:r>
              <a:t>CML3111, Week 12, slide 12</a:t>
            </a:r>
          </a:p>
          <a:p>
            <a:r>
              <a:t/>
            </a:r>
          </a:p>
          <a:p>
            <a:r>
              <a:t>Explanation to give</a:t>
            </a:r>
          </a:p>
          <a:p>
            <a:r>
              <a:t>First filter candidates using the published eligibility limits. Rank the survivors with the stated error, speed and tie-break order. If none qualify, return the required no-selection result.</a:t>
            </a:r>
          </a:p>
          <a:p>
            <a:r>
              <a:t/>
            </a:r>
          </a:p>
          <a:p>
            <a:r>
              <a:t>Worked illustration / lecturer answer</a:t>
            </a:r>
          </a:p>
          <a:p>
            <a:r>
              <a:t>A model with lower MAE but excessive prediction time is ineligible when latency is a hard constraint. Test a candidate exactly on each limit to check inclusive comparisons.</a:t>
            </a:r>
          </a:p>
          <a:p>
            <a:r>
              <a:t/>
            </a:r>
          </a:p>
          <a:p>
            <a:r>
              <a:t>Misconception to address</a:t>
            </a:r>
          </a:p>
          <a:p>
            <a:r>
              <a:t>Do not rank before enforcing constraints or silently relax a limit to produce a winner.</a:t>
            </a:r>
          </a:p>
          <a:p>
            <a:r>
              <a:t/>
            </a:r>
          </a:p>
          <a:p>
            <a:r>
              <a:t>Read the displayed code line by line</a:t>
            </a:r>
          </a:p>
          <a:p>
            <a:r>
              <a:t>candidates = [{"name": "simple", "error": 3, "ms": 2},</a:t>
            </a:r>
          </a:p>
          <a:p>
            <a:r>
              <a:t>Evaluate the complete right-hand expression first, then assign its result to the name or selected field on the left.</a:t>
            </a:r>
          </a:p>
          <a:p>
            <a:r>
              <a:t/>
            </a:r>
          </a:p>
          <a:p>
            <a:r>
              <a:t>{"name": "complex", "error": 1, "ms": 20}]</a:t>
            </a:r>
          </a:p>
          <a:p>
            <a:r>
              <a:t>This line continues the surrounding expression or block; read it together with the preceding line rather than running it alone.</a:t>
            </a:r>
          </a:p>
          <a:p>
            <a:r>
              <a:t/>
            </a:r>
          </a:p>
          <a:p>
            <a:r>
              <a:t>eligible = []</a:t>
            </a:r>
          </a:p>
          <a:p>
            <a:r>
              <a:t>Evaluate the complete right-hand expression first, then assign its result to the name or selected field on the left.</a:t>
            </a:r>
          </a:p>
          <a:p>
            <a:r>
              <a:t/>
            </a:r>
          </a:p>
          <a:p>
            <a:r>
              <a:t>for item in candidates:</a:t>
            </a:r>
          </a:p>
          <a:p>
            <a:r>
              <a:t>Take each item or pair in turn, assign the loop name(s), and repeat the indented body.</a:t>
            </a:r>
          </a:p>
          <a:p>
            <a:r>
              <a:t/>
            </a:r>
          </a:p>
          <a:p>
            <a:r>
              <a:t>if item["error"] &lt;= 3 and item["ms"] &lt;= 10:</a:t>
            </a:r>
          </a:p>
          <a:p>
            <a:r>
              <a:t>Evaluate this yes/no condition. Execute its indented body only on the matching path.</a:t>
            </a:r>
          </a:p>
          <a:p>
            <a:r>
              <a:t/>
            </a:r>
          </a:p>
          <a:p>
            <a:r>
              <a:t>eligible.append(item)</a:t>
            </a:r>
          </a:p>
          <a:p>
            <a:r>
              <a:t>Evaluate the argument and add it as one new item at the end of this list.</a:t>
            </a:r>
          </a:p>
          <a:p>
            <a:r>
              <a:t/>
            </a:r>
          </a:p>
          <a:p>
            <a:r>
              <a:t>names = []</a:t>
            </a:r>
          </a:p>
          <a:p>
            <a:r>
              <a:t>Evaluate the complete right-hand expression first, then assign its result to the name or selected field on the left.</a:t>
            </a:r>
          </a:p>
          <a:p>
            <a:r>
              <a:t/>
            </a:r>
          </a:p>
          <a:p>
            <a:r>
              <a:t>for item in eligible:</a:t>
            </a:r>
          </a:p>
          <a:p>
            <a:r>
              <a:t>Take each item or pair in turn, assign the loop name(s), and repeat the indented body.</a:t>
            </a:r>
          </a:p>
          <a:p>
            <a:r>
              <a:t/>
            </a:r>
          </a:p>
          <a:p>
            <a:r>
              <a:t>names.append(item["name"])</a:t>
            </a:r>
          </a:p>
          <a:p>
            <a:r>
              <a:t>Evaluate the argument and add it as one new item at the end of this list.</a:t>
            </a:r>
          </a:p>
          <a:p>
            <a:r>
              <a:t/>
            </a:r>
          </a:p>
          <a:p>
            <a:r>
              <a:t>Result / continuity</a:t>
            </a:r>
          </a:p>
          <a:p>
            <a:r>
              <a:t>Read top to bottom. Run the complete example in the matching practice notebook.</a:t>
            </a:r>
          </a:p>
          <a:p>
            <a:r>
              <a:t/>
            </a:r>
          </a:p>
          <a:p>
            <a:r>
              <a:t>Continue to</a:t>
            </a:r>
          </a:p>
          <a:p>
            <a:r>
              <a:t>Model selection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Model selection in Python (2/2)</a:t>
            </a:r>
          </a:p>
          <a:p>
            <a:r>
              <a:t>CML3111, Week 12, slide 13</a:t>
            </a:r>
          </a:p>
          <a:p>
            <a:r>
              <a:t/>
            </a:r>
          </a:p>
          <a:p>
            <a:r>
              <a:t>Explanation to give</a:t>
            </a:r>
          </a:p>
          <a:p>
            <a:r>
              <a:t>First filter candidates using the published eligibility limits. Rank the survivors with the stated error, speed and tie-break order. If none qualify, return the required no-selection result.</a:t>
            </a:r>
          </a:p>
          <a:p>
            <a:r>
              <a:t/>
            </a:r>
          </a:p>
          <a:p>
            <a:r>
              <a:t>Worked illustration / lecturer answer</a:t>
            </a:r>
          </a:p>
          <a:p>
            <a:r>
              <a:t>A model with lower MAE but excessive prediction time is ineligible when latency is a hard constraint. Test a candidate exactly on each limit to check inclusive comparisons.</a:t>
            </a:r>
          </a:p>
          <a:p>
            <a:r>
              <a:t/>
            </a:r>
          </a:p>
          <a:p>
            <a:r>
              <a:t>Misconception to address</a:t>
            </a:r>
          </a:p>
          <a:p>
            <a:r>
              <a:t>Do not rank before enforcing constraints or silently relax a limit to produce a winner.</a:t>
            </a:r>
          </a:p>
          <a:p>
            <a:r>
              <a:t/>
            </a:r>
          </a:p>
          <a:p>
            <a:r>
              <a:t>Read the displayed code line by line</a:t>
            </a:r>
          </a:p>
          <a:p>
            <a:r>
              <a:t>print(names)</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Model selection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Model selection results</a:t>
            </a:r>
          </a:p>
          <a:p>
            <a:r>
              <a:t>CML3111, Week 12, slide 14</a:t>
            </a:r>
          </a:p>
          <a:p>
            <a:r>
              <a:t/>
            </a:r>
          </a:p>
          <a:p>
            <a:r>
              <a:t>Explanation to give</a:t>
            </a:r>
          </a:p>
          <a:p>
            <a:r>
              <a:t>First filter candidates using the published eligibility limits. Rank the survivors with the stated error, speed and tie-break order. If none qualify, return the required no-selection result.</a:t>
            </a:r>
          </a:p>
          <a:p>
            <a:r>
              <a:t/>
            </a:r>
          </a:p>
          <a:p>
            <a:r>
              <a:t>Worked illustration / lecturer answer</a:t>
            </a:r>
          </a:p>
          <a:p>
            <a:r>
              <a:t>A model with lower MAE but excessive prediction time is ineligible when latency is a hard constraint. Test a candidate exactly on each limit to check inclusive comparisons.</a:t>
            </a:r>
          </a:p>
          <a:p>
            <a:r>
              <a:t/>
            </a:r>
          </a:p>
          <a:p>
            <a:r>
              <a:t>Misconception to address</a:t>
            </a:r>
          </a:p>
          <a:p>
            <a:r>
              <a:t>Do not rank before enforcing constraints or silently relax a limit to produce a winner.</a:t>
            </a:r>
          </a:p>
          <a:p>
            <a:r>
              <a:t/>
            </a:r>
          </a:p>
          <a:p>
            <a:r>
              <a:t>On this slide</a:t>
            </a:r>
          </a:p>
          <a:p>
            <a:r>
              <a:t>['simple']</a:t>
            </a:r>
          </a:p>
          <a:p>
            <a:r>
              <a:t/>
            </a:r>
          </a:p>
          <a:p>
            <a:r>
              <a:t>Continue to</a:t>
            </a:r>
          </a:p>
          <a:p>
            <a:r>
              <a:t>A tuple supplies an ordered ranking key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tuple supplies an ordered ranking key</a:t>
            </a:r>
          </a:p>
          <a:p>
            <a:r>
              <a:t>CML3111, Week 12, slide 15</a:t>
            </a:r>
          </a:p>
          <a:p>
            <a:r>
              <a:t/>
            </a:r>
          </a:p>
          <a:p>
            <a:r>
              <a:t>Explanation to give</a:t>
            </a:r>
          </a:p>
          <a:p>
            <a:r>
              <a:t>A ranking key states the priorities in order. Python compares tuples by the first element, then the second only on a tie, and so on. A key function returns that tuple for one candidate.</a:t>
            </a:r>
          </a:p>
          <a:p>
            <a:r>
              <a:t/>
            </a:r>
          </a:p>
          <a:p>
            <a:r>
              <a:t>Worked illustration / lecturer answer</a:t>
            </a:r>
          </a:p>
          <a:p>
            <a:r>
              <a:t>Keys (3,8,"A") and (3,6,"B") tie on error 3, so latency 6 wins. A third label component makes a remaining exact tie deterministic.</a:t>
            </a:r>
          </a:p>
          <a:p>
            <a:r>
              <a:t/>
            </a:r>
          </a:p>
          <a:p>
            <a:r>
              <a:t>Misconception to address</a:t>
            </a:r>
          </a:p>
          <a:p>
            <a:r>
              <a:t>sorted returns a new ordered list. It does not select only eligible candidates unless filtering happened first. Follow the published priority order.</a:t>
            </a:r>
          </a:p>
          <a:p>
            <a:r>
              <a:t/>
            </a:r>
          </a:p>
          <a:p>
            <a:r>
              <a:t>On this slide</a:t>
            </a:r>
          </a:p>
          <a:p>
            <a:r>
              <a:t>A tuple holds several values in order, such as (error, time, name).</a:t>
            </a:r>
          </a:p>
          <a:p>
            <a:r>
              <a:t/>
            </a:r>
          </a:p>
          <a:p>
            <a:r>
              <a:t>Python compares the first values. A tie moves the comparison to the second.</a:t>
            </a:r>
          </a:p>
          <a:p>
            <a:r>
              <a:t/>
            </a:r>
          </a:p>
          <a:p>
            <a:r>
              <a:t>If those also tie, the third value decides.</a:t>
            </a:r>
          </a:p>
          <a:p>
            <a:r>
              <a:t/>
            </a:r>
          </a:p>
          <a:p>
            <a:r>
              <a:t>Continue to</a:t>
            </a:r>
          </a:p>
          <a:p>
            <a:r>
              <a:t>Trace a tuple ranking key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a tuple ranking key</a:t>
            </a:r>
          </a:p>
          <a:p>
            <a:r>
              <a:t>CML3111, Week 12, slide 16</a:t>
            </a:r>
          </a:p>
          <a:p>
            <a:r>
              <a:t/>
            </a:r>
          </a:p>
          <a:p>
            <a:r>
              <a:t>Explanation to give</a:t>
            </a:r>
          </a:p>
          <a:p>
            <a:r>
              <a:t>A ranking key states the priorities in order. Python compares tuples by the first element, then the second only on a tie, and so on. A key function returns that tuple for one candidate.</a:t>
            </a:r>
          </a:p>
          <a:p>
            <a:r>
              <a:t/>
            </a:r>
          </a:p>
          <a:p>
            <a:r>
              <a:t>Worked illustration / lecturer answer</a:t>
            </a:r>
          </a:p>
          <a:p>
            <a:r>
              <a:t>Keys (3,8,"A") and (3,6,"B") tie on error 3, so latency 6 wins. A third label component makes a remaining exact tie deterministic.</a:t>
            </a:r>
          </a:p>
          <a:p>
            <a:r>
              <a:t/>
            </a:r>
          </a:p>
          <a:p>
            <a:r>
              <a:t>Misconception to address</a:t>
            </a:r>
          </a:p>
          <a:p>
            <a:r>
              <a:t>sorted returns a new ordered list. It does not select only eligible candidates unless filtering happened first. Follow the published priority order.</a:t>
            </a:r>
          </a:p>
          <a:p>
            <a:r>
              <a:t/>
            </a:r>
          </a:p>
          <a:p>
            <a:r>
              <a:t>On this slide</a:t>
            </a:r>
          </a:p>
          <a:p>
            <a:r>
              <a:t>Candidate | Key: error, ms, name | Position</a:t>
            </a:r>
          </a:p>
          <a:p>
            <a:r>
              <a:t>beta | (2, 5, "beta") | 1: lower error</a:t>
            </a:r>
          </a:p>
          <a:p>
            <a:r>
              <a:t>alpha | (3, 1, "alpha") | 2: tie on error; faster</a:t>
            </a:r>
          </a:p>
          <a:p>
            <a:r>
              <a:t>gamma | (3, 2, "gamma") | 3: same error; slower</a:t>
            </a:r>
          </a:p>
          <a:p>
            <a:r>
              <a:t>Only eligible candidates reach ranking. If error and time tie, compare the names alphabetically.</a:t>
            </a:r>
          </a:p>
          <a:p>
            <a:r>
              <a:t/>
            </a:r>
          </a:p>
          <a:p>
            <a:r>
              <a:t>Reference / existing resource</a:t>
            </a:r>
          </a:p>
          <a:p>
            <a:r>
              <a:t>https://docs.python.org/3/tutorial/introduction.html</a:t>
            </a:r>
          </a:p>
          <a:p>
            <a:r>
              <a:t>https://docs.python.org/3/tutorial/controlflow.html;</a:t>
            </a:r>
          </a:p>
          <a:p>
            <a:r>
              <a:t/>
            </a:r>
          </a:p>
          <a:p>
            <a:r>
              <a:t>Continue to</a:t>
            </a:r>
          </a:p>
          <a:p>
            <a:r>
              <a:t>Pass a function as the sorting key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Pass a function as the sorting key</a:t>
            </a:r>
          </a:p>
          <a:p>
            <a:r>
              <a:t>CML3111, Week 12, slide 17</a:t>
            </a:r>
          </a:p>
          <a:p>
            <a:r>
              <a:t/>
            </a:r>
          </a:p>
          <a:p>
            <a:r>
              <a:t>Explanation to give</a:t>
            </a:r>
          </a:p>
          <a:p>
            <a:r>
              <a:t>A ranking key states the priorities in order. Python compares tuples by the first element, then the second only on a tie, and so on. A key function returns that tuple for one candidate.</a:t>
            </a:r>
          </a:p>
          <a:p>
            <a:r>
              <a:t/>
            </a:r>
          </a:p>
          <a:p>
            <a:r>
              <a:t>Worked illustration / lecturer answer</a:t>
            </a:r>
          </a:p>
          <a:p>
            <a:r>
              <a:t>Keys (3,8,"A") and (3,6,"B") tie on error 3, so latency 6 wins. A third label component makes a remaining exact tie deterministic.</a:t>
            </a:r>
          </a:p>
          <a:p>
            <a:r>
              <a:t/>
            </a:r>
          </a:p>
          <a:p>
            <a:r>
              <a:t>Misconception to address</a:t>
            </a:r>
          </a:p>
          <a:p>
            <a:r>
              <a:t>sorted returns a new ordered list. It does not select only eligible candidates unless filtering happened first. Follow the published priority order.</a:t>
            </a:r>
          </a:p>
          <a:p>
            <a:r>
              <a:t/>
            </a:r>
          </a:p>
          <a:p>
            <a:r>
              <a:t>On this slide</a:t>
            </a:r>
          </a:p>
          <a:p>
            <a:r>
              <a:t>sorted returns a new list in order. In sorted(eligible, key=rank), rank is the function itself, passed without calling it.</a:t>
            </a:r>
          </a:p>
          <a:p>
            <a:r>
              <a:t/>
            </a:r>
          </a:p>
          <a:p>
            <a:r>
              <a:t>sorted calls rank(item) for each candidate and compares the returned tuples. Writing rank() here would call it immediately without its required input.</a:t>
            </a:r>
          </a:p>
          <a:p>
            <a:r>
              <a:t/>
            </a:r>
          </a:p>
          <a:p>
            <a:r>
              <a:t>The original eligible list is unchanged. Check len(ordered) before using ordered[0], because an empty list has no first position.</a:t>
            </a:r>
          </a:p>
          <a:p>
            <a:r>
              <a:t/>
            </a:r>
          </a:p>
          <a:p>
            <a:r>
              <a:t>Reference / existing resource</a:t>
            </a:r>
          </a:p>
          <a:p>
            <a:r>
              <a:t>https://docs.python.org/3/tutorial/introduction.html</a:t>
            </a:r>
          </a:p>
          <a:p>
            <a:r>
              <a:t>https://docs.python.org/3/tutorial/controlflow.html;</a:t>
            </a:r>
          </a:p>
          <a:p>
            <a:r>
              <a:t/>
            </a:r>
          </a:p>
          <a:p>
            <a:r>
              <a:t>Continue to</a:t>
            </a:r>
          </a:p>
          <a:p>
            <a:r>
              <a:t>Sorting with a tie-break rule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Sorting with a tie-break rule</a:t>
            </a:r>
          </a:p>
          <a:p>
            <a:r>
              <a:t>CML3111, Week 12, slide 18</a:t>
            </a:r>
          </a:p>
          <a:p>
            <a:r>
              <a:t/>
            </a:r>
          </a:p>
          <a:p>
            <a:r>
              <a:t>Explanation to give</a:t>
            </a:r>
          </a:p>
          <a:p>
            <a:r>
              <a:t>A ranking key states the priorities in order. Python compares tuples by the first element, then the second only on a tie, and so on. A key function returns that tuple for one candidate.</a:t>
            </a:r>
          </a:p>
          <a:p>
            <a:r>
              <a:t/>
            </a:r>
          </a:p>
          <a:p>
            <a:r>
              <a:t>Worked illustration / lecturer answer</a:t>
            </a:r>
          </a:p>
          <a:p>
            <a:r>
              <a:t>Keys (3,8,"A") and (3,6,"B") tie on error 3, so latency 6 wins. A third label component makes a remaining exact tie deterministic.</a:t>
            </a:r>
          </a:p>
          <a:p>
            <a:r>
              <a:t/>
            </a:r>
          </a:p>
          <a:p>
            <a:r>
              <a:t>Misconception to address</a:t>
            </a:r>
          </a:p>
          <a:p>
            <a:r>
              <a:t>sorted returns a new ordered list. It does not select only eligible candidates unless filtering happened first. Follow the published priority order.</a:t>
            </a:r>
          </a:p>
          <a:p>
            <a:r>
              <a:t/>
            </a:r>
          </a:p>
          <a:p>
            <a:r>
              <a:t>On this slide</a:t>
            </a:r>
          </a:p>
          <a:p>
            <a:r>
              <a:t>A tuple is an ordered group of values.</a:t>
            </a:r>
          </a:p>
          <a:p>
            <a:r>
              <a:t/>
            </a:r>
          </a:p>
          <a:p>
            <a:r>
              <a:t>Python compares the first item, then the second when tied, then the third.</a:t>
            </a:r>
          </a:p>
          <a:p>
            <a:r>
              <a:t/>
            </a:r>
          </a:p>
          <a:p>
            <a:r>
              <a:t>The key function gives sorted the tuple for each candidate.</a:t>
            </a:r>
          </a:p>
          <a:p>
            <a:r>
              <a:t/>
            </a:r>
          </a:p>
          <a:p>
            <a:r>
              <a:t>Guard an empty list before selecting position zero.</a:t>
            </a:r>
          </a:p>
          <a:p>
            <a:r>
              <a:t/>
            </a:r>
          </a:p>
          <a:p>
            <a:r>
              <a:t>Continue to</a:t>
            </a:r>
          </a:p>
          <a:p>
            <a:r>
              <a:t>Sorting with a named function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Sorting with a named function</a:t>
            </a:r>
          </a:p>
          <a:p>
            <a:r>
              <a:t>CML3111, Week 12, slide 19</a:t>
            </a:r>
          </a:p>
          <a:p>
            <a:r>
              <a:t/>
            </a:r>
          </a:p>
          <a:p>
            <a:r>
              <a:t>Explanation to give</a:t>
            </a:r>
          </a:p>
          <a:p>
            <a:r>
              <a:t>A ranking key states the priorities in order. Python compares tuples by the first element, then the second only on a tie, and so on. A key function returns that tuple for one candidate.</a:t>
            </a:r>
          </a:p>
          <a:p>
            <a:r>
              <a:t/>
            </a:r>
          </a:p>
          <a:p>
            <a:r>
              <a:t>Worked illustration / lecturer answer</a:t>
            </a:r>
          </a:p>
          <a:p>
            <a:r>
              <a:t>Keys (3,8,"A") and (3,6,"B") tie on error 3, so latency 6 wins. A third label component makes a remaining exact tie deterministic.</a:t>
            </a:r>
          </a:p>
          <a:p>
            <a:r>
              <a:t/>
            </a:r>
          </a:p>
          <a:p>
            <a:r>
              <a:t>Misconception to address</a:t>
            </a:r>
          </a:p>
          <a:p>
            <a:r>
              <a:t>sorted returns a new ordered list. It does not select only eligible candidates unless filtering happened first. Follow the published priority order.</a:t>
            </a:r>
          </a:p>
          <a:p>
            <a:r>
              <a:t/>
            </a:r>
          </a:p>
          <a:p>
            <a:r>
              <a:t>On this slide</a:t>
            </a:r>
          </a:p>
          <a:p>
            <a:r>
              <a:t>Expression | Meaning</a:t>
            </a:r>
          </a:p>
          <a:p>
            <a:r>
              <a:t>key=rank | Use rank to build each comparison key</a:t>
            </a:r>
          </a:p>
          <a:p>
            <a:r>
              <a:t>sorted(eligible, key=rank) | Return a newly ordered list</a:t>
            </a:r>
          </a:p>
          <a:p>
            <a:r>
              <a:t>ordered[0] | Select its first item</a:t>
            </a:r>
          </a:p>
          <a:p>
            <a:r>
              <a:t>len(ordered) == 0 | Check for no eligible candidate</a:t>
            </a:r>
          </a:p>
          <a:p>
            <a:r>
              <a:t>Check for an empty list before accessing position zero.</a:t>
            </a:r>
          </a:p>
          <a:p>
            <a:r>
              <a:t/>
            </a:r>
          </a:p>
          <a:p>
            <a:r>
              <a:t>Continue to</a:t>
            </a:r>
          </a:p>
          <a:p>
            <a:r>
              <a:t>Sorting with a tie-break rule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Sorting with a tie-break rule in Python</a:t>
            </a:r>
          </a:p>
          <a:p>
            <a:r>
              <a:t>CML3111, Week 12, slide 20</a:t>
            </a:r>
          </a:p>
          <a:p>
            <a:r>
              <a:t/>
            </a:r>
          </a:p>
          <a:p>
            <a:r>
              <a:t>Explanation to give</a:t>
            </a:r>
          </a:p>
          <a:p>
            <a:r>
              <a:t>A ranking key states the priorities in order. Python compares tuples by the first element, then the second only on a tie, and so on. A key function returns that tuple for one candidate.</a:t>
            </a:r>
          </a:p>
          <a:p>
            <a:r>
              <a:t/>
            </a:r>
          </a:p>
          <a:p>
            <a:r>
              <a:t>Worked illustration / lecturer answer</a:t>
            </a:r>
          </a:p>
          <a:p>
            <a:r>
              <a:t>Keys (3,8,"A") and (3,6,"B") tie on error 3, so latency 6 wins. A third label component makes a remaining exact tie deterministic.</a:t>
            </a:r>
          </a:p>
          <a:p>
            <a:r>
              <a:t/>
            </a:r>
          </a:p>
          <a:p>
            <a:r>
              <a:t>Misconception to address</a:t>
            </a:r>
          </a:p>
          <a:p>
            <a:r>
              <a:t>sorted returns a new ordered list. It does not select only eligible candidates unless filtering happened first. Follow the published priority order.</a:t>
            </a:r>
          </a:p>
          <a:p>
            <a:r>
              <a:t/>
            </a:r>
          </a:p>
          <a:p>
            <a:r>
              <a:t>Read the displayed code line by line</a:t>
            </a:r>
          </a:p>
          <a:p>
            <a:r>
              <a:t>def rank(item):</a:t>
            </a:r>
          </a:p>
          <a:p>
            <a:r>
              <a:t>Store these instructions under this function name. Names in parentheses are its inputs; the body waits until a call.</a:t>
            </a:r>
          </a:p>
          <a:p>
            <a:r>
              <a:t/>
            </a:r>
          </a:p>
          <a:p>
            <a:r>
              <a:t>return (item["error"], item["ms"], item["name"])</a:t>
            </a:r>
          </a:p>
          <a:p>
            <a:r>
              <a:t>Evaluate this result and send it to the caller, ending this function call.</a:t>
            </a:r>
          </a:p>
          <a:p>
            <a:r>
              <a:t/>
            </a:r>
          </a:p>
          <a:p>
            <a:r>
              <a:t>ordered = sorted(eligible, key=rank)</a:t>
            </a:r>
          </a:p>
          <a:p>
            <a:r>
              <a:t>Evaluate the complete right-hand expression first, then assign its result to the name or selected field on the left.</a:t>
            </a:r>
          </a:p>
          <a:p>
            <a:r>
              <a:t/>
            </a:r>
          </a:p>
          <a:p>
            <a:r>
              <a:t>if len(ordered) == 0:</a:t>
            </a:r>
          </a:p>
          <a:p>
            <a:r>
              <a:t>Evaluate this yes/no condition. Execute its indented body only on the matching path.</a:t>
            </a:r>
          </a:p>
          <a:p>
            <a:r>
              <a:t/>
            </a:r>
          </a:p>
          <a:p>
            <a:r>
              <a:t>winner = None</a:t>
            </a:r>
          </a:p>
          <a:p>
            <a:r>
              <a:t>Evaluate the complete right-hand expression first, then assign its result to the name or selected field on the left.</a:t>
            </a:r>
          </a:p>
          <a:p>
            <a:r>
              <a:t/>
            </a:r>
          </a:p>
          <a:p>
            <a:r>
              <a:t>else:</a:t>
            </a:r>
          </a:p>
          <a:p>
            <a:r>
              <a:t>Use this remaining path when the matching earlier condition did not succeed.</a:t>
            </a:r>
          </a:p>
          <a:p>
            <a:r>
              <a:t/>
            </a:r>
          </a:p>
          <a:p>
            <a:r>
              <a:t>winner = ordered[0]["name"]</a:t>
            </a:r>
          </a:p>
          <a:p>
            <a:r>
              <a:t>Evaluate the complete right-hand expression first, then assign its result to the name or selected field on the left.</a:t>
            </a:r>
          </a:p>
          <a:p>
            <a:r>
              <a:t/>
            </a:r>
          </a:p>
          <a:p>
            <a:r>
              <a:t>print(winner)</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Local explanation and Conditions of use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Local explanation and Conditions of use</a:t>
            </a:r>
          </a:p>
          <a:p>
            <a:r>
              <a:t>CML3111, Week 12, slide 21</a:t>
            </a:r>
          </a:p>
          <a:p>
            <a:r>
              <a:t/>
            </a:r>
          </a:p>
          <a:p>
            <a:r>
              <a:t>Explanation to give</a:t>
            </a:r>
          </a:p>
          <a:p>
            <a:r>
              <a:t>Connect a model recommendation to the observed evaluation and the intended operating conditions. A local explanation describes one prediction; it does not prove a universal causal rule.</a:t>
            </a:r>
          </a:p>
          <a:p>
            <a:r>
              <a:t/>
            </a:r>
          </a:p>
          <a:p>
            <a:r>
              <a:t>Worked illustration / lecturer answer</a:t>
            </a:r>
          </a:p>
          <a:p>
            <a:r>
              <a:t>A useful statement is “This model met the stated error and latency limits on held-out equipment; validate it on the intended site before operational use.” Point to the comparison table supporting each part.</a:t>
            </a:r>
          </a:p>
          <a:p>
            <a:r>
              <a:t/>
            </a:r>
          </a:p>
          <a:p>
            <a:r>
              <a:t>Misconception to address</a:t>
            </a:r>
          </a:p>
          <a:p>
            <a:r>
              <a:t>Feature importance or one prediction explanation cannot establish that changing the feature would cause the predicted effect.</a:t>
            </a:r>
          </a:p>
          <a:p>
            <a:r>
              <a:t/>
            </a:r>
          </a:p>
          <a:p>
            <a:r>
              <a:t>On this slide</a:t>
            </a:r>
          </a:p>
          <a:p>
            <a:r>
              <a:t>Local explanation: Why a model made one particular prediction. This is different from global importance, which summarises behaviour over many cases.</a:t>
            </a:r>
          </a:p>
          <a:p>
            <a:r>
              <a:t>Conditions of use: The cases and operating circumstances for which the available evidence supports considering the model.</a:t>
            </a:r>
          </a:p>
          <a:p>
            <a:r>
              <a:t/>
            </a:r>
          </a:p>
          <a:p>
            <a:r>
              <a:t>Continue to</a:t>
            </a:r>
          </a:p>
          <a:p>
            <a:r>
              <a:t>A recommendation needs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recommendation needs evidence</a:t>
            </a:r>
          </a:p>
          <a:p>
            <a:r>
              <a:t>CML3111, Week 12, slide 22</a:t>
            </a:r>
          </a:p>
          <a:p>
            <a:r>
              <a:t/>
            </a:r>
          </a:p>
          <a:p>
            <a:r>
              <a:t>Explanation to give</a:t>
            </a:r>
          </a:p>
          <a:p>
            <a:r>
              <a:t>Connect a model recommendation to the observed evaluation and the intended operating conditions. A local explanation describes one prediction; it does not prove a universal causal rule.</a:t>
            </a:r>
          </a:p>
          <a:p>
            <a:r>
              <a:t/>
            </a:r>
          </a:p>
          <a:p>
            <a:r>
              <a:t>Worked illustration / lecturer answer</a:t>
            </a:r>
          </a:p>
          <a:p>
            <a:r>
              <a:t>A useful statement is “This model met the stated error and latency limits on held-out equipment; validate it on the intended site before operational use.” Point to the comparison table supporting each part.</a:t>
            </a:r>
          </a:p>
          <a:p>
            <a:r>
              <a:t/>
            </a:r>
          </a:p>
          <a:p>
            <a:r>
              <a:t>Misconception to address</a:t>
            </a:r>
          </a:p>
          <a:p>
            <a:r>
              <a:t>Feature importance or one prediction explanation cannot establish that changing the feature would cause the predicted effect.</a:t>
            </a:r>
          </a:p>
          <a:p>
            <a:r>
              <a:t/>
            </a:r>
          </a:p>
          <a:p>
            <a:r>
              <a:t>On this slide</a:t>
            </a:r>
          </a:p>
          <a:p>
            <a:r>
              <a:t>State the question and the chosen candidate.</a:t>
            </a:r>
          </a:p>
          <a:p>
            <a:r>
              <a:t/>
            </a:r>
          </a:p>
          <a:p>
            <a:r>
              <a:t>Give the evaluation result and the constraint it satisfies.</a:t>
            </a:r>
          </a:p>
          <a:p>
            <a:r>
              <a:t/>
            </a:r>
          </a:p>
          <a:p>
            <a:r>
              <a:t>State a limitation and the evidence that could change the recommendation.</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CML3111, Week 12, slide 23</a:t>
            </a:r>
          </a:p>
          <a:p>
            <a:r>
              <a:t/>
            </a:r>
          </a:p>
          <a:p>
            <a:r>
              <a:t>Explanation to give</a:t>
            </a:r>
          </a:p>
          <a:p>
            <a:r>
              <a:t>Use the displayed example as a short individual revision question, then explain the reasoning behind its answer.</a:t>
            </a:r>
          </a:p>
          <a:p>
            <a:r>
              <a:t/>
            </a:r>
          </a:p>
          <a:p>
            <a:r>
              <a:t>Worked illustration / lecturer answer</a:t>
            </a:r>
          </a:p>
          <a:p>
            <a:r>
              <a:t>Example: A third model has error 3 and latency 1 ms. Under lowest error then lowest latency, which eligible model wins?</a:t>
            </a:r>
          </a:p>
          <a:p>
            <a:r>
              <a:t/>
            </a:r>
          </a:p>
          <a:p>
            <a:r>
              <a:t>Answer: The third model. Both eligible models have error 3, but 1 ms is faster than 2 ms.</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CML3111, Week 12, slide 24</a:t>
            </a:r>
          </a:p>
          <a:p>
            <a:r>
              <a:t/>
            </a:r>
          </a:p>
          <a:p>
            <a:r>
              <a:t>Explanation to give</a:t>
            </a:r>
          </a:p>
          <a:p>
            <a:r>
              <a:t>For W12, read the candidate fields exactly: name, validation_mae and latency_ms. Enforce both inclusive limits before ranking by error, latency and alphabetical name.</a:t>
            </a:r>
          </a:p>
          <a:p>
            <a:r>
              <a:t/>
            </a:r>
          </a:p>
          <a:p>
            <a:r>
              <a:t>Worked illustration / lecturer answer</a:t>
            </a:r>
          </a:p>
          <a:p>
            <a:r>
              <a:t>A candidate exactly at both limits is eligible. If the eligible list is empty, return None. The simpler error/ms names on practice slides must be adapted to the assignment’s published field names.</a:t>
            </a:r>
          </a:p>
          <a:p>
            <a:r>
              <a:t/>
            </a:r>
          </a:p>
          <a:p>
            <a:r>
              <a:t>Misconception to address</a:t>
            </a:r>
          </a:p>
          <a:p>
            <a:r>
              <a:t>A sensible general recommendation does not replace the exact graded return interface. Keep the function contract and the wider project discussion distinct.</a:t>
            </a:r>
          </a:p>
          <a:p>
            <a:r>
              <a:t/>
            </a:r>
          </a:p>
          <a:p>
            <a:r>
              <a:t>On this slide</a:t>
            </a:r>
          </a:p>
          <a:p>
            <a:r>
              <a:t>W12 uses fields name, validation_mae and latency_ms.</a:t>
            </a:r>
          </a:p>
          <a:p>
            <a:r>
              <a:t/>
            </a:r>
          </a:p>
          <a:p>
            <a:r>
              <a:t>Meet both inclusive constraints, then rank by error, latency and alphabetical name.</a:t>
            </a:r>
          </a:p>
          <a:p>
            <a:r>
              <a:t/>
            </a:r>
          </a:p>
          <a:p>
            <a:r>
              <a:t>Return None if no candidate qualifies.</a:t>
            </a:r>
          </a:p>
          <a:p>
            <a:r>
              <a:t/>
            </a:r>
          </a:p>
          <a:p>
            <a:r>
              <a:t>Complete the error function and interpret the separately supplied scenario.</a:t>
            </a:r>
          </a:p>
          <a:p>
            <a:r>
              <a:t/>
            </a:r>
          </a:p>
          <a:p>
            <a:r>
              <a:t>Continue to</a:t>
            </a:r>
          </a:p>
          <a:p>
            <a:r>
              <a:t>Preparing for the assignment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 continued</a:t>
            </a:r>
          </a:p>
          <a:p>
            <a:r>
              <a:t>CML3111, Week 12, slide 25</a:t>
            </a:r>
          </a:p>
          <a:p>
            <a:r>
              <a:t/>
            </a:r>
          </a:p>
          <a:p>
            <a:r>
              <a:t>Explanation to give</a:t>
            </a:r>
          </a:p>
          <a:p>
            <a:r>
              <a:t>For W12, read the candidate fields exactly: name, validation_mae and latency_ms. Enforce both inclusive limits before ranking by error, latency and alphabetical name.</a:t>
            </a:r>
          </a:p>
          <a:p>
            <a:r>
              <a:t/>
            </a:r>
          </a:p>
          <a:p>
            <a:r>
              <a:t>Worked illustration / lecturer answer</a:t>
            </a:r>
          </a:p>
          <a:p>
            <a:r>
              <a:t>A candidate exactly at both limits is eligible. If the eligible list is empty, return None. The simpler error/ms names on practice slides must be adapted to the assignment’s published field names.</a:t>
            </a:r>
          </a:p>
          <a:p>
            <a:r>
              <a:t/>
            </a:r>
          </a:p>
          <a:p>
            <a:r>
              <a:t>Misconception to address</a:t>
            </a:r>
          </a:p>
          <a:p>
            <a:r>
              <a:t>A sensible general recommendation does not replace the exact graded return interface. Keep the function contract and the wider project discussion distinct.</a:t>
            </a:r>
          </a:p>
          <a:p>
            <a:r>
              <a:t/>
            </a:r>
          </a:p>
          <a:p>
            <a:r>
              <a:t>On this slide</a:t>
            </a:r>
          </a:p>
          <a:p>
            <a:r>
              <a:t>Keep project comparisons and graded interfaces distinct.</a:t>
            </a:r>
          </a:p>
          <a:p>
            <a:r>
              <a:t/>
            </a:r>
          </a:p>
          <a:p>
            <a:r>
              <a:t>Continue to</a:t>
            </a:r>
          </a:p>
          <a:p>
            <a:r>
              <a:t>Fair comparison and explanation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Fair comparison and explanation</a:t>
            </a:r>
          </a:p>
          <a:p>
            <a:r>
              <a:t>CML3111, Week 12, slide 26</a:t>
            </a:r>
          </a:p>
          <a:p>
            <a:r>
              <a:t/>
            </a:r>
          </a:p>
          <a:p>
            <a:r>
              <a:t>Explanation to give</a:t>
            </a:r>
          </a:p>
          <a:p>
            <a:r>
              <a:t>Connect a model recommendation to the observed evaluation and the intended operating conditions. A local explanation describes one prediction; it does not prove a universal causal rule.</a:t>
            </a:r>
          </a:p>
          <a:p>
            <a:r>
              <a:t/>
            </a:r>
          </a:p>
          <a:p>
            <a:r>
              <a:t>Worked illustration / lecturer answer</a:t>
            </a:r>
          </a:p>
          <a:p>
            <a:r>
              <a:t>A useful statement is “This model met the stated error and latency limits on held-out equipment; validate it on the intended site before operational use.” Point to the comparison table supporting each part.</a:t>
            </a:r>
          </a:p>
          <a:p>
            <a:r>
              <a:t/>
            </a:r>
          </a:p>
          <a:p>
            <a:r>
              <a:t>Misconception to address</a:t>
            </a:r>
          </a:p>
          <a:p>
            <a:r>
              <a:t>Feature importance or one prediction explanation cannot establish that changing the feature would cause the predicted effect.</a:t>
            </a:r>
          </a:p>
          <a:p>
            <a:r>
              <a:t/>
            </a:r>
          </a:p>
          <a:p>
            <a:r>
              <a:t>On this slide</a:t>
            </a:r>
          </a:p>
          <a:p>
            <a:r>
              <a:t>Compare the same metric on the same validation cases with the same preprocessing rules.</a:t>
            </a:r>
          </a:p>
          <a:p>
            <a:r>
              <a:t/>
            </a:r>
          </a:p>
          <a:p>
            <a:r>
              <a:t>A small difference needs context, including variation across splits.</a:t>
            </a:r>
          </a:p>
          <a:p>
            <a:r>
              <a:t/>
            </a:r>
          </a:p>
          <a:p>
            <a:r>
              <a:t>Code run out of order can overwrite the variable holding a model; restart and run from the top.</a:t>
            </a:r>
          </a:p>
          <a:p>
            <a:r>
              <a:t/>
            </a:r>
          </a:p>
          <a:p>
            <a:r>
              <a:t>A local explanation addresses one prediction; global importance summarises many.</a:t>
            </a:r>
          </a:p>
          <a:p>
            <a:r>
              <a:t/>
            </a:r>
          </a:p>
          <a:p>
            <a:r>
              <a:t>Continue to</a:t>
            </a:r>
          </a:p>
          <a:p>
            <a:r>
              <a:t>Fair comparison and explanation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Fair comparison and explanation continued</a:t>
            </a:r>
          </a:p>
          <a:p>
            <a:r>
              <a:t>CML3111, Week 12, slide 27</a:t>
            </a:r>
          </a:p>
          <a:p>
            <a:r>
              <a:t/>
            </a:r>
          </a:p>
          <a:p>
            <a:r>
              <a:t>Explanation to give</a:t>
            </a:r>
          </a:p>
          <a:p>
            <a:r>
              <a:t>Connect a model recommendation to the observed evaluation and the intended operating conditions. A local explanation describes one prediction; it does not prove a universal causal rule.</a:t>
            </a:r>
          </a:p>
          <a:p>
            <a:r>
              <a:t/>
            </a:r>
          </a:p>
          <a:p>
            <a:r>
              <a:t>Worked illustration / lecturer answer</a:t>
            </a:r>
          </a:p>
          <a:p>
            <a:r>
              <a:t>A useful statement is “This model met the stated error and latency limits on held-out equipment; validate it on the intended site before operational use.” Point to the comparison table supporting each part.</a:t>
            </a:r>
          </a:p>
          <a:p>
            <a:r>
              <a:t/>
            </a:r>
          </a:p>
          <a:p>
            <a:r>
              <a:t>Misconception to address</a:t>
            </a:r>
          </a:p>
          <a:p>
            <a:r>
              <a:t>Feature importance or one prediction explanation cannot establish that changing the feature would cause the predicted effect.</a:t>
            </a:r>
          </a:p>
          <a:p>
            <a:r>
              <a:t/>
            </a:r>
          </a:p>
          <a:p>
            <a:r>
              <a:t>On this slide</a:t>
            </a:r>
          </a:p>
          <a:p>
            <a:r>
              <a:t>A post-hoc explanation of a complex model is not its directly readable internal rule.</a:t>
            </a:r>
          </a:p>
          <a:p>
            <a:r>
              <a:t/>
            </a:r>
          </a:p>
          <a:p>
            <a:r>
              <a:t>Continue to</a:t>
            </a:r>
          </a:p>
          <a:p>
            <a:r>
              <a:t>Your issued task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task</a:t>
            </a:r>
          </a:p>
          <a:p>
            <a:r>
              <a:t>CML3111, Week 12, slide 28</a:t>
            </a:r>
          </a:p>
          <a:p>
            <a:r>
              <a:t/>
            </a:r>
          </a:p>
          <a:p>
            <a:r>
              <a:t>Explanation to give</a:t>
            </a:r>
          </a:p>
          <a:p>
            <a:r>
              <a:t>Name this cohort’s target and its unit exactly as displayed. Each row is one operating observation, while equipment_id can repeat across several observations.</a:t>
            </a:r>
          </a:p>
          <a:p>
            <a:r>
              <a:t/>
            </a:r>
          </a:p>
          <a:p>
            <a:r>
              <a:t>Worked illustration / lecturer answer</a:t>
            </a:r>
          </a:p>
          <a:p>
            <a:r>
              <a:t>Explain record_id as the identifier of an observation, load_pct as load expressed in percent and ambient_c as temperature in degrees Celsius. The target records the known answer in training data.</a:t>
            </a:r>
          </a:p>
          <a:p>
            <a:r>
              <a:t/>
            </a:r>
          </a:p>
          <a:p>
            <a:r>
              <a:t>Misconception to address</a:t>
            </a:r>
          </a:p>
          <a:p>
            <a:r>
              <a:t>These are synthetic examples for learning. They do not establish a calibrated physical relationship or justify operation of real equipment.</a:t>
            </a:r>
          </a:p>
          <a:p>
            <a:r>
              <a:t/>
            </a:r>
          </a:p>
          <a:p>
            <a:r>
              <a:t>On this slide</a:t>
            </a:r>
          </a:p>
          <a:p>
            <a:r>
              <a:t>Investigate motor winding temperature.</a:t>
            </a:r>
          </a:p>
          <a:p>
            <a:r>
              <a:t/>
            </a:r>
          </a:p>
          <a:p>
            <a:r>
              <a:t>Target units: deg C.</a:t>
            </a:r>
          </a:p>
          <a:p>
            <a:r>
              <a:t/>
            </a:r>
          </a:p>
          <a:p>
            <a:r>
              <a:t>These are synthetic teaching records, not measurements suitable for deployment.</a:t>
            </a:r>
          </a:p>
          <a:p>
            <a:r>
              <a:t/>
            </a:r>
          </a:p>
          <a:p>
            <a:r>
              <a:t>Each record is one operating observation; equipment_id repeats across observations.</a:t>
            </a:r>
          </a:p>
          <a:p>
            <a:r>
              <a:t/>
            </a:r>
          </a:p>
          <a:p>
            <a:r>
              <a:t>Continue to</a:t>
            </a:r>
          </a:p>
          <a:p>
            <a:r>
              <a:t>select_model(candidates, max_mae, max_ms)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select_model(candidates, max_mae, max_ms)</a:t>
            </a:r>
          </a:p>
          <a:p>
            <a:r>
              <a:t>CML3111, Week 12, slide 29</a:t>
            </a:r>
          </a:p>
          <a:p>
            <a:r>
              <a:t/>
            </a:r>
          </a:p>
          <a:p>
            <a:r>
              <a:t>Explanation to give</a:t>
            </a:r>
          </a:p>
          <a:p>
            <a:r>
              <a:t>Filter by both published limits, then apply the full tie-break rule. Return the requested model identifier or the specified no-candidate result.</a:t>
            </a:r>
          </a:p>
          <a:p>
            <a:r>
              <a:t/>
            </a:r>
          </a:p>
          <a:p>
            <a:r>
              <a:t>Worked illustration / lecturer answer</a:t>
            </a:r>
          </a:p>
          <a:p>
            <a:r>
              <a:t>Check an exactly-on-limit candidate, a tied pair and an empty eligible list. These are ordinary contract cases rather than optional extensions.</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Candidates have name, validation_mae and latency_ms.</a:t>
            </a:r>
          </a:p>
          <a:p>
            <a:r>
              <a:t/>
            </a:r>
          </a:p>
          <a:p>
            <a:r>
              <a:t>Keep those meeting both inclusive constraints; select smallest validation_mae, then latency_ms, then name alphabetically.</a:t>
            </a:r>
          </a:p>
          <a:p>
            <a:r>
              <a:t/>
            </a:r>
          </a:p>
          <a:p>
            <a:r>
              <a:t>Return the selected name or None.</a:t>
            </a:r>
          </a:p>
          <a:p>
            <a:r>
              <a:t/>
            </a:r>
          </a:p>
          <a:p>
            <a:r>
              <a:t>Never use test scores for selection.</a:t>
            </a:r>
          </a:p>
          <a:p>
            <a:r>
              <a:t/>
            </a:r>
          </a:p>
          <a:p>
            <a:r>
              <a:t>Continue to</a:t>
            </a:r>
          </a:p>
          <a:p>
            <a:r>
              <a:t>regression_errors(actual, predicted)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regression_errors(actual, predicted)</a:t>
            </a:r>
          </a:p>
          <a:p>
            <a:r>
              <a:t>CML3111, Week 12, slide 30</a:t>
            </a:r>
          </a:p>
          <a:p>
            <a:r>
              <a:t/>
            </a:r>
          </a:p>
          <a:p>
            <a:r>
              <a:t>Explanation to give</a:t>
            </a:r>
          </a:p>
          <a:p>
            <a:r>
              <a:t>Pair actual and predicted values by position. Return mae and rmse with full numerical precision.</a:t>
            </a:r>
          </a:p>
          <a:p>
            <a:r>
              <a:t/>
            </a:r>
          </a:p>
          <a:p>
            <a:r>
              <a:t>Worked illustration / lecturer answer</a:t>
            </a:r>
          </a:p>
          <a:p>
            <a:r>
              <a:t>On separate teaching pairs with errors 2 and 4, MAE is 3 and RMSE is sqrt(10). Rounding is for a labelled display, not for the returned metric.</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Return mae and rmse, calculated over the same paired observations, with full precision.</a:t>
            </a:r>
          </a:p>
          <a:p>
            <a:r>
              <a:t/>
            </a:r>
          </a:p>
          <a:p>
            <a:r>
              <a:t>Continue to</a:t>
            </a:r>
          </a:p>
          <a:p>
            <a:r>
              <a:t>Written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Written evidence</a:t>
            </a:r>
          </a:p>
          <a:p>
            <a:r>
              <a:t>CML3111, Week 12, slide 31</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Use the cell headed “My written evidence”.</a:t>
            </a:r>
          </a:p>
          <a:p>
            <a:r>
              <a:t/>
            </a:r>
          </a:p>
          <a:p>
            <a:r>
              <a:t>Explain the supplied scenario in your own words.</a:t>
            </a:r>
          </a:p>
          <a:p>
            <a:r>
              <a:t/>
            </a:r>
          </a:p>
          <a:p>
            <a:r>
              <a:t>State target units, reasons and limitations.</a:t>
            </a:r>
          </a:p>
          <a:p>
            <a:r>
              <a:t/>
            </a:r>
          </a:p>
          <a:p>
            <a:r>
              <a:t>Submit one complete notebook containing code and written evidence.</a:t>
            </a:r>
          </a:p>
          <a:p>
            <a:r>
              <a:t/>
            </a:r>
          </a:p>
          <a:p>
            <a:r>
              <a:t>Continue to</a:t>
            </a:r>
          </a:p>
          <a:p>
            <a:r>
              <a:t>Model recommendation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Model recommendation submission</a:t>
            </a:r>
          </a:p>
          <a:p>
            <a:r>
              <a:t>CML3111, Week 12, slide 32</a:t>
            </a:r>
          </a:p>
          <a:p>
            <a:r>
              <a:t/>
            </a:r>
          </a:p>
          <a:p>
            <a:r>
              <a:t>Explanation to give</a:t>
            </a:r>
          </a:p>
          <a:p>
            <a:r>
              <a:t>This slide hands over CML3111 W12. Show the exact form title before uploading. The required packet is one completed .ipynb notebook.</a:t>
            </a:r>
          </a:p>
          <a:p>
            <a:r>
              <a:t/>
            </a:r>
          </a:p>
          <a:p>
            <a:r>
              <a:t>Worked illustration / lecturer answer</a:t>
            </a:r>
          </a:p>
          <a:p>
            <a:r>
              <a:t>The recorded cutoff for this form is 2026-11-27T14:00:00+03:00.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27 Nov 2026, 11:00 Kampala</a:t>
            </a:r>
          </a:p>
          <a:p>
            <a:r>
              <a:t/>
            </a:r>
          </a:p>
          <a:p>
            <a:r>
              <a:t>Deadline: 27 Nov 2026, 14:00 Kampala</a:t>
            </a:r>
          </a:p>
          <a:p>
            <a:r>
              <a:t/>
            </a:r>
          </a:p>
          <a:p>
            <a:r>
              <a:t>Use your full Student Registration Number in the form.</a:t>
            </a:r>
          </a:p>
          <a:p>
            <a:r>
              <a:t/>
            </a:r>
          </a:p>
          <a:p>
            <a:r>
              <a:t>Keep the submitted files and confirmation.</a:t>
            </a:r>
          </a:p>
          <a:p>
            <a:r>
              <a:t/>
            </a:r>
          </a:p>
          <a:p>
            <a:r>
              <a:t>Continue to</a:t>
            </a:r>
          </a:p>
          <a:p>
            <a:r>
              <a:t>Project preparation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Project preparation</a:t>
            </a:r>
          </a:p>
          <a:p>
            <a:r>
              <a:t>CML3111, Week 12, slide 33</a:t>
            </a:r>
          </a:p>
          <a:p>
            <a:r>
              <a:t/>
            </a:r>
          </a:p>
          <a:p>
            <a:r>
              <a:t>Explanation to give</a:t>
            </a:r>
          </a:p>
          <a:p>
            <a:r>
              <a:t>Make contribution evidence specific enough to check. A seed records the starting state of random choices; a contribution log records who produced and explained which work.</a:t>
            </a:r>
          </a:p>
          <a:p>
            <a:r>
              <a:t/>
            </a:r>
          </a:p>
          <a:p>
            <a:r>
              <a:t>Worked illustration / lecturer answer</a:t>
            </a:r>
          </a:p>
          <a:p>
            <a:r>
              <a:t>Name a file, function or chart and the decision behind it. Match that entry to meaningful repository history. Disclose AI assistance according to the assessment policy.</a:t>
            </a:r>
          </a:p>
          <a:p>
            <a:r>
              <a:t/>
            </a:r>
          </a:p>
          <a:p>
            <a:r>
              <a:t>Misconception to address</a:t>
            </a:r>
          </a:p>
          <a:p>
            <a:r>
              <a:t>Many commits do not necessarily mean substantial work, and a seed does not establish accuracy. Both are supporting evidence, not replacements for the analysis.</a:t>
            </a:r>
          </a:p>
          <a:p>
            <a:r>
              <a:t/>
            </a:r>
          </a:p>
          <a:p>
            <a:r>
              <a:t>On this slide</a:t>
            </a:r>
          </a:p>
          <a:p>
            <a:r>
              <a:t>Use the published machine learning project brief.</a:t>
            </a:r>
          </a:p>
          <a:p>
            <a:r>
              <a:t/>
            </a:r>
          </a:p>
          <a:p>
            <a:r>
              <a:t>Build the evidence gradually in your project notebook.</a:t>
            </a:r>
          </a:p>
          <a:p>
            <a:r>
              <a:t/>
            </a:r>
          </a:p>
          <a:p>
            <a:r>
              <a:t>Keep raw data, labelled charts, run instructions and individual contributions.</a:t>
            </a:r>
          </a:p>
          <a:p>
            <a:r>
              <a:t/>
            </a:r>
          </a:p>
          <a:p>
            <a:r>
              <a:t>Published deadline: 18 Dec 2026, 11:00 Kampala</a:t>
            </a:r>
          </a:p>
          <a:p>
            <a:r>
              <a:t/>
            </a:r>
          </a:p>
          <a:p>
            <a:r>
              <a:t>Continue to</a:t>
            </a:r>
          </a:p>
          <a:p>
            <a:r>
              <a:t>Week 12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12 quiz</a:t>
            </a:r>
          </a:p>
          <a:p>
            <a:r>
              <a:t>CML3111, Week 12, slide 34</a:t>
            </a:r>
          </a:p>
          <a:p>
            <a:r>
              <a:t/>
            </a:r>
          </a:p>
          <a:p>
            <a:r>
              <a:t>Explanation to give</a:t>
            </a:r>
          </a:p>
          <a:p>
            <a:r>
              <a:t>This is the CML3111 Week 1 quiz. The student link opens the response form; it does not activate its window. In Quiz Controls use open_W1_CML3111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CML3111, Week 12, slide 35</a:t>
            </a:r>
          </a:p>
          <a:p>
            <a:r>
              <a:t/>
            </a:r>
          </a:p>
          <a:p>
            <a:r>
              <a:t>Explanation to give</a:t>
            </a:r>
          </a:p>
          <a:p>
            <a:r>
              <a:t>A recommendation must satisfy the practical limits before it wins on a ranking metric. Explain eligibility and tie-breaking separately.</a:t>
            </a:r>
          </a:p>
          <a:p>
            <a:r>
              <a:t/>
            </a:r>
          </a:p>
          <a:p>
            <a:r>
              <a:t>Worked illustration / lecturer answer</a:t>
            </a:r>
          </a:p>
          <a:p>
            <a:r>
              <a:t>A model at 4 error units and 12 ms fails a 10 ms limit even if its error is attractive. Test exact boundaries before ranking eligible candidates.</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justify a valid candidate with evidence and a stated limitation.</a:t>
            </a:r>
          </a:p>
          <a:p>
            <a:r>
              <a:t/>
            </a:r>
          </a:p>
          <a:p>
            <a:r>
              <a:t>Save your work and check the required submission files.</a:t>
            </a:r>
          </a:p>
          <a:p>
            <a:r>
              <a:t/>
            </a:r>
          </a:p>
          <a:p>
            <a:r>
              <a:t>Continue to</a:t>
            </a:r>
          </a:p>
          <a:p>
            <a:r>
              <a:t>Optional revision video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Optional revision video</a:t>
            </a:r>
          </a:p>
          <a:p>
            <a:r>
              <a:t>CML3111, Week 12, slide 36</a:t>
            </a:r>
          </a:p>
          <a:p>
            <a:r>
              <a:t/>
            </a:r>
          </a:p>
          <a:p>
            <a:r>
              <a:t>Explanation to give</a:t>
            </a:r>
          </a:p>
          <a:p>
            <a:r>
              <a:t>Give the viewing question before playing the excerpt: Why evaluate using observations not used to fit that particular model?</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On this slide</a:t>
            </a:r>
          </a:p>
          <a:p>
            <a:r>
              <a:t>For revision after class.</a:t>
            </a:r>
          </a:p>
          <a:p>
            <a:r>
              <a:t/>
            </a:r>
          </a:p>
          <a:p>
            <a:r>
              <a:t>StatQuest with Josh Starmer</a:t>
            </a:r>
          </a:p>
          <a:p>
            <a:r>
              <a:t>Machine Learning Fundamentals Cross Validation</a:t>
            </a:r>
          </a:p>
          <a:p>
            <a:r>
              <a:t/>
            </a:r>
          </a:p>
          <a:p>
            <a:r>
              <a:t>Opening up to 04:00, optional preview-selected excerpt</a:t>
            </a:r>
          </a:p>
          <a:p>
            <a:r>
              <a:t/>
            </a:r>
          </a:p>
          <a:p>
            <a:r>
              <a:t>Listening question: Why evaluate using observations not used to fit that particular model?</a:t>
            </a:r>
          </a:p>
          <a:p>
            <a:r>
              <a:t/>
            </a:r>
          </a:p>
          <a:p>
            <a:r>
              <a:t>Reference / existing resource</a:t>
            </a:r>
          </a:p>
          <a:p>
            <a:r>
              <a:t>https://www.youtube.com/watch?v=fSytzGwwBVw</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b78896daeb9439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fc7b3662a9d423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a32a728699c4ba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fbae2f4ac5745c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07d0abc1e7e48a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d728494914b4e0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FFE9D11C-8732-4BFF-BC03-D5ECD347A9C3}"/>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F2B6422-7150-46B3-A13E-4821E14E2A22}"/>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CA53BBFE-E798-44B4-8D6D-68CC5E7C8F86}"/>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EB449683-6941-4F57-B616-81E92455F7B9}"/>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B9153372-52A2-41D1-B175-87ACC53B9399}"/>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C6E494F-2F92-4213-9E7A-5E1C2D8BC53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9797939-088D-427B-B886-1159B95CFC5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AFD41FD4-9573-4F1C-9FCF-AB465A322388}"/>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A9C50848-1856-4278-8004-6C0E0E2F6C52}"/>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423F2AB-8100-473F-9DB1-5FDC276B4DF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351E12BD-C01E-4F55-B709-EF429A7D2214}"/>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4ECB9681-D139-43AD-96A1-3DE8937B1432}"/>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3DB23854-F26F-4BA9-9B72-B02DF693DE4E}"/>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BB7664F-5F48-48C0-B369-1397EA4B4F6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7EB8ADE-A24A-40AE-98B6-1360E73DC55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96e55008ba14bf4" /><Relationship Type="http://schemas.openxmlformats.org/officeDocument/2006/relationships/slideLayout" Target="/ppt/slideLayouts/slideLayout1.xml" Id="Rd3fc35ec28994498" /><Relationship Type="http://schemas.openxmlformats.org/officeDocument/2006/relationships/slideLayout" Target="/ppt/slideLayouts/slideLayout2.xml" Id="Rb963090c547d41a5" /><Relationship Type="http://schemas.openxmlformats.org/officeDocument/2006/relationships/slideLayout" Target="/ppt/slideLayouts/slideLayout3.xml" Id="Ra342f746f3f74366" /><Relationship Type="http://schemas.openxmlformats.org/officeDocument/2006/relationships/slideLayout" Target="/ppt/slideLayouts/slideLayout4.xml" Id="R846fa7f73a1b48a6" /><Relationship Type="http://schemas.openxmlformats.org/officeDocument/2006/relationships/slideLayout" Target="/ppt/slideLayouts/slideLayout5.xml" Id="Reaef5382ec0c409f" /><Relationship Type="http://schemas.openxmlformats.org/officeDocument/2006/relationships/slideLayout" Target="/ppt/slideLayouts/slideLayout6.xml" Id="R92fb7a66f4a9433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3fc35ec28994498"/>
    <p:sldLayoutId xmlns:r="http://schemas.openxmlformats.org/officeDocument/2006/relationships" id="2147483650" r:id="Rb963090c547d41a5"/>
    <p:sldLayoutId xmlns:r="http://schemas.openxmlformats.org/officeDocument/2006/relationships" id="2147483651" r:id="Ra342f746f3f74366"/>
    <p:sldLayoutId xmlns:r="http://schemas.openxmlformats.org/officeDocument/2006/relationships" id="2147483652" r:id="R846fa7f73a1b48a6"/>
    <p:sldLayoutId xmlns:r="http://schemas.openxmlformats.org/officeDocument/2006/relationships" id="2147483653" r:id="Reaef5382ec0c409f"/>
    <p:sldLayoutId xmlns:r="http://schemas.openxmlformats.org/officeDocument/2006/relationships" id="2147483654" r:id="R92fb7a66f4a9433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2c2286e2a29424d" /><Relationship Type="http://schemas.openxmlformats.org/officeDocument/2006/relationships/image" Target="/ppt/media/image.png" Id="R3defbed18d954c62" /><Relationship Type="http://schemas.openxmlformats.org/officeDocument/2006/relationships/notesSlide" Target="/ppt/notesSlides/notesSlide1.xml" Id="Rb99b00d6494f45c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a8eaded77964ed3" /><Relationship Type="http://schemas.openxmlformats.org/officeDocument/2006/relationships/notesSlide" Target="/ppt/notesSlides/notesSlide2.xml" Id="R409833eb9c7c4d8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a30686ed2224497" /><Relationship Type="http://schemas.openxmlformats.org/officeDocument/2006/relationships/notesSlide" Target="/ppt/notesSlides/notesSlide3.xml" Id="R4b6773f0e4dc479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676530d776f49b9" /><Relationship Type="http://schemas.openxmlformats.org/officeDocument/2006/relationships/notesSlide" Target="/ppt/notesSlides/notesSlide4.xml" Id="Rbf1e086c42c643c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fe7e8422e5c49db" /><Relationship Type="http://schemas.openxmlformats.org/officeDocument/2006/relationships/notesSlide" Target="/ppt/notesSlides/notesSlide5.xml" Id="R60408864e55b49b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7fc6c8c4e964442" /><Relationship Type="http://schemas.openxmlformats.org/officeDocument/2006/relationships/notesSlide" Target="/ppt/notesSlides/notesSlide6.xml" Id="Rf8b7ea976838481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b7a87f776ed4f3a" /><Relationship Type="http://schemas.openxmlformats.org/officeDocument/2006/relationships/notesSlide" Target="/ppt/notesSlides/notesSlide7.xml" Id="R81e9a93da96e48f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bfb4bba3f744f64" /><Relationship Type="http://schemas.openxmlformats.org/officeDocument/2006/relationships/notesSlide" Target="/ppt/notesSlides/notesSlide8.xml" Id="R1b5e015207cc48c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220dbe677d44276" /><Relationship Type="http://schemas.openxmlformats.org/officeDocument/2006/relationships/notesSlide" Target="/ppt/notesSlides/notesSlide9.xml" Id="Rd1bf0babbfc240f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73ba6be3a86477f" /><Relationship Type="http://schemas.openxmlformats.org/officeDocument/2006/relationships/notesSlide" Target="/ppt/notesSlides/notesSlide10.xml" Id="R6694f1d904c744a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c4a4091caad4da8" /><Relationship Type="http://schemas.openxmlformats.org/officeDocument/2006/relationships/notesSlide" Target="/ppt/notesSlides/notesSlide11.xml" Id="R576b53dd586942f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d5885290dac47a5" /><Relationship Type="http://schemas.openxmlformats.org/officeDocument/2006/relationships/notesSlide" Target="/ppt/notesSlides/notesSlide12.xml" Id="R38ecaf5fa14a432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9b95ea153c34978" /><Relationship Type="http://schemas.openxmlformats.org/officeDocument/2006/relationships/notesSlide" Target="/ppt/notesSlides/notesSlide13.xml" Id="R6d45cac8aad64b5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5569cfe785a4f48" /><Relationship Type="http://schemas.openxmlformats.org/officeDocument/2006/relationships/notesSlide" Target="/ppt/notesSlides/notesSlide14.xml" Id="Rf6e5f5e25261404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18df3127c0a4958" /><Relationship Type="http://schemas.openxmlformats.org/officeDocument/2006/relationships/notesSlide" Target="/ppt/notesSlides/notesSlide15.xml" Id="R30cfd69872a047a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c8d2413a3d2466b" /><Relationship Type="http://schemas.openxmlformats.org/officeDocument/2006/relationships/notesSlide" Target="/ppt/notesSlides/notesSlide16.xml" Id="R11a46888efd641f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213faffafc24c3e" /><Relationship Type="http://schemas.openxmlformats.org/officeDocument/2006/relationships/notesSlide" Target="/ppt/notesSlides/notesSlide17.xml" Id="R2c82fa713253495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c342e606ec9e4c6f" /><Relationship Type="http://schemas.openxmlformats.org/officeDocument/2006/relationships/notesSlide" Target="/ppt/notesSlides/notesSlide18.xml" Id="Rf9f0ff82015f490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cdb9866cfda4767" /><Relationship Type="http://schemas.openxmlformats.org/officeDocument/2006/relationships/notesSlide" Target="/ppt/notesSlides/notesSlide19.xml" Id="Rb163b6a73eca4b4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538ef95d2c54e67" /><Relationship Type="http://schemas.openxmlformats.org/officeDocument/2006/relationships/notesSlide" Target="/ppt/notesSlides/notesSlide20.xml" Id="R69611012e056456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017db936e794458b" /><Relationship Type="http://schemas.openxmlformats.org/officeDocument/2006/relationships/notesSlide" Target="/ppt/notesSlides/notesSlide21.xml" Id="Rb6ae4653d9f4469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21f00430a6046e7" /><Relationship Type="http://schemas.openxmlformats.org/officeDocument/2006/relationships/notesSlide" Target="/ppt/notesSlides/notesSlide22.xml" Id="Ra5d38a19f1a2429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c916c9fa23de4420" /><Relationship Type="http://schemas.openxmlformats.org/officeDocument/2006/relationships/notesSlide" Target="/ppt/notesSlides/notesSlide23.xml" Id="R7b4ba0aafe4f4bf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2661bd2c816493a" /><Relationship Type="http://schemas.openxmlformats.org/officeDocument/2006/relationships/notesSlide" Target="/ppt/notesSlides/notesSlide24.xml" Id="R99cb545fcc8b463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035d4742a1d4100" /><Relationship Type="http://schemas.openxmlformats.org/officeDocument/2006/relationships/notesSlide" Target="/ppt/notesSlides/notesSlide25.xml" Id="R3b03d676b1844a5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64b108d6360a4388" /><Relationship Type="http://schemas.openxmlformats.org/officeDocument/2006/relationships/notesSlide" Target="/ppt/notesSlides/notesSlide26.xml" Id="Rf7ee4e57cc7148e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e4da08a153a41a8" /><Relationship Type="http://schemas.openxmlformats.org/officeDocument/2006/relationships/notesSlide" Target="/ppt/notesSlides/notesSlide27.xml" Id="Ra5182f38887e422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bbf00d1d3d154d06" /><Relationship Type="http://schemas.openxmlformats.org/officeDocument/2006/relationships/notesSlide" Target="/ppt/notesSlides/notesSlide28.xml" Id="Rd4078c18fd474e1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a856d7ff2ba343a1" /><Relationship Type="http://schemas.openxmlformats.org/officeDocument/2006/relationships/notesSlide" Target="/ppt/notesSlides/notesSlide29.xml" Id="Rd3ca7ef879ac44e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db94d645408e4a5c" /><Relationship Type="http://schemas.openxmlformats.org/officeDocument/2006/relationships/notesSlide" Target="/ppt/notesSlides/notesSlide30.xml" Id="R81b190ae1899419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758a82d4ccb342b1" /><Relationship Type="http://schemas.openxmlformats.org/officeDocument/2006/relationships/notesSlide" Target="/ppt/notesSlides/notesSlide31.xml" Id="Rc9563fa4fd874b6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b784492a96d6439b" /><Relationship Type="http://schemas.openxmlformats.org/officeDocument/2006/relationships/hyperlink" Target="https://docs.google.com/forms/d/e/1FAIpQLSd372X-BsxlyaBxjHNN5N4xQuj9fMiwEWDSkDOh8sXTQk3imQ/viewform" TargetMode="External" Id="Rd76d88277ceb4f8b" /><Relationship Type="http://schemas.openxmlformats.org/officeDocument/2006/relationships/notesSlide" Target="/ppt/notesSlides/notesSlide32.xml" Id="R492493a4859e4ed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b8285000a26b4516" /><Relationship Type="http://schemas.openxmlformats.org/officeDocument/2006/relationships/notesSlide" Target="/ppt/notesSlides/notesSlide33.xml" Id="Rb54a54b44a82480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12db878d09974f72" /><Relationship Type="http://schemas.openxmlformats.org/officeDocument/2006/relationships/image" Target="/ppt/media/image2.png" Id="Rc1d3521cf6ad43a6" /><Relationship Type="http://schemas.openxmlformats.org/officeDocument/2006/relationships/hyperlink" Target="https://forms.gle/HM2s2G2zxQP64dit5" TargetMode="External" Id="Ra9636298f00a4000" /><Relationship Type="http://schemas.openxmlformats.org/officeDocument/2006/relationships/notesSlide" Target="/ppt/notesSlides/notesSlide34.xml" Id="Re22138294b684a3c"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5d4cbd86d5f7408c" /><Relationship Type="http://schemas.openxmlformats.org/officeDocument/2006/relationships/notesSlide" Target="/ppt/notesSlides/notesSlide35.xml" Id="R38752930a8854472"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533f0ab491ab4efe" /><Relationship Type="http://schemas.openxmlformats.org/officeDocument/2006/relationships/hyperlink" Target="https://www.youtube.com/watch?v=fSytzGwwBVw" TargetMode="External" Id="R3781a9bc69c14235" /><Relationship Type="http://schemas.openxmlformats.org/officeDocument/2006/relationships/notesSlide" Target="/ppt/notesSlides/notesSlide36.xml" Id="R1a2ce9c3b2de49e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defbed18d954c62"/>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EA9A901-F3D4-4A38-BB8C-125AB40F9C08}"/>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3FFAC30-7F96-4C22-B678-797235CFDF16}"/>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12</a:t>
            </a:r>
          </a:p>
        </p:txBody>
      </p:sp>
      <p:sp>
        <p:nvSpPr>
          <p:cNvPr id="4" name="">
            <a:extLst xmlns:a="http://schemas.openxmlformats.org/drawingml/2006/main">
              <a:ext uri="{FF2B5EF4-FFF2-40B4-BE49-F238E27FC236}">
                <a16:creationId xmlns:a16="http://schemas.microsoft.com/office/drawing/2014/main" id="{BF2183D8-2867-4096-9707-E9273F483EE9}"/>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Choosing and explaining a model</a:t>
            </a:r>
          </a:p>
        </p:txBody>
      </p:sp>
      <p:sp>
        <p:nvSpPr>
          <p:cNvPr id="5" name="">
            <a:extLst xmlns:a="http://schemas.openxmlformats.org/drawingml/2006/main">
              <a:ext uri="{FF2B5EF4-FFF2-40B4-BE49-F238E27FC236}">
                <a16:creationId xmlns:a16="http://schemas.microsoft.com/office/drawing/2014/main" id="{94C229E2-CEAF-4406-813D-DFBF532A8348}"/>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C95D3962-71C5-4F13-AAB6-7D6043E9A4EF}"/>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27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40867394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0F73E12-6DE9-45CC-8710-9C02B87AD4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B45894-514B-4C06-A478-19A360A9F8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4CBB7262-2D01-46A8-BDC9-9261A38F8F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797FBFA6-9A55-4B24-AB98-EC42391D661C}"/>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CD5455-65A9-4EC3-82B5-58C68F6F535D}"/>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3F64AEB7-DDDA-4784-A005-FD0B7B1AF552}"/>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model requirements before ranking candidates.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Apply the tie-break rule and explain the choice.</a:t>
            </a:r>
          </a:p>
        </p:txBody>
      </p:sp>
      <p:sp>
        <p:nvSpPr>
          <p:cNvPr id="7" name="">
            <a:extLst xmlns:a="http://schemas.openxmlformats.org/drawingml/2006/main">
              <a:ext uri="{FF2B5EF4-FFF2-40B4-BE49-F238E27FC236}">
                <a16:creationId xmlns:a16="http://schemas.microsoft.com/office/drawing/2014/main" id="{3F8E0409-762D-4E3B-B725-A73A839A3F7E}"/>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4583886B-6EE3-4F38-B4DD-7A51C5F0D9C9}"/>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justify a valid candidate with evidence and a stated limitation.</a:t>
            </a:r>
          </a:p>
        </p:txBody>
      </p:sp>
      <p:sp>
        <p:nvSpPr>
          <p:cNvPr id="9" name="">
            <a:extLst xmlns:a="http://schemas.openxmlformats.org/drawingml/2006/main">
              <a:ext uri="{FF2B5EF4-FFF2-40B4-BE49-F238E27FC236}">
                <a16:creationId xmlns:a16="http://schemas.microsoft.com/office/drawing/2014/main" id="{1D75EC22-1951-4814-BBD4-999C110963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a:t>
            </a:r>
          </a:p>
        </p:txBody>
      </p:sp>
    </p:spTree>
    <p:extLst>
      <p:ext uri="{BB962C8B-B14F-4D97-AF65-F5344CB8AC3E}">
        <p14:creationId xmlns:p14="http://schemas.microsoft.com/office/powerpoint/2010/main" val="162780641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0EF5068-575B-48CE-BFEF-2F1E68D3E4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B7397C0-A2D3-4E44-9B55-1B1773C9C7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40A5642-967F-4D1D-9658-572F4FD578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0C6A2EA7-EBC9-4CA8-B34D-D34EA328FBA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21CE19C-2BC8-46D8-893D-4457BE0C498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already calculate validation errors.</a:t>
            </a:r>
          </a:p>
        </p:txBody>
      </p:sp>
      <p:sp>
        <p:nvSpPr>
          <p:cNvPr id="6" name="">
            <a:extLst xmlns:a="http://schemas.openxmlformats.org/drawingml/2006/main">
              <a:ext uri="{FF2B5EF4-FFF2-40B4-BE49-F238E27FC236}">
                <a16:creationId xmlns:a16="http://schemas.microsoft.com/office/drawing/2014/main" id="{3B27AE1A-431B-4901-9FBC-49E255416BC9}"/>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combine those errors with a practical constraint and an explicit tie-break rule.</a:t>
            </a:r>
          </a:p>
        </p:txBody>
      </p:sp>
      <p:sp>
        <p:nvSpPr>
          <p:cNvPr id="7" name="">
            <a:extLst xmlns:a="http://schemas.openxmlformats.org/drawingml/2006/main">
              <a:ext uri="{FF2B5EF4-FFF2-40B4-BE49-F238E27FC236}">
                <a16:creationId xmlns:a16="http://schemas.microsoft.com/office/drawing/2014/main" id="{1E9B2576-4B8B-4E11-A1B7-30A69769E5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a:t>
            </a:r>
          </a:p>
        </p:txBody>
      </p:sp>
    </p:spTree>
    <p:extLst>
      <p:ext uri="{BB962C8B-B14F-4D97-AF65-F5344CB8AC3E}">
        <p14:creationId xmlns:p14="http://schemas.microsoft.com/office/powerpoint/2010/main" val="105690114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C7B8CB8-BE00-4EF4-8926-332316EF45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0C7CD35-1E87-4243-9752-9C59D4A5D1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C1CA94E-8D86-44CB-B221-4F1984B629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0EB19073-2D19-43DB-8E94-2D397C561E66}"/>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DD59E8-46ED-44E6-8FE9-0626FED2E39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lowest prediction error may come from a model that is too slow for the stated task.</a:t>
            </a:r>
          </a:p>
        </p:txBody>
      </p:sp>
      <p:sp>
        <p:nvSpPr>
          <p:cNvPr id="6" name="">
            <a:extLst xmlns:a="http://schemas.openxmlformats.org/drawingml/2006/main">
              <a:ext uri="{FF2B5EF4-FFF2-40B4-BE49-F238E27FC236}">
                <a16:creationId xmlns:a16="http://schemas.microsoft.com/office/drawing/2014/main" id="{1CF66175-E55F-4FCB-B31F-971EC27AD7B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apply the published constraints before ranking eligible models.</a:t>
            </a:r>
          </a:p>
        </p:txBody>
      </p:sp>
      <p:sp>
        <p:nvSpPr>
          <p:cNvPr id="7" name="">
            <a:extLst xmlns:a="http://schemas.openxmlformats.org/drawingml/2006/main">
              <a:ext uri="{FF2B5EF4-FFF2-40B4-BE49-F238E27FC236}">
                <a16:creationId xmlns:a16="http://schemas.microsoft.com/office/drawing/2014/main" id="{C53800F1-E5C8-4E3C-83CB-911BE7DAAB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4</a:t>
            </a:r>
          </a:p>
        </p:txBody>
      </p:sp>
    </p:spTree>
    <p:extLst>
      <p:ext uri="{BB962C8B-B14F-4D97-AF65-F5344CB8AC3E}">
        <p14:creationId xmlns:p14="http://schemas.microsoft.com/office/powerpoint/2010/main" val="133615936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F56682-9E1D-4C65-A1D0-5A75364CA8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F53B02-7592-4B59-B761-F0EAEC6D16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EE4630F-8F94-4ADB-9C07-701D372FC7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Constraint and Latency</a:t>
            </a:r>
          </a:p>
        </p:txBody>
      </p:sp>
      <p:sp>
        <p:nvSpPr>
          <p:cNvPr id="4" name="">
            <a:extLst xmlns:a="http://schemas.openxmlformats.org/drawingml/2006/main">
              <a:ext uri="{FF2B5EF4-FFF2-40B4-BE49-F238E27FC236}">
                <a16:creationId xmlns:a16="http://schemas.microsoft.com/office/drawing/2014/main" id="{49BC3290-AE58-437F-96C6-432ED207AA73}"/>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D4D62CC-14F4-40EE-8D62-AFE5DE8B1E89}"/>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Constraint</a:t>
            </a:r>
          </a:p>
        </p:txBody>
      </p:sp>
      <p:sp>
        <p:nvSpPr>
          <p:cNvPr id="6" name="">
            <a:extLst xmlns:a="http://schemas.openxmlformats.org/drawingml/2006/main">
              <a:ext uri="{FF2B5EF4-FFF2-40B4-BE49-F238E27FC236}">
                <a16:creationId xmlns:a16="http://schemas.microsoft.com/office/drawing/2014/main" id="{048DF3DE-6D18-4FEE-A1D1-7928C6D4318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condition a candidate must satisfy, such as MAE at most 3 and latency at most 10 ms.</a:t>
            </a:r>
          </a:p>
        </p:txBody>
      </p:sp>
      <p:sp>
        <p:nvSpPr>
          <p:cNvPr id="7" name="">
            <a:extLst xmlns:a="http://schemas.openxmlformats.org/drawingml/2006/main">
              <a:ext uri="{FF2B5EF4-FFF2-40B4-BE49-F238E27FC236}">
                <a16:creationId xmlns:a16="http://schemas.microsoft.com/office/drawing/2014/main" id="{54EE04EC-8ABD-459B-A3DF-96110DB634D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DB60B62-DF5D-430B-B614-C917197E722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Latency</a:t>
            </a:r>
          </a:p>
        </p:txBody>
      </p:sp>
      <p:sp>
        <p:nvSpPr>
          <p:cNvPr id="9" name="">
            <a:extLst xmlns:a="http://schemas.openxmlformats.org/drawingml/2006/main">
              <a:ext uri="{FF2B5EF4-FFF2-40B4-BE49-F238E27FC236}">
                <a16:creationId xmlns:a16="http://schemas.microsoft.com/office/drawing/2014/main" id="{205D6D47-2E3A-454E-B4BC-E469003D7C8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Time taken to produce a prediction under stated measurement conditions. Hardware and measurement method matter.</a:t>
            </a:r>
          </a:p>
        </p:txBody>
      </p:sp>
      <p:sp>
        <p:nvSpPr>
          <p:cNvPr id="10" name="">
            <a:extLst xmlns:a="http://schemas.openxmlformats.org/drawingml/2006/main">
              <a:ext uri="{FF2B5EF4-FFF2-40B4-BE49-F238E27FC236}">
                <a16:creationId xmlns:a16="http://schemas.microsoft.com/office/drawing/2014/main" id="{6EF27983-3232-4EFC-B8CC-77017B9590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5</a:t>
            </a:r>
          </a:p>
        </p:txBody>
      </p:sp>
    </p:spTree>
    <p:extLst>
      <p:ext uri="{BB962C8B-B14F-4D97-AF65-F5344CB8AC3E}">
        <p14:creationId xmlns:p14="http://schemas.microsoft.com/office/powerpoint/2010/main" val="140814429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E703ED4-D722-44FD-A765-073A8EB08E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DCDF95-CBBD-4130-B306-69F3A660C2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6836833-C582-422E-9DF2-0EF8386DDB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Tie-break and Hyperparameter</a:t>
            </a:r>
          </a:p>
        </p:txBody>
      </p:sp>
      <p:sp>
        <p:nvSpPr>
          <p:cNvPr id="4" name="">
            <a:extLst xmlns:a="http://schemas.openxmlformats.org/drawingml/2006/main">
              <a:ext uri="{FF2B5EF4-FFF2-40B4-BE49-F238E27FC236}">
                <a16:creationId xmlns:a16="http://schemas.microsoft.com/office/drawing/2014/main" id="{07526350-EED6-44A2-A24B-18D2CF4E8F8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6E0410-B66F-495A-B236-F44F44CC0DF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Tie-break</a:t>
            </a:r>
          </a:p>
        </p:txBody>
      </p:sp>
      <p:sp>
        <p:nvSpPr>
          <p:cNvPr id="6" name="">
            <a:extLst xmlns:a="http://schemas.openxmlformats.org/drawingml/2006/main">
              <a:ext uri="{FF2B5EF4-FFF2-40B4-BE49-F238E27FC236}">
                <a16:creationId xmlns:a16="http://schemas.microsoft.com/office/drawing/2014/main" id="{5730A4B5-9A69-416A-8CD0-0040CFDFB4F1}"/>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published rule for choosing between candidates that tie on the main criterion.</a:t>
            </a:r>
          </a:p>
        </p:txBody>
      </p:sp>
      <p:sp>
        <p:nvSpPr>
          <p:cNvPr id="7" name="">
            <a:extLst xmlns:a="http://schemas.openxmlformats.org/drawingml/2006/main">
              <a:ext uri="{FF2B5EF4-FFF2-40B4-BE49-F238E27FC236}">
                <a16:creationId xmlns:a16="http://schemas.microsoft.com/office/drawing/2014/main" id="{6806B0FB-214A-4A2C-ACDC-AA533D01069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2E722DA-4B71-492B-A6B3-1FFF4A51337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Hyperparameter</a:t>
            </a:r>
          </a:p>
        </p:txBody>
      </p:sp>
      <p:sp>
        <p:nvSpPr>
          <p:cNvPr id="9" name="">
            <a:extLst xmlns:a="http://schemas.openxmlformats.org/drawingml/2006/main">
              <a:ext uri="{FF2B5EF4-FFF2-40B4-BE49-F238E27FC236}">
                <a16:creationId xmlns:a16="http://schemas.microsoft.com/office/drawing/2014/main" id="{9EE013BE-6A32-4BA2-9F45-7063DC3F9CC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setting chosen before fitting, such as tree depth. Tune using validation or cross-validation, not the final test.</a:t>
            </a:r>
          </a:p>
        </p:txBody>
      </p:sp>
      <p:sp>
        <p:nvSpPr>
          <p:cNvPr id="10" name="">
            <a:extLst xmlns:a="http://schemas.openxmlformats.org/drawingml/2006/main">
              <a:ext uri="{FF2B5EF4-FFF2-40B4-BE49-F238E27FC236}">
                <a16:creationId xmlns:a16="http://schemas.microsoft.com/office/drawing/2014/main" id="{484B37C0-28A9-4143-AE4E-F9492D2429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6</a:t>
            </a:r>
          </a:p>
        </p:txBody>
      </p:sp>
    </p:spTree>
    <p:extLst>
      <p:ext uri="{BB962C8B-B14F-4D97-AF65-F5344CB8AC3E}">
        <p14:creationId xmlns:p14="http://schemas.microsoft.com/office/powerpoint/2010/main" val="32123113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8659049-1BFF-4197-8958-72AEFDEBB0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EC90BA3-5A2C-473C-B00A-0F59FC9FBF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3286A62-A7D4-43E9-AEE8-C62C6F5010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Error and practical constraints</a:t>
            </a:r>
          </a:p>
        </p:txBody>
      </p:sp>
      <p:sp>
        <p:nvSpPr>
          <p:cNvPr id="4" name="">
            <a:extLst xmlns:a="http://schemas.openxmlformats.org/drawingml/2006/main">
              <a:ext uri="{FF2B5EF4-FFF2-40B4-BE49-F238E27FC236}">
                <a16:creationId xmlns:a16="http://schemas.microsoft.com/office/drawing/2014/main" id="{C73FE9C4-E671-41F2-8BA5-8478CEF9426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C18BB62-C690-47CC-AFAF-87137C2CAB1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smaller error can require more computation.</a:t>
            </a:r>
          </a:p>
        </p:txBody>
      </p:sp>
      <p:sp>
        <p:nvSpPr>
          <p:cNvPr id="6" name="">
            <a:extLst xmlns:a="http://schemas.openxmlformats.org/drawingml/2006/main">
              <a:ext uri="{FF2B5EF4-FFF2-40B4-BE49-F238E27FC236}">
                <a16:creationId xmlns:a16="http://schemas.microsoft.com/office/drawing/2014/main" id="{843EA15B-0738-4C0D-92A6-B20BCA65CC1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37AEE65-579C-4DE4-8155-17CC1AC83D4E}"/>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candidate must meet every stated requirement.</a:t>
            </a:r>
          </a:p>
        </p:txBody>
      </p:sp>
      <p:sp>
        <p:nvSpPr>
          <p:cNvPr id="8" name="">
            <a:extLst xmlns:a="http://schemas.openxmlformats.org/drawingml/2006/main">
              <a:ext uri="{FF2B5EF4-FFF2-40B4-BE49-F238E27FC236}">
                <a16:creationId xmlns:a16="http://schemas.microsoft.com/office/drawing/2014/main" id="{7C9FF3F5-0C3E-4899-B59B-1EA51017768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A347E66-C9E5-4DCB-8481-CD93DB01B04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eligible models on the same validation observations.</a:t>
            </a:r>
          </a:p>
        </p:txBody>
      </p:sp>
      <p:sp>
        <p:nvSpPr>
          <p:cNvPr id="10" name="">
            <a:extLst xmlns:a="http://schemas.openxmlformats.org/drawingml/2006/main">
              <a:ext uri="{FF2B5EF4-FFF2-40B4-BE49-F238E27FC236}">
                <a16:creationId xmlns:a16="http://schemas.microsoft.com/office/drawing/2014/main" id="{57393EFE-C8AE-47EA-8973-568FB63FD7A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AA6D76A-5127-4FEE-96C3-C0A58505E68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Follow the published tie-break rule when scores tie.</a:t>
            </a:r>
          </a:p>
        </p:txBody>
      </p:sp>
      <p:sp>
        <p:nvSpPr>
          <p:cNvPr id="12" name="">
            <a:extLst xmlns:a="http://schemas.openxmlformats.org/drawingml/2006/main">
              <a:ext uri="{FF2B5EF4-FFF2-40B4-BE49-F238E27FC236}">
                <a16:creationId xmlns:a16="http://schemas.microsoft.com/office/drawing/2014/main" id="{5C0A307D-D4A8-409B-8BA3-4BFDDA3B96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7</a:t>
            </a:r>
          </a:p>
        </p:txBody>
      </p:sp>
    </p:spTree>
    <p:extLst>
      <p:ext uri="{BB962C8B-B14F-4D97-AF65-F5344CB8AC3E}">
        <p14:creationId xmlns:p14="http://schemas.microsoft.com/office/powerpoint/2010/main" val="65057044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69BD03F-4445-4F8C-A2FC-84F210FBBD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7226953-15CB-49E4-BAF5-55D4859044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2B40113-C35D-4EA3-B388-C9FCD7C7A0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model comparison needs a fair test</a:t>
            </a:r>
          </a:p>
        </p:txBody>
      </p:sp>
      <p:sp>
        <p:nvSpPr>
          <p:cNvPr id="4" name="">
            <a:extLst xmlns:a="http://schemas.openxmlformats.org/drawingml/2006/main">
              <a:ext uri="{FF2B5EF4-FFF2-40B4-BE49-F238E27FC236}">
                <a16:creationId xmlns:a16="http://schemas.microsoft.com/office/drawing/2014/main" id="{93543170-5B0E-4C42-8962-ABEBE9461CA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8D5FC60-26EF-49F6-9DB9-A2A2C77964F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validation observations for every candidate.</a:t>
            </a:r>
          </a:p>
        </p:txBody>
      </p:sp>
      <p:sp>
        <p:nvSpPr>
          <p:cNvPr id="6" name="">
            <a:extLst xmlns:a="http://schemas.openxmlformats.org/drawingml/2006/main">
              <a:ext uri="{FF2B5EF4-FFF2-40B4-BE49-F238E27FC236}">
                <a16:creationId xmlns:a16="http://schemas.microsoft.com/office/drawing/2014/main" id="{EB23E0E0-048A-47B6-B31C-8AF66F837E1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893619-7193-4376-B3AB-FC7055EE38F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preprocessing on training data only.</a:t>
            </a:r>
          </a:p>
        </p:txBody>
      </p:sp>
      <p:sp>
        <p:nvSpPr>
          <p:cNvPr id="8" name="">
            <a:extLst xmlns:a="http://schemas.openxmlformats.org/drawingml/2006/main">
              <a:ext uri="{FF2B5EF4-FFF2-40B4-BE49-F238E27FC236}">
                <a16:creationId xmlns:a16="http://schemas.microsoft.com/office/drawing/2014/main" id="{CF4F5221-53ED-4976-8B4C-02D3C0762CA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9520F50-5DB2-43D9-B705-E67B53995DE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Choose the error measure and practical requirements before inspecting results.</a:t>
            </a:r>
          </a:p>
        </p:txBody>
      </p:sp>
      <p:sp>
        <p:nvSpPr>
          <p:cNvPr id="10" name="">
            <a:extLst xmlns:a="http://schemas.openxmlformats.org/drawingml/2006/main">
              <a:ext uri="{FF2B5EF4-FFF2-40B4-BE49-F238E27FC236}">
                <a16:creationId xmlns:a16="http://schemas.microsoft.com/office/drawing/2014/main" id="{370D3A83-ED74-4A02-B37F-C2CE60D392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8</a:t>
            </a:r>
          </a:p>
        </p:txBody>
      </p:sp>
    </p:spTree>
    <p:extLst>
      <p:ext uri="{BB962C8B-B14F-4D97-AF65-F5344CB8AC3E}">
        <p14:creationId xmlns:p14="http://schemas.microsoft.com/office/powerpoint/2010/main" val="157834210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7D01916-D9D2-4B32-86A1-85B3027833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906C7E-1517-48D9-9409-323F11E901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E10E640-6AC5-48CE-AD34-4FEEA6F255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Eligibility comes before ranking</a:t>
            </a:r>
          </a:p>
        </p:txBody>
      </p:sp>
      <p:sp>
        <p:nvSpPr>
          <p:cNvPr id="4" name="">
            <a:extLst xmlns:a="http://schemas.openxmlformats.org/drawingml/2006/main">
              <a:ext uri="{FF2B5EF4-FFF2-40B4-BE49-F238E27FC236}">
                <a16:creationId xmlns:a16="http://schemas.microsoft.com/office/drawing/2014/main" id="{6419DB5F-3C96-4CD1-941D-94A27B2A311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F6B3D18-717F-4379-A3EC-94EEC1852E9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check every stated requirement for each candidate.</a:t>
            </a:r>
          </a:p>
        </p:txBody>
      </p:sp>
      <p:sp>
        <p:nvSpPr>
          <p:cNvPr id="6" name="">
            <a:extLst xmlns:a="http://schemas.openxmlformats.org/drawingml/2006/main">
              <a:ext uri="{FF2B5EF4-FFF2-40B4-BE49-F238E27FC236}">
                <a16:creationId xmlns:a16="http://schemas.microsoft.com/office/drawing/2014/main" id="{F2B4FBCA-28CE-4C6E-8093-3E0B7534528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A52F9C7-288C-490C-A190-D9EDC596A4B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Reject a candidate that fails even one requirement.</a:t>
            </a:r>
          </a:p>
        </p:txBody>
      </p:sp>
      <p:sp>
        <p:nvSpPr>
          <p:cNvPr id="8" name="">
            <a:extLst xmlns:a="http://schemas.openxmlformats.org/drawingml/2006/main">
              <a:ext uri="{FF2B5EF4-FFF2-40B4-BE49-F238E27FC236}">
                <a16:creationId xmlns:a16="http://schemas.microsoft.com/office/drawing/2014/main" id="{47AD9878-6D42-428E-9E82-B4DCD9A8205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6C205B5-9979-4F14-B348-49ABAEDEE43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Rank the eligible candidates using the published tie-break rule.</a:t>
            </a:r>
          </a:p>
        </p:txBody>
      </p:sp>
      <p:sp>
        <p:nvSpPr>
          <p:cNvPr id="10" name="">
            <a:extLst xmlns:a="http://schemas.openxmlformats.org/drawingml/2006/main">
              <a:ext uri="{FF2B5EF4-FFF2-40B4-BE49-F238E27FC236}">
                <a16:creationId xmlns:a16="http://schemas.microsoft.com/office/drawing/2014/main" id="{E7CFD0F7-8797-440C-8D5D-423FA2B4CF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9</a:t>
            </a:r>
          </a:p>
        </p:txBody>
      </p:sp>
    </p:spTree>
    <p:extLst>
      <p:ext uri="{BB962C8B-B14F-4D97-AF65-F5344CB8AC3E}">
        <p14:creationId xmlns:p14="http://schemas.microsoft.com/office/powerpoint/2010/main" val="16286230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53F4FD3-9CFD-45D7-856D-CC3EF980DD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1036B1A-7E5D-4E34-BBFA-07BE2E49AB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5B000F4A-F287-447F-B86C-437EA4358B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constrained model choice</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Candidate</a:t>
                      </a:r>
                    </a:p>
                  </a:txBody>
                  <a:tcPr marL="91440" marR="91440" marT="45720" marB="45720">
                    <a:solidFill>
                      <a:srgbClr val="2E7D6F"/>
                    </a:solidFill>
                  </a:tcPr>
                </a:tc>
                <a:tc>
                  <a:txBody>
                    <a:bodyPr/>
                    <a:lstStyle/>
                    <a:p>
                      <a:r>
                        <a:rPr sz="2025" b="1">
                          <a:solidFill>
                            <a:srgbClr val="FFFFFF"/>
                          </a:solidFill>
                          <a:latin typeface="Calibri"/>
                          <a:ea typeface="Calibri"/>
                          <a:cs typeface="Calibri"/>
                        </a:rPr>
                        <a:t>Validation error</a:t>
                      </a:r>
                    </a:p>
                  </a:txBody>
                  <a:tcPr marL="91440" marR="91440" marT="45720" marB="45720">
                    <a:solidFill>
                      <a:srgbClr val="2E7D6F"/>
                    </a:solidFill>
                  </a:tcPr>
                </a:tc>
                <a:tc>
                  <a:txBody>
                    <a:bodyPr/>
                    <a:lstStyle/>
                    <a:p>
                      <a:r>
                        <a:rPr sz="2025" b="1">
                          <a:solidFill>
                            <a:srgbClr val="FFFFFF"/>
                          </a:solidFill>
                          <a:latin typeface="Calibri"/>
                          <a:ea typeface="Calibri"/>
                          <a:cs typeface="Calibri"/>
                        </a:rPr>
                        <a:t>Time (ms)</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simple</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complex</a:t>
                      </a:r>
                    </a:p>
                  </a:txBody>
                  <a:tcPr marL="91440" marR="91440" marT="45720" marB="45720">
                    <a:solidFill>
                      <a:srgbClr val="FFFFFF"/>
                    </a:solidFill>
                  </a:tcPr>
                </a:tc>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20</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19D4F37-BDA7-41EC-B028-B3A59E245F21}"/>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Invented requirements: error at most 3 and time at most 10 ms.</a:t>
            </a:r>
          </a:p>
        </p:txBody>
      </p:sp>
      <p:sp>
        <p:nvSpPr>
          <p:cNvPr id="6" name="">
            <a:extLst xmlns:a="http://schemas.openxmlformats.org/drawingml/2006/main">
              <a:ext uri="{FF2B5EF4-FFF2-40B4-BE49-F238E27FC236}">
                <a16:creationId xmlns:a16="http://schemas.microsoft.com/office/drawing/2014/main" id="{292F7B5C-D520-432F-9753-9266C479CF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10</a:t>
            </a:r>
          </a:p>
        </p:txBody>
      </p:sp>
    </p:spTree>
    <p:extLst>
      <p:ext uri="{BB962C8B-B14F-4D97-AF65-F5344CB8AC3E}">
        <p14:creationId xmlns:p14="http://schemas.microsoft.com/office/powerpoint/2010/main" val="140964480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45F8176-561F-455D-B5F7-BBAD67C3C7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6E53A26-D1A8-4776-A7DF-4DC1F40E66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1BD27E9-D245-45F8-A8FC-1E60D33966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Candidate records and eligibility</a:t>
            </a:r>
          </a:p>
        </p:txBody>
      </p:sp>
      <p:sp>
        <p:nvSpPr>
          <p:cNvPr id="4" name="">
            <a:extLst xmlns:a="http://schemas.openxmlformats.org/drawingml/2006/main">
              <a:ext uri="{FF2B5EF4-FFF2-40B4-BE49-F238E27FC236}">
                <a16:creationId xmlns:a16="http://schemas.microsoft.com/office/drawing/2014/main" id="{1EA408ED-3189-43D4-B740-4BD4143161E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0931885-B1F9-4A80-9168-634252793D8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AD09A79-D9B7-4F09-8FEC-94CC8DF84B0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candidate is one model under consideration. Its dictionary records a name, a validation error and measured run time.</a:t>
            </a:r>
          </a:p>
        </p:txBody>
      </p:sp>
      <p:sp>
        <p:nvSpPr>
          <p:cNvPr id="7" name="">
            <a:extLst xmlns:a="http://schemas.openxmlformats.org/drawingml/2006/main">
              <a:ext uri="{FF2B5EF4-FFF2-40B4-BE49-F238E27FC236}">
                <a16:creationId xmlns:a16="http://schemas.microsoft.com/office/drawing/2014/main" id="{14CBB8EB-474F-4737-A604-7C7D7D6F623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 eligible candidate meets every published constraint. Build a list of eligible records first. If the list is empty, use the task’s specified no-candidate result.</a:t>
            </a:r>
          </a:p>
        </p:txBody>
      </p:sp>
      <p:sp>
        <p:nvSpPr>
          <p:cNvPr id="8" name="">
            <a:extLst xmlns:a="http://schemas.openxmlformats.org/drawingml/2006/main">
              <a:ext uri="{FF2B5EF4-FFF2-40B4-BE49-F238E27FC236}">
                <a16:creationId xmlns:a16="http://schemas.microsoft.com/office/drawing/2014/main" id="{030EFC5D-6E3A-4CC9-9192-463F0497FD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11</a:t>
            </a:r>
          </a:p>
        </p:txBody>
      </p:sp>
    </p:spTree>
    <p:extLst>
      <p:ext uri="{BB962C8B-B14F-4D97-AF65-F5344CB8AC3E}">
        <p14:creationId xmlns:p14="http://schemas.microsoft.com/office/powerpoint/2010/main" val="212750394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8689084-7237-4CC7-8009-E930A1CDA9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9CB70E-63C8-4F96-B44D-6733D1E469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EAD8E6F-20CB-44B6-9591-D156B4CA14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selection in Python (1/2)</a:t>
            </a:r>
          </a:p>
        </p:txBody>
      </p:sp>
      <p:sp>
        <p:nvSpPr>
          <p:cNvPr id="4" name="">
            <a:extLst xmlns:a="http://schemas.openxmlformats.org/drawingml/2006/main">
              <a:ext uri="{FF2B5EF4-FFF2-40B4-BE49-F238E27FC236}">
                <a16:creationId xmlns:a16="http://schemas.microsoft.com/office/drawing/2014/main" id="{8BD8EA1C-D13B-4DD8-A17C-6A45A377F91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03341C-308A-49A5-A1D8-57E66F361EC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candidates = [{"name": "simple", "error": 3, "ms":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{"name": "complex", "error": 1, "ms":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eligible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item in candidates: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item["error"] &lt;= 3 and item["ms"] &lt;=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eligible.append(item)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names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for item in eligible: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names.append(item["name"])</a:t>
            </a:r>
          </a:p>
        </p:txBody>
      </p:sp>
      <p:sp>
        <p:nvSpPr>
          <p:cNvPr id="6" name="">
            <a:extLst xmlns:a="http://schemas.openxmlformats.org/drawingml/2006/main">
              <a:ext uri="{FF2B5EF4-FFF2-40B4-BE49-F238E27FC236}">
                <a16:creationId xmlns:a16="http://schemas.microsoft.com/office/drawing/2014/main" id="{E702B04F-36E8-4E4F-8EEE-1A662E7A93D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64619B74-1295-4965-9F69-C48E7F82DEF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3AC4A929-83DB-497E-8564-0C520CEE82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12</a:t>
            </a:r>
          </a:p>
        </p:txBody>
      </p:sp>
    </p:spTree>
    <p:extLst>
      <p:ext uri="{BB962C8B-B14F-4D97-AF65-F5344CB8AC3E}">
        <p14:creationId xmlns:p14="http://schemas.microsoft.com/office/powerpoint/2010/main" val="80573778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2EECD66-33A3-4263-8C44-6C3F74D3E5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F3FAA8-4CF5-4F8C-844B-CA87B8B4D0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E55713B-EEB6-40FD-8B3F-BF8830BE9D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selection in Python (2/2)</a:t>
            </a:r>
          </a:p>
        </p:txBody>
      </p:sp>
      <p:sp>
        <p:nvSpPr>
          <p:cNvPr id="4" name="">
            <a:extLst xmlns:a="http://schemas.openxmlformats.org/drawingml/2006/main">
              <a:ext uri="{FF2B5EF4-FFF2-40B4-BE49-F238E27FC236}">
                <a16:creationId xmlns:a16="http://schemas.microsoft.com/office/drawing/2014/main" id="{5087BB52-35E4-49C9-88B5-F94E52065B7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6394504-BC2D-4821-BC9B-FDB746A3E2B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print(names)</a:t>
            </a:r>
          </a:p>
        </p:txBody>
      </p:sp>
      <p:sp>
        <p:nvSpPr>
          <p:cNvPr id="6" name="">
            <a:extLst xmlns:a="http://schemas.openxmlformats.org/drawingml/2006/main">
              <a:ext uri="{FF2B5EF4-FFF2-40B4-BE49-F238E27FC236}">
                <a16:creationId xmlns:a16="http://schemas.microsoft.com/office/drawing/2014/main" id="{EAFB157C-B159-4B42-B37F-93E3385471B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9DDC160-3B61-4E3A-8D7B-2FC8945546E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6FC97CB3-5A9E-4702-B301-A06326B5E96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8F1A7A4E-90A5-4F94-8FFB-F07BCBBB74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13</a:t>
            </a:r>
          </a:p>
        </p:txBody>
      </p:sp>
    </p:spTree>
    <p:extLst>
      <p:ext uri="{BB962C8B-B14F-4D97-AF65-F5344CB8AC3E}">
        <p14:creationId xmlns:p14="http://schemas.microsoft.com/office/powerpoint/2010/main" val="144143109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65C62FB-A9EC-4884-AB73-B35E065F2C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20E842-9CB7-44ED-8D50-5B34D14E85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84B19BB7-207D-4DB4-BC29-44D61DF0ED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selection results</a:t>
            </a:r>
          </a:p>
        </p:txBody>
      </p:sp>
      <p:sp>
        <p:nvSpPr>
          <p:cNvPr id="4" name="">
            <a:extLst xmlns:a="http://schemas.openxmlformats.org/drawingml/2006/main">
              <a:ext uri="{FF2B5EF4-FFF2-40B4-BE49-F238E27FC236}">
                <a16:creationId xmlns:a16="http://schemas.microsoft.com/office/drawing/2014/main" id="{EAA7D8E0-5B7B-4468-B3A9-3637F2238318}"/>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DE9C9EC-77F5-4B5B-8B0B-5500DA5E218A}"/>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['simple']</a:t>
            </a:r>
          </a:p>
        </p:txBody>
      </p:sp>
      <p:sp>
        <p:nvSpPr>
          <p:cNvPr id="6" name="">
            <a:extLst xmlns:a="http://schemas.openxmlformats.org/drawingml/2006/main">
              <a:ext uri="{FF2B5EF4-FFF2-40B4-BE49-F238E27FC236}">
                <a16:creationId xmlns:a16="http://schemas.microsoft.com/office/drawing/2014/main" id="{CFF2704E-94A1-4D70-9645-291EE1FD64CE}"/>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C01CA71B-1D4C-4145-AAB1-2B5270CF46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14</a:t>
            </a:r>
          </a:p>
        </p:txBody>
      </p:sp>
    </p:spTree>
    <p:extLst>
      <p:ext uri="{BB962C8B-B14F-4D97-AF65-F5344CB8AC3E}">
        <p14:creationId xmlns:p14="http://schemas.microsoft.com/office/powerpoint/2010/main" val="211829432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1BCCB8C-8EDC-42F0-A062-A0A4ECE583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EE9123-54C0-42AA-8D2F-E8ABD2DC518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8D7ECA9-CCB7-4CC1-A9AA-C3E5C92045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tuple supplies an ordered ranking key</a:t>
            </a:r>
          </a:p>
        </p:txBody>
      </p:sp>
      <p:sp>
        <p:nvSpPr>
          <p:cNvPr id="4" name="">
            <a:extLst xmlns:a="http://schemas.openxmlformats.org/drawingml/2006/main">
              <a:ext uri="{FF2B5EF4-FFF2-40B4-BE49-F238E27FC236}">
                <a16:creationId xmlns:a16="http://schemas.microsoft.com/office/drawing/2014/main" id="{D9A92817-72E4-4184-B8A2-AE7EECBA4D4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7EF8869-C9FF-4487-A456-F3FCBD90B5A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holds several values in order, such as (error, time, name).</a:t>
            </a:r>
          </a:p>
        </p:txBody>
      </p:sp>
      <p:sp>
        <p:nvSpPr>
          <p:cNvPr id="6" name="">
            <a:extLst xmlns:a="http://schemas.openxmlformats.org/drawingml/2006/main">
              <a:ext uri="{FF2B5EF4-FFF2-40B4-BE49-F238E27FC236}">
                <a16:creationId xmlns:a16="http://schemas.microsoft.com/office/drawing/2014/main" id="{D451FDA0-30DD-4B24-91D1-73AC416304B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C8AF4E-AAB2-44AD-BC50-C76A6011697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compares the first values. A tie moves the comparison to the second.</a:t>
            </a:r>
          </a:p>
        </p:txBody>
      </p:sp>
      <p:sp>
        <p:nvSpPr>
          <p:cNvPr id="8" name="">
            <a:extLst xmlns:a="http://schemas.openxmlformats.org/drawingml/2006/main">
              <a:ext uri="{FF2B5EF4-FFF2-40B4-BE49-F238E27FC236}">
                <a16:creationId xmlns:a16="http://schemas.microsoft.com/office/drawing/2014/main" id="{68445525-C02F-415C-AE9E-F3DAE235499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84AD619-4C18-4114-80D9-38D7C158BAA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those also tie, the third value decides.</a:t>
            </a:r>
          </a:p>
        </p:txBody>
      </p:sp>
      <p:sp>
        <p:nvSpPr>
          <p:cNvPr id="10" name="">
            <a:extLst xmlns:a="http://schemas.openxmlformats.org/drawingml/2006/main">
              <a:ext uri="{FF2B5EF4-FFF2-40B4-BE49-F238E27FC236}">
                <a16:creationId xmlns:a16="http://schemas.microsoft.com/office/drawing/2014/main" id="{4E3E45EB-AA93-4373-9D0A-39601BED95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15</a:t>
            </a:r>
          </a:p>
        </p:txBody>
      </p:sp>
    </p:spTree>
    <p:extLst>
      <p:ext uri="{BB962C8B-B14F-4D97-AF65-F5344CB8AC3E}">
        <p14:creationId xmlns:p14="http://schemas.microsoft.com/office/powerpoint/2010/main" val="159236042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88245BA-3349-4C23-BB52-A5076D1453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718CF7-7EAC-45CB-8F54-2BFC6127E8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8D83C0B-0F20-4016-9644-AAF59D163C9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 tuple ranking key</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Candidate</a:t>
                      </a:r>
                    </a:p>
                  </a:txBody>
                  <a:tcPr marL="91440" marR="91440" marT="45720" marB="45720">
                    <a:solidFill>
                      <a:srgbClr val="2E7D6F"/>
                    </a:solidFill>
                  </a:tcPr>
                </a:tc>
                <a:tc>
                  <a:txBody>
                    <a:bodyPr/>
                    <a:lstStyle/>
                    <a:p>
                      <a:r>
                        <a:rPr sz="2025" b="1">
                          <a:solidFill>
                            <a:srgbClr val="FFFFFF"/>
                          </a:solidFill>
                          <a:latin typeface="Calibri"/>
                          <a:ea typeface="Calibri"/>
                          <a:cs typeface="Calibri"/>
                        </a:rPr>
                        <a:t>Key: error, ms, name</a:t>
                      </a:r>
                    </a:p>
                  </a:txBody>
                  <a:tcPr marL="91440" marR="91440" marT="45720" marB="45720">
                    <a:solidFill>
                      <a:srgbClr val="2E7D6F"/>
                    </a:solidFill>
                  </a:tcPr>
                </a:tc>
                <a:tc>
                  <a:txBody>
                    <a:bodyPr/>
                    <a:lstStyle/>
                    <a:p>
                      <a:r>
                        <a:rPr sz="2025" b="1">
                          <a:solidFill>
                            <a:srgbClr val="FFFFFF"/>
                          </a:solidFill>
                          <a:latin typeface="Calibri"/>
                          <a:ea typeface="Calibri"/>
                          <a:cs typeface="Calibri"/>
                        </a:rPr>
                        <a:t>Position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beta</a:t>
                      </a:r>
                    </a:p>
                  </a:txBody>
                  <a:tcPr marL="91440" marR="91440" marT="45720" marB="45720">
                    <a:solidFill>
                      <a:srgbClr val="EEF3F6"/>
                    </a:solidFill>
                  </a:tcPr>
                </a:tc>
                <a:tc>
                  <a:txBody>
                    <a:bodyPr/>
                    <a:lstStyle/>
                    <a:p>
                      <a:r>
                        <a:rPr sz="2025" b="0">
                          <a:solidFill>
                            <a:srgbClr val="1C3144"/>
                          </a:solidFill>
                          <a:latin typeface="Calibri"/>
                          <a:ea typeface="Calibri"/>
                          <a:cs typeface="Calibri"/>
                        </a:rPr>
                        <a:t>(2, 5, "beta")</a:t>
                      </a:r>
                    </a:p>
                  </a:txBody>
                  <a:tcPr marL="91440" marR="91440" marT="45720" marB="45720">
                    <a:solidFill>
                      <a:srgbClr val="EEF3F6"/>
                    </a:solidFill>
                  </a:tcPr>
                </a:tc>
                <a:tc>
                  <a:txBody>
                    <a:bodyPr/>
                    <a:lstStyle/>
                    <a:p>
                      <a:r>
                        <a:rPr sz="2025" b="0">
                          <a:solidFill>
                            <a:srgbClr val="1C3144"/>
                          </a:solidFill>
                          <a:latin typeface="Calibri"/>
                          <a:ea typeface="Calibri"/>
                          <a:cs typeface="Calibri"/>
                        </a:rPr>
                        <a:t>1: lower error</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alpha</a:t>
                      </a:r>
                    </a:p>
                  </a:txBody>
                  <a:tcPr marL="91440" marR="91440" marT="45720" marB="45720">
                    <a:solidFill>
                      <a:srgbClr val="FFFFFF"/>
                    </a:solidFill>
                  </a:tcPr>
                </a:tc>
                <a:tc>
                  <a:txBody>
                    <a:bodyPr/>
                    <a:lstStyle/>
                    <a:p>
                      <a:r>
                        <a:rPr sz="2025" b="0">
                          <a:solidFill>
                            <a:srgbClr val="1C3144"/>
                          </a:solidFill>
                          <a:latin typeface="Calibri"/>
                          <a:ea typeface="Calibri"/>
                          <a:cs typeface="Calibri"/>
                        </a:rPr>
                        <a:t>(3, 1, "alpha")</a:t>
                      </a:r>
                    </a:p>
                  </a:txBody>
                  <a:tcPr marL="91440" marR="91440" marT="45720" marB="45720">
                    <a:solidFill>
                      <a:srgbClr val="FFFFFF"/>
                    </a:solidFill>
                  </a:tcPr>
                </a:tc>
                <a:tc>
                  <a:txBody>
                    <a:bodyPr/>
                    <a:lstStyle/>
                    <a:p>
                      <a:r>
                        <a:rPr sz="2025" b="0">
                          <a:solidFill>
                            <a:srgbClr val="1C3144"/>
                          </a:solidFill>
                          <a:latin typeface="Calibri"/>
                          <a:ea typeface="Calibri"/>
                          <a:cs typeface="Calibri"/>
                        </a:rPr>
                        <a:t>2: tie on error; faster</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gamma</a:t>
                      </a:r>
                    </a:p>
                  </a:txBody>
                  <a:tcPr marL="91440" marR="91440" marT="45720" marB="45720">
                    <a:solidFill>
                      <a:srgbClr val="EEF3F6"/>
                    </a:solidFill>
                  </a:tcPr>
                </a:tc>
                <a:tc>
                  <a:txBody>
                    <a:bodyPr/>
                    <a:lstStyle/>
                    <a:p>
                      <a:r>
                        <a:rPr sz="2025" b="0">
                          <a:solidFill>
                            <a:srgbClr val="1C3144"/>
                          </a:solidFill>
                          <a:latin typeface="Calibri"/>
                          <a:ea typeface="Calibri"/>
                          <a:cs typeface="Calibri"/>
                        </a:rPr>
                        <a:t>(3, 2, "gamma")</a:t>
                      </a:r>
                    </a:p>
                  </a:txBody>
                  <a:tcPr marL="91440" marR="91440" marT="45720" marB="45720">
                    <a:solidFill>
                      <a:srgbClr val="EEF3F6"/>
                    </a:solidFill>
                  </a:tcPr>
                </a:tc>
                <a:tc>
                  <a:txBody>
                    <a:bodyPr/>
                    <a:lstStyle/>
                    <a:p>
                      <a:r>
                        <a:rPr sz="2025" b="0">
                          <a:solidFill>
                            <a:srgbClr val="1C3144"/>
                          </a:solidFill>
                          <a:latin typeface="Calibri"/>
                          <a:ea typeface="Calibri"/>
                          <a:cs typeface="Calibri"/>
                        </a:rPr>
                        <a:t>3: same error; slower</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BE1B8CD3-1F68-4F0C-87A4-CF2CE07AADA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Only eligible candidates reach ranking. If error and time tie, compare the names alphabetically.</a:t>
            </a:r>
          </a:p>
        </p:txBody>
      </p:sp>
      <p:sp>
        <p:nvSpPr>
          <p:cNvPr id="6" name="">
            <a:extLst xmlns:a="http://schemas.openxmlformats.org/drawingml/2006/main">
              <a:ext uri="{FF2B5EF4-FFF2-40B4-BE49-F238E27FC236}">
                <a16:creationId xmlns:a16="http://schemas.microsoft.com/office/drawing/2014/main" id="{39B374E9-2A41-4AF3-8789-4BB59EE504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16</a:t>
            </a:r>
          </a:p>
        </p:txBody>
      </p:sp>
    </p:spTree>
    <p:extLst>
      <p:ext uri="{BB962C8B-B14F-4D97-AF65-F5344CB8AC3E}">
        <p14:creationId xmlns:p14="http://schemas.microsoft.com/office/powerpoint/2010/main" val="97199339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48A8290-6752-42D7-959A-875B3727B7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D4AD8B-1056-4041-A04A-96A2265A54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389F11D-801C-4424-A68B-8A8E5FD7B6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Pass a function as the sorting key</a:t>
            </a:r>
          </a:p>
        </p:txBody>
      </p:sp>
      <p:sp>
        <p:nvSpPr>
          <p:cNvPr id="4" name="">
            <a:extLst xmlns:a="http://schemas.openxmlformats.org/drawingml/2006/main">
              <a:ext uri="{FF2B5EF4-FFF2-40B4-BE49-F238E27FC236}">
                <a16:creationId xmlns:a16="http://schemas.microsoft.com/office/drawing/2014/main" id="{D91FBB02-3AC8-4773-853A-6105B042E1B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483A905-6B4F-446B-9C81-76542A1E08F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sorted returns a new list in order. In sorted(eligible, key=rank), rank is the function itself, passed without calling it.</a:t>
            </a:r>
          </a:p>
        </p:txBody>
      </p:sp>
      <p:sp>
        <p:nvSpPr>
          <p:cNvPr id="6" name="">
            <a:extLst xmlns:a="http://schemas.openxmlformats.org/drawingml/2006/main">
              <a:ext uri="{FF2B5EF4-FFF2-40B4-BE49-F238E27FC236}">
                <a16:creationId xmlns:a16="http://schemas.microsoft.com/office/drawing/2014/main" id="{08886AF8-27D6-41BA-9959-DAD564C0494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292FF1B-6D8A-496D-B2DC-390009890A0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sorted calls rank(item) for each candidate and compares the returned tuples. Writing rank() here would call it immediately without its required input.</a:t>
            </a:r>
          </a:p>
        </p:txBody>
      </p:sp>
      <p:sp>
        <p:nvSpPr>
          <p:cNvPr id="8" name="">
            <a:extLst xmlns:a="http://schemas.openxmlformats.org/drawingml/2006/main">
              <a:ext uri="{FF2B5EF4-FFF2-40B4-BE49-F238E27FC236}">
                <a16:creationId xmlns:a16="http://schemas.microsoft.com/office/drawing/2014/main" id="{21497034-0BF8-4D4B-8FB7-D0025474888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5C7D36D-21DE-4860-9986-E5E7E55EB6C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original eligible list is unchanged. Check len(ordered) before using ordered[0], because an empty list has no first position.</a:t>
            </a:r>
          </a:p>
        </p:txBody>
      </p:sp>
      <p:sp>
        <p:nvSpPr>
          <p:cNvPr id="10" name="">
            <a:extLst xmlns:a="http://schemas.openxmlformats.org/drawingml/2006/main">
              <a:ext uri="{FF2B5EF4-FFF2-40B4-BE49-F238E27FC236}">
                <a16:creationId xmlns:a16="http://schemas.microsoft.com/office/drawing/2014/main" id="{A227BE8C-0C2F-4A12-8869-B851230DE4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17</a:t>
            </a:r>
          </a:p>
        </p:txBody>
      </p:sp>
    </p:spTree>
    <p:extLst>
      <p:ext uri="{BB962C8B-B14F-4D97-AF65-F5344CB8AC3E}">
        <p14:creationId xmlns:p14="http://schemas.microsoft.com/office/powerpoint/2010/main" val="90429405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F2EF765-0276-4EC9-89BD-C5AD6872CF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F29A81-97B9-48DB-A144-C7918AC32F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42D8893-CB78-4A6C-A98C-40A0BC8813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tie-break rule</a:t>
            </a:r>
          </a:p>
        </p:txBody>
      </p:sp>
      <p:sp>
        <p:nvSpPr>
          <p:cNvPr id="4" name="">
            <a:extLst xmlns:a="http://schemas.openxmlformats.org/drawingml/2006/main">
              <a:ext uri="{FF2B5EF4-FFF2-40B4-BE49-F238E27FC236}">
                <a16:creationId xmlns:a16="http://schemas.microsoft.com/office/drawing/2014/main" id="{6A4F1336-41C3-4459-972A-402B1AD7EB2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4E35D00-AE8F-4F77-9E22-E80C9DFB976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is an ordered group of values.</a:t>
            </a:r>
          </a:p>
        </p:txBody>
      </p:sp>
      <p:sp>
        <p:nvSpPr>
          <p:cNvPr id="6" name="">
            <a:extLst xmlns:a="http://schemas.openxmlformats.org/drawingml/2006/main">
              <a:ext uri="{FF2B5EF4-FFF2-40B4-BE49-F238E27FC236}">
                <a16:creationId xmlns:a16="http://schemas.microsoft.com/office/drawing/2014/main" id="{C0AB066D-C2F1-4AFE-8029-ED8EEB8A672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4F82B5D-3A15-4DC2-9934-19A7D4DC6DD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compares the first item, then the second when tied, then the third.</a:t>
            </a:r>
          </a:p>
        </p:txBody>
      </p:sp>
      <p:sp>
        <p:nvSpPr>
          <p:cNvPr id="8" name="">
            <a:extLst xmlns:a="http://schemas.openxmlformats.org/drawingml/2006/main">
              <a:ext uri="{FF2B5EF4-FFF2-40B4-BE49-F238E27FC236}">
                <a16:creationId xmlns:a16="http://schemas.microsoft.com/office/drawing/2014/main" id="{27EB92D6-4D77-4284-8E1E-D4E7B0C6102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FA04FA4-06B3-45C7-85A0-CB73D4142915}"/>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key function gives sorted the tuple for each candidate.</a:t>
            </a:r>
          </a:p>
        </p:txBody>
      </p:sp>
      <p:sp>
        <p:nvSpPr>
          <p:cNvPr id="10" name="">
            <a:extLst xmlns:a="http://schemas.openxmlformats.org/drawingml/2006/main">
              <a:ext uri="{FF2B5EF4-FFF2-40B4-BE49-F238E27FC236}">
                <a16:creationId xmlns:a16="http://schemas.microsoft.com/office/drawing/2014/main" id="{DD1B828E-FFAD-4E21-8B53-642AC240C83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BB4F6ED-C4CA-490F-A341-2FC6564C1CFA}"/>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Guard an empty list before selecting position zero.</a:t>
            </a:r>
          </a:p>
        </p:txBody>
      </p:sp>
      <p:sp>
        <p:nvSpPr>
          <p:cNvPr id="12" name="">
            <a:extLst xmlns:a="http://schemas.openxmlformats.org/drawingml/2006/main">
              <a:ext uri="{FF2B5EF4-FFF2-40B4-BE49-F238E27FC236}">
                <a16:creationId xmlns:a16="http://schemas.microsoft.com/office/drawing/2014/main" id="{CD0A7BE3-20A0-49F6-B4AF-B36CD6D3C8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18</a:t>
            </a:r>
          </a:p>
        </p:txBody>
      </p:sp>
    </p:spTree>
    <p:extLst>
      <p:ext uri="{BB962C8B-B14F-4D97-AF65-F5344CB8AC3E}">
        <p14:creationId xmlns:p14="http://schemas.microsoft.com/office/powerpoint/2010/main" val="134694648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21E34B4-2362-4A88-887B-4B583E1F0D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2E702FC-BA63-4604-88FC-BCA6408E60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5BBBFDF5-9D93-459F-A30E-9F23D9DE89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named function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key=rank</a:t>
                      </a:r>
                    </a:p>
                  </a:txBody>
                  <a:tcPr marL="91440" marR="91440" marT="45720" marB="45720">
                    <a:solidFill>
                      <a:srgbClr val="EEF3F6"/>
                    </a:solidFill>
                  </a:tcPr>
                </a:tc>
                <a:tc>
                  <a:txBody>
                    <a:bodyPr/>
                    <a:lstStyle/>
                    <a:p>
                      <a:r>
                        <a:rPr sz="2025" b="0">
                          <a:solidFill>
                            <a:srgbClr val="1C3144"/>
                          </a:solidFill>
                          <a:latin typeface="Calibri"/>
                          <a:ea typeface="Calibri"/>
                          <a:cs typeface="Calibri"/>
                        </a:rPr>
                        <a:t>Use rank to build each comparison key</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sorted(eligible, key=rank)</a:t>
                      </a:r>
                    </a:p>
                  </a:txBody>
                  <a:tcPr marL="91440" marR="91440" marT="45720" marB="45720">
                    <a:solidFill>
                      <a:srgbClr val="FFFFFF"/>
                    </a:solidFill>
                  </a:tcPr>
                </a:tc>
                <a:tc>
                  <a:txBody>
                    <a:bodyPr/>
                    <a:lstStyle/>
                    <a:p>
                      <a:r>
                        <a:rPr sz="2025" b="0">
                          <a:solidFill>
                            <a:srgbClr val="1C3144"/>
                          </a:solidFill>
                          <a:latin typeface="Calibri"/>
                          <a:ea typeface="Calibri"/>
                          <a:cs typeface="Calibri"/>
                        </a:rPr>
                        <a:t>Return a newly ordered list</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ordered[0]</a:t>
                      </a:r>
                    </a:p>
                  </a:txBody>
                  <a:tcPr marL="91440" marR="91440" marT="45720" marB="45720">
                    <a:solidFill>
                      <a:srgbClr val="EEF3F6"/>
                    </a:solidFill>
                  </a:tcPr>
                </a:tc>
                <a:tc>
                  <a:txBody>
                    <a:bodyPr/>
                    <a:lstStyle/>
                    <a:p>
                      <a:r>
                        <a:rPr sz="2025" b="0">
                          <a:solidFill>
                            <a:srgbClr val="1C3144"/>
                          </a:solidFill>
                          <a:latin typeface="Calibri"/>
                          <a:ea typeface="Calibri"/>
                          <a:cs typeface="Calibri"/>
                        </a:rPr>
                        <a:t>Select its first item</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len(ordered) == 0</a:t>
                      </a:r>
                    </a:p>
                  </a:txBody>
                  <a:tcPr marL="91440" marR="91440" marT="45720" marB="45720">
                    <a:solidFill>
                      <a:srgbClr val="FFFFFF"/>
                    </a:solidFill>
                  </a:tcPr>
                </a:tc>
                <a:tc>
                  <a:txBody>
                    <a:bodyPr/>
                    <a:lstStyle/>
                    <a:p>
                      <a:r>
                        <a:rPr sz="2025" b="0">
                          <a:solidFill>
                            <a:srgbClr val="1C3144"/>
                          </a:solidFill>
                          <a:latin typeface="Calibri"/>
                          <a:ea typeface="Calibri"/>
                          <a:cs typeface="Calibri"/>
                        </a:rPr>
                        <a:t>Check for no eligible candidate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DC4451F-6963-42DC-9CD9-6FC72479FDC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Check for an empty list before accessing position zero.</a:t>
            </a:r>
          </a:p>
        </p:txBody>
      </p:sp>
      <p:sp>
        <p:nvSpPr>
          <p:cNvPr id="6" name="">
            <a:extLst xmlns:a="http://schemas.openxmlformats.org/drawingml/2006/main">
              <a:ext uri="{FF2B5EF4-FFF2-40B4-BE49-F238E27FC236}">
                <a16:creationId xmlns:a16="http://schemas.microsoft.com/office/drawing/2014/main" id="{423661F9-E52C-4A47-81B5-A4FB33457D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19</a:t>
            </a:r>
          </a:p>
        </p:txBody>
      </p:sp>
    </p:spTree>
    <p:extLst>
      <p:ext uri="{BB962C8B-B14F-4D97-AF65-F5344CB8AC3E}">
        <p14:creationId xmlns:p14="http://schemas.microsoft.com/office/powerpoint/2010/main" val="204421407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EAEA7A-F8D1-45FB-B08F-78C63031B2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35F1919-3B14-49B7-B422-9CDAE869C8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3D251C6-DE12-469B-AAF9-9A92753441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tie-break rule in Python</a:t>
            </a:r>
          </a:p>
        </p:txBody>
      </p:sp>
      <p:sp>
        <p:nvSpPr>
          <p:cNvPr id="4" name="">
            <a:extLst xmlns:a="http://schemas.openxmlformats.org/drawingml/2006/main">
              <a:ext uri="{FF2B5EF4-FFF2-40B4-BE49-F238E27FC236}">
                <a16:creationId xmlns:a16="http://schemas.microsoft.com/office/drawing/2014/main" id="{BBB2A179-8839-4EB6-AB75-C1BC35F22A2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0FE8771-64BF-41D1-9893-DF6858293D4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rank(item):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(item["error"], item["ms"], item["name"])</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ordered = sorted(eligible, key=rank)</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len(ordered)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winner =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winner = ordered[0]["name"]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print(winner)</a:t>
            </a:r>
          </a:p>
        </p:txBody>
      </p:sp>
      <p:sp>
        <p:nvSpPr>
          <p:cNvPr id="6" name="">
            <a:extLst xmlns:a="http://schemas.openxmlformats.org/drawingml/2006/main">
              <a:ext uri="{FF2B5EF4-FFF2-40B4-BE49-F238E27FC236}">
                <a16:creationId xmlns:a16="http://schemas.microsoft.com/office/drawing/2014/main" id="{A415A0C6-D5E7-40A5-B231-2739BE00D8D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def names the function. Inputs go inside parentheses.</a:t>
            </a:r>
          </a:p>
        </p:txBody>
      </p:sp>
      <p:sp>
        <p:nvSpPr>
          <p:cNvPr id="7" name="">
            <a:extLst xmlns:a="http://schemas.openxmlformats.org/drawingml/2006/main">
              <a:ext uri="{FF2B5EF4-FFF2-40B4-BE49-F238E27FC236}">
                <a16:creationId xmlns:a16="http://schemas.microsoft.com/office/drawing/2014/main" id="{F48B0B75-DB1C-4FE2-908E-FC6A476CECA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8AFC5F75-7FBE-4575-BBFD-708DCBD7820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20</a:t>
            </a:r>
          </a:p>
        </p:txBody>
      </p:sp>
    </p:spTree>
    <p:extLst>
      <p:ext uri="{BB962C8B-B14F-4D97-AF65-F5344CB8AC3E}">
        <p14:creationId xmlns:p14="http://schemas.microsoft.com/office/powerpoint/2010/main" val="48576266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E23092A-0D9C-4FA5-B3A8-CA29375EFE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5D4371-82A3-43FE-9A6A-BAB7A0986D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594B21F-EE8A-4425-BED3-7923DC5844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Local explanation and Conditions of use</a:t>
            </a:r>
          </a:p>
        </p:txBody>
      </p:sp>
      <p:sp>
        <p:nvSpPr>
          <p:cNvPr id="4" name="">
            <a:extLst xmlns:a="http://schemas.openxmlformats.org/drawingml/2006/main">
              <a:ext uri="{FF2B5EF4-FFF2-40B4-BE49-F238E27FC236}">
                <a16:creationId xmlns:a16="http://schemas.microsoft.com/office/drawing/2014/main" id="{A68A8BB6-7852-491E-A788-01AC76667183}"/>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781FDF0-0F94-4437-9BF9-B23B9B9C40A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Local explanation</a:t>
            </a:r>
          </a:p>
        </p:txBody>
      </p:sp>
      <p:sp>
        <p:nvSpPr>
          <p:cNvPr id="6" name="">
            <a:extLst xmlns:a="http://schemas.openxmlformats.org/drawingml/2006/main">
              <a:ext uri="{FF2B5EF4-FFF2-40B4-BE49-F238E27FC236}">
                <a16:creationId xmlns:a16="http://schemas.microsoft.com/office/drawing/2014/main" id="{84260801-D896-4097-983A-5925A9D83E5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Why a model made one particular prediction. This is different from global importance, which summarises behaviour over many cases.</a:t>
            </a:r>
          </a:p>
        </p:txBody>
      </p:sp>
      <p:sp>
        <p:nvSpPr>
          <p:cNvPr id="7" name="">
            <a:extLst xmlns:a="http://schemas.openxmlformats.org/drawingml/2006/main">
              <a:ext uri="{FF2B5EF4-FFF2-40B4-BE49-F238E27FC236}">
                <a16:creationId xmlns:a16="http://schemas.microsoft.com/office/drawing/2014/main" id="{0EB1AB78-2146-4010-A739-9D9F4E281C8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C569F18-5FE0-4DAA-A5C6-7E4F677548A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Conditions of use</a:t>
            </a:r>
          </a:p>
        </p:txBody>
      </p:sp>
      <p:sp>
        <p:nvSpPr>
          <p:cNvPr id="9" name="">
            <a:extLst xmlns:a="http://schemas.openxmlformats.org/drawingml/2006/main">
              <a:ext uri="{FF2B5EF4-FFF2-40B4-BE49-F238E27FC236}">
                <a16:creationId xmlns:a16="http://schemas.microsoft.com/office/drawing/2014/main" id="{0D787D5E-E1E8-46E2-8A77-E1DA51873FB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cases and operating circumstances for which the available evidence supports considering the model.</a:t>
            </a:r>
          </a:p>
        </p:txBody>
      </p:sp>
      <p:sp>
        <p:nvSpPr>
          <p:cNvPr id="10" name="">
            <a:extLst xmlns:a="http://schemas.openxmlformats.org/drawingml/2006/main">
              <a:ext uri="{FF2B5EF4-FFF2-40B4-BE49-F238E27FC236}">
                <a16:creationId xmlns:a16="http://schemas.microsoft.com/office/drawing/2014/main" id="{76E77F77-82F5-4D49-9167-762FDA5F40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21</a:t>
            </a:r>
          </a:p>
        </p:txBody>
      </p:sp>
    </p:spTree>
    <p:extLst>
      <p:ext uri="{BB962C8B-B14F-4D97-AF65-F5344CB8AC3E}">
        <p14:creationId xmlns:p14="http://schemas.microsoft.com/office/powerpoint/2010/main" val="186092469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228CB93-8A5E-4418-864F-10A2875673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4561F8C-C538-425B-A590-41339E7B6B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4EB437B-6D87-4BF3-A875-3526C14CFD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recommendation needs evidence</a:t>
            </a:r>
          </a:p>
        </p:txBody>
      </p:sp>
      <p:sp>
        <p:nvSpPr>
          <p:cNvPr id="4" name="">
            <a:extLst xmlns:a="http://schemas.openxmlformats.org/drawingml/2006/main">
              <a:ext uri="{FF2B5EF4-FFF2-40B4-BE49-F238E27FC236}">
                <a16:creationId xmlns:a16="http://schemas.microsoft.com/office/drawing/2014/main" id="{F77ED360-B519-4C78-8A7A-598A493967C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76AEABF-C989-45E5-ACDC-4A26B1E9E61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question and the chosen candidate.</a:t>
            </a:r>
          </a:p>
        </p:txBody>
      </p:sp>
      <p:sp>
        <p:nvSpPr>
          <p:cNvPr id="6" name="">
            <a:extLst xmlns:a="http://schemas.openxmlformats.org/drawingml/2006/main">
              <a:ext uri="{FF2B5EF4-FFF2-40B4-BE49-F238E27FC236}">
                <a16:creationId xmlns:a16="http://schemas.microsoft.com/office/drawing/2014/main" id="{0241BEE2-C2B5-4462-A4D4-2E21DFAFAB7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281D78F-58D9-4F76-97E6-B6C152155DF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evaluation result and the constraint it satisfies.</a:t>
            </a:r>
          </a:p>
        </p:txBody>
      </p:sp>
      <p:sp>
        <p:nvSpPr>
          <p:cNvPr id="8" name="">
            <a:extLst xmlns:a="http://schemas.openxmlformats.org/drawingml/2006/main">
              <a:ext uri="{FF2B5EF4-FFF2-40B4-BE49-F238E27FC236}">
                <a16:creationId xmlns:a16="http://schemas.microsoft.com/office/drawing/2014/main" id="{F726C1EF-768B-41C2-8BDB-E55609A2A9C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7144F18-8E14-441D-B647-CBDE9184C1D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the evidence that could change the recommendation.</a:t>
            </a:r>
          </a:p>
        </p:txBody>
      </p:sp>
      <p:sp>
        <p:nvSpPr>
          <p:cNvPr id="10" name="">
            <a:extLst xmlns:a="http://schemas.openxmlformats.org/drawingml/2006/main">
              <a:ext uri="{FF2B5EF4-FFF2-40B4-BE49-F238E27FC236}">
                <a16:creationId xmlns:a16="http://schemas.microsoft.com/office/drawing/2014/main" id="{109A0270-142A-4DFB-B355-F8FD93CD52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22</a:t>
            </a:r>
          </a:p>
        </p:txBody>
      </p:sp>
    </p:spTree>
    <p:extLst>
      <p:ext uri="{BB962C8B-B14F-4D97-AF65-F5344CB8AC3E}">
        <p14:creationId xmlns:p14="http://schemas.microsoft.com/office/powerpoint/2010/main" val="125468888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7EF1DD1-11BD-4DAD-A051-72D6F29DAA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08342A-243A-4C5D-94B5-81BEF78E58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05AA192-B759-4E46-9AD1-E26B62843C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C37AB79F-8580-496D-B2BD-915D75EEB3B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A38EB7-1CAF-4BCD-9FE4-0AA2FA4D6D4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83C292A-3A08-49FE-B487-67CA08B5238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A third model has error 3 and latency 1 ms. Under lowest error then lowest latency, which eligible model wins?</a:t>
            </a:r>
          </a:p>
        </p:txBody>
      </p:sp>
      <p:sp>
        <p:nvSpPr>
          <p:cNvPr id="7" name="">
            <a:extLst xmlns:a="http://schemas.openxmlformats.org/drawingml/2006/main">
              <a:ext uri="{FF2B5EF4-FFF2-40B4-BE49-F238E27FC236}">
                <a16:creationId xmlns:a16="http://schemas.microsoft.com/office/drawing/2014/main" id="{AFBA5FC1-6C3C-4C1F-9B69-9C8DCE7D541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The third model. Both eligible models have error 3, but 1 ms is faster than 2 ms.</a:t>
            </a:r>
          </a:p>
        </p:txBody>
      </p:sp>
      <p:sp>
        <p:nvSpPr>
          <p:cNvPr id="8" name="">
            <a:extLst xmlns:a="http://schemas.openxmlformats.org/drawingml/2006/main">
              <a:ext uri="{FF2B5EF4-FFF2-40B4-BE49-F238E27FC236}">
                <a16:creationId xmlns:a16="http://schemas.microsoft.com/office/drawing/2014/main" id="{3C4B20F6-6B81-4FC5-819B-FCA0B04759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23</a:t>
            </a:r>
          </a:p>
        </p:txBody>
      </p:sp>
    </p:spTree>
    <p:extLst>
      <p:ext uri="{BB962C8B-B14F-4D97-AF65-F5344CB8AC3E}">
        <p14:creationId xmlns:p14="http://schemas.microsoft.com/office/powerpoint/2010/main" val="112676449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B4D1F78-3758-4F72-9042-CE41D06A87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73C0DED-68FC-420B-AA36-9D3B3F16B2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0352C42-7700-4695-9A00-55F75D278E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EEFFA98D-F06C-4D1A-A2A2-BA2AC26EE50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332C216-DD24-4EF8-9A48-BF23632B16A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W12 uses fields name, validation_mae and latency_ms.</a:t>
            </a:r>
          </a:p>
        </p:txBody>
      </p:sp>
      <p:sp>
        <p:nvSpPr>
          <p:cNvPr id="6" name="">
            <a:extLst xmlns:a="http://schemas.openxmlformats.org/drawingml/2006/main">
              <a:ext uri="{FF2B5EF4-FFF2-40B4-BE49-F238E27FC236}">
                <a16:creationId xmlns:a16="http://schemas.microsoft.com/office/drawing/2014/main" id="{3BC0DACF-E1F7-497A-86A7-C33B94D54EE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912BE51-A474-4FB0-8260-13FCDB52023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Meet both inclusive constraints, then rank by error, latency and alphabetical name.</a:t>
            </a:r>
          </a:p>
        </p:txBody>
      </p:sp>
      <p:sp>
        <p:nvSpPr>
          <p:cNvPr id="8" name="">
            <a:extLst xmlns:a="http://schemas.openxmlformats.org/drawingml/2006/main">
              <a:ext uri="{FF2B5EF4-FFF2-40B4-BE49-F238E27FC236}">
                <a16:creationId xmlns:a16="http://schemas.microsoft.com/office/drawing/2014/main" id="{595615FF-4E87-46D9-A5E0-59B635E4BDC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B72EE25-3B96-4EFA-953C-9A910200A01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None if no candidate qualifies.</a:t>
            </a:r>
          </a:p>
        </p:txBody>
      </p:sp>
      <p:sp>
        <p:nvSpPr>
          <p:cNvPr id="10" name="">
            <a:extLst xmlns:a="http://schemas.openxmlformats.org/drawingml/2006/main">
              <a:ext uri="{FF2B5EF4-FFF2-40B4-BE49-F238E27FC236}">
                <a16:creationId xmlns:a16="http://schemas.microsoft.com/office/drawing/2014/main" id="{686137EE-F9EB-469E-B838-073AC1F3A16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EEF20D2-5A3B-4CD6-9270-BC89717D81F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the error function and interpret the separately supplied scenario.</a:t>
            </a:r>
          </a:p>
        </p:txBody>
      </p:sp>
      <p:sp>
        <p:nvSpPr>
          <p:cNvPr id="12" name="">
            <a:extLst xmlns:a="http://schemas.openxmlformats.org/drawingml/2006/main">
              <a:ext uri="{FF2B5EF4-FFF2-40B4-BE49-F238E27FC236}">
                <a16:creationId xmlns:a16="http://schemas.microsoft.com/office/drawing/2014/main" id="{36C11954-B92A-4157-9C59-07060BBCAF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24</a:t>
            </a:r>
          </a:p>
        </p:txBody>
      </p:sp>
    </p:spTree>
    <p:extLst>
      <p:ext uri="{BB962C8B-B14F-4D97-AF65-F5344CB8AC3E}">
        <p14:creationId xmlns:p14="http://schemas.microsoft.com/office/powerpoint/2010/main" val="183173728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C964080-C441-4D81-9469-6E75FD300C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91C6AE-B70A-4C92-A3C3-71944AA8D8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E95FA5A-E5A3-4F50-A31B-922D8C563C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36DEB0EC-DC53-4003-B940-869826FEDDD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99F26E8-DD9B-4E00-BB70-0B71C2A70050}"/>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project comparisons and graded interfaces distinct.</a:t>
            </a:r>
          </a:p>
        </p:txBody>
      </p:sp>
      <p:sp>
        <p:nvSpPr>
          <p:cNvPr id="6" name="">
            <a:extLst xmlns:a="http://schemas.openxmlformats.org/drawingml/2006/main">
              <a:ext uri="{FF2B5EF4-FFF2-40B4-BE49-F238E27FC236}">
                <a16:creationId xmlns:a16="http://schemas.microsoft.com/office/drawing/2014/main" id="{7F37D3C5-1460-44BD-84AB-711660508C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25</a:t>
            </a:r>
          </a:p>
        </p:txBody>
      </p:sp>
    </p:spTree>
    <p:extLst>
      <p:ext uri="{BB962C8B-B14F-4D97-AF65-F5344CB8AC3E}">
        <p14:creationId xmlns:p14="http://schemas.microsoft.com/office/powerpoint/2010/main" val="72664628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B345E95-79AE-4F96-8ABA-9820E66CCA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30AE77-A03F-4D47-98F1-D90BC9119E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7162D95-5D44-491B-8C9E-4643B2749B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Fair comparison and explanation</a:t>
            </a:r>
          </a:p>
        </p:txBody>
      </p:sp>
      <p:sp>
        <p:nvSpPr>
          <p:cNvPr id="4" name="">
            <a:extLst xmlns:a="http://schemas.openxmlformats.org/drawingml/2006/main">
              <a:ext uri="{FF2B5EF4-FFF2-40B4-BE49-F238E27FC236}">
                <a16:creationId xmlns:a16="http://schemas.microsoft.com/office/drawing/2014/main" id="{E4F23C76-3E92-4E36-BDC5-D91EA166D1D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7FC3E83-67F1-4BBA-96EA-2C1AF65E0F2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same metric on the same validation cases with the same preprocessing rules.</a:t>
            </a:r>
          </a:p>
        </p:txBody>
      </p:sp>
      <p:sp>
        <p:nvSpPr>
          <p:cNvPr id="6" name="">
            <a:extLst xmlns:a="http://schemas.openxmlformats.org/drawingml/2006/main">
              <a:ext uri="{FF2B5EF4-FFF2-40B4-BE49-F238E27FC236}">
                <a16:creationId xmlns:a16="http://schemas.microsoft.com/office/drawing/2014/main" id="{70937A5A-4732-489B-ACFA-47DFC095140D}"/>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5F30BAE-52B6-4333-8677-8F38F0F780A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small difference needs context, including variation across splits.</a:t>
            </a:r>
          </a:p>
        </p:txBody>
      </p:sp>
      <p:sp>
        <p:nvSpPr>
          <p:cNvPr id="8" name="">
            <a:extLst xmlns:a="http://schemas.openxmlformats.org/drawingml/2006/main">
              <a:ext uri="{FF2B5EF4-FFF2-40B4-BE49-F238E27FC236}">
                <a16:creationId xmlns:a16="http://schemas.microsoft.com/office/drawing/2014/main" id="{362E6239-C6FA-49F6-94E7-0499331788C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319D920-F5CE-429E-BF2F-18C30A50443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run out of order can overwrite the variable holding a model; restart and run from the top.</a:t>
            </a:r>
          </a:p>
        </p:txBody>
      </p:sp>
      <p:sp>
        <p:nvSpPr>
          <p:cNvPr id="10" name="">
            <a:extLst xmlns:a="http://schemas.openxmlformats.org/drawingml/2006/main">
              <a:ext uri="{FF2B5EF4-FFF2-40B4-BE49-F238E27FC236}">
                <a16:creationId xmlns:a16="http://schemas.microsoft.com/office/drawing/2014/main" id="{47F8ECDE-CC75-4653-A6B7-8D159AA76A6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C26A1E1-6AC5-4E53-906B-8F923FA893CA}"/>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local explanation addresses one prediction; global importance summarises many.</a:t>
            </a:r>
          </a:p>
        </p:txBody>
      </p:sp>
      <p:sp>
        <p:nvSpPr>
          <p:cNvPr id="12" name="">
            <a:extLst xmlns:a="http://schemas.openxmlformats.org/drawingml/2006/main">
              <a:ext uri="{FF2B5EF4-FFF2-40B4-BE49-F238E27FC236}">
                <a16:creationId xmlns:a16="http://schemas.microsoft.com/office/drawing/2014/main" id="{8A08FCAC-E9AC-4A8D-BCE9-021E7888F5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26</a:t>
            </a:r>
          </a:p>
        </p:txBody>
      </p:sp>
    </p:spTree>
    <p:extLst>
      <p:ext uri="{BB962C8B-B14F-4D97-AF65-F5344CB8AC3E}">
        <p14:creationId xmlns:p14="http://schemas.microsoft.com/office/powerpoint/2010/main" val="95022463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F15259E-C9E4-4E53-B562-0DA6DCC2E9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1E9C21A-BA24-47B9-BB79-6A938B9E2F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8854135-24E9-4286-BDC9-A62F5B78A8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Fair comparison and explanation continued</a:t>
            </a:r>
          </a:p>
        </p:txBody>
      </p:sp>
      <p:sp>
        <p:nvSpPr>
          <p:cNvPr id="4" name="">
            <a:extLst xmlns:a="http://schemas.openxmlformats.org/drawingml/2006/main">
              <a:ext uri="{FF2B5EF4-FFF2-40B4-BE49-F238E27FC236}">
                <a16:creationId xmlns:a16="http://schemas.microsoft.com/office/drawing/2014/main" id="{77AB3F86-CB5C-4D93-B47F-8ABC938FE1B5}"/>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63371F-81CE-4A41-B480-511A0D35B8DB}"/>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A post-hoc explanation of a complex model is not its directly readable internal rule.</a:t>
            </a:r>
          </a:p>
        </p:txBody>
      </p:sp>
      <p:sp>
        <p:nvSpPr>
          <p:cNvPr id="6" name="">
            <a:extLst xmlns:a="http://schemas.openxmlformats.org/drawingml/2006/main">
              <a:ext uri="{FF2B5EF4-FFF2-40B4-BE49-F238E27FC236}">
                <a16:creationId xmlns:a16="http://schemas.microsoft.com/office/drawing/2014/main" id="{D975B380-5476-478A-848B-2847BD7243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27</a:t>
            </a:r>
          </a:p>
        </p:txBody>
      </p:sp>
    </p:spTree>
    <p:extLst>
      <p:ext uri="{BB962C8B-B14F-4D97-AF65-F5344CB8AC3E}">
        <p14:creationId xmlns:p14="http://schemas.microsoft.com/office/powerpoint/2010/main" val="46396392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5CC4666-6ABB-4CFF-B32B-E365AC6780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6A6943-BF39-403B-8196-C5B5EF7866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C4412A4-BF60-4D2B-A0E1-45E2259D7B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EB43F1A0-D199-4D89-BF16-0E064AD7B4D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8F16450-717B-45C4-A6D7-66E2E97A114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3D7E67BD-FAB0-4894-8079-84AA33F739F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C58F458-21FE-4610-8513-A7FD8CA5E50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7CC4B2AD-89EF-4C13-82A6-4737CC3CB41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DA07119-CE2D-407D-8A14-B266E64E70A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57609261-888D-45E5-B24F-D5FC636DBEB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9D89664-089B-4AFF-B7AA-2C392BA2C8E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9E46E130-5BD9-4FAA-9CC5-E044890A6D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28</a:t>
            </a:r>
          </a:p>
        </p:txBody>
      </p:sp>
    </p:spTree>
    <p:extLst>
      <p:ext uri="{BB962C8B-B14F-4D97-AF65-F5344CB8AC3E}">
        <p14:creationId xmlns:p14="http://schemas.microsoft.com/office/powerpoint/2010/main" val="1496760563"/>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0A78714-FC0F-4907-8419-0FEFDA96366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D3EDB7A-11FF-400A-A878-E6AEB23216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59299478-5327-4850-AA6A-F541CD3922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select_model(candidates, max_mae, max_ms)</a:t>
            </a:r>
          </a:p>
        </p:txBody>
      </p:sp>
      <p:sp>
        <p:nvSpPr>
          <p:cNvPr id="4" name="">
            <a:extLst xmlns:a="http://schemas.openxmlformats.org/drawingml/2006/main">
              <a:ext uri="{FF2B5EF4-FFF2-40B4-BE49-F238E27FC236}">
                <a16:creationId xmlns:a16="http://schemas.microsoft.com/office/drawing/2014/main" id="{D1361CD3-D3FD-4158-A101-9021307597BB}"/>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D940E2-9540-4B05-B2D3-8A15CF0FB90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Candidates have name, validation_mae and latency_ms.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Keep those meeting both inclusive constraints; select smallest validation_mae, then latency_ms, then name alphabetically.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the selected name or None.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Never use test scores for selection.</a:t>
            </a:r>
          </a:p>
        </p:txBody>
      </p:sp>
      <p:sp>
        <p:nvSpPr>
          <p:cNvPr id="6" name="">
            <a:extLst xmlns:a="http://schemas.openxmlformats.org/drawingml/2006/main">
              <a:ext uri="{FF2B5EF4-FFF2-40B4-BE49-F238E27FC236}">
                <a16:creationId xmlns:a16="http://schemas.microsoft.com/office/drawing/2014/main" id="{52B174EF-194B-4123-A693-E9E34957C2C8}"/>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E35A9F0-A728-4509-B91C-04742C99208D}"/>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AB8B32D-8E41-4177-8C2D-F91617EA30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29</a:t>
            </a:r>
          </a:p>
        </p:txBody>
      </p:sp>
    </p:spTree>
    <p:extLst>
      <p:ext uri="{BB962C8B-B14F-4D97-AF65-F5344CB8AC3E}">
        <p14:creationId xmlns:p14="http://schemas.microsoft.com/office/powerpoint/2010/main" val="273110693"/>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CE11897-7E9E-4742-9970-77AFA03A78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A81E26-94CE-4182-9173-A76F71F541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F08CE8D-21B4-4626-BB7E-5317A20C4D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B042C601-E9E3-4D4F-BF0C-61CB7A34C3BF}"/>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6BD436-26E2-40ED-AEDE-8B29C995CB3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1DF0DE47-1846-44DF-93A1-7D68BE9ECE8E}"/>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63C0505-97AE-4F7C-8324-69D63A69658F}"/>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C049A07-063D-4A4F-9801-4C2675BCC6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30</a:t>
            </a:r>
          </a:p>
        </p:txBody>
      </p:sp>
    </p:spTree>
    <p:extLst>
      <p:ext uri="{BB962C8B-B14F-4D97-AF65-F5344CB8AC3E}">
        <p14:creationId xmlns:p14="http://schemas.microsoft.com/office/powerpoint/2010/main" val="88264805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20C9F94-9CF4-4785-A3A2-53D410FDE7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98B73F-201C-4BED-94CD-6B4B604CD3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077F38F-3FF2-41E6-BE3A-DA410AAD1B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CB2E2E92-77DA-4294-A4AE-E15444482F5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989BDF9-47EC-4ABB-927E-A3BB6B374D3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6EA446F3-B6A0-4AB4-B41C-EC59899FED6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B2C5FF6-46B4-463F-8435-7899486CC78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04FF1FF2-F0A5-48DF-A116-88372D45CB2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741412-2D30-4222-96CE-B3A929A6AA1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E3D51A18-74E1-4271-A865-50CEB5A7910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4D4493F-1153-4EC8-9755-8FB8339C317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F83A2F19-29E5-48C5-91B0-CB823B2DA2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31</a:t>
            </a:r>
          </a:p>
        </p:txBody>
      </p:sp>
    </p:spTree>
    <p:extLst>
      <p:ext uri="{BB962C8B-B14F-4D97-AF65-F5344CB8AC3E}">
        <p14:creationId xmlns:p14="http://schemas.microsoft.com/office/powerpoint/2010/main" val="155715531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9EEDA6B-4278-47A3-9C5E-58191BDA8F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A080E9-1B3C-4005-BD88-54A93AA7DA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5107548E-AA56-433C-8F6F-6B60D38C67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recommendation submission</a:t>
            </a:r>
          </a:p>
        </p:txBody>
      </p:sp>
      <p:sp>
        <p:nvSpPr>
          <p:cNvPr id="4" name="">
            <a:extLst xmlns:a="http://schemas.openxmlformats.org/drawingml/2006/main">
              <a:ext uri="{FF2B5EF4-FFF2-40B4-BE49-F238E27FC236}">
                <a16:creationId xmlns:a16="http://schemas.microsoft.com/office/drawing/2014/main" id="{492E5465-2B35-4BAE-87FF-299688D62681}"/>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5EF5830-7591-4849-B52F-C31998EF9372}"/>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11:00 Kampala</a:t>
            </a:r>
          </a:p>
        </p:txBody>
      </p:sp>
      <p:sp>
        <p:nvSpPr>
          <p:cNvPr id="6" name="">
            <a:extLst xmlns:a="http://schemas.openxmlformats.org/drawingml/2006/main">
              <a:ext uri="{FF2B5EF4-FFF2-40B4-BE49-F238E27FC236}">
                <a16:creationId xmlns:a16="http://schemas.microsoft.com/office/drawing/2014/main" id="{02900352-F22E-4CE1-99B9-1C69FD45AAF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5BA761C-5C8D-4554-B175-CFE474DF0154}"/>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27 Nov 2026, 14:00 Kampala</a:t>
            </a:r>
          </a:p>
        </p:txBody>
      </p:sp>
      <p:sp>
        <p:nvSpPr>
          <p:cNvPr id="8" name="">
            <a:extLst xmlns:a="http://schemas.openxmlformats.org/drawingml/2006/main">
              <a:ext uri="{FF2B5EF4-FFF2-40B4-BE49-F238E27FC236}">
                <a16:creationId xmlns:a16="http://schemas.microsoft.com/office/drawing/2014/main" id="{8884E209-5E80-44C2-823E-E3C4EF68D3D8}"/>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C5972C5-813B-4A34-90F8-C20522416C44}"/>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10189779-42B0-4342-A544-637A06C82C0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4131C41-5253-4868-8260-7F1F292A318B}"/>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60E65286-9B67-4A87-93BA-F4903B88DA8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4F5EBEE-07A6-40D1-9A14-93A79C0E616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76d88277ceb4f8b"/>
              </a:rPr>
              <a:t>Open W12 assignment form</a:t>
            </a:r>
          </a:p>
        </p:txBody>
      </p:sp>
      <p:sp>
        <p:nvSpPr>
          <p:cNvPr id="14" name="">
            <a:extLst xmlns:a="http://schemas.openxmlformats.org/drawingml/2006/main">
              <a:ext uri="{FF2B5EF4-FFF2-40B4-BE49-F238E27FC236}">
                <a16:creationId xmlns:a16="http://schemas.microsoft.com/office/drawing/2014/main" id="{56EC014A-32F3-430D-A7D8-637405E60C8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https://docs.google.com/forms/d/e/1FAIpQLSd372X-BsxlyaBxjHNN5N4xQuj9fMiwEWDSkDOh8sXTQk3imQ/viewform</a:t>
            </a:r>
          </a:p>
        </p:txBody>
      </p:sp>
      <p:sp>
        <p:nvSpPr>
          <p:cNvPr id="15" name="">
            <a:extLst xmlns:a="http://schemas.openxmlformats.org/drawingml/2006/main">
              <a:ext uri="{FF2B5EF4-FFF2-40B4-BE49-F238E27FC236}">
                <a16:creationId xmlns:a16="http://schemas.microsoft.com/office/drawing/2014/main" id="{52704A92-455A-4553-B5BD-1CEAA3E45A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32</a:t>
            </a:r>
          </a:p>
        </p:txBody>
      </p:sp>
    </p:spTree>
    <p:extLst>
      <p:ext uri="{BB962C8B-B14F-4D97-AF65-F5344CB8AC3E}">
        <p14:creationId xmlns:p14="http://schemas.microsoft.com/office/powerpoint/2010/main" val="48228119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A0503E1-475E-4104-9F24-7D8F7B84ED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3D413E-EB75-461B-8753-102106BB55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089005D-92B3-42FB-87D6-48427A4A02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3CEF5C5C-4434-4324-9E07-8B26F373D05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5D87A3A-DAB1-48DF-A055-62A4E3D1021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47B3B4C0-5A16-41D5-940B-B988DCA9084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DB5036B-8D71-4BBA-9B29-C4EA39AF72D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B4D399BF-AB7C-4886-BD72-A709E438A7E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4DBECB3-FF0E-40A9-9185-33787EB9B87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26C1D273-A182-402C-9C43-C9CB5DACAD8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831B02F-7164-493D-95B3-7A2E12CEB3D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11:00 Kampala</a:t>
            </a:r>
          </a:p>
        </p:txBody>
      </p:sp>
      <p:sp>
        <p:nvSpPr>
          <p:cNvPr id="12" name="">
            <a:extLst xmlns:a="http://schemas.openxmlformats.org/drawingml/2006/main">
              <a:ext uri="{FF2B5EF4-FFF2-40B4-BE49-F238E27FC236}">
                <a16:creationId xmlns:a16="http://schemas.microsoft.com/office/drawing/2014/main" id="{49402CAF-1AE9-4A2A-83BD-6B4D95DC8E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33</a:t>
            </a:r>
          </a:p>
        </p:txBody>
      </p:sp>
    </p:spTree>
    <p:extLst>
      <p:ext uri="{BB962C8B-B14F-4D97-AF65-F5344CB8AC3E}">
        <p14:creationId xmlns:p14="http://schemas.microsoft.com/office/powerpoint/2010/main" val="435214259"/>
      </p:ext>
    </p:extLst>
  </p:cSld>
</p:sld>
</file>

<file path=ppt/slides/slide3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24DA7A52-CF42-4487-99C0-68CBFA56308D}"/>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3B21BA1B-5543-4D81-BE69-E4A63274E011}"/>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A0D4FDDE-4B3E-4792-B520-D51F153F80B8}"/>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12 quiz</a:t>
            </a:r>
          </a:p>
        </p:txBody>
      </p:sp>
      <p:sp>
        <p:nvSpPr>
          <p:cNvPr id="4" name="">
            <a:extLst>
              <a:ext uri="{FF2B5EF4-FFF2-40B4-BE49-F238E27FC236}">
                <ns2:creationId id="{EB8D58E4-536A-446D-A5FC-84FA1A324E86}"/>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B3DC2D2B-EC86-4923-A82F-A5C2FFE760BF}"/>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B0D06EE1-5F2F-4451-BCB8-ABD93D7E50CA}"/>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35B697BF-3920-4DFF-AB9A-1C5DC78A5307}"/>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3D02C0C1-AA9A-447F-B725-898DC5FA32DE}"/>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DD859108-6A6C-45DA-8841-1AB829010913}"/>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B38149BE-2208-4F25-86E5-061919148C58}"/>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A11650FE-9211-43CE-A6B8-D3E27E8DCE9B}"/>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c1d3521cf6ad43a6"/>
          <a:stretch/>
        </p:blipFill>
        <p:spPr>
          <a:xfrm>
            <a:off x="9134475" y="2095500"/>
            <a:ext cx="2190750" cy="2190750"/>
          </a:xfrm>
          <a:prstGeom prst="rect">
            <a:avLst/>
          </a:prstGeom>
        </p:spPr>
      </p:pic>
      <p:sp>
        <p:nvSpPr>
          <p:cNvPr id="13" name="">
            <a:extLst>
              <a:ext uri="{FF2B5EF4-FFF2-40B4-BE49-F238E27FC236}">
                <ns2:creationId id="{6D943BCC-F3F2-41E6-B879-075E5F189170}"/>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3F94E5AE-B5D2-45B0-AA4A-001EAA0CBF01}"/>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A10126D7-BB5E-4638-8368-53E90605D866}"/>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a9636298f00a4000"/>
              </a:rPr>
              <a:t>Open this week’s quiz</a:t>
            </a:r>
          </a:p>
        </p:txBody>
      </p:sp>
      <p:sp>
        <p:nvSpPr>
          <p:cNvPr id="16" name="">
            <a:extLst>
              <a:ext uri="{FF2B5EF4-FFF2-40B4-BE49-F238E27FC236}">
                <ns2:creationId id="{AB959E1E-E9AC-4C99-9D5F-1F18FEBE0DE9}"/>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https://forms.gle/HM2s2G2zxQP64dit5</a:t>
            </a:r>
          </a:p>
        </p:txBody>
      </p:sp>
      <p:sp>
        <p:nvSpPr>
          <p:cNvPr id="17" name="">
            <a:extLst>
              <a:ext uri="{FF2B5EF4-FFF2-40B4-BE49-F238E27FC236}">
                <ns2:creationId id="{3F624D40-E580-4F36-B902-7399151E1A0C}"/>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34</a:t>
            </a:r>
          </a:p>
        </p:txBody>
      </p:sp>
    </p:spTree>
    <p:extLst>
      <p:ext uri="{BB962C8B-B14F-4D97-AF65-F5344CB8AC3E}">
        <ns4:creationId val="1323874198"/>
      </p:ext>
    </p:extLst>
  </p:cSld>
</p:sld>
</file>

<file path=ppt/slides/slide3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4E891140-FB06-4AE3-AEBE-5680E83284DA}"/>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F540BE53-D041-4D7D-99BF-81D20FD74592}"/>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0D639785-E110-43FD-90EF-B66EDBED4B75}"/>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B0A22D44-590C-4D41-81D6-87488ED89301}"/>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justify a valid candidate with evidence and a stated limitation.</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A5AB2B23-771A-46DD-921D-FA0C48055468}"/>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1DB53DF4-D3D3-40FA-B419-56F0EC80D03E}"/>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12   35</a:t>
            </a:r>
          </a:p>
        </p:txBody>
      </p:sp>
    </p:spTree>
    <p:extLst>
      <p:ext uri="{BB962C8B-B14F-4D97-AF65-F5344CB8AC3E}">
        <ns3:creationId val="197080966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8874391-C137-4026-A07D-44E425881D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5DE3B0-156F-48FE-8CEB-D1CAE47EF6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2D23FC6E-ACBA-40C2-B0E7-2AF8C9DD34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61053A18-A9A2-4D99-BC91-D5A23F6322F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F0D77AE-A34B-4D3A-95D9-020849F1AB1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8F718273-90E3-4E35-A211-88940AD0576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0C175D7-A991-4CF1-A6B8-92EBD6590552}"/>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8816B386-B24C-4FC5-A307-A6E9A35C9DC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67EBF43-7AD8-4860-A72A-7F5F07AF6206}"/>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AF8FF0FA-13FC-46E0-8748-BC96A7B3218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77175BB-4B6F-44D0-A1F5-06D322E87FCE}"/>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171A0E63-B502-4FC2-AA79-8CE066D6E8F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6B002D1-C5B6-451A-958D-491C1E134D2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781a9bc69c14235"/>
              </a:rPr>
              <a:t>Open explainer video</a:t>
            </a:r>
          </a:p>
        </p:txBody>
      </p:sp>
      <p:sp>
        <p:nvSpPr>
          <p:cNvPr id="14" name="">
            <a:extLst xmlns:a="http://schemas.openxmlformats.org/drawingml/2006/main">
              <a:ext uri="{FF2B5EF4-FFF2-40B4-BE49-F238E27FC236}">
                <a16:creationId xmlns:a16="http://schemas.microsoft.com/office/drawing/2014/main" id="{90C58594-2A91-462B-97E2-DF4EE6D1503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2E5BC352-B2F2-4823-8425-07588FC339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36</a:t>
            </a:r>
          </a:p>
        </p:txBody>
      </p:sp>
    </p:spTree>
    <p:extLst>
      <p:ext uri="{BB962C8B-B14F-4D97-AF65-F5344CB8AC3E}">
        <p14:creationId xmlns:p14="http://schemas.microsoft.com/office/powerpoint/2010/main" val="38711330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2026-09-28T21:45:29.6090000Z</dcterms:created>
  <dcterms:modified xsi:type="dcterms:W3CDTF">2026-09-28T21:45:29.6090000Z</dcterms:modified>
</coreProperties>
</file>