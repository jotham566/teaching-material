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session. Your deliverables are due at the start of it, the demo fair runs for one hundred minutes, every student answers two unseen questions about their own repository, and the session closes with the three recognitions and your reflection.</a:t>
            </a:r>
          </a:p>
          <a:p/>
          <a:p>
            <a:r>
              <a:t>Invited Faculty staff and, where possible, a practising engineer from outside will be circulating as assessors.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fair format exists because 10 consecutive presentations would take longer than the session and hold everybody's attention for none of it. At a station you present four or five times to small groups, which is better practice and a great deal less frightening.</a:t>
            </a:r>
          </a:p>
          <a:p/>
          <a:p>
            <a:r>
              <a:t>The viva runs alongside the fair rather than after it, so you may be asked your two questions at any point during the hundred minutes.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is no break in this session, so bring water. Your team needs at least one person at the station at all times, which means rotating through the two rounds so everybody gets to see other teams' work.</a:t>
            </a:r>
          </a:p>
          <a:p/>
          <a:p>
            <a:r>
              <a:t>Deciding that rotation before you arrive saves you ten minutes.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Item 1 is the gate. A repository that fails on a clean clone cannot be marked for its methodology, its validation or its reasoning, which is 55 of the 100 project marks. Test it on a machine that is not yours before you come.</a:t>
            </a:r>
          </a:p>
          <a:p/>
          <a:p>
            <a:r>
              <a:t>Item 2 is a different document from your README. The README tells a reviewer how to run your work; the brief tells an engineer what you found and what to do about it. Two pages means two pages.</a:t>
            </a:r>
          </a:p>
          <a:p/>
          <a:p>
            <a:r>
              <a:t>Item 5 is what protects you. If your teammates did less than you, the log and the commit history are the evidence.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mixed audience is the point of the exercise. Explaining silica in the concentrate to a Faculty member from a different discipline is harder and more useful than explaining it to somebody who already knows your dataset, and it is the skill you will need in every review meeting of your career.</a:t>
            </a:r>
          </a:p>
          <a:p/>
          <a:p>
            <a:r>
              <a:t>The last point is practical. Open the notebook at your result before the first group arrives, and keep a second tab on your ablation table or your comparison table.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is counter-intuitive and it works. A team that states clearly what its model cannot do reads as competent, and it is the single most reliable way to raise an assessor's opinion of your work. It is also one of the three recognition categories.</a:t>
            </a:r>
          </a:p>
          <a:p/>
          <a:p>
            <a:r>
              <a:t>Step 3 is where teams overrun. Nobody at a fair wants to see your code; they want to know which decisions you took and why. Say 'we built five features from the mix chemistry and measured each one by ablation' rather than opening the cell.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Engineering reasoning and data understanding carry 35 marks between them and neither is about your model. They are about whether you understood the problem and the data you had.</a:t>
            </a:r>
          </a:p>
          <a:p/>
          <a:p>
            <a:r>
              <a:t>Notice what is absent from the rubric: there is no criterion for the accuracy your model achieved. A team whose model performs modestly and who can say precisely why, and what would be needed to do better, scores above a team with a better number and no account of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Peer assessment is advisory and moderated, which means your marks inform the decision and do not set it. What is marked is the quality of your justifications, so one specific line per criterion is worth more than a number.</a:t>
            </a:r>
          </a:p>
          <a:p/>
          <a:p>
            <a:r>
              <a:t>The suggested question is worth using every time. A team that cannot say what would change its recommendation has usually not thought about the conditions of use, and that is visible in one answer.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your own repository the night before. Not to memorise it — to be able to find things in it and say why each decision was taken. The two questions you get will be about the work you logged as yours.</a:t>
            </a:r>
          </a:p>
          <a:p/>
          <a:p>
            <a:r>
              <a:t>A useful preparation: sit with your teammates and ask each other the ten questions on the next slide. Twenty minutes of that is the whole preparation.</a:t>
            </a:r>
          </a:p>
          <a:p/>
          <a:p>
            <a:r>
              <a:t>One honest note: 'we tried that and it did not work, so we did this instead' is a good answer. Vagueness is what costs marks, and a clear account of something that failed is not vague.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ten are published so that you can practise, and the bank has twenty in it. Every one of them is answerable from your own repository with the notebook open, and none of them requires you to remember a definition.</a:t>
            </a:r>
          </a:p>
          <a:p/>
          <a:p>
            <a:r>
              <a:t>Questions C, I and J are the ones students expect least and find easiest once they think about it. A feature that did nothing, a disagreement you settled, and something you would change are all evidence that real work happened.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point is the one to take seriously. Assessors ask follow-up questions, and an invented reason collapses immediately, which costs more than the original gap would have.</a:t>
            </a:r>
          </a:p>
          <a:p/>
          <a:p>
            <a:r>
              <a:t>The fifth point describes exactly what this course has been training. If you can say that sentence about your own project and mean it, you have got what the semester was for.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is no prize for the highest accuracy figure, and that has been true since Week 1. The three categories are the three things this course has been training, and Most Honest Limitations exists because being clear about what your work does not support is a professional skill that almost nothing else rewards.</a:t>
            </a:r>
          </a:p>
          <a:p/>
          <a:p>
            <a:r>
              <a:t>Best Investigation is open to a team whose answer was 'this data cannot answer the question, and here is what would'. That has been an acceptable conclusion since Week 5.</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figure was shown in the first hour of Week 1 as a promise. Step six was 'here is a model I built and here is how I know it works', and the second half of that sentence is what took fifteen weeks.</a:t>
            </a:r>
          </a:p>
          <a:p/>
          <a:p>
            <a:r>
              <a:t>In September most of this room could not have said what a dataset was in precise terms. You have now cleaned one, argued about its defects, built features from your own discipline, compared models under a protocol you fixed, and defended the result to somebody trying to break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Worth seeing at the end. Every mark in this course came from work with data: eleven weekly challenges, twelve weekly quizzes, a data analysis project, two offline practical tests, a team project and today's viva and reflection.</a:t>
            </a:r>
          </a:p>
          <a:p/>
          <a:p>
            <a:r>
              <a:t>The individual share was 65 per cent, which is why the viva and the contribution log exist. A team mark on its own cannot tell anybody what you personally can do.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Fifteen weeks. Two of them were practical tests where you were handed data you had never seen, and the project ran from Week 9 to today.</a:t>
            </a:r>
          </a:p>
          <a:p/>
          <a:p>
            <a:r>
              <a:t>There was nothing to memorise in any of it, which surprised most of you in September.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have covered stage 1 and stages 3 to 9 of the public roadmap.sh Machine Learning roadmap, and stage 2 was behind you before the semester started. In Week 1 you were told that most of the individual terms on this figure would mean nothing yet and that this was expected. Read it again now.</a:t>
            </a:r>
          </a:p>
          <a:p/>
          <a:p>
            <a:r>
              <a:t>The interactive version is at roadmap.sh/machine-learning and it is worth an evening over the holiday.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Semester 2 takes the green stages: neural networks and deep learning, gradient boosting properly, time series, and turning a model into something a colleague can use. The three-minute Streamlit teaser in Week 13 was pointing at that last one.</a:t>
            </a:r>
          </a:p>
          <a:p/>
          <a:p>
            <a:r>
              <a:t>The grey stages sit outside both semesters. If you want them, roadmap.sh publishes separate roadmaps for the AI engineer, the data scientist, MLOps and AI agents, and any of the four is a reasonable next step.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it today rather than later. The reflection written in the room after the fair is consistently more useful than one written at home a week afterwards, because the session is still in front of you.</a:t>
            </a:r>
          </a:p>
          <a:p/>
          <a:p>
            <a:r>
              <a:t>Paragraph 4 is read closely and it is not a trap. A specific mistake with a specific correction is evidence that you were paying attention to your own work, which is most of what reflective practice means.</a:t>
            </a:r>
          </a:p>
          <a:p/>
          <a:p>
            <a:r>
              <a:t>Paragraph 5 is used. The two goals you write shape the Semester 2 opening weeks, which are designed as review through application rather than as re-teaching.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fifth point is practical advice about employment. A repository with a README, pinned requirements, a clean history and a two-page brief is a stronger thing to show an employer than a transcript, and you already have one.</a:t>
            </a:r>
          </a:p>
          <a:p/>
          <a:p>
            <a:r>
              <a:t>The holiday challenge is genuinely optional and genuinely reviewed. Send it and you will get a reply.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 statements, and every one of them is something this cohort did in an assessed piece of work rather than something that was described to you. Mark yourself against each one.</a:t>
            </a:r>
          </a:p>
          <a:p/>
          <a:p>
            <a:r>
              <a:t>The last is the one that takes longest to accept and it has been true since Week 5. Saying precisely what data would be needed to answer a question is frequently the most valuable thing an analyst produces.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sentence was the promise made in the first hour of Week 1, and it is the claim you can now make. It is worth noticing what it does not say: it does not claim you can build any model, and it says you know how to start, which is what an employer is actually asking about.</a:t>
            </a:r>
          </a:p>
          <a:p/>
          <a:p>
            <a:r>
              <a:t>Keep the repository, write the two Semester 2 goals down somewhere you will see them, and send me the holiday challenge if you do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12344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CML3113</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Demo Day</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The demo fair, the individual viva, and what you can say now that you could not in September</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15  ·  Fri 18 December 2026</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Friday 08:00–11:00 · Room 105  ·  IUEA Faculty of Engineering · Semester 1,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RUNNING ORDER</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today runs</a:t>
            </a:r>
          </a:p>
        </p:txBody>
      </p:sp>
      <p:sp>
        <p:nvSpPr>
          <p:cNvPr id="4" name="Rounded Rectangle 3"/>
          <p:cNvSpPr/>
          <p:nvPr/>
        </p:nvSpPr>
        <p:spPr>
          <a:xfrm>
            <a:off x="685800" y="1911095"/>
            <a:ext cx="10820095" cy="1322433"/>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42416" y="2480872"/>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554480" y="2029967"/>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First ten minutes — running order and rules</a:t>
            </a:r>
          </a:p>
        </p:txBody>
      </p:sp>
      <p:sp>
        <p:nvSpPr>
          <p:cNvPr id="7" name="TextBox 6"/>
          <p:cNvSpPr txBox="1"/>
          <p:nvPr/>
        </p:nvSpPr>
        <p:spPr>
          <a:xfrm>
            <a:off x="1554480" y="2423159"/>
            <a:ext cx="9631375" cy="718929"/>
          </a:xfrm>
          <a:prstGeom prst="rect">
            <a:avLst/>
          </a:prstGeom>
          <a:noFill/>
        </p:spPr>
        <p:txBody>
          <a:bodyPr wrap="square" lIns="0" rIns="0" tIns="0" bIns="0" anchor="t">
            <a:spAutoFit/>
          </a:bodyPr>
          <a:lstStyle/>
          <a:p>
            <a:pPr algn="l">
              <a:lnSpc>
                <a:spcPct val="116000"/>
              </a:lnSpc>
              <a:spcAft>
                <a:spcPts val="600"/>
              </a:spcAft>
            </a:pPr>
            <a:r>
              <a:rPr sz="1650" b="0" i="0">
                <a:solidFill>
                  <a:srgbClr val="3C4E5E"/>
                </a:solidFill>
                <a:latin typeface="Calibri"/>
              </a:rPr>
              <a:t>Station allocation, the two rounds of the fair, and how the marking works. Then the fair starts and does not stop for a hundred and thirty minutes.</a:t>
            </a:r>
          </a:p>
        </p:txBody>
      </p:sp>
      <p:sp>
        <p:nvSpPr>
          <p:cNvPr id="8" name="Rounded Rectangle 7"/>
          <p:cNvSpPr/>
          <p:nvPr/>
        </p:nvSpPr>
        <p:spPr>
          <a:xfrm>
            <a:off x="685800" y="3288393"/>
            <a:ext cx="10820095" cy="1625381"/>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42416" y="400964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54480" y="3407265"/>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The demo fair — two rounds, a hundred and thirty minutes</a:t>
            </a:r>
          </a:p>
        </p:txBody>
      </p:sp>
      <p:sp>
        <p:nvSpPr>
          <p:cNvPr id="11" name="TextBox 10"/>
          <p:cNvSpPr txBox="1"/>
          <p:nvPr/>
        </p:nvSpPr>
        <p:spPr>
          <a:xfrm>
            <a:off x="1554480" y="3800457"/>
            <a:ext cx="9631375" cy="1021877"/>
          </a:xfrm>
          <a:prstGeom prst="rect">
            <a:avLst/>
          </a:prstGeom>
          <a:noFill/>
        </p:spPr>
        <p:txBody>
          <a:bodyPr wrap="square" lIns="0" rIns="0" tIns="0" bIns="0" anchor="t">
            <a:spAutoFit/>
          </a:bodyPr>
          <a:lstStyle/>
          <a:p>
            <a:pPr algn="l">
              <a:lnSpc>
                <a:spcPct val="116000"/>
              </a:lnSpc>
              <a:spcAft>
                <a:spcPts val="600"/>
              </a:spcAft>
            </a:pPr>
            <a:r>
              <a:rPr sz="1650" b="0" i="0">
                <a:solidFill>
                  <a:srgbClr val="3C4E5E"/>
                </a:solidFill>
                <a:latin typeface="Calibri"/>
              </a:rPr>
              <a:t>You present at your station with a laptop and your one-page poster. Assessors circulate. Every team presents to at least four peer assessors across the two rounds. With about 10 teams, every team also gets a plenary slot.</a:t>
            </a:r>
          </a:p>
        </p:txBody>
      </p:sp>
      <p:sp>
        <p:nvSpPr>
          <p:cNvPr id="12" name="Rounded Rectangle 11"/>
          <p:cNvSpPr/>
          <p:nvPr/>
        </p:nvSpPr>
        <p:spPr>
          <a:xfrm>
            <a:off x="685800" y="4968638"/>
            <a:ext cx="10820095" cy="1322433"/>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42416" y="5538415"/>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54480" y="5087510"/>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Then the viva, the shortlist and the reflection</a:t>
            </a:r>
          </a:p>
        </p:txBody>
      </p:sp>
      <p:sp>
        <p:nvSpPr>
          <p:cNvPr id="15" name="TextBox 14"/>
          <p:cNvSpPr txBox="1"/>
          <p:nvPr/>
        </p:nvSpPr>
        <p:spPr>
          <a:xfrm>
            <a:off x="1554480" y="5480702"/>
            <a:ext cx="9631375" cy="718929"/>
          </a:xfrm>
          <a:prstGeom prst="rect">
            <a:avLst/>
          </a:prstGeom>
          <a:noFill/>
        </p:spPr>
        <p:txBody>
          <a:bodyPr wrap="square" lIns="0" rIns="0" tIns="0" bIns="0" anchor="t">
            <a:spAutoFit/>
          </a:bodyPr>
          <a:lstStyle/>
          <a:p>
            <a:pPr algn="l">
              <a:lnSpc>
                <a:spcPct val="116000"/>
              </a:lnSpc>
              <a:spcAft>
                <a:spcPts val="600"/>
              </a:spcAft>
            </a:pPr>
            <a:r>
              <a:rPr sz="1650" b="0" i="0">
                <a:solidFill>
                  <a:srgbClr val="3C4E5E"/>
                </a:solidFill>
                <a:latin typeface="Calibri"/>
              </a:rPr>
              <a:t>Thirty minutes of individual viva sampling runs alongside the fair. Twenty minutes of shortlisted demos and the recognitions. Twenty minutes of feedback, the Semester 2 preview, and your reflection handed 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THREE HOURS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today runs</a:t>
            </a:r>
          </a:p>
        </p:txBody>
      </p:sp>
      <p:pic>
        <p:nvPicPr>
          <p:cNvPr id="4" name="Picture 3" descr="clock_w15.png"/>
          <p:cNvPicPr>
            <a:picLocks noChangeAspect="1"/>
          </p:cNvPicPr>
          <p:nvPr/>
        </p:nvPicPr>
        <p:blipFill>
          <a:blip r:embed="rId2"/>
          <a:stretch>
            <a:fillRect/>
          </a:stretch>
        </p:blipFill>
        <p:spPr>
          <a:xfrm>
            <a:off x="963948" y="1911095"/>
            <a:ext cx="10263798"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Four blocks and no break. The fair runs for a hundred and thirty minutes and the viva sampling happens inside it, so keep your station staffed while your teammates circulate.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SIX DELIVERABLES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Due at the start of this session</a:t>
            </a:r>
          </a:p>
        </p:txBody>
      </p:sp>
      <p:sp>
        <p:nvSpPr>
          <p:cNvPr id="4" name="TextBox 3"/>
          <p:cNvSpPr txBox="1"/>
          <p:nvPr/>
        </p:nvSpPr>
        <p:spPr>
          <a:xfrm>
            <a:off x="685800"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1 · The repository URL</a:t>
            </a:r>
          </a:p>
        </p:txBody>
      </p:sp>
      <p:sp>
        <p:nvSpPr>
          <p:cNvPr id="5" name="TextBox 4"/>
          <p:cNvSpPr txBox="1"/>
          <p:nvPr/>
        </p:nvSpPr>
        <p:spPr>
          <a:xfrm>
            <a:off x="685800" y="2322358"/>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It must pass Restart and Run All from a clean clone. This is the submission surface, so a repository nobody can run cannot be marked for what it does.</a:t>
            </a:r>
          </a:p>
        </p:txBody>
      </p:sp>
      <p:sp>
        <p:nvSpPr>
          <p:cNvPr id="6" name="TextBox 5"/>
          <p:cNvSpPr txBox="1"/>
          <p:nvPr/>
        </p:nvSpPr>
        <p:spPr>
          <a:xfrm>
            <a:off x="685800" y="349962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2 · A two-page engineering brief</a:t>
            </a:r>
          </a:p>
        </p:txBody>
      </p:sp>
      <p:sp>
        <p:nvSpPr>
          <p:cNvPr id="7" name="TextBox 6"/>
          <p:cNvSpPr txBox="1"/>
          <p:nvPr/>
        </p:nvSpPr>
        <p:spPr>
          <a:xfrm>
            <a:off x="685800" y="3910886"/>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What problem, what data, what you did, what you found, what you recommend, and what the limitations are. Written for an engineer rather than for a marker.</a:t>
            </a:r>
          </a:p>
        </p:txBody>
      </p:sp>
      <p:sp>
        <p:nvSpPr>
          <p:cNvPr id="8" name="TextBox 7"/>
          <p:cNvSpPr txBox="1"/>
          <p:nvPr/>
        </p:nvSpPr>
        <p:spPr>
          <a:xfrm>
            <a:off x="685800" y="5088152"/>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3 · A one-page poster</a:t>
            </a:r>
          </a:p>
        </p:txBody>
      </p:sp>
      <p:sp>
        <p:nvSpPr>
          <p:cNvPr id="9" name="TextBox 8"/>
          <p:cNvSpPr txBox="1"/>
          <p:nvPr/>
        </p:nvSpPr>
        <p:spPr>
          <a:xfrm>
            <a:off x="685800" y="5499414"/>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For the station. Three or four charts, each captioned with its finding, and the recommendation in one sentence at the top.</a:t>
            </a:r>
          </a:p>
        </p:txBody>
      </p:sp>
      <p:sp>
        <p:nvSpPr>
          <p:cNvPr id="10" name="TextBox 9"/>
          <p:cNvSpPr txBox="1"/>
          <p:nvPr/>
        </p:nvSpPr>
        <p:spPr>
          <a:xfrm>
            <a:off x="6347307"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4 · An AI-use declaration</a:t>
            </a:r>
          </a:p>
        </p:txBody>
      </p:sp>
      <p:sp>
        <p:nvSpPr>
          <p:cNvPr id="11" name="TextBox 10"/>
          <p:cNvSpPr txBox="1"/>
          <p:nvPr/>
        </p:nvSpPr>
        <p:spPr>
          <a:xfrm>
            <a:off x="6347307" y="2322358"/>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What you asked, what came back, and what you did to check it. In the README as well as in the submission.</a:t>
            </a:r>
          </a:p>
        </p:txBody>
      </p:sp>
      <p:sp>
        <p:nvSpPr>
          <p:cNvPr id="12" name="TextBox 11"/>
          <p:cNvSpPr txBox="1"/>
          <p:nvPr/>
        </p:nvSpPr>
        <p:spPr>
          <a:xfrm>
            <a:off x="6347307" y="3201690"/>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5 · Your individual contribution log</a:t>
            </a:r>
          </a:p>
        </p:txBody>
      </p:sp>
      <p:sp>
        <p:nvSpPr>
          <p:cNvPr id="13" name="TextBox 12"/>
          <p:cNvSpPr txBox="1"/>
          <p:nvPr/>
        </p:nvSpPr>
        <p:spPr>
          <a:xfrm>
            <a:off x="6347307" y="3612952"/>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Per member, checkable against the commit history. This is how a team mark becomes an individual one.</a:t>
            </a:r>
          </a:p>
        </p:txBody>
      </p:sp>
      <p:sp>
        <p:nvSpPr>
          <p:cNvPr id="14" name="TextBox 13"/>
          <p:cNvSpPr txBox="1"/>
          <p:nvPr/>
        </p:nvSpPr>
        <p:spPr>
          <a:xfrm>
            <a:off x="6347307" y="449228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6 · A 500-word individual reflection</a:t>
            </a:r>
          </a:p>
        </p:txBody>
      </p:sp>
      <p:sp>
        <p:nvSpPr>
          <p:cNvPr id="15" name="TextBox 14"/>
          <p:cNvSpPr txBox="1"/>
          <p:nvPr/>
        </p:nvSpPr>
        <p:spPr>
          <a:xfrm>
            <a:off x="6347307" y="4903547"/>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Handed in at the end of the session. The prompt is later in this deck.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FAIR — 130 MINUTES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demo fair, two rounds</a:t>
            </a:r>
          </a:p>
        </p:txBody>
      </p:sp>
      <p:sp>
        <p:nvSpPr>
          <p:cNvPr id="4" name="TextBox 3"/>
          <p:cNvSpPr txBox="1"/>
          <p:nvPr/>
        </p:nvSpPr>
        <p:spPr>
          <a:xfrm>
            <a:off x="685800"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Your station</a:t>
            </a:r>
          </a:p>
        </p:txBody>
      </p:sp>
      <p:sp>
        <p:nvSpPr>
          <p:cNvPr id="5" name="TextBox 4"/>
          <p:cNvSpPr txBox="1"/>
          <p:nvPr/>
        </p:nvSpPr>
        <p:spPr>
          <a:xfrm>
            <a:off x="685800" y="2322358"/>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 table, power, a laptop showing your repository, and your poster. Assessors and peer assessors arrive in small groups.</a:t>
            </a:r>
          </a:p>
        </p:txBody>
      </p:sp>
      <p:sp>
        <p:nvSpPr>
          <p:cNvPr id="6" name="TextBox 5"/>
          <p:cNvSpPr txBox="1"/>
          <p:nvPr/>
        </p:nvSpPr>
        <p:spPr>
          <a:xfrm>
            <a:off x="685800" y="3201690"/>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Six minutes, four or five times</a:t>
            </a:r>
          </a:p>
        </p:txBody>
      </p:sp>
      <p:sp>
        <p:nvSpPr>
          <p:cNvPr id="7" name="TextBox 6"/>
          <p:cNvSpPr txBox="1"/>
          <p:nvPr/>
        </p:nvSpPr>
        <p:spPr>
          <a:xfrm>
            <a:off x="685800" y="3612952"/>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You will give roughly the same six minutes to each group that arrives. It gets better each time, which is part of why the format is a fair.</a:t>
            </a:r>
          </a:p>
        </p:txBody>
      </p:sp>
      <p:sp>
        <p:nvSpPr>
          <p:cNvPr id="8" name="TextBox 7"/>
          <p:cNvSpPr txBox="1"/>
          <p:nvPr/>
        </p:nvSpPr>
        <p:spPr>
          <a:xfrm>
            <a:off x="685800" y="4790218"/>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Rotate your team between the two rounds</a:t>
            </a:r>
          </a:p>
        </p:txBody>
      </p:sp>
      <p:sp>
        <p:nvSpPr>
          <p:cNvPr id="9" name="TextBox 8"/>
          <p:cNvSpPr txBox="1"/>
          <p:nvPr/>
        </p:nvSpPr>
        <p:spPr>
          <a:xfrm>
            <a:off x="685800" y="5201480"/>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One person on the station at all times. Everybody else circulates and peer-assesses. Decide the rotation before you arrive.</a:t>
            </a:r>
          </a:p>
        </p:txBody>
      </p:sp>
      <p:sp>
        <p:nvSpPr>
          <p:cNvPr id="10" name="TextBox 9"/>
          <p:cNvSpPr txBox="1"/>
          <p:nvPr/>
        </p:nvSpPr>
        <p:spPr>
          <a:xfrm>
            <a:off x="6347307"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Your audience is mixed</a:t>
            </a:r>
          </a:p>
        </p:txBody>
      </p:sp>
      <p:sp>
        <p:nvSpPr>
          <p:cNvPr id="11" name="TextBox 10"/>
          <p:cNvSpPr txBox="1"/>
          <p:nvPr/>
        </p:nvSpPr>
        <p:spPr>
          <a:xfrm>
            <a:off x="6347307" y="2322358"/>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Faculty staff from other disciplines, an external engineer, and students from the other programmes in your cohort. Nobody knows your dataset.</a:t>
            </a:r>
          </a:p>
        </p:txBody>
      </p:sp>
      <p:sp>
        <p:nvSpPr>
          <p:cNvPr id="12" name="TextBox 11"/>
          <p:cNvSpPr txBox="1"/>
          <p:nvPr/>
        </p:nvSpPr>
        <p:spPr>
          <a:xfrm>
            <a:off x="6347307" y="3499624"/>
            <a:ext cx="5158587" cy="749373"/>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Which means you have thirty seconds to land the problem</a:t>
            </a:r>
          </a:p>
        </p:txBody>
      </p:sp>
      <p:sp>
        <p:nvSpPr>
          <p:cNvPr id="13" name="TextBox 12"/>
          <p:cNvSpPr txBox="1"/>
          <p:nvPr/>
        </p:nvSpPr>
        <p:spPr>
          <a:xfrm>
            <a:off x="6347307" y="4258141"/>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Say what problem you took on and who has it, before any method. If the problem does not land, nothing after it will.</a:t>
            </a:r>
          </a:p>
        </p:txBody>
      </p:sp>
      <p:sp>
        <p:nvSpPr>
          <p:cNvPr id="14" name="TextBox 13"/>
          <p:cNvSpPr txBox="1"/>
          <p:nvPr/>
        </p:nvSpPr>
        <p:spPr>
          <a:xfrm>
            <a:off x="6347307" y="5137472"/>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Have the notebook open, at the result</a:t>
            </a:r>
          </a:p>
        </p:txBody>
      </p:sp>
      <p:sp>
        <p:nvSpPr>
          <p:cNvPr id="15" name="TextBox 14"/>
          <p:cNvSpPr txBox="1"/>
          <p:nvPr/>
        </p:nvSpPr>
        <p:spPr>
          <a:xfrm>
            <a:off x="6347307" y="5548735"/>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Every serious question gets answered by pointing at a number. Hunting through cells while somebody waits costs you the room.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WORKED EXAMPLE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Your six minutes at the station</a:t>
            </a:r>
          </a:p>
        </p:txBody>
      </p:sp>
      <p:sp>
        <p:nvSpPr>
          <p:cNvPr id="4" name="TextBox 3"/>
          <p:cNvSpPr txBox="1"/>
          <p:nvPr/>
        </p:nvSpPr>
        <p:spPr>
          <a:xfrm>
            <a:off x="685800" y="1911095"/>
            <a:ext cx="10820095" cy="410625"/>
          </a:xfrm>
          <a:prstGeom prst="rect">
            <a:avLst/>
          </a:prstGeom>
          <a:noFill/>
        </p:spPr>
        <p:txBody>
          <a:bodyPr wrap="square" lIns="0" rIns="0" tIns="0" bIns="0" anchor="t">
            <a:spAutoFit/>
          </a:bodyPr>
          <a:lstStyle/>
          <a:p>
            <a:pPr algn="l">
              <a:lnSpc>
                <a:spcPct val="120000"/>
              </a:lnSpc>
              <a:spcAft>
                <a:spcPts val="600"/>
              </a:spcAft>
            </a:pPr>
            <a:r>
              <a:rPr sz="1873" b="0" i="0">
                <a:solidFill>
                  <a:srgbClr val="334657"/>
                </a:solidFill>
                <a:latin typeface="Calibri"/>
              </a:rPr>
              <a:t>The order that works with a mixed audience. Rehearse it once with a stopwatch before you arrive.</a:t>
            </a:r>
          </a:p>
        </p:txBody>
      </p:sp>
      <p:sp>
        <p:nvSpPr>
          <p:cNvPr id="5" name="Rounded Rectangle 4"/>
          <p:cNvSpPr/>
          <p:nvPr/>
        </p:nvSpPr>
        <p:spPr>
          <a:xfrm>
            <a:off x="685800" y="2376585"/>
            <a:ext cx="10820095" cy="65525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05256" y="243144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7" name="TextBox 6"/>
          <p:cNvSpPr txBox="1"/>
          <p:nvPr/>
        </p:nvSpPr>
        <p:spPr>
          <a:xfrm>
            <a:off x="1435607" y="2422305"/>
            <a:ext cx="9814255" cy="563816"/>
          </a:xfrm>
          <a:prstGeom prst="rect">
            <a:avLst/>
          </a:prstGeom>
          <a:noFill/>
        </p:spPr>
        <p:txBody>
          <a:bodyPr wrap="square" lIns="0" rIns="0" tIns="0" bIns="0" anchor="t">
            <a:spAutoFit/>
          </a:bodyPr>
          <a:lstStyle/>
          <a:p>
            <a:pPr algn="l">
              <a:lnSpc>
                <a:spcPct val="116000"/>
              </a:lnSpc>
              <a:spcAft>
                <a:spcPts val="600"/>
              </a:spcAft>
            </a:pPr>
            <a:r>
              <a:rPr sz="1386" b="0" i="0">
                <a:solidFill>
                  <a:srgbClr val="1C3144"/>
                </a:solidFill>
                <a:latin typeface="Calibri"/>
              </a:rPr>
              <a:t>Thirty seconds: the problem and who has it. 'A precast yard rejects one panel in twelve at the 7-day test, and by then the panel is cast.' No method yet.</a:t>
            </a:r>
          </a:p>
        </p:txBody>
      </p:sp>
      <p:sp>
        <p:nvSpPr>
          <p:cNvPr id="8" name="Rounded Rectangle 7"/>
          <p:cNvSpPr/>
          <p:nvPr/>
        </p:nvSpPr>
        <p:spPr>
          <a:xfrm>
            <a:off x="685800" y="3086706"/>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314157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10" name="TextBox 9"/>
          <p:cNvSpPr txBox="1"/>
          <p:nvPr/>
        </p:nvSpPr>
        <p:spPr>
          <a:xfrm>
            <a:off x="1435607" y="3132426"/>
            <a:ext cx="9814255" cy="310896"/>
          </a:xfrm>
          <a:prstGeom prst="rect">
            <a:avLst/>
          </a:prstGeom>
          <a:noFill/>
        </p:spPr>
        <p:txBody>
          <a:bodyPr wrap="square" lIns="0" rIns="0" tIns="0" bIns="0" anchor="t">
            <a:spAutoFit/>
          </a:bodyPr>
          <a:lstStyle/>
          <a:p>
            <a:pPr algn="l">
              <a:lnSpc>
                <a:spcPct val="116000"/>
              </a:lnSpc>
              <a:spcAft>
                <a:spcPts val="600"/>
              </a:spcAft>
            </a:pPr>
            <a:r>
              <a:rPr sz="1386" b="0" i="0">
                <a:solidFill>
                  <a:srgbClr val="1C3144"/>
                </a:solidFill>
                <a:latin typeface="Calibri"/>
              </a:rPr>
              <a:t>Thirty seconds: the data. Where it came from, how many rows, and one honest sentence about what is wrong with it.</a:t>
            </a:r>
          </a:p>
        </p:txBody>
      </p:sp>
      <p:sp>
        <p:nvSpPr>
          <p:cNvPr id="11" name="Rounded Rectangle 10"/>
          <p:cNvSpPr/>
          <p:nvPr/>
        </p:nvSpPr>
        <p:spPr>
          <a:xfrm>
            <a:off x="685800" y="3543906"/>
            <a:ext cx="10820095" cy="65525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05256" y="359877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13" name="TextBox 12"/>
          <p:cNvSpPr txBox="1"/>
          <p:nvPr/>
        </p:nvSpPr>
        <p:spPr>
          <a:xfrm>
            <a:off x="1435607" y="3589626"/>
            <a:ext cx="9814255" cy="563816"/>
          </a:xfrm>
          <a:prstGeom prst="rect">
            <a:avLst/>
          </a:prstGeom>
          <a:noFill/>
        </p:spPr>
        <p:txBody>
          <a:bodyPr wrap="square" lIns="0" rIns="0" tIns="0" bIns="0" anchor="t">
            <a:spAutoFit/>
          </a:bodyPr>
          <a:lstStyle/>
          <a:p>
            <a:pPr algn="l">
              <a:lnSpc>
                <a:spcPct val="116000"/>
              </a:lnSpc>
              <a:spcAft>
                <a:spcPts val="600"/>
              </a:spcAft>
            </a:pPr>
            <a:r>
              <a:rPr sz="1386" b="0" i="0">
                <a:solidFill>
                  <a:srgbClr val="1C3144"/>
                </a:solidFill>
                <a:latin typeface="Calibri"/>
              </a:rPr>
              <a:t>Ninety seconds: what you did, at the level of decisions rather than code. The features you built and why, the models you compared, and the protocol you held constant.</a:t>
            </a:r>
          </a:p>
        </p:txBody>
      </p:sp>
      <p:sp>
        <p:nvSpPr>
          <p:cNvPr id="14" name="Rounded Rectangle 13"/>
          <p:cNvSpPr/>
          <p:nvPr/>
        </p:nvSpPr>
        <p:spPr>
          <a:xfrm>
            <a:off x="685800" y="425402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30889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6" name="TextBox 15"/>
          <p:cNvSpPr txBox="1"/>
          <p:nvPr/>
        </p:nvSpPr>
        <p:spPr>
          <a:xfrm>
            <a:off x="1435607" y="4299747"/>
            <a:ext cx="9814255" cy="310896"/>
          </a:xfrm>
          <a:prstGeom prst="rect">
            <a:avLst/>
          </a:prstGeom>
          <a:noFill/>
        </p:spPr>
        <p:txBody>
          <a:bodyPr wrap="square" lIns="0" rIns="0" tIns="0" bIns="0" anchor="t">
            <a:spAutoFit/>
          </a:bodyPr>
          <a:lstStyle/>
          <a:p>
            <a:pPr algn="l">
              <a:lnSpc>
                <a:spcPct val="116000"/>
              </a:lnSpc>
              <a:spcAft>
                <a:spcPts val="600"/>
              </a:spcAft>
            </a:pPr>
            <a:r>
              <a:rPr sz="1386" b="0" i="0">
                <a:solidFill>
                  <a:srgbClr val="1C3144"/>
                </a:solidFill>
                <a:latin typeface="Calibri"/>
              </a:rPr>
              <a:t>Ninety seconds: the result, in units, with its spread. Point at the number on the screen as you say it.</a:t>
            </a:r>
          </a:p>
        </p:txBody>
      </p:sp>
      <p:sp>
        <p:nvSpPr>
          <p:cNvPr id="17" name="Rounded Rectangle 16"/>
          <p:cNvSpPr/>
          <p:nvPr/>
        </p:nvSpPr>
        <p:spPr>
          <a:xfrm>
            <a:off x="685800" y="471122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05256" y="476609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9" name="TextBox 18"/>
          <p:cNvSpPr txBox="1"/>
          <p:nvPr/>
        </p:nvSpPr>
        <p:spPr>
          <a:xfrm>
            <a:off x="1435607" y="4756947"/>
            <a:ext cx="9814255" cy="310896"/>
          </a:xfrm>
          <a:prstGeom prst="rect">
            <a:avLst/>
          </a:prstGeom>
          <a:noFill/>
        </p:spPr>
        <p:txBody>
          <a:bodyPr wrap="square" lIns="0" rIns="0" tIns="0" bIns="0" anchor="t">
            <a:spAutoFit/>
          </a:bodyPr>
          <a:lstStyle/>
          <a:p>
            <a:pPr algn="l">
              <a:lnSpc>
                <a:spcPct val="116000"/>
              </a:lnSpc>
              <a:spcAft>
                <a:spcPts val="600"/>
              </a:spcAft>
            </a:pPr>
            <a:r>
              <a:rPr sz="1386" b="0" i="0">
                <a:solidFill>
                  <a:srgbClr val="1C3144"/>
                </a:solidFill>
                <a:latin typeface="Calibri"/>
              </a:rPr>
              <a:t>Sixty seconds: the limitations and the conditions of use. What your model cannot do, and what change would require a refit.</a:t>
            </a:r>
          </a:p>
        </p:txBody>
      </p:sp>
      <p:sp>
        <p:nvSpPr>
          <p:cNvPr id="20" name="Rounded Rectangle 19"/>
          <p:cNvSpPr/>
          <p:nvPr/>
        </p:nvSpPr>
        <p:spPr>
          <a:xfrm>
            <a:off x="685800" y="516842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05256" y="522329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22" name="TextBox 21"/>
          <p:cNvSpPr txBox="1"/>
          <p:nvPr/>
        </p:nvSpPr>
        <p:spPr>
          <a:xfrm>
            <a:off x="1435607" y="5214147"/>
            <a:ext cx="9814255" cy="310896"/>
          </a:xfrm>
          <a:prstGeom prst="rect">
            <a:avLst/>
          </a:prstGeom>
          <a:noFill/>
        </p:spPr>
        <p:txBody>
          <a:bodyPr wrap="square" lIns="0" rIns="0" tIns="0" bIns="0" anchor="t">
            <a:spAutoFit/>
          </a:bodyPr>
          <a:lstStyle/>
          <a:p>
            <a:pPr algn="l">
              <a:lnSpc>
                <a:spcPct val="116000"/>
              </a:lnSpc>
              <a:spcAft>
                <a:spcPts val="600"/>
              </a:spcAft>
            </a:pPr>
            <a:r>
              <a:rPr sz="1386" b="0" i="0">
                <a:solidFill>
                  <a:srgbClr val="1C3144"/>
                </a:solidFill>
                <a:latin typeface="Calibri"/>
              </a:rPr>
              <a:t>Sixty seconds: the recommendation, in one sentence, and then stop talking and take questions.</a:t>
            </a:r>
          </a:p>
        </p:txBody>
      </p:sp>
      <p:sp>
        <p:nvSpPr>
          <p:cNvPr id="23" name="Rounded Rectangle 22"/>
          <p:cNvSpPr/>
          <p:nvPr/>
        </p:nvSpPr>
        <p:spPr>
          <a:xfrm>
            <a:off x="685800" y="5680491"/>
            <a:ext cx="10820095" cy="992912"/>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5817651"/>
            <a:ext cx="10234879" cy="718592"/>
          </a:xfrm>
          <a:prstGeom prst="rect">
            <a:avLst/>
          </a:prstGeom>
          <a:noFill/>
        </p:spPr>
        <p:txBody>
          <a:bodyPr wrap="square" lIns="0" rIns="0" tIns="0" bIns="0" anchor="t">
            <a:spAutoFit/>
          </a:bodyPr>
          <a:lstStyle/>
          <a:p>
            <a:pPr algn="l">
              <a:lnSpc>
                <a:spcPct val="118000"/>
              </a:lnSpc>
              <a:spcAft>
                <a:spcPts val="600"/>
              </a:spcAft>
            </a:pPr>
            <a:r>
              <a:rPr sz="2021" b="1" i="0">
                <a:solidFill>
                  <a:srgbClr val="FFFFFF"/>
                </a:solidFill>
                <a:latin typeface="Calibri"/>
              </a:rPr>
              <a:t>Steps 1 and 5 are the two that distinguish the demos people remember. Rehearse those two sentences until they are exact.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PROJECT RUBRIC, OUT OF 100</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the assessors are looking for</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Problem definition — 15 marks</a:t>
            </a:r>
          </a:p>
        </p:txBody>
      </p:sp>
      <p:sp>
        <p:nvSpPr>
          <p:cNvPr id="5" name="TextBox 4"/>
          <p:cNvSpPr txBox="1"/>
          <p:nvPr/>
        </p:nvSpPr>
        <p:spPr>
          <a:xfrm>
            <a:off x="685800"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 real engineering problem, named clearly, with the decision it supports.</a:t>
            </a:r>
          </a:p>
        </p:txBody>
      </p:sp>
      <p:sp>
        <p:nvSpPr>
          <p:cNvPr id="6" name="TextBox 5"/>
          <p:cNvSpPr txBox="1"/>
          <p:nvPr/>
        </p:nvSpPr>
        <p:spPr>
          <a:xfrm>
            <a:off x="685800" y="3309683"/>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Data understanding — 15</a:t>
            </a:r>
          </a:p>
        </p:txBody>
      </p:sp>
      <p:sp>
        <p:nvSpPr>
          <p:cNvPr id="7" name="TextBox 6"/>
          <p:cNvSpPr txBox="1"/>
          <p:nvPr/>
        </p:nvSpPr>
        <p:spPr>
          <a:xfrm>
            <a:off x="685800" y="3751217"/>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know what is wrong with your data and you say so before being asked.</a:t>
            </a:r>
          </a:p>
        </p:txBody>
      </p:sp>
      <p:sp>
        <p:nvSpPr>
          <p:cNvPr id="8" name="TextBox 7"/>
          <p:cNvSpPr txBox="1"/>
          <p:nvPr/>
        </p:nvSpPr>
        <p:spPr>
          <a:xfrm>
            <a:off x="685800" y="4708270"/>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Methodology — 20</a:t>
            </a:r>
          </a:p>
        </p:txBody>
      </p:sp>
      <p:sp>
        <p:nvSpPr>
          <p:cNvPr id="9" name="TextBox 8"/>
          <p:cNvSpPr txBox="1"/>
          <p:nvPr/>
        </p:nvSpPr>
        <p:spPr>
          <a:xfrm>
            <a:off x="685800" y="5149804"/>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 protocol somebody could repeat, and choices that follow from the problem.</a:t>
            </a:r>
          </a:p>
        </p:txBody>
      </p:sp>
      <p:sp>
        <p:nvSpPr>
          <p:cNvPr id="10" name="TextBox 9"/>
          <p:cNvSpPr txBox="1"/>
          <p:nvPr/>
        </p:nvSpPr>
        <p:spPr>
          <a:xfrm>
            <a:off x="6347307"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Engineering reasoning — 20</a:t>
            </a:r>
          </a:p>
        </p:txBody>
      </p:sp>
      <p:sp>
        <p:nvSpPr>
          <p:cNvPr id="11" name="TextBox 10"/>
          <p:cNvSpPr txBox="1"/>
          <p:nvPr/>
        </p:nvSpPr>
        <p:spPr>
          <a:xfrm>
            <a:off x="6347307"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Features built from physics, trades named and quantified, and limits that come from your own data.</a:t>
            </a:r>
          </a:p>
        </p:txBody>
      </p:sp>
      <p:sp>
        <p:nvSpPr>
          <p:cNvPr id="12" name="TextBox 11"/>
          <p:cNvSpPr txBox="1"/>
          <p:nvPr/>
        </p:nvSpPr>
        <p:spPr>
          <a:xfrm>
            <a:off x="6347307" y="3309683"/>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Validation — 15</a:t>
            </a:r>
          </a:p>
        </p:txBody>
      </p:sp>
      <p:sp>
        <p:nvSpPr>
          <p:cNvPr id="13" name="TextBox 12"/>
          <p:cNvSpPr txBox="1"/>
          <p:nvPr/>
        </p:nvSpPr>
        <p:spPr>
          <a:xfrm>
            <a:off x="6347307" y="3751217"/>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Honest evaluation, a metric justified by a consequence, and no leakage.</a:t>
            </a:r>
          </a:p>
        </p:txBody>
      </p:sp>
      <p:sp>
        <p:nvSpPr>
          <p:cNvPr id="14" name="TextBox 13"/>
          <p:cNvSpPr txBox="1"/>
          <p:nvPr/>
        </p:nvSpPr>
        <p:spPr>
          <a:xfrm>
            <a:off x="6347307" y="4708270"/>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Communication — 10 · Reproducibility — 5</a:t>
            </a:r>
          </a:p>
        </p:txBody>
      </p:sp>
      <p:sp>
        <p:nvSpPr>
          <p:cNvPr id="15" name="TextBox 14"/>
          <p:cNvSpPr txBox="1"/>
          <p:nvPr/>
        </p:nvSpPr>
        <p:spPr>
          <a:xfrm>
            <a:off x="6347307" y="5149804"/>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The brief, the poster and the captions. And a repository a stranger can clone and run.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PEER ASSESSMENT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Peer assessment — how to mark another team</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You assess at least four teams</a:t>
            </a:r>
          </a:p>
        </p:txBody>
      </p:sp>
      <p:sp>
        <p:nvSpPr>
          <p:cNvPr id="5" name="TextBox 4"/>
          <p:cNvSpPr txBox="1"/>
          <p:nvPr/>
        </p:nvSpPr>
        <p:spPr>
          <a:xfrm>
            <a:off x="685800" y="2352629"/>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One form each, filled in at their station. Your marks are advisory and I moderate them, so they are never used raw.</a:t>
            </a:r>
          </a:p>
        </p:txBody>
      </p:sp>
      <p:sp>
        <p:nvSpPr>
          <p:cNvPr id="6" name="TextBox 5"/>
          <p:cNvSpPr txBox="1"/>
          <p:nvPr/>
        </p:nvSpPr>
        <p:spPr>
          <a:xfrm>
            <a:off x="685800" y="3646478"/>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Mark against the rubric on the form</a:t>
            </a:r>
          </a:p>
        </p:txBody>
      </p:sp>
      <p:sp>
        <p:nvSpPr>
          <p:cNvPr id="7" name="TextBox 6"/>
          <p:cNvSpPr txBox="1"/>
          <p:nvPr/>
        </p:nvSpPr>
        <p:spPr>
          <a:xfrm>
            <a:off x="685800" y="4088012"/>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The same seven criteria the assessors use. A team that made a different defensible choice from yours has not made an error.</a:t>
            </a:r>
          </a:p>
        </p:txBody>
      </p:sp>
      <p:sp>
        <p:nvSpPr>
          <p:cNvPr id="8" name="TextBox 7"/>
          <p:cNvSpPr txBox="1"/>
          <p:nvPr/>
        </p:nvSpPr>
        <p:spPr>
          <a:xfrm>
            <a:off x="685800" y="5381860"/>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Justify every mark you award</a:t>
            </a:r>
          </a:p>
        </p:txBody>
      </p:sp>
      <p:sp>
        <p:nvSpPr>
          <p:cNvPr id="9" name="TextBox 8"/>
          <p:cNvSpPr txBox="1"/>
          <p:nvPr/>
        </p:nvSpPr>
        <p:spPr>
          <a:xfrm>
            <a:off x="685800" y="5823394"/>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One line per criterion, naming what you saw. A mark with no justification is discarded.</a:t>
            </a:r>
          </a:p>
        </p:txBody>
      </p:sp>
      <p:sp>
        <p:nvSpPr>
          <p:cNvPr id="10" name="TextBox 9"/>
          <p:cNvSpPr txBox="1"/>
          <p:nvPr/>
        </p:nvSpPr>
        <p:spPr>
          <a:xfrm>
            <a:off x="6347307"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Ask one question before you mark</a:t>
            </a:r>
          </a:p>
        </p:txBody>
      </p:sp>
      <p:sp>
        <p:nvSpPr>
          <p:cNvPr id="11" name="TextBox 10"/>
          <p:cNvSpPr txBox="1"/>
          <p:nvPr/>
        </p:nvSpPr>
        <p:spPr>
          <a:xfrm>
            <a:off x="6347307" y="2352629"/>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'What would change your recommendation?' is the most useful single question, and the answer tells you most of what you need for the reasoning criterion.</a:t>
            </a:r>
          </a:p>
        </p:txBody>
      </p:sp>
      <p:sp>
        <p:nvSpPr>
          <p:cNvPr id="12" name="TextBox 11"/>
          <p:cNvSpPr txBox="1"/>
          <p:nvPr/>
        </p:nvSpPr>
        <p:spPr>
          <a:xfrm>
            <a:off x="6347307" y="3646478"/>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Marking generously helps nobody</a:t>
            </a:r>
          </a:p>
        </p:txBody>
      </p:sp>
      <p:sp>
        <p:nvSpPr>
          <p:cNvPr id="13" name="TextBox 12"/>
          <p:cNvSpPr txBox="1"/>
          <p:nvPr/>
        </p:nvSpPr>
        <p:spPr>
          <a:xfrm>
            <a:off x="6347307" y="4088012"/>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 form where every team scores 95 carries no information and is dropped. Use the range.</a:t>
            </a:r>
          </a:p>
        </p:txBody>
      </p:sp>
      <p:sp>
        <p:nvSpPr>
          <p:cNvPr id="14" name="TextBox 13"/>
          <p:cNvSpPr txBox="1"/>
          <p:nvPr/>
        </p:nvSpPr>
        <p:spPr>
          <a:xfrm>
            <a:off x="6347307" y="504506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And expect to learn from it</a:t>
            </a:r>
          </a:p>
        </p:txBody>
      </p:sp>
      <p:sp>
        <p:nvSpPr>
          <p:cNvPr id="15" name="TextBox 14"/>
          <p:cNvSpPr txBox="1"/>
          <p:nvPr/>
        </p:nvSpPr>
        <p:spPr>
          <a:xfrm>
            <a:off x="6347307" y="5486599"/>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Most students find a defect in their own project while assessing somebody else's. That is the intended outcome, the same as in Week 13.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MECHANISM THAT MAKES IT INDIVIDUAL</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individual viva</a:t>
            </a:r>
          </a:p>
        </p:txBody>
      </p:sp>
      <p:sp>
        <p:nvSpPr>
          <p:cNvPr id="4" name="TextBox 3"/>
          <p:cNvSpPr txBox="1"/>
          <p:nvPr/>
        </p:nvSpPr>
        <p:spPr>
          <a:xfrm>
            <a:off x="685800" y="1911095"/>
            <a:ext cx="5158587" cy="702546"/>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Two questions, ninety seconds each, about your own repository</a:t>
            </a:r>
          </a:p>
        </p:txBody>
      </p:sp>
      <p:sp>
        <p:nvSpPr>
          <p:cNvPr id="5" name="TextBox 4"/>
          <p:cNvSpPr txBox="1"/>
          <p:nvPr/>
        </p:nvSpPr>
        <p:spPr>
          <a:xfrm>
            <a:off x="685800" y="2622786"/>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Asked at your station at some point during the fair. You will not know in advance which two you get.</a:t>
            </a:r>
          </a:p>
        </p:txBody>
      </p:sp>
      <p:sp>
        <p:nvSpPr>
          <p:cNvPr id="6" name="TextBox 5"/>
          <p:cNvSpPr txBox="1"/>
          <p:nvPr/>
        </p:nvSpPr>
        <p:spPr>
          <a:xfrm>
            <a:off x="685800" y="3450303"/>
            <a:ext cx="5158587" cy="702546"/>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Every student is asked, and it is recorded on a tally sheet</a:t>
            </a:r>
          </a:p>
        </p:txBody>
      </p:sp>
      <p:sp>
        <p:nvSpPr>
          <p:cNvPr id="7" name="TextBox 6"/>
          <p:cNvSpPr txBox="1"/>
          <p:nvPr/>
        </p:nvSpPr>
        <p:spPr>
          <a:xfrm>
            <a:off x="685800" y="4161993"/>
            <a:ext cx="5158587" cy="870943"/>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This is the mechanism that turns a team mark into an individual one. Sixty-five per cent of your semester mark is individual, and this is part of it.</a:t>
            </a:r>
          </a:p>
        </p:txBody>
      </p:sp>
      <p:sp>
        <p:nvSpPr>
          <p:cNvPr id="8" name="TextBox 7"/>
          <p:cNvSpPr txBox="1"/>
          <p:nvPr/>
        </p:nvSpPr>
        <p:spPr>
          <a:xfrm>
            <a:off x="685800" y="5261536"/>
            <a:ext cx="5158587" cy="702546"/>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The questions are about your repository rather than about the topic</a:t>
            </a:r>
          </a:p>
        </p:txBody>
      </p:sp>
      <p:sp>
        <p:nvSpPr>
          <p:cNvPr id="9" name="TextBox 8"/>
          <p:cNvSpPr txBox="1"/>
          <p:nvPr/>
        </p:nvSpPr>
        <p:spPr>
          <a:xfrm>
            <a:off x="685800" y="5973227"/>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Nobody will ask you to define cross-validation. You will be asked what your own notebook does at a particular point, and why.</a:t>
            </a:r>
          </a:p>
        </p:txBody>
      </p:sp>
      <p:sp>
        <p:nvSpPr>
          <p:cNvPr id="10" name="TextBox 9"/>
          <p:cNvSpPr txBox="1"/>
          <p:nvPr/>
        </p:nvSpPr>
        <p:spPr>
          <a:xfrm>
            <a:off x="6347307"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No tools, no notes, no help from your team</a:t>
            </a:r>
          </a:p>
        </p:txBody>
      </p:sp>
      <p:sp>
        <p:nvSpPr>
          <p:cNvPr id="11" name="TextBox 10"/>
          <p:cNvSpPr txBox="1"/>
          <p:nvPr/>
        </p:nvSpPr>
        <p:spPr>
          <a:xfrm>
            <a:off x="6347307" y="2298945"/>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You may open your own repository and point at it. That is encouraged.</a:t>
            </a:r>
          </a:p>
        </p:txBody>
      </p:sp>
      <p:sp>
        <p:nvSpPr>
          <p:cNvPr id="12" name="TextBox 11"/>
          <p:cNvSpPr txBox="1"/>
          <p:nvPr/>
        </p:nvSpPr>
        <p:spPr>
          <a:xfrm>
            <a:off x="6347307" y="3126462"/>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Which is why the AI-use declaration matters</a:t>
            </a:r>
          </a:p>
        </p:txBody>
      </p:sp>
      <p:sp>
        <p:nvSpPr>
          <p:cNvPr id="13" name="TextBox 12"/>
          <p:cNvSpPr txBox="1"/>
          <p:nvPr/>
        </p:nvSpPr>
        <p:spPr>
          <a:xfrm>
            <a:off x="6347307" y="3514311"/>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Anything in your repository that nobody on the team can explain is exactly where these questions land.</a:t>
            </a:r>
          </a:p>
        </p:txBody>
      </p:sp>
      <p:sp>
        <p:nvSpPr>
          <p:cNvPr id="14" name="TextBox 13"/>
          <p:cNvSpPr txBox="1"/>
          <p:nvPr/>
        </p:nvSpPr>
        <p:spPr>
          <a:xfrm>
            <a:off x="6347307" y="4341828"/>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And why the contribution log matters</a:t>
            </a:r>
          </a:p>
        </p:txBody>
      </p:sp>
      <p:sp>
        <p:nvSpPr>
          <p:cNvPr id="15" name="TextBox 14"/>
          <p:cNvSpPr txBox="1"/>
          <p:nvPr/>
        </p:nvSpPr>
        <p:spPr>
          <a:xfrm>
            <a:off x="6347307" y="4729677"/>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You are asked about the part you did. A log that matches the commit history means the questions you get are the ones you can answer.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VIVA BANK</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Ten of the twenty questions you could be asked</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36619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Point at the line in your notebook where the train/test split happens. Why is it there and not earlier?</a:t>
            </a:r>
          </a:p>
        </p:txBody>
      </p:sp>
      <p:sp>
        <p:nvSpPr>
          <p:cNvPr id="6" name="Oval 5"/>
          <p:cNvSpPr/>
          <p:nvPr/>
        </p:nvSpPr>
        <p:spPr>
          <a:xfrm>
            <a:off x="685800" y="2368731"/>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332155"/>
            <a:ext cx="10134295" cy="36619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Which feature in your model did the most work, and how do you know?</a:t>
            </a:r>
          </a:p>
        </p:txBody>
      </p:sp>
      <p:sp>
        <p:nvSpPr>
          <p:cNvPr id="8" name="Oval 7"/>
          <p:cNvSpPr/>
          <p:nvPr/>
        </p:nvSpPr>
        <p:spPr>
          <a:xfrm>
            <a:off x="685800" y="2789791"/>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2753215"/>
            <a:ext cx="10134295" cy="36619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Name one feature your team built that turned out not to help. What was the number?</a:t>
            </a:r>
          </a:p>
        </p:txBody>
      </p:sp>
      <p:sp>
        <p:nvSpPr>
          <p:cNvPr id="10" name="Oval 9"/>
          <p:cNvSpPr/>
          <p:nvPr/>
        </p:nvSpPr>
        <p:spPr>
          <a:xfrm>
            <a:off x="685800" y="3210851"/>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1" name="TextBox 10"/>
          <p:cNvSpPr txBox="1"/>
          <p:nvPr/>
        </p:nvSpPr>
        <p:spPr>
          <a:xfrm>
            <a:off x="1216152" y="3174275"/>
            <a:ext cx="10134295" cy="36619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What metric did you report, and what consequence chose it?</a:t>
            </a:r>
          </a:p>
        </p:txBody>
      </p:sp>
      <p:sp>
        <p:nvSpPr>
          <p:cNvPr id="12" name="Oval 11"/>
          <p:cNvSpPr/>
          <p:nvPr/>
        </p:nvSpPr>
        <p:spPr>
          <a:xfrm>
            <a:off x="685800" y="3631911"/>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3" name="TextBox 12"/>
          <p:cNvSpPr txBox="1"/>
          <p:nvPr/>
        </p:nvSpPr>
        <p:spPr>
          <a:xfrm>
            <a:off x="1216152" y="3595335"/>
            <a:ext cx="10134295" cy="36619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How much does your headline number move between cross-validation folds?</a:t>
            </a:r>
          </a:p>
        </p:txBody>
      </p:sp>
      <p:sp>
        <p:nvSpPr>
          <p:cNvPr id="14" name="Oval 13"/>
          <p:cNvSpPr/>
          <p:nvPr/>
        </p:nvSpPr>
        <p:spPr>
          <a:xfrm>
            <a:off x="685800" y="4052971"/>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a:t>
            </a:r>
          </a:p>
        </p:txBody>
      </p:sp>
      <p:sp>
        <p:nvSpPr>
          <p:cNvPr id="15" name="TextBox 14"/>
          <p:cNvSpPr txBox="1"/>
          <p:nvPr/>
        </p:nvSpPr>
        <p:spPr>
          <a:xfrm>
            <a:off x="1216152" y="4016395"/>
            <a:ext cx="10134295" cy="36619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Where could your pipeline leak, and how did you rule it out?</a:t>
            </a:r>
          </a:p>
        </p:txBody>
      </p:sp>
      <p:sp>
        <p:nvSpPr>
          <p:cNvPr id="16" name="Oval 15"/>
          <p:cNvSpPr/>
          <p:nvPr/>
        </p:nvSpPr>
        <p:spPr>
          <a:xfrm>
            <a:off x="685800" y="4474031"/>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G</a:t>
            </a:r>
          </a:p>
        </p:txBody>
      </p:sp>
      <p:sp>
        <p:nvSpPr>
          <p:cNvPr id="17" name="TextBox 16"/>
          <p:cNvSpPr txBox="1"/>
          <p:nvPr/>
        </p:nvSpPr>
        <p:spPr>
          <a:xfrm>
            <a:off x="1216152" y="4437455"/>
            <a:ext cx="10134295" cy="36619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What does your model return for an input outside the range it was trained on?</a:t>
            </a:r>
          </a:p>
        </p:txBody>
      </p:sp>
      <p:sp>
        <p:nvSpPr>
          <p:cNvPr id="18" name="Oval 17"/>
          <p:cNvSpPr/>
          <p:nvPr/>
        </p:nvSpPr>
        <p:spPr>
          <a:xfrm>
            <a:off x="685800" y="4895091"/>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H</a:t>
            </a:r>
          </a:p>
        </p:txBody>
      </p:sp>
      <p:sp>
        <p:nvSpPr>
          <p:cNvPr id="19" name="TextBox 18"/>
          <p:cNvSpPr txBox="1"/>
          <p:nvPr/>
        </p:nvSpPr>
        <p:spPr>
          <a:xfrm>
            <a:off x="1216152" y="4858515"/>
            <a:ext cx="10134295" cy="36619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Which part of this repository did you write, and which part did you review?</a:t>
            </a:r>
          </a:p>
        </p:txBody>
      </p:sp>
      <p:sp>
        <p:nvSpPr>
          <p:cNvPr id="20" name="Oval 19"/>
          <p:cNvSpPr/>
          <p:nvPr/>
        </p:nvSpPr>
        <p:spPr>
          <a:xfrm>
            <a:off x="685800" y="5316151"/>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I</a:t>
            </a:r>
          </a:p>
        </p:txBody>
      </p:sp>
      <p:sp>
        <p:nvSpPr>
          <p:cNvPr id="21" name="TextBox 20"/>
          <p:cNvSpPr txBox="1"/>
          <p:nvPr/>
        </p:nvSpPr>
        <p:spPr>
          <a:xfrm>
            <a:off x="1216152" y="5279575"/>
            <a:ext cx="10134295" cy="36619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Name one thing your team disagreed about and how you settled it.</a:t>
            </a:r>
          </a:p>
        </p:txBody>
      </p:sp>
      <p:sp>
        <p:nvSpPr>
          <p:cNvPr id="22" name="Oval 21"/>
          <p:cNvSpPr/>
          <p:nvPr/>
        </p:nvSpPr>
        <p:spPr>
          <a:xfrm>
            <a:off x="685800" y="5737211"/>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J</a:t>
            </a:r>
          </a:p>
        </p:txBody>
      </p:sp>
      <p:sp>
        <p:nvSpPr>
          <p:cNvPr id="23" name="TextBox 22"/>
          <p:cNvSpPr txBox="1"/>
          <p:nvPr/>
        </p:nvSpPr>
        <p:spPr>
          <a:xfrm>
            <a:off x="1216152" y="5700635"/>
            <a:ext cx="10134295" cy="36619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What would you do differently if you started this project again on Monday?</a:t>
            </a:r>
          </a:p>
        </p:txBody>
      </p:sp>
      <p:sp>
        <p:nvSpPr>
          <p:cNvPr id="24" name="TextBox 23"/>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You get two of these, or two like them, at your station. Practise them on each other.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VIVA</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When you do not know the answer</a:t>
            </a:r>
          </a:p>
        </p:txBody>
      </p:sp>
      <p:sp>
        <p:nvSpPr>
          <p:cNvPr id="4" name="TextBox 3"/>
          <p:cNvSpPr txBox="1"/>
          <p:nvPr/>
        </p:nvSpPr>
        <p:spPr>
          <a:xfrm>
            <a:off x="685800" y="1911095"/>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Say so, and say what you would need</a:t>
            </a:r>
          </a:p>
        </p:txBody>
      </p:sp>
      <p:sp>
        <p:nvSpPr>
          <p:cNvPr id="5" name="TextBox 4"/>
          <p:cNvSpPr txBox="1"/>
          <p:nvPr/>
        </p:nvSpPr>
        <p:spPr>
          <a:xfrm>
            <a:off x="685800" y="234272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'I did not measure that. I would run it across three seeds and report the spread.' That is a good answer and it scores.</a:t>
            </a:r>
          </a:p>
        </p:txBody>
      </p:sp>
      <p:sp>
        <p:nvSpPr>
          <p:cNvPr id="6" name="TextBox 5"/>
          <p:cNvSpPr txBox="1"/>
          <p:nvPr/>
        </p:nvSpPr>
        <p:spPr>
          <a:xfrm>
            <a:off x="685800" y="3597711"/>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Point at the notebook</a:t>
            </a:r>
          </a:p>
        </p:txBody>
      </p:sp>
      <p:sp>
        <p:nvSpPr>
          <p:cNvPr id="7" name="TextBox 6"/>
          <p:cNvSpPr txBox="1"/>
          <p:nvPr/>
        </p:nvSpPr>
        <p:spPr>
          <a:xfrm>
            <a:off x="685800" y="4029339"/>
            <a:ext cx="5158587" cy="702546"/>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You are allowed to open your own repository. Finding the cell and reading it is better than guessing from memory.</a:t>
            </a:r>
          </a:p>
        </p:txBody>
      </p:sp>
      <p:sp>
        <p:nvSpPr>
          <p:cNvPr id="8" name="TextBox 7"/>
          <p:cNvSpPr txBox="1"/>
          <p:nvPr/>
        </p:nvSpPr>
        <p:spPr>
          <a:xfrm>
            <a:off x="685800" y="4960485"/>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Do not invent a reason</a:t>
            </a:r>
          </a:p>
        </p:txBody>
      </p:sp>
      <p:sp>
        <p:nvSpPr>
          <p:cNvPr id="9" name="TextBox 8"/>
          <p:cNvSpPr txBox="1"/>
          <p:nvPr/>
        </p:nvSpPr>
        <p:spPr>
          <a:xfrm>
            <a:off x="685800" y="539211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An invented justification is the one thing that scores worse than 'I do not know', because the next question exposes it.</a:t>
            </a:r>
          </a:p>
        </p:txBody>
      </p:sp>
      <p:sp>
        <p:nvSpPr>
          <p:cNvPr id="10" name="TextBox 9"/>
          <p:cNvSpPr txBox="1"/>
          <p:nvPr/>
        </p:nvSpPr>
        <p:spPr>
          <a:xfrm>
            <a:off x="6347307" y="1911095"/>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Distinguish what you did from what your team did</a:t>
            </a:r>
          </a:p>
        </p:txBody>
      </p:sp>
      <p:sp>
        <p:nvSpPr>
          <p:cNvPr id="11" name="TextBox 10"/>
          <p:cNvSpPr txBox="1"/>
          <p:nvPr/>
        </p:nvSpPr>
        <p:spPr>
          <a:xfrm>
            <a:off x="6347307" y="234272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'I did not write that part — Sarah did, and it does X' is a complete and honest answer to a question about somebody else's work.</a:t>
            </a:r>
          </a:p>
        </p:txBody>
      </p:sp>
      <p:sp>
        <p:nvSpPr>
          <p:cNvPr id="12" name="TextBox 11"/>
          <p:cNvSpPr txBox="1"/>
          <p:nvPr/>
        </p:nvSpPr>
        <p:spPr>
          <a:xfrm>
            <a:off x="6347307" y="3597711"/>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And a failure honestly described is worth marks</a:t>
            </a:r>
          </a:p>
        </p:txBody>
      </p:sp>
      <p:sp>
        <p:nvSpPr>
          <p:cNvPr id="13" name="TextBox 12"/>
          <p:cNvSpPr txBox="1"/>
          <p:nvPr/>
        </p:nvSpPr>
        <p:spPr>
          <a:xfrm>
            <a:off x="6347307" y="4029339"/>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'We tried a forest, it beat the linear model by less than the fold spread, so we kept the model we could explain.' That is the course in one sentence.</a:t>
            </a:r>
          </a:p>
        </p:txBody>
      </p:sp>
      <p:sp>
        <p:nvSpPr>
          <p:cNvPr id="14" name="TextBox 13"/>
          <p:cNvSpPr txBox="1"/>
          <p:nvPr/>
        </p:nvSpPr>
        <p:spPr>
          <a:xfrm>
            <a:off x="6347307" y="5284326"/>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Ninety seconds is short</a:t>
            </a:r>
          </a:p>
        </p:txBody>
      </p:sp>
      <p:sp>
        <p:nvSpPr>
          <p:cNvPr id="15" name="TextBox 14"/>
          <p:cNvSpPr txBox="1"/>
          <p:nvPr/>
        </p:nvSpPr>
        <p:spPr>
          <a:xfrm>
            <a:off x="6347307" y="5715955"/>
            <a:ext cx="5158587" cy="702546"/>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Answer the question that was asked, in three or four sentences, and stop.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AWARDED IN THE PLENARY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Three recognitions</a:t>
            </a:r>
          </a:p>
        </p:txBody>
      </p:sp>
      <p:sp>
        <p:nvSpPr>
          <p:cNvPr id="4" name="Rounded Rectangle 3"/>
          <p:cNvSpPr/>
          <p:nvPr/>
        </p:nvSpPr>
        <p:spPr>
          <a:xfrm>
            <a:off x="685800" y="1911095"/>
            <a:ext cx="10820095" cy="130149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42416" y="247040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554480" y="2029967"/>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Best Engineering Reasoning</a:t>
            </a:r>
          </a:p>
        </p:txBody>
      </p:sp>
      <p:sp>
        <p:nvSpPr>
          <p:cNvPr id="7" name="TextBox 6"/>
          <p:cNvSpPr txBox="1"/>
          <p:nvPr/>
        </p:nvSpPr>
        <p:spPr>
          <a:xfrm>
            <a:off x="1554480" y="2423159"/>
            <a:ext cx="9631375" cy="697992"/>
          </a:xfrm>
          <a:prstGeom prst="rect">
            <a:avLst/>
          </a:prstGeom>
          <a:noFill/>
        </p:spPr>
        <p:txBody>
          <a:bodyPr wrap="square" lIns="0" rIns="0" tIns="0" bIns="0" anchor="t">
            <a:spAutoFit/>
          </a:bodyPr>
          <a:lstStyle/>
          <a:p>
            <a:pPr algn="l">
              <a:lnSpc>
                <a:spcPct val="116000"/>
              </a:lnSpc>
              <a:spcAft>
                <a:spcPts val="600"/>
              </a:spcAft>
            </a:pPr>
            <a:r>
              <a:rPr sz="1716" b="0" i="0">
                <a:solidFill>
                  <a:srgbClr val="3C4E5E"/>
                </a:solidFill>
                <a:latin typeface="Calibri"/>
              </a:rPr>
              <a:t>For the team whose choices most clearly followed from the engineering problem. Features built from physics, trades named and quantified, and a recommendation that answers the brief that was given.</a:t>
            </a:r>
          </a:p>
        </p:txBody>
      </p:sp>
      <p:sp>
        <p:nvSpPr>
          <p:cNvPr id="8" name="Rounded Rectangle 7"/>
          <p:cNvSpPr/>
          <p:nvPr/>
        </p:nvSpPr>
        <p:spPr>
          <a:xfrm>
            <a:off x="685800" y="3450336"/>
            <a:ext cx="10820095" cy="130149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42416" y="400964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54480" y="3569208"/>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Best Investigation</a:t>
            </a:r>
          </a:p>
        </p:txBody>
      </p:sp>
      <p:sp>
        <p:nvSpPr>
          <p:cNvPr id="11" name="TextBox 10"/>
          <p:cNvSpPr txBox="1"/>
          <p:nvPr/>
        </p:nvSpPr>
        <p:spPr>
          <a:xfrm>
            <a:off x="1554480" y="3962399"/>
            <a:ext cx="9631375" cy="697992"/>
          </a:xfrm>
          <a:prstGeom prst="rect">
            <a:avLst/>
          </a:prstGeom>
          <a:noFill/>
        </p:spPr>
        <p:txBody>
          <a:bodyPr wrap="square" lIns="0" rIns="0" tIns="0" bIns="0" anchor="t">
            <a:spAutoFit/>
          </a:bodyPr>
          <a:lstStyle/>
          <a:p>
            <a:pPr algn="l">
              <a:lnSpc>
                <a:spcPct val="116000"/>
              </a:lnSpc>
              <a:spcAft>
                <a:spcPts val="600"/>
              </a:spcAft>
            </a:pPr>
            <a:r>
              <a:rPr sz="1716" b="0" i="0">
                <a:solidFill>
                  <a:srgbClr val="3C4E5E"/>
                </a:solidFill>
                <a:latin typeface="Calibri"/>
              </a:rPr>
              <a:t>For the team that found the most from the data, including teams whose conclusion was that the data could not answer the question. A well-evidenced negative result wins this.</a:t>
            </a:r>
          </a:p>
        </p:txBody>
      </p:sp>
      <p:sp>
        <p:nvSpPr>
          <p:cNvPr id="12" name="Rounded Rectangle 11"/>
          <p:cNvSpPr/>
          <p:nvPr/>
        </p:nvSpPr>
        <p:spPr>
          <a:xfrm>
            <a:off x="685800" y="4989576"/>
            <a:ext cx="10820095" cy="130149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42416" y="554888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54480" y="5108448"/>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Most Honest Limitations</a:t>
            </a:r>
          </a:p>
        </p:txBody>
      </p:sp>
      <p:sp>
        <p:nvSpPr>
          <p:cNvPr id="15" name="TextBox 14"/>
          <p:cNvSpPr txBox="1"/>
          <p:nvPr/>
        </p:nvSpPr>
        <p:spPr>
          <a:xfrm>
            <a:off x="1554480" y="5501640"/>
            <a:ext cx="9631375" cy="697992"/>
          </a:xfrm>
          <a:prstGeom prst="rect">
            <a:avLst/>
          </a:prstGeom>
          <a:noFill/>
        </p:spPr>
        <p:txBody>
          <a:bodyPr wrap="square" lIns="0" rIns="0" tIns="0" bIns="0" anchor="t">
            <a:spAutoFit/>
          </a:bodyPr>
          <a:lstStyle/>
          <a:p>
            <a:pPr algn="l">
              <a:lnSpc>
                <a:spcPct val="116000"/>
              </a:lnSpc>
              <a:spcAft>
                <a:spcPts val="600"/>
              </a:spcAft>
            </a:pPr>
            <a:r>
              <a:rPr sz="1716" b="0" i="0">
                <a:solidFill>
                  <a:srgbClr val="3C4E5E"/>
                </a:solidFill>
                <a:latin typeface="Calibri"/>
              </a:rPr>
              <a:t>For the team that was clearest about what their work does not support. Specific limits drawn from their own data, and conditions of use somebody could check.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WEEK 1 PROMISE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can say now</a:t>
            </a:r>
          </a:p>
        </p:txBody>
      </p:sp>
      <p:pic>
        <p:nvPicPr>
          <p:cNvPr id="4" name="Picture 3" descr="ladder.png"/>
          <p:cNvPicPr>
            <a:picLocks noChangeAspect="1"/>
          </p:cNvPicPr>
          <p:nvPr/>
        </p:nvPicPr>
        <p:blipFill>
          <a:blip r:embed="rId2"/>
          <a:stretch>
            <a:fillRect/>
          </a:stretch>
        </p:blipFill>
        <p:spPr>
          <a:xfrm>
            <a:off x="1552731" y="1911095"/>
            <a:ext cx="9086232"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This was the promise in Week 1. Most of you could not do step two in September. Look at step six and then look at your own repository.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ASSESSMENT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Where the marks came from</a:t>
            </a:r>
          </a:p>
        </p:txBody>
      </p:sp>
      <p:pic>
        <p:nvPicPr>
          <p:cNvPr id="4" name="Picture 3" descr="assessment.png"/>
          <p:cNvPicPr>
            <a:picLocks noChangeAspect="1"/>
          </p:cNvPicPr>
          <p:nvPr/>
        </p:nvPicPr>
        <p:blipFill>
          <a:blip r:embed="rId2"/>
          <a:stretch>
            <a:fillRect/>
          </a:stretch>
        </p:blipFill>
        <p:spPr>
          <a:xfrm>
            <a:off x="1160833" y="1911095"/>
            <a:ext cx="9870029"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No written examination anywhere in this course. Sixty-five per cent of your mark was individual, so you could not be carried and you could not be dragged down.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WHERE WE ARE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fifteen weeks</a:t>
            </a:r>
          </a:p>
        </p:txBody>
      </p:sp>
      <p:sp>
        <p:nvSpPr>
          <p:cNvPr id="4" name="Rounded Rectangle 3"/>
          <p:cNvSpPr/>
          <p:nvPr/>
        </p:nvSpPr>
        <p:spPr>
          <a:xfrm>
            <a:off x="685800" y="1911095"/>
            <a:ext cx="1944563" cy="713232"/>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3816" y="1984248"/>
            <a:ext cx="1688531" cy="256032"/>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WEEK 1</a:t>
            </a:r>
          </a:p>
        </p:txBody>
      </p:sp>
      <p:sp>
        <p:nvSpPr>
          <p:cNvPr id="6" name="TextBox 5"/>
          <p:cNvSpPr txBox="1"/>
          <p:nvPr/>
        </p:nvSpPr>
        <p:spPr>
          <a:xfrm>
            <a:off x="813816" y="2221991"/>
            <a:ext cx="1688531" cy="329184"/>
          </a:xfrm>
          <a:prstGeom prst="rect">
            <a:avLst/>
          </a:prstGeom>
          <a:noFill/>
        </p:spPr>
        <p:txBody>
          <a:bodyPr wrap="square" lIns="0" rIns="0" tIns="0" bIns="0" anchor="t">
            <a:spAutoFit/>
          </a:bodyPr>
          <a:lstStyle/>
          <a:p>
            <a:pPr algn="l">
              <a:lnSpc>
                <a:spcPct val="110000"/>
              </a:lnSpc>
              <a:spcAft>
                <a:spcPts val="600"/>
              </a:spcAft>
            </a:pPr>
            <a:r>
              <a:rPr sz="1452" b="0" i="0">
                <a:solidFill>
                  <a:srgbClr val="1C3144"/>
                </a:solidFill>
                <a:latin typeface="Calibri"/>
              </a:rPr>
              <a:t>AI, ML and the engineering problem</a:t>
            </a:r>
          </a:p>
        </p:txBody>
      </p:sp>
      <p:sp>
        <p:nvSpPr>
          <p:cNvPr id="7" name="Rounded Rectangle 6"/>
          <p:cNvSpPr/>
          <p:nvPr/>
        </p:nvSpPr>
        <p:spPr>
          <a:xfrm>
            <a:off x="2904683" y="1911095"/>
            <a:ext cx="1944563" cy="713232"/>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32699" y="1984248"/>
            <a:ext cx="1688531" cy="256032"/>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WEEK 2</a:t>
            </a:r>
          </a:p>
        </p:txBody>
      </p:sp>
      <p:sp>
        <p:nvSpPr>
          <p:cNvPr id="9" name="TextBox 8"/>
          <p:cNvSpPr txBox="1"/>
          <p:nvPr/>
        </p:nvSpPr>
        <p:spPr>
          <a:xfrm>
            <a:off x="3032699" y="2221991"/>
            <a:ext cx="1688531" cy="329184"/>
          </a:xfrm>
          <a:prstGeom prst="rect">
            <a:avLst/>
          </a:prstGeom>
          <a:noFill/>
        </p:spPr>
        <p:txBody>
          <a:bodyPr wrap="square" lIns="0" rIns="0" tIns="0" bIns="0" anchor="t">
            <a:spAutoFit/>
          </a:bodyPr>
          <a:lstStyle/>
          <a:p>
            <a:pPr algn="l">
              <a:lnSpc>
                <a:spcPct val="110000"/>
              </a:lnSpc>
              <a:spcAft>
                <a:spcPts val="600"/>
              </a:spcAft>
            </a:pPr>
            <a:r>
              <a:rPr sz="1452" b="0" i="0">
                <a:solidFill>
                  <a:srgbClr val="1C3144"/>
                </a:solidFill>
                <a:latin typeface="Calibri"/>
              </a:rPr>
              <a:t>Where the work happens</a:t>
            </a:r>
          </a:p>
        </p:txBody>
      </p:sp>
      <p:sp>
        <p:nvSpPr>
          <p:cNvPr id="10" name="Rounded Rectangle 9"/>
          <p:cNvSpPr/>
          <p:nvPr/>
        </p:nvSpPr>
        <p:spPr>
          <a:xfrm>
            <a:off x="5123566" y="1911095"/>
            <a:ext cx="1944563" cy="713232"/>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51582" y="1984248"/>
            <a:ext cx="1688531" cy="256032"/>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WEEK 3</a:t>
            </a:r>
          </a:p>
        </p:txBody>
      </p:sp>
      <p:sp>
        <p:nvSpPr>
          <p:cNvPr id="12" name="TextBox 11"/>
          <p:cNvSpPr txBox="1"/>
          <p:nvPr/>
        </p:nvSpPr>
        <p:spPr>
          <a:xfrm>
            <a:off x="5251582" y="2221991"/>
            <a:ext cx="1688531" cy="329184"/>
          </a:xfrm>
          <a:prstGeom prst="rect">
            <a:avLst/>
          </a:prstGeom>
          <a:noFill/>
        </p:spPr>
        <p:txBody>
          <a:bodyPr wrap="square" lIns="0" rIns="0" tIns="0" bIns="0" anchor="t">
            <a:spAutoFit/>
          </a:bodyPr>
          <a:lstStyle/>
          <a:p>
            <a:pPr algn="l">
              <a:lnSpc>
                <a:spcPct val="110000"/>
              </a:lnSpc>
              <a:spcAft>
                <a:spcPts val="600"/>
              </a:spcAft>
            </a:pPr>
            <a:r>
              <a:rPr sz="1452" b="0" i="0">
                <a:solidFill>
                  <a:srgbClr val="1C3144"/>
                </a:solidFill>
                <a:latin typeface="Calibri"/>
              </a:rPr>
              <a:t>Python as a calculator</a:t>
            </a:r>
          </a:p>
        </p:txBody>
      </p:sp>
      <p:sp>
        <p:nvSpPr>
          <p:cNvPr id="13" name="Rounded Rectangle 12"/>
          <p:cNvSpPr/>
          <p:nvPr/>
        </p:nvSpPr>
        <p:spPr>
          <a:xfrm>
            <a:off x="7342449" y="1911095"/>
            <a:ext cx="1944563" cy="713232"/>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70465" y="1984248"/>
            <a:ext cx="1688531" cy="256032"/>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WEEK 4</a:t>
            </a:r>
          </a:p>
        </p:txBody>
      </p:sp>
      <p:sp>
        <p:nvSpPr>
          <p:cNvPr id="15" name="TextBox 14"/>
          <p:cNvSpPr txBox="1"/>
          <p:nvPr/>
        </p:nvSpPr>
        <p:spPr>
          <a:xfrm>
            <a:off x="7470465" y="2221991"/>
            <a:ext cx="1688531" cy="329184"/>
          </a:xfrm>
          <a:prstGeom prst="rect">
            <a:avLst/>
          </a:prstGeom>
          <a:noFill/>
        </p:spPr>
        <p:txBody>
          <a:bodyPr wrap="square" lIns="0" rIns="0" tIns="0" bIns="0" anchor="t">
            <a:spAutoFit/>
          </a:bodyPr>
          <a:lstStyle/>
          <a:p>
            <a:pPr algn="l">
              <a:lnSpc>
                <a:spcPct val="110000"/>
              </a:lnSpc>
              <a:spcAft>
                <a:spcPts val="600"/>
              </a:spcAft>
            </a:pPr>
            <a:r>
              <a:rPr sz="1452" b="0" i="0">
                <a:solidFill>
                  <a:srgbClr val="1C3144"/>
                </a:solidFill>
                <a:latin typeface="Calibri"/>
              </a:rPr>
              <a:t>Collections, loops, files</a:t>
            </a:r>
          </a:p>
        </p:txBody>
      </p:sp>
      <p:sp>
        <p:nvSpPr>
          <p:cNvPr id="16" name="Rounded Rectangle 15"/>
          <p:cNvSpPr/>
          <p:nvPr/>
        </p:nvSpPr>
        <p:spPr>
          <a:xfrm>
            <a:off x="9561332" y="1911095"/>
            <a:ext cx="1944563" cy="713232"/>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89348" y="1984248"/>
            <a:ext cx="1688531" cy="256032"/>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WEEK 5</a:t>
            </a:r>
          </a:p>
        </p:txBody>
      </p:sp>
      <p:sp>
        <p:nvSpPr>
          <p:cNvPr id="18" name="TextBox 17"/>
          <p:cNvSpPr txBox="1"/>
          <p:nvPr/>
        </p:nvSpPr>
        <p:spPr>
          <a:xfrm>
            <a:off x="9689348" y="2221991"/>
            <a:ext cx="1688531" cy="329184"/>
          </a:xfrm>
          <a:prstGeom prst="rect">
            <a:avLst/>
          </a:prstGeom>
          <a:noFill/>
        </p:spPr>
        <p:txBody>
          <a:bodyPr wrap="square" lIns="0" rIns="0" tIns="0" bIns="0" anchor="t">
            <a:spAutoFit/>
          </a:bodyPr>
          <a:lstStyle/>
          <a:p>
            <a:pPr algn="l">
              <a:lnSpc>
                <a:spcPct val="110000"/>
              </a:lnSpc>
              <a:spcAft>
                <a:spcPts val="600"/>
              </a:spcAft>
            </a:pPr>
            <a:r>
              <a:rPr sz="1452" b="0" i="0">
                <a:solidFill>
                  <a:srgbClr val="1C3144"/>
                </a:solidFill>
                <a:latin typeface="Calibri"/>
              </a:rPr>
              <a:t>pandas and finding data</a:t>
            </a:r>
          </a:p>
        </p:txBody>
      </p:sp>
      <p:sp>
        <p:nvSpPr>
          <p:cNvPr id="19" name="Rounded Rectangle 18"/>
          <p:cNvSpPr/>
          <p:nvPr/>
        </p:nvSpPr>
        <p:spPr>
          <a:xfrm>
            <a:off x="685800" y="2862072"/>
            <a:ext cx="1944563" cy="713232"/>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3816" y="2935224"/>
            <a:ext cx="1688531" cy="256032"/>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WEEK 6</a:t>
            </a:r>
          </a:p>
        </p:txBody>
      </p:sp>
      <p:sp>
        <p:nvSpPr>
          <p:cNvPr id="21" name="TextBox 20"/>
          <p:cNvSpPr txBox="1"/>
          <p:nvPr/>
        </p:nvSpPr>
        <p:spPr>
          <a:xfrm>
            <a:off x="813816" y="3172968"/>
            <a:ext cx="1688531" cy="329184"/>
          </a:xfrm>
          <a:prstGeom prst="rect">
            <a:avLst/>
          </a:prstGeom>
          <a:noFill/>
        </p:spPr>
        <p:txBody>
          <a:bodyPr wrap="square" lIns="0" rIns="0" tIns="0" bIns="0" anchor="t">
            <a:spAutoFit/>
          </a:bodyPr>
          <a:lstStyle/>
          <a:p>
            <a:pPr algn="l">
              <a:lnSpc>
                <a:spcPct val="110000"/>
              </a:lnSpc>
              <a:spcAft>
                <a:spcPts val="600"/>
              </a:spcAft>
            </a:pPr>
            <a:r>
              <a:rPr sz="1452" b="0" i="0">
                <a:solidFill>
                  <a:srgbClr val="1C3144"/>
                </a:solidFill>
                <a:latin typeface="Calibri"/>
              </a:rPr>
              <a:t>Dirty data, and seeing it</a:t>
            </a:r>
          </a:p>
        </p:txBody>
      </p:sp>
      <p:sp>
        <p:nvSpPr>
          <p:cNvPr id="22" name="Rounded Rectangle 21"/>
          <p:cNvSpPr/>
          <p:nvPr/>
        </p:nvSpPr>
        <p:spPr>
          <a:xfrm>
            <a:off x="2904683" y="2862072"/>
            <a:ext cx="1944563" cy="713232"/>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32699" y="2935224"/>
            <a:ext cx="1688531" cy="256032"/>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WEEK 7</a:t>
            </a:r>
          </a:p>
        </p:txBody>
      </p:sp>
      <p:sp>
        <p:nvSpPr>
          <p:cNvPr id="24" name="TextBox 23"/>
          <p:cNvSpPr txBox="1"/>
          <p:nvPr/>
        </p:nvSpPr>
        <p:spPr>
          <a:xfrm>
            <a:off x="3032699" y="3172968"/>
            <a:ext cx="1688531" cy="329184"/>
          </a:xfrm>
          <a:prstGeom prst="rect">
            <a:avLst/>
          </a:prstGeom>
          <a:noFill/>
        </p:spPr>
        <p:txBody>
          <a:bodyPr wrap="square" lIns="0" rIns="0" tIns="0" bIns="0" anchor="t">
            <a:spAutoFit/>
          </a:bodyPr>
          <a:lstStyle/>
          <a:p>
            <a:pPr algn="l">
              <a:lnSpc>
                <a:spcPct val="110000"/>
              </a:lnSpc>
              <a:spcAft>
                <a:spcPts val="600"/>
              </a:spcAft>
            </a:pPr>
            <a:r>
              <a:rPr sz="1452" b="0" i="0">
                <a:solidFill>
                  <a:srgbClr val="1C3144"/>
                </a:solidFill>
                <a:latin typeface="Calibri"/>
              </a:rPr>
              <a:t>TEST 1 — Data Investigation</a:t>
            </a:r>
          </a:p>
        </p:txBody>
      </p:sp>
      <p:sp>
        <p:nvSpPr>
          <p:cNvPr id="25" name="Rounded Rectangle 24"/>
          <p:cNvSpPr/>
          <p:nvPr/>
        </p:nvSpPr>
        <p:spPr>
          <a:xfrm>
            <a:off x="5123566" y="2862072"/>
            <a:ext cx="1944563" cy="713232"/>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51582" y="2935224"/>
            <a:ext cx="1688531" cy="256032"/>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WEEK 8</a:t>
            </a:r>
          </a:p>
        </p:txBody>
      </p:sp>
      <p:sp>
        <p:nvSpPr>
          <p:cNvPr id="27" name="TextBox 26"/>
          <p:cNvSpPr txBox="1"/>
          <p:nvPr/>
        </p:nvSpPr>
        <p:spPr>
          <a:xfrm>
            <a:off x="5251582" y="3172968"/>
            <a:ext cx="1688531" cy="329184"/>
          </a:xfrm>
          <a:prstGeom prst="rect">
            <a:avLst/>
          </a:prstGeom>
          <a:noFill/>
        </p:spPr>
        <p:txBody>
          <a:bodyPr wrap="square" lIns="0" rIns="0" tIns="0" bIns="0" anchor="t">
            <a:spAutoFit/>
          </a:bodyPr>
          <a:lstStyle/>
          <a:p>
            <a:pPr algn="l">
              <a:lnSpc>
                <a:spcPct val="110000"/>
              </a:lnSpc>
              <a:spcAft>
                <a:spcPts val="600"/>
              </a:spcAft>
            </a:pPr>
            <a:r>
              <a:rPr sz="1452" b="0" i="0">
                <a:solidFill>
                  <a:srgbClr val="1C3144"/>
                </a:solidFill>
                <a:latin typeface="Calibri"/>
              </a:rPr>
              <a:t>The first model</a:t>
            </a:r>
          </a:p>
        </p:txBody>
      </p:sp>
      <p:sp>
        <p:nvSpPr>
          <p:cNvPr id="28" name="Rounded Rectangle 27"/>
          <p:cNvSpPr/>
          <p:nvPr/>
        </p:nvSpPr>
        <p:spPr>
          <a:xfrm>
            <a:off x="7342449" y="2862072"/>
            <a:ext cx="1944563" cy="713232"/>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0465" y="2935224"/>
            <a:ext cx="1688531" cy="256032"/>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WEEK 9</a:t>
            </a:r>
          </a:p>
        </p:txBody>
      </p:sp>
      <p:sp>
        <p:nvSpPr>
          <p:cNvPr id="30" name="TextBox 29"/>
          <p:cNvSpPr txBox="1"/>
          <p:nvPr/>
        </p:nvSpPr>
        <p:spPr>
          <a:xfrm>
            <a:off x="7470465" y="3172968"/>
            <a:ext cx="1688531" cy="329184"/>
          </a:xfrm>
          <a:prstGeom prst="rect">
            <a:avLst/>
          </a:prstGeom>
          <a:noFill/>
        </p:spPr>
        <p:txBody>
          <a:bodyPr wrap="square" lIns="0" rIns="0" tIns="0" bIns="0" anchor="t">
            <a:spAutoFit/>
          </a:bodyPr>
          <a:lstStyle/>
          <a:p>
            <a:pPr algn="l">
              <a:lnSpc>
                <a:spcPct val="110000"/>
              </a:lnSpc>
              <a:spcAft>
                <a:spcPts val="600"/>
              </a:spcAft>
            </a:pPr>
            <a:r>
              <a:rPr sz="1452" b="0" i="0">
                <a:solidFill>
                  <a:srgbClr val="1C3144"/>
                </a:solidFill>
                <a:latin typeface="Calibri"/>
              </a:rPr>
              <a:t>Classification</a:t>
            </a:r>
          </a:p>
        </p:txBody>
      </p:sp>
      <p:sp>
        <p:nvSpPr>
          <p:cNvPr id="31" name="Rounded Rectangle 30"/>
          <p:cNvSpPr/>
          <p:nvPr/>
        </p:nvSpPr>
        <p:spPr>
          <a:xfrm>
            <a:off x="9561332" y="2862072"/>
            <a:ext cx="1944563" cy="713232"/>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689348" y="2935224"/>
            <a:ext cx="1688531" cy="256032"/>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WEEK 10</a:t>
            </a:r>
          </a:p>
        </p:txBody>
      </p:sp>
      <p:sp>
        <p:nvSpPr>
          <p:cNvPr id="33" name="TextBox 32"/>
          <p:cNvSpPr txBox="1"/>
          <p:nvPr/>
        </p:nvSpPr>
        <p:spPr>
          <a:xfrm>
            <a:off x="9689348" y="3172968"/>
            <a:ext cx="1688531" cy="329184"/>
          </a:xfrm>
          <a:prstGeom prst="rect">
            <a:avLst/>
          </a:prstGeom>
          <a:noFill/>
        </p:spPr>
        <p:txBody>
          <a:bodyPr wrap="square" lIns="0" rIns="0" tIns="0" bIns="0" anchor="t">
            <a:spAutoFit/>
          </a:bodyPr>
          <a:lstStyle/>
          <a:p>
            <a:pPr algn="l">
              <a:lnSpc>
                <a:spcPct val="110000"/>
              </a:lnSpc>
              <a:spcAft>
                <a:spcPts val="600"/>
              </a:spcAft>
            </a:pPr>
            <a:r>
              <a:rPr sz="1452" b="0" i="0">
                <a:solidFill>
                  <a:srgbClr val="1C3144"/>
                </a:solidFill>
                <a:latin typeface="Calibri"/>
              </a:rPr>
              <a:t>Can I trust this model?</a:t>
            </a:r>
          </a:p>
        </p:txBody>
      </p:sp>
      <p:sp>
        <p:nvSpPr>
          <p:cNvPr id="34" name="Rounded Rectangle 33"/>
          <p:cNvSpPr/>
          <p:nvPr/>
        </p:nvSpPr>
        <p:spPr>
          <a:xfrm>
            <a:off x="685800" y="3813048"/>
            <a:ext cx="1944563" cy="713232"/>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13816" y="3886200"/>
            <a:ext cx="1688531" cy="256032"/>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WEEK 11</a:t>
            </a:r>
          </a:p>
        </p:txBody>
      </p:sp>
      <p:sp>
        <p:nvSpPr>
          <p:cNvPr id="36" name="TextBox 35"/>
          <p:cNvSpPr txBox="1"/>
          <p:nvPr/>
        </p:nvSpPr>
        <p:spPr>
          <a:xfrm>
            <a:off x="813816" y="4123944"/>
            <a:ext cx="1688531" cy="329184"/>
          </a:xfrm>
          <a:prstGeom prst="rect">
            <a:avLst/>
          </a:prstGeom>
          <a:noFill/>
        </p:spPr>
        <p:txBody>
          <a:bodyPr wrap="square" lIns="0" rIns="0" tIns="0" bIns="0" anchor="t">
            <a:spAutoFit/>
          </a:bodyPr>
          <a:lstStyle/>
          <a:p>
            <a:pPr algn="l">
              <a:lnSpc>
                <a:spcPct val="110000"/>
              </a:lnSpc>
              <a:spcAft>
                <a:spcPts val="600"/>
              </a:spcAft>
            </a:pPr>
            <a:r>
              <a:rPr sz="1452" b="0" i="0">
                <a:solidFill>
                  <a:srgbClr val="1C3144"/>
                </a:solidFill>
                <a:latin typeface="Calibri"/>
              </a:rPr>
              <a:t>Features</a:t>
            </a:r>
          </a:p>
        </p:txBody>
      </p:sp>
      <p:sp>
        <p:nvSpPr>
          <p:cNvPr id="37" name="Rounded Rectangle 36"/>
          <p:cNvSpPr/>
          <p:nvPr/>
        </p:nvSpPr>
        <p:spPr>
          <a:xfrm>
            <a:off x="2904683" y="3813048"/>
            <a:ext cx="1944563" cy="713232"/>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032699" y="3886200"/>
            <a:ext cx="1688531" cy="256032"/>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WEEK 12</a:t>
            </a:r>
          </a:p>
        </p:txBody>
      </p:sp>
      <p:sp>
        <p:nvSpPr>
          <p:cNvPr id="39" name="TextBox 38"/>
          <p:cNvSpPr txBox="1"/>
          <p:nvPr/>
        </p:nvSpPr>
        <p:spPr>
          <a:xfrm>
            <a:off x="3032699" y="4123944"/>
            <a:ext cx="1688531" cy="329184"/>
          </a:xfrm>
          <a:prstGeom prst="rect">
            <a:avLst/>
          </a:prstGeom>
          <a:noFill/>
        </p:spPr>
        <p:txBody>
          <a:bodyPr wrap="square" lIns="0" rIns="0" tIns="0" bIns="0" anchor="t">
            <a:spAutoFit/>
          </a:bodyPr>
          <a:lstStyle/>
          <a:p>
            <a:pPr algn="l">
              <a:lnSpc>
                <a:spcPct val="110000"/>
              </a:lnSpc>
              <a:spcAft>
                <a:spcPts val="600"/>
              </a:spcAft>
            </a:pPr>
            <a:r>
              <a:rPr sz="1452" b="0" i="0">
                <a:solidFill>
                  <a:srgbClr val="1C3144"/>
                </a:solidFill>
                <a:latin typeface="Calibri"/>
              </a:rPr>
              <a:t>Model comparison</a:t>
            </a:r>
          </a:p>
        </p:txBody>
      </p:sp>
      <p:sp>
        <p:nvSpPr>
          <p:cNvPr id="40" name="Rounded Rectangle 39"/>
          <p:cNvSpPr/>
          <p:nvPr/>
        </p:nvSpPr>
        <p:spPr>
          <a:xfrm>
            <a:off x="5123566" y="3813048"/>
            <a:ext cx="1944563" cy="713232"/>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251582" y="3886200"/>
            <a:ext cx="1688531" cy="256032"/>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WEEK 13</a:t>
            </a:r>
          </a:p>
        </p:txBody>
      </p:sp>
      <p:sp>
        <p:nvSpPr>
          <p:cNvPr id="42" name="TextBox 41"/>
          <p:cNvSpPr txBox="1"/>
          <p:nvPr/>
        </p:nvSpPr>
        <p:spPr>
          <a:xfrm>
            <a:off x="5251582" y="4123944"/>
            <a:ext cx="1688531" cy="329184"/>
          </a:xfrm>
          <a:prstGeom prst="rect">
            <a:avLst/>
          </a:prstGeom>
          <a:noFill/>
        </p:spPr>
        <p:txBody>
          <a:bodyPr wrap="square" lIns="0" rIns="0" tIns="0" bIns="0" anchor="t">
            <a:spAutoFit/>
          </a:bodyPr>
          <a:lstStyle/>
          <a:p>
            <a:pPr algn="l">
              <a:lnSpc>
                <a:spcPct val="110000"/>
              </a:lnSpc>
              <a:spcAft>
                <a:spcPts val="600"/>
              </a:spcAft>
            </a:pPr>
            <a:r>
              <a:rPr sz="1452" b="0" i="0">
                <a:solidFill>
                  <a:srgbClr val="1C3144"/>
                </a:solidFill>
                <a:latin typeface="Calibri"/>
              </a:rPr>
              <a:t>Reproducibility</a:t>
            </a:r>
          </a:p>
        </p:txBody>
      </p:sp>
      <p:sp>
        <p:nvSpPr>
          <p:cNvPr id="43" name="Rounded Rectangle 42"/>
          <p:cNvSpPr/>
          <p:nvPr/>
        </p:nvSpPr>
        <p:spPr>
          <a:xfrm>
            <a:off x="7342449" y="3813048"/>
            <a:ext cx="1944563" cy="713232"/>
          </a:xfrm>
          <a:prstGeom prst="roundRect">
            <a:avLst>
              <a:gd name="adj" fmla="val 6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470465" y="3886200"/>
            <a:ext cx="1688531" cy="256032"/>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WEEK 14</a:t>
            </a:r>
          </a:p>
        </p:txBody>
      </p:sp>
      <p:sp>
        <p:nvSpPr>
          <p:cNvPr id="45" name="TextBox 44"/>
          <p:cNvSpPr txBox="1"/>
          <p:nvPr/>
        </p:nvSpPr>
        <p:spPr>
          <a:xfrm>
            <a:off x="7470465" y="4123944"/>
            <a:ext cx="1688531" cy="329184"/>
          </a:xfrm>
          <a:prstGeom prst="rect">
            <a:avLst/>
          </a:prstGeom>
          <a:noFill/>
        </p:spPr>
        <p:txBody>
          <a:bodyPr wrap="square" lIns="0" rIns="0" tIns="0" bIns="0" anchor="t">
            <a:spAutoFit/>
          </a:bodyPr>
          <a:lstStyle/>
          <a:p>
            <a:pPr algn="l">
              <a:lnSpc>
                <a:spcPct val="110000"/>
              </a:lnSpc>
              <a:spcAft>
                <a:spcPts val="600"/>
              </a:spcAft>
            </a:pPr>
            <a:r>
              <a:rPr sz="1452" b="0" i="0">
                <a:solidFill>
                  <a:srgbClr val="1C3144"/>
                </a:solidFill>
                <a:latin typeface="Calibri"/>
              </a:rPr>
              <a:t>TEST 2 — End-to-end ML</a:t>
            </a:r>
          </a:p>
        </p:txBody>
      </p:sp>
      <p:sp>
        <p:nvSpPr>
          <p:cNvPr id="46" name="Rounded Rectangle 45"/>
          <p:cNvSpPr/>
          <p:nvPr/>
        </p:nvSpPr>
        <p:spPr>
          <a:xfrm>
            <a:off x="9561332" y="3813048"/>
            <a:ext cx="1944563" cy="713232"/>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89348" y="3886200"/>
            <a:ext cx="1688531" cy="256032"/>
          </a:xfrm>
          <a:prstGeom prst="rect">
            <a:avLst/>
          </a:prstGeom>
          <a:noFill/>
        </p:spPr>
        <p:txBody>
          <a:bodyPr wrap="square" lIns="0" rIns="0" tIns="0" bIns="0" anchor="t">
            <a:spAutoFit/>
          </a:bodyPr>
          <a:lstStyle/>
          <a:p>
            <a:pPr algn="l">
              <a:spcAft>
                <a:spcPts val="600"/>
              </a:spcAft>
            </a:pPr>
            <a:r>
              <a:rPr sz="1320" b="1" i="0">
                <a:solidFill>
                  <a:srgbClr val="FFFFFF"/>
                </a:solidFill>
                <a:latin typeface="Calibri"/>
              </a:rPr>
              <a:t>WEEK 15</a:t>
            </a:r>
          </a:p>
        </p:txBody>
      </p:sp>
      <p:sp>
        <p:nvSpPr>
          <p:cNvPr id="48" name="TextBox 47"/>
          <p:cNvSpPr txBox="1"/>
          <p:nvPr/>
        </p:nvSpPr>
        <p:spPr>
          <a:xfrm>
            <a:off x="9689348" y="4123944"/>
            <a:ext cx="1688531" cy="329184"/>
          </a:xfrm>
          <a:prstGeom prst="rect">
            <a:avLst/>
          </a:prstGeom>
          <a:noFill/>
        </p:spPr>
        <p:txBody>
          <a:bodyPr wrap="square" lIns="0" rIns="0" tIns="0" bIns="0" anchor="t">
            <a:spAutoFit/>
          </a:bodyPr>
          <a:lstStyle/>
          <a:p>
            <a:pPr algn="l">
              <a:lnSpc>
                <a:spcPct val="110000"/>
              </a:lnSpc>
              <a:spcAft>
                <a:spcPts val="600"/>
              </a:spcAft>
            </a:pPr>
            <a:r>
              <a:rPr sz="1452" b="1" i="0">
                <a:solidFill>
                  <a:srgbClr val="FFFFFF"/>
                </a:solidFill>
                <a:latin typeface="Calibri"/>
              </a:rPr>
              <a:t>Demo Day and viva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TERRITORY, REVISITED</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Where you got to on the roadmap</a:t>
            </a:r>
          </a:p>
        </p:txBody>
      </p:sp>
      <p:pic>
        <p:nvPicPr>
          <p:cNvPr id="4" name="Picture 3" descr="roadmap_journey.png"/>
          <p:cNvPicPr>
            <a:picLocks noChangeAspect="1"/>
          </p:cNvPicPr>
          <p:nvPr/>
        </p:nvPicPr>
        <p:blipFill>
          <a:blip r:embed="rId2"/>
          <a:stretch>
            <a:fillRect/>
          </a:stretch>
        </p:blipFill>
        <p:spPr>
          <a:xfrm>
            <a:off x="2272525" y="1911095"/>
            <a:ext cx="764664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same figure from Week 1. Orange is what this semester covered: stage 1 and stages 3 to 9. Stage 2 was already behind you in September. In September most of the words on it meant nothing to you.</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COVERAGE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Semester 2 covers</a:t>
            </a:r>
          </a:p>
        </p:txBody>
      </p:sp>
      <p:pic>
        <p:nvPicPr>
          <p:cNvPr id="4" name="Picture 3" descr="roadmap_coverage.png"/>
          <p:cNvPicPr>
            <a:picLocks noChangeAspect="1"/>
          </p:cNvPicPr>
          <p:nvPr/>
        </p:nvPicPr>
        <p:blipFill>
          <a:blip r:embed="rId2"/>
          <a:stretch>
            <a:fillRect/>
          </a:stretch>
        </p:blipFill>
        <p:spPr>
          <a:xfrm>
            <a:off x="1584787" y="1911095"/>
            <a:ext cx="9022121"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Green is Semester 2. Grey is what neither semester teaches, and knowing where the course stops is part of what you were given.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LAST DELIVERABLE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500-word reflection</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Handed in at the end of this session</a:t>
            </a:r>
          </a:p>
        </p:txBody>
      </p:sp>
      <p:sp>
        <p:nvSpPr>
          <p:cNvPr id="5" name="TextBox 4"/>
          <p:cNvSpPr txBox="1"/>
          <p:nvPr/>
        </p:nvSpPr>
        <p:spPr>
          <a:xfrm>
            <a:off x="685800"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Individual, 500 words, and it counts within the demo, viva and reflection component.</a:t>
            </a:r>
          </a:p>
        </p:txBody>
      </p:sp>
      <p:sp>
        <p:nvSpPr>
          <p:cNvPr id="6" name="TextBox 5"/>
          <p:cNvSpPr txBox="1"/>
          <p:nvPr/>
        </p:nvSpPr>
        <p:spPr>
          <a:xfrm>
            <a:off x="685800" y="3309683"/>
            <a:ext cx="5158587" cy="809915"/>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1 · What you could not do in September, and can do now</a:t>
            </a:r>
          </a:p>
        </p:txBody>
      </p:sp>
      <p:sp>
        <p:nvSpPr>
          <p:cNvPr id="7" name="TextBox 6"/>
          <p:cNvSpPr txBox="1"/>
          <p:nvPr/>
        </p:nvSpPr>
        <p:spPr>
          <a:xfrm>
            <a:off x="685800" y="4128743"/>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Be specific and name the thing. One paragraph.</a:t>
            </a:r>
          </a:p>
        </p:txBody>
      </p:sp>
      <p:sp>
        <p:nvSpPr>
          <p:cNvPr id="8" name="TextBox 7"/>
          <p:cNvSpPr txBox="1"/>
          <p:nvPr/>
        </p:nvSpPr>
        <p:spPr>
          <a:xfrm>
            <a:off x="685800" y="4749002"/>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2 · The hardest thing, and what got you past it</a:t>
            </a:r>
          </a:p>
        </p:txBody>
      </p:sp>
      <p:sp>
        <p:nvSpPr>
          <p:cNvPr id="9" name="TextBox 8"/>
          <p:cNvSpPr txBox="1"/>
          <p:nvPr/>
        </p:nvSpPr>
        <p:spPr>
          <a:xfrm>
            <a:off x="685800" y="5190536"/>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 week, a concept or a bug. Say what actually worked, because it is usually not what you expected.</a:t>
            </a:r>
          </a:p>
        </p:txBody>
      </p:sp>
      <p:sp>
        <p:nvSpPr>
          <p:cNvPr id="10" name="TextBox 9"/>
          <p:cNvSpPr txBox="1"/>
          <p:nvPr/>
        </p:nvSpPr>
        <p:spPr>
          <a:xfrm>
            <a:off x="6347307" y="1911095"/>
            <a:ext cx="5158587" cy="809915"/>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3 · What you contributed to your team, and what you learned from someone else in it</a:t>
            </a:r>
          </a:p>
        </p:txBody>
      </p:sp>
      <p:sp>
        <p:nvSpPr>
          <p:cNvPr id="11" name="TextBox 10"/>
          <p:cNvSpPr txBox="1"/>
          <p:nvPr/>
        </p:nvSpPr>
        <p:spPr>
          <a:xfrm>
            <a:off x="6347307" y="2730155"/>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Both halves. The second is the one people leave out.</a:t>
            </a:r>
          </a:p>
        </p:txBody>
      </p:sp>
      <p:sp>
        <p:nvSpPr>
          <p:cNvPr id="12" name="TextBox 11"/>
          <p:cNvSpPr txBox="1"/>
          <p:nvPr/>
        </p:nvSpPr>
        <p:spPr>
          <a:xfrm>
            <a:off x="6347307" y="3350414"/>
            <a:ext cx="5158587" cy="809915"/>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4 · One thing you got wrong and would do differently</a:t>
            </a:r>
          </a:p>
        </p:txBody>
      </p:sp>
      <p:sp>
        <p:nvSpPr>
          <p:cNvPr id="13" name="TextBox 12"/>
          <p:cNvSpPr txBox="1"/>
          <p:nvPr/>
        </p:nvSpPr>
        <p:spPr>
          <a:xfrm>
            <a:off x="6347307" y="4169474"/>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 specific mistake with a specific correction. This paragraph is read closely.</a:t>
            </a:r>
          </a:p>
        </p:txBody>
      </p:sp>
      <p:sp>
        <p:nvSpPr>
          <p:cNvPr id="14" name="TextBox 13"/>
          <p:cNvSpPr txBox="1"/>
          <p:nvPr/>
        </p:nvSpPr>
        <p:spPr>
          <a:xfrm>
            <a:off x="6347307" y="5126528"/>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5 · Two named goals for Semester 2</a:t>
            </a:r>
          </a:p>
        </p:txBody>
      </p:sp>
      <p:sp>
        <p:nvSpPr>
          <p:cNvPr id="15" name="TextBox 14"/>
          <p:cNvSpPr txBox="1"/>
          <p:nvPr/>
        </p:nvSpPr>
        <p:spPr>
          <a:xfrm>
            <a:off x="6347307" y="5568062"/>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Named, and yours. 'Get better at Python' is not a goal; 'build a time-series model of our own plant data' is.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WHAT COMES NEXT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Semester 2, and the holiday</a:t>
            </a:r>
          </a:p>
        </p:txBody>
      </p:sp>
      <p:sp>
        <p:nvSpPr>
          <p:cNvPr id="4" name="TextBox 3"/>
          <p:cNvSpPr txBox="1"/>
          <p:nvPr/>
        </p:nvSpPr>
        <p:spPr>
          <a:xfrm>
            <a:off x="685800"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Semester 2 opens with review through application</a:t>
            </a:r>
          </a:p>
        </p:txBody>
      </p:sp>
      <p:sp>
        <p:nvSpPr>
          <p:cNvPr id="5" name="TextBox 4"/>
          <p:cNvSpPr txBox="1"/>
          <p:nvPr/>
        </p:nvSpPr>
        <p:spPr>
          <a:xfrm>
            <a:off x="685800" y="2322358"/>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The first two weeks apply what you already have to new problems. There is no re-teaching of Semester 1, so the goals you write today matter.</a:t>
            </a:r>
          </a:p>
        </p:txBody>
      </p:sp>
      <p:sp>
        <p:nvSpPr>
          <p:cNvPr id="6" name="TextBox 5"/>
          <p:cNvSpPr txBox="1"/>
          <p:nvPr/>
        </p:nvSpPr>
        <p:spPr>
          <a:xfrm>
            <a:off x="685800" y="349962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What it adds</a:t>
            </a:r>
          </a:p>
        </p:txBody>
      </p:sp>
      <p:sp>
        <p:nvSpPr>
          <p:cNvPr id="7" name="TextBox 6"/>
          <p:cNvSpPr txBox="1"/>
          <p:nvPr/>
        </p:nvSpPr>
        <p:spPr>
          <a:xfrm>
            <a:off x="685800" y="3910886"/>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Neural networks and deep learning, gradient boosting given the time it needs, time series, and putting a model somewhere a colleague can use it.</a:t>
            </a:r>
          </a:p>
        </p:txBody>
      </p:sp>
      <p:sp>
        <p:nvSpPr>
          <p:cNvPr id="8" name="TextBox 7"/>
          <p:cNvSpPr txBox="1"/>
          <p:nvPr/>
        </p:nvSpPr>
        <p:spPr>
          <a:xfrm>
            <a:off x="685800" y="5088152"/>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The optional holiday challenge</a:t>
            </a:r>
          </a:p>
        </p:txBody>
      </p:sp>
      <p:sp>
        <p:nvSpPr>
          <p:cNvPr id="9" name="TextBox 8"/>
          <p:cNvSpPr txBox="1"/>
          <p:nvPr/>
        </p:nvSpPr>
        <p:spPr>
          <a:xfrm>
            <a:off x="685800" y="5499414"/>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One dataset, one question, and a repository that passes a clean clone. Nothing is marked and I will review anything you send me.</a:t>
            </a:r>
          </a:p>
        </p:txBody>
      </p:sp>
      <p:sp>
        <p:nvSpPr>
          <p:cNvPr id="10" name="TextBox 9"/>
          <p:cNvSpPr txBox="1"/>
          <p:nvPr/>
        </p:nvSpPr>
        <p:spPr>
          <a:xfrm>
            <a:off x="6347307"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The most useful thing you can do over the break</a:t>
            </a:r>
          </a:p>
        </p:txBody>
      </p:sp>
      <p:sp>
        <p:nvSpPr>
          <p:cNvPr id="11" name="TextBox 10"/>
          <p:cNvSpPr txBox="1"/>
          <p:nvPr/>
        </p:nvSpPr>
        <p:spPr>
          <a:xfrm>
            <a:off x="6347307" y="2322358"/>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Find data from your own discipline, ideally from a placement or a laboratory you have access to, and ask one question of it end to end.</a:t>
            </a:r>
          </a:p>
        </p:txBody>
      </p:sp>
      <p:sp>
        <p:nvSpPr>
          <p:cNvPr id="12" name="TextBox 11"/>
          <p:cNvSpPr txBox="1"/>
          <p:nvPr/>
        </p:nvSpPr>
        <p:spPr>
          <a:xfrm>
            <a:off x="6347307" y="349962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Keep your repository</a:t>
            </a:r>
          </a:p>
        </p:txBody>
      </p:sp>
      <p:sp>
        <p:nvSpPr>
          <p:cNvPr id="13" name="TextBox 12"/>
          <p:cNvSpPr txBox="1"/>
          <p:nvPr/>
        </p:nvSpPr>
        <p:spPr>
          <a:xfrm>
            <a:off x="6347307" y="3910886"/>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It is the most useful thing you own for an internship application, and it took you six weeks to build. Do not delete it in January.</a:t>
            </a:r>
          </a:p>
        </p:txBody>
      </p:sp>
      <p:sp>
        <p:nvSpPr>
          <p:cNvPr id="14" name="TextBox 13"/>
          <p:cNvSpPr txBox="1"/>
          <p:nvPr/>
        </p:nvSpPr>
        <p:spPr>
          <a:xfrm>
            <a:off x="6347307" y="5088152"/>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And the claim you can make now</a:t>
            </a:r>
          </a:p>
        </p:txBody>
      </p:sp>
      <p:sp>
        <p:nvSpPr>
          <p:cNvPr id="15" name="TextBox 14"/>
          <p:cNvSpPr txBox="1"/>
          <p:nvPr/>
        </p:nvSpPr>
        <p:spPr>
          <a:xfrm>
            <a:off x="6347307" y="5499414"/>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'Give me an engineering problem involving data and I know how to start investigating it.' That was the promise in Week 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WHAT THE COHORT ACHIEVED</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can do that you could not in September</a:t>
            </a:r>
          </a:p>
        </p:txBody>
      </p:sp>
      <p:sp>
        <p:nvSpPr>
          <p:cNvPr id="4" name="Oval 3"/>
          <p:cNvSpPr/>
          <p:nvPr/>
        </p:nvSpPr>
        <p:spPr>
          <a:xfrm>
            <a:off x="685800" y="19659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911095"/>
            <a:ext cx="10271455" cy="702301"/>
          </a:xfrm>
          <a:prstGeom prst="rect">
            <a:avLst/>
          </a:prstGeom>
          <a:noFill/>
        </p:spPr>
        <p:txBody>
          <a:bodyPr wrap="square" lIns="0" rIns="0" tIns="0" bIns="0" anchor="t">
            <a:spAutoFit/>
          </a:bodyPr>
          <a:lstStyle/>
          <a:p>
            <a:pPr algn="l">
              <a:lnSpc>
                <a:spcPct val="120000"/>
              </a:lnSpc>
              <a:spcAft>
                <a:spcPts val="600"/>
              </a:spcAft>
            </a:pPr>
            <a:r>
              <a:rPr sz="1584" b="0" i="0">
                <a:solidFill>
                  <a:srgbClr val="2A3B4A"/>
                </a:solidFill>
                <a:latin typeface="Calibri"/>
              </a:rPr>
              <a:t>You can take a dataset nobody has explained to you and say what it is, what is wrong with it, and what it can support.</a:t>
            </a:r>
          </a:p>
        </p:txBody>
      </p:sp>
      <p:sp>
        <p:nvSpPr>
          <p:cNvPr id="6" name="Oval 5"/>
          <p:cNvSpPr/>
          <p:nvPr/>
        </p:nvSpPr>
        <p:spPr>
          <a:xfrm>
            <a:off x="685800" y="2713981"/>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659117"/>
            <a:ext cx="10271455" cy="401442"/>
          </a:xfrm>
          <a:prstGeom prst="rect">
            <a:avLst/>
          </a:prstGeom>
          <a:noFill/>
        </p:spPr>
        <p:txBody>
          <a:bodyPr wrap="square" lIns="0" rIns="0" tIns="0" bIns="0" anchor="t">
            <a:spAutoFit/>
          </a:bodyPr>
          <a:lstStyle/>
          <a:p>
            <a:pPr algn="l">
              <a:lnSpc>
                <a:spcPct val="120000"/>
              </a:lnSpc>
              <a:spcAft>
                <a:spcPts val="600"/>
              </a:spcAft>
            </a:pPr>
            <a:r>
              <a:rPr sz="1584" b="0" i="0">
                <a:solidFill>
                  <a:srgbClr val="2A3B4A"/>
                </a:solidFill>
                <a:latin typeface="Calibri"/>
              </a:rPr>
              <a:t>You can profile and clean data, justify every decision, and report how much you dropped and why.</a:t>
            </a:r>
          </a:p>
        </p:txBody>
      </p:sp>
      <p:sp>
        <p:nvSpPr>
          <p:cNvPr id="8" name="Oval 7"/>
          <p:cNvSpPr/>
          <p:nvPr/>
        </p:nvSpPr>
        <p:spPr>
          <a:xfrm>
            <a:off x="685800" y="316114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3106280"/>
            <a:ext cx="10271455" cy="401442"/>
          </a:xfrm>
          <a:prstGeom prst="rect">
            <a:avLst/>
          </a:prstGeom>
          <a:noFill/>
        </p:spPr>
        <p:txBody>
          <a:bodyPr wrap="square" lIns="0" rIns="0" tIns="0" bIns="0" anchor="t">
            <a:spAutoFit/>
          </a:bodyPr>
          <a:lstStyle/>
          <a:p>
            <a:pPr algn="l">
              <a:lnSpc>
                <a:spcPct val="120000"/>
              </a:lnSpc>
              <a:spcAft>
                <a:spcPts val="600"/>
              </a:spcAft>
            </a:pPr>
            <a:r>
              <a:rPr sz="1584" b="0" i="0">
                <a:solidFill>
                  <a:srgbClr val="2A3B4A"/>
                </a:solidFill>
                <a:latin typeface="Calibri"/>
              </a:rPr>
              <a:t>You can build features from your own discipline and measure what each one was worth.</a:t>
            </a:r>
          </a:p>
        </p:txBody>
      </p:sp>
      <p:sp>
        <p:nvSpPr>
          <p:cNvPr id="10" name="Oval 9"/>
          <p:cNvSpPr/>
          <p:nvPr/>
        </p:nvSpPr>
        <p:spPr>
          <a:xfrm>
            <a:off x="685800" y="3608307"/>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553443"/>
            <a:ext cx="10271455" cy="401442"/>
          </a:xfrm>
          <a:prstGeom prst="rect">
            <a:avLst/>
          </a:prstGeom>
          <a:noFill/>
        </p:spPr>
        <p:txBody>
          <a:bodyPr wrap="square" lIns="0" rIns="0" tIns="0" bIns="0" anchor="t">
            <a:spAutoFit/>
          </a:bodyPr>
          <a:lstStyle/>
          <a:p>
            <a:pPr algn="l">
              <a:lnSpc>
                <a:spcPct val="120000"/>
              </a:lnSpc>
              <a:spcAft>
                <a:spcPts val="600"/>
              </a:spcAft>
            </a:pPr>
            <a:r>
              <a:rPr sz="1584" b="0" i="0">
                <a:solidFill>
                  <a:srgbClr val="2A3B4A"/>
                </a:solidFill>
                <a:latin typeface="Calibri"/>
              </a:rPr>
              <a:t>You can fit and compare models under a protocol you fixed, and say when two results cannot be separated.</a:t>
            </a:r>
          </a:p>
        </p:txBody>
      </p:sp>
      <p:sp>
        <p:nvSpPr>
          <p:cNvPr id="12" name="Oval 11"/>
          <p:cNvSpPr/>
          <p:nvPr/>
        </p:nvSpPr>
        <p:spPr>
          <a:xfrm>
            <a:off x="685800" y="405547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000606"/>
            <a:ext cx="10271455" cy="401442"/>
          </a:xfrm>
          <a:prstGeom prst="rect">
            <a:avLst/>
          </a:prstGeom>
          <a:noFill/>
        </p:spPr>
        <p:txBody>
          <a:bodyPr wrap="square" lIns="0" rIns="0" tIns="0" bIns="0" anchor="t">
            <a:spAutoFit/>
          </a:bodyPr>
          <a:lstStyle/>
          <a:p>
            <a:pPr algn="l">
              <a:lnSpc>
                <a:spcPct val="120000"/>
              </a:lnSpc>
              <a:spcAft>
                <a:spcPts val="600"/>
              </a:spcAft>
            </a:pPr>
            <a:r>
              <a:rPr sz="1584" b="0" i="0">
                <a:solidFill>
                  <a:srgbClr val="2A3B4A"/>
                </a:solidFill>
                <a:latin typeface="Calibri"/>
              </a:rPr>
              <a:t>You can choose a metric from a consequence, and read a confusion matrix in the language of your own field.</a:t>
            </a:r>
          </a:p>
        </p:txBody>
      </p:sp>
      <p:sp>
        <p:nvSpPr>
          <p:cNvPr id="14" name="Oval 13"/>
          <p:cNvSpPr/>
          <p:nvPr/>
        </p:nvSpPr>
        <p:spPr>
          <a:xfrm>
            <a:off x="685800" y="4502632"/>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4447768"/>
            <a:ext cx="10271455" cy="401442"/>
          </a:xfrm>
          <a:prstGeom prst="rect">
            <a:avLst/>
          </a:prstGeom>
          <a:noFill/>
        </p:spPr>
        <p:txBody>
          <a:bodyPr wrap="square" lIns="0" rIns="0" tIns="0" bIns="0" anchor="t">
            <a:spAutoFit/>
          </a:bodyPr>
          <a:lstStyle/>
          <a:p>
            <a:pPr algn="l">
              <a:lnSpc>
                <a:spcPct val="120000"/>
              </a:lnSpc>
              <a:spcAft>
                <a:spcPts val="600"/>
              </a:spcAft>
            </a:pPr>
            <a:r>
              <a:rPr sz="1584" b="0" i="0">
                <a:solidFill>
                  <a:srgbClr val="2A3B4A"/>
                </a:solidFill>
                <a:latin typeface="Calibri"/>
              </a:rPr>
              <a:t>You can find data leakage, name which of the four kinds it is, and fix it structurally.</a:t>
            </a:r>
          </a:p>
        </p:txBody>
      </p:sp>
      <p:sp>
        <p:nvSpPr>
          <p:cNvPr id="16" name="Oval 15"/>
          <p:cNvSpPr/>
          <p:nvPr/>
        </p:nvSpPr>
        <p:spPr>
          <a:xfrm>
            <a:off x="685800" y="4949795"/>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894931"/>
            <a:ext cx="10271455" cy="401442"/>
          </a:xfrm>
          <a:prstGeom prst="rect">
            <a:avLst/>
          </a:prstGeom>
          <a:noFill/>
        </p:spPr>
        <p:txBody>
          <a:bodyPr wrap="square" lIns="0" rIns="0" tIns="0" bIns="0" anchor="t">
            <a:spAutoFit/>
          </a:bodyPr>
          <a:lstStyle/>
          <a:p>
            <a:pPr algn="l">
              <a:lnSpc>
                <a:spcPct val="120000"/>
              </a:lnSpc>
              <a:spcAft>
                <a:spcPts val="600"/>
              </a:spcAft>
            </a:pPr>
            <a:r>
              <a:rPr sz="1584" b="0" i="0">
                <a:solidFill>
                  <a:srgbClr val="2A3B4A"/>
                </a:solidFill>
                <a:latin typeface="Calibri"/>
              </a:rPr>
              <a:t>You can state what your model cannot do and under what conditions it should not be used.</a:t>
            </a:r>
          </a:p>
        </p:txBody>
      </p:sp>
      <p:sp>
        <p:nvSpPr>
          <p:cNvPr id="18" name="Oval 17"/>
          <p:cNvSpPr/>
          <p:nvPr/>
        </p:nvSpPr>
        <p:spPr>
          <a:xfrm>
            <a:off x="685800" y="5396958"/>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342094"/>
            <a:ext cx="10271455" cy="401442"/>
          </a:xfrm>
          <a:prstGeom prst="rect">
            <a:avLst/>
          </a:prstGeom>
          <a:noFill/>
        </p:spPr>
        <p:txBody>
          <a:bodyPr wrap="square" lIns="0" rIns="0" tIns="0" bIns="0" anchor="t">
            <a:spAutoFit/>
          </a:bodyPr>
          <a:lstStyle/>
          <a:p>
            <a:pPr algn="l">
              <a:lnSpc>
                <a:spcPct val="120000"/>
              </a:lnSpc>
              <a:spcAft>
                <a:spcPts val="600"/>
              </a:spcAft>
            </a:pPr>
            <a:r>
              <a:rPr sz="1584" b="0" i="0">
                <a:solidFill>
                  <a:srgbClr val="2A3B4A"/>
                </a:solidFill>
                <a:latin typeface="Calibri"/>
              </a:rPr>
              <a:t>You can hand somebody a repository they can clone and run, and defend the numbers in it.</a:t>
            </a:r>
          </a:p>
        </p:txBody>
      </p:sp>
      <p:sp>
        <p:nvSpPr>
          <p:cNvPr id="20" name="Oval 19"/>
          <p:cNvSpPr/>
          <p:nvPr/>
        </p:nvSpPr>
        <p:spPr>
          <a:xfrm>
            <a:off x="685800" y="5844121"/>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97280" y="5789257"/>
            <a:ext cx="10271455" cy="401442"/>
          </a:xfrm>
          <a:prstGeom prst="rect">
            <a:avLst/>
          </a:prstGeom>
          <a:noFill/>
        </p:spPr>
        <p:txBody>
          <a:bodyPr wrap="square" lIns="0" rIns="0" tIns="0" bIns="0" anchor="t">
            <a:spAutoFit/>
          </a:bodyPr>
          <a:lstStyle/>
          <a:p>
            <a:pPr algn="l">
              <a:lnSpc>
                <a:spcPct val="120000"/>
              </a:lnSpc>
              <a:spcAft>
                <a:spcPts val="600"/>
              </a:spcAft>
            </a:pPr>
            <a:r>
              <a:rPr sz="1584" b="0" i="0">
                <a:solidFill>
                  <a:srgbClr val="2A3B4A"/>
                </a:solidFill>
                <a:latin typeface="Calibri"/>
              </a:rPr>
              <a:t>And you can say 'the data cannot answer this question, and here is what would', which is a real engineering result.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7160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ONE THING TO REMEMBER</a:t>
            </a:r>
          </a:p>
        </p:txBody>
      </p:sp>
      <p:sp>
        <p:nvSpPr>
          <p:cNvPr id="4" name="TextBox 3"/>
          <p:cNvSpPr txBox="1"/>
          <p:nvPr/>
        </p:nvSpPr>
        <p:spPr>
          <a:xfrm>
            <a:off x="685800" y="1965960"/>
            <a:ext cx="10820095" cy="2194560"/>
          </a:xfrm>
          <a:prstGeom prst="rect">
            <a:avLst/>
          </a:prstGeom>
          <a:noFill/>
        </p:spPr>
        <p:txBody>
          <a:bodyPr wrap="square" lIns="0" rIns="0" tIns="0" bIns="0" anchor="t">
            <a:spAutoFit/>
          </a:bodyPr>
          <a:lstStyle/>
          <a:p>
            <a:pPr algn="l">
              <a:lnSpc>
                <a:spcPct val="110000"/>
              </a:lnSpc>
              <a:spcAft>
                <a:spcPts val="600"/>
              </a:spcAft>
            </a:pPr>
            <a:r>
              <a:rPr sz="3400" b="1" i="0">
                <a:solidFill>
                  <a:srgbClr val="FFFFFF"/>
                </a:solidFill>
                <a:latin typeface="Cambria"/>
              </a:rPr>
              <a:t>You can take an engineering problem</a:t>
            </a:r>
          </a:p>
          <a:p>
            <a:pPr algn="l">
              <a:lnSpc>
                <a:spcPct val="110000"/>
              </a:lnSpc>
              <a:spcAft>
                <a:spcPts val="600"/>
              </a:spcAft>
            </a:pPr>
            <a:r>
              <a:rPr sz="3400" b="1" i="0">
                <a:solidFill>
                  <a:srgbClr val="FFFFFF"/>
                </a:solidFill>
                <a:latin typeface="Cambria"/>
              </a:rPr>
              <a:t>involving data and start investigating it.</a:t>
            </a:r>
          </a:p>
        </p:txBody>
      </p:sp>
      <p:sp>
        <p:nvSpPr>
          <p:cNvPr id="5" name="TextBox 4"/>
          <p:cNvSpPr txBox="1"/>
          <p:nvPr/>
        </p:nvSpPr>
        <p:spPr>
          <a:xfrm>
            <a:off x="685800" y="443484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In September most of this room had never written a line of code. Today you presented a model you built, on data you cleaned, with features from your own discipline, evaluated under a protocol you fixed, in a repository somebody else can run. You also said what it cannot do.</a:t>
            </a:r>
          </a:p>
        </p:txBody>
      </p:sp>
      <p:sp>
        <p:nvSpPr>
          <p:cNvPr id="6" name="TextBox 5"/>
          <p:cNvSpPr txBox="1"/>
          <p:nvPr/>
        </p:nvSpPr>
        <p:spPr>
          <a:xfrm>
            <a:off x="685800" y="594360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Semester 2 starts with your own goals, applied to new problems. Keep the repository.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