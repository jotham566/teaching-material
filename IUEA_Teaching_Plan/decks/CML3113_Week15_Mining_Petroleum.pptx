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6ac47945b24e32" /><Relationship Type="http://schemas.openxmlformats.org/officeDocument/2006/relationships/extended-properties" Target="/docProps/app.xml" Id="R6f4989a4f264481f" /><Relationship Type="http://schemas.openxmlformats.org/officeDocument/2006/relationships/officeDocument" Target="/ppt/presentation.xml" Id="Re1e0d2b0bbc0462a" /></Relationships>
</file>

<file path=ppt/presentation.xml><?xml version="1.0" encoding="utf-8"?>
<p:presentation xmlns:p="http://schemas.openxmlformats.org/presentationml/2006/main">
  <p:sldMasterIdLst>
    <p:sldMasterId xmlns:r="http://schemas.openxmlformats.org/officeDocument/2006/relationships" id="2147483648" r:id="R5ec91af9973f4e2c"/>
  </p:sldMasterIdLst>
  <p:notesMasterIdLst>
    <p:notesMasterId xmlns:r="http://schemas.openxmlformats.org/officeDocument/2006/relationships" r:id="R70b385ee2e3e485a"/>
  </p:notesMasterIdLst>
  <p:sldIdLst>
    <p:sldId xmlns:r="http://schemas.openxmlformats.org/officeDocument/2006/relationships" id="256" r:id="R7e2ca9b9a87d457f"/>
    <p:sldId xmlns:r="http://schemas.openxmlformats.org/officeDocument/2006/relationships" id="257" r:id="R4b49a8a07a9b4548"/>
    <p:sldId xmlns:r="http://schemas.openxmlformats.org/officeDocument/2006/relationships" id="258" r:id="Re7a647ea0df74bb9"/>
    <p:sldId xmlns:r="http://schemas.openxmlformats.org/officeDocument/2006/relationships" id="259" r:id="Re0fd94efff42433d"/>
    <p:sldId xmlns:r="http://schemas.openxmlformats.org/officeDocument/2006/relationships" id="260" r:id="Rf20973207d474fcf"/>
    <p:sldId xmlns:r="http://schemas.openxmlformats.org/officeDocument/2006/relationships" id="261" r:id="Rdb9e339bb1134044"/>
    <p:sldId xmlns:r="http://schemas.openxmlformats.org/officeDocument/2006/relationships" id="262" r:id="R0d82f9813fd34a72"/>
    <p:sldId xmlns:r="http://schemas.openxmlformats.org/officeDocument/2006/relationships" id="263" r:id="Ra475182300504475"/>
    <p:sldId xmlns:r="http://schemas.openxmlformats.org/officeDocument/2006/relationships" id="264" r:id="Re5a6c2e143df49bb"/>
    <p:sldId xmlns:r="http://schemas.openxmlformats.org/officeDocument/2006/relationships" id="265" r:id="R156e521e4ebd43de"/>
    <p:sldId xmlns:r="http://schemas.openxmlformats.org/officeDocument/2006/relationships" id="266" r:id="Rf7bc031d709a4272"/>
    <p:sldId xmlns:r="http://schemas.openxmlformats.org/officeDocument/2006/relationships" id="267" r:id="R9cb3616dce1d4f06"/>
    <p:sldId xmlns:r="http://schemas.openxmlformats.org/officeDocument/2006/relationships" id="268" r:id="Rf9c3051d3d444a26"/>
    <p:sldId xmlns:r="http://schemas.openxmlformats.org/officeDocument/2006/relationships" id="269" r:id="R5ac2cda3ad7a4435"/>
    <p:sldId xmlns:r="http://schemas.openxmlformats.org/officeDocument/2006/relationships" id="270" r:id="R0d97e30b20bd4158"/>
    <p:sldId xmlns:r="http://schemas.openxmlformats.org/officeDocument/2006/relationships" id="271" r:id="R1a4a0bb99dee4d2a"/>
    <p:sldId xmlns:r="http://schemas.openxmlformats.org/officeDocument/2006/relationships" id="272" r:id="R37ed70667469497f"/>
    <p:sldId xmlns:r="http://schemas.openxmlformats.org/officeDocument/2006/relationships" id="273" r:id="Recbddda38d244e64"/>
    <p:sldId xmlns:r="http://schemas.openxmlformats.org/officeDocument/2006/relationships" id="274" r:id="R23ebd035ef914e3b"/>
    <p:sldId xmlns:r="http://schemas.openxmlformats.org/officeDocument/2006/relationships" id="275" r:id="Rc2064aea69e540e1"/>
    <p:sldId xmlns:r="http://schemas.openxmlformats.org/officeDocument/2006/relationships" id="276" r:id="Rdfaefe213d604c45"/>
    <p:sldId xmlns:r="http://schemas.openxmlformats.org/officeDocument/2006/relationships" id="277" r:id="R7027ec8b39fb4db5"/>
    <p:sldId xmlns:r="http://schemas.openxmlformats.org/officeDocument/2006/relationships" id="278" r:id="R0a5b9a324b6f46ed"/>
    <p:sldId xmlns:r="http://schemas.openxmlformats.org/officeDocument/2006/relationships" id="279" r:id="R4fc3c3b1bf93404b"/>
    <p:sldId xmlns:r="http://schemas.openxmlformats.org/officeDocument/2006/relationships" id="280" r:id="R9900f8b03c614857"/>
    <p:sldId xmlns:r="http://schemas.openxmlformats.org/officeDocument/2006/relationships" id="281" r:id="R5e6b5b7630ec4436"/>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2106f6a8af42e6" /><Relationship Type="http://schemas.openxmlformats.org/officeDocument/2006/relationships/slideMaster" Target="/ppt/slideMasters/slideMaster1.xml" Id="R5ec91af9973f4e2c" /><Relationship Type="http://schemas.openxmlformats.org/officeDocument/2006/relationships/notesMaster" Target="/ppt/notesMasters/notesMaster1.xml" Id="R70b385ee2e3e485a" /><Relationship Type="http://schemas.openxmlformats.org/officeDocument/2006/relationships/presProps" Target="/ppt/presProps.xml" Id="R4fdb3a6f85df4db6" /><Relationship Type="http://schemas.openxmlformats.org/officeDocument/2006/relationships/tableStyles" Target="/ppt/tableStyles.xml" Id="R931eac0c080546dc" /><Relationship Type="http://schemas.openxmlformats.org/officeDocument/2006/relationships/slide" Target="/ppt/slides/slide1.xml" Id="R7e2ca9b9a87d457f" /><Relationship Type="http://schemas.openxmlformats.org/officeDocument/2006/relationships/slide" Target="/ppt/slides/slide2.xml" Id="R4b49a8a07a9b4548" /><Relationship Type="http://schemas.openxmlformats.org/officeDocument/2006/relationships/slide" Target="/ppt/slides/slide3.xml" Id="Re7a647ea0df74bb9" /><Relationship Type="http://schemas.openxmlformats.org/officeDocument/2006/relationships/slide" Target="/ppt/slides/slide4.xml" Id="Re0fd94efff42433d" /><Relationship Type="http://schemas.openxmlformats.org/officeDocument/2006/relationships/slide" Target="/ppt/slides/slide5.xml" Id="Rf20973207d474fcf" /><Relationship Type="http://schemas.openxmlformats.org/officeDocument/2006/relationships/slide" Target="/ppt/slides/slide6.xml" Id="Rdb9e339bb1134044" /><Relationship Type="http://schemas.openxmlformats.org/officeDocument/2006/relationships/slide" Target="/ppt/slides/slide7.xml" Id="R0d82f9813fd34a72" /><Relationship Type="http://schemas.openxmlformats.org/officeDocument/2006/relationships/slide" Target="/ppt/slides/slide8.xml" Id="Ra475182300504475" /><Relationship Type="http://schemas.openxmlformats.org/officeDocument/2006/relationships/slide" Target="/ppt/slides/slide9.xml" Id="Re5a6c2e143df49bb" /><Relationship Type="http://schemas.openxmlformats.org/officeDocument/2006/relationships/slide" Target="/ppt/slides/slide10.xml" Id="R156e521e4ebd43de" /><Relationship Type="http://schemas.openxmlformats.org/officeDocument/2006/relationships/slide" Target="/ppt/slides/slide11.xml" Id="Rf7bc031d709a4272" /><Relationship Type="http://schemas.openxmlformats.org/officeDocument/2006/relationships/slide" Target="/ppt/slides/slide12.xml" Id="R9cb3616dce1d4f06" /><Relationship Type="http://schemas.openxmlformats.org/officeDocument/2006/relationships/slide" Target="/ppt/slides/slide13.xml" Id="Rf9c3051d3d444a26" /><Relationship Type="http://schemas.openxmlformats.org/officeDocument/2006/relationships/slide" Target="/ppt/slides/slide14.xml" Id="R5ac2cda3ad7a4435" /><Relationship Type="http://schemas.openxmlformats.org/officeDocument/2006/relationships/slide" Target="/ppt/slides/slide15.xml" Id="R0d97e30b20bd4158" /><Relationship Type="http://schemas.openxmlformats.org/officeDocument/2006/relationships/slide" Target="/ppt/slides/slide16.xml" Id="R1a4a0bb99dee4d2a" /><Relationship Type="http://schemas.openxmlformats.org/officeDocument/2006/relationships/slide" Target="/ppt/slides/slide17.xml" Id="R37ed70667469497f" /><Relationship Type="http://schemas.openxmlformats.org/officeDocument/2006/relationships/slide" Target="/ppt/slides/slide18.xml" Id="Recbddda38d244e64" /><Relationship Type="http://schemas.openxmlformats.org/officeDocument/2006/relationships/slide" Target="/ppt/slides/slide19.xml" Id="R23ebd035ef914e3b" /><Relationship Type="http://schemas.openxmlformats.org/officeDocument/2006/relationships/slide" Target="/ppt/slides/slide20.xml" Id="Rc2064aea69e540e1" /><Relationship Type="http://schemas.openxmlformats.org/officeDocument/2006/relationships/slide" Target="/ppt/slides/slide21.xml" Id="Rdfaefe213d604c45" /><Relationship Type="http://schemas.openxmlformats.org/officeDocument/2006/relationships/slide" Target="/ppt/slides/slide22.xml" Id="R7027ec8b39fb4db5" /><Relationship Type="http://schemas.openxmlformats.org/officeDocument/2006/relationships/slide" Target="/ppt/slides/slide23.xml" Id="R0a5b9a324b6f46ed" /><Relationship Type="http://schemas.openxmlformats.org/officeDocument/2006/relationships/slide" Target="/ppt/slides/slide24.xml" Id="R4fc3c3b1bf93404b" /><Relationship Type="http://schemas.openxmlformats.org/officeDocument/2006/relationships/slide" Target="/ppt/slides/slide25.xml" Id="R9900f8b03c614857" /><Relationship Type="http://schemas.openxmlformats.org/officeDocument/2006/relationships/slide" Target="/ppt/slides/slide26.xml" Id="R5e6b5b7630ec44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8ab6f8b54347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a63b591f244054" /><Relationship Type="http://schemas.openxmlformats.org/officeDocument/2006/relationships/notesMaster" Target="/ppt/notesMasters/notesMaster1.xml" Id="R3cbef71ba02a4d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07e17821ea4edd" /><Relationship Type="http://schemas.openxmlformats.org/officeDocument/2006/relationships/notesMaster" Target="/ppt/notesMasters/notesMaster1.xml" Id="R04747ac95b1743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ec941350f64a47" /><Relationship Type="http://schemas.openxmlformats.org/officeDocument/2006/relationships/notesMaster" Target="/ppt/notesMasters/notesMaster1.xml" Id="R1c63d912f0d546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93538a34af4235" /><Relationship Type="http://schemas.openxmlformats.org/officeDocument/2006/relationships/notesMaster" Target="/ppt/notesMasters/notesMaster1.xml" Id="R5792ae1f2b8349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959ed2e2f94fa2" /><Relationship Type="http://schemas.openxmlformats.org/officeDocument/2006/relationships/notesMaster" Target="/ppt/notesMasters/notesMaster1.xml" Id="R25995e7986fc48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6eff949d7245e4" /><Relationship Type="http://schemas.openxmlformats.org/officeDocument/2006/relationships/notesMaster" Target="/ppt/notesMasters/notesMaster1.xml" Id="Rc7b2dcef707046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9cdceedada4425" /><Relationship Type="http://schemas.openxmlformats.org/officeDocument/2006/relationships/notesMaster" Target="/ppt/notesMasters/notesMaster1.xml" Id="R0c543c260d9943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6eba19ec3f45b8" /><Relationship Type="http://schemas.openxmlformats.org/officeDocument/2006/relationships/notesMaster" Target="/ppt/notesMasters/notesMaster1.xml" Id="R2acd13f5cef241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f1009824d34c19" /><Relationship Type="http://schemas.openxmlformats.org/officeDocument/2006/relationships/notesMaster" Target="/ppt/notesMasters/notesMaster1.xml" Id="R7cc4e367685645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8fdd5285ee461e" /><Relationship Type="http://schemas.openxmlformats.org/officeDocument/2006/relationships/notesMaster" Target="/ppt/notesMasters/notesMaster1.xml" Id="R82fdd79ad36c4e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995081ea534815" /><Relationship Type="http://schemas.openxmlformats.org/officeDocument/2006/relationships/notesMaster" Target="/ppt/notesMasters/notesMaster1.xml" Id="Rd11f63e160fd49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8cd689feba4d8b" /><Relationship Type="http://schemas.openxmlformats.org/officeDocument/2006/relationships/notesMaster" Target="/ppt/notesMasters/notesMaster1.xml" Id="R461eb17d40b6444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5b4a0ffea04fd9" /><Relationship Type="http://schemas.openxmlformats.org/officeDocument/2006/relationships/notesMaster" Target="/ppt/notesMasters/notesMaster1.xml" Id="R97a02df9599e434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2c702b26d241b4" /><Relationship Type="http://schemas.openxmlformats.org/officeDocument/2006/relationships/notesMaster" Target="/ppt/notesMasters/notesMaster1.xml" Id="R74c2247423d746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d64a6763be436c" /><Relationship Type="http://schemas.openxmlformats.org/officeDocument/2006/relationships/notesMaster" Target="/ppt/notesMasters/notesMaster1.xml" Id="R77aabd57432145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4ae9336e09d43eb" /><Relationship Type="http://schemas.openxmlformats.org/officeDocument/2006/relationships/notesMaster" Target="/ppt/notesMasters/notesMaster1.xml" Id="R39cdb4f890184ce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fc305fec3c430b" /><Relationship Type="http://schemas.openxmlformats.org/officeDocument/2006/relationships/notesMaster" Target="/ppt/notesMasters/notesMaster1.xml" Id="Rb0f41120d5f6425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503a9e58c5549e4" /><Relationship Type="http://schemas.openxmlformats.org/officeDocument/2006/relationships/notesMaster" Target="/ppt/notesMasters/notesMaster1.xml" Id="Ra52890d711ce48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e26496cca4942b3" /><Relationship Type="http://schemas.openxmlformats.org/officeDocument/2006/relationships/notesMaster" Target="/ppt/notesMasters/notesMaster1.xml" Id="R09892bf97047437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1f504600d4b4488" /><Relationship Type="http://schemas.openxmlformats.org/officeDocument/2006/relationships/notesMaster" Target="/ppt/notesMasters/notesMaster1.xml" Id="R3fd5b7a7d6d7466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335877758904096" /><Relationship Type="http://schemas.openxmlformats.org/officeDocument/2006/relationships/notesMaster" Target="/ppt/notesMasters/notesMaster1.xml" Id="R737bf3c2418b4af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6d79e543b1944d4" /><Relationship Type="http://schemas.openxmlformats.org/officeDocument/2006/relationships/notesMaster" Target="/ppt/notesMasters/notesMaster1.xml" Id="R80d6cc05c4e94dc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efde81ef11c421f" /><Relationship Type="http://schemas.openxmlformats.org/officeDocument/2006/relationships/notesMaster" Target="/ppt/notesMasters/notesMaster1.xml" Id="R5e55d1e387c8460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8642f57d7b84436" /><Relationship Type="http://schemas.openxmlformats.org/officeDocument/2006/relationships/notesMaster" Target="/ppt/notesMasters/notesMaster1.xml" Id="R3b46541b5180476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076cbd90dbd4fc4" /><Relationship Type="http://schemas.openxmlformats.org/officeDocument/2006/relationships/notesMaster" Target="/ppt/notesMasters/notesMaster1.xml" Id="R8b547baeeef8426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b4b416ff65649e4" /><Relationship Type="http://schemas.openxmlformats.org/officeDocument/2006/relationships/notesMaster" Target="/ppt/notesMasters/notesMaster1.xml" Id="R782ce161fe1f49c3"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Presenting the project and individual contribution</a:t>
            </a:r>
          </a:p>
          <a:p>
            <a:r>
              <a:t/>
            </a:r>
          </a:p>
          <a:p>
            <a:r>
              <a:t>LECTURER CUE</a:t>
            </a:r>
          </a:p>
          <a:p>
            <a:r>
              <a:t>Use PowerPoint Presenter View for these notes. Teach one example, pause for every learner to predict, then work an analogous example together. The practice notebook is a learning aid, not an extra graded upload.</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Today’s learning.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Today’s learning</a:t>
            </a:r>
          </a:p>
          <a:p>
            <a:r>
              <a:t/>
            </a:r>
          </a:p>
          <a:p>
            <a:r>
              <a:t>CONNECT</a:t>
            </a:r>
          </a:p>
          <a:p>
            <a:r>
              <a:t>Build on the preceding slide: Presenting the project and individual contribution.</a:t>
            </a:r>
          </a:p>
          <a:p>
            <a:r>
              <a:t/>
            </a:r>
          </a:p>
          <a:p>
            <a:r>
              <a:t>LECTURER CUE</a:t>
            </a:r>
          </a:p>
          <a:p>
            <a:r>
              <a:t>Ask learners to explain this goal in ordinary language. The first successful attempt matters more than covering optional extensions. Defer: New models and a last-minute redesign are unnecessary. Fix broken run instructions first.</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Recall and a first attempt.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Recall and a first attempt</a:t>
            </a:r>
          </a:p>
          <a:p>
            <a:r>
              <a:t/>
            </a:r>
          </a:p>
          <a:p>
            <a:r>
              <a:t>CONNECT</a:t>
            </a:r>
          </a:p>
          <a:p>
            <a:r>
              <a:t>Build on the preceding slide: Today’s learning.</a:t>
            </a:r>
          </a:p>
          <a:p>
            <a:r>
              <a:t/>
            </a:r>
          </a:p>
          <a:p>
            <a:r>
              <a:t>LECTURER CUE</a:t>
            </a:r>
          </a:p>
          <a:p>
            <a:r>
              <a:t>Allow two minutes for everyone to try. Ask pairs to compare. If many cannot begin, show the first step and repeat with changed values. Checkpoint for today: Each student can explain one decision they personally worked on and point to its evidence.</a:t>
            </a:r>
          </a:p>
          <a:p>
            <a:r>
              <a:t/>
            </a:r>
          </a:p>
          <a:p>
            <a:r>
              <a:t>EXPLAIN IN ORDINARY WORDS</a:t>
            </a:r>
          </a:p>
          <a:p>
            <a:r>
              <a:t>Name the positive class first. Actual is what happened; predicted is the model decision. Precision asks how many predicted positives were right. Recall asks how many actual positives were found.</a:t>
            </a:r>
          </a:p>
          <a:p>
            <a:r>
              <a:t/>
            </a:r>
          </a:p>
          <a:p>
            <a:r>
              <a:t>CHECK AND EXPECTED ANSWER</a:t>
            </a:r>
          </a:p>
          <a:p>
            <a:r>
              <a:t>With TP=2, FP=1, FN=2: precision=2/3 and recall=2/4. A missed actual positive is a false negative.</a:t>
            </a:r>
          </a:p>
          <a:p>
            <a:r>
              <a:t/>
            </a:r>
          </a:p>
          <a:p>
            <a:r>
              <a:t>IF LEARNERS ARE STUCK</a:t>
            </a:r>
          </a:p>
          <a:p>
            <a:r>
              <a:t>Draw actual/predicted headings. Place one case at a time before calculating a fraction. Explain the task rule for a zero denominator.</a:t>
            </a:r>
          </a:p>
          <a:p>
            <a:r>
              <a:t/>
            </a:r>
          </a:p>
          <a:p>
            <a:r>
              <a:t>NEXT</a:t>
            </a:r>
          </a:p>
          <a:p>
            <a:r>
              <a:t>A presentation connects a claim to evidence.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presentation connects a claim to evidence</a:t>
            </a:r>
          </a:p>
          <a:p>
            <a:r>
              <a:t/>
            </a:r>
          </a:p>
          <a:p>
            <a:r>
              <a:t>CONNECT</a:t>
            </a:r>
          </a:p>
          <a:p>
            <a:r>
              <a:t>Build on the preceding slide: Recall and a first attempt.</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POINT TO THE DEFINITION</a:t>
            </a:r>
          </a:p>
          <a:p>
            <a:r>
              <a:t>Finding and limitation: A finding states what the evidence shows. A limitation states where that evidence is incomplete or may not apply. Point to the relevant chart, metric or record.</a:t>
            </a:r>
          </a:p>
          <a:p>
            <a:r>
              <a:t>Defence and reflection: A defence explains why you made a choice. A reflection explains what you learned and would improve. Describe your own contribution with specific evidence.</a:t>
            </a:r>
          </a:p>
          <a:p>
            <a:r>
              <a:t/>
            </a:r>
          </a:p>
          <a:p>
            <a:r>
              <a:t>NEXT</a:t>
            </a:r>
          </a:p>
          <a:p>
            <a:r>
              <a:t>A six-minute presentation.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six-minute presentation</a:t>
            </a:r>
          </a:p>
          <a:p>
            <a:r>
              <a:t/>
            </a:r>
          </a:p>
          <a:p>
            <a:r>
              <a:t>CONNECT</a:t>
            </a:r>
          </a:p>
          <a:p>
            <a:r>
              <a:t>Build on the preceding slide: A presentation connects a claim to evidence.</a:t>
            </a:r>
          </a:p>
          <a:p>
            <a:r>
              <a:t/>
            </a:r>
          </a:p>
          <a:p>
            <a:r>
              <a:t>LECTURER CUE</a:t>
            </a:r>
          </a:p>
          <a:p>
            <a:r>
              <a:t>Model a six-minute presentation: one minute for the problem, one for the data, two for the method and result, one for limitations and one for contribution and next step.</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Make the evidence readable.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Make the evidence readable</a:t>
            </a:r>
          </a:p>
          <a:p>
            <a:r>
              <a:t/>
            </a:r>
          </a:p>
          <a:p>
            <a:r>
              <a:t>CONNECT</a:t>
            </a:r>
          </a:p>
          <a:p>
            <a:r>
              <a:t>Build on the preceding slide: A six-minute presentation.</a:t>
            </a:r>
          </a:p>
          <a:p>
            <a:r>
              <a:t/>
            </a:r>
          </a:p>
          <a:p>
            <a:r>
              <a:t>LECTURER CUE</a:t>
            </a:r>
          </a:p>
          <a:p>
            <a:r>
              <a:t>Explain each chart’s axes and unit before stating its finding. Use the actual measured validation results and state how they were obtained.</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Explain the limits honestly.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Explain the limits honestly</a:t>
            </a:r>
          </a:p>
          <a:p>
            <a:r>
              <a:t/>
            </a:r>
          </a:p>
          <a:p>
            <a:r>
              <a:t>CONNECT</a:t>
            </a:r>
          </a:p>
          <a:p>
            <a:r>
              <a:t>Build on the preceding slide: Make the evidence readable.</a:t>
            </a:r>
          </a:p>
          <a:p>
            <a:r>
              <a:t/>
            </a:r>
          </a:p>
          <a:p>
            <a:r>
              <a:t>LECTURER CUE</a:t>
            </a:r>
          </a:p>
          <a:p>
            <a:r>
              <a:t>Practise saying “I do not know yet” followed by the evidence needed to resolve the question. Do not claim deployment readiness from a teaching dataset.</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You are explaining to a colleague.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 are explaining to a colleague</a:t>
            </a:r>
          </a:p>
          <a:p>
            <a:r>
              <a:t/>
            </a:r>
          </a:p>
          <a:p>
            <a:r>
              <a:t>CONNECT</a:t>
            </a:r>
          </a:p>
          <a:p>
            <a:r>
              <a:t>Build on the preceding slide: Explain the limits honestly.</a:t>
            </a:r>
          </a:p>
          <a:p>
            <a:r>
              <a:t/>
            </a:r>
          </a:p>
          <a:p>
            <a:r>
              <a:t>LECTURER CUE</a:t>
            </a:r>
          </a:p>
          <a:p>
            <a:r>
              <a:t>Do this before revealing the discussion slide. One learner moves or writes the items, the other checks. Swap roles. Every student explains one step. Expected: A strong explanation connects a claim to evidence and makes its limits clear. Avoid claiming deployment readiness from teaching data.</a:t>
            </a:r>
          </a:p>
          <a:p>
            <a:r>
              <a:t>Wait for an individual prediction before inviting pair discussion. Give a first-step hint if needed.</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What the activity shows.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What the activity shows</a:t>
            </a:r>
          </a:p>
          <a:p>
            <a:r>
              <a:t/>
            </a:r>
          </a:p>
          <a:p>
            <a:r>
              <a:t>CONNECT</a:t>
            </a:r>
          </a:p>
          <a:p>
            <a:r>
              <a:t>Build on the preceding slide: You are explaining to a colleague.</a:t>
            </a:r>
          </a:p>
          <a:p>
            <a:r>
              <a:t/>
            </a:r>
          </a:p>
          <a:p>
            <a:r>
              <a:t>LECTURER CUE</a:t>
            </a:r>
          </a:p>
          <a:p>
            <a:r>
              <a:t>Ask which step produced this answer. Return to the concrete action if a learner cannot explain it. This is practice feedback, never a quiz key.</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Preparation checkpoint.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Preparation checkpoint</a:t>
            </a:r>
          </a:p>
          <a:p>
            <a:r>
              <a:t/>
            </a:r>
          </a:p>
          <a:p>
            <a:r>
              <a:t>CONNECT</a:t>
            </a:r>
          </a:p>
          <a:p>
            <a:r>
              <a:t>Build on the preceding slide: What the activity shows.</a:t>
            </a:r>
          </a:p>
          <a:p>
            <a:r>
              <a:t/>
            </a:r>
          </a:p>
          <a:p>
            <a:r>
              <a:t>LECTURER CUE</a:t>
            </a:r>
          </a:p>
          <a:p>
            <a:r>
              <a:t>Each student can explain one decision they personally worked on and point to its evidence.</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Your evidence.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Your evidence</a:t>
            </a:r>
          </a:p>
          <a:p>
            <a:r>
              <a:t/>
            </a:r>
          </a:p>
          <a:p>
            <a:r>
              <a:t>CONNECT</a:t>
            </a:r>
          </a:p>
          <a:p>
            <a:r>
              <a:t>Build on the preceding slide: Preparation checkpoint.</a:t>
            </a:r>
          </a:p>
          <a:p>
            <a:r>
              <a:t/>
            </a:r>
          </a:p>
          <a:p>
            <a:r>
              <a:t>LECTURER CUE</a:t>
            </a:r>
          </a:p>
          <a:p>
            <a:r>
              <a:t>Use the published project and DEMO requirements. Each individual submits their own typed defence and reflection through the designated route. Live questioning and peer comments support learning; they are not a new manual marking workload.</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Engineering ML project.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Engineering ML project</a:t>
            </a:r>
          </a:p>
          <a:p>
            <a:r>
              <a:t/>
            </a:r>
          </a:p>
          <a:p>
            <a:r>
              <a:t>CONNECT</a:t>
            </a:r>
          </a:p>
          <a:p>
            <a:r>
              <a:t>Build on the preceding slide: Your evidence.</a:t>
            </a:r>
          </a:p>
          <a:p>
            <a:r>
              <a:t/>
            </a:r>
          </a:p>
          <a:p>
            <a:r>
              <a:t>LECTURER CUE</a:t>
            </a:r>
          </a:p>
          <a:p>
            <a:r>
              <a:t># CML3113 ML_PROJECT: Engineering ML project — variant A</a:t>
            </a:r>
          </a:p>
          <a:p>
            <a:r>
              <a:t>Full assessment requirements belong in the current public task guide; explain only the criterion or task shown on this slide.</a:t>
            </a:r>
          </a:p>
          <a:p>
            <a:r>
              <a:t/>
            </a:r>
          </a:p>
          <a:p>
            <a:r>
              <a:t>EXPLAIN IN ORDINARY WORDS</a:t>
            </a:r>
          </a:p>
          <a:p>
            <a:r>
              <a:t>A function is a named set of instructions. def defines it; a call runs it with inputs. Parameters are input names, arguments are supplied values, and return sends the result back.</a:t>
            </a:r>
          </a:p>
          <a:p>
            <a:r>
              <a:t/>
            </a:r>
          </a:p>
          <a:p>
            <a:r>
              <a:t>CHECK AND EXPECTED ANSWER</a:t>
            </a:r>
          </a:p>
          <a:p>
            <a:r>
              <a:t>Does print(8) return the number 8 to the caller? No; it displays 8 and returns None. A function needing a numeric result should return it.</a:t>
            </a:r>
          </a:p>
          <a:p>
            <a:r>
              <a:t/>
            </a:r>
          </a:p>
          <a:p>
            <a:r>
              <a:t>IF LEARNERS ARE STUCK</a:t>
            </a:r>
          </a:p>
          <a:p>
            <a:r>
              <a:t>Trace one call: bind input names, run the indented body, reach return, then put the returned result back into the calling expression.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Engineering ML project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Engineering ML project continued</a:t>
            </a:r>
          </a:p>
          <a:p>
            <a:r>
              <a:t/>
            </a:r>
          </a:p>
          <a:p>
            <a:r>
              <a:t>CONNECT</a:t>
            </a:r>
          </a:p>
          <a:p>
            <a:r>
              <a:t>Build on the preceding slide: Engineering ML project.</a:t>
            </a:r>
          </a:p>
          <a:p>
            <a:r>
              <a:t/>
            </a:r>
          </a:p>
          <a:p>
            <a:r>
              <a:t>LECTURER CUE</a:t>
            </a:r>
          </a:p>
          <a:p>
            <a:r>
              <a:t># CML3113 ML_PROJECT: Engineering ML project — variant A</a:t>
            </a:r>
          </a:p>
          <a:p>
            <a:r>
              <a:t>Full assessment requirements belong in the current public task guide; explain only the criterion or task shown on this slide.</a:t>
            </a:r>
          </a:p>
          <a:p>
            <a:r>
              <a:t/>
            </a:r>
          </a:p>
          <a:p>
            <a:r>
              <a:t>EXPLAIN IN ORDINARY WORDS</a:t>
            </a:r>
          </a:p>
          <a:p>
            <a:r>
              <a:t>A cleaning decision needs evidence, a stated rule and a before/after check. Similar rows may be genuine repeated events. Reconciliation compares totals built under the same definitions.</a:t>
            </a:r>
          </a:p>
          <a:p>
            <a:r>
              <a:t/>
            </a:r>
          </a:p>
          <a:p>
            <a:r>
              <a:t>CHECK AND EXPECTED ANSWER</a:t>
            </a:r>
          </a:p>
          <a:p>
            <a:r>
              <a:t>May we delete every repeated amount? No. Check the row identifier and the table grain first.</a:t>
            </a:r>
          </a:p>
          <a:p>
            <a:r>
              <a:t/>
            </a:r>
          </a:p>
          <a:p>
            <a:r>
              <a:t>IF LEARNERS ARE STUCK</a:t>
            </a:r>
          </a:p>
          <a:p>
            <a:r>
              <a:t>Keep raw data, record counts before and after each action, then explain any remaining difference instead of forcing totals to agree.</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Engineering ML project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Engineering ML project continued</a:t>
            </a:r>
          </a:p>
          <a:p>
            <a:r>
              <a:t/>
            </a:r>
          </a:p>
          <a:p>
            <a:r>
              <a:t>CONNECT</a:t>
            </a:r>
          </a:p>
          <a:p>
            <a:r>
              <a:t>Build on the preceding slide: Engineering ML project continued.</a:t>
            </a:r>
          </a:p>
          <a:p>
            <a:r>
              <a:t/>
            </a:r>
          </a:p>
          <a:p>
            <a:r>
              <a:t>LECTURER CUE</a:t>
            </a:r>
          </a:p>
          <a:p>
            <a:r>
              <a:t># CML3113 ML_PROJECT: Engineering ML project — variant A</a:t>
            </a:r>
          </a:p>
          <a:p>
            <a:r>
              <a:t>Full assessment requirements belong in the current public task guide; explain only the criterion or task shown on this slide.</a:t>
            </a:r>
          </a:p>
          <a:p>
            <a:r>
              <a:t/>
            </a:r>
          </a:p>
          <a:p>
            <a:r>
              <a:t>EXPLAIN IN ORDINARY WORDS</a:t>
            </a:r>
          </a:p>
          <a:p>
            <a:r>
              <a:t>A value is a piece of information. A variable is a name referring to a value. In length_m = 5, Python evaluates the right side and binds that result to the name on the left.</a:t>
            </a:r>
          </a:p>
          <a:p>
            <a:r>
              <a:t/>
            </a:r>
          </a:p>
          <a:p>
            <a:r>
              <a:t>CHECK AND EXPECTED ANSWER</a:t>
            </a:r>
          </a:p>
          <a:p>
            <a:r>
              <a:t>After x=3 then x=5, what does print(x) display? 5. The earlier value is not added automatically.</a:t>
            </a:r>
          </a:p>
          <a:p>
            <a:r>
              <a:t/>
            </a:r>
          </a:p>
          <a:p>
            <a:r>
              <a:t>IF LEARNERS ARE STUCK</a:t>
            </a:r>
          </a:p>
          <a:p>
            <a:r>
              <a:t>Write the name on a card and the current value beside it. Distinguish number 3 from quoted text "3".</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Engineering ML project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Engineering ML project continued</a:t>
            </a:r>
          </a:p>
          <a:p>
            <a:r>
              <a:t/>
            </a:r>
          </a:p>
          <a:p>
            <a:r>
              <a:t>CONNECT</a:t>
            </a:r>
          </a:p>
          <a:p>
            <a:r>
              <a:t>Build on the preceding slide: Engineering ML project continued.</a:t>
            </a:r>
          </a:p>
          <a:p>
            <a:r>
              <a:t/>
            </a:r>
          </a:p>
          <a:p>
            <a:r>
              <a:t>LECTURER CUE</a:t>
            </a:r>
          </a:p>
          <a:p>
            <a:r>
              <a:t># CML3113 ML_PROJECT: Engineering ML project — variant A</a:t>
            </a:r>
          </a:p>
          <a:p>
            <a:r>
              <a:t>Full assessment requirements belong in the current public task guide; explain only the criterion or task shown on this slide.</a:t>
            </a:r>
          </a:p>
          <a:p>
            <a:r>
              <a:t/>
            </a:r>
          </a:p>
          <a:p>
            <a:r>
              <a:t>EXPLAIN IN ORDINARY WORDS</a:t>
            </a:r>
          </a:p>
          <a:p>
            <a:r>
              <a:t>Missing means not recorded, not automatically zero. Decide why it is missing and document the rule. Fitted fill values must come from training data when evaluating a model.</a:t>
            </a:r>
          </a:p>
          <a:p>
            <a:r>
              <a:t/>
            </a:r>
          </a:p>
          <a:p>
            <a:r>
              <a:t>CHECK AND EXPECTED ANSWER</a:t>
            </a:r>
          </a:p>
          <a:p>
            <a:r>
              <a:t>Is an unrecorded energy reading evidence of zero consumption? No.</a:t>
            </a:r>
          </a:p>
          <a:p>
            <a:r>
              <a:t/>
            </a:r>
          </a:p>
          <a:p>
            <a:r>
              <a:t>IF LEARNERS ARE STUCK</a:t>
            </a:r>
          </a:p>
          <a:p>
            <a:r>
              <a:t>Use three rows: a recorded zero, a recorded positive value and a blank. Explain their different meanings before cleaning.</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Engineering ML project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Engineering ML project continued</a:t>
            </a:r>
          </a:p>
          <a:p>
            <a:r>
              <a:t/>
            </a:r>
          </a:p>
          <a:p>
            <a:r>
              <a:t>CONNECT</a:t>
            </a:r>
          </a:p>
          <a:p>
            <a:r>
              <a:t>Build on the preceding slide: Engineering ML project continued.</a:t>
            </a:r>
          </a:p>
          <a:p>
            <a:r>
              <a:t/>
            </a:r>
          </a:p>
          <a:p>
            <a:r>
              <a:t>LECTURER CUE</a:t>
            </a:r>
          </a:p>
          <a:p>
            <a:r>
              <a:t># CML3113 ML_PROJECT: Engineering ML project — variant A</a:t>
            </a:r>
          </a:p>
          <a:p>
            <a:r>
              <a:t>Full assessment requirements belong in the current public task guide; explain only the criterion or task shown on this slide.</a:t>
            </a:r>
          </a:p>
          <a:p>
            <a:r>
              <a:t/>
            </a:r>
          </a:p>
          <a:p>
            <a:r>
              <a:t>EXPLAIN IN ORDINARY WORDS</a:t>
            </a:r>
          </a:p>
          <a:p>
            <a:r>
              <a:t>A function is a named set of instructions. def defines it; a call runs it with inputs. Parameters are input names, arguments are supplied values, and return sends the result back.</a:t>
            </a:r>
          </a:p>
          <a:p>
            <a:r>
              <a:t/>
            </a:r>
          </a:p>
          <a:p>
            <a:r>
              <a:t>CHECK AND EXPECTED ANSWER</a:t>
            </a:r>
          </a:p>
          <a:p>
            <a:r>
              <a:t>Does print(8) return the number 8 to the caller? No; it displays 8 and returns None. A function needing a numeric result should return it.</a:t>
            </a:r>
          </a:p>
          <a:p>
            <a:r>
              <a:t/>
            </a:r>
          </a:p>
          <a:p>
            <a:r>
              <a:t>IF LEARNERS ARE STUCK</a:t>
            </a:r>
          </a:p>
          <a:p>
            <a:r>
              <a:t>Trace one call: bind input names, run the indented body, reach return, then put the returned result back into the calling expression.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Engineering ML project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Engineering ML project continued</a:t>
            </a:r>
          </a:p>
          <a:p>
            <a:r>
              <a:t/>
            </a:r>
          </a:p>
          <a:p>
            <a:r>
              <a:t>CONNECT</a:t>
            </a:r>
          </a:p>
          <a:p>
            <a:r>
              <a:t>Build on the preceding slide: Engineering ML project continued.</a:t>
            </a:r>
          </a:p>
          <a:p>
            <a:r>
              <a:t/>
            </a:r>
          </a:p>
          <a:p>
            <a:r>
              <a:t>LECTURER CUE</a:t>
            </a:r>
          </a:p>
          <a:p>
            <a:r>
              <a:t># CML3113 ML_PROJECT: Engineering ML project — variant A</a:t>
            </a:r>
          </a:p>
          <a:p>
            <a:r>
              <a:t>Full assessment requirements belong in the current public task guide; explain only the criterion or task shown on this slide.</a:t>
            </a:r>
          </a:p>
          <a:p>
            <a:r>
              <a:t/>
            </a:r>
          </a:p>
          <a:p>
            <a:r>
              <a:t>EXPLAIN IN ORDINARY WORDS</a:t>
            </a:r>
          </a:p>
          <a:p>
            <a:r>
              <a:t>Cross-validation repeats training and validation on different partitions. Each fold gets a newly fitted model and preprocessing. Variation across fold scores shows sensitivity to the partition.</a:t>
            </a:r>
          </a:p>
          <a:p>
            <a:r>
              <a:t/>
            </a:r>
          </a:p>
          <a:p>
            <a:r>
              <a:t>CHECK AND EXPECTED ANSWER</a:t>
            </a:r>
          </a:p>
          <a:p>
            <a:r>
              <a:t>May preprocessing learn from all rows before the folds? No, that would give each validation fold information from outside its training portion.</a:t>
            </a:r>
          </a:p>
          <a:p>
            <a:r>
              <a:t/>
            </a:r>
          </a:p>
          <a:p>
            <a:r>
              <a:t>IF LEARNERS ARE STUCK</a:t>
            </a:r>
          </a:p>
          <a:p>
            <a:r>
              <a:t>Draw three small partitions and label who learns and who is evaluated. Fold spread is not automatically a confidence interval.</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Engineering ML project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Engineering ML project continued</a:t>
            </a:r>
          </a:p>
          <a:p>
            <a:r>
              <a:t/>
            </a:r>
          </a:p>
          <a:p>
            <a:r>
              <a:t>CONNECT</a:t>
            </a:r>
          </a:p>
          <a:p>
            <a:r>
              <a:t>Build on the preceding slide: Engineering ML project continued.</a:t>
            </a:r>
          </a:p>
          <a:p>
            <a:r>
              <a:t/>
            </a:r>
          </a:p>
          <a:p>
            <a:r>
              <a:t>LECTURER CUE</a:t>
            </a:r>
          </a:p>
          <a:p>
            <a:r>
              <a:t># CML3113 ML_PROJECT: Engineering ML project — variant A</a:t>
            </a:r>
          </a:p>
          <a:p>
            <a:r>
              <a:t>Full assessment requirements belong in the current public task guide; explain only the criterion or task shown on this slide.</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Engineering ML project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Engineering ML project continued</a:t>
            </a:r>
          </a:p>
          <a:p>
            <a:r>
              <a:t/>
            </a:r>
          </a:p>
          <a:p>
            <a:r>
              <a:t>CONNECT</a:t>
            </a:r>
          </a:p>
          <a:p>
            <a:r>
              <a:t>Build on the preceding slide: Engineering ML project continued.</a:t>
            </a:r>
          </a:p>
          <a:p>
            <a:r>
              <a:t/>
            </a:r>
          </a:p>
          <a:p>
            <a:r>
              <a:t>LECTURER CUE</a:t>
            </a:r>
          </a:p>
          <a:p>
            <a:r>
              <a:t># CML3113 ML_PROJECT: Engineering ML project — variant A</a:t>
            </a:r>
          </a:p>
          <a:p>
            <a:r>
              <a:t>Full assessment requirements belong in the current public task guide; explain only the criterion or task shown on this slide.</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Engineering ML project submission.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Engineering ML project submission</a:t>
            </a:r>
          </a:p>
          <a:p>
            <a:r>
              <a:t/>
            </a:r>
          </a:p>
          <a:p>
            <a:r>
              <a:t>CONNECT</a:t>
            </a:r>
          </a:p>
          <a:p>
            <a:r>
              <a:t>Build on the preceding slide: Engineering ML project continued.</a:t>
            </a:r>
          </a:p>
          <a:p>
            <a:r>
              <a:t/>
            </a:r>
          </a:p>
          <a:p>
            <a:r>
              <a:t>LECTURER CUE</a:t>
            </a:r>
          </a:p>
          <a:p>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Presentation evidence (35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Presentation evidence (35 marks)</a:t>
            </a:r>
          </a:p>
          <a:p>
            <a:r>
              <a:t/>
            </a:r>
          </a:p>
          <a:p>
            <a:r>
              <a:t>CONNECT</a:t>
            </a:r>
          </a:p>
          <a:p>
            <a:r>
              <a:t>Build on the preceding slide: Engineering ML project submission.</a:t>
            </a:r>
          </a:p>
          <a:p>
            <a:r>
              <a:t/>
            </a:r>
          </a:p>
          <a:p>
            <a:r>
              <a:t>LECTURER CUE</a:t>
            </a:r>
          </a:p>
          <a:p>
            <a:r>
              <a:t>Published DEMO criterion. Check the assessment grading-release status before issuing. Live questioning is formative. Source: /Users/jothamwambi/Projects/IUEA-Teaching-Resources/IUEA_Teaching_Plan/grader/rubrics/DEMO.json</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Individual written defence (40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Individual written defence (40 marks)</a:t>
            </a:r>
          </a:p>
          <a:p>
            <a:r>
              <a:t/>
            </a:r>
          </a:p>
          <a:p>
            <a:r>
              <a:t>CONNECT</a:t>
            </a:r>
          </a:p>
          <a:p>
            <a:r>
              <a:t>Build on the preceding slide: Presentation evidence (35 marks).</a:t>
            </a:r>
          </a:p>
          <a:p>
            <a:r>
              <a:t/>
            </a:r>
          </a:p>
          <a:p>
            <a:r>
              <a:t>LECTURER CUE</a:t>
            </a:r>
          </a:p>
          <a:p>
            <a:r>
              <a:t>Published DEMO criterion. Check the assessment grading-release status before issuing. Live questioning is formative. Source: /Users/jothamwambi/Projects/IUEA-Teaching-Resources/IUEA_Teaching_Plan/grader/rubrics/DEMO.json</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NEXT</a:t>
            </a:r>
          </a:p>
          <a:p>
            <a:r>
              <a:t>Reflection (20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Reflection (20 marks)</a:t>
            </a:r>
          </a:p>
          <a:p>
            <a:r>
              <a:t/>
            </a:r>
          </a:p>
          <a:p>
            <a:r>
              <a:t>CONNECT</a:t>
            </a:r>
          </a:p>
          <a:p>
            <a:r>
              <a:t>Build on the preceding slide: Individual written defence (40 marks).</a:t>
            </a:r>
          </a:p>
          <a:p>
            <a:r>
              <a:t/>
            </a:r>
          </a:p>
          <a:p>
            <a:r>
              <a:t>LECTURER CUE</a:t>
            </a:r>
          </a:p>
          <a:p>
            <a:r>
              <a:t>Published DEMO criterion. Check the assessment grading-release status before issuing. Live questioning is formative. Source: /Users/jothamwambi/Projects/IUEA-Teaching-Resources/IUEA_Teaching_Plan/grader/rubrics/DEMO.json</a:t>
            </a:r>
          </a:p>
          <a:p>
            <a:r>
              <a:t/>
            </a:r>
          </a:p>
          <a:p>
            <a:r>
              <a:t>NEXT</a:t>
            </a:r>
          </a:p>
          <a:p>
            <a:r>
              <a:t>AI-use declaration (5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AI-use declaration (5 marks)</a:t>
            </a:r>
          </a:p>
          <a:p>
            <a:r>
              <a:t/>
            </a:r>
          </a:p>
          <a:p>
            <a:r>
              <a:t>CONNECT</a:t>
            </a:r>
          </a:p>
          <a:p>
            <a:r>
              <a:t>Build on the preceding slide: Reflection (20 marks).</a:t>
            </a:r>
          </a:p>
          <a:p>
            <a:r>
              <a:t/>
            </a:r>
          </a:p>
          <a:p>
            <a:r>
              <a:t>LECTURER CUE</a:t>
            </a:r>
          </a:p>
          <a:p>
            <a:r>
              <a:t>Published DEMO criterion. Check the assessment grading-release status before issuing. Live questioning is formative. Source: /Users/jothamwambi/Projects/IUEA-Teaching-Resources/IUEA_Teaching_Plan/grader/rubrics/DEMO.json</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a:p>
            <a:r>
              <a:t/>
            </a:r>
          </a:p>
          <a:p>
            <a:r>
              <a:t>NEXT</a:t>
            </a:r>
          </a:p>
          <a:p>
            <a:r>
              <a:t>Presentation and individual reflection submission.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Presentation and individual reflection submission</a:t>
            </a:r>
          </a:p>
          <a:p>
            <a:r>
              <a:t/>
            </a:r>
          </a:p>
          <a:p>
            <a:r>
              <a:t>CONNECT</a:t>
            </a:r>
          </a:p>
          <a:p>
            <a:r>
              <a:t>Build on the preceding slide: AI-use declaration (5 marks).</a:t>
            </a:r>
          </a:p>
          <a:p>
            <a:r>
              <a:t/>
            </a:r>
          </a:p>
          <a:p>
            <a:r>
              <a:t>LECTURER CUE</a:t>
            </a:r>
          </a:p>
          <a:p>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Before you leave.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Before you leave</a:t>
            </a:r>
          </a:p>
          <a:p>
            <a:r>
              <a:t/>
            </a:r>
          </a:p>
          <a:p>
            <a:r>
              <a:t>CONNECT</a:t>
            </a:r>
          </a:p>
          <a:p>
            <a:r>
              <a:t>Build on the preceding slide: Presentation and individual reflection submission.</a:t>
            </a:r>
          </a:p>
          <a:p>
            <a:r>
              <a:t/>
            </a:r>
          </a:p>
          <a:p>
            <a:r>
              <a:t>LECTURER CUE</a:t>
            </a:r>
          </a:p>
          <a:p>
            <a:r>
              <a:t>Ask every learner for an individual response. Record one misconception to revisit at the start of the next class. If a deadline changed, announce the exact Kampala date and update the source registry before rebuilding slides.</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4ecd27426343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1edd2dc6174dc9" /><Relationship Type="http://schemas.openxmlformats.org/officeDocument/2006/relationships/slideLayout" Target="/ppt/slideLayouts/slideLayout1.xml" Id="Ra17a955e16564e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7a955e16564e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b8110918d74d58" /><Relationship Type="http://schemas.openxmlformats.org/officeDocument/2006/relationships/image" Target="/ppt/media/image.png" Id="R6ebbcb5145b64b8b" /><Relationship Type="http://schemas.openxmlformats.org/officeDocument/2006/relationships/notesSlide" Target="/ppt/notesSlides/notesSlide1.xml" Id="Rbc95d028d7f341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91c8d3623944cf" /><Relationship Type="http://schemas.openxmlformats.org/officeDocument/2006/relationships/notesSlide" Target="/ppt/notesSlides/notesSlide2.xml" Id="Rd91b6b7b355f4b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9c0c6dc3874a45" /><Relationship Type="http://schemas.openxmlformats.org/officeDocument/2006/relationships/notesSlide" Target="/ppt/notesSlides/notesSlide3.xml" Id="R50f90f670b424f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c59909424a41fa" /><Relationship Type="http://schemas.openxmlformats.org/officeDocument/2006/relationships/notesSlide" Target="/ppt/notesSlides/notesSlide4.xml" Id="R60d2092c616f44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d5ff576a5f24cfb" /><Relationship Type="http://schemas.openxmlformats.org/officeDocument/2006/relationships/notesSlide" Target="/ppt/notesSlides/notesSlide5.xml" Id="Rd932b9364fa04f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4c6254fa5f4054" /><Relationship Type="http://schemas.openxmlformats.org/officeDocument/2006/relationships/notesSlide" Target="/ppt/notesSlides/notesSlide6.xml" Id="R3109879db1da49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2b9dc3473b4627" /><Relationship Type="http://schemas.openxmlformats.org/officeDocument/2006/relationships/notesSlide" Target="/ppt/notesSlides/notesSlide7.xml" Id="Rad35f34c561a40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090608d5604595" /><Relationship Type="http://schemas.openxmlformats.org/officeDocument/2006/relationships/notesSlide" Target="/ppt/notesSlides/notesSlide8.xml" Id="R8a30bd16939242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3589c034ef74954" /><Relationship Type="http://schemas.openxmlformats.org/officeDocument/2006/relationships/notesSlide" Target="/ppt/notesSlides/notesSlide9.xml" Id="R53b4cdb689c64c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9851d68a41443ac" /><Relationship Type="http://schemas.openxmlformats.org/officeDocument/2006/relationships/notesSlide" Target="/ppt/notesSlides/notesSlide10.xml" Id="Ra265a890b5b04e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167de549e264c13" /><Relationship Type="http://schemas.openxmlformats.org/officeDocument/2006/relationships/notesSlide" Target="/ppt/notesSlides/notesSlide11.xml" Id="R65b87dd638f547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c05c16dc23b48c0" /><Relationship Type="http://schemas.openxmlformats.org/officeDocument/2006/relationships/notesSlide" Target="/ppt/notesSlides/notesSlide12.xml" Id="Rb8faf4c9e25643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babf359ee9246ac" /><Relationship Type="http://schemas.openxmlformats.org/officeDocument/2006/relationships/notesSlide" Target="/ppt/notesSlides/notesSlide13.xml" Id="R86f94675d5c84c1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d52c4a847204e5a" /><Relationship Type="http://schemas.openxmlformats.org/officeDocument/2006/relationships/notesSlide" Target="/ppt/notesSlides/notesSlide14.xml" Id="Rb64b54d28a54461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2d2f2123ab4453f" /><Relationship Type="http://schemas.openxmlformats.org/officeDocument/2006/relationships/notesSlide" Target="/ppt/notesSlides/notesSlide15.xml" Id="Rb11c38271f26428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dedac8845c14812" /><Relationship Type="http://schemas.openxmlformats.org/officeDocument/2006/relationships/notesSlide" Target="/ppt/notesSlides/notesSlide16.xml" Id="R0c272271775846f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d2c9ee9a73b4b1e" /><Relationship Type="http://schemas.openxmlformats.org/officeDocument/2006/relationships/notesSlide" Target="/ppt/notesSlides/notesSlide17.xml" Id="R7a5fc80fac7d4e0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d9cc78cc6444000" /><Relationship Type="http://schemas.openxmlformats.org/officeDocument/2006/relationships/notesSlide" Target="/ppt/notesSlides/notesSlide18.xml" Id="R90fcb41a0d984b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4c62b896f254edc" /><Relationship Type="http://schemas.openxmlformats.org/officeDocument/2006/relationships/notesSlide" Target="/ppt/notesSlides/notesSlide19.xml" Id="Rab837112897842e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22753635a3d4ec3" /><Relationship Type="http://schemas.openxmlformats.org/officeDocument/2006/relationships/hyperlink" Target="https://docs.google.com/forms/d/e/1FAIpQLSe_nQBvitfOInzsUcXkNH9V5Ykc95ymXHHeujjqHXX2lNzgpg/viewform" TargetMode="External" Id="R3a24f85da86d4872" /><Relationship Type="http://schemas.openxmlformats.org/officeDocument/2006/relationships/notesSlide" Target="/ppt/notesSlides/notesSlide20.xml" Id="Rf5c0c670c672411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e78c13bf93740c2" /><Relationship Type="http://schemas.openxmlformats.org/officeDocument/2006/relationships/notesSlide" Target="/ppt/notesSlides/notesSlide21.xml" Id="Rdadab94385fc44c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a2f62cbaf9e4dd5" /><Relationship Type="http://schemas.openxmlformats.org/officeDocument/2006/relationships/notesSlide" Target="/ppt/notesSlides/notesSlide22.xml" Id="R676dfb0dfdc040a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8a717e2f18e40b5" /><Relationship Type="http://schemas.openxmlformats.org/officeDocument/2006/relationships/notesSlide" Target="/ppt/notesSlides/notesSlide23.xml" Id="R220097aecf0b44a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7b3ed7599e04ff1" /><Relationship Type="http://schemas.openxmlformats.org/officeDocument/2006/relationships/notesSlide" Target="/ppt/notesSlides/notesSlide24.xml" Id="R4554df8cad8248e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daafe5ac08c4597" /><Relationship Type="http://schemas.openxmlformats.org/officeDocument/2006/relationships/hyperlink" Target="https://docs.google.com/forms/d/e/1FAIpQLSfMM5T1LqYDNTMxlFZKxTow0BlO6efCj2pBtKfW6ky1-aroIg/viewform" TargetMode="External" Id="Re503d190f98c4ddf" /><Relationship Type="http://schemas.openxmlformats.org/officeDocument/2006/relationships/notesSlide" Target="/ppt/notesSlides/notesSlide25.xml" Id="R2b3f714009fe431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b96e9fa36084ca1" /><Relationship Type="http://schemas.openxmlformats.org/officeDocument/2006/relationships/notesSlide" Target="/ppt/notesSlides/notesSlide26.xml" Id="R85724c90a7c840a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ebbcb5145b64b8b"/>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75F6358-A1C1-4E56-A847-1D4EDA708DBB}"/>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7D101AB-99C0-4A06-A120-ABC1ACF2A237}"/>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15</a:t>
            </a:r>
          </a:p>
        </p:txBody>
      </p:sp>
      <p:sp>
        <p:nvSpPr>
          <p:cNvPr id="4" name="">
            <a:extLst xmlns:a="http://schemas.openxmlformats.org/drawingml/2006/main">
              <a:ext uri="{FF2B5EF4-FFF2-40B4-BE49-F238E27FC236}">
                <a16:creationId xmlns:a16="http://schemas.microsoft.com/office/drawing/2014/main" id="{C4EE353F-9FEE-4592-B81C-D19F4FD28C65}"/>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Presenting the project and individual contribution</a:t>
            </a:r>
          </a:p>
        </p:txBody>
      </p:sp>
      <p:sp>
        <p:nvSpPr>
          <p:cNvPr id="5" name="">
            <a:extLst xmlns:a="http://schemas.openxmlformats.org/drawingml/2006/main">
              <a:ext uri="{FF2B5EF4-FFF2-40B4-BE49-F238E27FC236}">
                <a16:creationId xmlns:a16="http://schemas.microsoft.com/office/drawing/2014/main" id="{D321F401-776B-4450-97D5-CFE285931ADC}"/>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B2AE2E60-013E-48DE-BE59-92E798688C4B}"/>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18 December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08:00–11:00, Room 105</a:t>
            </a:r>
          </a:p>
        </p:txBody>
      </p:sp>
    </p:spTree>
    <p:extLst>
      <p:ext uri="{BB962C8B-B14F-4D97-AF65-F5344CB8AC3E}">
        <p14:creationId xmlns:p14="http://schemas.microsoft.com/office/powerpoint/2010/main" val="14899284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1F62DE-5D0C-4BFB-81C4-695BE1FA33B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CE37B0-99BA-4CE1-813F-47147EE7CA4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A5474732-6D6F-40E7-9E4C-77EEAF14159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12178ED0-868B-46C8-B7C9-DA646970B859}"/>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0249D5C-5365-4E35-98EF-0820CBC6EAF3}"/>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711A2900-FC83-472A-A66E-CE7ADA70F147}"/>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your question and one supported finding.</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a limitation and your individual contribution.</a:t>
            </a:r>
          </a:p>
        </p:txBody>
      </p:sp>
      <p:sp>
        <p:nvSpPr>
          <p:cNvPr id="7" name="">
            <a:extLst xmlns:a="http://schemas.openxmlformats.org/drawingml/2006/main">
              <a:ext uri="{FF2B5EF4-FFF2-40B4-BE49-F238E27FC236}">
                <a16:creationId xmlns:a16="http://schemas.microsoft.com/office/drawing/2014/main" id="{08CF527A-B832-4845-AC77-3272E0340C22}"/>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5D80AD6C-2416-4642-9254-F42B2A578BDD}"/>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point to the evidence behind one decision you personally worked on.</a:t>
            </a:r>
          </a:p>
        </p:txBody>
      </p:sp>
      <p:sp>
        <p:nvSpPr>
          <p:cNvPr id="9" name="">
            <a:extLst xmlns:a="http://schemas.openxmlformats.org/drawingml/2006/main">
              <a:ext uri="{FF2B5EF4-FFF2-40B4-BE49-F238E27FC236}">
                <a16:creationId xmlns:a16="http://schemas.microsoft.com/office/drawing/2014/main" id="{06D1A65F-7646-4B97-8125-EE8F7374D8B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2</a:t>
            </a:r>
          </a:p>
        </p:txBody>
      </p:sp>
    </p:spTree>
    <p:extLst>
      <p:ext uri="{BB962C8B-B14F-4D97-AF65-F5344CB8AC3E}">
        <p14:creationId xmlns:p14="http://schemas.microsoft.com/office/powerpoint/2010/main" val="1917502394"/>
      </p:ext>
    </p:extLst>
  </p:cSld>
</p:sld>
</file>

<file path=ppt/slides/slide3.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35D14D-A440-4CB9-A1E2-F4F8BEE4012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252C4672-EA55-42AF-8B1F-E3D779DD3AC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Recall and a first attempt</a:t>
            </a:r>
          </a:p>
        </p:txBody>
      </p:sp>
      <p:sp>
        <p:nvSpPr>
          <p:cNvPr id="3" name="">
            <a:extLst xmlns:a="http://schemas.openxmlformats.org/drawingml/2006/main">
              <a:ext uri="{FF2B5EF4-FFF2-40B4-BE49-F238E27FC236}">
                <a16:creationId xmlns:a16="http://schemas.microsoft.com/office/drawing/2014/main" id="{D8288103-FF9C-4FD7-BC62-3B3287E5E269}"/>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9B102381-BB53-43C0-AB4B-DA0AA91FEC8A}"/>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What question did your team investigate, and what result can you support with evidence?</a:t>
            </a:r>
          </a:p>
        </p:txBody>
      </p:sp>
      <p:sp>
        <p:nvSpPr>
          <p:cNvPr id="5" name="">
            <a:extLst xmlns:a="http://schemas.openxmlformats.org/drawingml/2006/main">
              <a:ext uri="{FF2B5EF4-FFF2-40B4-BE49-F238E27FC236}">
                <a16:creationId xmlns:a16="http://schemas.microsoft.com/office/drawing/2014/main" id="{50A1E185-4A07-424B-9206-EE6005BB8D46}"/>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A3F9E9E4-6AB6-4ED2-844C-93B323E6E74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CML3113   Week 15   3</a:t>
            </a:r>
          </a:p>
        </p:txBody>
      </p:sp>
    </p:spTree>
    <p:extLst>
      <p:ext uri="{BB962C8B-B14F-4D97-AF65-F5344CB8AC3E}">
        <p14:creationId xmlns:p14="http://schemas.microsoft.com/office/powerpoint/2010/main" val="21622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0A808BA-1545-4ECF-AC95-25220B8CBB5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78602A-9F87-4E73-ADF6-E7DB239CD0B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EA824542-C786-4FF8-ABDC-A8704A9A12F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presentation connects a claim to evidence</a:t>
            </a:r>
          </a:p>
        </p:txBody>
      </p:sp>
      <p:sp>
        <p:nvSpPr>
          <p:cNvPr id="4" name="">
            <a:extLst xmlns:a="http://schemas.openxmlformats.org/drawingml/2006/main">
              <a:ext uri="{FF2B5EF4-FFF2-40B4-BE49-F238E27FC236}">
                <a16:creationId xmlns:a16="http://schemas.microsoft.com/office/drawing/2014/main" id="{17196EE1-42FA-40D6-A874-0A9009F09987}"/>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80821EB-D860-4C8F-887B-BE4510866F6F}"/>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Finding and limitation</a:t>
            </a:r>
          </a:p>
        </p:txBody>
      </p:sp>
      <p:sp>
        <p:nvSpPr>
          <p:cNvPr id="6" name="">
            <a:extLst xmlns:a="http://schemas.openxmlformats.org/drawingml/2006/main">
              <a:ext uri="{FF2B5EF4-FFF2-40B4-BE49-F238E27FC236}">
                <a16:creationId xmlns:a16="http://schemas.microsoft.com/office/drawing/2014/main" id="{46CC0205-A9EB-42DD-851E-51C9256DB1A1}"/>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finding states what the evidence shows. A limitation states where that evidence is incomplete or may not apply. Point to the relevant chart, metric or record.</a:t>
            </a:r>
          </a:p>
        </p:txBody>
      </p:sp>
      <p:sp>
        <p:nvSpPr>
          <p:cNvPr id="7" name="">
            <a:extLst xmlns:a="http://schemas.openxmlformats.org/drawingml/2006/main">
              <a:ext uri="{FF2B5EF4-FFF2-40B4-BE49-F238E27FC236}">
                <a16:creationId xmlns:a16="http://schemas.microsoft.com/office/drawing/2014/main" id="{5BE5CD21-6672-450D-BA18-E1FCC751A583}"/>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A9ABFFF-BED5-426A-B341-FE1D973005E8}"/>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Defence and reflection</a:t>
            </a:r>
          </a:p>
        </p:txBody>
      </p:sp>
      <p:sp>
        <p:nvSpPr>
          <p:cNvPr id="9" name="">
            <a:extLst xmlns:a="http://schemas.openxmlformats.org/drawingml/2006/main">
              <a:ext uri="{FF2B5EF4-FFF2-40B4-BE49-F238E27FC236}">
                <a16:creationId xmlns:a16="http://schemas.microsoft.com/office/drawing/2014/main" id="{43768134-99FD-4925-BB16-720448DDC5C1}"/>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defence explains why you made a choice. A reflection explains what you learned and would improve. Describe your own contribution with specific evidence.</a:t>
            </a:r>
          </a:p>
        </p:txBody>
      </p:sp>
      <p:sp>
        <p:nvSpPr>
          <p:cNvPr id="10" name="">
            <a:extLst xmlns:a="http://schemas.openxmlformats.org/drawingml/2006/main">
              <a:ext uri="{FF2B5EF4-FFF2-40B4-BE49-F238E27FC236}">
                <a16:creationId xmlns:a16="http://schemas.microsoft.com/office/drawing/2014/main" id="{F5AE9897-3B71-49A2-A4AE-B5FDC9B7953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4</a:t>
            </a:r>
          </a:p>
        </p:txBody>
      </p:sp>
    </p:spTree>
    <p:extLst>
      <p:ext uri="{BB962C8B-B14F-4D97-AF65-F5344CB8AC3E}">
        <p14:creationId xmlns:p14="http://schemas.microsoft.com/office/powerpoint/2010/main" val="21166221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B4146F-2140-479D-B0F6-FEBD9838D70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409188-B2ED-4355-8295-212D2FAC1F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3EB1095-10B0-47F1-B378-F1F048E4C3A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six-minute presentation</a:t>
            </a:r>
          </a:p>
        </p:txBody>
      </p:sp>
      <p:sp>
        <p:nvSpPr>
          <p:cNvPr id="4" name="">
            <a:extLst xmlns:a="http://schemas.openxmlformats.org/drawingml/2006/main">
              <a:ext uri="{FF2B5EF4-FFF2-40B4-BE49-F238E27FC236}">
                <a16:creationId xmlns:a16="http://schemas.microsoft.com/office/drawing/2014/main" id="{AD003EA8-EFE5-4AE9-85A3-095A47954CD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C5FEF9D-FBFB-4007-8A71-E5486196F7E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1–2: explain the question and data.</a:t>
            </a:r>
          </a:p>
        </p:txBody>
      </p:sp>
      <p:sp>
        <p:nvSpPr>
          <p:cNvPr id="6" name="">
            <a:extLst xmlns:a="http://schemas.openxmlformats.org/drawingml/2006/main">
              <a:ext uri="{FF2B5EF4-FFF2-40B4-BE49-F238E27FC236}">
                <a16:creationId xmlns:a16="http://schemas.microsoft.com/office/drawing/2014/main" id="{479ED060-F564-430C-A15B-E328A1A66B4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6C25115-F0C4-4F80-BC5A-21BB92938AB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3–4: show the method and one supported result.</a:t>
            </a:r>
          </a:p>
        </p:txBody>
      </p:sp>
      <p:sp>
        <p:nvSpPr>
          <p:cNvPr id="8" name="">
            <a:extLst xmlns:a="http://schemas.openxmlformats.org/drawingml/2006/main">
              <a:ext uri="{FF2B5EF4-FFF2-40B4-BE49-F238E27FC236}">
                <a16:creationId xmlns:a16="http://schemas.microsoft.com/office/drawing/2014/main" id="{BFABECE9-75B4-4D31-BB93-417B8071CDE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2CA9118-43B6-4ABF-9E26-FDA2700CAAF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5–6: explain limitations, contributions and a next step.</a:t>
            </a:r>
          </a:p>
        </p:txBody>
      </p:sp>
      <p:sp>
        <p:nvSpPr>
          <p:cNvPr id="10" name="">
            <a:extLst xmlns:a="http://schemas.openxmlformats.org/drawingml/2006/main">
              <a:ext uri="{FF2B5EF4-FFF2-40B4-BE49-F238E27FC236}">
                <a16:creationId xmlns:a16="http://schemas.microsoft.com/office/drawing/2014/main" id="{9E39E233-1C22-45D4-830A-E96BB1E1CCB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5</a:t>
            </a:r>
          </a:p>
        </p:txBody>
      </p:sp>
    </p:spTree>
    <p:extLst>
      <p:ext uri="{BB962C8B-B14F-4D97-AF65-F5344CB8AC3E}">
        <p14:creationId xmlns:p14="http://schemas.microsoft.com/office/powerpoint/2010/main" val="15758037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397A80-272E-48E8-8D03-5EE2C4A5ADA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203ED1-623D-4ABC-838D-24E44FE6EF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5D450EE-AD21-45BE-8C62-609C02D633C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Make the evidence readable</a:t>
            </a:r>
          </a:p>
        </p:txBody>
      </p:sp>
      <p:sp>
        <p:nvSpPr>
          <p:cNvPr id="4" name="">
            <a:extLst xmlns:a="http://schemas.openxmlformats.org/drawingml/2006/main">
              <a:ext uri="{FF2B5EF4-FFF2-40B4-BE49-F238E27FC236}">
                <a16:creationId xmlns:a16="http://schemas.microsoft.com/office/drawing/2014/main" id="{49FF1883-C86F-4D03-9936-9B37EFDAB77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CB9F7DE-9D9A-485E-8F6E-DB2CA165B830}"/>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Name the chart axes and their units.</a:t>
            </a:r>
          </a:p>
        </p:txBody>
      </p:sp>
      <p:sp>
        <p:nvSpPr>
          <p:cNvPr id="6" name="">
            <a:extLst xmlns:a="http://schemas.openxmlformats.org/drawingml/2006/main">
              <a:ext uri="{FF2B5EF4-FFF2-40B4-BE49-F238E27FC236}">
                <a16:creationId xmlns:a16="http://schemas.microsoft.com/office/drawing/2014/main" id="{011197DE-0560-456C-A786-15CEE8F7057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0D26869-5400-445A-8464-B3AFF8F02290}"/>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the measured evaluation result and how you obtained it.</a:t>
            </a:r>
          </a:p>
        </p:txBody>
      </p:sp>
      <p:sp>
        <p:nvSpPr>
          <p:cNvPr id="8" name="">
            <a:extLst xmlns:a="http://schemas.openxmlformats.org/drawingml/2006/main">
              <a:ext uri="{FF2B5EF4-FFF2-40B4-BE49-F238E27FC236}">
                <a16:creationId xmlns:a16="http://schemas.microsoft.com/office/drawing/2014/main" id="{C056DC0A-D81E-4AD2-8BB1-E58F3AE1534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E115066-121E-48BC-8C03-DB7D7E9D385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Point to the particular table, plot or calculation that supports your claim.</a:t>
            </a:r>
          </a:p>
        </p:txBody>
      </p:sp>
      <p:sp>
        <p:nvSpPr>
          <p:cNvPr id="10" name="">
            <a:extLst xmlns:a="http://schemas.openxmlformats.org/drawingml/2006/main">
              <a:ext uri="{FF2B5EF4-FFF2-40B4-BE49-F238E27FC236}">
                <a16:creationId xmlns:a16="http://schemas.microsoft.com/office/drawing/2014/main" id="{3D050197-2605-4F30-9D09-9712344D9EC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6</a:t>
            </a:r>
          </a:p>
        </p:txBody>
      </p:sp>
    </p:spTree>
    <p:extLst>
      <p:ext uri="{BB962C8B-B14F-4D97-AF65-F5344CB8AC3E}">
        <p14:creationId xmlns:p14="http://schemas.microsoft.com/office/powerpoint/2010/main" val="18943146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AAA9AE-DAB8-46F6-B9DF-7225138B741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B4C817-98E5-4538-9F87-D6A5249331B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ED0D800-4C5A-448E-A7B7-CFC613FEC59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Explain the limits honestly</a:t>
            </a:r>
          </a:p>
        </p:txBody>
      </p:sp>
      <p:sp>
        <p:nvSpPr>
          <p:cNvPr id="4" name="">
            <a:extLst xmlns:a="http://schemas.openxmlformats.org/drawingml/2006/main">
              <a:ext uri="{FF2B5EF4-FFF2-40B4-BE49-F238E27FC236}">
                <a16:creationId xmlns:a16="http://schemas.microsoft.com/office/drawing/2014/main" id="{B23C8917-4B01-4FC8-B80C-E13E0F1F370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6695F08-DF5F-4FB4-B158-F57BF40B7A3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what your investigation can support.</a:t>
            </a:r>
          </a:p>
        </p:txBody>
      </p:sp>
      <p:sp>
        <p:nvSpPr>
          <p:cNvPr id="6" name="">
            <a:extLst xmlns:a="http://schemas.openxmlformats.org/drawingml/2006/main">
              <a:ext uri="{FF2B5EF4-FFF2-40B4-BE49-F238E27FC236}">
                <a16:creationId xmlns:a16="http://schemas.microsoft.com/office/drawing/2014/main" id="{100AE3CD-587E-4FDC-A527-1538B3C8F86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720D909-D3E6-445F-937F-F773D882531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an answer is unknown, say what evidence would resolve it.</a:t>
            </a:r>
          </a:p>
        </p:txBody>
      </p:sp>
      <p:sp>
        <p:nvSpPr>
          <p:cNvPr id="8" name="">
            <a:extLst xmlns:a="http://schemas.openxmlformats.org/drawingml/2006/main">
              <a:ext uri="{FF2B5EF4-FFF2-40B4-BE49-F238E27FC236}">
                <a16:creationId xmlns:a16="http://schemas.microsoft.com/office/drawing/2014/main" id="{6268C719-02C8-486E-83EE-F9DA7A0A389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4D1857B-4D7C-406A-AFF0-D860098D4E7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Teaching data alone do not establish readiness for real operation.</a:t>
            </a:r>
          </a:p>
        </p:txBody>
      </p:sp>
      <p:sp>
        <p:nvSpPr>
          <p:cNvPr id="10" name="">
            <a:extLst xmlns:a="http://schemas.openxmlformats.org/drawingml/2006/main">
              <a:ext uri="{FF2B5EF4-FFF2-40B4-BE49-F238E27FC236}">
                <a16:creationId xmlns:a16="http://schemas.microsoft.com/office/drawing/2014/main" id="{7A956503-81A5-464C-95B3-F4595E8EC1E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7</a:t>
            </a:r>
          </a:p>
        </p:txBody>
      </p:sp>
    </p:spTree>
    <p:extLst>
      <p:ext uri="{BB962C8B-B14F-4D97-AF65-F5344CB8AC3E}">
        <p14:creationId xmlns:p14="http://schemas.microsoft.com/office/powerpoint/2010/main" val="10894942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BE14F4D-2B09-42BF-BB7F-0A02C73773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0E1C7A-B3EF-4AF4-880E-12282B4565F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TRY IT TOGETHER   5 MINUTES</a:t>
            </a:r>
          </a:p>
        </p:txBody>
      </p:sp>
      <p:sp>
        <p:nvSpPr>
          <p:cNvPr id="3" name="">
            <a:extLst xmlns:a="http://schemas.openxmlformats.org/drawingml/2006/main">
              <a:ext uri="{FF2B5EF4-FFF2-40B4-BE49-F238E27FC236}">
                <a16:creationId xmlns:a16="http://schemas.microsoft.com/office/drawing/2014/main" id="{E97C8375-8CB1-4C1A-9760-D321FB84D96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 are explaining to a colleague</a:t>
            </a:r>
          </a:p>
        </p:txBody>
      </p:sp>
      <p:sp>
        <p:nvSpPr>
          <p:cNvPr id="4" name="">
            <a:extLst xmlns:a="http://schemas.openxmlformats.org/drawingml/2006/main">
              <a:ext uri="{FF2B5EF4-FFF2-40B4-BE49-F238E27FC236}">
                <a16:creationId xmlns:a16="http://schemas.microsoft.com/office/drawing/2014/main" id="{88AB25CE-0810-43A2-811F-78486EAF382A}"/>
              </a:ext>
            </a:extLst>
          </p:cNvPr>
          <p:cNvSpPr>
            <a:spLocks xmlns:a="http://schemas.openxmlformats.org/drawingml/2006/main" noGrp="1"/>
          </p:cNvSpPr>
          <p:nvPr/>
        </p:nvSpPr>
        <p:spPr>
          <a:xfrm xmlns:a="http://schemas.openxmlformats.org/drawingml/2006/main">
            <a:off x="619125" y="1809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2A6F0B6-C203-4541-AFB1-A0A953557024}"/>
              </a:ext>
            </a:extLst>
          </p:cNvPr>
          <p:cNvSpPr>
            <a:spLocks xmlns:a="http://schemas.openxmlformats.org/drawingml/2006/main" noGrp="1"/>
          </p:cNvSpPr>
          <p:nvPr/>
        </p:nvSpPr>
        <p:spPr>
          <a:xfrm xmlns:a="http://schemas.openxmlformats.org/drawingml/2006/main">
            <a:off x="1409700" y="1809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the project question in one everyday sentence.</a:t>
            </a:r>
          </a:p>
        </p:txBody>
      </p:sp>
      <p:sp>
        <p:nvSpPr>
          <p:cNvPr id="6" name="">
            <a:extLst xmlns:a="http://schemas.openxmlformats.org/drawingml/2006/main">
              <a:ext uri="{FF2B5EF4-FFF2-40B4-BE49-F238E27FC236}">
                <a16:creationId xmlns:a16="http://schemas.microsoft.com/office/drawing/2014/main" id="{EE738E1E-DF53-40B9-ABA4-175E68DDECBE}"/>
              </a:ext>
            </a:extLst>
          </p:cNvPr>
          <p:cNvSpPr>
            <a:spLocks xmlns:a="http://schemas.openxmlformats.org/drawingml/2006/main" noGrp="1"/>
          </p:cNvSpPr>
          <p:nvPr/>
        </p:nvSpPr>
        <p:spPr>
          <a:xfrm xmlns:a="http://schemas.openxmlformats.org/drawingml/2006/main">
            <a:off x="619125" y="31432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34A5902-CF2C-4F95-88CD-B7C2B8A463B3}"/>
              </a:ext>
            </a:extLst>
          </p:cNvPr>
          <p:cNvSpPr>
            <a:spLocks xmlns:a="http://schemas.openxmlformats.org/drawingml/2006/main" noGrp="1"/>
          </p:cNvSpPr>
          <p:nvPr/>
        </p:nvSpPr>
        <p:spPr>
          <a:xfrm xmlns:a="http://schemas.openxmlformats.org/drawingml/2006/main">
            <a:off x="1409700" y="31432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Show one labelled result and say how you obtained it.</a:t>
            </a:r>
          </a:p>
        </p:txBody>
      </p:sp>
      <p:sp>
        <p:nvSpPr>
          <p:cNvPr id="8" name="">
            <a:extLst xmlns:a="http://schemas.openxmlformats.org/drawingml/2006/main">
              <a:ext uri="{FF2B5EF4-FFF2-40B4-BE49-F238E27FC236}">
                <a16:creationId xmlns:a16="http://schemas.microsoft.com/office/drawing/2014/main" id="{AC81F2CD-6D19-48E9-9F32-351E6FD9026B}"/>
              </a:ext>
            </a:extLst>
          </p:cNvPr>
          <p:cNvSpPr>
            <a:spLocks xmlns:a="http://schemas.openxmlformats.org/drawingml/2006/main" noGrp="1"/>
          </p:cNvSpPr>
          <p:nvPr/>
        </p:nvSpPr>
        <p:spPr>
          <a:xfrm xmlns:a="http://schemas.openxmlformats.org/drawingml/2006/main">
            <a:off x="619125" y="447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D974135-1B94-4986-BC10-9C2B28CC09F0}"/>
              </a:ext>
            </a:extLst>
          </p:cNvPr>
          <p:cNvSpPr>
            <a:spLocks xmlns:a="http://schemas.openxmlformats.org/drawingml/2006/main" noGrp="1"/>
          </p:cNvSpPr>
          <p:nvPr/>
        </p:nvSpPr>
        <p:spPr>
          <a:xfrm xmlns:a="http://schemas.openxmlformats.org/drawingml/2006/main">
            <a:off x="1409700" y="4476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Name one limitation and one decision you personally contributed.</a:t>
            </a:r>
          </a:p>
        </p:txBody>
      </p:sp>
      <p:sp>
        <p:nvSpPr>
          <p:cNvPr id="10" name="">
            <a:extLst xmlns:a="http://schemas.openxmlformats.org/drawingml/2006/main">
              <a:ext uri="{FF2B5EF4-FFF2-40B4-BE49-F238E27FC236}">
                <a16:creationId xmlns:a16="http://schemas.microsoft.com/office/drawing/2014/main" id="{67DAFF4E-9439-4B25-82D1-C75CC2EAB4FA}"/>
              </a:ext>
            </a:extLst>
          </p:cNvPr>
          <p:cNvSpPr>
            <a:spLocks xmlns:a="http://schemas.openxmlformats.org/drawingml/2006/main" noGrp="1"/>
          </p:cNvSpPr>
          <p:nvPr/>
        </p:nvSpPr>
        <p:spPr>
          <a:xfrm xmlns:a="http://schemas.openxmlformats.org/drawingml/2006/main">
            <a:off x="0" y="5915025"/>
            <a:ext cx="12191695" cy="4667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5C08439-085A-4492-8EC5-539454F6C335}"/>
              </a:ext>
            </a:extLst>
          </p:cNvPr>
          <p:cNvSpPr>
            <a:spLocks xmlns:a="http://schemas.openxmlformats.org/drawingml/2006/main" noGrp="1"/>
          </p:cNvSpPr>
          <p:nvPr/>
        </p:nvSpPr>
        <p:spPr>
          <a:xfrm xmlns:a="http://schemas.openxmlformats.org/drawingml/2006/main">
            <a:off x="619125" y="5981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One partner acts. One partner checks. Then swap roles.</a:t>
            </a:r>
          </a:p>
        </p:txBody>
      </p:sp>
      <p:sp>
        <p:nvSpPr>
          <p:cNvPr id="12" name="">
            <a:extLst xmlns:a="http://schemas.openxmlformats.org/drawingml/2006/main">
              <a:ext uri="{FF2B5EF4-FFF2-40B4-BE49-F238E27FC236}">
                <a16:creationId xmlns:a16="http://schemas.microsoft.com/office/drawing/2014/main" id="{78176162-A35D-429E-A1B7-09220E696F1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8</a:t>
            </a:r>
          </a:p>
        </p:txBody>
      </p:sp>
    </p:spTree>
    <p:extLst>
      <p:ext uri="{BB962C8B-B14F-4D97-AF65-F5344CB8AC3E}">
        <p14:creationId xmlns:p14="http://schemas.microsoft.com/office/powerpoint/2010/main" val="5969288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F27A99-E155-4662-8543-7427FC4FF48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5D7C69-E4C3-46F8-9B48-ED9C3B7F610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E7A00FF6-425F-47E7-BD25-D091F38BCB4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the activity shows</a:t>
            </a:r>
          </a:p>
        </p:txBody>
      </p:sp>
      <p:sp>
        <p:nvSpPr>
          <p:cNvPr id="4" name="">
            <a:extLst xmlns:a="http://schemas.openxmlformats.org/drawingml/2006/main">
              <a:ext uri="{FF2B5EF4-FFF2-40B4-BE49-F238E27FC236}">
                <a16:creationId xmlns:a16="http://schemas.microsoft.com/office/drawing/2014/main" id="{C22AD66F-30B7-4B72-87B7-B4AE73549909}"/>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67529ED-6BA8-4C57-964C-DEF558913EC2}"/>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A strong explanation connects a claim to evidence and makes its limits clear. Avoid claiming deployment readiness from teaching data.</a:t>
            </a:r>
          </a:p>
        </p:txBody>
      </p:sp>
      <p:sp>
        <p:nvSpPr>
          <p:cNvPr id="6" name="">
            <a:extLst xmlns:a="http://schemas.openxmlformats.org/drawingml/2006/main">
              <a:ext uri="{FF2B5EF4-FFF2-40B4-BE49-F238E27FC236}">
                <a16:creationId xmlns:a16="http://schemas.microsoft.com/office/drawing/2014/main" id="{6BD2A3BD-0C34-42D6-A736-B2A4C83CBF16}"/>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75C9134B-7A81-4A79-9EBB-C211D5B805F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9</a:t>
            </a:r>
          </a:p>
        </p:txBody>
      </p:sp>
    </p:spTree>
    <p:extLst>
      <p:ext uri="{BB962C8B-B14F-4D97-AF65-F5344CB8AC3E}">
        <p14:creationId xmlns:p14="http://schemas.microsoft.com/office/powerpoint/2010/main" val="16377538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7225E1-928C-4BF1-9141-AE99B189211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E64E81B-C6F0-4C04-9450-A1AE800D74D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13F2132-B652-4DE9-812F-AC9282ACFC4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Preparation checkpoint</a:t>
            </a:r>
          </a:p>
        </p:txBody>
      </p:sp>
      <p:sp>
        <p:nvSpPr>
          <p:cNvPr id="4" name="">
            <a:extLst xmlns:a="http://schemas.openxmlformats.org/drawingml/2006/main">
              <a:ext uri="{FF2B5EF4-FFF2-40B4-BE49-F238E27FC236}">
                <a16:creationId xmlns:a16="http://schemas.microsoft.com/office/drawing/2014/main" id="{C588B3D7-4F18-491E-8616-F2A25E0C332A}"/>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B7250A1-2866-44F7-BAC2-C77B0E498809}"/>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Each student can explain one decision they personally worked on and point to its evidence.</a:t>
            </a:r>
          </a:p>
        </p:txBody>
      </p:sp>
      <p:sp>
        <p:nvSpPr>
          <p:cNvPr id="6" name="">
            <a:extLst xmlns:a="http://schemas.openxmlformats.org/drawingml/2006/main">
              <a:ext uri="{FF2B5EF4-FFF2-40B4-BE49-F238E27FC236}">
                <a16:creationId xmlns:a16="http://schemas.microsoft.com/office/drawing/2014/main" id="{2F29B7AC-F0D2-4D8F-81E2-30938599C98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10</a:t>
            </a:r>
          </a:p>
        </p:txBody>
      </p:sp>
    </p:spTree>
    <p:extLst>
      <p:ext uri="{BB962C8B-B14F-4D97-AF65-F5344CB8AC3E}">
        <p14:creationId xmlns:p14="http://schemas.microsoft.com/office/powerpoint/2010/main" val="17543394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7715077-FCF7-4EF0-84C4-D6A27079B3A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25D627-B4AC-4D37-9C1B-D5734DB42E9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01BCE6D-28ED-4407-B35A-1E73B2C40C9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evidence</a:t>
            </a:r>
          </a:p>
        </p:txBody>
      </p:sp>
      <p:sp>
        <p:nvSpPr>
          <p:cNvPr id="4" name="">
            <a:extLst xmlns:a="http://schemas.openxmlformats.org/drawingml/2006/main">
              <a:ext uri="{FF2B5EF4-FFF2-40B4-BE49-F238E27FC236}">
                <a16:creationId xmlns:a16="http://schemas.microsoft.com/office/drawing/2014/main" id="{4047C683-B6DB-4B9C-BB32-D9580672444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A2EF9A0-0717-422C-B4A0-D36592D0C71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project and DEMO requirements.</a:t>
            </a:r>
          </a:p>
        </p:txBody>
      </p:sp>
      <p:sp>
        <p:nvSpPr>
          <p:cNvPr id="6" name="">
            <a:extLst xmlns:a="http://schemas.openxmlformats.org/drawingml/2006/main">
              <a:ext uri="{FF2B5EF4-FFF2-40B4-BE49-F238E27FC236}">
                <a16:creationId xmlns:a16="http://schemas.microsoft.com/office/drawing/2014/main" id="{353C947A-1946-42E7-AF96-6F4E287D4344}"/>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32D853D-CC7D-45C0-AAE6-12505F8C5FC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individual submits their own typed defence and reflection through the designated route.</a:t>
            </a:r>
          </a:p>
        </p:txBody>
      </p:sp>
      <p:sp>
        <p:nvSpPr>
          <p:cNvPr id="8" name="">
            <a:extLst xmlns:a="http://schemas.openxmlformats.org/drawingml/2006/main">
              <a:ext uri="{FF2B5EF4-FFF2-40B4-BE49-F238E27FC236}">
                <a16:creationId xmlns:a16="http://schemas.microsoft.com/office/drawing/2014/main" id="{DFB60975-91C8-45FF-8518-3EF3E4F5E5B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8A8EEFB-6A61-40AE-9F4B-E37456705E1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your own written defence and reflection as instructed.</a:t>
            </a:r>
          </a:p>
        </p:txBody>
      </p:sp>
      <p:sp>
        <p:nvSpPr>
          <p:cNvPr id="10" name="">
            <a:extLst xmlns:a="http://schemas.openxmlformats.org/drawingml/2006/main">
              <a:ext uri="{FF2B5EF4-FFF2-40B4-BE49-F238E27FC236}">
                <a16:creationId xmlns:a16="http://schemas.microsoft.com/office/drawing/2014/main" id="{8052A77D-EF44-48AF-BDCD-5461172864F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11</a:t>
            </a:r>
          </a:p>
        </p:txBody>
      </p:sp>
    </p:spTree>
    <p:extLst>
      <p:ext uri="{BB962C8B-B14F-4D97-AF65-F5344CB8AC3E}">
        <p14:creationId xmlns:p14="http://schemas.microsoft.com/office/powerpoint/2010/main" val="13592403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1D91E7-B4A7-4B31-A685-21C04785FE9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F99331-0364-4A13-BF46-54ACAA0767D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3F42FCC-0D8B-4A4D-9022-EBB14B005D8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a:t>
            </a:r>
          </a:p>
        </p:txBody>
      </p:sp>
      <p:sp>
        <p:nvSpPr>
          <p:cNvPr id="4" name="">
            <a:extLst xmlns:a="http://schemas.openxmlformats.org/drawingml/2006/main">
              <a:ext uri="{FF2B5EF4-FFF2-40B4-BE49-F238E27FC236}">
                <a16:creationId xmlns:a16="http://schemas.microsoft.com/office/drawing/2014/main" id="{E8857F33-9511-4EF1-BE80-2C8AB7C8B06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CF2C9D1-6FFF-44B0-A9E4-6EF53DE46FB8}"/>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your own explanation in the markdown cell headed `## My written evidence`.</a:t>
            </a:r>
          </a:p>
        </p:txBody>
      </p:sp>
      <p:sp>
        <p:nvSpPr>
          <p:cNvPr id="6" name="">
            <a:extLst xmlns:a="http://schemas.openxmlformats.org/drawingml/2006/main">
              <a:ext uri="{FF2B5EF4-FFF2-40B4-BE49-F238E27FC236}">
                <a16:creationId xmlns:a16="http://schemas.microsoft.com/office/drawing/2014/main" id="{13AA0162-47A6-4807-BEE9-507E719C1823}"/>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3E3F1FB-74E1-4AAD-B062-3D65017C4FC1}"/>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that heading.</a:t>
            </a:r>
          </a:p>
        </p:txBody>
      </p:sp>
      <p:sp>
        <p:nvSpPr>
          <p:cNvPr id="8" name="">
            <a:extLst xmlns:a="http://schemas.openxmlformats.org/drawingml/2006/main">
              <a:ext uri="{FF2B5EF4-FFF2-40B4-BE49-F238E27FC236}">
                <a16:creationId xmlns:a16="http://schemas.microsoft.com/office/drawing/2014/main" id="{7EC28B39-552E-4602-BFB7-A6CAEE1248B8}"/>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E15FF6E-4674-44D4-AD55-BD545ED704D3}"/>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Task prompts and code comments are excluded from reasoning marks.</a:t>
            </a:r>
          </a:p>
        </p:txBody>
      </p:sp>
      <p:sp>
        <p:nvSpPr>
          <p:cNvPr id="10" name="">
            <a:extLst xmlns:a="http://schemas.openxmlformats.org/drawingml/2006/main">
              <a:ext uri="{FF2B5EF4-FFF2-40B4-BE49-F238E27FC236}">
                <a16:creationId xmlns:a16="http://schemas.microsoft.com/office/drawing/2014/main" id="{D7F52A71-D236-40A1-A6F1-723CE292717E}"/>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287E3A8-29E1-4257-A300-1DCE654B3595}"/>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every original rubric criterion below, not just the checked functions.</a:t>
            </a:r>
          </a:p>
        </p:txBody>
      </p:sp>
      <p:sp>
        <p:nvSpPr>
          <p:cNvPr id="12" name="">
            <a:extLst xmlns:a="http://schemas.openxmlformats.org/drawingml/2006/main">
              <a:ext uri="{FF2B5EF4-FFF2-40B4-BE49-F238E27FC236}">
                <a16:creationId xmlns:a16="http://schemas.microsoft.com/office/drawing/2014/main" id="{6CA9AABD-575F-4EB4-B713-8FDED45440E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12</a:t>
            </a:r>
          </a:p>
        </p:txBody>
      </p:sp>
    </p:spTree>
    <p:extLst>
      <p:ext uri="{BB962C8B-B14F-4D97-AF65-F5344CB8AC3E}">
        <p14:creationId xmlns:p14="http://schemas.microsoft.com/office/powerpoint/2010/main" val="4889347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6571B8A-70F9-4C28-A7E2-56FFFAA0B75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A97CA6-A1B7-4BAE-AFE2-11FE0901323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54EEC0A-45DA-4D94-A940-DDC6972B40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31653BD7-3A20-4758-8C25-DFDFB82EC6C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6F6064A-5892-47A6-BBED-56D28B14FD37}"/>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Include profiling, justified cleaning, question-led charts and your engineering recommendation where required.</a:t>
            </a:r>
          </a:p>
        </p:txBody>
      </p:sp>
      <p:sp>
        <p:nvSpPr>
          <p:cNvPr id="6" name="">
            <a:extLst xmlns:a="http://schemas.openxmlformats.org/drawingml/2006/main">
              <a:ext uri="{FF2B5EF4-FFF2-40B4-BE49-F238E27FC236}">
                <a16:creationId xmlns:a16="http://schemas.microsoft.com/office/drawing/2014/main" id="{37714DC9-D64B-46FC-9158-9798BD1247D0}"/>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4A5B5A1-52C0-4B87-9C77-2A2B16261C25}"/>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a:t>
            </a:r>
          </a:p>
        </p:txBody>
      </p:sp>
      <p:sp>
        <p:nvSpPr>
          <p:cNvPr id="8" name="">
            <a:extLst xmlns:a="http://schemas.openxmlformats.org/drawingml/2006/main">
              <a:ext uri="{FF2B5EF4-FFF2-40B4-BE49-F238E27FC236}">
                <a16:creationId xmlns:a16="http://schemas.microsoft.com/office/drawing/2014/main" id="{E090CC51-C91E-40A2-AF2A-805D9CCA8BA8}"/>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F0E584F-D867-4BE8-B0A5-C45AA02DACA8}"/>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units and distinguish correlation from causation.</a:t>
            </a:r>
          </a:p>
        </p:txBody>
      </p:sp>
      <p:sp>
        <p:nvSpPr>
          <p:cNvPr id="10" name="">
            <a:extLst xmlns:a="http://schemas.openxmlformats.org/drawingml/2006/main">
              <a:ext uri="{FF2B5EF4-FFF2-40B4-BE49-F238E27FC236}">
                <a16:creationId xmlns:a16="http://schemas.microsoft.com/office/drawing/2014/main" id="{7483B27F-0EB2-4138-B460-34D733A45173}"/>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8B1617B-EB75-4832-AEFB-4657B2F31BFE}"/>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Charts must be actual labelled figures in the notebook, not claims that charts exist.</a:t>
            </a:r>
          </a:p>
        </p:txBody>
      </p:sp>
      <p:sp>
        <p:nvSpPr>
          <p:cNvPr id="12" name="">
            <a:extLst xmlns:a="http://schemas.openxmlformats.org/drawingml/2006/main">
              <a:ext uri="{FF2B5EF4-FFF2-40B4-BE49-F238E27FC236}">
                <a16:creationId xmlns:a16="http://schemas.microsoft.com/office/drawing/2014/main" id="{E9FA28BB-BE63-464F-B8BA-8BEAC71EAF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13</a:t>
            </a:r>
          </a:p>
        </p:txBody>
      </p:sp>
    </p:spTree>
    <p:extLst>
      <p:ext uri="{BB962C8B-B14F-4D97-AF65-F5344CB8AC3E}">
        <p14:creationId xmlns:p14="http://schemas.microsoft.com/office/powerpoint/2010/main" val="545434841"/>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E3988C3A-64FB-45F2-9B88-0DF9D13B0ECD}"/>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83EBAFE6-70CD-492B-820B-2FDD14A6C1C0}"/>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a:ext uri="{FF2B5EF4-FFF2-40B4-BE49-F238E27FC236}">
                <ns2:creationId id="{34682711-CA5A-42DB-9479-511299DEF769}"/>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a:ext uri="{FF2B5EF4-FFF2-40B4-BE49-F238E27FC236}">
                <ns2:creationId id="{97C437B2-3757-4B71-BBB8-28C8A3E038C6}"/>
              </a:ext>
            </a:extLst>
          </p:cNvPr>
          <p:cNvSpPr>
            <a:spLocks noGrp="1"/>
          </p:cNvSpPr>
          <p:nvPr/>
        </p:nvSpPr>
        <p:spPr>
          <a:xfrm>
            <a:off x="590550" y="178117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a:ext uri="{FF2B5EF4-FFF2-40B4-BE49-F238E27FC236}">
                <ns2:creationId id="{3914D208-AC3B-40D3-96D3-21812BE8FBC5}"/>
              </a:ext>
            </a:extLst>
          </p:cNvPr>
          <p:cNvSpPr>
            <a:spLocks noGrp="1"/>
          </p:cNvSpPr>
          <p:nvPr/>
        </p:nvSpPr>
        <p:spPr>
          <a:xfrm>
            <a:off x="1381125" y="1781175"/>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Include captions and a separate readable DOCX/PDF report.</a:t>
            </a:r>
          </a:p>
        </p:txBody>
      </p:sp>
      <p:sp>
        <p:nvSpPr>
          <p:cNvPr id="6" name="">
            <a:extLst>
              <a:ext uri="{FF2B5EF4-FFF2-40B4-BE49-F238E27FC236}">
                <ns2:creationId id="{156F90D1-D936-4B9C-B446-64C69012CE8C}"/>
              </a:ext>
            </a:extLst>
          </p:cNvPr>
          <p:cNvSpPr>
            <a:spLocks noGrp="1"/>
          </p:cNvSpPr>
          <p:nvPr/>
        </p:nvSpPr>
        <p:spPr>
          <a:xfrm>
            <a:off x="590550" y="2850356"/>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a:ext uri="{FF2B5EF4-FFF2-40B4-BE49-F238E27FC236}">
                <ns2:creationId id="{0626D0EA-A295-4ED0-A1C1-C1A9B920358B}"/>
              </a:ext>
            </a:extLst>
          </p:cNvPr>
          <p:cNvSpPr>
            <a:spLocks noGrp="1"/>
          </p:cNvSpPr>
          <p:nvPr/>
        </p:nvSpPr>
        <p:spPr>
          <a:xfrm>
            <a:off x="1381125" y="2850356"/>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Problem definition (15.0 total): The engineering problem is real, specific and bounded.</a:t>
            </a:r>
          </a:p>
        </p:txBody>
      </p:sp>
      <p:sp>
        <p:nvSpPr>
          <p:cNvPr id="8" name="">
            <a:extLst>
              <a:ext uri="{FF2B5EF4-FFF2-40B4-BE49-F238E27FC236}">
                <ns2:creationId id="{52B62656-4CF7-44BF-8E80-5305F3DDFF9A}"/>
              </a:ext>
            </a:extLst>
          </p:cNvPr>
          <p:cNvSpPr>
            <a:spLocks noGrp="1"/>
          </p:cNvSpPr>
          <p:nvPr/>
        </p:nvSpPr>
        <p:spPr>
          <a:xfrm>
            <a:off x="590550" y="3919538"/>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a:ext uri="{FF2B5EF4-FFF2-40B4-BE49-F238E27FC236}">
                <ns2:creationId id="{D9079B80-C261-423B-8747-90F520ED467D}"/>
              </a:ext>
            </a:extLst>
          </p:cNvPr>
          <p:cNvSpPr>
            <a:spLocks noGrp="1"/>
          </p:cNvSpPr>
          <p:nvPr/>
        </p:nvSpPr>
        <p:spPr>
          <a:xfrm>
            <a:off x="1381125" y="3919538"/>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The ML task is correctly derived from it.</a:t>
            </a:r>
          </a:p>
        </p:txBody>
      </p:sp>
      <p:sp>
        <p:nvSpPr>
          <p:cNvPr id="10" name="">
            <a:extLst>
              <a:ext uri="{FF2B5EF4-FFF2-40B4-BE49-F238E27FC236}">
                <ns2:creationId id="{3E23ED5D-B7B9-4DCB-A6E0-7A83581377DD}"/>
              </a:ext>
            </a:extLst>
          </p:cNvPr>
          <p:cNvSpPr>
            <a:spLocks noGrp="1"/>
          </p:cNvSpPr>
          <p:nvPr/>
        </p:nvSpPr>
        <p:spPr>
          <a:xfrm>
            <a:off x="590550" y="4988719"/>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a:ext uri="{FF2B5EF4-FFF2-40B4-BE49-F238E27FC236}">
                <ns2:creationId id="{0EBD95C1-185C-4947-9833-63E00485AFEE}"/>
              </a:ext>
            </a:extLst>
          </p:cNvPr>
          <p:cNvSpPr>
            <a:spLocks noGrp="1"/>
          </p:cNvSpPr>
          <p:nvPr/>
        </p:nvSpPr>
        <p:spPr>
          <a:xfrm>
            <a:off x="1381125" y="4988719"/>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The target variable is justified, not merely available.</a:t>
            </a:r>
          </a:p>
        </p:txBody>
      </p:sp>
      <p:sp>
        <p:nvSpPr>
          <p:cNvPr id="12" name="">
            <a:extLst>
              <a:ext uri="{FF2B5EF4-FFF2-40B4-BE49-F238E27FC236}">
                <ns2:creationId id="{21CF30FE-F094-49EB-8C3C-E438E4475E00}"/>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14</a:t>
            </a:r>
          </a:p>
        </p:txBody>
      </p:sp>
    </p:spTree>
    <p:extLst>
      <p:ext uri="{BB962C8B-B14F-4D97-AF65-F5344CB8AC3E}">
        <ns3:creationId val="3425541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5AC2E36-73E5-468E-BD8B-FFF0E8472F7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290A88-5D58-4A91-B293-D067CB820B1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A02B134-15A9-4A0F-BB12-18D0FA5B28F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3DDC2E48-1C08-42E7-B854-D358216BFB4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B094476-8583-4D22-AD4D-A62A61161652}"/>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Data understanding (15.0 total): Provenance, licence and collection method stated.</a:t>
            </a:r>
          </a:p>
        </p:txBody>
      </p:sp>
      <p:sp>
        <p:nvSpPr>
          <p:cNvPr id="6" name="">
            <a:extLst xmlns:a="http://schemas.openxmlformats.org/drawingml/2006/main">
              <a:ext uri="{FF2B5EF4-FFF2-40B4-BE49-F238E27FC236}">
                <a16:creationId xmlns:a16="http://schemas.microsoft.com/office/drawing/2014/main" id="{B06C5F78-4FB1-47F7-BC7F-1AFECA282996}"/>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C352687-C976-40FD-8EF5-24BB3200C18E}"/>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Defects found and handled with justification.</a:t>
            </a:r>
          </a:p>
        </p:txBody>
      </p:sp>
      <p:sp>
        <p:nvSpPr>
          <p:cNvPr id="8" name="">
            <a:extLst xmlns:a="http://schemas.openxmlformats.org/drawingml/2006/main">
              <a:ext uri="{FF2B5EF4-FFF2-40B4-BE49-F238E27FC236}">
                <a16:creationId xmlns:a16="http://schemas.microsoft.com/office/drawing/2014/main" id="{F59FBA33-DB06-41BE-93FB-E6994F83C422}"/>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8FF8C75-4AFB-4F04-9DDA-41003AB134E6}"/>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Limitations of the data acknowledged before any modelling.</a:t>
            </a:r>
          </a:p>
        </p:txBody>
      </p:sp>
      <p:sp>
        <p:nvSpPr>
          <p:cNvPr id="10" name="">
            <a:extLst xmlns:a="http://schemas.openxmlformats.org/drawingml/2006/main">
              <a:ext uri="{FF2B5EF4-FFF2-40B4-BE49-F238E27FC236}">
                <a16:creationId xmlns:a16="http://schemas.microsoft.com/office/drawing/2014/main" id="{5529D089-0E60-4F7D-AF68-6E130F2F3DB9}"/>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4236CE1-C2A8-4FC7-AA1A-29CB91CDC5AB}"/>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Methodology (20.0 total): Appropriate models chosen and compared under one protocol.</a:t>
            </a:r>
          </a:p>
        </p:txBody>
      </p:sp>
      <p:sp>
        <p:nvSpPr>
          <p:cNvPr id="12" name="">
            <a:extLst xmlns:a="http://schemas.openxmlformats.org/drawingml/2006/main">
              <a:ext uri="{FF2B5EF4-FFF2-40B4-BE49-F238E27FC236}">
                <a16:creationId xmlns:a16="http://schemas.microsoft.com/office/drawing/2014/main" id="{571D93E7-0A42-4DCF-8586-C08B4F06419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15</a:t>
            </a:r>
          </a:p>
        </p:txBody>
      </p:sp>
    </p:spTree>
    <p:extLst>
      <p:ext uri="{BB962C8B-B14F-4D97-AF65-F5344CB8AC3E}">
        <p14:creationId xmlns:p14="http://schemas.microsoft.com/office/powerpoint/2010/main" val="119327613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0EAB40C-F861-4452-BDB9-68E03FF301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6EB141-3446-4329-B4E3-9183C74EF0E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C747012-E247-43BF-AE4E-E4D6AB343EA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0E46BED6-30B3-47C9-B924-587B6370BCE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715A53F-C278-4F91-BC75-32558318FDF4}"/>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Pipeline used.</a:t>
            </a:r>
          </a:p>
        </p:txBody>
      </p:sp>
      <p:sp>
        <p:nvSpPr>
          <p:cNvPr id="6" name="">
            <a:extLst xmlns:a="http://schemas.openxmlformats.org/drawingml/2006/main">
              <a:ext uri="{FF2B5EF4-FFF2-40B4-BE49-F238E27FC236}">
                <a16:creationId xmlns:a16="http://schemas.microsoft.com/office/drawing/2014/main" id="{F5C897A6-A472-46F4-9750-00DF85A451D3}"/>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0CB1C7C-5805-46B5-B80D-7C471B9DA705}"/>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Hyperparameters handled sensibly.</a:t>
            </a:r>
          </a:p>
        </p:txBody>
      </p:sp>
      <p:sp>
        <p:nvSpPr>
          <p:cNvPr id="8" name="">
            <a:extLst xmlns:a="http://schemas.openxmlformats.org/drawingml/2006/main">
              <a:ext uri="{FF2B5EF4-FFF2-40B4-BE49-F238E27FC236}">
                <a16:creationId xmlns:a16="http://schemas.microsoft.com/office/drawing/2014/main" id="{2B7F0F04-E9E6-43E3-900D-8DE6378D19D6}"/>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87CD3FA-FA86-4793-BDAD-5562EB8B39C9}"/>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Choices explained rather than defaulted to.</a:t>
            </a:r>
          </a:p>
        </p:txBody>
      </p:sp>
      <p:sp>
        <p:nvSpPr>
          <p:cNvPr id="10" name="">
            <a:extLst xmlns:a="http://schemas.openxmlformats.org/drawingml/2006/main">
              <a:ext uri="{FF2B5EF4-FFF2-40B4-BE49-F238E27FC236}">
                <a16:creationId xmlns:a16="http://schemas.microsoft.com/office/drawing/2014/main" id="{7D2CDDF4-EC54-4EFC-96D1-8683E0C666CD}"/>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B0CADFF-AEED-4A3A-B365-9FB003A980BD}"/>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Engineering reasoning (20.0 total): Domain knowledge visibly enters the work through features, banding, metric choice or interpretation.</a:t>
            </a:r>
          </a:p>
        </p:txBody>
      </p:sp>
      <p:sp>
        <p:nvSpPr>
          <p:cNvPr id="12" name="">
            <a:extLst xmlns:a="http://schemas.openxmlformats.org/drawingml/2006/main">
              <a:ext uri="{FF2B5EF4-FFF2-40B4-BE49-F238E27FC236}">
                <a16:creationId xmlns:a16="http://schemas.microsoft.com/office/drawing/2014/main" id="{8BCC2593-4DEC-4EDF-8098-D2B57C6C0A9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16</a:t>
            </a:r>
          </a:p>
        </p:txBody>
      </p:sp>
    </p:spTree>
    <p:extLst>
      <p:ext uri="{BB962C8B-B14F-4D97-AF65-F5344CB8AC3E}">
        <p14:creationId xmlns:p14="http://schemas.microsoft.com/office/powerpoint/2010/main" val="151588498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82DD68-13CF-4C1D-A44C-C930A478782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E2AB22-6A2A-4516-B981-BD2D9F2D823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D1AA462-8848-43C7-AF52-F5D0B385CA0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5AE8B994-77B9-4BE5-8149-9E0D58A505E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924B523-E260-425F-8FD8-944D06B3494C}"/>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result is discussed as engineering, not as a score.</a:t>
            </a:r>
          </a:p>
        </p:txBody>
      </p:sp>
      <p:sp>
        <p:nvSpPr>
          <p:cNvPr id="6" name="">
            <a:extLst xmlns:a="http://schemas.openxmlformats.org/drawingml/2006/main">
              <a:ext uri="{FF2B5EF4-FFF2-40B4-BE49-F238E27FC236}">
                <a16:creationId xmlns:a16="http://schemas.microsoft.com/office/drawing/2014/main" id="{0AD1EB9D-682C-4F27-B478-14AE6056DE2E}"/>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7B02E67-FDF1-4892-A9B8-A4962DD695D4}"/>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Validation (15.0 total): Correct train/test discipline, cross-validation with a reported spread, leakage explicitly checked and ruled out, metric justified against the cost of error.</a:t>
            </a:r>
          </a:p>
        </p:txBody>
      </p:sp>
      <p:sp>
        <p:nvSpPr>
          <p:cNvPr id="8" name="">
            <a:extLst xmlns:a="http://schemas.openxmlformats.org/drawingml/2006/main">
              <a:ext uri="{FF2B5EF4-FFF2-40B4-BE49-F238E27FC236}">
                <a16:creationId xmlns:a16="http://schemas.microsoft.com/office/drawing/2014/main" id="{5A39F2EA-1C08-4AAD-958C-BFCC6894D43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B73AEB3-3B9E-451D-9DE0-2726C6FED197}"/>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Communication (10.0 total): The 2-page brief is readable by a non-specialist engineer.</a:t>
            </a:r>
          </a:p>
        </p:txBody>
      </p:sp>
      <p:sp>
        <p:nvSpPr>
          <p:cNvPr id="10" name="">
            <a:extLst xmlns:a="http://schemas.openxmlformats.org/drawingml/2006/main">
              <a:ext uri="{FF2B5EF4-FFF2-40B4-BE49-F238E27FC236}">
                <a16:creationId xmlns:a16="http://schemas.microsoft.com/office/drawing/2014/main" id="{E8B44CF1-64C1-45D0-95DB-96317F6A556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17</a:t>
            </a:r>
          </a:p>
        </p:txBody>
      </p:sp>
    </p:spTree>
    <p:extLst>
      <p:ext uri="{BB962C8B-B14F-4D97-AF65-F5344CB8AC3E}">
        <p14:creationId xmlns:p14="http://schemas.microsoft.com/office/powerpoint/2010/main" val="55556128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0122E0D-B8E4-4FC0-818F-F96926FEF97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96E0AA-9414-4D29-8FDF-A2E48CF6336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7697E51-8779-450E-827A-A47D3307002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97D7BF5E-9E76-4328-9C14-29B912D1EA7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82F1D86-4890-4392-8410-4B5C3A938AEA}"/>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Charts answer questions and are captioned with findings.</a:t>
            </a:r>
          </a:p>
        </p:txBody>
      </p:sp>
      <p:sp>
        <p:nvSpPr>
          <p:cNvPr id="6" name="">
            <a:extLst xmlns:a="http://schemas.openxmlformats.org/drawingml/2006/main">
              <a:ext uri="{FF2B5EF4-FFF2-40B4-BE49-F238E27FC236}">
                <a16:creationId xmlns:a16="http://schemas.microsoft.com/office/drawing/2014/main" id="{10FA1C76-8874-4F63-BF1A-8DCD97261ED1}"/>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2EDCE7E-76F8-4AF6-98C3-8BB09E61EBC5}"/>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Uncertainty and limitations stated honestly.</a:t>
            </a:r>
          </a:p>
        </p:txBody>
      </p:sp>
      <p:sp>
        <p:nvSpPr>
          <p:cNvPr id="8" name="">
            <a:extLst xmlns:a="http://schemas.openxmlformats.org/drawingml/2006/main">
              <a:ext uri="{FF2B5EF4-FFF2-40B4-BE49-F238E27FC236}">
                <a16:creationId xmlns:a16="http://schemas.microsoft.com/office/drawing/2014/main" id="{9B263ACE-053E-42FB-A395-6BE7E9C78016}"/>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0CEF8E2-C76B-44C3-8B57-9353DB3AE6E9}"/>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Reproducibility &amp; documentation (5.0 total): Repository runs from a clean clone.</a:t>
            </a:r>
          </a:p>
        </p:txBody>
      </p:sp>
      <p:sp>
        <p:nvSpPr>
          <p:cNvPr id="10" name="">
            <a:extLst xmlns:a="http://schemas.openxmlformats.org/drawingml/2006/main">
              <a:ext uri="{FF2B5EF4-FFF2-40B4-BE49-F238E27FC236}">
                <a16:creationId xmlns:a16="http://schemas.microsoft.com/office/drawing/2014/main" id="{8A318AD4-1BAC-4D60-8C67-4BABCD2C9F46}"/>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472AF4C1-AAC1-4A56-8F83-280E03E96F00}"/>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README complete. requirements.txt present.</a:t>
            </a:r>
          </a:p>
        </p:txBody>
      </p:sp>
      <p:sp>
        <p:nvSpPr>
          <p:cNvPr id="12" name="">
            <a:extLst xmlns:a="http://schemas.openxmlformats.org/drawingml/2006/main">
              <a:ext uri="{FF2B5EF4-FFF2-40B4-BE49-F238E27FC236}">
                <a16:creationId xmlns:a16="http://schemas.microsoft.com/office/drawing/2014/main" id="{060C4DFD-32F0-460C-AA6C-C2A0FDCF477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18</a:t>
            </a:r>
          </a:p>
        </p:txBody>
      </p:sp>
    </p:spTree>
    <p:extLst>
      <p:ext uri="{BB962C8B-B14F-4D97-AF65-F5344CB8AC3E}">
        <p14:creationId xmlns:p14="http://schemas.microsoft.com/office/powerpoint/2010/main" val="125133603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C0E62B-AC3F-49D4-A563-03F3F380867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032B4E-0E9D-4635-900F-5B47ADE71A3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9E692B5-5887-4B37-8C5A-0C14CF27A2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36218F84-6819-476B-A316-99207E94C8A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30E7F2A-5A4A-499B-B826-403F9E0C1C55}"/>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Seeds set.</a:t>
            </a:r>
          </a:p>
        </p:txBody>
      </p:sp>
      <p:sp>
        <p:nvSpPr>
          <p:cNvPr id="6" name="">
            <a:extLst xmlns:a="http://schemas.openxmlformats.org/drawingml/2006/main">
              <a:ext uri="{FF2B5EF4-FFF2-40B4-BE49-F238E27FC236}">
                <a16:creationId xmlns:a16="http://schemas.microsoft.com/office/drawing/2014/main" id="{77E614FB-4861-41BE-90B8-50994BEE360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8FA8D48-4381-4430-B068-06AB5D50B009}"/>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AI use declared.</a:t>
            </a:r>
          </a:p>
        </p:txBody>
      </p:sp>
      <p:sp>
        <p:nvSpPr>
          <p:cNvPr id="8" name="">
            <a:extLst xmlns:a="http://schemas.openxmlformats.org/drawingml/2006/main">
              <a:ext uri="{FF2B5EF4-FFF2-40B4-BE49-F238E27FC236}">
                <a16:creationId xmlns:a16="http://schemas.microsoft.com/office/drawing/2014/main" id="{11F22CB8-42DA-4E71-B29E-719CDA53069B}"/>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6C502CB-FC6E-405D-81DF-E52E9B9957B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Contribution log present.</a:t>
            </a:r>
          </a:p>
        </p:txBody>
      </p:sp>
      <p:sp>
        <p:nvSpPr>
          <p:cNvPr id="10" name="">
            <a:extLst xmlns:a="http://schemas.openxmlformats.org/drawingml/2006/main">
              <a:ext uri="{FF2B5EF4-FFF2-40B4-BE49-F238E27FC236}">
                <a16:creationId xmlns:a16="http://schemas.microsoft.com/office/drawing/2014/main" id="{77D2B727-EE51-46C1-B8E6-0F42BD86CA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19</a:t>
            </a:r>
          </a:p>
        </p:txBody>
      </p:sp>
    </p:spTree>
    <p:extLst>
      <p:ext uri="{BB962C8B-B14F-4D97-AF65-F5344CB8AC3E}">
        <p14:creationId xmlns:p14="http://schemas.microsoft.com/office/powerpoint/2010/main" val="184741505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5FD6623-F0FE-4364-9261-753F94790B9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FFB9A2-2DA1-4870-BA85-8D270DF4A87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47B6E4A0-F402-4024-AE53-1AAE2315C7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submission</a:t>
            </a:r>
          </a:p>
        </p:txBody>
      </p:sp>
      <p:sp>
        <p:nvSpPr>
          <p:cNvPr id="4" name="">
            <a:extLst xmlns:a="http://schemas.openxmlformats.org/drawingml/2006/main">
              <a:ext uri="{FF2B5EF4-FFF2-40B4-BE49-F238E27FC236}">
                <a16:creationId xmlns:a16="http://schemas.microsoft.com/office/drawing/2014/main" id="{F6D0D811-38B0-48B4-8D94-ACFF45C238BA}"/>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394895A-4D70-45F2-BB4E-589EEF6649B7}"/>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27 Nov 2026, 08:00 Kampala</a:t>
            </a:r>
          </a:p>
        </p:txBody>
      </p:sp>
      <p:sp>
        <p:nvSpPr>
          <p:cNvPr id="6" name="">
            <a:extLst xmlns:a="http://schemas.openxmlformats.org/drawingml/2006/main">
              <a:ext uri="{FF2B5EF4-FFF2-40B4-BE49-F238E27FC236}">
                <a16:creationId xmlns:a16="http://schemas.microsoft.com/office/drawing/2014/main" id="{D7026EAE-5546-4AAD-B3C7-409E47396F7C}"/>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D008355-8909-432E-9F25-47E881E03860}"/>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18 Dec 2026, 08:00 Kampala</a:t>
            </a:r>
          </a:p>
        </p:txBody>
      </p:sp>
      <p:sp>
        <p:nvSpPr>
          <p:cNvPr id="8" name="">
            <a:extLst xmlns:a="http://schemas.openxmlformats.org/drawingml/2006/main">
              <a:ext uri="{FF2B5EF4-FFF2-40B4-BE49-F238E27FC236}">
                <a16:creationId xmlns:a16="http://schemas.microsoft.com/office/drawing/2014/main" id="{11D94E7A-5BF1-43E9-A896-7428A65A503D}"/>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F25B8AB-A135-45E8-9A65-B63E17468217}"/>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24D6074C-E884-455C-A329-B27118E7AE1E}"/>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9140BC8-03D3-489C-A79C-1FA1D44EBCD8}"/>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34B0B3AA-3DFD-46E5-A2B3-A83866E1CFAC}"/>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E531912-E993-4427-A32D-A32B989B00DA}"/>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3a24f85da86d4872"/>
              </a:rPr>
              <a:t>Open ML_PROJECT assignment form</a:t>
            </a:r>
          </a:p>
        </p:txBody>
      </p:sp>
      <p:sp>
        <p:nvSpPr>
          <p:cNvPr id="14" name="">
            <a:extLst xmlns:a="http://schemas.openxmlformats.org/drawingml/2006/main">
              <a:ext uri="{FF2B5EF4-FFF2-40B4-BE49-F238E27FC236}">
                <a16:creationId xmlns:a16="http://schemas.microsoft.com/office/drawing/2014/main" id="{45F2952E-E89D-4E9A-9F7C-3B25E15E971C}"/>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https://docs.google.com/forms/d/e/1FAIpQLSe_nQBvitfOInzsUcXkNH9V5Ykc95ymXHHeujjqHXX2lNzgpg/viewform</a:t>
            </a:r>
          </a:p>
        </p:txBody>
      </p:sp>
      <p:sp>
        <p:nvSpPr>
          <p:cNvPr id="15" name="">
            <a:extLst xmlns:a="http://schemas.openxmlformats.org/drawingml/2006/main">
              <a:ext uri="{FF2B5EF4-FFF2-40B4-BE49-F238E27FC236}">
                <a16:creationId xmlns:a16="http://schemas.microsoft.com/office/drawing/2014/main" id="{41ECD204-6160-42B2-8D59-5A6AB73D667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20</a:t>
            </a:r>
          </a:p>
        </p:txBody>
      </p:sp>
    </p:spTree>
    <p:extLst>
      <p:ext uri="{BB962C8B-B14F-4D97-AF65-F5344CB8AC3E}">
        <p14:creationId xmlns:p14="http://schemas.microsoft.com/office/powerpoint/2010/main" val="55696257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868902-7533-4EC7-BBD5-FB8395B10CC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1EC056-FF7A-4C07-A305-2DA75FDBD7C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C5C07D9-0D3C-4203-AECE-74CFABA862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Presentation evidence (35 marks)</a:t>
            </a:r>
          </a:p>
        </p:txBody>
      </p:sp>
      <p:sp>
        <p:nvSpPr>
          <p:cNvPr id="4" name="">
            <a:extLst xmlns:a="http://schemas.openxmlformats.org/drawingml/2006/main">
              <a:ext uri="{FF2B5EF4-FFF2-40B4-BE49-F238E27FC236}">
                <a16:creationId xmlns:a16="http://schemas.microsoft.com/office/drawing/2014/main" id="{D0AFDE38-BA68-4EBA-B6E5-851816CC400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1B7BD15-EFFA-462E-A506-B56F349C755B}"/>
              </a:ext>
            </a:extLst>
          </p:cNvPr>
          <p:cNvSpPr>
            <a:spLocks xmlns:a="http://schemas.openxmlformats.org/drawingml/2006/main" noGrp="1"/>
          </p:cNvSpPr>
          <p:nvPr/>
        </p:nvSpPr>
        <p:spPr>
          <a:xfrm xmlns:a="http://schemas.openxmlformats.org/drawingml/2006/main">
            <a:off x="1381125" y="1781175"/>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Slides and narration notes explain the question, method, evidence and limitations for an engineering audience.</a:t>
            </a:r>
          </a:p>
        </p:txBody>
      </p:sp>
      <p:sp>
        <p:nvSpPr>
          <p:cNvPr id="6" name="">
            <a:extLst xmlns:a="http://schemas.openxmlformats.org/drawingml/2006/main">
              <a:ext uri="{FF2B5EF4-FFF2-40B4-BE49-F238E27FC236}">
                <a16:creationId xmlns:a16="http://schemas.microsoft.com/office/drawing/2014/main" id="{3C2B529E-2E09-4366-AB1C-2CA3AAA2F7A7}"/>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0471EBB-4E8A-4287-8181-FF49D8081948}"/>
              </a:ext>
            </a:extLst>
          </p:cNvPr>
          <p:cNvSpPr>
            <a:spLocks xmlns:a="http://schemas.openxmlformats.org/drawingml/2006/main" noGrp="1"/>
          </p:cNvSpPr>
          <p:nvPr/>
        </p:nvSpPr>
        <p:spPr>
          <a:xfrm xmlns:a="http://schemas.openxmlformats.org/drawingml/2006/main">
            <a:off x="1381125" y="3919538"/>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local text grader does not assess visual styling or spoken delivery.</a:t>
            </a:r>
          </a:p>
        </p:txBody>
      </p:sp>
      <p:sp>
        <p:nvSpPr>
          <p:cNvPr id="8" name="">
            <a:extLst xmlns:a="http://schemas.openxmlformats.org/drawingml/2006/main">
              <a:ext uri="{FF2B5EF4-FFF2-40B4-BE49-F238E27FC236}">
                <a16:creationId xmlns:a16="http://schemas.microsoft.com/office/drawing/2014/main" id="{FA96AA75-5BDC-43E4-B48D-23F2F2A7806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21</a:t>
            </a:r>
          </a:p>
        </p:txBody>
      </p:sp>
    </p:spTree>
    <p:extLst>
      <p:ext uri="{BB962C8B-B14F-4D97-AF65-F5344CB8AC3E}">
        <p14:creationId xmlns:p14="http://schemas.microsoft.com/office/powerpoint/2010/main" val="80240377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BAD660-DD4B-40FD-97F6-43C18764887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E9A793-814A-4F82-AA84-AD0F0868BE2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D165163-DF92-4E4D-8C44-4F44CC760D4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Individual written defence (40 marks)</a:t>
            </a:r>
          </a:p>
        </p:txBody>
      </p:sp>
      <p:sp>
        <p:nvSpPr>
          <p:cNvPr id="4" name="">
            <a:extLst xmlns:a="http://schemas.openxmlformats.org/drawingml/2006/main">
              <a:ext uri="{FF2B5EF4-FFF2-40B4-BE49-F238E27FC236}">
                <a16:creationId xmlns:a16="http://schemas.microsoft.com/office/drawing/2014/main" id="{ECEC08B1-F2DF-4579-9980-14F56F9CEE5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7C80C0-08C3-4CE3-BF6E-0868C89ECBB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2D914F5-4913-4D79-9D76-2DB4A6DFF42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Two typed answers about the student's own repository identify specific cells/results and explain the decisions.</a:t>
            </a:r>
          </a:p>
        </p:txBody>
      </p:sp>
      <p:sp>
        <p:nvSpPr>
          <p:cNvPr id="7" name="">
            <a:extLst xmlns:a="http://schemas.openxmlformats.org/drawingml/2006/main">
              <a:ext uri="{FF2B5EF4-FFF2-40B4-BE49-F238E27FC236}">
                <a16:creationId xmlns:a16="http://schemas.microsoft.com/office/drawing/2014/main" id="{ED4115A6-F1D1-4567-B0A4-E8A44C4F517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Credit is based on the submitted evidence; live questioning is formative.</a:t>
            </a:r>
          </a:p>
        </p:txBody>
      </p:sp>
      <p:sp>
        <p:nvSpPr>
          <p:cNvPr id="8" name="">
            <a:extLst xmlns:a="http://schemas.openxmlformats.org/drawingml/2006/main">
              <a:ext uri="{FF2B5EF4-FFF2-40B4-BE49-F238E27FC236}">
                <a16:creationId xmlns:a16="http://schemas.microsoft.com/office/drawing/2014/main" id="{05205FD0-0073-4CE7-A7DD-D5D3F6625E5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22</a:t>
            </a:r>
          </a:p>
        </p:txBody>
      </p:sp>
    </p:spTree>
    <p:extLst>
      <p:ext uri="{BB962C8B-B14F-4D97-AF65-F5344CB8AC3E}">
        <p14:creationId xmlns:p14="http://schemas.microsoft.com/office/powerpoint/2010/main" val="10158184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E3B93A-5474-42B0-A62F-E3B5E2535C6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CAD31D-F7CA-440A-9DA4-D68F48EDFBB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AB48036-4435-49FE-9673-F263A0E7471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Reflection (20 marks)</a:t>
            </a:r>
          </a:p>
        </p:txBody>
      </p:sp>
      <p:sp>
        <p:nvSpPr>
          <p:cNvPr id="4" name="">
            <a:extLst xmlns:a="http://schemas.openxmlformats.org/drawingml/2006/main">
              <a:ext uri="{FF2B5EF4-FFF2-40B4-BE49-F238E27FC236}">
                <a16:creationId xmlns:a16="http://schemas.microsoft.com/office/drawing/2014/main" id="{73429DD5-1027-42C6-80CA-BAC61798FD3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08372B2-CFB1-4CB5-953E-3D07592686E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500 words.</a:t>
            </a:r>
          </a:p>
        </p:txBody>
      </p:sp>
      <p:sp>
        <p:nvSpPr>
          <p:cNvPr id="6" name="">
            <a:extLst xmlns:a="http://schemas.openxmlformats.org/drawingml/2006/main">
              <a:ext uri="{FF2B5EF4-FFF2-40B4-BE49-F238E27FC236}">
                <a16:creationId xmlns:a16="http://schemas.microsoft.com/office/drawing/2014/main" id="{4EF07FDB-BD36-49C2-8682-C49B6B4964A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CD03729-F13D-475C-9EFB-C6DE4FCA71C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Specific about what changed since Week 1, what remains difficult, and two concrete Semester 2 goals.</a:t>
            </a:r>
          </a:p>
        </p:txBody>
      </p:sp>
      <p:sp>
        <p:nvSpPr>
          <p:cNvPr id="8" name="">
            <a:extLst xmlns:a="http://schemas.openxmlformats.org/drawingml/2006/main">
              <a:ext uri="{FF2B5EF4-FFF2-40B4-BE49-F238E27FC236}">
                <a16:creationId xmlns:a16="http://schemas.microsoft.com/office/drawing/2014/main" id="{745F706E-FEFC-4BE4-A5C4-9AA99A6122B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8281DFB-FD97-423C-B0B0-6462B519347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Generic reflection scores low.</a:t>
            </a:r>
          </a:p>
        </p:txBody>
      </p:sp>
      <p:sp>
        <p:nvSpPr>
          <p:cNvPr id="10" name="">
            <a:extLst xmlns:a="http://schemas.openxmlformats.org/drawingml/2006/main">
              <a:ext uri="{FF2B5EF4-FFF2-40B4-BE49-F238E27FC236}">
                <a16:creationId xmlns:a16="http://schemas.microsoft.com/office/drawing/2014/main" id="{CD8E0C4B-2727-4249-89E3-0625971D3EA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23</a:t>
            </a:r>
          </a:p>
        </p:txBody>
      </p:sp>
    </p:spTree>
    <p:extLst>
      <p:ext uri="{BB962C8B-B14F-4D97-AF65-F5344CB8AC3E}">
        <p14:creationId xmlns:p14="http://schemas.microsoft.com/office/powerpoint/2010/main" val="172088514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A5DCFE-7897-43C3-A005-F7EBF09A42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3B6754-C29A-4F23-B62C-06314057CDB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7171098-840F-4C21-BB8D-B42FCA839A3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AI-use declaration (5 marks)</a:t>
            </a:r>
          </a:p>
        </p:txBody>
      </p:sp>
      <p:sp>
        <p:nvSpPr>
          <p:cNvPr id="4" name="">
            <a:extLst xmlns:a="http://schemas.openxmlformats.org/drawingml/2006/main">
              <a:ext uri="{FF2B5EF4-FFF2-40B4-BE49-F238E27FC236}">
                <a16:creationId xmlns:a16="http://schemas.microsoft.com/office/drawing/2014/main" id="{8E2CA8D7-1DFB-4E40-95A8-A27B0D06A81D}"/>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0AC83F-3F85-4CDA-8D5F-04377C0D7972}"/>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Present, complete and plausible against the repository history.</a:t>
            </a:r>
          </a:p>
        </p:txBody>
      </p:sp>
      <p:sp>
        <p:nvSpPr>
          <p:cNvPr id="6" name="">
            <a:extLst xmlns:a="http://schemas.openxmlformats.org/drawingml/2006/main">
              <a:ext uri="{FF2B5EF4-FFF2-40B4-BE49-F238E27FC236}">
                <a16:creationId xmlns:a16="http://schemas.microsoft.com/office/drawing/2014/main" id="{FD7C4490-36DC-4A65-9EEA-614A46D3F4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24</a:t>
            </a:r>
          </a:p>
        </p:txBody>
      </p:sp>
    </p:spTree>
    <p:extLst>
      <p:ext uri="{BB962C8B-B14F-4D97-AF65-F5344CB8AC3E}">
        <p14:creationId xmlns:p14="http://schemas.microsoft.com/office/powerpoint/2010/main" val="167647258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3872BCA-5704-46FF-9ADC-0199AE427F8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EF0FEF-8429-4775-BEC6-2BF560890D6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A4CB1098-A066-4928-ADF4-86E48C644B5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Presentation and individual reflection submission</a:t>
            </a:r>
          </a:p>
        </p:txBody>
      </p:sp>
      <p:sp>
        <p:nvSpPr>
          <p:cNvPr id="4" name="">
            <a:extLst xmlns:a="http://schemas.openxmlformats.org/drawingml/2006/main">
              <a:ext uri="{FF2B5EF4-FFF2-40B4-BE49-F238E27FC236}">
                <a16:creationId xmlns:a16="http://schemas.microsoft.com/office/drawing/2014/main" id="{41F6AE84-4DC7-4220-A1B6-C9C6772196B9}"/>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D28F135-FCAA-4657-80B0-2A4DCC66505A}"/>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27 Nov 2026, 08:00 Kampala</a:t>
            </a:r>
          </a:p>
        </p:txBody>
      </p:sp>
      <p:sp>
        <p:nvSpPr>
          <p:cNvPr id="6" name="">
            <a:extLst xmlns:a="http://schemas.openxmlformats.org/drawingml/2006/main">
              <a:ext uri="{FF2B5EF4-FFF2-40B4-BE49-F238E27FC236}">
                <a16:creationId xmlns:a16="http://schemas.microsoft.com/office/drawing/2014/main" id="{65D65D47-B421-41DB-B85C-6798C1D5277C}"/>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365AE8B-47E1-40E3-A5E7-77A25966D041}"/>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18 Dec 2026, 11:00 Kampala</a:t>
            </a:r>
          </a:p>
        </p:txBody>
      </p:sp>
      <p:sp>
        <p:nvSpPr>
          <p:cNvPr id="8" name="">
            <a:extLst xmlns:a="http://schemas.openxmlformats.org/drawingml/2006/main">
              <a:ext uri="{FF2B5EF4-FFF2-40B4-BE49-F238E27FC236}">
                <a16:creationId xmlns:a16="http://schemas.microsoft.com/office/drawing/2014/main" id="{A45DCE6D-84E5-48EB-A02E-4B74004F1033}"/>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43C5641-BEBA-4979-926A-4778406012AD}"/>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3B61F9E2-6B4F-4933-870D-80DCD0512183}"/>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1DD9277-6D8B-4E01-A42A-B9C2918A1335}"/>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12722023-9F4C-4C79-AD37-D17361A6012C}"/>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1749398-BA9C-4559-BDD9-49CC616C650E}"/>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e503d190f98c4ddf"/>
              </a:rPr>
              <a:t>Open DEMO assignment form</a:t>
            </a:r>
          </a:p>
        </p:txBody>
      </p:sp>
      <p:sp>
        <p:nvSpPr>
          <p:cNvPr id="14" name="">
            <a:extLst xmlns:a="http://schemas.openxmlformats.org/drawingml/2006/main">
              <a:ext uri="{FF2B5EF4-FFF2-40B4-BE49-F238E27FC236}">
                <a16:creationId xmlns:a16="http://schemas.microsoft.com/office/drawing/2014/main" id="{933A1E20-EC5B-4CAD-AA44-739618AD04AA}"/>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https://docs.google.com/forms/d/e/1FAIpQLSfMM5T1LqYDNTMxlFZKxTow0BlO6efCj2pBtKfW6ky1-aroIg/viewform</a:t>
            </a:r>
          </a:p>
        </p:txBody>
      </p:sp>
      <p:sp>
        <p:nvSpPr>
          <p:cNvPr id="15" name="">
            <a:extLst xmlns:a="http://schemas.openxmlformats.org/drawingml/2006/main">
              <a:ext uri="{FF2B5EF4-FFF2-40B4-BE49-F238E27FC236}">
                <a16:creationId xmlns:a16="http://schemas.microsoft.com/office/drawing/2014/main" id="{A32B3076-1FF3-4633-B275-BF35A7F5EAE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25</a:t>
            </a:r>
          </a:p>
        </p:txBody>
      </p:sp>
    </p:spTree>
    <p:extLst>
      <p:ext uri="{BB962C8B-B14F-4D97-AF65-F5344CB8AC3E}">
        <p14:creationId xmlns:p14="http://schemas.microsoft.com/office/powerpoint/2010/main" val="1131011467"/>
      </p:ext>
    </p:extLst>
  </p:cSld>
</p:sld>
</file>

<file path=ppt/slides/slide26.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C48049-E03E-4E5A-B7FC-B43BF943ECE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D8987C11-2B23-4380-985E-D893520FC78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you leave</a:t>
            </a:r>
          </a:p>
        </p:txBody>
      </p:sp>
      <p:sp>
        <p:nvSpPr>
          <p:cNvPr id="3" name="">
            <a:extLst xmlns:a="http://schemas.openxmlformats.org/drawingml/2006/main">
              <a:ext uri="{FF2B5EF4-FFF2-40B4-BE49-F238E27FC236}">
                <a16:creationId xmlns:a16="http://schemas.microsoft.com/office/drawing/2014/main" id="{696B1F9B-1824-4185-8F0C-A592ABDA127A}"/>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892627EA-25CC-4A2B-AACB-5FB608DAA026}"/>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point to the evidence behind one decision you personally worked on.</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639041AA-D151-401E-8C94-C0C9014D0976}"/>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068DBF95-0FA2-4D81-A5BB-39E794F1083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CML3113   Week 15   26</a:t>
            </a:r>
          </a:p>
        </p:txBody>
      </p:sp>
    </p:spTree>
    <p:extLst>
      <p:ext uri="{BB962C8B-B14F-4D97-AF65-F5344CB8AC3E}">
        <p14:creationId xmlns:p14="http://schemas.microsoft.com/office/powerpoint/2010/main" val="8659420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2026-09-21T10:26:52.1690000Z</dcterms:created>
  <dcterms:modified xsi:type="dcterms:W3CDTF">2026-09-21T10:26:52.1700000Z</dcterms:modified>
</coreProperties>
</file>