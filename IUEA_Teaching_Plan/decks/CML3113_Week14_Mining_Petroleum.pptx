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45509fe8a6c4132" /><Relationship Type="http://schemas.openxmlformats.org/officeDocument/2006/relationships/extended-properties" Target="/docProps/app.xml" Id="R74f5fed3c52b4cb7" /><Relationship Type="http://schemas.openxmlformats.org/officeDocument/2006/relationships/officeDocument" Target="/ppt/presentation.xml" Id="R17e185a72bb14f3a" /></Relationships>
</file>

<file path=ppt/presentation.xml><?xml version="1.0" encoding="utf-8"?>
<p:presentation xmlns:p="http://schemas.openxmlformats.org/presentationml/2006/main">
  <p:sldMasterIdLst>
    <p:sldMasterId xmlns:r="http://schemas.openxmlformats.org/officeDocument/2006/relationships" id="2147483648" r:id="Re5f059b4ba7e4ed5"/>
  </p:sldMasterIdLst>
  <p:notesMasterIdLst>
    <p:notesMasterId xmlns:r="http://schemas.openxmlformats.org/officeDocument/2006/relationships" r:id="R4c4c2939ed1a4391"/>
  </p:notesMasterIdLst>
  <p:sldIdLst>
    <p:sldId xmlns:r="http://schemas.openxmlformats.org/officeDocument/2006/relationships" id="256" r:id="Re0a1aff85a8b4c5b"/>
    <p:sldId xmlns:r="http://schemas.openxmlformats.org/officeDocument/2006/relationships" id="257" r:id="R575676a175ed4316"/>
    <p:sldId xmlns:r="http://schemas.openxmlformats.org/officeDocument/2006/relationships" id="258" r:id="R4e28cf14356f40a5"/>
    <p:sldId xmlns:r="http://schemas.openxmlformats.org/officeDocument/2006/relationships" id="259" r:id="R618dcd2f1a584965"/>
    <p:sldId xmlns:r="http://schemas.openxmlformats.org/officeDocument/2006/relationships" id="260" r:id="R6188254b1c8649ea"/>
    <p:sldId xmlns:r="http://schemas.openxmlformats.org/officeDocument/2006/relationships" id="261" r:id="R47dfbc70635d4707"/>
    <p:sldId xmlns:r="http://schemas.openxmlformats.org/officeDocument/2006/relationships" id="262" r:id="R1a76fe82523244a3"/>
    <p:sldId xmlns:r="http://schemas.openxmlformats.org/officeDocument/2006/relationships" id="263" r:id="R563c20f6907a4003"/>
    <p:sldId xmlns:r="http://schemas.openxmlformats.org/officeDocument/2006/relationships" id="264" r:id="R26368b36cd994119"/>
    <p:sldId xmlns:r="http://schemas.openxmlformats.org/officeDocument/2006/relationships" id="265" r:id="Re6003f16dda2412a"/>
    <p:sldId xmlns:r="http://schemas.openxmlformats.org/officeDocument/2006/relationships" id="266" r:id="R6303be6376a74099"/>
    <p:sldId xmlns:r="http://schemas.openxmlformats.org/officeDocument/2006/relationships" id="267" r:id="R48a8d1a680fd40dc"/>
    <p:sldId xmlns:r="http://schemas.openxmlformats.org/officeDocument/2006/relationships" id="268" r:id="Rb9fe5daf36734ce8"/>
    <p:sldId xmlns:r="http://schemas.openxmlformats.org/officeDocument/2006/relationships" id="269" r:id="R566ff8bffd1e4d08"/>
    <p:sldId xmlns:r="http://schemas.openxmlformats.org/officeDocument/2006/relationships" id="270" r:id="R547578ff66784a4b"/>
    <p:sldId xmlns:r="http://schemas.openxmlformats.org/officeDocument/2006/relationships" id="271" r:id="R80c4084a93984462"/>
    <p:sldId xmlns:r="http://schemas.openxmlformats.org/officeDocument/2006/relationships" id="272" r:id="R603975a680454e48"/>
    <p:sldId xmlns:r="http://schemas.openxmlformats.org/officeDocument/2006/relationships" id="273" r:id="R6fe36f0afa634409"/>
    <p:sldId xmlns:r="http://schemas.openxmlformats.org/officeDocument/2006/relationships" id="274" r:id="R162404d377c940b9"/>
    <p:sldId xmlns:r="http://schemas.openxmlformats.org/officeDocument/2006/relationships" id="275" r:id="R7ea39c22b21346c9"/>
    <p:sldId xmlns:r="http://schemas.openxmlformats.org/officeDocument/2006/relationships" id="276" r:id="R27245f44809f4897"/>
    <p:sldId xmlns:r="http://schemas.openxmlformats.org/officeDocument/2006/relationships" id="277" r:id="R9c2ee18ddcc645cc"/>
    <p:sldId xmlns:r="http://schemas.openxmlformats.org/officeDocument/2006/relationships" id="278" r:id="R04b90d6d002649f7"/>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2c9e52f2bf445fd" /><Relationship Type="http://schemas.openxmlformats.org/officeDocument/2006/relationships/slideMaster" Target="/ppt/slideMasters/slideMaster1.xml" Id="Re5f059b4ba7e4ed5" /><Relationship Type="http://schemas.openxmlformats.org/officeDocument/2006/relationships/notesMaster" Target="/ppt/notesMasters/notesMaster1.xml" Id="R4c4c2939ed1a4391" /><Relationship Type="http://schemas.openxmlformats.org/officeDocument/2006/relationships/presProps" Target="/ppt/presProps.xml" Id="Raebfe5770bfb446f" /><Relationship Type="http://schemas.openxmlformats.org/officeDocument/2006/relationships/tableStyles" Target="/ppt/tableStyles.xml" Id="R75951656c11948e2" /><Relationship Type="http://schemas.openxmlformats.org/officeDocument/2006/relationships/slide" Target="/ppt/slides/slide1.xml" Id="Re0a1aff85a8b4c5b" /><Relationship Type="http://schemas.openxmlformats.org/officeDocument/2006/relationships/slide" Target="/ppt/slides/slide2.xml" Id="R575676a175ed4316" /><Relationship Type="http://schemas.openxmlformats.org/officeDocument/2006/relationships/slide" Target="/ppt/slides/slide3.xml" Id="R4e28cf14356f40a5" /><Relationship Type="http://schemas.openxmlformats.org/officeDocument/2006/relationships/slide" Target="/ppt/slides/slide4.xml" Id="R618dcd2f1a584965" /><Relationship Type="http://schemas.openxmlformats.org/officeDocument/2006/relationships/slide" Target="/ppt/slides/slide5.xml" Id="R6188254b1c8649ea" /><Relationship Type="http://schemas.openxmlformats.org/officeDocument/2006/relationships/slide" Target="/ppt/slides/slide6.xml" Id="R47dfbc70635d4707" /><Relationship Type="http://schemas.openxmlformats.org/officeDocument/2006/relationships/slide" Target="/ppt/slides/slide7.xml" Id="R1a76fe82523244a3" /><Relationship Type="http://schemas.openxmlformats.org/officeDocument/2006/relationships/slide" Target="/ppt/slides/slide8.xml" Id="R563c20f6907a4003" /><Relationship Type="http://schemas.openxmlformats.org/officeDocument/2006/relationships/slide" Target="/ppt/slides/slide9.xml" Id="R26368b36cd994119" /><Relationship Type="http://schemas.openxmlformats.org/officeDocument/2006/relationships/slide" Target="/ppt/slides/slide10.xml" Id="Re6003f16dda2412a" /><Relationship Type="http://schemas.openxmlformats.org/officeDocument/2006/relationships/slide" Target="/ppt/slides/slide11.xml" Id="R6303be6376a74099" /><Relationship Type="http://schemas.openxmlformats.org/officeDocument/2006/relationships/slide" Target="/ppt/slides/slide12.xml" Id="R48a8d1a680fd40dc" /><Relationship Type="http://schemas.openxmlformats.org/officeDocument/2006/relationships/slide" Target="/ppt/slides/slide13.xml" Id="Rb9fe5daf36734ce8" /><Relationship Type="http://schemas.openxmlformats.org/officeDocument/2006/relationships/slide" Target="/ppt/slides/slide14.xml" Id="R566ff8bffd1e4d08" /><Relationship Type="http://schemas.openxmlformats.org/officeDocument/2006/relationships/slide" Target="/ppt/slides/slide15.xml" Id="R547578ff66784a4b" /><Relationship Type="http://schemas.openxmlformats.org/officeDocument/2006/relationships/slide" Target="/ppt/slides/slide16.xml" Id="R80c4084a93984462" /><Relationship Type="http://schemas.openxmlformats.org/officeDocument/2006/relationships/slide" Target="/ppt/slides/slide17.xml" Id="R603975a680454e48" /><Relationship Type="http://schemas.openxmlformats.org/officeDocument/2006/relationships/slide" Target="/ppt/slides/slide18.xml" Id="R6fe36f0afa634409" /><Relationship Type="http://schemas.openxmlformats.org/officeDocument/2006/relationships/slide" Target="/ppt/slides/slide19.xml" Id="R162404d377c940b9" /><Relationship Type="http://schemas.openxmlformats.org/officeDocument/2006/relationships/slide" Target="/ppt/slides/slide20.xml" Id="R7ea39c22b21346c9" /><Relationship Type="http://schemas.openxmlformats.org/officeDocument/2006/relationships/slide" Target="/ppt/slides/slide21.xml" Id="R27245f44809f4897" /><Relationship Type="http://schemas.openxmlformats.org/officeDocument/2006/relationships/slide" Target="/ppt/slides/slide22.xml" Id="R9c2ee18ddcc645cc" /><Relationship Type="http://schemas.openxmlformats.org/officeDocument/2006/relationships/slide" Target="/ppt/slides/slide23.xml" Id="R04b90d6d002649f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c37176a9bb34b7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a5a2d02bfba46cb" /><Relationship Type="http://schemas.openxmlformats.org/officeDocument/2006/relationships/notesMaster" Target="/ppt/notesMasters/notesMaster1.xml" Id="R76dd583c4abf4fee" /></Relationships>
</file>

<file path=ppt/notesSlides/_rels/notesSlide2.xml.rels>&#65279;<?xml version="1.0" encoding="utf-8"?><Relationships xmlns="http://schemas.openxmlformats.org/package/2006/relationships"><Relationship Type="http://schemas.openxmlformats.org/officeDocument/2006/relationships/slide" Target="/ppt/slides/slide2.xml" Id="Rc039c45566f54748" /><Relationship Type="http://schemas.openxmlformats.org/officeDocument/2006/relationships/notesMaster" Target="/ppt/notesMasters/notesMaster1.xml" Id="Rc18d493c728f469d" /></Relationships>
</file>

<file path=ppt/notesSlides/_rels/notesSlide3.xml.rels>&#65279;<?xml version="1.0" encoding="utf-8"?><Relationships xmlns="http://schemas.openxmlformats.org/package/2006/relationships"><Relationship Type="http://schemas.openxmlformats.org/officeDocument/2006/relationships/slide" Target="/ppt/slides/slide3.xml" Id="Re1a5ae8af77a4d04" /><Relationship Type="http://schemas.openxmlformats.org/officeDocument/2006/relationships/notesMaster" Target="/ppt/notesMasters/notesMaster1.xml" Id="Re88237fa5ebf4afc" /></Relationships>
</file>

<file path=ppt/notesSlides/_rels/notesSlide4.xml.rels>&#65279;<?xml version="1.0" encoding="utf-8"?><Relationships xmlns="http://schemas.openxmlformats.org/package/2006/relationships"><Relationship Type="http://schemas.openxmlformats.org/officeDocument/2006/relationships/slide" Target="/ppt/slides/slide4.xml" Id="Racce46fe5e584603" /><Relationship Type="http://schemas.openxmlformats.org/officeDocument/2006/relationships/notesMaster" Target="/ppt/notesMasters/notesMaster1.xml" Id="Rcf1f63a7d45d45ee" /></Relationships>
</file>

<file path=ppt/notesSlides/_rels/notesSlide5.xml.rels>&#65279;<?xml version="1.0" encoding="utf-8"?><Relationships xmlns="http://schemas.openxmlformats.org/package/2006/relationships"><Relationship Type="http://schemas.openxmlformats.org/officeDocument/2006/relationships/slide" Target="/ppt/slides/slide5.xml" Id="R3ea192af6dcf4deb" /><Relationship Type="http://schemas.openxmlformats.org/officeDocument/2006/relationships/notesMaster" Target="/ppt/notesMasters/notesMaster1.xml" Id="Rf14b04380cc74515" /></Relationships>
</file>

<file path=ppt/notesSlides/_rels/notesSlide6.xml.rels>&#65279;<?xml version="1.0" encoding="utf-8"?><Relationships xmlns="http://schemas.openxmlformats.org/package/2006/relationships"><Relationship Type="http://schemas.openxmlformats.org/officeDocument/2006/relationships/slide" Target="/ppt/slides/slide6.xml" Id="R88c4c2ba35124382" /><Relationship Type="http://schemas.openxmlformats.org/officeDocument/2006/relationships/notesMaster" Target="/ppt/notesMasters/notesMaster1.xml" Id="R9b3ff9ce52454179"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3a8950a74146b1" /><Relationship Type="http://schemas.openxmlformats.org/officeDocument/2006/relationships/notesMaster" Target="/ppt/notesMasters/notesMaster1.xml" Id="R6ddf67afc53a4f67" /></Relationships>
</file>

<file path=ppt/notesSlides/_rels/notesSlide8.xml.rels>&#65279;<?xml version="1.0" encoding="utf-8"?><Relationships xmlns="http://schemas.openxmlformats.org/package/2006/relationships"><Relationship Type="http://schemas.openxmlformats.org/officeDocument/2006/relationships/slide" Target="/ppt/slides/slide8.xml" Id="R1798d6cac8474e95" /><Relationship Type="http://schemas.openxmlformats.org/officeDocument/2006/relationships/notesMaster" Target="/ppt/notesMasters/notesMaster1.xml" Id="R6e0ef7a6f71743eb" /></Relationships>
</file>

<file path=ppt/notesSlides/_rels/notesSlide9.xml.rels>&#65279;<?xml version="1.0" encoding="utf-8"?><Relationships xmlns="http://schemas.openxmlformats.org/package/2006/relationships"><Relationship Type="http://schemas.openxmlformats.org/officeDocument/2006/relationships/slide" Target="/ppt/slides/slide9.xml" Id="Re947681f6bf542c5" /><Relationship Type="http://schemas.openxmlformats.org/officeDocument/2006/relationships/notesMaster" Target="/ppt/notesMasters/notesMaster1.xml" Id="Ra0621580daac49d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a4b4ae4ed5e4670" /><Relationship Type="http://schemas.openxmlformats.org/officeDocument/2006/relationships/notesMaster" Target="/ppt/notesMasters/notesMaster1.xml" Id="R77eb0bf9a8a5420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3b586bd9a394381" /><Relationship Type="http://schemas.openxmlformats.org/officeDocument/2006/relationships/notesMaster" Target="/ppt/notesMasters/notesMaster1.xml" Id="R81b5700369704f2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a60af26ec774af1" /><Relationship Type="http://schemas.openxmlformats.org/officeDocument/2006/relationships/notesMaster" Target="/ppt/notesMasters/notesMaster1.xml" Id="R136bbd659ade4d1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6b0b6e0c49f47f7" /><Relationship Type="http://schemas.openxmlformats.org/officeDocument/2006/relationships/notesMaster" Target="/ppt/notesMasters/notesMaster1.xml" Id="Re7be974df6db40f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41f2c19ee5f4b5c" /><Relationship Type="http://schemas.openxmlformats.org/officeDocument/2006/relationships/notesMaster" Target="/ppt/notesMasters/notesMaster1.xml" Id="Rb0730cba477846b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6f382009a524f0a" /><Relationship Type="http://schemas.openxmlformats.org/officeDocument/2006/relationships/notesMaster" Target="/ppt/notesMasters/notesMaster1.xml" Id="R0a985206a3a5449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6d428f0a0394cb4" /><Relationship Type="http://schemas.openxmlformats.org/officeDocument/2006/relationships/notesMaster" Target="/ppt/notesMasters/notesMaster1.xml" Id="Rf8e5fd07179d4c7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77d0f6fcd934458" /><Relationship Type="http://schemas.openxmlformats.org/officeDocument/2006/relationships/notesMaster" Target="/ppt/notesMasters/notesMaster1.xml" Id="R89101ceba7e94f2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9b4bbd18fa747f5" /><Relationship Type="http://schemas.openxmlformats.org/officeDocument/2006/relationships/notesMaster" Target="/ppt/notesMasters/notesMaster1.xml" Id="R48506f1408c3431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1f20d103cab4e68" /><Relationship Type="http://schemas.openxmlformats.org/officeDocument/2006/relationships/notesMaster" Target="/ppt/notesMasters/notesMaster1.xml" Id="Raf83469f82d64bb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71510c084be4973" /><Relationship Type="http://schemas.openxmlformats.org/officeDocument/2006/relationships/notesMaster" Target="/ppt/notesMasters/notesMaster1.xml" Id="Rbe795b0aa29f423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88abebb2efa48ea" /><Relationship Type="http://schemas.openxmlformats.org/officeDocument/2006/relationships/notesMaster" Target="/ppt/notesMasters/notesMaster1.xml" Id="R7e99aaeaa3b04ca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a1bdc921c644a87" /><Relationship Type="http://schemas.openxmlformats.org/officeDocument/2006/relationships/notesMaster" Target="/ppt/notesMasters/notesMaster1.xml" Id="Ra0b0be8e9b9e409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2c83ccf51724e79" /><Relationship Type="http://schemas.openxmlformats.org/officeDocument/2006/relationships/notesMaster" Target="/ppt/notesMasters/notesMaster1.xml" Id="R9144241f27fd4d3e"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Practical Test 2</a:t>
            </a:r>
          </a:p>
          <a:p>
            <a:r>
              <a:t/>
            </a:r>
          </a:p>
          <a:p>
            <a:r>
              <a:t>LECTURER CUE</a:t>
            </a:r>
          </a:p>
          <a:p>
            <a:r>
              <a:t>Read the specific public requirement shown on this slide. Explain the input, output and evidence before independent work; do not work the assessed answer for the class.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Preparing for Practical Test 2.</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Preparation happens before the test.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Preparation happens before the test</a:t>
            </a:r>
          </a:p>
          <a:p>
            <a:r>
              <a:t/>
            </a:r>
          </a:p>
          <a:p>
            <a:r>
              <a:t>CONNECT</a:t>
            </a:r>
          </a:p>
          <a:p>
            <a:r>
              <a:t>Build on the preceding slide: Recall and a first attempt.</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Rehearse the offline save procedure.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Rehearse the offline save procedure</a:t>
            </a:r>
          </a:p>
          <a:p>
            <a:r>
              <a:t/>
            </a:r>
          </a:p>
          <a:p>
            <a:r>
              <a:t>CONNECT</a:t>
            </a:r>
          </a:p>
          <a:p>
            <a:r>
              <a:t>Build on the preceding slide: Preparation happens before the test.</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A result needs an explanation.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result needs an explanation</a:t>
            </a:r>
          </a:p>
          <a:p>
            <a:r>
              <a:t/>
            </a:r>
          </a:p>
          <a:p>
            <a:r>
              <a:t>CONNECT</a:t>
            </a:r>
          </a:p>
          <a:p>
            <a:r>
              <a:t>Build on the preceding slide: Rehearse the offline save procedure.</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Practice before test day.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before test day</a:t>
            </a:r>
          </a:p>
          <a:p>
            <a:r>
              <a:t/>
            </a:r>
          </a:p>
          <a:p>
            <a:r>
              <a:t>CONNECT</a:t>
            </a:r>
          </a:p>
          <a:p>
            <a:r>
              <a:t>Build on the preceding slide: A result needs an explanation.</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for takes the next item. The indented block repeats.</a:t>
            </a:r>
          </a:p>
          <a:p>
            <a:r>
              <a:t>zip pairs items at matching positions in these equal-length lists.</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Rehearsal before Practical Test 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Rehearsal before Practical Test 2</a:t>
            </a:r>
          </a:p>
          <a:p>
            <a:r>
              <a:t/>
            </a:r>
          </a:p>
          <a:p>
            <a:r>
              <a:t>CONNECT</a:t>
            </a:r>
          </a:p>
          <a:p>
            <a:r>
              <a:t>Build on the preceding slide: Practice before test day.</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Rehearsal before Practical Test 2.</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Test session.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Test session</a:t>
            </a:r>
          </a:p>
          <a:p>
            <a:r>
              <a:t/>
            </a:r>
          </a:p>
          <a:p>
            <a:r>
              <a:t>CONNECT</a:t>
            </a:r>
          </a:p>
          <a:p>
            <a:r>
              <a:t>Build on the preceding slide: What the activity shows.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Preparation checkpoint.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Preparation checkpoint</a:t>
            </a:r>
          </a:p>
          <a:p>
            <a:r>
              <a:t/>
            </a:r>
          </a:p>
          <a:p>
            <a:r>
              <a:t>CONNECT</a:t>
            </a:r>
          </a:p>
          <a:p>
            <a:r>
              <a:t>Build on the preceding slide: Test session.</a:t>
            </a:r>
          </a:p>
          <a:p>
            <a:r>
              <a:t/>
            </a:r>
          </a:p>
          <a:p>
            <a:r>
              <a:t>LECTURER CUE</a:t>
            </a:r>
          </a:p>
          <a:p>
            <a:r>
              <a:t>Read the specific public requirement shown on this slide. Explain the input, output and evidence before independent work; do not work the assessed answer for the class.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Your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evidence</a:t>
            </a:r>
          </a:p>
          <a:p>
            <a:r>
              <a:t/>
            </a:r>
          </a:p>
          <a:p>
            <a:r>
              <a:t>CONNECT</a:t>
            </a:r>
          </a:p>
          <a:p>
            <a:r>
              <a:t>Build on the preceding slide: Preparation checkpoint.</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a:t>
            </a:r>
          </a:p>
          <a:p>
            <a:r>
              <a:t/>
            </a:r>
          </a:p>
          <a:p>
            <a:r>
              <a:t>CONNECT</a:t>
            </a:r>
          </a:p>
          <a:p>
            <a:r>
              <a:t>Build on the preceding slide: Your evidence.</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continued</a:t>
            </a:r>
          </a:p>
          <a:p>
            <a:r>
              <a:t/>
            </a:r>
          </a:p>
          <a:p>
            <a:r>
              <a:t>CONNECT</a:t>
            </a:r>
          </a:p>
          <a:p>
            <a:r>
              <a:t>Build on the preceding slide: Practical Test 2.</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continued</a:t>
            </a:r>
          </a:p>
          <a:p>
            <a:r>
              <a:t/>
            </a:r>
          </a:p>
          <a:p>
            <a:r>
              <a:t>CONNECT</a:t>
            </a:r>
          </a:p>
          <a:p>
            <a:r>
              <a:t>Build on the preceding slide: Practical Test 2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continued</a:t>
            </a:r>
          </a:p>
          <a:p>
            <a:r>
              <a:t/>
            </a:r>
          </a:p>
          <a:p>
            <a:r>
              <a:t>CONNECT</a:t>
            </a:r>
          </a:p>
          <a:p>
            <a:r>
              <a:t>Build on the preceding slide: Practical Test 2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continued</a:t>
            </a:r>
          </a:p>
          <a:p>
            <a:r>
              <a:t/>
            </a:r>
          </a:p>
          <a:p>
            <a:r>
              <a:t>CONNECT</a:t>
            </a:r>
          </a:p>
          <a:p>
            <a:r>
              <a:t>Build on the preceding slide: Practical Test 2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continued</a:t>
            </a:r>
          </a:p>
          <a:p>
            <a:r>
              <a:t/>
            </a:r>
          </a:p>
          <a:p>
            <a:r>
              <a:t>CONNECT</a:t>
            </a:r>
          </a:p>
          <a:p>
            <a:r>
              <a:t>Build on the preceding slide: Practical Test 2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continued</a:t>
            </a:r>
          </a:p>
          <a:p>
            <a:r>
              <a:t/>
            </a:r>
          </a:p>
          <a:p>
            <a:r>
              <a:t>CONNECT</a:t>
            </a:r>
          </a:p>
          <a:p>
            <a:r>
              <a:t>Build on the preceding slide: Practical Test 2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continued</a:t>
            </a:r>
          </a:p>
          <a:p>
            <a:r>
              <a:t/>
            </a:r>
          </a:p>
          <a:p>
            <a:r>
              <a:t>CONNECT</a:t>
            </a:r>
          </a:p>
          <a:p>
            <a:r>
              <a:t>Build on the preceding slide: Practical Test 2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continued</a:t>
            </a:r>
          </a:p>
          <a:p>
            <a:r>
              <a:t/>
            </a:r>
          </a:p>
          <a:p>
            <a:r>
              <a:t>CONNECT</a:t>
            </a:r>
          </a:p>
          <a:p>
            <a:r>
              <a:t>Build on the preceding slide: Practical Test 2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2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2 submission</a:t>
            </a:r>
          </a:p>
          <a:p>
            <a:r>
              <a:t/>
            </a:r>
          </a:p>
          <a:p>
            <a:r>
              <a:t>CONNECT</a:t>
            </a:r>
          </a:p>
          <a:p>
            <a:r>
              <a:t>Build on the preceding slide: Practical Test 2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Practical Test 2 submission.</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9a41b47c20e4d3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6edf4ee61c34d35" /><Relationship Type="http://schemas.openxmlformats.org/officeDocument/2006/relationships/slideLayout" Target="/ppt/slideLayouts/slideLayout1.xml" Id="R1d62a9d3e91b4c8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d62a9d3e91b4c8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40a1b9e24d44ba0" /><Relationship Type="http://schemas.openxmlformats.org/officeDocument/2006/relationships/image" Target="/ppt/media/image.png" Id="R100807bec3554388" /><Relationship Type="http://schemas.openxmlformats.org/officeDocument/2006/relationships/notesSlide" Target="/ppt/notesSlides/notesSlide1.xml" Id="Rbc1f39a6620a42c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2b124298e314549" /><Relationship Type="http://schemas.openxmlformats.org/officeDocument/2006/relationships/notesSlide" Target="/ppt/notesSlides/notesSlide2.xml" Id="R2e16576a7caf40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b5efb468fd74a12" /><Relationship Type="http://schemas.openxmlformats.org/officeDocument/2006/relationships/notesSlide" Target="/ppt/notesSlides/notesSlide3.xml" Id="R6f44eae8b2dd456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be657985a134d35" /><Relationship Type="http://schemas.openxmlformats.org/officeDocument/2006/relationships/notesSlide" Target="/ppt/notesSlides/notesSlide4.xml" Id="Ra3e49bbd127c43d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efec6618ef04500" /><Relationship Type="http://schemas.openxmlformats.org/officeDocument/2006/relationships/notesSlide" Target="/ppt/notesSlides/notesSlide5.xml" Id="R48aac98d1ce04d2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4def42dc0124abb" /><Relationship Type="http://schemas.openxmlformats.org/officeDocument/2006/relationships/notesSlide" Target="/ppt/notesSlides/notesSlide6.xml" Id="Rafa2a0bd170f4bd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02ac7f603da420a" /><Relationship Type="http://schemas.openxmlformats.org/officeDocument/2006/relationships/notesSlide" Target="/ppt/notesSlides/notesSlide7.xml" Id="Rcd1f284b4343446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79eb538d052415e" /><Relationship Type="http://schemas.openxmlformats.org/officeDocument/2006/relationships/notesSlide" Target="/ppt/notesSlides/notesSlide8.xml" Id="R7645755f7e5647a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5875df7e61c42cb" /><Relationship Type="http://schemas.openxmlformats.org/officeDocument/2006/relationships/notesSlide" Target="/ppt/notesSlides/notesSlide9.xml" Id="R1cf65cf06745426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ac1dd65118d4a23" /><Relationship Type="http://schemas.openxmlformats.org/officeDocument/2006/relationships/notesSlide" Target="/ppt/notesSlides/notesSlide10.xml" Id="Ra9d0cea20de5486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3c38715580d4362" /><Relationship Type="http://schemas.openxmlformats.org/officeDocument/2006/relationships/notesSlide" Target="/ppt/notesSlides/notesSlide11.xml" Id="R1929385a63ab450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c253b50413e40ee" /><Relationship Type="http://schemas.openxmlformats.org/officeDocument/2006/relationships/notesSlide" Target="/ppt/notesSlides/notesSlide12.xml" Id="Rf96ef2e9406740f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b7acb5cda3b4c93" /><Relationship Type="http://schemas.openxmlformats.org/officeDocument/2006/relationships/notesSlide" Target="/ppt/notesSlides/notesSlide13.xml" Id="R57e51060c5f24f6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04694baaec94e36" /><Relationship Type="http://schemas.openxmlformats.org/officeDocument/2006/relationships/notesSlide" Target="/ppt/notesSlides/notesSlide14.xml" Id="Rc102db60431b4fe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ef61d8b55c64db9" /><Relationship Type="http://schemas.openxmlformats.org/officeDocument/2006/relationships/notesSlide" Target="/ppt/notesSlides/notesSlide15.xml" Id="R7c5e16f2c3c6409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db4b778d2d74f31" /><Relationship Type="http://schemas.openxmlformats.org/officeDocument/2006/relationships/notesSlide" Target="/ppt/notesSlides/notesSlide16.xml" Id="Rce0331e8f5cd496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2a1ed2a42434b41" /><Relationship Type="http://schemas.openxmlformats.org/officeDocument/2006/relationships/notesSlide" Target="/ppt/notesSlides/notesSlide17.xml" Id="R9da8ba0711cb4be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139388e1b4e436f" /><Relationship Type="http://schemas.openxmlformats.org/officeDocument/2006/relationships/notesSlide" Target="/ppt/notesSlides/notesSlide18.xml" Id="R5f57a2573268452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4ac4d7789e746d1" /><Relationship Type="http://schemas.openxmlformats.org/officeDocument/2006/relationships/notesSlide" Target="/ppt/notesSlides/notesSlide19.xml" Id="R16609ea2d14340f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731b727ede24f74" /><Relationship Type="http://schemas.openxmlformats.org/officeDocument/2006/relationships/notesSlide" Target="/ppt/notesSlides/notesSlide20.xml" Id="R77a64b4b07dc445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de23d315a354f54" /><Relationship Type="http://schemas.openxmlformats.org/officeDocument/2006/relationships/notesSlide" Target="/ppt/notesSlides/notesSlide21.xml" Id="Rca3e026c9eb04fc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6cf7078d4f1483c" /><Relationship Type="http://schemas.openxmlformats.org/officeDocument/2006/relationships/hyperlink" Target="https://docs.google.com/forms/d/e/1FAIpQLSeAnqjVsUO288tWRg47SCH61K6pzS7hTyYb40MH5KKd9aPkAA/viewform" TargetMode="External" Id="R557a453b746a4678" /><Relationship Type="http://schemas.openxmlformats.org/officeDocument/2006/relationships/notesSlide" Target="/ppt/notesSlides/notesSlide22.xml" Id="Rba591e244ece46f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df6d319b29a4505" /><Relationship Type="http://schemas.openxmlformats.org/officeDocument/2006/relationships/notesSlide" Target="/ppt/notesSlides/notesSlide23.xml" Id="Rb0ea80ee4fb74da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100807bec3554388"/>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AD14C9A-6EE2-4D33-A779-438F2E7C2A1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9171D01-D728-419E-AF52-6446B6EB45E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14</a:t>
            </a:r>
          </a:p>
        </p:txBody>
      </p:sp>
      <p:sp>
        <p:nvSpPr>
          <p:cNvPr id="4" name="">
            <a:extLst xmlns:a="http://schemas.openxmlformats.org/drawingml/2006/main">
              <a:ext uri="{FF2B5EF4-FFF2-40B4-BE49-F238E27FC236}">
                <a16:creationId xmlns:a16="http://schemas.microsoft.com/office/drawing/2014/main" id="{1607344D-10D8-4531-A50D-1E1A0A11C8A5}"/>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2</a:t>
            </a:r>
          </a:p>
        </p:txBody>
      </p:sp>
      <p:sp>
        <p:nvSpPr>
          <p:cNvPr id="5" name="">
            <a:extLst xmlns:a="http://schemas.openxmlformats.org/drawingml/2006/main">
              <a:ext uri="{FF2B5EF4-FFF2-40B4-BE49-F238E27FC236}">
                <a16:creationId xmlns:a16="http://schemas.microsoft.com/office/drawing/2014/main" id="{F5981ABA-53BC-4F44-8368-937DC8117F1B}"/>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0AE69A9A-01E3-4D7B-8269-13EF0CD3597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47851384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91BF2FB-E97C-4766-98A3-A359D9202C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3D9181-D636-4C8F-BEE3-4BFFB0965D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68F7F448-162D-49AD-9C80-876CE78BA9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141EBE08-88AF-42CD-9B40-D68CF10E5F5D}"/>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4CADE93-5567-4DA6-B39E-90114E85EEFF}"/>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1534F575-5470-4DAE-9ADA-7A666785758C}"/>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previously taught modelling decisions.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Practise saving both required test files offline.</a:t>
            </a:r>
          </a:p>
        </p:txBody>
      </p:sp>
      <p:sp>
        <p:nvSpPr>
          <p:cNvPr id="7" name="">
            <a:extLst xmlns:a="http://schemas.openxmlformats.org/drawingml/2006/main">
              <a:ext uri="{FF2B5EF4-FFF2-40B4-BE49-F238E27FC236}">
                <a16:creationId xmlns:a16="http://schemas.microsoft.com/office/drawing/2014/main" id="{2A9F5222-A257-463F-AC5A-F0BE559C63FB}"/>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6C679AC-022B-4929-8F78-AA634773F386}"/>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training-only preprocessing and locate your saved evidence.</a:t>
            </a:r>
          </a:p>
        </p:txBody>
      </p:sp>
      <p:sp>
        <p:nvSpPr>
          <p:cNvPr id="9" name="">
            <a:extLst xmlns:a="http://schemas.openxmlformats.org/drawingml/2006/main">
              <a:ext uri="{FF2B5EF4-FFF2-40B4-BE49-F238E27FC236}">
                <a16:creationId xmlns:a16="http://schemas.microsoft.com/office/drawing/2014/main" id="{72A9FD32-8DB4-4DE5-935A-0E534FD009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a:t>
            </a:r>
          </a:p>
        </p:txBody>
      </p:sp>
    </p:spTree>
    <p:extLst>
      <p:ext uri="{BB962C8B-B14F-4D97-AF65-F5344CB8AC3E}">
        <p14:creationId xmlns:p14="http://schemas.microsoft.com/office/powerpoint/2010/main" val="849649028"/>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837999-E509-4531-85B0-592D7C234C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9B8A35EC-DA25-4673-AF0F-7BC850BEF2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6F185CA3-70F9-49C5-B042-0DE358B9C2B1}"/>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09CF0560-3C17-4F25-A746-E5239B1FB59E}"/>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Can you name the target, fit only on training records and explain how you would keep the test untouched?</a:t>
            </a:r>
          </a:p>
        </p:txBody>
      </p:sp>
      <p:sp>
        <p:nvSpPr>
          <p:cNvPr id="5" name="">
            <a:extLst xmlns:a="http://schemas.openxmlformats.org/drawingml/2006/main">
              <a:ext uri="{FF2B5EF4-FFF2-40B4-BE49-F238E27FC236}">
                <a16:creationId xmlns:a16="http://schemas.microsoft.com/office/drawing/2014/main" id="{BCB77E73-C731-41C9-A711-772F858BC85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0D3D08DD-DF63-4BFD-A624-795237E66A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14   3</a:t>
            </a:r>
          </a:p>
        </p:txBody>
      </p:sp>
    </p:spTree>
    <p:extLst>
      <p:ext uri="{BB962C8B-B14F-4D97-AF65-F5344CB8AC3E}">
        <p14:creationId xmlns:p14="http://schemas.microsoft.com/office/powerpoint/2010/main" val="62153679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9358ED7-DBE7-4AE4-BBA9-52836F8B71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5CA9E8-0867-497E-8596-D7EA70D788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28AC46B-A3DC-4BA1-A6AF-CC7164CF99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happens before the test</a:t>
            </a:r>
          </a:p>
        </p:txBody>
      </p:sp>
      <p:sp>
        <p:nvSpPr>
          <p:cNvPr id="4" name="">
            <a:extLst xmlns:a="http://schemas.openxmlformats.org/drawingml/2006/main">
              <a:ext uri="{FF2B5EF4-FFF2-40B4-BE49-F238E27FC236}">
                <a16:creationId xmlns:a16="http://schemas.microsoft.com/office/drawing/2014/main" id="{5C27F231-4BF8-488E-AA0E-8B23C5E8A37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A6F1AA-010B-4F01-8C2D-9C9F7B1F752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Practise the already taught error calculations and data-splitting rules.</a:t>
            </a:r>
          </a:p>
        </p:txBody>
      </p:sp>
      <p:sp>
        <p:nvSpPr>
          <p:cNvPr id="6" name="">
            <a:extLst xmlns:a="http://schemas.openxmlformats.org/drawingml/2006/main">
              <a:ext uri="{FF2B5EF4-FFF2-40B4-BE49-F238E27FC236}">
                <a16:creationId xmlns:a16="http://schemas.microsoft.com/office/drawing/2014/main" id="{7B5DFDDF-6C71-4740-9231-09696091AD4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F294E30-33D1-4399-A563-092FAA0A50A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separate practice values.</a:t>
            </a:r>
          </a:p>
        </p:txBody>
      </p:sp>
      <p:sp>
        <p:nvSpPr>
          <p:cNvPr id="8" name="">
            <a:extLst xmlns:a="http://schemas.openxmlformats.org/drawingml/2006/main">
              <a:ext uri="{FF2B5EF4-FFF2-40B4-BE49-F238E27FC236}">
                <a16:creationId xmlns:a16="http://schemas.microsoft.com/office/drawing/2014/main" id="{66F801CB-E81D-491C-88C8-7579BC58B53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76425C2-23FD-4142-BEBC-0E36A5D2579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timed session follows the issued test instructions.</a:t>
            </a:r>
          </a:p>
        </p:txBody>
      </p:sp>
      <p:sp>
        <p:nvSpPr>
          <p:cNvPr id="10" name="">
            <a:extLst xmlns:a="http://schemas.openxmlformats.org/drawingml/2006/main">
              <a:ext uri="{FF2B5EF4-FFF2-40B4-BE49-F238E27FC236}">
                <a16:creationId xmlns:a16="http://schemas.microsoft.com/office/drawing/2014/main" id="{37430076-24B5-46CD-A05C-7D2110700F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a:t>
            </a:r>
          </a:p>
        </p:txBody>
      </p:sp>
    </p:spTree>
    <p:extLst>
      <p:ext uri="{BB962C8B-B14F-4D97-AF65-F5344CB8AC3E}">
        <p14:creationId xmlns:p14="http://schemas.microsoft.com/office/powerpoint/2010/main" val="324014601"/>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32700D99-5F22-4B46-9F71-5E008E3E942B}"/>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994961CD-08EB-4CA3-96B8-A3CC47465CC6}"/>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E1916B97-5C9B-4BC4-B765-7F70A4C1BA0F}"/>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Rehearse the offline save procedure</a:t>
            </a:r>
          </a:p>
        </p:txBody>
      </p:sp>
      <p:sp>
        <p:nvSpPr>
          <p:cNvPr id="4" name="">
            <a:extLst>
              <a:ext uri="{FF2B5EF4-FFF2-40B4-BE49-F238E27FC236}">
                <ns2:creationId id="{2C53A4F4-A6B0-4DFB-80CA-EF90A669D7FF}"/>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38C8E04D-FAB7-492A-B127-1553A023DD7C}"/>
              </a:ext>
            </a:extLst>
          </p:cNvPr>
          <p:cNvSpPr>
            <a:spLocks noGrp="1"/>
          </p:cNvSpPr>
          <p:nvPr/>
        </p:nvSpPr>
        <p:spPr>
          <a:xfrm>
            <a:off x="1381125" y="17811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Save your notebook on the prepared lab computer.</a:t>
            </a:r>
          </a:p>
        </p:txBody>
      </p:sp>
      <p:sp>
        <p:nvSpPr>
          <p:cNvPr id="6" name="">
            <a:extLst>
              <a:ext uri="{FF2B5EF4-FFF2-40B4-BE49-F238E27FC236}">
                <ns2:creationId id="{4FD18E50-BDE1-4182-93EE-019D5E6EEFE2}"/>
              </a:ext>
            </a:extLst>
          </p:cNvPr>
          <p:cNvSpPr>
            <a:spLocks noGrp="1"/>
          </p:cNvSpPr>
          <p:nvPr/>
        </p:nvSpPr>
        <p:spPr>
          <a:xfrm>
            <a:off x="590550" y="32099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E3A7F2D8-8B04-4490-A8FE-B328F9DDD6E2}"/>
              </a:ext>
            </a:extLst>
          </p:cNvPr>
          <p:cNvSpPr>
            <a:spLocks noGrp="1"/>
          </p:cNvSpPr>
          <p:nvPr/>
        </p:nvSpPr>
        <p:spPr>
          <a:xfrm>
            <a:off x="1381125" y="320992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Type Part B under My written evidence in the notebook.</a:t>
            </a:r>
          </a:p>
        </p:txBody>
      </p:sp>
      <p:sp>
        <p:nvSpPr>
          <p:cNvPr id="8" name="">
            <a:extLst>
              <a:ext uri="{FF2B5EF4-FFF2-40B4-BE49-F238E27FC236}">
                <ns2:creationId id="{03FEE49B-8F1A-4783-B52D-8B1CF4325873}"/>
              </a:ext>
            </a:extLst>
          </p:cNvPr>
          <p:cNvSpPr>
            <a:spLocks noGrp="1"/>
          </p:cNvSpPr>
          <p:nvPr/>
        </p:nvSpPr>
        <p:spPr>
          <a:xfrm>
            <a:off x="590550" y="46386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657528A1-8695-43CF-ACE9-52AD2071330F}"/>
              </a:ext>
            </a:extLst>
          </p:cNvPr>
          <p:cNvSpPr>
            <a:spLocks noGrp="1"/>
          </p:cNvSpPr>
          <p:nvPr/>
        </p:nvSpPr>
        <p:spPr>
          <a:xfrm>
            <a:off x="1381125" y="46386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Locate and reopen the complete notebook without internet.</a:t>
            </a:r>
          </a:p>
        </p:txBody>
      </p:sp>
      <p:sp>
        <p:nvSpPr>
          <p:cNvPr id="10" name="">
            <a:extLst>
              <a:ext uri="{FF2B5EF4-FFF2-40B4-BE49-F238E27FC236}">
                <ns2:creationId id="{D0CB0BB0-3D20-4855-A12C-B825D82C3D70}"/>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a:t>
            </a:r>
          </a:p>
        </p:txBody>
      </p:sp>
    </p:spTree>
    <p:extLst>
      <p:ext uri="{BB962C8B-B14F-4D97-AF65-F5344CB8AC3E}">
        <ns3:creationId val="161723306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F65C1DA-700B-496B-AA67-48FB42CAEE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685EEB-39B9-4FD3-81A5-61D2F97D05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4AD344-1739-4A7D-93AA-8954A9919D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result needs an explanation</a:t>
            </a:r>
          </a:p>
        </p:txBody>
      </p:sp>
      <p:sp>
        <p:nvSpPr>
          <p:cNvPr id="4" name="">
            <a:extLst xmlns:a="http://schemas.openxmlformats.org/drawingml/2006/main">
              <a:ext uri="{FF2B5EF4-FFF2-40B4-BE49-F238E27FC236}">
                <a16:creationId xmlns:a16="http://schemas.microsoft.com/office/drawing/2014/main" id="{29D67138-C22F-42CD-B0A9-1C957E5A25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46B8997-9412-414C-92D3-636B728803C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target and its unit or class.</a:t>
            </a:r>
          </a:p>
        </p:txBody>
      </p:sp>
      <p:sp>
        <p:nvSpPr>
          <p:cNvPr id="6" name="">
            <a:extLst xmlns:a="http://schemas.openxmlformats.org/drawingml/2006/main">
              <a:ext uri="{FF2B5EF4-FFF2-40B4-BE49-F238E27FC236}">
                <a16:creationId xmlns:a16="http://schemas.microsoft.com/office/drawing/2014/main" id="{6BACDDC2-5E80-4929-B2DC-8AAB5DBAA1A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0FC425-2BD1-4400-83A1-6AB7873AB70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which data fitted preprocessing and which data evaluated the model.</a:t>
            </a:r>
          </a:p>
        </p:txBody>
      </p:sp>
      <p:sp>
        <p:nvSpPr>
          <p:cNvPr id="8" name="">
            <a:extLst xmlns:a="http://schemas.openxmlformats.org/drawingml/2006/main">
              <a:ext uri="{FF2B5EF4-FFF2-40B4-BE49-F238E27FC236}">
                <a16:creationId xmlns:a16="http://schemas.microsoft.com/office/drawing/2014/main" id="{44A07F8F-6996-4818-B684-C62D9E8422A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C9267F9-7153-44A0-A3ED-E1CB5B0B047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high score alone does not establish a useful engineering model.</a:t>
            </a:r>
          </a:p>
        </p:txBody>
      </p:sp>
      <p:sp>
        <p:nvSpPr>
          <p:cNvPr id="10" name="">
            <a:extLst xmlns:a="http://schemas.openxmlformats.org/drawingml/2006/main">
              <a:ext uri="{FF2B5EF4-FFF2-40B4-BE49-F238E27FC236}">
                <a16:creationId xmlns:a16="http://schemas.microsoft.com/office/drawing/2014/main" id="{E27ABA5F-B50F-49EF-B74D-01748E823F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a:t>
            </a:r>
          </a:p>
        </p:txBody>
      </p:sp>
    </p:spTree>
    <p:extLst>
      <p:ext uri="{BB962C8B-B14F-4D97-AF65-F5344CB8AC3E}">
        <p14:creationId xmlns:p14="http://schemas.microsoft.com/office/powerpoint/2010/main" val="61550174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6C7D695-F6CC-4C85-8C9F-AB159FFF3A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9F1AF0-352D-48C3-AB26-8D8F9BEDCB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93C79B2-0C20-4690-BFA9-F71D583157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before test day</a:t>
            </a:r>
          </a:p>
        </p:txBody>
      </p:sp>
      <p:sp>
        <p:nvSpPr>
          <p:cNvPr id="4" name="">
            <a:extLst xmlns:a="http://schemas.openxmlformats.org/drawingml/2006/main">
              <a:ext uri="{FF2B5EF4-FFF2-40B4-BE49-F238E27FC236}">
                <a16:creationId xmlns:a16="http://schemas.microsoft.com/office/drawing/2014/main" id="{F4AB19B2-0F0F-4A4F-BF99-0D8BA3BCD07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A96439-D048-46D4-B5FA-ED0E704CA72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[4,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[5,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 p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errors.append(abs(a -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print(sum(errors) / len(errors))</a:t>
            </a:r>
          </a:p>
        </p:txBody>
      </p:sp>
      <p:sp>
        <p:nvSpPr>
          <p:cNvPr id="6" name="">
            <a:extLst xmlns:a="http://schemas.openxmlformats.org/drawingml/2006/main">
              <a:ext uri="{FF2B5EF4-FFF2-40B4-BE49-F238E27FC236}">
                <a16:creationId xmlns:a16="http://schemas.microsoft.com/office/drawing/2014/main" id="{D9A0EB7D-CBE5-4829-804F-F6FC75839BA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4A4273E-76B5-4FE9-8411-E4BFEC1C5BC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4A7B81F5-83E7-4E37-BC93-6C4BDC8309F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9" name="">
            <a:extLst xmlns:a="http://schemas.openxmlformats.org/drawingml/2006/main">
              <a:ext uri="{FF2B5EF4-FFF2-40B4-BE49-F238E27FC236}">
                <a16:creationId xmlns:a16="http://schemas.microsoft.com/office/drawing/2014/main" id="{6A6BC0FD-DAD0-4357-9117-C838903B6FFC}"/>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B1D57E4B-E396-478C-8F25-A7F6854262D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8980CAB9-EF3F-4101-82F2-26C3EC59C4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7</a:t>
            </a:r>
          </a:p>
        </p:txBody>
      </p:sp>
    </p:spTree>
    <p:extLst>
      <p:ext uri="{BB962C8B-B14F-4D97-AF65-F5344CB8AC3E}">
        <p14:creationId xmlns:p14="http://schemas.microsoft.com/office/powerpoint/2010/main" val="1648287821"/>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2CD9CFDF-3F3E-4E58-B2E8-B1327DA33D99}"/>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FA14FFFC-06FB-4A70-A0D8-380F172FE128}"/>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a:ext uri="{FF2B5EF4-FFF2-40B4-BE49-F238E27FC236}">
                <ns2:creationId id="{0AC83A6F-B91C-44AF-97AB-2E35D643D029}"/>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Rehearsal before Practical Test 2</a:t>
            </a:r>
          </a:p>
        </p:txBody>
      </p:sp>
      <p:sp>
        <p:nvSpPr>
          <p:cNvPr id="4" name="">
            <a:extLst>
              <a:ext uri="{FF2B5EF4-FFF2-40B4-BE49-F238E27FC236}">
                <ns2:creationId id="{01027167-C9CF-428C-957B-16FFAF0E706F}"/>
              </a:ext>
            </a:extLst>
          </p:cNvPr>
          <p:cNvSpPr>
            <a:spLocks noGrp="1"/>
          </p:cNvSpPr>
          <p:nvPr/>
        </p:nvSpPr>
        <p:spPr>
          <a:xfrm>
            <a:off x="619125" y="1809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9BA2FD15-9071-44CF-A3BD-45D026297243}"/>
              </a:ext>
            </a:extLst>
          </p:cNvPr>
          <p:cNvSpPr>
            <a:spLocks noGrp="1"/>
          </p:cNvSpPr>
          <p:nvPr/>
        </p:nvSpPr>
        <p:spPr>
          <a:xfrm>
            <a:off x="1409700" y="18097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errors for actual [4,8] and predicted [5,6].</a:t>
            </a:r>
          </a:p>
        </p:txBody>
      </p:sp>
      <p:sp>
        <p:nvSpPr>
          <p:cNvPr id="6" name="">
            <a:extLst>
              <a:ext uri="{FF2B5EF4-FFF2-40B4-BE49-F238E27FC236}">
                <ns2:creationId id="{0F0FF476-8C0E-46C9-B8B7-58DACB4AF8D7}"/>
              </a:ext>
            </a:extLst>
          </p:cNvPr>
          <p:cNvSpPr>
            <a:spLocks noGrp="1"/>
          </p:cNvSpPr>
          <p:nvPr/>
        </p:nvSpPr>
        <p:spPr>
          <a:xfrm>
            <a:off x="619125" y="31432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8BD65065-CD08-48F2-98C5-9CCD1525A056}"/>
              </a:ext>
            </a:extLst>
          </p:cNvPr>
          <p:cNvSpPr>
            <a:spLocks noGrp="1"/>
          </p:cNvSpPr>
          <p:nvPr/>
        </p:nvSpPr>
        <p:spPr>
          <a:xfrm>
            <a:off x="1409700" y="31432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Save the notebook with a text cell explaining which data may fit preprocessing.</a:t>
            </a:r>
          </a:p>
        </p:txBody>
      </p:sp>
      <p:sp>
        <p:nvSpPr>
          <p:cNvPr id="8" name="">
            <a:extLst>
              <a:ext uri="{FF2B5EF4-FFF2-40B4-BE49-F238E27FC236}">
                <ns2:creationId id="{A79FB961-2415-4506-9F36-A1CB74AA1B70}"/>
              </a:ext>
            </a:extLst>
          </p:cNvPr>
          <p:cNvSpPr>
            <a:spLocks noGrp="1"/>
          </p:cNvSpPr>
          <p:nvPr/>
        </p:nvSpPr>
        <p:spPr>
          <a:xfrm>
            <a:off x="619125" y="4476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0ED64E55-8DD5-4CAE-B1DF-4A85B82B8ED2}"/>
              </a:ext>
            </a:extLst>
          </p:cNvPr>
          <p:cNvSpPr>
            <a:spLocks noGrp="1"/>
          </p:cNvSpPr>
          <p:nvPr/>
        </p:nvSpPr>
        <p:spPr>
          <a:xfrm>
            <a:off x="1409700" y="44767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complete notebook in the required folder.</a:t>
            </a:r>
          </a:p>
        </p:txBody>
      </p:sp>
      <p:sp>
        <p:nvSpPr>
          <p:cNvPr id="10" name="">
            <a:extLst>
              <a:ext uri="{FF2B5EF4-FFF2-40B4-BE49-F238E27FC236}">
                <ns2:creationId id="{18FEF5D1-030D-4908-93E1-D57D080244E6}"/>
              </a:ext>
            </a:extLst>
          </p:cNvPr>
          <p:cNvSpPr>
            <a:spLocks noGrp="1"/>
          </p:cNvSpPr>
          <p:nvPr/>
        </p:nvSpPr>
        <p:spPr>
          <a:xfrm>
            <a:off x="0" y="5915025"/>
            <a:ext cx="12191695" cy="466725"/>
          </a:xfrm>
          <a:prstGeom prst="rect">
            <a:avLst/>
          </a:prstGeom>
          <a:solidFill>
            <a:srgbClr val="E5F1EE"/>
          </a:solidFill>
          <a:ln w="0">
            <a:noFill/>
          </a:ln>
        </p:spPr>
      </p:sp>
      <p:sp>
        <p:nvSpPr>
          <p:cNvPr id="11" name="">
            <a:extLst>
              <a:ext uri="{FF2B5EF4-FFF2-40B4-BE49-F238E27FC236}">
                <ns2:creationId id="{3BC56ED2-1C55-4182-9117-DF817DAAF755}"/>
              </a:ext>
            </a:extLst>
          </p:cNvPr>
          <p:cNvSpPr>
            <a:spLocks noGrp="1"/>
          </p:cNvSpPr>
          <p:nvPr/>
        </p:nvSpPr>
        <p:spPr>
          <a:xfrm>
            <a:off x="619125" y="5981700"/>
            <a:ext cx="10810875" cy="361950"/>
          </a:xfrm>
          <a:prstGeom prst="rect">
            <a:avLst/>
          </a:prstGeom>
          <a:noFill/>
          <a:ln w="0">
            <a:noFill/>
          </a:ln>
        </p:spPr>
        <p:txBody>
          <a:bodyPr>
            <a:noAutofit/>
          </a:bodyPr>
          <a:lstStyle/>
          <a:p>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a:ext uri="{FF2B5EF4-FFF2-40B4-BE49-F238E27FC236}">
                <ns2:creationId id="{2F82EC97-EB07-4250-80B4-72809D2AEA49}"/>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8</a:t>
            </a:r>
          </a:p>
        </p:txBody>
      </p:sp>
    </p:spTree>
    <p:extLst>
      <p:ext uri="{BB962C8B-B14F-4D97-AF65-F5344CB8AC3E}">
        <ns3:creationId val="34815734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A97097D-8F6A-4253-ADD2-73369D38B9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0CC562-4360-47C8-A22A-687F966E16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D1B3AFC6-8D12-491F-88CC-90664A65E8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0C7985B9-9616-4B32-88B8-0F2394B5D4C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656D68-411C-41F0-94C3-F7D9C406FF0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Absolute errors are 1 and 2, so MAE is 1.5. Fit preprocessing on training records. This rehearsal happens before test time.</a:t>
            </a:r>
          </a:p>
        </p:txBody>
      </p:sp>
      <p:sp>
        <p:nvSpPr>
          <p:cNvPr id="6" name="">
            <a:extLst xmlns:a="http://schemas.openxmlformats.org/drawingml/2006/main">
              <a:ext uri="{FF2B5EF4-FFF2-40B4-BE49-F238E27FC236}">
                <a16:creationId xmlns:a16="http://schemas.microsoft.com/office/drawing/2014/main" id="{BD3AA0C9-2495-4E91-9104-8EBF16CB233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215B146E-405A-4E16-9989-CDED56361C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9</a:t>
            </a:r>
          </a:p>
        </p:txBody>
      </p:sp>
    </p:spTree>
    <p:extLst>
      <p:ext uri="{BB962C8B-B14F-4D97-AF65-F5344CB8AC3E}">
        <p14:creationId xmlns:p14="http://schemas.microsoft.com/office/powerpoint/2010/main" val="44984444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1B61334-7FE9-40B4-942C-25C6010B0F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28C7B1-15C1-4D38-97A9-76F9F61D8C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E6060BA-A084-47FA-9AF7-C951DEA971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session</a:t>
            </a:r>
          </a:p>
        </p:txBody>
      </p:sp>
      <p:sp>
        <p:nvSpPr>
          <p:cNvPr id="4" name="">
            <a:extLst xmlns:a="http://schemas.openxmlformats.org/drawingml/2006/main">
              <a:ext uri="{FF2B5EF4-FFF2-40B4-BE49-F238E27FC236}">
                <a16:creationId xmlns:a16="http://schemas.microsoft.com/office/drawing/2014/main" id="{335E13DA-21FE-45E1-BEF5-4DCD93A94A2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A60F703-1FEE-4BE0-A7DC-02AAFBFD855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00–15 minutes: briefing and file check.</a:t>
            </a:r>
          </a:p>
        </p:txBody>
      </p:sp>
      <p:sp>
        <p:nvSpPr>
          <p:cNvPr id="6" name="">
            <a:extLst xmlns:a="http://schemas.openxmlformats.org/drawingml/2006/main">
              <a:ext uri="{FF2B5EF4-FFF2-40B4-BE49-F238E27FC236}">
                <a16:creationId xmlns:a16="http://schemas.microsoft.com/office/drawing/2014/main" id="{AA3FD427-05B4-487E-962B-CD1500B4BD7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81C2BEB-9048-489F-AF15-18956E2AEEB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15–135 minutes: individual practical work.</a:t>
            </a:r>
          </a:p>
        </p:txBody>
      </p:sp>
      <p:sp>
        <p:nvSpPr>
          <p:cNvPr id="8" name="">
            <a:extLst xmlns:a="http://schemas.openxmlformats.org/drawingml/2006/main">
              <a:ext uri="{FF2B5EF4-FFF2-40B4-BE49-F238E27FC236}">
                <a16:creationId xmlns:a16="http://schemas.microsoft.com/office/drawing/2014/main" id="{AE9F35EA-435A-47DE-BA49-A98BFF3E82B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2D34C4-C4D2-4EA0-BC26-5EA307C6589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135–160 minutes: typed offline reasoning, with code execution prohibited.</a:t>
            </a:r>
          </a:p>
        </p:txBody>
      </p:sp>
      <p:sp>
        <p:nvSpPr>
          <p:cNvPr id="10" name="">
            <a:extLst xmlns:a="http://schemas.openxmlformats.org/drawingml/2006/main">
              <a:ext uri="{FF2B5EF4-FFF2-40B4-BE49-F238E27FC236}">
                <a16:creationId xmlns:a16="http://schemas.microsoft.com/office/drawing/2014/main" id="{B6F30D72-CCF9-407C-A01B-4FC3D7D390B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E0ABAEF-FC49-4628-BFFE-BE49600A1FC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160–180 minutes: save and hand in through invigilated offline collection.</a:t>
            </a:r>
          </a:p>
        </p:txBody>
      </p:sp>
      <p:sp>
        <p:nvSpPr>
          <p:cNvPr id="12" name="">
            <a:extLst xmlns:a="http://schemas.openxmlformats.org/drawingml/2006/main">
              <a:ext uri="{FF2B5EF4-FFF2-40B4-BE49-F238E27FC236}">
                <a16:creationId xmlns:a16="http://schemas.microsoft.com/office/drawing/2014/main" id="{251BDDAF-9B96-4CAD-9615-A179A732B2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10</a:t>
            </a:r>
          </a:p>
        </p:txBody>
      </p:sp>
    </p:spTree>
    <p:extLst>
      <p:ext uri="{BB962C8B-B14F-4D97-AF65-F5344CB8AC3E}">
        <p14:creationId xmlns:p14="http://schemas.microsoft.com/office/powerpoint/2010/main" val="45703044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30D8B6E-AEC4-4A2E-9366-D4D1303319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A4E6ED-C180-43D8-A54E-9B9AD34678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E90CF7-A4FB-449E-8787-700D22F0ED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5C45C186-A734-478C-A064-9542B5B4586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0772CF-47BC-4B15-9E7E-5AA30B764001}"/>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learner can save and reopen both required file types in the offline setting.</a:t>
            </a:r>
          </a:p>
        </p:txBody>
      </p:sp>
      <p:sp>
        <p:nvSpPr>
          <p:cNvPr id="6" name="">
            <a:extLst xmlns:a="http://schemas.openxmlformats.org/drawingml/2006/main">
              <a:ext uri="{FF2B5EF4-FFF2-40B4-BE49-F238E27FC236}">
                <a16:creationId xmlns:a16="http://schemas.microsoft.com/office/drawing/2014/main" id="{A72F0511-D2E5-4410-A635-A8C772ED60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11</a:t>
            </a:r>
          </a:p>
        </p:txBody>
      </p:sp>
    </p:spTree>
    <p:extLst>
      <p:ext uri="{BB962C8B-B14F-4D97-AF65-F5344CB8AC3E}">
        <p14:creationId xmlns:p14="http://schemas.microsoft.com/office/powerpoint/2010/main" val="201607576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111B95-4E17-4251-9B15-BCB33D940E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A7E67E-03A3-45EB-8298-8758B22B06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53B7783-31C6-4B6A-B3EF-D32D622425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F0E8857E-7BAE-4E49-A023-D37E542524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823ABE-0735-41EA-8946-FFC3934F35EA}"/>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TEST2’s official brief, interfaces, time allocation, permitted resources and packet requirements.</a:t>
            </a:r>
          </a:p>
        </p:txBody>
      </p:sp>
      <p:sp>
        <p:nvSpPr>
          <p:cNvPr id="6" name="">
            <a:extLst xmlns:a="http://schemas.openxmlformats.org/drawingml/2006/main">
              <a:ext uri="{FF2B5EF4-FFF2-40B4-BE49-F238E27FC236}">
                <a16:creationId xmlns:a16="http://schemas.microsoft.com/office/drawing/2014/main" id="{EABFCE55-B090-434D-9C7D-F45C848F076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E5B332B-1E3A-4B76-BCEE-8F66C4A91D75}"/>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test instructions issued by your lecturer.</a:t>
            </a:r>
          </a:p>
        </p:txBody>
      </p:sp>
      <p:sp>
        <p:nvSpPr>
          <p:cNvPr id="8" name="">
            <a:extLst xmlns:a="http://schemas.openxmlformats.org/drawingml/2006/main">
              <a:ext uri="{FF2B5EF4-FFF2-40B4-BE49-F238E27FC236}">
                <a16:creationId xmlns:a16="http://schemas.microsoft.com/office/drawing/2014/main" id="{EB5EDDF5-AF44-4B9A-B6DB-EE2F0EE8EB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12</a:t>
            </a:r>
          </a:p>
        </p:txBody>
      </p:sp>
    </p:spTree>
    <p:extLst>
      <p:ext uri="{BB962C8B-B14F-4D97-AF65-F5344CB8AC3E}">
        <p14:creationId xmlns:p14="http://schemas.microsoft.com/office/powerpoint/2010/main" val="161727693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419A546-B650-422D-87F0-0290F80FBC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A3D4F4-E4EC-473D-BD89-7E683DD74F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B785B4-44EC-4BE8-A8BF-F7DC95B515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a:t>
            </a:r>
          </a:p>
        </p:txBody>
      </p:sp>
      <p:sp>
        <p:nvSpPr>
          <p:cNvPr id="4" name="">
            <a:extLst xmlns:a="http://schemas.openxmlformats.org/drawingml/2006/main">
              <a:ext uri="{FF2B5EF4-FFF2-40B4-BE49-F238E27FC236}">
                <a16:creationId xmlns:a16="http://schemas.microsoft.com/office/drawing/2014/main" id="{57F27E6E-C3DC-424A-8C28-BD83FDF1B4C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E64D52A-B3B4-4C4A-B9CD-1E4D99E5F75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184AE187-C858-4835-B4D2-BC21CF13FA6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1E7CB52-36B6-4FE4-ADE9-AAA975FC463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65D68AB0-5372-426C-854B-B3208FB05B1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F5A31A1-9BBC-4FAE-80AB-6445EC07158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66329C05-39F8-4E9C-955C-95C8D6BAF40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7378E36-E11B-4D72-923C-670B8F0F3FE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D0662B40-F68D-4AB5-810D-26F46F6ACA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13</a:t>
            </a:r>
          </a:p>
        </p:txBody>
      </p:sp>
    </p:spTree>
    <p:extLst>
      <p:ext uri="{BB962C8B-B14F-4D97-AF65-F5344CB8AC3E}">
        <p14:creationId xmlns:p14="http://schemas.microsoft.com/office/powerpoint/2010/main" val="202509996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9C3DC80-DC5C-43C1-9DFA-AAE1EF8555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247468-8D9F-4E59-BC17-547B831626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BF88EB-7754-428E-B88A-2947984B20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B0BE8949-C743-4688-A27D-5EE16113777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D5647D-5893-4B33-BA16-6AA9671951C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AE1F5F21-6491-4C5E-AE81-2431EA31BFD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BD1F74C-36B0-47E9-9F7C-06A61BEE648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C71DBBA2-88BE-4B2B-BE91-A285B677415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3CC273-E8E8-4DDD-957D-8A112687374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080F393F-324C-4324-81A0-364F38FD8A4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6CBC674-20F0-407B-9DD8-B2CD5BA652D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F55B8932-6231-40D5-9EF4-3E8AE6A97C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14</a:t>
            </a:r>
          </a:p>
        </p:txBody>
      </p:sp>
    </p:spTree>
    <p:extLst>
      <p:ext uri="{BB962C8B-B14F-4D97-AF65-F5344CB8AC3E}">
        <p14:creationId xmlns:p14="http://schemas.microsoft.com/office/powerpoint/2010/main" val="2042791105"/>
      </p:ext>
    </p:extLst>
  </p:cSld>
</p:sld>
</file>

<file path=ppt/slides/slide1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80EE9274-AEF2-4476-BA8A-7A932DD0D174}"/>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A6798964-F171-4E7B-870B-F7308894E242}"/>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18B1B9AD-70CF-4A79-9039-8D8B126E261F}"/>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a:ext uri="{FF2B5EF4-FFF2-40B4-BE49-F238E27FC236}">
                <ns2:creationId id="{AC6ABA96-19A1-4EDF-BFEE-1BB5F4CA100A}"/>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72700E92-9FB1-4E9B-A4E2-8D9A2A45C7D9}"/>
              </a:ext>
            </a:extLst>
          </p:cNvPr>
          <p:cNvSpPr>
            <a:spLocks noGrp="1"/>
          </p:cNvSpPr>
          <p:nvPr/>
        </p:nvSpPr>
        <p:spPr>
          <a:xfrm>
            <a:off x="1381125" y="1781175"/>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readable written evidence in the notebook.</a:t>
            </a:r>
          </a:p>
        </p:txBody>
      </p:sp>
      <p:sp>
        <p:nvSpPr>
          <p:cNvPr id="6" name="">
            <a:extLst>
              <a:ext uri="{FF2B5EF4-FFF2-40B4-BE49-F238E27FC236}">
                <ns2:creationId id="{AE41CCC3-4F43-454C-9113-5B03F2F9C8B0}"/>
              </a:ext>
            </a:extLst>
          </p:cNvPr>
          <p:cNvSpPr>
            <a:spLocks noGrp="1"/>
          </p:cNvSpPr>
          <p:nvPr/>
        </p:nvSpPr>
        <p:spPr>
          <a:xfrm>
            <a:off x="590550" y="28527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F068DADE-6A9B-4D66-A6A7-47A7C8585925}"/>
              </a:ext>
            </a:extLst>
          </p:cNvPr>
          <p:cNvSpPr>
            <a:spLocks noGrp="1"/>
          </p:cNvSpPr>
          <p:nvPr/>
        </p:nvSpPr>
        <p:spPr>
          <a:xfrm>
            <a:off x="1381125" y="2852738"/>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Task framing (10.0 total): The ML task is correctly identified, the target named, and regression vs classification correctly chosen and justified.</a:t>
            </a:r>
          </a:p>
        </p:txBody>
      </p:sp>
      <p:sp>
        <p:nvSpPr>
          <p:cNvPr id="8" name="">
            <a:extLst>
              <a:ext uri="{FF2B5EF4-FFF2-40B4-BE49-F238E27FC236}">
                <ns2:creationId id="{1F7E4C77-22DC-41D1-8C76-C1471A53F22E}"/>
              </a:ext>
            </a:extLst>
          </p:cNvPr>
          <p:cNvSpPr>
            <a:spLocks noGrp="1"/>
          </p:cNvSpPr>
          <p:nvPr/>
        </p:nvSpPr>
        <p:spPr>
          <a:xfrm>
            <a:off x="590550" y="392430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188C308E-97B8-4B6B-BBCF-D809D0E10E9D}"/>
              </a:ext>
            </a:extLst>
          </p:cNvPr>
          <p:cNvSpPr>
            <a:spLocks noGrp="1"/>
          </p:cNvSpPr>
          <p:nvPr/>
        </p:nvSpPr>
        <p:spPr>
          <a:xfrm>
            <a:off x="1381125" y="3924300"/>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Data preparation &amp; leakage control (20.0 total): Cleaning and encoding appropriate.</a:t>
            </a:r>
          </a:p>
        </p:txBody>
      </p:sp>
      <p:sp>
        <p:nvSpPr>
          <p:cNvPr id="10" name="">
            <a:extLst>
              <a:ext uri="{FF2B5EF4-FFF2-40B4-BE49-F238E27FC236}">
                <ns2:creationId id="{E864BD62-ADFB-4A94-96CA-FC64AF0EFD9B}"/>
              </a:ext>
            </a:extLst>
          </p:cNvPr>
          <p:cNvSpPr>
            <a:spLocks noGrp="1"/>
          </p:cNvSpPr>
          <p:nvPr/>
        </p:nvSpPr>
        <p:spPr>
          <a:xfrm>
            <a:off x="590550" y="49958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DD9ED6C9-A711-407B-964B-2B918AA02BED}"/>
              </a:ext>
            </a:extLst>
          </p:cNvPr>
          <p:cNvSpPr>
            <a:spLocks noGrp="1"/>
          </p:cNvSpPr>
          <p:nvPr/>
        </p:nvSpPr>
        <p:spPr>
          <a:xfrm>
            <a:off x="1381125" y="4995863"/>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Split made before any fitting.</a:t>
            </a:r>
          </a:p>
        </p:txBody>
      </p:sp>
      <p:sp>
        <p:nvSpPr>
          <p:cNvPr id="12" name="">
            <a:extLst>
              <a:ext uri="{FF2B5EF4-FFF2-40B4-BE49-F238E27FC236}">
                <ns2:creationId id="{DC179033-5ACD-4534-BE60-22163918A5EB}"/>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15</a:t>
            </a:r>
          </a:p>
        </p:txBody>
      </p:sp>
    </p:spTree>
    <p:extLst>
      <p:ext uri="{BB962C8B-B14F-4D97-AF65-F5344CB8AC3E}">
        <ns3:creationId val="199995927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3CD60F5-031E-4C90-B0D2-F057099D8E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7FB58F-734C-47BE-851C-C33111293D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9EE7796-8158-4EDA-A9A5-572D5D0BA9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46A2B580-4577-4DF5-8878-F70BDADA2C5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F3080A9-115F-4DD5-8817-FE05B370E83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5D5C76CA-883E-41DD-9E9A-3BD48981412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C7565BC-71DD-4FB4-ADDE-F7E4E573EA8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leakage present - a leak found by the marker caps this criterion at zero.</a:t>
            </a:r>
          </a:p>
        </p:txBody>
      </p:sp>
      <p:sp>
        <p:nvSpPr>
          <p:cNvPr id="8" name="">
            <a:extLst xmlns:a="http://schemas.openxmlformats.org/drawingml/2006/main">
              <a:ext uri="{FF2B5EF4-FFF2-40B4-BE49-F238E27FC236}">
                <a16:creationId xmlns:a16="http://schemas.microsoft.com/office/drawing/2014/main" id="{122493CA-5FB3-49BB-93C9-0B7B26516BF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9C704D7-9B41-4B4A-9CCA-4E5BE882908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Modelling protocol (20.0 total): At least two models built and compared under identical conditions.</a:t>
            </a:r>
          </a:p>
        </p:txBody>
      </p:sp>
      <p:sp>
        <p:nvSpPr>
          <p:cNvPr id="10" name="">
            <a:extLst xmlns:a="http://schemas.openxmlformats.org/drawingml/2006/main">
              <a:ext uri="{FF2B5EF4-FFF2-40B4-BE49-F238E27FC236}">
                <a16:creationId xmlns:a16="http://schemas.microsoft.com/office/drawing/2014/main" id="{C167CEA5-4079-486F-AA8C-00CBBD516F3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F698DBE-9500-4EF4-911B-29332AFA628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included.</a:t>
            </a:r>
          </a:p>
        </p:txBody>
      </p:sp>
      <p:sp>
        <p:nvSpPr>
          <p:cNvPr id="12" name="">
            <a:extLst xmlns:a="http://schemas.openxmlformats.org/drawingml/2006/main">
              <a:ext uri="{FF2B5EF4-FFF2-40B4-BE49-F238E27FC236}">
                <a16:creationId xmlns:a16="http://schemas.microsoft.com/office/drawing/2014/main" id="{281D1568-6973-4103-B654-93B4BBC30E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16</a:t>
            </a:r>
          </a:p>
        </p:txBody>
      </p:sp>
    </p:spTree>
    <p:extLst>
      <p:ext uri="{BB962C8B-B14F-4D97-AF65-F5344CB8AC3E}">
        <p14:creationId xmlns:p14="http://schemas.microsoft.com/office/powerpoint/2010/main" val="191717887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DF4A672-701F-4CC7-A694-A6D68A71C8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EF2953-038A-407E-9AF7-FFFEAFFAA0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119C90-8EF5-4E14-A202-5A9712BBBF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2C55540F-2420-455B-9448-3FA786063F3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C894D6-63D1-41B5-8689-1DC0A679705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6" name="">
            <a:extLst xmlns:a="http://schemas.openxmlformats.org/drawingml/2006/main">
              <a:ext uri="{FF2B5EF4-FFF2-40B4-BE49-F238E27FC236}">
                <a16:creationId xmlns:a16="http://schemas.microsoft.com/office/drawing/2014/main" id="{325FB4CF-2C18-4F73-83F1-A2CF0C53DE1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D0150B7-7610-4AE4-AE93-48B2BEBB6AB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Evaluation &amp; metric justification (20.0 total): Correct metrics computed.</a:t>
            </a:r>
          </a:p>
        </p:txBody>
      </p:sp>
      <p:sp>
        <p:nvSpPr>
          <p:cNvPr id="8" name="">
            <a:extLst xmlns:a="http://schemas.openxmlformats.org/drawingml/2006/main">
              <a:ext uri="{FF2B5EF4-FFF2-40B4-BE49-F238E27FC236}">
                <a16:creationId xmlns:a16="http://schemas.microsoft.com/office/drawing/2014/main" id="{2034EA84-2489-4C40-AE68-1B747971A8F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EE1121F-2000-43BF-8444-1253B1345D3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Metric choice defended against the cost of error.</a:t>
            </a:r>
          </a:p>
        </p:txBody>
      </p:sp>
      <p:sp>
        <p:nvSpPr>
          <p:cNvPr id="10" name="">
            <a:extLst xmlns:a="http://schemas.openxmlformats.org/drawingml/2006/main">
              <a:ext uri="{FF2B5EF4-FFF2-40B4-BE49-F238E27FC236}">
                <a16:creationId xmlns:a16="http://schemas.microsoft.com/office/drawing/2014/main" id="{4BD613A0-B368-43D6-B25F-BF4D8F27C7B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F14A6E9-D09A-4C79-9057-AFB21AEF643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Cross-validation reported with a spread, not a single number.</a:t>
            </a:r>
          </a:p>
        </p:txBody>
      </p:sp>
      <p:sp>
        <p:nvSpPr>
          <p:cNvPr id="12" name="">
            <a:extLst xmlns:a="http://schemas.openxmlformats.org/drawingml/2006/main">
              <a:ext uri="{FF2B5EF4-FFF2-40B4-BE49-F238E27FC236}">
                <a16:creationId xmlns:a16="http://schemas.microsoft.com/office/drawing/2014/main" id="{FC4E58CE-48B6-40DC-A662-391C72DC9E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17</a:t>
            </a:r>
          </a:p>
        </p:txBody>
      </p:sp>
    </p:spTree>
    <p:extLst>
      <p:ext uri="{BB962C8B-B14F-4D97-AF65-F5344CB8AC3E}">
        <p14:creationId xmlns:p14="http://schemas.microsoft.com/office/powerpoint/2010/main" val="59959431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7A9CD95-AAC8-47B1-877B-86E858E1BD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7F56C0-26FC-4FCF-9C18-515A8A2CF7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8DC5CD-3B29-46DD-83E6-63AEC6286F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303923A5-8B0C-4FB6-985D-7CC6FF75AF4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8FB07B-7B6A-4167-BA61-C42B9227881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interpretation &amp; limits (20.0 total): The result is stated in physical or operational units.</a:t>
            </a:r>
          </a:p>
        </p:txBody>
      </p:sp>
      <p:sp>
        <p:nvSpPr>
          <p:cNvPr id="6" name="">
            <a:extLst xmlns:a="http://schemas.openxmlformats.org/drawingml/2006/main">
              <a:ext uri="{FF2B5EF4-FFF2-40B4-BE49-F238E27FC236}">
                <a16:creationId xmlns:a16="http://schemas.microsoft.com/office/drawing/2014/main" id="{55E0A9F7-1D0E-4922-89BF-F76C363F8BA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DA99E01-C580-4C24-91A0-1FCD2ADBE4F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genuine limitations given.</a:t>
            </a:r>
          </a:p>
        </p:txBody>
      </p:sp>
      <p:sp>
        <p:nvSpPr>
          <p:cNvPr id="8" name="">
            <a:extLst xmlns:a="http://schemas.openxmlformats.org/drawingml/2006/main">
              <a:ext uri="{FF2B5EF4-FFF2-40B4-BE49-F238E27FC236}">
                <a16:creationId xmlns:a16="http://schemas.microsoft.com/office/drawing/2014/main" id="{FA449FBF-2DBE-4F66-953B-124FCF85C5A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55FA69C-A73A-4782-BDDB-F49C1CB7AD9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clear position on whether it should be deployed.</a:t>
            </a:r>
          </a:p>
        </p:txBody>
      </p:sp>
      <p:sp>
        <p:nvSpPr>
          <p:cNvPr id="10" name="">
            <a:extLst xmlns:a="http://schemas.openxmlformats.org/drawingml/2006/main">
              <a:ext uri="{FF2B5EF4-FFF2-40B4-BE49-F238E27FC236}">
                <a16:creationId xmlns:a16="http://schemas.microsoft.com/office/drawing/2014/main" id="{5FF3D942-0C56-4FAE-828E-E08CB314475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01640E2-858D-46E5-8725-612E269A893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clarity (10.0 total): Runs top to bottom.</a:t>
            </a:r>
          </a:p>
        </p:txBody>
      </p:sp>
      <p:sp>
        <p:nvSpPr>
          <p:cNvPr id="12" name="">
            <a:extLst xmlns:a="http://schemas.openxmlformats.org/drawingml/2006/main">
              <a:ext uri="{FF2B5EF4-FFF2-40B4-BE49-F238E27FC236}">
                <a16:creationId xmlns:a16="http://schemas.microsoft.com/office/drawing/2014/main" id="{3D1C0431-4B96-42DD-A442-D45077AFC5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18</a:t>
            </a:r>
          </a:p>
        </p:txBody>
      </p:sp>
    </p:spTree>
    <p:extLst>
      <p:ext uri="{BB962C8B-B14F-4D97-AF65-F5344CB8AC3E}">
        <p14:creationId xmlns:p14="http://schemas.microsoft.com/office/powerpoint/2010/main" val="25784543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A9A4166-9000-46CC-95E8-FE78F0DD35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816740-E5BF-4181-BC73-AC6F9EDB93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447D4D-F282-426C-8F32-3C7CB4B679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1DE97FCC-F65A-42F3-8D1B-260F2B1F04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E786CDD-983B-4DBD-B27F-2AD35434308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Readable.</a:t>
            </a:r>
          </a:p>
        </p:txBody>
      </p:sp>
      <p:sp>
        <p:nvSpPr>
          <p:cNvPr id="6" name="">
            <a:extLst xmlns:a="http://schemas.openxmlformats.org/drawingml/2006/main">
              <a:ext uri="{FF2B5EF4-FFF2-40B4-BE49-F238E27FC236}">
                <a16:creationId xmlns:a16="http://schemas.microsoft.com/office/drawing/2014/main" id="{99A88BAC-356A-419D-A81F-9D84087F92F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A800A0D-CE18-448C-881B-F527C467CE0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Commented where the intent is not obvious.</a:t>
            </a:r>
          </a:p>
        </p:txBody>
      </p:sp>
      <p:sp>
        <p:nvSpPr>
          <p:cNvPr id="8" name="">
            <a:extLst xmlns:a="http://schemas.openxmlformats.org/drawingml/2006/main">
              <a:ext uri="{FF2B5EF4-FFF2-40B4-BE49-F238E27FC236}">
                <a16:creationId xmlns:a16="http://schemas.microsoft.com/office/drawing/2014/main" id="{82652E36-C7BC-42C1-998A-4CE707E97DA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6FF4B2B-03D2-448D-9A77-2E1F1EF0B2F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Execution requirement for c2: Data-preparation credit requires the published leakage-safe split check to pass.</a:t>
            </a:r>
          </a:p>
        </p:txBody>
      </p:sp>
      <p:sp>
        <p:nvSpPr>
          <p:cNvPr id="10" name="">
            <a:extLst xmlns:a="http://schemas.openxmlformats.org/drawingml/2006/main">
              <a:ext uri="{FF2B5EF4-FFF2-40B4-BE49-F238E27FC236}">
                <a16:creationId xmlns:a16="http://schemas.microsoft.com/office/drawing/2014/main" id="{60006EB1-BD49-4BCD-A420-AC34C0FEFC9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8BE1523-A75B-46B1-9203-25A5497837F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this check fails, written marks in that criterion are zero; other criteria remain independently scored.</a:t>
            </a:r>
          </a:p>
        </p:txBody>
      </p:sp>
      <p:sp>
        <p:nvSpPr>
          <p:cNvPr id="12" name="">
            <a:extLst xmlns:a="http://schemas.openxmlformats.org/drawingml/2006/main">
              <a:ext uri="{FF2B5EF4-FFF2-40B4-BE49-F238E27FC236}">
                <a16:creationId xmlns:a16="http://schemas.microsoft.com/office/drawing/2014/main" id="{5E7467E4-7615-40F0-9D15-6900362B03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19</a:t>
            </a:r>
          </a:p>
        </p:txBody>
      </p:sp>
    </p:spTree>
    <p:extLst>
      <p:ext uri="{BB962C8B-B14F-4D97-AF65-F5344CB8AC3E}">
        <p14:creationId xmlns:p14="http://schemas.microsoft.com/office/powerpoint/2010/main" val="80762066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AAC3D6C-3891-4893-9F0B-28A45928EB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AC04A5-903F-425D-961E-D60C7D568E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DD929C-7EA0-46EC-AFD1-C9D428651A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CE78F061-8ECF-40CD-8649-70410CC5141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A97335-1772-4EF9-8A06-AD47AF7ECDC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Timing and Part B</a:t>
            </a:r>
          </a:p>
        </p:txBody>
      </p:sp>
      <p:sp>
        <p:nvSpPr>
          <p:cNvPr id="6" name="">
            <a:extLst xmlns:a="http://schemas.openxmlformats.org/drawingml/2006/main">
              <a:ext uri="{FF2B5EF4-FFF2-40B4-BE49-F238E27FC236}">
                <a16:creationId xmlns:a16="http://schemas.microsoft.com/office/drawing/2014/main" id="{2668644C-813D-44F8-8C55-503AF5E54A4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6397C9-18ED-43C4-B68C-B8F4CC421CF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 minutes setup, 120 minutes practical, 25 minutes typed offline reasoning with code execution prohibited, 20 minutes collection.</a:t>
            </a:r>
          </a:p>
        </p:txBody>
      </p:sp>
      <p:sp>
        <p:nvSpPr>
          <p:cNvPr id="8" name="">
            <a:extLst xmlns:a="http://schemas.openxmlformats.org/drawingml/2006/main">
              <a:ext uri="{FF2B5EF4-FFF2-40B4-BE49-F238E27FC236}">
                <a16:creationId xmlns:a16="http://schemas.microsoft.com/office/drawing/2014/main" id="{35972539-28B5-4F7A-BFBA-1531F425D1E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69C97E-1100-4F5D-A274-328EE0D063B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a:t>
            </a:r>
          </a:p>
        </p:txBody>
      </p:sp>
      <p:sp>
        <p:nvSpPr>
          <p:cNvPr id="10" name="">
            <a:extLst xmlns:a="http://schemas.openxmlformats.org/drawingml/2006/main">
              <a:ext uri="{FF2B5EF4-FFF2-40B4-BE49-F238E27FC236}">
                <a16:creationId xmlns:a16="http://schemas.microsoft.com/office/drawing/2014/main" id="{13BE6E2F-B105-4177-83E6-A1B50E909E1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8A0F996-6FC6-434F-AE6F-C1E0C134B10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Why your main cleaning/model choice?</a:t>
            </a:r>
          </a:p>
        </p:txBody>
      </p:sp>
      <p:sp>
        <p:nvSpPr>
          <p:cNvPr id="12" name="">
            <a:extLst xmlns:a="http://schemas.openxmlformats.org/drawingml/2006/main">
              <a:ext uri="{FF2B5EF4-FFF2-40B4-BE49-F238E27FC236}">
                <a16:creationId xmlns:a16="http://schemas.microsoft.com/office/drawing/2014/main" id="{A0DA5E0B-2ECF-4C88-A102-5E69DB31AE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20</a:t>
            </a:r>
          </a:p>
        </p:txBody>
      </p:sp>
    </p:spTree>
    <p:extLst>
      <p:ext uri="{BB962C8B-B14F-4D97-AF65-F5344CB8AC3E}">
        <p14:creationId xmlns:p14="http://schemas.microsoft.com/office/powerpoint/2010/main" val="130902371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10CFDB8-CA63-4858-9A5F-30C34862A9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BCD6CB-2BD5-4F92-8F42-73104A9800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984D7C-27F4-46C7-B880-72188B80AF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D9113DBB-39F4-4766-943B-C7E54709E2E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4011B7-A932-41CF-9445-05C6B43584E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can your chart/metric not establish?</a:t>
            </a:r>
          </a:p>
        </p:txBody>
      </p:sp>
      <p:sp>
        <p:nvSpPr>
          <p:cNvPr id="6" name="">
            <a:extLst xmlns:a="http://schemas.openxmlformats.org/drawingml/2006/main">
              <a:ext uri="{FF2B5EF4-FFF2-40B4-BE49-F238E27FC236}">
                <a16:creationId xmlns:a16="http://schemas.microsoft.com/office/drawing/2014/main" id="{F773CE88-4ACF-44CC-96F6-26BDFC78995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BD729FE-B109-4BB7-A431-A831EABE565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evidence would change your recommendation?</a:t>
            </a:r>
          </a:p>
        </p:txBody>
      </p:sp>
      <p:sp>
        <p:nvSpPr>
          <p:cNvPr id="8" name="">
            <a:extLst xmlns:a="http://schemas.openxmlformats.org/drawingml/2006/main">
              <a:ext uri="{FF2B5EF4-FFF2-40B4-BE49-F238E27FC236}">
                <a16:creationId xmlns:a16="http://schemas.microsoft.com/office/drawing/2014/main" id="{7F3AD9C3-F59D-4456-AB51-F94C4D604EF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249D14-CE8A-4C84-9ECF-7DBC9ED4BDD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further data is required?</a:t>
            </a:r>
          </a:p>
        </p:txBody>
      </p:sp>
      <p:sp>
        <p:nvSpPr>
          <p:cNvPr id="10" name="">
            <a:extLst xmlns:a="http://schemas.openxmlformats.org/drawingml/2006/main">
              <a:ext uri="{FF2B5EF4-FFF2-40B4-BE49-F238E27FC236}">
                <a16:creationId xmlns:a16="http://schemas.microsoft.com/office/drawing/2014/main" id="{D6195BFA-C804-4A9B-9036-296556AF69B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7C0338A-3C31-4544-9363-E10BD112F68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Invigilated offline collection is authoritative; Google upload is a later transport step and must not impose an internet requirement during the test.</a:t>
            </a:r>
          </a:p>
        </p:txBody>
      </p:sp>
      <p:sp>
        <p:nvSpPr>
          <p:cNvPr id="12" name="">
            <a:extLst xmlns:a="http://schemas.openxmlformats.org/drawingml/2006/main">
              <a:ext uri="{FF2B5EF4-FFF2-40B4-BE49-F238E27FC236}">
                <a16:creationId xmlns:a16="http://schemas.microsoft.com/office/drawing/2014/main" id="{2531DC52-B22E-42B9-B62C-FE50C233CC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21</a:t>
            </a:r>
          </a:p>
        </p:txBody>
      </p:sp>
    </p:spTree>
    <p:extLst>
      <p:ext uri="{BB962C8B-B14F-4D97-AF65-F5344CB8AC3E}">
        <p14:creationId xmlns:p14="http://schemas.microsoft.com/office/powerpoint/2010/main" val="859563673"/>
      </p:ext>
    </p:extLst>
  </p:cSld>
</p:sld>
</file>

<file path=ppt/slides/slide2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BAC110FD-2BA0-4BD8-BE6C-DC151F7689F5}"/>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8F8E0244-2512-4C62-B02D-0AF6991FC1F7}"/>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a:ext uri="{FF2B5EF4-FFF2-40B4-BE49-F238E27FC236}">
                <ns2:creationId id="{E8A746A1-CFB0-4138-9AA0-D191A04CB9C5}"/>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submission</a:t>
            </a:r>
          </a:p>
        </p:txBody>
      </p:sp>
      <p:sp>
        <p:nvSpPr>
          <p:cNvPr id="4" name="">
            <a:extLst>
              <a:ext uri="{FF2B5EF4-FFF2-40B4-BE49-F238E27FC236}">
                <ns2:creationId id="{1D54B087-766E-4E34-9EA5-20C5C9BF2524}"/>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8E51DA58-BA70-4FCA-82BF-5DF8DA65D188}"/>
              </a:ext>
            </a:extLst>
          </p:cNvPr>
          <p:cNvSpPr>
            <a:spLocks noGrp="1"/>
          </p:cNvSpPr>
          <p:nvPr/>
        </p:nvSpPr>
        <p:spPr>
          <a:xfrm>
            <a:off x="1381125" y="1724025"/>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Offline invigilated collection is authoritative.</a:t>
            </a:r>
          </a:p>
        </p:txBody>
      </p:sp>
      <p:sp>
        <p:nvSpPr>
          <p:cNvPr id="6" name="">
            <a:extLst>
              <a:ext uri="{FF2B5EF4-FFF2-40B4-BE49-F238E27FC236}">
                <ns2:creationId id="{DFAF83DF-67B6-42A6-8E05-49CDDAB51BF2}"/>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EE0E8BF4-DFD7-454B-83F2-F92716F86412}"/>
              </a:ext>
            </a:extLst>
          </p:cNvPr>
          <p:cNvSpPr>
            <a:spLocks noGrp="1"/>
          </p:cNvSpPr>
          <p:nvPr/>
        </p:nvSpPr>
        <p:spPr>
          <a:xfrm>
            <a:off x="1381125" y="2521744"/>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Google upload is a later transport step.</a:t>
            </a:r>
          </a:p>
        </p:txBody>
      </p:sp>
      <p:sp>
        <p:nvSpPr>
          <p:cNvPr id="8" name="">
            <a:extLst>
              <a:ext uri="{FF2B5EF4-FFF2-40B4-BE49-F238E27FC236}">
                <ns2:creationId id="{FF678595-AA74-4790-ACF2-A1E828552512}"/>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1CB218E8-A0A4-4285-BA3A-DEE925684397}"/>
              </a:ext>
            </a:extLst>
          </p:cNvPr>
          <p:cNvSpPr>
            <a:spLocks noGrp="1"/>
          </p:cNvSpPr>
          <p:nvPr/>
        </p:nvSpPr>
        <p:spPr>
          <a:xfrm>
            <a:off x="1381125" y="3319463"/>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Save one notebook with Part B under My written evidence.</a:t>
            </a:r>
          </a:p>
        </p:txBody>
      </p:sp>
      <p:sp>
        <p:nvSpPr>
          <p:cNvPr id="10" name="">
            <a:extLst>
              <a:ext uri="{FF2B5EF4-FFF2-40B4-BE49-F238E27FC236}">
                <ns2:creationId id="{A76596DD-94F4-4162-81A5-021B694121C4}"/>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ACA660AC-A236-4175-9F73-58BF3D6CDB81}"/>
              </a:ext>
            </a:extLst>
          </p:cNvPr>
          <p:cNvSpPr>
            <a:spLocks noGrp="1"/>
          </p:cNvSpPr>
          <p:nvPr/>
        </p:nvSpPr>
        <p:spPr>
          <a:xfrm>
            <a:off x="1381125" y="4117181"/>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 during the test.</a:t>
            </a:r>
          </a:p>
        </p:txBody>
      </p:sp>
      <p:sp>
        <p:nvSpPr>
          <p:cNvPr id="12" name="">
            <a:extLst>
              <a:ext uri="{FF2B5EF4-FFF2-40B4-BE49-F238E27FC236}">
                <ns2:creationId id="{A4663658-7993-4DB1-9CF9-A49BA4D3BFCD}"/>
              </a:ext>
            </a:extLst>
          </p:cNvPr>
          <p:cNvSpPr>
            <a:spLocks noGrp="1"/>
          </p:cNvSpPr>
          <p:nvPr/>
        </p:nvSpPr>
        <p:spPr>
          <a:xfrm>
            <a:off x="590550" y="5143500"/>
            <a:ext cx="11010900" cy="657225"/>
          </a:xfrm>
          <a:prstGeom prst="rect">
            <a:avLst/>
          </a:prstGeom>
          <a:solidFill>
            <a:srgbClr val="E5F1EE"/>
          </a:solidFill>
          <a:ln w="0">
            <a:noFill/>
          </a:ln>
        </p:spPr>
      </p:sp>
      <p:sp>
        <p:nvSpPr>
          <p:cNvPr id="13" name="">
            <a:extLst>
              <a:ext uri="{FF2B5EF4-FFF2-40B4-BE49-F238E27FC236}">
                <ns2:creationId id="{C659FA73-1492-4537-BB84-FC481F18E989}"/>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557a453b746a4678"/>
              </a:rPr>
              <a:t>Open TEST2 assignment form</a:t>
            </a:r>
          </a:p>
        </p:txBody>
      </p:sp>
      <p:sp>
        <p:nvSpPr>
          <p:cNvPr id="14" name="">
            <a:extLst>
              <a:ext uri="{FF2B5EF4-FFF2-40B4-BE49-F238E27FC236}">
                <ns2:creationId id="{AC0B6D32-2AE5-4242-A3F4-8B273C9C209E}"/>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https://docs.google.com/forms/d/e/1FAIpQLSeAnqjVsUO288tWRg47SCH61K6pzS7hTyYb40MH5KKd9aPkAA/viewform</a:t>
            </a:r>
          </a:p>
        </p:txBody>
      </p:sp>
      <p:sp>
        <p:nvSpPr>
          <p:cNvPr id="15" name="">
            <a:extLst>
              <a:ext uri="{FF2B5EF4-FFF2-40B4-BE49-F238E27FC236}">
                <ns2:creationId id="{3AFD4615-F515-4F9F-8FDC-1C8ECD25F668}"/>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22</a:t>
            </a:r>
          </a:p>
        </p:txBody>
      </p:sp>
    </p:spTree>
    <p:extLst>
      <p:ext uri="{BB962C8B-B14F-4D97-AF65-F5344CB8AC3E}">
        <ns4:creationId val="2003717395"/>
      </p:ext>
    </p:extLst>
  </p:cSld>
</p:sld>
</file>

<file path=ppt/slides/slide2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0BEDA7E-83DD-45F9-9467-AFCA6E9B9F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E8A214A3-D67D-4073-AFEA-8B786EF376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E7CC5791-DB16-448C-B013-C697CE6B2BD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431A7525-E50A-4343-A1CA-C77A06FC52B5}"/>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training-only preprocessing and locate your saved evidence.</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8E941C73-F988-4D84-A1A7-961658AD4CD6}"/>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F9CBBCB1-8B05-4E4E-AA8E-FDBB2B6197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14   23</a:t>
            </a:r>
          </a:p>
        </p:txBody>
      </p:sp>
    </p:spTree>
    <p:extLst>
      <p:ext uri="{BB962C8B-B14F-4D97-AF65-F5344CB8AC3E}">
        <p14:creationId xmlns:p14="http://schemas.microsoft.com/office/powerpoint/2010/main" val="6445022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2026-09-16T11:10:18.4590000Z</dcterms:created>
  <dcterms:modified xsi:type="dcterms:W3CDTF">2026-09-16T11:10:18.4590000Z</dcterms:modified>
</coreProperties>
</file>