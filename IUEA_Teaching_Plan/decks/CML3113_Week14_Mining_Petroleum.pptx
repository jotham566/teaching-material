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383c1c30fc4c87" /><Relationship Type="http://schemas.openxmlformats.org/officeDocument/2006/relationships/extended-properties" Target="/docProps/app.xml" Id="Rb8de35d619ff4177" /><Relationship Type="http://schemas.openxmlformats.org/officeDocument/2006/relationships/officeDocument" Target="/ppt/presentation.xml" Id="Rf32721d87b934b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84c21487b64546"/>
  </p:sldMasterIdLst>
  <p:notesMasterIdLst>
    <p:notesMasterId xmlns:r="http://schemas.openxmlformats.org/officeDocument/2006/relationships" r:id="Rd98c251d681d47fa"/>
  </p:notesMasterIdLst>
  <p:sldIdLst>
    <p:sldId xmlns:r="http://schemas.openxmlformats.org/officeDocument/2006/relationships" id="256" r:id="Rfaaab177a4964979"/>
    <p:sldId xmlns:r="http://schemas.openxmlformats.org/officeDocument/2006/relationships" id="257" r:id="Re495887abade43ac"/>
    <p:sldId xmlns:r="http://schemas.openxmlformats.org/officeDocument/2006/relationships" id="258" r:id="R49d367b4a62f4782"/>
    <p:sldId xmlns:r="http://schemas.openxmlformats.org/officeDocument/2006/relationships" id="259" r:id="R0df0a3e2ce0f4be3"/>
    <p:sldId xmlns:r="http://schemas.openxmlformats.org/officeDocument/2006/relationships" id="260" r:id="R238774608b95415f"/>
    <p:sldId xmlns:r="http://schemas.openxmlformats.org/officeDocument/2006/relationships" id="261" r:id="R8f0dbe44318f442c"/>
    <p:sldId xmlns:r="http://schemas.openxmlformats.org/officeDocument/2006/relationships" id="262" r:id="Ra594d297e5514782"/>
    <p:sldId xmlns:r="http://schemas.openxmlformats.org/officeDocument/2006/relationships" id="263" r:id="R9410b71499044e33"/>
    <p:sldId xmlns:r="http://schemas.openxmlformats.org/officeDocument/2006/relationships" id="264" r:id="Rd50960bae78046bf"/>
    <p:sldId xmlns:r="http://schemas.openxmlformats.org/officeDocument/2006/relationships" id="265" r:id="Ra69656861e6245ca"/>
    <p:sldId xmlns:r="http://schemas.openxmlformats.org/officeDocument/2006/relationships" id="266" r:id="R2afccfcd5c22413f"/>
    <p:sldId xmlns:r="http://schemas.openxmlformats.org/officeDocument/2006/relationships" id="267" r:id="R73a7f03ef60b402d"/>
    <p:sldId xmlns:r="http://schemas.openxmlformats.org/officeDocument/2006/relationships" id="268" r:id="Rec604434808844d4"/>
    <p:sldId xmlns:r="http://schemas.openxmlformats.org/officeDocument/2006/relationships" id="269" r:id="R7fb9c18c075b4f62"/>
    <p:sldId xmlns:r="http://schemas.openxmlformats.org/officeDocument/2006/relationships" id="270" r:id="R89e9652698434b39"/>
    <p:sldId xmlns:r="http://schemas.openxmlformats.org/officeDocument/2006/relationships" id="271" r:id="Rca566b6af2114c16"/>
    <p:sldId xmlns:r="http://schemas.openxmlformats.org/officeDocument/2006/relationships" id="272" r:id="R55502cab8b6e4024"/>
    <p:sldId xmlns:r="http://schemas.openxmlformats.org/officeDocument/2006/relationships" id="273" r:id="Ra0a4ddbf0f964000"/>
    <p:sldId xmlns:r="http://schemas.openxmlformats.org/officeDocument/2006/relationships" id="274" r:id="R0f22e8af41cf4786"/>
    <p:sldId xmlns:r="http://schemas.openxmlformats.org/officeDocument/2006/relationships" id="275" r:id="Rbd863b15f91040a2"/>
    <p:sldId xmlns:r="http://schemas.openxmlformats.org/officeDocument/2006/relationships" id="276" r:id="Rea3ae02e1cfa40d7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62af9285844414" /><Relationship Type="http://schemas.openxmlformats.org/officeDocument/2006/relationships/slideMaster" Target="/ppt/slideMasters/slideMaster1.xml" Id="Rcf84c21487b64546" /><Relationship Type="http://schemas.openxmlformats.org/officeDocument/2006/relationships/notesMaster" Target="/ppt/notesMasters/notesMaster1.xml" Id="Rd98c251d681d47fa" /><Relationship Type="http://schemas.openxmlformats.org/officeDocument/2006/relationships/presProps" Target="/ppt/presProps.xml" Id="R7ae19ca55edc48f7" /><Relationship Type="http://schemas.openxmlformats.org/officeDocument/2006/relationships/tableStyles" Target="/ppt/tableStyles.xml" Id="R5bae17bfbdbf4113" /><Relationship Type="http://schemas.openxmlformats.org/officeDocument/2006/relationships/slide" Target="/ppt/slides/slide1.xml" Id="Rfaaab177a4964979" /><Relationship Type="http://schemas.openxmlformats.org/officeDocument/2006/relationships/slide" Target="/ppt/slides/slide2.xml" Id="Re495887abade43ac" /><Relationship Type="http://schemas.openxmlformats.org/officeDocument/2006/relationships/slide" Target="/ppt/slides/slide3.xml" Id="R49d367b4a62f4782" /><Relationship Type="http://schemas.openxmlformats.org/officeDocument/2006/relationships/slide" Target="/ppt/slides/slide4.xml" Id="R0df0a3e2ce0f4be3" /><Relationship Type="http://schemas.openxmlformats.org/officeDocument/2006/relationships/slide" Target="/ppt/slides/slide5.xml" Id="R238774608b95415f" /><Relationship Type="http://schemas.openxmlformats.org/officeDocument/2006/relationships/slide" Target="/ppt/slides/slide6.xml" Id="R8f0dbe44318f442c" /><Relationship Type="http://schemas.openxmlformats.org/officeDocument/2006/relationships/slide" Target="/ppt/slides/slide7.xml" Id="Ra594d297e5514782" /><Relationship Type="http://schemas.openxmlformats.org/officeDocument/2006/relationships/slide" Target="/ppt/slides/slide8.xml" Id="R9410b71499044e33" /><Relationship Type="http://schemas.openxmlformats.org/officeDocument/2006/relationships/slide" Target="/ppt/slides/slide9.xml" Id="Rd50960bae78046bf" /><Relationship Type="http://schemas.openxmlformats.org/officeDocument/2006/relationships/slide" Target="/ppt/slides/slide10.xml" Id="Ra69656861e6245ca" /><Relationship Type="http://schemas.openxmlformats.org/officeDocument/2006/relationships/slide" Target="/ppt/slides/slide11.xml" Id="R2afccfcd5c22413f" /><Relationship Type="http://schemas.openxmlformats.org/officeDocument/2006/relationships/slide" Target="/ppt/slides/slide12.xml" Id="R73a7f03ef60b402d" /><Relationship Type="http://schemas.openxmlformats.org/officeDocument/2006/relationships/slide" Target="/ppt/slides/slide13.xml" Id="Rec604434808844d4" /><Relationship Type="http://schemas.openxmlformats.org/officeDocument/2006/relationships/slide" Target="/ppt/slides/slide14.xml" Id="R7fb9c18c075b4f62" /><Relationship Type="http://schemas.openxmlformats.org/officeDocument/2006/relationships/slide" Target="/ppt/slides/slide15.xml" Id="R89e9652698434b39" /><Relationship Type="http://schemas.openxmlformats.org/officeDocument/2006/relationships/slide" Target="/ppt/slides/slide16.xml" Id="Rca566b6af2114c16" /><Relationship Type="http://schemas.openxmlformats.org/officeDocument/2006/relationships/slide" Target="/ppt/slides/slide17.xml" Id="R55502cab8b6e4024" /><Relationship Type="http://schemas.openxmlformats.org/officeDocument/2006/relationships/slide" Target="/ppt/slides/slide18.xml" Id="Ra0a4ddbf0f964000" /><Relationship Type="http://schemas.openxmlformats.org/officeDocument/2006/relationships/slide" Target="/ppt/slides/slide19.xml" Id="R0f22e8af41cf4786" /><Relationship Type="http://schemas.openxmlformats.org/officeDocument/2006/relationships/slide" Target="/ppt/slides/slide20.xml" Id="Rbd863b15f91040a2" /><Relationship Type="http://schemas.openxmlformats.org/officeDocument/2006/relationships/slide" Target="/ppt/slides/slide21.xml" Id="Rea3ae02e1cfa40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e31b3079ee4d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19d831f7f246f7" /><Relationship Type="http://schemas.openxmlformats.org/officeDocument/2006/relationships/notesMaster" Target="/ppt/notesMasters/notesMaster1.xml" Id="Rfd1f6bac085148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e5ffc4cfd84faa" /><Relationship Type="http://schemas.openxmlformats.org/officeDocument/2006/relationships/notesMaster" Target="/ppt/notesMasters/notesMaster1.xml" Id="R8c4ed50900e04e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bc832f7b984be6" /><Relationship Type="http://schemas.openxmlformats.org/officeDocument/2006/relationships/notesMaster" Target="/ppt/notesMasters/notesMaster1.xml" Id="Ree80b4c959af4a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bb386c208446d4" /><Relationship Type="http://schemas.openxmlformats.org/officeDocument/2006/relationships/notesMaster" Target="/ppt/notesMasters/notesMaster1.xml" Id="Rc290e907ade64c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2043baddd74c03" /><Relationship Type="http://schemas.openxmlformats.org/officeDocument/2006/relationships/notesMaster" Target="/ppt/notesMasters/notesMaster1.xml" Id="R58fc22a11ef141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cdd00f37d6486f" /><Relationship Type="http://schemas.openxmlformats.org/officeDocument/2006/relationships/notesMaster" Target="/ppt/notesMasters/notesMaster1.xml" Id="Rd81e1854d36240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7de5e406e24155" /><Relationship Type="http://schemas.openxmlformats.org/officeDocument/2006/relationships/notesMaster" Target="/ppt/notesMasters/notesMaster1.xml" Id="R379825849b0f41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736505c423485c" /><Relationship Type="http://schemas.openxmlformats.org/officeDocument/2006/relationships/notesMaster" Target="/ppt/notesMasters/notesMaster1.xml" Id="Rf6e4579409b149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0ee2109b9b47b7" /><Relationship Type="http://schemas.openxmlformats.org/officeDocument/2006/relationships/notesMaster" Target="/ppt/notesMasters/notesMaster1.xml" Id="R3944fca48ca445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02b2a1d10734c55" /><Relationship Type="http://schemas.openxmlformats.org/officeDocument/2006/relationships/notesMaster" Target="/ppt/notesMasters/notesMaster1.xml" Id="R293a7fdd427747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ed0e5b8a8e4b27" /><Relationship Type="http://schemas.openxmlformats.org/officeDocument/2006/relationships/notesMaster" Target="/ppt/notesMasters/notesMaster1.xml" Id="Ra47535eb247b49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94e200f11042ee" /><Relationship Type="http://schemas.openxmlformats.org/officeDocument/2006/relationships/notesMaster" Target="/ppt/notesMasters/notesMaster1.xml" Id="R84b221b07c0a49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fc0137320fd49fd" /><Relationship Type="http://schemas.openxmlformats.org/officeDocument/2006/relationships/notesMaster" Target="/ppt/notesMasters/notesMaster1.xml" Id="R87a4f446d0a74d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9e45453e6414962" /><Relationship Type="http://schemas.openxmlformats.org/officeDocument/2006/relationships/notesMaster" Target="/ppt/notesMasters/notesMaster1.xml" Id="R2ad84fa405f245f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c3859e8bd2648ef" /><Relationship Type="http://schemas.openxmlformats.org/officeDocument/2006/relationships/notesMaster" Target="/ppt/notesMasters/notesMaster1.xml" Id="R7af0a7835d7443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48dba54c19b430d" /><Relationship Type="http://schemas.openxmlformats.org/officeDocument/2006/relationships/notesMaster" Target="/ppt/notesMasters/notesMaster1.xml" Id="R223b3beae4c2474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c8927d83dbe44d7" /><Relationship Type="http://schemas.openxmlformats.org/officeDocument/2006/relationships/notesMaster" Target="/ppt/notesMasters/notesMaster1.xml" Id="Rd71bcb6fe0af447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5c9e61924224de5" /><Relationship Type="http://schemas.openxmlformats.org/officeDocument/2006/relationships/notesMaster" Target="/ppt/notesMasters/notesMaster1.xml" Id="Rc42b8be5384c49e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7ad24ffe25a485c" /><Relationship Type="http://schemas.openxmlformats.org/officeDocument/2006/relationships/notesMaster" Target="/ppt/notesMasters/notesMaster1.xml" Id="R7fcf4a91ae93415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2a4bec77f79475d" /><Relationship Type="http://schemas.openxmlformats.org/officeDocument/2006/relationships/notesMaster" Target="/ppt/notesMasters/notesMaster1.xml" Id="Rf3901356560948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de6b2761444474e" /><Relationship Type="http://schemas.openxmlformats.org/officeDocument/2006/relationships/notesMaster" Target="/ppt/notesMasters/notesMaster1.xml" Id="R2ec011240f6242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Preparing for Practical Test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the preceding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Mining and Petroleum Engineering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Today’s learning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Preparing for Practical Test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Rehearse previously taught modelling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Practise saving the complete test notebook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Connection to the previous lesson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Can you name the target, fit only on training records and explain how you would keep the test untouched?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Preparation happens before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Preparation happens before the 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Practise the already taught error calculations and data-splitting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separate practice values.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timed session follows the issued test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Rehearse the offline save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Rehearse the offline save procedure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Preparation happens before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Save your notebook on the prepared lab computer.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 Part B under My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Locate and reopen the complete notebook without internet.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A result needs an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A result needs an explanation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Rehearse the offline save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Name the target and its unit or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 which data fitted preprocessing and which data evaluated the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high score alone does not establish a useful engineering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A result needs an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code in this order:</a:t>
            </a:r>
          </a:p>
          <a:p xmlns:a="http://schemas.openxmlformats.org/drawingml/2006/main">
            <a:r>
              <a:t>actual = [4, 8]</a:t>
            </a:r>
          </a:p>
          <a:p xmlns:a="http://schemas.openxmlformats.org/drawingml/2006/main">
            <a:r>
              <a:t>predicted = [5, 6]</a:t>
            </a:r>
          </a:p>
          <a:p xmlns:a="http://schemas.openxmlformats.org/drawingml/2006/main">
            <a:r>
              <a:t>errors = []</a:t>
            </a:r>
          </a:p>
          <a:p xmlns:a="http://schemas.openxmlformats.org/drawingml/2006/main">
            <a:r>
              <a:t>for a, p in zip(actual, predicted):</a:t>
            </a:r>
          </a:p>
          <a:p xmlns:a="http://schemas.openxmlformats.org/drawingml/2006/main">
            <a:r>
              <a:t>    errors.append(abs(a - p))</a:t>
            </a:r>
          </a:p>
          <a:p xmlns:a="http://schemas.openxmlformats.org/drawingml/2006/main">
            <a:r>
              <a:t>print(sum(errors) / len(errors))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 takes the next item. The indented block repeats.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zip pairs items at matching positions in these equal-length lists.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print displays a value below the cell.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 top to bottom. Run the complete example in the matching practice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Test 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00–15 minutes: briefing and file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15–135 minutes: individual practical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135–160 minutes: typed offline reasoning, with code execution prohibited.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160–180 minutes: save and hand in through invigilated offline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Preparation checkpoint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Each learner can save and reopen the complete notebook in the offline setting.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Your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TEST2’s official brief, interfaces, time allocation, permitted resources and packet requirements.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Follow the test instructions issued by your lecturer.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Write your own explanation in the markdown cell headed `## My written evidence`.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that heading.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 prompts and code comments are excluded from reasoning marks.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Complete every original rubric criterion below, not just the checked functions.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profiling, justified cleaning, question-led charts and your engineering recommendation where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raw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State units and distinguish correlation from causation.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Charts must be actual labelled figures in the notebook, not claims that charts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captions and readable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 framing (10.0 total): The ML task is correctly identified, the target named, and regression vs classification correctly chosen and justified.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preparation &amp; leakage control (20.0 total): Cleaning and encoding appropriate.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Split made before any fitting.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Pipeline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leakage present - a leak found by the marker caps this criterion at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Modelling protocol (20.0 total): At least two models built and compared under identical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Baseline included.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Hyperparameters handled sensibly.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Evaluation &amp; metric justification (20.0 total): Correct metrics computed.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Metric choice defended against the cost of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Cross-validation reported with a spread, not a single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Engineering interpretation &amp; limits (20.0 total): The result is stated in physical or operational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genuine limitations given.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clear position on whether it should be deployed.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 clarity (10.0 total): Runs top to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Commented where the intent is not obvious.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Execution requirement for c2: Data-preparation credit requires the published leakage-safe split check to 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this check fails, written marks in that criterion are zero; other criteria remain independently scored.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Timing and Part 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 minutes setup, 120 minutes practical, 25 minutes typed offline reasoning with code execution prohibited, 20 minutes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Answer: Why your main cleaning/model choice?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What can your chart/metric not establish?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evidence would change your recommendation?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further data is required?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Invigilated offline collection is authoritative; Google upload is a later transport step and must not impose an internet requirement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submission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Offline invigilated collection is authoritative.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 upload is a later transport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one notebook with Part B under My written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Before you leave.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Revision and submission checklist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You can explain training-only preprocessing and locate your saved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your work and check the required submission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independent revision and the issued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2dc73c5a454a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06d1b658d549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94065c051f49f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62073d6cd24c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039bc8a20f429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cb9c6274274e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29A2D2E-51CB-4D2C-A7EE-84F9E2F2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2098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CAEEAA6-98EA-4A34-AE48-97EB314628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590800"/>
            <a:ext cx="9753356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842A679-6CE2-4DD7-B11B-89E0347962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754" y="3771900"/>
            <a:ext cx="8534187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71A4AB5-7C26-44A1-AC1C-C1C8927F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4765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B164532-7258-4892-AD04-6F9E6CF29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857500"/>
            <a:ext cx="975335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66553C4-1D43-4CFD-8570-46FDB80E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B8152E5-5D85-410F-A376-CDAD4CE8E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3E8B3DD-488B-4CB1-8B58-9F60B73818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10820129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BD83456-85EB-4C21-AE12-08B19C25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0E8BB84-F529-4EB1-86BF-936C0B5AB9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DFD40C-AFBF-4876-A01B-F0C2EBF1EA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0277225-5DC4-437F-838D-2BC59E5EF41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6838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0F72459-FB8A-4329-9E21-10927634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DB7C72F-E080-4967-AD36-BE1CBC07D8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E173DDE-91C7-44A8-A0F3-25085759A2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55afba30a048b3" /><Relationship Type="http://schemas.openxmlformats.org/officeDocument/2006/relationships/slideLayout" Target="/ppt/slideLayouts/slideLayout1.xml" Id="R3e05aa03cbc64c04" /><Relationship Type="http://schemas.openxmlformats.org/officeDocument/2006/relationships/slideLayout" Target="/ppt/slideLayouts/slideLayout2.xml" Id="R959806b0dac84972" /><Relationship Type="http://schemas.openxmlformats.org/officeDocument/2006/relationships/slideLayout" Target="/ppt/slideLayouts/slideLayout3.xml" Id="R2c3d0c55f0994c47" /><Relationship Type="http://schemas.openxmlformats.org/officeDocument/2006/relationships/slideLayout" Target="/ppt/slideLayouts/slideLayout4.xml" Id="R8c8572f079f549e4" /><Relationship Type="http://schemas.openxmlformats.org/officeDocument/2006/relationships/slideLayout" Target="/ppt/slideLayouts/slideLayout5.xml" Id="Re551b76c183740cb" /><Relationship Type="http://schemas.openxmlformats.org/officeDocument/2006/relationships/slideLayout" Target="/ppt/slideLayouts/slideLayout6.xml" Id="R84904f55643840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05aa03cbc64c04"/>
    <p:sldLayoutId xmlns:r="http://schemas.openxmlformats.org/officeDocument/2006/relationships" id="2147483650" r:id="R959806b0dac84972"/>
    <p:sldLayoutId xmlns:r="http://schemas.openxmlformats.org/officeDocument/2006/relationships" id="2147483651" r:id="R2c3d0c55f0994c47"/>
    <p:sldLayoutId xmlns:r="http://schemas.openxmlformats.org/officeDocument/2006/relationships" id="2147483652" r:id="R8c8572f079f549e4"/>
    <p:sldLayoutId xmlns:r="http://schemas.openxmlformats.org/officeDocument/2006/relationships" id="2147483653" r:id="Re551b76c183740cb"/>
    <p:sldLayoutId xmlns:r="http://schemas.openxmlformats.org/officeDocument/2006/relationships" id="2147483654" r:id="R84904f55643840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85fcd868cb4179" /><Relationship Type="http://schemas.openxmlformats.org/officeDocument/2006/relationships/image" Target="/ppt/media/image.png" Id="R466ecf135a094a5f" /><Relationship Type="http://schemas.openxmlformats.org/officeDocument/2006/relationships/notesSlide" Target="/ppt/notesSlides/notesSlide1.xml" Id="R186a12be7b3442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53ffbba6d84dd6" /><Relationship Type="http://schemas.openxmlformats.org/officeDocument/2006/relationships/notesSlide" Target="/ppt/notesSlides/notesSlide2.xml" Id="R320bb96a0fb644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acd41cacf9426c" /><Relationship Type="http://schemas.openxmlformats.org/officeDocument/2006/relationships/notesSlide" Target="/ppt/notesSlides/notesSlide3.xml" Id="R34c90e2300ed49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50dca6cf0d42e0" /><Relationship Type="http://schemas.openxmlformats.org/officeDocument/2006/relationships/notesSlide" Target="/ppt/notesSlides/notesSlide4.xml" Id="R6f4da7c50c7d4c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ed7118e221431c" /><Relationship Type="http://schemas.openxmlformats.org/officeDocument/2006/relationships/notesSlide" Target="/ppt/notesSlides/notesSlide5.xml" Id="Re04dca462bde46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8061dd0192474d" /><Relationship Type="http://schemas.openxmlformats.org/officeDocument/2006/relationships/notesSlide" Target="/ppt/notesSlides/notesSlide6.xml" Id="Re6795b1517e74b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92ba74ea454697" /><Relationship Type="http://schemas.openxmlformats.org/officeDocument/2006/relationships/notesSlide" Target="/ppt/notesSlides/notesSlide7.xml" Id="R77f0e5b78da64b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ce64ad14e04b0d" /><Relationship Type="http://schemas.openxmlformats.org/officeDocument/2006/relationships/notesSlide" Target="/ppt/notesSlides/notesSlide8.xml" Id="Radbfdce464a3477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e824d4901c4358" /><Relationship Type="http://schemas.openxmlformats.org/officeDocument/2006/relationships/notesSlide" Target="/ppt/notesSlides/notesSlide9.xml" Id="R03fd45dd661b40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a2e62ccba243a8" /><Relationship Type="http://schemas.openxmlformats.org/officeDocument/2006/relationships/notesSlide" Target="/ppt/notesSlides/notesSlide10.xml" Id="Rf48fb19d31ed4f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ff57b9ad594efe" /><Relationship Type="http://schemas.openxmlformats.org/officeDocument/2006/relationships/notesSlide" Target="/ppt/notesSlides/notesSlide11.xml" Id="R044e878d7b424b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68d350f88c48de" /><Relationship Type="http://schemas.openxmlformats.org/officeDocument/2006/relationships/notesSlide" Target="/ppt/notesSlides/notesSlide12.xml" Id="R8864f6a9fa284c9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ccf6f58b984a62" /><Relationship Type="http://schemas.openxmlformats.org/officeDocument/2006/relationships/notesSlide" Target="/ppt/notesSlides/notesSlide13.xml" Id="R140b2e9efcf1475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f0f6d33b874b24" /><Relationship Type="http://schemas.openxmlformats.org/officeDocument/2006/relationships/notesSlide" Target="/ppt/notesSlides/notesSlide14.xml" Id="Rb5a75c01c61847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f429c0159d4536" /><Relationship Type="http://schemas.openxmlformats.org/officeDocument/2006/relationships/notesSlide" Target="/ppt/notesSlides/notesSlide15.xml" Id="R249bd9fe06f54a7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9ed679075b4af3" /><Relationship Type="http://schemas.openxmlformats.org/officeDocument/2006/relationships/notesSlide" Target="/ppt/notesSlides/notesSlide16.xml" Id="R0f016368287546d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b37a3dc72a476f" /><Relationship Type="http://schemas.openxmlformats.org/officeDocument/2006/relationships/notesSlide" Target="/ppt/notesSlides/notesSlide17.xml" Id="R03d54e04fc764e7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dec361418c49db" /><Relationship Type="http://schemas.openxmlformats.org/officeDocument/2006/relationships/notesSlide" Target="/ppt/notesSlides/notesSlide18.xml" Id="Ref2cfbcc3ff84c0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f48c218d064ca0" /><Relationship Type="http://schemas.openxmlformats.org/officeDocument/2006/relationships/notesSlide" Target="/ppt/notesSlides/notesSlide19.xml" Id="R36f50c578f3043f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cc8c56b86c4528" /><Relationship Type="http://schemas.openxmlformats.org/officeDocument/2006/relationships/hyperlink" Target="https://docs.google.com/forms/d/e/1FAIpQLSeAnqjVsUO288tWRg47SCH61K6pzS7hTyYb40MH5KKd9aPkAA/viewform" TargetMode="External" Id="R918779a69b074c02" /><Relationship Type="http://schemas.openxmlformats.org/officeDocument/2006/relationships/notesSlide" Target="/ppt/notesSlides/notesSlide20.xml" Id="R78679d0d971a44a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6a795175844c14" /><Relationship Type="http://schemas.openxmlformats.org/officeDocument/2006/relationships/notesSlide" Target="/ppt/notesSlides/notesSlide21.xml" Id="R4196cfbb3eb745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ecf135a094a5f"/>
          <a:stretch xmlns:a="http://schemas.openxmlformats.org/drawingml/2006/main"/>
        </p:blipFill>
        <p:spPr>
          <a:xfrm xmlns:a="http://schemas.openxmlformats.org/drawingml/2006/main">
            <a:off x="3087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668F3-C673-43FE-A01A-38CBA13F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81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D5360-1243-432B-8D93-0973A8D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CML3113   WEEK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4B73A-A2F3-4DF3-8718-AACD913E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6196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8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Preparing for Practical Test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44298-84E3-4405-AC2D-3C1D2F4D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4619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Mining and Petroleum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5BD67-4597-4DA5-B3B9-66118DD3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4667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Friday 11 December 2026</a:t>
            </a:r>
          </a:p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Friday 08:00–11:00, Room 105</a:t>
            </a:r>
          </a:p>
        </p:txBody>
      </p:sp>
    </p:spTree>
    <p:extLst>
      <p:ext uri="{BB962C8B-B14F-4D97-AF65-F5344CB8AC3E}">
        <p14:creationId xmlns:p14="http://schemas.microsoft.com/office/powerpoint/2010/main" val="20933198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5AE57-6836-4D39-9397-54BE9DE8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55FA41-11D1-40EF-8081-D700FC12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TODAY’S DESTINATION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6FD6D-7927-43FB-8E8C-3A177F86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Today’s 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825D0-D7D3-4B3D-991C-7079118F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52387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F25F1-1703-4D47-95BE-700BF762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000250"/>
            <a:ext cx="4743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WE WILL 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BEE82-B409-4347-9FA1-EFDAACDB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90800"/>
            <a:ext cx="47434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Rehearse previously taught modelling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Practise saving the complete test notebook offline.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E9C61-21A9-4F75-8A00-136750EB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YOU WILL SHOW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BC8C3-361A-4353-B968-09028D51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 can explain training-only preprocessing and locate your saved evidence.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903D9-60D3-4024-813F-CFCFFCD9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2</a:t>
            </a:r>
          </a:p>
        </p:txBody>
      </p:sp>
    </p:spTree>
    <p:extLst>
      <p:ext uri="{BB962C8B-B14F-4D97-AF65-F5344CB8AC3E}">
        <p14:creationId xmlns:p14="http://schemas.microsoft.com/office/powerpoint/2010/main" val="7087052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A1D65-0EF0-4B15-A46A-7F720176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3A20A-9BAE-4FBA-84FA-54DA7333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0A1692-31DA-4A7A-9ABE-B9ADD679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Connection to the previous lesson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8AD2E-5CD5-4017-8D1F-4B48ADA1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11010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627EF-F910-4761-AFDE-6A5CE0A3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34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Can you name the target, fit only on training records and explain how you would keep the test untouched?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FA04B-09F3-4B27-8E74-848DD03D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3</a:t>
            </a:r>
          </a:p>
        </p:txBody>
      </p:sp>
    </p:spTree>
    <p:extLst>
      <p:ext uri="{BB962C8B-B14F-4D97-AF65-F5344CB8AC3E}">
        <p14:creationId xmlns:p14="http://schemas.microsoft.com/office/powerpoint/2010/main" val="804402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96F277-B7BE-411F-A233-F40AAA56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4864F-D220-4987-B5E4-1A1E3B43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ADB09-91AA-46CA-A895-1518178C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Preparation happens before the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A96FB-FD71-49EB-AF37-3FE644E8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6E76F-D1EE-494D-915F-ACB4D76F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Practise the already taught error calculations and data-splitting rules.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791536-99C4-429D-A36F-26807727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EF1AC-0B9F-4E81-9F99-F4579E51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separate practice values.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1CA45-E392-45C9-8EB2-50D6EF03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2E8F8-4EA8-4DDE-8D41-1035DF24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timed session follows the issued test instructions.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F3EF4E-6156-460C-A601-45B0AEF7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4</a:t>
            </a:r>
          </a:p>
        </p:txBody>
      </p:sp>
    </p:spTree>
    <p:extLst>
      <p:ext uri="{BB962C8B-B14F-4D97-AF65-F5344CB8AC3E}">
        <p14:creationId xmlns:p14="http://schemas.microsoft.com/office/powerpoint/2010/main" val="13410039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38B91-B41B-4B6B-B26D-EC4F7595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ABD2E-5546-4A97-9D04-D33653F7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D23FB5-A8D6-4E7A-9F3E-634E26E0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Rehearse the offline save procedure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63AFF-502B-4B25-AF78-F74F9D6C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69329E-1C1E-4598-AF33-64B52B6E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Save your notebook on the prepared lab computer.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2773A-A99D-41C2-BDD0-18C7131E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28C0C7-2A06-4686-8C06-5F88955B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Type Part B under My written evidence in the notebook.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9E782-5AC3-43AC-93BA-8FBCB5E4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F2550C-54D6-4DF9-87D6-EE5B24C9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Locate and reopen the complete notebook without internet.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2BE3C-7CF8-4ACA-B056-D953E370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5</a:t>
            </a:r>
          </a:p>
        </p:txBody>
      </p:sp>
    </p:spTree>
    <p:extLst>
      <p:ext uri="{BB962C8B-B14F-4D97-AF65-F5344CB8AC3E}">
        <p14:creationId xmlns:p14="http://schemas.microsoft.com/office/powerpoint/2010/main" val="6068997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7CDF1-193A-4BA5-B5D9-ACC2B8A9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FF016-C71A-4D5C-AAD3-BD867186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48B4F-2832-4BA4-AA67-7474C5E2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result needs an explanation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DC4C1-C9CE-44B7-806D-A2095C1D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02B59-8728-45D3-AAB8-208AA77C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Name the target and its unit or class.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F8750-2465-42B4-A176-0B594735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80716-EFBC-4022-B778-C428A1F4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Explain which data fitted preprocessing and which data evaluated the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D2D9B0-6ABF-4137-B88E-412B86C6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7EDD82-2747-47DF-8EA7-38CAA6A2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 high score alone does not establish a useful engineering model.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F743C-21DC-4515-9FD9-80129D44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6</a:t>
            </a:r>
          </a:p>
        </p:txBody>
      </p:sp>
    </p:spTree>
    <p:extLst>
      <p:ext uri="{BB962C8B-B14F-4D97-AF65-F5344CB8AC3E}">
        <p14:creationId xmlns:p14="http://schemas.microsoft.com/office/powerpoint/2010/main" val="21322002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A0CDBE-A259-407A-A634-80834782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30CC34-6AAF-4967-8FDB-00181C59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WORKED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080E8-C5E6-4923-A7AD-B9F4757E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6C2A3-37CE-4650-B753-2A783BA2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7296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DD5C8-76E6-4021-AA3E-BF3D4527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9913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actual = [4, 8]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predicted = [5, 6]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errors = []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FB08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 a, p in zip(actual, predicted):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    errors.append(abs(a - p))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print(sum(errors) / len(errors))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69EBC-8C5C-4046-9283-44919775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TO READ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65D59-89A8-4D0E-848E-DE5B8119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for takes the next item. The indented block repeats.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8F856-79D1-4BE5-AE45-48D9EE48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zip pairs items at matching positions in these equal-length lists.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FCCA4-4AA7-4227-8D7D-20370999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434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print displays a value below the cell.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F16C9A-7642-4A95-8106-E3AB4E98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Read top to bottom. Run the complete example in the matching practice notebook.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4AD8AB-1217-4AD9-A2F2-0B4AE88F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7</a:t>
            </a:r>
          </a:p>
        </p:txBody>
      </p:sp>
    </p:spTree>
    <p:extLst>
      <p:ext uri="{BB962C8B-B14F-4D97-AF65-F5344CB8AC3E}">
        <p14:creationId xmlns:p14="http://schemas.microsoft.com/office/powerpoint/2010/main" val="3029638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BE0BE-5F40-463F-A11E-4968232E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1534C-FAB9-4690-82E5-39C7A463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B5BCA-BFAD-4521-BB5C-46A519C6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 session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EB1FE-BE1B-45C3-808F-15632B7C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51DD6F-3729-4A04-A838-C1D4D092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00–15 minutes: briefing and file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BBA41-DBA1-4274-A3C4-6282B14B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0356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8CFA6-5033-4D4A-9AEB-C5260889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0356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15–135 minutes: individual practical 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1BA46C-85C1-4359-8CFF-FA47E07A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95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0868B-F6FC-4D4F-B9B0-F162F2A5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19538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135–160 minutes: typed offline reasoning, with code execution prohibited.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AF094-F866-4DD6-985E-EB9402E6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88719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9A4E5-E29E-4B45-A9A2-72566AD0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88719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160–180 minutes: save and hand in through invigilated offline collection.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FD1299-4B8E-4D7F-95B6-B11CCEFA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8</a:t>
            </a:r>
          </a:p>
        </p:txBody>
      </p:sp>
    </p:spTree>
    <p:extLst>
      <p:ext uri="{BB962C8B-B14F-4D97-AF65-F5344CB8AC3E}">
        <p14:creationId xmlns:p14="http://schemas.microsoft.com/office/powerpoint/2010/main" val="12819359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63026-11C3-437B-B977-B537D16E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9F71C-FAC5-4087-A343-F3A8F799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A8CA84-D340-4DD6-B428-4C186573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Preparation checkpoint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2BA4B-7C6B-4D71-AA47-6624C2BA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11010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00604B-37FE-499F-B9F2-9E32EBA5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34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Each learner can save and reopen the complete notebook in the offline setting.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B09D9E-0C4B-41A7-A230-BC3FAEED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9</a:t>
            </a:r>
          </a:p>
        </p:txBody>
      </p:sp>
    </p:spTree>
    <p:extLst>
      <p:ext uri="{BB962C8B-B14F-4D97-AF65-F5344CB8AC3E}">
        <p14:creationId xmlns:p14="http://schemas.microsoft.com/office/powerpoint/2010/main" val="12493865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EB070-6D20-47D5-B769-33867A34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83EAC-09DF-43E2-B55F-861774DA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5ABD8A-7E83-4C79-B70C-2EBFAACB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C431C-2CDB-4600-B4E5-235D011D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4888A-7401-440C-8D32-F2A8BA1C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2062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TEST2’s official brief, interfaces, time allocation, permitted resources and packet requirements.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4C5DA-1743-4A09-98AF-325F7AEC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95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CF5B9-BD11-4A9F-8DDC-5E8A1A13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19538"/>
            <a:ext cx="10096500" cy="2062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Follow the test instructions issued by your lecturer.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BE2311-3E9F-4112-8E85-F75C5FE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10</a:t>
            </a:r>
          </a:p>
        </p:txBody>
      </p:sp>
    </p:spTree>
    <p:extLst>
      <p:ext uri="{BB962C8B-B14F-4D97-AF65-F5344CB8AC3E}">
        <p14:creationId xmlns:p14="http://schemas.microsoft.com/office/powerpoint/2010/main" val="18603468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0207E-9972-4B9C-BF23-5D3D294D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0A7E5-0D5C-41D8-A76A-32B29AE8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FF755-DF8B-430D-8D61-FD929444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07643-7B36-402D-85C2-6652F12D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4E4CE-373E-4D44-8237-2F65B29E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Write your own explanation in the markdown cell headed `## My written evidence`.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67103-DF31-4122-AC93-7794E7EF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F0097-4377-4E5F-8AF1-12B0D953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that heading.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17998-4372-4C22-8E6F-585B03C1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B54BB3-B599-4FE0-B464-CFB75828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Task prompts and code comments are excluded from reasoning marks.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469FA-C84B-467D-8BF4-3878C77F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29003-6FC3-4DCB-9663-04D30530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Complete every original rubric criterion below, not just the checked functions.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B8214E-2C77-45E3-B520-38FAB624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11</a:t>
            </a:r>
          </a:p>
        </p:txBody>
      </p:sp>
    </p:spTree>
    <p:extLst>
      <p:ext uri="{BB962C8B-B14F-4D97-AF65-F5344CB8AC3E}">
        <p14:creationId xmlns:p14="http://schemas.microsoft.com/office/powerpoint/2010/main" val="3981551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ACFB0-720A-475B-A675-D6C32410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C89CC-4129-4C5E-8C13-B18C1FB3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6A6F5-E3F9-4C68-9CED-1B470E52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7DEF9-5ED4-4A03-862E-FC75BC68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FB8FA-85B1-4AA0-B7FE-474C8C5F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profiling, justified cleaning, question-led charts and your engineering recommendation where required.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48E59-FCF2-4EAA-B54B-A2D7587F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8BBA62-DFBB-44BC-B5CD-4F58FBE3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raw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408A4-EFF2-4F3C-9B4C-BC3975DF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ACA1D-B8EC-45C3-9F7A-DA6E4EC5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State units and distinguish correlation from causation.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8BBBB-493A-4C80-AD25-80BE87DE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0E4BA5-998A-4BD5-8A1F-2BAC69A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Charts must be actual labelled figures in the notebook, not claims that charts exist.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CDC3D0-5C9F-474E-8618-4B67704E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12</a:t>
            </a:r>
          </a:p>
        </p:txBody>
      </p:sp>
    </p:spTree>
    <p:extLst>
      <p:ext uri="{BB962C8B-B14F-4D97-AF65-F5344CB8AC3E}">
        <p14:creationId xmlns:p14="http://schemas.microsoft.com/office/powerpoint/2010/main" val="10936177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978902-00F3-48E0-8B03-66B0CC8E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919FE-530E-4A67-8FA3-D89FF035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F07B7-504B-4B4F-93F6-9AAB2C00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675E6-2EAB-4D27-B262-2E1A3506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2D00D-F072-473C-BF99-CDA6E1A5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captions and readable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415CC-AB8C-4A78-BB88-6075E6ED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79928C-369B-474B-ACEE-9EBAAEC2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Task framing (10.0 total): The ML task is correctly identified, the target named, and regression vs classification correctly chosen and justified.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3FAA1F-12EE-481D-A92F-DEB0FD7E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E4A6E-1CFE-4794-B39E-786B0409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Data preparation &amp; leakage control (20.0 total): Cleaning and encoding appropriate.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42560-1224-4946-9C41-0E45230F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2ACCA-32E7-4972-9E57-457CA8E7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Split made before any fitting.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869C9-0BEC-4865-91DE-D47EB03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13</a:t>
            </a:r>
          </a:p>
        </p:txBody>
      </p:sp>
    </p:spTree>
    <p:extLst>
      <p:ext uri="{BB962C8B-B14F-4D97-AF65-F5344CB8AC3E}">
        <p14:creationId xmlns:p14="http://schemas.microsoft.com/office/powerpoint/2010/main" val="9940262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C57400-F651-4A47-B0B3-B3E2D036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E98B3-22BC-4130-9EEF-ADDC09A9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8A065-BF6A-4BBD-8816-1E13E26D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95C62-AF87-41BF-936C-D7B00C89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8F1E5-6F5D-48C1-881F-211D0D8E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Pipeline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776300-9708-4F62-ACBD-F55555AD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BB979-F978-404A-B466-82400BF8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leakage present - a leak found by the marker caps this criterion at zero.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ABF4A-D6ED-459A-A9DA-531C8F26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F8AB9-CAA4-42F6-A1C3-8F6F8161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Modelling protocol (20.0 total): At least two models built and compared under identical conditions.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6705B-44CE-4ADB-8F75-30DF3716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3E19C1-A1BB-4051-B42B-319BF2B8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Baseline included.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FF3B4F-8574-4BF2-8993-301CD06A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14</a:t>
            </a:r>
          </a:p>
        </p:txBody>
      </p:sp>
    </p:spTree>
    <p:extLst>
      <p:ext uri="{BB962C8B-B14F-4D97-AF65-F5344CB8AC3E}">
        <p14:creationId xmlns:p14="http://schemas.microsoft.com/office/powerpoint/2010/main" val="15789338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3E9F1-C872-4E07-A4BB-0849DAA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2AAFC-3E3A-4007-A069-E9912CDE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49639-8723-470C-8258-D0BCD567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ED831-DA72-4CB5-8B2F-B1144823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0A31C-4257-43A1-BE8F-F6D17F76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Hyperparameters handled sensibly.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AF891-AF4F-49FF-ADD7-27BF95D2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1FF87-F1C6-48FD-87B5-5AD19035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Evaluation &amp; metric justification (20.0 total): Correct metrics computed.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DB2898-4E83-48DC-8FE2-1EDCA0BC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B1C3B4-1481-40DB-B7DA-DCED7F42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Metric choice defended against the cost of error.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4AB04-0ECF-491E-B4F7-E36DBE4C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874B43-F080-44C6-A106-25F94A15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Cross-validation reported with a spread, not a single number.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7DF70-3BFB-4A31-B9C0-21ED38EC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15</a:t>
            </a:r>
          </a:p>
        </p:txBody>
      </p:sp>
    </p:spTree>
    <p:extLst>
      <p:ext uri="{BB962C8B-B14F-4D97-AF65-F5344CB8AC3E}">
        <p14:creationId xmlns:p14="http://schemas.microsoft.com/office/powerpoint/2010/main" val="4634905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0D9FD-6A6B-49C2-8545-BD072C9E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0545CE-D08F-440B-A520-4596F6A8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800A0-DCFF-40C7-A504-2D35CDBF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6F02E-A282-40E5-AEE2-4226FC5D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F473B-EDED-46FA-8CA6-C13144F5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Engineering interpretation &amp; limits (20.0 total): The result is stated in physical or operational units.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4F761-70CA-4F32-BC43-0D547F03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6D3D4-DE4E-45BF-80C6-EE016214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Three genuine limitations given.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EFBC1-3D6A-4FFE-9155-927DEF47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9FE68-9F96-4A32-97E7-FBE423EB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 clear position on whether it should be deployed.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FF4D1-90E2-4DAF-B749-557B700B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D3541-E47B-4382-B8DF-D7C272BF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Code clarity (10.0 total): Runs top to bottom.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79325-F84F-42DB-A87C-7E9E746C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16</a:t>
            </a:r>
          </a:p>
        </p:txBody>
      </p:sp>
    </p:spTree>
    <p:extLst>
      <p:ext uri="{BB962C8B-B14F-4D97-AF65-F5344CB8AC3E}">
        <p14:creationId xmlns:p14="http://schemas.microsoft.com/office/powerpoint/2010/main" val="4672823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AAD7D-A256-4460-9A0E-A85346C8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64233-A51F-4966-8C0D-86C36591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16893-A88B-4ABC-9524-BB09D3C5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3236C-E844-4184-8E80-39B2E642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C89CF-986D-4CA0-AB06-49D73001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Readable.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5F36E-BE91-42D8-A951-8BCB2776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AFA87-430F-413A-9BC3-7C627B5A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Commented where the intent is not obvious.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E90CA-D200-438D-93FD-5FA35431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8ECF9-C1C3-4A9A-AB33-50360FFC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Execution requirement for c2: Data-preparation credit requires the published leakage-safe split check to pass.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9B0D4E-6875-4E92-BCCA-BD4969E4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D41D3-8CA6-4B27-B28B-65A845FB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If this check fails, written marks in that criterion are zero; other criteria remain independently scored.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90ABD-0A81-4CB9-862D-D9E7D564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17</a:t>
            </a:r>
          </a:p>
        </p:txBody>
      </p:sp>
    </p:spTree>
    <p:extLst>
      <p:ext uri="{BB962C8B-B14F-4D97-AF65-F5344CB8AC3E}">
        <p14:creationId xmlns:p14="http://schemas.microsoft.com/office/powerpoint/2010/main" val="20764602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C54F8-2C97-4DC7-98B9-976DF6D0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D6EBE-4F1C-4A75-B0B7-E9DB428B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C2C83-579C-4FB0-AF01-48CEA334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3EEA0-CC6E-484D-897E-9C227236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87A49-2183-43EF-BB2C-A5034114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Timing and Part 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F5824-DC91-4265-87E4-29A2E03E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6E81C-37A0-460D-8F35-4B3B0A5A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 minutes setup, 120 minutes practical, 25 minutes typed offline reasoning with code execution prohibited, 20 minutes collection.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6C05D-6837-461B-B9E9-7DF6F7B2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FAE98D-786A-4411-ACC1-142C5B2E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35450-11AF-4A34-8277-DF54317F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01910C-CD36-469B-929D-74D3A725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Answer: Why your main cleaning/model choice?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6CF2E-A38A-4C5B-8281-A6D0A567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18</a:t>
            </a:r>
          </a:p>
        </p:txBody>
      </p:sp>
    </p:spTree>
    <p:extLst>
      <p:ext uri="{BB962C8B-B14F-4D97-AF65-F5344CB8AC3E}">
        <p14:creationId xmlns:p14="http://schemas.microsoft.com/office/powerpoint/2010/main" val="16367848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2FFCC-2729-4069-922C-F9D799D2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4743D-FF78-47CC-8FC9-EBE6DF62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46118-C4DB-401A-9572-31EF19D6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10F42-2B79-4AB2-8BEB-5E0A01F8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3F5E6-F2BB-44A9-9017-0B93656B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can your chart/metric not establish?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D8313-7CE5-4702-85E0-61D4F6CF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A8172-4277-417D-B8D1-6860696A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evidence would change your recommendation?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A6D8F-4C1C-4714-A98D-79EF13BE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9E28C-066A-4646-816F-A34B4421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further data is required?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E9010B-5060-4422-8452-6AF68CD0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96467-5DE6-4FFE-BB12-03838CAE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Invigilated offline collection is authoritative; Google upload is a later transport step and must not impose an internet requirement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7B698-1ACD-4DED-AE41-2C3908DF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19</a:t>
            </a:r>
          </a:p>
        </p:txBody>
      </p:sp>
    </p:spTree>
    <p:extLst>
      <p:ext uri="{BB962C8B-B14F-4D97-AF65-F5344CB8AC3E}">
        <p14:creationId xmlns:p14="http://schemas.microsoft.com/office/powerpoint/2010/main" val="30431156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583D4-2C87-45DE-A53D-CD8BFA34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527D54-BB46-429D-BF99-3DF3CA5D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ASSIGNMENT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8ADC2-4430-484B-B950-5E4FFE05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CC730-5A96-4277-B293-618D9A97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240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8E476-F6E9-4F41-87F3-1D40092D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24025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Offline invigilated collection is authoritative.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BC3DB-C164-4640-B55D-75FE3868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1744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9D3DC-0C8A-4D3B-A0EE-94E15C95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21744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Google upload is a later transport step.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AC591-C6FC-465C-9E41-478E1612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94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1C6F7-6439-4AA6-89D6-EED021ED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19463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Save one notebook with Part B under My written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5C79E-AE2F-4F3A-8BC0-0152B11F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7181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1CC193-60E5-4346-8737-544E2C30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7181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B1A9D-3CAE-4AC4-BC7C-9CFADE8C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0"/>
            <a:ext cx="110109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AC50F-2EF5-4FE3-8AA6-B6CB15A8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673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E7D6F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8779a69b074c02"/>
              </a:rPr>
              <a:t>Open TEST2 assignment form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FD0302-48E6-49E4-AB1D-8540CF08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https://docs.google.com/forms/d/e/1FAIpQLSeAnqjVsUO288tWRg47SCH61K6pzS7hTyYb40MH5KKd9aPkAA/viewform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3B11D5-2F81-46B7-9A78-A29A3030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CML3113   Week 14   20</a:t>
            </a:r>
          </a:p>
        </p:txBody>
      </p:sp>
    </p:spTree>
    <p:extLst>
      <p:ext uri="{BB962C8B-B14F-4D97-AF65-F5344CB8AC3E}">
        <p14:creationId xmlns:p14="http://schemas.microsoft.com/office/powerpoint/2010/main" val="76669228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C31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4C407-6B53-4599-BCD2-FC8056FF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INDIVIDUAL EXIT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979AF-71E1-4383-A0A2-D5EF9002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Revision and submission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8C5EA-68D4-4262-91F3-799FE5B1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EXPLAIN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86370-ADCF-46FC-BB78-B66D7787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95525"/>
            <a:ext cx="1081087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 can explain training-only preprocessing and locate your saved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your work and check the required submission files.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11388-B08B-49CE-A204-8BA7C76F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91200"/>
            <a:ext cx="10810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Point to your evidence. Save your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D477BD-B1C0-45C5-8993-26DA7CF9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CML3113   Week 14   21</a:t>
            </a:r>
          </a:p>
        </p:txBody>
      </p:sp>
    </p:spTree>
    <p:extLst>
      <p:ext uri="{BB962C8B-B14F-4D97-AF65-F5344CB8AC3E}">
        <p14:creationId xmlns:p14="http://schemas.microsoft.com/office/powerpoint/2010/main" val="1720075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2026-09-28T21:44:26.2480000Z</dcterms:created>
  <dcterms:modified xsi:type="dcterms:W3CDTF">2026-09-28T21:44:26.2480000Z</dcterms:modified>
</coreProperties>
</file>