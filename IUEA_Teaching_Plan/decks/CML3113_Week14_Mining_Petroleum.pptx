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the briefing for Practical Test 2 and it is issued with the Week 13 material, a week before the test. Read all of it. Everything about the format, the rules, the timing, the tasks and the rubric is here, so nothing in the room should surprise you.</a:t>
            </a:r>
          </a:p>
          <a:p/>
          <a:p>
            <a:r>
              <a:t>The last section is revision covering Weeks 8 to 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offline bundle including the scikit-learn documentation is deliberate. You are not being tested on whether you remember that the argument is called min_samples_leaf; you are being tested on whether you know why you would change it.</a:t>
            </a:r>
          </a:p>
          <a:p/>
          <a:p>
            <a:r>
              <a:t>The two parts are collected separately and marked separately. Part B carries the reasoning marks and it has no computer, so a strong Part A with an empty Part B loses a large amount.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takes the full fifteen minutes and it is not part of your working time. Machine allocation, variant distribution and the rules being read out all happen before the clock starts on Part A.</a:t>
            </a:r>
          </a:p>
          <a:p/>
          <a:p>
            <a:r>
              <a:t>Time calls are read out at 60, 30 and 10 minutes remaining in Part A. There is no break between Part A and Part B, so eat before you come.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notes are permitted deliberately. The cheat-sheet slides from Weeks 8 to 13 were written to be printed and used, and bringing them is the intended behaviour rather than a loophole.</a:t>
            </a:r>
          </a:p>
          <a:p/>
          <a:p>
            <a:r>
              <a:t>On submission: save early and save often into the drop folder. A file saved at minute 40 and again at minute 90 protects you against losing the last stretch of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that only two of the six tasks are modelling. Tasks 1, 2, 5 and 6 are framing, preparation, interpretation and limits, and together they carry more marks than the modelling does.</a:t>
            </a:r>
          </a:p>
          <a:p/>
          <a:p>
            <a:r>
              <a:t>Task 3 says at least two models. Two models compared honestly under one protocol score far better than five models compared carelessly, and a third model is worth adding only when the first two are properly done.</a:t>
            </a:r>
          </a:p>
          <a:p/>
          <a:p>
            <a:r>
              <a:t>Task 6 is the one candidates run out of time for, which is why the suggested plan later in this deck puts it before the last of the modelling.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is answered about your own work, so it cannot be prepared in advance in any detail. What you can do is practise the four questions on your project model this week, because the shape of the answer is the same.</a:t>
            </a:r>
          </a:p>
          <a:p/>
          <a:p>
            <a:r>
              <a:t>Question 4 has no expected answer. A well-reasoned refusal to deploy scores as highly as a well-reasoned deployment, and a position with no conditions attached scores poorly either way.</a:t>
            </a:r>
          </a:p>
          <a:p/>
          <a:p>
            <a:r>
              <a:t>Write Part B even if Part A went badly. The marks are separate, and a candidate who can explain what went wrong recovers a large part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up evaluation and interpretation: they carry 40 marks between them, and the accuracy your model achieves carries none of them on its own. A candidate whose model scores modestly and who explains honestly what it can and cannot do will beat a candidate with a better score and no interpretation.</a:t>
            </a:r>
          </a:p>
          <a:p/>
          <a:p>
            <a:r>
              <a:t>Code clarity is 10 marks that cost you nothing if you did Week 13 properly: relative paths, a named seed, and Restart and Run All before you submit.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valuable habit for this test is filling in the answers cell as you go. Those 45 marks are the easiest in the paper and they are the ones most often lost, because candidates leave the cell blank while they chase a better score and then run out of time.</a:t>
            </a:r>
          </a:p>
          <a:p/>
          <a:p>
            <a:r>
              <a:t>The keys have to be exactly as given, because a script reads them. A misspelled key returns nothing for that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keys are printed on your task sheet on the day, and they will match this list. Practise filling one in on your project notebook this week, because the habit of writing to it while you work is what protects those marks.</a:t>
            </a:r>
          </a:p>
          <a:p/>
          <a:p>
            <a:r>
              <a:t>On 'metric_reason': a short string is enough. 'false negative costs a gearbox' scores; 'best metric' does not.</a:t>
            </a:r>
          </a:p>
          <a:p/>
          <a:p>
            <a:r>
              <a:t>On 'limitations': three short strings, each naming something specific about your own data. Generic statements about machine learning score nothing.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plan is a suggestion and it is the one that has worked. The important feature is that the limitations are written at 1:25 rather than at 1:55, because they carry 20 marks and a third model carries almost none.</a:t>
            </a:r>
          </a:p>
          <a:p/>
          <a:p>
            <a:r>
              <a:t>The other important feature is that the metric is named at 0:40, before any model is fitted. Choosing the metric after seeing the scores means choosing the one that flatters the model you already liked, and the rubric asks for the consequence that chose it.</a:t>
            </a:r>
          </a:p>
          <a:p/>
          <a:p>
            <a:r>
              <a:t>Leave the last fifteen minutes alone. Restart and Run All will find something, and you want time to fix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fourth items are the ones worth remembering, because they turn a bad run into a mediocre one instead of a failure. A written diagnosis of your own mistake is worth real marks; silence about it is worth none.</a:t>
            </a:r>
          </a:p>
          <a:p/>
          <a:p>
            <a:r>
              <a:t>The fifth is the most common error in test technique. Candidates spend the Part B time trying to rescue Part A and lose the easier 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 of this deck is written to be studied from. Two summary slides covering Weeks 8 to 13, a five-question self-test with worked answers, a glossary of the terms the test uses, and a one-page reference.</a:t>
            </a:r>
          </a:p>
          <a:p/>
          <a:p>
            <a:r>
              <a:t>The most effective preparation is redoing a past practical on a different dataset under the clock. Rereading these slides is the least effective.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statements covering the machine learning core. The fifth and the eighth are the two most likely to appear in Part B, because both of them ask you to notice something that a score alone will not tell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statements covering Block 4 and the studio week. The fifth and the sixth are worth writing out at the top of your notebook on the day, because between them they secure a large part of the modelling protocol marks before you fit anything.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D is the one candidates answer generically and lose marks on. A limitation has to come from your own data: the range it covers, the period it was collected in, the conditions it was measured under. 'Machine learning cannot extrapolate' is a statement about the field rather than about your dataset.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 is the shape of a full-mark Part B answer, and the shape matters more than the position. A confident 'yes' with no conditions and a confident 'no' with no reasons both score poorly; either position with the conditions attached scores well.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terms and all of them appear in the rubric or in Part B. If any of them is unfamiliar, go back to the week it came from rather than rereading this list.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slide and bring it. Paper notes are permitted, and the two lines that will earn you the most are the protocol line and the 1:25 line.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preparation available to you is to redo a past practical on a different dataset, under the clock, with the answers cell open beside you. Two hours of that is worth more than a week of rereading.</a:t>
            </a:r>
          </a:p>
          <a:p/>
          <a:p>
            <a:r>
              <a:t>After the test, Week 15 is Demo Day. Your repository, two-page brief, poster, AI-use declaration, contribution log and 500-word reflection are all due at the start of that session, and there is no teaching session in between, so draft the brief and the poster this week.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CML3113</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Practical Test 2</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End-to-end engineering machine learning · what it is, how it runs, how it is marked</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14  ·  Fri 11 December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Friday 08:00–11:00 · Room 105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FORMAT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this test is</a:t>
            </a:r>
          </a:p>
        </p:txBody>
      </p:sp>
      <p:sp>
        <p:nvSpPr>
          <p:cNvPr id="4" name="Rounded Rectangle 3"/>
          <p:cNvSpPr/>
          <p:nvPr/>
        </p:nvSpPr>
        <p:spPr>
          <a:xfrm>
            <a:off x="685800" y="1911095"/>
            <a:ext cx="10820095" cy="1633460"/>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2416" y="263638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029967"/>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Individual, offline, on a laboratory machine</a:t>
            </a:r>
          </a:p>
        </p:txBody>
      </p:sp>
      <p:sp>
        <p:nvSpPr>
          <p:cNvPr id="7" name="TextBox 6"/>
          <p:cNvSpPr txBox="1"/>
          <p:nvPr/>
        </p:nvSpPr>
        <p:spPr>
          <a:xfrm>
            <a:off x="1554480" y="2423159"/>
            <a:ext cx="9631375" cy="1029956"/>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No internet, no AI assistants, no messaging. The offline documentation bundle is on every machine and it includes the scikit-learn API reference, because this test examines your judgement rather than your memory of parameter names.</a:t>
            </a:r>
          </a:p>
        </p:txBody>
      </p:sp>
      <p:sp>
        <p:nvSpPr>
          <p:cNvPr id="8" name="Rounded Rectangle 7"/>
          <p:cNvSpPr/>
          <p:nvPr/>
        </p:nvSpPr>
        <p:spPr>
          <a:xfrm>
            <a:off x="685800" y="3599420"/>
            <a:ext cx="10820095" cy="1318393"/>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2416" y="416717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3718292"/>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Two hours of practical, then twenty-five minutes of writing</a:t>
            </a:r>
          </a:p>
        </p:txBody>
      </p:sp>
      <p:sp>
        <p:nvSpPr>
          <p:cNvPr id="11" name="TextBox 10"/>
          <p:cNvSpPr txBox="1"/>
          <p:nvPr/>
        </p:nvSpPr>
        <p:spPr>
          <a:xfrm>
            <a:off x="1554480" y="4111484"/>
            <a:ext cx="9631375" cy="714889"/>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Part A is an end-to-end piece of work on a dataset from your own discipline that you have never seen. Part B is four written questions with no computer, and it is collected separately.</a:t>
            </a:r>
          </a:p>
        </p:txBody>
      </p:sp>
      <p:sp>
        <p:nvSpPr>
          <p:cNvPr id="12" name="Rounded Rectangle 11"/>
          <p:cNvSpPr/>
          <p:nvPr/>
        </p:nvSpPr>
        <p:spPr>
          <a:xfrm>
            <a:off x="685800" y="4972678"/>
            <a:ext cx="10820095" cy="1318393"/>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42416" y="554043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54480" y="5091550"/>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Worth 20 per cent of the semester mark</a:t>
            </a:r>
          </a:p>
        </p:txBody>
      </p:sp>
      <p:sp>
        <p:nvSpPr>
          <p:cNvPr id="15" name="TextBox 14"/>
          <p:cNvSpPr txBox="1"/>
          <p:nvPr/>
        </p:nvSpPr>
        <p:spPr>
          <a:xfrm>
            <a:off x="1554480" y="5484742"/>
            <a:ext cx="9631375" cy="714889"/>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Only the ML project carries more. Weeks 8 to 13 are what is examined, and there are no new concepts in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THREE HOURS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the session runs</a:t>
            </a:r>
          </a:p>
        </p:txBody>
      </p:sp>
      <p:pic>
        <p:nvPicPr>
          <p:cNvPr id="4" name="Picture 3" descr="clock_w14.png"/>
          <p:cNvPicPr>
            <a:picLocks noChangeAspect="1"/>
          </p:cNvPicPr>
          <p:nvPr/>
        </p:nvPicPr>
        <p:blipFill>
          <a:blip r:embed="rId2"/>
          <a:stretch>
            <a:fillRect/>
          </a:stretch>
        </p:blipFill>
        <p:spPr>
          <a:xfrm>
            <a:off x="1058400" y="1911095"/>
            <a:ext cx="1007489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minutes of setup, two hours of practical, twenty-five minutes of written reasoning, twenty minutes to collect and check. The clock is on the wall and the time calls are read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READ THIS BEFORE THE DAY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rules</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Bring</a:t>
            </a:r>
          </a:p>
        </p:txBody>
      </p:sp>
      <p:sp>
        <p:nvSpPr>
          <p:cNvPr id="5" name="TextBox 4"/>
          <p:cNvSpPr txBox="1"/>
          <p:nvPr/>
        </p:nvSpPr>
        <p:spPr>
          <a:xfrm>
            <a:off x="685800" y="235262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Your student card, a pen, and the one-page cheat sheets from Weeks 8 to 13 if you printed them. Paper notes are permitted.</a:t>
            </a:r>
          </a:p>
        </p:txBody>
      </p:sp>
      <p:sp>
        <p:nvSpPr>
          <p:cNvPr id="6" name="TextBox 5"/>
          <p:cNvSpPr txBox="1"/>
          <p:nvPr/>
        </p:nvSpPr>
        <p:spPr>
          <a:xfrm>
            <a:off x="685800" y="3646478"/>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The machine is offline and stays offline</a:t>
            </a:r>
          </a:p>
        </p:txBody>
      </p:sp>
      <p:sp>
        <p:nvSpPr>
          <p:cNvPr id="7" name="TextBox 6"/>
          <p:cNvSpPr txBox="1"/>
          <p:nvPr/>
        </p:nvSpPr>
        <p:spPr>
          <a:xfrm>
            <a:off x="685800" y="4088012"/>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network is physically disconnected. Attempting to reconnect it is treated as academic misconduct.</a:t>
            </a:r>
          </a:p>
        </p:txBody>
      </p:sp>
      <p:sp>
        <p:nvSpPr>
          <p:cNvPr id="8" name="TextBox 7"/>
          <p:cNvSpPr txBox="1"/>
          <p:nvPr/>
        </p:nvSpPr>
        <p:spPr>
          <a:xfrm>
            <a:off x="685800" y="504506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Permitted on the machine</a:t>
            </a:r>
          </a:p>
        </p:txBody>
      </p:sp>
      <p:sp>
        <p:nvSpPr>
          <p:cNvPr id="9" name="TextBox 8"/>
          <p:cNvSpPr txBox="1"/>
          <p:nvPr/>
        </p:nvSpPr>
        <p:spPr>
          <a:xfrm>
            <a:off x="685800" y="548659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Python, Jupyter or VS Code, pandas, NumPy, matplotlib, seaborn, scikit-learn, and the offline documentation bundle.</a:t>
            </a:r>
          </a:p>
        </p:txBody>
      </p:sp>
      <p:sp>
        <p:nvSpPr>
          <p:cNvPr id="10" name="TextBox 9"/>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Prohibited</a:t>
            </a:r>
          </a:p>
        </p:txBody>
      </p:sp>
      <p:sp>
        <p:nvSpPr>
          <p:cNvPr id="11" name="TextBox 10"/>
          <p:cNvSpPr txBox="1"/>
          <p:nvPr/>
        </p:nvSpPr>
        <p:spPr>
          <a:xfrm>
            <a:off x="6347307" y="235262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Internet, AI assistants, phones, messaging, and any file brought in on a drive. Phones go in your bag at the front of the room.</a:t>
            </a:r>
          </a:p>
        </p:txBody>
      </p:sp>
      <p:sp>
        <p:nvSpPr>
          <p:cNvPr id="12" name="TextBox 11"/>
          <p:cNvSpPr txBox="1"/>
          <p:nvPr/>
        </p:nvSpPr>
        <p:spPr>
          <a:xfrm>
            <a:off x="6347307" y="3646478"/>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Your work is individual</a:t>
            </a:r>
          </a:p>
        </p:txBody>
      </p:sp>
      <p:sp>
        <p:nvSpPr>
          <p:cNvPr id="13" name="TextBox 12"/>
          <p:cNvSpPr txBox="1"/>
          <p:nvPr/>
        </p:nvSpPr>
        <p:spPr>
          <a:xfrm>
            <a:off x="6347307" y="4088012"/>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This is not a team assessment. Two scripts that share a distinctive error are both investigated.</a:t>
            </a:r>
          </a:p>
        </p:txBody>
      </p:sp>
      <p:sp>
        <p:nvSpPr>
          <p:cNvPr id="14" name="TextBox 13"/>
          <p:cNvSpPr txBox="1"/>
          <p:nvPr/>
        </p:nvSpPr>
        <p:spPr>
          <a:xfrm>
            <a:off x="6347307" y="504506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Submission</a:t>
            </a:r>
          </a:p>
        </p:txBody>
      </p:sp>
      <p:sp>
        <p:nvSpPr>
          <p:cNvPr id="15" name="TextBox 14"/>
          <p:cNvSpPr txBox="1"/>
          <p:nvPr/>
        </p:nvSpPr>
        <p:spPr>
          <a:xfrm>
            <a:off x="6347307" y="548659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Save into the drop folder named for your seat, with your student number in the filename. Part B is handed in on paper.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PRACTICAL — 2 HOURS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Part A — the six things you are asked to do</a:t>
            </a:r>
          </a:p>
        </p:txBody>
      </p:sp>
      <p:sp>
        <p:nvSpPr>
          <p:cNvPr id="4" name="TextBox 3"/>
          <p:cNvSpPr txBox="1"/>
          <p:nvPr/>
        </p:nvSpPr>
        <p:spPr>
          <a:xfrm>
            <a:off x="685800" y="1911095"/>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1 · State the task and name the target</a:t>
            </a:r>
          </a:p>
        </p:txBody>
      </p:sp>
      <p:sp>
        <p:nvSpPr>
          <p:cNvPr id="5" name="TextBox 4"/>
          <p:cNvSpPr txBox="1"/>
          <p:nvPr/>
        </p:nvSpPr>
        <p:spPr>
          <a:xfrm>
            <a:off x="685800" y="2311898"/>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Regression or classification, the target column and its unit, and one sentence on what decision the prediction would support.</a:t>
            </a:r>
          </a:p>
        </p:txBody>
      </p:sp>
      <p:sp>
        <p:nvSpPr>
          <p:cNvPr id="6" name="TextBox 5"/>
          <p:cNvSpPr txBox="1"/>
          <p:nvPr/>
        </p:nvSpPr>
        <p:spPr>
          <a:xfrm>
            <a:off x="685800" y="3165323"/>
            <a:ext cx="5158587" cy="728453"/>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2 · Prepare the data, with a justified decision for every defect</a:t>
            </a:r>
          </a:p>
        </p:txBody>
      </p:sp>
      <p:sp>
        <p:nvSpPr>
          <p:cNvPr id="7" name="TextBox 6"/>
          <p:cNvSpPr txBox="1"/>
          <p:nvPr/>
        </p:nvSpPr>
        <p:spPr>
          <a:xfrm>
            <a:off x="685800" y="3902920"/>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Profile it first. One sentence per cleaning decision. Report how many rows you dropped and what proportion that was.</a:t>
            </a:r>
          </a:p>
        </p:txBody>
      </p:sp>
      <p:sp>
        <p:nvSpPr>
          <p:cNvPr id="8" name="TextBox 7"/>
          <p:cNvSpPr txBox="1"/>
          <p:nvPr/>
        </p:nvSpPr>
        <p:spPr>
          <a:xfrm>
            <a:off x="685800" y="4756344"/>
            <a:ext cx="5158587" cy="728453"/>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3 · Build at least two models inside a leak-proof pipeline</a:t>
            </a:r>
          </a:p>
        </p:txBody>
      </p:sp>
      <p:sp>
        <p:nvSpPr>
          <p:cNvPr id="9" name="TextBox 8"/>
          <p:cNvSpPr txBox="1"/>
          <p:nvPr/>
        </p:nvSpPr>
        <p:spPr>
          <a:xfrm>
            <a:off x="685800" y="5493942"/>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Preprocessing inside the Pipeline. State the four things you held constant and the seed you used.</a:t>
            </a:r>
          </a:p>
        </p:txBody>
      </p:sp>
      <p:sp>
        <p:nvSpPr>
          <p:cNvPr id="10" name="TextBox 9"/>
          <p:cNvSpPr txBox="1"/>
          <p:nvPr/>
        </p:nvSpPr>
        <p:spPr>
          <a:xfrm>
            <a:off x="6347307" y="1911095"/>
            <a:ext cx="5158587" cy="728453"/>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4 · Evaluate with a justified metric, and validate properly</a:t>
            </a:r>
          </a:p>
        </p:txBody>
      </p:sp>
      <p:sp>
        <p:nvSpPr>
          <p:cNvPr id="11" name="TextBox 10"/>
          <p:cNvSpPr txBox="1"/>
          <p:nvPr/>
        </p:nvSpPr>
        <p:spPr>
          <a:xfrm>
            <a:off x="6347307" y="2648693"/>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Name the metric before you look at any result, and say what consequence chose it. Report the mean and the spread across folds.</a:t>
            </a:r>
          </a:p>
        </p:txBody>
      </p:sp>
      <p:sp>
        <p:nvSpPr>
          <p:cNvPr id="12" name="TextBox 11"/>
          <p:cNvSpPr txBox="1"/>
          <p:nvPr/>
        </p:nvSpPr>
        <p:spPr>
          <a:xfrm>
            <a:off x="6347307" y="3502117"/>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5 · Report the result in physical or operational units</a:t>
            </a:r>
          </a:p>
        </p:txBody>
      </p:sp>
      <p:sp>
        <p:nvSpPr>
          <p:cNvPr id="13" name="TextBox 12"/>
          <p:cNvSpPr txBox="1"/>
          <p:nvPr/>
        </p:nvSpPr>
        <p:spPr>
          <a:xfrm>
            <a:off x="6347307" y="3902920"/>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A number with a unit and a sentence an engineer could act on. percentage points for a silica in the concentrate, or a rate with the cost of each kind of mistake beside it.</a:t>
            </a:r>
          </a:p>
        </p:txBody>
      </p:sp>
      <p:sp>
        <p:nvSpPr>
          <p:cNvPr id="14" name="TextBox 13"/>
          <p:cNvSpPr txBox="1"/>
          <p:nvPr/>
        </p:nvSpPr>
        <p:spPr>
          <a:xfrm>
            <a:off x="6347307" y="5041324"/>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6 · State three limitations</a:t>
            </a:r>
          </a:p>
        </p:txBody>
      </p:sp>
      <p:sp>
        <p:nvSpPr>
          <p:cNvPr id="15" name="TextBox 14"/>
          <p:cNvSpPr txBox="1"/>
          <p:nvPr/>
        </p:nvSpPr>
        <p:spPr>
          <a:xfrm>
            <a:off x="6347307" y="5442127"/>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What the data cannot support, what conditions the model holds under, and what you would need in order to do better.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WRITTEN REASONING — 25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Part B — the four written questions</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No computer, twenty-five minutes, on paper</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You answer about the work you have just done. The questions are the same for every variant.</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1 · Why this metric?</a:t>
            </a:r>
          </a:p>
        </p:txBody>
      </p:sp>
      <p:sp>
        <p:nvSpPr>
          <p:cNvPr id="7" name="TextBox 6"/>
          <p:cNvSpPr txBox="1"/>
          <p:nvPr/>
        </p:nvSpPr>
        <p:spPr>
          <a:xfrm>
            <a:off x="685800" y="3612952"/>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Name the metric you used and the engineering consequence that chose it. Say what a different metric would have optimised instead.</a:t>
            </a:r>
          </a:p>
        </p:txBody>
      </p:sp>
      <p:sp>
        <p:nvSpPr>
          <p:cNvPr id="8" name="TextBox 7"/>
          <p:cNvSpPr txBox="1"/>
          <p:nvPr/>
        </p:nvSpPr>
        <p:spPr>
          <a:xfrm>
            <a:off x="685800" y="4790218"/>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2 · Where could this pipeline leak?</a:t>
            </a:r>
          </a:p>
        </p:txBody>
      </p:sp>
      <p:sp>
        <p:nvSpPr>
          <p:cNvPr id="9" name="TextBox 8"/>
          <p:cNvSpPr txBox="1"/>
          <p:nvPr/>
        </p:nvSpPr>
        <p:spPr>
          <a:xfrm>
            <a:off x="685800" y="5201480"/>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Name the most likely leak in your own workflow, say which of the four kinds it is, and say how you ruled it out.</a:t>
            </a:r>
          </a:p>
        </p:txBody>
      </p:sp>
      <p:sp>
        <p:nvSpPr>
          <p:cNvPr id="10" name="TextBox 9"/>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3 · What would change your recommendation?</a:t>
            </a:r>
          </a:p>
        </p:txBody>
      </p:sp>
      <p:sp>
        <p:nvSpPr>
          <p:cNvPr id="11" name="TextBox 10"/>
          <p:cNvSpPr txBox="1"/>
          <p:nvPr/>
        </p:nvSpPr>
        <p:spPr>
          <a:xfrm>
            <a:off x="6347307"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A change in the data, the plant or the conditions of use. Be specific about the change and about what you would do.</a:t>
            </a:r>
          </a:p>
        </p:txBody>
      </p:sp>
      <p:sp>
        <p:nvSpPr>
          <p:cNvPr id="12" name="TextBox 11"/>
          <p:cNvSpPr txBox="1"/>
          <p:nvPr/>
        </p:nvSpPr>
        <p:spPr>
          <a:xfrm>
            <a:off x="6347307" y="3201690"/>
            <a:ext cx="5158587" cy="749373"/>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4 · Would you deploy this, and what would you require first?</a:t>
            </a:r>
          </a:p>
        </p:txBody>
      </p:sp>
      <p:sp>
        <p:nvSpPr>
          <p:cNvPr id="13" name="TextBox 12"/>
          <p:cNvSpPr txBox="1"/>
          <p:nvPr/>
        </p:nvSpPr>
        <p:spPr>
          <a:xfrm>
            <a:off x="6347307" y="3960207"/>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A clear position, with the conditions attached. 'No, and here is what I would need' is a full-mark answer when the reasons are right.</a:t>
            </a:r>
          </a:p>
        </p:txBody>
      </p:sp>
      <p:sp>
        <p:nvSpPr>
          <p:cNvPr id="14" name="TextBox 13"/>
          <p:cNvSpPr txBox="1"/>
          <p:nvPr/>
        </p:nvSpPr>
        <p:spPr>
          <a:xfrm>
            <a:off x="6347307" y="5137472"/>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How long each answer should be</a:t>
            </a:r>
          </a:p>
        </p:txBody>
      </p:sp>
      <p:sp>
        <p:nvSpPr>
          <p:cNvPr id="15" name="TextBox 14"/>
          <p:cNvSpPr txBox="1"/>
          <p:nvPr/>
        </p:nvSpPr>
        <p:spPr>
          <a:xfrm>
            <a:off x="6347307" y="5548735"/>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Five or six sentences. Twenty-five minutes across four questions is about six minutes each, so write in short declarative sentences.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PUBLISHED IN WEEK 11</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rubric, out of 100</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Task framing — 10</a:t>
            </a:r>
          </a:p>
        </p:txBody>
      </p:sp>
      <p:sp>
        <p:nvSpPr>
          <p:cNvPr id="5" name="TextBox 4"/>
          <p:cNvSpPr txBox="1"/>
          <p:nvPr/>
        </p:nvSpPr>
        <p:spPr>
          <a:xfrm>
            <a:off x="685800"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task named correctly, the target named with its unit, and the decision the prediction would support.</a:t>
            </a:r>
          </a:p>
        </p:txBody>
      </p:sp>
      <p:sp>
        <p:nvSpPr>
          <p:cNvPr id="6" name="TextBox 5"/>
          <p:cNvSpPr txBox="1"/>
          <p:nvPr/>
        </p:nvSpPr>
        <p:spPr>
          <a:xfrm>
            <a:off x="685800" y="3309683"/>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Data preparation and leakage control — 20</a:t>
            </a:r>
          </a:p>
        </p:txBody>
      </p:sp>
      <p:sp>
        <p:nvSpPr>
          <p:cNvPr id="7" name="TextBox 6"/>
          <p:cNvSpPr txBox="1"/>
          <p:nvPr/>
        </p:nvSpPr>
        <p:spPr>
          <a:xfrm>
            <a:off x="685800" y="3751217"/>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Profiling done, each decision justified, preprocessing inside the Pipeline, and the timing question asked of every column.</a:t>
            </a:r>
          </a:p>
        </p:txBody>
      </p:sp>
      <p:sp>
        <p:nvSpPr>
          <p:cNvPr id="8" name="TextBox 7"/>
          <p:cNvSpPr txBox="1"/>
          <p:nvPr/>
        </p:nvSpPr>
        <p:spPr>
          <a:xfrm>
            <a:off x="685800" y="504506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Modelling protocol — 20</a:t>
            </a:r>
          </a:p>
        </p:txBody>
      </p:sp>
      <p:sp>
        <p:nvSpPr>
          <p:cNvPr id="9" name="TextBox 8"/>
          <p:cNvSpPr txBox="1"/>
          <p:nvPr/>
        </p:nvSpPr>
        <p:spPr>
          <a:xfrm>
            <a:off x="685800" y="548659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At least two models, one protocol, the constants and the seed stated, and the test set spent once.</a:t>
            </a:r>
          </a:p>
        </p:txBody>
      </p:sp>
      <p:sp>
        <p:nvSpPr>
          <p:cNvPr id="10" name="TextBox 9"/>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Evaluation and metric justification — 20</a:t>
            </a:r>
          </a:p>
        </p:txBody>
      </p:sp>
      <p:sp>
        <p:nvSpPr>
          <p:cNvPr id="11" name="TextBox 10"/>
          <p:cNvSpPr txBox="1"/>
          <p:nvPr/>
        </p:nvSpPr>
        <p:spPr>
          <a:xfrm>
            <a:off x="6347307"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metric chosen before the results and justified by a consequence, with the mean and the spread reported.</a:t>
            </a:r>
          </a:p>
        </p:txBody>
      </p:sp>
      <p:sp>
        <p:nvSpPr>
          <p:cNvPr id="12" name="TextBox 11"/>
          <p:cNvSpPr txBox="1"/>
          <p:nvPr/>
        </p:nvSpPr>
        <p:spPr>
          <a:xfrm>
            <a:off x="6347307" y="3309683"/>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Engineering interpretation and limits — 20</a:t>
            </a:r>
          </a:p>
        </p:txBody>
      </p:sp>
      <p:sp>
        <p:nvSpPr>
          <p:cNvPr id="13" name="TextBox 12"/>
          <p:cNvSpPr txBox="1"/>
          <p:nvPr/>
        </p:nvSpPr>
        <p:spPr>
          <a:xfrm>
            <a:off x="6347307" y="3751217"/>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result stated in physical or operational units, and three limitations that follow from your own data.</a:t>
            </a:r>
          </a:p>
        </p:txBody>
      </p:sp>
      <p:sp>
        <p:nvSpPr>
          <p:cNvPr id="14" name="TextBox 13"/>
          <p:cNvSpPr txBox="1"/>
          <p:nvPr/>
        </p:nvSpPr>
        <p:spPr>
          <a:xfrm>
            <a:off x="6347307" y="4708270"/>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Code clarity — 10</a:t>
            </a:r>
          </a:p>
        </p:txBody>
      </p:sp>
      <p:sp>
        <p:nvSpPr>
          <p:cNvPr id="15" name="TextBox 14"/>
          <p:cNvSpPr txBox="1"/>
          <p:nvPr/>
        </p:nvSpPr>
        <p:spPr>
          <a:xfrm>
            <a:off x="6347307" y="5149804"/>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It runs top to bottom from a clean kernel. Relative paths, a named seed, and cells in a readable order.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IT IS MARKED</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the marks come from</a:t>
            </a:r>
          </a:p>
        </p:txBody>
      </p:sp>
      <p:sp>
        <p:nvSpPr>
          <p:cNvPr id="4" name="TextBox 3"/>
          <p:cNvSpPr txBox="1"/>
          <p:nvPr/>
        </p:nvSpPr>
        <p:spPr>
          <a:xfrm>
            <a:off x="685800" y="1911095"/>
            <a:ext cx="5158587" cy="728453"/>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45 of the 100 marks are read from a structured answers cell</a:t>
            </a:r>
          </a:p>
        </p:txBody>
      </p:sp>
      <p:sp>
        <p:nvSpPr>
          <p:cNvPr id="5" name="TextBox 4"/>
          <p:cNvSpPr txBox="1"/>
          <p:nvPr/>
        </p:nvSpPr>
        <p:spPr>
          <a:xfrm>
            <a:off x="685800" y="2648693"/>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One cell at the bottom of your notebook, filled in as you go. It is read by a script, so the keys have to be exactly as given.</a:t>
            </a:r>
          </a:p>
        </p:txBody>
      </p:sp>
      <p:sp>
        <p:nvSpPr>
          <p:cNvPr id="6" name="TextBox 5"/>
          <p:cNvSpPr txBox="1"/>
          <p:nvPr/>
        </p:nvSpPr>
        <p:spPr>
          <a:xfrm>
            <a:off x="685800" y="3502117"/>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Which marks those are</a:t>
            </a:r>
          </a:p>
        </p:txBody>
      </p:sp>
      <p:sp>
        <p:nvSpPr>
          <p:cNvPr id="7" name="TextBox 6"/>
          <p:cNvSpPr txBox="1"/>
          <p:nvPr/>
        </p:nvSpPr>
        <p:spPr>
          <a:xfrm>
            <a:off x="685800" y="3902920"/>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Task framing, the metric you named, your reported scores and spreads, the seed, the row counts you dropped, and your three limitations as short strings.</a:t>
            </a:r>
          </a:p>
        </p:txBody>
      </p:sp>
      <p:sp>
        <p:nvSpPr>
          <p:cNvPr id="8" name="TextBox 7"/>
          <p:cNvSpPr txBox="1"/>
          <p:nvPr/>
        </p:nvSpPr>
        <p:spPr>
          <a:xfrm>
            <a:off x="685800" y="5041324"/>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Why it works this way</a:t>
            </a:r>
          </a:p>
        </p:txBody>
      </p:sp>
      <p:sp>
        <p:nvSpPr>
          <p:cNvPr id="9" name="TextBox 8"/>
          <p:cNvSpPr txBox="1"/>
          <p:nvPr/>
        </p:nvSpPr>
        <p:spPr>
          <a:xfrm>
            <a:off x="685800" y="5442127"/>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So that your framing, your metric choice and your limits are collected from a form rather than hunted for in forty cells. It also means they are marked the same way for everybody.</a:t>
            </a:r>
          </a:p>
        </p:txBody>
      </p:sp>
      <p:sp>
        <p:nvSpPr>
          <p:cNvPr id="10" name="TextBox 9"/>
          <p:cNvSpPr txBox="1"/>
          <p:nvPr/>
        </p:nvSpPr>
        <p:spPr>
          <a:xfrm>
            <a:off x="6347307" y="1911095"/>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The other 55 marks are marked by me</a:t>
            </a:r>
          </a:p>
        </p:txBody>
      </p:sp>
      <p:sp>
        <p:nvSpPr>
          <p:cNvPr id="11" name="TextBox 10"/>
          <p:cNvSpPr txBox="1"/>
          <p:nvPr/>
        </p:nvSpPr>
        <p:spPr>
          <a:xfrm>
            <a:off x="6347307" y="2311898"/>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Your justifications, your pipeline, your charts, your interpretation, and Part B. Those need reading and they get read.</a:t>
            </a:r>
          </a:p>
        </p:txBody>
      </p:sp>
      <p:sp>
        <p:nvSpPr>
          <p:cNvPr id="12" name="TextBox 11"/>
          <p:cNvSpPr txBox="1"/>
          <p:nvPr/>
        </p:nvSpPr>
        <p:spPr>
          <a:xfrm>
            <a:off x="6347307" y="3165323"/>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Fill the cell in as you go, never at the end</a:t>
            </a:r>
          </a:p>
        </p:txBody>
      </p:sp>
      <p:sp>
        <p:nvSpPr>
          <p:cNvPr id="13" name="TextBox 12"/>
          <p:cNvSpPr txBox="1"/>
          <p:nvPr/>
        </p:nvSpPr>
        <p:spPr>
          <a:xfrm>
            <a:off x="6347307" y="3566125"/>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A candidate who leaves it until the last ten minutes loses marks they had already earned. Put the cell in place at minute five and add to it.</a:t>
            </a:r>
          </a:p>
        </p:txBody>
      </p:sp>
      <p:sp>
        <p:nvSpPr>
          <p:cNvPr id="14" name="TextBox 13"/>
          <p:cNvSpPr txBox="1"/>
          <p:nvPr/>
        </p:nvSpPr>
        <p:spPr>
          <a:xfrm>
            <a:off x="6347307" y="4704530"/>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A structural check runs first</a:t>
            </a:r>
          </a:p>
        </p:txBody>
      </p:sp>
      <p:sp>
        <p:nvSpPr>
          <p:cNvPr id="15" name="TextBox 14"/>
          <p:cNvSpPr txBox="1"/>
          <p:nvPr/>
        </p:nvSpPr>
        <p:spPr>
          <a:xfrm>
            <a:off x="6347307" y="5105332"/>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It confirms the notebook runs top to bottom, that the required sections are present and that nothing tried to reach the network. Failing it costs code clarity marks.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45 OF THE 100 MARKS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structured answers cell</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How it works</a:t>
            </a:r>
          </a:p>
        </p:txBody>
      </p:sp>
      <p:sp>
        <p:nvSpPr>
          <p:cNvPr id="5" name="TextBox 4"/>
          <p:cNvSpPr txBox="1"/>
          <p:nvPr/>
        </p:nvSpPr>
        <p:spPr>
          <a:xfrm>
            <a:off x="685800" y="2409332"/>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It is a Python dictionary in the last cell of your notebook. You fill it in as you go.</a:t>
            </a:r>
          </a:p>
        </p:txBody>
      </p:sp>
      <p:sp>
        <p:nvSpPr>
          <p:cNvPr id="6" name="TextBox 5"/>
          <p:cNvSpPr txBox="1"/>
          <p:nvPr/>
        </p:nvSpPr>
        <p:spPr>
          <a:xfrm>
            <a:off x="685800" y="3210026"/>
            <a:ext cx="5204307" cy="109588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Keep the keys exactly as printed on your task sheet. A script reads them, so a misspelled key scores nothing for that line.</a:t>
            </a:r>
          </a:p>
        </p:txBody>
      </p:sp>
      <p:sp>
        <p:nvSpPr>
          <p:cNvPr id="7" name="TextBox 6"/>
          <p:cNvSpPr txBox="1"/>
          <p:nvPr/>
        </p:nvSpPr>
        <p:spPr>
          <a:xfrm>
            <a:off x="685800" y="4360775"/>
            <a:ext cx="5204307" cy="109588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Values are numbers or short strings. No prose, no explanation — your explanations belong in the markdown cells and in Part B.</a:t>
            </a:r>
          </a:p>
        </p:txBody>
      </p:sp>
      <p:sp>
        <p:nvSpPr>
          <p:cNvPr id="8" name="TextBox 7"/>
          <p:cNvSpPr txBox="1"/>
          <p:nvPr/>
        </p:nvSpPr>
        <p:spPr>
          <a:xfrm>
            <a:off x="685800" y="5511524"/>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Put the cell in place in the first five minutes, then add to it as each part is done.</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keys</a:t>
            </a:r>
          </a:p>
        </p:txBody>
      </p:sp>
      <p:sp>
        <p:nvSpPr>
          <p:cNvPr id="11" name="TextBox 10"/>
          <p:cNvSpPr txBox="1"/>
          <p:nvPr/>
        </p:nvSpPr>
        <p:spPr>
          <a:xfrm>
            <a:off x="6575907" y="2496312"/>
            <a:ext cx="4655667" cy="1284255"/>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ANSWERS = { task, target, target_unit metric, metric_reason, seed rows_in, rows_used, rows_dropped models, cv_mean, cv_spread holdout, limitations } Fourteen keys. Strings and numbers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 SUGGESTED PLAN</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to spend the two hours</a:t>
            </a:r>
          </a:p>
        </p:txBody>
      </p:sp>
      <p:sp>
        <p:nvSpPr>
          <p:cNvPr id="4" name="TextBox 3"/>
          <p:cNvSpPr txBox="1"/>
          <p:nvPr/>
        </p:nvSpPr>
        <p:spPr>
          <a:xfrm>
            <a:off x="685800"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0:00 to 0:15 · read, profile, and write the framing</a:t>
            </a:r>
          </a:p>
        </p:txBody>
      </p:sp>
      <p:sp>
        <p:nvSpPr>
          <p:cNvPr id="5" name="TextBox 4"/>
          <p:cNvSpPr txBox="1"/>
          <p:nvPr/>
        </p:nvSpPr>
        <p:spPr>
          <a:xfrm>
            <a:off x="685800" y="2332633"/>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Read the brief twice. shape, head, info, describe, duplicated. Fill in task, target, target_unit and rows_in.</a:t>
            </a:r>
          </a:p>
        </p:txBody>
      </p:sp>
      <p:sp>
        <p:nvSpPr>
          <p:cNvPr id="6" name="TextBox 5"/>
          <p:cNvSpPr txBox="1"/>
          <p:nvPr/>
        </p:nvSpPr>
        <p:spPr>
          <a:xfrm>
            <a:off x="685800" y="3237872"/>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0:15 to 0:40 · clean, with a sentence per decision</a:t>
            </a:r>
          </a:p>
        </p:txBody>
      </p:sp>
      <p:sp>
        <p:nvSpPr>
          <p:cNvPr id="7" name="TextBox 6"/>
          <p:cNvSpPr txBox="1"/>
          <p:nvPr/>
        </p:nvSpPr>
        <p:spPr>
          <a:xfrm>
            <a:off x="685800" y="365941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One markdown line per defect: what, where, cause, action, why. Fill in rows_used and rows_dropped.</a:t>
            </a:r>
          </a:p>
        </p:txBody>
      </p:sp>
      <p:sp>
        <p:nvSpPr>
          <p:cNvPr id="8" name="TextBox 7"/>
          <p:cNvSpPr txBox="1"/>
          <p:nvPr/>
        </p:nvSpPr>
        <p:spPr>
          <a:xfrm>
            <a:off x="685800" y="4564649"/>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0:40 to 0:50 · fix the protocol and name the metric</a:t>
            </a:r>
          </a:p>
        </p:txBody>
      </p:sp>
      <p:sp>
        <p:nvSpPr>
          <p:cNvPr id="9" name="TextBox 8"/>
          <p:cNvSpPr txBox="1"/>
          <p:nvPr/>
        </p:nvSpPr>
        <p:spPr>
          <a:xfrm>
            <a:off x="685800" y="4986187"/>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Split with a named seed, write the four constants down, and write metric and metric_reason before you fit anything.</a:t>
            </a:r>
          </a:p>
        </p:txBody>
      </p:sp>
      <p:sp>
        <p:nvSpPr>
          <p:cNvPr id="10" name="TextBox 9"/>
          <p:cNvSpPr txBox="1"/>
          <p:nvPr/>
        </p:nvSpPr>
        <p:spPr>
          <a:xfrm>
            <a:off x="6347307"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0:50 to 1:25 · build two models inside a Pipeline</a:t>
            </a:r>
          </a:p>
        </p:txBody>
      </p:sp>
      <p:sp>
        <p:nvSpPr>
          <p:cNvPr id="11" name="TextBox 10"/>
          <p:cNvSpPr txBox="1"/>
          <p:nvPr/>
        </p:nvSpPr>
        <p:spPr>
          <a:xfrm>
            <a:off x="6347307" y="2332633"/>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The simple one first, and get it fully working before you add the second. Fill in models, cv_mean and cv_spread.</a:t>
            </a:r>
          </a:p>
        </p:txBody>
      </p:sp>
      <p:sp>
        <p:nvSpPr>
          <p:cNvPr id="12" name="TextBox 11"/>
          <p:cNvSpPr txBox="1"/>
          <p:nvPr/>
        </p:nvSpPr>
        <p:spPr>
          <a:xfrm>
            <a:off x="6347307" y="3237872"/>
            <a:ext cx="5158587" cy="76992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1:25 to 1:45 · write the limitations and the interpretation</a:t>
            </a:r>
          </a:p>
        </p:txBody>
      </p:sp>
      <p:sp>
        <p:nvSpPr>
          <p:cNvPr id="13" name="TextBox 12"/>
          <p:cNvSpPr txBox="1"/>
          <p:nvPr/>
        </p:nvSpPr>
        <p:spPr>
          <a:xfrm>
            <a:off x="6347307" y="401694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 this before any further modelling. It carries 20 marks and it is what candidates run out of time for.</a:t>
            </a:r>
          </a:p>
        </p:txBody>
      </p:sp>
      <p:sp>
        <p:nvSpPr>
          <p:cNvPr id="14" name="TextBox 13"/>
          <p:cNvSpPr txBox="1"/>
          <p:nvPr/>
        </p:nvSpPr>
        <p:spPr>
          <a:xfrm>
            <a:off x="6347307" y="4922179"/>
            <a:ext cx="5158587" cy="76992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1:45 to 2:00 · charts, captions, Restart and Run All, submit</a:t>
            </a:r>
          </a:p>
        </p:txBody>
      </p:sp>
      <p:sp>
        <p:nvSpPr>
          <p:cNvPr id="15" name="TextBox 14"/>
          <p:cNvSpPr txBox="1"/>
          <p:nvPr/>
        </p:nvSpPr>
        <p:spPr>
          <a:xfrm>
            <a:off x="6347307" y="5701246"/>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Two or three charts, each captioned with its finding. Then restart, run all, check the answers cell, and save.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CONTINGENCY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If something goes wrong</a:t>
            </a:r>
          </a:p>
        </p:txBody>
      </p:sp>
      <p:sp>
        <p:nvSpPr>
          <p:cNvPr id="4" name="TextBox 3"/>
          <p:cNvSpPr txBox="1"/>
          <p:nvPr/>
        </p:nvSpPr>
        <p:spPr>
          <a:xfrm>
            <a:off x="685800" y="1911095"/>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The machine crashes or the kernel dies</a:t>
            </a:r>
          </a:p>
        </p:txBody>
      </p:sp>
      <p:sp>
        <p:nvSpPr>
          <p:cNvPr id="5" name="TextBox 4"/>
          <p:cNvSpPr txBox="1"/>
          <p:nvPr/>
        </p:nvSpPr>
        <p:spPr>
          <a:xfrm>
            <a:off x="685800" y="2311898"/>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Put your hand up immediately. Time lost to a machine fault is added back, and the invigilator records it. Save into the drop folder every twenty minutes so the loss is small.</a:t>
            </a:r>
          </a:p>
        </p:txBody>
      </p:sp>
      <p:sp>
        <p:nvSpPr>
          <p:cNvPr id="6" name="TextBox 5"/>
          <p:cNvSpPr txBox="1"/>
          <p:nvPr/>
        </p:nvSpPr>
        <p:spPr>
          <a:xfrm>
            <a:off x="685800" y="3450303"/>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A cell has been running for five minutes</a:t>
            </a:r>
          </a:p>
        </p:txBody>
      </p:sp>
      <p:sp>
        <p:nvSpPr>
          <p:cNvPr id="7" name="TextBox 6"/>
          <p:cNvSpPr txBox="1"/>
          <p:nvPr/>
        </p:nvSpPr>
        <p:spPr>
          <a:xfrm>
            <a:off x="685800" y="3851105"/>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Interrupt it. Something is fitting a grid far larger than you meant, or reading the file in a loop. Cut the grid or the fold count and move on.</a:t>
            </a:r>
          </a:p>
        </p:txBody>
      </p:sp>
      <p:sp>
        <p:nvSpPr>
          <p:cNvPr id="8" name="TextBox 7"/>
          <p:cNvSpPr txBox="1"/>
          <p:nvPr/>
        </p:nvSpPr>
        <p:spPr>
          <a:xfrm>
            <a:off x="685800" y="4989510"/>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You cannot get the second model to work</a:t>
            </a:r>
          </a:p>
        </p:txBody>
      </p:sp>
      <p:sp>
        <p:nvSpPr>
          <p:cNvPr id="9" name="TextBox 8"/>
          <p:cNvSpPr txBox="1"/>
          <p:nvPr/>
        </p:nvSpPr>
        <p:spPr>
          <a:xfrm>
            <a:off x="685800" y="5390313"/>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Submit one model that works, properly evaluated, and say in your notebook what the second was and why it failed. Partial marks for the protocol are available; a broken second model earns none.</a:t>
            </a:r>
          </a:p>
        </p:txBody>
      </p:sp>
      <p:sp>
        <p:nvSpPr>
          <p:cNvPr id="10" name="TextBox 9"/>
          <p:cNvSpPr txBox="1"/>
          <p:nvPr/>
        </p:nvSpPr>
        <p:spPr>
          <a:xfrm>
            <a:off x="6347307" y="1911095"/>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You realise at 1:30 that your target was wrong</a:t>
            </a:r>
          </a:p>
        </p:txBody>
      </p:sp>
      <p:sp>
        <p:nvSpPr>
          <p:cNvPr id="11" name="TextBox 10"/>
          <p:cNvSpPr txBox="1"/>
          <p:nvPr/>
        </p:nvSpPr>
        <p:spPr>
          <a:xfrm>
            <a:off x="6347307" y="2311898"/>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Say so in a markdown cell, state what the correct target is, and carry on with what you have. Diagnosing your own error in writing recovers a real part of the framing marks.</a:t>
            </a:r>
          </a:p>
        </p:txBody>
      </p:sp>
      <p:sp>
        <p:nvSpPr>
          <p:cNvPr id="12" name="TextBox 11"/>
          <p:cNvSpPr txBox="1"/>
          <p:nvPr/>
        </p:nvSpPr>
        <p:spPr>
          <a:xfrm>
            <a:off x="6347307" y="3450303"/>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You run out of time on Part A</a:t>
            </a:r>
          </a:p>
        </p:txBody>
      </p:sp>
      <p:sp>
        <p:nvSpPr>
          <p:cNvPr id="13" name="TextBox 12"/>
          <p:cNvSpPr txBox="1"/>
          <p:nvPr/>
        </p:nvSpPr>
        <p:spPr>
          <a:xfrm>
            <a:off x="6347307" y="3851105"/>
            <a:ext cx="5158587" cy="62482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Stop, save, and go to Part B. Part B is marked separately and it is the cheapest 25 minutes in the paper.</a:t>
            </a:r>
          </a:p>
        </p:txBody>
      </p:sp>
      <p:sp>
        <p:nvSpPr>
          <p:cNvPr id="14" name="TextBox 13"/>
          <p:cNvSpPr txBox="1"/>
          <p:nvPr/>
        </p:nvSpPr>
        <p:spPr>
          <a:xfrm>
            <a:off x="6347307" y="4704530"/>
            <a:ext cx="5158587" cy="391658"/>
          </a:xfrm>
          <a:prstGeom prst="rect">
            <a:avLst/>
          </a:prstGeom>
          <a:noFill/>
        </p:spPr>
        <p:txBody>
          <a:bodyPr wrap="square" lIns="0" rIns="0" tIns="0" bIns="0" anchor="t">
            <a:spAutoFit/>
          </a:bodyPr>
          <a:lstStyle/>
          <a:p>
            <a:pPr algn="l">
              <a:lnSpc>
                <a:spcPct val="124000"/>
              </a:lnSpc>
              <a:spcAft>
                <a:spcPts val="600"/>
              </a:spcAft>
            </a:pPr>
            <a:r>
              <a:rPr sz="1716" b="1" i="0">
                <a:solidFill>
                  <a:srgbClr val="E4572E"/>
                </a:solidFill>
                <a:latin typeface="Calibri"/>
              </a:rPr>
              <a:t>You are ill on the day</a:t>
            </a:r>
          </a:p>
        </p:txBody>
      </p:sp>
      <p:sp>
        <p:nvSpPr>
          <p:cNvPr id="15" name="TextBox 14"/>
          <p:cNvSpPr txBox="1"/>
          <p:nvPr/>
        </p:nvSpPr>
        <p:spPr>
          <a:xfrm>
            <a:off x="6347307" y="5105332"/>
            <a:ext cx="5158587" cy="909804"/>
          </a:xfrm>
          <a:prstGeom prst="rect">
            <a:avLst/>
          </a:prstGeom>
          <a:noFill/>
        </p:spPr>
        <p:txBody>
          <a:bodyPr wrap="square" lIns="0" rIns="0" tIns="0" bIns="0" anchor="t">
            <a:spAutoFit/>
          </a:bodyPr>
          <a:lstStyle/>
          <a:p>
            <a:pPr algn="l">
              <a:lnSpc>
                <a:spcPct val="124000"/>
              </a:lnSpc>
              <a:spcAft>
                <a:spcPts val="600"/>
              </a:spcAft>
            </a:pPr>
            <a:r>
              <a:rPr sz="1452" b="0" i="0">
                <a:solidFill>
                  <a:srgbClr val="334657"/>
                </a:solidFill>
                <a:latin typeface="Calibri"/>
              </a:rPr>
              <a:t>Tell the Faculty office before the sitting. There is a documented deferral route and it has to be opened in advance, so a message afterwards is much harder to act 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REVISION — WEEKS 8 TO 13</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"Everything from here on is revision. Six weeks in two slides, then a self-test with worked answers."</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Nothing in this test is new. If you can answer the self-test at the end of this deck without looking, you are prepared.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REVISION 1 OF 2</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Weeks 8, 9 and 10 — models, metrics and trust</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model is fitted by minimising an error on training data, and the only honest test of it is data it has never seen.</a:t>
            </a:r>
          </a:p>
        </p:txBody>
      </p:sp>
      <p:sp>
        <p:nvSpPr>
          <p:cNvPr id="6" name="Oval 5"/>
          <p:cNvSpPr/>
          <p:nvPr/>
        </p:nvSpPr>
        <p:spPr>
          <a:xfrm>
            <a:off x="685800" y="238805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33187"/>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Report regression error in the units of the target. MAE is the average size of the error; RMSE punishes large errors more heavily.</a:t>
            </a:r>
          </a:p>
        </p:txBody>
      </p:sp>
      <p:sp>
        <p:nvSpPr>
          <p:cNvPr id="8" name="Oval 7"/>
          <p:cNvSpPr/>
          <p:nvPr/>
        </p:nvSpPr>
        <p:spPr>
          <a:xfrm>
            <a:off x="685800" y="3085929"/>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031065"/>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Residuals tell you where the model is worst. A pattern in the residuals means something systematic is missing.</a:t>
            </a:r>
          </a:p>
        </p:txBody>
      </p:sp>
      <p:sp>
        <p:nvSpPr>
          <p:cNvPr id="10" name="Oval 9"/>
          <p:cNvSpPr/>
          <p:nvPr/>
        </p:nvSpPr>
        <p:spPr>
          <a:xfrm>
            <a:off x="685800" y="350802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453156"/>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confusion matrix has four cells and each one has a cost in your discipline. Name the cost before you choose the metric.</a:t>
            </a:r>
          </a:p>
        </p:txBody>
      </p:sp>
      <p:sp>
        <p:nvSpPr>
          <p:cNvPr id="12" name="Oval 11"/>
          <p:cNvSpPr/>
          <p:nvPr/>
        </p:nvSpPr>
        <p:spPr>
          <a:xfrm>
            <a:off x="685800" y="3930112"/>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875248"/>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Accuracy is misleading under class imbalance. With 3 per cent positives, predicting nothing scores 97 per cent and is worthless.</a:t>
            </a:r>
          </a:p>
        </p:txBody>
      </p:sp>
      <p:sp>
        <p:nvSpPr>
          <p:cNvPr id="14" name="Oval 13"/>
          <p:cNvSpPr/>
          <p:nvPr/>
        </p:nvSpPr>
        <p:spPr>
          <a:xfrm>
            <a:off x="685800" y="4352203"/>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297339"/>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Precision and recall trade against each other through the decision threshold, and the threshold is an engineering choice.</a:t>
            </a:r>
          </a:p>
        </p:txBody>
      </p:sp>
      <p:sp>
        <p:nvSpPr>
          <p:cNvPr id="16" name="Oval 15"/>
          <p:cNvSpPr/>
          <p:nvPr/>
        </p:nvSpPr>
        <p:spPr>
          <a:xfrm>
            <a:off x="685800" y="4774294"/>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719430"/>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Overfitting shows as a gap between training and test performance. Cross-validation tells you whether the gap is real.</a:t>
            </a:r>
          </a:p>
        </p:txBody>
      </p:sp>
      <p:sp>
        <p:nvSpPr>
          <p:cNvPr id="18" name="Oval 17"/>
          <p:cNvSpPr/>
          <p:nvPr/>
        </p:nvSpPr>
        <p:spPr>
          <a:xfrm>
            <a:off x="685800" y="519638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141521"/>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There are four kinds of leakage: train-test contamination, target leakage, temporal leakage and group leakage. A Pipeline is the structural fix for the first.</a:t>
            </a:r>
          </a:p>
        </p:txBody>
      </p:sp>
      <p:sp>
        <p:nvSpPr>
          <p:cNvPr id="20" name="Oval 19"/>
          <p:cNvSpPr/>
          <p:nvPr/>
        </p:nvSpPr>
        <p:spPr>
          <a:xfrm>
            <a:off x="685800" y="5894264"/>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839400"/>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Ask the timing question of every column: would I really have this before the outcome is known?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REVISION 2 OF 2</a:t>
            </a:r>
          </a:p>
        </p:txBody>
      </p:sp>
      <p:sp>
        <p:nvSpPr>
          <p:cNvPr id="3" name="TextBox 2"/>
          <p:cNvSpPr txBox="1"/>
          <p:nvPr/>
        </p:nvSpPr>
        <p:spPr>
          <a:xfrm>
            <a:off x="685800" y="950976"/>
            <a:ext cx="10820095" cy="128016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Weeks 11, 12 and 13 — features, comparison, reproducibility</a:t>
            </a:r>
          </a:p>
        </p:txBody>
      </p:sp>
      <p:sp>
        <p:nvSpPr>
          <p:cNvPr id="4" name="Oval 3"/>
          <p:cNvSpPr/>
          <p:nvPr/>
        </p:nvSpPr>
        <p:spPr>
          <a:xfrm>
            <a:off x="685800" y="2450592"/>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395728"/>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model knows only the columns you gave it. Encoding a category as 1, 2, 3 tells the model those levels are evenly spaced.</a:t>
            </a:r>
          </a:p>
        </p:txBody>
      </p:sp>
      <p:sp>
        <p:nvSpPr>
          <p:cNvPr id="6" name="Oval 5"/>
          <p:cNvSpPr/>
          <p:nvPr/>
        </p:nvSpPr>
        <p:spPr>
          <a:xfrm>
            <a:off x="685800" y="2872683"/>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817819"/>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Distance-based and penalised methods need their features scaled. Trees, forests and boosting do not.</a:t>
            </a:r>
          </a:p>
        </p:txBody>
      </p:sp>
      <p:sp>
        <p:nvSpPr>
          <p:cNvPr id="8" name="Oval 7"/>
          <p:cNvSpPr/>
          <p:nvPr/>
        </p:nvSpPr>
        <p:spPr>
          <a:xfrm>
            <a:off x="685800" y="3294774"/>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239910"/>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feature built from a physical relationship needs no new measurement, and it is where your degree beats a better programmer.</a:t>
            </a:r>
          </a:p>
        </p:txBody>
      </p:sp>
      <p:sp>
        <p:nvSpPr>
          <p:cNvPr id="10" name="Oval 9"/>
          <p:cNvSpPr/>
          <p:nvPr/>
        </p:nvSpPr>
        <p:spPr>
          <a:xfrm>
            <a:off x="685800" y="371686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662001"/>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Ablation is the honest measure of a feature: drop it, refit on the same split, and report the change with its spread.</a:t>
            </a:r>
          </a:p>
        </p:txBody>
      </p:sp>
      <p:sp>
        <p:nvSpPr>
          <p:cNvPr id="12" name="Oval 11"/>
          <p:cNvSpPr/>
          <p:nvPr/>
        </p:nvSpPr>
        <p:spPr>
          <a:xfrm>
            <a:off x="685800" y="413895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084092"/>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comparison is fair when the split, the folds, the preprocessing and the metric are held constant and only the model changes.</a:t>
            </a:r>
          </a:p>
        </p:txBody>
      </p:sp>
      <p:sp>
        <p:nvSpPr>
          <p:cNvPr id="14" name="Oval 13"/>
          <p:cNvSpPr/>
          <p:nvPr/>
        </p:nvSpPr>
        <p:spPr>
          <a:xfrm>
            <a:off x="685800" y="4561048"/>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06184"/>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difference smaller than the fold-to-fold spread is not a difference. Report the mean and the spread every time.</a:t>
            </a:r>
          </a:p>
        </p:txBody>
      </p:sp>
      <p:sp>
        <p:nvSpPr>
          <p:cNvPr id="16" name="Oval 15"/>
          <p:cNvSpPr/>
          <p:nvPr/>
        </p:nvSpPr>
        <p:spPr>
          <a:xfrm>
            <a:off x="685800" y="4983139"/>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928275"/>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The hyperparameter search runs inside cross-validation, and the test set takes no part in choosing anything.</a:t>
            </a:r>
          </a:p>
        </p:txBody>
      </p:sp>
      <p:sp>
        <p:nvSpPr>
          <p:cNvPr id="18" name="Oval 17"/>
          <p:cNvSpPr/>
          <p:nvPr/>
        </p:nvSpPr>
        <p:spPr>
          <a:xfrm>
            <a:off x="685800" y="540523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350366"/>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Five criteria decide the choice besides accuracy: explainability, cost, data hunger, failure behaviour and maintenance.</a:t>
            </a:r>
          </a:p>
        </p:txBody>
      </p:sp>
      <p:sp>
        <p:nvSpPr>
          <p:cNvPr id="20" name="Oval 19"/>
          <p:cNvSpPr/>
          <p:nvPr/>
        </p:nvSpPr>
        <p:spPr>
          <a:xfrm>
            <a:off x="685800" y="582732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772457"/>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Relative paths, pinned versions, a named seed and Restart and Run All. Those four make your work checkable.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write something for each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have 10,000 rows and 340 of them are the positive class. Your model reports 96.6 per cent accuracy. What has it probably done, and what would you report instead?</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standardised the whole table, then split it, then cross-validated. Name the defect and say roughly how much it inflates the score.</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two models score 0.81 and 0.79, with folds spread over 0.05. What do you write in the recommendation?</a:t>
            </a:r>
          </a:p>
        </p:txBody>
      </p:sp>
      <p:sp>
        <p:nvSpPr>
          <p:cNvPr id="10" name="Oval 9"/>
          <p:cNvSpPr/>
          <p:nvPr/>
        </p:nvSpPr>
        <p:spPr>
          <a:xfrm>
            <a:off x="685800" y="4630881"/>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459430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limitation of a model trained on froth flotation process data that follows from the data rather than from machine learning in general.</a:t>
            </a:r>
          </a:p>
        </p:txBody>
      </p:sp>
      <p:sp>
        <p:nvSpPr>
          <p:cNvPr id="12" name="Oval 11"/>
          <p:cNvSpPr/>
          <p:nvPr/>
        </p:nvSpPr>
        <p:spPr>
          <a:xfrm>
            <a:off x="685800" y="5525284"/>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5488708"/>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are asked whether you would deploy your model. What does a full-mark answer contain?</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 Do this without notes, then check.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96.6 per cent on a 3.4 per cent positive class?</a:t>
            </a:r>
          </a:p>
        </p:txBody>
      </p:sp>
      <p:sp>
        <p:nvSpPr>
          <p:cNvPr id="6" name="TextBox 5"/>
          <p:cNvSpPr txBox="1"/>
          <p:nvPr/>
        </p:nvSpPr>
        <p:spPr>
          <a:xfrm>
            <a:off x="1216152" y="2203703"/>
            <a:ext cx="4614519" cy="1080735"/>
          </a:xfrm>
          <a:prstGeom prst="rect">
            <a:avLst/>
          </a:prstGeom>
          <a:noFill/>
        </p:spPr>
        <p:txBody>
          <a:bodyPr wrap="square" lIns="0" rIns="0" tIns="0" bIns="0" anchor="t">
            <a:spAutoFit/>
          </a:bodyPr>
          <a:lstStyle/>
          <a:p>
            <a:pPr algn="l">
              <a:lnSpc>
                <a:spcPct val="120000"/>
              </a:lnSpc>
              <a:spcAft>
                <a:spcPts val="600"/>
              </a:spcAft>
            </a:pPr>
            <a:r>
              <a:rPr sz="1254" b="0" i="0">
                <a:solidFill>
                  <a:srgbClr val="2A3B4A"/>
                </a:solidFill>
                <a:latin typeface="Calibri"/>
              </a:rPr>
              <a:t>It has probably predicted the negative class every time, which scores 96.6 per cent and catches nothing. Report recall on the positive class, precision, and the confusion matrix with the cost of each cell in your own units.</a:t>
            </a:r>
          </a:p>
        </p:txBody>
      </p:sp>
      <p:sp>
        <p:nvSpPr>
          <p:cNvPr id="7" name="Oval 6"/>
          <p:cNvSpPr/>
          <p:nvPr/>
        </p:nvSpPr>
        <p:spPr>
          <a:xfrm>
            <a:off x="685800" y="335759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321015"/>
            <a:ext cx="4614519" cy="274320"/>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Scaled before the split?</a:t>
            </a:r>
          </a:p>
        </p:txBody>
      </p:sp>
      <p:sp>
        <p:nvSpPr>
          <p:cNvPr id="9" name="TextBox 8"/>
          <p:cNvSpPr txBox="1"/>
          <p:nvPr/>
        </p:nvSpPr>
        <p:spPr>
          <a:xfrm>
            <a:off x="1216152" y="3613623"/>
            <a:ext cx="4614519" cy="1318915"/>
          </a:xfrm>
          <a:prstGeom prst="rect">
            <a:avLst/>
          </a:prstGeom>
          <a:noFill/>
        </p:spPr>
        <p:txBody>
          <a:bodyPr wrap="square" lIns="0" rIns="0" tIns="0" bIns="0" anchor="t">
            <a:spAutoFit/>
          </a:bodyPr>
          <a:lstStyle/>
          <a:p>
            <a:pPr algn="l">
              <a:lnSpc>
                <a:spcPct val="120000"/>
              </a:lnSpc>
              <a:spcAft>
                <a:spcPts val="600"/>
              </a:spcAft>
            </a:pPr>
            <a:r>
              <a:rPr sz="1254" b="0" i="0">
                <a:solidFill>
                  <a:srgbClr val="2A3B4A"/>
                </a:solidFill>
                <a:latin typeface="Calibri"/>
              </a:rPr>
              <a:t>Train-test contamination. The scaler's mean and standard deviation were computed using rows the model was going to be judged on. It typically inflates the score by one or two per cent, which is small enough to survive review, and the fix is to put the scaler inside the Pipeline.</a:t>
            </a:r>
          </a:p>
        </p:txBody>
      </p:sp>
      <p:sp>
        <p:nvSpPr>
          <p:cNvPr id="10" name="Oval 9"/>
          <p:cNvSpPr/>
          <p:nvPr/>
        </p:nvSpPr>
        <p:spPr>
          <a:xfrm>
            <a:off x="685800" y="500569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969115"/>
            <a:ext cx="4614519" cy="274320"/>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0.81 and 0.79, spread 0.05?</a:t>
            </a:r>
          </a:p>
        </p:txBody>
      </p:sp>
      <p:sp>
        <p:nvSpPr>
          <p:cNvPr id="12" name="TextBox 11"/>
          <p:cNvSpPr txBox="1"/>
          <p:nvPr/>
        </p:nvSpPr>
        <p:spPr>
          <a:xfrm>
            <a:off x="1216152" y="5261723"/>
            <a:ext cx="4614519" cy="1080735"/>
          </a:xfrm>
          <a:prstGeom prst="rect">
            <a:avLst/>
          </a:prstGeom>
          <a:noFill/>
        </p:spPr>
        <p:txBody>
          <a:bodyPr wrap="square" lIns="0" rIns="0" tIns="0" bIns="0" anchor="t">
            <a:spAutoFit/>
          </a:bodyPr>
          <a:lstStyle/>
          <a:p>
            <a:pPr algn="l">
              <a:lnSpc>
                <a:spcPct val="120000"/>
              </a:lnSpc>
              <a:spcAft>
                <a:spcPts val="600"/>
              </a:spcAft>
            </a:pPr>
            <a:r>
              <a:rPr sz="1254" b="0" i="0">
                <a:solidFill>
                  <a:srgbClr val="2A3B4A"/>
                </a:solidFill>
                <a:latin typeface="Calibri"/>
              </a:rPr>
              <a:t>That the two cannot be separated on this data. Write both means with their spreads, say the difference is smaller than the fold-to-fold variation, and then choose on explainability, cost, data hunger, failure behaviour or maintenance — and name which one decided it.</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A limitation from the data?</a:t>
            </a:r>
          </a:p>
        </p:txBody>
      </p:sp>
      <p:sp>
        <p:nvSpPr>
          <p:cNvPr id="15" name="TextBox 14"/>
          <p:cNvSpPr txBox="1"/>
          <p:nvPr/>
        </p:nvSpPr>
        <p:spPr>
          <a:xfrm>
            <a:off x="6854799" y="2203703"/>
            <a:ext cx="4614519" cy="1318915"/>
          </a:xfrm>
          <a:prstGeom prst="rect">
            <a:avLst/>
          </a:prstGeom>
          <a:noFill/>
        </p:spPr>
        <p:txBody>
          <a:bodyPr wrap="square" lIns="0" rIns="0" tIns="0" bIns="0" anchor="t">
            <a:spAutoFit/>
          </a:bodyPr>
          <a:lstStyle/>
          <a:p>
            <a:pPr algn="l">
              <a:lnSpc>
                <a:spcPct val="120000"/>
              </a:lnSpc>
              <a:spcAft>
                <a:spcPts val="600"/>
              </a:spcAft>
            </a:pPr>
            <a:r>
              <a:rPr sz="1254" b="0" i="0">
                <a:solidFill>
                  <a:srgbClr val="2A3B4A"/>
                </a:solidFill>
                <a:latin typeface="Calibri"/>
              </a:rPr>
              <a:t>Something specific: the range of conditions the file actually covers, the period it was collected over, the single plant or laboratory it came from, or a column that is missing for a structured reason. A model trained on one ore body will not transfer to the next bench when the mineralogy changes.</a:t>
            </a:r>
          </a:p>
        </p:txBody>
      </p:sp>
      <p:sp>
        <p:nvSpPr>
          <p:cNvPr id="16" name="Oval 15"/>
          <p:cNvSpPr/>
          <p:nvPr/>
        </p:nvSpPr>
        <p:spPr>
          <a:xfrm>
            <a:off x="6324447" y="359577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559195"/>
            <a:ext cx="4614519" cy="274320"/>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Would you deploy it?</a:t>
            </a:r>
          </a:p>
        </p:txBody>
      </p:sp>
      <p:sp>
        <p:nvSpPr>
          <p:cNvPr id="18" name="TextBox 17"/>
          <p:cNvSpPr txBox="1"/>
          <p:nvPr/>
        </p:nvSpPr>
        <p:spPr>
          <a:xfrm>
            <a:off x="6854799" y="3851803"/>
            <a:ext cx="4614519" cy="1557095"/>
          </a:xfrm>
          <a:prstGeom prst="rect">
            <a:avLst/>
          </a:prstGeom>
          <a:noFill/>
        </p:spPr>
        <p:txBody>
          <a:bodyPr wrap="square" lIns="0" rIns="0" tIns="0" bIns="0" anchor="t">
            <a:spAutoFit/>
          </a:bodyPr>
          <a:lstStyle/>
          <a:p>
            <a:pPr algn="l">
              <a:lnSpc>
                <a:spcPct val="120000"/>
              </a:lnSpc>
              <a:spcAft>
                <a:spcPts val="600"/>
              </a:spcAft>
            </a:pPr>
            <a:r>
              <a:rPr sz="1254" b="0" i="0">
                <a:solidFill>
                  <a:srgbClr val="2A3B4A"/>
                </a:solidFill>
                <a:latin typeface="Calibri"/>
              </a:rPr>
              <a:t>A clear position, the conditions attached to it, and what you would require first. For example: 'Not as an automatic decision. I would run it in advisory mode for three months, compare its calls against the existing procedure, and require a monthly check that the input range still matches the training data.' A position with no conditions scores poorly either way.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a:t>
            </a:r>
          </a:p>
        </p:txBody>
      </p:sp>
      <p:sp>
        <p:nvSpPr>
          <p:cNvPr id="4" name="TextBox 3"/>
          <p:cNvSpPr txBox="1"/>
          <p:nvPr/>
        </p:nvSpPr>
        <p:spPr>
          <a:xfrm>
            <a:off x="685800"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Target</a:t>
            </a:r>
          </a:p>
        </p:txBody>
      </p:sp>
      <p:sp>
        <p:nvSpPr>
          <p:cNvPr id="5" name="TextBox 4"/>
          <p:cNvSpPr txBox="1"/>
          <p:nvPr/>
        </p:nvSpPr>
        <p:spPr>
          <a:xfrm>
            <a:off x="685800"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column you are predicting. Name it with its unit.</a:t>
            </a:r>
          </a:p>
        </p:txBody>
      </p:sp>
      <p:sp>
        <p:nvSpPr>
          <p:cNvPr id="6" name="TextBox 5"/>
          <p:cNvSpPr txBox="1"/>
          <p:nvPr/>
        </p:nvSpPr>
        <p:spPr>
          <a:xfrm>
            <a:off x="685800"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Feature</a:t>
            </a:r>
          </a:p>
        </p:txBody>
      </p:sp>
      <p:sp>
        <p:nvSpPr>
          <p:cNvPr id="7" name="TextBox 6"/>
          <p:cNvSpPr txBox="1"/>
          <p:nvPr/>
        </p:nvSpPr>
        <p:spPr>
          <a:xfrm>
            <a:off x="685800" y="25297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column known before the outcome. Ask the timing question of every one.</a:t>
            </a:r>
          </a:p>
        </p:txBody>
      </p:sp>
      <p:sp>
        <p:nvSpPr>
          <p:cNvPr id="8" name="TextBox 7"/>
          <p:cNvSpPr txBox="1"/>
          <p:nvPr/>
        </p:nvSpPr>
        <p:spPr>
          <a:xfrm>
            <a:off x="685800" y="277977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Pipeline</a:t>
            </a:r>
          </a:p>
        </p:txBody>
      </p:sp>
      <p:sp>
        <p:nvSpPr>
          <p:cNvPr id="9" name="TextBox 8"/>
          <p:cNvSpPr txBox="1"/>
          <p:nvPr/>
        </p:nvSpPr>
        <p:spPr>
          <a:xfrm>
            <a:off x="685800" y="29641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Preprocessing chained to the model, fitted on the training fold only.</a:t>
            </a:r>
          </a:p>
        </p:txBody>
      </p:sp>
      <p:sp>
        <p:nvSpPr>
          <p:cNvPr id="10" name="TextBox 9"/>
          <p:cNvSpPr txBox="1"/>
          <p:nvPr/>
        </p:nvSpPr>
        <p:spPr>
          <a:xfrm>
            <a:off x="685800" y="321411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Train/test split</a:t>
            </a:r>
          </a:p>
        </p:txBody>
      </p:sp>
      <p:sp>
        <p:nvSpPr>
          <p:cNvPr id="11" name="TextBox 10"/>
          <p:cNvSpPr txBox="1"/>
          <p:nvPr/>
        </p:nvSpPr>
        <p:spPr>
          <a:xfrm>
            <a:off x="685800" y="33984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Rows held back so the model can be judged on data it has not seen.</a:t>
            </a:r>
          </a:p>
        </p:txBody>
      </p:sp>
      <p:sp>
        <p:nvSpPr>
          <p:cNvPr id="12" name="TextBox 11"/>
          <p:cNvSpPr txBox="1"/>
          <p:nvPr/>
        </p:nvSpPr>
        <p:spPr>
          <a:xfrm>
            <a:off x="685800" y="364845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Cross-validation</a:t>
            </a:r>
          </a:p>
        </p:txBody>
      </p:sp>
      <p:sp>
        <p:nvSpPr>
          <p:cNvPr id="13" name="TextBox 12"/>
          <p:cNvSpPr txBox="1"/>
          <p:nvPr/>
        </p:nvSpPr>
        <p:spPr>
          <a:xfrm>
            <a:off x="685800" y="383279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Every row gets a turn in the test fold. Report the mean and the spread.</a:t>
            </a:r>
          </a:p>
        </p:txBody>
      </p:sp>
      <p:sp>
        <p:nvSpPr>
          <p:cNvPr id="14" name="TextBox 13"/>
          <p:cNvSpPr txBox="1"/>
          <p:nvPr/>
        </p:nvSpPr>
        <p:spPr>
          <a:xfrm>
            <a:off x="685800" y="408279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Overfitting</a:t>
            </a:r>
          </a:p>
        </p:txBody>
      </p:sp>
      <p:sp>
        <p:nvSpPr>
          <p:cNvPr id="15" name="TextBox 14"/>
          <p:cNvSpPr txBox="1"/>
          <p:nvPr/>
        </p:nvSpPr>
        <p:spPr>
          <a:xfrm>
            <a:off x="685800" y="42671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Good on training data, poor on unseen data. Seen as a gap.</a:t>
            </a:r>
          </a:p>
        </p:txBody>
      </p:sp>
      <p:sp>
        <p:nvSpPr>
          <p:cNvPr id="16" name="TextBox 15"/>
          <p:cNvSpPr txBox="1"/>
          <p:nvPr/>
        </p:nvSpPr>
        <p:spPr>
          <a:xfrm>
            <a:off x="685800" y="45171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MAE</a:t>
            </a:r>
          </a:p>
        </p:txBody>
      </p:sp>
      <p:sp>
        <p:nvSpPr>
          <p:cNvPr id="17" name="TextBox 16"/>
          <p:cNvSpPr txBox="1"/>
          <p:nvPr/>
        </p:nvSpPr>
        <p:spPr>
          <a:xfrm>
            <a:off x="685800" y="47014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Mean absolute error. The average size of the error, in the target's units.</a:t>
            </a:r>
          </a:p>
        </p:txBody>
      </p:sp>
      <p:sp>
        <p:nvSpPr>
          <p:cNvPr id="18" name="TextBox 17"/>
          <p:cNvSpPr txBox="1"/>
          <p:nvPr/>
        </p:nvSpPr>
        <p:spPr>
          <a:xfrm>
            <a:off x="685800" y="495147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RMSE</a:t>
            </a:r>
          </a:p>
        </p:txBody>
      </p:sp>
      <p:sp>
        <p:nvSpPr>
          <p:cNvPr id="19" name="TextBox 18"/>
          <p:cNvSpPr txBox="1"/>
          <p:nvPr/>
        </p:nvSpPr>
        <p:spPr>
          <a:xfrm>
            <a:off x="685800" y="51358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Root mean squared error. Larger errors count for more.</a:t>
            </a:r>
          </a:p>
        </p:txBody>
      </p:sp>
      <p:sp>
        <p:nvSpPr>
          <p:cNvPr id="20" name="TextBox 19"/>
          <p:cNvSpPr txBox="1"/>
          <p:nvPr/>
        </p:nvSpPr>
        <p:spPr>
          <a:xfrm>
            <a:off x="685800" y="538581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R²</a:t>
            </a:r>
          </a:p>
        </p:txBody>
      </p:sp>
      <p:sp>
        <p:nvSpPr>
          <p:cNvPr id="21" name="TextBox 20"/>
          <p:cNvSpPr txBox="1"/>
          <p:nvPr/>
        </p:nvSpPr>
        <p:spPr>
          <a:xfrm>
            <a:off x="685800" y="55701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share of the variation the model accounts for. Unitless.</a:t>
            </a:r>
          </a:p>
        </p:txBody>
      </p:sp>
      <p:sp>
        <p:nvSpPr>
          <p:cNvPr id="22" name="TextBox 21"/>
          <p:cNvSpPr txBox="1"/>
          <p:nvPr/>
        </p:nvSpPr>
        <p:spPr>
          <a:xfrm>
            <a:off x="685800" y="582015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Confusion matrix</a:t>
            </a:r>
          </a:p>
        </p:txBody>
      </p:sp>
      <p:sp>
        <p:nvSpPr>
          <p:cNvPr id="23" name="TextBox 22"/>
          <p:cNvSpPr txBox="1"/>
          <p:nvPr/>
        </p:nvSpPr>
        <p:spPr>
          <a:xfrm>
            <a:off x="685800" y="600449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TP, FP, FN, TN. Give each cell a cost in your own discipline.</a:t>
            </a:r>
          </a:p>
        </p:txBody>
      </p:sp>
      <p:sp>
        <p:nvSpPr>
          <p:cNvPr id="24" name="TextBox 23"/>
          <p:cNvSpPr txBox="1"/>
          <p:nvPr/>
        </p:nvSpPr>
        <p:spPr>
          <a:xfrm>
            <a:off x="6324447"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Precision</a:t>
            </a:r>
          </a:p>
        </p:txBody>
      </p:sp>
      <p:sp>
        <p:nvSpPr>
          <p:cNvPr id="25" name="TextBox 24"/>
          <p:cNvSpPr txBox="1"/>
          <p:nvPr/>
        </p:nvSpPr>
        <p:spPr>
          <a:xfrm>
            <a:off x="6324447"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Of the cases you flagged, how many were real.</a:t>
            </a:r>
          </a:p>
        </p:txBody>
      </p:sp>
      <p:sp>
        <p:nvSpPr>
          <p:cNvPr id="26" name="TextBox 25"/>
          <p:cNvSpPr txBox="1"/>
          <p:nvPr/>
        </p:nvSpPr>
        <p:spPr>
          <a:xfrm>
            <a:off x="6324447"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Recall</a:t>
            </a:r>
          </a:p>
        </p:txBody>
      </p:sp>
      <p:sp>
        <p:nvSpPr>
          <p:cNvPr id="27" name="TextBox 26"/>
          <p:cNvSpPr txBox="1"/>
          <p:nvPr/>
        </p:nvSpPr>
        <p:spPr>
          <a:xfrm>
            <a:off x="6324447" y="25297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Of the real cases, how many you caught.</a:t>
            </a:r>
          </a:p>
        </p:txBody>
      </p:sp>
      <p:sp>
        <p:nvSpPr>
          <p:cNvPr id="28" name="TextBox 27"/>
          <p:cNvSpPr txBox="1"/>
          <p:nvPr/>
        </p:nvSpPr>
        <p:spPr>
          <a:xfrm>
            <a:off x="6324447" y="277977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Class imbalance</a:t>
            </a:r>
          </a:p>
        </p:txBody>
      </p:sp>
      <p:sp>
        <p:nvSpPr>
          <p:cNvPr id="29" name="TextBox 28"/>
          <p:cNvSpPr txBox="1"/>
          <p:nvPr/>
        </p:nvSpPr>
        <p:spPr>
          <a:xfrm>
            <a:off x="6324447" y="29641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One class is rare, so accuracy stops carrying information.</a:t>
            </a:r>
          </a:p>
        </p:txBody>
      </p:sp>
      <p:sp>
        <p:nvSpPr>
          <p:cNvPr id="30" name="TextBox 29"/>
          <p:cNvSpPr txBox="1"/>
          <p:nvPr/>
        </p:nvSpPr>
        <p:spPr>
          <a:xfrm>
            <a:off x="6324447" y="321411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Decision threshold</a:t>
            </a:r>
          </a:p>
        </p:txBody>
      </p:sp>
      <p:sp>
        <p:nvSpPr>
          <p:cNvPr id="31" name="TextBox 30"/>
          <p:cNvSpPr txBox="1"/>
          <p:nvPr/>
        </p:nvSpPr>
        <p:spPr>
          <a:xfrm>
            <a:off x="6324447" y="33984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probability above which you act. An engineering choice.</a:t>
            </a:r>
          </a:p>
        </p:txBody>
      </p:sp>
      <p:sp>
        <p:nvSpPr>
          <p:cNvPr id="32" name="TextBox 31"/>
          <p:cNvSpPr txBox="1"/>
          <p:nvPr/>
        </p:nvSpPr>
        <p:spPr>
          <a:xfrm>
            <a:off x="6324447" y="364845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Data leakage</a:t>
            </a:r>
          </a:p>
        </p:txBody>
      </p:sp>
      <p:sp>
        <p:nvSpPr>
          <p:cNvPr id="33" name="TextBox 32"/>
          <p:cNvSpPr txBox="1"/>
          <p:nvPr/>
        </p:nvSpPr>
        <p:spPr>
          <a:xfrm>
            <a:off x="6324447" y="383279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Information the model would not have in service. Four kinds.</a:t>
            </a:r>
          </a:p>
        </p:txBody>
      </p:sp>
      <p:sp>
        <p:nvSpPr>
          <p:cNvPr id="34" name="TextBox 33"/>
          <p:cNvSpPr txBox="1"/>
          <p:nvPr/>
        </p:nvSpPr>
        <p:spPr>
          <a:xfrm>
            <a:off x="6324447" y="408279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Timing question</a:t>
            </a:r>
          </a:p>
        </p:txBody>
      </p:sp>
      <p:sp>
        <p:nvSpPr>
          <p:cNvPr id="35" name="TextBox 34"/>
          <p:cNvSpPr txBox="1"/>
          <p:nvPr/>
        </p:nvSpPr>
        <p:spPr>
          <a:xfrm>
            <a:off x="6324447" y="42671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Would I really have this column before the outcome is known?</a:t>
            </a:r>
          </a:p>
        </p:txBody>
      </p:sp>
      <p:sp>
        <p:nvSpPr>
          <p:cNvPr id="36" name="TextBox 35"/>
          <p:cNvSpPr txBox="1"/>
          <p:nvPr/>
        </p:nvSpPr>
        <p:spPr>
          <a:xfrm>
            <a:off x="6324447" y="45171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Ablation</a:t>
            </a:r>
          </a:p>
        </p:txBody>
      </p:sp>
      <p:sp>
        <p:nvSpPr>
          <p:cNvPr id="37" name="TextBox 36"/>
          <p:cNvSpPr txBox="1"/>
          <p:nvPr/>
        </p:nvSpPr>
        <p:spPr>
          <a:xfrm>
            <a:off x="6324447" y="470147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Drop a feature, refit on the same split, record the change with its spread.</a:t>
            </a:r>
          </a:p>
        </p:txBody>
      </p:sp>
      <p:sp>
        <p:nvSpPr>
          <p:cNvPr id="38" name="TextBox 37"/>
          <p:cNvSpPr txBox="1"/>
          <p:nvPr/>
        </p:nvSpPr>
        <p:spPr>
          <a:xfrm>
            <a:off x="6324447" y="495147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Comparison protocol</a:t>
            </a:r>
          </a:p>
        </p:txBody>
      </p:sp>
      <p:sp>
        <p:nvSpPr>
          <p:cNvPr id="39" name="TextBox 38"/>
          <p:cNvSpPr txBox="1"/>
          <p:nvPr/>
        </p:nvSpPr>
        <p:spPr>
          <a:xfrm>
            <a:off x="6324447" y="513581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Split, folds, preprocessing and metric held constant across candidates.</a:t>
            </a:r>
          </a:p>
        </p:txBody>
      </p:sp>
      <p:sp>
        <p:nvSpPr>
          <p:cNvPr id="40" name="TextBox 39"/>
          <p:cNvSpPr txBox="1"/>
          <p:nvPr/>
        </p:nvSpPr>
        <p:spPr>
          <a:xfrm>
            <a:off x="6324447" y="538581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Hyperparameter</a:t>
            </a:r>
          </a:p>
        </p:txBody>
      </p:sp>
      <p:sp>
        <p:nvSpPr>
          <p:cNvPr id="41" name="TextBox 40"/>
          <p:cNvSpPr txBox="1"/>
          <p:nvPr/>
        </p:nvSpPr>
        <p:spPr>
          <a:xfrm>
            <a:off x="6324447" y="557015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number you choose before fitting. Searched inside cross-validation.</a:t>
            </a:r>
          </a:p>
        </p:txBody>
      </p:sp>
      <p:sp>
        <p:nvSpPr>
          <p:cNvPr id="42" name="TextBox 41"/>
          <p:cNvSpPr txBox="1"/>
          <p:nvPr/>
        </p:nvSpPr>
        <p:spPr>
          <a:xfrm>
            <a:off x="6324447" y="582015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Conditions of use</a:t>
            </a:r>
          </a:p>
        </p:txBody>
      </p:sp>
      <p:sp>
        <p:nvSpPr>
          <p:cNvPr id="43" name="TextBox 42"/>
          <p:cNvSpPr txBox="1"/>
          <p:nvPr/>
        </p:nvSpPr>
        <p:spPr>
          <a:xfrm>
            <a:off x="6324447" y="600449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input range and plant conditions under which your model holds.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CHEAT SHEET — PRINT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One-page reference — take this into the room</a:t>
            </a:r>
          </a:p>
        </p:txBody>
      </p:sp>
      <p:sp>
        <p:nvSpPr>
          <p:cNvPr id="4" name="TextBox 3"/>
          <p:cNvSpPr txBox="1"/>
          <p:nvPr/>
        </p:nvSpPr>
        <p:spPr>
          <a:xfrm>
            <a:off x="685800" y="1911095"/>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Profile first, one minute</a:t>
            </a:r>
          </a:p>
        </p:txBody>
      </p:sp>
      <p:sp>
        <p:nvSpPr>
          <p:cNvPr id="5" name="TextBox 4"/>
          <p:cNvSpPr txBox="1"/>
          <p:nvPr/>
        </p:nvSpPr>
        <p:spPr>
          <a:xfrm>
            <a:off x="685800" y="2298945"/>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shape · head · info · describe (read min and max first) · duplicated().sum() · isna().sum()</a:t>
            </a:r>
          </a:p>
        </p:txBody>
      </p:sp>
      <p:sp>
        <p:nvSpPr>
          <p:cNvPr id="6" name="TextBox 5"/>
          <p:cNvSpPr txBox="1"/>
          <p:nvPr/>
        </p:nvSpPr>
        <p:spPr>
          <a:xfrm>
            <a:off x="685800" y="3126462"/>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Write the framing before you model</a:t>
            </a:r>
          </a:p>
        </p:txBody>
      </p:sp>
      <p:sp>
        <p:nvSpPr>
          <p:cNvPr id="7" name="TextBox 6"/>
          <p:cNvSpPr txBox="1"/>
          <p:nvPr/>
        </p:nvSpPr>
        <p:spPr>
          <a:xfrm>
            <a:off x="685800" y="3514311"/>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Task · target and its unit · the decision it supports · rows_in. Straight into the answers cell.</a:t>
            </a:r>
          </a:p>
        </p:txBody>
      </p:sp>
      <p:sp>
        <p:nvSpPr>
          <p:cNvPr id="8" name="TextBox 7"/>
          <p:cNvSpPr txBox="1"/>
          <p:nvPr/>
        </p:nvSpPr>
        <p:spPr>
          <a:xfrm>
            <a:off x="685800" y="4341828"/>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Clean, one sentence per decision</a:t>
            </a:r>
          </a:p>
        </p:txBody>
      </p:sp>
      <p:sp>
        <p:nvSpPr>
          <p:cNvPr id="9" name="TextBox 8"/>
          <p:cNvSpPr txBox="1"/>
          <p:nvPr/>
        </p:nvSpPr>
        <p:spPr>
          <a:xfrm>
            <a:off x="685800" y="4729677"/>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What · where · likely cause · action · why. Then rows_used and rows_dropped, as a count and a proportion.</a:t>
            </a:r>
          </a:p>
        </p:txBody>
      </p:sp>
      <p:sp>
        <p:nvSpPr>
          <p:cNvPr id="10" name="TextBox 9"/>
          <p:cNvSpPr txBox="1"/>
          <p:nvPr/>
        </p:nvSpPr>
        <p:spPr>
          <a:xfrm>
            <a:off x="685800" y="5557194"/>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Fix the protocol, in writing</a:t>
            </a:r>
          </a:p>
        </p:txBody>
      </p:sp>
      <p:sp>
        <p:nvSpPr>
          <p:cNvPr id="11" name="TextBox 10"/>
          <p:cNvSpPr txBox="1"/>
          <p:nvPr/>
        </p:nvSpPr>
        <p:spPr>
          <a:xfrm>
            <a:off x="685800" y="5945043"/>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One seed · one split · same folds for every candidate · preprocessing inside the Pipeline · metric chosen now.</a:t>
            </a:r>
          </a:p>
        </p:txBody>
      </p:sp>
      <p:sp>
        <p:nvSpPr>
          <p:cNvPr id="12" name="TextBox 11"/>
          <p:cNvSpPr txBox="1"/>
          <p:nvPr/>
        </p:nvSpPr>
        <p:spPr>
          <a:xfrm>
            <a:off x="6347307" y="1911095"/>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Two models, properly</a:t>
            </a:r>
          </a:p>
        </p:txBody>
      </p:sp>
      <p:sp>
        <p:nvSpPr>
          <p:cNvPr id="13" name="TextBox 12"/>
          <p:cNvSpPr txBox="1"/>
          <p:nvPr/>
        </p:nvSpPr>
        <p:spPr>
          <a:xfrm>
            <a:off x="6347307" y="2298945"/>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The simple one first and fully working. Report cross-validated mean and spread, then the held-out score once.</a:t>
            </a:r>
          </a:p>
        </p:txBody>
      </p:sp>
      <p:sp>
        <p:nvSpPr>
          <p:cNvPr id="14" name="TextBox 13"/>
          <p:cNvSpPr txBox="1"/>
          <p:nvPr/>
        </p:nvSpPr>
        <p:spPr>
          <a:xfrm>
            <a:off x="6347307" y="3126462"/>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Interpret in units, at 1:25</a:t>
            </a:r>
          </a:p>
        </p:txBody>
      </p:sp>
      <p:sp>
        <p:nvSpPr>
          <p:cNvPr id="15" name="TextBox 14"/>
          <p:cNvSpPr txBox="1"/>
          <p:nvPr/>
        </p:nvSpPr>
        <p:spPr>
          <a:xfrm>
            <a:off x="6347307" y="3514311"/>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A number with a unit and a sentence an engineer could act on. Then three limitations from your own data.</a:t>
            </a:r>
          </a:p>
        </p:txBody>
      </p:sp>
      <p:sp>
        <p:nvSpPr>
          <p:cNvPr id="16" name="TextBox 15"/>
          <p:cNvSpPr txBox="1"/>
          <p:nvPr/>
        </p:nvSpPr>
        <p:spPr>
          <a:xfrm>
            <a:off x="6347307" y="4341828"/>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Captions state findings</a:t>
            </a:r>
          </a:p>
        </p:txBody>
      </p:sp>
      <p:sp>
        <p:nvSpPr>
          <p:cNvPr id="17" name="TextBox 16"/>
          <p:cNvSpPr txBox="1"/>
          <p:nvPr/>
        </p:nvSpPr>
        <p:spPr>
          <a:xfrm>
            <a:off x="6347307" y="4729677"/>
            <a:ext cx="5158587" cy="326890"/>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Not the axes. A number in every caption.</a:t>
            </a:r>
          </a:p>
        </p:txBody>
      </p:sp>
      <p:sp>
        <p:nvSpPr>
          <p:cNvPr id="18" name="TextBox 17"/>
          <p:cNvSpPr txBox="1"/>
          <p:nvPr/>
        </p:nvSpPr>
        <p:spPr>
          <a:xfrm>
            <a:off x="6347307" y="5285167"/>
            <a:ext cx="5158587" cy="378705"/>
          </a:xfrm>
          <a:prstGeom prst="rect">
            <a:avLst/>
          </a:prstGeom>
          <a:noFill/>
        </p:spPr>
        <p:txBody>
          <a:bodyPr wrap="square" lIns="0" rIns="0" tIns="0" bIns="0" anchor="t">
            <a:spAutoFit/>
          </a:bodyPr>
          <a:lstStyle/>
          <a:p>
            <a:pPr algn="l">
              <a:lnSpc>
                <a:spcPct val="124000"/>
              </a:lnSpc>
              <a:spcAft>
                <a:spcPts val="600"/>
              </a:spcAft>
            </a:pPr>
            <a:r>
              <a:rPr sz="1650" b="1" i="0">
                <a:solidFill>
                  <a:srgbClr val="E4572E"/>
                </a:solidFill>
                <a:latin typeface="Calibri"/>
              </a:rPr>
              <a:t>Last fifteen minutes</a:t>
            </a:r>
          </a:p>
        </p:txBody>
      </p:sp>
      <p:sp>
        <p:nvSpPr>
          <p:cNvPr id="19" name="TextBox 18"/>
          <p:cNvSpPr txBox="1"/>
          <p:nvPr/>
        </p:nvSpPr>
        <p:spPr>
          <a:xfrm>
            <a:off x="6347307" y="5673016"/>
            <a:ext cx="5158587" cy="598917"/>
          </a:xfrm>
          <a:prstGeom prst="rect">
            <a:avLst/>
          </a:prstGeom>
          <a:noFill/>
        </p:spPr>
        <p:txBody>
          <a:bodyPr wrap="square" lIns="0" rIns="0" tIns="0" bIns="0" anchor="t">
            <a:spAutoFit/>
          </a:bodyPr>
          <a:lstStyle/>
          <a:p>
            <a:pPr algn="l">
              <a:lnSpc>
                <a:spcPct val="124000"/>
              </a:lnSpc>
              <a:spcAft>
                <a:spcPts val="600"/>
              </a:spcAft>
            </a:pPr>
            <a:r>
              <a:rPr sz="1386" b="0" i="0">
                <a:solidFill>
                  <a:srgbClr val="334657"/>
                </a:solidFill>
                <a:latin typeface="Calibri"/>
              </a:rPr>
              <a:t>Restart and Run All · check the answers cell · save into the drop folder · then Part 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You know the format, the rules and the rubric</a:t>
            </a:r>
          </a:p>
          <a:p>
            <a:pPr algn="l">
              <a:lnSpc>
                <a:spcPct val="110000"/>
              </a:lnSpc>
              <a:spcAft>
                <a:spcPts val="600"/>
              </a:spcAft>
            </a:pPr>
            <a:r>
              <a:rPr sz="3400" b="1" i="0">
                <a:solidFill>
                  <a:srgbClr val="FFFFFF"/>
                </a:solidFill>
                <a:latin typeface="Cambria"/>
              </a:rPr>
              <a:t>a week before you sit down.</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There is nothing to memorise. You will be given a dataset from your own discipline that you have never seen, and asked what you make of it. Forty of the hundred marks are for evaluating and interpreting honestly, and none of them are for the score your model reaches.</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Then Week 15: Demo Day, the individual viva, and your reflection.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