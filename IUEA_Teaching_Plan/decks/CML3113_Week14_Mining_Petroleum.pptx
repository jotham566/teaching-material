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9383c1c30fc4c87" /><Relationship Type="http://schemas.openxmlformats.org/officeDocument/2006/relationships/extended-properties" Target="/docProps/app.xml" Id="Rb8de35d619ff4177" /><Relationship Type="http://schemas.openxmlformats.org/officeDocument/2006/relationships/officeDocument" Target="/ppt/presentation.xml" Id="Rf32721d87b934bd1" /></Relationships>
</file>

<file path=ppt/presentation.xml><?xml version="1.0" encoding="utf-8"?>
<p:presentation xmlns:p="http://schemas.openxmlformats.org/presentationml/2006/main">
  <p:sldMasterIdLst>
    <p:sldMasterId xmlns:r="http://schemas.openxmlformats.org/officeDocument/2006/relationships" id="2147483648" r:id="Rcf84c21487b64546"/>
  </p:sldMasterIdLst>
  <p:notesMasterIdLst>
    <p:notesMasterId xmlns:r="http://schemas.openxmlformats.org/officeDocument/2006/relationships" r:id="Rd98c251d681d47fa"/>
  </p:notesMasterIdLst>
  <p:sldIdLst>
    <p:sldId xmlns:r="http://schemas.openxmlformats.org/officeDocument/2006/relationships" id="256" r:id="Rfaaab177a4964979"/>
    <p:sldId xmlns:r="http://schemas.openxmlformats.org/officeDocument/2006/relationships" id="257" r:id="Re495887abade43ac"/>
    <p:sldId xmlns:r="http://schemas.openxmlformats.org/officeDocument/2006/relationships" id="258" r:id="R49d367b4a62f4782"/>
    <p:sldId xmlns:r="http://schemas.openxmlformats.org/officeDocument/2006/relationships" id="259" r:id="R0df0a3e2ce0f4be3"/>
    <p:sldId xmlns:r="http://schemas.openxmlformats.org/officeDocument/2006/relationships" id="260" r:id="R238774608b95415f"/>
    <p:sldId xmlns:r="http://schemas.openxmlformats.org/officeDocument/2006/relationships" id="261" r:id="R8f0dbe44318f442c"/>
    <p:sldId xmlns:r="http://schemas.openxmlformats.org/officeDocument/2006/relationships" id="262" r:id="Ra594d297e5514782"/>
    <p:sldId xmlns:r="http://schemas.openxmlformats.org/officeDocument/2006/relationships" id="263" r:id="R9410b71499044e33"/>
    <p:sldId xmlns:r="http://schemas.openxmlformats.org/officeDocument/2006/relationships" id="264" r:id="Rd50960bae78046bf"/>
    <p:sldId xmlns:r="http://schemas.openxmlformats.org/officeDocument/2006/relationships" id="265" r:id="Ra69656861e6245ca"/>
    <p:sldId xmlns:r="http://schemas.openxmlformats.org/officeDocument/2006/relationships" id="266" r:id="R2afccfcd5c22413f"/>
    <p:sldId xmlns:r="http://schemas.openxmlformats.org/officeDocument/2006/relationships" id="267" r:id="R73a7f03ef60b402d"/>
    <p:sldId xmlns:r="http://schemas.openxmlformats.org/officeDocument/2006/relationships" id="268" r:id="Rec604434808844d4"/>
    <p:sldId xmlns:r="http://schemas.openxmlformats.org/officeDocument/2006/relationships" id="269" r:id="R7fb9c18c075b4f62"/>
    <p:sldId xmlns:r="http://schemas.openxmlformats.org/officeDocument/2006/relationships" id="270" r:id="R89e9652698434b39"/>
    <p:sldId xmlns:r="http://schemas.openxmlformats.org/officeDocument/2006/relationships" id="271" r:id="Rca566b6af2114c16"/>
    <p:sldId xmlns:r="http://schemas.openxmlformats.org/officeDocument/2006/relationships" id="272" r:id="R55502cab8b6e4024"/>
    <p:sldId xmlns:r="http://schemas.openxmlformats.org/officeDocument/2006/relationships" id="273" r:id="Ra0a4ddbf0f964000"/>
    <p:sldId xmlns:r="http://schemas.openxmlformats.org/officeDocument/2006/relationships" id="274" r:id="R0f22e8af41cf4786"/>
    <p:sldId xmlns:r="http://schemas.openxmlformats.org/officeDocument/2006/relationships" id="275" r:id="Rbd863b15f91040a2"/>
    <p:sldId xmlns:r="http://schemas.openxmlformats.org/officeDocument/2006/relationships" id="276" r:id="Rea3ae02e1cfa40d7"/>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62af9285844414" /><Relationship Type="http://schemas.openxmlformats.org/officeDocument/2006/relationships/slideMaster" Target="/ppt/slideMasters/slideMaster1.xml" Id="Rcf84c21487b64546" /><Relationship Type="http://schemas.openxmlformats.org/officeDocument/2006/relationships/notesMaster" Target="/ppt/notesMasters/notesMaster1.xml" Id="Rd98c251d681d47fa" /><Relationship Type="http://schemas.openxmlformats.org/officeDocument/2006/relationships/presProps" Target="/ppt/presProps.xml" Id="R7ae19ca55edc48f7" /><Relationship Type="http://schemas.openxmlformats.org/officeDocument/2006/relationships/tableStyles" Target="/ppt/tableStyles.xml" Id="R5bae17bfbdbf4113" /><Relationship Type="http://schemas.openxmlformats.org/officeDocument/2006/relationships/slide" Target="/ppt/slides/slide1.xml" Id="Rfaaab177a4964979" /><Relationship Type="http://schemas.openxmlformats.org/officeDocument/2006/relationships/slide" Target="/ppt/slides/slide2.xml" Id="Re495887abade43ac" /><Relationship Type="http://schemas.openxmlformats.org/officeDocument/2006/relationships/slide" Target="/ppt/slides/slide3.xml" Id="R49d367b4a62f4782" /><Relationship Type="http://schemas.openxmlformats.org/officeDocument/2006/relationships/slide" Target="/ppt/slides/slide4.xml" Id="R0df0a3e2ce0f4be3" /><Relationship Type="http://schemas.openxmlformats.org/officeDocument/2006/relationships/slide" Target="/ppt/slides/slide5.xml" Id="R238774608b95415f" /><Relationship Type="http://schemas.openxmlformats.org/officeDocument/2006/relationships/slide" Target="/ppt/slides/slide6.xml" Id="R8f0dbe44318f442c" /><Relationship Type="http://schemas.openxmlformats.org/officeDocument/2006/relationships/slide" Target="/ppt/slides/slide7.xml" Id="Ra594d297e5514782" /><Relationship Type="http://schemas.openxmlformats.org/officeDocument/2006/relationships/slide" Target="/ppt/slides/slide8.xml" Id="R9410b71499044e33" /><Relationship Type="http://schemas.openxmlformats.org/officeDocument/2006/relationships/slide" Target="/ppt/slides/slide9.xml" Id="Rd50960bae78046bf" /><Relationship Type="http://schemas.openxmlformats.org/officeDocument/2006/relationships/slide" Target="/ppt/slides/slide10.xml" Id="Ra69656861e6245ca" /><Relationship Type="http://schemas.openxmlformats.org/officeDocument/2006/relationships/slide" Target="/ppt/slides/slide11.xml" Id="R2afccfcd5c22413f" /><Relationship Type="http://schemas.openxmlformats.org/officeDocument/2006/relationships/slide" Target="/ppt/slides/slide12.xml" Id="R73a7f03ef60b402d" /><Relationship Type="http://schemas.openxmlformats.org/officeDocument/2006/relationships/slide" Target="/ppt/slides/slide13.xml" Id="Rec604434808844d4" /><Relationship Type="http://schemas.openxmlformats.org/officeDocument/2006/relationships/slide" Target="/ppt/slides/slide14.xml" Id="R7fb9c18c075b4f62" /><Relationship Type="http://schemas.openxmlformats.org/officeDocument/2006/relationships/slide" Target="/ppt/slides/slide15.xml" Id="R89e9652698434b39" /><Relationship Type="http://schemas.openxmlformats.org/officeDocument/2006/relationships/slide" Target="/ppt/slides/slide16.xml" Id="Rca566b6af2114c16" /><Relationship Type="http://schemas.openxmlformats.org/officeDocument/2006/relationships/slide" Target="/ppt/slides/slide17.xml" Id="R55502cab8b6e4024" /><Relationship Type="http://schemas.openxmlformats.org/officeDocument/2006/relationships/slide" Target="/ppt/slides/slide18.xml" Id="Ra0a4ddbf0f964000" /><Relationship Type="http://schemas.openxmlformats.org/officeDocument/2006/relationships/slide" Target="/ppt/slides/slide19.xml" Id="R0f22e8af41cf4786" /><Relationship Type="http://schemas.openxmlformats.org/officeDocument/2006/relationships/slide" Target="/ppt/slides/slide20.xml" Id="Rbd863b15f91040a2" /><Relationship Type="http://schemas.openxmlformats.org/officeDocument/2006/relationships/slide" Target="/ppt/slides/slide21.xml" Id="Rea3ae02e1cfa40d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e31b3079ee4dd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319d831f7f246f7" /><Relationship Type="http://schemas.openxmlformats.org/officeDocument/2006/relationships/notesMaster" Target="/ppt/notesMasters/notesMaster1.xml" Id="Rfd1f6bac085148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e5ffc4cfd84faa" /><Relationship Type="http://schemas.openxmlformats.org/officeDocument/2006/relationships/notesMaster" Target="/ppt/notesMasters/notesMaster1.xml" Id="R8c4ed50900e04ec7" /></Relationships>
</file>

<file path=ppt/notesSlides/_rels/notesSlide3.xml.rels>&#65279;<?xml version="1.0" encoding="utf-8"?><Relationships xmlns="http://schemas.openxmlformats.org/package/2006/relationships"><Relationship Type="http://schemas.openxmlformats.org/officeDocument/2006/relationships/slide" Target="/ppt/slides/slide3.xml" Id="Rb8bc832f7b984be6" /><Relationship Type="http://schemas.openxmlformats.org/officeDocument/2006/relationships/notesMaster" Target="/ppt/notesMasters/notesMaster1.xml" Id="Ree80b4c959af4a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89bb386c208446d4" /><Relationship Type="http://schemas.openxmlformats.org/officeDocument/2006/relationships/notesMaster" Target="/ppt/notesMasters/notesMaster1.xml" Id="Rc290e907ade64c09" /></Relationships>
</file>

<file path=ppt/notesSlides/_rels/notesSlide5.xml.rels>&#65279;<?xml version="1.0" encoding="utf-8"?><Relationships xmlns="http://schemas.openxmlformats.org/package/2006/relationships"><Relationship Type="http://schemas.openxmlformats.org/officeDocument/2006/relationships/slide" Target="/ppt/slides/slide5.xml" Id="R182043baddd74c03" /><Relationship Type="http://schemas.openxmlformats.org/officeDocument/2006/relationships/notesMaster" Target="/ppt/notesMasters/notesMaster1.xml" Id="R58fc22a11ef141f5"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cdd00f37d6486f" /><Relationship Type="http://schemas.openxmlformats.org/officeDocument/2006/relationships/notesMaster" Target="/ppt/notesMasters/notesMaster1.xml" Id="Rd81e1854d362405d" /></Relationships>
</file>

<file path=ppt/notesSlides/_rels/notesSlide7.xml.rels>&#65279;<?xml version="1.0" encoding="utf-8"?><Relationships xmlns="http://schemas.openxmlformats.org/package/2006/relationships"><Relationship Type="http://schemas.openxmlformats.org/officeDocument/2006/relationships/slide" Target="/ppt/slides/slide7.xml" Id="R4c7de5e406e24155" /><Relationship Type="http://schemas.openxmlformats.org/officeDocument/2006/relationships/notesMaster" Target="/ppt/notesMasters/notesMaster1.xml" Id="R379825849b0f41b6" /></Relationships>
</file>

<file path=ppt/notesSlides/_rels/notesSlide8.xml.rels>&#65279;<?xml version="1.0" encoding="utf-8"?><Relationships xmlns="http://schemas.openxmlformats.org/package/2006/relationships"><Relationship Type="http://schemas.openxmlformats.org/officeDocument/2006/relationships/slide" Target="/ppt/slides/slide8.xml" Id="R61736505c423485c" /><Relationship Type="http://schemas.openxmlformats.org/officeDocument/2006/relationships/notesMaster" Target="/ppt/notesMasters/notesMaster1.xml" Id="Rf6e4579409b149d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80ee2109b9b47b7" /><Relationship Type="http://schemas.openxmlformats.org/officeDocument/2006/relationships/notesMaster" Target="/ppt/notesMasters/notesMaster1.xml" Id="R3944fca48ca4452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2b2a1d10734c55" /><Relationship Type="http://schemas.openxmlformats.org/officeDocument/2006/relationships/notesMaster" Target="/ppt/notesMasters/notesMaster1.xml" Id="R293a7fdd427747f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bed0e5b8a8e4b27" /><Relationship Type="http://schemas.openxmlformats.org/officeDocument/2006/relationships/notesMaster" Target="/ppt/notesMasters/notesMaster1.xml" Id="Ra47535eb247b49b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a94e200f11042ee" /><Relationship Type="http://schemas.openxmlformats.org/officeDocument/2006/relationships/notesMaster" Target="/ppt/notesMasters/notesMaster1.xml" Id="R84b221b07c0a496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fc0137320fd49fd" /><Relationship Type="http://schemas.openxmlformats.org/officeDocument/2006/relationships/notesMaster" Target="/ppt/notesMasters/notesMaster1.xml" Id="R87a4f446d0a74d3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9e45453e6414962" /><Relationship Type="http://schemas.openxmlformats.org/officeDocument/2006/relationships/notesMaster" Target="/ppt/notesMasters/notesMaster1.xml" Id="R2ad84fa405f245f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c3859e8bd2648ef" /><Relationship Type="http://schemas.openxmlformats.org/officeDocument/2006/relationships/notesMaster" Target="/ppt/notesMasters/notesMaster1.xml" Id="R7af0a7835d7443c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48dba54c19b430d" /><Relationship Type="http://schemas.openxmlformats.org/officeDocument/2006/relationships/notesMaster" Target="/ppt/notesMasters/notesMaster1.xml" Id="R223b3beae4c2474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c8927d83dbe44d7" /><Relationship Type="http://schemas.openxmlformats.org/officeDocument/2006/relationships/notesMaster" Target="/ppt/notesMasters/notesMaster1.xml" Id="Rd71bcb6fe0af447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5c9e61924224de5" /><Relationship Type="http://schemas.openxmlformats.org/officeDocument/2006/relationships/notesMaster" Target="/ppt/notesMasters/notesMaster1.xml" Id="Rc42b8be5384c49e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7ad24ffe25a485c" /><Relationship Type="http://schemas.openxmlformats.org/officeDocument/2006/relationships/notesMaster" Target="/ppt/notesMasters/notesMaster1.xml" Id="R7fcf4a91ae93415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2a4bec77f79475d" /><Relationship Type="http://schemas.openxmlformats.org/officeDocument/2006/relationships/notesMaster" Target="/ppt/notesMasters/notesMaster1.xml" Id="Rf39013565609489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de6b2761444474e" /><Relationship Type="http://schemas.openxmlformats.org/officeDocument/2006/relationships/notesMaster" Target="/ppt/notesMasters/notesMaster1.xml" Id="R2ec011240f624255"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Practical Test 2</a:t>
            </a:r>
          </a:p>
          <a:p>
            <a:r>
              <a:t>CML3113, Week 14, slide 1</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14, slide 2</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Rehearse previously taught modelling decisions.</a:t>
            </a:r>
          </a:p>
          <a:p>
            <a:r>
              <a:t/>
            </a:r>
          </a:p>
          <a:p>
            <a:r>
              <a:t>Practise saving the complete test notebook offline.</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CML3113, Week 14, slide 3</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Can you name the target, fit only on training records and explain how you would keep the test untouched?</a:t>
            </a:r>
          </a:p>
          <a:p>
            <a:r>
              <a:t/>
            </a:r>
          </a:p>
          <a:p>
            <a:r>
              <a:t>Continue to</a:t>
            </a:r>
          </a:p>
          <a:p>
            <a:r>
              <a:t>Preparation happens before the test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Preparation happens before the test</a:t>
            </a:r>
          </a:p>
          <a:p>
            <a:r>
              <a:t>CML3113, Week 14, slide 4</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Practise the already taught error calculations and data-splitting rules.</a:t>
            </a:r>
          </a:p>
          <a:p>
            <a:r>
              <a:t/>
            </a:r>
          </a:p>
          <a:p>
            <a:r>
              <a:t>Use separate practice values.</a:t>
            </a:r>
          </a:p>
          <a:p>
            <a:r>
              <a:t/>
            </a:r>
          </a:p>
          <a:p>
            <a:r>
              <a:t>The timed session follows the issued test instructions.</a:t>
            </a:r>
          </a:p>
          <a:p>
            <a:r>
              <a:t/>
            </a:r>
          </a:p>
          <a:p>
            <a:r>
              <a:t>Continue to</a:t>
            </a:r>
          </a:p>
          <a:p>
            <a:r>
              <a:t>Rehearse the offline save procedure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Rehearse the offline save procedure</a:t>
            </a:r>
          </a:p>
          <a:p>
            <a:r>
              <a:t>CML3113, Week 14, slide 5</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Save your notebook on the prepared lab computer.</a:t>
            </a:r>
          </a:p>
          <a:p>
            <a:r>
              <a:t/>
            </a:r>
          </a:p>
          <a:p>
            <a:r>
              <a:t>Type Part B under My written evidence in the notebook.</a:t>
            </a:r>
          </a:p>
          <a:p>
            <a:r>
              <a:t/>
            </a:r>
          </a:p>
          <a:p>
            <a:r>
              <a:t>Locate and reopen the complete notebook without internet.</a:t>
            </a:r>
          </a:p>
          <a:p>
            <a:r>
              <a:t/>
            </a:r>
          </a:p>
          <a:p>
            <a:r>
              <a:t>Continue to</a:t>
            </a:r>
          </a:p>
          <a:p>
            <a:r>
              <a:t>A result needs an explanation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result needs an explanation</a:t>
            </a:r>
          </a:p>
          <a:p>
            <a:r>
              <a:t>CML3113, Week 14, slide 6</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Name the target and its unit or class.</a:t>
            </a:r>
          </a:p>
          <a:p>
            <a:r>
              <a:t/>
            </a:r>
          </a:p>
          <a:p>
            <a:r>
              <a:t>Explain which data fitted preprocessing and which data evaluated the model.</a:t>
            </a:r>
          </a:p>
          <a:p>
            <a:r>
              <a:t/>
            </a:r>
          </a:p>
          <a:p>
            <a:r>
              <a:t>A high score alone does not establish a useful engineering model.</a:t>
            </a:r>
          </a:p>
          <a:p>
            <a:r>
              <a:t/>
            </a:r>
          </a:p>
          <a:p>
            <a:r>
              <a:t>Continue to</a:t>
            </a:r>
          </a:p>
          <a:p>
            <a:r>
              <a:t>Practice before test day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Practice before test day</a:t>
            </a:r>
          </a:p>
          <a:p>
            <a:r>
              <a:t>CML3113, Week 14, slide 7</a:t>
            </a:r>
          </a:p>
          <a:p>
            <a:r>
              <a:t/>
            </a:r>
          </a:p>
          <a:p>
            <a:r>
              <a:t>Explanation to give</a:t>
            </a:r>
          </a:p>
          <a:p>
            <a:r>
              <a:t>Pair the actual and predicted values in order. The first absolute error is abs(4-5)=1; the second is abs(8-6)=2.</a:t>
            </a:r>
          </a:p>
          <a:p>
            <a:r>
              <a:t/>
            </a:r>
          </a:p>
          <a:p>
            <a:r>
              <a:t>Worked illustration / lecturer answer</a:t>
            </a:r>
          </a:p>
          <a:p>
            <a:r>
              <a:t>Their mean is (1+2)/2=1.5. The unit is the target unit. Both observations contribute once to the numerator and denominator.</a:t>
            </a:r>
          </a:p>
          <a:p>
            <a:r>
              <a:t/>
            </a:r>
          </a:p>
          <a:p>
            <a:r>
              <a:t>Misconception to address</a:t>
            </a:r>
          </a:p>
          <a:p>
            <a:r>
              <a:t>Use the practice values only before the assessed session. MAE 1.5 is an average, not a maximum error guarantee.</a:t>
            </a:r>
          </a:p>
          <a:p>
            <a:r>
              <a:t/>
            </a:r>
          </a:p>
          <a:p>
            <a:r>
              <a:t>Read the displayed code line by line</a:t>
            </a:r>
          </a:p>
          <a:p>
            <a:r>
              <a:t>actual = [4, 8]</a:t>
            </a:r>
          </a:p>
          <a:p>
            <a:r>
              <a:t>Evaluate the complete right-hand expression first, then assign its result to the name or selected field on the left.</a:t>
            </a:r>
          </a:p>
          <a:p>
            <a:r>
              <a:t/>
            </a:r>
          </a:p>
          <a:p>
            <a:r>
              <a:t>predicted = [5, 6]</a:t>
            </a:r>
          </a:p>
          <a:p>
            <a:r>
              <a:t>Evaluate the complete right-hand expression first, then assign its result to the name or selected field on the left.</a:t>
            </a:r>
          </a:p>
          <a:p>
            <a:r>
              <a:t/>
            </a:r>
          </a:p>
          <a:p>
            <a:r>
              <a:t>errors = []</a:t>
            </a:r>
          </a:p>
          <a:p>
            <a:r>
              <a:t>Evaluate the complete right-hand expression first, then assign its result to the name or selected field on the left.</a:t>
            </a:r>
          </a:p>
          <a:p>
            <a:r>
              <a:t/>
            </a:r>
          </a:p>
          <a:p>
            <a:r>
              <a:t>for a, p in zip(actual, predicted):</a:t>
            </a:r>
          </a:p>
          <a:p>
            <a:r>
              <a:t>Take each item or pair in turn, assign the loop name(s), and repeat the indented body.</a:t>
            </a:r>
          </a:p>
          <a:p>
            <a:r>
              <a:t/>
            </a:r>
          </a:p>
          <a:p>
            <a:r>
              <a:t>errors.append(abs(a - p))</a:t>
            </a:r>
          </a:p>
          <a:p>
            <a:r>
              <a:t>Evaluate the argument and add it as one new item at the end of this list.</a:t>
            </a:r>
          </a:p>
          <a:p>
            <a:r>
              <a:t/>
            </a:r>
          </a:p>
          <a:p>
            <a:r>
              <a:t>print(sum(errors) / len(errors))</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Test session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Test session</a:t>
            </a:r>
          </a:p>
          <a:p>
            <a:r>
              <a:t>CML3113, Week 14, slide 8</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00–15 minutes: briefing and file check.</a:t>
            </a:r>
          </a:p>
          <a:p>
            <a:r>
              <a:t/>
            </a:r>
          </a:p>
          <a:p>
            <a:r>
              <a:t>15–135 minutes: individual practical work.</a:t>
            </a:r>
          </a:p>
          <a:p>
            <a:r>
              <a:t/>
            </a:r>
          </a:p>
          <a:p>
            <a:r>
              <a:t>135–160 minutes: typed offline reasoning, with code execution prohibited.</a:t>
            </a:r>
          </a:p>
          <a:p>
            <a:r>
              <a:t/>
            </a:r>
          </a:p>
          <a:p>
            <a:r>
              <a:t>160–180 minutes: save and hand in through invigilated offline collection.</a:t>
            </a:r>
          </a:p>
          <a:p>
            <a:r>
              <a:t/>
            </a:r>
          </a:p>
          <a:p>
            <a:r>
              <a:t>Continue to</a:t>
            </a:r>
          </a:p>
          <a:p>
            <a:r>
              <a:t>Preparation checkpoint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Preparation checkpoint</a:t>
            </a:r>
          </a:p>
          <a:p>
            <a:r>
              <a:t>CML3113, Week 14, slide 9</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Each learner can save and reopen the complete notebook in the offline setting.</a:t>
            </a:r>
          </a:p>
          <a:p>
            <a:r>
              <a:t/>
            </a:r>
          </a:p>
          <a:p>
            <a:r>
              <a:t>Continue to</a:t>
            </a:r>
          </a:p>
          <a:p>
            <a:r>
              <a:t>Your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Your evidence</a:t>
            </a:r>
          </a:p>
          <a:p>
            <a:r>
              <a:t>CML3113, Week 14, slide 10</a:t>
            </a:r>
          </a:p>
          <a:p>
            <a:r>
              <a:t/>
            </a:r>
          </a:p>
          <a:p>
            <a:r>
              <a:t>Explanation to give</a:t>
            </a:r>
          </a:p>
          <a:p>
            <a:r>
              <a:t>Show the offline save location and reopen the file before test day. Identify both the code cells and the markdown cell headed My written evidence.</a:t>
            </a:r>
          </a:p>
          <a:p>
            <a:r>
              <a:t/>
            </a:r>
          </a:p>
          <a:p>
            <a:r>
              <a:t>Worked illustration / lecturer answer</a:t>
            </a:r>
          </a:p>
          <a:p>
            <a:r>
              <a:t>Use a separate practice notebook for rehearsal. Students should locate the actual .ipynb on disk rather than rely on a browser tab or cloud link.</a:t>
            </a:r>
          </a:p>
          <a:p>
            <a:r>
              <a:t/>
            </a:r>
          </a:p>
          <a:p>
            <a:r>
              <a:t>Misconception to address</a:t>
            </a:r>
          </a:p>
          <a:p>
            <a:r>
              <a:t>During the assessed period, report technical failures immediately and follow the invigilator’s instructions. Do not introduce new modelling code or online resources.</a:t>
            </a:r>
          </a:p>
          <a:p>
            <a:r>
              <a:t/>
            </a:r>
          </a:p>
          <a:p>
            <a:r>
              <a:t>On this slide</a:t>
            </a:r>
          </a:p>
          <a:p>
            <a:r>
              <a:t>Use TEST2’s official brief, interfaces, time allocation, permitted resources and packet requirements.</a:t>
            </a:r>
          </a:p>
          <a:p>
            <a:r>
              <a:t/>
            </a:r>
          </a:p>
          <a:p>
            <a:r>
              <a:t>Follow the test instructions issued by your lecturer.</a:t>
            </a:r>
          </a:p>
          <a:p>
            <a:r>
              <a:t/>
            </a:r>
          </a:p>
          <a:p>
            <a:r>
              <a:t>Continue to</a:t>
            </a:r>
          </a:p>
          <a:p>
            <a:r>
              <a:t>Practical Test 2</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a:t>
            </a:r>
          </a:p>
          <a:p>
            <a:r>
              <a:t>CML3113, Week 14, slide 11</a:t>
            </a:r>
          </a:p>
          <a:p>
            <a:r>
              <a:t/>
            </a:r>
          </a:p>
          <a:p>
            <a:r>
              <a:t>Explanation to give</a:t>
            </a:r>
          </a:p>
          <a:p>
            <a:r>
              <a:t>Show the actual markdown answer cell headed My written evidence. This is where the learner explains the choices and the supplied scenario in their own words.</a:t>
            </a:r>
          </a:p>
          <a:p>
            <a:r>
              <a:t/>
            </a:r>
          </a:p>
          <a:p>
            <a:r>
              <a:t>Worked illustration / lecturer answer</a:t>
            </a:r>
          </a:p>
          <a:p>
            <a:r>
              <a:t>A useful explanation connects a decision to a named result and its limitation: for example, why a training-only median avoids using evaluation information. Describe supplied scenario figures as supplied, not as measurements the learner produced.</a:t>
            </a:r>
          </a:p>
          <a:p>
            <a:r>
              <a:t/>
            </a:r>
          </a:p>
          <a:p>
            <a:r>
              <a:t>Misconception to address</a:t>
            </a:r>
          </a:p>
          <a:p>
            <a:r>
              <a:t>Prompts and copied code comments do not substitute for the learner’s reasoning. Weekly work and tests use the notebook; projects also require their separate readable report.</a:t>
            </a:r>
          </a:p>
          <a:p>
            <a:r>
              <a:t/>
            </a:r>
          </a:p>
          <a:p>
            <a:r>
              <a:t>On this slide</a:t>
            </a:r>
          </a:p>
          <a:p>
            <a:r>
              <a:t>Write your own explanation in the markdown cell headed `## My written evidence`.</a:t>
            </a:r>
          </a:p>
          <a:p>
            <a:r>
              <a:t/>
            </a:r>
          </a:p>
          <a:p>
            <a:r>
              <a:t>Keep that heading.</a:t>
            </a:r>
          </a:p>
          <a:p>
            <a:r>
              <a:t/>
            </a:r>
          </a:p>
          <a:p>
            <a:r>
              <a:t>Task prompts and code comments are excluded from reasoning marks.</a:t>
            </a:r>
          </a:p>
          <a:p>
            <a:r>
              <a:t/>
            </a:r>
          </a:p>
          <a:p>
            <a:r>
              <a:t>Complete every original rubric criterion below, not just the checked functions.</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CML3113, Week 14, slide 12</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Include profiling, justified cleaning, question-led charts and your engineering recommendation where required.</a:t>
            </a:r>
          </a:p>
          <a:p>
            <a:r>
              <a:t/>
            </a:r>
          </a:p>
          <a:p>
            <a:r>
              <a:t>Keep raw data.</a:t>
            </a:r>
          </a:p>
          <a:p>
            <a:r>
              <a:t/>
            </a:r>
          </a:p>
          <a:p>
            <a:r>
              <a:t>State units and distinguish correlation from causation.</a:t>
            </a:r>
          </a:p>
          <a:p>
            <a:r>
              <a:t/>
            </a:r>
          </a:p>
          <a:p>
            <a:r>
              <a:t>Charts must be actual labelled figures in the notebook, not claims that charts exist.</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CML3113, Week 14, slide 13</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Include captions and readable written evidence in the notebook.</a:t>
            </a:r>
          </a:p>
          <a:p>
            <a:r>
              <a:t/>
            </a:r>
          </a:p>
          <a:p>
            <a:r>
              <a:t>Task framing (10.0 total): The ML task is correctly identified, the target named, and regression vs classification correctly chosen and justified.</a:t>
            </a:r>
          </a:p>
          <a:p>
            <a:r>
              <a:t/>
            </a:r>
          </a:p>
          <a:p>
            <a:r>
              <a:t>Data preparation &amp; leakage control (20.0 total): Cleaning and encoding appropriate.</a:t>
            </a:r>
          </a:p>
          <a:p>
            <a:r>
              <a:t/>
            </a:r>
          </a:p>
          <a:p>
            <a:r>
              <a:t>Split made before any fitting.</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CML3113, Week 14, slide 14</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Pipeline used.</a:t>
            </a:r>
          </a:p>
          <a:p>
            <a:r>
              <a:t/>
            </a:r>
          </a:p>
          <a:p>
            <a:r>
              <a:t>No leakage present - a leak found by the marker caps this criterion at zero.</a:t>
            </a:r>
          </a:p>
          <a:p>
            <a:r>
              <a:t/>
            </a:r>
          </a:p>
          <a:p>
            <a:r>
              <a:t>Modelling protocol (20.0 total): At least two models built and compared under identical conditions.</a:t>
            </a:r>
          </a:p>
          <a:p>
            <a:r>
              <a:t/>
            </a:r>
          </a:p>
          <a:p>
            <a:r>
              <a:t>Baseline included.</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CML3113, Week 14, slide 15</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Hyperparameters handled sensibly.</a:t>
            </a:r>
          </a:p>
          <a:p>
            <a:r>
              <a:t/>
            </a:r>
          </a:p>
          <a:p>
            <a:r>
              <a:t>Evaluation &amp; metric justification (20.0 total): Correct metrics computed.</a:t>
            </a:r>
          </a:p>
          <a:p>
            <a:r>
              <a:t/>
            </a:r>
          </a:p>
          <a:p>
            <a:r>
              <a:t>Metric choice defended against the cost of error.</a:t>
            </a:r>
          </a:p>
          <a:p>
            <a:r>
              <a:t/>
            </a:r>
          </a:p>
          <a:p>
            <a:r>
              <a:t>Cross-validation reported with a spread, not a single number.</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CML3113, Week 14, slide 16</a:t>
            </a:r>
          </a:p>
          <a:p>
            <a:r>
              <a:t/>
            </a:r>
          </a:p>
          <a:p>
            <a:r>
              <a:t>Explanation to give</a:t>
            </a:r>
          </a:p>
          <a:p>
            <a:r>
              <a:t>Read the metric with its unit and evaluation population. Explain why that error measure matches the cost of a wrong decision in the stated engineering setting.</a:t>
            </a:r>
          </a:p>
          <a:p>
            <a:r>
              <a:t/>
            </a:r>
          </a:p>
          <a:p>
            <a:r>
              <a:t>Worked illustration / lecturer answer</a:t>
            </a:r>
          </a:p>
          <a:p>
            <a:r>
              <a:t>MAE 3 kW describes an average absolute error on named observations; it does not guarantee every prediction lies within 3 kW. Report baseline comparison and the evaluation protocol.</a:t>
            </a:r>
          </a:p>
          <a:p>
            <a:r>
              <a:t/>
            </a:r>
          </a:p>
          <a:p>
            <a:r>
              <a:t>Misconception to address</a:t>
            </a:r>
          </a:p>
          <a:p>
            <a:r>
              <a:t>Avoid a deployment claim based only on a score. State genuine limitations involving data coverage, measurement quality or future operating conditions.</a:t>
            </a:r>
          </a:p>
          <a:p>
            <a:r>
              <a:t/>
            </a:r>
          </a:p>
          <a:p>
            <a:r>
              <a:t>On this slide</a:t>
            </a:r>
          </a:p>
          <a:p>
            <a:r>
              <a:t>Engineering interpretation &amp; limits (20.0 total): The result is stated in physical or operational units.</a:t>
            </a:r>
          </a:p>
          <a:p>
            <a:r>
              <a:t/>
            </a:r>
          </a:p>
          <a:p>
            <a:r>
              <a:t>Three genuine limitations given.</a:t>
            </a:r>
          </a:p>
          <a:p>
            <a:r>
              <a:t/>
            </a:r>
          </a:p>
          <a:p>
            <a:r>
              <a:t>A clear position on whether it should be deployed.</a:t>
            </a:r>
          </a:p>
          <a:p>
            <a:r>
              <a:t/>
            </a:r>
          </a:p>
          <a:p>
            <a:r>
              <a:t>Code clarity (10.0 total): Runs top to bottom.</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CML3113, Week 14, slide 17</a:t>
            </a:r>
          </a:p>
          <a:p>
            <a:r>
              <a:t/>
            </a:r>
          </a:p>
          <a:p>
            <a:r>
              <a:t>Explanation to give</a:t>
            </a:r>
          </a:p>
          <a:p>
            <a:r>
              <a:t>Explain the order: partition data using the stated protocol, fit preparation on training data, fit models, compare on validation data and leave final test data untouched until choices are fixed.</a:t>
            </a:r>
          </a:p>
          <a:p>
            <a:r>
              <a:t/>
            </a:r>
          </a:p>
          <a:p>
            <a:r>
              <a:t>Worked illustration / lecturer answer</a:t>
            </a:r>
          </a:p>
          <a:p>
            <a:r>
              <a:t>Compare models on identical held-out observations with the same metric and preprocessing rules. Each cross-validation training fold learns its own preparation values.</a:t>
            </a:r>
          </a:p>
          <a:p>
            <a:r>
              <a:t/>
            </a:r>
          </a:p>
          <a:p>
            <a:r>
              <a:t>Misconception to address</a:t>
            </a:r>
          </a:p>
          <a:p>
            <a:r>
              <a:t>A written claim of no leakage must agree with the executable split and fitting code. Follow the published execution requirement for any criterion linked to the split check.</a:t>
            </a:r>
          </a:p>
          <a:p>
            <a:r>
              <a:t/>
            </a:r>
          </a:p>
          <a:p>
            <a:r>
              <a:t>On this slide</a:t>
            </a:r>
          </a:p>
          <a:p>
            <a:r>
              <a:t>Readable.</a:t>
            </a:r>
          </a:p>
          <a:p>
            <a:r>
              <a:t/>
            </a:r>
          </a:p>
          <a:p>
            <a:r>
              <a:t>Commented where the intent is not obvious.</a:t>
            </a:r>
          </a:p>
          <a:p>
            <a:r>
              <a:t/>
            </a:r>
          </a:p>
          <a:p>
            <a:r>
              <a:t>Execution requirement for c2: Data-preparation credit requires the published leakage-safe split check to pass.</a:t>
            </a:r>
          </a:p>
          <a:p>
            <a:r>
              <a:t/>
            </a:r>
          </a:p>
          <a:p>
            <a:r>
              <a:t>If this check fails, written marks in that criterion are zero; other criteria remain independently scored.</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CML3113, Week 14, slide 18</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At the Part A boundary, follow the official snapshot procedure. During the 25-minute Part B period, students type reasoning but must not execute code. Do not change the published timing during an explanation.</a:t>
            </a:r>
          </a:p>
          <a:p>
            <a:r>
              <a:t/>
            </a:r>
          </a:p>
          <a:p>
            <a:r>
              <a:t>On this slide</a:t>
            </a:r>
          </a:p>
          <a:p>
            <a:r>
              <a:t>Timing and Part B</a:t>
            </a:r>
          </a:p>
          <a:p>
            <a:r>
              <a:t/>
            </a:r>
          </a:p>
          <a:p>
            <a:r>
              <a:t>15 minutes setup, 120 minutes practical, 25 minutes typed offline reasoning with code execution prohibited, 20 minutes collection.</a:t>
            </a:r>
          </a:p>
          <a:p>
            <a:r>
              <a:t/>
            </a:r>
          </a:p>
          <a:p>
            <a:r>
              <a:t>No internet, messaging or AI.</a:t>
            </a:r>
          </a:p>
          <a:p>
            <a:r>
              <a:t/>
            </a:r>
          </a:p>
          <a:p>
            <a:r>
              <a:t>Answer: Why your main cleaning/model choice?</a:t>
            </a:r>
          </a:p>
          <a:p>
            <a:r>
              <a:t/>
            </a:r>
          </a:p>
          <a:p>
            <a:r>
              <a:t>Continue to</a:t>
            </a:r>
          </a:p>
          <a:p>
            <a:r>
              <a:t>Practical Test 2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continued</a:t>
            </a:r>
          </a:p>
          <a:p>
            <a:r>
              <a:t>CML3113, Week 14, slide 19</a:t>
            </a:r>
          </a:p>
          <a:p>
            <a:r>
              <a:t/>
            </a:r>
          </a:p>
          <a:p>
            <a:r>
              <a:t>Explanation to give</a:t>
            </a:r>
          </a:p>
          <a:p>
            <a:r>
              <a:t>A chart must answer a stated question and show the actual data result. Explain what one mark represents and label both the quantity and unit before stating the finding.</a:t>
            </a:r>
          </a:p>
          <a:p>
            <a:r>
              <a:t/>
            </a:r>
          </a:p>
          <a:p>
            <a:r>
              <a:t>Worked illustration / lecturer answer</a:t>
            </a:r>
          </a:p>
          <a:p>
            <a:r>
              <a:t>A useful caption names the group or sample, the observed difference and the relevant unit. A limitation states what the plotted observations cannot establish, such as causation or performance at a new site.</a:t>
            </a:r>
          </a:p>
          <a:p>
            <a:r>
              <a:t/>
            </a:r>
          </a:p>
          <a:p>
            <a:r>
              <a:t>Misconception to address</a:t>
            </a:r>
          </a:p>
          <a:p>
            <a:r>
              <a:t>Text claiming “a chart was made” is not the required chart. Check the exact number and kinds required on this slide and in the assessment guide.</a:t>
            </a:r>
          </a:p>
          <a:p>
            <a:r>
              <a:t/>
            </a:r>
          </a:p>
          <a:p>
            <a:r>
              <a:t>On this slide</a:t>
            </a:r>
          </a:p>
          <a:p>
            <a:r>
              <a:t>What can your chart/metric not establish?</a:t>
            </a:r>
          </a:p>
          <a:p>
            <a:r>
              <a:t/>
            </a:r>
          </a:p>
          <a:p>
            <a:r>
              <a:t>What evidence would change your recommendation?</a:t>
            </a:r>
          </a:p>
          <a:p>
            <a:r>
              <a:t/>
            </a:r>
          </a:p>
          <a:p>
            <a:r>
              <a:t>What further data is required?</a:t>
            </a:r>
          </a:p>
          <a:p>
            <a:r>
              <a:t/>
            </a:r>
          </a:p>
          <a:p>
            <a:r>
              <a:t>Invigilated offline collection is authoritative; Google upload is a later transport step and must not impose an internet requirement during the test.</a:t>
            </a:r>
          </a:p>
          <a:p>
            <a:r>
              <a:t/>
            </a:r>
          </a:p>
          <a:p>
            <a:r>
              <a:t>Continue to</a:t>
            </a:r>
          </a:p>
          <a:p>
            <a:r>
              <a:t>Practical Test 2 submission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Practical Test 2 submission</a:t>
            </a:r>
          </a:p>
          <a:p>
            <a:r>
              <a:t>CML3113, Week 14, slide 20</a:t>
            </a:r>
          </a:p>
          <a:p>
            <a:r>
              <a:t/>
            </a:r>
          </a:p>
          <a:p>
            <a:r>
              <a:t>Explanation to give</a:t>
            </a:r>
          </a:p>
          <a:p>
            <a:r>
              <a:t>This slide hands over CML3113 TEST2. Show the exact form title before uploading. The required packet is one completed .ipynb notebook.</a:t>
            </a:r>
          </a:p>
          <a:p>
            <a:r>
              <a:t/>
            </a:r>
          </a:p>
          <a:p>
            <a:r>
              <a:t>Worked illustration / lecturer answer</a:t>
            </a:r>
          </a:p>
          <a:p>
            <a:r>
              <a:t>For TEST1/TEST2, save Part B under My written evidence. Collect the complete notebook offline under invigilation; the later form upload only transports that collected version.</a:t>
            </a:r>
          </a:p>
          <a:p>
            <a:r>
              <a:t/>
            </a:r>
          </a:p>
          <a:p>
            <a:r>
              <a:t>Misconception to address</a:t>
            </a:r>
          </a:p>
          <a:p>
            <a:r>
              <a:t>Students enter their own Student Registration Number as required freeform text. They wait for filenames to appear, press Submit and keep the confirmation. A file saved in Drive or GitHub is not itself a form submission.</a:t>
            </a:r>
          </a:p>
          <a:p>
            <a:r>
              <a:t/>
            </a:r>
          </a:p>
          <a:p>
            <a:r>
              <a:t>On this slide</a:t>
            </a:r>
          </a:p>
          <a:p>
            <a:r>
              <a:t>Offline invigilated collection is authoritative.</a:t>
            </a:r>
          </a:p>
          <a:p>
            <a:r>
              <a:t/>
            </a:r>
          </a:p>
          <a:p>
            <a:r>
              <a:t>Google upload is a later transport step.</a:t>
            </a:r>
          </a:p>
          <a:p>
            <a:r>
              <a:t/>
            </a:r>
          </a:p>
          <a:p>
            <a:r>
              <a:t>Save one notebook with Part B under My written evidence.</a:t>
            </a:r>
          </a:p>
          <a:p>
            <a:r>
              <a:t/>
            </a:r>
          </a:p>
          <a:p>
            <a:r>
              <a:t>No internet, messaging or AI during the test.</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CML3113, Week 14, slide 21</a:t>
            </a:r>
          </a:p>
          <a:p>
            <a:r>
              <a:t/>
            </a:r>
          </a:p>
          <a:p>
            <a:r>
              <a:t>Explanation to give</a:t>
            </a:r>
          </a:p>
          <a:p>
            <a:r>
              <a:t>Prepare for Test 2 by rehearsing the previously taught modelling decisions and the offline evidence workflow. Do not turn the assessed period into a worked lesson.</a:t>
            </a:r>
          </a:p>
          <a:p>
            <a:r>
              <a:t/>
            </a:r>
          </a:p>
          <a:p>
            <a:r>
              <a:t>Worked illustration / lecturer answer</a:t>
            </a:r>
          </a:p>
          <a:p>
            <a:r>
              <a:t>Part B is typed reasoning in the same notebook, with code execution prohibited. The invigilated collection is authoritative; a later upload only transports that snapshot.</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You can explain training-only preprocessing and locate your saved evidence.</a:t>
            </a:r>
          </a:p>
          <a:p>
            <a:r>
              <a:t/>
            </a:r>
          </a:p>
          <a:p>
            <a:r>
              <a:t>Save your work and check the required submission files.</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32dc73c5a454aa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d06d1b658d5495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994065c051f49f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062073d6cd24c3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8039bc8a20f429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3cb9c6274274e8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29A2D2E-51CB-4D2C-A7EE-84F9E2F21E35}"/>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CAEEAA6-98EA-4A34-AE48-97EB3146285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6842A679-6CE2-4DD7-B11B-89E0347962DB}"/>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871A4AB5-7C26-44A1-AC1C-C1C8927FD275}"/>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B164532-7258-4892-AD04-6F9E6CF2979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66553C4-1D43-4CFD-8570-46FDB80E8FF1}"/>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B8152E5-5D85-410F-A376-CDAD4CE8E2C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B3E8B3DD-488B-4CB1-8B58-9F60B7381858}"/>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DBD83456-85EB-4C21-AE12-08B19C25130C}"/>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0E8BB84-F529-4EB1-86BF-936C0B5AB98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CDFD40C-AFBF-4876-A01B-F0C2EBF1EA2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C0277225-5DC4-437F-838D-2BC59E5EF413}"/>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0F72459-FB8A-4329-9E21-109276344C66}"/>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DB7C72F-E080-4967-AD36-BE1CBC07D86E}"/>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8E173DDE-91C7-44A8-A0F3-25085759A2A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e55afba30a048b3" /><Relationship Type="http://schemas.openxmlformats.org/officeDocument/2006/relationships/slideLayout" Target="/ppt/slideLayouts/slideLayout1.xml" Id="R3e05aa03cbc64c04" /><Relationship Type="http://schemas.openxmlformats.org/officeDocument/2006/relationships/slideLayout" Target="/ppt/slideLayouts/slideLayout2.xml" Id="R959806b0dac84972" /><Relationship Type="http://schemas.openxmlformats.org/officeDocument/2006/relationships/slideLayout" Target="/ppt/slideLayouts/slideLayout3.xml" Id="R2c3d0c55f0994c47" /><Relationship Type="http://schemas.openxmlformats.org/officeDocument/2006/relationships/slideLayout" Target="/ppt/slideLayouts/slideLayout4.xml" Id="R8c8572f079f549e4" /><Relationship Type="http://schemas.openxmlformats.org/officeDocument/2006/relationships/slideLayout" Target="/ppt/slideLayouts/slideLayout5.xml" Id="Re551b76c183740cb" /><Relationship Type="http://schemas.openxmlformats.org/officeDocument/2006/relationships/slideLayout" Target="/ppt/slideLayouts/slideLayout6.xml" Id="R84904f556438403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e05aa03cbc64c04"/>
    <p:sldLayoutId xmlns:r="http://schemas.openxmlformats.org/officeDocument/2006/relationships" id="2147483650" r:id="R959806b0dac84972"/>
    <p:sldLayoutId xmlns:r="http://schemas.openxmlformats.org/officeDocument/2006/relationships" id="2147483651" r:id="R2c3d0c55f0994c47"/>
    <p:sldLayoutId xmlns:r="http://schemas.openxmlformats.org/officeDocument/2006/relationships" id="2147483652" r:id="R8c8572f079f549e4"/>
    <p:sldLayoutId xmlns:r="http://schemas.openxmlformats.org/officeDocument/2006/relationships" id="2147483653" r:id="Re551b76c183740cb"/>
    <p:sldLayoutId xmlns:r="http://schemas.openxmlformats.org/officeDocument/2006/relationships" id="2147483654" r:id="R84904f556438403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e85fcd868cb4179" /><Relationship Type="http://schemas.openxmlformats.org/officeDocument/2006/relationships/image" Target="/ppt/media/image.png" Id="R466ecf135a094a5f" /><Relationship Type="http://schemas.openxmlformats.org/officeDocument/2006/relationships/notesSlide" Target="/ppt/notesSlides/notesSlide1.xml" Id="R186a12be7b34427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253ffbba6d84dd6" /><Relationship Type="http://schemas.openxmlformats.org/officeDocument/2006/relationships/notesSlide" Target="/ppt/notesSlides/notesSlide2.xml" Id="R320bb96a0fb6445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eacd41cacf9426c" /><Relationship Type="http://schemas.openxmlformats.org/officeDocument/2006/relationships/notesSlide" Target="/ppt/notesSlides/notesSlide3.xml" Id="R34c90e2300ed499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250dca6cf0d42e0" /><Relationship Type="http://schemas.openxmlformats.org/officeDocument/2006/relationships/notesSlide" Target="/ppt/notesSlides/notesSlide4.xml" Id="R6f4da7c50c7d4cf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bed7118e221431c" /><Relationship Type="http://schemas.openxmlformats.org/officeDocument/2006/relationships/notesSlide" Target="/ppt/notesSlides/notesSlide5.xml" Id="Re04dca462bde46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9d8061dd0192474d" /><Relationship Type="http://schemas.openxmlformats.org/officeDocument/2006/relationships/notesSlide" Target="/ppt/notesSlides/notesSlide6.xml" Id="Re6795b1517e74bd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a92ba74ea454697" /><Relationship Type="http://schemas.openxmlformats.org/officeDocument/2006/relationships/notesSlide" Target="/ppt/notesSlides/notesSlide7.xml" Id="R77f0e5b78da64be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7ce64ad14e04b0d" /><Relationship Type="http://schemas.openxmlformats.org/officeDocument/2006/relationships/notesSlide" Target="/ppt/notesSlides/notesSlide8.xml" Id="Radbfdce464a3477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2e824d4901c4358" /><Relationship Type="http://schemas.openxmlformats.org/officeDocument/2006/relationships/notesSlide" Target="/ppt/notesSlides/notesSlide9.xml" Id="R03fd45dd661b402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fa2e62ccba243a8" /><Relationship Type="http://schemas.openxmlformats.org/officeDocument/2006/relationships/notesSlide" Target="/ppt/notesSlides/notesSlide10.xml" Id="Rf48fb19d31ed4fd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46ff57b9ad594efe" /><Relationship Type="http://schemas.openxmlformats.org/officeDocument/2006/relationships/notesSlide" Target="/ppt/notesSlides/notesSlide11.xml" Id="R044e878d7b424b8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a68d350f88c48de" /><Relationship Type="http://schemas.openxmlformats.org/officeDocument/2006/relationships/notesSlide" Target="/ppt/notesSlides/notesSlide12.xml" Id="R8864f6a9fa284c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7accf6f58b984a62" /><Relationship Type="http://schemas.openxmlformats.org/officeDocument/2006/relationships/notesSlide" Target="/ppt/notesSlides/notesSlide13.xml" Id="R140b2e9efcf1475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3f0f6d33b874b24" /><Relationship Type="http://schemas.openxmlformats.org/officeDocument/2006/relationships/notesSlide" Target="/ppt/notesSlides/notesSlide14.xml" Id="Rb5a75c01c618476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2f429c0159d4536" /><Relationship Type="http://schemas.openxmlformats.org/officeDocument/2006/relationships/notesSlide" Target="/ppt/notesSlides/notesSlide15.xml" Id="R249bd9fe06f54a7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19ed679075b4af3" /><Relationship Type="http://schemas.openxmlformats.org/officeDocument/2006/relationships/notesSlide" Target="/ppt/notesSlides/notesSlide16.xml" Id="R0f016368287546d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9b37a3dc72a476f" /><Relationship Type="http://schemas.openxmlformats.org/officeDocument/2006/relationships/notesSlide" Target="/ppt/notesSlides/notesSlide17.xml" Id="R03d54e04fc764e7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4dec361418c49db" /><Relationship Type="http://schemas.openxmlformats.org/officeDocument/2006/relationships/notesSlide" Target="/ppt/notesSlides/notesSlide18.xml" Id="Ref2cfbcc3ff84c0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4f48c218d064ca0" /><Relationship Type="http://schemas.openxmlformats.org/officeDocument/2006/relationships/notesSlide" Target="/ppt/notesSlides/notesSlide19.xml" Id="R36f50c578f3043f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fcc8c56b86c4528" /><Relationship Type="http://schemas.openxmlformats.org/officeDocument/2006/relationships/hyperlink" Target="https://docs.google.com/forms/d/e/1FAIpQLSeAnqjVsUO288tWRg47SCH61K6pzS7hTyYb40MH5KKd9aPkAA/viewform" TargetMode="External" Id="R918779a69b074c02" /><Relationship Type="http://schemas.openxmlformats.org/officeDocument/2006/relationships/notesSlide" Target="/ppt/notesSlides/notesSlide20.xml" Id="R78679d0d971a44a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86a795175844c14" /><Relationship Type="http://schemas.openxmlformats.org/officeDocument/2006/relationships/notesSlide" Target="/ppt/notesSlides/notesSlide21.xml" Id="R4196cfbb3eb745b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66ecf135a094a5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DB668F3-C673-43FE-A01A-38CBA13F9F2D}"/>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88D5360-1243-432B-8D93-0973A8DC29E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14</a:t>
            </a:r>
          </a:p>
        </p:txBody>
      </p:sp>
      <p:sp>
        <p:nvSpPr>
          <p:cNvPr id="4" name="">
            <a:extLst xmlns:a="http://schemas.openxmlformats.org/drawingml/2006/main">
              <a:ext uri="{FF2B5EF4-FFF2-40B4-BE49-F238E27FC236}">
                <a16:creationId xmlns:a16="http://schemas.microsoft.com/office/drawing/2014/main" id="{CC14B73A-A2F3-4DF3-8718-AACD913EBBDE}"/>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82E44298-84E3-4405-AC2D-3C1D2F4DAD07}"/>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A4D5BD67-4597-4DA5-B3B9-66118DD3F708}"/>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209331986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5E5AE57-6836-4D39-9397-54BE9DE8CA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55FA41-11D1-40EF-8081-D700FC1217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206FD6D-7927-43FB-8E8C-3A177F8682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04825D0-D7D3-4B3D-991C-7079118F926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FF25F1-1703-4D47-95BE-700BF7626A14}"/>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3EBEE82-B409-4347-9FA1-EFDAACDB7989}"/>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previously taught modelling decisions.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saving the complete test notebook offline.</a:t>
            </a:r>
          </a:p>
        </p:txBody>
      </p:sp>
      <p:sp>
        <p:nvSpPr>
          <p:cNvPr id="7" name="">
            <a:extLst xmlns:a="http://schemas.openxmlformats.org/drawingml/2006/main">
              <a:ext uri="{FF2B5EF4-FFF2-40B4-BE49-F238E27FC236}">
                <a16:creationId xmlns:a16="http://schemas.microsoft.com/office/drawing/2014/main" id="{9BDE9C61-21A9-4F75-8A00-136750EBDD12}"/>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16EBC8C3-361A-4353-B968-09028D5182D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training-only preprocessing and locate your saved evidence.</a:t>
            </a:r>
          </a:p>
        </p:txBody>
      </p:sp>
      <p:sp>
        <p:nvSpPr>
          <p:cNvPr id="9" name="">
            <a:extLst xmlns:a="http://schemas.openxmlformats.org/drawingml/2006/main">
              <a:ext uri="{FF2B5EF4-FFF2-40B4-BE49-F238E27FC236}">
                <a16:creationId xmlns:a16="http://schemas.microsoft.com/office/drawing/2014/main" id="{948903D9-60D3-4024-813F-CFCFFCD945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a:t>
            </a:r>
          </a:p>
        </p:txBody>
      </p:sp>
    </p:spTree>
    <p:extLst>
      <p:ext uri="{BB962C8B-B14F-4D97-AF65-F5344CB8AC3E}">
        <p14:creationId xmlns:p14="http://schemas.microsoft.com/office/powerpoint/2010/main" val="70870523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8A1D65-0EF0-4B15-A46A-7F720176EF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E43A20A-9BAE-4FBA-84FA-54DA73337E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0A1692-31DA-4A7A-9ABE-B9ADD679F8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D988AD2E-5CD5-4017-8D1F-4B48ADA1B83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7E627EF-F910-4761-AFDE-6A5CE0A37F6C}"/>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 you name the target, fit only on training records and explain how you would keep the test untouched?</a:t>
            </a:r>
          </a:p>
        </p:txBody>
      </p:sp>
      <p:sp>
        <p:nvSpPr>
          <p:cNvPr id="6" name="">
            <a:extLst xmlns:a="http://schemas.openxmlformats.org/drawingml/2006/main">
              <a:ext uri="{FF2B5EF4-FFF2-40B4-BE49-F238E27FC236}">
                <a16:creationId xmlns:a16="http://schemas.microsoft.com/office/drawing/2014/main" id="{586FA04B-09F3-4B27-8E74-848DD03D35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a:t>
            </a:r>
          </a:p>
        </p:txBody>
      </p:sp>
    </p:spTree>
    <p:extLst>
      <p:ext uri="{BB962C8B-B14F-4D97-AF65-F5344CB8AC3E}">
        <p14:creationId xmlns:p14="http://schemas.microsoft.com/office/powerpoint/2010/main" val="8044022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96F277-B7BE-411F-A233-F40AAA56DA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D4864F-D220-4987-B5E4-1A1E3B438A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3DADB09-91AA-46CA-A895-1518178C8D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happens before the test</a:t>
            </a:r>
          </a:p>
        </p:txBody>
      </p:sp>
      <p:sp>
        <p:nvSpPr>
          <p:cNvPr id="4" name="">
            <a:extLst xmlns:a="http://schemas.openxmlformats.org/drawingml/2006/main">
              <a:ext uri="{FF2B5EF4-FFF2-40B4-BE49-F238E27FC236}">
                <a16:creationId xmlns:a16="http://schemas.microsoft.com/office/drawing/2014/main" id="{04BA96FB-FD71-49EB-AF37-3FE644E8277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06E76F-D1EE-494D-915F-ACB4D76F17E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Practise the already taught error calculations and data-splitting rules.</a:t>
            </a:r>
          </a:p>
        </p:txBody>
      </p:sp>
      <p:sp>
        <p:nvSpPr>
          <p:cNvPr id="6" name="">
            <a:extLst xmlns:a="http://schemas.openxmlformats.org/drawingml/2006/main">
              <a:ext uri="{FF2B5EF4-FFF2-40B4-BE49-F238E27FC236}">
                <a16:creationId xmlns:a16="http://schemas.microsoft.com/office/drawing/2014/main" id="{E3791536-99C4-429D-A36F-26807727BD9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CEF1AC-0B9F-4E81-9F99-F4579E511CB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separate practice values.</a:t>
            </a:r>
          </a:p>
        </p:txBody>
      </p:sp>
      <p:sp>
        <p:nvSpPr>
          <p:cNvPr id="8" name="">
            <a:extLst xmlns:a="http://schemas.openxmlformats.org/drawingml/2006/main">
              <a:ext uri="{FF2B5EF4-FFF2-40B4-BE49-F238E27FC236}">
                <a16:creationId xmlns:a16="http://schemas.microsoft.com/office/drawing/2014/main" id="{74D1CA45-E392-45C9-8EB2-50D6EF03274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C12E8F8-4EA8-4DDE-8D41-1035DF24C85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timed session follows the issued test instructions.</a:t>
            </a:r>
          </a:p>
        </p:txBody>
      </p:sp>
      <p:sp>
        <p:nvSpPr>
          <p:cNvPr id="10" name="">
            <a:extLst xmlns:a="http://schemas.openxmlformats.org/drawingml/2006/main">
              <a:ext uri="{FF2B5EF4-FFF2-40B4-BE49-F238E27FC236}">
                <a16:creationId xmlns:a16="http://schemas.microsoft.com/office/drawing/2014/main" id="{A5F3EF4E-6156-460C-A601-45B0AEF70A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a:t>
            </a:r>
          </a:p>
        </p:txBody>
      </p:sp>
    </p:spTree>
    <p:extLst>
      <p:ext uri="{BB962C8B-B14F-4D97-AF65-F5344CB8AC3E}">
        <p14:creationId xmlns:p14="http://schemas.microsoft.com/office/powerpoint/2010/main" val="134100398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FA38B91-B41B-4B6B-B26D-EC4F75956D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FBABD2E-5546-4A97-9D04-D33653F777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FD23FB5-A8D6-4E7A-9F3E-634E26E002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the offline save procedure</a:t>
            </a:r>
          </a:p>
        </p:txBody>
      </p:sp>
      <p:sp>
        <p:nvSpPr>
          <p:cNvPr id="4" name="">
            <a:extLst xmlns:a="http://schemas.openxmlformats.org/drawingml/2006/main">
              <a:ext uri="{FF2B5EF4-FFF2-40B4-BE49-F238E27FC236}">
                <a16:creationId xmlns:a16="http://schemas.microsoft.com/office/drawing/2014/main" id="{C3963AFF-502B-4B25-AF78-F74F9D6C781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B69329E-1C1E-4598-AF33-64B52B6E82A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notebook on the prepared lab computer.</a:t>
            </a:r>
          </a:p>
        </p:txBody>
      </p:sp>
      <p:sp>
        <p:nvSpPr>
          <p:cNvPr id="6" name="">
            <a:extLst xmlns:a="http://schemas.openxmlformats.org/drawingml/2006/main">
              <a:ext uri="{FF2B5EF4-FFF2-40B4-BE49-F238E27FC236}">
                <a16:creationId xmlns:a16="http://schemas.microsoft.com/office/drawing/2014/main" id="{AFD2773A-A99D-41C2-BDD0-18C7131E0C6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28C0C7-2A06-4686-8C06-5F88955BD84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8" name="">
            <a:extLst xmlns:a="http://schemas.openxmlformats.org/drawingml/2006/main">
              <a:ext uri="{FF2B5EF4-FFF2-40B4-BE49-F238E27FC236}">
                <a16:creationId xmlns:a16="http://schemas.microsoft.com/office/drawing/2014/main" id="{E149E782-5AC3-43AC-93BA-8FBCB5E4697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F2550C-54D6-4DF9-87D6-EE5B24C9032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and reopen the complete notebook without internet.</a:t>
            </a:r>
          </a:p>
        </p:txBody>
      </p:sp>
      <p:sp>
        <p:nvSpPr>
          <p:cNvPr id="10" name="">
            <a:extLst xmlns:a="http://schemas.openxmlformats.org/drawingml/2006/main">
              <a:ext uri="{FF2B5EF4-FFF2-40B4-BE49-F238E27FC236}">
                <a16:creationId xmlns:a16="http://schemas.microsoft.com/office/drawing/2014/main" id="{A6D2BE3C-7CF8-4ACA-B056-D953E3701C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a:t>
            </a:r>
          </a:p>
        </p:txBody>
      </p:sp>
    </p:spTree>
    <p:extLst>
      <p:ext uri="{BB962C8B-B14F-4D97-AF65-F5344CB8AC3E}">
        <p14:creationId xmlns:p14="http://schemas.microsoft.com/office/powerpoint/2010/main" val="60689970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97CDF1-193A-4BA5-B5D9-ACC2B8A9C7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5FF016-C71A-4D5C-AAD3-BD867186BB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448B4F-2832-4BA4-AA67-7474C5E21B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result needs an explanation</a:t>
            </a:r>
          </a:p>
        </p:txBody>
      </p:sp>
      <p:sp>
        <p:nvSpPr>
          <p:cNvPr id="4" name="">
            <a:extLst xmlns:a="http://schemas.openxmlformats.org/drawingml/2006/main">
              <a:ext uri="{FF2B5EF4-FFF2-40B4-BE49-F238E27FC236}">
                <a16:creationId xmlns:a16="http://schemas.microsoft.com/office/drawing/2014/main" id="{694DC4C1-C9CE-44B7-806D-A2095C1DDF5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1A02B59-8728-45D3-AAB8-208AA77CF95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target and its unit or class.</a:t>
            </a:r>
          </a:p>
        </p:txBody>
      </p:sp>
      <p:sp>
        <p:nvSpPr>
          <p:cNvPr id="6" name="">
            <a:extLst xmlns:a="http://schemas.openxmlformats.org/drawingml/2006/main">
              <a:ext uri="{FF2B5EF4-FFF2-40B4-BE49-F238E27FC236}">
                <a16:creationId xmlns:a16="http://schemas.microsoft.com/office/drawing/2014/main" id="{5C8F8750-2465-42B4-A176-0B59473572F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A80716-EFBC-4022-B778-C428A1F48FB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which data fitted preprocessing and which data evaluated the model.</a:t>
            </a:r>
          </a:p>
        </p:txBody>
      </p:sp>
      <p:sp>
        <p:nvSpPr>
          <p:cNvPr id="8" name="">
            <a:extLst xmlns:a="http://schemas.openxmlformats.org/drawingml/2006/main">
              <a:ext uri="{FF2B5EF4-FFF2-40B4-BE49-F238E27FC236}">
                <a16:creationId xmlns:a16="http://schemas.microsoft.com/office/drawing/2014/main" id="{A4D2D9B0-6ABF-4137-B88E-412B86C6600D}"/>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57EDD82-2747-47DF-8EA7-38CAA6A26DD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high score alone does not establish a useful engineering model.</a:t>
            </a:r>
          </a:p>
        </p:txBody>
      </p:sp>
      <p:sp>
        <p:nvSpPr>
          <p:cNvPr id="10" name="">
            <a:extLst xmlns:a="http://schemas.openxmlformats.org/drawingml/2006/main">
              <a:ext uri="{FF2B5EF4-FFF2-40B4-BE49-F238E27FC236}">
                <a16:creationId xmlns:a16="http://schemas.microsoft.com/office/drawing/2014/main" id="{B7FF743C-21DC-4515-9FD9-80129D445E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a:t>
            </a:r>
          </a:p>
        </p:txBody>
      </p:sp>
    </p:spTree>
    <p:extLst>
      <p:ext uri="{BB962C8B-B14F-4D97-AF65-F5344CB8AC3E}">
        <p14:creationId xmlns:p14="http://schemas.microsoft.com/office/powerpoint/2010/main" val="21322002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2A0CDBE-A259-407A-A634-8083478275C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30CC34-6AAF-4967-8FDB-00181C5994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D4080E8-C5E6-4923-A7AD-B9F4757EDB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4456C2A3-37CE-4650-B753-2A783BA292E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CEDD5C8-76E6-4021-AA3E-BF3D4527F79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actual = [4, 8]</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predicted = [5, 6]</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errors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a, p in zip(actual, predicted):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errors.append(abs(a - p))</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print(sum(errors) / len(errors))</a:t>
            </a:r>
          </a:p>
        </p:txBody>
      </p:sp>
      <p:sp>
        <p:nvSpPr>
          <p:cNvPr id="6" name="">
            <a:extLst xmlns:a="http://schemas.openxmlformats.org/drawingml/2006/main">
              <a:ext uri="{FF2B5EF4-FFF2-40B4-BE49-F238E27FC236}">
                <a16:creationId xmlns:a16="http://schemas.microsoft.com/office/drawing/2014/main" id="{50D69EBC-8C5C-4046-9283-4491977541A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6B65D59-89A8-4D0E-848E-DE5B8119FF3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9C78F856-79D1-4BE5-AE45-48D9EE486BC5}"/>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zip pairs items at matching positions in these equal-length lists.</a:t>
            </a:r>
          </a:p>
        </p:txBody>
      </p:sp>
      <p:sp>
        <p:nvSpPr>
          <p:cNvPr id="9" name="">
            <a:extLst xmlns:a="http://schemas.openxmlformats.org/drawingml/2006/main">
              <a:ext uri="{FF2B5EF4-FFF2-40B4-BE49-F238E27FC236}">
                <a16:creationId xmlns:a16="http://schemas.microsoft.com/office/drawing/2014/main" id="{EC9FCCA4-4AA7-4227-8D7D-20370999AD62}"/>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CFF16C9A-7642-4A95-8106-E3AB4E987B4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C74AD8AB-1217-4AD9-A2F2-0B4AE88F24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a:t>
            </a:r>
          </a:p>
        </p:txBody>
      </p:sp>
    </p:spTree>
    <p:extLst>
      <p:ext uri="{BB962C8B-B14F-4D97-AF65-F5344CB8AC3E}">
        <p14:creationId xmlns:p14="http://schemas.microsoft.com/office/powerpoint/2010/main" val="30296385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72BE0BE-5F40-463F-A11E-4968232EF6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B1534C-FAB9-4690-82E5-39C7A463C3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DBB5BCA-BFAD-4521-BB5C-46A519C652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B23EB1FE-BE1B-45C3-808F-15632B7C367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51DD6F-3729-4A04-A838-C1D4D092693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598BBA41-DBA1-4274-A3C4-6282B14B0E0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C78CFA6-5033-4D4A-9AEB-C52608892D2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491BA46C-85C1-4359-8CFF-FA47E07A7EA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80868B-F6FC-4D4F-B9B0-F162F2A59C4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A1BAF094-F866-4DD6-985E-EB9402E67C3F}"/>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539A4E5-E29E-4B45-A9A2-72566AD044F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50FD1299-4B8E-4D7F-95B6-B11CCEFA8F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8</a:t>
            </a:r>
          </a:p>
        </p:txBody>
      </p:sp>
    </p:spTree>
    <p:extLst>
      <p:ext uri="{BB962C8B-B14F-4D97-AF65-F5344CB8AC3E}">
        <p14:creationId xmlns:p14="http://schemas.microsoft.com/office/powerpoint/2010/main" val="128193593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D63026-11C3-437B-B977-B537D16EDC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39F71C-FAC5-4087-A343-F3A8F799B5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9A8CA84-D340-4DD6-B428-4C18657385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2852BA4B-7C6B-4D71-AA47-6624C2BA745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00604B-37FE-499F-B9F2-9E32EBA551A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learner can save and reopen the complete notebook in the offline setting.</a:t>
            </a:r>
          </a:p>
        </p:txBody>
      </p:sp>
      <p:sp>
        <p:nvSpPr>
          <p:cNvPr id="6" name="">
            <a:extLst xmlns:a="http://schemas.openxmlformats.org/drawingml/2006/main">
              <a:ext uri="{FF2B5EF4-FFF2-40B4-BE49-F238E27FC236}">
                <a16:creationId xmlns:a16="http://schemas.microsoft.com/office/drawing/2014/main" id="{A0B09D9E-0C4B-41A7-A230-BC3FAEED8E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9</a:t>
            </a:r>
          </a:p>
        </p:txBody>
      </p:sp>
    </p:spTree>
    <p:extLst>
      <p:ext uri="{BB962C8B-B14F-4D97-AF65-F5344CB8AC3E}">
        <p14:creationId xmlns:p14="http://schemas.microsoft.com/office/powerpoint/2010/main" val="124938653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0CEB070-6D20-47D5-B769-33867A3416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283EAC-09DF-43E2-B55F-861774DA57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F5ABD8A-7E83-4C79-B70C-2EBFAACB44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3FFC431C-2CDB-4600-B4E5-235D011D4A6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9D4888A-7401-440C-8D32-F2A8BA1CAFF5}"/>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TEST2’s official brief, interfaces, time allocation, permitted resources and packet requirements.</a:t>
            </a:r>
          </a:p>
        </p:txBody>
      </p:sp>
      <p:sp>
        <p:nvSpPr>
          <p:cNvPr id="6" name="">
            <a:extLst xmlns:a="http://schemas.openxmlformats.org/drawingml/2006/main">
              <a:ext uri="{FF2B5EF4-FFF2-40B4-BE49-F238E27FC236}">
                <a16:creationId xmlns:a16="http://schemas.microsoft.com/office/drawing/2014/main" id="{2504C5DA-1743-4A09-98AF-325F7AEC448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ECF5B9-BD11-4A9F-8DDC-5E8A1A1349AF}"/>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test instructions issued by your lecturer.</a:t>
            </a:r>
          </a:p>
        </p:txBody>
      </p:sp>
      <p:sp>
        <p:nvSpPr>
          <p:cNvPr id="8" name="">
            <a:extLst xmlns:a="http://schemas.openxmlformats.org/drawingml/2006/main">
              <a:ext uri="{FF2B5EF4-FFF2-40B4-BE49-F238E27FC236}">
                <a16:creationId xmlns:a16="http://schemas.microsoft.com/office/drawing/2014/main" id="{00BE2311-3E9F-4112-8E85-F75C5FE9A0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10</a:t>
            </a:r>
          </a:p>
        </p:txBody>
      </p:sp>
    </p:spTree>
    <p:extLst>
      <p:ext uri="{BB962C8B-B14F-4D97-AF65-F5344CB8AC3E}">
        <p14:creationId xmlns:p14="http://schemas.microsoft.com/office/powerpoint/2010/main" val="186034683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940207E-9972-4B9C-BF23-5D3D294D6C0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80A7E5-0D5C-41D8-A76A-32B29AE810F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7DFF755-DF8B-430D-8D61-FD929444DA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a:t>
            </a:r>
          </a:p>
        </p:txBody>
      </p:sp>
      <p:sp>
        <p:nvSpPr>
          <p:cNvPr id="4" name="">
            <a:extLst xmlns:a="http://schemas.openxmlformats.org/drawingml/2006/main">
              <a:ext uri="{FF2B5EF4-FFF2-40B4-BE49-F238E27FC236}">
                <a16:creationId xmlns:a16="http://schemas.microsoft.com/office/drawing/2014/main" id="{74207643-7B36-402D-85C2-6652F12D09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04E4CE-373E-4D44-8237-2F65B29E3EE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67F67103-DF31-4122-AC93-7794E7EFE66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8AF0097-4377-4E5F-8AF1-12B0D95370A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3DA17998-4372-4C22-8E6F-585B03C1896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B54BB3-B599-4FE0-B464-CFB758282F4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126469FA-C84B-467D-8BF4-3878C77FD56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1D29003-6FC3-4DCB-9663-04D305300BA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CDB8214E-2C77-45E3-B520-38FAB62464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11</a:t>
            </a:r>
          </a:p>
        </p:txBody>
      </p:sp>
    </p:spTree>
    <p:extLst>
      <p:ext uri="{BB962C8B-B14F-4D97-AF65-F5344CB8AC3E}">
        <p14:creationId xmlns:p14="http://schemas.microsoft.com/office/powerpoint/2010/main" val="39815511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10ACFB0-720A-475B-A675-D6C324106D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CC89CC-4129-4C5E-8C13-B18C1FB309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16A6F5-E3F9-4C68-9CED-1B470E5297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5B57DEF9-5ED4-4A03-862E-FC75BC68170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8FB8FA-85B1-4AA0-B7FE-474C8C5F27C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EE948E59-FCF2-4EAA-B54B-A2D7587F2B2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8BBA62-DFBB-44BC-B5CD-4F58FBE325B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9DC408A4-EFF2-4F3C-9B4C-BC3975DFEE1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AFACA1D-B8EC-45C3-9F7A-DA6E4EC538E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BBE8BBBB-493A-4C80-AD25-80BE87DE3A11}"/>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50E4BA5-998A-4BD5-8A1F-2BAC69A8F4E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1DCDC3D0-5C9F-474E-8618-4B67704EBF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12</a:t>
            </a:r>
          </a:p>
        </p:txBody>
      </p:sp>
    </p:spTree>
    <p:extLst>
      <p:ext uri="{BB962C8B-B14F-4D97-AF65-F5344CB8AC3E}">
        <p14:creationId xmlns:p14="http://schemas.microsoft.com/office/powerpoint/2010/main" val="109361777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B978902-00F3-48E0-8B03-66B0CC8EA8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1A919FE-530E-4A67-8FA3-D89FF03593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43F07B7-504B-4B4F-93F6-9AAB2C0005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B28675E6-2EAB-4D27-B262-2E1A3506172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D2D00D-F072-473C-BF99-CDA6E1A5EC7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xmlns:a="http://schemas.openxmlformats.org/drawingml/2006/main">
              <a:ext uri="{FF2B5EF4-FFF2-40B4-BE49-F238E27FC236}">
                <a16:creationId xmlns:a16="http://schemas.microsoft.com/office/drawing/2014/main" id="{5A0415CC-AB8C-4A78-BB88-6075E6ED5B5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579928C-369B-474B-ACEE-9EBAAEC28AD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framing (10.0 total): The ML task is correctly identified, the target named, and regression vs classification correctly chosen and justified.</a:t>
            </a:r>
          </a:p>
        </p:txBody>
      </p:sp>
      <p:sp>
        <p:nvSpPr>
          <p:cNvPr id="8" name="">
            <a:extLst xmlns:a="http://schemas.openxmlformats.org/drawingml/2006/main">
              <a:ext uri="{FF2B5EF4-FFF2-40B4-BE49-F238E27FC236}">
                <a16:creationId xmlns:a16="http://schemas.microsoft.com/office/drawing/2014/main" id="{993FAA1F-12EE-481D-A92F-DEB0FD7E267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68E4A6E-1CFE-4794-B39E-786B04093C0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preparation &amp; leakage control (20.0 total): Cleaning and encoding appropriate.</a:t>
            </a:r>
          </a:p>
        </p:txBody>
      </p:sp>
      <p:sp>
        <p:nvSpPr>
          <p:cNvPr id="10" name="">
            <a:extLst xmlns:a="http://schemas.openxmlformats.org/drawingml/2006/main">
              <a:ext uri="{FF2B5EF4-FFF2-40B4-BE49-F238E27FC236}">
                <a16:creationId xmlns:a16="http://schemas.microsoft.com/office/drawing/2014/main" id="{69242560-1224-4946-9C41-0E45230F2D9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3C2ACCA-32E7-4972-9E57-457CA8E789C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Split made before any fitting.</a:t>
            </a:r>
          </a:p>
        </p:txBody>
      </p:sp>
      <p:sp>
        <p:nvSpPr>
          <p:cNvPr id="12" name="">
            <a:extLst xmlns:a="http://schemas.openxmlformats.org/drawingml/2006/main">
              <a:ext uri="{FF2B5EF4-FFF2-40B4-BE49-F238E27FC236}">
                <a16:creationId xmlns:a16="http://schemas.microsoft.com/office/drawing/2014/main" id="{EB1869C9-0BEC-4865-91DE-D47EB03DDF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13</a:t>
            </a:r>
          </a:p>
        </p:txBody>
      </p:sp>
    </p:spTree>
    <p:extLst>
      <p:ext uri="{BB962C8B-B14F-4D97-AF65-F5344CB8AC3E}">
        <p14:creationId xmlns:p14="http://schemas.microsoft.com/office/powerpoint/2010/main" val="99402620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3C57400-F651-4A47-B0B3-B3E2D0362F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3E98B3-22BC-4130-9EEF-ADDC09A99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F8A065-BF6A-4BBD-8816-1E13E26DF7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71F95C62-AF87-41BF-936C-D7B00C8977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7B8F1E5-6F5D-48C1-881F-211D0D8E048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64776300-9708-4F62-ACBD-F55555AD44A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E9BB979-F978-404A-B466-82400BF8C9AE}"/>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leakage present - a leak found by the marker caps this criterion at zero.</a:t>
            </a:r>
          </a:p>
        </p:txBody>
      </p:sp>
      <p:sp>
        <p:nvSpPr>
          <p:cNvPr id="8" name="">
            <a:extLst xmlns:a="http://schemas.openxmlformats.org/drawingml/2006/main">
              <a:ext uri="{FF2B5EF4-FFF2-40B4-BE49-F238E27FC236}">
                <a16:creationId xmlns:a16="http://schemas.microsoft.com/office/drawing/2014/main" id="{771ABF4A-D6ED-459A-A9DA-531C8F26E0D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EF8AB9-CAA4-42F6-A1C3-8F6F816166C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Modelling protocol (20.0 total): At least two models built and compared under identical conditions.</a:t>
            </a:r>
          </a:p>
        </p:txBody>
      </p:sp>
      <p:sp>
        <p:nvSpPr>
          <p:cNvPr id="10" name="">
            <a:extLst xmlns:a="http://schemas.openxmlformats.org/drawingml/2006/main">
              <a:ext uri="{FF2B5EF4-FFF2-40B4-BE49-F238E27FC236}">
                <a16:creationId xmlns:a16="http://schemas.microsoft.com/office/drawing/2014/main" id="{AC36705B-44CE-4ADB-8F75-30DF3716BA2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33E19C1-A1BB-4051-B42B-319BF2B876A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included.</a:t>
            </a:r>
          </a:p>
        </p:txBody>
      </p:sp>
      <p:sp>
        <p:nvSpPr>
          <p:cNvPr id="12" name="">
            <a:extLst xmlns:a="http://schemas.openxmlformats.org/drawingml/2006/main">
              <a:ext uri="{FF2B5EF4-FFF2-40B4-BE49-F238E27FC236}">
                <a16:creationId xmlns:a16="http://schemas.microsoft.com/office/drawing/2014/main" id="{0AFF3B4F-8574-4BF2-8993-301CD06A84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14</a:t>
            </a:r>
          </a:p>
        </p:txBody>
      </p:sp>
    </p:spTree>
    <p:extLst>
      <p:ext uri="{BB962C8B-B14F-4D97-AF65-F5344CB8AC3E}">
        <p14:creationId xmlns:p14="http://schemas.microsoft.com/office/powerpoint/2010/main" val="157893383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F93E9F1-C872-4E07-A4BB-0849DAA8F2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12AAFC-3E3A-4007-A069-E9912CDE00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6E49639-8723-470C-8258-D0BCD56785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695ED831-DA72-4CB5-8B2F-B1144823A28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10A31C-4257-43A1-BE8F-F6D17F761886}"/>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6" name="">
            <a:extLst xmlns:a="http://schemas.openxmlformats.org/drawingml/2006/main">
              <a:ext uri="{FF2B5EF4-FFF2-40B4-BE49-F238E27FC236}">
                <a16:creationId xmlns:a16="http://schemas.microsoft.com/office/drawing/2014/main" id="{441AF891-AF4F-49FF-ADD7-27BF95D27D7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2C1FF87-F1C6-48FD-87B5-5AD1903524F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Evaluation &amp; metric justification (20.0 total): Correct metrics computed.</a:t>
            </a:r>
          </a:p>
        </p:txBody>
      </p:sp>
      <p:sp>
        <p:nvSpPr>
          <p:cNvPr id="8" name="">
            <a:extLst xmlns:a="http://schemas.openxmlformats.org/drawingml/2006/main">
              <a:ext uri="{FF2B5EF4-FFF2-40B4-BE49-F238E27FC236}">
                <a16:creationId xmlns:a16="http://schemas.microsoft.com/office/drawing/2014/main" id="{CFDB2898-4E83-48DC-8FE2-1EDCA0BC19D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B1C3B4-1481-40DB-B7DA-DCED7F42410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Metric choice defended against the cost of error.</a:t>
            </a:r>
          </a:p>
        </p:txBody>
      </p:sp>
      <p:sp>
        <p:nvSpPr>
          <p:cNvPr id="10" name="">
            <a:extLst xmlns:a="http://schemas.openxmlformats.org/drawingml/2006/main">
              <a:ext uri="{FF2B5EF4-FFF2-40B4-BE49-F238E27FC236}">
                <a16:creationId xmlns:a16="http://schemas.microsoft.com/office/drawing/2014/main" id="{4744AB04-0ECF-491E-B4F7-E36DBE4C04F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0874B43-F080-44C6-A106-25F94A1560C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Cross-validation reported with a spread, not a single number.</a:t>
            </a:r>
          </a:p>
        </p:txBody>
      </p:sp>
      <p:sp>
        <p:nvSpPr>
          <p:cNvPr id="12" name="">
            <a:extLst xmlns:a="http://schemas.openxmlformats.org/drawingml/2006/main">
              <a:ext uri="{FF2B5EF4-FFF2-40B4-BE49-F238E27FC236}">
                <a16:creationId xmlns:a16="http://schemas.microsoft.com/office/drawing/2014/main" id="{E3B7DF70-3BFB-4A31-B9C0-21ED38EC2A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15</a:t>
            </a:r>
          </a:p>
        </p:txBody>
      </p:sp>
    </p:spTree>
    <p:extLst>
      <p:ext uri="{BB962C8B-B14F-4D97-AF65-F5344CB8AC3E}">
        <p14:creationId xmlns:p14="http://schemas.microsoft.com/office/powerpoint/2010/main" val="46349055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030D9FD-6A6B-49C2-8545-BD072C9EB4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0545CE-D08F-440B-A520-4596F6A82E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EC800A0-DCFF-40C7-A504-2D35CDBF20A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8676F02E-A282-40E5-AEE2-4226FC5DA1D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2EF473B-EDED-46FA-8CA6-C13144F5DE9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&amp; limits (20.0 total): The result is stated in physical or operational units.</a:t>
            </a:r>
          </a:p>
        </p:txBody>
      </p:sp>
      <p:sp>
        <p:nvSpPr>
          <p:cNvPr id="6" name="">
            <a:extLst xmlns:a="http://schemas.openxmlformats.org/drawingml/2006/main">
              <a:ext uri="{FF2B5EF4-FFF2-40B4-BE49-F238E27FC236}">
                <a16:creationId xmlns:a16="http://schemas.microsoft.com/office/drawing/2014/main" id="{73C4F761-70CA-4F32-BC43-0D547F0397E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16D3D4-DE4E-45BF-80C6-EE016214ACB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Three genuine limitations given.</a:t>
            </a:r>
          </a:p>
        </p:txBody>
      </p:sp>
      <p:sp>
        <p:nvSpPr>
          <p:cNvPr id="8" name="">
            <a:extLst xmlns:a="http://schemas.openxmlformats.org/drawingml/2006/main">
              <a:ext uri="{FF2B5EF4-FFF2-40B4-BE49-F238E27FC236}">
                <a16:creationId xmlns:a16="http://schemas.microsoft.com/office/drawing/2014/main" id="{22BEFBC1-3D6A-4FFE-9155-927DEF47D19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19FE68-9F96-4A32-97E7-FBE423EB6FF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clear position on whether it should be deployed.</a:t>
            </a:r>
          </a:p>
        </p:txBody>
      </p:sp>
      <p:sp>
        <p:nvSpPr>
          <p:cNvPr id="10" name="">
            <a:extLst xmlns:a="http://schemas.openxmlformats.org/drawingml/2006/main">
              <a:ext uri="{FF2B5EF4-FFF2-40B4-BE49-F238E27FC236}">
                <a16:creationId xmlns:a16="http://schemas.microsoft.com/office/drawing/2014/main" id="{604FF4D1-90E2-4DAF-B749-557B700B391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B6D3541-E47B-4382-B8DF-D7C272BFF01C}"/>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clarity (10.0 total): Runs top to bottom.</a:t>
            </a:r>
          </a:p>
        </p:txBody>
      </p:sp>
      <p:sp>
        <p:nvSpPr>
          <p:cNvPr id="12" name="">
            <a:extLst xmlns:a="http://schemas.openxmlformats.org/drawingml/2006/main">
              <a:ext uri="{FF2B5EF4-FFF2-40B4-BE49-F238E27FC236}">
                <a16:creationId xmlns:a16="http://schemas.microsoft.com/office/drawing/2014/main" id="{D2B79325-F84F-42DB-A87C-7E9E746C71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16</a:t>
            </a:r>
          </a:p>
        </p:txBody>
      </p:sp>
    </p:spTree>
    <p:extLst>
      <p:ext uri="{BB962C8B-B14F-4D97-AF65-F5344CB8AC3E}">
        <p14:creationId xmlns:p14="http://schemas.microsoft.com/office/powerpoint/2010/main" val="46728236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DAAD7D-A256-4460-9A0E-A85346C8B1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C64233-A51F-4966-8C0D-86C36591C8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6D16893-A88B-4ABC-9524-BB09D3C57E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E733236C-E844-4184-8E80-39B2E642C4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DC89CF-986D-4CA0-AB06-49D7300181E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Readable.</a:t>
            </a:r>
          </a:p>
        </p:txBody>
      </p:sp>
      <p:sp>
        <p:nvSpPr>
          <p:cNvPr id="6" name="">
            <a:extLst xmlns:a="http://schemas.openxmlformats.org/drawingml/2006/main">
              <a:ext uri="{FF2B5EF4-FFF2-40B4-BE49-F238E27FC236}">
                <a16:creationId xmlns:a16="http://schemas.microsoft.com/office/drawing/2014/main" id="{1865F36E-BE91-42D8-A951-8BCB2776776C}"/>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24AFA87-430F-413A-9BC3-7C627B5A1A0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Commented where the intent is not obvious.</a:t>
            </a:r>
          </a:p>
        </p:txBody>
      </p:sp>
      <p:sp>
        <p:nvSpPr>
          <p:cNvPr id="8" name="">
            <a:extLst xmlns:a="http://schemas.openxmlformats.org/drawingml/2006/main">
              <a:ext uri="{FF2B5EF4-FFF2-40B4-BE49-F238E27FC236}">
                <a16:creationId xmlns:a16="http://schemas.microsoft.com/office/drawing/2014/main" id="{468E90CA-D200-438D-93FD-5FA35431CAC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B48ECF9-C1C3-4A9A-AB33-50360FFCF601}"/>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Execution requirement for c2: Data-preparation credit requires the published leakage-safe split check to pass.</a:t>
            </a:r>
          </a:p>
        </p:txBody>
      </p:sp>
      <p:sp>
        <p:nvSpPr>
          <p:cNvPr id="10" name="">
            <a:extLst xmlns:a="http://schemas.openxmlformats.org/drawingml/2006/main">
              <a:ext uri="{FF2B5EF4-FFF2-40B4-BE49-F238E27FC236}">
                <a16:creationId xmlns:a16="http://schemas.microsoft.com/office/drawing/2014/main" id="{AB9B0D4E-6875-4E92-BCCA-BD4969E45BB9}"/>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8DD41D3-8CA6-4B27-B28B-65A845FBEB0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this check fails, written marks in that criterion are zero; other criteria remain independently scored.</a:t>
            </a:r>
          </a:p>
        </p:txBody>
      </p:sp>
      <p:sp>
        <p:nvSpPr>
          <p:cNvPr id="12" name="">
            <a:extLst xmlns:a="http://schemas.openxmlformats.org/drawingml/2006/main">
              <a:ext uri="{FF2B5EF4-FFF2-40B4-BE49-F238E27FC236}">
                <a16:creationId xmlns:a16="http://schemas.microsoft.com/office/drawing/2014/main" id="{AC390ABD-0A81-4CB9-862D-D9E7D564AE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17</a:t>
            </a:r>
          </a:p>
        </p:txBody>
      </p:sp>
    </p:spTree>
    <p:extLst>
      <p:ext uri="{BB962C8B-B14F-4D97-AF65-F5344CB8AC3E}">
        <p14:creationId xmlns:p14="http://schemas.microsoft.com/office/powerpoint/2010/main" val="207646027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F4C54F8-2C97-4DC7-98B9-976DF6D0A6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13D6EBE-4F1C-4A75-B0B7-E9DB428B2A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40C2C83-579C-4FB0-AF01-48CEA334D1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07C3EEA0-CC6E-484D-897E-9C2272367AF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1E87A49-2183-43EF-BB2C-A50341148A6A}"/>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2ABF5824-DC91-4265-87E4-29A2E03E7E1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C6E81C-37A0-460D-8F35-4B3B0A5A266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6106C05D-6837-461B-B9E9-7DF6F7B23C5E}"/>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9FAE98D-786A-4411-ACC1-142C5B2E734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CEB35450-11AF-4A34-8277-DF54317FBB2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A01910C-CD36-469B-929D-74D3A72555FD}"/>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5B06CF2E-A38A-4C5B-8281-A6D0A5679B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18</a:t>
            </a:r>
          </a:p>
        </p:txBody>
      </p:sp>
    </p:spTree>
    <p:extLst>
      <p:ext uri="{BB962C8B-B14F-4D97-AF65-F5344CB8AC3E}">
        <p14:creationId xmlns:p14="http://schemas.microsoft.com/office/powerpoint/2010/main" val="163678489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B02FFCC-2729-4069-922C-F9D799D27E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954743D-FF78-47CC-8FC9-EBE6DF6256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7F46118-C4DB-401A-9572-31EF19D61B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continued</a:t>
            </a:r>
          </a:p>
        </p:txBody>
      </p:sp>
      <p:sp>
        <p:nvSpPr>
          <p:cNvPr id="4" name="">
            <a:extLst xmlns:a="http://schemas.openxmlformats.org/drawingml/2006/main">
              <a:ext uri="{FF2B5EF4-FFF2-40B4-BE49-F238E27FC236}">
                <a16:creationId xmlns:a16="http://schemas.microsoft.com/office/drawing/2014/main" id="{1EE10F42-2B79-4AB2-8BEB-5E0A01F8B99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13F5E6-F2BB-44A9-9017-0B93656B7CC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2C5D8313-7CE5-4702-85E0-61D4F6CF294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0AA8172-4277-417D-B8D1-6860696AEB1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29EA6D8F-4C1C-4714-A98D-79EF13BE95A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89E28C-066A-4646-816F-A34B442142A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A9E9010B-5060-4422-8452-6AF68CD01BE3}"/>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B96467-5DE6-4FFE-BB12-03838CAE9C5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C5C7B698-1ACD-4DED-AE41-2C3908DF19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19</a:t>
            </a:r>
          </a:p>
        </p:txBody>
      </p:sp>
    </p:spTree>
    <p:extLst>
      <p:ext uri="{BB962C8B-B14F-4D97-AF65-F5344CB8AC3E}">
        <p14:creationId xmlns:p14="http://schemas.microsoft.com/office/powerpoint/2010/main" val="30431156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84583D4-2C87-45DE-A53D-CD8BFA3456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3527D54-BB46-429D-BF99-3DF3CA5D6B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0BB8ADC2-4430-484B-B950-5E4FFE05D9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2 submission</a:t>
            </a:r>
          </a:p>
        </p:txBody>
      </p:sp>
      <p:sp>
        <p:nvSpPr>
          <p:cNvPr id="4" name="">
            <a:extLst xmlns:a="http://schemas.openxmlformats.org/drawingml/2006/main">
              <a:ext uri="{FF2B5EF4-FFF2-40B4-BE49-F238E27FC236}">
                <a16:creationId xmlns:a16="http://schemas.microsoft.com/office/drawing/2014/main" id="{0AECC730-5A96-4277-B293-618D9A97030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78E476-F6E9-4F41-87F3-1D40092D5AA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xmlns:a="http://schemas.openxmlformats.org/drawingml/2006/main">
              <a:ext uri="{FF2B5EF4-FFF2-40B4-BE49-F238E27FC236}">
                <a16:creationId xmlns:a16="http://schemas.microsoft.com/office/drawing/2014/main" id="{386BC3DB-C164-4640-B55D-75FE386865B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F99D3DC-0C8A-4D3B-A0EE-94E15C954BD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xmlns:a="http://schemas.openxmlformats.org/drawingml/2006/main">
              <a:ext uri="{FF2B5EF4-FFF2-40B4-BE49-F238E27FC236}">
                <a16:creationId xmlns:a16="http://schemas.microsoft.com/office/drawing/2014/main" id="{117AC591-C6FC-465C-9E41-478E16121EC8}"/>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591C6F7-6439-4AA6-89D6-EED021EDD59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xmlns:a="http://schemas.openxmlformats.org/drawingml/2006/main">
              <a:ext uri="{FF2B5EF4-FFF2-40B4-BE49-F238E27FC236}">
                <a16:creationId xmlns:a16="http://schemas.microsoft.com/office/drawing/2014/main" id="{2715C79E-AE2F-4F3A-8BC0-0152B11F31A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A1CC193-60E5-4346-8737-544E2C304F9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xmlns:a="http://schemas.openxmlformats.org/drawingml/2006/main">
              <a:ext uri="{FF2B5EF4-FFF2-40B4-BE49-F238E27FC236}">
                <a16:creationId xmlns:a16="http://schemas.microsoft.com/office/drawing/2014/main" id="{F27B1A9D-3CAE-4AC4-BC7C-9CFADE8C06D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2AAC50F-2EF5-4FE3-8AA6-B6CB15A82D7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18779a69b074c02"/>
              </a:rPr>
              <a:t>Open TEST2 assignment form</a:t>
            </a:r>
          </a:p>
        </p:txBody>
      </p:sp>
      <p:sp>
        <p:nvSpPr>
          <p:cNvPr id="14" name="">
            <a:extLst xmlns:a="http://schemas.openxmlformats.org/drawingml/2006/main">
              <a:ext uri="{FF2B5EF4-FFF2-40B4-BE49-F238E27FC236}">
                <a16:creationId xmlns:a16="http://schemas.microsoft.com/office/drawing/2014/main" id="{0FFD0302-48E6-49E4-AB1D-8540CF08358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https://docs.google.com/forms/d/e/1FAIpQLSeAnqjVsUO288tWRg47SCH61K6pzS7hTyYb40MH5KKd9aPkAA/viewform</a:t>
            </a:r>
          </a:p>
        </p:txBody>
      </p:sp>
      <p:sp>
        <p:nvSpPr>
          <p:cNvPr id="15" name="">
            <a:extLst xmlns:a="http://schemas.openxmlformats.org/drawingml/2006/main">
              <a:ext uri="{FF2B5EF4-FFF2-40B4-BE49-F238E27FC236}">
                <a16:creationId xmlns:a16="http://schemas.microsoft.com/office/drawing/2014/main" id="{CC3B11D5-2F81-46B7-9A78-A29A30306F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20</a:t>
            </a:r>
          </a:p>
        </p:txBody>
      </p:sp>
    </p:spTree>
    <p:extLst>
      <p:ext uri="{BB962C8B-B14F-4D97-AF65-F5344CB8AC3E}">
        <p14:creationId xmlns:p14="http://schemas.microsoft.com/office/powerpoint/2010/main" val="766692283"/>
      </p:ext>
    </p:extLst>
  </p:cSld>
</p:sld>
</file>

<file path=ppt/slides/slide21.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4F34C407-6B53-4599-BCD2-FC8056FF08E9}"/>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596979AF-71E1-4383-A0A2-D5EF90022B7A}"/>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8518C5EA-68D4-4262-91F3-799FE5B1B871}"/>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F2D86370-ADCF-46FC-BB78-B66D778764B4}"/>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training-only preprocessing and locate your saved evidence.</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9BF11388-B08B-49CE-A204-8BA7C76F92D4}"/>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6CD477BD-B1C0-45C5-8993-26DA7CF977BA}"/>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14   21</a:t>
            </a:r>
          </a:p>
        </p:txBody>
      </p:sp>
    </p:spTree>
    <p:extLst>
      <p:ext uri="{BB962C8B-B14F-4D97-AF65-F5344CB8AC3E}">
        <ns3:creationId val="1720075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2026-09-28T21:44:26.2480000Z</dcterms:created>
  <dcterms:modified xsi:type="dcterms:W3CDTF">2026-09-28T21:44:26.2480000Z</dcterms:modified>
</coreProperties>
</file>