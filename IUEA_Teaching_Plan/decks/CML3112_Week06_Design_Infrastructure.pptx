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3b2b04d7d14fc1" /><Relationship Type="http://schemas.openxmlformats.org/officeDocument/2006/relationships/extended-properties" Target="/docProps/app.xml" Id="Re3048567d2674097" /><Relationship Type="http://schemas.openxmlformats.org/officeDocument/2006/relationships/officeDocument" Target="/ppt/presentation.xml" Id="Redb29e961f964124" /></Relationships>
</file>

<file path=ppt/presentation.xml><?xml version="1.0" encoding="utf-8"?>
<p:presentation xmlns:p="http://schemas.openxmlformats.org/presentationml/2006/main">
  <p:sldMasterIdLst>
    <p:sldMasterId xmlns:r="http://schemas.openxmlformats.org/officeDocument/2006/relationships" id="2147483648" r:id="R93016425303a43f2"/>
  </p:sldMasterIdLst>
  <p:notesMasterIdLst>
    <p:notesMasterId xmlns:r="http://schemas.openxmlformats.org/officeDocument/2006/relationships" r:id="R717e507b67204fe1"/>
  </p:notesMasterIdLst>
  <p:sldIdLst>
    <p:sldId xmlns:r="http://schemas.openxmlformats.org/officeDocument/2006/relationships" id="256" r:id="R817730c6d9ff44e4"/>
    <p:sldId xmlns:r="http://schemas.openxmlformats.org/officeDocument/2006/relationships" id="257" r:id="R2bfa69c6bf7d4f60"/>
    <p:sldId xmlns:r="http://schemas.openxmlformats.org/officeDocument/2006/relationships" id="258" r:id="Rceb0d7051bb84b7f"/>
    <p:sldId xmlns:r="http://schemas.openxmlformats.org/officeDocument/2006/relationships" id="259" r:id="Rfbc6e1f745864375"/>
    <p:sldId xmlns:r="http://schemas.openxmlformats.org/officeDocument/2006/relationships" id="260" r:id="Rc61aa2f3dc51407d"/>
    <p:sldId xmlns:r="http://schemas.openxmlformats.org/officeDocument/2006/relationships" id="261" r:id="R619700e13caf456d"/>
    <p:sldId xmlns:r="http://schemas.openxmlformats.org/officeDocument/2006/relationships" id="262" r:id="Rdf2fae35938e4412"/>
    <p:sldId xmlns:r="http://schemas.openxmlformats.org/officeDocument/2006/relationships" id="263" r:id="R01f9d1c7ad354f1a"/>
    <p:sldId xmlns:r="http://schemas.openxmlformats.org/officeDocument/2006/relationships" id="264" r:id="R39e14ff3683f4f99"/>
    <p:sldId xmlns:r="http://schemas.openxmlformats.org/officeDocument/2006/relationships" id="265" r:id="R0743628fad564c90"/>
    <p:sldId xmlns:r="http://schemas.openxmlformats.org/officeDocument/2006/relationships" id="266" r:id="R6fc45ac0e9374f49"/>
    <p:sldId xmlns:r="http://schemas.openxmlformats.org/officeDocument/2006/relationships" id="267" r:id="Re6be1d048a6f4653"/>
    <p:sldId xmlns:r="http://schemas.openxmlformats.org/officeDocument/2006/relationships" id="268" r:id="Rac5a8a5caccc4e1d"/>
    <p:sldId xmlns:r="http://schemas.openxmlformats.org/officeDocument/2006/relationships" id="269" r:id="R97433e1abbf6470e"/>
    <p:sldId xmlns:r="http://schemas.openxmlformats.org/officeDocument/2006/relationships" id="270" r:id="Rc1b45bf0b3e44fc0"/>
    <p:sldId xmlns:r="http://schemas.openxmlformats.org/officeDocument/2006/relationships" id="271" r:id="Rdace67030ef8488f"/>
    <p:sldId xmlns:r="http://schemas.openxmlformats.org/officeDocument/2006/relationships" id="272" r:id="Reb56de00edca425e"/>
    <p:sldId xmlns:r="http://schemas.openxmlformats.org/officeDocument/2006/relationships" id="273" r:id="R062e325b64444afb"/>
    <p:sldId xmlns:r="http://schemas.openxmlformats.org/officeDocument/2006/relationships" id="274" r:id="R621ae48b4f884f7c"/>
    <p:sldId xmlns:r="http://schemas.openxmlformats.org/officeDocument/2006/relationships" id="275" r:id="R140a00c24f454e2d"/>
    <p:sldId xmlns:r="http://schemas.openxmlformats.org/officeDocument/2006/relationships" id="276" r:id="R57202f076d374a79"/>
    <p:sldId xmlns:r="http://schemas.openxmlformats.org/officeDocument/2006/relationships" id="277" r:id="R25aae6badbba4a82"/>
    <p:sldId xmlns:r="http://schemas.openxmlformats.org/officeDocument/2006/relationships" id="278" r:id="R06f3d2980732416e"/>
    <p:sldId xmlns:r="http://schemas.openxmlformats.org/officeDocument/2006/relationships" id="279" r:id="R25cb83a659ee494c"/>
    <p:sldId xmlns:r="http://schemas.openxmlformats.org/officeDocument/2006/relationships" id="280" r:id="R62702a4cad234dc0"/>
    <p:sldId xmlns:r="http://schemas.openxmlformats.org/officeDocument/2006/relationships" id="281" r:id="Rde4ebfe50d69407b"/>
    <p:sldId xmlns:r="http://schemas.openxmlformats.org/officeDocument/2006/relationships" id="282" r:id="Rb27118d553c74528"/>
    <p:sldId xmlns:r="http://schemas.openxmlformats.org/officeDocument/2006/relationships" id="283" r:id="Rf55c4fe32bbc496c"/>
    <p:sldId xmlns:r="http://schemas.openxmlformats.org/officeDocument/2006/relationships" id="284" r:id="Re37f23614cbe412d"/>
    <p:sldId xmlns:r="http://schemas.openxmlformats.org/officeDocument/2006/relationships" id="285" r:id="R37f3037e36924c77"/>
    <p:sldId xmlns:r="http://schemas.openxmlformats.org/officeDocument/2006/relationships" id="286" r:id="R0e180210d28c4180"/>
    <p:sldId xmlns:r="http://schemas.openxmlformats.org/officeDocument/2006/relationships" id="287" r:id="Rec152ad491054c72"/>
    <p:sldId xmlns:r="http://schemas.openxmlformats.org/officeDocument/2006/relationships" id="288" r:id="R63d5628337064ee0"/>
    <p:sldId xmlns:r="http://schemas.openxmlformats.org/officeDocument/2006/relationships" id="289" r:id="Ra955dd40ca094986"/>
    <p:sldId xmlns:r="http://schemas.openxmlformats.org/officeDocument/2006/relationships" id="290" r:id="Re63b90ce85754f6c"/>
    <p:sldId xmlns:r="http://schemas.openxmlformats.org/officeDocument/2006/relationships" id="291" r:id="Rc3f1207065eb4cac"/>
    <p:sldId xmlns:r="http://schemas.openxmlformats.org/officeDocument/2006/relationships" id="292" r:id="R25be9185ff3f4268"/>
    <p:sldId xmlns:r="http://schemas.openxmlformats.org/officeDocument/2006/relationships" id="293" r:id="R6567ab85609d4efe"/>
    <p:sldId xmlns:r="http://schemas.openxmlformats.org/officeDocument/2006/relationships" id="294" r:id="Rddba886868044a93"/>
    <p:sldId xmlns:r="http://schemas.openxmlformats.org/officeDocument/2006/relationships" id="295" r:id="R0a2f4d6adcfb491f"/>
    <p:sldId xmlns:r="http://schemas.openxmlformats.org/officeDocument/2006/relationships" id="296" r:id="R32cfc36fbcdc4414"/>
    <p:sldId xmlns:r="http://schemas.openxmlformats.org/officeDocument/2006/relationships" id="297" r:id="R3323bad97c594304"/>
    <p:sldId xmlns:r="http://schemas.openxmlformats.org/officeDocument/2006/relationships" id="298" r:id="R1aa76b37ca6b45aa"/>
    <p:sldId xmlns:r="http://schemas.openxmlformats.org/officeDocument/2006/relationships" id="299" r:id="R4bc86b1394884606"/>
    <p:sldId xmlns:r="http://schemas.openxmlformats.org/officeDocument/2006/relationships" id="300" r:id="R61b62b8b61bc4cf3"/>
    <p:sldId xmlns:r="http://schemas.openxmlformats.org/officeDocument/2006/relationships" id="301" r:id="R973188cfeb5e4e85"/>
    <p:sldId xmlns:r="http://schemas.openxmlformats.org/officeDocument/2006/relationships" id="302" r:id="Ra3b7133d94b94feb"/>
    <p:sldId xmlns:r="http://schemas.openxmlformats.org/officeDocument/2006/relationships" id="303" r:id="R4a8c475033b84543"/>
    <p:sldId xmlns:r="http://schemas.openxmlformats.org/officeDocument/2006/relationships" id="304" r:id="Rf3d48cce3264459c"/>
    <p:sldId xmlns:r="http://schemas.openxmlformats.org/officeDocument/2006/relationships" id="305" r:id="R44dc762a50b84d65"/>
    <p:sldId xmlns:r="http://schemas.openxmlformats.org/officeDocument/2006/relationships" id="306" r:id="R94a477d58e02451f"/>
    <p:sldId xmlns:r="http://schemas.openxmlformats.org/officeDocument/2006/relationships" id="307" r:id="R51b8d9811c5b42aa"/>
    <p:sldId xmlns:r="http://schemas.openxmlformats.org/officeDocument/2006/relationships" id="308" r:id="Rf58633df328a4de0"/>
    <p:sldId xmlns:r="http://schemas.openxmlformats.org/officeDocument/2006/relationships" id="309" r:id="Rd3065c4a538e43b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c85ab0ddb04d52" /><Relationship Type="http://schemas.openxmlformats.org/officeDocument/2006/relationships/slideMaster" Target="/ppt/slideMasters/slideMaster1.xml" Id="R93016425303a43f2" /><Relationship Type="http://schemas.openxmlformats.org/officeDocument/2006/relationships/notesMaster" Target="/ppt/notesMasters/notesMaster1.xml" Id="R717e507b67204fe1" /><Relationship Type="http://schemas.openxmlformats.org/officeDocument/2006/relationships/presProps" Target="/ppt/presProps.xml" Id="Rdcf78e0629a249f3" /><Relationship Type="http://schemas.openxmlformats.org/officeDocument/2006/relationships/tableStyles" Target="/ppt/tableStyles.xml" Id="Rb69cdca45168450a" /><Relationship Type="http://schemas.openxmlformats.org/officeDocument/2006/relationships/slide" Target="/ppt/slides/slide1.xml" Id="R817730c6d9ff44e4" /><Relationship Type="http://schemas.openxmlformats.org/officeDocument/2006/relationships/slide" Target="/ppt/slides/slide2.xml" Id="R2bfa69c6bf7d4f60" /><Relationship Type="http://schemas.openxmlformats.org/officeDocument/2006/relationships/slide" Target="/ppt/slides/slide3.xml" Id="Rceb0d7051bb84b7f" /><Relationship Type="http://schemas.openxmlformats.org/officeDocument/2006/relationships/slide" Target="/ppt/slides/slide4.xml" Id="Rfbc6e1f745864375" /><Relationship Type="http://schemas.openxmlformats.org/officeDocument/2006/relationships/slide" Target="/ppt/slides/slide5.xml" Id="Rc61aa2f3dc51407d" /><Relationship Type="http://schemas.openxmlformats.org/officeDocument/2006/relationships/slide" Target="/ppt/slides/slide6.xml" Id="R619700e13caf456d" /><Relationship Type="http://schemas.openxmlformats.org/officeDocument/2006/relationships/slide" Target="/ppt/slides/slide7.xml" Id="Rdf2fae35938e4412" /><Relationship Type="http://schemas.openxmlformats.org/officeDocument/2006/relationships/slide" Target="/ppt/slides/slide8.xml" Id="R01f9d1c7ad354f1a" /><Relationship Type="http://schemas.openxmlformats.org/officeDocument/2006/relationships/slide" Target="/ppt/slides/slide9.xml" Id="R39e14ff3683f4f99" /><Relationship Type="http://schemas.openxmlformats.org/officeDocument/2006/relationships/slide" Target="/ppt/slides/slide10.xml" Id="R0743628fad564c90" /><Relationship Type="http://schemas.openxmlformats.org/officeDocument/2006/relationships/slide" Target="/ppt/slides/slide11.xml" Id="R6fc45ac0e9374f49" /><Relationship Type="http://schemas.openxmlformats.org/officeDocument/2006/relationships/slide" Target="/ppt/slides/slide12.xml" Id="Re6be1d048a6f4653" /><Relationship Type="http://schemas.openxmlformats.org/officeDocument/2006/relationships/slide" Target="/ppt/slides/slide13.xml" Id="Rac5a8a5caccc4e1d" /><Relationship Type="http://schemas.openxmlformats.org/officeDocument/2006/relationships/slide" Target="/ppt/slides/slide14.xml" Id="R97433e1abbf6470e" /><Relationship Type="http://schemas.openxmlformats.org/officeDocument/2006/relationships/slide" Target="/ppt/slides/slide15.xml" Id="Rc1b45bf0b3e44fc0" /><Relationship Type="http://schemas.openxmlformats.org/officeDocument/2006/relationships/slide" Target="/ppt/slides/slide16.xml" Id="Rdace67030ef8488f" /><Relationship Type="http://schemas.openxmlformats.org/officeDocument/2006/relationships/slide" Target="/ppt/slides/slide17.xml" Id="Reb56de00edca425e" /><Relationship Type="http://schemas.openxmlformats.org/officeDocument/2006/relationships/slide" Target="/ppt/slides/slide18.xml" Id="R062e325b64444afb" /><Relationship Type="http://schemas.openxmlformats.org/officeDocument/2006/relationships/slide" Target="/ppt/slides/slide19.xml" Id="R621ae48b4f884f7c" /><Relationship Type="http://schemas.openxmlformats.org/officeDocument/2006/relationships/slide" Target="/ppt/slides/slide20.xml" Id="R140a00c24f454e2d" /><Relationship Type="http://schemas.openxmlformats.org/officeDocument/2006/relationships/slide" Target="/ppt/slides/slide21.xml" Id="R57202f076d374a79" /><Relationship Type="http://schemas.openxmlformats.org/officeDocument/2006/relationships/slide" Target="/ppt/slides/slide22.xml" Id="R25aae6badbba4a82" /><Relationship Type="http://schemas.openxmlformats.org/officeDocument/2006/relationships/slide" Target="/ppt/slides/slide23.xml" Id="R06f3d2980732416e" /><Relationship Type="http://schemas.openxmlformats.org/officeDocument/2006/relationships/slide" Target="/ppt/slides/slide24.xml" Id="R25cb83a659ee494c" /><Relationship Type="http://schemas.openxmlformats.org/officeDocument/2006/relationships/slide" Target="/ppt/slides/slide25.xml" Id="R62702a4cad234dc0" /><Relationship Type="http://schemas.openxmlformats.org/officeDocument/2006/relationships/slide" Target="/ppt/slides/slide26.xml" Id="Rde4ebfe50d69407b" /><Relationship Type="http://schemas.openxmlformats.org/officeDocument/2006/relationships/slide" Target="/ppt/slides/slide27.xml" Id="Rb27118d553c74528" /><Relationship Type="http://schemas.openxmlformats.org/officeDocument/2006/relationships/slide" Target="/ppt/slides/slide28.xml" Id="Rf55c4fe32bbc496c" /><Relationship Type="http://schemas.openxmlformats.org/officeDocument/2006/relationships/slide" Target="/ppt/slides/slide29.xml" Id="Re37f23614cbe412d" /><Relationship Type="http://schemas.openxmlformats.org/officeDocument/2006/relationships/slide" Target="/ppt/slides/slide30.xml" Id="R37f3037e36924c77" /><Relationship Type="http://schemas.openxmlformats.org/officeDocument/2006/relationships/slide" Target="/ppt/slides/slide31.xml" Id="R0e180210d28c4180" /><Relationship Type="http://schemas.openxmlformats.org/officeDocument/2006/relationships/slide" Target="/ppt/slides/slide32.xml" Id="Rec152ad491054c72" /><Relationship Type="http://schemas.openxmlformats.org/officeDocument/2006/relationships/slide" Target="/ppt/slides/slide33.xml" Id="R63d5628337064ee0" /><Relationship Type="http://schemas.openxmlformats.org/officeDocument/2006/relationships/slide" Target="/ppt/slides/slide34.xml" Id="Ra955dd40ca094986" /><Relationship Type="http://schemas.openxmlformats.org/officeDocument/2006/relationships/slide" Target="/ppt/slides/slide35.xml" Id="Re63b90ce85754f6c" /><Relationship Type="http://schemas.openxmlformats.org/officeDocument/2006/relationships/slide" Target="/ppt/slides/slide36.xml" Id="Rc3f1207065eb4cac" /><Relationship Type="http://schemas.openxmlformats.org/officeDocument/2006/relationships/slide" Target="/ppt/slides/slide37.xml" Id="R25be9185ff3f4268" /><Relationship Type="http://schemas.openxmlformats.org/officeDocument/2006/relationships/slide" Target="/ppt/slides/slide38.xml" Id="R6567ab85609d4efe" /><Relationship Type="http://schemas.openxmlformats.org/officeDocument/2006/relationships/slide" Target="/ppt/slides/slide39.xml" Id="Rddba886868044a93" /><Relationship Type="http://schemas.openxmlformats.org/officeDocument/2006/relationships/slide" Target="/ppt/slides/slide40.xml" Id="R0a2f4d6adcfb491f" /><Relationship Type="http://schemas.openxmlformats.org/officeDocument/2006/relationships/slide" Target="/ppt/slides/slide41.xml" Id="R32cfc36fbcdc4414" /><Relationship Type="http://schemas.openxmlformats.org/officeDocument/2006/relationships/slide" Target="/ppt/slides/slide42.xml" Id="R3323bad97c594304" /><Relationship Type="http://schemas.openxmlformats.org/officeDocument/2006/relationships/slide" Target="/ppt/slides/slide43.xml" Id="R1aa76b37ca6b45aa" /><Relationship Type="http://schemas.openxmlformats.org/officeDocument/2006/relationships/slide" Target="/ppt/slides/slide44.xml" Id="R4bc86b1394884606" /><Relationship Type="http://schemas.openxmlformats.org/officeDocument/2006/relationships/slide" Target="/ppt/slides/slide45.xml" Id="R61b62b8b61bc4cf3" /><Relationship Type="http://schemas.openxmlformats.org/officeDocument/2006/relationships/slide" Target="/ppt/slides/slide46.xml" Id="R973188cfeb5e4e85" /><Relationship Type="http://schemas.openxmlformats.org/officeDocument/2006/relationships/slide" Target="/ppt/slides/slide47.xml" Id="Ra3b7133d94b94feb" /><Relationship Type="http://schemas.openxmlformats.org/officeDocument/2006/relationships/slide" Target="/ppt/slides/slide48.xml" Id="R4a8c475033b84543" /><Relationship Type="http://schemas.openxmlformats.org/officeDocument/2006/relationships/slide" Target="/ppt/slides/slide49.xml" Id="Rf3d48cce3264459c" /><Relationship Type="http://schemas.openxmlformats.org/officeDocument/2006/relationships/slide" Target="/ppt/slides/slide50.xml" Id="R44dc762a50b84d65" /><Relationship Type="http://schemas.openxmlformats.org/officeDocument/2006/relationships/slide" Target="/ppt/slides/slide51.xml" Id="R94a477d58e02451f" /><Relationship Type="http://schemas.openxmlformats.org/officeDocument/2006/relationships/slide" Target="/ppt/slides/slide52.xml" Id="R51b8d9811c5b42aa" /><Relationship Type="http://schemas.openxmlformats.org/officeDocument/2006/relationships/slide" Target="/ppt/slides/slide53.xml" Id="Rf58633df328a4de0" /><Relationship Type="http://schemas.openxmlformats.org/officeDocument/2006/relationships/slide" Target="/ppt/slides/slide54.xml" Id="Rd3065c4a538e43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45245876114a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91a0fb6aa54ffa" /><Relationship Type="http://schemas.openxmlformats.org/officeDocument/2006/relationships/notesMaster" Target="/ppt/notesMasters/notesMaster1.xml" Id="Rfb805ad323564e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cea638b56a48c2" /><Relationship Type="http://schemas.openxmlformats.org/officeDocument/2006/relationships/notesMaster" Target="/ppt/notesMasters/notesMaster1.xml" Id="R52eb04509a1f49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73cbc3f16a4bca" /><Relationship Type="http://schemas.openxmlformats.org/officeDocument/2006/relationships/notesMaster" Target="/ppt/notesMasters/notesMaster1.xml" Id="Rec4ed61b5cda49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ec5f842afa4e9f" /><Relationship Type="http://schemas.openxmlformats.org/officeDocument/2006/relationships/notesMaster" Target="/ppt/notesMasters/notesMaster1.xml" Id="R13356209e96841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d99bfcd19a4bc0" /><Relationship Type="http://schemas.openxmlformats.org/officeDocument/2006/relationships/notesMaster" Target="/ppt/notesMasters/notesMaster1.xml" Id="R6d72e990e7994f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7c4a75e7224c65" /><Relationship Type="http://schemas.openxmlformats.org/officeDocument/2006/relationships/notesMaster" Target="/ppt/notesMasters/notesMaster1.xml" Id="R75c333728bc942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dfaad8fac84d0d" /><Relationship Type="http://schemas.openxmlformats.org/officeDocument/2006/relationships/notesMaster" Target="/ppt/notesMasters/notesMaster1.xml" Id="R174a21de46c44b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d5200bf76540ba" /><Relationship Type="http://schemas.openxmlformats.org/officeDocument/2006/relationships/notesMaster" Target="/ppt/notesMasters/notesMaster1.xml" Id="R4a1cbc9d876c4f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441e5585834bba" /><Relationship Type="http://schemas.openxmlformats.org/officeDocument/2006/relationships/notesMaster" Target="/ppt/notesMasters/notesMaster1.xml" Id="Rc1f36b725ec447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fa9e268c0947f6" /><Relationship Type="http://schemas.openxmlformats.org/officeDocument/2006/relationships/notesMaster" Target="/ppt/notesMasters/notesMaster1.xml" Id="Ra6342273ba2140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e5cfd50aa647a7" /><Relationship Type="http://schemas.openxmlformats.org/officeDocument/2006/relationships/notesMaster" Target="/ppt/notesMasters/notesMaster1.xml" Id="R05a0eee9ddca4c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c16e160be44a89" /><Relationship Type="http://schemas.openxmlformats.org/officeDocument/2006/relationships/notesMaster" Target="/ppt/notesMasters/notesMaster1.xml" Id="Rd9b3cb99b0944b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becf1cb3014af4" /><Relationship Type="http://schemas.openxmlformats.org/officeDocument/2006/relationships/notesMaster" Target="/ppt/notesMasters/notesMaster1.xml" Id="R5857be7a825143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1a8c206bfc44bf" /><Relationship Type="http://schemas.openxmlformats.org/officeDocument/2006/relationships/notesMaster" Target="/ppt/notesMasters/notesMaster1.xml" Id="Rb02b201147054f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e48eb7871b44ab" /><Relationship Type="http://schemas.openxmlformats.org/officeDocument/2006/relationships/notesMaster" Target="/ppt/notesMasters/notesMaster1.xml" Id="R6cd497dab36a45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5e65d7f3624bf7" /><Relationship Type="http://schemas.openxmlformats.org/officeDocument/2006/relationships/notesMaster" Target="/ppt/notesMasters/notesMaster1.xml" Id="R35a1dbe31cfb4e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4071c6c60848a8" /><Relationship Type="http://schemas.openxmlformats.org/officeDocument/2006/relationships/notesMaster" Target="/ppt/notesMasters/notesMaster1.xml" Id="R9d73105e408349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4c78cc5b5c4899" /><Relationship Type="http://schemas.openxmlformats.org/officeDocument/2006/relationships/notesMaster" Target="/ppt/notesMasters/notesMaster1.xml" Id="R96ec192f10d246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f59befe6424369" /><Relationship Type="http://schemas.openxmlformats.org/officeDocument/2006/relationships/notesMaster" Target="/ppt/notesMasters/notesMaster1.xml" Id="R175403abd6a648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e798f0a3594b0e" /><Relationship Type="http://schemas.openxmlformats.org/officeDocument/2006/relationships/notesMaster" Target="/ppt/notesMasters/notesMaster1.xml" Id="Rf58b3a6e94a644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413ecedb4241af" /><Relationship Type="http://schemas.openxmlformats.org/officeDocument/2006/relationships/notesMaster" Target="/ppt/notesMasters/notesMaster1.xml" Id="Re18af450c99144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8dfb4bc401b491c" /><Relationship Type="http://schemas.openxmlformats.org/officeDocument/2006/relationships/notesMaster" Target="/ppt/notesMasters/notesMaster1.xml" Id="Re57685494b7d40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13951758a1b4d9e" /><Relationship Type="http://schemas.openxmlformats.org/officeDocument/2006/relationships/notesMaster" Target="/ppt/notesMasters/notesMaster1.xml" Id="Rb829b84c9fd54ef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b5ee2bb3a54518" /><Relationship Type="http://schemas.openxmlformats.org/officeDocument/2006/relationships/notesMaster" Target="/ppt/notesMasters/notesMaster1.xml" Id="Rd530725204e34a9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608014afd4c4c8f" /><Relationship Type="http://schemas.openxmlformats.org/officeDocument/2006/relationships/notesMaster" Target="/ppt/notesMasters/notesMaster1.xml" Id="R82edc218483548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29f66c8497749bb" /><Relationship Type="http://schemas.openxmlformats.org/officeDocument/2006/relationships/notesMaster" Target="/ppt/notesMasters/notesMaster1.xml" Id="Rea0f33f4bda844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8cccccac76b41da" /><Relationship Type="http://schemas.openxmlformats.org/officeDocument/2006/relationships/notesMaster" Target="/ppt/notesMasters/notesMaster1.xml" Id="R0b059600a4ef4dc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cdfc90b9a164a87" /><Relationship Type="http://schemas.openxmlformats.org/officeDocument/2006/relationships/notesMaster" Target="/ppt/notesMasters/notesMaster1.xml" Id="Re41fd613837f410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edf61bbde7a4798" /><Relationship Type="http://schemas.openxmlformats.org/officeDocument/2006/relationships/notesMaster" Target="/ppt/notesMasters/notesMaster1.xml" Id="R85f0e2cde210456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fccd3cfebdb4ba3" /><Relationship Type="http://schemas.openxmlformats.org/officeDocument/2006/relationships/notesMaster" Target="/ppt/notesMasters/notesMaster1.xml" Id="R74cd755f58cc439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4a894ba6d9b4049" /><Relationship Type="http://schemas.openxmlformats.org/officeDocument/2006/relationships/notesMaster" Target="/ppt/notesMasters/notesMaster1.xml" Id="R96ac42d746e843d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4897d9378074693" /><Relationship Type="http://schemas.openxmlformats.org/officeDocument/2006/relationships/notesMaster" Target="/ppt/notesMasters/notesMaster1.xml" Id="Red466eff82b445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b21c6fe40894d87" /><Relationship Type="http://schemas.openxmlformats.org/officeDocument/2006/relationships/notesMaster" Target="/ppt/notesMasters/notesMaster1.xml" Id="Re022a0884fe24c5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d6dea48cf964bc0" /><Relationship Type="http://schemas.openxmlformats.org/officeDocument/2006/relationships/notesMaster" Target="/ppt/notesMasters/notesMaster1.xml" Id="R4cf99dbf414c4d6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5da6a2a67f547b1" /><Relationship Type="http://schemas.openxmlformats.org/officeDocument/2006/relationships/notesMaster" Target="/ppt/notesMasters/notesMaster1.xml" Id="R57f9bdbf33ff40d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b75699be0b74eb9" /><Relationship Type="http://schemas.openxmlformats.org/officeDocument/2006/relationships/notesMaster" Target="/ppt/notesMasters/notesMaster1.xml" Id="Rd9130fe369474ff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ca4497cc8b74a30" /><Relationship Type="http://schemas.openxmlformats.org/officeDocument/2006/relationships/notesMaster" Target="/ppt/notesMasters/notesMaster1.xml" Id="R8a5d957e544f4c3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8822751cffb4315" /><Relationship Type="http://schemas.openxmlformats.org/officeDocument/2006/relationships/notesMaster" Target="/ppt/notesMasters/notesMaster1.xml" Id="R18aca38933bc4a2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534b7d6c6bf40cd" /><Relationship Type="http://schemas.openxmlformats.org/officeDocument/2006/relationships/notesMaster" Target="/ppt/notesMasters/notesMaster1.xml" Id="R502c2cef354e49c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2c82309db914c0d" /><Relationship Type="http://schemas.openxmlformats.org/officeDocument/2006/relationships/notesMaster" Target="/ppt/notesMasters/notesMaster1.xml" Id="Raa548021de004a8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3f385ce7f13478a" /><Relationship Type="http://schemas.openxmlformats.org/officeDocument/2006/relationships/notesMaster" Target="/ppt/notesMasters/notesMaster1.xml" Id="Rc76e9a9fdc894dc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5c3d5cf6b184d23" /><Relationship Type="http://schemas.openxmlformats.org/officeDocument/2006/relationships/notesMaster" Target="/ppt/notesMasters/notesMaster1.xml" Id="R91cb2a1190f8425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8f781b7f6374acc" /><Relationship Type="http://schemas.openxmlformats.org/officeDocument/2006/relationships/notesMaster" Target="/ppt/notesMasters/notesMaster1.xml" Id="R2dd7d047e355432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89ae66f512b4885" /><Relationship Type="http://schemas.openxmlformats.org/officeDocument/2006/relationships/notesMaster" Target="/ppt/notesMasters/notesMaster1.xml" Id="R8681b21b87c641b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9298b3673474acd" /><Relationship Type="http://schemas.openxmlformats.org/officeDocument/2006/relationships/notesMaster" Target="/ppt/notesMasters/notesMaster1.xml" Id="R575dfde2961b429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506933629174ca2" /><Relationship Type="http://schemas.openxmlformats.org/officeDocument/2006/relationships/notesMaster" Target="/ppt/notesMasters/notesMaster1.xml" Id="Rc65d08e5d163425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a6c78b1f63b46de" /><Relationship Type="http://schemas.openxmlformats.org/officeDocument/2006/relationships/notesMaster" Target="/ppt/notesMasters/notesMaster1.xml" Id="R80e3302262ab437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8ac0a981aab4c2f" /><Relationship Type="http://schemas.openxmlformats.org/officeDocument/2006/relationships/notesMaster" Target="/ppt/notesMasters/notesMaster1.xml" Id="R21ff6d9502bf429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6ed681c9eba498e" /><Relationship Type="http://schemas.openxmlformats.org/officeDocument/2006/relationships/notesMaster" Target="/ppt/notesMasters/notesMaster1.xml" Id="Rc9927ef87667411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66cc111fba14ad3" /><Relationship Type="http://schemas.openxmlformats.org/officeDocument/2006/relationships/notesMaster" Target="/ppt/notesMasters/notesMaster1.xml" Id="R8d1ff5d4fbd1433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29730b0845e41e3" /><Relationship Type="http://schemas.openxmlformats.org/officeDocument/2006/relationships/notesMaster" Target="/ppt/notesMasters/notesMaster1.xml" Id="Rd83e37ccc65e418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5954c8b19a54628" /><Relationship Type="http://schemas.openxmlformats.org/officeDocument/2006/relationships/notesMaster" Target="/ppt/notesMasters/notesMaster1.xml" Id="Ra39cfdbbad064ea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85abb1f19f04bf0" /><Relationship Type="http://schemas.openxmlformats.org/officeDocument/2006/relationships/notesMaster" Target="/ppt/notesMasters/notesMaster1.xml" Id="R6803832d391c457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73e334366374fb7" /><Relationship Type="http://schemas.openxmlformats.org/officeDocument/2006/relationships/notesMaster" Target="/ppt/notesMasters/notesMaster1.xml" Id="R89c39a2a215c4b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data and explaining changes</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Civil Engineering and Architecture</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Cleaning data and explaining changes.</a:t>
            </a:r>
          </a:p>
          <a:p xmlns:a="http://schemas.openxmlformats.org/drawingml/2006/main">
            <a:r>
              <a:t/>
            </a:r>
          </a:p>
          <a:p xmlns:a="http://schemas.openxmlformats.org/drawingml/2006/main">
            <a:r>
              <a:t>EXPLAIN</a:t>
            </a:r>
          </a:p>
          <a:p xmlns:a="http://schemas.openxmlformats.org/drawingml/2006/main">
            <a:r>
              <a:t>Recognise missing values and repeated records.</a:t>
            </a:r>
          </a:p>
          <a:p xmlns:a="http://schemas.openxmlformats.org/drawingml/2006/main">
            <a:r>
              <a:t/>
            </a:r>
          </a:p>
          <a:p xmlns:a="http://schemas.openxmlformats.org/drawingml/2006/main">
            <a:r>
              <a:t>Make a working copy and record each cleaning action.</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MCAR/MAR/MNAR names, five chart families and six unaided defect hunts are reference. Teach missingness causes in everyday language first.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Week 5 selected and summarised columns. Before trusting those summaries, inspect missing values, repeated observations and measurement units.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A repeated record or a missing measurement can change a summary. We keep the original records, apply the stated cleaning rules and explain each change before plotting.</a:t>
            </a:r>
          </a:p>
          <a:p xmlns:a="http://schemas.openxmlformats.org/drawingml/2006/main">
            <a:r>
              <a:t/>
            </a:r>
          </a:p>
          <a:p xmlns:a="http://schemas.openxmlformats.org/drawingml/2006/main">
            <a:r>
              <a:t>LECTURER CUE</a:t>
            </a:r>
          </a:p>
          <a:p xmlns:a="http://schemas.openxmlformats.org/drawingml/2006/main">
            <a:r>
              <a:t>A building team records indoor temperature to investigate comfort. Civil students can discuss construction and inspection; architecture students can discuss shading and ventilation. Explain the quantities before using them.</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Raw data and Missing value.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Raw data and Missing value</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Raw data: The original supplied records. Keep these unchanged so another person can check your decisions.</a:t>
            </a:r>
          </a:p>
          <a:p xmlns:a="http://schemas.openxmlformats.org/drawingml/2006/main">
            <a:r>
              <a:t/>
            </a:r>
          </a:p>
          <a:p xmlns:a="http://schemas.openxmlformats.org/drawingml/2006/main">
            <a:r>
              <a:t>Missing value: A value that was not recorded, represented here by None in Python records. Missing does not automatically mean zero.</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Record and equipment ID and Median and imputation.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Record and equipment ID and Median and imputation</a:t>
            </a:r>
          </a:p>
          <a:p xmlns:a="http://schemas.openxmlformats.org/drawingml/2006/main">
            <a:r>
              <a:t/>
            </a:r>
          </a:p>
          <a:p xmlns:a="http://schemas.openxmlformats.org/drawingml/2006/main">
            <a:r>
              <a:t>CONNECT</a:t>
            </a:r>
          </a:p>
          <a:p xmlns:a="http://schemas.openxmlformats.org/drawingml/2006/main">
            <a:r>
              <a:t>Previous slide: Raw data and Missing value.</a:t>
            </a:r>
          </a:p>
          <a:p xmlns:a="http://schemas.openxmlformats.org/drawingml/2006/main">
            <a:r>
              <a:t/>
            </a:r>
          </a:p>
          <a:p xmlns:a="http://schemas.openxmlformats.org/drawingml/2006/main">
            <a:r>
              <a:t>EXPLAIN</a:t>
            </a:r>
          </a:p>
          <a:p xmlns:a="http://schemas.openxmlformats.org/drawingml/2006/main">
            <a:r>
              <a:t>Record and equipment ID: A record ID identifies an observation. An equipment ID identifies the source and may repeat legitimately. Remove repeated observations only under the stated rule.</a:t>
            </a:r>
          </a:p>
          <a:p xmlns:a="http://schemas.openxmlformats.org/drawingml/2006/main">
            <a:r>
              <a:t/>
            </a:r>
          </a:p>
          <a:p xmlns:a="http://schemas.openxmlformats.org/drawingml/2006/main">
            <a:r>
              <a:t>Median and imputation: The median is the middle sorted value, or the mean of the two middle values. Imputation fills a missing value using an explicit rule and introduces uncertainty.</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An unusual value needs a reason.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An unusual value needs a reason</a:t>
            </a:r>
          </a:p>
          <a:p xmlns:a="http://schemas.openxmlformats.org/drawingml/2006/main">
            <a:r>
              <a:t/>
            </a:r>
          </a:p>
          <a:p xmlns:a="http://schemas.openxmlformats.org/drawingml/2006/main">
            <a:r>
              <a:t>CONNECT</a:t>
            </a:r>
          </a:p>
          <a:p xmlns:a="http://schemas.openxmlformats.org/drawingml/2006/main">
            <a:r>
              <a:t>Previous slide: Record and equipment ID and Median and imputation.</a:t>
            </a:r>
          </a:p>
          <a:p xmlns:a="http://schemas.openxmlformats.org/drawingml/2006/main">
            <a:r>
              <a:t/>
            </a:r>
          </a:p>
          <a:p xmlns:a="http://schemas.openxmlformats.org/drawingml/2006/main">
            <a:r>
              <a:t>EXPLAIN</a:t>
            </a:r>
          </a:p>
          <a:p xmlns:a="http://schemas.openxmlformats.org/drawingml/2006/main">
            <a:r>
              <a:t>A missing reading has no recorded value.</a:t>
            </a:r>
          </a:p>
          <a:p xmlns:a="http://schemas.openxmlformats.org/drawingml/2006/main">
            <a:r>
              <a:t/>
            </a:r>
          </a:p>
          <a:p xmlns:a="http://schemas.openxmlformats.org/drawingml/2006/main">
            <a:r>
              <a:t>Zero is a recorded value and may be physically meaningful.</a:t>
            </a:r>
          </a:p>
          <a:p xmlns:a="http://schemas.openxmlformats.org/drawingml/2006/main">
            <a:r>
              <a:t/>
            </a:r>
          </a:p>
          <a:p xmlns:a="http://schemas.openxmlformats.org/drawingml/2006/main">
            <a:r>
              <a:t>A large or negative value needs instrument and unit context.</a:t>
            </a:r>
          </a:p>
          <a:p xmlns:a="http://schemas.openxmlformats.org/drawingml/2006/main">
            <a:r>
              <a:t/>
            </a:r>
          </a:p>
          <a:p xmlns:a="http://schemas.openxmlformats.org/drawingml/2006/main">
            <a:r>
              <a:t>Preserve the raw data and record every cleaning decision.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Find the median by sorting the readings.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Find the median by sorting the readings</a:t>
            </a:r>
          </a:p>
          <a:p xmlns:a="http://schemas.openxmlformats.org/drawingml/2006/main">
            <a:r>
              <a:t/>
            </a:r>
          </a:p>
          <a:p xmlns:a="http://schemas.openxmlformats.org/drawingml/2006/main">
            <a:r>
              <a:t>CONNECT</a:t>
            </a:r>
          </a:p>
          <a:p xmlns:a="http://schemas.openxmlformats.org/drawingml/2006/main">
            <a:r>
              <a:t>Previous slide: An unusual value needs a reason.</a:t>
            </a:r>
          </a:p>
          <a:p xmlns:a="http://schemas.openxmlformats.org/drawingml/2006/main">
            <a:r>
              <a:t/>
            </a:r>
          </a:p>
          <a:p xmlns:a="http://schemas.openxmlformats.org/drawingml/2006/main">
            <a:r>
              <a:t>EXPLAIN</a:t>
            </a:r>
          </a:p>
          <a:p xmlns:a="http://schemas.openxmlformats.org/drawingml/2006/main">
            <a:r>
              <a:t>The median is a middle value after ordering the numbers from smallest to largest. In [2, 4, 30], the middle item is 4.</a:t>
            </a:r>
          </a:p>
          <a:p xmlns:a="http://schemas.openxmlformats.org/drawingml/2006/main">
            <a:r>
              <a:t/>
            </a:r>
          </a:p>
          <a:p xmlns:a="http://schemas.openxmlformats.org/drawingml/2006/main">
            <a:r>
              <a:t>With an even number of readings, average the two middle values. [20, 22, 24, 80] has middle values 22 and 24, so the median is 23.</a:t>
            </a:r>
          </a:p>
          <a:p xmlns:a="http://schemas.openxmlformats.org/drawingml/2006/main">
            <a:r>
              <a:t/>
            </a:r>
          </a:p>
          <a:p xmlns:a="http://schemas.openxmlformats.org/drawingml/2006/main">
            <a:r>
              <a:t>None is missing information in our list, not a number to sort. Collect only recorded values before calculating this median.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Mean, median and unusual readings.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Mean, median and unusual readings</a:t>
            </a:r>
          </a:p>
          <a:p xmlns:a="http://schemas.openxmlformats.org/drawingml/2006/main">
            <a:r>
              <a:t/>
            </a:r>
          </a:p>
          <a:p xmlns:a="http://schemas.openxmlformats.org/drawingml/2006/main">
            <a:r>
              <a:t>CONNECT</a:t>
            </a:r>
          </a:p>
          <a:p xmlns:a="http://schemas.openxmlformats.org/drawingml/2006/main">
            <a:r>
              <a:t>Previous slide: Find the median by sorting the readings.</a:t>
            </a:r>
          </a:p>
          <a:p xmlns:a="http://schemas.openxmlformats.org/drawingml/2006/main">
            <a:r>
              <a:t/>
            </a:r>
          </a:p>
          <a:p xmlns:a="http://schemas.openxmlformats.org/drawingml/2006/main">
            <a:r>
              <a:t>EXPLAIN</a:t>
            </a:r>
          </a:p>
          <a:p xmlns:a="http://schemas.openxmlformats.org/drawingml/2006/main">
            <a:r>
              <a:t>Readings | Mean | Median</a:t>
            </a:r>
          </a:p>
          <a:p xmlns:a="http://schemas.openxmlformats.org/drawingml/2006/main">
            <a:r>
              <a:t/>
            </a:r>
          </a:p>
          <a:p xmlns:a="http://schemas.openxmlformats.org/drawingml/2006/main">
            <a:r>
              <a:t>2, 4, 6 | 4 | 4</a:t>
            </a:r>
          </a:p>
          <a:p xmlns:a="http://schemas.openxmlformats.org/drawingml/2006/main">
            <a:r>
              <a:t/>
            </a:r>
          </a:p>
          <a:p xmlns:a="http://schemas.openxmlformats.org/drawingml/2006/main">
            <a:r>
              <a:t>2, 4, 30 | 12 | 4</a:t>
            </a:r>
          </a:p>
          <a:p xmlns:a="http://schemas.openxmlformats.org/drawingml/2006/main">
            <a:r>
              <a:t/>
            </a:r>
          </a:p>
          <a:p xmlns:a="http://schemas.openxmlformats.org/drawingml/2006/main">
            <a:r>
              <a:t>The mean uses every value. The median is the middle sorted value. A large value needs context.</a:t>
            </a:r>
          </a:p>
          <a:p xmlns:a="http://schemas.openxmlformats.org/drawingml/2006/main">
            <a:r>
              <a:t/>
            </a:r>
          </a:p>
          <a:p xmlns:a="http://schemas.openxmlformats.org/drawingml/2006/main">
            <a:r>
              <a:t>LECTURER CUE</a:t>
            </a:r>
          </a:p>
          <a:p xmlns:a="http://schemas.openxmlformats.org/drawingml/2006/main">
            <a:r>
              <a:t>The mean uses every value. The median is the middle sorted value. A large value needs context.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Testing for None and importing one tool.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Testing for None and importing one tool</a:t>
            </a:r>
          </a:p>
          <a:p xmlns:a="http://schemas.openxmlformats.org/drawingml/2006/main">
            <a:r>
              <a:t/>
            </a:r>
          </a:p>
          <a:p xmlns:a="http://schemas.openxmlformats.org/drawingml/2006/main">
            <a:r>
              <a:t>CONNECT</a:t>
            </a:r>
          </a:p>
          <a:p xmlns:a="http://schemas.openxmlformats.org/drawingml/2006/main">
            <a:r>
              <a:t>Previous slide: Mean, median and unusual readings.</a:t>
            </a:r>
          </a:p>
          <a:p xmlns:a="http://schemas.openxmlformats.org/drawingml/2006/main">
            <a:r>
              <a:t/>
            </a:r>
          </a:p>
          <a:p xmlns:a="http://schemas.openxmlformats.org/drawingml/2006/main">
            <a:r>
              <a:t>EXPLAIN</a:t>
            </a:r>
          </a:p>
          <a:p xmlns:a="http://schemas.openxmlformats.org/drawingml/2006/main">
            <a:r>
              <a:t>value is None asks whether value is the special None object. value is not None is the opposite question. Use these tests for Python None.</a:t>
            </a:r>
          </a:p>
          <a:p xmlns:a="http://schemas.openxmlformats.org/drawingml/2006/main">
            <a:r>
              <a:t/>
            </a:r>
          </a:p>
          <a:p xmlns:a="http://schemas.openxmlformats.org/drawingml/2006/main">
            <a:r>
              <a:t>This differs from ==, which compares values. Do not use is to compare ordinary numeric measurements.</a:t>
            </a:r>
          </a:p>
          <a:p xmlns:a="http://schemas.openxmlformats.org/drawingml/2006/main">
            <a:r>
              <a:t/>
            </a:r>
          </a:p>
          <a:p xmlns:a="http://schemas.openxmlformats.org/drawingml/2006/main">
            <a:r>
              <a:t>from statistics import median loads just the median function. statistics is a standard Python module; median is the callable tool used below.</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Filling a gap adds an estimate.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Filling a gap adds an estimate</a:t>
            </a:r>
          </a:p>
          <a:p xmlns:a="http://schemas.openxmlformats.org/drawingml/2006/main">
            <a:r>
              <a:t/>
            </a:r>
          </a:p>
          <a:p xmlns:a="http://schemas.openxmlformats.org/drawingml/2006/main">
            <a:r>
              <a:t>CONNECT</a:t>
            </a:r>
          </a:p>
          <a:p xmlns:a="http://schemas.openxmlformats.org/drawingml/2006/main">
            <a:r>
              <a:t>Previous slide: Testing for None and importing one tool.</a:t>
            </a:r>
          </a:p>
          <a:p xmlns:a="http://schemas.openxmlformats.org/drawingml/2006/main">
            <a:r>
              <a:t/>
            </a:r>
          </a:p>
          <a:p xmlns:a="http://schemas.openxmlformats.org/drawingml/2006/main">
            <a:r>
              <a:t>EXPLAIN</a:t>
            </a:r>
          </a:p>
          <a:p xmlns:a="http://schemas.openxmlformats.org/drawingml/2006/main">
            <a:r>
              <a:t>The valid readings, sorted, are 20, 22, 24 and 80.</a:t>
            </a:r>
          </a:p>
          <a:p xmlns:a="http://schemas.openxmlformats.org/drawingml/2006/main">
            <a:r>
              <a:t/>
            </a:r>
          </a:p>
          <a:p xmlns:a="http://schemas.openxmlformats.org/drawingml/2006/main">
            <a:r>
              <a:t>The two middle values are 22 and 24. Their mean is 23.</a:t>
            </a:r>
          </a:p>
          <a:p xmlns:a="http://schemas.openxmlformats.org/drawingml/2006/main">
            <a:r>
              <a:t/>
            </a:r>
          </a:p>
          <a:p xmlns:a="http://schemas.openxmlformats.org/drawingml/2006/main">
            <a:r>
              <a:t>Using 23 for a blank is a declared cleaning rule. It does not recover the lost measurement.</a:t>
            </a:r>
          </a:p>
          <a:p xmlns:a="http://schemas.openxmlformats.org/drawingml/2006/main">
            <a:r>
              <a:t/>
            </a:r>
          </a:p>
          <a:p xmlns:a="http://schemas.openxmlformats.org/drawingml/2006/main">
            <a:r>
              <a:t>In Python, value is None tests for a missing marker. is not None tests that it is not that marker.</a:t>
            </a:r>
          </a:p>
          <a:p xmlns:a="http://schemas.openxmlformats.org/drawingml/2006/main">
            <a:r>
              <a:t/>
            </a:r>
          </a:p>
          <a:p xmlns:a="http://schemas.openxmlformats.org/drawingml/2006/main">
            <a:r>
              <a:t>LECTURER CUE</a:t>
            </a:r>
          </a:p>
          <a:p xmlns:a="http://schemas.openxmlformats.org/drawingml/2006/main">
            <a:r>
              <a:t>Use the example below to sort four valid readings. The median is (22 + 24) / 2 = 23. Filling a blank with 23 is a stated teaching rule, not a recovered measurement.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decisions and charts in Python (1/2)</a:t>
            </a:r>
          </a:p>
          <a:p xmlns:a="http://schemas.openxmlformats.org/drawingml/2006/main">
            <a:r>
              <a:t/>
            </a:r>
          </a:p>
          <a:p xmlns:a="http://schemas.openxmlformats.org/drawingml/2006/main">
            <a:r>
              <a:t>CONNECT</a:t>
            </a:r>
          </a:p>
          <a:p xmlns:a="http://schemas.openxmlformats.org/drawingml/2006/main">
            <a:r>
              <a:t>Previous slide: Filling a gap adds an estimate.</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from statistics import median</a:t>
            </a:r>
          </a:p>
          <a:p xmlns:a="http://schemas.openxmlformats.org/drawingml/2006/main">
            <a:r>
              <a:t>raw = [20, None, 22, 24, 80]</a:t>
            </a:r>
          </a:p>
          <a:p xmlns:a="http://schemas.openxmlformats.org/drawingml/2006/main">
            <a:r>
              <a:t>known = []</a:t>
            </a:r>
          </a:p>
          <a:p xmlns:a="http://schemas.openxmlformats.org/drawingml/2006/main">
            <a:r>
              <a:t>for value in raw:</a:t>
            </a:r>
          </a:p>
          <a:p xmlns:a="http://schemas.openxmlformats.org/drawingml/2006/main">
            <a:r>
              <a:t>    if value is not None:</a:t>
            </a:r>
          </a:p>
          <a:p xmlns:a="http://schemas.openxmlformats.org/drawingml/2006/main">
            <a:r>
              <a:t>        known.append(value)</a:t>
            </a:r>
          </a:p>
          <a:p xmlns:a="http://schemas.openxmlformats.org/drawingml/2006/main">
            <a:r>
              <a:t>fill = median(known)</a:t>
            </a:r>
          </a:p>
          <a:p xmlns:a="http://schemas.openxmlformats.org/drawingml/2006/main">
            <a:r>
              <a:t>cleaned = []</a:t>
            </a:r>
          </a:p>
          <a:p xmlns:a="http://schemas.openxmlformats.org/drawingml/2006/main">
            <a:r>
              <a:t/>
            </a:r>
          </a:p>
          <a:p xmlns:a="http://schemas.openxmlformats.org/drawingml/2006/main">
            <a:r>
              <a:t>import loads a library. from selects a tool from it.</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Use the example below to sort four valid readings. The median is (22 + 24) / 2 = 23. Filling a blank with 23 is a stated teaching rule, not a recovered measurement. Model a defect register: observation, evidence, decision, affected count, limitation. Work one repeated record and one missing value together. Draw a scatter plot from four pairs on the board. A pattern can motivate investigation without proving that one variable causes the other.</a:t>
            </a:r>
          </a:p>
          <a:p xmlns:a="http://schemas.openxmlformats.org/drawingml/2006/main">
            <a:r>
              <a:t/>
            </a:r>
          </a:p>
          <a:p xmlns:a="http://schemas.openxmlformats.org/drawingml/2006/main">
            <a:r>
              <a:t>Complete practice code:</a:t>
            </a:r>
          </a:p>
          <a:p xmlns:a="http://schemas.openxmlformats.org/drawingml/2006/main">
            <a:r>
              <a:t>from statistics import median</a:t>
            </a:r>
          </a:p>
          <a:p xmlns:a="http://schemas.openxmlformats.org/drawingml/2006/main">
            <a:r>
              <a:t>raw = [20, None, 22, 24, 80]</a:t>
            </a:r>
          </a:p>
          <a:p xmlns:a="http://schemas.openxmlformats.org/drawingml/2006/main">
            <a:r>
              <a:t>known = []</a:t>
            </a:r>
          </a:p>
          <a:p xmlns:a="http://schemas.openxmlformats.org/drawingml/2006/main">
            <a:r>
              <a:t>for value in raw:</a:t>
            </a:r>
          </a:p>
          <a:p xmlns:a="http://schemas.openxmlformats.org/drawingml/2006/main">
            <a:r>
              <a:t>    if value is not None:</a:t>
            </a:r>
          </a:p>
          <a:p xmlns:a="http://schemas.openxmlformats.org/drawingml/2006/main">
            <a:r>
              <a:t>        known.append(value)</a:t>
            </a:r>
          </a:p>
          <a:p xmlns:a="http://schemas.openxmlformats.org/drawingml/2006/main">
            <a:r>
              <a:t>fill = median(known)</a:t>
            </a:r>
          </a:p>
          <a:p xmlns:a="http://schemas.openxmlformats.org/drawingml/2006/main">
            <a:r>
              <a:t>cleaned = []</a:t>
            </a:r>
          </a:p>
          <a:p xmlns:a="http://schemas.openxmlformats.org/drawingml/2006/main">
            <a:r>
              <a:t>for value in raw:</a:t>
            </a:r>
          </a:p>
          <a:p xmlns:a="http://schemas.openxmlformats.org/drawingml/2006/main">
            <a:r>
              <a:t>    if value is None:</a:t>
            </a:r>
          </a:p>
          <a:p xmlns:a="http://schemas.openxmlformats.org/drawingml/2006/main">
            <a:r>
              <a:t>        cleaned.append(fill)</a:t>
            </a:r>
          </a:p>
          <a:p xmlns:a="http://schemas.openxmlformats.org/drawingml/2006/main">
            <a:r>
              <a:t>    else:</a:t>
            </a:r>
          </a:p>
          <a:p xmlns:a="http://schemas.openxmlformats.org/drawingml/2006/main">
            <a:r>
              <a:t>        cleaned.append(value)</a:t>
            </a:r>
          </a:p>
          <a:p xmlns:a="http://schemas.openxmlformats.org/drawingml/2006/main">
            <a:r>
              <a:t>print(fill)</a:t>
            </a:r>
          </a:p>
          <a:p xmlns:a="http://schemas.openxmlformats.org/drawingml/2006/main">
            <a:r>
              <a:t>print(raw)</a:t>
            </a:r>
          </a:p>
          <a:p xmlns:a="http://schemas.openxmlformats.org/drawingml/2006/main">
            <a:r>
              <a:t>print(cleaned)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decisions and charts in Python (2/2)</a:t>
            </a:r>
          </a:p>
          <a:p xmlns:a="http://schemas.openxmlformats.org/drawingml/2006/main">
            <a:r>
              <a:t/>
            </a:r>
          </a:p>
          <a:p xmlns:a="http://schemas.openxmlformats.org/drawingml/2006/main">
            <a:r>
              <a:t>CONNECT</a:t>
            </a:r>
          </a:p>
          <a:p xmlns:a="http://schemas.openxmlformats.org/drawingml/2006/main">
            <a:r>
              <a:t>Previous slide: Cleaning decisions and charts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value in raw:</a:t>
            </a:r>
          </a:p>
          <a:p xmlns:a="http://schemas.openxmlformats.org/drawingml/2006/main">
            <a:r>
              <a:t>    if value is None:</a:t>
            </a:r>
          </a:p>
          <a:p xmlns:a="http://schemas.openxmlformats.org/drawingml/2006/main">
            <a:r>
              <a:t>        cleaned.append(fill)</a:t>
            </a:r>
          </a:p>
          <a:p xmlns:a="http://schemas.openxmlformats.org/drawingml/2006/main">
            <a:r>
              <a:t>    else:</a:t>
            </a:r>
          </a:p>
          <a:p xmlns:a="http://schemas.openxmlformats.org/drawingml/2006/main">
            <a:r>
              <a:t>        cleaned.append(value)</a:t>
            </a:r>
          </a:p>
          <a:p xmlns:a="http://schemas.openxmlformats.org/drawingml/2006/main">
            <a:r>
              <a:t>print(fill)</a:t>
            </a:r>
          </a:p>
          <a:p xmlns:a="http://schemas.openxmlformats.org/drawingml/2006/main">
            <a:r>
              <a:t>print(raw)</a:t>
            </a:r>
          </a:p>
          <a:p xmlns:a="http://schemas.openxmlformats.org/drawingml/2006/main">
            <a:r>
              <a:t>print(cleaned)</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Use the example below to sort four valid readings. The median is (22 + 24) / 2 = 23. Filling a blank with 23 is a stated teaching rule, not a recovered measurement. Model a defect register: observation, evidence, decision, affected count, limitation. Work one repeated record and one missing value together. Draw a scatter plot from four pairs on the board. A pattern can motivate investigation without proving that one variable causes the other.</a:t>
            </a:r>
          </a:p>
          <a:p xmlns:a="http://schemas.openxmlformats.org/drawingml/2006/main">
            <a:r>
              <a:t/>
            </a:r>
          </a:p>
          <a:p xmlns:a="http://schemas.openxmlformats.org/drawingml/2006/main">
            <a:r>
              <a:t>Complete practice code:</a:t>
            </a:r>
          </a:p>
          <a:p xmlns:a="http://schemas.openxmlformats.org/drawingml/2006/main">
            <a:r>
              <a:t>from statistics import median</a:t>
            </a:r>
          </a:p>
          <a:p xmlns:a="http://schemas.openxmlformats.org/drawingml/2006/main">
            <a:r>
              <a:t>raw = [20, None, 22, 24, 80]</a:t>
            </a:r>
          </a:p>
          <a:p xmlns:a="http://schemas.openxmlformats.org/drawingml/2006/main">
            <a:r>
              <a:t>known = []</a:t>
            </a:r>
          </a:p>
          <a:p xmlns:a="http://schemas.openxmlformats.org/drawingml/2006/main">
            <a:r>
              <a:t>for value in raw:</a:t>
            </a:r>
          </a:p>
          <a:p xmlns:a="http://schemas.openxmlformats.org/drawingml/2006/main">
            <a:r>
              <a:t>    if value is not None:</a:t>
            </a:r>
          </a:p>
          <a:p xmlns:a="http://schemas.openxmlformats.org/drawingml/2006/main">
            <a:r>
              <a:t>        known.append(value)</a:t>
            </a:r>
          </a:p>
          <a:p xmlns:a="http://schemas.openxmlformats.org/drawingml/2006/main">
            <a:r>
              <a:t>fill = median(known)</a:t>
            </a:r>
          </a:p>
          <a:p xmlns:a="http://schemas.openxmlformats.org/drawingml/2006/main">
            <a:r>
              <a:t>cleaned = []</a:t>
            </a:r>
          </a:p>
          <a:p xmlns:a="http://schemas.openxmlformats.org/drawingml/2006/main">
            <a:r>
              <a:t>for value in raw:</a:t>
            </a:r>
          </a:p>
          <a:p xmlns:a="http://schemas.openxmlformats.org/drawingml/2006/main">
            <a:r>
              <a:t>    if value is None:</a:t>
            </a:r>
          </a:p>
          <a:p xmlns:a="http://schemas.openxmlformats.org/drawingml/2006/main">
            <a:r>
              <a:t>        cleaned.append(fill)</a:t>
            </a:r>
          </a:p>
          <a:p xmlns:a="http://schemas.openxmlformats.org/drawingml/2006/main">
            <a:r>
              <a:t>    else:</a:t>
            </a:r>
          </a:p>
          <a:p xmlns:a="http://schemas.openxmlformats.org/drawingml/2006/main">
            <a:r>
              <a:t>        cleaned.append(value)</a:t>
            </a:r>
          </a:p>
          <a:p xmlns:a="http://schemas.openxmlformats.org/drawingml/2006/main">
            <a:r>
              <a:t>print(fill)</a:t>
            </a:r>
          </a:p>
          <a:p xmlns:a="http://schemas.openxmlformats.org/drawingml/2006/main">
            <a:r>
              <a:t>print(raw)</a:t>
            </a:r>
          </a:p>
          <a:p xmlns:a="http://schemas.openxmlformats.org/drawingml/2006/main">
            <a:r>
              <a:t>print(cleaned)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decisions and charts results</a:t>
            </a:r>
          </a:p>
          <a:p xmlns:a="http://schemas.openxmlformats.org/drawingml/2006/main">
            <a:r>
              <a:t/>
            </a:r>
          </a:p>
          <a:p xmlns:a="http://schemas.openxmlformats.org/drawingml/2006/main">
            <a:r>
              <a:t>CONNECT</a:t>
            </a:r>
          </a:p>
          <a:p xmlns:a="http://schemas.openxmlformats.org/drawingml/2006/main">
            <a:r>
              <a:t>Previous slide: Cleaning decisions and charts in Python (2/2).</a:t>
            </a:r>
          </a:p>
          <a:p xmlns:a="http://schemas.openxmlformats.org/drawingml/2006/main">
            <a:r>
              <a:t/>
            </a:r>
          </a:p>
          <a:p xmlns:a="http://schemas.openxmlformats.org/drawingml/2006/main">
            <a:r>
              <a:t>EXPLAIN</a:t>
            </a:r>
          </a:p>
          <a:p xmlns:a="http://schemas.openxmlformats.org/drawingml/2006/main">
            <a:r>
              <a:t>23.0</a:t>
            </a:r>
          </a:p>
          <a:p xmlns:a="http://schemas.openxmlformats.org/drawingml/2006/main">
            <a:r>
              <a:t>[20, None, 22, 24, 80]</a:t>
            </a:r>
          </a:p>
          <a:p xmlns:a="http://schemas.openxmlformats.org/drawingml/2006/main">
            <a:r>
              <a:t>[20, 23.0, 22, 24, 80]</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Copy a record and remember an ID.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Copy a record and remember an ID</a:t>
            </a:r>
          </a:p>
          <a:p xmlns:a="http://schemas.openxmlformats.org/drawingml/2006/main">
            <a:r>
              <a:t/>
            </a:r>
          </a:p>
          <a:p xmlns:a="http://schemas.openxmlformats.org/drawingml/2006/main">
            <a:r>
              <a:t>CONNECT</a:t>
            </a:r>
          </a:p>
          <a:p xmlns:a="http://schemas.openxmlformats.org/drawingml/2006/main">
            <a:r>
              <a:t>Previous slide: Cleaning decisions and charts results.</a:t>
            </a:r>
          </a:p>
          <a:p xmlns:a="http://schemas.openxmlformats.org/drawingml/2006/main">
            <a:r>
              <a:t/>
            </a:r>
          </a:p>
          <a:p xmlns:a="http://schemas.openxmlformats.org/drawingml/2006/main">
            <a:r>
              <a:t>EXPLAIN</a:t>
            </a:r>
          </a:p>
          <a:p xmlns:a="http://schemas.openxmlformats.org/drawingml/2006/main">
            <a:r>
              <a:t>dict(row): For our flat records, dict(row) makes a separate dictionary with the same fields. Changing a number in the copy leaves the original record unchanged.</a:t>
            </a:r>
          </a:p>
          <a:p xmlns:a="http://schemas.openxmlformats.org/drawingml/2006/main">
            <a:r>
              <a:t/>
            </a:r>
          </a:p>
          <a:p xmlns:a="http://schemas.openxmlformats.org/drawingml/2006/main">
            <a:r>
              <a:t>set, in, add and continue: set() starts an empty collection of unique items. in checks membership; add remembers an item. continue skips the rest of the current loop pass.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working copy preserves the original.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working copy preserves the original</a:t>
            </a:r>
          </a:p>
          <a:p xmlns:a="http://schemas.openxmlformats.org/drawingml/2006/main">
            <a:r>
              <a:t/>
            </a:r>
          </a:p>
          <a:p xmlns:a="http://schemas.openxmlformats.org/drawingml/2006/main">
            <a:r>
              <a:t>CONNECT</a:t>
            </a:r>
          </a:p>
          <a:p xmlns:a="http://schemas.openxmlformats.org/drawingml/2006/main">
            <a:r>
              <a:t>Previous slide: Copy a record and remember an ID.</a:t>
            </a:r>
          </a:p>
          <a:p xmlns:a="http://schemas.openxmlformats.org/drawingml/2006/main">
            <a:r>
              <a:t/>
            </a:r>
          </a:p>
          <a:p xmlns:a="http://schemas.openxmlformats.org/drawingml/2006/main">
            <a:r>
              <a:t>EXPLAIN</a:t>
            </a:r>
          </a:p>
          <a:p xmlns:a="http://schemas.openxmlformats.org/drawingml/2006/main">
            <a:r>
              <a:t>In this separate four-record example, remove one repeated C record and fill B with (20 + 24) / 2 = 22.</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The working-copy rule is a toy activity, not the exact assessed cleaning policy.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Copies and duplicate checks.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Copies and duplicate checks</a:t>
            </a:r>
          </a:p>
          <a:p xmlns:a="http://schemas.openxmlformats.org/drawingml/2006/main">
            <a:r>
              <a:t/>
            </a:r>
          </a:p>
          <a:p xmlns:a="http://schemas.openxmlformats.org/drawingml/2006/main">
            <a:r>
              <a:t>CONNECT</a:t>
            </a:r>
          </a:p>
          <a:p xmlns:a="http://schemas.openxmlformats.org/drawingml/2006/main">
            <a:r>
              <a:t>Previous slide: A working copy preserves the original.</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row = {"id": "A", "reading": 4}</a:t>
            </a:r>
          </a:p>
          <a:p xmlns:a="http://schemas.openxmlformats.org/drawingml/2006/main">
            <a:r>
              <a:t>copy = dict(row)</a:t>
            </a:r>
          </a:p>
          <a:p xmlns:a="http://schemas.openxmlformats.org/drawingml/2006/main">
            <a:r>
              <a:t>copy["reading"] = 5</a:t>
            </a:r>
          </a:p>
          <a:p xmlns:a="http://schemas.openxmlformats.org/drawingml/2006/main">
            <a:r>
              <a:t>seen = set()</a:t>
            </a:r>
          </a:p>
          <a:p xmlns:a="http://schemas.openxmlformats.org/drawingml/2006/main">
            <a:r>
              <a:t>seen.add(row["id"])</a:t>
            </a:r>
          </a:p>
          <a:p xmlns:a="http://schemas.openxmlformats.org/drawingml/2006/main">
            <a:r>
              <a:t>print(row["reading"])</a:t>
            </a:r>
          </a:p>
          <a:p xmlns:a="http://schemas.openxmlformats.org/drawingml/2006/main">
            <a:r>
              <a:t>print("A" in seen)</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Braces hold dictionary key: value pairs here.</a:t>
            </a:r>
          </a:p>
          <a:p xmlns:a="http://schemas.openxmlformats.org/drawingml/2006/main">
            <a:r>
              <a:t/>
            </a:r>
          </a:p>
          <a:p xmlns:a="http://schemas.openxmlformats.org/drawingml/2006/main">
            <a:r>
              <a:t>dict(row) makes a shallow copy. A set keeps unique IDs.</a:t>
            </a:r>
          </a:p>
          <a:p xmlns:a="http://schemas.openxmlformats.org/drawingml/2006/main">
            <a:r>
              <a:t/>
            </a:r>
          </a:p>
          <a:p xmlns:a="http://schemas.openxmlformats.org/drawingml/2006/main">
            <a:r>
              <a:t>LECTURER CUE</a:t>
            </a:r>
          </a:p>
          <a:p xmlns:a="http://schemas.openxmlformats.org/drawingml/2006/main">
            <a:r>
              <a:t>Read each symbol before running. Ask everyone to predict. Expected output: 4 then True. The example has only scalar fields. A shallow copy does not independently copy nested lists.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duplicate-record decision.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duplicate-record decision</a:t>
            </a:r>
          </a:p>
          <a:p xmlns:a="http://schemas.openxmlformats.org/drawingml/2006/main">
            <a:r>
              <a:t/>
            </a:r>
          </a:p>
          <a:p xmlns:a="http://schemas.openxmlformats.org/drawingml/2006/main">
            <a:r>
              <a:t>CONNECT</a:t>
            </a:r>
          </a:p>
          <a:p xmlns:a="http://schemas.openxmlformats.org/drawingml/2006/main">
            <a:r>
              <a:t>Previous slide: Copies and duplicate checks.</a:t>
            </a:r>
          </a:p>
          <a:p xmlns:a="http://schemas.openxmlformats.org/drawingml/2006/main">
            <a:r>
              <a:t/>
            </a:r>
          </a:p>
          <a:p xmlns:a="http://schemas.openxmlformats.org/drawingml/2006/main">
            <a:r>
              <a:t>EXPLAIN</a:t>
            </a:r>
          </a:p>
          <a:p xmlns:a="http://schemas.openxmlformats.org/drawingml/2006/main">
            <a:r>
              <a:t>Record ID | Already in seen? | Action</a:t>
            </a:r>
          </a:p>
          <a:p xmlns:a="http://schemas.openxmlformats.org/drawingml/2006/main">
            <a:r>
              <a:t/>
            </a:r>
          </a:p>
          <a:p xmlns:a="http://schemas.openxmlformats.org/drawingml/2006/main">
            <a:r>
              <a:t>1, first record | No | Remember 1; keep a copy</a:t>
            </a:r>
          </a:p>
          <a:p xmlns:a="http://schemas.openxmlformats.org/drawingml/2006/main">
            <a:r>
              <a:t/>
            </a:r>
          </a:p>
          <a:p xmlns:a="http://schemas.openxmlformats.org/drawingml/2006/main">
            <a:r>
              <a:t>1, repeated record | Yes | continue; skip this copy</a:t>
            </a:r>
          </a:p>
          <a:p xmlns:a="http://schemas.openxmlformats.org/drawingml/2006/main">
            <a:r>
              <a:t/>
            </a:r>
          </a:p>
          <a:p xmlns:a="http://schemas.openxmlformats.org/drawingml/2006/main">
            <a:r>
              <a:t>2, next record | No | Remember 2; keep a copy</a:t>
            </a:r>
          </a:p>
          <a:p xmlns:a="http://schemas.openxmlformats.org/drawingml/2006/main">
            <a:r>
              <a:t/>
            </a:r>
          </a:p>
          <a:p xmlns:a="http://schemas.openxmlformats.org/drawingml/2006/main">
            <a:r>
              <a:t>This example removes repeated record IDs, not every observation from repeated equipment.</a:t>
            </a:r>
          </a:p>
          <a:p xmlns:a="http://schemas.openxmlformats.org/drawingml/2006/main">
            <a:r>
              <a:t/>
            </a:r>
          </a:p>
          <a:p xmlns:a="http://schemas.openxmlformats.org/drawingml/2006/main">
            <a:r>
              <a:t>Read the rows in order. This example removes repeated record IDs, not every observation from repeated equipment.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Following a cleaning loop.</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Following a cleaning loop</a:t>
            </a:r>
          </a:p>
          <a:p xmlns:a="http://schemas.openxmlformats.org/drawingml/2006/main">
            <a:r>
              <a:t/>
            </a:r>
          </a:p>
          <a:p xmlns:a="http://schemas.openxmlformats.org/drawingml/2006/main">
            <a:r>
              <a:t>CONNECT</a:t>
            </a:r>
          </a:p>
          <a:p xmlns:a="http://schemas.openxmlformats.org/drawingml/2006/main">
            <a:r>
              <a:t>Previous slide: Trace the duplicate-record decision.</a:t>
            </a:r>
          </a:p>
          <a:p xmlns:a="http://schemas.openxmlformats.org/drawingml/2006/main">
            <a:r>
              <a:t/>
            </a:r>
          </a:p>
          <a:p xmlns:a="http://schemas.openxmlformats.org/drawingml/2006/main">
            <a:r>
              <a:t>EXPLAIN</a:t>
            </a:r>
          </a:p>
          <a:p xmlns:a="http://schemas.openxmlformats.org/drawingml/2006/main">
            <a:r>
              <a:t>Expression | Meaning</a:t>
            </a:r>
          </a:p>
          <a:p xmlns:a="http://schemas.openxmlformats.org/drawingml/2006/main">
            <a:r>
              <a:t/>
            </a:r>
          </a:p>
          <a:p xmlns:a="http://schemas.openxmlformats.org/drawingml/2006/main">
            <a:r>
              <a:t>seen = set() | Start an empty collection of IDs</a:t>
            </a:r>
          </a:p>
          <a:p xmlns:a="http://schemas.openxmlformats.org/drawingml/2006/main">
            <a:r>
              <a:t/>
            </a:r>
          </a:p>
          <a:p xmlns:a="http://schemas.openxmlformats.org/drawingml/2006/main">
            <a:r>
              <a:t>record_id in seen | Has this ID already been recorded?</a:t>
            </a:r>
          </a:p>
          <a:p xmlns:a="http://schemas.openxmlformats.org/drawingml/2006/main">
            <a:r>
              <a:t/>
            </a:r>
          </a:p>
          <a:p xmlns:a="http://schemas.openxmlformats.org/drawingml/2006/main">
            <a:r>
              <a:t>continue | Skip the remaining lines for this item</a:t>
            </a:r>
          </a:p>
          <a:p xmlns:a="http://schemas.openxmlformats.org/drawingml/2006/main">
            <a:r>
              <a:t/>
            </a:r>
          </a:p>
          <a:p xmlns:a="http://schemas.openxmlformats.org/drawingml/2006/main">
            <a:r>
              <a:t>value is None | Check for Python’s no-value marker</a:t>
            </a:r>
          </a:p>
          <a:p xmlns:a="http://schemas.openxmlformats.org/drawingml/2006/main">
            <a:r>
              <a:t/>
            </a:r>
          </a:p>
          <a:p xmlns:a="http://schemas.openxmlformats.org/drawingml/2006/main">
            <a:r>
              <a:t>An empty string "" and None are different values. Parse CSV fields according to the issued rule.</a:t>
            </a:r>
          </a:p>
          <a:p xmlns:a="http://schemas.openxmlformats.org/drawingml/2006/main">
            <a:r>
              <a:t/>
            </a:r>
          </a:p>
          <a:p xmlns:a="http://schemas.openxmlformats.org/drawingml/2006/main">
            <a:r>
              <a:t>LECTURER CUE</a:t>
            </a:r>
          </a:p>
          <a:p xmlns:a="http://schemas.openxmlformats.org/drawingml/2006/main">
            <a:r>
              <a:t>Read one row at a time and use a changed value. This is a syntax reference for the worked examples.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Copying records and recognising repeats in Python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Copying records and recognising repeats in Python (1/2)</a:t>
            </a:r>
          </a:p>
          <a:p xmlns:a="http://schemas.openxmlformats.org/drawingml/2006/main">
            <a:r>
              <a:t/>
            </a:r>
          </a:p>
          <a:p xmlns:a="http://schemas.openxmlformats.org/drawingml/2006/main">
            <a:r>
              <a:t>CONNECT</a:t>
            </a:r>
          </a:p>
          <a:p xmlns:a="http://schemas.openxmlformats.org/drawingml/2006/main">
            <a:r>
              <a:t>Previous slide: Following a cleaning loop.</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raw_records = [{"id": 1, "equipment": "A", "value": 10},</a:t>
            </a:r>
          </a:p>
          <a:p xmlns:a="http://schemas.openxmlformats.org/drawingml/2006/main">
            <a:r>
              <a:t>               {"id": 1, "equipment": "A", "value": 10},</a:t>
            </a:r>
          </a:p>
          <a:p xmlns:a="http://schemas.openxmlformats.org/drawingml/2006/main">
            <a:r>
              <a:t>               {"id": 2, "equipment": "A", "value": 12}]</a:t>
            </a:r>
          </a:p>
          <a:p xmlns:a="http://schemas.openxmlformats.org/drawingml/2006/main">
            <a:r>
              <a:t>seen = set()</a:t>
            </a:r>
          </a:p>
          <a:p xmlns:a="http://schemas.openxmlformats.org/drawingml/2006/main">
            <a:r>
              <a:t>kept = []</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Braces hold dictionary key: value pairs here.</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set() creates a collection of already-seen identifiers. in checks membership. continue skips the rest of that iteration. dict(row) copies a record so later edits do not change the original. Different record IDs from the same equipment remain legitimate observations.</a:t>
            </a:r>
          </a:p>
          <a:p xmlns:a="http://schemas.openxmlformats.org/drawingml/2006/main">
            <a:r>
              <a:t/>
            </a:r>
          </a:p>
          <a:p xmlns:a="http://schemas.openxmlformats.org/drawingml/2006/main">
            <a:r>
              <a:t>Complete practice code:</a:t>
            </a:r>
          </a:p>
          <a:p xmlns:a="http://schemas.openxmlformats.org/drawingml/2006/main">
            <a:r>
              <a:t>raw_records = [{"id": 1, "equipment": "A", "value": 10},</a:t>
            </a:r>
          </a:p>
          <a:p xmlns:a="http://schemas.openxmlformats.org/drawingml/2006/main">
            <a:r>
              <a:t>               {"id": 1, "equipment": "A", "value": 10},</a:t>
            </a:r>
          </a:p>
          <a:p xmlns:a="http://schemas.openxmlformats.org/drawingml/2006/main">
            <a:r>
              <a:t>               {"id": 2, "equipment": "A", "value": 12}]</a:t>
            </a:r>
          </a:p>
          <a:p xmlns:a="http://schemas.openxmlformats.org/drawingml/2006/main">
            <a:r>
              <a:t>seen = set()</a:t>
            </a:r>
          </a:p>
          <a:p xmlns:a="http://schemas.openxmlformats.org/drawingml/2006/main">
            <a:r>
              <a:t>kept = []</a:t>
            </a:r>
          </a:p>
          <a:p xmlns:a="http://schemas.openxmlformats.org/drawingml/2006/main">
            <a:r>
              <a:t>for row in raw_records:</a:t>
            </a:r>
          </a:p>
          <a:p xmlns:a="http://schemas.openxmlformats.org/drawingml/2006/main">
            <a:r>
              <a:t>    if row["id"] in seen:</a:t>
            </a:r>
          </a:p>
          <a:p xmlns:a="http://schemas.openxmlformats.org/drawingml/2006/main">
            <a:r>
              <a:t>        continue</a:t>
            </a:r>
          </a:p>
          <a:p xmlns:a="http://schemas.openxmlformats.org/drawingml/2006/main">
            <a:r>
              <a:t>    seen.add(row["id"])</a:t>
            </a:r>
          </a:p>
          <a:p xmlns:a="http://schemas.openxmlformats.org/drawingml/2006/main">
            <a:r>
              <a:t>    kept.append(dict(row))</a:t>
            </a:r>
          </a:p>
          <a:p xmlns:a="http://schemas.openxmlformats.org/drawingml/2006/main">
            <a:r>
              <a:t>print(len(raw_records), len(kept))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Copying records and recognising repeats in Python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Copying records and recognising repeats in Python (2/2)</a:t>
            </a:r>
          </a:p>
          <a:p xmlns:a="http://schemas.openxmlformats.org/drawingml/2006/main">
            <a:r>
              <a:t/>
            </a:r>
          </a:p>
          <a:p xmlns:a="http://schemas.openxmlformats.org/drawingml/2006/main">
            <a:r>
              <a:t>CONNECT</a:t>
            </a:r>
          </a:p>
          <a:p xmlns:a="http://schemas.openxmlformats.org/drawingml/2006/main">
            <a:r>
              <a:t>Previous slide: Copying records and recognising repeats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row in raw_records:</a:t>
            </a:r>
          </a:p>
          <a:p xmlns:a="http://schemas.openxmlformats.org/drawingml/2006/main">
            <a:r>
              <a:t>    if row["id"] in seen:</a:t>
            </a:r>
          </a:p>
          <a:p xmlns:a="http://schemas.openxmlformats.org/drawingml/2006/main">
            <a:r>
              <a:t>        continue</a:t>
            </a:r>
          </a:p>
          <a:p xmlns:a="http://schemas.openxmlformats.org/drawingml/2006/main">
            <a:r>
              <a:t>    seen.add(row["id"])</a:t>
            </a:r>
          </a:p>
          <a:p xmlns:a="http://schemas.openxmlformats.org/drawingml/2006/main">
            <a:r>
              <a:t>    kept.append(dict(row))</a:t>
            </a:r>
          </a:p>
          <a:p xmlns:a="http://schemas.openxmlformats.org/drawingml/2006/main">
            <a:r>
              <a:t>print(len(raw_records), len(kept))</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set() creates a collection of already-seen identifiers. in checks membership. continue skips the rest of that iteration. dict(row) copies a record so later edits do not change the original. Different record IDs from the same equipment remain legitimate observations.</a:t>
            </a:r>
          </a:p>
          <a:p xmlns:a="http://schemas.openxmlformats.org/drawingml/2006/main">
            <a:r>
              <a:t/>
            </a:r>
          </a:p>
          <a:p xmlns:a="http://schemas.openxmlformats.org/drawingml/2006/main">
            <a:r>
              <a:t>Complete practice code:</a:t>
            </a:r>
          </a:p>
          <a:p xmlns:a="http://schemas.openxmlformats.org/drawingml/2006/main">
            <a:r>
              <a:t>raw_records = [{"id": 1, "equipment": "A", "value": 10},</a:t>
            </a:r>
          </a:p>
          <a:p xmlns:a="http://schemas.openxmlformats.org/drawingml/2006/main">
            <a:r>
              <a:t>               {"id": 1, "equipment": "A", "value": 10},</a:t>
            </a:r>
          </a:p>
          <a:p xmlns:a="http://schemas.openxmlformats.org/drawingml/2006/main">
            <a:r>
              <a:t>               {"id": 2, "equipment": "A", "value": 12}]</a:t>
            </a:r>
          </a:p>
          <a:p xmlns:a="http://schemas.openxmlformats.org/drawingml/2006/main">
            <a:r>
              <a:t>seen = set()</a:t>
            </a:r>
          </a:p>
          <a:p xmlns:a="http://schemas.openxmlformats.org/drawingml/2006/main">
            <a:r>
              <a:t>kept = []</a:t>
            </a:r>
          </a:p>
          <a:p xmlns:a="http://schemas.openxmlformats.org/drawingml/2006/main">
            <a:r>
              <a:t>for row in raw_records:</a:t>
            </a:r>
          </a:p>
          <a:p xmlns:a="http://schemas.openxmlformats.org/drawingml/2006/main">
            <a:r>
              <a:t>    if row["id"] in seen:</a:t>
            </a:r>
          </a:p>
          <a:p xmlns:a="http://schemas.openxmlformats.org/drawingml/2006/main">
            <a:r>
              <a:t>        continue</a:t>
            </a:r>
          </a:p>
          <a:p xmlns:a="http://schemas.openxmlformats.org/drawingml/2006/main">
            <a:r>
              <a:t>    seen.add(row["id"])</a:t>
            </a:r>
          </a:p>
          <a:p xmlns:a="http://schemas.openxmlformats.org/drawingml/2006/main">
            <a:r>
              <a:t>    kept.append(dict(row))</a:t>
            </a:r>
          </a:p>
          <a:p xmlns:a="http://schemas.openxmlformats.org/drawingml/2006/main">
            <a:r>
              <a:t>print(len(raw_records), len(kept))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returned as a dictionary.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returned as a dictionary</a:t>
            </a:r>
          </a:p>
          <a:p xmlns:a="http://schemas.openxmlformats.org/drawingml/2006/main">
            <a:r>
              <a:t/>
            </a:r>
          </a:p>
          <a:p xmlns:a="http://schemas.openxmlformats.org/drawingml/2006/main">
            <a:r>
              <a:t>CONNECT</a:t>
            </a:r>
          </a:p>
          <a:p xmlns:a="http://schemas.openxmlformats.org/drawingml/2006/main">
            <a:r>
              <a:t>Previous slide: Copying records and recognising repeats in Python (2/2).</a:t>
            </a:r>
          </a:p>
          <a:p xmlns:a="http://schemas.openxmlformats.org/drawingml/2006/main">
            <a:r>
              <a:t/>
            </a:r>
          </a:p>
          <a:p xmlns:a="http://schemas.openxmlformats.org/drawingml/2006/main">
            <a:r>
              <a:t>EXPLAIN</a:t>
            </a:r>
          </a:p>
          <a:p xmlns:a="http://schemas.openxmlformats.org/drawingml/2006/main">
            <a:r>
              <a:t>This example expects a nonempty list.</a:t>
            </a:r>
          </a:p>
          <a:p xmlns:a="http://schemas.openxmlformats.org/drawingml/2006/main">
            <a:r>
              <a:t/>
            </a:r>
          </a:p>
          <a:p xmlns:a="http://schemas.openxmlformats.org/drawingml/2006/main">
            <a:r>
              <a:t>It calculates a count and mean, then returns a dictionary with named outputs.</a:t>
            </a:r>
          </a:p>
          <a:p xmlns:a="http://schemas.openxmlformats.org/drawingml/2006/main">
            <a:r>
              <a:t/>
            </a:r>
          </a:p>
          <a:p xmlns:a="http://schemas.openxmlformats.org/drawingml/2006/main">
            <a:r>
              <a:t>Use the exact keys specified by the issued task when adapting this pattern.</a:t>
            </a:r>
          </a:p>
          <a:p xmlns:a="http://schemas.openxmlformats.org/drawingml/2006/main">
            <a:r>
              <a:t/>
            </a:r>
          </a:p>
          <a:p xmlns:a="http://schemas.openxmlformats.org/drawingml/2006/main">
            <a:r>
              <a:t>LECTURER CUE</a:t>
            </a:r>
          </a:p>
          <a:p xmlns:a="http://schemas.openxmlformats.org/drawingml/2006/main">
            <a:r>
              <a:t>This example expects a nonempty list. It calculates a count and mean, then returns a dictionary with named outputs. Use the exact keys specified by the issued task when adapting this pattern.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returned as a dictionary in Python.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returned as a dictionary in Python</a:t>
            </a:r>
          </a:p>
          <a:p xmlns:a="http://schemas.openxmlformats.org/drawingml/2006/main">
            <a:r>
              <a:t/>
            </a:r>
          </a:p>
          <a:p xmlns:a="http://schemas.openxmlformats.org/drawingml/2006/main">
            <a:r>
              <a:t>CONNECT</a:t>
            </a:r>
          </a:p>
          <a:p xmlns:a="http://schemas.openxmlformats.org/drawingml/2006/main">
            <a:r>
              <a:t>Previous slide: Summaries returned as a dictionary.</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def describe(values):</a:t>
            </a:r>
          </a:p>
          <a:p xmlns:a="http://schemas.openxmlformats.org/drawingml/2006/main">
            <a:r>
              <a:t>    count = len(values)</a:t>
            </a:r>
          </a:p>
          <a:p xmlns:a="http://schemas.openxmlformats.org/drawingml/2006/main">
            <a:r>
              <a:t>    mean = sum(values) / count</a:t>
            </a:r>
          </a:p>
          <a:p xmlns:a="http://schemas.openxmlformats.org/drawingml/2006/main">
            <a:r>
              <a:t>    return {"count": count, "mean": mean}</a:t>
            </a:r>
          </a:p>
          <a:p xmlns:a="http://schemas.openxmlformats.org/drawingml/2006/main">
            <a:r>
              <a:t/>
            </a:r>
          </a:p>
          <a:p xmlns:a="http://schemas.openxmlformats.org/drawingml/2006/main">
            <a:r>
              <a:t>print(describe([10, 12]))</a:t>
            </a:r>
          </a:p>
          <a:p xmlns:a="http://schemas.openxmlformats.org/drawingml/2006/main">
            <a:r>
              <a:t/>
            </a:r>
          </a:p>
          <a:p xmlns:a="http://schemas.openxmlformats.org/drawingml/2006/main">
            <a:r>
              <a:t>def names the function. Inputs go inside parentheses.</a:t>
            </a:r>
          </a:p>
          <a:p xmlns:a="http://schemas.openxmlformats.org/drawingml/2006/main">
            <a:r>
              <a:t/>
            </a:r>
          </a:p>
          <a:p xmlns:a="http://schemas.openxmlformats.org/drawingml/2006/main">
            <a:r>
              <a:t>return sends the result back to the caller.</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This example expects a nonempty list. It calculates a count and mean, then returns a dictionary with named outputs. Use the exact keys specified by the issued task when adapting this pattern.</a:t>
            </a:r>
          </a:p>
          <a:p xmlns:a="http://schemas.openxmlformats.org/drawingml/2006/main">
            <a:r>
              <a:t/>
            </a:r>
          </a:p>
          <a:p xmlns:a="http://schemas.openxmlformats.org/drawingml/2006/main">
            <a:r>
              <a:t>Complete practice code:</a:t>
            </a:r>
          </a:p>
          <a:p xmlns:a="http://schemas.openxmlformats.org/drawingml/2006/main">
            <a:r>
              <a:t>def describe(values):</a:t>
            </a:r>
          </a:p>
          <a:p xmlns:a="http://schemas.openxmlformats.org/drawingml/2006/main">
            <a:r>
              <a:t>    count = len(values)</a:t>
            </a:r>
          </a:p>
          <a:p xmlns:a="http://schemas.openxmlformats.org/drawingml/2006/main">
            <a:r>
              <a:t>    mean = sum(values) / count</a:t>
            </a:r>
          </a:p>
          <a:p xmlns:a="http://schemas.openxmlformats.org/drawingml/2006/main">
            <a:r>
              <a:t>    return {"count": count, "mean": mean}</a:t>
            </a:r>
          </a:p>
          <a:p xmlns:a="http://schemas.openxmlformats.org/drawingml/2006/main">
            <a:r>
              <a:t/>
            </a:r>
          </a:p>
          <a:p xmlns:a="http://schemas.openxmlformats.org/drawingml/2006/main">
            <a:r>
              <a:t>print(describe([10, 12]))</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Reading a blank field.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a blank field</a:t>
            </a:r>
          </a:p>
          <a:p xmlns:a="http://schemas.openxmlformats.org/drawingml/2006/main">
            <a:r>
              <a:t/>
            </a:r>
          </a:p>
          <a:p xmlns:a="http://schemas.openxmlformats.org/drawingml/2006/main">
            <a:r>
              <a:t>CONNECT</a:t>
            </a:r>
          </a:p>
          <a:p xmlns:a="http://schemas.openxmlformats.org/drawingml/2006/main">
            <a:r>
              <a:t>Previous slide: Summaries returned as a dictionary in Python.</a:t>
            </a:r>
          </a:p>
          <a:p xmlns:a="http://schemas.openxmlformats.org/drawingml/2006/main">
            <a:r>
              <a:t/>
            </a:r>
          </a:p>
          <a:p xmlns:a="http://schemas.openxmlformats.org/drawingml/2006/main">
            <a:r>
              <a:t>EXPLAIN</a:t>
            </a:r>
          </a:p>
          <a:p xmlns:a="http://schemas.openxmlformats.org/drawingml/2006/main">
            <a:r>
              <a:t>CSV values start as text.</a:t>
            </a:r>
          </a:p>
          <a:p xmlns:a="http://schemas.openxmlformats.org/drawingml/2006/main">
            <a:r>
              <a:t/>
            </a:r>
          </a:p>
          <a:p xmlns:a="http://schemas.openxmlformats.org/drawingml/2006/main">
            <a:r>
              <a:t>The if/else below stores None for a blank.</a:t>
            </a:r>
          </a:p>
          <a:p xmlns:a="http://schemas.openxmlformats.org/drawingml/2006/main">
            <a:r>
              <a:t/>
            </a:r>
          </a:p>
          <a:p xmlns:a="http://schemas.openxmlformats.org/drawingml/2006/main">
            <a:r>
              <a:t>Otherwise float converts the text into a number.</a:t>
            </a:r>
          </a:p>
          <a:p xmlns:a="http://schemas.openxmlformats.org/drawingml/2006/main">
            <a:r>
              <a:t/>
            </a:r>
          </a:p>
          <a:p xmlns:a="http://schemas.openxmlformats.org/drawingml/2006/main">
            <a:r>
              <a:t>LECTURER CUE</a:t>
            </a:r>
          </a:p>
          <a:p xmlns:a="http://schemas.openxmlformats.org/drawingml/2006/main">
            <a:r>
              <a:t>CSV values start as text. The if/else below stores None for a blank. Otherwise float converts the text into a number.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Reading a blank field in Python.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a blank field in Python</a:t>
            </a:r>
          </a:p>
          <a:p xmlns:a="http://schemas.openxmlformats.org/drawingml/2006/main">
            <a:r>
              <a:t/>
            </a:r>
          </a:p>
          <a:p xmlns:a="http://schemas.openxmlformats.org/drawingml/2006/main">
            <a:r>
              <a:t>CONNECT</a:t>
            </a:r>
          </a:p>
          <a:p xmlns:a="http://schemas.openxmlformats.org/drawingml/2006/main">
            <a:r>
              <a:t>Previous slide: Reading a blank field.</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text_values = ["20", "", "24"]</a:t>
            </a:r>
          </a:p>
          <a:p xmlns:a="http://schemas.openxmlformats.org/drawingml/2006/main">
            <a:r>
              <a:t>parsed = []</a:t>
            </a:r>
          </a:p>
          <a:p xmlns:a="http://schemas.openxmlformats.org/drawingml/2006/main">
            <a:r>
              <a:t>for text in text_values:</a:t>
            </a:r>
          </a:p>
          <a:p xmlns:a="http://schemas.openxmlformats.org/drawingml/2006/main">
            <a:r>
              <a:t>    if text == "":</a:t>
            </a:r>
          </a:p>
          <a:p xmlns:a="http://schemas.openxmlformats.org/drawingml/2006/main">
            <a:r>
              <a:t>        parsed.append(None)</a:t>
            </a:r>
          </a:p>
          <a:p xmlns:a="http://schemas.openxmlformats.org/drawingml/2006/main">
            <a:r>
              <a:t>    else:</a:t>
            </a:r>
          </a:p>
          <a:p xmlns:a="http://schemas.openxmlformats.org/drawingml/2006/main">
            <a:r>
              <a:t>        parsed.append(float(text))</a:t>
            </a:r>
          </a:p>
          <a:p xmlns:a="http://schemas.openxmlformats.org/drawingml/2006/main">
            <a:r>
              <a:t>print(parsed)</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CSV values start as text. The if/else below stores None for a blank. Otherwise float converts the text into a number.</a:t>
            </a:r>
          </a:p>
          <a:p xmlns:a="http://schemas.openxmlformats.org/drawingml/2006/main">
            <a:r>
              <a:t/>
            </a:r>
          </a:p>
          <a:p xmlns:a="http://schemas.openxmlformats.org/drawingml/2006/main">
            <a:r>
              <a:t>Complete practice code:</a:t>
            </a:r>
          </a:p>
          <a:p xmlns:a="http://schemas.openxmlformats.org/drawingml/2006/main">
            <a:r>
              <a:t>text_values = ["20", "", "24"]</a:t>
            </a:r>
          </a:p>
          <a:p xmlns:a="http://schemas.openxmlformats.org/drawingml/2006/main">
            <a:r>
              <a:t>parsed = []</a:t>
            </a:r>
          </a:p>
          <a:p xmlns:a="http://schemas.openxmlformats.org/drawingml/2006/main">
            <a:r>
              <a:t>for text in text_values:</a:t>
            </a:r>
          </a:p>
          <a:p xmlns:a="http://schemas.openxmlformats.org/drawingml/2006/main">
            <a:r>
              <a:t>    if text == "":</a:t>
            </a:r>
          </a:p>
          <a:p xmlns:a="http://schemas.openxmlformats.org/drawingml/2006/main">
            <a:r>
              <a:t>        parsed.append(None)</a:t>
            </a:r>
          </a:p>
          <a:p xmlns:a="http://schemas.openxmlformats.org/drawingml/2006/main">
            <a:r>
              <a:t>    else:</a:t>
            </a:r>
          </a:p>
          <a:p xmlns:a="http://schemas.openxmlformats.org/drawingml/2006/main">
            <a:r>
              <a:t>        parsed.append(float(text))</a:t>
            </a:r>
          </a:p>
          <a:p xmlns:a="http://schemas.openxmlformats.org/drawingml/2006/main">
            <a:r>
              <a:t>print(parsed)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Audit.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Audit</a:t>
            </a:r>
          </a:p>
          <a:p xmlns:a="http://schemas.openxmlformats.org/drawingml/2006/main">
            <a:r>
              <a:t/>
            </a:r>
          </a:p>
          <a:p xmlns:a="http://schemas.openxmlformats.org/drawingml/2006/main">
            <a:r>
              <a:t>CONNECT</a:t>
            </a:r>
          </a:p>
          <a:p xmlns:a="http://schemas.openxmlformats.org/drawingml/2006/main">
            <a:r>
              <a:t>Previous slide: Reading a blank field in Python.</a:t>
            </a:r>
          </a:p>
          <a:p xmlns:a="http://schemas.openxmlformats.org/drawingml/2006/main">
            <a:r>
              <a:t/>
            </a:r>
          </a:p>
          <a:p xmlns:a="http://schemas.openxmlformats.org/drawingml/2006/main">
            <a:r>
              <a:t>EXPLAIN</a:t>
            </a:r>
          </a:p>
          <a:p xmlns:a="http://schemas.openxmlformats.org/drawingml/2006/main">
            <a:r>
              <a:t>Audit: A count and explanation of what changed, why it changed and how many records remain.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Every cleaning change needs a record.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Every cleaning change needs a record</a:t>
            </a:r>
          </a:p>
          <a:p xmlns:a="http://schemas.openxmlformats.org/drawingml/2006/main">
            <a:r>
              <a:t/>
            </a:r>
          </a:p>
          <a:p xmlns:a="http://schemas.openxmlformats.org/drawingml/2006/main">
            <a:r>
              <a:t>CONNECT</a:t>
            </a:r>
          </a:p>
          <a:p xmlns:a="http://schemas.openxmlformats.org/drawingml/2006/main">
            <a:r>
              <a:t>Previous slide: Audit.</a:t>
            </a:r>
          </a:p>
          <a:p xmlns:a="http://schemas.openxmlformats.org/drawingml/2006/main">
            <a:r>
              <a:t/>
            </a:r>
          </a:p>
          <a:p xmlns:a="http://schemas.openxmlformats.org/drawingml/2006/main">
            <a:r>
              <a:t>EXPLAIN</a:t>
            </a:r>
          </a:p>
          <a:p xmlns:a="http://schemas.openxmlformats.org/drawingml/2006/main">
            <a:r>
              <a:t>A duplicate record ID suggests a repeated observation.</a:t>
            </a:r>
          </a:p>
          <a:p xmlns:a="http://schemas.openxmlformats.org/drawingml/2006/main">
            <a:r>
              <a:t/>
            </a:r>
          </a:p>
          <a:p xmlns:a="http://schemas.openxmlformats.org/drawingml/2006/main">
            <a:r>
              <a:t>Two different observations from the same equipment can both be valid.</a:t>
            </a:r>
          </a:p>
          <a:p xmlns:a="http://schemas.openxmlformats.org/drawingml/2006/main">
            <a:r>
              <a:t/>
            </a:r>
          </a:p>
          <a:p xmlns:a="http://schemas.openxmlformats.org/drawingml/2006/main">
            <a:r>
              <a:t>Record the evidence, action, number of affected rows and limitation.</a:t>
            </a:r>
          </a:p>
          <a:p xmlns:a="http://schemas.openxmlformats.org/drawingml/2006/main">
            <a:r>
              <a:t/>
            </a:r>
          </a:p>
          <a:p xmlns:a="http://schemas.openxmlformats.org/drawingml/2006/main">
            <a:r>
              <a:t>LECTURER CUE</a:t>
            </a:r>
          </a:p>
          <a:p xmlns:a="http://schemas.openxmlformats.org/drawingml/2006/main">
            <a:r>
              <a:t>Model a defect register: observation, evidence, decision, affected count, limitation. Work one repeated record and one missing value together.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Chart axes.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Chart axes</a:t>
            </a:r>
          </a:p>
          <a:p xmlns:a="http://schemas.openxmlformats.org/drawingml/2006/main">
            <a:r>
              <a:t/>
            </a:r>
          </a:p>
          <a:p xmlns:a="http://schemas.openxmlformats.org/drawingml/2006/main">
            <a:r>
              <a:t>CONNECT</a:t>
            </a:r>
          </a:p>
          <a:p xmlns:a="http://schemas.openxmlformats.org/drawingml/2006/main">
            <a:r>
              <a:t>Previous slide: Every cleaning change needs a record.</a:t>
            </a:r>
          </a:p>
          <a:p xmlns:a="http://schemas.openxmlformats.org/drawingml/2006/main">
            <a:r>
              <a:t/>
            </a:r>
          </a:p>
          <a:p xmlns:a="http://schemas.openxmlformats.org/drawingml/2006/main">
            <a:r>
              <a:t>EXPLAIN</a:t>
            </a:r>
          </a:p>
          <a:p xmlns:a="http://schemas.openxmlformats.org/drawingml/2006/main">
            <a:r>
              <a:t>Chart axes: A chart maps values to positions. Read the horizontal variable, vertical variable and their units before interpreting a pattern.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scatter plot pairs two measurements.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scatter plot pairs two measurements</a:t>
            </a:r>
          </a:p>
          <a:p xmlns:a="http://schemas.openxmlformats.org/drawingml/2006/main">
            <a:r>
              <a:t/>
            </a:r>
          </a:p>
          <a:p xmlns:a="http://schemas.openxmlformats.org/drawingml/2006/main">
            <a:r>
              <a:t>CONNECT</a:t>
            </a:r>
          </a:p>
          <a:p xmlns:a="http://schemas.openxmlformats.org/drawingml/2006/main">
            <a:r>
              <a:t>Previous slide: Chart axes.</a:t>
            </a:r>
          </a:p>
          <a:p xmlns:a="http://schemas.openxmlformats.org/drawingml/2006/main">
            <a:r>
              <a:t/>
            </a:r>
          </a:p>
          <a:p xmlns:a="http://schemas.openxmlformats.org/drawingml/2006/main">
            <a:r>
              <a:t>EXPLAIN</a:t>
            </a:r>
          </a:p>
          <a:p xmlns:a="http://schemas.openxmlformats.org/drawingml/2006/main">
            <a:r>
              <a:t>The horizontal axis gives the input value.</a:t>
            </a:r>
          </a:p>
          <a:p xmlns:a="http://schemas.openxmlformats.org/drawingml/2006/main">
            <a:r>
              <a:t/>
            </a:r>
          </a:p>
          <a:p xmlns:a="http://schemas.openxmlformats.org/drawingml/2006/main">
            <a:r>
              <a:t>The vertical axis gives the corresponding reading.</a:t>
            </a:r>
          </a:p>
          <a:p xmlns:a="http://schemas.openxmlformats.org/drawingml/2006/main">
            <a:r>
              <a:t/>
            </a:r>
          </a:p>
          <a:p xmlns:a="http://schemas.openxmlformats.org/drawingml/2006/main">
            <a:r>
              <a:t>One point represents one observation. A pattern alone does not prove causation.</a:t>
            </a:r>
          </a:p>
          <a:p xmlns:a="http://schemas.openxmlformats.org/drawingml/2006/main">
            <a:r>
              <a:t/>
            </a:r>
          </a:p>
          <a:p xmlns:a="http://schemas.openxmlformats.org/drawingml/2006/main">
            <a:r>
              <a:t>LECTURER CUE</a:t>
            </a:r>
          </a:p>
          <a:p xmlns:a="http://schemas.openxmlformats.org/drawingml/2006/main">
            <a:r>
              <a:t>Draw a scatter plot from four pairs on the board. A pattern can motivate investigation without proving that one variable causes the other.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Choose a chart after naming the question.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Choose a chart after naming the question</a:t>
            </a:r>
          </a:p>
          <a:p xmlns:a="http://schemas.openxmlformats.org/drawingml/2006/main">
            <a:r>
              <a:t/>
            </a:r>
          </a:p>
          <a:p xmlns:a="http://schemas.openxmlformats.org/drawingml/2006/main">
            <a:r>
              <a:t>CONNECT</a:t>
            </a:r>
          </a:p>
          <a:p xmlns:a="http://schemas.openxmlformats.org/drawingml/2006/main">
            <a:r>
              <a:t>Previous slide: A scatter plot pairs two measurements.</a:t>
            </a:r>
          </a:p>
          <a:p xmlns:a="http://schemas.openxmlformats.org/drawingml/2006/main">
            <a:r>
              <a:t/>
            </a:r>
          </a:p>
          <a:p xmlns:a="http://schemas.openxmlformats.org/drawingml/2006/main">
            <a:r>
              <a:t>EXPLAIN</a:t>
            </a:r>
          </a:p>
          <a:p xmlns:a="http://schemas.openxmlformats.org/drawingml/2006/main">
            <a:r>
              <a:t>Scatter and bar: A scatter plot places one point for each paired measurement. A bar chart compares values across named groups. Label both axes and their units.</a:t>
            </a:r>
          </a:p>
          <a:p xmlns:a="http://schemas.openxmlformats.org/drawingml/2006/main">
            <a:r>
              <a:t/>
            </a:r>
          </a:p>
          <a:p xmlns:a="http://schemas.openxmlformats.org/drawingml/2006/main">
            <a:r>
              <a:t>Histogram and bins: A histogram counts observations in numerical intervals called bins. The horizontal axis is the measurement; the vertical axis is a count. Bin edges affect its appearance.</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Choosing a chart for the question.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Choosing a chart for the question</a:t>
            </a:r>
          </a:p>
          <a:p xmlns:a="http://schemas.openxmlformats.org/drawingml/2006/main">
            <a:r>
              <a:t/>
            </a:r>
          </a:p>
          <a:p xmlns:a="http://schemas.openxmlformats.org/drawingml/2006/main">
            <a:r>
              <a:t>CONNECT</a:t>
            </a:r>
          </a:p>
          <a:p xmlns:a="http://schemas.openxmlformats.org/drawingml/2006/main">
            <a:r>
              <a:t>Previous slide: Choose a chart after naming the question.</a:t>
            </a:r>
          </a:p>
          <a:p xmlns:a="http://schemas.openxmlformats.org/drawingml/2006/main">
            <a:r>
              <a:t/>
            </a:r>
          </a:p>
          <a:p xmlns:a="http://schemas.openxmlformats.org/drawingml/2006/main">
            <a:r>
              <a:t>EXPLAIN</a:t>
            </a:r>
          </a:p>
          <a:p xmlns:a="http://schemas.openxmlformats.org/drawingml/2006/main">
            <a:r>
              <a:t>This week uses histograms, scatter plots and bar charts. The other chart types are reference examples.</a:t>
            </a:r>
          </a:p>
          <a:p xmlns:a="http://schemas.openxmlformats.org/drawingml/2006/main">
            <a:r>
              <a:t/>
            </a:r>
          </a:p>
          <a:p xmlns:a="http://schemas.openxmlformats.org/drawingml/2006/main">
            <a:r>
              <a:t>LECTURER CUE</a:t>
            </a:r>
          </a:p>
          <a:p xmlns:a="http://schemas.openxmlformats.org/drawingml/2006/main">
            <a:r>
              <a:t>Name the question answered by each chart. Correlation does not establish causation. A bar chart usually needs a zero baseline.</a:t>
            </a:r>
          </a:p>
          <a:p xmlns:a="http://schemas.openxmlformats.org/drawingml/2006/main">
            <a:r>
              <a:t>Source: existing course illustration figs/chart_chooser.png. These are illustrative examples, not this cohort’s assessed results.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chart with labelled axes.</a:t>
            </a:r>
          </a:p>
          <a:p xmlns:a="http://schemas.openxmlformats.org/drawingml/2006/main">
            <a:r>
              <a:t/>
            </a:r>
          </a:p>
          <a:p xmlns:a="http://schemas.openxmlformats.org/drawingml/2006/main">
            <a:r>
              <a:t>REFERENCES</a:t>
            </a:r>
          </a:p>
          <a:p xmlns:a="http://schemas.openxmlformats.org/drawingml/2006/main">
            <a:r>
              <a:t>Source: existing course illustration figs/chart_chooser.png. These are illustrative examples, not this cohort’s assessed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chart with labelled axes</a:t>
            </a:r>
          </a:p>
          <a:p xmlns:a="http://schemas.openxmlformats.org/drawingml/2006/main">
            <a:r>
              <a:t/>
            </a:r>
          </a:p>
          <a:p xmlns:a="http://schemas.openxmlformats.org/drawingml/2006/main">
            <a:r>
              <a:t>CONNECT</a:t>
            </a:r>
          </a:p>
          <a:p xmlns:a="http://schemas.openxmlformats.org/drawingml/2006/main">
            <a:r>
              <a:t>Previous slide: Choosing a chart for the question.</a:t>
            </a:r>
          </a:p>
          <a:p xmlns:a="http://schemas.openxmlformats.org/drawingml/2006/main">
            <a:r>
              <a:t/>
            </a:r>
          </a:p>
          <a:p xmlns:a="http://schemas.openxmlformats.org/drawingml/2006/main">
            <a:r>
              <a:t>EXPLAIN</a:t>
            </a:r>
          </a:p>
          <a:p xmlns:a="http://schemas.openxmlformats.org/drawingml/2006/main">
            <a:r>
              <a:t>matplotlib is a plotting library. plt is the short name we give its pyplot module.</a:t>
            </a:r>
          </a:p>
          <a:p xmlns:a="http://schemas.openxmlformats.org/drawingml/2006/main">
            <a:r>
              <a:t/>
            </a:r>
          </a:p>
          <a:p xmlns:a="http://schemas.openxmlformats.org/drawingml/2006/main">
            <a:r>
              <a:t>fig, ax = plt.subplots() returns two objects: fig is the whole figure; ax is its plotting area. scatter places the paired measurements as points.</a:t>
            </a:r>
          </a:p>
          <a:p xmlns:a="http://schemas.openxmlformats.org/drawingml/2006/main">
            <a:r>
              <a:t/>
            </a:r>
          </a:p>
          <a:p xmlns:a="http://schemas.openxmlformats.org/drawingml/2006/main">
            <a:r>
              <a:t>ax.set_xlabel(...) labels the horizontal axis. set_ylabel labels the vertical axis. Keep fig when the task asks you to return a Figure object.</a:t>
            </a:r>
          </a:p>
          <a:p xmlns:a="http://schemas.openxmlformats.org/drawingml/2006/main">
            <a:r>
              <a:t/>
            </a:r>
          </a:p>
          <a:p xmlns:a="http://schemas.openxmlformats.org/drawingml/2006/main">
            <a:r>
              <a:t>LECTURER CUE</a:t>
            </a:r>
          </a:p>
          <a:p xmlns:a="http://schemas.openxmlformats.org/drawingml/2006/main">
            <a:r>
              <a:t>matplotlib draws charts. subplots creates a Figure, the whole page, and Axes, the plotting area. scatter pairs each input with its corresponding reading. The horizontal axis is the input and the vertical axis is the reading. A pattern alone does not prove causation. In the test, return Figure objects as the brief specifies.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chart with labelled axes in Python.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chart with labelled axes in Python</a:t>
            </a:r>
          </a:p>
          <a:p xmlns:a="http://schemas.openxmlformats.org/drawingml/2006/main">
            <a:r>
              <a:t/>
            </a:r>
          </a:p>
          <a:p xmlns:a="http://schemas.openxmlformats.org/drawingml/2006/main">
            <a:r>
              <a:t>CONNECT</a:t>
            </a:r>
          </a:p>
          <a:p xmlns:a="http://schemas.openxmlformats.org/drawingml/2006/main">
            <a:r>
              <a:t>Previous slide: A chart with labelled axes.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import matplotlib.pyplot as plt</a:t>
            </a:r>
          </a:p>
          <a:p xmlns:a="http://schemas.openxmlformats.org/drawingml/2006/main">
            <a:r>
              <a:t>inputs = [1, 2, 3, 4]</a:t>
            </a:r>
          </a:p>
          <a:p xmlns:a="http://schemas.openxmlformats.org/drawingml/2006/main">
            <a:r>
              <a:t>readings = [12, 14, 13, 18]</a:t>
            </a:r>
          </a:p>
          <a:p xmlns:a="http://schemas.openxmlformats.org/drawingml/2006/main">
            <a:r>
              <a:t>fig, ax = plt.subplots()</a:t>
            </a:r>
          </a:p>
          <a:p xmlns:a="http://schemas.openxmlformats.org/drawingml/2006/main">
            <a:r>
              <a:t>ax.scatter(inputs, readings)</a:t>
            </a:r>
          </a:p>
          <a:p xmlns:a="http://schemas.openxmlformats.org/drawingml/2006/main">
            <a:r>
              <a:t>ax.set_xlabel("Input (teaching units)")</a:t>
            </a:r>
          </a:p>
          <a:p xmlns:a="http://schemas.openxmlformats.org/drawingml/2006/main">
            <a:r>
              <a:t>ax.set_ylabel("Reading (teaching units)")</a:t>
            </a:r>
          </a:p>
          <a:p xmlns:a="http://schemas.openxmlformats.org/drawingml/2006/main">
            <a:r>
              <a:t>ax.set_title("Four invented observations")</a:t>
            </a:r>
          </a:p>
          <a:p xmlns:a="http://schemas.openxmlformats.org/drawingml/2006/main">
            <a:r>
              <a:t>plt.show()</a:t>
            </a:r>
          </a:p>
          <a:p xmlns:a="http://schemas.openxmlformats.org/drawingml/2006/main">
            <a:r>
              <a:t/>
            </a:r>
          </a:p>
          <a:p xmlns:a="http://schemas.openxmlformats.org/drawingml/2006/main">
            <a:r>
              <a:t>import loads a library. from selects a tool from it.</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matplotlib draws charts. subplots creates a Figure, the whole page, and Axes, the plotting area. scatter pairs each input with its corresponding reading. The horizontal axis is the input and the vertical axis is the reading. A pattern alone does not prove causation. In the test, return Figure objects as the brief specifies.</a:t>
            </a:r>
          </a:p>
          <a:p xmlns:a="http://schemas.openxmlformats.org/drawingml/2006/main">
            <a:r>
              <a:t/>
            </a:r>
          </a:p>
          <a:p xmlns:a="http://schemas.openxmlformats.org/drawingml/2006/main">
            <a:r>
              <a:t>Complete practice code:</a:t>
            </a:r>
          </a:p>
          <a:p xmlns:a="http://schemas.openxmlformats.org/drawingml/2006/main">
            <a:r>
              <a:t>import matplotlib.pyplot as plt</a:t>
            </a:r>
          </a:p>
          <a:p xmlns:a="http://schemas.openxmlformats.org/drawingml/2006/main">
            <a:r>
              <a:t>inputs = [1, 2, 3, 4]</a:t>
            </a:r>
          </a:p>
          <a:p xmlns:a="http://schemas.openxmlformats.org/drawingml/2006/main">
            <a:r>
              <a:t>readings = [12, 14, 13, 18]</a:t>
            </a:r>
          </a:p>
          <a:p xmlns:a="http://schemas.openxmlformats.org/drawingml/2006/main">
            <a:r>
              <a:t>fig, ax = plt.subplots()</a:t>
            </a:r>
          </a:p>
          <a:p xmlns:a="http://schemas.openxmlformats.org/drawingml/2006/main">
            <a:r>
              <a:t>ax.scatter(inputs, readings)</a:t>
            </a:r>
          </a:p>
          <a:p xmlns:a="http://schemas.openxmlformats.org/drawingml/2006/main">
            <a:r>
              <a:t>ax.set_xlabel("Input (teaching units)")</a:t>
            </a:r>
          </a:p>
          <a:p xmlns:a="http://schemas.openxmlformats.org/drawingml/2006/main">
            <a:r>
              <a:t>ax.set_ylabel("Reading (teaching units)")</a:t>
            </a:r>
          </a:p>
          <a:p xmlns:a="http://schemas.openxmlformats.org/drawingml/2006/main">
            <a:r>
              <a:t>ax.set_title("Four invented observations")</a:t>
            </a:r>
          </a:p>
          <a:p xmlns:a="http://schemas.openxmlformats.org/drawingml/2006/main">
            <a:r>
              <a:t>plt.show()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bar chart and a histogram count different things.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bar chart and a histogram count different things</a:t>
            </a:r>
          </a:p>
          <a:p xmlns:a="http://schemas.openxmlformats.org/drawingml/2006/main">
            <a:r>
              <a:t/>
            </a:r>
          </a:p>
          <a:p xmlns:a="http://schemas.openxmlformats.org/drawingml/2006/main">
            <a:r>
              <a:t>CONNECT</a:t>
            </a:r>
          </a:p>
          <a:p xmlns:a="http://schemas.openxmlformats.org/drawingml/2006/main">
            <a:r>
              <a:t>Previous slide: A chart with labelled axes in Python.</a:t>
            </a:r>
          </a:p>
          <a:p xmlns:a="http://schemas.openxmlformats.org/drawingml/2006/main">
            <a:r>
              <a:t/>
            </a:r>
          </a:p>
          <a:p xmlns:a="http://schemas.openxmlformats.org/drawingml/2006/main">
            <a:r>
              <a:t>EXPLAIN</a:t>
            </a:r>
          </a:p>
          <a:p xmlns:a="http://schemas.openxmlformats.org/drawingml/2006/main">
            <a:r>
              <a:t>A bar chart has named groups. bar(["A", "B"], [13, 16]) makes one bar for each supplied group value.</a:t>
            </a:r>
          </a:p>
          <a:p xmlns:a="http://schemas.openxmlformats.org/drawingml/2006/main">
            <a:r>
              <a:t/>
            </a:r>
          </a:p>
          <a:p xmlns:a="http://schemas.openxmlformats.org/drawingml/2006/main">
            <a:r>
              <a:t>A histogram divides a numeric range into intervals called bins. hist(readings, bins=2) counts readings in two intervals.</a:t>
            </a:r>
          </a:p>
          <a:p xmlns:a="http://schemas.openxmlformats.org/drawingml/2006/main">
            <a:r>
              <a:t/>
            </a:r>
          </a:p>
          <a:p xmlns:a="http://schemas.openxmlformats.org/drawingml/2006/main">
            <a:r>
              <a:t>With [12, 14, 13, 18], the intervals run from 12 to 15 and 15 to 18. Counts are 3 and 1; the final interval includes the last endpoint.</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Comparing groups and a distribution.</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Comparing groups and a distribution</a:t>
            </a:r>
          </a:p>
          <a:p xmlns:a="http://schemas.openxmlformats.org/drawingml/2006/main">
            <a:r>
              <a:t/>
            </a:r>
          </a:p>
          <a:p xmlns:a="http://schemas.openxmlformats.org/drawingml/2006/main">
            <a:r>
              <a:t>CONNECT</a:t>
            </a:r>
          </a:p>
          <a:p xmlns:a="http://schemas.openxmlformats.org/drawingml/2006/main">
            <a:r>
              <a:t>Previous slide: A bar chart and a histogram count different things.</a:t>
            </a:r>
          </a:p>
          <a:p xmlns:a="http://schemas.openxmlformats.org/drawingml/2006/main">
            <a:r>
              <a:t/>
            </a:r>
          </a:p>
          <a:p xmlns:a="http://schemas.openxmlformats.org/drawingml/2006/main">
            <a:r>
              <a:t>EXPLAIN</a:t>
            </a:r>
          </a:p>
          <a:p xmlns:a="http://schemas.openxmlformats.org/drawingml/2006/main">
            <a:r>
              <a:t>bar compares one value for each named group. hist counts observations in value intervals called bins.</a:t>
            </a:r>
          </a:p>
          <a:p xmlns:a="http://schemas.openxmlformats.org/drawingml/2006/main">
            <a:r>
              <a:t/>
            </a:r>
          </a:p>
          <a:p xmlns:a="http://schemas.openxmlformats.org/drawingml/2006/main">
            <a:r>
              <a:t>Read the bar labels and both axes.</a:t>
            </a:r>
          </a:p>
          <a:p xmlns:a="http://schemas.openxmlformats.org/drawingml/2006/main">
            <a:r>
              <a:t/>
            </a:r>
          </a:p>
          <a:p xmlns:a="http://schemas.openxmlformats.org/drawingml/2006/main">
            <a:r>
              <a:t>This practice uses two bins; follow the exact bin rule in the test brief.</a:t>
            </a:r>
          </a:p>
          <a:p xmlns:a="http://schemas.openxmlformats.org/drawingml/2006/main">
            <a:r>
              <a:t/>
            </a:r>
          </a:p>
          <a:p xmlns:a="http://schemas.openxmlformats.org/drawingml/2006/main">
            <a:r>
              <a:t>Save and keep the Figure objects when a task asks for them.</a:t>
            </a:r>
          </a:p>
          <a:p xmlns:a="http://schemas.openxmlformats.org/drawingml/2006/main">
            <a:r>
              <a:t/>
            </a:r>
          </a:p>
          <a:p xmlns:a="http://schemas.openxmlformats.org/drawingml/2006/main">
            <a:r>
              <a:t>LECTURER CUE</a:t>
            </a:r>
          </a:p>
          <a:p xmlns:a="http://schemas.openxmlformats.org/drawingml/2006/main">
            <a:r>
              <a:t>bar compares one value for each named group. hist counts observations in value intervals called bins. Read the bar labels and both axes. This practice uses two bins; follow the exact bin rule in the test brief. Save and keep the Figure objects when a task asks for them.</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Comparing groups and a distribution in Python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Comparing groups and a distribution in Python (1/2)</a:t>
            </a:r>
          </a:p>
          <a:p xmlns:a="http://schemas.openxmlformats.org/drawingml/2006/main">
            <a:r>
              <a:t/>
            </a:r>
          </a:p>
          <a:p xmlns:a="http://schemas.openxmlformats.org/drawingml/2006/main">
            <a:r>
              <a:t>CONNECT</a:t>
            </a:r>
          </a:p>
          <a:p xmlns:a="http://schemas.openxmlformats.org/drawingml/2006/main">
            <a:r>
              <a:t>Previous slide: Comparing groups and a distribution.</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bar_fig, bar_ax = plt.subplots()</a:t>
            </a:r>
          </a:p>
          <a:p xmlns:a="http://schemas.openxmlformats.org/drawingml/2006/main">
            <a:r>
              <a:t>bar_ax.bar(["A", "B"], [13, 16])</a:t>
            </a:r>
          </a:p>
          <a:p xmlns:a="http://schemas.openxmlformats.org/drawingml/2006/main">
            <a:r>
              <a:t>bar_ax.set_xlabel("Group")</a:t>
            </a:r>
          </a:p>
          <a:p xmlns:a="http://schemas.openxmlformats.org/drawingml/2006/main">
            <a:r>
              <a:t>bar_ax.set_ylabel("Mean reading (teaching units)")</a:t>
            </a:r>
          </a:p>
          <a:p xmlns:a="http://schemas.openxmlformats.org/drawingml/2006/main">
            <a:r>
              <a:t>bar_ax.set_title("Two invented group means")</a:t>
            </a:r>
          </a:p>
          <a:p xmlns:a="http://schemas.openxmlformats.org/drawingml/2006/main">
            <a:r>
              <a:t>hist_fig, hist_ax = plt.subplots()</a:t>
            </a:r>
          </a:p>
          <a:p xmlns:a="http://schemas.openxmlformats.org/drawingml/2006/main">
            <a:r>
              <a:t>hist_ax.hist(readings, bins=2)</a:t>
            </a:r>
          </a:p>
          <a:p xmlns:a="http://schemas.openxmlformats.org/drawingml/2006/main">
            <a:r>
              <a:t>hist_ax.set_xlabel("Reading (teaching units)")</a:t>
            </a:r>
          </a:p>
          <a:p xmlns:a="http://schemas.openxmlformats.org/drawingml/2006/main">
            <a:r>
              <a:t>hist_ax.set_ylabel("Count of observations")</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bar compares one value for each named group. hist counts observations in value intervals called bins. Read the bar labels and both axes. This practice uses two bins; follow the exact bin rule in the test brief. Save and keep the Figure objects when a task asks for them.</a:t>
            </a:r>
          </a:p>
          <a:p xmlns:a="http://schemas.openxmlformats.org/drawingml/2006/main">
            <a:r>
              <a:t/>
            </a:r>
          </a:p>
          <a:p xmlns:a="http://schemas.openxmlformats.org/drawingml/2006/main">
            <a:r>
              <a:t>Complete practice code:</a:t>
            </a:r>
          </a:p>
          <a:p xmlns:a="http://schemas.openxmlformats.org/drawingml/2006/main">
            <a:r>
              <a:t>bar_fig, bar_ax = plt.subplots()</a:t>
            </a:r>
          </a:p>
          <a:p xmlns:a="http://schemas.openxmlformats.org/drawingml/2006/main">
            <a:r>
              <a:t>bar_ax.bar(["A", "B"], [13, 16])</a:t>
            </a:r>
          </a:p>
          <a:p xmlns:a="http://schemas.openxmlformats.org/drawingml/2006/main">
            <a:r>
              <a:t>bar_ax.set_xlabel("Group")</a:t>
            </a:r>
          </a:p>
          <a:p xmlns:a="http://schemas.openxmlformats.org/drawingml/2006/main">
            <a:r>
              <a:t>bar_ax.set_ylabel("Mean reading (teaching units)")</a:t>
            </a:r>
          </a:p>
          <a:p xmlns:a="http://schemas.openxmlformats.org/drawingml/2006/main">
            <a:r>
              <a:t>bar_ax.set_title("Two invented group means")</a:t>
            </a:r>
          </a:p>
          <a:p xmlns:a="http://schemas.openxmlformats.org/drawingml/2006/main">
            <a:r>
              <a:t>hist_fig, hist_ax = plt.subplots()</a:t>
            </a:r>
          </a:p>
          <a:p xmlns:a="http://schemas.openxmlformats.org/drawingml/2006/main">
            <a:r>
              <a:t>hist_ax.hist(readings, bins=2)</a:t>
            </a:r>
          </a:p>
          <a:p xmlns:a="http://schemas.openxmlformats.org/drawingml/2006/main">
            <a:r>
              <a:t>hist_ax.set_xlabel("Reading (teaching units)")</a:t>
            </a:r>
          </a:p>
          <a:p xmlns:a="http://schemas.openxmlformats.org/drawingml/2006/main">
            <a:r>
              <a:t>hist_ax.set_ylabel("Count of observations")</a:t>
            </a:r>
          </a:p>
          <a:p xmlns:a="http://schemas.openxmlformats.org/drawingml/2006/main">
            <a:r>
              <a:t>hist_ax.set_title("Distribution of four observations")</a:t>
            </a:r>
          </a:p>
          <a:p xmlns:a="http://schemas.openxmlformats.org/drawingml/2006/main">
            <a:r>
              <a:t>plt.show()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Comparing groups and a distribution in Python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Comparing groups and a distribution in Python (2/2)</a:t>
            </a:r>
          </a:p>
          <a:p xmlns:a="http://schemas.openxmlformats.org/drawingml/2006/main">
            <a:r>
              <a:t/>
            </a:r>
          </a:p>
          <a:p xmlns:a="http://schemas.openxmlformats.org/drawingml/2006/main">
            <a:r>
              <a:t>CONNECT</a:t>
            </a:r>
          </a:p>
          <a:p xmlns:a="http://schemas.openxmlformats.org/drawingml/2006/main">
            <a:r>
              <a:t>Previous slide: Comparing groups and a distribution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hist_ax.set_title("Distribution of four observations")</a:t>
            </a:r>
          </a:p>
          <a:p xmlns:a="http://schemas.openxmlformats.org/drawingml/2006/main">
            <a:r>
              <a:t>plt.show()</a:t>
            </a:r>
          </a:p>
          <a:p xmlns:a="http://schemas.openxmlformats.org/drawingml/2006/main">
            <a:r>
              <a:t/>
            </a:r>
          </a:p>
          <a:p xmlns:a="http://schemas.openxmlformats.org/drawingml/2006/main">
            <a:r>
              <a:t>Read the inputs and identify the operation.</a:t>
            </a:r>
          </a:p>
          <a:p xmlns:a="http://schemas.openxmlformats.org/drawingml/2006/main">
            <a:r>
              <a:t/>
            </a:r>
          </a:p>
          <a:p xmlns:a="http://schemas.openxmlformats.org/drawingml/2006/main">
            <a:r>
              <a:t>Predict the result before running this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bar compares one value for each named group. hist counts observations in value intervals called bins. Read the bar labels and both axes. This practice uses two bins; follow the exact bin rule in the test brief. Save and keep the Figure objects when a task asks for them.</a:t>
            </a:r>
          </a:p>
          <a:p xmlns:a="http://schemas.openxmlformats.org/drawingml/2006/main">
            <a:r>
              <a:t/>
            </a:r>
          </a:p>
          <a:p xmlns:a="http://schemas.openxmlformats.org/drawingml/2006/main">
            <a:r>
              <a:t>Complete practice code:</a:t>
            </a:r>
          </a:p>
          <a:p xmlns:a="http://schemas.openxmlformats.org/drawingml/2006/main">
            <a:r>
              <a:t>bar_fig, bar_ax = plt.subplots()</a:t>
            </a:r>
          </a:p>
          <a:p xmlns:a="http://schemas.openxmlformats.org/drawingml/2006/main">
            <a:r>
              <a:t>bar_ax.bar(["A", "B"], [13, 16])</a:t>
            </a:r>
          </a:p>
          <a:p xmlns:a="http://schemas.openxmlformats.org/drawingml/2006/main">
            <a:r>
              <a:t>bar_ax.set_xlabel("Group")</a:t>
            </a:r>
          </a:p>
          <a:p xmlns:a="http://schemas.openxmlformats.org/drawingml/2006/main">
            <a:r>
              <a:t>bar_ax.set_ylabel("Mean reading (teaching units)")</a:t>
            </a:r>
          </a:p>
          <a:p xmlns:a="http://schemas.openxmlformats.org/drawingml/2006/main">
            <a:r>
              <a:t>bar_ax.set_title("Two invented group means")</a:t>
            </a:r>
          </a:p>
          <a:p xmlns:a="http://schemas.openxmlformats.org/drawingml/2006/main">
            <a:r>
              <a:t>hist_fig, hist_ax = plt.subplots()</a:t>
            </a:r>
          </a:p>
          <a:p xmlns:a="http://schemas.openxmlformats.org/drawingml/2006/main">
            <a:r>
              <a:t>hist_ax.hist(readings, bins=2)</a:t>
            </a:r>
          </a:p>
          <a:p xmlns:a="http://schemas.openxmlformats.org/drawingml/2006/main">
            <a:r>
              <a:t>hist_ax.set_xlabel("Reading (teaching units)")</a:t>
            </a:r>
          </a:p>
          <a:p xmlns:a="http://schemas.openxmlformats.org/drawingml/2006/main">
            <a:r>
              <a:t>hist_ax.set_ylabel("Count of observations")</a:t>
            </a:r>
          </a:p>
          <a:p xmlns:a="http://schemas.openxmlformats.org/drawingml/2006/main">
            <a:r>
              <a:t>hist_ax.set_title("Distribution of four observations")</a:t>
            </a:r>
          </a:p>
          <a:p xmlns:a="http://schemas.openxmlformats.org/drawingml/2006/main">
            <a:r>
              <a:t>plt.show()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Comparing groups and a distribution in Python (2/2).</a:t>
            </a:r>
          </a:p>
          <a:p xmlns:a="http://schemas.openxmlformats.org/drawingml/2006/main">
            <a:r>
              <a:t/>
            </a:r>
          </a:p>
          <a:p xmlns:a="http://schemas.openxmlformats.org/drawingml/2006/main">
            <a:r>
              <a:t>EXPLAIN</a:t>
            </a:r>
          </a:p>
          <a:p xmlns:a="http://schemas.openxmlformats.org/drawingml/2006/main">
            <a:r>
              <a:t>Example: Explain why 80 was retained. Replace 24 with 26, predict the new fill value, and check that cleaning still leaves raw unchanged.</a:t>
            </a:r>
          </a:p>
          <a:p xmlns:a="http://schemas.openxmlformats.org/drawingml/2006/main">
            <a:r>
              <a:t/>
            </a:r>
          </a:p>
          <a:p xmlns:a="http://schemas.openxmlformats.org/drawingml/2006/main">
            <a:r>
              <a:t>Answer: An unusual value alone does not prove an error. The task did not authorize deleting 80. With 26 replacing 24, the middle known values are 22 and 26, so the new fill is 24. The raw list still contains None.</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An unusual value alone does not prove an error. The task did not authorize deleting 80. With 26 replacing 24, the middle known values are 22 and 26, so the new fill is 24. The raw list still contains None.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a list comprehension after the full loop.</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a list comprehension after the full loop</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A list comprehension builds a new list using an expression for each visited item. [value * 2 for value in readings] doubles each reading.</a:t>
            </a:r>
          </a:p>
          <a:p xmlns:a="http://schemas.openxmlformats.org/drawingml/2006/main">
            <a:r>
              <a:t/>
            </a:r>
          </a:p>
          <a:p xmlns:a="http://schemas.openxmlformats.org/drawingml/2006/main">
            <a:r>
              <a:t>Its first part says what to store; its for part says which items supply value. [2, 4, 6] becomes [4, 8, 12].</a:t>
            </a:r>
          </a:p>
          <a:p xmlns:a="http://schemas.openxmlformats.org/drawingml/2006/main">
            <a:r>
              <a:t/>
            </a:r>
          </a:p>
          <a:p xmlns:a="http://schemas.openxmlformats.org/drawingml/2006/main">
            <a:r>
              <a:t>This compact spelling is optional. Use the expanded loop already taught when that is easier to explain.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compact loop is optional.</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compact loop is optional</a:t>
            </a:r>
          </a:p>
          <a:p xmlns:a="http://schemas.openxmlformats.org/drawingml/2006/main">
            <a:r>
              <a:t/>
            </a:r>
          </a:p>
          <a:p xmlns:a="http://schemas.openxmlformats.org/drawingml/2006/main">
            <a:r>
              <a:t>CONNECT</a:t>
            </a:r>
          </a:p>
          <a:p xmlns:a="http://schemas.openxmlformats.org/drawingml/2006/main">
            <a:r>
              <a:t>Previous slide: Read a list comprehension after the full loop.</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doubled = []</a:t>
            </a:r>
          </a:p>
          <a:p xmlns:a="http://schemas.openxmlformats.org/drawingml/2006/main">
            <a:r>
              <a:t>for value in readings:</a:t>
            </a:r>
          </a:p>
          <a:p xmlns:a="http://schemas.openxmlformats.org/drawingml/2006/main">
            <a:r>
              <a:t>    doubled.append(value * 2)</a:t>
            </a:r>
          </a:p>
          <a:p xmlns:a="http://schemas.openxmlformats.org/drawingml/2006/main">
            <a:r>
              <a:t>print(doubled)</a:t>
            </a:r>
          </a:p>
          <a:p xmlns:a="http://schemas.openxmlformats.org/drawingml/2006/main">
            <a:r>
              <a:t># Same operation in compact form:</a:t>
            </a:r>
          </a:p>
          <a:p xmlns:a="http://schemas.openxmlformats.org/drawingml/2006/main">
            <a:r>
              <a:t>print([value * 2 for value in readings])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append adds one item to the end of a list.</a:t>
            </a:r>
          </a:p>
          <a:p xmlns:a="http://schemas.openxmlformats.org/drawingml/2006/main">
            <a:r>
              <a:t/>
            </a:r>
          </a:p>
          <a:p xmlns:a="http://schemas.openxmlformats.org/drawingml/2006/main">
            <a:r>
              <a:t>A list comprehension makes the same list. Learn the ordinary loop first.</a:t>
            </a:r>
          </a:p>
          <a:p xmlns:a="http://schemas.openxmlformats.org/drawingml/2006/main">
            <a:r>
              <a:t/>
            </a:r>
          </a:p>
          <a:p xmlns:a="http://schemas.openxmlformats.org/drawingml/2006/main">
            <a:r>
              <a:t>LECTURER CUE</a:t>
            </a:r>
          </a:p>
          <a:p xmlns:a="http://schemas.openxmlformats.org/drawingml/2006/main">
            <a:r>
              <a:t>Read each symbol before running. Ask everyone to predict. Expected output: [4, 8, 12] twice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A compact loop is optional.</a:t>
            </a:r>
          </a:p>
          <a:p xmlns:a="http://schemas.openxmlformats.org/drawingml/2006/main">
            <a:r>
              <a:t/>
            </a:r>
          </a:p>
          <a:p xmlns:a="http://schemas.openxmlformats.org/drawingml/2006/main">
            <a:r>
              <a:t>EXPLAIN</a:t>
            </a:r>
          </a:p>
          <a:p xmlns:a="http://schemas.openxmlformats.org/drawingml/2006/main">
            <a:r>
              <a:t>W06 uses a list of record dictionaries.</a:t>
            </a:r>
          </a:p>
          <a:p xmlns:a="http://schemas.openxmlformats.org/drawingml/2006/main">
            <a:r>
              <a:t/>
            </a:r>
          </a:p>
          <a:p xmlns:a="http://schemas.openxmlformats.org/drawingml/2006/main">
            <a:r>
              <a:t>Show one record and one field lookup before the function interfaces.</a:t>
            </a:r>
          </a:p>
          <a:p xmlns:a="http://schemas.openxmlformats.org/drawingml/2006/main">
            <a:r>
              <a:t/>
            </a:r>
          </a:p>
          <a:p xmlns:a="http://schemas.openxmlformats.org/drawingml/2006/main">
            <a:r>
              <a:t>Parse CSV blank numeric cells as None. dict(row) copies a record. append adds an item to a list.</a:t>
            </a:r>
          </a:p>
          <a:p xmlns:a="http://schemas.openxmlformats.org/drawingml/2006/main">
            <a:r>
              <a:t/>
            </a:r>
          </a:p>
          <a:p xmlns:a="http://schemas.openxmlformats.org/drawingml/2006/main">
            <a:r>
              <a:t>The task brief specifies the cleaning order and returned outputs.</a:t>
            </a:r>
          </a:p>
          <a:p xmlns:a="http://schemas.openxmlformats.org/drawingml/2006/main">
            <a:r>
              <a:t/>
            </a:r>
          </a:p>
          <a:p xmlns:a="http://schemas.openxmlformats.org/drawingml/2006/main">
            <a:r>
              <a:t>LECTURER CUE</a:t>
            </a:r>
          </a:p>
          <a:p xmlns:a="http://schemas.openxmlformats.org/drawingml/2006/main">
            <a:r>
              <a:t>W06 uses a list of record dictionaries. Show one record and one field lookup before the function interfaces. Parse CSV blank numeric cells as None. Model copying with dict(row) and list.append. Walk through the published cleaning order before students write clean_records, summarize_records and audit_cleaning. Teach set membership for duplicate IDs and grouped accumulation. Explain that written evidence belongs in My written evidence, not in code comments.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A set records IDs already seen.</a:t>
            </a:r>
          </a:p>
          <a:p xmlns:a="http://schemas.openxmlformats.org/drawingml/2006/main">
            <a:r>
              <a:t/>
            </a:r>
          </a:p>
          <a:p xmlns:a="http://schemas.openxmlformats.org/drawingml/2006/main">
            <a:r>
              <a:t>Group summaries collect readings with the same equipment ID.</a:t>
            </a:r>
          </a:p>
          <a:p xmlns:a="http://schemas.openxmlformats.org/drawingml/2006/main">
            <a:r>
              <a:t/>
            </a:r>
          </a:p>
          <a:p xmlns:a="http://schemas.openxmlformats.org/drawingml/2006/main">
            <a:r>
              <a:t>Explain that written evidence belongs in My written evidence, not in code comments.</a:t>
            </a:r>
          </a:p>
          <a:p xmlns:a="http://schemas.openxmlformats.org/drawingml/2006/main">
            <a:r>
              <a:t/>
            </a:r>
          </a:p>
          <a:p xmlns:a="http://schemas.openxmlformats.org/drawingml/2006/main">
            <a:r>
              <a:t>LECTURER CUE</a:t>
            </a:r>
          </a:p>
          <a:p xmlns:a="http://schemas.openxmlformats.org/drawingml/2006/main">
            <a:r>
              <a:t>W06 uses a list of record dictionaries. Show one record and one field lookup before the function interfaces. Parse CSV blank numeric cells as None. Model copying with dict(row) and list.append. Walk through the published cleaning order before students write clean_records, summarize_records and audit_cleaning. Teach set membership for duplicate IDs and grouped accumulation. Explain that written evidence belongs in My written evidence, not in code comments.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Cleaning choices and charts.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choices and charts</a:t>
            </a:r>
          </a:p>
          <a:p xmlns:a="http://schemas.openxmlformats.org/drawingml/2006/main">
            <a:r>
              <a:t/>
            </a:r>
          </a:p>
          <a:p xmlns:a="http://schemas.openxmlformats.org/drawingml/2006/main">
            <a:r>
              <a:t>CONNECT</a:t>
            </a:r>
          </a:p>
          <a:p xmlns:a="http://schemas.openxmlformats.org/drawingml/2006/main">
            <a:r>
              <a:t>Previous slide: Preparing for the assignment continued.</a:t>
            </a:r>
          </a:p>
          <a:p xmlns:a="http://schemas.openxmlformats.org/drawingml/2006/main">
            <a:r>
              <a:t/>
            </a:r>
          </a:p>
          <a:p xmlns:a="http://schemas.openxmlformats.org/drawingml/2006/main">
            <a:r>
              <a:t>EXPLAIN</a:t>
            </a:r>
          </a:p>
          <a:p xmlns:a="http://schemas.openxmlformats.org/drawingml/2006/main">
            <a:r>
              <a:t>Filling blanks with zero changes the mean and may be unjustified.</a:t>
            </a:r>
          </a:p>
          <a:p xmlns:a="http://schemas.openxmlformats.org/drawingml/2006/main">
            <a:r>
              <a:t/>
            </a:r>
          </a:p>
          <a:p xmlns:a="http://schemas.openxmlformats.org/drawingml/2006/main">
            <a:r>
              <a:t>Dropping every row with any blank can remove valid observations.</a:t>
            </a:r>
          </a:p>
          <a:p xmlns:a="http://schemas.openxmlformats.org/drawingml/2006/main">
            <a:r>
              <a:t/>
            </a:r>
          </a:p>
          <a:p xmlns:a="http://schemas.openxmlformats.org/drawingml/2006/main">
            <a:r>
              <a:t>A failed numeric conversion identifies a problematic value to inspect rather than hide.</a:t>
            </a:r>
          </a:p>
          <a:p xmlns:a="http://schemas.openxmlformats.org/drawingml/2006/main">
            <a:r>
              <a:t/>
            </a:r>
          </a:p>
          <a:p xmlns:a="http://schemas.openxmlformats.org/drawingml/2006/main">
            <a:r>
              <a:t>A histogram describes one distribution; a scatter plot shows paired values; a grouped chart compares groups.</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Cleaning choices and charts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choices and charts continued</a:t>
            </a:r>
          </a:p>
          <a:p xmlns:a="http://schemas.openxmlformats.org/drawingml/2006/main">
            <a:r>
              <a:t/>
            </a:r>
          </a:p>
          <a:p xmlns:a="http://schemas.openxmlformats.org/drawingml/2006/main">
            <a:r>
              <a:t>CONNECT</a:t>
            </a:r>
          </a:p>
          <a:p xmlns:a="http://schemas.openxmlformats.org/drawingml/2006/main">
            <a:r>
              <a:t>Previous slide: Cleaning choices and charts.</a:t>
            </a:r>
          </a:p>
          <a:p xmlns:a="http://schemas.openxmlformats.org/drawingml/2006/main">
            <a:r>
              <a:t/>
            </a:r>
          </a:p>
          <a:p xmlns:a="http://schemas.openxmlformats.org/drawingml/2006/main">
            <a:r>
              <a:t>EXPLAIN</a:t>
            </a:r>
          </a:p>
          <a:p xmlns:a="http://schemas.openxmlformats.org/drawingml/2006/main">
            <a:r>
              <a:t>Read both axes and units.</a:t>
            </a:r>
          </a:p>
          <a:p xmlns:a="http://schemas.openxmlformats.org/drawingml/2006/main">
            <a:r>
              <a:t/>
            </a:r>
          </a:p>
          <a:p xmlns:a="http://schemas.openxmlformats.org/drawingml/2006/main">
            <a:r>
              <a:t>A plausible extreme needs investigation before deletion.</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Previous slide: Cleaning choices and charts continued.</a:t>
            </a:r>
          </a:p>
          <a:p xmlns:a="http://schemas.openxmlformats.org/drawingml/2006/main">
            <a:r>
              <a:t/>
            </a:r>
          </a:p>
          <a:p xmlns:a="http://schemas.openxmlformats.org/drawingml/2006/main">
            <a:r>
              <a:t>EXPLAIN</a:t>
            </a:r>
          </a:p>
          <a:p xmlns:a="http://schemas.openxmlformats.org/drawingml/2006/main">
            <a:r>
              <a:t>Investigate building cooling load.</a:t>
            </a:r>
          </a:p>
          <a:p xmlns:a="http://schemas.openxmlformats.org/drawingml/2006/main">
            <a:r>
              <a:t/>
            </a:r>
          </a:p>
          <a:p xmlns:a="http://schemas.openxmlformats.org/drawingml/2006/main">
            <a:r>
              <a:t>Target units: kW.</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a:p xmlns:a="http://schemas.openxmlformats.org/drawingml/2006/main">
            <a:r>
              <a:t/>
            </a:r>
          </a:p>
          <a:p xmlns:a="http://schemas.openxmlformats.org/drawingml/2006/main">
            <a:r>
              <a:t>LECTURER CUE</a:t>
            </a:r>
          </a:p>
          <a:p xmlns:a="http://schemas.openxmlformats.org/drawingml/2006/main">
            <a:r>
              <a:t>Investigate building cooling load. Target units: kW. These are synthetic teaching records, not measurements suitable for deployment. Each record is one operating observation; equipment_id repeats across observations.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clean_records(records).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clean_records(records)</a:t>
            </a:r>
          </a:p>
          <a:p xmlns:a="http://schemas.openxmlformats.org/drawingml/2006/main">
            <a:r>
              <a:t/>
            </a:r>
          </a:p>
          <a:p xmlns:a="http://schemas.openxmlformats.org/drawingml/2006/main">
            <a:r>
              <a:t>CONNECT</a:t>
            </a:r>
          </a:p>
          <a:p xmlns:a="http://schemas.openxmlformats.org/drawingml/2006/main">
            <a:r>
              <a:t>Previous slide: Your issued task.</a:t>
            </a:r>
          </a:p>
          <a:p xmlns:a="http://schemas.openxmlformats.org/drawingml/2006/main">
            <a:r>
              <a:t/>
            </a:r>
          </a:p>
          <a:p xmlns:a="http://schemas.openxmlformats.org/drawingml/2006/main">
            <a:r>
              <a:t>EXPLAIN</a:t>
            </a:r>
          </a:p>
          <a:p xmlns:a="http://schemas.openxmlformats.org/drawingml/2006/main">
            <a:r>
              <a:t>Return copied records in original order: remove repeated record_id after its first occurrence, drop rows with missing target or load_pct outside 0–100 inclusive, then fill missing ambient_c with the median of retained non-missing ambient_c values.</a:t>
            </a:r>
          </a:p>
          <a:p xmlns:a="http://schemas.openxmlformats.org/drawingml/2006/main">
            <a:r>
              <a:t/>
            </a:r>
          </a:p>
          <a:p xmlns:a="http://schemas.openxmlformats.org/drawingml/2006/main">
            <a:r>
              <a:t>Preserve raw input.</a:t>
            </a:r>
          </a:p>
          <a:p xmlns:a="http://schemas.openxmlformats.org/drawingml/2006/main">
            <a:r>
              <a:t/>
            </a:r>
          </a:p>
          <a:p xmlns:a="http://schemas.openxmlformats.org/drawingml/2006/main">
            <a:r>
              <a:t>No other changes.</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IUEA_Teaching_Plan/assessment_banks/W06/CML3112/A/TASKS.md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summarize_records(clean_records).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summarize_records(clean_records)</a:t>
            </a:r>
          </a:p>
          <a:p xmlns:a="http://schemas.openxmlformats.org/drawingml/2006/main">
            <a:r>
              <a:t/>
            </a:r>
          </a:p>
          <a:p xmlns:a="http://schemas.openxmlformats.org/drawingml/2006/main">
            <a:r>
              <a:t>CONNECT</a:t>
            </a:r>
          </a:p>
          <a:p xmlns:a="http://schemas.openxmlformats.org/drawingml/2006/main">
            <a:r>
              <a:t>Previous slide: clean_records(records).</a:t>
            </a:r>
          </a:p>
          <a:p xmlns:a="http://schemas.openxmlformats.org/drawingml/2006/main">
            <a:r>
              <a:t/>
            </a:r>
          </a:p>
          <a:p xmlns:a="http://schemas.openxmlformats.org/drawingml/2006/main">
            <a:r>
              <a:t>EXPLAIN</a:t>
            </a:r>
          </a:p>
          <a:p xmlns:a="http://schemas.openxmlformats.org/drawingml/2006/main">
            <a:r>
              <a:t>Return count, mean, minimum, maximum of target and group_means by equipment_id.</a:t>
            </a:r>
          </a:p>
          <a:p xmlns:a="http://schemas.openxmlformats.org/drawingml/2006/main">
            <a:r>
              <a:t/>
            </a:r>
          </a:p>
          <a:p xmlns:a="http://schemas.openxmlformats.org/drawingml/2006/main">
            <a:r>
              <a:t>Retain full precision.</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IUEA_Teaching_Plan/assessment_banks/W06/CML3112/A/TASKS.md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audit_cleaning(raw_records, cleaned_records).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audit_cleaning(raw_records, cleaned_records)</a:t>
            </a:r>
          </a:p>
          <a:p xmlns:a="http://schemas.openxmlformats.org/drawingml/2006/main">
            <a:r>
              <a:t/>
            </a:r>
          </a:p>
          <a:p xmlns:a="http://schemas.openxmlformats.org/drawingml/2006/main">
            <a:r>
              <a:t>CONNECT</a:t>
            </a:r>
          </a:p>
          <a:p xmlns:a="http://schemas.openxmlformats.org/drawingml/2006/main">
            <a:r>
              <a:t>Previous slide: summarize_records(clean_records).</a:t>
            </a:r>
          </a:p>
          <a:p xmlns:a="http://schemas.openxmlformats.org/drawingml/2006/main">
            <a:r>
              <a:t/>
            </a:r>
          </a:p>
          <a:p xmlns:a="http://schemas.openxmlformats.org/drawingml/2006/main">
            <a:r>
              <a:t>EXPLAIN</a:t>
            </a:r>
          </a:p>
          <a:p xmlns:a="http://schemas.openxmlformats.org/drawingml/2006/main">
            <a:r>
              <a:t>Return raw_count and cleaned_count; duplicate_ids is the number of cleaned records beyond the first occurrence of each record_id; missing_targets counts None targets; invalid_loads counts cleaned load_pct outside 0–100 inclusive.</a:t>
            </a:r>
          </a:p>
          <a:p xmlns:a="http://schemas.openxmlformats.org/drawingml/2006/main">
            <a:r>
              <a:t/>
            </a:r>
          </a:p>
          <a:p xmlns:a="http://schemas.openxmlformats.org/drawingml/2006/main">
            <a:r>
              <a:t>Report the actual supplied data, which may still contain defects.</a:t>
            </a:r>
          </a:p>
          <a:p xmlns:a="http://schemas.openxmlformats.org/drawingml/2006/main">
            <a:r>
              <a:t/>
            </a:r>
          </a:p>
          <a:p xmlns:a="http://schemas.openxmlformats.org/drawingml/2006/main">
            <a:r>
              <a:t>Do not change either input.</a:t>
            </a:r>
          </a:p>
          <a:p xmlns:a="http://schemas.openxmlformats.org/drawingml/2006/main">
            <a:r>
              <a:t/>
            </a:r>
          </a:p>
          <a:p xmlns:a="http://schemas.openxmlformats.org/drawingml/2006/main">
            <a:r>
              <a:t>All five values are integer counts.</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IUEA_Teaching_Plan/assessment_banks/W06/CML3112/A/TASKS.md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Written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Previous slide: audit_cleaning(raw_records, cleaned_records).</a:t>
            </a:r>
          </a:p>
          <a:p xmlns:a="http://schemas.openxmlformats.org/drawingml/2006/main">
            <a:r>
              <a:t/>
            </a:r>
          </a:p>
          <a:p xmlns:a="http://schemas.openxmlformats.org/drawingml/2006/main">
            <a:r>
              <a:t>EXPLAIN</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a:p xmlns:a="http://schemas.openxmlformats.org/drawingml/2006/main">
            <a:r>
              <a:t/>
            </a:r>
          </a:p>
          <a:p xmlns:a="http://schemas.openxmlformats.org/drawingml/2006/main">
            <a:r>
              <a:t>LECTURER CUE</a:t>
            </a:r>
          </a:p>
          <a:p xmlns:a="http://schemas.openxmlformats.org/drawingml/2006/main">
            <a:r>
              <a:t>Published criterion weights and exact requirements remain in TASKS.md. Broader project exercises are formative and do not add weekly marks. Local automated reasoning assessment remains subject to its release checks.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Cleaning and quality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Cleaning and quality submission</a:t>
            </a:r>
          </a:p>
          <a:p xmlns:a="http://schemas.openxmlformats.org/drawingml/2006/main">
            <a:r>
              <a:t/>
            </a:r>
          </a:p>
          <a:p xmlns:a="http://schemas.openxmlformats.org/drawingml/2006/main">
            <a:r>
              <a:t>CONNECT</a:t>
            </a:r>
          </a:p>
          <a:p xmlns:a="http://schemas.openxmlformats.org/drawingml/2006/main">
            <a:r>
              <a:t>Previous slide: Written evidence.</a:t>
            </a:r>
          </a:p>
          <a:p xmlns:a="http://schemas.openxmlformats.org/drawingml/2006/main">
            <a:r>
              <a:t/>
            </a:r>
          </a:p>
          <a:p xmlns:a="http://schemas.openxmlformats.org/drawingml/2006/main">
            <a:r>
              <a:t>EXPLAIN</a:t>
            </a:r>
          </a:p>
          <a:p xmlns:a="http://schemas.openxmlformats.org/drawingml/2006/main">
            <a:r>
              <a:t>Opens: 13 Oct 2026, 11:00 Kampala</a:t>
            </a:r>
          </a:p>
          <a:p xmlns:a="http://schemas.openxmlformats.org/drawingml/2006/main">
            <a:r>
              <a:t/>
            </a:r>
          </a:p>
          <a:p xmlns:a="http://schemas.openxmlformats.org/drawingml/2006/main">
            <a:r>
              <a:t>Deadline: 20 Oct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Project preparation.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Project preparation</a:t>
            </a:r>
          </a:p>
          <a:p xmlns:a="http://schemas.openxmlformats.org/drawingml/2006/main">
            <a:r>
              <a:t/>
            </a:r>
          </a:p>
          <a:p xmlns:a="http://schemas.openxmlformats.org/drawingml/2006/main">
            <a:r>
              <a:t>CONNECT</a:t>
            </a:r>
          </a:p>
          <a:p xmlns:a="http://schemas.openxmlformats.org/drawingml/2006/main">
            <a:r>
              <a:t>Previous slide: Cleaning and quality submission.</a:t>
            </a:r>
          </a:p>
          <a:p xmlns:a="http://schemas.openxmlformats.org/drawingml/2006/main">
            <a:r>
              <a:t/>
            </a:r>
          </a:p>
          <a:p xmlns:a="http://schemas.openxmlformats.org/drawingml/2006/main">
            <a:r>
              <a:t>EXPLAIN</a:t>
            </a:r>
          </a:p>
          <a:p xmlns:a="http://schemas.openxmlformats.org/drawingml/2006/main">
            <a:r>
              <a:t>Use the published data analysis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27 Oct 2026, 11:00 Kampala</a:t>
            </a:r>
          </a:p>
          <a:p xmlns:a="http://schemas.openxmlformats.org/drawingml/2006/main">
            <a:r>
              <a:t/>
            </a:r>
          </a:p>
          <a:p xmlns:a="http://schemas.openxmlformats.org/drawingml/2006/main">
            <a:r>
              <a:t>LECTURER CUE</a:t>
            </a:r>
          </a:p>
          <a:p xmlns:a="http://schemas.openxmlformats.org/drawingml/2006/main">
            <a:r>
              <a:t>Explain the released brief now. Confirm its grading-release checks before assigning it. Avoid treating weekly practice as a substitute for the project evidence. The project brief remains authoritative.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6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6 quiz</a:t>
            </a:r>
          </a:p>
          <a:p xmlns:a="http://schemas.openxmlformats.org/drawingml/2006/main">
            <a:r>
              <a:t/>
            </a:r>
          </a:p>
          <a:p xmlns:a="http://schemas.openxmlformats.org/drawingml/2006/main">
            <a:r>
              <a:t>CONNECT</a:t>
            </a:r>
          </a:p>
          <a:p xmlns:a="http://schemas.openxmlformats.org/drawingml/2006/main">
            <a:r>
              <a:t>Previous slide: Project preparation.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open_W6_CML3112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6 quiz.</a:t>
            </a:r>
          </a:p>
          <a:p xmlns:a="http://schemas.openxmlformats.org/drawingml/2006/main">
            <a:r>
              <a:t/>
            </a:r>
          </a:p>
          <a:p xmlns:a="http://schemas.openxmlformats.org/drawingml/2006/main">
            <a:r>
              <a:t>EXPLAIN</a:t>
            </a:r>
          </a:p>
          <a:p xmlns:a="http://schemas.openxmlformats.org/drawingml/2006/main">
            <a:r>
              <a:t>You can justify a change, show its effect and identify an estimated value.</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Optional revision video.</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Optional revision video</a:t>
            </a:r>
          </a:p>
          <a:p xmlns:a="http://schemas.openxmlformats.org/drawingml/2006/main">
            <a:r>
              <a:t/>
            </a:r>
          </a:p>
          <a:p xmlns:a="http://schemas.openxmlformats.org/drawingml/2006/main">
            <a:r>
              <a:t>CONNECT</a:t>
            </a:r>
          </a:p>
          <a:p xmlns:a="http://schemas.openxmlformats.org/drawingml/2006/main">
            <a:r>
              <a:t>Previous slide: Revision and submission checklist.</a:t>
            </a:r>
          </a:p>
          <a:p xmlns:a="http://schemas.openxmlformats.org/drawingml/2006/main">
            <a:r>
              <a:t/>
            </a:r>
          </a:p>
          <a:p xmlns:a="http://schemas.openxmlformats.org/drawingml/2006/main">
            <a:r>
              <a:t>EXPLAIN</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Boxplots are Awesome!!!</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What does the box show, and does a point outside it prove an error?</a:t>
            </a:r>
          </a:p>
          <a:p xmlns:a="http://schemas.openxmlformats.org/drawingml/2006/main">
            <a:r>
              <a:t/>
            </a:r>
          </a:p>
          <a:p xmlns:a="http://schemas.openxmlformats.org/drawingml/2006/main">
            <a:r>
              <a:t>LECTURER CUE</a:t>
            </a:r>
          </a:p>
          <a:p xmlns:a="http://schemas.openxmlformats.org/drawingml/2006/main">
            <a:r>
              <a:t>Linked by the official StatQuest video index. Full audiovisual preview and excerpt timing still required; do not make viewing compulsory.</a:t>
            </a:r>
          </a:p>
          <a:p xmlns:a="http://schemas.openxmlformats.org/drawingml/2006/main">
            <a:r>
              <a:t>After viewing: Explain why an unusual temperature needs investigation before deletion.</a:t>
            </a:r>
          </a:p>
          <a:p xmlns:a="http://schemas.openxmlformats.org/drawingml/2006/main">
            <a:r>
              <a:t>Preview before class and stop after the selected short excerpt. If playback fails, teach the worked example. Video is optional. Source: https://www.youtube.com/watch?v=fHLhBnmwUM0</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525f3a474e4a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5d7cd6c7a54c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cf764b807549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389a2a315a41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5725b18de245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b985a7b78942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E8DA32A-955D-4791-A8D0-489A665494DF}"/>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8D9B506-26B4-44D4-9783-C95A5D159BF4}"/>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DBEC6D3-8AEC-4A6B-95DA-D980E9B38A15}"/>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CF02143-05F5-4941-A90F-4C0A10BFB6A1}"/>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1239754-E035-46DD-998C-BA5ADE421ED8}"/>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238639D-E937-414C-AB02-C4A23EE11D5D}"/>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009B7D9-08D5-4C38-A314-4E2B8D24415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295F5B5-DAF2-4C41-8D36-267D1F806BF0}"/>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BC18366-28AB-4570-9816-69A8D1A8C637}"/>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2B0FC3A-7237-41B7-B793-FB1CEE55AAF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3A21B98-D580-4513-91A4-85C7CB2FD2E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1E90027-5267-4E8C-BD19-00180A51D403}"/>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4B308A6-0D7A-46BD-A468-51FE0E5EB697}"/>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CC52A36-F127-4D8E-8551-FE8C3F31A71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77D6BB3-AF7B-40F4-9F1B-674574114C9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e501beafa54147" /><Relationship Type="http://schemas.openxmlformats.org/officeDocument/2006/relationships/slideLayout" Target="/ppt/slideLayouts/slideLayout1.xml" Id="R8d0598e1b92b4708" /><Relationship Type="http://schemas.openxmlformats.org/officeDocument/2006/relationships/slideLayout" Target="/ppt/slideLayouts/slideLayout2.xml" Id="R958642fe75b845cd" /><Relationship Type="http://schemas.openxmlformats.org/officeDocument/2006/relationships/slideLayout" Target="/ppt/slideLayouts/slideLayout3.xml" Id="R8f44caed7d14403f" /><Relationship Type="http://schemas.openxmlformats.org/officeDocument/2006/relationships/slideLayout" Target="/ppt/slideLayouts/slideLayout4.xml" Id="Rf1889162226147b8" /><Relationship Type="http://schemas.openxmlformats.org/officeDocument/2006/relationships/slideLayout" Target="/ppt/slideLayouts/slideLayout5.xml" Id="R292308409ba74e18" /><Relationship Type="http://schemas.openxmlformats.org/officeDocument/2006/relationships/slideLayout" Target="/ppt/slideLayouts/slideLayout6.xml" Id="Rca53a452280f43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0598e1b92b4708"/>
    <p:sldLayoutId xmlns:r="http://schemas.openxmlformats.org/officeDocument/2006/relationships" id="2147483650" r:id="R958642fe75b845cd"/>
    <p:sldLayoutId xmlns:r="http://schemas.openxmlformats.org/officeDocument/2006/relationships" id="2147483651" r:id="R8f44caed7d14403f"/>
    <p:sldLayoutId xmlns:r="http://schemas.openxmlformats.org/officeDocument/2006/relationships" id="2147483652" r:id="Rf1889162226147b8"/>
    <p:sldLayoutId xmlns:r="http://schemas.openxmlformats.org/officeDocument/2006/relationships" id="2147483653" r:id="R292308409ba74e18"/>
    <p:sldLayoutId xmlns:r="http://schemas.openxmlformats.org/officeDocument/2006/relationships" id="2147483654" r:id="Rca53a452280f43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3f598609a1426c" /><Relationship Type="http://schemas.openxmlformats.org/officeDocument/2006/relationships/image" Target="/ppt/media/image.png" Id="Rc3f6e6b7bc2a41f7" /><Relationship Type="http://schemas.openxmlformats.org/officeDocument/2006/relationships/notesSlide" Target="/ppt/notesSlides/notesSlide1.xml" Id="R5bb1c961def541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86bfe1c970450f" /><Relationship Type="http://schemas.openxmlformats.org/officeDocument/2006/relationships/notesSlide" Target="/ppt/notesSlides/notesSlide2.xml" Id="Raae3bbb6c28a46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1e26c94b714691" /><Relationship Type="http://schemas.openxmlformats.org/officeDocument/2006/relationships/notesSlide" Target="/ppt/notesSlides/notesSlide3.xml" Id="R1d6ced43369d48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94dcb4341b49d8" /><Relationship Type="http://schemas.openxmlformats.org/officeDocument/2006/relationships/notesSlide" Target="/ppt/notesSlides/notesSlide4.xml" Id="Rbd2f1010790641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fdc7fb9cee4d32" /><Relationship Type="http://schemas.openxmlformats.org/officeDocument/2006/relationships/notesSlide" Target="/ppt/notesSlides/notesSlide5.xml" Id="Rcd74edcd045d4b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e7e46e650f46ef" /><Relationship Type="http://schemas.openxmlformats.org/officeDocument/2006/relationships/notesSlide" Target="/ppt/notesSlides/notesSlide6.xml" Id="Rbd45b3da3e034f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3c25bd03974176" /><Relationship Type="http://schemas.openxmlformats.org/officeDocument/2006/relationships/notesSlide" Target="/ppt/notesSlides/notesSlide7.xml" Id="Rf00d67eb57ea41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9447c661954c5d" /><Relationship Type="http://schemas.openxmlformats.org/officeDocument/2006/relationships/notesSlide" Target="/ppt/notesSlides/notesSlide8.xml" Id="R1ffc23b9052347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1135463a69418d" /><Relationship Type="http://schemas.openxmlformats.org/officeDocument/2006/relationships/notesSlide" Target="/ppt/notesSlides/notesSlide9.xml" Id="R472f581ebe534a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efdec1b1464a96" /><Relationship Type="http://schemas.openxmlformats.org/officeDocument/2006/relationships/notesSlide" Target="/ppt/notesSlides/notesSlide10.xml" Id="Rbc9977aa85e14f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7240314bf64f46" /><Relationship Type="http://schemas.openxmlformats.org/officeDocument/2006/relationships/notesSlide" Target="/ppt/notesSlides/notesSlide11.xml" Id="R32280d00147f4e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b49e4c46f344a2" /><Relationship Type="http://schemas.openxmlformats.org/officeDocument/2006/relationships/notesSlide" Target="/ppt/notesSlides/notesSlide12.xml" Id="R2de2f220677a48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173b95c76bc450f" /><Relationship Type="http://schemas.openxmlformats.org/officeDocument/2006/relationships/notesSlide" Target="/ppt/notesSlides/notesSlide13.xml" Id="R0a257c0b66854a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07e5035533468b" /><Relationship Type="http://schemas.openxmlformats.org/officeDocument/2006/relationships/notesSlide" Target="/ppt/notesSlides/notesSlide14.xml" Id="R062be120f15f4a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528e12398594755" /><Relationship Type="http://schemas.openxmlformats.org/officeDocument/2006/relationships/notesSlide" Target="/ppt/notesSlides/notesSlide15.xml" Id="R2b8dcbea60384a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a9e67bade8544b2" /><Relationship Type="http://schemas.openxmlformats.org/officeDocument/2006/relationships/image" Target="/ppt/media/image2.png" Id="R2aea9b09f9c3416f" /><Relationship Type="http://schemas.openxmlformats.org/officeDocument/2006/relationships/notesSlide" Target="/ppt/notesSlides/notesSlide16.xml" Id="R0b6224e6cffd47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a7cefe781854862" /><Relationship Type="http://schemas.openxmlformats.org/officeDocument/2006/relationships/notesSlide" Target="/ppt/notesSlides/notesSlide17.xml" Id="R18d8c529387443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52f8d7da0244d5" /><Relationship Type="http://schemas.openxmlformats.org/officeDocument/2006/relationships/notesSlide" Target="/ppt/notesSlides/notesSlide18.xml" Id="Re17d2b1ff0eb48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65c65a83be94fba" /><Relationship Type="http://schemas.openxmlformats.org/officeDocument/2006/relationships/notesSlide" Target="/ppt/notesSlides/notesSlide19.xml" Id="R8a610db9449a4d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9d64659b0b64d40" /><Relationship Type="http://schemas.openxmlformats.org/officeDocument/2006/relationships/notesSlide" Target="/ppt/notesSlides/notesSlide20.xml" Id="R532a06050045498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e4745b019b4dc8" /><Relationship Type="http://schemas.openxmlformats.org/officeDocument/2006/relationships/notesSlide" Target="/ppt/notesSlides/notesSlide21.xml" Id="Rc6a56246e3c644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c8335a8b1d84c35" /><Relationship Type="http://schemas.openxmlformats.org/officeDocument/2006/relationships/notesSlide" Target="/ppt/notesSlides/notesSlide22.xml" Id="Rba1c936ddeec46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cffc79d63ee4471" /><Relationship Type="http://schemas.openxmlformats.org/officeDocument/2006/relationships/notesSlide" Target="/ppt/notesSlides/notesSlide23.xml" Id="R804a625c91e34a3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0d09b56856a43ac" /><Relationship Type="http://schemas.openxmlformats.org/officeDocument/2006/relationships/notesSlide" Target="/ppt/notesSlides/notesSlide24.xml" Id="R6ecba395d33740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fffdab847d14061" /><Relationship Type="http://schemas.openxmlformats.org/officeDocument/2006/relationships/notesSlide" Target="/ppt/notesSlides/notesSlide25.xml" Id="Raa2695f7d5c945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279947a49e6486a" /><Relationship Type="http://schemas.openxmlformats.org/officeDocument/2006/relationships/notesSlide" Target="/ppt/notesSlides/notesSlide26.xml" Id="Rb6cb46e4581640e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7c25fc6b2a54c89" /><Relationship Type="http://schemas.openxmlformats.org/officeDocument/2006/relationships/notesSlide" Target="/ppt/notesSlides/notesSlide27.xml" Id="Rb095789d58084e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6a5b8efada24de7" /><Relationship Type="http://schemas.openxmlformats.org/officeDocument/2006/relationships/notesSlide" Target="/ppt/notesSlides/notesSlide28.xml" Id="Rcf15b5d5b4d44db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67bc50260c3404a" /><Relationship Type="http://schemas.openxmlformats.org/officeDocument/2006/relationships/notesSlide" Target="/ppt/notesSlides/notesSlide29.xml" Id="Re65fdc551b6347d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7581734eb544285" /><Relationship Type="http://schemas.openxmlformats.org/officeDocument/2006/relationships/notesSlide" Target="/ppt/notesSlides/notesSlide30.xml" Id="Rdc6c7eb2345d4c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8a92b6d20b24a0d" /><Relationship Type="http://schemas.openxmlformats.org/officeDocument/2006/relationships/image" Target="/ppt/media/image3.png" Id="R9ceebaed2ccf4261" /><Relationship Type="http://schemas.openxmlformats.org/officeDocument/2006/relationships/notesSlide" Target="/ppt/notesSlides/notesSlide31.xml" Id="R101cf4f6377b434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4ece03060df4405" /><Relationship Type="http://schemas.openxmlformats.org/officeDocument/2006/relationships/notesSlide" Target="/ppt/notesSlides/notesSlide32.xml" Id="R5f65141d764f4e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5fbdab869d14c3c" /><Relationship Type="http://schemas.openxmlformats.org/officeDocument/2006/relationships/notesSlide" Target="/ppt/notesSlides/notesSlide33.xml" Id="R18a5459504fe4a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02a9cff0cc645d3" /><Relationship Type="http://schemas.openxmlformats.org/officeDocument/2006/relationships/notesSlide" Target="/ppt/notesSlides/notesSlide34.xml" Id="Rc589faf142f7417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b387d97876a47fd" /><Relationship Type="http://schemas.openxmlformats.org/officeDocument/2006/relationships/notesSlide" Target="/ppt/notesSlides/notesSlide35.xml" Id="Rf68a9a610e8948b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2534c586fb6425c" /><Relationship Type="http://schemas.openxmlformats.org/officeDocument/2006/relationships/notesSlide" Target="/ppt/notesSlides/notesSlide36.xml" Id="R52de2325924e4a9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f5ba767f07d446e" /><Relationship Type="http://schemas.openxmlformats.org/officeDocument/2006/relationships/notesSlide" Target="/ppt/notesSlides/notesSlide37.xml" Id="R950b0b9e5c3740d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84a81e3188a43a7" /><Relationship Type="http://schemas.openxmlformats.org/officeDocument/2006/relationships/notesSlide" Target="/ppt/notesSlides/notesSlide38.xml" Id="Re468d9e5aa60433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28ec141e5bd450f" /><Relationship Type="http://schemas.openxmlformats.org/officeDocument/2006/relationships/notesSlide" Target="/ppt/notesSlides/notesSlide39.xml" Id="R6469af0e17794ed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4a69b5c7da54a54" /><Relationship Type="http://schemas.openxmlformats.org/officeDocument/2006/relationships/notesSlide" Target="/ppt/notesSlides/notesSlide40.xml" Id="R072c4ef798c745f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b73fece98e64de7" /><Relationship Type="http://schemas.openxmlformats.org/officeDocument/2006/relationships/notesSlide" Target="/ppt/notesSlides/notesSlide41.xml" Id="R31d5c8480e87415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5191803836a4874" /><Relationship Type="http://schemas.openxmlformats.org/officeDocument/2006/relationships/notesSlide" Target="/ppt/notesSlides/notesSlide42.xml" Id="Rda21548184eb498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b74cb75ce0142d1" /><Relationship Type="http://schemas.openxmlformats.org/officeDocument/2006/relationships/notesSlide" Target="/ppt/notesSlides/notesSlide43.xml" Id="R86f3848bd61d4ab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df9d6194f6b40f6" /><Relationship Type="http://schemas.openxmlformats.org/officeDocument/2006/relationships/notesSlide" Target="/ppt/notesSlides/notesSlide44.xml" Id="R8cf44f7b68564f2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8e3ba51decb4751" /><Relationship Type="http://schemas.openxmlformats.org/officeDocument/2006/relationships/notesSlide" Target="/ppt/notesSlides/notesSlide45.xml" Id="R672e9aa5739748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5d933e34b9594f4e" /><Relationship Type="http://schemas.openxmlformats.org/officeDocument/2006/relationships/notesSlide" Target="/ppt/notesSlides/notesSlide46.xml" Id="Rd7111ddde84443d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65b9006e7874f57" /><Relationship Type="http://schemas.openxmlformats.org/officeDocument/2006/relationships/notesSlide" Target="/ppt/notesSlides/notesSlide47.xml" Id="Rbfebde204fe6416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c98dfa3268f4b79" /><Relationship Type="http://schemas.openxmlformats.org/officeDocument/2006/relationships/notesSlide" Target="/ppt/notesSlides/notesSlide48.xml" Id="R796710689fbb4f4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d2145fe760a4fd3" /><Relationship Type="http://schemas.openxmlformats.org/officeDocument/2006/relationships/notesSlide" Target="/ppt/notesSlides/notesSlide49.xml" Id="R0221e592c7bc41d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9c2c677c76ea440f" /><Relationship Type="http://schemas.openxmlformats.org/officeDocument/2006/relationships/hyperlink" Target="https://docs.google.com/forms/d/e/1FAIpQLScHyVpTnSxgMVMvsImyTtkME2QAGZmMg55dBKy2VvQ_0d7fxQ/viewform" TargetMode="External" Id="Rb136f69adfa94c8b" /><Relationship Type="http://schemas.openxmlformats.org/officeDocument/2006/relationships/notesSlide" Target="/ppt/notesSlides/notesSlide50.xml" Id="R9510523908e1404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e10ef7d68e84492c" /><Relationship Type="http://schemas.openxmlformats.org/officeDocument/2006/relationships/notesSlide" Target="/ppt/notesSlides/notesSlide51.xml" Id="R349acb030be9440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7384073ced354496" /><Relationship Type="http://schemas.openxmlformats.org/officeDocument/2006/relationships/image" Target="/ppt/media/image4.png" Id="Rbb1315b7b59544d2" /><Relationship Type="http://schemas.openxmlformats.org/officeDocument/2006/relationships/hyperlink" Target="https://forms.gle/i4xkY7g2jn8Q7HXt8" TargetMode="External" Id="R0d22cbc2073045e0" /><Relationship Type="http://schemas.openxmlformats.org/officeDocument/2006/relationships/notesSlide" Target="/ppt/notesSlides/notesSlide52.xml" Id="R5b626913fa6348e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b9d6b6faadaa42a8" /><Relationship Type="http://schemas.openxmlformats.org/officeDocument/2006/relationships/notesSlide" Target="/ppt/notesSlides/notesSlide53.xml" Id="R1a01e4c68f2e492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c71ef97638e541f3" /><Relationship Type="http://schemas.openxmlformats.org/officeDocument/2006/relationships/hyperlink" Target="https://www.youtube.com/watch?v=fHLhBnmwUM0" TargetMode="External" Id="R385ec7e973934ac6" /><Relationship Type="http://schemas.openxmlformats.org/officeDocument/2006/relationships/notesSlide" Target="/ppt/notesSlides/notesSlide54.xml" Id="R7c27c4ac949140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3f6e6b7bc2a41f7"/>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97CEC4-8054-41DE-A707-B927C843E9D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5801CB-34CA-49EB-9540-80EC968CE6AE}"/>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6</a:t>
            </a:r>
          </a:p>
        </p:txBody>
      </p:sp>
      <p:sp>
        <p:nvSpPr>
          <p:cNvPr id="4" name="">
            <a:extLst xmlns:a="http://schemas.openxmlformats.org/drawingml/2006/main">
              <a:ext uri="{FF2B5EF4-FFF2-40B4-BE49-F238E27FC236}">
                <a16:creationId xmlns:a16="http://schemas.microsoft.com/office/drawing/2014/main" id="{F8931C49-D674-470A-BA2F-EE1EC60BFDB8}"/>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Cleaning data and explaining changes</a:t>
            </a:r>
          </a:p>
        </p:txBody>
      </p:sp>
      <p:sp>
        <p:nvSpPr>
          <p:cNvPr id="5" name="">
            <a:extLst xmlns:a="http://schemas.openxmlformats.org/drawingml/2006/main">
              <a:ext uri="{FF2B5EF4-FFF2-40B4-BE49-F238E27FC236}">
                <a16:creationId xmlns:a16="http://schemas.microsoft.com/office/drawing/2014/main" id="{374D48AC-381C-4282-B6D6-B6A743570BC4}"/>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32BC194B-3D7B-4784-8D01-C358145C1EB9}"/>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13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7523505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2A3FFA-F73B-4E0E-ADFA-0432BFE672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D364FF-576B-4625-B33E-DABFB73741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D921D093-C182-4511-A660-EE13C75267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2438084B-B428-44C8-8DEC-87BD3168195F}"/>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D740CD-DC11-4091-91C0-08248A5D40AF}"/>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4712C27B-A473-4042-A2FF-76014F994E94}"/>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Recognise missing values and repeated records.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 a working copy and record each cleaning action.</a:t>
            </a:r>
          </a:p>
        </p:txBody>
      </p:sp>
      <p:sp>
        <p:nvSpPr>
          <p:cNvPr id="7" name="">
            <a:extLst xmlns:a="http://schemas.openxmlformats.org/drawingml/2006/main">
              <a:ext uri="{FF2B5EF4-FFF2-40B4-BE49-F238E27FC236}">
                <a16:creationId xmlns:a16="http://schemas.microsoft.com/office/drawing/2014/main" id="{4ED0C448-8300-48D9-AEC9-D9E70746A971}"/>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4604D16B-1B76-498C-BB17-907D4D16C088}"/>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justify a change, show its effect and identify an estimated value.</a:t>
            </a:r>
          </a:p>
        </p:txBody>
      </p:sp>
      <p:sp>
        <p:nvSpPr>
          <p:cNvPr id="9" name="">
            <a:extLst xmlns:a="http://schemas.openxmlformats.org/drawingml/2006/main">
              <a:ext uri="{FF2B5EF4-FFF2-40B4-BE49-F238E27FC236}">
                <a16:creationId xmlns:a16="http://schemas.microsoft.com/office/drawing/2014/main" id="{DEED27FE-1EF9-4FF7-BF46-76F7D22A78F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a:t>
            </a:r>
          </a:p>
        </p:txBody>
      </p:sp>
    </p:spTree>
    <p:extLst>
      <p:ext uri="{BB962C8B-B14F-4D97-AF65-F5344CB8AC3E}">
        <p14:creationId xmlns:p14="http://schemas.microsoft.com/office/powerpoint/2010/main" val="1474997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46EB65-4A53-455A-BD69-1F9A13A545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B05026-A2BC-4614-B000-412A3C98C0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EF489F9-970A-454A-A898-02BBFC8065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AD34847D-BE4C-489A-83C3-8491706A818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1DEA52-D1AB-4CF7-A389-4A745E3464B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Week 5 selected and summarised columns.</a:t>
            </a:r>
          </a:p>
        </p:txBody>
      </p:sp>
      <p:sp>
        <p:nvSpPr>
          <p:cNvPr id="6" name="">
            <a:extLst xmlns:a="http://schemas.openxmlformats.org/drawingml/2006/main">
              <a:ext uri="{FF2B5EF4-FFF2-40B4-BE49-F238E27FC236}">
                <a16:creationId xmlns:a16="http://schemas.microsoft.com/office/drawing/2014/main" id="{8B513767-247D-4D0D-8ADE-531B281EFD7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trusting those summaries, inspect missing values, repeated observations and measurement units.</a:t>
            </a:r>
          </a:p>
        </p:txBody>
      </p:sp>
      <p:sp>
        <p:nvSpPr>
          <p:cNvPr id="7" name="">
            <a:extLst xmlns:a="http://schemas.openxmlformats.org/drawingml/2006/main">
              <a:ext uri="{FF2B5EF4-FFF2-40B4-BE49-F238E27FC236}">
                <a16:creationId xmlns:a16="http://schemas.microsoft.com/office/drawing/2014/main" id="{E05CB02D-741F-48A7-99A4-28A562A8CF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a:t>
            </a:r>
          </a:p>
        </p:txBody>
      </p:sp>
    </p:spTree>
    <p:extLst>
      <p:ext uri="{BB962C8B-B14F-4D97-AF65-F5344CB8AC3E}">
        <p14:creationId xmlns:p14="http://schemas.microsoft.com/office/powerpoint/2010/main" val="11135839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7F6C88-AB9E-4438-9D8F-3FF474E997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C1CE0C-1BF5-46BF-AC30-1B8780FFEE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18A1F07-4944-4F81-8270-12FE6A120A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5CABC8A3-2065-4545-BBDB-91597EF3127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F67EE7-2D29-47DF-B383-4BE5D3D5E5A3}"/>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repeated record or a missing measurement can change a summary.</a:t>
            </a:r>
          </a:p>
        </p:txBody>
      </p:sp>
      <p:sp>
        <p:nvSpPr>
          <p:cNvPr id="6" name="">
            <a:extLst xmlns:a="http://schemas.openxmlformats.org/drawingml/2006/main">
              <a:ext uri="{FF2B5EF4-FFF2-40B4-BE49-F238E27FC236}">
                <a16:creationId xmlns:a16="http://schemas.microsoft.com/office/drawing/2014/main" id="{CCD52DAD-06D9-4236-9FA7-8C03FAC1AAA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keep the original records, apply the stated cleaning rules and explain each change before plotting.</a:t>
            </a:r>
          </a:p>
        </p:txBody>
      </p:sp>
      <p:sp>
        <p:nvSpPr>
          <p:cNvPr id="7" name="">
            <a:extLst xmlns:a="http://schemas.openxmlformats.org/drawingml/2006/main">
              <a:ext uri="{FF2B5EF4-FFF2-40B4-BE49-F238E27FC236}">
                <a16:creationId xmlns:a16="http://schemas.microsoft.com/office/drawing/2014/main" id="{1C40D600-F9CA-4220-AE1B-96FB2455C8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a:t>
            </a:r>
          </a:p>
        </p:txBody>
      </p:sp>
    </p:spTree>
    <p:extLst>
      <p:ext uri="{BB962C8B-B14F-4D97-AF65-F5344CB8AC3E}">
        <p14:creationId xmlns:p14="http://schemas.microsoft.com/office/powerpoint/2010/main" val="2322230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FC53AD-ADF6-4CB7-A9A8-D9C571CD33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23BDDA-24A8-4211-A38F-2FEF62E1AC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52011F7-DFA0-4FDD-B33D-0F8B4DB273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Raw data and Missing value</a:t>
            </a:r>
          </a:p>
        </p:txBody>
      </p:sp>
      <p:sp>
        <p:nvSpPr>
          <p:cNvPr id="4" name="">
            <a:extLst xmlns:a="http://schemas.openxmlformats.org/drawingml/2006/main">
              <a:ext uri="{FF2B5EF4-FFF2-40B4-BE49-F238E27FC236}">
                <a16:creationId xmlns:a16="http://schemas.microsoft.com/office/drawing/2014/main" id="{8B715A38-61BA-4DF6-BC0F-F0EB6716C28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EAD8AB-7420-4C06-8C03-BCE8A2E30D6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Raw data</a:t>
            </a:r>
          </a:p>
        </p:txBody>
      </p:sp>
      <p:sp>
        <p:nvSpPr>
          <p:cNvPr id="6" name="">
            <a:extLst xmlns:a="http://schemas.openxmlformats.org/drawingml/2006/main">
              <a:ext uri="{FF2B5EF4-FFF2-40B4-BE49-F238E27FC236}">
                <a16:creationId xmlns:a16="http://schemas.microsoft.com/office/drawing/2014/main" id="{E81FD642-B3BF-4538-8C8B-AFAC602604D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original supplied records. Keep these unchanged so another person can check your decisions.</a:t>
            </a:r>
          </a:p>
        </p:txBody>
      </p:sp>
      <p:sp>
        <p:nvSpPr>
          <p:cNvPr id="7" name="">
            <a:extLst xmlns:a="http://schemas.openxmlformats.org/drawingml/2006/main">
              <a:ext uri="{FF2B5EF4-FFF2-40B4-BE49-F238E27FC236}">
                <a16:creationId xmlns:a16="http://schemas.microsoft.com/office/drawing/2014/main" id="{482D50D0-575B-47BA-B6BC-7CC1E7C4947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FD5BF9-29AA-414F-AAA3-B7CA171288F1}"/>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Missing value</a:t>
            </a:r>
          </a:p>
        </p:txBody>
      </p:sp>
      <p:sp>
        <p:nvSpPr>
          <p:cNvPr id="9" name="">
            <a:extLst xmlns:a="http://schemas.openxmlformats.org/drawingml/2006/main">
              <a:ext uri="{FF2B5EF4-FFF2-40B4-BE49-F238E27FC236}">
                <a16:creationId xmlns:a16="http://schemas.microsoft.com/office/drawing/2014/main" id="{C059D656-68E6-4570-9744-7A76F80DC88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that was not recorded, represented here by None in Python records. Missing does not automatically mean zero.</a:t>
            </a:r>
          </a:p>
        </p:txBody>
      </p:sp>
      <p:sp>
        <p:nvSpPr>
          <p:cNvPr id="10" name="">
            <a:extLst xmlns:a="http://schemas.openxmlformats.org/drawingml/2006/main">
              <a:ext uri="{FF2B5EF4-FFF2-40B4-BE49-F238E27FC236}">
                <a16:creationId xmlns:a16="http://schemas.microsoft.com/office/drawing/2014/main" id="{EE213093-07B4-407A-8D53-DE3A2EAEFD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5</a:t>
            </a:r>
          </a:p>
        </p:txBody>
      </p:sp>
    </p:spTree>
    <p:extLst>
      <p:ext uri="{BB962C8B-B14F-4D97-AF65-F5344CB8AC3E}">
        <p14:creationId xmlns:p14="http://schemas.microsoft.com/office/powerpoint/2010/main" val="353467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895C1C-06C4-407D-B5E2-3FA2DB831E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ED76EC-5474-4F75-8DCB-37D1C2F177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60D5FC2-2EF3-43A5-B792-83D4B53672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 and equipment ID and Median and imputation</a:t>
            </a:r>
          </a:p>
        </p:txBody>
      </p:sp>
      <p:sp>
        <p:nvSpPr>
          <p:cNvPr id="4" name="">
            <a:extLst xmlns:a="http://schemas.openxmlformats.org/drawingml/2006/main">
              <a:ext uri="{FF2B5EF4-FFF2-40B4-BE49-F238E27FC236}">
                <a16:creationId xmlns:a16="http://schemas.microsoft.com/office/drawing/2014/main" id="{AD1155D4-5F13-49C7-9ADE-F952ED480F6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DFF9EA-996C-470F-B286-137916B570B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Record and equipment ID</a:t>
            </a:r>
          </a:p>
        </p:txBody>
      </p:sp>
      <p:sp>
        <p:nvSpPr>
          <p:cNvPr id="6" name="">
            <a:extLst xmlns:a="http://schemas.openxmlformats.org/drawingml/2006/main">
              <a:ext uri="{FF2B5EF4-FFF2-40B4-BE49-F238E27FC236}">
                <a16:creationId xmlns:a16="http://schemas.microsoft.com/office/drawing/2014/main" id="{9217BC7F-B925-4890-AFCF-38680A1160C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record ID identifies an observation. An equipment ID identifies the source and may repeat legitimately. Remove repeated observations only under the stated rule.</a:t>
            </a:r>
          </a:p>
        </p:txBody>
      </p:sp>
      <p:sp>
        <p:nvSpPr>
          <p:cNvPr id="7" name="">
            <a:extLst xmlns:a="http://schemas.openxmlformats.org/drawingml/2006/main">
              <a:ext uri="{FF2B5EF4-FFF2-40B4-BE49-F238E27FC236}">
                <a16:creationId xmlns:a16="http://schemas.microsoft.com/office/drawing/2014/main" id="{830B6833-B8E7-4EC7-B11A-0200DE4B30B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BD0315-52B5-4449-975A-1D1248683576}"/>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Median and imputation</a:t>
            </a:r>
          </a:p>
        </p:txBody>
      </p:sp>
      <p:sp>
        <p:nvSpPr>
          <p:cNvPr id="9" name="">
            <a:extLst xmlns:a="http://schemas.openxmlformats.org/drawingml/2006/main">
              <a:ext uri="{FF2B5EF4-FFF2-40B4-BE49-F238E27FC236}">
                <a16:creationId xmlns:a16="http://schemas.microsoft.com/office/drawing/2014/main" id="{761DBECE-1382-4633-B1A3-BC3FCAA46F83}"/>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median is the middle sorted value, or the mean of the two middle values. Imputation fills a missing value using an explicit rule and introduces uncertainty.</a:t>
            </a:r>
          </a:p>
        </p:txBody>
      </p:sp>
      <p:sp>
        <p:nvSpPr>
          <p:cNvPr id="10" name="">
            <a:extLst xmlns:a="http://schemas.openxmlformats.org/drawingml/2006/main">
              <a:ext uri="{FF2B5EF4-FFF2-40B4-BE49-F238E27FC236}">
                <a16:creationId xmlns:a16="http://schemas.microsoft.com/office/drawing/2014/main" id="{EC61952B-9C91-43C3-9D94-C924A28ED2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6</a:t>
            </a:r>
          </a:p>
        </p:txBody>
      </p:sp>
    </p:spTree>
    <p:extLst>
      <p:ext uri="{BB962C8B-B14F-4D97-AF65-F5344CB8AC3E}">
        <p14:creationId xmlns:p14="http://schemas.microsoft.com/office/powerpoint/2010/main" val="18727592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5DF16A6-EC9F-4EE3-8AE5-478EEEA9F0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B1A2D1-8E0E-45EA-AD40-ED5E04DBE5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A3EB1BB-DC1E-407B-864E-79E28BF624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unusual value needs a reason</a:t>
            </a:r>
          </a:p>
        </p:txBody>
      </p:sp>
      <p:sp>
        <p:nvSpPr>
          <p:cNvPr id="4" name="">
            <a:extLst xmlns:a="http://schemas.openxmlformats.org/drawingml/2006/main">
              <a:ext uri="{FF2B5EF4-FFF2-40B4-BE49-F238E27FC236}">
                <a16:creationId xmlns:a16="http://schemas.microsoft.com/office/drawing/2014/main" id="{1DE11F12-ECB0-4EEA-9717-AEBED56D36E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42C83AC-49CD-4FC6-A637-E9593611F640}"/>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missing reading has no recorded value.</a:t>
            </a:r>
          </a:p>
        </p:txBody>
      </p:sp>
      <p:sp>
        <p:nvSpPr>
          <p:cNvPr id="6" name="">
            <a:extLst xmlns:a="http://schemas.openxmlformats.org/drawingml/2006/main">
              <a:ext uri="{FF2B5EF4-FFF2-40B4-BE49-F238E27FC236}">
                <a16:creationId xmlns:a16="http://schemas.microsoft.com/office/drawing/2014/main" id="{63F8F3D6-B1C2-4798-BA98-D97BDE950BC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E187E8C-88B2-4BD9-89F3-84E2368B9A6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Zero is a recorded value and may be physically meaningful.</a:t>
            </a:r>
          </a:p>
        </p:txBody>
      </p:sp>
      <p:sp>
        <p:nvSpPr>
          <p:cNvPr id="8" name="">
            <a:extLst xmlns:a="http://schemas.openxmlformats.org/drawingml/2006/main">
              <a:ext uri="{FF2B5EF4-FFF2-40B4-BE49-F238E27FC236}">
                <a16:creationId xmlns:a16="http://schemas.microsoft.com/office/drawing/2014/main" id="{783DBB70-2ADC-427C-89A7-B66F2772DCC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CC4E92-9215-4702-ACDA-BD12CC8FA7E6}"/>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large or negative value needs instrument and unit context.</a:t>
            </a:r>
          </a:p>
        </p:txBody>
      </p:sp>
      <p:sp>
        <p:nvSpPr>
          <p:cNvPr id="10" name="">
            <a:extLst xmlns:a="http://schemas.openxmlformats.org/drawingml/2006/main">
              <a:ext uri="{FF2B5EF4-FFF2-40B4-BE49-F238E27FC236}">
                <a16:creationId xmlns:a16="http://schemas.microsoft.com/office/drawing/2014/main" id="{6310CF43-D67E-4E63-BEF9-0E53016AF56B}"/>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91ADE8A-3791-4C5B-A375-94F70F77A476}"/>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Preserve the raw data and record every cleaning decision.</a:t>
            </a:r>
          </a:p>
        </p:txBody>
      </p:sp>
      <p:sp>
        <p:nvSpPr>
          <p:cNvPr id="12" name="">
            <a:extLst xmlns:a="http://schemas.openxmlformats.org/drawingml/2006/main">
              <a:ext uri="{FF2B5EF4-FFF2-40B4-BE49-F238E27FC236}">
                <a16:creationId xmlns:a16="http://schemas.microsoft.com/office/drawing/2014/main" id="{555EE4A2-498F-488D-ADFA-F0BD9DE5B6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7</a:t>
            </a:r>
          </a:p>
        </p:txBody>
      </p:sp>
    </p:spTree>
    <p:extLst>
      <p:ext uri="{BB962C8B-B14F-4D97-AF65-F5344CB8AC3E}">
        <p14:creationId xmlns:p14="http://schemas.microsoft.com/office/powerpoint/2010/main" val="16224489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322037-DF4D-4911-9834-D78D385809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DDF1AC-8976-4CA7-A296-066E4A38DD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4034B6F-995F-40E6-8FBA-9F764D0468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the median by sorting the readings</a:t>
            </a:r>
          </a:p>
        </p:txBody>
      </p:sp>
      <p:sp>
        <p:nvSpPr>
          <p:cNvPr id="4" name="">
            <a:extLst xmlns:a="http://schemas.openxmlformats.org/drawingml/2006/main">
              <a:ext uri="{FF2B5EF4-FFF2-40B4-BE49-F238E27FC236}">
                <a16:creationId xmlns:a16="http://schemas.microsoft.com/office/drawing/2014/main" id="{B3E6C531-2438-4AF3-8568-80E6C9DA06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0BAA97D-360A-4F02-91E3-78C7A874DC6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median is a middle value after ordering the numbers from smallest to largest. In [2, 4, 30], the middle item is 4.</a:t>
            </a:r>
          </a:p>
        </p:txBody>
      </p:sp>
      <p:sp>
        <p:nvSpPr>
          <p:cNvPr id="6" name="">
            <a:extLst xmlns:a="http://schemas.openxmlformats.org/drawingml/2006/main">
              <a:ext uri="{FF2B5EF4-FFF2-40B4-BE49-F238E27FC236}">
                <a16:creationId xmlns:a16="http://schemas.microsoft.com/office/drawing/2014/main" id="{16D5FAC0-AFDA-45D9-8EDE-CC9E324578C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F85EA83-82CA-4A89-A5AF-C1A2E4F8943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an even number of readings, average the two middle values. [20, 22, 24, 80] has middle values 22 and 24, so the median is 23.</a:t>
            </a:r>
          </a:p>
        </p:txBody>
      </p:sp>
      <p:sp>
        <p:nvSpPr>
          <p:cNvPr id="8" name="">
            <a:extLst xmlns:a="http://schemas.openxmlformats.org/drawingml/2006/main">
              <a:ext uri="{FF2B5EF4-FFF2-40B4-BE49-F238E27FC236}">
                <a16:creationId xmlns:a16="http://schemas.microsoft.com/office/drawing/2014/main" id="{5048608A-7EAE-49B2-A320-861340331B5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6F6A86-B20B-4EA0-8AF4-D38A892E1CB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None is missing information in our list, not a number to sort. Collect only recorded values before calculating this median.</a:t>
            </a:r>
          </a:p>
        </p:txBody>
      </p:sp>
      <p:sp>
        <p:nvSpPr>
          <p:cNvPr id="10" name="">
            <a:extLst xmlns:a="http://schemas.openxmlformats.org/drawingml/2006/main">
              <a:ext uri="{FF2B5EF4-FFF2-40B4-BE49-F238E27FC236}">
                <a16:creationId xmlns:a16="http://schemas.microsoft.com/office/drawing/2014/main" id="{F6779EC4-05A4-477B-8556-82DE3269C7B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8</a:t>
            </a:r>
          </a:p>
        </p:txBody>
      </p:sp>
    </p:spTree>
    <p:extLst>
      <p:ext uri="{BB962C8B-B14F-4D97-AF65-F5344CB8AC3E}">
        <p14:creationId xmlns:p14="http://schemas.microsoft.com/office/powerpoint/2010/main" val="4845115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C0A9D0-70E6-4E12-84E6-E52A0EA777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F3980B-512B-49FC-88DD-D7373CC12F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537B053-3119-4D9F-A0DB-5EC7A2C569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median and unusual readings</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Readings</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a:t>
                      </a:r>
                    </a:p>
                  </a:txBody>
                  <a:tcPr marL="91440" marR="91440" marT="45720" marB="45720">
                    <a:solidFill>
                      <a:srgbClr val="2E7D6F"/>
                    </a:solidFill>
                  </a:tcPr>
                </a:tc>
                <a:tc>
                  <a:txBody>
                    <a:bodyPr/>
                    <a:lstStyle/>
                    <a:p>
                      <a:r>
                        <a:rPr sz="2025" b="1">
                          <a:solidFill>
                            <a:srgbClr val="FFFFFF"/>
                          </a:solidFill>
                          <a:latin typeface="Calibri"/>
                          <a:ea typeface="Calibri"/>
                          <a:cs typeface="Calibri"/>
                        </a:rPr>
                        <a:t>Median</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4</a:t>
                      </a:r>
                    </a:p>
                  </a:txBody>
                  <a:tcPr marL="91440" marR="91440" marT="45720" marB="45720">
                    <a:solidFill>
                      <a:srgbClr val="EEF3F6"/>
                    </a:solidFill>
                  </a:tcPr>
                </a:tc>
                <a:tc>
                  <a:txBody>
                    <a:bodyPr/>
                    <a:lstStyle/>
                    <a:p>
                      <a:r>
                        <a:rPr sz="2025" b="0">
                          <a:solidFill>
                            <a:srgbClr val="1C3144"/>
                          </a:solidFill>
                          <a:latin typeface="Calibri"/>
                          <a:ea typeface="Calibri"/>
                          <a:cs typeface="Calibri"/>
                        </a:rPr>
                        <a:t>4</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2, 4, 30</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086A4D-F645-4ACF-9BF3-3E92BE5CB416}"/>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mean uses every value. The median is the middle sorted value. A large value needs context.</a:t>
            </a:r>
          </a:p>
        </p:txBody>
      </p:sp>
      <p:sp>
        <p:nvSpPr>
          <p:cNvPr id="6" name="">
            <a:extLst xmlns:a="http://schemas.openxmlformats.org/drawingml/2006/main">
              <a:ext uri="{FF2B5EF4-FFF2-40B4-BE49-F238E27FC236}">
                <a16:creationId xmlns:a16="http://schemas.microsoft.com/office/drawing/2014/main" id="{6A82A3AC-E5A7-4DB5-AA15-0E39297037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9</a:t>
            </a:r>
          </a:p>
        </p:txBody>
      </p:sp>
    </p:spTree>
    <p:extLst>
      <p:ext uri="{BB962C8B-B14F-4D97-AF65-F5344CB8AC3E}">
        <p14:creationId xmlns:p14="http://schemas.microsoft.com/office/powerpoint/2010/main" val="19030123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03076B-9CAD-42F1-99C9-F74D8C0D70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7A964A-9311-4B44-BA69-3EB06F06B6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125B8BD-79A7-499D-B0A0-EDE4444A67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Testing for None and importing one tool</a:t>
            </a:r>
          </a:p>
        </p:txBody>
      </p:sp>
      <p:sp>
        <p:nvSpPr>
          <p:cNvPr id="4" name="">
            <a:extLst xmlns:a="http://schemas.openxmlformats.org/drawingml/2006/main">
              <a:ext uri="{FF2B5EF4-FFF2-40B4-BE49-F238E27FC236}">
                <a16:creationId xmlns:a16="http://schemas.microsoft.com/office/drawing/2014/main" id="{395A02FA-5199-4E06-AFBE-035E32A2F77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6E7F3BE-33C5-48A8-9380-9113D68CB98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value is None asks whether value is the special None object. value is not None is the opposite question. Use these tests for Python None.</a:t>
            </a:r>
          </a:p>
        </p:txBody>
      </p:sp>
      <p:sp>
        <p:nvSpPr>
          <p:cNvPr id="6" name="">
            <a:extLst xmlns:a="http://schemas.openxmlformats.org/drawingml/2006/main">
              <a:ext uri="{FF2B5EF4-FFF2-40B4-BE49-F238E27FC236}">
                <a16:creationId xmlns:a16="http://schemas.microsoft.com/office/drawing/2014/main" id="{7573D35E-7FD8-4672-9838-725D7DD0691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4444357-F8C4-4574-AC27-C917E4115A9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differs from ==, which compares values. Do not use is to compare ordinary numeric measurements.</a:t>
            </a:r>
          </a:p>
        </p:txBody>
      </p:sp>
      <p:sp>
        <p:nvSpPr>
          <p:cNvPr id="8" name="">
            <a:extLst xmlns:a="http://schemas.openxmlformats.org/drawingml/2006/main">
              <a:ext uri="{FF2B5EF4-FFF2-40B4-BE49-F238E27FC236}">
                <a16:creationId xmlns:a16="http://schemas.microsoft.com/office/drawing/2014/main" id="{94E6C987-4718-4830-BAED-4CEFF27A4BC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D20156D-7D69-4736-9DEB-80151B81A8D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from statistics import median loads just the median function. statistics is a standard Python module; median is the callable tool used below.</a:t>
            </a:r>
          </a:p>
        </p:txBody>
      </p:sp>
      <p:sp>
        <p:nvSpPr>
          <p:cNvPr id="10" name="">
            <a:extLst xmlns:a="http://schemas.openxmlformats.org/drawingml/2006/main">
              <a:ext uri="{FF2B5EF4-FFF2-40B4-BE49-F238E27FC236}">
                <a16:creationId xmlns:a16="http://schemas.microsoft.com/office/drawing/2014/main" id="{DE6DBDE6-4649-4213-BA15-727B6C4C1D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10</a:t>
            </a:r>
          </a:p>
        </p:txBody>
      </p:sp>
    </p:spTree>
    <p:extLst>
      <p:ext uri="{BB962C8B-B14F-4D97-AF65-F5344CB8AC3E}">
        <p14:creationId xmlns:p14="http://schemas.microsoft.com/office/powerpoint/2010/main" val="17994560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071545-D829-47E7-A54B-2AFEADEA96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D1F93B-6861-4381-BE21-3D5D70324D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3C4593C-DF50-4881-98F3-1A089B6B65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Filling a gap adds an estimate</a:t>
            </a:r>
          </a:p>
        </p:txBody>
      </p:sp>
      <p:sp>
        <p:nvSpPr>
          <p:cNvPr id="4" name="">
            <a:extLst xmlns:a="http://schemas.openxmlformats.org/drawingml/2006/main">
              <a:ext uri="{FF2B5EF4-FFF2-40B4-BE49-F238E27FC236}">
                <a16:creationId xmlns:a16="http://schemas.microsoft.com/office/drawing/2014/main" id="{BA502F82-1B01-4C5F-80BA-4A7746FA443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EC89A0B-A11F-42EA-B2BC-31A2241461F2}"/>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valid readings, sorted, are 20, 22, 24 and 80.</a:t>
            </a:r>
          </a:p>
        </p:txBody>
      </p:sp>
      <p:sp>
        <p:nvSpPr>
          <p:cNvPr id="6" name="">
            <a:extLst xmlns:a="http://schemas.openxmlformats.org/drawingml/2006/main">
              <a:ext uri="{FF2B5EF4-FFF2-40B4-BE49-F238E27FC236}">
                <a16:creationId xmlns:a16="http://schemas.microsoft.com/office/drawing/2014/main" id="{20BA283B-2F73-4D24-9163-3E5533605D19}"/>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E807BDE-6187-44E9-B75B-F3C4387B3B24}"/>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two middle values are 22 and 24. Their mean is 23.</a:t>
            </a:r>
          </a:p>
        </p:txBody>
      </p:sp>
      <p:sp>
        <p:nvSpPr>
          <p:cNvPr id="8" name="">
            <a:extLst xmlns:a="http://schemas.openxmlformats.org/drawingml/2006/main">
              <a:ext uri="{FF2B5EF4-FFF2-40B4-BE49-F238E27FC236}">
                <a16:creationId xmlns:a16="http://schemas.microsoft.com/office/drawing/2014/main" id="{24C90681-F211-4800-A5DD-C5773D02870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01F6628-7D2B-4CDE-9FC5-48404CA8B47C}"/>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Using 23 for a blank is a declared cleaning rule. It does not recover the lost measurement.</a:t>
            </a:r>
          </a:p>
        </p:txBody>
      </p:sp>
      <p:sp>
        <p:nvSpPr>
          <p:cNvPr id="10" name="">
            <a:extLst xmlns:a="http://schemas.openxmlformats.org/drawingml/2006/main">
              <a:ext uri="{FF2B5EF4-FFF2-40B4-BE49-F238E27FC236}">
                <a16:creationId xmlns:a16="http://schemas.microsoft.com/office/drawing/2014/main" id="{2C338A4D-703E-4B49-8394-36D6675487C0}"/>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AD80DF9-E22E-4C54-BE17-514512BF056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Python, value is None tests for a missing marker. is not None tests that it is not that marker.</a:t>
            </a:r>
          </a:p>
        </p:txBody>
      </p:sp>
      <p:sp>
        <p:nvSpPr>
          <p:cNvPr id="12" name="">
            <a:extLst xmlns:a="http://schemas.openxmlformats.org/drawingml/2006/main">
              <a:ext uri="{FF2B5EF4-FFF2-40B4-BE49-F238E27FC236}">
                <a16:creationId xmlns:a16="http://schemas.microsoft.com/office/drawing/2014/main" id="{A8D86DEA-CF8F-4BBD-B19F-25076BACC2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11</a:t>
            </a:r>
          </a:p>
        </p:txBody>
      </p:sp>
    </p:spTree>
    <p:extLst>
      <p:ext uri="{BB962C8B-B14F-4D97-AF65-F5344CB8AC3E}">
        <p14:creationId xmlns:p14="http://schemas.microsoft.com/office/powerpoint/2010/main" val="11617655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B8FA81-6724-4FDB-857D-E99E7F9024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417105-9114-405B-BFA1-8F0E00054D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0EA9D36-F60D-41AD-BF60-72E4C4E95C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decisions and charts in Python (1/2)</a:t>
            </a:r>
          </a:p>
        </p:txBody>
      </p:sp>
      <p:sp>
        <p:nvSpPr>
          <p:cNvPr id="4" name="">
            <a:extLst xmlns:a="http://schemas.openxmlformats.org/drawingml/2006/main">
              <a:ext uri="{FF2B5EF4-FFF2-40B4-BE49-F238E27FC236}">
                <a16:creationId xmlns:a16="http://schemas.microsoft.com/office/drawing/2014/main" id="{B933E63C-22C7-4CF2-924F-9C912457CF1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4758BC-44B8-41DF-B6B4-79B72DB8993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statistics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 = [20, </a:t>
            </a:r>
            <a:r>
              <a:rPr sz="2175" b="0">
                <a:solidFill>
                  <a:srgbClr val="FFB080"/>
                </a:solidFill>
                <a:latin typeface="Courier New"/>
                <a:ea typeface="Courier New"/>
                <a:cs typeface="Courier New"/>
              </a:rPr>
              <a:t>None</a:t>
            </a:r>
            <a:r>
              <a:rPr sz="2175" b="0">
                <a:solidFill>
                  <a:srgbClr val="F4F7FA"/>
                </a:solidFill>
                <a:latin typeface="Courier New"/>
                <a:ea typeface="Courier New"/>
                <a:cs typeface="Courier New"/>
              </a:rPr>
              <a:t>, 22, 24, 80]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known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value in raw: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is not 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known.append(value)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fill = median(known)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cleaned = []</a:t>
            </a:r>
          </a:p>
        </p:txBody>
      </p:sp>
      <p:sp>
        <p:nvSpPr>
          <p:cNvPr id="6" name="">
            <a:extLst xmlns:a="http://schemas.openxmlformats.org/drawingml/2006/main">
              <a:ext uri="{FF2B5EF4-FFF2-40B4-BE49-F238E27FC236}">
                <a16:creationId xmlns:a16="http://schemas.microsoft.com/office/drawing/2014/main" id="{AA98A2AF-9B74-44CF-A724-96A6170316B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2D5DED8-C35A-4EA1-8C0C-3C858227387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import loads a library. from selects a tool from it.</a:t>
            </a:r>
          </a:p>
        </p:txBody>
      </p:sp>
      <p:sp>
        <p:nvSpPr>
          <p:cNvPr id="8" name="">
            <a:extLst xmlns:a="http://schemas.openxmlformats.org/drawingml/2006/main">
              <a:ext uri="{FF2B5EF4-FFF2-40B4-BE49-F238E27FC236}">
                <a16:creationId xmlns:a16="http://schemas.microsoft.com/office/drawing/2014/main" id="{2E53CA70-5A56-4BE0-BEEF-D48F6B2A39A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9" name="">
            <a:extLst xmlns:a="http://schemas.openxmlformats.org/drawingml/2006/main">
              <a:ext uri="{FF2B5EF4-FFF2-40B4-BE49-F238E27FC236}">
                <a16:creationId xmlns:a16="http://schemas.microsoft.com/office/drawing/2014/main" id="{A23811A0-A502-4E99-BEA6-430DE6390E7E}"/>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10" name="">
            <a:extLst xmlns:a="http://schemas.openxmlformats.org/drawingml/2006/main">
              <a:ext uri="{FF2B5EF4-FFF2-40B4-BE49-F238E27FC236}">
                <a16:creationId xmlns:a16="http://schemas.microsoft.com/office/drawing/2014/main" id="{7D440848-C8BB-4C7F-AEC4-96CD5564DFC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C7AED637-6990-42EA-B3E4-14FD56D592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12</a:t>
            </a:r>
          </a:p>
        </p:txBody>
      </p:sp>
    </p:spTree>
    <p:extLst>
      <p:ext uri="{BB962C8B-B14F-4D97-AF65-F5344CB8AC3E}">
        <p14:creationId xmlns:p14="http://schemas.microsoft.com/office/powerpoint/2010/main" val="15049128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AD56AD-E980-41B6-BCAA-2ED8A62ECD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56AA73-68F1-4271-A84F-26279585C6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1C80422-3880-4B68-A57F-495742E4FF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decisions and charts in Python (2/2)</a:t>
            </a:r>
          </a:p>
        </p:txBody>
      </p:sp>
      <p:sp>
        <p:nvSpPr>
          <p:cNvPr id="4" name="">
            <a:extLst xmlns:a="http://schemas.openxmlformats.org/drawingml/2006/main">
              <a:ext uri="{FF2B5EF4-FFF2-40B4-BE49-F238E27FC236}">
                <a16:creationId xmlns:a16="http://schemas.microsoft.com/office/drawing/2014/main" id="{AC672404-4D25-4D60-A71A-6C7C5E196A0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56B6EA-BF87-4032-830F-80A9C255DAE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value in raw: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is </a:t>
            </a:r>
            <a:r>
              <a:rPr sz="2175" b="0">
                <a:solidFill>
                  <a:srgbClr val="FFB080"/>
                </a:solidFill>
                <a:latin typeface="Courier New"/>
                <a:ea typeface="Courier New"/>
                <a:cs typeface="Courier New"/>
              </a:rPr>
              <a:t>None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cleaned.append(fill)</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cleaned.append(value)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print(fill)</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print(cleaned)</a:t>
            </a:r>
          </a:p>
        </p:txBody>
      </p:sp>
      <p:sp>
        <p:nvSpPr>
          <p:cNvPr id="6" name="">
            <a:extLst xmlns:a="http://schemas.openxmlformats.org/drawingml/2006/main">
              <a:ext uri="{FF2B5EF4-FFF2-40B4-BE49-F238E27FC236}">
                <a16:creationId xmlns:a16="http://schemas.microsoft.com/office/drawing/2014/main" id="{9C82B319-65EC-4D2D-A9D0-2E687D5248A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34B8923-40CC-420D-BA93-4092ED3DF23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1A67571D-2EC7-404A-94D3-493A60D4EC2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7C285F7D-596A-4F67-84AA-F44E845D614F}"/>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43E3AFF2-F8AC-4EDC-AD4A-72349605E58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11" name="">
            <a:extLst xmlns:a="http://schemas.openxmlformats.org/drawingml/2006/main">
              <a:ext uri="{FF2B5EF4-FFF2-40B4-BE49-F238E27FC236}">
                <a16:creationId xmlns:a16="http://schemas.microsoft.com/office/drawing/2014/main" id="{04BBD0CE-02D2-46AB-804D-19AE848E66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13</a:t>
            </a:r>
          </a:p>
        </p:txBody>
      </p:sp>
    </p:spTree>
    <p:extLst>
      <p:ext uri="{BB962C8B-B14F-4D97-AF65-F5344CB8AC3E}">
        <p14:creationId xmlns:p14="http://schemas.microsoft.com/office/powerpoint/2010/main" val="3301519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3FDC45-2AF4-4083-A6B8-69C6623B8C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8FE60A-472F-4A48-AF82-0917023466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B789FC1C-DD33-46B2-84F3-2ED34BA6E2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decisions and charts results</a:t>
            </a:r>
          </a:p>
        </p:txBody>
      </p:sp>
      <p:sp>
        <p:nvSpPr>
          <p:cNvPr id="4" name="">
            <a:extLst xmlns:a="http://schemas.openxmlformats.org/drawingml/2006/main">
              <a:ext uri="{FF2B5EF4-FFF2-40B4-BE49-F238E27FC236}">
                <a16:creationId xmlns:a16="http://schemas.microsoft.com/office/drawing/2014/main" id="{84B0D06D-5FC0-4347-97AE-4133594D6EEA}"/>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5FABB7-506A-4738-83D2-C5DA04374413}"/>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23.0</a:t>
            </a:r>
          </a:p>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[20, None, 22, 24, 80]</a:t>
            </a:r>
          </a:p>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[20, 23.0, 22, 24, 80]</a:t>
            </a:r>
          </a:p>
        </p:txBody>
      </p:sp>
      <p:sp>
        <p:nvSpPr>
          <p:cNvPr id="6" name="">
            <a:extLst xmlns:a="http://schemas.openxmlformats.org/drawingml/2006/main">
              <a:ext uri="{FF2B5EF4-FFF2-40B4-BE49-F238E27FC236}">
                <a16:creationId xmlns:a16="http://schemas.microsoft.com/office/drawing/2014/main" id="{F6305D45-D636-43EB-81B4-C385962647C7}"/>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57CC051B-E5C1-4735-ADFE-67D4D986B52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14</a:t>
            </a:r>
          </a:p>
        </p:txBody>
      </p:sp>
    </p:spTree>
    <p:extLst>
      <p:ext uri="{BB962C8B-B14F-4D97-AF65-F5344CB8AC3E}">
        <p14:creationId xmlns:p14="http://schemas.microsoft.com/office/powerpoint/2010/main" val="13079073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C2122E-15AA-48B4-B4C3-2820EE63AE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71D8B5-46D5-488D-9B65-46A4B64A72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421D95C-90B8-46E1-8DEC-37A54D5093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Copy a record and remember an ID</a:t>
            </a:r>
          </a:p>
        </p:txBody>
      </p:sp>
      <p:sp>
        <p:nvSpPr>
          <p:cNvPr id="4" name="">
            <a:extLst xmlns:a="http://schemas.openxmlformats.org/drawingml/2006/main">
              <a:ext uri="{FF2B5EF4-FFF2-40B4-BE49-F238E27FC236}">
                <a16:creationId xmlns:a16="http://schemas.microsoft.com/office/drawing/2014/main" id="{FB384D63-9751-4836-8FB8-410EE0E89E8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089CF9-5B52-426F-BCA2-148FD345B8E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dict(row)</a:t>
            </a:r>
          </a:p>
        </p:txBody>
      </p:sp>
      <p:sp>
        <p:nvSpPr>
          <p:cNvPr id="6" name="">
            <a:extLst xmlns:a="http://schemas.openxmlformats.org/drawingml/2006/main">
              <a:ext uri="{FF2B5EF4-FFF2-40B4-BE49-F238E27FC236}">
                <a16:creationId xmlns:a16="http://schemas.microsoft.com/office/drawing/2014/main" id="{9BF9183F-63BC-4A5A-B195-393983F677D8}"/>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For our flat records, dict(row) makes a separate dictionary with the same fields. Changing a number in the copy leaves the original record unchanged.</a:t>
            </a:r>
          </a:p>
        </p:txBody>
      </p:sp>
      <p:sp>
        <p:nvSpPr>
          <p:cNvPr id="7" name="">
            <a:extLst xmlns:a="http://schemas.openxmlformats.org/drawingml/2006/main">
              <a:ext uri="{FF2B5EF4-FFF2-40B4-BE49-F238E27FC236}">
                <a16:creationId xmlns:a16="http://schemas.microsoft.com/office/drawing/2014/main" id="{C6E2E16A-7B4E-4A0D-A1B5-461031955FA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21635F1-36B9-4DB6-A0D4-3D832127499D}"/>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set, in, add and continue</a:t>
            </a:r>
          </a:p>
        </p:txBody>
      </p:sp>
      <p:sp>
        <p:nvSpPr>
          <p:cNvPr id="9" name="">
            <a:extLst xmlns:a="http://schemas.openxmlformats.org/drawingml/2006/main">
              <a:ext uri="{FF2B5EF4-FFF2-40B4-BE49-F238E27FC236}">
                <a16:creationId xmlns:a16="http://schemas.microsoft.com/office/drawing/2014/main" id="{2DFC4C3E-546A-4886-894C-4941FE8BAFC3}"/>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set() starts an empty collection of unique items. in checks membership; add remembers an item. continue skips the rest of the current loop pass.</a:t>
            </a:r>
          </a:p>
        </p:txBody>
      </p:sp>
      <p:sp>
        <p:nvSpPr>
          <p:cNvPr id="10" name="">
            <a:extLst xmlns:a="http://schemas.openxmlformats.org/drawingml/2006/main">
              <a:ext uri="{FF2B5EF4-FFF2-40B4-BE49-F238E27FC236}">
                <a16:creationId xmlns:a16="http://schemas.microsoft.com/office/drawing/2014/main" id="{DFFDC505-F5BF-409E-B6E9-B2671B02F5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15</a:t>
            </a:r>
          </a:p>
        </p:txBody>
      </p:sp>
    </p:spTree>
    <p:extLst>
      <p:ext uri="{BB962C8B-B14F-4D97-AF65-F5344CB8AC3E}">
        <p14:creationId xmlns:p14="http://schemas.microsoft.com/office/powerpoint/2010/main" val="9717493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AE3929-EBB1-478B-B68F-2BC604D1AB0F}"/>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1A39B6-A2AD-4736-B1D5-80175BE7B63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working copy preserves the original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aea9b09f9c3416f"/>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0AA1EF-E4C0-4E8A-8295-7AEABBFA9858}"/>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25D03E-CDB8-448E-85F9-A0948485D122}"/>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In this separate four-record example, remove one repeated C record and fill B with (20 + 24) / 2 = 22.</a:t>
            </a:r>
          </a:p>
        </p:txBody>
      </p:sp>
      <p:sp>
        <p:nvSpPr>
          <p:cNvPr id="6" name="">
            <a:extLst xmlns:a="http://schemas.openxmlformats.org/drawingml/2006/main">
              <a:ext uri="{FF2B5EF4-FFF2-40B4-BE49-F238E27FC236}">
                <a16:creationId xmlns:a16="http://schemas.microsoft.com/office/drawing/2014/main" id="{F1E23B27-FF9A-4408-BDEC-D5FF5338AF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16</a:t>
            </a:r>
          </a:p>
        </p:txBody>
      </p:sp>
    </p:spTree>
    <p:extLst>
      <p:ext uri="{BB962C8B-B14F-4D97-AF65-F5344CB8AC3E}">
        <p14:creationId xmlns:p14="http://schemas.microsoft.com/office/powerpoint/2010/main" val="1390904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5F7E13-5225-41A7-8179-5DC773714B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819CB1-099A-4ABC-A046-5D70ECCBF6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425172B-B2C2-468A-8F9E-338F8543C8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Copies and duplicate checks</a:t>
            </a:r>
          </a:p>
        </p:txBody>
      </p:sp>
      <p:sp>
        <p:nvSpPr>
          <p:cNvPr id="4" name="">
            <a:extLst xmlns:a="http://schemas.openxmlformats.org/drawingml/2006/main">
              <a:ext uri="{FF2B5EF4-FFF2-40B4-BE49-F238E27FC236}">
                <a16:creationId xmlns:a16="http://schemas.microsoft.com/office/drawing/2014/main" id="{08649B42-9EAF-43DF-806F-DCF40D6C578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D7A8E7-5D74-4A14-B4D6-8AC9B756456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row = {"id": "A", "reading":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copy = dict(row)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copy["reading"] =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 = set()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seen.add(row["id"])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print(row["reading"])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 in seen)</a:t>
            </a:r>
          </a:p>
        </p:txBody>
      </p:sp>
      <p:sp>
        <p:nvSpPr>
          <p:cNvPr id="6" name="">
            <a:extLst xmlns:a="http://schemas.openxmlformats.org/drawingml/2006/main">
              <a:ext uri="{FF2B5EF4-FFF2-40B4-BE49-F238E27FC236}">
                <a16:creationId xmlns:a16="http://schemas.microsoft.com/office/drawing/2014/main" id="{60C07FD3-986C-4F38-9B8D-DB0F31DD054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68C99EB-EB99-4FB8-90FD-F1D8BE5D537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A29569E0-762E-43F0-9A2E-53D42079457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76479759-D6BE-465C-890D-AFC9F5235D5A}"/>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Braces hold dictionary key: value pairs here.</a:t>
            </a:r>
          </a:p>
        </p:txBody>
      </p:sp>
      <p:sp>
        <p:nvSpPr>
          <p:cNvPr id="10" name="">
            <a:extLst xmlns:a="http://schemas.openxmlformats.org/drawingml/2006/main">
              <a:ext uri="{FF2B5EF4-FFF2-40B4-BE49-F238E27FC236}">
                <a16:creationId xmlns:a16="http://schemas.microsoft.com/office/drawing/2014/main" id="{51E23497-0966-40A4-A589-9F6CD6879F6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dict(row) makes a shallow copy. A set keeps unique IDs.</a:t>
            </a:r>
          </a:p>
        </p:txBody>
      </p:sp>
      <p:sp>
        <p:nvSpPr>
          <p:cNvPr id="11" name="">
            <a:extLst xmlns:a="http://schemas.openxmlformats.org/drawingml/2006/main">
              <a:ext uri="{FF2B5EF4-FFF2-40B4-BE49-F238E27FC236}">
                <a16:creationId xmlns:a16="http://schemas.microsoft.com/office/drawing/2014/main" id="{781565C0-2C58-4355-9CDA-09754220AF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17</a:t>
            </a:r>
          </a:p>
        </p:txBody>
      </p:sp>
    </p:spTree>
    <p:extLst>
      <p:ext uri="{BB962C8B-B14F-4D97-AF65-F5344CB8AC3E}">
        <p14:creationId xmlns:p14="http://schemas.microsoft.com/office/powerpoint/2010/main" val="8880690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069110-B0A2-4499-9478-623364437F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F9C0CE-6BBF-425E-A037-DEC842A80D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8628C1E-912A-467F-BFFE-A6DDD8597A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duplicate-record decision</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Record ID</a:t>
                      </a:r>
                    </a:p>
                  </a:txBody>
                  <a:tcPr marL="91440" marR="91440" marT="45720" marB="45720">
                    <a:solidFill>
                      <a:srgbClr val="2E7D6F"/>
                    </a:solidFill>
                  </a:tcPr>
                </a:tc>
                <a:tc>
                  <a:txBody>
                    <a:bodyPr/>
                    <a:lstStyle/>
                    <a:p>
                      <a:r>
                        <a:rPr sz="2025" b="1">
                          <a:solidFill>
                            <a:srgbClr val="FFFFFF"/>
                          </a:solidFill>
                          <a:latin typeface="Calibri"/>
                          <a:ea typeface="Calibri"/>
                          <a:cs typeface="Calibri"/>
                        </a:rPr>
                        <a:t>Already in seen?</a:t>
                      </a:r>
                    </a:p>
                  </a:txBody>
                  <a:tcPr marL="91440" marR="91440" marT="45720" marB="45720">
                    <a:solidFill>
                      <a:srgbClr val="2E7D6F"/>
                    </a:solidFill>
                  </a:tcPr>
                </a:tc>
                <a:tc>
                  <a:txBody>
                    <a:bodyPr/>
                    <a:lstStyle/>
                    <a:p>
                      <a:r>
                        <a:rPr sz="2025" b="1">
                          <a:solidFill>
                            <a:srgbClr val="FFFFFF"/>
                          </a:solidFill>
                          <a:latin typeface="Calibri"/>
                          <a:ea typeface="Calibri"/>
                          <a:cs typeface="Calibri"/>
                        </a:rPr>
                        <a:t>Action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1, first record</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c>
                  <a:txBody>
                    <a:bodyPr/>
                    <a:lstStyle/>
                    <a:p>
                      <a:r>
                        <a:rPr sz="2025" b="0">
                          <a:solidFill>
                            <a:srgbClr val="1C3144"/>
                          </a:solidFill>
                          <a:latin typeface="Calibri"/>
                          <a:ea typeface="Calibri"/>
                          <a:cs typeface="Calibri"/>
                        </a:rPr>
                        <a:t>Remember 1; keep a copy</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 repeated record</a:t>
                      </a:r>
                    </a:p>
                  </a:txBody>
                  <a:tcPr marL="91440" marR="91440" marT="45720" marB="45720">
                    <a:solidFill>
                      <a:srgbClr val="FFFFFF"/>
                    </a:solidFill>
                  </a:tcPr>
                </a:tc>
                <a:tc>
                  <a:txBody>
                    <a:bodyPr/>
                    <a:lstStyle/>
                    <a:p>
                      <a:r>
                        <a:rPr sz="2025" b="0">
                          <a:solidFill>
                            <a:srgbClr val="1C3144"/>
                          </a:solidFill>
                          <a:latin typeface="Calibri"/>
                          <a:ea typeface="Calibri"/>
                          <a:cs typeface="Calibri"/>
                        </a:rPr>
                        <a:t>Yes</a:t>
                      </a:r>
                    </a:p>
                  </a:txBody>
                  <a:tcPr marL="91440" marR="91440" marT="45720" marB="45720">
                    <a:solidFill>
                      <a:srgbClr val="FFFFFF"/>
                    </a:solidFill>
                  </a:tcPr>
                </a:tc>
                <a:tc>
                  <a:txBody>
                    <a:bodyPr/>
                    <a:lstStyle/>
                    <a:p>
                      <a:r>
                        <a:rPr sz="2025" b="0">
                          <a:solidFill>
                            <a:srgbClr val="1C3144"/>
                          </a:solidFill>
                          <a:latin typeface="Calibri"/>
                          <a:ea typeface="Calibri"/>
                          <a:cs typeface="Calibri"/>
                        </a:rPr>
                        <a:t>continue; skip this copy</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2, next record</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c>
                  <a:txBody>
                    <a:bodyPr/>
                    <a:lstStyle/>
                    <a:p>
                      <a:r>
                        <a:rPr sz="2025" b="0">
                          <a:solidFill>
                            <a:srgbClr val="1C3144"/>
                          </a:solidFill>
                          <a:latin typeface="Calibri"/>
                          <a:ea typeface="Calibri"/>
                          <a:cs typeface="Calibri"/>
                        </a:rPr>
                        <a:t>Remember 2; keep a copy</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41110EB5-9602-4781-8861-CB9E61C8B117}"/>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This example removes repeated record IDs, not every observation from repeated equipment.</a:t>
            </a:r>
          </a:p>
        </p:txBody>
      </p:sp>
      <p:sp>
        <p:nvSpPr>
          <p:cNvPr id="6" name="">
            <a:extLst xmlns:a="http://schemas.openxmlformats.org/drawingml/2006/main">
              <a:ext uri="{FF2B5EF4-FFF2-40B4-BE49-F238E27FC236}">
                <a16:creationId xmlns:a16="http://schemas.microsoft.com/office/drawing/2014/main" id="{7CE37EDB-6DD7-455A-AA4D-7463B708F7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18</a:t>
            </a:r>
          </a:p>
        </p:txBody>
      </p:sp>
    </p:spTree>
    <p:extLst>
      <p:ext uri="{BB962C8B-B14F-4D97-AF65-F5344CB8AC3E}">
        <p14:creationId xmlns:p14="http://schemas.microsoft.com/office/powerpoint/2010/main" val="11837384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F6EEC-3EA0-4201-8D54-B7B8887CDA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166E6C-0B42-4585-8BF2-90BD3FAFFC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6656AFF-3F87-4464-8D45-6B264DA038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Following a cleaning loop</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seen = set()</a:t>
                      </a:r>
                    </a:p>
                  </a:txBody>
                  <a:tcPr marL="91440" marR="91440" marT="45720" marB="45720">
                    <a:solidFill>
                      <a:srgbClr val="EEF3F6"/>
                    </a:solidFill>
                  </a:tcPr>
                </a:tc>
                <a:tc>
                  <a:txBody>
                    <a:bodyPr/>
                    <a:lstStyle/>
                    <a:p>
                      <a:r>
                        <a:rPr sz="2025" b="0">
                          <a:solidFill>
                            <a:srgbClr val="1C3144"/>
                          </a:solidFill>
                          <a:latin typeface="Calibri"/>
                          <a:ea typeface="Calibri"/>
                          <a:cs typeface="Calibri"/>
                        </a:rPr>
                        <a:t>Start an empty collection of IDs</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record_id in seen</a:t>
                      </a:r>
                    </a:p>
                  </a:txBody>
                  <a:tcPr marL="91440" marR="91440" marT="45720" marB="45720">
                    <a:solidFill>
                      <a:srgbClr val="FFFFFF"/>
                    </a:solidFill>
                  </a:tcPr>
                </a:tc>
                <a:tc>
                  <a:txBody>
                    <a:bodyPr/>
                    <a:lstStyle/>
                    <a:p>
                      <a:r>
                        <a:rPr sz="2025" b="0">
                          <a:solidFill>
                            <a:srgbClr val="1C3144"/>
                          </a:solidFill>
                          <a:latin typeface="Calibri"/>
                          <a:ea typeface="Calibri"/>
                          <a:cs typeface="Calibri"/>
                        </a:rPr>
                        <a:t>Has this ID already been recorded?</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continue</a:t>
                      </a:r>
                    </a:p>
                  </a:txBody>
                  <a:tcPr marL="91440" marR="91440" marT="45720" marB="45720">
                    <a:solidFill>
                      <a:srgbClr val="EEF3F6"/>
                    </a:solidFill>
                  </a:tcPr>
                </a:tc>
                <a:tc>
                  <a:txBody>
                    <a:bodyPr/>
                    <a:lstStyle/>
                    <a:p>
                      <a:r>
                        <a:rPr sz="2025" b="0">
                          <a:solidFill>
                            <a:srgbClr val="1C3144"/>
                          </a:solidFill>
                          <a:latin typeface="Calibri"/>
                          <a:ea typeface="Calibri"/>
                          <a:cs typeface="Calibri"/>
                        </a:rPr>
                        <a:t>Skip the remaining lines for this item</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value is None</a:t>
                      </a:r>
                    </a:p>
                  </a:txBody>
                  <a:tcPr marL="91440" marR="91440" marT="45720" marB="45720">
                    <a:solidFill>
                      <a:srgbClr val="FFFFFF"/>
                    </a:solidFill>
                  </a:tcPr>
                </a:tc>
                <a:tc>
                  <a:txBody>
                    <a:bodyPr/>
                    <a:lstStyle/>
                    <a:p>
                      <a:r>
                        <a:rPr sz="2025" b="0">
                          <a:solidFill>
                            <a:srgbClr val="1C3144"/>
                          </a:solidFill>
                          <a:latin typeface="Calibri"/>
                          <a:ea typeface="Calibri"/>
                          <a:cs typeface="Calibri"/>
                        </a:rPr>
                        <a:t>Check for Python’s no-value marker</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C93330-C0B3-49C6-8273-05D387EDD58B}"/>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string "" and None are different values. Parse CSV fields according to the issued rule.</a:t>
            </a:r>
          </a:p>
        </p:txBody>
      </p:sp>
      <p:sp>
        <p:nvSpPr>
          <p:cNvPr id="6" name="">
            <a:extLst xmlns:a="http://schemas.openxmlformats.org/drawingml/2006/main">
              <a:ext uri="{FF2B5EF4-FFF2-40B4-BE49-F238E27FC236}">
                <a16:creationId xmlns:a16="http://schemas.microsoft.com/office/drawing/2014/main" id="{D440404B-C8D6-47FD-912D-8036241546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19</a:t>
            </a:r>
          </a:p>
        </p:txBody>
      </p:sp>
    </p:spTree>
    <p:extLst>
      <p:ext uri="{BB962C8B-B14F-4D97-AF65-F5344CB8AC3E}">
        <p14:creationId xmlns:p14="http://schemas.microsoft.com/office/powerpoint/2010/main" val="14555241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A2D6CD-615E-49C9-83CD-00E631A365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634470-2BC2-43BF-898F-DBC937509F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2AC948F-A87D-4DF8-8B27-2B32FC7306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Copying records and recognising repeats in Python (1/2)</a:t>
            </a:r>
          </a:p>
        </p:txBody>
      </p:sp>
      <p:sp>
        <p:nvSpPr>
          <p:cNvPr id="4" name="">
            <a:extLst xmlns:a="http://schemas.openxmlformats.org/drawingml/2006/main">
              <a:ext uri="{FF2B5EF4-FFF2-40B4-BE49-F238E27FC236}">
                <a16:creationId xmlns:a16="http://schemas.microsoft.com/office/drawing/2014/main" id="{E8194D8A-65FB-4CCB-91FA-2939203397C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C7A2A1-39E6-430E-85AE-7B2388ED8DA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raw_records = [{"id": 1, "equipment": "A", "value":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{"id": 1, "equipment": "A", "value":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{"id": 2, "equipment": "A", "value": 12}]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 = set()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kept = []</a:t>
            </a:r>
          </a:p>
        </p:txBody>
      </p:sp>
      <p:sp>
        <p:nvSpPr>
          <p:cNvPr id="6" name="">
            <a:extLst xmlns:a="http://schemas.openxmlformats.org/drawingml/2006/main">
              <a:ext uri="{FF2B5EF4-FFF2-40B4-BE49-F238E27FC236}">
                <a16:creationId xmlns:a16="http://schemas.microsoft.com/office/drawing/2014/main" id="{1523D281-0847-4AE8-81AE-BC4C0410B32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Square brackets create a list or select an item.</a:t>
            </a:r>
          </a:p>
        </p:txBody>
      </p:sp>
      <p:sp>
        <p:nvSpPr>
          <p:cNvPr id="7" name="">
            <a:extLst xmlns:a="http://schemas.openxmlformats.org/drawingml/2006/main">
              <a:ext uri="{FF2B5EF4-FFF2-40B4-BE49-F238E27FC236}">
                <a16:creationId xmlns:a16="http://schemas.microsoft.com/office/drawing/2014/main" id="{E8775EE6-A795-47B8-A807-656C0874CBE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7FDDB9A1-62C2-45CB-988E-7A68EF973A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20</a:t>
            </a:r>
          </a:p>
        </p:txBody>
      </p:sp>
    </p:spTree>
    <p:extLst>
      <p:ext uri="{BB962C8B-B14F-4D97-AF65-F5344CB8AC3E}">
        <p14:creationId xmlns:p14="http://schemas.microsoft.com/office/powerpoint/2010/main" val="13178024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5A090B6-7422-43A9-A26D-2BE530F179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A7357F-EAA0-468D-9737-778955CB35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F9158E0-64E1-475A-B8FD-98B167B1DA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Copying records and recognising repeats in Python (2/2)</a:t>
            </a:r>
          </a:p>
        </p:txBody>
      </p:sp>
      <p:sp>
        <p:nvSpPr>
          <p:cNvPr id="4" name="">
            <a:extLst xmlns:a="http://schemas.openxmlformats.org/drawingml/2006/main">
              <a:ext uri="{FF2B5EF4-FFF2-40B4-BE49-F238E27FC236}">
                <a16:creationId xmlns:a16="http://schemas.microsoft.com/office/drawing/2014/main" id="{57BBB100-003A-4358-895C-1C7A03E79D8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EA5511-C196-40BA-9A74-48D1AD8F0A2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raw_records: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row["id"] in 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continue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seen.add(row["id"])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kept.append(dict(row))</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print(len(raw_records), len(kept))</a:t>
            </a:r>
          </a:p>
        </p:txBody>
      </p:sp>
      <p:sp>
        <p:nvSpPr>
          <p:cNvPr id="6" name="">
            <a:extLst xmlns:a="http://schemas.openxmlformats.org/drawingml/2006/main">
              <a:ext uri="{FF2B5EF4-FFF2-40B4-BE49-F238E27FC236}">
                <a16:creationId xmlns:a16="http://schemas.microsoft.com/office/drawing/2014/main" id="{B9DA4CDE-62AA-47D1-A8F7-51BF53329CE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CB2C2CF-584B-46F8-A7DF-D8B759343AE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6A639FBA-2566-4006-8351-03285080D61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43CA6F82-09FD-4E51-93EF-6760BF17258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E0706DCC-A27F-429B-B203-17B276D606F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11" name="">
            <a:extLst xmlns:a="http://schemas.openxmlformats.org/drawingml/2006/main">
              <a:ext uri="{FF2B5EF4-FFF2-40B4-BE49-F238E27FC236}">
                <a16:creationId xmlns:a16="http://schemas.microsoft.com/office/drawing/2014/main" id="{4AA86F7F-76F1-4106-9FAC-FF0A81B055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21</a:t>
            </a:r>
          </a:p>
        </p:txBody>
      </p:sp>
    </p:spTree>
    <p:extLst>
      <p:ext uri="{BB962C8B-B14F-4D97-AF65-F5344CB8AC3E}">
        <p14:creationId xmlns:p14="http://schemas.microsoft.com/office/powerpoint/2010/main" val="15792777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EC2F6A-7FC8-4198-B47D-75CA4E2D34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C9891-6D34-45A2-9240-883C65E2C86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39B4188-0375-484F-8711-E1BDF17A59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returned as a dictionary</a:t>
            </a:r>
          </a:p>
        </p:txBody>
      </p:sp>
      <p:sp>
        <p:nvSpPr>
          <p:cNvPr id="4" name="">
            <a:extLst xmlns:a="http://schemas.openxmlformats.org/drawingml/2006/main">
              <a:ext uri="{FF2B5EF4-FFF2-40B4-BE49-F238E27FC236}">
                <a16:creationId xmlns:a16="http://schemas.microsoft.com/office/drawing/2014/main" id="{16FE1C51-E86C-4E95-BB6C-8450F8894A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24F581A-95AC-40DF-A8E1-7D9C0236D97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example expects a nonempty list.</a:t>
            </a:r>
          </a:p>
        </p:txBody>
      </p:sp>
      <p:sp>
        <p:nvSpPr>
          <p:cNvPr id="6" name="">
            <a:extLst xmlns:a="http://schemas.openxmlformats.org/drawingml/2006/main">
              <a:ext uri="{FF2B5EF4-FFF2-40B4-BE49-F238E27FC236}">
                <a16:creationId xmlns:a16="http://schemas.microsoft.com/office/drawing/2014/main" id="{FC2E1B47-4918-4CAE-86B4-55A0021A402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83DAE57-464E-49F9-AC22-7D9EB915A55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calculates a count and mean, then returns a dictionary with named outputs.</a:t>
            </a:r>
          </a:p>
        </p:txBody>
      </p:sp>
      <p:sp>
        <p:nvSpPr>
          <p:cNvPr id="8" name="">
            <a:extLst xmlns:a="http://schemas.openxmlformats.org/drawingml/2006/main">
              <a:ext uri="{FF2B5EF4-FFF2-40B4-BE49-F238E27FC236}">
                <a16:creationId xmlns:a16="http://schemas.microsoft.com/office/drawing/2014/main" id="{3C4D38C7-0269-4A5B-8954-8181EDA13AC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C1C6153-AB93-497B-83FF-92F7835A6A9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exact keys specified by the issued task when adapting this pattern.</a:t>
            </a:r>
          </a:p>
        </p:txBody>
      </p:sp>
      <p:sp>
        <p:nvSpPr>
          <p:cNvPr id="10" name="">
            <a:extLst xmlns:a="http://schemas.openxmlformats.org/drawingml/2006/main">
              <a:ext uri="{FF2B5EF4-FFF2-40B4-BE49-F238E27FC236}">
                <a16:creationId xmlns:a16="http://schemas.microsoft.com/office/drawing/2014/main" id="{1556605F-31D1-4C6B-9CBB-FB9CA41074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22</a:t>
            </a:r>
          </a:p>
        </p:txBody>
      </p:sp>
    </p:spTree>
    <p:extLst>
      <p:ext uri="{BB962C8B-B14F-4D97-AF65-F5344CB8AC3E}">
        <p14:creationId xmlns:p14="http://schemas.microsoft.com/office/powerpoint/2010/main" val="32943718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A21354-EBDA-4BCB-85BE-71750B849A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43AAED-8FFC-41D3-B761-22E6DA17F7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B70CF9D-C4E8-42A1-8A35-806E35FCAD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returned as a dictionary in Python</a:t>
            </a:r>
          </a:p>
        </p:txBody>
      </p:sp>
      <p:sp>
        <p:nvSpPr>
          <p:cNvPr id="4" name="">
            <a:extLst xmlns:a="http://schemas.openxmlformats.org/drawingml/2006/main">
              <a:ext uri="{FF2B5EF4-FFF2-40B4-BE49-F238E27FC236}">
                <a16:creationId xmlns:a16="http://schemas.microsoft.com/office/drawing/2014/main" id="{3483DF3A-C94C-44FC-AC73-269637CDA62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E567A6-C4E9-468A-8D9D-357E9F0D1F4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39" b="0">
                <a:solidFill>
                  <a:srgbClr val="F4F7FA"/>
                </a:solidFill>
                <a:latin typeface="Courier New"/>
                <a:ea typeface="Courier New"/>
                <a:cs typeface="Courier New"/>
              </a:defRPr>
            </a:pPr>
            <a:r>
              <a:rPr sz="2039" b="0">
                <a:solidFill>
                  <a:srgbClr val="FFB080"/>
                </a:solidFill>
                <a:latin typeface="Courier New"/>
                <a:ea typeface="Courier New"/>
                <a:cs typeface="Courier New"/>
              </a:rPr>
              <a:t>def</a:t>
            </a:r>
            <a:r>
              <a:rPr sz="2039" b="0">
                <a:solidFill>
                  <a:srgbClr val="F4F7FA"/>
                </a:solidFill>
                <a:latin typeface="Courier New"/>
                <a:ea typeface="Courier New"/>
                <a:cs typeface="Courier New"/>
              </a:rPr>
              <a:t> describe(values):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    count = len(values)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    mean = sum(values) / count</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    </a:t>
            </a:r>
            <a:r>
              <a:rPr sz="2039" b="0">
                <a:solidFill>
                  <a:srgbClr val="FFB080"/>
                </a:solidFill>
                <a:latin typeface="Courier New"/>
                <a:ea typeface="Courier New"/>
                <a:cs typeface="Courier New"/>
              </a:rPr>
              <a:t>return</a:t>
            </a:r>
            <a:r>
              <a:rPr sz="2039" b="0">
                <a:solidFill>
                  <a:srgbClr val="F4F7FA"/>
                </a:solidFill>
                <a:latin typeface="Courier New"/>
                <a:ea typeface="Courier New"/>
                <a:cs typeface="Courier New"/>
              </a:rPr>
              <a:t> {"count": count, "mean": mean}</a:t>
            </a:r>
          </a:p>
          <a:p xmlns:a="http://schemas.openxmlformats.org/drawingml/2006/main">
            <a:r>
              <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print(describe([10, 12]))</a:t>
            </a:r>
          </a:p>
        </p:txBody>
      </p:sp>
      <p:sp>
        <p:nvSpPr>
          <p:cNvPr id="6" name="">
            <a:extLst xmlns:a="http://schemas.openxmlformats.org/drawingml/2006/main">
              <a:ext uri="{FF2B5EF4-FFF2-40B4-BE49-F238E27FC236}">
                <a16:creationId xmlns:a16="http://schemas.microsoft.com/office/drawing/2014/main" id="{7A775E50-30B7-4578-9D2B-B48895E4018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0E526D6-A81D-4041-A083-584906A797C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FBE2278A-C026-4F81-9BCA-118E66F0178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0688C5AB-5B4D-4F16-9D0B-863226E6F53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74746F8B-EAB3-448F-81B4-443AEB32CC1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13767001-6575-4B27-997A-947F5F16E3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23</a:t>
            </a:r>
          </a:p>
        </p:txBody>
      </p:sp>
    </p:spTree>
    <p:extLst>
      <p:ext uri="{BB962C8B-B14F-4D97-AF65-F5344CB8AC3E}">
        <p14:creationId xmlns:p14="http://schemas.microsoft.com/office/powerpoint/2010/main" val="150567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D6002B-EA1D-4AEC-806C-D851EC6DBE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A309C0-0EB0-49F4-8016-50DC56708D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8717A7F-859A-4014-83E9-B5BF147BFA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blank field</a:t>
            </a:r>
          </a:p>
        </p:txBody>
      </p:sp>
      <p:sp>
        <p:nvSpPr>
          <p:cNvPr id="4" name="">
            <a:extLst xmlns:a="http://schemas.openxmlformats.org/drawingml/2006/main">
              <a:ext uri="{FF2B5EF4-FFF2-40B4-BE49-F238E27FC236}">
                <a16:creationId xmlns:a16="http://schemas.microsoft.com/office/drawing/2014/main" id="{89C1C615-C926-4554-A1A0-B492A6A03D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54CE5BA-F4C7-442B-BA89-B086AC48C87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 values start as text.</a:t>
            </a:r>
          </a:p>
        </p:txBody>
      </p:sp>
      <p:sp>
        <p:nvSpPr>
          <p:cNvPr id="6" name="">
            <a:extLst xmlns:a="http://schemas.openxmlformats.org/drawingml/2006/main">
              <a:ext uri="{FF2B5EF4-FFF2-40B4-BE49-F238E27FC236}">
                <a16:creationId xmlns:a16="http://schemas.microsoft.com/office/drawing/2014/main" id="{18962753-8037-4086-B8FC-D9FAB15E381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0FD8503-1CDA-4B8D-82B4-79B55EEC4F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if/else below stores None for a blank.</a:t>
            </a:r>
          </a:p>
        </p:txBody>
      </p:sp>
      <p:sp>
        <p:nvSpPr>
          <p:cNvPr id="8" name="">
            <a:extLst xmlns:a="http://schemas.openxmlformats.org/drawingml/2006/main">
              <a:ext uri="{FF2B5EF4-FFF2-40B4-BE49-F238E27FC236}">
                <a16:creationId xmlns:a16="http://schemas.microsoft.com/office/drawing/2014/main" id="{0CF1D4D4-C551-4538-879A-BB116F3FB26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F270B7A-3298-4E4A-8A96-9C23E80E1AD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Otherwise float converts the text into a number.</a:t>
            </a:r>
          </a:p>
        </p:txBody>
      </p:sp>
      <p:sp>
        <p:nvSpPr>
          <p:cNvPr id="10" name="">
            <a:extLst xmlns:a="http://schemas.openxmlformats.org/drawingml/2006/main">
              <a:ext uri="{FF2B5EF4-FFF2-40B4-BE49-F238E27FC236}">
                <a16:creationId xmlns:a16="http://schemas.microsoft.com/office/drawing/2014/main" id="{F40073CF-8AC5-41CB-B7CC-9E7D13E8E3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24</a:t>
            </a:r>
          </a:p>
        </p:txBody>
      </p:sp>
    </p:spTree>
    <p:extLst>
      <p:ext uri="{BB962C8B-B14F-4D97-AF65-F5344CB8AC3E}">
        <p14:creationId xmlns:p14="http://schemas.microsoft.com/office/powerpoint/2010/main" val="13385069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D03765-F136-4818-B3ED-0EDA7B7705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86837B-9257-400A-9D7C-27054328D0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14BD332-DC69-4C67-A875-070F01A96A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blank field in Python</a:t>
            </a:r>
          </a:p>
        </p:txBody>
      </p:sp>
      <p:sp>
        <p:nvSpPr>
          <p:cNvPr id="4" name="">
            <a:extLst xmlns:a="http://schemas.openxmlformats.org/drawingml/2006/main">
              <a:ext uri="{FF2B5EF4-FFF2-40B4-BE49-F238E27FC236}">
                <a16:creationId xmlns:a16="http://schemas.microsoft.com/office/drawing/2014/main" id="{7F7F3B37-4676-4287-83D4-24C27AEE966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EF307C-820A-4F08-B2F9-71D20085994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text_values = ["20", "", "24"]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parsed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text in text_values: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text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parsed.append(</a:t>
            </a:r>
            <a:r>
              <a:rPr sz="2175" b="0">
                <a:solidFill>
                  <a:srgbClr val="FFB080"/>
                </a:solidFill>
                <a:latin typeface="Courier New"/>
                <a:ea typeface="Courier New"/>
                <a:cs typeface="Courier New"/>
              </a:rPr>
              <a:t>None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parsed.append(float(text))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print(parsed)</a:t>
            </a:r>
          </a:p>
        </p:txBody>
      </p:sp>
      <p:sp>
        <p:nvSpPr>
          <p:cNvPr id="6" name="">
            <a:extLst xmlns:a="http://schemas.openxmlformats.org/drawingml/2006/main">
              <a:ext uri="{FF2B5EF4-FFF2-40B4-BE49-F238E27FC236}">
                <a16:creationId xmlns:a16="http://schemas.microsoft.com/office/drawing/2014/main" id="{3679A7D7-71AC-40D8-A282-9667C343A48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2D979E2-6DC4-4A14-B70A-E1CA89E2E67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10A07790-74B4-469F-BF36-B2C1C81F328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06A8EA7F-330E-4698-A6A3-0A68ABC12383}"/>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10" name="">
            <a:extLst xmlns:a="http://schemas.openxmlformats.org/drawingml/2006/main">
              <a:ext uri="{FF2B5EF4-FFF2-40B4-BE49-F238E27FC236}">
                <a16:creationId xmlns:a16="http://schemas.microsoft.com/office/drawing/2014/main" id="{C1F0E857-C309-4733-BC58-39AF6F95F4E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E83A2616-6B7F-448B-AC98-9D8D216651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25</a:t>
            </a:r>
          </a:p>
        </p:txBody>
      </p:sp>
    </p:spTree>
    <p:extLst>
      <p:ext uri="{BB962C8B-B14F-4D97-AF65-F5344CB8AC3E}">
        <p14:creationId xmlns:p14="http://schemas.microsoft.com/office/powerpoint/2010/main" val="208802544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3C9FE0-B2F6-4CA8-A6CF-9234B4B97A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F20E9C-ACBF-4D97-81CA-2DBBF9D301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58D373C-95D2-429F-8DAD-8DD7CDB1A3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Audit</a:t>
            </a:r>
          </a:p>
        </p:txBody>
      </p:sp>
      <p:sp>
        <p:nvSpPr>
          <p:cNvPr id="4" name="">
            <a:extLst xmlns:a="http://schemas.openxmlformats.org/drawingml/2006/main">
              <a:ext uri="{FF2B5EF4-FFF2-40B4-BE49-F238E27FC236}">
                <a16:creationId xmlns:a16="http://schemas.microsoft.com/office/drawing/2014/main" id="{2295B745-28A5-4072-BE26-FCFEF712F224}"/>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547290-8DCD-44AF-86B7-B25E5CEBF96B}"/>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Audit</a:t>
            </a:r>
          </a:p>
        </p:txBody>
      </p:sp>
      <p:sp>
        <p:nvSpPr>
          <p:cNvPr id="6" name="">
            <a:extLst xmlns:a="http://schemas.openxmlformats.org/drawingml/2006/main">
              <a:ext uri="{FF2B5EF4-FFF2-40B4-BE49-F238E27FC236}">
                <a16:creationId xmlns:a16="http://schemas.microsoft.com/office/drawing/2014/main" id="{EEACFE3D-CCCC-431C-A478-49E4E476FB38}"/>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count and explanation of what changed, why it changed and how many records remain.</a:t>
            </a:r>
          </a:p>
        </p:txBody>
      </p:sp>
      <p:sp>
        <p:nvSpPr>
          <p:cNvPr id="7" name="">
            <a:extLst xmlns:a="http://schemas.openxmlformats.org/drawingml/2006/main">
              <a:ext uri="{FF2B5EF4-FFF2-40B4-BE49-F238E27FC236}">
                <a16:creationId xmlns:a16="http://schemas.microsoft.com/office/drawing/2014/main" id="{30644133-D59A-4A14-8AA3-C67CCC4037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26</a:t>
            </a:r>
          </a:p>
        </p:txBody>
      </p:sp>
    </p:spTree>
    <p:extLst>
      <p:ext uri="{BB962C8B-B14F-4D97-AF65-F5344CB8AC3E}">
        <p14:creationId xmlns:p14="http://schemas.microsoft.com/office/powerpoint/2010/main" val="17824995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E148B3-4BA6-4620-AF02-DBC1BC1F26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9A8E0E-E1DE-4DEB-B424-F97417A898C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DA87699-5952-495B-8425-315AA75E0E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Every cleaning change needs a record</a:t>
            </a:r>
          </a:p>
        </p:txBody>
      </p:sp>
      <p:sp>
        <p:nvSpPr>
          <p:cNvPr id="4" name="">
            <a:extLst xmlns:a="http://schemas.openxmlformats.org/drawingml/2006/main">
              <a:ext uri="{FF2B5EF4-FFF2-40B4-BE49-F238E27FC236}">
                <a16:creationId xmlns:a16="http://schemas.microsoft.com/office/drawing/2014/main" id="{2CAF1FDD-AD08-473C-8632-9A47B555554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EC98DF9-849B-4A81-B16D-B098E4C0353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duplicate record ID suggests a repeated observation.</a:t>
            </a:r>
          </a:p>
        </p:txBody>
      </p:sp>
      <p:sp>
        <p:nvSpPr>
          <p:cNvPr id="6" name="">
            <a:extLst xmlns:a="http://schemas.openxmlformats.org/drawingml/2006/main">
              <a:ext uri="{FF2B5EF4-FFF2-40B4-BE49-F238E27FC236}">
                <a16:creationId xmlns:a16="http://schemas.microsoft.com/office/drawing/2014/main" id="{83440143-876F-4A90-8BA4-B1712EFBEB5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B6C483-4F8E-4A3C-ADAE-391647F2473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Two different observations from the same equipment can both be valid.</a:t>
            </a:r>
          </a:p>
        </p:txBody>
      </p:sp>
      <p:sp>
        <p:nvSpPr>
          <p:cNvPr id="8" name="">
            <a:extLst xmlns:a="http://schemas.openxmlformats.org/drawingml/2006/main">
              <a:ext uri="{FF2B5EF4-FFF2-40B4-BE49-F238E27FC236}">
                <a16:creationId xmlns:a16="http://schemas.microsoft.com/office/drawing/2014/main" id="{9C7AC9B4-8A63-4AF7-AC46-80DEA7B5754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8E418BE-3776-4D9C-990B-79C82F3056C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the evidence, action, number of affected rows and limitation.</a:t>
            </a:r>
          </a:p>
        </p:txBody>
      </p:sp>
      <p:sp>
        <p:nvSpPr>
          <p:cNvPr id="10" name="">
            <a:extLst xmlns:a="http://schemas.openxmlformats.org/drawingml/2006/main">
              <a:ext uri="{FF2B5EF4-FFF2-40B4-BE49-F238E27FC236}">
                <a16:creationId xmlns:a16="http://schemas.microsoft.com/office/drawing/2014/main" id="{221F6D6B-D2D7-4E20-8448-2762572459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27</a:t>
            </a:r>
          </a:p>
        </p:txBody>
      </p:sp>
    </p:spTree>
    <p:extLst>
      <p:ext uri="{BB962C8B-B14F-4D97-AF65-F5344CB8AC3E}">
        <p14:creationId xmlns:p14="http://schemas.microsoft.com/office/powerpoint/2010/main" val="50961307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F36F75-2AB1-4D0C-9D71-6D26B8FB10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23F169-BDC2-41CF-B5B7-1A27348258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5EF0FDE-8C8C-4D65-8611-2DB6520B20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 axes</a:t>
            </a:r>
          </a:p>
        </p:txBody>
      </p:sp>
      <p:sp>
        <p:nvSpPr>
          <p:cNvPr id="4" name="">
            <a:extLst xmlns:a="http://schemas.openxmlformats.org/drawingml/2006/main">
              <a:ext uri="{FF2B5EF4-FFF2-40B4-BE49-F238E27FC236}">
                <a16:creationId xmlns:a16="http://schemas.microsoft.com/office/drawing/2014/main" id="{C60401CB-CAB4-4DFE-93B5-B5D194FF6BC4}"/>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6E83E7-5F13-4E64-8E08-93B2C07CD85B}"/>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Chart axes</a:t>
            </a:r>
          </a:p>
        </p:txBody>
      </p:sp>
      <p:sp>
        <p:nvSpPr>
          <p:cNvPr id="6" name="">
            <a:extLst xmlns:a="http://schemas.openxmlformats.org/drawingml/2006/main">
              <a:ext uri="{FF2B5EF4-FFF2-40B4-BE49-F238E27FC236}">
                <a16:creationId xmlns:a16="http://schemas.microsoft.com/office/drawing/2014/main" id="{12FED71B-645D-420F-8CC7-F0677587F00D}"/>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chart maps values to positions. Read the horizontal variable, vertical variable and their units before interpreting a pattern.</a:t>
            </a:r>
          </a:p>
        </p:txBody>
      </p:sp>
      <p:sp>
        <p:nvSpPr>
          <p:cNvPr id="7" name="">
            <a:extLst xmlns:a="http://schemas.openxmlformats.org/drawingml/2006/main">
              <a:ext uri="{FF2B5EF4-FFF2-40B4-BE49-F238E27FC236}">
                <a16:creationId xmlns:a16="http://schemas.microsoft.com/office/drawing/2014/main" id="{F28278A2-887B-448F-AF2B-F530306287D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28</a:t>
            </a:r>
          </a:p>
        </p:txBody>
      </p:sp>
    </p:spTree>
    <p:extLst>
      <p:ext uri="{BB962C8B-B14F-4D97-AF65-F5344CB8AC3E}">
        <p14:creationId xmlns:p14="http://schemas.microsoft.com/office/powerpoint/2010/main" val="7417033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0F0545-1B49-4BFD-AE42-0FC3EAF193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0324B2-D400-4F37-8FD0-B1D9E2EC2D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B78876D-D9FD-45DF-B258-8F101B7EC6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scatter plot pairs two measurements</a:t>
            </a:r>
          </a:p>
        </p:txBody>
      </p:sp>
      <p:sp>
        <p:nvSpPr>
          <p:cNvPr id="4" name="">
            <a:extLst xmlns:a="http://schemas.openxmlformats.org/drawingml/2006/main">
              <a:ext uri="{FF2B5EF4-FFF2-40B4-BE49-F238E27FC236}">
                <a16:creationId xmlns:a16="http://schemas.microsoft.com/office/drawing/2014/main" id="{AF9B00D5-6181-4D51-B5E3-52E2CECE9A0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E57FE0B-A1E0-4F07-B359-9B6330D6A90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horizontal axis gives the input value.</a:t>
            </a:r>
          </a:p>
        </p:txBody>
      </p:sp>
      <p:sp>
        <p:nvSpPr>
          <p:cNvPr id="6" name="">
            <a:extLst xmlns:a="http://schemas.openxmlformats.org/drawingml/2006/main">
              <a:ext uri="{FF2B5EF4-FFF2-40B4-BE49-F238E27FC236}">
                <a16:creationId xmlns:a16="http://schemas.microsoft.com/office/drawing/2014/main" id="{32BE8159-CA54-40A2-9F5C-7186CB7304E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AE4EA52-14C9-4758-92FB-8D8447C9AD5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vertical axis gives the corresponding reading.</a:t>
            </a:r>
          </a:p>
        </p:txBody>
      </p:sp>
      <p:sp>
        <p:nvSpPr>
          <p:cNvPr id="8" name="">
            <a:extLst xmlns:a="http://schemas.openxmlformats.org/drawingml/2006/main">
              <a:ext uri="{FF2B5EF4-FFF2-40B4-BE49-F238E27FC236}">
                <a16:creationId xmlns:a16="http://schemas.microsoft.com/office/drawing/2014/main" id="{5F43F580-AFE5-4DF0-9322-7ACA7A4E6C0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3AA32A3-4AEF-45C0-8528-68B9402596B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One point represents one observation. A pattern alone does not prove causation.</a:t>
            </a:r>
          </a:p>
        </p:txBody>
      </p:sp>
      <p:sp>
        <p:nvSpPr>
          <p:cNvPr id="10" name="">
            <a:extLst xmlns:a="http://schemas.openxmlformats.org/drawingml/2006/main">
              <a:ext uri="{FF2B5EF4-FFF2-40B4-BE49-F238E27FC236}">
                <a16:creationId xmlns:a16="http://schemas.microsoft.com/office/drawing/2014/main" id="{48552A3C-2933-49D3-95AA-9511C3209A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29</a:t>
            </a:r>
          </a:p>
        </p:txBody>
      </p:sp>
    </p:spTree>
    <p:extLst>
      <p:ext uri="{BB962C8B-B14F-4D97-AF65-F5344CB8AC3E}">
        <p14:creationId xmlns:p14="http://schemas.microsoft.com/office/powerpoint/2010/main" val="160618466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2F972A-A168-450F-836F-DBD86E44D3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286C3D-2A93-4F68-A6BD-0A07601EED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5839BFD-2DBE-4A1B-935C-4D84F77492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a chart after naming the question</a:t>
            </a:r>
          </a:p>
        </p:txBody>
      </p:sp>
      <p:sp>
        <p:nvSpPr>
          <p:cNvPr id="4" name="">
            <a:extLst xmlns:a="http://schemas.openxmlformats.org/drawingml/2006/main">
              <a:ext uri="{FF2B5EF4-FFF2-40B4-BE49-F238E27FC236}">
                <a16:creationId xmlns:a16="http://schemas.microsoft.com/office/drawing/2014/main" id="{4ED93125-7A2A-444B-B823-58B3A4C9E373}"/>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2FFA85-23DB-47E2-B62A-F8051979F7B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Scatter and bar</a:t>
            </a:r>
          </a:p>
        </p:txBody>
      </p:sp>
      <p:sp>
        <p:nvSpPr>
          <p:cNvPr id="6" name="">
            <a:extLst xmlns:a="http://schemas.openxmlformats.org/drawingml/2006/main">
              <a:ext uri="{FF2B5EF4-FFF2-40B4-BE49-F238E27FC236}">
                <a16:creationId xmlns:a16="http://schemas.microsoft.com/office/drawing/2014/main" id="{18743E1F-6FF8-4632-960F-FABA60E284B5}"/>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scatter plot places one point for each paired measurement. A bar chart compares values across named groups. Label both axes and their units.</a:t>
            </a:r>
          </a:p>
        </p:txBody>
      </p:sp>
      <p:sp>
        <p:nvSpPr>
          <p:cNvPr id="7" name="">
            <a:extLst xmlns:a="http://schemas.openxmlformats.org/drawingml/2006/main">
              <a:ext uri="{FF2B5EF4-FFF2-40B4-BE49-F238E27FC236}">
                <a16:creationId xmlns:a16="http://schemas.microsoft.com/office/drawing/2014/main" id="{9D486DF7-7716-4395-8882-0C92F6039AB5}"/>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C1BBCBD-2DA0-4E46-B63E-B0307DCDA81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Histogram and bins</a:t>
            </a:r>
          </a:p>
        </p:txBody>
      </p:sp>
      <p:sp>
        <p:nvSpPr>
          <p:cNvPr id="9" name="">
            <a:extLst xmlns:a="http://schemas.openxmlformats.org/drawingml/2006/main">
              <a:ext uri="{FF2B5EF4-FFF2-40B4-BE49-F238E27FC236}">
                <a16:creationId xmlns:a16="http://schemas.microsoft.com/office/drawing/2014/main" id="{6144E3AC-2DAE-4035-BFAF-74A08B999D8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histogram counts observations in numerical intervals called bins. The horizontal axis is the measurement; the vertical axis is a count. Bin edges affect its appearance.</a:t>
            </a:r>
          </a:p>
        </p:txBody>
      </p:sp>
      <p:sp>
        <p:nvSpPr>
          <p:cNvPr id="10" name="">
            <a:extLst xmlns:a="http://schemas.openxmlformats.org/drawingml/2006/main">
              <a:ext uri="{FF2B5EF4-FFF2-40B4-BE49-F238E27FC236}">
                <a16:creationId xmlns:a16="http://schemas.microsoft.com/office/drawing/2014/main" id="{7435B1BD-22D1-4357-BC43-3DB253E483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30</a:t>
            </a:r>
          </a:p>
        </p:txBody>
      </p:sp>
    </p:spTree>
    <p:extLst>
      <p:ext uri="{BB962C8B-B14F-4D97-AF65-F5344CB8AC3E}">
        <p14:creationId xmlns:p14="http://schemas.microsoft.com/office/powerpoint/2010/main" val="209883522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7523A0-7E9B-403C-96A6-B9F8F9BF5E2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E000F0-02A4-43DF-952E-5A1BDD3E4D1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Choosing a chart for the question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ceebaed2ccf4261"/>
          <a:stretch xmlns:a="http://schemas.openxmlformats.org/drawingml/2006/main"/>
        </p:blipFill>
        <p:spPr>
          <a:xfrm xmlns:a="http://schemas.openxmlformats.org/drawingml/2006/main">
            <a:off x="1125175" y="1057275"/>
            <a:ext cx="994164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B33202-1878-4578-8143-B2862774F181}"/>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B087EB-CBF7-4E9A-AED6-896FBE26EF00}"/>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week uses histograms, scatter plots and bar charts. The other chart types are reference examples.</a:t>
            </a:r>
          </a:p>
        </p:txBody>
      </p:sp>
      <p:sp>
        <p:nvSpPr>
          <p:cNvPr id="6" name="">
            <a:extLst xmlns:a="http://schemas.openxmlformats.org/drawingml/2006/main">
              <a:ext uri="{FF2B5EF4-FFF2-40B4-BE49-F238E27FC236}">
                <a16:creationId xmlns:a16="http://schemas.microsoft.com/office/drawing/2014/main" id="{692F9C65-C1EF-45C2-A6A7-F2411C1058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31</a:t>
            </a:r>
          </a:p>
        </p:txBody>
      </p:sp>
    </p:spTree>
    <p:extLst>
      <p:ext uri="{BB962C8B-B14F-4D97-AF65-F5344CB8AC3E}">
        <p14:creationId xmlns:p14="http://schemas.microsoft.com/office/powerpoint/2010/main" val="4451436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EEFBC8-1F3A-44BE-AC46-EB7727B6E97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0936A3-C266-47B0-A8CE-BA7292FC4E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9B4A410-183E-4AB1-B95E-E29084B55E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chart with labelled axes</a:t>
            </a:r>
          </a:p>
        </p:txBody>
      </p:sp>
      <p:sp>
        <p:nvSpPr>
          <p:cNvPr id="4" name="">
            <a:extLst xmlns:a="http://schemas.openxmlformats.org/drawingml/2006/main">
              <a:ext uri="{FF2B5EF4-FFF2-40B4-BE49-F238E27FC236}">
                <a16:creationId xmlns:a16="http://schemas.microsoft.com/office/drawing/2014/main" id="{679292FB-BD2F-4F1C-8FAB-82457AD8372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97C1010-FF94-44A0-B3BC-1CA0325A320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matplotlib is a plotting library. plt is the short name we give its pyplot module.</a:t>
            </a:r>
          </a:p>
        </p:txBody>
      </p:sp>
      <p:sp>
        <p:nvSpPr>
          <p:cNvPr id="6" name="">
            <a:extLst xmlns:a="http://schemas.openxmlformats.org/drawingml/2006/main">
              <a:ext uri="{FF2B5EF4-FFF2-40B4-BE49-F238E27FC236}">
                <a16:creationId xmlns:a16="http://schemas.microsoft.com/office/drawing/2014/main" id="{55AF3AD8-C11B-4F06-8BF8-544CFF31A2B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F43B9D8-C66B-4F64-824C-BAE9EDBBAA8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fig, ax = plt.subplots() returns two objects: fig is the whole figure; ax is its plotting area. scatter places the paired measurements as points.</a:t>
            </a:r>
          </a:p>
        </p:txBody>
      </p:sp>
      <p:sp>
        <p:nvSpPr>
          <p:cNvPr id="8" name="">
            <a:extLst xmlns:a="http://schemas.openxmlformats.org/drawingml/2006/main">
              <a:ext uri="{FF2B5EF4-FFF2-40B4-BE49-F238E27FC236}">
                <a16:creationId xmlns:a16="http://schemas.microsoft.com/office/drawing/2014/main" id="{AA5DC00B-211C-4B18-8340-DF3269FB3E5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9C80E69-79C8-4122-9D0B-4B1D284C422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ax.set_xlabel(...) labels the horizontal axis. set_ylabel labels the vertical axis. Keep fig when the task asks you to return a Figure object.</a:t>
            </a:r>
          </a:p>
        </p:txBody>
      </p:sp>
      <p:sp>
        <p:nvSpPr>
          <p:cNvPr id="10" name="">
            <a:extLst xmlns:a="http://schemas.openxmlformats.org/drawingml/2006/main">
              <a:ext uri="{FF2B5EF4-FFF2-40B4-BE49-F238E27FC236}">
                <a16:creationId xmlns:a16="http://schemas.microsoft.com/office/drawing/2014/main" id="{5AA28CD5-0FAA-4DAD-92E8-6F257F5621B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32</a:t>
            </a:r>
          </a:p>
        </p:txBody>
      </p:sp>
    </p:spTree>
    <p:extLst>
      <p:ext uri="{BB962C8B-B14F-4D97-AF65-F5344CB8AC3E}">
        <p14:creationId xmlns:p14="http://schemas.microsoft.com/office/powerpoint/2010/main" val="3813872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5590FE-4EBF-4096-BFCB-372B6DFA38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20D24E-32B8-4AC1-9675-DD2824BE94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2D493FC-D568-4CE0-AE08-25524FBB55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chart with labelled axes in Python</a:t>
            </a:r>
          </a:p>
        </p:txBody>
      </p:sp>
      <p:sp>
        <p:nvSpPr>
          <p:cNvPr id="4" name="">
            <a:extLst xmlns:a="http://schemas.openxmlformats.org/drawingml/2006/main">
              <a:ext uri="{FF2B5EF4-FFF2-40B4-BE49-F238E27FC236}">
                <a16:creationId xmlns:a16="http://schemas.microsoft.com/office/drawing/2014/main" id="{CEC6C104-2008-44A9-8F77-B9386CE64FA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B11D7C-B9D3-4381-9224-B1F69ADFAE5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0" b="0">
                <a:solidFill>
                  <a:srgbClr val="F4F7FA"/>
                </a:solidFill>
                <a:latin typeface="Courier New"/>
                <a:ea typeface="Courier New"/>
                <a:cs typeface="Courier New"/>
              </a:defRPr>
            </a:pPr>
            <a:r>
              <a:rPr sz="1990" b="0">
                <a:solidFill>
                  <a:srgbClr val="FFB080"/>
                </a:solidFill>
                <a:latin typeface="Courier New"/>
                <a:ea typeface="Courier New"/>
                <a:cs typeface="Courier New"/>
              </a:rPr>
              <a:t>import</a:t>
            </a:r>
            <a:r>
              <a:rPr sz="1990" b="0">
                <a:solidFill>
                  <a:srgbClr val="F4F7FA"/>
                </a:solidFill>
                <a:latin typeface="Courier New"/>
                <a:ea typeface="Courier New"/>
                <a:cs typeface="Courier New"/>
              </a:rPr>
              <a:t> matplotlib.pyplot as plt</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inputs = [1, 2, 3, 4]</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[12, 14, 13, 18]</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fig, ax = plt.subplots()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ax.scatter(inputs, readings)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ax.set_xlabel("Input (teaching units)")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ax.set_ylabel("Reading (teaching units)")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ax.set_title("Four invented observations")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17B8315E-1E8E-45CB-8C88-6F16A08DFC6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D280EFE-65AA-4BDC-B5F3-AABBDB44F50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import loads a library. from selects a tool from it.</a:t>
            </a:r>
          </a:p>
        </p:txBody>
      </p:sp>
      <p:sp>
        <p:nvSpPr>
          <p:cNvPr id="8" name="">
            <a:extLst xmlns:a="http://schemas.openxmlformats.org/drawingml/2006/main">
              <a:ext uri="{FF2B5EF4-FFF2-40B4-BE49-F238E27FC236}">
                <a16:creationId xmlns:a16="http://schemas.microsoft.com/office/drawing/2014/main" id="{C28E6789-3C41-4865-89FC-86D5F392AA7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89063CEA-3832-4B78-8C9C-D868D21D0FDC}"/>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5E98CA2C-B527-4EAA-BD63-625B10C910C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D105DB9E-E464-406E-92C1-3D5506A5A9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33</a:t>
            </a:r>
          </a:p>
        </p:txBody>
      </p:sp>
    </p:spTree>
    <p:extLst>
      <p:ext uri="{BB962C8B-B14F-4D97-AF65-F5344CB8AC3E}">
        <p14:creationId xmlns:p14="http://schemas.microsoft.com/office/powerpoint/2010/main" val="92800621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D5CC77-50F5-4A22-BFE5-F0156AD942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F99F2D-1958-4FE0-BD7A-85389E885B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4B99A48-5AB8-4D54-9CA3-64A56CC102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bar chart and a histogram count different things</a:t>
            </a:r>
          </a:p>
        </p:txBody>
      </p:sp>
      <p:sp>
        <p:nvSpPr>
          <p:cNvPr id="4" name="">
            <a:extLst xmlns:a="http://schemas.openxmlformats.org/drawingml/2006/main">
              <a:ext uri="{FF2B5EF4-FFF2-40B4-BE49-F238E27FC236}">
                <a16:creationId xmlns:a16="http://schemas.microsoft.com/office/drawing/2014/main" id="{C6E2D6B8-B76C-4CB0-BA9E-F4B248C04F6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82A7AB-64FC-416B-BFAF-FB2E13EBB8E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bar chart has named groups. bar(["A", "B"], [13, 16]) makes one bar for each supplied group value.</a:t>
            </a:r>
          </a:p>
        </p:txBody>
      </p:sp>
      <p:sp>
        <p:nvSpPr>
          <p:cNvPr id="6" name="">
            <a:extLst xmlns:a="http://schemas.openxmlformats.org/drawingml/2006/main">
              <a:ext uri="{FF2B5EF4-FFF2-40B4-BE49-F238E27FC236}">
                <a16:creationId xmlns:a16="http://schemas.microsoft.com/office/drawing/2014/main" id="{2BDAFA88-AE50-4315-B6D1-C24CA6D88F5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99BD7D3-2631-481A-BD37-C0163835647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histogram divides a numeric range into intervals called bins. hist(readings, bins=2) counts readings in two intervals.</a:t>
            </a:r>
          </a:p>
        </p:txBody>
      </p:sp>
      <p:sp>
        <p:nvSpPr>
          <p:cNvPr id="8" name="">
            <a:extLst xmlns:a="http://schemas.openxmlformats.org/drawingml/2006/main">
              <a:ext uri="{FF2B5EF4-FFF2-40B4-BE49-F238E27FC236}">
                <a16:creationId xmlns:a16="http://schemas.microsoft.com/office/drawing/2014/main" id="{786BEFA3-438D-4F1D-8C53-A33951425EC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22F552F-006E-45FE-8E44-6C558146A62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[12, 14, 13, 18], the intervals run from 12 to 15 and 15 to 18. Counts are 3 and 1; the final interval includes the last endpoint.</a:t>
            </a:r>
          </a:p>
        </p:txBody>
      </p:sp>
      <p:sp>
        <p:nvSpPr>
          <p:cNvPr id="10" name="">
            <a:extLst xmlns:a="http://schemas.openxmlformats.org/drawingml/2006/main">
              <a:ext uri="{FF2B5EF4-FFF2-40B4-BE49-F238E27FC236}">
                <a16:creationId xmlns:a16="http://schemas.microsoft.com/office/drawing/2014/main" id="{96E03CCB-8E93-4ACC-8284-243BA5599B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34</a:t>
            </a:r>
          </a:p>
        </p:txBody>
      </p:sp>
    </p:spTree>
    <p:extLst>
      <p:ext uri="{BB962C8B-B14F-4D97-AF65-F5344CB8AC3E}">
        <p14:creationId xmlns:p14="http://schemas.microsoft.com/office/powerpoint/2010/main" val="51520682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7C428A-6D94-4077-925C-FA4FBDB3DE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187528-8B43-402F-A252-8742B51321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38BC24D-8ACA-4565-8900-F5D714E0AB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Comparing groups and a distribution</a:t>
            </a:r>
          </a:p>
        </p:txBody>
      </p:sp>
      <p:sp>
        <p:nvSpPr>
          <p:cNvPr id="4" name="">
            <a:extLst xmlns:a="http://schemas.openxmlformats.org/drawingml/2006/main">
              <a:ext uri="{FF2B5EF4-FFF2-40B4-BE49-F238E27FC236}">
                <a16:creationId xmlns:a16="http://schemas.microsoft.com/office/drawing/2014/main" id="{3E4C951B-A33C-47F0-B796-1FD4FC7477E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7606381-38E4-4860-9678-D5505750771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bar compares one value for each named group. hist counts observations in value intervals called bins.</a:t>
            </a:r>
          </a:p>
        </p:txBody>
      </p:sp>
      <p:sp>
        <p:nvSpPr>
          <p:cNvPr id="6" name="">
            <a:extLst xmlns:a="http://schemas.openxmlformats.org/drawingml/2006/main">
              <a:ext uri="{FF2B5EF4-FFF2-40B4-BE49-F238E27FC236}">
                <a16:creationId xmlns:a16="http://schemas.microsoft.com/office/drawing/2014/main" id="{1F064D5E-E892-4E4B-9A45-564A94818B2F}"/>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81738B-3B8D-4688-8867-0FCA61A9F872}"/>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the bar labels and both axes.</a:t>
            </a:r>
          </a:p>
        </p:txBody>
      </p:sp>
      <p:sp>
        <p:nvSpPr>
          <p:cNvPr id="8" name="">
            <a:extLst xmlns:a="http://schemas.openxmlformats.org/drawingml/2006/main">
              <a:ext uri="{FF2B5EF4-FFF2-40B4-BE49-F238E27FC236}">
                <a16:creationId xmlns:a16="http://schemas.microsoft.com/office/drawing/2014/main" id="{96D22B82-EBBF-4130-B34C-673C28108DCA}"/>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CB9A5DF-7855-4484-B1A6-43ADFED89ACF}"/>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practice uses two bins; follow the exact bin rule in the test brief.</a:t>
            </a:r>
          </a:p>
        </p:txBody>
      </p:sp>
      <p:sp>
        <p:nvSpPr>
          <p:cNvPr id="10" name="">
            <a:extLst xmlns:a="http://schemas.openxmlformats.org/drawingml/2006/main">
              <a:ext uri="{FF2B5EF4-FFF2-40B4-BE49-F238E27FC236}">
                <a16:creationId xmlns:a16="http://schemas.microsoft.com/office/drawing/2014/main" id="{256B5C99-225E-4D3B-A8F6-CA26FFC6CD2F}"/>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023872D-FB52-4A9D-B2D0-57445E366435}"/>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and keep the Figure objects when a task asks for them.</a:t>
            </a:r>
          </a:p>
        </p:txBody>
      </p:sp>
      <p:sp>
        <p:nvSpPr>
          <p:cNvPr id="12" name="">
            <a:extLst xmlns:a="http://schemas.openxmlformats.org/drawingml/2006/main">
              <a:ext uri="{FF2B5EF4-FFF2-40B4-BE49-F238E27FC236}">
                <a16:creationId xmlns:a16="http://schemas.microsoft.com/office/drawing/2014/main" id="{D3A523D3-264F-449E-B5AA-D5EE7F38B4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35</a:t>
            </a:r>
          </a:p>
        </p:txBody>
      </p:sp>
    </p:spTree>
    <p:extLst>
      <p:ext uri="{BB962C8B-B14F-4D97-AF65-F5344CB8AC3E}">
        <p14:creationId xmlns:p14="http://schemas.microsoft.com/office/powerpoint/2010/main" val="139157595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AF8C32-4AED-4FBF-9153-6DF9773B30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B1B9A5-19D6-4BAE-9564-AABFC16A51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7A391A9-21BF-485D-A304-40060CB177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Comparing groups and a distribution in Python (1/2)</a:t>
            </a:r>
          </a:p>
        </p:txBody>
      </p:sp>
      <p:sp>
        <p:nvSpPr>
          <p:cNvPr id="4" name="">
            <a:extLst xmlns:a="http://schemas.openxmlformats.org/drawingml/2006/main">
              <a:ext uri="{FF2B5EF4-FFF2-40B4-BE49-F238E27FC236}">
                <a16:creationId xmlns:a16="http://schemas.microsoft.com/office/drawing/2014/main" id="{E852DDE7-CA3F-44D0-A9C1-91CB45665F9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A7616F-4304-48F2-89A7-4DB9E860A97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bar_fig, bar_ax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bar_ax.bar(["A", "B"], [13, 16])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bar_ax.set_xlabel("Group")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bar_ax.set_ylabel("Mean reading (teaching units)")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bar_ax.set_title("Two invented group means")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hist_fig, hist_ax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hist_ax.hist(readings, bins=2)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hist_ax.set_xlabel("Reading (teaching units)")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hist_ax.set_ylabel("Count of observations")</a:t>
            </a:r>
          </a:p>
        </p:txBody>
      </p:sp>
      <p:sp>
        <p:nvSpPr>
          <p:cNvPr id="6" name="">
            <a:extLst xmlns:a="http://schemas.openxmlformats.org/drawingml/2006/main">
              <a:ext uri="{FF2B5EF4-FFF2-40B4-BE49-F238E27FC236}">
                <a16:creationId xmlns:a16="http://schemas.microsoft.com/office/drawing/2014/main" id="{013274E8-A6C1-4EDA-9896-C32B4A11957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Square brackets create a list or select an item.</a:t>
            </a:r>
          </a:p>
        </p:txBody>
      </p:sp>
      <p:sp>
        <p:nvSpPr>
          <p:cNvPr id="7" name="">
            <a:extLst xmlns:a="http://schemas.openxmlformats.org/drawingml/2006/main">
              <a:ext uri="{FF2B5EF4-FFF2-40B4-BE49-F238E27FC236}">
                <a16:creationId xmlns:a16="http://schemas.microsoft.com/office/drawing/2014/main" id="{AF5B1265-0EA9-419D-9FDD-97E582D19EA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FD42086B-12F2-43F3-BD6F-EB6236BA44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36</a:t>
            </a:r>
          </a:p>
        </p:txBody>
      </p:sp>
    </p:spTree>
    <p:extLst>
      <p:ext uri="{BB962C8B-B14F-4D97-AF65-F5344CB8AC3E}">
        <p14:creationId xmlns:p14="http://schemas.microsoft.com/office/powerpoint/2010/main" val="57773129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256F8F-A8B5-4278-8C3A-DCD52AB3ED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525DCF-4CF0-40B5-999C-CDE8D9D450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9BB2A44-905F-49E8-9087-76E28DA50C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Comparing groups and a distribution in Python (2/2)</a:t>
            </a:r>
          </a:p>
        </p:txBody>
      </p:sp>
      <p:sp>
        <p:nvSpPr>
          <p:cNvPr id="4" name="">
            <a:extLst xmlns:a="http://schemas.openxmlformats.org/drawingml/2006/main">
              <a:ext uri="{FF2B5EF4-FFF2-40B4-BE49-F238E27FC236}">
                <a16:creationId xmlns:a16="http://schemas.microsoft.com/office/drawing/2014/main" id="{52D7EB8A-35CE-48A2-82B8-6DB24C7299B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9319F4-8786-43B0-8D4F-468E2C1F578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hist_ax.set_title("Distribution of four observations")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24EBEBBE-501B-4C1D-9EFE-2C6789B6BFC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the inputs and identify the operation.</a:t>
            </a:r>
          </a:p>
        </p:txBody>
      </p:sp>
      <p:sp>
        <p:nvSpPr>
          <p:cNvPr id="7" name="">
            <a:extLst xmlns:a="http://schemas.openxmlformats.org/drawingml/2006/main">
              <a:ext uri="{FF2B5EF4-FFF2-40B4-BE49-F238E27FC236}">
                <a16:creationId xmlns:a16="http://schemas.microsoft.com/office/drawing/2014/main" id="{B037DD32-9122-43A9-9EB6-285826E72C1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90E1509A-2F06-49D9-BAE7-F2D8CA2B77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37</a:t>
            </a:r>
          </a:p>
        </p:txBody>
      </p:sp>
    </p:spTree>
    <p:extLst>
      <p:ext uri="{BB962C8B-B14F-4D97-AF65-F5344CB8AC3E}">
        <p14:creationId xmlns:p14="http://schemas.microsoft.com/office/powerpoint/2010/main" val="2378826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503B2D-5014-427E-A747-8A5615C5A5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66671C-95E2-48F5-9B3B-4CFE814942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491F7D1-B7A3-4AC3-BC41-7DE1CB29CF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A40E97A3-28B6-4446-9A1A-86892C3CF57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B4FCBF-FD4F-46B9-AB91-AEEDBCA9ECB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80C286-8E7F-4164-9A4C-62EB23CF8A0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Explain why 80 was retained. Replace 24 with 26, predict the new fill value, and check that cleaning still leaves raw unchanged.</a:t>
            </a:r>
          </a:p>
        </p:txBody>
      </p:sp>
      <p:sp>
        <p:nvSpPr>
          <p:cNvPr id="7" name="">
            <a:extLst xmlns:a="http://schemas.openxmlformats.org/drawingml/2006/main">
              <a:ext uri="{FF2B5EF4-FFF2-40B4-BE49-F238E27FC236}">
                <a16:creationId xmlns:a16="http://schemas.microsoft.com/office/drawing/2014/main" id="{56EE7C00-4924-4342-8045-4AD0A5C20B9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An unusual value alone does not prove an error. The task did not authorize deleting 80. With 26 replacing 24, the middle known values are 22 and 26, so the new fill is 24. The raw list still contains None.</a:t>
            </a:r>
          </a:p>
        </p:txBody>
      </p:sp>
      <p:sp>
        <p:nvSpPr>
          <p:cNvPr id="8" name="">
            <a:extLst xmlns:a="http://schemas.openxmlformats.org/drawingml/2006/main">
              <a:ext uri="{FF2B5EF4-FFF2-40B4-BE49-F238E27FC236}">
                <a16:creationId xmlns:a16="http://schemas.microsoft.com/office/drawing/2014/main" id="{90CF8F69-B98F-491A-A7D8-86DCBE627C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38</a:t>
            </a:r>
          </a:p>
        </p:txBody>
      </p:sp>
    </p:spTree>
    <p:extLst>
      <p:ext uri="{BB962C8B-B14F-4D97-AF65-F5344CB8AC3E}">
        <p14:creationId xmlns:p14="http://schemas.microsoft.com/office/powerpoint/2010/main" val="21086342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0048FA-9F8B-44D7-994D-204AEE73BA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C91DC5-1EE8-4C8F-9AA9-C852BC307B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68B7161-2D63-43D5-A079-C48E24985F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a list comprehension after the full loop</a:t>
            </a:r>
          </a:p>
        </p:txBody>
      </p:sp>
      <p:sp>
        <p:nvSpPr>
          <p:cNvPr id="4" name="">
            <a:extLst xmlns:a="http://schemas.openxmlformats.org/drawingml/2006/main">
              <a:ext uri="{FF2B5EF4-FFF2-40B4-BE49-F238E27FC236}">
                <a16:creationId xmlns:a16="http://schemas.microsoft.com/office/drawing/2014/main" id="{F012BFF8-0C80-4C14-8087-16178EE8143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0B17AB-6C3C-4DF5-8577-493893878E0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list comprehension builds a new list using an expression for each visited item. [value * 2 for value in readings] doubles each reading.</a:t>
            </a:r>
          </a:p>
        </p:txBody>
      </p:sp>
      <p:sp>
        <p:nvSpPr>
          <p:cNvPr id="6" name="">
            <a:extLst xmlns:a="http://schemas.openxmlformats.org/drawingml/2006/main">
              <a:ext uri="{FF2B5EF4-FFF2-40B4-BE49-F238E27FC236}">
                <a16:creationId xmlns:a16="http://schemas.microsoft.com/office/drawing/2014/main" id="{51F37B27-11FF-469B-8B43-703D6EDEA37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85F0C6E-54B4-42F1-9548-BDD40ABA292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Its first part says what to store; its for part says which items supply value. [2, 4, 6] becomes [4, 8, 12].</a:t>
            </a:r>
          </a:p>
        </p:txBody>
      </p:sp>
      <p:sp>
        <p:nvSpPr>
          <p:cNvPr id="8" name="">
            <a:extLst xmlns:a="http://schemas.openxmlformats.org/drawingml/2006/main">
              <a:ext uri="{FF2B5EF4-FFF2-40B4-BE49-F238E27FC236}">
                <a16:creationId xmlns:a16="http://schemas.microsoft.com/office/drawing/2014/main" id="{03F8098D-D884-46C6-A615-B25999EEA27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8B9D6CE-F841-4051-BA93-F8303F2071C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compact spelling is optional. Use the expanded loop already taught when that is easier to explain.</a:t>
            </a:r>
          </a:p>
        </p:txBody>
      </p:sp>
      <p:sp>
        <p:nvSpPr>
          <p:cNvPr id="10" name="">
            <a:extLst xmlns:a="http://schemas.openxmlformats.org/drawingml/2006/main">
              <a:ext uri="{FF2B5EF4-FFF2-40B4-BE49-F238E27FC236}">
                <a16:creationId xmlns:a16="http://schemas.microsoft.com/office/drawing/2014/main" id="{DB631085-5D6D-4DAD-A6C3-F29D47D1B2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39</a:t>
            </a:r>
          </a:p>
        </p:txBody>
      </p:sp>
    </p:spTree>
    <p:extLst>
      <p:ext uri="{BB962C8B-B14F-4D97-AF65-F5344CB8AC3E}">
        <p14:creationId xmlns:p14="http://schemas.microsoft.com/office/powerpoint/2010/main" val="11686237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85D8A2D-1AEA-4773-846C-D80569023A9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570A45-D2D2-4C59-882E-C40B838787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AD05049-4BEE-4083-AC7A-0DE22791EB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compact loop is optional</a:t>
            </a:r>
          </a:p>
        </p:txBody>
      </p:sp>
      <p:sp>
        <p:nvSpPr>
          <p:cNvPr id="4" name="">
            <a:extLst xmlns:a="http://schemas.openxmlformats.org/drawingml/2006/main">
              <a:ext uri="{FF2B5EF4-FFF2-40B4-BE49-F238E27FC236}">
                <a16:creationId xmlns:a16="http://schemas.microsoft.com/office/drawing/2014/main" id="{AF2F9042-31AD-4C96-AD18-9738C27B4AB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78A1B1-91D9-4F58-BED8-B865364F679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readings = [2, 4, 6]</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doubled = []</a:t>
            </a:r>
          </a:p>
          <a:p xmlns:a="http://schemas.openxmlformats.org/drawingml/2006/main">
            <a:pPr>
              <a:defRPr sz="2090" b="0">
                <a:solidFill>
                  <a:srgbClr val="F4F7FA"/>
                </a:solidFill>
                <a:latin typeface="Courier New"/>
                <a:ea typeface="Courier New"/>
                <a:cs typeface="Courier New"/>
              </a:defRPr>
            </a:pPr>
            <a:r>
              <a:rPr sz="2090" b="0">
                <a:solidFill>
                  <a:srgbClr val="FFB080"/>
                </a:solidFill>
                <a:latin typeface="Courier New"/>
                <a:ea typeface="Courier New"/>
                <a:cs typeface="Courier New"/>
              </a:rPr>
              <a:t>for</a:t>
            </a:r>
            <a:r>
              <a:rPr sz="2090" b="0">
                <a:solidFill>
                  <a:srgbClr val="F4F7FA"/>
                </a:solidFill>
                <a:latin typeface="Courier New"/>
                <a:ea typeface="Courier New"/>
                <a:cs typeface="Courier New"/>
              </a:rPr>
              <a:t> value in readings:</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    doubled.append(value * 2)</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print(doubled)</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 Same operation in compact form:</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print([value * 2 for value in readings])</a:t>
            </a:r>
          </a:p>
        </p:txBody>
      </p:sp>
      <p:sp>
        <p:nvSpPr>
          <p:cNvPr id="6" name="">
            <a:extLst xmlns:a="http://schemas.openxmlformats.org/drawingml/2006/main">
              <a:ext uri="{FF2B5EF4-FFF2-40B4-BE49-F238E27FC236}">
                <a16:creationId xmlns:a16="http://schemas.microsoft.com/office/drawing/2014/main" id="{D0D951CF-5EF1-412D-874A-C693C39A8D2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2EA975F-9E8A-43CB-A98F-94DD06565D6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29DFC4A7-1AD4-460E-B15E-5CEDC02A08D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77D513BE-9BC4-4ABC-B2C4-78F896E6BBCB}"/>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append adds one item to the end of a list.</a:t>
            </a:r>
          </a:p>
        </p:txBody>
      </p:sp>
      <p:sp>
        <p:nvSpPr>
          <p:cNvPr id="10" name="">
            <a:extLst xmlns:a="http://schemas.openxmlformats.org/drawingml/2006/main">
              <a:ext uri="{FF2B5EF4-FFF2-40B4-BE49-F238E27FC236}">
                <a16:creationId xmlns:a16="http://schemas.microsoft.com/office/drawing/2014/main" id="{377C745C-D717-4134-BC9B-4037F381BA4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A list comprehension makes the same list. Learn the ordinary loop first.</a:t>
            </a:r>
          </a:p>
        </p:txBody>
      </p:sp>
      <p:sp>
        <p:nvSpPr>
          <p:cNvPr id="11" name="">
            <a:extLst xmlns:a="http://schemas.openxmlformats.org/drawingml/2006/main">
              <a:ext uri="{FF2B5EF4-FFF2-40B4-BE49-F238E27FC236}">
                <a16:creationId xmlns:a16="http://schemas.microsoft.com/office/drawing/2014/main" id="{56BAFE1C-82AC-4D77-8E76-E988F31469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40</a:t>
            </a:r>
          </a:p>
        </p:txBody>
      </p:sp>
    </p:spTree>
    <p:extLst>
      <p:ext uri="{BB962C8B-B14F-4D97-AF65-F5344CB8AC3E}">
        <p14:creationId xmlns:p14="http://schemas.microsoft.com/office/powerpoint/2010/main" val="128224564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61EC43-33E3-4524-88D4-E19B05E83B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8ADC5E-018E-4FD1-A3F3-E3117842F2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A5F2F83-291D-4439-BDDC-3196982BCB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5CC2547C-D3CA-4C83-B09E-BEE9946A7A3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92B2D1-B8DE-43D8-865D-64369E7BA0C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W06 uses a list of record dictionaries.</a:t>
            </a:r>
          </a:p>
        </p:txBody>
      </p:sp>
      <p:sp>
        <p:nvSpPr>
          <p:cNvPr id="6" name="">
            <a:extLst xmlns:a="http://schemas.openxmlformats.org/drawingml/2006/main">
              <a:ext uri="{FF2B5EF4-FFF2-40B4-BE49-F238E27FC236}">
                <a16:creationId xmlns:a16="http://schemas.microsoft.com/office/drawing/2014/main" id="{851BCEE9-43E1-4F99-876F-AE189941230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6ED6670-EAAB-4EC1-84B9-22A6FD48257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Show one record and one field lookup before the function interfaces.</a:t>
            </a:r>
          </a:p>
        </p:txBody>
      </p:sp>
      <p:sp>
        <p:nvSpPr>
          <p:cNvPr id="8" name="">
            <a:extLst xmlns:a="http://schemas.openxmlformats.org/drawingml/2006/main">
              <a:ext uri="{FF2B5EF4-FFF2-40B4-BE49-F238E27FC236}">
                <a16:creationId xmlns:a16="http://schemas.microsoft.com/office/drawing/2014/main" id="{D4E51A19-7190-411B-BAED-F21A02DC2AE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4E8B517-C2B9-4C7B-8235-C112987DCA3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Parse CSV blank numeric cells as None. dict(row) copies a record. append adds an item to a list.</a:t>
            </a:r>
          </a:p>
        </p:txBody>
      </p:sp>
      <p:sp>
        <p:nvSpPr>
          <p:cNvPr id="10" name="">
            <a:extLst xmlns:a="http://schemas.openxmlformats.org/drawingml/2006/main">
              <a:ext uri="{FF2B5EF4-FFF2-40B4-BE49-F238E27FC236}">
                <a16:creationId xmlns:a16="http://schemas.microsoft.com/office/drawing/2014/main" id="{CC7F2E92-6C0C-480F-9090-A0BEB2D3528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7AAB7E0-EF3C-46F4-B406-E6B70A3605F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task brief specifies the cleaning order and returned outputs.</a:t>
            </a:r>
          </a:p>
        </p:txBody>
      </p:sp>
      <p:sp>
        <p:nvSpPr>
          <p:cNvPr id="12" name="">
            <a:extLst xmlns:a="http://schemas.openxmlformats.org/drawingml/2006/main">
              <a:ext uri="{FF2B5EF4-FFF2-40B4-BE49-F238E27FC236}">
                <a16:creationId xmlns:a16="http://schemas.microsoft.com/office/drawing/2014/main" id="{906E5F7F-3893-4D60-B9BB-2B90D6CEAD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41</a:t>
            </a:r>
          </a:p>
        </p:txBody>
      </p:sp>
    </p:spTree>
    <p:extLst>
      <p:ext uri="{BB962C8B-B14F-4D97-AF65-F5344CB8AC3E}">
        <p14:creationId xmlns:p14="http://schemas.microsoft.com/office/powerpoint/2010/main" val="93170316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373F8B-B997-4F69-9148-ACDDEEEE6F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973052-7FD0-4AA4-B153-F80016E6BA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89E37D2-0D52-42BD-8E71-0F6DEACE9B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67D4B01D-A701-4C4E-A3C3-D91B5B0DADD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79418AE-A49C-4847-B01F-2679AE0BE52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set records IDs already seen.</a:t>
            </a:r>
          </a:p>
        </p:txBody>
      </p:sp>
      <p:sp>
        <p:nvSpPr>
          <p:cNvPr id="6" name="">
            <a:extLst xmlns:a="http://schemas.openxmlformats.org/drawingml/2006/main">
              <a:ext uri="{FF2B5EF4-FFF2-40B4-BE49-F238E27FC236}">
                <a16:creationId xmlns:a16="http://schemas.microsoft.com/office/drawing/2014/main" id="{F2045DC4-AE6A-4342-9C65-DD1B06895D32}"/>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1A43E2-73F1-4EA8-97DE-84B0EDC0CF4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 summaries collect readings with the same equipment ID.</a:t>
            </a:r>
          </a:p>
        </p:txBody>
      </p:sp>
      <p:sp>
        <p:nvSpPr>
          <p:cNvPr id="8" name="">
            <a:extLst xmlns:a="http://schemas.openxmlformats.org/drawingml/2006/main">
              <a:ext uri="{FF2B5EF4-FFF2-40B4-BE49-F238E27FC236}">
                <a16:creationId xmlns:a16="http://schemas.microsoft.com/office/drawing/2014/main" id="{D1FE8857-714C-402C-86D5-161430391DF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9E64CE2-B80D-4FDF-AF68-E462F866DEF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that written evidence belongs in My written evidence, not in code comments.</a:t>
            </a:r>
          </a:p>
        </p:txBody>
      </p:sp>
      <p:sp>
        <p:nvSpPr>
          <p:cNvPr id="10" name="">
            <a:extLst xmlns:a="http://schemas.openxmlformats.org/drawingml/2006/main">
              <a:ext uri="{FF2B5EF4-FFF2-40B4-BE49-F238E27FC236}">
                <a16:creationId xmlns:a16="http://schemas.microsoft.com/office/drawing/2014/main" id="{D16620AF-F387-433C-B24C-927A18C0C8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42</a:t>
            </a:r>
          </a:p>
        </p:txBody>
      </p:sp>
    </p:spTree>
    <p:extLst>
      <p:ext uri="{BB962C8B-B14F-4D97-AF65-F5344CB8AC3E}">
        <p14:creationId xmlns:p14="http://schemas.microsoft.com/office/powerpoint/2010/main" val="59031032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2C50C0-EB32-47C8-B9B3-AA84D46BAD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474273-1D04-4515-9C5C-9DF45E6051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8000BCC-44EB-47B8-B706-AD9ECD006F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choices and charts</a:t>
            </a:r>
          </a:p>
        </p:txBody>
      </p:sp>
      <p:sp>
        <p:nvSpPr>
          <p:cNvPr id="4" name="">
            <a:extLst xmlns:a="http://schemas.openxmlformats.org/drawingml/2006/main">
              <a:ext uri="{FF2B5EF4-FFF2-40B4-BE49-F238E27FC236}">
                <a16:creationId xmlns:a16="http://schemas.microsoft.com/office/drawing/2014/main" id="{2257D965-5B7C-4C55-B123-E7B11BE463C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E4B7529-C0DE-42E0-BDA9-58DD0B6B38EB}"/>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Filling blanks with zero changes the mean and may be unjustified.</a:t>
            </a:r>
          </a:p>
        </p:txBody>
      </p:sp>
      <p:sp>
        <p:nvSpPr>
          <p:cNvPr id="6" name="">
            <a:extLst xmlns:a="http://schemas.openxmlformats.org/drawingml/2006/main">
              <a:ext uri="{FF2B5EF4-FFF2-40B4-BE49-F238E27FC236}">
                <a16:creationId xmlns:a16="http://schemas.microsoft.com/office/drawing/2014/main" id="{49F14DB8-09C9-44C1-8200-24D4E133F15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002628A-EDDA-4C80-BCD0-5B61B41FD466}"/>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Dropping every row with any blank can remove valid observations.</a:t>
            </a:r>
          </a:p>
        </p:txBody>
      </p:sp>
      <p:sp>
        <p:nvSpPr>
          <p:cNvPr id="8" name="">
            <a:extLst xmlns:a="http://schemas.openxmlformats.org/drawingml/2006/main">
              <a:ext uri="{FF2B5EF4-FFF2-40B4-BE49-F238E27FC236}">
                <a16:creationId xmlns:a16="http://schemas.microsoft.com/office/drawing/2014/main" id="{99C1BBDE-7CBC-4A1D-A5F3-7100DE18DF3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2C55706-A73E-4BF4-BEF1-EF8E84D56426}"/>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failed numeric conversion identifies a problematic value to inspect rather than hide.</a:t>
            </a:r>
          </a:p>
        </p:txBody>
      </p:sp>
      <p:sp>
        <p:nvSpPr>
          <p:cNvPr id="10" name="">
            <a:extLst xmlns:a="http://schemas.openxmlformats.org/drawingml/2006/main">
              <a:ext uri="{FF2B5EF4-FFF2-40B4-BE49-F238E27FC236}">
                <a16:creationId xmlns:a16="http://schemas.microsoft.com/office/drawing/2014/main" id="{250B407B-8D65-432F-980D-7E5A89CA8D33}"/>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906165F-53F2-4DFA-B411-8F5018C5CC8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histogram describes one distribution; a scatter plot shows paired values; a grouped chart compares groups.</a:t>
            </a:r>
          </a:p>
        </p:txBody>
      </p:sp>
      <p:sp>
        <p:nvSpPr>
          <p:cNvPr id="12" name="">
            <a:extLst xmlns:a="http://schemas.openxmlformats.org/drawingml/2006/main">
              <a:ext uri="{FF2B5EF4-FFF2-40B4-BE49-F238E27FC236}">
                <a16:creationId xmlns:a16="http://schemas.microsoft.com/office/drawing/2014/main" id="{84EF9270-AD87-469E-A356-E8D05C358A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43</a:t>
            </a:r>
          </a:p>
        </p:txBody>
      </p:sp>
    </p:spTree>
    <p:extLst>
      <p:ext uri="{BB962C8B-B14F-4D97-AF65-F5344CB8AC3E}">
        <p14:creationId xmlns:p14="http://schemas.microsoft.com/office/powerpoint/2010/main" val="94044834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9495D4-E7E5-43BE-9CD7-BD4FA516A7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06A453-7F4A-4A6E-B0B7-C2E8F5508C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D0A87BE-6B77-49CE-9019-5B6E4D2ED3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choices and charts continued</a:t>
            </a:r>
          </a:p>
        </p:txBody>
      </p:sp>
      <p:sp>
        <p:nvSpPr>
          <p:cNvPr id="4" name="">
            <a:extLst xmlns:a="http://schemas.openxmlformats.org/drawingml/2006/main">
              <a:ext uri="{FF2B5EF4-FFF2-40B4-BE49-F238E27FC236}">
                <a16:creationId xmlns:a16="http://schemas.microsoft.com/office/drawing/2014/main" id="{55D7CDE9-01D9-4B55-8761-3B503C39FF3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A61536-C9F7-41F8-9E34-070DBAB07A6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DAC2CB-610E-4531-8095-1D767F67179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Read both axes and units.</a:t>
            </a:r>
          </a:p>
        </p:txBody>
      </p:sp>
      <p:sp>
        <p:nvSpPr>
          <p:cNvPr id="7" name="">
            <a:extLst xmlns:a="http://schemas.openxmlformats.org/drawingml/2006/main">
              <a:ext uri="{FF2B5EF4-FFF2-40B4-BE49-F238E27FC236}">
                <a16:creationId xmlns:a16="http://schemas.microsoft.com/office/drawing/2014/main" id="{290701F4-A352-4D2E-8DCC-93D2BFA893A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plausible extreme needs investigation before deletion.</a:t>
            </a:r>
          </a:p>
        </p:txBody>
      </p:sp>
      <p:sp>
        <p:nvSpPr>
          <p:cNvPr id="8" name="">
            <a:extLst xmlns:a="http://schemas.openxmlformats.org/drawingml/2006/main">
              <a:ext uri="{FF2B5EF4-FFF2-40B4-BE49-F238E27FC236}">
                <a16:creationId xmlns:a16="http://schemas.microsoft.com/office/drawing/2014/main" id="{D4935EB9-6FFE-4AF1-898F-36774506B8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44</a:t>
            </a:r>
          </a:p>
        </p:txBody>
      </p:sp>
    </p:spTree>
    <p:extLst>
      <p:ext uri="{BB962C8B-B14F-4D97-AF65-F5344CB8AC3E}">
        <p14:creationId xmlns:p14="http://schemas.microsoft.com/office/powerpoint/2010/main" val="82235681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03A87B-9C31-406A-8598-8CC4833F54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E74E99-AD91-4CAB-9FB0-E5051D870C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7955725-7E29-40FE-9320-804078956C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BC403FE0-186B-440D-8E9B-FF73E966582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808BB73-B417-4D45-9B38-A4C19F051EB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B7A5F508-56E0-4BD4-A1A5-34497CBBF42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D3E7FD3-E9C0-47A2-AC94-24C217AF058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8400A365-EC79-43C4-A875-BD5F5E7D064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619F5CD-7AD6-4D09-9518-9A6EB28385F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EF8F582D-AD58-4D50-90E8-3721C391DA0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0C84377-263C-403B-8461-202110F2952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DDC3527A-5F4C-4BBB-B9C2-E7BF15DE63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45</a:t>
            </a:r>
          </a:p>
        </p:txBody>
      </p:sp>
    </p:spTree>
    <p:extLst>
      <p:ext uri="{BB962C8B-B14F-4D97-AF65-F5344CB8AC3E}">
        <p14:creationId xmlns:p14="http://schemas.microsoft.com/office/powerpoint/2010/main" val="1004033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630EC0-930A-4F0B-B692-B9DBDF89B5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05F835-2F29-4F9E-919C-96F2B5F358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467F7E15-B012-4A98-9BF8-FCB382BE56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clean_records(records)</a:t>
            </a:r>
          </a:p>
        </p:txBody>
      </p:sp>
      <p:sp>
        <p:nvSpPr>
          <p:cNvPr id="4" name="">
            <a:extLst xmlns:a="http://schemas.openxmlformats.org/drawingml/2006/main">
              <a:ext uri="{FF2B5EF4-FFF2-40B4-BE49-F238E27FC236}">
                <a16:creationId xmlns:a16="http://schemas.microsoft.com/office/drawing/2014/main" id="{99387783-C397-46FA-A043-C0B696FFB06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F5FC0A-8AC4-4F81-8B7D-C7A5B1ACD879}"/>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copied records in original order: remove repeated record_id after its first occurrence, drop rows with missing target or load_pct outside 0–100 inclusive, then fill missing ambient_c with the median of retained non-missing ambient_c values.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Preserve raw input.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No other changes.</a:t>
            </a:r>
          </a:p>
        </p:txBody>
      </p:sp>
      <p:sp>
        <p:nvSpPr>
          <p:cNvPr id="6" name="">
            <a:extLst xmlns:a="http://schemas.openxmlformats.org/drawingml/2006/main">
              <a:ext uri="{FF2B5EF4-FFF2-40B4-BE49-F238E27FC236}">
                <a16:creationId xmlns:a16="http://schemas.microsoft.com/office/drawing/2014/main" id="{0EF48AC0-0FBC-4EE4-BF78-746A0B66101B}"/>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D2A9EA-DCC6-4C6A-8D47-9C2FE848B6D7}"/>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21D5B7F-9051-49E9-9827-0FCD85C38C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46</a:t>
            </a:r>
          </a:p>
        </p:txBody>
      </p:sp>
    </p:spTree>
    <p:extLst>
      <p:ext uri="{BB962C8B-B14F-4D97-AF65-F5344CB8AC3E}">
        <p14:creationId xmlns:p14="http://schemas.microsoft.com/office/powerpoint/2010/main" val="147254215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0AC7BC-EAC3-4408-B203-8E0B1C55E8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9FF064-DD73-4EFC-849B-D0975074F7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3FC177A8-3D5E-4647-B830-65F9CE127D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summarize_records(clean_records)</a:t>
            </a:r>
          </a:p>
        </p:txBody>
      </p:sp>
      <p:sp>
        <p:nvSpPr>
          <p:cNvPr id="4" name="">
            <a:extLst xmlns:a="http://schemas.openxmlformats.org/drawingml/2006/main">
              <a:ext uri="{FF2B5EF4-FFF2-40B4-BE49-F238E27FC236}">
                <a16:creationId xmlns:a16="http://schemas.microsoft.com/office/drawing/2014/main" id="{9769DEBE-A30C-4AB8-88C7-7A85E1482824}"/>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6DF36F-80E9-41F5-B0A2-4DDD215B2C4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count, mean, minimum, maximum of target and group_means by equipment_id.</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Retain full precision.</a:t>
            </a:r>
          </a:p>
        </p:txBody>
      </p:sp>
      <p:sp>
        <p:nvSpPr>
          <p:cNvPr id="6" name="">
            <a:extLst xmlns:a="http://schemas.openxmlformats.org/drawingml/2006/main">
              <a:ext uri="{FF2B5EF4-FFF2-40B4-BE49-F238E27FC236}">
                <a16:creationId xmlns:a16="http://schemas.microsoft.com/office/drawing/2014/main" id="{6769A670-AE7D-4BEE-8A82-C7328FCE1D00}"/>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095E19-604F-47A0-AA6A-7EA33C196C1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E9CA9A1-88C1-4E1A-86F5-929168D102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47</a:t>
            </a:r>
          </a:p>
        </p:txBody>
      </p:sp>
    </p:spTree>
    <p:extLst>
      <p:ext uri="{BB962C8B-B14F-4D97-AF65-F5344CB8AC3E}">
        <p14:creationId xmlns:p14="http://schemas.microsoft.com/office/powerpoint/2010/main" val="159199387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607B12-0A13-4B53-9F90-BCBEEAF9EA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F56C79-B804-442E-B61D-95346ADB63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84D65DDE-696A-407D-AD7A-14402B472E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audit_cleaning(raw_records, cleaned_records)</a:t>
            </a:r>
          </a:p>
        </p:txBody>
      </p:sp>
      <p:sp>
        <p:nvSpPr>
          <p:cNvPr id="4" name="">
            <a:extLst xmlns:a="http://schemas.openxmlformats.org/drawingml/2006/main">
              <a:ext uri="{FF2B5EF4-FFF2-40B4-BE49-F238E27FC236}">
                <a16:creationId xmlns:a16="http://schemas.microsoft.com/office/drawing/2014/main" id="{09DE31A3-1BA0-44B6-A4FC-A87512394F54}"/>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6E9452-F3B2-45B4-B47D-18304B37203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raw_count and cleaned_count; duplicate_ids is the number of cleaned records beyond the first occurrence of each record_id; missing_targets counts None targets; invalid_loads counts cleaned load_pct outside 0–100 inclusive.</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Report the actual supplied data, which may still contain defects.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Do not change either input.</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All five values are integer counts.</a:t>
            </a:r>
          </a:p>
        </p:txBody>
      </p:sp>
      <p:sp>
        <p:nvSpPr>
          <p:cNvPr id="6" name="">
            <a:extLst xmlns:a="http://schemas.openxmlformats.org/drawingml/2006/main">
              <a:ext uri="{FF2B5EF4-FFF2-40B4-BE49-F238E27FC236}">
                <a16:creationId xmlns:a16="http://schemas.microsoft.com/office/drawing/2014/main" id="{0910A9C6-454A-41FD-A3AD-DFD40843296F}"/>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608B39-2645-4799-A01A-BD0EFB720CB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DCC4648-48CF-4752-9F0F-D6E8A7A07B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48</a:t>
            </a:r>
          </a:p>
        </p:txBody>
      </p:sp>
    </p:spTree>
    <p:extLst>
      <p:ext uri="{BB962C8B-B14F-4D97-AF65-F5344CB8AC3E}">
        <p14:creationId xmlns:p14="http://schemas.microsoft.com/office/powerpoint/2010/main" val="106011121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DA328E-225B-476B-9BEB-59E7E6E823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131FE4-F038-4376-9148-284EB3FA29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35C1080-FCBE-4005-A191-A8843AE61B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15B8769A-2E4A-4935-B951-9199C4F5189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2BF294-4031-4B76-A536-A995E8684A2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73FF871A-F2F2-45C8-ADEC-5EB6D2A457D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0D8B54E-F1F4-43CA-92C8-005369D2F82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195A91CD-4C2A-4107-8809-D9980B5E40A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DD7217-E768-4927-9CA5-8838297BB44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A493F9CF-BC5A-4CB7-999B-F4C113DB868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8640BF-82FC-4333-8FF5-D793D10FCBD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77192DBE-6C41-4700-B41E-F55A707E7E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49</a:t>
            </a:r>
          </a:p>
        </p:txBody>
      </p:sp>
    </p:spTree>
    <p:extLst>
      <p:ext uri="{BB962C8B-B14F-4D97-AF65-F5344CB8AC3E}">
        <p14:creationId xmlns:p14="http://schemas.microsoft.com/office/powerpoint/2010/main" val="35511805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13769C-2636-4157-8BBF-B504C05353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366B26-EDB0-429A-A36C-12D70C3AC4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12E1195A-A1B2-422D-91D9-7B56C87FD7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and quality submission</a:t>
            </a:r>
          </a:p>
        </p:txBody>
      </p:sp>
      <p:sp>
        <p:nvSpPr>
          <p:cNvPr id="4" name="">
            <a:extLst xmlns:a="http://schemas.openxmlformats.org/drawingml/2006/main">
              <a:ext uri="{FF2B5EF4-FFF2-40B4-BE49-F238E27FC236}">
                <a16:creationId xmlns:a16="http://schemas.microsoft.com/office/drawing/2014/main" id="{FB9BF9BE-6F0E-4A52-A2C3-D67028D2553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414108A-8A84-4357-9144-51236C8F21F4}"/>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13 Oct 2026, 11:00 Kampala</a:t>
            </a:r>
          </a:p>
        </p:txBody>
      </p:sp>
      <p:sp>
        <p:nvSpPr>
          <p:cNvPr id="6" name="">
            <a:extLst xmlns:a="http://schemas.openxmlformats.org/drawingml/2006/main">
              <a:ext uri="{FF2B5EF4-FFF2-40B4-BE49-F238E27FC236}">
                <a16:creationId xmlns:a16="http://schemas.microsoft.com/office/drawing/2014/main" id="{8E1D668A-40F1-40AA-9ECA-F498C88F336B}"/>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5617D4C-6E10-4C8D-801C-B8CCAD816B49}"/>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20 Oct 2026, 11:00 Kampala</a:t>
            </a:r>
          </a:p>
        </p:txBody>
      </p:sp>
      <p:sp>
        <p:nvSpPr>
          <p:cNvPr id="8" name="">
            <a:extLst xmlns:a="http://schemas.openxmlformats.org/drawingml/2006/main">
              <a:ext uri="{FF2B5EF4-FFF2-40B4-BE49-F238E27FC236}">
                <a16:creationId xmlns:a16="http://schemas.microsoft.com/office/drawing/2014/main" id="{80344485-47FA-4283-9600-D80B00E53EB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AFACAD4-E0C9-44A9-9A8C-CB1F3A789D5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BEDCA614-C254-4737-B0FF-9D4AE50013E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43FB90D-5B9E-4085-8DA8-3439FA60EAD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D1510B9E-796E-4DE7-85DD-BBA0B488B74A}"/>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33CD18-C337-47C5-A609-D1CDAB0EBD9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136f69adfa94c8b"/>
              </a:rPr>
              <a:t>Open W06 assignment form</a:t>
            </a:r>
          </a:p>
        </p:txBody>
      </p:sp>
      <p:sp>
        <p:nvSpPr>
          <p:cNvPr id="14" name="">
            <a:extLst xmlns:a="http://schemas.openxmlformats.org/drawingml/2006/main">
              <a:ext uri="{FF2B5EF4-FFF2-40B4-BE49-F238E27FC236}">
                <a16:creationId xmlns:a16="http://schemas.microsoft.com/office/drawing/2014/main" id="{7EC5D476-80CA-4E15-832D-77BCF3DFCDB6}"/>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https://docs.google.com/forms/d/e/1FAIpQLScHyVpTnSxgMVMvsImyTtkME2QAGZmMg55dBKy2VvQ_0d7fxQ/viewform</a:t>
            </a:r>
          </a:p>
        </p:txBody>
      </p:sp>
      <p:sp>
        <p:nvSpPr>
          <p:cNvPr id="15" name="">
            <a:extLst xmlns:a="http://schemas.openxmlformats.org/drawingml/2006/main">
              <a:ext uri="{FF2B5EF4-FFF2-40B4-BE49-F238E27FC236}">
                <a16:creationId xmlns:a16="http://schemas.microsoft.com/office/drawing/2014/main" id="{08A9AAAA-4D31-48D9-9F12-363CB39216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50</a:t>
            </a:r>
          </a:p>
        </p:txBody>
      </p:sp>
    </p:spTree>
    <p:extLst>
      <p:ext uri="{BB962C8B-B14F-4D97-AF65-F5344CB8AC3E}">
        <p14:creationId xmlns:p14="http://schemas.microsoft.com/office/powerpoint/2010/main" val="122241069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7A9013-D607-4D85-9AA3-25954BA05C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B3DFAB-1A75-497C-8C40-564BC3D5C3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0FBFDE0-EEAF-4209-984B-317EAF4CAA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59935073-BFC5-4065-B0F9-6335F9A72DD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264DB0-0156-4370-B38C-7A66859CBE4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AE291889-B3ED-4252-9697-4F12E85432D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19149DF-DCFE-4752-B042-F2374BC44DE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D26C53E1-AEEF-4726-B4BD-41CCFA7906E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B00E0C1-5B73-465F-937C-19F6BB02CD5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F4A9BBC4-9414-4747-A40A-25A22CEE695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BBA0FD8-055D-454D-AD48-43A26DE28C6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27 Oct 2026, 11:00 Kampala</a:t>
            </a:r>
          </a:p>
        </p:txBody>
      </p:sp>
      <p:sp>
        <p:nvSpPr>
          <p:cNvPr id="12" name="">
            <a:extLst xmlns:a="http://schemas.openxmlformats.org/drawingml/2006/main">
              <a:ext uri="{FF2B5EF4-FFF2-40B4-BE49-F238E27FC236}">
                <a16:creationId xmlns:a16="http://schemas.microsoft.com/office/drawing/2014/main" id="{A061C8CE-54CB-486D-B069-C3432797F8E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51</a:t>
            </a:r>
          </a:p>
        </p:txBody>
      </p:sp>
    </p:spTree>
    <p:extLst>
      <p:ext uri="{BB962C8B-B14F-4D97-AF65-F5344CB8AC3E}">
        <p14:creationId xmlns:p14="http://schemas.microsoft.com/office/powerpoint/2010/main" val="37036226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F6FAD58-981B-4A67-B55A-7CA1286E57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658A0A-554B-4F4C-B09B-7B3D4D9BDA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89115A30-01C7-415D-B213-C95B825D2C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6 quiz</a:t>
            </a:r>
          </a:p>
        </p:txBody>
      </p:sp>
      <p:sp>
        <p:nvSpPr>
          <p:cNvPr id="4" name="">
            <a:extLst xmlns:a="http://schemas.openxmlformats.org/drawingml/2006/main">
              <a:ext uri="{FF2B5EF4-FFF2-40B4-BE49-F238E27FC236}">
                <a16:creationId xmlns:a16="http://schemas.microsoft.com/office/drawing/2014/main" id="{A9E31CF4-6D29-463F-B29B-0215BD4F191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B9441D9-D189-438C-B03C-627C19C4D275}"/>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17CEAE64-1C90-4722-BE72-FDAE20270E4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E80E543-5F88-41E2-AEB2-438D82F053E7}"/>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5F0207A2-78F5-4BD0-B91A-24B25704E504}"/>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D4B2E3-8ED6-4A12-B4E5-E9E35E569C3B}"/>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64DA3714-7F32-4C17-ADFD-0315F67B264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3E6EBE6-4783-4E9A-B842-4F69A1B60942}"/>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b1315b7b59544d2"/>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6EEB53D-41DA-40D3-8387-3D79F079FC87}"/>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38779F03-B44C-47E5-8F1A-D2929EAC9042}"/>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C4C170A-F0B8-49F2-90D5-C001606B70F7}"/>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d22cbc2073045e0"/>
              </a:rPr>
              <a:t>Open this week’s quiz</a:t>
            </a:r>
          </a:p>
        </p:txBody>
      </p:sp>
      <p:sp>
        <p:nvSpPr>
          <p:cNvPr id="16" name="">
            <a:extLst xmlns:a="http://schemas.openxmlformats.org/drawingml/2006/main">
              <a:ext uri="{FF2B5EF4-FFF2-40B4-BE49-F238E27FC236}">
                <a16:creationId xmlns:a16="http://schemas.microsoft.com/office/drawing/2014/main" id="{082F89B3-817C-44CB-8975-B6F315BA655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https://forms.gle/i4xkY7g2jn8Q7HXt8</a:t>
            </a:r>
          </a:p>
        </p:txBody>
      </p:sp>
      <p:sp>
        <p:nvSpPr>
          <p:cNvPr id="17" name="">
            <a:extLst xmlns:a="http://schemas.openxmlformats.org/drawingml/2006/main">
              <a:ext uri="{FF2B5EF4-FFF2-40B4-BE49-F238E27FC236}">
                <a16:creationId xmlns:a16="http://schemas.microsoft.com/office/drawing/2014/main" id="{D62074D1-2A58-4523-A27F-30CF1FB1DA1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52</a:t>
            </a:r>
          </a:p>
        </p:txBody>
      </p:sp>
    </p:spTree>
    <p:extLst>
      <p:ext uri="{BB962C8B-B14F-4D97-AF65-F5344CB8AC3E}">
        <p14:creationId xmlns:p14="http://schemas.microsoft.com/office/powerpoint/2010/main" val="874377941"/>
      </p:ext>
    </p:extLst>
  </p:cSld>
</p:sld>
</file>

<file path=ppt/slides/slide5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423D0F-287C-46B8-94A7-E63BCAC260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7240243-7D34-4779-B4D9-551400224B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78C07162-3D97-4FD5-AFEF-21A7115B2999}"/>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08465056-3FF2-40C3-AA94-19A0275A662F}"/>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justify a change, show its effect and identify an estimated value.</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B459AE67-0803-4A21-A41F-77E8B2717DE1}"/>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BD10B7AF-A40F-4A22-9E1B-784F481B49D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6   53</a:t>
            </a:r>
          </a:p>
        </p:txBody>
      </p:sp>
    </p:spTree>
    <p:extLst>
      <p:ext uri="{BB962C8B-B14F-4D97-AF65-F5344CB8AC3E}">
        <p14:creationId xmlns:p14="http://schemas.microsoft.com/office/powerpoint/2010/main" val="200892842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DF52F5E-AC57-4CF1-A052-9E2F4F7980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079CD1-4557-4AAC-8662-8281D86CC8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9CDFA6AA-6785-4FF2-A9A0-0F4F65FD1B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16336320-F5A9-4788-AFAD-85BED9F2826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122FB8-3858-4DAA-981E-DC0966522A9F}"/>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BE69AB86-E576-40E3-B576-6321A934CBDC}"/>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2ABB5AC-A25F-441A-A13B-21EED2FE504D}"/>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Boxplots are Awesome!!!</a:t>
            </a:r>
          </a:p>
        </p:txBody>
      </p:sp>
      <p:sp>
        <p:nvSpPr>
          <p:cNvPr id="8" name="">
            <a:extLst xmlns:a="http://schemas.openxmlformats.org/drawingml/2006/main">
              <a:ext uri="{FF2B5EF4-FFF2-40B4-BE49-F238E27FC236}">
                <a16:creationId xmlns:a16="http://schemas.microsoft.com/office/drawing/2014/main" id="{1692606E-8F66-41D7-9560-1D9A7DFF982B}"/>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731A885-7311-4178-A9ED-BA6693A68076}"/>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39D40758-7FFE-4498-A6B4-04EDE7D7393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069E590-E242-4084-BD5D-07FEE50A1282}"/>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What does the box show, and does a point outside it prove an error?</a:t>
            </a:r>
          </a:p>
        </p:txBody>
      </p:sp>
      <p:sp>
        <p:nvSpPr>
          <p:cNvPr id="12" name="">
            <a:extLst xmlns:a="http://schemas.openxmlformats.org/drawingml/2006/main">
              <a:ext uri="{FF2B5EF4-FFF2-40B4-BE49-F238E27FC236}">
                <a16:creationId xmlns:a16="http://schemas.microsoft.com/office/drawing/2014/main" id="{3CE53CC7-2FFC-4DF9-92F0-659477F5CF1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29B016-26E4-4513-A78B-A766DE5F726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85ec7e973934ac6"/>
              </a:rPr>
              <a:t>Open explainer video</a:t>
            </a:r>
          </a:p>
        </p:txBody>
      </p:sp>
      <p:sp>
        <p:nvSpPr>
          <p:cNvPr id="14" name="">
            <a:extLst xmlns:a="http://schemas.openxmlformats.org/drawingml/2006/main">
              <a:ext uri="{FF2B5EF4-FFF2-40B4-BE49-F238E27FC236}">
                <a16:creationId xmlns:a16="http://schemas.microsoft.com/office/drawing/2014/main" id="{A538F03B-F796-4B86-9BB5-ED20C2CE05ED}"/>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https://www.youtube.com/watch?v=fHLhBnmwUM0</a:t>
            </a:r>
          </a:p>
        </p:txBody>
      </p:sp>
      <p:sp>
        <p:nvSpPr>
          <p:cNvPr id="15" name="">
            <a:extLst xmlns:a="http://schemas.openxmlformats.org/drawingml/2006/main">
              <a:ext uri="{FF2B5EF4-FFF2-40B4-BE49-F238E27FC236}">
                <a16:creationId xmlns:a16="http://schemas.microsoft.com/office/drawing/2014/main" id="{8DF52B1C-780F-4CD4-9444-90AD8659E2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6   54</a:t>
            </a:r>
          </a:p>
        </p:txBody>
      </p:sp>
    </p:spTree>
    <p:extLst>
      <p:ext uri="{BB962C8B-B14F-4D97-AF65-F5344CB8AC3E}">
        <p14:creationId xmlns:p14="http://schemas.microsoft.com/office/powerpoint/2010/main" val="198665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2026-09-28T21:45:05.4790000Z</dcterms:created>
  <dcterms:modified xsi:type="dcterms:W3CDTF">2026-09-28T21:45:05.4790000Z</dcterms:modified>
</coreProperties>
</file>