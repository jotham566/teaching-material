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pairs cleaning with charts, and the pairing is deliberate: a chart is how you FIND a defect, in time to stop it reaching your conclusion. Practical Test 1 is next week, and its format and rubric are published today so that you can prepare against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has no lookup answer, and that is the point. Two of the five cases in today's challenge are genuinely arguable.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recall. You can load a table and interrogate it; today is about what to do when the table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Every dataset you will ever be handed has defects in it, and each defect has a physical cause: a sensor fitted late, an export run twice, a note typed into a numeric cell. The cause is what tells you how to handle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could answer today's question in one line of pandas, and the answer would be wrong with nothing on the screen to say so. That is why this session exists. By the end you will answer the same question again on cleaned data and see how far it moved.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six defect classes, each with the physical cause that produced it. The cause determines the fix, which is why a taxonomy on its own is not much use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zero-coded missing value is the dangerous one. A blank is visibly absent and pandas will exclude it from a mean. A zero, or a -999, looks like data and will be included — so it silently moves every number you compute.</a:t>
            </a:r>
          </a:p>
          <a:p/>
          <a:p>
            <a:r>
              <a:t>A number stored as text is what makes a column show dtype 'object' in info(), which you met last week.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drawn from something that genuinely happens in this industry. The unit inconsistency is the one that most often survives into a published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are allowed to do. If values are missing at random you can often drop or impute them without much harm. If they are not, dropping them removes a specific part of your data and biases everything that follows.</a:t>
            </a:r>
          </a:p>
          <a:p/>
          <a:p>
            <a:r>
              <a:t>The honest position is frequently 'I cannot tell from the data alone, and here is what I would need to know'. That is a real answer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matters. shape tells you whether the dataset is worth the effort. info() tells you whether the columns are even usable. describe() is where defects surface. duplicated() catches the export-run-twice problem that nothing else will show you.</a:t>
            </a:r>
          </a:p>
          <a:p/>
          <a:p>
            <a:r>
              <a:t>On describe(): read the min and max rows before the mean. A mean tells you nothing if the column contains a sentinel; the minimum tells you immediately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matters because the actions differ. An impossible value gets removed or corrected without much debate. An outlier gets investigated, and often kept.</a:t>
            </a:r>
          </a:p>
          <a:p/>
          <a:p>
            <a:r>
              <a:t>Duplicates are easy to miss because nothing about a single row looks wrong — you only see it by comparing rows, which is what duplicated() does.</a:t>
            </a:r>
          </a:p>
          <a:p/>
          <a:p>
            <a:r>
              <a:t>One caution: two rows can legitimately be identical if the data has no unique identifier and two genuinely separate events happened to produce the same readings. Check before you delete.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of charts, and every one of them answers a question about whether the data can be trusted. The standing rule from here on: a chart exists to answer a stated question. It becomes a marking criterion in the Data Analysis Project and in both practical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missingness map takes one line and answers the question that describe() cannot: is the missingness structured? Scattered blanks are usually harmless. A block of blanks is a story.</a:t>
            </a:r>
          </a:p>
          <a:p/>
          <a:p>
            <a:r>
              <a:t>This is exactly the 'missing at random' distinction from the previous slide,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matters here, because the sloppy version of this sticks. The fence sits at Q1 minus 1.5 times the IQR and at Q3 plus 1.5 times the IQR. The whisker reaches the last actual data point inside that fence, so where it ends depends on your data rather than on the quartiles alone. Points beyond the fence are flagged for inspection, and flagged means worth a look.</a:t>
            </a:r>
          </a:p>
          <a:p/>
          <a:p>
            <a:r>
              <a:t>The pairing of the two charts is the lesson. A box plot tells you where the data sits and marks the extremes; a histogram tells you what shape it has. A distribution with two peaks looks perfectly ordinary in a box plot, and two peaks in an engineering dataset usually means two populations have been mixed together — two materials, two machines, two shifts.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standing rule for the rest of the course: every chart must answer a stated question, and the caption should say what the answer was rather than describing the axes.</a:t>
            </a:r>
          </a:p>
          <a:p/>
          <a:p>
            <a:r>
              <a:t>'Figure 3: strength against cement content' is a description. 'Figure 3: strength rises with cement content but the relationship weakens above 400 kg/m3' is a finding. The second earns marks; the first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profiling before the Data Clinic. Question C is the one that catches over-confident cleaning: identical rows are not automatically duplicates to delete.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where cleaning stops being a checklist and becomes judgement. Two identical rows can record two genuinely separate events when the table has no unique identifier, so look for a timestamp or an ID that distinguishes them before deleting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defect register is the same artefact professional analysts produce, usually called a data preparation log. The contrast in the third point is the one to study: 'Dropped 41 duplicate rows because they were an exact re-export and keeping them would weight the mean towards one day's readings' earns full marks, and 'Dropped duplicates' earns about half. The difference is one clause of causal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Data Clinic after the break is the long practical, at 35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here is deliberate. There is often no single right way to handle a defect, so a decision you can defend earns full marks even where another engineer would have chosen differently, and a correct fix with no justification earns about half. The stretch tier is the most valuable part if you get that far: showing that the conclusion depends on which cleaning strategy you chose is a genuinely mature result.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of framing before the challenge. This judgement cannot be automated, and it is the reason a trained engineer is still needed once the profiling code has run.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on the slide is the one that takes longest to accept. Saying precisely what you would need in order to know — the shift log, the calibration record, the instrument specification — is one of the most valuable things a data analyst produces, and it earns marks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 five cases are genuinely arguable, and a team that identifies which two has done better than a team that answers confidently on all five. The reasoning carries the marks. Commit to a position before you hear anyone else's, and work the six questions in order — the third one, naming a mechanism that would produce the value, settles most of the cases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1 rubric is published today, so you will not meet the marking scheme for the first time in the assessment. The weighting is the part to note: the written justification for each cleaning decision carries more marks than the fix itself. There is nothing to memorise, and the way to prepare is to redo the Data Clinic on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and the last summary before Practical Test 1. The sixth is the one most often got wrong, including in textbooks: whiskers reach the last real data point inside 1.5 times the IQR.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mature answer and it is what separates a merit from a pass in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mature position, and it is what separates a merit from a pass in the Data Analysis Project. Two defensible cleanings that produce two different answers is an honest result: report both, and say which decision drove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distinction between fence and whisker is the one most often got wrong, including in textbooks.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page to have open while you prepare for Practical Test 1. The profiling line at the top is the one-minute routine that catches four of the six defect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answered the same question twice today and got two different numbers, and nothing on the screen distinguished them. Only the profiling did. Practical Test 1 next week works the same way: an unfamiliar dataset, two hours, offline, with the marks weighted towards your reasoning. Redoing the Data Clinic on a different dataset is better preparation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Dirty data,</a:t>
            </a:r>
          </a:p>
          <a:p>
            <a:pPr algn="l">
              <a:lnSpc>
                <a:spcPct val="105000"/>
              </a:lnSpc>
              <a:spcAft>
                <a:spcPts val="600"/>
              </a:spcAft>
            </a:pPr>
            <a:r>
              <a:rPr sz="4400" b="1" i="0">
                <a:solidFill>
                  <a:srgbClr val="FFFFFF"/>
                </a:solidFill>
                <a:latin typeface="Cambria"/>
              </a:rPr>
              <a:t>and seeing it</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Data quality through visualisation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6  ·  Tue 13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Profile a dataset for missing values, duplicates, impossible values, wrong types and outliers.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a sentinel value standing in for missing data, and say why it is worse than a blank.</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a handling strategy for each defect and justify it in one sentence.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whether data is missing at random, and what difference that makes.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Produce histograms, box plots, scatter plots, line charts and a correlation heatmap, correctly labelled with units.</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a chart to find a defect rather than to present a result.</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Argue whether an extreme value is a measurement error or real behaviour — and commit to a position.</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6 · Data quality through visualisation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load a table and interrogate it. Today: what to do when the table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Real data is broken, and the break is informative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Not a warning — a description. Every dataset you will ever be handed has defects in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"Does mean strength differ between mixes with and without fly ash?"</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could answer that in one line of pandas today. The problem is that the answer would be wrong, and nothing on your screen would tell you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 ways data goes wrong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Each with a physical cause, because the cause determines the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SIX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defects in one small table</a:t>
            </a:r>
          </a:p>
        </p:txBody>
      </p:sp>
      <p:pic>
        <p:nvPicPr>
          <p:cNvPr id="4" name="Picture 3" descr="defect_types.png"/>
          <p:cNvPicPr>
            <a:picLocks noChangeAspect="1"/>
          </p:cNvPicPr>
          <p:nvPr/>
        </p:nvPicPr>
        <p:blipFill>
          <a:blip r:embed="rId2"/>
          <a:stretch>
            <a:fillRect/>
          </a:stretch>
        </p:blipFill>
        <p:spPr>
          <a:xfrm>
            <a:off x="1346119" y="1911095"/>
            <a:ext cx="949945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missing value, a zero-coded missing value, a duplicated row, an impossible value, a number stored as text, and an outlier. All six are in this table, and all six are in the file you are about to be given.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six, in your own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is in the file you are about to clean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1 · Eighteen floor areas recorded as 0 rather than left blank — a zero-coded missing value</a:t>
            </a:r>
          </a:p>
        </p:txBody>
      </p:sp>
      <p:sp>
        <p:nvSpPr>
          <p:cNvPr id="6" name="TextBox 5"/>
          <p:cNvSpPr txBox="1"/>
          <p:nvPr/>
        </p:nvSpPr>
        <p:spPr>
          <a:xfrm>
            <a:off x="685800"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2 · Forty-one duplicated rows from an export that was run twice</a:t>
            </a:r>
          </a:p>
        </p:txBody>
      </p:sp>
      <p:sp>
        <p:nvSpPr>
          <p:cNvPr id="7" name="TextBox 6"/>
          <p:cNvSpPr txBox="1"/>
          <p:nvPr/>
        </p:nvSpPr>
        <p:spPr>
          <a:xfrm>
            <a:off x="685800" y="397412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3 · One compressive strength entered as text: "32.5 MPa" instead of 32.5</a:t>
            </a:r>
          </a:p>
        </p:txBody>
      </p:sp>
      <p:sp>
        <p:nvSpPr>
          <p:cNvPr id="8" name="TextBox 7"/>
          <p:cNvSpPr txBox="1"/>
          <p:nvPr/>
        </p:nvSpPr>
        <p:spPr>
          <a:xfrm>
            <a:off x="685800" y="478487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4 · Three negative crack widths</a:t>
            </a:r>
          </a:p>
        </p:txBody>
      </p:sp>
      <p:sp>
        <p:nvSpPr>
          <p:cNvPr id="9" name="TextBox 8"/>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5 · A slab thickness of 2.5 metres</a:t>
            </a:r>
          </a:p>
        </p:txBody>
      </p:sp>
      <p:sp>
        <p:nvSpPr>
          <p:cNvPr id="10" name="TextBox 9"/>
          <p:cNvSpPr txBox="1"/>
          <p:nvPr/>
        </p:nvSpPr>
        <p:spPr>
          <a:xfrm>
            <a:off x="6347307" y="2385050"/>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6 · Curing age recorded in months for part of the file and days for the rest</a:t>
            </a:r>
          </a:p>
        </p:txBody>
      </p:sp>
      <p:sp>
        <p:nvSpPr>
          <p:cNvPr id="11" name="TextBox 10"/>
          <p:cNvSpPr txBox="1"/>
          <p:nvPr/>
        </p:nvSpPr>
        <p:spPr>
          <a:xfrm>
            <a:off x="6347307" y="3342104"/>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one thing that is not a defect</a:t>
            </a:r>
          </a:p>
        </p:txBody>
      </p:sp>
      <p:sp>
        <p:nvSpPr>
          <p:cNvPr id="12" name="TextBox 11"/>
          <p:cNvSpPr txBox="1"/>
          <p:nvPr/>
        </p:nvSpPr>
        <p:spPr>
          <a:xfrm>
            <a:off x="6347307" y="3783638"/>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extreme value is not automatically an error. Some of them are the most important rows in the file. Telling the difference is the last segment of today, and it is a judgement call.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Missing, and missing at random</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value is MISSING when it was never recorded. It is MISSING AT RANDOM when whether it is absent has nothing to do with what its value would have been — and NOT at random when it does.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sensor added two years into a five-year record leaves the first two years blank. That is not random: the blanks correspond exactly to a period with different instrumentation.</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Zero. A blank means we do not know; a zero means we measured nothing. Treating one as the other is the most common way to corrupt an analysis.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Profiling a dataset in four commands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run on every dataset you are ever handed, before you answer a single question about it. It takes about a minute.</a:t>
            </a:r>
          </a:p>
        </p:txBody>
      </p:sp>
      <p:sp>
        <p:nvSpPr>
          <p:cNvPr id="5" name="Rounded Rectangle 4"/>
          <p:cNvSpPr/>
          <p:nvPr/>
        </p:nvSpPr>
        <p:spPr>
          <a:xfrm>
            <a:off x="685800" y="2732347"/>
            <a:ext cx="10820095" cy="44925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57812"/>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df.shape — how much data is there? A file with 40 rows and a file with 40,000 support very different claims.</a:t>
            </a:r>
          </a:p>
        </p:txBody>
      </p:sp>
      <p:sp>
        <p:nvSpPr>
          <p:cNvPr id="8" name="Rounded Rectangle 7"/>
          <p:cNvSpPr/>
          <p:nvPr/>
        </p:nvSpPr>
        <p:spPr>
          <a:xfrm>
            <a:off x="685800" y="3236463"/>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9132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82183"/>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df.info() — what type is every column, and how many non-null values does each have? A numeric column showing dtype 'object' has text in it. A column with far fewer non-nulls than the others has a missingness problem.</a:t>
            </a:r>
          </a:p>
        </p:txBody>
      </p:sp>
      <p:sp>
        <p:nvSpPr>
          <p:cNvPr id="11" name="Rounded Rectangle 10"/>
          <p:cNvSpPr/>
          <p:nvPr/>
        </p:nvSpPr>
        <p:spPr>
          <a:xfrm>
            <a:off x="685800" y="4043527"/>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0983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089247"/>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df.describe() — look ONLY at the minimum and maximum rows first. This is where impossible values and sentinels announce themselves: a negative width, a pH of 14, a -999.</a:t>
            </a:r>
          </a:p>
        </p:txBody>
      </p:sp>
      <p:sp>
        <p:nvSpPr>
          <p:cNvPr id="14" name="Rounded Rectangle 13"/>
          <p:cNvSpPr/>
          <p:nvPr/>
        </p:nvSpPr>
        <p:spPr>
          <a:xfrm>
            <a:off x="685800" y="4850591"/>
            <a:ext cx="10820095" cy="75220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90545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896311"/>
            <a:ext cx="9814255" cy="660760"/>
          </a:xfrm>
          <a:prstGeom prst="rect">
            <a:avLst/>
          </a:prstGeom>
          <a:noFill/>
        </p:spPr>
        <p:txBody>
          <a:bodyPr wrap="square" lIns="0" rIns="0" tIns="0" bIns="0" anchor="t">
            <a:spAutoFit/>
          </a:bodyPr>
          <a:lstStyle/>
          <a:p>
            <a:pPr algn="l">
              <a:lnSpc>
                <a:spcPct val="116000"/>
              </a:lnSpc>
              <a:spcAft>
                <a:spcPts val="600"/>
              </a:spcAft>
            </a:pPr>
            <a:r>
              <a:rPr sz="1650" b="0" i="0">
                <a:solidFill>
                  <a:srgbClr val="1C3144"/>
                </a:solidFill>
                <a:latin typeface="Calibri"/>
              </a:rPr>
              <a:t>df.duplicated().sum() — how many rows are exact copies of another row? Anything above zero needs explaining before you go on.</a:t>
            </a:r>
          </a:p>
        </p:txBody>
      </p:sp>
      <p:sp>
        <p:nvSpPr>
          <p:cNvPr id="17" name="Rounded Rectangle 16"/>
          <p:cNvSpPr/>
          <p:nvPr/>
        </p:nvSpPr>
        <p:spPr>
          <a:xfrm>
            <a:off x="685800" y="5712519"/>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5849679"/>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Four commands, about a minute, and they catch four of the six defect classes. Skipping this is how a confident wrong answer gets into a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Duplicate, and impossible value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DUPLICATE is a row that is an exact copy of another — almost always an export run twice, or two people entering the same record. An IMPOSSIBLE VALUE is one that physics or the instrument does not allow.</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Forty-one identical rows in a 1,000-row file means your means are weighted towards whatever those rows say. A negative crack width or an efficiency above 100 per cent cannot be a real measurement.</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An outlier. An outlier is extreme but possible, and may be the most valuable row in the file. An impossible value is definitely wrong, and it is the only defect class you can be certain about without domain knowledge.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Charts that find problems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 chart today answers a question about whether the data can be trusted.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FINDING DEFECTS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Seeing what is missing</a:t>
            </a:r>
          </a:p>
        </p:txBody>
      </p:sp>
      <p:pic>
        <p:nvPicPr>
          <p:cNvPr id="4" name="Picture 3" descr="missingness_map.png"/>
          <p:cNvPicPr>
            <a:picLocks noChangeAspect="1"/>
          </p:cNvPicPr>
          <p:nvPr/>
        </p:nvPicPr>
        <p:blipFill>
          <a:blip r:embed="rId2"/>
          <a:stretch>
            <a:fillRect/>
          </a:stretch>
        </p:blipFill>
        <p:spPr>
          <a:xfrm>
            <a:off x="1189583" y="1911095"/>
            <a:ext cx="98125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fields across, blanks where data is absent. The pattern is the finding: this is not scattered randomly, it is structured — which tells you something happened to the instrumentation partway through.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TWO VIEWS OF THE SAME DATA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box plot shows, and what it hides</a:t>
            </a:r>
          </a:p>
        </p:txBody>
      </p:sp>
      <p:pic>
        <p:nvPicPr>
          <p:cNvPr id="4" name="Picture 3" descr="boxplot_annotated.png"/>
          <p:cNvPicPr>
            <a:picLocks noChangeAspect="1"/>
          </p:cNvPicPr>
          <p:nvPr/>
        </p:nvPicPr>
        <p:blipFill>
          <a:blip r:embed="rId2"/>
          <a:stretch>
            <a:fillRect/>
          </a:stretch>
        </p:blipFill>
        <p:spPr>
          <a:xfrm>
            <a:off x="1331850" y="1911095"/>
            <a:ext cx="95279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box is the middle half of the data, the line inside it is the median, and the whiskers reach the last real point within 1.5 times the interquartile range — not to 1.5 IQR itself. Points beyond that are flagged. But the box cannot show shape, which is why the histogram beside it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CHART GRAMMAR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Which chart answers which question</a:t>
            </a:r>
          </a:p>
        </p:txBody>
      </p:sp>
      <p:pic>
        <p:nvPicPr>
          <p:cNvPr id="4" name="Picture 3" descr="chart_chooser.png"/>
          <p:cNvPicPr>
            <a:picLocks noChangeAspect="1"/>
          </p:cNvPicPr>
          <p:nvPr/>
        </p:nvPicPr>
        <p:blipFill>
          <a:blip r:embed="rId2"/>
          <a:stretch>
            <a:fillRect/>
          </a:stretch>
        </p:blipFill>
        <p:spPr>
          <a:xfrm>
            <a:off x="1776457" y="1911095"/>
            <a:ext cx="863878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questions, five charts. Choose the chart from the question you are asking, never from what looks impressive.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profiling</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pressure column has dtype 'object'. Can you compute its mean, and what must you do first?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describe() shows a maximum of 9999 in a temperature column. Data or defect, and how would you decide?</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Two rows are identical in every column. Is that definitely a duplicate to delete?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dtype 'object' on pressures?</a:t>
            </a:r>
          </a:p>
        </p:txBody>
      </p:sp>
      <p:sp>
        <p:nvSpPr>
          <p:cNvPr id="6" name="TextBox 5"/>
          <p:cNvSpPr txBox="1"/>
          <p:nvPr/>
        </p:nvSpPr>
        <p:spPr>
          <a:xfrm>
            <a:off x="1216152" y="2203703"/>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 — pandas will refuse, or worse, concatenate the values as text. Find the offending rows, see what is in them (usually a stray unit or a comma), fix or remove those, then convert the column with pd.to_numeric before computing anything.</a:t>
            </a:r>
          </a:p>
        </p:txBody>
      </p:sp>
      <p:sp>
        <p:nvSpPr>
          <p:cNvPr id="7" name="Oval 6"/>
          <p:cNvSpPr/>
          <p:nvPr/>
        </p:nvSpPr>
        <p:spPr>
          <a:xfrm>
            <a:off x="685800" y="3382663"/>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46087"/>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maximum of 9999?</a:t>
            </a:r>
          </a:p>
        </p:txBody>
      </p:sp>
      <p:sp>
        <p:nvSpPr>
          <p:cNvPr id="9" name="TextBox 8"/>
          <p:cNvSpPr txBox="1"/>
          <p:nvPr/>
        </p:nvSpPr>
        <p:spPr>
          <a:xfrm>
            <a:off x="1216152" y="3638695"/>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Almost certainly a sentinel meaning missing, because 9999 is a suspiciously round impossible number. Decide by asking what the instrument's range actually is, and by counting how many 9999s there are — a sentinel usually appears many times, a real extreme usually once.</a:t>
            </a:r>
          </a:p>
        </p:txBody>
      </p:sp>
      <p:sp>
        <p:nvSpPr>
          <p:cNvPr id="10" name="Oval 9"/>
          <p:cNvSpPr/>
          <p:nvPr/>
        </p:nvSpPr>
        <p:spPr>
          <a:xfrm>
            <a:off x="685800" y="48176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810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identical rows?</a:t>
            </a:r>
          </a:p>
        </p:txBody>
      </p:sp>
      <p:sp>
        <p:nvSpPr>
          <p:cNvPr id="12" name="TextBox 11"/>
          <p:cNvSpPr txBox="1"/>
          <p:nvPr/>
        </p:nvSpPr>
        <p:spPr>
          <a:xfrm>
            <a:off x="1216152" y="5073686"/>
            <a:ext cx="10253167" cy="1105807"/>
          </a:xfrm>
          <a:prstGeom prst="rect">
            <a:avLst/>
          </a:prstGeom>
          <a:noFill/>
        </p:spPr>
        <p:txBody>
          <a:bodyPr wrap="square" lIns="0" rIns="0" tIns="0" bIns="0" anchor="t">
            <a:spAutoFit/>
          </a:bodyPr>
          <a:lstStyle/>
          <a:p>
            <a:pPr algn="l">
              <a:lnSpc>
                <a:spcPct val="120000"/>
              </a:lnSpc>
              <a:spcAft>
                <a:spcPts val="600"/>
              </a:spcAft>
            </a:pPr>
            <a:r>
              <a:rPr sz="1716" b="0" i="0">
                <a:solidFill>
                  <a:srgbClr val="2A3B4A"/>
                </a:solidFill>
                <a:latin typeface="Calibri"/>
              </a:rPr>
              <a:t>Not necessarily. If the table has no unique identifier, two genuinely separate events can produce identical readings — two periods with the same conditions, two samples with the same measured value. Check whether a timestamp or an ID distinguishes them before deleting. Blindly dropping duplicates is itself a defect.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defect register — what you hand in</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One row per defect, and five columns</a:t>
            </a:r>
          </a:p>
        </p:txBody>
      </p:sp>
      <p:sp>
        <p:nvSpPr>
          <p:cNvPr id="5" name="TextBox 4"/>
          <p:cNvSpPr txBox="1"/>
          <p:nvPr/>
        </p:nvSpPr>
        <p:spPr>
          <a:xfrm>
            <a:off x="685800"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What you found · where (which column, how many rows) · what you think caused it · what you did · why.</a:t>
            </a:r>
          </a:p>
        </p:txBody>
      </p:sp>
      <p:sp>
        <p:nvSpPr>
          <p:cNvPr id="6" name="TextBox 5"/>
          <p:cNvSpPr txBox="1"/>
          <p:nvPr/>
        </p:nvSpPr>
        <p:spPr>
          <a:xfrm>
            <a:off x="685800"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it is a table and not prose</a:t>
            </a:r>
          </a:p>
        </p:txBody>
      </p:sp>
      <p:sp>
        <p:nvSpPr>
          <p:cNvPr id="7" name="TextBox 6"/>
          <p:cNvSpPr txBox="1"/>
          <p:nvPr/>
        </p:nvSpPr>
        <p:spPr>
          <a:xfrm>
            <a:off x="685800" y="356612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Because a reader needs to check your decisions one at a time, and because you will find eight to twelve defects and prose about twelve things is unreadable.</a:t>
            </a:r>
          </a:p>
        </p:txBody>
      </p:sp>
      <p:sp>
        <p:nvSpPr>
          <p:cNvPr id="8" name="TextBox 7"/>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 'why' column is the marked one</a:t>
            </a:r>
          </a:p>
        </p:txBody>
      </p:sp>
      <p:sp>
        <p:nvSpPr>
          <p:cNvPr id="9" name="TextBox 8"/>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'Dropped 41 duplicate rows because they were an exact re-export and keeping them would weight the mean towards one day's readings' earns full marks. 'Dropped duplicates' earns about half.</a:t>
            </a:r>
          </a:p>
        </p:txBody>
      </p:sp>
      <p:sp>
        <p:nvSpPr>
          <p:cNvPr id="10" name="TextBox 9"/>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Then a five-line data quality statement</a:t>
            </a:r>
          </a:p>
        </p:txBody>
      </p:sp>
      <p:sp>
        <p:nvSpPr>
          <p:cNvPr id="11" name="TextBox 10"/>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How much data you started with, how much you used, what you removed and why, and one sentence on how much confidence the conclusion deserves as a result.</a:t>
            </a:r>
          </a:p>
        </p:txBody>
      </p:sp>
      <p:sp>
        <p:nvSpPr>
          <p:cNvPr id="12" name="TextBox 11"/>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this matters beyond the marks</a:t>
            </a:r>
          </a:p>
        </p:txBody>
      </p:sp>
      <p:sp>
        <p:nvSpPr>
          <p:cNvPr id="13" name="TextBox 12"/>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a result of yours is ever questioned — in a viva, in a review, in practice — the defect register is the document that defends it. Without one you are relying on memory, and memory is not evidence.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Data Clinic</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do</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You are given a damaged version of a dataset you already know.</a:t>
            </a:r>
          </a:p>
        </p:txBody>
      </p:sp>
      <p:sp>
        <p:nvSpPr>
          <p:cNvPr id="6" name="TextBox 5"/>
          <p:cNvSpPr txBox="1"/>
          <p:nvPr/>
        </p:nvSpPr>
        <p:spPr>
          <a:xfrm>
            <a:off x="685800" y="3162821"/>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Find every defect. Decide how to handle each one. Write ONE sentence justifying each decision.</a:t>
            </a:r>
          </a:p>
        </p:txBody>
      </p:sp>
      <p:sp>
        <p:nvSpPr>
          <p:cNvPr id="7" name="TextBox 6"/>
          <p:cNvSpPr txBox="1"/>
          <p:nvPr/>
        </p:nvSpPr>
        <p:spPr>
          <a:xfrm>
            <a:off x="685800" y="391631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Then answer the question from the start of the session — properly this time — and say how much your answer moved.</a:t>
            </a:r>
          </a:p>
        </p:txBody>
      </p:sp>
      <p:sp>
        <p:nvSpPr>
          <p:cNvPr id="8" name="TextBox 7"/>
          <p:cNvSpPr txBox="1"/>
          <p:nvPr/>
        </p:nvSpPr>
        <p:spPr>
          <a:xfrm>
            <a:off x="685800" y="466980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CORE: find and handle the six planted defects, with justifications.</a:t>
            </a:r>
          </a:p>
        </p:txBody>
      </p:sp>
      <p:sp>
        <p:nvSpPr>
          <p:cNvPr id="9" name="TextBox 8"/>
          <p:cNvSpPr txBox="1"/>
          <p:nvPr/>
        </p:nvSpPr>
        <p:spPr>
          <a:xfrm>
            <a:off x="685800" y="5423289"/>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STRETCH: quantify how much the headline answer changes under two different cleaning strategies.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justification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An unjustified correct fix scores about half. A justified decision you can defend scores full marks even where another engineer would have chosen differently.</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a cleaning notebook a defect register table a five-line data quality statement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Error, or reality?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judgement that cannot be automated, and the reason a trained engineer is still needed.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OUTLIER JUDGEMENT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 decide whether an extreme value is real</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physically possible?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negative width, a pH of 14 in a plant, an efficiency above 100 per cent. Impossible means error, and this is the only test that gives a definite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it possible but implausible for THIS system?</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Achievable in principle, wrong for this plant, this material or this machine. Now you need domain knowledge, and this is where you are more use than any algorithm.</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Is there a mechanism that would produce it?</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start-up transient, a high-grade intersection, a shutdown, a calibration run. If you can name the mechanism, it is probably real and probably important.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Does it come with company?</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isolated extreme is more likely to be an error. A cluster of them at a particular time or on a particular unit is a signal.</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does keeping or dropping it do to your answer?</a:t>
            </a:r>
          </a:p>
        </p:txBody>
      </p:sp>
      <p:sp>
        <p:nvSpPr>
          <p:cNvPr id="13" name="TextBox 12"/>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If the conclusion changes, the decision matters and must be reported. If it does not, say so and move on.</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answer that is always available</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 cannot tell from the data alone. I would need the shift log, the calibration record, or the instrument specification.' That is a correct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Outlier Argument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Five flagged extreme values from your own discipline's data.</a:t>
            </a:r>
          </a:p>
          <a:p>
            <a:pPr algn="l">
              <a:lnSpc>
                <a:spcPct val="125000"/>
              </a:lnSpc>
              <a:spcAft>
                <a:spcPts val="600"/>
              </a:spcAft>
            </a:pPr>
            <a:r>
              <a:rPr sz="1923" b="0" i="0">
                <a:solidFill>
                  <a:srgbClr val="1C3144"/>
                </a:solidFill>
                <a:latin typeface="Calibri"/>
              </a:rPr>
              <a:t>For each one your team must COMMIT to a position — measurement error to be removed, or real behaviour to be kept — and defend it.</a:t>
            </a:r>
          </a:p>
          <a:p>
            <a:pPr algn="l">
              <a:lnSpc>
                <a:spcPct val="125000"/>
              </a:lnSpc>
              <a:spcAft>
                <a:spcPts val="600"/>
              </a:spcAft>
            </a:pPr>
            <a:r>
              <a:rPr sz="1923" b="0" i="0">
                <a:solidFill>
                  <a:srgbClr val="1C3144"/>
                </a:solidFill>
                <a:latin typeface="Calibri"/>
              </a:rPr>
              <a:t>Twenty minutes. Two of the five have no single right answer, and finding out which two is part of the exercise.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physically possible at all?</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plausible for THIS system?</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Can you name a mechanism that produces it?</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it alone, or are there others like it?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conclusion change either way?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in order to be sure?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1 AND THIS WEEK'S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54371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309151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1 is next week — here is exactly what it is</a:t>
            </a:r>
          </a:p>
        </p:txBody>
      </p:sp>
      <p:sp>
        <p:nvSpPr>
          <p:cNvPr id="7" name="TextBox 6"/>
          <p:cNvSpPr txBox="1"/>
          <p:nvPr/>
        </p:nvSpPr>
        <p:spPr>
          <a:xfrm>
            <a:off x="1554480" y="2423159"/>
            <a:ext cx="9631375" cy="1940211"/>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Individual, offline, on a laboratory machine with no internet and no AI assistance. Two hours of practical plus twenty-five minutes of written reasoning. You get a dataset you have never seen from your own discipline. You profile it, find and handle its defects with a written justification for each, answer three stated questions with evidence, produce three charts each captioned with the question it answers, list five findings and make one recommendation. Worth 15 per cent. The rubric is published today.</a:t>
            </a:r>
          </a:p>
        </p:txBody>
      </p:sp>
      <p:sp>
        <p:nvSpPr>
          <p:cNvPr id="8" name="Rounded Rectangle 7"/>
          <p:cNvSpPr/>
          <p:nvPr/>
        </p:nvSpPr>
        <p:spPr>
          <a:xfrm>
            <a:off x="685800" y="4692555"/>
            <a:ext cx="10820095" cy="15985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4003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81142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a:t>
            </a:r>
          </a:p>
        </p:txBody>
      </p:sp>
      <p:sp>
        <p:nvSpPr>
          <p:cNvPr id="11" name="TextBox 10"/>
          <p:cNvSpPr txBox="1"/>
          <p:nvPr/>
        </p:nvSpPr>
        <p:spPr>
          <a:xfrm>
            <a:off x="1554480" y="5204619"/>
            <a:ext cx="9631375" cy="99501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Five questions on this session: a zero-coded missing value, a chart that does not answer its question, and an extreme value to judge. Worth one per cent, best ten of twelve count.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real dataset has defects. The defect usually has a physical cause, and the cause tells you how to handle it.</a:t>
            </a:r>
          </a:p>
        </p:txBody>
      </p:sp>
      <p:sp>
        <p:nvSpPr>
          <p:cNvPr id="6" name="Oval 5"/>
          <p:cNvSpPr/>
          <p:nvPr/>
        </p:nvSpPr>
        <p:spPr>
          <a:xfrm>
            <a:off x="685800" y="24131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58258"/>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zero or a -999 standing in for missing data is worse than a blank, because pandas will include it in every calculation.</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Whether data is missing at random decides what you are allowed to do about it. A missingness map makes that visible in one line.</a:t>
            </a:r>
          </a:p>
        </p:txBody>
      </p:sp>
      <p:sp>
        <p:nvSpPr>
          <p:cNvPr id="10" name="Oval 9"/>
          <p:cNvSpPr/>
          <p:nvPr/>
        </p:nvSpPr>
        <p:spPr>
          <a:xfrm>
            <a:off x="685800" y="390916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5430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column that should be numeric but shows dtype 'object' has text in it somewhere.</a:t>
            </a:r>
          </a:p>
        </p:txBody>
      </p:sp>
      <p:sp>
        <p:nvSpPr>
          <p:cNvPr id="12" name="Oval 11"/>
          <p:cNvSpPr/>
          <p:nvPr/>
        </p:nvSpPr>
        <p:spPr>
          <a:xfrm>
            <a:off x="685800" y="435632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0146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 box plot tells you where the data is and flags extremes. A histogram tells you what shape it has. You need both.</a:t>
            </a:r>
          </a:p>
        </p:txBody>
      </p:sp>
      <p:sp>
        <p:nvSpPr>
          <p:cNvPr id="14" name="Oval 13"/>
          <p:cNvSpPr/>
          <p:nvPr/>
        </p:nvSpPr>
        <p:spPr>
          <a:xfrm>
            <a:off x="685800" y="48034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74862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Whiskers reach the last real data point inside 1.5 times the IQR. They do not sit at 1.5 IQR.</a:t>
            </a:r>
          </a:p>
        </p:txBody>
      </p:sp>
      <p:sp>
        <p:nvSpPr>
          <p:cNvPr id="16" name="Oval 15"/>
          <p:cNvSpPr/>
          <p:nvPr/>
        </p:nvSpPr>
        <p:spPr>
          <a:xfrm>
            <a:off x="685800" y="525065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95790"/>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 extreme value is not automatically an error. Physically impossible means error; implausible needs domain knowledge; and 'I cannot tell without the shift log' is a legitimate answer.</a:t>
            </a:r>
          </a:p>
        </p:txBody>
      </p:sp>
      <p:sp>
        <p:nvSpPr>
          <p:cNvPr id="18" name="Oval 17"/>
          <p:cNvSpPr/>
          <p:nvPr/>
        </p:nvSpPr>
        <p:spPr>
          <a:xfrm>
            <a:off x="685800" y="599867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43812"/>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Every chart answers a stated question, and the caption says what the answer was.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A column of pressures has a mean of 340 kPa and a minimum of -999. What has happened, and what does it do to the mean?</a:t>
            </a:r>
          </a:p>
        </p:txBody>
      </p:sp>
      <p:sp>
        <p:nvSpPr>
          <p:cNvPr id="6" name="Oval 5"/>
          <p:cNvSpPr/>
          <p:nvPr/>
        </p:nvSpPr>
        <p:spPr>
          <a:xfrm>
            <a:off x="685800" y="2802657"/>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66081"/>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drop every row with a missing value and your dataset shrinks by 30 per cent. What is the question you must ask before proceeding?</a:t>
            </a:r>
          </a:p>
        </p:txBody>
      </p:sp>
      <p:sp>
        <p:nvSpPr>
          <p:cNvPr id="8" name="Oval 7"/>
          <p:cNvSpPr/>
          <p:nvPr/>
        </p:nvSpPr>
        <p:spPr>
          <a:xfrm>
            <a:off x="685800" y="365764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21067"/>
            <a:ext cx="10134295" cy="464068"/>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Your box plot shows no outliers but your histogram has two clear peaks. What might that mean physically?</a:t>
            </a:r>
          </a:p>
        </p:txBody>
      </p:sp>
      <p:sp>
        <p:nvSpPr>
          <p:cNvPr id="10" name="Oval 9"/>
          <p:cNvSpPr/>
          <p:nvPr/>
        </p:nvSpPr>
        <p:spPr>
          <a:xfrm>
            <a:off x="685800" y="417657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40000"/>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Give one extreme value from your own discipline that is definitely an error, and one that is probably real. Say how you can tell.</a:t>
            </a:r>
          </a:p>
        </p:txBody>
      </p:sp>
      <p:sp>
        <p:nvSpPr>
          <p:cNvPr id="12" name="Oval 11"/>
          <p:cNvSpPr/>
          <p:nvPr/>
        </p:nvSpPr>
        <p:spPr>
          <a:xfrm>
            <a:off x="685800" y="503156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994986"/>
            <a:ext cx="10134295" cy="800121"/>
          </a:xfrm>
          <a:prstGeom prst="rect">
            <a:avLst/>
          </a:prstGeom>
          <a:noFill/>
        </p:spPr>
        <p:txBody>
          <a:bodyPr wrap="square" lIns="0" rIns="0" tIns="0" bIns="0" anchor="t">
            <a:spAutoFit/>
          </a:bodyPr>
          <a:lstStyle/>
          <a:p>
            <a:pPr algn="l">
              <a:lnSpc>
                <a:spcPct val="120000"/>
              </a:lnSpc>
              <a:spcAft>
                <a:spcPts val="600"/>
              </a:spcAft>
            </a:pPr>
            <a:r>
              <a:rPr sz="1769" b="0" i="0">
                <a:solidFill>
                  <a:srgbClr val="2A3B4A"/>
                </a:solidFill>
                <a:latin typeface="Calibri"/>
              </a:rPr>
              <a:t>You clean a dataset two different defensible ways and get two different answers to your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This is good Test 1 preparation.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Mean 340, minimum -999?</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-999 is a sentinel value meaning 'missing'. pandas treats it as a real measurement, so it is dragging the mean down — and the more of them there are, the further wrong you are. Convert them to proper missing values, then recompute and compare.</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Dropping 30 per cent of rows?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Are they missing at random? If the blanks correspond to a period, a unit or a condition, you have just deleted a specific part of your data and everything downstream is biased. Check the missingness pattern before you drop anything.</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No outliers but two peaks?</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Two populations have probably been mixed — two materials, two machines, two operating regimes, or two shifts. That is often the most interesting finding in the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One definite error, one probably real?</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Definite: anything physically impossible — a negative width, an efficiency above 100 per cent. Probably real: an extreme with a nameable mechanism, such as inrush current at start-up or a high-grade intersection. The test is whether you can name the mechanism.</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Two defensible cleanings, two answers?</a:t>
            </a:r>
          </a:p>
        </p:txBody>
      </p:sp>
      <p:sp>
        <p:nvSpPr>
          <p:cNvPr id="18" name="TextBox 17"/>
          <p:cNvSpPr txBox="1"/>
          <p:nvPr/>
        </p:nvSpPr>
        <p:spPr>
          <a:xfrm>
            <a:off x="6854799" y="3914482"/>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Report both, and say which decision drove the difference. That is not indecision — it is the honest result, and it tells the reader how much confidence the conclusion deserves. Hiding it would be the error.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dataset is fit to answer the question you are asking of it.</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value (NaN)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that was never recorded. pandas excludes NaN from most calculations.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9" name="TextBox 8"/>
          <p:cNvSpPr txBox="1"/>
          <p:nvPr/>
        </p:nvSpPr>
        <p:spPr>
          <a:xfrm>
            <a:off x="685800" y="29641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or 0. Included in calculations, so silently corrupting.</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at random</a:t>
            </a:r>
          </a:p>
        </p:txBody>
      </p:sp>
      <p:sp>
        <p:nvSpPr>
          <p:cNvPr id="11" name="TextBox 10"/>
          <p:cNvSpPr txBox="1"/>
          <p:nvPr/>
        </p:nvSpPr>
        <p:spPr>
          <a:xfrm>
            <a:off x="685800"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value is absent has nothing to do with what it would have been.</a:t>
            </a:r>
          </a:p>
        </p:txBody>
      </p:sp>
      <p:sp>
        <p:nvSpPr>
          <p:cNvPr id="12" name="TextBox 11"/>
          <p:cNvSpPr txBox="1"/>
          <p:nvPr/>
        </p:nvSpPr>
        <p:spPr>
          <a:xfrm>
            <a:off x="685800"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Missing not at random</a:t>
            </a:r>
          </a:p>
        </p:txBody>
      </p:sp>
      <p:sp>
        <p:nvSpPr>
          <p:cNvPr id="13" name="TextBox 12"/>
          <p:cNvSpPr txBox="1"/>
          <p:nvPr/>
        </p:nvSpPr>
        <p:spPr>
          <a:xfrm>
            <a:off x="685800" y="401110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absence is structured — a period, a unit, a condition. Dropping these rows biases everything.</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Imputation</a:t>
            </a:r>
          </a:p>
        </p:txBody>
      </p:sp>
      <p:sp>
        <p:nvSpPr>
          <p:cNvPr id="15" name="TextBox 14"/>
          <p:cNvSpPr txBox="1"/>
          <p:nvPr/>
        </p:nvSpPr>
        <p:spPr>
          <a:xfrm>
            <a:off x="685800" y="4623755"/>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Filling a missing value with an estimate — the mean, the median, the previous value. Every method assumes something.</a:t>
            </a:r>
          </a:p>
        </p:txBody>
      </p:sp>
      <p:sp>
        <p:nvSpPr>
          <p:cNvPr id="16" name="TextBox 15"/>
          <p:cNvSpPr txBox="1"/>
          <p:nvPr/>
        </p:nvSpPr>
        <p:spPr>
          <a:xfrm>
            <a:off x="685800" y="505205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Duplicate</a:t>
            </a:r>
          </a:p>
        </p:txBody>
      </p:sp>
      <p:sp>
        <p:nvSpPr>
          <p:cNvPr id="17" name="TextBox 16"/>
          <p:cNvSpPr txBox="1"/>
          <p:nvPr/>
        </p:nvSpPr>
        <p:spPr>
          <a:xfrm>
            <a:off x="685800" y="523640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same record recorded twice, usually from an export run twice.</a:t>
            </a:r>
          </a:p>
        </p:txBody>
      </p:sp>
      <p:sp>
        <p:nvSpPr>
          <p:cNvPr id="18" name="TextBox 17"/>
          <p:cNvSpPr txBox="1"/>
          <p:nvPr/>
        </p:nvSpPr>
        <p:spPr>
          <a:xfrm>
            <a:off x="685800" y="548639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Impossible value</a:t>
            </a:r>
          </a:p>
        </p:txBody>
      </p:sp>
      <p:sp>
        <p:nvSpPr>
          <p:cNvPr id="19" name="TextBox 18"/>
          <p:cNvSpPr txBox="1"/>
          <p:nvPr/>
        </p:nvSpPr>
        <p:spPr>
          <a:xfrm>
            <a:off x="685800" y="567074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value outside what physics or the instrument allows. Always an error.</a:t>
            </a:r>
          </a:p>
        </p:txBody>
      </p:sp>
      <p:sp>
        <p:nvSpPr>
          <p:cNvPr id="20" name="TextBox 19"/>
          <p:cNvSpPr txBox="1"/>
          <p:nvPr/>
        </p:nvSpPr>
        <p:spPr>
          <a:xfrm>
            <a:off x="685800" y="5920739"/>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Outlier</a:t>
            </a:r>
          </a:p>
        </p:txBody>
      </p:sp>
      <p:sp>
        <p:nvSpPr>
          <p:cNvPr id="21" name="TextBox 20"/>
          <p:cNvSpPr txBox="1"/>
          <p:nvPr/>
        </p:nvSpPr>
        <p:spPr>
          <a:xfrm>
            <a:off x="685800" y="6105083"/>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extreme value. NOT automatically an error.</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IQR</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Interquartile range: the spread of the middle half of the data, Q3 minus Q1.</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Fence</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Q1 - 1.5 x IQR and Q3 + 1.5 x IQR. Points beyond are flagged for inspection.</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Whisker</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Reaches the last real data point inside the fence — not to the fence itself.</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Histogram</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the shape of one variable's distribution.</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Box plot</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where the data is and flags extremes. Cannot show shape.</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Scatter plot</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whether two variables move together.</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Correlation heatmap</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Shows which pairs of variables are associated. Association only.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Defect register</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every defect found, what you did about it, and why.</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quality statement</a:t>
            </a:r>
          </a:p>
        </p:txBody>
      </p:sp>
      <p:sp>
        <p:nvSpPr>
          <p:cNvPr id="39" name="TextBox 38"/>
          <p:cNvSpPr txBox="1"/>
          <p:nvPr/>
        </p:nvSpPr>
        <p:spPr>
          <a:xfrm>
            <a:off x="6324447" y="557015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short honest note on what is wrong with the data and what that means for the conclusion.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profiling and cleaning</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Profile first, every time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df.info() for dtypes and non-null counts · df.describe() for impossible minimums and maximums · df.duplicated().sum() · df.isna().sum()</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Find the sentinels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the minimum and maximum of every column. -999, 0, 9999 in a column that cannot hold them are missing values in disguise.</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See the missingness pattern</a:t>
            </a:r>
          </a:p>
        </p:txBody>
      </p:sp>
      <p:sp>
        <p:nvSpPr>
          <p:cNvPr id="9" name="TextBox 8"/>
          <p:cNvSpPr txBox="1"/>
          <p:nvPr/>
        </p:nvSpPr>
        <p:spPr>
          <a:xfrm>
            <a:off x="685800" y="4729677"/>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Plot it. Scattered is usually harmless; a block is a story.</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Handle, then justify</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sentence per decision. What you did, and why. The justification is what is marked.</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Charts that find problems</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Histogram for shape · box plot for extremes · scatter for impossible pairs · heatmap for redundancy.</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 with the finding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caption that states the finding: 'strength rises with cement but flattens above 400 kg/m3'.</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what you dropped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How many rows, what proportion, and whether they were missing at random.</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When you cannot tell</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Say so, and say exactly what you would need in order to know. That is a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6</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zero-coded missing value, a chart that does not answer its question, and an extreme value to judge.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6.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answered the same question twice</a:t>
            </a:r>
          </a:p>
          <a:p>
            <a:pPr algn="l">
              <a:lnSpc>
                <a:spcPct val="110000"/>
              </a:lnSpc>
              <a:spcAft>
                <a:spcPts val="600"/>
              </a:spcAft>
            </a:pPr>
            <a:r>
              <a:rPr sz="3400" b="1" i="0">
                <a:solidFill>
                  <a:srgbClr val="FFFFFF"/>
                </a:solidFill>
                <a:latin typeface="Cambria"/>
              </a:rPr>
              <a:t>and got two different numbers.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today's question twice — once on the broken data and once on the cleaned data — and got two different numbers. Nothing on your screen told you the first one was wrong. Only the profiling did.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1. An unfamiliar dataset, two hours, offline, and marks for your reasoning rather than your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